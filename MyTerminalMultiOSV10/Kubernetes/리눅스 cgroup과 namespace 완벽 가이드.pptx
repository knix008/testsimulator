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93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3524250"/>
            <a:ext cx="47625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8249" y="2683886"/>
            <a:ext cx="711550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5250" b="1" i="0" u="none" dirty="0" err="1">
                <a:solidFill>
                  <a:srgbClr val="F8FAFC"/>
                </a:solidFill>
                <a:latin typeface="Outfit"/>
              </a:rPr>
              <a:t>리눅스</a:t>
            </a:r>
            <a:r>
              <a:rPr sz="5250" b="1" i="0" u="none" dirty="0">
                <a:solidFill>
                  <a:srgbClr val="F8FAFC"/>
                </a:solidFill>
                <a:latin typeface="Outfit"/>
              </a:rPr>
              <a:t> </a:t>
            </a:r>
            <a:r>
              <a:rPr sz="5250" b="1" i="0" u="none" dirty="0" err="1">
                <a:solidFill>
                  <a:srgbClr val="F8FAFC"/>
                </a:solidFill>
                <a:latin typeface="Outfit"/>
              </a:rPr>
              <a:t>컨테이너의</a:t>
            </a:r>
            <a:r>
              <a:rPr sz="5250" b="1" i="0" u="none" dirty="0">
                <a:solidFill>
                  <a:srgbClr val="F8FAFC"/>
                </a:solidFill>
                <a:latin typeface="Outfit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Outfit"/>
              </a:rPr>
              <a:t>핵심</a:t>
            </a:r>
            <a:endParaRPr sz="5250" b="1" i="0" u="none" dirty="0">
              <a:solidFill>
                <a:srgbClr val="38BDF8"/>
              </a:solidFill>
              <a:latin typeface="Outfi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67050" y="3646140"/>
            <a:ext cx="60579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Pretendard"/>
              </a:rPr>
              <a:t>cgroup과 namespace 완벽 가이드 및 아키텍처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83429" y="3076743"/>
            <a:ext cx="6225142" cy="750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75" b="1" i="0" u="none" dirty="0" err="1">
                <a:solidFill>
                  <a:srgbClr val="F8FAFC"/>
                </a:solidFill>
                <a:latin typeface="Outfit"/>
              </a:rPr>
              <a:t>컨테이너</a:t>
            </a:r>
            <a:r>
              <a:rPr sz="4875" b="1" i="0" u="none" dirty="0">
                <a:solidFill>
                  <a:srgbClr val="F8FAFC"/>
                </a:solidFill>
                <a:latin typeface="Outfit"/>
              </a:rPr>
              <a:t> </a:t>
            </a:r>
            <a:r>
              <a:rPr sz="4875" b="1" i="0" u="none" dirty="0" err="1">
                <a:solidFill>
                  <a:srgbClr val="F8FAFC"/>
                </a:solidFill>
                <a:latin typeface="Outfit"/>
              </a:rPr>
              <a:t>기술의</a:t>
            </a:r>
            <a:r>
              <a:rPr sz="4875" b="1" i="0" u="none" dirty="0">
                <a:solidFill>
                  <a:srgbClr val="F8FAFC"/>
                </a:solidFill>
                <a:latin typeface="Outfit"/>
              </a:rPr>
              <a:t> </a:t>
            </a:r>
            <a:r>
              <a:rPr sz="4875" b="1" i="0" u="none" dirty="0" err="1">
                <a:solidFill>
                  <a:srgbClr val="F8FAFC"/>
                </a:solidFill>
                <a:latin typeface="Outfit"/>
              </a:rPr>
              <a:t>근간</a:t>
            </a:r>
            <a:endParaRPr sz="4875" b="1" i="0" u="none" dirty="0">
              <a:solidFill>
                <a:srgbClr val="F8FAFC"/>
              </a:solidFill>
              <a:latin typeface="Outfi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14148" y="4046190"/>
            <a:ext cx="7563703" cy="33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Docker와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Kubernetes를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가능하게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만든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리눅스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커널의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두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가지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핵심</a:t>
            </a:r>
            <a:r>
              <a:rPr sz="1800" b="0" i="0" u="none" dirty="0">
                <a:solidFill>
                  <a:srgbClr val="94A3B8"/>
                </a:solidFill>
                <a:latin typeface="Pretendard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Pretendard"/>
              </a:rPr>
              <a:t>기술</a:t>
            </a:r>
            <a:endParaRPr sz="1800" b="0" i="0" u="none" dirty="0">
              <a:solidFill>
                <a:srgbClr val="94A3B8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3524250"/>
            <a:ext cx="476250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4037"/>
            <a:ext cx="5238750" cy="413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824037"/>
            <a:ext cx="5238750" cy="413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7275" y="2309812"/>
            <a:ext cx="4480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Outfit SemiBold"/>
              </a:rPr>
              <a:t>Namespace </a:t>
            </a:r>
            <a:r>
              <a:rPr sz="2400" b="0" i="0" u="none">
                <a:solidFill>
                  <a:srgbClr val="94A3B8"/>
                </a:solidFill>
                <a:latin typeface="Outfit SemiBold"/>
              </a:rPr>
              <a:t>(격리)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2881312"/>
            <a:ext cx="4267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시스템 리소스에 대한 </a:t>
            </a:r>
            <a:r>
              <a:rPr sz="1500" b="1" i="0" u="none">
                <a:solidFill>
                  <a:srgbClr val="CBD5E1"/>
                </a:solidFill>
                <a:latin typeface="Pretendard"/>
              </a:rPr>
              <a:t>가시성</a:t>
            </a:r>
            <a:r>
              <a:rPr sz="1500" b="0" i="0" u="none">
                <a:solidFill>
                  <a:srgbClr val="CBD5E1"/>
                </a:solidFill>
                <a:latin typeface="Pretendard"/>
              </a:rPr>
              <a:t>을 제어합니다. 프로세스가 볼 수 있는 환경을 제한하여 완전히 독립적인 시스템처럼 느끼게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525" y="2309812"/>
            <a:ext cx="4480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4D399"/>
                </a:solidFill>
                <a:latin typeface="Outfit SemiBold"/>
              </a:rPr>
              <a:t>cgroup </a:t>
            </a:r>
            <a:r>
              <a:rPr sz="2400" b="0" i="0" u="none">
                <a:solidFill>
                  <a:srgbClr val="94A3B8"/>
                </a:solidFill>
                <a:latin typeface="Outfit SemiBold"/>
              </a:rPr>
              <a:t>(제어)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7525" y="2881312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시스템 리소스에 대한 </a:t>
            </a:r>
            <a:r>
              <a:rPr sz="1500" b="1" i="0" u="none">
                <a:solidFill>
                  <a:srgbClr val="CBD5E1"/>
                </a:solidFill>
                <a:latin typeface="Pretendard"/>
              </a:rPr>
              <a:t>사용량</a:t>
            </a:r>
            <a:r>
              <a:rPr sz="1500" b="0" i="0" u="none">
                <a:solidFill>
                  <a:srgbClr val="CBD5E1"/>
                </a:solidFill>
                <a:latin typeface="Pretendard"/>
              </a:rPr>
              <a:t>을 제어합니다. 특정 프로세스가 시스템의 자원을 독점하지 못하도록 한도를 설정합니다.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3025" y="39862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프로세스가 볼 수 있는 것을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3025" y="44815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가상 머신과 유사한 독립적 환경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49768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보안 및 타 프로세스와의 충돌 방지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3275" y="36814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프로세스가 사용할 수 있는 자원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3275" y="41767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CPU, 메모리, 디스크 I/O 등 할당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3275" y="4672012"/>
            <a:ext cx="3981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전체 시스템의 안정성 및 공정성 보장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9862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4815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9768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36814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525" y="41767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525" y="467201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컨테이너를 지탱하는 두 기둥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00687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Namespace: </a:t>
            </a:r>
            <a:r>
              <a:t>
</a:t>
            </a:r>
            <a:r>
              <a:rPr sz="3375" b="1" i="0" u="none">
                <a:solidFill>
                  <a:srgbClr val="38BDF8"/>
                </a:solidFill>
                <a:latin typeface="Outfit"/>
              </a:rPr>
              <a:t>공간의 격리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52092"/>
            <a:ext cx="5238750" cy="1068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 i="0" u="none">
                <a:solidFill>
                  <a:srgbClr val="CBD5E1"/>
                </a:solidFill>
                <a:latin typeface="Pretendard"/>
              </a:rPr>
              <a:t>Namespace는 한 프로세스의 변경 사항이 다른 프로세스에 영향을 미치지 않도록 시스템 리소스를 안전하게 래핑(Wrapping)합니다.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11029"/>
            <a:ext cx="5238750" cy="1068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 i="0" u="none">
                <a:solidFill>
                  <a:srgbClr val="CBD5E1"/>
                </a:solidFill>
                <a:latin typeface="Pretendard"/>
              </a:rPr>
              <a:t>이는 무거운 하이퍼바이저를 사용하는 가상 머신(VM)과 유사한 수준의 논리적 격리를 제공하지만, 오버헤드 없이 단일 Linux 커널을 공유한다는 강력한 장점이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969966"/>
            <a:ext cx="5238750" cy="71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1650" b="0" i="0" u="none">
                <a:solidFill>
                  <a:srgbClr val="CBD5E1"/>
                </a:solidFill>
                <a:latin typeface="Pretendard"/>
              </a:rPr>
              <a:t>각 컨테이너는 오직 자신만의 전용 네트워크, 프로세스 트리, 파일 시스템 공간을 가진 것처럼 완벽하게 동작하게 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962"/>
            <a:ext cx="3429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85962"/>
            <a:ext cx="342900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85962"/>
            <a:ext cx="3429000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2376487"/>
            <a:ext cx="857250" cy="85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20966" y="3471862"/>
            <a:ext cx="53006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Outfit SemiBold"/>
              </a:rPr>
              <a:t>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프로세스 ID를 격리합니다. 컨테이너 내부의 애플리케이션은 자신이 호스트의 1번(init) 프로세스인 것처럼 인식하며, 외부 프로세스를 볼 수 없습니다.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2376487"/>
            <a:ext cx="857250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0921" y="3471862"/>
            <a:ext cx="125015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Outfit SemiBold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네트워크 스택을 격리합니다. 컨테이너마다 고유한 독립적인 IP 주소, 라우팅 테이블, 포트 및 네트워크 인터페이스를 할당받아 통신합니다.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5" y="2376487"/>
            <a:ext cx="857250" cy="85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45942" y="3471862"/>
            <a:ext cx="92011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Outfit SemiBold"/>
              </a:rPr>
              <a:t>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마운트 포인트를 격리합니다. 호스트 시스템과 분리된 컨테이너만의 고유한 파일 시스템 구조(Root FS)를 가지며, 서로의 마운트에 간섭할 수 없습니다.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1687" y="2590800"/>
            <a:ext cx="428625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9300" y="2590800"/>
            <a:ext cx="533400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3112" y="2590800"/>
            <a:ext cx="48577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주요 Namespace 유형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3524250"/>
            <a:ext cx="476250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59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85962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retendard"/>
              </a:rPr>
              <a:t>cgroup (Control Groups)</a:t>
            </a:r>
            <a:r>
              <a:rPr sz="1500" b="0" i="0" u="none">
                <a:solidFill>
                  <a:srgbClr val="CBD5E1"/>
                </a:solidFill>
                <a:latin typeface="Pretendard"/>
              </a:rPr>
              <a:t>은 단일 또는 그룹화된 프로세스의 시스템 리소스 사용량을 제한하고 추적하는 리눅스 커널 기능입니다.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786062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특정 컨테이너가 시스템 전체의 메모리나 CPU를 모두 소진하여 다른 서비스를 마비시키는 </a:t>
            </a:r>
            <a:r>
              <a:rPr sz="1500" b="1" i="0" u="none">
                <a:solidFill>
                  <a:srgbClr val="CBD5E1"/>
                </a:solidFill>
                <a:latin typeface="Pretendard"/>
              </a:rPr>
              <a:t>'Noisy Neighbor'</a:t>
            </a:r>
            <a:r>
              <a:rPr sz="1500" b="0" i="0" u="none">
                <a:solidFill>
                  <a:srgbClr val="CBD5E1"/>
                </a:solidFill>
                <a:latin typeface="Pretendard"/>
              </a:rPr>
              <a:t> 문제를 원천 차단합니다.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890962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자원 사용량을 정밀하게 모니터링할 수 있어 클라우드 환경에서 과금(Billing)의 핵심 근거 자료로 활용됩니다.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691062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우선순위를 부여하여 중요도가 높은 프로세스에 더 많은 하드웨어 자원을 유동적으로 할당할 수 있습니다.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95487"/>
            <a:ext cx="5219700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98596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78606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89096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691062"/>
            <a:ext cx="1047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Pretendard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cgroup: </a:t>
            </a:r>
            <a:r>
              <a:rPr sz="3375" b="1" i="0" u="none">
                <a:solidFill>
                  <a:srgbClr val="34D399"/>
                </a:solidFill>
                <a:latin typeface="Outfit"/>
              </a:rPr>
              <a:t>자원의 통제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2137"/>
            <a:ext cx="3429000" cy="408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862137"/>
            <a:ext cx="3429000" cy="408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62137"/>
            <a:ext cx="3429000" cy="408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2252662"/>
            <a:ext cx="857250" cy="85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48145" y="3348037"/>
            <a:ext cx="675709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4D399"/>
                </a:solidFill>
                <a:latin typeface="Outfit SemiBold"/>
              </a:rP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9096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프로세스 그룹이 사용할 수 있는 CPU 시간의 최대 비율을 엄격하게 제한하거나, 특정 CPU 코어(Set)에만 할당하여 처리량을 통제합니다.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2252662"/>
            <a:ext cx="857250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2333" y="3348037"/>
            <a:ext cx="122718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4D399"/>
                </a:solidFill>
                <a:latin typeface="Outfit SemiBold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89096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컨테이너가 사용할 수 있는 최대 물리적 메모리 및 스왑(Swap) 공간의 한도를 설정합니다. 초과 시 OOM(Out Of Memory) 킬러가 작동합니다.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5" y="2252662"/>
            <a:ext cx="857250" cy="85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14704" y="3348037"/>
            <a:ext cx="782441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4D399"/>
                </a:solidFill>
                <a:latin typeface="Outfit SemiBold"/>
              </a:rPr>
              <a:t>Blkio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89096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retendard"/>
              </a:rPr>
              <a:t>블록 디바이스(SSD, HDD 등)에 대한 읽기 및 쓰기 작업의 대역폭 한도(IOPS 및 BPS)를 설정하여 스토리지 병목 현상을 방지합니다.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9163" y="2466975"/>
            <a:ext cx="333523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163" y="2466975"/>
            <a:ext cx="333523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9163" y="2466975"/>
            <a:ext cx="333523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핵심 cgroup 컨트롤러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3524250"/>
            <a:ext cx="476250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2081212"/>
            <a:ext cx="3619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2083593"/>
            <a:ext cx="5500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8FAFC"/>
                </a:solidFill>
                <a:latin typeface="Outfit SemiBold"/>
              </a:rPr>
              <a:t>Namespace </a:t>
            </a:r>
            <a:r>
              <a:rPr sz="2850" b="0" i="0" u="none">
                <a:solidFill>
                  <a:srgbClr val="94A3B8"/>
                </a:solidFill>
                <a:latin typeface="Outfit SemiBold"/>
              </a:rPr>
              <a:t>+</a:t>
            </a:r>
            <a:r>
              <a:rPr sz="2850" b="0" i="0" u="none">
                <a:solidFill>
                  <a:srgbClr val="F8FAFC"/>
                </a:solidFill>
                <a:latin typeface="Outfit SemiBold"/>
              </a:rPr>
              <a:t> cgroup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731293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Pretendard"/>
              </a:rPr>
              <a:t>Namespace가 </a:t>
            </a:r>
            <a:r>
              <a:rPr sz="1650" b="1" i="0" u="none">
                <a:solidFill>
                  <a:srgbClr val="CBD5E1"/>
                </a:solidFill>
                <a:latin typeface="Pretendard"/>
              </a:rPr>
              <a:t>'무엇을 볼 수 있는가(Visibility)'</a:t>
            </a:r>
            <a:r>
              <a:rPr sz="1650" b="0" i="0" u="none">
                <a:solidFill>
                  <a:srgbClr val="CBD5E1"/>
                </a:solidFill>
                <a:latin typeface="Pretendard"/>
              </a:rPr>
              <a:t>를 결정하여 논리적인 벽을 세운다면, cgroup은 </a:t>
            </a:r>
            <a:r>
              <a:rPr sz="1650" b="1" i="0" u="none">
                <a:solidFill>
                  <a:srgbClr val="CBD5E1"/>
                </a:solidFill>
                <a:latin typeface="Pretendard"/>
              </a:rPr>
              <a:t>'얼마나 쓸 수 있는가(Usage)'</a:t>
            </a:r>
            <a:r>
              <a:rPr sz="1650" b="0" i="0" u="none">
                <a:solidFill>
                  <a:srgbClr val="CBD5E1"/>
                </a:solidFill>
                <a:latin typeface="Pretendard"/>
              </a:rPr>
              <a:t>를 결정하여 물리적인 한계를 설정합니다.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879651"/>
            <a:ext cx="52387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Pretendard"/>
              </a:rPr>
              <a:t>이 두 가지 커널 기술이 절묘하게 결합되어 오버헤드가 적으면서도 완벽하게 통제되고 격리된 런타임 환경, 즉 </a:t>
            </a:r>
            <a:r>
              <a:rPr sz="1650" b="1" i="0" u="none">
                <a:solidFill>
                  <a:srgbClr val="CBD5E1"/>
                </a:solidFill>
                <a:latin typeface="Pretendard"/>
              </a:rPr>
              <a:t>'컨테이너(Container)'</a:t>
            </a:r>
            <a:r>
              <a:rPr sz="1650" b="0" i="0" u="none">
                <a:solidFill>
                  <a:srgbClr val="CBD5E1"/>
                </a:solidFill>
                <a:latin typeface="Pretendard"/>
              </a:rPr>
              <a:t>가 탄생하게 되었습니다. 오늘날 클라우드 네이티브를 이끄는 Docker와 Kubernetes의 근본적인 원리가 바로 여기에 있습니다.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2119312"/>
            <a:ext cx="35433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완벽한 시너지: 컨테이너의 탄생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951732"/>
            <a:ext cx="11049000" cy="387846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696875"/>
              </p:ext>
            </p:extLst>
          </p:nvPr>
        </p:nvGraphicFramePr>
        <p:xfrm>
          <a:off x="571500" y="1951732"/>
          <a:ext cx="11049000" cy="38784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5692">
                <a:tc>
                  <a:txBody>
                    <a:bodyPr/>
                    <a:lstStyle/>
                    <a:p>
                      <a:pPr algn="ctr"/>
                      <a:r>
                        <a:rPr sz="1650" b="1" u="none" dirty="0" err="1">
                          <a:solidFill>
                            <a:schemeClr val="bg1"/>
                          </a:solidFill>
                        </a:rPr>
                        <a:t>구분</a:t>
                      </a:r>
                      <a:endParaRPr sz="1650" b="1" i="0" u="none" dirty="0">
                        <a:solidFill>
                          <a:schemeClr val="bg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u="none" dirty="0">
                          <a:solidFill>
                            <a:schemeClr val="bg1"/>
                          </a:solidFill>
                        </a:rPr>
                        <a:t>Namespace</a:t>
                      </a:r>
                      <a:endParaRPr sz="1650" b="1" i="0" u="none" dirty="0">
                        <a:solidFill>
                          <a:schemeClr val="bg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u="none" dirty="0" err="1">
                          <a:solidFill>
                            <a:schemeClr val="bg1"/>
                          </a:solidFill>
                        </a:rPr>
                        <a:t>cgroup</a:t>
                      </a:r>
                      <a:endParaRPr sz="1650" b="1" i="0" u="none" dirty="0">
                        <a:solidFill>
                          <a:schemeClr val="bg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692">
                <a:tc>
                  <a:txBody>
                    <a:bodyPr/>
                    <a:lstStyle/>
                    <a:p>
                      <a:pPr algn="l"/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핵심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역할</a:t>
                      </a:r>
                      <a:endParaRPr sz="1500" b="1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시스템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리소스의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가시성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(Visibility)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격리</a:t>
                      </a:r>
                      <a:endParaRPr sz="1500" b="1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>
                          <a:solidFill>
                            <a:schemeClr val="tx1"/>
                          </a:solidFill>
                        </a:rPr>
                        <a:t>하드웨어 리소스의 </a:t>
                      </a:r>
                      <a:r>
                        <a:rPr sz="1500" b="1" u="none">
                          <a:solidFill>
                            <a:schemeClr val="tx1"/>
                          </a:solidFill>
                        </a:rPr>
                        <a:t>사용량(Usage) 통제</a:t>
                      </a:r>
                      <a:endParaRPr sz="1500" b="1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692">
                <a:tc>
                  <a:txBody>
                    <a:bodyPr/>
                    <a:lstStyle/>
                    <a:p>
                      <a:pPr algn="l"/>
                      <a:r>
                        <a:rPr sz="1500" b="1" u="none">
                          <a:solidFill>
                            <a:schemeClr val="tx1"/>
                          </a:solidFill>
                        </a:rPr>
                        <a:t>쉬운 비유</a:t>
                      </a:r>
                      <a:endParaRPr sz="1500" b="1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건물의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독립된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 방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서로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볼 수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없음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sz="1500" b="0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방마다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할당된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전기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수도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sz="1500" b="1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1" u="none" dirty="0" err="1">
                          <a:solidFill>
                            <a:schemeClr val="tx1"/>
                          </a:solidFill>
                        </a:rPr>
                        <a:t>한도</a:t>
                      </a:r>
                      <a:endParaRPr sz="1500" b="1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692">
                <a:tc>
                  <a:txBody>
                    <a:bodyPr/>
                    <a:lstStyle/>
                    <a:p>
                      <a:pPr algn="l"/>
                      <a:r>
                        <a:rPr sz="1500" b="1" u="none">
                          <a:solidFill>
                            <a:schemeClr val="tx1"/>
                          </a:solidFill>
                        </a:rPr>
                        <a:t>도입 목적</a:t>
                      </a:r>
                      <a:endParaRPr sz="1500" b="1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>
                          <a:solidFill>
                            <a:schemeClr val="tx1"/>
                          </a:solidFill>
                        </a:rPr>
                        <a:t>보안성 확보, 프로세스 간 충돌 및 간섭 방지</a:t>
                      </a:r>
                      <a:endParaRPr sz="1500" b="0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시스템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안정성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확보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특정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앱의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자원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독점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방지</a:t>
                      </a:r>
                      <a:endParaRPr sz="1500" b="0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692">
                <a:tc>
                  <a:txBody>
                    <a:bodyPr/>
                    <a:lstStyle/>
                    <a:p>
                      <a:pPr algn="l"/>
                      <a:r>
                        <a:rPr sz="1500" b="1" u="none">
                          <a:solidFill>
                            <a:schemeClr val="tx1"/>
                          </a:solidFill>
                        </a:rPr>
                        <a:t>주요 구성 요소</a:t>
                      </a:r>
                      <a:endParaRPr sz="1500" b="1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>
                          <a:solidFill>
                            <a:schemeClr val="tx1"/>
                          </a:solidFill>
                        </a:rPr>
                        <a:t>PID, Network, Mount, IPC, UTS, User</a:t>
                      </a:r>
                      <a:endParaRPr sz="1500" b="0" i="0" u="none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CPU, Memory, </a:t>
                      </a:r>
                      <a:r>
                        <a:rPr sz="1500" b="0" u="none" dirty="0" err="1">
                          <a:solidFill>
                            <a:schemeClr val="tx1"/>
                          </a:solidFill>
                        </a:rPr>
                        <a:t>blkio</a:t>
                      </a:r>
                      <a:r>
                        <a:rPr sz="1500" b="0" u="none" dirty="0">
                          <a:solidFill>
                            <a:schemeClr val="tx1"/>
                          </a:solidFill>
                        </a:rPr>
                        <a:t>, Network Traffic</a:t>
                      </a:r>
                      <a:endParaRPr sz="1500" b="0" i="0" u="none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739330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1300" y="2739330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900" y="2739330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510855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1300" y="3510855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00900" y="3510855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282380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1300" y="4282380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00900" y="4282380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5053905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1300" y="5053905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00900" y="5053905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8FAFC"/>
                </a:solidFill>
                <a:latin typeface="Outfit"/>
              </a:rPr>
              <a:t>핵심 요약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00" y="-952500"/>
            <a:ext cx="3810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3524250"/>
            <a:ext cx="47625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510730"/>
            <a:ext cx="11601450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38BDF8"/>
                </a:solidFill>
                <a:latin typeface="Outfit"/>
              </a:rPr>
              <a:t>Q</a:t>
            </a:r>
            <a:r>
              <a:rPr sz="6750" b="1" i="0" u="none">
                <a:solidFill>
                  <a:srgbClr val="F8FAFC"/>
                </a:solidFill>
                <a:latin typeface="Outfit"/>
              </a:rPr>
              <a:t>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77555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CBD5E1"/>
                </a:solidFill>
                <a:latin typeface="Pretendard"/>
              </a:rPr>
              <a:t>경청해 주셔서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594</Words>
  <Application>Microsoft Office PowerPoint</Application>
  <PresentationFormat>와이드스크린</PresentationFormat>
  <Paragraphs>70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Outfit</vt:lpstr>
      <vt:lpstr>Outfit SemiBold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수호 권</cp:lastModifiedBy>
  <cp:revision>2</cp:revision>
  <dcterms:created xsi:type="dcterms:W3CDTF">2013-01-27T09:14:16Z</dcterms:created>
  <dcterms:modified xsi:type="dcterms:W3CDTF">2026-08-18T08:53:32Z</dcterms:modified>
  <cp:category/>
</cp:coreProperties>
</file>