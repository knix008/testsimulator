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0"/>
  </p:notesMasterIdLst>
  <p:sldIdLst>
    <p:sldId id="256" r:id="rId2"/>
    <p:sldId id="776" r:id="rId3"/>
    <p:sldId id="1697" r:id="rId4"/>
    <p:sldId id="1698" r:id="rId5"/>
    <p:sldId id="1699" r:id="rId6"/>
    <p:sldId id="1700" r:id="rId7"/>
    <p:sldId id="1701" r:id="rId8"/>
    <p:sldId id="1702" r:id="rId9"/>
    <p:sldId id="1703" r:id="rId10"/>
    <p:sldId id="1704" r:id="rId11"/>
    <p:sldId id="1705" r:id="rId12"/>
    <p:sldId id="1707" r:id="rId13"/>
    <p:sldId id="1706" r:id="rId14"/>
    <p:sldId id="1708" r:id="rId15"/>
    <p:sldId id="1709" r:id="rId16"/>
    <p:sldId id="1711" r:id="rId17"/>
    <p:sldId id="1712" r:id="rId18"/>
    <p:sldId id="1713" r:id="rId19"/>
    <p:sldId id="1714" r:id="rId20"/>
    <p:sldId id="1715" r:id="rId21"/>
    <p:sldId id="1716" r:id="rId22"/>
    <p:sldId id="1717" r:id="rId23"/>
    <p:sldId id="1718" r:id="rId24"/>
    <p:sldId id="1719" r:id="rId25"/>
    <p:sldId id="1720" r:id="rId26"/>
    <p:sldId id="1721" r:id="rId27"/>
    <p:sldId id="1722" r:id="rId28"/>
    <p:sldId id="1723" r:id="rId29"/>
    <p:sldId id="1724" r:id="rId30"/>
    <p:sldId id="1725" r:id="rId31"/>
    <p:sldId id="1726" r:id="rId32"/>
    <p:sldId id="1727" r:id="rId33"/>
    <p:sldId id="1728" r:id="rId34"/>
    <p:sldId id="1729" r:id="rId35"/>
    <p:sldId id="1730" r:id="rId36"/>
    <p:sldId id="1731" r:id="rId37"/>
    <p:sldId id="1732" r:id="rId38"/>
    <p:sldId id="1733" r:id="rId39"/>
    <p:sldId id="1734" r:id="rId40"/>
    <p:sldId id="1735" r:id="rId41"/>
    <p:sldId id="1736" r:id="rId42"/>
    <p:sldId id="1737" r:id="rId43"/>
    <p:sldId id="1738" r:id="rId44"/>
    <p:sldId id="1739" r:id="rId45"/>
    <p:sldId id="1740" r:id="rId46"/>
    <p:sldId id="1741" r:id="rId47"/>
    <p:sldId id="1744" r:id="rId48"/>
    <p:sldId id="1742" r:id="rId49"/>
    <p:sldId id="1745" r:id="rId50"/>
    <p:sldId id="1746" r:id="rId51"/>
    <p:sldId id="1747" r:id="rId52"/>
    <p:sldId id="1748" r:id="rId53"/>
    <p:sldId id="1749" r:id="rId54"/>
    <p:sldId id="1750" r:id="rId55"/>
    <p:sldId id="1751" r:id="rId56"/>
    <p:sldId id="1752" r:id="rId57"/>
    <p:sldId id="1753" r:id="rId58"/>
    <p:sldId id="1754" r:id="rId59"/>
    <p:sldId id="1755" r:id="rId60"/>
    <p:sldId id="1756" r:id="rId61"/>
    <p:sldId id="1797" r:id="rId62"/>
    <p:sldId id="1759" r:id="rId63"/>
    <p:sldId id="1760" r:id="rId64"/>
    <p:sldId id="1761" r:id="rId65"/>
    <p:sldId id="1762" r:id="rId66"/>
    <p:sldId id="1763" r:id="rId67"/>
    <p:sldId id="1764" r:id="rId68"/>
    <p:sldId id="1765" r:id="rId69"/>
    <p:sldId id="1766" r:id="rId70"/>
    <p:sldId id="1767" r:id="rId71"/>
    <p:sldId id="1768" r:id="rId72"/>
    <p:sldId id="1769" r:id="rId73"/>
    <p:sldId id="1770" r:id="rId74"/>
    <p:sldId id="1771" r:id="rId75"/>
    <p:sldId id="1772" r:id="rId76"/>
    <p:sldId id="1773" r:id="rId77"/>
    <p:sldId id="1774" r:id="rId78"/>
    <p:sldId id="1775" r:id="rId79"/>
    <p:sldId id="1776" r:id="rId80"/>
    <p:sldId id="1777" r:id="rId81"/>
    <p:sldId id="1778" r:id="rId82"/>
    <p:sldId id="1779" r:id="rId83"/>
    <p:sldId id="1780" r:id="rId84"/>
    <p:sldId id="1781" r:id="rId85"/>
    <p:sldId id="1782" r:id="rId86"/>
    <p:sldId id="1783" r:id="rId87"/>
    <p:sldId id="1784" r:id="rId88"/>
    <p:sldId id="1785" r:id="rId89"/>
    <p:sldId id="1786" r:id="rId90"/>
    <p:sldId id="1787" r:id="rId91"/>
    <p:sldId id="1788" r:id="rId92"/>
    <p:sldId id="1789" r:id="rId93"/>
    <p:sldId id="1790" r:id="rId94"/>
    <p:sldId id="1791" r:id="rId95"/>
    <p:sldId id="1792" r:id="rId96"/>
    <p:sldId id="1793" r:id="rId97"/>
    <p:sldId id="1794" r:id="rId98"/>
    <p:sldId id="1795" r:id="rId99"/>
    <p:sldId id="1798" r:id="rId100"/>
    <p:sldId id="1799" r:id="rId101"/>
    <p:sldId id="1800" r:id="rId102"/>
    <p:sldId id="1801" r:id="rId103"/>
    <p:sldId id="1802" r:id="rId104"/>
    <p:sldId id="1803" r:id="rId105"/>
    <p:sldId id="1743" r:id="rId106"/>
    <p:sldId id="1796" r:id="rId107"/>
    <p:sldId id="281" r:id="rId108"/>
    <p:sldId id="259" r:id="rId10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3" d="100"/>
          <a:sy n="113" d="100"/>
        </p:scale>
        <p:origin x="108"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kubernetes.io/docs/concepts/policy/limit-rang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kubernetes.io/docs/concepts/policy/resource-quotas/" TargetMode="External"/><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github.com/kubernetes/heapster"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github.com/bakins/minikube-prometheus-demo" TargetMode="External"/><Relationship Id="rId2" Type="http://schemas.openxmlformats.org/officeDocument/2006/relationships/hyperlink" Target="http://github.com/kubernetes/heapster/tree/master/deploy/kube-config/influxdb" TargetMode="Externa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hyperlink" Target="https://kubernetes.io/docs/tasks/run-application/horizontal-pod-autoscale/"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s://kubernetes.io/docs/tasks/run-application/horizontal-pod-autoscale-walkthrough/"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cloud.google.com/kubernetes-engine/docs/concepts/verticalpodautoscaler" TargetMode="External"/><Relationship Id="rId2" Type="http://schemas.openxmlformats.org/officeDocument/2006/relationships/hyperlink" Target="https://docs.aws.amazon.com/ko_kr/eks/latest/userguide/vertical-pod-autoscaler.html" TargetMode="Externa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9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github.com/kubernetes/autoscaler/tree/master/cluster-autoscaler/"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hyperlink" Target="https://kubernetes.io/docs/reference/kubectl/cheatsheet/" TargetMode="External"/></Relationships>
</file>

<file path=ppt/slides/_rels/slide10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VIII</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Pod’s Computation Resources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Managing Resources in the Pod</a:t>
            </a:r>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Pods with Resource Requests :</a:t>
            </a:r>
            <a:endParaRPr lang="en-US" altLang="ko-KR" sz="1400" dirty="0"/>
          </a:p>
          <a:p>
            <a:pPr lvl="1">
              <a:buFont typeface="Wingdings" panose="05000000000000000000" pitchFamily="2" charset="2"/>
              <a:buChar char="§"/>
            </a:pPr>
            <a:r>
              <a:rPr lang="en-US" altLang="ko-KR" sz="1400" b="1" dirty="0"/>
              <a:t>When creating a pod, you can specify the amount of CPU and memory that a container needs </a:t>
            </a:r>
            <a:r>
              <a:rPr lang="en-US" altLang="ko-KR" sz="1400" dirty="0"/>
              <a:t>(these are called “</a:t>
            </a:r>
            <a:r>
              <a:rPr lang="en-US" altLang="ko-KR" sz="1400" b="1" dirty="0">
                <a:solidFill>
                  <a:srgbClr val="FF0000"/>
                </a:solidFill>
              </a:rPr>
              <a:t>requests</a:t>
            </a:r>
            <a:r>
              <a:rPr lang="en-US" altLang="ko-KR" sz="1400" dirty="0"/>
              <a:t>“), </a:t>
            </a:r>
            <a:r>
              <a:rPr lang="en-US" altLang="ko-KR" sz="1400" b="1" dirty="0"/>
              <a:t>and a hard limit on what it may consume (known as “</a:t>
            </a:r>
            <a:r>
              <a:rPr lang="en-US" altLang="ko-KR" sz="1400" b="1" dirty="0">
                <a:solidFill>
                  <a:srgbClr val="FF0000"/>
                </a:solidFill>
              </a:rPr>
              <a:t>limits</a:t>
            </a:r>
            <a:r>
              <a:rPr lang="en-US" altLang="ko-KR" sz="1400" b="1" dirty="0"/>
              <a:t>”)</a:t>
            </a:r>
            <a:r>
              <a:rPr lang="en-US" altLang="ko-KR" sz="1400" dirty="0"/>
              <a:t>. </a:t>
            </a:r>
            <a:r>
              <a:rPr lang="en-US" altLang="ko-KR" sz="1400" b="1" dirty="0"/>
              <a:t>They’re specified for each container individually, not for the pod as a whole</a:t>
            </a:r>
            <a:r>
              <a:rPr lang="en-US" altLang="ko-KR" sz="1400" dirty="0"/>
              <a:t>. </a:t>
            </a:r>
            <a:r>
              <a:rPr lang="en-US" altLang="ko-KR" sz="1400" b="1" dirty="0">
                <a:solidFill>
                  <a:srgbClr val="FF0000"/>
                </a:solidFill>
              </a:rPr>
              <a:t>The pod’s resource requests and limits are the sum of the requests and limits of all its containers</a:t>
            </a:r>
            <a:r>
              <a:rPr lang="en-US" altLang="ko-KR" sz="1400" dirty="0"/>
              <a:t>.</a:t>
            </a:r>
          </a:p>
          <a:p>
            <a:pPr lvl="1">
              <a:buFont typeface="Wingdings" panose="05000000000000000000" pitchFamily="2" charset="2"/>
              <a:buChar char="§"/>
            </a:pPr>
            <a:r>
              <a:rPr lang="en-US" altLang="ko-KR" sz="1400" dirty="0"/>
              <a:t>The following example has the CPU and memory requests specified for its single container,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70A9EFEA-7891-F351-C51A-48694BFB1825}"/>
              </a:ext>
            </a:extLst>
          </p:cNvPr>
          <p:cNvGrpSpPr/>
          <p:nvPr/>
        </p:nvGrpSpPr>
        <p:grpSpPr>
          <a:xfrm>
            <a:off x="1776286" y="2382559"/>
            <a:ext cx="8639428" cy="4026471"/>
            <a:chOff x="1776286" y="2382559"/>
            <a:chExt cx="8639428" cy="4026471"/>
          </a:xfrm>
        </p:grpSpPr>
        <p:grpSp>
          <p:nvGrpSpPr>
            <p:cNvPr id="11" name="그룹 10">
              <a:extLst>
                <a:ext uri="{FF2B5EF4-FFF2-40B4-BE49-F238E27FC236}">
                  <a16:creationId xmlns:a16="http://schemas.microsoft.com/office/drawing/2014/main" id="{934978FE-2C6F-EFED-036D-21C4FFB31A91}"/>
                </a:ext>
              </a:extLst>
            </p:cNvPr>
            <p:cNvGrpSpPr/>
            <p:nvPr/>
          </p:nvGrpSpPr>
          <p:grpSpPr>
            <a:xfrm>
              <a:off x="3047326" y="2382559"/>
              <a:ext cx="6097348" cy="2092881"/>
              <a:chOff x="3047326" y="2545277"/>
              <a:chExt cx="6097348" cy="2092881"/>
            </a:xfrm>
          </p:grpSpPr>
          <p:sp>
            <p:nvSpPr>
              <p:cNvPr id="9" name="TextBox 8">
                <a:extLst>
                  <a:ext uri="{FF2B5EF4-FFF2-40B4-BE49-F238E27FC236}">
                    <a16:creationId xmlns:a16="http://schemas.microsoft.com/office/drawing/2014/main" id="{4E592432-9292-A1F4-47E2-E149779044B5}"/>
                  </a:ext>
                </a:extLst>
              </p:cNvPr>
              <p:cNvSpPr txBox="1"/>
              <p:nvPr/>
            </p:nvSpPr>
            <p:spPr>
              <a:xfrm>
                <a:off x="3047326" y="2545277"/>
                <a:ext cx="6097348"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requests-pod</a:t>
                </a:r>
              </a:p>
              <a:p>
                <a:r>
                  <a:rPr lang="en-US" altLang="ko-KR" sz="1000" b="1" dirty="0"/>
                  <a:t>spec:</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command: ["dd", "if=/dev/zero", "of=/dev/null"]</a:t>
                </a:r>
              </a:p>
              <a:p>
                <a:r>
                  <a:rPr lang="en-US" altLang="ko-KR" sz="1000" b="1" dirty="0"/>
                  <a:t>    name: main</a:t>
                </a:r>
              </a:p>
              <a:p>
                <a:r>
                  <a:rPr lang="en-US" altLang="ko-KR" sz="1000" b="1" dirty="0">
                    <a:solidFill>
                      <a:srgbClr val="FF0000"/>
                    </a:solidFill>
                  </a:rPr>
                  <a:t>    resources:</a:t>
                </a:r>
              </a:p>
              <a:p>
                <a:r>
                  <a:rPr lang="en-US" altLang="ko-KR" sz="1000" b="1" dirty="0">
                    <a:solidFill>
                      <a:srgbClr val="FF0000"/>
                    </a:solidFill>
                  </a:rPr>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200m</a:t>
                </a:r>
              </a:p>
              <a:p>
                <a:r>
                  <a:rPr lang="en-US" altLang="ko-KR" sz="1000" b="1" dirty="0">
                    <a:solidFill>
                      <a:srgbClr val="FF0000"/>
                    </a:solidFill>
                  </a:rPr>
                  <a:t>        memory: 10Mi</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4BE5C813-ACC6-2E89-ACEE-DDF4A4022CAE}"/>
                  </a:ext>
                </a:extLst>
              </p:cNvPr>
              <p:cNvSpPr txBox="1"/>
              <p:nvPr/>
            </p:nvSpPr>
            <p:spPr>
              <a:xfrm>
                <a:off x="7823478" y="2545277"/>
                <a:ext cx="1321196" cy="246221"/>
              </a:xfrm>
              <a:prstGeom prst="rect">
                <a:avLst/>
              </a:prstGeom>
              <a:noFill/>
            </p:spPr>
            <p:txBody>
              <a:bodyPr wrap="none" rtlCol="0">
                <a:spAutoFit/>
              </a:bodyPr>
              <a:lstStyle/>
              <a:p>
                <a:pPr algn="l"/>
                <a:r>
                  <a:rPr lang="en-US" altLang="ko-KR" sz="1000" b="1" dirty="0"/>
                  <a:t>requests-</a:t>
                </a:r>
                <a:r>
                  <a:rPr lang="en-US" altLang="ko-KR" sz="1000" b="1" dirty="0" err="1"/>
                  <a:t>pod.yaml</a:t>
                </a:r>
                <a:endParaRPr lang="ko-KR" altLang="en-US" sz="1000" b="1" dirty="0"/>
              </a:p>
            </p:txBody>
          </p:sp>
        </p:grpSp>
        <p:pic>
          <p:nvPicPr>
            <p:cNvPr id="13" name="그림 12">
              <a:extLst>
                <a:ext uri="{FF2B5EF4-FFF2-40B4-BE49-F238E27FC236}">
                  <a16:creationId xmlns:a16="http://schemas.microsoft.com/office/drawing/2014/main" id="{75951AED-6407-6A77-9296-14BD2E489A47}"/>
                </a:ext>
              </a:extLst>
            </p:cNvPr>
            <p:cNvPicPr>
              <a:picLocks noChangeAspect="1"/>
            </p:cNvPicPr>
            <p:nvPr/>
          </p:nvPicPr>
          <p:blipFill>
            <a:blip r:embed="rId2"/>
            <a:stretch>
              <a:fillRect/>
            </a:stretch>
          </p:blipFill>
          <p:spPr>
            <a:xfrm>
              <a:off x="1776286" y="4767539"/>
              <a:ext cx="8639428" cy="1641491"/>
            </a:xfrm>
            <a:prstGeom prst="rect">
              <a:avLst/>
            </a:prstGeom>
          </p:spPr>
        </p:pic>
        <p:sp>
          <p:nvSpPr>
            <p:cNvPr id="14" name="화살표: 아래쪽 13">
              <a:extLst>
                <a:ext uri="{FF2B5EF4-FFF2-40B4-BE49-F238E27FC236}">
                  <a16:creationId xmlns:a16="http://schemas.microsoft.com/office/drawing/2014/main" id="{966910F1-1F8C-667D-D5EB-EC2CC0CCFBD9}"/>
                </a:ext>
              </a:extLst>
            </p:cNvPr>
            <p:cNvSpPr/>
            <p:nvPr/>
          </p:nvSpPr>
          <p:spPr>
            <a:xfrm>
              <a:off x="5869423" y="4475440"/>
              <a:ext cx="453154" cy="2988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7012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Pods with Resource Requests :</a:t>
            </a:r>
            <a:endParaRPr lang="en-US" altLang="ko-KR" sz="1400" dirty="0"/>
          </a:p>
          <a:p>
            <a:pPr lvl="1">
              <a:buFont typeface="Wingdings" panose="05000000000000000000" pitchFamily="2" charset="2"/>
              <a:buChar char="§"/>
            </a:pPr>
            <a:r>
              <a:rPr lang="en-US" altLang="ko-KR" sz="1400" dirty="0"/>
              <a:t>In the previous pod manifest, </a:t>
            </a:r>
            <a:r>
              <a:rPr lang="en-US" altLang="ko-KR" sz="1400" b="1" dirty="0"/>
              <a:t>your single container requires one-fifth of a CPU core (200 </a:t>
            </a:r>
            <a:r>
              <a:rPr lang="en-US" altLang="ko-KR" sz="1400" b="1" dirty="0" err="1"/>
              <a:t>millicores</a:t>
            </a:r>
            <a:r>
              <a:rPr lang="en-US" altLang="ko-KR" sz="1400" b="1" dirty="0"/>
              <a:t>) </a:t>
            </a:r>
            <a:r>
              <a:rPr lang="en-US" altLang="ko-KR" sz="1400" dirty="0"/>
              <a:t>to run properly. Five such pods/containers can run sufficiently fast on a single CPU core.</a:t>
            </a:r>
          </a:p>
          <a:p>
            <a:pPr lvl="1">
              <a:buFont typeface="Wingdings" panose="05000000000000000000" pitchFamily="2" charset="2"/>
              <a:buChar char="§"/>
            </a:pPr>
            <a:r>
              <a:rPr lang="en-US" altLang="ko-KR" sz="1400" b="1" dirty="0"/>
              <a:t>When you don’t specify a request for CPU, you’re saying you don’t care how much CPU time the process running in your container is allotted</a:t>
            </a:r>
            <a:r>
              <a:rPr lang="en-US" altLang="ko-KR" sz="1400" dirty="0"/>
              <a:t>. In the worst case, it may not get any CPU time at all (this happens when a heavy demand by other processes exists on the CPU). Although this may be fine for low-priority batch jobs, which aren’t time-critical, it obviously isn’t appropriate for containers handling user requests.</a:t>
            </a:r>
          </a:p>
          <a:p>
            <a:pPr lvl="1">
              <a:buFont typeface="Wingdings" panose="05000000000000000000" pitchFamily="2" charset="2"/>
              <a:buChar char="§"/>
            </a:pPr>
            <a:r>
              <a:rPr lang="en-US" altLang="ko-KR" sz="1400" b="1" dirty="0"/>
              <a:t>In the pod spec, you’re also requesting 10 mebibytes of memory for the container. By doing that, you’re saying that you expect the processes running inside the container to use at most 10 mebibytes of RAM</a:t>
            </a:r>
            <a:r>
              <a:rPr lang="en-US" altLang="ko-KR" sz="1400" dirty="0"/>
              <a:t>. They might use less, but you’re not expecting them to use more than that in normal circumstances. </a:t>
            </a:r>
          </a:p>
          <a:p>
            <a:pPr lvl="1">
              <a:buFont typeface="Wingdings" panose="05000000000000000000" pitchFamily="2" charset="2"/>
              <a:buChar char="§"/>
            </a:pPr>
            <a:r>
              <a:rPr lang="en-US" altLang="ko-KR" sz="1400" b="1" dirty="0"/>
              <a:t>Now you’ll run the pod. When the pod starts, you can take a quick look at the process’ CPU consumption by running the “</a:t>
            </a:r>
            <a:r>
              <a:rPr lang="en-US" altLang="ko-KR" sz="1400" b="1" dirty="0">
                <a:solidFill>
                  <a:srgbClr val="FF0000"/>
                </a:solidFill>
              </a:rPr>
              <a:t>top</a:t>
            </a:r>
            <a:r>
              <a:rPr lang="en-US" altLang="ko-KR" sz="1400" b="1" dirty="0"/>
              <a:t>” command inside the container</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EDC71B93-752D-7BC0-ED60-E0CDDCB48E02}"/>
              </a:ext>
            </a:extLst>
          </p:cNvPr>
          <p:cNvGrpSpPr/>
          <p:nvPr/>
        </p:nvGrpSpPr>
        <p:grpSpPr>
          <a:xfrm>
            <a:off x="1372190" y="3761651"/>
            <a:ext cx="9447620" cy="2013851"/>
            <a:chOff x="1372190" y="3591718"/>
            <a:chExt cx="9447620" cy="2013851"/>
          </a:xfrm>
        </p:grpSpPr>
        <p:pic>
          <p:nvPicPr>
            <p:cNvPr id="8" name="그림 7">
              <a:extLst>
                <a:ext uri="{FF2B5EF4-FFF2-40B4-BE49-F238E27FC236}">
                  <a16:creationId xmlns:a16="http://schemas.microsoft.com/office/drawing/2014/main" id="{049D83CE-3B55-6358-124D-ED40D54075AB}"/>
                </a:ext>
              </a:extLst>
            </p:cNvPr>
            <p:cNvPicPr>
              <a:picLocks noChangeAspect="1"/>
            </p:cNvPicPr>
            <p:nvPr/>
          </p:nvPicPr>
          <p:blipFill>
            <a:blip r:embed="rId2"/>
            <a:stretch>
              <a:fillRect/>
            </a:stretch>
          </p:blipFill>
          <p:spPr>
            <a:xfrm>
              <a:off x="1372190" y="4109695"/>
              <a:ext cx="9447620" cy="1495874"/>
            </a:xfrm>
            <a:prstGeom prst="rect">
              <a:avLst/>
            </a:prstGeom>
          </p:spPr>
        </p:pic>
        <p:sp>
          <p:nvSpPr>
            <p:cNvPr id="10" name="TextBox 9">
              <a:extLst>
                <a:ext uri="{FF2B5EF4-FFF2-40B4-BE49-F238E27FC236}">
                  <a16:creationId xmlns:a16="http://schemas.microsoft.com/office/drawing/2014/main" id="{949C2630-B8F3-1547-CBD4-C9F53774A72B}"/>
                </a:ext>
              </a:extLst>
            </p:cNvPr>
            <p:cNvSpPr txBox="1"/>
            <p:nvPr/>
          </p:nvSpPr>
          <p:spPr>
            <a:xfrm>
              <a:off x="3047326" y="359171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requests-pod -- </a:t>
              </a:r>
              <a:r>
                <a:rPr lang="en-US" altLang="ko-KR" sz="1000" b="1" dirty="0">
                  <a:solidFill>
                    <a:srgbClr val="FF0000"/>
                  </a:solidFill>
                </a:rPr>
                <a:t>top</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18C3470B-6B7E-184F-ADEC-03D621FED521}"/>
                </a:ext>
              </a:extLst>
            </p:cNvPr>
            <p:cNvSpPr/>
            <p:nvPr/>
          </p:nvSpPr>
          <p:spPr>
            <a:xfrm>
              <a:off x="5874818" y="3837939"/>
              <a:ext cx="445062" cy="27175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B2B393B-3A95-D23F-C1D6-F52F916B686F}"/>
              </a:ext>
            </a:extLst>
          </p:cNvPr>
          <p:cNvSpPr/>
          <p:nvPr/>
        </p:nvSpPr>
        <p:spPr>
          <a:xfrm>
            <a:off x="4070294" y="5259823"/>
            <a:ext cx="2152481" cy="1456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8372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Pods with Resource Requests :</a:t>
            </a:r>
            <a:endParaRPr lang="en-US" altLang="ko-KR" sz="1400" dirty="0"/>
          </a:p>
          <a:p>
            <a:pPr lvl="1">
              <a:buFont typeface="Wingdings" panose="05000000000000000000" pitchFamily="2" charset="2"/>
              <a:buChar char="§"/>
            </a:pPr>
            <a:r>
              <a:rPr lang="en-US" altLang="ko-KR" sz="1400" b="1" dirty="0"/>
              <a:t>The “dd(data dump)” command you’re running in the container consumes as much CPU as it can</a:t>
            </a:r>
            <a:r>
              <a:rPr lang="en-US" altLang="ko-KR" sz="1400" dirty="0"/>
              <a:t>, but it only runs a single thread so it can only use a single core. </a:t>
            </a:r>
            <a:r>
              <a:rPr lang="en-US" altLang="ko-KR" sz="1400" b="1" dirty="0"/>
              <a:t>The </a:t>
            </a:r>
            <a:r>
              <a:rPr lang="en-US" altLang="ko-KR" sz="1400" b="1" dirty="0" err="1"/>
              <a:t>Minikube</a:t>
            </a:r>
            <a:r>
              <a:rPr lang="en-US" altLang="ko-KR" sz="1400" b="1" dirty="0"/>
              <a:t> VM, which is where this example is running, has four CPU cores allotted to it</a:t>
            </a:r>
            <a:r>
              <a:rPr lang="en-US" altLang="ko-KR" sz="1400" dirty="0"/>
              <a:t>.</a:t>
            </a:r>
          </a:p>
          <a:p>
            <a:pPr lvl="1">
              <a:buFont typeface="Wingdings" panose="05000000000000000000" pitchFamily="2" charset="2"/>
              <a:buChar char="§"/>
            </a:pPr>
            <a:r>
              <a:rPr lang="en-US" altLang="ko-KR" sz="1400" b="1" dirty="0"/>
              <a:t>NOTE : If you want to see how many CPUs are allocated to </a:t>
            </a:r>
            <a:r>
              <a:rPr lang="en-US" altLang="ko-KR" sz="1400" b="1" dirty="0" err="1"/>
              <a:t>Minikube</a:t>
            </a:r>
            <a:r>
              <a:rPr lang="en-US" altLang="ko-KR" sz="1400" b="1" dirty="0"/>
              <a:t>, you can run “</a:t>
            </a:r>
            <a:r>
              <a:rPr lang="en-US" altLang="ko-KR" sz="1400" b="1" dirty="0">
                <a:solidFill>
                  <a:srgbClr val="FF0000"/>
                </a:solidFill>
              </a:rPr>
              <a:t>$ </a:t>
            </a:r>
            <a:r>
              <a:rPr lang="en-US" altLang="ko-KR" sz="1400" b="1" dirty="0" err="1">
                <a:solidFill>
                  <a:srgbClr val="FF0000"/>
                </a:solidFill>
              </a:rPr>
              <a:t>minikube</a:t>
            </a:r>
            <a:r>
              <a:rPr lang="en-US" altLang="ko-KR" sz="1400" b="1" dirty="0">
                <a:solidFill>
                  <a:srgbClr val="FF0000"/>
                </a:solidFill>
              </a:rPr>
              <a:t> </a:t>
            </a:r>
            <a:r>
              <a:rPr lang="en-US" altLang="ko-KR" sz="1400" b="1" dirty="0" err="1">
                <a:solidFill>
                  <a:srgbClr val="FF0000"/>
                </a:solidFill>
              </a:rPr>
              <a:t>ssh</a:t>
            </a:r>
            <a:r>
              <a:rPr lang="en-US" altLang="ko-KR" sz="1400" b="1" dirty="0"/>
              <a:t>” command and “</a:t>
            </a:r>
            <a:r>
              <a:rPr lang="en-US" altLang="ko-KR" sz="1400" b="1" dirty="0">
                <a:solidFill>
                  <a:srgbClr val="FF0000"/>
                </a:solidFill>
              </a:rPr>
              <a:t>$ ls -al /dev/</a:t>
            </a:r>
            <a:r>
              <a:rPr lang="en-US" altLang="ko-KR" sz="1400" b="1" dirty="0" err="1">
                <a:solidFill>
                  <a:srgbClr val="FF0000"/>
                </a:solidFill>
              </a:rPr>
              <a:t>cpu</a:t>
            </a:r>
            <a:r>
              <a:rPr lang="en-US" altLang="ko-KR" sz="1400" b="1" dirty="0"/>
              <a:t>” command in the </a:t>
            </a:r>
            <a:r>
              <a:rPr lang="en-US" altLang="ko-KR" sz="1400" b="1" dirty="0" err="1"/>
              <a:t>Minikube</a:t>
            </a:r>
            <a:r>
              <a:rPr lang="en-US" altLang="ko-KR" sz="1400" b="1" dirty="0"/>
              <a:t> VM.</a:t>
            </a:r>
          </a:p>
          <a:p>
            <a:pPr lvl="1">
              <a:buFont typeface="Wingdings" panose="05000000000000000000" pitchFamily="2" charset="2"/>
              <a:buChar char="§"/>
            </a:pPr>
            <a:r>
              <a:rPr lang="en-US" altLang="ko-KR" sz="1400" b="1" dirty="0"/>
              <a:t>The previous requests don’t limit the amount of CPU a container can use</a:t>
            </a:r>
            <a:r>
              <a:rPr lang="en-US" altLang="ko-KR" sz="1400" dirty="0"/>
              <a:t>. You’d need to specify a CPU limit to do that.</a:t>
            </a:r>
          </a:p>
          <a:p>
            <a:pPr lvl="1">
              <a:buFont typeface="Wingdings" panose="05000000000000000000" pitchFamily="2" charset="2"/>
              <a:buChar char="§"/>
            </a:pPr>
            <a:r>
              <a:rPr lang="en-US" altLang="ko-KR" sz="1400" b="1" dirty="0"/>
              <a:t>NOTE : To see the number of CPUs in your system in Linux Ubuntu, you need to install “</a:t>
            </a:r>
            <a:r>
              <a:rPr lang="en-US" altLang="ko-KR" sz="1400" b="1" dirty="0" err="1">
                <a:solidFill>
                  <a:srgbClr val="FF0000"/>
                </a:solidFill>
              </a:rPr>
              <a:t>cpuinfo</a:t>
            </a:r>
            <a:r>
              <a:rPr lang="en-US" altLang="ko-KR" sz="1400" b="1" dirty="0"/>
              <a:t>” package with “</a:t>
            </a:r>
            <a:r>
              <a:rPr lang="en-US" altLang="ko-KR" sz="1400" b="1" dirty="0">
                <a:solidFill>
                  <a:srgbClr val="FF0000"/>
                </a:solidFill>
              </a:rPr>
              <a:t>$ </a:t>
            </a:r>
            <a:r>
              <a:rPr lang="en-US" altLang="ko-KR" sz="1400" b="1" dirty="0" err="1">
                <a:solidFill>
                  <a:srgbClr val="FF0000"/>
                </a:solidFill>
              </a:rPr>
              <a:t>sudo</a:t>
            </a:r>
            <a:r>
              <a:rPr lang="en-US" altLang="ko-KR" sz="1400" b="1" dirty="0">
                <a:solidFill>
                  <a:srgbClr val="FF0000"/>
                </a:solidFill>
              </a:rPr>
              <a:t> apt install </a:t>
            </a:r>
            <a:r>
              <a:rPr lang="en-US" altLang="ko-KR" sz="1400" b="1" dirty="0" err="1">
                <a:solidFill>
                  <a:srgbClr val="FF0000"/>
                </a:solidFill>
              </a:rPr>
              <a:t>cpuinfo</a:t>
            </a:r>
            <a:r>
              <a:rPr lang="en-US" altLang="ko-KR" sz="1400" b="1" dirty="0"/>
              <a:t>” command. Then run “</a:t>
            </a:r>
            <a:r>
              <a:rPr lang="en-US" altLang="ko-KR" sz="1400" b="1" dirty="0">
                <a:solidFill>
                  <a:srgbClr val="FF0000"/>
                </a:solidFill>
              </a:rPr>
              <a:t>$ </a:t>
            </a:r>
            <a:r>
              <a:rPr lang="en-US" altLang="ko-KR" sz="1400" b="1" dirty="0" err="1">
                <a:solidFill>
                  <a:srgbClr val="FF0000"/>
                </a:solidFill>
              </a:rPr>
              <a:t>cpu</a:t>
            </a:r>
            <a:r>
              <a:rPr lang="en-US" altLang="ko-KR" sz="1400" b="1" dirty="0">
                <a:solidFill>
                  <a:srgbClr val="FF0000"/>
                </a:solidFill>
              </a:rPr>
              <a:t>-info</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28ACDDB-4223-F881-E955-B4211259925F}"/>
              </a:ext>
            </a:extLst>
          </p:cNvPr>
          <p:cNvPicPr>
            <a:picLocks noChangeAspect="1"/>
          </p:cNvPicPr>
          <p:nvPr/>
        </p:nvPicPr>
        <p:blipFill>
          <a:blip r:embed="rId2"/>
          <a:stretch>
            <a:fillRect/>
          </a:stretch>
        </p:blipFill>
        <p:spPr>
          <a:xfrm>
            <a:off x="1346397" y="3356923"/>
            <a:ext cx="9499206" cy="2501457"/>
          </a:xfrm>
          <a:prstGeom prst="rect">
            <a:avLst/>
          </a:prstGeom>
        </p:spPr>
      </p:pic>
    </p:spTree>
    <p:extLst>
      <p:ext uri="{BB962C8B-B14F-4D97-AF65-F5344CB8AC3E}">
        <p14:creationId xmlns:p14="http://schemas.microsoft.com/office/powerpoint/2010/main" val="1824457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Containers(4/13)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endParaRPr lang="en-US" altLang="ko-KR" sz="1400" dirty="0"/>
          </a:p>
          <a:p>
            <a:pPr lvl="1">
              <a:buFont typeface="Wingdings" panose="05000000000000000000" pitchFamily="2" charset="2"/>
              <a:buChar char="§"/>
            </a:pPr>
            <a:r>
              <a:rPr lang="en-US" altLang="ko-KR" sz="1400" b="1" dirty="0"/>
              <a:t>By specifying resource requests, you’re specifying the </a:t>
            </a:r>
            <a:r>
              <a:rPr lang="en-US" altLang="ko-KR" sz="1400" b="1" dirty="0">
                <a:solidFill>
                  <a:srgbClr val="FF0000"/>
                </a:solidFill>
              </a:rPr>
              <a:t>minimum</a:t>
            </a:r>
            <a:r>
              <a:rPr lang="en-US" altLang="ko-KR" sz="1400" b="1" dirty="0"/>
              <a:t> amount of resources your pod needs</a:t>
            </a:r>
            <a:r>
              <a:rPr lang="en-US" altLang="ko-KR" sz="1400" dirty="0"/>
              <a:t>. </a:t>
            </a:r>
            <a:r>
              <a:rPr lang="en-US" altLang="ko-KR" sz="1400" b="1" dirty="0"/>
              <a:t>This information is what the Scheduler uses when scheduling the pod to a node</a:t>
            </a:r>
            <a:r>
              <a:rPr lang="en-US" altLang="ko-KR" sz="1400" dirty="0"/>
              <a:t>. Each node has a certain amount of CPU and memory it can allocate to pods. </a:t>
            </a:r>
            <a:r>
              <a:rPr lang="en-US" altLang="ko-KR" sz="1400" b="1" dirty="0"/>
              <a:t>When scheduling a pod, the Scheduler will only consider nodes with enough unallocated resources to meet the pod’s resource requirements</a:t>
            </a:r>
            <a:r>
              <a:rPr lang="en-US" altLang="ko-KR" sz="1400" dirty="0"/>
              <a:t>. If the amount of unallocated CPU or memory is less than what the pod requests, Kubernetes will not schedule the pod to that node, because the node can’t provide the minimum amount required by the pod.</a:t>
            </a:r>
          </a:p>
          <a:p>
            <a:pPr lvl="1">
              <a:buFont typeface="Wingdings" panose="05000000000000000000" pitchFamily="2" charset="2"/>
              <a:buChar char="§"/>
            </a:pPr>
            <a:r>
              <a:rPr lang="en-US" altLang="ko-KR" sz="1400" b="1" dirty="0"/>
              <a:t>The Scheduler doesn’t look at how much of each individual resource is being used at the exact time of scheduling but </a:t>
            </a:r>
            <a:r>
              <a:rPr lang="en-US" altLang="ko-KR" sz="1400" b="1" dirty="0">
                <a:solidFill>
                  <a:srgbClr val="FF0000"/>
                </a:solidFill>
              </a:rPr>
              <a:t>at the sum of resources requested by the existing pods deployed on the node</a:t>
            </a:r>
            <a:r>
              <a:rPr lang="en-US" altLang="ko-KR" sz="1400" dirty="0"/>
              <a:t>. Even though existing pods may be using less than what they’ve requested, scheduling another pod based on actual resource consumption would break the guarantee given to the already deployed pods.</a:t>
            </a:r>
          </a:p>
          <a:p>
            <a:pPr lvl="1">
              <a:buFont typeface="Wingdings" panose="05000000000000000000" pitchFamily="2" charset="2"/>
              <a:buChar char="§"/>
            </a:pPr>
            <a:r>
              <a:rPr lang="en-US" altLang="ko-KR" sz="1400" dirty="0"/>
              <a:t>In the following figure, three pods are deployed on the node. </a:t>
            </a:r>
            <a:r>
              <a:rPr lang="en-US" altLang="ko-KR" sz="1400" b="1" dirty="0"/>
              <a:t>Together, they’ve requested 80% of the node’s CPU and 60% of the node’s memory</a:t>
            </a:r>
            <a:r>
              <a:rPr lang="en-US" altLang="ko-KR" sz="1400" dirty="0"/>
              <a:t>. </a:t>
            </a:r>
            <a:r>
              <a:rPr lang="en-US" altLang="ko-KR" sz="1400" b="1" dirty="0"/>
              <a:t>Pod D, shown at the bottom right of the figure, cannot be scheduled onto the node because it requests 25% of the CPU, which is more than the 20% of unallocated CPU</a:t>
            </a:r>
            <a:r>
              <a:rPr lang="en-US" altLang="ko-KR" sz="1400" dirty="0"/>
              <a:t>. The fact that the three pods are currently using only 70% of the CPU makes no difference.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00C552B-D00F-7F83-39A9-F87C2C9B5046}"/>
              </a:ext>
            </a:extLst>
          </p:cNvPr>
          <p:cNvPicPr>
            <a:picLocks noChangeAspect="1"/>
          </p:cNvPicPr>
          <p:nvPr/>
        </p:nvPicPr>
        <p:blipFill>
          <a:blip r:embed="rId2"/>
          <a:stretch>
            <a:fillRect/>
          </a:stretch>
        </p:blipFill>
        <p:spPr>
          <a:xfrm>
            <a:off x="3633303" y="4010355"/>
            <a:ext cx="4925394" cy="2398675"/>
          </a:xfrm>
          <a:prstGeom prst="rect">
            <a:avLst/>
          </a:prstGeom>
        </p:spPr>
      </p:pic>
    </p:spTree>
    <p:extLst>
      <p:ext uri="{BB962C8B-B14F-4D97-AF65-F5344CB8AC3E}">
        <p14:creationId xmlns:p14="http://schemas.microsoft.com/office/powerpoint/2010/main" val="1729575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Containers(5/13)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endParaRPr lang="en-US" altLang="ko-KR" sz="1400" dirty="0"/>
          </a:p>
          <a:p>
            <a:pPr lvl="1">
              <a:buFont typeface="Wingdings" panose="05000000000000000000" pitchFamily="2" charset="2"/>
              <a:buChar char="§"/>
            </a:pPr>
            <a:r>
              <a:rPr lang="en-US" altLang="ko-KR" sz="1400" b="1" dirty="0"/>
              <a:t>The Scheduler first </a:t>
            </a:r>
            <a:r>
              <a:rPr lang="en-US" altLang="ko-KR" sz="1400" b="1" dirty="0">
                <a:solidFill>
                  <a:srgbClr val="FF0000"/>
                </a:solidFill>
              </a:rPr>
              <a:t>filters</a:t>
            </a:r>
            <a:r>
              <a:rPr lang="en-US" altLang="ko-KR" sz="1400" b="1" dirty="0"/>
              <a:t> the list of nodes to exclude those that the pod can’t fit on and then </a:t>
            </a:r>
            <a:r>
              <a:rPr lang="en-US" altLang="ko-KR" sz="1400" b="1" dirty="0">
                <a:solidFill>
                  <a:srgbClr val="FF0000"/>
                </a:solidFill>
              </a:rPr>
              <a:t>prioritizes</a:t>
            </a:r>
            <a:r>
              <a:rPr lang="en-US" altLang="ko-KR" sz="1400" b="1" dirty="0"/>
              <a:t> the remaining nodes per the configured </a:t>
            </a:r>
            <a:r>
              <a:rPr lang="en-US" altLang="ko-KR" sz="1400" b="1" dirty="0">
                <a:solidFill>
                  <a:srgbClr val="FF0000"/>
                </a:solidFill>
              </a:rPr>
              <a:t>prioritization functions</a:t>
            </a:r>
            <a:r>
              <a:rPr lang="en-US" altLang="ko-KR" sz="1400" dirty="0"/>
              <a:t>. Among others, two prioritization functions rank nodes based on the amount of resources requested: </a:t>
            </a:r>
            <a:r>
              <a:rPr lang="en-US" altLang="ko-KR" sz="1400" b="1" dirty="0" err="1">
                <a:solidFill>
                  <a:srgbClr val="FF0000"/>
                </a:solidFill>
              </a:rPr>
              <a:t>LeastRequestedPriority</a:t>
            </a:r>
            <a:r>
              <a:rPr lang="en-US" altLang="ko-KR" sz="1400" dirty="0"/>
              <a:t> and </a:t>
            </a:r>
            <a:r>
              <a:rPr lang="en-US" altLang="ko-KR" sz="1400" b="1" dirty="0" err="1">
                <a:solidFill>
                  <a:srgbClr val="FF0000"/>
                </a:solidFill>
              </a:rPr>
              <a:t>MostRequestedPriority</a:t>
            </a:r>
            <a:r>
              <a:rPr lang="en-US" altLang="ko-KR" sz="1400" dirty="0"/>
              <a:t>. </a:t>
            </a:r>
            <a:r>
              <a:rPr lang="en-US" altLang="ko-KR" sz="1400" b="1" dirty="0"/>
              <a:t>The first one prefers nodes with fewer requested resources (with a greater amount of unallocated resources), whereas the second one is the exact opposite—it prefers nodes that have the most requested resources (a smaller amount of unallocated CPU and memory)</a:t>
            </a:r>
            <a:r>
              <a:rPr lang="en-US" altLang="ko-KR" sz="1400" dirty="0"/>
              <a:t>. </a:t>
            </a:r>
            <a:r>
              <a:rPr lang="en-US" altLang="ko-KR" sz="1400" b="1" dirty="0"/>
              <a:t>They both consider the amount of </a:t>
            </a:r>
            <a:r>
              <a:rPr lang="en-US" altLang="ko-KR" sz="1400" b="1" dirty="0">
                <a:solidFill>
                  <a:srgbClr val="FF0000"/>
                </a:solidFill>
              </a:rPr>
              <a:t>requested</a:t>
            </a:r>
            <a:r>
              <a:rPr lang="en-US" altLang="ko-KR" sz="1400" b="1" dirty="0"/>
              <a:t> resources</a:t>
            </a:r>
            <a:r>
              <a:rPr lang="en-US" altLang="ko-KR" sz="1400" dirty="0"/>
              <a:t>, not the amount of resources actually consumed.</a:t>
            </a:r>
          </a:p>
          <a:p>
            <a:pPr lvl="1">
              <a:buFont typeface="Wingdings" panose="05000000000000000000" pitchFamily="2" charset="2"/>
              <a:buChar char="§"/>
            </a:pPr>
            <a:r>
              <a:rPr lang="en-US" altLang="ko-KR" sz="1400" b="1" dirty="0"/>
              <a:t>The Scheduler is configured to use only one of those functions</a:t>
            </a:r>
            <a:r>
              <a:rPr lang="en-US" altLang="ko-KR" sz="1400" dirty="0"/>
              <a:t>. You may wonder why anyone would want to use the </a:t>
            </a:r>
            <a:r>
              <a:rPr lang="en-US" altLang="ko-KR" sz="1400" b="1" dirty="0" err="1"/>
              <a:t>MostRequestedPriority</a:t>
            </a:r>
            <a:r>
              <a:rPr lang="en-US" altLang="ko-KR" sz="1400" dirty="0"/>
              <a:t> function. After all, if you have a set of nodes, </a:t>
            </a:r>
            <a:r>
              <a:rPr lang="en-US" altLang="ko-KR" sz="1400" b="1" dirty="0"/>
              <a:t>you usually want to spread CPU load evenly across them</a:t>
            </a:r>
            <a:r>
              <a:rPr lang="en-US" altLang="ko-KR" sz="1400" dirty="0"/>
              <a:t>. However, that’s not the case </a:t>
            </a:r>
            <a:r>
              <a:rPr lang="en-US" altLang="ko-KR" sz="1400" b="1" dirty="0"/>
              <a:t>when running on cloud infrastructure, where you can add and remove nodes whenever necessary</a:t>
            </a:r>
            <a:r>
              <a:rPr lang="en-US" altLang="ko-KR" sz="1400" dirty="0"/>
              <a:t>. By configuring the Scheduler to use the </a:t>
            </a:r>
            <a:r>
              <a:rPr lang="en-US" altLang="ko-KR" sz="1400" b="1" dirty="0" err="1"/>
              <a:t>MostRequestedPriority</a:t>
            </a:r>
            <a:r>
              <a:rPr lang="en-US" altLang="ko-KR" sz="1400" dirty="0"/>
              <a:t> function, </a:t>
            </a:r>
            <a:r>
              <a:rPr lang="en-US" altLang="ko-KR" sz="1400" b="1" dirty="0"/>
              <a:t>you guarantee that Kubernetes will use </a:t>
            </a:r>
            <a:r>
              <a:rPr lang="en-US" altLang="ko-KR" sz="1400" b="1" dirty="0">
                <a:solidFill>
                  <a:srgbClr val="FF0000"/>
                </a:solidFill>
              </a:rPr>
              <a:t>the smallest possible number of nodes </a:t>
            </a:r>
            <a:r>
              <a:rPr lang="en-US" altLang="ko-KR" sz="1400" b="1" dirty="0"/>
              <a:t>while still providing each pod with the amount of CPU/memory it requests</a:t>
            </a:r>
            <a:r>
              <a:rPr lang="en-US" altLang="ko-KR" sz="1400" dirty="0"/>
              <a:t>. By keeping pods tightly packed, certain nodes are left vacant and can be removed. </a:t>
            </a:r>
            <a:r>
              <a:rPr lang="en-US" altLang="ko-KR" sz="1400" b="1" dirty="0"/>
              <a:t>Because you’re paying for individual nodes, this saves you money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AA2909F-240F-39F7-5F24-C89DC5C7C0E6}"/>
              </a:ext>
            </a:extLst>
          </p:cNvPr>
          <p:cNvPicPr>
            <a:picLocks noChangeAspect="1"/>
          </p:cNvPicPr>
          <p:nvPr/>
        </p:nvPicPr>
        <p:blipFill>
          <a:blip r:embed="rId2"/>
          <a:stretch>
            <a:fillRect/>
          </a:stretch>
        </p:blipFill>
        <p:spPr>
          <a:xfrm>
            <a:off x="4035197" y="4051028"/>
            <a:ext cx="4121606" cy="2358002"/>
          </a:xfrm>
          <a:prstGeom prst="rect">
            <a:avLst/>
          </a:prstGeom>
          <a:ln>
            <a:solidFill>
              <a:schemeClr val="bg1">
                <a:lumMod val="50000"/>
              </a:schemeClr>
            </a:solidFill>
          </a:ln>
        </p:spPr>
      </p:pic>
    </p:spTree>
    <p:extLst>
      <p:ext uri="{BB962C8B-B14F-4D97-AF65-F5344CB8AC3E}">
        <p14:creationId xmlns:p14="http://schemas.microsoft.com/office/powerpoint/2010/main" val="3050158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Containers(6/13)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endParaRPr lang="en-US" altLang="ko-KR" sz="1400" dirty="0"/>
          </a:p>
          <a:p>
            <a:pPr lvl="1">
              <a:buFont typeface="Wingdings" panose="05000000000000000000" pitchFamily="2" charset="2"/>
              <a:buChar char="§"/>
            </a:pPr>
            <a:r>
              <a:rPr lang="en-US" altLang="ko-KR" sz="1400" dirty="0"/>
              <a:t>You’ll deploy another pod with four times the amount of requested resources as before. But before you do that, let’s see your </a:t>
            </a:r>
            <a:r>
              <a:rPr lang="en-US" altLang="ko-KR" sz="1400" b="1" dirty="0"/>
              <a:t>node’s capacity</a:t>
            </a:r>
            <a:r>
              <a:rPr lang="en-US" altLang="ko-KR" sz="1400" dirty="0"/>
              <a:t>. </a:t>
            </a:r>
            <a:r>
              <a:rPr lang="en-US" altLang="ko-KR" sz="1400" b="1" dirty="0"/>
              <a:t>Because the Scheduler needs to know how much CPU and memory each node has, the </a:t>
            </a:r>
            <a:r>
              <a:rPr lang="en-US" altLang="ko-KR" sz="1400" b="1" dirty="0" err="1">
                <a:solidFill>
                  <a:srgbClr val="FF0000"/>
                </a:solidFill>
              </a:rPr>
              <a:t>Kubelet</a:t>
            </a:r>
            <a:r>
              <a:rPr lang="en-US" altLang="ko-KR" sz="1400" b="1" dirty="0"/>
              <a:t> </a:t>
            </a:r>
            <a:r>
              <a:rPr lang="en-US" altLang="ko-KR" sz="1400" b="1" dirty="0">
                <a:solidFill>
                  <a:srgbClr val="FF0000"/>
                </a:solidFill>
              </a:rPr>
              <a:t>reports this data to the API server</a:t>
            </a:r>
            <a:r>
              <a:rPr lang="en-US" altLang="ko-KR" sz="1400" dirty="0"/>
              <a:t>, </a:t>
            </a:r>
            <a:r>
              <a:rPr lang="en-US" altLang="ko-KR" sz="1400" b="1" dirty="0"/>
              <a:t>making it available through the Node resource. </a:t>
            </a:r>
            <a:r>
              <a:rPr lang="en-US" altLang="ko-KR" sz="1400" dirty="0"/>
              <a:t>You can see it by using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a:t>
            </a:r>
            <a:r>
              <a:rPr lang="en-US" altLang="ko-KR" sz="1400" dirty="0"/>
              <a:t>” command as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C6CC349B-B3F0-D82C-36D0-815B44B67912}"/>
              </a:ext>
            </a:extLst>
          </p:cNvPr>
          <p:cNvGrpSpPr/>
          <p:nvPr/>
        </p:nvGrpSpPr>
        <p:grpSpPr>
          <a:xfrm>
            <a:off x="1266740" y="2104987"/>
            <a:ext cx="9658520" cy="4157994"/>
            <a:chOff x="1332823" y="2048736"/>
            <a:chExt cx="9658520" cy="4157994"/>
          </a:xfrm>
        </p:grpSpPr>
        <p:sp>
          <p:nvSpPr>
            <p:cNvPr id="8" name="TextBox 7">
              <a:extLst>
                <a:ext uri="{FF2B5EF4-FFF2-40B4-BE49-F238E27FC236}">
                  <a16:creationId xmlns:a16="http://schemas.microsoft.com/office/drawing/2014/main" id="{BE39BD75-C9B9-38B5-3FA1-1068E51075AB}"/>
                </a:ext>
              </a:extLst>
            </p:cNvPr>
            <p:cNvSpPr txBox="1"/>
            <p:nvPr/>
          </p:nvSpPr>
          <p:spPr>
            <a:xfrm>
              <a:off x="3113410" y="204873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nodes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B5B33928-B3D0-807A-41AB-50B45AC16F86}"/>
                </a:ext>
              </a:extLst>
            </p:cNvPr>
            <p:cNvSpPr/>
            <p:nvPr/>
          </p:nvSpPr>
          <p:spPr>
            <a:xfrm>
              <a:off x="5928763" y="2293385"/>
              <a:ext cx="466641" cy="3155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6BBEAA92-9279-3E80-F359-D93401F8B9CE}"/>
                </a:ext>
              </a:extLst>
            </p:cNvPr>
            <p:cNvGrpSpPr/>
            <p:nvPr/>
          </p:nvGrpSpPr>
          <p:grpSpPr>
            <a:xfrm>
              <a:off x="1332823" y="2608975"/>
              <a:ext cx="9658520" cy="3597755"/>
              <a:chOff x="1332823" y="2608975"/>
              <a:chExt cx="9658520" cy="3597755"/>
            </a:xfrm>
          </p:grpSpPr>
          <p:pic>
            <p:nvPicPr>
              <p:cNvPr id="13" name="그림 12">
                <a:extLst>
                  <a:ext uri="{FF2B5EF4-FFF2-40B4-BE49-F238E27FC236}">
                    <a16:creationId xmlns:a16="http://schemas.microsoft.com/office/drawing/2014/main" id="{C79137BF-22D8-AF37-A880-6E40E92D408D}"/>
                  </a:ext>
                </a:extLst>
              </p:cNvPr>
              <p:cNvPicPr>
                <a:picLocks noChangeAspect="1"/>
              </p:cNvPicPr>
              <p:nvPr/>
            </p:nvPicPr>
            <p:blipFill>
              <a:blip r:embed="rId2"/>
              <a:stretch>
                <a:fillRect/>
              </a:stretch>
            </p:blipFill>
            <p:spPr>
              <a:xfrm>
                <a:off x="1332823" y="3711613"/>
                <a:ext cx="9658520" cy="2495117"/>
              </a:xfrm>
              <a:prstGeom prst="rect">
                <a:avLst/>
              </a:prstGeom>
            </p:spPr>
          </p:pic>
          <p:pic>
            <p:nvPicPr>
              <p:cNvPr id="11" name="그림 10">
                <a:extLst>
                  <a:ext uri="{FF2B5EF4-FFF2-40B4-BE49-F238E27FC236}">
                    <a16:creationId xmlns:a16="http://schemas.microsoft.com/office/drawing/2014/main" id="{DF5C196D-DAEB-815A-6D61-08CB70C24C9F}"/>
                  </a:ext>
                </a:extLst>
              </p:cNvPr>
              <p:cNvPicPr>
                <a:picLocks noChangeAspect="1"/>
              </p:cNvPicPr>
              <p:nvPr/>
            </p:nvPicPr>
            <p:blipFill>
              <a:blip r:embed="rId3"/>
              <a:stretch>
                <a:fillRect/>
              </a:stretch>
            </p:blipFill>
            <p:spPr>
              <a:xfrm>
                <a:off x="1332823" y="2608975"/>
                <a:ext cx="9658519" cy="1529266"/>
              </a:xfrm>
              <a:prstGeom prst="rect">
                <a:avLst/>
              </a:prstGeom>
            </p:spPr>
          </p:pic>
        </p:grpSp>
      </p:grpSp>
    </p:spTree>
    <p:extLst>
      <p:ext uri="{BB962C8B-B14F-4D97-AF65-F5344CB8AC3E}">
        <p14:creationId xmlns:p14="http://schemas.microsoft.com/office/powerpoint/2010/main" val="2517748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Containers(7/13)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endParaRPr lang="en-US" altLang="ko-KR" sz="1400" dirty="0"/>
          </a:p>
          <a:p>
            <a:pPr lvl="1">
              <a:buFont typeface="Wingdings" panose="05000000000000000000" pitchFamily="2" charset="2"/>
              <a:buChar char="§"/>
            </a:pPr>
            <a:r>
              <a:rPr lang="en-US" altLang="ko-KR" sz="1400" b="1" dirty="0"/>
              <a:t>The output shows two sets of amounts related to the available resources on the node : the node’s </a:t>
            </a:r>
            <a:r>
              <a:rPr lang="en-US" altLang="ko-KR" sz="1400" b="1" dirty="0">
                <a:solidFill>
                  <a:srgbClr val="FF0000"/>
                </a:solidFill>
              </a:rPr>
              <a:t>capacity</a:t>
            </a:r>
            <a:r>
              <a:rPr lang="en-US" altLang="ko-KR" sz="1400" b="1" dirty="0"/>
              <a:t> and </a:t>
            </a:r>
            <a:r>
              <a:rPr lang="en-US" altLang="ko-KR" sz="1400" b="1" dirty="0">
                <a:solidFill>
                  <a:srgbClr val="FF0000"/>
                </a:solidFill>
              </a:rPr>
              <a:t>allocatable resources</a:t>
            </a:r>
            <a:r>
              <a:rPr lang="en-US" altLang="ko-KR" sz="1400" dirty="0"/>
              <a:t>. </a:t>
            </a:r>
            <a:r>
              <a:rPr lang="en-US" altLang="ko-KR" sz="1400" b="1" dirty="0"/>
              <a:t>The capacity represents the total resources of a node</a:t>
            </a:r>
            <a:r>
              <a:rPr lang="en-US" altLang="ko-KR" sz="1400" dirty="0"/>
              <a:t>, </a:t>
            </a:r>
            <a:r>
              <a:rPr lang="en-US" altLang="ko-KR" sz="1400" b="1" dirty="0"/>
              <a:t>which may not all be available to pods</a:t>
            </a:r>
            <a:r>
              <a:rPr lang="en-US" altLang="ko-KR" sz="1400" dirty="0"/>
              <a:t>. Certain resources may be reserved for Kubernetes and/or system components. </a:t>
            </a:r>
            <a:r>
              <a:rPr lang="en-US" altLang="ko-KR" sz="1400" b="1" dirty="0">
                <a:solidFill>
                  <a:srgbClr val="FF0000"/>
                </a:solidFill>
              </a:rPr>
              <a:t>The Scheduler bases its decisions only on the allocatable resource amounts</a:t>
            </a:r>
            <a:r>
              <a:rPr lang="en-US" altLang="ko-KR" sz="1400" dirty="0"/>
              <a:t>.</a:t>
            </a:r>
          </a:p>
          <a:p>
            <a:pPr lvl="1">
              <a:buFont typeface="Wingdings" panose="05000000000000000000" pitchFamily="2" charset="2"/>
              <a:buChar char="§"/>
            </a:pPr>
            <a:r>
              <a:rPr lang="en-US" altLang="ko-KR" sz="1400" dirty="0"/>
              <a:t>In the previous example, the node called “</a:t>
            </a:r>
            <a:r>
              <a:rPr lang="en-US" altLang="ko-KR" sz="1400" b="1" dirty="0" err="1"/>
              <a:t>minikube</a:t>
            </a:r>
            <a:r>
              <a:rPr lang="en-US" altLang="ko-KR" sz="1400" dirty="0"/>
              <a:t>” </a:t>
            </a:r>
            <a:r>
              <a:rPr lang="en-US" altLang="ko-KR" sz="1400" b="1" dirty="0"/>
              <a:t>runs in a VM with four cores and has no CPU reserved, making the whole CPU allocatable to pods</a:t>
            </a:r>
            <a:r>
              <a:rPr lang="en-US" altLang="ko-KR" sz="1400" dirty="0"/>
              <a:t>.</a:t>
            </a:r>
          </a:p>
          <a:p>
            <a:pPr lvl="1">
              <a:buFont typeface="Wingdings" panose="05000000000000000000" pitchFamily="2" charset="2"/>
              <a:buChar char="§"/>
            </a:pPr>
            <a:r>
              <a:rPr lang="en-US" altLang="ko-KR" sz="1400" b="1" dirty="0"/>
              <a:t>Run the pod with the “$ </a:t>
            </a:r>
            <a:r>
              <a:rPr lang="en-US" altLang="ko-KR" sz="1400" b="1" dirty="0" err="1"/>
              <a:t>kubectl</a:t>
            </a:r>
            <a:r>
              <a:rPr lang="en-US" altLang="ko-KR" sz="1400" b="1" dirty="0"/>
              <a:t> create” command </a:t>
            </a:r>
            <a:r>
              <a:rPr lang="en-US" altLang="ko-KR" sz="1400" dirty="0"/>
              <a:t>like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EC3C3366-B4C6-A490-EBD3-83C67D9175DD}"/>
              </a:ext>
            </a:extLst>
          </p:cNvPr>
          <p:cNvGrpSpPr/>
          <p:nvPr/>
        </p:nvGrpSpPr>
        <p:grpSpPr>
          <a:xfrm>
            <a:off x="838200" y="2766123"/>
            <a:ext cx="10515600" cy="3196912"/>
            <a:chOff x="838200" y="2766123"/>
            <a:chExt cx="10515600" cy="3196912"/>
          </a:xfrm>
        </p:grpSpPr>
        <p:sp>
          <p:nvSpPr>
            <p:cNvPr id="8" name="TextBox 7">
              <a:extLst>
                <a:ext uri="{FF2B5EF4-FFF2-40B4-BE49-F238E27FC236}">
                  <a16:creationId xmlns:a16="http://schemas.microsoft.com/office/drawing/2014/main" id="{515925E8-DA66-CE06-0129-28885427A28A}"/>
                </a:ext>
              </a:extLst>
            </p:cNvPr>
            <p:cNvSpPr txBox="1"/>
            <p:nvPr/>
          </p:nvSpPr>
          <p:spPr>
            <a:xfrm>
              <a:off x="1866900" y="2766123"/>
              <a:ext cx="8458200"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requests-pod-2.yaml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-f requests-pod-3.yaml</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A185EE89-A635-A0BA-D52A-B5A37F7A19DA}"/>
                </a:ext>
              </a:extLst>
            </p:cNvPr>
            <p:cNvSpPr/>
            <p:nvPr/>
          </p:nvSpPr>
          <p:spPr>
            <a:xfrm>
              <a:off x="5848518" y="3166233"/>
              <a:ext cx="494963" cy="325636"/>
            </a:xfrm>
            <a:prstGeom prst="downArrow">
              <a:avLst>
                <a:gd name="adj1" fmla="val 50000"/>
                <a:gd name="adj2" fmla="val 47099"/>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4" name="그림 13">
              <a:extLst>
                <a:ext uri="{FF2B5EF4-FFF2-40B4-BE49-F238E27FC236}">
                  <a16:creationId xmlns:a16="http://schemas.microsoft.com/office/drawing/2014/main" id="{9ED516CF-4A00-2481-ED07-2928F30AD7FC}"/>
                </a:ext>
              </a:extLst>
            </p:cNvPr>
            <p:cNvPicPr>
              <a:picLocks noChangeAspect="1"/>
            </p:cNvPicPr>
            <p:nvPr/>
          </p:nvPicPr>
          <p:blipFill>
            <a:blip r:embed="rId2"/>
            <a:stretch>
              <a:fillRect/>
            </a:stretch>
          </p:blipFill>
          <p:spPr>
            <a:xfrm>
              <a:off x="838200" y="3491869"/>
              <a:ext cx="10515600" cy="2471166"/>
            </a:xfrm>
            <a:prstGeom prst="rect">
              <a:avLst/>
            </a:prstGeom>
          </p:spPr>
        </p:pic>
      </p:grpSp>
      <p:sp>
        <p:nvSpPr>
          <p:cNvPr id="16" name="직사각형 15">
            <a:extLst>
              <a:ext uri="{FF2B5EF4-FFF2-40B4-BE49-F238E27FC236}">
                <a16:creationId xmlns:a16="http://schemas.microsoft.com/office/drawing/2014/main" id="{2EA5A63E-8484-9866-9C11-048E5A813D64}"/>
              </a:ext>
            </a:extLst>
          </p:cNvPr>
          <p:cNvSpPr/>
          <p:nvPr/>
        </p:nvSpPr>
        <p:spPr>
          <a:xfrm>
            <a:off x="971044" y="5478308"/>
            <a:ext cx="3528128" cy="1537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62786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Containers(8/13)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endParaRPr lang="en-US" altLang="ko-KR" sz="1400" dirty="0"/>
          </a:p>
          <a:p>
            <a:pPr lvl="1">
              <a:buFont typeface="Wingdings" panose="05000000000000000000" pitchFamily="2" charset="2"/>
              <a:buChar char="§"/>
            </a:pPr>
            <a:r>
              <a:rPr lang="en-US" altLang="ko-KR" sz="1400" dirty="0"/>
              <a:t>You now have three pods deployed, which together have requested </a:t>
            </a:r>
            <a:r>
              <a:rPr lang="en-US" altLang="ko-KR" sz="1400" b="1" dirty="0"/>
              <a:t>a total of 1,000 </a:t>
            </a:r>
            <a:r>
              <a:rPr lang="en-US" altLang="ko-KR" sz="1400" b="1" dirty="0" err="1"/>
              <a:t>millicores</a:t>
            </a:r>
            <a:r>
              <a:rPr lang="en-US" altLang="ko-KR" sz="1400" b="1" dirty="0"/>
              <a:t>(200 + 800) </a:t>
            </a:r>
            <a:r>
              <a:rPr lang="en-US" altLang="ko-KR" sz="1400" dirty="0"/>
              <a:t>or </a:t>
            </a:r>
            <a:r>
              <a:rPr lang="en-US" altLang="ko-KR" sz="1400" b="1" dirty="0"/>
              <a:t>exactly 1 core</a:t>
            </a:r>
            <a:r>
              <a:rPr lang="en-US" altLang="ko-KR" sz="1400" dirty="0"/>
              <a:t>. </a:t>
            </a:r>
            <a:r>
              <a:rPr lang="en-US" altLang="ko-KR" sz="1400" b="1" dirty="0"/>
              <a:t>You should therefore have another 3,000 </a:t>
            </a:r>
            <a:r>
              <a:rPr lang="en-US" altLang="ko-KR" sz="1400" b="1" dirty="0" err="1"/>
              <a:t>millicores</a:t>
            </a:r>
            <a:r>
              <a:rPr lang="en-US" altLang="ko-KR" sz="1400" b="1" dirty="0"/>
              <a:t>(3 cores) available for additional pods</a:t>
            </a:r>
            <a:r>
              <a:rPr lang="en-US" altLang="ko-KR" sz="1400" dirty="0"/>
              <a:t>, right? </a:t>
            </a:r>
            <a:r>
              <a:rPr lang="en-US" altLang="ko-KR" sz="1400" b="1" dirty="0"/>
              <a:t>You deployed another pod with a resource request of 3,000 </a:t>
            </a:r>
            <a:r>
              <a:rPr lang="en-US" altLang="ko-KR" sz="1400" b="1" dirty="0" err="1"/>
              <a:t>millicores</a:t>
            </a:r>
            <a:r>
              <a:rPr lang="en-US" altLang="ko-KR" sz="1400" dirty="0"/>
              <a:t>. </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37" name="그룹 36">
            <a:extLst>
              <a:ext uri="{FF2B5EF4-FFF2-40B4-BE49-F238E27FC236}">
                <a16:creationId xmlns:a16="http://schemas.microsoft.com/office/drawing/2014/main" id="{0D3D670B-81B5-8945-66B4-71D069E57DBE}"/>
              </a:ext>
            </a:extLst>
          </p:cNvPr>
          <p:cNvGrpSpPr/>
          <p:nvPr/>
        </p:nvGrpSpPr>
        <p:grpSpPr>
          <a:xfrm>
            <a:off x="838200" y="1990659"/>
            <a:ext cx="10515600" cy="4092935"/>
            <a:chOff x="838200" y="1870610"/>
            <a:chExt cx="10515600" cy="4092935"/>
          </a:xfrm>
        </p:grpSpPr>
        <p:grpSp>
          <p:nvGrpSpPr>
            <p:cNvPr id="26" name="그룹 25">
              <a:extLst>
                <a:ext uri="{FF2B5EF4-FFF2-40B4-BE49-F238E27FC236}">
                  <a16:creationId xmlns:a16="http://schemas.microsoft.com/office/drawing/2014/main" id="{05019CEA-1294-85E2-14B5-E4D32060EA9C}"/>
                </a:ext>
              </a:extLst>
            </p:cNvPr>
            <p:cNvGrpSpPr/>
            <p:nvPr/>
          </p:nvGrpSpPr>
          <p:grpSpPr>
            <a:xfrm>
              <a:off x="1683818" y="1870610"/>
              <a:ext cx="8824364" cy="2092882"/>
              <a:chOff x="1375309" y="2288370"/>
              <a:chExt cx="8824364" cy="2092882"/>
            </a:xfrm>
          </p:grpSpPr>
          <p:sp>
            <p:nvSpPr>
              <p:cNvPr id="23" name="TextBox 22">
                <a:extLst>
                  <a:ext uri="{FF2B5EF4-FFF2-40B4-BE49-F238E27FC236}">
                    <a16:creationId xmlns:a16="http://schemas.microsoft.com/office/drawing/2014/main" id="{9962144D-6136-E7C3-15C0-0FCDCD4208E1}"/>
                  </a:ext>
                </a:extLst>
              </p:cNvPr>
              <p:cNvSpPr txBox="1"/>
              <p:nvPr/>
            </p:nvSpPr>
            <p:spPr>
              <a:xfrm>
                <a:off x="4339659" y="2288370"/>
                <a:ext cx="1447832" cy="246221"/>
              </a:xfrm>
              <a:prstGeom prst="rect">
                <a:avLst/>
              </a:prstGeom>
              <a:noFill/>
            </p:spPr>
            <p:txBody>
              <a:bodyPr wrap="none" rtlCol="0">
                <a:spAutoFit/>
              </a:bodyPr>
              <a:lstStyle/>
              <a:p>
                <a:pPr algn="l"/>
                <a:r>
                  <a:rPr lang="en-US" altLang="ko-KR" sz="1000" b="1" dirty="0"/>
                  <a:t>requests-pod-2.yaml</a:t>
                </a:r>
                <a:endParaRPr lang="ko-KR" altLang="en-US" sz="1000" b="1" dirty="0"/>
              </a:p>
            </p:txBody>
          </p:sp>
          <p:grpSp>
            <p:nvGrpSpPr>
              <p:cNvPr id="25" name="그룹 24">
                <a:extLst>
                  <a:ext uri="{FF2B5EF4-FFF2-40B4-BE49-F238E27FC236}">
                    <a16:creationId xmlns:a16="http://schemas.microsoft.com/office/drawing/2014/main" id="{321C0ABF-C3CA-4F3E-9B83-F0642E8D51CA}"/>
                  </a:ext>
                </a:extLst>
              </p:cNvPr>
              <p:cNvGrpSpPr/>
              <p:nvPr/>
            </p:nvGrpSpPr>
            <p:grpSpPr>
              <a:xfrm>
                <a:off x="1375309" y="2288371"/>
                <a:ext cx="8824364" cy="2092881"/>
                <a:chOff x="1375309" y="2288371"/>
                <a:chExt cx="8824364" cy="2092881"/>
              </a:xfrm>
            </p:grpSpPr>
            <p:grpSp>
              <p:nvGrpSpPr>
                <p:cNvPr id="22" name="그룹 21">
                  <a:extLst>
                    <a:ext uri="{FF2B5EF4-FFF2-40B4-BE49-F238E27FC236}">
                      <a16:creationId xmlns:a16="http://schemas.microsoft.com/office/drawing/2014/main" id="{7DAC98DD-14D4-6F81-D19D-65821D0FB60F}"/>
                    </a:ext>
                  </a:extLst>
                </p:cNvPr>
                <p:cNvGrpSpPr/>
                <p:nvPr/>
              </p:nvGrpSpPr>
              <p:grpSpPr>
                <a:xfrm>
                  <a:off x="1375309" y="2288371"/>
                  <a:ext cx="8824364" cy="2092881"/>
                  <a:chOff x="1375309" y="2288371"/>
                  <a:chExt cx="8824364" cy="2092881"/>
                </a:xfrm>
              </p:grpSpPr>
              <p:sp>
                <p:nvSpPr>
                  <p:cNvPr id="19" name="TextBox 18">
                    <a:extLst>
                      <a:ext uri="{FF2B5EF4-FFF2-40B4-BE49-F238E27FC236}">
                        <a16:creationId xmlns:a16="http://schemas.microsoft.com/office/drawing/2014/main" id="{30782573-6986-40DB-AD2E-62E8296C80A7}"/>
                      </a:ext>
                    </a:extLst>
                  </p:cNvPr>
                  <p:cNvSpPr txBox="1"/>
                  <p:nvPr/>
                </p:nvSpPr>
                <p:spPr>
                  <a:xfrm>
                    <a:off x="1375309" y="2288371"/>
                    <a:ext cx="4412182"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requests-pod-2</a:t>
                    </a:r>
                  </a:p>
                  <a:p>
                    <a:r>
                      <a:rPr lang="en-US" altLang="ko-KR" sz="1000" b="1" dirty="0"/>
                      <a:t>spec:</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command: ["dd", "if=/dev/zero", "of=/dev/null"]</a:t>
                    </a:r>
                  </a:p>
                  <a:p>
                    <a:r>
                      <a:rPr lang="en-US" altLang="ko-KR" sz="1000" b="1" dirty="0"/>
                      <a:t>    name: main</a:t>
                    </a:r>
                  </a:p>
                  <a:p>
                    <a:r>
                      <a:rPr lang="en-US" altLang="ko-KR" sz="1000" b="1" dirty="0"/>
                      <a:t>    resources:</a:t>
                    </a:r>
                  </a:p>
                  <a:p>
                    <a:r>
                      <a:rPr lang="en-US" altLang="ko-KR" sz="1000" b="1" dirty="0"/>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800m</a:t>
                    </a:r>
                  </a:p>
                  <a:p>
                    <a:r>
                      <a:rPr lang="en-US" altLang="ko-KR" sz="1000" b="1" dirty="0"/>
                      <a:t>        memory: 20Mi</a:t>
                    </a:r>
                    <a:endParaRPr lang="ko-KR" altLang="en-US" sz="1000" b="1" dirty="0"/>
                  </a:p>
                </p:txBody>
              </p:sp>
              <p:sp>
                <p:nvSpPr>
                  <p:cNvPr id="21" name="TextBox 20">
                    <a:extLst>
                      <a:ext uri="{FF2B5EF4-FFF2-40B4-BE49-F238E27FC236}">
                        <a16:creationId xmlns:a16="http://schemas.microsoft.com/office/drawing/2014/main" id="{C8E268A2-C3ED-E009-BB7E-0B8C7CBB5E56}"/>
                      </a:ext>
                    </a:extLst>
                  </p:cNvPr>
                  <p:cNvSpPr txBox="1"/>
                  <p:nvPr/>
                </p:nvSpPr>
                <p:spPr>
                  <a:xfrm>
                    <a:off x="5787491" y="2288371"/>
                    <a:ext cx="4412182"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requests-pod-3</a:t>
                    </a:r>
                  </a:p>
                  <a:p>
                    <a:r>
                      <a:rPr lang="en-US" altLang="ko-KR" sz="1000" b="1" dirty="0"/>
                      <a:t>spec:</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command: ["dd", "if=/dev/zero", "of=/dev/null"]</a:t>
                    </a:r>
                  </a:p>
                  <a:p>
                    <a:r>
                      <a:rPr lang="en-US" altLang="ko-KR" sz="1000" b="1" dirty="0"/>
                      <a:t>    name: main</a:t>
                    </a:r>
                  </a:p>
                  <a:p>
                    <a:r>
                      <a:rPr lang="en-US" altLang="ko-KR" sz="1000" b="1" dirty="0"/>
                      <a:t>    resources:</a:t>
                    </a:r>
                  </a:p>
                  <a:p>
                    <a:r>
                      <a:rPr lang="en-US" altLang="ko-KR" sz="1000" b="1" dirty="0"/>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3000m</a:t>
                    </a:r>
                  </a:p>
                  <a:p>
                    <a:r>
                      <a:rPr lang="en-US" altLang="ko-KR" sz="1000" b="1" dirty="0"/>
                      <a:t>        memory: 20Mi</a:t>
                    </a:r>
                    <a:endParaRPr lang="ko-KR" altLang="en-US" sz="1000" b="1" dirty="0"/>
                  </a:p>
                </p:txBody>
              </p:sp>
            </p:grpSp>
            <p:sp>
              <p:nvSpPr>
                <p:cNvPr id="24" name="TextBox 23">
                  <a:extLst>
                    <a:ext uri="{FF2B5EF4-FFF2-40B4-BE49-F238E27FC236}">
                      <a16:creationId xmlns:a16="http://schemas.microsoft.com/office/drawing/2014/main" id="{2DB389D3-AD4B-F4E0-F26A-EB9547C1B80E}"/>
                    </a:ext>
                  </a:extLst>
                </p:cNvPr>
                <p:cNvSpPr txBox="1"/>
                <p:nvPr/>
              </p:nvSpPr>
              <p:spPr>
                <a:xfrm>
                  <a:off x="8751841" y="2288371"/>
                  <a:ext cx="1447832" cy="246221"/>
                </a:xfrm>
                <a:prstGeom prst="rect">
                  <a:avLst/>
                </a:prstGeom>
                <a:noFill/>
              </p:spPr>
              <p:txBody>
                <a:bodyPr wrap="none" rtlCol="0">
                  <a:spAutoFit/>
                </a:bodyPr>
                <a:lstStyle/>
                <a:p>
                  <a:pPr algn="l"/>
                  <a:r>
                    <a:rPr lang="en-US" altLang="ko-KR" sz="1000" b="1" dirty="0"/>
                    <a:t>requests-pod-3.yaml</a:t>
                  </a:r>
                  <a:endParaRPr lang="ko-KR" altLang="en-US" sz="1000" b="1" dirty="0"/>
                </a:p>
              </p:txBody>
            </p:sp>
          </p:grpSp>
        </p:grpSp>
        <p:pic>
          <p:nvPicPr>
            <p:cNvPr id="35" name="그림 34">
              <a:extLst>
                <a:ext uri="{FF2B5EF4-FFF2-40B4-BE49-F238E27FC236}">
                  <a16:creationId xmlns:a16="http://schemas.microsoft.com/office/drawing/2014/main" id="{463A1187-2B3B-F406-60C8-71DA51358FFC}"/>
                </a:ext>
              </a:extLst>
            </p:cNvPr>
            <p:cNvPicPr>
              <a:picLocks noChangeAspect="1"/>
            </p:cNvPicPr>
            <p:nvPr/>
          </p:nvPicPr>
          <p:blipFill>
            <a:blip r:embed="rId2"/>
            <a:stretch>
              <a:fillRect/>
            </a:stretch>
          </p:blipFill>
          <p:spPr>
            <a:xfrm>
              <a:off x="838200" y="4298575"/>
              <a:ext cx="10515600" cy="1664970"/>
            </a:xfrm>
            <a:prstGeom prst="rect">
              <a:avLst/>
            </a:prstGeom>
          </p:spPr>
        </p:pic>
        <p:sp>
          <p:nvSpPr>
            <p:cNvPr id="36" name="화살표: 아래쪽 35">
              <a:extLst>
                <a:ext uri="{FF2B5EF4-FFF2-40B4-BE49-F238E27FC236}">
                  <a16:creationId xmlns:a16="http://schemas.microsoft.com/office/drawing/2014/main" id="{EA9555BB-9DCA-BD20-37E2-B0BB2D62237C}"/>
                </a:ext>
              </a:extLst>
            </p:cNvPr>
            <p:cNvSpPr/>
            <p:nvPr/>
          </p:nvSpPr>
          <p:spPr>
            <a:xfrm>
              <a:off x="5881561" y="3973288"/>
              <a:ext cx="428878" cy="32528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36042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Containers(9/13)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p>
          <a:p>
            <a:pPr lvl="1">
              <a:buFont typeface="Wingdings" panose="05000000000000000000" pitchFamily="2" charset="2"/>
              <a:buChar char="§"/>
            </a:pPr>
            <a:r>
              <a:rPr lang="en-US" altLang="ko-KR" sz="1400" b="1" dirty="0"/>
              <a:t>Even if you wait a while, the pod is still stuck at “Pending”</a:t>
            </a:r>
            <a:r>
              <a:rPr lang="en-US" altLang="ko-KR" sz="1400" dirty="0"/>
              <a:t>. You can see more information on why that’s the case by using the “</a:t>
            </a:r>
            <a:r>
              <a:rPr lang="en-US" altLang="ko-KR" sz="1400" b="1" dirty="0"/>
              <a:t>$ </a:t>
            </a:r>
            <a:r>
              <a:rPr lang="en-US" altLang="ko-KR" sz="1400" b="1" dirty="0" err="1"/>
              <a:t>kubectl</a:t>
            </a:r>
            <a:r>
              <a:rPr lang="en-US" altLang="ko-KR" sz="1400" b="1" dirty="0"/>
              <a:t> describe pod</a:t>
            </a:r>
            <a:r>
              <a:rPr lang="en-US" altLang="ko-KR" sz="1400" dirty="0"/>
              <a:t>” command,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previous output shows that the pod hasn’t been scheduled because it can’t fit on any node due to insufficient CPU on your single node(</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Minikube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The sum of the CPU requests of all three pods equals 4,000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millicores</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or exactly four cores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which is exactly what your node can provide. </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5" name="그룹 24">
            <a:extLst>
              <a:ext uri="{FF2B5EF4-FFF2-40B4-BE49-F238E27FC236}">
                <a16:creationId xmlns:a16="http://schemas.microsoft.com/office/drawing/2014/main" id="{1CEA18F1-5302-CD27-8A02-2EF657CF35A8}"/>
              </a:ext>
            </a:extLst>
          </p:cNvPr>
          <p:cNvGrpSpPr/>
          <p:nvPr/>
        </p:nvGrpSpPr>
        <p:grpSpPr>
          <a:xfrm>
            <a:off x="838200" y="1662423"/>
            <a:ext cx="10515600" cy="3858589"/>
            <a:chOff x="838200" y="1764030"/>
            <a:chExt cx="10515600" cy="3858589"/>
          </a:xfrm>
        </p:grpSpPr>
        <p:grpSp>
          <p:nvGrpSpPr>
            <p:cNvPr id="23" name="그룹 22">
              <a:extLst>
                <a:ext uri="{FF2B5EF4-FFF2-40B4-BE49-F238E27FC236}">
                  <a16:creationId xmlns:a16="http://schemas.microsoft.com/office/drawing/2014/main" id="{79DB2F99-25E4-3F3E-149A-A5851D5F755D}"/>
                </a:ext>
              </a:extLst>
            </p:cNvPr>
            <p:cNvGrpSpPr/>
            <p:nvPr/>
          </p:nvGrpSpPr>
          <p:grpSpPr>
            <a:xfrm>
              <a:off x="838200" y="1764030"/>
              <a:ext cx="10515600" cy="3858589"/>
              <a:chOff x="838200" y="1764030"/>
              <a:chExt cx="10515600" cy="3858589"/>
            </a:xfrm>
          </p:grpSpPr>
          <p:pic>
            <p:nvPicPr>
              <p:cNvPr id="20" name="그림 19">
                <a:extLst>
                  <a:ext uri="{FF2B5EF4-FFF2-40B4-BE49-F238E27FC236}">
                    <a16:creationId xmlns:a16="http://schemas.microsoft.com/office/drawing/2014/main" id="{EB2D080F-2F7E-868D-0486-6E268E7F645B}"/>
                  </a:ext>
                </a:extLst>
              </p:cNvPr>
              <p:cNvPicPr>
                <a:picLocks noChangeAspect="1"/>
              </p:cNvPicPr>
              <p:nvPr/>
            </p:nvPicPr>
            <p:blipFill>
              <a:blip r:embed="rId2"/>
              <a:stretch>
                <a:fillRect/>
              </a:stretch>
            </p:blipFill>
            <p:spPr>
              <a:xfrm>
                <a:off x="838200" y="1764030"/>
                <a:ext cx="10515600" cy="1664970"/>
              </a:xfrm>
              <a:prstGeom prst="rect">
                <a:avLst/>
              </a:prstGeom>
            </p:spPr>
          </p:pic>
          <p:pic>
            <p:nvPicPr>
              <p:cNvPr id="22" name="그림 21">
                <a:extLst>
                  <a:ext uri="{FF2B5EF4-FFF2-40B4-BE49-F238E27FC236}">
                    <a16:creationId xmlns:a16="http://schemas.microsoft.com/office/drawing/2014/main" id="{61BCF979-0686-3344-3047-F70E9095AD2D}"/>
                  </a:ext>
                </a:extLst>
              </p:cNvPr>
              <p:cNvPicPr>
                <a:picLocks noChangeAspect="1"/>
              </p:cNvPicPr>
              <p:nvPr/>
            </p:nvPicPr>
            <p:blipFill>
              <a:blip r:embed="rId3"/>
              <a:stretch>
                <a:fillRect/>
              </a:stretch>
            </p:blipFill>
            <p:spPr>
              <a:xfrm>
                <a:off x="838200" y="3475684"/>
                <a:ext cx="10515600" cy="2146935"/>
              </a:xfrm>
              <a:prstGeom prst="rect">
                <a:avLst/>
              </a:prstGeom>
            </p:spPr>
          </p:pic>
        </p:grpSp>
        <p:sp>
          <p:nvSpPr>
            <p:cNvPr id="24" name="직사각형 23">
              <a:extLst>
                <a:ext uri="{FF2B5EF4-FFF2-40B4-BE49-F238E27FC236}">
                  <a16:creationId xmlns:a16="http://schemas.microsoft.com/office/drawing/2014/main" id="{01243BCE-4054-B99E-E497-F4AC89C5B14B}"/>
                </a:ext>
              </a:extLst>
            </p:cNvPr>
            <p:cNvSpPr/>
            <p:nvPr/>
          </p:nvSpPr>
          <p:spPr>
            <a:xfrm>
              <a:off x="938676" y="4700694"/>
              <a:ext cx="10244517"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25507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Containers(10/13)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endParaRPr lang="en-US" altLang="ko-KR" sz="1400" dirty="0"/>
          </a:p>
          <a:p>
            <a:pPr lvl="1">
              <a:buFont typeface="Wingdings" panose="05000000000000000000" pitchFamily="2" charset="2"/>
              <a:buChar char="§"/>
            </a:pPr>
            <a:r>
              <a:rPr lang="en-US" altLang="ko-KR" sz="1400" b="1" dirty="0"/>
              <a:t>You can figure out why the pod isn’t being scheduled by inspecting the node resource</a:t>
            </a:r>
            <a:r>
              <a:rPr lang="en-US" altLang="ko-KR" sz="1400" dirty="0"/>
              <a:t>. </a:t>
            </a:r>
            <a:r>
              <a:rPr lang="en-US" altLang="ko-KR" sz="1400" b="1" dirty="0"/>
              <a:t>Use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node</a:t>
            </a:r>
            <a:r>
              <a:rPr lang="en-US" altLang="ko-KR" sz="1400" b="1" dirty="0"/>
              <a:t>” command</a:t>
            </a:r>
            <a:r>
              <a:rPr lang="en-US" altLang="ko-KR" sz="1400" dirty="0"/>
              <a:t> again and examine the output more closely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3D3BD32-363D-977B-3985-1610519E017C}"/>
              </a:ext>
            </a:extLst>
          </p:cNvPr>
          <p:cNvPicPr>
            <a:picLocks noChangeAspect="1"/>
          </p:cNvPicPr>
          <p:nvPr/>
        </p:nvPicPr>
        <p:blipFill>
          <a:blip r:embed="rId2"/>
          <a:stretch>
            <a:fillRect/>
          </a:stretch>
        </p:blipFill>
        <p:spPr>
          <a:xfrm>
            <a:off x="1657727" y="1604966"/>
            <a:ext cx="8876545" cy="4804064"/>
          </a:xfrm>
          <a:prstGeom prst="rect">
            <a:avLst/>
          </a:prstGeom>
        </p:spPr>
      </p:pic>
    </p:spTree>
    <p:extLst>
      <p:ext uri="{BB962C8B-B14F-4D97-AF65-F5344CB8AC3E}">
        <p14:creationId xmlns:p14="http://schemas.microsoft.com/office/powerpoint/2010/main" val="3432767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Containers(11/13)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p>
          <a:p>
            <a:pPr lvl="1">
              <a:buFont typeface="Wingdings" panose="05000000000000000000" pitchFamily="2" charset="2"/>
              <a:buChar char="§"/>
            </a:pPr>
            <a:r>
              <a:rPr lang="en-US" altLang="ko-KR" sz="1400" dirty="0"/>
              <a:t>If you look at the bottom left of the previous screenshot, you’ll see </a:t>
            </a:r>
            <a:r>
              <a:rPr lang="en-US" altLang="ko-KR" sz="1400" b="1" dirty="0">
                <a:solidFill>
                  <a:srgbClr val="FF0000"/>
                </a:solidFill>
              </a:rPr>
              <a:t>a total of 1,850 </a:t>
            </a:r>
            <a:r>
              <a:rPr lang="en-US" altLang="ko-KR" sz="1400" b="1" dirty="0" err="1">
                <a:solidFill>
                  <a:srgbClr val="FF0000"/>
                </a:solidFill>
              </a:rPr>
              <a:t>millicores</a:t>
            </a:r>
            <a:r>
              <a:rPr lang="en-US" altLang="ko-KR" sz="1400" b="1" dirty="0">
                <a:solidFill>
                  <a:srgbClr val="FF0000"/>
                </a:solidFill>
              </a:rPr>
              <a:t> </a:t>
            </a:r>
            <a:r>
              <a:rPr lang="en-US" altLang="ko-KR" sz="1400" b="1" dirty="0"/>
              <a:t>have been requested by the running pods, which is </a:t>
            </a:r>
            <a:r>
              <a:rPr lang="en-US" altLang="ko-KR" sz="1400" b="1" dirty="0">
                <a:solidFill>
                  <a:srgbClr val="FF0000"/>
                </a:solidFill>
              </a:rPr>
              <a:t>850 </a:t>
            </a:r>
            <a:r>
              <a:rPr lang="en-US" altLang="ko-KR" sz="1400" b="1" dirty="0" err="1">
                <a:solidFill>
                  <a:srgbClr val="FF0000"/>
                </a:solidFill>
              </a:rPr>
              <a:t>millicores</a:t>
            </a:r>
            <a:r>
              <a:rPr lang="en-US" altLang="ko-KR" sz="1400" b="1" dirty="0">
                <a:solidFill>
                  <a:srgbClr val="FF0000"/>
                </a:solidFill>
              </a:rPr>
              <a:t> </a:t>
            </a:r>
            <a:r>
              <a:rPr lang="en-US" altLang="ko-KR" sz="1400" b="1" dirty="0"/>
              <a:t>more than what you requested for the first two pods you deployed</a:t>
            </a:r>
            <a:r>
              <a:rPr lang="en-US" altLang="ko-KR" sz="1400" dirty="0"/>
              <a:t>. Something is eating up additional CPU resources.</a:t>
            </a:r>
          </a:p>
          <a:p>
            <a:pPr lvl="1">
              <a:buFont typeface="Wingdings" panose="05000000000000000000" pitchFamily="2" charset="2"/>
              <a:buChar char="§"/>
            </a:pPr>
            <a:r>
              <a:rPr lang="en-US" altLang="ko-KR" sz="1400" b="1" dirty="0"/>
              <a:t>You can find the culprit in the list of pods in the previous screenshot. Seven pods in the </a:t>
            </a:r>
            <a:r>
              <a:rPr lang="en-US" altLang="ko-KR" sz="1400" b="1" dirty="0" err="1"/>
              <a:t>kube</a:t>
            </a:r>
            <a:r>
              <a:rPr lang="en-US" altLang="ko-KR" sz="1400" b="1" dirty="0"/>
              <a:t>-system namespace have explicitly requested CPU resources</a:t>
            </a:r>
            <a:r>
              <a:rPr lang="en-US" altLang="ko-KR" sz="1400" dirty="0"/>
              <a:t>. </a:t>
            </a:r>
            <a:r>
              <a:rPr lang="en-US" altLang="ko-KR" sz="1400" b="1" dirty="0"/>
              <a:t>Those pods plus your two pods leave only </a:t>
            </a:r>
            <a:r>
              <a:rPr lang="en-US" altLang="ko-KR" sz="1400" b="1" dirty="0">
                <a:solidFill>
                  <a:srgbClr val="FF0000"/>
                </a:solidFill>
              </a:rPr>
              <a:t>2,150(4,000-1,850) </a:t>
            </a:r>
            <a:r>
              <a:rPr lang="en-US" altLang="ko-KR" sz="1400" b="1" dirty="0" err="1">
                <a:solidFill>
                  <a:srgbClr val="FF0000"/>
                </a:solidFill>
              </a:rPr>
              <a:t>millicores</a:t>
            </a:r>
            <a:r>
              <a:rPr lang="en-US" altLang="ko-KR" sz="1400" b="1" dirty="0">
                <a:solidFill>
                  <a:srgbClr val="FF0000"/>
                </a:solidFill>
              </a:rPr>
              <a:t> available </a:t>
            </a:r>
            <a:r>
              <a:rPr lang="en-US" altLang="ko-KR" sz="1400" b="1" dirty="0"/>
              <a:t>for additional pods</a:t>
            </a:r>
            <a:r>
              <a:rPr lang="en-US" altLang="ko-KR" sz="1400" dirty="0"/>
              <a:t>. </a:t>
            </a:r>
            <a:r>
              <a:rPr lang="en-US" altLang="ko-KR" sz="1400" b="1" dirty="0"/>
              <a:t>Because </a:t>
            </a:r>
            <a:r>
              <a:rPr lang="en-US" altLang="ko-KR" sz="1400" b="1" dirty="0">
                <a:solidFill>
                  <a:srgbClr val="FF0000"/>
                </a:solidFill>
              </a:rPr>
              <a:t>your third pod requested 3,000 </a:t>
            </a:r>
            <a:r>
              <a:rPr lang="en-US" altLang="ko-KR" sz="1400" b="1" dirty="0" err="1">
                <a:solidFill>
                  <a:srgbClr val="FF0000"/>
                </a:solidFill>
              </a:rPr>
              <a:t>millicores</a:t>
            </a:r>
            <a:r>
              <a:rPr lang="en-US" altLang="ko-KR" sz="1400" b="1" dirty="0"/>
              <a:t>, the Scheduler won’t schedule it to this node</a:t>
            </a:r>
            <a:r>
              <a:rPr lang="en-US" altLang="ko-KR" sz="1400" dirty="0"/>
              <a:t>, as that would make the node </a:t>
            </a:r>
            <a:r>
              <a:rPr lang="en-US" altLang="ko-KR" sz="1400" b="1" dirty="0">
                <a:solidFill>
                  <a:srgbClr val="FF0000"/>
                </a:solidFill>
              </a:rPr>
              <a:t>overcommitted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pod will only be scheduled when an adequate amount of CPU is freed </a:t>
            </a:r>
            <a:r>
              <a:rPr lang="en-US" altLang="ko-KR" sz="1400" dirty="0"/>
              <a:t>(when one of the first two pods is deleted, for example). </a:t>
            </a:r>
            <a:r>
              <a:rPr lang="en-US" altLang="ko-KR" sz="1400" b="1" dirty="0"/>
              <a:t>If you delete your first and second pod, the Scheduler will be notified of the deletion (through the watch mechanism described before) and will schedule your third pod as soon as the second pod terminates</a:t>
            </a:r>
            <a:r>
              <a:rPr lang="en-US" altLang="ko-KR" sz="1400" dirty="0"/>
              <a:t>. </a:t>
            </a:r>
            <a:r>
              <a:rPr lang="en-US" altLang="ko-KR" sz="1400" b="1" dirty="0"/>
              <a:t>(200 + 800 + 2,150 &gt; 3,000) </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819CEB0-C8A5-2560-2D66-A105224C5634}"/>
              </a:ext>
            </a:extLst>
          </p:cNvPr>
          <p:cNvPicPr>
            <a:picLocks noChangeAspect="1"/>
          </p:cNvPicPr>
          <p:nvPr/>
        </p:nvPicPr>
        <p:blipFill>
          <a:blip r:embed="rId2"/>
          <a:stretch>
            <a:fillRect/>
          </a:stretch>
        </p:blipFill>
        <p:spPr>
          <a:xfrm>
            <a:off x="4017211" y="2859378"/>
            <a:ext cx="4157578" cy="2023238"/>
          </a:xfrm>
          <a:prstGeom prst="rect">
            <a:avLst/>
          </a:prstGeom>
        </p:spPr>
      </p:pic>
    </p:spTree>
    <p:extLst>
      <p:ext uri="{BB962C8B-B14F-4D97-AF65-F5344CB8AC3E}">
        <p14:creationId xmlns:p14="http://schemas.microsoft.com/office/powerpoint/2010/main" val="3061877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Containers(12/13)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Resource Requests Affect Scheduling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 all these examples, you’ve specified a request for memory, but it hasn’t played any role in the scheduling because your node has more than enough allocatable memory to accommodate all your pods’ requests.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Both CPU and memory requests are treated the same way by the Scheduler, but in contrast to memory requests, a pod’s CPU requests also play a role elsewhere—while the pod is running</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BC5F7E7-1733-D76C-73C4-56081EC8EC42}"/>
              </a:ext>
            </a:extLst>
          </p:cNvPr>
          <p:cNvGrpSpPr/>
          <p:nvPr/>
        </p:nvGrpSpPr>
        <p:grpSpPr>
          <a:xfrm>
            <a:off x="1132942" y="1975907"/>
            <a:ext cx="9926117" cy="4433123"/>
            <a:chOff x="1132942" y="1975907"/>
            <a:chExt cx="9926117" cy="4433123"/>
          </a:xfrm>
        </p:grpSpPr>
        <p:sp>
          <p:nvSpPr>
            <p:cNvPr id="8" name="TextBox 7">
              <a:extLst>
                <a:ext uri="{FF2B5EF4-FFF2-40B4-BE49-F238E27FC236}">
                  <a16:creationId xmlns:a16="http://schemas.microsoft.com/office/drawing/2014/main" id="{04F43E1A-4C8F-73A0-9389-C2C9E4FCCFE5}"/>
                </a:ext>
              </a:extLst>
            </p:cNvPr>
            <p:cNvSpPr txBox="1"/>
            <p:nvPr/>
          </p:nvSpPr>
          <p:spPr>
            <a:xfrm>
              <a:off x="3047326" y="1975907"/>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pod </a:t>
              </a:r>
              <a:r>
                <a:rPr lang="en-US" altLang="ko-KR" sz="1000" b="1" dirty="0">
                  <a:solidFill>
                    <a:srgbClr val="FF0000"/>
                  </a:solidFill>
                </a:rPr>
                <a:t>requests-pod-2</a:t>
              </a:r>
            </a:p>
            <a:p>
              <a:r>
                <a:rPr lang="en-US" altLang="ko-KR" sz="1000" b="1" dirty="0"/>
                <a:t>$ </a:t>
              </a:r>
              <a:r>
                <a:rPr lang="en-US" altLang="ko-KR" sz="1000" b="1" dirty="0" err="1"/>
                <a:t>kubectl</a:t>
              </a:r>
              <a:r>
                <a:rPr lang="en-US" altLang="ko-KR" sz="1000" b="1" dirty="0"/>
                <a:t> delete pod </a:t>
              </a:r>
              <a:r>
                <a:rPr lang="en-US" altLang="ko-KR" sz="1000" b="1" dirty="0">
                  <a:solidFill>
                    <a:srgbClr val="FF0000"/>
                  </a:solidFill>
                </a:rPr>
                <a:t>requests-pod</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3888C8A4-530D-E1DC-3CE7-0F116DF148F7}"/>
                </a:ext>
              </a:extLst>
            </p:cNvPr>
            <p:cNvPicPr>
              <a:picLocks noChangeAspect="1"/>
            </p:cNvPicPr>
            <p:nvPr/>
          </p:nvPicPr>
          <p:blipFill>
            <a:blip r:embed="rId2"/>
            <a:stretch>
              <a:fillRect/>
            </a:stretch>
          </p:blipFill>
          <p:spPr>
            <a:xfrm>
              <a:off x="1132942" y="2678464"/>
              <a:ext cx="9926117" cy="3730566"/>
            </a:xfrm>
            <a:prstGeom prst="rect">
              <a:avLst/>
            </a:prstGeom>
          </p:spPr>
        </p:pic>
        <p:sp>
          <p:nvSpPr>
            <p:cNvPr id="11" name="화살표: 아래쪽 10">
              <a:extLst>
                <a:ext uri="{FF2B5EF4-FFF2-40B4-BE49-F238E27FC236}">
                  <a16:creationId xmlns:a16="http://schemas.microsoft.com/office/drawing/2014/main" id="{3FD84226-E886-0842-0DEF-83096AF28AD6}"/>
                </a:ext>
              </a:extLst>
            </p:cNvPr>
            <p:cNvSpPr/>
            <p:nvPr/>
          </p:nvSpPr>
          <p:spPr>
            <a:xfrm>
              <a:off x="5857285" y="2376017"/>
              <a:ext cx="477430" cy="31053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4D992F6-A42D-537D-75A4-28A98F20CA8A}"/>
              </a:ext>
            </a:extLst>
          </p:cNvPr>
          <p:cNvSpPr/>
          <p:nvPr/>
        </p:nvSpPr>
        <p:spPr>
          <a:xfrm>
            <a:off x="1181437" y="5971922"/>
            <a:ext cx="3568588" cy="1502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9AE96EC8-6265-5E59-069B-02C105D1B2B1}"/>
              </a:ext>
            </a:extLst>
          </p:cNvPr>
          <p:cNvSpPr/>
          <p:nvPr/>
        </p:nvSpPr>
        <p:spPr>
          <a:xfrm>
            <a:off x="1181437" y="4555816"/>
            <a:ext cx="3738521" cy="1502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78616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Requesting Resources for a Pod’s Containers(13/13)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CPU Requests Affect CPU Time Sharing :</a:t>
            </a:r>
          </a:p>
          <a:p>
            <a:pPr lvl="1">
              <a:buFont typeface="Wingdings" panose="05000000000000000000" pitchFamily="2" charset="2"/>
              <a:buChar char="§"/>
            </a:pPr>
            <a:r>
              <a:rPr lang="en-US" altLang="ko-KR" sz="1400" b="1" dirty="0"/>
              <a:t>Kubernetes distinguishes between resource </a:t>
            </a:r>
            <a:r>
              <a:rPr lang="en-US" altLang="ko-KR" sz="1400" b="1" dirty="0">
                <a:solidFill>
                  <a:srgbClr val="FF0000"/>
                </a:solidFill>
              </a:rPr>
              <a:t>requests</a:t>
            </a:r>
            <a:r>
              <a:rPr lang="en-US" altLang="ko-KR" sz="1400" b="1" dirty="0"/>
              <a:t> and </a:t>
            </a:r>
            <a:r>
              <a:rPr lang="en-US" altLang="ko-KR" sz="1400" b="1" dirty="0">
                <a:solidFill>
                  <a:srgbClr val="FF0000"/>
                </a:solidFill>
              </a:rPr>
              <a:t>limits</a:t>
            </a:r>
            <a:r>
              <a:rPr lang="en-US" altLang="ko-KR" sz="1400" dirty="0"/>
              <a:t>. You haven’t defined any limits yet, so the two pods(“</a:t>
            </a:r>
            <a:r>
              <a:rPr lang="en-US" altLang="ko-KR" sz="1400" b="1" dirty="0"/>
              <a:t>requests-pod, requests-pod-3</a:t>
            </a:r>
            <a:r>
              <a:rPr lang="en-US" altLang="ko-KR" sz="1400" dirty="0"/>
              <a:t>”) are in no way limited when it comes to how much CPU they can each consume. If the process inside each pod consumes as much CPU time as it can, how much CPU time does each pod get?</a:t>
            </a:r>
          </a:p>
          <a:p>
            <a:pPr lvl="1">
              <a:buFont typeface="Wingdings" panose="05000000000000000000" pitchFamily="2" charset="2"/>
              <a:buChar char="§"/>
            </a:pPr>
            <a:r>
              <a:rPr lang="en-US" altLang="ko-KR" sz="1400" b="1" dirty="0"/>
              <a:t>The CPU requests don’t only affect scheduling—they also determine how the remaining (unused) CPU time is distributed between pods</a:t>
            </a:r>
            <a:r>
              <a:rPr lang="en-US" altLang="ko-KR" sz="1400" dirty="0"/>
              <a:t>. Because your first pod requested “</a:t>
            </a:r>
            <a:r>
              <a:rPr lang="en-US" altLang="ko-KR" sz="1400" b="1" dirty="0"/>
              <a:t>200 </a:t>
            </a:r>
            <a:r>
              <a:rPr lang="en-US" altLang="ko-KR" sz="1400" b="1" dirty="0" err="1"/>
              <a:t>millicores</a:t>
            </a:r>
            <a:r>
              <a:rPr lang="en-US" altLang="ko-KR" sz="1400" dirty="0"/>
              <a:t>” of CPU and the other one(“</a:t>
            </a:r>
            <a:r>
              <a:rPr lang="en-US" altLang="ko-KR" sz="1400" b="1" dirty="0"/>
              <a:t>request-pod-3</a:t>
            </a:r>
            <a:r>
              <a:rPr lang="en-US" altLang="ko-KR" sz="1400" dirty="0"/>
              <a:t>”) “</a:t>
            </a:r>
            <a:r>
              <a:rPr lang="en-US" altLang="ko-KR" sz="1400" b="1" dirty="0"/>
              <a:t>1,000 </a:t>
            </a:r>
            <a:r>
              <a:rPr lang="en-US" altLang="ko-KR" sz="1400" b="1" dirty="0" err="1"/>
              <a:t>millicores</a:t>
            </a:r>
            <a:r>
              <a:rPr lang="en-US" altLang="ko-KR" sz="1400" dirty="0"/>
              <a:t>”, </a:t>
            </a:r>
            <a:r>
              <a:rPr lang="en-US" altLang="ko-KR" sz="1400" b="1" dirty="0"/>
              <a:t>any unused CPU will be split among the two pods in a 1 to 5 ratio</a:t>
            </a:r>
            <a:r>
              <a:rPr lang="en-US" altLang="ko-KR" sz="1400" dirty="0"/>
              <a:t>, as shown in the following figure. If both pods consume as much CPU as they can, the first pod will get one sixth(1/6) or 16.7% of the CPU time and the other one the remaining five sixths(5/6) or 83.3%.</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But if one container wants to use up as much CPU as it can, while the other one is sitting idle at a given moment, the first container will be allowed to use the whole CPU time </a:t>
            </a:r>
            <a:r>
              <a:rPr lang="en-US" altLang="ko-KR" sz="1400" dirty="0"/>
              <a:t>(minus the small amount of time used by the second container, if any). After all, it makes sense to use all the available CPU if no one else is using it, right? As soon as the second container needs CPU time, it will get it and the first container will be throttled back.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959E4D4-8F0D-A125-0C0A-DD72970D7761}"/>
              </a:ext>
            </a:extLst>
          </p:cNvPr>
          <p:cNvPicPr>
            <a:picLocks noChangeAspect="1"/>
          </p:cNvPicPr>
          <p:nvPr/>
        </p:nvPicPr>
        <p:blipFill>
          <a:blip r:embed="rId2"/>
          <a:stretch>
            <a:fillRect/>
          </a:stretch>
        </p:blipFill>
        <p:spPr>
          <a:xfrm>
            <a:off x="3165987" y="3081041"/>
            <a:ext cx="5860026" cy="2408903"/>
          </a:xfrm>
          <a:prstGeom prst="rect">
            <a:avLst/>
          </a:prstGeom>
        </p:spPr>
      </p:pic>
    </p:spTree>
    <p:extLst>
      <p:ext uri="{BB962C8B-B14F-4D97-AF65-F5344CB8AC3E}">
        <p14:creationId xmlns:p14="http://schemas.microsoft.com/office/powerpoint/2010/main" val="26471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a Hard Limit for the Amount of Resources a Container Can Use :</a:t>
            </a:r>
            <a:endParaRPr lang="en-US" altLang="ko-KR" sz="1400" dirty="0"/>
          </a:p>
          <a:p>
            <a:pPr lvl="1">
              <a:buFont typeface="Wingdings" panose="05000000000000000000" pitchFamily="2" charset="2"/>
              <a:buChar char="§"/>
            </a:pPr>
            <a:r>
              <a:rPr lang="en-US" altLang="ko-KR" sz="1400" b="1" dirty="0">
                <a:solidFill>
                  <a:srgbClr val="FF0000"/>
                </a:solidFill>
              </a:rPr>
              <a:t>Setting resource requests </a:t>
            </a:r>
            <a:r>
              <a:rPr lang="en-US" altLang="ko-KR" sz="1400" b="1" dirty="0"/>
              <a:t>for containers in a pod ensures each container gets </a:t>
            </a:r>
            <a:r>
              <a:rPr lang="en-US" altLang="ko-KR" sz="1400" b="1" dirty="0">
                <a:solidFill>
                  <a:srgbClr val="FF0000"/>
                </a:solidFill>
              </a:rPr>
              <a:t>the minimum amount of resources </a:t>
            </a:r>
            <a:r>
              <a:rPr lang="en-US" altLang="ko-KR" sz="1400" b="1" dirty="0"/>
              <a:t>it needs</a:t>
            </a:r>
            <a:r>
              <a:rPr lang="en-US" altLang="ko-KR" sz="1400" dirty="0"/>
              <a:t>.</a:t>
            </a:r>
          </a:p>
          <a:p>
            <a:pPr lvl="1">
              <a:buFont typeface="Wingdings" panose="05000000000000000000" pitchFamily="2" charset="2"/>
              <a:buChar char="§"/>
            </a:pPr>
            <a:r>
              <a:rPr lang="en-US" altLang="ko-KR" sz="1400" b="1" dirty="0"/>
              <a:t>We’ve seen how containers are allowed to use up all the CPU if all the other processes are sitting idle</a:t>
            </a:r>
            <a:r>
              <a:rPr lang="en-US" altLang="ko-KR" sz="1400" dirty="0"/>
              <a:t>. </a:t>
            </a:r>
            <a:r>
              <a:rPr lang="en-US" altLang="ko-KR" sz="1400" b="1" dirty="0"/>
              <a:t>But you may want to prevent certain containers from using up more than a specific amount of CPU</a:t>
            </a:r>
            <a:r>
              <a:rPr lang="en-US" altLang="ko-KR" sz="1400" dirty="0"/>
              <a:t>. </a:t>
            </a:r>
            <a:r>
              <a:rPr lang="en-US" altLang="ko-KR" sz="1400" b="1" dirty="0"/>
              <a:t>And you’ll always want to limit the amount of memory a container can consume</a:t>
            </a:r>
            <a:r>
              <a:rPr lang="en-US" altLang="ko-KR" sz="1400" dirty="0"/>
              <a:t>.</a:t>
            </a:r>
          </a:p>
          <a:p>
            <a:pPr lvl="1">
              <a:buFont typeface="Wingdings" panose="05000000000000000000" pitchFamily="2" charset="2"/>
              <a:buChar char="§"/>
            </a:pPr>
            <a:r>
              <a:rPr lang="en-US" altLang="ko-KR" sz="1400" b="1" dirty="0"/>
              <a:t>CPU is a </a:t>
            </a:r>
            <a:r>
              <a:rPr lang="en-US" altLang="ko-KR" sz="1400" b="1" dirty="0">
                <a:solidFill>
                  <a:srgbClr val="FF0000"/>
                </a:solidFill>
              </a:rPr>
              <a:t>compressible</a:t>
            </a:r>
            <a:r>
              <a:rPr lang="en-US" altLang="ko-KR" sz="1400" b="1" dirty="0"/>
              <a:t> resource</a:t>
            </a:r>
            <a:r>
              <a:rPr lang="en-US" altLang="ko-KR" sz="1400" dirty="0"/>
              <a:t>, </a:t>
            </a:r>
            <a:r>
              <a:rPr lang="en-US" altLang="ko-KR" sz="1400" b="1" dirty="0"/>
              <a:t>which means the amount used by a container can be </a:t>
            </a:r>
            <a:r>
              <a:rPr lang="en-US" altLang="ko-KR" sz="1400" b="1" dirty="0">
                <a:solidFill>
                  <a:srgbClr val="FF0000"/>
                </a:solidFill>
              </a:rPr>
              <a:t>throttled</a:t>
            </a:r>
            <a:r>
              <a:rPr lang="en-US" altLang="ko-KR" sz="1400" b="1" dirty="0"/>
              <a:t> without affecting the process running in the container in an adverse way</a:t>
            </a:r>
            <a:r>
              <a:rPr lang="en-US" altLang="ko-KR" sz="1400" dirty="0"/>
              <a:t>. </a:t>
            </a:r>
            <a:r>
              <a:rPr lang="en-US" altLang="ko-KR" sz="1400" b="1" dirty="0"/>
              <a:t>Memory is obviously different—it’s </a:t>
            </a:r>
            <a:r>
              <a:rPr lang="en-US" altLang="ko-KR" sz="1400" b="1" dirty="0">
                <a:solidFill>
                  <a:srgbClr val="FF0000"/>
                </a:solidFill>
              </a:rPr>
              <a:t>incompressible</a:t>
            </a:r>
            <a:r>
              <a:rPr lang="en-US" altLang="ko-KR" sz="1400" dirty="0"/>
              <a:t>. </a:t>
            </a:r>
            <a:r>
              <a:rPr lang="en-US" altLang="ko-KR" sz="1400" b="1" dirty="0"/>
              <a:t>Once a process is given a chunk of memory, that memory can’t be taken away from it until it’s released by the process itself</a:t>
            </a:r>
            <a:r>
              <a:rPr lang="en-US" altLang="ko-KR" sz="1400" dirty="0"/>
              <a:t>. That’s why you need to limit the maximum amount of memory a container can be given.</a:t>
            </a:r>
          </a:p>
          <a:p>
            <a:pPr lvl="1">
              <a:buFont typeface="Wingdings" panose="05000000000000000000" pitchFamily="2" charset="2"/>
              <a:buChar char="§"/>
            </a:pPr>
            <a:r>
              <a:rPr lang="en-US" altLang="ko-KR" sz="1400" b="1" dirty="0"/>
              <a:t>Without limiting memory, a container (or a pod) running on a worker node may eat up all the available memory and affect all other pods on the node and any new pods scheduled to the node </a:t>
            </a:r>
            <a:r>
              <a:rPr lang="en-US" altLang="ko-KR" sz="1400" dirty="0"/>
              <a:t>(remember that new pods are scheduled to the node based on the memory requests and not actual memory usage). </a:t>
            </a:r>
            <a:r>
              <a:rPr lang="en-US" altLang="ko-KR" sz="1400" b="1" dirty="0"/>
              <a:t>A single malfunctioning or malicious pod can practically make the whole node unusable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45F8FF0-6E80-4370-89B4-54228B35A76D}"/>
              </a:ext>
            </a:extLst>
          </p:cNvPr>
          <p:cNvGrpSpPr/>
          <p:nvPr/>
        </p:nvGrpSpPr>
        <p:grpSpPr>
          <a:xfrm>
            <a:off x="1521379" y="4096823"/>
            <a:ext cx="9149241" cy="2166158"/>
            <a:chOff x="1869935" y="4105093"/>
            <a:chExt cx="9149241" cy="2166158"/>
          </a:xfrm>
        </p:grpSpPr>
        <p:pic>
          <p:nvPicPr>
            <p:cNvPr id="4" name="그림 3">
              <a:extLst>
                <a:ext uri="{FF2B5EF4-FFF2-40B4-BE49-F238E27FC236}">
                  <a16:creationId xmlns:a16="http://schemas.microsoft.com/office/drawing/2014/main" id="{41E0F04F-93E8-C638-3743-53C50429F866}"/>
                </a:ext>
              </a:extLst>
            </p:cNvPr>
            <p:cNvPicPr>
              <a:picLocks noChangeAspect="1"/>
            </p:cNvPicPr>
            <p:nvPr/>
          </p:nvPicPr>
          <p:blipFill>
            <a:blip r:embed="rId2"/>
            <a:stretch>
              <a:fillRect/>
            </a:stretch>
          </p:blipFill>
          <p:spPr>
            <a:xfrm>
              <a:off x="1869935" y="4332439"/>
              <a:ext cx="3422930" cy="1711465"/>
            </a:xfrm>
            <a:prstGeom prst="rect">
              <a:avLst/>
            </a:prstGeom>
          </p:spPr>
        </p:pic>
        <p:pic>
          <p:nvPicPr>
            <p:cNvPr id="9" name="그림 8">
              <a:extLst>
                <a:ext uri="{FF2B5EF4-FFF2-40B4-BE49-F238E27FC236}">
                  <a16:creationId xmlns:a16="http://schemas.microsoft.com/office/drawing/2014/main" id="{5594E15E-8967-902D-F33E-1B7F76230CB6}"/>
                </a:ext>
              </a:extLst>
            </p:cNvPr>
            <p:cNvPicPr>
              <a:picLocks noChangeAspect="1"/>
            </p:cNvPicPr>
            <p:nvPr/>
          </p:nvPicPr>
          <p:blipFill>
            <a:blip r:embed="rId3"/>
            <a:stretch>
              <a:fillRect/>
            </a:stretch>
          </p:blipFill>
          <p:spPr>
            <a:xfrm>
              <a:off x="5300281" y="4105093"/>
              <a:ext cx="5718895" cy="2166158"/>
            </a:xfrm>
            <a:prstGeom prst="rect">
              <a:avLst/>
            </a:prstGeom>
          </p:spPr>
        </p:pic>
      </p:grpSp>
    </p:spTree>
    <p:extLst>
      <p:ext uri="{BB962C8B-B14F-4D97-AF65-F5344CB8AC3E}">
        <p14:creationId xmlns:p14="http://schemas.microsoft.com/office/powerpoint/2010/main" val="2458832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a Hard Limit for the Amount of Resources a Container Can Use :</a:t>
            </a:r>
            <a:endParaRPr lang="en-US" altLang="ko-KR" sz="1400" dirty="0"/>
          </a:p>
          <a:p>
            <a:pPr lvl="1">
              <a:buFont typeface="Wingdings" panose="05000000000000000000" pitchFamily="2" charset="2"/>
              <a:buChar char="§"/>
            </a:pPr>
            <a:r>
              <a:rPr lang="en-US" altLang="ko-KR" sz="1400" b="1" dirty="0"/>
              <a:t>Kubernetes allows you to specify </a:t>
            </a:r>
            <a:r>
              <a:rPr lang="en-US" altLang="ko-KR" sz="1400" b="1" dirty="0">
                <a:solidFill>
                  <a:srgbClr val="FF0000"/>
                </a:solidFill>
              </a:rPr>
              <a:t>resource limits </a:t>
            </a:r>
            <a:r>
              <a:rPr lang="en-US" altLang="ko-KR" sz="1400" b="1" dirty="0"/>
              <a:t>for every container </a:t>
            </a:r>
            <a:r>
              <a:rPr lang="en-US" altLang="ko-KR" sz="1400" dirty="0"/>
              <a:t>(along with, and virtually in the same way as, resource requests). The following listing shows an example pod manifest with </a:t>
            </a:r>
            <a:r>
              <a:rPr lang="en-US" altLang="ko-KR" sz="1400" b="1" dirty="0"/>
              <a:t>resource limits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above pod’s container has resource limits configured for both CPU and memory</a:t>
            </a:r>
            <a:r>
              <a:rPr lang="en-US" altLang="ko-KR" sz="1400" dirty="0"/>
              <a:t>. The process or processes running inside the container will not be allowed to consume more than </a:t>
            </a:r>
            <a:r>
              <a:rPr lang="en-US" altLang="ko-KR" sz="1400" b="1" dirty="0"/>
              <a:t>1 CPU core</a:t>
            </a:r>
            <a:r>
              <a:rPr lang="en-US" altLang="ko-KR" sz="1400" dirty="0"/>
              <a:t> and </a:t>
            </a:r>
            <a:r>
              <a:rPr lang="en-US" altLang="ko-KR" sz="1400" b="1" dirty="0"/>
              <a:t>20 mebibytes </a:t>
            </a:r>
            <a:r>
              <a:rPr lang="en-US" altLang="ko-KR" sz="1400" dirty="0"/>
              <a:t>of memory. </a:t>
            </a:r>
            <a:r>
              <a:rPr lang="en-US" altLang="ko-KR" sz="1400" b="1" dirty="0"/>
              <a:t>Because you haven’t specified any resource requests, they’ll be set to </a:t>
            </a:r>
            <a:r>
              <a:rPr lang="en-US" altLang="ko-KR" sz="1400" b="1" dirty="0">
                <a:solidFill>
                  <a:srgbClr val="FF0000"/>
                </a:solidFill>
              </a:rPr>
              <a:t>the same values as the resource limits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D5DA1318-3EAE-E7D2-DDE9-0D0D135ADADB}"/>
              </a:ext>
            </a:extLst>
          </p:cNvPr>
          <p:cNvGrpSpPr/>
          <p:nvPr/>
        </p:nvGrpSpPr>
        <p:grpSpPr>
          <a:xfrm>
            <a:off x="943733" y="1600547"/>
            <a:ext cx="10304534" cy="3997856"/>
            <a:chOff x="943733" y="1600547"/>
            <a:chExt cx="10304534" cy="3997856"/>
          </a:xfrm>
        </p:grpSpPr>
        <p:grpSp>
          <p:nvGrpSpPr>
            <p:cNvPr id="10" name="그룹 9">
              <a:extLst>
                <a:ext uri="{FF2B5EF4-FFF2-40B4-BE49-F238E27FC236}">
                  <a16:creationId xmlns:a16="http://schemas.microsoft.com/office/drawing/2014/main" id="{162C00B6-6B52-3AFC-F189-94DAFA695213}"/>
                </a:ext>
              </a:extLst>
            </p:cNvPr>
            <p:cNvGrpSpPr/>
            <p:nvPr/>
          </p:nvGrpSpPr>
          <p:grpSpPr>
            <a:xfrm>
              <a:off x="3047326" y="1600547"/>
              <a:ext cx="6097348" cy="2092881"/>
              <a:chOff x="3047326" y="1916137"/>
              <a:chExt cx="6097348" cy="2092881"/>
            </a:xfrm>
          </p:grpSpPr>
          <p:sp>
            <p:nvSpPr>
              <p:cNvPr id="8" name="TextBox 7">
                <a:extLst>
                  <a:ext uri="{FF2B5EF4-FFF2-40B4-BE49-F238E27FC236}">
                    <a16:creationId xmlns:a16="http://schemas.microsoft.com/office/drawing/2014/main" id="{AF127248-EA30-2D70-49CF-180F4D999F7C}"/>
                  </a:ext>
                </a:extLst>
              </p:cNvPr>
              <p:cNvSpPr txBox="1"/>
              <p:nvPr/>
            </p:nvSpPr>
            <p:spPr>
              <a:xfrm>
                <a:off x="3047326" y="1916137"/>
                <a:ext cx="6097348"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limited-pod</a:t>
                </a:r>
              </a:p>
              <a:p>
                <a:r>
                  <a:rPr lang="en-US" altLang="ko-KR" sz="1000" b="1" dirty="0"/>
                  <a:t>spec:</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command: ["dd", "if=/dev/zero", "of=/dev/null"]</a:t>
                </a:r>
              </a:p>
              <a:p>
                <a:r>
                  <a:rPr lang="en-US" altLang="ko-KR" sz="1000" b="1" dirty="0"/>
                  <a:t>    name: main</a:t>
                </a:r>
              </a:p>
              <a:p>
                <a:r>
                  <a:rPr lang="en-US" altLang="ko-KR" sz="1000" b="1" dirty="0"/>
                  <a:t>    resources:</a:t>
                </a:r>
              </a:p>
              <a:p>
                <a:r>
                  <a:rPr lang="en-US" altLang="ko-KR" sz="1000" b="1" dirty="0">
                    <a:solidFill>
                      <a:srgbClr val="FF0000"/>
                    </a:solidFill>
                  </a:rPr>
                  <a:t>      limits: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1</a:t>
                </a:r>
              </a:p>
              <a:p>
                <a:r>
                  <a:rPr lang="en-US" altLang="ko-KR" sz="1000" b="1" dirty="0">
                    <a:solidFill>
                      <a:srgbClr val="FF0000"/>
                    </a:solidFill>
                  </a:rPr>
                  <a:t>        memory: 20Mi</a:t>
                </a:r>
              </a:p>
            </p:txBody>
          </p:sp>
          <p:sp>
            <p:nvSpPr>
              <p:cNvPr id="9" name="TextBox 8">
                <a:extLst>
                  <a:ext uri="{FF2B5EF4-FFF2-40B4-BE49-F238E27FC236}">
                    <a16:creationId xmlns:a16="http://schemas.microsoft.com/office/drawing/2014/main" id="{A8C46A22-E372-F082-F11E-A1533B9E5213}"/>
                  </a:ext>
                </a:extLst>
              </p:cNvPr>
              <p:cNvSpPr txBox="1"/>
              <p:nvPr/>
            </p:nvSpPr>
            <p:spPr>
              <a:xfrm>
                <a:off x="7916453" y="1916137"/>
                <a:ext cx="1228221" cy="246221"/>
              </a:xfrm>
              <a:prstGeom prst="rect">
                <a:avLst/>
              </a:prstGeom>
              <a:noFill/>
            </p:spPr>
            <p:txBody>
              <a:bodyPr wrap="none" rtlCol="0">
                <a:spAutoFit/>
              </a:bodyPr>
              <a:lstStyle/>
              <a:p>
                <a:pPr algn="l"/>
                <a:r>
                  <a:rPr lang="en-US" altLang="ko-KR" sz="1000" b="1" dirty="0"/>
                  <a:t>limited-</a:t>
                </a:r>
                <a:r>
                  <a:rPr lang="en-US" altLang="ko-KR" sz="1000" b="1" dirty="0" err="1"/>
                  <a:t>pod.yaml</a:t>
                </a:r>
                <a:endParaRPr lang="ko-KR" altLang="en-US" sz="1000" b="1" dirty="0"/>
              </a:p>
            </p:txBody>
          </p:sp>
        </p:grpSp>
        <p:pic>
          <p:nvPicPr>
            <p:cNvPr id="12" name="그림 11">
              <a:extLst>
                <a:ext uri="{FF2B5EF4-FFF2-40B4-BE49-F238E27FC236}">
                  <a16:creationId xmlns:a16="http://schemas.microsoft.com/office/drawing/2014/main" id="{B71957A6-3370-84FB-AE78-815B70DB21DC}"/>
                </a:ext>
              </a:extLst>
            </p:cNvPr>
            <p:cNvPicPr>
              <a:picLocks noChangeAspect="1"/>
            </p:cNvPicPr>
            <p:nvPr/>
          </p:nvPicPr>
          <p:blipFill>
            <a:blip r:embed="rId2"/>
            <a:stretch>
              <a:fillRect/>
            </a:stretch>
          </p:blipFill>
          <p:spPr>
            <a:xfrm>
              <a:off x="943733" y="3966853"/>
              <a:ext cx="10304534" cy="1631550"/>
            </a:xfrm>
            <a:prstGeom prst="rect">
              <a:avLst/>
            </a:prstGeom>
          </p:spPr>
        </p:pic>
        <p:sp>
          <p:nvSpPr>
            <p:cNvPr id="13" name="화살표: 아래쪽 12">
              <a:extLst>
                <a:ext uri="{FF2B5EF4-FFF2-40B4-BE49-F238E27FC236}">
                  <a16:creationId xmlns:a16="http://schemas.microsoft.com/office/drawing/2014/main" id="{B70F9315-2AFC-A545-42C0-84DBD4CAE5E1}"/>
                </a:ext>
              </a:extLst>
            </p:cNvPr>
            <p:cNvSpPr/>
            <p:nvPr/>
          </p:nvSpPr>
          <p:spPr>
            <a:xfrm>
              <a:off x="5897745" y="3693428"/>
              <a:ext cx="396510" cy="27342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31593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a Hard Limit for the Amount of Resources a Container Can Use :</a:t>
            </a:r>
            <a:endParaRPr lang="en-US" altLang="ko-KR" sz="1400" dirty="0"/>
          </a:p>
          <a:p>
            <a:pPr lvl="1">
              <a:buFont typeface="Wingdings" panose="05000000000000000000" pitchFamily="2" charset="2"/>
              <a:buChar char="§"/>
            </a:pPr>
            <a:r>
              <a:rPr lang="en-US" altLang="ko-KR" sz="1400" b="1" dirty="0"/>
              <a:t>Unlike resource requests, resource limits aren’t constrained by the node’s allocatable resource amounts. The sum of all limits of all the pods on a node is allowed to exceed 100% of the node’s capacity</a:t>
            </a:r>
            <a:r>
              <a:rPr lang="en-US" altLang="ko-KR" sz="1400" dirty="0"/>
              <a:t> (See the following figure). Restated, </a:t>
            </a:r>
            <a:r>
              <a:rPr lang="en-US" altLang="ko-KR" sz="1400" b="1" dirty="0">
                <a:solidFill>
                  <a:srgbClr val="FF0000"/>
                </a:solidFill>
              </a:rPr>
              <a:t>resource limits can be overcommitted</a:t>
            </a:r>
            <a:r>
              <a:rPr lang="en-US" altLang="ko-KR" sz="1400" dirty="0"/>
              <a:t>. </a:t>
            </a:r>
          </a:p>
          <a:p>
            <a:pPr lvl="1">
              <a:buFont typeface="Wingdings" panose="05000000000000000000" pitchFamily="2" charset="2"/>
              <a:buChar char="§"/>
            </a:pPr>
            <a:r>
              <a:rPr lang="en-US" altLang="ko-KR" sz="1400" dirty="0"/>
              <a:t>This has an important consequence—</a:t>
            </a:r>
            <a:r>
              <a:rPr lang="en-US" altLang="ko-KR" sz="1400" b="1" dirty="0"/>
              <a:t>when 100% of the node’s resources are used up, certain containers will need to be killed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You’ll see </a:t>
            </a:r>
            <a:r>
              <a:rPr lang="en-US" altLang="ko-KR" sz="1400" b="1" dirty="0"/>
              <a:t>how Kubernetes decides which containers to kil</a:t>
            </a:r>
            <a:r>
              <a:rPr lang="en-US" altLang="ko-KR" sz="1400" dirty="0"/>
              <a:t>l, </a:t>
            </a:r>
            <a:r>
              <a:rPr lang="en-US" altLang="ko-KR" sz="1400" b="1" dirty="0"/>
              <a:t>but individual containers can be killed even if they try to use more than their resource limits specify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C6D70C3-E100-379D-82CE-967A1042AF54}"/>
              </a:ext>
            </a:extLst>
          </p:cNvPr>
          <p:cNvPicPr>
            <a:picLocks noChangeAspect="1"/>
          </p:cNvPicPr>
          <p:nvPr/>
        </p:nvPicPr>
        <p:blipFill>
          <a:blip r:embed="rId2"/>
          <a:stretch>
            <a:fillRect/>
          </a:stretch>
        </p:blipFill>
        <p:spPr>
          <a:xfrm>
            <a:off x="3224980" y="2313524"/>
            <a:ext cx="5742039" cy="1278194"/>
          </a:xfrm>
          <a:prstGeom prst="rect">
            <a:avLst/>
          </a:prstGeom>
        </p:spPr>
      </p:pic>
    </p:spTree>
    <p:extLst>
      <p:ext uri="{BB962C8B-B14F-4D97-AF65-F5344CB8AC3E}">
        <p14:creationId xmlns:p14="http://schemas.microsoft.com/office/powerpoint/2010/main" val="144069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Exceeding the Limits :</a:t>
            </a:r>
            <a:endParaRPr lang="en-US" altLang="ko-KR" sz="1400" dirty="0"/>
          </a:p>
          <a:p>
            <a:pPr lvl="1">
              <a:buFont typeface="Wingdings" panose="05000000000000000000" pitchFamily="2" charset="2"/>
              <a:buChar char="§"/>
            </a:pPr>
            <a:r>
              <a:rPr lang="en-US" altLang="ko-KR" sz="1400" b="1" dirty="0"/>
              <a:t>What happens when a process running in a container tries to use a greater amount of resources than it’s allowed to</a:t>
            </a:r>
            <a:r>
              <a:rPr lang="en-US" altLang="ko-KR" sz="1400" dirty="0"/>
              <a:t>?</a:t>
            </a:r>
          </a:p>
          <a:p>
            <a:pPr lvl="1">
              <a:buFont typeface="Wingdings" panose="05000000000000000000" pitchFamily="2" charset="2"/>
              <a:buChar char="§"/>
            </a:pPr>
            <a:r>
              <a:rPr lang="en-US" altLang="ko-KR" sz="1400" dirty="0"/>
              <a:t>You’ve already learned that CPU is a compressible resource, and it’s only natural for a process to want to consume all of the CPU time when not waiting for an I/O operation. </a:t>
            </a:r>
            <a:r>
              <a:rPr lang="en-US" altLang="ko-KR" sz="1400" b="1" dirty="0"/>
              <a:t>As you’ve learned, a process’ CPU usage is throttled, so when a </a:t>
            </a:r>
            <a:r>
              <a:rPr lang="en-US" altLang="ko-KR" sz="1400" b="1" dirty="0">
                <a:solidFill>
                  <a:srgbClr val="FF0000"/>
                </a:solidFill>
              </a:rPr>
              <a:t>CPU limit </a:t>
            </a:r>
            <a:r>
              <a:rPr lang="en-US" altLang="ko-KR" sz="1400" b="1" dirty="0"/>
              <a:t>is set for a container, </a:t>
            </a:r>
            <a:r>
              <a:rPr lang="en-US" altLang="ko-KR" sz="1400" b="1" dirty="0">
                <a:solidFill>
                  <a:srgbClr val="FF0000"/>
                </a:solidFill>
              </a:rPr>
              <a:t>the process isn’t given more CPU time </a:t>
            </a:r>
            <a:r>
              <a:rPr lang="en-US" altLang="ko-KR" sz="1400" b="1" dirty="0"/>
              <a:t>than the configured limit</a:t>
            </a:r>
            <a:r>
              <a:rPr lang="en-US" altLang="ko-KR" sz="1400" dirty="0"/>
              <a:t>.</a:t>
            </a:r>
          </a:p>
          <a:p>
            <a:pPr lvl="1">
              <a:buFont typeface="Wingdings" panose="05000000000000000000" pitchFamily="2" charset="2"/>
              <a:buChar char="§"/>
            </a:pPr>
            <a:r>
              <a:rPr lang="en-US" altLang="ko-KR" sz="1400" b="1" dirty="0"/>
              <a:t>With memory, it’s different</a:t>
            </a:r>
            <a:r>
              <a:rPr lang="en-US" altLang="ko-KR" sz="1400" dirty="0"/>
              <a:t>. </a:t>
            </a:r>
            <a:r>
              <a:rPr lang="en-US" altLang="ko-KR" sz="1400" b="1" dirty="0"/>
              <a:t>When a process tries to allocate memory over its limit, the process is killed (it’s said the container is </a:t>
            </a:r>
            <a:r>
              <a:rPr lang="en-US" altLang="ko-KR" sz="1400" b="1" dirty="0" err="1">
                <a:solidFill>
                  <a:srgbClr val="FF0000"/>
                </a:solidFill>
              </a:rPr>
              <a:t>OOMKilled</a:t>
            </a:r>
            <a:r>
              <a:rPr lang="en-US" altLang="ko-KR" sz="1400" b="1" dirty="0"/>
              <a:t>(</a:t>
            </a:r>
            <a:r>
              <a:rPr lang="en-US" altLang="ko-KR" sz="1400" b="1" dirty="0">
                <a:solidFill>
                  <a:srgbClr val="FF0000"/>
                </a:solidFill>
              </a:rPr>
              <a:t>OOM</a:t>
            </a:r>
            <a:r>
              <a:rPr lang="en-US" altLang="ko-KR" sz="1400" b="1" dirty="0"/>
              <a:t> : “</a:t>
            </a:r>
            <a:r>
              <a:rPr lang="en-US" altLang="ko-KR" sz="1400" b="1" dirty="0">
                <a:solidFill>
                  <a:srgbClr val="FF0000"/>
                </a:solidFill>
              </a:rPr>
              <a:t>Out Of Memory</a:t>
            </a:r>
            <a:r>
              <a:rPr lang="en-US" altLang="ko-KR" sz="1400" b="1" dirty="0"/>
              <a:t>”)</a:t>
            </a:r>
            <a:r>
              <a:rPr lang="en-US" altLang="ko-KR" sz="1400" dirty="0"/>
              <a:t>. </a:t>
            </a:r>
            <a:r>
              <a:rPr lang="en-US" altLang="ko-KR" sz="1400" b="1" dirty="0"/>
              <a:t>If the pod’s restart policy is set to “Always” or “</a:t>
            </a:r>
            <a:r>
              <a:rPr lang="en-US" altLang="ko-KR" sz="1400" b="1" dirty="0" err="1"/>
              <a:t>OnFailure</a:t>
            </a:r>
            <a:r>
              <a:rPr lang="en-US" altLang="ko-KR" sz="1400" b="1" dirty="0"/>
              <a:t>”, the process is restarted immediately, so you may not even notice it getting killed</a:t>
            </a:r>
            <a:r>
              <a:rPr lang="en-US" altLang="ko-KR" sz="1400" dirty="0"/>
              <a:t>. But if it keeps going over the memory limit and getting killed, </a:t>
            </a:r>
            <a:r>
              <a:rPr lang="en-US" altLang="ko-KR" sz="1400" b="1" dirty="0"/>
              <a:t>Kubernetes will begin restarting it with increasing delays between restarts</a:t>
            </a:r>
            <a:r>
              <a:rPr lang="en-US" altLang="ko-KR" sz="1400" dirty="0"/>
              <a:t>. You’ll see a “</a:t>
            </a:r>
            <a:r>
              <a:rPr lang="en-US" altLang="ko-KR" sz="1400" b="1" dirty="0" err="1">
                <a:solidFill>
                  <a:srgbClr val="FF0000"/>
                </a:solidFill>
              </a:rPr>
              <a:t>CrashLoopBackOff</a:t>
            </a:r>
            <a:r>
              <a:rPr lang="en-US" altLang="ko-KR" sz="1400" dirty="0"/>
              <a:t>” status in that case.</a:t>
            </a:r>
          </a:p>
          <a:p>
            <a:pPr lvl="1">
              <a:buFont typeface="Wingdings" panose="05000000000000000000" pitchFamily="2" charset="2"/>
              <a:buChar char="§"/>
            </a:pPr>
            <a:r>
              <a:rPr lang="en-US" altLang="ko-KR" sz="1400" b="1" dirty="0"/>
              <a:t>The “</a:t>
            </a:r>
            <a:r>
              <a:rPr lang="en-US" altLang="ko-KR" sz="1400" b="1" dirty="0" err="1"/>
              <a:t>CrashLoopBackOff</a:t>
            </a:r>
            <a:r>
              <a:rPr lang="en-US" altLang="ko-KR" sz="1400" b="1" dirty="0"/>
              <a:t>” status doesn’t mean the </a:t>
            </a:r>
            <a:r>
              <a:rPr lang="en-US" altLang="ko-KR" sz="1400" b="1" dirty="0" err="1"/>
              <a:t>Kubelet</a:t>
            </a:r>
            <a:r>
              <a:rPr lang="en-US" altLang="ko-KR" sz="1400" b="1" dirty="0"/>
              <a:t> has given up</a:t>
            </a:r>
            <a:r>
              <a:rPr lang="en-US" altLang="ko-KR" sz="1400" dirty="0"/>
              <a:t>. </a:t>
            </a:r>
            <a:r>
              <a:rPr lang="en-US" altLang="ko-KR" sz="1400" b="1" dirty="0"/>
              <a:t>It means that after each crash, the </a:t>
            </a:r>
            <a:r>
              <a:rPr lang="en-US" altLang="ko-KR" sz="1400" b="1" dirty="0" err="1"/>
              <a:t>Kubelet</a:t>
            </a:r>
            <a:r>
              <a:rPr lang="en-US" altLang="ko-KR" sz="1400" b="1" dirty="0"/>
              <a:t> is increasing the time period before restarting the container</a:t>
            </a:r>
            <a:r>
              <a:rPr lang="en-US" altLang="ko-KR" sz="1400" dirty="0"/>
              <a:t>. After the first crash, it restarts the container immediately and then, if it crashes again, waits for 10 seconds before restarting it again. On subsequent crashes, this delay is then increased exponentially to 20, 40, 80, and 160 seconds, and finally limited to 300 seconds. </a:t>
            </a:r>
            <a:r>
              <a:rPr lang="en-US" altLang="ko-KR" sz="1400" b="1" dirty="0"/>
              <a:t>Once the interval hits the 300-second limit, the </a:t>
            </a:r>
            <a:r>
              <a:rPr lang="en-US" altLang="ko-KR" sz="1400" b="1" dirty="0" err="1"/>
              <a:t>Kubelet</a:t>
            </a:r>
            <a:r>
              <a:rPr lang="en-US" altLang="ko-KR" sz="1400" b="1" dirty="0"/>
              <a:t> keeps restarting the container indefinitely every five minutes until the pod either stops crashing or is deleted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4785D09-36FF-3D25-39CD-A4F835703294}"/>
              </a:ext>
            </a:extLst>
          </p:cNvPr>
          <p:cNvPicPr>
            <a:picLocks noChangeAspect="1"/>
          </p:cNvPicPr>
          <p:nvPr/>
        </p:nvPicPr>
        <p:blipFill>
          <a:blip r:embed="rId2"/>
          <a:stretch>
            <a:fillRect/>
          </a:stretch>
        </p:blipFill>
        <p:spPr>
          <a:xfrm>
            <a:off x="6587591" y="4216760"/>
            <a:ext cx="4766209" cy="2192270"/>
          </a:xfrm>
          <a:prstGeom prst="rect">
            <a:avLst/>
          </a:prstGeom>
        </p:spPr>
      </p:pic>
    </p:spTree>
    <p:extLst>
      <p:ext uri="{BB962C8B-B14F-4D97-AF65-F5344CB8AC3E}">
        <p14:creationId xmlns:p14="http://schemas.microsoft.com/office/powerpoint/2010/main" val="483729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Exceeding the Limits :</a:t>
            </a:r>
            <a:endParaRPr lang="en-US" altLang="ko-KR" sz="1400" dirty="0"/>
          </a:p>
          <a:p>
            <a:pPr lvl="1">
              <a:buFont typeface="Wingdings" panose="05000000000000000000" pitchFamily="2" charset="2"/>
              <a:buChar char="§"/>
            </a:pPr>
            <a:r>
              <a:rPr lang="en-US" altLang="ko-KR" sz="1400" b="1" dirty="0"/>
              <a:t>To examine why the container crashed, you can check the pod’s log and/or use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pod</a:t>
            </a:r>
            <a:r>
              <a:rPr lang="en-US" altLang="ko-KR" sz="1400" b="1" dirty="0"/>
              <a:t>” command</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87984AE-B756-B719-D6B0-98F45EE9F6EA}"/>
              </a:ext>
            </a:extLst>
          </p:cNvPr>
          <p:cNvGrpSpPr/>
          <p:nvPr/>
        </p:nvGrpSpPr>
        <p:grpSpPr>
          <a:xfrm>
            <a:off x="1228304" y="1592707"/>
            <a:ext cx="9735393" cy="4818264"/>
            <a:chOff x="1228304" y="1592707"/>
            <a:chExt cx="9735393" cy="4818264"/>
          </a:xfrm>
        </p:grpSpPr>
        <p:grpSp>
          <p:nvGrpSpPr>
            <p:cNvPr id="11" name="그룹 10">
              <a:extLst>
                <a:ext uri="{FF2B5EF4-FFF2-40B4-BE49-F238E27FC236}">
                  <a16:creationId xmlns:a16="http://schemas.microsoft.com/office/drawing/2014/main" id="{F49A6BD2-35E3-3F48-9A73-EF826C91E460}"/>
                </a:ext>
              </a:extLst>
            </p:cNvPr>
            <p:cNvGrpSpPr/>
            <p:nvPr/>
          </p:nvGrpSpPr>
          <p:grpSpPr>
            <a:xfrm>
              <a:off x="1228304" y="1592707"/>
              <a:ext cx="9735393" cy="4818264"/>
              <a:chOff x="838200" y="1614540"/>
              <a:chExt cx="10515600" cy="5380482"/>
            </a:xfrm>
          </p:grpSpPr>
          <p:pic>
            <p:nvPicPr>
              <p:cNvPr id="10" name="그림 9">
                <a:extLst>
                  <a:ext uri="{FF2B5EF4-FFF2-40B4-BE49-F238E27FC236}">
                    <a16:creationId xmlns:a16="http://schemas.microsoft.com/office/drawing/2014/main" id="{B55E34DF-C507-A502-EBE6-2115EFD848EE}"/>
                  </a:ext>
                </a:extLst>
              </p:cNvPr>
              <p:cNvPicPr>
                <a:picLocks noChangeAspect="1"/>
              </p:cNvPicPr>
              <p:nvPr/>
            </p:nvPicPr>
            <p:blipFill>
              <a:blip r:embed="rId2"/>
              <a:stretch>
                <a:fillRect/>
              </a:stretch>
            </p:blipFill>
            <p:spPr>
              <a:xfrm>
                <a:off x="838200" y="4304781"/>
                <a:ext cx="10515600" cy="2690241"/>
              </a:xfrm>
              <a:prstGeom prst="rect">
                <a:avLst/>
              </a:prstGeom>
            </p:spPr>
          </p:pic>
          <p:pic>
            <p:nvPicPr>
              <p:cNvPr id="8" name="그림 7">
                <a:extLst>
                  <a:ext uri="{FF2B5EF4-FFF2-40B4-BE49-F238E27FC236}">
                    <a16:creationId xmlns:a16="http://schemas.microsoft.com/office/drawing/2014/main" id="{F82AB44B-A490-4B8D-57DA-DBEE0234D819}"/>
                  </a:ext>
                </a:extLst>
              </p:cNvPr>
              <p:cNvPicPr>
                <a:picLocks noChangeAspect="1"/>
              </p:cNvPicPr>
              <p:nvPr/>
            </p:nvPicPr>
            <p:blipFill>
              <a:blip r:embed="rId3"/>
              <a:stretch>
                <a:fillRect/>
              </a:stretch>
            </p:blipFill>
            <p:spPr>
              <a:xfrm>
                <a:off x="838200" y="1614540"/>
                <a:ext cx="10515600" cy="2690241"/>
              </a:xfrm>
              <a:prstGeom prst="rect">
                <a:avLst/>
              </a:prstGeom>
            </p:spPr>
          </p:pic>
        </p:grpSp>
        <p:sp>
          <p:nvSpPr>
            <p:cNvPr id="12" name="직사각형 11">
              <a:extLst>
                <a:ext uri="{FF2B5EF4-FFF2-40B4-BE49-F238E27FC236}">
                  <a16:creationId xmlns:a16="http://schemas.microsoft.com/office/drawing/2014/main" id="{725953A6-1EF9-C17A-5F6E-C4D9A0BFFD57}"/>
                </a:ext>
              </a:extLst>
            </p:cNvPr>
            <p:cNvSpPr/>
            <p:nvPr/>
          </p:nvSpPr>
          <p:spPr>
            <a:xfrm>
              <a:off x="1586039" y="4709565"/>
              <a:ext cx="2176757" cy="5557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DE9433EB-FA49-3BC3-BB54-858E94D1AED2}"/>
                </a:ext>
              </a:extLst>
            </p:cNvPr>
            <p:cNvSpPr/>
            <p:nvPr/>
          </p:nvSpPr>
          <p:spPr>
            <a:xfrm>
              <a:off x="1270450" y="2969777"/>
              <a:ext cx="3147801"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57675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Exceeding the Limits :</a:t>
            </a:r>
            <a:endParaRPr lang="en-US" altLang="ko-KR" sz="1400" dirty="0"/>
          </a:p>
          <a:p>
            <a:pPr lvl="1">
              <a:buFont typeface="Wingdings" panose="05000000000000000000" pitchFamily="2" charset="2"/>
              <a:buChar char="§"/>
            </a:pPr>
            <a:r>
              <a:rPr lang="en-US" altLang="ko-KR" sz="1400" b="1" dirty="0"/>
              <a:t>The </a:t>
            </a:r>
            <a:r>
              <a:rPr lang="en-US" altLang="ko-KR" sz="1400" b="1" dirty="0" err="1">
                <a:solidFill>
                  <a:srgbClr val="FF0000"/>
                </a:solidFill>
              </a:rPr>
              <a:t>OOMKilled</a:t>
            </a:r>
            <a:r>
              <a:rPr lang="en-US" altLang="ko-KR" sz="1400" b="1" dirty="0"/>
              <a:t> status tells you that the container was killed because it was out of memory</a:t>
            </a:r>
            <a:r>
              <a:rPr lang="en-US" altLang="ko-KR" sz="1400" dirty="0"/>
              <a:t>. In the previous screenshot, the container went over its memory limit and was killed immediately.</a:t>
            </a:r>
          </a:p>
          <a:p>
            <a:pPr lvl="1">
              <a:buFont typeface="Wingdings" panose="05000000000000000000" pitchFamily="2" charset="2"/>
              <a:buChar char="§"/>
            </a:pPr>
            <a:r>
              <a:rPr lang="en-US" altLang="ko-KR" sz="1400" b="1" dirty="0"/>
              <a:t>It’s important not to set memory limits too low if you don’t want your container to be killed</a:t>
            </a:r>
            <a:r>
              <a:rPr lang="en-US" altLang="ko-KR" sz="1400" dirty="0"/>
              <a:t>. </a:t>
            </a:r>
            <a:r>
              <a:rPr lang="en-US" altLang="ko-KR" sz="1400" b="1" dirty="0"/>
              <a:t>But </a:t>
            </a:r>
            <a:r>
              <a:rPr lang="en-US" altLang="ko-KR" sz="1400" b="1" dirty="0">
                <a:solidFill>
                  <a:srgbClr val="FF0000"/>
                </a:solidFill>
              </a:rPr>
              <a:t>containers can get </a:t>
            </a:r>
            <a:r>
              <a:rPr lang="en-US" altLang="ko-KR" sz="1400" b="1" dirty="0" err="1">
                <a:solidFill>
                  <a:srgbClr val="FF0000"/>
                </a:solidFill>
              </a:rPr>
              <a:t>OOMKilled</a:t>
            </a:r>
            <a:r>
              <a:rPr lang="en-US" altLang="ko-KR" sz="1400" b="1" dirty="0">
                <a:solidFill>
                  <a:srgbClr val="FF0000"/>
                </a:solidFill>
              </a:rPr>
              <a:t> even if they aren’t over their limit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132C2C05-CCB6-26E4-72BD-99198661E991}"/>
              </a:ext>
            </a:extLst>
          </p:cNvPr>
          <p:cNvPicPr>
            <a:picLocks noChangeAspect="1"/>
          </p:cNvPicPr>
          <p:nvPr/>
        </p:nvPicPr>
        <p:blipFill>
          <a:blip r:embed="rId2"/>
          <a:stretch>
            <a:fillRect/>
          </a:stretch>
        </p:blipFill>
        <p:spPr>
          <a:xfrm>
            <a:off x="3960886" y="2535275"/>
            <a:ext cx="4270227" cy="3204100"/>
          </a:xfrm>
          <a:prstGeom prst="rect">
            <a:avLst/>
          </a:prstGeom>
          <a:ln>
            <a:solidFill>
              <a:schemeClr val="bg1">
                <a:lumMod val="50000"/>
              </a:schemeClr>
            </a:solidFill>
          </a:ln>
        </p:spPr>
      </p:pic>
    </p:spTree>
    <p:extLst>
      <p:ext uri="{BB962C8B-B14F-4D97-AF65-F5344CB8AC3E}">
        <p14:creationId xmlns:p14="http://schemas.microsoft.com/office/powerpoint/2010/main" val="152334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Apps in Containers See Limits :</a:t>
            </a:r>
            <a:endParaRPr lang="en-US" altLang="ko-KR" sz="1400" dirty="0"/>
          </a:p>
          <a:p>
            <a:pPr lvl="1">
              <a:buFont typeface="Wingdings" panose="05000000000000000000" pitchFamily="2" charset="2"/>
              <a:buChar char="§"/>
            </a:pPr>
            <a:r>
              <a:rPr lang="en-US" altLang="ko-KR" sz="1400" dirty="0"/>
              <a:t>If you haven’t deployed the pod(“limited-</a:t>
            </a:r>
            <a:r>
              <a:rPr lang="en-US" altLang="ko-KR" sz="1400" dirty="0" err="1"/>
              <a:t>pod.yaml</a:t>
            </a:r>
            <a:r>
              <a:rPr lang="en-US" altLang="ko-KR" sz="1400" dirty="0"/>
              <a:t>”), deploy it now. Then, run the “top” command in the container. The command’s output is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pod’s CPU limit is set to 1 core and its memory limit is set to 20 MiB</a:t>
            </a:r>
            <a:r>
              <a:rPr lang="en-US" altLang="ko-KR" sz="1400" dirty="0"/>
              <a:t>. Now, examine the output of the top command closely. Is there anything that strikes you as odd?</a:t>
            </a:r>
          </a:p>
          <a:p>
            <a:pPr lvl="1">
              <a:buFont typeface="Wingdings" panose="05000000000000000000" pitchFamily="2" charset="2"/>
              <a:buChar char="§"/>
            </a:pPr>
            <a:r>
              <a:rPr lang="en-US" altLang="ko-KR" sz="1400" b="1" dirty="0"/>
              <a:t>Look at the amount of used and free memory</a:t>
            </a:r>
            <a:r>
              <a:rPr lang="en-US" altLang="ko-KR" sz="1400" dirty="0"/>
              <a:t>. </a:t>
            </a:r>
            <a:r>
              <a:rPr lang="en-US" altLang="ko-KR" sz="1400" b="1" dirty="0"/>
              <a:t>Those numbers are nowhere near the 20 MiB you set as the limit for the container. Similarly, you set the CPU limit to one core and it seems like the main process is using only 22% of the available CPU time</a:t>
            </a:r>
            <a:r>
              <a:rPr lang="en-US" altLang="ko-KR" sz="1400" dirty="0"/>
              <a:t>, even though the “</a:t>
            </a:r>
            <a:r>
              <a:rPr lang="en-US" altLang="ko-KR" sz="1400" b="1" dirty="0"/>
              <a:t>dd</a:t>
            </a:r>
            <a:r>
              <a:rPr lang="en-US" altLang="ko-KR" sz="1400" dirty="0"/>
              <a:t>” command, when used like you’re using it, usually uses all the CPU it has available. What’s going 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E47A9FD-BF6C-4D44-A3C9-A7D83C3EBEBC}"/>
              </a:ext>
            </a:extLst>
          </p:cNvPr>
          <p:cNvGrpSpPr/>
          <p:nvPr/>
        </p:nvGrpSpPr>
        <p:grpSpPr>
          <a:xfrm>
            <a:off x="838200" y="1760139"/>
            <a:ext cx="10515601" cy="2372902"/>
            <a:chOff x="838200" y="1654942"/>
            <a:chExt cx="10515601" cy="2372902"/>
          </a:xfrm>
        </p:grpSpPr>
        <p:sp>
          <p:nvSpPr>
            <p:cNvPr id="8" name="TextBox 7">
              <a:extLst>
                <a:ext uri="{FF2B5EF4-FFF2-40B4-BE49-F238E27FC236}">
                  <a16:creationId xmlns:a16="http://schemas.microsoft.com/office/drawing/2014/main" id="{23A3F5E5-D244-B78D-9839-8AD1E23C45B8}"/>
                </a:ext>
              </a:extLst>
            </p:cNvPr>
            <p:cNvSpPr txBox="1"/>
            <p:nvPr/>
          </p:nvSpPr>
          <p:spPr>
            <a:xfrm>
              <a:off x="3047326" y="1654942"/>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limited-</a:t>
              </a:r>
              <a:r>
                <a:rPr lang="en-US" altLang="ko-KR" sz="1000" b="1" dirty="0" err="1">
                  <a:solidFill>
                    <a:srgbClr val="FF0000"/>
                  </a:solidFill>
                </a:rPr>
                <a:t>pod.yaml</a:t>
              </a:r>
              <a:endParaRPr lang="en-US" altLang="ko-KR" sz="1000" b="1" dirty="0">
                <a:solidFill>
                  <a:srgbClr val="FF0000"/>
                </a:solidFill>
              </a:endParaRPr>
            </a:p>
            <a:p>
              <a:r>
                <a:rPr lang="en-US" altLang="ko-KR" sz="1000" b="1" dirty="0">
                  <a:solidFill>
                    <a:schemeClr val="tx1">
                      <a:lumMod val="95000"/>
                      <a:lumOff val="5000"/>
                    </a:schemeClr>
                  </a:solidFill>
                </a:rPr>
                <a:t>$ </a:t>
              </a:r>
              <a:r>
                <a:rPr lang="en-US" altLang="ko-KR" sz="1000" b="1" dirty="0" err="1">
                  <a:solidFill>
                    <a:schemeClr val="tx1">
                      <a:lumMod val="95000"/>
                      <a:lumOff val="5000"/>
                    </a:schemeClr>
                  </a:solidFill>
                </a:rPr>
                <a:t>kubectl</a:t>
              </a:r>
              <a:r>
                <a:rPr lang="en-US" altLang="ko-KR" sz="1000" b="1" dirty="0">
                  <a:solidFill>
                    <a:schemeClr val="tx1">
                      <a:lumMod val="95000"/>
                      <a:lumOff val="5000"/>
                    </a:schemeClr>
                  </a:solidFill>
                </a:rPr>
                <a:t> exec -it limited-pod -- </a:t>
              </a:r>
              <a:r>
                <a:rPr lang="en-US" altLang="ko-KR" sz="1000" b="1" dirty="0">
                  <a:solidFill>
                    <a:srgbClr val="FF0000"/>
                  </a:solidFill>
                </a:rPr>
                <a:t>top</a:t>
              </a:r>
            </a:p>
          </p:txBody>
        </p:sp>
        <p:pic>
          <p:nvPicPr>
            <p:cNvPr id="10" name="그림 9">
              <a:extLst>
                <a:ext uri="{FF2B5EF4-FFF2-40B4-BE49-F238E27FC236}">
                  <a16:creationId xmlns:a16="http://schemas.microsoft.com/office/drawing/2014/main" id="{F7216B1E-8FDB-AFAB-55F6-5F81EE0529BD}"/>
                </a:ext>
              </a:extLst>
            </p:cNvPr>
            <p:cNvPicPr>
              <a:picLocks noChangeAspect="1"/>
            </p:cNvPicPr>
            <p:nvPr/>
          </p:nvPicPr>
          <p:blipFill>
            <a:blip r:embed="rId2"/>
            <a:stretch>
              <a:fillRect/>
            </a:stretch>
          </p:blipFill>
          <p:spPr>
            <a:xfrm>
              <a:off x="838200" y="2362874"/>
              <a:ext cx="10515601" cy="1664970"/>
            </a:xfrm>
            <a:prstGeom prst="rect">
              <a:avLst/>
            </a:prstGeom>
          </p:spPr>
        </p:pic>
        <p:sp>
          <p:nvSpPr>
            <p:cNvPr id="11" name="화살표: 아래쪽 10">
              <a:extLst>
                <a:ext uri="{FF2B5EF4-FFF2-40B4-BE49-F238E27FC236}">
                  <a16:creationId xmlns:a16="http://schemas.microsoft.com/office/drawing/2014/main" id="{5C150D3C-CD4C-5E07-FAA2-8EBB3AEEC628}"/>
                </a:ext>
              </a:extLst>
            </p:cNvPr>
            <p:cNvSpPr/>
            <p:nvPr/>
          </p:nvSpPr>
          <p:spPr>
            <a:xfrm>
              <a:off x="5881561" y="2053480"/>
              <a:ext cx="428878" cy="30939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224D80E6-F58B-5BBC-3537-2684379A4B21}"/>
              </a:ext>
            </a:extLst>
          </p:cNvPr>
          <p:cNvSpPr/>
          <p:nvPr/>
        </p:nvSpPr>
        <p:spPr>
          <a:xfrm>
            <a:off x="3843717" y="3404724"/>
            <a:ext cx="364141" cy="2933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7980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Apps in Containers See Limits :</a:t>
            </a:r>
            <a:endParaRPr lang="en-US" altLang="ko-KR" sz="1400" dirty="0"/>
          </a:p>
          <a:p>
            <a:pPr lvl="1">
              <a:buFont typeface="Wingdings" panose="05000000000000000000" pitchFamily="2" charset="2"/>
              <a:buChar char="§"/>
            </a:pPr>
            <a:r>
              <a:rPr lang="en-US" altLang="ko-KR" sz="1400" b="1" dirty="0"/>
              <a:t>The “</a:t>
            </a:r>
            <a:r>
              <a:rPr lang="en-US" altLang="ko-KR" sz="1400" b="1" dirty="0">
                <a:solidFill>
                  <a:srgbClr val="FF0000"/>
                </a:solidFill>
              </a:rPr>
              <a:t>top</a:t>
            </a:r>
            <a:r>
              <a:rPr lang="en-US" altLang="ko-KR" sz="1400" b="1" dirty="0"/>
              <a:t>” command shows the memory amounts of </a:t>
            </a:r>
            <a:r>
              <a:rPr lang="en-US" altLang="ko-KR" sz="1400" b="1" dirty="0">
                <a:solidFill>
                  <a:srgbClr val="FF0000"/>
                </a:solidFill>
              </a:rPr>
              <a:t>the whole node </a:t>
            </a:r>
            <a:r>
              <a:rPr lang="en-US" altLang="ko-KR" sz="1400" b="1" dirty="0"/>
              <a:t>the container is running on</a:t>
            </a:r>
            <a:r>
              <a:rPr lang="en-US" altLang="ko-KR" sz="1400" dirty="0"/>
              <a:t>. Even though you set a limit on how much memory is available to a container, the container will not be aware of this limit.</a:t>
            </a:r>
          </a:p>
          <a:p>
            <a:pPr lvl="1">
              <a:buFont typeface="Wingdings" panose="05000000000000000000" pitchFamily="2" charset="2"/>
              <a:buChar char="§"/>
            </a:pPr>
            <a:r>
              <a:rPr lang="en-US" altLang="ko-KR" sz="1400" b="1" dirty="0"/>
              <a:t>This has an unfortunate effect on any application that looks up the amount of memory available on the system and uses that information to decide how much memory it wants to reserve</a:t>
            </a:r>
            <a:r>
              <a:rPr lang="en-US" altLang="ko-KR" sz="1400" dirty="0"/>
              <a:t>.</a:t>
            </a:r>
          </a:p>
          <a:p>
            <a:pPr lvl="1">
              <a:buFont typeface="Wingdings" panose="05000000000000000000" pitchFamily="2" charset="2"/>
              <a:buChar char="§"/>
            </a:pPr>
            <a:r>
              <a:rPr lang="en-US" altLang="ko-KR" sz="1400" dirty="0"/>
              <a:t>The problem is visible when running Java apps, especially if you don’t specify the maximum heap size for the </a:t>
            </a:r>
            <a:r>
              <a:rPr lang="en-US" altLang="ko-KR" sz="1400" b="1" dirty="0"/>
              <a:t>Java Virtual Machine(JVM)</a:t>
            </a:r>
            <a:r>
              <a:rPr lang="en-US" altLang="ko-KR" sz="1400" dirty="0"/>
              <a:t> with the “</a:t>
            </a:r>
            <a:r>
              <a:rPr lang="en-US" altLang="ko-KR" sz="1400" b="1" dirty="0"/>
              <a:t>-</a:t>
            </a:r>
            <a:r>
              <a:rPr lang="en-US" altLang="ko-KR" sz="1400" b="1" dirty="0" err="1"/>
              <a:t>Xmx</a:t>
            </a:r>
            <a:r>
              <a:rPr lang="en-US" altLang="ko-KR" sz="1400" dirty="0"/>
              <a:t>” option. </a:t>
            </a:r>
            <a:r>
              <a:rPr lang="en-US" altLang="ko-KR" sz="1400" b="1" dirty="0"/>
              <a:t>In that case, the JVM will set the maximum heap size based on the host’s total memory instead of the memory available to the container</a:t>
            </a:r>
            <a:r>
              <a:rPr lang="en-US" altLang="ko-KR" sz="1400" dirty="0"/>
              <a:t>. When you run your containerized Java apps in a Kubernetes cluster on your laptop, the problem doesn’t manifest itself, because the difference between the memory limits you set for the pod and the total memory available on your laptop is not that great.</a:t>
            </a:r>
          </a:p>
          <a:p>
            <a:pPr lvl="1">
              <a:buFont typeface="Wingdings" panose="05000000000000000000" pitchFamily="2" charset="2"/>
              <a:buChar char="§"/>
            </a:pPr>
            <a:r>
              <a:rPr lang="en-US" altLang="ko-KR" sz="1400" b="1" dirty="0"/>
              <a:t>But when you deploy your pod onto a production system, where nodes have much more physical memory, the JVM may go over the container’s memory limit you configured and will be </a:t>
            </a:r>
            <a:r>
              <a:rPr lang="en-US" altLang="ko-KR" sz="1400" b="1" dirty="0" err="1"/>
              <a:t>OOMKilled</a:t>
            </a:r>
            <a:r>
              <a:rPr lang="en-US" altLang="ko-KR" sz="1400" dirty="0"/>
              <a:t>.</a:t>
            </a:r>
          </a:p>
          <a:p>
            <a:pPr lvl="1">
              <a:buFont typeface="Wingdings" panose="05000000000000000000" pitchFamily="2" charset="2"/>
              <a:buChar char="§"/>
            </a:pPr>
            <a:r>
              <a:rPr lang="en-US" altLang="ko-KR" sz="1400" dirty="0"/>
              <a:t>And if you think setting the “</a:t>
            </a:r>
            <a:r>
              <a:rPr lang="en-US" altLang="ko-KR" sz="1400" b="1" dirty="0"/>
              <a:t>-</a:t>
            </a:r>
            <a:r>
              <a:rPr lang="en-US" altLang="ko-KR" sz="1400" b="1" dirty="0" err="1"/>
              <a:t>Xmx</a:t>
            </a:r>
            <a:r>
              <a:rPr lang="en-US" altLang="ko-KR" sz="1400" dirty="0"/>
              <a:t>” option properly solves the issue, you’re wrong, unfortunately. </a:t>
            </a:r>
            <a:r>
              <a:rPr lang="en-US" altLang="ko-KR" sz="1400" b="1" dirty="0"/>
              <a:t>The “-</a:t>
            </a:r>
            <a:r>
              <a:rPr lang="en-US" altLang="ko-KR" sz="1400" b="1" dirty="0" err="1"/>
              <a:t>Xmx</a:t>
            </a:r>
            <a:r>
              <a:rPr lang="en-US" altLang="ko-KR" sz="1400" b="1" dirty="0"/>
              <a:t>” option only constrains the heap size, but does nothing about the JVM’s off-heap memory</a:t>
            </a:r>
            <a:r>
              <a:rPr lang="en-US" altLang="ko-KR" sz="1400" dirty="0"/>
              <a:t>. </a:t>
            </a:r>
            <a:r>
              <a:rPr lang="en-US" altLang="ko-KR" sz="1400" b="1" dirty="0"/>
              <a:t>Luckily, new versions of Java alleviate that problem by taking the configured container limits into account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E37B946-37AB-1454-24B1-7EFA6306E308}"/>
              </a:ext>
            </a:extLst>
          </p:cNvPr>
          <p:cNvPicPr>
            <a:picLocks noChangeAspect="1"/>
          </p:cNvPicPr>
          <p:nvPr/>
        </p:nvPicPr>
        <p:blipFill>
          <a:blip r:embed="rId2"/>
          <a:stretch>
            <a:fillRect/>
          </a:stretch>
        </p:blipFill>
        <p:spPr>
          <a:xfrm>
            <a:off x="3125468" y="4183582"/>
            <a:ext cx="5941064" cy="2225448"/>
          </a:xfrm>
          <a:prstGeom prst="rect">
            <a:avLst/>
          </a:prstGeom>
        </p:spPr>
      </p:pic>
    </p:spTree>
    <p:extLst>
      <p:ext uri="{BB962C8B-B14F-4D97-AF65-F5344CB8AC3E}">
        <p14:creationId xmlns:p14="http://schemas.microsoft.com/office/powerpoint/2010/main" val="2395820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Resources Available to a Container(9/9)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Apps in Containers See Limits :</a:t>
            </a:r>
            <a:endParaRPr lang="en-US" altLang="ko-KR" sz="1400" dirty="0"/>
          </a:p>
          <a:p>
            <a:pPr lvl="1">
              <a:buFont typeface="Wingdings" panose="05000000000000000000" pitchFamily="2" charset="2"/>
              <a:buChar char="§"/>
            </a:pPr>
            <a:r>
              <a:rPr lang="en-US" altLang="ko-KR" sz="1400" b="1" dirty="0"/>
              <a:t>Exactly like with memory, containers will also see all the node’s CPUs, regardless of the CPU limits configured for the container</a:t>
            </a:r>
            <a:r>
              <a:rPr lang="en-US" altLang="ko-KR" sz="1400" dirty="0"/>
              <a:t>. </a:t>
            </a:r>
            <a:r>
              <a:rPr lang="en-US" altLang="ko-KR" sz="1400" b="1" dirty="0"/>
              <a:t>Setting a CPU limit to one core doesn’t magically only expose only one CPU core to the container</a:t>
            </a:r>
            <a:r>
              <a:rPr lang="en-US" altLang="ko-KR" sz="1400" dirty="0"/>
              <a:t>. </a:t>
            </a:r>
            <a:r>
              <a:rPr lang="en-US" altLang="ko-KR" sz="1400" b="1" dirty="0">
                <a:solidFill>
                  <a:srgbClr val="FF0000"/>
                </a:solidFill>
              </a:rPr>
              <a:t>All the CPU limit does is constrain the amount of CPU time the container can use</a:t>
            </a:r>
            <a:r>
              <a:rPr lang="en-US" altLang="ko-KR" sz="1400" dirty="0"/>
              <a:t>.</a:t>
            </a:r>
          </a:p>
          <a:p>
            <a:pPr lvl="1">
              <a:buFont typeface="Wingdings" panose="05000000000000000000" pitchFamily="2" charset="2"/>
              <a:buChar char="§"/>
            </a:pPr>
            <a:r>
              <a:rPr lang="en-US" altLang="ko-KR" sz="1400" b="1" dirty="0"/>
              <a:t>A container with a one-core CPU limit running on a 64-core CPU will get 1/64</a:t>
            </a:r>
            <a:r>
              <a:rPr lang="en-US" altLang="ko-KR" sz="1400" b="1" baseline="30000" dirty="0"/>
              <a:t>th</a:t>
            </a:r>
            <a:r>
              <a:rPr lang="en-US" altLang="ko-KR" sz="1400" b="1" dirty="0"/>
              <a:t> of the overall </a:t>
            </a:r>
            <a:r>
              <a:rPr lang="en-US" altLang="ko-KR" sz="1400" b="1" dirty="0">
                <a:solidFill>
                  <a:srgbClr val="FF0000"/>
                </a:solidFill>
              </a:rPr>
              <a:t>CPU time</a:t>
            </a:r>
            <a:r>
              <a:rPr lang="en-US" altLang="ko-KR" sz="1400" dirty="0"/>
              <a:t>. </a:t>
            </a:r>
            <a:r>
              <a:rPr lang="en-US" altLang="ko-KR" sz="1400" b="1" dirty="0"/>
              <a:t>And even though its limit is set to one core, the container’s processes will not run on only one core</a:t>
            </a:r>
            <a:r>
              <a:rPr lang="en-US" altLang="ko-KR" sz="1400" dirty="0"/>
              <a:t>. At different points in time, its code may be executed on different cores.</a:t>
            </a:r>
          </a:p>
          <a:p>
            <a:pPr lvl="1">
              <a:buFont typeface="Wingdings" panose="05000000000000000000" pitchFamily="2" charset="2"/>
              <a:buChar char="§"/>
            </a:pPr>
            <a:r>
              <a:rPr lang="en-US" altLang="ko-KR" sz="1400" dirty="0"/>
              <a:t>Certain applications look up the number of CPUs on the system to decide how many worker threads they should run. Again, such an app will run fine on a development laptop, but when deployed on a node with a much bigger number of cores, it’s going to spin up too many threads, all competing for the (possibly) limited CPU time. Also, each thread requires additional memory, causing the apps memory usage to skyrocket. </a:t>
            </a:r>
          </a:p>
          <a:p>
            <a:pPr lvl="1">
              <a:buFont typeface="Wingdings" panose="05000000000000000000" pitchFamily="2" charset="2"/>
              <a:buChar char="§"/>
            </a:pPr>
            <a:r>
              <a:rPr lang="en-US" altLang="ko-KR" sz="1400" b="1" dirty="0"/>
              <a:t>You may want to use the “</a:t>
            </a:r>
            <a:r>
              <a:rPr lang="en-US" altLang="ko-KR" sz="1400" b="1" dirty="0">
                <a:solidFill>
                  <a:srgbClr val="FF0000"/>
                </a:solidFill>
              </a:rPr>
              <a:t>Downward API</a:t>
            </a:r>
            <a:r>
              <a:rPr lang="en-US" altLang="ko-KR" sz="1400" b="1" dirty="0"/>
              <a:t>” to </a:t>
            </a:r>
            <a:r>
              <a:rPr lang="en-US" altLang="ko-KR" sz="1400" b="1" dirty="0">
                <a:solidFill>
                  <a:srgbClr val="FF0000"/>
                </a:solidFill>
              </a:rPr>
              <a:t>pass the CPU limit to the container </a:t>
            </a:r>
            <a:r>
              <a:rPr lang="en-US" altLang="ko-KR" sz="1400" b="1" dirty="0"/>
              <a:t>and use it instead of relying on the number of CPUs your app can see on the system</a:t>
            </a:r>
            <a:r>
              <a:rPr lang="en-US" altLang="ko-KR" sz="1400" dirty="0"/>
              <a:t>. You can also </a:t>
            </a:r>
            <a:r>
              <a:rPr lang="en-US" altLang="ko-KR" sz="1400" b="1" dirty="0"/>
              <a:t>tap into the “</a:t>
            </a:r>
            <a:r>
              <a:rPr lang="en-US" altLang="ko-KR" sz="1400" b="1" dirty="0" err="1">
                <a:solidFill>
                  <a:srgbClr val="FF0000"/>
                </a:solidFill>
              </a:rPr>
              <a:t>cgroups</a:t>
            </a:r>
            <a:r>
              <a:rPr lang="en-US" altLang="ko-KR" sz="1400" b="1" dirty="0"/>
              <a:t>” system directly to get the configured CPU limit </a:t>
            </a:r>
            <a:r>
              <a:rPr lang="en-US" altLang="ko-KR" sz="1400" dirty="0"/>
              <a:t>by reading the following files :</a:t>
            </a:r>
          </a:p>
          <a:p>
            <a:pPr lvl="2">
              <a:buFont typeface="Wingdings" panose="05000000000000000000" pitchFamily="2" charset="2"/>
              <a:buChar char="§"/>
            </a:pPr>
            <a:r>
              <a:rPr lang="en-US" altLang="ko-KR" sz="1400" b="1" dirty="0"/>
              <a:t>/sys/fs/</a:t>
            </a:r>
            <a:r>
              <a:rPr lang="en-US" altLang="ko-KR" sz="1400" b="1" dirty="0" err="1"/>
              <a:t>cgroup</a:t>
            </a:r>
            <a:r>
              <a:rPr lang="en-US" altLang="ko-KR" sz="1400" b="1" dirty="0"/>
              <a:t>/</a:t>
            </a:r>
            <a:r>
              <a:rPr lang="en-US" altLang="ko-KR" sz="1400" b="1" dirty="0" err="1"/>
              <a:t>cpu</a:t>
            </a:r>
            <a:r>
              <a:rPr lang="en-US" altLang="ko-KR" sz="1400" b="1" dirty="0"/>
              <a:t>/</a:t>
            </a:r>
            <a:r>
              <a:rPr lang="en-US" altLang="ko-KR" sz="1400" b="1" dirty="0" err="1"/>
              <a:t>cpu.cfs_quota_us</a:t>
            </a:r>
            <a:endParaRPr lang="en-US" altLang="ko-KR" sz="1400" b="1" dirty="0"/>
          </a:p>
          <a:p>
            <a:pPr lvl="2">
              <a:buFont typeface="Wingdings" panose="05000000000000000000" pitchFamily="2" charset="2"/>
              <a:buChar char="§"/>
            </a:pPr>
            <a:r>
              <a:rPr lang="en-US" altLang="ko-KR" sz="1400" b="1" dirty="0"/>
              <a:t>/sys/fs/</a:t>
            </a:r>
            <a:r>
              <a:rPr lang="en-US" altLang="ko-KR" sz="1400" b="1" dirty="0" err="1"/>
              <a:t>cgroup</a:t>
            </a:r>
            <a:r>
              <a:rPr lang="en-US" altLang="ko-KR" sz="1400" b="1" dirty="0"/>
              <a:t>/</a:t>
            </a:r>
            <a:r>
              <a:rPr lang="en-US" altLang="ko-KR" sz="1400" b="1" dirty="0" err="1"/>
              <a:t>cpu</a:t>
            </a:r>
            <a:r>
              <a:rPr lang="en-US" altLang="ko-KR" sz="1400" b="1" dirty="0"/>
              <a:t>/</a:t>
            </a:r>
            <a:r>
              <a:rPr lang="en-US" altLang="ko-KR" sz="1400" b="1" dirty="0" err="1"/>
              <a:t>cpu.cfs_period_us</a:t>
            </a:r>
            <a:endParaRPr lang="en-US" altLang="ko-KR" sz="14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645A8B8-7B70-100D-6AFC-F0A0F7AF95E2}"/>
              </a:ext>
            </a:extLst>
          </p:cNvPr>
          <p:cNvPicPr>
            <a:picLocks noChangeAspect="1"/>
          </p:cNvPicPr>
          <p:nvPr/>
        </p:nvPicPr>
        <p:blipFill>
          <a:blip r:embed="rId2"/>
          <a:stretch>
            <a:fillRect/>
          </a:stretch>
        </p:blipFill>
        <p:spPr>
          <a:xfrm>
            <a:off x="838200" y="4553550"/>
            <a:ext cx="10515600" cy="1664970"/>
          </a:xfrm>
          <a:prstGeom prst="rect">
            <a:avLst/>
          </a:prstGeom>
        </p:spPr>
      </p:pic>
    </p:spTree>
    <p:extLst>
      <p:ext uri="{BB962C8B-B14F-4D97-AF65-F5344CB8AC3E}">
        <p14:creationId xmlns:p14="http://schemas.microsoft.com/office/powerpoint/2010/main" val="1917212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QoS(Quality of Service) :</a:t>
            </a:r>
            <a:endParaRPr lang="en-US" altLang="ko-KR" sz="1400" dirty="0"/>
          </a:p>
          <a:p>
            <a:pPr lvl="1">
              <a:buFont typeface="Wingdings" panose="05000000000000000000" pitchFamily="2" charset="2"/>
              <a:buChar char="§"/>
            </a:pPr>
            <a:r>
              <a:rPr lang="en-US" altLang="ko-KR" sz="1400" b="1" dirty="0"/>
              <a:t>Imagine having two pods, where pod A is using, let’s say, 90% of the node’s memory and then pod B suddenly requires more memory than what it had been using up to that point and the node can’t provide the required amount of memory. </a:t>
            </a:r>
            <a:r>
              <a:rPr lang="en-US" altLang="ko-KR" sz="1400" dirty="0"/>
              <a:t>Which container should be killed? Should it be pod B, because its request for memory can’t be satisfied, or should pod A be killed to free up memory, so it can be provided to pod B?</a:t>
            </a:r>
          </a:p>
          <a:p>
            <a:pPr lvl="1">
              <a:buFont typeface="Wingdings" panose="05000000000000000000" pitchFamily="2" charset="2"/>
              <a:buChar char="§"/>
            </a:pPr>
            <a:r>
              <a:rPr lang="en-US" altLang="ko-KR" sz="1400" b="1" dirty="0"/>
              <a:t>Kubernetes can’t make a proper decision on its own</a:t>
            </a:r>
            <a:r>
              <a:rPr lang="en-US" altLang="ko-KR" sz="1400" dirty="0"/>
              <a:t>. </a:t>
            </a:r>
            <a:r>
              <a:rPr lang="en-US" altLang="ko-KR" sz="1400" b="1" dirty="0"/>
              <a:t>You need a way to specify which pods have priority in such cases</a:t>
            </a:r>
            <a:r>
              <a:rPr lang="en-US" altLang="ko-KR" sz="1400" dirty="0"/>
              <a:t>. Kubernetes does this by categorizing pods into three </a:t>
            </a:r>
            <a:r>
              <a:rPr lang="en-US" altLang="ko-KR" sz="1400" b="1" dirty="0"/>
              <a:t>“</a:t>
            </a:r>
            <a:r>
              <a:rPr lang="en-US" altLang="ko-KR" sz="1400" b="1" dirty="0">
                <a:solidFill>
                  <a:srgbClr val="FF0000"/>
                </a:solidFill>
              </a:rPr>
              <a:t>Quality of Service (QoS)</a:t>
            </a:r>
            <a:r>
              <a:rPr lang="en-US" altLang="ko-KR" sz="1400" b="1" dirty="0"/>
              <a:t>” classes</a:t>
            </a:r>
            <a:r>
              <a:rPr lang="en-US" altLang="ko-KR" sz="1400" dirty="0"/>
              <a:t> :</a:t>
            </a:r>
          </a:p>
          <a:p>
            <a:pPr lvl="2">
              <a:buFont typeface="Wingdings" panose="05000000000000000000" pitchFamily="2" charset="2"/>
              <a:buChar char="§"/>
            </a:pPr>
            <a:r>
              <a:rPr lang="en-US" altLang="ko-KR" sz="1400" b="1" dirty="0" err="1"/>
              <a:t>BestEffort</a:t>
            </a:r>
            <a:r>
              <a:rPr lang="en-US" altLang="ko-KR" sz="1400" b="1" dirty="0"/>
              <a:t> (the lowest priority) </a:t>
            </a:r>
          </a:p>
          <a:p>
            <a:pPr lvl="2">
              <a:buFont typeface="Wingdings" panose="05000000000000000000" pitchFamily="2" charset="2"/>
              <a:buChar char="§"/>
            </a:pPr>
            <a:r>
              <a:rPr lang="en-US" altLang="ko-KR" sz="1400" b="1" dirty="0"/>
              <a:t>Burstable</a:t>
            </a:r>
          </a:p>
          <a:p>
            <a:pPr lvl="2">
              <a:buFont typeface="Wingdings" panose="05000000000000000000" pitchFamily="2" charset="2"/>
              <a:buChar char="§"/>
            </a:pPr>
            <a:r>
              <a:rPr lang="en-US" altLang="ko-KR" sz="1400" b="1" dirty="0"/>
              <a:t>Guaranteed (the highest).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58341441-A23C-1AE0-6D60-4AC23A1B153E}"/>
              </a:ext>
            </a:extLst>
          </p:cNvPr>
          <p:cNvPicPr>
            <a:picLocks noChangeAspect="1"/>
          </p:cNvPicPr>
          <p:nvPr/>
        </p:nvPicPr>
        <p:blipFill>
          <a:blip r:embed="rId2"/>
          <a:stretch>
            <a:fillRect/>
          </a:stretch>
        </p:blipFill>
        <p:spPr>
          <a:xfrm>
            <a:off x="2181520" y="3550517"/>
            <a:ext cx="7828960" cy="2416994"/>
          </a:xfrm>
          <a:prstGeom prst="rect">
            <a:avLst/>
          </a:prstGeom>
        </p:spPr>
      </p:pic>
    </p:spTree>
    <p:extLst>
      <p:ext uri="{BB962C8B-B14F-4D97-AF65-F5344CB8AC3E}">
        <p14:creationId xmlns:p14="http://schemas.microsoft.com/office/powerpoint/2010/main" val="539689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7237651" cy="5634624"/>
          </a:xfrm>
        </p:spPr>
        <p:txBody>
          <a:bodyPr>
            <a:normAutofit/>
          </a:bodyPr>
          <a:lstStyle/>
          <a:p>
            <a:pPr>
              <a:buFont typeface="Wingdings" panose="05000000000000000000" pitchFamily="2" charset="2"/>
              <a:buChar char="§"/>
            </a:pPr>
            <a:r>
              <a:rPr lang="en-US" altLang="ko-KR" sz="1800" b="1" dirty="0"/>
              <a:t>Defining the QoS Class for a Pod :</a:t>
            </a:r>
            <a:endParaRPr lang="en-US" altLang="ko-KR" sz="1400" dirty="0"/>
          </a:p>
          <a:p>
            <a:pPr lvl="1">
              <a:buFont typeface="Wingdings" panose="05000000000000000000" pitchFamily="2" charset="2"/>
              <a:buChar char="§"/>
            </a:pPr>
            <a:r>
              <a:rPr lang="en-US" altLang="ko-KR" sz="1400" b="1" dirty="0"/>
              <a:t>You might expect these classes to be assignable to pods through a separate field in the manifest, but they </a:t>
            </a:r>
            <a:r>
              <a:rPr lang="en-US" altLang="ko-KR" sz="1400" dirty="0"/>
              <a:t>aren’t. </a:t>
            </a:r>
            <a:r>
              <a:rPr lang="en-US" altLang="ko-KR" sz="1400" b="1" dirty="0"/>
              <a:t>The QoS class is derived from the combination of resource requests and limits for the pod’s containers</a:t>
            </a:r>
            <a:r>
              <a:rPr lang="en-US" altLang="ko-KR" sz="1400" dirty="0"/>
              <a:t>. </a:t>
            </a:r>
          </a:p>
          <a:p>
            <a:pPr lvl="1">
              <a:buFont typeface="Wingdings" panose="05000000000000000000" pitchFamily="2" charset="2"/>
              <a:buChar char="§"/>
            </a:pPr>
            <a:r>
              <a:rPr lang="en-US" altLang="ko-KR" sz="1400" b="1" dirty="0"/>
              <a:t>The lowest priority QoS class is the </a:t>
            </a:r>
            <a:r>
              <a:rPr lang="en-US" altLang="ko-KR" sz="1400" b="1" dirty="0" err="1">
                <a:solidFill>
                  <a:srgbClr val="FF0000"/>
                </a:solidFill>
              </a:rPr>
              <a:t>BestEffort</a:t>
            </a:r>
            <a:r>
              <a:rPr lang="en-US" altLang="ko-KR" sz="1400" b="1" dirty="0"/>
              <a:t> class</a:t>
            </a:r>
            <a:r>
              <a:rPr lang="en-US" altLang="ko-KR" sz="1400" dirty="0"/>
              <a:t>. </a:t>
            </a:r>
            <a:r>
              <a:rPr lang="en-US" altLang="ko-KR" sz="1400" b="1" dirty="0"/>
              <a:t>It’s assigned to pods that don’t have any requests or limits set at all (in any of their containers)</a:t>
            </a:r>
            <a:r>
              <a:rPr lang="en-US" altLang="ko-KR" sz="1400" dirty="0"/>
              <a:t>. </a:t>
            </a:r>
            <a:r>
              <a:rPr lang="en-US" altLang="ko-KR" sz="1400" b="1" dirty="0"/>
              <a:t>This is the QoS class that has been assigned to all the pods</a:t>
            </a:r>
            <a:r>
              <a:rPr lang="en-US" altLang="ko-KR" sz="1400" dirty="0"/>
              <a:t>. Containers running in these pods have had </a:t>
            </a:r>
            <a:r>
              <a:rPr lang="en-US" altLang="ko-KR" sz="1400" b="1" dirty="0"/>
              <a:t>no resource guarantees </a:t>
            </a:r>
            <a:r>
              <a:rPr lang="en-US" altLang="ko-KR" sz="1400" dirty="0"/>
              <a:t>whatsoever. In the worst case, they </a:t>
            </a:r>
            <a:r>
              <a:rPr lang="en-US" altLang="ko-KR" sz="1400" b="1" dirty="0"/>
              <a:t>may get almost no CPU time at all </a:t>
            </a:r>
            <a:r>
              <a:rPr lang="en-US" altLang="ko-KR" sz="1400" dirty="0"/>
              <a:t>and will </a:t>
            </a:r>
            <a:r>
              <a:rPr lang="en-US" altLang="ko-KR" sz="1400" b="1" dirty="0"/>
              <a:t>be the first ones killed when memory needs to be freed for other pods</a:t>
            </a:r>
            <a:r>
              <a:rPr lang="en-US" altLang="ko-KR" sz="1400" dirty="0"/>
              <a:t>. But because a </a:t>
            </a:r>
            <a:r>
              <a:rPr lang="en-US" altLang="ko-KR" sz="1400" b="1" dirty="0" err="1"/>
              <a:t>BestEffort</a:t>
            </a:r>
            <a:r>
              <a:rPr lang="en-US" altLang="ko-KR" sz="1400" b="1" dirty="0"/>
              <a:t> pod has no memory limits set, its containers may use as much memory as they want</a:t>
            </a:r>
            <a:r>
              <a:rPr lang="en-US" altLang="ko-KR" sz="1400" dirty="0"/>
              <a:t>, if enough memory is available.</a:t>
            </a:r>
          </a:p>
          <a:p>
            <a:pPr lvl="1">
              <a:buFont typeface="Wingdings" panose="05000000000000000000" pitchFamily="2" charset="2"/>
              <a:buChar char="§"/>
            </a:pPr>
            <a:r>
              <a:rPr lang="en-US" altLang="ko-KR" sz="1400" b="1" dirty="0"/>
              <a:t>On the other end of the spectrum is the </a:t>
            </a:r>
            <a:r>
              <a:rPr lang="en-US" altLang="ko-KR" sz="1400" b="1" dirty="0">
                <a:solidFill>
                  <a:srgbClr val="FF0000"/>
                </a:solidFill>
              </a:rPr>
              <a:t>Guaranteed</a:t>
            </a:r>
            <a:r>
              <a:rPr lang="en-US" altLang="ko-KR" sz="1400" b="1" dirty="0"/>
              <a:t> QoS class. This class is given to pods whose containers’ requests are equal to the limits for all resources</a:t>
            </a:r>
            <a:r>
              <a:rPr lang="en-US" altLang="ko-KR" sz="1400" dirty="0"/>
              <a:t>. For a pod’s class to be Guaranteed, three things need to be true :</a:t>
            </a:r>
          </a:p>
          <a:p>
            <a:pPr lvl="2">
              <a:buFont typeface="Wingdings" panose="05000000000000000000" pitchFamily="2" charset="2"/>
              <a:buChar char="§"/>
            </a:pPr>
            <a:r>
              <a:rPr lang="en-US" altLang="ko-KR" sz="1400" b="1" dirty="0"/>
              <a:t>Requests and limits need to be set for both CPU and memory</a:t>
            </a:r>
            <a:r>
              <a:rPr lang="en-US" altLang="ko-KR" sz="1400" dirty="0"/>
              <a:t>.</a:t>
            </a:r>
          </a:p>
          <a:p>
            <a:pPr lvl="2">
              <a:buFont typeface="Wingdings" panose="05000000000000000000" pitchFamily="2" charset="2"/>
              <a:buChar char="§"/>
            </a:pPr>
            <a:r>
              <a:rPr lang="en-US" altLang="ko-KR" sz="1400" b="1" dirty="0"/>
              <a:t>They need to be set for each container</a:t>
            </a:r>
            <a:r>
              <a:rPr lang="en-US" altLang="ko-KR" sz="1400" dirty="0"/>
              <a:t>.</a:t>
            </a:r>
          </a:p>
          <a:p>
            <a:pPr lvl="2">
              <a:buFont typeface="Wingdings" panose="05000000000000000000" pitchFamily="2" charset="2"/>
              <a:buChar char="§"/>
            </a:pPr>
            <a:r>
              <a:rPr lang="en-US" altLang="ko-KR" sz="1400" b="1" dirty="0"/>
              <a:t>They need to be equal </a:t>
            </a:r>
            <a:r>
              <a:rPr lang="en-US" altLang="ko-KR" sz="1400" dirty="0"/>
              <a:t>(the limit needs to match the request for each resource in each container).</a:t>
            </a:r>
          </a:p>
          <a:p>
            <a:pPr lvl="1">
              <a:buFont typeface="Wingdings" panose="05000000000000000000" pitchFamily="2" charset="2"/>
              <a:buChar char="§"/>
            </a:pPr>
            <a:r>
              <a:rPr lang="en-US" altLang="ko-KR" sz="1400" b="1" dirty="0"/>
              <a:t>Because a container’s resource requests, if not set explicitly, default to the limits, specifying the limits for all resources (for each container in the pod) is enough for the pod to be Guaranteed</a:t>
            </a:r>
            <a:r>
              <a:rPr lang="en-US" altLang="ko-KR" sz="1400" dirty="0"/>
              <a:t>. Containers in those pods get the requested amount of resources, but </a:t>
            </a:r>
            <a:r>
              <a:rPr lang="en-US" altLang="ko-KR" sz="1400" b="1" dirty="0"/>
              <a:t>cannot consume additional ones </a:t>
            </a:r>
            <a:r>
              <a:rPr lang="en-US" altLang="ko-KR" sz="1400" dirty="0"/>
              <a:t>(because their limits are no higher than their requests).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251AC15-C2C6-CE8A-52FD-8A9BB27A87AA}"/>
              </a:ext>
            </a:extLst>
          </p:cNvPr>
          <p:cNvPicPr>
            <a:picLocks noChangeAspect="1"/>
          </p:cNvPicPr>
          <p:nvPr/>
        </p:nvPicPr>
        <p:blipFill>
          <a:blip r:embed="rId2"/>
          <a:stretch>
            <a:fillRect/>
          </a:stretch>
        </p:blipFill>
        <p:spPr>
          <a:xfrm>
            <a:off x="8161286" y="1064102"/>
            <a:ext cx="3192514" cy="4729795"/>
          </a:xfrm>
          <a:prstGeom prst="rect">
            <a:avLst/>
          </a:prstGeom>
        </p:spPr>
      </p:pic>
    </p:spTree>
    <p:extLst>
      <p:ext uri="{BB962C8B-B14F-4D97-AF65-F5344CB8AC3E}">
        <p14:creationId xmlns:p14="http://schemas.microsoft.com/office/powerpoint/2010/main" val="3631311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QoS Class for a Pod :</a:t>
            </a:r>
            <a:endParaRPr lang="en-US" altLang="ko-KR" sz="1400" dirty="0"/>
          </a:p>
          <a:p>
            <a:pPr lvl="1">
              <a:buFont typeface="Wingdings" panose="05000000000000000000" pitchFamily="2" charset="2"/>
              <a:buChar char="§"/>
            </a:pPr>
            <a:r>
              <a:rPr lang="en-US" altLang="ko-KR" sz="1400" b="1" dirty="0"/>
              <a:t>In between </a:t>
            </a:r>
            <a:r>
              <a:rPr lang="en-US" altLang="ko-KR" sz="1400" b="1" dirty="0" err="1"/>
              <a:t>BestEffort</a:t>
            </a:r>
            <a:r>
              <a:rPr lang="en-US" altLang="ko-KR" sz="1400" b="1" dirty="0"/>
              <a:t> and Guaranteed is the </a:t>
            </a:r>
            <a:r>
              <a:rPr lang="en-US" altLang="ko-KR" sz="1400" b="1" dirty="0">
                <a:solidFill>
                  <a:srgbClr val="FF0000"/>
                </a:solidFill>
              </a:rPr>
              <a:t>Burstable</a:t>
            </a:r>
            <a:r>
              <a:rPr lang="en-US" altLang="ko-KR" sz="1400" b="1" dirty="0"/>
              <a:t> QoS class</a:t>
            </a:r>
            <a:r>
              <a:rPr lang="en-US" altLang="ko-KR" sz="1400" dirty="0"/>
              <a:t>. </a:t>
            </a:r>
            <a:r>
              <a:rPr lang="en-US" altLang="ko-KR" sz="1400" b="1" dirty="0"/>
              <a:t>All other pods fall into this class</a:t>
            </a:r>
            <a:r>
              <a:rPr lang="en-US" altLang="ko-KR" sz="1400" dirty="0"/>
              <a:t>. </a:t>
            </a:r>
            <a:r>
              <a:rPr lang="en-US" altLang="ko-KR" sz="1400" b="1" dirty="0"/>
              <a:t>This includes single-container pods where the container’s limits don’t match its requests and all pods where at least one container has a resource request specified, but not the limit</a:t>
            </a:r>
            <a:r>
              <a:rPr lang="en-US" altLang="ko-KR" sz="1400" dirty="0"/>
              <a:t>. It also includes pods where one container’s requests match their limits, but another container has no requests or limits specified. </a:t>
            </a:r>
            <a:r>
              <a:rPr lang="en-US" altLang="ko-KR" sz="1400" b="1" dirty="0"/>
              <a:t>Burstable pods get the amount of resources they request, but are allowed to use additional resources (up to the limit) if needed</a:t>
            </a:r>
            <a:r>
              <a:rPr lang="en-US" altLang="ko-KR" sz="1400" dirty="0"/>
              <a:t>. </a:t>
            </a:r>
          </a:p>
          <a:p>
            <a:pPr lvl="1">
              <a:buFont typeface="Wingdings" panose="05000000000000000000" pitchFamily="2" charset="2"/>
              <a:buChar char="§"/>
            </a:pPr>
            <a:r>
              <a:rPr lang="en-US" altLang="ko-KR" sz="1400" dirty="0"/>
              <a:t>All three QoS classes and their relationships with requests and limits are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Thinking about what QoS class a pod has can make your head spin, because it involves multiple containers, multiple resources, and all the possible relationships between requests and limits</a:t>
            </a:r>
            <a:r>
              <a:rPr lang="en-US" altLang="ko-KR" sz="1400" dirty="0"/>
              <a:t>. It’s easier if you start by thinking about QoS at the container level (although </a:t>
            </a:r>
            <a:r>
              <a:rPr lang="en-US" altLang="ko-KR" sz="1400" b="1" dirty="0"/>
              <a:t>QoS classes are a property of pods, not containers</a:t>
            </a:r>
            <a:r>
              <a:rPr lang="en-US" altLang="ko-KR" sz="1400" dirty="0"/>
              <a:t>) and then </a:t>
            </a:r>
            <a:r>
              <a:rPr lang="en-US" altLang="ko-KR" sz="1400" b="1" dirty="0"/>
              <a:t>derive the pod’s QoS class from the QoS classes of containers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1E4F751-B501-5CC8-BBD1-249184C27F21}"/>
              </a:ext>
            </a:extLst>
          </p:cNvPr>
          <p:cNvPicPr>
            <a:picLocks noChangeAspect="1"/>
          </p:cNvPicPr>
          <p:nvPr/>
        </p:nvPicPr>
        <p:blipFill>
          <a:blip r:embed="rId2"/>
          <a:stretch>
            <a:fillRect/>
          </a:stretch>
        </p:blipFill>
        <p:spPr>
          <a:xfrm>
            <a:off x="3286125" y="2621903"/>
            <a:ext cx="5619750" cy="2628900"/>
          </a:xfrm>
          <a:prstGeom prst="rect">
            <a:avLst/>
          </a:prstGeom>
        </p:spPr>
      </p:pic>
    </p:spTree>
    <p:extLst>
      <p:ext uri="{BB962C8B-B14F-4D97-AF65-F5344CB8AC3E}">
        <p14:creationId xmlns:p14="http://schemas.microsoft.com/office/powerpoint/2010/main" val="3721781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QoS Class for a Pod :</a:t>
            </a:r>
            <a:endParaRPr lang="en-US" altLang="ko-KR" sz="1400" dirty="0"/>
          </a:p>
          <a:p>
            <a:pPr lvl="1">
              <a:buFont typeface="Wingdings" panose="05000000000000000000" pitchFamily="2" charset="2"/>
              <a:buChar char="§"/>
            </a:pPr>
            <a:r>
              <a:rPr lang="en-US" altLang="ko-KR" sz="1400" dirty="0"/>
              <a:t>The following table shows </a:t>
            </a:r>
            <a:r>
              <a:rPr lang="en-US" altLang="ko-KR" sz="1400" b="1" dirty="0"/>
              <a:t>the QoS class based on how resource requests and limits are defined on a single container</a:t>
            </a:r>
            <a:r>
              <a:rPr lang="en-US" altLang="ko-KR" sz="1400" dirty="0"/>
              <a:t>. </a:t>
            </a:r>
            <a:r>
              <a:rPr lang="en-US" altLang="ko-KR" sz="1400" b="1" dirty="0"/>
              <a:t>For single-container pods, the QoS class applies to the pod as well</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only </a:t>
            </a:r>
            <a:r>
              <a:rPr lang="en-US" altLang="ko-KR" sz="1400" b="1" dirty="0">
                <a:solidFill>
                  <a:srgbClr val="FF0000"/>
                </a:solidFill>
              </a:rPr>
              <a:t>requests</a:t>
            </a:r>
            <a:r>
              <a:rPr lang="en-US" altLang="ko-KR" sz="1400" b="1" dirty="0"/>
              <a:t> are set, but not </a:t>
            </a:r>
            <a:r>
              <a:rPr lang="en-US" altLang="ko-KR" sz="1400" b="1" dirty="0">
                <a:solidFill>
                  <a:srgbClr val="FF0000"/>
                </a:solidFill>
              </a:rPr>
              <a:t>limits</a:t>
            </a:r>
            <a:r>
              <a:rPr lang="en-US" altLang="ko-KR" sz="1400" b="1" dirty="0"/>
              <a:t>, refer to the table rows where requests are less than the limits. If only limits are set, requests default to the limits, so refer to the rows where requests equal limits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F2ACD3D0-0A10-6CD7-0E90-8B0EF219AB0C}"/>
              </a:ext>
            </a:extLst>
          </p:cNvPr>
          <p:cNvGrpSpPr/>
          <p:nvPr/>
        </p:nvGrpSpPr>
        <p:grpSpPr>
          <a:xfrm>
            <a:off x="3205316" y="2037908"/>
            <a:ext cx="5781368" cy="2231923"/>
            <a:chOff x="3205316" y="2037908"/>
            <a:chExt cx="5781368" cy="2231923"/>
          </a:xfrm>
        </p:grpSpPr>
        <p:grpSp>
          <p:nvGrpSpPr>
            <p:cNvPr id="11" name="그룹 10">
              <a:extLst>
                <a:ext uri="{FF2B5EF4-FFF2-40B4-BE49-F238E27FC236}">
                  <a16:creationId xmlns:a16="http://schemas.microsoft.com/office/drawing/2014/main" id="{330B499A-50AA-B277-7ED0-964B560D74C5}"/>
                </a:ext>
              </a:extLst>
            </p:cNvPr>
            <p:cNvGrpSpPr/>
            <p:nvPr/>
          </p:nvGrpSpPr>
          <p:grpSpPr>
            <a:xfrm>
              <a:off x="3205316" y="2037908"/>
              <a:ext cx="5781368" cy="2231923"/>
              <a:chOff x="3205316" y="2037908"/>
              <a:chExt cx="5781368" cy="2231923"/>
            </a:xfrm>
          </p:grpSpPr>
          <p:pic>
            <p:nvPicPr>
              <p:cNvPr id="8" name="그림 7">
                <a:extLst>
                  <a:ext uri="{FF2B5EF4-FFF2-40B4-BE49-F238E27FC236}">
                    <a16:creationId xmlns:a16="http://schemas.microsoft.com/office/drawing/2014/main" id="{F7EB8F39-3012-EE3D-AF72-02C6079FEEC9}"/>
                  </a:ext>
                </a:extLst>
              </p:cNvPr>
              <p:cNvPicPr>
                <a:picLocks noChangeAspect="1"/>
              </p:cNvPicPr>
              <p:nvPr/>
            </p:nvPicPr>
            <p:blipFill>
              <a:blip r:embed="rId2"/>
              <a:stretch>
                <a:fillRect/>
              </a:stretch>
            </p:blipFill>
            <p:spPr>
              <a:xfrm>
                <a:off x="3205316" y="2037908"/>
                <a:ext cx="5781368" cy="2231923"/>
              </a:xfrm>
              <a:prstGeom prst="rect">
                <a:avLst/>
              </a:prstGeom>
            </p:spPr>
          </p:pic>
          <p:sp>
            <p:nvSpPr>
              <p:cNvPr id="9" name="직사각형 8">
                <a:extLst>
                  <a:ext uri="{FF2B5EF4-FFF2-40B4-BE49-F238E27FC236}">
                    <a16:creationId xmlns:a16="http://schemas.microsoft.com/office/drawing/2014/main" id="{0CA51730-C3F9-B500-D3FB-8B5143EA958B}"/>
                  </a:ext>
                </a:extLst>
              </p:cNvPr>
              <p:cNvSpPr/>
              <p:nvPr/>
            </p:nvSpPr>
            <p:spPr>
              <a:xfrm>
                <a:off x="3253868" y="2411426"/>
                <a:ext cx="5631187" cy="2286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2" name="직사각형 11">
              <a:extLst>
                <a:ext uri="{FF2B5EF4-FFF2-40B4-BE49-F238E27FC236}">
                  <a16:creationId xmlns:a16="http://schemas.microsoft.com/office/drawing/2014/main" id="{45788258-276D-30E2-61D8-AC13465D76E6}"/>
                </a:ext>
              </a:extLst>
            </p:cNvPr>
            <p:cNvSpPr/>
            <p:nvPr/>
          </p:nvSpPr>
          <p:spPr>
            <a:xfrm>
              <a:off x="3253867" y="3981181"/>
              <a:ext cx="5631187" cy="2286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96035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QoS Class for a Pod :</a:t>
            </a:r>
            <a:endParaRPr lang="en-US" altLang="ko-KR" sz="1400" dirty="0"/>
          </a:p>
          <a:p>
            <a:pPr lvl="1">
              <a:buFont typeface="Wingdings" panose="05000000000000000000" pitchFamily="2" charset="2"/>
              <a:buChar char="§"/>
            </a:pPr>
            <a:r>
              <a:rPr lang="en-US" altLang="ko-KR" sz="1400" b="1" dirty="0"/>
              <a:t>For multi-container pods, if all the containers have the same QoS class, that’s also the pod’s QoS class</a:t>
            </a:r>
            <a:r>
              <a:rPr lang="en-US" altLang="ko-KR" sz="1400" dirty="0"/>
              <a:t>. </a:t>
            </a:r>
            <a:r>
              <a:rPr lang="en-US" altLang="ko-KR" sz="1400" b="1" dirty="0"/>
              <a:t>If at least one container has </a:t>
            </a:r>
            <a:r>
              <a:rPr lang="en-US" altLang="ko-KR" sz="1400" b="1" dirty="0">
                <a:solidFill>
                  <a:srgbClr val="FF0000"/>
                </a:solidFill>
              </a:rPr>
              <a:t>a different class</a:t>
            </a:r>
            <a:r>
              <a:rPr lang="en-US" altLang="ko-KR" sz="1400" b="1" dirty="0"/>
              <a:t>, the pod’s QoS class is </a:t>
            </a:r>
            <a:r>
              <a:rPr lang="en-US" altLang="ko-KR" sz="1400" b="1" dirty="0">
                <a:solidFill>
                  <a:srgbClr val="FF0000"/>
                </a:solidFill>
              </a:rPr>
              <a:t>Burstable</a:t>
            </a:r>
            <a:r>
              <a:rPr lang="en-US" altLang="ko-KR" sz="1400" b="1" dirty="0"/>
              <a:t>, regardless of what the container classes are</a:t>
            </a:r>
            <a:r>
              <a:rPr lang="en-US" altLang="ko-KR" sz="1400" dirty="0"/>
              <a:t>. The following table shows how a two-container pod’s QoS class relates to the classes of its two containers. You can easily extend this to pods with more than two containers.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 pod’s QoS class is shown when running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pod</a:t>
            </a:r>
            <a:r>
              <a:rPr lang="en-US" altLang="ko-KR" sz="1400" b="1" dirty="0"/>
              <a:t>” command and in the pod’s YAML/JSON manifest in the “</a:t>
            </a:r>
            <a:r>
              <a:rPr lang="en-US" altLang="ko-KR" sz="1400" b="1" dirty="0" err="1">
                <a:solidFill>
                  <a:srgbClr val="FF0000"/>
                </a:solidFill>
              </a:rPr>
              <a:t>status.qosClass</a:t>
            </a:r>
            <a:r>
              <a:rPr lang="en-US" altLang="ko-KR" sz="1400" b="1" dirty="0"/>
              <a:t>” field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D702D34E-2671-C349-FE16-8FC95674BF3B}"/>
              </a:ext>
            </a:extLst>
          </p:cNvPr>
          <p:cNvGrpSpPr/>
          <p:nvPr/>
        </p:nvGrpSpPr>
        <p:grpSpPr>
          <a:xfrm>
            <a:off x="3244645" y="2613408"/>
            <a:ext cx="5702710" cy="1956619"/>
            <a:chOff x="3244645" y="2613408"/>
            <a:chExt cx="5702710" cy="1956619"/>
          </a:xfrm>
        </p:grpSpPr>
        <p:pic>
          <p:nvPicPr>
            <p:cNvPr id="8" name="그림 7">
              <a:extLst>
                <a:ext uri="{FF2B5EF4-FFF2-40B4-BE49-F238E27FC236}">
                  <a16:creationId xmlns:a16="http://schemas.microsoft.com/office/drawing/2014/main" id="{22DA6983-B64D-C848-DC72-C8525C0414D3}"/>
                </a:ext>
              </a:extLst>
            </p:cNvPr>
            <p:cNvPicPr>
              <a:picLocks noChangeAspect="1"/>
            </p:cNvPicPr>
            <p:nvPr/>
          </p:nvPicPr>
          <p:blipFill>
            <a:blip r:embed="rId2"/>
            <a:stretch>
              <a:fillRect/>
            </a:stretch>
          </p:blipFill>
          <p:spPr>
            <a:xfrm>
              <a:off x="3244645" y="2613408"/>
              <a:ext cx="5702710" cy="1956619"/>
            </a:xfrm>
            <a:prstGeom prst="rect">
              <a:avLst/>
            </a:prstGeom>
          </p:spPr>
        </p:pic>
        <p:sp>
          <p:nvSpPr>
            <p:cNvPr id="9" name="직사각형 8">
              <a:extLst>
                <a:ext uri="{FF2B5EF4-FFF2-40B4-BE49-F238E27FC236}">
                  <a16:creationId xmlns:a16="http://schemas.microsoft.com/office/drawing/2014/main" id="{A488B72D-511F-BA87-9E81-CF3AC96B3732}"/>
                </a:ext>
              </a:extLst>
            </p:cNvPr>
            <p:cNvSpPr/>
            <p:nvPr/>
          </p:nvSpPr>
          <p:spPr>
            <a:xfrm>
              <a:off x="3277013" y="3002145"/>
              <a:ext cx="5608042"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9D65EC4-C490-4E9C-48DC-EA5D5C4C7B01}"/>
                </a:ext>
              </a:extLst>
            </p:cNvPr>
            <p:cNvSpPr/>
            <p:nvPr/>
          </p:nvSpPr>
          <p:spPr>
            <a:xfrm>
              <a:off x="3277013" y="4282086"/>
              <a:ext cx="5608042"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94684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Which Process Gets Killed When Memory Is Low :</a:t>
            </a:r>
            <a:endParaRPr lang="en-US" altLang="ko-KR" sz="1400" dirty="0"/>
          </a:p>
          <a:p>
            <a:pPr lvl="1">
              <a:buFont typeface="Wingdings" panose="05000000000000000000" pitchFamily="2" charset="2"/>
              <a:buChar char="§"/>
            </a:pPr>
            <a:r>
              <a:rPr lang="en-US" altLang="ko-KR" sz="1400" b="1" dirty="0"/>
              <a:t>When the system is overcommitted, the QoS classes determine which container gets killed first so the freed resources can be given to higher priority pods</a:t>
            </a:r>
            <a:r>
              <a:rPr lang="en-US" altLang="ko-KR" sz="1400" dirty="0"/>
              <a:t>. First in line to get killed are pods in the </a:t>
            </a:r>
            <a:r>
              <a:rPr lang="en-US" altLang="ko-KR" sz="1400" b="1" dirty="0" err="1"/>
              <a:t>BestEffort</a:t>
            </a:r>
            <a:r>
              <a:rPr lang="en-US" altLang="ko-KR" sz="1400" dirty="0"/>
              <a:t> class, followed by </a:t>
            </a:r>
            <a:r>
              <a:rPr lang="en-US" altLang="ko-KR" sz="1400" b="1" dirty="0"/>
              <a:t>Burstable</a:t>
            </a:r>
            <a:r>
              <a:rPr lang="en-US" altLang="ko-KR" sz="1400" dirty="0"/>
              <a:t> pods, and finally </a:t>
            </a:r>
            <a:r>
              <a:rPr lang="en-US" altLang="ko-KR" sz="1400" b="1" dirty="0"/>
              <a:t>Guaranteed</a:t>
            </a:r>
            <a:r>
              <a:rPr lang="en-US" altLang="ko-KR" sz="1400" dirty="0"/>
              <a:t> pods, </a:t>
            </a:r>
            <a:r>
              <a:rPr lang="en-US" altLang="ko-KR" sz="1400" b="1" dirty="0"/>
              <a:t>which only get killed if </a:t>
            </a:r>
            <a:r>
              <a:rPr lang="en-US" altLang="ko-KR" sz="1400" b="1" dirty="0">
                <a:solidFill>
                  <a:srgbClr val="FF0000"/>
                </a:solidFill>
              </a:rPr>
              <a:t>system processes </a:t>
            </a:r>
            <a:r>
              <a:rPr lang="en-US" altLang="ko-KR" sz="1400" b="1" dirty="0"/>
              <a:t>need memory</a:t>
            </a:r>
            <a:r>
              <a:rPr lang="en-US" altLang="ko-KR" sz="1400" dirty="0"/>
              <a:t>.</a:t>
            </a:r>
          </a:p>
          <a:p>
            <a:pPr lvl="1">
              <a:buFont typeface="Wingdings" panose="05000000000000000000" pitchFamily="2" charset="2"/>
              <a:buChar char="§"/>
            </a:pPr>
            <a:r>
              <a:rPr lang="en-US" altLang="ko-KR" sz="1400" dirty="0"/>
              <a:t>Let’s look at the example shown in the following figure. Imagine having </a:t>
            </a:r>
            <a:r>
              <a:rPr lang="en-US" altLang="ko-KR" sz="1400" b="1" dirty="0"/>
              <a:t>two single-container pods</a:t>
            </a:r>
            <a:r>
              <a:rPr lang="en-US" altLang="ko-KR" sz="1400" dirty="0"/>
              <a:t>, where the first one has the </a:t>
            </a:r>
            <a:r>
              <a:rPr lang="en-US" altLang="ko-KR" sz="1400" b="1" dirty="0" err="1"/>
              <a:t>BestEffort</a:t>
            </a:r>
            <a:r>
              <a:rPr lang="en-US" altLang="ko-KR" sz="1400" b="1" dirty="0"/>
              <a:t> QoS class</a:t>
            </a:r>
            <a:r>
              <a:rPr lang="en-US" altLang="ko-KR" sz="1400" dirty="0"/>
              <a:t>, and the second one’s is </a:t>
            </a:r>
            <a:r>
              <a:rPr lang="en-US" altLang="ko-KR" sz="1400" b="1" dirty="0"/>
              <a:t>Burstable</a:t>
            </a:r>
            <a:r>
              <a:rPr lang="en-US" altLang="ko-KR" sz="1400" dirty="0"/>
              <a:t>. When the node’s whole memory is already maxed out and one of the processes on the node tries to allocate more memory, </a:t>
            </a:r>
            <a:r>
              <a:rPr lang="en-US" altLang="ko-KR" sz="1400" b="1" dirty="0"/>
              <a:t>the system will need to kill one of the processes (perhaps even the process trying to allocate additional memory) to honor the allocation request</a:t>
            </a:r>
            <a:r>
              <a:rPr lang="en-US" altLang="ko-KR" sz="1400" dirty="0"/>
              <a:t>. In this case, the process running in the </a:t>
            </a:r>
            <a:r>
              <a:rPr lang="en-US" altLang="ko-KR" sz="1400" b="1" dirty="0" err="1">
                <a:solidFill>
                  <a:srgbClr val="FF0000"/>
                </a:solidFill>
              </a:rPr>
              <a:t>BestEffort</a:t>
            </a:r>
            <a:r>
              <a:rPr lang="en-US" altLang="ko-KR" sz="1400" b="1" dirty="0"/>
              <a:t> </a:t>
            </a:r>
            <a:r>
              <a:rPr lang="en-US" altLang="ko-KR" sz="1400" b="1" dirty="0">
                <a:solidFill>
                  <a:srgbClr val="FF0000"/>
                </a:solidFill>
              </a:rPr>
              <a:t>pod will always be killed before the one in the Burstable pod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Obviously, a </a:t>
            </a:r>
            <a:r>
              <a:rPr lang="en-US" altLang="ko-KR" sz="1400" b="1" dirty="0" err="1">
                <a:solidFill>
                  <a:srgbClr val="FF0000"/>
                </a:solidFill>
              </a:rPr>
              <a:t>BestEffort</a:t>
            </a:r>
            <a:r>
              <a:rPr lang="en-US" altLang="ko-KR" sz="1400" b="1" dirty="0">
                <a:solidFill>
                  <a:srgbClr val="FF0000"/>
                </a:solidFill>
              </a:rPr>
              <a:t> pod’s process will also be killed before any Guaranteed pods’ processes are killed</a:t>
            </a:r>
            <a:r>
              <a:rPr lang="en-US" altLang="ko-KR" sz="1400" dirty="0"/>
              <a:t>. </a:t>
            </a:r>
            <a:r>
              <a:rPr lang="en-US" altLang="ko-KR" sz="1400" b="1" dirty="0"/>
              <a:t>Likewise, a Burstable pod’s process will also be killed before that of a Guaranteed pod</a:t>
            </a:r>
            <a:r>
              <a:rPr lang="en-US" altLang="ko-KR" sz="1400" dirty="0"/>
              <a:t>. But what happens if there are only two Burstable pods? Clearly, the selection process needs to prefer one over the other.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6675ADD-1AE4-26F2-DBF2-7387252D0AF7}"/>
              </a:ext>
            </a:extLst>
          </p:cNvPr>
          <p:cNvGrpSpPr/>
          <p:nvPr/>
        </p:nvGrpSpPr>
        <p:grpSpPr>
          <a:xfrm>
            <a:off x="3264309" y="2895273"/>
            <a:ext cx="5663381" cy="2556387"/>
            <a:chOff x="3264309" y="2895273"/>
            <a:chExt cx="5663381" cy="2556387"/>
          </a:xfrm>
        </p:grpSpPr>
        <p:pic>
          <p:nvPicPr>
            <p:cNvPr id="8" name="그림 7">
              <a:extLst>
                <a:ext uri="{FF2B5EF4-FFF2-40B4-BE49-F238E27FC236}">
                  <a16:creationId xmlns:a16="http://schemas.microsoft.com/office/drawing/2014/main" id="{01BD7062-EA75-5FF1-720F-0FB43E79EC1E}"/>
                </a:ext>
              </a:extLst>
            </p:cNvPr>
            <p:cNvPicPr>
              <a:picLocks noChangeAspect="1"/>
            </p:cNvPicPr>
            <p:nvPr/>
          </p:nvPicPr>
          <p:blipFill>
            <a:blip r:embed="rId2"/>
            <a:stretch>
              <a:fillRect/>
            </a:stretch>
          </p:blipFill>
          <p:spPr>
            <a:xfrm>
              <a:off x="3264309" y="2895273"/>
              <a:ext cx="5663381" cy="2556387"/>
            </a:xfrm>
            <a:prstGeom prst="rect">
              <a:avLst/>
            </a:prstGeom>
          </p:spPr>
        </p:pic>
        <p:sp>
          <p:nvSpPr>
            <p:cNvPr id="9" name="직사각형 8">
              <a:extLst>
                <a:ext uri="{FF2B5EF4-FFF2-40B4-BE49-F238E27FC236}">
                  <a16:creationId xmlns:a16="http://schemas.microsoft.com/office/drawing/2014/main" id="{048B618F-ED5A-9ADF-C5F8-6DC1EA7B0BC3}"/>
                </a:ext>
              </a:extLst>
            </p:cNvPr>
            <p:cNvSpPr/>
            <p:nvPr/>
          </p:nvSpPr>
          <p:spPr>
            <a:xfrm>
              <a:off x="4911865" y="4110754"/>
              <a:ext cx="275130" cy="6554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077D4FE5-F012-3381-1999-998F2402EF3C}"/>
                </a:ext>
              </a:extLst>
            </p:cNvPr>
            <p:cNvSpPr/>
            <p:nvPr/>
          </p:nvSpPr>
          <p:spPr>
            <a:xfrm>
              <a:off x="6344156" y="3854953"/>
              <a:ext cx="275130" cy="9112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40972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Pod QoS Classes(7/7)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Which Process Gets Killed When Memory Is Low :</a:t>
            </a:r>
            <a:endParaRPr lang="en-US" altLang="ko-KR" sz="1400" dirty="0"/>
          </a:p>
          <a:p>
            <a:pPr lvl="1">
              <a:buFont typeface="Wingdings" panose="05000000000000000000" pitchFamily="2" charset="2"/>
              <a:buChar char="§"/>
            </a:pPr>
            <a:r>
              <a:rPr lang="en-US" altLang="ko-KR" sz="1400" b="1" dirty="0"/>
              <a:t>Each running process has an </a:t>
            </a:r>
            <a:r>
              <a:rPr lang="en-US" altLang="ko-KR" sz="1400" b="1" dirty="0" err="1">
                <a:solidFill>
                  <a:srgbClr val="FF0000"/>
                </a:solidFill>
              </a:rPr>
              <a:t>OutOfMemory</a:t>
            </a:r>
            <a:r>
              <a:rPr lang="en-US" altLang="ko-KR" sz="1400" b="1" dirty="0">
                <a:solidFill>
                  <a:srgbClr val="FF0000"/>
                </a:solidFill>
              </a:rPr>
              <a:t> (OOM) score</a:t>
            </a:r>
            <a:r>
              <a:rPr lang="en-US" altLang="ko-KR" sz="1400" dirty="0"/>
              <a:t>. </a:t>
            </a:r>
            <a:r>
              <a:rPr lang="en-US" altLang="ko-KR" sz="1400" b="1" dirty="0"/>
              <a:t>The system selects the process to kill by comparing OOM scores of all the running processes</a:t>
            </a:r>
            <a:r>
              <a:rPr lang="en-US" altLang="ko-KR" sz="1400" dirty="0"/>
              <a:t>. </a:t>
            </a:r>
            <a:r>
              <a:rPr lang="en-US" altLang="ko-KR" sz="1400" b="1" dirty="0"/>
              <a:t>When memory needs to be freed, the process with the highest score gets killed</a:t>
            </a:r>
            <a:r>
              <a:rPr lang="en-US" altLang="ko-KR" sz="1400" dirty="0"/>
              <a:t>. </a:t>
            </a:r>
          </a:p>
          <a:p>
            <a:pPr lvl="1">
              <a:buFont typeface="Wingdings" panose="05000000000000000000" pitchFamily="2" charset="2"/>
              <a:buChar char="§"/>
            </a:pPr>
            <a:r>
              <a:rPr lang="en-US" altLang="ko-KR" sz="1400" b="1" dirty="0"/>
              <a:t>OOM scores are calculated from two things : the percentage of </a:t>
            </a:r>
            <a:r>
              <a:rPr lang="en-US" altLang="ko-KR" sz="1400" b="1" dirty="0">
                <a:solidFill>
                  <a:srgbClr val="FF0000"/>
                </a:solidFill>
              </a:rPr>
              <a:t>the available memory the process is consuming</a:t>
            </a:r>
            <a:r>
              <a:rPr lang="en-US" altLang="ko-KR" sz="1400" b="1" dirty="0"/>
              <a:t> and </a:t>
            </a:r>
            <a:r>
              <a:rPr lang="en-US" altLang="ko-KR" sz="1400" b="1" dirty="0">
                <a:solidFill>
                  <a:srgbClr val="FF0000"/>
                </a:solidFill>
              </a:rPr>
              <a:t>a fixed OOM score adjustment</a:t>
            </a:r>
            <a:r>
              <a:rPr lang="en-US" altLang="ko-KR" sz="1400" dirty="0"/>
              <a:t>, which is based on </a:t>
            </a:r>
            <a:r>
              <a:rPr lang="en-US" altLang="ko-KR" sz="1400" b="1" dirty="0"/>
              <a:t>the pod’s QoS class</a:t>
            </a:r>
            <a:r>
              <a:rPr lang="en-US" altLang="ko-KR" sz="1400" dirty="0"/>
              <a:t> and </a:t>
            </a:r>
            <a:r>
              <a:rPr lang="en-US" altLang="ko-KR" sz="1400" b="1" dirty="0"/>
              <a:t>the container’s requested memory</a:t>
            </a:r>
            <a:r>
              <a:rPr lang="en-US" altLang="ko-KR" sz="1400" dirty="0"/>
              <a:t>. When two single-container pods exist, both in the Burstable class, the system will kill the one using more of its requested memory than the other, percentage-wise. That’s why in the previous figure, pod B, using 90% of its requested memory, gets killed before pod C, which is only using 70%, even though it’s using more megabytes of memory than pod B.</a:t>
            </a:r>
          </a:p>
          <a:p>
            <a:pPr lvl="1">
              <a:buFont typeface="Wingdings" panose="05000000000000000000" pitchFamily="2" charset="2"/>
              <a:buChar char="§"/>
            </a:pPr>
            <a:r>
              <a:rPr lang="en-US" altLang="ko-KR" sz="1400" b="1" dirty="0"/>
              <a:t>This shows you need to be mindful of not only the relationship between requests and limits, but also of requests and the expected actual memory consumption</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C343BE1-3593-697B-82E0-6CA16B9D4808}"/>
              </a:ext>
            </a:extLst>
          </p:cNvPr>
          <p:cNvPicPr>
            <a:picLocks noChangeAspect="1"/>
          </p:cNvPicPr>
          <p:nvPr/>
        </p:nvPicPr>
        <p:blipFill>
          <a:blip r:embed="rId2"/>
          <a:stretch>
            <a:fillRect/>
          </a:stretch>
        </p:blipFill>
        <p:spPr>
          <a:xfrm>
            <a:off x="3061424" y="3858185"/>
            <a:ext cx="6069152" cy="2185720"/>
          </a:xfrm>
          <a:prstGeom prst="rect">
            <a:avLst/>
          </a:prstGeom>
        </p:spPr>
      </p:pic>
    </p:spTree>
    <p:extLst>
      <p:ext uri="{BB962C8B-B14F-4D97-AF65-F5344CB8AC3E}">
        <p14:creationId xmlns:p14="http://schemas.microsoft.com/office/powerpoint/2010/main" val="3225839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LimitRange</a:t>
            </a:r>
            <a:r>
              <a:rPr lang="en-US" altLang="ko-KR" sz="1800" b="1" dirty="0"/>
              <a:t> Resource :</a:t>
            </a:r>
            <a:endParaRPr lang="en-US" altLang="ko-KR" sz="1400" dirty="0"/>
          </a:p>
          <a:p>
            <a:pPr lvl="1">
              <a:buFont typeface="Wingdings" panose="05000000000000000000" pitchFamily="2" charset="2"/>
              <a:buChar char="§"/>
            </a:pPr>
            <a:r>
              <a:rPr lang="en-US" altLang="ko-KR" sz="1400" b="1" dirty="0"/>
              <a:t>We’ve looked at how resource requests and limits can be set for each individual container. If you don’t set them, the container is at the mercy of all other containers that do specify resource requests and limits</a:t>
            </a:r>
            <a:r>
              <a:rPr lang="en-US" altLang="ko-KR" sz="1400" dirty="0"/>
              <a:t>. </a:t>
            </a:r>
            <a:r>
              <a:rPr lang="en-US" altLang="ko-KR" sz="1400" b="1" dirty="0">
                <a:solidFill>
                  <a:srgbClr val="FF0000"/>
                </a:solidFill>
              </a:rPr>
              <a:t>It’s a good idea to set requests and limits on every container</a:t>
            </a:r>
            <a:r>
              <a:rPr lang="en-US" altLang="ko-KR" sz="1400" dirty="0"/>
              <a:t>.</a:t>
            </a:r>
          </a:p>
          <a:p>
            <a:pPr lvl="1">
              <a:buFont typeface="Wingdings" panose="05000000000000000000" pitchFamily="2" charset="2"/>
              <a:buChar char="§"/>
            </a:pPr>
            <a:r>
              <a:rPr lang="en-US" altLang="ko-KR" sz="1400" b="1" dirty="0"/>
              <a:t>Instead of having to do this for every container, you can also do it by creating a “</a:t>
            </a:r>
            <a:r>
              <a:rPr lang="en-US" altLang="ko-KR" sz="1400" b="1" dirty="0" err="1">
                <a:solidFill>
                  <a:srgbClr val="FF0000"/>
                </a:solidFill>
              </a:rPr>
              <a:t>LimitRange</a:t>
            </a:r>
            <a:r>
              <a:rPr lang="en-US" altLang="ko-KR" sz="1400" b="1" dirty="0"/>
              <a:t>“ resource</a:t>
            </a:r>
            <a:r>
              <a:rPr lang="en-US" altLang="ko-KR" sz="1400" dirty="0"/>
              <a:t>. </a:t>
            </a:r>
            <a:r>
              <a:rPr lang="en-US" altLang="ko-KR" sz="1400" b="1" dirty="0"/>
              <a:t>It allows you to specify (for each namespace) not only the minimum and maximum limit you can set on a container for each resource, but also the default resource requests for containers that don’t specify requests explicitly</a:t>
            </a:r>
            <a:r>
              <a:rPr lang="en-US" altLang="ko-KR" sz="1400" dirty="0"/>
              <a:t>, as depicted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5557669-4FB3-7C41-2C4A-18D13DA6CE77}"/>
              </a:ext>
            </a:extLst>
          </p:cNvPr>
          <p:cNvPicPr>
            <a:picLocks noChangeAspect="1"/>
          </p:cNvPicPr>
          <p:nvPr/>
        </p:nvPicPr>
        <p:blipFill>
          <a:blip r:embed="rId2"/>
          <a:stretch>
            <a:fillRect/>
          </a:stretch>
        </p:blipFill>
        <p:spPr>
          <a:xfrm>
            <a:off x="3555710" y="2642093"/>
            <a:ext cx="5080580" cy="3766937"/>
          </a:xfrm>
          <a:prstGeom prst="rect">
            <a:avLst/>
          </a:prstGeom>
        </p:spPr>
      </p:pic>
    </p:spTree>
    <p:extLst>
      <p:ext uri="{BB962C8B-B14F-4D97-AF65-F5344CB8AC3E}">
        <p14:creationId xmlns:p14="http://schemas.microsoft.com/office/powerpoint/2010/main" val="1898866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LimitRange</a:t>
            </a:r>
            <a:r>
              <a:rPr lang="en-US" altLang="ko-KR" sz="1800" b="1" dirty="0"/>
              <a:t> Resource :</a:t>
            </a:r>
            <a:endParaRPr lang="en-US" altLang="ko-KR" sz="1400" dirty="0"/>
          </a:p>
          <a:p>
            <a:pPr lvl="1">
              <a:buFont typeface="Wingdings" panose="05000000000000000000" pitchFamily="2" charset="2"/>
              <a:buChar char="§"/>
            </a:pPr>
            <a:r>
              <a:rPr lang="en-US" altLang="ko-KR" sz="1400" b="1" dirty="0" err="1"/>
              <a:t>LimitRange</a:t>
            </a:r>
            <a:r>
              <a:rPr lang="en-US" altLang="ko-KR" sz="1400" b="1" dirty="0"/>
              <a:t> resources are used by the “</a:t>
            </a:r>
            <a:r>
              <a:rPr lang="en-US" altLang="ko-KR" sz="1400" b="1" dirty="0" err="1">
                <a:solidFill>
                  <a:srgbClr val="FF0000"/>
                </a:solidFill>
              </a:rPr>
              <a:t>LimitRanger</a:t>
            </a:r>
            <a:r>
              <a:rPr lang="en-US" altLang="ko-KR" sz="1400" b="1" dirty="0">
                <a:solidFill>
                  <a:srgbClr val="FF0000"/>
                </a:solidFill>
              </a:rPr>
              <a:t> Admission Control</a:t>
            </a:r>
            <a:r>
              <a:rPr lang="en-US" altLang="ko-KR" sz="1400" b="1" dirty="0"/>
              <a:t>” plugin</a:t>
            </a:r>
            <a:r>
              <a:rPr lang="en-US" altLang="ko-KR" sz="1400" dirty="0"/>
              <a:t>. </a:t>
            </a:r>
            <a:r>
              <a:rPr lang="en-US" altLang="ko-KR" sz="1400" b="1" dirty="0"/>
              <a:t>When a pod manifest is posted to the API server, the </a:t>
            </a:r>
            <a:r>
              <a:rPr lang="en-US" altLang="ko-KR" sz="1400" b="1" dirty="0" err="1"/>
              <a:t>LimitRanger</a:t>
            </a:r>
            <a:r>
              <a:rPr lang="en-US" altLang="ko-KR" sz="1400" b="1" dirty="0"/>
              <a:t> plugin validates the pod spec</a:t>
            </a:r>
            <a:r>
              <a:rPr lang="en-US" altLang="ko-KR" sz="1400" dirty="0"/>
              <a:t>. If validation fails, the manifest is rejected immediately. Because of this, a great use-case for </a:t>
            </a:r>
            <a:r>
              <a:rPr lang="en-US" altLang="ko-KR" sz="1400" dirty="0" err="1"/>
              <a:t>LimitRange</a:t>
            </a:r>
            <a:r>
              <a:rPr lang="en-US" altLang="ko-KR" sz="1400" dirty="0"/>
              <a:t> objects is to prevent users from creating pods that are bigger than any node in the cluster. </a:t>
            </a:r>
            <a:r>
              <a:rPr lang="en-US" altLang="ko-KR" sz="1400" b="1" dirty="0"/>
              <a:t>Without such a </a:t>
            </a:r>
            <a:r>
              <a:rPr lang="en-US" altLang="ko-KR" sz="1400" b="1" dirty="0" err="1"/>
              <a:t>LimitRange</a:t>
            </a:r>
            <a:r>
              <a:rPr lang="en-US" altLang="ko-KR" sz="1400" b="1" dirty="0"/>
              <a:t>, the API server will gladly accept the pod, but then never schedule it</a:t>
            </a:r>
            <a:r>
              <a:rPr lang="en-US" altLang="ko-KR" sz="1400" dirty="0"/>
              <a:t>.</a:t>
            </a:r>
          </a:p>
          <a:p>
            <a:pPr lvl="1">
              <a:buFont typeface="Wingdings" panose="05000000000000000000" pitchFamily="2" charset="2"/>
              <a:buChar char="§"/>
            </a:pPr>
            <a:r>
              <a:rPr lang="en-US" altLang="ko-KR" sz="1400" b="1" dirty="0"/>
              <a:t>The limits specified in a </a:t>
            </a:r>
            <a:r>
              <a:rPr lang="en-US" altLang="ko-KR" sz="1400" b="1" dirty="0" err="1"/>
              <a:t>LimitRange</a:t>
            </a:r>
            <a:r>
              <a:rPr lang="en-US" altLang="ko-KR" sz="1400" b="1" dirty="0"/>
              <a:t> resource apply to each individual pod/container or other kind of object created in the same namespace as the </a:t>
            </a:r>
            <a:r>
              <a:rPr lang="en-US" altLang="ko-KR" sz="1400" b="1" dirty="0" err="1"/>
              <a:t>LimitRange</a:t>
            </a:r>
            <a:r>
              <a:rPr lang="en-US" altLang="ko-KR" sz="1400" b="1" dirty="0"/>
              <a:t> object</a:t>
            </a:r>
            <a:r>
              <a:rPr lang="en-US" altLang="ko-KR" sz="1400" dirty="0"/>
              <a:t>. </a:t>
            </a:r>
            <a:r>
              <a:rPr lang="en-US" altLang="ko-KR" sz="1400" b="1" dirty="0"/>
              <a:t>They don’t limit the total amount of resources available across all the pods in the namespace. This is specified through “</a:t>
            </a:r>
            <a:r>
              <a:rPr lang="en-US" altLang="ko-KR" sz="1400" b="1" dirty="0" err="1">
                <a:solidFill>
                  <a:srgbClr val="FF0000"/>
                </a:solidFill>
              </a:rPr>
              <a:t>ResourceQuota</a:t>
            </a:r>
            <a:r>
              <a:rPr lang="en-US" altLang="ko-KR" sz="1400" b="1" dirty="0"/>
              <a:t>” objects</a:t>
            </a:r>
            <a:r>
              <a:rPr lang="en-US" altLang="ko-KR" sz="1400" dirty="0"/>
              <a:t>.</a:t>
            </a:r>
          </a:p>
          <a:p>
            <a:pPr lvl="1">
              <a:buFont typeface="Wingdings" panose="05000000000000000000" pitchFamily="2" charset="2"/>
              <a:buChar char="§"/>
            </a:pPr>
            <a:r>
              <a:rPr lang="en-US" altLang="ko-KR" sz="1400" dirty="0"/>
              <a:t>For more information, you can refer to </a:t>
            </a:r>
            <a:r>
              <a:rPr lang="en-US" altLang="ko-KR" sz="1400" b="1" dirty="0">
                <a:hlinkClick r:id="rId2"/>
              </a:rPr>
              <a:t>https://kubernetes.io/docs/concepts/policy/limit-range/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1E3D244-1714-451B-7BC0-B4377FBFEE04}"/>
              </a:ext>
            </a:extLst>
          </p:cNvPr>
          <p:cNvPicPr>
            <a:picLocks noChangeAspect="1"/>
          </p:cNvPicPr>
          <p:nvPr/>
        </p:nvPicPr>
        <p:blipFill>
          <a:blip r:embed="rId3"/>
          <a:stretch>
            <a:fillRect/>
          </a:stretch>
        </p:blipFill>
        <p:spPr>
          <a:xfrm>
            <a:off x="3048000" y="3290654"/>
            <a:ext cx="6096000" cy="2839625"/>
          </a:xfrm>
          <a:prstGeom prst="rect">
            <a:avLst/>
          </a:prstGeom>
        </p:spPr>
      </p:pic>
    </p:spTree>
    <p:extLst>
      <p:ext uri="{BB962C8B-B14F-4D97-AF65-F5344CB8AC3E}">
        <p14:creationId xmlns:p14="http://schemas.microsoft.com/office/powerpoint/2010/main" val="1650999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LimitRange</a:t>
            </a:r>
            <a:r>
              <a:rPr lang="en-US" altLang="ko-KR" sz="1800" b="1" dirty="0"/>
              <a:t> Object :</a:t>
            </a:r>
            <a:endParaRPr lang="en-US" altLang="ko-KR" sz="1400" dirty="0"/>
          </a:p>
          <a:p>
            <a:pPr lvl="1">
              <a:buFont typeface="Wingdings" panose="05000000000000000000" pitchFamily="2" charset="2"/>
              <a:buChar char="§"/>
            </a:pPr>
            <a:r>
              <a:rPr lang="en-US" altLang="ko-KR" sz="1400" dirty="0"/>
              <a:t>Let’s look at </a:t>
            </a:r>
            <a:r>
              <a:rPr lang="en-US" altLang="ko-KR" sz="1400" b="1" dirty="0"/>
              <a:t>a full example of a </a:t>
            </a:r>
            <a:r>
              <a:rPr lang="en-US" altLang="ko-KR" sz="1400" b="1" dirty="0" err="1"/>
              <a:t>LimitRange</a:t>
            </a:r>
            <a:r>
              <a:rPr lang="en-US" altLang="ko-KR" sz="1400" b="1" dirty="0"/>
              <a:t> </a:t>
            </a:r>
            <a:r>
              <a:rPr lang="en-US" altLang="ko-KR" sz="1400" dirty="0"/>
              <a:t>and see what the individual properties do. The following listing shows </a:t>
            </a:r>
            <a:r>
              <a:rPr lang="en-US" altLang="ko-KR" sz="1400" b="1" dirty="0"/>
              <a:t>the full definition of a </a:t>
            </a:r>
            <a:r>
              <a:rPr lang="en-US" altLang="ko-KR" sz="1400" b="1" dirty="0" err="1"/>
              <a:t>LimitRange</a:t>
            </a:r>
            <a:r>
              <a:rPr lang="en-US" altLang="ko-KR" sz="1400" b="1" dirty="0"/>
              <a:t> resource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As you can see from the above example, the minimum and maximum limits for a whole pod can be configured</a:t>
            </a:r>
            <a:r>
              <a:rPr lang="en-US" altLang="ko-KR" sz="1400" dirty="0"/>
              <a:t>. </a:t>
            </a:r>
            <a:r>
              <a:rPr lang="en-US" altLang="ko-KR" sz="1400" b="1" dirty="0"/>
              <a:t>They apply to the sum of all the pod’s containers’ requests and limits</a:t>
            </a:r>
            <a:r>
              <a:rPr lang="en-US" altLang="ko-KR" sz="1400" dirty="0"/>
              <a:t>.</a:t>
            </a:r>
          </a:p>
          <a:p>
            <a:pPr lvl="1">
              <a:buFont typeface="Wingdings" panose="05000000000000000000" pitchFamily="2" charset="2"/>
              <a:buChar char="§"/>
            </a:pPr>
            <a:r>
              <a:rPr lang="en-US" altLang="ko-KR" sz="1400" dirty="0"/>
              <a:t>Lower down, </a:t>
            </a:r>
            <a:r>
              <a:rPr lang="en-US" altLang="ko-KR" sz="1400" b="1" dirty="0"/>
              <a:t>at the container level, you can set not only the minimum and maximum</a:t>
            </a:r>
            <a:r>
              <a:rPr lang="en-US" altLang="ko-KR" sz="1400" dirty="0"/>
              <a:t>, but also </a:t>
            </a:r>
            <a:r>
              <a:rPr lang="en-US" altLang="ko-KR" sz="1400" b="1" dirty="0"/>
              <a:t>default resource requests (</a:t>
            </a:r>
            <a:r>
              <a:rPr lang="en-US" altLang="ko-KR" sz="1400" b="1" dirty="0" err="1"/>
              <a:t>defaultRequest</a:t>
            </a:r>
            <a:r>
              <a:rPr lang="en-US" altLang="ko-KR" sz="1400" b="1" dirty="0"/>
              <a:t>) and default limits (default) </a:t>
            </a:r>
            <a:r>
              <a:rPr lang="en-US" altLang="ko-KR" sz="1400" dirty="0"/>
              <a:t>that will be applied to each container that doesn’t specify them explicitly.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3E40E83C-A11D-903B-062D-4DCF8EF6E874}"/>
              </a:ext>
            </a:extLst>
          </p:cNvPr>
          <p:cNvGrpSpPr/>
          <p:nvPr/>
        </p:nvGrpSpPr>
        <p:grpSpPr>
          <a:xfrm>
            <a:off x="1263032" y="1810716"/>
            <a:ext cx="9665936" cy="2713304"/>
            <a:chOff x="1058034" y="2433802"/>
            <a:chExt cx="9665936" cy="2713304"/>
          </a:xfrm>
        </p:grpSpPr>
        <p:grpSp>
          <p:nvGrpSpPr>
            <p:cNvPr id="13" name="그룹 12">
              <a:extLst>
                <a:ext uri="{FF2B5EF4-FFF2-40B4-BE49-F238E27FC236}">
                  <a16:creationId xmlns:a16="http://schemas.microsoft.com/office/drawing/2014/main" id="{64878935-A126-73CF-42A1-76DC1C816738}"/>
                </a:ext>
              </a:extLst>
            </p:cNvPr>
            <p:cNvGrpSpPr/>
            <p:nvPr/>
          </p:nvGrpSpPr>
          <p:grpSpPr>
            <a:xfrm>
              <a:off x="1058034" y="2433802"/>
              <a:ext cx="9665936" cy="2713304"/>
              <a:chOff x="1058034" y="2433802"/>
              <a:chExt cx="9665936" cy="2713304"/>
            </a:xfrm>
          </p:grpSpPr>
          <p:sp>
            <p:nvSpPr>
              <p:cNvPr id="8" name="TextBox 7">
                <a:extLst>
                  <a:ext uri="{FF2B5EF4-FFF2-40B4-BE49-F238E27FC236}">
                    <a16:creationId xmlns:a16="http://schemas.microsoft.com/office/drawing/2014/main" id="{554219E0-3AE9-CFC2-1B11-8A1D5DD351E2}"/>
                  </a:ext>
                </a:extLst>
              </p:cNvPr>
              <p:cNvSpPr txBox="1"/>
              <p:nvPr/>
            </p:nvSpPr>
            <p:spPr>
              <a:xfrm>
                <a:off x="5891002" y="2438672"/>
                <a:ext cx="4832968" cy="2708434"/>
              </a:xfrm>
              <a:prstGeom prst="rect">
                <a:avLst/>
              </a:prstGeom>
              <a:noFill/>
              <a:ln>
                <a:solidFill>
                  <a:schemeClr val="bg1">
                    <a:lumMod val="50000"/>
                  </a:schemeClr>
                </a:solidFill>
              </a:ln>
            </p:spPr>
            <p:txBody>
              <a:bodyPr wrap="square">
                <a:spAutoFit/>
              </a:bodyPr>
              <a:lstStyle/>
              <a:p>
                <a:r>
                  <a:rPr lang="en-US" altLang="ko-KR" sz="1000" b="1" dirty="0">
                    <a:solidFill>
                      <a:srgbClr val="FF0000"/>
                    </a:solidFill>
                  </a:rPr>
                  <a:t>    default:</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200m</a:t>
                </a:r>
              </a:p>
              <a:p>
                <a:r>
                  <a:rPr lang="en-US" altLang="ko-KR" sz="1000" b="1" dirty="0">
                    <a:solidFill>
                      <a:srgbClr val="FF0000"/>
                    </a:solidFill>
                  </a:rPr>
                  <a:t>      memory: 100Mi</a:t>
                </a:r>
              </a:p>
              <a:p>
                <a:r>
                  <a:rPr lang="en-US" altLang="ko-KR" sz="1000" b="1" dirty="0"/>
                  <a:t>    min:</a:t>
                </a:r>
              </a:p>
              <a:p>
                <a:r>
                  <a:rPr lang="en-US" altLang="ko-KR" sz="1000" b="1" dirty="0"/>
                  <a:t>      </a:t>
                </a:r>
                <a:r>
                  <a:rPr lang="en-US" altLang="ko-KR" sz="1000" b="1" dirty="0" err="1"/>
                  <a:t>cpu</a:t>
                </a:r>
                <a:r>
                  <a:rPr lang="en-US" altLang="ko-KR" sz="1000" b="1" dirty="0"/>
                  <a:t>: 50m</a:t>
                </a:r>
              </a:p>
              <a:p>
                <a:r>
                  <a:rPr lang="en-US" altLang="ko-KR" sz="1000" b="1" dirty="0"/>
                  <a:t>      memory: 5Mi</a:t>
                </a:r>
              </a:p>
              <a:p>
                <a:r>
                  <a:rPr lang="en-US" altLang="ko-KR" sz="1000" b="1" dirty="0"/>
                  <a:t>    max:</a:t>
                </a:r>
              </a:p>
              <a:p>
                <a:r>
                  <a:rPr lang="en-US" altLang="ko-KR" sz="1000" b="1" dirty="0"/>
                  <a:t>      </a:t>
                </a:r>
                <a:r>
                  <a:rPr lang="en-US" altLang="ko-KR" sz="1000" b="1" dirty="0" err="1"/>
                  <a:t>cpu</a:t>
                </a:r>
                <a:r>
                  <a:rPr lang="en-US" altLang="ko-KR" sz="1000" b="1" dirty="0"/>
                  <a:t>: 1</a:t>
                </a:r>
              </a:p>
              <a:p>
                <a:r>
                  <a:rPr lang="en-US" altLang="ko-KR" sz="1000" b="1" dirty="0"/>
                  <a:t>      memory: 1Gi</a:t>
                </a:r>
              </a:p>
              <a:p>
                <a:r>
                  <a:rPr lang="en-US" altLang="ko-KR" sz="1000" b="1" dirty="0"/>
                  <a:t>    </a:t>
                </a:r>
                <a:r>
                  <a:rPr lang="en-US" altLang="ko-KR" sz="1000" b="1" dirty="0" err="1">
                    <a:solidFill>
                      <a:srgbClr val="FF0000"/>
                    </a:solidFill>
                  </a:rPr>
                  <a:t>maxLimitRequestRatio</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4</a:t>
                </a:r>
              </a:p>
              <a:p>
                <a:r>
                  <a:rPr lang="en-US" altLang="ko-KR" sz="1000" b="1" dirty="0"/>
                  <a:t>      memory: 10</a:t>
                </a:r>
              </a:p>
              <a:p>
                <a:r>
                  <a:rPr lang="en-US" altLang="ko-KR" sz="1000" b="1" dirty="0"/>
                  <a:t>  - type: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a:t>    min:</a:t>
                </a:r>
              </a:p>
              <a:p>
                <a:r>
                  <a:rPr lang="en-US" altLang="ko-KR" sz="1000" b="1" dirty="0"/>
                  <a:t>      storage: 1Gi</a:t>
                </a:r>
              </a:p>
              <a:p>
                <a:r>
                  <a:rPr lang="en-US" altLang="ko-KR" sz="1000" b="1" dirty="0"/>
                  <a:t>    max:</a:t>
                </a:r>
              </a:p>
              <a:p>
                <a:r>
                  <a:rPr lang="en-US" altLang="ko-KR" sz="1000" b="1" dirty="0"/>
                  <a:t>      storage: 10Gi</a:t>
                </a:r>
              </a:p>
            </p:txBody>
          </p:sp>
          <p:sp>
            <p:nvSpPr>
              <p:cNvPr id="12" name="TextBox 11">
                <a:extLst>
                  <a:ext uri="{FF2B5EF4-FFF2-40B4-BE49-F238E27FC236}">
                    <a16:creationId xmlns:a16="http://schemas.microsoft.com/office/drawing/2014/main" id="{07E06D24-6512-47E7-7D1B-D96D222FFDDC}"/>
                  </a:ext>
                </a:extLst>
              </p:cNvPr>
              <p:cNvSpPr txBox="1"/>
              <p:nvPr/>
            </p:nvSpPr>
            <p:spPr>
              <a:xfrm>
                <a:off x="1058034" y="2433802"/>
                <a:ext cx="4832968" cy="2708434"/>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LimitRange</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example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limits: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type: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min: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50m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memory: 5Mi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max:</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memory: 1Gi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type: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Container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defaultRequest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100m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memory: 10Mi</a:t>
                </a:r>
              </a:p>
            </p:txBody>
          </p:sp>
        </p:grpSp>
        <p:sp>
          <p:nvSpPr>
            <p:cNvPr id="14" name="TextBox 13">
              <a:extLst>
                <a:ext uri="{FF2B5EF4-FFF2-40B4-BE49-F238E27FC236}">
                  <a16:creationId xmlns:a16="http://schemas.microsoft.com/office/drawing/2014/main" id="{667A1E92-3E80-38FF-B7BC-714DEAAE09A9}"/>
                </a:ext>
              </a:extLst>
            </p:cNvPr>
            <p:cNvSpPr txBox="1"/>
            <p:nvPr/>
          </p:nvSpPr>
          <p:spPr>
            <a:xfrm>
              <a:off x="9880469" y="2433802"/>
              <a:ext cx="843501" cy="246221"/>
            </a:xfrm>
            <a:prstGeom prst="rect">
              <a:avLst/>
            </a:prstGeom>
            <a:noFill/>
          </p:spPr>
          <p:txBody>
            <a:bodyPr wrap="none" rtlCol="0">
              <a:spAutoFit/>
            </a:bodyPr>
            <a:lstStyle/>
            <a:p>
              <a:pPr algn="l"/>
              <a:r>
                <a:rPr lang="en-US" altLang="ko-KR" sz="1000" b="1" dirty="0" err="1"/>
                <a:t>limits.yaml</a:t>
              </a:r>
              <a:endParaRPr lang="ko-KR" altLang="en-US" sz="1000" b="1" dirty="0"/>
            </a:p>
          </p:txBody>
        </p:sp>
      </p:grpSp>
    </p:spTree>
    <p:extLst>
      <p:ext uri="{BB962C8B-B14F-4D97-AF65-F5344CB8AC3E}">
        <p14:creationId xmlns:p14="http://schemas.microsoft.com/office/powerpoint/2010/main" val="3814530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LimitRange</a:t>
            </a:r>
            <a:r>
              <a:rPr lang="en-US" altLang="ko-KR" sz="1800" b="1" dirty="0"/>
              <a:t> Object :</a:t>
            </a:r>
            <a:endParaRPr lang="en-US" altLang="ko-KR" sz="1400" dirty="0"/>
          </a:p>
          <a:p>
            <a:pPr lvl="1">
              <a:buFont typeface="Wingdings" panose="05000000000000000000" pitchFamily="2" charset="2"/>
              <a:buChar char="§"/>
            </a:pPr>
            <a:r>
              <a:rPr lang="en-US" altLang="ko-KR" sz="1400" b="1" dirty="0"/>
              <a:t>Beside the min, max, and default values, you can even set </a:t>
            </a:r>
            <a:r>
              <a:rPr lang="en-US" altLang="ko-KR" sz="1400" b="1" dirty="0">
                <a:solidFill>
                  <a:srgbClr val="FF0000"/>
                </a:solidFill>
              </a:rPr>
              <a:t>the maximum ratio of limits vs. requests</a:t>
            </a:r>
            <a:r>
              <a:rPr lang="en-US" altLang="ko-KR" sz="1400" dirty="0"/>
              <a:t>. The previous listing sets </a:t>
            </a:r>
            <a:r>
              <a:rPr lang="en-US" altLang="ko-KR" sz="1400" b="1" dirty="0"/>
              <a:t>the CPU “</a:t>
            </a:r>
            <a:r>
              <a:rPr lang="en-US" altLang="ko-KR" sz="1400" b="1" dirty="0" err="1">
                <a:solidFill>
                  <a:srgbClr val="FF0000"/>
                </a:solidFill>
              </a:rPr>
              <a:t>maxLimitRequestRatio</a:t>
            </a:r>
            <a:r>
              <a:rPr lang="en-US" altLang="ko-KR" sz="1400" b="1" dirty="0"/>
              <a:t>” to 4, which means a container’s CPU limits will not be allowed to be more than four times greater than its CPU requests</a:t>
            </a:r>
            <a:r>
              <a:rPr lang="en-US" altLang="ko-KR" sz="1400" dirty="0"/>
              <a:t>. A container requesting 200 </a:t>
            </a:r>
            <a:r>
              <a:rPr lang="en-US" altLang="ko-KR" sz="1400" dirty="0" err="1"/>
              <a:t>millicores</a:t>
            </a:r>
            <a:r>
              <a:rPr lang="en-US" altLang="ko-KR" sz="1400" dirty="0"/>
              <a:t> will not be accepted if its CPU limit is set to 801 </a:t>
            </a:r>
            <a:r>
              <a:rPr lang="en-US" altLang="ko-KR" sz="1400" dirty="0" err="1"/>
              <a:t>millicores</a:t>
            </a:r>
            <a:r>
              <a:rPr lang="en-US" altLang="ko-KR" sz="1400" dirty="0"/>
              <a:t> or higher. For memory, the maximum ratio is set to 10.</a:t>
            </a:r>
          </a:p>
          <a:p>
            <a:pPr lvl="1">
              <a:buFont typeface="Wingdings" panose="05000000000000000000" pitchFamily="2" charset="2"/>
              <a:buChar char="§"/>
            </a:pPr>
            <a:r>
              <a:rPr lang="en-US" altLang="ko-KR" sz="1400" b="1" dirty="0" err="1"/>
              <a:t>PersistentVolumeClaims</a:t>
            </a:r>
            <a:r>
              <a:rPr lang="en-US" altLang="ko-KR" sz="1400" b="1" dirty="0"/>
              <a:t> (PVC) allow you to claim a certain amount of persistent storage similarly to how a pod’s containers claim CPU and memory</a:t>
            </a:r>
            <a:r>
              <a:rPr lang="en-US" altLang="ko-KR" sz="1400" dirty="0"/>
              <a:t>. In the same way you’re limiting the minimum and maximum amount of CPU a container can request, </a:t>
            </a:r>
            <a:r>
              <a:rPr lang="en-US" altLang="ko-KR" sz="1400" b="1" dirty="0"/>
              <a:t>you should also limit the amount of storage a single PVC can request</a:t>
            </a:r>
            <a:r>
              <a:rPr lang="en-US" altLang="ko-KR" sz="1400" dirty="0"/>
              <a:t>. </a:t>
            </a:r>
          </a:p>
          <a:p>
            <a:pPr lvl="1">
              <a:buFont typeface="Wingdings" panose="05000000000000000000" pitchFamily="2" charset="2"/>
              <a:buChar char="§"/>
            </a:pPr>
            <a:r>
              <a:rPr lang="en-US" altLang="ko-KR" sz="1400" b="1" dirty="0"/>
              <a:t>The example shows a single </a:t>
            </a:r>
            <a:r>
              <a:rPr lang="en-US" altLang="ko-KR" sz="1400" b="1" dirty="0" err="1"/>
              <a:t>LimitRange</a:t>
            </a:r>
            <a:r>
              <a:rPr lang="en-US" altLang="ko-KR" sz="1400" b="1" dirty="0"/>
              <a:t> object containing limits for everything, but you could also split them into multiple objects if you prefer to have them organized per type (one for pod limits, another for container limits, and yet another for PVCs, for example)</a:t>
            </a:r>
            <a:r>
              <a:rPr lang="en-US" altLang="ko-KR" sz="1400" dirty="0"/>
              <a:t>. </a:t>
            </a:r>
            <a:r>
              <a:rPr lang="en-US" altLang="ko-KR" sz="1400" b="1" dirty="0"/>
              <a:t>Limits from multiple </a:t>
            </a:r>
            <a:r>
              <a:rPr lang="en-US" altLang="ko-KR" sz="1400" b="1" dirty="0" err="1"/>
              <a:t>LimitRange</a:t>
            </a:r>
            <a:r>
              <a:rPr lang="en-US" altLang="ko-KR" sz="1400" b="1" dirty="0"/>
              <a:t> objects are all consolidated when validating a pod or PVC</a:t>
            </a:r>
            <a:r>
              <a:rPr lang="en-US" altLang="ko-KR" sz="1400" dirty="0"/>
              <a:t>.</a:t>
            </a:r>
          </a:p>
          <a:p>
            <a:pPr lvl="1">
              <a:buFont typeface="Wingdings" panose="05000000000000000000" pitchFamily="2" charset="2"/>
              <a:buChar char="§"/>
            </a:pPr>
            <a:r>
              <a:rPr lang="en-US" altLang="ko-KR" sz="1400" b="1" dirty="0"/>
              <a:t>Because </a:t>
            </a:r>
            <a:r>
              <a:rPr lang="en-US" altLang="ko-KR" sz="1400" b="1" dirty="0">
                <a:solidFill>
                  <a:srgbClr val="FF0000"/>
                </a:solidFill>
              </a:rPr>
              <a:t>the validation (and defaults) configured in a </a:t>
            </a:r>
            <a:r>
              <a:rPr lang="en-US" altLang="ko-KR" sz="1400" b="1" dirty="0" err="1">
                <a:solidFill>
                  <a:srgbClr val="FF0000"/>
                </a:solidFill>
              </a:rPr>
              <a:t>LimitRange</a:t>
            </a:r>
            <a:r>
              <a:rPr lang="en-US" altLang="ko-KR" sz="1400" b="1" dirty="0">
                <a:solidFill>
                  <a:srgbClr val="FF0000"/>
                </a:solidFill>
              </a:rPr>
              <a:t> object is performed by the API server </a:t>
            </a:r>
            <a:r>
              <a:rPr lang="en-US" altLang="ko-KR" sz="1400" b="1" dirty="0"/>
              <a:t>when it receives a new pod or PVC manifest, if you modify the limits afterwards, existing pods and PVCs will not be revalidated</a:t>
            </a:r>
            <a:r>
              <a:rPr lang="en-US" altLang="ko-KR" sz="1400" dirty="0"/>
              <a:t>—</a:t>
            </a:r>
            <a:r>
              <a:rPr lang="en-US" altLang="ko-KR" sz="1400" b="1" dirty="0">
                <a:solidFill>
                  <a:srgbClr val="FF0000"/>
                </a:solidFill>
              </a:rPr>
              <a:t>the new limits will only apply to pods and PVCs created afterward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84080BA-082B-CC92-CB82-1C0676755F8E}"/>
              </a:ext>
            </a:extLst>
          </p:cNvPr>
          <p:cNvGrpSpPr/>
          <p:nvPr/>
        </p:nvGrpSpPr>
        <p:grpSpPr>
          <a:xfrm>
            <a:off x="2801867" y="4072060"/>
            <a:ext cx="6588266" cy="2336970"/>
            <a:chOff x="2801867" y="4072060"/>
            <a:chExt cx="6588266" cy="2336970"/>
          </a:xfrm>
        </p:grpSpPr>
        <p:pic>
          <p:nvPicPr>
            <p:cNvPr id="4" name="그림 3">
              <a:extLst>
                <a:ext uri="{FF2B5EF4-FFF2-40B4-BE49-F238E27FC236}">
                  <a16:creationId xmlns:a16="http://schemas.microsoft.com/office/drawing/2014/main" id="{11C6DE0C-3AA0-D096-C2F7-5F36CB59D48F}"/>
                </a:ext>
              </a:extLst>
            </p:cNvPr>
            <p:cNvPicPr>
              <a:picLocks noChangeAspect="1"/>
            </p:cNvPicPr>
            <p:nvPr/>
          </p:nvPicPr>
          <p:blipFill>
            <a:blip r:embed="rId2"/>
            <a:stretch>
              <a:fillRect/>
            </a:stretch>
          </p:blipFill>
          <p:spPr>
            <a:xfrm>
              <a:off x="2801867" y="4072060"/>
              <a:ext cx="6588266" cy="2336970"/>
            </a:xfrm>
            <a:prstGeom prst="rect">
              <a:avLst/>
            </a:prstGeom>
          </p:spPr>
        </p:pic>
        <p:sp>
          <p:nvSpPr>
            <p:cNvPr id="8" name="직사각형 7">
              <a:extLst>
                <a:ext uri="{FF2B5EF4-FFF2-40B4-BE49-F238E27FC236}">
                  <a16:creationId xmlns:a16="http://schemas.microsoft.com/office/drawing/2014/main" id="{4FB810CA-D286-1FEC-EF71-761A530DD3B2}"/>
                </a:ext>
              </a:extLst>
            </p:cNvPr>
            <p:cNvSpPr/>
            <p:nvPr/>
          </p:nvSpPr>
          <p:spPr>
            <a:xfrm>
              <a:off x="5308375" y="5429756"/>
              <a:ext cx="1408014" cy="6538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77241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Enforcing the Limits :</a:t>
            </a:r>
            <a:endParaRPr lang="en-US" altLang="ko-KR" sz="1400" dirty="0"/>
          </a:p>
          <a:p>
            <a:pPr lvl="1">
              <a:buFont typeface="Wingdings" panose="05000000000000000000" pitchFamily="2" charset="2"/>
              <a:buChar char="§"/>
            </a:pPr>
            <a:r>
              <a:rPr lang="en-US" altLang="ko-KR" sz="1400" b="1" dirty="0"/>
              <a:t>With your limits in place, you can now try creating a pod that requests more CPU than allowed by the </a:t>
            </a:r>
            <a:r>
              <a:rPr lang="en-US" altLang="ko-KR" sz="1400" b="1" dirty="0" err="1"/>
              <a:t>LimitRange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pod’s single container is requesting two CPUs, which is more than the maximum you set in the </a:t>
            </a:r>
            <a:r>
              <a:rPr lang="en-US" altLang="ko-KR" sz="1400" b="1" dirty="0" err="1"/>
              <a:t>LimitRange</a:t>
            </a:r>
            <a:r>
              <a:rPr lang="en-US" altLang="ko-KR" sz="1400" b="1" dirty="0"/>
              <a:t> earlier</a:t>
            </a:r>
            <a:r>
              <a:rPr lang="en-US" altLang="ko-KR" sz="1400" dirty="0"/>
              <a:t>. Creating the pod yields the above result.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841F51E-C705-73D8-A559-D38962FD75B8}"/>
              </a:ext>
            </a:extLst>
          </p:cNvPr>
          <p:cNvGrpSpPr/>
          <p:nvPr/>
        </p:nvGrpSpPr>
        <p:grpSpPr>
          <a:xfrm>
            <a:off x="838200" y="1735221"/>
            <a:ext cx="10515600" cy="3923388"/>
            <a:chOff x="838200" y="1722863"/>
            <a:chExt cx="10515600" cy="3923388"/>
          </a:xfrm>
        </p:grpSpPr>
        <p:grpSp>
          <p:nvGrpSpPr>
            <p:cNvPr id="11" name="그룹 10">
              <a:extLst>
                <a:ext uri="{FF2B5EF4-FFF2-40B4-BE49-F238E27FC236}">
                  <a16:creationId xmlns:a16="http://schemas.microsoft.com/office/drawing/2014/main" id="{A38FC0EC-1715-7AD5-F8EC-7D8E0C1FAEE9}"/>
                </a:ext>
              </a:extLst>
            </p:cNvPr>
            <p:cNvGrpSpPr/>
            <p:nvPr/>
          </p:nvGrpSpPr>
          <p:grpSpPr>
            <a:xfrm>
              <a:off x="3048674" y="1722863"/>
              <a:ext cx="6097348" cy="1938992"/>
              <a:chOff x="3048674" y="1722863"/>
              <a:chExt cx="6097348" cy="1938992"/>
            </a:xfrm>
          </p:grpSpPr>
          <p:sp>
            <p:nvSpPr>
              <p:cNvPr id="8" name="TextBox 7">
                <a:extLst>
                  <a:ext uri="{FF2B5EF4-FFF2-40B4-BE49-F238E27FC236}">
                    <a16:creationId xmlns:a16="http://schemas.microsoft.com/office/drawing/2014/main" id="{A5DBEFB5-05E4-4800-16D8-E090CC877FA9}"/>
                  </a:ext>
                </a:extLst>
              </p:cNvPr>
              <p:cNvSpPr txBox="1"/>
              <p:nvPr/>
            </p:nvSpPr>
            <p:spPr>
              <a:xfrm>
                <a:off x="3048674" y="1722863"/>
                <a:ext cx="6097348"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too-big</a:t>
                </a:r>
              </a:p>
              <a:p>
                <a:r>
                  <a:rPr lang="en-US" altLang="ko-KR" sz="1000" b="1" dirty="0"/>
                  <a:t>spec:</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a:t>
                </a:r>
                <a:r>
                  <a:rPr lang="en-US" altLang="ko-KR" sz="1000" b="1" dirty="0" err="1"/>
                  <a:t>args</a:t>
                </a:r>
                <a:r>
                  <a:rPr lang="en-US" altLang="ko-KR" sz="1000" b="1" dirty="0"/>
                  <a:t>: ["sleep", "9999999"]</a:t>
                </a:r>
              </a:p>
              <a:p>
                <a:r>
                  <a:rPr lang="en-US" altLang="ko-KR" sz="1000" b="1" dirty="0"/>
                  <a:t>    name: main</a:t>
                </a:r>
              </a:p>
              <a:p>
                <a:r>
                  <a:rPr lang="en-US" altLang="ko-KR" sz="1000" b="1" dirty="0">
                    <a:solidFill>
                      <a:srgbClr val="FF0000"/>
                    </a:solidFill>
                  </a:rPr>
                  <a:t>    resources:</a:t>
                </a:r>
              </a:p>
              <a:p>
                <a:r>
                  <a:rPr lang="en-US" altLang="ko-KR" sz="1000" b="1" dirty="0">
                    <a:solidFill>
                      <a:srgbClr val="FF0000"/>
                    </a:solidFill>
                  </a:rPr>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2</a:t>
                </a:r>
              </a:p>
            </p:txBody>
          </p:sp>
          <p:sp>
            <p:nvSpPr>
              <p:cNvPr id="10" name="TextBox 9">
                <a:extLst>
                  <a:ext uri="{FF2B5EF4-FFF2-40B4-BE49-F238E27FC236}">
                    <a16:creationId xmlns:a16="http://schemas.microsoft.com/office/drawing/2014/main" id="{E7C63F9F-FE49-FA55-C255-581C74F3F082}"/>
                  </a:ext>
                </a:extLst>
              </p:cNvPr>
              <p:cNvSpPr txBox="1"/>
              <p:nvPr/>
            </p:nvSpPr>
            <p:spPr>
              <a:xfrm>
                <a:off x="7497814" y="1722863"/>
                <a:ext cx="1648208" cy="246221"/>
              </a:xfrm>
              <a:prstGeom prst="rect">
                <a:avLst/>
              </a:prstGeom>
              <a:noFill/>
            </p:spPr>
            <p:txBody>
              <a:bodyPr wrap="none" rtlCol="0">
                <a:spAutoFit/>
              </a:bodyPr>
              <a:lstStyle/>
              <a:p>
                <a:pPr algn="l"/>
                <a:r>
                  <a:rPr lang="en-US" altLang="ko-KR" sz="1000" b="1" dirty="0"/>
                  <a:t>limits-pod-too-</a:t>
                </a:r>
                <a:r>
                  <a:rPr lang="en-US" altLang="ko-KR" sz="1000" b="1" dirty="0" err="1"/>
                  <a:t>big.yaml</a:t>
                </a:r>
                <a:endParaRPr lang="ko-KR" altLang="en-US" sz="1000" b="1" dirty="0"/>
              </a:p>
            </p:txBody>
          </p:sp>
        </p:grpSp>
        <p:sp>
          <p:nvSpPr>
            <p:cNvPr id="12" name="화살표: 아래쪽 11">
              <a:extLst>
                <a:ext uri="{FF2B5EF4-FFF2-40B4-BE49-F238E27FC236}">
                  <a16:creationId xmlns:a16="http://schemas.microsoft.com/office/drawing/2014/main" id="{01776867-5533-BE6E-5FA2-B7E6F425C014}"/>
                </a:ext>
              </a:extLst>
            </p:cNvPr>
            <p:cNvSpPr/>
            <p:nvPr/>
          </p:nvSpPr>
          <p:spPr>
            <a:xfrm>
              <a:off x="5862679" y="3661855"/>
              <a:ext cx="466641" cy="31942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43402F61-9FB0-55D8-AFD8-AF3E5D8576FD}"/>
                </a:ext>
              </a:extLst>
            </p:cNvPr>
            <p:cNvPicPr>
              <a:picLocks noChangeAspect="1"/>
            </p:cNvPicPr>
            <p:nvPr/>
          </p:nvPicPr>
          <p:blipFill>
            <a:blip r:embed="rId2"/>
            <a:stretch>
              <a:fillRect/>
            </a:stretch>
          </p:blipFill>
          <p:spPr>
            <a:xfrm>
              <a:off x="838200" y="3981281"/>
              <a:ext cx="10515600" cy="1664970"/>
            </a:xfrm>
            <a:prstGeom prst="rect">
              <a:avLst/>
            </a:prstGeom>
          </p:spPr>
        </p:pic>
      </p:grpSp>
    </p:spTree>
    <p:extLst>
      <p:ext uri="{BB962C8B-B14F-4D97-AF65-F5344CB8AC3E}">
        <p14:creationId xmlns:p14="http://schemas.microsoft.com/office/powerpoint/2010/main" val="3950079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Applying Default Resource Requests and Limits :</a:t>
            </a:r>
            <a:endParaRPr lang="en-US" altLang="ko-KR" sz="1400" dirty="0"/>
          </a:p>
          <a:p>
            <a:pPr lvl="1">
              <a:buFont typeface="Wingdings" panose="05000000000000000000" pitchFamily="2" charset="2"/>
              <a:buChar char="§"/>
            </a:pPr>
            <a:r>
              <a:rPr lang="en-US" altLang="ko-KR" sz="1400" b="1" dirty="0"/>
              <a:t>Now let’s also see how default resource requests and limits are set on containers that don’t specify them</a:t>
            </a:r>
            <a:r>
              <a:rPr lang="en-US" altLang="ko-KR" sz="1400" dirty="0"/>
              <a:t>. </a:t>
            </a:r>
            <a:r>
              <a:rPr lang="en-US" altLang="ko-KR" sz="1400" b="1" dirty="0"/>
              <a:t>Deploy the “</a:t>
            </a:r>
            <a:r>
              <a:rPr lang="en-US" altLang="ko-KR" sz="1400" b="1" dirty="0" err="1"/>
              <a:t>kubia</a:t>
            </a:r>
            <a:r>
              <a:rPr lang="en-US" altLang="ko-KR" sz="1400" b="1" dirty="0"/>
              <a:t>-manual” pod </a:t>
            </a:r>
            <a:r>
              <a:rPr lang="en-US" altLang="ko-KR" sz="1400" dirty="0"/>
              <a:t>again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Before you set up your </a:t>
            </a:r>
            <a:r>
              <a:rPr lang="en-US" altLang="ko-KR" sz="1400" b="1" dirty="0" err="1"/>
              <a:t>LimitRange</a:t>
            </a:r>
            <a:r>
              <a:rPr lang="en-US" altLang="ko-KR" sz="1400" b="1" dirty="0"/>
              <a:t> object, all your pods were created without any resource requests or limits, but now the </a:t>
            </a:r>
            <a:r>
              <a:rPr lang="en-US" altLang="ko-KR" sz="1400" b="1" dirty="0">
                <a:solidFill>
                  <a:srgbClr val="FF0000"/>
                </a:solidFill>
              </a:rPr>
              <a:t>defaults</a:t>
            </a:r>
            <a:r>
              <a:rPr lang="en-US" altLang="ko-KR" sz="1400" b="1" dirty="0"/>
              <a:t> are applied automatically when creating the pod</a:t>
            </a:r>
            <a:r>
              <a:rPr lang="en-US" altLang="ko-KR" sz="1400" dirty="0"/>
              <a:t>. You can confirm this by describing the “</a:t>
            </a:r>
            <a:r>
              <a:rPr lang="en-US" altLang="ko-KR" sz="1400" b="1" dirty="0" err="1"/>
              <a:t>kubia</a:t>
            </a:r>
            <a:r>
              <a:rPr lang="en-US" altLang="ko-KR" sz="1400" b="1" dirty="0"/>
              <a:t>-manual</a:t>
            </a:r>
            <a:r>
              <a:rPr lang="en-US" altLang="ko-KR" sz="1400" dirty="0"/>
              <a:t>” pod,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D77D49CE-8F88-8494-D332-1135FAF36C61}"/>
              </a:ext>
            </a:extLst>
          </p:cNvPr>
          <p:cNvGrpSpPr/>
          <p:nvPr/>
        </p:nvGrpSpPr>
        <p:grpSpPr>
          <a:xfrm>
            <a:off x="838200" y="1749933"/>
            <a:ext cx="10515600" cy="3507056"/>
            <a:chOff x="838200" y="1588093"/>
            <a:chExt cx="10515600" cy="3507056"/>
          </a:xfrm>
        </p:grpSpPr>
        <p:pic>
          <p:nvPicPr>
            <p:cNvPr id="15" name="그림 14">
              <a:extLst>
                <a:ext uri="{FF2B5EF4-FFF2-40B4-BE49-F238E27FC236}">
                  <a16:creationId xmlns:a16="http://schemas.microsoft.com/office/drawing/2014/main" id="{BF463DC3-2110-21DA-DEF8-A1F674CF0A9D}"/>
                </a:ext>
              </a:extLst>
            </p:cNvPr>
            <p:cNvPicPr>
              <a:picLocks noChangeAspect="1"/>
            </p:cNvPicPr>
            <p:nvPr/>
          </p:nvPicPr>
          <p:blipFill>
            <a:blip r:embed="rId2"/>
            <a:stretch>
              <a:fillRect/>
            </a:stretch>
          </p:blipFill>
          <p:spPr>
            <a:xfrm>
              <a:off x="838200" y="3386364"/>
              <a:ext cx="10515600" cy="1708785"/>
            </a:xfrm>
            <a:prstGeom prst="rect">
              <a:avLst/>
            </a:prstGeom>
          </p:spPr>
        </p:pic>
        <p:grpSp>
          <p:nvGrpSpPr>
            <p:cNvPr id="16" name="그룹 15">
              <a:extLst>
                <a:ext uri="{FF2B5EF4-FFF2-40B4-BE49-F238E27FC236}">
                  <a16:creationId xmlns:a16="http://schemas.microsoft.com/office/drawing/2014/main" id="{77C690C8-AE12-E609-018A-FAC5705CE1E7}"/>
                </a:ext>
              </a:extLst>
            </p:cNvPr>
            <p:cNvGrpSpPr/>
            <p:nvPr/>
          </p:nvGrpSpPr>
          <p:grpSpPr>
            <a:xfrm>
              <a:off x="838200" y="1588093"/>
              <a:ext cx="10515600" cy="2245857"/>
              <a:chOff x="838200" y="1644423"/>
              <a:chExt cx="10515600" cy="2245857"/>
            </a:xfrm>
          </p:grpSpPr>
          <p:pic>
            <p:nvPicPr>
              <p:cNvPr id="10" name="그림 9">
                <a:extLst>
                  <a:ext uri="{FF2B5EF4-FFF2-40B4-BE49-F238E27FC236}">
                    <a16:creationId xmlns:a16="http://schemas.microsoft.com/office/drawing/2014/main" id="{85FDA3E3-154C-01FD-1C24-BD40D14C5077}"/>
                  </a:ext>
                </a:extLst>
              </p:cNvPr>
              <p:cNvPicPr>
                <a:picLocks noChangeAspect="1"/>
              </p:cNvPicPr>
              <p:nvPr/>
            </p:nvPicPr>
            <p:blipFill>
              <a:blip r:embed="rId3"/>
              <a:stretch>
                <a:fillRect/>
              </a:stretch>
            </p:blipFill>
            <p:spPr>
              <a:xfrm>
                <a:off x="838200" y="2225310"/>
                <a:ext cx="10515600" cy="1664970"/>
              </a:xfrm>
              <a:prstGeom prst="rect">
                <a:avLst/>
              </a:prstGeom>
            </p:spPr>
          </p:pic>
          <p:sp>
            <p:nvSpPr>
              <p:cNvPr id="12" name="TextBox 11">
                <a:extLst>
                  <a:ext uri="{FF2B5EF4-FFF2-40B4-BE49-F238E27FC236}">
                    <a16:creationId xmlns:a16="http://schemas.microsoft.com/office/drawing/2014/main" id="{365814D7-ACFA-8939-9DA9-1E3988853999}"/>
                  </a:ext>
                </a:extLst>
              </p:cNvPr>
              <p:cNvSpPr txBox="1"/>
              <p:nvPr/>
            </p:nvSpPr>
            <p:spPr>
              <a:xfrm>
                <a:off x="3047326" y="164442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kubia-manual.yaml</a:t>
                </a:r>
                <a:endParaRPr lang="ko-KR" altLang="en-US" sz="1000" b="1" dirty="0">
                  <a:solidFill>
                    <a:srgbClr val="FF0000"/>
                  </a:solidFill>
                </a:endParaRPr>
              </a:p>
            </p:txBody>
          </p:sp>
          <p:sp>
            <p:nvSpPr>
              <p:cNvPr id="13" name="화살표: 아래쪽 12">
                <a:extLst>
                  <a:ext uri="{FF2B5EF4-FFF2-40B4-BE49-F238E27FC236}">
                    <a16:creationId xmlns:a16="http://schemas.microsoft.com/office/drawing/2014/main" id="{ED9C55A1-7A66-63C4-F8FE-C0305752D22D}"/>
                  </a:ext>
                </a:extLst>
              </p:cNvPr>
              <p:cNvSpPr/>
              <p:nvPr/>
            </p:nvSpPr>
            <p:spPr>
              <a:xfrm>
                <a:off x="5857285" y="1890644"/>
                <a:ext cx="477430" cy="3346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8" name="직사각형 17">
            <a:extLst>
              <a:ext uri="{FF2B5EF4-FFF2-40B4-BE49-F238E27FC236}">
                <a16:creationId xmlns:a16="http://schemas.microsoft.com/office/drawing/2014/main" id="{081F2FF2-D301-73DB-2294-35046C5F186F}"/>
              </a:ext>
            </a:extLst>
          </p:cNvPr>
          <p:cNvSpPr/>
          <p:nvPr/>
        </p:nvSpPr>
        <p:spPr>
          <a:xfrm>
            <a:off x="1108609" y="4183582"/>
            <a:ext cx="1561763" cy="10034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8704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Default Requests and Limits for Pods Per Namespace(7/7)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Applying Default Resource Requests and Limits :</a:t>
            </a:r>
            <a:endParaRPr lang="en-US" altLang="ko-KR" sz="1400" dirty="0"/>
          </a:p>
          <a:p>
            <a:pPr lvl="1">
              <a:buFont typeface="Wingdings" panose="05000000000000000000" pitchFamily="2" charset="2"/>
              <a:buChar char="§"/>
            </a:pPr>
            <a:r>
              <a:rPr lang="en-US" altLang="ko-KR" sz="1400" b="1" dirty="0"/>
              <a:t>The container’s requests and limits match the ones you specified in the </a:t>
            </a:r>
            <a:r>
              <a:rPr lang="en-US" altLang="ko-KR" sz="1400" b="1" dirty="0" err="1"/>
              <a:t>LimitRange</a:t>
            </a:r>
            <a:r>
              <a:rPr lang="en-US" altLang="ko-KR" sz="1400" b="1" dirty="0"/>
              <a:t> object</a:t>
            </a:r>
            <a:r>
              <a:rPr lang="en-US" altLang="ko-KR" sz="1400" dirty="0"/>
              <a:t>. </a:t>
            </a:r>
            <a:r>
              <a:rPr lang="en-US" altLang="ko-KR" sz="1400" b="1" dirty="0"/>
              <a:t>If you used a different </a:t>
            </a:r>
            <a:r>
              <a:rPr lang="en-US" altLang="ko-KR" sz="1400" b="1" dirty="0" err="1"/>
              <a:t>LimitRange</a:t>
            </a:r>
            <a:r>
              <a:rPr lang="en-US" altLang="ko-KR" sz="1400" b="1" dirty="0"/>
              <a:t> specification in another namespace, pods created in that namespace would obviously have different requests and limits</a:t>
            </a:r>
            <a:r>
              <a:rPr lang="en-US" altLang="ko-KR" sz="1400" dirty="0"/>
              <a:t>. This allows admins to configure default, min, and max resources for pods per namespace.</a:t>
            </a:r>
          </a:p>
          <a:p>
            <a:pPr lvl="1">
              <a:buFont typeface="Wingdings" panose="05000000000000000000" pitchFamily="2" charset="2"/>
              <a:buChar char="§"/>
            </a:pPr>
            <a:r>
              <a:rPr lang="en-US" altLang="ko-KR" sz="1400" dirty="0"/>
              <a:t>If namespaces are used to separate different teams or to separate development, QA, staging, and production pods running in the same Kubernetes cluster, using a different </a:t>
            </a:r>
            <a:r>
              <a:rPr lang="en-US" altLang="ko-KR" sz="1400" b="1" dirty="0" err="1"/>
              <a:t>LimitRange</a:t>
            </a:r>
            <a:r>
              <a:rPr lang="en-US" altLang="ko-KR" sz="1400" dirty="0"/>
              <a:t> in each namespace </a:t>
            </a:r>
            <a:r>
              <a:rPr lang="en-US" altLang="ko-KR" sz="1400" b="1" dirty="0"/>
              <a:t>ensures large pods can only be created in certain namespaces, whereas others are constrained to smaller pods</a:t>
            </a:r>
            <a:r>
              <a:rPr lang="en-US" altLang="ko-KR" sz="1400" dirty="0"/>
              <a:t>. </a:t>
            </a:r>
          </a:p>
          <a:p>
            <a:pPr lvl="1">
              <a:buFont typeface="Wingdings" panose="05000000000000000000" pitchFamily="2" charset="2"/>
              <a:buChar char="§"/>
            </a:pPr>
            <a:r>
              <a:rPr lang="en-US" altLang="ko-KR" sz="1400" dirty="0"/>
              <a:t>But remember, </a:t>
            </a:r>
            <a:r>
              <a:rPr lang="en-US" altLang="ko-KR" sz="1400" b="1" dirty="0"/>
              <a:t>the limits configured in a </a:t>
            </a:r>
            <a:r>
              <a:rPr lang="en-US" altLang="ko-KR" sz="1400" b="1" dirty="0" err="1"/>
              <a:t>LimitRange</a:t>
            </a:r>
            <a:r>
              <a:rPr lang="en-US" altLang="ko-KR" sz="1400" b="1" dirty="0"/>
              <a:t> only apply to each individual pod/container</a:t>
            </a:r>
            <a:r>
              <a:rPr lang="en-US" altLang="ko-KR" sz="1400" dirty="0"/>
              <a:t>. </a:t>
            </a:r>
            <a:r>
              <a:rPr lang="en-US" altLang="ko-KR" sz="1400" b="1" dirty="0"/>
              <a:t>It’s still possible to create many pods and eat up all the resources available in the cluster</a:t>
            </a:r>
            <a:r>
              <a:rPr lang="en-US" altLang="ko-KR" sz="1400" dirty="0"/>
              <a:t>. </a:t>
            </a:r>
            <a:r>
              <a:rPr lang="en-US" altLang="ko-KR" sz="1400" b="1" dirty="0" err="1"/>
              <a:t>LimitRanges</a:t>
            </a:r>
            <a:r>
              <a:rPr lang="en-US" altLang="ko-KR" sz="1400" b="1" dirty="0"/>
              <a:t> don’t provide any protection from that. A </a:t>
            </a:r>
            <a:r>
              <a:rPr lang="en-US" altLang="ko-KR" sz="1400" b="1" dirty="0" err="1">
                <a:solidFill>
                  <a:srgbClr val="FF0000"/>
                </a:solidFill>
              </a:rPr>
              <a:t>ResourceQuota</a:t>
            </a:r>
            <a:r>
              <a:rPr lang="en-US" altLang="ko-KR" sz="1400" b="1" dirty="0"/>
              <a:t> object, on the other hand, does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4556E33-10E1-79B1-67EC-B82D4296DB43}"/>
              </a:ext>
            </a:extLst>
          </p:cNvPr>
          <p:cNvPicPr>
            <a:picLocks noChangeAspect="1"/>
          </p:cNvPicPr>
          <p:nvPr/>
        </p:nvPicPr>
        <p:blipFill>
          <a:blip r:embed="rId2"/>
          <a:stretch>
            <a:fillRect/>
          </a:stretch>
        </p:blipFill>
        <p:spPr>
          <a:xfrm>
            <a:off x="3963748" y="3591718"/>
            <a:ext cx="4264503" cy="2405446"/>
          </a:xfrm>
          <a:prstGeom prst="rect">
            <a:avLst/>
          </a:prstGeom>
        </p:spPr>
      </p:pic>
    </p:spTree>
    <p:extLst>
      <p:ext uri="{BB962C8B-B14F-4D97-AF65-F5344CB8AC3E}">
        <p14:creationId xmlns:p14="http://schemas.microsoft.com/office/powerpoint/2010/main" val="39825197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ResourceQuota</a:t>
            </a:r>
            <a:r>
              <a:rPr lang="en-US" altLang="ko-KR" sz="1800" b="1" dirty="0"/>
              <a:t> Object :</a:t>
            </a:r>
            <a:endParaRPr lang="en-US" altLang="ko-KR" sz="1400" dirty="0"/>
          </a:p>
          <a:p>
            <a:pPr lvl="1">
              <a:buFont typeface="Wingdings" panose="05000000000000000000" pitchFamily="2" charset="2"/>
              <a:buChar char="§"/>
            </a:pPr>
            <a:r>
              <a:rPr lang="en-US" altLang="ko-KR" sz="1400" b="1" dirty="0"/>
              <a:t>The </a:t>
            </a:r>
            <a:r>
              <a:rPr lang="en-US" altLang="ko-KR" sz="1400" b="1" dirty="0" err="1"/>
              <a:t>LimitRanges</a:t>
            </a:r>
            <a:r>
              <a:rPr lang="en-US" altLang="ko-KR" sz="1400" b="1" dirty="0"/>
              <a:t> only apply to individual pods, but </a:t>
            </a:r>
            <a:r>
              <a:rPr lang="en-US" altLang="ko-KR" sz="1400" b="1" dirty="0">
                <a:solidFill>
                  <a:srgbClr val="FF0000"/>
                </a:solidFill>
              </a:rPr>
              <a:t>cluster</a:t>
            </a:r>
            <a:r>
              <a:rPr lang="en-US" altLang="ko-KR" sz="1400" b="1" dirty="0"/>
              <a:t> admins also need a way to </a:t>
            </a:r>
            <a:r>
              <a:rPr lang="en-US" altLang="ko-KR" sz="1400" b="1" dirty="0">
                <a:solidFill>
                  <a:srgbClr val="FF0000"/>
                </a:solidFill>
              </a:rPr>
              <a:t>limit the total amount of resources available in a namespace</a:t>
            </a:r>
            <a:r>
              <a:rPr lang="en-US" altLang="ko-KR" sz="1400" dirty="0"/>
              <a:t>. This is achieved by creating a </a:t>
            </a:r>
            <a:r>
              <a:rPr lang="en-US" altLang="ko-KR" sz="1400" b="1" dirty="0" err="1">
                <a:solidFill>
                  <a:srgbClr val="FF0000"/>
                </a:solidFill>
              </a:rPr>
              <a:t>ResourceQuota</a:t>
            </a:r>
            <a:r>
              <a:rPr lang="en-US" altLang="ko-KR" sz="1400" b="1" dirty="0"/>
              <a:t> object</a:t>
            </a:r>
            <a:r>
              <a:rPr lang="en-US" altLang="ko-KR" sz="1400" dirty="0"/>
              <a:t>.</a:t>
            </a:r>
          </a:p>
          <a:p>
            <a:pPr lvl="1">
              <a:buFont typeface="Wingdings" panose="05000000000000000000" pitchFamily="2" charset="2"/>
              <a:buChar char="§"/>
            </a:pPr>
            <a:r>
              <a:rPr lang="en-US" altLang="ko-KR" sz="1400" b="1" dirty="0"/>
              <a:t>Several Admission Control plugins running inside the API server verify whether the pod may be created or not</a:t>
            </a:r>
            <a:r>
              <a:rPr lang="en-US" altLang="ko-KR" sz="1400" dirty="0"/>
              <a:t>. </a:t>
            </a:r>
            <a:r>
              <a:rPr lang="en-US" altLang="ko-KR" sz="1400" b="1" dirty="0"/>
              <a:t>The </a:t>
            </a:r>
            <a:r>
              <a:rPr lang="en-US" altLang="ko-KR" sz="1400" b="1" dirty="0" err="1"/>
              <a:t>LimitRanger</a:t>
            </a:r>
            <a:r>
              <a:rPr lang="en-US" altLang="ko-KR" sz="1400" b="1" dirty="0"/>
              <a:t> plugin enforces the policies configured in </a:t>
            </a:r>
            <a:r>
              <a:rPr lang="en-US" altLang="ko-KR" sz="1400" b="1" dirty="0" err="1"/>
              <a:t>LimitRange</a:t>
            </a:r>
            <a:r>
              <a:rPr lang="en-US" altLang="ko-KR" sz="1400" b="1" dirty="0"/>
              <a:t> resources. Similarly, the </a:t>
            </a:r>
            <a:r>
              <a:rPr lang="en-US" altLang="ko-KR" sz="1400" b="1" dirty="0" err="1">
                <a:solidFill>
                  <a:srgbClr val="FF0000"/>
                </a:solidFill>
              </a:rPr>
              <a:t>ResourceQuota</a:t>
            </a:r>
            <a:r>
              <a:rPr lang="en-US" altLang="ko-KR" sz="1400" b="1" dirty="0">
                <a:solidFill>
                  <a:srgbClr val="FF0000"/>
                </a:solidFill>
              </a:rPr>
              <a:t> Admission Control</a:t>
            </a:r>
            <a:r>
              <a:rPr lang="en-US" altLang="ko-KR" sz="1400" b="1" dirty="0"/>
              <a:t> plugin checks whether the pod being created would cause the configured </a:t>
            </a:r>
            <a:r>
              <a:rPr lang="en-US" altLang="ko-KR" sz="1400" b="1" dirty="0" err="1"/>
              <a:t>ResourceQuota</a:t>
            </a:r>
            <a:r>
              <a:rPr lang="en-US" altLang="ko-KR" sz="1400" b="1" dirty="0"/>
              <a:t> to be exceeded</a:t>
            </a:r>
            <a:r>
              <a:rPr lang="en-US" altLang="ko-KR" sz="1400" dirty="0"/>
              <a:t>. If that’s the case, the pod’s creation is rejected. </a:t>
            </a:r>
            <a:r>
              <a:rPr lang="en-US" altLang="ko-KR" sz="1400" b="1" dirty="0"/>
              <a:t>Because resource quotas are enforced </a:t>
            </a:r>
            <a:r>
              <a:rPr lang="en-US" altLang="ko-KR" sz="1400" b="1" dirty="0">
                <a:solidFill>
                  <a:srgbClr val="FF0000"/>
                </a:solidFill>
              </a:rPr>
              <a:t>at pod creation time</a:t>
            </a:r>
            <a:r>
              <a:rPr lang="en-US" altLang="ko-KR" sz="1400" b="1" dirty="0"/>
              <a:t>, a </a:t>
            </a:r>
            <a:r>
              <a:rPr lang="en-US" altLang="ko-KR" sz="1400" b="1" dirty="0" err="1"/>
              <a:t>ResourceQuota</a:t>
            </a:r>
            <a:r>
              <a:rPr lang="en-US" altLang="ko-KR" sz="1400" b="1" dirty="0"/>
              <a:t> object only affects pods created after the </a:t>
            </a:r>
            <a:r>
              <a:rPr lang="en-US" altLang="ko-KR" sz="1400" b="1" dirty="0" err="1"/>
              <a:t>ResourceQuota</a:t>
            </a:r>
            <a:r>
              <a:rPr lang="en-US" altLang="ko-KR" sz="1400" b="1" dirty="0"/>
              <a:t> object is created—creating it has no effect on existing pods</a:t>
            </a:r>
            <a:r>
              <a:rPr lang="en-US" altLang="ko-KR" sz="1400" dirty="0"/>
              <a:t>. </a:t>
            </a:r>
          </a:p>
          <a:p>
            <a:pPr lvl="1">
              <a:buFont typeface="Wingdings" panose="05000000000000000000" pitchFamily="2" charset="2"/>
              <a:buChar char="§"/>
            </a:pPr>
            <a:r>
              <a:rPr lang="en-US" altLang="ko-KR" sz="1400" b="1" dirty="0"/>
              <a:t>A </a:t>
            </a:r>
            <a:r>
              <a:rPr lang="en-US" altLang="ko-KR" sz="1400" b="1" dirty="0" err="1"/>
              <a:t>ResourceQuota</a:t>
            </a:r>
            <a:r>
              <a:rPr lang="en-US" altLang="ko-KR" sz="1400" b="1" dirty="0"/>
              <a:t> limits the amount of computational resources the pods and the amount of storage </a:t>
            </a:r>
            <a:r>
              <a:rPr lang="en-US" altLang="ko-KR" sz="1400" b="1" dirty="0" err="1"/>
              <a:t>PersistentVolumeClaims</a:t>
            </a:r>
            <a:r>
              <a:rPr lang="en-US" altLang="ko-KR" sz="1400" b="1" dirty="0"/>
              <a:t> in a namespace can consume</a:t>
            </a:r>
            <a:r>
              <a:rPr lang="en-US" altLang="ko-KR" sz="1400" dirty="0"/>
              <a:t>. </a:t>
            </a:r>
            <a:r>
              <a:rPr lang="en-US" altLang="ko-KR" sz="1400" b="1" dirty="0"/>
              <a:t>It can also limit the number of pods, claims, and other API objects users are allowed to create inside the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E12CEA7-6F6D-174C-9476-9882BDC2F746}"/>
              </a:ext>
            </a:extLst>
          </p:cNvPr>
          <p:cNvGrpSpPr/>
          <p:nvPr/>
        </p:nvGrpSpPr>
        <p:grpSpPr>
          <a:xfrm>
            <a:off x="2860579" y="3570097"/>
            <a:ext cx="6470841" cy="2692884"/>
            <a:chOff x="2860579" y="3570097"/>
            <a:chExt cx="6470841" cy="2692884"/>
          </a:xfrm>
        </p:grpSpPr>
        <p:pic>
          <p:nvPicPr>
            <p:cNvPr id="9" name="그림 8">
              <a:extLst>
                <a:ext uri="{FF2B5EF4-FFF2-40B4-BE49-F238E27FC236}">
                  <a16:creationId xmlns:a16="http://schemas.microsoft.com/office/drawing/2014/main" id="{885FADD2-7AB4-E33A-A4C1-C7F97C89E859}"/>
                </a:ext>
              </a:extLst>
            </p:cNvPr>
            <p:cNvPicPr>
              <a:picLocks noChangeAspect="1"/>
            </p:cNvPicPr>
            <p:nvPr/>
          </p:nvPicPr>
          <p:blipFill>
            <a:blip r:embed="rId2"/>
            <a:stretch>
              <a:fillRect/>
            </a:stretch>
          </p:blipFill>
          <p:spPr>
            <a:xfrm>
              <a:off x="2860579" y="3570097"/>
              <a:ext cx="6470841" cy="2692884"/>
            </a:xfrm>
            <a:prstGeom prst="rect">
              <a:avLst/>
            </a:prstGeom>
            <a:ln>
              <a:solidFill>
                <a:schemeClr val="bg1">
                  <a:lumMod val="50000"/>
                </a:schemeClr>
              </a:solidFill>
            </a:ln>
          </p:spPr>
        </p:pic>
        <p:sp>
          <p:nvSpPr>
            <p:cNvPr id="10" name="직사각형 9">
              <a:extLst>
                <a:ext uri="{FF2B5EF4-FFF2-40B4-BE49-F238E27FC236}">
                  <a16:creationId xmlns:a16="http://schemas.microsoft.com/office/drawing/2014/main" id="{FD7CA263-2103-3797-ACED-07DD90E4ED30}"/>
                </a:ext>
              </a:extLst>
            </p:cNvPr>
            <p:cNvSpPr/>
            <p:nvPr/>
          </p:nvSpPr>
          <p:spPr>
            <a:xfrm>
              <a:off x="6190407" y="4822853"/>
              <a:ext cx="938676" cy="7768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8180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ResourceQuota</a:t>
            </a:r>
            <a:r>
              <a:rPr lang="en-US" altLang="ko-KR" sz="1800" b="1" dirty="0"/>
              <a:t> Object :</a:t>
            </a:r>
            <a:endParaRPr lang="en-US" altLang="ko-KR" sz="1400" dirty="0"/>
          </a:p>
          <a:p>
            <a:pPr lvl="1">
              <a:buFont typeface="Wingdings" panose="05000000000000000000" pitchFamily="2" charset="2"/>
              <a:buChar char="§"/>
            </a:pPr>
            <a:r>
              <a:rPr lang="en-US" altLang="ko-KR" sz="1400" b="1" dirty="0"/>
              <a:t>The overall CPU and memory all the pods in a namespace </a:t>
            </a:r>
            <a:r>
              <a:rPr lang="en-US" altLang="ko-KR" sz="1400" dirty="0"/>
              <a:t>are allowed to consume is defined by creating a </a:t>
            </a:r>
            <a:r>
              <a:rPr lang="en-US" altLang="ko-KR" sz="1400" b="1" dirty="0" err="1"/>
              <a:t>ResourceQuota</a:t>
            </a:r>
            <a:r>
              <a:rPr lang="en-US" altLang="ko-KR" sz="1400" b="1" dirty="0"/>
              <a:t> object </a:t>
            </a:r>
            <a:r>
              <a:rPr lang="en-US" altLang="ko-KR" sz="1400" dirty="0"/>
              <a:t>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Instead of defining a single total for each resource, you define separate totals for requests and limits for both CPU and memory</a:t>
            </a:r>
            <a:r>
              <a:rPr lang="en-US" altLang="ko-KR" sz="1400" dirty="0"/>
              <a:t>. You’ll notice the structure is a bit different, compared to that of a </a:t>
            </a:r>
            <a:r>
              <a:rPr lang="en-US" altLang="ko-KR" sz="1400" b="1" dirty="0" err="1"/>
              <a:t>LimitRange</a:t>
            </a:r>
            <a:r>
              <a:rPr lang="en-US" altLang="ko-KR" sz="1400" dirty="0"/>
              <a:t>. Here, </a:t>
            </a:r>
            <a:r>
              <a:rPr lang="en-US" altLang="ko-KR" sz="1400" b="1" dirty="0"/>
              <a:t>both the requests and the limits for all resources are defined in a single place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40039C62-C336-CA82-708B-B3BD68BE481F}"/>
              </a:ext>
            </a:extLst>
          </p:cNvPr>
          <p:cNvGrpSpPr/>
          <p:nvPr/>
        </p:nvGrpSpPr>
        <p:grpSpPr>
          <a:xfrm>
            <a:off x="838200" y="1805653"/>
            <a:ext cx="10515600" cy="3580626"/>
            <a:chOff x="838200" y="1708548"/>
            <a:chExt cx="10515600" cy="3580626"/>
          </a:xfrm>
        </p:grpSpPr>
        <p:grpSp>
          <p:nvGrpSpPr>
            <p:cNvPr id="14" name="그룹 13">
              <a:extLst>
                <a:ext uri="{FF2B5EF4-FFF2-40B4-BE49-F238E27FC236}">
                  <a16:creationId xmlns:a16="http://schemas.microsoft.com/office/drawing/2014/main" id="{955D9031-FCC6-61A8-C2E9-20A2070B98B1}"/>
                </a:ext>
              </a:extLst>
            </p:cNvPr>
            <p:cNvGrpSpPr/>
            <p:nvPr/>
          </p:nvGrpSpPr>
          <p:grpSpPr>
            <a:xfrm>
              <a:off x="838200" y="1708548"/>
              <a:ext cx="10515600" cy="3580626"/>
              <a:chOff x="838200" y="1708548"/>
              <a:chExt cx="10515600" cy="3580626"/>
            </a:xfrm>
          </p:grpSpPr>
          <p:grpSp>
            <p:nvGrpSpPr>
              <p:cNvPr id="10" name="그룹 9">
                <a:extLst>
                  <a:ext uri="{FF2B5EF4-FFF2-40B4-BE49-F238E27FC236}">
                    <a16:creationId xmlns:a16="http://schemas.microsoft.com/office/drawing/2014/main" id="{9245AE36-C262-C238-DA22-B5FC7764A684}"/>
                  </a:ext>
                </a:extLst>
              </p:cNvPr>
              <p:cNvGrpSpPr/>
              <p:nvPr/>
            </p:nvGrpSpPr>
            <p:grpSpPr>
              <a:xfrm>
                <a:off x="3047326" y="1708548"/>
                <a:ext cx="6097348" cy="1631216"/>
                <a:chOff x="3047326" y="1708548"/>
                <a:chExt cx="6097348" cy="1631216"/>
              </a:xfrm>
            </p:grpSpPr>
            <p:sp>
              <p:nvSpPr>
                <p:cNvPr id="8" name="TextBox 7">
                  <a:extLst>
                    <a:ext uri="{FF2B5EF4-FFF2-40B4-BE49-F238E27FC236}">
                      <a16:creationId xmlns:a16="http://schemas.microsoft.com/office/drawing/2014/main" id="{DE9478A5-6BBA-29EB-347A-2540637FF09D}"/>
                    </a:ext>
                  </a:extLst>
                </p:cNvPr>
                <p:cNvSpPr txBox="1"/>
                <p:nvPr/>
              </p:nvSpPr>
              <p:spPr>
                <a:xfrm>
                  <a:off x="3047326" y="1708548"/>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ResourceQuota</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cpu</a:t>
                  </a:r>
                  <a:r>
                    <a:rPr lang="en-US" altLang="ko-KR" sz="1000" b="1" dirty="0">
                      <a:solidFill>
                        <a:srgbClr val="FF0000"/>
                      </a:solidFill>
                    </a:rPr>
                    <a:t>-and-mem</a:t>
                  </a:r>
                </a:p>
                <a:p>
                  <a:r>
                    <a:rPr lang="en-US" altLang="ko-KR" sz="1000" b="1" dirty="0"/>
                    <a:t>spec:</a:t>
                  </a:r>
                </a:p>
                <a:p>
                  <a:r>
                    <a:rPr lang="en-US" altLang="ko-KR" sz="1000" b="1" dirty="0">
                      <a:solidFill>
                        <a:srgbClr val="FF0000"/>
                      </a:solidFill>
                    </a:rPr>
                    <a:t>  hard:</a:t>
                  </a:r>
                </a:p>
                <a:p>
                  <a:r>
                    <a:rPr lang="en-US" altLang="ko-KR" sz="1000" b="1" dirty="0">
                      <a:solidFill>
                        <a:srgbClr val="FF0000"/>
                      </a:solidFill>
                    </a:rPr>
                    <a:t>    </a:t>
                  </a:r>
                  <a:r>
                    <a:rPr lang="en-US" altLang="ko-KR" sz="1000" b="1" dirty="0" err="1">
                      <a:solidFill>
                        <a:srgbClr val="FF0000"/>
                      </a:solidFill>
                    </a:rPr>
                    <a:t>requests.cpu</a:t>
                  </a:r>
                  <a:r>
                    <a:rPr lang="en-US" altLang="ko-KR" sz="1000" b="1" dirty="0">
                      <a:solidFill>
                        <a:srgbClr val="FF0000"/>
                      </a:solidFill>
                    </a:rPr>
                    <a:t>: 400m</a:t>
                  </a:r>
                </a:p>
                <a:p>
                  <a:r>
                    <a:rPr lang="en-US" altLang="ko-KR" sz="1000" b="1" dirty="0">
                      <a:solidFill>
                        <a:srgbClr val="FF0000"/>
                      </a:solidFill>
                    </a:rPr>
                    <a:t>    </a:t>
                  </a:r>
                  <a:r>
                    <a:rPr lang="en-US" altLang="ko-KR" sz="1000" b="1" dirty="0" err="1">
                      <a:solidFill>
                        <a:srgbClr val="FF0000"/>
                      </a:solidFill>
                    </a:rPr>
                    <a:t>requests.memory</a:t>
                  </a:r>
                  <a:r>
                    <a:rPr lang="en-US" altLang="ko-KR" sz="1000" b="1" dirty="0">
                      <a:solidFill>
                        <a:srgbClr val="FF0000"/>
                      </a:solidFill>
                    </a:rPr>
                    <a:t>: 200Mi</a:t>
                  </a:r>
                </a:p>
                <a:p>
                  <a:r>
                    <a:rPr lang="en-US" altLang="ko-KR" sz="1000" b="1" dirty="0">
                      <a:solidFill>
                        <a:srgbClr val="FF0000"/>
                      </a:solidFill>
                    </a:rPr>
                    <a:t>    </a:t>
                  </a:r>
                  <a:r>
                    <a:rPr lang="en-US" altLang="ko-KR" sz="1000" b="1" dirty="0" err="1">
                      <a:solidFill>
                        <a:srgbClr val="FF0000"/>
                      </a:solidFill>
                    </a:rPr>
                    <a:t>limits.cpu</a:t>
                  </a:r>
                  <a:r>
                    <a:rPr lang="en-US" altLang="ko-KR" sz="1000" b="1" dirty="0">
                      <a:solidFill>
                        <a:srgbClr val="FF0000"/>
                      </a:solidFill>
                    </a:rPr>
                    <a:t>: 600m</a:t>
                  </a:r>
                </a:p>
                <a:p>
                  <a:r>
                    <a:rPr lang="en-US" altLang="ko-KR" sz="1000" b="1" dirty="0">
                      <a:solidFill>
                        <a:srgbClr val="FF0000"/>
                      </a:solidFill>
                    </a:rPr>
                    <a:t>    </a:t>
                  </a:r>
                  <a:r>
                    <a:rPr lang="en-US" altLang="ko-KR" sz="1000" b="1" dirty="0" err="1">
                      <a:solidFill>
                        <a:srgbClr val="FF0000"/>
                      </a:solidFill>
                    </a:rPr>
                    <a:t>limits.memory</a:t>
                  </a:r>
                  <a:r>
                    <a:rPr lang="en-US" altLang="ko-KR" sz="1000" b="1" dirty="0">
                      <a:solidFill>
                        <a:srgbClr val="FF0000"/>
                      </a:solidFill>
                    </a:rPr>
                    <a:t>: 500Mi</a:t>
                  </a:r>
                  <a:endParaRPr lang="ko-KR" altLang="en-US" sz="1000" b="1" dirty="0">
                    <a:solidFill>
                      <a:srgbClr val="FF0000"/>
                    </a:solidFill>
                  </a:endParaRPr>
                </a:p>
              </p:txBody>
            </p:sp>
            <p:sp>
              <p:nvSpPr>
                <p:cNvPr id="9" name="TextBox 8">
                  <a:extLst>
                    <a:ext uri="{FF2B5EF4-FFF2-40B4-BE49-F238E27FC236}">
                      <a16:creationId xmlns:a16="http://schemas.microsoft.com/office/drawing/2014/main" id="{FB4A3216-4BEA-69B4-8EFE-397504278446}"/>
                    </a:ext>
                  </a:extLst>
                </p:cNvPr>
                <p:cNvSpPr txBox="1"/>
                <p:nvPr/>
              </p:nvSpPr>
              <p:spPr>
                <a:xfrm>
                  <a:off x="7443567" y="1708548"/>
                  <a:ext cx="1701107" cy="246221"/>
                </a:xfrm>
                <a:prstGeom prst="rect">
                  <a:avLst/>
                </a:prstGeom>
                <a:noFill/>
              </p:spPr>
              <p:txBody>
                <a:bodyPr wrap="none" rtlCol="0">
                  <a:spAutoFit/>
                </a:bodyPr>
                <a:lstStyle/>
                <a:p>
                  <a:pPr algn="l"/>
                  <a:r>
                    <a:rPr lang="en-US" altLang="ko-KR" sz="1000" b="1" dirty="0"/>
                    <a:t>quota-</a:t>
                  </a:r>
                  <a:r>
                    <a:rPr lang="en-US" altLang="ko-KR" sz="1000" b="1" dirty="0" err="1"/>
                    <a:t>cpu</a:t>
                  </a:r>
                  <a:r>
                    <a:rPr lang="en-US" altLang="ko-KR" sz="1000" b="1" dirty="0"/>
                    <a:t>-</a:t>
                  </a:r>
                  <a:r>
                    <a:rPr lang="en-US" altLang="ko-KR" sz="1000" b="1" dirty="0" err="1"/>
                    <a:t>memory.yaml</a:t>
                  </a:r>
                  <a:endParaRPr lang="ko-KR" altLang="en-US" sz="1000" b="1" dirty="0"/>
                </a:p>
              </p:txBody>
            </p:sp>
          </p:grpSp>
          <p:pic>
            <p:nvPicPr>
              <p:cNvPr id="12" name="그림 11">
                <a:extLst>
                  <a:ext uri="{FF2B5EF4-FFF2-40B4-BE49-F238E27FC236}">
                    <a16:creationId xmlns:a16="http://schemas.microsoft.com/office/drawing/2014/main" id="{9DAC7139-9CA1-BD8E-F580-5E68E133D61E}"/>
                  </a:ext>
                </a:extLst>
              </p:cNvPr>
              <p:cNvPicPr>
                <a:picLocks noChangeAspect="1"/>
              </p:cNvPicPr>
              <p:nvPr/>
            </p:nvPicPr>
            <p:blipFill>
              <a:blip r:embed="rId2"/>
              <a:stretch>
                <a:fillRect/>
              </a:stretch>
            </p:blipFill>
            <p:spPr>
              <a:xfrm>
                <a:off x="838200" y="3624204"/>
                <a:ext cx="10515600" cy="1664970"/>
              </a:xfrm>
              <a:prstGeom prst="rect">
                <a:avLst/>
              </a:prstGeom>
            </p:spPr>
          </p:pic>
          <p:sp>
            <p:nvSpPr>
              <p:cNvPr id="13" name="화살표: 아래쪽 12">
                <a:extLst>
                  <a:ext uri="{FF2B5EF4-FFF2-40B4-BE49-F238E27FC236}">
                    <a16:creationId xmlns:a16="http://schemas.microsoft.com/office/drawing/2014/main" id="{70A94869-7E11-B91E-FAFA-12A11538EBAF}"/>
                  </a:ext>
                </a:extLst>
              </p:cNvPr>
              <p:cNvSpPr/>
              <p:nvPr/>
            </p:nvSpPr>
            <p:spPr>
              <a:xfrm>
                <a:off x="5881561" y="3339764"/>
                <a:ext cx="428878" cy="293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05368A04-D0AC-341C-7DD9-BED4D878CEB2}"/>
                </a:ext>
              </a:extLst>
            </p:cNvPr>
            <p:cNvSpPr/>
            <p:nvPr/>
          </p:nvSpPr>
          <p:spPr>
            <a:xfrm>
              <a:off x="930584" y="4718296"/>
              <a:ext cx="7905919" cy="1612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889839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ResourceQuota</a:t>
            </a:r>
            <a:r>
              <a:rPr lang="en-US" altLang="ko-KR" sz="1800" b="1" dirty="0"/>
              <a:t> Object :</a:t>
            </a:r>
            <a:endParaRPr lang="en-US" altLang="ko-KR" sz="1400" dirty="0"/>
          </a:p>
          <a:p>
            <a:pPr lvl="1">
              <a:buFont typeface="Wingdings" panose="05000000000000000000" pitchFamily="2" charset="2"/>
              <a:buChar char="§"/>
            </a:pPr>
            <a:r>
              <a:rPr lang="en-US" altLang="ko-KR" sz="1400" b="1" dirty="0"/>
              <a:t>In the previous example, the </a:t>
            </a:r>
            <a:r>
              <a:rPr lang="en-US" altLang="ko-KR" sz="1400" b="1" dirty="0" err="1"/>
              <a:t>ResourceQuota</a:t>
            </a:r>
            <a:r>
              <a:rPr lang="en-US" altLang="ko-KR" sz="1400" b="1" dirty="0"/>
              <a:t> sets the maximum amount of CPU pods in the namespace can request to 400 </a:t>
            </a:r>
            <a:r>
              <a:rPr lang="en-US" altLang="ko-KR" sz="1400" b="1" dirty="0" err="1"/>
              <a:t>millicores</a:t>
            </a:r>
            <a:r>
              <a:rPr lang="en-US" altLang="ko-KR" sz="1400" dirty="0"/>
              <a:t>. </a:t>
            </a:r>
            <a:r>
              <a:rPr lang="en-US" altLang="ko-KR" sz="1400" b="1" dirty="0"/>
              <a:t>The maximum total CPU limits in the namespace are set to 600 </a:t>
            </a:r>
            <a:r>
              <a:rPr lang="en-US" altLang="ko-KR" sz="1400" b="1" dirty="0" err="1"/>
              <a:t>millicores</a:t>
            </a:r>
            <a:r>
              <a:rPr lang="en-US" altLang="ko-KR" sz="1400" dirty="0"/>
              <a:t>. </a:t>
            </a:r>
            <a:r>
              <a:rPr lang="en-US" altLang="ko-KR" sz="1400" b="1" dirty="0"/>
              <a:t>For memory, the maximum total requests are set to 200 MiB, whereas the limits are set to 500 MiB</a:t>
            </a:r>
            <a:r>
              <a:rPr lang="en-US" altLang="ko-KR" sz="1400" dirty="0"/>
              <a:t>.</a:t>
            </a:r>
          </a:p>
          <a:p>
            <a:pPr lvl="1">
              <a:buFont typeface="Wingdings" panose="05000000000000000000" pitchFamily="2" charset="2"/>
              <a:buChar char="§"/>
            </a:pPr>
            <a:r>
              <a:rPr lang="en-US" altLang="ko-KR" sz="1400" b="1" dirty="0"/>
              <a:t>A </a:t>
            </a:r>
            <a:r>
              <a:rPr lang="en-US" altLang="ko-KR" sz="1400" b="1" dirty="0" err="1"/>
              <a:t>ResourceQuota</a:t>
            </a:r>
            <a:r>
              <a:rPr lang="en-US" altLang="ko-KR" sz="1400" b="1" dirty="0"/>
              <a:t> object applies to the namespace it’s created in, like a </a:t>
            </a:r>
            <a:r>
              <a:rPr lang="en-US" altLang="ko-KR" sz="1400" b="1" dirty="0" err="1"/>
              <a:t>LimitRange</a:t>
            </a:r>
            <a:r>
              <a:rPr lang="en-US" altLang="ko-KR" sz="1400" dirty="0"/>
              <a:t>, </a:t>
            </a:r>
            <a:r>
              <a:rPr lang="en-US" altLang="ko-KR" sz="1400" b="1" dirty="0"/>
              <a:t>but </a:t>
            </a:r>
            <a:r>
              <a:rPr lang="en-US" altLang="ko-KR" sz="1400" b="1" dirty="0">
                <a:solidFill>
                  <a:srgbClr val="FF0000"/>
                </a:solidFill>
              </a:rPr>
              <a:t>it applies to all the pods’ resource requests and limits in total </a:t>
            </a:r>
            <a:r>
              <a:rPr lang="en-US" altLang="ko-KR" sz="1400" b="1" dirty="0"/>
              <a:t>and not to each individual pod or container separately</a:t>
            </a:r>
            <a:r>
              <a:rPr lang="en-US" altLang="ko-KR" sz="1400" dirty="0"/>
              <a:t>,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38B338B-F4FB-808F-6281-3CF9AD5A8709}"/>
              </a:ext>
            </a:extLst>
          </p:cNvPr>
          <p:cNvPicPr>
            <a:picLocks noChangeAspect="1"/>
          </p:cNvPicPr>
          <p:nvPr/>
        </p:nvPicPr>
        <p:blipFill>
          <a:blip r:embed="rId2"/>
          <a:stretch>
            <a:fillRect/>
          </a:stretch>
        </p:blipFill>
        <p:spPr>
          <a:xfrm>
            <a:off x="3405187" y="2753518"/>
            <a:ext cx="5381625" cy="1676400"/>
          </a:xfrm>
          <a:prstGeom prst="rect">
            <a:avLst/>
          </a:prstGeom>
        </p:spPr>
      </p:pic>
    </p:spTree>
    <p:extLst>
      <p:ext uri="{BB962C8B-B14F-4D97-AF65-F5344CB8AC3E}">
        <p14:creationId xmlns:p14="http://schemas.microsoft.com/office/powerpoint/2010/main" val="904948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ResourceQuota</a:t>
            </a:r>
            <a:r>
              <a:rPr lang="en-US" altLang="ko-KR" sz="1800" b="1" dirty="0"/>
              <a:t> Object :</a:t>
            </a:r>
            <a:endParaRPr lang="en-US" altLang="ko-KR" sz="1400" dirty="0"/>
          </a:p>
          <a:p>
            <a:pPr lvl="1">
              <a:buFont typeface="Wingdings" panose="05000000000000000000" pitchFamily="2" charset="2"/>
              <a:buChar char="§"/>
            </a:pPr>
            <a:r>
              <a:rPr lang="en-US" altLang="ko-KR" sz="1400" dirty="0"/>
              <a:t>After you post the </a:t>
            </a:r>
            <a:r>
              <a:rPr lang="en-US" altLang="ko-KR" sz="1400" b="1" dirty="0" err="1"/>
              <a:t>ResourceQuota</a:t>
            </a:r>
            <a:r>
              <a:rPr lang="en-US" altLang="ko-KR" sz="1400" dirty="0"/>
              <a:t> object to the API server, </a:t>
            </a:r>
            <a:r>
              <a:rPr lang="en-US" altLang="ko-KR" sz="1400" b="1" dirty="0"/>
              <a:t>you can use the “$ </a:t>
            </a:r>
            <a:r>
              <a:rPr lang="en-US" altLang="ko-KR" sz="1400" b="1" dirty="0" err="1"/>
              <a:t>kubectl</a:t>
            </a:r>
            <a:r>
              <a:rPr lang="en-US" altLang="ko-KR" sz="1400" b="1" dirty="0"/>
              <a:t> describe” command to see how much of the quota is already used up</a:t>
            </a:r>
            <a:r>
              <a:rPr lang="en-US" altLang="ko-KR" sz="1400" dirty="0"/>
              <a:t>, as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t>kubia</a:t>
            </a:r>
            <a:r>
              <a:rPr lang="en-US" altLang="ko-KR" sz="1400" b="1" dirty="0"/>
              <a:t>-manual” pod is already running without requesting CPU or memory resources, so the Used column matches its resource requests and limits(it is zero now)</a:t>
            </a:r>
            <a:r>
              <a:rPr lang="en-US" altLang="ko-KR" sz="1400" dirty="0"/>
              <a:t>. When we run additional pods, their requests and limits are added to the used amounts.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7EB17182-4217-7E6E-0E6C-E4404FB184D9}"/>
              </a:ext>
            </a:extLst>
          </p:cNvPr>
          <p:cNvGrpSpPr/>
          <p:nvPr/>
        </p:nvGrpSpPr>
        <p:grpSpPr>
          <a:xfrm>
            <a:off x="1380029" y="1782662"/>
            <a:ext cx="9431942" cy="3049745"/>
            <a:chOff x="1380029" y="1774570"/>
            <a:chExt cx="9431942" cy="3049745"/>
          </a:xfrm>
        </p:grpSpPr>
        <p:grpSp>
          <p:nvGrpSpPr>
            <p:cNvPr id="12" name="그룹 11">
              <a:extLst>
                <a:ext uri="{FF2B5EF4-FFF2-40B4-BE49-F238E27FC236}">
                  <a16:creationId xmlns:a16="http://schemas.microsoft.com/office/drawing/2014/main" id="{D9B57ADC-76B3-7944-C1E5-BD4617956E75}"/>
                </a:ext>
              </a:extLst>
            </p:cNvPr>
            <p:cNvGrpSpPr/>
            <p:nvPr/>
          </p:nvGrpSpPr>
          <p:grpSpPr>
            <a:xfrm>
              <a:off x="3047326" y="1774570"/>
              <a:ext cx="6097348" cy="581720"/>
              <a:chOff x="3047326" y="1726018"/>
              <a:chExt cx="6097348" cy="581720"/>
            </a:xfrm>
          </p:grpSpPr>
          <p:sp>
            <p:nvSpPr>
              <p:cNvPr id="10" name="TextBox 9">
                <a:extLst>
                  <a:ext uri="{FF2B5EF4-FFF2-40B4-BE49-F238E27FC236}">
                    <a16:creationId xmlns:a16="http://schemas.microsoft.com/office/drawing/2014/main" id="{1404B286-B23E-2301-274A-A9776226A7F6}"/>
                  </a:ext>
                </a:extLst>
              </p:cNvPr>
              <p:cNvSpPr txBox="1"/>
              <p:nvPr/>
            </p:nvSpPr>
            <p:spPr>
              <a:xfrm>
                <a:off x="3047326" y="172601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quota</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7A228937-3AFE-82C6-0F02-D50029166238}"/>
                  </a:ext>
                </a:extLst>
              </p:cNvPr>
              <p:cNvSpPr/>
              <p:nvPr/>
            </p:nvSpPr>
            <p:spPr>
              <a:xfrm>
                <a:off x="5857285" y="1995293"/>
                <a:ext cx="477430"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그림 15">
              <a:extLst>
                <a:ext uri="{FF2B5EF4-FFF2-40B4-BE49-F238E27FC236}">
                  <a16:creationId xmlns:a16="http://schemas.microsoft.com/office/drawing/2014/main" id="{3CBD2431-8BD9-57DF-96C7-D0F43AF2656F}"/>
                </a:ext>
              </a:extLst>
            </p:cNvPr>
            <p:cNvPicPr>
              <a:picLocks noChangeAspect="1"/>
            </p:cNvPicPr>
            <p:nvPr/>
          </p:nvPicPr>
          <p:blipFill>
            <a:blip r:embed="rId2"/>
            <a:stretch>
              <a:fillRect/>
            </a:stretch>
          </p:blipFill>
          <p:spPr>
            <a:xfrm>
              <a:off x="1380029" y="2356290"/>
              <a:ext cx="9431942" cy="2468025"/>
            </a:xfrm>
            <a:prstGeom prst="rect">
              <a:avLst/>
            </a:prstGeom>
          </p:spPr>
        </p:pic>
        <p:sp>
          <p:nvSpPr>
            <p:cNvPr id="17" name="직사각형 16">
              <a:extLst>
                <a:ext uri="{FF2B5EF4-FFF2-40B4-BE49-F238E27FC236}">
                  <a16:creationId xmlns:a16="http://schemas.microsoft.com/office/drawing/2014/main" id="{201609F9-4A99-BACE-E391-E15315E6769D}"/>
                </a:ext>
              </a:extLst>
            </p:cNvPr>
            <p:cNvSpPr/>
            <p:nvPr/>
          </p:nvSpPr>
          <p:spPr>
            <a:xfrm>
              <a:off x="1464658" y="3445184"/>
              <a:ext cx="1869261" cy="11268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2406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ResourceQuota</a:t>
            </a:r>
            <a:r>
              <a:rPr lang="en-US" altLang="ko-KR" sz="1800" b="1" dirty="0"/>
              <a:t> Object :</a:t>
            </a:r>
            <a:endParaRPr lang="en-US" altLang="ko-KR" sz="1400" dirty="0"/>
          </a:p>
          <a:p>
            <a:pPr lvl="1">
              <a:buFont typeface="Wingdings" panose="05000000000000000000" pitchFamily="2" charset="2"/>
              <a:buChar char="§"/>
            </a:pPr>
            <a:r>
              <a:rPr lang="en-US" altLang="ko-KR" sz="1400" b="1" dirty="0"/>
              <a:t>One caveat when creating a </a:t>
            </a:r>
            <a:r>
              <a:rPr lang="en-US" altLang="ko-KR" sz="1400" b="1" dirty="0" err="1"/>
              <a:t>ResourceQuota</a:t>
            </a:r>
            <a:r>
              <a:rPr lang="en-US" altLang="ko-KR" sz="1400" b="1" dirty="0"/>
              <a:t> is that you will also want to create a </a:t>
            </a:r>
            <a:r>
              <a:rPr lang="en-US" altLang="ko-KR" sz="1400" b="1" dirty="0" err="1"/>
              <a:t>LimitRange</a:t>
            </a:r>
            <a:r>
              <a:rPr lang="en-US" altLang="ko-KR" sz="1400" b="1" dirty="0"/>
              <a:t> object alongside it</a:t>
            </a:r>
            <a:r>
              <a:rPr lang="en-US" altLang="ko-KR" sz="1400" dirty="0"/>
              <a:t>. In your case, you have a </a:t>
            </a:r>
            <a:r>
              <a:rPr lang="en-US" altLang="ko-KR" sz="1400" b="1" dirty="0" err="1"/>
              <a:t>LimitRange</a:t>
            </a:r>
            <a:r>
              <a:rPr lang="en-US" altLang="ko-KR" sz="1400" dirty="0"/>
              <a:t> configured from the previous section, but </a:t>
            </a:r>
            <a:r>
              <a:rPr lang="en-US" altLang="ko-KR" sz="1400" b="1" dirty="0"/>
              <a:t>if you didn’t have one, you couldn’t run the “</a:t>
            </a:r>
            <a:r>
              <a:rPr lang="en-US" altLang="ko-KR" sz="1400" b="1" dirty="0" err="1"/>
              <a:t>kubia</a:t>
            </a:r>
            <a:r>
              <a:rPr lang="en-US" altLang="ko-KR" sz="1400" b="1" dirty="0"/>
              <a:t>-manual” pod</a:t>
            </a:r>
            <a:r>
              <a:rPr lang="en-US" altLang="ko-KR" sz="1400" dirty="0"/>
              <a:t>, </a:t>
            </a:r>
            <a:r>
              <a:rPr lang="en-US" altLang="ko-KR" sz="1400" b="1" dirty="0"/>
              <a:t>because </a:t>
            </a:r>
            <a:r>
              <a:rPr lang="en-US" altLang="ko-KR" sz="1400" b="1" dirty="0">
                <a:solidFill>
                  <a:srgbClr val="FF0000"/>
                </a:solidFill>
              </a:rPr>
              <a:t>it doesn’t specify any resource requests or limits</a:t>
            </a:r>
            <a:r>
              <a:rPr lang="en-US" altLang="ko-KR" sz="1400" dirty="0"/>
              <a:t>. Here’s what would happen in that case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a quota for a specific resource (CPU or memory) is configured (request or limit), pods need to have the request or limit (respectively) set for that same resource</a:t>
            </a:r>
            <a:r>
              <a:rPr lang="en-US" altLang="ko-KR" sz="1400" dirty="0"/>
              <a:t>; otherwise the API server will not accept the pod. </a:t>
            </a:r>
            <a:r>
              <a:rPr lang="en-US" altLang="ko-KR" sz="1400" b="1" dirty="0"/>
              <a:t>That’s why having a </a:t>
            </a:r>
            <a:r>
              <a:rPr lang="en-US" altLang="ko-KR" sz="1400" b="1" dirty="0" err="1"/>
              <a:t>LimitRange</a:t>
            </a:r>
            <a:r>
              <a:rPr lang="en-US" altLang="ko-KR" sz="1400" b="1" dirty="0"/>
              <a:t> with defaults for those resources can make life a bit easier for people creating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C1FA025-9D72-37CA-395D-CCF31716A75B}"/>
              </a:ext>
            </a:extLst>
          </p:cNvPr>
          <p:cNvGrpSpPr/>
          <p:nvPr/>
        </p:nvGrpSpPr>
        <p:grpSpPr>
          <a:xfrm>
            <a:off x="838200" y="2105380"/>
            <a:ext cx="10515600" cy="2248595"/>
            <a:chOff x="838200" y="2105380"/>
            <a:chExt cx="10515600" cy="2248595"/>
          </a:xfrm>
        </p:grpSpPr>
        <p:sp>
          <p:nvSpPr>
            <p:cNvPr id="8" name="TextBox 7">
              <a:extLst>
                <a:ext uri="{FF2B5EF4-FFF2-40B4-BE49-F238E27FC236}">
                  <a16:creationId xmlns:a16="http://schemas.microsoft.com/office/drawing/2014/main" id="{1BDB48C6-A27F-D7B4-370F-2050ADC2A0D7}"/>
                </a:ext>
              </a:extLst>
            </p:cNvPr>
            <p:cNvSpPr txBox="1"/>
            <p:nvPr/>
          </p:nvSpPr>
          <p:spPr>
            <a:xfrm>
              <a:off x="3047326" y="210538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kubia-manual.yaml</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9EE4F391-49DD-849C-513E-A9067E69DA17}"/>
                </a:ext>
              </a:extLst>
            </p:cNvPr>
            <p:cNvSpPr/>
            <p:nvPr/>
          </p:nvSpPr>
          <p:spPr>
            <a:xfrm>
              <a:off x="5858633" y="2354365"/>
              <a:ext cx="474733" cy="32686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87629634-3F83-6C95-60A0-D2B299912C12}"/>
                </a:ext>
              </a:extLst>
            </p:cNvPr>
            <p:cNvPicPr>
              <a:picLocks noChangeAspect="1"/>
            </p:cNvPicPr>
            <p:nvPr/>
          </p:nvPicPr>
          <p:blipFill>
            <a:blip r:embed="rId2"/>
            <a:stretch>
              <a:fillRect/>
            </a:stretch>
          </p:blipFill>
          <p:spPr>
            <a:xfrm>
              <a:off x="838200" y="2689005"/>
              <a:ext cx="10515600" cy="1664970"/>
            </a:xfrm>
            <a:prstGeom prst="rect">
              <a:avLst/>
            </a:prstGeom>
          </p:spPr>
        </p:pic>
      </p:grpSp>
    </p:spTree>
    <p:extLst>
      <p:ext uri="{BB962C8B-B14F-4D97-AF65-F5344CB8AC3E}">
        <p14:creationId xmlns:p14="http://schemas.microsoft.com/office/powerpoint/2010/main" val="3427269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a Quota for Persistent Storage :</a:t>
            </a:r>
            <a:endParaRPr lang="en-US" altLang="ko-KR" sz="1400" dirty="0"/>
          </a:p>
          <a:p>
            <a:pPr lvl="1">
              <a:buFont typeface="Wingdings" panose="05000000000000000000" pitchFamily="2" charset="2"/>
              <a:buChar char="§"/>
            </a:pPr>
            <a:r>
              <a:rPr lang="en-US" altLang="ko-KR" sz="1400" b="1" dirty="0"/>
              <a:t>A </a:t>
            </a:r>
            <a:r>
              <a:rPr lang="en-US" altLang="ko-KR" sz="1400" b="1" dirty="0" err="1"/>
              <a:t>ResourceQuota</a:t>
            </a:r>
            <a:r>
              <a:rPr lang="en-US" altLang="ko-KR" sz="1400" b="1" dirty="0"/>
              <a:t> object can also limit the amount of persistent storage that can be claimed in the namespace</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B56B7172-897A-E24A-51F8-52C883DD8BCF}"/>
              </a:ext>
            </a:extLst>
          </p:cNvPr>
          <p:cNvGrpSpPr/>
          <p:nvPr/>
        </p:nvGrpSpPr>
        <p:grpSpPr>
          <a:xfrm>
            <a:off x="838200" y="1820902"/>
            <a:ext cx="10515600" cy="3984304"/>
            <a:chOff x="838200" y="1820902"/>
            <a:chExt cx="10515600" cy="3984304"/>
          </a:xfrm>
        </p:grpSpPr>
        <p:grpSp>
          <p:nvGrpSpPr>
            <p:cNvPr id="14" name="그룹 13">
              <a:extLst>
                <a:ext uri="{FF2B5EF4-FFF2-40B4-BE49-F238E27FC236}">
                  <a16:creationId xmlns:a16="http://schemas.microsoft.com/office/drawing/2014/main" id="{BA808B76-FA01-FA29-7DCB-8DDA67056522}"/>
                </a:ext>
              </a:extLst>
            </p:cNvPr>
            <p:cNvGrpSpPr/>
            <p:nvPr/>
          </p:nvGrpSpPr>
          <p:grpSpPr>
            <a:xfrm>
              <a:off x="838200" y="1820902"/>
              <a:ext cx="10515600" cy="3984304"/>
              <a:chOff x="838200" y="1667153"/>
              <a:chExt cx="10515600" cy="3984304"/>
            </a:xfrm>
          </p:grpSpPr>
          <p:grpSp>
            <p:nvGrpSpPr>
              <p:cNvPr id="10" name="그룹 9">
                <a:extLst>
                  <a:ext uri="{FF2B5EF4-FFF2-40B4-BE49-F238E27FC236}">
                    <a16:creationId xmlns:a16="http://schemas.microsoft.com/office/drawing/2014/main" id="{276871F2-E43A-87B9-BBB5-C9E5E726BD31}"/>
                  </a:ext>
                </a:extLst>
              </p:cNvPr>
              <p:cNvGrpSpPr/>
              <p:nvPr/>
            </p:nvGrpSpPr>
            <p:grpSpPr>
              <a:xfrm>
                <a:off x="3047326" y="1667153"/>
                <a:ext cx="6097348" cy="1477328"/>
                <a:chOff x="3048674" y="1861363"/>
                <a:chExt cx="6097348" cy="1477328"/>
              </a:xfrm>
            </p:grpSpPr>
            <p:sp>
              <p:nvSpPr>
                <p:cNvPr id="8" name="TextBox 7">
                  <a:extLst>
                    <a:ext uri="{FF2B5EF4-FFF2-40B4-BE49-F238E27FC236}">
                      <a16:creationId xmlns:a16="http://schemas.microsoft.com/office/drawing/2014/main" id="{46561505-61C6-F762-EAF0-BBC7DEB39D7B}"/>
                    </a:ext>
                  </a:extLst>
                </p:cNvPr>
                <p:cNvSpPr txBox="1"/>
                <p:nvPr/>
              </p:nvSpPr>
              <p:spPr>
                <a:xfrm>
                  <a:off x="3048674" y="1861363"/>
                  <a:ext cx="6097348" cy="1477328"/>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ResourceQuota</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storage</a:t>
                  </a:r>
                </a:p>
                <a:p>
                  <a:r>
                    <a:rPr lang="en-US" altLang="ko-KR" sz="1000" b="1" dirty="0"/>
                    <a:t>spec:</a:t>
                  </a:r>
                </a:p>
                <a:p>
                  <a:r>
                    <a:rPr lang="en-US" altLang="ko-KR" sz="1000" b="1" dirty="0"/>
                    <a:t>  </a:t>
                  </a:r>
                  <a:r>
                    <a:rPr lang="en-US" altLang="ko-KR" sz="1000" b="1" dirty="0">
                      <a:solidFill>
                        <a:srgbClr val="FF0000"/>
                      </a:solidFill>
                    </a:rPr>
                    <a:t>hard:</a:t>
                  </a:r>
                </a:p>
                <a:p>
                  <a:r>
                    <a:rPr lang="en-US" altLang="ko-KR" sz="1000" b="1" dirty="0">
                      <a:solidFill>
                        <a:srgbClr val="FF0000"/>
                      </a:solidFill>
                    </a:rPr>
                    <a:t>    </a:t>
                  </a:r>
                  <a:r>
                    <a:rPr lang="en-US" altLang="ko-KR" sz="1000" b="1" dirty="0" err="1">
                      <a:solidFill>
                        <a:srgbClr val="FF0000"/>
                      </a:solidFill>
                    </a:rPr>
                    <a:t>requests.storage</a:t>
                  </a:r>
                  <a:r>
                    <a:rPr lang="en-US" altLang="ko-KR" sz="1000" b="1" dirty="0">
                      <a:solidFill>
                        <a:srgbClr val="FF0000"/>
                      </a:solidFill>
                    </a:rPr>
                    <a:t>: 500Gi</a:t>
                  </a:r>
                </a:p>
                <a:p>
                  <a:r>
                    <a:rPr lang="en-US" altLang="ko-KR" sz="1000" b="1" dirty="0"/>
                    <a:t>    </a:t>
                  </a:r>
                  <a:r>
                    <a:rPr lang="en-US" altLang="ko-KR" sz="1000" b="1" dirty="0">
                      <a:solidFill>
                        <a:srgbClr val="FF0000"/>
                      </a:solidFill>
                    </a:rPr>
                    <a:t>ssd.storageclass.storage.k8s.io/</a:t>
                  </a:r>
                  <a:r>
                    <a:rPr lang="en-US" altLang="ko-KR" sz="1000" b="1" dirty="0" err="1">
                      <a:solidFill>
                        <a:srgbClr val="FF0000"/>
                      </a:solidFill>
                    </a:rPr>
                    <a:t>requests.storage</a:t>
                  </a:r>
                  <a:r>
                    <a:rPr lang="en-US" altLang="ko-KR" sz="1000" b="1" dirty="0">
                      <a:solidFill>
                        <a:srgbClr val="FF0000"/>
                      </a:solidFill>
                    </a:rPr>
                    <a:t>: 300Gi</a:t>
                  </a:r>
                </a:p>
                <a:p>
                  <a:r>
                    <a:rPr lang="en-US" altLang="ko-KR" sz="1000" b="1" dirty="0"/>
                    <a:t>    </a:t>
                  </a:r>
                  <a:r>
                    <a:rPr lang="en-US" altLang="ko-KR" sz="1000" b="1" dirty="0">
                      <a:solidFill>
                        <a:srgbClr val="FF0000"/>
                      </a:solidFill>
                    </a:rPr>
                    <a:t>standard.storageclass.storage.k8s.io/</a:t>
                  </a:r>
                  <a:r>
                    <a:rPr lang="en-US" altLang="ko-KR" sz="1000" b="1" dirty="0" err="1">
                      <a:solidFill>
                        <a:srgbClr val="FF0000"/>
                      </a:solidFill>
                    </a:rPr>
                    <a:t>requests.storage</a:t>
                  </a:r>
                  <a:r>
                    <a:rPr lang="en-US" altLang="ko-KR" sz="1000" b="1" dirty="0">
                      <a:solidFill>
                        <a:srgbClr val="FF0000"/>
                      </a:solidFill>
                    </a:rPr>
                    <a:t>: 1Ti</a:t>
                  </a:r>
                  <a:endParaRPr lang="ko-KR" altLang="en-US" sz="1000" b="1" dirty="0">
                    <a:solidFill>
                      <a:srgbClr val="FF0000"/>
                    </a:solidFill>
                  </a:endParaRPr>
                </a:p>
              </p:txBody>
            </p:sp>
            <p:sp>
              <p:nvSpPr>
                <p:cNvPr id="9" name="TextBox 8">
                  <a:extLst>
                    <a:ext uri="{FF2B5EF4-FFF2-40B4-BE49-F238E27FC236}">
                      <a16:creationId xmlns:a16="http://schemas.microsoft.com/office/drawing/2014/main" id="{A8A5F103-6BA2-40E3-43A7-6A832BD7A193}"/>
                    </a:ext>
                  </a:extLst>
                </p:cNvPr>
                <p:cNvSpPr txBox="1"/>
                <p:nvPr/>
              </p:nvSpPr>
              <p:spPr>
                <a:xfrm>
                  <a:off x="7767118" y="1867220"/>
                  <a:ext cx="1378904" cy="246221"/>
                </a:xfrm>
                <a:prstGeom prst="rect">
                  <a:avLst/>
                </a:prstGeom>
                <a:noFill/>
              </p:spPr>
              <p:txBody>
                <a:bodyPr wrap="none" rtlCol="0">
                  <a:spAutoFit/>
                </a:bodyPr>
                <a:lstStyle/>
                <a:p>
                  <a:pPr algn="l"/>
                  <a:r>
                    <a:rPr lang="en-US" altLang="ko-KR" sz="1000" b="1" dirty="0"/>
                    <a:t>quota-</a:t>
                  </a:r>
                  <a:r>
                    <a:rPr lang="en-US" altLang="ko-KR" sz="1000" b="1" dirty="0" err="1"/>
                    <a:t>storage.yaml</a:t>
                  </a:r>
                  <a:endParaRPr lang="ko-KR" altLang="en-US" sz="1000" b="1" dirty="0"/>
                </a:p>
              </p:txBody>
            </p:sp>
          </p:grpSp>
          <p:sp>
            <p:nvSpPr>
              <p:cNvPr id="11" name="화살표: 아래쪽 10">
                <a:extLst>
                  <a:ext uri="{FF2B5EF4-FFF2-40B4-BE49-F238E27FC236}">
                    <a16:creationId xmlns:a16="http://schemas.microsoft.com/office/drawing/2014/main" id="{EE7D499E-DEBF-47FB-273C-12ABE8161E71}"/>
                  </a:ext>
                </a:extLst>
              </p:cNvPr>
              <p:cNvSpPr/>
              <p:nvPr/>
            </p:nvSpPr>
            <p:spPr>
              <a:xfrm>
                <a:off x="5857285" y="3163986"/>
                <a:ext cx="477430" cy="3317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7FB31EDE-D14E-7B4C-A73A-55733DB8708E}"/>
                  </a:ext>
                </a:extLst>
              </p:cNvPr>
              <p:cNvPicPr>
                <a:picLocks noChangeAspect="1"/>
              </p:cNvPicPr>
              <p:nvPr/>
            </p:nvPicPr>
            <p:blipFill>
              <a:blip r:embed="rId2"/>
              <a:stretch>
                <a:fillRect/>
              </a:stretch>
            </p:blipFill>
            <p:spPr>
              <a:xfrm>
                <a:off x="838200" y="3495759"/>
                <a:ext cx="10515600" cy="2155698"/>
              </a:xfrm>
              <a:prstGeom prst="rect">
                <a:avLst/>
              </a:prstGeom>
            </p:spPr>
          </p:pic>
        </p:grpSp>
        <p:sp>
          <p:nvSpPr>
            <p:cNvPr id="15" name="직사각형 14">
              <a:extLst>
                <a:ext uri="{FF2B5EF4-FFF2-40B4-BE49-F238E27FC236}">
                  <a16:creationId xmlns:a16="http://schemas.microsoft.com/office/drawing/2014/main" id="{2B216F07-1E2B-2B63-0F64-394280536E1B}"/>
                </a:ext>
              </a:extLst>
            </p:cNvPr>
            <p:cNvSpPr/>
            <p:nvPr/>
          </p:nvSpPr>
          <p:spPr>
            <a:xfrm>
              <a:off x="971044" y="5211271"/>
              <a:ext cx="10220241" cy="2913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56149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a Quota for Persistent Storage :</a:t>
            </a:r>
            <a:endParaRPr lang="en-US" altLang="ko-KR" sz="1400" dirty="0"/>
          </a:p>
          <a:p>
            <a:pPr lvl="1">
              <a:buFont typeface="Wingdings" panose="05000000000000000000" pitchFamily="2" charset="2"/>
              <a:buChar char="§"/>
            </a:pPr>
            <a:r>
              <a:rPr lang="en-US" altLang="ko-KR" sz="1400" dirty="0"/>
              <a:t>In the previous example, </a:t>
            </a:r>
            <a:r>
              <a:rPr lang="en-US" altLang="ko-KR" sz="1400" b="1" dirty="0"/>
              <a:t>the amount of storage all </a:t>
            </a:r>
            <a:r>
              <a:rPr lang="en-US" altLang="ko-KR" sz="1400" b="1" dirty="0" err="1"/>
              <a:t>PersistentVolumeClaims</a:t>
            </a:r>
            <a:r>
              <a:rPr lang="en-US" altLang="ko-KR" sz="1400" b="1" dirty="0"/>
              <a:t> in a namespace can request is limited to 500 GiB (by the “</a:t>
            </a:r>
            <a:r>
              <a:rPr lang="en-US" altLang="ko-KR" sz="1400" b="1" dirty="0" err="1">
                <a:solidFill>
                  <a:srgbClr val="FF0000"/>
                </a:solidFill>
              </a:rPr>
              <a:t>requests.storage</a:t>
            </a:r>
            <a:r>
              <a:rPr lang="en-US" altLang="ko-KR" sz="1400" b="1" dirty="0"/>
              <a:t>” entry in the </a:t>
            </a:r>
            <a:r>
              <a:rPr lang="en-US" altLang="ko-KR" sz="1400" b="1" dirty="0" err="1"/>
              <a:t>ResourceQuota</a:t>
            </a:r>
            <a:r>
              <a:rPr lang="en-US" altLang="ko-KR" sz="1400" b="1" dirty="0"/>
              <a:t> object)</a:t>
            </a:r>
            <a:r>
              <a:rPr lang="en-US" altLang="ko-KR" sz="1400" dirty="0"/>
              <a:t>. </a:t>
            </a:r>
            <a:r>
              <a:rPr lang="en-US" altLang="ko-KR" sz="1400" b="1" dirty="0"/>
              <a:t>But </a:t>
            </a:r>
            <a:r>
              <a:rPr lang="en-US" altLang="ko-KR" sz="1400" b="1" dirty="0" err="1"/>
              <a:t>PersistentVolumeClaims</a:t>
            </a:r>
            <a:r>
              <a:rPr lang="en-US" altLang="ko-KR" sz="1400" b="1" dirty="0"/>
              <a:t> can request a dynamically provisioned </a:t>
            </a:r>
            <a:r>
              <a:rPr lang="en-US" altLang="ko-KR" sz="1400" b="1" dirty="0" err="1"/>
              <a:t>PersistentVolume</a:t>
            </a:r>
            <a:r>
              <a:rPr lang="en-US" altLang="ko-KR" sz="1400" b="1" dirty="0"/>
              <a:t> of a specific </a:t>
            </a:r>
            <a:r>
              <a:rPr lang="en-US" altLang="ko-KR" sz="1400" b="1" dirty="0" err="1"/>
              <a:t>StorageClass</a:t>
            </a:r>
            <a:r>
              <a:rPr lang="en-US" altLang="ko-KR" sz="1400" dirty="0"/>
              <a:t>. That’s why </a:t>
            </a:r>
            <a:r>
              <a:rPr lang="en-US" altLang="ko-KR" sz="1400" b="1" dirty="0"/>
              <a:t>Kubernetes also makes it possible to define storage quotas for each </a:t>
            </a:r>
            <a:r>
              <a:rPr lang="en-US" altLang="ko-KR" sz="1400" b="1" dirty="0" err="1"/>
              <a:t>StorageClass</a:t>
            </a:r>
            <a:r>
              <a:rPr lang="en-US" altLang="ko-KR" sz="1400" b="1" dirty="0"/>
              <a:t> individually</a:t>
            </a:r>
            <a:r>
              <a:rPr lang="en-US" altLang="ko-KR" sz="1400" dirty="0"/>
              <a:t>. The previous example limits </a:t>
            </a:r>
            <a:r>
              <a:rPr lang="en-US" altLang="ko-KR" sz="1400" b="1" dirty="0"/>
              <a:t>the total amount of claimable SSD storage (designated by the </a:t>
            </a:r>
            <a:r>
              <a:rPr lang="en-US" altLang="ko-KR" sz="1400" b="1" dirty="0" err="1">
                <a:solidFill>
                  <a:srgbClr val="FF0000"/>
                </a:solidFill>
              </a:rPr>
              <a:t>ssd</a:t>
            </a:r>
            <a:r>
              <a:rPr lang="en-US" altLang="ko-KR" sz="1400" b="1" dirty="0"/>
              <a:t> </a:t>
            </a:r>
            <a:r>
              <a:rPr lang="en-US" altLang="ko-KR" sz="1400" b="1" dirty="0" err="1"/>
              <a:t>StorageClass</a:t>
            </a:r>
            <a:r>
              <a:rPr lang="en-US" altLang="ko-KR" sz="1400" b="1" dirty="0"/>
              <a:t>) to 300 </a:t>
            </a:r>
            <a:r>
              <a:rPr lang="en-US" altLang="ko-KR" sz="1400" b="1" dirty="0" err="1"/>
              <a:t>GiB</a:t>
            </a:r>
            <a:r>
              <a:rPr lang="en-US" altLang="ko-KR" sz="1400" dirty="0" err="1"/>
              <a:t>.</a:t>
            </a:r>
            <a:r>
              <a:rPr lang="en-US" altLang="ko-KR" sz="1400" dirty="0"/>
              <a:t> </a:t>
            </a:r>
            <a:r>
              <a:rPr lang="en-US" altLang="ko-KR" sz="1400" b="1" dirty="0"/>
              <a:t>The less-performant HDD storage (</a:t>
            </a:r>
            <a:r>
              <a:rPr lang="en-US" altLang="ko-KR" sz="1400" b="1" dirty="0" err="1"/>
              <a:t>StorageClass</a:t>
            </a:r>
            <a:r>
              <a:rPr lang="en-US" altLang="ko-KR" sz="1400" b="1" dirty="0"/>
              <a:t> </a:t>
            </a:r>
            <a:r>
              <a:rPr lang="en-US" altLang="ko-KR" sz="1400" b="1" dirty="0">
                <a:solidFill>
                  <a:srgbClr val="FF0000"/>
                </a:solidFill>
              </a:rPr>
              <a:t>standard</a:t>
            </a:r>
            <a:r>
              <a:rPr lang="en-US" altLang="ko-KR" sz="1400" b="1" dirty="0"/>
              <a:t>) is limited to 1 TiB</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D3E069CA-3632-3093-254D-9C19EFC94628}"/>
              </a:ext>
            </a:extLst>
          </p:cNvPr>
          <p:cNvGrpSpPr/>
          <p:nvPr/>
        </p:nvGrpSpPr>
        <p:grpSpPr>
          <a:xfrm>
            <a:off x="3052579" y="2652141"/>
            <a:ext cx="6086842" cy="3391764"/>
            <a:chOff x="3052579" y="2652141"/>
            <a:chExt cx="6086842" cy="3391764"/>
          </a:xfrm>
        </p:grpSpPr>
        <p:pic>
          <p:nvPicPr>
            <p:cNvPr id="4" name="그림 3">
              <a:extLst>
                <a:ext uri="{FF2B5EF4-FFF2-40B4-BE49-F238E27FC236}">
                  <a16:creationId xmlns:a16="http://schemas.microsoft.com/office/drawing/2014/main" id="{3C7982DB-0441-947F-A049-A09A19176DCE}"/>
                </a:ext>
              </a:extLst>
            </p:cNvPr>
            <p:cNvPicPr>
              <a:picLocks noChangeAspect="1"/>
            </p:cNvPicPr>
            <p:nvPr/>
          </p:nvPicPr>
          <p:blipFill>
            <a:blip r:embed="rId2"/>
            <a:stretch>
              <a:fillRect/>
            </a:stretch>
          </p:blipFill>
          <p:spPr>
            <a:xfrm>
              <a:off x="3052579" y="2652141"/>
              <a:ext cx="6086842" cy="3391764"/>
            </a:xfrm>
            <a:prstGeom prst="rect">
              <a:avLst/>
            </a:prstGeom>
          </p:spPr>
        </p:pic>
        <p:sp>
          <p:nvSpPr>
            <p:cNvPr id="8" name="직사각형 7">
              <a:extLst>
                <a:ext uri="{FF2B5EF4-FFF2-40B4-BE49-F238E27FC236}">
                  <a16:creationId xmlns:a16="http://schemas.microsoft.com/office/drawing/2014/main" id="{364130E6-EE86-BBC8-CD39-1D41233E193C}"/>
                </a:ext>
              </a:extLst>
            </p:cNvPr>
            <p:cNvSpPr/>
            <p:nvPr/>
          </p:nvSpPr>
          <p:spPr>
            <a:xfrm>
              <a:off x="6667837" y="5122258"/>
              <a:ext cx="1861168" cy="5988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527795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the Number of Objects That Can Be Created :</a:t>
            </a:r>
            <a:endParaRPr lang="en-US" altLang="ko-KR" sz="1400" dirty="0"/>
          </a:p>
          <a:p>
            <a:pPr lvl="1">
              <a:buFont typeface="Wingdings" panose="05000000000000000000" pitchFamily="2" charset="2"/>
              <a:buChar char="§"/>
            </a:pPr>
            <a:r>
              <a:rPr lang="en-US" altLang="ko-KR" sz="1400" b="1" dirty="0"/>
              <a:t>A </a:t>
            </a:r>
            <a:r>
              <a:rPr lang="en-US" altLang="ko-KR" sz="1400" b="1" dirty="0" err="1"/>
              <a:t>ResourceQuota</a:t>
            </a:r>
            <a:r>
              <a:rPr lang="en-US" altLang="ko-KR" sz="1400" b="1" dirty="0"/>
              <a:t> can also be configured to limit the number of Pods, </a:t>
            </a:r>
            <a:r>
              <a:rPr lang="en-US" altLang="ko-KR" sz="1400" b="1" dirty="0" err="1"/>
              <a:t>ReplicationControllers</a:t>
            </a:r>
            <a:r>
              <a:rPr lang="en-US" altLang="ko-KR" sz="1400" b="1" dirty="0"/>
              <a:t>, Services, and other objects inside a single namespace</a:t>
            </a:r>
            <a:r>
              <a:rPr lang="en-US" altLang="ko-KR" sz="1400" dirty="0"/>
              <a:t>. This allows the cluster admin </a:t>
            </a:r>
            <a:r>
              <a:rPr lang="en-US" altLang="ko-KR" sz="1400" b="1" dirty="0"/>
              <a:t>to limit the number of objects users can create based on their payment plan</a:t>
            </a:r>
            <a:r>
              <a:rPr lang="en-US" altLang="ko-KR" sz="1400" dirty="0"/>
              <a:t>, </a:t>
            </a:r>
            <a:r>
              <a:rPr lang="en-US" altLang="ko-KR" sz="1400" b="1" dirty="0"/>
              <a:t>for example, and can also limit the number of public IPs or node ports Services can use</a:t>
            </a:r>
            <a:r>
              <a:rPr lang="en-US" altLang="ko-KR" sz="1400" dirty="0"/>
              <a:t>. The following listing shows </a:t>
            </a:r>
            <a:r>
              <a:rPr lang="en-US" altLang="ko-KR" sz="1400" b="1" dirty="0"/>
              <a:t>what a </a:t>
            </a:r>
            <a:r>
              <a:rPr lang="en-US" altLang="ko-KR" sz="1400" b="1" dirty="0" err="1"/>
              <a:t>ResourceQuota</a:t>
            </a:r>
            <a:r>
              <a:rPr lang="en-US" altLang="ko-KR" sz="1400" b="1" dirty="0"/>
              <a:t> object that limits the number of objects </a:t>
            </a:r>
            <a:r>
              <a:rPr lang="en-US" altLang="ko-KR" sz="1400" dirty="0"/>
              <a:t>may look like.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0D538B3-A9E6-E440-5F0A-2664E188E8F2}"/>
              </a:ext>
            </a:extLst>
          </p:cNvPr>
          <p:cNvGrpSpPr/>
          <p:nvPr/>
        </p:nvGrpSpPr>
        <p:grpSpPr>
          <a:xfrm>
            <a:off x="3047326" y="2228671"/>
            <a:ext cx="6097348" cy="2400657"/>
            <a:chOff x="3047326" y="2521630"/>
            <a:chExt cx="6097348" cy="2400657"/>
          </a:xfrm>
        </p:grpSpPr>
        <p:sp>
          <p:nvSpPr>
            <p:cNvPr id="8" name="TextBox 7">
              <a:extLst>
                <a:ext uri="{FF2B5EF4-FFF2-40B4-BE49-F238E27FC236}">
                  <a16:creationId xmlns:a16="http://schemas.microsoft.com/office/drawing/2014/main" id="{C674113F-52FC-E7C4-559E-1309438E6FB8}"/>
                </a:ext>
              </a:extLst>
            </p:cNvPr>
            <p:cNvSpPr txBox="1"/>
            <p:nvPr/>
          </p:nvSpPr>
          <p:spPr>
            <a:xfrm>
              <a:off x="3047326" y="2521630"/>
              <a:ext cx="6097348" cy="240065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ResourceQuota</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objects</a:t>
              </a:r>
            </a:p>
            <a:p>
              <a:r>
                <a:rPr lang="en-US" altLang="ko-KR" sz="1000" b="1" dirty="0"/>
                <a:t>spec:</a:t>
              </a:r>
            </a:p>
            <a:p>
              <a:r>
                <a:rPr lang="en-US" altLang="ko-KR" sz="1000" b="1" dirty="0"/>
                <a:t>  hard:</a:t>
              </a:r>
            </a:p>
            <a:p>
              <a:r>
                <a:rPr lang="en-US" altLang="ko-KR" sz="1000" b="1" dirty="0"/>
                <a:t>    </a:t>
              </a:r>
              <a:r>
                <a:rPr lang="en-US" altLang="ko-KR" sz="1000" b="1" dirty="0">
                  <a:solidFill>
                    <a:srgbClr val="FF0000"/>
                  </a:solidFill>
                </a:rPr>
                <a:t>pods: 10</a:t>
              </a:r>
            </a:p>
            <a:p>
              <a:r>
                <a:rPr lang="en-US" altLang="ko-KR" sz="1000" b="1" dirty="0">
                  <a:solidFill>
                    <a:srgbClr val="FF0000"/>
                  </a:solidFill>
                </a:rPr>
                <a:t>    </a:t>
              </a:r>
              <a:r>
                <a:rPr lang="en-US" altLang="ko-KR" sz="1000" b="1" dirty="0" err="1">
                  <a:solidFill>
                    <a:srgbClr val="FF0000"/>
                  </a:solidFill>
                </a:rPr>
                <a:t>replicationcontrollers</a:t>
              </a:r>
              <a:r>
                <a:rPr lang="en-US" altLang="ko-KR" sz="1000" b="1" dirty="0">
                  <a:solidFill>
                    <a:srgbClr val="FF0000"/>
                  </a:solidFill>
                </a:rPr>
                <a:t>: 5</a:t>
              </a:r>
            </a:p>
            <a:p>
              <a:r>
                <a:rPr lang="en-US" altLang="ko-KR" sz="1000" b="1" dirty="0">
                  <a:solidFill>
                    <a:srgbClr val="FF0000"/>
                  </a:solidFill>
                </a:rPr>
                <a:t>    secrets: 10</a:t>
              </a:r>
            </a:p>
            <a:p>
              <a:r>
                <a:rPr lang="en-US" altLang="ko-KR" sz="1000" b="1" dirty="0">
                  <a:solidFill>
                    <a:srgbClr val="FF0000"/>
                  </a:solidFill>
                </a:rPr>
                <a:t>    </a:t>
              </a:r>
              <a:r>
                <a:rPr lang="en-US" altLang="ko-KR" sz="1000" b="1" dirty="0" err="1">
                  <a:solidFill>
                    <a:srgbClr val="FF0000"/>
                  </a:solidFill>
                </a:rPr>
                <a:t>configmaps</a:t>
              </a:r>
              <a:r>
                <a:rPr lang="en-US" altLang="ko-KR" sz="1000" b="1" dirty="0">
                  <a:solidFill>
                    <a:srgbClr val="FF0000"/>
                  </a:solidFill>
                </a:rPr>
                <a:t>: 10</a:t>
              </a:r>
            </a:p>
            <a:p>
              <a:r>
                <a:rPr lang="en-US" altLang="ko-KR" sz="1000" b="1" dirty="0">
                  <a:solidFill>
                    <a:srgbClr val="FF0000"/>
                  </a:solidFill>
                </a:rPr>
                <a:t>    </a:t>
              </a:r>
              <a:r>
                <a:rPr lang="en-US" altLang="ko-KR" sz="1000" b="1" dirty="0" err="1">
                  <a:solidFill>
                    <a:srgbClr val="FF0000"/>
                  </a:solidFill>
                </a:rPr>
                <a:t>persistentvolumeclaims</a:t>
              </a:r>
              <a:r>
                <a:rPr lang="en-US" altLang="ko-KR" sz="1000" b="1" dirty="0">
                  <a:solidFill>
                    <a:srgbClr val="FF0000"/>
                  </a:solidFill>
                </a:rPr>
                <a:t>: 5</a:t>
              </a:r>
            </a:p>
            <a:p>
              <a:r>
                <a:rPr lang="en-US" altLang="ko-KR" sz="1000" b="1" dirty="0">
                  <a:solidFill>
                    <a:srgbClr val="FF0000"/>
                  </a:solidFill>
                </a:rPr>
                <a:t>    services: 5</a:t>
              </a:r>
            </a:p>
            <a:p>
              <a:r>
                <a:rPr lang="en-US" altLang="ko-KR" sz="1000" b="1" dirty="0">
                  <a:solidFill>
                    <a:srgbClr val="FF0000"/>
                  </a:solidFill>
                </a:rPr>
                <a:t>    </a:t>
              </a:r>
              <a:r>
                <a:rPr lang="en-US" altLang="ko-KR" sz="1000" b="1" dirty="0" err="1">
                  <a:solidFill>
                    <a:srgbClr val="FF0000"/>
                  </a:solidFill>
                </a:rPr>
                <a:t>services.loadbalancers</a:t>
              </a:r>
              <a:r>
                <a:rPr lang="en-US" altLang="ko-KR" sz="1000" b="1" dirty="0">
                  <a:solidFill>
                    <a:srgbClr val="FF0000"/>
                  </a:solidFill>
                </a:rPr>
                <a:t>: 1</a:t>
              </a:r>
            </a:p>
            <a:p>
              <a:r>
                <a:rPr lang="en-US" altLang="ko-KR" sz="1000" b="1" dirty="0">
                  <a:solidFill>
                    <a:srgbClr val="FF0000"/>
                  </a:solidFill>
                </a:rPr>
                <a:t>    </a:t>
              </a:r>
              <a:r>
                <a:rPr lang="en-US" altLang="ko-KR" sz="1000" b="1" dirty="0" err="1">
                  <a:solidFill>
                    <a:srgbClr val="FF0000"/>
                  </a:solidFill>
                </a:rPr>
                <a:t>services.nodeports</a:t>
              </a:r>
              <a:r>
                <a:rPr lang="en-US" altLang="ko-KR" sz="1000" b="1" dirty="0">
                  <a:solidFill>
                    <a:srgbClr val="FF0000"/>
                  </a:solidFill>
                </a:rPr>
                <a:t>: 2</a:t>
              </a:r>
            </a:p>
            <a:p>
              <a:r>
                <a:rPr lang="en-US" altLang="ko-KR" sz="1000" b="1" dirty="0">
                  <a:solidFill>
                    <a:srgbClr val="FF0000"/>
                  </a:solidFill>
                </a:rPr>
                <a:t>    ssd.storageclass.storage.k8s.io/</a:t>
              </a:r>
              <a:r>
                <a:rPr lang="en-US" altLang="ko-KR" sz="1000" b="1" dirty="0" err="1">
                  <a:solidFill>
                    <a:srgbClr val="FF0000"/>
                  </a:solidFill>
                </a:rPr>
                <a:t>persistentvolumeclaims</a:t>
              </a:r>
              <a:r>
                <a:rPr lang="en-US" altLang="ko-KR" sz="1000" b="1" dirty="0">
                  <a:solidFill>
                    <a:srgbClr val="FF0000"/>
                  </a:solidFill>
                </a:rPr>
                <a:t>: 2</a:t>
              </a:r>
              <a:endParaRPr lang="ko-KR" altLang="en-US" sz="1000" b="1" dirty="0">
                <a:solidFill>
                  <a:srgbClr val="FF0000"/>
                </a:solidFill>
              </a:endParaRPr>
            </a:p>
          </p:txBody>
        </p:sp>
        <p:sp>
          <p:nvSpPr>
            <p:cNvPr id="9" name="TextBox 8">
              <a:extLst>
                <a:ext uri="{FF2B5EF4-FFF2-40B4-BE49-F238E27FC236}">
                  <a16:creationId xmlns:a16="http://schemas.microsoft.com/office/drawing/2014/main" id="{C138569F-670C-E698-740D-6178CE2312EC}"/>
                </a:ext>
              </a:extLst>
            </p:cNvPr>
            <p:cNvSpPr txBox="1"/>
            <p:nvPr/>
          </p:nvSpPr>
          <p:spPr>
            <a:xfrm>
              <a:off x="7443567" y="2521630"/>
              <a:ext cx="1701107" cy="246221"/>
            </a:xfrm>
            <a:prstGeom prst="rect">
              <a:avLst/>
            </a:prstGeom>
            <a:noFill/>
          </p:spPr>
          <p:txBody>
            <a:bodyPr wrap="none" rtlCol="0">
              <a:spAutoFit/>
            </a:bodyPr>
            <a:lstStyle/>
            <a:p>
              <a:pPr algn="l"/>
              <a:r>
                <a:rPr lang="en-US" altLang="ko-KR" sz="1000" b="1" dirty="0"/>
                <a:t>quota-object-</a:t>
              </a:r>
              <a:r>
                <a:rPr lang="en-US" altLang="ko-KR" sz="1000" b="1" dirty="0" err="1"/>
                <a:t>count.yaml</a:t>
              </a:r>
              <a:endParaRPr lang="ko-KR" altLang="en-US" sz="1000" b="1" dirty="0"/>
            </a:p>
          </p:txBody>
        </p:sp>
      </p:grpSp>
    </p:spTree>
    <p:extLst>
      <p:ext uri="{BB962C8B-B14F-4D97-AF65-F5344CB8AC3E}">
        <p14:creationId xmlns:p14="http://schemas.microsoft.com/office/powerpoint/2010/main" val="33012097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Object Count Quota</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the Object Count Quota for Default Namespace :</a:t>
            </a:r>
            <a:endParaRPr lang="en-US" altLang="ko-KR" sz="1400" dirty="0"/>
          </a:p>
          <a:p>
            <a:pPr lvl="1">
              <a:buFont typeface="Wingdings" panose="05000000000000000000" pitchFamily="2" charset="2"/>
              <a:buChar char="§"/>
            </a:pPr>
            <a:r>
              <a:rPr lang="en-US" altLang="ko-KR" sz="1400" dirty="0"/>
              <a:t>You can run the following command to create an </a:t>
            </a:r>
            <a:r>
              <a:rPr lang="en-US" altLang="ko-KR" sz="1400" b="1" dirty="0"/>
              <a:t>Object Count Quota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B9F812D2-72F5-7EED-320A-0C5DAB6EF183}"/>
              </a:ext>
            </a:extLst>
          </p:cNvPr>
          <p:cNvGrpSpPr/>
          <p:nvPr/>
        </p:nvGrpSpPr>
        <p:grpSpPr>
          <a:xfrm>
            <a:off x="838200" y="1732549"/>
            <a:ext cx="10516511" cy="2908651"/>
            <a:chOff x="838200" y="1659721"/>
            <a:chExt cx="10516511" cy="2908651"/>
          </a:xfrm>
        </p:grpSpPr>
        <p:grpSp>
          <p:nvGrpSpPr>
            <p:cNvPr id="11" name="그룹 10">
              <a:extLst>
                <a:ext uri="{FF2B5EF4-FFF2-40B4-BE49-F238E27FC236}">
                  <a16:creationId xmlns:a16="http://schemas.microsoft.com/office/drawing/2014/main" id="{CD6834E5-43EC-4CC2-1164-EF4CC15AC15F}"/>
                </a:ext>
              </a:extLst>
            </p:cNvPr>
            <p:cNvGrpSpPr/>
            <p:nvPr/>
          </p:nvGrpSpPr>
          <p:grpSpPr>
            <a:xfrm>
              <a:off x="838200" y="1659721"/>
              <a:ext cx="10516511" cy="2908651"/>
              <a:chOff x="838200" y="1449328"/>
              <a:chExt cx="10516511" cy="2908651"/>
            </a:xfrm>
          </p:grpSpPr>
          <p:pic>
            <p:nvPicPr>
              <p:cNvPr id="4" name="그림 3">
                <a:extLst>
                  <a:ext uri="{FF2B5EF4-FFF2-40B4-BE49-F238E27FC236}">
                    <a16:creationId xmlns:a16="http://schemas.microsoft.com/office/drawing/2014/main" id="{BB76F416-B655-064A-D491-515B3F3B03BA}"/>
                  </a:ext>
                </a:extLst>
              </p:cNvPr>
              <p:cNvPicPr>
                <a:picLocks noChangeAspect="1"/>
              </p:cNvPicPr>
              <p:nvPr/>
            </p:nvPicPr>
            <p:blipFill>
              <a:blip r:embed="rId2"/>
              <a:stretch>
                <a:fillRect/>
              </a:stretch>
            </p:blipFill>
            <p:spPr>
              <a:xfrm>
                <a:off x="838200" y="2023009"/>
                <a:ext cx="10516511" cy="2334970"/>
              </a:xfrm>
              <a:prstGeom prst="rect">
                <a:avLst/>
              </a:prstGeom>
            </p:spPr>
          </p:pic>
          <p:sp>
            <p:nvSpPr>
              <p:cNvPr id="9" name="TextBox 8">
                <a:extLst>
                  <a:ext uri="{FF2B5EF4-FFF2-40B4-BE49-F238E27FC236}">
                    <a16:creationId xmlns:a16="http://schemas.microsoft.com/office/drawing/2014/main" id="{54339041-C879-F046-5DE5-58722C34A085}"/>
                  </a:ext>
                </a:extLst>
              </p:cNvPr>
              <p:cNvSpPr txBox="1"/>
              <p:nvPr/>
            </p:nvSpPr>
            <p:spPr>
              <a:xfrm>
                <a:off x="3047325" y="144932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quota-object-</a:t>
                </a:r>
                <a:r>
                  <a:rPr lang="en-US" altLang="ko-KR" sz="1000" b="1" dirty="0" err="1">
                    <a:solidFill>
                      <a:srgbClr val="FF0000"/>
                    </a:solidFill>
                  </a:rPr>
                  <a:t>count.yaml</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3CE9B4CE-C9D9-D13C-F524-338D867F42E6}"/>
                  </a:ext>
                </a:extLst>
              </p:cNvPr>
              <p:cNvSpPr/>
              <p:nvPr/>
            </p:nvSpPr>
            <p:spPr>
              <a:xfrm>
                <a:off x="5869422" y="1695549"/>
                <a:ext cx="453154" cy="3274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E20823D3-1E43-4AAD-8C47-29797730DE2B}"/>
                </a:ext>
              </a:extLst>
            </p:cNvPr>
            <p:cNvSpPr/>
            <p:nvPr/>
          </p:nvSpPr>
          <p:spPr>
            <a:xfrm>
              <a:off x="962952" y="3714244"/>
              <a:ext cx="10309253" cy="3152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749532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the Number of Objects That Can Be Created :</a:t>
            </a:r>
            <a:endParaRPr lang="en-US" altLang="ko-KR" sz="1400" dirty="0"/>
          </a:p>
          <a:p>
            <a:pPr lvl="1">
              <a:buFont typeface="Wingdings" panose="05000000000000000000" pitchFamily="2" charset="2"/>
              <a:buChar char="§"/>
            </a:pPr>
            <a:r>
              <a:rPr lang="en-US" altLang="ko-KR" sz="1400" dirty="0"/>
              <a:t>The </a:t>
            </a:r>
            <a:r>
              <a:rPr lang="en-US" altLang="ko-KR" sz="1400" b="1" dirty="0" err="1"/>
              <a:t>ResourceQuota</a:t>
            </a:r>
            <a:r>
              <a:rPr lang="en-US" altLang="ko-KR" sz="1400" dirty="0"/>
              <a:t> in the previous listing allows users to create at most </a:t>
            </a:r>
            <a:r>
              <a:rPr lang="en-US" altLang="ko-KR" sz="1400" b="1" dirty="0"/>
              <a:t>10 Pods </a:t>
            </a:r>
            <a:r>
              <a:rPr lang="en-US" altLang="ko-KR" sz="1400" dirty="0"/>
              <a:t>in the namespace, regardless if they’re created manually or by a </a:t>
            </a:r>
            <a:r>
              <a:rPr lang="en-US" altLang="ko-KR" sz="1400" b="1" dirty="0" err="1"/>
              <a:t>ReplicationController</a:t>
            </a:r>
            <a:r>
              <a:rPr lang="en-US" altLang="ko-KR" sz="1400" b="1" dirty="0"/>
              <a:t>, </a:t>
            </a:r>
            <a:r>
              <a:rPr lang="en-US" altLang="ko-KR" sz="1400" b="1" dirty="0" err="1"/>
              <a:t>ReplicaSet</a:t>
            </a:r>
            <a:r>
              <a:rPr lang="en-US" altLang="ko-KR" sz="1400" b="1" dirty="0"/>
              <a:t>, </a:t>
            </a:r>
            <a:r>
              <a:rPr lang="en-US" altLang="ko-KR" sz="1400" b="1" dirty="0" err="1"/>
              <a:t>DaemonSet</a:t>
            </a:r>
            <a:r>
              <a:rPr lang="en-US" altLang="ko-KR" sz="1400" b="1" dirty="0"/>
              <a:t>, Job</a:t>
            </a:r>
            <a:r>
              <a:rPr lang="en-US" altLang="ko-KR" sz="1400" dirty="0"/>
              <a:t>, and so on. It also limits the number of </a:t>
            </a:r>
            <a:r>
              <a:rPr lang="en-US" altLang="ko-KR" sz="1400" b="1" dirty="0" err="1"/>
              <a:t>ReplicationControllers</a:t>
            </a:r>
            <a:r>
              <a:rPr lang="en-US" altLang="ko-KR" sz="1400" dirty="0"/>
              <a:t> to five. A maximum of five </a:t>
            </a:r>
            <a:r>
              <a:rPr lang="en-US" altLang="ko-KR" sz="1400" b="1" dirty="0"/>
              <a:t>Services</a:t>
            </a:r>
            <a:r>
              <a:rPr lang="en-US" altLang="ko-KR" sz="1400" dirty="0"/>
              <a:t> can be created, of which only one can be a </a:t>
            </a:r>
            <a:r>
              <a:rPr lang="en-US" altLang="ko-KR" sz="1400" b="1" dirty="0" err="1"/>
              <a:t>LoadBalancer</a:t>
            </a:r>
            <a:r>
              <a:rPr lang="en-US" altLang="ko-KR" sz="1400" b="1" dirty="0"/>
              <a:t>-type</a:t>
            </a:r>
            <a:r>
              <a:rPr lang="en-US" altLang="ko-KR" sz="1400" dirty="0"/>
              <a:t> Service, and only two can be </a:t>
            </a:r>
            <a:r>
              <a:rPr lang="en-US" altLang="ko-KR" sz="1400" b="1" dirty="0" err="1"/>
              <a:t>NodePort</a:t>
            </a:r>
            <a:r>
              <a:rPr lang="en-US" altLang="ko-KR" sz="1400" dirty="0"/>
              <a:t> Services. Similar to how the maximum amount of requested storage can be specified per </a:t>
            </a:r>
            <a:r>
              <a:rPr lang="en-US" altLang="ko-KR" sz="1400" b="1" dirty="0" err="1"/>
              <a:t>StorageClass</a:t>
            </a:r>
            <a:r>
              <a:rPr lang="en-US" altLang="ko-KR" sz="1400" dirty="0"/>
              <a:t>, the number of </a:t>
            </a:r>
            <a:r>
              <a:rPr lang="en-US" altLang="ko-KR" sz="1400" b="1" dirty="0" err="1"/>
              <a:t>PersistentVolumeClaims</a:t>
            </a:r>
            <a:r>
              <a:rPr lang="en-US" altLang="ko-KR" sz="1400" dirty="0"/>
              <a:t> can also be limited per </a:t>
            </a:r>
            <a:r>
              <a:rPr lang="en-US" altLang="ko-KR" sz="1400" b="1" dirty="0" err="1"/>
              <a:t>StorageClass</a:t>
            </a:r>
            <a:r>
              <a:rPr lang="en-US" altLang="ko-KR" sz="1400" dirty="0"/>
              <a:t>. Object count quotas can currently be set for the following objects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A767506-26CB-F211-7F4D-23550E74BBB7}"/>
              </a:ext>
            </a:extLst>
          </p:cNvPr>
          <p:cNvPicPr>
            <a:picLocks noChangeAspect="1"/>
          </p:cNvPicPr>
          <p:nvPr/>
        </p:nvPicPr>
        <p:blipFill>
          <a:blip r:embed="rId2"/>
          <a:stretch>
            <a:fillRect/>
          </a:stretch>
        </p:blipFill>
        <p:spPr>
          <a:xfrm>
            <a:off x="6095999" y="2453888"/>
            <a:ext cx="5257801" cy="3038292"/>
          </a:xfrm>
          <a:prstGeom prst="rect">
            <a:avLst/>
          </a:prstGeom>
        </p:spPr>
      </p:pic>
      <p:sp>
        <p:nvSpPr>
          <p:cNvPr id="9" name="TextBox 8">
            <a:extLst>
              <a:ext uri="{FF2B5EF4-FFF2-40B4-BE49-F238E27FC236}">
                <a16:creationId xmlns:a16="http://schemas.microsoft.com/office/drawing/2014/main" id="{D3702F3D-0DB5-8E25-6260-2F84384FC1FE}"/>
              </a:ext>
            </a:extLst>
          </p:cNvPr>
          <p:cNvSpPr txBox="1"/>
          <p:nvPr/>
        </p:nvSpPr>
        <p:spPr>
          <a:xfrm>
            <a:off x="838200" y="2345153"/>
            <a:ext cx="5257797" cy="3255763"/>
          </a:xfrm>
          <a:prstGeom prst="rect">
            <a:avLst/>
          </a:prstGeom>
          <a:noFill/>
        </p:spPr>
        <p:txBody>
          <a:bodyPr wrap="square">
            <a:spAutoFit/>
          </a:bodyPr>
          <a:lstStyle/>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Pods</a:t>
            </a:r>
          </a:p>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ReplicationControllers</a:t>
            </a:r>
            <a:endPar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Secrets</a:t>
            </a:r>
          </a:p>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ConfigMaps</a:t>
            </a:r>
            <a:endPar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PersistentVolumeClaims</a:t>
            </a:r>
            <a:endPar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Services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(in general), and for two specific types of Services, such as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LoadBalancer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Services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services.loadbalancers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NodePort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Services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services.nodeports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Finally, you can even set an object count quota for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ResourceQuota</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objects themselves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For more information, refer to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hlinkClick r:id="rId3"/>
              </a:rPr>
              <a:t>https://kubernetes.io/docs/concepts/policy/resource-quotas/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934139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Quotas for Specific Pod States and/or QoS Classes :</a:t>
            </a:r>
            <a:endParaRPr lang="en-US" altLang="ko-KR" sz="1400" dirty="0"/>
          </a:p>
          <a:p>
            <a:pPr lvl="1">
              <a:buFont typeface="Wingdings" panose="05000000000000000000" pitchFamily="2" charset="2"/>
              <a:buChar char="§"/>
            </a:pPr>
            <a:r>
              <a:rPr lang="en-US" altLang="ko-KR" sz="1400" b="1" dirty="0"/>
              <a:t>The quotas you’ve created so far have applied to all pods, regardless of their current state and QoS class</a:t>
            </a:r>
            <a:r>
              <a:rPr lang="en-US" altLang="ko-KR" sz="1400" dirty="0"/>
              <a:t>. </a:t>
            </a:r>
            <a:r>
              <a:rPr lang="en-US" altLang="ko-KR" sz="1400" b="1" dirty="0"/>
              <a:t>But quotas can also be limited to a set of </a:t>
            </a:r>
            <a:r>
              <a:rPr lang="en-US" altLang="ko-KR" sz="1400" b="1" dirty="0">
                <a:solidFill>
                  <a:srgbClr val="FF0000"/>
                </a:solidFill>
              </a:rPr>
              <a:t>quota scopes</a:t>
            </a:r>
            <a:r>
              <a:rPr lang="en-US" altLang="ko-KR" sz="1400" dirty="0"/>
              <a:t>. Four scopes are currently available: </a:t>
            </a:r>
            <a:r>
              <a:rPr lang="en-US" altLang="ko-KR" sz="1400" b="1" dirty="0" err="1">
                <a:solidFill>
                  <a:srgbClr val="FF0000"/>
                </a:solidFill>
              </a:rPr>
              <a:t>BestEffort</a:t>
            </a:r>
            <a:r>
              <a:rPr lang="en-US" altLang="ko-KR" sz="1400" dirty="0"/>
              <a:t>, </a:t>
            </a:r>
            <a:r>
              <a:rPr lang="en-US" altLang="ko-KR" sz="1400" b="1" dirty="0" err="1">
                <a:solidFill>
                  <a:srgbClr val="FF0000"/>
                </a:solidFill>
              </a:rPr>
              <a:t>NotBestEffort</a:t>
            </a:r>
            <a:r>
              <a:rPr lang="en-US" altLang="ko-KR" sz="1400" dirty="0"/>
              <a:t>, </a:t>
            </a:r>
            <a:r>
              <a:rPr lang="en-US" altLang="ko-KR" sz="1400" b="1" dirty="0">
                <a:solidFill>
                  <a:srgbClr val="FF0000"/>
                </a:solidFill>
              </a:rPr>
              <a:t>Terminating</a:t>
            </a:r>
            <a:r>
              <a:rPr lang="en-US" altLang="ko-KR" sz="1400" dirty="0"/>
              <a:t>, and </a:t>
            </a:r>
            <a:r>
              <a:rPr lang="en-US" altLang="ko-KR" sz="1400" b="1" dirty="0" err="1">
                <a:solidFill>
                  <a:srgbClr val="FF0000"/>
                </a:solidFill>
              </a:rPr>
              <a:t>NotTerminating</a:t>
            </a:r>
            <a:r>
              <a:rPr lang="en-US" altLang="ko-KR" sz="1400" dirty="0"/>
              <a:t>. </a:t>
            </a:r>
          </a:p>
          <a:p>
            <a:pPr lvl="1">
              <a:buFont typeface="Wingdings" panose="05000000000000000000" pitchFamily="2" charset="2"/>
              <a:buChar char="§"/>
            </a:pPr>
            <a:r>
              <a:rPr lang="en-US" altLang="ko-KR" sz="1400" b="1" dirty="0"/>
              <a:t>The </a:t>
            </a:r>
            <a:r>
              <a:rPr lang="en-US" altLang="ko-KR" sz="1400" b="1" dirty="0" err="1"/>
              <a:t>BestEffort</a:t>
            </a:r>
            <a:r>
              <a:rPr lang="en-US" altLang="ko-KR" sz="1400" b="1" dirty="0"/>
              <a:t> and </a:t>
            </a:r>
            <a:r>
              <a:rPr lang="en-US" altLang="ko-KR" sz="1400" b="1" dirty="0" err="1"/>
              <a:t>NotBestEffort</a:t>
            </a:r>
            <a:r>
              <a:rPr lang="en-US" altLang="ko-KR" sz="1400" b="1" dirty="0"/>
              <a:t> scopes determine whether the quota applies to pods with the </a:t>
            </a:r>
            <a:r>
              <a:rPr lang="en-US" altLang="ko-KR" sz="1400" b="1" dirty="0" err="1"/>
              <a:t>BestEffort</a:t>
            </a:r>
            <a:r>
              <a:rPr lang="en-US" altLang="ko-KR" sz="1400" b="1" dirty="0"/>
              <a:t> QoS class or with one of the other two classes (that is, Burstable and Guaranteed).</a:t>
            </a:r>
          </a:p>
          <a:p>
            <a:pPr lvl="1">
              <a:buFont typeface="Wingdings" panose="05000000000000000000" pitchFamily="2" charset="2"/>
              <a:buChar char="§"/>
            </a:pPr>
            <a:r>
              <a:rPr lang="en-US" altLang="ko-KR" sz="1400" b="1" dirty="0"/>
              <a:t>The other two scopes (Terminating and </a:t>
            </a:r>
            <a:r>
              <a:rPr lang="en-US" altLang="ko-KR" sz="1400" b="1" dirty="0" err="1"/>
              <a:t>NotTerminating</a:t>
            </a:r>
            <a:r>
              <a:rPr lang="en-US" altLang="ko-KR" sz="1400" b="1" dirty="0"/>
              <a:t>) don’t apply to pods that are (or aren’t) in the process of shutting down</a:t>
            </a:r>
            <a:r>
              <a:rPr lang="en-US" altLang="ko-KR" sz="1400" dirty="0"/>
              <a:t>. </a:t>
            </a:r>
            <a:r>
              <a:rPr lang="en-US" altLang="ko-KR" sz="1400" b="1" dirty="0"/>
              <a:t>You can specify how long each pod is allowed to run before it’s terminated and marked as Failed</a:t>
            </a:r>
            <a:r>
              <a:rPr lang="en-US" altLang="ko-KR" sz="1400" dirty="0"/>
              <a:t>. This is done by setting the “</a:t>
            </a:r>
            <a:r>
              <a:rPr lang="en-US" altLang="ko-KR" sz="1400" b="1" dirty="0" err="1">
                <a:solidFill>
                  <a:srgbClr val="FF0000"/>
                </a:solidFill>
              </a:rPr>
              <a:t>activeDeadlineSeconds</a:t>
            </a:r>
            <a:r>
              <a:rPr lang="en-US" altLang="ko-KR" sz="1400" dirty="0"/>
              <a:t>” field in the pod spec. </a:t>
            </a:r>
            <a:r>
              <a:rPr lang="en-US" altLang="ko-KR" sz="1400" b="1" dirty="0"/>
              <a:t>This property defines the number of seconds a pod is allowed to be active on the node relative to its start time before it’s marked as Failed and then terminated</a:t>
            </a:r>
            <a:r>
              <a:rPr lang="en-US" altLang="ko-KR" sz="1400" dirty="0"/>
              <a:t>. </a:t>
            </a:r>
            <a:r>
              <a:rPr lang="en-US" altLang="ko-KR" sz="1400" b="1" dirty="0"/>
              <a:t>The Terminating quota scope applies to pods that have the “</a:t>
            </a:r>
            <a:r>
              <a:rPr lang="en-US" altLang="ko-KR" sz="1400" b="1" dirty="0" err="1"/>
              <a:t>activeDeadlineSeconds</a:t>
            </a:r>
            <a:r>
              <a:rPr lang="en-US" altLang="ko-KR" sz="1400" b="1" dirty="0"/>
              <a:t>” set, whereas the </a:t>
            </a:r>
            <a:r>
              <a:rPr lang="en-US" altLang="ko-KR" sz="1400" b="1" dirty="0" err="1"/>
              <a:t>NotTerminating</a:t>
            </a:r>
            <a:r>
              <a:rPr lang="en-US" altLang="ko-KR" sz="1400" b="1" dirty="0"/>
              <a:t> applies to those that don’t</a:t>
            </a:r>
            <a:r>
              <a:rPr lang="en-US" altLang="ko-KR" sz="1400" dirty="0"/>
              <a:t>.</a:t>
            </a:r>
          </a:p>
          <a:p>
            <a:pPr lvl="1">
              <a:buFont typeface="Wingdings" panose="05000000000000000000" pitchFamily="2" charset="2"/>
              <a:buChar char="§"/>
            </a:pPr>
            <a:r>
              <a:rPr lang="en-US" altLang="ko-KR" sz="1400" b="1" dirty="0"/>
              <a:t>When creating a </a:t>
            </a:r>
            <a:r>
              <a:rPr lang="en-US" altLang="ko-KR" sz="1400" b="1" dirty="0" err="1"/>
              <a:t>ResourceQuota</a:t>
            </a:r>
            <a:r>
              <a:rPr lang="en-US" altLang="ko-KR" sz="1400" b="1" dirty="0"/>
              <a:t>, you can specify the scopes that it applies to</a:t>
            </a:r>
            <a:r>
              <a:rPr lang="en-US" altLang="ko-KR" sz="1400" dirty="0"/>
              <a:t>. </a:t>
            </a:r>
            <a:r>
              <a:rPr lang="en-US" altLang="ko-KR" sz="1400" b="1" dirty="0"/>
              <a:t>A pod must match all the specified scopes for the quota to apply to it</a:t>
            </a:r>
            <a:r>
              <a:rPr lang="en-US" altLang="ko-KR" sz="1400" dirty="0"/>
              <a:t>. Additionally, what a quota can limit depends on the quota’s scope. </a:t>
            </a:r>
            <a:r>
              <a:rPr lang="en-US" altLang="ko-KR" sz="1400" b="1" dirty="0" err="1"/>
              <a:t>BestEffort</a:t>
            </a:r>
            <a:r>
              <a:rPr lang="en-US" altLang="ko-KR" sz="1400" b="1" dirty="0"/>
              <a:t> scope can only limit the number of pods, whereas the other three scopes can limit the number of pods, CPU/memory requests, and CPU/memory limits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0F3A480-AD66-DA0A-12B3-CAC7A4E2B1AC}"/>
              </a:ext>
            </a:extLst>
          </p:cNvPr>
          <p:cNvPicPr>
            <a:picLocks noChangeAspect="1"/>
          </p:cNvPicPr>
          <p:nvPr/>
        </p:nvPicPr>
        <p:blipFill>
          <a:blip r:embed="rId2"/>
          <a:stretch>
            <a:fillRect/>
          </a:stretch>
        </p:blipFill>
        <p:spPr>
          <a:xfrm>
            <a:off x="7946378" y="4276644"/>
            <a:ext cx="3407421" cy="2132386"/>
          </a:xfrm>
          <a:prstGeom prst="rect">
            <a:avLst/>
          </a:prstGeom>
        </p:spPr>
      </p:pic>
    </p:spTree>
    <p:extLst>
      <p:ext uri="{BB962C8B-B14F-4D97-AF65-F5344CB8AC3E}">
        <p14:creationId xmlns:p14="http://schemas.microsoft.com/office/powerpoint/2010/main" val="24275246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Quotas for Specific Pod States and/or QoS Classes :</a:t>
            </a:r>
            <a:endParaRPr lang="en-US" altLang="ko-KR" sz="1400" dirty="0"/>
          </a:p>
          <a:p>
            <a:pPr lvl="1">
              <a:buFont typeface="Wingdings" panose="05000000000000000000" pitchFamily="2" charset="2"/>
              <a:buChar char="§"/>
            </a:pPr>
            <a:r>
              <a:rPr lang="en-US" altLang="ko-KR" sz="1400" dirty="0"/>
              <a:t>For example, if you want the quota to apply only to </a:t>
            </a:r>
            <a:r>
              <a:rPr lang="en-US" altLang="ko-KR" sz="1400" b="1" dirty="0" err="1"/>
              <a:t>BestEffort</a:t>
            </a:r>
            <a:r>
              <a:rPr lang="en-US" altLang="ko-KR" sz="1400" dirty="0"/>
              <a:t>, </a:t>
            </a:r>
            <a:r>
              <a:rPr lang="en-US" altLang="ko-KR" sz="1400" b="1" dirty="0" err="1"/>
              <a:t>NotTerminating</a:t>
            </a:r>
            <a:r>
              <a:rPr lang="en-US" altLang="ko-KR" sz="1400" dirty="0"/>
              <a:t> pods, you can </a:t>
            </a:r>
            <a:r>
              <a:rPr lang="en-US" altLang="ko-KR" sz="1400" b="1" dirty="0"/>
              <a:t>create the </a:t>
            </a:r>
            <a:r>
              <a:rPr lang="en-US" altLang="ko-KR" sz="1400" b="1" dirty="0" err="1"/>
              <a:t>ResourceQuota</a:t>
            </a:r>
            <a:r>
              <a:rPr lang="en-US" altLang="ko-KR" sz="1400" b="1" dirty="0"/>
              <a:t> object </a:t>
            </a:r>
            <a:r>
              <a:rPr lang="en-US" altLang="ko-KR" sz="1400" dirty="0"/>
              <a:t>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0C04530F-4BDF-F355-D9C6-8B70A64686FE}"/>
              </a:ext>
            </a:extLst>
          </p:cNvPr>
          <p:cNvGrpSpPr/>
          <p:nvPr/>
        </p:nvGrpSpPr>
        <p:grpSpPr>
          <a:xfrm>
            <a:off x="838200" y="1797784"/>
            <a:ext cx="10515600" cy="4418410"/>
            <a:chOff x="838200" y="1797784"/>
            <a:chExt cx="10515600" cy="4418410"/>
          </a:xfrm>
        </p:grpSpPr>
        <p:grpSp>
          <p:nvGrpSpPr>
            <p:cNvPr id="14" name="그룹 13">
              <a:extLst>
                <a:ext uri="{FF2B5EF4-FFF2-40B4-BE49-F238E27FC236}">
                  <a16:creationId xmlns:a16="http://schemas.microsoft.com/office/drawing/2014/main" id="{72B02D21-191D-7CD1-92FD-8FD7159D5935}"/>
                </a:ext>
              </a:extLst>
            </p:cNvPr>
            <p:cNvGrpSpPr/>
            <p:nvPr/>
          </p:nvGrpSpPr>
          <p:grpSpPr>
            <a:xfrm>
              <a:off x="838200" y="1797784"/>
              <a:ext cx="10515600" cy="4418410"/>
              <a:chOff x="838200" y="1797784"/>
              <a:chExt cx="10515600" cy="4418410"/>
            </a:xfrm>
          </p:grpSpPr>
          <p:grpSp>
            <p:nvGrpSpPr>
              <p:cNvPr id="10" name="그룹 9">
                <a:extLst>
                  <a:ext uri="{FF2B5EF4-FFF2-40B4-BE49-F238E27FC236}">
                    <a16:creationId xmlns:a16="http://schemas.microsoft.com/office/drawing/2014/main" id="{85303378-3BB6-401D-472B-723F4B5DC790}"/>
                  </a:ext>
                </a:extLst>
              </p:cNvPr>
              <p:cNvGrpSpPr/>
              <p:nvPr/>
            </p:nvGrpSpPr>
            <p:grpSpPr>
              <a:xfrm>
                <a:off x="3047326" y="1797784"/>
                <a:ext cx="6097348" cy="1631216"/>
                <a:chOff x="3047326" y="1797784"/>
                <a:chExt cx="6097348" cy="1631216"/>
              </a:xfrm>
            </p:grpSpPr>
            <p:sp>
              <p:nvSpPr>
                <p:cNvPr id="8" name="TextBox 7">
                  <a:extLst>
                    <a:ext uri="{FF2B5EF4-FFF2-40B4-BE49-F238E27FC236}">
                      <a16:creationId xmlns:a16="http://schemas.microsoft.com/office/drawing/2014/main" id="{65C2E574-73D3-C6AC-00EF-C71C5664066C}"/>
                    </a:ext>
                  </a:extLst>
                </p:cNvPr>
                <p:cNvSpPr txBox="1"/>
                <p:nvPr/>
              </p:nvSpPr>
              <p:spPr>
                <a:xfrm>
                  <a:off x="3047326" y="1797784"/>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ResourceQuota</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besteffort</a:t>
                  </a:r>
                  <a:r>
                    <a:rPr lang="en-US" altLang="ko-KR" sz="1000" b="1" dirty="0">
                      <a:solidFill>
                        <a:srgbClr val="FF0000"/>
                      </a:solidFill>
                    </a:rPr>
                    <a:t>-</a:t>
                  </a:r>
                  <a:r>
                    <a:rPr lang="en-US" altLang="ko-KR" sz="1000" b="1" dirty="0" err="1">
                      <a:solidFill>
                        <a:srgbClr val="FF0000"/>
                      </a:solidFill>
                    </a:rPr>
                    <a:t>notterminating</a:t>
                  </a:r>
                  <a:r>
                    <a:rPr lang="en-US" altLang="ko-KR" sz="1000" b="1" dirty="0">
                      <a:solidFill>
                        <a:srgbClr val="FF0000"/>
                      </a:solidFill>
                    </a:rPr>
                    <a:t>-pods</a:t>
                  </a:r>
                </a:p>
                <a:p>
                  <a:r>
                    <a:rPr lang="en-US" altLang="ko-KR" sz="1000" b="1" dirty="0"/>
                    <a:t>spec:</a:t>
                  </a:r>
                </a:p>
                <a:p>
                  <a:r>
                    <a:rPr lang="en-US" altLang="ko-KR" sz="1000" b="1" dirty="0">
                      <a:solidFill>
                        <a:srgbClr val="FF0000"/>
                      </a:solidFill>
                    </a:rPr>
                    <a:t>  scopes:</a:t>
                  </a:r>
                </a:p>
                <a:p>
                  <a:r>
                    <a:rPr lang="en-US" altLang="ko-KR" sz="1000" b="1" dirty="0">
                      <a:solidFill>
                        <a:srgbClr val="FF0000"/>
                      </a:solidFill>
                    </a:rPr>
                    <a:t>  - </a:t>
                  </a:r>
                  <a:r>
                    <a:rPr lang="en-US" altLang="ko-KR" sz="1000" b="1" dirty="0" err="1">
                      <a:solidFill>
                        <a:srgbClr val="FF0000"/>
                      </a:solidFill>
                    </a:rPr>
                    <a:t>BestEffort</a:t>
                  </a:r>
                  <a:endParaRPr lang="en-US" altLang="ko-KR" sz="1000" b="1" dirty="0">
                    <a:solidFill>
                      <a:srgbClr val="FF0000"/>
                    </a:solidFill>
                  </a:endParaRPr>
                </a:p>
                <a:p>
                  <a:r>
                    <a:rPr lang="en-US" altLang="ko-KR" sz="1000" b="1" dirty="0">
                      <a:solidFill>
                        <a:srgbClr val="FF0000"/>
                      </a:solidFill>
                    </a:rPr>
                    <a:t>  - </a:t>
                  </a:r>
                  <a:r>
                    <a:rPr lang="en-US" altLang="ko-KR" sz="1000" b="1" dirty="0" err="1">
                      <a:solidFill>
                        <a:srgbClr val="FF0000"/>
                      </a:solidFill>
                    </a:rPr>
                    <a:t>NotTerminating</a:t>
                  </a:r>
                  <a:endParaRPr lang="en-US" altLang="ko-KR" sz="1000" b="1" dirty="0">
                    <a:solidFill>
                      <a:srgbClr val="FF0000"/>
                    </a:solidFill>
                  </a:endParaRPr>
                </a:p>
                <a:p>
                  <a:r>
                    <a:rPr lang="en-US" altLang="ko-KR" sz="1000" b="1" dirty="0"/>
                    <a:t>  hard:</a:t>
                  </a:r>
                </a:p>
                <a:p>
                  <a:r>
                    <a:rPr lang="en-US" altLang="ko-KR" sz="1000" b="1" dirty="0">
                      <a:solidFill>
                        <a:srgbClr val="FF0000"/>
                      </a:solidFill>
                    </a:rPr>
                    <a:t>    pods: 4</a:t>
                  </a:r>
                </a:p>
              </p:txBody>
            </p:sp>
            <p:sp>
              <p:nvSpPr>
                <p:cNvPr id="9" name="TextBox 8">
                  <a:extLst>
                    <a:ext uri="{FF2B5EF4-FFF2-40B4-BE49-F238E27FC236}">
                      <a16:creationId xmlns:a16="http://schemas.microsoft.com/office/drawing/2014/main" id="{47E7C510-325D-34D2-1318-05EBA0252A48}"/>
                    </a:ext>
                  </a:extLst>
                </p:cNvPr>
                <p:cNvSpPr txBox="1"/>
                <p:nvPr/>
              </p:nvSpPr>
              <p:spPr>
                <a:xfrm>
                  <a:off x="7791418" y="1797784"/>
                  <a:ext cx="1353256" cy="246221"/>
                </a:xfrm>
                <a:prstGeom prst="rect">
                  <a:avLst/>
                </a:prstGeom>
                <a:noFill/>
              </p:spPr>
              <p:txBody>
                <a:bodyPr wrap="none" rtlCol="0">
                  <a:spAutoFit/>
                </a:bodyPr>
                <a:lstStyle/>
                <a:p>
                  <a:pPr algn="l"/>
                  <a:r>
                    <a:rPr lang="en-US" altLang="ko-KR" sz="1000" b="1" dirty="0"/>
                    <a:t>quota-</a:t>
                  </a:r>
                  <a:r>
                    <a:rPr lang="en-US" altLang="ko-KR" sz="1000" b="1" dirty="0" err="1"/>
                    <a:t>scoped.yaml</a:t>
                  </a:r>
                  <a:endParaRPr lang="ko-KR" altLang="en-US" sz="1000" b="1" dirty="0"/>
                </a:p>
              </p:txBody>
            </p:sp>
          </p:grpSp>
          <p:sp>
            <p:nvSpPr>
              <p:cNvPr id="11" name="화살표: 아래쪽 10">
                <a:extLst>
                  <a:ext uri="{FF2B5EF4-FFF2-40B4-BE49-F238E27FC236}">
                    <a16:creationId xmlns:a16="http://schemas.microsoft.com/office/drawing/2014/main" id="{B8225B14-CFDA-7DA2-03E2-82E2D60EF6BB}"/>
                  </a:ext>
                </a:extLst>
              </p:cNvPr>
              <p:cNvSpPr/>
              <p:nvPr/>
            </p:nvSpPr>
            <p:spPr>
              <a:xfrm>
                <a:off x="5869423" y="3429000"/>
                <a:ext cx="453154" cy="34188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B7E546B0-8B33-D76B-C29D-11FBFFEA50B6}"/>
                  </a:ext>
                </a:extLst>
              </p:cNvPr>
              <p:cNvPicPr>
                <a:picLocks noChangeAspect="1"/>
              </p:cNvPicPr>
              <p:nvPr/>
            </p:nvPicPr>
            <p:blipFill>
              <a:blip r:embed="rId2"/>
              <a:stretch>
                <a:fillRect/>
              </a:stretch>
            </p:blipFill>
            <p:spPr>
              <a:xfrm>
                <a:off x="838200" y="3770888"/>
                <a:ext cx="10515600" cy="2445306"/>
              </a:xfrm>
              <a:prstGeom prst="rect">
                <a:avLst/>
              </a:prstGeom>
            </p:spPr>
          </p:pic>
        </p:grpSp>
        <p:sp>
          <p:nvSpPr>
            <p:cNvPr id="15" name="직사각형 14">
              <a:extLst>
                <a:ext uri="{FF2B5EF4-FFF2-40B4-BE49-F238E27FC236}">
                  <a16:creationId xmlns:a16="http://schemas.microsoft.com/office/drawing/2014/main" id="{15133817-291E-E740-8919-EBB7AEF65624}"/>
                </a:ext>
              </a:extLst>
            </p:cNvPr>
            <p:cNvSpPr/>
            <p:nvPr/>
          </p:nvSpPr>
          <p:spPr>
            <a:xfrm>
              <a:off x="930584" y="4806669"/>
              <a:ext cx="3155894" cy="283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4934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Limiting the Total Resources Available in a Namespace(12/12)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Quotas for Specific Pod States and/or QoS Classes :</a:t>
            </a:r>
            <a:endParaRPr lang="en-US" altLang="ko-KR" sz="1400" dirty="0"/>
          </a:p>
          <a:p>
            <a:pPr lvl="1">
              <a:buFont typeface="Wingdings" panose="05000000000000000000" pitchFamily="2" charset="2"/>
              <a:buChar char="§"/>
            </a:pPr>
            <a:r>
              <a:rPr lang="en-US" altLang="ko-KR" sz="1400" b="1" dirty="0"/>
              <a:t>In the previous example, the quota ensures that at most four pods exist with the </a:t>
            </a:r>
            <a:r>
              <a:rPr lang="en-US" altLang="ko-KR" sz="1400" b="1" dirty="0" err="1">
                <a:solidFill>
                  <a:srgbClr val="FF0000"/>
                </a:solidFill>
              </a:rPr>
              <a:t>BestEffort</a:t>
            </a:r>
            <a:r>
              <a:rPr lang="en-US" altLang="ko-KR" sz="1400" b="1" dirty="0"/>
              <a:t> QoS class</a:t>
            </a:r>
            <a:r>
              <a:rPr lang="en-US" altLang="ko-KR" sz="1400" dirty="0"/>
              <a:t>, </a:t>
            </a:r>
            <a:r>
              <a:rPr lang="en-US" altLang="ko-KR" sz="1400" b="1" dirty="0"/>
              <a:t>which don’t have an active deadline</a:t>
            </a:r>
            <a:r>
              <a:rPr lang="en-US" altLang="ko-KR" sz="1400" dirty="0"/>
              <a:t>. If the quota was targeting </a:t>
            </a:r>
            <a:r>
              <a:rPr lang="en-US" altLang="ko-KR" sz="1400" b="1" dirty="0" err="1">
                <a:solidFill>
                  <a:srgbClr val="FF0000"/>
                </a:solidFill>
              </a:rPr>
              <a:t>NotBestEffort</a:t>
            </a:r>
            <a:r>
              <a:rPr lang="en-US" altLang="ko-KR" sz="1400" dirty="0"/>
              <a:t> pods instead, </a:t>
            </a:r>
            <a:r>
              <a:rPr lang="en-US" altLang="ko-KR" sz="1400" b="1" dirty="0"/>
              <a:t>you could also specify </a:t>
            </a:r>
            <a:r>
              <a:rPr lang="en-US" altLang="ko-KR" sz="1400" b="1" dirty="0" err="1">
                <a:solidFill>
                  <a:srgbClr val="FF0000"/>
                </a:solidFill>
              </a:rPr>
              <a:t>requests.cpu</a:t>
            </a:r>
            <a:r>
              <a:rPr lang="en-US" altLang="ko-KR" sz="1400" b="1" dirty="0"/>
              <a:t>, </a:t>
            </a:r>
            <a:r>
              <a:rPr lang="en-US" altLang="ko-KR" sz="1400" b="1" dirty="0" err="1">
                <a:solidFill>
                  <a:srgbClr val="FF0000"/>
                </a:solidFill>
              </a:rPr>
              <a:t>requests.memory</a:t>
            </a:r>
            <a:r>
              <a:rPr lang="en-US" altLang="ko-KR" sz="1400" b="1" dirty="0"/>
              <a:t>, </a:t>
            </a:r>
            <a:r>
              <a:rPr lang="en-US" altLang="ko-KR" sz="1400" b="1" dirty="0" err="1">
                <a:solidFill>
                  <a:srgbClr val="FF0000"/>
                </a:solidFill>
              </a:rPr>
              <a:t>limits.cpu</a:t>
            </a:r>
            <a:r>
              <a:rPr lang="en-US" altLang="ko-KR" sz="1400" b="1" dirty="0"/>
              <a:t>, and </a:t>
            </a:r>
            <a:r>
              <a:rPr lang="en-US" altLang="ko-KR" sz="1400" b="1" dirty="0" err="1">
                <a:solidFill>
                  <a:srgbClr val="FF0000"/>
                </a:solidFill>
              </a:rPr>
              <a:t>limits.memory</a:t>
            </a:r>
            <a:r>
              <a:rPr lang="en-US" altLang="ko-KR" sz="1400" dirty="0"/>
              <a:t>.</a:t>
            </a:r>
          </a:p>
          <a:p>
            <a:pPr lvl="1">
              <a:buFont typeface="Wingdings" panose="05000000000000000000" pitchFamily="2" charset="2"/>
              <a:buChar char="§"/>
            </a:pPr>
            <a:r>
              <a:rPr lang="en-US" altLang="ko-KR" sz="1400" b="1" dirty="0"/>
              <a:t>NOTE : Please delete all the </a:t>
            </a:r>
            <a:r>
              <a:rPr lang="en-US" altLang="ko-KR" sz="1400" b="1" dirty="0" err="1"/>
              <a:t>ResourceQuota</a:t>
            </a:r>
            <a:r>
              <a:rPr lang="en-US" altLang="ko-KR" sz="1400" b="1" dirty="0"/>
              <a:t> and </a:t>
            </a:r>
            <a:r>
              <a:rPr lang="en-US" altLang="ko-KR" sz="1400" b="1" dirty="0" err="1"/>
              <a:t>LimitRange</a:t>
            </a:r>
            <a:r>
              <a:rPr lang="en-US" altLang="ko-KR" sz="1400" b="1" dirty="0"/>
              <a:t> resources you created. </a:t>
            </a:r>
            <a:r>
              <a:rPr lang="en-US" altLang="ko-KR" sz="1400" dirty="0"/>
              <a:t>For this, you can use “</a:t>
            </a:r>
            <a:r>
              <a:rPr lang="en-US" altLang="ko-KR" sz="1400" b="1" dirty="0"/>
              <a:t>$ </a:t>
            </a:r>
            <a:r>
              <a:rPr lang="en-US" altLang="ko-KR" sz="1400" b="1" dirty="0" err="1"/>
              <a:t>kubectl</a:t>
            </a:r>
            <a:r>
              <a:rPr lang="en-US" altLang="ko-KR" sz="1400" b="1" dirty="0"/>
              <a:t> delete </a:t>
            </a:r>
            <a:r>
              <a:rPr lang="en-US" altLang="ko-KR" sz="1400" b="1" dirty="0" err="1"/>
              <a:t>limitrange</a:t>
            </a:r>
            <a:r>
              <a:rPr lang="en-US" altLang="ko-KR" sz="1400" b="1" dirty="0"/>
              <a:t> --all</a:t>
            </a:r>
            <a:r>
              <a:rPr lang="en-US" altLang="ko-KR" sz="1400" dirty="0"/>
              <a:t>” and “</a:t>
            </a:r>
            <a:r>
              <a:rPr lang="en-US" altLang="ko-KR" sz="1400" b="1" dirty="0"/>
              <a:t>$ </a:t>
            </a:r>
            <a:r>
              <a:rPr lang="en-US" altLang="ko-KR" sz="1400" b="1" dirty="0" err="1"/>
              <a:t>kubectl</a:t>
            </a:r>
            <a:r>
              <a:rPr lang="en-US" altLang="ko-KR" sz="1400" b="1" dirty="0"/>
              <a:t> delete </a:t>
            </a:r>
            <a:r>
              <a:rPr lang="en-US" altLang="ko-KR" sz="1400" b="1" dirty="0" err="1"/>
              <a:t>resourcequota</a:t>
            </a:r>
            <a:r>
              <a:rPr lang="en-US" altLang="ko-KR" sz="1400" b="1" dirty="0"/>
              <a:t> --all</a:t>
            </a:r>
            <a:r>
              <a:rPr lang="en-US" altLang="ko-KR" sz="1400" dirty="0"/>
              <a:t>” respectively</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034EB3E-ADE7-DC72-0956-A5868987A6E3}"/>
              </a:ext>
            </a:extLst>
          </p:cNvPr>
          <p:cNvGrpSpPr/>
          <p:nvPr/>
        </p:nvGrpSpPr>
        <p:grpSpPr>
          <a:xfrm>
            <a:off x="838200" y="2527661"/>
            <a:ext cx="10515600" cy="2402851"/>
            <a:chOff x="838200" y="2317268"/>
            <a:chExt cx="10515600" cy="2402851"/>
          </a:xfrm>
        </p:grpSpPr>
        <p:pic>
          <p:nvPicPr>
            <p:cNvPr id="8" name="그림 7">
              <a:extLst>
                <a:ext uri="{FF2B5EF4-FFF2-40B4-BE49-F238E27FC236}">
                  <a16:creationId xmlns:a16="http://schemas.microsoft.com/office/drawing/2014/main" id="{883585F8-BD1C-79C6-423F-8D8F9D40F835}"/>
                </a:ext>
              </a:extLst>
            </p:cNvPr>
            <p:cNvPicPr>
              <a:picLocks noChangeAspect="1"/>
            </p:cNvPicPr>
            <p:nvPr/>
          </p:nvPicPr>
          <p:blipFill>
            <a:blip r:embed="rId2"/>
            <a:stretch>
              <a:fillRect/>
            </a:stretch>
          </p:blipFill>
          <p:spPr>
            <a:xfrm>
              <a:off x="838200" y="3063874"/>
              <a:ext cx="10515600" cy="1656245"/>
            </a:xfrm>
            <a:prstGeom prst="rect">
              <a:avLst/>
            </a:prstGeom>
          </p:spPr>
        </p:pic>
        <p:sp>
          <p:nvSpPr>
            <p:cNvPr id="10" name="TextBox 9">
              <a:extLst>
                <a:ext uri="{FF2B5EF4-FFF2-40B4-BE49-F238E27FC236}">
                  <a16:creationId xmlns:a16="http://schemas.microsoft.com/office/drawing/2014/main" id="{E568F969-2248-83F4-8846-41DA3BF76010}"/>
                </a:ext>
              </a:extLst>
            </p:cNvPr>
            <p:cNvSpPr txBox="1"/>
            <p:nvPr/>
          </p:nvSpPr>
          <p:spPr>
            <a:xfrm>
              <a:off x="3047326" y="2317268"/>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limitrange</a:t>
              </a:r>
              <a:r>
                <a:rPr lang="en-US" altLang="ko-KR" sz="1000" b="1" dirty="0"/>
                <a:t> --all</a:t>
              </a:r>
            </a:p>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resourcequota</a:t>
              </a:r>
              <a:r>
                <a:rPr lang="en-US" altLang="ko-KR" sz="1000" b="1" dirty="0"/>
                <a:t> --all</a:t>
              </a:r>
              <a:endParaRPr lang="ko-KR" altLang="en-US" sz="1000" b="1" dirty="0"/>
            </a:p>
          </p:txBody>
        </p:sp>
        <p:sp>
          <p:nvSpPr>
            <p:cNvPr id="11" name="화살표: 아래쪽 10">
              <a:extLst>
                <a:ext uri="{FF2B5EF4-FFF2-40B4-BE49-F238E27FC236}">
                  <a16:creationId xmlns:a16="http://schemas.microsoft.com/office/drawing/2014/main" id="{7555952A-7797-2323-E7A0-7C34E3A3BB27}"/>
                </a:ext>
              </a:extLst>
            </p:cNvPr>
            <p:cNvSpPr/>
            <p:nvPr/>
          </p:nvSpPr>
          <p:spPr>
            <a:xfrm>
              <a:off x="5865377" y="2733240"/>
              <a:ext cx="461246" cy="33063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552855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Collecting and Retrieving Actual Resource Usages :</a:t>
            </a:r>
            <a:endParaRPr lang="en-US" altLang="ko-KR" sz="1400" dirty="0"/>
          </a:p>
          <a:p>
            <a:pPr lvl="1">
              <a:buFont typeface="Wingdings" panose="05000000000000000000" pitchFamily="2" charset="2"/>
              <a:buChar char="§"/>
            </a:pPr>
            <a:r>
              <a:rPr lang="en-US" altLang="ko-KR" sz="1400" b="1" dirty="0"/>
              <a:t>Properly setting resource requests and limits is crucial for getting the most out of your Kubernetes cluster</a:t>
            </a:r>
            <a:r>
              <a:rPr lang="en-US" altLang="ko-KR" sz="1400" dirty="0"/>
              <a:t>. If requests are set too high, your cluster nodes will be underutilized and you’ll be throwing money away. If you set them too low, your apps will be CPU-starved or even killed by the OOM Killer.</a:t>
            </a:r>
          </a:p>
          <a:p>
            <a:pPr lvl="1">
              <a:buFont typeface="Wingdings" panose="05000000000000000000" pitchFamily="2" charset="2"/>
              <a:buChar char="§"/>
            </a:pPr>
            <a:r>
              <a:rPr lang="en-US" altLang="ko-KR" sz="1400" b="1" dirty="0"/>
              <a:t>You can find the sweet spot by monitoring the actual resource usage of your containers under the expected load levels</a:t>
            </a:r>
            <a:r>
              <a:rPr lang="en-US" altLang="ko-KR" sz="1400" dirty="0"/>
              <a:t>. Once the application is exposed to the public, </a:t>
            </a:r>
            <a:r>
              <a:rPr lang="en-US" altLang="ko-KR" sz="1400" b="1" dirty="0"/>
              <a:t>you should keep monitoring it and adjust the resource requests and limits if required</a:t>
            </a:r>
            <a:r>
              <a:rPr lang="en-US" altLang="ko-KR" sz="1400" dirty="0"/>
              <a:t>.</a:t>
            </a:r>
          </a:p>
          <a:p>
            <a:pPr lvl="1">
              <a:buFont typeface="Wingdings" panose="05000000000000000000" pitchFamily="2" charset="2"/>
              <a:buChar char="§"/>
            </a:pPr>
            <a:r>
              <a:rPr lang="en-US" altLang="ko-KR" sz="1400" b="1" dirty="0"/>
              <a:t>The </a:t>
            </a:r>
            <a:r>
              <a:rPr lang="en-US" altLang="ko-KR" sz="1400" b="1" dirty="0" err="1"/>
              <a:t>Kubelet</a:t>
            </a:r>
            <a:r>
              <a:rPr lang="en-US" altLang="ko-KR" sz="1400" b="1" dirty="0"/>
              <a:t> itself already contains an agent called </a:t>
            </a:r>
            <a:r>
              <a:rPr lang="en-US" altLang="ko-KR" sz="1400" b="1" dirty="0" err="1">
                <a:solidFill>
                  <a:srgbClr val="FF0000"/>
                </a:solidFill>
              </a:rPr>
              <a:t>cAdvisor</a:t>
            </a:r>
            <a:r>
              <a:rPr lang="en-US" altLang="ko-KR" sz="1400" dirty="0"/>
              <a:t>, </a:t>
            </a:r>
            <a:r>
              <a:rPr lang="en-US" altLang="ko-KR" sz="1400" b="1" dirty="0"/>
              <a:t>which performs the basic collection of resource consumption data for both individual containers running on the node and the node as a whole</a:t>
            </a:r>
            <a:r>
              <a:rPr lang="en-US" altLang="ko-KR" sz="1400" dirty="0"/>
              <a:t>. Gathering those statistics centrally for the whole cluster requires you to </a:t>
            </a:r>
            <a:r>
              <a:rPr lang="en-US" altLang="ko-KR" sz="1400" b="1" dirty="0"/>
              <a:t>run an additional component called </a:t>
            </a:r>
            <a:r>
              <a:rPr lang="en-US" altLang="ko-KR" sz="1400" b="1" dirty="0" err="1">
                <a:solidFill>
                  <a:srgbClr val="FF0000"/>
                </a:solidFill>
              </a:rPr>
              <a:t>Heapster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FD23F3C0-2697-A69B-9295-C0EC73AC4335}"/>
              </a:ext>
            </a:extLst>
          </p:cNvPr>
          <p:cNvPicPr>
            <a:picLocks noChangeAspect="1"/>
          </p:cNvPicPr>
          <p:nvPr/>
        </p:nvPicPr>
        <p:blipFill>
          <a:blip r:embed="rId2"/>
          <a:stretch>
            <a:fillRect/>
          </a:stretch>
        </p:blipFill>
        <p:spPr>
          <a:xfrm>
            <a:off x="3048000" y="3429000"/>
            <a:ext cx="6096000" cy="2505075"/>
          </a:xfrm>
          <a:prstGeom prst="rect">
            <a:avLst/>
          </a:prstGeom>
        </p:spPr>
      </p:pic>
    </p:spTree>
    <p:extLst>
      <p:ext uri="{BB962C8B-B14F-4D97-AF65-F5344CB8AC3E}">
        <p14:creationId xmlns:p14="http://schemas.microsoft.com/office/powerpoint/2010/main" val="2446520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Collecting and Retrieving Actual Resource Usages :</a:t>
            </a:r>
            <a:endParaRPr lang="en-US" altLang="ko-KR" sz="1400" dirty="0"/>
          </a:p>
          <a:p>
            <a:pPr lvl="1">
              <a:buFont typeface="Wingdings" panose="05000000000000000000" pitchFamily="2" charset="2"/>
              <a:buChar char="§"/>
            </a:pPr>
            <a:r>
              <a:rPr lang="en-US" altLang="ko-KR" sz="1400" b="1" dirty="0" err="1">
                <a:solidFill>
                  <a:srgbClr val="FF0000"/>
                </a:solidFill>
              </a:rPr>
              <a:t>Heapster</a:t>
            </a:r>
            <a:r>
              <a:rPr lang="en-US" altLang="ko-KR" sz="1400" b="1" dirty="0"/>
              <a:t> runs as a pod on one of the nodes and is exposed through a regular Kubernetes Service</a:t>
            </a:r>
            <a:r>
              <a:rPr lang="en-US" altLang="ko-KR" sz="1400" dirty="0"/>
              <a:t>, </a:t>
            </a:r>
            <a:r>
              <a:rPr lang="en-US" altLang="ko-KR" sz="1400" b="1" dirty="0"/>
              <a:t>making it accessible at a stable IP address</a:t>
            </a:r>
            <a:r>
              <a:rPr lang="en-US" altLang="ko-KR" sz="1400" dirty="0"/>
              <a:t>. </a:t>
            </a:r>
            <a:r>
              <a:rPr lang="en-US" altLang="ko-KR" sz="1400" b="1" dirty="0"/>
              <a:t>It collects the data from all </a:t>
            </a:r>
            <a:r>
              <a:rPr lang="en-US" altLang="ko-KR" sz="1400" b="1" dirty="0" err="1">
                <a:solidFill>
                  <a:srgbClr val="FF0000"/>
                </a:solidFill>
              </a:rPr>
              <a:t>cAdvisors</a:t>
            </a:r>
            <a:r>
              <a:rPr lang="en-US" altLang="ko-KR" sz="1400" b="1" dirty="0"/>
              <a:t> in the cluster and exposes it in a single location</a:t>
            </a:r>
            <a:r>
              <a:rPr lang="en-US" altLang="ko-KR" sz="1400" dirty="0"/>
              <a:t>. The following figure shows the flow of </a:t>
            </a:r>
            <a:r>
              <a:rPr lang="en-US" altLang="ko-KR" sz="1400" b="1" dirty="0"/>
              <a:t>the metrics data from the pods, through </a:t>
            </a:r>
            <a:r>
              <a:rPr lang="en-US" altLang="ko-KR" sz="1400" b="1" dirty="0" err="1"/>
              <a:t>cAdvisor</a:t>
            </a:r>
            <a:r>
              <a:rPr lang="en-US" altLang="ko-KR" sz="1400" b="1" dirty="0"/>
              <a:t> and finally into </a:t>
            </a:r>
            <a:r>
              <a:rPr lang="en-US" altLang="ko-KR" sz="1400" b="1" dirty="0" err="1"/>
              <a:t>Heapster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arrows in the above figure show how </a:t>
            </a:r>
            <a:r>
              <a:rPr lang="en-US" altLang="ko-KR" sz="1400" b="1" dirty="0"/>
              <a:t>the metrics data flows</a:t>
            </a:r>
            <a:r>
              <a:rPr lang="en-US" altLang="ko-KR" sz="1400" dirty="0"/>
              <a:t>. </a:t>
            </a:r>
            <a:r>
              <a:rPr lang="en-US" altLang="ko-KR" sz="1400" b="1" dirty="0"/>
              <a:t>They don’t show which component connects to which to get the data</a:t>
            </a:r>
            <a:r>
              <a:rPr lang="en-US" altLang="ko-KR" sz="1400" dirty="0"/>
              <a:t>. </a:t>
            </a:r>
            <a:r>
              <a:rPr lang="en-US" altLang="ko-KR" sz="1400" b="1" dirty="0"/>
              <a:t>The pods (or the containers running therein) don’t know anything about </a:t>
            </a:r>
            <a:r>
              <a:rPr lang="en-US" altLang="ko-KR" sz="1400" b="1" dirty="0" err="1"/>
              <a:t>cAdvisor</a:t>
            </a:r>
            <a:r>
              <a:rPr lang="en-US" altLang="ko-KR" sz="1400" b="1" dirty="0"/>
              <a:t>, and </a:t>
            </a:r>
            <a:r>
              <a:rPr lang="en-US" altLang="ko-KR" sz="1400" b="1" dirty="0" err="1"/>
              <a:t>cAdvisor</a:t>
            </a:r>
            <a:r>
              <a:rPr lang="en-US" altLang="ko-KR" sz="1400" b="1" dirty="0"/>
              <a:t> doesn’t know anything about </a:t>
            </a:r>
            <a:r>
              <a:rPr lang="en-US" altLang="ko-KR" sz="1400" b="1" dirty="0" err="1"/>
              <a:t>Heapster</a:t>
            </a:r>
            <a:r>
              <a:rPr lang="en-US" altLang="ko-KR" sz="1400" b="1" dirty="0"/>
              <a:t>. </a:t>
            </a:r>
            <a:r>
              <a:rPr lang="en-US" altLang="ko-KR" sz="1400" b="1" dirty="0">
                <a:solidFill>
                  <a:srgbClr val="FF0000"/>
                </a:solidFill>
              </a:rPr>
              <a:t>It’s </a:t>
            </a:r>
            <a:r>
              <a:rPr lang="en-US" altLang="ko-KR" sz="1400" b="1" dirty="0" err="1">
                <a:solidFill>
                  <a:srgbClr val="FF0000"/>
                </a:solidFill>
              </a:rPr>
              <a:t>Heapster</a:t>
            </a:r>
            <a:r>
              <a:rPr lang="en-US" altLang="ko-KR" sz="1400" b="1" dirty="0">
                <a:solidFill>
                  <a:srgbClr val="FF0000"/>
                </a:solidFill>
              </a:rPr>
              <a:t> that connects to all the </a:t>
            </a:r>
            <a:r>
              <a:rPr lang="en-US" altLang="ko-KR" sz="1400" b="1" dirty="0" err="1">
                <a:solidFill>
                  <a:srgbClr val="FF0000"/>
                </a:solidFill>
              </a:rPr>
              <a:t>cAdvisors</a:t>
            </a:r>
            <a:r>
              <a:rPr lang="en-US" altLang="ko-KR" sz="1400" b="1" dirty="0">
                <a:solidFill>
                  <a:srgbClr val="FF0000"/>
                </a:solidFill>
              </a:rPr>
              <a:t>, and it’s the </a:t>
            </a:r>
            <a:r>
              <a:rPr lang="en-US" altLang="ko-KR" sz="1400" b="1" dirty="0" err="1">
                <a:solidFill>
                  <a:srgbClr val="FF0000"/>
                </a:solidFill>
              </a:rPr>
              <a:t>cAdvisors</a:t>
            </a:r>
            <a:r>
              <a:rPr lang="en-US" altLang="ko-KR" sz="1400" b="1" dirty="0">
                <a:solidFill>
                  <a:srgbClr val="FF0000"/>
                </a:solidFill>
              </a:rPr>
              <a:t> that collect the container and node usage data</a:t>
            </a:r>
            <a:r>
              <a:rPr lang="en-US" altLang="ko-KR" sz="1400" b="1" dirty="0"/>
              <a:t> without having to talk to the processes running inside the pods’ containers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6477379-A13F-E318-724E-C93E2654D41A}"/>
              </a:ext>
            </a:extLst>
          </p:cNvPr>
          <p:cNvGrpSpPr/>
          <p:nvPr/>
        </p:nvGrpSpPr>
        <p:grpSpPr>
          <a:xfrm>
            <a:off x="3306838" y="1981074"/>
            <a:ext cx="5578323" cy="2895851"/>
            <a:chOff x="3306838" y="1981074"/>
            <a:chExt cx="5578323" cy="2895851"/>
          </a:xfrm>
        </p:grpSpPr>
        <p:pic>
          <p:nvPicPr>
            <p:cNvPr id="4" name="그림 3">
              <a:extLst>
                <a:ext uri="{FF2B5EF4-FFF2-40B4-BE49-F238E27FC236}">
                  <a16:creationId xmlns:a16="http://schemas.microsoft.com/office/drawing/2014/main" id="{8A15D5DA-853D-F5B4-B1C9-A2DA68242022}"/>
                </a:ext>
              </a:extLst>
            </p:cNvPr>
            <p:cNvPicPr>
              <a:picLocks noChangeAspect="1"/>
            </p:cNvPicPr>
            <p:nvPr/>
          </p:nvPicPr>
          <p:blipFill>
            <a:blip r:embed="rId2"/>
            <a:stretch>
              <a:fillRect/>
            </a:stretch>
          </p:blipFill>
          <p:spPr>
            <a:xfrm>
              <a:off x="3306838" y="1981074"/>
              <a:ext cx="5578323" cy="2895851"/>
            </a:xfrm>
            <a:prstGeom prst="rect">
              <a:avLst/>
            </a:prstGeom>
          </p:spPr>
        </p:pic>
        <p:sp>
          <p:nvSpPr>
            <p:cNvPr id="8" name="직사각형 7">
              <a:extLst>
                <a:ext uri="{FF2B5EF4-FFF2-40B4-BE49-F238E27FC236}">
                  <a16:creationId xmlns:a16="http://schemas.microsoft.com/office/drawing/2014/main" id="{A0C2C738-8120-4650-F928-5E7B7140EAE1}"/>
                </a:ext>
              </a:extLst>
            </p:cNvPr>
            <p:cNvSpPr/>
            <p:nvPr/>
          </p:nvSpPr>
          <p:spPr>
            <a:xfrm>
              <a:off x="4313055" y="3607902"/>
              <a:ext cx="558350" cy="2762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B1584A88-5C37-4AD1-6963-ADFA0E3A0D99}"/>
                </a:ext>
              </a:extLst>
            </p:cNvPr>
            <p:cNvSpPr/>
            <p:nvPr/>
          </p:nvSpPr>
          <p:spPr>
            <a:xfrm>
              <a:off x="6141961" y="3605408"/>
              <a:ext cx="558350" cy="2762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143C196-2927-8EB1-1FF5-D35FCB86BD67}"/>
                </a:ext>
              </a:extLst>
            </p:cNvPr>
            <p:cNvSpPr/>
            <p:nvPr/>
          </p:nvSpPr>
          <p:spPr>
            <a:xfrm>
              <a:off x="7995711" y="3605408"/>
              <a:ext cx="558350" cy="2762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E373CBA0-5AD4-5AC4-0B67-3469BDFC61E1}"/>
                </a:ext>
              </a:extLst>
            </p:cNvPr>
            <p:cNvSpPr/>
            <p:nvPr/>
          </p:nvSpPr>
          <p:spPr>
            <a:xfrm>
              <a:off x="7282832" y="3204446"/>
              <a:ext cx="534074" cy="30749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79113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Collecting and Retrieving Actual Resource Usages :</a:t>
            </a:r>
            <a:endParaRPr lang="en-US" altLang="ko-KR" sz="1400" dirty="0"/>
          </a:p>
          <a:p>
            <a:pPr lvl="1">
              <a:buFont typeface="Wingdings" panose="05000000000000000000" pitchFamily="2" charset="2"/>
              <a:buChar char="§"/>
            </a:pPr>
            <a:r>
              <a:rPr lang="en-US" altLang="ko-KR" sz="1400" b="1" dirty="0"/>
              <a:t>If you’re running a cluster in Google Kubernetes Engine, </a:t>
            </a:r>
            <a:r>
              <a:rPr lang="en-US" altLang="ko-KR" sz="1400" b="1" dirty="0" err="1"/>
              <a:t>Heapster</a:t>
            </a:r>
            <a:r>
              <a:rPr lang="en-US" altLang="ko-KR" sz="1400" b="1" dirty="0"/>
              <a:t> is enabled by default</a:t>
            </a:r>
            <a:r>
              <a:rPr lang="en-US" altLang="ko-KR" sz="1400" dirty="0"/>
              <a:t>. If you’re using </a:t>
            </a:r>
            <a:r>
              <a:rPr lang="en-US" altLang="ko-KR" sz="1400" b="1" dirty="0" err="1"/>
              <a:t>Minikube</a:t>
            </a:r>
            <a:r>
              <a:rPr lang="en-US" altLang="ko-KR" sz="1400" dirty="0"/>
              <a:t>, </a:t>
            </a:r>
            <a:r>
              <a:rPr lang="en-US" altLang="ko-KR" sz="1400" b="1" dirty="0"/>
              <a:t>it’s available as an add-on and can be enabled </a:t>
            </a:r>
            <a:r>
              <a:rPr lang="en-US" altLang="ko-KR" sz="1400" dirty="0"/>
              <a:t>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run </a:t>
            </a:r>
            <a:r>
              <a:rPr lang="en-US" altLang="ko-KR" sz="1400" b="1" dirty="0" err="1"/>
              <a:t>Heapster</a:t>
            </a:r>
            <a:r>
              <a:rPr lang="en-US" altLang="ko-KR" sz="1400" b="1" dirty="0"/>
              <a:t> manually in other types of Kubernetes clusters</a:t>
            </a:r>
            <a:r>
              <a:rPr lang="en-US" altLang="ko-KR" sz="1400" dirty="0"/>
              <a:t>, you can refer to instructions located at </a:t>
            </a:r>
            <a:r>
              <a:rPr lang="en-US" altLang="ko-KR" sz="1400" b="1" dirty="0">
                <a:hlinkClick r:id="rId2"/>
              </a:rPr>
              <a:t>https://github.com/kubernetes/heapster</a:t>
            </a:r>
            <a:r>
              <a:rPr lang="en-US" altLang="ko-KR" sz="1400" dirty="0"/>
              <a:t>.</a:t>
            </a:r>
          </a:p>
          <a:p>
            <a:pPr lvl="1">
              <a:buFont typeface="Wingdings" panose="05000000000000000000" pitchFamily="2" charset="2"/>
              <a:buChar char="§"/>
            </a:pPr>
            <a:r>
              <a:rPr lang="en-US" altLang="ko-KR" sz="1400" b="1" dirty="0"/>
              <a:t>NOTE : Now the </a:t>
            </a:r>
            <a:r>
              <a:rPr lang="en-US" altLang="ko-KR" sz="1400" b="1" dirty="0" err="1"/>
              <a:t>heapster</a:t>
            </a:r>
            <a:r>
              <a:rPr lang="en-US" altLang="ko-KR" sz="1400" b="1" dirty="0"/>
              <a:t> is deprecated(2023.01). Use “</a:t>
            </a:r>
            <a:r>
              <a:rPr lang="en-US" altLang="ko-KR" sz="1400" b="1" dirty="0">
                <a:solidFill>
                  <a:srgbClr val="FF0000"/>
                </a:solidFill>
              </a:rPr>
              <a:t>metrics-server</a:t>
            </a:r>
            <a:r>
              <a:rPr lang="en-US" altLang="ko-KR" sz="1400" b="1" dirty="0"/>
              <a:t>” instead. From now on, we will talk about the “metric-server”.</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FB5F69B-4E6D-219C-111D-1EBB235AE16F}"/>
              </a:ext>
            </a:extLst>
          </p:cNvPr>
          <p:cNvGrpSpPr/>
          <p:nvPr/>
        </p:nvGrpSpPr>
        <p:grpSpPr>
          <a:xfrm>
            <a:off x="838200" y="1725055"/>
            <a:ext cx="10515600" cy="2237696"/>
            <a:chOff x="838200" y="1725055"/>
            <a:chExt cx="10515600" cy="2237696"/>
          </a:xfrm>
        </p:grpSpPr>
        <p:sp>
          <p:nvSpPr>
            <p:cNvPr id="8" name="TextBox 7">
              <a:extLst>
                <a:ext uri="{FF2B5EF4-FFF2-40B4-BE49-F238E27FC236}">
                  <a16:creationId xmlns:a16="http://schemas.microsoft.com/office/drawing/2014/main" id="{CC7504FA-DE6A-5CAF-29D2-4EFAB646561E}"/>
                </a:ext>
              </a:extLst>
            </p:cNvPr>
            <p:cNvSpPr txBox="1"/>
            <p:nvPr/>
          </p:nvSpPr>
          <p:spPr>
            <a:xfrm>
              <a:off x="3047326" y="172505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minikube</a:t>
              </a:r>
              <a:r>
                <a:rPr lang="en-US" altLang="ko-KR" sz="1000" b="1" dirty="0"/>
                <a:t> addons enable </a:t>
              </a:r>
              <a:r>
                <a:rPr lang="en-US" altLang="ko-KR" sz="1000" b="1" dirty="0" err="1">
                  <a:solidFill>
                    <a:srgbClr val="FF0000"/>
                  </a:solidFill>
                </a:rPr>
                <a:t>heapster</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BA5C9519-3B23-D042-6271-22C24D41491B}"/>
                </a:ext>
              </a:extLst>
            </p:cNvPr>
            <p:cNvSpPr/>
            <p:nvPr/>
          </p:nvSpPr>
          <p:spPr>
            <a:xfrm>
              <a:off x="5861331" y="1971276"/>
              <a:ext cx="469338"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5E294FF-4E72-EF5D-A186-4B03DC4176B9}"/>
                </a:ext>
              </a:extLst>
            </p:cNvPr>
            <p:cNvPicPr>
              <a:picLocks noChangeAspect="1"/>
            </p:cNvPicPr>
            <p:nvPr/>
          </p:nvPicPr>
          <p:blipFill>
            <a:blip r:embed="rId3"/>
            <a:stretch>
              <a:fillRect/>
            </a:stretch>
          </p:blipFill>
          <p:spPr>
            <a:xfrm>
              <a:off x="838200" y="2280255"/>
              <a:ext cx="10515600" cy="1682496"/>
            </a:xfrm>
            <a:prstGeom prst="rect">
              <a:avLst/>
            </a:prstGeom>
          </p:spPr>
        </p:pic>
      </p:grpSp>
    </p:spTree>
    <p:extLst>
      <p:ext uri="{BB962C8B-B14F-4D97-AF65-F5344CB8AC3E}">
        <p14:creationId xmlns:p14="http://schemas.microsoft.com/office/powerpoint/2010/main" val="6067986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Collecting and Retrieving Actual Resource Usages :</a:t>
            </a:r>
            <a:endParaRPr lang="en-US" altLang="ko-KR" sz="1400" dirty="0"/>
          </a:p>
          <a:p>
            <a:pPr lvl="1">
              <a:buFont typeface="Wingdings" panose="05000000000000000000" pitchFamily="2" charset="2"/>
              <a:buChar char="§"/>
            </a:pPr>
            <a:r>
              <a:rPr lang="en-US" altLang="ko-KR" sz="1400" b="1" dirty="0"/>
              <a:t>Running </a:t>
            </a:r>
            <a:r>
              <a:rPr lang="en-US" altLang="ko-KR" sz="1400" b="1" dirty="0" err="1"/>
              <a:t>Heapster</a:t>
            </a:r>
            <a:r>
              <a:rPr lang="en-US" altLang="ko-KR" sz="1400" b="1" dirty="0"/>
              <a:t> in your cluster makes it possible to obtain resource usages for nodes and individual pods through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top node</a:t>
            </a:r>
            <a:r>
              <a:rPr lang="en-US" altLang="ko-KR" sz="1400" b="1" dirty="0"/>
              <a:t>” command</a:t>
            </a:r>
            <a:r>
              <a:rPr lang="en-US" altLang="ko-KR" sz="1400" dirty="0"/>
              <a:t>. To see how much CPU and memory is being used on your nodes, you can run the command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above screenshot shows the actual, current CPU and memory usage of all the pods running on the node</a:t>
            </a:r>
            <a:r>
              <a:rPr lang="en-US" altLang="ko-KR" sz="1400" dirty="0"/>
              <a:t>, unlike </a:t>
            </a:r>
            <a:r>
              <a:rPr lang="en-US" altLang="ko-KR" sz="1400" b="1" dirty="0"/>
              <a:t>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node</a:t>
            </a:r>
            <a:r>
              <a:rPr lang="en-US" altLang="ko-KR" sz="1400" b="1" dirty="0"/>
              <a:t>” command, which shows the amount of CPU and memory requests and limits instead of actual runtime usage data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A60835F-AEDF-ACF9-7029-21DC88B88FB4}"/>
              </a:ext>
            </a:extLst>
          </p:cNvPr>
          <p:cNvGrpSpPr/>
          <p:nvPr/>
        </p:nvGrpSpPr>
        <p:grpSpPr>
          <a:xfrm>
            <a:off x="838200" y="2032551"/>
            <a:ext cx="10515600" cy="2226383"/>
            <a:chOff x="838200" y="1894987"/>
            <a:chExt cx="10515600" cy="2226383"/>
          </a:xfrm>
        </p:grpSpPr>
        <p:sp>
          <p:nvSpPr>
            <p:cNvPr id="8" name="TextBox 7">
              <a:extLst>
                <a:ext uri="{FF2B5EF4-FFF2-40B4-BE49-F238E27FC236}">
                  <a16:creationId xmlns:a16="http://schemas.microsoft.com/office/drawing/2014/main" id="{CE5CB368-A0C2-0D23-D381-EAB692FD82C5}"/>
                </a:ext>
              </a:extLst>
            </p:cNvPr>
            <p:cNvSpPr txBox="1"/>
            <p:nvPr/>
          </p:nvSpPr>
          <p:spPr>
            <a:xfrm>
              <a:off x="3047326" y="189498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top </a:t>
              </a:r>
              <a:r>
                <a:rPr lang="en-US" altLang="ko-KR" sz="1000" b="1" dirty="0">
                  <a:solidFill>
                    <a:srgbClr val="FF0000"/>
                  </a:solidFill>
                </a:rPr>
                <a:t>node</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F489EF7E-A92D-FBDC-4265-0ED2AB63E98E}"/>
                </a:ext>
              </a:extLst>
            </p:cNvPr>
            <p:cNvSpPr/>
            <p:nvPr/>
          </p:nvSpPr>
          <p:spPr>
            <a:xfrm>
              <a:off x="5869423" y="2148903"/>
              <a:ext cx="453154"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EC1BEDE-2DE1-9470-C309-BB20AF721C87}"/>
                </a:ext>
              </a:extLst>
            </p:cNvPr>
            <p:cNvPicPr>
              <a:picLocks noChangeAspect="1"/>
            </p:cNvPicPr>
            <p:nvPr/>
          </p:nvPicPr>
          <p:blipFill>
            <a:blip r:embed="rId2"/>
            <a:stretch>
              <a:fillRect/>
            </a:stretch>
          </p:blipFill>
          <p:spPr>
            <a:xfrm>
              <a:off x="838200" y="2456400"/>
              <a:ext cx="10515600" cy="1664970"/>
            </a:xfrm>
            <a:prstGeom prst="rect">
              <a:avLst/>
            </a:prstGeom>
          </p:spPr>
        </p:pic>
      </p:grpSp>
    </p:spTree>
    <p:extLst>
      <p:ext uri="{BB962C8B-B14F-4D97-AF65-F5344CB8AC3E}">
        <p14:creationId xmlns:p14="http://schemas.microsoft.com/office/powerpoint/2010/main" val="22267679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Collecting and Retrieving Actual Resource Usages :</a:t>
            </a:r>
            <a:endParaRPr lang="en-US" altLang="ko-KR" sz="1400" dirty="0"/>
          </a:p>
          <a:p>
            <a:pPr lvl="1">
              <a:buFont typeface="Wingdings" panose="05000000000000000000" pitchFamily="2" charset="2"/>
              <a:buChar char="§"/>
            </a:pPr>
            <a:r>
              <a:rPr lang="en-US" altLang="ko-KR" sz="1400" b="1" dirty="0"/>
              <a:t>To see how much each individual pod is using, you can use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top pod</a:t>
            </a:r>
            <a:r>
              <a:rPr lang="en-US" altLang="ko-KR" sz="1400" b="1" dirty="0"/>
              <a:t>” command</a:t>
            </a:r>
            <a:r>
              <a:rPr lang="en-US" altLang="ko-KR" sz="1400" dirty="0"/>
              <a:t>, as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95B1CB6-73FC-033E-2D9D-783C9A04ABB5}"/>
              </a:ext>
            </a:extLst>
          </p:cNvPr>
          <p:cNvGrpSpPr/>
          <p:nvPr/>
        </p:nvGrpSpPr>
        <p:grpSpPr>
          <a:xfrm>
            <a:off x="838200" y="1828819"/>
            <a:ext cx="10515600" cy="3200361"/>
            <a:chOff x="838200" y="1765515"/>
            <a:chExt cx="10515600" cy="3200361"/>
          </a:xfrm>
        </p:grpSpPr>
        <p:sp>
          <p:nvSpPr>
            <p:cNvPr id="8" name="TextBox 7">
              <a:extLst>
                <a:ext uri="{FF2B5EF4-FFF2-40B4-BE49-F238E27FC236}">
                  <a16:creationId xmlns:a16="http://schemas.microsoft.com/office/drawing/2014/main" id="{8170717D-0739-2053-C5E5-6991D7662686}"/>
                </a:ext>
              </a:extLst>
            </p:cNvPr>
            <p:cNvSpPr txBox="1"/>
            <p:nvPr/>
          </p:nvSpPr>
          <p:spPr>
            <a:xfrm>
              <a:off x="3047326" y="176551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top </a:t>
              </a:r>
              <a:r>
                <a:rPr lang="en-US" altLang="ko-KR" sz="1000" b="1" dirty="0">
                  <a:solidFill>
                    <a:srgbClr val="FF0000"/>
                  </a:solidFill>
                </a:rPr>
                <a:t>pod --all-namespaces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6B8BC92E-6F8C-81DE-55E5-02A4278B43D9}"/>
                </a:ext>
              </a:extLst>
            </p:cNvPr>
            <p:cNvSpPr/>
            <p:nvPr/>
          </p:nvSpPr>
          <p:spPr>
            <a:xfrm>
              <a:off x="5849193" y="2030821"/>
              <a:ext cx="493614" cy="32368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3C9CC9F3-2A5B-9263-D6A8-F36D2D47D30F}"/>
                </a:ext>
              </a:extLst>
            </p:cNvPr>
            <p:cNvPicPr>
              <a:picLocks noChangeAspect="1"/>
            </p:cNvPicPr>
            <p:nvPr/>
          </p:nvPicPr>
          <p:blipFill>
            <a:blip r:embed="rId2"/>
            <a:stretch>
              <a:fillRect/>
            </a:stretch>
          </p:blipFill>
          <p:spPr>
            <a:xfrm>
              <a:off x="838200" y="2354502"/>
              <a:ext cx="10515600" cy="2611374"/>
            </a:xfrm>
            <a:prstGeom prst="rect">
              <a:avLst/>
            </a:prstGeom>
          </p:spPr>
        </p:pic>
      </p:grpSp>
    </p:spTree>
    <p:extLst>
      <p:ext uri="{BB962C8B-B14F-4D97-AF65-F5344CB8AC3E}">
        <p14:creationId xmlns:p14="http://schemas.microsoft.com/office/powerpoint/2010/main" val="42434313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Collecting and Retrieving Actual Resource Usages :</a:t>
            </a:r>
            <a:endParaRPr lang="en-US" altLang="ko-KR" sz="1400" dirty="0"/>
          </a:p>
          <a:p>
            <a:pPr lvl="1">
              <a:buFont typeface="Wingdings" panose="05000000000000000000" pitchFamily="2" charset="2"/>
              <a:buChar char="§"/>
            </a:pPr>
            <a:r>
              <a:rPr lang="en-US" altLang="ko-KR" sz="1400" b="1" dirty="0"/>
              <a:t>Sometimes the top pod command will refuse to show any metrics and instead print out an error </a:t>
            </a:r>
            <a:r>
              <a:rPr lang="en-US" altLang="ko-KR" sz="1400" dirty="0"/>
              <a:t>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If you meet the “Error from server…”, don’t start looking for the cause of the above error yet. Relax, wait a while, and rerun the command—it may take a few minutes, but the metrics should appear eventually</a:t>
            </a:r>
            <a:r>
              <a:rPr lang="en-US" altLang="ko-KR" sz="1400" dirty="0"/>
              <a:t>. </a:t>
            </a:r>
            <a:r>
              <a:rPr lang="en-US" altLang="ko-KR" sz="1400" b="1" dirty="0"/>
              <a:t>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top</a:t>
            </a:r>
            <a:r>
              <a:rPr lang="en-US" altLang="ko-KR" sz="1400" b="1" dirty="0"/>
              <a:t>” command gets the metrics from “</a:t>
            </a:r>
            <a:r>
              <a:rPr lang="en-US" altLang="ko-KR" sz="1400" b="1" dirty="0">
                <a:solidFill>
                  <a:srgbClr val="FF0000"/>
                </a:solidFill>
              </a:rPr>
              <a:t>metrics-server</a:t>
            </a:r>
            <a:r>
              <a:rPr lang="en-US" altLang="ko-KR" sz="1400" b="1" dirty="0"/>
              <a:t>”, which aggregates the data over a few minutes and doesn’t expose it immediately</a:t>
            </a:r>
            <a:r>
              <a:rPr lang="en-US" altLang="ko-KR" sz="1400" dirty="0"/>
              <a:t>.</a:t>
            </a:r>
          </a:p>
          <a:p>
            <a:pPr lvl="1">
              <a:buFont typeface="Wingdings" panose="05000000000000000000" pitchFamily="2" charset="2"/>
              <a:buChar char="§"/>
            </a:pPr>
            <a:r>
              <a:rPr lang="en-US" altLang="ko-KR" sz="1400" b="1" dirty="0"/>
              <a:t>TIP : To see resource usages across individual containers instead of pods, you can use the “</a:t>
            </a:r>
            <a:r>
              <a:rPr lang="en-US" altLang="ko-KR" sz="1400" b="1" dirty="0">
                <a:solidFill>
                  <a:srgbClr val="FF0000"/>
                </a:solidFill>
              </a:rPr>
              <a:t>--containers</a:t>
            </a:r>
            <a:r>
              <a:rPr lang="en-US" altLang="ko-KR" sz="1400" b="1" dirty="0"/>
              <a:t>” option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6E8930C3-7863-842A-F075-85E24B7D33AF}"/>
              </a:ext>
            </a:extLst>
          </p:cNvPr>
          <p:cNvGrpSpPr/>
          <p:nvPr/>
        </p:nvGrpSpPr>
        <p:grpSpPr>
          <a:xfrm>
            <a:off x="838200" y="1619162"/>
            <a:ext cx="10515600" cy="3049773"/>
            <a:chOff x="838200" y="1619162"/>
            <a:chExt cx="10515600" cy="3049773"/>
          </a:xfrm>
        </p:grpSpPr>
        <p:grpSp>
          <p:nvGrpSpPr>
            <p:cNvPr id="13" name="그룹 12">
              <a:extLst>
                <a:ext uri="{FF2B5EF4-FFF2-40B4-BE49-F238E27FC236}">
                  <a16:creationId xmlns:a16="http://schemas.microsoft.com/office/drawing/2014/main" id="{F9765822-3496-BB31-DFCE-497A2E2B6B45}"/>
                </a:ext>
              </a:extLst>
            </p:cNvPr>
            <p:cNvGrpSpPr/>
            <p:nvPr/>
          </p:nvGrpSpPr>
          <p:grpSpPr>
            <a:xfrm>
              <a:off x="838200" y="1619162"/>
              <a:ext cx="10515600" cy="3049773"/>
              <a:chOff x="838200" y="1619162"/>
              <a:chExt cx="10515600" cy="3049773"/>
            </a:xfrm>
          </p:grpSpPr>
          <p:grpSp>
            <p:nvGrpSpPr>
              <p:cNvPr id="10" name="그룹 9">
                <a:extLst>
                  <a:ext uri="{FF2B5EF4-FFF2-40B4-BE49-F238E27FC236}">
                    <a16:creationId xmlns:a16="http://schemas.microsoft.com/office/drawing/2014/main" id="{43BA44B2-CF41-72E9-9BC3-732420195290}"/>
                  </a:ext>
                </a:extLst>
              </p:cNvPr>
              <p:cNvGrpSpPr/>
              <p:nvPr/>
            </p:nvGrpSpPr>
            <p:grpSpPr>
              <a:xfrm>
                <a:off x="3047326" y="1619162"/>
                <a:ext cx="6097348" cy="587399"/>
                <a:chOff x="3047326" y="1846435"/>
                <a:chExt cx="6097348" cy="587399"/>
              </a:xfrm>
            </p:grpSpPr>
            <p:sp>
              <p:nvSpPr>
                <p:cNvPr id="8" name="TextBox 7">
                  <a:extLst>
                    <a:ext uri="{FF2B5EF4-FFF2-40B4-BE49-F238E27FC236}">
                      <a16:creationId xmlns:a16="http://schemas.microsoft.com/office/drawing/2014/main" id="{4201A4F9-117C-FA7F-EF06-ECB94C87ADC1}"/>
                    </a:ext>
                  </a:extLst>
                </p:cNvPr>
                <p:cNvSpPr txBox="1"/>
                <p:nvPr/>
              </p:nvSpPr>
              <p:spPr>
                <a:xfrm>
                  <a:off x="3047326" y="184643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top </a:t>
                  </a:r>
                  <a:r>
                    <a:rPr lang="en-US" altLang="ko-KR" sz="1000" b="1" dirty="0">
                      <a:solidFill>
                        <a:srgbClr val="FF0000"/>
                      </a:solidFill>
                    </a:rPr>
                    <a:t>pod</a:t>
                  </a:r>
                </a:p>
              </p:txBody>
            </p:sp>
            <p:sp>
              <p:nvSpPr>
                <p:cNvPr id="9" name="화살표: 아래쪽 8">
                  <a:extLst>
                    <a:ext uri="{FF2B5EF4-FFF2-40B4-BE49-F238E27FC236}">
                      <a16:creationId xmlns:a16="http://schemas.microsoft.com/office/drawing/2014/main" id="{AA223142-BB0D-8E0C-EFFF-D698C540611D}"/>
                    </a:ext>
                  </a:extLst>
                </p:cNvPr>
                <p:cNvSpPr/>
                <p:nvPr/>
              </p:nvSpPr>
              <p:spPr>
                <a:xfrm>
                  <a:off x="5853239" y="2110153"/>
                  <a:ext cx="485522" cy="32368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6D046765-F768-D7DE-D612-A3047C61FB96}"/>
                  </a:ext>
                </a:extLst>
              </p:cNvPr>
              <p:cNvPicPr>
                <a:picLocks noChangeAspect="1"/>
              </p:cNvPicPr>
              <p:nvPr/>
            </p:nvPicPr>
            <p:blipFill>
              <a:blip r:embed="rId2"/>
              <a:stretch>
                <a:fillRect/>
              </a:stretch>
            </p:blipFill>
            <p:spPr>
              <a:xfrm>
                <a:off x="838200" y="2224058"/>
                <a:ext cx="10515600" cy="2444877"/>
              </a:xfrm>
              <a:prstGeom prst="rect">
                <a:avLst/>
              </a:prstGeom>
            </p:spPr>
          </p:pic>
        </p:grpSp>
        <p:sp>
          <p:nvSpPr>
            <p:cNvPr id="14" name="직사각형 13">
              <a:extLst>
                <a:ext uri="{FF2B5EF4-FFF2-40B4-BE49-F238E27FC236}">
                  <a16:creationId xmlns:a16="http://schemas.microsoft.com/office/drawing/2014/main" id="{23877DDF-7116-A97C-8734-A04D95CAB452}"/>
                </a:ext>
              </a:extLst>
            </p:cNvPr>
            <p:cNvSpPr/>
            <p:nvPr/>
          </p:nvSpPr>
          <p:spPr>
            <a:xfrm>
              <a:off x="5316467" y="2718231"/>
              <a:ext cx="2743200" cy="1625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CDED64D9-F564-6224-D20B-8FFAE59A6AF9}"/>
                </a:ext>
              </a:extLst>
            </p:cNvPr>
            <p:cNvSpPr/>
            <p:nvPr/>
          </p:nvSpPr>
          <p:spPr>
            <a:xfrm>
              <a:off x="930584" y="4062202"/>
              <a:ext cx="8375257" cy="3479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CE4CCB8E-7109-DBF2-6790-646111BF9B9D}"/>
                </a:ext>
              </a:extLst>
            </p:cNvPr>
            <p:cNvSpPr/>
            <p:nvPr/>
          </p:nvSpPr>
          <p:spPr>
            <a:xfrm>
              <a:off x="5316467" y="3314016"/>
              <a:ext cx="2743200" cy="1625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04282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Getting the </a:t>
            </a:r>
            <a:r>
              <a:rPr lang="en-US" altLang="ko-KR" sz="2800" b="1" dirty="0" err="1"/>
              <a:t>Merics</a:t>
            </a:r>
            <a:r>
              <a:rPr lang="en-US" altLang="ko-KR" sz="2800" b="1" dirty="0"/>
              <a:t> for Each Containers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“--containers” Option :</a:t>
            </a:r>
            <a:endParaRPr lang="en-US" altLang="ko-KR" sz="1400" dirty="0"/>
          </a:p>
          <a:p>
            <a:pPr lvl="1">
              <a:buFont typeface="Wingdings" panose="05000000000000000000" pitchFamily="2" charset="2"/>
              <a:buChar char="§"/>
            </a:pPr>
            <a:r>
              <a:rPr lang="en-US" altLang="ko-KR" sz="1400" b="1" dirty="0"/>
              <a:t>To get the metric information for each containers</a:t>
            </a:r>
            <a:r>
              <a:rPr lang="en-US" altLang="ko-KR" sz="1400" dirty="0"/>
              <a:t>, you can use the following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To run the previous command, you need to create “</a:t>
            </a:r>
            <a:r>
              <a:rPr lang="en-US" altLang="ko-KR" sz="1400" b="1" dirty="0" err="1"/>
              <a:t>kubia</a:t>
            </a:r>
            <a:r>
              <a:rPr lang="en-US" altLang="ko-KR" sz="1400" b="1" dirty="0"/>
              <a:t>-manual” pod first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F6F9956-4B5B-CF8E-7EFE-0B308F49FAC8}"/>
              </a:ext>
            </a:extLst>
          </p:cNvPr>
          <p:cNvGrpSpPr/>
          <p:nvPr/>
        </p:nvGrpSpPr>
        <p:grpSpPr>
          <a:xfrm>
            <a:off x="838200" y="1587490"/>
            <a:ext cx="10515600" cy="2289787"/>
            <a:chOff x="838200" y="1814067"/>
            <a:chExt cx="10515600" cy="2289787"/>
          </a:xfrm>
        </p:grpSpPr>
        <p:pic>
          <p:nvPicPr>
            <p:cNvPr id="8" name="그림 7">
              <a:extLst>
                <a:ext uri="{FF2B5EF4-FFF2-40B4-BE49-F238E27FC236}">
                  <a16:creationId xmlns:a16="http://schemas.microsoft.com/office/drawing/2014/main" id="{676656FF-3316-118F-F7D4-A86A6F50F918}"/>
                </a:ext>
              </a:extLst>
            </p:cNvPr>
            <p:cNvPicPr>
              <a:picLocks noChangeAspect="1"/>
            </p:cNvPicPr>
            <p:nvPr/>
          </p:nvPicPr>
          <p:blipFill>
            <a:blip r:embed="rId2"/>
            <a:stretch>
              <a:fillRect/>
            </a:stretch>
          </p:blipFill>
          <p:spPr>
            <a:xfrm>
              <a:off x="838200" y="2438884"/>
              <a:ext cx="10515600" cy="1664970"/>
            </a:xfrm>
            <a:prstGeom prst="rect">
              <a:avLst/>
            </a:prstGeom>
          </p:spPr>
        </p:pic>
        <p:sp>
          <p:nvSpPr>
            <p:cNvPr id="10" name="TextBox 9">
              <a:extLst>
                <a:ext uri="{FF2B5EF4-FFF2-40B4-BE49-F238E27FC236}">
                  <a16:creationId xmlns:a16="http://schemas.microsoft.com/office/drawing/2014/main" id="{B4DFC72E-EA1F-8D74-9C71-12BD6E4B2263}"/>
                </a:ext>
              </a:extLst>
            </p:cNvPr>
            <p:cNvSpPr txBox="1"/>
            <p:nvPr/>
          </p:nvSpPr>
          <p:spPr>
            <a:xfrm>
              <a:off x="3047326" y="181406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top pod </a:t>
              </a:r>
              <a:r>
                <a:rPr lang="en-US" altLang="ko-KR" sz="1000" b="1" dirty="0">
                  <a:solidFill>
                    <a:srgbClr val="FF0000"/>
                  </a:solidFill>
                </a:rPr>
                <a:t>--containers</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D5AA4498-7B7E-215B-6F89-BECC217B3083}"/>
                </a:ext>
              </a:extLst>
            </p:cNvPr>
            <p:cNvSpPr/>
            <p:nvPr/>
          </p:nvSpPr>
          <p:spPr>
            <a:xfrm>
              <a:off x="5849193" y="2079653"/>
              <a:ext cx="493614" cy="3398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38795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Storing and Analyzing Historical Resource Consumption Statistics :</a:t>
            </a:r>
            <a:endParaRPr lang="en-US" altLang="ko-KR" sz="1400" dirty="0"/>
          </a:p>
          <a:p>
            <a:pPr lvl="1">
              <a:buFont typeface="Wingdings" panose="05000000000000000000" pitchFamily="2" charset="2"/>
              <a:buChar char="§"/>
            </a:pPr>
            <a:r>
              <a:rPr lang="en-US" altLang="ko-KR" sz="1400" b="1" dirty="0"/>
              <a:t>The “top” command only shows current resource usages</a:t>
            </a:r>
            <a:r>
              <a:rPr lang="en-US" altLang="ko-KR" sz="1400" dirty="0"/>
              <a:t>—it doesn’t show you how much CPU or memory your pods consumed throughout the last hour, yesterday, or a week ago, for example. </a:t>
            </a:r>
            <a:r>
              <a:rPr lang="en-US" altLang="ko-KR" sz="1400" b="1" dirty="0"/>
              <a:t>In fact, both </a:t>
            </a:r>
            <a:r>
              <a:rPr lang="en-US" altLang="ko-KR" sz="1400" b="1" dirty="0" err="1"/>
              <a:t>cAdvisor</a:t>
            </a:r>
            <a:r>
              <a:rPr lang="en-US" altLang="ko-KR" sz="1400" b="1" dirty="0"/>
              <a:t> and </a:t>
            </a:r>
            <a:r>
              <a:rPr lang="en-US" altLang="ko-KR" sz="1400" b="1" dirty="0" err="1"/>
              <a:t>Heapster</a:t>
            </a:r>
            <a:r>
              <a:rPr lang="en-US" altLang="ko-KR" sz="1400" b="1" dirty="0"/>
              <a:t> only hold resource usage data for a short window of time</a:t>
            </a:r>
            <a:r>
              <a:rPr lang="en-US" altLang="ko-KR" sz="1400" dirty="0"/>
              <a:t>. If you want to analyze your pods’ resource consumption over longer time periods, you’ll need to run additional tools.</a:t>
            </a:r>
          </a:p>
          <a:p>
            <a:pPr lvl="1">
              <a:buFont typeface="Wingdings" panose="05000000000000000000" pitchFamily="2" charset="2"/>
              <a:buChar char="§"/>
            </a:pPr>
            <a:r>
              <a:rPr lang="en-US" altLang="ko-KR" sz="1400" b="1" dirty="0"/>
              <a:t>When using Google Kubernetes Engine(GKE), you can monitor your cluster with </a:t>
            </a:r>
            <a:r>
              <a:rPr lang="en-US" altLang="ko-KR" sz="1400" b="1" dirty="0">
                <a:solidFill>
                  <a:srgbClr val="FF0000"/>
                </a:solidFill>
              </a:rPr>
              <a:t>Google Cloud Monitoring</a:t>
            </a:r>
            <a:r>
              <a:rPr lang="en-US" altLang="ko-KR" sz="1400" dirty="0"/>
              <a:t>, but when you’re running your own local Kubernetes cluster (either through </a:t>
            </a:r>
            <a:r>
              <a:rPr lang="en-US" altLang="ko-KR" sz="1400" b="1" dirty="0" err="1"/>
              <a:t>Minikube</a:t>
            </a:r>
            <a:r>
              <a:rPr lang="en-US" altLang="ko-KR" sz="1400" dirty="0"/>
              <a:t> or other means), people usually use </a:t>
            </a:r>
            <a:r>
              <a:rPr lang="en-US" altLang="ko-KR" sz="1400" b="1" dirty="0" err="1">
                <a:solidFill>
                  <a:srgbClr val="FF0000"/>
                </a:solidFill>
              </a:rPr>
              <a:t>InfluxDB</a:t>
            </a:r>
            <a:r>
              <a:rPr lang="en-US" altLang="ko-KR" sz="1400" dirty="0"/>
              <a:t> </a:t>
            </a:r>
            <a:r>
              <a:rPr lang="en-US" altLang="ko-KR" sz="1400" b="1" dirty="0"/>
              <a:t>for storing statistics data and </a:t>
            </a:r>
            <a:r>
              <a:rPr lang="en-US" altLang="ko-KR" sz="1400" b="1" dirty="0">
                <a:solidFill>
                  <a:srgbClr val="FF0000"/>
                </a:solidFill>
              </a:rPr>
              <a:t>Grafana</a:t>
            </a:r>
            <a:r>
              <a:rPr lang="en-US" altLang="ko-KR" sz="1400" b="1" dirty="0"/>
              <a:t> for visualizing and analyzing them</a:t>
            </a:r>
            <a:r>
              <a:rPr lang="en-US" altLang="ko-KR" sz="1400" dirty="0"/>
              <a:t>.</a:t>
            </a:r>
          </a:p>
          <a:p>
            <a:pPr lvl="1">
              <a:buFont typeface="Wingdings" panose="05000000000000000000" pitchFamily="2" charset="2"/>
              <a:buChar char="§"/>
            </a:pPr>
            <a:r>
              <a:rPr lang="en-US" altLang="ko-KR" sz="1400" b="1" dirty="0" err="1"/>
              <a:t>InfluxDB</a:t>
            </a:r>
            <a:r>
              <a:rPr lang="en-US" altLang="ko-KR" sz="1400" b="1" dirty="0"/>
              <a:t> is an open source time-series database ideal for storing application metrics and other monitoring data</a:t>
            </a:r>
            <a:r>
              <a:rPr lang="en-US" altLang="ko-KR" sz="1400" dirty="0"/>
              <a:t>. </a:t>
            </a:r>
            <a:r>
              <a:rPr lang="en-US" altLang="ko-KR" sz="1400" b="1" dirty="0"/>
              <a:t>Grafana, also open source, is an analytics and visualization suite with a nice-looking web console </a:t>
            </a:r>
            <a:r>
              <a:rPr lang="en-US" altLang="ko-KR" sz="1400" dirty="0"/>
              <a:t>that allows you to visualize the data stored in </a:t>
            </a:r>
            <a:r>
              <a:rPr lang="en-US" altLang="ko-KR" sz="1400" b="1" dirty="0" err="1"/>
              <a:t>InfluxDB</a:t>
            </a:r>
            <a:r>
              <a:rPr lang="en-US" altLang="ko-KR" sz="1400" dirty="0"/>
              <a:t> and discover how your application’s resource usage behaves over time.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0931F35-A552-7ED5-8DEE-299E8C02CB2B}"/>
              </a:ext>
            </a:extLst>
          </p:cNvPr>
          <p:cNvPicPr>
            <a:picLocks noChangeAspect="1"/>
          </p:cNvPicPr>
          <p:nvPr/>
        </p:nvPicPr>
        <p:blipFill>
          <a:blip r:embed="rId2"/>
          <a:stretch>
            <a:fillRect/>
          </a:stretch>
        </p:blipFill>
        <p:spPr>
          <a:xfrm>
            <a:off x="3909373" y="3288585"/>
            <a:ext cx="4373254" cy="3120445"/>
          </a:xfrm>
          <a:prstGeom prst="rect">
            <a:avLst/>
          </a:prstGeom>
          <a:ln>
            <a:solidFill>
              <a:schemeClr val="bg1">
                <a:lumMod val="50000"/>
              </a:schemeClr>
            </a:solidFill>
          </a:ln>
        </p:spPr>
      </p:pic>
    </p:spTree>
    <p:extLst>
      <p:ext uri="{BB962C8B-B14F-4D97-AF65-F5344CB8AC3E}">
        <p14:creationId xmlns:p14="http://schemas.microsoft.com/office/powerpoint/2010/main" val="3602959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Pod Resource Usage(8/8)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Storing and Analyzing Historical Resource Consumption Statistics :</a:t>
            </a:r>
            <a:endParaRPr lang="en-US" altLang="ko-KR" sz="1400" dirty="0"/>
          </a:p>
          <a:p>
            <a:pPr lvl="1">
              <a:buFont typeface="Wingdings" panose="05000000000000000000" pitchFamily="2" charset="2"/>
              <a:buChar char="§"/>
            </a:pPr>
            <a:r>
              <a:rPr lang="en-US" altLang="ko-KR" sz="1400" b="1" dirty="0"/>
              <a:t>Both </a:t>
            </a:r>
            <a:r>
              <a:rPr lang="en-US" altLang="ko-KR" sz="1400" b="1" dirty="0" err="1"/>
              <a:t>InfluxDB</a:t>
            </a:r>
            <a:r>
              <a:rPr lang="en-US" altLang="ko-KR" sz="1400" b="1" dirty="0"/>
              <a:t> and Grafana can run as pods</a:t>
            </a:r>
            <a:r>
              <a:rPr lang="en-US" altLang="ko-KR" sz="1400" dirty="0"/>
              <a:t>. Deploying them is straightforward. All the necessary manifests are available in the </a:t>
            </a:r>
            <a:r>
              <a:rPr lang="en-US" altLang="ko-KR" sz="1400" b="1" dirty="0" err="1"/>
              <a:t>Heapster</a:t>
            </a:r>
            <a:r>
              <a:rPr lang="en-US" altLang="ko-KR" sz="1400" b="1" dirty="0"/>
              <a:t> Git repository </a:t>
            </a:r>
            <a:r>
              <a:rPr lang="en-US" altLang="ko-KR" sz="1400" dirty="0"/>
              <a:t>at </a:t>
            </a:r>
            <a:r>
              <a:rPr lang="en-US" altLang="ko-KR" sz="1400" b="1" dirty="0">
                <a:hlinkClick r:id="rId2"/>
              </a:rPr>
              <a:t>http://github.com/kubernetes/heapster/tree/master/deploy/kube-config/influxdb</a:t>
            </a:r>
            <a:r>
              <a:rPr lang="en-US" altLang="ko-KR" sz="1400" dirty="0"/>
              <a:t>.</a:t>
            </a:r>
          </a:p>
          <a:p>
            <a:pPr lvl="1">
              <a:buFont typeface="Wingdings" panose="05000000000000000000" pitchFamily="2" charset="2"/>
              <a:buChar char="§"/>
            </a:pPr>
            <a:r>
              <a:rPr lang="en-US" altLang="ko-KR" sz="1400" b="1" dirty="0"/>
              <a:t>When using </a:t>
            </a:r>
            <a:r>
              <a:rPr lang="en-US" altLang="ko-KR" sz="1400" b="1" dirty="0" err="1"/>
              <a:t>Minikube</a:t>
            </a:r>
            <a:r>
              <a:rPr lang="en-US" altLang="ko-KR" sz="1400" b="1" dirty="0"/>
              <a:t>, you don’t even need to deploy them manually</a:t>
            </a:r>
            <a:r>
              <a:rPr lang="en-US" altLang="ko-KR" sz="1400" dirty="0"/>
              <a:t>, </a:t>
            </a:r>
            <a:r>
              <a:rPr lang="en-US" altLang="ko-KR" sz="1400" b="1" dirty="0"/>
              <a:t>because they’re deployed along with “metrics-server” when you enable the “metrics-server” add-on</a:t>
            </a:r>
            <a:r>
              <a:rPr lang="en-US" altLang="ko-KR" sz="1400" dirty="0"/>
              <a:t>. </a:t>
            </a:r>
          </a:p>
          <a:p>
            <a:pPr lvl="1">
              <a:buFont typeface="Wingdings" panose="05000000000000000000" pitchFamily="2" charset="2"/>
              <a:buChar char="§"/>
            </a:pPr>
            <a:r>
              <a:rPr lang="en-US" altLang="ko-KR" sz="1400" b="1" dirty="0"/>
              <a:t>To discover how much of each resource your pod requires over time, open the Grafana web console and explore the predefined dashboards</a:t>
            </a:r>
            <a:r>
              <a:rPr lang="en-US" altLang="ko-KR" sz="1400" dirty="0"/>
              <a:t>. Generally, you can find out </a:t>
            </a:r>
            <a:r>
              <a:rPr lang="en-US" altLang="ko-KR" sz="1400" b="1" dirty="0"/>
              <a:t>the URL of Grafana’s web console </a:t>
            </a:r>
            <a:r>
              <a:rPr lang="en-US" altLang="ko-KR" sz="1400" dirty="0"/>
              <a:t>with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cluster-info</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above command is run in </a:t>
            </a:r>
            <a:r>
              <a:rPr lang="en-US" altLang="ko-KR" sz="1400" b="1" dirty="0" err="1"/>
              <a:t>Minikube</a:t>
            </a:r>
            <a:r>
              <a:rPr lang="en-US" altLang="ko-KR" sz="1400" b="1" dirty="0"/>
              <a:t>. And the result screenshot is also captured in </a:t>
            </a:r>
            <a:r>
              <a:rPr lang="en-US" altLang="ko-KR" sz="1400" b="1" dirty="0" err="1"/>
              <a:t>Minikube</a:t>
            </a:r>
            <a:r>
              <a:rPr lang="en-US" altLang="ko-KR" sz="1400" dirty="0"/>
              <a:t>.</a:t>
            </a:r>
          </a:p>
          <a:p>
            <a:pPr lvl="1">
              <a:buFont typeface="Wingdings" panose="05000000000000000000" pitchFamily="2" charset="2"/>
              <a:buChar char="§"/>
            </a:pPr>
            <a:r>
              <a:rPr lang="en-US" altLang="ko-KR" sz="1400" b="1" dirty="0"/>
              <a:t>NOTE : To run the Grafana with Prometheus, please refer to </a:t>
            </a:r>
            <a:r>
              <a:rPr lang="en-US" altLang="ko-KR" sz="1400" b="1" dirty="0">
                <a:hlinkClick r:id="rId3"/>
              </a:rPr>
              <a:t>https://github.com/bakins/minikube-prometheus-demo</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4D5B86FB-AEC8-8F75-DF4C-DAC671B6075D}"/>
              </a:ext>
            </a:extLst>
          </p:cNvPr>
          <p:cNvGrpSpPr/>
          <p:nvPr/>
        </p:nvGrpSpPr>
        <p:grpSpPr>
          <a:xfrm>
            <a:off x="838200" y="3070163"/>
            <a:ext cx="10515600" cy="2223636"/>
            <a:chOff x="838200" y="3070162"/>
            <a:chExt cx="10515600" cy="2223636"/>
          </a:xfrm>
        </p:grpSpPr>
        <p:grpSp>
          <p:nvGrpSpPr>
            <p:cNvPr id="12" name="그룹 11">
              <a:extLst>
                <a:ext uri="{FF2B5EF4-FFF2-40B4-BE49-F238E27FC236}">
                  <a16:creationId xmlns:a16="http://schemas.microsoft.com/office/drawing/2014/main" id="{E485C58F-9EE5-DCE3-C872-4451E68C9A22}"/>
                </a:ext>
              </a:extLst>
            </p:cNvPr>
            <p:cNvGrpSpPr/>
            <p:nvPr/>
          </p:nvGrpSpPr>
          <p:grpSpPr>
            <a:xfrm>
              <a:off x="838200" y="3070162"/>
              <a:ext cx="10515600" cy="2223636"/>
              <a:chOff x="838200" y="3070162"/>
              <a:chExt cx="10515600" cy="2223636"/>
            </a:xfrm>
          </p:grpSpPr>
          <p:pic>
            <p:nvPicPr>
              <p:cNvPr id="8" name="그림 7">
                <a:extLst>
                  <a:ext uri="{FF2B5EF4-FFF2-40B4-BE49-F238E27FC236}">
                    <a16:creationId xmlns:a16="http://schemas.microsoft.com/office/drawing/2014/main" id="{E8EEA577-3E68-DF26-913F-74E3D4DC275A}"/>
                  </a:ext>
                </a:extLst>
              </p:cNvPr>
              <p:cNvPicPr>
                <a:picLocks noChangeAspect="1"/>
              </p:cNvPicPr>
              <p:nvPr/>
            </p:nvPicPr>
            <p:blipFill>
              <a:blip r:embed="rId4"/>
              <a:stretch>
                <a:fillRect/>
              </a:stretch>
            </p:blipFill>
            <p:spPr>
              <a:xfrm>
                <a:off x="838200" y="3628828"/>
                <a:ext cx="10515600" cy="1664970"/>
              </a:xfrm>
              <a:prstGeom prst="rect">
                <a:avLst/>
              </a:prstGeom>
            </p:spPr>
          </p:pic>
          <p:sp>
            <p:nvSpPr>
              <p:cNvPr id="10" name="TextBox 9">
                <a:extLst>
                  <a:ext uri="{FF2B5EF4-FFF2-40B4-BE49-F238E27FC236}">
                    <a16:creationId xmlns:a16="http://schemas.microsoft.com/office/drawing/2014/main" id="{C491CD0A-4C45-2812-A4FF-A539C5557940}"/>
                  </a:ext>
                </a:extLst>
              </p:cNvPr>
              <p:cNvSpPr txBox="1"/>
              <p:nvPr/>
            </p:nvSpPr>
            <p:spPr>
              <a:xfrm>
                <a:off x="3047326" y="307016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cluster-info</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807883F3-D34A-5D01-D7E5-125D144110C3}"/>
                  </a:ext>
                </a:extLst>
              </p:cNvPr>
              <p:cNvSpPr/>
              <p:nvPr/>
            </p:nvSpPr>
            <p:spPr>
              <a:xfrm>
                <a:off x="5881561" y="3326949"/>
                <a:ext cx="428878"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7A56BC2-52BC-4CBB-1C80-7537C1624FE2}"/>
                </a:ext>
              </a:extLst>
            </p:cNvPr>
            <p:cNvSpPr/>
            <p:nvPr/>
          </p:nvSpPr>
          <p:spPr>
            <a:xfrm>
              <a:off x="938676" y="4264502"/>
              <a:ext cx="7485134" cy="3317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968461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Automatic Scaling</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Automatic Scaling of Pods and Cluster Nodes</a:t>
            </a:r>
            <a:endParaRPr lang="ko-KR" altLang="en-US" sz="2800" b="1" dirty="0"/>
          </a:p>
        </p:txBody>
      </p:sp>
    </p:spTree>
    <p:extLst>
      <p:ext uri="{BB962C8B-B14F-4D97-AF65-F5344CB8AC3E}">
        <p14:creationId xmlns:p14="http://schemas.microsoft.com/office/powerpoint/2010/main" val="39019897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Autoscaling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a:t>
            </a:r>
            <a:endParaRPr lang="en-US" altLang="ko-KR" sz="1400" dirty="0"/>
          </a:p>
          <a:p>
            <a:pPr lvl="1">
              <a:buFont typeface="Wingdings" panose="05000000000000000000" pitchFamily="2" charset="2"/>
              <a:buChar char="§"/>
            </a:pPr>
            <a:r>
              <a:rPr lang="en-US" altLang="ko-KR" sz="1400" dirty="0"/>
              <a:t>Applications running in pods can be scaled out manually by increasing the replicas field in the </a:t>
            </a:r>
            <a:r>
              <a:rPr lang="en-US" altLang="ko-KR" sz="1400" b="1" dirty="0" err="1"/>
              <a:t>ReplicationController</a:t>
            </a:r>
            <a:r>
              <a:rPr lang="en-US" altLang="ko-KR" sz="1400" dirty="0"/>
              <a:t>, </a:t>
            </a:r>
            <a:r>
              <a:rPr lang="en-US" altLang="ko-KR" sz="1400" b="1" dirty="0" err="1"/>
              <a:t>ReplicaSet</a:t>
            </a:r>
            <a:r>
              <a:rPr lang="en-US" altLang="ko-KR" sz="1400" dirty="0"/>
              <a:t>, </a:t>
            </a:r>
            <a:r>
              <a:rPr lang="en-US" altLang="ko-KR" sz="1400" b="1" dirty="0"/>
              <a:t>Deployment</a:t>
            </a:r>
            <a:r>
              <a:rPr lang="en-US" altLang="ko-KR" sz="1400" dirty="0"/>
              <a:t>, or </a:t>
            </a:r>
            <a:r>
              <a:rPr lang="en-US" altLang="ko-KR" sz="1400" b="1" dirty="0"/>
              <a:t>other scalable resource</a:t>
            </a:r>
            <a:r>
              <a:rPr lang="en-US" altLang="ko-KR" sz="1400" dirty="0"/>
              <a:t>. </a:t>
            </a:r>
            <a:r>
              <a:rPr lang="en-US" altLang="ko-KR" sz="1400" b="1" dirty="0"/>
              <a:t>Pods can also be scaled </a:t>
            </a:r>
            <a:r>
              <a:rPr lang="en-US" altLang="ko-KR" sz="1400" b="1" dirty="0">
                <a:solidFill>
                  <a:srgbClr val="FF0000"/>
                </a:solidFill>
              </a:rPr>
              <a:t>vertically</a:t>
            </a:r>
            <a:r>
              <a:rPr lang="en-US" altLang="ko-KR" sz="1400" b="1" dirty="0"/>
              <a:t> by increasing their container’s resource requests and limits (though this can currently only be done at pod creation time, not while the pod is running)</a:t>
            </a:r>
            <a:r>
              <a:rPr lang="en-US" altLang="ko-KR" sz="1400" dirty="0"/>
              <a:t>. Although manual scaling is okay for times when you can anticipate load spikes in advance or when the load changes gradually over longer periods of time, requiring </a:t>
            </a:r>
            <a:r>
              <a:rPr lang="en-US" altLang="ko-KR" sz="1400" b="1" dirty="0"/>
              <a:t>manual intervention to handle sudden, unpredictable traffic increases isn’t ideal</a:t>
            </a:r>
            <a:r>
              <a:rPr lang="en-US" altLang="ko-KR" sz="1400" dirty="0"/>
              <a:t>.</a:t>
            </a:r>
          </a:p>
          <a:p>
            <a:pPr lvl="1">
              <a:buFont typeface="Wingdings" panose="05000000000000000000" pitchFamily="2" charset="2"/>
              <a:buChar char="§"/>
            </a:pPr>
            <a:r>
              <a:rPr lang="en-US" altLang="ko-KR" sz="1400" b="1" dirty="0"/>
              <a:t>Luckily, Kubernetes can monitor your pods and </a:t>
            </a:r>
            <a:r>
              <a:rPr lang="en-US" altLang="ko-KR" sz="1400" b="1" dirty="0">
                <a:solidFill>
                  <a:srgbClr val="FF0000"/>
                </a:solidFill>
              </a:rPr>
              <a:t>scale</a:t>
            </a:r>
            <a:r>
              <a:rPr lang="en-US" altLang="ko-KR" sz="1400" b="1" dirty="0"/>
              <a:t> them </a:t>
            </a:r>
            <a:r>
              <a:rPr lang="en-US" altLang="ko-KR" sz="1400" b="1" dirty="0">
                <a:solidFill>
                  <a:srgbClr val="FF0000"/>
                </a:solidFill>
              </a:rPr>
              <a:t>up</a:t>
            </a:r>
            <a:r>
              <a:rPr lang="en-US" altLang="ko-KR" sz="1400" b="1" dirty="0"/>
              <a:t> </a:t>
            </a:r>
            <a:r>
              <a:rPr lang="en-US" altLang="ko-KR" sz="1400" b="1" dirty="0">
                <a:solidFill>
                  <a:srgbClr val="FF0000"/>
                </a:solidFill>
              </a:rPr>
              <a:t>automatically</a:t>
            </a:r>
            <a:r>
              <a:rPr lang="en-US" altLang="ko-KR" sz="1400" b="1" dirty="0"/>
              <a:t> as soon as it detects an increase in the CPU usage or some other metric</a:t>
            </a:r>
            <a:r>
              <a:rPr lang="en-US" altLang="ko-KR" sz="1400" dirty="0"/>
              <a:t>. If running on a cloud infrastructure, it can even </a:t>
            </a:r>
            <a:r>
              <a:rPr lang="en-US" altLang="ko-KR" sz="1400" b="1" dirty="0"/>
              <a:t>spin up additional nodes </a:t>
            </a:r>
            <a:r>
              <a:rPr lang="en-US" altLang="ko-KR" sz="1400" dirty="0"/>
              <a:t>if the existing ones can’t accept any more pods.</a:t>
            </a:r>
          </a:p>
          <a:p>
            <a:pPr lvl="1">
              <a:buFont typeface="Wingdings" panose="05000000000000000000" pitchFamily="2" charset="2"/>
              <a:buChar char="§"/>
            </a:pPr>
            <a:r>
              <a:rPr lang="en-US" altLang="ko-KR" sz="1400" b="1" dirty="0"/>
              <a:t>The </a:t>
            </a:r>
            <a:r>
              <a:rPr lang="en-US" altLang="ko-KR" sz="1400" b="1" dirty="0">
                <a:solidFill>
                  <a:srgbClr val="FF0000"/>
                </a:solidFill>
              </a:rPr>
              <a:t>autoscaling</a:t>
            </a:r>
            <a:r>
              <a:rPr lang="en-US" altLang="ko-KR" sz="1400" b="1" dirty="0"/>
              <a:t> feature in Kubernetes was completely rewritten between the 1.6 and the 1.7 version</a:t>
            </a:r>
            <a:r>
              <a:rPr lang="en-US" altLang="ko-KR" sz="1400" dirty="0"/>
              <a:t>, so be aware you may find outdated information on this subject online.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346DE4D-E6EB-EFCF-4D4B-0BE9EB5F632E}"/>
              </a:ext>
            </a:extLst>
          </p:cNvPr>
          <p:cNvPicPr>
            <a:picLocks noChangeAspect="1"/>
          </p:cNvPicPr>
          <p:nvPr/>
        </p:nvPicPr>
        <p:blipFill>
          <a:blip r:embed="rId2"/>
          <a:stretch>
            <a:fillRect/>
          </a:stretch>
        </p:blipFill>
        <p:spPr>
          <a:xfrm>
            <a:off x="3879312" y="3535657"/>
            <a:ext cx="4433376" cy="3003255"/>
          </a:xfrm>
          <a:prstGeom prst="rect">
            <a:avLst/>
          </a:prstGeom>
        </p:spPr>
      </p:pic>
    </p:spTree>
    <p:extLst>
      <p:ext uri="{BB962C8B-B14F-4D97-AF65-F5344CB8AC3E}">
        <p14:creationId xmlns:p14="http://schemas.microsoft.com/office/powerpoint/2010/main" val="979657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Autoscaling Process :</a:t>
            </a:r>
            <a:endParaRPr lang="en-US" altLang="ko-KR" sz="1400" dirty="0"/>
          </a:p>
          <a:p>
            <a:pPr lvl="1">
              <a:buFont typeface="Wingdings" panose="05000000000000000000" pitchFamily="2" charset="2"/>
              <a:buChar char="§"/>
            </a:pPr>
            <a:r>
              <a:rPr lang="en-US" altLang="ko-KR" sz="1400" b="1" dirty="0">
                <a:solidFill>
                  <a:srgbClr val="FF0000"/>
                </a:solidFill>
              </a:rPr>
              <a:t>Horizontal pod autoscaling </a:t>
            </a:r>
            <a:r>
              <a:rPr lang="en-US" altLang="ko-KR" sz="1400" b="1" dirty="0"/>
              <a:t>is the automatic scaling of the number of </a:t>
            </a:r>
            <a:r>
              <a:rPr lang="en-US" altLang="ko-KR" sz="1400" b="1" dirty="0">
                <a:solidFill>
                  <a:srgbClr val="FF0000"/>
                </a:solidFill>
              </a:rPr>
              <a:t>pod replicas </a:t>
            </a:r>
            <a:r>
              <a:rPr lang="en-US" altLang="ko-KR" sz="1400" b="1" dirty="0"/>
              <a:t>managed by a controller</a:t>
            </a:r>
            <a:r>
              <a:rPr lang="en-US" altLang="ko-KR" sz="1400" dirty="0"/>
              <a:t>. </a:t>
            </a:r>
            <a:r>
              <a:rPr lang="en-US" altLang="ko-KR" sz="1400" b="1" dirty="0"/>
              <a:t>It’s performed by the </a:t>
            </a:r>
            <a:r>
              <a:rPr lang="en-US" altLang="ko-KR" sz="1400" b="1" dirty="0">
                <a:solidFill>
                  <a:srgbClr val="FF0000"/>
                </a:solidFill>
              </a:rPr>
              <a:t>Horizontal controller</a:t>
            </a:r>
            <a:r>
              <a:rPr lang="en-US" altLang="ko-KR" sz="1400" b="1" dirty="0"/>
              <a:t>, which is enabled and configured by creating a </a:t>
            </a:r>
            <a:r>
              <a:rPr lang="en-US" altLang="ko-KR" sz="1400" b="1" dirty="0" err="1">
                <a:solidFill>
                  <a:srgbClr val="FF0000"/>
                </a:solidFill>
              </a:rPr>
              <a:t>HorizontalPodAutoscaler</a:t>
            </a:r>
            <a:r>
              <a:rPr lang="en-US" altLang="ko-KR" sz="1400" b="1" dirty="0">
                <a:solidFill>
                  <a:srgbClr val="FF0000"/>
                </a:solidFill>
              </a:rPr>
              <a:t> (HPA)</a:t>
            </a:r>
            <a:r>
              <a:rPr lang="en-US" altLang="ko-KR" sz="1400" b="1" dirty="0"/>
              <a:t> resource</a:t>
            </a:r>
            <a:r>
              <a:rPr lang="en-US" altLang="ko-KR" sz="1400" dirty="0"/>
              <a:t>. The controller periodically checks pod metrics, calculates the number of replicas required to meet the target metric value configured in the </a:t>
            </a:r>
            <a:r>
              <a:rPr lang="en-US" altLang="ko-KR" sz="1400" b="1" dirty="0" err="1"/>
              <a:t>HorizontalPodAutoscaler</a:t>
            </a:r>
            <a:r>
              <a:rPr lang="en-US" altLang="ko-KR" sz="1400" dirty="0"/>
              <a:t> resource, and </a:t>
            </a:r>
            <a:r>
              <a:rPr lang="en-US" altLang="ko-KR" sz="1400" b="1" dirty="0"/>
              <a:t>adjusts the replicas field on the target resource (Deployment, </a:t>
            </a:r>
            <a:r>
              <a:rPr lang="en-US" altLang="ko-KR" sz="1400" b="1" dirty="0" err="1"/>
              <a:t>ReplicaSet</a:t>
            </a:r>
            <a:r>
              <a:rPr lang="en-US" altLang="ko-KR" sz="1400" b="1" dirty="0"/>
              <a:t>, </a:t>
            </a:r>
            <a:r>
              <a:rPr lang="en-US" altLang="ko-KR" sz="1400" b="1" dirty="0" err="1"/>
              <a:t>ReplicationController</a:t>
            </a:r>
            <a:r>
              <a:rPr lang="en-US" altLang="ko-KR" sz="1400" b="1" dirty="0"/>
              <a:t>, or </a:t>
            </a:r>
            <a:r>
              <a:rPr lang="en-US" altLang="ko-KR" sz="1400" b="1" dirty="0" err="1"/>
              <a:t>StatefulSet</a:t>
            </a:r>
            <a:r>
              <a:rPr lang="en-US" altLang="ko-KR" sz="1400" b="1" dirty="0"/>
              <a:t>)</a:t>
            </a:r>
            <a:r>
              <a:rPr lang="en-US" altLang="ko-KR" sz="1400" dirty="0"/>
              <a:t>.</a:t>
            </a:r>
          </a:p>
          <a:p>
            <a:pPr lvl="1">
              <a:buFont typeface="Wingdings" panose="05000000000000000000" pitchFamily="2" charset="2"/>
              <a:buChar char="§"/>
            </a:pPr>
            <a:r>
              <a:rPr lang="en-US" altLang="ko-KR" sz="1400" b="1" dirty="0"/>
              <a:t>The autoscaling process </a:t>
            </a:r>
            <a:r>
              <a:rPr lang="en-US" altLang="ko-KR" sz="1400" dirty="0"/>
              <a:t>can be split into three steps :</a:t>
            </a:r>
          </a:p>
          <a:p>
            <a:pPr lvl="2">
              <a:buFont typeface="Wingdings" panose="05000000000000000000" pitchFamily="2" charset="2"/>
              <a:buChar char="§"/>
            </a:pPr>
            <a:r>
              <a:rPr lang="en-US" altLang="ko-KR" sz="1400" b="1" dirty="0"/>
              <a:t>Obtain metrics of all the pods managed by the scaled resource object.</a:t>
            </a:r>
          </a:p>
          <a:p>
            <a:pPr lvl="2">
              <a:buFont typeface="Wingdings" panose="05000000000000000000" pitchFamily="2" charset="2"/>
              <a:buChar char="§"/>
            </a:pPr>
            <a:r>
              <a:rPr lang="en-US" altLang="ko-KR" sz="1400" b="1" dirty="0"/>
              <a:t>Calculate the number of pods required to bring the metrics to (or close to) the specified target value.</a:t>
            </a:r>
          </a:p>
          <a:p>
            <a:pPr lvl="2">
              <a:buFont typeface="Wingdings" panose="05000000000000000000" pitchFamily="2" charset="2"/>
              <a:buChar char="§"/>
            </a:pPr>
            <a:r>
              <a:rPr lang="en-US" altLang="ko-KR" sz="1400" b="1" dirty="0"/>
              <a:t>Update the replicas field of the scaled resource.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B9838DA-3C3B-8B23-016E-49FD170EE21F}"/>
              </a:ext>
            </a:extLst>
          </p:cNvPr>
          <p:cNvPicPr>
            <a:picLocks noChangeAspect="1"/>
          </p:cNvPicPr>
          <p:nvPr/>
        </p:nvPicPr>
        <p:blipFill>
          <a:blip r:embed="rId2"/>
          <a:stretch>
            <a:fillRect/>
          </a:stretch>
        </p:blipFill>
        <p:spPr>
          <a:xfrm>
            <a:off x="3091157" y="3347996"/>
            <a:ext cx="6009685" cy="2914985"/>
          </a:xfrm>
          <a:prstGeom prst="rect">
            <a:avLst/>
          </a:prstGeom>
        </p:spPr>
      </p:pic>
    </p:spTree>
    <p:extLst>
      <p:ext uri="{BB962C8B-B14F-4D97-AF65-F5344CB8AC3E}">
        <p14:creationId xmlns:p14="http://schemas.microsoft.com/office/powerpoint/2010/main" val="29861432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Autoscaling Process :</a:t>
            </a:r>
            <a:endParaRPr lang="en-US" altLang="ko-KR" sz="1400" dirty="0"/>
          </a:p>
          <a:p>
            <a:pPr lvl="1">
              <a:buFont typeface="Wingdings" panose="05000000000000000000" pitchFamily="2" charset="2"/>
              <a:buChar char="§"/>
            </a:pPr>
            <a:r>
              <a:rPr lang="en-US" altLang="ko-KR" sz="1400" b="1" dirty="0"/>
              <a:t>The </a:t>
            </a:r>
            <a:r>
              <a:rPr lang="en-US" altLang="ko-KR" sz="1400" b="1" dirty="0" err="1"/>
              <a:t>Autoscaler</a:t>
            </a:r>
            <a:r>
              <a:rPr lang="en-US" altLang="ko-KR" sz="1400" b="1" dirty="0"/>
              <a:t> doesn’t perform the gathering of the pod metrics itself. It gets the metrics from a different source</a:t>
            </a:r>
            <a:r>
              <a:rPr lang="en-US" altLang="ko-KR" sz="1400" dirty="0"/>
              <a:t>. Pod and node metrics are collected by an agent called </a:t>
            </a:r>
            <a:r>
              <a:rPr lang="en-US" altLang="ko-KR" sz="1400" b="1" dirty="0" err="1"/>
              <a:t>cAdvisor</a:t>
            </a:r>
            <a:r>
              <a:rPr lang="en-US" altLang="ko-KR" sz="1400" dirty="0"/>
              <a:t>, which runs in the </a:t>
            </a:r>
            <a:r>
              <a:rPr lang="en-US" altLang="ko-KR" sz="1400" b="1" dirty="0" err="1"/>
              <a:t>Kubelet</a:t>
            </a:r>
            <a:r>
              <a:rPr lang="en-US" altLang="ko-KR" sz="1400" dirty="0"/>
              <a:t> on each node, and then aggregated by the cluster-wide component called </a:t>
            </a:r>
            <a:r>
              <a:rPr lang="en-US" altLang="ko-KR" sz="1400" b="1" dirty="0" err="1"/>
              <a:t>Heapster</a:t>
            </a:r>
            <a:r>
              <a:rPr lang="en-US" altLang="ko-KR" sz="1400" b="1" dirty="0"/>
              <a:t>(or metrics-server)</a:t>
            </a:r>
            <a:r>
              <a:rPr lang="en-US" altLang="ko-KR" sz="1400" dirty="0"/>
              <a:t>. </a:t>
            </a:r>
            <a:r>
              <a:rPr lang="en-US" altLang="ko-KR" sz="1400" b="1" dirty="0"/>
              <a:t>The horizontal pod </a:t>
            </a:r>
            <a:r>
              <a:rPr lang="en-US" altLang="ko-KR" sz="1400" b="1" dirty="0" err="1"/>
              <a:t>autoscaler</a:t>
            </a:r>
            <a:r>
              <a:rPr lang="en-US" altLang="ko-KR" sz="1400" b="1" dirty="0"/>
              <a:t> controller gets the metrics of all the pods by querying </a:t>
            </a:r>
            <a:r>
              <a:rPr lang="en-US" altLang="ko-KR" sz="1400" b="1" dirty="0" err="1"/>
              <a:t>Heapster</a:t>
            </a:r>
            <a:r>
              <a:rPr lang="en-US" altLang="ko-KR" sz="1400" b="1" dirty="0"/>
              <a:t> through REST calls</a:t>
            </a:r>
            <a:r>
              <a:rPr lang="en-US" altLang="ko-KR" sz="1400" dirty="0"/>
              <a:t>. The flow of metrics data is shown in the following figure (although all the connections are initiated in the opposite direction).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implies that </a:t>
            </a:r>
            <a:r>
              <a:rPr lang="en-US" altLang="ko-KR" sz="1400" b="1" dirty="0" err="1"/>
              <a:t>Heapster</a:t>
            </a:r>
            <a:r>
              <a:rPr lang="en-US" altLang="ko-KR" sz="1400" b="1" dirty="0"/>
              <a:t> must be running in the cluster for autoscaling to work</a:t>
            </a:r>
            <a:r>
              <a:rPr lang="en-US" altLang="ko-KR" sz="1400" dirty="0"/>
              <a:t>. If you’re using </a:t>
            </a:r>
            <a:r>
              <a:rPr lang="en-US" altLang="ko-KR" sz="1400" b="1" dirty="0" err="1"/>
              <a:t>Minikube</a:t>
            </a:r>
            <a:r>
              <a:rPr lang="en-US" altLang="ko-KR" sz="1400" dirty="0"/>
              <a:t>, </a:t>
            </a:r>
            <a:r>
              <a:rPr lang="en-US" altLang="ko-KR" sz="1400" dirty="0" err="1"/>
              <a:t>Heapster</a:t>
            </a:r>
            <a:r>
              <a:rPr lang="en-US" altLang="ko-KR" sz="1400" dirty="0"/>
              <a:t> should already be enabled in your cluster(or you need to run “</a:t>
            </a:r>
            <a:r>
              <a:rPr lang="en-US" altLang="ko-KR" sz="1400" b="1" dirty="0"/>
              <a:t>$ </a:t>
            </a:r>
            <a:r>
              <a:rPr lang="en-US" altLang="ko-KR" sz="1400" b="1" dirty="0" err="1"/>
              <a:t>minikube</a:t>
            </a:r>
            <a:r>
              <a:rPr lang="en-US" altLang="ko-KR" sz="1400" b="1" dirty="0"/>
              <a:t> addons enable metrics-server</a:t>
            </a:r>
            <a:r>
              <a:rPr lang="en-US" altLang="ko-KR" sz="1400" dirty="0"/>
              <a:t>” command). </a:t>
            </a:r>
            <a:r>
              <a:rPr lang="en-US" altLang="ko-KR" sz="1400" b="1" dirty="0"/>
              <a:t>If not, make sure to enable the </a:t>
            </a:r>
            <a:r>
              <a:rPr lang="en-US" altLang="ko-KR" sz="1400" b="1" dirty="0" err="1"/>
              <a:t>Heapster</a:t>
            </a:r>
            <a:r>
              <a:rPr lang="en-US" altLang="ko-KR" sz="1400" b="1" dirty="0"/>
              <a:t> add-on before trying out any autoscaling examples</a:t>
            </a:r>
            <a:r>
              <a:rPr lang="en-US" altLang="ko-KR" sz="1400" dirty="0"/>
              <a:t>.</a:t>
            </a:r>
          </a:p>
          <a:p>
            <a:pPr lvl="1">
              <a:buFont typeface="Wingdings" panose="05000000000000000000" pitchFamily="2" charset="2"/>
              <a:buChar char="§"/>
            </a:pPr>
            <a:r>
              <a:rPr lang="en-US" altLang="ko-KR" sz="1400" b="1" dirty="0"/>
              <a:t>Although you don’t need to query </a:t>
            </a:r>
            <a:r>
              <a:rPr lang="en-US" altLang="ko-KR" sz="1400" b="1" dirty="0" err="1"/>
              <a:t>Heapster</a:t>
            </a:r>
            <a:r>
              <a:rPr lang="en-US" altLang="ko-KR" sz="1400" b="1" dirty="0"/>
              <a:t> directly, if you’re interested in doing so, you’ll find </a:t>
            </a:r>
            <a:r>
              <a:rPr lang="en-US" altLang="ko-KR" sz="1400" b="1" dirty="0">
                <a:solidFill>
                  <a:srgbClr val="FF0000"/>
                </a:solidFill>
              </a:rPr>
              <a:t>both the </a:t>
            </a:r>
            <a:r>
              <a:rPr lang="en-US" altLang="ko-KR" sz="1400" b="1" dirty="0" err="1">
                <a:solidFill>
                  <a:srgbClr val="FF0000"/>
                </a:solidFill>
              </a:rPr>
              <a:t>Heapster</a:t>
            </a:r>
            <a:r>
              <a:rPr lang="en-US" altLang="ko-KR" sz="1400" b="1" dirty="0">
                <a:solidFill>
                  <a:srgbClr val="FF0000"/>
                </a:solidFill>
              </a:rPr>
              <a:t> Pod and the Service it’s exposed through in the </a:t>
            </a:r>
            <a:r>
              <a:rPr lang="en-US" altLang="ko-KR" sz="1400" b="1" dirty="0" err="1">
                <a:solidFill>
                  <a:srgbClr val="FF0000"/>
                </a:solidFill>
              </a:rPr>
              <a:t>kube</a:t>
            </a:r>
            <a:r>
              <a:rPr lang="en-US" altLang="ko-KR" sz="1400" b="1" dirty="0">
                <a:solidFill>
                  <a:srgbClr val="FF0000"/>
                </a:solidFill>
              </a:rPr>
              <a:t>-system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9FE623E-DFBF-862D-3B16-9915873B4019}"/>
              </a:ext>
            </a:extLst>
          </p:cNvPr>
          <p:cNvGrpSpPr/>
          <p:nvPr/>
        </p:nvGrpSpPr>
        <p:grpSpPr>
          <a:xfrm>
            <a:off x="3362632" y="2399094"/>
            <a:ext cx="5466735" cy="652544"/>
            <a:chOff x="3362632" y="2334357"/>
            <a:chExt cx="5466735" cy="652544"/>
          </a:xfrm>
        </p:grpSpPr>
        <p:pic>
          <p:nvPicPr>
            <p:cNvPr id="8" name="그림 7">
              <a:extLst>
                <a:ext uri="{FF2B5EF4-FFF2-40B4-BE49-F238E27FC236}">
                  <a16:creationId xmlns:a16="http://schemas.microsoft.com/office/drawing/2014/main" id="{A9D0A240-A75C-E8D7-93C5-F5DE3F5CD9EF}"/>
                </a:ext>
              </a:extLst>
            </p:cNvPr>
            <p:cNvPicPr>
              <a:picLocks noChangeAspect="1"/>
            </p:cNvPicPr>
            <p:nvPr/>
          </p:nvPicPr>
          <p:blipFill>
            <a:blip r:embed="rId2"/>
            <a:stretch>
              <a:fillRect/>
            </a:stretch>
          </p:blipFill>
          <p:spPr>
            <a:xfrm>
              <a:off x="3362632" y="2334357"/>
              <a:ext cx="5466735" cy="619432"/>
            </a:xfrm>
            <a:prstGeom prst="rect">
              <a:avLst/>
            </a:prstGeom>
          </p:spPr>
        </p:pic>
        <p:sp>
          <p:nvSpPr>
            <p:cNvPr id="9" name="TextBox 8">
              <a:extLst>
                <a:ext uri="{FF2B5EF4-FFF2-40B4-BE49-F238E27FC236}">
                  <a16:creationId xmlns:a16="http://schemas.microsoft.com/office/drawing/2014/main" id="{74FF88E5-EEBC-F423-F562-F51980CD3EC7}"/>
                </a:ext>
              </a:extLst>
            </p:cNvPr>
            <p:cNvSpPr txBox="1"/>
            <p:nvPr/>
          </p:nvSpPr>
          <p:spPr>
            <a:xfrm>
              <a:off x="5664424" y="2740680"/>
              <a:ext cx="1051891" cy="246221"/>
            </a:xfrm>
            <a:prstGeom prst="rect">
              <a:avLst/>
            </a:prstGeom>
            <a:noFill/>
          </p:spPr>
          <p:txBody>
            <a:bodyPr wrap="none" rtlCol="0">
              <a:spAutoFit/>
            </a:bodyPr>
            <a:lstStyle/>
            <a:p>
              <a:pPr algn="l"/>
              <a:r>
                <a:rPr lang="en-US" altLang="ko-KR" sz="1000" b="1" dirty="0"/>
                <a:t>metrics-server</a:t>
              </a:r>
              <a:endParaRPr lang="ko-KR" altLang="en-US" sz="1000" b="1" dirty="0"/>
            </a:p>
          </p:txBody>
        </p:sp>
      </p:grpSp>
    </p:spTree>
    <p:extLst>
      <p:ext uri="{BB962C8B-B14F-4D97-AF65-F5344CB8AC3E}">
        <p14:creationId xmlns:p14="http://schemas.microsoft.com/office/powerpoint/2010/main" val="19846693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How the </a:t>
            </a:r>
            <a:r>
              <a:rPr lang="en-US" altLang="ko-KR" sz="2800" b="1" dirty="0" err="1"/>
              <a:t>Autoscaler</a:t>
            </a:r>
            <a:r>
              <a:rPr lang="en-US" altLang="ko-KR" sz="2800" b="1" dirty="0"/>
              <a:t> Obtains Metrics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Change History :</a:t>
            </a:r>
            <a:endParaRPr lang="en-US" altLang="ko-KR" sz="1400" dirty="0"/>
          </a:p>
          <a:p>
            <a:pPr lvl="1">
              <a:buFont typeface="Wingdings" panose="05000000000000000000" pitchFamily="2" charset="2"/>
              <a:buChar char="§"/>
            </a:pPr>
            <a:r>
              <a:rPr lang="en-US" altLang="ko-KR" sz="1400" b="1" dirty="0"/>
              <a:t>Prior to Kubernetes version 1.6, the </a:t>
            </a:r>
            <a:r>
              <a:rPr lang="en-US" altLang="ko-KR" sz="1400" b="1" dirty="0" err="1"/>
              <a:t>HorizontalPodAutoscaler</a:t>
            </a:r>
            <a:r>
              <a:rPr lang="en-US" altLang="ko-KR" sz="1400" b="1" dirty="0"/>
              <a:t> obtained the metrics from </a:t>
            </a:r>
            <a:r>
              <a:rPr lang="en-US" altLang="ko-KR" sz="1400" b="1" dirty="0" err="1"/>
              <a:t>Heapster</a:t>
            </a:r>
            <a:r>
              <a:rPr lang="en-US" altLang="ko-KR" sz="1400" b="1" dirty="0"/>
              <a:t> directly</a:t>
            </a:r>
            <a:r>
              <a:rPr lang="en-US" altLang="ko-KR" sz="1400" dirty="0"/>
              <a:t>. </a:t>
            </a:r>
            <a:r>
              <a:rPr lang="en-US" altLang="ko-KR" sz="1400" b="1" dirty="0"/>
              <a:t>In version 1.8, the </a:t>
            </a:r>
            <a:r>
              <a:rPr lang="en-US" altLang="ko-KR" sz="1400" b="1" dirty="0" err="1"/>
              <a:t>Autoscaler</a:t>
            </a:r>
            <a:r>
              <a:rPr lang="en-US" altLang="ko-KR" sz="1400" b="1" dirty="0"/>
              <a:t> can get the metrics through an aggregated version of the resource metrics API by starting the Controller Manager with the “</a:t>
            </a:r>
            <a:r>
              <a:rPr lang="en-US" altLang="ko-KR" sz="1400" b="1" dirty="0">
                <a:solidFill>
                  <a:srgbClr val="FF0000"/>
                </a:solidFill>
              </a:rPr>
              <a:t>--horizontal-pod-</a:t>
            </a:r>
            <a:r>
              <a:rPr lang="en-US" altLang="ko-KR" sz="1400" b="1" dirty="0" err="1">
                <a:solidFill>
                  <a:srgbClr val="FF0000"/>
                </a:solidFill>
              </a:rPr>
              <a:t>autoscaler</a:t>
            </a:r>
            <a:r>
              <a:rPr lang="en-US" altLang="ko-KR" sz="1400" b="1" dirty="0">
                <a:solidFill>
                  <a:srgbClr val="FF0000"/>
                </a:solidFill>
              </a:rPr>
              <a:t>-use-rest-clients=true</a:t>
            </a:r>
            <a:r>
              <a:rPr lang="en-US" altLang="ko-KR" sz="1400" b="1" dirty="0"/>
              <a:t>” flag</a:t>
            </a:r>
            <a:r>
              <a:rPr lang="en-US" altLang="ko-KR" sz="1400" dirty="0"/>
              <a:t>. </a:t>
            </a:r>
            <a:r>
              <a:rPr lang="en-US" altLang="ko-KR" sz="1400" b="1" dirty="0"/>
              <a:t>From version 1.9, this behavior is enabled by default</a:t>
            </a:r>
            <a:r>
              <a:rPr lang="en-US" altLang="ko-KR" sz="1400" dirty="0"/>
              <a:t>.</a:t>
            </a:r>
          </a:p>
          <a:p>
            <a:pPr lvl="1">
              <a:buFont typeface="Wingdings" panose="05000000000000000000" pitchFamily="2" charset="2"/>
              <a:buChar char="§"/>
            </a:pPr>
            <a:r>
              <a:rPr lang="en-US" altLang="ko-KR" sz="1400" b="1" dirty="0"/>
              <a:t>The core API server will not expose the metrics itself</a:t>
            </a:r>
            <a:r>
              <a:rPr lang="en-US" altLang="ko-KR" sz="1400" dirty="0"/>
              <a:t>. </a:t>
            </a:r>
            <a:r>
              <a:rPr lang="en-US" altLang="ko-KR" sz="1400" b="1" dirty="0"/>
              <a:t>From version 1.7, Kubernetes allows registering multiple API servers and making them appear as a single API server</a:t>
            </a:r>
            <a:r>
              <a:rPr lang="en-US" altLang="ko-KR" sz="1400" dirty="0"/>
              <a:t>. This allows it to </a:t>
            </a:r>
            <a:r>
              <a:rPr lang="en-US" altLang="ko-KR" sz="1400" b="1" dirty="0"/>
              <a:t>expose metrics through one of those underlying API servers</a:t>
            </a:r>
            <a:r>
              <a:rPr lang="en-US" altLang="ko-KR" sz="1400" dirty="0"/>
              <a:t>. </a:t>
            </a:r>
          </a:p>
          <a:p>
            <a:pPr lvl="1">
              <a:buFont typeface="Wingdings" panose="05000000000000000000" pitchFamily="2" charset="2"/>
              <a:buChar char="§"/>
            </a:pPr>
            <a:r>
              <a:rPr lang="en-US" altLang="ko-KR" sz="1400" b="1" dirty="0"/>
              <a:t>Selecting what metrics collector to use in their clusters will be up to cluster administrators</a:t>
            </a:r>
            <a:r>
              <a:rPr lang="en-US" altLang="ko-KR" sz="1400" dirty="0"/>
              <a:t>. </a:t>
            </a:r>
            <a:r>
              <a:rPr lang="en-US" altLang="ko-KR" sz="1400" b="1" dirty="0"/>
              <a:t>A simple translation layer is usually required to expose the metrics in the appropriate API paths and in the appropriate format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BE4A3C5-A6D4-CB86-330B-7BFC0AC3C2E6}"/>
              </a:ext>
            </a:extLst>
          </p:cNvPr>
          <p:cNvPicPr>
            <a:picLocks noChangeAspect="1"/>
          </p:cNvPicPr>
          <p:nvPr/>
        </p:nvPicPr>
        <p:blipFill>
          <a:blip r:embed="rId2"/>
          <a:stretch>
            <a:fillRect/>
          </a:stretch>
        </p:blipFill>
        <p:spPr>
          <a:xfrm>
            <a:off x="3685455" y="2980030"/>
            <a:ext cx="4821089" cy="3429000"/>
          </a:xfrm>
          <a:prstGeom prst="rect">
            <a:avLst/>
          </a:prstGeom>
        </p:spPr>
      </p:pic>
    </p:spTree>
    <p:extLst>
      <p:ext uri="{BB962C8B-B14F-4D97-AF65-F5344CB8AC3E}">
        <p14:creationId xmlns:p14="http://schemas.microsoft.com/office/powerpoint/2010/main" val="5149985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Autoscaling(3/27)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Autoscaling Process :</a:t>
            </a:r>
            <a:endParaRPr lang="en-US" altLang="ko-KR" sz="1400" dirty="0"/>
          </a:p>
          <a:p>
            <a:pPr lvl="1">
              <a:buFont typeface="Wingdings" panose="05000000000000000000" pitchFamily="2" charset="2"/>
              <a:buChar char="§"/>
            </a:pPr>
            <a:r>
              <a:rPr lang="en-US" altLang="ko-KR" sz="1400" b="1" dirty="0"/>
              <a:t>Once the </a:t>
            </a:r>
            <a:r>
              <a:rPr lang="en-US" altLang="ko-KR" sz="1400" b="1" dirty="0" err="1"/>
              <a:t>Autoscaler</a:t>
            </a:r>
            <a:r>
              <a:rPr lang="en-US" altLang="ko-KR" sz="1400" b="1" dirty="0"/>
              <a:t> has metrics for all the pods belonging to the resource the </a:t>
            </a:r>
            <a:r>
              <a:rPr lang="en-US" altLang="ko-KR" sz="1400" b="1" dirty="0" err="1"/>
              <a:t>Autoscaler</a:t>
            </a:r>
            <a:r>
              <a:rPr lang="en-US" altLang="ko-KR" sz="1400" b="1" dirty="0"/>
              <a:t> is scaling (the Deployment, </a:t>
            </a:r>
            <a:r>
              <a:rPr lang="en-US" altLang="ko-KR" sz="1400" b="1" dirty="0" err="1"/>
              <a:t>ReplicaSet</a:t>
            </a:r>
            <a:r>
              <a:rPr lang="en-US" altLang="ko-KR" sz="1400" b="1" dirty="0"/>
              <a:t>, </a:t>
            </a:r>
            <a:r>
              <a:rPr lang="en-US" altLang="ko-KR" sz="1400" b="1" dirty="0" err="1"/>
              <a:t>ReplicationController</a:t>
            </a:r>
            <a:r>
              <a:rPr lang="en-US" altLang="ko-KR" sz="1400" b="1" dirty="0"/>
              <a:t>, or </a:t>
            </a:r>
            <a:r>
              <a:rPr lang="en-US" altLang="ko-KR" sz="1400" b="1" dirty="0" err="1"/>
              <a:t>StatefulSet</a:t>
            </a:r>
            <a:r>
              <a:rPr lang="en-US" altLang="ko-KR" sz="1400" b="1" dirty="0"/>
              <a:t> resource), it can use those metrics to </a:t>
            </a:r>
            <a:r>
              <a:rPr lang="en-US" altLang="ko-KR" sz="1400" b="1" dirty="0">
                <a:solidFill>
                  <a:srgbClr val="FF0000"/>
                </a:solidFill>
              </a:rPr>
              <a:t>figure out the required number of replicas</a:t>
            </a:r>
            <a:r>
              <a:rPr lang="en-US" altLang="ko-KR" sz="1400" dirty="0"/>
              <a:t>. It needs to find the number that will bring the average value of the metric across all those replicas as close to the configured target value as possible. </a:t>
            </a:r>
            <a:r>
              <a:rPr lang="en-US" altLang="ko-KR" sz="1400" b="1" dirty="0"/>
              <a:t>The input to this calculation is a set of pod metrics (possibly multiple metrics per pod) and the output is a single integer (the number of pod replicas)</a:t>
            </a:r>
            <a:r>
              <a:rPr lang="en-US" altLang="ko-KR" sz="1400" dirty="0"/>
              <a:t>.</a:t>
            </a:r>
          </a:p>
          <a:p>
            <a:pPr lvl="1">
              <a:buFont typeface="Wingdings" panose="05000000000000000000" pitchFamily="2" charset="2"/>
              <a:buChar char="§"/>
            </a:pPr>
            <a:r>
              <a:rPr lang="en-US" altLang="ko-KR" sz="1400" b="1" dirty="0"/>
              <a:t>When the </a:t>
            </a:r>
            <a:r>
              <a:rPr lang="en-US" altLang="ko-KR" sz="1400" b="1" dirty="0" err="1"/>
              <a:t>Autoscaler</a:t>
            </a:r>
            <a:r>
              <a:rPr lang="en-US" altLang="ko-KR" sz="1400" b="1" dirty="0"/>
              <a:t> is configured to consider only a single metric, calculating the required replica count is simple</a:t>
            </a:r>
            <a:r>
              <a:rPr lang="en-US" altLang="ko-KR" sz="1400" dirty="0"/>
              <a:t>. All it takes is </a:t>
            </a:r>
            <a:r>
              <a:rPr lang="en-US" altLang="ko-KR" sz="1400" b="1" dirty="0"/>
              <a:t>summing up the metrics values of all the pods, dividing that by the target value set on the “</a:t>
            </a:r>
            <a:r>
              <a:rPr lang="en-US" altLang="ko-KR" sz="1400" b="1" dirty="0" err="1">
                <a:solidFill>
                  <a:srgbClr val="FF0000"/>
                </a:solidFill>
              </a:rPr>
              <a:t>HorizontalPodAutoscaler</a:t>
            </a:r>
            <a:r>
              <a:rPr lang="en-US" altLang="ko-KR" sz="1400" b="1" dirty="0"/>
              <a:t>“ resource</a:t>
            </a:r>
            <a:r>
              <a:rPr lang="en-US" altLang="ko-KR" sz="1400" dirty="0"/>
              <a:t>, and then </a:t>
            </a:r>
            <a:r>
              <a:rPr lang="en-US" altLang="ko-KR" sz="1400" b="1" dirty="0"/>
              <a:t>rounding it up to the next-larger integer</a:t>
            </a:r>
            <a:r>
              <a:rPr lang="en-US" altLang="ko-KR" sz="1400" dirty="0"/>
              <a:t>. The actual calculation is a bit more involved than this, because it also makes sure </a:t>
            </a:r>
            <a:r>
              <a:rPr lang="en-US" altLang="ko-KR" sz="1400" b="1" dirty="0"/>
              <a:t>the </a:t>
            </a:r>
            <a:r>
              <a:rPr lang="en-US" altLang="ko-KR" sz="1400" b="1" dirty="0" err="1"/>
              <a:t>Autoscaler</a:t>
            </a:r>
            <a:r>
              <a:rPr lang="en-US" altLang="ko-KR" sz="1400" b="1" dirty="0"/>
              <a:t> doesn’t thrash around when the metric value is unstable and changes rapidly</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D5C8A2A-2FBB-6E4A-BBC4-DEC7A3BABA22}"/>
              </a:ext>
            </a:extLst>
          </p:cNvPr>
          <p:cNvPicPr>
            <a:picLocks noChangeAspect="1"/>
          </p:cNvPicPr>
          <p:nvPr/>
        </p:nvPicPr>
        <p:blipFill>
          <a:blip r:embed="rId2"/>
          <a:stretch>
            <a:fillRect/>
          </a:stretch>
        </p:blipFill>
        <p:spPr>
          <a:xfrm>
            <a:off x="2675766" y="3209687"/>
            <a:ext cx="6840467" cy="3199343"/>
          </a:xfrm>
          <a:prstGeom prst="rect">
            <a:avLst/>
          </a:prstGeom>
        </p:spPr>
      </p:pic>
    </p:spTree>
    <p:extLst>
      <p:ext uri="{BB962C8B-B14F-4D97-AF65-F5344CB8AC3E}">
        <p14:creationId xmlns:p14="http://schemas.microsoft.com/office/powerpoint/2010/main" val="1497582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Autoscaling(4/27)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Autoscaling Process :</a:t>
            </a:r>
            <a:endParaRPr lang="en-US" altLang="ko-KR" sz="1400" dirty="0"/>
          </a:p>
          <a:p>
            <a:pPr lvl="1">
              <a:buFont typeface="Wingdings" panose="05000000000000000000" pitchFamily="2" charset="2"/>
              <a:buChar char="§"/>
            </a:pPr>
            <a:r>
              <a:rPr lang="en-US" altLang="ko-KR" sz="1400" b="1" dirty="0"/>
              <a:t>When autoscaling is based on multiple pod metrics (for example, both CPU usage and </a:t>
            </a:r>
            <a:r>
              <a:rPr lang="en-US" altLang="ko-KR" sz="1400" b="1" dirty="0">
                <a:solidFill>
                  <a:srgbClr val="FF0000"/>
                </a:solidFill>
              </a:rPr>
              <a:t>Queries-Per-Second [QPS]</a:t>
            </a:r>
            <a:r>
              <a:rPr lang="en-US" altLang="ko-KR" sz="1400" b="1" dirty="0"/>
              <a:t>), the calculation isn’t that much more complicated</a:t>
            </a:r>
            <a:r>
              <a:rPr lang="en-US" altLang="ko-KR" sz="1400" dirty="0"/>
              <a:t>. </a:t>
            </a:r>
            <a:r>
              <a:rPr lang="en-US" altLang="ko-KR" sz="1400" b="1" dirty="0"/>
              <a:t>The </a:t>
            </a:r>
            <a:r>
              <a:rPr lang="en-US" altLang="ko-KR" sz="1400" b="1" dirty="0" err="1"/>
              <a:t>Autoscaler</a:t>
            </a:r>
            <a:r>
              <a:rPr lang="en-US" altLang="ko-KR" sz="1400" b="1" dirty="0"/>
              <a:t> calculates the replica count for each metric individually and then </a:t>
            </a:r>
            <a:r>
              <a:rPr lang="en-US" altLang="ko-KR" sz="1400" b="1" dirty="0">
                <a:solidFill>
                  <a:srgbClr val="FF0000"/>
                </a:solidFill>
              </a:rPr>
              <a:t>takes the highest value </a:t>
            </a:r>
            <a:r>
              <a:rPr lang="en-US" altLang="ko-KR" sz="1400" dirty="0"/>
              <a:t>(for example, if four pods are required to achieve the target CPU usage, and three pods are required to achieve the target </a:t>
            </a:r>
            <a:r>
              <a:rPr lang="en-US" altLang="ko-KR" sz="1400" b="1" dirty="0"/>
              <a:t>QPS</a:t>
            </a:r>
            <a:r>
              <a:rPr lang="en-US" altLang="ko-KR" sz="1400" dirty="0"/>
              <a:t>, the </a:t>
            </a:r>
            <a:r>
              <a:rPr lang="en-US" altLang="ko-KR" sz="1400" b="1" dirty="0" err="1"/>
              <a:t>Autoscaler</a:t>
            </a:r>
            <a:r>
              <a:rPr lang="en-US" altLang="ko-KR" sz="1400" dirty="0"/>
              <a:t> will scale to four pods). </a:t>
            </a:r>
          </a:p>
          <a:p>
            <a:pPr lvl="1">
              <a:buFont typeface="Wingdings" panose="05000000000000000000" pitchFamily="2" charset="2"/>
              <a:buChar char="§"/>
            </a:pPr>
            <a:r>
              <a:rPr lang="en-US" altLang="ko-KR" sz="1400" dirty="0"/>
              <a:t>The following figure shows this example.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98B4F99-DBAE-3F14-BE0E-B76371FA6319}"/>
              </a:ext>
            </a:extLst>
          </p:cNvPr>
          <p:cNvPicPr>
            <a:picLocks noChangeAspect="1"/>
          </p:cNvPicPr>
          <p:nvPr/>
        </p:nvPicPr>
        <p:blipFill>
          <a:blip r:embed="rId2"/>
          <a:stretch>
            <a:fillRect/>
          </a:stretch>
        </p:blipFill>
        <p:spPr>
          <a:xfrm>
            <a:off x="3323303" y="2426595"/>
            <a:ext cx="5545394" cy="2330245"/>
          </a:xfrm>
          <a:prstGeom prst="rect">
            <a:avLst/>
          </a:prstGeom>
        </p:spPr>
      </p:pic>
    </p:spTree>
    <p:extLst>
      <p:ext uri="{BB962C8B-B14F-4D97-AF65-F5344CB8AC3E}">
        <p14:creationId xmlns:p14="http://schemas.microsoft.com/office/powerpoint/2010/main" val="24503310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Autoscaling(5/27)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Autoscaling Process :</a:t>
            </a:r>
            <a:endParaRPr lang="en-US" altLang="ko-KR" sz="1400" dirty="0"/>
          </a:p>
          <a:p>
            <a:pPr lvl="1">
              <a:buFont typeface="Wingdings" panose="05000000000000000000" pitchFamily="2" charset="2"/>
              <a:buChar char="§"/>
            </a:pPr>
            <a:r>
              <a:rPr lang="en-US" altLang="ko-KR" sz="1400" b="1" dirty="0"/>
              <a:t>The final step of an autoscaling operation is updating the </a:t>
            </a:r>
            <a:r>
              <a:rPr lang="en-US" altLang="ko-KR" sz="1400" b="1" dirty="0">
                <a:solidFill>
                  <a:srgbClr val="FF0000"/>
                </a:solidFill>
              </a:rPr>
              <a:t>desired replica count field </a:t>
            </a:r>
            <a:r>
              <a:rPr lang="en-US" altLang="ko-KR" sz="1400" b="1" dirty="0"/>
              <a:t>on the scaled resource object </a:t>
            </a:r>
            <a:r>
              <a:rPr lang="en-US" altLang="ko-KR" sz="1400" dirty="0"/>
              <a:t>(a </a:t>
            </a:r>
            <a:r>
              <a:rPr lang="en-US" altLang="ko-KR" sz="1400" b="1" dirty="0" err="1"/>
              <a:t>ReplicaSet</a:t>
            </a:r>
            <a:r>
              <a:rPr lang="en-US" altLang="ko-KR" sz="1400" dirty="0"/>
              <a:t>, for example) and then </a:t>
            </a:r>
            <a:r>
              <a:rPr lang="en-US" altLang="ko-KR" sz="1400" b="1" dirty="0"/>
              <a:t>letting the </a:t>
            </a:r>
            <a:r>
              <a:rPr lang="en-US" altLang="ko-KR" sz="1400" b="1" dirty="0" err="1"/>
              <a:t>ReplicaSet</a:t>
            </a:r>
            <a:r>
              <a:rPr lang="en-US" altLang="ko-KR" sz="1400" b="1" dirty="0"/>
              <a:t> controller take care of spinning up additional pods or deleting excess ones</a:t>
            </a:r>
            <a:r>
              <a:rPr lang="en-US" altLang="ko-KR" sz="1400" dirty="0"/>
              <a:t>. </a:t>
            </a:r>
          </a:p>
          <a:p>
            <a:pPr lvl="1">
              <a:buFont typeface="Wingdings" panose="05000000000000000000" pitchFamily="2" charset="2"/>
              <a:buChar char="§"/>
            </a:pPr>
            <a:r>
              <a:rPr lang="en-US" altLang="ko-KR" sz="1400" b="1" dirty="0"/>
              <a:t>The </a:t>
            </a:r>
            <a:r>
              <a:rPr lang="en-US" altLang="ko-KR" sz="1400" b="1" dirty="0" err="1"/>
              <a:t>Autoscaler</a:t>
            </a:r>
            <a:r>
              <a:rPr lang="en-US" altLang="ko-KR" sz="1400" b="1" dirty="0"/>
              <a:t> controller modifies </a:t>
            </a:r>
            <a:r>
              <a:rPr lang="en-US" altLang="ko-KR" sz="1400" b="1" dirty="0">
                <a:solidFill>
                  <a:srgbClr val="FF0000"/>
                </a:solidFill>
              </a:rPr>
              <a:t>the replicas field </a:t>
            </a:r>
            <a:r>
              <a:rPr lang="en-US" altLang="ko-KR" sz="1400" b="1" dirty="0"/>
              <a:t>of the scaled resource through the </a:t>
            </a:r>
            <a:r>
              <a:rPr lang="en-US" altLang="ko-KR" sz="1400" b="1" dirty="0">
                <a:solidFill>
                  <a:srgbClr val="FF0000"/>
                </a:solidFill>
              </a:rPr>
              <a:t>Scale</a:t>
            </a:r>
            <a:r>
              <a:rPr lang="en-US" altLang="ko-KR" sz="1400" b="1" dirty="0"/>
              <a:t> sub-resource</a:t>
            </a:r>
            <a:r>
              <a:rPr lang="en-US" altLang="ko-KR" sz="1400" dirty="0"/>
              <a:t>. </a:t>
            </a:r>
            <a:r>
              <a:rPr lang="en-US" altLang="ko-KR" sz="1400" b="1" dirty="0"/>
              <a:t>It enables the </a:t>
            </a:r>
            <a:r>
              <a:rPr lang="en-US" altLang="ko-KR" sz="1400" b="1" dirty="0" err="1"/>
              <a:t>Autoscaler</a:t>
            </a:r>
            <a:r>
              <a:rPr lang="en-US" altLang="ko-KR" sz="1400" b="1" dirty="0"/>
              <a:t> to do its work without knowing any details of the resource it’s scaling</a:t>
            </a:r>
            <a:r>
              <a:rPr lang="en-US" altLang="ko-KR" sz="1400" dirty="0"/>
              <a:t>, except for what’s exposed through the Scale sub-resource (see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allows the </a:t>
            </a:r>
            <a:r>
              <a:rPr lang="en-US" altLang="ko-KR" sz="1400" b="1" dirty="0" err="1"/>
              <a:t>Autoscaler</a:t>
            </a:r>
            <a:r>
              <a:rPr lang="en-US" altLang="ko-KR" sz="1400" b="1" dirty="0"/>
              <a:t> to operate on any scalable resource, as long as the API server exposes the Scale sub-resource for it</a:t>
            </a:r>
            <a:r>
              <a:rPr lang="en-US" altLang="ko-KR" sz="1400" dirty="0"/>
              <a:t>. Currently, it’s exposed for</a:t>
            </a:r>
          </a:p>
          <a:p>
            <a:pPr lvl="2">
              <a:buFont typeface="Wingdings" panose="05000000000000000000" pitchFamily="2" charset="2"/>
              <a:buChar char="§"/>
            </a:pPr>
            <a:r>
              <a:rPr lang="en-US" altLang="ko-KR" sz="1400" b="1" dirty="0"/>
              <a:t>Deployments</a:t>
            </a:r>
          </a:p>
          <a:p>
            <a:pPr lvl="2">
              <a:buFont typeface="Wingdings" panose="05000000000000000000" pitchFamily="2" charset="2"/>
              <a:buChar char="§"/>
            </a:pPr>
            <a:r>
              <a:rPr lang="en-US" altLang="ko-KR" sz="1400" b="1" dirty="0" err="1"/>
              <a:t>ReplicaSets</a:t>
            </a:r>
            <a:endParaRPr lang="en-US" altLang="ko-KR" sz="1400" b="1" dirty="0"/>
          </a:p>
          <a:p>
            <a:pPr lvl="2">
              <a:buFont typeface="Wingdings" panose="05000000000000000000" pitchFamily="2" charset="2"/>
              <a:buChar char="§"/>
            </a:pPr>
            <a:r>
              <a:rPr lang="en-US" altLang="ko-KR" sz="1400" b="1" dirty="0" err="1"/>
              <a:t>ReplicationControllers</a:t>
            </a:r>
            <a:endParaRPr lang="en-US" altLang="ko-KR" sz="1400" b="1" dirty="0"/>
          </a:p>
          <a:p>
            <a:pPr lvl="2">
              <a:buFont typeface="Wingdings" panose="05000000000000000000" pitchFamily="2" charset="2"/>
              <a:buChar char="§"/>
            </a:pPr>
            <a:r>
              <a:rPr lang="en-US" altLang="ko-KR" sz="1400" b="1" dirty="0" err="1"/>
              <a:t>StatefulSets</a:t>
            </a:r>
            <a:endParaRPr lang="en-US" altLang="ko-KR" sz="14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14FD7920-CC80-F9E9-E806-7B8321090B21}"/>
              </a:ext>
            </a:extLst>
          </p:cNvPr>
          <p:cNvPicPr>
            <a:picLocks noChangeAspect="1"/>
          </p:cNvPicPr>
          <p:nvPr/>
        </p:nvPicPr>
        <p:blipFill>
          <a:blip r:embed="rId2"/>
          <a:stretch>
            <a:fillRect/>
          </a:stretch>
        </p:blipFill>
        <p:spPr>
          <a:xfrm>
            <a:off x="3460955" y="2775155"/>
            <a:ext cx="5270090" cy="1307690"/>
          </a:xfrm>
          <a:prstGeom prst="rect">
            <a:avLst/>
          </a:prstGeom>
        </p:spPr>
      </p:pic>
    </p:spTree>
    <p:extLst>
      <p:ext uri="{BB962C8B-B14F-4D97-AF65-F5344CB8AC3E}">
        <p14:creationId xmlns:p14="http://schemas.microsoft.com/office/powerpoint/2010/main" val="6830268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Autoscaling(6/27)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Autoscaling Process :</a:t>
            </a:r>
            <a:endParaRPr lang="en-US" altLang="ko-KR" sz="1400" dirty="0"/>
          </a:p>
          <a:p>
            <a:pPr lvl="1">
              <a:buFont typeface="Wingdings" panose="05000000000000000000" pitchFamily="2" charset="2"/>
              <a:buChar char="§"/>
            </a:pPr>
            <a:r>
              <a:rPr lang="en-US" altLang="ko-KR" sz="1400" dirty="0"/>
              <a:t>In the following figure, </a:t>
            </a:r>
            <a:r>
              <a:rPr lang="en-US" altLang="ko-KR" sz="1400" b="1" dirty="0"/>
              <a:t>the arrows leading from the pods to the </a:t>
            </a:r>
            <a:r>
              <a:rPr lang="en-US" altLang="ko-KR" sz="1400" b="1" dirty="0" err="1"/>
              <a:t>cAdvisors</a:t>
            </a:r>
            <a:r>
              <a:rPr lang="en-US" altLang="ko-KR" sz="1400" b="1" dirty="0"/>
              <a:t>, which continue on to </a:t>
            </a:r>
            <a:r>
              <a:rPr lang="en-US" altLang="ko-KR" sz="1400" b="1" dirty="0" err="1"/>
              <a:t>Heapster</a:t>
            </a:r>
            <a:r>
              <a:rPr lang="en-US" altLang="ko-KR" sz="1400" b="1" dirty="0"/>
              <a:t> and finally to the Horizontal Pod </a:t>
            </a:r>
            <a:r>
              <a:rPr lang="en-US" altLang="ko-KR" sz="1400" b="1" dirty="0" err="1"/>
              <a:t>Autoscaler</a:t>
            </a:r>
            <a:r>
              <a:rPr lang="en-US" altLang="ko-KR" sz="1400" dirty="0"/>
              <a:t>, indicate </a:t>
            </a:r>
            <a:r>
              <a:rPr lang="en-US" altLang="ko-KR" sz="1400" b="1" dirty="0"/>
              <a:t>the direction of </a:t>
            </a:r>
            <a:r>
              <a:rPr lang="en-US" altLang="ko-KR" sz="1400" b="1" dirty="0">
                <a:solidFill>
                  <a:srgbClr val="FF0000"/>
                </a:solidFill>
              </a:rPr>
              <a:t>the flow of metrics data</a:t>
            </a:r>
            <a:r>
              <a:rPr lang="en-US" altLang="ko-KR" sz="1400" dirty="0"/>
              <a:t>. It’s important to be aware that </a:t>
            </a:r>
            <a:r>
              <a:rPr lang="en-US" altLang="ko-KR" sz="1400" b="1" dirty="0"/>
              <a:t>each component gets the metrics from the other components periodically (that is, </a:t>
            </a:r>
            <a:r>
              <a:rPr lang="en-US" altLang="ko-KR" sz="1400" b="1" dirty="0" err="1"/>
              <a:t>cAdvisor</a:t>
            </a:r>
            <a:r>
              <a:rPr lang="en-US" altLang="ko-KR" sz="1400" b="1" dirty="0"/>
              <a:t> gets the metrics from the pods in a continuous loop</a:t>
            </a:r>
            <a:r>
              <a:rPr lang="en-US" altLang="ko-KR" sz="1400" dirty="0"/>
              <a:t>; the same is also true for </a:t>
            </a:r>
            <a:r>
              <a:rPr lang="en-US" altLang="ko-KR" sz="1400" b="1" dirty="0" err="1"/>
              <a:t>Heapster</a:t>
            </a:r>
            <a:r>
              <a:rPr lang="en-US" altLang="ko-KR" sz="1400" dirty="0"/>
              <a:t> and for the </a:t>
            </a:r>
            <a:r>
              <a:rPr lang="en-US" altLang="ko-KR" sz="1400" b="1" dirty="0"/>
              <a:t>HPA controller</a:t>
            </a:r>
            <a:r>
              <a:rPr lang="en-US" altLang="ko-KR" sz="1400" dirty="0"/>
              <a:t>). </a:t>
            </a:r>
          </a:p>
          <a:p>
            <a:pPr lvl="1">
              <a:buFont typeface="Wingdings" panose="05000000000000000000" pitchFamily="2" charset="2"/>
              <a:buChar char="§"/>
            </a:pPr>
            <a:r>
              <a:rPr lang="en-US" altLang="ko-KR" sz="1400" b="1" dirty="0"/>
              <a:t>The end effect is that it takes quite a while for the metrics data to be </a:t>
            </a:r>
            <a:r>
              <a:rPr lang="en-US" altLang="ko-KR" sz="1400" b="1" dirty="0">
                <a:solidFill>
                  <a:srgbClr val="FF0000"/>
                </a:solidFill>
              </a:rPr>
              <a:t>propagated</a:t>
            </a:r>
            <a:r>
              <a:rPr lang="en-US" altLang="ko-KR" sz="1400" b="1" dirty="0"/>
              <a:t> and a rescaling action to be performed</a:t>
            </a:r>
            <a:r>
              <a:rPr lang="en-US" altLang="ko-KR" sz="1400" dirty="0"/>
              <a:t>. It isn’t immediate.</a:t>
            </a:r>
          </a:p>
          <a:p>
            <a:pPr lvl="1">
              <a:buFont typeface="Wingdings" panose="05000000000000000000" pitchFamily="2" charset="2"/>
              <a:buChar char="§"/>
            </a:pPr>
            <a:r>
              <a:rPr lang="en-US" altLang="ko-KR" sz="1400" b="1" dirty="0"/>
              <a:t>NOTE : For more information about </a:t>
            </a:r>
            <a:r>
              <a:rPr lang="en-US" altLang="ko-KR" sz="1400" b="1" dirty="0" err="1"/>
              <a:t>HorizontalPodAutoscaler</a:t>
            </a:r>
            <a:r>
              <a:rPr lang="en-US" altLang="ko-KR" sz="1400" b="1" dirty="0"/>
              <a:t>, refer to </a:t>
            </a:r>
            <a:r>
              <a:rPr lang="en-US" altLang="ko-KR" sz="1400" b="1" dirty="0">
                <a:hlinkClick r:id="rId2"/>
              </a:rPr>
              <a:t>https://kubernetes.io/docs/tasks/run-application/horizontal-pod-autoscale/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0B27A21-CC6C-973A-A6E9-2EBE88028327}"/>
              </a:ext>
            </a:extLst>
          </p:cNvPr>
          <p:cNvPicPr>
            <a:picLocks noChangeAspect="1"/>
          </p:cNvPicPr>
          <p:nvPr/>
        </p:nvPicPr>
        <p:blipFill>
          <a:blip r:embed="rId3"/>
          <a:stretch>
            <a:fillRect/>
          </a:stretch>
        </p:blipFill>
        <p:spPr>
          <a:xfrm>
            <a:off x="3225068" y="2922898"/>
            <a:ext cx="5741864" cy="3486132"/>
          </a:xfrm>
          <a:prstGeom prst="rect">
            <a:avLst/>
          </a:prstGeom>
        </p:spPr>
      </p:pic>
    </p:spTree>
    <p:extLst>
      <p:ext uri="{BB962C8B-B14F-4D97-AF65-F5344CB8AC3E}">
        <p14:creationId xmlns:p14="http://schemas.microsoft.com/office/powerpoint/2010/main" val="15600577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Autoscaling(7/27)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Perhaps the most important metric you’ll want to base autoscaling on is </a:t>
            </a:r>
            <a:r>
              <a:rPr lang="en-US" altLang="ko-KR" sz="1400" b="1" dirty="0">
                <a:solidFill>
                  <a:srgbClr val="FF0000"/>
                </a:solidFill>
              </a:rPr>
              <a:t>the amount of CPU </a:t>
            </a:r>
            <a:r>
              <a:rPr lang="en-US" altLang="ko-KR" sz="1400" b="1" dirty="0"/>
              <a:t>consumed by the processes running inside your pods</a:t>
            </a:r>
            <a:r>
              <a:rPr lang="en-US" altLang="ko-KR" sz="1400" dirty="0"/>
              <a:t>. Imagine having a few pods providing a service. When their CPU usage reaches 100% it’s obvious they can’t cope with the demand anymore and need to be </a:t>
            </a:r>
            <a:r>
              <a:rPr lang="en-US" altLang="ko-KR" sz="1400" b="1" dirty="0">
                <a:solidFill>
                  <a:srgbClr val="FF0000"/>
                </a:solidFill>
              </a:rPr>
              <a:t>scaled</a:t>
            </a:r>
            <a:r>
              <a:rPr lang="en-US" altLang="ko-KR" sz="1400" b="1" dirty="0"/>
              <a:t> either </a:t>
            </a:r>
            <a:r>
              <a:rPr lang="en-US" altLang="ko-KR" sz="1400" b="1" dirty="0">
                <a:solidFill>
                  <a:srgbClr val="FF0000"/>
                </a:solidFill>
              </a:rPr>
              <a:t>up</a:t>
            </a:r>
            <a:r>
              <a:rPr lang="en-US" altLang="ko-KR" sz="1400" b="1" dirty="0"/>
              <a:t> (</a:t>
            </a:r>
            <a:r>
              <a:rPr lang="en-US" altLang="ko-KR" sz="1400" b="1" dirty="0">
                <a:solidFill>
                  <a:srgbClr val="FF0000"/>
                </a:solidFill>
              </a:rPr>
              <a:t>vertical scaling</a:t>
            </a:r>
            <a:r>
              <a:rPr lang="en-US" altLang="ko-KR" sz="1400" b="1" dirty="0"/>
              <a:t>—increasing the amount of CPU the pods can use) or </a:t>
            </a:r>
            <a:r>
              <a:rPr lang="en-US" altLang="ko-KR" sz="1400" b="1" dirty="0">
                <a:solidFill>
                  <a:srgbClr val="FF0000"/>
                </a:solidFill>
              </a:rPr>
              <a:t>out</a:t>
            </a:r>
            <a:r>
              <a:rPr lang="en-US" altLang="ko-KR" sz="1400" b="1" dirty="0"/>
              <a:t> (</a:t>
            </a:r>
            <a:r>
              <a:rPr lang="en-US" altLang="ko-KR" sz="1400" b="1" dirty="0">
                <a:solidFill>
                  <a:srgbClr val="FF0000"/>
                </a:solidFill>
              </a:rPr>
              <a:t>horizontal scaling</a:t>
            </a:r>
            <a:r>
              <a:rPr lang="en-US" altLang="ko-KR" sz="1400" b="1" dirty="0"/>
              <a:t>—increasing the number of pods)</a:t>
            </a:r>
            <a:r>
              <a:rPr lang="en-US" altLang="ko-KR" sz="1400" dirty="0"/>
              <a:t>. By doing that, the average CPU usage should come down.</a:t>
            </a:r>
          </a:p>
          <a:p>
            <a:pPr lvl="1">
              <a:buFont typeface="Wingdings" panose="05000000000000000000" pitchFamily="2" charset="2"/>
              <a:buChar char="§"/>
            </a:pPr>
            <a:r>
              <a:rPr lang="en-US" altLang="ko-KR" sz="1400" b="1" dirty="0"/>
              <a:t>Because CPU usage is usually unstable, it makes sense to scale out even before the CPU is completely swamped</a:t>
            </a:r>
            <a:r>
              <a:rPr lang="en-US" altLang="ko-KR" sz="1400" dirty="0"/>
              <a:t>—perhaps when the average CPU load across the pods reaches or exceeds 80%. But 80% of what, exactly?</a:t>
            </a:r>
          </a:p>
          <a:p>
            <a:pPr lvl="1">
              <a:buFont typeface="Wingdings" panose="05000000000000000000" pitchFamily="2" charset="2"/>
              <a:buChar char="§"/>
            </a:pPr>
            <a:r>
              <a:rPr lang="en-US" altLang="ko-KR" sz="1400" b="1" dirty="0"/>
              <a:t>TIP : Always set the target CPU usage well below 100% (and definitely never above 90%) to leave enough room for handling sudden load spikes</a:t>
            </a:r>
            <a:r>
              <a:rPr lang="en-US" altLang="ko-KR" sz="1400" dirty="0"/>
              <a:t>. </a:t>
            </a:r>
          </a:p>
          <a:p>
            <a:pPr lvl="1">
              <a:buFont typeface="Wingdings" panose="05000000000000000000" pitchFamily="2" charset="2"/>
              <a:buChar char="§"/>
            </a:pPr>
            <a:r>
              <a:rPr lang="en-US" altLang="ko-KR" sz="1400" b="1" dirty="0"/>
              <a:t>NOTE : For periodic real-time applications, the deadline miss will be occurred if the CPU usage is over 69%(almost 70%)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92E704D-AC99-7D7B-BFF9-5A2D722D8174}"/>
              </a:ext>
            </a:extLst>
          </p:cNvPr>
          <p:cNvPicPr>
            <a:picLocks noChangeAspect="1"/>
          </p:cNvPicPr>
          <p:nvPr/>
        </p:nvPicPr>
        <p:blipFill>
          <a:blip r:embed="rId2"/>
          <a:stretch>
            <a:fillRect/>
          </a:stretch>
        </p:blipFill>
        <p:spPr>
          <a:xfrm>
            <a:off x="3275462" y="3591718"/>
            <a:ext cx="5641076" cy="2441660"/>
          </a:xfrm>
          <a:prstGeom prst="rect">
            <a:avLst/>
          </a:prstGeom>
        </p:spPr>
      </p:pic>
    </p:spTree>
    <p:extLst>
      <p:ext uri="{BB962C8B-B14F-4D97-AF65-F5344CB8AC3E}">
        <p14:creationId xmlns:p14="http://schemas.microsoft.com/office/powerpoint/2010/main" val="9245504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Autoscaling(8/27)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The process running inside a container is guaranteed the amount of CPU requested through the resource requests specified for the container</a:t>
            </a:r>
            <a:r>
              <a:rPr lang="en-US" altLang="ko-KR" sz="1400" dirty="0"/>
              <a:t>. But at times when no other processes need CPU, the process may use all the available CPU on the node. When someone says a pod is consuming 80% of the CPU, it’s not clear if they mean 80% of </a:t>
            </a:r>
            <a:r>
              <a:rPr lang="en-US" altLang="ko-KR" sz="1400" b="1" dirty="0"/>
              <a:t>the node’s CPU</a:t>
            </a:r>
            <a:r>
              <a:rPr lang="en-US" altLang="ko-KR" sz="1400" dirty="0"/>
              <a:t>, 80% of </a:t>
            </a:r>
            <a:r>
              <a:rPr lang="en-US" altLang="ko-KR" sz="1400" b="1" dirty="0"/>
              <a:t>the pod’s guaranteed CPU (the resource request)</a:t>
            </a:r>
            <a:r>
              <a:rPr lang="en-US" altLang="ko-KR" sz="1400" dirty="0"/>
              <a:t>, or 80% of </a:t>
            </a:r>
            <a:r>
              <a:rPr lang="en-US" altLang="ko-KR" sz="1400" b="1" dirty="0"/>
              <a:t>the hard limit configured for the pod through resource limits</a:t>
            </a:r>
            <a:r>
              <a:rPr lang="en-US" altLang="ko-KR" sz="1400" dirty="0"/>
              <a:t>.</a:t>
            </a:r>
          </a:p>
          <a:p>
            <a:pPr lvl="1">
              <a:buFont typeface="Wingdings" panose="05000000000000000000" pitchFamily="2" charset="2"/>
              <a:buChar char="§"/>
            </a:pPr>
            <a:r>
              <a:rPr lang="en-US" altLang="ko-KR" sz="1400" b="1" dirty="0"/>
              <a:t>As far as the </a:t>
            </a:r>
            <a:r>
              <a:rPr lang="en-US" altLang="ko-KR" sz="1400" b="1" dirty="0" err="1"/>
              <a:t>Autoscaler</a:t>
            </a:r>
            <a:r>
              <a:rPr lang="en-US" altLang="ko-KR" sz="1400" b="1" dirty="0"/>
              <a:t> is concerned, only </a:t>
            </a:r>
            <a:r>
              <a:rPr lang="en-US" altLang="ko-KR" sz="1400" b="1" dirty="0">
                <a:solidFill>
                  <a:srgbClr val="FF0000"/>
                </a:solidFill>
              </a:rPr>
              <a:t>the pod’s guaranteed CPU amount (the CPU requests) </a:t>
            </a:r>
            <a:r>
              <a:rPr lang="en-US" altLang="ko-KR" sz="1400" b="1" dirty="0"/>
              <a:t>is important when determining </a:t>
            </a:r>
            <a:r>
              <a:rPr lang="en-US" altLang="ko-KR" sz="1400" b="1" dirty="0">
                <a:solidFill>
                  <a:srgbClr val="FF0000"/>
                </a:solidFill>
              </a:rPr>
              <a:t>the CPU utilization of a pod</a:t>
            </a:r>
            <a:r>
              <a:rPr lang="en-US" altLang="ko-KR" sz="1400" dirty="0"/>
              <a:t>. </a:t>
            </a:r>
            <a:r>
              <a:rPr lang="en-US" altLang="ko-KR" sz="1400" b="1" dirty="0"/>
              <a:t>The </a:t>
            </a:r>
            <a:r>
              <a:rPr lang="en-US" altLang="ko-KR" sz="1400" b="1" dirty="0" err="1"/>
              <a:t>Autoscaler</a:t>
            </a:r>
            <a:r>
              <a:rPr lang="en-US" altLang="ko-KR" sz="1400" b="1" dirty="0"/>
              <a:t> compares </a:t>
            </a:r>
            <a:r>
              <a:rPr lang="en-US" altLang="ko-KR" sz="1400" b="1" dirty="0">
                <a:solidFill>
                  <a:srgbClr val="FF0000"/>
                </a:solidFill>
              </a:rPr>
              <a:t>the pod’s actual CPU consumption </a:t>
            </a:r>
            <a:r>
              <a:rPr lang="en-US" altLang="ko-KR" sz="1400" b="1" dirty="0"/>
              <a:t>and its </a:t>
            </a:r>
            <a:r>
              <a:rPr lang="en-US" altLang="ko-KR" sz="1400" b="1" dirty="0">
                <a:solidFill>
                  <a:srgbClr val="FF0000"/>
                </a:solidFill>
              </a:rPr>
              <a:t>CPU requests</a:t>
            </a:r>
            <a:r>
              <a:rPr lang="en-US" altLang="ko-KR" sz="1400" b="1" dirty="0"/>
              <a:t>, which means the pods you’re autoscaling need to have CPU requests set (either directly or indirectly through a </a:t>
            </a:r>
            <a:r>
              <a:rPr lang="en-US" altLang="ko-KR" sz="1400" b="1" dirty="0" err="1"/>
              <a:t>LimitRange</a:t>
            </a:r>
            <a:r>
              <a:rPr lang="en-US" altLang="ko-KR" sz="1400" b="1" dirty="0"/>
              <a:t> object) for the </a:t>
            </a:r>
            <a:r>
              <a:rPr lang="en-US" altLang="ko-KR" sz="1400" b="1" dirty="0" err="1"/>
              <a:t>Autoscaler</a:t>
            </a:r>
            <a:r>
              <a:rPr lang="en-US" altLang="ko-KR" sz="1400" b="1" dirty="0"/>
              <a:t> to determine the CPU utilization percentage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FB041C2-B952-1ADB-3CDD-EA631E2910C7}"/>
              </a:ext>
            </a:extLst>
          </p:cNvPr>
          <p:cNvPicPr>
            <a:picLocks noChangeAspect="1"/>
          </p:cNvPicPr>
          <p:nvPr/>
        </p:nvPicPr>
        <p:blipFill>
          <a:blip r:embed="rId2"/>
          <a:stretch>
            <a:fillRect/>
          </a:stretch>
        </p:blipFill>
        <p:spPr>
          <a:xfrm>
            <a:off x="4059273" y="3180415"/>
            <a:ext cx="4073454" cy="3060441"/>
          </a:xfrm>
          <a:prstGeom prst="rect">
            <a:avLst/>
          </a:prstGeom>
        </p:spPr>
      </p:pic>
    </p:spTree>
    <p:extLst>
      <p:ext uri="{BB962C8B-B14F-4D97-AF65-F5344CB8AC3E}">
        <p14:creationId xmlns:p14="http://schemas.microsoft.com/office/powerpoint/2010/main" val="11576550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Autoscaling(9/27)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Let’s see how to create a </a:t>
            </a:r>
            <a:r>
              <a:rPr lang="en-US" altLang="ko-KR" sz="1400" b="1" dirty="0" err="1"/>
              <a:t>HorizontalPodAutoscaler</a:t>
            </a:r>
            <a:r>
              <a:rPr lang="en-US" altLang="ko-KR" sz="1400" b="1" dirty="0"/>
              <a:t> now and configure it to scale pods based on their CPU utilization</a:t>
            </a:r>
            <a:r>
              <a:rPr lang="en-US" altLang="ko-KR" sz="1400" dirty="0"/>
              <a:t>. You’ll create a </a:t>
            </a:r>
            <a:r>
              <a:rPr lang="en-US" altLang="ko-KR" sz="1400" b="1" dirty="0"/>
              <a:t>Deployment</a:t>
            </a:r>
            <a:r>
              <a:rPr lang="en-US" altLang="ko-KR" sz="1400" dirty="0"/>
              <a:t>, and you’ll need to </a:t>
            </a:r>
            <a:r>
              <a:rPr lang="en-US" altLang="ko-KR" sz="1400" b="1" dirty="0"/>
              <a:t>make sure the pods created by the Deployment all have the CPU resource requests specified in order to make autoscaling possible</a:t>
            </a:r>
            <a:r>
              <a:rPr lang="en-US" altLang="ko-KR" sz="1400" dirty="0"/>
              <a:t>. You’ll have to </a:t>
            </a:r>
            <a:r>
              <a:rPr lang="en-US" altLang="ko-KR" sz="1400" b="1" dirty="0"/>
              <a:t>add a “</a:t>
            </a:r>
            <a:r>
              <a:rPr lang="en-US" altLang="ko-KR" sz="1400" b="1" dirty="0">
                <a:solidFill>
                  <a:srgbClr val="FF0000"/>
                </a:solidFill>
              </a:rPr>
              <a:t>CPU resource request</a:t>
            </a:r>
            <a:r>
              <a:rPr lang="en-US" altLang="ko-KR" sz="1400" b="1" dirty="0"/>
              <a:t>” to the Deployment’s pod template</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is a regular Deployment object—it doesn’t use autoscaling yet</a:t>
            </a:r>
            <a:r>
              <a:rPr lang="en-US" altLang="ko-KR" sz="1400" dirty="0"/>
              <a:t>. It will run three instances of the “</a:t>
            </a:r>
            <a:r>
              <a:rPr lang="en-US" altLang="ko-KR" sz="1400" b="1" dirty="0" err="1"/>
              <a:t>kubia</a:t>
            </a:r>
            <a:r>
              <a:rPr lang="en-US" altLang="ko-KR" sz="1400" dirty="0"/>
              <a:t>” NodeJS app, with each instance requesting “</a:t>
            </a:r>
            <a:r>
              <a:rPr lang="en-US" altLang="ko-KR" sz="1400" b="1" dirty="0"/>
              <a:t>100 </a:t>
            </a:r>
            <a:r>
              <a:rPr lang="en-US" altLang="ko-KR" sz="1400" b="1" dirty="0" err="1"/>
              <a:t>millicores</a:t>
            </a:r>
            <a:r>
              <a:rPr lang="en-US" altLang="ko-KR" sz="1400" dirty="0"/>
              <a:t>” of CPU.</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D554A7B-8E87-0EC0-BF20-32C3F71D4486}"/>
              </a:ext>
            </a:extLst>
          </p:cNvPr>
          <p:cNvGrpSpPr/>
          <p:nvPr/>
        </p:nvGrpSpPr>
        <p:grpSpPr>
          <a:xfrm>
            <a:off x="3047326" y="2167604"/>
            <a:ext cx="6097348" cy="3323987"/>
            <a:chOff x="3047326" y="2054315"/>
            <a:chExt cx="6097348" cy="3323987"/>
          </a:xfrm>
        </p:grpSpPr>
        <p:sp>
          <p:nvSpPr>
            <p:cNvPr id="8" name="TextBox 7">
              <a:extLst>
                <a:ext uri="{FF2B5EF4-FFF2-40B4-BE49-F238E27FC236}">
                  <a16:creationId xmlns:a16="http://schemas.microsoft.com/office/drawing/2014/main" id="{1A57D4A9-A1E3-1471-594A-143D0973F2FE}"/>
                </a:ext>
              </a:extLst>
            </p:cNvPr>
            <p:cNvSpPr txBox="1"/>
            <p:nvPr/>
          </p:nvSpPr>
          <p:spPr>
            <a:xfrm>
              <a:off x="3047326" y="2054315"/>
              <a:ext cx="6097348" cy="332398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a:solidFill>
                    <a:srgbClr val="FF0000"/>
                  </a:solidFill>
                </a:rPr>
                <a:t>Deployment</a:t>
              </a:r>
            </a:p>
            <a:p>
              <a:r>
                <a:rPr lang="en-US" altLang="ko-KR" sz="1000" b="1" dirty="0"/>
                <a:t>metadata:</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a:t>
              </a:r>
              <a:r>
                <a:rPr lang="en-US" altLang="ko-KR" sz="1000" b="1" dirty="0">
                  <a:solidFill>
                    <a:srgbClr val="FF0000"/>
                  </a:solidFill>
                </a:rPr>
                <a:t>replicas: 3</a:t>
              </a:r>
            </a:p>
            <a:p>
              <a:r>
                <a:rPr lang="en-US" altLang="ko-KR" sz="1000" b="1" dirty="0"/>
                <a:t>  template:</a:t>
              </a:r>
            </a:p>
            <a:p>
              <a:r>
                <a:rPr lang="en-US" altLang="ko-KR" sz="1000" b="1" dirty="0"/>
                <a:t>    metadata:</a:t>
              </a:r>
            </a:p>
            <a:p>
              <a:r>
                <a:rPr lang="en-US" altLang="ko-KR" sz="1000" b="1" dirty="0"/>
                <a:t>      name: </a:t>
              </a:r>
              <a:r>
                <a:rPr lang="en-US" altLang="ko-KR" sz="1000" b="1" dirty="0" err="1"/>
                <a:t>kubia</a:t>
              </a:r>
              <a:endParaRPr lang="en-US" altLang="ko-KR" sz="1000" b="1" dirty="0"/>
            </a:p>
            <a:p>
              <a:r>
                <a:rPr lang="en-US" altLang="ko-KR" sz="1000" b="1" dirty="0">
                  <a:solidFill>
                    <a:srgbClr val="FF0000"/>
                  </a:solidFill>
                </a:rPr>
                <a:t>      labels:</a:t>
              </a:r>
            </a:p>
            <a:p>
              <a:r>
                <a:rPr lang="en-US" altLang="ko-KR" sz="1000" b="1" dirty="0">
                  <a:solidFill>
                    <a:srgbClr val="FF0000"/>
                  </a:solidFill>
                </a:rPr>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image: </a:t>
              </a:r>
              <a:r>
                <a:rPr lang="en-US" altLang="ko-KR" sz="1000" b="1" dirty="0">
                  <a:solidFill>
                    <a:srgbClr val="FF0000"/>
                  </a:solidFill>
                </a:rPr>
                <a:t>knix008/kubia:v1</a:t>
              </a:r>
            </a:p>
            <a:p>
              <a:r>
                <a:rPr lang="en-US" altLang="ko-KR" sz="1000" b="1" dirty="0"/>
                <a:t>        name: </a:t>
              </a:r>
              <a:r>
                <a:rPr lang="en-US" altLang="ko-KR" sz="1000" b="1" dirty="0" err="1"/>
                <a:t>nodejs</a:t>
              </a:r>
              <a:endParaRPr lang="en-US" altLang="ko-KR" sz="1000" b="1" dirty="0"/>
            </a:p>
            <a:p>
              <a:r>
                <a:rPr lang="en-US" altLang="ko-KR" sz="1000" b="1" dirty="0"/>
                <a:t>        resources:</a:t>
              </a:r>
            </a:p>
            <a:p>
              <a:r>
                <a:rPr lang="en-US" altLang="ko-KR" sz="1000" b="1" dirty="0">
                  <a:solidFill>
                    <a:srgbClr val="FF0000"/>
                  </a:solidFill>
                </a:rPr>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100m</a:t>
              </a:r>
            </a:p>
            <a:p>
              <a:r>
                <a:rPr lang="en-US" altLang="ko-KR" sz="1000" b="1" dirty="0"/>
                <a:t>  selector:</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a:t>
              </a:r>
              <a:r>
                <a:rPr lang="en-US" altLang="ko-KR" sz="1000" b="1" dirty="0" err="1">
                  <a:solidFill>
                    <a:srgbClr val="FF0000"/>
                  </a:solidFill>
                </a:rPr>
                <a:t>kubia</a:t>
              </a:r>
              <a:endParaRPr lang="ko-KR" altLang="en-US" sz="1000" b="1" dirty="0">
                <a:solidFill>
                  <a:srgbClr val="FF0000"/>
                </a:solidFill>
              </a:endParaRPr>
            </a:p>
          </p:txBody>
        </p:sp>
        <p:sp>
          <p:nvSpPr>
            <p:cNvPr id="9" name="TextBox 8">
              <a:extLst>
                <a:ext uri="{FF2B5EF4-FFF2-40B4-BE49-F238E27FC236}">
                  <a16:creationId xmlns:a16="http://schemas.microsoft.com/office/drawing/2014/main" id="{F5ABB67D-77F0-A9A4-B6C8-4C03BAC39EDD}"/>
                </a:ext>
              </a:extLst>
            </p:cNvPr>
            <p:cNvSpPr txBox="1"/>
            <p:nvPr/>
          </p:nvSpPr>
          <p:spPr>
            <a:xfrm>
              <a:off x="7902026" y="2054315"/>
              <a:ext cx="1242648" cy="246221"/>
            </a:xfrm>
            <a:prstGeom prst="rect">
              <a:avLst/>
            </a:prstGeom>
            <a:noFill/>
          </p:spPr>
          <p:txBody>
            <a:bodyPr wrap="none" rtlCol="0">
              <a:spAutoFit/>
            </a:bodyPr>
            <a:lstStyle/>
            <a:p>
              <a:pPr algn="l"/>
              <a:r>
                <a:rPr lang="en-US" altLang="ko-KR" sz="1000" b="1" dirty="0" err="1"/>
                <a:t>deployment.yaml</a:t>
              </a:r>
              <a:endParaRPr lang="ko-KR" altLang="en-US" sz="1000" b="1" dirty="0"/>
            </a:p>
          </p:txBody>
        </p:sp>
      </p:grpSp>
    </p:spTree>
    <p:extLst>
      <p:ext uri="{BB962C8B-B14F-4D97-AF65-F5344CB8AC3E}">
        <p14:creationId xmlns:p14="http://schemas.microsoft.com/office/powerpoint/2010/main" val="3770495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Autoscaling(10/27)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After creating the Deployment, to enable horizontal autoscaling of its pods, you need to create a </a:t>
            </a:r>
            <a:r>
              <a:rPr lang="en-US" altLang="ko-KR" sz="1400" b="1" dirty="0" err="1">
                <a:solidFill>
                  <a:srgbClr val="FF0000"/>
                </a:solidFill>
              </a:rPr>
              <a:t>HorizontalPodAutoscaler</a:t>
            </a:r>
            <a:r>
              <a:rPr lang="en-US" altLang="ko-KR" sz="1400" b="1" dirty="0">
                <a:solidFill>
                  <a:srgbClr val="FF0000"/>
                </a:solidFill>
              </a:rPr>
              <a:t> (HPA) object</a:t>
            </a:r>
            <a:r>
              <a:rPr lang="en-US" altLang="ko-KR" sz="1400" b="1" dirty="0"/>
              <a:t> and point it to the Deployment</a:t>
            </a:r>
            <a:r>
              <a:rPr lang="en-US" altLang="ko-KR" sz="1400" dirty="0"/>
              <a:t>. You could prepare and post the YAML manifest for the HPA, but an easier way exists—using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a:t>
            </a:r>
            <a:r>
              <a:rPr lang="en-US" altLang="ko-KR" sz="1400" b="1" dirty="0" err="1">
                <a:solidFill>
                  <a:srgbClr val="FF0000"/>
                </a:solidFill>
              </a:rPr>
              <a:t>autoscale</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creates the HPA object for you and sets the Deployment called “</a:t>
            </a:r>
            <a:r>
              <a:rPr lang="en-US" altLang="ko-KR" sz="1400" b="1" dirty="0" err="1"/>
              <a:t>kubia</a:t>
            </a:r>
            <a:r>
              <a:rPr lang="en-US" altLang="ko-KR" sz="1400" b="1" dirty="0"/>
              <a:t>” as the </a:t>
            </a:r>
            <a:r>
              <a:rPr lang="en-US" altLang="ko-KR" sz="1400" b="1" dirty="0">
                <a:solidFill>
                  <a:srgbClr val="FF0000"/>
                </a:solidFill>
              </a:rPr>
              <a:t>scaling target</a:t>
            </a:r>
            <a:r>
              <a:rPr lang="en-US" altLang="ko-KR" sz="1400" dirty="0"/>
              <a:t>. You’re setting </a:t>
            </a:r>
            <a:r>
              <a:rPr lang="en-US" altLang="ko-KR" sz="1400" b="1" dirty="0"/>
              <a:t>the target CPU utilization of the pods </a:t>
            </a:r>
            <a:r>
              <a:rPr lang="en-US" altLang="ko-KR" sz="1400" dirty="0"/>
              <a:t>to 30% and specifying </a:t>
            </a:r>
            <a:r>
              <a:rPr lang="en-US" altLang="ko-KR" sz="1400" b="1" dirty="0"/>
              <a:t>the minimum and maximum number of replicas</a:t>
            </a:r>
            <a:r>
              <a:rPr lang="en-US" altLang="ko-KR" sz="1400" dirty="0"/>
              <a:t>. The </a:t>
            </a:r>
            <a:r>
              <a:rPr lang="en-US" altLang="ko-KR" sz="1400" b="1" dirty="0" err="1"/>
              <a:t>Autoscaler</a:t>
            </a:r>
            <a:r>
              <a:rPr lang="en-US" altLang="ko-KR" sz="1400" b="1" dirty="0"/>
              <a:t> will constantly keep adjusting the number of replicas to keep their CPU utilization around 30%, but it will never scale down to less than one or scale up to more than five replicas</a:t>
            </a:r>
            <a:r>
              <a:rPr lang="en-US" altLang="ko-KR" sz="1400" dirty="0"/>
              <a:t>.</a:t>
            </a:r>
          </a:p>
          <a:p>
            <a:pPr lvl="1">
              <a:buFont typeface="Wingdings" panose="05000000000000000000" pitchFamily="2" charset="2"/>
              <a:buChar char="§"/>
            </a:pPr>
            <a:r>
              <a:rPr lang="en-US" altLang="ko-KR" sz="1400" b="1" dirty="0"/>
              <a:t>TIP : Always make sure to </a:t>
            </a:r>
            <a:r>
              <a:rPr lang="en-US" altLang="ko-KR" sz="1400" b="1" dirty="0" err="1">
                <a:solidFill>
                  <a:srgbClr val="FF0000"/>
                </a:solidFill>
              </a:rPr>
              <a:t>autoscale</a:t>
            </a:r>
            <a:r>
              <a:rPr lang="en-US" altLang="ko-KR" sz="1400" b="1" dirty="0">
                <a:solidFill>
                  <a:srgbClr val="FF0000"/>
                </a:solidFill>
              </a:rPr>
              <a:t> Deployments </a:t>
            </a:r>
            <a:r>
              <a:rPr lang="en-US" altLang="ko-KR" sz="1400" b="1" dirty="0"/>
              <a:t>instead of the underlying </a:t>
            </a:r>
            <a:r>
              <a:rPr lang="en-US" altLang="ko-KR" sz="1400" b="1" dirty="0" err="1"/>
              <a:t>ReplicaSets</a:t>
            </a:r>
            <a:r>
              <a:rPr lang="en-US" altLang="ko-KR" sz="1400" dirty="0"/>
              <a:t>. This way, you ensure the desired replica count is preserved across application updates (remember that a Deployment creates a new </a:t>
            </a:r>
            <a:r>
              <a:rPr lang="en-US" altLang="ko-KR" sz="1400" dirty="0" err="1"/>
              <a:t>ReplicaSet</a:t>
            </a:r>
            <a:r>
              <a:rPr lang="en-US" altLang="ko-KR" sz="1400" dirty="0"/>
              <a:t> for each version). </a:t>
            </a:r>
            <a:r>
              <a:rPr lang="en-US" altLang="ko-KR" sz="1400" b="1" dirty="0"/>
              <a:t>The same rule applies to manual scaling</a:t>
            </a:r>
            <a:r>
              <a:rPr lang="en-US" altLang="ko-KR" sz="1400" dirty="0"/>
              <a:t>, as well.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6B282BD-1899-A48F-C84C-0BDA35B03DE4}"/>
              </a:ext>
            </a:extLst>
          </p:cNvPr>
          <p:cNvGrpSpPr/>
          <p:nvPr/>
        </p:nvGrpSpPr>
        <p:grpSpPr>
          <a:xfrm>
            <a:off x="838200" y="1902144"/>
            <a:ext cx="10515600" cy="2744303"/>
            <a:chOff x="838200" y="1902144"/>
            <a:chExt cx="10515600" cy="2744303"/>
          </a:xfrm>
        </p:grpSpPr>
        <p:sp>
          <p:nvSpPr>
            <p:cNvPr id="8" name="TextBox 7">
              <a:extLst>
                <a:ext uri="{FF2B5EF4-FFF2-40B4-BE49-F238E27FC236}">
                  <a16:creationId xmlns:a16="http://schemas.microsoft.com/office/drawing/2014/main" id="{BE6C5076-7460-457A-A5D8-85BC6A6B0D0E}"/>
                </a:ext>
              </a:extLst>
            </p:cNvPr>
            <p:cNvSpPr txBox="1"/>
            <p:nvPr/>
          </p:nvSpPr>
          <p:spPr>
            <a:xfrm>
              <a:off x="3047326" y="190214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err="1">
                  <a:solidFill>
                    <a:srgbClr val="FF0000"/>
                  </a:solidFill>
                </a:rPr>
                <a:t>autoscale</a:t>
              </a:r>
              <a:r>
                <a:rPr lang="en-US" altLang="ko-KR" sz="1000" b="1" dirty="0"/>
                <a:t> </a:t>
              </a:r>
              <a:r>
                <a:rPr lang="en-US" altLang="ko-KR" sz="1000" b="1" dirty="0">
                  <a:solidFill>
                    <a:srgbClr val="FF0000"/>
                  </a:solidFill>
                </a:rPr>
                <a:t>deployment </a:t>
              </a:r>
              <a:r>
                <a:rPr lang="en-US" altLang="ko-KR" sz="1000" b="1" dirty="0" err="1">
                  <a:solidFill>
                    <a:srgbClr val="FF0000"/>
                  </a:solidFill>
                </a:rPr>
                <a:t>kubia</a:t>
              </a:r>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-percent=30 --min=1 --max=5</a:t>
              </a:r>
            </a:p>
          </p:txBody>
        </p:sp>
        <p:sp>
          <p:nvSpPr>
            <p:cNvPr id="9" name="화살표: 아래쪽 8">
              <a:extLst>
                <a:ext uri="{FF2B5EF4-FFF2-40B4-BE49-F238E27FC236}">
                  <a16:creationId xmlns:a16="http://schemas.microsoft.com/office/drawing/2014/main" id="{8BACD693-FC47-08C5-3DF0-DC576E0C5DF1}"/>
                </a:ext>
              </a:extLst>
            </p:cNvPr>
            <p:cNvSpPr/>
            <p:nvPr/>
          </p:nvSpPr>
          <p:spPr>
            <a:xfrm>
              <a:off x="5861331" y="2152481"/>
              <a:ext cx="469338" cy="29940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F7CAC18-268B-40A5-F343-06B25A8FAB55}"/>
                </a:ext>
              </a:extLst>
            </p:cNvPr>
            <p:cNvPicPr>
              <a:picLocks noChangeAspect="1"/>
            </p:cNvPicPr>
            <p:nvPr/>
          </p:nvPicPr>
          <p:blipFill>
            <a:blip r:embed="rId2"/>
            <a:stretch>
              <a:fillRect/>
            </a:stretch>
          </p:blipFill>
          <p:spPr>
            <a:xfrm>
              <a:off x="838200" y="2473223"/>
              <a:ext cx="10515600" cy="2173224"/>
            </a:xfrm>
            <a:prstGeom prst="rect">
              <a:avLst/>
            </a:prstGeom>
          </p:spPr>
        </p:pic>
      </p:grpSp>
    </p:spTree>
    <p:extLst>
      <p:ext uri="{BB962C8B-B14F-4D97-AF65-F5344CB8AC3E}">
        <p14:creationId xmlns:p14="http://schemas.microsoft.com/office/powerpoint/2010/main" val="18411868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Autoscaling(11/27)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dirty="0"/>
              <a:t>Let’s look at </a:t>
            </a:r>
            <a:r>
              <a:rPr lang="en-US" altLang="ko-KR" sz="1400" b="1" dirty="0"/>
              <a:t>the definition of the </a:t>
            </a:r>
            <a:r>
              <a:rPr lang="en-US" altLang="ko-KR" sz="1400" b="1" dirty="0" err="1"/>
              <a:t>HorizontalPodAutoscaler</a:t>
            </a:r>
            <a:r>
              <a:rPr lang="en-US" altLang="ko-KR" sz="1400" b="1" dirty="0"/>
              <a:t> resource </a:t>
            </a:r>
            <a:r>
              <a:rPr lang="en-US" altLang="ko-KR" sz="1400" dirty="0"/>
              <a:t>to gain a better understanding of it. It’s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3" name="그룹 22">
            <a:extLst>
              <a:ext uri="{FF2B5EF4-FFF2-40B4-BE49-F238E27FC236}">
                <a16:creationId xmlns:a16="http://schemas.microsoft.com/office/drawing/2014/main" id="{089BFE91-BF01-8EE3-C690-CA97D3596CB4}"/>
              </a:ext>
            </a:extLst>
          </p:cNvPr>
          <p:cNvGrpSpPr/>
          <p:nvPr/>
        </p:nvGrpSpPr>
        <p:grpSpPr>
          <a:xfrm>
            <a:off x="1412228" y="1668410"/>
            <a:ext cx="9367543" cy="4740620"/>
            <a:chOff x="1412228" y="1668410"/>
            <a:chExt cx="9367543" cy="4740620"/>
          </a:xfrm>
        </p:grpSpPr>
        <p:grpSp>
          <p:nvGrpSpPr>
            <p:cNvPr id="21" name="그룹 20">
              <a:extLst>
                <a:ext uri="{FF2B5EF4-FFF2-40B4-BE49-F238E27FC236}">
                  <a16:creationId xmlns:a16="http://schemas.microsoft.com/office/drawing/2014/main" id="{59D16DE4-7BD1-F6F7-2D2E-2EC828C7A664}"/>
                </a:ext>
              </a:extLst>
            </p:cNvPr>
            <p:cNvGrpSpPr/>
            <p:nvPr/>
          </p:nvGrpSpPr>
          <p:grpSpPr>
            <a:xfrm>
              <a:off x="1412228" y="1668410"/>
              <a:ext cx="9367543" cy="4740620"/>
              <a:chOff x="1412228" y="1668410"/>
              <a:chExt cx="9367543" cy="4740620"/>
            </a:xfrm>
          </p:grpSpPr>
          <p:sp>
            <p:nvSpPr>
              <p:cNvPr id="8" name="TextBox 7">
                <a:extLst>
                  <a:ext uri="{FF2B5EF4-FFF2-40B4-BE49-F238E27FC236}">
                    <a16:creationId xmlns:a16="http://schemas.microsoft.com/office/drawing/2014/main" id="{B4A410D0-E3C3-670A-B93E-2A58B0A99AFB}"/>
                  </a:ext>
                </a:extLst>
              </p:cNvPr>
              <p:cNvSpPr txBox="1"/>
              <p:nvPr/>
            </p:nvSpPr>
            <p:spPr>
              <a:xfrm>
                <a:off x="3047326" y="166841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hpa.v2.autoscaling </a:t>
                </a:r>
                <a:r>
                  <a:rPr lang="en-US" altLang="ko-KR" sz="1000" b="1" dirty="0" err="1">
                    <a:solidFill>
                      <a:srgbClr val="FF0000"/>
                    </a:solidFill>
                  </a:rPr>
                  <a:t>kubia</a:t>
                </a:r>
                <a:r>
                  <a:rPr lang="en-US" altLang="ko-KR" sz="1000" b="1" dirty="0">
                    <a:solidFill>
                      <a:srgbClr val="FF0000"/>
                    </a:solidFill>
                  </a:rPr>
                  <a:t>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65ADA7E-9035-118E-73BB-C1EF4F809678}"/>
                  </a:ext>
                </a:extLst>
              </p:cNvPr>
              <p:cNvSpPr/>
              <p:nvPr/>
            </p:nvSpPr>
            <p:spPr>
              <a:xfrm>
                <a:off x="5873469" y="1914631"/>
                <a:ext cx="445062" cy="3106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3EB7ACAA-220F-5105-39B2-7274C684A822}"/>
                  </a:ext>
                </a:extLst>
              </p:cNvPr>
              <p:cNvGrpSpPr/>
              <p:nvPr/>
            </p:nvGrpSpPr>
            <p:grpSpPr>
              <a:xfrm>
                <a:off x="1412228" y="2225310"/>
                <a:ext cx="9367543" cy="4183720"/>
                <a:chOff x="381000" y="2228850"/>
                <a:chExt cx="11430000" cy="4905375"/>
              </a:xfrm>
            </p:grpSpPr>
            <p:pic>
              <p:nvPicPr>
                <p:cNvPr id="11" name="그림 10">
                  <a:extLst>
                    <a:ext uri="{FF2B5EF4-FFF2-40B4-BE49-F238E27FC236}">
                      <a16:creationId xmlns:a16="http://schemas.microsoft.com/office/drawing/2014/main" id="{EAAFF831-089E-E683-F243-49803C9CF2BF}"/>
                    </a:ext>
                  </a:extLst>
                </p:cNvPr>
                <p:cNvPicPr>
                  <a:picLocks noChangeAspect="1"/>
                </p:cNvPicPr>
                <p:nvPr/>
              </p:nvPicPr>
              <p:blipFill>
                <a:blip r:embed="rId2"/>
                <a:stretch>
                  <a:fillRect/>
                </a:stretch>
              </p:blipFill>
              <p:spPr>
                <a:xfrm>
                  <a:off x="381000" y="2228850"/>
                  <a:ext cx="11430000" cy="2400300"/>
                </a:xfrm>
                <a:prstGeom prst="rect">
                  <a:avLst/>
                </a:prstGeom>
              </p:spPr>
            </p:pic>
            <p:pic>
              <p:nvPicPr>
                <p:cNvPr id="19" name="그림 18">
                  <a:extLst>
                    <a:ext uri="{FF2B5EF4-FFF2-40B4-BE49-F238E27FC236}">
                      <a16:creationId xmlns:a16="http://schemas.microsoft.com/office/drawing/2014/main" id="{9999949A-6433-B08D-AC72-B5FF06560234}"/>
                    </a:ext>
                  </a:extLst>
                </p:cNvPr>
                <p:cNvPicPr>
                  <a:picLocks noChangeAspect="1"/>
                </p:cNvPicPr>
                <p:nvPr/>
              </p:nvPicPr>
              <p:blipFill>
                <a:blip r:embed="rId3"/>
                <a:stretch>
                  <a:fillRect/>
                </a:stretch>
              </p:blipFill>
              <p:spPr>
                <a:xfrm>
                  <a:off x="381000" y="4629150"/>
                  <a:ext cx="11430000" cy="2505075"/>
                </a:xfrm>
                <a:prstGeom prst="rect">
                  <a:avLst/>
                </a:prstGeom>
              </p:spPr>
            </p:pic>
          </p:grpSp>
        </p:grpSp>
        <p:sp>
          <p:nvSpPr>
            <p:cNvPr id="22" name="직사각형 21">
              <a:extLst>
                <a:ext uri="{FF2B5EF4-FFF2-40B4-BE49-F238E27FC236}">
                  <a16:creationId xmlns:a16="http://schemas.microsoft.com/office/drawing/2014/main" id="{71958496-D58D-85F5-858A-376C01B80546}"/>
                </a:ext>
              </a:extLst>
            </p:cNvPr>
            <p:cNvSpPr/>
            <p:nvPr/>
          </p:nvSpPr>
          <p:spPr>
            <a:xfrm>
              <a:off x="1586040" y="4725748"/>
              <a:ext cx="1901628" cy="12623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655156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Whole Output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Autoscaler</a:t>
            </a:r>
            <a:r>
              <a:rPr lang="en-US" altLang="ko-KR" sz="1800" b="1" dirty="0"/>
              <a:t> :</a:t>
            </a:r>
          </a:p>
          <a:p>
            <a:pPr lvl="1">
              <a:buFont typeface="Wingdings" panose="05000000000000000000" pitchFamily="2" charset="2"/>
              <a:buChar char="§"/>
            </a:pPr>
            <a:r>
              <a:rPr lang="en-US" altLang="ko-KR" sz="1400" dirty="0"/>
              <a:t>You can see the following screenshot for more information from the output of the previous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C9FC0D1-AAB0-B14A-8846-681ECAAAD03A}"/>
              </a:ext>
            </a:extLst>
          </p:cNvPr>
          <p:cNvPicPr>
            <a:picLocks noChangeAspect="1"/>
          </p:cNvPicPr>
          <p:nvPr/>
        </p:nvPicPr>
        <p:blipFill>
          <a:blip r:embed="rId2"/>
          <a:stretch>
            <a:fillRect/>
          </a:stretch>
        </p:blipFill>
        <p:spPr>
          <a:xfrm>
            <a:off x="1133222" y="1462686"/>
            <a:ext cx="9925556" cy="4846980"/>
          </a:xfrm>
          <a:prstGeom prst="rect">
            <a:avLst/>
          </a:prstGeom>
        </p:spPr>
      </p:pic>
      <p:sp>
        <p:nvSpPr>
          <p:cNvPr id="9" name="직사각형 8">
            <a:extLst>
              <a:ext uri="{FF2B5EF4-FFF2-40B4-BE49-F238E27FC236}">
                <a16:creationId xmlns:a16="http://schemas.microsoft.com/office/drawing/2014/main" id="{C052A074-5B85-1BA1-F67E-34BF5D89EB0C}"/>
              </a:ext>
            </a:extLst>
          </p:cNvPr>
          <p:cNvSpPr/>
          <p:nvPr/>
        </p:nvSpPr>
        <p:spPr>
          <a:xfrm>
            <a:off x="1327094" y="5583505"/>
            <a:ext cx="1351370" cy="2913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654944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Autoscaling(12/27)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It takes a while for </a:t>
            </a:r>
            <a:r>
              <a:rPr lang="en-US" altLang="ko-KR" sz="1400" b="1" dirty="0" err="1"/>
              <a:t>cAdvisor</a:t>
            </a:r>
            <a:r>
              <a:rPr lang="en-US" altLang="ko-KR" sz="1400" b="1" dirty="0"/>
              <a:t> to get the CPU metrics and for </a:t>
            </a:r>
            <a:r>
              <a:rPr lang="en-US" altLang="ko-KR" sz="1400" b="1" dirty="0" err="1"/>
              <a:t>Heapster</a:t>
            </a:r>
            <a:r>
              <a:rPr lang="en-US" altLang="ko-KR" sz="1400" b="1" dirty="0"/>
              <a:t>(metrics-server in </a:t>
            </a:r>
            <a:r>
              <a:rPr lang="en-US" altLang="ko-KR" sz="1400" b="1" dirty="0" err="1"/>
              <a:t>Minikube</a:t>
            </a:r>
            <a:r>
              <a:rPr lang="en-US" altLang="ko-KR" sz="1400" b="1" dirty="0"/>
              <a:t>) to collect them before the </a:t>
            </a:r>
            <a:r>
              <a:rPr lang="en-US" altLang="ko-KR" sz="1400" b="1" dirty="0" err="1"/>
              <a:t>Autoscaler</a:t>
            </a:r>
            <a:r>
              <a:rPr lang="en-US" altLang="ko-KR" sz="1400" b="1" dirty="0"/>
              <a:t> can take action</a:t>
            </a:r>
            <a:r>
              <a:rPr lang="en-US" altLang="ko-KR" sz="1400" dirty="0"/>
              <a:t>. During that time, if you </a:t>
            </a:r>
            <a:r>
              <a:rPr lang="en-US" altLang="ko-KR" sz="1400" b="1" dirty="0"/>
              <a:t>display the HPA resource with “$ </a:t>
            </a:r>
            <a:r>
              <a:rPr lang="en-US" altLang="ko-KR" sz="1400" b="1" dirty="0" err="1"/>
              <a:t>kubectl</a:t>
            </a:r>
            <a:r>
              <a:rPr lang="en-US" altLang="ko-KR" sz="1400" b="1" dirty="0"/>
              <a:t> get </a:t>
            </a:r>
            <a:r>
              <a:rPr lang="en-US" altLang="ko-KR" sz="1400" b="1" dirty="0" err="1"/>
              <a:t>hpa</a:t>
            </a:r>
            <a:r>
              <a:rPr lang="en-US" altLang="ko-KR" sz="1400" b="1" dirty="0"/>
              <a:t>”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Because you’re running three pods that are </a:t>
            </a:r>
            <a:r>
              <a:rPr lang="en-US" altLang="ko-KR" sz="1400" b="1" dirty="0">
                <a:solidFill>
                  <a:srgbClr val="FF0000"/>
                </a:solidFill>
              </a:rPr>
              <a:t>currently receiving no requests</a:t>
            </a:r>
            <a:r>
              <a:rPr lang="en-US" altLang="ko-KR" sz="1400" b="1" dirty="0"/>
              <a:t>, which means their CPU usage should be close to zero, you should expect </a:t>
            </a:r>
            <a:r>
              <a:rPr lang="en-US" altLang="ko-KR" sz="1400" b="1" dirty="0">
                <a:solidFill>
                  <a:srgbClr val="FF0000"/>
                </a:solidFill>
              </a:rPr>
              <a:t>the </a:t>
            </a:r>
            <a:r>
              <a:rPr lang="en-US" altLang="ko-KR" sz="1400" b="1" dirty="0" err="1">
                <a:solidFill>
                  <a:srgbClr val="FF0000"/>
                </a:solidFill>
              </a:rPr>
              <a:t>Autoscaler</a:t>
            </a:r>
            <a:r>
              <a:rPr lang="en-US" altLang="ko-KR" sz="1400" b="1" dirty="0">
                <a:solidFill>
                  <a:srgbClr val="FF0000"/>
                </a:solidFill>
              </a:rPr>
              <a:t> to scale them down to a single pod</a:t>
            </a:r>
            <a:r>
              <a:rPr lang="en-US" altLang="ko-KR" sz="1400" b="1" dirty="0"/>
              <a:t>, because even with a single pod, the CPU utilization will still be below the 30% target</a:t>
            </a:r>
            <a:r>
              <a:rPr lang="en-US" altLang="ko-KR" sz="1400" dirty="0"/>
              <a:t>. And sure enough, the </a:t>
            </a:r>
            <a:r>
              <a:rPr lang="en-US" altLang="ko-KR" sz="1400" b="1" dirty="0" err="1"/>
              <a:t>autoscaler</a:t>
            </a:r>
            <a:r>
              <a:rPr lang="en-US" altLang="ko-KR" sz="1400" dirty="0"/>
              <a:t> does exactly that. </a:t>
            </a:r>
            <a:r>
              <a:rPr lang="en-US" altLang="ko-KR" sz="1400" b="1" dirty="0"/>
              <a:t>It soon scales the Deployment down to a </a:t>
            </a:r>
            <a:r>
              <a:rPr lang="en-US" altLang="ko-KR" sz="1400" b="1" dirty="0">
                <a:solidFill>
                  <a:srgbClr val="FF0000"/>
                </a:solidFill>
              </a:rPr>
              <a:t>single replica</a:t>
            </a:r>
            <a:r>
              <a:rPr lang="en-US" altLang="ko-KR" sz="1400" b="1" dirty="0"/>
              <a:t>. </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1" name="그룹 20">
            <a:extLst>
              <a:ext uri="{FF2B5EF4-FFF2-40B4-BE49-F238E27FC236}">
                <a16:creationId xmlns:a16="http://schemas.microsoft.com/office/drawing/2014/main" id="{6E0FDD9B-21C3-09C6-DE2A-3ACF79D42042}"/>
              </a:ext>
            </a:extLst>
          </p:cNvPr>
          <p:cNvGrpSpPr/>
          <p:nvPr/>
        </p:nvGrpSpPr>
        <p:grpSpPr>
          <a:xfrm>
            <a:off x="838200" y="2008274"/>
            <a:ext cx="10515600" cy="2711256"/>
            <a:chOff x="838200" y="1894986"/>
            <a:chExt cx="10515600" cy="2711256"/>
          </a:xfrm>
        </p:grpSpPr>
        <p:grpSp>
          <p:nvGrpSpPr>
            <p:cNvPr id="18" name="그룹 17">
              <a:extLst>
                <a:ext uri="{FF2B5EF4-FFF2-40B4-BE49-F238E27FC236}">
                  <a16:creationId xmlns:a16="http://schemas.microsoft.com/office/drawing/2014/main" id="{8EA3543C-A9E1-1E04-8A61-BD74F6B22ACC}"/>
                </a:ext>
              </a:extLst>
            </p:cNvPr>
            <p:cNvGrpSpPr/>
            <p:nvPr/>
          </p:nvGrpSpPr>
          <p:grpSpPr>
            <a:xfrm>
              <a:off x="838200" y="1894986"/>
              <a:ext cx="10515600" cy="2711256"/>
              <a:chOff x="838200" y="1773606"/>
              <a:chExt cx="10515600" cy="2711256"/>
            </a:xfrm>
          </p:grpSpPr>
          <p:grpSp>
            <p:nvGrpSpPr>
              <p:cNvPr id="14" name="그룹 13">
                <a:extLst>
                  <a:ext uri="{FF2B5EF4-FFF2-40B4-BE49-F238E27FC236}">
                    <a16:creationId xmlns:a16="http://schemas.microsoft.com/office/drawing/2014/main" id="{76DEB303-4963-C28C-91C7-0BF078591D31}"/>
                  </a:ext>
                </a:extLst>
              </p:cNvPr>
              <p:cNvGrpSpPr/>
              <p:nvPr/>
            </p:nvGrpSpPr>
            <p:grpSpPr>
              <a:xfrm>
                <a:off x="3047326" y="1773606"/>
                <a:ext cx="6097348" cy="573084"/>
                <a:chOff x="3047326" y="1927355"/>
                <a:chExt cx="6097348" cy="573084"/>
              </a:xfrm>
            </p:grpSpPr>
            <p:sp>
              <p:nvSpPr>
                <p:cNvPr id="8" name="TextBox 7">
                  <a:extLst>
                    <a:ext uri="{FF2B5EF4-FFF2-40B4-BE49-F238E27FC236}">
                      <a16:creationId xmlns:a16="http://schemas.microsoft.com/office/drawing/2014/main" id="{776D37D9-1A85-9018-BDA2-8A528ADC4623}"/>
                    </a:ext>
                  </a:extLst>
                </p:cNvPr>
                <p:cNvSpPr txBox="1"/>
                <p:nvPr/>
              </p:nvSpPr>
              <p:spPr>
                <a:xfrm>
                  <a:off x="3047326" y="192735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hpa</a:t>
                  </a:r>
                  <a:endParaRPr lang="en-US" altLang="ko-KR" sz="1000" b="1" dirty="0">
                    <a:solidFill>
                      <a:srgbClr val="FF0000"/>
                    </a:solidFill>
                  </a:endParaRPr>
                </a:p>
              </p:txBody>
            </p:sp>
            <p:sp>
              <p:nvSpPr>
                <p:cNvPr id="11" name="화살표: 아래쪽 10">
                  <a:extLst>
                    <a:ext uri="{FF2B5EF4-FFF2-40B4-BE49-F238E27FC236}">
                      <a16:creationId xmlns:a16="http://schemas.microsoft.com/office/drawing/2014/main" id="{B1FD91E8-C96D-18A9-5148-323C44837178}"/>
                    </a:ext>
                  </a:extLst>
                </p:cNvPr>
                <p:cNvSpPr/>
                <p:nvPr/>
              </p:nvSpPr>
              <p:spPr>
                <a:xfrm>
                  <a:off x="5873469" y="2173576"/>
                  <a:ext cx="445062" cy="32686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7" name="그림 16">
                <a:extLst>
                  <a:ext uri="{FF2B5EF4-FFF2-40B4-BE49-F238E27FC236}">
                    <a16:creationId xmlns:a16="http://schemas.microsoft.com/office/drawing/2014/main" id="{AFC15B3A-B6D0-5F2C-9F91-193A1211FB85}"/>
                  </a:ext>
                </a:extLst>
              </p:cNvPr>
              <p:cNvPicPr>
                <a:picLocks noChangeAspect="1"/>
              </p:cNvPicPr>
              <p:nvPr/>
            </p:nvPicPr>
            <p:blipFill>
              <a:blip r:embed="rId2"/>
              <a:stretch>
                <a:fillRect/>
              </a:stretch>
            </p:blipFill>
            <p:spPr>
              <a:xfrm>
                <a:off x="838200" y="2346690"/>
                <a:ext cx="10515600" cy="2138172"/>
              </a:xfrm>
              <a:prstGeom prst="rect">
                <a:avLst/>
              </a:prstGeom>
            </p:spPr>
          </p:pic>
        </p:grpSp>
        <p:sp>
          <p:nvSpPr>
            <p:cNvPr id="19" name="직사각형 18">
              <a:extLst>
                <a:ext uri="{FF2B5EF4-FFF2-40B4-BE49-F238E27FC236}">
                  <a16:creationId xmlns:a16="http://schemas.microsoft.com/office/drawing/2014/main" id="{73A95B46-ECA5-A23B-B28F-3431183DDDE9}"/>
                </a:ext>
              </a:extLst>
            </p:cNvPr>
            <p:cNvSpPr/>
            <p:nvPr/>
          </p:nvSpPr>
          <p:spPr>
            <a:xfrm>
              <a:off x="2848396" y="3115434"/>
              <a:ext cx="582627" cy="313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BAD76120-D82B-73A3-7AB9-938C5235D4D9}"/>
                </a:ext>
              </a:extLst>
            </p:cNvPr>
            <p:cNvSpPr/>
            <p:nvPr/>
          </p:nvSpPr>
          <p:spPr>
            <a:xfrm>
              <a:off x="862476" y="4152417"/>
              <a:ext cx="3385843" cy="1930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693793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Autoscaling(13/27)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Remember, the </a:t>
            </a:r>
            <a:r>
              <a:rPr lang="en-US" altLang="ko-KR" sz="1400" b="1" dirty="0" err="1"/>
              <a:t>autoscaler</a:t>
            </a:r>
            <a:r>
              <a:rPr lang="en-US" altLang="ko-KR" sz="1400" b="1" dirty="0"/>
              <a:t> only adjusts the desired replica count on the Deployment</a:t>
            </a:r>
            <a:r>
              <a:rPr lang="en-US" altLang="ko-KR" sz="1400" dirty="0"/>
              <a:t>. </a:t>
            </a:r>
            <a:r>
              <a:rPr lang="en-US" altLang="ko-KR" sz="1400" b="1" dirty="0"/>
              <a:t>The Deployment controller then takes care of updating the desired replica count on the </a:t>
            </a:r>
            <a:r>
              <a:rPr lang="en-US" altLang="ko-KR" sz="1400" b="1" dirty="0" err="1"/>
              <a:t>ReplicaSet</a:t>
            </a:r>
            <a:r>
              <a:rPr lang="en-US" altLang="ko-KR" sz="1400" b="1" dirty="0"/>
              <a:t> object</a:t>
            </a:r>
            <a:r>
              <a:rPr lang="en-US" altLang="ko-KR" sz="1400" dirty="0"/>
              <a:t>, which then causes the </a:t>
            </a:r>
            <a:r>
              <a:rPr lang="en-US" altLang="ko-KR" sz="1400" b="1" dirty="0" err="1"/>
              <a:t>ReplicaSet</a:t>
            </a:r>
            <a:r>
              <a:rPr lang="en-US" altLang="ko-KR" sz="1400" b="1" dirty="0"/>
              <a:t> controller to delete two excess pods</a:t>
            </a:r>
            <a:r>
              <a:rPr lang="en-US" altLang="ko-KR" sz="1400" dirty="0"/>
              <a:t>, leaving one pod running.</a:t>
            </a:r>
          </a:p>
          <a:p>
            <a:pPr lvl="1">
              <a:buFont typeface="Wingdings" panose="05000000000000000000" pitchFamily="2" charset="2"/>
              <a:buChar char="§"/>
            </a:pPr>
            <a:r>
              <a:rPr lang="en-US" altLang="ko-KR" sz="1400" dirty="0"/>
              <a:t>You can </a:t>
            </a:r>
            <a:r>
              <a:rPr lang="en-US" altLang="ko-KR" sz="1400" b="1" dirty="0"/>
              <a:t>use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a:t>
            </a:r>
            <a:r>
              <a:rPr lang="en-US" altLang="ko-KR" sz="1400" b="1" dirty="0" err="1">
                <a:solidFill>
                  <a:srgbClr val="FF0000"/>
                </a:solidFill>
              </a:rPr>
              <a:t>hpa</a:t>
            </a:r>
            <a:r>
              <a:rPr lang="en-US" altLang="ko-KR" sz="1400" b="1" dirty="0"/>
              <a:t>” command to see more information on the </a:t>
            </a:r>
            <a:r>
              <a:rPr lang="en-US" altLang="ko-KR" sz="1400" b="1" dirty="0" err="1"/>
              <a:t>HorizontalPodAutoscaler</a:t>
            </a:r>
            <a:r>
              <a:rPr lang="en-US" altLang="ko-KR" sz="1400" b="1" dirty="0"/>
              <a:t> </a:t>
            </a:r>
            <a:r>
              <a:rPr lang="en-US" altLang="ko-KR" sz="1400" dirty="0"/>
              <a:t>and the operation of the underlying controller, as the following screenshot shows.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E709E569-D443-1DBB-3EBB-3DCD798F91CF}"/>
              </a:ext>
            </a:extLst>
          </p:cNvPr>
          <p:cNvGrpSpPr/>
          <p:nvPr/>
        </p:nvGrpSpPr>
        <p:grpSpPr>
          <a:xfrm>
            <a:off x="838201" y="2276728"/>
            <a:ext cx="10515599" cy="4132302"/>
            <a:chOff x="838201" y="2276728"/>
            <a:chExt cx="10515599" cy="4132302"/>
          </a:xfrm>
        </p:grpSpPr>
        <p:grpSp>
          <p:nvGrpSpPr>
            <p:cNvPr id="12" name="그룹 11">
              <a:extLst>
                <a:ext uri="{FF2B5EF4-FFF2-40B4-BE49-F238E27FC236}">
                  <a16:creationId xmlns:a16="http://schemas.microsoft.com/office/drawing/2014/main" id="{06266986-50F9-49DA-1D26-4169B7E841E5}"/>
                </a:ext>
              </a:extLst>
            </p:cNvPr>
            <p:cNvGrpSpPr/>
            <p:nvPr/>
          </p:nvGrpSpPr>
          <p:grpSpPr>
            <a:xfrm>
              <a:off x="3047326" y="2276728"/>
              <a:ext cx="6097348" cy="589267"/>
              <a:chOff x="3047326" y="2388602"/>
              <a:chExt cx="6097348" cy="589267"/>
            </a:xfrm>
          </p:grpSpPr>
          <p:sp>
            <p:nvSpPr>
              <p:cNvPr id="8" name="TextBox 7">
                <a:extLst>
                  <a:ext uri="{FF2B5EF4-FFF2-40B4-BE49-F238E27FC236}">
                    <a16:creationId xmlns:a16="http://schemas.microsoft.com/office/drawing/2014/main" id="{10C9CF0B-D6A8-C3F1-BF28-FFB7F5FE4C7D}"/>
                  </a:ext>
                </a:extLst>
              </p:cNvPr>
              <p:cNvSpPr txBox="1"/>
              <p:nvPr/>
            </p:nvSpPr>
            <p:spPr>
              <a:xfrm>
                <a:off x="3047326" y="238860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err="1">
                    <a:solidFill>
                      <a:srgbClr val="FF0000"/>
                    </a:solidFill>
                  </a:rPr>
                  <a:t>hpa</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27A9D49-5964-B63A-744D-BABC863F5114}"/>
                  </a:ext>
                </a:extLst>
              </p:cNvPr>
              <p:cNvSpPr/>
              <p:nvPr/>
            </p:nvSpPr>
            <p:spPr>
              <a:xfrm>
                <a:off x="5853239" y="2662280"/>
                <a:ext cx="485522" cy="31558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470FE209-D27E-F99D-A81B-CD468353313F}"/>
                </a:ext>
              </a:extLst>
            </p:cNvPr>
            <p:cNvPicPr>
              <a:picLocks noChangeAspect="1"/>
            </p:cNvPicPr>
            <p:nvPr/>
          </p:nvPicPr>
          <p:blipFill>
            <a:blip r:embed="rId2"/>
            <a:stretch>
              <a:fillRect/>
            </a:stretch>
          </p:blipFill>
          <p:spPr>
            <a:xfrm>
              <a:off x="838201" y="2865995"/>
              <a:ext cx="10515599" cy="3543035"/>
            </a:xfrm>
            <a:prstGeom prst="rect">
              <a:avLst/>
            </a:prstGeom>
          </p:spPr>
        </p:pic>
      </p:grpSp>
      <p:sp>
        <p:nvSpPr>
          <p:cNvPr id="14" name="직사각형 13">
            <a:extLst>
              <a:ext uri="{FF2B5EF4-FFF2-40B4-BE49-F238E27FC236}">
                <a16:creationId xmlns:a16="http://schemas.microsoft.com/office/drawing/2014/main" id="{E692C15F-23CE-E4C5-F9C0-EFB0AF754AA6}"/>
              </a:ext>
            </a:extLst>
          </p:cNvPr>
          <p:cNvSpPr/>
          <p:nvPr/>
        </p:nvSpPr>
        <p:spPr>
          <a:xfrm>
            <a:off x="4995483" y="3305890"/>
            <a:ext cx="1337883" cy="181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137781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Autoscaling(14/27)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Now, you’ll start sending requests to your pod, thereby increasing its CPU usage, and you should </a:t>
            </a:r>
            <a:r>
              <a:rPr lang="en-US" altLang="ko-KR" sz="1400" b="1" dirty="0">
                <a:solidFill>
                  <a:srgbClr val="FF0000"/>
                </a:solidFill>
              </a:rPr>
              <a:t>see the </a:t>
            </a:r>
            <a:r>
              <a:rPr lang="en-US" altLang="ko-KR" sz="1400" b="1" dirty="0" err="1">
                <a:solidFill>
                  <a:srgbClr val="FF0000"/>
                </a:solidFill>
              </a:rPr>
              <a:t>autoscaler</a:t>
            </a:r>
            <a:r>
              <a:rPr lang="en-US" altLang="ko-KR" sz="1400" b="1" dirty="0">
                <a:solidFill>
                  <a:srgbClr val="FF0000"/>
                </a:solidFill>
              </a:rPr>
              <a:t> detect this and start up additional pods</a:t>
            </a:r>
            <a:r>
              <a:rPr lang="en-US" altLang="ko-KR" sz="1400" dirty="0"/>
              <a:t>.</a:t>
            </a:r>
          </a:p>
          <a:p>
            <a:pPr lvl="1">
              <a:buFont typeface="Wingdings" panose="05000000000000000000" pitchFamily="2" charset="2"/>
              <a:buChar char="§"/>
            </a:pPr>
            <a:r>
              <a:rPr lang="en-US" altLang="ko-KR" sz="1400" b="1" dirty="0"/>
              <a:t>You’ll need to expose the pods through a Service</a:t>
            </a:r>
            <a:r>
              <a:rPr lang="en-US" altLang="ko-KR" sz="1400" dirty="0"/>
              <a:t>, </a:t>
            </a:r>
            <a:r>
              <a:rPr lang="en-US" altLang="ko-KR" sz="1400" b="1" dirty="0"/>
              <a:t>so you can hit all of them through a single URL</a:t>
            </a:r>
            <a:r>
              <a:rPr lang="en-US" altLang="ko-KR" sz="1400" dirty="0"/>
              <a:t>. You may remember that the easiest way to do that is with “</a:t>
            </a:r>
            <a:r>
              <a:rPr lang="en-US" altLang="ko-KR" sz="1400" b="1" dirty="0"/>
              <a:t>$ </a:t>
            </a:r>
            <a:r>
              <a:rPr lang="en-US" altLang="ko-KR" sz="1400" b="1" dirty="0" err="1"/>
              <a:t>kubectl</a:t>
            </a:r>
            <a:r>
              <a:rPr lang="en-US" altLang="ko-KR" sz="1400" b="1" dirty="0"/>
              <a:t> expose</a:t>
            </a:r>
            <a:r>
              <a:rPr lang="en-US" altLang="ko-KR" sz="1400" dirty="0"/>
              <a:t>”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B314A0E-CE8D-F0F9-F7FC-7B8B0FE20FB7}"/>
              </a:ext>
            </a:extLst>
          </p:cNvPr>
          <p:cNvGrpSpPr/>
          <p:nvPr/>
        </p:nvGrpSpPr>
        <p:grpSpPr>
          <a:xfrm>
            <a:off x="838200" y="2417281"/>
            <a:ext cx="10515600" cy="2296195"/>
            <a:chOff x="838200" y="2678980"/>
            <a:chExt cx="10515600" cy="2296195"/>
          </a:xfrm>
        </p:grpSpPr>
        <p:sp>
          <p:nvSpPr>
            <p:cNvPr id="8" name="TextBox 7">
              <a:extLst>
                <a:ext uri="{FF2B5EF4-FFF2-40B4-BE49-F238E27FC236}">
                  <a16:creationId xmlns:a16="http://schemas.microsoft.com/office/drawing/2014/main" id="{BC48C17E-A451-998F-9575-5A2F5A6E21CD}"/>
                </a:ext>
              </a:extLst>
            </p:cNvPr>
            <p:cNvSpPr txBox="1"/>
            <p:nvPr/>
          </p:nvSpPr>
          <p:spPr>
            <a:xfrm>
              <a:off x="3047326" y="2678980"/>
              <a:ext cx="6097348" cy="246221"/>
            </a:xfrm>
            <a:prstGeom prst="rect">
              <a:avLst/>
            </a:prstGeom>
            <a:noFill/>
            <a:ln>
              <a:solidFill>
                <a:schemeClr val="bg1">
                  <a:lumMod val="50000"/>
                </a:schemeClr>
              </a:solidFill>
            </a:ln>
          </p:spPr>
          <p:txBody>
            <a:bodyPr wrap="square">
              <a:spAutoFit/>
            </a:bodyPr>
            <a:lstStyle/>
            <a:p>
              <a:r>
                <a:rPr lang="fr-FR" altLang="ko-KR" sz="1000" b="1" dirty="0"/>
                <a:t>$ kubectl expose </a:t>
              </a:r>
              <a:r>
                <a:rPr lang="fr-FR" altLang="ko-KR" sz="1000" b="1" dirty="0">
                  <a:solidFill>
                    <a:srgbClr val="FF0000"/>
                  </a:solidFill>
                </a:rPr>
                <a:t>deployment kubia --port=80 --target-port=8080</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AA5C6FD-E70D-D0AD-DCBF-13251FF48D4B}"/>
                </a:ext>
              </a:extLst>
            </p:cNvPr>
            <p:cNvSpPr/>
            <p:nvPr/>
          </p:nvSpPr>
          <p:spPr>
            <a:xfrm>
              <a:off x="5873469" y="2925201"/>
              <a:ext cx="445062" cy="34085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C80A42CA-9576-D4B7-2B4D-6F946643CC5E}"/>
                </a:ext>
              </a:extLst>
            </p:cNvPr>
            <p:cNvPicPr>
              <a:picLocks noChangeAspect="1"/>
            </p:cNvPicPr>
            <p:nvPr/>
          </p:nvPicPr>
          <p:blipFill>
            <a:blip r:embed="rId2"/>
            <a:stretch>
              <a:fillRect/>
            </a:stretch>
          </p:blipFill>
          <p:spPr>
            <a:xfrm>
              <a:off x="838200" y="3266053"/>
              <a:ext cx="10515600" cy="1709122"/>
            </a:xfrm>
            <a:prstGeom prst="rect">
              <a:avLst/>
            </a:prstGeom>
          </p:spPr>
        </p:pic>
      </p:grpSp>
    </p:spTree>
    <p:extLst>
      <p:ext uri="{BB962C8B-B14F-4D97-AF65-F5344CB8AC3E}">
        <p14:creationId xmlns:p14="http://schemas.microsoft.com/office/powerpoint/2010/main" val="1079418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Autoscaling(15/27)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dirty="0"/>
              <a:t>Before you start hitting your pod(s) with requests, you may want to </a:t>
            </a:r>
            <a:r>
              <a:rPr lang="en-US" altLang="ko-KR" sz="1400" b="1" dirty="0"/>
              <a:t>run the following command in a separate terminal to keep an eye on what’s happening with the </a:t>
            </a:r>
            <a:r>
              <a:rPr lang="en-US" altLang="ko-KR" sz="1400" b="1" dirty="0" err="1"/>
              <a:t>HorizontalPodAutoscaler</a:t>
            </a:r>
            <a:r>
              <a:rPr lang="en-US" altLang="ko-KR" sz="1400" b="1" dirty="0"/>
              <a:t> and the Deployment</a:t>
            </a:r>
            <a:r>
              <a:rPr lang="en-US" altLang="ko-KR" sz="1400" dirty="0"/>
              <a:t>, as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List multiple resource types with “$ </a:t>
            </a:r>
            <a:r>
              <a:rPr lang="en-US" altLang="ko-KR" sz="1400" b="1" dirty="0" err="1"/>
              <a:t>kubectl</a:t>
            </a:r>
            <a:r>
              <a:rPr lang="en-US" altLang="ko-KR" sz="1400" b="1" dirty="0"/>
              <a:t> get” command by delimiting them with a comma</a:t>
            </a:r>
            <a:r>
              <a:rPr lang="en-US" altLang="ko-KR" sz="1400" dirty="0"/>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If you’re using OSX, you’ll have to replace the “watch” command with a loop, manually run “$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get” periodically, or use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“--watch” option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although a plain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get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can show multiple types of resources at once, that’s not the case when using the aforementioned “--watch” option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so you’ll need to use two terminals if you want to watch both the HPA and the Deployment objects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611CC03E-E39A-3C55-1763-555F427B3DE1}"/>
              </a:ext>
            </a:extLst>
          </p:cNvPr>
          <p:cNvGrpSpPr/>
          <p:nvPr/>
        </p:nvGrpSpPr>
        <p:grpSpPr>
          <a:xfrm>
            <a:off x="838200" y="1967815"/>
            <a:ext cx="10515600" cy="2296735"/>
            <a:chOff x="838200" y="1967815"/>
            <a:chExt cx="10515600" cy="2296735"/>
          </a:xfrm>
        </p:grpSpPr>
        <p:grpSp>
          <p:nvGrpSpPr>
            <p:cNvPr id="12" name="그룹 11">
              <a:extLst>
                <a:ext uri="{FF2B5EF4-FFF2-40B4-BE49-F238E27FC236}">
                  <a16:creationId xmlns:a16="http://schemas.microsoft.com/office/drawing/2014/main" id="{5204D01B-5C83-6394-5B36-3130B7407534}"/>
                </a:ext>
              </a:extLst>
            </p:cNvPr>
            <p:cNvGrpSpPr/>
            <p:nvPr/>
          </p:nvGrpSpPr>
          <p:grpSpPr>
            <a:xfrm>
              <a:off x="3047326" y="1967815"/>
              <a:ext cx="6097348" cy="564992"/>
              <a:chOff x="3047326" y="1854527"/>
              <a:chExt cx="6097348" cy="564992"/>
            </a:xfrm>
          </p:grpSpPr>
          <p:sp>
            <p:nvSpPr>
              <p:cNvPr id="8" name="TextBox 7">
                <a:extLst>
                  <a:ext uri="{FF2B5EF4-FFF2-40B4-BE49-F238E27FC236}">
                    <a16:creationId xmlns:a16="http://schemas.microsoft.com/office/drawing/2014/main" id="{30A19E0A-AE32-F149-A0B3-77523B609BD7}"/>
                  </a:ext>
                </a:extLst>
              </p:cNvPr>
              <p:cNvSpPr txBox="1"/>
              <p:nvPr/>
            </p:nvSpPr>
            <p:spPr>
              <a:xfrm>
                <a:off x="3047326" y="1854527"/>
                <a:ext cx="6097348" cy="246221"/>
              </a:xfrm>
              <a:prstGeom prst="rect">
                <a:avLst/>
              </a:prstGeom>
              <a:noFill/>
              <a:ln>
                <a:solidFill>
                  <a:schemeClr val="bg1">
                    <a:lumMod val="50000"/>
                  </a:schemeClr>
                </a:solidFill>
              </a:ln>
            </p:spPr>
            <p:txBody>
              <a:bodyPr wrap="square">
                <a:spAutoFit/>
              </a:bodyPr>
              <a:lstStyle/>
              <a:p>
                <a:r>
                  <a:rPr lang="en-US" altLang="ko-KR" sz="1000" b="1" dirty="0"/>
                  <a:t>$ watch </a:t>
                </a:r>
                <a:r>
                  <a:rPr lang="en-US" altLang="ko-KR" sz="1000" b="1" dirty="0">
                    <a:solidFill>
                      <a:srgbClr val="FF0000"/>
                    </a:solidFill>
                  </a:rPr>
                  <a:t>-n 1 </a:t>
                </a:r>
                <a:r>
                  <a:rPr lang="en-US" altLang="ko-KR" sz="1000" b="1" dirty="0" err="1">
                    <a:solidFill>
                      <a:srgbClr val="FF0000"/>
                    </a:solidFill>
                  </a:rPr>
                  <a:t>kubectl</a:t>
                </a:r>
                <a:r>
                  <a:rPr lang="en-US" altLang="ko-KR" sz="1000" b="1" dirty="0">
                    <a:solidFill>
                      <a:srgbClr val="FF0000"/>
                    </a:solidFill>
                  </a:rPr>
                  <a:t> get </a:t>
                </a:r>
                <a:r>
                  <a:rPr lang="en-US" altLang="ko-KR" sz="1000" b="1" dirty="0" err="1">
                    <a:solidFill>
                      <a:srgbClr val="FF0000"/>
                    </a:solidFill>
                  </a:rPr>
                  <a:t>hpa,deployment</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FBA459C-A010-D1E2-E8ED-33A8F8F2985B}"/>
                  </a:ext>
                </a:extLst>
              </p:cNvPr>
              <p:cNvSpPr/>
              <p:nvPr/>
            </p:nvSpPr>
            <p:spPr>
              <a:xfrm>
                <a:off x="5842449" y="2100533"/>
                <a:ext cx="445063" cy="31898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그림 18">
              <a:extLst>
                <a:ext uri="{FF2B5EF4-FFF2-40B4-BE49-F238E27FC236}">
                  <a16:creationId xmlns:a16="http://schemas.microsoft.com/office/drawing/2014/main" id="{AE24DFBA-2131-4C5E-6A70-62015059D911}"/>
                </a:ext>
              </a:extLst>
            </p:cNvPr>
            <p:cNvPicPr>
              <a:picLocks noChangeAspect="1"/>
            </p:cNvPicPr>
            <p:nvPr/>
          </p:nvPicPr>
          <p:blipFill>
            <a:blip r:embed="rId2"/>
            <a:stretch>
              <a:fillRect/>
            </a:stretch>
          </p:blipFill>
          <p:spPr>
            <a:xfrm>
              <a:off x="838200" y="2547002"/>
              <a:ext cx="10515600" cy="1717548"/>
            </a:xfrm>
            <a:prstGeom prst="rect">
              <a:avLst/>
            </a:prstGeom>
          </p:spPr>
        </p:pic>
      </p:grpSp>
      <p:sp>
        <p:nvSpPr>
          <p:cNvPr id="21" name="직사각형 20">
            <a:extLst>
              <a:ext uri="{FF2B5EF4-FFF2-40B4-BE49-F238E27FC236}">
                <a16:creationId xmlns:a16="http://schemas.microsoft.com/office/drawing/2014/main" id="{4CF19665-04C5-041E-FF06-10499B876757}"/>
              </a:ext>
            </a:extLst>
          </p:cNvPr>
          <p:cNvSpPr/>
          <p:nvPr/>
        </p:nvSpPr>
        <p:spPr>
          <a:xfrm>
            <a:off x="1755972" y="3018329"/>
            <a:ext cx="1974456" cy="2184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2F053D30-0273-95DA-D502-E080495083C6}"/>
              </a:ext>
            </a:extLst>
          </p:cNvPr>
          <p:cNvSpPr/>
          <p:nvPr/>
        </p:nvSpPr>
        <p:spPr>
          <a:xfrm>
            <a:off x="946768" y="3908453"/>
            <a:ext cx="4402068" cy="2184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259314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Autoscaling(16/27)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dirty="0"/>
              <a:t>Keep an eye on the state of those two objects while you run a load-generating pod. You’ll </a:t>
            </a:r>
            <a:r>
              <a:rPr lang="en-US" altLang="ko-KR" sz="1400" b="1" dirty="0"/>
              <a:t>run the following command</a:t>
            </a:r>
            <a:r>
              <a:rPr lang="en-US" altLang="ko-KR" sz="1400" dirty="0"/>
              <a:t> in another terminal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will run a pod which repeatedly hits the “</a:t>
            </a:r>
            <a:r>
              <a:rPr lang="en-US" altLang="ko-KR" sz="1400" b="1" dirty="0" err="1"/>
              <a:t>kubia</a:t>
            </a:r>
            <a:r>
              <a:rPr lang="en-US" altLang="ko-KR" sz="1400" b="1" dirty="0"/>
              <a:t>” Service</a:t>
            </a:r>
            <a:r>
              <a:rPr lang="en-US" altLang="ko-KR" sz="1400" dirty="0"/>
              <a:t>. You’ve seen the “</a:t>
            </a:r>
            <a:r>
              <a:rPr lang="en-US" altLang="ko-KR" sz="1400" b="1" dirty="0"/>
              <a:t>-it</a:t>
            </a:r>
            <a:r>
              <a:rPr lang="en-US" altLang="ko-KR" sz="1400" dirty="0"/>
              <a:t>” option a few times when running the “</a:t>
            </a:r>
            <a:r>
              <a:rPr lang="en-US" altLang="ko-KR" sz="1400" b="1" dirty="0"/>
              <a:t>$ </a:t>
            </a:r>
            <a:r>
              <a:rPr lang="en-US" altLang="ko-KR" sz="1400" b="1" dirty="0" err="1"/>
              <a:t>kubectl</a:t>
            </a:r>
            <a:r>
              <a:rPr lang="en-US" altLang="ko-KR" sz="1400" b="1" dirty="0"/>
              <a:t> exec</a:t>
            </a:r>
            <a:r>
              <a:rPr lang="en-US" altLang="ko-KR" sz="1400" dirty="0"/>
              <a:t>” command. As you can see, it can also be used with “</a:t>
            </a:r>
            <a:r>
              <a:rPr lang="en-US" altLang="ko-KR" sz="1400" b="1" dirty="0"/>
              <a:t>$ </a:t>
            </a:r>
            <a:r>
              <a:rPr lang="en-US" altLang="ko-KR" sz="1400" b="1" dirty="0" err="1"/>
              <a:t>kubectl</a:t>
            </a:r>
            <a:r>
              <a:rPr lang="en-US" altLang="ko-KR" sz="1400" b="1" dirty="0"/>
              <a:t> run</a:t>
            </a:r>
            <a:r>
              <a:rPr lang="en-US" altLang="ko-KR" sz="1400" dirty="0"/>
              <a:t>”. </a:t>
            </a:r>
            <a:r>
              <a:rPr lang="en-US" altLang="ko-KR" sz="1400" b="1" dirty="0"/>
              <a:t>It allows you to attach the console to the process, which will not only show you the process’ output directly, but will also terminate the process as soon as you press “CTRL+C”</a:t>
            </a:r>
            <a:r>
              <a:rPr lang="en-US" altLang="ko-KR" sz="1400" dirty="0"/>
              <a:t>. The “</a:t>
            </a:r>
            <a:r>
              <a:rPr lang="en-US" altLang="ko-KR" sz="1400" b="1" dirty="0"/>
              <a:t>--rm</a:t>
            </a:r>
            <a:r>
              <a:rPr lang="en-US" altLang="ko-KR" sz="1400" dirty="0"/>
              <a:t>” option causes the pod to be deleted afterward, and the “</a:t>
            </a:r>
            <a:r>
              <a:rPr lang="en-US" altLang="ko-KR" sz="1400" b="1" dirty="0"/>
              <a:t>--restart=Never</a:t>
            </a:r>
            <a:r>
              <a:rPr lang="en-US" altLang="ko-KR" sz="1400" dirty="0"/>
              <a:t>” option causes </a:t>
            </a:r>
            <a:r>
              <a:rPr lang="en-US" altLang="ko-KR" sz="1400" b="1" dirty="0"/>
              <a:t>“$ </a:t>
            </a:r>
            <a:r>
              <a:rPr lang="en-US" altLang="ko-KR" sz="1400" b="1" dirty="0" err="1"/>
              <a:t>kubectl</a:t>
            </a:r>
            <a:r>
              <a:rPr lang="en-US" altLang="ko-KR" sz="1400" b="1" dirty="0"/>
              <a:t> run” to create an unmanaged pod directly instead of through a Deployment object</a:t>
            </a:r>
            <a:r>
              <a:rPr lang="en-US" altLang="ko-KR" sz="1400" dirty="0"/>
              <a:t>, which you don’t need. </a:t>
            </a:r>
          </a:p>
          <a:p>
            <a:pPr lvl="1">
              <a:buFont typeface="Wingdings" panose="05000000000000000000" pitchFamily="2" charset="2"/>
              <a:buChar char="§"/>
            </a:pPr>
            <a:r>
              <a:rPr lang="en-US" altLang="ko-KR" sz="1400" b="1" dirty="0"/>
              <a:t>This combination of options is useful for running commands inside the cluster without having to piggyback on an existing pod</a:t>
            </a:r>
            <a:r>
              <a:rPr lang="en-US" altLang="ko-KR" sz="1400" dirty="0"/>
              <a:t>. It not only behaves the same as if you were running the command locally, it even cleans up everything when the command terminates.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650E9D4-01D7-B8D5-7B49-DD7B6AA9E12F}"/>
              </a:ext>
            </a:extLst>
          </p:cNvPr>
          <p:cNvGrpSpPr/>
          <p:nvPr/>
        </p:nvGrpSpPr>
        <p:grpSpPr>
          <a:xfrm>
            <a:off x="838200" y="1697974"/>
            <a:ext cx="10515600" cy="2400880"/>
            <a:chOff x="838200" y="1746527"/>
            <a:chExt cx="10515600" cy="2400880"/>
          </a:xfrm>
        </p:grpSpPr>
        <p:sp>
          <p:nvSpPr>
            <p:cNvPr id="8" name="TextBox 7">
              <a:extLst>
                <a:ext uri="{FF2B5EF4-FFF2-40B4-BE49-F238E27FC236}">
                  <a16:creationId xmlns:a16="http://schemas.microsoft.com/office/drawing/2014/main" id="{4163F504-82F4-B7FB-8C61-613CC14FF7D5}"/>
                </a:ext>
              </a:extLst>
            </p:cNvPr>
            <p:cNvSpPr txBox="1"/>
            <p:nvPr/>
          </p:nvSpPr>
          <p:spPr>
            <a:xfrm>
              <a:off x="3047326" y="1746527"/>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-it --rm --restart=Never </a:t>
              </a:r>
              <a:r>
                <a:rPr lang="en-US" altLang="ko-KR" sz="1000" b="1" dirty="0" err="1">
                  <a:solidFill>
                    <a:srgbClr val="FF0000"/>
                  </a:solidFill>
                </a:rPr>
                <a:t>loadgenerator</a:t>
              </a:r>
              <a:r>
                <a:rPr lang="en-US" altLang="ko-KR" sz="1000" b="1" dirty="0"/>
                <a:t> --image=</a:t>
              </a:r>
              <a:r>
                <a:rPr lang="en-US" altLang="ko-KR" sz="1000" b="1" dirty="0" err="1"/>
                <a:t>busybox</a:t>
              </a:r>
              <a:r>
                <a:rPr lang="en-US" altLang="ko-KR" sz="1000" b="1" dirty="0"/>
                <a:t> -- </a:t>
              </a:r>
              <a:r>
                <a:rPr lang="en-US" altLang="ko-KR" sz="1000" b="1" dirty="0" err="1"/>
                <a:t>sh</a:t>
              </a:r>
              <a:r>
                <a:rPr lang="en-US" altLang="ko-KR" sz="1000" b="1" dirty="0"/>
                <a:t> -c "while true; do </a:t>
              </a:r>
              <a:r>
                <a:rPr lang="en-US" altLang="ko-KR" sz="1000" b="1" dirty="0" err="1"/>
                <a:t>wget</a:t>
              </a:r>
              <a:r>
                <a:rPr lang="en-US" altLang="ko-KR" sz="1000" b="1" dirty="0"/>
                <a:t> -O - -q http://kubia.default; done"</a:t>
              </a:r>
              <a:endParaRPr lang="ko-KR" altLang="en-US" sz="1000" b="1" dirty="0"/>
            </a:p>
          </p:txBody>
        </p:sp>
        <p:sp>
          <p:nvSpPr>
            <p:cNvPr id="9" name="화살표: 아래쪽 8">
              <a:extLst>
                <a:ext uri="{FF2B5EF4-FFF2-40B4-BE49-F238E27FC236}">
                  <a16:creationId xmlns:a16="http://schemas.microsoft.com/office/drawing/2014/main" id="{C9B97000-FB36-E29D-7B20-61AB3AC9E346}"/>
                </a:ext>
              </a:extLst>
            </p:cNvPr>
            <p:cNvSpPr/>
            <p:nvPr/>
          </p:nvSpPr>
          <p:spPr>
            <a:xfrm>
              <a:off x="5869423" y="2146637"/>
              <a:ext cx="453154" cy="28322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1659785E-220F-7194-1DF7-EEA0242CC106}"/>
                </a:ext>
              </a:extLst>
            </p:cNvPr>
            <p:cNvPicPr>
              <a:picLocks noChangeAspect="1"/>
            </p:cNvPicPr>
            <p:nvPr/>
          </p:nvPicPr>
          <p:blipFill>
            <a:blip r:embed="rId2"/>
            <a:stretch>
              <a:fillRect/>
            </a:stretch>
          </p:blipFill>
          <p:spPr>
            <a:xfrm>
              <a:off x="838200" y="2429859"/>
              <a:ext cx="10515600" cy="1717548"/>
            </a:xfrm>
            <a:prstGeom prst="rect">
              <a:avLst/>
            </a:prstGeom>
          </p:spPr>
        </p:pic>
      </p:grpSp>
      <p:sp>
        <p:nvSpPr>
          <p:cNvPr id="13" name="직사각형 12">
            <a:extLst>
              <a:ext uri="{FF2B5EF4-FFF2-40B4-BE49-F238E27FC236}">
                <a16:creationId xmlns:a16="http://schemas.microsoft.com/office/drawing/2014/main" id="{CF9B683B-935E-92B6-A94F-AE9E8791CDA1}"/>
              </a:ext>
            </a:extLst>
          </p:cNvPr>
          <p:cNvSpPr/>
          <p:nvPr/>
        </p:nvSpPr>
        <p:spPr>
          <a:xfrm>
            <a:off x="954860" y="3762796"/>
            <a:ext cx="4393975"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089080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Autoscaling(17/27)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As the load-generator pod runs, you’ll see it initially hitting the single pod. As before, it takes time for the metrics to be updated, but when they are, you’ll see the </a:t>
            </a:r>
            <a:r>
              <a:rPr lang="en-US" altLang="ko-KR" sz="1400" b="1" dirty="0" err="1"/>
              <a:t>autoscaler</a:t>
            </a:r>
            <a:r>
              <a:rPr lang="en-US" altLang="ko-KR" sz="1400" b="1" dirty="0"/>
              <a:t> increase the number of replicas</a:t>
            </a:r>
            <a:r>
              <a:rPr lang="en-US" altLang="ko-KR" sz="1400" dirty="0"/>
              <a:t>. </a:t>
            </a:r>
          </a:p>
          <a:p>
            <a:pPr lvl="1">
              <a:buFont typeface="Wingdings" panose="05000000000000000000" pitchFamily="2" charset="2"/>
              <a:buChar char="§"/>
            </a:pPr>
            <a:r>
              <a:rPr lang="en-US" altLang="ko-KR" sz="1400" b="1" dirty="0"/>
              <a:t>NOTE : If the CPU load in your case doesn’t exceed 30%, try running additional load-generators</a:t>
            </a:r>
            <a:r>
              <a:rPr lang="en-US" altLang="ko-KR" sz="1400" dirty="0"/>
              <a:t>.</a:t>
            </a:r>
          </a:p>
          <a:p>
            <a:pPr lvl="1">
              <a:buFont typeface="Wingdings" panose="05000000000000000000" pitchFamily="2" charset="2"/>
              <a:buChar char="§"/>
            </a:pPr>
            <a:r>
              <a:rPr lang="en-US" altLang="ko-KR" sz="1400" b="1" dirty="0"/>
              <a:t>Again, you can inspect </a:t>
            </a:r>
            <a:r>
              <a:rPr lang="en-US" altLang="ko-KR" sz="1400" b="1" dirty="0" err="1"/>
              <a:t>autoscaler</a:t>
            </a:r>
            <a:r>
              <a:rPr lang="en-US" altLang="ko-KR" sz="1400" b="1" dirty="0"/>
              <a:t> events with “$ </a:t>
            </a:r>
            <a:r>
              <a:rPr lang="en-US" altLang="ko-KR" sz="1400" b="1" dirty="0" err="1"/>
              <a:t>kubectl</a:t>
            </a:r>
            <a:r>
              <a:rPr lang="en-US" altLang="ko-KR" sz="1400" b="1" dirty="0"/>
              <a:t> describe” command to see what the </a:t>
            </a:r>
            <a:r>
              <a:rPr lang="en-US" altLang="ko-KR" sz="1400" b="1" dirty="0" err="1"/>
              <a:t>autoscaler</a:t>
            </a:r>
            <a:r>
              <a:rPr lang="en-US" altLang="ko-KR" sz="1400" b="1" dirty="0"/>
              <a:t> has done </a:t>
            </a:r>
            <a:r>
              <a:rPr lang="en-US" altLang="ko-KR" sz="1400" dirty="0"/>
              <a:t>(only the most important information is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640340C-DE87-A251-2485-1E127EE21BAB}"/>
              </a:ext>
            </a:extLst>
          </p:cNvPr>
          <p:cNvGrpSpPr/>
          <p:nvPr/>
        </p:nvGrpSpPr>
        <p:grpSpPr>
          <a:xfrm>
            <a:off x="838200" y="2534258"/>
            <a:ext cx="10515600" cy="3422230"/>
            <a:chOff x="838200" y="2534258"/>
            <a:chExt cx="10515600" cy="3422230"/>
          </a:xfrm>
        </p:grpSpPr>
        <p:grpSp>
          <p:nvGrpSpPr>
            <p:cNvPr id="12" name="그룹 11">
              <a:extLst>
                <a:ext uri="{FF2B5EF4-FFF2-40B4-BE49-F238E27FC236}">
                  <a16:creationId xmlns:a16="http://schemas.microsoft.com/office/drawing/2014/main" id="{07A6480D-34E1-D32D-92B2-38E8EC976963}"/>
                </a:ext>
              </a:extLst>
            </p:cNvPr>
            <p:cNvGrpSpPr/>
            <p:nvPr/>
          </p:nvGrpSpPr>
          <p:grpSpPr>
            <a:xfrm>
              <a:off x="838200" y="2534258"/>
              <a:ext cx="10515600" cy="3422230"/>
              <a:chOff x="838200" y="2501890"/>
              <a:chExt cx="10515600" cy="3422230"/>
            </a:xfrm>
          </p:grpSpPr>
          <p:pic>
            <p:nvPicPr>
              <p:cNvPr id="8" name="그림 7">
                <a:extLst>
                  <a:ext uri="{FF2B5EF4-FFF2-40B4-BE49-F238E27FC236}">
                    <a16:creationId xmlns:a16="http://schemas.microsoft.com/office/drawing/2014/main" id="{ED6C110F-BB72-5E71-0775-8F8A77496427}"/>
                  </a:ext>
                </a:extLst>
              </p:cNvPr>
              <p:cNvPicPr>
                <a:picLocks noChangeAspect="1"/>
              </p:cNvPicPr>
              <p:nvPr/>
            </p:nvPicPr>
            <p:blipFill>
              <a:blip r:embed="rId2"/>
              <a:stretch>
                <a:fillRect/>
              </a:stretch>
            </p:blipFill>
            <p:spPr>
              <a:xfrm>
                <a:off x="838200" y="3041092"/>
                <a:ext cx="10515600" cy="2883028"/>
              </a:xfrm>
              <a:prstGeom prst="rect">
                <a:avLst/>
              </a:prstGeom>
            </p:spPr>
          </p:pic>
          <p:sp>
            <p:nvSpPr>
              <p:cNvPr id="10" name="TextBox 9">
                <a:extLst>
                  <a:ext uri="{FF2B5EF4-FFF2-40B4-BE49-F238E27FC236}">
                    <a16:creationId xmlns:a16="http://schemas.microsoft.com/office/drawing/2014/main" id="{C44A5863-7A97-574D-E572-878715F4EDC8}"/>
                  </a:ext>
                </a:extLst>
              </p:cNvPr>
              <p:cNvSpPr txBox="1"/>
              <p:nvPr/>
            </p:nvSpPr>
            <p:spPr>
              <a:xfrm>
                <a:off x="3047326" y="250189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err="1"/>
                  <a:t>hpa</a:t>
                </a:r>
                <a:endParaRPr lang="ko-KR" altLang="en-US" sz="1000" b="1" dirty="0"/>
              </a:p>
            </p:txBody>
          </p:sp>
          <p:sp>
            <p:nvSpPr>
              <p:cNvPr id="11" name="화살표: 아래쪽 10">
                <a:extLst>
                  <a:ext uri="{FF2B5EF4-FFF2-40B4-BE49-F238E27FC236}">
                    <a16:creationId xmlns:a16="http://schemas.microsoft.com/office/drawing/2014/main" id="{C8509E7C-B98F-8977-0F55-98C852C7D6A6}"/>
                  </a:ext>
                </a:extLst>
              </p:cNvPr>
              <p:cNvSpPr/>
              <p:nvPr/>
            </p:nvSpPr>
            <p:spPr>
              <a:xfrm>
                <a:off x="5873469" y="2772468"/>
                <a:ext cx="445062" cy="26862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C02A41C-488F-9FCF-3631-2F6AE2ABB1D5}"/>
                </a:ext>
              </a:extLst>
            </p:cNvPr>
            <p:cNvSpPr/>
            <p:nvPr/>
          </p:nvSpPr>
          <p:spPr>
            <a:xfrm>
              <a:off x="1035781" y="5057522"/>
              <a:ext cx="10123136" cy="6311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292511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Autoscaling(18/27)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b="1" dirty="0"/>
              <a:t>NOTE : A container’s CPU utilization is the container’s actual CPU usage divided by its requested CPU</a:t>
            </a:r>
            <a:r>
              <a:rPr lang="en-US" altLang="ko-KR" sz="1400" dirty="0"/>
              <a:t>. </a:t>
            </a:r>
            <a:r>
              <a:rPr lang="en-US" altLang="ko-KR" sz="1400" b="1" dirty="0"/>
              <a:t>The requested CPU defines the minimum, not maximum amount of CPU available to the container</a:t>
            </a:r>
            <a:r>
              <a:rPr lang="en-US" altLang="ko-KR" sz="1400" dirty="0"/>
              <a:t>, </a:t>
            </a:r>
            <a:r>
              <a:rPr lang="en-US" altLang="ko-KR" sz="1400" b="1" dirty="0"/>
              <a:t>so a container may consume more than the requested CPU, bringing the percentage over 100</a:t>
            </a:r>
            <a:r>
              <a:rPr lang="en-US" altLang="ko-KR" sz="1400" dirty="0"/>
              <a:t>.</a:t>
            </a:r>
          </a:p>
          <a:p>
            <a:pPr lvl="1">
              <a:buFont typeface="Wingdings" panose="05000000000000000000" pitchFamily="2" charset="2"/>
              <a:buChar char="§"/>
            </a:pPr>
            <a:r>
              <a:rPr lang="en-US" altLang="ko-KR" sz="1400" dirty="0"/>
              <a:t>Before we go on, let’s do a little math and see how the </a:t>
            </a:r>
            <a:r>
              <a:rPr lang="en-US" altLang="ko-KR" sz="1400" dirty="0" err="1"/>
              <a:t>autoscaler</a:t>
            </a:r>
            <a:r>
              <a:rPr lang="en-US" altLang="ko-KR" sz="1400" dirty="0"/>
              <a:t> concluded that four replicas are needed. Initially, there was one replica handling requests and its CPU usage spiked to 108%. Dividing 108 by 30 (the target CPU utilization percentage) gives 3.6, which </a:t>
            </a:r>
            <a:r>
              <a:rPr lang="en-US" altLang="ko-KR" sz="1400" b="1" dirty="0"/>
              <a:t>the </a:t>
            </a:r>
            <a:r>
              <a:rPr lang="en-US" altLang="ko-KR" sz="1400" b="1" dirty="0" err="1"/>
              <a:t>autoscaler</a:t>
            </a:r>
            <a:r>
              <a:rPr lang="en-US" altLang="ko-KR" sz="1400" b="1" dirty="0"/>
              <a:t> then rounded up to 4</a:t>
            </a:r>
            <a:r>
              <a:rPr lang="en-US" altLang="ko-KR" sz="1400" dirty="0"/>
              <a:t>. If you divide 108 by 4, you get 27%. </a:t>
            </a:r>
            <a:r>
              <a:rPr lang="en-US" altLang="ko-KR" sz="1400" b="1" dirty="0"/>
              <a:t>If the </a:t>
            </a:r>
            <a:r>
              <a:rPr lang="en-US" altLang="ko-KR" sz="1400" b="1" dirty="0" err="1"/>
              <a:t>autoscaler</a:t>
            </a:r>
            <a:r>
              <a:rPr lang="en-US" altLang="ko-KR" sz="1400" b="1" dirty="0"/>
              <a:t> scales up to four pods, their average CPU utilization is expected to be somewhere in the neighborhood of 27%, which is close to the target value of 30% </a:t>
            </a:r>
            <a:r>
              <a:rPr lang="en-US" altLang="ko-KR" sz="1400" dirty="0"/>
              <a:t>and almost exactly what the observed CPU utilization was.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E97D1A7-1031-5C92-FDD1-9856333E0559}"/>
              </a:ext>
            </a:extLst>
          </p:cNvPr>
          <p:cNvPicPr>
            <a:picLocks noChangeAspect="1"/>
          </p:cNvPicPr>
          <p:nvPr/>
        </p:nvPicPr>
        <p:blipFill>
          <a:blip r:embed="rId2"/>
          <a:stretch>
            <a:fillRect/>
          </a:stretch>
        </p:blipFill>
        <p:spPr>
          <a:xfrm>
            <a:off x="3738391" y="3102015"/>
            <a:ext cx="4715218" cy="3353699"/>
          </a:xfrm>
          <a:prstGeom prst="rect">
            <a:avLst/>
          </a:prstGeom>
        </p:spPr>
      </p:pic>
    </p:spTree>
    <p:extLst>
      <p:ext uri="{BB962C8B-B14F-4D97-AF65-F5344CB8AC3E}">
        <p14:creationId xmlns:p14="http://schemas.microsoft.com/office/powerpoint/2010/main" val="13023427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Autoscaling(19/27)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dirty="0"/>
              <a:t>The initial CPU usage could spike even higher. Even if the initial average CPU utilization was higher (say 150%), requiring five replicas to achieve the 30% target, </a:t>
            </a:r>
            <a:r>
              <a:rPr lang="en-US" altLang="ko-KR" sz="1400" b="1" dirty="0"/>
              <a:t>the </a:t>
            </a:r>
            <a:r>
              <a:rPr lang="en-US" altLang="ko-KR" sz="1400" b="1" dirty="0" err="1"/>
              <a:t>autoscaler</a:t>
            </a:r>
            <a:r>
              <a:rPr lang="en-US" altLang="ko-KR" sz="1400" b="1" dirty="0"/>
              <a:t> would still only scale up to four pods in the first step</a:t>
            </a:r>
            <a:r>
              <a:rPr lang="en-US" altLang="ko-KR" sz="1400" dirty="0"/>
              <a:t>, </a:t>
            </a:r>
            <a:r>
              <a:rPr lang="en-US" altLang="ko-KR" sz="1400" b="1" dirty="0"/>
              <a:t>because it has a limit on how many replicas can be added in a single scale-up operation</a:t>
            </a:r>
            <a:r>
              <a:rPr lang="en-US" altLang="ko-KR" sz="1400" dirty="0"/>
              <a:t>. </a:t>
            </a:r>
            <a:r>
              <a:rPr lang="en-US" altLang="ko-KR" sz="1400" b="1" dirty="0">
                <a:solidFill>
                  <a:srgbClr val="FF0000"/>
                </a:solidFill>
              </a:rPr>
              <a:t>The </a:t>
            </a:r>
            <a:r>
              <a:rPr lang="en-US" altLang="ko-KR" sz="1400" b="1" dirty="0" err="1">
                <a:solidFill>
                  <a:srgbClr val="FF0000"/>
                </a:solidFill>
              </a:rPr>
              <a:t>autoscaler</a:t>
            </a:r>
            <a:r>
              <a:rPr lang="en-US" altLang="ko-KR" sz="1400" b="1" dirty="0">
                <a:solidFill>
                  <a:srgbClr val="FF0000"/>
                </a:solidFill>
              </a:rPr>
              <a:t> will at most double the number of replicas in a single operation</a:t>
            </a:r>
            <a:r>
              <a:rPr lang="en-US" altLang="ko-KR" sz="1400" dirty="0"/>
              <a:t>, </a:t>
            </a:r>
            <a:r>
              <a:rPr lang="en-US" altLang="ko-KR" sz="1400" b="1" dirty="0"/>
              <a:t>if more than two current replicas exist</a:t>
            </a:r>
            <a:r>
              <a:rPr lang="en-US" altLang="ko-KR" sz="1400" dirty="0"/>
              <a:t>. If only one or two exist, it will scale up to a maximum of four replicas in a single step.</a:t>
            </a:r>
          </a:p>
          <a:p>
            <a:pPr lvl="1">
              <a:buFont typeface="Wingdings" panose="05000000000000000000" pitchFamily="2" charset="2"/>
              <a:buChar char="§"/>
            </a:pPr>
            <a:r>
              <a:rPr lang="en-US" altLang="ko-KR" sz="1400" b="1" dirty="0"/>
              <a:t>Additionally, it has a limit on how soon a subsequent </a:t>
            </a:r>
            <a:r>
              <a:rPr lang="en-US" altLang="ko-KR" sz="1400" b="1" dirty="0" err="1"/>
              <a:t>autoscale</a:t>
            </a:r>
            <a:r>
              <a:rPr lang="en-US" altLang="ko-KR" sz="1400" b="1" dirty="0"/>
              <a:t> operation can occur after the previous one</a:t>
            </a:r>
            <a:r>
              <a:rPr lang="en-US" altLang="ko-KR" sz="1400" dirty="0"/>
              <a:t>. </a:t>
            </a:r>
            <a:r>
              <a:rPr lang="en-US" altLang="ko-KR" sz="1400" b="1" dirty="0"/>
              <a:t>Currently, a scale-up will occur only if no rescaling event occurred in the last three minutes. A scale-down event is performed even less frequently—every five minutes</a:t>
            </a:r>
            <a:r>
              <a:rPr lang="en-US" altLang="ko-KR" sz="1400" dirty="0"/>
              <a:t>. Keep this in mind so you don’t wonder why the </a:t>
            </a:r>
            <a:r>
              <a:rPr lang="en-US" altLang="ko-KR" sz="1400" dirty="0" err="1"/>
              <a:t>autoscaler</a:t>
            </a:r>
            <a:r>
              <a:rPr lang="en-US" altLang="ko-KR" sz="1400" dirty="0"/>
              <a:t> refuses to perform a rescale operation even if the metrics clearly show that it should.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A11E4B4-2A5F-0538-8E67-CF8508D737E2}"/>
              </a:ext>
            </a:extLst>
          </p:cNvPr>
          <p:cNvPicPr>
            <a:picLocks noChangeAspect="1"/>
          </p:cNvPicPr>
          <p:nvPr/>
        </p:nvPicPr>
        <p:blipFill>
          <a:blip r:embed="rId2"/>
          <a:stretch>
            <a:fillRect/>
          </a:stretch>
        </p:blipFill>
        <p:spPr>
          <a:xfrm>
            <a:off x="2882787" y="3143137"/>
            <a:ext cx="6426426" cy="3213213"/>
          </a:xfrm>
          <a:prstGeom prst="rect">
            <a:avLst/>
          </a:prstGeom>
        </p:spPr>
      </p:pic>
    </p:spTree>
    <p:extLst>
      <p:ext uri="{BB962C8B-B14F-4D97-AF65-F5344CB8AC3E}">
        <p14:creationId xmlns:p14="http://schemas.microsoft.com/office/powerpoint/2010/main" val="22356958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Autoscaling(20/27)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dirty="0"/>
              <a:t>Maybe your initial CPU utilization target of 30% was a bit too low, so increase it to 60%. You do this by </a:t>
            </a:r>
            <a:r>
              <a:rPr lang="en-US" altLang="ko-KR" sz="1400" b="1" dirty="0"/>
              <a:t>editing the HPA resource with the “$ </a:t>
            </a:r>
            <a:r>
              <a:rPr lang="en-US" altLang="ko-KR" sz="1400" b="1" dirty="0" err="1"/>
              <a:t>kubectl</a:t>
            </a:r>
            <a:r>
              <a:rPr lang="en-US" altLang="ko-KR" sz="1400" b="1" dirty="0"/>
              <a:t> edit” command</a:t>
            </a:r>
            <a:r>
              <a:rPr lang="en-US" altLang="ko-KR" sz="1400" dirty="0"/>
              <a:t>. When the text editor opens, </a:t>
            </a:r>
            <a:r>
              <a:rPr lang="en-US" altLang="ko-KR" sz="1400" b="1" dirty="0"/>
              <a:t>change the “</a:t>
            </a:r>
            <a:r>
              <a:rPr lang="en-US" altLang="ko-KR" sz="1400" b="1" dirty="0" err="1">
                <a:solidFill>
                  <a:srgbClr val="FF0000"/>
                </a:solidFill>
              </a:rPr>
              <a:t>target.AverageUtilization</a:t>
            </a:r>
            <a:r>
              <a:rPr lang="en-US" altLang="ko-KR" sz="1400" b="1" dirty="0"/>
              <a:t>” field</a:t>
            </a:r>
            <a:r>
              <a:rPr lang="en-US" altLang="ko-KR" sz="1400" dirty="0"/>
              <a:t> to 60,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E09EED38-0CA8-BDB1-164B-28D31D6D1790}"/>
              </a:ext>
            </a:extLst>
          </p:cNvPr>
          <p:cNvGrpSpPr/>
          <p:nvPr/>
        </p:nvGrpSpPr>
        <p:grpSpPr>
          <a:xfrm>
            <a:off x="838200" y="2011022"/>
            <a:ext cx="10515600" cy="4119257"/>
            <a:chOff x="838200" y="2011022"/>
            <a:chExt cx="10515600" cy="4119257"/>
          </a:xfrm>
        </p:grpSpPr>
        <p:grpSp>
          <p:nvGrpSpPr>
            <p:cNvPr id="14" name="그룹 13">
              <a:extLst>
                <a:ext uri="{FF2B5EF4-FFF2-40B4-BE49-F238E27FC236}">
                  <a16:creationId xmlns:a16="http://schemas.microsoft.com/office/drawing/2014/main" id="{34BE2C27-7CED-906E-A900-9D5D05D976B8}"/>
                </a:ext>
              </a:extLst>
            </p:cNvPr>
            <p:cNvGrpSpPr/>
            <p:nvPr/>
          </p:nvGrpSpPr>
          <p:grpSpPr>
            <a:xfrm>
              <a:off x="838200" y="2011022"/>
              <a:ext cx="10515600" cy="4119257"/>
              <a:chOff x="838200" y="2011022"/>
              <a:chExt cx="10515600" cy="4119257"/>
            </a:xfrm>
          </p:grpSpPr>
          <p:grpSp>
            <p:nvGrpSpPr>
              <p:cNvPr id="11" name="그룹 10">
                <a:extLst>
                  <a:ext uri="{FF2B5EF4-FFF2-40B4-BE49-F238E27FC236}">
                    <a16:creationId xmlns:a16="http://schemas.microsoft.com/office/drawing/2014/main" id="{7F5F4080-CA6E-894D-64AB-45ADE0C244BE}"/>
                  </a:ext>
                </a:extLst>
              </p:cNvPr>
              <p:cNvGrpSpPr/>
              <p:nvPr/>
            </p:nvGrpSpPr>
            <p:grpSpPr>
              <a:xfrm>
                <a:off x="838200" y="2011022"/>
                <a:ext cx="10515600" cy="2420351"/>
                <a:chOff x="838200" y="1897734"/>
                <a:chExt cx="10515600" cy="2420351"/>
              </a:xfrm>
            </p:grpSpPr>
            <p:pic>
              <p:nvPicPr>
                <p:cNvPr id="8" name="그림 7">
                  <a:extLst>
                    <a:ext uri="{FF2B5EF4-FFF2-40B4-BE49-F238E27FC236}">
                      <a16:creationId xmlns:a16="http://schemas.microsoft.com/office/drawing/2014/main" id="{BA0D058C-6691-B711-35C4-DDF6B4050146}"/>
                    </a:ext>
                  </a:extLst>
                </p:cNvPr>
                <p:cNvPicPr>
                  <a:picLocks noChangeAspect="1"/>
                </p:cNvPicPr>
                <p:nvPr/>
              </p:nvPicPr>
              <p:blipFill>
                <a:blip r:embed="rId2"/>
                <a:stretch>
                  <a:fillRect/>
                </a:stretch>
              </p:blipFill>
              <p:spPr>
                <a:xfrm>
                  <a:off x="838200" y="2425277"/>
                  <a:ext cx="10515600" cy="1892808"/>
                </a:xfrm>
                <a:prstGeom prst="rect">
                  <a:avLst/>
                </a:prstGeom>
              </p:spPr>
            </p:pic>
            <p:sp>
              <p:nvSpPr>
                <p:cNvPr id="9" name="TextBox 8">
                  <a:extLst>
                    <a:ext uri="{FF2B5EF4-FFF2-40B4-BE49-F238E27FC236}">
                      <a16:creationId xmlns:a16="http://schemas.microsoft.com/office/drawing/2014/main" id="{6F3369A7-156D-2D20-F7A7-FC22D4456312}"/>
                    </a:ext>
                  </a:extLst>
                </p:cNvPr>
                <p:cNvSpPr txBox="1"/>
                <p:nvPr/>
              </p:nvSpPr>
              <p:spPr>
                <a:xfrm>
                  <a:off x="3506549" y="1897734"/>
                  <a:ext cx="5178902" cy="246221"/>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edit </a:t>
                  </a:r>
                  <a:r>
                    <a:rPr lang="en-US" altLang="ko-KR" sz="1000" b="1" dirty="0" err="1"/>
                    <a:t>hpa</a:t>
                  </a:r>
                  <a:endParaRPr lang="ko-KR" altLang="en-US" sz="1000" b="1" dirty="0"/>
                </a:p>
              </p:txBody>
            </p:sp>
            <p:sp>
              <p:nvSpPr>
                <p:cNvPr id="10" name="화살표: 아래쪽 9">
                  <a:extLst>
                    <a:ext uri="{FF2B5EF4-FFF2-40B4-BE49-F238E27FC236}">
                      <a16:creationId xmlns:a16="http://schemas.microsoft.com/office/drawing/2014/main" id="{2E1768EE-238A-6182-3656-5E7CC8776D47}"/>
                    </a:ext>
                  </a:extLst>
                </p:cNvPr>
                <p:cNvSpPr/>
                <p:nvPr/>
              </p:nvSpPr>
              <p:spPr>
                <a:xfrm>
                  <a:off x="5877515" y="2143955"/>
                  <a:ext cx="436970"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그림 12">
                <a:extLst>
                  <a:ext uri="{FF2B5EF4-FFF2-40B4-BE49-F238E27FC236}">
                    <a16:creationId xmlns:a16="http://schemas.microsoft.com/office/drawing/2014/main" id="{8553572C-6B21-CDCC-0B5C-8DABCEC8F666}"/>
                  </a:ext>
                </a:extLst>
              </p:cNvPr>
              <p:cNvPicPr>
                <a:picLocks noChangeAspect="1"/>
              </p:cNvPicPr>
              <p:nvPr/>
            </p:nvPicPr>
            <p:blipFill>
              <a:blip r:embed="rId3"/>
              <a:stretch>
                <a:fillRect/>
              </a:stretch>
            </p:blipFill>
            <p:spPr>
              <a:xfrm>
                <a:off x="838200" y="4465309"/>
                <a:ext cx="10515600" cy="1664970"/>
              </a:xfrm>
              <a:prstGeom prst="rect">
                <a:avLst/>
              </a:prstGeom>
            </p:spPr>
          </p:pic>
        </p:grpSp>
        <p:sp>
          <p:nvSpPr>
            <p:cNvPr id="15" name="직사각형 14">
              <a:extLst>
                <a:ext uri="{FF2B5EF4-FFF2-40B4-BE49-F238E27FC236}">
                  <a16:creationId xmlns:a16="http://schemas.microsoft.com/office/drawing/2014/main" id="{05BFA8D8-268E-B7EE-5E6B-23048B132DB5}"/>
                </a:ext>
              </a:extLst>
            </p:cNvPr>
            <p:cNvSpPr/>
            <p:nvPr/>
          </p:nvSpPr>
          <p:spPr>
            <a:xfrm>
              <a:off x="962952" y="5106074"/>
              <a:ext cx="3520036"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3FFC8889-FF78-70E2-8FAC-32D0D4BD27B4}"/>
                </a:ext>
              </a:extLst>
            </p:cNvPr>
            <p:cNvSpPr/>
            <p:nvPr/>
          </p:nvSpPr>
          <p:spPr>
            <a:xfrm>
              <a:off x="995320" y="3625232"/>
              <a:ext cx="2443795"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671820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Autoscaling(21/27)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CPU Utilization :</a:t>
            </a:r>
            <a:endParaRPr lang="en-US" altLang="ko-KR" sz="1400" dirty="0"/>
          </a:p>
          <a:p>
            <a:pPr lvl="1">
              <a:buFont typeface="Wingdings" panose="05000000000000000000" pitchFamily="2" charset="2"/>
              <a:buChar char="§"/>
            </a:pPr>
            <a:r>
              <a:rPr lang="en-US" altLang="ko-KR" sz="1400" dirty="0"/>
              <a:t>As with most other resources, </a:t>
            </a:r>
            <a:r>
              <a:rPr lang="en-US" altLang="ko-KR" sz="1400" b="1" dirty="0"/>
              <a:t>after you modify the resource, your changes will be detected by the </a:t>
            </a:r>
            <a:r>
              <a:rPr lang="en-US" altLang="ko-KR" sz="1400" b="1" dirty="0" err="1"/>
              <a:t>autoscaler</a:t>
            </a:r>
            <a:r>
              <a:rPr lang="en-US" altLang="ko-KR" sz="1400" b="1" dirty="0"/>
              <a:t> controller and acted upon</a:t>
            </a:r>
            <a:r>
              <a:rPr lang="en-US" altLang="ko-KR" sz="1400" dirty="0"/>
              <a:t>. </a:t>
            </a:r>
            <a:r>
              <a:rPr lang="en-US" altLang="ko-KR" sz="1400" b="1" dirty="0"/>
              <a:t>You could also delete the resource and recreate it with different target values, because by deleting the HPA resource, you only </a:t>
            </a:r>
            <a:r>
              <a:rPr lang="en-US" altLang="ko-KR" sz="1400" b="1" dirty="0">
                <a:solidFill>
                  <a:srgbClr val="FF0000"/>
                </a:solidFill>
              </a:rPr>
              <a:t>disable autoscaling of the target resource </a:t>
            </a:r>
            <a:r>
              <a:rPr lang="en-US" altLang="ko-KR" sz="1400" b="1" dirty="0"/>
              <a:t>(a Deployment in this case) and leave it at the scale it is at that time</a:t>
            </a:r>
            <a:r>
              <a:rPr lang="en-US" altLang="ko-KR" sz="1400" dirty="0"/>
              <a:t>. The automatic scaling will resume after you create a new HPA resource for the Deployment.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0D789598-4135-4AB3-9A1C-1238B314F0F3}"/>
              </a:ext>
            </a:extLst>
          </p:cNvPr>
          <p:cNvGrpSpPr/>
          <p:nvPr/>
        </p:nvGrpSpPr>
        <p:grpSpPr>
          <a:xfrm>
            <a:off x="838200" y="2321386"/>
            <a:ext cx="10515600" cy="3440748"/>
            <a:chOff x="838200" y="2321386"/>
            <a:chExt cx="10515600" cy="3440748"/>
          </a:xfrm>
        </p:grpSpPr>
        <p:grpSp>
          <p:nvGrpSpPr>
            <p:cNvPr id="11" name="그룹 10">
              <a:extLst>
                <a:ext uri="{FF2B5EF4-FFF2-40B4-BE49-F238E27FC236}">
                  <a16:creationId xmlns:a16="http://schemas.microsoft.com/office/drawing/2014/main" id="{FCF18A65-2B70-5364-9322-5BC3AE3C9EE9}"/>
                </a:ext>
              </a:extLst>
            </p:cNvPr>
            <p:cNvGrpSpPr/>
            <p:nvPr/>
          </p:nvGrpSpPr>
          <p:grpSpPr>
            <a:xfrm>
              <a:off x="838200" y="2321386"/>
              <a:ext cx="10515600" cy="3440748"/>
              <a:chOff x="838200" y="2321386"/>
              <a:chExt cx="10515600" cy="3440748"/>
            </a:xfrm>
          </p:grpSpPr>
          <p:pic>
            <p:nvPicPr>
              <p:cNvPr id="8" name="그림 7">
                <a:extLst>
                  <a:ext uri="{FF2B5EF4-FFF2-40B4-BE49-F238E27FC236}">
                    <a16:creationId xmlns:a16="http://schemas.microsoft.com/office/drawing/2014/main" id="{B3820B72-F3E9-48F7-B72E-19CA9C0FDBE9}"/>
                  </a:ext>
                </a:extLst>
              </p:cNvPr>
              <p:cNvPicPr>
                <a:picLocks noChangeAspect="1"/>
              </p:cNvPicPr>
              <p:nvPr/>
            </p:nvPicPr>
            <p:blipFill>
              <a:blip r:embed="rId2"/>
              <a:stretch>
                <a:fillRect/>
              </a:stretch>
            </p:blipFill>
            <p:spPr>
              <a:xfrm>
                <a:off x="838200" y="2321386"/>
                <a:ext cx="10515600" cy="1664970"/>
              </a:xfrm>
              <a:prstGeom prst="rect">
                <a:avLst/>
              </a:prstGeom>
            </p:spPr>
          </p:pic>
          <p:pic>
            <p:nvPicPr>
              <p:cNvPr id="10" name="그림 9">
                <a:extLst>
                  <a:ext uri="{FF2B5EF4-FFF2-40B4-BE49-F238E27FC236}">
                    <a16:creationId xmlns:a16="http://schemas.microsoft.com/office/drawing/2014/main" id="{8687059D-C0C0-CA1A-66B9-9598928A31B3}"/>
                  </a:ext>
                </a:extLst>
              </p:cNvPr>
              <p:cNvPicPr>
                <a:picLocks noChangeAspect="1"/>
              </p:cNvPicPr>
              <p:nvPr/>
            </p:nvPicPr>
            <p:blipFill>
              <a:blip r:embed="rId3"/>
              <a:stretch>
                <a:fillRect/>
              </a:stretch>
            </p:blipFill>
            <p:spPr>
              <a:xfrm>
                <a:off x="838200" y="4018297"/>
                <a:ext cx="10515600" cy="1743837"/>
              </a:xfrm>
              <a:prstGeom prst="rect">
                <a:avLst/>
              </a:prstGeom>
            </p:spPr>
          </p:pic>
        </p:grpSp>
        <p:sp>
          <p:nvSpPr>
            <p:cNvPr id="12" name="직사각형 11">
              <a:extLst>
                <a:ext uri="{FF2B5EF4-FFF2-40B4-BE49-F238E27FC236}">
                  <a16:creationId xmlns:a16="http://schemas.microsoft.com/office/drawing/2014/main" id="{96935457-7FC8-BDFF-BE1D-3B1519238E4D}"/>
                </a:ext>
              </a:extLst>
            </p:cNvPr>
            <p:cNvSpPr/>
            <p:nvPr/>
          </p:nvSpPr>
          <p:spPr>
            <a:xfrm>
              <a:off x="2799844" y="3244906"/>
              <a:ext cx="663547"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F082A9EC-6112-CEB9-A7CB-EF2432574D07}"/>
                </a:ext>
              </a:extLst>
            </p:cNvPr>
            <p:cNvSpPr/>
            <p:nvPr/>
          </p:nvSpPr>
          <p:spPr>
            <a:xfrm>
              <a:off x="906308" y="4942244"/>
              <a:ext cx="7824998" cy="2042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849975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Autoscaling(22/27)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Memory Consumption :</a:t>
            </a:r>
            <a:endParaRPr lang="en-US" altLang="ko-KR" sz="1400" dirty="0"/>
          </a:p>
          <a:p>
            <a:pPr lvl="1">
              <a:buFont typeface="Wingdings" panose="05000000000000000000" pitchFamily="2" charset="2"/>
              <a:buChar char="§"/>
            </a:pPr>
            <a:r>
              <a:rPr lang="en-US" altLang="ko-KR" sz="1400" b="1" dirty="0"/>
              <a:t>You’ve seen how easily the horizontal </a:t>
            </a:r>
            <a:r>
              <a:rPr lang="en-US" altLang="ko-KR" sz="1400" b="1" dirty="0" err="1"/>
              <a:t>Autoscaler</a:t>
            </a:r>
            <a:r>
              <a:rPr lang="en-US" altLang="ko-KR" sz="1400" b="1" dirty="0"/>
              <a:t> can be configured to keep CPU utilization at the target level</a:t>
            </a:r>
            <a:r>
              <a:rPr lang="en-US" altLang="ko-KR" sz="1400" dirty="0"/>
              <a:t>. But what about </a:t>
            </a:r>
            <a:r>
              <a:rPr lang="en-US" altLang="ko-KR" sz="1400" b="1" dirty="0"/>
              <a:t>autoscaling based on the pods’ memory usage</a:t>
            </a:r>
            <a:r>
              <a:rPr lang="en-US" altLang="ko-KR" sz="1400" dirty="0"/>
              <a:t>?</a:t>
            </a:r>
          </a:p>
          <a:p>
            <a:pPr lvl="1">
              <a:buFont typeface="Wingdings" panose="05000000000000000000" pitchFamily="2" charset="2"/>
              <a:buChar char="§"/>
            </a:pPr>
            <a:r>
              <a:rPr lang="en-US" altLang="ko-KR" sz="1400" b="1" dirty="0"/>
              <a:t>Memory-based autoscaling is much more problematic than CPU-based autoscaling</a:t>
            </a:r>
            <a:r>
              <a:rPr lang="en-US" altLang="ko-KR" sz="1400" dirty="0"/>
              <a:t>. </a:t>
            </a:r>
            <a:r>
              <a:rPr lang="en-US" altLang="ko-KR" sz="1400" b="1" dirty="0"/>
              <a:t>The main reason is because after scaling up, </a:t>
            </a:r>
            <a:r>
              <a:rPr lang="en-US" altLang="ko-KR" sz="1400" b="1" dirty="0">
                <a:solidFill>
                  <a:srgbClr val="FF0000"/>
                </a:solidFill>
              </a:rPr>
              <a:t>the old pods would somehow need to be forced to release memory</a:t>
            </a:r>
            <a:r>
              <a:rPr lang="en-US" altLang="ko-KR" sz="1400" dirty="0"/>
              <a:t>. </a:t>
            </a:r>
            <a:r>
              <a:rPr lang="en-US" altLang="ko-KR" sz="1400" b="1" dirty="0"/>
              <a:t>This needs to be done by the app itself—it can’t be done by the system</a:t>
            </a:r>
            <a:r>
              <a:rPr lang="en-US" altLang="ko-KR" sz="1400" dirty="0"/>
              <a:t>. All the system could do is kill and restart the app, hoping it would use less memory than before. But if the app then uses the same amount as before, the </a:t>
            </a:r>
            <a:r>
              <a:rPr lang="en-US" altLang="ko-KR" sz="1400" dirty="0" err="1"/>
              <a:t>Autoscaler</a:t>
            </a:r>
            <a:r>
              <a:rPr lang="en-US" altLang="ko-KR" sz="1400" dirty="0"/>
              <a:t> would scale it up again. And again, and again, until it reaches the maximum number of pods configured on the HPA resource. Obviously, this isn’t what anyone wants. </a:t>
            </a:r>
            <a:r>
              <a:rPr lang="en-US" altLang="ko-KR" sz="1400" b="1" dirty="0"/>
              <a:t>Memory-based autoscaling was introduced in Kubernetes version 1.8, and is configured exactly like CPU-based autoscaling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053D8AB-1E1A-8C13-1734-E6F3FC91FA83}"/>
              </a:ext>
            </a:extLst>
          </p:cNvPr>
          <p:cNvPicPr>
            <a:picLocks noChangeAspect="1"/>
          </p:cNvPicPr>
          <p:nvPr/>
        </p:nvPicPr>
        <p:blipFill>
          <a:blip r:embed="rId2"/>
          <a:stretch>
            <a:fillRect/>
          </a:stretch>
        </p:blipFill>
        <p:spPr>
          <a:xfrm>
            <a:off x="3055038" y="3222019"/>
            <a:ext cx="6081923" cy="3040962"/>
          </a:xfrm>
          <a:prstGeom prst="rect">
            <a:avLst/>
          </a:prstGeom>
        </p:spPr>
      </p:pic>
    </p:spTree>
    <p:extLst>
      <p:ext uri="{BB962C8B-B14F-4D97-AF65-F5344CB8AC3E}">
        <p14:creationId xmlns:p14="http://schemas.microsoft.com/office/powerpoint/2010/main" val="23818117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Autoscaling(23/27)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Other and Custom Metrics :</a:t>
            </a:r>
            <a:endParaRPr lang="en-US" altLang="ko-KR" sz="1400" dirty="0"/>
          </a:p>
          <a:p>
            <a:pPr lvl="1">
              <a:buFont typeface="Wingdings" panose="05000000000000000000" pitchFamily="2" charset="2"/>
              <a:buChar char="§"/>
            </a:pPr>
            <a:r>
              <a:rPr lang="en-US" altLang="ko-KR" sz="1400" b="1" dirty="0"/>
              <a:t>To have the </a:t>
            </a:r>
            <a:r>
              <a:rPr lang="en-US" altLang="ko-KR" sz="1400" b="1" dirty="0" err="1"/>
              <a:t>autoscaler</a:t>
            </a:r>
            <a:r>
              <a:rPr lang="en-US" altLang="ko-KR" sz="1400" b="1" dirty="0"/>
              <a:t> use custom, app-defined metrics to drive its autoscaling decisions was fairly complicated</a:t>
            </a:r>
            <a:r>
              <a:rPr lang="en-US" altLang="ko-KR" sz="1400" dirty="0"/>
              <a:t>. The initial design of the </a:t>
            </a:r>
            <a:r>
              <a:rPr lang="en-US" altLang="ko-KR" sz="1400" b="1" dirty="0" err="1"/>
              <a:t>autoscaler</a:t>
            </a:r>
            <a:r>
              <a:rPr lang="en-US" altLang="ko-KR" sz="1400" dirty="0"/>
              <a:t> didn’t make it easy to move beyond simple CPU-based scaling. </a:t>
            </a:r>
            <a:r>
              <a:rPr lang="en-US" altLang="ko-KR" sz="1400" b="1" dirty="0"/>
              <a:t>This prompted the </a:t>
            </a:r>
            <a:r>
              <a:rPr lang="en-US" altLang="ko-KR" sz="1400" b="1" dirty="0">
                <a:solidFill>
                  <a:srgbClr val="FF0000"/>
                </a:solidFill>
              </a:rPr>
              <a:t>Kubernetes Autoscaling Special Interest Group (SIG) </a:t>
            </a:r>
            <a:r>
              <a:rPr lang="en-US" altLang="ko-KR" sz="1400" b="1" dirty="0"/>
              <a:t>to redesign the </a:t>
            </a:r>
            <a:r>
              <a:rPr lang="en-US" altLang="ko-KR" sz="1400" b="1" dirty="0" err="1"/>
              <a:t>autoscaler</a:t>
            </a:r>
            <a:r>
              <a:rPr lang="en-US" altLang="ko-KR" sz="1400" b="1" dirty="0"/>
              <a:t> completely</a:t>
            </a:r>
            <a:r>
              <a:rPr lang="en-US" altLang="ko-KR" sz="1400" dirty="0"/>
              <a:t>.</a:t>
            </a:r>
          </a:p>
          <a:p>
            <a:pPr lvl="1">
              <a:buFont typeface="Wingdings" panose="05000000000000000000" pitchFamily="2" charset="2"/>
              <a:buChar char="§"/>
            </a:pPr>
            <a:r>
              <a:rPr lang="en-US" altLang="ko-KR" sz="1400" b="1" dirty="0"/>
              <a:t>Instead of going through a complete example here, let’s quickly go over how to </a:t>
            </a:r>
            <a:r>
              <a:rPr lang="en-US" altLang="ko-KR" sz="1400" b="1" dirty="0">
                <a:solidFill>
                  <a:srgbClr val="FF0000"/>
                </a:solidFill>
              </a:rPr>
              <a:t>configure the </a:t>
            </a:r>
            <a:r>
              <a:rPr lang="en-US" altLang="ko-KR" sz="1400" b="1" dirty="0" err="1">
                <a:solidFill>
                  <a:srgbClr val="FF0000"/>
                </a:solidFill>
              </a:rPr>
              <a:t>autoscaler</a:t>
            </a:r>
            <a:r>
              <a:rPr lang="en-US" altLang="ko-KR" sz="1400" b="1" dirty="0">
                <a:solidFill>
                  <a:srgbClr val="FF0000"/>
                </a:solidFill>
              </a:rPr>
              <a:t> to use different metrics sources</a:t>
            </a:r>
            <a:r>
              <a:rPr lang="en-US" altLang="ko-KR" sz="1400" dirty="0"/>
              <a:t>. We’ll start by examining how we defined what metric to use in our previous example. The following listing shows how </a:t>
            </a:r>
            <a:r>
              <a:rPr lang="en-US" altLang="ko-KR" sz="1400" b="1" dirty="0"/>
              <a:t>your previous HPA object </a:t>
            </a:r>
            <a:r>
              <a:rPr lang="en-US" altLang="ko-KR" sz="1400" dirty="0"/>
              <a:t>was </a:t>
            </a:r>
            <a:r>
              <a:rPr lang="en-US" altLang="ko-KR" sz="1400" b="1" dirty="0"/>
              <a:t>configured</a:t>
            </a:r>
            <a:r>
              <a:rPr lang="en-US" altLang="ko-KR" sz="1400" dirty="0"/>
              <a:t> to use the CPU usage metric.</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As you can see, the metrics field allows you to define more than one metric to use</a:t>
            </a:r>
            <a:r>
              <a:rPr lang="en-US" altLang="ko-KR" sz="1400" dirty="0"/>
              <a:t>. In the above screenshot, you’re using a single metric. </a:t>
            </a:r>
            <a:r>
              <a:rPr lang="en-US" altLang="ko-KR" sz="1400" b="1" dirty="0"/>
              <a:t>Each entry defines the type of metric—in this case, a </a:t>
            </a:r>
            <a:r>
              <a:rPr lang="en-US" altLang="ko-KR" sz="1400" b="1" dirty="0">
                <a:solidFill>
                  <a:srgbClr val="FF0000"/>
                </a:solidFill>
              </a:rPr>
              <a:t>Resource metric</a:t>
            </a:r>
            <a:r>
              <a:rPr lang="en-US" altLang="ko-KR" sz="1400" dirty="0"/>
              <a:t>. </a:t>
            </a:r>
            <a:r>
              <a:rPr lang="en-US" altLang="ko-KR" sz="1400" b="1" dirty="0"/>
              <a:t>You have three types of metrics you can use in an HPA object</a:t>
            </a:r>
            <a:r>
              <a:rPr lang="en-US" altLang="ko-KR" sz="1400" dirty="0"/>
              <a:t> :</a:t>
            </a:r>
          </a:p>
          <a:p>
            <a:pPr lvl="2">
              <a:buFont typeface="Wingdings" panose="05000000000000000000" pitchFamily="2" charset="2"/>
              <a:buChar char="§"/>
            </a:pPr>
            <a:r>
              <a:rPr lang="en-US" altLang="ko-KR" sz="1400" b="1" dirty="0"/>
              <a:t>Resource</a:t>
            </a:r>
          </a:p>
          <a:p>
            <a:pPr lvl="2">
              <a:buFont typeface="Wingdings" panose="05000000000000000000" pitchFamily="2" charset="2"/>
              <a:buChar char="§"/>
            </a:pPr>
            <a:r>
              <a:rPr lang="en-US" altLang="ko-KR" sz="1400" b="1" dirty="0"/>
              <a:t>Pods</a:t>
            </a:r>
          </a:p>
          <a:p>
            <a:pPr lvl="2">
              <a:buFont typeface="Wingdings" panose="05000000000000000000" pitchFamily="2" charset="2"/>
              <a:buChar char="§"/>
            </a:pPr>
            <a:r>
              <a:rPr lang="en-US" altLang="ko-KR" sz="1400" b="1" dirty="0"/>
              <a:t>Object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339E007-F4B6-A3BD-D049-E32CBB3F894C}"/>
              </a:ext>
            </a:extLst>
          </p:cNvPr>
          <p:cNvPicPr>
            <a:picLocks noChangeAspect="1"/>
          </p:cNvPicPr>
          <p:nvPr/>
        </p:nvPicPr>
        <p:blipFill>
          <a:blip r:embed="rId2"/>
          <a:stretch>
            <a:fillRect/>
          </a:stretch>
        </p:blipFill>
        <p:spPr>
          <a:xfrm>
            <a:off x="838200" y="2459427"/>
            <a:ext cx="10515600" cy="2392299"/>
          </a:xfrm>
          <a:prstGeom prst="rect">
            <a:avLst/>
          </a:prstGeom>
        </p:spPr>
      </p:pic>
    </p:spTree>
    <p:extLst>
      <p:ext uri="{BB962C8B-B14F-4D97-AF65-F5344CB8AC3E}">
        <p14:creationId xmlns:p14="http://schemas.microsoft.com/office/powerpoint/2010/main" val="21087081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Autoscaling(24/27)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Other and Custom Metrics :</a:t>
            </a:r>
            <a:endParaRPr lang="en-US" altLang="ko-KR" sz="1400" dirty="0"/>
          </a:p>
          <a:p>
            <a:pPr lvl="1">
              <a:buFont typeface="Wingdings" panose="05000000000000000000" pitchFamily="2" charset="2"/>
              <a:buChar char="§"/>
            </a:pPr>
            <a:r>
              <a:rPr lang="en-US" altLang="ko-KR" sz="1400" b="1" dirty="0"/>
              <a:t>The </a:t>
            </a:r>
            <a:r>
              <a:rPr lang="en-US" altLang="ko-KR" sz="1400" b="1" dirty="0">
                <a:solidFill>
                  <a:srgbClr val="FF0000"/>
                </a:solidFill>
              </a:rPr>
              <a:t>Resource</a:t>
            </a:r>
            <a:r>
              <a:rPr lang="en-US" altLang="ko-KR" sz="1400" b="1" dirty="0"/>
              <a:t> type makes the </a:t>
            </a:r>
            <a:r>
              <a:rPr lang="en-US" altLang="ko-KR" sz="1400" b="1" dirty="0" err="1"/>
              <a:t>autoscaler</a:t>
            </a:r>
            <a:r>
              <a:rPr lang="en-US" altLang="ko-KR" sz="1400" b="1" dirty="0"/>
              <a:t> base its autoscaling decisions on a resource metric</a:t>
            </a:r>
            <a:r>
              <a:rPr lang="en-US" altLang="ko-KR" sz="1400" dirty="0"/>
              <a:t>, like the ones specified in a container’s resource requests.</a:t>
            </a:r>
          </a:p>
          <a:p>
            <a:pPr lvl="1">
              <a:buFont typeface="Wingdings" panose="05000000000000000000" pitchFamily="2" charset="2"/>
              <a:buChar char="§"/>
            </a:pPr>
            <a:r>
              <a:rPr lang="en-US" altLang="ko-KR" sz="1400" b="1" dirty="0"/>
              <a:t>The </a:t>
            </a:r>
            <a:r>
              <a:rPr lang="en-US" altLang="ko-KR" sz="1400" b="1" dirty="0">
                <a:solidFill>
                  <a:srgbClr val="FF0000"/>
                </a:solidFill>
              </a:rPr>
              <a:t>Pods</a:t>
            </a:r>
            <a:r>
              <a:rPr lang="en-US" altLang="ko-KR" sz="1400" b="1" dirty="0"/>
              <a:t> type is used to refer to any other (including custom) metric related to the pod directly</a:t>
            </a:r>
            <a:r>
              <a:rPr lang="en-US" altLang="ko-KR" sz="1400" dirty="0"/>
              <a:t>. An example of such a metric could be the already mentioned “</a:t>
            </a:r>
            <a:r>
              <a:rPr lang="en-US" altLang="ko-KR" sz="1400" b="1" dirty="0">
                <a:solidFill>
                  <a:srgbClr val="FF0000"/>
                </a:solidFill>
              </a:rPr>
              <a:t>Queries-Per-Second (QPS)</a:t>
            </a:r>
            <a:r>
              <a:rPr lang="en-US" altLang="ko-KR" sz="1400" b="1" dirty="0"/>
              <a:t>” </a:t>
            </a:r>
            <a:r>
              <a:rPr lang="en-US" altLang="ko-KR" sz="1400" dirty="0"/>
              <a:t>or </a:t>
            </a:r>
            <a:r>
              <a:rPr lang="en-US" altLang="ko-KR" sz="1400" b="1" dirty="0"/>
              <a:t>the number of messages in a message broker’s queue </a:t>
            </a:r>
            <a:r>
              <a:rPr lang="en-US" altLang="ko-KR" sz="1400" dirty="0"/>
              <a:t>(</a:t>
            </a:r>
            <a:r>
              <a:rPr lang="en-US" altLang="ko-KR" sz="1400" b="1" dirty="0"/>
              <a:t>when the message broker is running as a pod</a:t>
            </a:r>
            <a:r>
              <a:rPr lang="en-US" altLang="ko-KR" sz="1400" dirty="0"/>
              <a:t>). </a:t>
            </a:r>
            <a:r>
              <a:rPr lang="en-US" altLang="ko-KR" sz="1400" b="1" dirty="0"/>
              <a:t>To configure the </a:t>
            </a:r>
            <a:r>
              <a:rPr lang="en-US" altLang="ko-KR" sz="1400" b="1" dirty="0" err="1"/>
              <a:t>autoscaler</a:t>
            </a:r>
            <a:r>
              <a:rPr lang="en-US" altLang="ko-KR" sz="1400" b="1" dirty="0"/>
              <a:t> to use the pod’s QPS metric</a:t>
            </a:r>
            <a:r>
              <a:rPr lang="en-US" altLang="ko-KR" sz="1400" dirty="0"/>
              <a:t>, the HPA object would need to include the entry shown in the following listing under its “</a:t>
            </a:r>
            <a:r>
              <a:rPr lang="en-US" altLang="ko-KR" sz="1400" b="1" dirty="0"/>
              <a:t>metrics</a:t>
            </a:r>
            <a:r>
              <a:rPr lang="en-US" altLang="ko-KR" sz="1400" dirty="0"/>
              <a:t>” field.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example in the above listing </a:t>
            </a:r>
            <a:r>
              <a:rPr lang="en-US" altLang="ko-KR" sz="1400" b="1" dirty="0"/>
              <a:t>configures the </a:t>
            </a:r>
            <a:r>
              <a:rPr lang="en-US" altLang="ko-KR" sz="1400" b="1" dirty="0" err="1"/>
              <a:t>autoscaler</a:t>
            </a:r>
            <a:r>
              <a:rPr lang="en-US" altLang="ko-KR" sz="1400" b="1" dirty="0"/>
              <a:t> to keep the average QPS of all the pods managed by the </a:t>
            </a:r>
            <a:r>
              <a:rPr lang="en-US" altLang="ko-KR" sz="1400" b="1" dirty="0" err="1"/>
              <a:t>ReplicaSet</a:t>
            </a:r>
            <a:r>
              <a:rPr lang="en-US" altLang="ko-KR" sz="1400" b="1" dirty="0"/>
              <a:t> (or other) controller targeted by this HPA resource at 100</a:t>
            </a:r>
            <a:r>
              <a:rPr lang="en-US" altLang="ko-KR" sz="1400" dirty="0"/>
              <a:t>.</a:t>
            </a:r>
          </a:p>
          <a:p>
            <a:pPr lvl="1">
              <a:buFont typeface="Wingdings" panose="05000000000000000000" pitchFamily="2" charset="2"/>
              <a:buChar char="§"/>
            </a:pPr>
            <a:r>
              <a:rPr lang="en-US" altLang="ko-KR" sz="1400" b="1" dirty="0"/>
              <a:t>NOTE : For more information, refer to </a:t>
            </a:r>
            <a:r>
              <a:rPr lang="en-US" altLang="ko-KR" sz="1400" b="1" dirty="0">
                <a:hlinkClick r:id="rId2"/>
              </a:rPr>
              <a:t>https://kubernetes.io/docs/tasks/run-application/horizontal-pod-autoscale-walkthrough/</a:t>
            </a:r>
            <a:r>
              <a:rPr lang="en-US" altLang="ko-KR" sz="1400" dirty="0"/>
              <a:t>. </a:t>
            </a:r>
          </a:p>
          <a:p>
            <a:pPr lvl="1">
              <a:buFont typeface="Wingdings" panose="05000000000000000000" pitchFamily="2" charset="2"/>
              <a:buChar char="§"/>
            </a:pPr>
            <a:r>
              <a:rPr lang="en-US" altLang="ko-KR" sz="1400" b="1" dirty="0"/>
              <a:t>NOTICE : I didn’t test the above and the next example.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F112AF4-52A2-EF21-7FE2-FD0AE3456D3E}"/>
              </a:ext>
            </a:extLst>
          </p:cNvPr>
          <p:cNvSpPr txBox="1"/>
          <p:nvPr/>
        </p:nvSpPr>
        <p:spPr>
          <a:xfrm>
            <a:off x="3047326" y="2775372"/>
            <a:ext cx="6097348" cy="1631216"/>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spec:</a:t>
            </a:r>
          </a:p>
          <a:p>
            <a:r>
              <a:rPr lang="en-US" altLang="ko-KR" sz="1000" b="1" dirty="0"/>
              <a:t>…</a:t>
            </a:r>
          </a:p>
          <a:p>
            <a:r>
              <a:rPr lang="en-US" altLang="ko-KR" sz="1000" b="1" dirty="0"/>
              <a:t>  metrics:</a:t>
            </a:r>
          </a:p>
          <a:p>
            <a:r>
              <a:rPr lang="en-US" altLang="ko-KR" sz="1000" b="1" dirty="0"/>
              <a:t>  - resource:</a:t>
            </a:r>
          </a:p>
          <a:p>
            <a:r>
              <a:rPr lang="en-US" altLang="ko-KR" sz="1000" b="1" dirty="0">
                <a:solidFill>
                  <a:srgbClr val="FF0000"/>
                </a:solidFill>
              </a:rPr>
              <a:t>      name: </a:t>
            </a:r>
            <a:r>
              <a:rPr lang="en-US" altLang="ko-KR" sz="1000" b="1" dirty="0" err="1">
                <a:solidFill>
                  <a:srgbClr val="FF0000"/>
                </a:solidFill>
              </a:rPr>
              <a:t>qps</a:t>
            </a:r>
            <a:endParaRPr lang="en-US" altLang="ko-KR" sz="1000" b="1" dirty="0">
              <a:solidFill>
                <a:srgbClr val="FF0000"/>
              </a:solidFill>
            </a:endParaRPr>
          </a:p>
          <a:p>
            <a:r>
              <a:rPr lang="en-US" altLang="ko-KR" sz="1000" b="1" dirty="0">
                <a:solidFill>
                  <a:srgbClr val="FF0000"/>
                </a:solidFill>
              </a:rPr>
              <a:t>      target:</a:t>
            </a:r>
          </a:p>
          <a:p>
            <a:r>
              <a:rPr lang="en-US" altLang="ko-KR" sz="1000" b="1" dirty="0">
                <a:solidFill>
                  <a:srgbClr val="FF0000"/>
                </a:solidFill>
              </a:rPr>
              <a:t>        </a:t>
            </a:r>
            <a:r>
              <a:rPr lang="en-US" altLang="ko-KR" sz="1000" b="1" dirty="0" err="1">
                <a:solidFill>
                  <a:srgbClr val="FF0000"/>
                </a:solidFill>
              </a:rPr>
              <a:t>averageValue</a:t>
            </a:r>
            <a:r>
              <a:rPr lang="en-US" altLang="ko-KR" sz="1000" b="1" dirty="0">
                <a:solidFill>
                  <a:srgbClr val="FF0000"/>
                </a:solidFill>
              </a:rPr>
              <a:t>: 100</a:t>
            </a:r>
          </a:p>
          <a:p>
            <a:r>
              <a:rPr lang="en-US" altLang="ko-KR" sz="1000" b="1" dirty="0">
                <a:solidFill>
                  <a:srgbClr val="FF0000"/>
                </a:solidFill>
              </a:rPr>
              <a:t>  type: Pods</a:t>
            </a:r>
          </a:p>
          <a:p>
            <a:r>
              <a:rPr lang="en-US" altLang="ko-KR" sz="1000" b="1" dirty="0"/>
              <a:t>...</a:t>
            </a:r>
            <a:endParaRPr lang="ko-KR" altLang="en-US" sz="1000" b="1" dirty="0"/>
          </a:p>
        </p:txBody>
      </p:sp>
    </p:spTree>
    <p:extLst>
      <p:ext uri="{BB962C8B-B14F-4D97-AF65-F5344CB8AC3E}">
        <p14:creationId xmlns:p14="http://schemas.microsoft.com/office/powerpoint/2010/main" val="40908430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Autoscaling(25/27)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Based on Other and Custom Metrics :</a:t>
            </a:r>
            <a:endParaRPr lang="en-US" altLang="ko-KR" sz="1400" dirty="0"/>
          </a:p>
          <a:p>
            <a:pPr lvl="1">
              <a:buFont typeface="Wingdings" panose="05000000000000000000" pitchFamily="2" charset="2"/>
              <a:buChar char="§"/>
            </a:pPr>
            <a:r>
              <a:rPr lang="en-US" altLang="ko-KR" sz="1400" b="1" dirty="0"/>
              <a:t>The </a:t>
            </a:r>
            <a:r>
              <a:rPr lang="en-US" altLang="ko-KR" sz="1400" b="1" dirty="0">
                <a:solidFill>
                  <a:srgbClr val="FF0000"/>
                </a:solidFill>
              </a:rPr>
              <a:t>Object</a:t>
            </a:r>
            <a:r>
              <a:rPr lang="en-US" altLang="ko-KR" sz="1400" b="1" dirty="0"/>
              <a:t> metric type is used when you want to make the </a:t>
            </a:r>
            <a:r>
              <a:rPr lang="en-US" altLang="ko-KR" sz="1400" b="1" dirty="0" err="1"/>
              <a:t>autoscaler</a:t>
            </a:r>
            <a:r>
              <a:rPr lang="en-US" altLang="ko-KR" sz="1400" b="1" dirty="0"/>
              <a:t> scale pods based on a metric that doesn’t pertain directly to those pods</a:t>
            </a:r>
            <a:r>
              <a:rPr lang="en-US" altLang="ko-KR" sz="1400" dirty="0"/>
              <a:t>. For example, you may want to scale pods according to a metric of another cluster object, such as an </a:t>
            </a:r>
            <a:r>
              <a:rPr lang="en-US" altLang="ko-KR" sz="1400" b="1" dirty="0"/>
              <a:t>Ingress object</a:t>
            </a:r>
            <a:r>
              <a:rPr lang="en-US" altLang="ko-KR" sz="1400" dirty="0"/>
              <a:t>. The metric could be </a:t>
            </a:r>
            <a:r>
              <a:rPr lang="en-US" altLang="ko-KR" sz="1400" b="1" dirty="0"/>
              <a:t>QPS</a:t>
            </a:r>
            <a:r>
              <a:rPr lang="en-US" altLang="ko-KR" sz="1400" dirty="0"/>
              <a:t> as in listed in the previous page, </a:t>
            </a:r>
            <a:r>
              <a:rPr lang="en-US" altLang="ko-KR" sz="1400" b="1" dirty="0"/>
              <a:t>the average request latency</a:t>
            </a:r>
            <a:r>
              <a:rPr lang="en-US" altLang="ko-KR" sz="1400" dirty="0"/>
              <a:t>, or something else completely.</a:t>
            </a:r>
          </a:p>
          <a:p>
            <a:pPr lvl="1">
              <a:buFont typeface="Wingdings" panose="05000000000000000000" pitchFamily="2" charset="2"/>
              <a:buChar char="§"/>
            </a:pPr>
            <a:r>
              <a:rPr lang="en-US" altLang="ko-KR" sz="1400" b="1" dirty="0"/>
              <a:t>Unlike in the previous case, where the </a:t>
            </a:r>
            <a:r>
              <a:rPr lang="en-US" altLang="ko-KR" sz="1400" b="1" dirty="0" err="1"/>
              <a:t>autoscaler</a:t>
            </a:r>
            <a:r>
              <a:rPr lang="en-US" altLang="ko-KR" sz="1400" b="1" dirty="0"/>
              <a:t> needed to obtain the metric for all targeted pods and then use the average of those values, when you use an </a:t>
            </a:r>
            <a:r>
              <a:rPr lang="en-US" altLang="ko-KR" sz="1400" b="1" dirty="0">
                <a:solidFill>
                  <a:srgbClr val="FF0000"/>
                </a:solidFill>
              </a:rPr>
              <a:t>Object metric type</a:t>
            </a:r>
            <a:r>
              <a:rPr lang="en-US" altLang="ko-KR" sz="1400" b="1" dirty="0"/>
              <a:t>, </a:t>
            </a:r>
            <a:r>
              <a:rPr lang="en-US" altLang="ko-KR" sz="1400" b="1" dirty="0">
                <a:solidFill>
                  <a:srgbClr val="FF0000"/>
                </a:solidFill>
              </a:rPr>
              <a:t>the </a:t>
            </a:r>
            <a:r>
              <a:rPr lang="en-US" altLang="ko-KR" sz="1400" b="1" dirty="0" err="1">
                <a:solidFill>
                  <a:srgbClr val="FF0000"/>
                </a:solidFill>
              </a:rPr>
              <a:t>autoscaler</a:t>
            </a:r>
            <a:r>
              <a:rPr lang="en-US" altLang="ko-KR" sz="1400" b="1" dirty="0">
                <a:solidFill>
                  <a:srgbClr val="FF0000"/>
                </a:solidFill>
              </a:rPr>
              <a:t> obtains a single metric from the single object</a:t>
            </a:r>
            <a:r>
              <a:rPr lang="en-US" altLang="ko-KR" sz="1400" dirty="0"/>
              <a:t>. In the HPA definition, you need to </a:t>
            </a:r>
            <a:r>
              <a:rPr lang="en-US" altLang="ko-KR" sz="1400" b="1" dirty="0"/>
              <a:t>specify the target object and the target value</a:t>
            </a:r>
            <a:r>
              <a:rPr lang="en-US" altLang="ko-KR" sz="1400" dirty="0"/>
              <a:t>. The following listing shows an example.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the above example, </a:t>
            </a:r>
            <a:r>
              <a:rPr lang="en-US" altLang="ko-KR" sz="1400" b="1" dirty="0"/>
              <a:t>the HPA is configured to use the </a:t>
            </a:r>
            <a:r>
              <a:rPr lang="en-US" altLang="ko-KR" sz="1400" b="1" dirty="0" err="1"/>
              <a:t>latencyMillis</a:t>
            </a:r>
            <a:r>
              <a:rPr lang="en-US" altLang="ko-KR" sz="1400" b="1" dirty="0"/>
              <a:t> metric of the frontend Ingress object</a:t>
            </a:r>
            <a:r>
              <a:rPr lang="en-US" altLang="ko-KR" sz="1400" dirty="0"/>
              <a:t>. The target value for the metric is 20. </a:t>
            </a:r>
            <a:r>
              <a:rPr lang="en-US" altLang="ko-KR" sz="1400" b="1" dirty="0"/>
              <a:t>The horizontal pod </a:t>
            </a:r>
            <a:r>
              <a:rPr lang="en-US" altLang="ko-KR" sz="1400" b="1" dirty="0" err="1"/>
              <a:t>autoscaler</a:t>
            </a:r>
            <a:r>
              <a:rPr lang="en-US" altLang="ko-KR" sz="1400" b="1" dirty="0"/>
              <a:t> will monitor the Ingress’ metric and if it rises too far above the target value, the </a:t>
            </a:r>
            <a:r>
              <a:rPr lang="en-US" altLang="ko-KR" sz="1400" b="1" dirty="0" err="1"/>
              <a:t>autoscaler</a:t>
            </a:r>
            <a:r>
              <a:rPr lang="en-US" altLang="ko-KR" sz="1400" b="1" dirty="0"/>
              <a:t> will scale the “</a:t>
            </a:r>
            <a:r>
              <a:rPr lang="en-US" altLang="ko-KR" sz="1400" b="1" dirty="0" err="1"/>
              <a:t>kubia</a:t>
            </a:r>
            <a:r>
              <a:rPr lang="en-US" altLang="ko-KR" sz="1400" b="1" dirty="0"/>
              <a:t>” Deployment resource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67740D-E4CA-FAE0-8B5B-ABE8D056B0B5}"/>
              </a:ext>
            </a:extLst>
          </p:cNvPr>
          <p:cNvSpPr txBox="1"/>
          <p:nvPr/>
        </p:nvSpPr>
        <p:spPr>
          <a:xfrm>
            <a:off x="3047326" y="2868194"/>
            <a:ext cx="6097348" cy="2554545"/>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spec:</a:t>
            </a:r>
          </a:p>
          <a:p>
            <a:r>
              <a:rPr lang="en-US" altLang="ko-KR" sz="1000" b="1" dirty="0"/>
              <a:t>  metrics:</a:t>
            </a:r>
          </a:p>
          <a:p>
            <a:r>
              <a:rPr lang="en-US" altLang="ko-KR" sz="1000" b="1" dirty="0"/>
              <a:t>  - type: </a:t>
            </a:r>
            <a:r>
              <a:rPr lang="en-US" altLang="ko-KR" sz="1000" b="1" dirty="0">
                <a:solidFill>
                  <a:srgbClr val="FF0000"/>
                </a:solidFill>
              </a:rPr>
              <a:t>Object</a:t>
            </a:r>
          </a:p>
          <a:p>
            <a:r>
              <a:rPr lang="en-US" altLang="ko-KR" sz="1000" b="1" dirty="0"/>
              <a:t>    resource:</a:t>
            </a:r>
          </a:p>
          <a:p>
            <a:r>
              <a:rPr lang="en-US" altLang="ko-KR" sz="1000" b="1" dirty="0"/>
              <a:t>      name: </a:t>
            </a:r>
            <a:r>
              <a:rPr lang="en-US" altLang="ko-KR" sz="1000" b="1" dirty="0" err="1">
                <a:solidFill>
                  <a:srgbClr val="FF0000"/>
                </a:solidFill>
              </a:rPr>
              <a:t>latencyMillis</a:t>
            </a:r>
            <a:endParaRPr lang="en-US" altLang="ko-KR" sz="1000" b="1" dirty="0">
              <a:solidFill>
                <a:srgbClr val="FF0000"/>
              </a:solidFill>
            </a:endParaRPr>
          </a:p>
          <a:p>
            <a:r>
              <a:rPr lang="en-US" altLang="ko-KR" sz="1000" b="1" dirty="0"/>
              <a:t>      target:</a:t>
            </a:r>
          </a:p>
          <a:p>
            <a:r>
              <a:rPr lang="en-US" altLang="ko-KR" sz="1000" b="1" dirty="0"/>
              <a:t>        </a:t>
            </a:r>
            <a:r>
              <a:rPr lang="en-US" altLang="ko-KR" sz="1000" b="1" dirty="0" err="1"/>
              <a:t>apiVersion</a:t>
            </a:r>
            <a:r>
              <a:rPr lang="en-US" altLang="ko-KR" sz="1000" b="1" dirty="0"/>
              <a:t>: apps/v1</a:t>
            </a:r>
          </a:p>
          <a:p>
            <a:r>
              <a:rPr lang="en-US" altLang="ko-KR" sz="1000" b="1" dirty="0"/>
              <a:t>        kind: </a:t>
            </a:r>
            <a:r>
              <a:rPr lang="en-US" altLang="ko-KR" sz="1000" b="1" dirty="0">
                <a:solidFill>
                  <a:srgbClr val="FF0000"/>
                </a:solidFill>
              </a:rPr>
              <a:t>Ingress</a:t>
            </a:r>
          </a:p>
          <a:p>
            <a:r>
              <a:rPr lang="en-US" altLang="ko-KR" sz="1000" b="1" dirty="0"/>
              <a:t>        name: frontend</a:t>
            </a:r>
          </a:p>
          <a:p>
            <a:r>
              <a:rPr lang="en-US" altLang="ko-KR" sz="1000" b="1" dirty="0"/>
              <a:t>      </a:t>
            </a:r>
            <a:r>
              <a:rPr lang="en-US" altLang="ko-KR" sz="1000" b="1" dirty="0" err="1"/>
              <a:t>targetValue</a:t>
            </a:r>
            <a:r>
              <a:rPr lang="en-US" altLang="ko-KR" sz="1000" b="1" dirty="0"/>
              <a:t>: 20</a:t>
            </a:r>
          </a:p>
          <a:p>
            <a:r>
              <a:rPr lang="en-US" altLang="ko-KR" sz="1000" b="1" dirty="0"/>
              <a:t>  </a:t>
            </a:r>
            <a:r>
              <a:rPr lang="en-US" altLang="ko-KR" sz="1000" b="1" dirty="0" err="1"/>
              <a:t>scaleTargetRef</a:t>
            </a:r>
            <a:r>
              <a:rPr lang="en-US" altLang="ko-KR" sz="1000" b="1" dirty="0"/>
              <a:t>:</a:t>
            </a:r>
          </a:p>
          <a:p>
            <a:r>
              <a:rPr lang="en-US" altLang="ko-KR" sz="1000" b="1" dirty="0"/>
              <a:t>    </a:t>
            </a:r>
            <a:r>
              <a:rPr lang="en-US" altLang="ko-KR" sz="1000" b="1" dirty="0" err="1"/>
              <a:t>apiVersion</a:t>
            </a:r>
            <a:r>
              <a:rPr lang="en-US" altLang="ko-KR" sz="1000" b="1" dirty="0"/>
              <a:t>: apps/v1</a:t>
            </a:r>
          </a:p>
          <a:p>
            <a:r>
              <a:rPr lang="en-US" altLang="ko-KR" sz="1000" b="1" dirty="0"/>
              <a:t>    kind: Deployment</a:t>
            </a:r>
          </a:p>
          <a:p>
            <a:r>
              <a:rPr lang="en-US" altLang="ko-KR" sz="1000" b="1" dirty="0"/>
              <a:t>    name: </a:t>
            </a:r>
            <a:r>
              <a:rPr lang="en-US" altLang="ko-KR" sz="1000" b="1" dirty="0" err="1"/>
              <a:t>kubia</a:t>
            </a:r>
            <a:endParaRPr lang="en-US" altLang="ko-KR" sz="1000" b="1" dirty="0"/>
          </a:p>
          <a:p>
            <a:r>
              <a:rPr lang="en-US" altLang="ko-KR" sz="1000" b="1" dirty="0"/>
              <a:t>...</a:t>
            </a:r>
            <a:endParaRPr lang="ko-KR" altLang="en-US" sz="1000" b="1" dirty="0"/>
          </a:p>
        </p:txBody>
      </p:sp>
    </p:spTree>
    <p:extLst>
      <p:ext uri="{BB962C8B-B14F-4D97-AF65-F5344CB8AC3E}">
        <p14:creationId xmlns:p14="http://schemas.microsoft.com/office/powerpoint/2010/main" val="24501429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Autoscaling(26/27)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Determining Which Metrics are Appropriate for Autoscaling :</a:t>
            </a:r>
            <a:endParaRPr lang="en-US" altLang="ko-KR" sz="1400" dirty="0"/>
          </a:p>
          <a:p>
            <a:pPr lvl="1">
              <a:buFont typeface="Wingdings" panose="05000000000000000000" pitchFamily="2" charset="2"/>
              <a:buChar char="§"/>
            </a:pPr>
            <a:r>
              <a:rPr lang="en-US" altLang="ko-KR" sz="1400" b="1" dirty="0"/>
              <a:t>You need to understand that </a:t>
            </a:r>
            <a:r>
              <a:rPr lang="en-US" altLang="ko-KR" sz="1400" b="1" dirty="0">
                <a:solidFill>
                  <a:srgbClr val="FF0000"/>
                </a:solidFill>
              </a:rPr>
              <a:t>not all metrics are appropriate for use as the basis of autoscaling</a:t>
            </a:r>
            <a:r>
              <a:rPr lang="en-US" altLang="ko-KR" sz="1400" dirty="0"/>
              <a:t>. As mentioned previously, </a:t>
            </a:r>
            <a:r>
              <a:rPr lang="en-US" altLang="ko-KR" sz="1400" b="1" dirty="0"/>
              <a:t>the pods’ containers’ memory consumption isn’t a good metric for autoscaling</a:t>
            </a:r>
            <a:r>
              <a:rPr lang="en-US" altLang="ko-KR" sz="1400" dirty="0"/>
              <a:t>. </a:t>
            </a:r>
            <a:r>
              <a:rPr lang="en-US" altLang="ko-KR" sz="1400" b="1" dirty="0"/>
              <a:t>The </a:t>
            </a:r>
            <a:r>
              <a:rPr lang="en-US" altLang="ko-KR" sz="1400" b="1" dirty="0" err="1"/>
              <a:t>autoscaler</a:t>
            </a:r>
            <a:r>
              <a:rPr lang="en-US" altLang="ko-KR" sz="1400" b="1" dirty="0"/>
              <a:t> won’t function properly if increasing the number of replicas doesn’t result in a linear decrease of the average value of the observed metric (or at least close to linear)</a:t>
            </a:r>
            <a:r>
              <a:rPr lang="en-US" altLang="ko-KR" sz="1400" dirty="0"/>
              <a:t>.</a:t>
            </a:r>
          </a:p>
          <a:p>
            <a:pPr lvl="1">
              <a:buFont typeface="Wingdings" panose="05000000000000000000" pitchFamily="2" charset="2"/>
              <a:buChar char="§"/>
            </a:pPr>
            <a:r>
              <a:rPr lang="en-US" altLang="ko-KR" sz="1400" dirty="0"/>
              <a:t>For example, if you have only a single pod instance and </a:t>
            </a:r>
            <a:r>
              <a:rPr lang="en-US" altLang="ko-KR" sz="1400" b="1" dirty="0"/>
              <a:t>the value of the metric is “X” and the </a:t>
            </a:r>
            <a:r>
              <a:rPr lang="en-US" altLang="ko-KR" sz="1400" b="1" dirty="0" err="1"/>
              <a:t>autoscaler</a:t>
            </a:r>
            <a:r>
              <a:rPr lang="en-US" altLang="ko-KR" sz="1400" b="1" dirty="0"/>
              <a:t> scales up to two replicas, the metric needs to fall to somewhere close to “X/2”</a:t>
            </a:r>
            <a:r>
              <a:rPr lang="en-US" altLang="ko-KR" sz="1400" dirty="0"/>
              <a:t>. An example of such a custom metric is “</a:t>
            </a:r>
            <a:r>
              <a:rPr lang="en-US" altLang="ko-KR" sz="1400" b="1" dirty="0"/>
              <a:t>Queries per Second (QPS)</a:t>
            </a:r>
            <a:r>
              <a:rPr lang="en-US" altLang="ko-KR" sz="1400" dirty="0"/>
              <a:t>”, which in the case of web applications reports the number of requests the application is receiving per second. Increasing the number of replicas will always result in a proportionate decrease of QPS, because a greater number of pods will be handling the same total number of requests.</a:t>
            </a:r>
          </a:p>
          <a:p>
            <a:pPr lvl="1">
              <a:buFont typeface="Wingdings" panose="05000000000000000000" pitchFamily="2" charset="2"/>
              <a:buChar char="§"/>
            </a:pPr>
            <a:r>
              <a:rPr lang="en-US" altLang="ko-KR" sz="1400" b="1" dirty="0"/>
              <a:t>NOTE : Before you decide to base the </a:t>
            </a:r>
            <a:r>
              <a:rPr lang="en-US" altLang="ko-KR" sz="1400" b="1" dirty="0" err="1"/>
              <a:t>autoscaler</a:t>
            </a:r>
            <a:r>
              <a:rPr lang="en-US" altLang="ko-KR" sz="1400" b="1" dirty="0"/>
              <a:t> on your app’s own custom metric, be sure to think about how its value will behave when the number of pods increases or decreases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EB04063-D853-ED35-3761-889FBDC35967}"/>
              </a:ext>
            </a:extLst>
          </p:cNvPr>
          <p:cNvPicPr>
            <a:picLocks noChangeAspect="1"/>
          </p:cNvPicPr>
          <p:nvPr/>
        </p:nvPicPr>
        <p:blipFill>
          <a:blip r:embed="rId2"/>
          <a:stretch>
            <a:fillRect/>
          </a:stretch>
        </p:blipFill>
        <p:spPr>
          <a:xfrm>
            <a:off x="3297505" y="3533129"/>
            <a:ext cx="5596991" cy="2875901"/>
          </a:xfrm>
          <a:prstGeom prst="rect">
            <a:avLst/>
          </a:prstGeom>
        </p:spPr>
      </p:pic>
    </p:spTree>
    <p:extLst>
      <p:ext uri="{BB962C8B-B14F-4D97-AF65-F5344CB8AC3E}">
        <p14:creationId xmlns:p14="http://schemas.microsoft.com/office/powerpoint/2010/main" val="35340842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Pod Autoscaling(27/27)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Down to Zero Replicas :</a:t>
            </a:r>
            <a:endParaRPr lang="en-US" altLang="ko-KR" sz="1400" dirty="0"/>
          </a:p>
          <a:p>
            <a:pPr lvl="1">
              <a:buFont typeface="Wingdings" panose="05000000000000000000" pitchFamily="2" charset="2"/>
              <a:buChar char="§"/>
            </a:pPr>
            <a:r>
              <a:rPr lang="en-US" altLang="ko-KR" sz="1400" b="1" dirty="0"/>
              <a:t>The horizontal pod </a:t>
            </a:r>
            <a:r>
              <a:rPr lang="en-US" altLang="ko-KR" sz="1400" b="1" dirty="0" err="1"/>
              <a:t>autoscaler</a:t>
            </a:r>
            <a:r>
              <a:rPr lang="en-US" altLang="ko-KR" sz="1400" b="1" dirty="0"/>
              <a:t> currently doesn’t allow setting the “</a:t>
            </a:r>
            <a:r>
              <a:rPr lang="en-US" altLang="ko-KR" sz="1400" b="1" dirty="0" err="1">
                <a:solidFill>
                  <a:srgbClr val="FF0000"/>
                </a:solidFill>
              </a:rPr>
              <a:t>minReplicas</a:t>
            </a:r>
            <a:r>
              <a:rPr lang="en-US" altLang="ko-KR" sz="1400" b="1" dirty="0"/>
              <a:t>” field to 0, so the </a:t>
            </a:r>
            <a:r>
              <a:rPr lang="en-US" altLang="ko-KR" sz="1400" b="1" dirty="0" err="1"/>
              <a:t>autoscaler</a:t>
            </a:r>
            <a:r>
              <a:rPr lang="en-US" altLang="ko-KR" sz="1400" b="1" dirty="0"/>
              <a:t> will never scale down to zero, even if the pods aren’t doing anything</a:t>
            </a:r>
            <a:r>
              <a:rPr lang="en-US" altLang="ko-KR" sz="1400" dirty="0"/>
              <a:t>. Allowing the number of pods to be scaled down to zero can dramatically increase the utilization of your hardware. </a:t>
            </a:r>
            <a:r>
              <a:rPr lang="en-US" altLang="ko-KR" sz="1400" b="1" dirty="0"/>
              <a:t>When you run services that get requests only once every few hours or even days, it doesn’t make sense to have them running all the time, eating up resources that could be used by other pods</a:t>
            </a:r>
            <a:r>
              <a:rPr lang="en-US" altLang="ko-KR" sz="1400" dirty="0"/>
              <a:t>. </a:t>
            </a:r>
            <a:r>
              <a:rPr lang="en-US" altLang="ko-KR" sz="1400" b="1" dirty="0"/>
              <a:t>But you still want to have those services available immediately when a client request comes in</a:t>
            </a:r>
            <a:r>
              <a:rPr lang="en-US" altLang="ko-KR" sz="1400" dirty="0"/>
              <a:t>.</a:t>
            </a:r>
          </a:p>
          <a:p>
            <a:pPr lvl="1">
              <a:buFont typeface="Wingdings" panose="05000000000000000000" pitchFamily="2" charset="2"/>
              <a:buChar char="§"/>
            </a:pPr>
            <a:r>
              <a:rPr lang="en-US" altLang="ko-KR" sz="1400" b="1" dirty="0"/>
              <a:t>This is known as “</a:t>
            </a:r>
            <a:r>
              <a:rPr lang="en-US" altLang="ko-KR" sz="1400" b="1" dirty="0">
                <a:solidFill>
                  <a:srgbClr val="FF0000"/>
                </a:solidFill>
              </a:rPr>
              <a:t>idling</a:t>
            </a:r>
            <a:r>
              <a:rPr lang="en-US" altLang="ko-KR" sz="1400" b="1" dirty="0"/>
              <a:t>” and “</a:t>
            </a:r>
            <a:r>
              <a:rPr lang="en-US" altLang="ko-KR" sz="1400" b="1" dirty="0">
                <a:solidFill>
                  <a:srgbClr val="FF0000"/>
                </a:solidFill>
              </a:rPr>
              <a:t>un-idling</a:t>
            </a:r>
            <a:r>
              <a:rPr lang="en-US" altLang="ko-KR" sz="1400" b="1" dirty="0"/>
              <a:t>”</a:t>
            </a:r>
            <a:r>
              <a:rPr lang="en-US" altLang="ko-KR" sz="1400" dirty="0"/>
              <a:t>. </a:t>
            </a:r>
            <a:r>
              <a:rPr lang="en-US" altLang="ko-KR" sz="1400" b="1" dirty="0"/>
              <a:t>It allows pods that provide a certain service to be scaled down to zero. When a new request comes in, the request is blocked until the pod is brought up and then the request is finally forwarded to the pod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48A2056-1045-2491-DE8C-305B546ABC23}"/>
              </a:ext>
            </a:extLst>
          </p:cNvPr>
          <p:cNvPicPr>
            <a:picLocks noChangeAspect="1"/>
          </p:cNvPicPr>
          <p:nvPr/>
        </p:nvPicPr>
        <p:blipFill>
          <a:blip r:embed="rId2"/>
          <a:stretch>
            <a:fillRect/>
          </a:stretch>
        </p:blipFill>
        <p:spPr>
          <a:xfrm>
            <a:off x="3078914" y="3056713"/>
            <a:ext cx="6034171" cy="3352317"/>
          </a:xfrm>
          <a:prstGeom prst="rect">
            <a:avLst/>
          </a:prstGeom>
        </p:spPr>
      </p:pic>
    </p:spTree>
    <p:extLst>
      <p:ext uri="{BB962C8B-B14F-4D97-AF65-F5344CB8AC3E}">
        <p14:creationId xmlns:p14="http://schemas.microsoft.com/office/powerpoint/2010/main" val="41377360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Vertical Pod Autoscaling(1/3)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Scale Up :</a:t>
            </a:r>
            <a:endParaRPr lang="en-US" altLang="ko-KR" sz="1400" dirty="0"/>
          </a:p>
          <a:p>
            <a:pPr lvl="1">
              <a:buFont typeface="Wingdings" panose="05000000000000000000" pitchFamily="2" charset="2"/>
              <a:buChar char="§"/>
            </a:pPr>
            <a:r>
              <a:rPr lang="en-US" altLang="ko-KR" sz="1400" b="1" dirty="0">
                <a:solidFill>
                  <a:srgbClr val="FF0000"/>
                </a:solidFill>
              </a:rPr>
              <a:t>Horizontal scaling </a:t>
            </a:r>
            <a:r>
              <a:rPr lang="en-US" altLang="ko-KR" sz="1400" b="1" dirty="0"/>
              <a:t>is great, but not every application can be scaled horizontally</a:t>
            </a:r>
            <a:r>
              <a:rPr lang="en-US" altLang="ko-KR" sz="1400" dirty="0"/>
              <a:t>. For such applications, the only option is to </a:t>
            </a:r>
            <a:r>
              <a:rPr lang="en-US" altLang="ko-KR" sz="1400" b="1" dirty="0"/>
              <a:t>scale them vertically</a:t>
            </a:r>
            <a:r>
              <a:rPr lang="en-US" altLang="ko-KR" sz="1400" dirty="0"/>
              <a:t>—</a:t>
            </a:r>
            <a:r>
              <a:rPr lang="en-US" altLang="ko-KR" sz="1400" b="1" dirty="0">
                <a:solidFill>
                  <a:srgbClr val="FF0000"/>
                </a:solidFill>
              </a:rPr>
              <a:t>give them more CPU and/or memory</a:t>
            </a:r>
            <a:r>
              <a:rPr lang="en-US" altLang="ko-KR" sz="1400" dirty="0"/>
              <a:t>. Because a node usually has more resources than a single pod requests, it should almost always be possible to scale a pod vertically, right? </a:t>
            </a:r>
          </a:p>
          <a:p>
            <a:pPr lvl="1">
              <a:buFont typeface="Wingdings" panose="05000000000000000000" pitchFamily="2" charset="2"/>
              <a:buChar char="§"/>
            </a:pPr>
            <a:r>
              <a:rPr lang="en-US" altLang="ko-KR" sz="1400" b="1" dirty="0"/>
              <a:t>Because a pod’s resource requests are configured through fields in the pod manifest, </a:t>
            </a:r>
            <a:r>
              <a:rPr lang="en-US" altLang="ko-KR" sz="1400" b="1" dirty="0">
                <a:solidFill>
                  <a:srgbClr val="FF0000"/>
                </a:solidFill>
              </a:rPr>
              <a:t>vertically scaling </a:t>
            </a:r>
            <a:r>
              <a:rPr lang="en-US" altLang="ko-KR" sz="1400" b="1" dirty="0"/>
              <a:t>a pod would be performed by changing those fields</a:t>
            </a:r>
            <a:r>
              <a:rPr lang="en-US" altLang="ko-KR" sz="1400" dirty="0"/>
              <a:t>. </a:t>
            </a:r>
            <a:r>
              <a:rPr lang="en-US" altLang="ko-KR" sz="1400" b="1" dirty="0"/>
              <a:t>But, </a:t>
            </a:r>
            <a:r>
              <a:rPr lang="en-US" altLang="ko-KR" sz="1400" b="1" dirty="0">
                <a:solidFill>
                  <a:srgbClr val="FF0000"/>
                </a:solidFill>
              </a:rPr>
              <a:t>it’s currently not possible to change either resource requests or limits of existing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2FDC0D2-DA7B-740C-FD4C-58F435B67BBC}"/>
              </a:ext>
            </a:extLst>
          </p:cNvPr>
          <p:cNvPicPr>
            <a:picLocks noChangeAspect="1"/>
          </p:cNvPicPr>
          <p:nvPr/>
        </p:nvPicPr>
        <p:blipFill>
          <a:blip r:embed="rId2"/>
          <a:stretch>
            <a:fillRect/>
          </a:stretch>
        </p:blipFill>
        <p:spPr>
          <a:xfrm>
            <a:off x="3328987" y="2709862"/>
            <a:ext cx="5534025" cy="1438275"/>
          </a:xfrm>
          <a:prstGeom prst="rect">
            <a:avLst/>
          </a:prstGeom>
        </p:spPr>
      </p:pic>
    </p:spTree>
    <p:extLst>
      <p:ext uri="{BB962C8B-B14F-4D97-AF65-F5344CB8AC3E}">
        <p14:creationId xmlns:p14="http://schemas.microsoft.com/office/powerpoint/2010/main" val="20211844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Vertical Pod Autoscaling(2/3)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Automatically Configuring Resource Requests :</a:t>
            </a:r>
            <a:endParaRPr lang="en-US" altLang="ko-KR" sz="1400" dirty="0"/>
          </a:p>
          <a:p>
            <a:pPr lvl="1">
              <a:buFont typeface="Wingdings" panose="05000000000000000000" pitchFamily="2" charset="2"/>
              <a:buChar char="§"/>
            </a:pPr>
            <a:r>
              <a:rPr lang="en-US" altLang="ko-KR" sz="1400" b="1" dirty="0"/>
              <a:t>An experimental feature sets the CPU and memory requests on newly created pods, if their containers don’t have them set explicitly</a:t>
            </a:r>
            <a:r>
              <a:rPr lang="en-US" altLang="ko-KR" sz="1400" dirty="0"/>
              <a:t>. The feature is provided by an </a:t>
            </a:r>
            <a:r>
              <a:rPr lang="en-US" altLang="ko-KR" sz="1400" b="1" dirty="0"/>
              <a:t>“Admission Control” plugin called </a:t>
            </a:r>
            <a:r>
              <a:rPr lang="en-US" altLang="ko-KR" sz="1400" dirty="0"/>
              <a:t>“</a:t>
            </a:r>
            <a:r>
              <a:rPr lang="en-US" altLang="ko-KR" sz="1400" b="1" dirty="0" err="1">
                <a:solidFill>
                  <a:srgbClr val="FF0000"/>
                </a:solidFill>
              </a:rPr>
              <a:t>InitialResources</a:t>
            </a:r>
            <a:r>
              <a:rPr lang="en-US" altLang="ko-KR" sz="1400" dirty="0"/>
              <a:t>”. When a new pod without resource requests is created, </a:t>
            </a:r>
            <a:r>
              <a:rPr lang="en-US" altLang="ko-KR" sz="1400" b="1" dirty="0"/>
              <a:t>the plugin looks at historical resource usage data of the pod’s containers (per the underlying container image and tag) and sets the requests accordingly</a:t>
            </a:r>
            <a:r>
              <a:rPr lang="en-US" altLang="ko-KR" sz="1400" dirty="0"/>
              <a:t>. </a:t>
            </a:r>
          </a:p>
          <a:p>
            <a:pPr lvl="1">
              <a:buFont typeface="Wingdings" panose="05000000000000000000" pitchFamily="2" charset="2"/>
              <a:buChar char="§"/>
            </a:pPr>
            <a:r>
              <a:rPr lang="en-US" altLang="ko-KR" sz="1400" b="1" dirty="0"/>
              <a:t>You can deploy pods without specifying resource requests and rely on Kubernetes to eventually figure out what each container’s resource needs are</a:t>
            </a:r>
            <a:r>
              <a:rPr lang="en-US" altLang="ko-KR" sz="1400" dirty="0"/>
              <a:t>. </a:t>
            </a:r>
            <a:r>
              <a:rPr lang="en-US" altLang="ko-KR" sz="1400" b="1" dirty="0"/>
              <a:t>Effectively, Kubernetes is vertically scaling the pod</a:t>
            </a:r>
            <a:r>
              <a:rPr lang="en-US" altLang="ko-KR" sz="1400" dirty="0"/>
              <a:t>. For example, if a container keeps running out of memory, the next time a pod with that container image is created, its resource request for memory will be set higher automatically.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94F557C-4EA5-AD37-AEB2-A86D9CF4C3B6}"/>
              </a:ext>
            </a:extLst>
          </p:cNvPr>
          <p:cNvPicPr>
            <a:picLocks noChangeAspect="1"/>
          </p:cNvPicPr>
          <p:nvPr/>
        </p:nvPicPr>
        <p:blipFill>
          <a:blip r:embed="rId2"/>
          <a:stretch>
            <a:fillRect/>
          </a:stretch>
        </p:blipFill>
        <p:spPr>
          <a:xfrm>
            <a:off x="3439115" y="3591718"/>
            <a:ext cx="5313770" cy="2216601"/>
          </a:xfrm>
          <a:prstGeom prst="rect">
            <a:avLst/>
          </a:prstGeom>
          <a:ln>
            <a:solidFill>
              <a:schemeClr val="bg1">
                <a:lumMod val="50000"/>
              </a:schemeClr>
            </a:solidFill>
          </a:ln>
        </p:spPr>
      </p:pic>
    </p:spTree>
    <p:extLst>
      <p:ext uri="{BB962C8B-B14F-4D97-AF65-F5344CB8AC3E}">
        <p14:creationId xmlns:p14="http://schemas.microsoft.com/office/powerpoint/2010/main" val="23269213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Vertical Pod Autoscaling(3/3)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Resource Requests While a Pod is Running :</a:t>
            </a:r>
            <a:endParaRPr lang="en-US" altLang="ko-KR" sz="1400" dirty="0"/>
          </a:p>
          <a:p>
            <a:pPr lvl="1">
              <a:buFont typeface="Wingdings" panose="05000000000000000000" pitchFamily="2" charset="2"/>
              <a:buChar char="§"/>
            </a:pPr>
            <a:r>
              <a:rPr lang="en-US" altLang="ko-KR" sz="1400" b="1" dirty="0"/>
              <a:t>Eventually, the same mechanism will be used to modify an existing pod’s resource requests, which means it will vertically scale the pod while it’s running</a:t>
            </a:r>
            <a:r>
              <a:rPr lang="en-US" altLang="ko-KR" sz="1400" dirty="0"/>
              <a:t>. Please refer to the Kubernetes documentation to find out whether vertical pod autoscaling is implemented or not.</a:t>
            </a:r>
          </a:p>
          <a:p>
            <a:pPr lvl="1">
              <a:buFont typeface="Wingdings" panose="05000000000000000000" pitchFamily="2" charset="2"/>
              <a:buChar char="§"/>
            </a:pPr>
            <a:r>
              <a:rPr lang="en-US" altLang="ko-KR" sz="1400" b="1" dirty="0"/>
              <a:t>For Amazon or Google</a:t>
            </a:r>
            <a:r>
              <a:rPr lang="en-US" altLang="ko-KR" sz="1400" dirty="0"/>
              <a:t>, you can refer to </a:t>
            </a:r>
            <a:r>
              <a:rPr lang="en-US" altLang="ko-KR" sz="1400" b="1" dirty="0">
                <a:hlinkClick r:id="rId2"/>
              </a:rPr>
              <a:t>https://docs.aws.amazon.com/ko_kr/eks/latest/userguide/vertical-pod-autoscaler.html</a:t>
            </a:r>
            <a:r>
              <a:rPr lang="en-US" altLang="ko-KR" sz="1400" dirty="0"/>
              <a:t> or </a:t>
            </a:r>
            <a:r>
              <a:rPr lang="en-US" altLang="ko-KR" sz="1400" b="1" dirty="0">
                <a:hlinkClick r:id="rId3"/>
              </a:rPr>
              <a:t>https://cloud.google.com/kubernetes-engine/docs/concepts/verticalpodautoscaler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9E83C57-7277-11F0-4FBE-928598D68034}"/>
              </a:ext>
            </a:extLst>
          </p:cNvPr>
          <p:cNvPicPr>
            <a:picLocks noChangeAspect="1"/>
          </p:cNvPicPr>
          <p:nvPr/>
        </p:nvPicPr>
        <p:blipFill>
          <a:blip r:embed="rId4"/>
          <a:stretch>
            <a:fillRect/>
          </a:stretch>
        </p:blipFill>
        <p:spPr>
          <a:xfrm>
            <a:off x="3206369" y="2913134"/>
            <a:ext cx="5779262" cy="2989939"/>
          </a:xfrm>
          <a:prstGeom prst="rect">
            <a:avLst/>
          </a:prstGeom>
        </p:spPr>
      </p:pic>
    </p:spTree>
    <p:extLst>
      <p:ext uri="{BB962C8B-B14F-4D97-AF65-F5344CB8AC3E}">
        <p14:creationId xmlns:p14="http://schemas.microsoft.com/office/powerpoint/2010/main" val="18803394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a:t>
            </a:r>
            <a:r>
              <a:rPr lang="en-US" altLang="ko-KR" sz="1800" b="1" dirty="0" err="1"/>
              <a:t>Autoscaler</a:t>
            </a:r>
            <a:r>
              <a:rPr lang="en-US" altLang="ko-KR" sz="1800" b="1" dirty="0"/>
              <a:t> :</a:t>
            </a:r>
            <a:endParaRPr lang="en-US" altLang="ko-KR" sz="1400" dirty="0"/>
          </a:p>
          <a:p>
            <a:pPr lvl="1">
              <a:buFont typeface="Wingdings" panose="05000000000000000000" pitchFamily="2" charset="2"/>
              <a:buChar char="§"/>
            </a:pPr>
            <a:r>
              <a:rPr lang="en-US" altLang="ko-KR" sz="1400" b="1" dirty="0"/>
              <a:t>The Horizontal Pod </a:t>
            </a:r>
            <a:r>
              <a:rPr lang="en-US" altLang="ko-KR" sz="1400" b="1" dirty="0" err="1"/>
              <a:t>Autoscaler</a:t>
            </a:r>
            <a:r>
              <a:rPr lang="en-US" altLang="ko-KR" sz="1400" b="1" dirty="0"/>
              <a:t> creates additional pod instances when the need for them arises</a:t>
            </a:r>
            <a:r>
              <a:rPr lang="en-US" altLang="ko-KR" sz="1400" dirty="0"/>
              <a:t>. But what about when all your nodes are at capacity and can’t run any more pods? Obviously, this problem isn’t limited only to when new pod instances are created by the </a:t>
            </a:r>
            <a:r>
              <a:rPr lang="en-US" altLang="ko-KR" sz="1400" b="1" dirty="0" err="1"/>
              <a:t>Autoscaler</a:t>
            </a:r>
            <a:r>
              <a:rPr lang="en-US" altLang="ko-KR" sz="1400" dirty="0"/>
              <a:t>. </a:t>
            </a:r>
            <a:r>
              <a:rPr lang="en-US" altLang="ko-KR" sz="1400" b="1" dirty="0"/>
              <a:t>Even when creating pods manually, you may encounter the problem where none of the nodes can accept the new pods, because the node’s resources are used up by existing pods</a:t>
            </a:r>
            <a:r>
              <a:rPr lang="en-US" altLang="ko-KR" sz="1400" dirty="0"/>
              <a:t>.</a:t>
            </a:r>
          </a:p>
          <a:p>
            <a:pPr lvl="1">
              <a:buFont typeface="Wingdings" panose="05000000000000000000" pitchFamily="2" charset="2"/>
              <a:buChar char="§"/>
            </a:pPr>
            <a:r>
              <a:rPr lang="en-US" altLang="ko-KR" sz="1400" b="1" dirty="0"/>
              <a:t>In that case, you’d need to delete several of those existing pods, scale them down vertically, or add additional nodes to your cluster</a:t>
            </a:r>
            <a:r>
              <a:rPr lang="en-US" altLang="ko-KR" sz="1400" dirty="0"/>
              <a:t>. If your Kubernetes cluster is running on premises, you’d need to physically add a new machine and make it part of the Kubernetes cluster. But if your cluster is running on a cloud infrastructure, adding additional nodes is usually a matter of a few clicks or an API call to the cloud infrastructure. This can be done automatically, right? </a:t>
            </a:r>
          </a:p>
          <a:p>
            <a:pPr lvl="1">
              <a:buFont typeface="Wingdings" panose="05000000000000000000" pitchFamily="2" charset="2"/>
              <a:buChar char="§"/>
            </a:pPr>
            <a:r>
              <a:rPr lang="en-US" altLang="ko-KR" sz="1400" b="1" dirty="0"/>
              <a:t>Kubernetes includes the feature to automatically request additional nodes from the cloud provider as soon as it detects additional nodes are needed</a:t>
            </a:r>
            <a:r>
              <a:rPr lang="en-US" altLang="ko-KR" sz="1400" dirty="0"/>
              <a:t>. This is performed by the “</a:t>
            </a:r>
            <a:r>
              <a:rPr lang="en-US" altLang="ko-KR" sz="1400" b="1" dirty="0">
                <a:solidFill>
                  <a:srgbClr val="FF0000"/>
                </a:solidFill>
              </a:rPr>
              <a:t>Cluster </a:t>
            </a:r>
            <a:r>
              <a:rPr lang="en-US" altLang="ko-KR" sz="1400" b="1" dirty="0" err="1">
                <a:solidFill>
                  <a:srgbClr val="FF0000"/>
                </a:solidFill>
              </a:rPr>
              <a:t>Autoscaler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2AF049D-D257-305B-F545-66B384631EBC}"/>
              </a:ext>
            </a:extLst>
          </p:cNvPr>
          <p:cNvPicPr>
            <a:picLocks noChangeAspect="1"/>
          </p:cNvPicPr>
          <p:nvPr/>
        </p:nvPicPr>
        <p:blipFill>
          <a:blip r:embed="rId2"/>
          <a:stretch>
            <a:fillRect/>
          </a:stretch>
        </p:blipFill>
        <p:spPr>
          <a:xfrm>
            <a:off x="3719596" y="3706686"/>
            <a:ext cx="4752807" cy="2702344"/>
          </a:xfrm>
          <a:prstGeom prst="rect">
            <a:avLst/>
          </a:prstGeom>
        </p:spPr>
      </p:pic>
    </p:spTree>
    <p:extLst>
      <p:ext uri="{BB962C8B-B14F-4D97-AF65-F5344CB8AC3E}">
        <p14:creationId xmlns:p14="http://schemas.microsoft.com/office/powerpoint/2010/main" val="34651068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a:t>
            </a:r>
            <a:r>
              <a:rPr lang="en-US" altLang="ko-KR" sz="1800" b="1" dirty="0" err="1"/>
              <a:t>Autoscaler</a:t>
            </a:r>
            <a:r>
              <a:rPr lang="en-US" altLang="ko-KR" sz="1800" b="1" dirty="0"/>
              <a:t> :</a:t>
            </a:r>
            <a:endParaRPr lang="en-US" altLang="ko-KR" sz="1400" dirty="0"/>
          </a:p>
          <a:p>
            <a:pPr lvl="1">
              <a:buFont typeface="Wingdings" panose="05000000000000000000" pitchFamily="2" charset="2"/>
              <a:buChar char="§"/>
            </a:pPr>
            <a:r>
              <a:rPr lang="en-US" altLang="ko-KR" sz="1400" b="1" dirty="0"/>
              <a:t>The </a:t>
            </a:r>
            <a:r>
              <a:rPr lang="en-US" altLang="ko-KR" sz="1400" b="1" dirty="0">
                <a:solidFill>
                  <a:srgbClr val="FF0000"/>
                </a:solidFill>
              </a:rPr>
              <a:t>Cluster </a:t>
            </a:r>
            <a:r>
              <a:rPr lang="en-US" altLang="ko-KR" sz="1400" b="1" dirty="0" err="1">
                <a:solidFill>
                  <a:srgbClr val="FF0000"/>
                </a:solidFill>
              </a:rPr>
              <a:t>Autoscaler</a:t>
            </a:r>
            <a:r>
              <a:rPr lang="en-US" altLang="ko-KR" sz="1400" b="1" dirty="0">
                <a:solidFill>
                  <a:srgbClr val="FF0000"/>
                </a:solidFill>
              </a:rPr>
              <a:t> </a:t>
            </a:r>
            <a:r>
              <a:rPr lang="en-US" altLang="ko-KR" sz="1400" b="1" dirty="0"/>
              <a:t>takes care of automatically provisioning additional nodes when it notices a pod that can’t be scheduled to existing nodes because of a lack of resources on those nodes. It also de-provisions nodes when they’re underutilized for longer periods of time</a:t>
            </a:r>
            <a:r>
              <a:rPr lang="en-US" altLang="ko-KR" sz="1400" dirty="0"/>
              <a:t>. A new node will be provisioned if, after a new pod is created, the Scheduler can’t schedule it to any of the existing nodes. </a:t>
            </a:r>
            <a:r>
              <a:rPr lang="en-US" altLang="ko-KR" sz="1400" b="1" dirty="0"/>
              <a:t>The Cluster </a:t>
            </a:r>
            <a:r>
              <a:rPr lang="en-US" altLang="ko-KR" sz="1400" b="1" dirty="0" err="1"/>
              <a:t>Autoscaler</a:t>
            </a:r>
            <a:r>
              <a:rPr lang="en-US" altLang="ko-KR" sz="1400" b="1" dirty="0"/>
              <a:t> looks out for such pods and asks the cloud provider to start up an additional node</a:t>
            </a:r>
            <a:r>
              <a:rPr lang="en-US" altLang="ko-KR" sz="1400" dirty="0"/>
              <a:t>. But before doing that, </a:t>
            </a:r>
            <a:r>
              <a:rPr lang="en-US" altLang="ko-KR" sz="1400" b="1" dirty="0"/>
              <a:t>it checks whether the new node can even accommodate the pod</a:t>
            </a:r>
            <a:r>
              <a:rPr lang="en-US" altLang="ko-KR" sz="1400" dirty="0"/>
              <a:t>. After all, if that’s not the case, it makes no sense to start up such a node.</a:t>
            </a:r>
          </a:p>
          <a:p>
            <a:pPr lvl="1">
              <a:buFont typeface="Wingdings" panose="05000000000000000000" pitchFamily="2" charset="2"/>
              <a:buChar char="§"/>
            </a:pPr>
            <a:r>
              <a:rPr lang="en-US" altLang="ko-KR" sz="1400" b="1" dirty="0"/>
              <a:t>Cloud providers usually group nodes into groups (or pools) of same-sized nodes (or nodes having the same features). </a:t>
            </a:r>
            <a:r>
              <a:rPr lang="en-US" altLang="ko-KR" sz="1400" dirty="0"/>
              <a:t>The </a:t>
            </a:r>
            <a:r>
              <a:rPr lang="en-US" altLang="ko-KR" sz="1400" b="1" dirty="0"/>
              <a:t>Cluster </a:t>
            </a:r>
            <a:r>
              <a:rPr lang="en-US" altLang="ko-KR" sz="1400" b="1" dirty="0" err="1"/>
              <a:t>Autoscaler</a:t>
            </a:r>
            <a:r>
              <a:rPr lang="en-US" altLang="ko-KR" sz="1400" b="1" dirty="0"/>
              <a:t> </a:t>
            </a:r>
            <a:r>
              <a:rPr lang="en-US" altLang="ko-KR" sz="1400" dirty="0"/>
              <a:t>thus can’t simply say “Give me an additional node.” </a:t>
            </a:r>
            <a:r>
              <a:rPr lang="en-US" altLang="ko-KR" sz="1400" b="1" dirty="0"/>
              <a:t>It needs to also specify the </a:t>
            </a:r>
            <a:r>
              <a:rPr lang="en-US" altLang="ko-KR" sz="1400" b="1" dirty="0">
                <a:solidFill>
                  <a:srgbClr val="FF0000"/>
                </a:solidFill>
              </a:rPr>
              <a:t>node type</a:t>
            </a:r>
            <a:r>
              <a:rPr lang="en-US" altLang="ko-KR" sz="1400" b="1" dirty="0"/>
              <a:t>.</a:t>
            </a:r>
          </a:p>
          <a:p>
            <a:pPr lvl="1">
              <a:buFont typeface="Wingdings" panose="05000000000000000000" pitchFamily="2" charset="2"/>
              <a:buChar char="§"/>
            </a:pPr>
            <a:r>
              <a:rPr lang="en-US" altLang="ko-KR" sz="1400" b="1" dirty="0"/>
              <a:t>The Cluster </a:t>
            </a:r>
            <a:r>
              <a:rPr lang="en-US" altLang="ko-KR" sz="1400" b="1" dirty="0" err="1"/>
              <a:t>Autoscaler</a:t>
            </a:r>
            <a:r>
              <a:rPr lang="en-US" altLang="ko-KR" sz="1400" b="1" dirty="0"/>
              <a:t> does this by examining the available node groups to see if at least one node type would be able to fit the unscheduled pod</a:t>
            </a:r>
            <a:r>
              <a:rPr lang="en-US" altLang="ko-KR" sz="1400" dirty="0"/>
              <a:t>. If exactly one such node group exists, </a:t>
            </a:r>
            <a:r>
              <a:rPr lang="en-US" altLang="ko-KR" sz="1400" b="1" dirty="0"/>
              <a:t>the </a:t>
            </a:r>
            <a:r>
              <a:rPr lang="en-US" altLang="ko-KR" sz="1400" b="1" dirty="0" err="1"/>
              <a:t>Autoscaler</a:t>
            </a:r>
            <a:r>
              <a:rPr lang="en-US" altLang="ko-KR" sz="1400" b="1" dirty="0"/>
              <a:t> can increase the size of the node group to have the cloud provider add another node to the group</a:t>
            </a:r>
            <a:r>
              <a:rPr lang="en-US" altLang="ko-KR" sz="1400" dirty="0"/>
              <a:t>. </a:t>
            </a:r>
            <a:r>
              <a:rPr lang="en-US" altLang="ko-KR" sz="1400" b="1" dirty="0"/>
              <a:t>If more than one option is available, the </a:t>
            </a:r>
            <a:r>
              <a:rPr lang="en-US" altLang="ko-KR" sz="1400" b="1" dirty="0" err="1"/>
              <a:t>Autoscaler</a:t>
            </a:r>
            <a:r>
              <a:rPr lang="en-US" altLang="ko-KR" sz="1400" b="1" dirty="0"/>
              <a:t> must pick the best one</a:t>
            </a:r>
            <a:r>
              <a:rPr lang="en-US" altLang="ko-KR" sz="1400" dirty="0"/>
              <a:t>. The exact meaning of “</a:t>
            </a:r>
            <a:r>
              <a:rPr lang="en-US" altLang="ko-KR" sz="1400" b="1" dirty="0"/>
              <a:t>best</a:t>
            </a:r>
            <a:r>
              <a:rPr lang="en-US" altLang="ko-KR" sz="1400" dirty="0"/>
              <a:t>” will obviously need to be </a:t>
            </a:r>
            <a:r>
              <a:rPr lang="en-US" altLang="ko-KR" sz="1400" b="1" dirty="0">
                <a:solidFill>
                  <a:srgbClr val="FF0000"/>
                </a:solidFill>
              </a:rPr>
              <a:t>configurable</a:t>
            </a:r>
            <a:r>
              <a:rPr lang="en-US" altLang="ko-KR" sz="1400" dirty="0"/>
              <a:t>. </a:t>
            </a:r>
            <a:r>
              <a:rPr lang="en-US" altLang="ko-KR" sz="1400" b="1" dirty="0"/>
              <a:t>In the worst case, it selects a random one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49CEFA20-A98B-B288-9DDC-082F6CD7A4DB}"/>
              </a:ext>
            </a:extLst>
          </p:cNvPr>
          <p:cNvGrpSpPr/>
          <p:nvPr/>
        </p:nvGrpSpPr>
        <p:grpSpPr>
          <a:xfrm>
            <a:off x="4163540" y="3976546"/>
            <a:ext cx="3864920" cy="2432484"/>
            <a:chOff x="4163540" y="3976546"/>
            <a:chExt cx="3864920" cy="2432484"/>
          </a:xfrm>
        </p:grpSpPr>
        <p:pic>
          <p:nvPicPr>
            <p:cNvPr id="4" name="그림 3">
              <a:extLst>
                <a:ext uri="{FF2B5EF4-FFF2-40B4-BE49-F238E27FC236}">
                  <a16:creationId xmlns:a16="http://schemas.microsoft.com/office/drawing/2014/main" id="{423C84A1-2C56-7A17-FDAC-FFF56DCBDFA6}"/>
                </a:ext>
              </a:extLst>
            </p:cNvPr>
            <p:cNvPicPr>
              <a:picLocks noChangeAspect="1"/>
            </p:cNvPicPr>
            <p:nvPr/>
          </p:nvPicPr>
          <p:blipFill>
            <a:blip r:embed="rId2"/>
            <a:stretch>
              <a:fillRect/>
            </a:stretch>
          </p:blipFill>
          <p:spPr>
            <a:xfrm>
              <a:off x="4163540" y="3976546"/>
              <a:ext cx="3864920" cy="2432484"/>
            </a:xfrm>
            <a:prstGeom prst="rect">
              <a:avLst/>
            </a:prstGeom>
          </p:spPr>
        </p:pic>
        <p:sp>
          <p:nvSpPr>
            <p:cNvPr id="8" name="TextBox 7">
              <a:extLst>
                <a:ext uri="{FF2B5EF4-FFF2-40B4-BE49-F238E27FC236}">
                  <a16:creationId xmlns:a16="http://schemas.microsoft.com/office/drawing/2014/main" id="{4630E623-0FC3-91B4-5D2F-3E4EA0DBF741}"/>
                </a:ext>
              </a:extLst>
            </p:cNvPr>
            <p:cNvSpPr txBox="1"/>
            <p:nvPr/>
          </p:nvSpPr>
          <p:spPr>
            <a:xfrm>
              <a:off x="5527534" y="4442527"/>
              <a:ext cx="1298753" cy="246221"/>
            </a:xfrm>
            <a:prstGeom prst="rect">
              <a:avLst/>
            </a:prstGeom>
            <a:noFill/>
          </p:spPr>
          <p:txBody>
            <a:bodyPr wrap="none" rtlCol="0">
              <a:spAutoFit/>
            </a:bodyPr>
            <a:lstStyle/>
            <a:p>
              <a:pPr algn="l"/>
              <a:r>
                <a:rPr lang="en-US" altLang="ko-KR" sz="1000" b="1" dirty="0"/>
                <a:t>Cluster </a:t>
              </a:r>
              <a:r>
                <a:rPr lang="en-US" altLang="ko-KR" sz="1000" b="1" dirty="0" err="1"/>
                <a:t>Autoscaler</a:t>
              </a:r>
              <a:endParaRPr lang="ko-KR" altLang="en-US" sz="1000" b="1" dirty="0"/>
            </a:p>
          </p:txBody>
        </p:sp>
      </p:grpSp>
    </p:spTree>
    <p:extLst>
      <p:ext uri="{BB962C8B-B14F-4D97-AF65-F5344CB8AC3E}">
        <p14:creationId xmlns:p14="http://schemas.microsoft.com/office/powerpoint/2010/main" val="2188332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a:t>
            </a:r>
            <a:r>
              <a:rPr lang="en-US" altLang="ko-KR" sz="1800" b="1" dirty="0" err="1"/>
              <a:t>Autoscaler</a:t>
            </a:r>
            <a:r>
              <a:rPr lang="en-US" altLang="ko-KR" sz="1800" b="1" dirty="0"/>
              <a:t> :</a:t>
            </a:r>
            <a:endParaRPr lang="en-US" altLang="ko-KR" sz="1400" dirty="0"/>
          </a:p>
          <a:p>
            <a:pPr lvl="1">
              <a:buFont typeface="Wingdings" panose="05000000000000000000" pitchFamily="2" charset="2"/>
              <a:buChar char="§"/>
            </a:pPr>
            <a:r>
              <a:rPr lang="en-US" altLang="ko-KR" sz="1400" b="1" dirty="0"/>
              <a:t>A simple overview of how the cluster </a:t>
            </a:r>
            <a:r>
              <a:rPr lang="en-US" altLang="ko-KR" sz="1400" b="1" dirty="0" err="1"/>
              <a:t>Autoscaler</a:t>
            </a:r>
            <a:r>
              <a:rPr lang="en-US" altLang="ko-KR" sz="1400" b="1" dirty="0"/>
              <a:t> </a:t>
            </a:r>
            <a:r>
              <a:rPr lang="en-US" altLang="ko-KR" sz="1400" dirty="0"/>
              <a:t>reacts to an </a:t>
            </a:r>
            <a:r>
              <a:rPr lang="en-US" altLang="ko-KR" sz="1400" dirty="0" err="1"/>
              <a:t>unschedulable</a:t>
            </a:r>
            <a:r>
              <a:rPr lang="en-US" altLang="ko-KR" sz="1400" dirty="0"/>
              <a:t> pod is shown in the</a:t>
            </a:r>
            <a:r>
              <a:rPr lang="ko-KR" altLang="en-US" sz="1400" dirty="0"/>
              <a:t> </a:t>
            </a:r>
            <a:r>
              <a:rPr lang="en-US" altLang="ko-KR" sz="1400" dirty="0"/>
              <a:t>following</a:t>
            </a:r>
            <a:r>
              <a:rPr lang="ko-KR" altLang="en-US" sz="1400" dirty="0"/>
              <a:t> </a:t>
            </a:r>
            <a:r>
              <a:rPr lang="en-US" altLang="ko-KR" sz="1400" dirty="0"/>
              <a:t>figure. </a:t>
            </a:r>
            <a:r>
              <a:rPr lang="en-US" altLang="ko-KR" sz="1400" b="1" dirty="0"/>
              <a:t>When the new node starts up, the </a:t>
            </a:r>
            <a:r>
              <a:rPr lang="en-US" altLang="ko-KR" sz="1400" b="1" dirty="0" err="1"/>
              <a:t>Kubelet</a:t>
            </a:r>
            <a:r>
              <a:rPr lang="en-US" altLang="ko-KR" sz="1400" b="1" dirty="0"/>
              <a:t> on that node contacts the API server and registers the node by creating a </a:t>
            </a:r>
            <a:r>
              <a:rPr lang="en-US" altLang="ko-KR" sz="1400" b="1" dirty="0">
                <a:solidFill>
                  <a:srgbClr val="FF0000"/>
                </a:solidFill>
              </a:rPr>
              <a:t>Node resource</a:t>
            </a:r>
            <a:r>
              <a:rPr lang="en-US" altLang="ko-KR" sz="1400" dirty="0"/>
              <a:t>. From then on, the node is part of the Kubernetes cluster and pods can be scheduled to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6A66F20-3AA2-6A59-642C-FB32D46E0DF6}"/>
              </a:ext>
            </a:extLst>
          </p:cNvPr>
          <p:cNvPicPr>
            <a:picLocks noChangeAspect="1"/>
          </p:cNvPicPr>
          <p:nvPr/>
        </p:nvPicPr>
        <p:blipFill>
          <a:blip r:embed="rId2"/>
          <a:stretch>
            <a:fillRect/>
          </a:stretch>
        </p:blipFill>
        <p:spPr>
          <a:xfrm>
            <a:off x="3401961" y="2156208"/>
            <a:ext cx="5388077" cy="2871019"/>
          </a:xfrm>
          <a:prstGeom prst="rect">
            <a:avLst/>
          </a:prstGeom>
        </p:spPr>
      </p:pic>
    </p:spTree>
    <p:extLst>
      <p:ext uri="{BB962C8B-B14F-4D97-AF65-F5344CB8AC3E}">
        <p14:creationId xmlns:p14="http://schemas.microsoft.com/office/powerpoint/2010/main" val="29651679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a:t>
            </a:r>
            <a:r>
              <a:rPr lang="en-US" altLang="ko-KR" sz="1800" b="1" dirty="0" err="1"/>
              <a:t>Autoscaler</a:t>
            </a:r>
            <a:r>
              <a:rPr lang="en-US" altLang="ko-KR" sz="1800" b="1" dirty="0"/>
              <a:t> :</a:t>
            </a:r>
            <a:endParaRPr lang="en-US" altLang="ko-KR" sz="1400" dirty="0"/>
          </a:p>
          <a:p>
            <a:pPr lvl="1">
              <a:buFont typeface="Wingdings" panose="05000000000000000000" pitchFamily="2" charset="2"/>
              <a:buChar char="§"/>
            </a:pPr>
            <a:r>
              <a:rPr lang="en-US" altLang="ko-KR" sz="1400" b="1" dirty="0"/>
              <a:t>The Cluster </a:t>
            </a:r>
            <a:r>
              <a:rPr lang="en-US" altLang="ko-KR" sz="1400" b="1" dirty="0" err="1"/>
              <a:t>Autoscaler</a:t>
            </a:r>
            <a:r>
              <a:rPr lang="en-US" altLang="ko-KR" sz="1400" b="1" dirty="0"/>
              <a:t> also needs to scale down the number of nodes when they aren’t being utilized enough</a:t>
            </a:r>
            <a:r>
              <a:rPr lang="en-US" altLang="ko-KR" sz="1400" dirty="0"/>
              <a:t>. </a:t>
            </a:r>
            <a:r>
              <a:rPr lang="en-US" altLang="ko-KR" sz="1400" b="1" dirty="0"/>
              <a:t>The </a:t>
            </a:r>
            <a:r>
              <a:rPr lang="en-US" altLang="ko-KR" sz="1400" b="1" dirty="0" err="1"/>
              <a:t>Autoscaler</a:t>
            </a:r>
            <a:r>
              <a:rPr lang="en-US" altLang="ko-KR" sz="1400" b="1" dirty="0"/>
              <a:t> does this by monitoring the requested CPU and memory on all the nodes</a:t>
            </a:r>
            <a:r>
              <a:rPr lang="en-US" altLang="ko-KR" sz="1400" dirty="0"/>
              <a:t>. If the CPU and memory requests of all the pods running on a given node are </a:t>
            </a:r>
            <a:r>
              <a:rPr lang="en-US" altLang="ko-KR" sz="1400" b="1" dirty="0"/>
              <a:t>below 50%</a:t>
            </a:r>
            <a:r>
              <a:rPr lang="en-US" altLang="ko-KR" sz="1400" dirty="0"/>
              <a:t>, the node is considered unnecessary.</a:t>
            </a:r>
          </a:p>
          <a:p>
            <a:pPr lvl="1">
              <a:buFont typeface="Wingdings" panose="05000000000000000000" pitchFamily="2" charset="2"/>
              <a:buChar char="§"/>
            </a:pPr>
            <a:r>
              <a:rPr lang="en-US" altLang="ko-KR" sz="1400" b="1" dirty="0"/>
              <a:t>That’s not the only determining factor in deciding whether to bring a node down. The </a:t>
            </a:r>
            <a:r>
              <a:rPr lang="en-US" altLang="ko-KR" sz="1400" b="1" dirty="0" err="1"/>
              <a:t>Autoscaler</a:t>
            </a:r>
            <a:r>
              <a:rPr lang="en-US" altLang="ko-KR" sz="1400" b="1" dirty="0"/>
              <a:t> also checks to see if </a:t>
            </a:r>
            <a:r>
              <a:rPr lang="en-US" altLang="ko-KR" sz="1400" b="1" dirty="0">
                <a:solidFill>
                  <a:srgbClr val="FF0000"/>
                </a:solidFill>
              </a:rPr>
              <a:t>any system pods </a:t>
            </a:r>
            <a:r>
              <a:rPr lang="en-US" altLang="ko-KR" sz="1400" b="1" dirty="0"/>
              <a:t>are running (only) on that node (apart from those that are run on every node, because they’re deployed by a </a:t>
            </a:r>
            <a:r>
              <a:rPr lang="en-US" altLang="ko-KR" sz="1400" b="1" dirty="0" err="1">
                <a:solidFill>
                  <a:srgbClr val="FF0000"/>
                </a:solidFill>
              </a:rPr>
              <a:t>DaemonSet</a:t>
            </a:r>
            <a:r>
              <a:rPr lang="en-US" altLang="ko-KR" sz="1400" b="1" dirty="0"/>
              <a:t>, for example)</a:t>
            </a:r>
            <a:r>
              <a:rPr lang="en-US" altLang="ko-KR" sz="1400" dirty="0"/>
              <a:t>. </a:t>
            </a:r>
            <a:r>
              <a:rPr lang="en-US" altLang="ko-KR" sz="1400" b="1" dirty="0"/>
              <a:t>If a system pod is running on a node, the node won’t be relinquished</a:t>
            </a:r>
            <a:r>
              <a:rPr lang="en-US" altLang="ko-KR" sz="1400" dirty="0"/>
              <a:t>. The same is also true if </a:t>
            </a:r>
            <a:r>
              <a:rPr lang="en-US" altLang="ko-KR" sz="1400" b="1" dirty="0"/>
              <a:t>an unmanaged pod </a:t>
            </a:r>
            <a:r>
              <a:rPr lang="en-US" altLang="ko-KR" sz="1400" dirty="0"/>
              <a:t>or </a:t>
            </a:r>
            <a:r>
              <a:rPr lang="en-US" altLang="ko-KR" sz="1400" b="1" dirty="0"/>
              <a:t>a pod with local storage </a:t>
            </a:r>
            <a:r>
              <a:rPr lang="en-US" altLang="ko-KR" sz="1400" dirty="0"/>
              <a:t>is running on the node, because that would cause disruption to the service the pod is providing. In other words, </a:t>
            </a:r>
            <a:r>
              <a:rPr lang="en-US" altLang="ko-KR" sz="1400" b="1" dirty="0"/>
              <a:t>a node will only be returned to the cloud provider if the Cluster </a:t>
            </a:r>
            <a:r>
              <a:rPr lang="en-US" altLang="ko-KR" sz="1400" b="1" dirty="0" err="1"/>
              <a:t>Autoscaler</a:t>
            </a:r>
            <a:r>
              <a:rPr lang="en-US" altLang="ko-KR" sz="1400" b="1" dirty="0"/>
              <a:t> knows the pods running on the node will be rescheduled to other nodes</a:t>
            </a:r>
            <a:r>
              <a:rPr lang="en-US" altLang="ko-KR" sz="1400" dirty="0"/>
              <a:t>.</a:t>
            </a:r>
          </a:p>
          <a:p>
            <a:pPr lvl="1">
              <a:buFont typeface="Wingdings" panose="05000000000000000000" pitchFamily="2" charset="2"/>
              <a:buChar char="§"/>
            </a:pPr>
            <a:r>
              <a:rPr lang="en-US" altLang="ko-KR" sz="1400" b="1" dirty="0"/>
              <a:t>When a node is selected to be shutdown, the node is first marked as </a:t>
            </a:r>
            <a:r>
              <a:rPr lang="en-US" altLang="ko-KR" sz="1400" b="1" dirty="0" err="1">
                <a:solidFill>
                  <a:srgbClr val="FF0000"/>
                </a:solidFill>
              </a:rPr>
              <a:t>unschedulable</a:t>
            </a:r>
            <a:r>
              <a:rPr lang="en-US" altLang="ko-KR" sz="1400" b="1" dirty="0"/>
              <a:t> and then all the pods running on the node are evicted</a:t>
            </a:r>
            <a:r>
              <a:rPr lang="en-US" altLang="ko-KR" sz="1400" dirty="0"/>
              <a:t>. Because all those pods belong to </a:t>
            </a:r>
            <a:r>
              <a:rPr lang="en-US" altLang="ko-KR" sz="1400" b="1" dirty="0" err="1"/>
              <a:t>ReplicaSets</a:t>
            </a:r>
            <a:r>
              <a:rPr lang="en-US" altLang="ko-KR" sz="1400" dirty="0"/>
              <a:t> or </a:t>
            </a:r>
            <a:r>
              <a:rPr lang="en-US" altLang="ko-KR" sz="1400" b="1" dirty="0"/>
              <a:t>other controllers</a:t>
            </a:r>
            <a:r>
              <a:rPr lang="en-US" altLang="ko-KR" sz="1400" dirty="0"/>
              <a:t>, </a:t>
            </a:r>
            <a:r>
              <a:rPr lang="en-US" altLang="ko-KR" sz="1400" b="1" dirty="0"/>
              <a:t>their replacements are created and scheduled to the remaining nodes </a:t>
            </a:r>
            <a:r>
              <a:rPr lang="en-US" altLang="ko-KR" sz="1400" dirty="0"/>
              <a:t>(that’s why the node that’s being shutdown is first marked as </a:t>
            </a:r>
            <a:r>
              <a:rPr lang="en-US" altLang="ko-KR" sz="1400" b="1" dirty="0" err="1"/>
              <a:t>unschedulable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2A44233-5861-A870-5464-2C8962C22010}"/>
              </a:ext>
            </a:extLst>
          </p:cNvPr>
          <p:cNvPicPr>
            <a:picLocks noChangeAspect="1"/>
          </p:cNvPicPr>
          <p:nvPr/>
        </p:nvPicPr>
        <p:blipFill>
          <a:blip r:embed="rId2"/>
          <a:stretch>
            <a:fillRect/>
          </a:stretch>
        </p:blipFill>
        <p:spPr>
          <a:xfrm>
            <a:off x="3952742" y="3934077"/>
            <a:ext cx="4286516" cy="2474953"/>
          </a:xfrm>
          <a:prstGeom prst="rect">
            <a:avLst/>
          </a:prstGeom>
          <a:ln>
            <a:solidFill>
              <a:schemeClr val="bg1">
                <a:lumMod val="50000"/>
              </a:schemeClr>
            </a:solidFill>
          </a:ln>
        </p:spPr>
      </p:pic>
    </p:spTree>
    <p:extLst>
      <p:ext uri="{BB962C8B-B14F-4D97-AF65-F5344CB8AC3E}">
        <p14:creationId xmlns:p14="http://schemas.microsoft.com/office/powerpoint/2010/main" val="29053651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Manually Cordoning and Draining Nodes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Marking a Node as </a:t>
            </a:r>
            <a:r>
              <a:rPr lang="en-US" altLang="ko-KR" sz="1800" b="1" dirty="0" err="1"/>
              <a:t>Unschedulable</a:t>
            </a:r>
            <a:r>
              <a:rPr lang="en-US" altLang="ko-KR" sz="1800" b="1" dirty="0"/>
              <a:t> :</a:t>
            </a:r>
            <a:endParaRPr lang="en-US" altLang="ko-KR" sz="1400" dirty="0"/>
          </a:p>
          <a:p>
            <a:pPr lvl="1">
              <a:buFont typeface="Wingdings" panose="05000000000000000000" pitchFamily="2" charset="2"/>
              <a:buChar char="§"/>
            </a:pPr>
            <a:r>
              <a:rPr lang="en-US" altLang="ko-KR" sz="1400" b="1" dirty="0"/>
              <a:t>A node can also be marked as </a:t>
            </a:r>
            <a:r>
              <a:rPr lang="en-US" altLang="ko-KR" sz="1400" b="1" dirty="0" err="1"/>
              <a:t>unschedulable</a:t>
            </a:r>
            <a:r>
              <a:rPr lang="en-US" altLang="ko-KR" sz="1400" b="1" dirty="0"/>
              <a:t> and drained manually</a:t>
            </a:r>
            <a:r>
              <a:rPr lang="en-US" altLang="ko-KR" sz="1400" dirty="0"/>
              <a:t>. Without going into specifics, this is done with the following “</a:t>
            </a:r>
            <a:r>
              <a:rPr lang="en-US" altLang="ko-KR" sz="1400" b="1" dirty="0" err="1"/>
              <a:t>kubectl</a:t>
            </a:r>
            <a:r>
              <a:rPr lang="en-US" altLang="ko-KR" sz="1400" dirty="0"/>
              <a:t>” commands :</a:t>
            </a:r>
          </a:p>
          <a:p>
            <a:pPr lvl="2">
              <a:buFont typeface="Wingdings" panose="05000000000000000000" pitchFamily="2" charset="2"/>
              <a:buChar char="§"/>
            </a:pPr>
            <a:r>
              <a:rPr lang="en-US" altLang="ko-KR" sz="1400" dirty="0"/>
              <a:t>“</a:t>
            </a:r>
            <a:r>
              <a:rPr lang="en-US" altLang="ko-KR" sz="1400" b="1" dirty="0"/>
              <a:t>$ </a:t>
            </a:r>
            <a:r>
              <a:rPr lang="en-US" altLang="ko-KR" sz="1400" b="1" dirty="0" err="1"/>
              <a:t>kubectl</a:t>
            </a:r>
            <a:r>
              <a:rPr lang="en-US" altLang="ko-KR" sz="1400" b="1" dirty="0"/>
              <a:t> cordon &lt;node&gt;</a:t>
            </a:r>
            <a:r>
              <a:rPr lang="en-US" altLang="ko-KR" sz="1400" dirty="0"/>
              <a:t>” </a:t>
            </a:r>
            <a:r>
              <a:rPr lang="en-US" altLang="ko-KR" sz="1400" b="1" dirty="0"/>
              <a:t>marks the node as </a:t>
            </a:r>
            <a:r>
              <a:rPr lang="en-US" altLang="ko-KR" sz="1400" b="1" dirty="0" err="1"/>
              <a:t>unschedulable</a:t>
            </a:r>
            <a:r>
              <a:rPr lang="en-US" altLang="ko-KR" sz="1400" b="1" dirty="0"/>
              <a:t> </a:t>
            </a:r>
            <a:r>
              <a:rPr lang="en-US" altLang="ko-KR" sz="1400" dirty="0"/>
              <a:t>(but doesn’t do anything with pods running on that node).</a:t>
            </a:r>
          </a:p>
          <a:p>
            <a:pPr lvl="2">
              <a:buFont typeface="Wingdings" panose="05000000000000000000" pitchFamily="2" charset="2"/>
              <a:buChar char="§"/>
            </a:pPr>
            <a:r>
              <a:rPr lang="en-US" altLang="ko-KR" sz="1400" dirty="0"/>
              <a:t>“</a:t>
            </a:r>
            <a:r>
              <a:rPr lang="en-US" altLang="ko-KR" sz="1400" b="1" dirty="0"/>
              <a:t>$ </a:t>
            </a:r>
            <a:r>
              <a:rPr lang="en-US" altLang="ko-KR" sz="1400" b="1" dirty="0" err="1"/>
              <a:t>kubectl</a:t>
            </a:r>
            <a:r>
              <a:rPr lang="en-US" altLang="ko-KR" sz="1400" b="1" dirty="0"/>
              <a:t> drain &lt;node&gt;</a:t>
            </a:r>
            <a:r>
              <a:rPr lang="en-US" altLang="ko-KR" sz="1400" dirty="0"/>
              <a:t>” </a:t>
            </a:r>
            <a:r>
              <a:rPr lang="en-US" altLang="ko-KR" sz="1400" b="1" dirty="0"/>
              <a:t>marks the node as </a:t>
            </a:r>
            <a:r>
              <a:rPr lang="en-US" altLang="ko-KR" sz="1400" b="1" dirty="0" err="1"/>
              <a:t>unschedulable</a:t>
            </a:r>
            <a:r>
              <a:rPr lang="en-US" altLang="ko-KR" sz="1400" b="1" dirty="0"/>
              <a:t> and then evicts all the pods from the node</a:t>
            </a:r>
            <a:r>
              <a:rPr lang="en-US" altLang="ko-KR" sz="1400" dirty="0"/>
              <a:t>.</a:t>
            </a:r>
          </a:p>
          <a:p>
            <a:pPr lvl="1">
              <a:buFont typeface="Wingdings" panose="05000000000000000000" pitchFamily="2" charset="2"/>
              <a:buChar char="§"/>
            </a:pPr>
            <a:r>
              <a:rPr lang="en-US" altLang="ko-KR" sz="1400" dirty="0"/>
              <a:t>In both cases, </a:t>
            </a:r>
            <a:r>
              <a:rPr lang="en-US" altLang="ko-KR" sz="1400" b="1" dirty="0"/>
              <a:t>no new pods are scheduled to the node</a:t>
            </a:r>
            <a:r>
              <a:rPr lang="en-US" altLang="ko-KR" sz="1400" dirty="0"/>
              <a:t> until you </a:t>
            </a:r>
            <a:r>
              <a:rPr lang="en-US" altLang="ko-KR" sz="1400" dirty="0" err="1"/>
              <a:t>uncordon</a:t>
            </a:r>
            <a:r>
              <a:rPr lang="en-US" altLang="ko-KR" sz="1400" dirty="0"/>
              <a:t> it again with “</a:t>
            </a:r>
            <a:r>
              <a:rPr lang="en-US" altLang="ko-KR" sz="1400" b="1" dirty="0"/>
              <a:t>$ </a:t>
            </a:r>
            <a:r>
              <a:rPr lang="en-US" altLang="ko-KR" sz="1400" b="1" dirty="0" err="1"/>
              <a:t>kubectl</a:t>
            </a:r>
            <a:r>
              <a:rPr lang="en-US" altLang="ko-KR" sz="1400" b="1" dirty="0"/>
              <a:t> </a:t>
            </a:r>
            <a:r>
              <a:rPr lang="en-US" altLang="ko-KR" sz="1400" b="1" dirty="0" err="1"/>
              <a:t>uncordon</a:t>
            </a:r>
            <a:r>
              <a:rPr lang="en-US" altLang="ko-KR" sz="1400" b="1" dirty="0"/>
              <a:t> &lt;node&gt;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31EFE54-0D33-BBD4-5D4C-4B8F0BF4CA2D}"/>
              </a:ext>
            </a:extLst>
          </p:cNvPr>
          <p:cNvPicPr>
            <a:picLocks noChangeAspect="1"/>
          </p:cNvPicPr>
          <p:nvPr/>
        </p:nvPicPr>
        <p:blipFill>
          <a:blip r:embed="rId2"/>
          <a:stretch>
            <a:fillRect/>
          </a:stretch>
        </p:blipFill>
        <p:spPr>
          <a:xfrm>
            <a:off x="3500606" y="2931597"/>
            <a:ext cx="5190788" cy="3198682"/>
          </a:xfrm>
          <a:prstGeom prst="rect">
            <a:avLst/>
          </a:prstGeom>
        </p:spPr>
      </p:pic>
    </p:spTree>
    <p:extLst>
      <p:ext uri="{BB962C8B-B14F-4D97-AF65-F5344CB8AC3E}">
        <p14:creationId xmlns:p14="http://schemas.microsoft.com/office/powerpoint/2010/main" val="22560415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Enabling the Cluster </a:t>
            </a:r>
            <a:r>
              <a:rPr lang="en-US" altLang="ko-KR" sz="1800" b="1" dirty="0" err="1"/>
              <a:t>Autoscaler</a:t>
            </a:r>
            <a:r>
              <a:rPr lang="en-US" altLang="ko-KR" sz="1800" b="1" dirty="0"/>
              <a:t> :</a:t>
            </a:r>
            <a:endParaRPr lang="en-US" altLang="ko-KR" sz="1400" dirty="0"/>
          </a:p>
          <a:p>
            <a:pPr lvl="1">
              <a:buFont typeface="Wingdings" panose="05000000000000000000" pitchFamily="2" charset="2"/>
              <a:buChar char="§"/>
            </a:pPr>
            <a:r>
              <a:rPr lang="en-US" altLang="ko-KR" sz="1400" b="1" dirty="0"/>
              <a:t>Cluster autoscaling</a:t>
            </a:r>
            <a:r>
              <a:rPr lang="en-US" altLang="ko-KR" sz="1400" dirty="0"/>
              <a:t> is available on</a:t>
            </a:r>
          </a:p>
          <a:p>
            <a:pPr lvl="2">
              <a:buFont typeface="Wingdings" panose="05000000000000000000" pitchFamily="2" charset="2"/>
              <a:buChar char="§"/>
            </a:pPr>
            <a:r>
              <a:rPr lang="en-US" altLang="ko-KR" sz="1400" b="1" dirty="0"/>
              <a:t>Google Kubernetes Engine (GKE)</a:t>
            </a:r>
          </a:p>
          <a:p>
            <a:pPr lvl="2">
              <a:buFont typeface="Wingdings" panose="05000000000000000000" pitchFamily="2" charset="2"/>
              <a:buChar char="§"/>
            </a:pPr>
            <a:r>
              <a:rPr lang="en-US" altLang="ko-KR" sz="1400" b="1" dirty="0"/>
              <a:t>Google Compute Engine (GCE)</a:t>
            </a:r>
          </a:p>
          <a:p>
            <a:pPr lvl="2">
              <a:buFont typeface="Wingdings" panose="05000000000000000000" pitchFamily="2" charset="2"/>
              <a:buChar char="§"/>
            </a:pPr>
            <a:r>
              <a:rPr lang="en-US" altLang="ko-KR" sz="1400" b="1" dirty="0"/>
              <a:t>Amazon Web Services (AWS)</a:t>
            </a:r>
          </a:p>
          <a:p>
            <a:pPr lvl="2">
              <a:buFont typeface="Wingdings" panose="05000000000000000000" pitchFamily="2" charset="2"/>
              <a:buChar char="§"/>
            </a:pPr>
            <a:r>
              <a:rPr lang="en-US" altLang="ko-KR" sz="1400" b="1" dirty="0"/>
              <a:t>Microsoft Azure</a:t>
            </a:r>
          </a:p>
          <a:p>
            <a:pPr lvl="1">
              <a:buFont typeface="Wingdings" panose="05000000000000000000" pitchFamily="2" charset="2"/>
              <a:buChar char="§"/>
            </a:pPr>
            <a:r>
              <a:rPr lang="en-US" altLang="ko-KR" sz="1400" b="1" dirty="0"/>
              <a:t>How you start the </a:t>
            </a:r>
            <a:r>
              <a:rPr lang="en-US" altLang="ko-KR" sz="1400" b="1" dirty="0" err="1"/>
              <a:t>Autoscaler</a:t>
            </a:r>
            <a:r>
              <a:rPr lang="en-US" altLang="ko-KR" sz="1400" b="1" dirty="0"/>
              <a:t> depends on where your Kubernetes cluster is running</a:t>
            </a:r>
            <a:r>
              <a:rPr lang="en-US" altLang="ko-KR" sz="1400" dirty="0"/>
              <a:t>. For your “</a:t>
            </a:r>
            <a:r>
              <a:rPr lang="en-US" altLang="ko-KR" sz="1400" b="1" dirty="0" err="1"/>
              <a:t>kubia</a:t>
            </a:r>
            <a:r>
              <a:rPr lang="en-US" altLang="ko-KR" sz="1400" dirty="0"/>
              <a:t>” cluster running on GKE, you can enable the Cluster </a:t>
            </a:r>
            <a:r>
              <a:rPr lang="en-US" altLang="ko-KR" sz="1400" dirty="0" err="1"/>
              <a:t>Autoscaler</a:t>
            </a:r>
            <a:r>
              <a:rPr lang="en-US" altLang="ko-KR" sz="1400" dirty="0"/>
              <a:t> like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your cluster is running on </a:t>
            </a:r>
            <a:r>
              <a:rPr lang="en-US" altLang="ko-KR" sz="1400" b="1" dirty="0"/>
              <a:t>GCE</a:t>
            </a:r>
            <a:r>
              <a:rPr lang="en-US" altLang="ko-KR" sz="1400" dirty="0"/>
              <a:t>, you need to </a:t>
            </a:r>
            <a:r>
              <a:rPr lang="en-US" altLang="ko-KR" sz="1400" b="1" dirty="0"/>
              <a:t>set three environment variables </a:t>
            </a:r>
            <a:r>
              <a:rPr lang="en-US" altLang="ko-KR" sz="1400" dirty="0"/>
              <a:t>before running “</a:t>
            </a:r>
            <a:r>
              <a:rPr lang="en-US" altLang="ko-KR" sz="1400" b="1" dirty="0"/>
              <a:t>kube-up.sh</a:t>
            </a:r>
            <a:r>
              <a:rPr lang="en-US" altLang="ko-KR" sz="1400" dirty="0"/>
              <a:t>” :</a:t>
            </a:r>
          </a:p>
          <a:p>
            <a:pPr lvl="2">
              <a:buFont typeface="Wingdings" panose="05000000000000000000" pitchFamily="2" charset="2"/>
              <a:buChar char="§"/>
            </a:pPr>
            <a:r>
              <a:rPr lang="en-US" altLang="ko-KR" sz="1400" b="1" dirty="0"/>
              <a:t>KUBE_ENABLE_CLUSTER_AUTOSCALER=true</a:t>
            </a:r>
          </a:p>
          <a:p>
            <a:pPr lvl="2">
              <a:buFont typeface="Wingdings" panose="05000000000000000000" pitchFamily="2" charset="2"/>
              <a:buChar char="§"/>
            </a:pPr>
            <a:r>
              <a:rPr lang="en-US" altLang="ko-KR" sz="1400" b="1" dirty="0"/>
              <a:t>KUBE_AUTOSCALER_MIN_NODES=3</a:t>
            </a:r>
          </a:p>
          <a:p>
            <a:pPr lvl="2">
              <a:buFont typeface="Wingdings" panose="05000000000000000000" pitchFamily="2" charset="2"/>
              <a:buChar char="§"/>
            </a:pPr>
            <a:r>
              <a:rPr lang="en-US" altLang="ko-KR" sz="1400" b="1" dirty="0"/>
              <a:t>KUBE_AUTOSCALER_MAX_NODES=5</a:t>
            </a:r>
          </a:p>
          <a:p>
            <a:pPr lvl="1">
              <a:buFont typeface="Wingdings" panose="05000000000000000000" pitchFamily="2" charset="2"/>
              <a:buChar char="§"/>
            </a:pPr>
            <a:r>
              <a:rPr lang="en-US" altLang="ko-KR" sz="1400" dirty="0"/>
              <a:t>For more information, refer to the </a:t>
            </a:r>
            <a:r>
              <a:rPr lang="en-US" altLang="ko-KR" sz="1400" b="1" dirty="0"/>
              <a:t>Cluster </a:t>
            </a:r>
            <a:r>
              <a:rPr lang="en-US" altLang="ko-KR" sz="1400" b="1" dirty="0" err="1"/>
              <a:t>Autoscaler</a:t>
            </a:r>
            <a:r>
              <a:rPr lang="en-US" altLang="ko-KR" sz="1400" b="1" dirty="0"/>
              <a:t> GitHub repo </a:t>
            </a:r>
            <a:r>
              <a:rPr lang="en-US" altLang="ko-KR" sz="1400" dirty="0"/>
              <a:t>at </a:t>
            </a:r>
            <a:r>
              <a:rPr lang="en-US" altLang="ko-KR" sz="1400" dirty="0">
                <a:hlinkClick r:id="rId2"/>
              </a:rPr>
              <a:t>https://github.com/kubernetes/autoscaler/tree/master/cluster-autoscaler/</a:t>
            </a:r>
            <a:endParaRPr lang="en-US" altLang="ko-KR" sz="1400" dirty="0"/>
          </a:p>
          <a:p>
            <a:pPr lvl="1">
              <a:buFont typeface="Wingdings" panose="05000000000000000000" pitchFamily="2" charset="2"/>
              <a:buChar char="§"/>
            </a:pPr>
            <a:r>
              <a:rPr lang="en-US" altLang="ko-KR" sz="1400" b="1" dirty="0"/>
              <a:t>NOTE : The Cluster </a:t>
            </a:r>
            <a:r>
              <a:rPr lang="en-US" altLang="ko-KR" sz="1400" b="1" dirty="0" err="1"/>
              <a:t>Autoscaler</a:t>
            </a:r>
            <a:r>
              <a:rPr lang="en-US" altLang="ko-KR" sz="1400" b="1" dirty="0"/>
              <a:t> publishes its status to the “</a:t>
            </a:r>
            <a:r>
              <a:rPr lang="en-US" altLang="ko-KR" sz="1400" b="1" dirty="0">
                <a:solidFill>
                  <a:srgbClr val="FF0000"/>
                </a:solidFill>
              </a:rPr>
              <a:t>cluster-</a:t>
            </a:r>
            <a:r>
              <a:rPr lang="en-US" altLang="ko-KR" sz="1400" b="1" dirty="0" err="1">
                <a:solidFill>
                  <a:srgbClr val="FF0000"/>
                </a:solidFill>
              </a:rPr>
              <a:t>autoscaler</a:t>
            </a:r>
            <a:r>
              <a:rPr lang="en-US" altLang="ko-KR" sz="1400" b="1" dirty="0">
                <a:solidFill>
                  <a:srgbClr val="FF0000"/>
                </a:solidFill>
              </a:rPr>
              <a:t>-status</a:t>
            </a:r>
            <a:r>
              <a:rPr lang="en-US" altLang="ko-KR" sz="1400" b="1" dirty="0"/>
              <a:t>” </a:t>
            </a:r>
            <a:r>
              <a:rPr lang="en-US" altLang="ko-KR" sz="1400" b="1" dirty="0" err="1"/>
              <a:t>ConfigMap</a:t>
            </a:r>
            <a:r>
              <a:rPr lang="en-US" altLang="ko-KR" sz="1400" b="1" dirty="0"/>
              <a:t> in the </a:t>
            </a:r>
            <a:r>
              <a:rPr lang="en-US" altLang="ko-KR" sz="1400" b="1" dirty="0" err="1"/>
              <a:t>kube</a:t>
            </a:r>
            <a:r>
              <a:rPr lang="en-US" altLang="ko-KR" sz="1400" b="1" dirty="0"/>
              <a:t>-system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57B33F8-4565-5E98-D838-E4E46181B6FA}"/>
              </a:ext>
            </a:extLst>
          </p:cNvPr>
          <p:cNvSpPr txBox="1"/>
          <p:nvPr/>
        </p:nvSpPr>
        <p:spPr>
          <a:xfrm>
            <a:off x="3047326" y="309073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gcloud</a:t>
            </a:r>
            <a:r>
              <a:rPr lang="en-US" altLang="ko-KR" sz="1000" b="1" dirty="0"/>
              <a:t> container clusters update </a:t>
            </a:r>
            <a:r>
              <a:rPr lang="en-US" altLang="ko-KR" sz="1000" b="1" dirty="0" err="1">
                <a:solidFill>
                  <a:srgbClr val="FF0000"/>
                </a:solidFill>
              </a:rPr>
              <a:t>kubia</a:t>
            </a:r>
            <a:r>
              <a:rPr lang="en-US" altLang="ko-KR" sz="1000" b="1" dirty="0"/>
              <a:t> --enable-autoscaling --min-nodes=3 --max-nodes=5</a:t>
            </a:r>
          </a:p>
        </p:txBody>
      </p:sp>
    </p:spTree>
    <p:extLst>
      <p:ext uri="{BB962C8B-B14F-4D97-AF65-F5344CB8AC3E}">
        <p14:creationId xmlns:p14="http://schemas.microsoft.com/office/powerpoint/2010/main" val="18327463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Service Disruption during Cluster Scale-down :</a:t>
            </a:r>
            <a:endParaRPr lang="en-US" altLang="ko-KR" sz="1400" dirty="0"/>
          </a:p>
          <a:p>
            <a:pPr lvl="1">
              <a:buFont typeface="Wingdings" panose="05000000000000000000" pitchFamily="2" charset="2"/>
              <a:buChar char="§"/>
            </a:pPr>
            <a:r>
              <a:rPr lang="en-US" altLang="ko-KR" sz="1400" b="1" dirty="0"/>
              <a:t>When a node fails unexpectedly, nothing you can do will prevent its pods from becoming unavailable</a:t>
            </a:r>
            <a:r>
              <a:rPr lang="en-US" altLang="ko-KR" sz="1400" dirty="0"/>
              <a:t>. </a:t>
            </a:r>
            <a:r>
              <a:rPr lang="en-US" altLang="ko-KR" sz="1400" b="1" dirty="0"/>
              <a:t>But when a node is shutdown voluntarily, either by the Cluster </a:t>
            </a:r>
            <a:r>
              <a:rPr lang="en-US" altLang="ko-KR" sz="1400" b="1" dirty="0" err="1"/>
              <a:t>Autoscaler</a:t>
            </a:r>
            <a:r>
              <a:rPr lang="en-US" altLang="ko-KR" sz="1400" b="1" dirty="0"/>
              <a:t> or by a human operator, you can </a:t>
            </a:r>
            <a:r>
              <a:rPr lang="en-US" altLang="ko-KR" sz="1400" b="1" dirty="0">
                <a:solidFill>
                  <a:srgbClr val="FF0000"/>
                </a:solidFill>
              </a:rPr>
              <a:t>make sure the operation doesn’t disrupt the service provided by the pods </a:t>
            </a:r>
            <a:r>
              <a:rPr lang="en-US" altLang="ko-KR" sz="1400" b="1" dirty="0"/>
              <a:t>running on that node through an additional feature</a:t>
            </a:r>
            <a:r>
              <a:rPr lang="en-US" altLang="ko-KR" sz="1400" dirty="0"/>
              <a:t>.</a:t>
            </a:r>
          </a:p>
          <a:p>
            <a:pPr lvl="1">
              <a:buFont typeface="Wingdings" panose="05000000000000000000" pitchFamily="2" charset="2"/>
              <a:buChar char="§"/>
            </a:pPr>
            <a:r>
              <a:rPr lang="en-US" altLang="ko-KR" sz="1400" b="1" dirty="0"/>
              <a:t>Certain services require that a minimum number of pods always keeps running</a:t>
            </a:r>
            <a:r>
              <a:rPr lang="en-US" altLang="ko-KR" sz="1400" dirty="0"/>
              <a:t>; this is especially true for </a:t>
            </a:r>
            <a:r>
              <a:rPr lang="en-US" altLang="ko-KR" sz="1400" b="1" dirty="0"/>
              <a:t>quorum-based clustered applications</a:t>
            </a:r>
            <a:r>
              <a:rPr lang="en-US" altLang="ko-KR" sz="1400" dirty="0"/>
              <a:t>. For this reason, </a:t>
            </a:r>
            <a:r>
              <a:rPr lang="en-US" altLang="ko-KR" sz="1400" b="1" dirty="0"/>
              <a:t>Kubernetes provides a way of specifying the minimum number of pods that need to keep running while performing these types of operations</a:t>
            </a:r>
            <a:r>
              <a:rPr lang="en-US" altLang="ko-KR" sz="1400" dirty="0"/>
              <a:t>. This is done by creating a “</a:t>
            </a:r>
            <a:r>
              <a:rPr lang="en-US" altLang="ko-KR" sz="1400" b="1" dirty="0" err="1">
                <a:solidFill>
                  <a:srgbClr val="FF0000"/>
                </a:solidFill>
              </a:rPr>
              <a:t>PodDisruptionBudget</a:t>
            </a:r>
            <a:r>
              <a:rPr lang="en-US" altLang="ko-KR" sz="1400" dirty="0"/>
              <a:t>” resource.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734C020-C735-E287-4CEC-6AB78F810844}"/>
              </a:ext>
            </a:extLst>
          </p:cNvPr>
          <p:cNvPicPr>
            <a:picLocks noChangeAspect="1"/>
          </p:cNvPicPr>
          <p:nvPr/>
        </p:nvPicPr>
        <p:blipFill>
          <a:blip r:embed="rId2"/>
          <a:stretch>
            <a:fillRect/>
          </a:stretch>
        </p:blipFill>
        <p:spPr>
          <a:xfrm>
            <a:off x="4457700" y="3159687"/>
            <a:ext cx="3276600" cy="2047875"/>
          </a:xfrm>
          <a:prstGeom prst="rect">
            <a:avLst/>
          </a:prstGeom>
        </p:spPr>
      </p:pic>
    </p:spTree>
    <p:extLst>
      <p:ext uri="{BB962C8B-B14F-4D97-AF65-F5344CB8AC3E}">
        <p14:creationId xmlns:p14="http://schemas.microsoft.com/office/powerpoint/2010/main" val="33064039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Service Disruption during Cluster Scale-down :</a:t>
            </a:r>
            <a:endParaRPr lang="en-US" altLang="ko-KR" sz="1400" dirty="0"/>
          </a:p>
          <a:p>
            <a:pPr lvl="1">
              <a:buFont typeface="Wingdings" panose="05000000000000000000" pitchFamily="2" charset="2"/>
              <a:buChar char="§"/>
            </a:pPr>
            <a:r>
              <a:rPr lang="en-US" altLang="ko-KR" sz="1400" b="1" dirty="0"/>
              <a:t>The </a:t>
            </a:r>
            <a:r>
              <a:rPr lang="en-US" altLang="ko-KR" sz="1400" b="1" dirty="0" err="1"/>
              <a:t>PodDisruptionBudget</a:t>
            </a:r>
            <a:r>
              <a:rPr lang="en-US" altLang="ko-KR" sz="1400" b="1" dirty="0"/>
              <a:t> contains only </a:t>
            </a:r>
            <a:r>
              <a:rPr lang="en-US" altLang="ko-KR" sz="1400" b="1" dirty="0">
                <a:solidFill>
                  <a:srgbClr val="FF0000"/>
                </a:solidFill>
              </a:rPr>
              <a:t>a pod label selector</a:t>
            </a:r>
            <a:r>
              <a:rPr lang="en-US" altLang="ko-KR" sz="1400" b="1" dirty="0"/>
              <a:t> and </a:t>
            </a:r>
            <a:r>
              <a:rPr lang="en-US" altLang="ko-KR" sz="1400" b="1" dirty="0">
                <a:solidFill>
                  <a:srgbClr val="FF0000"/>
                </a:solidFill>
              </a:rPr>
              <a:t>a number specifying the minimum number of pods</a:t>
            </a:r>
            <a:r>
              <a:rPr lang="en-US" altLang="ko-KR" sz="1400" b="1" dirty="0"/>
              <a:t> that must always be available or, starting from Kubernetes version 1.7, </a:t>
            </a:r>
            <a:r>
              <a:rPr lang="en-US" altLang="ko-KR" sz="1400" b="1" dirty="0">
                <a:solidFill>
                  <a:srgbClr val="FF0000"/>
                </a:solidFill>
              </a:rPr>
              <a:t>the maximum number of pods that can be unavailable</a:t>
            </a:r>
            <a:r>
              <a:rPr lang="en-US" altLang="ko-KR" sz="1400" dirty="0"/>
              <a:t>. We’ll look at what a “</a:t>
            </a:r>
            <a:r>
              <a:rPr lang="en-US" altLang="ko-KR" sz="1400" b="1" dirty="0" err="1">
                <a:solidFill>
                  <a:srgbClr val="FF0000"/>
                </a:solidFill>
              </a:rPr>
              <a:t>PodDisruptionBudget</a:t>
            </a:r>
            <a:r>
              <a:rPr lang="en-US" altLang="ko-KR" sz="1400" b="1" dirty="0">
                <a:solidFill>
                  <a:srgbClr val="FF0000"/>
                </a:solidFill>
              </a:rPr>
              <a:t> (PDB)</a:t>
            </a:r>
            <a:r>
              <a:rPr lang="en-US" altLang="ko-KR" sz="1400" b="1" dirty="0"/>
              <a:t>” </a:t>
            </a:r>
            <a:r>
              <a:rPr lang="en-US" altLang="ko-KR" sz="1400" dirty="0"/>
              <a:t>resource manifest looks like, but instead of creating it from a YAML file, </a:t>
            </a:r>
            <a:r>
              <a:rPr lang="en-US" altLang="ko-KR" sz="1400" b="1" dirty="0"/>
              <a:t>you’ll create it with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create </a:t>
            </a:r>
            <a:r>
              <a:rPr lang="en-US" altLang="ko-KR" sz="1400" b="1" dirty="0" err="1">
                <a:solidFill>
                  <a:srgbClr val="FF0000"/>
                </a:solidFill>
              </a:rPr>
              <a:t>poddisruptionbudget</a:t>
            </a:r>
            <a:r>
              <a:rPr lang="en-US" altLang="ko-KR" sz="1400" b="1" dirty="0"/>
              <a:t>” command and then obtain and examine the YAML later</a:t>
            </a:r>
            <a:r>
              <a:rPr lang="en-US" altLang="ko-KR" sz="1400" dirty="0"/>
              <a:t>.</a:t>
            </a:r>
          </a:p>
          <a:p>
            <a:pPr lvl="1">
              <a:buFont typeface="Wingdings" panose="05000000000000000000" pitchFamily="2" charset="2"/>
              <a:buChar char="§"/>
            </a:pPr>
            <a:r>
              <a:rPr lang="en-US" altLang="ko-KR" sz="1400" dirty="0"/>
              <a:t>If you want to ensure three instances of your “</a:t>
            </a:r>
            <a:r>
              <a:rPr lang="en-US" altLang="ko-KR" sz="1400" b="1" dirty="0" err="1"/>
              <a:t>kubia</a:t>
            </a:r>
            <a:r>
              <a:rPr lang="en-US" altLang="ko-KR" sz="1400" dirty="0"/>
              <a:t>” pod are always running (they have the label “</a:t>
            </a:r>
            <a:r>
              <a:rPr lang="en-US" altLang="ko-KR" sz="1400" b="1" dirty="0"/>
              <a:t>app=</a:t>
            </a:r>
            <a:r>
              <a:rPr lang="en-US" altLang="ko-KR" sz="1400" b="1" dirty="0" err="1"/>
              <a:t>kubia</a:t>
            </a:r>
            <a:r>
              <a:rPr lang="en-US" altLang="ko-KR" sz="1400" dirty="0"/>
              <a:t>”), </a:t>
            </a:r>
            <a:r>
              <a:rPr lang="en-US" altLang="ko-KR" sz="1400" b="1" dirty="0"/>
              <a:t>create the </a:t>
            </a:r>
            <a:r>
              <a:rPr lang="en-US" altLang="ko-KR" sz="1400" b="1" dirty="0" err="1"/>
              <a:t>PodDisruptionBudget</a:t>
            </a:r>
            <a:r>
              <a:rPr lang="en-US" altLang="ko-KR" sz="1400" b="1" dirty="0"/>
              <a:t> resource</a:t>
            </a:r>
            <a:r>
              <a:rPr lang="en-US" altLang="ko-KR" sz="1400" dirty="0"/>
              <a:t>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E33E3E0-7B42-1B4D-EA47-588164AEFC21}"/>
              </a:ext>
            </a:extLst>
          </p:cNvPr>
          <p:cNvGrpSpPr/>
          <p:nvPr/>
        </p:nvGrpSpPr>
        <p:grpSpPr>
          <a:xfrm>
            <a:off x="838200" y="2970294"/>
            <a:ext cx="10515600" cy="2894002"/>
            <a:chOff x="838200" y="3107858"/>
            <a:chExt cx="10515600" cy="2894002"/>
          </a:xfrm>
        </p:grpSpPr>
        <p:sp>
          <p:nvSpPr>
            <p:cNvPr id="8" name="TextBox 7">
              <a:extLst>
                <a:ext uri="{FF2B5EF4-FFF2-40B4-BE49-F238E27FC236}">
                  <a16:creationId xmlns:a16="http://schemas.microsoft.com/office/drawing/2014/main" id="{FDF2C0BA-0E72-E30B-E305-6A72F50C7DD7}"/>
                </a:ext>
              </a:extLst>
            </p:cNvPr>
            <p:cNvSpPr txBox="1"/>
            <p:nvPr/>
          </p:nvSpPr>
          <p:spPr>
            <a:xfrm>
              <a:off x="3048674" y="3107858"/>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deployment.yaml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pdb</a:t>
              </a:r>
              <a:r>
                <a:rPr lang="en-US" altLang="ko-KR" sz="1000" b="1" dirty="0">
                  <a:solidFill>
                    <a:srgbClr val="FF0000"/>
                  </a:solidFill>
                </a:rPr>
                <a:t> </a:t>
              </a:r>
              <a:r>
                <a:rPr lang="en-US" altLang="ko-KR" sz="1000" b="1" dirty="0" err="1">
                  <a:solidFill>
                    <a:srgbClr val="FF0000"/>
                  </a:solidFill>
                </a:rPr>
                <a:t>kubia-pdb</a:t>
              </a:r>
              <a:r>
                <a:rPr lang="en-US" altLang="ko-KR" sz="1000" b="1" dirty="0">
                  <a:solidFill>
                    <a:srgbClr val="FF0000"/>
                  </a:solidFill>
                </a:rPr>
                <a:t> </a:t>
              </a:r>
              <a:r>
                <a:rPr lang="en-US" altLang="ko-KR" sz="1000" b="1" dirty="0"/>
                <a:t>--selector=</a:t>
              </a:r>
              <a:r>
                <a:rPr lang="en-US" altLang="ko-KR" sz="1000" b="1" dirty="0">
                  <a:solidFill>
                    <a:srgbClr val="FF0000"/>
                  </a:solidFill>
                </a:rPr>
                <a:t>app=</a:t>
              </a:r>
              <a:r>
                <a:rPr lang="en-US" altLang="ko-KR" sz="1000" b="1" dirty="0" err="1">
                  <a:solidFill>
                    <a:srgbClr val="FF0000"/>
                  </a:solidFill>
                </a:rPr>
                <a:t>kubia</a:t>
              </a:r>
              <a:r>
                <a:rPr lang="en-US" altLang="ko-KR" sz="1000" b="1" dirty="0">
                  <a:solidFill>
                    <a:srgbClr val="FF0000"/>
                  </a:solidFill>
                </a:rPr>
                <a:t> </a:t>
              </a:r>
              <a:r>
                <a:rPr lang="en-US" altLang="ko-KR" sz="1000" b="1" dirty="0"/>
                <a:t>--min-available=3</a:t>
              </a:r>
              <a:endParaRPr lang="ko-KR" altLang="en-US" sz="1000" b="1" dirty="0"/>
            </a:p>
          </p:txBody>
        </p:sp>
        <p:pic>
          <p:nvPicPr>
            <p:cNvPr id="10" name="그림 9">
              <a:extLst>
                <a:ext uri="{FF2B5EF4-FFF2-40B4-BE49-F238E27FC236}">
                  <a16:creationId xmlns:a16="http://schemas.microsoft.com/office/drawing/2014/main" id="{79410440-2E65-4BA1-D45F-DDC02449BD07}"/>
                </a:ext>
              </a:extLst>
            </p:cNvPr>
            <p:cNvPicPr>
              <a:picLocks noChangeAspect="1"/>
            </p:cNvPicPr>
            <p:nvPr/>
          </p:nvPicPr>
          <p:blipFill>
            <a:blip r:embed="rId2"/>
            <a:stretch>
              <a:fillRect/>
            </a:stretch>
          </p:blipFill>
          <p:spPr>
            <a:xfrm>
              <a:off x="838200" y="3828636"/>
              <a:ext cx="10515600" cy="2173224"/>
            </a:xfrm>
            <a:prstGeom prst="rect">
              <a:avLst/>
            </a:prstGeom>
          </p:spPr>
        </p:pic>
        <p:sp>
          <p:nvSpPr>
            <p:cNvPr id="11" name="화살표: 아래쪽 10">
              <a:extLst>
                <a:ext uri="{FF2B5EF4-FFF2-40B4-BE49-F238E27FC236}">
                  <a16:creationId xmlns:a16="http://schemas.microsoft.com/office/drawing/2014/main" id="{960E2E8B-B812-2F34-9071-AF6BB497E830}"/>
                </a:ext>
              </a:extLst>
            </p:cNvPr>
            <p:cNvSpPr/>
            <p:nvPr/>
          </p:nvSpPr>
          <p:spPr>
            <a:xfrm>
              <a:off x="5873469" y="3507968"/>
              <a:ext cx="445062" cy="30338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487010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Service Disruption during Cluster Scale-down :</a:t>
            </a:r>
            <a:endParaRPr lang="en-US" altLang="ko-KR" sz="1400" dirty="0"/>
          </a:p>
          <a:p>
            <a:pPr lvl="1">
              <a:buFont typeface="Wingdings" panose="05000000000000000000" pitchFamily="2" charset="2"/>
              <a:buChar char="§"/>
            </a:pPr>
            <a:r>
              <a:rPr lang="en-US" altLang="ko-KR" sz="1400" dirty="0"/>
              <a:t>Now, </a:t>
            </a:r>
            <a:r>
              <a:rPr lang="en-US" altLang="ko-KR" sz="1400" b="1" dirty="0"/>
              <a:t>retrieve the PDB’s YAML</a:t>
            </a:r>
            <a:r>
              <a:rPr lang="en-US" altLang="ko-KR" sz="1400" dirty="0"/>
              <a:t>. It’s shown in the next screenshot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593DDC2B-6C53-6B69-3825-283615C96B16}"/>
              </a:ext>
            </a:extLst>
          </p:cNvPr>
          <p:cNvGrpSpPr/>
          <p:nvPr/>
        </p:nvGrpSpPr>
        <p:grpSpPr>
          <a:xfrm>
            <a:off x="1528552" y="1444450"/>
            <a:ext cx="9134896" cy="4909659"/>
            <a:chOff x="1528552" y="1444450"/>
            <a:chExt cx="9134896" cy="4909659"/>
          </a:xfrm>
        </p:grpSpPr>
        <p:grpSp>
          <p:nvGrpSpPr>
            <p:cNvPr id="15" name="그룹 14">
              <a:extLst>
                <a:ext uri="{FF2B5EF4-FFF2-40B4-BE49-F238E27FC236}">
                  <a16:creationId xmlns:a16="http://schemas.microsoft.com/office/drawing/2014/main" id="{D2146DC0-4513-73ED-E16C-E9F1FE4F6741}"/>
                </a:ext>
              </a:extLst>
            </p:cNvPr>
            <p:cNvGrpSpPr/>
            <p:nvPr/>
          </p:nvGrpSpPr>
          <p:grpSpPr>
            <a:xfrm>
              <a:off x="1528552" y="1444450"/>
              <a:ext cx="9134896" cy="4909659"/>
              <a:chOff x="1528552" y="1444450"/>
              <a:chExt cx="9134896" cy="4909659"/>
            </a:xfrm>
          </p:grpSpPr>
          <p:grpSp>
            <p:nvGrpSpPr>
              <p:cNvPr id="13" name="그룹 12">
                <a:extLst>
                  <a:ext uri="{FF2B5EF4-FFF2-40B4-BE49-F238E27FC236}">
                    <a16:creationId xmlns:a16="http://schemas.microsoft.com/office/drawing/2014/main" id="{669001BC-AF76-1CFC-2762-2053039A6C6B}"/>
                  </a:ext>
                </a:extLst>
              </p:cNvPr>
              <p:cNvGrpSpPr/>
              <p:nvPr/>
            </p:nvGrpSpPr>
            <p:grpSpPr>
              <a:xfrm>
                <a:off x="1528552" y="1444450"/>
                <a:ext cx="9134896" cy="4909659"/>
                <a:chOff x="1528552" y="1444450"/>
                <a:chExt cx="9134896" cy="4909659"/>
              </a:xfrm>
            </p:grpSpPr>
            <p:grpSp>
              <p:nvGrpSpPr>
                <p:cNvPr id="12" name="그룹 11">
                  <a:extLst>
                    <a:ext uri="{FF2B5EF4-FFF2-40B4-BE49-F238E27FC236}">
                      <a16:creationId xmlns:a16="http://schemas.microsoft.com/office/drawing/2014/main" id="{1C4B11AF-6F4C-BE6A-7A6D-923ED1560CDC}"/>
                    </a:ext>
                  </a:extLst>
                </p:cNvPr>
                <p:cNvGrpSpPr/>
                <p:nvPr/>
              </p:nvGrpSpPr>
              <p:grpSpPr>
                <a:xfrm>
                  <a:off x="3047325" y="1444450"/>
                  <a:ext cx="6097348" cy="585808"/>
                  <a:chOff x="3047326" y="1555122"/>
                  <a:chExt cx="6097348" cy="585808"/>
                </a:xfrm>
              </p:grpSpPr>
              <p:sp>
                <p:nvSpPr>
                  <p:cNvPr id="8" name="TextBox 7">
                    <a:extLst>
                      <a:ext uri="{FF2B5EF4-FFF2-40B4-BE49-F238E27FC236}">
                        <a16:creationId xmlns:a16="http://schemas.microsoft.com/office/drawing/2014/main" id="{0393780D-4E4C-2C33-7165-CFB9AE155966}"/>
                      </a:ext>
                    </a:extLst>
                  </p:cNvPr>
                  <p:cNvSpPr txBox="1"/>
                  <p:nvPr/>
                </p:nvSpPr>
                <p:spPr>
                  <a:xfrm>
                    <a:off x="3047326" y="155512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pdb</a:t>
                    </a:r>
                    <a:r>
                      <a:rPr lang="en-US" altLang="ko-KR" sz="1000" b="1" dirty="0">
                        <a:solidFill>
                          <a:srgbClr val="FF0000"/>
                        </a:solidFill>
                      </a:rPr>
                      <a:t> </a:t>
                    </a:r>
                    <a:r>
                      <a:rPr lang="en-US" altLang="ko-KR" sz="1000" b="1" dirty="0" err="1">
                        <a:solidFill>
                          <a:srgbClr val="FF0000"/>
                        </a:solidFill>
                      </a:rPr>
                      <a:t>kubia-pdb</a:t>
                    </a:r>
                    <a:r>
                      <a:rPr lang="en-US" altLang="ko-KR" sz="1000" b="1" dirty="0">
                        <a:solidFill>
                          <a:srgbClr val="FF0000"/>
                        </a:solidFill>
                      </a:rPr>
                      <a:t> </a:t>
                    </a:r>
                    <a:r>
                      <a:rPr lang="en-US" altLang="ko-KR" sz="1000" b="1" dirty="0"/>
                      <a:t>-o </a:t>
                    </a:r>
                    <a:r>
                      <a:rPr lang="en-US" altLang="ko-KR" sz="1000" b="1" dirty="0" err="1"/>
                      <a:t>yaml</a:t>
                    </a:r>
                    <a:endParaRPr lang="ko-KR" altLang="en-US" sz="1000" b="1" dirty="0"/>
                  </a:p>
                </p:txBody>
              </p:sp>
              <p:sp>
                <p:nvSpPr>
                  <p:cNvPr id="9" name="화살표: 아래쪽 8">
                    <a:extLst>
                      <a:ext uri="{FF2B5EF4-FFF2-40B4-BE49-F238E27FC236}">
                        <a16:creationId xmlns:a16="http://schemas.microsoft.com/office/drawing/2014/main" id="{B2F9C424-6104-AC72-0D49-49A40A79059E}"/>
                      </a:ext>
                    </a:extLst>
                  </p:cNvPr>
                  <p:cNvSpPr/>
                  <p:nvPr/>
                </p:nvSpPr>
                <p:spPr>
                  <a:xfrm>
                    <a:off x="5853239" y="1817248"/>
                    <a:ext cx="485522" cy="3236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1CC09156-98B5-C587-50DC-853421D280CF}"/>
                    </a:ext>
                  </a:extLst>
                </p:cNvPr>
                <p:cNvPicPr>
                  <a:picLocks noChangeAspect="1"/>
                </p:cNvPicPr>
                <p:nvPr/>
              </p:nvPicPr>
              <p:blipFill>
                <a:blip r:embed="rId2"/>
                <a:stretch>
                  <a:fillRect/>
                </a:stretch>
              </p:blipFill>
              <p:spPr>
                <a:xfrm>
                  <a:off x="1528552" y="2030258"/>
                  <a:ext cx="9134896" cy="4323851"/>
                </a:xfrm>
                <a:prstGeom prst="rect">
                  <a:avLst/>
                </a:prstGeom>
              </p:spPr>
            </p:pic>
          </p:grpSp>
          <p:sp>
            <p:nvSpPr>
              <p:cNvPr id="14" name="직사각형 13">
                <a:extLst>
                  <a:ext uri="{FF2B5EF4-FFF2-40B4-BE49-F238E27FC236}">
                    <a16:creationId xmlns:a16="http://schemas.microsoft.com/office/drawing/2014/main" id="{B7942ABF-49A5-2E59-F467-E917AE4EBBEB}"/>
                  </a:ext>
                </a:extLst>
              </p:cNvPr>
              <p:cNvSpPr/>
              <p:nvPr/>
            </p:nvSpPr>
            <p:spPr>
              <a:xfrm>
                <a:off x="1634591" y="3778981"/>
                <a:ext cx="1157161" cy="6392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38A6F734-A0B1-CE73-3110-9867A56DD1B5}"/>
                </a:ext>
              </a:extLst>
            </p:cNvPr>
            <p:cNvSpPr/>
            <p:nvPr/>
          </p:nvSpPr>
          <p:spPr>
            <a:xfrm>
              <a:off x="1610315" y="2718924"/>
              <a:ext cx="1634591" cy="1456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809044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 Scaling of Cluster Nodes(9/9)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Service Disruption during Cluster Scale-down :</a:t>
            </a:r>
            <a:endParaRPr lang="en-US" altLang="ko-KR" sz="1400" dirty="0"/>
          </a:p>
          <a:p>
            <a:pPr lvl="1">
              <a:buFont typeface="Wingdings" panose="05000000000000000000" pitchFamily="2" charset="2"/>
              <a:buChar char="§"/>
            </a:pPr>
            <a:r>
              <a:rPr lang="en-US" altLang="ko-KR" sz="1400" b="1" dirty="0"/>
              <a:t>You can also use a percentage instead of an absolute number in the “</a:t>
            </a:r>
            <a:r>
              <a:rPr lang="en-US" altLang="ko-KR" sz="1400" b="1" dirty="0" err="1">
                <a:solidFill>
                  <a:srgbClr val="FF0000"/>
                </a:solidFill>
              </a:rPr>
              <a:t>minAvailable</a:t>
            </a:r>
            <a:r>
              <a:rPr lang="en-US" altLang="ko-KR" sz="1400" b="1" dirty="0"/>
              <a:t>” field</a:t>
            </a:r>
            <a:r>
              <a:rPr lang="en-US" altLang="ko-KR" sz="1400" dirty="0"/>
              <a:t>. For example, you could state that 60% of all pods with the “</a:t>
            </a:r>
            <a:r>
              <a:rPr lang="en-US" altLang="ko-KR" sz="1400" b="1" dirty="0"/>
              <a:t>app=</a:t>
            </a:r>
            <a:r>
              <a:rPr lang="en-US" altLang="ko-KR" sz="1400" b="1" dirty="0" err="1"/>
              <a:t>kubia</a:t>
            </a:r>
            <a:r>
              <a:rPr lang="en-US" altLang="ko-KR" sz="1400" dirty="0"/>
              <a:t>” label need to be running at all times.</a:t>
            </a:r>
          </a:p>
          <a:p>
            <a:pPr lvl="1">
              <a:buFont typeface="Wingdings" panose="05000000000000000000" pitchFamily="2" charset="2"/>
              <a:buChar char="§"/>
            </a:pPr>
            <a:r>
              <a:rPr lang="en-US" altLang="ko-KR" sz="1400" b="1" dirty="0"/>
              <a:t>NOTE : Starting with Kubernetes 1.7, the </a:t>
            </a:r>
            <a:r>
              <a:rPr lang="en-US" altLang="ko-KR" sz="1400" b="1" dirty="0" err="1">
                <a:solidFill>
                  <a:srgbClr val="FF0000"/>
                </a:solidFill>
              </a:rPr>
              <a:t>PodDisruptionBudget</a:t>
            </a:r>
            <a:r>
              <a:rPr lang="en-US" altLang="ko-KR" sz="1400" b="1" dirty="0"/>
              <a:t> resource also supports the “</a:t>
            </a:r>
            <a:r>
              <a:rPr lang="en-US" altLang="ko-KR" sz="1400" b="1" dirty="0" err="1">
                <a:solidFill>
                  <a:srgbClr val="FF0000"/>
                </a:solidFill>
              </a:rPr>
              <a:t>maxUnavailable</a:t>
            </a:r>
            <a:r>
              <a:rPr lang="en-US" altLang="ko-KR" sz="1400" b="1" dirty="0"/>
              <a:t>” field, which you can use instead of “</a:t>
            </a:r>
            <a:r>
              <a:rPr lang="en-US" altLang="ko-KR" sz="1400" b="1" dirty="0" err="1">
                <a:solidFill>
                  <a:srgbClr val="FF0000"/>
                </a:solidFill>
              </a:rPr>
              <a:t>minAvailable</a:t>
            </a:r>
            <a:r>
              <a:rPr lang="en-US" altLang="ko-KR" sz="1400" b="1" dirty="0"/>
              <a:t>” if you want to block evictions when more than that many pods are unavailable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65FE241-EEC9-B90B-AE8D-A466AC7882AF}"/>
              </a:ext>
            </a:extLst>
          </p:cNvPr>
          <p:cNvPicPr>
            <a:picLocks noChangeAspect="1"/>
          </p:cNvPicPr>
          <p:nvPr/>
        </p:nvPicPr>
        <p:blipFill>
          <a:blip r:embed="rId2"/>
          <a:stretch>
            <a:fillRect/>
          </a:stretch>
        </p:blipFill>
        <p:spPr>
          <a:xfrm>
            <a:off x="5866726" y="2117352"/>
            <a:ext cx="5487074" cy="4291677"/>
          </a:xfrm>
          <a:prstGeom prst="rect">
            <a:avLst/>
          </a:prstGeom>
        </p:spPr>
      </p:pic>
      <p:sp>
        <p:nvSpPr>
          <p:cNvPr id="9" name="TextBox 8">
            <a:extLst>
              <a:ext uri="{FF2B5EF4-FFF2-40B4-BE49-F238E27FC236}">
                <a16:creationId xmlns:a16="http://schemas.microsoft.com/office/drawing/2014/main" id="{C6A2EC4B-4AED-FE28-7047-660E5182116F}"/>
              </a:ext>
            </a:extLst>
          </p:cNvPr>
          <p:cNvSpPr txBox="1"/>
          <p:nvPr/>
        </p:nvSpPr>
        <p:spPr>
          <a:xfrm>
            <a:off x="838200" y="2229397"/>
            <a:ext cx="5028526" cy="2289345"/>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As long as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PodDisruptionBudget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exists, both the Cluster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Autoscaler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the “$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drain” command will adhere to it and will never evict a pod with the “app=</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kubia</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label if that would bring the number of such pods below three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For example, if there were four pods altogether and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minAvailable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was set to three as in the example, the pod eviction process would evict pods one by one, waiting for the evicted pod to be replaced with a new one by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ReplicaSet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controller, before evicting another pod.</a:t>
            </a:r>
          </a:p>
        </p:txBody>
      </p:sp>
    </p:spTree>
    <p:extLst>
      <p:ext uri="{BB962C8B-B14F-4D97-AF65-F5344CB8AC3E}">
        <p14:creationId xmlns:p14="http://schemas.microsoft.com/office/powerpoint/2010/main" val="28767382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sp>
        <p:nvSpPr>
          <p:cNvPr id="13" name="제목 1">
            <a:extLst>
              <a:ext uri="{FF2B5EF4-FFF2-40B4-BE49-F238E27FC236}">
                <a16:creationId xmlns:a16="http://schemas.microsoft.com/office/drawing/2014/main" id="{7D50D0B4-E4F0-46F2-684F-163211952A0F}"/>
              </a:ext>
            </a:extLst>
          </p:cNvPr>
          <p:cNvSpPr>
            <a:spLocks noGrp="1"/>
          </p:cNvSpPr>
          <p:nvPr>
            <p:ph type="title"/>
          </p:nvPr>
        </p:nvSpPr>
        <p:spPr>
          <a:xfrm>
            <a:off x="838200" y="297455"/>
            <a:ext cx="10515600" cy="383582"/>
          </a:xfrm>
        </p:spPr>
        <p:txBody>
          <a:bodyPr>
            <a:normAutofit fontScale="90000"/>
          </a:bodyPr>
          <a:lstStyle/>
          <a:p>
            <a:r>
              <a:rPr lang="en-US" altLang="ko-KR" sz="2800" b="1" dirty="0"/>
              <a:t>NOTE : Big Picture - The Kubernetes Cluster</a:t>
            </a:r>
            <a:endParaRPr lang="ko-KR" altLang="en-US" sz="2800" b="1" dirty="0"/>
          </a:p>
        </p:txBody>
      </p:sp>
      <p:cxnSp>
        <p:nvCxnSpPr>
          <p:cNvPr id="14" name="직선 연결선 13">
            <a:extLst>
              <a:ext uri="{FF2B5EF4-FFF2-40B4-BE49-F238E27FC236}">
                <a16:creationId xmlns:a16="http://schemas.microsoft.com/office/drawing/2014/main" id="{D375794C-7322-ED80-E7CF-67C5F5AD86FF}"/>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6" name="그림 15">
            <a:extLst>
              <a:ext uri="{FF2B5EF4-FFF2-40B4-BE49-F238E27FC236}">
                <a16:creationId xmlns:a16="http://schemas.microsoft.com/office/drawing/2014/main" id="{C32661DB-28EB-2A5F-70FD-2C5009C198D9}"/>
              </a:ext>
            </a:extLst>
          </p:cNvPr>
          <p:cNvPicPr>
            <a:picLocks noChangeAspect="1"/>
          </p:cNvPicPr>
          <p:nvPr/>
        </p:nvPicPr>
        <p:blipFill>
          <a:blip r:embed="rId2"/>
          <a:stretch>
            <a:fillRect/>
          </a:stretch>
        </p:blipFill>
        <p:spPr>
          <a:xfrm>
            <a:off x="838200" y="856434"/>
            <a:ext cx="10515600" cy="5145132"/>
          </a:xfrm>
          <a:prstGeom prst="rect">
            <a:avLst/>
          </a:prstGeom>
        </p:spPr>
      </p:pic>
    </p:spTree>
    <p:extLst>
      <p:ext uri="{BB962C8B-B14F-4D97-AF65-F5344CB8AC3E}">
        <p14:creationId xmlns:p14="http://schemas.microsoft.com/office/powerpoint/2010/main" val="1040337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Cheat Sheet</a:t>
            </a:r>
            <a:endParaRPr lang="ko-KR" altLang="en-US" sz="28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179C4D6-A6A7-AFD7-99CE-9233F81D8E3C}"/>
              </a:ext>
            </a:extLst>
          </p:cNvPr>
          <p:cNvPicPr>
            <a:picLocks noChangeAspect="1"/>
          </p:cNvPicPr>
          <p:nvPr/>
        </p:nvPicPr>
        <p:blipFill>
          <a:blip r:embed="rId2"/>
          <a:stretch>
            <a:fillRect/>
          </a:stretch>
        </p:blipFill>
        <p:spPr>
          <a:xfrm>
            <a:off x="1228144" y="880011"/>
            <a:ext cx="9735713" cy="5476339"/>
          </a:xfrm>
          <a:prstGeom prst="rect">
            <a:avLst/>
          </a:prstGeom>
        </p:spPr>
      </p:pic>
    </p:spTree>
    <p:extLst>
      <p:ext uri="{BB962C8B-B14F-4D97-AF65-F5344CB8AC3E}">
        <p14:creationId xmlns:p14="http://schemas.microsoft.com/office/powerpoint/2010/main" val="4863588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endParaRPr lang="en-US" altLang="ko-KR" sz="1400" b="1" dirty="0"/>
          </a:p>
          <a:p>
            <a:pPr marL="0" indent="0">
              <a:buNone/>
            </a:pPr>
            <a:r>
              <a:rPr lang="en-US" altLang="ko-KR" sz="1400" b="1" dirty="0"/>
              <a:t>[4] </a:t>
            </a:r>
            <a:r>
              <a:rPr lang="en-US" altLang="ko-KR" sz="1400" b="1" dirty="0">
                <a:hlinkClick r:id="rId4"/>
              </a:rPr>
              <a:t>https://kubernetes.io/docs/reference/kubectl/cheatsheet/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5"/>
          <a:stretch>
            <a:fillRect/>
          </a:stretch>
        </p:blipFill>
        <p:spPr>
          <a:xfrm>
            <a:off x="4990542" y="3590159"/>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114237</TotalTime>
  <Words>17010</Words>
  <Application>Microsoft Office PowerPoint</Application>
  <PresentationFormat>와이드스크린</PresentationFormat>
  <Paragraphs>1365</Paragraphs>
  <Slides>108</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108</vt:i4>
      </vt:variant>
    </vt:vector>
  </HeadingPairs>
  <TitlesOfParts>
    <vt:vector size="112" baseType="lpstr">
      <vt:lpstr>맑은 고딕</vt:lpstr>
      <vt:lpstr>Arial</vt:lpstr>
      <vt:lpstr>Wingdings</vt:lpstr>
      <vt:lpstr>Office 테마</vt:lpstr>
      <vt:lpstr>Kubernetes in Action</vt:lpstr>
      <vt:lpstr>Pod’s Computation Resources</vt:lpstr>
      <vt:lpstr>Requesting Resources for a Pod’s Containers(1/13)</vt:lpstr>
      <vt:lpstr>Requesting Resources for a Pod’s Containers(2/13)</vt:lpstr>
      <vt:lpstr>Requesting Resources for a Pod’s Containers(3/13)</vt:lpstr>
      <vt:lpstr>Requesting Resources for a Pod’s Containers(4/13)</vt:lpstr>
      <vt:lpstr>Requesting Resources for a Pod’s Containers(5/13)</vt:lpstr>
      <vt:lpstr>Requesting Resources for a Pod’s Containers(6/13)</vt:lpstr>
      <vt:lpstr>Requesting Resources for a Pod’s Containers(7/13)</vt:lpstr>
      <vt:lpstr>Requesting Resources for a Pod’s Containers(8/13)</vt:lpstr>
      <vt:lpstr>Requesting Resources for a Pod’s Containers(9/13)</vt:lpstr>
      <vt:lpstr>Requesting Resources for a Pod’s Containers(10/13)</vt:lpstr>
      <vt:lpstr>Requesting Resources for a Pod’s Containers(11/13)</vt:lpstr>
      <vt:lpstr>Requesting Resources for a Pod’s Containers(12/13)</vt:lpstr>
      <vt:lpstr>Requesting Resources for a Pod’s Containers(13/13)</vt:lpstr>
      <vt:lpstr>Limiting Resources Available to a Container(1/9)</vt:lpstr>
      <vt:lpstr>Limiting Resources Available to a Container(2/9)</vt:lpstr>
      <vt:lpstr>Limiting Resources Available to a Container(3/9)</vt:lpstr>
      <vt:lpstr>Limiting Resources Available to a Container(4/9)</vt:lpstr>
      <vt:lpstr>Limiting Resources Available to a Container(5/9)</vt:lpstr>
      <vt:lpstr>Limiting Resources Available to a Container(6/9)</vt:lpstr>
      <vt:lpstr>Limiting Resources Available to a Container(7/9)</vt:lpstr>
      <vt:lpstr>Limiting Resources Available to a Container(8/9)</vt:lpstr>
      <vt:lpstr>Limiting Resources Available to a Container(9/9)</vt:lpstr>
      <vt:lpstr>Understanding Pod QoS Classes(1/7)</vt:lpstr>
      <vt:lpstr>Understanding Pod QoS Classes(2/7)</vt:lpstr>
      <vt:lpstr>Understanding Pod QoS Classes(3/7)</vt:lpstr>
      <vt:lpstr>Understanding Pod QoS Classes(4/7)</vt:lpstr>
      <vt:lpstr>Understanding Pod QoS Classes(5/7)</vt:lpstr>
      <vt:lpstr>Understanding Pod QoS Classes(6/7)</vt:lpstr>
      <vt:lpstr>Understanding Pod QoS Classes(7/7)</vt:lpstr>
      <vt:lpstr>Setting Default Requests and Limits for Pods Per Namespace(1/7)</vt:lpstr>
      <vt:lpstr>Setting Default Requests and Limits for Pods Per Namespace(2/7)</vt:lpstr>
      <vt:lpstr>Setting Default Requests and Limits for Pods Per Namespace(3/7)</vt:lpstr>
      <vt:lpstr>Setting Default Requests and Limits for Pods Per Namespace(4/7)</vt:lpstr>
      <vt:lpstr>Setting Default Requests and Limits for Pods Per Namespace(5/7)</vt:lpstr>
      <vt:lpstr>Setting Default Requests and Limits for Pods Per Namespace(6/7)</vt:lpstr>
      <vt:lpstr>Setting Default Requests and Limits for Pods Per Namespace(7/7)</vt:lpstr>
      <vt:lpstr>Limiting the Total Resources Available in a Namespace(1/12)</vt:lpstr>
      <vt:lpstr>Limiting the Total Resources Available in a Namespace(2/12)</vt:lpstr>
      <vt:lpstr>Limiting the Total Resources Available in a Namespace(3/12)</vt:lpstr>
      <vt:lpstr>Limiting the Total Resources Available in a Namespace(4/12)</vt:lpstr>
      <vt:lpstr>Limiting the Total Resources Available in a Namespace(5/12)</vt:lpstr>
      <vt:lpstr>Limiting the Total Resources Available in a Namespace(6/12)</vt:lpstr>
      <vt:lpstr>Limiting the Total Resources Available in a Namespace(7/12)</vt:lpstr>
      <vt:lpstr>Limiting the Total Resources Available in a Namespace(8/12)</vt:lpstr>
      <vt:lpstr>NOTE : Object Count Quota</vt:lpstr>
      <vt:lpstr>Limiting the Total Resources Available in a Namespace(9/12)</vt:lpstr>
      <vt:lpstr>Limiting the Total Resources Available in a Namespace(10/12)</vt:lpstr>
      <vt:lpstr>Limiting the Total Resources Available in a Namespace(11/12)</vt:lpstr>
      <vt:lpstr>Limiting the Total Resources Available in a Namespace(12/12)</vt:lpstr>
      <vt:lpstr>Monitoring Pod Resource Usage(1/8)</vt:lpstr>
      <vt:lpstr>Monitoring Pod Resource Usage(2/8)</vt:lpstr>
      <vt:lpstr>Monitoring Pod Resource Usage(3/8)</vt:lpstr>
      <vt:lpstr>Monitoring Pod Resource Usage(4/8)</vt:lpstr>
      <vt:lpstr>Monitoring Pod Resource Usage(5/8)</vt:lpstr>
      <vt:lpstr>Monitoring Pod Resource Usage(6/8)</vt:lpstr>
      <vt:lpstr>NOTE : Getting the Merics for Each Containers</vt:lpstr>
      <vt:lpstr>Monitoring Pod Resource Usage(7/8)</vt:lpstr>
      <vt:lpstr>Monitoring Pod Resource Usage(8/8)</vt:lpstr>
      <vt:lpstr>Automatic Scaling</vt:lpstr>
      <vt:lpstr>Autoscaling</vt:lpstr>
      <vt:lpstr>Horizontal Pod Autoscaling(1/27)</vt:lpstr>
      <vt:lpstr>Horizontal Pod Autoscaling(2/27)</vt:lpstr>
      <vt:lpstr>NOTE : How the Autoscaler Obtains Metrics</vt:lpstr>
      <vt:lpstr>Horizontal Pod Autoscaling(3/27)</vt:lpstr>
      <vt:lpstr>Horizontal Pod Autoscaling(4/27)</vt:lpstr>
      <vt:lpstr>Horizontal Pod Autoscaling(5/27)</vt:lpstr>
      <vt:lpstr>Horizontal Pod Autoscaling(6/27)</vt:lpstr>
      <vt:lpstr>Horizontal Pod Autoscaling(7/27)</vt:lpstr>
      <vt:lpstr>Horizontal Pod Autoscaling(8/27)</vt:lpstr>
      <vt:lpstr>Horizontal Pod Autoscaling(9/27)</vt:lpstr>
      <vt:lpstr>Horizontal Pod Autoscaling(10/27)</vt:lpstr>
      <vt:lpstr>Horizontal Pod Autoscaling(11/27)</vt:lpstr>
      <vt:lpstr>NOTE : The Whole Output</vt:lpstr>
      <vt:lpstr>Horizontal Pod Autoscaling(12/27)</vt:lpstr>
      <vt:lpstr>Horizontal Pod Autoscaling(13/27)</vt:lpstr>
      <vt:lpstr>Horizontal Pod Autoscaling(14/27)</vt:lpstr>
      <vt:lpstr>Horizontal Pod Autoscaling(15/27)</vt:lpstr>
      <vt:lpstr>Horizontal Pod Autoscaling(16/27)</vt:lpstr>
      <vt:lpstr>Horizontal Pod Autoscaling(17/27)</vt:lpstr>
      <vt:lpstr>Horizontal Pod Autoscaling(18/27)</vt:lpstr>
      <vt:lpstr>Horizontal Pod Autoscaling(19/27)</vt:lpstr>
      <vt:lpstr>Horizontal Pod Autoscaling(20/27)</vt:lpstr>
      <vt:lpstr>Horizontal Pod Autoscaling(21/27)</vt:lpstr>
      <vt:lpstr>Horizontal Pod Autoscaling(22/27)</vt:lpstr>
      <vt:lpstr>Horizontal Pod Autoscaling(23/27)</vt:lpstr>
      <vt:lpstr>Horizontal Pod Autoscaling(24/27)</vt:lpstr>
      <vt:lpstr>Horizontal Pod Autoscaling(25/27)</vt:lpstr>
      <vt:lpstr>Horizontal Pod Autoscaling(26/27)</vt:lpstr>
      <vt:lpstr>Horizontal Pod Autoscaling(27/27)</vt:lpstr>
      <vt:lpstr>Vertical Pod Autoscaling(1/3)</vt:lpstr>
      <vt:lpstr>Vertical Pod Autoscaling(2/3)</vt:lpstr>
      <vt:lpstr>Vertical Pod Autoscaling(3/3)</vt:lpstr>
      <vt:lpstr>Horizontal Scaling of Cluster Nodes(1/9)</vt:lpstr>
      <vt:lpstr>Horizontal Scaling of Cluster Nodes(2/9)</vt:lpstr>
      <vt:lpstr>Horizontal Scaling of Cluster Nodes(3/9)</vt:lpstr>
      <vt:lpstr>Horizontal Scaling of Cluster Nodes(4/9)</vt:lpstr>
      <vt:lpstr>NOTE : Manually Cordoning and Draining Nodes</vt:lpstr>
      <vt:lpstr>Horizontal Scaling of Cluster Nodes(5/9)</vt:lpstr>
      <vt:lpstr>Horizontal Scaling of Cluster Nodes(6/9)</vt:lpstr>
      <vt:lpstr>Horizontal Scaling of Cluster Nodes(7/9)</vt:lpstr>
      <vt:lpstr>Horizontal Scaling of Cluster Nodes(8/9)</vt:lpstr>
      <vt:lpstr>Horizontal Scaling of Cluster Nodes(9/9)</vt:lpstr>
      <vt:lpstr>NOTE : Big Picture - The Kubernetes Cluster</vt:lpstr>
      <vt:lpstr>NOTE : Kubernetes Cheat Sheet</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6815</cp:revision>
  <dcterms:created xsi:type="dcterms:W3CDTF">2020-11-26T08:00:10Z</dcterms:created>
  <dcterms:modified xsi:type="dcterms:W3CDTF">2026-08-18T02:44:20Z</dcterms:modified>
</cp:coreProperties>
</file>