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1845" r:id="rId3"/>
    <p:sldId id="1844" r:id="rId4"/>
    <p:sldId id="1843" r:id="rId5"/>
    <p:sldId id="1819" r:id="rId6"/>
    <p:sldId id="1820" r:id="rId7"/>
    <p:sldId id="1821" r:id="rId8"/>
    <p:sldId id="1822" r:id="rId9"/>
    <p:sldId id="1823" r:id="rId10"/>
    <p:sldId id="1824" r:id="rId11"/>
    <p:sldId id="1825" r:id="rId12"/>
    <p:sldId id="1826" r:id="rId13"/>
    <p:sldId id="1827" r:id="rId14"/>
    <p:sldId id="1828" r:id="rId15"/>
    <p:sldId id="1829" r:id="rId16"/>
    <p:sldId id="1830" r:id="rId17"/>
    <p:sldId id="1831" r:id="rId18"/>
    <p:sldId id="1832" r:id="rId19"/>
    <p:sldId id="1833" r:id="rId20"/>
    <p:sldId id="1743" r:id="rId21"/>
    <p:sldId id="1796" r:id="rId22"/>
    <p:sldId id="281" r:id="rId23"/>
    <p:sldId id="25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빅터 (권수호)" initials="빅(" lastIdx="1" clrIdx="0">
    <p:extLst>
      <p:ext uri="{19B8F6BF-5375-455C-9EA6-DF929625EA0E}">
        <p15:presenceInfo xmlns:p15="http://schemas.microsoft.com/office/powerpoint/2012/main" userId="S-1-5-21-736389252-3530206494-3470180472-100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9866-EDA7-412E-9943-EC1619E1B9B3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7BD4D-98D7-4ECB-9666-1F944AD0DB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18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3893C-0324-4581-89FE-8A8E43B5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BF58F6-155A-4478-ADFD-FD3F7A2DC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BB740-692B-4FA6-BCDC-10D5D007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7662A-90A0-422F-86C7-28633F226238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E33567-1257-4493-B1DD-3F9C1910B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C17BC-E7B6-4C2E-9DE5-9AF1C51D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92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74505-BAB9-46BA-B586-7AAAC8886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A8096-0680-4B11-9CB2-4FED24895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0A38AB-D330-49F0-BCCB-4AE64421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E73B-4F23-434A-A6D7-88271ACC49EC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BC20B-0BDE-4AE7-ACF6-D32838B0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C554E-AD93-49DB-9B26-67885CEC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30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D1DDC-6D57-4F54-B622-9E7ACF8A1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03737D-6531-49D0-AF79-0B66DE735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4B43-5C46-47D5-918D-ECE0BB87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D8FD-6369-45D3-BF1E-CE092B602C81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458F6-83EA-4BBC-BAA1-4838180A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E8959-73C5-4BEE-AADB-B0A1635C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3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2E9C-31ED-40DF-AFA0-C1EB8250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A1E6D-6737-45A3-839F-1AE39AB88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C17ED-85A1-47AD-8EBE-FDF4912BC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8E7E8F-808B-43FF-AE3F-12A63339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4664-AC38-4616-AC26-A81EB70F9B6D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F181D1-16BF-4533-9146-09F9D610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688F8-916E-4F95-B2E7-17805EB8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20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18287-3231-4D9B-9ABC-1B58425D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683157-2E3D-4C8A-84BE-39CAE31B2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6FB253-0AA5-4EA5-B266-11F099E92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908119-FD1B-4C5C-ABF4-116C41790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50826E-D850-4072-8B69-E26ACBC45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F33CD5-555A-4699-A10A-A4FA0409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2583-C2D6-4752-93FB-A3B1CCF51AD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14D1C8-FC60-4333-ACBB-5ED9C6E1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2093B3-31F5-4892-B533-DC0CA924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51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FA2BF-534C-44BE-B413-E10AC7FB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4BFA3A-F774-4B7B-8D63-9FDD27B5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91029-0B61-42E7-89A5-1452CC1CC685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7E7F0-2A3E-4C49-89F0-5D08295F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1E947A-3885-4B82-BA3E-5254653F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2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6FA01D-C650-430A-81EB-396EE011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CEB9F-05DB-43E1-892D-90A459D7CCD8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FB156C-D5FE-42A1-9B0A-D1ED6713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0973E2-E7B1-4050-85F8-604E107F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74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49C6F-546E-4387-9D44-0F5381B7F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0AB43D-2905-4CBE-9713-99F290A2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2BBF02-5C89-4C7F-9590-6454B28F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3E073-3EF4-4892-AC9C-5A6D183D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215A-7973-470B-84A4-F5AF132B8AAF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A8C830-C0D2-4E34-984D-BFD62710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AE579A-FA23-47BF-A4BA-55EC3964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3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33AAD-A233-4461-B600-ECA6C7784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49EC07-44FD-4C4A-9314-3224DF7BA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5A6D9C-B6D2-4BFA-A079-7D5C12CCF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F08306-C9C4-4CE5-8E7B-5E04932F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50B2-507C-4DE6-835C-CC74E109F16E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B10644-0531-497F-B2C0-377780F4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BEEBFB-DA63-4048-A6CA-C1E1EF82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2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C8EC7-6E11-4403-BD26-ECBF190F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DD3C11-4CF8-4044-BAF1-B13CDFF8E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3BC4E7-66FB-40C1-8FCD-5D5E3897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1F2C-84F6-42CA-BB66-E87B622B6B79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07E1BA-7287-48B0-845A-3B6A12C6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F8AD-9CD0-445E-859E-05D7DCB8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14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2AAEFD-B44D-4155-9045-4229A5D65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53818F-4461-41C0-996E-171B2484F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C01757-6CD8-4F39-8D5A-496ED695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B409-5BD5-456C-AF48-4FD374032583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AE857-085C-477D-AD27-8CA53DCE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F7504C-26BC-48B7-8DF3-12010D3D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84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87DD47-3055-4794-9EC4-443F56DA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D58F93-79C2-4CFD-A3A1-BA00A0F18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137D3-CE03-437A-B22E-E71309174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538FB-B8FC-4171-87E6-7B07A54FA9FA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3D692-A5AC-4625-ACF0-0DE38652C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51C3C-2FF0-4757-A7D5-BD00847B2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98182-889D-4BA7-ABC9-29B15B402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download/desktop/thank-you?version=22.04.2&amp;architecture=amd64" TargetMode="External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kubernetes.io/docs/tasks/tool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engine/install/linux-postinstall/" TargetMode="External"/><Relationship Id="rId2" Type="http://schemas.openxmlformats.org/officeDocument/2006/relationships/hyperlink" Target="https://docs.docker.com/engine/install/ubuntu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kubernetes.io/docs/setup/production-environment/tools/kubeadm/install-kubeadm/#installing-kubeadm-kubelet-and-kubect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ave.works/docs/net/latest/kubernetes/kube-addon/" TargetMode="External"/><Relationship Id="rId2" Type="http://schemas.openxmlformats.org/officeDocument/2006/relationships/hyperlink" Target="https://kubernetes.io/docs/concepts/cluster-administration/add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inikube.sigs.k8s.io/docs/" TargetMode="External"/><Relationship Id="rId2" Type="http://schemas.openxmlformats.org/officeDocument/2006/relationships/hyperlink" Target="https://github.com/luksa/kubernetes-in-ac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kubernetes.io/docs/reference/kubectl/cheatsheet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02FFF-01AB-4779-B408-42E2E4E9C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73" y="1122363"/>
            <a:ext cx="10098593" cy="2387600"/>
          </a:xfrm>
        </p:spPr>
        <p:txBody>
          <a:bodyPr>
            <a:normAutofit/>
          </a:bodyPr>
          <a:lstStyle/>
          <a:p>
            <a:r>
              <a:rPr lang="en-US" altLang="ko-KR" b="1" dirty="0"/>
              <a:t>Kubernetes in Action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AEB803-0A24-4323-A770-ED2D6F7EC4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Appendix</a:t>
            </a:r>
          </a:p>
          <a:p>
            <a:endParaRPr lang="en-US" altLang="ko-KR" b="1" dirty="0"/>
          </a:p>
          <a:p>
            <a:r>
              <a:rPr lang="en-US" altLang="ko-KR" sz="1600" b="1" dirty="0"/>
              <a:t>2025.01.28</a:t>
            </a:r>
          </a:p>
          <a:p>
            <a:endParaRPr lang="en-US" altLang="ko-KR" sz="1600" b="1" dirty="0"/>
          </a:p>
          <a:p>
            <a:endParaRPr lang="ko-KR" altLang="en-US" sz="16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AC595A7-AC89-45DB-BE94-EB85A23F72EB}"/>
              </a:ext>
            </a:extLst>
          </p:cNvPr>
          <p:cNvCxnSpPr>
            <a:cxnSpLocks/>
          </p:cNvCxnSpPr>
          <p:nvPr/>
        </p:nvCxnSpPr>
        <p:spPr>
          <a:xfrm>
            <a:off x="1283368" y="3509963"/>
            <a:ext cx="9721516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40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02FFF-01AB-4779-B408-42E2E4E9C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173" y="1122363"/>
            <a:ext cx="10098593" cy="2387600"/>
          </a:xfrm>
        </p:spPr>
        <p:txBody>
          <a:bodyPr>
            <a:normAutofit/>
          </a:bodyPr>
          <a:lstStyle/>
          <a:p>
            <a:r>
              <a:rPr lang="en-US" altLang="ko-KR" sz="4400" b="1" dirty="0"/>
              <a:t>Building Multi-Node Cluster</a:t>
            </a:r>
            <a:endParaRPr lang="ko-KR" altLang="en-US" sz="44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AC595A7-AC89-45DB-BE94-EB85A23F72EB}"/>
              </a:ext>
            </a:extLst>
          </p:cNvPr>
          <p:cNvCxnSpPr>
            <a:cxnSpLocks/>
          </p:cNvCxnSpPr>
          <p:nvPr/>
        </p:nvCxnSpPr>
        <p:spPr>
          <a:xfrm>
            <a:off x="1283368" y="3509963"/>
            <a:ext cx="9721516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06EB878-34F2-3ABE-671D-3D1D3EE1AC3D}"/>
              </a:ext>
            </a:extLst>
          </p:cNvPr>
          <p:cNvSpPr txBox="1">
            <a:spLocks/>
          </p:cNvSpPr>
          <p:nvPr/>
        </p:nvSpPr>
        <p:spPr>
          <a:xfrm>
            <a:off x="1094829" y="3509963"/>
            <a:ext cx="10098593" cy="238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7849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Operating System Requirements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VirtualBox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First, you need to download and install </a:t>
            </a:r>
            <a:r>
              <a:rPr lang="en-US" altLang="ko-KR" sz="1400" b="1" dirty="0"/>
              <a:t>VirtualBox</a:t>
            </a:r>
            <a:r>
              <a:rPr lang="en-US" altLang="ko-KR" sz="1400" dirty="0"/>
              <a:t>, if you don’t have it installed already. You can download it from </a:t>
            </a:r>
            <a:r>
              <a:rPr lang="en-US" altLang="ko-KR" sz="1400" b="1" dirty="0">
                <a:hlinkClick r:id="rId2"/>
              </a:rPr>
              <a:t>https://www.virtualbox.org/wiki/Downloads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Once you have it running, download the Ubuntu 20.04 or Ubuntu 22.04(2023.04) ISO image from </a:t>
            </a:r>
            <a:r>
              <a:rPr lang="en-US" altLang="ko-KR" sz="1400" b="1" dirty="0">
                <a:hlinkClick r:id="rId3"/>
              </a:rPr>
              <a:t>https://ubuntu.com/download/desktop/thank-you?version=22.04.2&amp;architecture=amd64</a:t>
            </a:r>
            <a:r>
              <a:rPr lang="en-US" altLang="ko-KR" sz="1400" dirty="0"/>
              <a:t>. You can also use a different Linux distribution, but make sure it’s supported by checking the </a:t>
            </a:r>
            <a:r>
              <a:rPr lang="en-US" altLang="ko-KR" sz="1400" b="1" dirty="0">
                <a:hlinkClick r:id="rId4"/>
              </a:rPr>
              <a:t>https://kubernetes.io/docs/tasks/tools/</a:t>
            </a:r>
            <a:r>
              <a:rPr lang="en-US" altLang="ko-KR" sz="1400" b="1" dirty="0"/>
              <a:t> </a:t>
            </a:r>
            <a:r>
              <a:rPr lang="en-US" altLang="ko-KR" sz="1400" dirty="0"/>
              <a:t>website.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NOTE : For Apple M1, VirtualBox technical preview version is available now(2023.04). VMWare 7.x Beta version is also available</a:t>
            </a:r>
            <a:r>
              <a:rPr lang="en-US" altLang="ko-KR" sz="1400" dirty="0"/>
              <a:t>.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119EAA9-9BD0-E917-EA19-4CE5605E5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431" y="2589452"/>
            <a:ext cx="4229137" cy="27877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930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Creating Virtual Machine 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Virtual Machine Setting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Next, you’ll create the </a:t>
            </a:r>
            <a:r>
              <a:rPr lang="en-US" altLang="ko-KR" sz="1400" b="1" dirty="0"/>
              <a:t>VM</a:t>
            </a:r>
            <a:r>
              <a:rPr lang="en-US" altLang="ko-KR" sz="1400" dirty="0"/>
              <a:t> for your Kubernetes master. Start by clicking the New icon in the upper-left corner. Then enter “</a:t>
            </a:r>
            <a:r>
              <a:rPr lang="en-US" altLang="ko-KR" sz="1400" b="1" dirty="0"/>
              <a:t>VirtualBox Image Name</a:t>
            </a:r>
            <a:r>
              <a:rPr lang="en-US" altLang="ko-KR" sz="1400" dirty="0"/>
              <a:t>” as the name, and select Linux as the Type and </a:t>
            </a:r>
            <a:r>
              <a:rPr lang="en-US" altLang="ko-KR" sz="1400" b="1" dirty="0"/>
              <a:t>64-bit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After clicking the Next button, you can </a:t>
            </a:r>
            <a:r>
              <a:rPr lang="en-US" altLang="ko-KR" sz="1400" b="1" dirty="0"/>
              <a:t>set the VM’s memory size </a:t>
            </a:r>
            <a:r>
              <a:rPr lang="en-US" altLang="ko-KR" sz="1400" dirty="0"/>
              <a:t>and </a:t>
            </a:r>
            <a:r>
              <a:rPr lang="en-US" altLang="ko-KR" sz="1400" b="1" dirty="0"/>
              <a:t>set up the hard disk</a:t>
            </a:r>
            <a:r>
              <a:rPr lang="en-US" altLang="ko-KR" sz="1400" dirty="0"/>
              <a:t>. If you have enough memory, select at least 2GB (keep in mind you’ll run three such VMs, </a:t>
            </a:r>
            <a:r>
              <a:rPr lang="en-US" altLang="ko-KR" sz="1400" b="1" dirty="0"/>
              <a:t>16GB is preferrable, 4 CPU : 2 Physical, 2 Hyper Thread in each CPU</a:t>
            </a:r>
            <a:r>
              <a:rPr lang="en-US" altLang="ko-KR" sz="1400" dirty="0"/>
              <a:t>). When creating the hard disk, leave the default options selected(But, </a:t>
            </a:r>
            <a:r>
              <a:rPr lang="en-US" altLang="ko-KR" sz="1400" b="1" dirty="0"/>
              <a:t>100GB</a:t>
            </a:r>
            <a:r>
              <a:rPr lang="en-US" altLang="ko-KR" sz="1400" dirty="0"/>
              <a:t> is preferrable).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Here’s what they were in my case 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Hard disk file type: VDI (VirtualBox Disk Image)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Storage on physical hard disk : Dynamically allocated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File system size: Ubuntu20.04-01, Ubuntu20.04-02, Ubuntu20.04-03, etc., size 100GB SSD</a:t>
            </a:r>
            <a:endParaRPr lang="en-US" altLang="ko-KR" sz="1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619060E-E280-E5A8-D7F9-5745A80F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97" y="3576016"/>
            <a:ext cx="4519205" cy="278033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44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the Network Adapter for the VM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Adapter Bridge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Once you’re done creating the VM, you need to configure its network adapter, because the default won’t allow you to run multiple nodes properly</a:t>
            </a:r>
            <a:r>
              <a:rPr lang="en-US" altLang="ko-KR" sz="1400" dirty="0"/>
              <a:t>. You’ll configure the adapter so it uses the “</a:t>
            </a:r>
            <a:r>
              <a:rPr lang="en-US" altLang="ko-KR" sz="1400" b="1" dirty="0">
                <a:solidFill>
                  <a:srgbClr val="FF0000"/>
                </a:solidFill>
              </a:rPr>
              <a:t>Bridged Adapter</a:t>
            </a:r>
            <a:r>
              <a:rPr lang="en-US" altLang="ko-KR" sz="1400" dirty="0"/>
              <a:t>” mode. </a:t>
            </a:r>
            <a:r>
              <a:rPr lang="en-US" altLang="ko-KR" sz="1400" b="1" dirty="0"/>
              <a:t>This will connect your VMs to the same network your host computer is in. Each VM will get its own IP address, the same way as if it were a physical machine connected to the same switch your host computer is connected to</a:t>
            </a:r>
            <a:r>
              <a:rPr lang="en-US" altLang="ko-KR" sz="1400" dirty="0"/>
              <a:t>. Other options are much more complicated, because they usually require two network adapters to be set up.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To configure the network adapter, make sure the VM is selected in the main VirtualBox window and then click the </a:t>
            </a:r>
            <a:r>
              <a:rPr lang="en-US" altLang="ko-KR" sz="1400" b="1" dirty="0"/>
              <a:t>Settings icon </a:t>
            </a:r>
            <a:r>
              <a:rPr lang="en-US" altLang="ko-KR" sz="1400" dirty="0"/>
              <a:t>(next to the New icon you clicked before).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A window like the one shown in the following figure will appear. On the left-hand side, </a:t>
            </a:r>
            <a:r>
              <a:rPr lang="en-US" altLang="ko-KR" sz="1400" b="1" dirty="0"/>
              <a:t>select Network </a:t>
            </a:r>
            <a:r>
              <a:rPr lang="en-US" altLang="ko-KR" sz="1400" dirty="0"/>
              <a:t>and then, in the main panel on the right, select “</a:t>
            </a:r>
            <a:r>
              <a:rPr lang="en-US" altLang="ko-KR" sz="1400" b="1" dirty="0"/>
              <a:t>Attached to: Bridged Adapter”</a:t>
            </a:r>
            <a:r>
              <a:rPr lang="en-US" altLang="ko-KR" sz="1400" dirty="0"/>
              <a:t>, as shown in the figure. In the Name drop-down menu, select your host machine’s adapter, which you use to connect your machine to the network.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5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ED7CA45-3AC7-5F57-22DA-460DCDD94CE9}"/>
              </a:ext>
            </a:extLst>
          </p:cNvPr>
          <p:cNvGrpSpPr/>
          <p:nvPr/>
        </p:nvGrpSpPr>
        <p:grpSpPr>
          <a:xfrm>
            <a:off x="3974797" y="3426801"/>
            <a:ext cx="4242406" cy="2982229"/>
            <a:chOff x="3974797" y="3426801"/>
            <a:chExt cx="4242406" cy="298222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BE63F9B-348F-82C3-C1C1-419EC36E0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4797" y="3426801"/>
              <a:ext cx="4242406" cy="2982229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BF3AD12-58CE-5DFC-8016-8274291EDDD8}"/>
                </a:ext>
              </a:extLst>
            </p:cNvPr>
            <p:cNvSpPr/>
            <p:nvPr/>
          </p:nvSpPr>
          <p:spPr>
            <a:xfrm>
              <a:off x="5057522" y="4135030"/>
              <a:ext cx="3074974" cy="4612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13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Installing the Operating System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Setting up Operating System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You’re now ready to run the VM and install the operating system</a:t>
            </a:r>
            <a:r>
              <a:rPr lang="en-US" altLang="ko-KR" sz="1400" dirty="0"/>
              <a:t>. Ensure the VM is still selected in the list and click on the Start icon at the top of the VirtualBox main window.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NOTICE : Sometimes, when you try to install Ubuntu 2x.04 version on VirtualBox with “Adapter Bridge” networking mode, VM will crash. In this case, change the networking mode to “</a:t>
            </a:r>
            <a:r>
              <a:rPr lang="en-US" altLang="ko-KR" sz="1400" b="1" dirty="0">
                <a:solidFill>
                  <a:srgbClr val="FF0000"/>
                </a:solidFill>
              </a:rPr>
              <a:t>NAT</a:t>
            </a:r>
            <a:r>
              <a:rPr lang="en-US" altLang="ko-KR" sz="1400" b="1" dirty="0"/>
              <a:t>”. Then try again. After the installation of the OS, you can chance the “NAT” to “Adapter Bridge” networking mode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AD01100-D76B-3E30-D0DC-5079D47D63B9}"/>
              </a:ext>
            </a:extLst>
          </p:cNvPr>
          <p:cNvGrpSpPr/>
          <p:nvPr/>
        </p:nvGrpSpPr>
        <p:grpSpPr>
          <a:xfrm>
            <a:off x="4022936" y="1849517"/>
            <a:ext cx="4146128" cy="3484401"/>
            <a:chOff x="4022936" y="2109225"/>
            <a:chExt cx="4146128" cy="34844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E72A0EA-C2A8-33C4-82FD-D629D0E0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2936" y="2109225"/>
              <a:ext cx="4146128" cy="348440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455BB05-15CE-32F1-D436-BB4D6C71E050}"/>
                </a:ext>
              </a:extLst>
            </p:cNvPr>
            <p:cNvSpPr/>
            <p:nvPr/>
          </p:nvSpPr>
          <p:spPr>
            <a:xfrm>
              <a:off x="6773034" y="4215950"/>
              <a:ext cx="882031" cy="2023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687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Installing Docker and Kubernetes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Docker, </a:t>
            </a:r>
            <a:r>
              <a:rPr lang="en-US" altLang="ko-KR" sz="1800" b="1" dirty="0" err="1"/>
              <a:t>Kubelet</a:t>
            </a:r>
            <a:r>
              <a:rPr lang="en-US" altLang="ko-KR" sz="1800" b="1" dirty="0"/>
              <a:t>, </a:t>
            </a:r>
            <a:r>
              <a:rPr lang="en-US" altLang="ko-KR" sz="1800" b="1" dirty="0" err="1"/>
              <a:t>Kubeadm</a:t>
            </a:r>
            <a:r>
              <a:rPr lang="en-US" altLang="ko-KR" sz="1800" b="1" dirty="0"/>
              <a:t>, </a:t>
            </a:r>
            <a:r>
              <a:rPr lang="en-US" altLang="ko-KR" sz="1800" b="1" dirty="0" err="1"/>
              <a:t>Kubectl</a:t>
            </a:r>
            <a:r>
              <a:rPr lang="en-US" altLang="ko-KR" sz="1800" b="1" dirty="0"/>
              <a:t>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Please refer to </a:t>
            </a:r>
            <a:r>
              <a:rPr lang="en-US" altLang="ko-KR" sz="1400" b="1" dirty="0">
                <a:hlinkClick r:id="rId2"/>
              </a:rPr>
              <a:t>https://docs.docker.com/engine/install/ubuntu/</a:t>
            </a:r>
            <a:r>
              <a:rPr lang="en-US" altLang="ko-KR" sz="1400" dirty="0"/>
              <a:t> for Docker installation on Ubuntu.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NOTICE : Don’t forget the “</a:t>
            </a:r>
            <a:r>
              <a:rPr lang="en-US" altLang="ko-KR" sz="1400" b="1" dirty="0">
                <a:hlinkClick r:id="rId3"/>
              </a:rPr>
              <a:t>Post-Installation</a:t>
            </a:r>
            <a:r>
              <a:rPr lang="en-US" altLang="ko-KR" sz="1400" b="1" dirty="0"/>
              <a:t>” on Ubuntu.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To install Kubernetes, please refer to </a:t>
            </a:r>
            <a:r>
              <a:rPr lang="en-US" altLang="ko-KR" sz="1400" b="1" dirty="0">
                <a:hlinkClick r:id="rId4"/>
              </a:rPr>
              <a:t>https://kubernetes.io/docs/setup/production-environment/tools/kubeadm/install-kubeadm/#installing-kubeadm-kubelet-and-kubectl</a:t>
            </a:r>
            <a:r>
              <a:rPr lang="en-US" altLang="ko-KR" sz="1400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NOTICE : You need to disable “Swapping” in order for the </a:t>
            </a:r>
            <a:r>
              <a:rPr lang="en-US" altLang="ko-KR" sz="1400" b="1" dirty="0" err="1"/>
              <a:t>Kubelet</a:t>
            </a:r>
            <a:r>
              <a:rPr lang="en-US" altLang="ko-KR" sz="1400" b="1" dirty="0"/>
              <a:t> to work properly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NOTE : After the swapping off, you can not see anything when you enter “</a:t>
            </a:r>
            <a:r>
              <a:rPr lang="en-US" altLang="ko-KR" sz="1400" b="1" dirty="0" err="1"/>
              <a:t>swapon</a:t>
            </a:r>
            <a:r>
              <a:rPr lang="en-US" altLang="ko-KR" sz="1400" b="1" dirty="0"/>
              <a:t> –s” command in the console</a:t>
            </a:r>
            <a:r>
              <a:rPr lang="en-US" altLang="ko-KR" sz="1400" dirty="0"/>
              <a:t>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404E8531-7504-9CC2-896A-F8C9CD67C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689013"/>
            <a:ext cx="10515600" cy="147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1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Clone the VM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Copying Virtual Machine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To clone(copy and paste?) your VM, shutdown the VM first with “</a:t>
            </a:r>
            <a:r>
              <a:rPr lang="en-US" altLang="ko-KR" sz="1400" b="1" dirty="0"/>
              <a:t>$ shutdown now</a:t>
            </a:r>
            <a:r>
              <a:rPr lang="en-US" altLang="ko-KR" sz="1400" dirty="0"/>
              <a:t>” command.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Now, right-click on the VM in the VirtualBox UI and select “</a:t>
            </a:r>
            <a:r>
              <a:rPr lang="en-US" altLang="ko-KR" sz="1400" b="1" dirty="0"/>
              <a:t>Clone</a:t>
            </a:r>
            <a:r>
              <a:rPr lang="en-US" altLang="ko-KR" sz="1400" dirty="0"/>
              <a:t>”. Enter the name for the new machine as shown in the following figure. </a:t>
            </a:r>
            <a:r>
              <a:rPr lang="en-US" altLang="ko-KR" sz="1400" b="1" dirty="0"/>
              <a:t>Make sure you check the </a:t>
            </a:r>
            <a:r>
              <a:rPr lang="en-US" altLang="ko-KR" sz="1400" dirty="0"/>
              <a:t>“</a:t>
            </a:r>
            <a:r>
              <a:rPr lang="en-US" altLang="ko-KR" sz="1400" b="1" dirty="0">
                <a:solidFill>
                  <a:srgbClr val="FF0000"/>
                </a:solidFill>
              </a:rPr>
              <a:t>Reinitialize the MAC address of all network cards option</a:t>
            </a:r>
            <a:r>
              <a:rPr lang="en-US" altLang="ko-KR" sz="1400" dirty="0"/>
              <a:t>”, </a:t>
            </a:r>
            <a:r>
              <a:rPr lang="en-US" altLang="ko-KR" sz="1400" b="1" dirty="0"/>
              <a:t>so each VM uses different MAC addresses (because they’re going to be located in the same network)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After the cloning, you need to “</a:t>
            </a:r>
            <a:r>
              <a:rPr lang="en-US" altLang="ko-KR" sz="1400" b="1" dirty="0"/>
              <a:t>change the hostname</a:t>
            </a:r>
            <a:r>
              <a:rPr lang="en-US" altLang="ko-KR" sz="1400" dirty="0"/>
              <a:t>” in Ubuntu setting menu.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8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5CACAC2-B5A3-C79D-85C0-8C9A3589B0D3}"/>
              </a:ext>
            </a:extLst>
          </p:cNvPr>
          <p:cNvGrpSpPr/>
          <p:nvPr/>
        </p:nvGrpSpPr>
        <p:grpSpPr>
          <a:xfrm>
            <a:off x="1368665" y="2473115"/>
            <a:ext cx="9454670" cy="3610479"/>
            <a:chOff x="735289" y="2586321"/>
            <a:chExt cx="9454670" cy="3610479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7056414-AB05-6D58-CEF3-46E42A29CAF0}"/>
                </a:ext>
              </a:extLst>
            </p:cNvPr>
            <p:cNvGrpSpPr/>
            <p:nvPr/>
          </p:nvGrpSpPr>
          <p:grpSpPr>
            <a:xfrm>
              <a:off x="6274638" y="2586321"/>
              <a:ext cx="3915321" cy="3610479"/>
              <a:chOff x="4138339" y="2319676"/>
              <a:chExt cx="3915321" cy="3610479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42C4E819-689F-3D90-C358-E5AA1F3CEA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38339" y="2319676"/>
                <a:ext cx="3915321" cy="3610479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E3C7BB3-7EB6-2252-E756-7B0885FA4EEF}"/>
                  </a:ext>
                </a:extLst>
              </p:cNvPr>
              <p:cNvSpPr/>
              <p:nvPr/>
            </p:nvSpPr>
            <p:spPr>
              <a:xfrm>
                <a:off x="5462124" y="3876085"/>
                <a:ext cx="2484255" cy="72828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9D438B2-C2C8-41F5-EEC6-85F9BA3C8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289" y="2586321"/>
              <a:ext cx="5182075" cy="3338549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21CD54F-26D7-6DBF-D1BC-2F2F2AB777A2}"/>
                </a:ext>
              </a:extLst>
            </p:cNvPr>
            <p:cNvSpPr/>
            <p:nvPr/>
          </p:nvSpPr>
          <p:spPr>
            <a:xfrm>
              <a:off x="1650775" y="3641416"/>
              <a:ext cx="1351370" cy="1132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01411767-96A2-2BAD-4DAE-A8A0781DAB9D}"/>
                </a:ext>
              </a:extLst>
            </p:cNvPr>
            <p:cNvSpPr/>
            <p:nvPr/>
          </p:nvSpPr>
          <p:spPr>
            <a:xfrm>
              <a:off x="5917364" y="3859901"/>
              <a:ext cx="357274" cy="404602"/>
            </a:xfrm>
            <a:prstGeom prst="rightArrow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369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the Master with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(1/2)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Initializing </a:t>
            </a:r>
            <a:r>
              <a:rPr lang="en-US" altLang="ko-KR" sz="1800" b="1" dirty="0" err="1"/>
              <a:t>Kubeadm</a:t>
            </a:r>
            <a:r>
              <a:rPr lang="en-US" altLang="ko-KR" sz="1800" b="1" dirty="0"/>
              <a:t>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You’re now ready to finally </a:t>
            </a:r>
            <a:r>
              <a:rPr lang="en-US" altLang="ko-KR" sz="1400" b="1" dirty="0"/>
              <a:t>set up the “Kubernetes Control Plane” on your master node</a:t>
            </a:r>
            <a:r>
              <a:rPr lang="en-US" altLang="ko-KR" sz="1400" dirty="0"/>
              <a:t>. Thanks to the awesome “</a:t>
            </a:r>
            <a:r>
              <a:rPr lang="en-US" altLang="ko-KR" sz="1400" b="1" dirty="0" err="1"/>
              <a:t>kubeadm</a:t>
            </a:r>
            <a:r>
              <a:rPr lang="en-US" altLang="ko-KR" sz="1400" dirty="0"/>
              <a:t>” tool, all you need to do to </a:t>
            </a:r>
            <a:r>
              <a:rPr lang="en-US" altLang="ko-KR" sz="1400" b="1" dirty="0"/>
              <a:t>initialize the master is run a single command</a:t>
            </a:r>
            <a:r>
              <a:rPr lang="en-US" altLang="ko-KR" sz="1400" dirty="0"/>
              <a:t>, “</a:t>
            </a:r>
            <a:r>
              <a:rPr lang="en-US" altLang="ko-KR" sz="1400" b="1" dirty="0">
                <a:solidFill>
                  <a:srgbClr val="FF0000"/>
                </a:solidFill>
              </a:rPr>
              <a:t>$ 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kubeadm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 err="1">
                <a:solidFill>
                  <a:srgbClr val="FF0000"/>
                </a:solidFill>
              </a:rPr>
              <a:t>init</a:t>
            </a:r>
            <a:r>
              <a:rPr lang="en-US" altLang="ko-KR" sz="1400" dirty="0"/>
              <a:t>”.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9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CE74D9C-9555-FA07-24E4-7D28A006B52D}"/>
              </a:ext>
            </a:extLst>
          </p:cNvPr>
          <p:cNvGrpSpPr/>
          <p:nvPr/>
        </p:nvGrpSpPr>
        <p:grpSpPr>
          <a:xfrm>
            <a:off x="838200" y="1652054"/>
            <a:ext cx="10515601" cy="4756976"/>
            <a:chOff x="838200" y="1652054"/>
            <a:chExt cx="10515601" cy="475697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DF69441-7305-72C1-8F2D-769A18D70CC6}"/>
                </a:ext>
              </a:extLst>
            </p:cNvPr>
            <p:cNvGrpSpPr/>
            <p:nvPr/>
          </p:nvGrpSpPr>
          <p:grpSpPr>
            <a:xfrm>
              <a:off x="838200" y="1652054"/>
              <a:ext cx="10515601" cy="4756976"/>
              <a:chOff x="838200" y="1884489"/>
              <a:chExt cx="10515601" cy="475697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F3D099DF-20A9-D8A8-2968-3A3E63E3AE95}"/>
                  </a:ext>
                </a:extLst>
              </p:cNvPr>
              <p:cNvGrpSpPr/>
              <p:nvPr/>
            </p:nvGrpSpPr>
            <p:grpSpPr>
              <a:xfrm>
                <a:off x="838200" y="1884489"/>
                <a:ext cx="10515600" cy="1479973"/>
                <a:chOff x="838200" y="1884489"/>
                <a:chExt cx="10515600" cy="1479973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910BF228-174D-C8EC-9478-C47D8C3E32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38200" y="1884489"/>
                  <a:ext cx="10515600" cy="1479973"/>
                </a:xfrm>
                <a:prstGeom prst="rect">
                  <a:avLst/>
                </a:prstGeom>
              </p:spPr>
            </p:pic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F11D9993-8473-B7B8-C7B8-CA755CD6FB53}"/>
                    </a:ext>
                  </a:extLst>
                </p:cNvPr>
                <p:cNvSpPr/>
                <p:nvPr/>
              </p:nvSpPr>
              <p:spPr>
                <a:xfrm>
                  <a:off x="4911865" y="2290046"/>
                  <a:ext cx="1254266" cy="202301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FEE22B1B-C372-E39C-6B5C-907A5BE10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1" y="3408892"/>
                <a:ext cx="10515600" cy="3232573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0ADA1E6-4A14-D61E-D72E-CE4CE3D251AA}"/>
                </a:ext>
              </a:extLst>
            </p:cNvPr>
            <p:cNvSpPr/>
            <p:nvPr/>
          </p:nvSpPr>
          <p:spPr>
            <a:xfrm>
              <a:off x="954860" y="5842450"/>
              <a:ext cx="6967243" cy="2878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934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the Master with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(2/2)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Initializing </a:t>
            </a:r>
            <a:r>
              <a:rPr lang="en-US" altLang="ko-KR" sz="1800" b="1" dirty="0" err="1"/>
              <a:t>Kubeadm</a:t>
            </a:r>
            <a:r>
              <a:rPr lang="en-US" altLang="ko-KR" sz="1800" b="1" dirty="0"/>
              <a:t>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Kubeadm</a:t>
            </a:r>
            <a:r>
              <a:rPr lang="en-US" altLang="ko-KR" sz="1400" b="1" dirty="0"/>
              <a:t> has deployed all the necessary “Control Plane” components</a:t>
            </a:r>
            <a:r>
              <a:rPr lang="en-US" altLang="ko-KR" sz="1400" dirty="0"/>
              <a:t>, </a:t>
            </a:r>
            <a:r>
              <a:rPr lang="en-US" altLang="ko-KR" sz="1400" b="1" dirty="0"/>
              <a:t>including </a:t>
            </a:r>
            <a:r>
              <a:rPr lang="en-US" altLang="ko-KR" sz="1400" b="1" dirty="0" err="1"/>
              <a:t>etcd</a:t>
            </a:r>
            <a:r>
              <a:rPr lang="en-US" altLang="ko-KR" sz="1400" b="1" dirty="0"/>
              <a:t>, the API server, Scheduler, and Controller Manager</a:t>
            </a:r>
            <a:r>
              <a:rPr lang="en-US" altLang="ko-KR" sz="1400" dirty="0"/>
              <a:t>. It has also deployed the </a:t>
            </a:r>
            <a:r>
              <a:rPr lang="en-US" altLang="ko-KR" sz="1400" b="1" dirty="0" err="1"/>
              <a:t>kube</a:t>
            </a:r>
            <a:r>
              <a:rPr lang="en-US" altLang="ko-KR" sz="1400" b="1" dirty="0"/>
              <a:t>-proxy</a:t>
            </a:r>
            <a:r>
              <a:rPr lang="en-US" altLang="ko-KR" sz="1400" dirty="0"/>
              <a:t>, </a:t>
            </a:r>
            <a:r>
              <a:rPr lang="en-US" altLang="ko-KR" sz="1400" b="1" dirty="0"/>
              <a:t>making Kubernetes services available from the master node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NOTE : Write down the command shown in the last line from the </a:t>
            </a:r>
            <a:r>
              <a:rPr lang="en-US" altLang="ko-KR" sz="1400" b="1" dirty="0" err="1"/>
              <a:t>kubeadm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init’s</a:t>
            </a:r>
            <a:r>
              <a:rPr lang="en-US" altLang="ko-KR" sz="1400" b="1" dirty="0"/>
              <a:t> output of the previous screenshot. You’ll need it later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Run the following command in </a:t>
            </a:r>
            <a:r>
              <a:rPr lang="en-US" altLang="ko-KR" sz="1400" b="1" dirty="0">
                <a:solidFill>
                  <a:srgbClr val="FF0000"/>
                </a:solidFill>
              </a:rPr>
              <a:t>the worker nodes</a:t>
            </a:r>
            <a:r>
              <a:rPr lang="en-US" altLang="ko-KR" sz="1400" dirty="0"/>
              <a:t>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322DCB2-E5EC-11AF-8701-7E59419752C6}"/>
              </a:ext>
            </a:extLst>
          </p:cNvPr>
          <p:cNvGrpSpPr/>
          <p:nvPr/>
        </p:nvGrpSpPr>
        <p:grpSpPr>
          <a:xfrm>
            <a:off x="838200" y="2697718"/>
            <a:ext cx="10515600" cy="3711312"/>
            <a:chOff x="838200" y="2697718"/>
            <a:chExt cx="10515600" cy="371131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203C06A-D0C6-0FC3-3C3E-220976FCF362}"/>
                </a:ext>
              </a:extLst>
            </p:cNvPr>
            <p:cNvGrpSpPr/>
            <p:nvPr/>
          </p:nvGrpSpPr>
          <p:grpSpPr>
            <a:xfrm>
              <a:off x="838200" y="2697718"/>
              <a:ext cx="10515600" cy="3711312"/>
              <a:chOff x="838200" y="2360585"/>
              <a:chExt cx="10515600" cy="371131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FA3DBF-5604-1505-EC37-4D5B2E1CDAD2}"/>
                  </a:ext>
                </a:extLst>
              </p:cNvPr>
              <p:cNvSpPr txBox="1"/>
              <p:nvPr/>
            </p:nvSpPr>
            <p:spPr>
              <a:xfrm>
                <a:off x="2166305" y="2360585"/>
                <a:ext cx="7859390" cy="400110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/>
                  <a:t>$ </a:t>
                </a:r>
                <a:r>
                  <a:rPr lang="en-US" altLang="ko-KR" sz="1000" b="1" dirty="0" err="1"/>
                  <a:t>sudo</a:t>
                </a:r>
                <a:r>
                  <a:rPr lang="en-US" altLang="ko-KR" sz="1000" b="1" dirty="0"/>
                  <a:t> </a:t>
                </a:r>
                <a:r>
                  <a:rPr lang="en-US" altLang="ko-KR" sz="1000" b="1" dirty="0" err="1"/>
                  <a:t>kubeadm</a:t>
                </a:r>
                <a:r>
                  <a:rPr lang="en-US" altLang="ko-KR" sz="1000" b="1" dirty="0"/>
                  <a:t> </a:t>
                </a:r>
                <a:r>
                  <a:rPr lang="en-US" altLang="ko-KR" sz="1000" b="1" dirty="0">
                    <a:solidFill>
                      <a:srgbClr val="FF0000"/>
                    </a:solidFill>
                  </a:rPr>
                  <a:t>join</a:t>
                </a:r>
                <a:r>
                  <a:rPr lang="en-US" altLang="ko-KR" sz="1000" b="1" dirty="0"/>
                  <a:t> 192.168.0.42:6443 --token uek8sa.03pcfmc28ea7eix9 \</a:t>
                </a:r>
              </a:p>
              <a:p>
                <a:r>
                  <a:rPr lang="en-US" altLang="ko-KR" sz="1000" b="1" dirty="0"/>
                  <a:t>        --discovery-token-ca-cert-hash sha256:380648eee7fbb5157f7f612aeee0a209d0f9def1f207d8b1217b6cabf3f46b12 </a:t>
                </a:r>
                <a:endParaRPr lang="ko-KR" altLang="en-US" sz="1000" b="1" dirty="0"/>
              </a:p>
            </p:txBody>
          </p:sp>
          <p:sp>
            <p:nvSpPr>
              <p:cNvPr id="11" name="화살표: 아래쪽 10">
                <a:extLst>
                  <a:ext uri="{FF2B5EF4-FFF2-40B4-BE49-F238E27FC236}">
                    <a16:creationId xmlns:a16="http://schemas.microsoft.com/office/drawing/2014/main" id="{DB821F6F-58EF-A6D5-EA90-8937F874C395}"/>
                  </a:ext>
                </a:extLst>
              </p:cNvPr>
              <p:cNvSpPr/>
              <p:nvPr/>
            </p:nvSpPr>
            <p:spPr>
              <a:xfrm>
                <a:off x="5849193" y="2755994"/>
                <a:ext cx="493614" cy="339866"/>
              </a:xfrm>
              <a:prstGeom prst="downArrow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230AAE98-D0E5-E789-7B56-A1EB922717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8200" y="3104162"/>
                <a:ext cx="10515600" cy="2967735"/>
              </a:xfrm>
              <a:prstGeom prst="rect">
                <a:avLst/>
              </a:prstGeom>
            </p:spPr>
          </p:pic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898E680-5E07-2D6E-762C-530B6E4C61C1}"/>
                </a:ext>
              </a:extLst>
            </p:cNvPr>
            <p:cNvSpPr/>
            <p:nvPr/>
          </p:nvSpPr>
          <p:spPr>
            <a:xfrm>
              <a:off x="930584" y="3867993"/>
              <a:ext cx="7129083" cy="29940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4539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Understanding How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 Runs the Components(1/3)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Running </a:t>
            </a:r>
            <a:r>
              <a:rPr lang="en-US" altLang="ko-KR" sz="1800" b="1" dirty="0" err="1"/>
              <a:t>Kubectl</a:t>
            </a:r>
            <a:r>
              <a:rPr lang="en-US" altLang="ko-KR" sz="1800" b="1" dirty="0"/>
              <a:t> on the Master Node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All the components are running as containers</a:t>
            </a:r>
            <a:r>
              <a:rPr lang="en-US" altLang="ko-KR" sz="1400" dirty="0"/>
              <a:t>. You can use the “</a:t>
            </a:r>
            <a:r>
              <a:rPr lang="en-US" altLang="ko-KR" sz="1400" b="1" dirty="0"/>
              <a:t>$ docker </a:t>
            </a:r>
            <a:r>
              <a:rPr lang="en-US" altLang="ko-KR" sz="1400" b="1" dirty="0" err="1"/>
              <a:t>ps</a:t>
            </a:r>
            <a:r>
              <a:rPr lang="en-US" altLang="ko-KR" sz="1400" dirty="0"/>
              <a:t>” command to confirm this. But </a:t>
            </a:r>
            <a:r>
              <a:rPr lang="en-US" altLang="ko-KR" sz="1400" b="1" dirty="0" err="1"/>
              <a:t>kubeadm</a:t>
            </a:r>
            <a:r>
              <a:rPr lang="en-US" altLang="ko-KR" sz="1400" b="1" dirty="0"/>
              <a:t> doesn’t use Docker directly to run them</a:t>
            </a:r>
            <a:r>
              <a:rPr lang="en-US" altLang="ko-KR" sz="1400" dirty="0"/>
              <a:t>. It deploys their YAML descriptors to the  “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en-US" altLang="ko-KR" sz="1400" b="1" dirty="0" err="1">
                <a:solidFill>
                  <a:srgbClr val="FF0000"/>
                </a:solidFill>
              </a:rPr>
              <a:t>etc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kubernetes</a:t>
            </a:r>
            <a:r>
              <a:rPr lang="en-US" altLang="ko-KR" sz="1400" b="1" dirty="0">
                <a:solidFill>
                  <a:srgbClr val="FF0000"/>
                </a:solidFill>
              </a:rPr>
              <a:t>/manifests</a:t>
            </a:r>
            <a:r>
              <a:rPr lang="en-US" altLang="ko-KR" sz="1400" dirty="0"/>
              <a:t>” directory. </a:t>
            </a:r>
            <a:r>
              <a:rPr lang="en-US" altLang="ko-KR" sz="1400" b="1" dirty="0"/>
              <a:t>This directory is monitored by the “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Kubelet</a:t>
            </a:r>
            <a:r>
              <a:rPr lang="en-US" altLang="ko-KR" sz="1400" b="1" dirty="0"/>
              <a:t>”, which then runs these components through Docker</a:t>
            </a:r>
            <a:r>
              <a:rPr lang="en-US" altLang="ko-KR" sz="1400" dirty="0"/>
              <a:t>. </a:t>
            </a:r>
            <a:r>
              <a:rPr lang="en-US" altLang="ko-KR" sz="1400" b="1" dirty="0"/>
              <a:t>The components run as Pods</a:t>
            </a:r>
            <a:r>
              <a:rPr lang="en-US" altLang="ko-KR" sz="1400" dirty="0"/>
              <a:t>. You can see them with the “</a:t>
            </a:r>
            <a:r>
              <a:rPr lang="en-US" altLang="ko-KR" sz="1400" b="1" dirty="0"/>
              <a:t>$ 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 get</a:t>
            </a:r>
            <a:r>
              <a:rPr lang="en-US" altLang="ko-KR" sz="1400" dirty="0"/>
              <a:t>” command. But first, you need to </a:t>
            </a:r>
            <a:r>
              <a:rPr lang="en-US" altLang="ko-KR" sz="1400" b="1" dirty="0">
                <a:solidFill>
                  <a:srgbClr val="FF0000"/>
                </a:solidFill>
              </a:rPr>
              <a:t>configure “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kubectl</a:t>
            </a:r>
            <a:r>
              <a:rPr lang="en-US" altLang="ko-KR" sz="1400" b="1" dirty="0">
                <a:solidFill>
                  <a:srgbClr val="FF0000"/>
                </a:solidFill>
              </a:rPr>
              <a:t>”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You installed “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” along with “docker”, “</a:t>
            </a:r>
            <a:r>
              <a:rPr lang="en-US" altLang="ko-KR" sz="1400" b="1" dirty="0" err="1"/>
              <a:t>kubeadm</a:t>
            </a:r>
            <a:r>
              <a:rPr lang="en-US" altLang="ko-KR" sz="1400" b="1" dirty="0"/>
              <a:t>”, and other packages(like “</a:t>
            </a:r>
            <a:r>
              <a:rPr lang="en-US" altLang="ko-KR" sz="1400" b="1" dirty="0" err="1"/>
              <a:t>kubelet</a:t>
            </a:r>
            <a:r>
              <a:rPr lang="en-US" altLang="ko-KR" sz="1400" b="1" dirty="0"/>
              <a:t>”) in one of the initial steps</a:t>
            </a:r>
            <a:r>
              <a:rPr lang="en-US" altLang="ko-KR" sz="1400" dirty="0"/>
              <a:t>. </a:t>
            </a:r>
            <a:r>
              <a:rPr lang="en-US" altLang="ko-KR" sz="1400" b="1" dirty="0"/>
              <a:t>But you can’t use “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” to talk to your cluster without first configuring it through a “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kubeconfig</a:t>
            </a:r>
            <a:r>
              <a:rPr lang="en-US" altLang="ko-KR" sz="1400" b="1" dirty="0"/>
              <a:t>” file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Luckily, the necessary configuration is stored in the “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en-US" altLang="ko-KR" sz="1400" b="1" dirty="0" err="1">
                <a:solidFill>
                  <a:srgbClr val="FF0000"/>
                </a:solidFill>
              </a:rPr>
              <a:t>etc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kubernetes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en-US" altLang="ko-KR" sz="1400" b="1" dirty="0" err="1">
                <a:solidFill>
                  <a:srgbClr val="FF0000"/>
                </a:solidFill>
              </a:rPr>
              <a:t>admin.conf</a:t>
            </a:r>
            <a:r>
              <a:rPr lang="en-US" altLang="ko-KR" sz="1400" dirty="0"/>
              <a:t>” file. </a:t>
            </a:r>
            <a:r>
              <a:rPr lang="en-US" altLang="ko-KR" sz="1400" b="1" dirty="0"/>
              <a:t>All you need to do is make 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 use it by setting the “</a:t>
            </a:r>
            <a:r>
              <a:rPr lang="en-US" altLang="ko-KR" sz="1400" b="1" dirty="0">
                <a:solidFill>
                  <a:srgbClr val="FF0000"/>
                </a:solidFill>
              </a:rPr>
              <a:t>KUBECONFIG</a:t>
            </a:r>
            <a:r>
              <a:rPr lang="en-US" altLang="ko-KR" sz="1400" b="1" dirty="0"/>
              <a:t>” environment variable </a:t>
            </a:r>
            <a:r>
              <a:rPr lang="en-US" altLang="ko-KR" sz="1400" dirty="0"/>
              <a:t>: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11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FE5D8B7-D8BA-2452-29A0-44E2E95DB2B6}"/>
              </a:ext>
            </a:extLst>
          </p:cNvPr>
          <p:cNvGrpSpPr/>
          <p:nvPr/>
        </p:nvGrpSpPr>
        <p:grpSpPr>
          <a:xfrm>
            <a:off x="838200" y="3252884"/>
            <a:ext cx="10515600" cy="2208246"/>
            <a:chOff x="838200" y="3196047"/>
            <a:chExt cx="10515600" cy="220824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996D01-2C5E-301F-EA6E-DE1D3E2034AA}"/>
                </a:ext>
              </a:extLst>
            </p:cNvPr>
            <p:cNvSpPr txBox="1"/>
            <p:nvPr/>
          </p:nvSpPr>
          <p:spPr>
            <a:xfrm>
              <a:off x="3047326" y="3196047"/>
              <a:ext cx="6097348" cy="24622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000" b="1" dirty="0"/>
                <a:t>$ export KUBECONFIG=/</a:t>
              </a:r>
              <a:r>
                <a:rPr lang="en-US" altLang="ko-KR" sz="1000" b="1" dirty="0" err="1"/>
                <a:t>etc</a:t>
              </a:r>
              <a:r>
                <a:rPr lang="en-US" altLang="ko-KR" sz="1000" b="1" dirty="0"/>
                <a:t>/</a:t>
              </a:r>
              <a:r>
                <a:rPr lang="en-US" altLang="ko-KR" sz="1000" b="1" dirty="0" err="1"/>
                <a:t>kubernetes</a:t>
              </a:r>
              <a:r>
                <a:rPr lang="en-US" altLang="ko-KR" sz="1000" b="1" dirty="0"/>
                <a:t>/</a:t>
              </a:r>
              <a:r>
                <a:rPr lang="en-US" altLang="ko-KR" sz="1000" b="1" dirty="0" err="1"/>
                <a:t>admin.conf</a:t>
              </a:r>
              <a:endParaRPr lang="ko-KR" altLang="en-US" sz="1000" b="1" dirty="0"/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98879B7C-CDCB-34DF-636D-32908A30D3A6}"/>
                </a:ext>
              </a:extLst>
            </p:cNvPr>
            <p:cNvSpPr/>
            <p:nvPr/>
          </p:nvSpPr>
          <p:spPr>
            <a:xfrm>
              <a:off x="5858634" y="3446061"/>
              <a:ext cx="469338" cy="291314"/>
            </a:xfrm>
            <a:prstGeom prst="downArrow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A2E9ED7-DF4F-E435-15EB-D65AC94FF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737375"/>
              <a:ext cx="10515600" cy="1666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424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Understanding How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 Runs the Components(2/3)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Listing The Pods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To test 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, you can list the pods of the Control Plane (they’re in the “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</a:t>
            </a:r>
            <a:r>
              <a:rPr lang="en-US" altLang="ko-KR" sz="1400" b="1" dirty="0">
                <a:solidFill>
                  <a:srgbClr val="FF0000"/>
                </a:solidFill>
              </a:rPr>
              <a:t>-system</a:t>
            </a:r>
            <a:r>
              <a:rPr lang="en-US" altLang="ko-KR" sz="1400" b="1" dirty="0"/>
              <a:t>” namespace), as shown in the following listing</a:t>
            </a:r>
            <a:r>
              <a:rPr lang="en-US" altLang="ko-KR" sz="1400" dirty="0"/>
              <a:t>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12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C6B61D-C218-7FED-9560-6CCC990BDF77}"/>
              </a:ext>
            </a:extLst>
          </p:cNvPr>
          <p:cNvGrpSpPr/>
          <p:nvPr/>
        </p:nvGrpSpPr>
        <p:grpSpPr>
          <a:xfrm>
            <a:off x="838200" y="1951631"/>
            <a:ext cx="10515600" cy="2653931"/>
            <a:chOff x="838200" y="1716962"/>
            <a:chExt cx="10515600" cy="265393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605B49-A4E5-5F94-AAB4-A315D18FF576}"/>
                </a:ext>
              </a:extLst>
            </p:cNvPr>
            <p:cNvSpPr txBox="1"/>
            <p:nvPr/>
          </p:nvSpPr>
          <p:spPr>
            <a:xfrm>
              <a:off x="3047326" y="1716962"/>
              <a:ext cx="6097348" cy="24622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000" b="1" dirty="0"/>
                <a:t>$ </a:t>
              </a:r>
              <a:r>
                <a:rPr lang="en-US" altLang="ko-KR" sz="1000" b="1" dirty="0" err="1"/>
                <a:t>kubectl</a:t>
              </a:r>
              <a:r>
                <a:rPr lang="en-US" altLang="ko-KR" sz="1000" b="1" dirty="0"/>
                <a:t> get pod -n </a:t>
              </a:r>
              <a:r>
                <a:rPr lang="en-US" altLang="ko-KR" sz="1000" b="1" dirty="0" err="1"/>
                <a:t>kube</a:t>
              </a:r>
              <a:r>
                <a:rPr lang="en-US" altLang="ko-KR" sz="1000" b="1" dirty="0"/>
                <a:t>-system</a:t>
              </a:r>
              <a:endParaRPr lang="ko-KR" altLang="en-US" sz="1000" b="1" dirty="0"/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402B66E3-BF7C-F110-EF66-C7F4B93BBB1A}"/>
                </a:ext>
              </a:extLst>
            </p:cNvPr>
            <p:cNvSpPr/>
            <p:nvPr/>
          </p:nvSpPr>
          <p:spPr>
            <a:xfrm>
              <a:off x="5853239" y="1990223"/>
              <a:ext cx="485522" cy="339865"/>
            </a:xfrm>
            <a:prstGeom prst="downArrow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A76C869-C5E2-6030-7B3E-6F82FD9B7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330088"/>
              <a:ext cx="10515600" cy="20408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4509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Understanding How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 Runs the Components(3/3)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Listing Nodes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You’re finished with setting up the master, but </a:t>
            </a:r>
            <a:r>
              <a:rPr lang="en-US" altLang="ko-KR" sz="1400" b="1" dirty="0"/>
              <a:t>you still need to set up the nodes</a:t>
            </a:r>
            <a:r>
              <a:rPr lang="en-US" altLang="ko-KR" sz="1400" dirty="0"/>
              <a:t>. </a:t>
            </a:r>
            <a:r>
              <a:rPr lang="en-US" altLang="ko-KR" sz="1400" b="1" dirty="0"/>
              <a:t>Although you already installed the </a:t>
            </a:r>
            <a:r>
              <a:rPr lang="en-US" altLang="ko-KR" sz="1400" b="1" dirty="0" err="1"/>
              <a:t>Kubelet</a:t>
            </a:r>
            <a:r>
              <a:rPr lang="en-US" altLang="ko-KR" sz="1400" b="1" dirty="0"/>
              <a:t> on both of your two worker nodes (you either installed each node separately or cloned the initial VM after you installed all the required packages)</a:t>
            </a:r>
            <a:r>
              <a:rPr lang="en-US" altLang="ko-KR" sz="1400" dirty="0"/>
              <a:t>, they aren’t part of your Kubernetes cluster yet. </a:t>
            </a:r>
            <a:r>
              <a:rPr lang="en-US" altLang="ko-KR" sz="1400" b="1" dirty="0"/>
              <a:t>You can see that by listing nodes with </a:t>
            </a:r>
            <a:r>
              <a:rPr lang="en-US" altLang="ko-KR" sz="1400" b="1" dirty="0" err="1"/>
              <a:t>kubectl</a:t>
            </a:r>
            <a:r>
              <a:rPr lang="en-US" altLang="ko-KR" sz="1400" dirty="0"/>
              <a:t> :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13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627CBD2-B197-122D-F130-75C4EFF83F81}"/>
              </a:ext>
            </a:extLst>
          </p:cNvPr>
          <p:cNvGrpSpPr/>
          <p:nvPr/>
        </p:nvGrpSpPr>
        <p:grpSpPr>
          <a:xfrm>
            <a:off x="838200" y="2211867"/>
            <a:ext cx="10515600" cy="2434265"/>
            <a:chOff x="838200" y="2064920"/>
            <a:chExt cx="10515600" cy="24342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3BC26F-A64F-74AF-A8E8-FFF56FA920A5}"/>
                </a:ext>
              </a:extLst>
            </p:cNvPr>
            <p:cNvSpPr txBox="1"/>
            <p:nvPr/>
          </p:nvSpPr>
          <p:spPr>
            <a:xfrm>
              <a:off x="3047326" y="2064920"/>
              <a:ext cx="6097348" cy="24622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000" b="1" dirty="0"/>
                <a:t>$ </a:t>
              </a:r>
              <a:r>
                <a:rPr lang="en-US" altLang="ko-KR" sz="1000" b="1" dirty="0" err="1"/>
                <a:t>kubectl</a:t>
              </a:r>
              <a:r>
                <a:rPr lang="en-US" altLang="ko-KR" sz="1000" b="1" dirty="0"/>
                <a:t> get node</a:t>
              </a:r>
              <a:endParaRPr lang="ko-KR" altLang="en-US" sz="1000" b="1" dirty="0"/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FAA9F01-5B7D-7AF1-E302-F03876ED635A}"/>
                </a:ext>
              </a:extLst>
            </p:cNvPr>
            <p:cNvSpPr/>
            <p:nvPr/>
          </p:nvSpPr>
          <p:spPr>
            <a:xfrm>
              <a:off x="5853239" y="2325178"/>
              <a:ext cx="485522" cy="331774"/>
            </a:xfrm>
            <a:prstGeom prst="downArrow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C16A96-97BB-9736-7D92-ACA58BC31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653114"/>
              <a:ext cx="10515600" cy="1846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1681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Worker Nodes with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(1/4)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Setting up Worker Nodes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When using </a:t>
            </a:r>
            <a:r>
              <a:rPr lang="en-US" altLang="ko-KR" sz="1400" b="1" dirty="0" err="1"/>
              <a:t>kubeadm</a:t>
            </a:r>
            <a:r>
              <a:rPr lang="en-US" altLang="ko-KR" sz="1400" dirty="0"/>
              <a:t>, configuring worker nodes is even easier than configuring the master. </a:t>
            </a:r>
            <a:r>
              <a:rPr lang="en-US" altLang="ko-KR" sz="1400" b="1" dirty="0"/>
              <a:t>In fact, when you ran the </a:t>
            </a:r>
            <a:r>
              <a:rPr lang="en-US" altLang="ko-KR" sz="1400" b="1" dirty="0" err="1"/>
              <a:t>kubeadm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init</a:t>
            </a:r>
            <a:r>
              <a:rPr lang="en-US" altLang="ko-KR" sz="1400" b="1" dirty="0"/>
              <a:t> command to set up your master, it already told you how to configure your worker nodes </a:t>
            </a:r>
            <a:r>
              <a:rPr lang="en-US" altLang="ko-KR" sz="1400" dirty="0"/>
              <a:t>(repeated in the next listing).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All you need to do is run the “</a:t>
            </a:r>
            <a:r>
              <a:rPr lang="en-US" altLang="ko-KR" sz="1400" b="1" dirty="0">
                <a:solidFill>
                  <a:srgbClr val="FF0000"/>
                </a:solidFill>
              </a:rPr>
              <a:t>$ </a:t>
            </a:r>
            <a:r>
              <a:rPr lang="en-US" altLang="ko-KR" sz="1400" b="1" dirty="0" err="1">
                <a:solidFill>
                  <a:srgbClr val="FF0000"/>
                </a:solidFill>
              </a:rPr>
              <a:t>kubeadm</a:t>
            </a:r>
            <a:r>
              <a:rPr lang="en-US" altLang="ko-KR" sz="1400" b="1" dirty="0">
                <a:solidFill>
                  <a:srgbClr val="FF0000"/>
                </a:solidFill>
              </a:rPr>
              <a:t> join</a:t>
            </a:r>
            <a:r>
              <a:rPr lang="en-US" altLang="ko-KR" sz="1400" b="1" dirty="0"/>
              <a:t>” command with the specified token and the master’s IP address/port on both of your nodes</a:t>
            </a:r>
            <a:r>
              <a:rPr lang="en-US" altLang="ko-KR" sz="1400" dirty="0"/>
              <a:t>. It then takes less than a minute for the nodes to register themselves with the master. You can confirm they’re registered by running the “</a:t>
            </a:r>
            <a:r>
              <a:rPr lang="en-US" altLang="ko-KR" sz="1400" b="1" dirty="0"/>
              <a:t>$ 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 get node</a:t>
            </a:r>
            <a:r>
              <a:rPr lang="en-US" altLang="ko-KR" sz="1400" dirty="0"/>
              <a:t>” command on the master again :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7B61EA-1E32-72A3-8A64-E1291C298B28}"/>
              </a:ext>
            </a:extLst>
          </p:cNvPr>
          <p:cNvSpPr txBox="1"/>
          <p:nvPr/>
        </p:nvSpPr>
        <p:spPr>
          <a:xfrm>
            <a:off x="2166305" y="1953251"/>
            <a:ext cx="7859390" cy="4001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 dirty="0"/>
              <a:t>$ </a:t>
            </a:r>
            <a:r>
              <a:rPr lang="en-US" altLang="ko-KR" sz="1000" b="1" dirty="0" err="1"/>
              <a:t>sudo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kubeadm</a:t>
            </a:r>
            <a:r>
              <a:rPr lang="en-US" altLang="ko-KR" sz="1000" b="1" dirty="0"/>
              <a:t> </a:t>
            </a:r>
            <a:r>
              <a:rPr lang="en-US" altLang="ko-KR" sz="1000" b="1" dirty="0">
                <a:solidFill>
                  <a:srgbClr val="FF0000"/>
                </a:solidFill>
              </a:rPr>
              <a:t>join</a:t>
            </a:r>
            <a:r>
              <a:rPr lang="en-US" altLang="ko-KR" sz="1000" b="1" dirty="0"/>
              <a:t> 192.168.0.42:6443 --token uek8sa.03pcfmc28ea7eix9 \</a:t>
            </a:r>
          </a:p>
          <a:p>
            <a:r>
              <a:rPr lang="en-US" altLang="ko-KR" sz="1000" b="1" dirty="0"/>
              <a:t>        --discovery-token-ca-cert-hash sha256:380648eee7fbb5157f7f612aeee0a209d0f9def1f207d8b1217b6cabf3f46b12 </a:t>
            </a:r>
            <a:endParaRPr lang="ko-KR" altLang="en-US" sz="10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F4706C5-2F16-BB16-A784-F321797C1435}"/>
              </a:ext>
            </a:extLst>
          </p:cNvPr>
          <p:cNvGrpSpPr/>
          <p:nvPr/>
        </p:nvGrpSpPr>
        <p:grpSpPr>
          <a:xfrm>
            <a:off x="838200" y="3332845"/>
            <a:ext cx="10515600" cy="1846071"/>
            <a:chOff x="838200" y="3332845"/>
            <a:chExt cx="10515600" cy="184607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2CFFA41-7EB6-DF7F-54EA-A9B838064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332845"/>
              <a:ext cx="10515600" cy="184607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EF128D3-4E49-80E0-DE46-A24FCCFC304D}"/>
                </a:ext>
              </a:extLst>
            </p:cNvPr>
            <p:cNvSpPr/>
            <p:nvPr/>
          </p:nvSpPr>
          <p:spPr>
            <a:xfrm>
              <a:off x="946768" y="4159306"/>
              <a:ext cx="3520036" cy="1456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0257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Worker Nodes with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(2/4)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Investigating Nodes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Let’s use the “</a:t>
            </a:r>
            <a:r>
              <a:rPr lang="en-US" altLang="ko-KR" sz="1400" b="1" dirty="0"/>
              <a:t>$ 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 describe</a:t>
            </a:r>
            <a:r>
              <a:rPr lang="en-US" altLang="ko-KR" sz="1400" dirty="0"/>
              <a:t>” command in the following listing to see more information. Somewhere at the top, you’ll see a list of </a:t>
            </a:r>
            <a:r>
              <a:rPr lang="en-US" altLang="ko-KR" sz="1400" b="1" dirty="0"/>
              <a:t>Conditions</a:t>
            </a:r>
            <a:r>
              <a:rPr lang="en-US" altLang="ko-KR" sz="1400" dirty="0"/>
              <a:t>, </a:t>
            </a:r>
            <a:r>
              <a:rPr lang="en-US" altLang="ko-KR" sz="1400" b="1" dirty="0"/>
              <a:t>showing the current conditions on the node</a:t>
            </a:r>
            <a:r>
              <a:rPr lang="en-US" altLang="ko-KR" sz="1400" dirty="0"/>
              <a:t>. One of them will show the following </a:t>
            </a:r>
            <a:r>
              <a:rPr lang="en-US" altLang="ko-KR" sz="1400" b="1" dirty="0"/>
              <a:t>Reason</a:t>
            </a:r>
            <a:r>
              <a:rPr lang="en-US" altLang="ko-KR" sz="1400" dirty="0"/>
              <a:t> and </a:t>
            </a:r>
            <a:r>
              <a:rPr lang="en-US" altLang="ko-KR" sz="1400" b="1" dirty="0"/>
              <a:t>Message</a:t>
            </a:r>
            <a:r>
              <a:rPr lang="en-US" altLang="ko-KR" sz="1400" dirty="0"/>
              <a:t>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15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6DA7406-4F93-8D36-6B28-F9B9D2792C03}"/>
              </a:ext>
            </a:extLst>
          </p:cNvPr>
          <p:cNvGrpSpPr/>
          <p:nvPr/>
        </p:nvGrpSpPr>
        <p:grpSpPr>
          <a:xfrm>
            <a:off x="838200" y="1946097"/>
            <a:ext cx="10515600" cy="3291241"/>
            <a:chOff x="838200" y="1911189"/>
            <a:chExt cx="10515600" cy="329124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8D8D3C1-829B-3D83-E767-C6A63F156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476163"/>
              <a:ext cx="10515600" cy="272626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4CD759-2389-4E36-4C6B-73A046C6E15D}"/>
                </a:ext>
              </a:extLst>
            </p:cNvPr>
            <p:cNvSpPr txBox="1"/>
            <p:nvPr/>
          </p:nvSpPr>
          <p:spPr>
            <a:xfrm>
              <a:off x="3231419" y="1911189"/>
              <a:ext cx="5729161" cy="24622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$ </a:t>
              </a:r>
              <a:r>
                <a:rPr lang="en-US" altLang="ko-KR" sz="1000" b="1" dirty="0" err="1"/>
                <a:t>kubectl</a:t>
              </a:r>
              <a:r>
                <a:rPr lang="en-US" altLang="ko-KR" sz="1000" b="1" dirty="0"/>
                <a:t> describe node ubuntu20-04-02</a:t>
              </a:r>
              <a:endParaRPr lang="ko-KR" altLang="en-US" sz="1000" b="1" dirty="0"/>
            </a:p>
          </p:txBody>
        </p:sp>
        <p:sp>
          <p:nvSpPr>
            <p:cNvPr id="10" name="화살표: 아래쪽 9">
              <a:extLst>
                <a:ext uri="{FF2B5EF4-FFF2-40B4-BE49-F238E27FC236}">
                  <a16:creationId xmlns:a16="http://schemas.microsoft.com/office/drawing/2014/main" id="{BE0CC41B-B4DE-0DC5-BFD0-EEF7D5590172}"/>
                </a:ext>
              </a:extLst>
            </p:cNvPr>
            <p:cNvSpPr/>
            <p:nvPr/>
          </p:nvSpPr>
          <p:spPr>
            <a:xfrm>
              <a:off x="5845146" y="2160573"/>
              <a:ext cx="501706" cy="315590"/>
            </a:xfrm>
            <a:prstGeom prst="downArrow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9692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Worker Nodes with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(3/4)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Investigating Nodes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As you can see from the following screenshot, the worker node(here it is “</a:t>
            </a:r>
            <a:r>
              <a:rPr lang="en-US" altLang="ko-KR" sz="1400" b="1" dirty="0"/>
              <a:t>ubuntu20-04-02</a:t>
            </a:r>
            <a:r>
              <a:rPr lang="en-US" altLang="ko-KR" sz="1400" dirty="0"/>
              <a:t>”.) is ready to work.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16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6ABF9EFF-94EF-D8C8-2030-7FE81EC18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6886"/>
            <a:ext cx="10515600" cy="453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28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Configuring Worker Nodes with </a:t>
            </a:r>
            <a:r>
              <a:rPr lang="en-US" altLang="ko-KR" sz="2800" b="1" dirty="0" err="1"/>
              <a:t>Kubeadm</a:t>
            </a:r>
            <a:r>
              <a:rPr lang="en-US" altLang="ko-KR" sz="2800" b="1" dirty="0"/>
              <a:t>(4/4)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Investigating Nodes :</a:t>
            </a:r>
            <a:endParaRPr lang="en-US" altLang="ko-KR" sz="140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17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7BB966A-C177-4CDA-4345-B1FC738936D1}"/>
              </a:ext>
            </a:extLst>
          </p:cNvPr>
          <p:cNvGrpSpPr/>
          <p:nvPr/>
        </p:nvGrpSpPr>
        <p:grpSpPr>
          <a:xfrm>
            <a:off x="838200" y="1096653"/>
            <a:ext cx="10515600" cy="5359061"/>
            <a:chOff x="838200" y="1096653"/>
            <a:chExt cx="10515600" cy="535906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A9B871D-2F84-D361-47A8-B671C4760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096653"/>
              <a:ext cx="10515600" cy="5359061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AF62735-1C55-F6D5-E580-5DA53A2783FB}"/>
                </a:ext>
              </a:extLst>
            </p:cNvPr>
            <p:cNvSpPr/>
            <p:nvPr/>
          </p:nvSpPr>
          <p:spPr>
            <a:xfrm>
              <a:off x="1027688" y="5923370"/>
              <a:ext cx="7250464" cy="1287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581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Setting up the Container Network(1/2)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Installing Networking Plugin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You’ll install the “</a:t>
            </a:r>
            <a:r>
              <a:rPr lang="en-US" altLang="ko-KR" sz="1400" b="1" dirty="0"/>
              <a:t>Weave Net container networking plugin</a:t>
            </a:r>
            <a:r>
              <a:rPr lang="en-US" altLang="ko-KR" sz="1400" dirty="0"/>
              <a:t>”, but several alternatives are also available. They’re listed among </a:t>
            </a:r>
            <a:r>
              <a:rPr lang="en-US" altLang="ko-KR" sz="1400" b="1" dirty="0"/>
              <a:t>the available Kubernetes add-ons at </a:t>
            </a:r>
            <a:r>
              <a:rPr lang="en-US" altLang="ko-KR" sz="1400" b="1" dirty="0">
                <a:hlinkClick r:id="rId2"/>
              </a:rPr>
              <a:t>https://kubernetes.io/docs/concepts/cluster-administration/addons/</a:t>
            </a:r>
            <a:r>
              <a:rPr lang="en-US" altLang="ko-KR" sz="1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dirty="0"/>
              <a:t>To see how to deploy the Weave Net plugin (like most other add-ons), please refer to </a:t>
            </a:r>
            <a:r>
              <a:rPr lang="en-US" altLang="ko-KR" sz="1400" b="1" dirty="0">
                <a:hlinkClick r:id="rId3"/>
              </a:rPr>
              <a:t>https://www.weave.works/docs/net/latest/kubernetes/kube-addon/</a:t>
            </a:r>
            <a:r>
              <a:rPr lang="en-US" altLang="ko-KR" sz="1400" dirty="0"/>
              <a:t> :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NOTE : This will deploy a “</a:t>
            </a:r>
            <a:r>
              <a:rPr lang="en-US" altLang="ko-KR" sz="1400" b="1" dirty="0" err="1"/>
              <a:t>DaemonSet</a:t>
            </a:r>
            <a:r>
              <a:rPr lang="en-US" altLang="ko-KR" sz="1400" b="1" dirty="0"/>
              <a:t>” and a few security-related resources</a:t>
            </a:r>
            <a:r>
              <a:rPr lang="en-US" altLang="ko-KR" sz="1400" dirty="0"/>
              <a:t>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18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7994CEE-3CA3-6741-1CEE-BA8D018D1644}"/>
              </a:ext>
            </a:extLst>
          </p:cNvPr>
          <p:cNvGrpSpPr/>
          <p:nvPr/>
        </p:nvGrpSpPr>
        <p:grpSpPr>
          <a:xfrm>
            <a:off x="838200" y="2304524"/>
            <a:ext cx="10515600" cy="2248951"/>
            <a:chOff x="838200" y="3794954"/>
            <a:chExt cx="10515600" cy="22489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590AC3-05F9-DBA7-3B26-0FC832D2B5EA}"/>
                </a:ext>
              </a:extLst>
            </p:cNvPr>
            <p:cNvSpPr txBox="1"/>
            <p:nvPr/>
          </p:nvSpPr>
          <p:spPr>
            <a:xfrm>
              <a:off x="2421205" y="3794954"/>
              <a:ext cx="7349590" cy="24622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000" b="1" dirty="0" err="1"/>
                <a:t>kubectl</a:t>
              </a:r>
              <a:r>
                <a:rPr lang="en-US" altLang="ko-KR" sz="1000" b="1" dirty="0"/>
                <a:t> apply -f https://github.com/weaveworks/weave/releases/download/v2.8.1/weave-daemonset-k8s.yaml</a:t>
              </a:r>
              <a:endParaRPr lang="ko-KR" altLang="en-US" sz="1000" b="1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D8D72C7-D23A-01C8-C8E9-075F808B57FE}"/>
                </a:ext>
              </a:extLst>
            </p:cNvPr>
            <p:cNvGrpSpPr/>
            <p:nvPr/>
          </p:nvGrpSpPr>
          <p:grpSpPr>
            <a:xfrm>
              <a:off x="838200" y="4041175"/>
              <a:ext cx="10515600" cy="2002730"/>
              <a:chOff x="838200" y="4041175"/>
              <a:chExt cx="10515600" cy="2002730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3008A33D-D8BE-84D3-0DCE-A3ED0CAD3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4353620"/>
                <a:ext cx="10515600" cy="1690285"/>
              </a:xfrm>
              <a:prstGeom prst="rect">
                <a:avLst/>
              </a:prstGeom>
            </p:spPr>
          </p:pic>
          <p:sp>
            <p:nvSpPr>
              <p:cNvPr id="11" name="화살표: 아래쪽 10">
                <a:extLst>
                  <a:ext uri="{FF2B5EF4-FFF2-40B4-BE49-F238E27FC236}">
                    <a16:creationId xmlns:a16="http://schemas.microsoft.com/office/drawing/2014/main" id="{E4741A50-85EF-0C94-565A-CC2F75673C1E}"/>
                  </a:ext>
                </a:extLst>
              </p:cNvPr>
              <p:cNvSpPr/>
              <p:nvPr/>
            </p:nvSpPr>
            <p:spPr>
              <a:xfrm>
                <a:off x="5873469" y="4041175"/>
                <a:ext cx="445062" cy="312445"/>
              </a:xfrm>
              <a:prstGeom prst="downArrow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4678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Setting up the Container Network(2/2)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06"/>
            <a:ext cx="10515600" cy="56346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b="1" dirty="0"/>
              <a:t>Installing Networking Plugin :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Once the “</a:t>
            </a:r>
            <a:r>
              <a:rPr lang="en-US" altLang="ko-KR" sz="1400" b="1" dirty="0" err="1">
                <a:solidFill>
                  <a:srgbClr val="FF0000"/>
                </a:solidFill>
              </a:rPr>
              <a:t>DaemonSet</a:t>
            </a:r>
            <a:r>
              <a:rPr lang="en-US" altLang="ko-KR" sz="1400" b="1" dirty="0"/>
              <a:t>” controller creates the pods and </a:t>
            </a:r>
            <a:r>
              <a:rPr lang="en-US" altLang="ko-KR" sz="1400" b="1" dirty="0">
                <a:solidFill>
                  <a:srgbClr val="FF0000"/>
                </a:solidFill>
              </a:rPr>
              <a:t>they’re started on all your nodes</a:t>
            </a:r>
            <a:r>
              <a:rPr lang="en-US" altLang="ko-KR" sz="1400" dirty="0"/>
              <a:t>, the nodes should become ready.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You now have a fully functioning multi-node Kubernetes cluster with </a:t>
            </a:r>
            <a:r>
              <a:rPr lang="en-US" altLang="ko-KR" sz="1400" b="1" dirty="0">
                <a:solidFill>
                  <a:srgbClr val="FF0000"/>
                </a:solidFill>
              </a:rPr>
              <a:t>an overlay network </a:t>
            </a:r>
            <a:r>
              <a:rPr lang="en-US" altLang="ko-KR" sz="1400" b="1" dirty="0"/>
              <a:t>provided by “Weave Net”</a:t>
            </a:r>
            <a:r>
              <a:rPr lang="en-US" altLang="ko-KR" sz="1400" dirty="0"/>
              <a:t>. All the required components, except for the </a:t>
            </a:r>
            <a:r>
              <a:rPr lang="en-US" altLang="ko-KR" sz="1400" b="1" dirty="0" err="1"/>
              <a:t>Kubelet</a:t>
            </a:r>
            <a:r>
              <a:rPr lang="en-US" altLang="ko-KR" sz="1400" dirty="0"/>
              <a:t> itself, are running as pods, managed by the </a:t>
            </a:r>
            <a:r>
              <a:rPr lang="en-US" altLang="ko-KR" sz="1400" b="1" dirty="0" err="1"/>
              <a:t>Kubelet</a:t>
            </a:r>
            <a:r>
              <a:rPr lang="en-US" altLang="ko-KR" sz="1400" dirty="0"/>
              <a:t>, as shown in the following listing.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19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615725-96AA-7CFD-4655-BB6D5969E5FA}"/>
              </a:ext>
            </a:extLst>
          </p:cNvPr>
          <p:cNvGrpSpPr/>
          <p:nvPr/>
        </p:nvGrpSpPr>
        <p:grpSpPr>
          <a:xfrm>
            <a:off x="838200" y="2601352"/>
            <a:ext cx="10515600" cy="2850897"/>
            <a:chOff x="838200" y="3558133"/>
            <a:chExt cx="10515600" cy="285089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9BB8F8D-F610-8734-9947-77FB6FED9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558133"/>
              <a:ext cx="10515600" cy="285089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6281F71-AA2F-B96D-D971-AE4D485A7DE8}"/>
                </a:ext>
              </a:extLst>
            </p:cNvPr>
            <p:cNvSpPr/>
            <p:nvPr/>
          </p:nvSpPr>
          <p:spPr>
            <a:xfrm>
              <a:off x="930584" y="4806669"/>
              <a:ext cx="5591596" cy="2670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5A9291-FC5F-9B82-BF1B-ECBDB39E656C}"/>
                </a:ext>
              </a:extLst>
            </p:cNvPr>
            <p:cNvSpPr/>
            <p:nvPr/>
          </p:nvSpPr>
          <p:spPr>
            <a:xfrm>
              <a:off x="930584" y="5863242"/>
              <a:ext cx="5591596" cy="2670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27116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7D50D0B4-E4F0-46F2-684F-16321195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NOTE : Big Picture - The Kubernetes Cluster</a:t>
            </a:r>
            <a:endParaRPr lang="ko-KR" altLang="en-US" sz="2800" b="1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375794C-7322-ED80-E7CF-67C5F5AD86FF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C32661DB-28EB-2A5F-70FD-2C5009C19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56434"/>
            <a:ext cx="10515600" cy="514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NOTE : Kubernetes Cheat Sheet</a:t>
            </a:r>
            <a:endParaRPr lang="ko-KR" altLang="en-US" sz="2800" b="1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89AD4-90DA-440B-AF45-6CFD7CC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9FA0-4D81-4D2F-8319-6AD0FB1D3087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79A3-C9E5-4FFA-B410-E40123D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21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7CE4886-D2F3-46F7-96F4-5A1807F70B07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179C4D6-A6A7-AFD7-99CE-9233F81D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44" y="880011"/>
            <a:ext cx="9735713" cy="547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58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Reference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5147C-7173-4521-9562-ADC68DC2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3972"/>
            <a:ext cx="10515600" cy="55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[1] Kubernetes in Action, Marko </a:t>
            </a:r>
            <a:r>
              <a:rPr lang="en-US" altLang="ko-KR" sz="1400" b="1" dirty="0" err="1"/>
              <a:t>Luksa</a:t>
            </a:r>
            <a:r>
              <a:rPr lang="en-US" altLang="ko-KR" sz="1400" b="1" dirty="0"/>
              <a:t>, Manning, 2018 1</a:t>
            </a:r>
            <a:r>
              <a:rPr lang="en-US" altLang="ko-KR" sz="1400" b="1" baseline="30000" dirty="0"/>
              <a:t>st</a:t>
            </a:r>
            <a:r>
              <a:rPr lang="en-US" altLang="ko-KR" sz="1400" b="1" dirty="0"/>
              <a:t> Edition.</a:t>
            </a:r>
          </a:p>
          <a:p>
            <a:pPr marL="0" indent="0">
              <a:buNone/>
            </a:pPr>
            <a:r>
              <a:rPr lang="en-US" altLang="ko-KR" sz="1400" b="1" dirty="0"/>
              <a:t>[2] </a:t>
            </a:r>
            <a:r>
              <a:rPr lang="en-US" altLang="ko-KR" sz="1400" b="1" dirty="0">
                <a:hlinkClick r:id="rId2"/>
              </a:rPr>
              <a:t>https://github.com/luksa/kubernetes-in-action</a:t>
            </a:r>
            <a:r>
              <a:rPr lang="en-US" altLang="ko-KR" sz="1400" b="1" dirty="0"/>
              <a:t> </a:t>
            </a:r>
          </a:p>
          <a:p>
            <a:pPr marL="0" indent="0">
              <a:buNone/>
            </a:pPr>
            <a:r>
              <a:rPr lang="en-US" altLang="ko-KR" sz="1400" b="1" dirty="0"/>
              <a:t>[3] </a:t>
            </a:r>
            <a:r>
              <a:rPr lang="en-US" altLang="ko-KR" sz="1400" b="1" dirty="0">
                <a:hlinkClick r:id="rId3"/>
              </a:rPr>
              <a:t>https://minikube.sigs.k8s.io/docs/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[4] </a:t>
            </a:r>
            <a:r>
              <a:rPr lang="en-US" altLang="ko-KR" sz="1400" b="1" dirty="0">
                <a:hlinkClick r:id="rId4"/>
              </a:rPr>
              <a:t>https://kubernetes.io/docs/reference/kubectl/cheatsheet/</a:t>
            </a:r>
            <a:r>
              <a:rPr lang="en-US" altLang="ko-KR" sz="1400" b="1" dirty="0"/>
              <a:t> 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F25A6A-304E-4639-90AF-E4FB371F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54E97-B81D-448F-BE65-F0EB75A60915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8D8AB8-381F-4242-8AFA-B0E9DE53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22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3BF51C-B510-4B04-B7A1-BEEFBB6CE968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9B4C587-7A61-0C5F-2D7E-626350542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542" y="3590159"/>
            <a:ext cx="2210915" cy="27612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4879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890D-DF70-4C8E-BA61-09DD3B84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455"/>
            <a:ext cx="10515600" cy="383582"/>
          </a:xfrm>
        </p:spPr>
        <p:txBody>
          <a:bodyPr>
            <a:normAutofit fontScale="90000"/>
          </a:bodyPr>
          <a:lstStyle/>
          <a:p>
            <a:r>
              <a:rPr lang="en-US" altLang="ko-KR" sz="2800" b="1" dirty="0"/>
              <a:t>? &amp; !</a:t>
            </a:r>
            <a:endParaRPr lang="ko-KR" altLang="en-US" sz="2800" b="1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483CEA-56F2-47AB-BFA1-132A8DDC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BF0E-5B75-4D4D-BF96-82EF72C3019F}" type="datetime1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79C9C-7B4D-4A38-B1F9-F720E58B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8182-889D-4BA7-ABC9-29B15B402893}" type="slidenum">
              <a:rPr lang="ko-KR" altLang="en-US" smtClean="0"/>
              <a:t>23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671BC0C-7CE8-4BB6-A4DB-3EA4386487A3}"/>
              </a:ext>
            </a:extLst>
          </p:cNvPr>
          <p:cNvCxnSpPr>
            <a:cxnSpLocks/>
          </p:cNvCxnSpPr>
          <p:nvPr/>
        </p:nvCxnSpPr>
        <p:spPr>
          <a:xfrm>
            <a:off x="838200" y="727721"/>
            <a:ext cx="10515600" cy="0"/>
          </a:xfrm>
          <a:prstGeom prst="line">
            <a:avLst/>
          </a:prstGeom>
          <a:ln w="57150" cmpd="thickThin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8424194-75B7-4C81-BAF0-83EAB1BDC61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4422750" y="2072013"/>
            <a:ext cx="3346499" cy="271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31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10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117301</TotalTime>
  <Words>1944</Words>
  <Application>Microsoft Office PowerPoint</Application>
  <PresentationFormat>와이드스크린</PresentationFormat>
  <Paragraphs>190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Wingdings</vt:lpstr>
      <vt:lpstr>Office 테마</vt:lpstr>
      <vt:lpstr>Kubernetes in Action</vt:lpstr>
      <vt:lpstr>Building Multi-Node Cluster</vt:lpstr>
      <vt:lpstr>Operating System Requirements</vt:lpstr>
      <vt:lpstr>Creating Virtual Machine </vt:lpstr>
      <vt:lpstr>Configuring the Network Adapter for the VM</vt:lpstr>
      <vt:lpstr>Installing the Operating System</vt:lpstr>
      <vt:lpstr>Installing Docker and Kubernetes</vt:lpstr>
      <vt:lpstr>Clone the VM</vt:lpstr>
      <vt:lpstr>Configuring the Master with Kubeadm(1/2)</vt:lpstr>
      <vt:lpstr>Configuring the Master with Kubeadm(2/2)</vt:lpstr>
      <vt:lpstr>Understanding How Kubeadm Runs the Components(1/3)</vt:lpstr>
      <vt:lpstr>Understanding How Kubeadm Runs the Components(2/3)</vt:lpstr>
      <vt:lpstr>Understanding How Kubeadm Runs the Components(3/3)</vt:lpstr>
      <vt:lpstr>Configuring Worker Nodes with Kubeadm(1/4)</vt:lpstr>
      <vt:lpstr>Configuring Worker Nodes with Kubeadm(2/4)</vt:lpstr>
      <vt:lpstr>Configuring Worker Nodes with Kubeadm(3/4)</vt:lpstr>
      <vt:lpstr>Configuring Worker Nodes with Kubeadm(4/4)</vt:lpstr>
      <vt:lpstr>Setting up the Container Network(1/2)</vt:lpstr>
      <vt:lpstr>Setting up the Container Network(2/2)</vt:lpstr>
      <vt:lpstr>NOTE : Big Picture - The Kubernetes Cluster</vt:lpstr>
      <vt:lpstr>NOTE : Kubernetes Cheat Sheet</vt:lpstr>
      <vt:lpstr>Reference</vt:lpstr>
      <vt:lpstr>? &amp;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Ethereum</dc:title>
  <dc:creator>빅터 (권수호)</dc:creator>
  <cp:lastModifiedBy>수호 권</cp:lastModifiedBy>
  <cp:revision>7429</cp:revision>
  <dcterms:created xsi:type="dcterms:W3CDTF">2020-11-26T08:00:10Z</dcterms:created>
  <dcterms:modified xsi:type="dcterms:W3CDTF">2025-01-28T06:10:02Z</dcterms:modified>
</cp:coreProperties>
</file>