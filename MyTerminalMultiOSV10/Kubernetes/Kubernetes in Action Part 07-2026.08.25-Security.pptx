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5"/>
  </p:notesMasterIdLst>
  <p:sldIdLst>
    <p:sldId id="256" r:id="rId2"/>
    <p:sldId id="776" r:id="rId3"/>
    <p:sldId id="1697" r:id="rId4"/>
    <p:sldId id="1698" r:id="rId5"/>
    <p:sldId id="1699" r:id="rId6"/>
    <p:sldId id="1700" r:id="rId7"/>
    <p:sldId id="1701" r:id="rId8"/>
    <p:sldId id="1702" r:id="rId9"/>
    <p:sldId id="1703" r:id="rId10"/>
    <p:sldId id="1704" r:id="rId11"/>
    <p:sldId id="1705" r:id="rId12"/>
    <p:sldId id="1706" r:id="rId13"/>
    <p:sldId id="1707" r:id="rId14"/>
    <p:sldId id="1708" r:id="rId15"/>
    <p:sldId id="1710" r:id="rId16"/>
    <p:sldId id="1711" r:id="rId17"/>
    <p:sldId id="1712" r:id="rId18"/>
    <p:sldId id="1713" r:id="rId19"/>
    <p:sldId id="1714" r:id="rId20"/>
    <p:sldId id="1715" r:id="rId21"/>
    <p:sldId id="1716" r:id="rId22"/>
    <p:sldId id="1717" r:id="rId23"/>
    <p:sldId id="1718" r:id="rId24"/>
    <p:sldId id="1719" r:id="rId25"/>
    <p:sldId id="1720" r:id="rId26"/>
    <p:sldId id="1721" r:id="rId27"/>
    <p:sldId id="1722" r:id="rId28"/>
    <p:sldId id="1723" r:id="rId29"/>
    <p:sldId id="1724" r:id="rId30"/>
    <p:sldId id="1725" r:id="rId31"/>
    <p:sldId id="1726" r:id="rId32"/>
    <p:sldId id="1727" r:id="rId33"/>
    <p:sldId id="1728" r:id="rId34"/>
    <p:sldId id="1729" r:id="rId35"/>
    <p:sldId id="1730" r:id="rId36"/>
    <p:sldId id="1731" r:id="rId37"/>
    <p:sldId id="1732" r:id="rId38"/>
    <p:sldId id="1733" r:id="rId39"/>
    <p:sldId id="1734" r:id="rId40"/>
    <p:sldId id="1735" r:id="rId41"/>
    <p:sldId id="1736" r:id="rId42"/>
    <p:sldId id="1737" r:id="rId43"/>
    <p:sldId id="1738" r:id="rId44"/>
    <p:sldId id="1739" r:id="rId45"/>
    <p:sldId id="1740" r:id="rId46"/>
    <p:sldId id="1741" r:id="rId47"/>
    <p:sldId id="1742" r:id="rId48"/>
    <p:sldId id="1743" r:id="rId49"/>
    <p:sldId id="1744" r:id="rId50"/>
    <p:sldId id="1745" r:id="rId51"/>
    <p:sldId id="1746" r:id="rId52"/>
    <p:sldId id="1747" r:id="rId53"/>
    <p:sldId id="1748" r:id="rId54"/>
    <p:sldId id="1749" r:id="rId55"/>
    <p:sldId id="1750" r:id="rId56"/>
    <p:sldId id="1751" r:id="rId57"/>
    <p:sldId id="1752" r:id="rId58"/>
    <p:sldId id="1753" r:id="rId59"/>
    <p:sldId id="1754" r:id="rId60"/>
    <p:sldId id="1755" r:id="rId61"/>
    <p:sldId id="1795" r:id="rId62"/>
    <p:sldId id="1756" r:id="rId63"/>
    <p:sldId id="1757" r:id="rId64"/>
    <p:sldId id="1758" r:id="rId65"/>
    <p:sldId id="1759" r:id="rId66"/>
    <p:sldId id="1760" r:id="rId67"/>
    <p:sldId id="1761" r:id="rId68"/>
    <p:sldId id="1762" r:id="rId69"/>
    <p:sldId id="1763" r:id="rId70"/>
    <p:sldId id="1764" r:id="rId71"/>
    <p:sldId id="1765" r:id="rId72"/>
    <p:sldId id="1766" r:id="rId73"/>
    <p:sldId id="1767" r:id="rId74"/>
    <p:sldId id="1768" r:id="rId75"/>
    <p:sldId id="1769" r:id="rId76"/>
    <p:sldId id="1770" r:id="rId77"/>
    <p:sldId id="1771" r:id="rId78"/>
    <p:sldId id="1772" r:id="rId79"/>
    <p:sldId id="1773" r:id="rId80"/>
    <p:sldId id="1774" r:id="rId81"/>
    <p:sldId id="1775" r:id="rId82"/>
    <p:sldId id="1776" r:id="rId83"/>
    <p:sldId id="1777" r:id="rId84"/>
    <p:sldId id="1778" r:id="rId85"/>
    <p:sldId id="1779" r:id="rId86"/>
    <p:sldId id="1780" r:id="rId87"/>
    <p:sldId id="1782" r:id="rId88"/>
    <p:sldId id="1781" r:id="rId89"/>
    <p:sldId id="1783" r:id="rId90"/>
    <p:sldId id="1784" r:id="rId91"/>
    <p:sldId id="1785" r:id="rId92"/>
    <p:sldId id="1786" r:id="rId93"/>
    <p:sldId id="1791" r:id="rId94"/>
    <p:sldId id="1792" r:id="rId95"/>
    <p:sldId id="1793" r:id="rId96"/>
    <p:sldId id="1794" r:id="rId97"/>
    <p:sldId id="1796" r:id="rId98"/>
    <p:sldId id="1797" r:id="rId99"/>
    <p:sldId id="1798" r:id="rId100"/>
    <p:sldId id="1799" r:id="rId101"/>
    <p:sldId id="1800" r:id="rId102"/>
    <p:sldId id="281" r:id="rId103"/>
    <p:sldId id="259" r:id="rId10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62" autoAdjust="0"/>
    <p:restoredTop sz="94660"/>
  </p:normalViewPr>
  <p:slideViewPr>
    <p:cSldViewPr snapToGrid="0">
      <p:cViewPr varScale="1">
        <p:scale>
          <a:sx n="113" d="100"/>
          <a:sy n="113" d="100"/>
        </p:scale>
        <p:origin x="108" y="61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kubernetes.io/docs/admi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hyperlink" Target="https://kubernetes.io/docs/concepts/services-networking/network-policies/" TargetMode="Externa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s://minikube.sigs.k8s.io/docs/" TargetMode="External"/><Relationship Id="rId2" Type="http://schemas.openxmlformats.org/officeDocument/2006/relationships/hyperlink" Target="https://github.com/luksa/kubernetes-in-action" TargetMode="Externa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hyperlink" Target="https://kubernetes.io/docs/reference/kubectl/cheatsheet/" TargetMode="External"/></Relationships>
</file>

<file path=ppt/slides/_rels/slide10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b="1" dirty="0"/>
              <a:t>Kubernetes in Action</a:t>
            </a:r>
            <a:endParaRPr lang="ko-KR" altLang="en-US"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a:bodyPr>
          <a:lstStyle/>
          <a:p>
            <a:r>
              <a:rPr lang="en-US" altLang="ko-KR" b="1" dirty="0"/>
              <a:t>Part VII</a:t>
            </a:r>
          </a:p>
          <a:p>
            <a:endParaRPr lang="en-US" altLang="ko-KR" b="1" dirty="0"/>
          </a:p>
          <a:p>
            <a:r>
              <a:rPr lang="en-US" altLang="ko-KR" sz="2000" b="1" dirty="0"/>
              <a:t>2026.08.25</a:t>
            </a:r>
          </a:p>
          <a:p>
            <a:endParaRPr lang="en-US" altLang="ko-KR" sz="1600" b="1" dirty="0"/>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Securing The API Server</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Roles and Authentication</a:t>
            </a:r>
            <a:endParaRPr lang="ko-KR" altLang="en-US" sz="2800" b="1" dirty="0"/>
          </a:p>
        </p:txBody>
      </p: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API Server Authentication :</a:t>
            </a:r>
            <a:endParaRPr lang="en-US" altLang="ko-KR" sz="1400" dirty="0"/>
          </a:p>
          <a:p>
            <a:pPr lvl="1">
              <a:buFont typeface="Wingdings" panose="05000000000000000000" pitchFamily="2" charset="2"/>
              <a:buChar char="§"/>
            </a:pPr>
            <a:r>
              <a:rPr lang="en-US" altLang="ko-KR" sz="1400" b="1" dirty="0"/>
              <a:t>The API server can be configured with one or more </a:t>
            </a:r>
            <a:r>
              <a:rPr lang="en-US" altLang="ko-KR" sz="1400" b="1" dirty="0">
                <a:solidFill>
                  <a:srgbClr val="FF0000"/>
                </a:solidFill>
              </a:rPr>
              <a:t>authentication plugins </a:t>
            </a:r>
            <a:r>
              <a:rPr lang="en-US" altLang="ko-KR" sz="1400" dirty="0"/>
              <a:t>(and the same is true for authorization plugins). </a:t>
            </a:r>
            <a:r>
              <a:rPr lang="en-US" altLang="ko-KR" sz="1400" b="1" dirty="0"/>
              <a:t>When a request is received by the API server, it </a:t>
            </a:r>
            <a:r>
              <a:rPr lang="en-US" altLang="ko-KR" sz="1400" b="1" dirty="0">
                <a:solidFill>
                  <a:srgbClr val="FF0000"/>
                </a:solidFill>
              </a:rPr>
              <a:t>goes through the list of authentication plugins</a:t>
            </a:r>
            <a:r>
              <a:rPr lang="en-US" altLang="ko-KR" sz="1400" b="1" dirty="0"/>
              <a:t>, so they can each examine the request and try to determine who’s sending the request</a:t>
            </a:r>
            <a:r>
              <a:rPr lang="en-US" altLang="ko-KR" sz="1400" dirty="0"/>
              <a:t>. The first plugin that can extract that information from the request returns </a:t>
            </a:r>
            <a:r>
              <a:rPr lang="en-US" altLang="ko-KR" sz="1400" b="1" dirty="0"/>
              <a:t>the username</a:t>
            </a:r>
            <a:r>
              <a:rPr lang="en-US" altLang="ko-KR" sz="1400" dirty="0"/>
              <a:t>, </a:t>
            </a:r>
            <a:r>
              <a:rPr lang="en-US" altLang="ko-KR" sz="1400" b="1" dirty="0"/>
              <a:t>user ID</a:t>
            </a:r>
            <a:r>
              <a:rPr lang="en-US" altLang="ko-KR" sz="1400" dirty="0"/>
              <a:t>, and </a:t>
            </a:r>
            <a:r>
              <a:rPr lang="en-US" altLang="ko-KR" sz="1400" b="1" dirty="0"/>
              <a:t>the groups</a:t>
            </a:r>
            <a:r>
              <a:rPr lang="en-US" altLang="ko-KR" sz="1400" dirty="0"/>
              <a:t> the client belongs to back to the API server core. The API server stops invoking the remaining authentication plugins and continues onto the authorization phase.</a:t>
            </a:r>
          </a:p>
          <a:p>
            <a:pPr lvl="1">
              <a:buFont typeface="Wingdings" panose="05000000000000000000" pitchFamily="2" charset="2"/>
              <a:buChar char="§"/>
            </a:pPr>
            <a:r>
              <a:rPr lang="en-US" altLang="ko-KR" sz="1400" b="1" dirty="0"/>
              <a:t>Several authentication plugins are available. They obtain the identity of the client </a:t>
            </a:r>
            <a:r>
              <a:rPr lang="en-US" altLang="ko-KR" sz="1400" dirty="0"/>
              <a:t>using the following methods :</a:t>
            </a:r>
          </a:p>
          <a:p>
            <a:pPr lvl="2">
              <a:buFont typeface="Wingdings" panose="05000000000000000000" pitchFamily="2" charset="2"/>
              <a:buChar char="§"/>
            </a:pPr>
            <a:r>
              <a:rPr lang="en-US" altLang="ko-KR" sz="1400" dirty="0"/>
              <a:t>From </a:t>
            </a:r>
            <a:r>
              <a:rPr lang="en-US" altLang="ko-KR" sz="1400" b="1" dirty="0"/>
              <a:t>the client certificate</a:t>
            </a:r>
          </a:p>
          <a:p>
            <a:pPr lvl="2">
              <a:buFont typeface="Wingdings" panose="05000000000000000000" pitchFamily="2" charset="2"/>
              <a:buChar char="§"/>
            </a:pPr>
            <a:r>
              <a:rPr lang="en-US" altLang="ko-KR" sz="1400" dirty="0"/>
              <a:t>From </a:t>
            </a:r>
            <a:r>
              <a:rPr lang="en-US" altLang="ko-KR" sz="1400" b="1" dirty="0"/>
              <a:t>an authentication token </a:t>
            </a:r>
            <a:r>
              <a:rPr lang="en-US" altLang="ko-KR" sz="1400" dirty="0"/>
              <a:t>passed in an HTTP header</a:t>
            </a:r>
          </a:p>
          <a:p>
            <a:pPr lvl="2">
              <a:buFont typeface="Wingdings" panose="05000000000000000000" pitchFamily="2" charset="2"/>
              <a:buChar char="§"/>
            </a:pPr>
            <a:r>
              <a:rPr lang="en-US" altLang="ko-KR" sz="1400" b="1" dirty="0"/>
              <a:t>Basic HTTP authentication</a:t>
            </a:r>
          </a:p>
          <a:p>
            <a:pPr lvl="2">
              <a:buFont typeface="Wingdings" panose="05000000000000000000" pitchFamily="2" charset="2"/>
              <a:buChar char="§"/>
            </a:pPr>
            <a:r>
              <a:rPr lang="en-US" altLang="ko-KR" sz="1400" dirty="0"/>
              <a:t>Others</a:t>
            </a:r>
          </a:p>
          <a:p>
            <a:pPr lvl="1">
              <a:buFont typeface="Wingdings" panose="05000000000000000000" pitchFamily="2" charset="2"/>
              <a:buChar char="§"/>
            </a:pPr>
            <a:r>
              <a:rPr lang="en-US" altLang="ko-KR" sz="1400" b="1" dirty="0"/>
              <a:t>The authentication plugins are enabled through command-line options </a:t>
            </a:r>
            <a:r>
              <a:rPr lang="en-US" altLang="ko-KR" sz="1400" dirty="0"/>
              <a:t>when starting the API server.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B9EF858-4E48-309A-5C3E-76C6D454AFA1}"/>
              </a:ext>
            </a:extLst>
          </p:cNvPr>
          <p:cNvPicPr>
            <a:picLocks noChangeAspect="1"/>
          </p:cNvPicPr>
          <p:nvPr/>
        </p:nvPicPr>
        <p:blipFill>
          <a:blip r:embed="rId2"/>
          <a:stretch>
            <a:fillRect/>
          </a:stretch>
        </p:blipFill>
        <p:spPr>
          <a:xfrm>
            <a:off x="4508783" y="3928437"/>
            <a:ext cx="3174434" cy="2480593"/>
          </a:xfrm>
          <a:prstGeom prst="rect">
            <a:avLst/>
          </a:prstGeom>
        </p:spPr>
      </p:pic>
    </p:spTree>
    <p:extLst>
      <p:ext uri="{BB962C8B-B14F-4D97-AF65-F5344CB8AC3E}">
        <p14:creationId xmlns:p14="http://schemas.microsoft.com/office/powerpoint/2010/main" val="47012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Users and Groups :</a:t>
            </a:r>
            <a:endParaRPr lang="en-US" altLang="ko-KR" sz="1400" dirty="0"/>
          </a:p>
          <a:p>
            <a:pPr lvl="1">
              <a:buFont typeface="Wingdings" panose="05000000000000000000" pitchFamily="2" charset="2"/>
              <a:buChar char="§"/>
            </a:pPr>
            <a:r>
              <a:rPr lang="en-US" altLang="ko-KR" sz="1400" b="1" dirty="0"/>
              <a:t>An authentication plugin returns the </a:t>
            </a:r>
            <a:r>
              <a:rPr lang="en-US" altLang="ko-KR" sz="1400" b="1" dirty="0">
                <a:solidFill>
                  <a:srgbClr val="FF0000"/>
                </a:solidFill>
              </a:rPr>
              <a:t>username</a:t>
            </a:r>
            <a:r>
              <a:rPr lang="en-US" altLang="ko-KR" sz="1400" b="1" dirty="0"/>
              <a:t> and </a:t>
            </a:r>
            <a:r>
              <a:rPr lang="en-US" altLang="ko-KR" sz="1400" b="1" dirty="0">
                <a:solidFill>
                  <a:srgbClr val="FF0000"/>
                </a:solidFill>
              </a:rPr>
              <a:t>group(s)</a:t>
            </a:r>
            <a:r>
              <a:rPr lang="en-US" altLang="ko-KR" sz="1400" b="1" dirty="0"/>
              <a:t> of the authenticated user</a:t>
            </a:r>
            <a:r>
              <a:rPr lang="en-US" altLang="ko-KR" sz="1400" dirty="0"/>
              <a:t>. Kubernetes doesn’t store that information anywhere; it uses it to </a:t>
            </a:r>
            <a:r>
              <a:rPr lang="en-US" altLang="ko-KR" sz="1400" b="1" dirty="0"/>
              <a:t>verify whether the user is authorized to perform an action or not</a:t>
            </a:r>
            <a:r>
              <a:rPr lang="en-US" altLang="ko-KR" sz="1400" dirty="0"/>
              <a:t>.</a:t>
            </a:r>
          </a:p>
          <a:p>
            <a:pPr lvl="1">
              <a:buFont typeface="Wingdings" panose="05000000000000000000" pitchFamily="2" charset="2"/>
              <a:buChar char="§"/>
            </a:pPr>
            <a:r>
              <a:rPr lang="en-US" altLang="ko-KR" sz="1400" dirty="0"/>
              <a:t>Kubernetes distinguishes between two kinds of clients connecting to the API server :</a:t>
            </a:r>
          </a:p>
          <a:p>
            <a:pPr lvl="2">
              <a:buFont typeface="Wingdings" panose="05000000000000000000" pitchFamily="2" charset="2"/>
              <a:buChar char="§"/>
            </a:pPr>
            <a:r>
              <a:rPr lang="en-US" altLang="ko-KR" sz="1400" b="1" dirty="0"/>
              <a:t>Actual humans (users)</a:t>
            </a:r>
          </a:p>
          <a:p>
            <a:pPr lvl="2">
              <a:buFont typeface="Wingdings" panose="05000000000000000000" pitchFamily="2" charset="2"/>
              <a:buChar char="§"/>
            </a:pPr>
            <a:r>
              <a:rPr lang="en-US" altLang="ko-KR" sz="1400" b="1" dirty="0"/>
              <a:t>Pods (more specifically, applications running inside them)</a:t>
            </a:r>
          </a:p>
          <a:p>
            <a:pPr lvl="1">
              <a:buFont typeface="Wingdings" panose="05000000000000000000" pitchFamily="2" charset="2"/>
              <a:buChar char="§"/>
            </a:pPr>
            <a:r>
              <a:rPr lang="en-US" altLang="ko-KR" sz="1400" b="1" dirty="0"/>
              <a:t>Both these types of clients are authenticated using the aforementioned authentication plugins</a:t>
            </a:r>
            <a:r>
              <a:rPr lang="en-US" altLang="ko-KR" sz="1400" dirty="0"/>
              <a:t>. Users are meant to be managed by an external system, such as a </a:t>
            </a:r>
            <a:r>
              <a:rPr lang="en-US" altLang="ko-KR" sz="1400" b="1" dirty="0">
                <a:solidFill>
                  <a:srgbClr val="FF0000"/>
                </a:solidFill>
              </a:rPr>
              <a:t>Single Sign On (SSO)</a:t>
            </a:r>
            <a:r>
              <a:rPr lang="en-US" altLang="ko-KR" sz="1400" dirty="0"/>
              <a:t> system, but </a:t>
            </a:r>
            <a:r>
              <a:rPr lang="en-US" altLang="ko-KR" sz="1400" b="1" dirty="0"/>
              <a:t>the pods use a mechanism called service accounts</a:t>
            </a:r>
            <a:r>
              <a:rPr lang="en-US" altLang="ko-KR" sz="1400" dirty="0"/>
              <a:t>, </a:t>
            </a:r>
            <a:r>
              <a:rPr lang="en-US" altLang="ko-KR" sz="1400" b="1" dirty="0"/>
              <a:t>which are created and stored in the cluster as </a:t>
            </a:r>
            <a:r>
              <a:rPr lang="en-US" altLang="ko-KR" sz="1400" b="1" dirty="0" err="1">
                <a:solidFill>
                  <a:srgbClr val="FF0000"/>
                </a:solidFill>
              </a:rPr>
              <a:t>ServiceAccount</a:t>
            </a:r>
            <a:r>
              <a:rPr lang="en-US" altLang="ko-KR" sz="1400" b="1" dirty="0"/>
              <a:t> resources</a:t>
            </a:r>
            <a:r>
              <a:rPr lang="en-US" altLang="ko-KR" sz="1400" dirty="0"/>
              <a:t>. </a:t>
            </a:r>
            <a:r>
              <a:rPr lang="en-US" altLang="ko-KR" sz="1400" b="1" dirty="0"/>
              <a:t>In contrast, no resource represents user accounts</a:t>
            </a:r>
            <a:r>
              <a:rPr lang="en-US" altLang="ko-KR" sz="1400" dirty="0"/>
              <a:t>, which means you can’t create, update, or delete users through the API server.</a:t>
            </a:r>
          </a:p>
          <a:p>
            <a:pPr lvl="1">
              <a:buFont typeface="Wingdings" panose="05000000000000000000" pitchFamily="2" charset="2"/>
              <a:buChar char="§"/>
            </a:pPr>
            <a:r>
              <a:rPr lang="en-US" altLang="ko-KR" sz="1400" dirty="0"/>
              <a:t>For more information on how to configure the cluster for authentication of human users, cluster administrators should refer to the </a:t>
            </a:r>
            <a:r>
              <a:rPr lang="en-US" altLang="ko-KR" sz="1400" b="1" dirty="0"/>
              <a:t>Kubernetes Cluster Administrator guide at </a:t>
            </a:r>
            <a:r>
              <a:rPr lang="en-US" altLang="ko-KR" sz="1400" b="1" dirty="0">
                <a:hlinkClick r:id="rId2"/>
              </a:rPr>
              <a:t>http://kubernetes.io/docs/admin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89EB890-414D-F353-E1A6-5C1E5902BFC9}"/>
              </a:ext>
            </a:extLst>
          </p:cNvPr>
          <p:cNvPicPr>
            <a:picLocks noChangeAspect="1"/>
          </p:cNvPicPr>
          <p:nvPr/>
        </p:nvPicPr>
        <p:blipFill>
          <a:blip r:embed="rId3"/>
          <a:stretch>
            <a:fillRect/>
          </a:stretch>
        </p:blipFill>
        <p:spPr>
          <a:xfrm>
            <a:off x="4205740" y="3727921"/>
            <a:ext cx="3780519" cy="2681109"/>
          </a:xfrm>
          <a:prstGeom prst="rect">
            <a:avLst/>
          </a:prstGeom>
        </p:spPr>
      </p:pic>
    </p:spTree>
    <p:extLst>
      <p:ext uri="{BB962C8B-B14F-4D97-AF65-F5344CB8AC3E}">
        <p14:creationId xmlns:p14="http://schemas.microsoft.com/office/powerpoint/2010/main" val="283446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Authentication(3/12)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Users and Groups :</a:t>
            </a:r>
            <a:endParaRPr lang="en-US" altLang="ko-KR" sz="1400" dirty="0"/>
          </a:p>
          <a:p>
            <a:pPr lvl="1">
              <a:buFont typeface="Wingdings" panose="05000000000000000000" pitchFamily="2" charset="2"/>
              <a:buChar char="§"/>
            </a:pPr>
            <a:r>
              <a:rPr lang="en-US" altLang="ko-KR" sz="1400" b="1" dirty="0"/>
              <a:t>Both human users and </a:t>
            </a:r>
            <a:r>
              <a:rPr lang="en-US" altLang="ko-KR" sz="1400" b="1" dirty="0" err="1"/>
              <a:t>ServiceAccounts</a:t>
            </a:r>
            <a:r>
              <a:rPr lang="en-US" altLang="ko-KR" sz="1400" b="1" dirty="0"/>
              <a:t> can belong to one or more groups</a:t>
            </a:r>
            <a:r>
              <a:rPr lang="en-US" altLang="ko-KR" sz="1400" dirty="0"/>
              <a:t>. We’ve said that the authentication plugin returns groups along with the username and user ID. </a:t>
            </a:r>
            <a:r>
              <a:rPr lang="en-US" altLang="ko-KR" sz="1400" b="1" dirty="0"/>
              <a:t>Groups are used to grant permissions to several users at once, instead of having to grant them to individual users</a:t>
            </a:r>
            <a:r>
              <a:rPr lang="en-US" altLang="ko-KR" sz="1400" dirty="0"/>
              <a:t>.</a:t>
            </a:r>
          </a:p>
          <a:p>
            <a:pPr lvl="1">
              <a:buFont typeface="Wingdings" panose="05000000000000000000" pitchFamily="2" charset="2"/>
              <a:buChar char="§"/>
            </a:pPr>
            <a:r>
              <a:rPr lang="en-US" altLang="ko-KR" sz="1400" b="1" dirty="0"/>
              <a:t>Groups returned by the plugin are nothing but strings, representing arbitrary group names</a:t>
            </a:r>
            <a:r>
              <a:rPr lang="en-US" altLang="ko-KR" sz="1400" dirty="0"/>
              <a:t>, but built-in groups have special meaning :</a:t>
            </a:r>
          </a:p>
          <a:p>
            <a:pPr lvl="2">
              <a:buFont typeface="Wingdings" panose="05000000000000000000" pitchFamily="2" charset="2"/>
              <a:buChar char="§"/>
            </a:pPr>
            <a:r>
              <a:rPr lang="en-US" altLang="ko-KR" sz="1400" b="1" dirty="0"/>
              <a:t>The </a:t>
            </a:r>
            <a:r>
              <a:rPr lang="en-US" altLang="ko-KR" sz="1400" b="1" dirty="0" err="1">
                <a:solidFill>
                  <a:srgbClr val="FF0000"/>
                </a:solidFill>
              </a:rPr>
              <a:t>system:unauthenticated</a:t>
            </a:r>
            <a:r>
              <a:rPr lang="en-US" altLang="ko-KR" sz="1400" b="1" dirty="0">
                <a:solidFill>
                  <a:srgbClr val="FF0000"/>
                </a:solidFill>
              </a:rPr>
              <a:t> </a:t>
            </a:r>
            <a:r>
              <a:rPr lang="en-US" altLang="ko-KR" sz="1400" b="1" dirty="0"/>
              <a:t>group </a:t>
            </a:r>
            <a:r>
              <a:rPr lang="en-US" altLang="ko-KR" sz="1400" dirty="0"/>
              <a:t>is used for requests where </a:t>
            </a:r>
            <a:r>
              <a:rPr lang="en-US" altLang="ko-KR" sz="1400" b="1" dirty="0"/>
              <a:t>none of the authentication plugins could authenticate the client</a:t>
            </a:r>
            <a:r>
              <a:rPr lang="en-US" altLang="ko-KR" sz="1400" dirty="0"/>
              <a:t>.</a:t>
            </a:r>
          </a:p>
          <a:p>
            <a:pPr lvl="2">
              <a:buFont typeface="Wingdings" panose="05000000000000000000" pitchFamily="2" charset="2"/>
              <a:buChar char="§"/>
            </a:pPr>
            <a:r>
              <a:rPr lang="en-US" altLang="ko-KR" sz="1400" b="1" dirty="0"/>
              <a:t>The </a:t>
            </a:r>
            <a:r>
              <a:rPr lang="en-US" altLang="ko-KR" sz="1400" b="1" dirty="0" err="1">
                <a:solidFill>
                  <a:srgbClr val="FF0000"/>
                </a:solidFill>
              </a:rPr>
              <a:t>system:authenticated</a:t>
            </a:r>
            <a:r>
              <a:rPr lang="en-US" altLang="ko-KR" sz="1400" b="1" dirty="0">
                <a:solidFill>
                  <a:srgbClr val="FF0000"/>
                </a:solidFill>
              </a:rPr>
              <a:t> </a:t>
            </a:r>
            <a:r>
              <a:rPr lang="en-US" altLang="ko-KR" sz="1400" b="1" dirty="0"/>
              <a:t>group </a:t>
            </a:r>
            <a:r>
              <a:rPr lang="en-US" altLang="ko-KR" sz="1400" dirty="0"/>
              <a:t>is automatically assigned to a user who was </a:t>
            </a:r>
            <a:r>
              <a:rPr lang="en-US" altLang="ko-KR" sz="1400" b="1" dirty="0"/>
              <a:t>authenticated successfully</a:t>
            </a:r>
            <a:r>
              <a:rPr lang="en-US" altLang="ko-KR" sz="1400" dirty="0"/>
              <a:t>.</a:t>
            </a:r>
          </a:p>
          <a:p>
            <a:pPr lvl="2">
              <a:buFont typeface="Wingdings" panose="05000000000000000000" pitchFamily="2" charset="2"/>
              <a:buChar char="§"/>
            </a:pPr>
            <a:r>
              <a:rPr lang="en-US" altLang="ko-KR" sz="1400" b="1" dirty="0"/>
              <a:t>The </a:t>
            </a:r>
            <a:r>
              <a:rPr lang="en-US" altLang="ko-KR" sz="1400" b="1" dirty="0" err="1">
                <a:solidFill>
                  <a:srgbClr val="FF0000"/>
                </a:solidFill>
              </a:rPr>
              <a:t>system:serviceaccounts</a:t>
            </a:r>
            <a:r>
              <a:rPr lang="en-US" altLang="ko-KR" sz="1400" b="1" dirty="0">
                <a:solidFill>
                  <a:srgbClr val="FF0000"/>
                </a:solidFill>
              </a:rPr>
              <a:t> </a:t>
            </a:r>
            <a:r>
              <a:rPr lang="en-US" altLang="ko-KR" sz="1400" b="1" dirty="0"/>
              <a:t>group</a:t>
            </a:r>
            <a:r>
              <a:rPr lang="en-US" altLang="ko-KR" sz="1400" dirty="0"/>
              <a:t> </a:t>
            </a:r>
            <a:r>
              <a:rPr lang="en-US" altLang="ko-KR" sz="1400" b="1" dirty="0"/>
              <a:t>encompasses all </a:t>
            </a:r>
            <a:r>
              <a:rPr lang="en-US" altLang="ko-KR" sz="1400" b="1" dirty="0" err="1"/>
              <a:t>ServiceAccounts</a:t>
            </a:r>
            <a:r>
              <a:rPr lang="en-US" altLang="ko-KR" sz="1400" b="1" dirty="0"/>
              <a:t> </a:t>
            </a:r>
            <a:r>
              <a:rPr lang="en-US" altLang="ko-KR" sz="1400" dirty="0"/>
              <a:t>in the system.</a:t>
            </a:r>
          </a:p>
          <a:p>
            <a:pPr lvl="2">
              <a:buFont typeface="Wingdings" panose="05000000000000000000" pitchFamily="2" charset="2"/>
              <a:buChar char="§"/>
            </a:pPr>
            <a:r>
              <a:rPr lang="en-US" altLang="ko-KR" sz="1400" b="1" dirty="0"/>
              <a:t>The </a:t>
            </a:r>
            <a:r>
              <a:rPr lang="en-US" altLang="ko-KR" sz="1400" b="1" dirty="0" err="1">
                <a:solidFill>
                  <a:srgbClr val="FF0000"/>
                </a:solidFill>
              </a:rPr>
              <a:t>system:serviceaccounts</a:t>
            </a:r>
            <a:r>
              <a:rPr lang="en-US" altLang="ko-KR" sz="1400" b="1" dirty="0">
                <a:solidFill>
                  <a:srgbClr val="FF0000"/>
                </a:solidFill>
              </a:rPr>
              <a:t>:&lt;namespace&gt; </a:t>
            </a:r>
            <a:r>
              <a:rPr lang="en-US" altLang="ko-KR" sz="1400" b="1" dirty="0"/>
              <a:t>includes all </a:t>
            </a:r>
            <a:r>
              <a:rPr lang="en-US" altLang="ko-KR" sz="1400" b="1" dirty="0" err="1"/>
              <a:t>ServiceAccounts</a:t>
            </a:r>
            <a:r>
              <a:rPr lang="en-US" altLang="ko-KR" sz="1400" b="1" dirty="0"/>
              <a:t> in a specific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D5C5B56D-E062-B935-37A2-F060D9C3EF0F}"/>
              </a:ext>
            </a:extLst>
          </p:cNvPr>
          <p:cNvPicPr>
            <a:picLocks noChangeAspect="1"/>
          </p:cNvPicPr>
          <p:nvPr/>
        </p:nvPicPr>
        <p:blipFill>
          <a:blip r:embed="rId2"/>
          <a:stretch>
            <a:fillRect/>
          </a:stretch>
        </p:blipFill>
        <p:spPr>
          <a:xfrm>
            <a:off x="3604169" y="3827889"/>
            <a:ext cx="4983662" cy="2255705"/>
          </a:xfrm>
          <a:prstGeom prst="rect">
            <a:avLst/>
          </a:prstGeom>
        </p:spPr>
      </p:pic>
    </p:spTree>
    <p:extLst>
      <p:ext uri="{BB962C8B-B14F-4D97-AF65-F5344CB8AC3E}">
        <p14:creationId xmlns:p14="http://schemas.microsoft.com/office/powerpoint/2010/main" val="704907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Authentication(4/12)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b="1" dirty="0"/>
              <a:t>The API server requires clients to authenticate themselves before they’re allowed to perform operations on the server</a:t>
            </a:r>
            <a:r>
              <a:rPr lang="en-US" altLang="ko-KR" sz="1400" dirty="0"/>
              <a:t>. And you’ve already seen how pods can authenticate by sending the contents of the </a:t>
            </a:r>
            <a:r>
              <a:rPr lang="en-US" altLang="ko-KR" sz="1400" b="1" dirty="0"/>
              <a:t>file “/var/run/secrets/kubernetes.io/</a:t>
            </a:r>
            <a:r>
              <a:rPr lang="en-US" altLang="ko-KR" sz="1400" b="1" dirty="0" err="1">
                <a:solidFill>
                  <a:srgbClr val="FF0000"/>
                </a:solidFill>
              </a:rPr>
              <a:t>serviceaccount</a:t>
            </a:r>
            <a:r>
              <a:rPr lang="en-US" altLang="ko-KR" sz="1400" b="1" dirty="0">
                <a:solidFill>
                  <a:srgbClr val="FF0000"/>
                </a:solidFill>
              </a:rPr>
              <a:t>/token</a:t>
            </a:r>
            <a:r>
              <a:rPr lang="en-US" altLang="ko-KR" sz="1400" b="1" dirty="0"/>
              <a:t>”</a:t>
            </a:r>
            <a:r>
              <a:rPr lang="en-US" altLang="ko-KR" sz="1400" dirty="0"/>
              <a:t>, which is mounted into each container’s filesystem through a </a:t>
            </a:r>
            <a:r>
              <a:rPr lang="en-US" altLang="ko-KR" sz="1400" b="1" dirty="0">
                <a:solidFill>
                  <a:srgbClr val="FF0000"/>
                </a:solidFill>
              </a:rPr>
              <a:t>secret volume</a:t>
            </a:r>
            <a:r>
              <a:rPr lang="en-US" altLang="ko-KR" sz="1400" dirty="0"/>
              <a:t>.</a:t>
            </a:r>
          </a:p>
          <a:p>
            <a:pPr lvl="1">
              <a:buFont typeface="Wingdings" panose="05000000000000000000" pitchFamily="2" charset="2"/>
              <a:buChar char="§"/>
            </a:pPr>
            <a:r>
              <a:rPr lang="en-US" altLang="ko-KR" sz="1400" b="1" dirty="0"/>
              <a:t>Every pod is associated with a </a:t>
            </a:r>
            <a:r>
              <a:rPr lang="en-US" altLang="ko-KR" sz="1400" b="1" dirty="0" err="1">
                <a:solidFill>
                  <a:srgbClr val="FF0000"/>
                </a:solidFill>
              </a:rPr>
              <a:t>ServiceAccount</a:t>
            </a:r>
            <a:r>
              <a:rPr lang="en-US" altLang="ko-KR" sz="1400" b="1" dirty="0"/>
              <a:t>, which represents </a:t>
            </a:r>
            <a:r>
              <a:rPr lang="en-US" altLang="ko-KR" sz="1400" b="1" dirty="0">
                <a:solidFill>
                  <a:srgbClr val="FF0000"/>
                </a:solidFill>
              </a:rPr>
              <a:t>the identity of the app running in the pod</a:t>
            </a:r>
            <a:r>
              <a:rPr lang="en-US" altLang="ko-KR" sz="1400" dirty="0"/>
              <a:t>. </a:t>
            </a:r>
            <a:r>
              <a:rPr lang="en-US" altLang="ko-KR" sz="1400" b="1" dirty="0"/>
              <a:t>The token file holds the </a:t>
            </a:r>
            <a:r>
              <a:rPr lang="en-US" altLang="ko-KR" sz="1400" b="1" dirty="0" err="1"/>
              <a:t>ServiceAccount’s</a:t>
            </a:r>
            <a:r>
              <a:rPr lang="en-US" altLang="ko-KR" sz="1400" b="1" dirty="0"/>
              <a:t> authentication token</a:t>
            </a:r>
            <a:r>
              <a:rPr lang="en-US" altLang="ko-KR" sz="1400" dirty="0"/>
              <a:t>. </a:t>
            </a:r>
            <a:r>
              <a:rPr lang="en-US" altLang="ko-KR" sz="1400" b="1" dirty="0"/>
              <a:t>When an app uses this token to connect to the API server, the authentication plugin authenticates the </a:t>
            </a:r>
            <a:r>
              <a:rPr lang="en-US" altLang="ko-KR" sz="1400" b="1" dirty="0" err="1"/>
              <a:t>ServiceAccount</a:t>
            </a:r>
            <a:r>
              <a:rPr lang="en-US" altLang="ko-KR" sz="1400" b="1" dirty="0"/>
              <a:t> and passes the </a:t>
            </a:r>
            <a:r>
              <a:rPr lang="en-US" altLang="ko-KR" sz="1400" b="1" dirty="0" err="1"/>
              <a:t>ServiceAccount’s</a:t>
            </a:r>
            <a:r>
              <a:rPr lang="en-US" altLang="ko-KR" sz="1400" b="1" dirty="0"/>
              <a:t> username back to the API server core</a:t>
            </a:r>
            <a:r>
              <a:rPr lang="en-US" altLang="ko-KR" sz="1400" dirty="0"/>
              <a:t>. </a:t>
            </a:r>
          </a:p>
          <a:p>
            <a:pPr lvl="1">
              <a:buFont typeface="Wingdings" panose="05000000000000000000" pitchFamily="2" charset="2"/>
              <a:buChar char="§"/>
            </a:pPr>
            <a:r>
              <a:rPr lang="en-US" altLang="ko-KR" sz="1400" b="1" dirty="0" err="1"/>
              <a:t>ServiceAccount</a:t>
            </a:r>
            <a:r>
              <a:rPr lang="en-US" altLang="ko-KR" sz="1400" b="1" dirty="0"/>
              <a:t> usernames </a:t>
            </a:r>
            <a:r>
              <a:rPr lang="en-US" altLang="ko-KR" sz="1400" dirty="0"/>
              <a:t>are formatted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API server passes this username to the configured authorization plugins</a:t>
            </a:r>
            <a:r>
              <a:rPr lang="en-US" altLang="ko-KR" sz="1400" dirty="0"/>
              <a:t>, which determine whether the action the app is trying to perform is allowed to be performed by the </a:t>
            </a:r>
            <a:r>
              <a:rPr lang="en-US" altLang="ko-KR" sz="1400" b="1" dirty="0" err="1"/>
              <a:t>ServiceAccount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154640-D1FF-684D-62A4-DD723C097CEC}"/>
              </a:ext>
            </a:extLst>
          </p:cNvPr>
          <p:cNvSpPr txBox="1"/>
          <p:nvPr/>
        </p:nvSpPr>
        <p:spPr>
          <a:xfrm>
            <a:off x="3047326" y="3182779"/>
            <a:ext cx="6097348" cy="246221"/>
          </a:xfrm>
          <a:prstGeom prst="rect">
            <a:avLst/>
          </a:prstGeom>
          <a:noFill/>
          <a:ln>
            <a:solidFill>
              <a:schemeClr val="bg1">
                <a:lumMod val="50000"/>
              </a:schemeClr>
            </a:solidFill>
          </a:ln>
        </p:spPr>
        <p:txBody>
          <a:bodyPr wrap="square">
            <a:spAutoFit/>
          </a:bodyPr>
          <a:lstStyle/>
          <a:p>
            <a:r>
              <a:rPr lang="en-US" altLang="ko-KR" sz="1000" b="1" dirty="0" err="1"/>
              <a:t>system:serviceaccount</a:t>
            </a:r>
            <a:r>
              <a:rPr lang="en-US" altLang="ko-KR" sz="1000" b="1" dirty="0"/>
              <a:t>:&lt;namespace&gt;:&lt;service account name&gt;</a:t>
            </a:r>
          </a:p>
        </p:txBody>
      </p:sp>
      <p:pic>
        <p:nvPicPr>
          <p:cNvPr id="11" name="그림 10">
            <a:extLst>
              <a:ext uri="{FF2B5EF4-FFF2-40B4-BE49-F238E27FC236}">
                <a16:creationId xmlns:a16="http://schemas.microsoft.com/office/drawing/2014/main" id="{835B9CA6-6AD0-7229-FBD7-6D4DA249D28F}"/>
              </a:ext>
            </a:extLst>
          </p:cNvPr>
          <p:cNvPicPr>
            <a:picLocks noChangeAspect="1"/>
          </p:cNvPicPr>
          <p:nvPr/>
        </p:nvPicPr>
        <p:blipFill>
          <a:blip r:embed="rId2"/>
          <a:stretch>
            <a:fillRect/>
          </a:stretch>
        </p:blipFill>
        <p:spPr>
          <a:xfrm>
            <a:off x="7436581" y="3964091"/>
            <a:ext cx="3917219" cy="2444939"/>
          </a:xfrm>
          <a:prstGeom prst="rect">
            <a:avLst/>
          </a:prstGeom>
        </p:spPr>
      </p:pic>
    </p:spTree>
    <p:extLst>
      <p:ext uri="{BB962C8B-B14F-4D97-AF65-F5344CB8AC3E}">
        <p14:creationId xmlns:p14="http://schemas.microsoft.com/office/powerpoint/2010/main" val="1214785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Authentication(5/12)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b="1" dirty="0" err="1">
                <a:solidFill>
                  <a:srgbClr val="FF0000"/>
                </a:solidFill>
              </a:rPr>
              <a:t>ServiceAccounts</a:t>
            </a:r>
            <a:r>
              <a:rPr lang="en-US" altLang="ko-KR" sz="1400" b="1" dirty="0"/>
              <a:t> are nothing more than a way </a:t>
            </a:r>
            <a:r>
              <a:rPr lang="en-US" altLang="ko-KR" sz="1400" b="1" dirty="0">
                <a:solidFill>
                  <a:srgbClr val="FF0000"/>
                </a:solidFill>
              </a:rPr>
              <a:t>for an application running inside a pod to authenticate itself with the API server</a:t>
            </a:r>
            <a:r>
              <a:rPr lang="en-US" altLang="ko-KR" sz="1400" dirty="0"/>
              <a:t>. As already mentioned, </a:t>
            </a:r>
            <a:r>
              <a:rPr lang="en-US" altLang="ko-KR" sz="1400" b="1" dirty="0"/>
              <a:t>applications do that by passing the </a:t>
            </a:r>
            <a:r>
              <a:rPr lang="en-US" altLang="ko-KR" sz="1400" b="1" dirty="0" err="1"/>
              <a:t>ServiceAccount’s</a:t>
            </a:r>
            <a:r>
              <a:rPr lang="en-US" altLang="ko-KR" sz="1400" b="1" dirty="0"/>
              <a:t> token in the request</a:t>
            </a:r>
            <a:r>
              <a:rPr lang="en-US" altLang="ko-KR" sz="1400" dirty="0"/>
              <a:t>.</a:t>
            </a:r>
          </a:p>
          <a:p>
            <a:pPr lvl="1">
              <a:buFont typeface="Wingdings" panose="05000000000000000000" pitchFamily="2" charset="2"/>
              <a:buChar char="§"/>
            </a:pPr>
            <a:r>
              <a:rPr lang="en-US" altLang="ko-KR" sz="1400" b="1" dirty="0" err="1">
                <a:solidFill>
                  <a:srgbClr val="FF0000"/>
                </a:solidFill>
              </a:rPr>
              <a:t>ServiceAccounts</a:t>
            </a:r>
            <a:r>
              <a:rPr lang="en-US" altLang="ko-KR" sz="1400" b="1" dirty="0">
                <a:solidFill>
                  <a:srgbClr val="FF0000"/>
                </a:solidFill>
              </a:rPr>
              <a:t> are resources </a:t>
            </a:r>
            <a:r>
              <a:rPr lang="en-US" altLang="ko-KR" sz="1400" b="1" dirty="0"/>
              <a:t>just like Pods, Secrets, </a:t>
            </a:r>
            <a:r>
              <a:rPr lang="en-US" altLang="ko-KR" sz="1400" b="1" dirty="0" err="1"/>
              <a:t>ConfigMaps</a:t>
            </a:r>
            <a:r>
              <a:rPr lang="en-US" altLang="ko-KR" sz="1400" b="1" dirty="0"/>
              <a:t>, and so on, and are </a:t>
            </a:r>
            <a:r>
              <a:rPr lang="en-US" altLang="ko-KR" sz="1400" b="1" dirty="0">
                <a:solidFill>
                  <a:srgbClr val="FF0000"/>
                </a:solidFill>
              </a:rPr>
              <a:t>scoped to individual namespaces</a:t>
            </a:r>
            <a:r>
              <a:rPr lang="en-US" altLang="ko-KR" sz="1400" dirty="0"/>
              <a:t>. </a:t>
            </a:r>
            <a:r>
              <a:rPr lang="en-US" altLang="ko-KR" sz="1400" b="1" dirty="0"/>
              <a:t>A default </a:t>
            </a:r>
            <a:r>
              <a:rPr lang="en-US" altLang="ko-KR" sz="1400" b="1" dirty="0" err="1"/>
              <a:t>ServiceAccount</a:t>
            </a:r>
            <a:r>
              <a:rPr lang="en-US" altLang="ko-KR" sz="1400" dirty="0"/>
              <a:t> is automatically created for each namespace (that’s the one your pods have used all along). </a:t>
            </a:r>
          </a:p>
          <a:p>
            <a:pPr lvl="1">
              <a:buFont typeface="Wingdings" panose="05000000000000000000" pitchFamily="2" charset="2"/>
              <a:buChar char="§"/>
            </a:pPr>
            <a:r>
              <a:rPr lang="en-US" altLang="ko-KR" sz="1400" b="1" dirty="0"/>
              <a:t>You can list </a:t>
            </a:r>
            <a:r>
              <a:rPr lang="en-US" altLang="ko-KR" sz="1400" b="1" dirty="0" err="1"/>
              <a:t>ServiceAccounts</a:t>
            </a:r>
            <a:r>
              <a:rPr lang="en-US" altLang="ko-KR" sz="1400" b="1" dirty="0"/>
              <a:t> </a:t>
            </a:r>
            <a:r>
              <a:rPr lang="en-US" altLang="ko-KR" sz="1400" dirty="0"/>
              <a:t>like you do other resources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744CE32-B669-C102-7E5A-CF34FE25ED9D}"/>
              </a:ext>
            </a:extLst>
          </p:cNvPr>
          <p:cNvGrpSpPr/>
          <p:nvPr/>
        </p:nvGrpSpPr>
        <p:grpSpPr>
          <a:xfrm>
            <a:off x="1128502" y="2827711"/>
            <a:ext cx="9934996" cy="2578102"/>
            <a:chOff x="1128501" y="2738699"/>
            <a:chExt cx="9934996" cy="2578102"/>
          </a:xfrm>
        </p:grpSpPr>
        <p:pic>
          <p:nvPicPr>
            <p:cNvPr id="8" name="그림 7">
              <a:extLst>
                <a:ext uri="{FF2B5EF4-FFF2-40B4-BE49-F238E27FC236}">
                  <a16:creationId xmlns:a16="http://schemas.microsoft.com/office/drawing/2014/main" id="{7412187C-9B91-F2A3-36B3-C90F4B259E6E}"/>
                </a:ext>
              </a:extLst>
            </p:cNvPr>
            <p:cNvPicPr>
              <a:picLocks noChangeAspect="1"/>
            </p:cNvPicPr>
            <p:nvPr/>
          </p:nvPicPr>
          <p:blipFill>
            <a:blip r:embed="rId2"/>
            <a:stretch>
              <a:fillRect/>
            </a:stretch>
          </p:blipFill>
          <p:spPr>
            <a:xfrm>
              <a:off x="1128501" y="3288406"/>
              <a:ext cx="9934996" cy="2028395"/>
            </a:xfrm>
            <a:prstGeom prst="rect">
              <a:avLst/>
            </a:prstGeom>
          </p:spPr>
        </p:pic>
        <p:sp>
          <p:nvSpPr>
            <p:cNvPr id="10" name="TextBox 9">
              <a:extLst>
                <a:ext uri="{FF2B5EF4-FFF2-40B4-BE49-F238E27FC236}">
                  <a16:creationId xmlns:a16="http://schemas.microsoft.com/office/drawing/2014/main" id="{6C549CF7-D9BD-F3AB-EBC5-CEC645DC480E}"/>
                </a:ext>
              </a:extLst>
            </p:cNvPr>
            <p:cNvSpPr txBox="1"/>
            <p:nvPr/>
          </p:nvSpPr>
          <p:spPr>
            <a:xfrm>
              <a:off x="3129595" y="273869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serviceaccounts</a:t>
              </a:r>
              <a:endParaRPr lang="en-US" altLang="ko-KR" sz="1000" b="1" dirty="0">
                <a:solidFill>
                  <a:srgbClr val="FF0000"/>
                </a:solidFill>
              </a:endParaRPr>
            </a:p>
          </p:txBody>
        </p:sp>
        <p:sp>
          <p:nvSpPr>
            <p:cNvPr id="11" name="화살표: 아래쪽 10">
              <a:extLst>
                <a:ext uri="{FF2B5EF4-FFF2-40B4-BE49-F238E27FC236}">
                  <a16:creationId xmlns:a16="http://schemas.microsoft.com/office/drawing/2014/main" id="{351713E0-848D-4D7A-8166-C1FB5A0DD82B}"/>
                </a:ext>
              </a:extLst>
            </p:cNvPr>
            <p:cNvSpPr/>
            <p:nvPr/>
          </p:nvSpPr>
          <p:spPr>
            <a:xfrm>
              <a:off x="5882909" y="2994053"/>
              <a:ext cx="426181" cy="2852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10898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Authentication(6/12)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dirty="0"/>
              <a:t>As you can see from the previous screenshot, </a:t>
            </a:r>
            <a:r>
              <a:rPr lang="en-US" altLang="ko-KR" sz="1400" b="1" dirty="0"/>
              <a:t>the current namespace only contains the </a:t>
            </a:r>
            <a:r>
              <a:rPr lang="en-US" altLang="ko-KR" sz="1400" b="1" dirty="0">
                <a:solidFill>
                  <a:srgbClr val="FF0000"/>
                </a:solidFill>
              </a:rPr>
              <a:t>default </a:t>
            </a:r>
            <a:r>
              <a:rPr lang="en-US" altLang="ko-KR" sz="1400" b="1" dirty="0" err="1">
                <a:solidFill>
                  <a:srgbClr val="FF0000"/>
                </a:solidFill>
              </a:rPr>
              <a:t>ServiceAccount</a:t>
            </a:r>
            <a:r>
              <a:rPr lang="en-US" altLang="ko-KR" sz="1400" dirty="0"/>
              <a:t>. </a:t>
            </a:r>
            <a:r>
              <a:rPr lang="en-US" altLang="ko-KR" sz="1400" b="1" dirty="0"/>
              <a:t>Additional </a:t>
            </a:r>
            <a:r>
              <a:rPr lang="en-US" altLang="ko-KR" sz="1400" b="1" dirty="0" err="1"/>
              <a:t>ServiceAccounts</a:t>
            </a:r>
            <a:r>
              <a:rPr lang="en-US" altLang="ko-KR" sz="1400" b="1" dirty="0"/>
              <a:t> can be added when required</a:t>
            </a:r>
            <a:r>
              <a:rPr lang="en-US" altLang="ko-KR" sz="1400" dirty="0"/>
              <a:t>. </a:t>
            </a:r>
            <a:r>
              <a:rPr lang="en-US" altLang="ko-KR" sz="1400" b="1" dirty="0"/>
              <a:t>Each pod is associated with exactly one </a:t>
            </a:r>
            <a:r>
              <a:rPr lang="en-US" altLang="ko-KR" sz="1400" b="1" dirty="0" err="1"/>
              <a:t>ServiceAccount</a:t>
            </a:r>
            <a:r>
              <a:rPr lang="en-US" altLang="ko-KR" sz="1400" dirty="0"/>
              <a:t>, </a:t>
            </a:r>
            <a:r>
              <a:rPr lang="en-US" altLang="ko-KR" sz="1400" b="1" dirty="0"/>
              <a:t>but multiple pods can use the same </a:t>
            </a:r>
            <a:r>
              <a:rPr lang="en-US" altLang="ko-KR" sz="1400" b="1" dirty="0" err="1"/>
              <a:t>ServiceAccount</a:t>
            </a:r>
            <a:r>
              <a:rPr lang="en-US" altLang="ko-KR" sz="1400" dirty="0"/>
              <a:t>. As you can see in the following figure, </a:t>
            </a:r>
            <a:r>
              <a:rPr lang="en-US" altLang="ko-KR" sz="1400" b="1" dirty="0">
                <a:solidFill>
                  <a:srgbClr val="FF0000"/>
                </a:solidFill>
              </a:rPr>
              <a:t>a pod can only use a </a:t>
            </a:r>
            <a:r>
              <a:rPr lang="en-US" altLang="ko-KR" sz="1400" b="1" dirty="0" err="1">
                <a:solidFill>
                  <a:srgbClr val="FF0000"/>
                </a:solidFill>
              </a:rPr>
              <a:t>ServiceAccount</a:t>
            </a:r>
            <a:r>
              <a:rPr lang="en-US" altLang="ko-KR" sz="1400" b="1" dirty="0">
                <a:solidFill>
                  <a:srgbClr val="FF0000"/>
                </a:solidFill>
              </a:rPr>
              <a:t> from the same namespace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A873961-B2F0-07D2-BDE6-F333B8C914A5}"/>
              </a:ext>
            </a:extLst>
          </p:cNvPr>
          <p:cNvPicPr>
            <a:picLocks noChangeAspect="1"/>
          </p:cNvPicPr>
          <p:nvPr/>
        </p:nvPicPr>
        <p:blipFill>
          <a:blip r:embed="rId2"/>
          <a:stretch>
            <a:fillRect/>
          </a:stretch>
        </p:blipFill>
        <p:spPr>
          <a:xfrm>
            <a:off x="3367087" y="2300287"/>
            <a:ext cx="5457825" cy="2257425"/>
          </a:xfrm>
          <a:prstGeom prst="rect">
            <a:avLst/>
          </a:prstGeom>
        </p:spPr>
      </p:pic>
    </p:spTree>
    <p:extLst>
      <p:ext uri="{BB962C8B-B14F-4D97-AF65-F5344CB8AC3E}">
        <p14:creationId xmlns:p14="http://schemas.microsoft.com/office/powerpoint/2010/main" val="2449974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Authentication(7/12)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b="1" dirty="0"/>
              <a:t>You can assign a </a:t>
            </a:r>
            <a:r>
              <a:rPr lang="en-US" altLang="ko-KR" sz="1400" b="1" dirty="0" err="1"/>
              <a:t>ServiceAccount</a:t>
            </a:r>
            <a:r>
              <a:rPr lang="en-US" altLang="ko-KR" sz="1400" b="1" dirty="0"/>
              <a:t> to a pod by specifying the </a:t>
            </a:r>
            <a:r>
              <a:rPr lang="en-US" altLang="ko-KR" sz="1400" b="1" dirty="0">
                <a:solidFill>
                  <a:srgbClr val="FF0000"/>
                </a:solidFill>
              </a:rPr>
              <a:t>account’s name </a:t>
            </a:r>
            <a:r>
              <a:rPr lang="en-US" altLang="ko-KR" sz="1400" b="1" dirty="0"/>
              <a:t>in the pod manifest</a:t>
            </a:r>
            <a:r>
              <a:rPr lang="en-US" altLang="ko-KR" sz="1400" dirty="0"/>
              <a:t>. </a:t>
            </a:r>
            <a:r>
              <a:rPr lang="en-US" altLang="ko-KR" sz="1400" b="1" dirty="0"/>
              <a:t>If you don’t assign it explicitly, the pod will use the default </a:t>
            </a:r>
            <a:r>
              <a:rPr lang="en-US" altLang="ko-KR" sz="1400" b="1" dirty="0" err="1"/>
              <a:t>ServiceAccount</a:t>
            </a:r>
            <a:r>
              <a:rPr lang="en-US" altLang="ko-KR" sz="1400" b="1" dirty="0"/>
              <a:t> in the namespace</a:t>
            </a:r>
            <a:r>
              <a:rPr lang="en-US" altLang="ko-KR" sz="1400" dirty="0"/>
              <a:t>.</a:t>
            </a:r>
          </a:p>
          <a:p>
            <a:pPr lvl="1">
              <a:buFont typeface="Wingdings" panose="05000000000000000000" pitchFamily="2" charset="2"/>
              <a:buChar char="§"/>
            </a:pPr>
            <a:r>
              <a:rPr lang="en-US" altLang="ko-KR" sz="1400" b="1" dirty="0"/>
              <a:t>By assigning different </a:t>
            </a:r>
            <a:r>
              <a:rPr lang="en-US" altLang="ko-KR" sz="1400" b="1" dirty="0" err="1"/>
              <a:t>ServiceAccounts</a:t>
            </a:r>
            <a:r>
              <a:rPr lang="en-US" altLang="ko-KR" sz="1400" b="1" dirty="0"/>
              <a:t> to pods, you can control which resources each pod has access to</a:t>
            </a:r>
            <a:r>
              <a:rPr lang="en-US" altLang="ko-KR" sz="1400" dirty="0"/>
              <a:t>. When a request bearing the authentication token is received by the API server, the server uses the token to authenticate the client sending the request and then determines whether or not the related </a:t>
            </a:r>
            <a:r>
              <a:rPr lang="en-US" altLang="ko-KR" sz="1400" dirty="0" err="1"/>
              <a:t>ServiceAccount</a:t>
            </a:r>
            <a:r>
              <a:rPr lang="en-US" altLang="ko-KR" sz="1400" dirty="0"/>
              <a:t> is allowed to perform the requested operation. </a:t>
            </a:r>
            <a:r>
              <a:rPr lang="en-US" altLang="ko-KR" sz="1400" b="1" dirty="0"/>
              <a:t>The API server obtains this information from the system-wide authorization plugin configured by the cluster administrator</a:t>
            </a:r>
            <a:r>
              <a:rPr lang="en-US" altLang="ko-KR" sz="1400" dirty="0"/>
              <a:t>. One of the available authorization plugins is the </a:t>
            </a:r>
            <a:r>
              <a:rPr lang="en-US" altLang="ko-KR" sz="1400" b="1" dirty="0">
                <a:solidFill>
                  <a:srgbClr val="FF0000"/>
                </a:solidFill>
              </a:rPr>
              <a:t>role-based access control </a:t>
            </a:r>
            <a:r>
              <a:rPr lang="en-US" altLang="ko-KR" sz="1400" b="1" dirty="0"/>
              <a:t>(</a:t>
            </a:r>
            <a:r>
              <a:rPr lang="en-US" altLang="ko-KR" sz="1400" b="1" dirty="0">
                <a:solidFill>
                  <a:srgbClr val="FF0000"/>
                </a:solidFill>
              </a:rPr>
              <a:t>RBAC</a:t>
            </a:r>
            <a:r>
              <a:rPr lang="en-US" altLang="ko-KR" sz="1400" b="1" dirty="0"/>
              <a:t>) plugin</a:t>
            </a:r>
            <a:r>
              <a:rPr lang="en-US" altLang="ko-KR" sz="1400" dirty="0"/>
              <a:t>. </a:t>
            </a:r>
            <a:r>
              <a:rPr lang="en-US" altLang="ko-KR" sz="1400" b="1" dirty="0"/>
              <a:t>From Kubernetes version 1.6 on, the RBAC plugin is the plugin most clusters should use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89F66EA-F89B-D85E-0D5A-55F0F94F0DDB}"/>
              </a:ext>
            </a:extLst>
          </p:cNvPr>
          <p:cNvGrpSpPr/>
          <p:nvPr/>
        </p:nvGrpSpPr>
        <p:grpSpPr>
          <a:xfrm>
            <a:off x="2451886" y="3155196"/>
            <a:ext cx="7288227" cy="2667586"/>
            <a:chOff x="2451886" y="3155196"/>
            <a:chExt cx="7288227" cy="2667586"/>
          </a:xfrm>
        </p:grpSpPr>
        <p:pic>
          <p:nvPicPr>
            <p:cNvPr id="8" name="그림 7">
              <a:extLst>
                <a:ext uri="{FF2B5EF4-FFF2-40B4-BE49-F238E27FC236}">
                  <a16:creationId xmlns:a16="http://schemas.microsoft.com/office/drawing/2014/main" id="{38A4DF4D-5FE4-FE10-1E83-A96E760A0D5D}"/>
                </a:ext>
              </a:extLst>
            </p:cNvPr>
            <p:cNvPicPr>
              <a:picLocks noChangeAspect="1"/>
            </p:cNvPicPr>
            <p:nvPr/>
          </p:nvPicPr>
          <p:blipFill>
            <a:blip r:embed="rId2"/>
            <a:stretch>
              <a:fillRect/>
            </a:stretch>
          </p:blipFill>
          <p:spPr>
            <a:xfrm>
              <a:off x="2451886" y="3155196"/>
              <a:ext cx="7288227" cy="2667586"/>
            </a:xfrm>
            <a:prstGeom prst="rect">
              <a:avLst/>
            </a:prstGeom>
          </p:spPr>
        </p:pic>
        <p:sp>
          <p:nvSpPr>
            <p:cNvPr id="9" name="직사각형 8">
              <a:extLst>
                <a:ext uri="{FF2B5EF4-FFF2-40B4-BE49-F238E27FC236}">
                  <a16:creationId xmlns:a16="http://schemas.microsoft.com/office/drawing/2014/main" id="{CCD1C7D0-E942-01A3-BF5C-904097D8F8AE}"/>
                </a:ext>
              </a:extLst>
            </p:cNvPr>
            <p:cNvSpPr/>
            <p:nvPr/>
          </p:nvSpPr>
          <p:spPr>
            <a:xfrm>
              <a:off x="5559228" y="4725749"/>
              <a:ext cx="3439115" cy="6635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97687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Authentication(8/12)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t>
            </a: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b="1" dirty="0"/>
              <a:t>We’ve said every namespace contains its own default </a:t>
            </a:r>
            <a:r>
              <a:rPr lang="en-US" altLang="ko-KR" sz="1400" b="1" dirty="0" err="1"/>
              <a:t>ServiceAccount</a:t>
            </a:r>
            <a:r>
              <a:rPr lang="en-US" altLang="ko-KR" sz="1400" b="1" dirty="0"/>
              <a:t>, but additional ones can be created if necessary</a:t>
            </a:r>
            <a:r>
              <a:rPr lang="en-US" altLang="ko-KR" sz="1400" dirty="0"/>
              <a:t>. But why should you bother with </a:t>
            </a:r>
            <a:r>
              <a:rPr lang="en-US" altLang="ko-KR" sz="1400" b="1" dirty="0"/>
              <a:t>creating </a:t>
            </a:r>
            <a:r>
              <a:rPr lang="en-US" altLang="ko-KR" sz="1400" b="1" dirty="0" err="1"/>
              <a:t>ServiceAccounts</a:t>
            </a:r>
            <a:r>
              <a:rPr lang="en-US" altLang="ko-KR" sz="1400" b="1" dirty="0"/>
              <a:t> instead of using the default one</a:t>
            </a:r>
            <a:r>
              <a:rPr lang="en-US" altLang="ko-KR" sz="1400" dirty="0"/>
              <a:t> for all your pods?</a:t>
            </a:r>
          </a:p>
          <a:p>
            <a:pPr lvl="1">
              <a:buFont typeface="Wingdings" panose="05000000000000000000" pitchFamily="2" charset="2"/>
              <a:buChar char="§"/>
            </a:pPr>
            <a:r>
              <a:rPr lang="en-US" altLang="ko-KR" sz="1400" b="1" dirty="0"/>
              <a:t>The obvious reason is </a:t>
            </a:r>
            <a:r>
              <a:rPr lang="en-US" altLang="ko-KR" sz="1400" b="1" dirty="0">
                <a:solidFill>
                  <a:srgbClr val="FF0000"/>
                </a:solidFill>
              </a:rPr>
              <a:t>cluster security</a:t>
            </a:r>
            <a:r>
              <a:rPr lang="en-US" altLang="ko-KR" sz="1400" dirty="0"/>
              <a:t>. </a:t>
            </a:r>
            <a:r>
              <a:rPr lang="en-US" altLang="ko-KR" sz="1400" b="1" dirty="0"/>
              <a:t>Pods that don’t need to read any cluster metadata should run under a constrained account that doesn’t allow them </a:t>
            </a:r>
            <a:r>
              <a:rPr lang="en-US" altLang="ko-KR" sz="1400" b="1" dirty="0">
                <a:solidFill>
                  <a:srgbClr val="FF0000"/>
                </a:solidFill>
              </a:rPr>
              <a:t>to retrieve or modify any resources </a:t>
            </a:r>
            <a:r>
              <a:rPr lang="en-US" altLang="ko-KR" sz="1400" b="1" dirty="0"/>
              <a:t>deployed in the cluster</a:t>
            </a:r>
            <a:r>
              <a:rPr lang="en-US" altLang="ko-KR" sz="1400" dirty="0"/>
              <a:t>. </a:t>
            </a:r>
            <a:r>
              <a:rPr lang="en-US" altLang="ko-KR" sz="1400" b="1" dirty="0"/>
              <a:t>Pods that need to retrieve resource metadata should run under a </a:t>
            </a:r>
            <a:r>
              <a:rPr lang="en-US" altLang="ko-KR" sz="1400" b="1" dirty="0" err="1"/>
              <a:t>ServiceAccount</a:t>
            </a:r>
            <a:r>
              <a:rPr lang="en-US" altLang="ko-KR" sz="1400" b="1" dirty="0"/>
              <a:t> that only allows reading those objects’ metadata</a:t>
            </a:r>
            <a:r>
              <a:rPr lang="en-US" altLang="ko-KR" sz="1400" dirty="0"/>
              <a:t>, </a:t>
            </a:r>
            <a:r>
              <a:rPr lang="en-US" altLang="ko-KR" sz="1400" b="1" dirty="0"/>
              <a:t>whereas pods that need to modify those objects should </a:t>
            </a:r>
            <a:r>
              <a:rPr lang="en-US" altLang="ko-KR" sz="1400" b="1" dirty="0">
                <a:solidFill>
                  <a:srgbClr val="FF0000"/>
                </a:solidFill>
              </a:rPr>
              <a:t>run under their own </a:t>
            </a:r>
            <a:r>
              <a:rPr lang="en-US" altLang="ko-KR" sz="1400" b="1" dirty="0" err="1">
                <a:solidFill>
                  <a:srgbClr val="FF0000"/>
                </a:solidFill>
              </a:rPr>
              <a:t>ServiceAccount</a:t>
            </a:r>
            <a:r>
              <a:rPr lang="en-US" altLang="ko-KR" sz="1400" b="1" dirty="0">
                <a:solidFill>
                  <a:srgbClr val="FF0000"/>
                </a:solidFill>
              </a:rPr>
              <a:t> </a:t>
            </a:r>
            <a:r>
              <a:rPr lang="en-US" altLang="ko-KR" sz="1400" b="1" dirty="0"/>
              <a:t>allowing modifications of API objects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D4DA829-6803-1E64-7C98-3C9595C34B9B}"/>
              </a:ext>
            </a:extLst>
          </p:cNvPr>
          <p:cNvPicPr>
            <a:picLocks noChangeAspect="1"/>
          </p:cNvPicPr>
          <p:nvPr/>
        </p:nvPicPr>
        <p:blipFill>
          <a:blip r:embed="rId2"/>
          <a:stretch>
            <a:fillRect/>
          </a:stretch>
        </p:blipFill>
        <p:spPr>
          <a:xfrm>
            <a:off x="2874147" y="3118951"/>
            <a:ext cx="6443705" cy="3144030"/>
          </a:xfrm>
          <a:prstGeom prst="rect">
            <a:avLst/>
          </a:prstGeom>
        </p:spPr>
      </p:pic>
    </p:spTree>
    <p:extLst>
      <p:ext uri="{BB962C8B-B14F-4D97-AF65-F5344CB8AC3E}">
        <p14:creationId xmlns:p14="http://schemas.microsoft.com/office/powerpoint/2010/main" val="172272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Authentication(9/12)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t>
            </a: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b="1" dirty="0"/>
              <a:t>To create a </a:t>
            </a:r>
            <a:r>
              <a:rPr lang="en-US" altLang="ko-KR" sz="1400" b="1" dirty="0" err="1"/>
              <a:t>ServiceAccount</a:t>
            </a:r>
            <a:r>
              <a:rPr lang="en-US" altLang="ko-KR" sz="1400" b="1" dirty="0"/>
              <a:t>, you can use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create </a:t>
            </a:r>
            <a:r>
              <a:rPr lang="en-US" altLang="ko-KR" sz="1400" b="1" dirty="0" err="1">
                <a:solidFill>
                  <a:srgbClr val="FF0000"/>
                </a:solidFill>
              </a:rPr>
              <a:t>serviceaccount</a:t>
            </a:r>
            <a:r>
              <a:rPr lang="en-US" altLang="ko-KR" sz="1400" b="1" dirty="0"/>
              <a:t>”</a:t>
            </a:r>
            <a:r>
              <a:rPr lang="en-US" altLang="ko-KR" sz="1400" dirty="0"/>
              <a:t> command. Let’s create a new </a:t>
            </a:r>
            <a:r>
              <a:rPr lang="en-US" altLang="ko-KR" sz="1400" dirty="0" err="1"/>
              <a:t>ServiceAccount</a:t>
            </a:r>
            <a:r>
              <a:rPr lang="en-US" altLang="ko-KR" sz="1400" dirty="0"/>
              <a:t> called foo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you can </a:t>
            </a:r>
            <a:r>
              <a:rPr lang="en-US" altLang="ko-KR" sz="1400" b="1" dirty="0"/>
              <a:t>inspect the </a:t>
            </a:r>
            <a:r>
              <a:rPr lang="en-US" altLang="ko-KR" sz="1400" b="1" dirty="0" err="1"/>
              <a:t>ServiceAccount</a:t>
            </a:r>
            <a:r>
              <a:rPr lang="en-US" altLang="ko-KR" sz="1400" b="1" dirty="0"/>
              <a:t> with the “</a:t>
            </a:r>
            <a:r>
              <a:rPr lang="en-US" altLang="ko-KR" sz="1400" b="1" dirty="0">
                <a:solidFill>
                  <a:srgbClr val="FF0000"/>
                </a:solidFill>
              </a:rPr>
              <a:t>describe</a:t>
            </a:r>
            <a:r>
              <a:rPr lang="en-US" altLang="ko-KR" sz="1400" b="1" dirty="0"/>
              <a:t>” command</a:t>
            </a:r>
            <a:r>
              <a:rPr lang="en-US" altLang="ko-KR" sz="1400" dirty="0"/>
              <a:t>.</a:t>
            </a:r>
          </a:p>
          <a:p>
            <a:pPr lvl="1">
              <a:buFont typeface="Wingdings" panose="05000000000000000000" pitchFamily="2" charset="2"/>
              <a:buChar char="§"/>
            </a:pPr>
            <a:r>
              <a:rPr lang="en-US" altLang="ko-KR" sz="1400" b="1" dirty="0"/>
              <a:t>NOTE : You’ve probably heard of </a:t>
            </a:r>
            <a:r>
              <a:rPr lang="en-US" altLang="ko-KR" sz="1400" b="1" dirty="0">
                <a:solidFill>
                  <a:srgbClr val="FF0000"/>
                </a:solidFill>
              </a:rPr>
              <a:t>JSON Web Tokens (JWT)</a:t>
            </a:r>
            <a:r>
              <a:rPr lang="en-US" altLang="ko-KR" sz="1400" b="1" dirty="0"/>
              <a:t>. The authentication tokens used in </a:t>
            </a:r>
            <a:r>
              <a:rPr lang="en-US" altLang="ko-KR" sz="1400" b="1" dirty="0" err="1"/>
              <a:t>ServiceAccounts</a:t>
            </a:r>
            <a:r>
              <a:rPr lang="en-US" altLang="ko-KR" sz="1400" b="1" dirty="0"/>
              <a:t> are JWT tokens</a:t>
            </a:r>
            <a:r>
              <a:rPr lang="en-US" altLang="ko-KR" sz="1400" dirty="0"/>
              <a:t>.</a:t>
            </a:r>
          </a:p>
          <a:p>
            <a:pPr lvl="1">
              <a:buFont typeface="Wingdings" panose="05000000000000000000" pitchFamily="2" charset="2"/>
              <a:buChar char="§"/>
            </a:pPr>
            <a:r>
              <a:rPr lang="en-US" altLang="ko-KR" sz="1400" dirty="0"/>
              <a:t>You can also use “describe” command to </a:t>
            </a:r>
            <a:r>
              <a:rPr lang="en-US" altLang="ko-KR" sz="1400" b="1" dirty="0"/>
              <a:t>see more detailed information of the secret with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describe secret &lt;TOKEN NAME&gt;</a:t>
            </a:r>
            <a:r>
              <a:rPr lang="en-US" altLang="ko-KR" sz="1400" b="1" dirty="0"/>
              <a:t>” command </a:t>
            </a:r>
            <a:r>
              <a:rPr lang="en-US" altLang="ko-KR" sz="1400" dirty="0"/>
              <a:t>if there is a token in the above screenshot</a:t>
            </a:r>
            <a:r>
              <a:rPr lang="en-US" altLang="ko-KR" sz="1400" b="1" dirty="0"/>
              <a:t>. </a:t>
            </a:r>
            <a:r>
              <a:rPr lang="en-US" altLang="ko-KR" sz="1400" dirty="0"/>
              <a:t>Here we don’t have.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143FAEB-9A30-E0E2-AE5E-842FC5C6D5A7}"/>
              </a:ext>
            </a:extLst>
          </p:cNvPr>
          <p:cNvGrpSpPr/>
          <p:nvPr/>
        </p:nvGrpSpPr>
        <p:grpSpPr>
          <a:xfrm>
            <a:off x="1055505" y="1700778"/>
            <a:ext cx="10080990" cy="2948650"/>
            <a:chOff x="1055505" y="1700778"/>
            <a:chExt cx="10080990" cy="2948650"/>
          </a:xfrm>
        </p:grpSpPr>
        <p:sp>
          <p:nvSpPr>
            <p:cNvPr id="8" name="TextBox 7">
              <a:extLst>
                <a:ext uri="{FF2B5EF4-FFF2-40B4-BE49-F238E27FC236}">
                  <a16:creationId xmlns:a16="http://schemas.microsoft.com/office/drawing/2014/main" id="{24811B01-8DE0-11B4-A56F-A2CF835D07C4}"/>
                </a:ext>
              </a:extLst>
            </p:cNvPr>
            <p:cNvSpPr txBox="1"/>
            <p:nvPr/>
          </p:nvSpPr>
          <p:spPr>
            <a:xfrm>
              <a:off x="3047326" y="170077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serviceaccount</a:t>
              </a:r>
              <a:r>
                <a:rPr lang="en-US" altLang="ko-KR" sz="1000" b="1" dirty="0">
                  <a:solidFill>
                    <a:srgbClr val="FF0000"/>
                  </a:solidFill>
                </a:rPr>
                <a:t> foo</a:t>
              </a:r>
            </a:p>
          </p:txBody>
        </p:sp>
        <p:sp>
          <p:nvSpPr>
            <p:cNvPr id="9" name="화살표: 아래쪽 8">
              <a:extLst>
                <a:ext uri="{FF2B5EF4-FFF2-40B4-BE49-F238E27FC236}">
                  <a16:creationId xmlns:a16="http://schemas.microsoft.com/office/drawing/2014/main" id="{8E556677-12FF-D6EF-28DF-EF3BFEF7537E}"/>
                </a:ext>
              </a:extLst>
            </p:cNvPr>
            <p:cNvSpPr/>
            <p:nvPr/>
          </p:nvSpPr>
          <p:spPr>
            <a:xfrm>
              <a:off x="5858634" y="1956404"/>
              <a:ext cx="493614" cy="3155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D7CB70B-5DE2-CDF4-4D84-51F05A12AD95}"/>
                </a:ext>
              </a:extLst>
            </p:cNvPr>
            <p:cNvPicPr>
              <a:picLocks noChangeAspect="1"/>
            </p:cNvPicPr>
            <p:nvPr/>
          </p:nvPicPr>
          <p:blipFill>
            <a:blip r:embed="rId2"/>
            <a:stretch>
              <a:fillRect/>
            </a:stretch>
          </p:blipFill>
          <p:spPr>
            <a:xfrm>
              <a:off x="1055505" y="2271994"/>
              <a:ext cx="10080990" cy="2377434"/>
            </a:xfrm>
            <a:prstGeom prst="rect">
              <a:avLst/>
            </a:prstGeom>
          </p:spPr>
        </p:pic>
      </p:grpSp>
    </p:spTree>
    <p:extLst>
      <p:ext uri="{BB962C8B-B14F-4D97-AF65-F5344CB8AC3E}">
        <p14:creationId xmlns:p14="http://schemas.microsoft.com/office/powerpoint/2010/main" val="3427727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Authentication(10/12)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t>
            </a:r>
            <a:r>
              <a:rPr lang="en-US" altLang="ko-KR" sz="1800" b="1" dirty="0" err="1"/>
              <a:t>ServiceAccounts</a:t>
            </a:r>
            <a:r>
              <a:rPr lang="en-US" altLang="ko-KR" sz="1800" b="1" dirty="0"/>
              <a:t> :</a:t>
            </a:r>
            <a:endParaRPr lang="en-US" altLang="ko-KR" sz="1400" dirty="0"/>
          </a:p>
          <a:p>
            <a:pPr lvl="1">
              <a:buFont typeface="Wingdings" panose="05000000000000000000" pitchFamily="2" charset="2"/>
              <a:buChar char="§"/>
            </a:pPr>
            <a:r>
              <a:rPr lang="en-US" altLang="ko-KR" sz="1400" b="1" dirty="0"/>
              <a:t>The token will be shown in the Mountable secrets list when you inspect a </a:t>
            </a:r>
            <a:r>
              <a:rPr lang="en-US" altLang="ko-KR" sz="1400" b="1" dirty="0" err="1"/>
              <a:t>ServiceAccount</a:t>
            </a:r>
            <a:r>
              <a:rPr lang="en-US" altLang="ko-KR" sz="1400" b="1" dirty="0"/>
              <a:t> with “$ </a:t>
            </a:r>
            <a:r>
              <a:rPr lang="en-US" altLang="ko-KR" sz="1400" b="1" dirty="0" err="1"/>
              <a:t>kubectl</a:t>
            </a:r>
            <a:r>
              <a:rPr lang="en-US" altLang="ko-KR" sz="1400" b="1" dirty="0"/>
              <a:t> describe” command</a:t>
            </a:r>
            <a:r>
              <a:rPr lang="en-US" altLang="ko-KR" sz="1400" dirty="0"/>
              <a:t>. By default, a pod can mount any Secret it wants. </a:t>
            </a:r>
            <a:r>
              <a:rPr lang="en-US" altLang="ko-KR" sz="1400" b="1" dirty="0"/>
              <a:t>But the pod’s </a:t>
            </a:r>
            <a:r>
              <a:rPr lang="en-US" altLang="ko-KR" sz="1400" b="1" dirty="0" err="1"/>
              <a:t>ServiceAccount</a:t>
            </a:r>
            <a:r>
              <a:rPr lang="en-US" altLang="ko-KR" sz="1400" b="1" dirty="0"/>
              <a:t> can be configured to only </a:t>
            </a:r>
            <a:r>
              <a:rPr lang="en-US" altLang="ko-KR" sz="1400" b="1" dirty="0">
                <a:solidFill>
                  <a:srgbClr val="FF0000"/>
                </a:solidFill>
              </a:rPr>
              <a:t>allow the pod to mount Secrets that are listed as mountable Secrets </a:t>
            </a:r>
            <a:r>
              <a:rPr lang="en-US" altLang="ko-KR" sz="1400" b="1" dirty="0"/>
              <a:t>on the </a:t>
            </a:r>
            <a:r>
              <a:rPr lang="en-US" altLang="ko-KR" sz="1400" b="1" dirty="0" err="1"/>
              <a:t>ServiceAccount</a:t>
            </a:r>
            <a:r>
              <a:rPr lang="en-US" altLang="ko-KR" sz="1400" dirty="0"/>
              <a:t>. To enable this feature, the </a:t>
            </a:r>
            <a:r>
              <a:rPr lang="en-US" altLang="ko-KR" sz="1400" b="1" dirty="0" err="1"/>
              <a:t>ServiceAccount</a:t>
            </a:r>
            <a:r>
              <a:rPr lang="en-US" altLang="ko-KR" sz="1400" dirty="0"/>
              <a:t> must contain the following annotation :</a:t>
            </a:r>
          </a:p>
          <a:p>
            <a:pPr lvl="1">
              <a:buFont typeface="Wingdings" panose="05000000000000000000" pitchFamily="2" charset="2"/>
              <a:buChar char="§"/>
            </a:pPr>
            <a:endParaRPr lang="en-US" altLang="ko-KR" sz="1400" dirty="0"/>
          </a:p>
          <a:p>
            <a:pPr marL="457200" lvl="1" indent="0">
              <a:buNone/>
            </a:pPr>
            <a:endParaRPr lang="en-US" altLang="ko-KR" sz="1400" dirty="0"/>
          </a:p>
          <a:p>
            <a:pPr lvl="1">
              <a:buFont typeface="Wingdings" panose="05000000000000000000" pitchFamily="2" charset="2"/>
              <a:buChar char="§"/>
            </a:pPr>
            <a:r>
              <a:rPr lang="en-US" altLang="ko-KR" sz="1400" b="1" dirty="0"/>
              <a:t>If the </a:t>
            </a:r>
            <a:r>
              <a:rPr lang="en-US" altLang="ko-KR" sz="1400" b="1" dirty="0" err="1"/>
              <a:t>ServiceAccount</a:t>
            </a:r>
            <a:r>
              <a:rPr lang="en-US" altLang="ko-KR" sz="1400" b="1" dirty="0"/>
              <a:t> is annotated with this annotation, </a:t>
            </a:r>
            <a:r>
              <a:rPr lang="en-US" altLang="ko-KR" sz="1400" b="1" dirty="0">
                <a:solidFill>
                  <a:srgbClr val="FF0000"/>
                </a:solidFill>
              </a:rPr>
              <a:t>any pods using it can mount only the </a:t>
            </a:r>
            <a:r>
              <a:rPr lang="en-US" altLang="ko-KR" sz="1400" b="1" dirty="0" err="1">
                <a:solidFill>
                  <a:srgbClr val="FF0000"/>
                </a:solidFill>
              </a:rPr>
              <a:t>ServiceAccount’s</a:t>
            </a:r>
            <a:r>
              <a:rPr lang="en-US" altLang="ko-KR" sz="1400" b="1" dirty="0">
                <a:solidFill>
                  <a:srgbClr val="FF0000"/>
                </a:solidFill>
              </a:rPr>
              <a:t> mountable Secrets</a:t>
            </a:r>
            <a:r>
              <a:rPr lang="en-US" altLang="ko-KR" sz="1400" b="1" dirty="0"/>
              <a:t>—they can’t use any other Secret</a:t>
            </a:r>
            <a:r>
              <a:rPr lang="en-US" altLang="ko-KR" sz="1400" dirty="0"/>
              <a:t>.</a:t>
            </a:r>
          </a:p>
          <a:p>
            <a:pPr lvl="1">
              <a:buFont typeface="Wingdings" panose="05000000000000000000" pitchFamily="2" charset="2"/>
              <a:buChar char="§"/>
            </a:pPr>
            <a:r>
              <a:rPr lang="en-US" altLang="ko-KR" sz="1400" b="1" dirty="0"/>
              <a:t>A </a:t>
            </a:r>
            <a:r>
              <a:rPr lang="en-US" altLang="ko-KR" sz="1400" b="1" dirty="0" err="1"/>
              <a:t>ServiceAccount</a:t>
            </a:r>
            <a:r>
              <a:rPr lang="en-US" altLang="ko-KR" sz="1400" b="1" dirty="0"/>
              <a:t> can also contain a list of </a:t>
            </a:r>
            <a:r>
              <a:rPr lang="en-US" altLang="ko-KR" sz="1400" b="1" dirty="0">
                <a:solidFill>
                  <a:srgbClr val="FF0000"/>
                </a:solidFill>
              </a:rPr>
              <a:t>image pull Secrets</a:t>
            </a:r>
            <a:r>
              <a:rPr lang="en-US" altLang="ko-KR" sz="1400" dirty="0"/>
              <a:t>. In case you don’t remember, </a:t>
            </a:r>
            <a:r>
              <a:rPr lang="en-US" altLang="ko-KR" sz="1400" b="1" dirty="0"/>
              <a:t>they are Secrets that hold the credentials for pulling container images from a private image repository</a:t>
            </a:r>
            <a:r>
              <a:rPr lang="en-US" altLang="ko-KR" sz="1400" dirty="0"/>
              <a:t>. </a:t>
            </a:r>
          </a:p>
          <a:p>
            <a:pPr lvl="1">
              <a:buFont typeface="Wingdings" panose="05000000000000000000" pitchFamily="2" charset="2"/>
              <a:buChar char="§"/>
            </a:pPr>
            <a:r>
              <a:rPr lang="en-US" altLang="ko-KR" sz="1400" dirty="0"/>
              <a:t>The following listing shows </a:t>
            </a:r>
            <a:r>
              <a:rPr lang="en-US" altLang="ko-KR" sz="1400" b="1" dirty="0"/>
              <a:t>an example of a </a:t>
            </a:r>
            <a:r>
              <a:rPr lang="en-US" altLang="ko-KR" sz="1400" b="1" dirty="0" err="1"/>
              <a:t>ServiceAccount</a:t>
            </a:r>
            <a:r>
              <a:rPr lang="en-US" altLang="ko-KR" sz="1400" b="1" dirty="0"/>
              <a:t> definition</a:t>
            </a:r>
            <a:r>
              <a:rPr lang="en-US" altLang="ko-KR" sz="1400" dirty="0"/>
              <a:t>, which includes </a:t>
            </a:r>
            <a:r>
              <a:rPr lang="en-US" altLang="ko-KR" sz="1400" b="1" dirty="0"/>
              <a:t>the image pull Secret </a:t>
            </a:r>
            <a:r>
              <a:rPr lang="en-US" altLang="ko-KR" sz="1400" dirty="0"/>
              <a:t>you created before.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 </a:t>
            </a:r>
            <a:r>
              <a:rPr lang="en-US" altLang="ko-KR" sz="1400" b="1" dirty="0" err="1"/>
              <a:t>ServiceAccount’s</a:t>
            </a:r>
            <a:r>
              <a:rPr lang="en-US" altLang="ko-KR" sz="1400" b="1" dirty="0"/>
              <a:t> image pull Secrets behave slightly differently than its mountable Secrets</a:t>
            </a:r>
            <a:r>
              <a:rPr lang="en-US" altLang="ko-KR" sz="1400" dirty="0"/>
              <a:t>. </a:t>
            </a:r>
            <a:r>
              <a:rPr lang="en-US" altLang="ko-KR" sz="1400" b="1" dirty="0"/>
              <a:t>Unlike mountable Secrets, </a:t>
            </a:r>
            <a:r>
              <a:rPr lang="en-US" altLang="ko-KR" sz="1400" b="1" dirty="0">
                <a:solidFill>
                  <a:srgbClr val="FF0000"/>
                </a:solidFill>
              </a:rPr>
              <a:t>they don’t determine which image pull Secrets a pod can use</a:t>
            </a:r>
            <a:r>
              <a:rPr lang="en-US" altLang="ko-KR" sz="1400" b="1" dirty="0"/>
              <a:t>, </a:t>
            </a:r>
            <a:r>
              <a:rPr lang="en-US" altLang="ko-KR" sz="1400" b="1" dirty="0">
                <a:solidFill>
                  <a:srgbClr val="FF0000"/>
                </a:solidFill>
              </a:rPr>
              <a:t>but which ones are added automatically to all pods using the </a:t>
            </a:r>
            <a:r>
              <a:rPr lang="en-US" altLang="ko-KR" sz="1400" b="1" dirty="0" err="1">
                <a:solidFill>
                  <a:srgbClr val="FF0000"/>
                </a:solidFill>
              </a:rPr>
              <a:t>ServiceAccount</a:t>
            </a:r>
            <a:r>
              <a:rPr lang="en-US" altLang="ko-KR" sz="1400" dirty="0"/>
              <a:t>. </a:t>
            </a:r>
            <a:r>
              <a:rPr lang="en-US" altLang="ko-KR" sz="1400" b="1" dirty="0"/>
              <a:t>Adding image pull Secrets to a </a:t>
            </a:r>
            <a:r>
              <a:rPr lang="en-US" altLang="ko-KR" sz="1400" b="1" dirty="0" err="1"/>
              <a:t>ServiceAccount</a:t>
            </a:r>
            <a:r>
              <a:rPr lang="en-US" altLang="ko-KR" sz="1400" b="1" dirty="0"/>
              <a:t> saves you from having to add them to each pod individually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719E363-68DE-8D69-06DC-D6B46514B72E}"/>
              </a:ext>
            </a:extLst>
          </p:cNvPr>
          <p:cNvSpPr txBox="1"/>
          <p:nvPr/>
        </p:nvSpPr>
        <p:spPr>
          <a:xfrm>
            <a:off x="3047326" y="2056828"/>
            <a:ext cx="6097348" cy="246221"/>
          </a:xfrm>
          <a:prstGeom prst="rect">
            <a:avLst/>
          </a:prstGeom>
          <a:noFill/>
          <a:ln>
            <a:solidFill>
              <a:schemeClr val="bg1">
                <a:lumMod val="50000"/>
              </a:schemeClr>
            </a:solidFill>
          </a:ln>
        </p:spPr>
        <p:txBody>
          <a:bodyPr wrap="square">
            <a:spAutoFit/>
          </a:bodyPr>
          <a:lstStyle/>
          <a:p>
            <a:r>
              <a:rPr lang="en-US" altLang="ko-KR" sz="1000" b="1" dirty="0"/>
              <a:t>kubernetes.io/</a:t>
            </a:r>
            <a:r>
              <a:rPr lang="en-US" altLang="ko-KR" sz="1000" b="1" dirty="0">
                <a:solidFill>
                  <a:srgbClr val="FF0000"/>
                </a:solidFill>
              </a:rPr>
              <a:t>enforce-mountable-secrets="true"</a:t>
            </a:r>
            <a:endParaRPr lang="ko-KR" altLang="en-US" sz="1000" b="1" dirty="0">
              <a:solidFill>
                <a:srgbClr val="FF0000"/>
              </a:solidFill>
            </a:endParaRPr>
          </a:p>
        </p:txBody>
      </p:sp>
      <p:grpSp>
        <p:nvGrpSpPr>
          <p:cNvPr id="12" name="그룹 11">
            <a:extLst>
              <a:ext uri="{FF2B5EF4-FFF2-40B4-BE49-F238E27FC236}">
                <a16:creationId xmlns:a16="http://schemas.microsoft.com/office/drawing/2014/main" id="{B0E87E87-0EB9-CB66-6CCD-110C6FF08578}"/>
              </a:ext>
            </a:extLst>
          </p:cNvPr>
          <p:cNvGrpSpPr/>
          <p:nvPr/>
        </p:nvGrpSpPr>
        <p:grpSpPr>
          <a:xfrm>
            <a:off x="3047326" y="4047120"/>
            <a:ext cx="6097348" cy="1015663"/>
            <a:chOff x="3047326" y="3933764"/>
            <a:chExt cx="6097348" cy="1015663"/>
          </a:xfrm>
        </p:grpSpPr>
        <p:sp>
          <p:nvSpPr>
            <p:cNvPr id="10" name="TextBox 9">
              <a:extLst>
                <a:ext uri="{FF2B5EF4-FFF2-40B4-BE49-F238E27FC236}">
                  <a16:creationId xmlns:a16="http://schemas.microsoft.com/office/drawing/2014/main" id="{7C78F874-9418-9F06-A1C3-326925121D92}"/>
                </a:ext>
              </a:extLst>
            </p:cNvPr>
            <p:cNvSpPr txBox="1"/>
            <p:nvPr/>
          </p:nvSpPr>
          <p:spPr>
            <a:xfrm>
              <a:off x="3047326" y="3933764"/>
              <a:ext cx="6097348" cy="10156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a:t>
              </a:r>
              <a:r>
                <a:rPr lang="en-US" altLang="ko-KR" sz="1000" b="1" dirty="0" err="1"/>
                <a:t>ServiceAccount</a:t>
              </a:r>
              <a:endParaRPr lang="en-US" altLang="ko-KR" sz="1000" b="1" dirty="0"/>
            </a:p>
            <a:p>
              <a:r>
                <a:rPr lang="en-US" altLang="ko-KR" sz="1000" b="1" dirty="0"/>
                <a:t>metadata:</a:t>
              </a:r>
            </a:p>
            <a:p>
              <a:r>
                <a:rPr lang="en-US" altLang="ko-KR" sz="1000" b="1" dirty="0"/>
                <a:t>  name: </a:t>
              </a:r>
              <a:r>
                <a:rPr lang="en-US" altLang="ko-KR" sz="1000" b="1" dirty="0">
                  <a:solidFill>
                    <a:srgbClr val="FF0000"/>
                  </a:solidFill>
                </a:rPr>
                <a:t>my-service-account</a:t>
              </a:r>
            </a:p>
            <a:p>
              <a:r>
                <a:rPr lang="en-US" altLang="ko-KR" sz="1000" b="1" dirty="0" err="1"/>
                <a:t>imagePullSecrets</a:t>
              </a:r>
              <a:r>
                <a:rPr lang="en-US" altLang="ko-KR" sz="1000" b="1" dirty="0"/>
                <a:t>:</a:t>
              </a:r>
            </a:p>
            <a:p>
              <a:r>
                <a:rPr lang="en-US" altLang="ko-KR" sz="1000" b="1" dirty="0"/>
                <a:t>- name: </a:t>
              </a:r>
              <a:r>
                <a:rPr lang="en-US" altLang="ko-KR" sz="1000" b="1" dirty="0">
                  <a:solidFill>
                    <a:srgbClr val="FF0000"/>
                  </a:solidFill>
                </a:rPr>
                <a:t>my-</a:t>
              </a:r>
              <a:r>
                <a:rPr lang="en-US" altLang="ko-KR" sz="1000" b="1" dirty="0" err="1">
                  <a:solidFill>
                    <a:srgbClr val="FF0000"/>
                  </a:solidFill>
                </a:rPr>
                <a:t>dockerhub</a:t>
              </a:r>
              <a:r>
                <a:rPr lang="en-US" altLang="ko-KR" sz="1000" b="1" dirty="0">
                  <a:solidFill>
                    <a:srgbClr val="FF0000"/>
                  </a:solidFill>
                </a:rPr>
                <a:t>-secret</a:t>
              </a:r>
              <a:endParaRPr lang="ko-KR" altLang="en-US" sz="1000" b="1" dirty="0">
                <a:solidFill>
                  <a:srgbClr val="FF0000"/>
                </a:solidFill>
              </a:endParaRPr>
            </a:p>
          </p:txBody>
        </p:sp>
        <p:sp>
          <p:nvSpPr>
            <p:cNvPr id="11" name="TextBox 10">
              <a:extLst>
                <a:ext uri="{FF2B5EF4-FFF2-40B4-BE49-F238E27FC236}">
                  <a16:creationId xmlns:a16="http://schemas.microsoft.com/office/drawing/2014/main" id="{2A799580-EACD-94FE-7E2A-4EC522AAE15F}"/>
                </a:ext>
              </a:extLst>
            </p:cNvPr>
            <p:cNvSpPr txBox="1"/>
            <p:nvPr/>
          </p:nvSpPr>
          <p:spPr>
            <a:xfrm>
              <a:off x="7323342" y="3933764"/>
              <a:ext cx="1821332" cy="246221"/>
            </a:xfrm>
            <a:prstGeom prst="rect">
              <a:avLst/>
            </a:prstGeom>
            <a:noFill/>
          </p:spPr>
          <p:txBody>
            <a:bodyPr wrap="none" rtlCol="0">
              <a:spAutoFit/>
            </a:bodyPr>
            <a:lstStyle/>
            <a:p>
              <a:pPr algn="l"/>
              <a:r>
                <a:rPr lang="en-US" altLang="ko-KR" sz="1000" b="1" dirty="0" err="1"/>
                <a:t>sa</a:t>
              </a:r>
              <a:r>
                <a:rPr lang="en-US" altLang="ko-KR" sz="1000" b="1" dirty="0"/>
                <a:t>-image-pull-</a:t>
              </a:r>
              <a:r>
                <a:rPr lang="en-US" altLang="ko-KR" sz="1000" b="1" dirty="0" err="1"/>
                <a:t>secrets.yaml</a:t>
              </a:r>
              <a:endParaRPr lang="ko-KR" altLang="en-US" sz="1000" b="1" dirty="0"/>
            </a:p>
          </p:txBody>
        </p:sp>
      </p:grpSp>
    </p:spTree>
    <p:extLst>
      <p:ext uri="{BB962C8B-B14F-4D97-AF65-F5344CB8AC3E}">
        <p14:creationId xmlns:p14="http://schemas.microsoft.com/office/powerpoint/2010/main" val="1504648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Authentication(11/12)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Assigning a </a:t>
            </a:r>
            <a:r>
              <a:rPr lang="en-US" altLang="ko-KR" sz="1800" b="1" dirty="0" err="1"/>
              <a:t>ServiceAccounts</a:t>
            </a:r>
            <a:r>
              <a:rPr lang="en-US" altLang="ko-KR" sz="1800" b="1" dirty="0"/>
              <a:t> to a Pod :</a:t>
            </a:r>
            <a:endParaRPr lang="en-US" altLang="ko-KR" sz="1400" dirty="0"/>
          </a:p>
          <a:p>
            <a:pPr lvl="1">
              <a:buFont typeface="Wingdings" panose="05000000000000000000" pitchFamily="2" charset="2"/>
              <a:buChar char="§"/>
            </a:pPr>
            <a:r>
              <a:rPr lang="en-US" altLang="ko-KR" sz="1400" b="1" dirty="0"/>
              <a:t>After you create additional </a:t>
            </a:r>
            <a:r>
              <a:rPr lang="en-US" altLang="ko-KR" sz="1400" b="1" dirty="0" err="1"/>
              <a:t>ServiceAccounts</a:t>
            </a:r>
            <a:r>
              <a:rPr lang="en-US" altLang="ko-KR" sz="1400" b="1" dirty="0"/>
              <a:t>, you need to assign them to pods</a:t>
            </a:r>
            <a:r>
              <a:rPr lang="en-US" altLang="ko-KR" sz="1400" dirty="0"/>
              <a:t>. </a:t>
            </a:r>
            <a:r>
              <a:rPr lang="en-US" altLang="ko-KR" sz="1400" b="1" dirty="0"/>
              <a:t>This is done by setting the name of the </a:t>
            </a:r>
            <a:r>
              <a:rPr lang="en-US" altLang="ko-KR" sz="1400" b="1" dirty="0" err="1"/>
              <a:t>ServiceAccount</a:t>
            </a:r>
            <a:r>
              <a:rPr lang="en-US" altLang="ko-KR" sz="1400" b="1" dirty="0"/>
              <a:t> in the “</a:t>
            </a:r>
            <a:r>
              <a:rPr lang="en-US" altLang="ko-KR" sz="1400" b="1" dirty="0" err="1">
                <a:solidFill>
                  <a:srgbClr val="FF0000"/>
                </a:solidFill>
              </a:rPr>
              <a:t>spec.serviceAccountName</a:t>
            </a:r>
            <a:r>
              <a:rPr lang="en-US" altLang="ko-KR" sz="1400" b="1" dirty="0"/>
              <a:t>” field in the pod definition</a:t>
            </a:r>
            <a:r>
              <a:rPr lang="en-US" altLang="ko-KR" sz="1400" dirty="0"/>
              <a:t>.</a:t>
            </a:r>
          </a:p>
          <a:p>
            <a:pPr lvl="1">
              <a:buFont typeface="Wingdings" panose="05000000000000000000" pitchFamily="2" charset="2"/>
              <a:buChar char="§"/>
            </a:pPr>
            <a:r>
              <a:rPr lang="en-US" altLang="ko-KR" sz="1400" b="1" dirty="0"/>
              <a:t>NOTE : A pod’s </a:t>
            </a:r>
            <a:r>
              <a:rPr lang="en-US" altLang="ko-KR" sz="1400" b="1" dirty="0" err="1"/>
              <a:t>ServiceAccount</a:t>
            </a:r>
            <a:r>
              <a:rPr lang="en-US" altLang="ko-KR" sz="1400" b="1" dirty="0"/>
              <a:t> must be set when creating the pod</a:t>
            </a:r>
            <a:r>
              <a:rPr lang="en-US" altLang="ko-KR" sz="1400" dirty="0"/>
              <a:t>. </a:t>
            </a:r>
            <a:r>
              <a:rPr lang="en-US" altLang="ko-KR" sz="1400" b="1" dirty="0"/>
              <a:t>It can’t be changed later</a:t>
            </a:r>
            <a:r>
              <a:rPr lang="en-US" altLang="ko-KR" sz="1400" dirty="0"/>
              <a:t>.</a:t>
            </a:r>
          </a:p>
          <a:p>
            <a:pPr lvl="1">
              <a:buFont typeface="Wingdings" panose="05000000000000000000" pitchFamily="2" charset="2"/>
              <a:buChar char="§"/>
            </a:pPr>
            <a:r>
              <a:rPr lang="en-US" altLang="ko-KR" sz="1400" dirty="0"/>
              <a:t>You already deployed a pod that ran a container based on the “</a:t>
            </a:r>
            <a:r>
              <a:rPr lang="en-US" altLang="ko-KR" sz="1400" b="1" dirty="0"/>
              <a:t>knix008/curl</a:t>
            </a:r>
            <a:r>
              <a:rPr lang="en-US" altLang="ko-KR" sz="1400" dirty="0"/>
              <a:t>” image and an </a:t>
            </a:r>
            <a:r>
              <a:rPr lang="en-US" altLang="ko-KR" sz="1400" b="1" dirty="0">
                <a:solidFill>
                  <a:srgbClr val="FF0000"/>
                </a:solidFill>
              </a:rPr>
              <a:t>ambassador</a:t>
            </a:r>
            <a:r>
              <a:rPr lang="en-US" altLang="ko-KR" sz="1400" b="1" dirty="0"/>
              <a:t> container </a:t>
            </a:r>
            <a:r>
              <a:rPr lang="en-US" altLang="ko-KR" sz="1400" dirty="0"/>
              <a:t>alongside it before. You used it to </a:t>
            </a:r>
            <a:r>
              <a:rPr lang="en-US" altLang="ko-KR" sz="1400" b="1" dirty="0"/>
              <a:t>explore the API server’s REST interface</a:t>
            </a:r>
            <a:r>
              <a:rPr lang="en-US" altLang="ko-KR" sz="1400" dirty="0"/>
              <a:t>. </a:t>
            </a:r>
            <a:r>
              <a:rPr lang="en-US" altLang="ko-KR" sz="1400" b="1" dirty="0"/>
              <a:t>The ambassador container ran the “</a:t>
            </a:r>
            <a:r>
              <a:rPr lang="en-US" altLang="ko-KR" sz="1400" b="1" dirty="0" err="1">
                <a:solidFill>
                  <a:srgbClr val="FF0000"/>
                </a:solidFill>
              </a:rPr>
              <a:t>kubectl</a:t>
            </a:r>
            <a:r>
              <a:rPr lang="en-US" altLang="ko-KR" sz="1400" b="1" dirty="0">
                <a:solidFill>
                  <a:srgbClr val="FF0000"/>
                </a:solidFill>
              </a:rPr>
              <a:t> proxy</a:t>
            </a:r>
            <a:r>
              <a:rPr lang="en-US" altLang="ko-KR" sz="1400" b="1" dirty="0"/>
              <a:t>” process, which used the pod’s </a:t>
            </a:r>
            <a:r>
              <a:rPr lang="en-US" altLang="ko-KR" sz="1400" b="1" dirty="0" err="1"/>
              <a:t>ServiceAccount’s</a:t>
            </a:r>
            <a:r>
              <a:rPr lang="en-US" altLang="ko-KR" sz="1400" b="1" dirty="0"/>
              <a:t> token to authenticate with the API server</a:t>
            </a:r>
            <a:r>
              <a:rPr lang="en-US" altLang="ko-KR" sz="1400" dirty="0"/>
              <a:t>. </a:t>
            </a:r>
          </a:p>
          <a:p>
            <a:pPr lvl="1">
              <a:buFont typeface="Wingdings" panose="05000000000000000000" pitchFamily="2" charset="2"/>
              <a:buChar char="§"/>
            </a:pPr>
            <a:r>
              <a:rPr lang="en-US" altLang="ko-KR" sz="1400" dirty="0"/>
              <a:t>You can now </a:t>
            </a:r>
            <a:r>
              <a:rPr lang="en-US" altLang="ko-KR" sz="1400" b="1" dirty="0"/>
              <a:t>modify the pod so it uses the foo </a:t>
            </a:r>
            <a:r>
              <a:rPr lang="en-US" altLang="ko-KR" sz="1400" b="1" dirty="0" err="1"/>
              <a:t>ServiceAccount</a:t>
            </a:r>
            <a:r>
              <a:rPr lang="en-US" altLang="ko-KR" sz="1400" dirty="0"/>
              <a:t> you created minutes ago. The next listing shows the pod definition.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AE4E76C-D12C-E169-991C-CB9A32BD8CF1}"/>
              </a:ext>
            </a:extLst>
          </p:cNvPr>
          <p:cNvGrpSpPr/>
          <p:nvPr/>
        </p:nvGrpSpPr>
        <p:grpSpPr>
          <a:xfrm>
            <a:off x="3047326" y="3322732"/>
            <a:ext cx="6097348" cy="1938992"/>
            <a:chOff x="3047326" y="2990958"/>
            <a:chExt cx="6097348" cy="1938992"/>
          </a:xfrm>
        </p:grpSpPr>
        <p:sp>
          <p:nvSpPr>
            <p:cNvPr id="8" name="TextBox 7">
              <a:extLst>
                <a:ext uri="{FF2B5EF4-FFF2-40B4-BE49-F238E27FC236}">
                  <a16:creationId xmlns:a16="http://schemas.microsoft.com/office/drawing/2014/main" id="{E663BCC1-40EA-AB7F-C8C7-DE526DB139E1}"/>
                </a:ext>
              </a:extLst>
            </p:cNvPr>
            <p:cNvSpPr txBox="1"/>
            <p:nvPr/>
          </p:nvSpPr>
          <p:spPr>
            <a:xfrm>
              <a:off x="3047326" y="2990958"/>
              <a:ext cx="6097348"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curl-custom-</a:t>
              </a:r>
              <a:r>
                <a:rPr lang="en-US" altLang="ko-KR" sz="1000" b="1" dirty="0" err="1"/>
                <a:t>sa</a:t>
              </a:r>
              <a:endParaRPr lang="en-US" altLang="ko-KR" sz="1000" b="1" dirty="0"/>
            </a:p>
            <a:p>
              <a:r>
                <a:rPr lang="en-US" altLang="ko-KR" sz="1000" b="1" dirty="0"/>
                <a:t>spec:</a:t>
              </a:r>
            </a:p>
            <a:p>
              <a:r>
                <a:rPr lang="en-US" altLang="ko-KR" sz="1000" b="1" dirty="0">
                  <a:solidFill>
                    <a:srgbClr val="FF0000"/>
                  </a:solidFill>
                </a:rPr>
                <a:t>  </a:t>
              </a:r>
              <a:r>
                <a:rPr lang="en-US" altLang="ko-KR" sz="1000" b="1" dirty="0" err="1">
                  <a:solidFill>
                    <a:srgbClr val="FF0000"/>
                  </a:solidFill>
                </a:rPr>
                <a:t>serviceAccountName</a:t>
              </a:r>
              <a:r>
                <a:rPr lang="en-US" altLang="ko-KR" sz="1000" b="1" dirty="0">
                  <a:solidFill>
                    <a:srgbClr val="FF0000"/>
                  </a:solidFill>
                </a:rPr>
                <a:t>: foo</a:t>
              </a:r>
            </a:p>
            <a:p>
              <a:r>
                <a:rPr lang="en-US" altLang="ko-KR" sz="1000" b="1" dirty="0"/>
                <a:t>  containers:</a:t>
              </a:r>
            </a:p>
            <a:p>
              <a:r>
                <a:rPr lang="en-US" altLang="ko-KR" sz="1000" b="1" dirty="0"/>
                <a:t>  - name: main</a:t>
              </a:r>
            </a:p>
            <a:p>
              <a:r>
                <a:rPr lang="en-US" altLang="ko-KR" sz="1000" b="1" dirty="0">
                  <a:solidFill>
                    <a:srgbClr val="FF0000"/>
                  </a:solidFill>
                </a:rPr>
                <a:t>    image: knix008/</a:t>
              </a:r>
              <a:r>
                <a:rPr lang="en-US" altLang="ko-KR" sz="1000" b="1" dirty="0" err="1">
                  <a:solidFill>
                    <a:srgbClr val="FF0000"/>
                  </a:solidFill>
                </a:rPr>
                <a:t>curl:latest</a:t>
              </a:r>
              <a:endParaRPr lang="en-US" altLang="ko-KR" sz="1000" b="1" dirty="0">
                <a:solidFill>
                  <a:srgbClr val="FF0000"/>
                </a:solidFill>
              </a:endParaRPr>
            </a:p>
            <a:p>
              <a:r>
                <a:rPr lang="en-US" altLang="ko-KR" sz="1000" b="1" dirty="0"/>
                <a:t>    command: ["sleep", "9999999"]</a:t>
              </a:r>
            </a:p>
            <a:p>
              <a:r>
                <a:rPr lang="en-US" altLang="ko-KR" sz="1000" b="1" dirty="0"/>
                <a:t>  - name: ambassador</a:t>
              </a:r>
            </a:p>
            <a:p>
              <a:r>
                <a:rPr lang="en-US" altLang="ko-KR" sz="1000" b="1" dirty="0">
                  <a:solidFill>
                    <a:srgbClr val="FF0000"/>
                  </a:solidFill>
                </a:rPr>
                <a:t>    image: knix008/</a:t>
              </a:r>
              <a:r>
                <a:rPr lang="en-US" altLang="ko-KR" sz="1000" b="1" dirty="0" err="1">
                  <a:solidFill>
                    <a:srgbClr val="FF0000"/>
                  </a:solidFill>
                </a:rPr>
                <a:t>kubectl-proxy:latest</a:t>
              </a:r>
              <a:endParaRPr lang="en-US" altLang="ko-KR" sz="1000" b="1" dirty="0">
                <a:solidFill>
                  <a:srgbClr val="FF0000"/>
                </a:solidFill>
              </a:endParaRPr>
            </a:p>
          </p:txBody>
        </p:sp>
        <p:sp>
          <p:nvSpPr>
            <p:cNvPr id="9" name="TextBox 8">
              <a:extLst>
                <a:ext uri="{FF2B5EF4-FFF2-40B4-BE49-F238E27FC236}">
                  <a16:creationId xmlns:a16="http://schemas.microsoft.com/office/drawing/2014/main" id="{29D49970-C24A-D179-AF27-25E5DE5EFC6C}"/>
                </a:ext>
              </a:extLst>
            </p:cNvPr>
            <p:cNvSpPr txBox="1"/>
            <p:nvPr/>
          </p:nvSpPr>
          <p:spPr>
            <a:xfrm>
              <a:off x="7725696" y="2990958"/>
              <a:ext cx="1418978" cy="246221"/>
            </a:xfrm>
            <a:prstGeom prst="rect">
              <a:avLst/>
            </a:prstGeom>
            <a:noFill/>
          </p:spPr>
          <p:txBody>
            <a:bodyPr wrap="none" rtlCol="0">
              <a:spAutoFit/>
            </a:bodyPr>
            <a:lstStyle/>
            <a:p>
              <a:pPr algn="l"/>
              <a:r>
                <a:rPr lang="en-US" altLang="ko-KR" sz="1000" b="1" dirty="0"/>
                <a:t>curl-custom-</a:t>
              </a:r>
              <a:r>
                <a:rPr lang="en-US" altLang="ko-KR" sz="1000" b="1" dirty="0" err="1"/>
                <a:t>sa.yaml</a:t>
              </a:r>
              <a:endParaRPr lang="ko-KR" altLang="en-US" sz="1000" b="1" dirty="0"/>
            </a:p>
          </p:txBody>
        </p:sp>
      </p:grpSp>
    </p:spTree>
    <p:extLst>
      <p:ext uri="{BB962C8B-B14F-4D97-AF65-F5344CB8AC3E}">
        <p14:creationId xmlns:p14="http://schemas.microsoft.com/office/powerpoint/2010/main" val="248546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Understanding Authentication(12/12)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Assigning a </a:t>
            </a:r>
            <a:r>
              <a:rPr lang="en-US" altLang="ko-KR" sz="1800" b="1" dirty="0" err="1"/>
              <a:t>ServiceAccounts</a:t>
            </a:r>
            <a:r>
              <a:rPr lang="en-US" altLang="ko-KR" sz="1800" b="1" dirty="0"/>
              <a:t> to a Pod :</a:t>
            </a:r>
            <a:endParaRPr lang="en-US" altLang="ko-KR" sz="1400" dirty="0"/>
          </a:p>
          <a:p>
            <a:pPr lvl="1">
              <a:buFont typeface="Wingdings" panose="05000000000000000000" pitchFamily="2" charset="2"/>
              <a:buChar char="§"/>
            </a:pPr>
            <a:r>
              <a:rPr lang="en-US" altLang="ko-KR" sz="1400" b="1" dirty="0"/>
              <a:t>To confirm that the custom </a:t>
            </a:r>
            <a:r>
              <a:rPr lang="en-US" altLang="ko-KR" sz="1400" b="1" dirty="0" err="1"/>
              <a:t>ServiceAccount’s</a:t>
            </a:r>
            <a:r>
              <a:rPr lang="en-US" altLang="ko-KR" sz="1400" b="1" dirty="0"/>
              <a:t> token is mounted into the two containers, you can print the contents of the token</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token is the one from the “foo” </a:t>
            </a:r>
            <a:r>
              <a:rPr lang="en-US" altLang="ko-KR" sz="1400" b="1" dirty="0" err="1"/>
              <a:t>ServiceAccount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8C4BFDC-55E6-9B35-0EB4-D438FE8DBDD1}"/>
              </a:ext>
            </a:extLst>
          </p:cNvPr>
          <p:cNvGrpSpPr/>
          <p:nvPr/>
        </p:nvGrpSpPr>
        <p:grpSpPr>
          <a:xfrm>
            <a:off x="1040163" y="1731277"/>
            <a:ext cx="10111673" cy="2838849"/>
            <a:chOff x="1040163" y="1779829"/>
            <a:chExt cx="10111673" cy="2838849"/>
          </a:xfrm>
        </p:grpSpPr>
        <p:sp>
          <p:nvSpPr>
            <p:cNvPr id="8" name="TextBox 7">
              <a:extLst>
                <a:ext uri="{FF2B5EF4-FFF2-40B4-BE49-F238E27FC236}">
                  <a16:creationId xmlns:a16="http://schemas.microsoft.com/office/drawing/2014/main" id="{FC9C34ED-CA95-2298-8ED0-64F71CC3E11F}"/>
                </a:ext>
              </a:extLst>
            </p:cNvPr>
            <p:cNvSpPr txBox="1"/>
            <p:nvPr/>
          </p:nvSpPr>
          <p:spPr>
            <a:xfrm>
              <a:off x="2886497" y="1779829"/>
              <a:ext cx="6419006"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curl-custom-</a:t>
              </a:r>
              <a:r>
                <a:rPr lang="en-US" altLang="ko-KR" sz="1000" b="1" dirty="0" err="1">
                  <a:solidFill>
                    <a:srgbClr val="FF0000"/>
                  </a:solidFill>
                </a:rPr>
                <a:t>sa.yaml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curl-custom-</a:t>
              </a:r>
              <a:r>
                <a:rPr lang="en-US" altLang="ko-KR" sz="1000" b="1" dirty="0" err="1"/>
                <a:t>sa</a:t>
              </a:r>
              <a:r>
                <a:rPr lang="en-US" altLang="ko-KR" sz="1000" b="1" dirty="0"/>
                <a:t> </a:t>
              </a:r>
              <a:r>
                <a:rPr lang="en-US" altLang="ko-KR" sz="1000" b="1" dirty="0">
                  <a:solidFill>
                    <a:srgbClr val="FF0000"/>
                  </a:solidFill>
                </a:rPr>
                <a:t>-c main -- cat /var/run/secrets/kubernetes.io/</a:t>
              </a:r>
              <a:r>
                <a:rPr lang="en-US" altLang="ko-KR" sz="1000" b="1" dirty="0" err="1">
                  <a:solidFill>
                    <a:srgbClr val="FF0000"/>
                  </a:solidFill>
                </a:rPr>
                <a:t>serviceaccount</a:t>
              </a:r>
              <a:r>
                <a:rPr lang="en-US" altLang="ko-KR" sz="1000" b="1" dirty="0">
                  <a:solidFill>
                    <a:srgbClr val="FF0000"/>
                  </a:solidFill>
                </a:rPr>
                <a:t>/token</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57F67127-E352-E426-EA3E-7E0AD1FE1EDA}"/>
                </a:ext>
              </a:extLst>
            </p:cNvPr>
            <p:cNvPicPr>
              <a:picLocks noChangeAspect="1"/>
            </p:cNvPicPr>
            <p:nvPr/>
          </p:nvPicPr>
          <p:blipFill>
            <a:blip r:embed="rId2"/>
            <a:stretch>
              <a:fillRect/>
            </a:stretch>
          </p:blipFill>
          <p:spPr>
            <a:xfrm>
              <a:off x="1040163" y="2512079"/>
              <a:ext cx="10111673" cy="2106599"/>
            </a:xfrm>
            <a:prstGeom prst="rect">
              <a:avLst/>
            </a:prstGeom>
          </p:spPr>
        </p:pic>
        <p:sp>
          <p:nvSpPr>
            <p:cNvPr id="11" name="화살표: 아래쪽 10">
              <a:extLst>
                <a:ext uri="{FF2B5EF4-FFF2-40B4-BE49-F238E27FC236}">
                  <a16:creationId xmlns:a16="http://schemas.microsoft.com/office/drawing/2014/main" id="{E09E32CC-354D-1AB4-5F0F-93D14436EC38}"/>
                </a:ext>
              </a:extLst>
            </p:cNvPr>
            <p:cNvSpPr/>
            <p:nvPr/>
          </p:nvSpPr>
          <p:spPr>
            <a:xfrm>
              <a:off x="5861330" y="2197897"/>
              <a:ext cx="469338" cy="29622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761085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RBAC :</a:t>
            </a:r>
            <a:endParaRPr lang="en-US" altLang="ko-KR" sz="1400" dirty="0"/>
          </a:p>
          <a:p>
            <a:pPr lvl="1">
              <a:buFont typeface="Wingdings" panose="05000000000000000000" pitchFamily="2" charset="2"/>
              <a:buChar char="§"/>
            </a:pPr>
            <a:r>
              <a:rPr lang="en-US" altLang="ko-KR" sz="1400" b="1" dirty="0"/>
              <a:t>Starting with Kubernetes version 1.6.0, cluster security was ramped up considerably</a:t>
            </a:r>
            <a:r>
              <a:rPr lang="en-US" altLang="ko-KR" sz="1400" dirty="0"/>
              <a:t>. In earlier versions, if you managed to acquire the authentication token from one of the pods, you could use it to do anything you want in the cluster. If you google around, you’ll find demos showing how </a:t>
            </a:r>
            <a:r>
              <a:rPr lang="en-US" altLang="ko-KR" sz="1400" b="1" dirty="0"/>
              <a:t>a path traversal (or directory traversal) attack (where clients can retrieve files located outside of the web server’s web root directory) can be used to get the token and use it to run your malicious pods in an insecure Kubernetes cluster</a:t>
            </a:r>
            <a:r>
              <a:rPr lang="en-US" altLang="ko-KR" sz="1400" dirty="0"/>
              <a:t>.</a:t>
            </a:r>
          </a:p>
          <a:p>
            <a:pPr lvl="1">
              <a:buFont typeface="Wingdings" panose="05000000000000000000" pitchFamily="2" charset="2"/>
              <a:buChar char="§"/>
            </a:pPr>
            <a:r>
              <a:rPr lang="en-US" altLang="ko-KR" sz="1400" b="1" dirty="0"/>
              <a:t>But in version 1.8.0, the RBAC authorization plugin graduated to GA (General Availability) and is now enabled by default on many clusters </a:t>
            </a:r>
            <a:r>
              <a:rPr lang="en-US" altLang="ko-KR" sz="1400" dirty="0"/>
              <a:t>(</a:t>
            </a:r>
            <a:r>
              <a:rPr lang="en-US" altLang="ko-KR" sz="1400" b="1" dirty="0"/>
              <a:t>for example, when deploying a cluster with </a:t>
            </a:r>
            <a:r>
              <a:rPr lang="en-US" altLang="ko-KR" sz="1400" b="1" dirty="0" err="1">
                <a:solidFill>
                  <a:srgbClr val="FF0000"/>
                </a:solidFill>
              </a:rPr>
              <a:t>kubadm</a:t>
            </a:r>
            <a:r>
              <a:rPr lang="en-US" altLang="ko-KR" sz="1400" dirty="0"/>
              <a:t>). </a:t>
            </a:r>
            <a:r>
              <a:rPr lang="en-US" altLang="ko-KR" sz="1400" b="1" dirty="0">
                <a:solidFill>
                  <a:srgbClr val="FF0000"/>
                </a:solidFill>
              </a:rPr>
              <a:t>RBAC prevents unauthorized users from viewing or modifying the cluster state</a:t>
            </a:r>
            <a:r>
              <a:rPr lang="en-US" altLang="ko-KR" sz="1400" dirty="0"/>
              <a:t>. </a:t>
            </a:r>
            <a:r>
              <a:rPr lang="en-US" altLang="ko-KR" sz="1400" b="1" dirty="0"/>
              <a:t>The default </a:t>
            </a:r>
            <a:r>
              <a:rPr lang="en-US" altLang="ko-KR" sz="1400" b="1" dirty="0" err="1"/>
              <a:t>ServiceAccount</a:t>
            </a:r>
            <a:r>
              <a:rPr lang="en-US" altLang="ko-KR" sz="1400" b="1" dirty="0"/>
              <a:t> isn’t allowed to view cluster state</a:t>
            </a:r>
            <a:r>
              <a:rPr lang="en-US" altLang="ko-KR" sz="1400" dirty="0"/>
              <a:t>, let alone modify it in any way, unless you grant it additional privileges. </a:t>
            </a:r>
            <a:r>
              <a:rPr lang="en-US" altLang="ko-KR" sz="1400" b="1" dirty="0"/>
              <a:t>To write apps that communicate with the Kubernetes API server, you need to understand how to manage authorization through RBAC-specific resources</a:t>
            </a:r>
            <a:r>
              <a:rPr lang="en-US" altLang="ko-KR" sz="1400" dirty="0"/>
              <a:t>.</a:t>
            </a:r>
          </a:p>
          <a:p>
            <a:pPr lvl="1">
              <a:buFont typeface="Wingdings" panose="05000000000000000000" pitchFamily="2" charset="2"/>
              <a:buChar char="§"/>
            </a:pPr>
            <a:r>
              <a:rPr lang="en-US" altLang="ko-KR" sz="1400" b="1" dirty="0"/>
              <a:t>NOTE : In addition to RBAC, Kubernetes also includes other authorization plugins, such as the Attribute-based access control (</a:t>
            </a:r>
            <a:r>
              <a:rPr lang="en-US" altLang="ko-KR" sz="1400" b="1" dirty="0">
                <a:solidFill>
                  <a:srgbClr val="FF0000"/>
                </a:solidFill>
              </a:rPr>
              <a:t>ABAC</a:t>
            </a:r>
            <a:r>
              <a:rPr lang="en-US" altLang="ko-KR" sz="1400" b="1" dirty="0"/>
              <a:t>) plugin</a:t>
            </a:r>
            <a:r>
              <a:rPr lang="en-US" altLang="ko-KR" sz="1400" dirty="0"/>
              <a:t>, </a:t>
            </a:r>
            <a:r>
              <a:rPr lang="en-US" altLang="ko-KR" sz="1400" b="1" dirty="0"/>
              <a:t>a </a:t>
            </a:r>
            <a:r>
              <a:rPr lang="en-US" altLang="ko-KR" sz="1400" b="1" dirty="0" err="1">
                <a:solidFill>
                  <a:srgbClr val="FF0000"/>
                </a:solidFill>
              </a:rPr>
              <a:t>WebHook</a:t>
            </a:r>
            <a:r>
              <a:rPr lang="en-US" altLang="ko-KR" sz="1400" b="1" dirty="0"/>
              <a:t> plugin and custom plugin implementations</a:t>
            </a:r>
            <a:r>
              <a:rPr lang="en-US" altLang="ko-KR" sz="1400" dirty="0"/>
              <a:t>. RBAC is the standard, though.</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1" name="그림 10">
            <a:extLst>
              <a:ext uri="{FF2B5EF4-FFF2-40B4-BE49-F238E27FC236}">
                <a16:creationId xmlns:a16="http://schemas.microsoft.com/office/drawing/2014/main" id="{05B4B208-8CA2-2172-B999-6B9A3CC853EE}"/>
              </a:ext>
            </a:extLst>
          </p:cNvPr>
          <p:cNvPicPr>
            <a:picLocks noChangeAspect="1"/>
          </p:cNvPicPr>
          <p:nvPr/>
        </p:nvPicPr>
        <p:blipFill>
          <a:blip r:embed="rId2"/>
          <a:stretch>
            <a:fillRect/>
          </a:stretch>
        </p:blipFill>
        <p:spPr>
          <a:xfrm>
            <a:off x="4311095" y="3687198"/>
            <a:ext cx="3569809" cy="2721832"/>
          </a:xfrm>
          <a:prstGeom prst="rect">
            <a:avLst/>
          </a:prstGeom>
        </p:spPr>
      </p:pic>
    </p:spTree>
    <p:extLst>
      <p:ext uri="{BB962C8B-B14F-4D97-AF65-F5344CB8AC3E}">
        <p14:creationId xmlns:p14="http://schemas.microsoft.com/office/powerpoint/2010/main" val="3310717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RBAC :</a:t>
            </a:r>
            <a:endParaRPr lang="en-US" altLang="ko-KR" sz="1400" dirty="0"/>
          </a:p>
          <a:p>
            <a:pPr lvl="1">
              <a:buFont typeface="Wingdings" panose="05000000000000000000" pitchFamily="2" charset="2"/>
              <a:buChar char="§"/>
            </a:pPr>
            <a:r>
              <a:rPr lang="en-US" altLang="ko-KR" sz="1400" dirty="0"/>
              <a:t>When you </a:t>
            </a:r>
            <a:r>
              <a:rPr lang="en-US" altLang="ko-KR" sz="1400" b="1" dirty="0"/>
              <a:t>run the following command</a:t>
            </a:r>
            <a:r>
              <a:rPr lang="en-US" altLang="ko-KR" sz="1400" dirty="0"/>
              <a:t>, you can find </a:t>
            </a:r>
            <a:r>
              <a:rPr lang="en-US" altLang="ko-KR" sz="1400" b="1" dirty="0"/>
              <a:t>the error response from the API server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From the above screenshot, the “foo” is the default </a:t>
            </a:r>
            <a:r>
              <a:rPr lang="en-US" altLang="ko-KR" sz="1400" b="1" dirty="0" err="1"/>
              <a:t>ServiceAccount</a:t>
            </a:r>
            <a:r>
              <a:rPr lang="en-US" altLang="ko-KR" sz="1400" b="1" dirty="0"/>
              <a:t>. And it cannot list all the pods in cluster scope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8FE97FD-997D-8437-BA8D-0FF5D469D397}"/>
              </a:ext>
            </a:extLst>
          </p:cNvPr>
          <p:cNvGrpSpPr/>
          <p:nvPr/>
        </p:nvGrpSpPr>
        <p:grpSpPr>
          <a:xfrm>
            <a:off x="1334149" y="1554188"/>
            <a:ext cx="9523702" cy="3025904"/>
            <a:chOff x="1334149" y="1554188"/>
            <a:chExt cx="9523702" cy="3025904"/>
          </a:xfrm>
        </p:grpSpPr>
        <p:grpSp>
          <p:nvGrpSpPr>
            <p:cNvPr id="10" name="그룹 9">
              <a:extLst>
                <a:ext uri="{FF2B5EF4-FFF2-40B4-BE49-F238E27FC236}">
                  <a16:creationId xmlns:a16="http://schemas.microsoft.com/office/drawing/2014/main" id="{385A2B84-79C4-6E6E-2BF0-67049567DDCF}"/>
                </a:ext>
              </a:extLst>
            </p:cNvPr>
            <p:cNvGrpSpPr/>
            <p:nvPr/>
          </p:nvGrpSpPr>
          <p:grpSpPr>
            <a:xfrm>
              <a:off x="1334149" y="1554188"/>
              <a:ext cx="9523702" cy="3025904"/>
              <a:chOff x="1334149" y="1554188"/>
              <a:chExt cx="9523702" cy="3025904"/>
            </a:xfrm>
          </p:grpSpPr>
          <p:sp>
            <p:nvSpPr>
              <p:cNvPr id="4" name="TextBox 3">
                <a:extLst>
                  <a:ext uri="{FF2B5EF4-FFF2-40B4-BE49-F238E27FC236}">
                    <a16:creationId xmlns:a16="http://schemas.microsoft.com/office/drawing/2014/main" id="{E5A8FBC1-F95B-1C7F-A048-346C8BACC6B9}"/>
                  </a:ext>
                </a:extLst>
              </p:cNvPr>
              <p:cNvSpPr txBox="1"/>
              <p:nvPr/>
            </p:nvSpPr>
            <p:spPr>
              <a:xfrm>
                <a:off x="2902680" y="1554188"/>
                <a:ext cx="638664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curl-custom-</a:t>
                </a:r>
                <a:r>
                  <a:rPr lang="en-US" altLang="ko-KR" sz="1000" b="1" dirty="0" err="1"/>
                  <a:t>sa</a:t>
                </a:r>
                <a:r>
                  <a:rPr lang="en-US" altLang="ko-KR" sz="1000" b="1" dirty="0"/>
                  <a:t> -c main </a:t>
                </a:r>
                <a:r>
                  <a:rPr lang="en-US" altLang="ko-KR" sz="1000" b="1" dirty="0">
                    <a:solidFill>
                      <a:srgbClr val="FF0000"/>
                    </a:solidFill>
                  </a:rPr>
                  <a:t>– curl localhost:8001/</a:t>
                </a:r>
                <a:r>
                  <a:rPr lang="en-US" altLang="ko-KR" sz="1000" b="1" dirty="0" err="1">
                    <a:solidFill>
                      <a:srgbClr val="FF0000"/>
                    </a:solidFill>
                  </a:rPr>
                  <a:t>api</a:t>
                </a:r>
                <a:r>
                  <a:rPr lang="en-US" altLang="ko-KR" sz="1000" b="1" dirty="0">
                    <a:solidFill>
                      <a:srgbClr val="FF0000"/>
                    </a:solidFill>
                  </a:rPr>
                  <a:t>/v1/pods</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B8B4522-84CA-6805-A8B6-2A44AE1A6641}"/>
                  </a:ext>
                </a:extLst>
              </p:cNvPr>
              <p:cNvPicPr>
                <a:picLocks noChangeAspect="1"/>
              </p:cNvPicPr>
              <p:nvPr/>
            </p:nvPicPr>
            <p:blipFill>
              <a:blip r:embed="rId2"/>
              <a:stretch>
                <a:fillRect/>
              </a:stretch>
            </p:blipFill>
            <p:spPr>
              <a:xfrm>
                <a:off x="1334149" y="2103929"/>
                <a:ext cx="9523702" cy="2476163"/>
              </a:xfrm>
              <a:prstGeom prst="rect">
                <a:avLst/>
              </a:prstGeom>
            </p:spPr>
          </p:pic>
          <p:sp>
            <p:nvSpPr>
              <p:cNvPr id="9" name="화살표: 아래쪽 8">
                <a:extLst>
                  <a:ext uri="{FF2B5EF4-FFF2-40B4-BE49-F238E27FC236}">
                    <a16:creationId xmlns:a16="http://schemas.microsoft.com/office/drawing/2014/main" id="{02E0CD50-00FF-D330-5388-F3B2B3371690}"/>
                  </a:ext>
                </a:extLst>
              </p:cNvPr>
              <p:cNvSpPr/>
              <p:nvPr/>
            </p:nvSpPr>
            <p:spPr>
              <a:xfrm>
                <a:off x="5877515" y="1800409"/>
                <a:ext cx="436970" cy="3035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1FCD3D73-AC60-9069-1DD6-35DA9450824C}"/>
                </a:ext>
              </a:extLst>
            </p:cNvPr>
            <p:cNvSpPr/>
            <p:nvPr/>
          </p:nvSpPr>
          <p:spPr>
            <a:xfrm>
              <a:off x="3503851" y="3350103"/>
              <a:ext cx="2802542"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08435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RBAC Authorization Plugin :</a:t>
            </a:r>
            <a:endParaRPr lang="en-US" altLang="ko-KR" sz="1400" dirty="0"/>
          </a:p>
          <a:p>
            <a:pPr lvl="1">
              <a:buFont typeface="Wingdings" panose="05000000000000000000" pitchFamily="2" charset="2"/>
              <a:buChar char="§"/>
            </a:pPr>
            <a:r>
              <a:rPr lang="en-US" altLang="ko-KR" sz="1400" b="1" dirty="0"/>
              <a:t>The Kubernetes API server can be configured to use an authorization plugin to check whether an action is allowed to be performed by the user requesting the action</a:t>
            </a:r>
            <a:r>
              <a:rPr lang="en-US" altLang="ko-KR" sz="1400" dirty="0"/>
              <a:t>. </a:t>
            </a:r>
            <a:r>
              <a:rPr lang="en-US" altLang="ko-KR" sz="1400" b="1" dirty="0"/>
              <a:t>Because </a:t>
            </a:r>
            <a:r>
              <a:rPr lang="en-US" altLang="ko-KR" sz="1400" b="1" dirty="0">
                <a:solidFill>
                  <a:srgbClr val="FF0000"/>
                </a:solidFill>
              </a:rPr>
              <a:t>the API server exposes a REST interface</a:t>
            </a:r>
            <a:r>
              <a:rPr lang="en-US" altLang="ko-KR" sz="1400" b="1" dirty="0"/>
              <a:t>, users perform actions by sending HTTP requests to the server</a:t>
            </a:r>
            <a:r>
              <a:rPr lang="en-US" altLang="ko-KR" sz="1400" dirty="0"/>
              <a:t>. </a:t>
            </a:r>
            <a:r>
              <a:rPr lang="en-US" altLang="ko-KR" sz="1400" b="1" dirty="0"/>
              <a:t>Users authenticate themselves by including credentials in the request (</a:t>
            </a:r>
            <a:r>
              <a:rPr lang="en-US" altLang="ko-KR" sz="1400" b="1" dirty="0">
                <a:solidFill>
                  <a:srgbClr val="FF0000"/>
                </a:solidFill>
              </a:rPr>
              <a:t>an authentication token</a:t>
            </a:r>
            <a:r>
              <a:rPr lang="en-US" altLang="ko-KR" sz="1400" b="1" dirty="0"/>
              <a:t>, </a:t>
            </a:r>
            <a:r>
              <a:rPr lang="en-US" altLang="ko-KR" sz="1400" b="1" dirty="0">
                <a:solidFill>
                  <a:srgbClr val="FF0000"/>
                </a:solidFill>
              </a:rPr>
              <a:t>username</a:t>
            </a:r>
            <a:r>
              <a:rPr lang="en-US" altLang="ko-KR" sz="1400" b="1" dirty="0"/>
              <a:t> and </a:t>
            </a:r>
            <a:r>
              <a:rPr lang="en-US" altLang="ko-KR" sz="1400" b="1" dirty="0">
                <a:solidFill>
                  <a:srgbClr val="FF0000"/>
                </a:solidFill>
              </a:rPr>
              <a:t>password</a:t>
            </a:r>
            <a:r>
              <a:rPr lang="en-US" altLang="ko-KR" sz="1400" b="1" dirty="0"/>
              <a:t>, or </a:t>
            </a:r>
            <a:r>
              <a:rPr lang="en-US" altLang="ko-KR" sz="1400" b="1" dirty="0">
                <a:solidFill>
                  <a:srgbClr val="FF0000"/>
                </a:solidFill>
              </a:rPr>
              <a:t>a client certificate</a:t>
            </a:r>
            <a:r>
              <a:rPr lang="en-US" altLang="ko-KR" sz="1400" b="1" dirty="0"/>
              <a:t>).</a:t>
            </a:r>
          </a:p>
          <a:p>
            <a:pPr lvl="1">
              <a:buFont typeface="Wingdings" panose="05000000000000000000" pitchFamily="2" charset="2"/>
              <a:buChar char="§"/>
            </a:pPr>
            <a:r>
              <a:rPr lang="en-US" altLang="ko-KR" sz="1400" b="1" dirty="0"/>
              <a:t>REST clients send </a:t>
            </a:r>
            <a:r>
              <a:rPr lang="en-US" altLang="ko-KR" sz="1400" b="1" dirty="0">
                <a:solidFill>
                  <a:srgbClr val="FF0000"/>
                </a:solidFill>
              </a:rPr>
              <a:t>GET, POST, PUT, DELETE</a:t>
            </a:r>
            <a:r>
              <a:rPr lang="en-US" altLang="ko-KR" sz="1400" b="1" dirty="0"/>
              <a:t>, and other types of </a:t>
            </a:r>
            <a:r>
              <a:rPr lang="en-US" altLang="ko-KR" sz="1400" b="1" dirty="0">
                <a:solidFill>
                  <a:srgbClr val="FF0000"/>
                </a:solidFill>
              </a:rPr>
              <a:t>HTTP requests </a:t>
            </a:r>
            <a:r>
              <a:rPr lang="en-US" altLang="ko-KR" sz="1400" b="1" dirty="0"/>
              <a:t>to specific URL paths</a:t>
            </a:r>
            <a:r>
              <a:rPr lang="en-US" altLang="ko-KR" sz="1400" dirty="0"/>
              <a:t>, </a:t>
            </a:r>
            <a:r>
              <a:rPr lang="en-US" altLang="ko-KR" sz="1400" b="1" dirty="0"/>
              <a:t>which represent specific REST resources</a:t>
            </a:r>
            <a:r>
              <a:rPr lang="en-US" altLang="ko-KR" sz="1400" dirty="0"/>
              <a:t>. In Kubernetes, those resources are </a:t>
            </a:r>
            <a:r>
              <a:rPr lang="en-US" altLang="ko-KR" sz="1400" b="1" dirty="0"/>
              <a:t>Pods</a:t>
            </a:r>
            <a:r>
              <a:rPr lang="en-US" altLang="ko-KR" sz="1400" dirty="0"/>
              <a:t>, </a:t>
            </a:r>
            <a:r>
              <a:rPr lang="en-US" altLang="ko-KR" sz="1400" b="1" dirty="0"/>
              <a:t>Services</a:t>
            </a:r>
            <a:r>
              <a:rPr lang="en-US" altLang="ko-KR" sz="1400" dirty="0"/>
              <a:t>, </a:t>
            </a:r>
            <a:r>
              <a:rPr lang="en-US" altLang="ko-KR" sz="1400" b="1" dirty="0"/>
              <a:t>Secrets</a:t>
            </a:r>
            <a:r>
              <a:rPr lang="en-US" altLang="ko-KR" sz="1400" dirty="0"/>
              <a:t>, and so on. </a:t>
            </a:r>
          </a:p>
          <a:p>
            <a:pPr lvl="1">
              <a:buFont typeface="Wingdings" panose="05000000000000000000" pitchFamily="2" charset="2"/>
              <a:buChar char="§"/>
            </a:pPr>
            <a:r>
              <a:rPr lang="en-US" altLang="ko-KR" sz="1400" dirty="0"/>
              <a:t>Here are a few examples of actions in Kubernetes :</a:t>
            </a:r>
          </a:p>
          <a:p>
            <a:pPr lvl="2">
              <a:buFont typeface="Wingdings" panose="05000000000000000000" pitchFamily="2" charset="2"/>
              <a:buChar char="§"/>
            </a:pPr>
            <a:r>
              <a:rPr lang="en-US" altLang="ko-KR" sz="1400" b="1" dirty="0"/>
              <a:t>Get Pods</a:t>
            </a:r>
          </a:p>
          <a:p>
            <a:pPr lvl="2">
              <a:buFont typeface="Wingdings" panose="05000000000000000000" pitchFamily="2" charset="2"/>
              <a:buChar char="§"/>
            </a:pPr>
            <a:r>
              <a:rPr lang="en-US" altLang="ko-KR" sz="1400" b="1" dirty="0"/>
              <a:t>Create Services</a:t>
            </a:r>
          </a:p>
          <a:p>
            <a:pPr lvl="2">
              <a:buFont typeface="Wingdings" panose="05000000000000000000" pitchFamily="2" charset="2"/>
              <a:buChar char="§"/>
            </a:pPr>
            <a:r>
              <a:rPr lang="en-US" altLang="ko-KR" sz="1400" b="1" dirty="0"/>
              <a:t>Update Secrets</a:t>
            </a:r>
          </a:p>
          <a:p>
            <a:pPr lvl="2">
              <a:buFont typeface="Wingdings" panose="05000000000000000000" pitchFamily="2" charset="2"/>
              <a:buChar char="§"/>
            </a:pPr>
            <a:r>
              <a:rPr lang="en-US" altLang="ko-KR" sz="1400" b="1" dirty="0"/>
              <a:t>And so 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C4D0402-F6DE-2113-4DCC-5184E850BD63}"/>
              </a:ext>
            </a:extLst>
          </p:cNvPr>
          <p:cNvPicPr>
            <a:picLocks noChangeAspect="1"/>
          </p:cNvPicPr>
          <p:nvPr/>
        </p:nvPicPr>
        <p:blipFill>
          <a:blip r:embed="rId2"/>
          <a:stretch>
            <a:fillRect/>
          </a:stretch>
        </p:blipFill>
        <p:spPr>
          <a:xfrm>
            <a:off x="2537201" y="3651051"/>
            <a:ext cx="7117598" cy="2757979"/>
          </a:xfrm>
          <a:prstGeom prst="rect">
            <a:avLst/>
          </a:prstGeom>
        </p:spPr>
      </p:pic>
    </p:spTree>
    <p:extLst>
      <p:ext uri="{BB962C8B-B14F-4D97-AF65-F5344CB8AC3E}">
        <p14:creationId xmlns:p14="http://schemas.microsoft.com/office/powerpoint/2010/main" val="1823036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RBAC Authorization Plugin :</a:t>
            </a:r>
            <a:endParaRPr lang="en-US" altLang="ko-KR" sz="1400" dirty="0"/>
          </a:p>
          <a:p>
            <a:pPr lvl="1">
              <a:buFont typeface="Wingdings" panose="05000000000000000000" pitchFamily="2" charset="2"/>
              <a:buChar char="§"/>
            </a:pPr>
            <a:r>
              <a:rPr lang="en-US" altLang="ko-KR" sz="1400" b="1" dirty="0"/>
              <a:t>The verbs in those examples (get, create, update) map to HTTP methods (GET, POST, PUT) performed by the client (the complete mapping is shown in the following table). The nouns (Pods, Service, Secrets) obviously map to Kubernetes resources</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solidFill>
                <a:srgbClr val="FF0000"/>
              </a:solidFill>
            </a:endParaRPr>
          </a:p>
          <a:p>
            <a:pPr lvl="1">
              <a:buFont typeface="Wingdings" panose="05000000000000000000" pitchFamily="2" charset="2"/>
              <a:buChar char="§"/>
            </a:pPr>
            <a:endParaRPr lang="en-US" altLang="ko-KR" sz="1400" b="1" dirty="0">
              <a:solidFill>
                <a:srgbClr val="FF0000"/>
              </a:solidFill>
            </a:endParaRPr>
          </a:p>
          <a:p>
            <a:pPr lvl="1">
              <a:buFont typeface="Wingdings" panose="05000000000000000000" pitchFamily="2" charset="2"/>
              <a:buChar char="§"/>
            </a:pPr>
            <a:r>
              <a:rPr lang="en-US" altLang="ko-KR" sz="1400" b="1" dirty="0">
                <a:solidFill>
                  <a:srgbClr val="FF0000"/>
                </a:solidFill>
              </a:rPr>
              <a:t>An authorization plugin such as RBAC</a:t>
            </a:r>
            <a:r>
              <a:rPr lang="en-US" altLang="ko-KR" sz="1400" b="1" dirty="0"/>
              <a:t>, which </a:t>
            </a:r>
            <a:r>
              <a:rPr lang="en-US" altLang="ko-KR" sz="1400" b="1" dirty="0">
                <a:solidFill>
                  <a:srgbClr val="FF0000"/>
                </a:solidFill>
              </a:rPr>
              <a:t>runs inside the API server</a:t>
            </a:r>
            <a:r>
              <a:rPr lang="en-US" altLang="ko-KR" sz="1400" b="1" dirty="0"/>
              <a:t>, </a:t>
            </a:r>
            <a:r>
              <a:rPr lang="en-US" altLang="ko-KR" sz="1400" b="1" dirty="0">
                <a:solidFill>
                  <a:srgbClr val="FF0000"/>
                </a:solidFill>
              </a:rPr>
              <a:t>determines whether a client is allowed to perform the requested verb on the requested resource or not</a:t>
            </a:r>
            <a:r>
              <a:rPr lang="en-US" altLang="ko-KR" sz="1400" dirty="0"/>
              <a:t>.</a:t>
            </a:r>
          </a:p>
          <a:p>
            <a:pPr lvl="1">
              <a:buFont typeface="Wingdings" panose="05000000000000000000" pitchFamily="2" charset="2"/>
              <a:buChar char="§"/>
            </a:pPr>
            <a:r>
              <a:rPr lang="en-US" altLang="ko-KR" sz="1400" b="1" dirty="0"/>
              <a:t>NOTE : The additional verb use is used for </a:t>
            </a:r>
            <a:r>
              <a:rPr lang="en-US" altLang="ko-KR" sz="1400" b="1" dirty="0" err="1">
                <a:solidFill>
                  <a:srgbClr val="FF0000"/>
                </a:solidFill>
              </a:rPr>
              <a:t>PodSecurityPolicy</a:t>
            </a:r>
            <a:r>
              <a:rPr lang="en-US" altLang="ko-KR" sz="1400" b="1" dirty="0"/>
              <a:t> resources</a:t>
            </a:r>
            <a:r>
              <a:rPr lang="en-US" altLang="ko-KR" sz="1400" dirty="0"/>
              <a:t>.</a:t>
            </a:r>
          </a:p>
          <a:p>
            <a:pPr lvl="1">
              <a:buFont typeface="Wingdings" panose="05000000000000000000" pitchFamily="2" charset="2"/>
              <a:buChar char="§"/>
            </a:pPr>
            <a:r>
              <a:rPr lang="en-US" altLang="ko-KR" sz="1400" b="1" dirty="0"/>
              <a:t>Besides applying security permissions to whole resource types, RBAC rules can also apply to specific instances of a resource (for example, a Service called “</a:t>
            </a:r>
            <a:r>
              <a:rPr lang="en-US" altLang="ko-KR" sz="1400" b="1" dirty="0" err="1"/>
              <a:t>myservice</a:t>
            </a:r>
            <a:r>
              <a:rPr lang="en-US" altLang="ko-KR" sz="1400" b="1" dirty="0"/>
              <a:t>”)</a:t>
            </a:r>
            <a:r>
              <a:rPr lang="en-US" altLang="ko-KR" sz="1400" dirty="0"/>
              <a:t>. And later you’ll see that </a:t>
            </a:r>
            <a:r>
              <a:rPr lang="en-US" altLang="ko-KR" sz="1400" b="1" dirty="0"/>
              <a:t>permissions can also apply to non-resource URL paths</a:t>
            </a:r>
            <a:r>
              <a:rPr lang="en-US" altLang="ko-KR" sz="1400" dirty="0"/>
              <a:t>, because not every path the API server exposes maps to a resource (such as the “</a:t>
            </a:r>
            <a:r>
              <a:rPr lang="en-US" altLang="ko-KR" sz="1400" b="1" dirty="0"/>
              <a:t>/</a:t>
            </a:r>
            <a:r>
              <a:rPr lang="en-US" altLang="ko-KR" sz="1400" b="1" dirty="0" err="1"/>
              <a:t>api</a:t>
            </a:r>
            <a:r>
              <a:rPr lang="en-US" altLang="ko-KR" sz="1400" dirty="0"/>
              <a:t>” path itself or the server health information at “</a:t>
            </a:r>
            <a:r>
              <a:rPr lang="en-US" altLang="ko-KR" sz="1400" b="1" dirty="0"/>
              <a:t>/</a:t>
            </a:r>
            <a:r>
              <a:rPr lang="en-US" altLang="ko-KR" sz="1400" b="1" dirty="0" err="1"/>
              <a:t>healthz</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4BCAD17-8D19-43A5-7385-D7061F84C03E}"/>
              </a:ext>
            </a:extLst>
          </p:cNvPr>
          <p:cNvPicPr>
            <a:picLocks noChangeAspect="1"/>
          </p:cNvPicPr>
          <p:nvPr/>
        </p:nvPicPr>
        <p:blipFill>
          <a:blip r:embed="rId2"/>
          <a:stretch>
            <a:fillRect/>
          </a:stretch>
        </p:blipFill>
        <p:spPr>
          <a:xfrm>
            <a:off x="3114675" y="2253759"/>
            <a:ext cx="5962650" cy="1800225"/>
          </a:xfrm>
          <a:prstGeom prst="rect">
            <a:avLst/>
          </a:prstGeom>
        </p:spPr>
      </p:pic>
    </p:spTree>
    <p:extLst>
      <p:ext uri="{BB962C8B-B14F-4D97-AF65-F5344CB8AC3E}">
        <p14:creationId xmlns:p14="http://schemas.microsoft.com/office/powerpoint/2010/main" val="605715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Control(RBAC)(5/46)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the RBAC Authorization Plugin :</a:t>
            </a:r>
            <a:endParaRPr lang="en-US" altLang="ko-KR" sz="1400" dirty="0"/>
          </a:p>
          <a:p>
            <a:pPr lvl="1">
              <a:buFont typeface="Wingdings" panose="05000000000000000000" pitchFamily="2" charset="2"/>
              <a:buChar char="§"/>
            </a:pPr>
            <a:r>
              <a:rPr lang="en-US" altLang="ko-KR" sz="1400" b="1" dirty="0"/>
              <a:t>The RBAC authorization plugin, as the name suggests, uses </a:t>
            </a:r>
            <a:r>
              <a:rPr lang="en-US" altLang="ko-KR" sz="1400" b="1" dirty="0">
                <a:solidFill>
                  <a:srgbClr val="FF0000"/>
                </a:solidFill>
              </a:rPr>
              <a:t>user roles </a:t>
            </a:r>
            <a:r>
              <a:rPr lang="en-US" altLang="ko-KR" sz="1400" b="1" dirty="0"/>
              <a:t>as the key factor in determining whether the user may perform the action or not</a:t>
            </a:r>
            <a:r>
              <a:rPr lang="en-US" altLang="ko-KR" sz="1400" dirty="0"/>
              <a:t>. </a:t>
            </a:r>
            <a:r>
              <a:rPr lang="en-US" altLang="ko-KR" sz="1400" b="1" dirty="0"/>
              <a:t>A subject (which may be a human, a </a:t>
            </a:r>
            <a:r>
              <a:rPr lang="en-US" altLang="ko-KR" sz="1400" b="1" dirty="0" err="1"/>
              <a:t>ServiceAccount</a:t>
            </a:r>
            <a:r>
              <a:rPr lang="en-US" altLang="ko-KR" sz="1400" b="1" dirty="0"/>
              <a:t>, or a group of users or </a:t>
            </a:r>
            <a:r>
              <a:rPr lang="en-US" altLang="ko-KR" sz="1400" b="1" dirty="0" err="1"/>
              <a:t>ServiceAccounts</a:t>
            </a:r>
            <a:r>
              <a:rPr lang="en-US" altLang="ko-KR" sz="1400" b="1" dirty="0"/>
              <a:t>) is associated with one or more roles and each role is allowed to perform certain verbs on certain resources</a:t>
            </a:r>
            <a:r>
              <a:rPr lang="en-US" altLang="ko-KR" sz="1400" dirty="0"/>
              <a:t>.</a:t>
            </a:r>
          </a:p>
          <a:p>
            <a:pPr lvl="1">
              <a:buFont typeface="Wingdings" panose="05000000000000000000" pitchFamily="2" charset="2"/>
              <a:buChar char="§"/>
            </a:pPr>
            <a:r>
              <a:rPr lang="en-US" altLang="ko-KR" sz="1400" dirty="0"/>
              <a:t>If a user has multiple roles, they may do anything that any of their roles allows them to do. If none of the user’s roles contains a permission to, for example, update Secrets, the API server will prevent the user from performing </a:t>
            </a:r>
            <a:r>
              <a:rPr lang="en-US" altLang="ko-KR" sz="1400" b="1" dirty="0"/>
              <a:t>PUT</a:t>
            </a:r>
            <a:r>
              <a:rPr lang="en-US" altLang="ko-KR" sz="1400" dirty="0"/>
              <a:t> or </a:t>
            </a:r>
            <a:r>
              <a:rPr lang="en-US" altLang="ko-KR" sz="1400" b="1" dirty="0"/>
              <a:t>PATCH</a:t>
            </a:r>
            <a:r>
              <a:rPr lang="en-US" altLang="ko-KR" sz="1400" dirty="0"/>
              <a:t> requests on Secrets.</a:t>
            </a:r>
          </a:p>
          <a:p>
            <a:pPr lvl="1">
              <a:buFont typeface="Wingdings" panose="05000000000000000000" pitchFamily="2" charset="2"/>
              <a:buChar char="§"/>
            </a:pPr>
            <a:r>
              <a:rPr lang="en-US" altLang="ko-KR" sz="1400" b="1" dirty="0"/>
              <a:t>Managing authorization through the RBAC plugin is simple</a:t>
            </a:r>
            <a:r>
              <a:rPr lang="en-US" altLang="ko-KR" sz="1400" dirty="0"/>
              <a:t>. It’s all done by </a:t>
            </a:r>
            <a:r>
              <a:rPr lang="en-US" altLang="ko-KR" sz="1400" b="1" dirty="0"/>
              <a:t>creating four RBAC-specific Kubernetes resources</a:t>
            </a:r>
            <a:r>
              <a:rPr lang="en-US" altLang="ko-KR" sz="1400" dirty="0"/>
              <a:t>, which we’ll look at next.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D2A0818-7001-9555-B4C6-3C2E7DAB6108}"/>
              </a:ext>
            </a:extLst>
          </p:cNvPr>
          <p:cNvPicPr>
            <a:picLocks noChangeAspect="1"/>
          </p:cNvPicPr>
          <p:nvPr/>
        </p:nvPicPr>
        <p:blipFill>
          <a:blip r:embed="rId2"/>
          <a:stretch>
            <a:fillRect/>
          </a:stretch>
        </p:blipFill>
        <p:spPr>
          <a:xfrm>
            <a:off x="2768825" y="3339745"/>
            <a:ext cx="6654350" cy="2790534"/>
          </a:xfrm>
          <a:prstGeom prst="rect">
            <a:avLst/>
          </a:prstGeom>
        </p:spPr>
      </p:pic>
    </p:spTree>
    <p:extLst>
      <p:ext uri="{BB962C8B-B14F-4D97-AF65-F5344CB8AC3E}">
        <p14:creationId xmlns:p14="http://schemas.microsoft.com/office/powerpoint/2010/main" val="2108404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Control(RBAC)(6/46)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RBAC Resources :</a:t>
            </a:r>
            <a:endParaRPr lang="en-US" altLang="ko-KR" sz="1400" dirty="0"/>
          </a:p>
          <a:p>
            <a:pPr lvl="1">
              <a:buFont typeface="Wingdings" panose="05000000000000000000" pitchFamily="2" charset="2"/>
              <a:buChar char="§"/>
            </a:pPr>
            <a:r>
              <a:rPr lang="en-US" altLang="ko-KR" sz="1400" b="1" dirty="0"/>
              <a:t>The RBAC authorization rules are configured through four resources</a:t>
            </a:r>
            <a:r>
              <a:rPr lang="en-US" altLang="ko-KR" sz="1400" dirty="0"/>
              <a:t>, which can be grouped into two groups :</a:t>
            </a:r>
          </a:p>
          <a:p>
            <a:pPr lvl="2">
              <a:buFont typeface="Wingdings" panose="05000000000000000000" pitchFamily="2" charset="2"/>
              <a:buChar char="§"/>
            </a:pPr>
            <a:r>
              <a:rPr lang="en-US" altLang="ko-KR" sz="1400" b="1" dirty="0"/>
              <a:t>Roles and </a:t>
            </a:r>
            <a:r>
              <a:rPr lang="en-US" altLang="ko-KR" sz="1400" b="1" dirty="0" err="1"/>
              <a:t>ClusterRoles</a:t>
            </a:r>
            <a:r>
              <a:rPr lang="en-US" altLang="ko-KR" sz="1400" dirty="0"/>
              <a:t>, which specify which verbs can be performed on which resources.</a:t>
            </a:r>
          </a:p>
          <a:p>
            <a:pPr lvl="2">
              <a:buFont typeface="Wingdings" panose="05000000000000000000" pitchFamily="2" charset="2"/>
              <a:buChar char="§"/>
            </a:pPr>
            <a:r>
              <a:rPr lang="en-US" altLang="ko-KR" sz="1400" b="1" dirty="0" err="1"/>
              <a:t>RoleBindings</a:t>
            </a:r>
            <a:r>
              <a:rPr lang="en-US" altLang="ko-KR" sz="1400" dirty="0"/>
              <a:t> and </a:t>
            </a:r>
            <a:r>
              <a:rPr lang="en-US" altLang="ko-KR" sz="1400" b="1" dirty="0" err="1"/>
              <a:t>ClusterRoleBindings</a:t>
            </a:r>
            <a:r>
              <a:rPr lang="en-US" altLang="ko-KR" sz="1400" dirty="0"/>
              <a:t>, which bind the above roles to specific users, groups, or </a:t>
            </a:r>
            <a:r>
              <a:rPr lang="en-US" altLang="ko-KR" sz="1400" dirty="0" err="1"/>
              <a:t>ServiceAccounts</a:t>
            </a:r>
            <a:r>
              <a:rPr lang="en-US" altLang="ko-KR" sz="1400" dirty="0"/>
              <a:t>.</a:t>
            </a:r>
          </a:p>
          <a:p>
            <a:pPr lvl="1">
              <a:buFont typeface="Wingdings" panose="05000000000000000000" pitchFamily="2" charset="2"/>
              <a:buChar char="§"/>
            </a:pPr>
            <a:r>
              <a:rPr lang="en-US" altLang="ko-KR" sz="1400" b="1" dirty="0">
                <a:solidFill>
                  <a:srgbClr val="FF0000"/>
                </a:solidFill>
              </a:rPr>
              <a:t>Roles</a:t>
            </a:r>
            <a:r>
              <a:rPr lang="en-US" altLang="ko-KR" sz="1400" b="1" dirty="0"/>
              <a:t> define what can be done</a:t>
            </a:r>
            <a:r>
              <a:rPr lang="en-US" altLang="ko-KR" sz="1400" dirty="0"/>
              <a:t>, while </a:t>
            </a:r>
            <a:r>
              <a:rPr lang="en-US" altLang="ko-KR" sz="1400" b="1" dirty="0">
                <a:solidFill>
                  <a:srgbClr val="FF0000"/>
                </a:solidFill>
              </a:rPr>
              <a:t>bindings</a:t>
            </a:r>
            <a:r>
              <a:rPr lang="en-US" altLang="ko-KR" sz="1400" b="1" dirty="0"/>
              <a:t> define who can do it </a:t>
            </a:r>
            <a:r>
              <a:rPr lang="en-US" altLang="ko-KR" sz="1400" dirty="0"/>
              <a:t>(this is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B2B28F5-6C82-6721-1D52-B8848C44B207}"/>
              </a:ext>
            </a:extLst>
          </p:cNvPr>
          <p:cNvPicPr>
            <a:picLocks noChangeAspect="1"/>
          </p:cNvPicPr>
          <p:nvPr/>
        </p:nvPicPr>
        <p:blipFill>
          <a:blip r:embed="rId2"/>
          <a:stretch>
            <a:fillRect/>
          </a:stretch>
        </p:blipFill>
        <p:spPr>
          <a:xfrm>
            <a:off x="3214687" y="2838492"/>
            <a:ext cx="5762625" cy="2847975"/>
          </a:xfrm>
          <a:prstGeom prst="rect">
            <a:avLst/>
          </a:prstGeom>
        </p:spPr>
      </p:pic>
    </p:spTree>
    <p:extLst>
      <p:ext uri="{BB962C8B-B14F-4D97-AF65-F5344CB8AC3E}">
        <p14:creationId xmlns:p14="http://schemas.microsoft.com/office/powerpoint/2010/main" val="1580683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Control(RBAC)(7/46)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RBAC Resources :</a:t>
            </a:r>
            <a:endParaRPr lang="en-US" altLang="ko-KR" sz="1400" dirty="0"/>
          </a:p>
          <a:p>
            <a:pPr lvl="1">
              <a:buFont typeface="Wingdings" panose="05000000000000000000" pitchFamily="2" charset="2"/>
              <a:buChar char="§"/>
            </a:pPr>
            <a:r>
              <a:rPr lang="en-US" altLang="ko-KR" sz="1400" b="1" dirty="0"/>
              <a:t>The distinction between a Role and a </a:t>
            </a:r>
            <a:r>
              <a:rPr lang="en-US" altLang="ko-KR" sz="1400" b="1" dirty="0" err="1"/>
              <a:t>ClusterRole</a:t>
            </a:r>
            <a:r>
              <a:rPr lang="en-US" altLang="ko-KR" sz="1400" b="1" dirty="0"/>
              <a:t>, or between a </a:t>
            </a:r>
            <a:r>
              <a:rPr lang="en-US" altLang="ko-KR" sz="1400" b="1" dirty="0" err="1"/>
              <a:t>RoleBinding</a:t>
            </a:r>
            <a:r>
              <a:rPr lang="en-US" altLang="ko-KR" sz="1400" b="1" dirty="0"/>
              <a:t> and a </a:t>
            </a:r>
            <a:r>
              <a:rPr lang="en-US" altLang="ko-KR" sz="1400" b="1" dirty="0" err="1"/>
              <a:t>ClusterRoleBinding</a:t>
            </a:r>
            <a:r>
              <a:rPr lang="en-US" altLang="ko-KR" sz="1400" b="1" dirty="0"/>
              <a:t>, is that </a:t>
            </a:r>
            <a:r>
              <a:rPr lang="en-US" altLang="ko-KR" sz="1400" b="1" dirty="0">
                <a:solidFill>
                  <a:srgbClr val="FF0000"/>
                </a:solidFill>
              </a:rPr>
              <a:t>the Role and </a:t>
            </a:r>
            <a:r>
              <a:rPr lang="en-US" altLang="ko-KR" sz="1400" b="1" dirty="0" err="1">
                <a:solidFill>
                  <a:srgbClr val="FF0000"/>
                </a:solidFill>
              </a:rPr>
              <a:t>RoleBinding</a:t>
            </a:r>
            <a:r>
              <a:rPr lang="en-US" altLang="ko-KR" sz="1400" b="1" dirty="0">
                <a:solidFill>
                  <a:srgbClr val="FF0000"/>
                </a:solidFill>
              </a:rPr>
              <a:t> are </a:t>
            </a:r>
            <a:r>
              <a:rPr lang="en-US" altLang="ko-KR" sz="1400" b="1" dirty="0" err="1">
                <a:solidFill>
                  <a:srgbClr val="FF0000"/>
                </a:solidFill>
              </a:rPr>
              <a:t>namespaced</a:t>
            </a:r>
            <a:r>
              <a:rPr lang="en-US" altLang="ko-KR" sz="1400" b="1" dirty="0">
                <a:solidFill>
                  <a:srgbClr val="FF0000"/>
                </a:solidFill>
              </a:rPr>
              <a:t> resources</a:t>
            </a:r>
            <a:r>
              <a:rPr lang="en-US" altLang="ko-KR" sz="1400" b="1" dirty="0"/>
              <a:t>, whereas </a:t>
            </a:r>
            <a:r>
              <a:rPr lang="en-US" altLang="ko-KR" sz="1400" b="1" dirty="0">
                <a:solidFill>
                  <a:srgbClr val="FF0000"/>
                </a:solidFill>
              </a:rPr>
              <a:t>the </a:t>
            </a:r>
            <a:r>
              <a:rPr lang="en-US" altLang="ko-KR" sz="1400" b="1" dirty="0" err="1">
                <a:solidFill>
                  <a:srgbClr val="FF0000"/>
                </a:solidFill>
              </a:rPr>
              <a:t>ClusterRole</a:t>
            </a:r>
            <a:r>
              <a:rPr lang="en-US" altLang="ko-KR" sz="1400" b="1" dirty="0">
                <a:solidFill>
                  <a:srgbClr val="FF0000"/>
                </a:solidFill>
              </a:rPr>
              <a:t> and </a:t>
            </a:r>
            <a:r>
              <a:rPr lang="en-US" altLang="ko-KR" sz="1400" b="1" dirty="0" err="1">
                <a:solidFill>
                  <a:srgbClr val="FF0000"/>
                </a:solidFill>
              </a:rPr>
              <a:t>ClusterRoleBinding</a:t>
            </a:r>
            <a:r>
              <a:rPr lang="en-US" altLang="ko-KR" sz="1400" b="1" dirty="0">
                <a:solidFill>
                  <a:srgbClr val="FF0000"/>
                </a:solidFill>
              </a:rPr>
              <a:t> are cluster-level resources (not </a:t>
            </a:r>
            <a:r>
              <a:rPr lang="en-US" altLang="ko-KR" sz="1400" b="1" dirty="0" err="1">
                <a:solidFill>
                  <a:srgbClr val="FF0000"/>
                </a:solidFill>
              </a:rPr>
              <a:t>namespaced</a:t>
            </a:r>
            <a:r>
              <a:rPr lang="en-US" altLang="ko-KR" sz="1400" b="1" dirty="0">
                <a:solidFill>
                  <a:srgbClr val="FF0000"/>
                </a:solidFill>
              </a:rPr>
              <a:t>)</a:t>
            </a:r>
            <a:r>
              <a:rPr lang="en-US" altLang="ko-KR" sz="1400" dirty="0"/>
              <a:t>. This is depicted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As you can see from the figure, multiple </a:t>
            </a:r>
            <a:r>
              <a:rPr lang="en-US" altLang="ko-KR" sz="1400" b="1" dirty="0" err="1"/>
              <a:t>RoleBindings</a:t>
            </a:r>
            <a:r>
              <a:rPr lang="en-US" altLang="ko-KR" sz="1400" b="1" dirty="0"/>
              <a:t> can exist in a single namespace (this is also true for Roles). Likewise, multiple </a:t>
            </a:r>
            <a:r>
              <a:rPr lang="en-US" altLang="ko-KR" sz="1400" b="1" dirty="0" err="1"/>
              <a:t>ClusterRoleBindings</a:t>
            </a:r>
            <a:r>
              <a:rPr lang="en-US" altLang="ko-KR" sz="1400" b="1" dirty="0"/>
              <a:t> and </a:t>
            </a:r>
            <a:r>
              <a:rPr lang="en-US" altLang="ko-KR" sz="1400" b="1" dirty="0" err="1"/>
              <a:t>ClusterRoles</a:t>
            </a:r>
            <a:r>
              <a:rPr lang="en-US" altLang="ko-KR" sz="1400" b="1" dirty="0"/>
              <a:t> can be created</a:t>
            </a:r>
            <a:r>
              <a:rPr lang="en-US" altLang="ko-KR" sz="1400" dirty="0"/>
              <a:t>. Another thing shown in the figure is that </a:t>
            </a:r>
            <a:r>
              <a:rPr lang="en-US" altLang="ko-KR" sz="1400" b="1" dirty="0"/>
              <a:t>although </a:t>
            </a:r>
            <a:r>
              <a:rPr lang="en-US" altLang="ko-KR" sz="1400" b="1" dirty="0" err="1"/>
              <a:t>RoleBindings</a:t>
            </a:r>
            <a:r>
              <a:rPr lang="en-US" altLang="ko-KR" sz="1400" b="1" dirty="0"/>
              <a:t> are </a:t>
            </a:r>
            <a:r>
              <a:rPr lang="en-US" altLang="ko-KR" sz="1400" b="1" dirty="0" err="1"/>
              <a:t>namespaced</a:t>
            </a:r>
            <a:r>
              <a:rPr lang="en-US" altLang="ko-KR" sz="1400" b="1" dirty="0"/>
              <a:t>, they can also reference </a:t>
            </a:r>
            <a:r>
              <a:rPr lang="en-US" altLang="ko-KR" sz="1400" b="1" dirty="0" err="1"/>
              <a:t>ClusterRoles</a:t>
            </a:r>
            <a:r>
              <a:rPr lang="en-US" altLang="ko-KR" sz="1400" dirty="0"/>
              <a:t>, which aren’t.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4E99C2E-A14E-ED8C-4C07-0C12C7759B88}"/>
              </a:ext>
            </a:extLst>
          </p:cNvPr>
          <p:cNvGrpSpPr/>
          <p:nvPr/>
        </p:nvGrpSpPr>
        <p:grpSpPr>
          <a:xfrm>
            <a:off x="3186112" y="2089003"/>
            <a:ext cx="5819775" cy="2952750"/>
            <a:chOff x="3186112" y="2089003"/>
            <a:chExt cx="5819775" cy="2952750"/>
          </a:xfrm>
        </p:grpSpPr>
        <p:pic>
          <p:nvPicPr>
            <p:cNvPr id="8" name="그림 7">
              <a:extLst>
                <a:ext uri="{FF2B5EF4-FFF2-40B4-BE49-F238E27FC236}">
                  <a16:creationId xmlns:a16="http://schemas.microsoft.com/office/drawing/2014/main" id="{C95A1A8D-AA5B-9DD8-0152-032C189DC2AA}"/>
                </a:ext>
              </a:extLst>
            </p:cNvPr>
            <p:cNvPicPr>
              <a:picLocks noChangeAspect="1"/>
            </p:cNvPicPr>
            <p:nvPr/>
          </p:nvPicPr>
          <p:blipFill>
            <a:blip r:embed="rId2"/>
            <a:stretch>
              <a:fillRect/>
            </a:stretch>
          </p:blipFill>
          <p:spPr>
            <a:xfrm>
              <a:off x="3186112" y="2089003"/>
              <a:ext cx="5819775" cy="2952750"/>
            </a:xfrm>
            <a:prstGeom prst="rect">
              <a:avLst/>
            </a:prstGeom>
          </p:spPr>
        </p:pic>
        <p:sp>
          <p:nvSpPr>
            <p:cNvPr id="9" name="직사각형 8">
              <a:extLst>
                <a:ext uri="{FF2B5EF4-FFF2-40B4-BE49-F238E27FC236}">
                  <a16:creationId xmlns:a16="http://schemas.microsoft.com/office/drawing/2014/main" id="{0895E15A-9BA4-DA11-7371-C35B46A750D4}"/>
                </a:ext>
              </a:extLst>
            </p:cNvPr>
            <p:cNvSpPr/>
            <p:nvPr/>
          </p:nvSpPr>
          <p:spPr>
            <a:xfrm>
              <a:off x="7145267" y="3123526"/>
              <a:ext cx="728283" cy="4126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29C0DD17-E194-694C-C048-8BF1C17CE0E8}"/>
                </a:ext>
              </a:extLst>
            </p:cNvPr>
            <p:cNvSpPr/>
            <p:nvPr/>
          </p:nvSpPr>
          <p:spPr>
            <a:xfrm>
              <a:off x="5721069" y="4199766"/>
              <a:ext cx="728283" cy="4189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49832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Control(RBAC)(8/46)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RBAC Resources :</a:t>
            </a:r>
            <a:endParaRPr lang="en-US" altLang="ko-KR" sz="1400" dirty="0"/>
          </a:p>
          <a:p>
            <a:pPr lvl="1">
              <a:buFont typeface="Wingdings" panose="05000000000000000000" pitchFamily="2" charset="2"/>
              <a:buChar char="§"/>
            </a:pPr>
            <a:r>
              <a:rPr lang="en-US" altLang="ko-KR" sz="1400" b="1" dirty="0"/>
              <a:t>Before you can explore how RBAC resources affect what you can do through the API server, you need to make sure RBAC is enabled in your cluster</a:t>
            </a:r>
            <a:r>
              <a:rPr lang="en-US" altLang="ko-KR" sz="1400" dirty="0"/>
              <a:t>. </a:t>
            </a:r>
            <a:r>
              <a:rPr lang="en-US" altLang="ko-KR" sz="1400" b="1" dirty="0"/>
              <a:t>First, ensure you’re using </a:t>
            </a:r>
            <a:r>
              <a:rPr lang="en-US" altLang="ko-KR" sz="1400" b="1" dirty="0">
                <a:solidFill>
                  <a:srgbClr val="FF0000"/>
                </a:solidFill>
              </a:rPr>
              <a:t>at least version 1.6 of Kubernetes </a:t>
            </a:r>
            <a:r>
              <a:rPr lang="en-US" altLang="ko-KR" sz="1400" dirty="0"/>
              <a:t>and that </a:t>
            </a:r>
            <a:r>
              <a:rPr lang="en-US" altLang="ko-KR" sz="1400" b="1" dirty="0"/>
              <a:t>the </a:t>
            </a:r>
            <a:r>
              <a:rPr lang="en-US" altLang="ko-KR" sz="1400" b="1" dirty="0">
                <a:solidFill>
                  <a:srgbClr val="FF0000"/>
                </a:solidFill>
              </a:rPr>
              <a:t>RBAC plugin </a:t>
            </a:r>
            <a:r>
              <a:rPr lang="en-US" altLang="ko-KR" sz="1400" b="1" dirty="0"/>
              <a:t>is the only configured authorization plugin</a:t>
            </a:r>
            <a:r>
              <a:rPr lang="en-US" altLang="ko-KR" sz="1400" dirty="0"/>
              <a:t>. There can be multiple plugins enabled in parallel and if one of them allows an action to be performed, the action is allowed. </a:t>
            </a:r>
            <a:r>
              <a:rPr lang="en-US" altLang="ko-KR" sz="1400" b="1" dirty="0"/>
              <a:t>The default Kubernetes API server mode supports “RBAC” now.(2023.01)</a:t>
            </a:r>
          </a:p>
          <a:p>
            <a:pPr lvl="1">
              <a:buFont typeface="Wingdings" panose="05000000000000000000" pitchFamily="2" charset="2"/>
              <a:buChar char="§"/>
            </a:pPr>
            <a:r>
              <a:rPr lang="en-US" altLang="ko-KR" sz="1400" dirty="0"/>
              <a:t>Now, you’re going </a:t>
            </a:r>
            <a:r>
              <a:rPr lang="en-US" altLang="ko-KR" sz="1400" b="1" dirty="0"/>
              <a:t>to create one pod in namespace “foo” and the other one in namespace “bar”</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E7AD096F-6FB9-AB46-14B3-633854352B3D}"/>
              </a:ext>
            </a:extLst>
          </p:cNvPr>
          <p:cNvGrpSpPr/>
          <p:nvPr/>
        </p:nvGrpSpPr>
        <p:grpSpPr>
          <a:xfrm>
            <a:off x="1651113" y="2592209"/>
            <a:ext cx="8889775" cy="3816821"/>
            <a:chOff x="1651113" y="2592209"/>
            <a:chExt cx="8889775" cy="3816821"/>
          </a:xfrm>
        </p:grpSpPr>
        <p:grpSp>
          <p:nvGrpSpPr>
            <p:cNvPr id="13" name="그룹 12">
              <a:extLst>
                <a:ext uri="{FF2B5EF4-FFF2-40B4-BE49-F238E27FC236}">
                  <a16:creationId xmlns:a16="http://schemas.microsoft.com/office/drawing/2014/main" id="{0F52C9C4-11CB-01D5-7457-A3FFA7CAF516}"/>
                </a:ext>
              </a:extLst>
            </p:cNvPr>
            <p:cNvGrpSpPr/>
            <p:nvPr/>
          </p:nvGrpSpPr>
          <p:grpSpPr>
            <a:xfrm>
              <a:off x="1651113" y="2592209"/>
              <a:ext cx="8889775" cy="3816821"/>
              <a:chOff x="1651113" y="2857492"/>
              <a:chExt cx="8889775" cy="3816821"/>
            </a:xfrm>
          </p:grpSpPr>
          <p:grpSp>
            <p:nvGrpSpPr>
              <p:cNvPr id="10" name="그룹 9">
                <a:extLst>
                  <a:ext uri="{FF2B5EF4-FFF2-40B4-BE49-F238E27FC236}">
                    <a16:creationId xmlns:a16="http://schemas.microsoft.com/office/drawing/2014/main" id="{527244D2-DD39-7048-1B9F-D5C1170D91F3}"/>
                  </a:ext>
                </a:extLst>
              </p:cNvPr>
              <p:cNvGrpSpPr/>
              <p:nvPr/>
            </p:nvGrpSpPr>
            <p:grpSpPr>
              <a:xfrm>
                <a:off x="3047326" y="2857492"/>
                <a:ext cx="6097348" cy="994317"/>
                <a:chOff x="3047326" y="2857492"/>
                <a:chExt cx="6097348" cy="994317"/>
              </a:xfrm>
            </p:grpSpPr>
            <p:sp>
              <p:nvSpPr>
                <p:cNvPr id="8" name="TextBox 7">
                  <a:extLst>
                    <a:ext uri="{FF2B5EF4-FFF2-40B4-BE49-F238E27FC236}">
                      <a16:creationId xmlns:a16="http://schemas.microsoft.com/office/drawing/2014/main" id="{8ACDE12F-058B-4180-363B-2D48CDC00DA7}"/>
                    </a:ext>
                  </a:extLst>
                </p:cNvPr>
                <p:cNvSpPr txBox="1"/>
                <p:nvPr/>
              </p:nvSpPr>
              <p:spPr>
                <a:xfrm>
                  <a:off x="3047326" y="2857492"/>
                  <a:ext cx="6097348" cy="707886"/>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ns foo</a:t>
                  </a:r>
                </a:p>
                <a:p>
                  <a:r>
                    <a:rPr lang="en-US" altLang="ko-KR" sz="1000" b="1" dirty="0"/>
                    <a:t>$ </a:t>
                  </a:r>
                  <a:r>
                    <a:rPr lang="en-US" altLang="ko-KR" sz="1000" b="1" dirty="0" err="1"/>
                    <a:t>kubectl</a:t>
                  </a:r>
                  <a:r>
                    <a:rPr lang="en-US" altLang="ko-KR" sz="1000" b="1" dirty="0"/>
                    <a:t> run test --image=knix008/</a:t>
                  </a:r>
                  <a:r>
                    <a:rPr lang="en-US" altLang="ko-KR" sz="1000" b="1" dirty="0" err="1"/>
                    <a:t>kubectl</a:t>
                  </a:r>
                  <a:r>
                    <a:rPr lang="en-US" altLang="ko-KR" sz="1000" b="1" dirty="0"/>
                    <a:t>-proxy -n foo</a:t>
                  </a:r>
                </a:p>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ns bar</a:t>
                  </a:r>
                </a:p>
                <a:p>
                  <a:r>
                    <a:rPr lang="en-US" altLang="ko-KR" sz="1000" b="1" dirty="0"/>
                    <a:t>$ </a:t>
                  </a:r>
                  <a:r>
                    <a:rPr lang="en-US" altLang="ko-KR" sz="1000" b="1" dirty="0" err="1"/>
                    <a:t>kubectl</a:t>
                  </a:r>
                  <a:r>
                    <a:rPr lang="en-US" altLang="ko-KR" sz="1000" b="1" dirty="0"/>
                    <a:t> run test --image=knix008/</a:t>
                  </a:r>
                  <a:r>
                    <a:rPr lang="en-US" altLang="ko-KR" sz="1000" b="1" dirty="0" err="1"/>
                    <a:t>kubectl</a:t>
                  </a:r>
                  <a:r>
                    <a:rPr lang="en-US" altLang="ko-KR" sz="1000" b="1" dirty="0"/>
                    <a:t>-proxy -n bar</a:t>
                  </a:r>
                </a:p>
              </p:txBody>
            </p:sp>
            <p:sp>
              <p:nvSpPr>
                <p:cNvPr id="9" name="화살표: 아래쪽 8">
                  <a:extLst>
                    <a:ext uri="{FF2B5EF4-FFF2-40B4-BE49-F238E27FC236}">
                      <a16:creationId xmlns:a16="http://schemas.microsoft.com/office/drawing/2014/main" id="{4D495313-21BD-F143-B7C4-3DFAD60359F1}"/>
                    </a:ext>
                  </a:extLst>
                </p:cNvPr>
                <p:cNvSpPr/>
                <p:nvPr/>
              </p:nvSpPr>
              <p:spPr>
                <a:xfrm>
                  <a:off x="5885607" y="3591718"/>
                  <a:ext cx="420786" cy="26009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9E469F88-A407-631D-EBB8-35C6E59C4E64}"/>
                  </a:ext>
                </a:extLst>
              </p:cNvPr>
              <p:cNvPicPr>
                <a:picLocks noChangeAspect="1"/>
              </p:cNvPicPr>
              <p:nvPr/>
            </p:nvPicPr>
            <p:blipFill>
              <a:blip r:embed="rId2"/>
              <a:stretch>
                <a:fillRect/>
              </a:stretch>
            </p:blipFill>
            <p:spPr>
              <a:xfrm>
                <a:off x="1651113" y="3851809"/>
                <a:ext cx="8889775" cy="2822504"/>
              </a:xfrm>
              <a:prstGeom prst="rect">
                <a:avLst/>
              </a:prstGeom>
            </p:spPr>
          </p:pic>
        </p:grpSp>
        <p:sp>
          <p:nvSpPr>
            <p:cNvPr id="14" name="직사각형 13">
              <a:extLst>
                <a:ext uri="{FF2B5EF4-FFF2-40B4-BE49-F238E27FC236}">
                  <a16:creationId xmlns:a16="http://schemas.microsoft.com/office/drawing/2014/main" id="{8C10B247-088F-F8EB-8544-743D54F43B03}"/>
                </a:ext>
              </a:extLst>
            </p:cNvPr>
            <p:cNvSpPr/>
            <p:nvPr/>
          </p:nvSpPr>
          <p:spPr>
            <a:xfrm>
              <a:off x="1739788" y="5251731"/>
              <a:ext cx="1901628" cy="1537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91E78C54-8DBF-84FB-49B0-60B69C9E7B6B}"/>
                </a:ext>
              </a:extLst>
            </p:cNvPr>
            <p:cNvSpPr/>
            <p:nvPr/>
          </p:nvSpPr>
          <p:spPr>
            <a:xfrm>
              <a:off x="1739788" y="5503730"/>
              <a:ext cx="1901628" cy="1537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12069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Control(RBAC)(9/46)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RBAC Resources :</a:t>
            </a:r>
            <a:endParaRPr lang="en-US" altLang="ko-KR" sz="1400" dirty="0"/>
          </a:p>
          <a:p>
            <a:pPr lvl="1">
              <a:buFont typeface="Wingdings" panose="05000000000000000000" pitchFamily="2" charset="2"/>
              <a:buChar char="§"/>
            </a:pPr>
            <a:r>
              <a:rPr lang="en-US" altLang="ko-KR" sz="1400" b="1" dirty="0"/>
              <a:t>In the previous page, you ran a single container (based on the “</a:t>
            </a:r>
            <a:r>
              <a:rPr lang="en-US" altLang="ko-KR" sz="1400" b="1" dirty="0" err="1"/>
              <a:t>kubectl</a:t>
            </a:r>
            <a:r>
              <a:rPr lang="en-US" altLang="ko-KR" sz="1400" b="1" dirty="0"/>
              <a:t>-proxy” image) and will use “</a:t>
            </a:r>
            <a:r>
              <a:rPr lang="en-US" altLang="ko-KR" sz="1400" b="1" dirty="0" err="1"/>
              <a:t>kubectl</a:t>
            </a:r>
            <a:r>
              <a:rPr lang="en-US" altLang="ko-KR" sz="1400" b="1" dirty="0"/>
              <a:t> exec” to run “curl” inside that container directly</a:t>
            </a:r>
            <a:r>
              <a:rPr lang="en-US" altLang="ko-KR" sz="1400" dirty="0"/>
              <a:t>. </a:t>
            </a:r>
            <a:r>
              <a:rPr lang="en-US" altLang="ko-KR" sz="1400" b="1" dirty="0"/>
              <a:t>The proxy will take care of authentication and HTTPS</a:t>
            </a:r>
            <a:r>
              <a:rPr lang="en-US" altLang="ko-KR" sz="1400" dirty="0"/>
              <a:t>, so you can focus on the authorization aspect of API server security.</a:t>
            </a:r>
          </a:p>
          <a:p>
            <a:pPr lvl="1">
              <a:buFont typeface="Wingdings" panose="05000000000000000000" pitchFamily="2" charset="2"/>
              <a:buChar char="§"/>
            </a:pPr>
            <a:r>
              <a:rPr lang="en-US" altLang="ko-KR" sz="1400" b="1" dirty="0"/>
              <a:t>Now open two terminals and use “</a:t>
            </a:r>
            <a:r>
              <a:rPr lang="en-US" altLang="ko-KR" sz="1400" b="1" dirty="0" err="1"/>
              <a:t>kubectl</a:t>
            </a:r>
            <a:r>
              <a:rPr lang="en-US" altLang="ko-KR" sz="1400" b="1" dirty="0"/>
              <a:t> exec” to run a shell inside each of the two pods (one in each terminal)</a:t>
            </a:r>
            <a:r>
              <a:rPr lang="en-US" altLang="ko-KR" sz="1400" dirty="0"/>
              <a:t>. For example, to run the shell in the pod in namespace “</a:t>
            </a:r>
            <a:r>
              <a:rPr lang="en-US" altLang="ko-KR" sz="1400" b="1" dirty="0"/>
              <a:t>foo</a:t>
            </a:r>
            <a:r>
              <a:rPr lang="en-US" altLang="ko-KR" sz="1400" dirty="0"/>
              <a:t>”, first get the name of the pod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F811FC09-DF4D-D51E-21D7-EFD18ACC62EA}"/>
              </a:ext>
            </a:extLst>
          </p:cNvPr>
          <p:cNvGrpSpPr/>
          <p:nvPr/>
        </p:nvGrpSpPr>
        <p:grpSpPr>
          <a:xfrm>
            <a:off x="1185820" y="2349044"/>
            <a:ext cx="9820359" cy="3913937"/>
            <a:chOff x="1183123" y="2239762"/>
            <a:chExt cx="9820359" cy="3913937"/>
          </a:xfrm>
        </p:grpSpPr>
        <p:grpSp>
          <p:nvGrpSpPr>
            <p:cNvPr id="12" name="그룹 11">
              <a:extLst>
                <a:ext uri="{FF2B5EF4-FFF2-40B4-BE49-F238E27FC236}">
                  <a16:creationId xmlns:a16="http://schemas.microsoft.com/office/drawing/2014/main" id="{18EA3622-6480-E149-C169-3BD44F7D251F}"/>
                </a:ext>
              </a:extLst>
            </p:cNvPr>
            <p:cNvGrpSpPr/>
            <p:nvPr/>
          </p:nvGrpSpPr>
          <p:grpSpPr>
            <a:xfrm>
              <a:off x="1183123" y="2239762"/>
              <a:ext cx="9820359" cy="2312363"/>
              <a:chOff x="1183123" y="2239762"/>
              <a:chExt cx="9820359" cy="2312363"/>
            </a:xfrm>
          </p:grpSpPr>
          <p:sp>
            <p:nvSpPr>
              <p:cNvPr id="8" name="TextBox 7">
                <a:extLst>
                  <a:ext uri="{FF2B5EF4-FFF2-40B4-BE49-F238E27FC236}">
                    <a16:creationId xmlns:a16="http://schemas.microsoft.com/office/drawing/2014/main" id="{0469610B-1C15-7517-60DC-B92C4DC75333}"/>
                  </a:ext>
                </a:extLst>
              </p:cNvPr>
              <p:cNvSpPr txBox="1"/>
              <p:nvPr/>
            </p:nvSpPr>
            <p:spPr>
              <a:xfrm>
                <a:off x="3044628" y="2239762"/>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-n foo</a:t>
                </a:r>
              </a:p>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-n bar</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6DA60FAC-2CFC-466F-6815-7673AEF10F0E}"/>
                  </a:ext>
                </a:extLst>
              </p:cNvPr>
              <p:cNvSpPr/>
              <p:nvPr/>
            </p:nvSpPr>
            <p:spPr>
              <a:xfrm>
                <a:off x="5866726" y="2678464"/>
                <a:ext cx="453154"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EA0B338-5074-165B-2B47-2EB44CFC3C48}"/>
                  </a:ext>
                </a:extLst>
              </p:cNvPr>
              <p:cNvPicPr>
                <a:picLocks noChangeAspect="1"/>
              </p:cNvPicPr>
              <p:nvPr/>
            </p:nvPicPr>
            <p:blipFill>
              <a:blip r:embed="rId2"/>
              <a:stretch>
                <a:fillRect/>
              </a:stretch>
            </p:blipFill>
            <p:spPr>
              <a:xfrm>
                <a:off x="1183123" y="2997235"/>
                <a:ext cx="9820359" cy="1554890"/>
              </a:xfrm>
              <a:prstGeom prst="rect">
                <a:avLst/>
              </a:prstGeom>
            </p:spPr>
          </p:pic>
        </p:grpSp>
        <p:pic>
          <p:nvPicPr>
            <p:cNvPr id="14" name="그림 13">
              <a:extLst>
                <a:ext uri="{FF2B5EF4-FFF2-40B4-BE49-F238E27FC236}">
                  <a16:creationId xmlns:a16="http://schemas.microsoft.com/office/drawing/2014/main" id="{AA387AC4-02F3-3081-75FB-31FF41B0D3A4}"/>
                </a:ext>
              </a:extLst>
            </p:cNvPr>
            <p:cNvPicPr>
              <a:picLocks noChangeAspect="1"/>
            </p:cNvPicPr>
            <p:nvPr/>
          </p:nvPicPr>
          <p:blipFill>
            <a:blip r:embed="rId3"/>
            <a:stretch>
              <a:fillRect/>
            </a:stretch>
          </p:blipFill>
          <p:spPr>
            <a:xfrm>
              <a:off x="1183123" y="4598809"/>
              <a:ext cx="9820359" cy="1554890"/>
            </a:xfrm>
            <a:prstGeom prst="rect">
              <a:avLst/>
            </a:prstGeom>
          </p:spPr>
        </p:pic>
      </p:grpSp>
    </p:spTree>
    <p:extLst>
      <p:ext uri="{BB962C8B-B14F-4D97-AF65-F5344CB8AC3E}">
        <p14:creationId xmlns:p14="http://schemas.microsoft.com/office/powerpoint/2010/main" val="3198552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Control(RBAC)(10/46)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RBAC Resources :</a:t>
            </a:r>
            <a:endParaRPr lang="en-US" altLang="ko-KR" sz="1400" dirty="0"/>
          </a:p>
          <a:p>
            <a:pPr lvl="1">
              <a:buFont typeface="Wingdings" panose="05000000000000000000" pitchFamily="2" charset="2"/>
              <a:buChar char="§"/>
            </a:pPr>
            <a:r>
              <a:rPr lang="en-US" altLang="ko-KR" sz="1400" dirty="0"/>
              <a:t>Then </a:t>
            </a:r>
            <a:r>
              <a:rPr lang="en-US" altLang="ko-KR" sz="1400" b="1" dirty="0"/>
              <a:t>use the name in the “</a:t>
            </a:r>
            <a:r>
              <a:rPr lang="en-US" altLang="ko-KR" sz="1400" b="1" dirty="0" err="1"/>
              <a:t>kubectl</a:t>
            </a:r>
            <a:r>
              <a:rPr lang="en-US" altLang="ko-KR" sz="1400" b="1" dirty="0"/>
              <a:t> exec”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verify that RBAC is enabled and preventing the pod from reading cluster state</a:t>
            </a:r>
            <a:r>
              <a:rPr lang="en-US" altLang="ko-KR" sz="1400" dirty="0"/>
              <a:t>, </a:t>
            </a:r>
            <a:r>
              <a:rPr lang="en-US" altLang="ko-KR" sz="1400" b="1" dirty="0"/>
              <a:t>use “curl” to list Services </a:t>
            </a:r>
            <a:r>
              <a:rPr lang="en-US" altLang="ko-KR" sz="1400" dirty="0"/>
              <a:t>in the “</a:t>
            </a:r>
            <a:r>
              <a:rPr lang="en-US" altLang="ko-KR" sz="1400" b="1" dirty="0"/>
              <a:t>foo</a:t>
            </a:r>
            <a:r>
              <a:rPr lang="en-US" altLang="ko-KR" sz="1400" dirty="0"/>
              <a:t>” namespace: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See the above screenshot for the result of the command</a:t>
            </a:r>
            <a:r>
              <a:rPr lang="en-US" altLang="ko-KR" sz="1400" dirty="0"/>
              <a:t>. As you can see, </a:t>
            </a:r>
            <a:r>
              <a:rPr lang="en-US" altLang="ko-KR" sz="1400" b="1" dirty="0"/>
              <a:t>RBAC is enabled </a:t>
            </a:r>
            <a:r>
              <a:rPr lang="en-US" altLang="ko-KR" sz="1400" dirty="0"/>
              <a:t>and preventing the pod from reading the cluster state.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020BB85E-01DB-193B-3DB3-AAF978A0D8D4}"/>
              </a:ext>
            </a:extLst>
          </p:cNvPr>
          <p:cNvPicPr>
            <a:picLocks noChangeAspect="1"/>
          </p:cNvPicPr>
          <p:nvPr/>
        </p:nvPicPr>
        <p:blipFill>
          <a:blip r:embed="rId2"/>
          <a:stretch>
            <a:fillRect/>
          </a:stretch>
        </p:blipFill>
        <p:spPr>
          <a:xfrm>
            <a:off x="1443462" y="2095702"/>
            <a:ext cx="9305075" cy="2620929"/>
          </a:xfrm>
          <a:prstGeom prst="rect">
            <a:avLst/>
          </a:prstGeom>
        </p:spPr>
      </p:pic>
      <p:sp>
        <p:nvSpPr>
          <p:cNvPr id="10" name="TextBox 9">
            <a:extLst>
              <a:ext uri="{FF2B5EF4-FFF2-40B4-BE49-F238E27FC236}">
                <a16:creationId xmlns:a16="http://schemas.microsoft.com/office/drawing/2014/main" id="{FC22AEA3-C43E-C309-8195-CE2C562CAF38}"/>
              </a:ext>
            </a:extLst>
          </p:cNvPr>
          <p:cNvSpPr txBox="1"/>
          <p:nvPr/>
        </p:nvSpPr>
        <p:spPr>
          <a:xfrm>
            <a:off x="3047326" y="153229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test -n foo -- </a:t>
            </a:r>
            <a:r>
              <a:rPr lang="en-US" altLang="ko-KR" sz="1000" b="1" dirty="0" err="1">
                <a:solidFill>
                  <a:srgbClr val="FF0000"/>
                </a:solidFill>
              </a:rPr>
              <a:t>sh</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4C9B0B41-D783-AEA4-E2CC-26133CF8006D}"/>
              </a:ext>
            </a:extLst>
          </p:cNvPr>
          <p:cNvSpPr/>
          <p:nvPr/>
        </p:nvSpPr>
        <p:spPr>
          <a:xfrm>
            <a:off x="5857285" y="1778518"/>
            <a:ext cx="477430" cy="2989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A7219C54-F952-1E94-E436-D18EB19C61CB}"/>
              </a:ext>
            </a:extLst>
          </p:cNvPr>
          <p:cNvSpPr txBox="1"/>
          <p:nvPr/>
        </p:nvSpPr>
        <p:spPr>
          <a:xfrm>
            <a:off x="3047326" y="5520640"/>
            <a:ext cx="6097348" cy="246221"/>
          </a:xfrm>
          <a:prstGeom prst="rect">
            <a:avLst/>
          </a:prstGeom>
          <a:noFill/>
          <a:ln>
            <a:solidFill>
              <a:schemeClr val="bg1">
                <a:lumMod val="50000"/>
              </a:schemeClr>
            </a:solidFill>
          </a:ln>
        </p:spPr>
        <p:txBody>
          <a:bodyPr wrap="square">
            <a:spAutoFit/>
          </a:bodyPr>
          <a:lstStyle/>
          <a:p>
            <a:r>
              <a:rPr lang="en-US" altLang="ko-KR" sz="1000" b="1" dirty="0"/>
              <a:t># curl localhost:8001/</a:t>
            </a:r>
            <a:r>
              <a:rPr lang="en-US" altLang="ko-KR" sz="1000" b="1" dirty="0" err="1"/>
              <a:t>api</a:t>
            </a:r>
            <a:r>
              <a:rPr lang="en-US" altLang="ko-KR" sz="1000" b="1" dirty="0"/>
              <a:t>/v1/namespaces/</a:t>
            </a:r>
            <a:r>
              <a:rPr lang="en-US" altLang="ko-KR" sz="1000" b="1" dirty="0">
                <a:solidFill>
                  <a:srgbClr val="FF0000"/>
                </a:solidFill>
              </a:rPr>
              <a:t>foo</a:t>
            </a:r>
            <a:r>
              <a:rPr lang="en-US" altLang="ko-KR" sz="1000" b="1" dirty="0"/>
              <a:t>/services</a:t>
            </a:r>
            <a:endParaRPr lang="ko-KR" altLang="en-US" sz="1000" b="1" dirty="0"/>
          </a:p>
        </p:txBody>
      </p:sp>
    </p:spTree>
    <p:extLst>
      <p:ext uri="{BB962C8B-B14F-4D97-AF65-F5344CB8AC3E}">
        <p14:creationId xmlns:p14="http://schemas.microsoft.com/office/powerpoint/2010/main" val="1606265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Control(RBAC)(11/46)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RBAC Resources :</a:t>
            </a:r>
            <a:endParaRPr lang="en-US" altLang="ko-KR" sz="1400" dirty="0"/>
          </a:p>
          <a:p>
            <a:pPr lvl="1">
              <a:buFont typeface="Wingdings" panose="05000000000000000000" pitchFamily="2" charset="2"/>
              <a:buChar char="§"/>
            </a:pPr>
            <a:r>
              <a:rPr lang="en-US" altLang="ko-KR" sz="1400" b="1" dirty="0"/>
              <a:t>You’re connecting to localhost:8001, which is where the </a:t>
            </a:r>
            <a:r>
              <a:rPr lang="en-US" altLang="ko-KR" sz="1400" b="1" dirty="0" err="1"/>
              <a:t>kubectl</a:t>
            </a:r>
            <a:r>
              <a:rPr lang="en-US" altLang="ko-KR" sz="1400" b="1" dirty="0"/>
              <a:t> proxy process is listening (as explained before). The process received your request and sent it to the API server while authenticating as the default </a:t>
            </a:r>
            <a:r>
              <a:rPr lang="en-US" altLang="ko-KR" sz="1400" b="1" dirty="0" err="1"/>
              <a:t>ServiceAccount</a:t>
            </a:r>
            <a:r>
              <a:rPr lang="en-US" altLang="ko-KR" sz="1400" b="1" dirty="0"/>
              <a:t> in the “foo” namespace </a:t>
            </a:r>
            <a:r>
              <a:rPr lang="en-US" altLang="ko-KR" sz="1400" dirty="0"/>
              <a:t>(as evident from the API server’s response).</a:t>
            </a:r>
          </a:p>
          <a:p>
            <a:pPr lvl="1">
              <a:buFont typeface="Wingdings" panose="05000000000000000000" pitchFamily="2" charset="2"/>
              <a:buChar char="§"/>
            </a:pPr>
            <a:r>
              <a:rPr lang="en-US" altLang="ko-KR" sz="1400" b="1" dirty="0"/>
              <a:t>The API server responded that the </a:t>
            </a:r>
            <a:r>
              <a:rPr lang="en-US" altLang="ko-KR" sz="1400" b="1" dirty="0" err="1"/>
              <a:t>ServiceAccount</a:t>
            </a:r>
            <a:r>
              <a:rPr lang="en-US" altLang="ko-KR" sz="1400" b="1" dirty="0"/>
              <a:t> isn’t allowed to list Services in the “foo” namespace</a:t>
            </a:r>
            <a:r>
              <a:rPr lang="en-US" altLang="ko-KR" sz="1400" dirty="0"/>
              <a:t>, even though the pod is running in that same namespace. </a:t>
            </a:r>
            <a:r>
              <a:rPr lang="en-US" altLang="ko-KR" sz="1400" b="1" dirty="0"/>
              <a:t>You’re seeing </a:t>
            </a:r>
            <a:r>
              <a:rPr lang="en-US" altLang="ko-KR" sz="1400" b="1" dirty="0">
                <a:solidFill>
                  <a:srgbClr val="FF0000"/>
                </a:solidFill>
              </a:rPr>
              <a:t>RBAC</a:t>
            </a:r>
            <a:r>
              <a:rPr lang="en-US" altLang="ko-KR" sz="1400" b="1" dirty="0"/>
              <a:t> in action</a:t>
            </a:r>
            <a:r>
              <a:rPr lang="en-US" altLang="ko-KR" sz="1400" dirty="0"/>
              <a:t>. </a:t>
            </a:r>
            <a:r>
              <a:rPr lang="en-US" altLang="ko-KR" sz="1400" b="1" dirty="0"/>
              <a:t>The </a:t>
            </a:r>
            <a:r>
              <a:rPr lang="en-US" altLang="ko-KR" sz="1400" b="1" dirty="0">
                <a:solidFill>
                  <a:srgbClr val="FF0000"/>
                </a:solidFill>
              </a:rPr>
              <a:t>default permissions </a:t>
            </a:r>
            <a:r>
              <a:rPr lang="en-US" altLang="ko-KR" sz="1400" b="1" dirty="0"/>
              <a:t>for a </a:t>
            </a:r>
            <a:r>
              <a:rPr lang="en-US" altLang="ko-KR" sz="1400" b="1" dirty="0" err="1"/>
              <a:t>ServiceAccount</a:t>
            </a:r>
            <a:r>
              <a:rPr lang="en-US" altLang="ko-KR" sz="1400" b="1" dirty="0"/>
              <a:t> don’t allow it to list or modify any resources</a:t>
            </a:r>
            <a:r>
              <a:rPr lang="en-US" altLang="ko-KR" sz="1400" dirty="0"/>
              <a:t>. Now, let’s learn how to </a:t>
            </a:r>
            <a:r>
              <a:rPr lang="en-US" altLang="ko-KR" sz="1400" b="1" dirty="0"/>
              <a:t>allow the </a:t>
            </a:r>
            <a:r>
              <a:rPr lang="en-US" altLang="ko-KR" sz="1400" b="1" dirty="0" err="1"/>
              <a:t>ServiceAccount</a:t>
            </a:r>
            <a:r>
              <a:rPr lang="en-US" altLang="ko-KR" sz="1400" b="1" dirty="0"/>
              <a:t> to do that</a:t>
            </a:r>
            <a:r>
              <a:rPr lang="en-US" altLang="ko-KR" sz="1400" dirty="0"/>
              <a:t>. </a:t>
            </a:r>
            <a:r>
              <a:rPr lang="en-US" altLang="ko-KR" sz="1400" b="1" dirty="0"/>
              <a:t>First, you’ll need to create a </a:t>
            </a:r>
            <a:r>
              <a:rPr lang="en-US" altLang="ko-KR" sz="1400" b="1" dirty="0">
                <a:solidFill>
                  <a:srgbClr val="FF0000"/>
                </a:solidFill>
              </a:rPr>
              <a:t>Role</a:t>
            </a:r>
            <a:r>
              <a:rPr lang="en-US" altLang="ko-KR" sz="1400" b="1" dirty="0"/>
              <a:t> resource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2F3102E8-58AB-6D22-391A-F4BF185FFE29}"/>
              </a:ext>
            </a:extLst>
          </p:cNvPr>
          <p:cNvPicPr>
            <a:picLocks noChangeAspect="1"/>
          </p:cNvPicPr>
          <p:nvPr/>
        </p:nvPicPr>
        <p:blipFill>
          <a:blip r:embed="rId2"/>
          <a:stretch>
            <a:fillRect/>
          </a:stretch>
        </p:blipFill>
        <p:spPr>
          <a:xfrm>
            <a:off x="2439749" y="3006798"/>
            <a:ext cx="7312502" cy="2857805"/>
          </a:xfrm>
          <a:prstGeom prst="rect">
            <a:avLst/>
          </a:prstGeom>
        </p:spPr>
      </p:pic>
    </p:spTree>
    <p:extLst>
      <p:ext uri="{BB962C8B-B14F-4D97-AF65-F5344CB8AC3E}">
        <p14:creationId xmlns:p14="http://schemas.microsoft.com/office/powerpoint/2010/main" val="2806536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Control(RBAC)(12/46)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b="1" dirty="0"/>
              <a:t>A </a:t>
            </a:r>
            <a:r>
              <a:rPr lang="en-US" altLang="ko-KR" sz="1400" b="1" dirty="0">
                <a:solidFill>
                  <a:srgbClr val="FF0000"/>
                </a:solidFill>
              </a:rPr>
              <a:t>Role</a:t>
            </a:r>
            <a:r>
              <a:rPr lang="en-US" altLang="ko-KR" sz="1400" b="1" dirty="0"/>
              <a:t> resource defines what actions can be taken on which resources</a:t>
            </a:r>
            <a:r>
              <a:rPr lang="en-US" altLang="ko-KR" sz="1400" dirty="0"/>
              <a:t> (or, as explained earlier, </a:t>
            </a:r>
            <a:r>
              <a:rPr lang="en-US" altLang="ko-KR" sz="1400" b="1" dirty="0">
                <a:solidFill>
                  <a:srgbClr val="FF0000"/>
                </a:solidFill>
              </a:rPr>
              <a:t>which types of HTTP requests</a:t>
            </a:r>
            <a:r>
              <a:rPr lang="en-US" altLang="ko-KR" sz="1400" b="1" dirty="0"/>
              <a:t> can be performed on which RESTful resources</a:t>
            </a:r>
            <a:r>
              <a:rPr lang="en-US" altLang="ko-KR" sz="1400" dirty="0"/>
              <a:t>). The following listing defines a </a:t>
            </a:r>
            <a:r>
              <a:rPr lang="en-US" altLang="ko-KR" sz="1400" b="1" dirty="0"/>
              <a:t>Role</a:t>
            </a:r>
            <a:r>
              <a:rPr lang="en-US" altLang="ko-KR" sz="1400" dirty="0"/>
              <a:t>, </a:t>
            </a:r>
            <a:r>
              <a:rPr lang="en-US" altLang="ko-KR" sz="1400" b="1" dirty="0"/>
              <a:t>which allows users to get and list Services in the “foo” namespace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plural form of “</a:t>
            </a:r>
            <a:r>
              <a:rPr lang="en-US" altLang="ko-KR" sz="1400" b="1" dirty="0" err="1"/>
              <a:t>rules.resources</a:t>
            </a:r>
            <a:r>
              <a:rPr lang="en-US" altLang="ko-KR" sz="1400" b="1" dirty="0"/>
              <a:t>” must be used when specifying resources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DD69C64-8E30-F2F2-478D-42AD3AC06A0E}"/>
              </a:ext>
            </a:extLst>
          </p:cNvPr>
          <p:cNvGrpSpPr/>
          <p:nvPr/>
        </p:nvGrpSpPr>
        <p:grpSpPr>
          <a:xfrm>
            <a:off x="1100854" y="1967856"/>
            <a:ext cx="9990292" cy="3364571"/>
            <a:chOff x="1100854" y="1870751"/>
            <a:chExt cx="9990292" cy="3364571"/>
          </a:xfrm>
        </p:grpSpPr>
        <p:grpSp>
          <p:nvGrpSpPr>
            <p:cNvPr id="10" name="그룹 9">
              <a:extLst>
                <a:ext uri="{FF2B5EF4-FFF2-40B4-BE49-F238E27FC236}">
                  <a16:creationId xmlns:a16="http://schemas.microsoft.com/office/drawing/2014/main" id="{B48A38BA-E6DF-97D2-E753-85E5CDE99B4C}"/>
                </a:ext>
              </a:extLst>
            </p:cNvPr>
            <p:cNvGrpSpPr/>
            <p:nvPr/>
          </p:nvGrpSpPr>
          <p:grpSpPr>
            <a:xfrm>
              <a:off x="3047326" y="1870751"/>
              <a:ext cx="6097348" cy="1477328"/>
              <a:chOff x="3048674" y="2138362"/>
              <a:chExt cx="6097348" cy="1477328"/>
            </a:xfrm>
          </p:grpSpPr>
          <p:sp>
            <p:nvSpPr>
              <p:cNvPr id="8" name="TextBox 7">
                <a:extLst>
                  <a:ext uri="{FF2B5EF4-FFF2-40B4-BE49-F238E27FC236}">
                    <a16:creationId xmlns:a16="http://schemas.microsoft.com/office/drawing/2014/main" id="{1015967C-C492-1C1E-F38A-59A24FCFCD7C}"/>
                  </a:ext>
                </a:extLst>
              </p:cNvPr>
              <p:cNvSpPr txBox="1"/>
              <p:nvPr/>
            </p:nvSpPr>
            <p:spPr>
              <a:xfrm>
                <a:off x="3048674" y="2138362"/>
                <a:ext cx="6097348" cy="1477328"/>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a:t>
                </a:r>
                <a:r>
                  <a:rPr lang="en-US" altLang="ko-KR" sz="1000" b="1" dirty="0">
                    <a:solidFill>
                      <a:srgbClr val="FF0000"/>
                    </a:solidFill>
                  </a:rPr>
                  <a:t>rbac.authorization.k8s.io/v1</a:t>
                </a:r>
              </a:p>
              <a:p>
                <a:r>
                  <a:rPr lang="en-US" altLang="ko-KR" sz="1000" b="1" dirty="0"/>
                  <a:t>kind: </a:t>
                </a:r>
                <a:r>
                  <a:rPr lang="en-US" altLang="ko-KR" sz="1000" b="1" dirty="0">
                    <a:solidFill>
                      <a:srgbClr val="FF0000"/>
                    </a:solidFill>
                  </a:rPr>
                  <a:t>Role</a:t>
                </a:r>
              </a:p>
              <a:p>
                <a:r>
                  <a:rPr lang="en-US" altLang="ko-KR" sz="1000" b="1" dirty="0"/>
                  <a:t>metadata:</a:t>
                </a:r>
              </a:p>
              <a:p>
                <a:r>
                  <a:rPr lang="en-US" altLang="ko-KR" sz="1000" b="1" dirty="0">
                    <a:solidFill>
                      <a:srgbClr val="FF0000"/>
                    </a:solidFill>
                  </a:rPr>
                  <a:t>  namespace: foo</a:t>
                </a:r>
              </a:p>
              <a:p>
                <a:r>
                  <a:rPr lang="en-US" altLang="ko-KR" sz="1000" b="1" dirty="0"/>
                  <a:t>  </a:t>
                </a:r>
                <a:r>
                  <a:rPr lang="en-US" altLang="ko-KR" sz="1000" b="1" dirty="0">
                    <a:solidFill>
                      <a:srgbClr val="FF0000"/>
                    </a:solidFill>
                  </a:rPr>
                  <a:t>name: service-reader</a:t>
                </a:r>
              </a:p>
              <a:p>
                <a:r>
                  <a:rPr lang="en-US" altLang="ko-KR" sz="1000" b="1" dirty="0"/>
                  <a:t>rules:</a:t>
                </a:r>
              </a:p>
              <a:p>
                <a:r>
                  <a:rPr lang="en-US" altLang="ko-KR" sz="1000" b="1" dirty="0"/>
                  <a:t>- </a:t>
                </a:r>
                <a:r>
                  <a:rPr lang="en-US" altLang="ko-KR" sz="1000" b="1" dirty="0" err="1">
                    <a:solidFill>
                      <a:srgbClr val="FF0000"/>
                    </a:solidFill>
                  </a:rPr>
                  <a:t>apiGroups</a:t>
                </a:r>
                <a:r>
                  <a:rPr lang="en-US" altLang="ko-KR" sz="1000" b="1" dirty="0">
                    <a:solidFill>
                      <a:srgbClr val="FF0000"/>
                    </a:solidFill>
                  </a:rPr>
                  <a:t>: [""]</a:t>
                </a:r>
              </a:p>
              <a:p>
                <a:r>
                  <a:rPr lang="en-US" altLang="ko-KR" sz="1000" b="1" dirty="0"/>
                  <a:t>  </a:t>
                </a:r>
                <a:r>
                  <a:rPr lang="en-US" altLang="ko-KR" sz="1000" b="1" dirty="0">
                    <a:solidFill>
                      <a:srgbClr val="FF0000"/>
                    </a:solidFill>
                  </a:rPr>
                  <a:t>verbs: ["get", "list"]</a:t>
                </a:r>
              </a:p>
              <a:p>
                <a:r>
                  <a:rPr lang="en-US" altLang="ko-KR" sz="1000" b="1" dirty="0"/>
                  <a:t>  </a:t>
                </a:r>
                <a:r>
                  <a:rPr lang="en-US" altLang="ko-KR" sz="1000" b="1" dirty="0">
                    <a:solidFill>
                      <a:srgbClr val="FF0000"/>
                    </a:solidFill>
                  </a:rPr>
                  <a:t>resources: ["services"]</a:t>
                </a:r>
                <a:endParaRPr lang="ko-KR" altLang="en-US" sz="1000" b="1" dirty="0">
                  <a:solidFill>
                    <a:srgbClr val="FF0000"/>
                  </a:solidFill>
                </a:endParaRPr>
              </a:p>
            </p:txBody>
          </p:sp>
          <p:sp>
            <p:nvSpPr>
              <p:cNvPr id="9" name="TextBox 8">
                <a:extLst>
                  <a:ext uri="{FF2B5EF4-FFF2-40B4-BE49-F238E27FC236}">
                    <a16:creationId xmlns:a16="http://schemas.microsoft.com/office/drawing/2014/main" id="{F458BC72-9076-9BC6-ED65-1BA2BABBEA5A}"/>
                  </a:ext>
                </a:extLst>
              </p:cNvPr>
              <p:cNvSpPr txBox="1"/>
              <p:nvPr/>
            </p:nvSpPr>
            <p:spPr>
              <a:xfrm>
                <a:off x="7776736" y="2138362"/>
                <a:ext cx="1369286" cy="246221"/>
              </a:xfrm>
              <a:prstGeom prst="rect">
                <a:avLst/>
              </a:prstGeom>
              <a:noFill/>
            </p:spPr>
            <p:txBody>
              <a:bodyPr wrap="none" rtlCol="0">
                <a:spAutoFit/>
              </a:bodyPr>
              <a:lstStyle/>
              <a:p>
                <a:pPr algn="l"/>
                <a:r>
                  <a:rPr lang="en-US" altLang="ko-KR" sz="1000" b="1" dirty="0"/>
                  <a:t>service-</a:t>
                </a:r>
                <a:r>
                  <a:rPr lang="en-US" altLang="ko-KR" sz="1000" b="1" dirty="0" err="1"/>
                  <a:t>reader.yaml</a:t>
                </a:r>
                <a:endParaRPr lang="ko-KR" altLang="en-US" sz="1000" b="1" dirty="0"/>
              </a:p>
            </p:txBody>
          </p:sp>
        </p:grpSp>
        <p:pic>
          <p:nvPicPr>
            <p:cNvPr id="12" name="그림 11">
              <a:extLst>
                <a:ext uri="{FF2B5EF4-FFF2-40B4-BE49-F238E27FC236}">
                  <a16:creationId xmlns:a16="http://schemas.microsoft.com/office/drawing/2014/main" id="{527E5939-1450-A7DF-FB54-ABD1AF8C95F9}"/>
                </a:ext>
              </a:extLst>
            </p:cNvPr>
            <p:cNvPicPr>
              <a:picLocks noChangeAspect="1"/>
            </p:cNvPicPr>
            <p:nvPr/>
          </p:nvPicPr>
          <p:blipFill>
            <a:blip r:embed="rId2"/>
            <a:stretch>
              <a:fillRect/>
            </a:stretch>
          </p:blipFill>
          <p:spPr>
            <a:xfrm>
              <a:off x="1100854" y="3653526"/>
              <a:ext cx="9990292" cy="1581796"/>
            </a:xfrm>
            <a:prstGeom prst="rect">
              <a:avLst/>
            </a:prstGeom>
          </p:spPr>
        </p:pic>
        <p:sp>
          <p:nvSpPr>
            <p:cNvPr id="13" name="화살표: 아래쪽 12">
              <a:extLst>
                <a:ext uri="{FF2B5EF4-FFF2-40B4-BE49-F238E27FC236}">
                  <a16:creationId xmlns:a16="http://schemas.microsoft.com/office/drawing/2014/main" id="{1D81789D-2702-A82B-7F28-F44D9EA56329}"/>
                </a:ext>
              </a:extLst>
            </p:cNvPr>
            <p:cNvSpPr/>
            <p:nvPr/>
          </p:nvSpPr>
          <p:spPr>
            <a:xfrm>
              <a:off x="5885607" y="3357198"/>
              <a:ext cx="420786" cy="30544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Tree>
    <p:extLst>
      <p:ext uri="{BB962C8B-B14F-4D97-AF65-F5344CB8AC3E}">
        <p14:creationId xmlns:p14="http://schemas.microsoft.com/office/powerpoint/2010/main" val="1920010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Control(RBAC)(13/46)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b="1" dirty="0"/>
              <a:t>The previous Role resource will be created in the “foo” namespace</a:t>
            </a:r>
            <a:r>
              <a:rPr lang="en-US" altLang="ko-KR" sz="1400" dirty="0"/>
              <a:t>. </a:t>
            </a:r>
            <a:r>
              <a:rPr lang="en-US" altLang="ko-KR" sz="1400" b="1" dirty="0"/>
              <a:t>Each resource type belongs to an API group, which you specify in the </a:t>
            </a:r>
            <a:r>
              <a:rPr lang="en-US" altLang="ko-KR" sz="1400" b="1" dirty="0" err="1">
                <a:solidFill>
                  <a:srgbClr val="FF0000"/>
                </a:solidFill>
              </a:rPr>
              <a:t>apiVersion</a:t>
            </a:r>
            <a:r>
              <a:rPr lang="en-US" altLang="ko-KR" sz="1400" b="1" dirty="0"/>
              <a:t> field (along with the version) in the resource’s manifest</a:t>
            </a:r>
            <a:r>
              <a:rPr lang="en-US" altLang="ko-KR" sz="1400" dirty="0"/>
              <a:t>. In a Role definition, you need to specify the </a:t>
            </a:r>
            <a:r>
              <a:rPr lang="en-US" altLang="ko-KR" sz="1400" b="1" dirty="0" err="1"/>
              <a:t>apiGroup</a:t>
            </a:r>
            <a:r>
              <a:rPr lang="en-US" altLang="ko-KR" sz="1400" dirty="0"/>
              <a:t> for the resources listed in each rule included in the definition. </a:t>
            </a:r>
            <a:r>
              <a:rPr lang="en-US" altLang="ko-KR" sz="1400" b="1" dirty="0"/>
              <a:t>If you’re allowing access to resources belonging to different API groups, you use multiple rules</a:t>
            </a:r>
            <a:r>
              <a:rPr lang="en-US" altLang="ko-KR" sz="1400" dirty="0"/>
              <a:t>.</a:t>
            </a:r>
          </a:p>
          <a:p>
            <a:pPr lvl="1">
              <a:buFont typeface="Wingdings" panose="05000000000000000000" pitchFamily="2" charset="2"/>
              <a:buChar char="§"/>
            </a:pPr>
            <a:r>
              <a:rPr lang="en-US" altLang="ko-KR" sz="1400" b="1" dirty="0"/>
              <a:t>NOTE : In the previous example, you’re allowing access to all Service resources, but you could also limit access only to specific Service instances by specifying their names through an additional “</a:t>
            </a:r>
            <a:r>
              <a:rPr lang="en-US" altLang="ko-KR" sz="1400" b="1" dirty="0" err="1">
                <a:solidFill>
                  <a:srgbClr val="FF0000"/>
                </a:solidFill>
              </a:rPr>
              <a:t>resourceNames</a:t>
            </a:r>
            <a:r>
              <a:rPr lang="en-US" altLang="ko-KR" sz="1400" b="1" dirty="0"/>
              <a:t>” field</a:t>
            </a:r>
            <a:r>
              <a:rPr lang="en-US" altLang="ko-KR" sz="1400" dirty="0"/>
              <a:t>.</a:t>
            </a:r>
          </a:p>
          <a:p>
            <a:pPr lvl="1">
              <a:buFont typeface="Wingdings" panose="05000000000000000000" pitchFamily="2" charset="2"/>
              <a:buChar char="§"/>
            </a:pPr>
            <a:r>
              <a:rPr lang="en-US" altLang="ko-KR" sz="1400" dirty="0"/>
              <a:t>The following figure shows the </a:t>
            </a:r>
            <a:r>
              <a:rPr lang="en-US" altLang="ko-KR" sz="1400" b="1" dirty="0"/>
              <a:t>Role</a:t>
            </a:r>
            <a:r>
              <a:rPr lang="en-US" altLang="ko-KR" sz="1400" dirty="0"/>
              <a:t>, its </a:t>
            </a:r>
            <a:r>
              <a:rPr lang="en-US" altLang="ko-KR" sz="1400" b="1" dirty="0"/>
              <a:t>verbs</a:t>
            </a:r>
            <a:r>
              <a:rPr lang="en-US" altLang="ko-KR" sz="1400" dirty="0"/>
              <a:t> and </a:t>
            </a:r>
            <a:r>
              <a:rPr lang="en-US" altLang="ko-KR" sz="1400" b="1" dirty="0"/>
              <a:t>resources</a:t>
            </a:r>
            <a:r>
              <a:rPr lang="en-US" altLang="ko-KR" sz="1400" dirty="0"/>
              <a:t>, and the </a:t>
            </a:r>
            <a:r>
              <a:rPr lang="en-US" altLang="ko-KR" sz="1400" b="1" dirty="0"/>
              <a:t>namespace</a:t>
            </a:r>
            <a:r>
              <a:rPr lang="en-US" altLang="ko-KR" sz="1400" dirty="0"/>
              <a:t> it will be created in.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B5756C75-4937-6866-95AE-2F265BC46F20}"/>
              </a:ext>
            </a:extLst>
          </p:cNvPr>
          <p:cNvPicPr>
            <a:picLocks noChangeAspect="1"/>
          </p:cNvPicPr>
          <p:nvPr/>
        </p:nvPicPr>
        <p:blipFill>
          <a:blip r:embed="rId2"/>
          <a:stretch>
            <a:fillRect/>
          </a:stretch>
        </p:blipFill>
        <p:spPr>
          <a:xfrm>
            <a:off x="3490912" y="3091510"/>
            <a:ext cx="5210175" cy="2524125"/>
          </a:xfrm>
          <a:prstGeom prst="rect">
            <a:avLst/>
          </a:prstGeom>
        </p:spPr>
      </p:pic>
    </p:spTree>
    <p:extLst>
      <p:ext uri="{BB962C8B-B14F-4D97-AF65-F5344CB8AC3E}">
        <p14:creationId xmlns:p14="http://schemas.microsoft.com/office/powerpoint/2010/main" val="389090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Control(RBAC)(14/46)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dirty="0"/>
              <a:t>Create the previous Role in the foo namespace now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can also use “$ </a:t>
            </a:r>
            <a:r>
              <a:rPr lang="en-US" altLang="ko-KR" sz="1400" b="1" dirty="0" err="1"/>
              <a:t>kubectl</a:t>
            </a:r>
            <a:r>
              <a:rPr lang="en-US" altLang="ko-KR" sz="1400" b="1" dirty="0"/>
              <a:t> create -f service-</a:t>
            </a:r>
            <a:r>
              <a:rPr lang="en-US" altLang="ko-KR" sz="1400" b="1" dirty="0" err="1"/>
              <a:t>reader.yaml</a:t>
            </a:r>
            <a:r>
              <a:rPr lang="en-US" altLang="ko-KR" sz="1400" b="1" dirty="0"/>
              <a:t> -n foo” command. Here, the “-n” option is shorthand for --namespace</a:t>
            </a:r>
            <a:r>
              <a:rPr lang="en-US" altLang="ko-KR" sz="1400" dirty="0"/>
              <a:t>.</a:t>
            </a:r>
          </a:p>
          <a:p>
            <a:pPr lvl="1">
              <a:buFont typeface="Wingdings" panose="05000000000000000000" pitchFamily="2" charset="2"/>
              <a:buChar char="§"/>
            </a:pPr>
            <a:r>
              <a:rPr lang="en-US" altLang="ko-KR" sz="1400" b="1" dirty="0"/>
              <a:t>NOTE : If you’re using GKE, the previous command may fail because you don’t have </a:t>
            </a:r>
            <a:r>
              <a:rPr lang="en-US" altLang="ko-KR" sz="1400" b="1" dirty="0">
                <a:solidFill>
                  <a:srgbClr val="FF0000"/>
                </a:solidFill>
              </a:rPr>
              <a:t>cluster-admin rights</a:t>
            </a:r>
            <a:r>
              <a:rPr lang="en-US" altLang="ko-KR" sz="1400" dirty="0"/>
              <a:t>. To grant the rights, run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Instead of creating the service-reader Role from a YAML file, you could also create it with the special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create role</a:t>
            </a:r>
            <a:r>
              <a:rPr lang="en-US" altLang="ko-KR" sz="1400" b="1" dirty="0"/>
              <a:t>” command</a:t>
            </a:r>
            <a:r>
              <a:rPr lang="en-US" altLang="ko-KR" sz="1400" dirty="0"/>
              <a:t>. Let’s use this method to create the Role in the bar namespace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C2D52FC-8AA8-CB1C-AD56-11D32D954B50}"/>
              </a:ext>
            </a:extLst>
          </p:cNvPr>
          <p:cNvSpPr txBox="1"/>
          <p:nvPr/>
        </p:nvSpPr>
        <p:spPr>
          <a:xfrm>
            <a:off x="3047326" y="148229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service-</a:t>
            </a:r>
            <a:r>
              <a:rPr lang="en-US" altLang="ko-KR" sz="1000" b="1" dirty="0" err="1">
                <a:solidFill>
                  <a:srgbClr val="FF0000"/>
                </a:solidFill>
              </a:rPr>
              <a:t>reader.yaml</a:t>
            </a:r>
            <a:endParaRPr lang="en-US" altLang="ko-KR" sz="1000" b="1" dirty="0">
              <a:solidFill>
                <a:srgbClr val="FF0000"/>
              </a:solidFill>
            </a:endParaRPr>
          </a:p>
        </p:txBody>
      </p:sp>
      <p:sp>
        <p:nvSpPr>
          <p:cNvPr id="10" name="TextBox 9">
            <a:extLst>
              <a:ext uri="{FF2B5EF4-FFF2-40B4-BE49-F238E27FC236}">
                <a16:creationId xmlns:a16="http://schemas.microsoft.com/office/drawing/2014/main" id="{4F683A8A-348B-2AE8-3610-83B5F0EC9A05}"/>
              </a:ext>
            </a:extLst>
          </p:cNvPr>
          <p:cNvSpPr txBox="1"/>
          <p:nvPr/>
        </p:nvSpPr>
        <p:spPr>
          <a:xfrm>
            <a:off x="3047326" y="2924334"/>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clusterrolebinding</a:t>
            </a:r>
            <a:r>
              <a:rPr lang="en-US" altLang="ko-KR" sz="1000" b="1" dirty="0">
                <a:solidFill>
                  <a:srgbClr val="FF0000"/>
                </a:solidFill>
              </a:rPr>
              <a:t> cluster-admin-binding --</a:t>
            </a:r>
            <a:r>
              <a:rPr lang="en-US" altLang="ko-KR" sz="1000" b="1" dirty="0" err="1">
                <a:solidFill>
                  <a:srgbClr val="FF0000"/>
                </a:solidFill>
              </a:rPr>
              <a:t>clusterrole</a:t>
            </a:r>
            <a:r>
              <a:rPr lang="en-US" altLang="ko-KR" sz="1000" b="1" dirty="0">
                <a:solidFill>
                  <a:srgbClr val="FF0000"/>
                </a:solidFill>
              </a:rPr>
              <a:t>=cluster-admin --user=your.email@address.com</a:t>
            </a:r>
          </a:p>
        </p:txBody>
      </p:sp>
      <p:grpSp>
        <p:nvGrpSpPr>
          <p:cNvPr id="16" name="그룹 15">
            <a:extLst>
              <a:ext uri="{FF2B5EF4-FFF2-40B4-BE49-F238E27FC236}">
                <a16:creationId xmlns:a16="http://schemas.microsoft.com/office/drawing/2014/main" id="{4C7F843E-ECB4-4712-5B1D-85AB8A4CA831}"/>
              </a:ext>
            </a:extLst>
          </p:cNvPr>
          <p:cNvGrpSpPr/>
          <p:nvPr/>
        </p:nvGrpSpPr>
        <p:grpSpPr>
          <a:xfrm>
            <a:off x="1175705" y="4114089"/>
            <a:ext cx="9840589" cy="2093872"/>
            <a:chOff x="1175705" y="4114089"/>
            <a:chExt cx="9840589" cy="2093872"/>
          </a:xfrm>
        </p:grpSpPr>
        <p:sp>
          <p:nvSpPr>
            <p:cNvPr id="12" name="TextBox 11">
              <a:extLst>
                <a:ext uri="{FF2B5EF4-FFF2-40B4-BE49-F238E27FC236}">
                  <a16:creationId xmlns:a16="http://schemas.microsoft.com/office/drawing/2014/main" id="{4226D940-4AC3-816D-E763-0C9397E29912}"/>
                </a:ext>
              </a:extLst>
            </p:cNvPr>
            <p:cNvSpPr txBox="1"/>
            <p:nvPr/>
          </p:nvSpPr>
          <p:spPr>
            <a:xfrm>
              <a:off x="3047326" y="411408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role service-reader --verb=get --verb=list --resource=services -n bar</a:t>
              </a:r>
              <a:endParaRPr lang="ko-KR" altLang="en-US" sz="1000" b="1" dirty="0">
                <a:solidFill>
                  <a:srgbClr val="FF0000"/>
                </a:solidFill>
              </a:endParaRPr>
            </a:p>
          </p:txBody>
        </p:sp>
        <p:pic>
          <p:nvPicPr>
            <p:cNvPr id="14" name="그림 13">
              <a:extLst>
                <a:ext uri="{FF2B5EF4-FFF2-40B4-BE49-F238E27FC236}">
                  <a16:creationId xmlns:a16="http://schemas.microsoft.com/office/drawing/2014/main" id="{273A9BD3-A41E-8FF6-CDDB-4A8503A5775B}"/>
                </a:ext>
              </a:extLst>
            </p:cNvPr>
            <p:cNvPicPr>
              <a:picLocks noChangeAspect="1"/>
            </p:cNvPicPr>
            <p:nvPr/>
          </p:nvPicPr>
          <p:blipFill>
            <a:blip r:embed="rId2"/>
            <a:stretch>
              <a:fillRect/>
            </a:stretch>
          </p:blipFill>
          <p:spPr>
            <a:xfrm>
              <a:off x="1175705" y="4669104"/>
              <a:ext cx="9840589" cy="1538857"/>
            </a:xfrm>
            <a:prstGeom prst="rect">
              <a:avLst/>
            </a:prstGeom>
          </p:spPr>
        </p:pic>
        <p:sp>
          <p:nvSpPr>
            <p:cNvPr id="15" name="화살표: 아래쪽 14">
              <a:extLst>
                <a:ext uri="{FF2B5EF4-FFF2-40B4-BE49-F238E27FC236}">
                  <a16:creationId xmlns:a16="http://schemas.microsoft.com/office/drawing/2014/main" id="{7FADBF45-FBB9-F430-2E70-C6D000CC53ED}"/>
                </a:ext>
              </a:extLst>
            </p:cNvPr>
            <p:cNvSpPr/>
            <p:nvPr/>
          </p:nvSpPr>
          <p:spPr>
            <a:xfrm>
              <a:off x="5869423" y="4360310"/>
              <a:ext cx="453154" cy="30879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64764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Control(RBAC)(15/46)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b="1" dirty="0"/>
              <a:t>The previous two Roles will allow you to list Services in the “foo” and “bar” namespaces from within your two pods (running in the foo and bar namespace, respectively)</a:t>
            </a:r>
            <a:r>
              <a:rPr lang="en-US" altLang="ko-KR" sz="1400" dirty="0"/>
              <a:t>. But creating the two Roles isn’t enough (you can check by executing the “curl” command again). </a:t>
            </a:r>
            <a:r>
              <a:rPr lang="en-US" altLang="ko-KR" sz="1400" b="1" dirty="0"/>
              <a:t>You need to </a:t>
            </a:r>
            <a:r>
              <a:rPr lang="en-US" altLang="ko-KR" sz="1400" b="1" dirty="0">
                <a:solidFill>
                  <a:srgbClr val="FF0000"/>
                </a:solidFill>
              </a:rPr>
              <a:t>bind</a:t>
            </a:r>
            <a:r>
              <a:rPr lang="en-US" altLang="ko-KR" sz="1400" b="1" dirty="0"/>
              <a:t> each of the Roles to the </a:t>
            </a:r>
            <a:r>
              <a:rPr lang="en-US" altLang="ko-KR" sz="1400" b="1" dirty="0" err="1"/>
              <a:t>ServiceAccounts</a:t>
            </a:r>
            <a:r>
              <a:rPr lang="en-US" altLang="ko-KR" sz="1400" b="1" dirty="0"/>
              <a:t> in their respective namespaces</a:t>
            </a:r>
            <a:r>
              <a:rPr lang="en-US" altLang="ko-KR" sz="1400" dirty="0"/>
              <a:t>.</a:t>
            </a:r>
          </a:p>
          <a:p>
            <a:pPr lvl="1">
              <a:buFont typeface="Wingdings" panose="05000000000000000000" pitchFamily="2" charset="2"/>
              <a:buChar char="§"/>
            </a:pPr>
            <a:r>
              <a:rPr lang="en-US" altLang="ko-KR" sz="1400" b="1" dirty="0"/>
              <a:t>A Role defines what actions can be performed</a:t>
            </a:r>
            <a:r>
              <a:rPr lang="en-US" altLang="ko-KR" sz="1400" dirty="0"/>
              <a:t>, </a:t>
            </a:r>
            <a:r>
              <a:rPr lang="en-US" altLang="ko-KR" sz="1400" b="1" dirty="0"/>
              <a:t>but it doesn’t specify </a:t>
            </a:r>
            <a:r>
              <a:rPr lang="en-US" altLang="ko-KR" sz="1400" b="1" dirty="0">
                <a:solidFill>
                  <a:srgbClr val="FF0000"/>
                </a:solidFill>
              </a:rPr>
              <a:t>who</a:t>
            </a:r>
            <a:r>
              <a:rPr lang="en-US" altLang="ko-KR" sz="1400" b="1" dirty="0"/>
              <a:t> can perform them</a:t>
            </a:r>
            <a:r>
              <a:rPr lang="en-US" altLang="ko-KR" sz="1400" dirty="0"/>
              <a:t>. To do that, you must </a:t>
            </a:r>
            <a:r>
              <a:rPr lang="en-US" altLang="ko-KR" sz="1400" b="1" dirty="0">
                <a:solidFill>
                  <a:srgbClr val="FF0000"/>
                </a:solidFill>
              </a:rPr>
              <a:t>bind the Role to a subject</a:t>
            </a:r>
            <a:r>
              <a:rPr lang="en-US" altLang="ko-KR" sz="1400" dirty="0"/>
              <a:t>, </a:t>
            </a:r>
            <a:r>
              <a:rPr lang="en-US" altLang="ko-KR" sz="1400" b="1" dirty="0"/>
              <a:t>which can be a user, a </a:t>
            </a:r>
            <a:r>
              <a:rPr lang="en-US" altLang="ko-KR" sz="1400" b="1" dirty="0" err="1"/>
              <a:t>ServiceAccount</a:t>
            </a:r>
            <a:r>
              <a:rPr lang="en-US" altLang="ko-KR" sz="1400" b="1" dirty="0"/>
              <a:t>, or a group (of users or </a:t>
            </a:r>
            <a:r>
              <a:rPr lang="en-US" altLang="ko-KR" sz="1400" b="1" dirty="0" err="1"/>
              <a:t>ServiceAccounts</a:t>
            </a:r>
            <a:r>
              <a:rPr lang="en-US" altLang="ko-KR" sz="1400" b="1" dirty="0"/>
              <a:t>)</a:t>
            </a:r>
            <a:r>
              <a:rPr lang="en-US" altLang="ko-KR" sz="1400" dirty="0"/>
              <a:t>. </a:t>
            </a:r>
            <a:r>
              <a:rPr lang="en-US" altLang="ko-KR" sz="1400" b="1" dirty="0"/>
              <a:t>Binding Roles to subjects is achieved by creating a </a:t>
            </a:r>
            <a:r>
              <a:rPr lang="en-US" altLang="ko-KR" sz="1400" b="1" dirty="0" err="1">
                <a:solidFill>
                  <a:srgbClr val="FF0000"/>
                </a:solidFill>
              </a:rPr>
              <a:t>RoleBinding</a:t>
            </a:r>
            <a:r>
              <a:rPr lang="en-US" altLang="ko-KR" sz="1400" b="1" dirty="0"/>
              <a:t> resource</a:t>
            </a:r>
            <a:r>
              <a:rPr lang="en-US" altLang="ko-KR" sz="1400" dirty="0"/>
              <a:t>. </a:t>
            </a:r>
            <a:r>
              <a:rPr lang="en-US" altLang="ko-KR" sz="1400" b="1" dirty="0"/>
              <a:t>To bind the Role to the default </a:t>
            </a:r>
            <a:r>
              <a:rPr lang="en-US" altLang="ko-KR" sz="1400" b="1" dirty="0" err="1"/>
              <a:t>ServiceAccount</a:t>
            </a:r>
            <a:r>
              <a:rPr lang="en-US" altLang="ko-KR" sz="1400" dirty="0"/>
              <a:t>, run the following command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CB138712-9FE2-8A67-B7C3-4E7B300B03C6}"/>
              </a:ext>
            </a:extLst>
          </p:cNvPr>
          <p:cNvGrpSpPr/>
          <p:nvPr/>
        </p:nvGrpSpPr>
        <p:grpSpPr>
          <a:xfrm>
            <a:off x="987502" y="3167396"/>
            <a:ext cx="10216995" cy="2110408"/>
            <a:chOff x="987502" y="2870334"/>
            <a:chExt cx="10216995" cy="2110408"/>
          </a:xfrm>
        </p:grpSpPr>
        <p:sp>
          <p:nvSpPr>
            <p:cNvPr id="8" name="TextBox 7">
              <a:extLst>
                <a:ext uri="{FF2B5EF4-FFF2-40B4-BE49-F238E27FC236}">
                  <a16:creationId xmlns:a16="http://schemas.microsoft.com/office/drawing/2014/main" id="{CE1F032C-B4CD-4D00-0C70-A978DAD312AB}"/>
                </a:ext>
              </a:extLst>
            </p:cNvPr>
            <p:cNvSpPr txBox="1"/>
            <p:nvPr/>
          </p:nvSpPr>
          <p:spPr>
            <a:xfrm>
              <a:off x="3047325" y="287033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rolebinding</a:t>
              </a:r>
              <a:r>
                <a:rPr lang="en-US" altLang="ko-KR" sz="1000" b="1" dirty="0">
                  <a:solidFill>
                    <a:srgbClr val="FF0000"/>
                  </a:solidFill>
                </a:rPr>
                <a:t> test --role=service-reader --</a:t>
              </a:r>
              <a:r>
                <a:rPr lang="en-US" altLang="ko-KR" sz="1000" b="1" dirty="0" err="1">
                  <a:solidFill>
                    <a:srgbClr val="FF0000"/>
                  </a:solidFill>
                </a:rPr>
                <a:t>serviceaccount</a:t>
              </a:r>
              <a:r>
                <a:rPr lang="en-US" altLang="ko-KR" sz="1000" b="1" dirty="0">
                  <a:solidFill>
                    <a:srgbClr val="FF0000"/>
                  </a:solidFill>
                </a:rPr>
                <a:t>=</a:t>
              </a:r>
              <a:r>
                <a:rPr lang="en-US" altLang="ko-KR" sz="1000" b="1" dirty="0" err="1">
                  <a:solidFill>
                    <a:srgbClr val="FF0000"/>
                  </a:solidFill>
                </a:rPr>
                <a:t>foo:default</a:t>
              </a:r>
              <a:r>
                <a:rPr lang="en-US" altLang="ko-KR" sz="1000" b="1" dirty="0">
                  <a:solidFill>
                    <a:srgbClr val="FF0000"/>
                  </a:solidFill>
                </a:rPr>
                <a:t> -n foo</a:t>
              </a:r>
            </a:p>
          </p:txBody>
        </p:sp>
        <p:pic>
          <p:nvPicPr>
            <p:cNvPr id="10" name="그림 9">
              <a:extLst>
                <a:ext uri="{FF2B5EF4-FFF2-40B4-BE49-F238E27FC236}">
                  <a16:creationId xmlns:a16="http://schemas.microsoft.com/office/drawing/2014/main" id="{348EA1E3-2659-7934-7D5C-1BBFA8005ED7}"/>
                </a:ext>
              </a:extLst>
            </p:cNvPr>
            <p:cNvPicPr>
              <a:picLocks noChangeAspect="1"/>
            </p:cNvPicPr>
            <p:nvPr/>
          </p:nvPicPr>
          <p:blipFill>
            <a:blip r:embed="rId2"/>
            <a:stretch>
              <a:fillRect/>
            </a:stretch>
          </p:blipFill>
          <p:spPr>
            <a:xfrm>
              <a:off x="987502" y="3429000"/>
              <a:ext cx="10216995" cy="1551742"/>
            </a:xfrm>
            <a:prstGeom prst="rect">
              <a:avLst/>
            </a:prstGeom>
          </p:spPr>
        </p:pic>
        <p:sp>
          <p:nvSpPr>
            <p:cNvPr id="11" name="화살표: 아래쪽 10">
              <a:extLst>
                <a:ext uri="{FF2B5EF4-FFF2-40B4-BE49-F238E27FC236}">
                  <a16:creationId xmlns:a16="http://schemas.microsoft.com/office/drawing/2014/main" id="{DC7771D9-EE32-7FC4-6923-EF4E21C2A56F}"/>
                </a:ext>
              </a:extLst>
            </p:cNvPr>
            <p:cNvSpPr/>
            <p:nvPr/>
          </p:nvSpPr>
          <p:spPr>
            <a:xfrm>
              <a:off x="5881560" y="3116555"/>
              <a:ext cx="428878"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159799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Control(RBAC)(16/46)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b="1" dirty="0"/>
              <a:t>You’re creating a </a:t>
            </a:r>
            <a:r>
              <a:rPr lang="en-US" altLang="ko-KR" sz="1400" b="1" dirty="0" err="1">
                <a:solidFill>
                  <a:srgbClr val="FF0000"/>
                </a:solidFill>
              </a:rPr>
              <a:t>RoleBinding</a:t>
            </a:r>
            <a:r>
              <a:rPr lang="en-US" altLang="ko-KR" sz="1400" b="1" dirty="0"/>
              <a:t>, which binds the service-reader Role to the default </a:t>
            </a:r>
            <a:r>
              <a:rPr lang="en-US" altLang="ko-KR" sz="1400" b="1" dirty="0" err="1"/>
              <a:t>ServiceAccount</a:t>
            </a:r>
            <a:r>
              <a:rPr lang="en-US" altLang="ko-KR" sz="1400" b="1" dirty="0"/>
              <a:t> in namespace “foo”</a:t>
            </a:r>
            <a:r>
              <a:rPr lang="en-US" altLang="ko-KR" sz="1400" dirty="0"/>
              <a:t>. </a:t>
            </a:r>
            <a:r>
              <a:rPr lang="en-US" altLang="ko-KR" sz="1400" b="1" dirty="0"/>
              <a:t>You’re creating the </a:t>
            </a:r>
            <a:r>
              <a:rPr lang="en-US" altLang="ko-KR" sz="1400" b="1" dirty="0" err="1"/>
              <a:t>RoleBinding</a:t>
            </a:r>
            <a:r>
              <a:rPr lang="en-US" altLang="ko-KR" sz="1400" b="1" dirty="0"/>
              <a:t> in namespace “foo”</a:t>
            </a:r>
            <a:r>
              <a:rPr lang="en-US" altLang="ko-KR" sz="1400" dirty="0"/>
              <a:t>. </a:t>
            </a:r>
            <a:r>
              <a:rPr lang="en-US" altLang="ko-KR" sz="1400" b="1" dirty="0"/>
              <a:t>The </a:t>
            </a:r>
            <a:r>
              <a:rPr lang="en-US" altLang="ko-KR" sz="1400" b="1" dirty="0" err="1"/>
              <a:t>RoleBinding</a:t>
            </a:r>
            <a:r>
              <a:rPr lang="en-US" altLang="ko-KR" sz="1400" b="1" dirty="0"/>
              <a:t> and the referenced </a:t>
            </a:r>
            <a:r>
              <a:rPr lang="en-US" altLang="ko-KR" sz="1400" b="1" dirty="0" err="1"/>
              <a:t>ServiceAccount</a:t>
            </a:r>
            <a:r>
              <a:rPr lang="en-US" altLang="ko-KR" sz="1400" b="1" dirty="0"/>
              <a:t> and Role</a:t>
            </a:r>
            <a:r>
              <a:rPr lang="en-US" altLang="ko-KR" sz="1400" dirty="0"/>
              <a:t> are shown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To bind a Role to a user instead of a </a:t>
            </a:r>
            <a:r>
              <a:rPr lang="en-US" altLang="ko-KR" sz="1400" b="1" dirty="0" err="1"/>
              <a:t>ServiceAccount</a:t>
            </a:r>
            <a:r>
              <a:rPr lang="en-US" altLang="ko-KR" sz="1400" b="1" dirty="0"/>
              <a:t>, use the “</a:t>
            </a:r>
            <a:r>
              <a:rPr lang="en-US" altLang="ko-KR" sz="1400" b="1" dirty="0">
                <a:solidFill>
                  <a:srgbClr val="FF0000"/>
                </a:solidFill>
              </a:rPr>
              <a:t>--user</a:t>
            </a:r>
            <a:r>
              <a:rPr lang="en-US" altLang="ko-KR" sz="1400" b="1" dirty="0"/>
              <a:t>” argument to specify the username</a:t>
            </a:r>
            <a:r>
              <a:rPr lang="en-US" altLang="ko-KR" sz="1400" dirty="0"/>
              <a:t>. </a:t>
            </a:r>
            <a:r>
              <a:rPr lang="en-US" altLang="ko-KR" sz="1400" b="1" dirty="0"/>
              <a:t>To bind it to a group, use </a:t>
            </a:r>
            <a:r>
              <a:rPr lang="en-US" altLang="ko-KR" sz="1400" b="1" dirty="0">
                <a:solidFill>
                  <a:srgbClr val="FF0000"/>
                </a:solidFill>
              </a:rPr>
              <a:t>“--group</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D160EC6-86BF-1456-C390-FFBE0E157B16}"/>
              </a:ext>
            </a:extLst>
          </p:cNvPr>
          <p:cNvGrpSpPr/>
          <p:nvPr/>
        </p:nvGrpSpPr>
        <p:grpSpPr>
          <a:xfrm>
            <a:off x="3762375" y="2080874"/>
            <a:ext cx="4667250" cy="2162175"/>
            <a:chOff x="3762375" y="1959494"/>
            <a:chExt cx="4667250" cy="2162175"/>
          </a:xfrm>
        </p:grpSpPr>
        <p:pic>
          <p:nvPicPr>
            <p:cNvPr id="8" name="그림 7">
              <a:extLst>
                <a:ext uri="{FF2B5EF4-FFF2-40B4-BE49-F238E27FC236}">
                  <a16:creationId xmlns:a16="http://schemas.microsoft.com/office/drawing/2014/main" id="{AC0ED24C-A08D-C72C-2D4D-7F5474C6DAE5}"/>
                </a:ext>
              </a:extLst>
            </p:cNvPr>
            <p:cNvPicPr>
              <a:picLocks noChangeAspect="1"/>
            </p:cNvPicPr>
            <p:nvPr/>
          </p:nvPicPr>
          <p:blipFill>
            <a:blip r:embed="rId2"/>
            <a:stretch>
              <a:fillRect/>
            </a:stretch>
          </p:blipFill>
          <p:spPr>
            <a:xfrm>
              <a:off x="3762375" y="1959494"/>
              <a:ext cx="4667250" cy="2162175"/>
            </a:xfrm>
            <a:prstGeom prst="rect">
              <a:avLst/>
            </a:prstGeom>
          </p:spPr>
        </p:pic>
        <p:sp>
          <p:nvSpPr>
            <p:cNvPr id="9" name="직사각형 8">
              <a:extLst>
                <a:ext uri="{FF2B5EF4-FFF2-40B4-BE49-F238E27FC236}">
                  <a16:creationId xmlns:a16="http://schemas.microsoft.com/office/drawing/2014/main" id="{65723606-F0B3-8C2D-73C2-DF65D832B836}"/>
                </a:ext>
              </a:extLst>
            </p:cNvPr>
            <p:cNvSpPr/>
            <p:nvPr/>
          </p:nvSpPr>
          <p:spPr>
            <a:xfrm>
              <a:off x="4790485" y="2314322"/>
              <a:ext cx="2023009" cy="5583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11415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Control(RBAC)(17/46)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dirty="0"/>
              <a:t>The following listing shows </a:t>
            </a:r>
            <a:r>
              <a:rPr lang="en-US" altLang="ko-KR" sz="1400" b="1" dirty="0"/>
              <a:t>the YAML of the </a:t>
            </a:r>
            <a:r>
              <a:rPr lang="en-US" altLang="ko-KR" sz="1400" b="1" dirty="0" err="1"/>
              <a:t>RoleBinding</a:t>
            </a:r>
            <a:r>
              <a:rPr lang="en-US" altLang="ko-KR" sz="1400" b="1" dirty="0"/>
              <a:t> </a:t>
            </a:r>
            <a:r>
              <a:rPr lang="en-US" altLang="ko-KR" sz="1400" dirty="0"/>
              <a:t>you created.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As you can see, a </a:t>
            </a:r>
            <a:r>
              <a:rPr lang="en-US" altLang="ko-KR" sz="1400" b="1" dirty="0" err="1"/>
              <a:t>RoleBinding</a:t>
            </a:r>
            <a:r>
              <a:rPr lang="en-US" altLang="ko-KR" sz="1400" b="1" dirty="0"/>
              <a:t> always references a single Role (as evident from the “</a:t>
            </a:r>
            <a:r>
              <a:rPr lang="en-US" altLang="ko-KR" sz="1400" b="1" dirty="0" err="1">
                <a:solidFill>
                  <a:srgbClr val="FF0000"/>
                </a:solidFill>
              </a:rPr>
              <a:t>roleRef</a:t>
            </a:r>
            <a:r>
              <a:rPr lang="en-US" altLang="ko-KR" sz="1400" b="1" dirty="0"/>
              <a:t>” property)</a:t>
            </a:r>
            <a:r>
              <a:rPr lang="en-US" altLang="ko-KR" sz="1400" dirty="0"/>
              <a:t>, </a:t>
            </a:r>
            <a:r>
              <a:rPr lang="en-US" altLang="ko-KR" sz="1400" b="1" dirty="0"/>
              <a:t>but can bind the Role to multiple subjects </a:t>
            </a:r>
            <a:r>
              <a:rPr lang="en-US" altLang="ko-KR" sz="1400" dirty="0"/>
              <a:t>(for example, </a:t>
            </a:r>
            <a:r>
              <a:rPr lang="en-US" altLang="ko-KR" sz="1400" b="1" dirty="0"/>
              <a:t>one or more </a:t>
            </a:r>
            <a:r>
              <a:rPr lang="en-US" altLang="ko-KR" sz="1400" b="1" dirty="0" err="1"/>
              <a:t>ServiceAccounts</a:t>
            </a:r>
            <a:r>
              <a:rPr lang="en-US" altLang="ko-KR" sz="1400" b="1" dirty="0"/>
              <a:t> </a:t>
            </a:r>
            <a:r>
              <a:rPr lang="en-US" altLang="ko-KR" sz="1400" dirty="0"/>
              <a:t>and </a:t>
            </a:r>
            <a:r>
              <a:rPr lang="en-US" altLang="ko-KR" sz="1400" b="1" dirty="0"/>
              <a:t>any number of users or groups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44B83311-9F43-3421-E78B-F4987607DB6D}"/>
              </a:ext>
            </a:extLst>
          </p:cNvPr>
          <p:cNvGrpSpPr/>
          <p:nvPr/>
        </p:nvGrpSpPr>
        <p:grpSpPr>
          <a:xfrm>
            <a:off x="999703" y="1540970"/>
            <a:ext cx="10192593" cy="3776060"/>
            <a:chOff x="999703" y="1522754"/>
            <a:chExt cx="10192593" cy="3776060"/>
          </a:xfrm>
        </p:grpSpPr>
        <p:grpSp>
          <p:nvGrpSpPr>
            <p:cNvPr id="12" name="그룹 11">
              <a:extLst>
                <a:ext uri="{FF2B5EF4-FFF2-40B4-BE49-F238E27FC236}">
                  <a16:creationId xmlns:a16="http://schemas.microsoft.com/office/drawing/2014/main" id="{E5353471-E165-4BE9-1CC9-B0487F948809}"/>
                </a:ext>
              </a:extLst>
            </p:cNvPr>
            <p:cNvGrpSpPr/>
            <p:nvPr/>
          </p:nvGrpSpPr>
          <p:grpSpPr>
            <a:xfrm>
              <a:off x="999703" y="1522754"/>
              <a:ext cx="10192593" cy="3776060"/>
              <a:chOff x="999703" y="1522754"/>
              <a:chExt cx="10192593" cy="3776060"/>
            </a:xfrm>
          </p:grpSpPr>
          <p:sp>
            <p:nvSpPr>
              <p:cNvPr id="8" name="TextBox 7">
                <a:extLst>
                  <a:ext uri="{FF2B5EF4-FFF2-40B4-BE49-F238E27FC236}">
                    <a16:creationId xmlns:a16="http://schemas.microsoft.com/office/drawing/2014/main" id="{884281D3-AE31-62C5-2FEE-8F0F84350F1C}"/>
                  </a:ext>
                </a:extLst>
              </p:cNvPr>
              <p:cNvSpPr txBox="1"/>
              <p:nvPr/>
            </p:nvSpPr>
            <p:spPr>
              <a:xfrm>
                <a:off x="3047326" y="152275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rolebinding</a:t>
                </a:r>
                <a:r>
                  <a:rPr lang="en-US" altLang="ko-KR" sz="1000" b="1" dirty="0">
                    <a:solidFill>
                      <a:srgbClr val="FF0000"/>
                    </a:solidFill>
                  </a:rPr>
                  <a:t> test -n foo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0B839271-EE52-AA9E-ED30-40E6048D4C1B}"/>
                  </a:ext>
                </a:extLst>
              </p:cNvPr>
              <p:cNvSpPr/>
              <p:nvPr/>
            </p:nvSpPr>
            <p:spPr>
              <a:xfrm>
                <a:off x="5889653" y="1768975"/>
                <a:ext cx="412694" cy="3106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F129559-A3D8-AC03-CB9E-B663F9530341}"/>
                  </a:ext>
                </a:extLst>
              </p:cNvPr>
              <p:cNvPicPr>
                <a:picLocks noChangeAspect="1"/>
              </p:cNvPicPr>
              <p:nvPr/>
            </p:nvPicPr>
            <p:blipFill>
              <a:blip r:embed="rId2"/>
              <a:stretch>
                <a:fillRect/>
              </a:stretch>
            </p:blipFill>
            <p:spPr>
              <a:xfrm>
                <a:off x="999703" y="2079653"/>
                <a:ext cx="10192593" cy="3219161"/>
              </a:xfrm>
              <a:prstGeom prst="rect">
                <a:avLst/>
              </a:prstGeom>
            </p:spPr>
          </p:pic>
        </p:grpSp>
        <p:sp>
          <p:nvSpPr>
            <p:cNvPr id="13" name="직사각형 12">
              <a:extLst>
                <a:ext uri="{FF2B5EF4-FFF2-40B4-BE49-F238E27FC236}">
                  <a16:creationId xmlns:a16="http://schemas.microsoft.com/office/drawing/2014/main" id="{91859166-E4EE-2960-9751-31E56007D6F2}"/>
                </a:ext>
              </a:extLst>
            </p:cNvPr>
            <p:cNvSpPr/>
            <p:nvPr/>
          </p:nvSpPr>
          <p:spPr>
            <a:xfrm>
              <a:off x="1060057" y="4580092"/>
              <a:ext cx="1642683" cy="4693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3A180634-F455-50F8-04B9-7F04C313CC16}"/>
                </a:ext>
              </a:extLst>
            </p:cNvPr>
            <p:cNvSpPr/>
            <p:nvPr/>
          </p:nvSpPr>
          <p:spPr>
            <a:xfrm>
              <a:off x="1060057" y="4021742"/>
              <a:ext cx="2662279" cy="4046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99207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Control(RBAC)(18/46)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b="1" dirty="0"/>
              <a:t>Because the previous </a:t>
            </a:r>
            <a:r>
              <a:rPr lang="en-US" altLang="ko-KR" sz="1400" b="1" dirty="0" err="1"/>
              <a:t>RoleBinding</a:t>
            </a:r>
            <a:r>
              <a:rPr lang="en-US" altLang="ko-KR" sz="1400" b="1" dirty="0"/>
              <a:t> binds the Role to the </a:t>
            </a:r>
            <a:r>
              <a:rPr lang="en-US" altLang="ko-KR" sz="1400" b="1" dirty="0" err="1"/>
              <a:t>ServiceAccount</a:t>
            </a:r>
            <a:r>
              <a:rPr lang="en-US" altLang="ko-KR" sz="1400" b="1" dirty="0"/>
              <a:t> the pod in namespace “foo” is running under, you can now list Services from within that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AAF3518-F79F-B070-9EF0-E69CADF7D945}"/>
              </a:ext>
            </a:extLst>
          </p:cNvPr>
          <p:cNvGrpSpPr/>
          <p:nvPr/>
        </p:nvGrpSpPr>
        <p:grpSpPr>
          <a:xfrm>
            <a:off x="846251" y="1985300"/>
            <a:ext cx="10507549" cy="2887400"/>
            <a:chOff x="846251" y="1708870"/>
            <a:chExt cx="10507549" cy="2887400"/>
          </a:xfrm>
        </p:grpSpPr>
        <p:sp>
          <p:nvSpPr>
            <p:cNvPr id="8" name="TextBox 7">
              <a:extLst>
                <a:ext uri="{FF2B5EF4-FFF2-40B4-BE49-F238E27FC236}">
                  <a16:creationId xmlns:a16="http://schemas.microsoft.com/office/drawing/2014/main" id="{7BBFF0B4-3735-FB3A-C875-753CC1CA0B61}"/>
                </a:ext>
              </a:extLst>
            </p:cNvPr>
            <p:cNvSpPr txBox="1"/>
            <p:nvPr/>
          </p:nvSpPr>
          <p:spPr>
            <a:xfrm>
              <a:off x="3047326" y="1708870"/>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test -n foo -- </a:t>
              </a:r>
              <a:r>
                <a:rPr lang="en-US" altLang="ko-KR" sz="1000" b="1" dirty="0" err="1"/>
                <a:t>sh</a:t>
              </a:r>
              <a:endParaRPr lang="en-US" altLang="ko-KR" sz="1000" b="1" dirty="0"/>
            </a:p>
            <a:p>
              <a:r>
                <a:rPr lang="en-US" altLang="ko-KR" sz="1000" b="1" dirty="0"/>
                <a:t>/ # curl localhost:8001/</a:t>
              </a:r>
              <a:r>
                <a:rPr lang="en-US" altLang="ko-KR" sz="1000" b="1" dirty="0" err="1"/>
                <a:t>api</a:t>
              </a:r>
              <a:r>
                <a:rPr lang="en-US" altLang="ko-KR" sz="1000" b="1" dirty="0"/>
                <a:t>/v1/namespaces/foo/services</a:t>
              </a:r>
              <a:endParaRPr lang="ko-KR" altLang="en-US" sz="1000" b="1" dirty="0"/>
            </a:p>
          </p:txBody>
        </p:sp>
        <p:sp>
          <p:nvSpPr>
            <p:cNvPr id="9" name="화살표: 아래쪽 8">
              <a:extLst>
                <a:ext uri="{FF2B5EF4-FFF2-40B4-BE49-F238E27FC236}">
                  <a16:creationId xmlns:a16="http://schemas.microsoft.com/office/drawing/2014/main" id="{9D6CB7CB-F8E0-1485-2656-1A33A574A6C2}"/>
                </a:ext>
              </a:extLst>
            </p:cNvPr>
            <p:cNvSpPr/>
            <p:nvPr/>
          </p:nvSpPr>
          <p:spPr>
            <a:xfrm>
              <a:off x="5853239" y="2110449"/>
              <a:ext cx="485522" cy="33177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956A48F1-D3B4-EBD8-409E-7FE059C651AE}"/>
                </a:ext>
              </a:extLst>
            </p:cNvPr>
            <p:cNvPicPr>
              <a:picLocks noChangeAspect="1"/>
            </p:cNvPicPr>
            <p:nvPr/>
          </p:nvPicPr>
          <p:blipFill>
            <a:blip r:embed="rId2"/>
            <a:stretch>
              <a:fillRect/>
            </a:stretch>
          </p:blipFill>
          <p:spPr>
            <a:xfrm>
              <a:off x="846251" y="2442223"/>
              <a:ext cx="10507549" cy="2154047"/>
            </a:xfrm>
            <a:prstGeom prst="rect">
              <a:avLst/>
            </a:prstGeom>
          </p:spPr>
        </p:pic>
      </p:grpSp>
    </p:spTree>
    <p:extLst>
      <p:ext uri="{BB962C8B-B14F-4D97-AF65-F5344CB8AC3E}">
        <p14:creationId xmlns:p14="http://schemas.microsoft.com/office/powerpoint/2010/main" val="4232245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Control(RBAC)(19/46)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b="1" dirty="0"/>
              <a:t>The pod in namespace bar can’t list the Services in its own namespace</a:t>
            </a:r>
            <a:r>
              <a:rPr lang="en-US" altLang="ko-KR" sz="1400" dirty="0"/>
              <a:t>, and obviously also not those in the foo namespace. But you can </a:t>
            </a:r>
            <a:r>
              <a:rPr lang="en-US" altLang="ko-KR" sz="1400" b="1" dirty="0"/>
              <a:t>edit your </a:t>
            </a:r>
            <a:r>
              <a:rPr lang="en-US" altLang="ko-KR" sz="1400" b="1" dirty="0" err="1"/>
              <a:t>RoleBinding</a:t>
            </a:r>
            <a:r>
              <a:rPr lang="en-US" altLang="ko-KR" sz="1400" b="1" dirty="0"/>
              <a:t> in the “foo” namespace and </a:t>
            </a:r>
            <a:r>
              <a:rPr lang="en-US" altLang="ko-KR" sz="1400" b="1" dirty="0">
                <a:solidFill>
                  <a:srgbClr val="FF0000"/>
                </a:solidFill>
              </a:rPr>
              <a:t>add</a:t>
            </a:r>
            <a:r>
              <a:rPr lang="en-US" altLang="ko-KR" sz="1400" b="1" dirty="0"/>
              <a:t> the other pod’s </a:t>
            </a:r>
            <a:r>
              <a:rPr lang="en-US" altLang="ko-KR" sz="1400" b="1" dirty="0" err="1"/>
              <a:t>ServiceAccount</a:t>
            </a:r>
            <a:r>
              <a:rPr lang="en-US" altLang="ko-KR" sz="1400" dirty="0"/>
              <a:t>, even though it’s in a different namespace. </a:t>
            </a:r>
          </a:p>
          <a:p>
            <a:pPr lvl="1">
              <a:buFont typeface="Wingdings" panose="05000000000000000000" pitchFamily="2" charset="2"/>
              <a:buChar char="§"/>
            </a:pPr>
            <a:r>
              <a:rPr lang="en-US" altLang="ko-KR" sz="1400" b="1" dirty="0"/>
              <a:t>Run the following command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1F521B52-0D30-374B-8C74-0FBBDF2D0827}"/>
              </a:ext>
            </a:extLst>
          </p:cNvPr>
          <p:cNvGrpSpPr/>
          <p:nvPr/>
        </p:nvGrpSpPr>
        <p:grpSpPr>
          <a:xfrm>
            <a:off x="1010862" y="2129531"/>
            <a:ext cx="10170276" cy="4279499"/>
            <a:chOff x="1010862" y="2137748"/>
            <a:chExt cx="10170276" cy="4279499"/>
          </a:xfrm>
        </p:grpSpPr>
        <p:grpSp>
          <p:nvGrpSpPr>
            <p:cNvPr id="14" name="그룹 13">
              <a:extLst>
                <a:ext uri="{FF2B5EF4-FFF2-40B4-BE49-F238E27FC236}">
                  <a16:creationId xmlns:a16="http://schemas.microsoft.com/office/drawing/2014/main" id="{8CA4D692-5F20-E7F2-98F4-1EDE377F0D69}"/>
                </a:ext>
              </a:extLst>
            </p:cNvPr>
            <p:cNvGrpSpPr/>
            <p:nvPr/>
          </p:nvGrpSpPr>
          <p:grpSpPr>
            <a:xfrm>
              <a:off x="1010862" y="2137748"/>
              <a:ext cx="10170276" cy="2652016"/>
              <a:chOff x="1010862" y="2137748"/>
              <a:chExt cx="10170276" cy="2652016"/>
            </a:xfrm>
          </p:grpSpPr>
          <p:grpSp>
            <p:nvGrpSpPr>
              <p:cNvPr id="12" name="그룹 11">
                <a:extLst>
                  <a:ext uri="{FF2B5EF4-FFF2-40B4-BE49-F238E27FC236}">
                    <a16:creationId xmlns:a16="http://schemas.microsoft.com/office/drawing/2014/main" id="{3BA2E2DD-9621-7DC2-6E01-633DDFE7AEC4}"/>
                  </a:ext>
                </a:extLst>
              </p:cNvPr>
              <p:cNvGrpSpPr/>
              <p:nvPr/>
            </p:nvGrpSpPr>
            <p:grpSpPr>
              <a:xfrm>
                <a:off x="1010862" y="2137748"/>
                <a:ext cx="10170276" cy="2652016"/>
                <a:chOff x="1010862" y="2137748"/>
                <a:chExt cx="10170276" cy="2652016"/>
              </a:xfrm>
            </p:grpSpPr>
            <p:sp>
              <p:nvSpPr>
                <p:cNvPr id="8" name="TextBox 7">
                  <a:extLst>
                    <a:ext uri="{FF2B5EF4-FFF2-40B4-BE49-F238E27FC236}">
                      <a16:creationId xmlns:a16="http://schemas.microsoft.com/office/drawing/2014/main" id="{4010A90F-1F36-777E-8083-8D506E38DFE2}"/>
                    </a:ext>
                  </a:extLst>
                </p:cNvPr>
                <p:cNvSpPr txBox="1"/>
                <p:nvPr/>
              </p:nvSpPr>
              <p:spPr>
                <a:xfrm>
                  <a:off x="3047326" y="213774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edit </a:t>
                  </a:r>
                  <a:r>
                    <a:rPr lang="en-US" altLang="ko-KR" sz="1000" b="1" dirty="0" err="1">
                      <a:solidFill>
                        <a:srgbClr val="FF0000"/>
                      </a:solidFill>
                    </a:rPr>
                    <a:t>rolebinding</a:t>
                  </a:r>
                  <a:r>
                    <a:rPr lang="en-US" altLang="ko-KR" sz="1000" b="1" dirty="0">
                      <a:solidFill>
                        <a:srgbClr val="FF0000"/>
                      </a:solidFill>
                    </a:rPr>
                    <a:t> test -n foo</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85C71DDF-B185-8C2D-6A88-9FA75A71570A}"/>
                    </a:ext>
                  </a:extLst>
                </p:cNvPr>
                <p:cNvPicPr>
                  <a:picLocks noChangeAspect="1"/>
                </p:cNvPicPr>
                <p:nvPr/>
              </p:nvPicPr>
              <p:blipFill>
                <a:blip r:embed="rId2"/>
                <a:stretch>
                  <a:fillRect/>
                </a:stretch>
              </p:blipFill>
              <p:spPr>
                <a:xfrm>
                  <a:off x="1010862" y="2704857"/>
                  <a:ext cx="10170276" cy="2084907"/>
                </a:xfrm>
                <a:prstGeom prst="rect">
                  <a:avLst/>
                </a:prstGeom>
              </p:spPr>
            </p:pic>
            <p:sp>
              <p:nvSpPr>
                <p:cNvPr id="11" name="화살표: 아래쪽 10">
                  <a:extLst>
                    <a:ext uri="{FF2B5EF4-FFF2-40B4-BE49-F238E27FC236}">
                      <a16:creationId xmlns:a16="http://schemas.microsoft.com/office/drawing/2014/main" id="{4CB8668F-F1EA-D490-A868-567BA298A124}"/>
                    </a:ext>
                  </a:extLst>
                </p:cNvPr>
                <p:cNvSpPr/>
                <p:nvPr/>
              </p:nvSpPr>
              <p:spPr>
                <a:xfrm>
                  <a:off x="5861331" y="2400402"/>
                  <a:ext cx="469338" cy="30445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5173097-B831-D3F9-9F1C-5BF1FEC7EF76}"/>
                  </a:ext>
                </a:extLst>
              </p:cNvPr>
              <p:cNvSpPr/>
              <p:nvPr/>
            </p:nvSpPr>
            <p:spPr>
              <a:xfrm>
                <a:off x="1391831" y="3924763"/>
                <a:ext cx="1577946" cy="5825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6" name="그림 15">
              <a:extLst>
                <a:ext uri="{FF2B5EF4-FFF2-40B4-BE49-F238E27FC236}">
                  <a16:creationId xmlns:a16="http://schemas.microsoft.com/office/drawing/2014/main" id="{5BF57B9C-3E0E-B9B5-C9E2-B95F773B5F61}"/>
                </a:ext>
              </a:extLst>
            </p:cNvPr>
            <p:cNvPicPr>
              <a:picLocks noChangeAspect="1"/>
            </p:cNvPicPr>
            <p:nvPr/>
          </p:nvPicPr>
          <p:blipFill>
            <a:blip r:embed="rId3"/>
            <a:stretch>
              <a:fillRect/>
            </a:stretch>
          </p:blipFill>
          <p:spPr>
            <a:xfrm>
              <a:off x="1010862" y="4806953"/>
              <a:ext cx="10170276" cy="1610294"/>
            </a:xfrm>
            <a:prstGeom prst="rect">
              <a:avLst/>
            </a:prstGeom>
          </p:spPr>
        </p:pic>
      </p:grpSp>
    </p:spTree>
    <p:extLst>
      <p:ext uri="{BB962C8B-B14F-4D97-AF65-F5344CB8AC3E}">
        <p14:creationId xmlns:p14="http://schemas.microsoft.com/office/powerpoint/2010/main" val="1784910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Control(RBAC)(20/46)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Roles and </a:t>
            </a:r>
            <a:r>
              <a:rPr lang="en-US" altLang="ko-KR" sz="1800" b="1" dirty="0" err="1"/>
              <a:t>RoleBindings</a:t>
            </a:r>
            <a:r>
              <a:rPr lang="en-US" altLang="ko-KR" sz="1800" b="1" dirty="0"/>
              <a:t> :</a:t>
            </a:r>
            <a:endParaRPr lang="en-US" altLang="ko-KR" sz="1400" dirty="0"/>
          </a:p>
          <a:p>
            <a:pPr lvl="1">
              <a:buFont typeface="Wingdings" panose="05000000000000000000" pitchFamily="2" charset="2"/>
              <a:buChar char="§"/>
            </a:pPr>
            <a:r>
              <a:rPr lang="en-US" altLang="ko-KR" sz="1400" dirty="0"/>
              <a:t>Now you can also list Services in the “</a:t>
            </a:r>
            <a:r>
              <a:rPr lang="en-US" altLang="ko-KR" sz="1400" b="1" dirty="0"/>
              <a:t>foo</a:t>
            </a:r>
            <a:r>
              <a:rPr lang="en-US" altLang="ko-KR" sz="1400" dirty="0"/>
              <a:t>” namespace from inside the pod running in the “</a:t>
            </a:r>
            <a:r>
              <a:rPr lang="en-US" altLang="ko-KR" sz="1400" b="1" dirty="0"/>
              <a:t>bar</a:t>
            </a:r>
            <a:r>
              <a:rPr lang="en-US" altLang="ko-KR" sz="1400" dirty="0"/>
              <a:t>” namespace.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you have a </a:t>
            </a:r>
            <a:r>
              <a:rPr lang="en-US" altLang="ko-KR" sz="1400" b="1" dirty="0" err="1"/>
              <a:t>RoleBinding</a:t>
            </a:r>
            <a:r>
              <a:rPr lang="en-US" altLang="ko-KR" sz="1400" dirty="0"/>
              <a:t> in namespace “</a:t>
            </a:r>
            <a:r>
              <a:rPr lang="en-US" altLang="ko-KR" sz="1400" b="1" dirty="0"/>
              <a:t>foo</a:t>
            </a:r>
            <a:r>
              <a:rPr lang="en-US" altLang="ko-KR" sz="1400" dirty="0"/>
              <a:t>”, which </a:t>
            </a:r>
            <a:r>
              <a:rPr lang="en-US" altLang="ko-KR" sz="1400" b="1" dirty="0"/>
              <a:t>references the service-reader Role </a:t>
            </a:r>
            <a:r>
              <a:rPr lang="en-US" altLang="ko-KR" sz="1400" dirty="0"/>
              <a:t>(</a:t>
            </a:r>
            <a:r>
              <a:rPr lang="en-US" altLang="ko-KR" sz="1400" b="1" dirty="0"/>
              <a:t>also in the “foo” namespace</a:t>
            </a:r>
            <a:r>
              <a:rPr lang="en-US" altLang="ko-KR" sz="1400" dirty="0"/>
              <a:t>) and </a:t>
            </a:r>
            <a:r>
              <a:rPr lang="en-US" altLang="ko-KR" sz="1400" b="1" dirty="0"/>
              <a:t>binds the default </a:t>
            </a:r>
            <a:r>
              <a:rPr lang="en-US" altLang="ko-KR" sz="1400" b="1" dirty="0" err="1"/>
              <a:t>ServiceAccounts</a:t>
            </a:r>
            <a:r>
              <a:rPr lang="en-US" altLang="ko-KR" sz="1400" b="1" dirty="0"/>
              <a:t> in both the “foo” and the “bar” namespaces</a:t>
            </a:r>
            <a:r>
              <a:rPr lang="en-US" altLang="ko-KR" sz="1400" dirty="0"/>
              <a:t>, as depicted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5E1BCAFC-F685-32C4-2F5F-05EC20EBD37B}"/>
              </a:ext>
            </a:extLst>
          </p:cNvPr>
          <p:cNvGrpSpPr/>
          <p:nvPr/>
        </p:nvGrpSpPr>
        <p:grpSpPr>
          <a:xfrm>
            <a:off x="916459" y="1459032"/>
            <a:ext cx="10359080" cy="2106346"/>
            <a:chOff x="916460" y="1459032"/>
            <a:chExt cx="10359080" cy="2106346"/>
          </a:xfrm>
        </p:grpSpPr>
        <p:pic>
          <p:nvPicPr>
            <p:cNvPr id="8" name="그림 7">
              <a:extLst>
                <a:ext uri="{FF2B5EF4-FFF2-40B4-BE49-F238E27FC236}">
                  <a16:creationId xmlns:a16="http://schemas.microsoft.com/office/drawing/2014/main" id="{FC5B962A-5F18-5003-392A-468302D11265}"/>
                </a:ext>
              </a:extLst>
            </p:cNvPr>
            <p:cNvPicPr>
              <a:picLocks noChangeAspect="1"/>
            </p:cNvPicPr>
            <p:nvPr/>
          </p:nvPicPr>
          <p:blipFill>
            <a:blip r:embed="rId2"/>
            <a:stretch>
              <a:fillRect/>
            </a:stretch>
          </p:blipFill>
          <p:spPr>
            <a:xfrm>
              <a:off x="916460" y="1459032"/>
              <a:ext cx="10359080" cy="2106346"/>
            </a:xfrm>
            <a:prstGeom prst="rect">
              <a:avLst/>
            </a:prstGeom>
          </p:spPr>
        </p:pic>
        <p:sp>
          <p:nvSpPr>
            <p:cNvPr id="9" name="직사각형 8">
              <a:extLst>
                <a:ext uri="{FF2B5EF4-FFF2-40B4-BE49-F238E27FC236}">
                  <a16:creationId xmlns:a16="http://schemas.microsoft.com/office/drawing/2014/main" id="{53EF6486-0DEA-740B-C758-13D42E45137F}"/>
                </a:ext>
              </a:extLst>
            </p:cNvPr>
            <p:cNvSpPr/>
            <p:nvPr/>
          </p:nvSpPr>
          <p:spPr>
            <a:xfrm>
              <a:off x="5316467" y="1925904"/>
              <a:ext cx="2459979"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AFE91825-769A-DBAE-7956-8643898439FF}"/>
                </a:ext>
              </a:extLst>
            </p:cNvPr>
            <p:cNvSpPr/>
            <p:nvPr/>
          </p:nvSpPr>
          <p:spPr>
            <a:xfrm>
              <a:off x="1060057" y="2079653"/>
              <a:ext cx="3778980" cy="2023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5" name="그룹 14">
            <a:extLst>
              <a:ext uri="{FF2B5EF4-FFF2-40B4-BE49-F238E27FC236}">
                <a16:creationId xmlns:a16="http://schemas.microsoft.com/office/drawing/2014/main" id="{5B73D60E-B94F-75C4-86E7-7ABD0492A442}"/>
              </a:ext>
            </a:extLst>
          </p:cNvPr>
          <p:cNvGrpSpPr/>
          <p:nvPr/>
        </p:nvGrpSpPr>
        <p:grpSpPr>
          <a:xfrm>
            <a:off x="3532158" y="4250004"/>
            <a:ext cx="7247124" cy="2159026"/>
            <a:chOff x="3532158" y="4250004"/>
            <a:chExt cx="7247124" cy="2159026"/>
          </a:xfrm>
        </p:grpSpPr>
        <p:pic>
          <p:nvPicPr>
            <p:cNvPr id="13" name="그림 12">
              <a:extLst>
                <a:ext uri="{FF2B5EF4-FFF2-40B4-BE49-F238E27FC236}">
                  <a16:creationId xmlns:a16="http://schemas.microsoft.com/office/drawing/2014/main" id="{885B1EE8-A991-B44A-E589-2F589D38402E}"/>
                </a:ext>
              </a:extLst>
            </p:cNvPr>
            <p:cNvPicPr>
              <a:picLocks noChangeAspect="1"/>
            </p:cNvPicPr>
            <p:nvPr/>
          </p:nvPicPr>
          <p:blipFill>
            <a:blip r:embed="rId3"/>
            <a:stretch>
              <a:fillRect/>
            </a:stretch>
          </p:blipFill>
          <p:spPr>
            <a:xfrm>
              <a:off x="3532158" y="4250004"/>
              <a:ext cx="5127685" cy="2159026"/>
            </a:xfrm>
            <a:prstGeom prst="rect">
              <a:avLst/>
            </a:prstGeom>
          </p:spPr>
        </p:pic>
        <p:sp>
          <p:nvSpPr>
            <p:cNvPr id="14" name="TextBox 13">
              <a:extLst>
                <a:ext uri="{FF2B5EF4-FFF2-40B4-BE49-F238E27FC236}">
                  <a16:creationId xmlns:a16="http://schemas.microsoft.com/office/drawing/2014/main" id="{E088CD1C-31F0-0ED1-4B87-006079311903}"/>
                </a:ext>
              </a:extLst>
            </p:cNvPr>
            <p:cNvSpPr txBox="1"/>
            <p:nvPr/>
          </p:nvSpPr>
          <p:spPr>
            <a:xfrm>
              <a:off x="8659843" y="4578682"/>
              <a:ext cx="2119439" cy="1169551"/>
            </a:xfrm>
            <a:prstGeom prst="rect">
              <a:avLst/>
            </a:prstGeom>
            <a:noFill/>
          </p:spPr>
          <p:txBody>
            <a:bodyPr wrap="square" rtlCol="0">
              <a:spAutoFit/>
            </a:bodyPr>
            <a:lstStyle/>
            <a:p>
              <a:pPr algn="l"/>
              <a:r>
                <a:rPr lang="en-US" altLang="ko-KR" sz="1000" b="1" dirty="0">
                  <a:solidFill>
                    <a:srgbClr val="FF0000"/>
                  </a:solidFill>
                </a:rPr>
                <a:t>WARNNING</a:t>
              </a:r>
              <a:r>
                <a:rPr lang="en-US" altLang="ko-KR" sz="1000" b="1" dirty="0"/>
                <a:t> : Actually if you are not added the subject(meaning just changed the subject), then </a:t>
              </a:r>
              <a:r>
                <a:rPr lang="en-US" altLang="ko-KR" sz="1000" b="1" dirty="0">
                  <a:solidFill>
                    <a:srgbClr val="FF0000"/>
                  </a:solidFill>
                </a:rPr>
                <a:t>only </a:t>
              </a:r>
              <a:r>
                <a:rPr lang="en-US" altLang="ko-KR" sz="1000" b="1" dirty="0" err="1">
                  <a:solidFill>
                    <a:srgbClr val="FF0000"/>
                  </a:solidFill>
                </a:rPr>
                <a:t>ServiceAccounts</a:t>
              </a:r>
              <a:r>
                <a:rPr lang="en-US" altLang="ko-KR" sz="1000" b="1" dirty="0">
                  <a:solidFill>
                    <a:srgbClr val="FF0000"/>
                  </a:solidFill>
                </a:rPr>
                <a:t> in bar</a:t>
              </a:r>
              <a:r>
                <a:rPr lang="ko-KR" altLang="en-US" sz="1000" b="1" dirty="0"/>
                <a:t> </a:t>
              </a:r>
              <a:r>
                <a:rPr lang="en-US" altLang="ko-KR" sz="1000" b="1" dirty="0"/>
                <a:t>are allowed to get and list Services in the foo namespace.</a:t>
              </a:r>
            </a:p>
          </p:txBody>
        </p:sp>
      </p:grpSp>
    </p:spTree>
    <p:extLst>
      <p:ext uri="{BB962C8B-B14F-4D97-AF65-F5344CB8AC3E}">
        <p14:creationId xmlns:p14="http://schemas.microsoft.com/office/powerpoint/2010/main" val="3825083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Control(RBAC)(21/46)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solidFill>
                  <a:srgbClr val="FF0000"/>
                </a:solidFill>
              </a:rPr>
              <a:t>Roles and </a:t>
            </a:r>
            <a:r>
              <a:rPr lang="en-US" altLang="ko-KR" sz="1400" b="1" dirty="0" err="1">
                <a:solidFill>
                  <a:srgbClr val="FF0000"/>
                </a:solidFill>
              </a:rPr>
              <a:t>RoleBindings</a:t>
            </a:r>
            <a:r>
              <a:rPr lang="en-US" altLang="ko-KR" sz="1400" b="1" dirty="0">
                <a:solidFill>
                  <a:srgbClr val="FF0000"/>
                </a:solidFill>
              </a:rPr>
              <a:t> are </a:t>
            </a:r>
            <a:r>
              <a:rPr lang="en-US" altLang="ko-KR" sz="1400" b="1" dirty="0" err="1">
                <a:solidFill>
                  <a:srgbClr val="FF0000"/>
                </a:solidFill>
              </a:rPr>
              <a:t>namespaced</a:t>
            </a:r>
            <a:r>
              <a:rPr lang="en-US" altLang="ko-KR" sz="1400" b="1" dirty="0">
                <a:solidFill>
                  <a:srgbClr val="FF0000"/>
                </a:solidFill>
              </a:rPr>
              <a:t> resources</a:t>
            </a:r>
            <a:r>
              <a:rPr lang="en-US" altLang="ko-KR" sz="1400" dirty="0"/>
              <a:t>, </a:t>
            </a:r>
            <a:r>
              <a:rPr lang="en-US" altLang="ko-KR" sz="1400" b="1" dirty="0"/>
              <a:t>meaning they reside in and apply to resources in a single namespace</a:t>
            </a:r>
            <a:r>
              <a:rPr lang="en-US" altLang="ko-KR" sz="1400" dirty="0"/>
              <a:t>, but, as we saw, </a:t>
            </a:r>
            <a:r>
              <a:rPr lang="en-US" altLang="ko-KR" sz="1400" b="1" dirty="0" err="1"/>
              <a:t>RoleBindings</a:t>
            </a:r>
            <a:r>
              <a:rPr lang="en-US" altLang="ko-KR" sz="1400" b="1" dirty="0"/>
              <a:t> can refer to </a:t>
            </a:r>
            <a:r>
              <a:rPr lang="en-US" altLang="ko-KR" sz="1400" b="1" dirty="0" err="1"/>
              <a:t>ServiceAccounts</a:t>
            </a:r>
            <a:r>
              <a:rPr lang="en-US" altLang="ko-KR" sz="1400" b="1" dirty="0"/>
              <a:t> from other namespaces, too</a:t>
            </a:r>
            <a:r>
              <a:rPr lang="en-US" altLang="ko-KR" sz="1400" dirty="0"/>
              <a:t>.</a:t>
            </a:r>
          </a:p>
          <a:p>
            <a:pPr lvl="1">
              <a:buFont typeface="Wingdings" panose="05000000000000000000" pitchFamily="2" charset="2"/>
              <a:buChar char="§"/>
            </a:pPr>
            <a:r>
              <a:rPr lang="en-US" altLang="ko-KR" sz="1400" b="1" dirty="0"/>
              <a:t>In addition to these </a:t>
            </a:r>
            <a:r>
              <a:rPr lang="en-US" altLang="ko-KR" sz="1400" b="1" dirty="0" err="1"/>
              <a:t>namespaced</a:t>
            </a:r>
            <a:r>
              <a:rPr lang="en-US" altLang="ko-KR" sz="1400" b="1" dirty="0"/>
              <a:t> resources, two cluster-level RBAC resources also exist</a:t>
            </a:r>
            <a:r>
              <a:rPr lang="en-US" altLang="ko-KR" sz="1400" dirty="0"/>
              <a:t>: </a:t>
            </a:r>
            <a:r>
              <a:rPr lang="en-US" altLang="ko-KR" sz="1400" b="1" dirty="0" err="1">
                <a:solidFill>
                  <a:srgbClr val="FF0000"/>
                </a:solidFill>
              </a:rPr>
              <a:t>ClusterRole</a:t>
            </a:r>
            <a:r>
              <a:rPr lang="en-US" altLang="ko-KR" sz="1400" dirty="0"/>
              <a:t> and </a:t>
            </a:r>
            <a:r>
              <a:rPr lang="en-US" altLang="ko-KR" sz="1400" b="1" dirty="0" err="1">
                <a:solidFill>
                  <a:srgbClr val="FF0000"/>
                </a:solidFill>
              </a:rPr>
              <a:t>ClusterRoleBinding</a:t>
            </a:r>
            <a:r>
              <a:rPr lang="en-US" altLang="ko-KR" sz="1400" dirty="0"/>
              <a:t>. </a:t>
            </a:r>
            <a:r>
              <a:rPr lang="en-US" altLang="ko-KR" sz="1400" b="1" dirty="0"/>
              <a:t>They’re not </a:t>
            </a:r>
            <a:r>
              <a:rPr lang="en-US" altLang="ko-KR" sz="1400" b="1" dirty="0" err="1"/>
              <a:t>namespaced</a:t>
            </a:r>
            <a:r>
              <a:rPr lang="en-US" altLang="ko-KR" sz="1400" dirty="0"/>
              <a:t>. </a:t>
            </a:r>
          </a:p>
          <a:p>
            <a:pPr lvl="1">
              <a:buFont typeface="Wingdings" panose="05000000000000000000" pitchFamily="2" charset="2"/>
              <a:buChar char="§"/>
            </a:pPr>
            <a:r>
              <a:rPr lang="en-US" altLang="ko-KR" sz="1400" b="1" dirty="0"/>
              <a:t>A regular Role only allows access to resources in the same namespace the Role is in</a:t>
            </a:r>
            <a:r>
              <a:rPr lang="en-US" altLang="ko-KR" sz="1400" dirty="0"/>
              <a:t>. If you want to allow someone access to resources across different namespaces, you have to create a Role and </a:t>
            </a:r>
            <a:r>
              <a:rPr lang="en-US" altLang="ko-KR" sz="1400" dirty="0" err="1"/>
              <a:t>RoleBinding</a:t>
            </a:r>
            <a:r>
              <a:rPr lang="en-US" altLang="ko-KR" sz="1400" dirty="0"/>
              <a:t> in every one of those namespaces. If you want to extend this to all namespaces (this is something a cluster administrator would probably need), you need to create the same Role and </a:t>
            </a:r>
            <a:r>
              <a:rPr lang="en-US" altLang="ko-KR" sz="1400" dirty="0" err="1"/>
              <a:t>RoleBinding</a:t>
            </a:r>
            <a:r>
              <a:rPr lang="en-US" altLang="ko-KR" sz="1400" dirty="0"/>
              <a:t> in each namespace. When creating an additional namespace, you have to remember to create the two resources there as well. </a:t>
            </a:r>
          </a:p>
          <a:p>
            <a:pPr lvl="1">
              <a:buFont typeface="Wingdings" panose="05000000000000000000" pitchFamily="2" charset="2"/>
              <a:buChar char="§"/>
            </a:pPr>
            <a:r>
              <a:rPr lang="en-US" altLang="ko-KR" sz="1400" b="1" dirty="0"/>
              <a:t>Certain resources aren’t </a:t>
            </a:r>
            <a:r>
              <a:rPr lang="en-US" altLang="ko-KR" sz="1400" b="1" dirty="0" err="1"/>
              <a:t>namespaced</a:t>
            </a:r>
            <a:r>
              <a:rPr lang="en-US" altLang="ko-KR" sz="1400" b="1" dirty="0"/>
              <a:t> at all (this includes Nodes, </a:t>
            </a:r>
            <a:r>
              <a:rPr lang="en-US" altLang="ko-KR" sz="1400" b="1" dirty="0" err="1"/>
              <a:t>PersistentVolumes</a:t>
            </a:r>
            <a:r>
              <a:rPr lang="en-US" altLang="ko-KR" sz="1400" b="1" dirty="0"/>
              <a:t>, Namespaces, and so on). </a:t>
            </a:r>
            <a:r>
              <a:rPr lang="en-US" altLang="ko-KR" sz="1400" dirty="0"/>
              <a:t>We’ve also mentioned </a:t>
            </a:r>
            <a:r>
              <a:rPr lang="en-US" altLang="ko-KR" sz="1400" b="1" dirty="0"/>
              <a:t>the API server </a:t>
            </a:r>
            <a:r>
              <a:rPr lang="en-US" altLang="ko-KR" sz="1400" dirty="0"/>
              <a:t>exposes some URL paths that don’t represent resources (“</a:t>
            </a:r>
            <a:r>
              <a:rPr lang="en-US" altLang="ko-KR" sz="1400" b="1" dirty="0"/>
              <a:t>/</a:t>
            </a:r>
            <a:r>
              <a:rPr lang="en-US" altLang="ko-KR" sz="1400" b="1" dirty="0" err="1"/>
              <a:t>healthz</a:t>
            </a:r>
            <a:r>
              <a:rPr lang="en-US" altLang="ko-KR" sz="1400" dirty="0"/>
              <a:t>” for example). </a:t>
            </a:r>
            <a:r>
              <a:rPr lang="en-US" altLang="ko-KR" sz="1400" b="1" dirty="0"/>
              <a:t>Regular Roles can’t grant access to those resources or non-resource URLs, but </a:t>
            </a:r>
            <a:r>
              <a:rPr lang="en-US" altLang="ko-KR" sz="1400" b="1" dirty="0" err="1">
                <a:solidFill>
                  <a:srgbClr val="FF0000"/>
                </a:solidFill>
              </a:rPr>
              <a:t>ClusterRoles</a:t>
            </a:r>
            <a:r>
              <a:rPr lang="en-US" altLang="ko-KR" sz="1400" b="1" dirty="0"/>
              <a:t> can</a:t>
            </a:r>
            <a:r>
              <a:rPr lang="en-US" altLang="ko-KR" sz="1400" dirty="0"/>
              <a:t>.</a:t>
            </a:r>
          </a:p>
          <a:p>
            <a:pPr lvl="1">
              <a:buFont typeface="Wingdings" panose="05000000000000000000" pitchFamily="2" charset="2"/>
              <a:buChar char="§"/>
            </a:pPr>
            <a:r>
              <a:rPr lang="en-US" altLang="ko-KR" sz="1400" b="1" dirty="0"/>
              <a:t>A </a:t>
            </a:r>
            <a:r>
              <a:rPr lang="en-US" altLang="ko-KR" sz="1400" b="1" dirty="0" err="1">
                <a:solidFill>
                  <a:srgbClr val="FF0000"/>
                </a:solidFill>
              </a:rPr>
              <a:t>ClusterRole</a:t>
            </a:r>
            <a:r>
              <a:rPr lang="en-US" altLang="ko-KR" sz="1400" b="1" dirty="0"/>
              <a:t> is </a:t>
            </a:r>
            <a:r>
              <a:rPr lang="en-US" altLang="ko-KR" sz="1400" b="1" dirty="0">
                <a:solidFill>
                  <a:srgbClr val="FF0000"/>
                </a:solidFill>
              </a:rPr>
              <a:t>a cluster-level resource </a:t>
            </a:r>
            <a:r>
              <a:rPr lang="en-US" altLang="ko-KR" sz="1400" b="1" dirty="0"/>
              <a:t>for allowing access to non-</a:t>
            </a:r>
            <a:r>
              <a:rPr lang="en-US" altLang="ko-KR" sz="1400" b="1" dirty="0" err="1"/>
              <a:t>namespaced</a:t>
            </a:r>
            <a:r>
              <a:rPr lang="en-US" altLang="ko-KR" sz="1400" b="1" dirty="0"/>
              <a:t> resources or non-resource URLs or used as a common role to be bound inside individual namespaces</a:t>
            </a:r>
            <a:r>
              <a:rPr lang="en-US" altLang="ko-KR" sz="1400" dirty="0"/>
              <a:t>, saving you from having to redefine the same role in each of them.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3C0B0AD-EFD6-E738-624C-EF2330059A99}"/>
              </a:ext>
            </a:extLst>
          </p:cNvPr>
          <p:cNvPicPr>
            <a:picLocks noChangeAspect="1"/>
          </p:cNvPicPr>
          <p:nvPr/>
        </p:nvPicPr>
        <p:blipFill>
          <a:blip r:embed="rId2"/>
          <a:stretch>
            <a:fillRect/>
          </a:stretch>
        </p:blipFill>
        <p:spPr>
          <a:xfrm>
            <a:off x="2700042" y="4272407"/>
            <a:ext cx="6791915" cy="2136623"/>
          </a:xfrm>
          <a:prstGeom prst="rect">
            <a:avLst/>
          </a:prstGeom>
        </p:spPr>
      </p:pic>
    </p:spTree>
    <p:extLst>
      <p:ext uri="{BB962C8B-B14F-4D97-AF65-F5344CB8AC3E}">
        <p14:creationId xmlns:p14="http://schemas.microsoft.com/office/powerpoint/2010/main" val="2445076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Control(RBAC)(22/46)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A </a:t>
            </a:r>
            <a:r>
              <a:rPr lang="en-US" altLang="ko-KR" sz="1400" b="1" dirty="0" err="1"/>
              <a:t>ClusterRole</a:t>
            </a:r>
            <a:r>
              <a:rPr lang="en-US" altLang="ko-KR" sz="1400" b="1" dirty="0"/>
              <a:t> can be used to allow access to cluster-level resources</a:t>
            </a:r>
            <a:r>
              <a:rPr lang="en-US" altLang="ko-KR" sz="1400" dirty="0"/>
              <a:t>. Let’s look at how to </a:t>
            </a:r>
            <a:r>
              <a:rPr lang="en-US" altLang="ko-KR" sz="1400" b="1" dirty="0"/>
              <a:t>allow your pod to list </a:t>
            </a:r>
            <a:r>
              <a:rPr lang="en-US" altLang="ko-KR" sz="1400" b="1" dirty="0" err="1"/>
              <a:t>PersistentVolumes</a:t>
            </a:r>
            <a:r>
              <a:rPr lang="en-US" altLang="ko-KR" sz="1400" b="1" dirty="0"/>
              <a:t> in your cluster</a:t>
            </a:r>
            <a:r>
              <a:rPr lang="en-US" altLang="ko-KR" sz="1400" dirty="0"/>
              <a:t>. First, you’ll create a </a:t>
            </a:r>
            <a:r>
              <a:rPr lang="en-US" altLang="ko-KR" sz="1400" b="1" dirty="0" err="1"/>
              <a:t>ClusterRole</a:t>
            </a:r>
            <a:r>
              <a:rPr lang="en-US" altLang="ko-KR" sz="1400" dirty="0"/>
              <a:t> called “</a:t>
            </a:r>
            <a:r>
              <a:rPr lang="en-US" altLang="ko-KR" sz="1400" b="1" dirty="0" err="1"/>
              <a:t>pv</a:t>
            </a:r>
            <a:r>
              <a:rPr lang="en-US" altLang="ko-KR" sz="1400" b="1" dirty="0"/>
              <a:t>-reader”</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3" name="그룹 22">
            <a:extLst>
              <a:ext uri="{FF2B5EF4-FFF2-40B4-BE49-F238E27FC236}">
                <a16:creationId xmlns:a16="http://schemas.microsoft.com/office/drawing/2014/main" id="{855D3038-5031-CA92-806F-5B079ED3E9B7}"/>
              </a:ext>
            </a:extLst>
          </p:cNvPr>
          <p:cNvGrpSpPr/>
          <p:nvPr/>
        </p:nvGrpSpPr>
        <p:grpSpPr>
          <a:xfrm>
            <a:off x="1013166" y="1755227"/>
            <a:ext cx="10165667" cy="3957748"/>
            <a:chOff x="1013166" y="1755227"/>
            <a:chExt cx="10165667" cy="3957748"/>
          </a:xfrm>
        </p:grpSpPr>
        <p:grpSp>
          <p:nvGrpSpPr>
            <p:cNvPr id="12" name="그룹 11">
              <a:extLst>
                <a:ext uri="{FF2B5EF4-FFF2-40B4-BE49-F238E27FC236}">
                  <a16:creationId xmlns:a16="http://schemas.microsoft.com/office/drawing/2014/main" id="{E92ADEBB-68EA-99F3-D19E-AD966DAEEAAA}"/>
                </a:ext>
              </a:extLst>
            </p:cNvPr>
            <p:cNvGrpSpPr/>
            <p:nvPr/>
          </p:nvGrpSpPr>
          <p:grpSpPr>
            <a:xfrm>
              <a:off x="2339610" y="1755227"/>
              <a:ext cx="7512780" cy="586135"/>
              <a:chOff x="2339610" y="1682399"/>
              <a:chExt cx="7512780" cy="586135"/>
            </a:xfrm>
          </p:grpSpPr>
          <p:sp>
            <p:nvSpPr>
              <p:cNvPr id="8" name="TextBox 7">
                <a:extLst>
                  <a:ext uri="{FF2B5EF4-FFF2-40B4-BE49-F238E27FC236}">
                    <a16:creationId xmlns:a16="http://schemas.microsoft.com/office/drawing/2014/main" id="{5B6E14A0-765E-1DCF-D515-7C28111ED594}"/>
                  </a:ext>
                </a:extLst>
              </p:cNvPr>
              <p:cNvSpPr txBox="1"/>
              <p:nvPr/>
            </p:nvSpPr>
            <p:spPr>
              <a:xfrm>
                <a:off x="2339610" y="1682399"/>
                <a:ext cx="7512780"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a:t>
                </a:r>
                <a:r>
                  <a:rPr lang="en-US" altLang="ko-KR" sz="1000" b="1" dirty="0">
                    <a:solidFill>
                      <a:srgbClr val="FF0000"/>
                    </a:solidFill>
                  </a:rPr>
                  <a:t> </a:t>
                </a:r>
                <a:r>
                  <a:rPr lang="en-US" altLang="ko-KR" sz="1000" b="1" dirty="0" err="1">
                    <a:solidFill>
                      <a:srgbClr val="FF0000"/>
                    </a:solidFill>
                  </a:rPr>
                  <a:t>pv</a:t>
                </a:r>
                <a:r>
                  <a:rPr lang="en-US" altLang="ko-KR" sz="1000" b="1" dirty="0">
                    <a:solidFill>
                      <a:srgbClr val="FF0000"/>
                    </a:solidFill>
                  </a:rPr>
                  <a:t>-reader --verb=</a:t>
                </a:r>
                <a:r>
                  <a:rPr lang="en-US" altLang="ko-KR" sz="1000" b="1" dirty="0" err="1">
                    <a:solidFill>
                      <a:srgbClr val="FF0000"/>
                    </a:solidFill>
                  </a:rPr>
                  <a:t>get,list</a:t>
                </a:r>
                <a:r>
                  <a:rPr lang="en-US" altLang="ko-KR" sz="1000" b="1" dirty="0">
                    <a:solidFill>
                      <a:srgbClr val="FF0000"/>
                    </a:solidFill>
                  </a:rPr>
                  <a:t> --resource=</a:t>
                </a:r>
                <a:r>
                  <a:rPr lang="en-US" altLang="ko-KR" sz="1000" b="1" dirty="0" err="1">
                    <a:solidFill>
                      <a:srgbClr val="FF0000"/>
                    </a:solidFill>
                  </a:rPr>
                  <a:t>persistentvolumes</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750405F4-2E96-9372-D590-26D55132BE56}"/>
                  </a:ext>
                </a:extLst>
              </p:cNvPr>
              <p:cNvSpPr/>
              <p:nvPr/>
            </p:nvSpPr>
            <p:spPr>
              <a:xfrm>
                <a:off x="5861331" y="1940737"/>
                <a:ext cx="469338" cy="3277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22" name="그림 21">
              <a:extLst>
                <a:ext uri="{FF2B5EF4-FFF2-40B4-BE49-F238E27FC236}">
                  <a16:creationId xmlns:a16="http://schemas.microsoft.com/office/drawing/2014/main" id="{DF1C7777-5D80-A74B-AFD7-70527D70F7AF}"/>
                </a:ext>
              </a:extLst>
            </p:cNvPr>
            <p:cNvPicPr>
              <a:picLocks noChangeAspect="1"/>
            </p:cNvPicPr>
            <p:nvPr/>
          </p:nvPicPr>
          <p:blipFill>
            <a:blip r:embed="rId2"/>
            <a:stretch>
              <a:fillRect/>
            </a:stretch>
          </p:blipFill>
          <p:spPr>
            <a:xfrm>
              <a:off x="1013166" y="2341362"/>
              <a:ext cx="10165667" cy="3371613"/>
            </a:xfrm>
            <a:prstGeom prst="rect">
              <a:avLst/>
            </a:prstGeom>
          </p:spPr>
        </p:pic>
      </p:grpSp>
    </p:spTree>
    <p:extLst>
      <p:ext uri="{BB962C8B-B14F-4D97-AF65-F5344CB8AC3E}">
        <p14:creationId xmlns:p14="http://schemas.microsoft.com/office/powerpoint/2010/main" val="374956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Control(RBAC)(23/46)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Before you bind this </a:t>
            </a:r>
            <a:r>
              <a:rPr lang="en-US" altLang="ko-KR" sz="1400" b="1" dirty="0" err="1"/>
              <a:t>ClusterRole</a:t>
            </a:r>
            <a:r>
              <a:rPr lang="en-US" altLang="ko-KR" sz="1400" b="1" dirty="0"/>
              <a:t> to your pod’s </a:t>
            </a:r>
            <a:r>
              <a:rPr lang="en-US" altLang="ko-KR" sz="1400" b="1" dirty="0" err="1"/>
              <a:t>ServiceAccount</a:t>
            </a:r>
            <a:r>
              <a:rPr lang="en-US" altLang="ko-KR" sz="1400" b="1" dirty="0"/>
              <a:t>, verify whether the pod can list </a:t>
            </a:r>
            <a:r>
              <a:rPr lang="en-US" altLang="ko-KR" sz="1400" b="1" dirty="0" err="1"/>
              <a:t>PersistentVolumes</a:t>
            </a:r>
            <a:r>
              <a:rPr lang="en-US" altLang="ko-KR" sz="1400" dirty="0"/>
              <a:t>. Run the following command in the first terminal, where you’re running the shell inside the pod in the “</a:t>
            </a:r>
            <a:r>
              <a:rPr lang="en-US" altLang="ko-KR" sz="1400" b="1" dirty="0"/>
              <a:t>foo</a:t>
            </a:r>
            <a:r>
              <a:rPr lang="en-US" altLang="ko-KR" sz="1400" dirty="0"/>
              <a:t>” namespace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URL contains </a:t>
            </a:r>
            <a:r>
              <a:rPr lang="en-US" altLang="ko-KR" sz="1400" b="1" dirty="0">
                <a:solidFill>
                  <a:srgbClr val="FF0000"/>
                </a:solidFill>
              </a:rPr>
              <a:t>no namespace</a:t>
            </a:r>
            <a:r>
              <a:rPr lang="en-US" altLang="ko-KR" sz="1400" b="1" dirty="0"/>
              <a:t>, because </a:t>
            </a:r>
            <a:r>
              <a:rPr lang="en-US" altLang="ko-KR" sz="1400" b="1" dirty="0" err="1"/>
              <a:t>PersistentVolumes</a:t>
            </a:r>
            <a:r>
              <a:rPr lang="en-US" altLang="ko-KR" sz="1400" b="1" dirty="0"/>
              <a:t> aren’t </a:t>
            </a:r>
            <a:r>
              <a:rPr lang="en-US" altLang="ko-KR" sz="1400" b="1" dirty="0" err="1"/>
              <a:t>namespaced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7A1D9339-541C-7637-2F17-23024DA0A1E8}"/>
              </a:ext>
            </a:extLst>
          </p:cNvPr>
          <p:cNvGrpSpPr/>
          <p:nvPr/>
        </p:nvGrpSpPr>
        <p:grpSpPr>
          <a:xfrm>
            <a:off x="1042411" y="1931833"/>
            <a:ext cx="10107178" cy="3449242"/>
            <a:chOff x="1042411" y="1823360"/>
            <a:chExt cx="10107178" cy="3449242"/>
          </a:xfrm>
        </p:grpSpPr>
        <p:grpSp>
          <p:nvGrpSpPr>
            <p:cNvPr id="11" name="그룹 10">
              <a:extLst>
                <a:ext uri="{FF2B5EF4-FFF2-40B4-BE49-F238E27FC236}">
                  <a16:creationId xmlns:a16="http://schemas.microsoft.com/office/drawing/2014/main" id="{16518793-DE80-FC14-9D90-096DBD3973CC}"/>
                </a:ext>
              </a:extLst>
            </p:cNvPr>
            <p:cNvGrpSpPr/>
            <p:nvPr/>
          </p:nvGrpSpPr>
          <p:grpSpPr>
            <a:xfrm>
              <a:off x="1042411" y="2501551"/>
              <a:ext cx="10107178" cy="2771051"/>
              <a:chOff x="1042411" y="1873772"/>
              <a:chExt cx="10107178" cy="2771051"/>
            </a:xfrm>
          </p:grpSpPr>
          <p:pic>
            <p:nvPicPr>
              <p:cNvPr id="8" name="그림 7">
                <a:extLst>
                  <a:ext uri="{FF2B5EF4-FFF2-40B4-BE49-F238E27FC236}">
                    <a16:creationId xmlns:a16="http://schemas.microsoft.com/office/drawing/2014/main" id="{93F74DE4-F565-EC00-B80B-0AFEE4A95BB8}"/>
                  </a:ext>
                </a:extLst>
              </p:cNvPr>
              <p:cNvPicPr>
                <a:picLocks noChangeAspect="1"/>
              </p:cNvPicPr>
              <p:nvPr/>
            </p:nvPicPr>
            <p:blipFill>
              <a:blip r:embed="rId2"/>
              <a:stretch>
                <a:fillRect/>
              </a:stretch>
            </p:blipFill>
            <p:spPr>
              <a:xfrm>
                <a:off x="1042411" y="1873772"/>
                <a:ext cx="10107178" cy="2771051"/>
              </a:xfrm>
              <a:prstGeom prst="rect">
                <a:avLst/>
              </a:prstGeom>
            </p:spPr>
          </p:pic>
          <p:sp>
            <p:nvSpPr>
              <p:cNvPr id="9" name="직사각형 8">
                <a:extLst>
                  <a:ext uri="{FF2B5EF4-FFF2-40B4-BE49-F238E27FC236}">
                    <a16:creationId xmlns:a16="http://schemas.microsoft.com/office/drawing/2014/main" id="{AE23E310-0704-8BDB-EB0E-506BDC72D7A2}"/>
                  </a:ext>
                </a:extLst>
              </p:cNvPr>
              <p:cNvSpPr/>
              <p:nvPr/>
            </p:nvSpPr>
            <p:spPr>
              <a:xfrm>
                <a:off x="1108609" y="2492347"/>
                <a:ext cx="3398655"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70DBE98C-1494-0B8C-3BCC-E220A565ADB8}"/>
                  </a:ext>
                </a:extLst>
              </p:cNvPr>
              <p:cNvSpPr/>
              <p:nvPr/>
            </p:nvSpPr>
            <p:spPr>
              <a:xfrm>
                <a:off x="5348835" y="2322414"/>
                <a:ext cx="2411427"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TextBox 12">
              <a:extLst>
                <a:ext uri="{FF2B5EF4-FFF2-40B4-BE49-F238E27FC236}">
                  <a16:creationId xmlns:a16="http://schemas.microsoft.com/office/drawing/2014/main" id="{62CB0C91-AB5A-C1E1-592E-EE7BBA1F4946}"/>
                </a:ext>
              </a:extLst>
            </p:cNvPr>
            <p:cNvSpPr txBox="1"/>
            <p:nvPr/>
          </p:nvSpPr>
          <p:spPr>
            <a:xfrm>
              <a:off x="3047326" y="1823360"/>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test -n foo -- </a:t>
              </a:r>
              <a:r>
                <a:rPr lang="en-US" altLang="ko-KR" sz="1000" b="1" dirty="0" err="1"/>
                <a:t>sh</a:t>
              </a:r>
              <a:endParaRPr lang="en-US" altLang="ko-KR" sz="1000" b="1" dirty="0"/>
            </a:p>
            <a:p>
              <a:r>
                <a:rPr lang="en-US" altLang="ko-KR" sz="1000" b="1" dirty="0"/>
                <a:t>/ # curl localhost:8001/</a:t>
              </a:r>
              <a:r>
                <a:rPr lang="en-US" altLang="ko-KR" sz="1000" b="1" dirty="0" err="1"/>
                <a:t>api</a:t>
              </a:r>
              <a:r>
                <a:rPr lang="en-US" altLang="ko-KR" sz="1000" b="1" dirty="0"/>
                <a:t>/v1/</a:t>
              </a:r>
              <a:r>
                <a:rPr lang="en-US" altLang="ko-KR" sz="1000" b="1" dirty="0" err="1"/>
                <a:t>persistentvolumes</a:t>
              </a:r>
              <a:endParaRPr lang="ko-KR" altLang="en-US" sz="1000" b="1" dirty="0"/>
            </a:p>
          </p:txBody>
        </p:sp>
        <p:sp>
          <p:nvSpPr>
            <p:cNvPr id="14" name="화살표: 아래쪽 13">
              <a:extLst>
                <a:ext uri="{FF2B5EF4-FFF2-40B4-BE49-F238E27FC236}">
                  <a16:creationId xmlns:a16="http://schemas.microsoft.com/office/drawing/2014/main" id="{6DC42C68-7E92-2C67-BA62-B7BAAE2749E3}"/>
                </a:ext>
              </a:extLst>
            </p:cNvPr>
            <p:cNvSpPr/>
            <p:nvPr/>
          </p:nvSpPr>
          <p:spPr>
            <a:xfrm>
              <a:off x="5877515" y="2223470"/>
              <a:ext cx="436970" cy="27808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6884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Control(RBAC)(24/46)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As expected, the default </a:t>
            </a:r>
            <a:r>
              <a:rPr lang="en-US" altLang="ko-KR" sz="1400" b="1" dirty="0" err="1"/>
              <a:t>ServiceAccount</a:t>
            </a:r>
            <a:r>
              <a:rPr lang="en-US" altLang="ko-KR" sz="1400" b="1" dirty="0"/>
              <a:t> can’t list </a:t>
            </a:r>
            <a:r>
              <a:rPr lang="en-US" altLang="ko-KR" sz="1400" b="1" dirty="0" err="1"/>
              <a:t>PersistentVolumes</a:t>
            </a:r>
            <a:r>
              <a:rPr lang="en-US" altLang="ko-KR" sz="1400" dirty="0"/>
              <a:t>. You need to </a:t>
            </a:r>
            <a:r>
              <a:rPr lang="en-US" altLang="ko-KR" sz="1400" b="1" dirty="0"/>
              <a:t>bind the </a:t>
            </a:r>
            <a:r>
              <a:rPr lang="en-US" altLang="ko-KR" sz="1400" b="1" dirty="0" err="1"/>
              <a:t>ClusterRole</a:t>
            </a:r>
            <a:r>
              <a:rPr lang="en-US" altLang="ko-KR" sz="1400" b="1" dirty="0"/>
              <a:t> to your </a:t>
            </a:r>
            <a:r>
              <a:rPr lang="en-US" altLang="ko-KR" sz="1400" b="1" dirty="0" err="1"/>
              <a:t>ServiceAccount</a:t>
            </a:r>
            <a:r>
              <a:rPr lang="en-US" altLang="ko-KR" sz="1400" b="1" dirty="0"/>
              <a:t> </a:t>
            </a:r>
            <a:r>
              <a:rPr lang="en-US" altLang="ko-KR" sz="1400" dirty="0"/>
              <a:t>to allow it to do that. </a:t>
            </a:r>
            <a:r>
              <a:rPr lang="en-US" altLang="ko-KR" sz="1400" b="1" dirty="0" err="1"/>
              <a:t>ClusterRoles</a:t>
            </a:r>
            <a:r>
              <a:rPr lang="en-US" altLang="ko-KR" sz="1400" b="1" dirty="0"/>
              <a:t> can be bound to subjects with regular </a:t>
            </a:r>
            <a:r>
              <a:rPr lang="en-US" altLang="ko-KR" sz="1400" b="1" dirty="0" err="1"/>
              <a:t>RoleBindings</a:t>
            </a:r>
            <a:r>
              <a:rPr lang="en-US" altLang="ko-KR" sz="1400" dirty="0"/>
              <a:t>, so you’ll create a </a:t>
            </a:r>
            <a:r>
              <a:rPr lang="en-US" altLang="ko-KR" sz="1400" b="1" dirty="0" err="1">
                <a:solidFill>
                  <a:srgbClr val="FF0000"/>
                </a:solidFill>
              </a:rPr>
              <a:t>RoleBinding</a:t>
            </a:r>
            <a:r>
              <a:rPr lang="en-US" altLang="ko-KR" sz="1400" dirty="0"/>
              <a:t> now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From the result of the above screenshot, we still cannot list the </a:t>
            </a:r>
            <a:r>
              <a:rPr lang="en-US" altLang="ko-KR" sz="1400" b="1" dirty="0" err="1"/>
              <a:t>persistentvolumes</a:t>
            </a:r>
            <a:r>
              <a:rPr lang="en-US" altLang="ko-KR" sz="1400" b="1" dirty="0"/>
              <a:t> </a:t>
            </a:r>
            <a:r>
              <a:rPr lang="en-US" altLang="ko-KR" sz="1400" b="1" dirty="0" err="1"/>
              <a:t>resouces</a:t>
            </a:r>
            <a:r>
              <a:rPr lang="en-US" altLang="ko-KR" sz="1400" b="1"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3EB6C5FC-EEE3-128A-676A-ACBE1620581C}"/>
              </a:ext>
            </a:extLst>
          </p:cNvPr>
          <p:cNvGrpSpPr/>
          <p:nvPr/>
        </p:nvGrpSpPr>
        <p:grpSpPr>
          <a:xfrm>
            <a:off x="895023" y="2039708"/>
            <a:ext cx="10401954" cy="3462875"/>
            <a:chOff x="895023" y="1950696"/>
            <a:chExt cx="10401954" cy="3462875"/>
          </a:xfrm>
        </p:grpSpPr>
        <p:grpSp>
          <p:nvGrpSpPr>
            <p:cNvPr id="12" name="그룹 11">
              <a:extLst>
                <a:ext uri="{FF2B5EF4-FFF2-40B4-BE49-F238E27FC236}">
                  <a16:creationId xmlns:a16="http://schemas.microsoft.com/office/drawing/2014/main" id="{BD6D215E-64F8-F3F1-2020-C71A20979432}"/>
                </a:ext>
              </a:extLst>
            </p:cNvPr>
            <p:cNvGrpSpPr/>
            <p:nvPr/>
          </p:nvGrpSpPr>
          <p:grpSpPr>
            <a:xfrm>
              <a:off x="895023" y="1950696"/>
              <a:ext cx="10401954" cy="3462875"/>
              <a:chOff x="895023" y="1885960"/>
              <a:chExt cx="10401954" cy="3462875"/>
            </a:xfrm>
          </p:grpSpPr>
          <p:sp>
            <p:nvSpPr>
              <p:cNvPr id="8" name="TextBox 7">
                <a:extLst>
                  <a:ext uri="{FF2B5EF4-FFF2-40B4-BE49-F238E27FC236}">
                    <a16:creationId xmlns:a16="http://schemas.microsoft.com/office/drawing/2014/main" id="{D1010C85-799B-D802-7E42-69C535B44CAB}"/>
                  </a:ext>
                </a:extLst>
              </p:cNvPr>
              <p:cNvSpPr txBox="1"/>
              <p:nvPr/>
            </p:nvSpPr>
            <p:spPr>
              <a:xfrm>
                <a:off x="3047326" y="188596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rolebinding</a:t>
                </a:r>
                <a:r>
                  <a:rPr lang="en-US" altLang="ko-KR" sz="1000" b="1" dirty="0">
                    <a:solidFill>
                      <a:srgbClr val="FF0000"/>
                    </a:solidFill>
                  </a:rPr>
                  <a:t> </a:t>
                </a:r>
                <a:r>
                  <a:rPr lang="en-US" altLang="ko-KR" sz="1000" b="1" dirty="0" err="1">
                    <a:solidFill>
                      <a:srgbClr val="FF0000"/>
                    </a:solidFill>
                  </a:rPr>
                  <a:t>pv</a:t>
                </a:r>
                <a:r>
                  <a:rPr lang="en-US" altLang="ko-KR" sz="1000" b="1" dirty="0">
                    <a:solidFill>
                      <a:srgbClr val="FF0000"/>
                    </a:solidFill>
                  </a:rPr>
                  <a:t>-test --</a:t>
                </a:r>
                <a:r>
                  <a:rPr lang="en-US" altLang="ko-KR" sz="1000" b="1" dirty="0" err="1">
                    <a:solidFill>
                      <a:srgbClr val="FF0000"/>
                    </a:solidFill>
                  </a:rPr>
                  <a:t>clusterrole</a:t>
                </a:r>
                <a:r>
                  <a:rPr lang="en-US" altLang="ko-KR" sz="1000" b="1" dirty="0">
                    <a:solidFill>
                      <a:srgbClr val="FF0000"/>
                    </a:solidFill>
                  </a:rPr>
                  <a:t>=</a:t>
                </a:r>
                <a:r>
                  <a:rPr lang="en-US" altLang="ko-KR" sz="1000" b="1" dirty="0" err="1">
                    <a:solidFill>
                      <a:srgbClr val="FF0000"/>
                    </a:solidFill>
                  </a:rPr>
                  <a:t>pv</a:t>
                </a:r>
                <a:r>
                  <a:rPr lang="en-US" altLang="ko-KR" sz="1000" b="1" dirty="0">
                    <a:solidFill>
                      <a:srgbClr val="FF0000"/>
                    </a:solidFill>
                  </a:rPr>
                  <a:t>-reader --</a:t>
                </a:r>
                <a:r>
                  <a:rPr lang="en-US" altLang="ko-KR" sz="1000" b="1" dirty="0" err="1">
                    <a:solidFill>
                      <a:srgbClr val="FF0000"/>
                    </a:solidFill>
                  </a:rPr>
                  <a:t>serviceaccount</a:t>
                </a:r>
                <a:r>
                  <a:rPr lang="en-US" altLang="ko-KR" sz="1000" b="1" dirty="0">
                    <a:solidFill>
                      <a:srgbClr val="FF0000"/>
                    </a:solidFill>
                  </a:rPr>
                  <a:t>=</a:t>
                </a:r>
                <a:r>
                  <a:rPr lang="en-US" altLang="ko-KR" sz="1000" b="1" dirty="0" err="1">
                    <a:solidFill>
                      <a:srgbClr val="FF0000"/>
                    </a:solidFill>
                  </a:rPr>
                  <a:t>foo:default</a:t>
                </a:r>
                <a:r>
                  <a:rPr lang="en-US" altLang="ko-KR" sz="1000" b="1" dirty="0">
                    <a:solidFill>
                      <a:srgbClr val="FF0000"/>
                    </a:solidFill>
                  </a:rPr>
                  <a:t> -n foo</a:t>
                </a:r>
              </a:p>
            </p:txBody>
          </p:sp>
          <p:sp>
            <p:nvSpPr>
              <p:cNvPr id="9" name="화살표: 아래쪽 8">
                <a:extLst>
                  <a:ext uri="{FF2B5EF4-FFF2-40B4-BE49-F238E27FC236}">
                    <a16:creationId xmlns:a16="http://schemas.microsoft.com/office/drawing/2014/main" id="{F836AE15-08C1-574B-3EE1-ED5F9769CDA2}"/>
                  </a:ext>
                </a:extLst>
              </p:cNvPr>
              <p:cNvSpPr/>
              <p:nvPr/>
            </p:nvSpPr>
            <p:spPr>
              <a:xfrm>
                <a:off x="5869423" y="2152481"/>
                <a:ext cx="453154" cy="29940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121E56C9-862F-BE6C-C64D-D56E5C76D8AE}"/>
                  </a:ext>
                </a:extLst>
              </p:cNvPr>
              <p:cNvPicPr>
                <a:picLocks noChangeAspect="1"/>
              </p:cNvPicPr>
              <p:nvPr/>
            </p:nvPicPr>
            <p:blipFill>
              <a:blip r:embed="rId2"/>
              <a:stretch>
                <a:fillRect/>
              </a:stretch>
            </p:blipFill>
            <p:spPr>
              <a:xfrm>
                <a:off x="895023" y="2451887"/>
                <a:ext cx="10401954" cy="2896948"/>
              </a:xfrm>
              <a:prstGeom prst="rect">
                <a:avLst/>
              </a:prstGeom>
            </p:spPr>
          </p:pic>
        </p:grpSp>
        <p:sp>
          <p:nvSpPr>
            <p:cNvPr id="13" name="직사각형 12">
              <a:extLst>
                <a:ext uri="{FF2B5EF4-FFF2-40B4-BE49-F238E27FC236}">
                  <a16:creationId xmlns:a16="http://schemas.microsoft.com/office/drawing/2014/main" id="{84938001-6F6D-D5EA-1BA7-25A5830D7478}"/>
                </a:ext>
              </a:extLst>
            </p:cNvPr>
            <p:cNvSpPr/>
            <p:nvPr/>
          </p:nvSpPr>
          <p:spPr>
            <a:xfrm>
              <a:off x="995320" y="4191674"/>
              <a:ext cx="10179781" cy="2994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63265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Control(RBAC)(25/46)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Let’s examine the </a:t>
            </a:r>
            <a:r>
              <a:rPr lang="en-US" altLang="ko-KR" sz="1400" b="1" dirty="0" err="1"/>
              <a:t>RoleBinding’s</a:t>
            </a:r>
            <a:r>
              <a:rPr lang="en-US" altLang="ko-KR" sz="1400" b="1" dirty="0"/>
              <a:t> YAML </a:t>
            </a:r>
            <a:r>
              <a:rPr lang="en-US" altLang="ko-KR" sz="1400" dirty="0"/>
              <a:t>in the following listing. Can you tell what (if anything) is wrong with it?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The YAML looks perfectly fine</a:t>
            </a:r>
            <a:r>
              <a:rPr lang="en-US" altLang="ko-KR" sz="1400" dirty="0"/>
              <a:t>. </a:t>
            </a:r>
            <a:r>
              <a:rPr lang="en-US" altLang="ko-KR" sz="1400" b="1" dirty="0"/>
              <a:t>You’re referencing the correct </a:t>
            </a:r>
            <a:r>
              <a:rPr lang="en-US" altLang="ko-KR" sz="1400" b="1" dirty="0" err="1">
                <a:solidFill>
                  <a:srgbClr val="FF0000"/>
                </a:solidFill>
              </a:rPr>
              <a:t>ClusterRole</a:t>
            </a:r>
            <a:r>
              <a:rPr lang="en-US" altLang="ko-KR" sz="1400" b="1" dirty="0"/>
              <a:t> and the correct </a:t>
            </a:r>
            <a:r>
              <a:rPr lang="en-US" altLang="ko-KR" sz="1400" b="1" dirty="0" err="1">
                <a:solidFill>
                  <a:srgbClr val="FF0000"/>
                </a:solidFill>
              </a:rPr>
              <a:t>ServiceAccount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C3A6AB7D-D829-1815-76E5-E0B6CC36D00B}"/>
              </a:ext>
            </a:extLst>
          </p:cNvPr>
          <p:cNvGrpSpPr/>
          <p:nvPr/>
        </p:nvGrpSpPr>
        <p:grpSpPr>
          <a:xfrm>
            <a:off x="873939" y="1678972"/>
            <a:ext cx="10444121" cy="3629529"/>
            <a:chOff x="873939" y="1678972"/>
            <a:chExt cx="10444121" cy="3629529"/>
          </a:xfrm>
        </p:grpSpPr>
        <p:grpSp>
          <p:nvGrpSpPr>
            <p:cNvPr id="14" name="그룹 13">
              <a:extLst>
                <a:ext uri="{FF2B5EF4-FFF2-40B4-BE49-F238E27FC236}">
                  <a16:creationId xmlns:a16="http://schemas.microsoft.com/office/drawing/2014/main" id="{98C4D016-FC51-CB87-22E6-6D07FD866F6A}"/>
                </a:ext>
              </a:extLst>
            </p:cNvPr>
            <p:cNvGrpSpPr/>
            <p:nvPr/>
          </p:nvGrpSpPr>
          <p:grpSpPr>
            <a:xfrm>
              <a:off x="873939" y="1678972"/>
              <a:ext cx="10444121" cy="3629529"/>
              <a:chOff x="873939" y="1466109"/>
              <a:chExt cx="10444121" cy="3629529"/>
            </a:xfrm>
          </p:grpSpPr>
          <p:sp>
            <p:nvSpPr>
              <p:cNvPr id="8" name="TextBox 7">
                <a:extLst>
                  <a:ext uri="{FF2B5EF4-FFF2-40B4-BE49-F238E27FC236}">
                    <a16:creationId xmlns:a16="http://schemas.microsoft.com/office/drawing/2014/main" id="{8678CBF6-AC79-631D-B14E-153487136824}"/>
                  </a:ext>
                </a:extLst>
              </p:cNvPr>
              <p:cNvSpPr txBox="1"/>
              <p:nvPr/>
            </p:nvSpPr>
            <p:spPr>
              <a:xfrm>
                <a:off x="3047326" y="146610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rolebindings</a:t>
                </a:r>
                <a:r>
                  <a:rPr lang="en-US" altLang="ko-KR" sz="1000" b="1" dirty="0">
                    <a:solidFill>
                      <a:srgbClr val="FF0000"/>
                    </a:solidFill>
                  </a:rPr>
                  <a:t> </a:t>
                </a:r>
                <a:r>
                  <a:rPr lang="en-US" altLang="ko-KR" sz="1000" b="1" dirty="0" err="1">
                    <a:solidFill>
                      <a:srgbClr val="FF0000"/>
                    </a:solidFill>
                  </a:rPr>
                  <a:t>pv</a:t>
                </a:r>
                <a:r>
                  <a:rPr lang="en-US" altLang="ko-KR" sz="1000" b="1" dirty="0">
                    <a:solidFill>
                      <a:srgbClr val="FF0000"/>
                    </a:solidFill>
                  </a:rPr>
                  <a:t>-test -n foo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6AF169D9-EA8F-5E45-B978-ED100209A1C2}"/>
                  </a:ext>
                </a:extLst>
              </p:cNvPr>
              <p:cNvSpPr/>
              <p:nvPr/>
            </p:nvSpPr>
            <p:spPr>
              <a:xfrm>
                <a:off x="5865377" y="1712330"/>
                <a:ext cx="461246"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 name="그룹 12">
                <a:extLst>
                  <a:ext uri="{FF2B5EF4-FFF2-40B4-BE49-F238E27FC236}">
                    <a16:creationId xmlns:a16="http://schemas.microsoft.com/office/drawing/2014/main" id="{A4696645-D72B-17A9-DE74-8E92CFFE63EF}"/>
                  </a:ext>
                </a:extLst>
              </p:cNvPr>
              <p:cNvGrpSpPr/>
              <p:nvPr/>
            </p:nvGrpSpPr>
            <p:grpSpPr>
              <a:xfrm>
                <a:off x="873939" y="2035119"/>
                <a:ext cx="10444121" cy="3060519"/>
                <a:chOff x="873939" y="2035119"/>
                <a:chExt cx="10444121" cy="3060519"/>
              </a:xfrm>
            </p:grpSpPr>
            <p:pic>
              <p:nvPicPr>
                <p:cNvPr id="11" name="그림 10">
                  <a:extLst>
                    <a:ext uri="{FF2B5EF4-FFF2-40B4-BE49-F238E27FC236}">
                      <a16:creationId xmlns:a16="http://schemas.microsoft.com/office/drawing/2014/main" id="{01096891-AFA9-09E6-13F5-472FCC41D878}"/>
                    </a:ext>
                  </a:extLst>
                </p:cNvPr>
                <p:cNvPicPr>
                  <a:picLocks noChangeAspect="1"/>
                </p:cNvPicPr>
                <p:nvPr/>
              </p:nvPicPr>
              <p:blipFill>
                <a:blip r:embed="rId2"/>
                <a:stretch>
                  <a:fillRect/>
                </a:stretch>
              </p:blipFill>
              <p:spPr>
                <a:xfrm>
                  <a:off x="873939" y="2035119"/>
                  <a:ext cx="10444121" cy="3060519"/>
                </a:xfrm>
                <a:prstGeom prst="rect">
                  <a:avLst/>
                </a:prstGeom>
              </p:spPr>
            </p:pic>
            <p:sp>
              <p:nvSpPr>
                <p:cNvPr id="12" name="직사각형 11">
                  <a:extLst>
                    <a:ext uri="{FF2B5EF4-FFF2-40B4-BE49-F238E27FC236}">
                      <a16:creationId xmlns:a16="http://schemas.microsoft.com/office/drawing/2014/main" id="{E042BCBF-2191-4880-9064-1522DB72BD4E}"/>
                    </a:ext>
                  </a:extLst>
                </p:cNvPr>
                <p:cNvSpPr/>
                <p:nvPr/>
              </p:nvSpPr>
              <p:spPr>
                <a:xfrm>
                  <a:off x="938676" y="3698060"/>
                  <a:ext cx="2492347" cy="11167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5" name="직사각형 14">
              <a:extLst>
                <a:ext uri="{FF2B5EF4-FFF2-40B4-BE49-F238E27FC236}">
                  <a16:creationId xmlns:a16="http://schemas.microsoft.com/office/drawing/2014/main" id="{53D932F9-1CB6-11B5-5341-F0C23F79F9EB}"/>
                </a:ext>
              </a:extLst>
            </p:cNvPr>
            <p:cNvSpPr/>
            <p:nvPr/>
          </p:nvSpPr>
          <p:spPr>
            <a:xfrm>
              <a:off x="938676" y="2969777"/>
              <a:ext cx="1213805" cy="1537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125960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Control(RBAC)(26/46)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Although you can create a </a:t>
            </a:r>
            <a:r>
              <a:rPr lang="en-US" altLang="ko-KR" sz="1400" b="1" dirty="0" err="1"/>
              <a:t>RoleBinding</a:t>
            </a:r>
            <a:r>
              <a:rPr lang="en-US" altLang="ko-KR" sz="1400" b="1" dirty="0"/>
              <a:t> and have it reference a </a:t>
            </a:r>
            <a:r>
              <a:rPr lang="en-US" altLang="ko-KR" sz="1400" b="1" dirty="0" err="1"/>
              <a:t>ClusterRole</a:t>
            </a:r>
            <a:r>
              <a:rPr lang="en-US" altLang="ko-KR" sz="1400" b="1" dirty="0"/>
              <a:t> when you want to enable access to </a:t>
            </a:r>
            <a:r>
              <a:rPr lang="en-US" altLang="ko-KR" sz="1400" b="1" dirty="0" err="1"/>
              <a:t>namespaced</a:t>
            </a:r>
            <a:r>
              <a:rPr lang="en-US" altLang="ko-KR" sz="1400" b="1" dirty="0"/>
              <a:t> resources, you can’t use the same approach for cluster-level (non-</a:t>
            </a:r>
            <a:r>
              <a:rPr lang="en-US" altLang="ko-KR" sz="1400" b="1" dirty="0" err="1"/>
              <a:t>namespaced</a:t>
            </a:r>
            <a:r>
              <a:rPr lang="en-US" altLang="ko-KR" sz="1400" b="1" dirty="0"/>
              <a:t>) resources</a:t>
            </a:r>
            <a:r>
              <a:rPr lang="en-US" altLang="ko-KR" sz="1400" dirty="0"/>
              <a:t>. </a:t>
            </a:r>
            <a:r>
              <a:rPr lang="en-US" altLang="ko-KR" sz="1400" b="1" dirty="0">
                <a:solidFill>
                  <a:srgbClr val="FF0000"/>
                </a:solidFill>
              </a:rPr>
              <a:t>To grant access to cluster-level resources, you must always use a </a:t>
            </a:r>
            <a:r>
              <a:rPr lang="en-US" altLang="ko-KR" sz="1400" b="1" dirty="0" err="1">
                <a:solidFill>
                  <a:srgbClr val="FF0000"/>
                </a:solidFill>
              </a:rPr>
              <a:t>ClusterRoleBinding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AAE1190-519B-8CF5-C44B-8EB0DAE7E4CE}"/>
              </a:ext>
            </a:extLst>
          </p:cNvPr>
          <p:cNvPicPr>
            <a:picLocks noChangeAspect="1"/>
          </p:cNvPicPr>
          <p:nvPr/>
        </p:nvPicPr>
        <p:blipFill>
          <a:blip r:embed="rId2"/>
          <a:stretch>
            <a:fillRect/>
          </a:stretch>
        </p:blipFill>
        <p:spPr>
          <a:xfrm>
            <a:off x="3648075" y="2333625"/>
            <a:ext cx="4895850" cy="2190750"/>
          </a:xfrm>
          <a:prstGeom prst="rect">
            <a:avLst/>
          </a:prstGeom>
        </p:spPr>
      </p:pic>
    </p:spTree>
    <p:extLst>
      <p:ext uri="{BB962C8B-B14F-4D97-AF65-F5344CB8AC3E}">
        <p14:creationId xmlns:p14="http://schemas.microsoft.com/office/powerpoint/2010/main" val="16964505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Control(RBAC)(27/46)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Creating a </a:t>
            </a:r>
            <a:r>
              <a:rPr lang="en-US" altLang="ko-KR" sz="1400" b="1" dirty="0" err="1">
                <a:solidFill>
                  <a:srgbClr val="FF0000"/>
                </a:solidFill>
              </a:rPr>
              <a:t>ClusterRoleBinding</a:t>
            </a:r>
            <a:r>
              <a:rPr lang="en-US" altLang="ko-KR" sz="1400" b="1" dirty="0"/>
              <a:t> isn’t that different from creating a </a:t>
            </a:r>
            <a:r>
              <a:rPr lang="en-US" altLang="ko-KR" sz="1400" b="1" dirty="0" err="1"/>
              <a:t>RoleBinding</a:t>
            </a:r>
            <a:r>
              <a:rPr lang="en-US" altLang="ko-KR" sz="1400" dirty="0"/>
              <a:t>, but you’ll </a:t>
            </a:r>
            <a:r>
              <a:rPr lang="en-US" altLang="ko-KR" sz="1400" b="1" dirty="0"/>
              <a:t>clean up and delete the </a:t>
            </a:r>
            <a:r>
              <a:rPr lang="en-US" altLang="ko-KR" sz="1400" b="1" dirty="0" err="1"/>
              <a:t>RoleBinding</a:t>
            </a:r>
            <a:r>
              <a:rPr lang="en-US" altLang="ko-KR" sz="1400" b="1" dirty="0"/>
              <a:t> first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You need to specify to delete the </a:t>
            </a:r>
            <a:r>
              <a:rPr lang="en-US" altLang="ko-KR" sz="1400" b="1" dirty="0" err="1"/>
              <a:t>RoleBindings</a:t>
            </a:r>
            <a:r>
              <a:rPr lang="en-US" altLang="ko-KR" sz="1400" b="1" dirty="0"/>
              <a:t> with “</a:t>
            </a:r>
            <a:r>
              <a:rPr lang="en-US" altLang="ko-KR" sz="1400" b="1" dirty="0">
                <a:solidFill>
                  <a:srgbClr val="FF0000"/>
                </a:solidFill>
              </a:rPr>
              <a:t>-n foo</a:t>
            </a:r>
            <a:r>
              <a:rPr lang="en-US" altLang="ko-KR" sz="1400" b="1" dirty="0"/>
              <a:t>” option</a:t>
            </a:r>
            <a:r>
              <a:rPr lang="en-US" altLang="ko-KR" sz="1400" dirty="0"/>
              <a:t>. </a:t>
            </a:r>
            <a:r>
              <a:rPr lang="en-US" altLang="ko-KR" sz="1400" b="1" dirty="0"/>
              <a:t>But, you don’t need to specify the name space in creating a </a:t>
            </a:r>
            <a:r>
              <a:rPr lang="en-US" altLang="ko-KR" sz="1400" b="1" dirty="0" err="1"/>
              <a:t>ClusterRoleBinding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418A2C8B-8688-462E-C464-BDEA83DC3004}"/>
              </a:ext>
            </a:extLst>
          </p:cNvPr>
          <p:cNvGrpSpPr/>
          <p:nvPr/>
        </p:nvGrpSpPr>
        <p:grpSpPr>
          <a:xfrm>
            <a:off x="870231" y="1670167"/>
            <a:ext cx="10451538" cy="4065760"/>
            <a:chOff x="870231" y="1702535"/>
            <a:chExt cx="10451538" cy="4065760"/>
          </a:xfrm>
        </p:grpSpPr>
        <p:sp>
          <p:nvSpPr>
            <p:cNvPr id="8" name="TextBox 7">
              <a:extLst>
                <a:ext uri="{FF2B5EF4-FFF2-40B4-BE49-F238E27FC236}">
                  <a16:creationId xmlns:a16="http://schemas.microsoft.com/office/drawing/2014/main" id="{4B4F0517-AFB9-63EA-FAA6-EAF4EE18403F}"/>
                </a:ext>
              </a:extLst>
            </p:cNvPr>
            <p:cNvSpPr txBox="1"/>
            <p:nvPr/>
          </p:nvSpPr>
          <p:spPr>
            <a:xfrm>
              <a:off x="3047326" y="1702535"/>
              <a:ext cx="6097348" cy="707886"/>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rolebinding</a:t>
              </a:r>
              <a:r>
                <a:rPr lang="en-US" altLang="ko-KR" sz="1000" b="1" dirty="0">
                  <a:solidFill>
                    <a:srgbClr val="FF0000"/>
                  </a:solidFill>
                </a:rPr>
                <a:t> </a:t>
              </a:r>
              <a:r>
                <a:rPr lang="en-US" altLang="ko-KR" sz="1000" b="1" dirty="0" err="1">
                  <a:solidFill>
                    <a:srgbClr val="FF0000"/>
                  </a:solidFill>
                </a:rPr>
                <a:t>pv</a:t>
              </a:r>
              <a:r>
                <a:rPr lang="en-US" altLang="ko-KR" sz="1000" b="1" dirty="0">
                  <a:solidFill>
                    <a:srgbClr val="FF0000"/>
                  </a:solidFill>
                </a:rPr>
                <a:t>-test -n foo</a:t>
              </a:r>
            </a:p>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clusterrolebinding</a:t>
              </a:r>
              <a:r>
                <a:rPr lang="en-US" altLang="ko-KR" sz="1000" b="1" dirty="0">
                  <a:solidFill>
                    <a:srgbClr val="FF0000"/>
                  </a:solidFill>
                </a:rPr>
                <a:t> </a:t>
              </a:r>
              <a:r>
                <a:rPr lang="en-US" altLang="ko-KR" sz="1000" b="1" dirty="0" err="1">
                  <a:solidFill>
                    <a:srgbClr val="FF0000"/>
                  </a:solidFill>
                </a:rPr>
                <a:t>pv</a:t>
              </a:r>
              <a:r>
                <a:rPr lang="en-US" altLang="ko-KR" sz="1000" b="1" dirty="0">
                  <a:solidFill>
                    <a:srgbClr val="FF0000"/>
                  </a:solidFill>
                </a:rPr>
                <a:t>-test --</a:t>
              </a:r>
              <a:r>
                <a:rPr lang="en-US" altLang="ko-KR" sz="1000" b="1" dirty="0" err="1">
                  <a:solidFill>
                    <a:srgbClr val="FF0000"/>
                  </a:solidFill>
                </a:rPr>
                <a:t>clusterrole</a:t>
              </a:r>
              <a:r>
                <a:rPr lang="en-US" altLang="ko-KR" sz="1000" b="1" dirty="0">
                  <a:solidFill>
                    <a:srgbClr val="FF0000"/>
                  </a:solidFill>
                </a:rPr>
                <a:t>=</a:t>
              </a:r>
              <a:r>
                <a:rPr lang="en-US" altLang="ko-KR" sz="1000" b="1" dirty="0" err="1">
                  <a:solidFill>
                    <a:srgbClr val="FF0000"/>
                  </a:solidFill>
                </a:rPr>
                <a:t>pv</a:t>
              </a:r>
              <a:r>
                <a:rPr lang="en-US" altLang="ko-KR" sz="1000" b="1" dirty="0">
                  <a:solidFill>
                    <a:srgbClr val="FF0000"/>
                  </a:solidFill>
                </a:rPr>
                <a:t>-reader --</a:t>
              </a:r>
              <a:r>
                <a:rPr lang="en-US" altLang="ko-KR" sz="1000" b="1" dirty="0" err="1">
                  <a:solidFill>
                    <a:srgbClr val="FF0000"/>
                  </a:solidFill>
                </a:rPr>
                <a:t>serviceaccount</a:t>
              </a:r>
              <a:r>
                <a:rPr lang="en-US" altLang="ko-KR" sz="1000" b="1" dirty="0">
                  <a:solidFill>
                    <a:srgbClr val="FF0000"/>
                  </a:solidFill>
                </a:rPr>
                <a:t>=</a:t>
              </a:r>
              <a:r>
                <a:rPr lang="en-US" altLang="ko-KR" sz="1000" b="1" dirty="0" err="1">
                  <a:solidFill>
                    <a:srgbClr val="FF0000"/>
                  </a:solidFill>
                </a:rPr>
                <a:t>foo:default</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test -n foo -- </a:t>
              </a:r>
              <a:r>
                <a:rPr lang="en-US" altLang="ko-KR" sz="1000" b="1" dirty="0" err="1"/>
                <a:t>sh</a:t>
              </a:r>
              <a:r>
                <a:rPr lang="en-US" altLang="ko-KR" sz="1000" b="1" dirty="0"/>
                <a:t> </a:t>
              </a:r>
            </a:p>
            <a:p>
              <a:r>
                <a:rPr lang="en-US" altLang="ko-KR" sz="1000" b="1" dirty="0"/>
                <a:t>/ # curl localhost:8001/</a:t>
              </a:r>
              <a:r>
                <a:rPr lang="en-US" altLang="ko-KR" sz="1000" b="1" dirty="0" err="1"/>
                <a:t>api</a:t>
              </a:r>
              <a:r>
                <a:rPr lang="en-US" altLang="ko-KR" sz="1000" b="1" dirty="0"/>
                <a:t>/v1/</a:t>
              </a:r>
              <a:r>
                <a:rPr lang="en-US" altLang="ko-KR" sz="1000" b="1" dirty="0" err="1"/>
                <a:t>persistentvolumes</a:t>
              </a:r>
              <a:endParaRPr lang="ko-KR" altLang="en-US" sz="1000" b="1" dirty="0"/>
            </a:p>
          </p:txBody>
        </p:sp>
        <p:sp>
          <p:nvSpPr>
            <p:cNvPr id="9" name="화살표: 아래쪽 8">
              <a:extLst>
                <a:ext uri="{FF2B5EF4-FFF2-40B4-BE49-F238E27FC236}">
                  <a16:creationId xmlns:a16="http://schemas.microsoft.com/office/drawing/2014/main" id="{CF3F75A2-1233-6A8B-3102-DE875672167E}"/>
                </a:ext>
              </a:extLst>
            </p:cNvPr>
            <p:cNvSpPr/>
            <p:nvPr/>
          </p:nvSpPr>
          <p:spPr>
            <a:xfrm>
              <a:off x="5865377" y="2419519"/>
              <a:ext cx="46124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7616A025-2D38-2BAB-F561-F75CFA752C29}"/>
                </a:ext>
              </a:extLst>
            </p:cNvPr>
            <p:cNvPicPr>
              <a:picLocks noChangeAspect="1"/>
            </p:cNvPicPr>
            <p:nvPr/>
          </p:nvPicPr>
          <p:blipFill>
            <a:blip r:embed="rId2"/>
            <a:stretch>
              <a:fillRect/>
            </a:stretch>
          </p:blipFill>
          <p:spPr>
            <a:xfrm>
              <a:off x="870231" y="2719930"/>
              <a:ext cx="10451538" cy="3048365"/>
            </a:xfrm>
            <a:prstGeom prst="rect">
              <a:avLst/>
            </a:prstGeom>
          </p:spPr>
        </p:pic>
      </p:grpSp>
    </p:spTree>
    <p:extLst>
      <p:ext uri="{BB962C8B-B14F-4D97-AF65-F5344CB8AC3E}">
        <p14:creationId xmlns:p14="http://schemas.microsoft.com/office/powerpoint/2010/main" val="1814100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Control(RBAC)(28/46)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NOTICE : You must use a </a:t>
            </a:r>
            <a:r>
              <a:rPr lang="en-US" altLang="ko-KR" sz="1400" b="1" dirty="0" err="1"/>
              <a:t>ClusterRole</a:t>
            </a:r>
            <a:r>
              <a:rPr lang="en-US" altLang="ko-KR" sz="1400" b="1" dirty="0"/>
              <a:t> and a </a:t>
            </a:r>
            <a:r>
              <a:rPr lang="en-US" altLang="ko-KR" sz="1400" b="1" dirty="0" err="1"/>
              <a:t>ClusterRoleBinding</a:t>
            </a:r>
            <a:r>
              <a:rPr lang="en-US" altLang="ko-KR" sz="1400" b="1" dirty="0"/>
              <a:t> when granting access to cluster-level resources</a:t>
            </a:r>
            <a:r>
              <a:rPr lang="en-US" altLang="ko-KR" sz="1400" dirty="0"/>
              <a:t>.</a:t>
            </a:r>
          </a:p>
          <a:p>
            <a:pPr lvl="1">
              <a:buFont typeface="Wingdings" panose="05000000000000000000" pitchFamily="2" charset="2"/>
              <a:buChar char="§"/>
            </a:pPr>
            <a:r>
              <a:rPr lang="en-US" altLang="ko-KR" sz="1400" b="1" dirty="0"/>
              <a:t>NOTE : Remember that a </a:t>
            </a:r>
            <a:r>
              <a:rPr lang="en-US" altLang="ko-KR" sz="1400" b="1" dirty="0" err="1"/>
              <a:t>RoleBinding</a:t>
            </a:r>
            <a:r>
              <a:rPr lang="en-US" altLang="ko-KR" sz="1400" b="1" dirty="0"/>
              <a:t> can’t grant access to cluster-level resources, even if it references a </a:t>
            </a:r>
            <a:r>
              <a:rPr lang="en-US" altLang="ko-KR" sz="1400" b="1" dirty="0" err="1"/>
              <a:t>ClusterRoleBinding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53F957F-65D0-2B5D-7029-E0E3B81F863B}"/>
              </a:ext>
            </a:extLst>
          </p:cNvPr>
          <p:cNvGrpSpPr/>
          <p:nvPr/>
        </p:nvGrpSpPr>
        <p:grpSpPr>
          <a:xfrm>
            <a:off x="3471862" y="2338387"/>
            <a:ext cx="5248275" cy="2181225"/>
            <a:chOff x="3471862" y="2338387"/>
            <a:chExt cx="5248275" cy="2181225"/>
          </a:xfrm>
        </p:grpSpPr>
        <p:pic>
          <p:nvPicPr>
            <p:cNvPr id="8" name="그림 7">
              <a:extLst>
                <a:ext uri="{FF2B5EF4-FFF2-40B4-BE49-F238E27FC236}">
                  <a16:creationId xmlns:a16="http://schemas.microsoft.com/office/drawing/2014/main" id="{47296300-AB85-3E52-20F0-9D5874855D19}"/>
                </a:ext>
              </a:extLst>
            </p:cNvPr>
            <p:cNvPicPr>
              <a:picLocks noChangeAspect="1"/>
            </p:cNvPicPr>
            <p:nvPr/>
          </p:nvPicPr>
          <p:blipFill>
            <a:blip r:embed="rId2"/>
            <a:stretch>
              <a:fillRect/>
            </a:stretch>
          </p:blipFill>
          <p:spPr>
            <a:xfrm>
              <a:off x="3471862" y="2338387"/>
              <a:ext cx="5248275" cy="2181225"/>
            </a:xfrm>
            <a:prstGeom prst="rect">
              <a:avLst/>
            </a:prstGeom>
          </p:spPr>
        </p:pic>
        <p:sp>
          <p:nvSpPr>
            <p:cNvPr id="9" name="직사각형 8">
              <a:extLst>
                <a:ext uri="{FF2B5EF4-FFF2-40B4-BE49-F238E27FC236}">
                  <a16:creationId xmlns:a16="http://schemas.microsoft.com/office/drawing/2014/main" id="{B936B57B-E11B-12EA-EBF8-8075B5E70704}"/>
                </a:ext>
              </a:extLst>
            </p:cNvPr>
            <p:cNvSpPr/>
            <p:nvPr/>
          </p:nvSpPr>
          <p:spPr>
            <a:xfrm>
              <a:off x="4911864" y="2791752"/>
              <a:ext cx="1060057" cy="3965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81676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Control(RBAC)(29/46)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We’ve mentioned that the API server also exposes </a:t>
            </a:r>
            <a:r>
              <a:rPr lang="en-US" altLang="ko-KR" sz="1400" b="1" dirty="0">
                <a:solidFill>
                  <a:srgbClr val="FF0000"/>
                </a:solidFill>
              </a:rPr>
              <a:t>non-resource URLs</a:t>
            </a:r>
            <a:r>
              <a:rPr lang="en-US" altLang="ko-KR" sz="1400" dirty="0"/>
              <a:t>. </a:t>
            </a:r>
            <a:r>
              <a:rPr lang="en-US" altLang="ko-KR" sz="1400" b="1" dirty="0"/>
              <a:t>Access to these URLs must also be granted explicitly; otherwise the API server will reject the client’s request</a:t>
            </a:r>
            <a:r>
              <a:rPr lang="en-US" altLang="ko-KR" sz="1400" dirty="0"/>
              <a:t>. Usually, this is done for you automatically through the “</a:t>
            </a:r>
            <a:r>
              <a:rPr lang="en-US" altLang="ko-KR" sz="1400" b="1" dirty="0" err="1">
                <a:solidFill>
                  <a:srgbClr val="FF0000"/>
                </a:solidFill>
              </a:rPr>
              <a:t>system:discovery</a:t>
            </a:r>
            <a:r>
              <a:rPr lang="en-US" altLang="ko-KR" sz="1400" dirty="0"/>
              <a:t>” </a:t>
            </a:r>
            <a:r>
              <a:rPr lang="en-US" altLang="ko-KR" sz="1400" b="1" dirty="0" err="1"/>
              <a:t>ClusterRole</a:t>
            </a:r>
            <a:r>
              <a:rPr lang="en-US" altLang="ko-KR" sz="1400" dirty="0"/>
              <a:t> and the identically named </a:t>
            </a:r>
            <a:r>
              <a:rPr lang="en-US" altLang="ko-KR" sz="1400" b="1" dirty="0" err="1"/>
              <a:t>ClusterRoleBinding</a:t>
            </a:r>
            <a:r>
              <a:rPr lang="en-US" altLang="ko-KR" sz="1400" dirty="0"/>
              <a:t>, which appear among other predefined </a:t>
            </a:r>
            <a:r>
              <a:rPr lang="en-US" altLang="ko-KR" sz="1400" b="1" dirty="0" err="1"/>
              <a:t>ClusterRoles</a:t>
            </a:r>
            <a:r>
              <a:rPr lang="en-US" altLang="ko-KR" sz="1400" dirty="0"/>
              <a:t> and </a:t>
            </a:r>
            <a:r>
              <a:rPr lang="en-US" altLang="ko-KR" sz="1400" b="1" dirty="0" err="1"/>
              <a:t>ClusterRoleBindings</a:t>
            </a:r>
            <a:r>
              <a:rPr lang="en-US" altLang="ko-KR" sz="1400" dirty="0"/>
              <a:t>.</a:t>
            </a:r>
          </a:p>
          <a:p>
            <a:pPr lvl="1">
              <a:buFont typeface="Wingdings" panose="05000000000000000000" pitchFamily="2" charset="2"/>
              <a:buChar char="§"/>
            </a:pPr>
            <a:r>
              <a:rPr lang="en-US" altLang="ko-KR" sz="1400" dirty="0"/>
              <a:t>Let’s inspect the “</a:t>
            </a:r>
            <a:r>
              <a:rPr lang="en-US" altLang="ko-KR" sz="1400" b="1" dirty="0" err="1"/>
              <a:t>system:discovery</a:t>
            </a:r>
            <a:r>
              <a:rPr lang="en-US" altLang="ko-KR" sz="1400" dirty="0"/>
              <a:t>” </a:t>
            </a:r>
            <a:r>
              <a:rPr lang="en-US" altLang="ko-KR" sz="1400" b="1" dirty="0" err="1"/>
              <a:t>ClusterRole</a:t>
            </a:r>
            <a:r>
              <a:rPr lang="en-US" altLang="ko-KR" sz="1400" b="1" dirty="0"/>
              <a:t> </a:t>
            </a:r>
            <a:r>
              <a:rPr lang="en-US" altLang="ko-KR" sz="1400" dirty="0"/>
              <a:t>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그룹 18">
            <a:extLst>
              <a:ext uri="{FF2B5EF4-FFF2-40B4-BE49-F238E27FC236}">
                <a16:creationId xmlns:a16="http://schemas.microsoft.com/office/drawing/2014/main" id="{87128AB1-2724-0A7B-E860-B95F5AA57C2B}"/>
              </a:ext>
            </a:extLst>
          </p:cNvPr>
          <p:cNvGrpSpPr/>
          <p:nvPr/>
        </p:nvGrpSpPr>
        <p:grpSpPr>
          <a:xfrm>
            <a:off x="1377331" y="2327326"/>
            <a:ext cx="9437337" cy="4081704"/>
            <a:chOff x="1377331" y="2327326"/>
            <a:chExt cx="9437337" cy="4081704"/>
          </a:xfrm>
        </p:grpSpPr>
        <p:grpSp>
          <p:nvGrpSpPr>
            <p:cNvPr id="17" name="그룹 16">
              <a:extLst>
                <a:ext uri="{FF2B5EF4-FFF2-40B4-BE49-F238E27FC236}">
                  <a16:creationId xmlns:a16="http://schemas.microsoft.com/office/drawing/2014/main" id="{3738862C-6C90-4453-5470-20DE1B38FD63}"/>
                </a:ext>
              </a:extLst>
            </p:cNvPr>
            <p:cNvGrpSpPr/>
            <p:nvPr/>
          </p:nvGrpSpPr>
          <p:grpSpPr>
            <a:xfrm>
              <a:off x="1377331" y="2327326"/>
              <a:ext cx="9437337" cy="4081704"/>
              <a:chOff x="1377332" y="2327326"/>
              <a:chExt cx="9437337" cy="4081704"/>
            </a:xfrm>
          </p:grpSpPr>
          <p:sp>
            <p:nvSpPr>
              <p:cNvPr id="8" name="TextBox 7">
                <a:extLst>
                  <a:ext uri="{FF2B5EF4-FFF2-40B4-BE49-F238E27FC236}">
                    <a16:creationId xmlns:a16="http://schemas.microsoft.com/office/drawing/2014/main" id="{33CE0313-53A6-5180-A75A-354FE891FF4E}"/>
                  </a:ext>
                </a:extLst>
              </p:cNvPr>
              <p:cNvSpPr txBox="1"/>
              <p:nvPr/>
            </p:nvSpPr>
            <p:spPr>
              <a:xfrm>
                <a:off x="3047326" y="2327326"/>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clusterrole</a:t>
                </a:r>
                <a:r>
                  <a:rPr lang="en-US" altLang="ko-KR" sz="1000" b="1" dirty="0">
                    <a:solidFill>
                      <a:srgbClr val="FF0000"/>
                    </a:solidFill>
                  </a:rPr>
                  <a:t> </a:t>
                </a:r>
                <a:r>
                  <a:rPr lang="en-US" altLang="ko-KR" sz="1000" b="1" dirty="0" err="1">
                    <a:solidFill>
                      <a:srgbClr val="FF0000"/>
                    </a:solidFill>
                  </a:rPr>
                  <a:t>system:discovery</a:t>
                </a:r>
                <a:r>
                  <a:rPr lang="en-US" altLang="ko-KR" sz="1000" b="1" dirty="0">
                    <a:solidFill>
                      <a:srgbClr val="FF0000"/>
                    </a:solidFill>
                  </a:rPr>
                  <a:t>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C1598CFE-C1E9-5441-114D-A9F91482AA17}"/>
                  </a:ext>
                </a:extLst>
              </p:cNvPr>
              <p:cNvSpPr/>
              <p:nvPr/>
            </p:nvSpPr>
            <p:spPr>
              <a:xfrm>
                <a:off x="5866726" y="2573547"/>
                <a:ext cx="453154" cy="33495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FB74327B-DA53-6C72-C63F-5CBD6BFBBEF2}"/>
                  </a:ext>
                </a:extLst>
              </p:cNvPr>
              <p:cNvGrpSpPr/>
              <p:nvPr/>
            </p:nvGrpSpPr>
            <p:grpSpPr>
              <a:xfrm>
                <a:off x="1377332" y="2911684"/>
                <a:ext cx="9437337" cy="3497346"/>
                <a:chOff x="378303" y="2961685"/>
                <a:chExt cx="11430000" cy="4516942"/>
              </a:xfrm>
            </p:grpSpPr>
            <p:pic>
              <p:nvPicPr>
                <p:cNvPr id="15" name="그림 14">
                  <a:extLst>
                    <a:ext uri="{FF2B5EF4-FFF2-40B4-BE49-F238E27FC236}">
                      <a16:creationId xmlns:a16="http://schemas.microsoft.com/office/drawing/2014/main" id="{D856879E-F37F-69B0-6643-852F7FA1AA65}"/>
                    </a:ext>
                  </a:extLst>
                </p:cNvPr>
                <p:cNvPicPr>
                  <a:picLocks noChangeAspect="1"/>
                </p:cNvPicPr>
                <p:nvPr/>
              </p:nvPicPr>
              <p:blipFill>
                <a:blip r:embed="rId2"/>
                <a:stretch>
                  <a:fillRect/>
                </a:stretch>
              </p:blipFill>
              <p:spPr>
                <a:xfrm>
                  <a:off x="378303" y="4316327"/>
                  <a:ext cx="11430000" cy="3162300"/>
                </a:xfrm>
                <a:prstGeom prst="rect">
                  <a:avLst/>
                </a:prstGeom>
                <a:ln>
                  <a:solidFill>
                    <a:schemeClr val="bg1">
                      <a:lumMod val="50000"/>
                    </a:schemeClr>
                  </a:solidFill>
                </a:ln>
              </p:spPr>
            </p:pic>
            <p:pic>
              <p:nvPicPr>
                <p:cNvPr id="13" name="그림 12">
                  <a:extLst>
                    <a:ext uri="{FF2B5EF4-FFF2-40B4-BE49-F238E27FC236}">
                      <a16:creationId xmlns:a16="http://schemas.microsoft.com/office/drawing/2014/main" id="{73F72E61-2957-E22E-A3D8-8E261DF7FB5E}"/>
                    </a:ext>
                  </a:extLst>
                </p:cNvPr>
                <p:cNvPicPr>
                  <a:picLocks noChangeAspect="1"/>
                </p:cNvPicPr>
                <p:nvPr/>
              </p:nvPicPr>
              <p:blipFill>
                <a:blip r:embed="rId3"/>
                <a:stretch>
                  <a:fillRect/>
                </a:stretch>
              </p:blipFill>
              <p:spPr>
                <a:xfrm>
                  <a:off x="378303" y="2961685"/>
                  <a:ext cx="11430000" cy="1809750"/>
                </a:xfrm>
                <a:prstGeom prst="rect">
                  <a:avLst/>
                </a:prstGeom>
                <a:ln>
                  <a:solidFill>
                    <a:schemeClr val="bg1">
                      <a:lumMod val="50000"/>
                    </a:schemeClr>
                  </a:solidFill>
                </a:ln>
              </p:spPr>
            </p:pic>
          </p:grpSp>
        </p:grpSp>
        <p:sp>
          <p:nvSpPr>
            <p:cNvPr id="18" name="직사각형 17">
              <a:extLst>
                <a:ext uri="{FF2B5EF4-FFF2-40B4-BE49-F238E27FC236}">
                  <a16:creationId xmlns:a16="http://schemas.microsoft.com/office/drawing/2014/main" id="{82E673B5-9FB9-BA4C-1274-D50D7EA012CF}"/>
                </a:ext>
              </a:extLst>
            </p:cNvPr>
            <p:cNvSpPr/>
            <p:nvPr/>
          </p:nvSpPr>
          <p:spPr>
            <a:xfrm>
              <a:off x="1417791" y="4337200"/>
              <a:ext cx="1414420" cy="18173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27929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Control(RBAC)(30/46)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You can see this </a:t>
            </a:r>
            <a:r>
              <a:rPr lang="en-US" altLang="ko-KR" sz="1400" b="1" dirty="0" err="1"/>
              <a:t>ClusterRole</a:t>
            </a:r>
            <a:r>
              <a:rPr lang="en-US" altLang="ko-KR" sz="1400" b="1" dirty="0"/>
              <a:t> refers to URLs instead of resources (field “</a:t>
            </a:r>
            <a:r>
              <a:rPr lang="en-US" altLang="ko-KR" sz="1400" b="1" dirty="0" err="1">
                <a:solidFill>
                  <a:srgbClr val="FF0000"/>
                </a:solidFill>
              </a:rPr>
              <a:t>nonResourceURLs</a:t>
            </a:r>
            <a:r>
              <a:rPr lang="en-US" altLang="ko-KR" sz="1400" b="1" dirty="0"/>
              <a:t>” is used instead of the resources field</a:t>
            </a:r>
            <a:r>
              <a:rPr lang="en-US" altLang="ko-KR" sz="1400" dirty="0"/>
              <a:t>). The </a:t>
            </a:r>
            <a:r>
              <a:rPr lang="en-US" altLang="ko-KR" sz="1400" b="1" dirty="0"/>
              <a:t>verbs</a:t>
            </a:r>
            <a:r>
              <a:rPr lang="en-US" altLang="ko-KR" sz="1400" dirty="0"/>
              <a:t> field only allows the </a:t>
            </a:r>
            <a:r>
              <a:rPr lang="en-US" altLang="ko-KR" sz="1400" b="1" dirty="0"/>
              <a:t>GET HTTP method </a:t>
            </a:r>
            <a:r>
              <a:rPr lang="en-US" altLang="ko-KR" sz="1400" dirty="0"/>
              <a:t>to be used on these URLs.</a:t>
            </a:r>
          </a:p>
          <a:p>
            <a:pPr lvl="1">
              <a:buFont typeface="Wingdings" panose="05000000000000000000" pitchFamily="2" charset="2"/>
              <a:buChar char="§"/>
            </a:pPr>
            <a:r>
              <a:rPr lang="en-US" altLang="ko-KR" sz="1400" b="1" dirty="0"/>
              <a:t>NOTE : For non-resource URLs, plain HTTP verbs such as post, put, and patch are used instead of create or update</a:t>
            </a:r>
            <a:r>
              <a:rPr lang="en-US" altLang="ko-KR" sz="1400" dirty="0"/>
              <a:t>. The verbs need to be specified in lowercase.</a:t>
            </a:r>
          </a:p>
          <a:p>
            <a:pPr lvl="1">
              <a:buFont typeface="Wingdings" panose="05000000000000000000" pitchFamily="2" charset="2"/>
              <a:buChar char="§"/>
            </a:pPr>
            <a:r>
              <a:rPr lang="en-US" altLang="ko-KR" sz="1400" b="1" dirty="0"/>
              <a:t>As with </a:t>
            </a:r>
            <a:r>
              <a:rPr lang="en-US" altLang="ko-KR" sz="1400" b="1" dirty="0">
                <a:solidFill>
                  <a:srgbClr val="FF0000"/>
                </a:solidFill>
              </a:rPr>
              <a:t>cluster-level resources</a:t>
            </a:r>
            <a:r>
              <a:rPr lang="en-US" altLang="ko-KR" sz="1400" b="1" dirty="0"/>
              <a:t>, </a:t>
            </a:r>
            <a:r>
              <a:rPr lang="en-US" altLang="ko-KR" sz="1400" b="1" dirty="0" err="1"/>
              <a:t>ClusterRoles</a:t>
            </a:r>
            <a:r>
              <a:rPr lang="en-US" altLang="ko-KR" sz="1400" b="1" dirty="0"/>
              <a:t> for non-resource URLs must be bound with a </a:t>
            </a:r>
            <a:r>
              <a:rPr lang="en-US" altLang="ko-KR" sz="1400" b="1" dirty="0" err="1"/>
              <a:t>ClusterRoleBinding</a:t>
            </a:r>
            <a:r>
              <a:rPr lang="en-US" altLang="ko-KR" sz="1400" dirty="0"/>
              <a:t>. Binding them with a </a:t>
            </a:r>
            <a:r>
              <a:rPr lang="en-US" altLang="ko-KR" sz="1400" b="1" dirty="0" err="1"/>
              <a:t>RoleBinding</a:t>
            </a:r>
            <a:r>
              <a:rPr lang="en-US" altLang="ko-KR" sz="1400" dirty="0"/>
              <a:t> won’t have any effect. </a:t>
            </a:r>
            <a:r>
              <a:rPr lang="en-US" altLang="ko-KR" sz="1400" b="1" dirty="0"/>
              <a:t>The “</a:t>
            </a:r>
            <a:r>
              <a:rPr lang="en-US" altLang="ko-KR" sz="1400" b="1" dirty="0" err="1"/>
              <a:t>system:discovery</a:t>
            </a:r>
            <a:r>
              <a:rPr lang="en-US" altLang="ko-KR" sz="1400" b="1" dirty="0"/>
              <a:t>” </a:t>
            </a:r>
            <a:r>
              <a:rPr lang="en-US" altLang="ko-KR" sz="1400" b="1" dirty="0" err="1"/>
              <a:t>ClusterRole</a:t>
            </a:r>
            <a:r>
              <a:rPr lang="en-US" altLang="ko-KR" sz="1400" b="1" dirty="0"/>
              <a:t> has a corresponding “</a:t>
            </a:r>
            <a:r>
              <a:rPr lang="en-US" altLang="ko-KR" sz="1400" b="1" dirty="0" err="1"/>
              <a:t>system:discovery</a:t>
            </a:r>
            <a:r>
              <a:rPr lang="en-US" altLang="ko-KR" sz="1400" b="1" dirty="0"/>
              <a:t>” </a:t>
            </a:r>
            <a:r>
              <a:rPr lang="en-US" altLang="ko-KR" sz="1400" b="1" dirty="0" err="1"/>
              <a:t>ClusterRoleBinding</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4" name="직사각형 13">
            <a:extLst>
              <a:ext uri="{FF2B5EF4-FFF2-40B4-BE49-F238E27FC236}">
                <a16:creationId xmlns:a16="http://schemas.microsoft.com/office/drawing/2014/main" id="{4A109DEE-7648-B48A-A4AC-D440472625DE}"/>
              </a:ext>
            </a:extLst>
          </p:cNvPr>
          <p:cNvSpPr/>
          <p:nvPr/>
        </p:nvSpPr>
        <p:spPr>
          <a:xfrm>
            <a:off x="1715512" y="3876085"/>
            <a:ext cx="1529394" cy="1618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6" name="그룹 15">
            <a:extLst>
              <a:ext uri="{FF2B5EF4-FFF2-40B4-BE49-F238E27FC236}">
                <a16:creationId xmlns:a16="http://schemas.microsoft.com/office/drawing/2014/main" id="{433F72FF-F88D-3603-35A8-2D7B2FC71E8F}"/>
              </a:ext>
            </a:extLst>
          </p:cNvPr>
          <p:cNvGrpSpPr/>
          <p:nvPr/>
        </p:nvGrpSpPr>
        <p:grpSpPr>
          <a:xfrm>
            <a:off x="1629265" y="2668658"/>
            <a:ext cx="8928077" cy="3741166"/>
            <a:chOff x="1629265" y="2668658"/>
            <a:chExt cx="8928077" cy="3741166"/>
          </a:xfrm>
        </p:grpSpPr>
        <p:grpSp>
          <p:nvGrpSpPr>
            <p:cNvPr id="13" name="그룹 12">
              <a:extLst>
                <a:ext uri="{FF2B5EF4-FFF2-40B4-BE49-F238E27FC236}">
                  <a16:creationId xmlns:a16="http://schemas.microsoft.com/office/drawing/2014/main" id="{9CBF7819-8538-8EF3-A8D2-985051A83E6C}"/>
                </a:ext>
              </a:extLst>
            </p:cNvPr>
            <p:cNvGrpSpPr/>
            <p:nvPr/>
          </p:nvGrpSpPr>
          <p:grpSpPr>
            <a:xfrm>
              <a:off x="1629265" y="2668658"/>
              <a:ext cx="8928077" cy="3741166"/>
              <a:chOff x="1629265" y="2668658"/>
              <a:chExt cx="8928077" cy="3741166"/>
            </a:xfrm>
          </p:grpSpPr>
          <p:grpSp>
            <p:nvGrpSpPr>
              <p:cNvPr id="10" name="그룹 9">
                <a:extLst>
                  <a:ext uri="{FF2B5EF4-FFF2-40B4-BE49-F238E27FC236}">
                    <a16:creationId xmlns:a16="http://schemas.microsoft.com/office/drawing/2014/main" id="{DF04285D-CB1E-7DD8-5E13-FC7241269262}"/>
                  </a:ext>
                </a:extLst>
              </p:cNvPr>
              <p:cNvGrpSpPr/>
              <p:nvPr/>
            </p:nvGrpSpPr>
            <p:grpSpPr>
              <a:xfrm>
                <a:off x="3045978" y="2668658"/>
                <a:ext cx="6097348" cy="542732"/>
                <a:chOff x="3048674" y="3107858"/>
                <a:chExt cx="6097348" cy="542732"/>
              </a:xfrm>
            </p:grpSpPr>
            <p:sp>
              <p:nvSpPr>
                <p:cNvPr id="8" name="TextBox 7">
                  <a:extLst>
                    <a:ext uri="{FF2B5EF4-FFF2-40B4-BE49-F238E27FC236}">
                      <a16:creationId xmlns:a16="http://schemas.microsoft.com/office/drawing/2014/main" id="{706A4D82-E1E5-E5F3-E173-9EC0B53BF0FF}"/>
                    </a:ext>
                  </a:extLst>
                </p:cNvPr>
                <p:cNvSpPr txBox="1"/>
                <p:nvPr/>
              </p:nvSpPr>
              <p:spPr>
                <a:xfrm>
                  <a:off x="3048674" y="3107858"/>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clusterrolebinding</a:t>
                  </a:r>
                  <a:r>
                    <a:rPr lang="en-US" altLang="ko-KR" sz="1000" b="1" dirty="0">
                      <a:solidFill>
                        <a:srgbClr val="FF0000"/>
                      </a:solidFill>
                    </a:rPr>
                    <a:t> </a:t>
                  </a:r>
                  <a:r>
                    <a:rPr lang="en-US" altLang="ko-KR" sz="1000" b="1" dirty="0" err="1">
                      <a:solidFill>
                        <a:srgbClr val="FF0000"/>
                      </a:solidFill>
                    </a:rPr>
                    <a:t>system:discovery</a:t>
                  </a:r>
                  <a:r>
                    <a:rPr lang="en-US" altLang="ko-KR" sz="1000" b="1" dirty="0">
                      <a:solidFill>
                        <a:srgbClr val="FF0000"/>
                      </a:solidFill>
                    </a:rPr>
                    <a:t>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23BF2C4E-F294-223B-011E-5EDCE09564F5}"/>
                    </a:ext>
                  </a:extLst>
                </p:cNvPr>
                <p:cNvSpPr/>
                <p:nvPr/>
              </p:nvSpPr>
              <p:spPr>
                <a:xfrm>
                  <a:off x="5865377" y="3357254"/>
                  <a:ext cx="461246" cy="29333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EDA44CAE-ADF7-E03D-A00C-D73B097B92A3}"/>
                  </a:ext>
                </a:extLst>
              </p:cNvPr>
              <p:cNvPicPr>
                <a:picLocks noChangeAspect="1"/>
              </p:cNvPicPr>
              <p:nvPr/>
            </p:nvPicPr>
            <p:blipFill>
              <a:blip r:embed="rId2"/>
              <a:stretch>
                <a:fillRect/>
              </a:stretch>
            </p:blipFill>
            <p:spPr>
              <a:xfrm>
                <a:off x="1629265" y="3210596"/>
                <a:ext cx="8928077" cy="3199228"/>
              </a:xfrm>
              <a:prstGeom prst="rect">
                <a:avLst/>
              </a:prstGeom>
            </p:spPr>
          </p:pic>
        </p:grpSp>
        <p:sp>
          <p:nvSpPr>
            <p:cNvPr id="15" name="직사각형 14">
              <a:extLst>
                <a:ext uri="{FF2B5EF4-FFF2-40B4-BE49-F238E27FC236}">
                  <a16:creationId xmlns:a16="http://schemas.microsoft.com/office/drawing/2014/main" id="{F907EE19-FD56-E335-4B8B-B367F043FC01}"/>
                </a:ext>
              </a:extLst>
            </p:cNvPr>
            <p:cNvSpPr/>
            <p:nvPr/>
          </p:nvSpPr>
          <p:spPr>
            <a:xfrm>
              <a:off x="1715512" y="5146535"/>
              <a:ext cx="2306230" cy="10519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036097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Control(RBAC)(31/46)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The YAML in the previous example shows the </a:t>
            </a:r>
            <a:r>
              <a:rPr lang="en-US" altLang="ko-KR" sz="1400" b="1" dirty="0" err="1"/>
              <a:t>ClusterRoleBinding</a:t>
            </a:r>
            <a:r>
              <a:rPr lang="en-US" altLang="ko-KR" sz="1400" b="1" dirty="0"/>
              <a:t> refers to the </a:t>
            </a:r>
            <a:r>
              <a:rPr lang="en-US" altLang="ko-KR" sz="1400" b="1" dirty="0" err="1"/>
              <a:t>system:discovery</a:t>
            </a:r>
            <a:r>
              <a:rPr lang="en-US" altLang="ko-KR" sz="1400" b="1" dirty="0"/>
              <a:t> </a:t>
            </a:r>
            <a:r>
              <a:rPr lang="en-US" altLang="ko-KR" sz="1400" b="1" dirty="0" err="1"/>
              <a:t>ClusterRole</a:t>
            </a:r>
            <a:r>
              <a:rPr lang="en-US" altLang="ko-KR" sz="1400" dirty="0"/>
              <a:t>, as expected. </a:t>
            </a:r>
            <a:r>
              <a:rPr lang="en-US" altLang="ko-KR" sz="1400" b="1" dirty="0"/>
              <a:t>It’s bound to one</a:t>
            </a:r>
            <a:r>
              <a:rPr lang="ko-KR" altLang="en-US" sz="1400" b="1" dirty="0"/>
              <a:t> </a:t>
            </a:r>
            <a:r>
              <a:rPr lang="en-US" altLang="ko-KR" sz="1400" b="1" dirty="0"/>
              <a:t>group, </a:t>
            </a:r>
            <a:r>
              <a:rPr lang="en-US" altLang="ko-KR" sz="1400" b="1" dirty="0" err="1"/>
              <a:t>system:authenticated</a:t>
            </a:r>
            <a:r>
              <a:rPr lang="en-US" altLang="ko-KR" sz="1400" dirty="0"/>
              <a:t>(there is a “</a:t>
            </a:r>
            <a:r>
              <a:rPr lang="en-US" altLang="ko-KR" sz="1400" b="1" dirty="0" err="1"/>
              <a:t>system:unauthenticated</a:t>
            </a:r>
            <a:r>
              <a:rPr lang="en-US" altLang="ko-KR" sz="1400" dirty="0"/>
              <a:t>” also), </a:t>
            </a:r>
            <a:r>
              <a:rPr lang="en-US" altLang="ko-KR" sz="1400" b="1" dirty="0"/>
              <a:t>which makes it bound to all authenticated users</a:t>
            </a:r>
            <a:r>
              <a:rPr lang="en-US" altLang="ko-KR" sz="1400" dirty="0"/>
              <a:t>. This means </a:t>
            </a:r>
            <a:r>
              <a:rPr lang="en-US" altLang="ko-KR" sz="1400" b="1" dirty="0"/>
              <a:t>only authenticated users can access the URLs listed in the </a:t>
            </a:r>
            <a:r>
              <a:rPr lang="en-US" altLang="ko-KR" sz="1400" b="1" dirty="0" err="1"/>
              <a:t>ClusterRole</a:t>
            </a:r>
            <a:r>
              <a:rPr lang="en-US" altLang="ko-KR" sz="1400" dirty="0"/>
              <a:t>.</a:t>
            </a:r>
          </a:p>
          <a:p>
            <a:pPr lvl="1">
              <a:buFont typeface="Wingdings" panose="05000000000000000000" pitchFamily="2" charset="2"/>
              <a:buChar char="§"/>
            </a:pPr>
            <a:r>
              <a:rPr lang="en-US" altLang="ko-KR" sz="1400" b="1" dirty="0"/>
              <a:t>NOTE : Groups are in the domain of </a:t>
            </a:r>
            <a:r>
              <a:rPr lang="en-US" altLang="ko-KR" sz="1400" b="1" dirty="0">
                <a:solidFill>
                  <a:srgbClr val="FF0000"/>
                </a:solidFill>
              </a:rPr>
              <a:t>the authentication plugin</a:t>
            </a:r>
            <a:r>
              <a:rPr lang="en-US" altLang="ko-KR" sz="1400" b="1" dirty="0"/>
              <a:t>. When a request is received by the API server, it calls the authentication plugin to obtain the list of groups the user belongs to. This information is then used in authorization</a:t>
            </a:r>
            <a:r>
              <a:rPr lang="en-US" altLang="ko-KR" sz="1400" dirty="0"/>
              <a:t>.</a:t>
            </a:r>
          </a:p>
          <a:p>
            <a:pPr lvl="1">
              <a:buFont typeface="Wingdings" panose="05000000000000000000" pitchFamily="2" charset="2"/>
              <a:buChar char="§"/>
            </a:pPr>
            <a:r>
              <a:rPr lang="en-US" altLang="ko-KR" sz="1400" b="1" dirty="0"/>
              <a:t>You can confirm this by accessing the “/</a:t>
            </a:r>
            <a:r>
              <a:rPr lang="en-US" altLang="ko-KR" sz="1400" b="1" dirty="0" err="1"/>
              <a:t>api</a:t>
            </a:r>
            <a:r>
              <a:rPr lang="en-US" altLang="ko-KR" sz="1400" b="1" dirty="0"/>
              <a:t>” URL path from inside the pod (through the “</a:t>
            </a:r>
            <a:r>
              <a:rPr lang="en-US" altLang="ko-KR" sz="1400" b="1" dirty="0" err="1"/>
              <a:t>kubectl</a:t>
            </a:r>
            <a:r>
              <a:rPr lang="en-US" altLang="ko-KR" sz="1400" b="1" dirty="0"/>
              <a:t> proxy”, which means you’ll be authenticated as the pod’s </a:t>
            </a:r>
            <a:r>
              <a:rPr lang="en-US" altLang="ko-KR" sz="1400" b="1" dirty="0" err="1"/>
              <a:t>ServiceAccount</a:t>
            </a:r>
            <a:r>
              <a:rPr lang="en-US" altLang="ko-KR" sz="1400" b="1" dirty="0"/>
              <a:t>) </a:t>
            </a:r>
            <a:r>
              <a:rPr lang="en-US" altLang="ko-KR" sz="1400" dirty="0"/>
              <a:t>and from your local machine, without specifying any authentication tokens (making you an </a:t>
            </a:r>
            <a:r>
              <a:rPr lang="en-US" altLang="ko-KR" sz="1400" b="1" dirty="0"/>
              <a:t>unauthenticated</a:t>
            </a:r>
            <a:r>
              <a:rPr lang="en-US" altLang="ko-KR" sz="1400" dirty="0"/>
              <a:t> user).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above screenshot shows that you are an unauthenticated user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120CFF75-2830-5080-229B-0826535A297E}"/>
              </a:ext>
            </a:extLst>
          </p:cNvPr>
          <p:cNvGrpSpPr/>
          <p:nvPr/>
        </p:nvGrpSpPr>
        <p:grpSpPr>
          <a:xfrm>
            <a:off x="1262694" y="3283343"/>
            <a:ext cx="9666611" cy="2677188"/>
            <a:chOff x="1262693" y="3429000"/>
            <a:chExt cx="9666611" cy="2677188"/>
          </a:xfrm>
        </p:grpSpPr>
        <p:pic>
          <p:nvPicPr>
            <p:cNvPr id="8" name="그림 7">
              <a:extLst>
                <a:ext uri="{FF2B5EF4-FFF2-40B4-BE49-F238E27FC236}">
                  <a16:creationId xmlns:a16="http://schemas.microsoft.com/office/drawing/2014/main" id="{AE55B63F-3C5A-1309-680B-1D1EEF0BBAAC}"/>
                </a:ext>
              </a:extLst>
            </p:cNvPr>
            <p:cNvPicPr>
              <a:picLocks noChangeAspect="1"/>
            </p:cNvPicPr>
            <p:nvPr/>
          </p:nvPicPr>
          <p:blipFill>
            <a:blip r:embed="rId2"/>
            <a:stretch>
              <a:fillRect/>
            </a:stretch>
          </p:blipFill>
          <p:spPr>
            <a:xfrm>
              <a:off x="1262693" y="4011756"/>
              <a:ext cx="9666611" cy="2094432"/>
            </a:xfrm>
            <a:prstGeom prst="rect">
              <a:avLst/>
            </a:prstGeom>
          </p:spPr>
        </p:pic>
        <p:sp>
          <p:nvSpPr>
            <p:cNvPr id="10" name="TextBox 9">
              <a:extLst>
                <a:ext uri="{FF2B5EF4-FFF2-40B4-BE49-F238E27FC236}">
                  <a16:creationId xmlns:a16="http://schemas.microsoft.com/office/drawing/2014/main" id="{AF6263AF-BAF1-9A45-B219-1A6611C5ACE4}"/>
                </a:ext>
              </a:extLst>
            </p:cNvPr>
            <p:cNvSpPr txBox="1"/>
            <p:nvPr/>
          </p:nvSpPr>
          <p:spPr>
            <a:xfrm>
              <a:off x="3047325" y="3429000"/>
              <a:ext cx="6097348" cy="246221"/>
            </a:xfrm>
            <a:prstGeom prst="rect">
              <a:avLst/>
            </a:prstGeom>
            <a:noFill/>
            <a:ln>
              <a:solidFill>
                <a:schemeClr val="bg1">
                  <a:lumMod val="50000"/>
                </a:schemeClr>
              </a:solidFill>
            </a:ln>
          </p:spPr>
          <p:txBody>
            <a:bodyPr wrap="square">
              <a:spAutoFit/>
            </a:bodyPr>
            <a:lstStyle/>
            <a:p>
              <a:r>
                <a:rPr lang="en-US" altLang="ko-KR" sz="1000" b="1" dirty="0"/>
                <a:t>$ curl https://$(minikube </a:t>
              </a:r>
              <a:r>
                <a:rPr lang="en-US" altLang="ko-KR" sz="1000" b="1" dirty="0" err="1"/>
                <a:t>ip</a:t>
              </a:r>
              <a:r>
                <a:rPr lang="en-US" altLang="ko-KR" sz="1000" b="1" dirty="0"/>
                <a:t>):8443/</a:t>
              </a:r>
              <a:r>
                <a:rPr lang="en-US" altLang="ko-KR" sz="1000" b="1" dirty="0" err="1"/>
                <a:t>api</a:t>
              </a:r>
              <a:r>
                <a:rPr lang="en-US" altLang="ko-KR" sz="1000" b="1" dirty="0"/>
                <a:t> -k</a:t>
              </a:r>
              <a:endParaRPr lang="ko-KR" altLang="en-US" sz="1000" b="1" dirty="0"/>
            </a:p>
          </p:txBody>
        </p:sp>
        <p:sp>
          <p:nvSpPr>
            <p:cNvPr id="11" name="화살표: 아래쪽 10">
              <a:extLst>
                <a:ext uri="{FF2B5EF4-FFF2-40B4-BE49-F238E27FC236}">
                  <a16:creationId xmlns:a16="http://schemas.microsoft.com/office/drawing/2014/main" id="{890F3D04-AE03-C6BD-0EF6-5A2F8DA928BD}"/>
                </a:ext>
              </a:extLst>
            </p:cNvPr>
            <p:cNvSpPr/>
            <p:nvPr/>
          </p:nvSpPr>
          <p:spPr>
            <a:xfrm>
              <a:off x="5869422" y="3699311"/>
              <a:ext cx="453154" cy="31244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009173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Control(RBAC)(32/46)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err="1"/>
              <a:t>ClusterRoles</a:t>
            </a:r>
            <a:r>
              <a:rPr lang="en-US" altLang="ko-KR" sz="1400" b="1" dirty="0"/>
              <a:t> don’t always need to be bound with cluster-level </a:t>
            </a:r>
            <a:r>
              <a:rPr lang="en-US" altLang="ko-KR" sz="1400" b="1" dirty="0" err="1"/>
              <a:t>ClusterRoleBindings</a:t>
            </a:r>
            <a:r>
              <a:rPr lang="en-US" altLang="ko-KR" sz="1400" dirty="0"/>
              <a:t>. </a:t>
            </a:r>
            <a:r>
              <a:rPr lang="en-US" altLang="ko-KR" sz="1400" b="1" dirty="0"/>
              <a:t>They can also be bound with regular, </a:t>
            </a:r>
            <a:r>
              <a:rPr lang="en-US" altLang="ko-KR" sz="1400" b="1" dirty="0" err="1"/>
              <a:t>namespaced</a:t>
            </a:r>
            <a:r>
              <a:rPr lang="en-US" altLang="ko-KR" sz="1400" b="1" dirty="0"/>
              <a:t> </a:t>
            </a:r>
            <a:r>
              <a:rPr lang="en-US" altLang="ko-KR" sz="1400" b="1" dirty="0" err="1"/>
              <a:t>RoleBindings</a:t>
            </a:r>
            <a:r>
              <a:rPr lang="en-US" altLang="ko-KR" sz="1400" dirty="0"/>
              <a:t>. You’ve already started looking at predefined </a:t>
            </a:r>
            <a:r>
              <a:rPr lang="en-US" altLang="ko-KR" sz="1400" b="1" dirty="0" err="1"/>
              <a:t>ClusterRoles</a:t>
            </a:r>
            <a:r>
              <a:rPr lang="en-US" altLang="ko-KR" sz="1400" dirty="0"/>
              <a:t>, so let’s look at another one called “</a:t>
            </a:r>
            <a:r>
              <a:rPr lang="en-US" altLang="ko-KR" sz="1400" b="1" dirty="0">
                <a:solidFill>
                  <a:srgbClr val="FF0000"/>
                </a:solidFill>
              </a:rPr>
              <a:t>view</a:t>
            </a:r>
            <a:r>
              <a:rPr lang="en-US" altLang="ko-KR" sz="1400" dirty="0"/>
              <a:t>”, which is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653C33B6-EB8D-4812-F473-B1DF22CC965C}"/>
              </a:ext>
            </a:extLst>
          </p:cNvPr>
          <p:cNvGrpSpPr/>
          <p:nvPr/>
        </p:nvGrpSpPr>
        <p:grpSpPr>
          <a:xfrm>
            <a:off x="838199" y="1814067"/>
            <a:ext cx="10515601" cy="4594963"/>
            <a:chOff x="838199" y="1814067"/>
            <a:chExt cx="10515601" cy="4594963"/>
          </a:xfrm>
        </p:grpSpPr>
        <p:grpSp>
          <p:nvGrpSpPr>
            <p:cNvPr id="15" name="그룹 14">
              <a:extLst>
                <a:ext uri="{FF2B5EF4-FFF2-40B4-BE49-F238E27FC236}">
                  <a16:creationId xmlns:a16="http://schemas.microsoft.com/office/drawing/2014/main" id="{9B998E72-29F0-16B4-CB26-6EC7A42DD694}"/>
                </a:ext>
              </a:extLst>
            </p:cNvPr>
            <p:cNvGrpSpPr/>
            <p:nvPr/>
          </p:nvGrpSpPr>
          <p:grpSpPr>
            <a:xfrm>
              <a:off x="838199" y="1814067"/>
              <a:ext cx="10515601" cy="4594963"/>
              <a:chOff x="838199" y="1814067"/>
              <a:chExt cx="10515601" cy="4594963"/>
            </a:xfrm>
          </p:grpSpPr>
          <p:sp>
            <p:nvSpPr>
              <p:cNvPr id="8" name="TextBox 7">
                <a:extLst>
                  <a:ext uri="{FF2B5EF4-FFF2-40B4-BE49-F238E27FC236}">
                    <a16:creationId xmlns:a16="http://schemas.microsoft.com/office/drawing/2014/main" id="{1A01AA47-3B5B-02B9-9F05-7B3AC8336175}"/>
                  </a:ext>
                </a:extLst>
              </p:cNvPr>
              <p:cNvSpPr txBox="1"/>
              <p:nvPr/>
            </p:nvSpPr>
            <p:spPr>
              <a:xfrm>
                <a:off x="3047326" y="181406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clusterrole</a:t>
                </a:r>
                <a:r>
                  <a:rPr lang="en-US" altLang="ko-KR" sz="1000" b="1" dirty="0">
                    <a:solidFill>
                      <a:srgbClr val="FF0000"/>
                    </a:solidFill>
                  </a:rPr>
                  <a:t> view -o </a:t>
                </a:r>
                <a:r>
                  <a:rPr lang="en-US" altLang="ko-KR" sz="1000" b="1" dirty="0" err="1">
                    <a:solidFill>
                      <a:srgbClr val="FF0000"/>
                    </a:solidFill>
                  </a:rPr>
                  <a:t>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C8504DC-0CD0-D356-20FB-72BD784632A8}"/>
                  </a:ext>
                </a:extLst>
              </p:cNvPr>
              <p:cNvSpPr/>
              <p:nvPr/>
            </p:nvSpPr>
            <p:spPr>
              <a:xfrm>
                <a:off x="5882910" y="2078667"/>
                <a:ext cx="436970" cy="3236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85C9D494-9909-9B15-86BC-A6BC8AB62D8E}"/>
                  </a:ext>
                </a:extLst>
              </p:cNvPr>
              <p:cNvGrpSpPr/>
              <p:nvPr/>
            </p:nvGrpSpPr>
            <p:grpSpPr>
              <a:xfrm>
                <a:off x="838199" y="2402349"/>
                <a:ext cx="10515601" cy="4006681"/>
                <a:chOff x="838199" y="2402349"/>
                <a:chExt cx="10515601" cy="4006681"/>
              </a:xfrm>
            </p:grpSpPr>
            <p:pic>
              <p:nvPicPr>
                <p:cNvPr id="11" name="그림 10">
                  <a:extLst>
                    <a:ext uri="{FF2B5EF4-FFF2-40B4-BE49-F238E27FC236}">
                      <a16:creationId xmlns:a16="http://schemas.microsoft.com/office/drawing/2014/main" id="{2FE7B4C7-8BA1-717C-7E44-9326DDA4F790}"/>
                    </a:ext>
                  </a:extLst>
                </p:cNvPr>
                <p:cNvPicPr>
                  <a:picLocks noChangeAspect="1"/>
                </p:cNvPicPr>
                <p:nvPr/>
              </p:nvPicPr>
              <p:blipFill>
                <a:blip r:embed="rId2"/>
                <a:stretch>
                  <a:fillRect/>
                </a:stretch>
              </p:blipFill>
              <p:spPr>
                <a:xfrm>
                  <a:off x="838199" y="2402349"/>
                  <a:ext cx="10515601" cy="1664970"/>
                </a:xfrm>
                <a:prstGeom prst="rect">
                  <a:avLst/>
                </a:prstGeom>
                <a:ln>
                  <a:solidFill>
                    <a:schemeClr val="bg1">
                      <a:lumMod val="50000"/>
                    </a:schemeClr>
                  </a:solidFill>
                </a:ln>
              </p:spPr>
            </p:pic>
            <p:pic>
              <p:nvPicPr>
                <p:cNvPr id="13" name="그림 12">
                  <a:extLst>
                    <a:ext uri="{FF2B5EF4-FFF2-40B4-BE49-F238E27FC236}">
                      <a16:creationId xmlns:a16="http://schemas.microsoft.com/office/drawing/2014/main" id="{0B1F0DD4-28B5-C027-BC9D-C9E1102728A9}"/>
                    </a:ext>
                  </a:extLst>
                </p:cNvPr>
                <p:cNvPicPr>
                  <a:picLocks noChangeAspect="1"/>
                </p:cNvPicPr>
                <p:nvPr/>
              </p:nvPicPr>
              <p:blipFill>
                <a:blip r:embed="rId3"/>
                <a:stretch>
                  <a:fillRect/>
                </a:stretch>
              </p:blipFill>
              <p:spPr>
                <a:xfrm>
                  <a:off x="838200" y="3832708"/>
                  <a:ext cx="10515600" cy="2576322"/>
                </a:xfrm>
                <a:prstGeom prst="rect">
                  <a:avLst/>
                </a:prstGeom>
                <a:ln>
                  <a:solidFill>
                    <a:schemeClr val="bg1">
                      <a:lumMod val="50000"/>
                    </a:schemeClr>
                  </a:solidFill>
                </a:ln>
              </p:spPr>
            </p:pic>
          </p:grpSp>
        </p:grpSp>
        <p:sp>
          <p:nvSpPr>
            <p:cNvPr id="16" name="직사각형 15">
              <a:extLst>
                <a:ext uri="{FF2B5EF4-FFF2-40B4-BE49-F238E27FC236}">
                  <a16:creationId xmlns:a16="http://schemas.microsoft.com/office/drawing/2014/main" id="{C908749F-75D5-1C58-8626-A2D17FE92F8E}"/>
                </a:ext>
              </a:extLst>
            </p:cNvPr>
            <p:cNvSpPr/>
            <p:nvPr/>
          </p:nvSpPr>
          <p:spPr>
            <a:xfrm>
              <a:off x="5308375" y="2856488"/>
              <a:ext cx="2597544" cy="2265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603443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Control(RBAC)(33/46)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From the previous example, </a:t>
            </a:r>
            <a:r>
              <a:rPr lang="en-US" altLang="ko-KR" sz="1400" b="1" dirty="0"/>
              <a:t>the </a:t>
            </a:r>
            <a:r>
              <a:rPr lang="en-US" altLang="ko-KR" sz="1400" b="1" dirty="0" err="1"/>
              <a:t>ClusterRole</a:t>
            </a:r>
            <a:r>
              <a:rPr lang="en-US" altLang="ko-KR" sz="1400" b="1" dirty="0"/>
              <a:t> has many rules</a:t>
            </a:r>
            <a:r>
              <a:rPr lang="en-US" altLang="ko-KR" sz="1400" dirty="0"/>
              <a:t>. </a:t>
            </a:r>
            <a:r>
              <a:rPr lang="en-US" altLang="ko-KR" sz="1400" b="1" dirty="0"/>
              <a:t>The rule allows getting, listing, and watching resources like </a:t>
            </a:r>
            <a:r>
              <a:rPr lang="en-US" altLang="ko-KR" sz="1400" b="1" dirty="0" err="1"/>
              <a:t>ConfigMaps</a:t>
            </a:r>
            <a:r>
              <a:rPr lang="en-US" altLang="ko-KR" sz="1400" b="1" dirty="0"/>
              <a:t>, Endpoints, </a:t>
            </a:r>
            <a:r>
              <a:rPr lang="en-US" altLang="ko-KR" sz="1400" b="1" dirty="0" err="1"/>
              <a:t>PersistentVolumeClaims</a:t>
            </a:r>
            <a:r>
              <a:rPr lang="en-US" altLang="ko-KR" sz="1400" b="1" dirty="0"/>
              <a:t>, and so on</a:t>
            </a:r>
            <a:r>
              <a:rPr lang="en-US" altLang="ko-KR" sz="1400" dirty="0"/>
              <a:t>. These are </a:t>
            </a:r>
            <a:r>
              <a:rPr lang="en-US" altLang="ko-KR" sz="1400" b="1" dirty="0" err="1"/>
              <a:t>namespaced</a:t>
            </a:r>
            <a:r>
              <a:rPr lang="en-US" altLang="ko-KR" sz="1400" b="1" dirty="0"/>
              <a:t> resources</a:t>
            </a:r>
            <a:r>
              <a:rPr lang="en-US" altLang="ko-KR" sz="1400" dirty="0"/>
              <a:t>, even though you’re looking at a </a:t>
            </a:r>
            <a:r>
              <a:rPr lang="en-US" altLang="ko-KR" sz="1400" b="1" dirty="0" err="1"/>
              <a:t>ClusterRole</a:t>
            </a:r>
            <a:r>
              <a:rPr lang="en-US" altLang="ko-KR" sz="1400" dirty="0"/>
              <a:t> (</a:t>
            </a:r>
            <a:r>
              <a:rPr lang="en-US" altLang="ko-KR" sz="1400" b="1" dirty="0"/>
              <a:t>not a regular, </a:t>
            </a:r>
            <a:r>
              <a:rPr lang="en-US" altLang="ko-KR" sz="1400" b="1" dirty="0" err="1"/>
              <a:t>namespaced</a:t>
            </a:r>
            <a:r>
              <a:rPr lang="en-US" altLang="ko-KR" sz="1400" b="1" dirty="0"/>
              <a:t> Role</a:t>
            </a:r>
            <a:r>
              <a:rPr lang="en-US" altLang="ko-KR" sz="1400" dirty="0"/>
              <a:t>). What exactly does this </a:t>
            </a:r>
            <a:r>
              <a:rPr lang="en-US" altLang="ko-KR" sz="1400" dirty="0" err="1"/>
              <a:t>ClusterRole</a:t>
            </a:r>
            <a:r>
              <a:rPr lang="en-US" altLang="ko-KR" sz="1400" dirty="0"/>
              <a:t> do?</a:t>
            </a:r>
          </a:p>
          <a:p>
            <a:pPr lvl="1">
              <a:buFont typeface="Wingdings" panose="05000000000000000000" pitchFamily="2" charset="2"/>
              <a:buChar char="§"/>
            </a:pPr>
            <a:r>
              <a:rPr lang="en-US" altLang="ko-KR" sz="1400" b="1" dirty="0"/>
              <a:t>It depends whether it’s bound with a </a:t>
            </a:r>
            <a:r>
              <a:rPr lang="en-US" altLang="ko-KR" sz="1400" b="1" dirty="0" err="1"/>
              <a:t>ClusterRoleBinding</a:t>
            </a:r>
            <a:r>
              <a:rPr lang="en-US" altLang="ko-KR" sz="1400" b="1" dirty="0"/>
              <a:t> or a </a:t>
            </a:r>
            <a:r>
              <a:rPr lang="en-US" altLang="ko-KR" sz="1400" b="1" dirty="0" err="1"/>
              <a:t>RoleBinding</a:t>
            </a:r>
            <a:r>
              <a:rPr lang="en-US" altLang="ko-KR" sz="1400" b="1" dirty="0"/>
              <a:t> (it can be bound with either)</a:t>
            </a:r>
            <a:r>
              <a:rPr lang="en-US" altLang="ko-KR" sz="1400" dirty="0"/>
              <a:t>. If you create a </a:t>
            </a:r>
            <a:r>
              <a:rPr lang="en-US" altLang="ko-KR" sz="1400" b="1" dirty="0" err="1"/>
              <a:t>ClusterRoleBinding</a:t>
            </a:r>
            <a:r>
              <a:rPr lang="en-US" altLang="ko-KR" sz="1400" dirty="0"/>
              <a:t> and reference the </a:t>
            </a:r>
            <a:r>
              <a:rPr lang="en-US" altLang="ko-KR" sz="1400" b="1" dirty="0" err="1"/>
              <a:t>ClusterRole</a:t>
            </a:r>
            <a:r>
              <a:rPr lang="en-US" altLang="ko-KR" sz="1400" dirty="0"/>
              <a:t> in it, </a:t>
            </a:r>
            <a:r>
              <a:rPr lang="en-US" altLang="ko-KR" sz="1400" b="1" dirty="0"/>
              <a:t>the subjects listed in the binding can view the specified resources across all namespaces</a:t>
            </a:r>
            <a:r>
              <a:rPr lang="en-US" altLang="ko-KR" sz="1400" dirty="0"/>
              <a:t>. If, on the other hand, you create a </a:t>
            </a:r>
            <a:r>
              <a:rPr lang="en-US" altLang="ko-KR" sz="1400" b="1" dirty="0" err="1"/>
              <a:t>RoleBinding</a:t>
            </a:r>
            <a:r>
              <a:rPr lang="en-US" altLang="ko-KR" sz="1400" dirty="0"/>
              <a:t>, </a:t>
            </a:r>
            <a:r>
              <a:rPr lang="en-US" altLang="ko-KR" sz="1400" b="1" dirty="0"/>
              <a:t>the subjects listed in the binding can only view resources in the namespace of the </a:t>
            </a:r>
            <a:r>
              <a:rPr lang="en-US" altLang="ko-KR" sz="1400" b="1" dirty="0" err="1"/>
              <a:t>RoleBinding</a:t>
            </a:r>
            <a:r>
              <a:rPr lang="en-US" altLang="ko-KR" sz="1400" dirty="0"/>
              <a:t>. You’ll try both options now.</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DFDA66C-0EA1-1AC7-4A8C-C1AF166B70FA}"/>
              </a:ext>
            </a:extLst>
          </p:cNvPr>
          <p:cNvPicPr>
            <a:picLocks noChangeAspect="1"/>
          </p:cNvPicPr>
          <p:nvPr/>
        </p:nvPicPr>
        <p:blipFill>
          <a:blip r:embed="rId2"/>
          <a:stretch>
            <a:fillRect/>
          </a:stretch>
        </p:blipFill>
        <p:spPr>
          <a:xfrm>
            <a:off x="3948017" y="2637173"/>
            <a:ext cx="4295965" cy="3771857"/>
          </a:xfrm>
          <a:prstGeom prst="rect">
            <a:avLst/>
          </a:prstGeom>
        </p:spPr>
      </p:pic>
    </p:spTree>
    <p:extLst>
      <p:ext uri="{BB962C8B-B14F-4D97-AF65-F5344CB8AC3E}">
        <p14:creationId xmlns:p14="http://schemas.microsoft.com/office/powerpoint/2010/main" val="28445191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Control(RBAC)(34/46)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You’ll see how the two options affect your test pod’s ability to list pods</a:t>
            </a:r>
            <a:r>
              <a:rPr lang="en-US" altLang="ko-KR" sz="1400" dirty="0"/>
              <a:t>. First, let’s see what happens before any bindings are in place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9B680D71-80B0-DA74-AFB7-1015F776958D}"/>
              </a:ext>
            </a:extLst>
          </p:cNvPr>
          <p:cNvGrpSpPr/>
          <p:nvPr/>
        </p:nvGrpSpPr>
        <p:grpSpPr>
          <a:xfrm>
            <a:off x="1131676" y="1577065"/>
            <a:ext cx="9928648" cy="4838345"/>
            <a:chOff x="1131676" y="1577065"/>
            <a:chExt cx="9928648" cy="4838345"/>
          </a:xfrm>
        </p:grpSpPr>
        <p:grpSp>
          <p:nvGrpSpPr>
            <p:cNvPr id="12" name="그룹 11">
              <a:extLst>
                <a:ext uri="{FF2B5EF4-FFF2-40B4-BE49-F238E27FC236}">
                  <a16:creationId xmlns:a16="http://schemas.microsoft.com/office/drawing/2014/main" id="{48A25203-9420-E219-47C9-59010C963405}"/>
                </a:ext>
              </a:extLst>
            </p:cNvPr>
            <p:cNvGrpSpPr/>
            <p:nvPr/>
          </p:nvGrpSpPr>
          <p:grpSpPr>
            <a:xfrm>
              <a:off x="3047326" y="1577065"/>
              <a:ext cx="6097348" cy="854339"/>
              <a:chOff x="3047326" y="1577065"/>
              <a:chExt cx="6097348" cy="854339"/>
            </a:xfrm>
          </p:grpSpPr>
          <p:sp>
            <p:nvSpPr>
              <p:cNvPr id="10" name="TextBox 9">
                <a:extLst>
                  <a:ext uri="{FF2B5EF4-FFF2-40B4-BE49-F238E27FC236}">
                    <a16:creationId xmlns:a16="http://schemas.microsoft.com/office/drawing/2014/main" id="{B17C7BDE-2D74-45CA-9427-0CF1FF7F368E}"/>
                  </a:ext>
                </a:extLst>
              </p:cNvPr>
              <p:cNvSpPr txBox="1"/>
              <p:nvPr/>
            </p:nvSpPr>
            <p:spPr>
              <a:xfrm>
                <a:off x="3047326" y="1577065"/>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test -n </a:t>
                </a:r>
                <a:r>
                  <a:rPr lang="en-US" altLang="ko-KR" sz="1000" b="1" dirty="0">
                    <a:solidFill>
                      <a:srgbClr val="FF0000"/>
                    </a:solidFill>
                  </a:rPr>
                  <a:t>foo</a:t>
                </a:r>
                <a:r>
                  <a:rPr lang="en-US" altLang="ko-KR" sz="1000" b="1" dirty="0"/>
                  <a:t> -- </a:t>
                </a:r>
                <a:r>
                  <a:rPr lang="en-US" altLang="ko-KR" sz="1000" b="1" dirty="0" err="1"/>
                  <a:t>sh</a:t>
                </a:r>
                <a:endParaRPr lang="en-US" altLang="ko-KR" sz="1000" b="1" dirty="0"/>
              </a:p>
              <a:p>
                <a:r>
                  <a:rPr lang="en-US" altLang="ko-KR" sz="1000" b="1" dirty="0"/>
                  <a:t>$ curl localhost:8001/</a:t>
                </a:r>
                <a:r>
                  <a:rPr lang="en-US" altLang="ko-KR" sz="1000" b="1" dirty="0" err="1"/>
                  <a:t>api</a:t>
                </a:r>
                <a:r>
                  <a:rPr lang="en-US" altLang="ko-KR" sz="1000" b="1" dirty="0"/>
                  <a:t>/v1/pods</a:t>
                </a:r>
              </a:p>
              <a:p>
                <a:r>
                  <a:rPr lang="en-US" altLang="ko-KR" sz="1000" b="1" dirty="0"/>
                  <a:t>$ curl localhost:8001/</a:t>
                </a:r>
                <a:r>
                  <a:rPr lang="en-US" altLang="ko-KR" sz="1000" b="1" dirty="0" err="1"/>
                  <a:t>api</a:t>
                </a:r>
                <a:r>
                  <a:rPr lang="en-US" altLang="ko-KR" sz="1000" b="1" dirty="0"/>
                  <a:t>/v1/namespaces/</a:t>
                </a:r>
                <a:r>
                  <a:rPr lang="en-US" altLang="ko-KR" sz="1000" b="1" dirty="0">
                    <a:solidFill>
                      <a:srgbClr val="FF0000"/>
                    </a:solidFill>
                  </a:rPr>
                  <a:t>foo</a:t>
                </a:r>
                <a:r>
                  <a:rPr lang="en-US" altLang="ko-KR" sz="1000" b="1" dirty="0"/>
                  <a:t>/pods</a:t>
                </a:r>
                <a:endParaRPr lang="ko-KR" altLang="en-US" sz="1000" b="1" dirty="0"/>
              </a:p>
            </p:txBody>
          </p:sp>
          <p:sp>
            <p:nvSpPr>
              <p:cNvPr id="11" name="화살표: 아래쪽 10">
                <a:extLst>
                  <a:ext uri="{FF2B5EF4-FFF2-40B4-BE49-F238E27FC236}">
                    <a16:creationId xmlns:a16="http://schemas.microsoft.com/office/drawing/2014/main" id="{D0201F91-F68A-F606-02DB-3259ED8FA801}"/>
                  </a:ext>
                </a:extLst>
              </p:cNvPr>
              <p:cNvSpPr/>
              <p:nvPr/>
            </p:nvSpPr>
            <p:spPr>
              <a:xfrm>
                <a:off x="5861331" y="2131063"/>
                <a:ext cx="469338" cy="30034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5" name="그림 14">
              <a:extLst>
                <a:ext uri="{FF2B5EF4-FFF2-40B4-BE49-F238E27FC236}">
                  <a16:creationId xmlns:a16="http://schemas.microsoft.com/office/drawing/2014/main" id="{4831FE86-A0E2-E54C-E80E-5E34EEFE5CFB}"/>
                </a:ext>
              </a:extLst>
            </p:cNvPr>
            <p:cNvPicPr>
              <a:picLocks noChangeAspect="1"/>
            </p:cNvPicPr>
            <p:nvPr/>
          </p:nvPicPr>
          <p:blipFill>
            <a:blip r:embed="rId2"/>
            <a:stretch>
              <a:fillRect/>
            </a:stretch>
          </p:blipFill>
          <p:spPr>
            <a:xfrm>
              <a:off x="1131676" y="2437784"/>
              <a:ext cx="9928648" cy="3977626"/>
            </a:xfrm>
            <a:prstGeom prst="rect">
              <a:avLst/>
            </a:prstGeom>
          </p:spPr>
        </p:pic>
      </p:grpSp>
    </p:spTree>
    <p:extLst>
      <p:ext uri="{BB962C8B-B14F-4D97-AF65-F5344CB8AC3E}">
        <p14:creationId xmlns:p14="http://schemas.microsoft.com/office/powerpoint/2010/main" val="34625159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Control(RBAC)(35/46)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With the first command, you’re trying to list pods across all namespaces</a:t>
            </a:r>
            <a:r>
              <a:rPr lang="en-US" altLang="ko-KR" sz="1400" dirty="0"/>
              <a:t>. </a:t>
            </a:r>
            <a:r>
              <a:rPr lang="en-US" altLang="ko-KR" sz="1400" b="1" dirty="0"/>
              <a:t>With the second, you’re trying to list pods in the foo namespace</a:t>
            </a:r>
            <a:r>
              <a:rPr lang="en-US" altLang="ko-KR" sz="1400" dirty="0"/>
              <a:t>. </a:t>
            </a:r>
            <a:r>
              <a:rPr lang="en-US" altLang="ko-KR" sz="1400" b="1" dirty="0"/>
              <a:t>The server doesn’t allow you to do either</a:t>
            </a:r>
            <a:r>
              <a:rPr lang="en-US" altLang="ko-KR" sz="1400" dirty="0"/>
              <a:t>.</a:t>
            </a:r>
          </a:p>
          <a:p>
            <a:pPr lvl="1">
              <a:buFont typeface="Wingdings" panose="05000000000000000000" pitchFamily="2" charset="2"/>
              <a:buChar char="§"/>
            </a:pPr>
            <a:r>
              <a:rPr lang="en-US" altLang="ko-KR" sz="1400" dirty="0"/>
              <a:t>Let’s see what happens when you </a:t>
            </a:r>
            <a:r>
              <a:rPr lang="en-US" altLang="ko-KR" sz="1400" b="1" dirty="0"/>
              <a:t>create a </a:t>
            </a:r>
            <a:r>
              <a:rPr lang="en-US" altLang="ko-KR" sz="1400" b="1" dirty="0" err="1">
                <a:solidFill>
                  <a:srgbClr val="FF0000"/>
                </a:solidFill>
              </a:rPr>
              <a:t>ClusterRoleBinding</a:t>
            </a:r>
            <a:r>
              <a:rPr lang="en-US" altLang="ko-KR" sz="1400" b="1" dirty="0"/>
              <a:t> and bind it to the pod’s </a:t>
            </a:r>
            <a:r>
              <a:rPr lang="en-US" altLang="ko-KR" sz="1400" b="1" dirty="0" err="1">
                <a:solidFill>
                  <a:srgbClr val="FF0000"/>
                </a:solidFill>
              </a:rPr>
              <a:t>ServiceAccount</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62D7E96-C627-FECB-2E14-80B84B70435B}"/>
              </a:ext>
            </a:extLst>
          </p:cNvPr>
          <p:cNvGrpSpPr/>
          <p:nvPr/>
        </p:nvGrpSpPr>
        <p:grpSpPr>
          <a:xfrm>
            <a:off x="838199" y="2119694"/>
            <a:ext cx="10515601" cy="3378994"/>
            <a:chOff x="838200" y="1957853"/>
            <a:chExt cx="10515601" cy="3378994"/>
          </a:xfrm>
        </p:grpSpPr>
        <p:sp>
          <p:nvSpPr>
            <p:cNvPr id="8" name="TextBox 7">
              <a:extLst>
                <a:ext uri="{FF2B5EF4-FFF2-40B4-BE49-F238E27FC236}">
                  <a16:creationId xmlns:a16="http://schemas.microsoft.com/office/drawing/2014/main" id="{496DEB20-31A4-D329-2402-EF525A570705}"/>
                </a:ext>
              </a:extLst>
            </p:cNvPr>
            <p:cNvSpPr txBox="1"/>
            <p:nvPr/>
          </p:nvSpPr>
          <p:spPr>
            <a:xfrm>
              <a:off x="3047326" y="1957853"/>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clusterrolebinding</a:t>
              </a:r>
              <a:r>
                <a:rPr lang="en-US" altLang="ko-KR" sz="1000" b="1" dirty="0">
                  <a:solidFill>
                    <a:srgbClr val="FF0000"/>
                  </a:solidFill>
                </a:rPr>
                <a:t> view-test --</a:t>
              </a:r>
              <a:r>
                <a:rPr lang="en-US" altLang="ko-KR" sz="1000" b="1" dirty="0" err="1">
                  <a:solidFill>
                    <a:srgbClr val="FF0000"/>
                  </a:solidFill>
                </a:rPr>
                <a:t>clusterrole</a:t>
              </a:r>
              <a:r>
                <a:rPr lang="en-US" altLang="ko-KR" sz="1000" b="1" dirty="0">
                  <a:solidFill>
                    <a:srgbClr val="FF0000"/>
                  </a:solidFill>
                </a:rPr>
                <a:t>=view --</a:t>
              </a:r>
              <a:r>
                <a:rPr lang="en-US" altLang="ko-KR" sz="1000" b="1" dirty="0" err="1">
                  <a:solidFill>
                    <a:srgbClr val="FF0000"/>
                  </a:solidFill>
                </a:rPr>
                <a:t>serviceaccount</a:t>
              </a:r>
              <a:r>
                <a:rPr lang="en-US" altLang="ko-KR" sz="1000" b="1" dirty="0">
                  <a:solidFill>
                    <a:srgbClr val="FF0000"/>
                  </a:solidFill>
                </a:rPr>
                <a:t>=</a:t>
              </a:r>
              <a:r>
                <a:rPr lang="en-US" altLang="ko-KR" sz="1000" b="1" dirty="0" err="1">
                  <a:solidFill>
                    <a:srgbClr val="FF0000"/>
                  </a:solidFill>
                </a:rPr>
                <a:t>foo:default</a:t>
              </a:r>
              <a:endParaRPr lang="ko-KR" altLang="en-US" sz="1000" b="1" dirty="0">
                <a:solidFill>
                  <a:srgbClr val="FF0000"/>
                </a:solidFill>
              </a:endParaRPr>
            </a:p>
          </p:txBody>
        </p:sp>
        <p:pic>
          <p:nvPicPr>
            <p:cNvPr id="10" name="그림 9">
              <a:extLst>
                <a:ext uri="{FF2B5EF4-FFF2-40B4-BE49-F238E27FC236}">
                  <a16:creationId xmlns:a16="http://schemas.microsoft.com/office/drawing/2014/main" id="{3546AB10-6620-6B02-0E26-8E4D6E87758B}"/>
                </a:ext>
              </a:extLst>
            </p:cNvPr>
            <p:cNvPicPr>
              <a:picLocks noChangeAspect="1"/>
            </p:cNvPicPr>
            <p:nvPr/>
          </p:nvPicPr>
          <p:blipFill>
            <a:blip r:embed="rId2"/>
            <a:stretch>
              <a:fillRect/>
            </a:stretch>
          </p:blipFill>
          <p:spPr>
            <a:xfrm>
              <a:off x="838200" y="2516571"/>
              <a:ext cx="10515601" cy="2820276"/>
            </a:xfrm>
            <a:prstGeom prst="rect">
              <a:avLst/>
            </a:prstGeom>
          </p:spPr>
        </p:pic>
        <p:sp>
          <p:nvSpPr>
            <p:cNvPr id="11" name="화살표: 아래쪽 10">
              <a:extLst>
                <a:ext uri="{FF2B5EF4-FFF2-40B4-BE49-F238E27FC236}">
                  <a16:creationId xmlns:a16="http://schemas.microsoft.com/office/drawing/2014/main" id="{892B8DC8-4EF3-8C75-CC68-9612E945CEEA}"/>
                </a:ext>
              </a:extLst>
            </p:cNvPr>
            <p:cNvSpPr/>
            <p:nvPr/>
          </p:nvSpPr>
          <p:spPr>
            <a:xfrm>
              <a:off x="5873469" y="2204022"/>
              <a:ext cx="445062" cy="31254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55239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Control(RBAC)(36/46)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Because you created a </a:t>
            </a:r>
            <a:r>
              <a:rPr lang="en-US" altLang="ko-KR" sz="1400" b="1" dirty="0" err="1">
                <a:solidFill>
                  <a:srgbClr val="FF0000"/>
                </a:solidFill>
              </a:rPr>
              <a:t>ClusterRoleBinding</a:t>
            </a:r>
            <a:r>
              <a:rPr lang="en-US" altLang="ko-KR" sz="1400" b="1" dirty="0"/>
              <a:t>, it applies across </a:t>
            </a:r>
            <a:r>
              <a:rPr lang="en-US" altLang="ko-KR" sz="1400" b="1" dirty="0">
                <a:solidFill>
                  <a:srgbClr val="FF0000"/>
                </a:solidFill>
              </a:rPr>
              <a:t>all namespaces</a:t>
            </a:r>
            <a:r>
              <a:rPr lang="en-US" altLang="ko-KR" sz="1400" dirty="0"/>
              <a:t>. </a:t>
            </a:r>
            <a:r>
              <a:rPr lang="en-US" altLang="ko-KR" sz="1400" b="1" dirty="0"/>
              <a:t>The pod in namespace “foo” can list pods in the “bar” namespace as well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The pod is allowed to list pods in a different namespace. It can also retrieve pods across all namespaces by hitting the “/</a:t>
            </a:r>
            <a:r>
              <a:rPr lang="en-US" altLang="ko-KR" sz="1400" b="1" dirty="0" err="1"/>
              <a:t>api</a:t>
            </a:r>
            <a:r>
              <a:rPr lang="en-US" altLang="ko-KR" sz="1400" b="1" dirty="0"/>
              <a:t>/v1/pods” URL path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0C9AB192-DEA6-3892-DBB1-7E9C58C174BE}"/>
              </a:ext>
            </a:extLst>
          </p:cNvPr>
          <p:cNvGrpSpPr/>
          <p:nvPr/>
        </p:nvGrpSpPr>
        <p:grpSpPr>
          <a:xfrm>
            <a:off x="838200" y="1701147"/>
            <a:ext cx="10515600" cy="2879530"/>
            <a:chOff x="838200" y="1701147"/>
            <a:chExt cx="10515600" cy="2879530"/>
          </a:xfrm>
        </p:grpSpPr>
        <p:pic>
          <p:nvPicPr>
            <p:cNvPr id="8" name="그림 7">
              <a:extLst>
                <a:ext uri="{FF2B5EF4-FFF2-40B4-BE49-F238E27FC236}">
                  <a16:creationId xmlns:a16="http://schemas.microsoft.com/office/drawing/2014/main" id="{1AAAE249-7B6E-F4D3-8CFC-F94AF44C2175}"/>
                </a:ext>
              </a:extLst>
            </p:cNvPr>
            <p:cNvPicPr>
              <a:picLocks noChangeAspect="1"/>
            </p:cNvPicPr>
            <p:nvPr/>
          </p:nvPicPr>
          <p:blipFill>
            <a:blip r:embed="rId2"/>
            <a:stretch>
              <a:fillRect/>
            </a:stretch>
          </p:blipFill>
          <p:spPr>
            <a:xfrm>
              <a:off x="838200" y="2550079"/>
              <a:ext cx="10515600" cy="2030598"/>
            </a:xfrm>
            <a:prstGeom prst="rect">
              <a:avLst/>
            </a:prstGeom>
          </p:spPr>
        </p:pic>
        <p:sp>
          <p:nvSpPr>
            <p:cNvPr id="10" name="TextBox 9">
              <a:extLst>
                <a:ext uri="{FF2B5EF4-FFF2-40B4-BE49-F238E27FC236}">
                  <a16:creationId xmlns:a16="http://schemas.microsoft.com/office/drawing/2014/main" id="{084FD711-7D9E-16CA-052B-C1028372FCBC}"/>
                </a:ext>
              </a:extLst>
            </p:cNvPr>
            <p:cNvSpPr txBox="1"/>
            <p:nvPr/>
          </p:nvSpPr>
          <p:spPr>
            <a:xfrm>
              <a:off x="3047326" y="1701147"/>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test -n foo -- </a:t>
              </a:r>
              <a:r>
                <a:rPr lang="en-US" altLang="ko-KR" sz="1000" b="1" dirty="0" err="1"/>
                <a:t>sh</a:t>
              </a:r>
              <a:endParaRPr lang="en-US" altLang="ko-KR" sz="1000" b="1" dirty="0"/>
            </a:p>
            <a:p>
              <a:r>
                <a:rPr lang="en-US" altLang="ko-KR" sz="1000" b="1" dirty="0"/>
                <a:t>$ curl localhost:8001/</a:t>
              </a:r>
              <a:r>
                <a:rPr lang="en-US" altLang="ko-KR" sz="1000" b="1" dirty="0" err="1"/>
                <a:t>api</a:t>
              </a:r>
              <a:r>
                <a:rPr lang="en-US" altLang="ko-KR" sz="1000" b="1" dirty="0"/>
                <a:t>/v1/namespaces/</a:t>
              </a:r>
              <a:r>
                <a:rPr lang="en-US" altLang="ko-KR" sz="1000" b="1" dirty="0">
                  <a:solidFill>
                    <a:srgbClr val="FF0000"/>
                  </a:solidFill>
                </a:rPr>
                <a:t>bar</a:t>
              </a:r>
              <a:r>
                <a:rPr lang="en-US" altLang="ko-KR" sz="1000" b="1" dirty="0"/>
                <a:t>/pods</a:t>
              </a:r>
            </a:p>
            <a:p>
              <a:r>
                <a:rPr lang="en-US" altLang="ko-KR" sz="1000" b="1" dirty="0"/>
                <a:t>$ curl localhost:8001/</a:t>
              </a:r>
              <a:r>
                <a:rPr lang="en-US" altLang="ko-KR" sz="1000" b="1" dirty="0" err="1"/>
                <a:t>api</a:t>
              </a:r>
              <a:r>
                <a:rPr lang="en-US" altLang="ko-KR" sz="1000" b="1" dirty="0"/>
                <a:t>/v1/pods</a:t>
              </a:r>
            </a:p>
          </p:txBody>
        </p:sp>
        <p:sp>
          <p:nvSpPr>
            <p:cNvPr id="11" name="화살표: 아래쪽 10">
              <a:extLst>
                <a:ext uri="{FF2B5EF4-FFF2-40B4-BE49-F238E27FC236}">
                  <a16:creationId xmlns:a16="http://schemas.microsoft.com/office/drawing/2014/main" id="{29635217-BE00-7D71-1371-C4801593AF76}"/>
                </a:ext>
              </a:extLst>
            </p:cNvPr>
            <p:cNvSpPr/>
            <p:nvPr/>
          </p:nvSpPr>
          <p:spPr>
            <a:xfrm>
              <a:off x="5889653" y="2254832"/>
              <a:ext cx="412694" cy="2938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49623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Control(RBAC)(37/46)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To summarize, combining a </a:t>
            </a:r>
            <a:r>
              <a:rPr lang="en-US" altLang="ko-KR" sz="1400" b="1" dirty="0" err="1">
                <a:solidFill>
                  <a:srgbClr val="FF0000"/>
                </a:solidFill>
              </a:rPr>
              <a:t>ClusterRoleBinding</a:t>
            </a:r>
            <a:r>
              <a:rPr lang="en-US" altLang="ko-KR" sz="1400" b="1" dirty="0"/>
              <a:t> with a </a:t>
            </a:r>
            <a:r>
              <a:rPr lang="en-US" altLang="ko-KR" sz="1400" b="1" dirty="0" err="1">
                <a:solidFill>
                  <a:srgbClr val="FF0000"/>
                </a:solidFill>
              </a:rPr>
              <a:t>ClusterRole</a:t>
            </a:r>
            <a:r>
              <a:rPr lang="en-US" altLang="ko-KR" sz="1400" b="1" dirty="0"/>
              <a:t> referring to </a:t>
            </a:r>
            <a:r>
              <a:rPr lang="en-US" altLang="ko-KR" sz="1400" b="1" dirty="0" err="1">
                <a:solidFill>
                  <a:srgbClr val="FF0000"/>
                </a:solidFill>
              </a:rPr>
              <a:t>namespaced</a:t>
            </a:r>
            <a:r>
              <a:rPr lang="en-US" altLang="ko-KR" sz="1400" b="1" dirty="0">
                <a:solidFill>
                  <a:srgbClr val="FF0000"/>
                </a:solidFill>
              </a:rPr>
              <a:t> resources </a:t>
            </a:r>
            <a:r>
              <a:rPr lang="en-US" altLang="ko-KR" sz="1400" b="1" dirty="0"/>
              <a:t>allows the pod to </a:t>
            </a:r>
            <a:r>
              <a:rPr lang="en-US" altLang="ko-KR" sz="1400" b="1" dirty="0">
                <a:solidFill>
                  <a:srgbClr val="FF0000"/>
                </a:solidFill>
              </a:rPr>
              <a:t>access </a:t>
            </a:r>
            <a:r>
              <a:rPr lang="en-US" altLang="ko-KR" sz="1400" b="1" dirty="0" err="1">
                <a:solidFill>
                  <a:srgbClr val="FF0000"/>
                </a:solidFill>
              </a:rPr>
              <a:t>namespaced</a:t>
            </a:r>
            <a:r>
              <a:rPr lang="en-US" altLang="ko-KR" sz="1400" b="1" dirty="0">
                <a:solidFill>
                  <a:srgbClr val="FF0000"/>
                </a:solidFill>
              </a:rPr>
              <a:t> resources in any namespace</a:t>
            </a:r>
            <a:r>
              <a:rPr lang="en-US" altLang="ko-KR" sz="1400" dirty="0"/>
              <a:t>, as shown in the following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AB68F8D-8F3F-5A57-DF2F-6CE21E775103}"/>
              </a:ext>
            </a:extLst>
          </p:cNvPr>
          <p:cNvGrpSpPr/>
          <p:nvPr/>
        </p:nvGrpSpPr>
        <p:grpSpPr>
          <a:xfrm>
            <a:off x="3186112" y="1914525"/>
            <a:ext cx="5819775" cy="3028950"/>
            <a:chOff x="3186112" y="1914525"/>
            <a:chExt cx="5819775" cy="3028950"/>
          </a:xfrm>
        </p:grpSpPr>
        <p:pic>
          <p:nvPicPr>
            <p:cNvPr id="8" name="그림 7">
              <a:extLst>
                <a:ext uri="{FF2B5EF4-FFF2-40B4-BE49-F238E27FC236}">
                  <a16:creationId xmlns:a16="http://schemas.microsoft.com/office/drawing/2014/main" id="{C7872721-1162-4538-90D7-55DE207FACB5}"/>
                </a:ext>
              </a:extLst>
            </p:cNvPr>
            <p:cNvPicPr>
              <a:picLocks noChangeAspect="1"/>
            </p:cNvPicPr>
            <p:nvPr/>
          </p:nvPicPr>
          <p:blipFill>
            <a:blip r:embed="rId2"/>
            <a:stretch>
              <a:fillRect/>
            </a:stretch>
          </p:blipFill>
          <p:spPr>
            <a:xfrm>
              <a:off x="3186112" y="1914525"/>
              <a:ext cx="5819775" cy="3028950"/>
            </a:xfrm>
            <a:prstGeom prst="rect">
              <a:avLst/>
            </a:prstGeom>
          </p:spPr>
        </p:pic>
        <p:sp>
          <p:nvSpPr>
            <p:cNvPr id="9" name="직사각형 8">
              <a:extLst>
                <a:ext uri="{FF2B5EF4-FFF2-40B4-BE49-F238E27FC236}">
                  <a16:creationId xmlns:a16="http://schemas.microsoft.com/office/drawing/2014/main" id="{A1D645AD-69EB-CDD7-5797-53DACF9281EA}"/>
                </a:ext>
              </a:extLst>
            </p:cNvPr>
            <p:cNvSpPr/>
            <p:nvPr/>
          </p:nvSpPr>
          <p:spPr>
            <a:xfrm>
              <a:off x="3581400" y="2370966"/>
              <a:ext cx="699287" cy="5340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3883B86-3AED-7839-6F19-99BD2A10C325}"/>
                </a:ext>
              </a:extLst>
            </p:cNvPr>
            <p:cNvSpPr/>
            <p:nvPr/>
          </p:nvSpPr>
          <p:spPr>
            <a:xfrm>
              <a:off x="3398655" y="4045160"/>
              <a:ext cx="1084333" cy="3811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EDA6E153-A051-0098-9551-291A56DB4567}"/>
                </a:ext>
              </a:extLst>
            </p:cNvPr>
            <p:cNvSpPr/>
            <p:nvPr/>
          </p:nvSpPr>
          <p:spPr>
            <a:xfrm>
              <a:off x="4766209" y="4045160"/>
              <a:ext cx="865848" cy="3811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2673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Control(RBAC)(38/46)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Now, </a:t>
            </a:r>
            <a:r>
              <a:rPr lang="en-US" altLang="ko-KR" sz="1400" b="1" dirty="0"/>
              <a:t>let’s see what happens if you replace the </a:t>
            </a:r>
            <a:r>
              <a:rPr lang="en-US" altLang="ko-KR" sz="1400" b="1" dirty="0" err="1"/>
              <a:t>ClusterRoleBinding</a:t>
            </a:r>
            <a:r>
              <a:rPr lang="en-US" altLang="ko-KR" sz="1400" b="1" dirty="0"/>
              <a:t> with a </a:t>
            </a:r>
            <a:r>
              <a:rPr lang="en-US" altLang="ko-KR" sz="1400" b="1" dirty="0" err="1"/>
              <a:t>RoleBinding</a:t>
            </a:r>
            <a:r>
              <a:rPr lang="en-US" altLang="ko-KR" sz="1400" dirty="0"/>
              <a:t>. </a:t>
            </a:r>
            <a:r>
              <a:rPr lang="en-US" altLang="ko-KR" sz="1400" b="1" dirty="0"/>
              <a:t>First, </a:t>
            </a:r>
            <a:r>
              <a:rPr lang="en-US" altLang="ko-KR" sz="1400" b="1" dirty="0">
                <a:solidFill>
                  <a:srgbClr val="FF0000"/>
                </a:solidFill>
              </a:rPr>
              <a:t>delete the </a:t>
            </a:r>
            <a:r>
              <a:rPr lang="en-US" altLang="ko-KR" sz="1400" b="1" dirty="0" err="1">
                <a:solidFill>
                  <a:srgbClr val="FF0000"/>
                </a:solidFill>
              </a:rPr>
              <a:t>ClusterRoleBinding</a:t>
            </a:r>
            <a:r>
              <a:rPr lang="en-US" altLang="ko-KR" sz="1400" b="1" dirty="0">
                <a:solidFill>
                  <a:srgbClr val="FF0000"/>
                </a:solidFill>
              </a:rPr>
              <a:t>.</a:t>
            </a:r>
          </a:p>
          <a:p>
            <a:pPr lvl="1">
              <a:buFont typeface="Wingdings" panose="05000000000000000000" pitchFamily="2" charset="2"/>
              <a:buChar char="§"/>
            </a:pPr>
            <a:r>
              <a:rPr lang="en-US" altLang="ko-KR" sz="1400" b="1" dirty="0"/>
              <a:t>Next create a </a:t>
            </a:r>
            <a:r>
              <a:rPr lang="en-US" altLang="ko-KR" sz="1400" b="1" dirty="0" err="1">
                <a:solidFill>
                  <a:srgbClr val="FF0000"/>
                </a:solidFill>
              </a:rPr>
              <a:t>RoleBinding</a:t>
            </a:r>
            <a:r>
              <a:rPr lang="en-US" altLang="ko-KR" sz="1400" b="1" dirty="0"/>
              <a:t> instead</a:t>
            </a:r>
            <a:r>
              <a:rPr lang="en-US" altLang="ko-KR" sz="1400" dirty="0"/>
              <a:t>. </a:t>
            </a:r>
            <a:r>
              <a:rPr lang="en-US" altLang="ko-KR" sz="1400" b="1" dirty="0"/>
              <a:t>Because a </a:t>
            </a:r>
            <a:r>
              <a:rPr lang="en-US" altLang="ko-KR" sz="1400" b="1" dirty="0" err="1"/>
              <a:t>RoleBinding</a:t>
            </a:r>
            <a:r>
              <a:rPr lang="en-US" altLang="ko-KR" sz="1400" b="1" dirty="0"/>
              <a:t> is </a:t>
            </a:r>
            <a:r>
              <a:rPr lang="en-US" altLang="ko-KR" sz="1400" b="1" dirty="0" err="1"/>
              <a:t>namespaced</a:t>
            </a:r>
            <a:r>
              <a:rPr lang="en-US" altLang="ko-KR" sz="1400" b="1" dirty="0"/>
              <a:t>, you need to specify the namespace you want to create it in</a:t>
            </a:r>
            <a:r>
              <a:rPr lang="en-US" altLang="ko-KR" sz="1400" dirty="0"/>
              <a:t>. Create it in the “</a:t>
            </a:r>
            <a:r>
              <a:rPr lang="en-US" altLang="ko-KR" sz="1400" b="1" dirty="0"/>
              <a:t>foo</a:t>
            </a:r>
            <a:r>
              <a:rPr lang="en-US" altLang="ko-KR" sz="1400" dirty="0"/>
              <a:t>” namespace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now have a </a:t>
            </a:r>
            <a:r>
              <a:rPr lang="en-US" altLang="ko-KR" sz="1400" b="1" dirty="0" err="1"/>
              <a:t>RoleBinding</a:t>
            </a:r>
            <a:r>
              <a:rPr lang="en-US" altLang="ko-KR" sz="1400" b="1" dirty="0"/>
              <a:t> in the “foo” namespace</a:t>
            </a:r>
            <a:r>
              <a:rPr lang="en-US" altLang="ko-KR" sz="1400" dirty="0"/>
              <a:t>, </a:t>
            </a:r>
            <a:r>
              <a:rPr lang="en-US" altLang="ko-KR" sz="1400" b="1" dirty="0">
                <a:solidFill>
                  <a:srgbClr val="FF0000"/>
                </a:solidFill>
              </a:rPr>
              <a:t>binding the default </a:t>
            </a:r>
            <a:r>
              <a:rPr lang="en-US" altLang="ko-KR" sz="1400" b="1" dirty="0" err="1">
                <a:solidFill>
                  <a:srgbClr val="FF0000"/>
                </a:solidFill>
              </a:rPr>
              <a:t>ServiceAccount</a:t>
            </a:r>
            <a:r>
              <a:rPr lang="en-US" altLang="ko-KR" sz="1400" b="1" dirty="0">
                <a:solidFill>
                  <a:srgbClr val="FF0000"/>
                </a:solidFill>
              </a:rPr>
              <a:t> in that same namespace with the view </a:t>
            </a:r>
            <a:r>
              <a:rPr lang="en-US" altLang="ko-KR" sz="1400" b="1" dirty="0" err="1">
                <a:solidFill>
                  <a:srgbClr val="FF0000"/>
                </a:solidFill>
              </a:rPr>
              <a:t>ClusterRole</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21D131ED-11B2-B90F-D4A7-77D8C12D5419}"/>
              </a:ext>
            </a:extLst>
          </p:cNvPr>
          <p:cNvGrpSpPr/>
          <p:nvPr/>
        </p:nvGrpSpPr>
        <p:grpSpPr>
          <a:xfrm>
            <a:off x="838200" y="2337945"/>
            <a:ext cx="10515600" cy="2454867"/>
            <a:chOff x="838200" y="1700779"/>
            <a:chExt cx="10515600" cy="2454867"/>
          </a:xfrm>
        </p:grpSpPr>
        <p:sp>
          <p:nvSpPr>
            <p:cNvPr id="8" name="TextBox 7">
              <a:extLst>
                <a:ext uri="{FF2B5EF4-FFF2-40B4-BE49-F238E27FC236}">
                  <a16:creationId xmlns:a16="http://schemas.microsoft.com/office/drawing/2014/main" id="{F3348B40-86FF-F646-44FB-1F68DA12E061}"/>
                </a:ext>
              </a:extLst>
            </p:cNvPr>
            <p:cNvSpPr txBox="1"/>
            <p:nvPr/>
          </p:nvSpPr>
          <p:spPr>
            <a:xfrm>
              <a:off x="3047326" y="1700779"/>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clusterrolebinding</a:t>
              </a:r>
              <a:r>
                <a:rPr lang="en-US" altLang="ko-KR" sz="1000" b="1" dirty="0">
                  <a:solidFill>
                    <a:srgbClr val="FF0000"/>
                  </a:solidFill>
                </a:rPr>
                <a:t> view-test</a:t>
              </a:r>
            </a:p>
            <a:p>
              <a:r>
                <a:rPr lang="en-US" altLang="ko-KR" sz="1000" b="1" dirty="0"/>
                <a:t>$ </a:t>
              </a:r>
              <a:r>
                <a:rPr lang="en-US" altLang="ko-KR" sz="1000" b="1" dirty="0" err="1"/>
                <a:t>kubectl</a:t>
              </a:r>
              <a:r>
                <a:rPr lang="en-US" altLang="ko-KR" sz="1000" b="1" dirty="0"/>
                <a:t> create </a:t>
              </a:r>
              <a:r>
                <a:rPr lang="en-US" altLang="ko-KR" sz="1000" b="1" dirty="0" err="1">
                  <a:solidFill>
                    <a:srgbClr val="FF0000"/>
                  </a:solidFill>
                </a:rPr>
                <a:t>rolebinding</a:t>
              </a:r>
              <a:r>
                <a:rPr lang="en-US" altLang="ko-KR" sz="1000" b="1" dirty="0">
                  <a:solidFill>
                    <a:srgbClr val="FF0000"/>
                  </a:solidFill>
                </a:rPr>
                <a:t> view-test --</a:t>
              </a:r>
              <a:r>
                <a:rPr lang="en-US" altLang="ko-KR" sz="1000" b="1" dirty="0" err="1">
                  <a:solidFill>
                    <a:srgbClr val="FF0000"/>
                  </a:solidFill>
                </a:rPr>
                <a:t>clusterrole</a:t>
              </a:r>
              <a:r>
                <a:rPr lang="en-US" altLang="ko-KR" sz="1000" b="1" dirty="0">
                  <a:solidFill>
                    <a:srgbClr val="FF0000"/>
                  </a:solidFill>
                </a:rPr>
                <a:t>=view --</a:t>
              </a:r>
              <a:r>
                <a:rPr lang="en-US" altLang="ko-KR" sz="1000" b="1" dirty="0" err="1">
                  <a:solidFill>
                    <a:srgbClr val="FF0000"/>
                  </a:solidFill>
                </a:rPr>
                <a:t>serviceaccount</a:t>
              </a:r>
              <a:r>
                <a:rPr lang="en-US" altLang="ko-KR" sz="1000" b="1" dirty="0">
                  <a:solidFill>
                    <a:srgbClr val="FF0000"/>
                  </a:solidFill>
                </a:rPr>
                <a:t>=</a:t>
              </a:r>
              <a:r>
                <a:rPr lang="en-US" altLang="ko-KR" sz="1000" b="1" dirty="0" err="1">
                  <a:solidFill>
                    <a:srgbClr val="FF0000"/>
                  </a:solidFill>
                </a:rPr>
                <a:t>foo:default</a:t>
              </a:r>
              <a:r>
                <a:rPr lang="en-US" altLang="ko-KR" sz="1000" b="1" dirty="0">
                  <a:solidFill>
                    <a:srgbClr val="FF0000"/>
                  </a:solidFill>
                </a:rPr>
                <a:t> -n foo</a:t>
              </a:r>
            </a:p>
            <a:p>
              <a:r>
                <a:rPr lang="en-US" altLang="ko-KR" sz="1000" b="1" dirty="0"/>
                <a:t>$ </a:t>
              </a:r>
              <a:r>
                <a:rPr lang="en-US" altLang="ko-KR" sz="1000" b="1" dirty="0" err="1"/>
                <a:t>kubectl</a:t>
              </a:r>
              <a:r>
                <a:rPr lang="en-US" altLang="ko-KR" sz="1000" b="1" dirty="0"/>
                <a:t> exec -it test -n foo -- </a:t>
              </a:r>
              <a:r>
                <a:rPr lang="en-US" altLang="ko-KR" sz="1000" b="1" dirty="0" err="1"/>
                <a:t>sh</a:t>
              </a:r>
              <a:endParaRPr lang="ko-KR" altLang="en-US" sz="1000" b="1" dirty="0"/>
            </a:p>
          </p:txBody>
        </p:sp>
        <p:grpSp>
          <p:nvGrpSpPr>
            <p:cNvPr id="12" name="그룹 11">
              <a:extLst>
                <a:ext uri="{FF2B5EF4-FFF2-40B4-BE49-F238E27FC236}">
                  <a16:creationId xmlns:a16="http://schemas.microsoft.com/office/drawing/2014/main" id="{29BA07A7-72C8-934A-3968-5CC80E5E13B3}"/>
                </a:ext>
              </a:extLst>
            </p:cNvPr>
            <p:cNvGrpSpPr/>
            <p:nvPr/>
          </p:nvGrpSpPr>
          <p:grpSpPr>
            <a:xfrm>
              <a:off x="838200" y="2254777"/>
              <a:ext cx="10515600" cy="1900869"/>
              <a:chOff x="838200" y="3010132"/>
              <a:chExt cx="10515600" cy="1900869"/>
            </a:xfrm>
          </p:grpSpPr>
          <p:sp>
            <p:nvSpPr>
              <p:cNvPr id="9" name="화살표: 아래쪽 8">
                <a:extLst>
                  <a:ext uri="{FF2B5EF4-FFF2-40B4-BE49-F238E27FC236}">
                    <a16:creationId xmlns:a16="http://schemas.microsoft.com/office/drawing/2014/main" id="{8DE00B1A-15D0-6599-D75F-058CC5380913}"/>
                  </a:ext>
                </a:extLst>
              </p:cNvPr>
              <p:cNvSpPr/>
              <p:nvPr/>
            </p:nvSpPr>
            <p:spPr>
              <a:xfrm>
                <a:off x="5857285" y="3010132"/>
                <a:ext cx="477430" cy="35113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63010F3F-D746-94C5-1DE1-5BD1DBCBD225}"/>
                  </a:ext>
                </a:extLst>
              </p:cNvPr>
              <p:cNvPicPr>
                <a:picLocks noChangeAspect="1"/>
              </p:cNvPicPr>
              <p:nvPr/>
            </p:nvPicPr>
            <p:blipFill>
              <a:blip r:embed="rId2"/>
              <a:stretch>
                <a:fillRect/>
              </a:stretch>
            </p:blipFill>
            <p:spPr>
              <a:xfrm>
                <a:off x="838200" y="3369362"/>
                <a:ext cx="10515600" cy="1541639"/>
              </a:xfrm>
              <a:prstGeom prst="rect">
                <a:avLst/>
              </a:prstGeom>
            </p:spPr>
          </p:pic>
        </p:grpSp>
      </p:grpSp>
    </p:spTree>
    <p:extLst>
      <p:ext uri="{BB962C8B-B14F-4D97-AF65-F5344CB8AC3E}">
        <p14:creationId xmlns:p14="http://schemas.microsoft.com/office/powerpoint/2010/main" val="4031060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Control(RBAC)(39/46)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What can your pod access now? See the following screenshot.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0BB7E4A2-80F8-719F-E194-3F12EC08AC28}"/>
              </a:ext>
            </a:extLst>
          </p:cNvPr>
          <p:cNvGrpSpPr/>
          <p:nvPr/>
        </p:nvGrpSpPr>
        <p:grpSpPr>
          <a:xfrm>
            <a:off x="838200" y="1588778"/>
            <a:ext cx="10515601" cy="3953200"/>
            <a:chOff x="838199" y="1963755"/>
            <a:chExt cx="10515601" cy="3953200"/>
          </a:xfrm>
        </p:grpSpPr>
        <p:grpSp>
          <p:nvGrpSpPr>
            <p:cNvPr id="13" name="그룹 12">
              <a:extLst>
                <a:ext uri="{FF2B5EF4-FFF2-40B4-BE49-F238E27FC236}">
                  <a16:creationId xmlns:a16="http://schemas.microsoft.com/office/drawing/2014/main" id="{CEC0CC37-0060-443F-7AF7-2CC2D8BA2C9B}"/>
                </a:ext>
              </a:extLst>
            </p:cNvPr>
            <p:cNvGrpSpPr/>
            <p:nvPr/>
          </p:nvGrpSpPr>
          <p:grpSpPr>
            <a:xfrm>
              <a:off x="838199" y="1963755"/>
              <a:ext cx="10515601" cy="3953200"/>
              <a:chOff x="835502" y="1555122"/>
              <a:chExt cx="10515601" cy="3953200"/>
            </a:xfrm>
          </p:grpSpPr>
          <p:grpSp>
            <p:nvGrpSpPr>
              <p:cNvPr id="10" name="그룹 9">
                <a:extLst>
                  <a:ext uri="{FF2B5EF4-FFF2-40B4-BE49-F238E27FC236}">
                    <a16:creationId xmlns:a16="http://schemas.microsoft.com/office/drawing/2014/main" id="{530B511F-0A82-32D1-AFED-BCFE9273B199}"/>
                  </a:ext>
                </a:extLst>
              </p:cNvPr>
              <p:cNvGrpSpPr/>
              <p:nvPr/>
            </p:nvGrpSpPr>
            <p:grpSpPr>
              <a:xfrm>
                <a:off x="3047326" y="1555122"/>
                <a:ext cx="6097348" cy="886150"/>
                <a:chOff x="3047326" y="1733147"/>
                <a:chExt cx="6097348" cy="886150"/>
              </a:xfrm>
            </p:grpSpPr>
            <p:sp>
              <p:nvSpPr>
                <p:cNvPr id="8" name="TextBox 7">
                  <a:extLst>
                    <a:ext uri="{FF2B5EF4-FFF2-40B4-BE49-F238E27FC236}">
                      <a16:creationId xmlns:a16="http://schemas.microsoft.com/office/drawing/2014/main" id="{7D3BDB40-7C49-82AB-4351-60D88C1FC1E2}"/>
                    </a:ext>
                  </a:extLst>
                </p:cNvPr>
                <p:cNvSpPr txBox="1"/>
                <p:nvPr/>
              </p:nvSpPr>
              <p:spPr>
                <a:xfrm>
                  <a:off x="3047326" y="1733147"/>
                  <a:ext cx="6097348" cy="553998"/>
                </a:xfrm>
                <a:prstGeom prst="rect">
                  <a:avLst/>
                </a:prstGeom>
                <a:noFill/>
                <a:ln>
                  <a:solidFill>
                    <a:schemeClr val="bg1">
                      <a:lumMod val="50000"/>
                    </a:schemeClr>
                  </a:solidFill>
                </a:ln>
              </p:spPr>
              <p:txBody>
                <a:bodyPr wrap="square">
                  <a:spAutoFit/>
                </a:bodyPr>
                <a:lstStyle/>
                <a:p>
                  <a:r>
                    <a:rPr lang="en-US" altLang="ko-KR" sz="1000" b="1" dirty="0"/>
                    <a:t>/ # curl localhost:8001/</a:t>
                  </a:r>
                  <a:r>
                    <a:rPr lang="en-US" altLang="ko-KR" sz="1000" b="1" dirty="0" err="1"/>
                    <a:t>api</a:t>
                  </a:r>
                  <a:r>
                    <a:rPr lang="en-US" altLang="ko-KR" sz="1000" b="1" dirty="0"/>
                    <a:t>/v1/</a:t>
                  </a:r>
                  <a:r>
                    <a:rPr lang="en-US" altLang="ko-KR" sz="1000" b="1" dirty="0">
                      <a:solidFill>
                        <a:srgbClr val="FF0000"/>
                      </a:solidFill>
                    </a:rPr>
                    <a:t>namespaces/foo</a:t>
                  </a:r>
                  <a:r>
                    <a:rPr lang="en-US" altLang="ko-KR" sz="1000" b="1" dirty="0"/>
                    <a:t>/pods</a:t>
                  </a:r>
                </a:p>
                <a:p>
                  <a:r>
                    <a:rPr lang="en-US" altLang="ko-KR" sz="1000" b="1" dirty="0"/>
                    <a:t>/ # curl localhost:8001/</a:t>
                  </a:r>
                  <a:r>
                    <a:rPr lang="en-US" altLang="ko-KR" sz="1000" b="1" dirty="0" err="1"/>
                    <a:t>api</a:t>
                  </a:r>
                  <a:r>
                    <a:rPr lang="en-US" altLang="ko-KR" sz="1000" b="1" dirty="0"/>
                    <a:t>/v1/</a:t>
                  </a:r>
                  <a:r>
                    <a:rPr lang="en-US" altLang="ko-KR" sz="1000" b="1" dirty="0">
                      <a:solidFill>
                        <a:srgbClr val="FF0000"/>
                      </a:solidFill>
                    </a:rPr>
                    <a:t>namespaces/bar</a:t>
                  </a:r>
                  <a:r>
                    <a:rPr lang="en-US" altLang="ko-KR" sz="1000" b="1" dirty="0"/>
                    <a:t>/pods</a:t>
                  </a:r>
                </a:p>
                <a:p>
                  <a:r>
                    <a:rPr lang="en-US" altLang="ko-KR" sz="1000" b="1" dirty="0"/>
                    <a:t>/ # curl localhost:8001/</a:t>
                  </a:r>
                  <a:r>
                    <a:rPr lang="en-US" altLang="ko-KR" sz="1000" b="1" dirty="0" err="1"/>
                    <a:t>api</a:t>
                  </a:r>
                  <a:r>
                    <a:rPr lang="en-US" altLang="ko-KR" sz="1000" b="1" dirty="0"/>
                    <a:t>/v1/</a:t>
                  </a:r>
                  <a:r>
                    <a:rPr lang="en-US" altLang="ko-KR" sz="1000" b="1" dirty="0">
                      <a:solidFill>
                        <a:srgbClr val="FF0000"/>
                      </a:solidFill>
                    </a:rPr>
                    <a:t>pods</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1D8E27B2-0C7D-D00B-7A69-5AD96E972878}"/>
                    </a:ext>
                  </a:extLst>
                </p:cNvPr>
                <p:cNvSpPr/>
                <p:nvPr/>
              </p:nvSpPr>
              <p:spPr>
                <a:xfrm>
                  <a:off x="5870772" y="2287145"/>
                  <a:ext cx="445062" cy="33215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9BD8E104-2A92-6467-D744-6311A8086308}"/>
                  </a:ext>
                </a:extLst>
              </p:cNvPr>
              <p:cNvPicPr>
                <a:picLocks noChangeAspect="1"/>
              </p:cNvPicPr>
              <p:nvPr/>
            </p:nvPicPr>
            <p:blipFill>
              <a:blip r:embed="rId2"/>
              <a:stretch>
                <a:fillRect/>
              </a:stretch>
            </p:blipFill>
            <p:spPr>
              <a:xfrm>
                <a:off x="835502" y="2441272"/>
                <a:ext cx="10515601" cy="3067050"/>
              </a:xfrm>
              <a:prstGeom prst="rect">
                <a:avLst/>
              </a:prstGeom>
            </p:spPr>
          </p:pic>
        </p:grpSp>
        <p:sp>
          <p:nvSpPr>
            <p:cNvPr id="14" name="직사각형 13">
              <a:extLst>
                <a:ext uri="{FF2B5EF4-FFF2-40B4-BE49-F238E27FC236}">
                  <a16:creationId xmlns:a16="http://schemas.microsoft.com/office/drawing/2014/main" id="{86E2A704-CF9B-0964-C6F4-B2A50B8F4475}"/>
                </a:ext>
              </a:extLst>
            </p:cNvPr>
            <p:cNvSpPr/>
            <p:nvPr/>
          </p:nvSpPr>
          <p:spPr>
            <a:xfrm>
              <a:off x="949465" y="3504165"/>
              <a:ext cx="3600956" cy="1634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668456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Control(RBAC)(40/46)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As you can see in the previous and the following screenshot, your pod can </a:t>
            </a:r>
            <a:r>
              <a:rPr lang="en-US" altLang="ko-KR" sz="1400" b="1" dirty="0"/>
              <a:t>list pods in the foo namespace</a:t>
            </a:r>
            <a:r>
              <a:rPr lang="en-US" altLang="ko-KR" sz="1400" dirty="0"/>
              <a:t>, but </a:t>
            </a:r>
            <a:r>
              <a:rPr lang="en-US" altLang="ko-KR" sz="1400" b="1" dirty="0"/>
              <a:t>not in any other specific namespace or across all namespaces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DD01CFD-7E3F-AF35-2A75-D930BC49F614}"/>
              </a:ext>
            </a:extLst>
          </p:cNvPr>
          <p:cNvGrpSpPr/>
          <p:nvPr/>
        </p:nvGrpSpPr>
        <p:grpSpPr>
          <a:xfrm>
            <a:off x="838200" y="1771940"/>
            <a:ext cx="10515600" cy="4157911"/>
            <a:chOff x="838200" y="1771940"/>
            <a:chExt cx="10515600" cy="4157911"/>
          </a:xfrm>
        </p:grpSpPr>
        <p:pic>
          <p:nvPicPr>
            <p:cNvPr id="10" name="그림 9">
              <a:extLst>
                <a:ext uri="{FF2B5EF4-FFF2-40B4-BE49-F238E27FC236}">
                  <a16:creationId xmlns:a16="http://schemas.microsoft.com/office/drawing/2014/main" id="{36C79B3D-1BC0-99F1-1CA7-28315174BBFC}"/>
                </a:ext>
              </a:extLst>
            </p:cNvPr>
            <p:cNvPicPr>
              <a:picLocks noChangeAspect="1"/>
            </p:cNvPicPr>
            <p:nvPr/>
          </p:nvPicPr>
          <p:blipFill>
            <a:blip r:embed="rId2"/>
            <a:stretch>
              <a:fillRect/>
            </a:stretch>
          </p:blipFill>
          <p:spPr>
            <a:xfrm>
              <a:off x="838200" y="1771940"/>
              <a:ext cx="10515600" cy="4157911"/>
            </a:xfrm>
            <a:prstGeom prst="rect">
              <a:avLst/>
            </a:prstGeom>
          </p:spPr>
        </p:pic>
        <p:sp>
          <p:nvSpPr>
            <p:cNvPr id="11" name="직사각형 10">
              <a:extLst>
                <a:ext uri="{FF2B5EF4-FFF2-40B4-BE49-F238E27FC236}">
                  <a16:creationId xmlns:a16="http://schemas.microsoft.com/office/drawing/2014/main" id="{5542FC07-372A-218E-56D6-D1357E8DA4C3}"/>
                </a:ext>
              </a:extLst>
            </p:cNvPr>
            <p:cNvSpPr/>
            <p:nvPr/>
          </p:nvSpPr>
          <p:spPr>
            <a:xfrm>
              <a:off x="1003412" y="3107342"/>
              <a:ext cx="10042216" cy="137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BC4A733-7B42-8181-9EAC-44E9687EC003}"/>
                </a:ext>
              </a:extLst>
            </p:cNvPr>
            <p:cNvSpPr/>
            <p:nvPr/>
          </p:nvSpPr>
          <p:spPr>
            <a:xfrm>
              <a:off x="1003412" y="4802165"/>
              <a:ext cx="10042216" cy="1375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119772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Control(RBAC)(41/46)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The following figure shows that you can </a:t>
            </a:r>
            <a:r>
              <a:rPr lang="en-US" altLang="ko-KR" sz="1400" b="1" dirty="0"/>
              <a:t>list the pods in the “foo” namespace </a:t>
            </a:r>
            <a:r>
              <a:rPr lang="en-US" altLang="ko-KR" sz="1400" dirty="0"/>
              <a:t>and you </a:t>
            </a:r>
            <a:r>
              <a:rPr lang="en-US" altLang="ko-KR" sz="1400" b="1" dirty="0"/>
              <a:t>cannot list the pods in the “bar” namespace because of the </a:t>
            </a:r>
            <a:r>
              <a:rPr lang="en-US" altLang="ko-KR" sz="1400" b="1" dirty="0" err="1"/>
              <a:t>RoleBinding</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6A518FC-2AED-153C-789A-28AD0A0B48BA}"/>
              </a:ext>
            </a:extLst>
          </p:cNvPr>
          <p:cNvGrpSpPr/>
          <p:nvPr/>
        </p:nvGrpSpPr>
        <p:grpSpPr>
          <a:xfrm>
            <a:off x="3124200" y="2076450"/>
            <a:ext cx="5943600" cy="2705100"/>
            <a:chOff x="3124200" y="2076450"/>
            <a:chExt cx="5943600" cy="2705100"/>
          </a:xfrm>
        </p:grpSpPr>
        <p:pic>
          <p:nvPicPr>
            <p:cNvPr id="8" name="그림 7">
              <a:extLst>
                <a:ext uri="{FF2B5EF4-FFF2-40B4-BE49-F238E27FC236}">
                  <a16:creationId xmlns:a16="http://schemas.microsoft.com/office/drawing/2014/main" id="{B709528A-4BD6-4D46-A60E-95E3E28BBE39}"/>
                </a:ext>
              </a:extLst>
            </p:cNvPr>
            <p:cNvPicPr>
              <a:picLocks noChangeAspect="1"/>
            </p:cNvPicPr>
            <p:nvPr/>
          </p:nvPicPr>
          <p:blipFill>
            <a:blip r:embed="rId2"/>
            <a:stretch>
              <a:fillRect/>
            </a:stretch>
          </p:blipFill>
          <p:spPr>
            <a:xfrm>
              <a:off x="3124200" y="2076450"/>
              <a:ext cx="5943600" cy="2705100"/>
            </a:xfrm>
            <a:prstGeom prst="rect">
              <a:avLst/>
            </a:prstGeom>
          </p:spPr>
        </p:pic>
        <p:sp>
          <p:nvSpPr>
            <p:cNvPr id="9" name="직사각형 8">
              <a:extLst>
                <a:ext uri="{FF2B5EF4-FFF2-40B4-BE49-F238E27FC236}">
                  <a16:creationId xmlns:a16="http://schemas.microsoft.com/office/drawing/2014/main" id="{2E3FDFBC-783B-8DC3-65C5-3A210E6E117B}"/>
                </a:ext>
              </a:extLst>
            </p:cNvPr>
            <p:cNvSpPr/>
            <p:nvPr/>
          </p:nvSpPr>
          <p:spPr>
            <a:xfrm>
              <a:off x="3398655" y="2597543"/>
              <a:ext cx="954860" cy="41269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251869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Control(RBAC)(42/46)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dirty="0"/>
              <a:t>Let’s see if we can make sense of all these combinations by </a:t>
            </a:r>
            <a:r>
              <a:rPr lang="en-US" altLang="ko-KR" sz="1400" b="1" dirty="0"/>
              <a:t>categorizing them per specific use case</a:t>
            </a:r>
            <a:r>
              <a:rPr lang="en-US" altLang="ko-KR" sz="1400" dirty="0"/>
              <a:t>. Refer to the following table.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4A58E53-FEB5-A9F8-9241-76121096C692}"/>
              </a:ext>
            </a:extLst>
          </p:cNvPr>
          <p:cNvPicPr>
            <a:picLocks noChangeAspect="1"/>
          </p:cNvPicPr>
          <p:nvPr/>
        </p:nvPicPr>
        <p:blipFill>
          <a:blip r:embed="rId2"/>
          <a:stretch>
            <a:fillRect/>
          </a:stretch>
        </p:blipFill>
        <p:spPr>
          <a:xfrm>
            <a:off x="3124200" y="2305050"/>
            <a:ext cx="5943600" cy="2247900"/>
          </a:xfrm>
          <a:prstGeom prst="rect">
            <a:avLst/>
          </a:prstGeom>
        </p:spPr>
      </p:pic>
    </p:spTree>
    <p:extLst>
      <p:ext uri="{BB962C8B-B14F-4D97-AF65-F5344CB8AC3E}">
        <p14:creationId xmlns:p14="http://schemas.microsoft.com/office/powerpoint/2010/main" val="14275619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Control(RBAC)(43/46)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Default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Kubernetes comes with </a:t>
            </a:r>
            <a:r>
              <a:rPr lang="en-US" altLang="ko-KR" sz="1400" b="1" dirty="0">
                <a:solidFill>
                  <a:srgbClr val="FF0000"/>
                </a:solidFill>
              </a:rPr>
              <a:t>a default set of </a:t>
            </a:r>
            <a:r>
              <a:rPr lang="en-US" altLang="ko-KR" sz="1400" b="1" dirty="0" err="1">
                <a:solidFill>
                  <a:srgbClr val="FF0000"/>
                </a:solidFill>
              </a:rPr>
              <a:t>ClusterRoles</a:t>
            </a:r>
            <a:r>
              <a:rPr lang="en-US" altLang="ko-KR" sz="1400" b="1" dirty="0">
                <a:solidFill>
                  <a:srgbClr val="FF0000"/>
                </a:solidFill>
              </a:rPr>
              <a:t> and </a:t>
            </a:r>
            <a:r>
              <a:rPr lang="en-US" altLang="ko-KR" sz="1400" b="1" dirty="0" err="1">
                <a:solidFill>
                  <a:srgbClr val="FF0000"/>
                </a:solidFill>
              </a:rPr>
              <a:t>ClusterRoleBindings</a:t>
            </a:r>
            <a:r>
              <a:rPr lang="en-US" altLang="ko-KR" sz="1400" dirty="0"/>
              <a:t>, </a:t>
            </a:r>
            <a:r>
              <a:rPr lang="en-US" altLang="ko-KR" sz="1400" b="1" dirty="0"/>
              <a:t>which are updated every time the API server starts</a:t>
            </a:r>
            <a:r>
              <a:rPr lang="en-US" altLang="ko-KR" sz="1400" dirty="0"/>
              <a:t>. This ensures all the default roles and bindings are recreated if you mistakenly delete them or if a newer version of Kubernetes uses a different configuration of cluster roles and bindings. </a:t>
            </a:r>
          </a:p>
          <a:p>
            <a:pPr lvl="1">
              <a:buFont typeface="Wingdings" panose="05000000000000000000" pitchFamily="2" charset="2"/>
              <a:buChar char="§"/>
            </a:pPr>
            <a:r>
              <a:rPr lang="en-US" altLang="ko-KR" sz="1400" dirty="0"/>
              <a:t>You can see </a:t>
            </a:r>
            <a:r>
              <a:rPr lang="en-US" altLang="ko-KR" sz="1400" b="1" dirty="0"/>
              <a:t>the default cluster roles and bindings </a:t>
            </a:r>
            <a:r>
              <a:rPr lang="en-US" altLang="ko-KR" sz="1400" dirty="0"/>
              <a:t>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2B5B337F-7E47-4161-09B0-F4682B3EBF5D}"/>
              </a:ext>
            </a:extLst>
          </p:cNvPr>
          <p:cNvGrpSpPr/>
          <p:nvPr/>
        </p:nvGrpSpPr>
        <p:grpSpPr>
          <a:xfrm>
            <a:off x="1004424" y="2126968"/>
            <a:ext cx="10183152" cy="4115745"/>
            <a:chOff x="1004424" y="2126968"/>
            <a:chExt cx="10183152" cy="4115745"/>
          </a:xfrm>
        </p:grpSpPr>
        <p:grpSp>
          <p:nvGrpSpPr>
            <p:cNvPr id="11" name="그룹 10">
              <a:extLst>
                <a:ext uri="{FF2B5EF4-FFF2-40B4-BE49-F238E27FC236}">
                  <a16:creationId xmlns:a16="http://schemas.microsoft.com/office/drawing/2014/main" id="{B0A79193-AFB1-E544-AA2B-A874466E4D61}"/>
                </a:ext>
              </a:extLst>
            </p:cNvPr>
            <p:cNvGrpSpPr/>
            <p:nvPr/>
          </p:nvGrpSpPr>
          <p:grpSpPr>
            <a:xfrm>
              <a:off x="1004424" y="2816028"/>
              <a:ext cx="10183152" cy="3426685"/>
              <a:chOff x="1631556" y="2704836"/>
              <a:chExt cx="10183152" cy="3426685"/>
            </a:xfrm>
          </p:grpSpPr>
          <p:pic>
            <p:nvPicPr>
              <p:cNvPr id="8" name="그림 7">
                <a:extLst>
                  <a:ext uri="{FF2B5EF4-FFF2-40B4-BE49-F238E27FC236}">
                    <a16:creationId xmlns:a16="http://schemas.microsoft.com/office/drawing/2014/main" id="{20680844-6626-A46C-AB35-AF8ACDEF049D}"/>
                  </a:ext>
                </a:extLst>
              </p:cNvPr>
              <p:cNvPicPr>
                <a:picLocks noChangeAspect="1"/>
              </p:cNvPicPr>
              <p:nvPr/>
            </p:nvPicPr>
            <p:blipFill>
              <a:blip r:embed="rId2"/>
              <a:stretch>
                <a:fillRect/>
              </a:stretch>
            </p:blipFill>
            <p:spPr>
              <a:xfrm>
                <a:off x="1631556" y="2704836"/>
                <a:ext cx="8928887" cy="2247103"/>
              </a:xfrm>
              <a:prstGeom prst="rect">
                <a:avLst/>
              </a:prstGeom>
              <a:ln>
                <a:solidFill>
                  <a:schemeClr val="bg1">
                    <a:lumMod val="50000"/>
                  </a:schemeClr>
                </a:solidFill>
              </a:ln>
            </p:spPr>
          </p:pic>
          <p:pic>
            <p:nvPicPr>
              <p:cNvPr id="10" name="그림 9">
                <a:extLst>
                  <a:ext uri="{FF2B5EF4-FFF2-40B4-BE49-F238E27FC236}">
                    <a16:creationId xmlns:a16="http://schemas.microsoft.com/office/drawing/2014/main" id="{8FC1D5F7-250B-BC25-ED39-46E1438FDF4F}"/>
                  </a:ext>
                </a:extLst>
              </p:cNvPr>
              <p:cNvPicPr>
                <a:picLocks noChangeAspect="1"/>
              </p:cNvPicPr>
              <p:nvPr/>
            </p:nvPicPr>
            <p:blipFill>
              <a:blip r:embed="rId3"/>
              <a:stretch>
                <a:fillRect/>
              </a:stretch>
            </p:blipFill>
            <p:spPr>
              <a:xfrm>
                <a:off x="2885821" y="3884417"/>
                <a:ext cx="8928887" cy="2247104"/>
              </a:xfrm>
              <a:prstGeom prst="rect">
                <a:avLst/>
              </a:prstGeom>
              <a:ln>
                <a:solidFill>
                  <a:schemeClr val="bg1">
                    <a:lumMod val="50000"/>
                  </a:schemeClr>
                </a:solidFill>
              </a:ln>
            </p:spPr>
          </p:pic>
        </p:grpSp>
        <p:sp>
          <p:nvSpPr>
            <p:cNvPr id="13" name="TextBox 12">
              <a:extLst>
                <a:ext uri="{FF2B5EF4-FFF2-40B4-BE49-F238E27FC236}">
                  <a16:creationId xmlns:a16="http://schemas.microsoft.com/office/drawing/2014/main" id="{6C5F5FAE-117B-2E01-A0E4-1613FF3E4A1D}"/>
                </a:ext>
              </a:extLst>
            </p:cNvPr>
            <p:cNvSpPr txBox="1"/>
            <p:nvPr/>
          </p:nvSpPr>
          <p:spPr>
            <a:xfrm>
              <a:off x="3047326" y="2126968"/>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clusterrolebindings</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a:t>
              </a:r>
              <a:r>
                <a:rPr lang="en-US" altLang="ko-KR" sz="1000" b="1" dirty="0" err="1">
                  <a:solidFill>
                    <a:srgbClr val="FF0000"/>
                  </a:solidFill>
                </a:rPr>
                <a:t>clusterroles</a:t>
              </a:r>
              <a:endParaRPr lang="ko-KR" altLang="en-US" sz="1000" b="1" dirty="0">
                <a:solidFill>
                  <a:srgbClr val="FF0000"/>
                </a:solidFill>
              </a:endParaRPr>
            </a:p>
          </p:txBody>
        </p:sp>
        <p:sp>
          <p:nvSpPr>
            <p:cNvPr id="14" name="화살표: 아래쪽 13">
              <a:extLst>
                <a:ext uri="{FF2B5EF4-FFF2-40B4-BE49-F238E27FC236}">
                  <a16:creationId xmlns:a16="http://schemas.microsoft.com/office/drawing/2014/main" id="{68826A31-18DF-3D59-F187-DDDB4A5F7469}"/>
                </a:ext>
              </a:extLst>
            </p:cNvPr>
            <p:cNvSpPr/>
            <p:nvPr/>
          </p:nvSpPr>
          <p:spPr>
            <a:xfrm>
              <a:off x="5865377" y="2524715"/>
              <a:ext cx="461246"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262626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Control(RBAC)(44/46)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Default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The most important roles are the </a:t>
            </a:r>
            <a:r>
              <a:rPr lang="en-US" altLang="ko-KR" sz="1400" b="1" dirty="0">
                <a:solidFill>
                  <a:srgbClr val="FF0000"/>
                </a:solidFill>
              </a:rPr>
              <a:t>view</a:t>
            </a:r>
            <a:r>
              <a:rPr lang="en-US" altLang="ko-KR" sz="1400" b="1" dirty="0"/>
              <a:t>, </a:t>
            </a:r>
            <a:r>
              <a:rPr lang="en-US" altLang="ko-KR" sz="1400" b="1" dirty="0">
                <a:solidFill>
                  <a:srgbClr val="FF0000"/>
                </a:solidFill>
              </a:rPr>
              <a:t>edit</a:t>
            </a:r>
            <a:r>
              <a:rPr lang="en-US" altLang="ko-KR" sz="1400" b="1" dirty="0"/>
              <a:t>, </a:t>
            </a:r>
            <a:r>
              <a:rPr lang="en-US" altLang="ko-KR" sz="1400" b="1" dirty="0">
                <a:solidFill>
                  <a:srgbClr val="FF0000"/>
                </a:solidFill>
              </a:rPr>
              <a:t>admin</a:t>
            </a:r>
            <a:r>
              <a:rPr lang="en-US" altLang="ko-KR" sz="1400" b="1" dirty="0"/>
              <a:t>, and </a:t>
            </a:r>
            <a:r>
              <a:rPr lang="en-US" altLang="ko-KR" sz="1400" b="1" dirty="0">
                <a:solidFill>
                  <a:srgbClr val="FF0000"/>
                </a:solidFill>
              </a:rPr>
              <a:t>cluster-admin</a:t>
            </a:r>
            <a:r>
              <a:rPr lang="en-US" altLang="ko-KR" sz="1400" b="1" dirty="0"/>
              <a:t> </a:t>
            </a:r>
            <a:r>
              <a:rPr lang="en-US" altLang="ko-KR" sz="1400" b="1" dirty="0" err="1"/>
              <a:t>ClusterRoles</a:t>
            </a:r>
            <a:r>
              <a:rPr lang="en-US" altLang="ko-KR" sz="1400" dirty="0"/>
              <a:t>. They’re meant </a:t>
            </a:r>
            <a:r>
              <a:rPr lang="en-US" altLang="ko-KR" sz="1400" b="1" dirty="0"/>
              <a:t>to be bound to </a:t>
            </a:r>
            <a:r>
              <a:rPr lang="en-US" altLang="ko-KR" sz="1400" b="1" dirty="0" err="1"/>
              <a:t>ServiceAccounts</a:t>
            </a:r>
            <a:r>
              <a:rPr lang="en-US" altLang="ko-KR" sz="1400" b="1" dirty="0"/>
              <a:t> used by user-defined pods</a:t>
            </a:r>
            <a:r>
              <a:rPr lang="en-US" altLang="ko-KR" sz="1400" dirty="0"/>
              <a:t>.</a:t>
            </a:r>
          </a:p>
          <a:p>
            <a:pPr lvl="1">
              <a:buFont typeface="Wingdings" panose="05000000000000000000" pitchFamily="2" charset="2"/>
              <a:buChar char="§"/>
            </a:pPr>
            <a:r>
              <a:rPr lang="en-US" altLang="ko-KR" sz="1400" dirty="0"/>
              <a:t>You already used </a:t>
            </a:r>
            <a:r>
              <a:rPr lang="en-US" altLang="ko-KR" sz="1400" b="1" dirty="0">
                <a:solidFill>
                  <a:srgbClr val="FF0000"/>
                </a:solidFill>
              </a:rPr>
              <a:t>the default view </a:t>
            </a:r>
            <a:r>
              <a:rPr lang="en-US" altLang="ko-KR" sz="1400" b="1" dirty="0" err="1"/>
              <a:t>ClusterRole</a:t>
            </a:r>
            <a:r>
              <a:rPr lang="en-US" altLang="ko-KR" sz="1400" b="1" dirty="0"/>
              <a:t> </a:t>
            </a:r>
            <a:r>
              <a:rPr lang="en-US" altLang="ko-KR" sz="1400" dirty="0"/>
              <a:t>in the previous example. </a:t>
            </a:r>
            <a:r>
              <a:rPr lang="en-US" altLang="ko-KR" sz="1400" b="1" dirty="0"/>
              <a:t>It allows reading most resources in a namespace, except for Roles, </a:t>
            </a:r>
            <a:r>
              <a:rPr lang="en-US" altLang="ko-KR" sz="1400" b="1" dirty="0" err="1"/>
              <a:t>RoleBindings</a:t>
            </a:r>
            <a:r>
              <a:rPr lang="en-US" altLang="ko-KR" sz="1400" b="1" dirty="0"/>
              <a:t>, and Secrets</a:t>
            </a:r>
            <a:r>
              <a:rPr lang="en-US" altLang="ko-KR" sz="1400" dirty="0"/>
              <a:t>. You’re probably wondering, why not Secrets? Because one of those Secrets might include an authentication token with greater privileges than those defined in the view </a:t>
            </a:r>
            <a:r>
              <a:rPr lang="en-US" altLang="ko-KR" sz="1400" b="1" dirty="0" err="1"/>
              <a:t>ClusterRole</a:t>
            </a:r>
            <a:r>
              <a:rPr lang="en-US" altLang="ko-KR" sz="1400" dirty="0"/>
              <a:t> and could allow the user to masquerade as a different user to gain additional privileges (privilege escalation).</a:t>
            </a:r>
          </a:p>
          <a:p>
            <a:pPr lvl="1">
              <a:buFont typeface="Wingdings" panose="05000000000000000000" pitchFamily="2" charset="2"/>
              <a:buChar char="§"/>
            </a:pPr>
            <a:r>
              <a:rPr lang="en-US" altLang="ko-KR" sz="1400" b="1" dirty="0"/>
              <a:t>Next is the </a:t>
            </a:r>
            <a:r>
              <a:rPr lang="en-US" altLang="ko-KR" sz="1400" b="1" dirty="0">
                <a:solidFill>
                  <a:srgbClr val="FF0000"/>
                </a:solidFill>
              </a:rPr>
              <a:t>edit</a:t>
            </a:r>
            <a:r>
              <a:rPr lang="en-US" altLang="ko-KR" sz="1400" b="1" dirty="0"/>
              <a:t> </a:t>
            </a:r>
            <a:r>
              <a:rPr lang="en-US" altLang="ko-KR" sz="1400" b="1" dirty="0" err="1"/>
              <a:t>ClusterRole</a:t>
            </a:r>
            <a:r>
              <a:rPr lang="en-US" altLang="ko-KR" sz="1400" b="1" dirty="0"/>
              <a:t>, which allows you to </a:t>
            </a:r>
            <a:r>
              <a:rPr lang="en-US" altLang="ko-KR" sz="1400" b="1" dirty="0">
                <a:solidFill>
                  <a:srgbClr val="FF0000"/>
                </a:solidFill>
              </a:rPr>
              <a:t>modify resources </a:t>
            </a:r>
            <a:r>
              <a:rPr lang="en-US" altLang="ko-KR" sz="1400" b="1" dirty="0"/>
              <a:t>in a namespace</a:t>
            </a:r>
            <a:r>
              <a:rPr lang="en-US" altLang="ko-KR" sz="1400" dirty="0"/>
              <a:t>, but also allows both reading and modifying Secrets. </a:t>
            </a:r>
            <a:r>
              <a:rPr lang="en-US" altLang="ko-KR" sz="1400" b="1" dirty="0"/>
              <a:t>It doesn’t, however, allow viewing or modifying Roles or </a:t>
            </a:r>
            <a:r>
              <a:rPr lang="en-US" altLang="ko-KR" sz="1400" b="1" dirty="0" err="1"/>
              <a:t>RoleBindings</a:t>
            </a:r>
            <a:r>
              <a:rPr lang="en-US" altLang="ko-KR" sz="1400" dirty="0"/>
              <a:t>—again, this is to </a:t>
            </a:r>
            <a:r>
              <a:rPr lang="en-US" altLang="ko-KR" sz="1400" b="1" dirty="0"/>
              <a:t>prevent </a:t>
            </a:r>
            <a:r>
              <a:rPr lang="en-US" altLang="ko-KR" sz="1400" b="1" dirty="0">
                <a:solidFill>
                  <a:srgbClr val="FF0000"/>
                </a:solidFill>
              </a:rPr>
              <a:t>privilege escalation</a:t>
            </a:r>
            <a:r>
              <a:rPr lang="en-US" altLang="ko-KR" sz="1400" dirty="0"/>
              <a:t>.</a:t>
            </a:r>
          </a:p>
          <a:p>
            <a:pPr lvl="1">
              <a:buFont typeface="Wingdings" panose="05000000000000000000" pitchFamily="2" charset="2"/>
              <a:buChar char="§"/>
            </a:pPr>
            <a:r>
              <a:rPr lang="en-US" altLang="ko-KR" sz="1400" b="1" dirty="0"/>
              <a:t>Complete control of the resources in a namespace is granted in the </a:t>
            </a:r>
            <a:r>
              <a:rPr lang="en-US" altLang="ko-KR" sz="1400" b="1" dirty="0">
                <a:solidFill>
                  <a:srgbClr val="FF0000"/>
                </a:solidFill>
              </a:rPr>
              <a:t>admin</a:t>
            </a:r>
            <a:r>
              <a:rPr lang="en-US" altLang="ko-KR" sz="1400" b="1" dirty="0"/>
              <a:t> </a:t>
            </a:r>
            <a:r>
              <a:rPr lang="en-US" altLang="ko-KR" sz="1400" b="1" dirty="0" err="1"/>
              <a:t>ClusterRole</a:t>
            </a:r>
            <a:r>
              <a:rPr lang="en-US" altLang="ko-KR" sz="1400" dirty="0"/>
              <a:t>. </a:t>
            </a:r>
            <a:r>
              <a:rPr lang="en-US" altLang="ko-KR" sz="1400" b="1" dirty="0"/>
              <a:t>Subjects with this </a:t>
            </a:r>
            <a:r>
              <a:rPr lang="en-US" altLang="ko-KR" sz="1400" b="1" dirty="0" err="1"/>
              <a:t>ClusterRole</a:t>
            </a:r>
            <a:r>
              <a:rPr lang="en-US" altLang="ko-KR" sz="1400" b="1" dirty="0"/>
              <a:t> can read and modify any resource in the namespace</a:t>
            </a:r>
            <a:r>
              <a:rPr lang="en-US" altLang="ko-KR" sz="1400" dirty="0"/>
              <a:t>, </a:t>
            </a:r>
            <a:r>
              <a:rPr lang="en-US" altLang="ko-KR" sz="1400" b="1" dirty="0"/>
              <a:t>except </a:t>
            </a:r>
            <a:r>
              <a:rPr lang="en-US" altLang="ko-KR" sz="1400" b="1" dirty="0" err="1">
                <a:solidFill>
                  <a:srgbClr val="FF0000"/>
                </a:solidFill>
              </a:rPr>
              <a:t>ResourceQuotas</a:t>
            </a:r>
            <a:r>
              <a:rPr lang="en-US" altLang="ko-KR" sz="1400" b="1" dirty="0"/>
              <a:t> and the Namespace resource itself</a:t>
            </a:r>
            <a:r>
              <a:rPr lang="en-US" altLang="ko-KR" sz="1400" dirty="0"/>
              <a:t>. The main difference between the </a:t>
            </a:r>
            <a:r>
              <a:rPr lang="en-US" altLang="ko-KR" sz="1400" b="1" dirty="0"/>
              <a:t>edit</a:t>
            </a:r>
            <a:r>
              <a:rPr lang="en-US" altLang="ko-KR" sz="1400" dirty="0"/>
              <a:t> and the </a:t>
            </a:r>
            <a:r>
              <a:rPr lang="en-US" altLang="ko-KR" sz="1400" b="1" dirty="0"/>
              <a:t>admin</a:t>
            </a:r>
            <a:r>
              <a:rPr lang="en-US" altLang="ko-KR" sz="1400" dirty="0"/>
              <a:t> </a:t>
            </a:r>
            <a:r>
              <a:rPr lang="en-US" altLang="ko-KR" sz="1400" b="1" dirty="0" err="1"/>
              <a:t>ClusterRoles</a:t>
            </a:r>
            <a:r>
              <a:rPr lang="en-US" altLang="ko-KR" sz="1400" dirty="0"/>
              <a:t> is in </a:t>
            </a:r>
            <a:r>
              <a:rPr lang="en-US" altLang="ko-KR" sz="1400" b="1" dirty="0"/>
              <a:t>the ability to view and modify Roles and </a:t>
            </a:r>
            <a:r>
              <a:rPr lang="en-US" altLang="ko-KR" sz="1400" b="1" dirty="0" err="1"/>
              <a:t>RoleBindings</a:t>
            </a:r>
            <a:r>
              <a:rPr lang="en-US" altLang="ko-KR" sz="1400" b="1" dirty="0"/>
              <a:t> in the namespace</a:t>
            </a:r>
            <a:r>
              <a:rPr lang="en-US" altLang="ko-KR" sz="1400" dirty="0"/>
              <a:t>.</a:t>
            </a:r>
          </a:p>
          <a:p>
            <a:pPr lvl="1">
              <a:buFont typeface="Wingdings" panose="05000000000000000000" pitchFamily="2" charset="2"/>
              <a:buChar char="§"/>
            </a:pPr>
            <a:r>
              <a:rPr lang="en-US" altLang="ko-KR" sz="1400" b="1" dirty="0"/>
              <a:t>NOTE : To prevent privilege escalation, the API server only allows users to create and update Roles if they already have all the permissions listed in that Role </a:t>
            </a:r>
            <a:r>
              <a:rPr lang="en-US" altLang="ko-KR" sz="1400" dirty="0"/>
              <a:t>(and for the same scope).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30DA5EB2-0C40-4CA1-E24C-54F8DF9859ED}"/>
              </a:ext>
            </a:extLst>
          </p:cNvPr>
          <p:cNvPicPr>
            <a:picLocks noChangeAspect="1"/>
          </p:cNvPicPr>
          <p:nvPr/>
        </p:nvPicPr>
        <p:blipFill>
          <a:blip r:embed="rId2"/>
          <a:stretch>
            <a:fillRect/>
          </a:stretch>
        </p:blipFill>
        <p:spPr>
          <a:xfrm>
            <a:off x="8610600" y="4506254"/>
            <a:ext cx="2743199" cy="1902776"/>
          </a:xfrm>
          <a:prstGeom prst="rect">
            <a:avLst/>
          </a:prstGeom>
        </p:spPr>
      </p:pic>
    </p:spTree>
    <p:extLst>
      <p:ext uri="{BB962C8B-B14F-4D97-AF65-F5344CB8AC3E}">
        <p14:creationId xmlns:p14="http://schemas.microsoft.com/office/powerpoint/2010/main" val="22100746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Control(RBAC)(45/46)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Understanding Default </a:t>
            </a:r>
            <a:r>
              <a:rPr lang="en-US" altLang="ko-KR" sz="1800" b="1" dirty="0" err="1"/>
              <a:t>ClusterRoles</a:t>
            </a:r>
            <a:r>
              <a:rPr lang="en-US" altLang="ko-KR" sz="1800" b="1" dirty="0"/>
              <a:t> and </a:t>
            </a:r>
            <a:r>
              <a:rPr lang="en-US" altLang="ko-KR" sz="1800" b="1" dirty="0" err="1"/>
              <a:t>ClusterRoleBindings</a:t>
            </a:r>
            <a:r>
              <a:rPr lang="en-US" altLang="ko-KR" sz="1800" b="1" dirty="0"/>
              <a:t> :</a:t>
            </a:r>
            <a:endParaRPr lang="en-US" altLang="ko-KR" sz="1400" dirty="0"/>
          </a:p>
          <a:p>
            <a:pPr lvl="1">
              <a:buFont typeface="Wingdings" panose="05000000000000000000" pitchFamily="2" charset="2"/>
              <a:buChar char="§"/>
            </a:pPr>
            <a:r>
              <a:rPr lang="en-US" altLang="ko-KR" sz="1400" b="1" dirty="0"/>
              <a:t>Complete control of the Kubernetes cluster can be given by assigning the </a:t>
            </a:r>
            <a:r>
              <a:rPr lang="en-US" altLang="ko-KR" sz="1400" b="1" dirty="0">
                <a:solidFill>
                  <a:srgbClr val="FF0000"/>
                </a:solidFill>
              </a:rPr>
              <a:t>cluster-admin </a:t>
            </a:r>
            <a:r>
              <a:rPr lang="en-US" altLang="ko-KR" sz="1400" b="1" dirty="0" err="1"/>
              <a:t>ClusterRole</a:t>
            </a:r>
            <a:r>
              <a:rPr lang="en-US" altLang="ko-KR" sz="1400" b="1" dirty="0"/>
              <a:t> to a subject</a:t>
            </a:r>
            <a:r>
              <a:rPr lang="en-US" altLang="ko-KR" sz="1400" dirty="0"/>
              <a:t>. The admin </a:t>
            </a:r>
            <a:r>
              <a:rPr lang="en-US" altLang="ko-KR" sz="1400" dirty="0" err="1"/>
              <a:t>ClusterRole</a:t>
            </a:r>
            <a:r>
              <a:rPr lang="en-US" altLang="ko-KR" sz="1400" dirty="0"/>
              <a:t> doesn’t allow users to modify the namespace’s </a:t>
            </a:r>
            <a:r>
              <a:rPr lang="en-US" altLang="ko-KR" sz="1400" b="1" dirty="0" err="1"/>
              <a:t>ResourceQuota</a:t>
            </a:r>
            <a:r>
              <a:rPr lang="en-US" altLang="ko-KR" sz="1400" dirty="0"/>
              <a:t> objects or the Namespace resource itself. </a:t>
            </a:r>
            <a:r>
              <a:rPr lang="en-US" altLang="ko-KR" sz="1400" b="1" dirty="0"/>
              <a:t>If you want to allow a user to do that, you need to create a </a:t>
            </a:r>
            <a:r>
              <a:rPr lang="en-US" altLang="ko-KR" sz="1400" b="1" dirty="0" err="1"/>
              <a:t>RoleBinding</a:t>
            </a:r>
            <a:r>
              <a:rPr lang="en-US" altLang="ko-KR" sz="1400" b="1" dirty="0"/>
              <a:t> that references the cluster-admin </a:t>
            </a:r>
            <a:r>
              <a:rPr lang="en-US" altLang="ko-KR" sz="1400" b="1" dirty="0" err="1"/>
              <a:t>ClusterRole</a:t>
            </a:r>
            <a:r>
              <a:rPr lang="en-US" altLang="ko-KR" sz="1400" dirty="0"/>
              <a:t>. </a:t>
            </a:r>
            <a:r>
              <a:rPr lang="en-US" altLang="ko-KR" sz="1400" b="1" dirty="0"/>
              <a:t>This gives the user included in the </a:t>
            </a:r>
            <a:r>
              <a:rPr lang="en-US" altLang="ko-KR" sz="1400" b="1" dirty="0" err="1"/>
              <a:t>RoleBinding</a:t>
            </a:r>
            <a:r>
              <a:rPr lang="en-US" altLang="ko-KR" sz="1400" b="1" dirty="0"/>
              <a:t> complete control over all aspects of the namespace in which the </a:t>
            </a:r>
            <a:r>
              <a:rPr lang="en-US" altLang="ko-KR" sz="1400" b="1" dirty="0" err="1"/>
              <a:t>RoleBinding</a:t>
            </a:r>
            <a:r>
              <a:rPr lang="en-US" altLang="ko-KR" sz="1400" b="1" dirty="0"/>
              <a:t> is created</a:t>
            </a:r>
            <a:r>
              <a:rPr lang="en-US" altLang="ko-KR" sz="1400" dirty="0"/>
              <a:t>.</a:t>
            </a:r>
          </a:p>
          <a:p>
            <a:pPr lvl="1">
              <a:buFont typeface="Wingdings" panose="05000000000000000000" pitchFamily="2" charset="2"/>
              <a:buChar char="§"/>
            </a:pPr>
            <a:r>
              <a:rPr lang="en-US" altLang="ko-KR" sz="1400" dirty="0"/>
              <a:t>If you’ve paid attention, you probably already know </a:t>
            </a:r>
            <a:r>
              <a:rPr lang="en-US" altLang="ko-KR" sz="1400" b="1" dirty="0"/>
              <a:t>how to give users complete control of all the namespaces in the cluster</a:t>
            </a:r>
            <a:r>
              <a:rPr lang="en-US" altLang="ko-KR" sz="1400" dirty="0"/>
              <a:t>. </a:t>
            </a:r>
            <a:r>
              <a:rPr lang="en-US" altLang="ko-KR" sz="1400" b="1" dirty="0"/>
              <a:t>By referencing the cluster-admin </a:t>
            </a:r>
            <a:r>
              <a:rPr lang="en-US" altLang="ko-KR" sz="1400" b="1" dirty="0" err="1"/>
              <a:t>ClusterRole</a:t>
            </a:r>
            <a:r>
              <a:rPr lang="en-US" altLang="ko-KR" sz="1400" b="1" dirty="0"/>
              <a:t> in a </a:t>
            </a:r>
            <a:r>
              <a:rPr lang="en-US" altLang="ko-KR" sz="1400" b="1" dirty="0" err="1"/>
              <a:t>ClusterRoleBinding</a:t>
            </a:r>
            <a:r>
              <a:rPr lang="en-US" altLang="ko-KR" sz="1400" b="1" dirty="0"/>
              <a:t> instead of a </a:t>
            </a:r>
            <a:r>
              <a:rPr lang="en-US" altLang="ko-KR" sz="1400" b="1" dirty="0" err="1"/>
              <a:t>RoleBinding</a:t>
            </a:r>
            <a:r>
              <a:rPr lang="en-US" altLang="ko-KR" sz="1400" dirty="0"/>
              <a:t>.</a:t>
            </a:r>
          </a:p>
          <a:p>
            <a:pPr lvl="1">
              <a:buFont typeface="Wingdings" panose="05000000000000000000" pitchFamily="2" charset="2"/>
              <a:buChar char="§"/>
            </a:pPr>
            <a:r>
              <a:rPr lang="en-US" altLang="ko-KR" sz="1400" b="1" dirty="0"/>
              <a:t>The list of default </a:t>
            </a:r>
            <a:r>
              <a:rPr lang="en-US" altLang="ko-KR" sz="1400" b="1" dirty="0" err="1"/>
              <a:t>ClusterRoles</a:t>
            </a:r>
            <a:r>
              <a:rPr lang="en-US" altLang="ko-KR" sz="1400" b="1" dirty="0"/>
              <a:t> includes a large number of other </a:t>
            </a:r>
            <a:r>
              <a:rPr lang="en-US" altLang="ko-KR" sz="1400" b="1" dirty="0" err="1"/>
              <a:t>ClusterRoles</a:t>
            </a:r>
            <a:r>
              <a:rPr lang="en-US" altLang="ko-KR" sz="1400" b="1" dirty="0"/>
              <a:t>, which start with the “</a:t>
            </a:r>
            <a:r>
              <a:rPr lang="en-US" altLang="ko-KR" sz="1400" b="1" dirty="0">
                <a:solidFill>
                  <a:srgbClr val="FF0000"/>
                </a:solidFill>
              </a:rPr>
              <a:t>system:</a:t>
            </a:r>
            <a:r>
              <a:rPr lang="en-US" altLang="ko-KR" sz="1400" b="1" dirty="0"/>
              <a:t>” prefix</a:t>
            </a:r>
            <a:r>
              <a:rPr lang="en-US" altLang="ko-KR" sz="1400" dirty="0"/>
              <a:t>. </a:t>
            </a:r>
            <a:r>
              <a:rPr lang="en-US" altLang="ko-KR" sz="1400" b="1" dirty="0"/>
              <a:t>These are meant to be used by the various Kubernetes components</a:t>
            </a:r>
            <a:r>
              <a:rPr lang="en-US" altLang="ko-KR" sz="1400" dirty="0"/>
              <a:t>. Among them, you’ll find roles such as “</a:t>
            </a:r>
            <a:r>
              <a:rPr lang="en-US" altLang="ko-KR" sz="1400" b="1" dirty="0" err="1">
                <a:solidFill>
                  <a:srgbClr val="FF0000"/>
                </a:solidFill>
              </a:rPr>
              <a:t>system:kube-scheduler</a:t>
            </a:r>
            <a:r>
              <a:rPr lang="en-US" altLang="ko-KR" sz="1400" dirty="0"/>
              <a:t>”, which is obviously used by the </a:t>
            </a:r>
            <a:r>
              <a:rPr lang="en-US" altLang="ko-KR" sz="1400" b="1" dirty="0"/>
              <a:t>Scheduler</a:t>
            </a:r>
            <a:r>
              <a:rPr lang="en-US" altLang="ko-KR" sz="1400" dirty="0"/>
              <a:t>, “</a:t>
            </a:r>
            <a:r>
              <a:rPr lang="en-US" altLang="ko-KR" sz="1400" b="1" dirty="0" err="1">
                <a:solidFill>
                  <a:srgbClr val="FF0000"/>
                </a:solidFill>
              </a:rPr>
              <a:t>system:node</a:t>
            </a:r>
            <a:r>
              <a:rPr lang="en-US" altLang="ko-KR" sz="1400" dirty="0"/>
              <a:t>”, which is used by the </a:t>
            </a:r>
            <a:r>
              <a:rPr lang="en-US" altLang="ko-KR" sz="1400" b="1" dirty="0" err="1"/>
              <a:t>Kubelets</a:t>
            </a:r>
            <a:r>
              <a:rPr lang="en-US" altLang="ko-KR" sz="1400" dirty="0"/>
              <a:t>, and so on.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24DD2BA-01B9-3AA9-1878-7497A0EFDDA4}"/>
              </a:ext>
            </a:extLst>
          </p:cNvPr>
          <p:cNvPicPr>
            <a:picLocks noChangeAspect="1"/>
          </p:cNvPicPr>
          <p:nvPr/>
        </p:nvPicPr>
        <p:blipFill>
          <a:blip r:embed="rId2"/>
          <a:stretch>
            <a:fillRect/>
          </a:stretch>
        </p:blipFill>
        <p:spPr>
          <a:xfrm>
            <a:off x="6428318" y="3466230"/>
            <a:ext cx="4925482" cy="2942800"/>
          </a:xfrm>
          <a:prstGeom prst="rect">
            <a:avLst/>
          </a:prstGeom>
        </p:spPr>
      </p:pic>
      <p:sp>
        <p:nvSpPr>
          <p:cNvPr id="10" name="TextBox 9">
            <a:extLst>
              <a:ext uri="{FF2B5EF4-FFF2-40B4-BE49-F238E27FC236}">
                <a16:creationId xmlns:a16="http://schemas.microsoft.com/office/drawing/2014/main" id="{1DE2E700-04E6-8632-BB3D-ACC930FEFC29}"/>
              </a:ext>
            </a:extLst>
          </p:cNvPr>
          <p:cNvSpPr txBox="1"/>
          <p:nvPr/>
        </p:nvSpPr>
        <p:spPr>
          <a:xfrm>
            <a:off x="838200" y="3372861"/>
            <a:ext cx="5590118" cy="2289345"/>
          </a:xfrm>
          <a:prstGeom prst="rect">
            <a:avLst/>
          </a:prstGeom>
          <a:noFill/>
        </p:spPr>
        <p:txBody>
          <a:bodyPr wrap="square">
            <a:spAutoFit/>
          </a:bodyPr>
          <a:lstStyle/>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Although the Controller Manager runs as a single pod, each controller running inside it can use a separate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ClusterRole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and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ClusterRoleBinding</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(they’re prefixed with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system:controller</a:t>
            </a:r>
            <a:r>
              <a:rPr kumimoji="0" lang="en-US" altLang="ko-KR" sz="14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685800" marR="0" lvl="1" indent="-228600" algn="l" defTabSz="914400" rtl="0" eaLnBrk="1" fontAlgn="auto" latinLnBrk="1" hangingPunct="1">
              <a:lnSpc>
                <a:spcPct val="90000"/>
              </a:lnSpc>
              <a:spcBef>
                <a:spcPts val="500"/>
              </a:spcBef>
              <a:spcAft>
                <a:spcPts val="0"/>
              </a:spcAft>
              <a:buClrTx/>
              <a:buSzTx/>
              <a:buFont typeface="Wingdings" panose="05000000000000000000" pitchFamily="2" charset="2"/>
              <a:buChar char="§"/>
              <a:tabLst/>
              <a:defRPr/>
            </a:pP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Each of these system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ClusterRoles</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has a matching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ClusterRoleBinding</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which binds it to the user the system component authenticates as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The “</a:t>
            </a:r>
            <a:r>
              <a:rPr kumimoji="0" lang="en-US" altLang="ko-KR" sz="14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system:kube-scheduler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ClusterRoleBinding</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for example, assigns the identically named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ClusterRole</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to the “</a:t>
            </a:r>
            <a:r>
              <a:rPr kumimoji="0" lang="en-US" altLang="ko-KR" sz="14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system:kube-scheduler</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user</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4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which is the username the scheduler Authenticates as</a:t>
            </a:r>
            <a:r>
              <a:rPr kumimoji="0" lang="en-US" altLang="ko-KR" sz="14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p:txBody>
      </p:sp>
    </p:spTree>
    <p:extLst>
      <p:ext uri="{BB962C8B-B14F-4D97-AF65-F5344CB8AC3E}">
        <p14:creationId xmlns:p14="http://schemas.microsoft.com/office/powerpoint/2010/main" val="26354229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Securing the Cluster with Role-Based Access Control(RBAC)(46/46)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Granting Authorization Permissions Wisely :</a:t>
            </a:r>
            <a:endParaRPr lang="en-US" altLang="ko-KR" sz="1400" dirty="0"/>
          </a:p>
          <a:p>
            <a:pPr lvl="1">
              <a:buFont typeface="Wingdings" panose="05000000000000000000" pitchFamily="2" charset="2"/>
              <a:buChar char="§"/>
            </a:pPr>
            <a:r>
              <a:rPr lang="en-US" altLang="ko-KR" sz="1400" b="1" dirty="0"/>
              <a:t>By default, the </a:t>
            </a:r>
            <a:r>
              <a:rPr lang="en-US" altLang="ko-KR" sz="1400" b="1" dirty="0">
                <a:solidFill>
                  <a:srgbClr val="FF0000"/>
                </a:solidFill>
              </a:rPr>
              <a:t>default </a:t>
            </a:r>
            <a:r>
              <a:rPr lang="en-US" altLang="ko-KR" sz="1400" b="1" dirty="0" err="1">
                <a:solidFill>
                  <a:srgbClr val="FF0000"/>
                </a:solidFill>
              </a:rPr>
              <a:t>ServiceAccount</a:t>
            </a:r>
            <a:r>
              <a:rPr lang="en-US" altLang="ko-KR" sz="1400" b="1" dirty="0">
                <a:solidFill>
                  <a:srgbClr val="FF0000"/>
                </a:solidFill>
              </a:rPr>
              <a:t> </a:t>
            </a:r>
            <a:r>
              <a:rPr lang="en-US" altLang="ko-KR" sz="1400" b="1" dirty="0"/>
              <a:t>in a namespace has no permissions other than those of an unauthenticated user </a:t>
            </a:r>
            <a:r>
              <a:rPr lang="en-US" altLang="ko-KR" sz="1400" dirty="0"/>
              <a:t>(as you may remember from one of the previous examples, the “</a:t>
            </a:r>
            <a:r>
              <a:rPr lang="en-US" altLang="ko-KR" sz="1400" b="1" dirty="0" err="1"/>
              <a:t>system:discovery</a:t>
            </a:r>
            <a:r>
              <a:rPr lang="en-US" altLang="ko-KR" sz="1400" dirty="0"/>
              <a:t>” </a:t>
            </a:r>
            <a:r>
              <a:rPr lang="en-US" altLang="ko-KR" sz="1400" b="1" dirty="0" err="1"/>
              <a:t>ClusterRole</a:t>
            </a:r>
            <a:r>
              <a:rPr lang="en-US" altLang="ko-KR" sz="1400" dirty="0"/>
              <a:t> and </a:t>
            </a:r>
            <a:r>
              <a:rPr lang="en-US" altLang="ko-KR" sz="1400" b="1" dirty="0"/>
              <a:t>associated binding allow anyone to make GET requests on a few non-resource URLs)</a:t>
            </a:r>
            <a:r>
              <a:rPr lang="en-US" altLang="ko-KR" sz="1400" dirty="0"/>
              <a:t>. Therefore, pods, by default, can’t even view cluster state. It’s up to you to grant them appropriate permissions to do that.</a:t>
            </a:r>
          </a:p>
          <a:p>
            <a:pPr lvl="1">
              <a:buFont typeface="Wingdings" panose="05000000000000000000" pitchFamily="2" charset="2"/>
              <a:buChar char="§"/>
            </a:pPr>
            <a:r>
              <a:rPr lang="en-US" altLang="ko-KR" sz="1400" b="1" dirty="0"/>
              <a:t>Obviously, giving all your </a:t>
            </a:r>
            <a:r>
              <a:rPr lang="en-US" altLang="ko-KR" sz="1400" b="1" dirty="0" err="1"/>
              <a:t>ServiceAccounts</a:t>
            </a:r>
            <a:r>
              <a:rPr lang="en-US" altLang="ko-KR" sz="1400" b="1" dirty="0"/>
              <a:t> the </a:t>
            </a:r>
            <a:r>
              <a:rPr lang="en-US" altLang="ko-KR" sz="1400" b="1" dirty="0">
                <a:solidFill>
                  <a:srgbClr val="FF0000"/>
                </a:solidFill>
              </a:rPr>
              <a:t>cluster-admin</a:t>
            </a:r>
            <a:r>
              <a:rPr lang="en-US" altLang="ko-KR" sz="1400" b="1" dirty="0"/>
              <a:t> </a:t>
            </a:r>
            <a:r>
              <a:rPr lang="en-US" altLang="ko-KR" sz="1400" b="1" dirty="0" err="1"/>
              <a:t>ClusterRole</a:t>
            </a:r>
            <a:r>
              <a:rPr lang="en-US" altLang="ko-KR" sz="1400" b="1" dirty="0"/>
              <a:t> is a bad idea</a:t>
            </a:r>
            <a:r>
              <a:rPr lang="en-US" altLang="ko-KR" sz="1400" dirty="0"/>
              <a:t>. As is always the case with security, </a:t>
            </a:r>
            <a:r>
              <a:rPr lang="en-US" altLang="ko-KR" sz="1400" b="1" dirty="0"/>
              <a:t>it’s best to give everyone only the permissions they need to do their job and not a single permission more (principle of least privilege)</a:t>
            </a:r>
            <a:r>
              <a:rPr lang="en-US" altLang="ko-KR" sz="1400" dirty="0"/>
              <a:t>.</a:t>
            </a:r>
          </a:p>
          <a:p>
            <a:pPr lvl="1">
              <a:buFont typeface="Wingdings" panose="05000000000000000000" pitchFamily="2" charset="2"/>
              <a:buChar char="§"/>
            </a:pPr>
            <a:r>
              <a:rPr lang="en-US" altLang="ko-KR" sz="1400" b="1" dirty="0"/>
              <a:t>It’s a good idea to create a specific </a:t>
            </a:r>
            <a:r>
              <a:rPr lang="en-US" altLang="ko-KR" sz="1400" b="1" dirty="0" err="1"/>
              <a:t>ServiceAccount</a:t>
            </a:r>
            <a:r>
              <a:rPr lang="en-US" altLang="ko-KR" sz="1400" b="1" dirty="0"/>
              <a:t> for each pod (or a set of pod replicas) and then associate it with a tailor-made Role (or a </a:t>
            </a:r>
            <a:r>
              <a:rPr lang="en-US" altLang="ko-KR" sz="1400" b="1" dirty="0" err="1"/>
              <a:t>ClusterRole</a:t>
            </a:r>
            <a:r>
              <a:rPr lang="en-US" altLang="ko-KR" sz="1400" b="1" dirty="0"/>
              <a:t>) through a </a:t>
            </a:r>
            <a:r>
              <a:rPr lang="en-US" altLang="ko-KR" sz="1400" b="1" dirty="0" err="1"/>
              <a:t>RoleBinding</a:t>
            </a:r>
            <a:r>
              <a:rPr lang="en-US" altLang="ko-KR" sz="1400" b="1" dirty="0"/>
              <a:t> (not a </a:t>
            </a:r>
            <a:r>
              <a:rPr lang="en-US" altLang="ko-KR" sz="1400" b="1" dirty="0" err="1"/>
              <a:t>ClusterRoleBinding</a:t>
            </a:r>
            <a:r>
              <a:rPr lang="en-US" altLang="ko-KR" sz="1400" dirty="0"/>
              <a:t>, because that would give the pod access to resources in other namespaces, which is probably not what you want).</a:t>
            </a:r>
          </a:p>
          <a:p>
            <a:pPr lvl="1">
              <a:buFont typeface="Wingdings" panose="05000000000000000000" pitchFamily="2" charset="2"/>
              <a:buChar char="§"/>
            </a:pPr>
            <a:r>
              <a:rPr lang="en-US" altLang="ko-KR" sz="1400" b="1" dirty="0"/>
              <a:t>If one of your pods (the application running within it) only needs to read pods, while the other also needs to modify them, then create two different </a:t>
            </a:r>
            <a:r>
              <a:rPr lang="en-US" altLang="ko-KR" sz="1400" b="1" dirty="0" err="1"/>
              <a:t>ServiceAccounts</a:t>
            </a:r>
            <a:r>
              <a:rPr lang="en-US" altLang="ko-KR" sz="1400" b="1" dirty="0"/>
              <a:t> and make those pods use them by specifying the </a:t>
            </a:r>
            <a:r>
              <a:rPr lang="en-US" altLang="ko-KR" sz="1400" b="1" dirty="0" err="1">
                <a:solidFill>
                  <a:srgbClr val="FF0000"/>
                </a:solidFill>
              </a:rPr>
              <a:t>serviceAccountName</a:t>
            </a:r>
            <a:r>
              <a:rPr lang="en-US" altLang="ko-KR" sz="1400" b="1" dirty="0"/>
              <a:t> property in the pod spec</a:t>
            </a:r>
            <a:r>
              <a:rPr lang="en-US" altLang="ko-KR" sz="1400" dirty="0"/>
              <a:t>. </a:t>
            </a:r>
            <a:r>
              <a:rPr lang="en-US" altLang="ko-KR" sz="1400" b="1" dirty="0"/>
              <a:t>Don’t add all the necessary permissions required by both pods to the default </a:t>
            </a:r>
            <a:r>
              <a:rPr lang="en-US" altLang="ko-KR" sz="1400" b="1" dirty="0" err="1"/>
              <a:t>ServiceAccount</a:t>
            </a:r>
            <a:r>
              <a:rPr lang="en-US" altLang="ko-KR" sz="1400" b="1" dirty="0"/>
              <a:t> in the namespace</a:t>
            </a:r>
            <a:r>
              <a:rPr lang="en-US" altLang="ko-KR" sz="1400" dirty="0"/>
              <a:t>.</a:t>
            </a:r>
          </a:p>
          <a:p>
            <a:pPr lvl="1">
              <a:buFont typeface="Wingdings" panose="05000000000000000000" pitchFamily="2" charset="2"/>
              <a:buChar char="§"/>
            </a:pPr>
            <a:r>
              <a:rPr lang="en-US" altLang="ko-KR" sz="1400" b="1" dirty="0"/>
              <a:t>Your aim is to reduce the possibility of an intruder getting hold of your cluster</a:t>
            </a:r>
            <a:r>
              <a:rPr lang="en-US" altLang="ko-KR" sz="1400" dirty="0"/>
              <a:t>. Today’s complex apps contain many vulnerabilities. </a:t>
            </a:r>
            <a:r>
              <a:rPr lang="en-US" altLang="ko-KR" sz="1400" b="1" dirty="0">
                <a:solidFill>
                  <a:srgbClr val="FF0000"/>
                </a:solidFill>
              </a:rPr>
              <a:t>You should expect unwanted persons to eventually get their hands on the </a:t>
            </a:r>
            <a:r>
              <a:rPr lang="en-US" altLang="ko-KR" sz="1400" b="1" dirty="0" err="1">
                <a:solidFill>
                  <a:srgbClr val="FF0000"/>
                </a:solidFill>
              </a:rPr>
              <a:t>ServiceAccount’s</a:t>
            </a:r>
            <a:r>
              <a:rPr lang="en-US" altLang="ko-KR" sz="1400" b="1" dirty="0">
                <a:solidFill>
                  <a:srgbClr val="FF0000"/>
                </a:solidFill>
              </a:rPr>
              <a:t> authentication token</a:t>
            </a:r>
            <a:r>
              <a:rPr lang="en-US" altLang="ko-KR" sz="1400" b="1" dirty="0"/>
              <a:t>, so you should always constrain the </a:t>
            </a:r>
            <a:r>
              <a:rPr lang="en-US" altLang="ko-KR" sz="1400" b="1" dirty="0" err="1"/>
              <a:t>ServiceAccount</a:t>
            </a:r>
            <a:r>
              <a:rPr lang="en-US" altLang="ko-KR" sz="1400" b="1" dirty="0"/>
              <a:t> to prevent them from doing any real damage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2109E20-2A87-5BF1-3167-294D59B608CD}"/>
              </a:ext>
            </a:extLst>
          </p:cNvPr>
          <p:cNvPicPr>
            <a:picLocks noChangeAspect="1"/>
          </p:cNvPicPr>
          <p:nvPr/>
        </p:nvPicPr>
        <p:blipFill>
          <a:blip r:embed="rId2"/>
          <a:stretch>
            <a:fillRect/>
          </a:stretch>
        </p:blipFill>
        <p:spPr>
          <a:xfrm>
            <a:off x="5309218" y="4835466"/>
            <a:ext cx="1573564" cy="1573564"/>
          </a:xfrm>
          <a:prstGeom prst="rect">
            <a:avLst/>
          </a:prstGeom>
        </p:spPr>
      </p:pic>
    </p:spTree>
    <p:extLst>
      <p:ext uri="{BB962C8B-B14F-4D97-AF65-F5344CB8AC3E}">
        <p14:creationId xmlns:p14="http://schemas.microsoft.com/office/powerpoint/2010/main" val="29679526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Securing Cluster</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3" name="제목 1">
            <a:extLst>
              <a:ext uri="{FF2B5EF4-FFF2-40B4-BE49-F238E27FC236}">
                <a16:creationId xmlns:a16="http://schemas.microsoft.com/office/drawing/2014/main" id="{606EB878-34F2-3ABE-671D-3D1D3EE1AC3D}"/>
              </a:ext>
            </a:extLst>
          </p:cNvPr>
          <p:cNvSpPr txBox="1">
            <a:spLocks/>
          </p:cNvSpPr>
          <p:nvPr/>
        </p:nvSpPr>
        <p:spPr>
          <a:xfrm>
            <a:off x="1094829" y="3509963"/>
            <a:ext cx="10098593" cy="2387600"/>
          </a:xfrm>
          <a:prstGeom prst="rect">
            <a:avLst/>
          </a:prstGeom>
        </p:spPr>
        <p:txBody>
          <a:bodyPr vert="horz" lIns="91440" tIns="45720" rIns="91440" bIns="45720" rtlCol="0" anchor="t" anchorCtr="0">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b="1" dirty="0"/>
              <a:t>Custer Nodes and The Network Security</a:t>
            </a:r>
            <a:endParaRPr lang="ko-KR" altLang="en-US" sz="2800" b="1" dirty="0"/>
          </a:p>
        </p:txBody>
      </p:sp>
    </p:spTree>
    <p:extLst>
      <p:ext uri="{BB962C8B-B14F-4D97-AF65-F5344CB8AC3E}">
        <p14:creationId xmlns:p14="http://schemas.microsoft.com/office/powerpoint/2010/main" val="3223635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Separated Namespaces :</a:t>
            </a:r>
            <a:endParaRPr lang="en-US" altLang="ko-KR" sz="1400" dirty="0"/>
          </a:p>
          <a:p>
            <a:pPr lvl="1">
              <a:buFont typeface="Wingdings" panose="05000000000000000000" pitchFamily="2" charset="2"/>
              <a:buChar char="§"/>
            </a:pPr>
            <a:r>
              <a:rPr lang="en-US" altLang="ko-KR" sz="1400" b="1" dirty="0"/>
              <a:t>Containers in a pod usually run under separate </a:t>
            </a:r>
            <a:r>
              <a:rPr lang="en-US" altLang="ko-KR" sz="1400" b="1" dirty="0">
                <a:solidFill>
                  <a:srgbClr val="FF0000"/>
                </a:solidFill>
              </a:rPr>
              <a:t>Linux namespaces</a:t>
            </a:r>
            <a:r>
              <a:rPr lang="en-US" altLang="ko-KR" sz="1400" dirty="0"/>
              <a:t>, </a:t>
            </a:r>
            <a:r>
              <a:rPr lang="en-US" altLang="ko-KR" sz="1400" b="1" dirty="0"/>
              <a:t>which </a:t>
            </a:r>
            <a:r>
              <a:rPr lang="en-US" altLang="ko-KR" sz="1400" b="1" dirty="0">
                <a:solidFill>
                  <a:srgbClr val="FF0000"/>
                </a:solidFill>
              </a:rPr>
              <a:t>isolate</a:t>
            </a:r>
            <a:r>
              <a:rPr lang="en-US" altLang="ko-KR" sz="1400" b="1" dirty="0"/>
              <a:t> their processes from processes running in other containers or in the node’s default namespaces</a:t>
            </a:r>
            <a:r>
              <a:rPr lang="en-US" altLang="ko-KR" sz="1400" dirty="0"/>
              <a:t>.</a:t>
            </a:r>
          </a:p>
          <a:p>
            <a:pPr lvl="1">
              <a:buFont typeface="Wingdings" panose="05000000000000000000" pitchFamily="2" charset="2"/>
              <a:buChar char="§"/>
            </a:pPr>
            <a:r>
              <a:rPr lang="en-US" altLang="ko-KR" sz="1400" b="1" dirty="0"/>
              <a:t>For example, each pod gets its </a:t>
            </a:r>
            <a:r>
              <a:rPr lang="en-US" altLang="ko-KR" sz="1400" b="1" dirty="0">
                <a:solidFill>
                  <a:srgbClr val="FF0000"/>
                </a:solidFill>
              </a:rPr>
              <a:t>own IP </a:t>
            </a:r>
            <a:r>
              <a:rPr lang="en-US" altLang="ko-KR" sz="1400" b="1" dirty="0"/>
              <a:t>and </a:t>
            </a:r>
            <a:r>
              <a:rPr lang="en-US" altLang="ko-KR" sz="1400" b="1" dirty="0">
                <a:solidFill>
                  <a:srgbClr val="FF0000"/>
                </a:solidFill>
              </a:rPr>
              <a:t>port</a:t>
            </a:r>
            <a:r>
              <a:rPr lang="en-US" altLang="ko-KR" sz="1400" b="1" dirty="0"/>
              <a:t> space</a:t>
            </a:r>
            <a:r>
              <a:rPr lang="en-US" altLang="ko-KR" sz="1400" dirty="0"/>
              <a:t>, </a:t>
            </a:r>
            <a:r>
              <a:rPr lang="en-US" altLang="ko-KR" sz="1400" b="1" dirty="0"/>
              <a:t>because it uses its own </a:t>
            </a:r>
            <a:r>
              <a:rPr lang="en-US" altLang="ko-KR" sz="1400" b="1" dirty="0">
                <a:solidFill>
                  <a:srgbClr val="FF0000"/>
                </a:solidFill>
              </a:rPr>
              <a:t>network</a:t>
            </a:r>
            <a:r>
              <a:rPr lang="en-US" altLang="ko-KR" sz="1400" b="1" dirty="0"/>
              <a:t> namespace</a:t>
            </a:r>
            <a:r>
              <a:rPr lang="en-US" altLang="ko-KR" sz="1400" dirty="0"/>
              <a:t>. Likewise, </a:t>
            </a:r>
            <a:r>
              <a:rPr lang="en-US" altLang="ko-KR" sz="1400" b="1" dirty="0"/>
              <a:t>each pod has its own </a:t>
            </a:r>
            <a:r>
              <a:rPr lang="en-US" altLang="ko-KR" sz="1400" b="1" dirty="0">
                <a:solidFill>
                  <a:srgbClr val="FF0000"/>
                </a:solidFill>
              </a:rPr>
              <a:t>process tree</a:t>
            </a:r>
            <a:r>
              <a:rPr lang="en-US" altLang="ko-KR" sz="1400" dirty="0"/>
              <a:t>, </a:t>
            </a:r>
            <a:r>
              <a:rPr lang="en-US" altLang="ko-KR" sz="1400" b="1" dirty="0"/>
              <a:t>because it has its own </a:t>
            </a:r>
            <a:r>
              <a:rPr lang="en-US" altLang="ko-KR" sz="1400" b="1" dirty="0">
                <a:solidFill>
                  <a:srgbClr val="FF0000"/>
                </a:solidFill>
              </a:rPr>
              <a:t>PID(Process ID)</a:t>
            </a:r>
            <a:r>
              <a:rPr lang="en-US" altLang="ko-KR" sz="1400" b="1" dirty="0"/>
              <a:t> namespace</a:t>
            </a:r>
            <a:r>
              <a:rPr lang="en-US" altLang="ko-KR" sz="1400" dirty="0"/>
              <a:t>, and </a:t>
            </a:r>
            <a:r>
              <a:rPr lang="en-US" altLang="ko-KR" sz="1400" b="1" dirty="0"/>
              <a:t>it also uses its own </a:t>
            </a:r>
            <a:r>
              <a:rPr lang="en-US" altLang="ko-KR" sz="1400" b="1" dirty="0">
                <a:solidFill>
                  <a:srgbClr val="FF0000"/>
                </a:solidFill>
              </a:rPr>
              <a:t>IPC</a:t>
            </a:r>
            <a:r>
              <a:rPr lang="en-US" altLang="ko-KR" sz="1400" b="1" dirty="0"/>
              <a:t> namespace</a:t>
            </a:r>
            <a:r>
              <a:rPr lang="en-US" altLang="ko-KR" sz="1400" dirty="0"/>
              <a:t>, </a:t>
            </a:r>
            <a:r>
              <a:rPr lang="en-US" altLang="ko-KR" sz="1400" b="1" dirty="0"/>
              <a:t>allowing only processes in the same pod to communicate with each other through the </a:t>
            </a:r>
            <a:r>
              <a:rPr lang="en-US" altLang="ko-KR" sz="1400" b="1" dirty="0">
                <a:solidFill>
                  <a:srgbClr val="FF0000"/>
                </a:solidFill>
              </a:rPr>
              <a:t>Inter-Process Communication mechanism (IPC)</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E64AD4F-ADD4-B220-0AB0-5F53BE3042F1}"/>
              </a:ext>
            </a:extLst>
          </p:cNvPr>
          <p:cNvPicPr>
            <a:picLocks noChangeAspect="1"/>
          </p:cNvPicPr>
          <p:nvPr/>
        </p:nvPicPr>
        <p:blipFill>
          <a:blip r:embed="rId2"/>
          <a:stretch>
            <a:fillRect/>
          </a:stretch>
        </p:blipFill>
        <p:spPr>
          <a:xfrm>
            <a:off x="3304437" y="2998497"/>
            <a:ext cx="5583125" cy="2431784"/>
          </a:xfrm>
          <a:prstGeom prst="rect">
            <a:avLst/>
          </a:prstGeom>
        </p:spPr>
      </p:pic>
    </p:spTree>
    <p:extLst>
      <p:ext uri="{BB962C8B-B14F-4D97-AF65-F5344CB8AC3E}">
        <p14:creationId xmlns:p14="http://schemas.microsoft.com/office/powerpoint/2010/main" val="20147099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Node’s Network Namespace in a Pod :</a:t>
            </a:r>
            <a:endParaRPr lang="en-US" altLang="ko-KR" sz="1400" dirty="0"/>
          </a:p>
          <a:p>
            <a:pPr lvl="1">
              <a:buFont typeface="Wingdings" panose="05000000000000000000" pitchFamily="2" charset="2"/>
              <a:buChar char="§"/>
            </a:pPr>
            <a:r>
              <a:rPr lang="en-US" altLang="ko-KR" sz="1400" b="1" dirty="0"/>
              <a:t>Certain pods (usually system pods) need to operate in </a:t>
            </a:r>
            <a:r>
              <a:rPr lang="en-US" altLang="ko-KR" sz="1400" b="1" dirty="0">
                <a:solidFill>
                  <a:srgbClr val="FF0000"/>
                </a:solidFill>
              </a:rPr>
              <a:t>the host’s default namespaces</a:t>
            </a:r>
            <a:r>
              <a:rPr lang="en-US" altLang="ko-KR" sz="1400" b="1" dirty="0"/>
              <a:t>, allowing them to see and manipulate node-level resources and devices</a:t>
            </a:r>
            <a:r>
              <a:rPr lang="en-US" altLang="ko-KR" sz="1400" dirty="0"/>
              <a:t>. For example, a pod may need to use </a:t>
            </a:r>
            <a:r>
              <a:rPr lang="en-US" altLang="ko-KR" sz="1400" b="1" dirty="0"/>
              <a:t>the node’s network adapters </a:t>
            </a:r>
            <a:r>
              <a:rPr lang="en-US" altLang="ko-KR" sz="1400" dirty="0"/>
              <a:t>instead of its own virtual network adapters. This can be achieved by </a:t>
            </a:r>
            <a:r>
              <a:rPr lang="en-US" altLang="ko-KR" sz="1400" b="1" dirty="0"/>
              <a:t>setting the “</a:t>
            </a:r>
            <a:r>
              <a:rPr lang="en-US" altLang="ko-KR" sz="1400" b="1" dirty="0" err="1">
                <a:solidFill>
                  <a:srgbClr val="FF0000"/>
                </a:solidFill>
              </a:rPr>
              <a:t>hostNetwork</a:t>
            </a:r>
            <a:r>
              <a:rPr lang="en-US" altLang="ko-KR" sz="1400" b="1" dirty="0"/>
              <a:t>” property in the pod spec to “true”</a:t>
            </a:r>
            <a:r>
              <a:rPr lang="en-US" altLang="ko-KR" sz="1400" dirty="0"/>
              <a:t>.</a:t>
            </a:r>
          </a:p>
          <a:p>
            <a:pPr lvl="1">
              <a:buFont typeface="Wingdings" panose="05000000000000000000" pitchFamily="2" charset="2"/>
              <a:buChar char="§"/>
            </a:pPr>
            <a:r>
              <a:rPr lang="en-US" altLang="ko-KR" sz="1400" b="1" dirty="0"/>
              <a:t>In that case, the pod gets to use the node’s network interfaces instead of having its own set</a:t>
            </a:r>
            <a:r>
              <a:rPr lang="en-US" altLang="ko-KR" sz="1400" dirty="0"/>
              <a:t>, as shown in the following figure. This means </a:t>
            </a:r>
            <a:r>
              <a:rPr lang="en-US" altLang="ko-KR" sz="1400" b="1" dirty="0"/>
              <a:t>the pod </a:t>
            </a:r>
            <a:r>
              <a:rPr lang="en-US" altLang="ko-KR" sz="1400" b="1" dirty="0">
                <a:solidFill>
                  <a:srgbClr val="FF0000"/>
                </a:solidFill>
              </a:rPr>
              <a:t>doesn’t get its own IP address </a:t>
            </a:r>
            <a:r>
              <a:rPr lang="en-US" altLang="ko-KR" sz="1400" b="1" dirty="0"/>
              <a:t>and if it runs a process that binds to a port, </a:t>
            </a:r>
            <a:r>
              <a:rPr lang="en-US" altLang="ko-KR" sz="1400" b="1" dirty="0">
                <a:solidFill>
                  <a:srgbClr val="FF0000"/>
                </a:solidFill>
              </a:rPr>
              <a:t>the process will be bound to the node’s port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5A6749E-8986-0EDF-CE1A-ECCE80B4A416}"/>
              </a:ext>
            </a:extLst>
          </p:cNvPr>
          <p:cNvGrpSpPr/>
          <p:nvPr/>
        </p:nvGrpSpPr>
        <p:grpSpPr>
          <a:xfrm>
            <a:off x="3967162" y="2958102"/>
            <a:ext cx="4257675" cy="2333625"/>
            <a:chOff x="3967162" y="2958102"/>
            <a:chExt cx="4257675" cy="2333625"/>
          </a:xfrm>
        </p:grpSpPr>
        <p:pic>
          <p:nvPicPr>
            <p:cNvPr id="8" name="그림 7">
              <a:extLst>
                <a:ext uri="{FF2B5EF4-FFF2-40B4-BE49-F238E27FC236}">
                  <a16:creationId xmlns:a16="http://schemas.microsoft.com/office/drawing/2014/main" id="{D94FF62F-E915-0C87-6CC8-8B24128CC4B1}"/>
                </a:ext>
              </a:extLst>
            </p:cNvPr>
            <p:cNvPicPr>
              <a:picLocks noChangeAspect="1"/>
            </p:cNvPicPr>
            <p:nvPr/>
          </p:nvPicPr>
          <p:blipFill>
            <a:blip r:embed="rId2"/>
            <a:stretch>
              <a:fillRect/>
            </a:stretch>
          </p:blipFill>
          <p:spPr>
            <a:xfrm>
              <a:off x="3967162" y="2958102"/>
              <a:ext cx="4257675" cy="2333625"/>
            </a:xfrm>
            <a:prstGeom prst="rect">
              <a:avLst/>
            </a:prstGeom>
          </p:spPr>
        </p:pic>
        <p:sp>
          <p:nvSpPr>
            <p:cNvPr id="9" name="직사각형 8">
              <a:extLst>
                <a:ext uri="{FF2B5EF4-FFF2-40B4-BE49-F238E27FC236}">
                  <a16:creationId xmlns:a16="http://schemas.microsoft.com/office/drawing/2014/main" id="{23E46A36-0606-7DB4-661B-0A86702F752E}"/>
                </a:ext>
              </a:extLst>
            </p:cNvPr>
            <p:cNvSpPr/>
            <p:nvPr/>
          </p:nvSpPr>
          <p:spPr>
            <a:xfrm>
              <a:off x="4224042" y="4758117"/>
              <a:ext cx="1197622" cy="1537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868944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Node’s Network Namespace in a Pod :</a:t>
            </a:r>
            <a:endParaRPr lang="en-US" altLang="ko-KR" sz="1400" dirty="0"/>
          </a:p>
          <a:p>
            <a:pPr lvl="1">
              <a:buFont typeface="Wingdings" panose="05000000000000000000" pitchFamily="2" charset="2"/>
              <a:buChar char="§"/>
            </a:pPr>
            <a:r>
              <a:rPr lang="en-US" altLang="ko-KR" sz="1400" dirty="0"/>
              <a:t>You can try running such a pod. The next listing shows an example pod manifest.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FB1CD11C-D3D1-960B-5F98-AFABEEE0D498}"/>
              </a:ext>
            </a:extLst>
          </p:cNvPr>
          <p:cNvGrpSpPr/>
          <p:nvPr/>
        </p:nvGrpSpPr>
        <p:grpSpPr>
          <a:xfrm>
            <a:off x="840223" y="1619536"/>
            <a:ext cx="10513577" cy="3942814"/>
            <a:chOff x="840223" y="1538616"/>
            <a:chExt cx="10513577" cy="3942814"/>
          </a:xfrm>
        </p:grpSpPr>
        <p:grpSp>
          <p:nvGrpSpPr>
            <p:cNvPr id="10" name="그룹 9">
              <a:extLst>
                <a:ext uri="{FF2B5EF4-FFF2-40B4-BE49-F238E27FC236}">
                  <a16:creationId xmlns:a16="http://schemas.microsoft.com/office/drawing/2014/main" id="{E4217E9A-9180-CA6A-A595-15D509513CDC}"/>
                </a:ext>
              </a:extLst>
            </p:cNvPr>
            <p:cNvGrpSpPr/>
            <p:nvPr/>
          </p:nvGrpSpPr>
          <p:grpSpPr>
            <a:xfrm>
              <a:off x="3047326" y="1538616"/>
              <a:ext cx="6097348" cy="1631216"/>
              <a:chOff x="3047326" y="1538616"/>
              <a:chExt cx="6097348" cy="1631216"/>
            </a:xfrm>
          </p:grpSpPr>
          <p:sp>
            <p:nvSpPr>
              <p:cNvPr id="8" name="TextBox 7">
                <a:extLst>
                  <a:ext uri="{FF2B5EF4-FFF2-40B4-BE49-F238E27FC236}">
                    <a16:creationId xmlns:a16="http://schemas.microsoft.com/office/drawing/2014/main" id="{0CE5A814-45E2-2D80-0B9B-DAC9F720564B}"/>
                  </a:ext>
                </a:extLst>
              </p:cNvPr>
              <p:cNvSpPr txBox="1"/>
              <p:nvPr/>
            </p:nvSpPr>
            <p:spPr>
              <a:xfrm>
                <a:off x="3047326" y="1538616"/>
                <a:ext cx="6097348" cy="1631216"/>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pod-with-host-network</a:t>
                </a:r>
              </a:p>
              <a:p>
                <a:r>
                  <a:rPr lang="en-US" altLang="ko-KR" sz="1000" b="1" dirty="0"/>
                  <a:t>spec:</a:t>
                </a:r>
              </a:p>
              <a:p>
                <a:r>
                  <a:rPr lang="en-US" altLang="ko-KR" sz="1000" b="1" dirty="0"/>
                  <a:t>  </a:t>
                </a:r>
                <a:r>
                  <a:rPr lang="en-US" altLang="ko-KR" sz="1000" b="1" dirty="0" err="1">
                    <a:solidFill>
                      <a:srgbClr val="FF0000"/>
                    </a:solidFill>
                  </a:rPr>
                  <a:t>hostNetwork</a:t>
                </a:r>
                <a:r>
                  <a:rPr lang="en-US" altLang="ko-KR" sz="1000" b="1" dirty="0">
                    <a:solidFill>
                      <a:srgbClr val="FF0000"/>
                    </a:solidFill>
                  </a:rPr>
                  <a:t>: true</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endParaRPr lang="ko-KR" altLang="en-US" sz="1000" b="1" dirty="0"/>
              </a:p>
            </p:txBody>
          </p:sp>
          <p:sp>
            <p:nvSpPr>
              <p:cNvPr id="9" name="TextBox 8">
                <a:extLst>
                  <a:ext uri="{FF2B5EF4-FFF2-40B4-BE49-F238E27FC236}">
                    <a16:creationId xmlns:a16="http://schemas.microsoft.com/office/drawing/2014/main" id="{5BAB4C2B-6E2C-B295-D6A5-7855ED553ABF}"/>
                  </a:ext>
                </a:extLst>
              </p:cNvPr>
              <p:cNvSpPr txBox="1"/>
              <p:nvPr/>
            </p:nvSpPr>
            <p:spPr>
              <a:xfrm>
                <a:off x="7199911" y="1538616"/>
                <a:ext cx="1944763" cy="246221"/>
              </a:xfrm>
              <a:prstGeom prst="rect">
                <a:avLst/>
              </a:prstGeom>
              <a:noFill/>
            </p:spPr>
            <p:txBody>
              <a:bodyPr wrap="none" rtlCol="0">
                <a:spAutoFit/>
              </a:bodyPr>
              <a:lstStyle/>
              <a:p>
                <a:pPr algn="l"/>
                <a:r>
                  <a:rPr lang="en-US" altLang="ko-KR" sz="1000" b="1" dirty="0"/>
                  <a:t>pod-with-host-</a:t>
                </a:r>
                <a:r>
                  <a:rPr lang="en-US" altLang="ko-KR" sz="1000" b="1" dirty="0" err="1"/>
                  <a:t>network.yaml</a:t>
                </a:r>
                <a:endParaRPr lang="ko-KR" altLang="en-US" sz="1000" b="1" dirty="0"/>
              </a:p>
            </p:txBody>
          </p:sp>
        </p:grpSp>
        <p:sp>
          <p:nvSpPr>
            <p:cNvPr id="11" name="화살표: 아래쪽 10">
              <a:extLst>
                <a:ext uri="{FF2B5EF4-FFF2-40B4-BE49-F238E27FC236}">
                  <a16:creationId xmlns:a16="http://schemas.microsoft.com/office/drawing/2014/main" id="{AA5CBC6D-23AF-A5E1-DE31-652B7D20B8D4}"/>
                </a:ext>
              </a:extLst>
            </p:cNvPr>
            <p:cNvSpPr/>
            <p:nvPr/>
          </p:nvSpPr>
          <p:spPr>
            <a:xfrm>
              <a:off x="5865377" y="3168260"/>
              <a:ext cx="461246" cy="3155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350C7C7B-310F-3D98-31F0-BFDAACF17114}"/>
                </a:ext>
              </a:extLst>
            </p:cNvPr>
            <p:cNvPicPr>
              <a:picLocks noChangeAspect="1"/>
            </p:cNvPicPr>
            <p:nvPr/>
          </p:nvPicPr>
          <p:blipFill>
            <a:blip r:embed="rId2"/>
            <a:stretch>
              <a:fillRect/>
            </a:stretch>
          </p:blipFill>
          <p:spPr>
            <a:xfrm>
              <a:off x="840223" y="3483850"/>
              <a:ext cx="10513577" cy="1997580"/>
            </a:xfrm>
            <a:prstGeom prst="rect">
              <a:avLst/>
            </a:prstGeom>
          </p:spPr>
        </p:pic>
      </p:grpSp>
    </p:spTree>
    <p:extLst>
      <p:ext uri="{BB962C8B-B14F-4D97-AF65-F5344CB8AC3E}">
        <p14:creationId xmlns:p14="http://schemas.microsoft.com/office/powerpoint/2010/main" val="40984572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Node’s Network Namespace in a Pod :</a:t>
            </a:r>
            <a:endParaRPr lang="en-US" altLang="ko-KR" sz="1400" dirty="0"/>
          </a:p>
          <a:p>
            <a:pPr lvl="1">
              <a:buFont typeface="Wingdings" panose="05000000000000000000" pitchFamily="2" charset="2"/>
              <a:buChar char="§"/>
            </a:pPr>
            <a:r>
              <a:rPr lang="en-US" altLang="ko-KR" sz="1400" dirty="0"/>
              <a:t>After you run the pod, you can use the following command to </a:t>
            </a:r>
            <a:r>
              <a:rPr lang="en-US" altLang="ko-KR" sz="1400" b="1" dirty="0"/>
              <a:t>see that it’s indeed using the host’s network namespace</a:t>
            </a:r>
            <a:r>
              <a:rPr lang="en-US" altLang="ko-KR" sz="1400" dirty="0"/>
              <a:t> (it sees </a:t>
            </a:r>
            <a:r>
              <a:rPr lang="en-US" altLang="ko-KR" sz="1400" b="1" dirty="0"/>
              <a:t>all the host’s network adapters</a:t>
            </a:r>
            <a:r>
              <a:rPr lang="en-US" altLang="ko-KR" sz="1400" dirty="0"/>
              <a:t>, for example).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the Kubernetes Control Plane components are deployed as pods (such as when you deploy your cluster with </a:t>
            </a:r>
            <a:r>
              <a:rPr lang="en-US" altLang="ko-KR" sz="1400" b="1" dirty="0" err="1"/>
              <a:t>kubeadm</a:t>
            </a:r>
            <a:r>
              <a:rPr lang="en-US" altLang="ko-KR" sz="1400" b="1" dirty="0"/>
              <a:t>)</a:t>
            </a:r>
            <a:r>
              <a:rPr lang="en-US" altLang="ko-KR" sz="1400" dirty="0"/>
              <a:t>, you’ll find that </a:t>
            </a:r>
            <a:r>
              <a:rPr lang="en-US" altLang="ko-KR" sz="1400" b="1" dirty="0"/>
              <a:t>those pods use the “</a:t>
            </a:r>
            <a:r>
              <a:rPr lang="en-US" altLang="ko-KR" sz="1400" b="1" dirty="0" err="1">
                <a:solidFill>
                  <a:srgbClr val="FF0000"/>
                </a:solidFill>
              </a:rPr>
              <a:t>hostNetwork</a:t>
            </a:r>
            <a:r>
              <a:rPr lang="en-US" altLang="ko-KR" sz="1400" b="1" dirty="0"/>
              <a:t>“ option</a:t>
            </a:r>
            <a:r>
              <a:rPr lang="en-US" altLang="ko-KR" sz="1400" dirty="0"/>
              <a:t>, effectively making them behave as if they weren’t running inside a pod.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FE151546-031C-223D-85A3-3C1B86CB686A}"/>
              </a:ext>
            </a:extLst>
          </p:cNvPr>
          <p:cNvGrpSpPr/>
          <p:nvPr/>
        </p:nvGrpSpPr>
        <p:grpSpPr>
          <a:xfrm>
            <a:off x="838200" y="1781699"/>
            <a:ext cx="10515600" cy="3658330"/>
            <a:chOff x="838200" y="1781699"/>
            <a:chExt cx="10515600" cy="3658330"/>
          </a:xfrm>
        </p:grpSpPr>
        <p:grpSp>
          <p:nvGrpSpPr>
            <p:cNvPr id="14" name="그룹 13">
              <a:extLst>
                <a:ext uri="{FF2B5EF4-FFF2-40B4-BE49-F238E27FC236}">
                  <a16:creationId xmlns:a16="http://schemas.microsoft.com/office/drawing/2014/main" id="{2C49CC63-81E4-D687-06D9-22A5CF0114E2}"/>
                </a:ext>
              </a:extLst>
            </p:cNvPr>
            <p:cNvGrpSpPr/>
            <p:nvPr/>
          </p:nvGrpSpPr>
          <p:grpSpPr>
            <a:xfrm>
              <a:off x="838200" y="1781699"/>
              <a:ext cx="10515600" cy="3658330"/>
              <a:chOff x="838200" y="1781699"/>
              <a:chExt cx="10515600" cy="3658330"/>
            </a:xfrm>
          </p:grpSpPr>
          <p:grpSp>
            <p:nvGrpSpPr>
              <p:cNvPr id="12" name="그룹 11">
                <a:extLst>
                  <a:ext uri="{FF2B5EF4-FFF2-40B4-BE49-F238E27FC236}">
                    <a16:creationId xmlns:a16="http://schemas.microsoft.com/office/drawing/2014/main" id="{57DFDD80-0B28-4166-4383-A1EEF562F5B9}"/>
                  </a:ext>
                </a:extLst>
              </p:cNvPr>
              <p:cNvGrpSpPr/>
              <p:nvPr/>
            </p:nvGrpSpPr>
            <p:grpSpPr>
              <a:xfrm>
                <a:off x="838200" y="1781699"/>
                <a:ext cx="10515600" cy="3658330"/>
                <a:chOff x="838200" y="1781699"/>
                <a:chExt cx="10515600" cy="3658330"/>
              </a:xfrm>
            </p:grpSpPr>
            <p:sp>
              <p:nvSpPr>
                <p:cNvPr id="8" name="TextBox 7">
                  <a:extLst>
                    <a:ext uri="{FF2B5EF4-FFF2-40B4-BE49-F238E27FC236}">
                      <a16:creationId xmlns:a16="http://schemas.microsoft.com/office/drawing/2014/main" id="{33E7232D-00CA-89DE-4854-10E37B417242}"/>
                    </a:ext>
                  </a:extLst>
                </p:cNvPr>
                <p:cNvSpPr txBox="1"/>
                <p:nvPr/>
              </p:nvSpPr>
              <p:spPr>
                <a:xfrm>
                  <a:off x="3047326" y="178169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pod-with-host-network -- </a:t>
                  </a:r>
                  <a:r>
                    <a:rPr lang="en-US" altLang="ko-KR" sz="1000" b="1" dirty="0" err="1">
                      <a:solidFill>
                        <a:srgbClr val="FF0000"/>
                      </a:solidFill>
                    </a:rPr>
                    <a:t>ifconfig</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4F88B7EA-AA25-2EA2-38D8-94452A5A8635}"/>
                    </a:ext>
                  </a:extLst>
                </p:cNvPr>
                <p:cNvSpPr/>
                <p:nvPr/>
              </p:nvSpPr>
              <p:spPr>
                <a:xfrm>
                  <a:off x="5865377" y="2027920"/>
                  <a:ext cx="461246" cy="31877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AD0E0A8-331D-3489-55FF-D88473C103DD}"/>
                    </a:ext>
                  </a:extLst>
                </p:cNvPr>
                <p:cNvPicPr>
                  <a:picLocks noChangeAspect="1"/>
                </p:cNvPicPr>
                <p:nvPr/>
              </p:nvPicPr>
              <p:blipFill>
                <a:blip r:embed="rId2"/>
                <a:stretch>
                  <a:fillRect/>
                </a:stretch>
              </p:blipFill>
              <p:spPr>
                <a:xfrm>
                  <a:off x="838200" y="2346690"/>
                  <a:ext cx="10515600" cy="3093339"/>
                </a:xfrm>
                <a:prstGeom prst="rect">
                  <a:avLst/>
                </a:prstGeom>
              </p:spPr>
            </p:pic>
          </p:grpSp>
          <p:sp>
            <p:nvSpPr>
              <p:cNvPr id="13" name="직사각형 12">
                <a:extLst>
                  <a:ext uri="{FF2B5EF4-FFF2-40B4-BE49-F238E27FC236}">
                    <a16:creationId xmlns:a16="http://schemas.microsoft.com/office/drawing/2014/main" id="{151AC046-9A38-BA56-8A09-8E5609D8A273}"/>
                  </a:ext>
                </a:extLst>
              </p:cNvPr>
              <p:cNvSpPr/>
              <p:nvPr/>
            </p:nvSpPr>
            <p:spPr>
              <a:xfrm>
                <a:off x="5316467" y="2823098"/>
                <a:ext cx="3294133" cy="2040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19AF7A88-8F80-B988-077D-650950F6F27F}"/>
                </a:ext>
              </a:extLst>
            </p:cNvPr>
            <p:cNvSpPr/>
            <p:nvPr/>
          </p:nvSpPr>
          <p:spPr>
            <a:xfrm>
              <a:off x="930584" y="4143122"/>
              <a:ext cx="436970" cy="234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382454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Binding</a:t>
            </a:r>
            <a:r>
              <a:rPr lang="ko-KR" altLang="en-US" sz="1800" b="1" dirty="0"/>
              <a:t> </a:t>
            </a:r>
            <a:r>
              <a:rPr lang="en-US" altLang="ko-KR" sz="1800" b="1" dirty="0"/>
              <a:t>to</a:t>
            </a:r>
            <a:r>
              <a:rPr lang="ko-KR" altLang="en-US" sz="1800" b="1" dirty="0"/>
              <a:t> </a:t>
            </a:r>
            <a:r>
              <a:rPr lang="en-US" altLang="ko-KR" sz="1800" b="1" dirty="0"/>
              <a:t>a</a:t>
            </a:r>
            <a:r>
              <a:rPr lang="ko-KR" altLang="en-US" sz="1800" b="1" dirty="0"/>
              <a:t> </a:t>
            </a:r>
            <a:r>
              <a:rPr lang="en-US" altLang="ko-KR" sz="1800" b="1" dirty="0"/>
              <a:t>Host</a:t>
            </a:r>
            <a:r>
              <a:rPr lang="ko-KR" altLang="en-US" sz="1800" b="1" dirty="0"/>
              <a:t> </a:t>
            </a:r>
            <a:r>
              <a:rPr lang="en-US" altLang="ko-KR" sz="1800" b="1" dirty="0"/>
              <a:t>Port without Using the Host’s Network Namespace :</a:t>
            </a:r>
            <a:endParaRPr lang="en-US" altLang="ko-KR" sz="1400" dirty="0"/>
          </a:p>
          <a:p>
            <a:pPr lvl="1">
              <a:buFont typeface="Wingdings" panose="05000000000000000000" pitchFamily="2" charset="2"/>
              <a:buChar char="§"/>
            </a:pPr>
            <a:r>
              <a:rPr lang="en-US" altLang="ko-KR" sz="1400" b="1" dirty="0"/>
              <a:t>A related feature allows pods to </a:t>
            </a:r>
            <a:r>
              <a:rPr lang="en-US" altLang="ko-KR" sz="1400" b="1" dirty="0">
                <a:solidFill>
                  <a:srgbClr val="FF0000"/>
                </a:solidFill>
              </a:rPr>
              <a:t>bind to a port in the node’s default namespace</a:t>
            </a:r>
            <a:r>
              <a:rPr lang="en-US" altLang="ko-KR" sz="1400" dirty="0"/>
              <a:t>, </a:t>
            </a:r>
            <a:r>
              <a:rPr lang="en-US" altLang="ko-KR" sz="1400" b="1" dirty="0">
                <a:solidFill>
                  <a:srgbClr val="FF0000"/>
                </a:solidFill>
              </a:rPr>
              <a:t>but still have their own network namespace</a:t>
            </a:r>
            <a:r>
              <a:rPr lang="en-US" altLang="ko-KR" sz="1400" dirty="0"/>
              <a:t>. This is done by </a:t>
            </a:r>
            <a:r>
              <a:rPr lang="en-US" altLang="ko-KR" sz="1400" b="1" dirty="0"/>
              <a:t>using the “</a:t>
            </a:r>
            <a:r>
              <a:rPr lang="en-US" altLang="ko-KR" sz="1400" b="1" dirty="0" err="1">
                <a:solidFill>
                  <a:srgbClr val="FF0000"/>
                </a:solidFill>
              </a:rPr>
              <a:t>hostPort</a:t>
            </a:r>
            <a:r>
              <a:rPr lang="en-US" altLang="ko-KR" sz="1400" b="1" dirty="0"/>
              <a:t>” property in one of the container’s ports defined in the “</a:t>
            </a:r>
            <a:r>
              <a:rPr lang="en-US" altLang="ko-KR" sz="1400" b="1" dirty="0" err="1">
                <a:solidFill>
                  <a:srgbClr val="FF0000"/>
                </a:solidFill>
              </a:rPr>
              <a:t>spec.containers.ports</a:t>
            </a:r>
            <a:r>
              <a:rPr lang="en-US" altLang="ko-KR" sz="1400" b="1" dirty="0"/>
              <a:t>” field</a:t>
            </a:r>
            <a:r>
              <a:rPr lang="en-US" altLang="ko-KR" sz="1400" dirty="0"/>
              <a:t>. </a:t>
            </a:r>
          </a:p>
          <a:p>
            <a:pPr lvl="1">
              <a:buFont typeface="Wingdings" panose="05000000000000000000" pitchFamily="2" charset="2"/>
              <a:buChar char="§"/>
            </a:pPr>
            <a:r>
              <a:rPr lang="en-US" altLang="ko-KR" sz="1400" b="1" dirty="0"/>
              <a:t>Don’t confuse pods using “</a:t>
            </a:r>
            <a:r>
              <a:rPr lang="en-US" altLang="ko-KR" sz="1400" b="1" dirty="0" err="1"/>
              <a:t>hostPort</a:t>
            </a:r>
            <a:r>
              <a:rPr lang="en-US" altLang="ko-KR" sz="1400" b="1" dirty="0"/>
              <a:t>” with pods exposed through a “</a:t>
            </a:r>
            <a:r>
              <a:rPr lang="en-US" altLang="ko-KR" sz="1400" b="1" dirty="0" err="1"/>
              <a:t>NodePort</a:t>
            </a:r>
            <a:r>
              <a:rPr lang="en-US" altLang="ko-KR" sz="1400" b="1" dirty="0"/>
              <a:t>” service</a:t>
            </a:r>
            <a:r>
              <a:rPr lang="en-US" altLang="ko-KR" sz="1400" dirty="0"/>
              <a:t>. They’re two different things, as explained in the following figure.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a pod is using a </a:t>
            </a:r>
            <a:r>
              <a:rPr lang="en-US" altLang="ko-KR" sz="1400" b="1" dirty="0" err="1">
                <a:solidFill>
                  <a:srgbClr val="FF0000"/>
                </a:solidFill>
              </a:rPr>
              <a:t>hostPort</a:t>
            </a:r>
            <a:r>
              <a:rPr lang="en-US" altLang="ko-KR" sz="1400" b="1" dirty="0"/>
              <a:t>, a connection to the node’s port is forwarded directly to the pod running on that node</a:t>
            </a:r>
            <a:r>
              <a:rPr lang="en-US" altLang="ko-KR" sz="1400" dirty="0"/>
              <a:t>, </a:t>
            </a:r>
            <a:r>
              <a:rPr lang="en-US" altLang="ko-KR" sz="1400" b="1" dirty="0"/>
              <a:t>whereas with a </a:t>
            </a:r>
            <a:r>
              <a:rPr lang="en-US" altLang="ko-KR" sz="1400" b="1" dirty="0" err="1">
                <a:solidFill>
                  <a:srgbClr val="FF0000"/>
                </a:solidFill>
              </a:rPr>
              <a:t>NodePort</a:t>
            </a:r>
            <a:r>
              <a:rPr lang="en-US" altLang="ko-KR" sz="1400" b="1" dirty="0"/>
              <a:t> service, a connection to the node’s port is forwarded to a randomly selected pod (possibly on another node)</a:t>
            </a:r>
            <a:r>
              <a:rPr lang="en-US" altLang="ko-KR" sz="1400" dirty="0"/>
              <a:t>. The other difference is that with pods using a </a:t>
            </a:r>
            <a:r>
              <a:rPr lang="en-US" altLang="ko-KR" sz="1400" b="1" dirty="0" err="1"/>
              <a:t>hostPort</a:t>
            </a:r>
            <a:r>
              <a:rPr lang="en-US" altLang="ko-KR" sz="1400" dirty="0"/>
              <a:t>, </a:t>
            </a:r>
            <a:r>
              <a:rPr lang="en-US" altLang="ko-KR" sz="1400" b="1" dirty="0"/>
              <a:t>the node’s port is only bound on nodes that run such pods</a:t>
            </a:r>
            <a:r>
              <a:rPr lang="en-US" altLang="ko-KR" sz="1400" dirty="0"/>
              <a:t>, whereas </a:t>
            </a:r>
            <a:r>
              <a:rPr lang="en-US" altLang="ko-KR" sz="1400" b="1" dirty="0" err="1"/>
              <a:t>NodePort</a:t>
            </a:r>
            <a:r>
              <a:rPr lang="en-US" altLang="ko-KR" sz="1400" dirty="0"/>
              <a:t> </a:t>
            </a:r>
            <a:r>
              <a:rPr lang="en-US" altLang="ko-KR" sz="1400" b="1" dirty="0"/>
              <a:t>services bind the port on all nodes</a:t>
            </a:r>
            <a:r>
              <a:rPr lang="en-US" altLang="ko-KR" sz="1400" dirty="0"/>
              <a:t>, even on those that don’t run such a pod (as on node 3 in the figure).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8E47A8CF-289C-CCED-6EAC-F03048A57126}"/>
              </a:ext>
            </a:extLst>
          </p:cNvPr>
          <p:cNvPicPr>
            <a:picLocks noChangeAspect="1"/>
          </p:cNvPicPr>
          <p:nvPr/>
        </p:nvPicPr>
        <p:blipFill>
          <a:blip r:embed="rId2"/>
          <a:stretch>
            <a:fillRect/>
          </a:stretch>
        </p:blipFill>
        <p:spPr>
          <a:xfrm>
            <a:off x="3310031" y="2257678"/>
            <a:ext cx="5571938" cy="2910594"/>
          </a:xfrm>
          <a:prstGeom prst="rect">
            <a:avLst/>
          </a:prstGeom>
        </p:spPr>
      </p:pic>
    </p:spTree>
    <p:extLst>
      <p:ext uri="{BB962C8B-B14F-4D97-AF65-F5344CB8AC3E}">
        <p14:creationId xmlns:p14="http://schemas.microsoft.com/office/powerpoint/2010/main" val="6299036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Binding</a:t>
            </a:r>
            <a:r>
              <a:rPr lang="ko-KR" altLang="en-US" sz="1800" b="1" dirty="0"/>
              <a:t> </a:t>
            </a:r>
            <a:r>
              <a:rPr lang="en-US" altLang="ko-KR" sz="1800" b="1" dirty="0"/>
              <a:t>to</a:t>
            </a:r>
            <a:r>
              <a:rPr lang="ko-KR" altLang="en-US" sz="1800" b="1" dirty="0"/>
              <a:t> </a:t>
            </a:r>
            <a:r>
              <a:rPr lang="en-US" altLang="ko-KR" sz="1800" b="1" dirty="0"/>
              <a:t>a</a:t>
            </a:r>
            <a:r>
              <a:rPr lang="ko-KR" altLang="en-US" sz="1800" b="1" dirty="0"/>
              <a:t> </a:t>
            </a:r>
            <a:r>
              <a:rPr lang="en-US" altLang="ko-KR" sz="1800" b="1" dirty="0"/>
              <a:t>Host</a:t>
            </a:r>
            <a:r>
              <a:rPr lang="ko-KR" altLang="en-US" sz="1800" b="1" dirty="0"/>
              <a:t> </a:t>
            </a:r>
            <a:r>
              <a:rPr lang="en-US" altLang="ko-KR" sz="1800" b="1" dirty="0"/>
              <a:t>Port without Using the Host’s Network Namespace :</a:t>
            </a:r>
            <a:endParaRPr lang="en-US" altLang="ko-KR" sz="1400" dirty="0"/>
          </a:p>
          <a:p>
            <a:pPr lvl="1">
              <a:buFont typeface="Wingdings" panose="05000000000000000000" pitchFamily="2" charset="2"/>
              <a:buChar char="§"/>
            </a:pPr>
            <a:r>
              <a:rPr lang="en-US" altLang="ko-KR" sz="1400" b="1" dirty="0"/>
              <a:t>It’s important to understand that if a pod is using a specific host port, </a:t>
            </a:r>
            <a:r>
              <a:rPr lang="en-US" altLang="ko-KR" sz="1400" b="1" dirty="0">
                <a:solidFill>
                  <a:srgbClr val="FF0000"/>
                </a:solidFill>
              </a:rPr>
              <a:t>only one instance of the pod can be scheduled to each node</a:t>
            </a:r>
            <a:r>
              <a:rPr lang="en-US" altLang="ko-KR" sz="1400" b="1" dirty="0"/>
              <a:t>, because two processes can’t bind to the same host port</a:t>
            </a:r>
            <a:r>
              <a:rPr lang="en-US" altLang="ko-KR" sz="1400" dirty="0"/>
              <a:t>. The Scheduler takes this into account when scheduling pods, so it doesn’t schedule multiple pods to the same node, as shown in the following figure. If you have three nodes and want to deploy four pod replicas, only three will be scheduled (one pod will remain </a:t>
            </a:r>
            <a:r>
              <a:rPr lang="en-US" altLang="ko-KR" sz="1400" b="1" dirty="0"/>
              <a:t>Pending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D3A855B-7166-0AD5-C97F-804F2B02F72E}"/>
              </a:ext>
            </a:extLst>
          </p:cNvPr>
          <p:cNvPicPr>
            <a:picLocks noChangeAspect="1"/>
          </p:cNvPicPr>
          <p:nvPr/>
        </p:nvPicPr>
        <p:blipFill>
          <a:blip r:embed="rId2"/>
          <a:stretch>
            <a:fillRect/>
          </a:stretch>
        </p:blipFill>
        <p:spPr>
          <a:xfrm>
            <a:off x="3176587" y="2448573"/>
            <a:ext cx="5838825" cy="2952750"/>
          </a:xfrm>
          <a:prstGeom prst="rect">
            <a:avLst/>
          </a:prstGeom>
        </p:spPr>
      </p:pic>
    </p:spTree>
    <p:extLst>
      <p:ext uri="{BB962C8B-B14F-4D97-AF65-F5344CB8AC3E}">
        <p14:creationId xmlns:p14="http://schemas.microsoft.com/office/powerpoint/2010/main" val="9824239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Binding</a:t>
            </a:r>
            <a:r>
              <a:rPr lang="ko-KR" altLang="en-US" sz="1800" b="1" dirty="0"/>
              <a:t> </a:t>
            </a:r>
            <a:r>
              <a:rPr lang="en-US" altLang="ko-KR" sz="1800" b="1" dirty="0"/>
              <a:t>to</a:t>
            </a:r>
            <a:r>
              <a:rPr lang="ko-KR" altLang="en-US" sz="1800" b="1" dirty="0"/>
              <a:t> </a:t>
            </a:r>
            <a:r>
              <a:rPr lang="en-US" altLang="ko-KR" sz="1800" b="1" dirty="0"/>
              <a:t>a</a:t>
            </a:r>
            <a:r>
              <a:rPr lang="ko-KR" altLang="en-US" sz="1800" b="1" dirty="0"/>
              <a:t> </a:t>
            </a:r>
            <a:r>
              <a:rPr lang="en-US" altLang="ko-KR" sz="1800" b="1" dirty="0"/>
              <a:t>Host</a:t>
            </a:r>
            <a:r>
              <a:rPr lang="ko-KR" altLang="en-US" sz="1800" b="1" dirty="0"/>
              <a:t> </a:t>
            </a:r>
            <a:r>
              <a:rPr lang="en-US" altLang="ko-KR" sz="1800" b="1" dirty="0"/>
              <a:t>Port without Using the Host’s Network Namespace :</a:t>
            </a:r>
            <a:endParaRPr lang="en-US" altLang="ko-KR" sz="1400" dirty="0"/>
          </a:p>
          <a:p>
            <a:pPr lvl="1">
              <a:buFont typeface="Wingdings" panose="05000000000000000000" pitchFamily="2" charset="2"/>
              <a:buChar char="§"/>
            </a:pPr>
            <a:r>
              <a:rPr lang="en-US" altLang="ko-KR" sz="1400" b="1" dirty="0"/>
              <a:t>Let’s see how to define the “</a:t>
            </a:r>
            <a:r>
              <a:rPr lang="en-US" altLang="ko-KR" sz="1400" b="1" dirty="0" err="1">
                <a:solidFill>
                  <a:srgbClr val="FF0000"/>
                </a:solidFill>
              </a:rPr>
              <a:t>hostPort</a:t>
            </a:r>
            <a:r>
              <a:rPr lang="en-US" altLang="ko-KR" sz="1400" b="1" dirty="0"/>
              <a:t>“ in a pod’s YAML definition</a:t>
            </a:r>
            <a:r>
              <a:rPr lang="en-US" altLang="ko-KR" sz="1400" dirty="0"/>
              <a:t>. The following listing shows the </a:t>
            </a:r>
            <a:r>
              <a:rPr lang="en-US" altLang="ko-KR" sz="1400" b="1" dirty="0"/>
              <a:t>YAML to run your “</a:t>
            </a:r>
            <a:r>
              <a:rPr lang="en-US" altLang="ko-KR" sz="1400" b="1" dirty="0" err="1"/>
              <a:t>kubia</a:t>
            </a:r>
            <a:r>
              <a:rPr lang="en-US" altLang="ko-KR" sz="1400" b="1" dirty="0"/>
              <a:t>” pod and bind it to the node’s port 9000</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After you create this pod, you can access it through port 9000 of the node it’s scheduled to</a:t>
            </a:r>
            <a:r>
              <a:rPr lang="en-US" altLang="ko-KR" sz="1400" dirty="0"/>
              <a:t>. </a:t>
            </a:r>
            <a:r>
              <a:rPr lang="en-US" altLang="ko-KR" sz="1400" b="1" dirty="0"/>
              <a:t>If you have multiple nodes, you’ll see </a:t>
            </a:r>
            <a:r>
              <a:rPr lang="en-US" altLang="ko-KR" sz="1400" b="1" dirty="0">
                <a:solidFill>
                  <a:srgbClr val="FF0000"/>
                </a:solidFill>
              </a:rPr>
              <a:t>you can’t access the pod through that port on the other nodes</a:t>
            </a:r>
            <a:r>
              <a:rPr lang="en-US" altLang="ko-KR" sz="1400" dirty="0"/>
              <a:t>.</a:t>
            </a:r>
          </a:p>
          <a:p>
            <a:pPr lvl="1">
              <a:buFont typeface="Wingdings" panose="05000000000000000000" pitchFamily="2" charset="2"/>
              <a:buChar char="§"/>
            </a:pPr>
            <a:r>
              <a:rPr lang="en-US" altLang="ko-KR" sz="1400" b="1" dirty="0"/>
              <a:t>NOTE : If you’re trying this on GKE, you need to configure the firewall properly using “</a:t>
            </a:r>
            <a:r>
              <a:rPr lang="en-US" altLang="ko-KR" sz="1400" b="1" dirty="0" err="1"/>
              <a:t>gcloud</a:t>
            </a:r>
            <a:r>
              <a:rPr lang="en-US" altLang="ko-KR" sz="1400" b="1" dirty="0"/>
              <a:t> compute firewall-rules”</a:t>
            </a:r>
            <a:r>
              <a:rPr lang="en-US" altLang="ko-KR" sz="1400" dirty="0"/>
              <a:t>. </a:t>
            </a:r>
          </a:p>
          <a:p>
            <a:pPr lvl="1">
              <a:buFont typeface="Wingdings" panose="05000000000000000000" pitchFamily="2" charset="2"/>
              <a:buChar char="§"/>
            </a:pPr>
            <a:r>
              <a:rPr lang="en-US" altLang="ko-KR" sz="1400" b="1" dirty="0"/>
              <a:t>The “</a:t>
            </a:r>
            <a:r>
              <a:rPr lang="en-US" altLang="ko-KR" sz="1400" b="1" dirty="0" err="1">
                <a:solidFill>
                  <a:srgbClr val="FF0000"/>
                </a:solidFill>
              </a:rPr>
              <a:t>hostPort</a:t>
            </a:r>
            <a:r>
              <a:rPr lang="en-US" altLang="ko-KR" sz="1400" b="1" dirty="0"/>
              <a:t>” feature is primarily used for exposing system services, which are deployed to every node using </a:t>
            </a:r>
            <a:r>
              <a:rPr lang="en-US" altLang="ko-KR" sz="1400" b="1" dirty="0" err="1">
                <a:solidFill>
                  <a:srgbClr val="FF0000"/>
                </a:solidFill>
              </a:rPr>
              <a:t>DaemonSets</a:t>
            </a:r>
            <a:r>
              <a:rPr lang="en-US" altLang="ko-KR" sz="1400" dirty="0"/>
              <a:t>. Initially, people also used it </a:t>
            </a:r>
            <a:r>
              <a:rPr lang="en-US" altLang="ko-KR" sz="1400" b="1" dirty="0"/>
              <a:t>to ensure two replicas of the same pod were never scheduled to the same node</a:t>
            </a:r>
            <a:r>
              <a:rPr lang="en-US" altLang="ko-KR" sz="1400" dirty="0"/>
              <a:t>, but now you have a better way of achieving this.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2473814-63C3-6F1A-9856-1878B9E4A7C1}"/>
              </a:ext>
            </a:extLst>
          </p:cNvPr>
          <p:cNvGrpSpPr/>
          <p:nvPr/>
        </p:nvGrpSpPr>
        <p:grpSpPr>
          <a:xfrm>
            <a:off x="3047326" y="1819967"/>
            <a:ext cx="6097348" cy="1938992"/>
            <a:chOff x="3048674" y="1722863"/>
            <a:chExt cx="6097348" cy="1938992"/>
          </a:xfrm>
        </p:grpSpPr>
        <p:sp>
          <p:nvSpPr>
            <p:cNvPr id="8" name="TextBox 7">
              <a:extLst>
                <a:ext uri="{FF2B5EF4-FFF2-40B4-BE49-F238E27FC236}">
                  <a16:creationId xmlns:a16="http://schemas.microsoft.com/office/drawing/2014/main" id="{B39D82DC-2710-63D9-9B36-0D736E7D42AA}"/>
                </a:ext>
              </a:extLst>
            </p:cNvPr>
            <p:cNvSpPr txBox="1"/>
            <p:nvPr/>
          </p:nvSpPr>
          <p:spPr>
            <a:xfrm>
              <a:off x="3048674" y="1722863"/>
              <a:ext cx="6097348"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kubia-hostport</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a:t>
              </a:r>
              <a:r>
                <a:rPr lang="en-US" altLang="ko-KR" sz="1000" b="1" dirty="0" err="1">
                  <a:solidFill>
                    <a:srgbClr val="FF0000"/>
                  </a:solidFill>
                </a:rPr>
                <a:t>kubia</a:t>
              </a:r>
              <a:endParaRPr lang="en-US" altLang="ko-KR" sz="1000" b="1" dirty="0">
                <a:solidFill>
                  <a:srgbClr val="FF0000"/>
                </a:solidFill>
              </a:endParaRPr>
            </a:p>
            <a:p>
              <a:r>
                <a:rPr lang="en-US" altLang="ko-KR" sz="1000" b="1" dirty="0"/>
                <a:t>    name: </a:t>
              </a:r>
              <a:r>
                <a:rPr lang="en-US" altLang="ko-KR" sz="1000" b="1" dirty="0" err="1"/>
                <a:t>kubia</a:t>
              </a:r>
              <a:endParaRPr lang="en-US" altLang="ko-KR" sz="1000" b="1" dirty="0"/>
            </a:p>
            <a:p>
              <a:r>
                <a:rPr lang="en-US" altLang="ko-KR" sz="1000" b="1" dirty="0"/>
                <a:t>    ports:</a:t>
              </a:r>
            </a:p>
            <a:p>
              <a:r>
                <a:rPr lang="en-US" altLang="ko-KR" sz="1000" b="1" dirty="0"/>
                <a:t>    - </a:t>
              </a:r>
              <a:r>
                <a:rPr lang="en-US" altLang="ko-KR" sz="1000" b="1" dirty="0" err="1">
                  <a:solidFill>
                    <a:srgbClr val="FF0000"/>
                  </a:solidFill>
                </a:rPr>
                <a:t>containerPort</a:t>
              </a:r>
              <a:r>
                <a:rPr lang="en-US" altLang="ko-KR" sz="1000" b="1" dirty="0">
                  <a:solidFill>
                    <a:srgbClr val="FF0000"/>
                  </a:solidFill>
                </a:rPr>
                <a:t>: 8080</a:t>
              </a:r>
            </a:p>
            <a:p>
              <a:r>
                <a:rPr lang="en-US" altLang="ko-KR" sz="1000" b="1" dirty="0"/>
                <a:t>      </a:t>
              </a:r>
              <a:r>
                <a:rPr lang="en-US" altLang="ko-KR" sz="1000" b="1" dirty="0" err="1">
                  <a:solidFill>
                    <a:srgbClr val="FF0000"/>
                  </a:solidFill>
                </a:rPr>
                <a:t>hostPort</a:t>
              </a:r>
              <a:r>
                <a:rPr lang="en-US" altLang="ko-KR" sz="1000" b="1" dirty="0">
                  <a:solidFill>
                    <a:srgbClr val="FF0000"/>
                  </a:solidFill>
                </a:rPr>
                <a:t>: 9000</a:t>
              </a:r>
            </a:p>
            <a:p>
              <a:r>
                <a:rPr lang="en-US" altLang="ko-KR" sz="1000" b="1" dirty="0"/>
                <a:t>      protocol: TCP</a:t>
              </a:r>
              <a:endParaRPr lang="ko-KR" altLang="en-US" sz="1000" b="1" dirty="0"/>
            </a:p>
          </p:txBody>
        </p:sp>
        <p:sp>
          <p:nvSpPr>
            <p:cNvPr id="11" name="TextBox 10">
              <a:extLst>
                <a:ext uri="{FF2B5EF4-FFF2-40B4-BE49-F238E27FC236}">
                  <a16:creationId xmlns:a16="http://schemas.microsoft.com/office/drawing/2014/main" id="{DC070958-F9A1-D242-1CE9-6794ED2D8188}"/>
                </a:ext>
              </a:extLst>
            </p:cNvPr>
            <p:cNvSpPr txBox="1"/>
            <p:nvPr/>
          </p:nvSpPr>
          <p:spPr>
            <a:xfrm>
              <a:off x="7719538" y="1722863"/>
              <a:ext cx="1423788" cy="246221"/>
            </a:xfrm>
            <a:prstGeom prst="rect">
              <a:avLst/>
            </a:prstGeom>
            <a:noFill/>
          </p:spPr>
          <p:txBody>
            <a:bodyPr wrap="none" rtlCol="0">
              <a:spAutoFit/>
            </a:bodyPr>
            <a:lstStyle/>
            <a:p>
              <a:pPr algn="l"/>
              <a:r>
                <a:rPr lang="en-US" altLang="ko-KR" sz="1000" b="1" dirty="0" err="1"/>
                <a:t>kubia-hostport.yaml</a:t>
              </a:r>
              <a:endParaRPr lang="ko-KR" altLang="en-US" sz="1000" b="1" dirty="0"/>
            </a:p>
          </p:txBody>
        </p:sp>
      </p:grpSp>
    </p:spTree>
    <p:extLst>
      <p:ext uri="{BB962C8B-B14F-4D97-AF65-F5344CB8AC3E}">
        <p14:creationId xmlns:p14="http://schemas.microsoft.com/office/powerpoint/2010/main" val="34893859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hostPort</a:t>
            </a:r>
            <a:r>
              <a:rPr lang="en-US" altLang="ko-KR" sz="2800" b="1" dirty="0"/>
              <a: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the Pod :</a:t>
            </a:r>
            <a:endParaRPr lang="en-US" altLang="ko-KR" sz="1400" dirty="0"/>
          </a:p>
          <a:p>
            <a:pPr lvl="1">
              <a:buFont typeface="Wingdings" panose="05000000000000000000" pitchFamily="2" charset="2"/>
              <a:buChar char="§"/>
            </a:pPr>
            <a:r>
              <a:rPr lang="en-US" altLang="ko-KR" sz="1400" dirty="0"/>
              <a:t>You can </a:t>
            </a:r>
            <a:r>
              <a:rPr lang="en-US" altLang="ko-KR" sz="1400" b="1" dirty="0"/>
              <a:t>create a pod using the previously defined YAML file</a:t>
            </a:r>
            <a:r>
              <a:rPr lang="en-US" altLang="ko-KR" sz="1400" dirty="0"/>
              <a:t>. Run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B73232D9-100D-BA45-7CAE-0122867B9A4C}"/>
              </a:ext>
            </a:extLst>
          </p:cNvPr>
          <p:cNvGrpSpPr/>
          <p:nvPr/>
        </p:nvGrpSpPr>
        <p:grpSpPr>
          <a:xfrm>
            <a:off x="838200" y="1784117"/>
            <a:ext cx="10515600" cy="2871979"/>
            <a:chOff x="838200" y="1784117"/>
            <a:chExt cx="10515600" cy="2871979"/>
          </a:xfrm>
        </p:grpSpPr>
        <p:grpSp>
          <p:nvGrpSpPr>
            <p:cNvPr id="12" name="그룹 11">
              <a:extLst>
                <a:ext uri="{FF2B5EF4-FFF2-40B4-BE49-F238E27FC236}">
                  <a16:creationId xmlns:a16="http://schemas.microsoft.com/office/drawing/2014/main" id="{65442F91-B3B8-DE3E-D475-ED36B590148C}"/>
                </a:ext>
              </a:extLst>
            </p:cNvPr>
            <p:cNvGrpSpPr/>
            <p:nvPr/>
          </p:nvGrpSpPr>
          <p:grpSpPr>
            <a:xfrm>
              <a:off x="3047326" y="1784117"/>
              <a:ext cx="6097348" cy="597360"/>
              <a:chOff x="3047326" y="1708870"/>
              <a:chExt cx="6097348" cy="597360"/>
            </a:xfrm>
          </p:grpSpPr>
          <p:sp>
            <p:nvSpPr>
              <p:cNvPr id="8" name="TextBox 7">
                <a:extLst>
                  <a:ext uri="{FF2B5EF4-FFF2-40B4-BE49-F238E27FC236}">
                    <a16:creationId xmlns:a16="http://schemas.microsoft.com/office/drawing/2014/main" id="{5D11F642-2839-4925-618C-30AC521D6765}"/>
                  </a:ext>
                </a:extLst>
              </p:cNvPr>
              <p:cNvSpPr txBox="1"/>
              <p:nvPr/>
            </p:nvSpPr>
            <p:spPr>
              <a:xfrm>
                <a:off x="3047326" y="1708870"/>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err="1">
                    <a:solidFill>
                      <a:srgbClr val="FF0000"/>
                    </a:solidFill>
                  </a:rPr>
                  <a:t>kubia-hostport.yaml</a:t>
                </a:r>
                <a:r>
                  <a:rPr lang="en-US" altLang="ko-KR" sz="1000" b="1" dirty="0">
                    <a:solidFill>
                      <a:srgbClr val="FF0000"/>
                    </a:solidFill>
                  </a:rPr>
                  <a:t> </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8B7845DC-84BB-A960-F89F-19F6CF678405}"/>
                  </a:ext>
                </a:extLst>
              </p:cNvPr>
              <p:cNvSpPr/>
              <p:nvPr/>
            </p:nvSpPr>
            <p:spPr>
              <a:xfrm>
                <a:off x="5865377" y="1966365"/>
                <a:ext cx="461246" cy="33986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3C6C1DA0-C91E-59A1-847B-3F9BD3600341}"/>
                </a:ext>
              </a:extLst>
            </p:cNvPr>
            <p:cNvPicPr>
              <a:picLocks noChangeAspect="1"/>
            </p:cNvPicPr>
            <p:nvPr/>
          </p:nvPicPr>
          <p:blipFill>
            <a:blip r:embed="rId2"/>
            <a:stretch>
              <a:fillRect/>
            </a:stretch>
          </p:blipFill>
          <p:spPr>
            <a:xfrm>
              <a:off x="838200" y="2395242"/>
              <a:ext cx="10515600" cy="2260854"/>
            </a:xfrm>
            <a:prstGeom prst="rect">
              <a:avLst/>
            </a:prstGeom>
          </p:spPr>
        </p:pic>
      </p:grpSp>
    </p:spTree>
    <p:extLst>
      <p:ext uri="{BB962C8B-B14F-4D97-AF65-F5344CB8AC3E}">
        <p14:creationId xmlns:p14="http://schemas.microsoft.com/office/powerpoint/2010/main" val="36604885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Node’s PID and IPC Namespaces :</a:t>
            </a:r>
            <a:endParaRPr lang="en-US" altLang="ko-KR" sz="1400" dirty="0"/>
          </a:p>
          <a:p>
            <a:pPr lvl="1">
              <a:buFont typeface="Wingdings" panose="05000000000000000000" pitchFamily="2" charset="2"/>
              <a:buChar char="§"/>
            </a:pPr>
            <a:r>
              <a:rPr lang="en-US" altLang="ko-KR" sz="1400" b="1" dirty="0"/>
              <a:t>Similar to the “</a:t>
            </a:r>
            <a:r>
              <a:rPr lang="en-US" altLang="ko-KR" sz="1400" b="1" dirty="0" err="1"/>
              <a:t>hostNetwork</a:t>
            </a:r>
            <a:r>
              <a:rPr lang="en-US" altLang="ko-KR" sz="1400" b="1" dirty="0"/>
              <a:t>” option are the “</a:t>
            </a:r>
            <a:r>
              <a:rPr lang="en-US" altLang="ko-KR" sz="1400" b="1" dirty="0" err="1">
                <a:solidFill>
                  <a:srgbClr val="FF0000"/>
                </a:solidFill>
              </a:rPr>
              <a:t>hostPID</a:t>
            </a:r>
            <a:r>
              <a:rPr lang="en-US" altLang="ko-KR" sz="1400" b="1" dirty="0"/>
              <a:t>” and “</a:t>
            </a:r>
            <a:r>
              <a:rPr lang="en-US" altLang="ko-KR" sz="1400" b="1" dirty="0" err="1">
                <a:solidFill>
                  <a:srgbClr val="FF0000"/>
                </a:solidFill>
              </a:rPr>
              <a:t>hostIPC</a:t>
            </a:r>
            <a:r>
              <a:rPr lang="en-US" altLang="ko-KR" sz="1400" b="1" dirty="0"/>
              <a:t>” pod spec properties</a:t>
            </a:r>
            <a:r>
              <a:rPr lang="en-US" altLang="ko-KR" sz="1400" dirty="0"/>
              <a:t>. When you set them to </a:t>
            </a:r>
            <a:r>
              <a:rPr lang="en-US" altLang="ko-KR" sz="1400" b="1" dirty="0"/>
              <a:t>true</a:t>
            </a:r>
            <a:r>
              <a:rPr lang="en-US" altLang="ko-KR" sz="1400" dirty="0"/>
              <a:t>, </a:t>
            </a:r>
            <a:r>
              <a:rPr lang="en-US" altLang="ko-KR" sz="1400" b="1" dirty="0"/>
              <a:t>the pod’s containers will use the node’s PID and IPC namespaces</a:t>
            </a:r>
            <a:r>
              <a:rPr lang="en-US" altLang="ko-KR" sz="1400" dirty="0"/>
              <a:t>, </a:t>
            </a:r>
            <a:r>
              <a:rPr lang="en-US" altLang="ko-KR" sz="1400" b="1" dirty="0">
                <a:solidFill>
                  <a:srgbClr val="FF0000"/>
                </a:solidFill>
              </a:rPr>
              <a:t>allowing processes running in the containers to see all the other processes on the node or communicate with them through IPC</a:t>
            </a:r>
            <a:r>
              <a:rPr lang="en-US" altLang="ko-KR" sz="1400" b="1" dirty="0"/>
              <a:t>, respectively</a:t>
            </a:r>
            <a:r>
              <a:rPr lang="en-US" altLang="ko-KR" sz="1400" dirty="0"/>
              <a:t>. See the following listing for an example.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7723CD45-319B-031D-F331-2D6F35044E97}"/>
              </a:ext>
            </a:extLst>
          </p:cNvPr>
          <p:cNvGrpSpPr/>
          <p:nvPr/>
        </p:nvGrpSpPr>
        <p:grpSpPr>
          <a:xfrm>
            <a:off x="838200" y="2087940"/>
            <a:ext cx="10515600" cy="4146541"/>
            <a:chOff x="838200" y="2087940"/>
            <a:chExt cx="10515600" cy="4146541"/>
          </a:xfrm>
        </p:grpSpPr>
        <p:grpSp>
          <p:nvGrpSpPr>
            <p:cNvPr id="12" name="그룹 11">
              <a:extLst>
                <a:ext uri="{FF2B5EF4-FFF2-40B4-BE49-F238E27FC236}">
                  <a16:creationId xmlns:a16="http://schemas.microsoft.com/office/drawing/2014/main" id="{EA6BA324-CFE3-7CE5-0D1B-792645D20208}"/>
                </a:ext>
              </a:extLst>
            </p:cNvPr>
            <p:cNvGrpSpPr/>
            <p:nvPr/>
          </p:nvGrpSpPr>
          <p:grpSpPr>
            <a:xfrm>
              <a:off x="3047326" y="2087940"/>
              <a:ext cx="6097348" cy="2111826"/>
              <a:chOff x="3047326" y="2087940"/>
              <a:chExt cx="6097348" cy="2111826"/>
            </a:xfrm>
          </p:grpSpPr>
          <p:grpSp>
            <p:nvGrpSpPr>
              <p:cNvPr id="10" name="그룹 9">
                <a:extLst>
                  <a:ext uri="{FF2B5EF4-FFF2-40B4-BE49-F238E27FC236}">
                    <a16:creationId xmlns:a16="http://schemas.microsoft.com/office/drawing/2014/main" id="{BC7457B0-2C08-27AE-5025-63B0B0B24C14}"/>
                  </a:ext>
                </a:extLst>
              </p:cNvPr>
              <p:cNvGrpSpPr/>
              <p:nvPr/>
            </p:nvGrpSpPr>
            <p:grpSpPr>
              <a:xfrm>
                <a:off x="3047326" y="2087940"/>
                <a:ext cx="6097348" cy="1785104"/>
                <a:chOff x="3047326" y="2112216"/>
                <a:chExt cx="6097348" cy="1785104"/>
              </a:xfrm>
            </p:grpSpPr>
            <p:sp>
              <p:nvSpPr>
                <p:cNvPr id="8" name="TextBox 7">
                  <a:extLst>
                    <a:ext uri="{FF2B5EF4-FFF2-40B4-BE49-F238E27FC236}">
                      <a16:creationId xmlns:a16="http://schemas.microsoft.com/office/drawing/2014/main" id="{96237909-5A32-FC46-4725-DD286B0C0E20}"/>
                    </a:ext>
                  </a:extLst>
                </p:cNvPr>
                <p:cNvSpPr txBox="1"/>
                <p:nvPr/>
              </p:nvSpPr>
              <p:spPr>
                <a:xfrm>
                  <a:off x="3047326" y="2112216"/>
                  <a:ext cx="6097348"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pod-with-host-</a:t>
                  </a:r>
                  <a:r>
                    <a:rPr lang="en-US" altLang="ko-KR" sz="1000" b="1" dirty="0" err="1">
                      <a:solidFill>
                        <a:srgbClr val="FF0000"/>
                      </a:solidFill>
                    </a:rPr>
                    <a:t>pid</a:t>
                  </a:r>
                  <a:r>
                    <a:rPr lang="en-US" altLang="ko-KR" sz="1000" b="1" dirty="0">
                      <a:solidFill>
                        <a:srgbClr val="FF0000"/>
                      </a:solidFill>
                    </a:rPr>
                    <a:t>-and-</a:t>
                  </a:r>
                  <a:r>
                    <a:rPr lang="en-US" altLang="ko-KR" sz="1000" b="1" dirty="0" err="1">
                      <a:solidFill>
                        <a:srgbClr val="FF0000"/>
                      </a:solidFill>
                    </a:rPr>
                    <a:t>ipc</a:t>
                  </a:r>
                  <a:endParaRPr lang="en-US" altLang="ko-KR" sz="1000" b="1" dirty="0">
                    <a:solidFill>
                      <a:srgbClr val="FF0000"/>
                    </a:solidFill>
                  </a:endParaRPr>
                </a:p>
                <a:p>
                  <a:r>
                    <a:rPr lang="en-US" altLang="ko-KR" sz="1000" b="1" dirty="0"/>
                    <a:t>spec:</a:t>
                  </a:r>
                </a:p>
                <a:p>
                  <a:r>
                    <a:rPr lang="en-US" altLang="ko-KR" sz="1000" b="1" dirty="0">
                      <a:solidFill>
                        <a:srgbClr val="FF0000"/>
                      </a:solidFill>
                    </a:rPr>
                    <a:t>  </a:t>
                  </a:r>
                  <a:r>
                    <a:rPr lang="en-US" altLang="ko-KR" sz="1000" b="1" dirty="0" err="1">
                      <a:solidFill>
                        <a:srgbClr val="FF0000"/>
                      </a:solidFill>
                    </a:rPr>
                    <a:t>hostPID</a:t>
                  </a:r>
                  <a:r>
                    <a:rPr lang="en-US" altLang="ko-KR" sz="1000" b="1" dirty="0">
                      <a:solidFill>
                        <a:srgbClr val="FF0000"/>
                      </a:solidFill>
                    </a:rPr>
                    <a:t>: true</a:t>
                  </a:r>
                </a:p>
                <a:p>
                  <a:r>
                    <a:rPr lang="en-US" altLang="ko-KR" sz="1000" b="1" dirty="0">
                      <a:solidFill>
                        <a:srgbClr val="FF0000"/>
                      </a:solidFill>
                    </a:rPr>
                    <a:t>  </a:t>
                  </a:r>
                  <a:r>
                    <a:rPr lang="en-US" altLang="ko-KR" sz="1000" b="1" dirty="0" err="1">
                      <a:solidFill>
                        <a:srgbClr val="FF0000"/>
                      </a:solidFill>
                    </a:rPr>
                    <a:t>hostIPC</a:t>
                  </a:r>
                  <a:r>
                    <a:rPr lang="en-US" altLang="ko-KR" sz="1000" b="1" dirty="0">
                      <a:solidFill>
                        <a:srgbClr val="FF0000"/>
                      </a:solidFill>
                    </a:rPr>
                    <a:t>: true</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p:txBody>
            </p:sp>
            <p:sp>
              <p:nvSpPr>
                <p:cNvPr id="9" name="TextBox 8">
                  <a:extLst>
                    <a:ext uri="{FF2B5EF4-FFF2-40B4-BE49-F238E27FC236}">
                      <a16:creationId xmlns:a16="http://schemas.microsoft.com/office/drawing/2014/main" id="{3BA61383-8AA6-D177-7CBD-ADA9A4048E97}"/>
                    </a:ext>
                  </a:extLst>
                </p:cNvPr>
                <p:cNvSpPr txBox="1"/>
                <p:nvPr/>
              </p:nvSpPr>
              <p:spPr>
                <a:xfrm>
                  <a:off x="6994726" y="2112216"/>
                  <a:ext cx="2149948" cy="246221"/>
                </a:xfrm>
                <a:prstGeom prst="rect">
                  <a:avLst/>
                </a:prstGeom>
                <a:noFill/>
              </p:spPr>
              <p:txBody>
                <a:bodyPr wrap="none" rtlCol="0">
                  <a:spAutoFit/>
                </a:bodyPr>
                <a:lstStyle/>
                <a:p>
                  <a:pPr algn="l"/>
                  <a:r>
                    <a:rPr lang="en-US" altLang="ko-KR" sz="1000" b="1" dirty="0"/>
                    <a:t>pod-with-host-</a:t>
                  </a:r>
                  <a:r>
                    <a:rPr lang="en-US" altLang="ko-KR" sz="1000" b="1" dirty="0" err="1"/>
                    <a:t>pid</a:t>
                  </a:r>
                  <a:r>
                    <a:rPr lang="en-US" altLang="ko-KR" sz="1000" b="1" dirty="0"/>
                    <a:t>-and-</a:t>
                  </a:r>
                  <a:r>
                    <a:rPr lang="en-US" altLang="ko-KR" sz="1000" b="1" dirty="0" err="1"/>
                    <a:t>ipc.yaml</a:t>
                  </a:r>
                  <a:endParaRPr lang="ko-KR" altLang="en-US" sz="1000" b="1" dirty="0"/>
                </a:p>
              </p:txBody>
            </p:sp>
          </p:grpSp>
          <p:sp>
            <p:nvSpPr>
              <p:cNvPr id="11" name="화살표: 아래쪽 10">
                <a:extLst>
                  <a:ext uri="{FF2B5EF4-FFF2-40B4-BE49-F238E27FC236}">
                    <a16:creationId xmlns:a16="http://schemas.microsoft.com/office/drawing/2014/main" id="{A53DC17A-0904-4A3B-9437-9D237E0B9B4B}"/>
                  </a:ext>
                </a:extLst>
              </p:cNvPr>
              <p:cNvSpPr/>
              <p:nvPr/>
            </p:nvSpPr>
            <p:spPr>
              <a:xfrm>
                <a:off x="5869423" y="3892269"/>
                <a:ext cx="453154" cy="30749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265D5C2C-D5CE-84D0-DFCE-92EE53414168}"/>
                </a:ext>
              </a:extLst>
            </p:cNvPr>
            <p:cNvPicPr>
              <a:picLocks noChangeAspect="1"/>
            </p:cNvPicPr>
            <p:nvPr/>
          </p:nvPicPr>
          <p:blipFill>
            <a:blip r:embed="rId2"/>
            <a:stretch>
              <a:fillRect/>
            </a:stretch>
          </p:blipFill>
          <p:spPr>
            <a:xfrm>
              <a:off x="838200" y="4218991"/>
              <a:ext cx="10515600" cy="2015490"/>
            </a:xfrm>
            <a:prstGeom prst="rect">
              <a:avLst/>
            </a:prstGeom>
          </p:spPr>
        </p:pic>
      </p:grpSp>
    </p:spTree>
    <p:extLst>
      <p:ext uri="{BB962C8B-B14F-4D97-AF65-F5344CB8AC3E}">
        <p14:creationId xmlns:p14="http://schemas.microsoft.com/office/powerpoint/2010/main" val="366135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Using the Host Node’s Namespaces in a Pod(9/9)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the Node’s PID and IPC Namespaces :</a:t>
            </a:r>
            <a:endParaRPr lang="en-US" altLang="ko-KR" sz="1400" dirty="0"/>
          </a:p>
          <a:p>
            <a:pPr lvl="1">
              <a:buFont typeface="Wingdings" panose="05000000000000000000" pitchFamily="2" charset="2"/>
              <a:buChar char="§"/>
            </a:pPr>
            <a:r>
              <a:rPr lang="en-US" altLang="ko-KR" sz="1400" b="1" dirty="0"/>
              <a:t>Pods usually see only their own processes, but if you run this pod and then list the processes from within its container, you’ll </a:t>
            </a:r>
            <a:r>
              <a:rPr lang="en-US" altLang="ko-KR" sz="1400" b="1" dirty="0">
                <a:solidFill>
                  <a:srgbClr val="FF0000"/>
                </a:solidFill>
              </a:rPr>
              <a:t>see all the processes running on the host node</a:t>
            </a:r>
            <a:r>
              <a:rPr lang="en-US" altLang="ko-KR" sz="1400" dirty="0"/>
              <a:t>, not only the ones running in the container,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By setting the “</a:t>
            </a:r>
            <a:r>
              <a:rPr lang="en-US" altLang="ko-KR" sz="1400" b="1" dirty="0" err="1"/>
              <a:t>hostIPC</a:t>
            </a:r>
            <a:r>
              <a:rPr lang="en-US" altLang="ko-KR" sz="1400" b="1" dirty="0"/>
              <a:t>” property to true, processes in the pod’s containers can also communicate with all the other processes running on the node</a:t>
            </a:r>
            <a:r>
              <a:rPr lang="en-US" altLang="ko-KR" sz="1400" dirty="0"/>
              <a:t>, through </a:t>
            </a:r>
            <a:r>
              <a:rPr lang="en-US" altLang="ko-KR" sz="1400" b="1" dirty="0"/>
              <a:t>Inter-Process Communication(</a:t>
            </a:r>
            <a:r>
              <a:rPr lang="en-US" altLang="ko-KR" sz="1400" b="1" dirty="0">
                <a:solidFill>
                  <a:srgbClr val="FF0000"/>
                </a:solidFill>
              </a:rPr>
              <a:t>IPC</a:t>
            </a:r>
            <a:r>
              <a:rPr lang="en-US" altLang="ko-KR" sz="1400" b="1" dirty="0"/>
              <a: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45882B1-A67C-EB10-41C6-4EF3723CF62C}"/>
              </a:ext>
            </a:extLst>
          </p:cNvPr>
          <p:cNvGrpSpPr/>
          <p:nvPr/>
        </p:nvGrpSpPr>
        <p:grpSpPr>
          <a:xfrm>
            <a:off x="838200" y="2018097"/>
            <a:ext cx="10515600" cy="2821806"/>
            <a:chOff x="838200" y="1894987"/>
            <a:chExt cx="10515600" cy="2821806"/>
          </a:xfrm>
        </p:grpSpPr>
        <p:sp>
          <p:nvSpPr>
            <p:cNvPr id="8" name="TextBox 7">
              <a:extLst>
                <a:ext uri="{FF2B5EF4-FFF2-40B4-BE49-F238E27FC236}">
                  <a16:creationId xmlns:a16="http://schemas.microsoft.com/office/drawing/2014/main" id="{DD6C5415-BB4D-73BC-65BC-F03EE2FBA27B}"/>
                </a:ext>
              </a:extLst>
            </p:cNvPr>
            <p:cNvSpPr txBox="1"/>
            <p:nvPr/>
          </p:nvSpPr>
          <p:spPr>
            <a:xfrm>
              <a:off x="3047326" y="1894987"/>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pod-with-host-</a:t>
              </a:r>
              <a:r>
                <a:rPr lang="en-US" altLang="ko-KR" sz="1000" b="1" dirty="0" err="1">
                  <a:solidFill>
                    <a:srgbClr val="FF0000"/>
                  </a:solidFill>
                </a:rPr>
                <a:t>pid</a:t>
              </a:r>
              <a:r>
                <a:rPr lang="en-US" altLang="ko-KR" sz="1000" b="1" dirty="0">
                  <a:solidFill>
                    <a:srgbClr val="FF0000"/>
                  </a:solidFill>
                </a:rPr>
                <a:t>-and-</a:t>
              </a:r>
              <a:r>
                <a:rPr lang="en-US" altLang="ko-KR" sz="1000" b="1" dirty="0" err="1">
                  <a:solidFill>
                    <a:srgbClr val="FF0000"/>
                  </a:solidFill>
                </a:rPr>
                <a:t>ipc</a:t>
              </a:r>
              <a:r>
                <a:rPr lang="en-US" altLang="ko-KR" sz="1000" b="1" dirty="0">
                  <a:solidFill>
                    <a:srgbClr val="FF0000"/>
                  </a:solidFill>
                </a:rPr>
                <a:t> -- </a:t>
              </a:r>
              <a:r>
                <a:rPr lang="en-US" altLang="ko-KR" sz="1000" b="1" dirty="0" err="1">
                  <a:solidFill>
                    <a:srgbClr val="FF0000"/>
                  </a:solidFill>
                </a:rPr>
                <a:t>ps</a:t>
              </a:r>
              <a:r>
                <a:rPr lang="en-US" altLang="ko-KR" sz="1000" b="1" dirty="0">
                  <a:solidFill>
                    <a:srgbClr val="FF0000"/>
                  </a:solidFill>
                </a:rPr>
                <a:t> aux</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7FB6B9EF-EBB4-6C9C-A5A7-513876C4C99E}"/>
                </a:ext>
              </a:extLst>
            </p:cNvPr>
            <p:cNvSpPr/>
            <p:nvPr/>
          </p:nvSpPr>
          <p:spPr>
            <a:xfrm>
              <a:off x="5853239" y="2160573"/>
              <a:ext cx="485522" cy="3236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EBB6617-4877-997E-DA11-3C70FD0106FD}"/>
                </a:ext>
              </a:extLst>
            </p:cNvPr>
            <p:cNvPicPr>
              <a:picLocks noChangeAspect="1"/>
            </p:cNvPicPr>
            <p:nvPr/>
          </p:nvPicPr>
          <p:blipFill>
            <a:blip r:embed="rId2"/>
            <a:stretch>
              <a:fillRect/>
            </a:stretch>
          </p:blipFill>
          <p:spPr>
            <a:xfrm>
              <a:off x="838200" y="2482228"/>
              <a:ext cx="10515600" cy="2234565"/>
            </a:xfrm>
            <a:prstGeom prst="rect">
              <a:avLst/>
            </a:prstGeom>
          </p:spPr>
        </p:pic>
      </p:grpSp>
    </p:spTree>
    <p:extLst>
      <p:ext uri="{BB962C8B-B14F-4D97-AF65-F5344CB8AC3E}">
        <p14:creationId xmlns:p14="http://schemas.microsoft.com/office/powerpoint/2010/main" val="1523874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Security Context :</a:t>
            </a:r>
            <a:endParaRPr lang="en-US" altLang="ko-KR" sz="1400" dirty="0"/>
          </a:p>
          <a:p>
            <a:pPr lvl="1">
              <a:buFont typeface="Wingdings" panose="05000000000000000000" pitchFamily="2" charset="2"/>
              <a:buChar char="§"/>
            </a:pPr>
            <a:r>
              <a:rPr lang="en-US" altLang="ko-KR" sz="1400" b="1" dirty="0"/>
              <a:t>Besides allowing the pod to use the host’s Linux namespaces, other </a:t>
            </a:r>
            <a:r>
              <a:rPr lang="en-US" altLang="ko-KR" sz="1400" b="1" dirty="0">
                <a:solidFill>
                  <a:srgbClr val="FF0000"/>
                </a:solidFill>
              </a:rPr>
              <a:t>security-related features </a:t>
            </a:r>
            <a:r>
              <a:rPr lang="en-US" altLang="ko-KR" sz="1400" b="1" dirty="0"/>
              <a:t>can also be configured on the pod and its container through the “</a:t>
            </a:r>
            <a:r>
              <a:rPr lang="en-US" altLang="ko-KR" sz="1400" b="1" dirty="0" err="1">
                <a:solidFill>
                  <a:srgbClr val="FF0000"/>
                </a:solidFill>
              </a:rPr>
              <a:t>securityContext</a:t>
            </a:r>
            <a:r>
              <a:rPr lang="en-US" altLang="ko-KR" sz="1400" b="1" dirty="0"/>
              <a:t>” properties</a:t>
            </a:r>
            <a:r>
              <a:rPr lang="en-US" altLang="ko-KR" sz="1400" dirty="0"/>
              <a:t>, which can be specified under the pod spec directly and inside the spec of individual containers.</a:t>
            </a:r>
          </a:p>
          <a:p>
            <a:pPr lvl="1">
              <a:buFont typeface="Wingdings" panose="05000000000000000000" pitchFamily="2" charset="2"/>
              <a:buChar char="§"/>
            </a:pPr>
            <a:r>
              <a:rPr lang="en-US" altLang="ko-KR" sz="1400" dirty="0"/>
              <a:t>Configuring the </a:t>
            </a:r>
            <a:r>
              <a:rPr lang="en-US" altLang="ko-KR" sz="1400" b="1" dirty="0"/>
              <a:t>security context </a:t>
            </a:r>
            <a:r>
              <a:rPr lang="en-US" altLang="ko-KR" sz="1400" dirty="0"/>
              <a:t>allows you to do various things : </a:t>
            </a:r>
          </a:p>
          <a:p>
            <a:pPr lvl="2">
              <a:buFont typeface="Wingdings" panose="05000000000000000000" pitchFamily="2" charset="2"/>
              <a:buChar char="§"/>
            </a:pPr>
            <a:r>
              <a:rPr lang="en-US" altLang="ko-KR" sz="1400" b="1" dirty="0"/>
              <a:t>Specify the user (the user’s ID) </a:t>
            </a:r>
            <a:r>
              <a:rPr lang="en-US" altLang="ko-KR" sz="1400" dirty="0"/>
              <a:t>under which the process in the container will run.</a:t>
            </a:r>
          </a:p>
          <a:p>
            <a:pPr lvl="2">
              <a:buFont typeface="Wingdings" panose="05000000000000000000" pitchFamily="2" charset="2"/>
              <a:buChar char="§"/>
            </a:pPr>
            <a:r>
              <a:rPr lang="en-US" altLang="ko-KR" sz="1400" b="1" dirty="0"/>
              <a:t>Prevent the container from running as root </a:t>
            </a:r>
            <a:r>
              <a:rPr lang="en-US" altLang="ko-KR" sz="1400" dirty="0"/>
              <a:t>(</a:t>
            </a:r>
            <a:r>
              <a:rPr lang="en-US" altLang="ko-KR" sz="1400" b="1" dirty="0"/>
              <a:t>the default user </a:t>
            </a:r>
            <a:r>
              <a:rPr lang="en-US" altLang="ko-KR" sz="1400" dirty="0"/>
              <a:t>a container runs as is usually defined in the container image itself, so you may want to prevent containers from running as root).</a:t>
            </a:r>
          </a:p>
          <a:p>
            <a:pPr lvl="2">
              <a:buFont typeface="Wingdings" panose="05000000000000000000" pitchFamily="2" charset="2"/>
              <a:buChar char="§"/>
            </a:pPr>
            <a:r>
              <a:rPr lang="en-US" altLang="ko-KR" sz="1400" b="1" dirty="0"/>
              <a:t>Run the container in privileged mode</a:t>
            </a:r>
            <a:r>
              <a:rPr lang="en-US" altLang="ko-KR" sz="1400" dirty="0"/>
              <a:t>, giving it full access to the node’s kernel.</a:t>
            </a:r>
          </a:p>
          <a:p>
            <a:pPr lvl="2">
              <a:buFont typeface="Wingdings" panose="05000000000000000000" pitchFamily="2" charset="2"/>
              <a:buChar char="§"/>
            </a:pPr>
            <a:r>
              <a:rPr lang="en-US" altLang="ko-KR" sz="1400" b="1" dirty="0"/>
              <a:t>Configure fine-grained privileges</a:t>
            </a:r>
            <a:r>
              <a:rPr lang="en-US" altLang="ko-KR" sz="1400" dirty="0"/>
              <a:t>, by adding or dropping capabilities—in contrast to giving the container all possible permissions by running it in privileged mode.</a:t>
            </a:r>
          </a:p>
          <a:p>
            <a:pPr lvl="2">
              <a:buFont typeface="Wingdings" panose="05000000000000000000" pitchFamily="2" charset="2"/>
              <a:buChar char="§"/>
            </a:pPr>
            <a:r>
              <a:rPr lang="en-US" altLang="ko-KR" sz="1400" b="1" dirty="0"/>
              <a:t>Set </a:t>
            </a:r>
            <a:r>
              <a:rPr lang="en-US" altLang="ko-KR" sz="1400" b="1" dirty="0" err="1">
                <a:solidFill>
                  <a:srgbClr val="FF0000"/>
                </a:solidFill>
              </a:rPr>
              <a:t>SELinux</a:t>
            </a:r>
            <a:r>
              <a:rPr lang="en-US" altLang="ko-KR" sz="1400" b="1" dirty="0"/>
              <a:t>(</a:t>
            </a:r>
            <a:r>
              <a:rPr lang="en-US" altLang="ko-KR" sz="1400" b="1" dirty="0">
                <a:solidFill>
                  <a:srgbClr val="FF0000"/>
                </a:solidFill>
              </a:rPr>
              <a:t>Security Enhanced Linux</a:t>
            </a:r>
            <a:r>
              <a:rPr lang="en-US" altLang="ko-KR" sz="1400" b="1" dirty="0"/>
              <a:t>) </a:t>
            </a:r>
            <a:r>
              <a:rPr lang="en-US" altLang="ko-KR" sz="1400" dirty="0"/>
              <a:t>options to strongly lock down a container.</a:t>
            </a:r>
          </a:p>
          <a:p>
            <a:pPr lvl="2">
              <a:buFont typeface="Wingdings" panose="05000000000000000000" pitchFamily="2" charset="2"/>
              <a:buChar char="§"/>
            </a:pPr>
            <a:r>
              <a:rPr lang="en-US" altLang="ko-KR" sz="1400" b="1" dirty="0"/>
              <a:t>Prevent the process from writing to the container’s filesystem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D1CE8E5-9F29-7106-94ED-89189988EDFF}"/>
              </a:ext>
            </a:extLst>
          </p:cNvPr>
          <p:cNvPicPr>
            <a:picLocks noChangeAspect="1"/>
          </p:cNvPicPr>
          <p:nvPr/>
        </p:nvPicPr>
        <p:blipFill>
          <a:blip r:embed="rId2"/>
          <a:stretch>
            <a:fillRect/>
          </a:stretch>
        </p:blipFill>
        <p:spPr>
          <a:xfrm>
            <a:off x="7339476" y="3934032"/>
            <a:ext cx="4014324" cy="2474997"/>
          </a:xfrm>
          <a:prstGeom prst="rect">
            <a:avLst/>
          </a:prstGeom>
        </p:spPr>
      </p:pic>
    </p:spTree>
    <p:extLst>
      <p:ext uri="{BB962C8B-B14F-4D97-AF65-F5344CB8AC3E}">
        <p14:creationId xmlns:p14="http://schemas.microsoft.com/office/powerpoint/2010/main" val="35776309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Context(2/19)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Security Context :</a:t>
            </a:r>
            <a:endParaRPr lang="en-US" altLang="ko-KR" sz="1400" dirty="0"/>
          </a:p>
          <a:p>
            <a:pPr lvl="1">
              <a:buFont typeface="Wingdings" panose="05000000000000000000" pitchFamily="2" charset="2"/>
              <a:buChar char="§"/>
            </a:pPr>
            <a:r>
              <a:rPr lang="en-US" altLang="ko-KR" sz="1400" b="1" dirty="0"/>
              <a:t>First, run a pod with the default security context options </a:t>
            </a:r>
            <a:r>
              <a:rPr lang="en-US" altLang="ko-KR" sz="1400" dirty="0"/>
              <a:t>(by not specifying them at all), so you can see how it behaves compared to pods with </a:t>
            </a:r>
            <a:r>
              <a:rPr lang="en-US" altLang="ko-KR" sz="1400" b="1" dirty="0"/>
              <a:t>a custom security context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Let’s see </a:t>
            </a:r>
            <a:r>
              <a:rPr lang="en-US" altLang="ko-KR" sz="1400" b="1" dirty="0"/>
              <a:t>what user and group ID the container is running as, and which groups it belongs to</a:t>
            </a:r>
            <a:r>
              <a:rPr lang="en-US" altLang="ko-KR" sz="1400" dirty="0"/>
              <a:t>. You can see this by </a:t>
            </a:r>
            <a:r>
              <a:rPr lang="en-US" altLang="ko-KR" sz="1400" b="1" dirty="0"/>
              <a:t>running the “</a:t>
            </a:r>
            <a:r>
              <a:rPr lang="en-US" altLang="ko-KR" sz="1400" b="1" dirty="0">
                <a:solidFill>
                  <a:srgbClr val="FF0000"/>
                </a:solidFill>
              </a:rPr>
              <a:t>id</a:t>
            </a:r>
            <a:r>
              <a:rPr lang="en-US" altLang="ko-KR" sz="1400" b="1" dirty="0"/>
              <a:t>” command inside the container.</a:t>
            </a:r>
          </a:p>
          <a:p>
            <a:pPr lvl="1">
              <a:buFont typeface="Wingdings" panose="05000000000000000000" pitchFamily="2" charset="2"/>
              <a:buChar char="§"/>
            </a:pPr>
            <a:r>
              <a:rPr lang="en-US" altLang="ko-KR" sz="1400" b="1" dirty="0"/>
              <a:t>The container is running as “user ID (</a:t>
            </a:r>
            <a:r>
              <a:rPr lang="en-US" altLang="ko-KR" sz="1400" b="1" dirty="0" err="1"/>
              <a:t>uid</a:t>
            </a:r>
            <a:r>
              <a:rPr lang="en-US" altLang="ko-KR" sz="1400" b="1" dirty="0"/>
              <a:t>) 0”, which is “root”, and “group ID (gid) 0” (also “root”)</a:t>
            </a:r>
            <a:r>
              <a:rPr lang="en-US" altLang="ko-KR" sz="1400" dirty="0"/>
              <a:t>. It’s also a member of multiple other groups.</a:t>
            </a:r>
          </a:p>
          <a:p>
            <a:pPr lvl="1">
              <a:buFont typeface="Wingdings" panose="05000000000000000000" pitchFamily="2" charset="2"/>
              <a:buChar char="§"/>
            </a:pPr>
            <a:r>
              <a:rPr lang="en-US" altLang="ko-KR" sz="1400" b="1" dirty="0"/>
              <a:t>NOTE : What user the container runs as is specified in the container image</a:t>
            </a:r>
            <a:r>
              <a:rPr lang="en-US" altLang="ko-KR" sz="1400" dirty="0"/>
              <a:t>. </a:t>
            </a:r>
            <a:r>
              <a:rPr lang="en-US" altLang="ko-KR" sz="1400" b="1" dirty="0"/>
              <a:t>In a </a:t>
            </a:r>
            <a:r>
              <a:rPr lang="en-US" altLang="ko-KR" sz="1400" b="1" dirty="0" err="1"/>
              <a:t>Dockerfile</a:t>
            </a:r>
            <a:r>
              <a:rPr lang="en-US" altLang="ko-KR" sz="1400" b="1" dirty="0"/>
              <a:t>, this is done using the “</a:t>
            </a:r>
            <a:r>
              <a:rPr lang="en-US" altLang="ko-KR" sz="1400" b="1" dirty="0">
                <a:solidFill>
                  <a:srgbClr val="FF0000"/>
                </a:solidFill>
              </a:rPr>
              <a:t>USER</a:t>
            </a:r>
            <a:r>
              <a:rPr lang="en-US" altLang="ko-KR" sz="1400" b="1" dirty="0"/>
              <a:t>” directive. If omitted, the container runs as root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B593F9F1-1849-2A7A-17D4-750BE8B5A9B7}"/>
              </a:ext>
            </a:extLst>
          </p:cNvPr>
          <p:cNvGrpSpPr/>
          <p:nvPr/>
        </p:nvGrpSpPr>
        <p:grpSpPr>
          <a:xfrm>
            <a:off x="838200" y="1732335"/>
            <a:ext cx="10515600" cy="2647412"/>
            <a:chOff x="838200" y="1691875"/>
            <a:chExt cx="10515600" cy="2647412"/>
          </a:xfrm>
        </p:grpSpPr>
        <p:grpSp>
          <p:nvGrpSpPr>
            <p:cNvPr id="12" name="그룹 11">
              <a:extLst>
                <a:ext uri="{FF2B5EF4-FFF2-40B4-BE49-F238E27FC236}">
                  <a16:creationId xmlns:a16="http://schemas.microsoft.com/office/drawing/2014/main" id="{4915984F-9574-BDC6-79A5-10D6366D56BE}"/>
                </a:ext>
              </a:extLst>
            </p:cNvPr>
            <p:cNvGrpSpPr/>
            <p:nvPr/>
          </p:nvGrpSpPr>
          <p:grpSpPr>
            <a:xfrm>
              <a:off x="3047326" y="1691875"/>
              <a:ext cx="6097348" cy="719552"/>
              <a:chOff x="3047326" y="1619047"/>
              <a:chExt cx="6097348" cy="719552"/>
            </a:xfrm>
          </p:grpSpPr>
          <p:sp>
            <p:nvSpPr>
              <p:cNvPr id="8" name="TextBox 7">
                <a:extLst>
                  <a:ext uri="{FF2B5EF4-FFF2-40B4-BE49-F238E27FC236}">
                    <a16:creationId xmlns:a16="http://schemas.microsoft.com/office/drawing/2014/main" id="{E386BBEC-0129-D86C-1E3B-233856672F83}"/>
                  </a:ext>
                </a:extLst>
              </p:cNvPr>
              <p:cNvSpPr txBox="1"/>
              <p:nvPr/>
            </p:nvSpPr>
            <p:spPr>
              <a:xfrm>
                <a:off x="3047326" y="1619047"/>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a:solidFill>
                      <a:srgbClr val="FF0000"/>
                    </a:solidFill>
                  </a:rPr>
                  <a:t>pod-with-defaults</a:t>
                </a:r>
                <a:r>
                  <a:rPr lang="en-US" altLang="ko-KR" sz="1000" b="1" dirty="0"/>
                  <a:t> --image alpine --restart Never -- /bin/sleep 999999</a:t>
                </a:r>
              </a:p>
              <a:p>
                <a:r>
                  <a:rPr lang="en-US" altLang="ko-KR" sz="1000" b="1" dirty="0"/>
                  <a:t>$ </a:t>
                </a:r>
                <a:r>
                  <a:rPr lang="en-US" altLang="ko-KR" sz="1000" b="1" dirty="0" err="1"/>
                  <a:t>kubectl</a:t>
                </a:r>
                <a:r>
                  <a:rPr lang="en-US" altLang="ko-KR" sz="1000" b="1" dirty="0"/>
                  <a:t> exec </a:t>
                </a:r>
                <a:r>
                  <a:rPr lang="en-US" altLang="ko-KR" sz="1000" b="1" dirty="0">
                    <a:solidFill>
                      <a:srgbClr val="FF0000"/>
                    </a:solidFill>
                  </a:rPr>
                  <a:t>pod-with-defaults -- id</a:t>
                </a:r>
              </a:p>
            </p:txBody>
          </p:sp>
          <p:sp>
            <p:nvSpPr>
              <p:cNvPr id="11" name="화살표: 아래쪽 10">
                <a:extLst>
                  <a:ext uri="{FF2B5EF4-FFF2-40B4-BE49-F238E27FC236}">
                    <a16:creationId xmlns:a16="http://schemas.microsoft.com/office/drawing/2014/main" id="{4C327C45-4D71-7957-3048-DEA2816AC13D}"/>
                  </a:ext>
                </a:extLst>
              </p:cNvPr>
              <p:cNvSpPr/>
              <p:nvPr/>
            </p:nvSpPr>
            <p:spPr>
              <a:xfrm>
                <a:off x="5869423" y="2040587"/>
                <a:ext cx="453154" cy="29801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4" name="그림 13">
              <a:extLst>
                <a:ext uri="{FF2B5EF4-FFF2-40B4-BE49-F238E27FC236}">
                  <a16:creationId xmlns:a16="http://schemas.microsoft.com/office/drawing/2014/main" id="{BFBADAC4-0D5B-73C1-C1AC-75E6080AD987}"/>
                </a:ext>
              </a:extLst>
            </p:cNvPr>
            <p:cNvPicPr>
              <a:picLocks noChangeAspect="1"/>
            </p:cNvPicPr>
            <p:nvPr/>
          </p:nvPicPr>
          <p:blipFill>
            <a:blip r:embed="rId2"/>
            <a:stretch>
              <a:fillRect/>
            </a:stretch>
          </p:blipFill>
          <p:spPr>
            <a:xfrm>
              <a:off x="838200" y="2411427"/>
              <a:ext cx="10515600" cy="1927860"/>
            </a:xfrm>
            <a:prstGeom prst="rect">
              <a:avLst/>
            </a:prstGeom>
          </p:spPr>
        </p:pic>
      </p:grpSp>
    </p:spTree>
    <p:extLst>
      <p:ext uri="{BB962C8B-B14F-4D97-AF65-F5344CB8AC3E}">
        <p14:creationId xmlns:p14="http://schemas.microsoft.com/office/powerpoint/2010/main" val="4505638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Context(3/19)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a:t>
            </a:r>
            <a:r>
              <a:rPr lang="ko-KR" altLang="en-US" sz="1800" b="1" dirty="0"/>
              <a:t> </a:t>
            </a:r>
            <a:r>
              <a:rPr lang="en-US" altLang="ko-KR" sz="1800" b="1" dirty="0"/>
              <a:t>a</a:t>
            </a:r>
            <a:r>
              <a:rPr lang="ko-KR" altLang="en-US" sz="1800" b="1" dirty="0"/>
              <a:t> </a:t>
            </a:r>
            <a:r>
              <a:rPr lang="en-US" altLang="ko-KR" sz="1800" b="1" dirty="0"/>
              <a:t>Container</a:t>
            </a:r>
            <a:r>
              <a:rPr lang="ko-KR" altLang="en-US" sz="1800" b="1" dirty="0"/>
              <a:t> </a:t>
            </a:r>
            <a:r>
              <a:rPr lang="en-US" altLang="ko-KR" sz="1800" b="1" dirty="0"/>
              <a:t>as</a:t>
            </a:r>
            <a:r>
              <a:rPr lang="ko-KR" altLang="en-US" sz="1800" b="1" dirty="0"/>
              <a:t> </a:t>
            </a:r>
            <a:r>
              <a:rPr lang="en-US" altLang="ko-KR" sz="1800" b="1" dirty="0"/>
              <a:t>a</a:t>
            </a:r>
            <a:r>
              <a:rPr lang="ko-KR" altLang="en-US" sz="1800" b="1" dirty="0"/>
              <a:t> </a:t>
            </a:r>
            <a:r>
              <a:rPr lang="en-US" altLang="ko-KR" sz="1800" b="1" dirty="0"/>
              <a:t>Specific User :</a:t>
            </a:r>
          </a:p>
          <a:p>
            <a:pPr lvl="1">
              <a:buFont typeface="Wingdings" panose="05000000000000000000" pitchFamily="2" charset="2"/>
              <a:buChar char="§"/>
            </a:pPr>
            <a:r>
              <a:rPr lang="en-US" altLang="ko-KR" sz="1400" b="1" dirty="0"/>
              <a:t>To run a pod under a different user ID than the one that’s baked into the container image, you’ll need to set the pod’s “</a:t>
            </a:r>
            <a:r>
              <a:rPr lang="en-US" altLang="ko-KR" sz="1400" b="1" dirty="0" err="1">
                <a:solidFill>
                  <a:srgbClr val="FF0000"/>
                </a:solidFill>
              </a:rPr>
              <a:t>securityContext.runAsUser</a:t>
            </a:r>
            <a:r>
              <a:rPr lang="en-US" altLang="ko-KR" sz="1400" b="1" dirty="0"/>
              <a:t>” property</a:t>
            </a:r>
            <a:r>
              <a:rPr lang="en-US" altLang="ko-KR" sz="1400" dirty="0"/>
              <a:t>. You’ll make the container run as user “</a:t>
            </a:r>
            <a:r>
              <a:rPr lang="en-US" altLang="ko-KR" sz="1400" b="1" dirty="0"/>
              <a:t>guest</a:t>
            </a:r>
            <a:r>
              <a:rPr lang="en-US" altLang="ko-KR" sz="1400" dirty="0"/>
              <a:t>”, whose “</a:t>
            </a:r>
            <a:r>
              <a:rPr lang="en-US" altLang="ko-KR" sz="1400" b="1" dirty="0"/>
              <a:t>user ID</a:t>
            </a:r>
            <a:r>
              <a:rPr lang="en-US" altLang="ko-KR" sz="1400" dirty="0"/>
              <a:t>” in the “</a:t>
            </a:r>
            <a:r>
              <a:rPr lang="en-US" altLang="ko-KR" sz="1400" b="1" dirty="0"/>
              <a:t>alpine</a:t>
            </a:r>
            <a:r>
              <a:rPr lang="en-US" altLang="ko-KR" sz="1400" dirty="0"/>
              <a:t>” container image is “</a:t>
            </a:r>
            <a:r>
              <a:rPr lang="en-US" altLang="ko-KR" sz="1400" b="1" dirty="0"/>
              <a:t>405</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Now, to see the effect of the “</a:t>
            </a:r>
            <a:r>
              <a:rPr lang="en-US" altLang="ko-KR" sz="1400" b="1" dirty="0" err="1"/>
              <a:t>runAsUser</a:t>
            </a:r>
            <a:r>
              <a:rPr lang="en-US" altLang="ko-KR" sz="1400" dirty="0"/>
              <a:t>” property, </a:t>
            </a:r>
            <a:r>
              <a:rPr lang="en-US" altLang="ko-KR" sz="1400" b="1" dirty="0"/>
              <a:t>run the “id” command in this new pod</a:t>
            </a:r>
            <a:r>
              <a:rPr lang="en-US" altLang="ko-KR" sz="1400" dirty="0"/>
              <a:t>, the way you did before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AE90AD3-DFA6-E687-16B2-BB63139EBB30}"/>
              </a:ext>
            </a:extLst>
          </p:cNvPr>
          <p:cNvGrpSpPr/>
          <p:nvPr/>
        </p:nvGrpSpPr>
        <p:grpSpPr>
          <a:xfrm>
            <a:off x="3048674" y="1861363"/>
            <a:ext cx="6097348" cy="1785104"/>
            <a:chOff x="3048674" y="1861363"/>
            <a:chExt cx="6097348" cy="1785104"/>
          </a:xfrm>
        </p:grpSpPr>
        <p:sp>
          <p:nvSpPr>
            <p:cNvPr id="8" name="TextBox 7">
              <a:extLst>
                <a:ext uri="{FF2B5EF4-FFF2-40B4-BE49-F238E27FC236}">
                  <a16:creationId xmlns:a16="http://schemas.microsoft.com/office/drawing/2014/main" id="{8F3D1C77-6A43-858E-82C6-C84D35877F9E}"/>
                </a:ext>
              </a:extLst>
            </p:cNvPr>
            <p:cNvSpPr txBox="1"/>
            <p:nvPr/>
          </p:nvSpPr>
          <p:spPr>
            <a:xfrm>
              <a:off x="3048674" y="1861363"/>
              <a:ext cx="6097348"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pod-as-user-guest</a:t>
              </a:r>
            </a:p>
            <a:p>
              <a:r>
                <a:rPr lang="en-US" altLang="ko-KR" sz="1000" b="1" dirty="0"/>
                <a:t>spec:</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a:p>
              <a:r>
                <a:rPr lang="en-US" altLang="ko-KR" sz="1000" b="1" dirty="0"/>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runAsUser</a:t>
              </a:r>
              <a:r>
                <a:rPr lang="en-US" altLang="ko-KR" sz="1000" b="1" dirty="0">
                  <a:solidFill>
                    <a:srgbClr val="FF0000"/>
                  </a:solidFill>
                </a:rPr>
                <a:t>: 405</a:t>
              </a:r>
              <a:endParaRPr lang="ko-KR" altLang="en-US" sz="1000" b="1" dirty="0">
                <a:solidFill>
                  <a:srgbClr val="FF0000"/>
                </a:solidFill>
              </a:endParaRPr>
            </a:p>
          </p:txBody>
        </p:sp>
        <p:sp>
          <p:nvSpPr>
            <p:cNvPr id="9" name="TextBox 8">
              <a:extLst>
                <a:ext uri="{FF2B5EF4-FFF2-40B4-BE49-F238E27FC236}">
                  <a16:creationId xmlns:a16="http://schemas.microsoft.com/office/drawing/2014/main" id="{3667BA98-96AE-FC75-F867-236C3F2AD84F}"/>
                </a:ext>
              </a:extLst>
            </p:cNvPr>
            <p:cNvSpPr txBox="1"/>
            <p:nvPr/>
          </p:nvSpPr>
          <p:spPr>
            <a:xfrm>
              <a:off x="7512241" y="1862782"/>
              <a:ext cx="1633781" cy="246221"/>
            </a:xfrm>
            <a:prstGeom prst="rect">
              <a:avLst/>
            </a:prstGeom>
            <a:noFill/>
          </p:spPr>
          <p:txBody>
            <a:bodyPr wrap="none" rtlCol="0">
              <a:spAutoFit/>
            </a:bodyPr>
            <a:lstStyle/>
            <a:p>
              <a:pPr algn="l"/>
              <a:r>
                <a:rPr lang="en-US" altLang="ko-KR" sz="1000" b="1" dirty="0"/>
                <a:t>pod-as-user-</a:t>
              </a:r>
              <a:r>
                <a:rPr lang="en-US" altLang="ko-KR" sz="1000" b="1" dirty="0" err="1"/>
                <a:t>guest.yaml</a:t>
              </a:r>
              <a:endParaRPr lang="ko-KR" altLang="en-US" sz="1000" b="1" dirty="0"/>
            </a:p>
          </p:txBody>
        </p:sp>
      </p:grpSp>
      <p:grpSp>
        <p:nvGrpSpPr>
          <p:cNvPr id="17" name="그룹 16">
            <a:extLst>
              <a:ext uri="{FF2B5EF4-FFF2-40B4-BE49-F238E27FC236}">
                <a16:creationId xmlns:a16="http://schemas.microsoft.com/office/drawing/2014/main" id="{3D503C38-82B3-A232-7013-C872DD176E0A}"/>
              </a:ext>
            </a:extLst>
          </p:cNvPr>
          <p:cNvGrpSpPr/>
          <p:nvPr/>
        </p:nvGrpSpPr>
        <p:grpSpPr>
          <a:xfrm>
            <a:off x="838200" y="4212807"/>
            <a:ext cx="10513716" cy="2050174"/>
            <a:chOff x="838200" y="4212807"/>
            <a:chExt cx="10513716" cy="2050174"/>
          </a:xfrm>
        </p:grpSpPr>
        <p:grpSp>
          <p:nvGrpSpPr>
            <p:cNvPr id="15" name="그룹 14">
              <a:extLst>
                <a:ext uri="{FF2B5EF4-FFF2-40B4-BE49-F238E27FC236}">
                  <a16:creationId xmlns:a16="http://schemas.microsoft.com/office/drawing/2014/main" id="{B3D560F0-E637-777A-0FE4-62953B106C0F}"/>
                </a:ext>
              </a:extLst>
            </p:cNvPr>
            <p:cNvGrpSpPr/>
            <p:nvPr/>
          </p:nvGrpSpPr>
          <p:grpSpPr>
            <a:xfrm>
              <a:off x="838200" y="4212807"/>
              <a:ext cx="10513716" cy="2050174"/>
              <a:chOff x="838200" y="4212807"/>
              <a:chExt cx="10513716" cy="2050174"/>
            </a:xfrm>
          </p:grpSpPr>
          <p:pic>
            <p:nvPicPr>
              <p:cNvPr id="12" name="그림 11">
                <a:extLst>
                  <a:ext uri="{FF2B5EF4-FFF2-40B4-BE49-F238E27FC236}">
                    <a16:creationId xmlns:a16="http://schemas.microsoft.com/office/drawing/2014/main" id="{D145AFE5-78DA-ECC6-DFB1-4E7F5760DF5C}"/>
                  </a:ext>
                </a:extLst>
              </p:cNvPr>
              <p:cNvPicPr>
                <a:picLocks noChangeAspect="1"/>
              </p:cNvPicPr>
              <p:nvPr/>
            </p:nvPicPr>
            <p:blipFill>
              <a:blip r:embed="rId2"/>
              <a:stretch>
                <a:fillRect/>
              </a:stretch>
            </p:blipFill>
            <p:spPr>
              <a:xfrm>
                <a:off x="838200" y="4212807"/>
                <a:ext cx="10513716" cy="2050174"/>
              </a:xfrm>
              <a:prstGeom prst="rect">
                <a:avLst/>
              </a:prstGeom>
            </p:spPr>
          </p:pic>
          <p:sp>
            <p:nvSpPr>
              <p:cNvPr id="13" name="직사각형 12">
                <a:extLst>
                  <a:ext uri="{FF2B5EF4-FFF2-40B4-BE49-F238E27FC236}">
                    <a16:creationId xmlns:a16="http://schemas.microsoft.com/office/drawing/2014/main" id="{11770879-CE55-86CA-3B82-1311A460DE5C}"/>
                  </a:ext>
                </a:extLst>
              </p:cNvPr>
              <p:cNvSpPr/>
              <p:nvPr/>
            </p:nvSpPr>
            <p:spPr>
              <a:xfrm>
                <a:off x="5308375" y="4692964"/>
                <a:ext cx="2872673" cy="2027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43201794-FDD1-7F21-D4AB-2710F0A7A2FA}"/>
                  </a:ext>
                </a:extLst>
              </p:cNvPr>
              <p:cNvSpPr/>
              <p:nvPr/>
            </p:nvSpPr>
            <p:spPr>
              <a:xfrm>
                <a:off x="5306491" y="5571680"/>
                <a:ext cx="2623704" cy="2027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6" name="직사각형 15">
              <a:extLst>
                <a:ext uri="{FF2B5EF4-FFF2-40B4-BE49-F238E27FC236}">
                  <a16:creationId xmlns:a16="http://schemas.microsoft.com/office/drawing/2014/main" id="{B57B58CE-73CF-F7B1-F6CF-AC2D4128C29F}"/>
                </a:ext>
              </a:extLst>
            </p:cNvPr>
            <p:cNvSpPr/>
            <p:nvPr/>
          </p:nvSpPr>
          <p:spPr>
            <a:xfrm>
              <a:off x="930584" y="5737253"/>
              <a:ext cx="2118090"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834439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Context(4/19)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a Container from Running as Root :</a:t>
            </a:r>
            <a:endParaRPr lang="en-US" altLang="ko-KR" sz="1400" dirty="0"/>
          </a:p>
          <a:p>
            <a:pPr lvl="1">
              <a:buFont typeface="Wingdings" panose="05000000000000000000" pitchFamily="2" charset="2"/>
              <a:buChar char="§"/>
            </a:pPr>
            <a:r>
              <a:rPr lang="en-US" altLang="ko-KR" sz="1400" b="1" dirty="0"/>
              <a:t>Imagine having a pod deployed with a container image that was built with a “USER” daemon directive in the </a:t>
            </a:r>
            <a:r>
              <a:rPr lang="en-US" altLang="ko-KR" sz="1400" b="1" dirty="0" err="1"/>
              <a:t>Dockerfile</a:t>
            </a:r>
            <a:r>
              <a:rPr lang="en-US" altLang="ko-KR" sz="1400" b="1" dirty="0"/>
              <a:t>, which makes the container run under the daemon user</a:t>
            </a:r>
            <a:r>
              <a:rPr lang="en-US" altLang="ko-KR" sz="1400" dirty="0"/>
              <a:t>. What if an attacker gets access to your image registry and pushes a different image under the same tag? </a:t>
            </a:r>
            <a:r>
              <a:rPr lang="en-US" altLang="ko-KR" sz="1400" b="1" dirty="0"/>
              <a:t>The attacker’s image is configured to run as the root user. When Kubernetes schedules a new instance of your pod, the </a:t>
            </a:r>
            <a:r>
              <a:rPr lang="en-US" altLang="ko-KR" sz="1400" b="1" dirty="0" err="1"/>
              <a:t>Kubelet</a:t>
            </a:r>
            <a:r>
              <a:rPr lang="en-US" altLang="ko-KR" sz="1400" b="1" dirty="0"/>
              <a:t> will download the attacker’s image and run whatever code they put into it</a:t>
            </a:r>
            <a:r>
              <a:rPr lang="en-US" altLang="ko-KR" sz="1400" dirty="0"/>
              <a:t>. </a:t>
            </a:r>
          </a:p>
          <a:p>
            <a:pPr lvl="1">
              <a:buFont typeface="Wingdings" panose="05000000000000000000" pitchFamily="2" charset="2"/>
              <a:buChar char="§"/>
            </a:pPr>
            <a:r>
              <a:rPr lang="en-US" altLang="ko-KR" sz="1400" b="1" dirty="0"/>
              <a:t>Although containers are mostly isolated from the host system, </a:t>
            </a:r>
            <a:r>
              <a:rPr lang="en-US" altLang="ko-KR" sz="1400" b="1" dirty="0">
                <a:solidFill>
                  <a:srgbClr val="FF0000"/>
                </a:solidFill>
              </a:rPr>
              <a:t>running their processes as root is still considered a bad practice</a:t>
            </a:r>
            <a:r>
              <a:rPr lang="en-US" altLang="ko-KR" sz="1400" dirty="0"/>
              <a:t>. For example, when a host directory is mounted into the container, if the process running in the container is running as root, it has full access to the mounted directory, whereas if it’s running as non-root, it won’t.</a:t>
            </a:r>
          </a:p>
          <a:p>
            <a:pPr lvl="1">
              <a:buFont typeface="Wingdings" panose="05000000000000000000" pitchFamily="2" charset="2"/>
              <a:buChar char="§"/>
            </a:pPr>
            <a:r>
              <a:rPr lang="en-US" altLang="ko-KR" sz="1400" b="1" dirty="0"/>
              <a:t>To prevent the attack scenario described previously, you can specify that </a:t>
            </a:r>
            <a:r>
              <a:rPr lang="en-US" altLang="ko-KR" sz="1400" b="1" dirty="0">
                <a:solidFill>
                  <a:srgbClr val="FF0000"/>
                </a:solidFill>
              </a:rPr>
              <a:t>the pod’s container needs to run as a non-root user</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C842D8C-A23F-83D6-D8C8-9ACC60B80390}"/>
              </a:ext>
            </a:extLst>
          </p:cNvPr>
          <p:cNvGrpSpPr/>
          <p:nvPr/>
        </p:nvGrpSpPr>
        <p:grpSpPr>
          <a:xfrm>
            <a:off x="3047326" y="3429000"/>
            <a:ext cx="6097348" cy="1785104"/>
            <a:chOff x="3047326" y="3590572"/>
            <a:chExt cx="6097348" cy="1785104"/>
          </a:xfrm>
        </p:grpSpPr>
        <p:sp>
          <p:nvSpPr>
            <p:cNvPr id="8" name="TextBox 7">
              <a:extLst>
                <a:ext uri="{FF2B5EF4-FFF2-40B4-BE49-F238E27FC236}">
                  <a16:creationId xmlns:a16="http://schemas.microsoft.com/office/drawing/2014/main" id="{A39F547A-BD76-1F3A-9854-729C988AF889}"/>
                </a:ext>
              </a:extLst>
            </p:cNvPr>
            <p:cNvSpPr txBox="1"/>
            <p:nvPr/>
          </p:nvSpPr>
          <p:spPr>
            <a:xfrm>
              <a:off x="3047326" y="3590572"/>
              <a:ext cx="6097348"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pod-run-as-non-root</a:t>
              </a:r>
            </a:p>
            <a:p>
              <a:r>
                <a:rPr lang="en-US" altLang="ko-KR" sz="1000" b="1" dirty="0"/>
                <a:t>spec:</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a:p>
              <a:r>
                <a:rPr lang="en-US" altLang="ko-KR" sz="1000" b="1" dirty="0">
                  <a:solidFill>
                    <a:srgbClr val="FF0000"/>
                  </a:solidFill>
                </a:rPr>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runAsNonRoot</a:t>
              </a:r>
              <a:r>
                <a:rPr lang="en-US" altLang="ko-KR" sz="1000" b="1" dirty="0">
                  <a:solidFill>
                    <a:srgbClr val="FF0000"/>
                  </a:solidFill>
                </a:rPr>
                <a:t>: true</a:t>
              </a:r>
            </a:p>
          </p:txBody>
        </p:sp>
        <p:sp>
          <p:nvSpPr>
            <p:cNvPr id="9" name="TextBox 8">
              <a:extLst>
                <a:ext uri="{FF2B5EF4-FFF2-40B4-BE49-F238E27FC236}">
                  <a16:creationId xmlns:a16="http://schemas.microsoft.com/office/drawing/2014/main" id="{077B90E8-9FEB-0C93-BF58-1B1D0BA8D8D0}"/>
                </a:ext>
              </a:extLst>
            </p:cNvPr>
            <p:cNvSpPr txBox="1"/>
            <p:nvPr/>
          </p:nvSpPr>
          <p:spPr>
            <a:xfrm>
              <a:off x="7350593" y="3590572"/>
              <a:ext cx="1794081" cy="246221"/>
            </a:xfrm>
            <a:prstGeom prst="rect">
              <a:avLst/>
            </a:prstGeom>
            <a:noFill/>
          </p:spPr>
          <p:txBody>
            <a:bodyPr wrap="none" rtlCol="0">
              <a:spAutoFit/>
            </a:bodyPr>
            <a:lstStyle/>
            <a:p>
              <a:pPr algn="l"/>
              <a:r>
                <a:rPr lang="en-US" altLang="ko-KR" sz="1000" b="1" dirty="0"/>
                <a:t>pod-run-as-non-</a:t>
              </a:r>
              <a:r>
                <a:rPr lang="en-US" altLang="ko-KR" sz="1000" b="1" dirty="0" err="1"/>
                <a:t>root.yaml</a:t>
              </a:r>
              <a:endParaRPr lang="ko-KR" altLang="en-US" sz="1000" b="1" dirty="0"/>
            </a:p>
          </p:txBody>
        </p:sp>
      </p:grpSp>
    </p:spTree>
    <p:extLst>
      <p:ext uri="{BB962C8B-B14F-4D97-AF65-F5344CB8AC3E}">
        <p14:creationId xmlns:p14="http://schemas.microsoft.com/office/powerpoint/2010/main" val="35186181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Context(5/19)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a Container from Running as Root :</a:t>
            </a:r>
            <a:endParaRPr lang="en-US" altLang="ko-KR" sz="1400" dirty="0"/>
          </a:p>
          <a:p>
            <a:pPr lvl="1">
              <a:buFont typeface="Wingdings" panose="05000000000000000000" pitchFamily="2" charset="2"/>
              <a:buChar char="§"/>
            </a:pPr>
            <a:r>
              <a:rPr lang="en-US" altLang="ko-KR" sz="1400" dirty="0"/>
              <a:t>If you </a:t>
            </a:r>
            <a:r>
              <a:rPr lang="en-US" altLang="ko-KR" sz="1400" b="1" dirty="0"/>
              <a:t>deploy this po</a:t>
            </a:r>
            <a:r>
              <a:rPr lang="en-US" altLang="ko-KR" sz="1400" dirty="0"/>
              <a:t>d, it gets scheduled, </a:t>
            </a:r>
            <a:r>
              <a:rPr lang="en-US" altLang="ko-KR" sz="1400" b="1" dirty="0"/>
              <a:t>but is not allowed to run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Now, if anyone tampers with your container images, they won’t get far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D6230A4F-1BBA-8734-3C8E-2194B4282CC5}"/>
              </a:ext>
            </a:extLst>
          </p:cNvPr>
          <p:cNvGrpSpPr/>
          <p:nvPr/>
        </p:nvGrpSpPr>
        <p:grpSpPr>
          <a:xfrm>
            <a:off x="838200" y="1579398"/>
            <a:ext cx="10515600" cy="2559601"/>
            <a:chOff x="838200" y="1474202"/>
            <a:chExt cx="10515600" cy="2559601"/>
          </a:xfrm>
        </p:grpSpPr>
        <p:sp>
          <p:nvSpPr>
            <p:cNvPr id="8" name="TextBox 7">
              <a:extLst>
                <a:ext uri="{FF2B5EF4-FFF2-40B4-BE49-F238E27FC236}">
                  <a16:creationId xmlns:a16="http://schemas.microsoft.com/office/drawing/2014/main" id="{DA05AAEC-C04B-C0E9-282A-68A409D0CE40}"/>
                </a:ext>
              </a:extLst>
            </p:cNvPr>
            <p:cNvSpPr txBox="1"/>
            <p:nvPr/>
          </p:nvSpPr>
          <p:spPr>
            <a:xfrm>
              <a:off x="3047326" y="1474202"/>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pod-run-as-non-</a:t>
              </a:r>
              <a:r>
                <a:rPr lang="en-US" altLang="ko-KR" sz="1000" b="1" dirty="0" err="1">
                  <a:solidFill>
                    <a:srgbClr val="FF0000"/>
                  </a:solidFill>
                </a:rPr>
                <a:t>root.yaml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get pod </a:t>
              </a:r>
              <a:r>
                <a:rPr lang="en-US" altLang="ko-KR" sz="1000" b="1" dirty="0">
                  <a:solidFill>
                    <a:srgbClr val="FF0000"/>
                  </a:solidFill>
                </a:rPr>
                <a:t>pod-run-as-non-root</a:t>
              </a:r>
            </a:p>
          </p:txBody>
        </p:sp>
        <p:pic>
          <p:nvPicPr>
            <p:cNvPr id="10" name="그림 9">
              <a:extLst>
                <a:ext uri="{FF2B5EF4-FFF2-40B4-BE49-F238E27FC236}">
                  <a16:creationId xmlns:a16="http://schemas.microsoft.com/office/drawing/2014/main" id="{852F0506-7CD3-E10A-60D5-F8D4AF71678C}"/>
                </a:ext>
              </a:extLst>
            </p:cNvPr>
            <p:cNvPicPr>
              <a:picLocks noChangeAspect="1"/>
            </p:cNvPicPr>
            <p:nvPr/>
          </p:nvPicPr>
          <p:blipFill>
            <a:blip r:embed="rId2"/>
            <a:stretch>
              <a:fillRect/>
            </a:stretch>
          </p:blipFill>
          <p:spPr>
            <a:xfrm>
              <a:off x="838200" y="2149758"/>
              <a:ext cx="10515600" cy="1884045"/>
            </a:xfrm>
            <a:prstGeom prst="rect">
              <a:avLst/>
            </a:prstGeom>
          </p:spPr>
        </p:pic>
        <p:sp>
          <p:nvSpPr>
            <p:cNvPr id="11" name="화살표: 아래쪽 10">
              <a:extLst>
                <a:ext uri="{FF2B5EF4-FFF2-40B4-BE49-F238E27FC236}">
                  <a16:creationId xmlns:a16="http://schemas.microsoft.com/office/drawing/2014/main" id="{01EA2655-AFB2-9CD3-CEDE-95647FFFDF52}"/>
                </a:ext>
              </a:extLst>
            </p:cNvPr>
            <p:cNvSpPr/>
            <p:nvPr/>
          </p:nvSpPr>
          <p:spPr>
            <a:xfrm>
              <a:off x="5889653" y="1871589"/>
              <a:ext cx="412694" cy="27816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279979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Checking the Log and Status of a Pod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Information :</a:t>
            </a:r>
            <a:endParaRPr lang="en-US" altLang="ko-KR" sz="1400" dirty="0"/>
          </a:p>
          <a:p>
            <a:pPr lvl="1">
              <a:buFont typeface="Wingdings" panose="05000000000000000000" pitchFamily="2" charset="2"/>
              <a:buChar char="§"/>
            </a:pPr>
            <a:r>
              <a:rPr lang="en-US" altLang="ko-KR" sz="1400" dirty="0"/>
              <a:t>As you learned before, you can use “</a:t>
            </a:r>
            <a:r>
              <a:rPr lang="en-US" altLang="ko-KR" sz="1400" b="1" dirty="0"/>
              <a:t>$ </a:t>
            </a:r>
            <a:r>
              <a:rPr lang="en-US" altLang="ko-KR" sz="1400" b="1" dirty="0" err="1"/>
              <a:t>kubectl</a:t>
            </a:r>
            <a:r>
              <a:rPr lang="en-US" altLang="ko-KR" sz="1400" b="1" dirty="0"/>
              <a:t> describe pod</a:t>
            </a:r>
            <a:r>
              <a:rPr lang="en-US" altLang="ko-KR" sz="1400" dirty="0"/>
              <a:t>” command to see the detailed information about a pod you want to know the reason of failure. See the following screenshot, which </a:t>
            </a:r>
            <a:r>
              <a:rPr lang="en-US" altLang="ko-KR" sz="1400" b="1" dirty="0"/>
              <a:t>shows the reason of the failure of creating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570BCCAD-7A98-F196-624B-FFD1D769CED8}"/>
              </a:ext>
            </a:extLst>
          </p:cNvPr>
          <p:cNvGrpSpPr/>
          <p:nvPr/>
        </p:nvGrpSpPr>
        <p:grpSpPr>
          <a:xfrm>
            <a:off x="838199" y="1873681"/>
            <a:ext cx="10515601" cy="3921747"/>
            <a:chOff x="838199" y="1873681"/>
            <a:chExt cx="10515601" cy="3921747"/>
          </a:xfrm>
        </p:grpSpPr>
        <p:grpSp>
          <p:nvGrpSpPr>
            <p:cNvPr id="11" name="그룹 10">
              <a:extLst>
                <a:ext uri="{FF2B5EF4-FFF2-40B4-BE49-F238E27FC236}">
                  <a16:creationId xmlns:a16="http://schemas.microsoft.com/office/drawing/2014/main" id="{6EAB2332-F292-874F-B68C-D8D1DE029256}"/>
                </a:ext>
              </a:extLst>
            </p:cNvPr>
            <p:cNvGrpSpPr/>
            <p:nvPr/>
          </p:nvGrpSpPr>
          <p:grpSpPr>
            <a:xfrm>
              <a:off x="838199" y="1873681"/>
              <a:ext cx="10515601" cy="3921747"/>
              <a:chOff x="838199" y="2456307"/>
              <a:chExt cx="10515601" cy="3921747"/>
            </a:xfrm>
          </p:grpSpPr>
          <p:pic>
            <p:nvPicPr>
              <p:cNvPr id="8" name="그림 7">
                <a:extLst>
                  <a:ext uri="{FF2B5EF4-FFF2-40B4-BE49-F238E27FC236}">
                    <a16:creationId xmlns:a16="http://schemas.microsoft.com/office/drawing/2014/main" id="{7D3634F0-8C12-921F-5BB2-ECDF6D7B8ADD}"/>
                  </a:ext>
                </a:extLst>
              </p:cNvPr>
              <p:cNvPicPr>
                <a:picLocks noChangeAspect="1"/>
              </p:cNvPicPr>
              <p:nvPr/>
            </p:nvPicPr>
            <p:blipFill>
              <a:blip r:embed="rId2"/>
              <a:stretch>
                <a:fillRect/>
              </a:stretch>
            </p:blipFill>
            <p:spPr>
              <a:xfrm>
                <a:off x="838200" y="2456307"/>
                <a:ext cx="10515600" cy="1945386"/>
              </a:xfrm>
              <a:prstGeom prst="rect">
                <a:avLst/>
              </a:prstGeom>
            </p:spPr>
          </p:pic>
          <p:pic>
            <p:nvPicPr>
              <p:cNvPr id="10" name="그림 9">
                <a:extLst>
                  <a:ext uri="{FF2B5EF4-FFF2-40B4-BE49-F238E27FC236}">
                    <a16:creationId xmlns:a16="http://schemas.microsoft.com/office/drawing/2014/main" id="{7EFDCF0E-7AA0-6B6D-87BB-77E5D4887479}"/>
                  </a:ext>
                </a:extLst>
              </p:cNvPr>
              <p:cNvPicPr>
                <a:picLocks noChangeAspect="1"/>
              </p:cNvPicPr>
              <p:nvPr/>
            </p:nvPicPr>
            <p:blipFill>
              <a:blip r:embed="rId3"/>
              <a:stretch>
                <a:fillRect/>
              </a:stretch>
            </p:blipFill>
            <p:spPr>
              <a:xfrm>
                <a:off x="838199" y="4432668"/>
                <a:ext cx="10515601" cy="1945386"/>
              </a:xfrm>
              <a:prstGeom prst="rect">
                <a:avLst/>
              </a:prstGeom>
            </p:spPr>
          </p:pic>
        </p:grpSp>
        <p:sp>
          <p:nvSpPr>
            <p:cNvPr id="12" name="직사각형 11">
              <a:extLst>
                <a:ext uri="{FF2B5EF4-FFF2-40B4-BE49-F238E27FC236}">
                  <a16:creationId xmlns:a16="http://schemas.microsoft.com/office/drawing/2014/main" id="{EAA3DEE0-F1EA-0F40-1CDA-1F819EA05E96}"/>
                </a:ext>
              </a:extLst>
            </p:cNvPr>
            <p:cNvSpPr/>
            <p:nvPr/>
          </p:nvSpPr>
          <p:spPr>
            <a:xfrm>
              <a:off x="5316467" y="2330506"/>
              <a:ext cx="2880765" cy="234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58F91B9A-7BB3-3002-DB34-4D6724C21B48}"/>
                </a:ext>
              </a:extLst>
            </p:cNvPr>
            <p:cNvSpPr/>
            <p:nvPr/>
          </p:nvSpPr>
          <p:spPr>
            <a:xfrm>
              <a:off x="946768" y="4806669"/>
              <a:ext cx="10244517" cy="29940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742254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Context(6/19)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Pods in Privileged Mode :</a:t>
            </a:r>
            <a:endParaRPr lang="en-US" altLang="ko-KR" sz="1400" dirty="0"/>
          </a:p>
          <a:p>
            <a:pPr lvl="1">
              <a:buFont typeface="Wingdings" panose="05000000000000000000" pitchFamily="2" charset="2"/>
              <a:buChar char="§"/>
            </a:pPr>
            <a:r>
              <a:rPr lang="en-US" altLang="ko-KR" sz="1400" b="1" dirty="0"/>
              <a:t>Sometimes pods need to do everything that the node they’re running on can do</a:t>
            </a:r>
            <a:r>
              <a:rPr lang="en-US" altLang="ko-KR" sz="1400" dirty="0"/>
              <a:t>, such as use protected system devices or other kernel features, which aren’t accessible to regular containers.</a:t>
            </a:r>
          </a:p>
          <a:p>
            <a:pPr lvl="1">
              <a:buFont typeface="Wingdings" panose="05000000000000000000" pitchFamily="2" charset="2"/>
              <a:buChar char="§"/>
            </a:pPr>
            <a:r>
              <a:rPr lang="en-US" altLang="ko-KR" sz="1400" dirty="0"/>
              <a:t>An example of such a pod is </a:t>
            </a:r>
            <a:r>
              <a:rPr lang="en-US" altLang="ko-KR" sz="1400" b="1" dirty="0"/>
              <a:t>the “</a:t>
            </a:r>
            <a:r>
              <a:rPr lang="en-US" altLang="ko-KR" sz="1400" b="1" dirty="0" err="1">
                <a:solidFill>
                  <a:srgbClr val="FF0000"/>
                </a:solidFill>
              </a:rPr>
              <a:t>kube</a:t>
            </a:r>
            <a:r>
              <a:rPr lang="en-US" altLang="ko-KR" sz="1400" b="1" dirty="0">
                <a:solidFill>
                  <a:srgbClr val="FF0000"/>
                </a:solidFill>
              </a:rPr>
              <a:t>-proxy</a:t>
            </a:r>
            <a:r>
              <a:rPr lang="en-US" altLang="ko-KR" sz="1400" b="1" dirty="0"/>
              <a:t>” pod, which needs to modify the node’s iptables rules to make services work</a:t>
            </a:r>
            <a:r>
              <a:rPr lang="en-US" altLang="ko-KR" sz="1400" dirty="0"/>
              <a:t>. </a:t>
            </a:r>
            <a:r>
              <a:rPr lang="en-US" altLang="ko-KR" sz="1400" b="1" dirty="0"/>
              <a:t>If you deploy a cluster with “</a:t>
            </a:r>
            <a:r>
              <a:rPr lang="en-US" altLang="ko-KR" sz="1400" b="1" dirty="0" err="1">
                <a:solidFill>
                  <a:srgbClr val="FF0000"/>
                </a:solidFill>
              </a:rPr>
              <a:t>kubeadm</a:t>
            </a:r>
            <a:r>
              <a:rPr lang="en-US" altLang="ko-KR" sz="1400" b="1" dirty="0"/>
              <a:t>”, you’ll see every cluster node runs a “</a:t>
            </a:r>
            <a:r>
              <a:rPr lang="en-US" altLang="ko-KR" sz="1400" b="1" dirty="0" err="1"/>
              <a:t>kube</a:t>
            </a:r>
            <a:r>
              <a:rPr lang="en-US" altLang="ko-KR" sz="1400" b="1" dirty="0"/>
              <a:t>-proxy” pod and you can examine its YAML specification to see all the special features it’s using</a:t>
            </a:r>
            <a:r>
              <a:rPr lang="en-US" altLang="ko-KR" sz="1400" dirty="0"/>
              <a:t>.</a:t>
            </a:r>
          </a:p>
          <a:p>
            <a:pPr lvl="1">
              <a:buFont typeface="Wingdings" panose="05000000000000000000" pitchFamily="2" charset="2"/>
              <a:buChar char="§"/>
            </a:pPr>
            <a:r>
              <a:rPr lang="en-US" altLang="ko-KR" sz="1400" b="1" dirty="0"/>
              <a:t>To get full access to the node’s kernel, the pod’s container runs in </a:t>
            </a:r>
            <a:r>
              <a:rPr lang="en-US" altLang="ko-KR" sz="1400" b="1" dirty="0">
                <a:solidFill>
                  <a:srgbClr val="FF0000"/>
                </a:solidFill>
              </a:rPr>
              <a:t>privileged mode</a:t>
            </a:r>
            <a:r>
              <a:rPr lang="en-US" altLang="ko-KR" sz="1400" dirty="0"/>
              <a:t>. </a:t>
            </a:r>
            <a:r>
              <a:rPr lang="en-US" altLang="ko-KR" sz="1400" b="1" dirty="0"/>
              <a:t>This is achieved by setting the privileged property in the container’s “</a:t>
            </a:r>
            <a:r>
              <a:rPr lang="en-US" altLang="ko-KR" sz="1400" b="1" dirty="0" err="1">
                <a:solidFill>
                  <a:srgbClr val="FF0000"/>
                </a:solidFill>
              </a:rPr>
              <a:t>securityContext</a:t>
            </a:r>
            <a:r>
              <a:rPr lang="en-US" altLang="ko-KR" sz="1400" b="1" dirty="0"/>
              <a:t>” property to “true”</a:t>
            </a:r>
            <a:r>
              <a:rPr lang="en-US" altLang="ko-KR" sz="1400" dirty="0"/>
              <a:t>. You’ll create a privileged pod from the YAML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B4D0E45-714D-8FD6-3FAD-9469683CD944}"/>
              </a:ext>
            </a:extLst>
          </p:cNvPr>
          <p:cNvGrpSpPr/>
          <p:nvPr/>
        </p:nvGrpSpPr>
        <p:grpSpPr>
          <a:xfrm>
            <a:off x="3047326" y="3123659"/>
            <a:ext cx="6097348" cy="1785104"/>
            <a:chOff x="3047326" y="3204580"/>
            <a:chExt cx="6097348" cy="1785104"/>
          </a:xfrm>
        </p:grpSpPr>
        <p:sp>
          <p:nvSpPr>
            <p:cNvPr id="8" name="TextBox 7">
              <a:extLst>
                <a:ext uri="{FF2B5EF4-FFF2-40B4-BE49-F238E27FC236}">
                  <a16:creationId xmlns:a16="http://schemas.microsoft.com/office/drawing/2014/main" id="{669AE2A8-0384-BDBC-38E3-6544AB981C34}"/>
                </a:ext>
              </a:extLst>
            </p:cNvPr>
            <p:cNvSpPr txBox="1"/>
            <p:nvPr/>
          </p:nvSpPr>
          <p:spPr>
            <a:xfrm>
              <a:off x="3047326" y="3204580"/>
              <a:ext cx="6097348" cy="1785104"/>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pod-privileged</a:t>
              </a:r>
            </a:p>
            <a:p>
              <a:r>
                <a:rPr lang="en-US" altLang="ko-KR" sz="1000" b="1" dirty="0"/>
                <a:t>spec:</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a:p>
              <a:r>
                <a:rPr lang="en-US" altLang="ko-KR" sz="1000" b="1" dirty="0"/>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privileged: true</a:t>
              </a:r>
            </a:p>
          </p:txBody>
        </p:sp>
        <p:sp>
          <p:nvSpPr>
            <p:cNvPr id="9" name="TextBox 8">
              <a:extLst>
                <a:ext uri="{FF2B5EF4-FFF2-40B4-BE49-F238E27FC236}">
                  <a16:creationId xmlns:a16="http://schemas.microsoft.com/office/drawing/2014/main" id="{873BB97A-856C-01E6-1C5E-C5651AABA8DD}"/>
                </a:ext>
              </a:extLst>
            </p:cNvPr>
            <p:cNvSpPr txBox="1"/>
            <p:nvPr/>
          </p:nvSpPr>
          <p:spPr>
            <a:xfrm>
              <a:off x="7735314" y="3204580"/>
              <a:ext cx="1409360" cy="246221"/>
            </a:xfrm>
            <a:prstGeom prst="rect">
              <a:avLst/>
            </a:prstGeom>
            <a:noFill/>
          </p:spPr>
          <p:txBody>
            <a:bodyPr wrap="none" rtlCol="0">
              <a:spAutoFit/>
            </a:bodyPr>
            <a:lstStyle/>
            <a:p>
              <a:pPr algn="l"/>
              <a:r>
                <a:rPr lang="en-US" altLang="ko-KR" sz="1000" b="1" dirty="0"/>
                <a:t>pod-</a:t>
              </a:r>
              <a:r>
                <a:rPr lang="en-US" altLang="ko-KR" sz="1000" b="1" dirty="0" err="1"/>
                <a:t>privileged.yaml</a:t>
              </a:r>
              <a:endParaRPr lang="ko-KR" altLang="en-US" sz="1000" b="1" dirty="0"/>
            </a:p>
          </p:txBody>
        </p:sp>
      </p:grpSp>
    </p:spTree>
    <p:extLst>
      <p:ext uri="{BB962C8B-B14F-4D97-AF65-F5344CB8AC3E}">
        <p14:creationId xmlns:p14="http://schemas.microsoft.com/office/powerpoint/2010/main" val="18159612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Context(7/19)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Pods in Privileged Mode :</a:t>
            </a:r>
            <a:endParaRPr lang="en-US" altLang="ko-KR" sz="1400" dirty="0"/>
          </a:p>
          <a:p>
            <a:pPr lvl="1">
              <a:buFont typeface="Wingdings" panose="05000000000000000000" pitchFamily="2" charset="2"/>
              <a:buChar char="§"/>
            </a:pPr>
            <a:r>
              <a:rPr lang="en-US" altLang="ko-KR" sz="1400" dirty="0"/>
              <a:t>Linux has </a:t>
            </a:r>
            <a:r>
              <a:rPr lang="en-US" altLang="ko-KR" sz="1400" b="1" dirty="0"/>
              <a:t>a special file directory called “/dev”, which contains device files for all the devices on the system</a:t>
            </a:r>
            <a:r>
              <a:rPr lang="en-US" altLang="ko-KR" sz="1400" dirty="0"/>
              <a:t>. These aren’t regular files on disk, but are </a:t>
            </a:r>
            <a:r>
              <a:rPr lang="en-US" altLang="ko-KR" sz="1400" b="1" dirty="0"/>
              <a:t>special files used to communicate with devices</a:t>
            </a:r>
            <a:r>
              <a:rPr lang="en-US" altLang="ko-KR" sz="1400" dirty="0"/>
              <a:t>. Let’s see what devices are visible in the </a:t>
            </a:r>
            <a:r>
              <a:rPr lang="en-US" altLang="ko-KR" sz="1400" b="1" dirty="0"/>
              <a:t>non-privileged container </a:t>
            </a:r>
            <a:r>
              <a:rPr lang="en-US" altLang="ko-KR" sz="1400" dirty="0"/>
              <a:t>you deployed earlier (the “</a:t>
            </a:r>
            <a:r>
              <a:rPr lang="en-US" altLang="ko-KR" sz="1400" b="1" dirty="0"/>
              <a:t>pod-with-default</a:t>
            </a:r>
            <a:r>
              <a:rPr lang="en-US" altLang="ko-KR" sz="1400" dirty="0"/>
              <a:t>” pod), by listing files in its “</a:t>
            </a:r>
            <a:r>
              <a:rPr lang="en-US" altLang="ko-KR" sz="1400" b="1" dirty="0"/>
              <a:t>/dev</a:t>
            </a:r>
            <a:r>
              <a:rPr lang="en-US" altLang="ko-KR" sz="1400" dirty="0"/>
              <a:t>” directory, as shown in the following listing. The </a:t>
            </a:r>
            <a:r>
              <a:rPr lang="en-US" altLang="ko-KR" sz="1400" b="1" dirty="0"/>
              <a:t>privileged container </a:t>
            </a:r>
            <a:r>
              <a:rPr lang="en-US" altLang="ko-KR" sz="1400" dirty="0"/>
              <a:t>sees all the host node’s devices and it can use any device freely.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0908AD2D-7201-64A2-7B47-B0DD5AE0D7EA}"/>
              </a:ext>
            </a:extLst>
          </p:cNvPr>
          <p:cNvGrpSpPr/>
          <p:nvPr/>
        </p:nvGrpSpPr>
        <p:grpSpPr>
          <a:xfrm>
            <a:off x="1422513" y="2124603"/>
            <a:ext cx="9346975" cy="4293402"/>
            <a:chOff x="1422513" y="2124603"/>
            <a:chExt cx="9346975" cy="4293402"/>
          </a:xfrm>
        </p:grpSpPr>
        <p:grpSp>
          <p:nvGrpSpPr>
            <p:cNvPr id="12" name="그룹 11">
              <a:extLst>
                <a:ext uri="{FF2B5EF4-FFF2-40B4-BE49-F238E27FC236}">
                  <a16:creationId xmlns:a16="http://schemas.microsoft.com/office/drawing/2014/main" id="{1F7360C1-E503-BFBD-83A9-84C6BE18D23A}"/>
                </a:ext>
              </a:extLst>
            </p:cNvPr>
            <p:cNvGrpSpPr/>
            <p:nvPr/>
          </p:nvGrpSpPr>
          <p:grpSpPr>
            <a:xfrm>
              <a:off x="1422513" y="2124603"/>
              <a:ext cx="9346975" cy="4293402"/>
              <a:chOff x="1422513" y="2124603"/>
              <a:chExt cx="9346975" cy="4293402"/>
            </a:xfrm>
          </p:grpSpPr>
          <p:sp>
            <p:nvSpPr>
              <p:cNvPr id="8" name="TextBox 7">
                <a:extLst>
                  <a:ext uri="{FF2B5EF4-FFF2-40B4-BE49-F238E27FC236}">
                    <a16:creationId xmlns:a16="http://schemas.microsoft.com/office/drawing/2014/main" id="{D8291489-F255-425C-B06C-138ECA221208}"/>
                  </a:ext>
                </a:extLst>
              </p:cNvPr>
              <p:cNvSpPr txBox="1"/>
              <p:nvPr/>
            </p:nvSpPr>
            <p:spPr>
              <a:xfrm>
                <a:off x="3047326" y="2124603"/>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pod-</a:t>
                </a:r>
                <a:r>
                  <a:rPr lang="en-US" altLang="ko-KR" sz="1000" b="1" dirty="0" err="1">
                    <a:solidFill>
                      <a:srgbClr val="FF0000"/>
                    </a:solidFill>
                  </a:rPr>
                  <a:t>privileged.yaml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pod-with-default -- ls /dev</a:t>
                </a:r>
              </a:p>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pod-privileged -- ls /dev</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CB1A6B28-2691-02D3-C6AE-398926999D04}"/>
                  </a:ext>
                </a:extLst>
              </p:cNvPr>
              <p:cNvSpPr/>
              <p:nvPr/>
            </p:nvSpPr>
            <p:spPr>
              <a:xfrm>
                <a:off x="5872794" y="2697342"/>
                <a:ext cx="446411" cy="29608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C9171CAD-8CD9-1E34-507F-DEA251741DE9}"/>
                  </a:ext>
                </a:extLst>
              </p:cNvPr>
              <p:cNvPicPr>
                <a:picLocks noChangeAspect="1"/>
              </p:cNvPicPr>
              <p:nvPr/>
            </p:nvPicPr>
            <p:blipFill>
              <a:blip r:embed="rId2"/>
              <a:stretch>
                <a:fillRect/>
              </a:stretch>
            </p:blipFill>
            <p:spPr>
              <a:xfrm>
                <a:off x="1422513" y="2998570"/>
                <a:ext cx="9346975" cy="3419435"/>
              </a:xfrm>
              <a:prstGeom prst="rect">
                <a:avLst/>
              </a:prstGeom>
            </p:spPr>
          </p:pic>
        </p:grpSp>
        <p:grpSp>
          <p:nvGrpSpPr>
            <p:cNvPr id="17" name="그룹 16">
              <a:extLst>
                <a:ext uri="{FF2B5EF4-FFF2-40B4-BE49-F238E27FC236}">
                  <a16:creationId xmlns:a16="http://schemas.microsoft.com/office/drawing/2014/main" id="{9D5F100E-E4C7-463F-944B-5A5B1BC32610}"/>
                </a:ext>
              </a:extLst>
            </p:cNvPr>
            <p:cNvGrpSpPr/>
            <p:nvPr/>
          </p:nvGrpSpPr>
          <p:grpSpPr>
            <a:xfrm>
              <a:off x="1488935" y="3420908"/>
              <a:ext cx="6756849" cy="1625647"/>
              <a:chOff x="1488935" y="3420908"/>
              <a:chExt cx="6756849" cy="1625647"/>
            </a:xfrm>
          </p:grpSpPr>
          <p:sp>
            <p:nvSpPr>
              <p:cNvPr id="13" name="직사각형 12">
                <a:extLst>
                  <a:ext uri="{FF2B5EF4-FFF2-40B4-BE49-F238E27FC236}">
                    <a16:creationId xmlns:a16="http://schemas.microsoft.com/office/drawing/2014/main" id="{2ED872FC-6C27-CE53-B6FA-64434EAE5396}"/>
                  </a:ext>
                </a:extLst>
              </p:cNvPr>
              <p:cNvSpPr/>
              <p:nvPr/>
            </p:nvSpPr>
            <p:spPr>
              <a:xfrm>
                <a:off x="5389296" y="3420908"/>
                <a:ext cx="2395242" cy="1800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BD763BB2-BF49-9C63-5E40-CD92B424DD81}"/>
                  </a:ext>
                </a:extLst>
              </p:cNvPr>
              <p:cNvSpPr/>
              <p:nvPr/>
            </p:nvSpPr>
            <p:spPr>
              <a:xfrm>
                <a:off x="1488935" y="3971330"/>
                <a:ext cx="3576679" cy="26889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B5AA55AB-EEF2-CF34-165C-97299F710148}"/>
                  </a:ext>
                </a:extLst>
              </p:cNvPr>
              <p:cNvSpPr/>
              <p:nvPr/>
            </p:nvSpPr>
            <p:spPr>
              <a:xfrm>
                <a:off x="5381204" y="4207859"/>
                <a:ext cx="2864580" cy="1800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450191D4-7A7C-A80F-6C58-D5021EC2CB52}"/>
                  </a:ext>
                </a:extLst>
              </p:cNvPr>
              <p:cNvSpPr/>
              <p:nvPr/>
            </p:nvSpPr>
            <p:spPr>
              <a:xfrm>
                <a:off x="5381204" y="4866507"/>
                <a:ext cx="2864580" cy="1800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701904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Context(8/19)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Individual Kernel Capabilities to a Container :</a:t>
            </a:r>
            <a:endParaRPr lang="en-US" altLang="ko-KR" sz="1400" dirty="0"/>
          </a:p>
          <a:p>
            <a:pPr lvl="1">
              <a:buFont typeface="Wingdings" panose="05000000000000000000" pitchFamily="2" charset="2"/>
              <a:buChar char="§"/>
            </a:pPr>
            <a:r>
              <a:rPr lang="en-US" altLang="ko-KR" sz="1400" b="1" dirty="0"/>
              <a:t>In the old days, traditional UNIX implementations only distinguished between </a:t>
            </a:r>
            <a:r>
              <a:rPr lang="en-US" altLang="ko-KR" sz="1400" b="1" dirty="0">
                <a:solidFill>
                  <a:srgbClr val="FF0000"/>
                </a:solidFill>
              </a:rPr>
              <a:t>privileged</a:t>
            </a:r>
            <a:r>
              <a:rPr lang="en-US" altLang="ko-KR" sz="1400" b="1" dirty="0"/>
              <a:t> and </a:t>
            </a:r>
            <a:r>
              <a:rPr lang="en-US" altLang="ko-KR" sz="1400" b="1" dirty="0">
                <a:solidFill>
                  <a:srgbClr val="FF0000"/>
                </a:solidFill>
              </a:rPr>
              <a:t>unprivileged</a:t>
            </a:r>
            <a:r>
              <a:rPr lang="en-US" altLang="ko-KR" sz="1400" b="1" dirty="0"/>
              <a:t> processes</a:t>
            </a:r>
            <a:r>
              <a:rPr lang="en-US" altLang="ko-KR" sz="1400" dirty="0"/>
              <a:t>, but for many years, </a:t>
            </a:r>
            <a:r>
              <a:rPr lang="en-US" altLang="ko-KR" sz="1400" b="1" dirty="0"/>
              <a:t>Linux has supported a much more fine-grained permission system through </a:t>
            </a:r>
            <a:r>
              <a:rPr lang="en-US" altLang="ko-KR" sz="1400" b="1" dirty="0">
                <a:solidFill>
                  <a:srgbClr val="FF0000"/>
                </a:solidFill>
              </a:rPr>
              <a:t>kernel</a:t>
            </a:r>
            <a:r>
              <a:rPr lang="en-US" altLang="ko-KR" sz="1400" b="1" dirty="0"/>
              <a:t> capabilities</a:t>
            </a:r>
            <a:r>
              <a:rPr lang="en-US" altLang="ko-KR" sz="1400" dirty="0"/>
              <a:t>.</a:t>
            </a:r>
          </a:p>
          <a:p>
            <a:pPr lvl="1">
              <a:buFont typeface="Wingdings" panose="05000000000000000000" pitchFamily="2" charset="2"/>
              <a:buChar char="§"/>
            </a:pPr>
            <a:r>
              <a:rPr lang="en-US" altLang="ko-KR" sz="1400" b="1" dirty="0"/>
              <a:t>Instead of making a container privileged and giving it unlimited permissions, a much safer method (from a security perspective) is to give it access only to the kernel features it really requires</a:t>
            </a:r>
            <a:r>
              <a:rPr lang="en-US" altLang="ko-KR" sz="1400" dirty="0"/>
              <a:t>. </a:t>
            </a:r>
            <a:r>
              <a:rPr lang="en-US" altLang="ko-KR" sz="1400" b="1" dirty="0"/>
              <a:t>Kubernetes allows you to add capabilities to each container or drop part of them</a:t>
            </a:r>
            <a:r>
              <a:rPr lang="en-US" altLang="ko-KR" sz="1400" dirty="0"/>
              <a:t>, which allows you to </a:t>
            </a:r>
            <a:r>
              <a:rPr lang="en-US" altLang="ko-KR" sz="1400" b="1" dirty="0"/>
              <a:t>fine-tune the container’s permissions and limit the impact of a potential intrusion by an attacker</a:t>
            </a:r>
            <a:r>
              <a:rPr lang="en-US" altLang="ko-KR" sz="1400" dirty="0"/>
              <a:t>.</a:t>
            </a:r>
          </a:p>
          <a:p>
            <a:pPr lvl="1">
              <a:buFont typeface="Wingdings" panose="05000000000000000000" pitchFamily="2" charset="2"/>
              <a:buChar char="§"/>
            </a:pPr>
            <a:r>
              <a:rPr lang="en-US" altLang="ko-KR" sz="1400" dirty="0"/>
              <a:t>For example, a container usually isn’t allowed to change the system time (the hardware clock’s time). You can confirm this by trying to set the time in your “</a:t>
            </a:r>
            <a:r>
              <a:rPr lang="en-US" altLang="ko-KR" sz="1400" b="1" dirty="0"/>
              <a:t>pod-with-default</a:t>
            </a:r>
            <a:r>
              <a:rPr lang="en-US" altLang="ko-KR" sz="1400" dirty="0"/>
              <a:t>” pod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2AC484A-6D06-F82C-0732-66DC8BB0A016}"/>
              </a:ext>
            </a:extLst>
          </p:cNvPr>
          <p:cNvGrpSpPr/>
          <p:nvPr/>
        </p:nvGrpSpPr>
        <p:grpSpPr>
          <a:xfrm>
            <a:off x="838200" y="3182779"/>
            <a:ext cx="10515600" cy="2231566"/>
            <a:chOff x="838200" y="3182779"/>
            <a:chExt cx="10515600" cy="2231566"/>
          </a:xfrm>
        </p:grpSpPr>
        <p:sp>
          <p:nvSpPr>
            <p:cNvPr id="8" name="TextBox 7">
              <a:extLst>
                <a:ext uri="{FF2B5EF4-FFF2-40B4-BE49-F238E27FC236}">
                  <a16:creationId xmlns:a16="http://schemas.microsoft.com/office/drawing/2014/main" id="{FCA93839-5BDA-15B0-6E8E-B47912329FB4}"/>
                </a:ext>
              </a:extLst>
            </p:cNvPr>
            <p:cNvSpPr txBox="1"/>
            <p:nvPr/>
          </p:nvSpPr>
          <p:spPr>
            <a:xfrm>
              <a:off x="3047326" y="3182779"/>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pod-with-default </a:t>
              </a:r>
              <a:r>
                <a:rPr lang="en-US" altLang="ko-KR" sz="1000" b="1" dirty="0">
                  <a:solidFill>
                    <a:srgbClr val="FF0000"/>
                  </a:solidFill>
                </a:rPr>
                <a:t>-- date +%T -s "12:00:00"</a:t>
              </a:r>
            </a:p>
          </p:txBody>
        </p:sp>
        <p:sp>
          <p:nvSpPr>
            <p:cNvPr id="9" name="화살표: 아래쪽 8">
              <a:extLst>
                <a:ext uri="{FF2B5EF4-FFF2-40B4-BE49-F238E27FC236}">
                  <a16:creationId xmlns:a16="http://schemas.microsoft.com/office/drawing/2014/main" id="{E3F24FFC-7624-3999-634F-3AF809C568D4}"/>
                </a:ext>
              </a:extLst>
            </p:cNvPr>
            <p:cNvSpPr/>
            <p:nvPr/>
          </p:nvSpPr>
          <p:spPr>
            <a:xfrm>
              <a:off x="5845146" y="3431763"/>
              <a:ext cx="501707" cy="31761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2CBA3461-F8DF-B19E-5477-CA70D4A91C51}"/>
                </a:ext>
              </a:extLst>
            </p:cNvPr>
            <p:cNvPicPr>
              <a:picLocks noChangeAspect="1"/>
            </p:cNvPicPr>
            <p:nvPr/>
          </p:nvPicPr>
          <p:blipFill>
            <a:blip r:embed="rId2"/>
            <a:stretch>
              <a:fillRect/>
            </a:stretch>
          </p:blipFill>
          <p:spPr>
            <a:xfrm>
              <a:off x="838200" y="3749375"/>
              <a:ext cx="10515600" cy="1664970"/>
            </a:xfrm>
            <a:prstGeom prst="rect">
              <a:avLst/>
            </a:prstGeom>
          </p:spPr>
        </p:pic>
      </p:grpSp>
    </p:spTree>
    <p:extLst>
      <p:ext uri="{BB962C8B-B14F-4D97-AF65-F5344CB8AC3E}">
        <p14:creationId xmlns:p14="http://schemas.microsoft.com/office/powerpoint/2010/main" val="412734864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Context(9/19)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Individual Kernel Capabilities to a Container :</a:t>
            </a:r>
            <a:endParaRPr lang="en-US" altLang="ko-KR" sz="1400" dirty="0"/>
          </a:p>
          <a:p>
            <a:pPr lvl="1">
              <a:buFont typeface="Wingdings" panose="05000000000000000000" pitchFamily="2" charset="2"/>
              <a:buChar char="§"/>
            </a:pPr>
            <a:r>
              <a:rPr lang="en-US" altLang="ko-KR" sz="1400" dirty="0"/>
              <a:t>If you want to </a:t>
            </a:r>
            <a:r>
              <a:rPr lang="en-US" altLang="ko-KR" sz="1400" b="1" dirty="0"/>
              <a:t>allow the container to change the system time</a:t>
            </a:r>
            <a:r>
              <a:rPr lang="en-US" altLang="ko-KR" sz="1400" dirty="0"/>
              <a:t>, you can </a:t>
            </a:r>
            <a:r>
              <a:rPr lang="en-US" altLang="ko-KR" sz="1400" b="1" dirty="0"/>
              <a:t>add a capability called “</a:t>
            </a:r>
            <a:r>
              <a:rPr lang="en-US" altLang="ko-KR" sz="1400" b="1" dirty="0">
                <a:solidFill>
                  <a:srgbClr val="FF0000"/>
                </a:solidFill>
              </a:rPr>
              <a:t>CAP_SYS_TIME</a:t>
            </a:r>
            <a:r>
              <a:rPr lang="en-US" altLang="ko-KR" sz="1400" b="1" dirty="0"/>
              <a:t>” to the container’s </a:t>
            </a:r>
            <a:r>
              <a:rPr lang="en-US" altLang="ko-KR" sz="1400" b="1" dirty="0">
                <a:solidFill>
                  <a:srgbClr val="FF0000"/>
                </a:solidFill>
              </a:rPr>
              <a:t>capabilities list</a:t>
            </a:r>
            <a:r>
              <a:rPr lang="en-US" altLang="ko-KR" sz="1400" dirty="0"/>
              <a:t>, as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 : Linux kernel capabilities are usually prefixed with “</a:t>
            </a:r>
            <a:r>
              <a:rPr lang="en-US" altLang="ko-KR" sz="1400" b="1" dirty="0">
                <a:solidFill>
                  <a:srgbClr val="FF0000"/>
                </a:solidFill>
              </a:rPr>
              <a:t>CAP_</a:t>
            </a:r>
            <a:r>
              <a:rPr lang="en-US" altLang="ko-KR" sz="1400" b="1" dirty="0"/>
              <a:t>”. But when specifying them in a pod spec, you must </a:t>
            </a:r>
            <a:r>
              <a:rPr lang="en-US" altLang="ko-KR" sz="1400" b="1" dirty="0">
                <a:solidFill>
                  <a:srgbClr val="FF0000"/>
                </a:solidFill>
              </a:rPr>
              <a:t>leave out the prefix</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058BDA1A-C8A6-C780-F3CE-244BC7D45CA6}"/>
              </a:ext>
            </a:extLst>
          </p:cNvPr>
          <p:cNvGrpSpPr/>
          <p:nvPr/>
        </p:nvGrpSpPr>
        <p:grpSpPr>
          <a:xfrm>
            <a:off x="3047326" y="1867585"/>
            <a:ext cx="6097348" cy="2092881"/>
            <a:chOff x="3047326" y="1705745"/>
            <a:chExt cx="6097348" cy="2092881"/>
          </a:xfrm>
        </p:grpSpPr>
        <p:sp>
          <p:nvSpPr>
            <p:cNvPr id="8" name="TextBox 7">
              <a:extLst>
                <a:ext uri="{FF2B5EF4-FFF2-40B4-BE49-F238E27FC236}">
                  <a16:creationId xmlns:a16="http://schemas.microsoft.com/office/drawing/2014/main" id="{1135A296-2B54-A891-E4F4-A12B33F96E4D}"/>
                </a:ext>
              </a:extLst>
            </p:cNvPr>
            <p:cNvSpPr txBox="1"/>
            <p:nvPr/>
          </p:nvSpPr>
          <p:spPr>
            <a:xfrm>
              <a:off x="3047326" y="1705745"/>
              <a:ext cx="6097348"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pod-add-</a:t>
              </a:r>
              <a:r>
                <a:rPr lang="en-US" altLang="ko-KR" sz="1000" b="1" dirty="0" err="1">
                  <a:solidFill>
                    <a:srgbClr val="FF0000"/>
                  </a:solidFill>
                </a:rPr>
                <a:t>settime</a:t>
              </a:r>
              <a:r>
                <a:rPr lang="en-US" altLang="ko-KR" sz="1000" b="1" dirty="0">
                  <a:solidFill>
                    <a:srgbClr val="FF0000"/>
                  </a:solidFill>
                </a:rPr>
                <a:t>-capability</a:t>
              </a:r>
            </a:p>
            <a:p>
              <a:r>
                <a:rPr lang="en-US" altLang="ko-KR" sz="1000" b="1" dirty="0"/>
                <a:t>spec:</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a:p>
              <a:r>
                <a:rPr lang="en-US" altLang="ko-KR" sz="1000" b="1" dirty="0">
                  <a:solidFill>
                    <a:srgbClr val="FF0000"/>
                  </a:solidFill>
                </a:rPr>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capabilities:</a:t>
              </a:r>
            </a:p>
            <a:p>
              <a:r>
                <a:rPr lang="en-US" altLang="ko-KR" sz="1000" b="1" dirty="0">
                  <a:solidFill>
                    <a:srgbClr val="FF0000"/>
                  </a:solidFill>
                </a:rPr>
                <a:t>        add:</a:t>
              </a:r>
            </a:p>
            <a:p>
              <a:r>
                <a:rPr lang="en-US" altLang="ko-KR" sz="1000" b="1" dirty="0">
                  <a:solidFill>
                    <a:srgbClr val="FF0000"/>
                  </a:solidFill>
                </a:rPr>
                <a:t>        - SYS_TIME</a:t>
              </a:r>
              <a:endParaRPr lang="ko-KR" altLang="en-US" sz="1000" b="1" dirty="0">
                <a:solidFill>
                  <a:srgbClr val="FF0000"/>
                </a:solidFill>
              </a:endParaRPr>
            </a:p>
          </p:txBody>
        </p:sp>
        <p:sp>
          <p:nvSpPr>
            <p:cNvPr id="9" name="TextBox 8">
              <a:extLst>
                <a:ext uri="{FF2B5EF4-FFF2-40B4-BE49-F238E27FC236}">
                  <a16:creationId xmlns:a16="http://schemas.microsoft.com/office/drawing/2014/main" id="{3EAE4834-C8D8-9141-C3E0-6A543B95CCEB}"/>
                </a:ext>
              </a:extLst>
            </p:cNvPr>
            <p:cNvSpPr txBox="1"/>
            <p:nvPr/>
          </p:nvSpPr>
          <p:spPr>
            <a:xfrm>
              <a:off x="6967475" y="1705745"/>
              <a:ext cx="2177199" cy="246221"/>
            </a:xfrm>
            <a:prstGeom prst="rect">
              <a:avLst/>
            </a:prstGeom>
            <a:noFill/>
          </p:spPr>
          <p:txBody>
            <a:bodyPr wrap="none" rtlCol="0">
              <a:spAutoFit/>
            </a:bodyPr>
            <a:lstStyle/>
            <a:p>
              <a:pPr algn="l"/>
              <a:r>
                <a:rPr lang="en-US" altLang="ko-KR" sz="1000" b="1" dirty="0"/>
                <a:t>pod-add-</a:t>
              </a:r>
              <a:r>
                <a:rPr lang="en-US" altLang="ko-KR" sz="1000" b="1" dirty="0" err="1"/>
                <a:t>settime</a:t>
              </a:r>
              <a:r>
                <a:rPr lang="en-US" altLang="ko-KR" sz="1000" b="1" dirty="0"/>
                <a:t>-</a:t>
              </a:r>
              <a:r>
                <a:rPr lang="en-US" altLang="ko-KR" sz="1000" b="1" dirty="0" err="1"/>
                <a:t>capability.yaml</a:t>
              </a:r>
              <a:endParaRPr lang="ko-KR" altLang="en-US" sz="1000" b="1" dirty="0"/>
            </a:p>
          </p:txBody>
        </p:sp>
      </p:grpSp>
    </p:spTree>
    <p:extLst>
      <p:ext uri="{BB962C8B-B14F-4D97-AF65-F5344CB8AC3E}">
        <p14:creationId xmlns:p14="http://schemas.microsoft.com/office/powerpoint/2010/main" val="18378059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Context(10/19)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Adding Individual Kernel Capabilities to a Container :</a:t>
            </a:r>
            <a:endParaRPr lang="en-US" altLang="ko-KR" sz="1400" dirty="0"/>
          </a:p>
          <a:p>
            <a:pPr lvl="1">
              <a:buFont typeface="Wingdings" panose="05000000000000000000" pitchFamily="2" charset="2"/>
              <a:buChar char="§"/>
            </a:pPr>
            <a:r>
              <a:rPr lang="en-US" altLang="ko-KR" sz="1400" dirty="0"/>
              <a:t>If you run the same command in this new pod’s container, the system time is changed successfully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WARNING : If you try this yourself, be aware that it may cause your worker node to become unusable. In </a:t>
            </a:r>
            <a:r>
              <a:rPr lang="en-US" altLang="ko-KR" sz="1400" b="1" dirty="0" err="1"/>
              <a:t>Minikube</a:t>
            </a:r>
            <a:r>
              <a:rPr lang="en-US" altLang="ko-KR" sz="1400" b="1" dirty="0"/>
              <a:t>, although the system time was automatically reset back by the </a:t>
            </a:r>
            <a:r>
              <a:rPr lang="en-US" altLang="ko-KR" sz="1400" b="1" dirty="0">
                <a:solidFill>
                  <a:srgbClr val="FF0000"/>
                </a:solidFill>
              </a:rPr>
              <a:t>Network Time Protocol (NTP) </a:t>
            </a:r>
            <a:r>
              <a:rPr lang="en-US" altLang="ko-KR" sz="1400" b="1" dirty="0"/>
              <a:t>daemon, I had to reboot the VM to schedule new pods</a:t>
            </a:r>
            <a:r>
              <a:rPr lang="en-US" altLang="ko-KR" sz="1400" dirty="0"/>
              <a:t>.</a:t>
            </a:r>
          </a:p>
          <a:p>
            <a:pPr lvl="1">
              <a:buFont typeface="Wingdings" panose="05000000000000000000" pitchFamily="2" charset="2"/>
              <a:buChar char="§"/>
            </a:pPr>
            <a:r>
              <a:rPr lang="en-US" altLang="ko-KR" sz="1400" b="1" dirty="0"/>
              <a:t>Adding capabilities like this is a much better way than giving a container full privileges with “privileged: true”</a:t>
            </a:r>
            <a:r>
              <a:rPr lang="en-US" altLang="ko-KR" sz="1400" dirty="0"/>
              <a:t>. Admittedly, it does require you to know and understand what each capability does.</a:t>
            </a:r>
          </a:p>
          <a:p>
            <a:pPr lvl="1">
              <a:buFont typeface="Wingdings" panose="05000000000000000000" pitchFamily="2" charset="2"/>
              <a:buChar char="§"/>
            </a:pPr>
            <a:r>
              <a:rPr lang="en-US" altLang="ko-KR" sz="1400" b="1" dirty="0"/>
              <a:t>TIP : You’ll find the list of Linux kernel capabilities in the Linux man pages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2231DEA2-881A-4A73-3F76-59BE1D33980B}"/>
              </a:ext>
            </a:extLst>
          </p:cNvPr>
          <p:cNvGrpSpPr/>
          <p:nvPr/>
        </p:nvGrpSpPr>
        <p:grpSpPr>
          <a:xfrm>
            <a:off x="838200" y="1568501"/>
            <a:ext cx="10515600" cy="2881348"/>
            <a:chOff x="838200" y="1552318"/>
            <a:chExt cx="10515600" cy="2881348"/>
          </a:xfrm>
        </p:grpSpPr>
        <p:grpSp>
          <p:nvGrpSpPr>
            <p:cNvPr id="12" name="그룹 11">
              <a:extLst>
                <a:ext uri="{FF2B5EF4-FFF2-40B4-BE49-F238E27FC236}">
                  <a16:creationId xmlns:a16="http://schemas.microsoft.com/office/drawing/2014/main" id="{98AA90F2-6D1B-F64C-18D6-F9DD9D0E3C24}"/>
                </a:ext>
              </a:extLst>
            </p:cNvPr>
            <p:cNvGrpSpPr/>
            <p:nvPr/>
          </p:nvGrpSpPr>
          <p:grpSpPr>
            <a:xfrm>
              <a:off x="838200" y="1552318"/>
              <a:ext cx="10515600" cy="2881348"/>
              <a:chOff x="838200" y="1487582"/>
              <a:chExt cx="10515600" cy="2881348"/>
            </a:xfrm>
          </p:grpSpPr>
          <p:sp>
            <p:nvSpPr>
              <p:cNvPr id="8" name="TextBox 7">
                <a:extLst>
                  <a:ext uri="{FF2B5EF4-FFF2-40B4-BE49-F238E27FC236}">
                    <a16:creationId xmlns:a16="http://schemas.microsoft.com/office/drawing/2014/main" id="{45461C74-837F-B3E6-7E15-CA1BA3FFDDE4}"/>
                  </a:ext>
                </a:extLst>
              </p:cNvPr>
              <p:cNvSpPr txBox="1"/>
              <p:nvPr/>
            </p:nvSpPr>
            <p:spPr>
              <a:xfrm>
                <a:off x="3047326" y="1487582"/>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pod-add-</a:t>
                </a:r>
                <a:r>
                  <a:rPr lang="en-US" altLang="ko-KR" sz="1000" b="1" dirty="0" err="1">
                    <a:solidFill>
                      <a:srgbClr val="FF0000"/>
                    </a:solidFill>
                  </a:rPr>
                  <a:t>settime</a:t>
                </a:r>
                <a:r>
                  <a:rPr lang="en-US" altLang="ko-KR" sz="1000" b="1" dirty="0">
                    <a:solidFill>
                      <a:srgbClr val="FF0000"/>
                    </a:solidFill>
                  </a:rPr>
                  <a:t>-</a:t>
                </a:r>
                <a:r>
                  <a:rPr lang="en-US" altLang="ko-KR" sz="1000" b="1" dirty="0" err="1">
                    <a:solidFill>
                      <a:srgbClr val="FF0000"/>
                    </a:solidFill>
                  </a:rPr>
                  <a:t>capability.yaml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pod-add-</a:t>
                </a:r>
                <a:r>
                  <a:rPr lang="en-US" altLang="ko-KR" sz="1000" b="1" dirty="0" err="1">
                    <a:solidFill>
                      <a:srgbClr val="FF0000"/>
                    </a:solidFill>
                  </a:rPr>
                  <a:t>settime</a:t>
                </a:r>
                <a:r>
                  <a:rPr lang="en-US" altLang="ko-KR" sz="1000" b="1" dirty="0">
                    <a:solidFill>
                      <a:srgbClr val="FF0000"/>
                    </a:solidFill>
                  </a:rPr>
                  <a:t>-capability -- date +%T -s "12:00:00"</a:t>
                </a:r>
              </a:p>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pod-add-</a:t>
                </a:r>
                <a:r>
                  <a:rPr lang="en-US" altLang="ko-KR" sz="1000" b="1" dirty="0" err="1">
                    <a:solidFill>
                      <a:srgbClr val="FF0000"/>
                    </a:solidFill>
                  </a:rPr>
                  <a:t>settime</a:t>
                </a:r>
                <a:r>
                  <a:rPr lang="en-US" altLang="ko-KR" sz="1000" b="1" dirty="0">
                    <a:solidFill>
                      <a:srgbClr val="FF0000"/>
                    </a:solidFill>
                  </a:rPr>
                  <a:t>-capability -- date</a:t>
                </a:r>
              </a:p>
            </p:txBody>
          </p:sp>
          <p:sp>
            <p:nvSpPr>
              <p:cNvPr id="9" name="화살표: 아래쪽 8">
                <a:extLst>
                  <a:ext uri="{FF2B5EF4-FFF2-40B4-BE49-F238E27FC236}">
                    <a16:creationId xmlns:a16="http://schemas.microsoft.com/office/drawing/2014/main" id="{4F4D1306-D892-5CD2-9198-0D18A698647D}"/>
                  </a:ext>
                </a:extLst>
              </p:cNvPr>
              <p:cNvSpPr/>
              <p:nvPr/>
            </p:nvSpPr>
            <p:spPr>
              <a:xfrm>
                <a:off x="5858633" y="2041580"/>
                <a:ext cx="474733" cy="32938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5D127205-FD2E-9C03-906D-36EFC8B7D4EE}"/>
                  </a:ext>
                </a:extLst>
              </p:cNvPr>
              <p:cNvPicPr>
                <a:picLocks noChangeAspect="1"/>
              </p:cNvPicPr>
              <p:nvPr/>
            </p:nvPicPr>
            <p:blipFill>
              <a:blip r:embed="rId2"/>
              <a:stretch>
                <a:fillRect/>
              </a:stretch>
            </p:blipFill>
            <p:spPr>
              <a:xfrm>
                <a:off x="838200" y="2370966"/>
                <a:ext cx="10515600" cy="1997964"/>
              </a:xfrm>
              <a:prstGeom prst="rect">
                <a:avLst/>
              </a:prstGeom>
            </p:spPr>
          </p:pic>
        </p:grpSp>
        <p:sp>
          <p:nvSpPr>
            <p:cNvPr id="13" name="직사각형 12">
              <a:extLst>
                <a:ext uri="{FF2B5EF4-FFF2-40B4-BE49-F238E27FC236}">
                  <a16:creationId xmlns:a16="http://schemas.microsoft.com/office/drawing/2014/main" id="{C873CBE9-D9DA-8BDB-B3CF-3644DC764D1C}"/>
                </a:ext>
              </a:extLst>
            </p:cNvPr>
            <p:cNvSpPr/>
            <p:nvPr/>
          </p:nvSpPr>
          <p:spPr>
            <a:xfrm>
              <a:off x="946768" y="3366287"/>
              <a:ext cx="663547"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918875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Context(11/19)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Dropping Capabilities from a Container :</a:t>
            </a:r>
            <a:endParaRPr lang="en-US" altLang="ko-KR" sz="1400" dirty="0"/>
          </a:p>
          <a:p>
            <a:pPr lvl="1">
              <a:buFont typeface="Wingdings" panose="05000000000000000000" pitchFamily="2" charset="2"/>
              <a:buChar char="§"/>
            </a:pPr>
            <a:r>
              <a:rPr lang="en-US" altLang="ko-KR" sz="1400" b="1" dirty="0"/>
              <a:t>You’ve seen how to add capabilities, but you can also drop capabilities that may otherwise be available to the container</a:t>
            </a:r>
            <a:r>
              <a:rPr lang="en-US" altLang="ko-KR" sz="1400" dirty="0"/>
              <a:t>. For example, </a:t>
            </a:r>
            <a:r>
              <a:rPr lang="en-US" altLang="ko-KR" sz="1400" b="1" dirty="0"/>
              <a:t>the default capabilities given to a container include the “CAP_CHOWN” capability, which allows processes to change the ownership of files in the filesystem</a:t>
            </a:r>
            <a:r>
              <a:rPr lang="en-US" altLang="ko-KR" sz="1400" dirty="0"/>
              <a:t>.</a:t>
            </a:r>
          </a:p>
          <a:p>
            <a:pPr lvl="1">
              <a:buFont typeface="Wingdings" panose="05000000000000000000" pitchFamily="2" charset="2"/>
              <a:buChar char="§"/>
            </a:pPr>
            <a:r>
              <a:rPr lang="en-US" altLang="ko-KR" sz="1400" dirty="0"/>
              <a:t>You can see that’s the case by </a:t>
            </a:r>
            <a:r>
              <a:rPr lang="en-US" altLang="ko-KR" sz="1400" b="1" dirty="0"/>
              <a:t>changing the ownership of the “/</a:t>
            </a:r>
            <a:r>
              <a:rPr lang="en-US" altLang="ko-KR" sz="1400" b="1" dirty="0" err="1"/>
              <a:t>tmp</a:t>
            </a:r>
            <a:r>
              <a:rPr lang="en-US" altLang="ko-KR" sz="1400" b="1" dirty="0"/>
              <a:t>” directory </a:t>
            </a:r>
            <a:r>
              <a:rPr lang="en-US" altLang="ko-KR" sz="1400" dirty="0"/>
              <a:t>in your “</a:t>
            </a:r>
            <a:r>
              <a:rPr lang="en-US" altLang="ko-KR" sz="1400" b="1" dirty="0"/>
              <a:t>pod-with-default</a:t>
            </a:r>
            <a:r>
              <a:rPr lang="en-US" altLang="ko-KR" sz="1400" dirty="0"/>
              <a:t>” pod to the “</a:t>
            </a:r>
            <a:r>
              <a:rPr lang="en-US" altLang="ko-KR" sz="1400" b="1" dirty="0"/>
              <a:t>guest”</a:t>
            </a:r>
            <a:r>
              <a:rPr lang="en-US" altLang="ko-KR" sz="1400" dirty="0"/>
              <a:t> user, for example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B80DB484-0CA7-055F-9599-43C6CB290751}"/>
              </a:ext>
            </a:extLst>
          </p:cNvPr>
          <p:cNvGrpSpPr/>
          <p:nvPr/>
        </p:nvGrpSpPr>
        <p:grpSpPr>
          <a:xfrm>
            <a:off x="838200" y="2494441"/>
            <a:ext cx="10515600" cy="2404946"/>
            <a:chOff x="838200" y="2494441"/>
            <a:chExt cx="10515600" cy="2404946"/>
          </a:xfrm>
        </p:grpSpPr>
        <p:grpSp>
          <p:nvGrpSpPr>
            <p:cNvPr id="12" name="그룹 11">
              <a:extLst>
                <a:ext uri="{FF2B5EF4-FFF2-40B4-BE49-F238E27FC236}">
                  <a16:creationId xmlns:a16="http://schemas.microsoft.com/office/drawing/2014/main" id="{83048E82-5012-D068-282E-3019C200BBF0}"/>
                </a:ext>
              </a:extLst>
            </p:cNvPr>
            <p:cNvGrpSpPr/>
            <p:nvPr/>
          </p:nvGrpSpPr>
          <p:grpSpPr>
            <a:xfrm>
              <a:off x="838200" y="2494441"/>
              <a:ext cx="10515600" cy="2404946"/>
              <a:chOff x="838200" y="2331022"/>
              <a:chExt cx="10515600" cy="2404946"/>
            </a:xfrm>
          </p:grpSpPr>
          <p:sp>
            <p:nvSpPr>
              <p:cNvPr id="8" name="TextBox 7">
                <a:extLst>
                  <a:ext uri="{FF2B5EF4-FFF2-40B4-BE49-F238E27FC236}">
                    <a16:creationId xmlns:a16="http://schemas.microsoft.com/office/drawing/2014/main" id="{61434F0E-369B-0452-D27C-90DCB0580F62}"/>
                  </a:ext>
                </a:extLst>
              </p:cNvPr>
              <p:cNvSpPr txBox="1"/>
              <p:nvPr/>
            </p:nvSpPr>
            <p:spPr>
              <a:xfrm>
                <a:off x="3047326" y="2331022"/>
                <a:ext cx="6097348" cy="400110"/>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pod-with-default -- </a:t>
                </a:r>
                <a:r>
                  <a:rPr lang="en-US" altLang="ko-KR" sz="1000" b="1" dirty="0" err="1">
                    <a:solidFill>
                      <a:srgbClr val="FF0000"/>
                    </a:solidFill>
                  </a:rPr>
                  <a:t>chown</a:t>
                </a:r>
                <a:r>
                  <a:rPr lang="en-US" altLang="ko-KR" sz="1000" b="1" dirty="0">
                    <a:solidFill>
                      <a:srgbClr val="FF0000"/>
                    </a:solidFill>
                  </a:rPr>
                  <a:t> guest /</a:t>
                </a:r>
                <a:r>
                  <a:rPr lang="en-US" altLang="ko-KR" sz="1000" b="1" dirty="0" err="1">
                    <a:solidFill>
                      <a:srgbClr val="FF0000"/>
                    </a:solidFill>
                  </a:rPr>
                  <a:t>tmp</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a:t>
                </a:r>
                <a:r>
                  <a:rPr lang="en-US" altLang="ko-KR" sz="1000" b="1" dirty="0">
                    <a:solidFill>
                      <a:srgbClr val="FF0000"/>
                    </a:solidFill>
                  </a:rPr>
                  <a:t>pod-with-default -- ls -la / | grep </a:t>
                </a:r>
                <a:r>
                  <a:rPr lang="en-US" altLang="ko-KR" sz="1000" b="1" dirty="0" err="1">
                    <a:solidFill>
                      <a:srgbClr val="FF0000"/>
                    </a:solidFill>
                  </a:rPr>
                  <a:t>tmp</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3A53CB41-60C4-DEC7-8F8F-1373F9A82804}"/>
                  </a:ext>
                </a:extLst>
              </p:cNvPr>
              <p:cNvSpPr/>
              <p:nvPr/>
            </p:nvSpPr>
            <p:spPr>
              <a:xfrm>
                <a:off x="5865377" y="2731132"/>
                <a:ext cx="461246" cy="33986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D9CCAFBF-4348-D2A9-CCF0-02F3C75DBD4C}"/>
                  </a:ext>
                </a:extLst>
              </p:cNvPr>
              <p:cNvPicPr>
                <a:picLocks noChangeAspect="1"/>
              </p:cNvPicPr>
              <p:nvPr/>
            </p:nvPicPr>
            <p:blipFill>
              <a:blip r:embed="rId2"/>
              <a:stretch>
                <a:fillRect/>
              </a:stretch>
            </p:blipFill>
            <p:spPr>
              <a:xfrm>
                <a:off x="838200" y="3070998"/>
                <a:ext cx="10515600" cy="1664970"/>
              </a:xfrm>
              <a:prstGeom prst="rect">
                <a:avLst/>
              </a:prstGeom>
            </p:spPr>
          </p:pic>
        </p:grpSp>
        <p:sp>
          <p:nvSpPr>
            <p:cNvPr id="13" name="직사각형 12">
              <a:extLst>
                <a:ext uri="{FF2B5EF4-FFF2-40B4-BE49-F238E27FC236}">
                  <a16:creationId xmlns:a16="http://schemas.microsoft.com/office/drawing/2014/main" id="{AAD394D7-908A-2CF1-9FAF-29A4B2022E5B}"/>
                </a:ext>
              </a:extLst>
            </p:cNvPr>
            <p:cNvSpPr/>
            <p:nvPr/>
          </p:nvSpPr>
          <p:spPr>
            <a:xfrm>
              <a:off x="962952" y="4037926"/>
              <a:ext cx="4329239" cy="1456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739327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Context(12/19)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Dropping Capabilities from a Container :</a:t>
            </a:r>
            <a:endParaRPr lang="en-US" altLang="ko-KR" sz="1400" dirty="0"/>
          </a:p>
          <a:p>
            <a:pPr lvl="1">
              <a:buFont typeface="Wingdings" panose="05000000000000000000" pitchFamily="2" charset="2"/>
              <a:buChar char="§"/>
            </a:pPr>
            <a:r>
              <a:rPr lang="en-US" altLang="ko-KR" sz="1400" b="1" dirty="0"/>
              <a:t>To prevent the container from doing that, you need to drop the capability by listing it under the container’s </a:t>
            </a:r>
            <a:r>
              <a:rPr lang="en-US" altLang="ko-KR" sz="1400" dirty="0"/>
              <a:t>“</a:t>
            </a:r>
            <a:r>
              <a:rPr lang="en-US" altLang="ko-KR" sz="1400" b="1" dirty="0" err="1">
                <a:solidFill>
                  <a:srgbClr val="FF0000"/>
                </a:solidFill>
              </a:rPr>
              <a:t>securityContext.capabilities.drop</a:t>
            </a:r>
            <a:r>
              <a:rPr lang="en-US" altLang="ko-KR" sz="1400" dirty="0"/>
              <a:t>” </a:t>
            </a:r>
            <a:r>
              <a:rPr lang="en-US" altLang="ko-KR" sz="1400" b="1" dirty="0"/>
              <a:t>property</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9DE8E6C4-803A-9A1F-5F1F-AF0DDF67DA49}"/>
              </a:ext>
            </a:extLst>
          </p:cNvPr>
          <p:cNvGrpSpPr/>
          <p:nvPr/>
        </p:nvGrpSpPr>
        <p:grpSpPr>
          <a:xfrm>
            <a:off x="838200" y="1770481"/>
            <a:ext cx="10515600" cy="4432626"/>
            <a:chOff x="838200" y="1697653"/>
            <a:chExt cx="10515600" cy="4432626"/>
          </a:xfrm>
        </p:grpSpPr>
        <p:grpSp>
          <p:nvGrpSpPr>
            <p:cNvPr id="10" name="그룹 9">
              <a:extLst>
                <a:ext uri="{FF2B5EF4-FFF2-40B4-BE49-F238E27FC236}">
                  <a16:creationId xmlns:a16="http://schemas.microsoft.com/office/drawing/2014/main" id="{E7365FF8-617A-00ED-C9BF-DC3AE751DD4D}"/>
                </a:ext>
              </a:extLst>
            </p:cNvPr>
            <p:cNvGrpSpPr/>
            <p:nvPr/>
          </p:nvGrpSpPr>
          <p:grpSpPr>
            <a:xfrm>
              <a:off x="3047326" y="1697653"/>
              <a:ext cx="6097348" cy="2092881"/>
              <a:chOff x="3047326" y="1697653"/>
              <a:chExt cx="6097348" cy="2092881"/>
            </a:xfrm>
          </p:grpSpPr>
          <p:sp>
            <p:nvSpPr>
              <p:cNvPr id="8" name="TextBox 7">
                <a:extLst>
                  <a:ext uri="{FF2B5EF4-FFF2-40B4-BE49-F238E27FC236}">
                    <a16:creationId xmlns:a16="http://schemas.microsoft.com/office/drawing/2014/main" id="{21B7C830-E396-3AF2-B7C8-4ED39FDC08C5}"/>
                  </a:ext>
                </a:extLst>
              </p:cNvPr>
              <p:cNvSpPr txBox="1"/>
              <p:nvPr/>
            </p:nvSpPr>
            <p:spPr>
              <a:xfrm>
                <a:off x="3047326" y="1697653"/>
                <a:ext cx="6097348" cy="2092881"/>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pod-drop-</a:t>
                </a:r>
                <a:r>
                  <a:rPr lang="en-US" altLang="ko-KR" sz="1000" b="1" dirty="0" err="1">
                    <a:solidFill>
                      <a:srgbClr val="FF0000"/>
                    </a:solidFill>
                  </a:rPr>
                  <a:t>chown</a:t>
                </a:r>
                <a:r>
                  <a:rPr lang="en-US" altLang="ko-KR" sz="1000" b="1" dirty="0">
                    <a:solidFill>
                      <a:srgbClr val="FF0000"/>
                    </a:solidFill>
                  </a:rPr>
                  <a:t>-capability</a:t>
                </a:r>
              </a:p>
              <a:p>
                <a:r>
                  <a:rPr lang="en-US" altLang="ko-KR" sz="1000" b="1" dirty="0"/>
                  <a:t>spec:</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a:p>
                <a:r>
                  <a:rPr lang="en-US" altLang="ko-KR" sz="1000" b="1" dirty="0">
                    <a:solidFill>
                      <a:srgbClr val="FF0000"/>
                    </a:solidFill>
                  </a:rPr>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capabilities:</a:t>
                </a:r>
              </a:p>
              <a:p>
                <a:r>
                  <a:rPr lang="en-US" altLang="ko-KR" sz="1000" b="1" dirty="0">
                    <a:solidFill>
                      <a:srgbClr val="FF0000"/>
                    </a:solidFill>
                  </a:rPr>
                  <a:t>        drop:</a:t>
                </a:r>
              </a:p>
              <a:p>
                <a:r>
                  <a:rPr lang="en-US" altLang="ko-KR" sz="1000" b="1" dirty="0">
                    <a:solidFill>
                      <a:srgbClr val="FF0000"/>
                    </a:solidFill>
                  </a:rPr>
                  <a:t>        - CHOWN</a:t>
                </a:r>
              </a:p>
            </p:txBody>
          </p:sp>
          <p:sp>
            <p:nvSpPr>
              <p:cNvPr id="9" name="TextBox 8">
                <a:extLst>
                  <a:ext uri="{FF2B5EF4-FFF2-40B4-BE49-F238E27FC236}">
                    <a16:creationId xmlns:a16="http://schemas.microsoft.com/office/drawing/2014/main" id="{56190F16-A602-3DFF-8B57-0E08C703BEDC}"/>
                  </a:ext>
                </a:extLst>
              </p:cNvPr>
              <p:cNvSpPr txBox="1"/>
              <p:nvPr/>
            </p:nvSpPr>
            <p:spPr>
              <a:xfrm>
                <a:off x="6957857" y="1697653"/>
                <a:ext cx="2186817" cy="246221"/>
              </a:xfrm>
              <a:prstGeom prst="rect">
                <a:avLst/>
              </a:prstGeom>
              <a:noFill/>
            </p:spPr>
            <p:txBody>
              <a:bodyPr wrap="none" rtlCol="0">
                <a:spAutoFit/>
              </a:bodyPr>
              <a:lstStyle/>
              <a:p>
                <a:pPr algn="l"/>
                <a:r>
                  <a:rPr lang="en-US" altLang="ko-KR" sz="1000" b="1" dirty="0"/>
                  <a:t>pod-drop-</a:t>
                </a:r>
                <a:r>
                  <a:rPr lang="en-US" altLang="ko-KR" sz="1000" b="1" dirty="0" err="1"/>
                  <a:t>chown</a:t>
                </a:r>
                <a:r>
                  <a:rPr lang="en-US" altLang="ko-KR" sz="1000" b="1" dirty="0"/>
                  <a:t>-</a:t>
                </a:r>
                <a:r>
                  <a:rPr lang="en-US" altLang="ko-KR" sz="1000" b="1" dirty="0" err="1"/>
                  <a:t>capability.yaml</a:t>
                </a:r>
                <a:endParaRPr lang="ko-KR" altLang="en-US" sz="1000" b="1" dirty="0"/>
              </a:p>
            </p:txBody>
          </p:sp>
        </p:grpSp>
        <p:sp>
          <p:nvSpPr>
            <p:cNvPr id="11" name="화살표: 아래쪽 10">
              <a:extLst>
                <a:ext uri="{FF2B5EF4-FFF2-40B4-BE49-F238E27FC236}">
                  <a16:creationId xmlns:a16="http://schemas.microsoft.com/office/drawing/2014/main" id="{0E3FAF46-D07D-F48E-A163-C81F2D2E0427}"/>
                </a:ext>
              </a:extLst>
            </p:cNvPr>
            <p:cNvSpPr/>
            <p:nvPr/>
          </p:nvSpPr>
          <p:spPr>
            <a:xfrm>
              <a:off x="5873469" y="3790534"/>
              <a:ext cx="445062" cy="3202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B2A83DCA-F23F-3847-445F-4B812C16B6F2}"/>
                </a:ext>
              </a:extLst>
            </p:cNvPr>
            <p:cNvPicPr>
              <a:picLocks noChangeAspect="1"/>
            </p:cNvPicPr>
            <p:nvPr/>
          </p:nvPicPr>
          <p:blipFill>
            <a:blip r:embed="rId2"/>
            <a:stretch>
              <a:fillRect/>
            </a:stretch>
          </p:blipFill>
          <p:spPr>
            <a:xfrm>
              <a:off x="838200" y="4114789"/>
              <a:ext cx="10515600" cy="2015490"/>
            </a:xfrm>
            <a:prstGeom prst="rect">
              <a:avLst/>
            </a:prstGeom>
          </p:spPr>
        </p:pic>
      </p:grpSp>
    </p:spTree>
    <p:extLst>
      <p:ext uri="{BB962C8B-B14F-4D97-AF65-F5344CB8AC3E}">
        <p14:creationId xmlns:p14="http://schemas.microsoft.com/office/powerpoint/2010/main" val="36046593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Context(13/19)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Dropping Capabilities from a Container :</a:t>
            </a:r>
            <a:endParaRPr lang="en-US" altLang="ko-KR" sz="1400" dirty="0"/>
          </a:p>
          <a:p>
            <a:pPr lvl="1">
              <a:buFont typeface="Wingdings" panose="05000000000000000000" pitchFamily="2" charset="2"/>
              <a:buChar char="§"/>
            </a:pPr>
            <a:r>
              <a:rPr lang="en-US" altLang="ko-KR" sz="1400" b="1" dirty="0"/>
              <a:t>By dropping the “CHOWN” capability, you’re not allowed to change the owner of the “/</a:t>
            </a:r>
            <a:r>
              <a:rPr lang="en-US" altLang="ko-KR" sz="1400" b="1" dirty="0" err="1"/>
              <a:t>tmp</a:t>
            </a:r>
            <a:r>
              <a:rPr lang="en-US" altLang="ko-KR" sz="1400" b="1" dirty="0"/>
              <a:t>” directory in this pod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B4A27742-7ABF-8D60-7849-88CABE3CB957}"/>
              </a:ext>
            </a:extLst>
          </p:cNvPr>
          <p:cNvGrpSpPr/>
          <p:nvPr/>
        </p:nvGrpSpPr>
        <p:grpSpPr>
          <a:xfrm>
            <a:off x="838200" y="1991157"/>
            <a:ext cx="10515600" cy="2229545"/>
            <a:chOff x="838200" y="1780764"/>
            <a:chExt cx="10515600" cy="2229545"/>
          </a:xfrm>
        </p:grpSpPr>
        <p:grpSp>
          <p:nvGrpSpPr>
            <p:cNvPr id="14" name="그룹 13">
              <a:extLst>
                <a:ext uri="{FF2B5EF4-FFF2-40B4-BE49-F238E27FC236}">
                  <a16:creationId xmlns:a16="http://schemas.microsoft.com/office/drawing/2014/main" id="{EDB29E95-9A25-CEBF-9507-3FF7A1D8AA96}"/>
                </a:ext>
              </a:extLst>
            </p:cNvPr>
            <p:cNvGrpSpPr/>
            <p:nvPr/>
          </p:nvGrpSpPr>
          <p:grpSpPr>
            <a:xfrm>
              <a:off x="838200" y="1780764"/>
              <a:ext cx="10515600" cy="2229545"/>
              <a:chOff x="838200" y="1780764"/>
              <a:chExt cx="10515600" cy="2229545"/>
            </a:xfrm>
          </p:grpSpPr>
          <p:grpSp>
            <p:nvGrpSpPr>
              <p:cNvPr id="12" name="그룹 11">
                <a:extLst>
                  <a:ext uri="{FF2B5EF4-FFF2-40B4-BE49-F238E27FC236}">
                    <a16:creationId xmlns:a16="http://schemas.microsoft.com/office/drawing/2014/main" id="{CB46274B-405C-799F-B578-7D750B99874F}"/>
                  </a:ext>
                </a:extLst>
              </p:cNvPr>
              <p:cNvGrpSpPr/>
              <p:nvPr/>
            </p:nvGrpSpPr>
            <p:grpSpPr>
              <a:xfrm>
                <a:off x="838200" y="1780764"/>
                <a:ext cx="10515600" cy="2229545"/>
                <a:chOff x="838200" y="1780764"/>
                <a:chExt cx="10515600" cy="2229545"/>
              </a:xfrm>
            </p:grpSpPr>
            <p:sp>
              <p:nvSpPr>
                <p:cNvPr id="8" name="TextBox 7">
                  <a:extLst>
                    <a:ext uri="{FF2B5EF4-FFF2-40B4-BE49-F238E27FC236}">
                      <a16:creationId xmlns:a16="http://schemas.microsoft.com/office/drawing/2014/main" id="{1BD44D68-C4A5-967D-70FE-09FF282EC72A}"/>
                    </a:ext>
                  </a:extLst>
                </p:cNvPr>
                <p:cNvSpPr txBox="1"/>
                <p:nvPr/>
              </p:nvSpPr>
              <p:spPr>
                <a:xfrm>
                  <a:off x="3047326" y="1780764"/>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a:solidFill>
                        <a:srgbClr val="FF0000"/>
                      </a:solidFill>
                    </a:rPr>
                    <a:t>pod-drop-</a:t>
                  </a:r>
                  <a:r>
                    <a:rPr lang="en-US" altLang="ko-KR" sz="1000" b="1" dirty="0" err="1">
                      <a:solidFill>
                        <a:srgbClr val="FF0000"/>
                      </a:solidFill>
                    </a:rPr>
                    <a:t>chown</a:t>
                  </a:r>
                  <a:r>
                    <a:rPr lang="en-US" altLang="ko-KR" sz="1000" b="1" dirty="0">
                      <a:solidFill>
                        <a:srgbClr val="FF0000"/>
                      </a:solidFill>
                    </a:rPr>
                    <a:t>-capability -- </a:t>
                  </a:r>
                  <a:r>
                    <a:rPr lang="en-US" altLang="ko-KR" sz="1000" b="1" dirty="0" err="1">
                      <a:solidFill>
                        <a:srgbClr val="FF0000"/>
                      </a:solidFill>
                    </a:rPr>
                    <a:t>chown</a:t>
                  </a:r>
                  <a:r>
                    <a:rPr lang="en-US" altLang="ko-KR" sz="1000" b="1" dirty="0">
                      <a:solidFill>
                        <a:srgbClr val="FF0000"/>
                      </a:solidFill>
                    </a:rPr>
                    <a:t> guest /</a:t>
                  </a:r>
                  <a:r>
                    <a:rPr lang="en-US" altLang="ko-KR" sz="1000" b="1" dirty="0" err="1">
                      <a:solidFill>
                        <a:srgbClr val="FF0000"/>
                      </a:solidFill>
                    </a:rPr>
                    <a:t>tmp</a:t>
                  </a:r>
                  <a:endParaRPr lang="en-US" altLang="ko-KR" sz="1000" b="1" dirty="0">
                    <a:solidFill>
                      <a:srgbClr val="FF0000"/>
                    </a:solidFill>
                  </a:endParaRPr>
                </a:p>
              </p:txBody>
            </p:sp>
            <p:sp>
              <p:nvSpPr>
                <p:cNvPr id="9" name="화살표: 아래쪽 8">
                  <a:extLst>
                    <a:ext uri="{FF2B5EF4-FFF2-40B4-BE49-F238E27FC236}">
                      <a16:creationId xmlns:a16="http://schemas.microsoft.com/office/drawing/2014/main" id="{B34FE43F-18C2-A063-72F7-8F31E49E2E0A}"/>
                    </a:ext>
                  </a:extLst>
                </p:cNvPr>
                <p:cNvSpPr/>
                <p:nvPr/>
              </p:nvSpPr>
              <p:spPr>
                <a:xfrm>
                  <a:off x="5842450" y="2029749"/>
                  <a:ext cx="501706" cy="3155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FBE587F3-9A0F-5B03-D9DD-4F867C9A7F14}"/>
                    </a:ext>
                  </a:extLst>
                </p:cNvPr>
                <p:cNvPicPr>
                  <a:picLocks noChangeAspect="1"/>
                </p:cNvPicPr>
                <p:nvPr/>
              </p:nvPicPr>
              <p:blipFill>
                <a:blip r:embed="rId2"/>
                <a:stretch>
                  <a:fillRect/>
                </a:stretch>
              </p:blipFill>
              <p:spPr>
                <a:xfrm>
                  <a:off x="838200" y="2345339"/>
                  <a:ext cx="10515600" cy="1664970"/>
                </a:xfrm>
                <a:prstGeom prst="rect">
                  <a:avLst/>
                </a:prstGeom>
              </p:spPr>
            </p:pic>
          </p:grpSp>
          <p:sp>
            <p:nvSpPr>
              <p:cNvPr id="13" name="직사각형 12">
                <a:extLst>
                  <a:ext uri="{FF2B5EF4-FFF2-40B4-BE49-F238E27FC236}">
                    <a16:creationId xmlns:a16="http://schemas.microsoft.com/office/drawing/2014/main" id="{50B80739-67C7-A1BF-FD71-B2D116423FEB}"/>
                  </a:ext>
                </a:extLst>
              </p:cNvPr>
              <p:cNvSpPr/>
              <p:nvPr/>
            </p:nvSpPr>
            <p:spPr>
              <a:xfrm>
                <a:off x="938676" y="2985961"/>
                <a:ext cx="2642724"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881E88BB-1000-79F0-071A-ADF073B1C89B}"/>
                </a:ext>
              </a:extLst>
            </p:cNvPr>
            <p:cNvSpPr/>
            <p:nvPr/>
          </p:nvSpPr>
          <p:spPr>
            <a:xfrm>
              <a:off x="5308375" y="2807936"/>
              <a:ext cx="4135030" cy="2191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317963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Context(14/19)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Processes from Writing to the Container’s Filesystem :</a:t>
            </a:r>
            <a:endParaRPr lang="en-US" altLang="ko-KR" sz="1400" dirty="0"/>
          </a:p>
          <a:p>
            <a:pPr lvl="1">
              <a:buFont typeface="Wingdings" panose="05000000000000000000" pitchFamily="2" charset="2"/>
              <a:buChar char="§"/>
            </a:pPr>
            <a:r>
              <a:rPr lang="en-US" altLang="ko-KR" sz="1400" b="1" dirty="0"/>
              <a:t>You may want to prevent the processes running in the container from writing to the container’s filesystem</a:t>
            </a:r>
            <a:r>
              <a:rPr lang="en-US" altLang="ko-KR" sz="1400" dirty="0"/>
              <a:t>, </a:t>
            </a:r>
            <a:r>
              <a:rPr lang="en-US" altLang="ko-KR" sz="1400" b="1" dirty="0"/>
              <a:t>and only allow them to write to mounted volumes</a:t>
            </a:r>
            <a:r>
              <a:rPr lang="en-US" altLang="ko-KR" sz="1400" dirty="0"/>
              <a:t>. You’d want to do that mostly for security reasons.</a:t>
            </a:r>
          </a:p>
          <a:p>
            <a:pPr lvl="1">
              <a:buFont typeface="Wingdings" panose="05000000000000000000" pitchFamily="2" charset="2"/>
              <a:buChar char="§"/>
            </a:pPr>
            <a:r>
              <a:rPr lang="en-US" altLang="ko-KR" sz="1400" b="1" dirty="0"/>
              <a:t>Let’s imagine you’re running a PHP application with a hidden vulnerability, allowing an attacker to write to the filesystem</a:t>
            </a:r>
            <a:r>
              <a:rPr lang="en-US" altLang="ko-KR" sz="1400" dirty="0"/>
              <a:t>. The PHP files are added to the container image at build time and are served from the container’s filesystem. </a:t>
            </a:r>
            <a:r>
              <a:rPr lang="en-US" altLang="ko-KR" sz="1400" b="1" dirty="0"/>
              <a:t>Because of the vulnerability, the attacker can modify those files and inject them with malicious code</a:t>
            </a:r>
            <a:r>
              <a:rPr lang="en-US" altLang="ko-KR" sz="1400" dirty="0"/>
              <a:t>.</a:t>
            </a:r>
          </a:p>
          <a:p>
            <a:pPr lvl="1">
              <a:buFont typeface="Wingdings" panose="05000000000000000000" pitchFamily="2" charset="2"/>
              <a:buChar char="§"/>
            </a:pPr>
            <a:r>
              <a:rPr lang="en-US" altLang="ko-KR" sz="1400" b="1" dirty="0"/>
              <a:t>These types of attacks can be thwarted by preventing the container from writing to its filesystem</a:t>
            </a:r>
            <a:r>
              <a:rPr lang="en-US" altLang="ko-KR" sz="1400" dirty="0"/>
              <a:t>, where the app’s executable code is normally stored. </a:t>
            </a:r>
            <a:r>
              <a:rPr lang="en-US" altLang="ko-KR" sz="1400" b="1" dirty="0"/>
              <a:t>This is done by setting the container’s “</a:t>
            </a:r>
            <a:r>
              <a:rPr lang="en-US" altLang="ko-KR" sz="1400" b="1" dirty="0" err="1">
                <a:solidFill>
                  <a:srgbClr val="FF0000"/>
                </a:solidFill>
              </a:rPr>
              <a:t>securityContext.readOnlyRootFilesystem</a:t>
            </a:r>
            <a:r>
              <a:rPr lang="en-US" altLang="ko-KR" sz="1400" b="1" dirty="0"/>
              <a:t>” property to “true”</a:t>
            </a:r>
            <a:r>
              <a:rPr lang="en-US" altLang="ko-KR" sz="1400" dirty="0"/>
              <a:t>, as shown in the following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50D2144-F820-A2AD-D2D9-D7993D9CA171}"/>
              </a:ext>
            </a:extLst>
          </p:cNvPr>
          <p:cNvGrpSpPr/>
          <p:nvPr/>
        </p:nvGrpSpPr>
        <p:grpSpPr>
          <a:xfrm>
            <a:off x="3047326" y="3068625"/>
            <a:ext cx="6097348" cy="2862322"/>
            <a:chOff x="3047326" y="3020072"/>
            <a:chExt cx="6097348" cy="2862322"/>
          </a:xfrm>
        </p:grpSpPr>
        <p:sp>
          <p:nvSpPr>
            <p:cNvPr id="8" name="TextBox 7">
              <a:extLst>
                <a:ext uri="{FF2B5EF4-FFF2-40B4-BE49-F238E27FC236}">
                  <a16:creationId xmlns:a16="http://schemas.microsoft.com/office/drawing/2014/main" id="{79BECB51-411B-E064-5BB0-B5AD11F5BAFF}"/>
                </a:ext>
              </a:extLst>
            </p:cNvPr>
            <p:cNvSpPr txBox="1"/>
            <p:nvPr/>
          </p:nvSpPr>
          <p:spPr>
            <a:xfrm>
              <a:off x="3047326" y="3020072"/>
              <a:ext cx="6097348" cy="286232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a:solidFill>
                    <a:srgbClr val="FF0000"/>
                  </a:solidFill>
                </a:rPr>
                <a:t>pod-with-</a:t>
              </a:r>
              <a:r>
                <a:rPr lang="en-US" altLang="ko-KR" sz="1000" b="1" dirty="0" err="1">
                  <a:solidFill>
                    <a:srgbClr val="FF0000"/>
                  </a:solidFill>
                </a:rPr>
                <a:t>readonly</a:t>
              </a:r>
              <a:r>
                <a:rPr lang="en-US" altLang="ko-KR" sz="1000" b="1" dirty="0">
                  <a:solidFill>
                    <a:srgbClr val="FF0000"/>
                  </a:solidFill>
                </a:rPr>
                <a:t>-filesystem</a:t>
              </a:r>
            </a:p>
            <a:p>
              <a:r>
                <a:rPr lang="en-US" altLang="ko-KR" sz="1000" b="1" dirty="0"/>
                <a:t>spec:</a:t>
              </a:r>
            </a:p>
            <a:p>
              <a:r>
                <a:rPr lang="en-US" altLang="ko-KR" sz="1000" b="1" dirty="0"/>
                <a:t>  containers:</a:t>
              </a:r>
            </a:p>
            <a:p>
              <a:r>
                <a:rPr lang="en-US" altLang="ko-KR" sz="1000" b="1" dirty="0"/>
                <a:t>  - name: main</a:t>
              </a:r>
            </a:p>
            <a:p>
              <a:r>
                <a:rPr lang="en-US" altLang="ko-KR" sz="1000" b="1" dirty="0"/>
                <a:t>    image: alpine</a:t>
              </a:r>
            </a:p>
            <a:p>
              <a:r>
                <a:rPr lang="en-US" altLang="ko-KR" sz="1000" b="1" dirty="0"/>
                <a:t>    command: ["/bin/sleep", "999999"]</a:t>
              </a:r>
            </a:p>
            <a:p>
              <a:r>
                <a:rPr lang="en-US" altLang="ko-KR" sz="1000" b="1" dirty="0">
                  <a:solidFill>
                    <a:srgbClr val="FF0000"/>
                  </a:solidFill>
                </a:rPr>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readOnlyRootFilesystem</a:t>
              </a:r>
              <a:r>
                <a:rPr lang="en-US" altLang="ko-KR" sz="1000" b="1" dirty="0">
                  <a:solidFill>
                    <a:srgbClr val="FF0000"/>
                  </a:solidFill>
                </a:rPr>
                <a:t>: true</a:t>
              </a:r>
            </a:p>
            <a:p>
              <a:r>
                <a:rPr lang="en-US" altLang="ko-KR" sz="1000" b="1" dirty="0">
                  <a:solidFill>
                    <a:srgbClr val="FF0000"/>
                  </a:solidFill>
                </a:rPr>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solidFill>
                    <a:srgbClr val="FF0000"/>
                  </a:solidFill>
                </a:rPr>
                <a:t>    - name: my-volume</a:t>
              </a:r>
            </a:p>
            <a:p>
              <a:r>
                <a:rPr lang="en-US" altLang="ko-KR" sz="1000" b="1" dirty="0">
                  <a:solidFill>
                    <a:srgbClr val="FF0000"/>
                  </a:solidFill>
                </a:rPr>
                <a:t>      </a:t>
              </a:r>
              <a:r>
                <a:rPr lang="en-US" altLang="ko-KR" sz="1000" b="1" dirty="0" err="1">
                  <a:solidFill>
                    <a:srgbClr val="FF0000"/>
                  </a:solidFill>
                </a:rPr>
                <a:t>mountPath</a:t>
              </a:r>
              <a:r>
                <a:rPr lang="en-US" altLang="ko-KR" sz="1000" b="1" dirty="0">
                  <a:solidFill>
                    <a:srgbClr val="FF0000"/>
                  </a:solidFill>
                </a:rPr>
                <a:t>: /volume</a:t>
              </a:r>
            </a:p>
            <a:p>
              <a:r>
                <a:rPr lang="en-US" altLang="ko-KR" sz="1000" b="1" dirty="0">
                  <a:solidFill>
                    <a:srgbClr val="FF0000"/>
                  </a:solidFill>
                </a:rPr>
                <a:t>      </a:t>
              </a:r>
              <a:r>
                <a:rPr lang="en-US" altLang="ko-KR" sz="1000" b="1" dirty="0" err="1">
                  <a:solidFill>
                    <a:srgbClr val="FF0000"/>
                  </a:solidFill>
                </a:rPr>
                <a:t>readOnly</a:t>
              </a:r>
              <a:r>
                <a:rPr lang="en-US" altLang="ko-KR" sz="1000" b="1" dirty="0">
                  <a:solidFill>
                    <a:srgbClr val="FF0000"/>
                  </a:solidFill>
                </a:rPr>
                <a:t>: false</a:t>
              </a:r>
            </a:p>
            <a:p>
              <a:r>
                <a:rPr lang="en-US" altLang="ko-KR" sz="1000" b="1" dirty="0">
                  <a:solidFill>
                    <a:srgbClr val="FF0000"/>
                  </a:solidFill>
                </a:rPr>
                <a:t>  volumes:</a:t>
              </a:r>
            </a:p>
            <a:p>
              <a:r>
                <a:rPr lang="en-US" altLang="ko-KR" sz="1000" b="1" dirty="0">
                  <a:solidFill>
                    <a:srgbClr val="FF0000"/>
                  </a:solidFill>
                </a:rPr>
                <a:t>  - name: my-volume</a:t>
              </a:r>
            </a:p>
            <a:p>
              <a:r>
                <a:rPr lang="en-US" altLang="ko-KR" sz="1000" b="1" dirty="0">
                  <a:solidFill>
                    <a:srgbClr val="FF0000"/>
                  </a:solidFill>
                </a:rPr>
                <a:t>    </a:t>
              </a:r>
              <a:r>
                <a:rPr lang="en-US" altLang="ko-KR" sz="1000" b="1" dirty="0" err="1">
                  <a:solidFill>
                    <a:srgbClr val="FF0000"/>
                  </a:solidFill>
                </a:rPr>
                <a:t>emptyDir</a:t>
              </a:r>
              <a:r>
                <a:rPr lang="en-US" altLang="ko-KR" sz="1000" b="1" dirty="0">
                  <a:solidFill>
                    <a:srgbClr val="FF0000"/>
                  </a:solidFill>
                </a:rPr>
                <a:t>: {}</a:t>
              </a:r>
              <a:endParaRPr lang="ko-KR" altLang="en-US" sz="1000" b="1" dirty="0">
                <a:solidFill>
                  <a:srgbClr val="FF0000"/>
                </a:solidFill>
              </a:endParaRPr>
            </a:p>
          </p:txBody>
        </p:sp>
        <p:sp>
          <p:nvSpPr>
            <p:cNvPr id="9" name="TextBox 8">
              <a:extLst>
                <a:ext uri="{FF2B5EF4-FFF2-40B4-BE49-F238E27FC236}">
                  <a16:creationId xmlns:a16="http://schemas.microsoft.com/office/drawing/2014/main" id="{7F1DBF2A-8F5D-CF36-9898-AC098E7321DE}"/>
                </a:ext>
              </a:extLst>
            </p:cNvPr>
            <p:cNvSpPr txBox="1"/>
            <p:nvPr/>
          </p:nvSpPr>
          <p:spPr>
            <a:xfrm>
              <a:off x="6821602" y="3020072"/>
              <a:ext cx="2323072" cy="246221"/>
            </a:xfrm>
            <a:prstGeom prst="rect">
              <a:avLst/>
            </a:prstGeom>
            <a:noFill/>
          </p:spPr>
          <p:txBody>
            <a:bodyPr wrap="none" rtlCol="0">
              <a:spAutoFit/>
            </a:bodyPr>
            <a:lstStyle/>
            <a:p>
              <a:pPr algn="l"/>
              <a:r>
                <a:rPr lang="en-US" altLang="ko-KR" sz="1000" b="1" dirty="0"/>
                <a:t>pod-with-</a:t>
              </a:r>
              <a:r>
                <a:rPr lang="en-US" altLang="ko-KR" sz="1000" b="1" dirty="0" err="1"/>
                <a:t>readonly</a:t>
              </a:r>
              <a:r>
                <a:rPr lang="en-US" altLang="ko-KR" sz="1000" b="1" dirty="0"/>
                <a:t>-</a:t>
              </a:r>
              <a:r>
                <a:rPr lang="en-US" altLang="ko-KR" sz="1000" b="1" dirty="0" err="1"/>
                <a:t>filesystem.yaml</a:t>
              </a:r>
              <a:endParaRPr lang="ko-KR" altLang="en-US" sz="1000" b="1" dirty="0"/>
            </a:p>
          </p:txBody>
        </p:sp>
      </p:grpSp>
    </p:spTree>
    <p:extLst>
      <p:ext uri="{BB962C8B-B14F-4D97-AF65-F5344CB8AC3E}">
        <p14:creationId xmlns:p14="http://schemas.microsoft.com/office/powerpoint/2010/main" val="35769099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the Pod with Read-Only Filesystem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the Pod :</a:t>
            </a:r>
            <a:endParaRPr lang="en-US" altLang="ko-KR" sz="1400" dirty="0"/>
          </a:p>
          <a:p>
            <a:pPr lvl="1">
              <a:buFont typeface="Wingdings" panose="05000000000000000000" pitchFamily="2" charset="2"/>
              <a:buChar char="§"/>
            </a:pPr>
            <a:r>
              <a:rPr lang="en-US" altLang="ko-KR" sz="1400" dirty="0"/>
              <a:t>With the previous YAML file, you can create the Pod </a:t>
            </a:r>
            <a:r>
              <a:rPr lang="en-US" altLang="ko-KR" sz="1400" b="1" dirty="0"/>
              <a:t>using the following command</a:t>
            </a:r>
            <a:r>
              <a:rPr lang="en-US" altLang="ko-KR" sz="1400" dirty="0"/>
              <a:t>. After this command, you can go further.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3C372387-84EA-232B-400A-CB09FBDBC37F}"/>
              </a:ext>
            </a:extLst>
          </p:cNvPr>
          <p:cNvGrpSpPr/>
          <p:nvPr/>
        </p:nvGrpSpPr>
        <p:grpSpPr>
          <a:xfrm>
            <a:off x="838200" y="1765515"/>
            <a:ext cx="10515600" cy="3733115"/>
            <a:chOff x="838200" y="1765515"/>
            <a:chExt cx="10515600" cy="3733115"/>
          </a:xfrm>
        </p:grpSpPr>
        <p:grpSp>
          <p:nvGrpSpPr>
            <p:cNvPr id="12" name="그룹 11">
              <a:extLst>
                <a:ext uri="{FF2B5EF4-FFF2-40B4-BE49-F238E27FC236}">
                  <a16:creationId xmlns:a16="http://schemas.microsoft.com/office/drawing/2014/main" id="{01C16AEC-BEDB-C1DB-4A8B-E5788A83DBB6}"/>
                </a:ext>
              </a:extLst>
            </p:cNvPr>
            <p:cNvGrpSpPr/>
            <p:nvPr/>
          </p:nvGrpSpPr>
          <p:grpSpPr>
            <a:xfrm>
              <a:off x="838200" y="1765515"/>
              <a:ext cx="10515600" cy="3733115"/>
              <a:chOff x="838200" y="1765515"/>
              <a:chExt cx="10515600" cy="3733115"/>
            </a:xfrm>
          </p:grpSpPr>
          <p:sp>
            <p:nvSpPr>
              <p:cNvPr id="8" name="TextBox 7">
                <a:extLst>
                  <a:ext uri="{FF2B5EF4-FFF2-40B4-BE49-F238E27FC236}">
                    <a16:creationId xmlns:a16="http://schemas.microsoft.com/office/drawing/2014/main" id="{9316746E-0178-2657-F0B6-31AE9E0B1A54}"/>
                  </a:ext>
                </a:extLst>
              </p:cNvPr>
              <p:cNvSpPr txBox="1"/>
              <p:nvPr/>
            </p:nvSpPr>
            <p:spPr>
              <a:xfrm>
                <a:off x="3047326" y="1765515"/>
                <a:ext cx="6097348" cy="246221"/>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pod-with-</a:t>
                </a:r>
                <a:r>
                  <a:rPr lang="en-US" altLang="ko-KR" sz="1000" b="1" dirty="0" err="1">
                    <a:solidFill>
                      <a:srgbClr val="FF0000"/>
                    </a:solidFill>
                  </a:rPr>
                  <a:t>readonly</a:t>
                </a:r>
                <a:r>
                  <a:rPr lang="en-US" altLang="ko-KR" sz="1000" b="1" dirty="0">
                    <a:solidFill>
                      <a:srgbClr val="FF0000"/>
                    </a:solidFill>
                  </a:rPr>
                  <a:t>-</a:t>
                </a:r>
                <a:r>
                  <a:rPr lang="en-US" altLang="ko-KR" sz="1000" b="1" dirty="0" err="1">
                    <a:solidFill>
                      <a:srgbClr val="FF0000"/>
                    </a:solidFill>
                  </a:rPr>
                  <a:t>filesystem.yaml</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0C8A75B6-F33B-89F9-2830-8B407C85DA1D}"/>
                  </a:ext>
                </a:extLst>
              </p:cNvPr>
              <p:cNvSpPr/>
              <p:nvPr/>
            </p:nvSpPr>
            <p:spPr>
              <a:xfrm>
                <a:off x="5865377" y="2018256"/>
                <a:ext cx="461246" cy="29940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1" name="그림 10">
                <a:extLst>
                  <a:ext uri="{FF2B5EF4-FFF2-40B4-BE49-F238E27FC236}">
                    <a16:creationId xmlns:a16="http://schemas.microsoft.com/office/drawing/2014/main" id="{E476DFED-9F61-6117-F64A-F1317887FCA2}"/>
                  </a:ext>
                </a:extLst>
              </p:cNvPr>
              <p:cNvPicPr>
                <a:picLocks noChangeAspect="1"/>
              </p:cNvPicPr>
              <p:nvPr/>
            </p:nvPicPr>
            <p:blipFill>
              <a:blip r:embed="rId2"/>
              <a:stretch>
                <a:fillRect/>
              </a:stretch>
            </p:blipFill>
            <p:spPr>
              <a:xfrm>
                <a:off x="838200" y="2317661"/>
                <a:ext cx="10515600" cy="3180969"/>
              </a:xfrm>
              <a:prstGeom prst="rect">
                <a:avLst/>
              </a:prstGeom>
            </p:spPr>
          </p:pic>
        </p:grpSp>
        <p:sp>
          <p:nvSpPr>
            <p:cNvPr id="13" name="직사각형 12">
              <a:extLst>
                <a:ext uri="{FF2B5EF4-FFF2-40B4-BE49-F238E27FC236}">
                  <a16:creationId xmlns:a16="http://schemas.microsoft.com/office/drawing/2014/main" id="{074C1B3A-AA01-39F8-4973-3AD34C34C872}"/>
                </a:ext>
              </a:extLst>
            </p:cNvPr>
            <p:cNvSpPr/>
            <p:nvPr/>
          </p:nvSpPr>
          <p:spPr>
            <a:xfrm>
              <a:off x="954860" y="5064244"/>
              <a:ext cx="4580092" cy="15511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994941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Context(15/19)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Processes from Writing to the Container’s Filesystem :</a:t>
            </a:r>
            <a:endParaRPr lang="en-US" altLang="ko-KR" sz="1400" dirty="0"/>
          </a:p>
          <a:p>
            <a:pPr lvl="1">
              <a:buFont typeface="Wingdings" panose="05000000000000000000" pitchFamily="2" charset="2"/>
              <a:buChar char="§"/>
            </a:pPr>
            <a:r>
              <a:rPr lang="en-US" altLang="ko-KR" sz="1400" dirty="0"/>
              <a:t>When you deploy this pod, </a:t>
            </a:r>
            <a:r>
              <a:rPr lang="en-US" altLang="ko-KR" sz="1400" b="1" dirty="0"/>
              <a:t>the container is running as root, which has write permissions to the “/” directory</a:t>
            </a:r>
            <a:r>
              <a:rPr lang="en-US" altLang="ko-KR" sz="1400" dirty="0"/>
              <a:t>, but </a:t>
            </a:r>
            <a:r>
              <a:rPr lang="en-US" altLang="ko-KR" sz="1400" b="1" dirty="0"/>
              <a:t>trying to write a file there fails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shown in the above and previous example, when you make the container’s filesystem read-only, </a:t>
            </a:r>
            <a:r>
              <a:rPr lang="en-US" altLang="ko-KR" sz="1400" b="1" dirty="0"/>
              <a:t>you’ll probably want to mount a volume in every directory the application writes to (for example, logs, on-disk caches, and so on).</a:t>
            </a:r>
          </a:p>
          <a:p>
            <a:pPr lvl="1">
              <a:buFont typeface="Wingdings" panose="05000000000000000000" pitchFamily="2" charset="2"/>
              <a:buChar char="§"/>
            </a:pPr>
            <a:r>
              <a:rPr lang="en-US" altLang="ko-KR" sz="1400" b="1" dirty="0"/>
              <a:t>NOTE : To increase security, when running pods in </a:t>
            </a:r>
            <a:r>
              <a:rPr lang="en-US" altLang="ko-KR" sz="1400" b="1" dirty="0">
                <a:solidFill>
                  <a:srgbClr val="FF0000"/>
                </a:solidFill>
              </a:rPr>
              <a:t>production</a:t>
            </a:r>
            <a:r>
              <a:rPr lang="en-US" altLang="ko-KR" sz="1400" b="1" dirty="0"/>
              <a:t>, </a:t>
            </a:r>
            <a:r>
              <a:rPr lang="en-US" altLang="ko-KR" sz="1400" b="1" dirty="0">
                <a:solidFill>
                  <a:srgbClr val="FF0000"/>
                </a:solidFill>
              </a:rPr>
              <a:t>set their container’s “</a:t>
            </a:r>
            <a:r>
              <a:rPr lang="en-US" altLang="ko-KR" sz="1400" b="1" dirty="0" err="1">
                <a:solidFill>
                  <a:srgbClr val="FF0000"/>
                </a:solidFill>
              </a:rPr>
              <a:t>readOnlyRootFilesystem</a:t>
            </a:r>
            <a:r>
              <a:rPr lang="en-US" altLang="ko-KR" sz="1400" b="1" dirty="0">
                <a:solidFill>
                  <a:srgbClr val="FF0000"/>
                </a:solidFill>
              </a:rPr>
              <a:t>” property to “true”</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F49050C-5BA2-D9D7-4BB9-A50ABFEC83B7}"/>
              </a:ext>
            </a:extLst>
          </p:cNvPr>
          <p:cNvGrpSpPr/>
          <p:nvPr/>
        </p:nvGrpSpPr>
        <p:grpSpPr>
          <a:xfrm>
            <a:off x="838200" y="1801301"/>
            <a:ext cx="10515600" cy="2586594"/>
            <a:chOff x="838200" y="1647552"/>
            <a:chExt cx="10515600" cy="2586594"/>
          </a:xfrm>
        </p:grpSpPr>
        <p:sp>
          <p:nvSpPr>
            <p:cNvPr id="10" name="TextBox 9">
              <a:extLst>
                <a:ext uri="{FF2B5EF4-FFF2-40B4-BE49-F238E27FC236}">
                  <a16:creationId xmlns:a16="http://schemas.microsoft.com/office/drawing/2014/main" id="{DE4A39D4-6E03-626D-07C7-919936E0A074}"/>
                </a:ext>
              </a:extLst>
            </p:cNvPr>
            <p:cNvSpPr txBox="1"/>
            <p:nvPr/>
          </p:nvSpPr>
          <p:spPr>
            <a:xfrm>
              <a:off x="3047326" y="1647552"/>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pod-with-</a:t>
              </a:r>
              <a:r>
                <a:rPr lang="en-US" altLang="ko-KR" sz="1000" b="1" dirty="0" err="1"/>
                <a:t>readonly</a:t>
              </a:r>
              <a:r>
                <a:rPr lang="en-US" altLang="ko-KR" sz="1000" b="1" dirty="0"/>
                <a:t>-filesystem -- </a:t>
              </a:r>
              <a:r>
                <a:rPr lang="en-US" altLang="ko-KR" sz="1000" b="1" dirty="0">
                  <a:solidFill>
                    <a:srgbClr val="FF0000"/>
                  </a:solidFill>
                </a:rPr>
                <a:t>touch /new-file</a:t>
              </a:r>
            </a:p>
            <a:p>
              <a:r>
                <a:rPr lang="en-US" altLang="ko-KR" sz="1000" b="1" dirty="0"/>
                <a:t>$ </a:t>
              </a:r>
              <a:r>
                <a:rPr lang="en-US" altLang="ko-KR" sz="1000" b="1" dirty="0" err="1"/>
                <a:t>kubectl</a:t>
              </a:r>
              <a:r>
                <a:rPr lang="en-US" altLang="ko-KR" sz="1000" b="1" dirty="0"/>
                <a:t> exec -it pod-with-</a:t>
              </a:r>
              <a:r>
                <a:rPr lang="en-US" altLang="ko-KR" sz="1000" b="1" dirty="0" err="1"/>
                <a:t>readonly</a:t>
              </a:r>
              <a:r>
                <a:rPr lang="en-US" altLang="ko-KR" sz="1000" b="1" dirty="0"/>
                <a:t>-filesystem -- </a:t>
              </a:r>
              <a:r>
                <a:rPr lang="en-US" altLang="ko-KR" sz="1000" b="1" dirty="0">
                  <a:solidFill>
                    <a:srgbClr val="FF0000"/>
                  </a:solidFill>
                </a:rPr>
                <a:t>touch /volume/</a:t>
              </a:r>
              <a:r>
                <a:rPr lang="en-US" altLang="ko-KR" sz="1000" b="1" dirty="0" err="1">
                  <a:solidFill>
                    <a:srgbClr val="FF0000"/>
                  </a:solidFill>
                </a:rPr>
                <a:t>newfile</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pod-with-</a:t>
              </a:r>
              <a:r>
                <a:rPr lang="en-US" altLang="ko-KR" sz="1000" b="1" dirty="0" err="1"/>
                <a:t>readonly</a:t>
              </a:r>
              <a:r>
                <a:rPr lang="en-US" altLang="ko-KR" sz="1000" b="1" dirty="0"/>
                <a:t>-filesystem -- </a:t>
              </a:r>
              <a:r>
                <a:rPr lang="en-US" altLang="ko-KR" sz="1000" b="1" dirty="0">
                  <a:solidFill>
                    <a:srgbClr val="FF0000"/>
                  </a:solidFill>
                </a:rPr>
                <a:t>ls -la /volume/</a:t>
              </a:r>
              <a:r>
                <a:rPr lang="en-US" altLang="ko-KR" sz="1000" b="1" dirty="0" err="1">
                  <a:solidFill>
                    <a:srgbClr val="FF0000"/>
                  </a:solidFill>
                </a:rPr>
                <a:t>newfile</a:t>
              </a:r>
              <a:endParaRPr lang="en-US" altLang="ko-KR" sz="1000" b="1" dirty="0">
                <a:solidFill>
                  <a:srgbClr val="FF0000"/>
                </a:solidFill>
              </a:endParaRPr>
            </a:p>
          </p:txBody>
        </p:sp>
        <p:sp>
          <p:nvSpPr>
            <p:cNvPr id="11" name="화살표: 아래쪽 10">
              <a:extLst>
                <a:ext uri="{FF2B5EF4-FFF2-40B4-BE49-F238E27FC236}">
                  <a16:creationId xmlns:a16="http://schemas.microsoft.com/office/drawing/2014/main" id="{31FF8E87-8303-88D4-4ACE-65FA4EFFCE34}"/>
                </a:ext>
              </a:extLst>
            </p:cNvPr>
            <p:cNvSpPr/>
            <p:nvPr/>
          </p:nvSpPr>
          <p:spPr>
            <a:xfrm>
              <a:off x="5861331" y="2212116"/>
              <a:ext cx="469338" cy="29131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83426D00-5411-FCE1-832F-3B4BE8B87A04}"/>
                </a:ext>
              </a:extLst>
            </p:cNvPr>
            <p:cNvPicPr>
              <a:picLocks noChangeAspect="1"/>
            </p:cNvPicPr>
            <p:nvPr/>
          </p:nvPicPr>
          <p:blipFill>
            <a:blip r:embed="rId2"/>
            <a:stretch>
              <a:fillRect/>
            </a:stretch>
          </p:blipFill>
          <p:spPr>
            <a:xfrm>
              <a:off x="838200" y="2490309"/>
              <a:ext cx="10515600" cy="1743837"/>
            </a:xfrm>
            <a:prstGeom prst="rect">
              <a:avLst/>
            </a:prstGeom>
          </p:spPr>
        </p:pic>
      </p:grpSp>
    </p:spTree>
    <p:extLst>
      <p:ext uri="{BB962C8B-B14F-4D97-AF65-F5344CB8AC3E}">
        <p14:creationId xmlns:p14="http://schemas.microsoft.com/office/powerpoint/2010/main" val="4487454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Context(16/19)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Preventing Processes from Writing to the Container’s Filesystem :</a:t>
            </a:r>
            <a:endParaRPr lang="en-US" altLang="ko-KR" sz="1400" dirty="0"/>
          </a:p>
          <a:p>
            <a:pPr lvl="1">
              <a:buFont typeface="Wingdings" panose="05000000000000000000" pitchFamily="2" charset="2"/>
              <a:buChar char="§"/>
            </a:pPr>
            <a:r>
              <a:rPr lang="en-US" altLang="ko-KR" sz="1400" dirty="0"/>
              <a:t>In all these examples, you’ve set the </a:t>
            </a:r>
            <a:r>
              <a:rPr lang="en-US" altLang="ko-KR" sz="1400" b="1" dirty="0"/>
              <a:t>security context of an </a:t>
            </a:r>
            <a:r>
              <a:rPr lang="en-US" altLang="ko-KR" sz="1400" b="1" dirty="0">
                <a:solidFill>
                  <a:srgbClr val="FF0000"/>
                </a:solidFill>
              </a:rPr>
              <a:t>individual container</a:t>
            </a:r>
            <a:r>
              <a:rPr lang="en-US" altLang="ko-KR" sz="1400" dirty="0"/>
              <a:t>. </a:t>
            </a:r>
            <a:r>
              <a:rPr lang="en-US" altLang="ko-KR" sz="1400" b="1" dirty="0"/>
              <a:t>Several of these options can also be set at the </a:t>
            </a:r>
            <a:r>
              <a:rPr lang="en-US" altLang="ko-KR" sz="1400" b="1" dirty="0">
                <a:solidFill>
                  <a:srgbClr val="FF0000"/>
                </a:solidFill>
              </a:rPr>
              <a:t>pod level </a:t>
            </a:r>
            <a:r>
              <a:rPr lang="en-US" altLang="ko-KR" sz="1400" b="1" dirty="0"/>
              <a:t>(through the “</a:t>
            </a:r>
            <a:r>
              <a:rPr lang="en-US" altLang="ko-KR" sz="1400" b="1" dirty="0" err="1">
                <a:solidFill>
                  <a:srgbClr val="FF0000"/>
                </a:solidFill>
              </a:rPr>
              <a:t>pod.spec.securityContext</a:t>
            </a:r>
            <a:r>
              <a:rPr lang="en-US" altLang="ko-KR" sz="1400" b="1" dirty="0"/>
              <a:t>” property)</a:t>
            </a:r>
            <a:r>
              <a:rPr lang="en-US" altLang="ko-KR" sz="1400" dirty="0"/>
              <a:t>. </a:t>
            </a:r>
            <a:r>
              <a:rPr lang="en-US" altLang="ko-KR" sz="1400" b="1" dirty="0"/>
              <a:t>They serve as a default for all the pod’s containers but </a:t>
            </a:r>
            <a:r>
              <a:rPr lang="en-US" altLang="ko-KR" sz="1400" b="1" dirty="0">
                <a:solidFill>
                  <a:srgbClr val="FF0000"/>
                </a:solidFill>
              </a:rPr>
              <a:t>can be overridden at the container level</a:t>
            </a:r>
            <a:r>
              <a:rPr lang="en-US" altLang="ko-KR" sz="1400" dirty="0"/>
              <a:t>. </a:t>
            </a:r>
            <a:r>
              <a:rPr lang="en-US" altLang="ko-KR" sz="1400" b="1" dirty="0"/>
              <a:t>The pod-level security context also allows you to set additional properties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FF86C0F1-BBFA-27D2-EBA8-37B0099448C6}"/>
              </a:ext>
            </a:extLst>
          </p:cNvPr>
          <p:cNvGrpSpPr/>
          <p:nvPr/>
        </p:nvGrpSpPr>
        <p:grpSpPr>
          <a:xfrm>
            <a:off x="3286125" y="2512787"/>
            <a:ext cx="5619750" cy="3305175"/>
            <a:chOff x="3286125" y="2617983"/>
            <a:chExt cx="5619750" cy="3305175"/>
          </a:xfrm>
        </p:grpSpPr>
        <p:pic>
          <p:nvPicPr>
            <p:cNvPr id="4" name="그림 3">
              <a:extLst>
                <a:ext uri="{FF2B5EF4-FFF2-40B4-BE49-F238E27FC236}">
                  <a16:creationId xmlns:a16="http://schemas.microsoft.com/office/drawing/2014/main" id="{C82F66DF-7604-AE5F-A320-3BE4B3D1967E}"/>
                </a:ext>
              </a:extLst>
            </p:cNvPr>
            <p:cNvPicPr>
              <a:picLocks noChangeAspect="1"/>
            </p:cNvPicPr>
            <p:nvPr/>
          </p:nvPicPr>
          <p:blipFill>
            <a:blip r:embed="rId2"/>
            <a:stretch>
              <a:fillRect/>
            </a:stretch>
          </p:blipFill>
          <p:spPr>
            <a:xfrm>
              <a:off x="3286125" y="2617983"/>
              <a:ext cx="5619750" cy="3305175"/>
            </a:xfrm>
            <a:prstGeom prst="rect">
              <a:avLst/>
            </a:prstGeom>
          </p:spPr>
        </p:pic>
        <p:sp>
          <p:nvSpPr>
            <p:cNvPr id="8" name="직사각형 7">
              <a:extLst>
                <a:ext uri="{FF2B5EF4-FFF2-40B4-BE49-F238E27FC236}">
                  <a16:creationId xmlns:a16="http://schemas.microsoft.com/office/drawing/2014/main" id="{7FC1D07D-35B7-ADE4-283A-8D37DD3B1B5A}"/>
                </a:ext>
              </a:extLst>
            </p:cNvPr>
            <p:cNvSpPr/>
            <p:nvPr/>
          </p:nvSpPr>
          <p:spPr>
            <a:xfrm>
              <a:off x="4499172" y="4426343"/>
              <a:ext cx="1205713" cy="3884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134342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Context(17/19)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Sharing Volumes When Containers Run as Different Users :</a:t>
            </a:r>
            <a:endParaRPr lang="en-US" altLang="ko-KR" sz="1400" dirty="0"/>
          </a:p>
          <a:p>
            <a:pPr lvl="1">
              <a:buFont typeface="Wingdings" panose="05000000000000000000" pitchFamily="2" charset="2"/>
              <a:buChar char="§"/>
            </a:pPr>
            <a:r>
              <a:rPr lang="en-US" altLang="ko-KR" sz="1400" dirty="0"/>
              <a:t>You had no trouble writing files in one container and reading them in the other. But this was only because </a:t>
            </a:r>
            <a:r>
              <a:rPr lang="en-US" altLang="ko-KR" sz="1400" b="1" dirty="0"/>
              <a:t>both containers were running as root, giving them full access to all the files in the volume</a:t>
            </a:r>
            <a:r>
              <a:rPr lang="en-US" altLang="ko-KR" sz="1400" dirty="0"/>
              <a:t>. Now imagine </a:t>
            </a:r>
            <a:r>
              <a:rPr lang="en-US" altLang="ko-KR" sz="1400" b="1" dirty="0"/>
              <a:t>using the “</a:t>
            </a:r>
            <a:r>
              <a:rPr lang="en-US" altLang="ko-KR" sz="1400" b="1" dirty="0" err="1">
                <a:solidFill>
                  <a:srgbClr val="FF0000"/>
                </a:solidFill>
              </a:rPr>
              <a:t>runAsUser</a:t>
            </a:r>
            <a:r>
              <a:rPr lang="en-US" altLang="ko-KR" sz="1400" b="1" dirty="0"/>
              <a:t>” option</a:t>
            </a:r>
            <a:r>
              <a:rPr lang="en-US" altLang="ko-KR" sz="1400" dirty="0"/>
              <a:t>. </a:t>
            </a:r>
            <a:r>
              <a:rPr lang="en-US" altLang="ko-KR" sz="1400" b="1" dirty="0"/>
              <a:t>You may need to </a:t>
            </a:r>
            <a:r>
              <a:rPr lang="en-US" altLang="ko-KR" sz="1400" b="1" dirty="0">
                <a:solidFill>
                  <a:srgbClr val="FF0000"/>
                </a:solidFill>
              </a:rPr>
              <a:t>run the two containers as two different users </a:t>
            </a:r>
            <a:r>
              <a:rPr lang="en-US" altLang="ko-KR" sz="1400" b="1" dirty="0"/>
              <a:t>(perhaps you’re using two third-party container images, where each one runs its process under its own specific user</a:t>
            </a:r>
            <a:r>
              <a:rPr lang="en-US" altLang="ko-KR" sz="1400" dirty="0"/>
              <a:t>). </a:t>
            </a:r>
            <a:r>
              <a:rPr lang="en-US" altLang="ko-KR" sz="1400" b="1" dirty="0"/>
              <a:t>If those two containers use a volume to share files, they may not necessarily be able to read or write files of one another</a:t>
            </a:r>
            <a:r>
              <a:rPr lang="en-US" altLang="ko-KR" sz="1400" dirty="0"/>
              <a:t>.</a:t>
            </a:r>
          </a:p>
          <a:p>
            <a:pPr lvl="1">
              <a:buFont typeface="Wingdings" panose="05000000000000000000" pitchFamily="2" charset="2"/>
              <a:buChar char="§"/>
            </a:pPr>
            <a:r>
              <a:rPr lang="en-US" altLang="ko-KR" sz="1400" dirty="0"/>
              <a:t>That’s why Kubernetes allows you to </a:t>
            </a:r>
            <a:r>
              <a:rPr lang="en-US" altLang="ko-KR" sz="1400" b="1" dirty="0"/>
              <a:t>specify </a:t>
            </a:r>
            <a:r>
              <a:rPr lang="en-US" altLang="ko-KR" sz="1400" b="1" dirty="0">
                <a:solidFill>
                  <a:srgbClr val="FF0000"/>
                </a:solidFill>
              </a:rPr>
              <a:t>supplemental groups </a:t>
            </a:r>
            <a:r>
              <a:rPr lang="en-US" altLang="ko-KR" sz="1400" b="1" dirty="0"/>
              <a:t>for all the pods running in the container</a:t>
            </a:r>
            <a:r>
              <a:rPr lang="en-US" altLang="ko-KR" sz="1400" dirty="0"/>
              <a:t>, </a:t>
            </a:r>
            <a:r>
              <a:rPr lang="en-US" altLang="ko-KR" sz="1400" b="1" dirty="0"/>
              <a:t>allowing them to share files, regardless of the user IDs they’re running as</a:t>
            </a:r>
            <a:r>
              <a:rPr lang="en-US" altLang="ko-KR" sz="1400" dirty="0"/>
              <a:t>. This is done using the following two properties :</a:t>
            </a:r>
          </a:p>
          <a:p>
            <a:pPr lvl="2">
              <a:buFont typeface="Wingdings" panose="05000000000000000000" pitchFamily="2" charset="2"/>
              <a:buChar char="§"/>
            </a:pPr>
            <a:r>
              <a:rPr lang="en-US" altLang="ko-KR" sz="1400" b="1" dirty="0"/>
              <a:t>“</a:t>
            </a:r>
            <a:r>
              <a:rPr lang="en-US" altLang="ko-KR" sz="1400" b="1" dirty="0" err="1"/>
              <a:t>fsGroup</a:t>
            </a:r>
            <a:r>
              <a:rPr lang="en-US" altLang="ko-KR" sz="1400" b="1" dirty="0"/>
              <a:t>”</a:t>
            </a:r>
          </a:p>
          <a:p>
            <a:pPr lvl="2">
              <a:buFont typeface="Wingdings" panose="05000000000000000000" pitchFamily="2" charset="2"/>
              <a:buChar char="§"/>
            </a:pPr>
            <a:r>
              <a:rPr lang="en-US" altLang="ko-KR" sz="1400" b="1" dirty="0"/>
              <a:t>“</a:t>
            </a:r>
            <a:r>
              <a:rPr lang="en-US" altLang="ko-KR" sz="1400" b="1" dirty="0" err="1"/>
              <a:t>supplementalGroups</a:t>
            </a:r>
            <a:r>
              <a:rPr lang="en-US" altLang="ko-KR" sz="1400" b="1" dirty="0"/>
              <a:t>”</a:t>
            </a:r>
          </a:p>
          <a:p>
            <a:pPr lvl="1">
              <a:buFont typeface="Wingdings" panose="05000000000000000000" pitchFamily="2" charset="2"/>
              <a:buChar char="§"/>
            </a:pPr>
            <a:r>
              <a:rPr lang="en-US" altLang="ko-KR" sz="1400" b="1" dirty="0"/>
              <a:t>The next listing describes a pod with </a:t>
            </a:r>
            <a:r>
              <a:rPr lang="en-US" altLang="ko-KR" sz="1400" b="1" dirty="0">
                <a:solidFill>
                  <a:srgbClr val="FF0000"/>
                </a:solidFill>
              </a:rPr>
              <a:t>two containers sharing the same 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F7BFA545-1E0D-481F-C90D-BF96B385A50A}"/>
              </a:ext>
            </a:extLst>
          </p:cNvPr>
          <p:cNvGrpSpPr/>
          <p:nvPr/>
        </p:nvGrpSpPr>
        <p:grpSpPr>
          <a:xfrm>
            <a:off x="1452520" y="3708436"/>
            <a:ext cx="9286960" cy="2554545"/>
            <a:chOff x="1452520" y="3613306"/>
            <a:chExt cx="9286960" cy="2554545"/>
          </a:xfrm>
        </p:grpSpPr>
        <p:grpSp>
          <p:nvGrpSpPr>
            <p:cNvPr id="11" name="그룹 10">
              <a:extLst>
                <a:ext uri="{FF2B5EF4-FFF2-40B4-BE49-F238E27FC236}">
                  <a16:creationId xmlns:a16="http://schemas.microsoft.com/office/drawing/2014/main" id="{3F4253F0-3673-7F70-DE67-F01092AA5447}"/>
                </a:ext>
              </a:extLst>
            </p:cNvPr>
            <p:cNvGrpSpPr/>
            <p:nvPr/>
          </p:nvGrpSpPr>
          <p:grpSpPr>
            <a:xfrm>
              <a:off x="1452520" y="3613306"/>
              <a:ext cx="9286960" cy="2554545"/>
              <a:chOff x="1721580" y="3546708"/>
              <a:chExt cx="8270061" cy="2554545"/>
            </a:xfrm>
          </p:grpSpPr>
          <p:sp>
            <p:nvSpPr>
              <p:cNvPr id="8" name="TextBox 7">
                <a:extLst>
                  <a:ext uri="{FF2B5EF4-FFF2-40B4-BE49-F238E27FC236}">
                    <a16:creationId xmlns:a16="http://schemas.microsoft.com/office/drawing/2014/main" id="{6D651A32-BFD8-AEFD-6A52-E5F7AE459AFE}"/>
                  </a:ext>
                </a:extLst>
              </p:cNvPr>
              <p:cNvSpPr txBox="1"/>
              <p:nvPr/>
            </p:nvSpPr>
            <p:spPr>
              <a:xfrm>
                <a:off x="5857959" y="3546708"/>
                <a:ext cx="4133682" cy="2554545"/>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volumeMounts</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shared-volume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mountPath</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/volume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readOnly</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false</a:t>
                </a:r>
                <a:endParaRPr lang="en-US" altLang="ko-KR" sz="1000" b="1" dirty="0"/>
              </a:p>
              <a:p>
                <a:r>
                  <a:rPr lang="en-US" altLang="ko-KR" sz="1000" b="1" dirty="0"/>
                  <a:t>    - name: second</a:t>
                </a:r>
              </a:p>
              <a:p>
                <a:r>
                  <a:rPr lang="en-US" altLang="ko-KR" sz="1000" b="1" dirty="0"/>
                  <a:t>    image: alpine</a:t>
                </a:r>
              </a:p>
              <a:p>
                <a:r>
                  <a:rPr lang="en-US" altLang="ko-KR" sz="1000" b="1" dirty="0"/>
                  <a:t>    command: ["/bin/sleep", "999999"]</a:t>
                </a:r>
              </a:p>
              <a:p>
                <a:r>
                  <a:rPr lang="en-US" altLang="ko-KR" sz="1000" b="1" dirty="0">
                    <a:solidFill>
                      <a:srgbClr val="FF0000"/>
                    </a:solidFill>
                  </a:rPr>
                  <a:t>    </a:t>
                </a:r>
                <a:r>
                  <a:rPr lang="en-US" altLang="ko-KR" sz="1000" b="1" dirty="0" err="1">
                    <a:solidFill>
                      <a:srgbClr val="FF0000"/>
                    </a:solidFill>
                  </a:rPr>
                  <a:t>securityContext</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runAsUser</a:t>
                </a:r>
                <a:r>
                  <a:rPr lang="en-US" altLang="ko-KR" sz="1000" b="1" dirty="0">
                    <a:solidFill>
                      <a:srgbClr val="FF0000"/>
                    </a:solidFill>
                  </a:rPr>
                  <a:t>: 2222</a:t>
                </a:r>
              </a:p>
              <a:p>
                <a:r>
                  <a:rPr lang="en-US" altLang="ko-KR" sz="1000" b="1" dirty="0"/>
                  <a:t>    </a:t>
                </a:r>
                <a:r>
                  <a:rPr lang="en-US" altLang="ko-KR" sz="1000" b="1" dirty="0" err="1"/>
                  <a:t>volumeMounts</a:t>
                </a:r>
                <a:r>
                  <a:rPr lang="en-US" altLang="ko-KR" sz="1000" b="1" dirty="0"/>
                  <a:t>:</a:t>
                </a:r>
              </a:p>
              <a:p>
                <a:r>
                  <a:rPr lang="en-US" altLang="ko-KR" sz="1000" b="1" dirty="0"/>
                  <a:t>    - name: shared-volume</a:t>
                </a:r>
              </a:p>
              <a:p>
                <a:r>
                  <a:rPr lang="en-US" altLang="ko-KR" sz="1000" b="1" dirty="0"/>
                  <a:t>      </a:t>
                </a:r>
                <a:r>
                  <a:rPr lang="en-US" altLang="ko-KR" sz="1000" b="1" dirty="0" err="1"/>
                  <a:t>mountPath</a:t>
                </a:r>
                <a:r>
                  <a:rPr lang="en-US" altLang="ko-KR" sz="1000" b="1" dirty="0"/>
                  <a:t>: /volume</a:t>
                </a:r>
              </a:p>
              <a:p>
                <a:r>
                  <a:rPr lang="en-US" altLang="ko-KR" sz="1000" b="1" dirty="0"/>
                  <a:t>      </a:t>
                </a:r>
                <a:r>
                  <a:rPr lang="en-US" altLang="ko-KR" sz="1000" b="1" dirty="0" err="1"/>
                  <a:t>readOnly</a:t>
                </a:r>
                <a:r>
                  <a:rPr lang="en-US" altLang="ko-KR" sz="1000" b="1" dirty="0"/>
                  <a:t>: false</a:t>
                </a:r>
              </a:p>
              <a:p>
                <a:r>
                  <a:rPr lang="en-US" altLang="ko-KR" sz="1000" b="1" dirty="0"/>
                  <a:t>  volumes:</a:t>
                </a:r>
              </a:p>
              <a:p>
                <a:r>
                  <a:rPr lang="en-US" altLang="ko-KR" sz="1000" b="1" dirty="0"/>
                  <a:t>  - name: shared-volume</a:t>
                </a:r>
              </a:p>
              <a:p>
                <a:r>
                  <a:rPr lang="en-US" altLang="ko-KR" sz="1000" b="1" dirty="0"/>
                  <a:t>    </a:t>
                </a:r>
                <a:r>
                  <a:rPr lang="en-US" altLang="ko-KR" sz="1000" b="1" dirty="0" err="1"/>
                  <a:t>emptyDir</a:t>
                </a:r>
                <a:r>
                  <a:rPr lang="en-US" altLang="ko-KR" sz="1000" b="1" dirty="0"/>
                  <a:t>: {}</a:t>
                </a:r>
                <a:endParaRPr lang="ko-KR" altLang="en-US" sz="1000" b="1" dirty="0"/>
              </a:p>
            </p:txBody>
          </p:sp>
          <p:sp>
            <p:nvSpPr>
              <p:cNvPr id="10" name="TextBox 9">
                <a:extLst>
                  <a:ext uri="{FF2B5EF4-FFF2-40B4-BE49-F238E27FC236}">
                    <a16:creationId xmlns:a16="http://schemas.microsoft.com/office/drawing/2014/main" id="{BE64F7D7-7A78-9A35-A8A0-87BCD806C6CE}"/>
                  </a:ext>
                </a:extLst>
              </p:cNvPr>
              <p:cNvSpPr txBox="1"/>
              <p:nvPr/>
            </p:nvSpPr>
            <p:spPr>
              <a:xfrm>
                <a:off x="1721580" y="3546708"/>
                <a:ext cx="4133682" cy="2554545"/>
              </a:xfrm>
              <a:prstGeom prst="rect">
                <a:avLst/>
              </a:prstGeom>
              <a:noFill/>
              <a:ln>
                <a:solidFill>
                  <a:schemeClr val="bg1">
                    <a:lumMod val="50000"/>
                  </a:schemeClr>
                </a:solidFill>
              </a:ln>
            </p:spPr>
            <p:txBody>
              <a:bodyPr wrap="square">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apiVersion</a:t>
                </a: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v1</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kind: Pod</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metadata:</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name: </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pod-with-shared-volume-</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fsgroup</a:t>
                </a:r>
                <a:endPar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spec:</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securityContext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fsGroup</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555</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supplementalGroups</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[666, 777]</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containers:</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 name: first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image: alpine</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command: ["/bin/sleep", "999999"]</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securityContext</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a:t>
                </a:r>
                <a:r>
                  <a:rPr kumimoji="0" lang="en-US" altLang="ko-KR" sz="1000" b="1" i="0" u="none" strike="noStrike" kern="1200" cap="none" spc="0" normalizeH="0" baseline="0" noProof="0" dirty="0" err="1">
                    <a:ln>
                      <a:noFill/>
                    </a:ln>
                    <a:solidFill>
                      <a:srgbClr val="FF0000"/>
                    </a:solidFill>
                    <a:effectLst/>
                    <a:uLnTx/>
                    <a:uFillTx/>
                    <a:latin typeface="맑은 고딕" panose="020F0502020204030204"/>
                    <a:ea typeface="맑은 고딕" panose="020B0503020000020004" pitchFamily="50" charset="-127"/>
                    <a:cs typeface="+mn-cs"/>
                  </a:rPr>
                  <a:t>runAsUser</a:t>
                </a:r>
                <a:r>
                  <a:rPr kumimoji="0" lang="en-US" altLang="ko-KR" sz="1000" b="1"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 1111</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000" b="1" dirty="0">
                  <a:solidFill>
                    <a:prstClr val="black"/>
                  </a:solidFill>
                  <a:latin typeface="맑은 고딕" panose="020F0502020204030204"/>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ko-KR" sz="1000" b="1"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grpSp>
        <p:sp>
          <p:nvSpPr>
            <p:cNvPr id="12" name="TextBox 11">
              <a:extLst>
                <a:ext uri="{FF2B5EF4-FFF2-40B4-BE49-F238E27FC236}">
                  <a16:creationId xmlns:a16="http://schemas.microsoft.com/office/drawing/2014/main" id="{C685AB76-E2CA-0FDD-616E-10A4D740F725}"/>
                </a:ext>
              </a:extLst>
            </p:cNvPr>
            <p:cNvSpPr txBox="1"/>
            <p:nvPr/>
          </p:nvSpPr>
          <p:spPr>
            <a:xfrm>
              <a:off x="8175958" y="3613306"/>
              <a:ext cx="2563522" cy="246221"/>
            </a:xfrm>
            <a:prstGeom prst="rect">
              <a:avLst/>
            </a:prstGeom>
            <a:noFill/>
          </p:spPr>
          <p:txBody>
            <a:bodyPr wrap="none" rtlCol="0">
              <a:spAutoFit/>
            </a:bodyPr>
            <a:lstStyle/>
            <a:p>
              <a:pPr algn="l"/>
              <a:r>
                <a:rPr lang="en-US" altLang="ko-KR" sz="1000" b="1" dirty="0"/>
                <a:t>pod-with-shared-volume-</a:t>
              </a:r>
              <a:r>
                <a:rPr lang="en-US" altLang="ko-KR" sz="1000" b="1" dirty="0" err="1"/>
                <a:t>fsgroup.yaml</a:t>
              </a:r>
              <a:endParaRPr lang="ko-KR" altLang="en-US" sz="1000" b="1" dirty="0"/>
            </a:p>
          </p:txBody>
        </p:sp>
      </p:grpSp>
    </p:spTree>
    <p:extLst>
      <p:ext uri="{BB962C8B-B14F-4D97-AF65-F5344CB8AC3E}">
        <p14:creationId xmlns:p14="http://schemas.microsoft.com/office/powerpoint/2010/main" val="9643456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Context(18/19)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Sharing Volumes When Containers Run as Different Users :</a:t>
            </a:r>
            <a:endParaRPr lang="en-US" altLang="ko-KR" sz="1400" dirty="0"/>
          </a:p>
          <a:p>
            <a:pPr lvl="1">
              <a:buFont typeface="Wingdings" panose="05000000000000000000" pitchFamily="2" charset="2"/>
              <a:buChar char="§"/>
            </a:pPr>
            <a:r>
              <a:rPr lang="en-US" altLang="ko-KR" sz="1400" dirty="0"/>
              <a:t>After you create this pod, </a:t>
            </a:r>
            <a:r>
              <a:rPr lang="en-US" altLang="ko-KR" sz="1400" b="1" dirty="0"/>
              <a:t>run a shell in its first container </a:t>
            </a:r>
            <a:r>
              <a:rPr lang="en-US" altLang="ko-KR" sz="1400" dirty="0"/>
              <a:t>and </a:t>
            </a:r>
            <a:r>
              <a:rPr lang="en-US" altLang="ko-KR" sz="1400" b="1" dirty="0"/>
              <a:t>see what user and group IDs</a:t>
            </a:r>
            <a:r>
              <a:rPr lang="en-US" altLang="ko-KR" sz="1400" dirty="0"/>
              <a:t> the container is running as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“id” command shows the container is running with “user ID 1111”</a:t>
            </a:r>
            <a:r>
              <a:rPr lang="en-US" altLang="ko-KR" sz="1400" dirty="0"/>
              <a:t>, </a:t>
            </a:r>
            <a:r>
              <a:rPr lang="en-US" altLang="ko-KR" sz="1400" b="1" dirty="0"/>
              <a:t>as specified in the pod definition</a:t>
            </a:r>
            <a:r>
              <a:rPr lang="en-US" altLang="ko-KR" sz="1400" dirty="0"/>
              <a:t>. The “</a:t>
            </a:r>
            <a:r>
              <a:rPr lang="en-US" altLang="ko-KR" sz="1400" b="1" dirty="0"/>
              <a:t>effective group ID is 0(root)</a:t>
            </a:r>
            <a:r>
              <a:rPr lang="en-US" altLang="ko-KR" sz="1400" dirty="0"/>
              <a:t>”, but “</a:t>
            </a:r>
            <a:r>
              <a:rPr lang="en-US" altLang="ko-KR" sz="1400" b="1" dirty="0"/>
              <a:t>group IDs 555, 666, and 777</a:t>
            </a:r>
            <a:r>
              <a:rPr lang="en-US" altLang="ko-KR" sz="1400" dirty="0"/>
              <a:t>” are also associated with the user.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0D1FB2C5-2B4C-8D15-3390-1E24C3545C87}"/>
              </a:ext>
            </a:extLst>
          </p:cNvPr>
          <p:cNvGrpSpPr/>
          <p:nvPr/>
        </p:nvGrpSpPr>
        <p:grpSpPr>
          <a:xfrm>
            <a:off x="838200" y="1715092"/>
            <a:ext cx="10515600" cy="2538301"/>
            <a:chOff x="838200" y="1715092"/>
            <a:chExt cx="10515600" cy="2538301"/>
          </a:xfrm>
        </p:grpSpPr>
        <p:grpSp>
          <p:nvGrpSpPr>
            <p:cNvPr id="12" name="그룹 11">
              <a:extLst>
                <a:ext uri="{FF2B5EF4-FFF2-40B4-BE49-F238E27FC236}">
                  <a16:creationId xmlns:a16="http://schemas.microsoft.com/office/drawing/2014/main" id="{DFFD0519-D5A0-B925-FCB7-2A93428B031B}"/>
                </a:ext>
              </a:extLst>
            </p:cNvPr>
            <p:cNvGrpSpPr/>
            <p:nvPr/>
          </p:nvGrpSpPr>
          <p:grpSpPr>
            <a:xfrm>
              <a:off x="838200" y="1715092"/>
              <a:ext cx="10515600" cy="2538301"/>
              <a:chOff x="838200" y="1715092"/>
              <a:chExt cx="10515600" cy="2538301"/>
            </a:xfrm>
          </p:grpSpPr>
          <p:sp>
            <p:nvSpPr>
              <p:cNvPr id="8" name="TextBox 7">
                <a:extLst>
                  <a:ext uri="{FF2B5EF4-FFF2-40B4-BE49-F238E27FC236}">
                    <a16:creationId xmlns:a16="http://schemas.microsoft.com/office/drawing/2014/main" id="{2CD9F7A0-FD8E-AE9A-D3DB-DA35833C424E}"/>
                  </a:ext>
                </a:extLst>
              </p:cNvPr>
              <p:cNvSpPr txBox="1"/>
              <p:nvPr/>
            </p:nvSpPr>
            <p:spPr>
              <a:xfrm>
                <a:off x="3047326" y="1715092"/>
                <a:ext cx="6097348" cy="553998"/>
              </a:xfrm>
              <a:prstGeom prst="rect">
                <a:avLst/>
              </a:prstGeom>
              <a:noFill/>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create -f </a:t>
                </a:r>
                <a:r>
                  <a:rPr lang="en-US" altLang="ko-KR" sz="1000" b="1" dirty="0">
                    <a:solidFill>
                      <a:srgbClr val="FF0000"/>
                    </a:solidFill>
                  </a:rPr>
                  <a:t>pod-with-shared-volume-</a:t>
                </a:r>
                <a:r>
                  <a:rPr lang="en-US" altLang="ko-KR" sz="1000" b="1" dirty="0" err="1">
                    <a:solidFill>
                      <a:srgbClr val="FF0000"/>
                    </a:solidFill>
                  </a:rPr>
                  <a:t>fsgroup.yaml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exec -it </a:t>
                </a:r>
                <a:r>
                  <a:rPr lang="en-US" altLang="ko-KR" sz="1000" b="1" dirty="0">
                    <a:solidFill>
                      <a:srgbClr val="FF0000"/>
                    </a:solidFill>
                  </a:rPr>
                  <a:t>pod-with-shared-volume-</a:t>
                </a:r>
                <a:r>
                  <a:rPr lang="en-US" altLang="ko-KR" sz="1000" b="1" dirty="0" err="1">
                    <a:solidFill>
                      <a:srgbClr val="FF0000"/>
                    </a:solidFill>
                  </a:rPr>
                  <a:t>fsgroup</a:t>
                </a:r>
                <a:r>
                  <a:rPr lang="en-US" altLang="ko-KR" sz="1000" b="1" dirty="0">
                    <a:solidFill>
                      <a:srgbClr val="FF0000"/>
                    </a:solidFill>
                  </a:rPr>
                  <a:t> -c first -- </a:t>
                </a:r>
                <a:r>
                  <a:rPr lang="en-US" altLang="ko-KR" sz="1000" b="1" dirty="0" err="1">
                    <a:solidFill>
                      <a:srgbClr val="FF0000"/>
                    </a:solidFill>
                  </a:rPr>
                  <a:t>sh</a:t>
                </a:r>
                <a:endParaRPr lang="en-US" altLang="ko-KR" sz="1000" b="1" dirty="0">
                  <a:solidFill>
                    <a:srgbClr val="FF0000"/>
                  </a:solidFill>
                </a:endParaRPr>
              </a:p>
              <a:p>
                <a:r>
                  <a:rPr lang="en-US" altLang="ko-KR" sz="1000" b="1" dirty="0"/>
                  <a:t>/ $ id</a:t>
                </a:r>
              </a:p>
            </p:txBody>
          </p:sp>
          <p:pic>
            <p:nvPicPr>
              <p:cNvPr id="10" name="그림 9">
                <a:extLst>
                  <a:ext uri="{FF2B5EF4-FFF2-40B4-BE49-F238E27FC236}">
                    <a16:creationId xmlns:a16="http://schemas.microsoft.com/office/drawing/2014/main" id="{F80C210D-AB4A-6946-7764-0A1D5F5F1684}"/>
                  </a:ext>
                </a:extLst>
              </p:cNvPr>
              <p:cNvPicPr>
                <a:picLocks noChangeAspect="1"/>
              </p:cNvPicPr>
              <p:nvPr/>
            </p:nvPicPr>
            <p:blipFill>
              <a:blip r:embed="rId2"/>
              <a:stretch>
                <a:fillRect/>
              </a:stretch>
            </p:blipFill>
            <p:spPr>
              <a:xfrm>
                <a:off x="838200" y="2588423"/>
                <a:ext cx="10515600" cy="1664970"/>
              </a:xfrm>
              <a:prstGeom prst="rect">
                <a:avLst/>
              </a:prstGeom>
            </p:spPr>
          </p:pic>
          <p:sp>
            <p:nvSpPr>
              <p:cNvPr id="11" name="화살표: 아래쪽 10">
                <a:extLst>
                  <a:ext uri="{FF2B5EF4-FFF2-40B4-BE49-F238E27FC236}">
                    <a16:creationId xmlns:a16="http://schemas.microsoft.com/office/drawing/2014/main" id="{BE447CAE-E332-8607-4DD4-53EFE2A35143}"/>
                  </a:ext>
                </a:extLst>
              </p:cNvPr>
              <p:cNvSpPr/>
              <p:nvPr/>
            </p:nvSpPr>
            <p:spPr>
              <a:xfrm>
                <a:off x="5881561" y="2284760"/>
                <a:ext cx="428878" cy="29608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A74A90C1-8275-9EA0-7D9B-4822A7982E42}"/>
                </a:ext>
              </a:extLst>
            </p:cNvPr>
            <p:cNvSpPr/>
            <p:nvPr/>
          </p:nvSpPr>
          <p:spPr>
            <a:xfrm>
              <a:off x="946768" y="3535074"/>
              <a:ext cx="2848397" cy="3005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3490163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Configuring the Container’s Security Context(19/19)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Sharing Volumes When Containers Run as Different Users :</a:t>
            </a:r>
            <a:endParaRPr lang="en-US" altLang="ko-KR" sz="1400" dirty="0"/>
          </a:p>
          <a:p>
            <a:pPr lvl="1">
              <a:buFont typeface="Wingdings" panose="05000000000000000000" pitchFamily="2" charset="2"/>
              <a:buChar char="§"/>
            </a:pPr>
            <a:r>
              <a:rPr lang="en-US" altLang="ko-KR" sz="1400" dirty="0"/>
              <a:t>In the pod definition, you set </a:t>
            </a:r>
            <a:r>
              <a:rPr lang="en-US" altLang="ko-KR" sz="1400" b="1" dirty="0"/>
              <a:t>“</a:t>
            </a:r>
            <a:r>
              <a:rPr lang="en-US" altLang="ko-KR" sz="1400" b="1" dirty="0" err="1"/>
              <a:t>fsGroup</a:t>
            </a:r>
            <a:r>
              <a:rPr lang="en-US" altLang="ko-KR" sz="1400" b="1" dirty="0"/>
              <a:t>” to 555</a:t>
            </a:r>
            <a:r>
              <a:rPr lang="en-US" altLang="ko-KR" sz="1400" dirty="0"/>
              <a:t>. Because of this, </a:t>
            </a:r>
            <a:r>
              <a:rPr lang="en-US" altLang="ko-KR" sz="1400" b="1" dirty="0"/>
              <a:t>the mounted volume will be owned by “group ID” 555</a:t>
            </a:r>
            <a:r>
              <a:rPr lang="en-US" altLang="ko-KR" sz="1400" dirty="0"/>
              <a:t>, as shown here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If you create a file in the mounted volume’s directory, the file is owned by “</a:t>
            </a:r>
            <a:r>
              <a:rPr lang="en-US" altLang="ko-KR" sz="1400" b="1" dirty="0">
                <a:solidFill>
                  <a:srgbClr val="FF0000"/>
                </a:solidFill>
              </a:rPr>
              <a:t>user ID 1111</a:t>
            </a:r>
            <a:r>
              <a:rPr lang="en-US" altLang="ko-KR" sz="1400" b="1" dirty="0"/>
              <a:t>” (that’s the user ID the container is running as) and by “</a:t>
            </a:r>
            <a:r>
              <a:rPr lang="en-US" altLang="ko-KR" sz="1400" b="1" dirty="0">
                <a:solidFill>
                  <a:srgbClr val="FF0000"/>
                </a:solidFill>
              </a:rPr>
              <a:t>group ID 555</a:t>
            </a:r>
            <a:r>
              <a:rPr lang="en-US" altLang="ko-KR" sz="1400" b="1" dirty="0"/>
              <a:t>”,</a:t>
            </a:r>
            <a:endParaRPr lang="en-US" altLang="ko-KR" sz="1400" dirty="0"/>
          </a:p>
          <a:p>
            <a:pPr lvl="1">
              <a:buFont typeface="Wingdings" panose="05000000000000000000" pitchFamily="2" charset="2"/>
              <a:buChar char="§"/>
            </a:pPr>
            <a:r>
              <a:rPr lang="en-US" altLang="ko-KR" sz="1400" dirty="0"/>
              <a:t>This is different from how ownership is otherwise set up for newly created files. </a:t>
            </a:r>
            <a:r>
              <a:rPr lang="en-US" altLang="ko-KR" sz="1400" b="1" dirty="0"/>
              <a:t>Usually, the user’s effective group ID, which is 0 in your case, is used when a user creates files</a:t>
            </a:r>
            <a:r>
              <a:rPr lang="en-US" altLang="ko-KR" sz="1400" dirty="0"/>
              <a:t>. You can see this by creating a file in the container’s filesystem instead of in the volume,</a:t>
            </a:r>
          </a:p>
          <a:p>
            <a:pPr lvl="1">
              <a:buFont typeface="Wingdings" panose="05000000000000000000" pitchFamily="2" charset="2"/>
              <a:buChar char="§"/>
            </a:pPr>
            <a:r>
              <a:rPr lang="en-US" altLang="ko-KR" sz="1400" b="1" dirty="0"/>
              <a:t>As you can see, the “</a:t>
            </a:r>
            <a:r>
              <a:rPr lang="en-US" altLang="ko-KR" sz="1400" b="1" dirty="0" err="1">
                <a:solidFill>
                  <a:srgbClr val="FF0000"/>
                </a:solidFill>
              </a:rPr>
              <a:t>fsGroup</a:t>
            </a:r>
            <a:r>
              <a:rPr lang="en-US" altLang="ko-KR" sz="1400" b="1" dirty="0"/>
              <a:t>” security context property is used when the process creates files in a volume (but this depends on the volume plugin used)</a:t>
            </a:r>
            <a:r>
              <a:rPr lang="en-US" altLang="ko-KR" sz="1400" dirty="0"/>
              <a:t>, </a:t>
            </a:r>
            <a:r>
              <a:rPr lang="en-US" altLang="ko-KR" sz="1400" b="1" dirty="0"/>
              <a:t>whereas the “</a:t>
            </a:r>
            <a:r>
              <a:rPr lang="en-US" altLang="ko-KR" sz="1400" b="1" dirty="0" err="1">
                <a:solidFill>
                  <a:srgbClr val="FF0000"/>
                </a:solidFill>
              </a:rPr>
              <a:t>supplementalGroups</a:t>
            </a:r>
            <a:r>
              <a:rPr lang="en-US" altLang="ko-KR" sz="1400" b="1" dirty="0"/>
              <a:t>” </a:t>
            </a:r>
            <a:r>
              <a:rPr lang="en-US" altLang="ko-KR" sz="1400" b="1" dirty="0">
                <a:solidFill>
                  <a:srgbClr val="FF0000"/>
                </a:solidFill>
              </a:rPr>
              <a:t>property defines a list of additional group IDs the user is associated with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FCF1B88-101D-EC06-074D-9E7D64D713AB}"/>
              </a:ext>
            </a:extLst>
          </p:cNvPr>
          <p:cNvGrpSpPr/>
          <p:nvPr/>
        </p:nvGrpSpPr>
        <p:grpSpPr>
          <a:xfrm>
            <a:off x="838200" y="1783052"/>
            <a:ext cx="10515600" cy="2304669"/>
            <a:chOff x="838200" y="1694039"/>
            <a:chExt cx="10515600" cy="2304669"/>
          </a:xfrm>
        </p:grpSpPr>
        <p:pic>
          <p:nvPicPr>
            <p:cNvPr id="8" name="그림 7">
              <a:extLst>
                <a:ext uri="{FF2B5EF4-FFF2-40B4-BE49-F238E27FC236}">
                  <a16:creationId xmlns:a16="http://schemas.microsoft.com/office/drawing/2014/main" id="{DC92F086-9A91-91B2-ED63-ABAF2BE93E7E}"/>
                </a:ext>
              </a:extLst>
            </p:cNvPr>
            <p:cNvPicPr>
              <a:picLocks noChangeAspect="1"/>
            </p:cNvPicPr>
            <p:nvPr/>
          </p:nvPicPr>
          <p:blipFill>
            <a:blip r:embed="rId2"/>
            <a:stretch>
              <a:fillRect/>
            </a:stretch>
          </p:blipFill>
          <p:spPr>
            <a:xfrm>
              <a:off x="838200" y="1694039"/>
              <a:ext cx="10515600" cy="2304669"/>
            </a:xfrm>
            <a:prstGeom prst="rect">
              <a:avLst/>
            </a:prstGeom>
          </p:spPr>
        </p:pic>
        <p:sp>
          <p:nvSpPr>
            <p:cNvPr id="9" name="직사각형 8">
              <a:extLst>
                <a:ext uri="{FF2B5EF4-FFF2-40B4-BE49-F238E27FC236}">
                  <a16:creationId xmlns:a16="http://schemas.microsoft.com/office/drawing/2014/main" id="{85C6546C-F6DA-4EF7-C41E-C8FF48229DF3}"/>
                </a:ext>
              </a:extLst>
            </p:cNvPr>
            <p:cNvSpPr/>
            <p:nvPr/>
          </p:nvSpPr>
          <p:spPr>
            <a:xfrm>
              <a:off x="946768" y="2152481"/>
              <a:ext cx="4539632" cy="9328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52930F4C-E23F-6ADC-D633-7C9E2E857D90}"/>
                </a:ext>
              </a:extLst>
            </p:cNvPr>
            <p:cNvSpPr/>
            <p:nvPr/>
          </p:nvSpPr>
          <p:spPr>
            <a:xfrm>
              <a:off x="946768" y="3085364"/>
              <a:ext cx="4539632" cy="5930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5487759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Network(1/9)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NetworkPolicy</a:t>
            </a:r>
            <a:r>
              <a:rPr lang="en-US" altLang="ko-KR" sz="1800" b="1" dirty="0"/>
              <a:t> :</a:t>
            </a:r>
            <a:endParaRPr lang="en-US" altLang="ko-KR" sz="1400" dirty="0"/>
          </a:p>
          <a:p>
            <a:pPr lvl="1">
              <a:buFont typeface="Wingdings" panose="05000000000000000000" pitchFamily="2" charset="2"/>
              <a:buChar char="§"/>
            </a:pPr>
            <a:r>
              <a:rPr lang="en-US" altLang="ko-KR" sz="1400" b="1" dirty="0"/>
              <a:t>A </a:t>
            </a:r>
            <a:r>
              <a:rPr lang="en-US" altLang="ko-KR" sz="1400" b="1" dirty="0" err="1"/>
              <a:t>NetworkPolicy</a:t>
            </a:r>
            <a:r>
              <a:rPr lang="en-US" altLang="ko-KR" sz="1400" b="1" dirty="0"/>
              <a:t> applies to pods that match its label selector and specifies either which sources can access the matched pods or which destinations can be accessed from the matched pods</a:t>
            </a:r>
            <a:r>
              <a:rPr lang="en-US" altLang="ko-KR" sz="1400" dirty="0"/>
              <a:t>. </a:t>
            </a:r>
            <a:r>
              <a:rPr lang="en-US" altLang="ko-KR" sz="1400" b="1" dirty="0"/>
              <a:t>This is configured through </a:t>
            </a:r>
            <a:r>
              <a:rPr lang="en-US" altLang="ko-KR" sz="1400" b="1" dirty="0">
                <a:solidFill>
                  <a:srgbClr val="FF0000"/>
                </a:solidFill>
              </a:rPr>
              <a:t>ingress</a:t>
            </a:r>
            <a:r>
              <a:rPr lang="en-US" altLang="ko-KR" sz="1400" b="1" dirty="0"/>
              <a:t> and </a:t>
            </a:r>
            <a:r>
              <a:rPr lang="en-US" altLang="ko-KR" sz="1400" b="1" dirty="0">
                <a:solidFill>
                  <a:srgbClr val="FF0000"/>
                </a:solidFill>
              </a:rPr>
              <a:t>egress</a:t>
            </a:r>
            <a:r>
              <a:rPr lang="en-US" altLang="ko-KR" sz="1400" b="1" dirty="0"/>
              <a:t> rules, respectively</a:t>
            </a:r>
            <a:r>
              <a:rPr lang="en-US" altLang="ko-KR" sz="1400" dirty="0"/>
              <a:t>. Both types of rules can match only the pods that match a pod selector, all pods in a namespace whose labels match a namespace selector, or a </a:t>
            </a:r>
            <a:r>
              <a:rPr lang="en-US" altLang="ko-KR" sz="1400" b="1" dirty="0"/>
              <a:t>network IP block </a:t>
            </a:r>
            <a:r>
              <a:rPr lang="en-US" altLang="ko-KR" sz="1400" dirty="0"/>
              <a:t>specified using </a:t>
            </a:r>
            <a:r>
              <a:rPr lang="en-US" altLang="ko-KR" sz="1400" b="1" dirty="0">
                <a:solidFill>
                  <a:srgbClr val="FF0000"/>
                </a:solidFill>
              </a:rPr>
              <a:t>Classless Inter-Domain Routing (CIDR)</a:t>
            </a:r>
            <a:r>
              <a:rPr lang="en-US" altLang="ko-KR" sz="1400" b="1" dirty="0"/>
              <a:t> </a:t>
            </a:r>
            <a:r>
              <a:rPr lang="en-US" altLang="ko-KR" sz="1400" dirty="0"/>
              <a:t>notation (for example, “</a:t>
            </a:r>
            <a:r>
              <a:rPr lang="en-US" altLang="ko-KR" sz="1400" b="1" dirty="0"/>
              <a:t>192.168.1.0/24</a:t>
            </a:r>
            <a:r>
              <a:rPr lang="en-US" altLang="ko-KR" sz="1400" dirty="0"/>
              <a:t>”). We’ll look at both </a:t>
            </a:r>
            <a:r>
              <a:rPr lang="en-US" altLang="ko-KR" sz="1400" b="1" dirty="0"/>
              <a:t>ingress(inward)</a:t>
            </a:r>
            <a:r>
              <a:rPr lang="en-US" altLang="ko-KR" sz="1400" dirty="0"/>
              <a:t> and </a:t>
            </a:r>
            <a:r>
              <a:rPr lang="en-US" altLang="ko-KR" sz="1400" b="1" dirty="0"/>
              <a:t>egress(outward)</a:t>
            </a:r>
            <a:r>
              <a:rPr lang="en-US" altLang="ko-KR" sz="1400" dirty="0"/>
              <a:t> rules and all three matching options. </a:t>
            </a:r>
          </a:p>
          <a:p>
            <a:pPr lvl="1">
              <a:buFont typeface="Wingdings" panose="05000000000000000000" pitchFamily="2" charset="2"/>
              <a:buChar char="§"/>
            </a:pPr>
            <a:r>
              <a:rPr lang="en-US" altLang="ko-KR" sz="1400" b="1" dirty="0"/>
              <a:t>NOTE : Ingress rules in a </a:t>
            </a:r>
            <a:r>
              <a:rPr lang="en-US" altLang="ko-KR" sz="1400" b="1" dirty="0" err="1"/>
              <a:t>NetworkPolicy</a:t>
            </a:r>
            <a:r>
              <a:rPr lang="en-US" altLang="ko-KR" sz="1400" b="1" dirty="0"/>
              <a:t> have nothing to do with the </a:t>
            </a:r>
            <a:r>
              <a:rPr lang="en-US" altLang="ko-KR" sz="1400" b="1" dirty="0">
                <a:solidFill>
                  <a:srgbClr val="FF0000"/>
                </a:solidFill>
              </a:rPr>
              <a:t>Ingress</a:t>
            </a:r>
            <a:r>
              <a:rPr lang="en-US" altLang="ko-KR" sz="1400" b="1" dirty="0"/>
              <a:t> resource</a:t>
            </a:r>
            <a:r>
              <a:rPr lang="en-US" altLang="ko-KR" sz="1400" dirty="0"/>
              <a:t>.</a:t>
            </a:r>
          </a:p>
          <a:p>
            <a:pPr lvl="1">
              <a:buFont typeface="Wingdings" panose="05000000000000000000" pitchFamily="2" charset="2"/>
              <a:buChar char="§"/>
            </a:pPr>
            <a:r>
              <a:rPr lang="en-US" altLang="ko-KR" sz="1400" b="1" dirty="0"/>
              <a:t>NOTE : For more information, refer to </a:t>
            </a:r>
            <a:r>
              <a:rPr lang="en-US" altLang="ko-KR" sz="1400" b="1" dirty="0">
                <a:hlinkClick r:id="rId2"/>
              </a:rPr>
              <a:t>https://kubernetes.io/docs/concepts/services-networking/network-policies/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1" name="그림 10">
            <a:extLst>
              <a:ext uri="{FF2B5EF4-FFF2-40B4-BE49-F238E27FC236}">
                <a16:creationId xmlns:a16="http://schemas.microsoft.com/office/drawing/2014/main" id="{966765E3-2FA6-A4E7-03CC-992D1CD3176E}"/>
              </a:ext>
            </a:extLst>
          </p:cNvPr>
          <p:cNvPicPr>
            <a:picLocks noChangeAspect="1"/>
          </p:cNvPicPr>
          <p:nvPr/>
        </p:nvPicPr>
        <p:blipFill>
          <a:blip r:embed="rId3"/>
          <a:stretch>
            <a:fillRect/>
          </a:stretch>
        </p:blipFill>
        <p:spPr>
          <a:xfrm>
            <a:off x="3510257" y="2802781"/>
            <a:ext cx="5171485" cy="3762472"/>
          </a:xfrm>
          <a:prstGeom prst="rect">
            <a:avLst/>
          </a:prstGeom>
        </p:spPr>
      </p:pic>
    </p:spTree>
    <p:extLst>
      <p:ext uri="{BB962C8B-B14F-4D97-AF65-F5344CB8AC3E}">
        <p14:creationId xmlns:p14="http://schemas.microsoft.com/office/powerpoint/2010/main" val="24863226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Network(2/9)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Enabling Network Isolation in a Namespace :</a:t>
            </a:r>
            <a:endParaRPr lang="en-US" altLang="ko-KR" sz="1400" dirty="0"/>
          </a:p>
          <a:p>
            <a:pPr lvl="1">
              <a:buFont typeface="Wingdings" panose="05000000000000000000" pitchFamily="2" charset="2"/>
              <a:buChar char="§"/>
            </a:pPr>
            <a:r>
              <a:rPr lang="en-US" altLang="ko-KR" sz="1400" b="1" dirty="0"/>
              <a:t>By default, pods in a given namespace can be accessed by anyone</a:t>
            </a:r>
            <a:r>
              <a:rPr lang="en-US" altLang="ko-KR" sz="1400" dirty="0"/>
              <a:t>. First, you’ll need to change that. You’ll create a “</a:t>
            </a:r>
            <a:r>
              <a:rPr lang="en-US" altLang="ko-KR" sz="1400" b="1" dirty="0"/>
              <a:t>default-deny </a:t>
            </a:r>
            <a:r>
              <a:rPr lang="en-US" altLang="ko-KR" sz="1400" b="1" dirty="0" err="1"/>
              <a:t>NetworkPolicy</a:t>
            </a:r>
            <a:r>
              <a:rPr lang="en-US" altLang="ko-KR" sz="1400" dirty="0"/>
              <a:t>”, </a:t>
            </a:r>
            <a:r>
              <a:rPr lang="en-US" altLang="ko-KR" sz="1400" b="1" dirty="0"/>
              <a:t>which will prevent all clients from connecting to any pod in your namespace</a:t>
            </a:r>
            <a:r>
              <a:rPr lang="en-US" altLang="ko-KR" sz="1400" dirty="0"/>
              <a:t>. The </a:t>
            </a:r>
            <a:r>
              <a:rPr lang="en-US" altLang="ko-KR" sz="1400" b="1" dirty="0" err="1"/>
              <a:t>NetworkPolicy</a:t>
            </a:r>
            <a:r>
              <a:rPr lang="en-US" altLang="ko-KR" sz="1400" dirty="0"/>
              <a:t> definition is 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Empty pod selector matches all pods in the same namespace.</a:t>
            </a:r>
          </a:p>
          <a:p>
            <a:pPr lvl="1">
              <a:buFont typeface="Wingdings" panose="05000000000000000000" pitchFamily="2" charset="2"/>
              <a:buChar char="§"/>
            </a:pPr>
            <a:r>
              <a:rPr lang="en-US" altLang="ko-KR" sz="1400" dirty="0"/>
              <a:t>When you create this </a:t>
            </a:r>
            <a:r>
              <a:rPr lang="en-US" altLang="ko-KR" sz="1400" b="1" dirty="0" err="1"/>
              <a:t>NetworkPolicy</a:t>
            </a:r>
            <a:r>
              <a:rPr lang="en-US" altLang="ko-KR" sz="1400" dirty="0"/>
              <a:t> in a certain namespace, </a:t>
            </a:r>
            <a:r>
              <a:rPr lang="en-US" altLang="ko-KR" sz="1400" b="1" dirty="0"/>
              <a:t>no one can connect to any pod in that namespace</a:t>
            </a:r>
            <a:r>
              <a:rPr lang="en-US" altLang="ko-KR" sz="1400" dirty="0"/>
              <a:t>.</a:t>
            </a:r>
          </a:p>
          <a:p>
            <a:pPr lvl="1">
              <a:buFont typeface="Wingdings" panose="05000000000000000000" pitchFamily="2" charset="2"/>
              <a:buChar char="§"/>
            </a:pPr>
            <a:r>
              <a:rPr lang="en-US" altLang="ko-KR" sz="1400" b="1" dirty="0"/>
              <a:t>NOTE : The </a:t>
            </a:r>
            <a:r>
              <a:rPr lang="en-US" altLang="ko-KR" sz="1400" b="1" dirty="0">
                <a:solidFill>
                  <a:srgbClr val="FF0000"/>
                </a:solidFill>
              </a:rPr>
              <a:t>CNI(Container Network Interface)</a:t>
            </a:r>
            <a:r>
              <a:rPr lang="en-US" altLang="ko-KR" sz="1400" b="1" dirty="0"/>
              <a:t> plugin or other type of networking solution used in the cluster must support </a:t>
            </a:r>
            <a:r>
              <a:rPr lang="en-US" altLang="ko-KR" sz="1400" b="1" dirty="0" err="1"/>
              <a:t>NetworkPolicy</a:t>
            </a:r>
            <a:r>
              <a:rPr lang="en-US" altLang="ko-KR" sz="1400" b="1" dirty="0"/>
              <a:t>, or else there will be no effect on inter-pod connectivity</a:t>
            </a:r>
            <a:r>
              <a:rPr lang="en-US" altLang="ko-KR" sz="1400" dirty="0"/>
              <a:t>.</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FDBE134-1465-1A3C-0305-3FC8718AF3A9}"/>
              </a:ext>
            </a:extLst>
          </p:cNvPr>
          <p:cNvGrpSpPr/>
          <p:nvPr/>
        </p:nvGrpSpPr>
        <p:grpSpPr>
          <a:xfrm>
            <a:off x="3047326" y="2009516"/>
            <a:ext cx="6097348" cy="1015663"/>
            <a:chOff x="3047326" y="2041884"/>
            <a:chExt cx="6097348" cy="1015663"/>
          </a:xfrm>
        </p:grpSpPr>
        <p:sp>
          <p:nvSpPr>
            <p:cNvPr id="8" name="TextBox 7">
              <a:extLst>
                <a:ext uri="{FF2B5EF4-FFF2-40B4-BE49-F238E27FC236}">
                  <a16:creationId xmlns:a16="http://schemas.microsoft.com/office/drawing/2014/main" id="{BB0F08F8-E4A3-2C2C-F310-0E53DB74E6D0}"/>
                </a:ext>
              </a:extLst>
            </p:cNvPr>
            <p:cNvSpPr txBox="1"/>
            <p:nvPr/>
          </p:nvSpPr>
          <p:spPr>
            <a:xfrm>
              <a:off x="3047326" y="2041884"/>
              <a:ext cx="6097348" cy="1015663"/>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a:t>
              </a:r>
              <a:r>
                <a:rPr lang="en-US" altLang="ko-KR" sz="1000" b="1" dirty="0" err="1">
                  <a:solidFill>
                    <a:srgbClr val="FF0000"/>
                  </a:solidFill>
                </a:rPr>
                <a:t>NetworkPolicy</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default-deny</a:t>
              </a:r>
            </a:p>
            <a:p>
              <a:r>
                <a:rPr lang="en-US" altLang="ko-KR" sz="1000" b="1" dirty="0"/>
                <a:t>spec:</a:t>
              </a:r>
            </a:p>
            <a:p>
              <a:r>
                <a:rPr lang="en-US" altLang="ko-KR" sz="1000" b="1" dirty="0"/>
                <a:t>  </a:t>
              </a:r>
              <a:r>
                <a:rPr lang="en-US" altLang="ko-KR" sz="1000" b="1" dirty="0" err="1">
                  <a:solidFill>
                    <a:srgbClr val="FF0000"/>
                  </a:solidFill>
                </a:rPr>
                <a:t>podSelector</a:t>
              </a:r>
              <a:r>
                <a:rPr lang="en-US" altLang="ko-KR" sz="1000" b="1" dirty="0">
                  <a:solidFill>
                    <a:srgbClr val="FF0000"/>
                  </a:solidFill>
                </a:rPr>
                <a:t>: {}</a:t>
              </a:r>
              <a:endParaRPr lang="ko-KR" altLang="en-US" sz="1000" b="1" dirty="0">
                <a:solidFill>
                  <a:srgbClr val="FF0000"/>
                </a:solidFill>
              </a:endParaRPr>
            </a:p>
          </p:txBody>
        </p:sp>
        <p:sp>
          <p:nvSpPr>
            <p:cNvPr id="9" name="TextBox 8">
              <a:extLst>
                <a:ext uri="{FF2B5EF4-FFF2-40B4-BE49-F238E27FC236}">
                  <a16:creationId xmlns:a16="http://schemas.microsoft.com/office/drawing/2014/main" id="{5E24F69B-2987-26F0-03DB-4D54E61B9A6C}"/>
                </a:ext>
              </a:extLst>
            </p:cNvPr>
            <p:cNvSpPr txBox="1"/>
            <p:nvPr/>
          </p:nvSpPr>
          <p:spPr>
            <a:xfrm>
              <a:off x="6882516" y="2041884"/>
              <a:ext cx="2262158" cy="246221"/>
            </a:xfrm>
            <a:prstGeom prst="rect">
              <a:avLst/>
            </a:prstGeom>
            <a:noFill/>
          </p:spPr>
          <p:txBody>
            <a:bodyPr wrap="none" rtlCol="0">
              <a:spAutoFit/>
            </a:bodyPr>
            <a:lstStyle/>
            <a:p>
              <a:pPr algn="l"/>
              <a:r>
                <a:rPr lang="en-US" altLang="ko-KR" sz="1000" b="1" dirty="0"/>
                <a:t>network-policy-default-</a:t>
              </a:r>
              <a:r>
                <a:rPr lang="en-US" altLang="ko-KR" sz="1000" b="1" dirty="0" err="1"/>
                <a:t>deny.yaml</a:t>
              </a:r>
              <a:endParaRPr lang="ko-KR" altLang="en-US" sz="1000" b="1" dirty="0"/>
            </a:p>
          </p:txBody>
        </p:sp>
      </p:grpSp>
      <p:grpSp>
        <p:nvGrpSpPr>
          <p:cNvPr id="14" name="그룹 13">
            <a:extLst>
              <a:ext uri="{FF2B5EF4-FFF2-40B4-BE49-F238E27FC236}">
                <a16:creationId xmlns:a16="http://schemas.microsoft.com/office/drawing/2014/main" id="{C0D2D756-6D4A-2DED-9B7D-3F2AC57F708C}"/>
              </a:ext>
            </a:extLst>
          </p:cNvPr>
          <p:cNvGrpSpPr/>
          <p:nvPr/>
        </p:nvGrpSpPr>
        <p:grpSpPr>
          <a:xfrm>
            <a:off x="838200" y="4418624"/>
            <a:ext cx="10515600" cy="1664970"/>
            <a:chOff x="838200" y="3769779"/>
            <a:chExt cx="10515600" cy="1664970"/>
          </a:xfrm>
        </p:grpSpPr>
        <p:pic>
          <p:nvPicPr>
            <p:cNvPr id="12" name="그림 11">
              <a:extLst>
                <a:ext uri="{FF2B5EF4-FFF2-40B4-BE49-F238E27FC236}">
                  <a16:creationId xmlns:a16="http://schemas.microsoft.com/office/drawing/2014/main" id="{D212BFC1-4B40-5214-B711-C8C1C911AEDF}"/>
                </a:ext>
              </a:extLst>
            </p:cNvPr>
            <p:cNvPicPr>
              <a:picLocks noChangeAspect="1"/>
            </p:cNvPicPr>
            <p:nvPr/>
          </p:nvPicPr>
          <p:blipFill>
            <a:blip r:embed="rId2"/>
            <a:stretch>
              <a:fillRect/>
            </a:stretch>
          </p:blipFill>
          <p:spPr>
            <a:xfrm>
              <a:off x="838200" y="3769779"/>
              <a:ext cx="10515600" cy="1664970"/>
            </a:xfrm>
            <a:prstGeom prst="rect">
              <a:avLst/>
            </a:prstGeom>
          </p:spPr>
        </p:pic>
        <p:sp>
          <p:nvSpPr>
            <p:cNvPr id="13" name="직사각형 12">
              <a:extLst>
                <a:ext uri="{FF2B5EF4-FFF2-40B4-BE49-F238E27FC236}">
                  <a16:creationId xmlns:a16="http://schemas.microsoft.com/office/drawing/2014/main" id="{EAD158C6-8E62-F9E9-287E-8D558175ED10}"/>
                </a:ext>
              </a:extLst>
            </p:cNvPr>
            <p:cNvSpPr/>
            <p:nvPr/>
          </p:nvSpPr>
          <p:spPr>
            <a:xfrm>
              <a:off x="954860" y="4863313"/>
              <a:ext cx="2370967" cy="1861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0439671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Network(3/9)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Allowing Only Some Pods in the Namespace to Connect to a Server Pod :</a:t>
            </a:r>
            <a:endParaRPr lang="en-US" altLang="ko-KR" sz="1400" dirty="0"/>
          </a:p>
          <a:p>
            <a:pPr lvl="1">
              <a:buFont typeface="Wingdings" panose="05000000000000000000" pitchFamily="2" charset="2"/>
              <a:buChar char="§"/>
            </a:pPr>
            <a:r>
              <a:rPr lang="en-US" altLang="ko-KR" sz="1400" b="1" dirty="0"/>
              <a:t>To let clients connect to the pods in the namespace, you must now explicitly say who(pods) can connect to the pods</a:t>
            </a:r>
            <a:r>
              <a:rPr lang="en-US" altLang="ko-KR" sz="1400" dirty="0"/>
              <a:t>.</a:t>
            </a:r>
          </a:p>
          <a:p>
            <a:pPr lvl="1">
              <a:buFont typeface="Wingdings" panose="05000000000000000000" pitchFamily="2" charset="2"/>
              <a:buChar char="§"/>
            </a:pPr>
            <a:r>
              <a:rPr lang="en-US" altLang="ko-KR" sz="1400" b="1" dirty="0"/>
              <a:t>Imagine having a PostgreSQL database pod running in namespace “foo” and a webserver pod that uses the database</a:t>
            </a:r>
            <a:r>
              <a:rPr lang="en-US" altLang="ko-KR" sz="1400" dirty="0"/>
              <a:t>. </a:t>
            </a:r>
            <a:r>
              <a:rPr lang="en-US" altLang="ko-KR" sz="1400" b="1" dirty="0"/>
              <a:t>Other pods are also in the namespace, and you don’t want to allow them to connect to the database</a:t>
            </a:r>
            <a:r>
              <a:rPr lang="en-US" altLang="ko-KR" sz="1400" dirty="0"/>
              <a:t>. To secure the network, you need to </a:t>
            </a:r>
            <a:r>
              <a:rPr lang="en-US" altLang="ko-KR" sz="1400" b="1" dirty="0"/>
              <a:t>create the “</a:t>
            </a:r>
            <a:r>
              <a:rPr lang="en-US" altLang="ko-KR" sz="1400" b="1" dirty="0" err="1"/>
              <a:t>NetworkPolicy</a:t>
            </a:r>
            <a:r>
              <a:rPr lang="en-US" altLang="ko-KR" sz="1400" b="1" dirty="0"/>
              <a:t>” resource </a:t>
            </a:r>
            <a:r>
              <a:rPr lang="en-US" altLang="ko-KR" sz="1400" dirty="0"/>
              <a:t>shown in the following listing </a:t>
            </a:r>
            <a:r>
              <a:rPr lang="en-US" altLang="ko-KR" sz="1400" b="1" dirty="0"/>
              <a:t>in the same namespace as the database pod</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above example </a:t>
            </a:r>
            <a:r>
              <a:rPr lang="en-US" altLang="ko-KR" sz="1400" b="1" dirty="0" err="1"/>
              <a:t>NetworkPolicy</a:t>
            </a:r>
            <a:r>
              <a:rPr lang="en-US" altLang="ko-KR" sz="1400" b="1" dirty="0"/>
              <a:t> allows pods with the “app=webserver” label to connect to pods with the “app=database” label, and only on port 5432</a:t>
            </a:r>
            <a:r>
              <a:rPr lang="en-US" altLang="ko-KR" sz="1400" dirty="0"/>
              <a:t>. Other pods can’t connect to the database pods, and </a:t>
            </a:r>
            <a:r>
              <a:rPr lang="en-US" altLang="ko-KR" sz="1400" b="1" dirty="0"/>
              <a:t>no one (not even the webserver pods) can connect to anything other than port 5432 of the database pods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dirty="0"/>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1AC8189-05EC-4ADC-94CD-9E29C4B2D838}"/>
              </a:ext>
            </a:extLst>
          </p:cNvPr>
          <p:cNvGrpSpPr/>
          <p:nvPr/>
        </p:nvGrpSpPr>
        <p:grpSpPr>
          <a:xfrm>
            <a:off x="3046989" y="2610183"/>
            <a:ext cx="6098022" cy="2400657"/>
            <a:chOff x="3047326" y="2610183"/>
            <a:chExt cx="6098022" cy="2400657"/>
          </a:xfrm>
        </p:grpSpPr>
        <p:sp>
          <p:nvSpPr>
            <p:cNvPr id="8" name="TextBox 7">
              <a:extLst>
                <a:ext uri="{FF2B5EF4-FFF2-40B4-BE49-F238E27FC236}">
                  <a16:creationId xmlns:a16="http://schemas.microsoft.com/office/drawing/2014/main" id="{C510B69D-C25B-C47F-BAB6-D8CEAC2D2FC9}"/>
                </a:ext>
              </a:extLst>
            </p:cNvPr>
            <p:cNvSpPr txBox="1"/>
            <p:nvPr/>
          </p:nvSpPr>
          <p:spPr>
            <a:xfrm>
              <a:off x="3047326" y="2610183"/>
              <a:ext cx="6097348" cy="240065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a:t>
              </a:r>
              <a:r>
                <a:rPr lang="en-US" altLang="ko-KR" sz="1000" b="1" dirty="0" err="1">
                  <a:solidFill>
                    <a:srgbClr val="FF0000"/>
                  </a:solidFill>
                </a:rPr>
                <a:t>NetworkPolicy</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postgres-netpolicy</a:t>
              </a:r>
              <a:endParaRPr lang="en-US" altLang="ko-KR" sz="1000" b="1" dirty="0">
                <a:solidFill>
                  <a:srgbClr val="FF0000"/>
                </a:solidFill>
              </a:endParaRPr>
            </a:p>
            <a:p>
              <a:r>
                <a:rPr lang="en-US" altLang="ko-KR" sz="1000" b="1" dirty="0"/>
                <a:t>spec:</a:t>
              </a:r>
            </a:p>
            <a:p>
              <a:r>
                <a:rPr lang="en-US" altLang="ko-KR" sz="1000" b="1" dirty="0">
                  <a:solidFill>
                    <a:srgbClr val="FF0000"/>
                  </a:solidFill>
                </a:rPr>
                <a:t>  </a:t>
              </a:r>
              <a:r>
                <a:rPr lang="en-US" altLang="ko-KR" sz="1000" b="1" dirty="0" err="1">
                  <a:solidFill>
                    <a:srgbClr val="FF0000"/>
                  </a:solidFill>
                </a:rPr>
                <a:t>podSelector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database</a:t>
              </a:r>
            </a:p>
            <a:p>
              <a:r>
                <a:rPr lang="en-US" altLang="ko-KR" sz="1000" b="1" dirty="0"/>
                <a:t>  </a:t>
              </a:r>
              <a:r>
                <a:rPr lang="en-US" altLang="ko-KR" sz="1000" b="1" dirty="0">
                  <a:solidFill>
                    <a:srgbClr val="FF0000"/>
                  </a:solidFill>
                </a:rPr>
                <a:t>ingress</a:t>
              </a:r>
              <a:r>
                <a:rPr lang="en-US" altLang="ko-KR" sz="1000" b="1" dirty="0"/>
                <a:t>:</a:t>
              </a:r>
            </a:p>
            <a:p>
              <a:r>
                <a:rPr lang="en-US" altLang="ko-KR" sz="1000" b="1" dirty="0">
                  <a:solidFill>
                    <a:srgbClr val="FF0000"/>
                  </a:solidFill>
                </a:rPr>
                <a:t>  - from:</a:t>
              </a:r>
            </a:p>
            <a:p>
              <a:r>
                <a:rPr lang="en-US" altLang="ko-KR" sz="1000" b="1" dirty="0">
                  <a:solidFill>
                    <a:srgbClr val="FF0000"/>
                  </a:solidFill>
                </a:rPr>
                <a:t>    - </a:t>
              </a:r>
              <a:r>
                <a:rPr lang="en-US" altLang="ko-KR" sz="1000" b="1" dirty="0" err="1">
                  <a:solidFill>
                    <a:srgbClr val="FF0000"/>
                  </a:solidFill>
                </a:rPr>
                <a:t>podSelector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webserver</a:t>
              </a:r>
            </a:p>
            <a:p>
              <a:r>
                <a:rPr lang="en-US" altLang="ko-KR" sz="1000" b="1" dirty="0">
                  <a:solidFill>
                    <a:srgbClr val="FF0000"/>
                  </a:solidFill>
                </a:rPr>
                <a:t>    ports:</a:t>
              </a:r>
            </a:p>
            <a:p>
              <a:r>
                <a:rPr lang="en-US" altLang="ko-KR" sz="1000" b="1" dirty="0">
                  <a:solidFill>
                    <a:srgbClr val="FF0000"/>
                  </a:solidFill>
                </a:rPr>
                <a:t>    - port: 5432</a:t>
              </a:r>
              <a:endParaRPr lang="ko-KR" altLang="en-US" sz="1000" b="1" dirty="0">
                <a:solidFill>
                  <a:srgbClr val="FF0000"/>
                </a:solidFill>
              </a:endParaRPr>
            </a:p>
          </p:txBody>
        </p:sp>
        <p:sp>
          <p:nvSpPr>
            <p:cNvPr id="9" name="TextBox 8">
              <a:extLst>
                <a:ext uri="{FF2B5EF4-FFF2-40B4-BE49-F238E27FC236}">
                  <a16:creationId xmlns:a16="http://schemas.microsoft.com/office/drawing/2014/main" id="{86645E02-7DD2-A94B-DE3E-5CB828DA2189}"/>
                </a:ext>
              </a:extLst>
            </p:cNvPr>
            <p:cNvSpPr txBox="1"/>
            <p:nvPr/>
          </p:nvSpPr>
          <p:spPr>
            <a:xfrm>
              <a:off x="7136465" y="2610183"/>
              <a:ext cx="2008883" cy="246221"/>
            </a:xfrm>
            <a:prstGeom prst="rect">
              <a:avLst/>
            </a:prstGeom>
            <a:noFill/>
          </p:spPr>
          <p:txBody>
            <a:bodyPr wrap="none" rtlCol="0">
              <a:spAutoFit/>
            </a:bodyPr>
            <a:lstStyle/>
            <a:p>
              <a:pPr algn="l"/>
              <a:r>
                <a:rPr lang="en-US" altLang="ko-KR" sz="1000" b="1" dirty="0"/>
                <a:t>network-policy-</a:t>
              </a:r>
              <a:r>
                <a:rPr lang="en-US" altLang="ko-KR" sz="1000" b="1" dirty="0" err="1"/>
                <a:t>postgres.yaml</a:t>
              </a:r>
              <a:endParaRPr lang="ko-KR" altLang="en-US" sz="1000" b="1" dirty="0"/>
            </a:p>
          </p:txBody>
        </p:sp>
      </p:grpSp>
    </p:spTree>
    <p:extLst>
      <p:ext uri="{BB962C8B-B14F-4D97-AF65-F5344CB8AC3E}">
        <p14:creationId xmlns:p14="http://schemas.microsoft.com/office/powerpoint/2010/main" val="24867796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Network(4/9)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Allowing Only Some Pods in the Namespace to Connect to a Server Pod :</a:t>
            </a:r>
            <a:endParaRPr lang="en-US" altLang="ko-KR" sz="1400" dirty="0"/>
          </a:p>
          <a:p>
            <a:pPr lvl="1">
              <a:buFont typeface="Wingdings" panose="05000000000000000000" pitchFamily="2" charset="2"/>
              <a:buChar char="§"/>
            </a:pPr>
            <a:r>
              <a:rPr lang="en-US" altLang="ko-KR" sz="1400" b="1" dirty="0"/>
              <a:t>Client pods usually connect to server pods through a Service instead of directly to the pod</a:t>
            </a:r>
            <a:r>
              <a:rPr lang="en-US" altLang="ko-KR" sz="1400" dirty="0"/>
              <a:t>, but that doesn’t change anything. </a:t>
            </a:r>
            <a:r>
              <a:rPr lang="en-US" altLang="ko-KR" sz="1400" b="1" dirty="0"/>
              <a:t>The </a:t>
            </a:r>
            <a:r>
              <a:rPr lang="en-US" altLang="ko-KR" sz="1400" b="1" dirty="0" err="1"/>
              <a:t>NetworkPolicy</a:t>
            </a:r>
            <a:r>
              <a:rPr lang="en-US" altLang="ko-KR" sz="1400" b="1" dirty="0"/>
              <a:t> is enforced when connecting through a Service, as well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89D5148E-7A9C-7E6B-E527-7AF80C3DD8C4}"/>
              </a:ext>
            </a:extLst>
          </p:cNvPr>
          <p:cNvGrpSpPr/>
          <p:nvPr/>
        </p:nvGrpSpPr>
        <p:grpSpPr>
          <a:xfrm>
            <a:off x="838205" y="1661072"/>
            <a:ext cx="10515596" cy="4747958"/>
            <a:chOff x="838205" y="1661072"/>
            <a:chExt cx="10515596" cy="4747958"/>
          </a:xfrm>
        </p:grpSpPr>
        <p:grpSp>
          <p:nvGrpSpPr>
            <p:cNvPr id="12" name="그룹 11">
              <a:extLst>
                <a:ext uri="{FF2B5EF4-FFF2-40B4-BE49-F238E27FC236}">
                  <a16:creationId xmlns:a16="http://schemas.microsoft.com/office/drawing/2014/main" id="{B2F4BE25-357A-33D3-B0A6-7CD608587793}"/>
                </a:ext>
              </a:extLst>
            </p:cNvPr>
            <p:cNvGrpSpPr/>
            <p:nvPr/>
          </p:nvGrpSpPr>
          <p:grpSpPr>
            <a:xfrm>
              <a:off x="838205" y="1661072"/>
              <a:ext cx="10515596" cy="4747958"/>
              <a:chOff x="838205" y="1661072"/>
              <a:chExt cx="10515596" cy="4747958"/>
            </a:xfrm>
          </p:grpSpPr>
          <p:pic>
            <p:nvPicPr>
              <p:cNvPr id="8" name="그림 7">
                <a:extLst>
                  <a:ext uri="{FF2B5EF4-FFF2-40B4-BE49-F238E27FC236}">
                    <a16:creationId xmlns:a16="http://schemas.microsoft.com/office/drawing/2014/main" id="{6D652194-12F7-7D52-3C3F-2FE3F558F6DA}"/>
                  </a:ext>
                </a:extLst>
              </p:cNvPr>
              <p:cNvPicPr>
                <a:picLocks noChangeAspect="1"/>
              </p:cNvPicPr>
              <p:nvPr/>
            </p:nvPicPr>
            <p:blipFill>
              <a:blip r:embed="rId2"/>
              <a:stretch>
                <a:fillRect/>
              </a:stretch>
            </p:blipFill>
            <p:spPr>
              <a:xfrm>
                <a:off x="3219450" y="3808705"/>
                <a:ext cx="5753100" cy="2600325"/>
              </a:xfrm>
              <a:prstGeom prst="rect">
                <a:avLst/>
              </a:prstGeom>
            </p:spPr>
          </p:pic>
          <p:pic>
            <p:nvPicPr>
              <p:cNvPr id="10" name="그림 9">
                <a:extLst>
                  <a:ext uri="{FF2B5EF4-FFF2-40B4-BE49-F238E27FC236}">
                    <a16:creationId xmlns:a16="http://schemas.microsoft.com/office/drawing/2014/main" id="{475CE94C-78C0-831B-B995-620754787700}"/>
                  </a:ext>
                </a:extLst>
              </p:cNvPr>
              <p:cNvPicPr>
                <a:picLocks noChangeAspect="1"/>
              </p:cNvPicPr>
              <p:nvPr/>
            </p:nvPicPr>
            <p:blipFill>
              <a:blip r:embed="rId3"/>
              <a:stretch>
                <a:fillRect/>
              </a:stretch>
            </p:blipFill>
            <p:spPr>
              <a:xfrm>
                <a:off x="838205" y="1661072"/>
                <a:ext cx="10515596" cy="1813940"/>
              </a:xfrm>
              <a:prstGeom prst="rect">
                <a:avLst/>
              </a:prstGeom>
            </p:spPr>
          </p:pic>
          <p:sp>
            <p:nvSpPr>
              <p:cNvPr id="11" name="화살표: 아래쪽 10">
                <a:extLst>
                  <a:ext uri="{FF2B5EF4-FFF2-40B4-BE49-F238E27FC236}">
                    <a16:creationId xmlns:a16="http://schemas.microsoft.com/office/drawing/2014/main" id="{725BE83A-E7EF-CA41-3EC3-9814533F2E67}"/>
                  </a:ext>
                </a:extLst>
              </p:cNvPr>
              <p:cNvSpPr/>
              <p:nvPr/>
            </p:nvSpPr>
            <p:spPr>
              <a:xfrm>
                <a:off x="5849193" y="3475012"/>
                <a:ext cx="493614" cy="36512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5ECF905-0350-D3A3-6329-3BF568C99769}"/>
                </a:ext>
              </a:extLst>
            </p:cNvPr>
            <p:cNvSpPr/>
            <p:nvPr/>
          </p:nvSpPr>
          <p:spPr>
            <a:xfrm>
              <a:off x="938676" y="2896949"/>
              <a:ext cx="2824121" cy="1699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847869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Network(5/9)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Isolating the Network between Kubernetes Namespaces :</a:t>
            </a:r>
            <a:endParaRPr lang="en-US" altLang="ko-KR" sz="1400" dirty="0"/>
          </a:p>
          <a:p>
            <a:pPr lvl="1">
              <a:buFont typeface="Wingdings" panose="05000000000000000000" pitchFamily="2" charset="2"/>
              <a:buChar char="§"/>
            </a:pPr>
            <a:r>
              <a:rPr lang="en-US" altLang="ko-KR" sz="1400" dirty="0"/>
              <a:t>For example, assume that </a:t>
            </a:r>
            <a:r>
              <a:rPr lang="en-US" altLang="ko-KR" sz="1400" b="1" dirty="0"/>
              <a:t>multiple tenants are using the same Kubernetes cluster</a:t>
            </a:r>
            <a:r>
              <a:rPr lang="en-US" altLang="ko-KR" sz="1400" dirty="0"/>
              <a:t>. </a:t>
            </a:r>
            <a:r>
              <a:rPr lang="en-US" altLang="ko-KR" sz="1400" b="1" dirty="0"/>
              <a:t>Each tenant can use multiple namespaces, and each namespace has a label specifying the tenant it belongs to</a:t>
            </a:r>
            <a:r>
              <a:rPr lang="en-US" altLang="ko-KR" sz="1400" dirty="0"/>
              <a:t>. All their namespaces have been labeled with “</a:t>
            </a:r>
            <a:r>
              <a:rPr lang="en-US" altLang="ko-KR" sz="1400" b="1" dirty="0"/>
              <a:t>tenant : manning</a:t>
            </a:r>
            <a:r>
              <a:rPr lang="en-US" altLang="ko-KR" sz="1400" dirty="0"/>
              <a:t>”. In one of their namespaces, they run </a:t>
            </a:r>
            <a:r>
              <a:rPr lang="en-US" altLang="ko-KR" sz="1400" b="1" dirty="0"/>
              <a:t>a “Shopping Cart” </a:t>
            </a:r>
            <a:r>
              <a:rPr lang="en-US" altLang="ko-KR" sz="1400" b="1" dirty="0">
                <a:solidFill>
                  <a:srgbClr val="FF0000"/>
                </a:solidFill>
              </a:rPr>
              <a:t>microservice</a:t>
            </a:r>
            <a:r>
              <a:rPr lang="en-US" altLang="ko-KR" sz="1400" b="1" dirty="0"/>
              <a:t> that needs to be available to all pods running in any of their namespaces</a:t>
            </a:r>
            <a:r>
              <a:rPr lang="en-US" altLang="ko-KR" sz="1400" dirty="0"/>
              <a:t>. </a:t>
            </a:r>
            <a:r>
              <a:rPr lang="en-US" altLang="ko-KR" sz="1400" b="1" dirty="0"/>
              <a:t>Obviously, they don’t want any other tenants to access their microservice</a:t>
            </a:r>
            <a:r>
              <a:rPr lang="en-US" altLang="ko-KR" sz="1400" dirty="0"/>
              <a:t>. </a:t>
            </a:r>
          </a:p>
          <a:p>
            <a:pPr lvl="1">
              <a:buFont typeface="Wingdings" panose="05000000000000000000" pitchFamily="2" charset="2"/>
              <a:buChar char="§"/>
            </a:pPr>
            <a:r>
              <a:rPr lang="en-US" altLang="ko-KR" sz="1400" b="1" dirty="0"/>
              <a:t>To secure their microservice, they create the “</a:t>
            </a:r>
            <a:r>
              <a:rPr lang="en-US" altLang="ko-KR" sz="1400" b="1" dirty="0" err="1"/>
              <a:t>NetworkPolicy</a:t>
            </a:r>
            <a:r>
              <a:rPr lang="en-US" altLang="ko-KR" sz="1400" b="1" dirty="0"/>
              <a:t>” resource </a:t>
            </a:r>
            <a:r>
              <a:rPr lang="en-US" altLang="ko-KR" sz="1400" dirty="0"/>
              <a:t>shown in the following listing.</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In the above example, the </a:t>
            </a:r>
            <a:r>
              <a:rPr lang="en-US" altLang="ko-KR" sz="1400" b="1" dirty="0" err="1"/>
              <a:t>NetworkPolicy</a:t>
            </a:r>
            <a:r>
              <a:rPr lang="en-US" altLang="ko-KR" sz="1400" b="1" dirty="0"/>
              <a:t> ensures only pods running in </a:t>
            </a:r>
            <a:r>
              <a:rPr lang="en-US" altLang="ko-KR" sz="1400" b="1" dirty="0">
                <a:solidFill>
                  <a:srgbClr val="FF0000"/>
                </a:solidFill>
              </a:rPr>
              <a:t>namespaces</a:t>
            </a:r>
            <a:r>
              <a:rPr lang="en-US" altLang="ko-KR" sz="1400" b="1" dirty="0"/>
              <a:t> labeled as “tenant: manning” can access their “Shopping Cart” microservice</a:t>
            </a:r>
            <a:r>
              <a:rPr lang="en-US" altLang="ko-KR" sz="1400" dirty="0"/>
              <a:t>.</a:t>
            </a:r>
          </a:p>
          <a:p>
            <a:pPr lvl="1">
              <a:buFont typeface="Wingdings" panose="05000000000000000000" pitchFamily="2" charset="2"/>
              <a:buChar char="§"/>
            </a:pPr>
            <a:r>
              <a:rPr lang="en-US" altLang="ko-KR" sz="1400" b="1" dirty="0"/>
              <a:t>NOTE : You can create the above </a:t>
            </a:r>
            <a:r>
              <a:rPr lang="en-US" altLang="ko-KR" sz="1400" b="1" dirty="0" err="1"/>
              <a:t>NetworkPolicy</a:t>
            </a:r>
            <a:r>
              <a:rPr lang="en-US" altLang="ko-KR" sz="1400" b="1" dirty="0"/>
              <a:t> by using “$ </a:t>
            </a:r>
            <a:r>
              <a:rPr lang="en-US" altLang="ko-KR" sz="1400" b="1" dirty="0" err="1"/>
              <a:t>kubectl</a:t>
            </a:r>
            <a:r>
              <a:rPr lang="en-US" altLang="ko-KR" sz="1400" b="1" dirty="0"/>
              <a:t> create -f network-policy-</a:t>
            </a:r>
            <a:r>
              <a:rPr lang="en-US" altLang="ko-KR" sz="1400" b="1" dirty="0" err="1"/>
              <a:t>car.yaml</a:t>
            </a:r>
            <a:r>
              <a:rPr lang="en-US" altLang="ko-KR" sz="1400" b="1" dirty="0"/>
              <a:t>” command. Check the status with “$ </a:t>
            </a:r>
            <a:r>
              <a:rPr lang="en-US" altLang="ko-KR" sz="1400" b="1" dirty="0" err="1"/>
              <a:t>kubectl</a:t>
            </a:r>
            <a:r>
              <a:rPr lang="en-US" altLang="ko-KR" sz="1400" b="1" dirty="0"/>
              <a:t> get </a:t>
            </a:r>
            <a:r>
              <a:rPr lang="en-US" altLang="ko-KR" sz="1400" b="1" dirty="0" err="1"/>
              <a:t>networkpolicy</a:t>
            </a:r>
            <a:r>
              <a:rPr lang="en-US" altLang="ko-KR" sz="1400" b="1" dirty="0"/>
              <a:t>”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3A64B77-2B62-DD1B-D2D3-AA07283F8ACF}"/>
              </a:ext>
            </a:extLst>
          </p:cNvPr>
          <p:cNvGrpSpPr/>
          <p:nvPr/>
        </p:nvGrpSpPr>
        <p:grpSpPr>
          <a:xfrm>
            <a:off x="3047326" y="2569723"/>
            <a:ext cx="6097348" cy="2400657"/>
            <a:chOff x="3047326" y="2521171"/>
            <a:chExt cx="6097348" cy="2400657"/>
          </a:xfrm>
        </p:grpSpPr>
        <p:sp>
          <p:nvSpPr>
            <p:cNvPr id="8" name="TextBox 7">
              <a:extLst>
                <a:ext uri="{FF2B5EF4-FFF2-40B4-BE49-F238E27FC236}">
                  <a16:creationId xmlns:a16="http://schemas.microsoft.com/office/drawing/2014/main" id="{538D3B0F-9E80-403C-3BE6-5655904A8CAB}"/>
                </a:ext>
              </a:extLst>
            </p:cNvPr>
            <p:cNvSpPr txBox="1"/>
            <p:nvPr/>
          </p:nvSpPr>
          <p:spPr>
            <a:xfrm>
              <a:off x="3047326" y="2521171"/>
              <a:ext cx="6097348" cy="240065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a:t>
              </a:r>
              <a:r>
                <a:rPr lang="en-US" altLang="ko-KR" sz="1000" b="1" dirty="0" err="1">
                  <a:solidFill>
                    <a:srgbClr val="FF0000"/>
                  </a:solidFill>
                </a:rPr>
                <a:t>NetworkPolicy</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shoppingcart-netpolicy</a:t>
              </a:r>
              <a:endParaRPr lang="en-US" altLang="ko-KR" sz="1000" b="1" dirty="0">
                <a:solidFill>
                  <a:srgbClr val="FF0000"/>
                </a:solidFill>
              </a:endParaRPr>
            </a:p>
            <a:p>
              <a:r>
                <a:rPr lang="en-US" altLang="ko-KR" sz="1000" b="1" dirty="0"/>
                <a:t>spec:</a:t>
              </a:r>
            </a:p>
            <a:p>
              <a:r>
                <a:rPr lang="en-US" altLang="ko-KR" sz="1000" b="1" dirty="0"/>
                <a:t>  </a:t>
              </a:r>
              <a:r>
                <a:rPr lang="en-US" altLang="ko-KR" sz="1000" b="1" dirty="0" err="1"/>
                <a:t>podSelector</a:t>
              </a:r>
              <a:r>
                <a:rPr lang="en-US" altLang="ko-KR" sz="1000" b="1" dirty="0"/>
                <a:t>:</a:t>
              </a:r>
            </a:p>
            <a:p>
              <a:r>
                <a:rPr lang="en-US" altLang="ko-KR" sz="1000" b="1" dirty="0"/>
                <a:t>    </a:t>
              </a:r>
              <a:r>
                <a:rPr lang="en-US" altLang="ko-KR" sz="1000" b="1" dirty="0" err="1"/>
                <a:t>matchLabels</a:t>
              </a:r>
              <a:r>
                <a:rPr lang="en-US" altLang="ko-KR" sz="1000" b="1" dirty="0"/>
                <a:t>:</a:t>
              </a:r>
            </a:p>
            <a:p>
              <a:r>
                <a:rPr lang="en-US" altLang="ko-KR" sz="1000" b="1" dirty="0"/>
                <a:t>      </a:t>
              </a:r>
              <a:r>
                <a:rPr lang="en-US" altLang="ko-KR" sz="1000" b="1" dirty="0">
                  <a:solidFill>
                    <a:srgbClr val="FF0000"/>
                  </a:solidFill>
                </a:rPr>
                <a:t>app: shopping-cart </a:t>
              </a:r>
            </a:p>
            <a:p>
              <a:r>
                <a:rPr lang="en-US" altLang="ko-KR" sz="1000" b="1" dirty="0"/>
                <a:t>  ingress:</a:t>
              </a:r>
            </a:p>
            <a:p>
              <a:r>
                <a:rPr lang="en-US" altLang="ko-KR" sz="1000" b="1" dirty="0"/>
                <a:t>  - from:</a:t>
              </a:r>
            </a:p>
            <a:p>
              <a:r>
                <a:rPr lang="en-US" altLang="ko-KR" sz="1000" b="1" dirty="0">
                  <a:solidFill>
                    <a:srgbClr val="FF0000"/>
                  </a:solidFill>
                </a:rPr>
                <a:t>    - </a:t>
              </a:r>
              <a:r>
                <a:rPr lang="en-US" altLang="ko-KR" sz="1000" b="1" dirty="0" err="1">
                  <a:solidFill>
                    <a:srgbClr val="FF0000"/>
                  </a:solidFill>
                </a:rPr>
                <a:t>namespaceSelector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tenant: manning</a:t>
              </a:r>
            </a:p>
            <a:p>
              <a:r>
                <a:rPr lang="en-US" altLang="ko-KR" sz="1000" b="1" dirty="0"/>
                <a:t>    ports:</a:t>
              </a:r>
            </a:p>
            <a:p>
              <a:r>
                <a:rPr lang="en-US" altLang="ko-KR" sz="1000" b="1" dirty="0"/>
                <a:t>    - port: 80</a:t>
              </a:r>
            </a:p>
          </p:txBody>
        </p:sp>
        <p:sp>
          <p:nvSpPr>
            <p:cNvPr id="9" name="TextBox 8">
              <a:extLst>
                <a:ext uri="{FF2B5EF4-FFF2-40B4-BE49-F238E27FC236}">
                  <a16:creationId xmlns:a16="http://schemas.microsoft.com/office/drawing/2014/main" id="{8A9CF07D-FB2D-7E26-6A42-7B78D87EA76B}"/>
                </a:ext>
              </a:extLst>
            </p:cNvPr>
            <p:cNvSpPr txBox="1"/>
            <p:nvPr/>
          </p:nvSpPr>
          <p:spPr>
            <a:xfrm>
              <a:off x="7433949" y="2521171"/>
              <a:ext cx="1710725" cy="246221"/>
            </a:xfrm>
            <a:prstGeom prst="rect">
              <a:avLst/>
            </a:prstGeom>
            <a:noFill/>
          </p:spPr>
          <p:txBody>
            <a:bodyPr wrap="none" rtlCol="0">
              <a:spAutoFit/>
            </a:bodyPr>
            <a:lstStyle/>
            <a:p>
              <a:pPr algn="l"/>
              <a:r>
                <a:rPr lang="en-US" altLang="ko-KR" sz="1000" b="1" dirty="0"/>
                <a:t>network-policy-</a:t>
              </a:r>
              <a:r>
                <a:rPr lang="en-US" altLang="ko-KR" sz="1000" b="1" dirty="0" err="1"/>
                <a:t>cart.yaml</a:t>
              </a:r>
              <a:endParaRPr lang="ko-KR" altLang="en-US" sz="1000" b="1" dirty="0"/>
            </a:p>
          </p:txBody>
        </p:sp>
      </p:grpSp>
    </p:spTree>
    <p:extLst>
      <p:ext uri="{BB962C8B-B14F-4D97-AF65-F5344CB8AC3E}">
        <p14:creationId xmlns:p14="http://schemas.microsoft.com/office/powerpoint/2010/main" val="33818318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Network(6/9)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Isolating the Network between Kubernetes Namespaces :</a:t>
            </a:r>
            <a:endParaRPr lang="en-US" altLang="ko-KR" sz="1400" dirty="0"/>
          </a:p>
          <a:p>
            <a:pPr lvl="1">
              <a:buFont typeface="Wingdings" panose="05000000000000000000" pitchFamily="2" charset="2"/>
              <a:buChar char="§"/>
            </a:pPr>
            <a:r>
              <a:rPr lang="en-US" altLang="ko-KR" sz="1400" dirty="0"/>
              <a:t>If the shopping cart provider also wants to give access to other tenants (perhaps to one of their partner companies), they can either </a:t>
            </a:r>
            <a:r>
              <a:rPr lang="en-US" altLang="ko-KR" sz="1400" b="1" dirty="0"/>
              <a:t>create an additional </a:t>
            </a:r>
            <a:r>
              <a:rPr lang="en-US" altLang="ko-KR" sz="1400" b="1" dirty="0" err="1"/>
              <a:t>NetworkPolicy</a:t>
            </a:r>
            <a:r>
              <a:rPr lang="en-US" altLang="ko-KR" sz="1400" b="1" dirty="0"/>
              <a:t> resource </a:t>
            </a:r>
            <a:r>
              <a:rPr lang="en-US" altLang="ko-KR" sz="1400" dirty="0"/>
              <a:t>or </a:t>
            </a:r>
            <a:r>
              <a:rPr lang="en-US" altLang="ko-KR" sz="1400" b="1" dirty="0"/>
              <a:t>add an additional ingress rule to their existing </a:t>
            </a:r>
            <a:r>
              <a:rPr lang="en-US" altLang="ko-KR" sz="1400" b="1" dirty="0" err="1"/>
              <a:t>NetworkPolicy</a:t>
            </a:r>
            <a:r>
              <a:rPr lang="en-US" altLang="ko-KR" sz="1400" dirty="0"/>
              <a:t>. </a:t>
            </a:r>
          </a:p>
          <a:p>
            <a:pPr lvl="1">
              <a:buFont typeface="Wingdings" panose="05000000000000000000" pitchFamily="2" charset="2"/>
              <a:buChar char="§"/>
            </a:pPr>
            <a:r>
              <a:rPr lang="en-US" altLang="ko-KR" sz="1400" b="1" dirty="0"/>
              <a:t>NOTE : In a multi-tenant Kubernetes cluster, tenants usually can’t add labels (or annotations) to their namespaces themselves</a:t>
            </a:r>
            <a:r>
              <a:rPr lang="en-US" altLang="ko-KR" sz="1400" dirty="0"/>
              <a:t>. </a:t>
            </a:r>
            <a:r>
              <a:rPr lang="en-US" altLang="ko-KR" sz="1400" b="1" dirty="0"/>
              <a:t>If they could, they’d be able to circumvent the “</a:t>
            </a:r>
            <a:r>
              <a:rPr lang="en-US" altLang="ko-KR" sz="1400" b="1" dirty="0" err="1"/>
              <a:t>namespaceSelector</a:t>
            </a:r>
            <a:r>
              <a:rPr lang="en-US" altLang="ko-KR" sz="1400" b="1" dirty="0"/>
              <a:t>-based” ingress rules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70CE487-5F17-72CC-E336-373A83DEF3D5}"/>
              </a:ext>
            </a:extLst>
          </p:cNvPr>
          <p:cNvPicPr>
            <a:picLocks noChangeAspect="1"/>
          </p:cNvPicPr>
          <p:nvPr/>
        </p:nvPicPr>
        <p:blipFill>
          <a:blip r:embed="rId2"/>
          <a:stretch>
            <a:fillRect/>
          </a:stretch>
        </p:blipFill>
        <p:spPr>
          <a:xfrm>
            <a:off x="2851355" y="2653342"/>
            <a:ext cx="6489290" cy="3116826"/>
          </a:xfrm>
          <a:prstGeom prst="rect">
            <a:avLst/>
          </a:prstGeom>
        </p:spPr>
      </p:pic>
    </p:spTree>
    <p:extLst>
      <p:ext uri="{BB962C8B-B14F-4D97-AF65-F5344CB8AC3E}">
        <p14:creationId xmlns:p14="http://schemas.microsoft.com/office/powerpoint/2010/main" val="33799831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Network(7/9)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Isolating Using CIDR Notation :</a:t>
            </a:r>
            <a:endParaRPr lang="en-US" altLang="ko-KR" sz="1400" dirty="0"/>
          </a:p>
          <a:p>
            <a:pPr lvl="1">
              <a:buFont typeface="Wingdings" panose="05000000000000000000" pitchFamily="2" charset="2"/>
              <a:buChar char="§"/>
            </a:pPr>
            <a:r>
              <a:rPr lang="en-US" altLang="ko-KR" sz="1400" b="1" dirty="0"/>
              <a:t>Instead of specifying a pod- or namespace selector to define who can access the pods targeted in the </a:t>
            </a:r>
            <a:r>
              <a:rPr lang="en-US" altLang="ko-KR" sz="1400" b="1" dirty="0" err="1"/>
              <a:t>NetworkPolicy</a:t>
            </a:r>
            <a:r>
              <a:rPr lang="en-US" altLang="ko-KR" sz="1400" b="1" dirty="0"/>
              <a:t>, you can also specify an IP block in CIDR notation</a:t>
            </a:r>
            <a:r>
              <a:rPr lang="en-US" altLang="ko-KR" sz="1400" dirty="0"/>
              <a:t>. For example, to allow the shopping-cart pods from the previous section to only be </a:t>
            </a:r>
            <a:r>
              <a:rPr lang="en-US" altLang="ko-KR" sz="1400" b="1" dirty="0"/>
              <a:t>accessible from IPs in the “192.168.1.1” to “192.168.1.255” range</a:t>
            </a:r>
            <a:r>
              <a:rPr lang="en-US" altLang="ko-KR" sz="1400" dirty="0"/>
              <a:t>, you’d specify the </a:t>
            </a:r>
            <a:r>
              <a:rPr lang="en-US" altLang="ko-KR" sz="1400" b="1" dirty="0">
                <a:solidFill>
                  <a:srgbClr val="FF0000"/>
                </a:solidFill>
              </a:rPr>
              <a:t>ingress rule </a:t>
            </a:r>
            <a:r>
              <a:rPr lang="en-US" altLang="ko-KR" sz="1400" dirty="0"/>
              <a:t>in the next listing.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68D578B8-C8E8-60FC-7EED-056AC34BD9BE}"/>
              </a:ext>
            </a:extLst>
          </p:cNvPr>
          <p:cNvGrpSpPr/>
          <p:nvPr/>
        </p:nvGrpSpPr>
        <p:grpSpPr>
          <a:xfrm>
            <a:off x="838200" y="2007952"/>
            <a:ext cx="10515600" cy="4301714"/>
            <a:chOff x="838200" y="2007952"/>
            <a:chExt cx="10515600" cy="4301714"/>
          </a:xfrm>
        </p:grpSpPr>
        <p:grpSp>
          <p:nvGrpSpPr>
            <p:cNvPr id="14" name="그룹 13">
              <a:extLst>
                <a:ext uri="{FF2B5EF4-FFF2-40B4-BE49-F238E27FC236}">
                  <a16:creationId xmlns:a16="http://schemas.microsoft.com/office/drawing/2014/main" id="{2152E204-EAE6-89D2-A781-EBCB02069CBD}"/>
                </a:ext>
              </a:extLst>
            </p:cNvPr>
            <p:cNvGrpSpPr/>
            <p:nvPr/>
          </p:nvGrpSpPr>
          <p:grpSpPr>
            <a:xfrm>
              <a:off x="838200" y="2007952"/>
              <a:ext cx="10515600" cy="4301714"/>
              <a:chOff x="838200" y="2054636"/>
              <a:chExt cx="10515600" cy="4301714"/>
            </a:xfrm>
          </p:grpSpPr>
          <p:grpSp>
            <p:nvGrpSpPr>
              <p:cNvPr id="10" name="그룹 9">
                <a:extLst>
                  <a:ext uri="{FF2B5EF4-FFF2-40B4-BE49-F238E27FC236}">
                    <a16:creationId xmlns:a16="http://schemas.microsoft.com/office/drawing/2014/main" id="{4CA7AB33-0EE1-1FE9-853E-F9DCB2DE0E8C}"/>
                  </a:ext>
                </a:extLst>
              </p:cNvPr>
              <p:cNvGrpSpPr/>
              <p:nvPr/>
            </p:nvGrpSpPr>
            <p:grpSpPr>
              <a:xfrm>
                <a:off x="3047326" y="2054636"/>
                <a:ext cx="6097348" cy="1938992"/>
                <a:chOff x="3047326" y="2054636"/>
                <a:chExt cx="6097348" cy="1938992"/>
              </a:xfrm>
            </p:grpSpPr>
            <p:sp>
              <p:nvSpPr>
                <p:cNvPr id="8" name="TextBox 7">
                  <a:extLst>
                    <a:ext uri="{FF2B5EF4-FFF2-40B4-BE49-F238E27FC236}">
                      <a16:creationId xmlns:a16="http://schemas.microsoft.com/office/drawing/2014/main" id="{03B8E6F6-B71D-6EED-C6CA-DE966488ABF0}"/>
                    </a:ext>
                  </a:extLst>
                </p:cNvPr>
                <p:cNvSpPr txBox="1"/>
                <p:nvPr/>
              </p:nvSpPr>
              <p:spPr>
                <a:xfrm>
                  <a:off x="3047326" y="2054636"/>
                  <a:ext cx="6097348" cy="1938992"/>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a:t>
                  </a:r>
                  <a:r>
                    <a:rPr lang="en-US" altLang="ko-KR" sz="1000" b="1" dirty="0" err="1">
                      <a:solidFill>
                        <a:srgbClr val="FF0000"/>
                      </a:solidFill>
                    </a:rPr>
                    <a:t>NetworkPolicy</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err="1">
                      <a:solidFill>
                        <a:srgbClr val="FF0000"/>
                      </a:solidFill>
                    </a:rPr>
                    <a:t>ipblock-netpolicy</a:t>
                  </a:r>
                  <a:endParaRPr lang="en-US" altLang="ko-KR" sz="1000" b="1" dirty="0">
                    <a:solidFill>
                      <a:srgbClr val="FF0000"/>
                    </a:solidFill>
                  </a:endParaRPr>
                </a:p>
                <a:p>
                  <a:r>
                    <a:rPr lang="en-US" altLang="ko-KR" sz="1000" b="1" dirty="0"/>
                    <a:t>spec:</a:t>
                  </a:r>
                </a:p>
                <a:p>
                  <a:r>
                    <a:rPr lang="en-US" altLang="ko-KR" sz="1000" b="1" dirty="0"/>
                    <a:t>  </a:t>
                  </a:r>
                  <a:r>
                    <a:rPr lang="en-US" altLang="ko-KR" sz="1000" b="1" dirty="0" err="1"/>
                    <a:t>podSelector</a:t>
                  </a:r>
                  <a:r>
                    <a:rPr lang="en-US" altLang="ko-KR" sz="1000" b="1" dirty="0"/>
                    <a:t>:</a:t>
                  </a:r>
                </a:p>
                <a:p>
                  <a:r>
                    <a:rPr lang="en-US" altLang="ko-KR" sz="1000" b="1" dirty="0"/>
                    <a:t>    </a:t>
                  </a:r>
                  <a:r>
                    <a:rPr lang="en-US" altLang="ko-KR" sz="1000" b="1" dirty="0" err="1"/>
                    <a:t>matchLabels</a:t>
                  </a:r>
                  <a:r>
                    <a:rPr lang="en-US" altLang="ko-KR" sz="1000" b="1" dirty="0"/>
                    <a:t>:</a:t>
                  </a:r>
                </a:p>
                <a:p>
                  <a:r>
                    <a:rPr lang="en-US" altLang="ko-KR" sz="1000" b="1" dirty="0"/>
                    <a:t>      app: shopping-cart</a:t>
                  </a:r>
                </a:p>
                <a:p>
                  <a:r>
                    <a:rPr lang="en-US" altLang="ko-KR" sz="1000" b="1" dirty="0"/>
                    <a:t>  ingress:</a:t>
                  </a:r>
                </a:p>
                <a:p>
                  <a:r>
                    <a:rPr lang="en-US" altLang="ko-KR" sz="1000" b="1" dirty="0"/>
                    <a:t>  - from:</a:t>
                  </a:r>
                </a:p>
                <a:p>
                  <a:r>
                    <a:rPr lang="en-US" altLang="ko-KR" sz="1000" b="1" dirty="0">
                      <a:solidFill>
                        <a:srgbClr val="FF0000"/>
                      </a:solidFill>
                    </a:rPr>
                    <a:t>    - </a:t>
                  </a:r>
                  <a:r>
                    <a:rPr lang="en-US" altLang="ko-KR" sz="1000" b="1" dirty="0" err="1">
                      <a:solidFill>
                        <a:srgbClr val="FF0000"/>
                      </a:solidFill>
                    </a:rPr>
                    <a:t>ipBlock</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cidr</a:t>
                  </a:r>
                  <a:r>
                    <a:rPr lang="en-US" altLang="ko-KR" sz="1000" b="1" dirty="0">
                      <a:solidFill>
                        <a:srgbClr val="FF0000"/>
                      </a:solidFill>
                    </a:rPr>
                    <a:t>: 192.168.1.0/24</a:t>
                  </a:r>
                  <a:endParaRPr lang="ko-KR" altLang="en-US" sz="1000" b="1" dirty="0">
                    <a:solidFill>
                      <a:srgbClr val="FF0000"/>
                    </a:solidFill>
                  </a:endParaRPr>
                </a:p>
              </p:txBody>
            </p:sp>
            <p:sp>
              <p:nvSpPr>
                <p:cNvPr id="9" name="TextBox 8">
                  <a:extLst>
                    <a:ext uri="{FF2B5EF4-FFF2-40B4-BE49-F238E27FC236}">
                      <a16:creationId xmlns:a16="http://schemas.microsoft.com/office/drawing/2014/main" id="{46BD0D6D-D3E6-A1CE-0A94-182546385D23}"/>
                    </a:ext>
                  </a:extLst>
                </p:cNvPr>
                <p:cNvSpPr txBox="1"/>
                <p:nvPr/>
              </p:nvSpPr>
              <p:spPr>
                <a:xfrm>
                  <a:off x="7437155" y="2054636"/>
                  <a:ext cx="1707519" cy="246221"/>
                </a:xfrm>
                <a:prstGeom prst="rect">
                  <a:avLst/>
                </a:prstGeom>
                <a:noFill/>
              </p:spPr>
              <p:txBody>
                <a:bodyPr wrap="none" rtlCol="0">
                  <a:spAutoFit/>
                </a:bodyPr>
                <a:lstStyle/>
                <a:p>
                  <a:pPr algn="l"/>
                  <a:r>
                    <a:rPr lang="en-US" altLang="ko-KR" sz="1000" b="1" dirty="0"/>
                    <a:t>network-policy-</a:t>
                  </a:r>
                  <a:r>
                    <a:rPr lang="en-US" altLang="ko-KR" sz="1000" b="1" dirty="0" err="1"/>
                    <a:t>cidr.yaml</a:t>
                  </a:r>
                  <a:endParaRPr lang="ko-KR" altLang="en-US" sz="1000" b="1" dirty="0"/>
                </a:p>
              </p:txBody>
            </p:sp>
          </p:grpSp>
          <p:sp>
            <p:nvSpPr>
              <p:cNvPr id="11" name="화살표: 아래쪽 10">
                <a:extLst>
                  <a:ext uri="{FF2B5EF4-FFF2-40B4-BE49-F238E27FC236}">
                    <a16:creationId xmlns:a16="http://schemas.microsoft.com/office/drawing/2014/main" id="{3CA9C2B2-C709-5426-BA10-2F0C5AC7C098}"/>
                  </a:ext>
                </a:extLst>
              </p:cNvPr>
              <p:cNvSpPr/>
              <p:nvPr/>
            </p:nvSpPr>
            <p:spPr>
              <a:xfrm>
                <a:off x="5861331" y="4016124"/>
                <a:ext cx="469338" cy="356049"/>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3" name="그림 12">
                <a:extLst>
                  <a:ext uri="{FF2B5EF4-FFF2-40B4-BE49-F238E27FC236}">
                    <a16:creationId xmlns:a16="http://schemas.microsoft.com/office/drawing/2014/main" id="{88EC2A0D-733C-9F37-097F-7E5F01786070}"/>
                  </a:ext>
                </a:extLst>
              </p:cNvPr>
              <p:cNvPicPr>
                <a:picLocks noChangeAspect="1"/>
              </p:cNvPicPr>
              <p:nvPr/>
            </p:nvPicPr>
            <p:blipFill>
              <a:blip r:embed="rId2"/>
              <a:stretch>
                <a:fillRect/>
              </a:stretch>
            </p:blipFill>
            <p:spPr>
              <a:xfrm>
                <a:off x="838200" y="4367149"/>
                <a:ext cx="10515600" cy="1989201"/>
              </a:xfrm>
              <a:prstGeom prst="rect">
                <a:avLst/>
              </a:prstGeom>
            </p:spPr>
          </p:pic>
        </p:grpSp>
        <p:sp>
          <p:nvSpPr>
            <p:cNvPr id="15" name="직사각형 14">
              <a:extLst>
                <a:ext uri="{FF2B5EF4-FFF2-40B4-BE49-F238E27FC236}">
                  <a16:creationId xmlns:a16="http://schemas.microsoft.com/office/drawing/2014/main" id="{0D9E11AE-58C6-6824-A9DB-0F1BFFBA37C6}"/>
                </a:ext>
              </a:extLst>
            </p:cNvPr>
            <p:cNvSpPr/>
            <p:nvPr/>
          </p:nvSpPr>
          <p:spPr>
            <a:xfrm>
              <a:off x="946768" y="5567320"/>
              <a:ext cx="3479575" cy="1699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639780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Network(8/9)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the Outbound Traffic of a Set of Pods :</a:t>
            </a:r>
            <a:endParaRPr lang="en-US" altLang="ko-KR" sz="1400" dirty="0"/>
          </a:p>
          <a:p>
            <a:pPr lvl="1">
              <a:buFont typeface="Wingdings" panose="05000000000000000000" pitchFamily="2" charset="2"/>
              <a:buChar char="§"/>
            </a:pPr>
            <a:r>
              <a:rPr lang="en-US" altLang="ko-KR" sz="1400" b="1" dirty="0"/>
              <a:t>You can also limit their outbound traffic through </a:t>
            </a:r>
            <a:r>
              <a:rPr lang="en-US" altLang="ko-KR" sz="1400" b="1" dirty="0">
                <a:solidFill>
                  <a:srgbClr val="FF0000"/>
                </a:solidFill>
              </a:rPr>
              <a:t>egress rules</a:t>
            </a:r>
            <a:r>
              <a:rPr lang="en-US" altLang="ko-KR" sz="1400" dirty="0"/>
              <a:t>. An example is shown in the next listing. </a:t>
            </a:r>
            <a:r>
              <a:rPr lang="en-US" altLang="ko-KR" sz="1400" b="1" dirty="0"/>
              <a:t>The </a:t>
            </a:r>
            <a:r>
              <a:rPr lang="en-US" altLang="ko-KR" sz="1400" b="1" dirty="0" err="1"/>
              <a:t>NetworkPolicy</a:t>
            </a:r>
            <a:r>
              <a:rPr lang="en-US" altLang="ko-KR" sz="1400" b="1" dirty="0"/>
              <a:t> in the following listing allows pods that have the “app=webserver” label to only access pods that have the app=database label and nothing else </a:t>
            </a:r>
            <a:r>
              <a:rPr lang="en-US" altLang="ko-KR" sz="1400" dirty="0"/>
              <a:t>(neither other pods, nor any other IP, regardless of whether it’s internal or external to the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6747929-2735-708A-F4F0-39099E07606B}"/>
              </a:ext>
            </a:extLst>
          </p:cNvPr>
          <p:cNvGrpSpPr/>
          <p:nvPr/>
        </p:nvGrpSpPr>
        <p:grpSpPr>
          <a:xfrm>
            <a:off x="3047326" y="2228671"/>
            <a:ext cx="6097348" cy="2400657"/>
            <a:chOff x="3047326" y="2108477"/>
            <a:chExt cx="6097348" cy="2400657"/>
          </a:xfrm>
        </p:grpSpPr>
        <p:sp>
          <p:nvSpPr>
            <p:cNvPr id="8" name="TextBox 7">
              <a:extLst>
                <a:ext uri="{FF2B5EF4-FFF2-40B4-BE49-F238E27FC236}">
                  <a16:creationId xmlns:a16="http://schemas.microsoft.com/office/drawing/2014/main" id="{83FDEA5A-D0FB-75AB-512B-FB76DA3A68EA}"/>
                </a:ext>
              </a:extLst>
            </p:cNvPr>
            <p:cNvSpPr txBox="1"/>
            <p:nvPr/>
          </p:nvSpPr>
          <p:spPr>
            <a:xfrm>
              <a:off x="3047326" y="2108477"/>
              <a:ext cx="6097348" cy="2400657"/>
            </a:xfrm>
            <a:prstGeom prst="rect">
              <a:avLst/>
            </a:prstGeom>
            <a:noFill/>
            <a:ln>
              <a:solidFill>
                <a:schemeClr val="bg1">
                  <a:lumMod val="50000"/>
                </a:schemeClr>
              </a:solidFill>
            </a:ln>
          </p:spPr>
          <p:txBody>
            <a:bodyPr wrap="square">
              <a:spAutoFit/>
            </a:bodyPr>
            <a:lstStyle/>
            <a:p>
              <a:r>
                <a:rPr lang="en-US" altLang="ko-KR" sz="1000" b="1" dirty="0" err="1"/>
                <a:t>apiVersion</a:t>
              </a:r>
              <a:r>
                <a:rPr lang="en-US" altLang="ko-KR" sz="1000" b="1" dirty="0"/>
                <a:t>: networking.k8s.io/v1</a:t>
              </a:r>
            </a:p>
            <a:p>
              <a:r>
                <a:rPr lang="en-US" altLang="ko-KR" sz="1000" b="1" dirty="0"/>
                <a:t>kind: </a:t>
              </a:r>
              <a:r>
                <a:rPr lang="en-US" altLang="ko-KR" sz="1000" b="1" dirty="0" err="1">
                  <a:solidFill>
                    <a:srgbClr val="FF0000"/>
                  </a:solidFill>
                </a:rPr>
                <a:t>NetworkPolicy</a:t>
              </a:r>
              <a:endParaRPr lang="en-US" altLang="ko-KR" sz="1000" b="1" dirty="0">
                <a:solidFill>
                  <a:srgbClr val="FF0000"/>
                </a:solidFill>
              </a:endParaRPr>
            </a:p>
            <a:p>
              <a:r>
                <a:rPr lang="en-US" altLang="ko-KR" sz="1000" b="1" dirty="0"/>
                <a:t>metadata:</a:t>
              </a:r>
            </a:p>
            <a:p>
              <a:r>
                <a:rPr lang="en-US" altLang="ko-KR" sz="1000" b="1" dirty="0"/>
                <a:t>  name: </a:t>
              </a:r>
              <a:r>
                <a:rPr lang="en-US" altLang="ko-KR" sz="1000" b="1" dirty="0">
                  <a:solidFill>
                    <a:srgbClr val="FF0000"/>
                  </a:solidFill>
                </a:rPr>
                <a:t>egress-net-policy</a:t>
              </a:r>
            </a:p>
            <a:p>
              <a:r>
                <a:rPr lang="en-US" altLang="ko-KR" sz="1000" b="1" dirty="0"/>
                <a:t>spec:</a:t>
              </a:r>
            </a:p>
            <a:p>
              <a:r>
                <a:rPr lang="en-US" altLang="ko-KR" sz="1000" b="1" dirty="0"/>
                <a:t>  </a:t>
              </a:r>
              <a:r>
                <a:rPr lang="en-US" altLang="ko-KR" sz="1000" b="1" dirty="0" err="1"/>
                <a:t>podSelector</a:t>
              </a:r>
              <a:r>
                <a:rPr lang="en-US" altLang="ko-KR" sz="1000" b="1" dirty="0"/>
                <a:t>:</a:t>
              </a:r>
            </a:p>
            <a:p>
              <a:r>
                <a:rPr lang="en-US" altLang="ko-KR" sz="1000" b="1" dirty="0"/>
                <a:t>    </a:t>
              </a:r>
              <a:r>
                <a:rPr lang="en-US" altLang="ko-KR" sz="1000" b="1" dirty="0" err="1"/>
                <a:t>matchLabels</a:t>
              </a:r>
              <a:r>
                <a:rPr lang="en-US" altLang="ko-KR" sz="1000" b="1" dirty="0"/>
                <a:t>:</a:t>
              </a:r>
            </a:p>
            <a:p>
              <a:r>
                <a:rPr lang="en-US" altLang="ko-KR" sz="1000" b="1" dirty="0"/>
                <a:t>      app: webserver</a:t>
              </a:r>
            </a:p>
            <a:p>
              <a:r>
                <a:rPr lang="en-US" altLang="ko-KR" sz="1000" b="1" dirty="0"/>
                <a:t>  </a:t>
              </a:r>
              <a:r>
                <a:rPr lang="en-US" altLang="ko-KR" sz="1000" b="1" dirty="0">
                  <a:solidFill>
                    <a:srgbClr val="FF0000"/>
                  </a:solidFill>
                </a:rPr>
                <a:t>egress:</a:t>
              </a:r>
            </a:p>
            <a:p>
              <a:r>
                <a:rPr lang="en-US" altLang="ko-KR" sz="1000" b="1" dirty="0">
                  <a:solidFill>
                    <a:srgbClr val="FF0000"/>
                  </a:solidFill>
                </a:rPr>
                <a:t>  - to:</a:t>
              </a:r>
            </a:p>
            <a:p>
              <a:r>
                <a:rPr lang="en-US" altLang="ko-KR" sz="1000" b="1" dirty="0">
                  <a:solidFill>
                    <a:srgbClr val="FF0000"/>
                  </a:solidFill>
                </a:rPr>
                <a:t>    - </a:t>
              </a:r>
              <a:r>
                <a:rPr lang="en-US" altLang="ko-KR" sz="1000" b="1" dirty="0" err="1">
                  <a:solidFill>
                    <a:srgbClr val="FF0000"/>
                  </a:solidFill>
                </a:rPr>
                <a:t>podSelector</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matchLabels</a:t>
              </a:r>
              <a:r>
                <a:rPr lang="en-US" altLang="ko-KR" sz="1000" b="1" dirty="0">
                  <a:solidFill>
                    <a:srgbClr val="FF0000"/>
                  </a:solidFill>
                </a:rPr>
                <a:t>:</a:t>
              </a:r>
            </a:p>
            <a:p>
              <a:r>
                <a:rPr lang="en-US" altLang="ko-KR" sz="1000" b="1" dirty="0">
                  <a:solidFill>
                    <a:srgbClr val="FF0000"/>
                  </a:solidFill>
                </a:rPr>
                <a:t>          app: database</a:t>
              </a:r>
            </a:p>
            <a:p>
              <a:r>
                <a:rPr lang="en-US" altLang="ko-KR" sz="1000" b="1" dirty="0">
                  <a:solidFill>
                    <a:srgbClr val="FF0000"/>
                  </a:solidFill>
                </a:rPr>
                <a:t>    ports:</a:t>
              </a:r>
            </a:p>
            <a:p>
              <a:r>
                <a:rPr lang="en-US" altLang="ko-KR" sz="1000" b="1" dirty="0">
                  <a:solidFill>
                    <a:srgbClr val="FF0000"/>
                  </a:solidFill>
                </a:rPr>
                <a:t>    - port: 5432</a:t>
              </a:r>
            </a:p>
          </p:txBody>
        </p:sp>
        <p:sp>
          <p:nvSpPr>
            <p:cNvPr id="9" name="TextBox 8">
              <a:extLst>
                <a:ext uri="{FF2B5EF4-FFF2-40B4-BE49-F238E27FC236}">
                  <a16:creationId xmlns:a16="http://schemas.microsoft.com/office/drawing/2014/main" id="{FEE27625-CAAE-83F1-7FEC-FB73B80C4B0F}"/>
                </a:ext>
              </a:extLst>
            </p:cNvPr>
            <p:cNvSpPr txBox="1"/>
            <p:nvPr/>
          </p:nvSpPr>
          <p:spPr>
            <a:xfrm>
              <a:off x="7275251" y="2108477"/>
              <a:ext cx="1869423" cy="246221"/>
            </a:xfrm>
            <a:prstGeom prst="rect">
              <a:avLst/>
            </a:prstGeom>
            <a:noFill/>
          </p:spPr>
          <p:txBody>
            <a:bodyPr wrap="none" rtlCol="0">
              <a:spAutoFit/>
            </a:bodyPr>
            <a:lstStyle/>
            <a:p>
              <a:pPr algn="l"/>
              <a:r>
                <a:rPr lang="en-US" altLang="ko-KR" sz="1000" b="1" dirty="0"/>
                <a:t>network-policy-</a:t>
              </a:r>
              <a:r>
                <a:rPr lang="en-US" altLang="ko-KR" sz="1000" b="1" dirty="0" err="1"/>
                <a:t>egress.yaml</a:t>
              </a:r>
              <a:endParaRPr lang="ko-KR" altLang="en-US" sz="1000" b="1" dirty="0"/>
            </a:p>
          </p:txBody>
        </p:sp>
      </p:grpSp>
    </p:spTree>
    <p:extLst>
      <p:ext uri="{BB962C8B-B14F-4D97-AF65-F5344CB8AC3E}">
        <p14:creationId xmlns:p14="http://schemas.microsoft.com/office/powerpoint/2010/main" val="10509705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Isolating the Pod Network(9/9)</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Limiting the Outbound Traffic of a Set of Pods :</a:t>
            </a:r>
            <a:endParaRPr lang="en-US" altLang="ko-KR" sz="1400" dirty="0"/>
          </a:p>
          <a:p>
            <a:pPr lvl="1">
              <a:buFont typeface="Wingdings" panose="05000000000000000000" pitchFamily="2" charset="2"/>
              <a:buChar char="§"/>
            </a:pPr>
            <a:r>
              <a:rPr lang="en-US" altLang="ko-KR" sz="1400" b="1" dirty="0"/>
              <a:t>The </a:t>
            </a:r>
            <a:r>
              <a:rPr lang="en-US" altLang="ko-KR" sz="1400" b="1" dirty="0" err="1"/>
              <a:t>NetworkPolicy</a:t>
            </a:r>
            <a:r>
              <a:rPr lang="en-US" altLang="ko-KR" sz="1400" b="1" dirty="0"/>
              <a:t> in the previous listing allows pods that have the “app=webserver” label to </a:t>
            </a:r>
            <a:r>
              <a:rPr lang="en-US" altLang="ko-KR" sz="1400" b="1" dirty="0">
                <a:solidFill>
                  <a:srgbClr val="FF0000"/>
                </a:solidFill>
              </a:rPr>
              <a:t>only access</a:t>
            </a:r>
            <a:r>
              <a:rPr lang="en-US" altLang="ko-KR" sz="1400" b="1" dirty="0"/>
              <a:t> pods that have the “app=database” label and nothing els</a:t>
            </a:r>
            <a:r>
              <a:rPr lang="en-US" altLang="ko-KR" sz="1400" dirty="0"/>
              <a:t>e (neither other pods, nor any other IP, regardless of whether it’s internal or external to the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4C3E79B1-8950-6A09-9E0E-6363176F03DF}"/>
              </a:ext>
            </a:extLst>
          </p:cNvPr>
          <p:cNvGrpSpPr/>
          <p:nvPr/>
        </p:nvGrpSpPr>
        <p:grpSpPr>
          <a:xfrm>
            <a:off x="838200" y="2074009"/>
            <a:ext cx="10515600" cy="2208276"/>
            <a:chOff x="838200" y="2074009"/>
            <a:chExt cx="10515600" cy="2208276"/>
          </a:xfrm>
        </p:grpSpPr>
        <p:pic>
          <p:nvPicPr>
            <p:cNvPr id="8" name="그림 7">
              <a:extLst>
                <a:ext uri="{FF2B5EF4-FFF2-40B4-BE49-F238E27FC236}">
                  <a16:creationId xmlns:a16="http://schemas.microsoft.com/office/drawing/2014/main" id="{9FB15FF1-A935-CD8F-8FDC-739404567644}"/>
                </a:ext>
              </a:extLst>
            </p:cNvPr>
            <p:cNvPicPr>
              <a:picLocks noChangeAspect="1"/>
            </p:cNvPicPr>
            <p:nvPr/>
          </p:nvPicPr>
          <p:blipFill>
            <a:blip r:embed="rId2"/>
            <a:stretch>
              <a:fillRect/>
            </a:stretch>
          </p:blipFill>
          <p:spPr>
            <a:xfrm>
              <a:off x="838200" y="2074009"/>
              <a:ext cx="10515600" cy="2208276"/>
            </a:xfrm>
            <a:prstGeom prst="rect">
              <a:avLst/>
            </a:prstGeom>
          </p:spPr>
        </p:pic>
        <p:sp>
          <p:nvSpPr>
            <p:cNvPr id="9" name="직사각형 8">
              <a:extLst>
                <a:ext uri="{FF2B5EF4-FFF2-40B4-BE49-F238E27FC236}">
                  <a16:creationId xmlns:a16="http://schemas.microsoft.com/office/drawing/2014/main" id="{D33EB0DD-6462-7270-669B-ABAC5CD80A6B}"/>
                </a:ext>
              </a:extLst>
            </p:cNvPr>
            <p:cNvSpPr/>
            <p:nvPr/>
          </p:nvSpPr>
          <p:spPr>
            <a:xfrm>
              <a:off x="5267915" y="2532807"/>
              <a:ext cx="3220630" cy="2346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F74A0D7-353B-9083-4C2D-73DAB58FDED6}"/>
                </a:ext>
              </a:extLst>
            </p:cNvPr>
            <p:cNvSpPr/>
            <p:nvPr/>
          </p:nvSpPr>
          <p:spPr>
            <a:xfrm>
              <a:off x="954860" y="3317735"/>
              <a:ext cx="3568588" cy="1618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4363308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5"/>
          </a:xfrm>
        </p:spPr>
        <p:txBody>
          <a:bodyPr>
            <a:normAutofit/>
          </a:bodyPr>
          <a:lstStyle/>
          <a:p>
            <a:pPr marL="0" indent="0">
              <a:buNone/>
            </a:pPr>
            <a:r>
              <a:rPr lang="en-US" altLang="ko-KR" sz="1400" b="1" dirty="0"/>
              <a:t>[1] Kubernetes in Action, Marko </a:t>
            </a:r>
            <a:r>
              <a:rPr lang="en-US" altLang="ko-KR" sz="1400" b="1" dirty="0" err="1"/>
              <a:t>Luksa</a:t>
            </a:r>
            <a:r>
              <a:rPr lang="en-US" altLang="ko-KR" sz="1400" b="1" dirty="0"/>
              <a:t>, Manning, 2018 1</a:t>
            </a:r>
            <a:r>
              <a:rPr lang="en-US" altLang="ko-KR" sz="1400" b="1" baseline="30000" dirty="0"/>
              <a:t>st</a:t>
            </a:r>
            <a:r>
              <a:rPr lang="en-US" altLang="ko-KR" sz="1400" b="1" dirty="0"/>
              <a:t> Edition.</a:t>
            </a:r>
          </a:p>
          <a:p>
            <a:pPr marL="0" indent="0">
              <a:buNone/>
            </a:pPr>
            <a:r>
              <a:rPr lang="en-US" altLang="ko-KR" sz="1400" b="1" dirty="0"/>
              <a:t>[2] </a:t>
            </a:r>
            <a:r>
              <a:rPr lang="en-US" altLang="ko-KR" sz="1400" b="1" dirty="0">
                <a:hlinkClick r:id="rId2"/>
              </a:rPr>
              <a:t>https://github.com/luksa/kubernetes-in-action</a:t>
            </a:r>
            <a:r>
              <a:rPr lang="en-US" altLang="ko-KR" sz="1400" b="1" dirty="0"/>
              <a:t> </a:t>
            </a:r>
          </a:p>
          <a:p>
            <a:pPr marL="0" indent="0">
              <a:buNone/>
            </a:pPr>
            <a:r>
              <a:rPr lang="en-US" altLang="ko-KR" sz="1400" b="1" dirty="0"/>
              <a:t>[3] </a:t>
            </a:r>
            <a:r>
              <a:rPr lang="en-US" altLang="ko-KR" sz="1400" b="1" dirty="0">
                <a:hlinkClick r:id="rId3"/>
              </a:rPr>
              <a:t>https://minikube.sigs.k8s.io/docs/</a:t>
            </a:r>
            <a:endParaRPr lang="en-US" altLang="ko-KR" sz="1400" b="1" dirty="0"/>
          </a:p>
          <a:p>
            <a:pPr marL="0" indent="0">
              <a:buNone/>
            </a:pPr>
            <a:r>
              <a:rPr lang="en-US" altLang="ko-KR" sz="1400" b="1" dirty="0"/>
              <a:t>[4] </a:t>
            </a:r>
            <a:r>
              <a:rPr lang="en-US" altLang="ko-KR" sz="1400" b="1" dirty="0">
                <a:hlinkClick r:id="rId4"/>
              </a:rPr>
              <a:t>https://kubernetes.io/docs/reference/kubectl/cheatsheet/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7" name="그림 6">
            <a:extLst>
              <a:ext uri="{FF2B5EF4-FFF2-40B4-BE49-F238E27FC236}">
                <a16:creationId xmlns:a16="http://schemas.microsoft.com/office/drawing/2014/main" id="{39B4C587-7A61-0C5F-2D7E-626350542CA5}"/>
              </a:ext>
            </a:extLst>
          </p:cNvPr>
          <p:cNvPicPr>
            <a:picLocks noChangeAspect="1"/>
          </p:cNvPicPr>
          <p:nvPr/>
        </p:nvPicPr>
        <p:blipFill>
          <a:blip r:embed="rId5"/>
          <a:stretch>
            <a:fillRect/>
          </a:stretch>
        </p:blipFill>
        <p:spPr>
          <a:xfrm>
            <a:off x="4990542" y="3590159"/>
            <a:ext cx="2210915" cy="2761230"/>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112441</TotalTime>
  <Words>13725</Words>
  <Application>Microsoft Office PowerPoint</Application>
  <PresentationFormat>와이드스크린</PresentationFormat>
  <Paragraphs>1420</Paragraphs>
  <Slides>103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103</vt:i4>
      </vt:variant>
    </vt:vector>
  </HeadingPairs>
  <TitlesOfParts>
    <vt:vector size="107" baseType="lpstr">
      <vt:lpstr>맑은 고딕</vt:lpstr>
      <vt:lpstr>Arial</vt:lpstr>
      <vt:lpstr>Wingdings</vt:lpstr>
      <vt:lpstr>Office 테마</vt:lpstr>
      <vt:lpstr>Kubernetes in Action</vt:lpstr>
      <vt:lpstr>Securing The API Server</vt:lpstr>
      <vt:lpstr>Understanding Authentication(1/12)</vt:lpstr>
      <vt:lpstr>Understanding Authentication(2/12)</vt:lpstr>
      <vt:lpstr>Understanding Authentication(3/12)</vt:lpstr>
      <vt:lpstr>Understanding Authentication(4/12)</vt:lpstr>
      <vt:lpstr>Understanding Authentication(5/12)</vt:lpstr>
      <vt:lpstr>Understanding Authentication(6/12)</vt:lpstr>
      <vt:lpstr>Understanding Authentication(7/12)</vt:lpstr>
      <vt:lpstr>Understanding Authentication(8/12)</vt:lpstr>
      <vt:lpstr>Understanding Authentication(9/12)</vt:lpstr>
      <vt:lpstr>Understanding Authentication(10/12)</vt:lpstr>
      <vt:lpstr>Understanding Authentication(11/12)</vt:lpstr>
      <vt:lpstr>Understanding Authentication(12/12)</vt:lpstr>
      <vt:lpstr>Securing the Cluster with Role-Based Access Control(RBAC)(1/46)</vt:lpstr>
      <vt:lpstr>Securing the Cluster with Role-Based Access Control(RBAC)(2/46)</vt:lpstr>
      <vt:lpstr>Securing the Cluster with Role-Based Access Control(RBAC)(3/46)</vt:lpstr>
      <vt:lpstr>Securing the Cluster with Role-Based Access Control(RBAC)(4/46)</vt:lpstr>
      <vt:lpstr>Securing the Cluster with Role-Based Access Control(RBAC)(5/46)</vt:lpstr>
      <vt:lpstr>Securing the Cluster with Role-Based Access Control(RBAC)(6/46)</vt:lpstr>
      <vt:lpstr>Securing the Cluster with Role-Based Access Control(RBAC)(7/46)</vt:lpstr>
      <vt:lpstr>Securing the Cluster with Role-Based Access Control(RBAC)(8/46)</vt:lpstr>
      <vt:lpstr>Securing the Cluster with Role-Based Access Control(RBAC)(9/46)</vt:lpstr>
      <vt:lpstr>Securing the Cluster with Role-Based Access Control(RBAC)(10/46)</vt:lpstr>
      <vt:lpstr>Securing the Cluster with Role-Based Access Control(RBAC)(11/46)</vt:lpstr>
      <vt:lpstr>Securing the Cluster with Role-Based Access Control(RBAC)(12/46)</vt:lpstr>
      <vt:lpstr>Securing the Cluster with Role-Based Access Control(RBAC)(13/46)</vt:lpstr>
      <vt:lpstr>Securing the Cluster with Role-Based Access Control(RBAC)(14/46)</vt:lpstr>
      <vt:lpstr>Securing the Cluster with Role-Based Access Control(RBAC)(15/46)</vt:lpstr>
      <vt:lpstr>Securing the Cluster with Role-Based Access Control(RBAC)(16/46)</vt:lpstr>
      <vt:lpstr>Securing the Cluster with Role-Based Access Control(RBAC)(17/46)</vt:lpstr>
      <vt:lpstr>Securing the Cluster with Role-Based Access Control(RBAC)(18/46)</vt:lpstr>
      <vt:lpstr>Securing the Cluster with Role-Based Access Control(RBAC)(19/46)</vt:lpstr>
      <vt:lpstr>Securing the Cluster with Role-Based Access Control(RBAC)(20/46)</vt:lpstr>
      <vt:lpstr>Securing the Cluster with Role-Based Access Control(RBAC)(21/46)</vt:lpstr>
      <vt:lpstr>Securing the Cluster with Role-Based Access Control(RBAC)(22/46)</vt:lpstr>
      <vt:lpstr>Securing the Cluster with Role-Based Access Control(RBAC)(23/46)</vt:lpstr>
      <vt:lpstr>Securing the Cluster with Role-Based Access Control(RBAC)(24/46)</vt:lpstr>
      <vt:lpstr>Securing the Cluster with Role-Based Access Control(RBAC)(25/46)</vt:lpstr>
      <vt:lpstr>Securing the Cluster with Role-Based Access Control(RBAC)(26/46)</vt:lpstr>
      <vt:lpstr>Securing the Cluster with Role-Based Access Control(RBAC)(27/46)</vt:lpstr>
      <vt:lpstr>Securing the Cluster with Role-Based Access Control(RBAC)(28/46)</vt:lpstr>
      <vt:lpstr>Securing the Cluster with Role-Based Access Control(RBAC)(29/46)</vt:lpstr>
      <vt:lpstr>Securing the Cluster with Role-Based Access Control(RBAC)(30/46)</vt:lpstr>
      <vt:lpstr>Securing the Cluster with Role-Based Access Control(RBAC)(31/46)</vt:lpstr>
      <vt:lpstr>Securing the Cluster with Role-Based Access Control(RBAC)(32/46)</vt:lpstr>
      <vt:lpstr>Securing the Cluster with Role-Based Access Control(RBAC)(33/46)</vt:lpstr>
      <vt:lpstr>Securing the Cluster with Role-Based Access Control(RBAC)(34/46)</vt:lpstr>
      <vt:lpstr>Securing the Cluster with Role-Based Access Control(RBAC)(35/46)</vt:lpstr>
      <vt:lpstr>Securing the Cluster with Role-Based Access Control(RBAC)(36/46)</vt:lpstr>
      <vt:lpstr>Securing the Cluster with Role-Based Access Control(RBAC)(37/46)</vt:lpstr>
      <vt:lpstr>Securing the Cluster with Role-Based Access Control(RBAC)(38/46)</vt:lpstr>
      <vt:lpstr>Securing the Cluster with Role-Based Access Control(RBAC)(39/46)</vt:lpstr>
      <vt:lpstr>Securing the Cluster with Role-Based Access Control(RBAC)(40/46)</vt:lpstr>
      <vt:lpstr>Securing the Cluster with Role-Based Access Control(RBAC)(41/46)</vt:lpstr>
      <vt:lpstr>Securing the Cluster with Role-Based Access Control(RBAC)(42/46)</vt:lpstr>
      <vt:lpstr>Securing the Cluster with Role-Based Access Control(RBAC)(43/46)</vt:lpstr>
      <vt:lpstr>Securing the Cluster with Role-Based Access Control(RBAC)(44/46)</vt:lpstr>
      <vt:lpstr>Securing the Cluster with Role-Based Access Control(RBAC)(45/46)</vt:lpstr>
      <vt:lpstr>Securing the Cluster with Role-Based Access Control(RBAC)(46/46)</vt:lpstr>
      <vt:lpstr>Securing Cluster</vt:lpstr>
      <vt:lpstr>Using the Host Node’s Namespaces in a Pod(1/9)</vt:lpstr>
      <vt:lpstr>Using the Host Node’s Namespaces in a Pod(2/9)</vt:lpstr>
      <vt:lpstr>Using the Host Node’s Namespaces in a Pod(3/9)</vt:lpstr>
      <vt:lpstr>Using the Host Node’s Namespaces in a Pod(4/9)</vt:lpstr>
      <vt:lpstr>Using the Host Node’s Namespaces in a Pod(5/9)</vt:lpstr>
      <vt:lpstr>Using the Host Node’s Namespaces in a Pod(6/9)</vt:lpstr>
      <vt:lpstr>Using the Host Node’s Namespaces in a Pod(7/9)</vt:lpstr>
      <vt:lpstr>NOTE : Using hostPort </vt:lpstr>
      <vt:lpstr>Using the Host Node’s Namespaces in a Pod(8/9)</vt:lpstr>
      <vt:lpstr>Using the Host Node’s Namespaces in a Pod(9/9)</vt:lpstr>
      <vt:lpstr>Configuring the Container’s Security Context(1/19)</vt:lpstr>
      <vt:lpstr>Configuring the Container’s Security Context(2/19)</vt:lpstr>
      <vt:lpstr>Configuring the Container’s Security Context(3/19)</vt:lpstr>
      <vt:lpstr>Configuring the Container’s Security Context(4/19)</vt:lpstr>
      <vt:lpstr>Configuring the Container’s Security Context(5/19)</vt:lpstr>
      <vt:lpstr>NOTE : Checking the Log and Status of a Pod</vt:lpstr>
      <vt:lpstr>Configuring the Container’s Security Context(6/19)</vt:lpstr>
      <vt:lpstr>Configuring the Container’s Security Context(7/19)</vt:lpstr>
      <vt:lpstr>Configuring the Container’s Security Context(8/19)</vt:lpstr>
      <vt:lpstr>Configuring the Container’s Security Context(9/19)</vt:lpstr>
      <vt:lpstr>Configuring the Container’s Security Context(10/19)</vt:lpstr>
      <vt:lpstr>Configuring the Container’s Security Context(11/19)</vt:lpstr>
      <vt:lpstr>Configuring the Container’s Security Context(12/19)</vt:lpstr>
      <vt:lpstr>Configuring the Container’s Security Context(13/19)</vt:lpstr>
      <vt:lpstr>Configuring the Container’s Security Context(14/19)</vt:lpstr>
      <vt:lpstr>NOTE : Running the Pod with Read-Only Filesystem</vt:lpstr>
      <vt:lpstr>Configuring the Container’s Security Context(15/19)</vt:lpstr>
      <vt:lpstr>Configuring the Container’s Security Context(16/19)</vt:lpstr>
      <vt:lpstr>Configuring the Container’s Security Context(17/19)</vt:lpstr>
      <vt:lpstr>Configuring the Container’s Security Context(18/19)</vt:lpstr>
      <vt:lpstr>Configuring the Container’s Security Context(19/19)</vt:lpstr>
      <vt:lpstr>Isolating the Pod Network(1/9)</vt:lpstr>
      <vt:lpstr>Isolating the Pod Network(2/9)</vt:lpstr>
      <vt:lpstr>Isolating the Pod Network(3/9)</vt:lpstr>
      <vt:lpstr>Isolating the Pod Network(4/9)</vt:lpstr>
      <vt:lpstr>Isolating the Pod Network(5/9)</vt:lpstr>
      <vt:lpstr>Isolating the Pod Network(6/9)</vt:lpstr>
      <vt:lpstr>Isolating the Pod Network(7/9)</vt:lpstr>
      <vt:lpstr>Isolating the Pod Network(8/9)</vt:lpstr>
      <vt:lpstr>Isolating the Pod Network(9/9)</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6448</cp:revision>
  <dcterms:created xsi:type="dcterms:W3CDTF">2020-11-26T08:00:10Z</dcterms:created>
  <dcterms:modified xsi:type="dcterms:W3CDTF">2026-08-18T02:43:30Z</dcterms:modified>
</cp:coreProperties>
</file>