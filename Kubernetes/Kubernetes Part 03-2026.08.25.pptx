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13"/>
  </p:notesMasterIdLst>
  <p:sldIdLst>
    <p:sldId id="256" r:id="rId2"/>
    <p:sldId id="776" r:id="rId3"/>
    <p:sldId id="1195" r:id="rId4"/>
    <p:sldId id="1196" r:id="rId5"/>
    <p:sldId id="1197" r:id="rId6"/>
    <p:sldId id="1198" r:id="rId7"/>
    <p:sldId id="1199" r:id="rId8"/>
    <p:sldId id="1200" r:id="rId9"/>
    <p:sldId id="1202" r:id="rId10"/>
    <p:sldId id="1203" r:id="rId11"/>
    <p:sldId id="1204" r:id="rId12"/>
    <p:sldId id="1205" r:id="rId13"/>
    <p:sldId id="1206" r:id="rId14"/>
    <p:sldId id="1207" r:id="rId15"/>
    <p:sldId id="1208" r:id="rId16"/>
    <p:sldId id="1209" r:id="rId17"/>
    <p:sldId id="1211" r:id="rId18"/>
    <p:sldId id="1210" r:id="rId19"/>
    <p:sldId id="1212" r:id="rId20"/>
    <p:sldId id="1213" r:id="rId21"/>
    <p:sldId id="1214" r:id="rId22"/>
    <p:sldId id="1216" r:id="rId23"/>
    <p:sldId id="1215" r:id="rId24"/>
    <p:sldId id="1217" r:id="rId25"/>
    <p:sldId id="1218" r:id="rId26"/>
    <p:sldId id="1219" r:id="rId27"/>
    <p:sldId id="1220" r:id="rId28"/>
    <p:sldId id="1221" r:id="rId29"/>
    <p:sldId id="1222" r:id="rId30"/>
    <p:sldId id="1232" r:id="rId31"/>
    <p:sldId id="1233" r:id="rId32"/>
    <p:sldId id="1234" r:id="rId33"/>
    <p:sldId id="1235" r:id="rId34"/>
    <p:sldId id="1236" r:id="rId35"/>
    <p:sldId id="1237" r:id="rId36"/>
    <p:sldId id="1238" r:id="rId37"/>
    <p:sldId id="1231" r:id="rId38"/>
    <p:sldId id="1223" r:id="rId39"/>
    <p:sldId id="1224" r:id="rId40"/>
    <p:sldId id="1225" r:id="rId41"/>
    <p:sldId id="1226" r:id="rId42"/>
    <p:sldId id="1227" r:id="rId43"/>
    <p:sldId id="1228" r:id="rId44"/>
    <p:sldId id="1266" r:id="rId45"/>
    <p:sldId id="1229" r:id="rId46"/>
    <p:sldId id="1230" r:id="rId47"/>
    <p:sldId id="1239" r:id="rId48"/>
    <p:sldId id="1240" r:id="rId49"/>
    <p:sldId id="1241" r:id="rId50"/>
    <p:sldId id="1242" r:id="rId51"/>
    <p:sldId id="1243" r:id="rId52"/>
    <p:sldId id="1244" r:id="rId53"/>
    <p:sldId id="1245" r:id="rId54"/>
    <p:sldId id="1246" r:id="rId55"/>
    <p:sldId id="1247" r:id="rId56"/>
    <p:sldId id="1248" r:id="rId57"/>
    <p:sldId id="1249" r:id="rId58"/>
    <p:sldId id="1250" r:id="rId59"/>
    <p:sldId id="1251" r:id="rId60"/>
    <p:sldId id="1252" r:id="rId61"/>
    <p:sldId id="1253" r:id="rId62"/>
    <p:sldId id="1255" r:id="rId63"/>
    <p:sldId id="1254" r:id="rId64"/>
    <p:sldId id="1267" r:id="rId65"/>
    <p:sldId id="1256" r:id="rId66"/>
    <p:sldId id="1257" r:id="rId67"/>
    <p:sldId id="1258" r:id="rId68"/>
    <p:sldId id="1259" r:id="rId69"/>
    <p:sldId id="1260" r:id="rId70"/>
    <p:sldId id="1261" r:id="rId71"/>
    <p:sldId id="1262" r:id="rId72"/>
    <p:sldId id="1263" r:id="rId73"/>
    <p:sldId id="1264" r:id="rId74"/>
    <p:sldId id="1265" r:id="rId75"/>
    <p:sldId id="1268" r:id="rId76"/>
    <p:sldId id="1269" r:id="rId77"/>
    <p:sldId id="1270" r:id="rId78"/>
    <p:sldId id="1273" r:id="rId79"/>
    <p:sldId id="1271" r:id="rId80"/>
    <p:sldId id="1272" r:id="rId81"/>
    <p:sldId id="1274" r:id="rId82"/>
    <p:sldId id="1275" r:id="rId83"/>
    <p:sldId id="1276" r:id="rId84"/>
    <p:sldId id="1277" r:id="rId85"/>
    <p:sldId id="1278" r:id="rId86"/>
    <p:sldId id="1292" r:id="rId87"/>
    <p:sldId id="1279" r:id="rId88"/>
    <p:sldId id="1280" r:id="rId89"/>
    <p:sldId id="1281" r:id="rId90"/>
    <p:sldId id="1282" r:id="rId91"/>
    <p:sldId id="1283" r:id="rId92"/>
    <p:sldId id="1284" r:id="rId93"/>
    <p:sldId id="1285" r:id="rId94"/>
    <p:sldId id="1286" r:id="rId95"/>
    <p:sldId id="1287" r:id="rId96"/>
    <p:sldId id="1288" r:id="rId97"/>
    <p:sldId id="1289" r:id="rId98"/>
    <p:sldId id="1290" r:id="rId99"/>
    <p:sldId id="1291" r:id="rId100"/>
    <p:sldId id="1293" r:id="rId101"/>
    <p:sldId id="1294" r:id="rId102"/>
    <p:sldId id="1295" r:id="rId103"/>
    <p:sldId id="1296" r:id="rId104"/>
    <p:sldId id="1297" r:id="rId105"/>
    <p:sldId id="1298" r:id="rId106"/>
    <p:sldId id="1302" r:id="rId107"/>
    <p:sldId id="1299" r:id="rId108"/>
    <p:sldId id="1301" r:id="rId109"/>
    <p:sldId id="1300" r:id="rId110"/>
    <p:sldId id="281" r:id="rId111"/>
    <p:sldId id="259" r:id="rId112"/>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빅터 (권수호)" initials="빅(" lastIdx="1" clrIdx="0">
    <p:extLst>
      <p:ext uri="{19B8F6BF-5375-455C-9EA6-DF929625EA0E}">
        <p15:presenceInfo xmlns:p15="http://schemas.microsoft.com/office/powerpoint/2012/main" userId="S-1-5-21-736389252-3530206494-3470180472-100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보통 스타일 2 - 강조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보통 스타일 2 - 강조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77" autoAdjust="0"/>
    <p:restoredTop sz="94660"/>
  </p:normalViewPr>
  <p:slideViewPr>
    <p:cSldViewPr snapToGrid="0">
      <p:cViewPr varScale="1">
        <p:scale>
          <a:sx n="117" d="100"/>
          <a:sy n="117" d="100"/>
        </p:scale>
        <p:origin x="126" y="5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heme" Target="theme/theme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notesMaster" Target="notesMasters/notesMaster1.xml"/><Relationship Id="rId118"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commentAuthors" Target="commentAuthor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EF9866-EDA7-412E-9943-EC1619E1B9B3}" type="datetimeFigureOut">
              <a:rPr lang="ko-KR" altLang="en-US" smtClean="0"/>
              <a:t>2026-08-18</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B7BD4D-98D7-4ECB-9666-1F944AD0DB97}" type="slidenum">
              <a:rPr lang="ko-KR" altLang="en-US" smtClean="0"/>
              <a:t>‹#›</a:t>
            </a:fld>
            <a:endParaRPr lang="ko-KR" altLang="en-US"/>
          </a:p>
        </p:txBody>
      </p:sp>
    </p:spTree>
    <p:extLst>
      <p:ext uri="{BB962C8B-B14F-4D97-AF65-F5344CB8AC3E}">
        <p14:creationId xmlns:p14="http://schemas.microsoft.com/office/powerpoint/2010/main" val="302718788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923893C-0324-4581-89FE-8A8E43B5E0DB}"/>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D1BF58F6-155A-4478-ADFD-FD3F7A2DC0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BB7BB740-692B-4FA6-BCDC-10D5D007026F}"/>
              </a:ext>
            </a:extLst>
          </p:cNvPr>
          <p:cNvSpPr>
            <a:spLocks noGrp="1"/>
          </p:cNvSpPr>
          <p:nvPr>
            <p:ph type="dt" sz="half" idx="10"/>
          </p:nvPr>
        </p:nvSpPr>
        <p:spPr/>
        <p:txBody>
          <a:bodyPr/>
          <a:lstStyle/>
          <a:p>
            <a:fld id="{7007662A-90A0-422F-86C7-28633F226238}"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4FE33567-1257-4493-B1DD-3F9C1910B96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74C17BC-E7B6-4C2E-9DE5-9AF1C51D3071}"/>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238921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1574505-BAB9-46BA-B586-7AAAC8886217}"/>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AC3A8096-0680-4B11-9CB2-4FED24895F89}"/>
              </a:ext>
            </a:extLst>
          </p:cNvPr>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AD0A38AB-D330-49F0-BCCB-4AE64421E11E}"/>
              </a:ext>
            </a:extLst>
          </p:cNvPr>
          <p:cNvSpPr>
            <a:spLocks noGrp="1"/>
          </p:cNvSpPr>
          <p:nvPr>
            <p:ph type="dt" sz="half" idx="10"/>
          </p:nvPr>
        </p:nvSpPr>
        <p:spPr/>
        <p:txBody>
          <a:bodyPr/>
          <a:lstStyle/>
          <a:p>
            <a:fld id="{8864E73B-4F23-434A-A6D7-88271ACC49EC}"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3E8BC20B-0BDE-4AE7-ACF6-D32838B0BFA0}"/>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DFC554E-AD93-49DB-9B26-67885CECBED7}"/>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4260301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59D1DDC-6D57-4F54-B622-9E7ACF8A16B6}"/>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3903737D-6531-49D0-AF79-0B66DE7357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날짜 개체 틀 3">
            <a:extLst>
              <a:ext uri="{FF2B5EF4-FFF2-40B4-BE49-F238E27FC236}">
                <a16:creationId xmlns:a16="http://schemas.microsoft.com/office/drawing/2014/main" id="{FE4F4B43-5C46-47D5-918D-ECE0BB87A4E1}"/>
              </a:ext>
            </a:extLst>
          </p:cNvPr>
          <p:cNvSpPr>
            <a:spLocks noGrp="1"/>
          </p:cNvSpPr>
          <p:nvPr>
            <p:ph type="dt" sz="half" idx="10"/>
          </p:nvPr>
        </p:nvSpPr>
        <p:spPr/>
        <p:txBody>
          <a:bodyPr/>
          <a:lstStyle/>
          <a:p>
            <a:fld id="{AF92D8FD-6369-45D3-BF1E-CE092B602C81}"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C11458F6-83EA-4BBC-BAA1-4838180AF15D}"/>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9BE8959-73C5-4BEE-AADB-B0A1635CE81D}"/>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9134325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9DC2E9C-31ED-40DF-AFA0-C1EB825022ED}"/>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0C6A1E6D-6737-45A3-839F-1AE39AB88B2A}"/>
              </a:ext>
            </a:extLst>
          </p:cNvPr>
          <p:cNvSpPr>
            <a:spLocks noGrp="1"/>
          </p:cNvSpPr>
          <p:nvPr>
            <p:ph sz="half" idx="1"/>
          </p:nvPr>
        </p:nvSpPr>
        <p:spPr>
          <a:xfrm>
            <a:off x="838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a:extLst>
              <a:ext uri="{FF2B5EF4-FFF2-40B4-BE49-F238E27FC236}">
                <a16:creationId xmlns:a16="http://schemas.microsoft.com/office/drawing/2014/main" id="{411C17ED-85A1-47AD-8EBE-FDF4912BCF5F}"/>
              </a:ext>
            </a:extLst>
          </p:cNvPr>
          <p:cNvSpPr>
            <a:spLocks noGrp="1"/>
          </p:cNvSpPr>
          <p:nvPr>
            <p:ph sz="half" idx="2"/>
          </p:nvPr>
        </p:nvSpPr>
        <p:spPr>
          <a:xfrm>
            <a:off x="6172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a:extLst>
              <a:ext uri="{FF2B5EF4-FFF2-40B4-BE49-F238E27FC236}">
                <a16:creationId xmlns:a16="http://schemas.microsoft.com/office/drawing/2014/main" id="{F98E7E8F-808B-43FF-AE3F-12A63339EE61}"/>
              </a:ext>
            </a:extLst>
          </p:cNvPr>
          <p:cNvSpPr>
            <a:spLocks noGrp="1"/>
          </p:cNvSpPr>
          <p:nvPr>
            <p:ph type="dt" sz="half" idx="10"/>
          </p:nvPr>
        </p:nvSpPr>
        <p:spPr/>
        <p:txBody>
          <a:bodyPr/>
          <a:lstStyle/>
          <a:p>
            <a:fld id="{0E884664-AC38-4616-AC26-A81EB70F9B6D}" type="datetime1">
              <a:rPr lang="ko-KR" altLang="en-US" smtClean="0"/>
              <a:t>2026-08-18</a:t>
            </a:fld>
            <a:endParaRPr lang="ko-KR" altLang="en-US"/>
          </a:p>
        </p:txBody>
      </p:sp>
      <p:sp>
        <p:nvSpPr>
          <p:cNvPr id="6" name="바닥글 개체 틀 5">
            <a:extLst>
              <a:ext uri="{FF2B5EF4-FFF2-40B4-BE49-F238E27FC236}">
                <a16:creationId xmlns:a16="http://schemas.microsoft.com/office/drawing/2014/main" id="{A9F181D1-16BF-4533-9146-09F9D6109AD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28688F8-916E-4F95-B2E7-17805EB8B7BE}"/>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139204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A918287-3231-4D9B-9ABC-1B58425DADCA}"/>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66683157-2E3D-4C8A-84BE-39CAE31B2B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내용 개체 틀 3">
            <a:extLst>
              <a:ext uri="{FF2B5EF4-FFF2-40B4-BE49-F238E27FC236}">
                <a16:creationId xmlns:a16="http://schemas.microsoft.com/office/drawing/2014/main" id="{EC6FB253-0AA5-4EA5-B266-11F099E92112}"/>
              </a:ext>
            </a:extLst>
          </p:cNvPr>
          <p:cNvSpPr>
            <a:spLocks noGrp="1"/>
          </p:cNvSpPr>
          <p:nvPr>
            <p:ph sz="half" idx="2"/>
          </p:nvPr>
        </p:nvSpPr>
        <p:spPr>
          <a:xfrm>
            <a:off x="839788" y="2505075"/>
            <a:ext cx="5157787"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a:extLst>
              <a:ext uri="{FF2B5EF4-FFF2-40B4-BE49-F238E27FC236}">
                <a16:creationId xmlns:a16="http://schemas.microsoft.com/office/drawing/2014/main" id="{57908119-FD1B-4C5C-ABF4-116C417905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내용 개체 틀 5">
            <a:extLst>
              <a:ext uri="{FF2B5EF4-FFF2-40B4-BE49-F238E27FC236}">
                <a16:creationId xmlns:a16="http://schemas.microsoft.com/office/drawing/2014/main" id="{A850826E-D850-4072-8B69-E26ACBC45485}"/>
              </a:ext>
            </a:extLst>
          </p:cNvPr>
          <p:cNvSpPr>
            <a:spLocks noGrp="1"/>
          </p:cNvSpPr>
          <p:nvPr>
            <p:ph sz="quarter" idx="4"/>
          </p:nvPr>
        </p:nvSpPr>
        <p:spPr>
          <a:xfrm>
            <a:off x="6172200" y="2505075"/>
            <a:ext cx="5183188"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a:extLst>
              <a:ext uri="{FF2B5EF4-FFF2-40B4-BE49-F238E27FC236}">
                <a16:creationId xmlns:a16="http://schemas.microsoft.com/office/drawing/2014/main" id="{DBF33CD5-555A-4699-A10A-A4FA0409B703}"/>
              </a:ext>
            </a:extLst>
          </p:cNvPr>
          <p:cNvSpPr>
            <a:spLocks noGrp="1"/>
          </p:cNvSpPr>
          <p:nvPr>
            <p:ph type="dt" sz="half" idx="10"/>
          </p:nvPr>
        </p:nvSpPr>
        <p:spPr/>
        <p:txBody>
          <a:bodyPr/>
          <a:lstStyle/>
          <a:p>
            <a:fld id="{D5BB2583-C2D6-4752-93FB-A3B1CCF51AD7}" type="datetime1">
              <a:rPr lang="ko-KR" altLang="en-US" smtClean="0"/>
              <a:t>2026-08-18</a:t>
            </a:fld>
            <a:endParaRPr lang="ko-KR" altLang="en-US"/>
          </a:p>
        </p:txBody>
      </p:sp>
      <p:sp>
        <p:nvSpPr>
          <p:cNvPr id="8" name="바닥글 개체 틀 7">
            <a:extLst>
              <a:ext uri="{FF2B5EF4-FFF2-40B4-BE49-F238E27FC236}">
                <a16:creationId xmlns:a16="http://schemas.microsoft.com/office/drawing/2014/main" id="{9F14D1C8-FC60-4333-ACBB-5ED9C6E1B4E8}"/>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D62093B3-31F5-4892-B533-DC0CA92487D2}"/>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354510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D4FA2BF-534C-44BE-B413-E10AC7FB3513}"/>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A44BFA3A-F774-4B7B-8D63-9FDD27B5F136}"/>
              </a:ext>
            </a:extLst>
          </p:cNvPr>
          <p:cNvSpPr>
            <a:spLocks noGrp="1"/>
          </p:cNvSpPr>
          <p:nvPr>
            <p:ph type="dt" sz="half" idx="10"/>
          </p:nvPr>
        </p:nvSpPr>
        <p:spPr/>
        <p:txBody>
          <a:bodyPr/>
          <a:lstStyle/>
          <a:p>
            <a:fld id="{AE591029-0B61-42E7-89A5-1452CC1CC685}" type="datetime1">
              <a:rPr lang="ko-KR" altLang="en-US" smtClean="0"/>
              <a:t>2026-08-18</a:t>
            </a:fld>
            <a:endParaRPr lang="ko-KR" altLang="en-US"/>
          </a:p>
        </p:txBody>
      </p:sp>
      <p:sp>
        <p:nvSpPr>
          <p:cNvPr id="4" name="바닥글 개체 틀 3">
            <a:extLst>
              <a:ext uri="{FF2B5EF4-FFF2-40B4-BE49-F238E27FC236}">
                <a16:creationId xmlns:a16="http://schemas.microsoft.com/office/drawing/2014/main" id="{61C7E7F0-2A3E-4C49-89F0-5D08295F83FC}"/>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6E1E947A-3885-4B82-BA3E-5254653FD596}"/>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24602414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7A6FA01D-C650-430A-81EB-396EE011080B}"/>
              </a:ext>
            </a:extLst>
          </p:cNvPr>
          <p:cNvSpPr>
            <a:spLocks noGrp="1"/>
          </p:cNvSpPr>
          <p:nvPr>
            <p:ph type="dt" sz="half" idx="10"/>
          </p:nvPr>
        </p:nvSpPr>
        <p:spPr/>
        <p:txBody>
          <a:bodyPr/>
          <a:lstStyle/>
          <a:p>
            <a:fld id="{946CEB9F-05DB-43E1-892D-90A459D7CCD8}" type="datetime1">
              <a:rPr lang="ko-KR" altLang="en-US" smtClean="0"/>
              <a:t>2026-08-18</a:t>
            </a:fld>
            <a:endParaRPr lang="ko-KR" altLang="en-US"/>
          </a:p>
        </p:txBody>
      </p:sp>
      <p:sp>
        <p:nvSpPr>
          <p:cNvPr id="3" name="바닥글 개체 틀 2">
            <a:extLst>
              <a:ext uri="{FF2B5EF4-FFF2-40B4-BE49-F238E27FC236}">
                <a16:creationId xmlns:a16="http://schemas.microsoft.com/office/drawing/2014/main" id="{C6FB156C-D5FE-42A1-9B0A-D1ED6713F223}"/>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1B0973E2-E7B1-4050-85F8-604E107FB9FC}"/>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6011745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FC49C6F-546E-4387-9D44-0F5381B7FECE}"/>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A40AB43D-2905-4CBE-9713-99F290A222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a:extLst>
              <a:ext uri="{FF2B5EF4-FFF2-40B4-BE49-F238E27FC236}">
                <a16:creationId xmlns:a16="http://schemas.microsoft.com/office/drawing/2014/main" id="{4E2BBF02-5C89-4C7F-9590-6454B28FD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B3A3E073-3EF4-4892-AC9C-5A6D183D73E7}"/>
              </a:ext>
            </a:extLst>
          </p:cNvPr>
          <p:cNvSpPr>
            <a:spLocks noGrp="1"/>
          </p:cNvSpPr>
          <p:nvPr>
            <p:ph type="dt" sz="half" idx="10"/>
          </p:nvPr>
        </p:nvSpPr>
        <p:spPr/>
        <p:txBody>
          <a:bodyPr/>
          <a:lstStyle/>
          <a:p>
            <a:fld id="{CECC215A-7973-470B-84A4-F5AF132B8AAF}" type="datetime1">
              <a:rPr lang="ko-KR" altLang="en-US" smtClean="0"/>
              <a:t>2026-08-18</a:t>
            </a:fld>
            <a:endParaRPr lang="ko-KR" altLang="en-US"/>
          </a:p>
        </p:txBody>
      </p:sp>
      <p:sp>
        <p:nvSpPr>
          <p:cNvPr id="6" name="바닥글 개체 틀 5">
            <a:extLst>
              <a:ext uri="{FF2B5EF4-FFF2-40B4-BE49-F238E27FC236}">
                <a16:creationId xmlns:a16="http://schemas.microsoft.com/office/drawing/2014/main" id="{1FA8C830-C0D2-4E34-984D-BFD62710C34E}"/>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F4AE579A-FA23-47BF-A4BA-55EC39640F3C}"/>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982435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233AAD-A233-4461-B600-ECA6C77849B3}"/>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4849EC07-44FD-4C4A-9314-3224DF7BA6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305A6D9C-B6D2-4BFA-A079-7D5C12CCF7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2CF08306-C9C4-4CE5-8E7B-5E04932FFF5C}"/>
              </a:ext>
            </a:extLst>
          </p:cNvPr>
          <p:cNvSpPr>
            <a:spLocks noGrp="1"/>
          </p:cNvSpPr>
          <p:nvPr>
            <p:ph type="dt" sz="half" idx="10"/>
          </p:nvPr>
        </p:nvSpPr>
        <p:spPr/>
        <p:txBody>
          <a:bodyPr/>
          <a:lstStyle/>
          <a:p>
            <a:fld id="{6F2C50B2-507C-4DE6-835C-CC74E109F16E}" type="datetime1">
              <a:rPr lang="ko-KR" altLang="en-US" smtClean="0"/>
              <a:t>2026-08-18</a:t>
            </a:fld>
            <a:endParaRPr lang="ko-KR" altLang="en-US"/>
          </a:p>
        </p:txBody>
      </p:sp>
      <p:sp>
        <p:nvSpPr>
          <p:cNvPr id="6" name="바닥글 개체 틀 5">
            <a:extLst>
              <a:ext uri="{FF2B5EF4-FFF2-40B4-BE49-F238E27FC236}">
                <a16:creationId xmlns:a16="http://schemas.microsoft.com/office/drawing/2014/main" id="{22B10644-0531-497F-B2C0-377780F4197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99BEEBFB-DA63-4048-A6CA-C1E1EF828368}"/>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421828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CBC8EC7-6E11-4403-BD26-ECBF190F4B40}"/>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41DD3C11-4CF8-4044-BAF1-B13CDFF8EEC5}"/>
              </a:ext>
            </a:extLst>
          </p:cNvPr>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C83BC4E7-66FB-40C1-8FCD-5D5E3897EEE9}"/>
              </a:ext>
            </a:extLst>
          </p:cNvPr>
          <p:cNvSpPr>
            <a:spLocks noGrp="1"/>
          </p:cNvSpPr>
          <p:nvPr>
            <p:ph type="dt" sz="half" idx="10"/>
          </p:nvPr>
        </p:nvSpPr>
        <p:spPr/>
        <p:txBody>
          <a:bodyPr/>
          <a:lstStyle/>
          <a:p>
            <a:fld id="{B9D71F2C-84F6-42CA-BB66-E87B622B6B79}"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2707E1BA-7287-48B0-845A-3B6A12C669B6}"/>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2D2CF8AD-9CD0-445E-859E-05D7DCB80CC1}"/>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23511416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BA2AAEFD-B44D-4155-9045-4229A5D65009}"/>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3553818F-4461-41C0-996E-171B2484FB42}"/>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F1C01757-6CD8-4F39-8D5A-496ED6954279}"/>
              </a:ext>
            </a:extLst>
          </p:cNvPr>
          <p:cNvSpPr>
            <a:spLocks noGrp="1"/>
          </p:cNvSpPr>
          <p:nvPr>
            <p:ph type="dt" sz="half" idx="10"/>
          </p:nvPr>
        </p:nvSpPr>
        <p:spPr/>
        <p:txBody>
          <a:bodyPr/>
          <a:lstStyle/>
          <a:p>
            <a:fld id="{8686B409-5BD5-456C-AF48-4FD374032583}"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6FBAE857-085C-477D-AD27-8CA53DCEE75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CF7504C-26BC-48B7-8DF3-12010D3DB49D}"/>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287846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8D87DD47-3055-4794-9EC4-443F56DA11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A8D58F93-79C2-4CFD-A3A1-BA00A0F188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740137D3-CE03-437A-B22E-E71309174D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3538FB-B8FC-4171-87E6-7B07A54FA9FA}"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CE63D692-A5AC-4625-ACF0-0DE38652C8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30B51C3C-2FF0-4757-A7D5-BD00847B2C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69158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hyperlink" Target="https://en.wikipedia.org/wiki/OSI_model"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github.com/projectcontour/contour"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projectcontour.io/quickstart/v1.12.0/contour.yaml" TargetMode="External"/><Relationship Id="rId2" Type="http://schemas.openxmlformats.org/officeDocument/2006/relationships/hyperlink" Target="https://tanzu.vmware.com/developer/guides/service-routing-contour-to-ingress-and-beyond/" TargetMode="Externa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github.com/cert-manager/cert-manager" TargetMode="External"/><Relationship Id="rId2" Type="http://schemas.openxmlformats.org/officeDocument/2006/relationships/hyperlink" Target="https://letsencrypt.org/"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github.com/emissary-ingress/emissary" TargetMode="External"/><Relationship Id="rId2" Type="http://schemas.openxmlformats.org/officeDocument/2006/relationships/hyperlink" Target="https://github.com/kubernetes/ingress-nginx/" TargetMode="Externa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hyperlink" Target="https://traefik.io/" TargetMode="External"/><Relationship Id="rId4" Type="http://schemas.openxmlformats.org/officeDocument/2006/relationships/hyperlink" Target="https://github.com/solo-io/gloo" TargetMode="External"/></Relationships>
</file>

<file path=ppt/slides/_rels/slide35.xml.rels><?xml version="1.0" encoding="UTF-8" standalone="yes"?>
<Relationships xmlns="http://schemas.openxmlformats.org/package/2006/relationships"><Relationship Id="rId3" Type="http://schemas.openxmlformats.org/officeDocument/2006/relationships/hyperlink" Target="https://linkerd.io/" TargetMode="External"/><Relationship Id="rId2" Type="http://schemas.openxmlformats.org/officeDocument/2006/relationships/hyperlink" Target="https://istio.io/" TargetMode="Externa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hyperlink" Target="https://github.com/kubernetes/community/tree/master/sig-network" TargetMode="External"/></Relationships>
</file>

<file path=ppt/slides/_rels/slide3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hyperlink" Target="https://github.com/kubernetes-up-and-running/kuard.git" TargetMode="External"/><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93.emf"/><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101.emf"/><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hyperlink" Target="https://projectcontour.io/" TargetMode="External"/><Relationship Id="rId2" Type="http://schemas.openxmlformats.org/officeDocument/2006/relationships/hyperlink" Target="https://github.com/kubernetes-up-and-running/kuard" TargetMode="External"/><Relationship Id="rId1" Type="http://schemas.openxmlformats.org/officeDocument/2006/relationships/slideLayout" Target="../slideLayouts/slideLayout2.xml"/><Relationship Id="rId6" Type="http://schemas.openxmlformats.org/officeDocument/2006/relationships/image" Target="../media/image106.png"/><Relationship Id="rId5" Type="http://schemas.openxmlformats.org/officeDocument/2006/relationships/hyperlink" Target="https://kubernetes.io/ko/docs/tasks/access-application-cluster/ingress-minikube/" TargetMode="External"/><Relationship Id="rId4" Type="http://schemas.openxmlformats.org/officeDocument/2006/relationships/hyperlink" Target="https://kubernetes.io/ko/docs/concepts/services-networking/ingress/" TargetMode="External"/></Relationships>
</file>

<file path=ppt/slides/_rels/slide111.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sz="4800" b="1" dirty="0"/>
              <a:t>Kubernetes</a:t>
            </a:r>
            <a:endParaRPr lang="ko-KR" altLang="en-US" sz="4800" b="1" dirty="0"/>
          </a:p>
        </p:txBody>
      </p:sp>
      <p:sp>
        <p:nvSpPr>
          <p:cNvPr id="3" name="부제목 2">
            <a:extLst>
              <a:ext uri="{FF2B5EF4-FFF2-40B4-BE49-F238E27FC236}">
                <a16:creationId xmlns:a16="http://schemas.microsoft.com/office/drawing/2014/main" id="{47AEB803-0A24-4323-A770-ED2D6F7EC46E}"/>
              </a:ext>
            </a:extLst>
          </p:cNvPr>
          <p:cNvSpPr>
            <a:spLocks noGrp="1"/>
          </p:cNvSpPr>
          <p:nvPr>
            <p:ph type="subTitle" idx="1"/>
          </p:nvPr>
        </p:nvSpPr>
        <p:spPr/>
        <p:txBody>
          <a:bodyPr>
            <a:normAutofit lnSpcReduction="10000"/>
          </a:bodyPr>
          <a:lstStyle/>
          <a:p>
            <a:r>
              <a:rPr lang="en-US" altLang="ko-KR" b="1" dirty="0"/>
              <a:t>Kubernetes Up &amp; Running</a:t>
            </a:r>
          </a:p>
          <a:p>
            <a:r>
              <a:rPr lang="en-US" altLang="ko-KR" b="1" dirty="0"/>
              <a:t>Part III</a:t>
            </a:r>
          </a:p>
          <a:p>
            <a:endParaRPr lang="en-US" altLang="ko-KR" b="1" dirty="0"/>
          </a:p>
          <a:p>
            <a:r>
              <a:rPr lang="en-US" altLang="ko-KR" sz="2000" b="1" dirty="0"/>
              <a:t>2026.08.25</a:t>
            </a:r>
          </a:p>
          <a:p>
            <a:endParaRPr lang="en-US" altLang="ko-KR" sz="1600" b="1" dirty="0"/>
          </a:p>
          <a:p>
            <a:endParaRPr lang="ko-KR" altLang="en-US" sz="1600"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94030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sz="4400" b="1" dirty="0"/>
              <a:t>HTTP Load Balancing with Ingress</a:t>
            </a:r>
            <a:endParaRPr lang="ko-KR" altLang="en-US" sz="4400" b="1"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9966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Introduction(1/2)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HTTP-Based Service :</a:t>
            </a:r>
          </a:p>
          <a:p>
            <a:pPr lvl="1">
              <a:buFont typeface="Wingdings" panose="05000000000000000000" pitchFamily="2" charset="2"/>
              <a:buChar char="§"/>
            </a:pPr>
            <a:r>
              <a:rPr lang="en-US" altLang="ko-KR" sz="1400" b="1" dirty="0"/>
              <a:t>A critical part of any application is getting network traffic to and from that application</a:t>
            </a:r>
            <a:r>
              <a:rPr lang="en-US" altLang="ko-KR" sz="1400" dirty="0"/>
              <a:t>. Kubernetes has a set of capabilities to </a:t>
            </a:r>
            <a:r>
              <a:rPr lang="en-US" altLang="ko-KR" sz="1400" b="1" dirty="0"/>
              <a:t>enable services to be exposed outside of the cluster</a:t>
            </a:r>
            <a:r>
              <a:rPr lang="en-US" altLang="ko-KR" sz="1400" dirty="0"/>
              <a:t>. For many users and simple use cases these capabilities are sufficient.</a:t>
            </a:r>
          </a:p>
          <a:p>
            <a:pPr lvl="1">
              <a:buFont typeface="Wingdings" panose="05000000000000000000" pitchFamily="2" charset="2"/>
              <a:buChar char="§"/>
            </a:pPr>
            <a:r>
              <a:rPr lang="en-US" altLang="ko-KR" sz="1400" b="1" dirty="0"/>
              <a:t>But the Service object operates at Layer 4 (according to the </a:t>
            </a:r>
            <a:r>
              <a:rPr lang="en-US" altLang="ko-KR" sz="1400" b="1" dirty="0">
                <a:hlinkClick r:id="rId2"/>
              </a:rPr>
              <a:t>OSI model1</a:t>
            </a:r>
            <a:r>
              <a:rPr lang="en-US" altLang="ko-KR" sz="1400" b="1" dirty="0"/>
              <a:t>). </a:t>
            </a:r>
            <a:r>
              <a:rPr lang="en-US" altLang="ko-KR" sz="1400" dirty="0"/>
              <a:t>This means that </a:t>
            </a:r>
            <a:r>
              <a:rPr lang="en-US" altLang="ko-KR" sz="1400" b="1" dirty="0"/>
              <a:t>it only forwards TCP and UDP connections and doesn’t look inside of those connections</a:t>
            </a:r>
            <a:r>
              <a:rPr lang="en-US" altLang="ko-KR" sz="1400" dirty="0"/>
              <a:t>. Because of this, hosting many applications on a cluster uses many different exposed services. In the case where these services are type: “</a:t>
            </a:r>
            <a:r>
              <a:rPr lang="en-US" altLang="ko-KR" sz="1400" b="1" dirty="0" err="1"/>
              <a:t>NodePort</a:t>
            </a:r>
            <a:r>
              <a:rPr lang="en-US" altLang="ko-KR" sz="1400" dirty="0"/>
              <a:t>”, </a:t>
            </a:r>
            <a:r>
              <a:rPr lang="en-US" altLang="ko-KR" sz="1400" b="1" dirty="0"/>
              <a:t>you’ll have to have clients connect to a unique port per service</a:t>
            </a:r>
            <a:r>
              <a:rPr lang="en-US" altLang="ko-KR" sz="1400" dirty="0"/>
              <a:t>. In the case where these services are type: “</a:t>
            </a:r>
            <a:r>
              <a:rPr lang="en-US" altLang="ko-KR" sz="1400" b="1" dirty="0" err="1"/>
              <a:t>LoadBalancer</a:t>
            </a:r>
            <a:r>
              <a:rPr lang="en-US" altLang="ko-KR" sz="1400" dirty="0"/>
              <a:t>”, </a:t>
            </a:r>
            <a:r>
              <a:rPr lang="en-US" altLang="ko-KR" sz="1400" b="1" dirty="0"/>
              <a:t>you’ll be allocating (often expensive or scarce) cloud resources for each service</a:t>
            </a:r>
            <a:r>
              <a:rPr lang="en-US" altLang="ko-KR" sz="1400" dirty="0"/>
              <a:t>. </a:t>
            </a:r>
            <a:r>
              <a:rPr lang="en-US" altLang="ko-KR" sz="1400" b="1" dirty="0"/>
              <a:t>But for “</a:t>
            </a:r>
            <a:r>
              <a:rPr lang="en-US" altLang="ko-KR" sz="1400" b="1" dirty="0">
                <a:solidFill>
                  <a:srgbClr val="FF0000"/>
                </a:solidFill>
              </a:rPr>
              <a:t>HTTP (Layer 7)-based services</a:t>
            </a:r>
            <a:r>
              <a:rPr lang="en-US" altLang="ko-KR" sz="1400" b="1" dirty="0"/>
              <a:t>”, we can do better</a:t>
            </a:r>
            <a:r>
              <a:rPr lang="en-US" altLang="ko-KR" sz="1400" dirty="0"/>
              <a:t>.</a:t>
            </a:r>
          </a:p>
          <a:p>
            <a:pPr lvl="1">
              <a:buFont typeface="Wingdings" panose="05000000000000000000" pitchFamily="2" charset="2"/>
              <a:buChar char="§"/>
            </a:pPr>
            <a:r>
              <a:rPr lang="en-US" altLang="ko-KR" sz="1400" b="1" dirty="0"/>
              <a:t>When solving a similar problem in non-Kubernetes situations, users often turn to the idea of “</a:t>
            </a:r>
            <a:r>
              <a:rPr lang="en-US" altLang="ko-KR" sz="1400" b="1" dirty="0">
                <a:solidFill>
                  <a:srgbClr val="FF0000"/>
                </a:solidFill>
              </a:rPr>
              <a:t>virtual hosting</a:t>
            </a:r>
            <a:r>
              <a:rPr lang="en-US" altLang="ko-KR" sz="1400" b="1" dirty="0"/>
              <a:t>.”</a:t>
            </a:r>
            <a:r>
              <a:rPr lang="en-US" altLang="ko-KR" sz="1400" dirty="0"/>
              <a:t> This is a mechanism to </a:t>
            </a:r>
            <a:r>
              <a:rPr lang="en-US" altLang="ko-KR" sz="1400" b="1" dirty="0"/>
              <a:t>host many HTTP sites on a single IP address</a:t>
            </a:r>
            <a:r>
              <a:rPr lang="en-US" altLang="ko-KR" sz="1400" dirty="0"/>
              <a:t>. Typically, the user uses a </a:t>
            </a:r>
            <a:r>
              <a:rPr lang="en-US" altLang="ko-KR" sz="1400" b="1" dirty="0"/>
              <a:t>load balancer </a:t>
            </a:r>
            <a:r>
              <a:rPr lang="en-US" altLang="ko-KR" sz="1400" dirty="0"/>
              <a:t>or </a:t>
            </a:r>
            <a:r>
              <a:rPr lang="en-US" altLang="ko-KR" sz="1400" b="1" dirty="0"/>
              <a:t>reverse proxy to accept incoming connections on HTTP (80) and HTTPS (443) ports</a:t>
            </a:r>
            <a:r>
              <a:rPr lang="en-US" altLang="ko-KR" sz="1400" dirty="0"/>
              <a:t>. </a:t>
            </a:r>
            <a:r>
              <a:rPr lang="en-US" altLang="ko-KR" sz="1400" b="1" dirty="0"/>
              <a:t>That program then parses the HTTP connection and, based on the Host header and the URL path that is requested, proxies the HTTP call to some other program</a:t>
            </a:r>
            <a:r>
              <a:rPr lang="en-US" altLang="ko-KR" sz="1400" dirty="0"/>
              <a:t>. In this way, that load balancer or reverse proxy plays “</a:t>
            </a:r>
            <a:r>
              <a:rPr lang="en-US" altLang="ko-KR" sz="1400" b="1" dirty="0"/>
              <a:t>traffic cop</a:t>
            </a:r>
            <a:r>
              <a:rPr lang="en-US" altLang="ko-KR" sz="1400" dirty="0"/>
              <a:t>” </a:t>
            </a:r>
            <a:r>
              <a:rPr lang="en-US" altLang="ko-KR" sz="1400" b="1" dirty="0"/>
              <a:t>for decoding and directing incoming connections to the right “</a:t>
            </a:r>
            <a:r>
              <a:rPr lang="en-US" altLang="ko-KR" sz="1400" b="1" dirty="0">
                <a:solidFill>
                  <a:srgbClr val="FF0000"/>
                </a:solidFill>
              </a:rPr>
              <a:t>upstream</a:t>
            </a:r>
            <a:r>
              <a:rPr lang="en-US" altLang="ko-KR" sz="1400" b="1" dirty="0"/>
              <a:t>” server</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AB3D889A-F33C-45DB-9276-B6212FBED330}"/>
              </a:ext>
            </a:extLst>
          </p:cNvPr>
          <p:cNvPicPr>
            <a:picLocks noChangeAspect="1"/>
          </p:cNvPicPr>
          <p:nvPr/>
        </p:nvPicPr>
        <p:blipFill>
          <a:blip r:embed="rId3"/>
          <a:stretch>
            <a:fillRect/>
          </a:stretch>
        </p:blipFill>
        <p:spPr>
          <a:xfrm>
            <a:off x="1321573" y="4437752"/>
            <a:ext cx="9548854" cy="1971278"/>
          </a:xfrm>
          <a:prstGeom prst="rect">
            <a:avLst/>
          </a:prstGeom>
        </p:spPr>
      </p:pic>
    </p:spTree>
    <p:extLst>
      <p:ext uri="{BB962C8B-B14F-4D97-AF65-F5344CB8AC3E}">
        <p14:creationId xmlns:p14="http://schemas.microsoft.com/office/powerpoint/2010/main" val="5043024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Introduction(2/2)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Ingress :</a:t>
            </a:r>
          </a:p>
          <a:p>
            <a:pPr lvl="1">
              <a:buFont typeface="Wingdings" panose="05000000000000000000" pitchFamily="2" charset="2"/>
              <a:buChar char="§"/>
            </a:pPr>
            <a:r>
              <a:rPr lang="en-US" altLang="ko-KR" sz="1400" b="1" dirty="0"/>
              <a:t>Kubernetes calls its HTTP-based load-balancing system “</a:t>
            </a:r>
            <a:r>
              <a:rPr lang="en-US" altLang="ko-KR" sz="1400" b="1" dirty="0">
                <a:solidFill>
                  <a:srgbClr val="FF0000"/>
                </a:solidFill>
              </a:rPr>
              <a:t>Ingress</a:t>
            </a:r>
            <a:r>
              <a:rPr lang="en-US" altLang="ko-KR" sz="1400" b="1" dirty="0"/>
              <a:t>”. Ingress is a Kubernetes-native way to implement the “virtual hosting” pattern</a:t>
            </a:r>
            <a:r>
              <a:rPr lang="en-US" altLang="ko-KR" sz="1400" dirty="0"/>
              <a:t>. One of the more complex aspects of the pattern is that the user has to manage the load balancer configuration file. In a dynamic environment and as the set of virtual hosts expands, this can be very complex. </a:t>
            </a:r>
          </a:p>
          <a:p>
            <a:pPr lvl="1">
              <a:buFont typeface="Wingdings" panose="05000000000000000000" pitchFamily="2" charset="2"/>
              <a:buChar char="§"/>
            </a:pPr>
            <a:r>
              <a:rPr lang="en-US" altLang="ko-KR" sz="1400" b="1" dirty="0"/>
              <a:t>The Kubernetes Ingress system works to simplify this by - </a:t>
            </a:r>
          </a:p>
          <a:p>
            <a:pPr marL="1257300" lvl="2" indent="-342900">
              <a:buFont typeface="+mj-lt"/>
              <a:buAutoNum type="alphaUcPeriod"/>
            </a:pPr>
            <a:r>
              <a:rPr lang="en-US" altLang="ko-KR" sz="1400" b="1" dirty="0">
                <a:solidFill>
                  <a:srgbClr val="FF0000"/>
                </a:solidFill>
              </a:rPr>
              <a:t>Standardizing</a:t>
            </a:r>
            <a:r>
              <a:rPr lang="en-US" altLang="ko-KR" sz="1400" b="1" dirty="0"/>
              <a:t> that configuration</a:t>
            </a:r>
            <a:endParaRPr lang="en-US" altLang="ko-KR" sz="1400" dirty="0"/>
          </a:p>
          <a:p>
            <a:pPr marL="1257300" lvl="2" indent="-342900">
              <a:buFont typeface="+mj-lt"/>
              <a:buAutoNum type="alphaUcPeriod"/>
            </a:pPr>
            <a:r>
              <a:rPr lang="en-US" altLang="ko-KR" sz="1400" b="1" dirty="0">
                <a:solidFill>
                  <a:srgbClr val="FF0000"/>
                </a:solidFill>
              </a:rPr>
              <a:t>Moving it to a standard Kubernetes object</a:t>
            </a:r>
          </a:p>
          <a:p>
            <a:pPr marL="1257300" lvl="2" indent="-342900">
              <a:buFont typeface="+mj-lt"/>
              <a:buAutoNum type="alphaUcPeriod"/>
            </a:pPr>
            <a:r>
              <a:rPr lang="en-US" altLang="ko-KR" sz="1400" b="1" dirty="0">
                <a:solidFill>
                  <a:srgbClr val="FF0000"/>
                </a:solidFill>
              </a:rPr>
              <a:t>Merging multiple Ingress objects </a:t>
            </a:r>
            <a:r>
              <a:rPr lang="en-US" altLang="ko-KR" sz="1400" b="1" dirty="0"/>
              <a:t>into a single config for the load balancer</a:t>
            </a:r>
          </a:p>
          <a:p>
            <a:pPr marL="1257300" lvl="2" indent="-342900">
              <a:buFont typeface="+mj-lt"/>
              <a:buAutoNum type="alphaUcPeriod"/>
            </a:pPr>
            <a:endParaRPr lang="en-US" altLang="ko-KR" sz="1400" b="1" dirty="0"/>
          </a:p>
          <a:p>
            <a:pPr marL="1257300" lvl="2" indent="-342900">
              <a:buFont typeface="+mj-lt"/>
              <a:buAutoNum type="alphaUcPeriod"/>
            </a:pPr>
            <a:endParaRPr lang="en-US" altLang="ko-KR" sz="1400" b="1" dirty="0"/>
          </a:p>
          <a:p>
            <a:pPr marL="1257300" lvl="2" indent="-342900">
              <a:buFont typeface="+mj-lt"/>
              <a:buAutoNum type="alphaUcPeriod"/>
            </a:pPr>
            <a:endParaRPr lang="en-US" altLang="ko-KR" sz="1400" b="1" dirty="0"/>
          </a:p>
          <a:p>
            <a:pPr marL="1257300" lvl="2" indent="-342900">
              <a:buFont typeface="+mj-lt"/>
              <a:buAutoNum type="alphaUcPeriod"/>
            </a:pPr>
            <a:endParaRPr lang="en-US" altLang="ko-KR" sz="1400" b="1"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The </a:t>
            </a:r>
            <a:r>
              <a:rPr lang="en-US" altLang="ko-KR" sz="1400" b="1" dirty="0">
                <a:solidFill>
                  <a:srgbClr val="FF0000"/>
                </a:solidFill>
              </a:rPr>
              <a:t>Ingress controller </a:t>
            </a:r>
            <a:r>
              <a:rPr lang="en-US" altLang="ko-KR" sz="1400" b="1" dirty="0"/>
              <a:t>is a software system exposed outside the cluster using a service of type </a:t>
            </a:r>
            <a:r>
              <a:rPr lang="en-US" altLang="ko-KR" sz="1400" dirty="0"/>
              <a:t>: “</a:t>
            </a:r>
            <a:r>
              <a:rPr lang="en-US" altLang="ko-KR" sz="1400" b="1" dirty="0" err="1"/>
              <a:t>LoadBalancer</a:t>
            </a:r>
            <a:r>
              <a:rPr lang="en-US" altLang="ko-KR" sz="1400" b="1" dirty="0"/>
              <a:t>”</a:t>
            </a:r>
            <a:r>
              <a:rPr lang="en-US" altLang="ko-KR" sz="1400" dirty="0"/>
              <a:t>. </a:t>
            </a:r>
            <a:r>
              <a:rPr lang="en-US" altLang="ko-KR" sz="1400" b="1" dirty="0"/>
              <a:t>It then proxies requests to “</a:t>
            </a:r>
            <a:r>
              <a:rPr lang="en-US" altLang="ko-KR" sz="1400" b="1" dirty="0">
                <a:solidFill>
                  <a:srgbClr val="FF0000"/>
                </a:solidFill>
              </a:rPr>
              <a:t>upstream</a:t>
            </a:r>
            <a:r>
              <a:rPr lang="en-US" altLang="ko-KR" sz="1400" b="1" dirty="0"/>
              <a:t>” servers</a:t>
            </a:r>
            <a:r>
              <a:rPr lang="en-US" altLang="ko-KR" sz="1400" dirty="0"/>
              <a:t>. The configuration for how it does this is the result of reading and monitoring “</a:t>
            </a:r>
            <a:r>
              <a:rPr lang="en-US" altLang="ko-KR" sz="1400" b="1" dirty="0">
                <a:solidFill>
                  <a:srgbClr val="FF0000"/>
                </a:solidFill>
              </a:rPr>
              <a:t>Ingress objects</a:t>
            </a:r>
            <a:r>
              <a:rPr lang="en-US" altLang="ko-KR" sz="1400" b="1" dirty="0"/>
              <a: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272AC63A-5A3E-48AA-849B-E000AB1DA989}"/>
              </a:ext>
            </a:extLst>
          </p:cNvPr>
          <p:cNvPicPr>
            <a:picLocks noChangeAspect="1"/>
          </p:cNvPicPr>
          <p:nvPr/>
        </p:nvPicPr>
        <p:blipFill>
          <a:blip r:embed="rId2"/>
          <a:stretch>
            <a:fillRect/>
          </a:stretch>
        </p:blipFill>
        <p:spPr>
          <a:xfrm>
            <a:off x="3774219" y="3133097"/>
            <a:ext cx="4643562" cy="2159598"/>
          </a:xfrm>
          <a:prstGeom prst="rect">
            <a:avLst/>
          </a:prstGeom>
        </p:spPr>
      </p:pic>
    </p:spTree>
    <p:extLst>
      <p:ext uri="{BB962C8B-B14F-4D97-AF65-F5344CB8AC3E}">
        <p14:creationId xmlns:p14="http://schemas.microsoft.com/office/powerpoint/2010/main" val="34473678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sv-SE" altLang="ko-KR" sz="2800" b="1" dirty="0"/>
              <a:t>Ingress Spec. Versus Ingress Controllers</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Ingress :</a:t>
            </a:r>
          </a:p>
          <a:p>
            <a:pPr lvl="1">
              <a:buFont typeface="Wingdings" panose="05000000000000000000" pitchFamily="2" charset="2"/>
              <a:buChar char="§"/>
            </a:pPr>
            <a:r>
              <a:rPr lang="en-US" altLang="ko-KR" sz="1400" b="1" dirty="0"/>
              <a:t>Specifically, “Ingress” is split into a </a:t>
            </a:r>
            <a:r>
              <a:rPr lang="en-US" altLang="ko-KR" sz="1400" b="1" dirty="0">
                <a:solidFill>
                  <a:srgbClr val="FF0000"/>
                </a:solidFill>
              </a:rPr>
              <a:t>common resource specification </a:t>
            </a:r>
            <a:r>
              <a:rPr lang="en-US" altLang="ko-KR" sz="1400" b="1" dirty="0"/>
              <a:t>and a </a:t>
            </a:r>
            <a:r>
              <a:rPr lang="en-US" altLang="ko-KR" sz="1400" b="1" dirty="0">
                <a:solidFill>
                  <a:srgbClr val="FF0000"/>
                </a:solidFill>
              </a:rPr>
              <a:t>controller implementation</a:t>
            </a:r>
            <a:r>
              <a:rPr lang="en-US" altLang="ko-KR" sz="1400" dirty="0"/>
              <a:t>. </a:t>
            </a:r>
            <a:r>
              <a:rPr lang="en-US" altLang="ko-KR" sz="1400" b="1" dirty="0">
                <a:solidFill>
                  <a:srgbClr val="FF0000"/>
                </a:solidFill>
              </a:rPr>
              <a:t>There is no “standard” Ingress controller </a:t>
            </a:r>
            <a:r>
              <a:rPr lang="en-US" altLang="ko-KR" sz="1400" dirty="0"/>
              <a:t>that is built into Kubernetes, so </a:t>
            </a:r>
            <a:r>
              <a:rPr lang="en-US" altLang="ko-KR" sz="1400" b="1" dirty="0"/>
              <a:t>the user must install one of many optional implementations</a:t>
            </a:r>
            <a:r>
              <a:rPr lang="en-US" altLang="ko-KR" sz="1400" dirty="0"/>
              <a:t>.</a:t>
            </a:r>
          </a:p>
          <a:p>
            <a:pPr lvl="1">
              <a:buFont typeface="Wingdings" panose="05000000000000000000" pitchFamily="2" charset="2"/>
              <a:buChar char="§"/>
            </a:pPr>
            <a:r>
              <a:rPr lang="en-US" altLang="ko-KR" sz="1400" b="1" dirty="0"/>
              <a:t>Users can create and modify </a:t>
            </a:r>
            <a:r>
              <a:rPr lang="en-US" altLang="ko-KR" sz="1400" b="1" dirty="0">
                <a:solidFill>
                  <a:srgbClr val="FF0000"/>
                </a:solidFill>
              </a:rPr>
              <a:t>Ingress objects </a:t>
            </a:r>
            <a:r>
              <a:rPr lang="en-US" altLang="ko-KR" sz="1400" b="1" dirty="0"/>
              <a:t>just like every other object</a:t>
            </a:r>
            <a:r>
              <a:rPr lang="en-US" altLang="ko-KR" sz="1400" dirty="0"/>
              <a:t>. But, by default, there is no code running to actually act on those objects. </a:t>
            </a:r>
            <a:r>
              <a:rPr lang="en-US" altLang="ko-KR" sz="1400" b="1" dirty="0"/>
              <a:t>It is up to the users (or the distribution they are using) to install and manage an outside controller</a:t>
            </a:r>
            <a:r>
              <a:rPr lang="en-US" altLang="ko-KR" sz="1400" dirty="0"/>
              <a:t>. In this way, </a:t>
            </a:r>
            <a:r>
              <a:rPr lang="en-US" altLang="ko-KR" sz="1400" b="1" dirty="0"/>
              <a:t>the controller is pluggable</a:t>
            </a:r>
            <a:r>
              <a:rPr lang="en-US" altLang="ko-KR" sz="1400" dirty="0"/>
              <a:t>.</a:t>
            </a:r>
          </a:p>
          <a:p>
            <a:pPr lvl="1">
              <a:buFont typeface="Wingdings" panose="05000000000000000000" pitchFamily="2" charset="2"/>
              <a:buChar char="§"/>
            </a:pPr>
            <a:r>
              <a:rPr lang="en-US" altLang="ko-KR" sz="1400" b="1" dirty="0"/>
              <a:t>The first reason is that there is </a:t>
            </a:r>
            <a:r>
              <a:rPr lang="en-US" altLang="ko-KR" sz="1400" b="1" dirty="0">
                <a:solidFill>
                  <a:srgbClr val="FF0000"/>
                </a:solidFill>
              </a:rPr>
              <a:t>no one single HTTP load balancer that can universally be used</a:t>
            </a:r>
            <a:r>
              <a:rPr lang="en-US" altLang="ko-KR" sz="1400" dirty="0"/>
              <a:t>. In addition to many software load balancers (both open source and proprietary), there are also </a:t>
            </a:r>
            <a:r>
              <a:rPr lang="en-US" altLang="ko-KR" sz="1400" b="1" dirty="0"/>
              <a:t>load-balancing capabilities provided by cloud providers (e.g., ELB on AWS)</a:t>
            </a:r>
            <a:r>
              <a:rPr lang="en-US" altLang="ko-KR" sz="1400" dirty="0"/>
              <a:t>, and </a:t>
            </a:r>
            <a:r>
              <a:rPr lang="en-US" altLang="ko-KR" sz="1400" b="1" dirty="0"/>
              <a:t>hardware-based load balancers</a:t>
            </a:r>
            <a:r>
              <a:rPr lang="en-US" altLang="ko-KR" sz="1400" dirty="0"/>
              <a:t>. </a:t>
            </a:r>
            <a:r>
              <a:rPr lang="en-US" altLang="ko-KR" sz="1400" b="1" dirty="0"/>
              <a:t>The second reason is that the Ingress object was added to Kubernetes before any of the common extensibility capabilities were added</a:t>
            </a:r>
            <a:r>
              <a:rPr lang="en-US" altLang="ko-KR" sz="1400" dirty="0"/>
              <a:t>. As Ingress progresses, it is likely that it will evolve to use these mechanisms.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8AB83642-267B-4A3E-BFBE-6AA4EE35E90D}"/>
              </a:ext>
            </a:extLst>
          </p:cNvPr>
          <p:cNvPicPr>
            <a:picLocks noChangeAspect="1"/>
          </p:cNvPicPr>
          <p:nvPr/>
        </p:nvPicPr>
        <p:blipFill>
          <a:blip r:embed="rId2"/>
          <a:stretch>
            <a:fillRect/>
          </a:stretch>
        </p:blipFill>
        <p:spPr>
          <a:xfrm>
            <a:off x="3379152" y="3570136"/>
            <a:ext cx="5433696" cy="2838894"/>
          </a:xfrm>
          <a:prstGeom prst="rect">
            <a:avLst/>
          </a:prstGeom>
          <a:ln>
            <a:solidFill>
              <a:schemeClr val="bg1">
                <a:lumMod val="50000"/>
              </a:schemeClr>
            </a:solidFill>
          </a:ln>
        </p:spPr>
      </p:pic>
    </p:spTree>
    <p:extLst>
      <p:ext uri="{BB962C8B-B14F-4D97-AF65-F5344CB8AC3E}">
        <p14:creationId xmlns:p14="http://schemas.microsoft.com/office/powerpoint/2010/main" val="23072651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Installing Contour(1/2)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Ingress Controller : Contour</a:t>
            </a:r>
          </a:p>
          <a:p>
            <a:pPr lvl="1">
              <a:buFont typeface="Wingdings" panose="05000000000000000000" pitchFamily="2" charset="2"/>
              <a:buChar char="§"/>
            </a:pPr>
            <a:r>
              <a:rPr lang="en-US" altLang="ko-KR" sz="1400" dirty="0"/>
              <a:t>While there are many available Ingress controllers, for the examples here we use an </a:t>
            </a:r>
            <a:r>
              <a:rPr lang="en-US" altLang="ko-KR" sz="1400" b="1" dirty="0"/>
              <a:t>Ingress controller </a:t>
            </a:r>
            <a:r>
              <a:rPr lang="en-US" altLang="ko-KR" sz="1400" dirty="0"/>
              <a:t>called “</a:t>
            </a:r>
            <a:r>
              <a:rPr lang="en-US" altLang="ko-KR" sz="1400" b="1" dirty="0">
                <a:solidFill>
                  <a:srgbClr val="FF0000"/>
                </a:solidFill>
              </a:rPr>
              <a:t>Contour</a:t>
            </a:r>
            <a:r>
              <a:rPr lang="en-US" altLang="ko-KR" sz="1400" b="1" dirty="0"/>
              <a:t>”</a:t>
            </a:r>
            <a:r>
              <a:rPr lang="en-US" altLang="ko-KR" sz="1400" dirty="0"/>
              <a:t>. This is a controller built to configure the open source (and </a:t>
            </a:r>
            <a:r>
              <a:rPr lang="en-US" altLang="ko-KR" sz="1400" b="1" dirty="0">
                <a:hlinkClick r:id="rId2"/>
              </a:rPr>
              <a:t>CNCF project</a:t>
            </a:r>
            <a:r>
              <a:rPr lang="en-US" altLang="ko-KR" sz="1400" dirty="0"/>
              <a:t>) load balancer called “</a:t>
            </a:r>
            <a:r>
              <a:rPr lang="en-US" altLang="ko-KR" sz="1400" b="1" dirty="0"/>
              <a:t>Envoy”</a:t>
            </a:r>
            <a:r>
              <a:rPr lang="en-US" altLang="ko-KR" sz="1400" dirty="0"/>
              <a:t>. </a:t>
            </a:r>
            <a:r>
              <a:rPr lang="en-US" altLang="ko-KR" sz="1400" b="1" dirty="0"/>
              <a:t>Envoy is built to be dynamically configured via an API</a:t>
            </a:r>
            <a:r>
              <a:rPr lang="en-US" altLang="ko-KR" sz="1400" dirty="0"/>
              <a:t>. </a:t>
            </a:r>
            <a:r>
              <a:rPr lang="en-US" altLang="ko-KR" sz="1400" b="1" dirty="0"/>
              <a:t>The “Contour Ingress controller” takes care of translating the “Ingress objects” into something that Envoy can understand</a:t>
            </a:r>
            <a:r>
              <a:rPr lang="en-US" altLang="ko-KR" sz="1400" dirty="0"/>
              <a:t>.</a:t>
            </a:r>
          </a:p>
          <a:p>
            <a:pPr lvl="1">
              <a:buFont typeface="Wingdings" panose="05000000000000000000" pitchFamily="2" charset="2"/>
              <a:buChar char="§"/>
            </a:pPr>
            <a:r>
              <a:rPr lang="en-US" altLang="ko-KR" sz="1400" dirty="0"/>
              <a:t>You can </a:t>
            </a:r>
            <a:r>
              <a:rPr lang="en-US" altLang="ko-KR" sz="1400" b="1" dirty="0"/>
              <a:t>install Contour </a:t>
            </a:r>
            <a:r>
              <a:rPr lang="en-US" altLang="ko-KR" sz="1400" dirty="0"/>
              <a:t>with the following command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Before you run “</a:t>
            </a:r>
            <a:r>
              <a:rPr lang="en-US" altLang="ko-KR" sz="1400" b="1" dirty="0" err="1"/>
              <a:t>kubectl</a:t>
            </a:r>
            <a:r>
              <a:rPr lang="en-US" altLang="ko-KR" sz="1400" b="1" dirty="0"/>
              <a:t> apply -f …” command, make sure that </a:t>
            </a:r>
            <a:r>
              <a:rPr lang="en-US" altLang="ko-KR" sz="1400" b="1" dirty="0" err="1"/>
              <a:t>minikube</a:t>
            </a:r>
            <a:r>
              <a:rPr lang="en-US" altLang="ko-KR" sz="1400" b="1" dirty="0"/>
              <a:t> is running. </a:t>
            </a:r>
          </a:p>
          <a:p>
            <a:pPr lvl="1">
              <a:buFont typeface="Wingdings" panose="05000000000000000000" pitchFamily="2" charset="2"/>
              <a:buChar char="§"/>
            </a:pPr>
            <a:r>
              <a:rPr lang="en-US" altLang="ko-KR" sz="1400" b="1" dirty="0"/>
              <a:t>The previous commands will create a namespace called </a:t>
            </a:r>
            <a:r>
              <a:rPr lang="en-US" altLang="ko-KR" sz="1400" dirty="0"/>
              <a:t>“</a:t>
            </a:r>
            <a:r>
              <a:rPr lang="en-US" altLang="ko-KR" sz="1400" b="1" dirty="0" err="1"/>
              <a:t>projectcontour</a:t>
            </a:r>
            <a:r>
              <a:rPr lang="en-US" altLang="ko-KR" sz="1400" dirty="0"/>
              <a:t>”. </a:t>
            </a:r>
            <a:r>
              <a:rPr lang="en-US" altLang="ko-KR" sz="1400" b="1" dirty="0"/>
              <a:t>Inside of that namespace it creates a “contour” </a:t>
            </a:r>
            <a:r>
              <a:rPr lang="en-US" altLang="ko-KR" sz="1400" dirty="0"/>
              <a:t>and </a:t>
            </a:r>
            <a:r>
              <a:rPr lang="en-US" altLang="ko-KR" sz="1400" b="1" dirty="0"/>
              <a:t>an “envoy”</a:t>
            </a:r>
            <a:r>
              <a:rPr lang="en-US" altLang="ko-KR" sz="1400" dirty="0"/>
              <a:t>. In addition, </a:t>
            </a:r>
            <a:r>
              <a:rPr lang="en-US" altLang="ko-KR" sz="1400" b="1" dirty="0"/>
              <a:t>it sets up the correct permissions via a service account and installs a “</a:t>
            </a:r>
            <a:r>
              <a:rPr lang="en-US" altLang="ko-KR" sz="1400" b="1" dirty="0" err="1"/>
              <a:t>customresourceDefinition</a:t>
            </a:r>
            <a:r>
              <a:rPr lang="en-US" altLang="ko-KR" sz="1400" b="1" dirty="0"/>
              <a:t>”.</a:t>
            </a:r>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1A4140DD-ABDA-4CC2-92DF-D2599AFF0EEC}"/>
              </a:ext>
            </a:extLst>
          </p:cNvPr>
          <p:cNvSpPr/>
          <p:nvPr/>
        </p:nvSpPr>
        <p:spPr>
          <a:xfrm>
            <a:off x="3048000" y="2231190"/>
            <a:ext cx="6096000" cy="400110"/>
          </a:xfrm>
          <a:prstGeom prst="rect">
            <a:avLst/>
          </a:prstGeom>
          <a:ln>
            <a:solidFill>
              <a:schemeClr val="bg1">
                <a:lumMod val="65000"/>
              </a:schemeClr>
            </a:solidFill>
          </a:ln>
        </p:spPr>
        <p:txBody>
          <a:bodyPr>
            <a:spAutoFit/>
          </a:bodyPr>
          <a:lstStyle/>
          <a:p>
            <a:r>
              <a:rPr lang="en-US" altLang="ko-KR" sz="1000" b="1" dirty="0"/>
              <a:t>$ </a:t>
            </a:r>
            <a:r>
              <a:rPr lang="en-US" altLang="ko-KR" sz="1000" b="1" dirty="0" err="1"/>
              <a:t>minikube</a:t>
            </a:r>
            <a:r>
              <a:rPr lang="en-US" altLang="ko-KR" sz="1000" b="1" dirty="0"/>
              <a:t> start</a:t>
            </a:r>
          </a:p>
          <a:p>
            <a:r>
              <a:rPr lang="en-US" altLang="ko-KR" sz="1000" b="1" dirty="0">
                <a:solidFill>
                  <a:srgbClr val="FF0000"/>
                </a:solidFill>
              </a:rPr>
              <a:t>$ </a:t>
            </a:r>
            <a:r>
              <a:rPr lang="en-US" altLang="ko-KR" sz="1000" b="1" dirty="0" err="1">
                <a:solidFill>
                  <a:srgbClr val="FF0000"/>
                </a:solidFill>
              </a:rPr>
              <a:t>kubectl</a:t>
            </a:r>
            <a:r>
              <a:rPr lang="en-US" altLang="ko-KR" sz="1000" b="1" dirty="0">
                <a:solidFill>
                  <a:srgbClr val="FF0000"/>
                </a:solidFill>
              </a:rPr>
              <a:t> apply -f https://projectcontour.io/quickstart/contour.yaml</a:t>
            </a:r>
            <a:endParaRPr lang="ko-KR" altLang="en-US" sz="1000" b="1" dirty="0">
              <a:solidFill>
                <a:srgbClr val="FF0000"/>
              </a:solidFill>
            </a:endParaRPr>
          </a:p>
        </p:txBody>
      </p:sp>
      <p:pic>
        <p:nvPicPr>
          <p:cNvPr id="9" name="그림 8">
            <a:extLst>
              <a:ext uri="{FF2B5EF4-FFF2-40B4-BE49-F238E27FC236}">
                <a16:creationId xmlns:a16="http://schemas.microsoft.com/office/drawing/2014/main" id="{3A6929D1-3E19-4CD2-A5ED-89298F2A74FC}"/>
              </a:ext>
            </a:extLst>
          </p:cNvPr>
          <p:cNvPicPr>
            <a:picLocks noChangeAspect="1"/>
          </p:cNvPicPr>
          <p:nvPr/>
        </p:nvPicPr>
        <p:blipFill>
          <a:blip r:embed="rId3"/>
          <a:stretch>
            <a:fillRect/>
          </a:stretch>
        </p:blipFill>
        <p:spPr>
          <a:xfrm>
            <a:off x="2789748" y="3678066"/>
            <a:ext cx="6612504" cy="2730964"/>
          </a:xfrm>
          <a:prstGeom prst="rect">
            <a:avLst/>
          </a:prstGeom>
          <a:ln>
            <a:solidFill>
              <a:schemeClr val="bg1">
                <a:lumMod val="65000"/>
              </a:schemeClr>
            </a:solidFill>
          </a:ln>
        </p:spPr>
      </p:pic>
    </p:spTree>
    <p:extLst>
      <p:ext uri="{BB962C8B-B14F-4D97-AF65-F5344CB8AC3E}">
        <p14:creationId xmlns:p14="http://schemas.microsoft.com/office/powerpoint/2010/main" val="28216917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Contour Installation</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Project Contour :</a:t>
            </a:r>
          </a:p>
          <a:p>
            <a:pPr lvl="1">
              <a:buFont typeface="Wingdings" panose="05000000000000000000" pitchFamily="2" charset="2"/>
              <a:buChar char="§"/>
            </a:pPr>
            <a:r>
              <a:rPr lang="en-US" altLang="ko-KR" sz="1400" dirty="0"/>
              <a:t>For more information, refer to </a:t>
            </a:r>
            <a:r>
              <a:rPr lang="en-US" altLang="ko-KR" sz="1400" b="1" dirty="0">
                <a:hlinkClick r:id="rId2"/>
              </a:rPr>
              <a:t>https://tanzu.vmware.com/developer/guides/service-routing-contour-to-ingress-and-beyond/</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AC52E9E7-5B1B-4191-BF26-638F95AF119F}"/>
              </a:ext>
            </a:extLst>
          </p:cNvPr>
          <p:cNvGrpSpPr/>
          <p:nvPr/>
        </p:nvGrpSpPr>
        <p:grpSpPr>
          <a:xfrm>
            <a:off x="1333500" y="1809772"/>
            <a:ext cx="9525000" cy="4059875"/>
            <a:chOff x="1333500" y="1682551"/>
            <a:chExt cx="9525000" cy="4059875"/>
          </a:xfrm>
        </p:grpSpPr>
        <p:sp>
          <p:nvSpPr>
            <p:cNvPr id="4" name="직사각형 3">
              <a:extLst>
                <a:ext uri="{FF2B5EF4-FFF2-40B4-BE49-F238E27FC236}">
                  <a16:creationId xmlns:a16="http://schemas.microsoft.com/office/drawing/2014/main" id="{B580CD3E-CCC7-4196-B676-9DF23F823220}"/>
                </a:ext>
              </a:extLst>
            </p:cNvPr>
            <p:cNvSpPr/>
            <p:nvPr/>
          </p:nvSpPr>
          <p:spPr>
            <a:xfrm>
              <a:off x="3048000" y="1682551"/>
              <a:ext cx="6096000" cy="861774"/>
            </a:xfrm>
            <a:prstGeom prst="rect">
              <a:avLst/>
            </a:prstGeom>
            <a:ln>
              <a:solidFill>
                <a:schemeClr val="bg1">
                  <a:lumMod val="65000"/>
                </a:schemeClr>
              </a:solidFill>
            </a:ln>
          </p:spPr>
          <p:txBody>
            <a:bodyPr>
              <a:spAutoFit/>
            </a:bodyPr>
            <a:lstStyle/>
            <a:p>
              <a:r>
                <a:rPr lang="da-DK" altLang="ko-KR" sz="1000" b="1" dirty="0"/>
                <a:t>wget </a:t>
              </a:r>
              <a:r>
                <a:rPr lang="da-DK" altLang="ko-KR" sz="1000" b="1" dirty="0">
                  <a:hlinkClick r:id="rId3"/>
                </a:rPr>
                <a:t>https://projectcontour.io/quickstart/v1.12.0/contour.yaml</a:t>
              </a:r>
              <a:endParaRPr lang="da-DK" altLang="ko-KR" sz="1000" b="1" dirty="0"/>
            </a:p>
            <a:p>
              <a:r>
                <a:rPr lang="en-US" altLang="ko-KR" sz="1000" b="1" dirty="0"/>
                <a:t>less </a:t>
              </a:r>
              <a:r>
                <a:rPr lang="en-US" altLang="ko-KR" sz="1000" b="1" dirty="0" err="1"/>
                <a:t>contour.yaml</a:t>
              </a:r>
              <a:endParaRPr lang="en-US" altLang="ko-KR" sz="1000" b="1" dirty="0"/>
            </a:p>
            <a:p>
              <a:r>
                <a:rPr lang="en-US" altLang="ko-KR" sz="1000" b="1" dirty="0" err="1"/>
                <a:t>kubectl</a:t>
              </a:r>
              <a:r>
                <a:rPr lang="en-US" altLang="ko-KR" sz="1000" b="1" dirty="0"/>
                <a:t> apply -f </a:t>
              </a:r>
              <a:r>
                <a:rPr lang="en-US" altLang="ko-KR" sz="1000" b="1" dirty="0" err="1"/>
                <a:t>contour.yaml</a:t>
              </a:r>
              <a:r>
                <a:rPr lang="en-US" altLang="ko-KR" sz="1000" b="1" dirty="0"/>
                <a:t> --dry-run=client</a:t>
              </a:r>
            </a:p>
            <a:p>
              <a:r>
                <a:rPr lang="en-US" altLang="ko-KR" sz="1000" b="1" dirty="0" err="1"/>
                <a:t>kubectl</a:t>
              </a:r>
              <a:r>
                <a:rPr lang="en-US" altLang="ko-KR" sz="1000" b="1" dirty="0"/>
                <a:t> apply -f </a:t>
              </a:r>
              <a:r>
                <a:rPr lang="en-US" altLang="ko-KR" sz="1000" b="1" dirty="0" err="1"/>
                <a:t>contour.yaml</a:t>
              </a:r>
              <a:endParaRPr lang="en-US" altLang="ko-KR" sz="1000" b="1" dirty="0"/>
            </a:p>
            <a:p>
              <a:r>
                <a:rPr lang="en-US" altLang="ko-KR" sz="1000" b="1" dirty="0" err="1"/>
                <a:t>kubectl</a:t>
              </a:r>
              <a:r>
                <a:rPr lang="en-US" altLang="ko-KR" sz="1000" b="1" dirty="0"/>
                <a:t> -n </a:t>
              </a:r>
              <a:r>
                <a:rPr lang="en-US" altLang="ko-KR" sz="1000" b="1" dirty="0" err="1"/>
                <a:t>projectcontour</a:t>
              </a:r>
              <a:r>
                <a:rPr lang="en-US" altLang="ko-KR" sz="1000" b="1" dirty="0"/>
                <a:t> get </a:t>
              </a:r>
              <a:r>
                <a:rPr lang="en-US" altLang="ko-KR" sz="1000" b="1" dirty="0" err="1"/>
                <a:t>deployment,daemonset,service</a:t>
              </a:r>
              <a:endParaRPr lang="ko-KR" altLang="en-US" sz="1000" b="1" dirty="0"/>
            </a:p>
          </p:txBody>
        </p:sp>
        <p:pic>
          <p:nvPicPr>
            <p:cNvPr id="9" name="그림 8">
              <a:extLst>
                <a:ext uri="{FF2B5EF4-FFF2-40B4-BE49-F238E27FC236}">
                  <a16:creationId xmlns:a16="http://schemas.microsoft.com/office/drawing/2014/main" id="{D8577C9F-23C6-40C2-B581-5AAF36CD5FEB}"/>
                </a:ext>
              </a:extLst>
            </p:cNvPr>
            <p:cNvPicPr>
              <a:picLocks noChangeAspect="1"/>
            </p:cNvPicPr>
            <p:nvPr/>
          </p:nvPicPr>
          <p:blipFill>
            <a:blip r:embed="rId4"/>
            <a:stretch>
              <a:fillRect/>
            </a:stretch>
          </p:blipFill>
          <p:spPr>
            <a:xfrm>
              <a:off x="1333500" y="2884926"/>
              <a:ext cx="9525000" cy="2857500"/>
            </a:xfrm>
            <a:prstGeom prst="rect">
              <a:avLst/>
            </a:prstGeom>
            <a:ln>
              <a:solidFill>
                <a:schemeClr val="bg1">
                  <a:lumMod val="65000"/>
                </a:schemeClr>
              </a:solidFill>
            </a:ln>
          </p:spPr>
        </p:pic>
        <p:sp>
          <p:nvSpPr>
            <p:cNvPr id="10" name="화살표: 아래쪽 9">
              <a:extLst>
                <a:ext uri="{FF2B5EF4-FFF2-40B4-BE49-F238E27FC236}">
                  <a16:creationId xmlns:a16="http://schemas.microsoft.com/office/drawing/2014/main" id="{AB1BC466-EEE6-48B4-A453-FCA8FE88495A}"/>
                </a:ext>
              </a:extLst>
            </p:cNvPr>
            <p:cNvSpPr/>
            <p:nvPr/>
          </p:nvSpPr>
          <p:spPr>
            <a:xfrm>
              <a:off x="5873363" y="2551391"/>
              <a:ext cx="445273" cy="31019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9881751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Installing Contour(2/2)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Ingress Controller : Contour</a:t>
            </a:r>
          </a:p>
          <a:p>
            <a:pPr lvl="1">
              <a:buFont typeface="Wingdings" panose="05000000000000000000" pitchFamily="2" charset="2"/>
              <a:buChar char="§"/>
            </a:pPr>
            <a:r>
              <a:rPr lang="en-US" altLang="ko-KR" sz="1400" b="1" dirty="0"/>
              <a:t>Because it is a global install, you need to ensure that you have </a:t>
            </a:r>
            <a:r>
              <a:rPr lang="en-US" altLang="ko-KR" sz="1400" b="1" dirty="0">
                <a:solidFill>
                  <a:srgbClr val="FF0000"/>
                </a:solidFill>
              </a:rPr>
              <a:t>wide admin permissions on the cluster </a:t>
            </a:r>
            <a:r>
              <a:rPr lang="en-US" altLang="ko-KR" sz="1400" b="1" dirty="0"/>
              <a:t>you are installing into</a:t>
            </a:r>
            <a:r>
              <a:rPr lang="en-US" altLang="ko-KR" sz="1400" dirty="0"/>
              <a:t>. After you install it, you can </a:t>
            </a:r>
            <a:r>
              <a:rPr lang="en-US" altLang="ko-KR" sz="1400" b="1" dirty="0"/>
              <a:t>fetch the external address of Contour </a:t>
            </a:r>
            <a:r>
              <a:rPr lang="en-US" altLang="ko-KR" sz="1400" dirty="0"/>
              <a:t>via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Look at the “EXTERNAL-IP” column</a:t>
            </a:r>
            <a:r>
              <a:rPr lang="en-US" altLang="ko-KR" sz="1400" dirty="0"/>
              <a:t>. This can be either an </a:t>
            </a:r>
            <a:r>
              <a:rPr lang="en-US" altLang="ko-KR" sz="1400" b="1" dirty="0"/>
              <a:t>IP address (for GCP and Azure)</a:t>
            </a:r>
            <a:r>
              <a:rPr lang="en-US" altLang="ko-KR" sz="1400" dirty="0"/>
              <a:t> or a </a:t>
            </a:r>
            <a:r>
              <a:rPr lang="en-US" altLang="ko-KR" sz="1400" b="1" dirty="0"/>
              <a:t>hostname (for AWS)</a:t>
            </a:r>
            <a:r>
              <a:rPr lang="en-US" altLang="ko-KR" sz="1400" dirty="0"/>
              <a:t>. Other clouds and environments may differ. </a:t>
            </a:r>
            <a:r>
              <a:rPr lang="en-US" altLang="ko-KR" sz="1400" b="1" dirty="0"/>
              <a:t>If your Kubernetes cluster doesn’t support services of type: “</a:t>
            </a:r>
            <a:r>
              <a:rPr lang="en-US" altLang="ko-KR" sz="1400" b="1" dirty="0" err="1"/>
              <a:t>LoadBalancer</a:t>
            </a:r>
            <a:r>
              <a:rPr lang="en-US" altLang="ko-KR" sz="1400" b="1" dirty="0"/>
              <a:t>”, you’ll have to </a:t>
            </a:r>
            <a:r>
              <a:rPr lang="en-US" altLang="ko-KR" sz="1400" b="1" dirty="0">
                <a:solidFill>
                  <a:srgbClr val="FF0000"/>
                </a:solidFill>
              </a:rPr>
              <a:t>change the YAML for installing Contour to simply use type: “</a:t>
            </a:r>
            <a:r>
              <a:rPr lang="en-US" altLang="ko-KR" sz="1400" b="1" dirty="0" err="1">
                <a:solidFill>
                  <a:srgbClr val="FF0000"/>
                </a:solidFill>
              </a:rPr>
              <a:t>NodePort</a:t>
            </a:r>
            <a:r>
              <a:rPr lang="en-US" altLang="ko-KR" sz="1400" b="1" dirty="0">
                <a:solidFill>
                  <a:srgbClr val="FF0000"/>
                </a:solidFill>
              </a:rPr>
              <a:t>”</a:t>
            </a:r>
            <a:r>
              <a:rPr lang="en-US" altLang="ko-KR" sz="1400" b="1" dirty="0"/>
              <a:t> and route traffic to machines on the cluster via a mechanism </a:t>
            </a:r>
            <a:r>
              <a:rPr lang="en-US" altLang="ko-KR" sz="1400" dirty="0"/>
              <a:t>that works in your configuration.</a:t>
            </a:r>
          </a:p>
          <a:p>
            <a:pPr lvl="1">
              <a:buFont typeface="Wingdings" panose="05000000000000000000" pitchFamily="2" charset="2"/>
              <a:buChar char="§"/>
            </a:pPr>
            <a:r>
              <a:rPr lang="en-US" altLang="ko-KR" sz="1400" b="1" dirty="0"/>
              <a:t>If you are using “</a:t>
            </a:r>
            <a:r>
              <a:rPr lang="en-US" altLang="ko-KR" sz="1400" b="1" dirty="0" err="1"/>
              <a:t>minikube</a:t>
            </a:r>
            <a:r>
              <a:rPr lang="en-US" altLang="ko-KR" sz="1400" b="1" dirty="0"/>
              <a:t>”, you probably won’t have anything listed for EXTERNAL-IP. To fix this, you need to open a separate terminal window and run “</a:t>
            </a:r>
            <a:r>
              <a:rPr lang="en-US" altLang="ko-KR" sz="1400" b="1" dirty="0" err="1">
                <a:solidFill>
                  <a:srgbClr val="FF0000"/>
                </a:solidFill>
              </a:rPr>
              <a:t>minikube</a:t>
            </a:r>
            <a:r>
              <a:rPr lang="en-US" altLang="ko-KR" sz="1400" b="1" dirty="0">
                <a:solidFill>
                  <a:srgbClr val="FF0000"/>
                </a:solidFill>
              </a:rPr>
              <a:t> tunnel</a:t>
            </a:r>
            <a:r>
              <a:rPr lang="en-US" altLang="ko-KR" sz="1400" b="1" dirty="0"/>
              <a:t>”</a:t>
            </a:r>
            <a:r>
              <a:rPr lang="en-US" altLang="ko-KR" sz="1400" dirty="0"/>
              <a:t>. </a:t>
            </a:r>
          </a:p>
          <a:p>
            <a:pPr lvl="1">
              <a:buFont typeface="Wingdings" panose="05000000000000000000" pitchFamily="2" charset="2"/>
              <a:buChar char="§"/>
            </a:pPr>
            <a:r>
              <a:rPr lang="en-US" altLang="ko-KR" sz="1400" b="1" dirty="0"/>
              <a:t>This configures networking routes such that you have “</a:t>
            </a:r>
            <a:r>
              <a:rPr lang="en-US" altLang="ko-KR" sz="1400" b="1" dirty="0">
                <a:solidFill>
                  <a:srgbClr val="FF0000"/>
                </a:solidFill>
              </a:rPr>
              <a:t>unique IP addresses assigned to every service of type : </a:t>
            </a:r>
            <a:r>
              <a:rPr lang="en-US" altLang="ko-KR" sz="1400" b="1" dirty="0" err="1">
                <a:solidFill>
                  <a:srgbClr val="FF0000"/>
                </a:solidFill>
              </a:rPr>
              <a:t>LoadBalancer</a:t>
            </a:r>
            <a:r>
              <a:rPr lang="en-US" altLang="ko-KR" sz="1400" b="1" dirty="0"/>
              <a: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32B0DD18-EBED-4913-8D8E-9E2209E9DFAA}"/>
              </a:ext>
            </a:extLst>
          </p:cNvPr>
          <p:cNvGrpSpPr/>
          <p:nvPr/>
        </p:nvGrpSpPr>
        <p:grpSpPr>
          <a:xfrm>
            <a:off x="1333500" y="1717683"/>
            <a:ext cx="9525000" cy="2358121"/>
            <a:chOff x="1333500" y="1717683"/>
            <a:chExt cx="9525000" cy="2358121"/>
          </a:xfrm>
        </p:grpSpPr>
        <p:grpSp>
          <p:nvGrpSpPr>
            <p:cNvPr id="10" name="그룹 9">
              <a:extLst>
                <a:ext uri="{FF2B5EF4-FFF2-40B4-BE49-F238E27FC236}">
                  <a16:creationId xmlns:a16="http://schemas.microsoft.com/office/drawing/2014/main" id="{E2980A01-54CB-4B53-9D50-F407CB91C9E7}"/>
                </a:ext>
              </a:extLst>
            </p:cNvPr>
            <p:cNvGrpSpPr/>
            <p:nvPr/>
          </p:nvGrpSpPr>
          <p:grpSpPr>
            <a:xfrm>
              <a:off x="1333500" y="1717683"/>
              <a:ext cx="9525000" cy="2358121"/>
              <a:chOff x="1333499" y="1677927"/>
              <a:chExt cx="9525000" cy="2358121"/>
            </a:xfrm>
          </p:grpSpPr>
          <p:sp>
            <p:nvSpPr>
              <p:cNvPr id="4" name="직사각형 3">
                <a:extLst>
                  <a:ext uri="{FF2B5EF4-FFF2-40B4-BE49-F238E27FC236}">
                    <a16:creationId xmlns:a16="http://schemas.microsoft.com/office/drawing/2014/main" id="{342F25EB-83F6-4408-8237-9E7611088879}"/>
                  </a:ext>
                </a:extLst>
              </p:cNvPr>
              <p:cNvSpPr/>
              <p:nvPr/>
            </p:nvSpPr>
            <p:spPr>
              <a:xfrm>
                <a:off x="4285249" y="1677927"/>
                <a:ext cx="3621505" cy="246221"/>
              </a:xfrm>
              <a:prstGeom prst="rect">
                <a:avLst/>
              </a:prstGeom>
              <a:ln>
                <a:solidFill>
                  <a:schemeClr val="bg1">
                    <a:lumMod val="65000"/>
                  </a:schemeClr>
                </a:solidFill>
              </a:ln>
            </p:spPr>
            <p:txBody>
              <a:bodyPr wrap="none">
                <a:spAutoFit/>
              </a:bodyPr>
              <a:lstStyle/>
              <a:p>
                <a:pPr algn="ctr"/>
                <a:r>
                  <a:rPr lang="en-US" altLang="ko-KR" sz="1000" b="1" dirty="0"/>
                  <a:t>$ </a:t>
                </a:r>
                <a:r>
                  <a:rPr lang="en-US" altLang="ko-KR" sz="1000" b="1" dirty="0" err="1"/>
                  <a:t>kubectl</a:t>
                </a:r>
                <a:r>
                  <a:rPr lang="en-US" altLang="ko-KR" sz="1000" b="1" dirty="0"/>
                  <a:t> get -n </a:t>
                </a:r>
                <a:r>
                  <a:rPr lang="en-US" altLang="ko-KR" sz="1000" b="1" dirty="0" err="1">
                    <a:solidFill>
                      <a:srgbClr val="FF0000"/>
                    </a:solidFill>
                  </a:rPr>
                  <a:t>projectcontour</a:t>
                </a:r>
                <a:r>
                  <a:rPr lang="en-US" altLang="ko-KR" sz="1000" b="1" dirty="0"/>
                  <a:t> </a:t>
                </a:r>
                <a:r>
                  <a:rPr lang="en-US" altLang="ko-KR" sz="1000" b="1" dirty="0">
                    <a:solidFill>
                      <a:srgbClr val="FF0000"/>
                    </a:solidFill>
                  </a:rPr>
                  <a:t>service</a:t>
                </a:r>
                <a:r>
                  <a:rPr lang="en-US" altLang="ko-KR" sz="1000" b="1" dirty="0"/>
                  <a:t> </a:t>
                </a:r>
                <a:r>
                  <a:rPr lang="en-US" altLang="ko-KR" sz="1000" b="1" dirty="0">
                    <a:solidFill>
                      <a:srgbClr val="FF0000"/>
                    </a:solidFill>
                  </a:rPr>
                  <a:t>contour</a:t>
                </a:r>
                <a:r>
                  <a:rPr lang="en-US" altLang="ko-KR" sz="1000" b="1" dirty="0"/>
                  <a:t> -o wide</a:t>
                </a:r>
                <a:endParaRPr lang="ko-KR" altLang="en-US" sz="1000" b="1" dirty="0"/>
              </a:p>
            </p:txBody>
          </p:sp>
          <p:sp>
            <p:nvSpPr>
              <p:cNvPr id="8" name="화살표: 아래쪽 7">
                <a:extLst>
                  <a:ext uri="{FF2B5EF4-FFF2-40B4-BE49-F238E27FC236}">
                    <a16:creationId xmlns:a16="http://schemas.microsoft.com/office/drawing/2014/main" id="{0003B3E3-B694-49C8-BD1D-4B8F31461C9C}"/>
                  </a:ext>
                </a:extLst>
              </p:cNvPr>
              <p:cNvSpPr/>
              <p:nvPr/>
            </p:nvSpPr>
            <p:spPr>
              <a:xfrm>
                <a:off x="5885290" y="1924148"/>
                <a:ext cx="421419" cy="30215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427FEF98-4101-4883-8973-E275D72F942E}"/>
                  </a:ext>
                </a:extLst>
              </p:cNvPr>
              <p:cNvPicPr>
                <a:picLocks noChangeAspect="1"/>
              </p:cNvPicPr>
              <p:nvPr/>
            </p:nvPicPr>
            <p:blipFill>
              <a:blip r:embed="rId2"/>
              <a:stretch>
                <a:fillRect/>
              </a:stretch>
            </p:blipFill>
            <p:spPr>
              <a:xfrm>
                <a:off x="1333499" y="2226298"/>
                <a:ext cx="9525000" cy="1809750"/>
              </a:xfrm>
              <a:prstGeom prst="rect">
                <a:avLst/>
              </a:prstGeom>
            </p:spPr>
          </p:pic>
        </p:grpSp>
        <p:sp>
          <p:nvSpPr>
            <p:cNvPr id="11" name="직사각형 10">
              <a:extLst>
                <a:ext uri="{FF2B5EF4-FFF2-40B4-BE49-F238E27FC236}">
                  <a16:creationId xmlns:a16="http://schemas.microsoft.com/office/drawing/2014/main" id="{8ABD957D-BDB6-41F6-9AEF-357F52018100}"/>
                </a:ext>
              </a:extLst>
            </p:cNvPr>
            <p:cNvSpPr/>
            <p:nvPr/>
          </p:nvSpPr>
          <p:spPr>
            <a:xfrm>
              <a:off x="4341412" y="2965837"/>
              <a:ext cx="938254" cy="33395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159934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a:t>
            </a:r>
            <a:r>
              <a:rPr lang="en-US" altLang="ko-KR" sz="2800" b="1" dirty="0" err="1"/>
              <a:t>Minikube</a:t>
            </a:r>
            <a:r>
              <a:rPr lang="en-US" altLang="ko-KR" sz="2800" b="1" dirty="0"/>
              <a:t> Tunnel</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Enable Tunneling :</a:t>
            </a:r>
          </a:p>
          <a:p>
            <a:pPr lvl="1">
              <a:buFont typeface="Wingdings" panose="05000000000000000000" pitchFamily="2" charset="2"/>
              <a:buChar char="§"/>
            </a:pPr>
            <a:r>
              <a:rPr lang="en-US" altLang="ko-KR" sz="1400" dirty="0"/>
              <a:t>The </a:t>
            </a:r>
            <a:r>
              <a:rPr lang="en-US" altLang="ko-KR" sz="1400" b="1" dirty="0">
                <a:solidFill>
                  <a:srgbClr val="FF0000"/>
                </a:solidFill>
              </a:rPr>
              <a:t>“EXTERNAL-IP” Column </a:t>
            </a:r>
            <a:r>
              <a:rPr lang="en-US" altLang="ko-KR" sz="1400" dirty="0"/>
              <a:t>shows the following screenshot after the “</a:t>
            </a:r>
            <a:r>
              <a:rPr lang="en-US" altLang="ko-KR" sz="1400" b="1" dirty="0" err="1"/>
              <a:t>minikube</a:t>
            </a:r>
            <a:r>
              <a:rPr lang="en-US" altLang="ko-KR" sz="1400" b="1" dirty="0"/>
              <a:t> tunnel</a:t>
            </a:r>
            <a:r>
              <a:rPr lang="en-US" altLang="ko-KR" sz="1400" dirty="0"/>
              <a:t>” command.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957844B1-E53D-41E5-9005-8BDEED9EBF5D}"/>
              </a:ext>
            </a:extLst>
          </p:cNvPr>
          <p:cNvGrpSpPr/>
          <p:nvPr/>
        </p:nvGrpSpPr>
        <p:grpSpPr>
          <a:xfrm>
            <a:off x="1819689" y="1495912"/>
            <a:ext cx="8552622" cy="4913118"/>
            <a:chOff x="1819689" y="1495912"/>
            <a:chExt cx="8552622" cy="4913118"/>
          </a:xfrm>
        </p:grpSpPr>
        <p:grpSp>
          <p:nvGrpSpPr>
            <p:cNvPr id="9" name="그룹 8">
              <a:extLst>
                <a:ext uri="{FF2B5EF4-FFF2-40B4-BE49-F238E27FC236}">
                  <a16:creationId xmlns:a16="http://schemas.microsoft.com/office/drawing/2014/main" id="{C9795656-4EF4-42D9-B77E-A58DE7DDA212}"/>
                </a:ext>
              </a:extLst>
            </p:cNvPr>
            <p:cNvGrpSpPr/>
            <p:nvPr/>
          </p:nvGrpSpPr>
          <p:grpSpPr>
            <a:xfrm>
              <a:off x="1819689" y="1495912"/>
              <a:ext cx="8552622" cy="4913118"/>
              <a:chOff x="1333500" y="1577092"/>
              <a:chExt cx="9525000" cy="5594196"/>
            </a:xfrm>
          </p:grpSpPr>
          <p:pic>
            <p:nvPicPr>
              <p:cNvPr id="4" name="그림 3">
                <a:extLst>
                  <a:ext uri="{FF2B5EF4-FFF2-40B4-BE49-F238E27FC236}">
                    <a16:creationId xmlns:a16="http://schemas.microsoft.com/office/drawing/2014/main" id="{060F3400-E07C-4E44-915E-E9E324E9100E}"/>
                  </a:ext>
                </a:extLst>
              </p:cNvPr>
              <p:cNvPicPr>
                <a:picLocks noChangeAspect="1"/>
              </p:cNvPicPr>
              <p:nvPr/>
            </p:nvPicPr>
            <p:blipFill>
              <a:blip r:embed="rId2"/>
              <a:stretch>
                <a:fillRect/>
              </a:stretch>
            </p:blipFill>
            <p:spPr>
              <a:xfrm>
                <a:off x="1333500" y="1577092"/>
                <a:ext cx="9525000" cy="2686050"/>
              </a:xfrm>
              <a:prstGeom prst="rect">
                <a:avLst/>
              </a:prstGeom>
              <a:ln>
                <a:solidFill>
                  <a:schemeClr val="bg1">
                    <a:lumMod val="65000"/>
                  </a:schemeClr>
                </a:solidFill>
              </a:ln>
            </p:spPr>
          </p:pic>
          <p:pic>
            <p:nvPicPr>
              <p:cNvPr id="8" name="그림 7">
                <a:extLst>
                  <a:ext uri="{FF2B5EF4-FFF2-40B4-BE49-F238E27FC236}">
                    <a16:creationId xmlns:a16="http://schemas.microsoft.com/office/drawing/2014/main" id="{674F2BB2-8C3F-4BBE-A972-CF0D635DEC9A}"/>
                  </a:ext>
                </a:extLst>
              </p:cNvPr>
              <p:cNvPicPr>
                <a:picLocks noChangeAspect="1"/>
              </p:cNvPicPr>
              <p:nvPr/>
            </p:nvPicPr>
            <p:blipFill>
              <a:blip r:embed="rId3"/>
              <a:stretch>
                <a:fillRect/>
              </a:stretch>
            </p:blipFill>
            <p:spPr>
              <a:xfrm>
                <a:off x="1333500" y="4285213"/>
                <a:ext cx="9525000" cy="2886075"/>
              </a:xfrm>
              <a:prstGeom prst="rect">
                <a:avLst/>
              </a:prstGeom>
              <a:ln>
                <a:solidFill>
                  <a:schemeClr val="bg1">
                    <a:lumMod val="65000"/>
                  </a:schemeClr>
                </a:solidFill>
              </a:ln>
            </p:spPr>
          </p:pic>
        </p:grpSp>
        <p:sp>
          <p:nvSpPr>
            <p:cNvPr id="10" name="직사각형 9">
              <a:extLst>
                <a:ext uri="{FF2B5EF4-FFF2-40B4-BE49-F238E27FC236}">
                  <a16:creationId xmlns:a16="http://schemas.microsoft.com/office/drawing/2014/main" id="{4FFD2596-707D-44D1-87A4-36F064C23ACF}"/>
                </a:ext>
              </a:extLst>
            </p:cNvPr>
            <p:cNvSpPr/>
            <p:nvPr/>
          </p:nvSpPr>
          <p:spPr>
            <a:xfrm>
              <a:off x="4818490" y="5629523"/>
              <a:ext cx="1049573" cy="45407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7702232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Configuring DNS</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DNS Entry :</a:t>
            </a:r>
          </a:p>
          <a:p>
            <a:pPr lvl="1">
              <a:buFont typeface="Wingdings" panose="05000000000000000000" pitchFamily="2" charset="2"/>
              <a:buChar char="§"/>
            </a:pPr>
            <a:r>
              <a:rPr lang="en-US" altLang="ko-KR" sz="1400" b="1" dirty="0"/>
              <a:t>To make Ingress work well, you need to configure DNS entries to the external address for your load balancer</a:t>
            </a:r>
            <a:r>
              <a:rPr lang="en-US" altLang="ko-KR" sz="1400" dirty="0"/>
              <a:t>. You can </a:t>
            </a:r>
            <a:r>
              <a:rPr lang="en-US" altLang="ko-KR" sz="1400" b="1" dirty="0"/>
              <a:t>map multiple hostnames to a single external endpoint </a:t>
            </a:r>
            <a:r>
              <a:rPr lang="en-US" altLang="ko-KR" sz="1400" dirty="0"/>
              <a:t>and </a:t>
            </a:r>
            <a:r>
              <a:rPr lang="en-US" altLang="ko-KR" sz="1400" b="1" dirty="0">
                <a:solidFill>
                  <a:srgbClr val="FF0000"/>
                </a:solidFill>
              </a:rPr>
              <a:t>the Ingress controller will play traffic cop and direct incoming requests to the appropriate upstream service based on that hostname</a:t>
            </a:r>
            <a:r>
              <a:rPr lang="en-US" altLang="ko-KR" sz="1400" dirty="0"/>
              <a:t>. </a:t>
            </a:r>
          </a:p>
          <a:p>
            <a:pPr lvl="1">
              <a:buFont typeface="Wingdings" panose="05000000000000000000" pitchFamily="2" charset="2"/>
              <a:buChar char="§"/>
            </a:pPr>
            <a:r>
              <a:rPr lang="en-US" altLang="ko-KR" sz="1400" dirty="0"/>
              <a:t>We assume that you have a domain called “</a:t>
            </a:r>
            <a:r>
              <a:rPr lang="en-US" altLang="ko-KR" sz="1400" b="1" dirty="0"/>
              <a:t>example.com”</a:t>
            </a:r>
            <a:r>
              <a:rPr lang="en-US" altLang="ko-KR" sz="1400" dirty="0"/>
              <a:t>. You need to </a:t>
            </a:r>
            <a:r>
              <a:rPr lang="en-US" altLang="ko-KR" sz="1400" b="1" dirty="0"/>
              <a:t>configure two DNS entries </a:t>
            </a:r>
            <a:r>
              <a:rPr lang="en-US" altLang="ko-KR" sz="1400" dirty="0"/>
              <a:t>: “</a:t>
            </a:r>
            <a:r>
              <a:rPr lang="en-US" altLang="ko-KR" sz="1400" b="1" dirty="0"/>
              <a:t>alpaca.example.com</a:t>
            </a:r>
            <a:r>
              <a:rPr lang="en-US" altLang="ko-KR" sz="1400" dirty="0"/>
              <a:t>” and “</a:t>
            </a:r>
            <a:r>
              <a:rPr lang="en-US" altLang="ko-KR" sz="1400" b="1" dirty="0"/>
              <a:t>bandicoot.example.com</a:t>
            </a:r>
            <a:r>
              <a:rPr lang="en-US" altLang="ko-KR" sz="1400" dirty="0"/>
              <a:t>”. If you have an IP address for your external load balancer, you’ll want to create “</a:t>
            </a:r>
            <a:r>
              <a:rPr lang="en-US" altLang="ko-KR" sz="1400" b="1" dirty="0"/>
              <a:t>A records</a:t>
            </a:r>
            <a:r>
              <a:rPr lang="en-US" altLang="ko-KR" sz="1400" dirty="0"/>
              <a:t>”. If you have a hostname, you’ll want to configure “</a:t>
            </a:r>
            <a:r>
              <a:rPr lang="en-US" altLang="ko-KR" sz="1400" b="1" dirty="0"/>
              <a:t>CNAME records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3D18B396-39F9-4AD7-BB22-64CFFA78E170}"/>
              </a:ext>
            </a:extLst>
          </p:cNvPr>
          <p:cNvGrpSpPr/>
          <p:nvPr/>
        </p:nvGrpSpPr>
        <p:grpSpPr>
          <a:xfrm>
            <a:off x="1961321" y="2958165"/>
            <a:ext cx="8269357" cy="2445120"/>
            <a:chOff x="1961321" y="2783237"/>
            <a:chExt cx="8269357" cy="2445120"/>
          </a:xfrm>
        </p:grpSpPr>
        <p:grpSp>
          <p:nvGrpSpPr>
            <p:cNvPr id="9" name="그룹 8">
              <a:extLst>
                <a:ext uri="{FF2B5EF4-FFF2-40B4-BE49-F238E27FC236}">
                  <a16:creationId xmlns:a16="http://schemas.microsoft.com/office/drawing/2014/main" id="{3F667A32-1D7A-4E12-8296-478723994282}"/>
                </a:ext>
              </a:extLst>
            </p:cNvPr>
            <p:cNvGrpSpPr/>
            <p:nvPr/>
          </p:nvGrpSpPr>
          <p:grpSpPr>
            <a:xfrm>
              <a:off x="1961321" y="2783237"/>
              <a:ext cx="8269357" cy="2445120"/>
              <a:chOff x="1152939" y="2592406"/>
              <a:chExt cx="8269357" cy="2445120"/>
            </a:xfrm>
          </p:grpSpPr>
          <p:pic>
            <p:nvPicPr>
              <p:cNvPr id="4" name="그림 3">
                <a:extLst>
                  <a:ext uri="{FF2B5EF4-FFF2-40B4-BE49-F238E27FC236}">
                    <a16:creationId xmlns:a16="http://schemas.microsoft.com/office/drawing/2014/main" id="{D0EB67DC-381B-4D34-BD02-628EFDB5038E}"/>
                  </a:ext>
                </a:extLst>
              </p:cNvPr>
              <p:cNvPicPr>
                <a:picLocks noChangeAspect="1"/>
              </p:cNvPicPr>
              <p:nvPr/>
            </p:nvPicPr>
            <p:blipFill>
              <a:blip r:embed="rId2"/>
              <a:stretch>
                <a:fillRect/>
              </a:stretch>
            </p:blipFill>
            <p:spPr>
              <a:xfrm>
                <a:off x="1152939" y="2592406"/>
                <a:ext cx="3289010" cy="2445120"/>
              </a:xfrm>
              <a:prstGeom prst="rect">
                <a:avLst/>
              </a:prstGeom>
              <a:ln>
                <a:noFill/>
              </a:ln>
            </p:spPr>
          </p:pic>
          <p:pic>
            <p:nvPicPr>
              <p:cNvPr id="8" name="그림 7">
                <a:extLst>
                  <a:ext uri="{FF2B5EF4-FFF2-40B4-BE49-F238E27FC236}">
                    <a16:creationId xmlns:a16="http://schemas.microsoft.com/office/drawing/2014/main" id="{11762F71-A591-49A3-9CB1-7CD236878D35}"/>
                  </a:ext>
                </a:extLst>
              </p:cNvPr>
              <p:cNvPicPr>
                <a:picLocks noChangeAspect="1"/>
              </p:cNvPicPr>
              <p:nvPr/>
            </p:nvPicPr>
            <p:blipFill>
              <a:blip r:embed="rId3"/>
              <a:stretch>
                <a:fillRect/>
              </a:stretch>
            </p:blipFill>
            <p:spPr>
              <a:xfrm>
                <a:off x="4441949" y="2623660"/>
                <a:ext cx="4980347" cy="2389325"/>
              </a:xfrm>
              <a:prstGeom prst="rect">
                <a:avLst/>
              </a:prstGeom>
              <a:ln>
                <a:solidFill>
                  <a:schemeClr val="bg1">
                    <a:lumMod val="50000"/>
                  </a:schemeClr>
                </a:solidFill>
              </a:ln>
            </p:spPr>
          </p:pic>
        </p:grpSp>
        <p:sp>
          <p:nvSpPr>
            <p:cNvPr id="10" name="직사각형 9">
              <a:extLst>
                <a:ext uri="{FF2B5EF4-FFF2-40B4-BE49-F238E27FC236}">
                  <a16:creationId xmlns:a16="http://schemas.microsoft.com/office/drawing/2014/main" id="{C89EC519-10B7-4890-B0C8-57034E26D63E}"/>
                </a:ext>
              </a:extLst>
            </p:cNvPr>
            <p:cNvSpPr/>
            <p:nvPr/>
          </p:nvSpPr>
          <p:spPr>
            <a:xfrm>
              <a:off x="1985174" y="3729162"/>
              <a:ext cx="3230881" cy="23058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2" name="직사각형 11">
            <a:extLst>
              <a:ext uri="{FF2B5EF4-FFF2-40B4-BE49-F238E27FC236}">
                <a16:creationId xmlns:a16="http://schemas.microsoft.com/office/drawing/2014/main" id="{C4AD43FB-1B48-4CA3-A5E2-4C69F9FD23EE}"/>
              </a:ext>
            </a:extLst>
          </p:cNvPr>
          <p:cNvSpPr/>
          <p:nvPr/>
        </p:nvSpPr>
        <p:spPr>
          <a:xfrm>
            <a:off x="1945419" y="2958165"/>
            <a:ext cx="8327667" cy="2445120"/>
          </a:xfrm>
          <a:prstGeom prst="rect">
            <a:avLst/>
          </a:pr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0397078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Configuring a Local “Hosts” File</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IP Address Setting :</a:t>
            </a:r>
          </a:p>
          <a:p>
            <a:pPr lvl="1">
              <a:buFont typeface="Wingdings" panose="05000000000000000000" pitchFamily="2" charset="2"/>
              <a:buChar char="§"/>
            </a:pPr>
            <a:r>
              <a:rPr lang="en-US" altLang="ko-KR" sz="1400" dirty="0"/>
              <a:t>If you don’t have a domain or if you are using a local solution such as “</a:t>
            </a:r>
            <a:r>
              <a:rPr lang="en-US" altLang="ko-KR" sz="1400" b="1" dirty="0" err="1"/>
              <a:t>minikube</a:t>
            </a:r>
            <a:r>
              <a:rPr lang="en-US" altLang="ko-KR" sz="1400" dirty="0"/>
              <a:t>”, you can set up a local configuration by editing your “</a:t>
            </a:r>
            <a:r>
              <a:rPr lang="en-US" altLang="ko-KR" sz="1400" b="1" dirty="0"/>
              <a:t>/</a:t>
            </a:r>
            <a:r>
              <a:rPr lang="en-US" altLang="ko-KR" sz="1400" b="1" dirty="0" err="1"/>
              <a:t>etc</a:t>
            </a:r>
            <a:r>
              <a:rPr lang="en-US" altLang="ko-KR" sz="1400" b="1" dirty="0"/>
              <a:t>/hosts</a:t>
            </a:r>
            <a:r>
              <a:rPr lang="en-US" altLang="ko-KR" sz="1400" dirty="0"/>
              <a:t>” file to add an IP address. You need “</a:t>
            </a:r>
            <a:r>
              <a:rPr lang="en-US" altLang="ko-KR" sz="1400" b="1" dirty="0"/>
              <a:t>root(administrator)” privileges </a:t>
            </a:r>
            <a:r>
              <a:rPr lang="en-US" altLang="ko-KR" sz="1400" dirty="0"/>
              <a:t>on your workstation. The location of the file may differ on your platform, and making it take effect may require extra steps. For example, on </a:t>
            </a:r>
            <a:r>
              <a:rPr lang="en-US" altLang="ko-KR" sz="1400" b="1" dirty="0"/>
              <a:t>Windows</a:t>
            </a:r>
            <a:r>
              <a:rPr lang="en-US" altLang="ko-KR" sz="1400" dirty="0"/>
              <a:t> the file is usually at “</a:t>
            </a:r>
            <a:r>
              <a:rPr lang="en-US" altLang="ko-KR" sz="1400" b="1" dirty="0"/>
              <a:t>C:\Windows\System32\drivers\etc\hosts</a:t>
            </a:r>
            <a:r>
              <a:rPr lang="en-US" altLang="ko-KR" sz="1400" dirty="0"/>
              <a:t>”, and for recent versions of </a:t>
            </a:r>
            <a:r>
              <a:rPr lang="en-US" altLang="ko-KR" sz="1400" b="1" dirty="0"/>
              <a:t>MacOS</a:t>
            </a:r>
            <a:r>
              <a:rPr lang="en-US" altLang="ko-KR" sz="1400" dirty="0"/>
              <a:t> you need to run “</a:t>
            </a:r>
            <a:r>
              <a:rPr lang="en-US" altLang="ko-KR" sz="1400" b="1" dirty="0" err="1"/>
              <a:t>sudo</a:t>
            </a:r>
            <a:r>
              <a:rPr lang="en-US" altLang="ko-KR" sz="1400" b="1" dirty="0"/>
              <a:t> </a:t>
            </a:r>
            <a:r>
              <a:rPr lang="en-US" altLang="ko-KR" sz="1400" b="1" dirty="0" err="1"/>
              <a:t>killall</a:t>
            </a:r>
            <a:r>
              <a:rPr lang="en-US" altLang="ko-KR" sz="1400" b="1" dirty="0"/>
              <a:t> -HUP </a:t>
            </a:r>
            <a:r>
              <a:rPr lang="en-US" altLang="ko-KR" sz="1400" b="1" dirty="0" err="1"/>
              <a:t>mDNSResponder</a:t>
            </a:r>
            <a:r>
              <a:rPr lang="en-US" altLang="ko-KR" sz="1400" dirty="0"/>
              <a:t>” after changing the file.</a:t>
            </a:r>
          </a:p>
          <a:p>
            <a:pPr lvl="1">
              <a:buFont typeface="Wingdings" panose="05000000000000000000" pitchFamily="2" charset="2"/>
              <a:buChar char="§"/>
            </a:pPr>
            <a:r>
              <a:rPr lang="en-US" altLang="ko-KR" sz="1400" dirty="0"/>
              <a:t>Edit the file to add a line like the following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For “</a:t>
            </a:r>
            <a:r>
              <a:rPr lang="en-US" altLang="ko-KR" sz="1400" b="1" dirty="0"/>
              <a:t>&lt;</a:t>
            </a:r>
            <a:r>
              <a:rPr lang="en-US" altLang="ko-KR" sz="1400" b="1" dirty="0" err="1"/>
              <a:t>ip</a:t>
            </a:r>
            <a:r>
              <a:rPr lang="en-US" altLang="ko-KR" sz="1400" b="1" dirty="0"/>
              <a:t>-address&gt;</a:t>
            </a:r>
            <a:r>
              <a:rPr lang="en-US" altLang="ko-KR" sz="1400" dirty="0"/>
              <a:t>”, fill in </a:t>
            </a:r>
            <a:r>
              <a:rPr lang="en-US" altLang="ko-KR" sz="1400" b="1" dirty="0"/>
              <a:t>the external IP address for Contour</a:t>
            </a:r>
            <a:r>
              <a:rPr lang="en-US" altLang="ko-KR" sz="1400" dirty="0"/>
              <a:t>. If all you have is a hostname (like from </a:t>
            </a:r>
            <a:r>
              <a:rPr lang="en-US" altLang="ko-KR" sz="1400" b="1" dirty="0"/>
              <a:t>AWS</a:t>
            </a:r>
            <a:r>
              <a:rPr lang="en-US" altLang="ko-KR" sz="1400" dirty="0"/>
              <a:t>), you can get an IP address (that may change in the future) by executing “</a:t>
            </a:r>
            <a:r>
              <a:rPr lang="en-US" altLang="ko-KR" sz="1400" b="1" dirty="0"/>
              <a:t>host -t a &lt;address&gt;</a:t>
            </a:r>
            <a:r>
              <a:rPr lang="en-US" altLang="ko-KR" sz="1400" dirty="0"/>
              <a:t>”. </a:t>
            </a:r>
          </a:p>
          <a:p>
            <a:pPr lvl="1">
              <a:buFont typeface="Wingdings" panose="05000000000000000000" pitchFamily="2" charset="2"/>
              <a:buChar char="§"/>
            </a:pPr>
            <a:r>
              <a:rPr lang="en-US" altLang="ko-KR" sz="1400" b="1" dirty="0"/>
              <a:t>NOTE : Don’t forget to undo these changes when you are done!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578F2506-C25C-4B2B-80E8-61E7C77BED10}"/>
              </a:ext>
            </a:extLst>
          </p:cNvPr>
          <p:cNvSpPr/>
          <p:nvPr/>
        </p:nvSpPr>
        <p:spPr>
          <a:xfrm>
            <a:off x="3048000" y="2628757"/>
            <a:ext cx="6096000" cy="246221"/>
          </a:xfrm>
          <a:prstGeom prst="rect">
            <a:avLst/>
          </a:prstGeom>
          <a:ln>
            <a:solidFill>
              <a:schemeClr val="bg1">
                <a:lumMod val="50000"/>
              </a:schemeClr>
            </a:solidFill>
          </a:ln>
        </p:spPr>
        <p:txBody>
          <a:bodyPr>
            <a:spAutoFit/>
          </a:bodyPr>
          <a:lstStyle/>
          <a:p>
            <a:r>
              <a:rPr lang="en-US" altLang="ko-KR" sz="1000" b="1" dirty="0">
                <a:solidFill>
                  <a:srgbClr val="FF0000"/>
                </a:solidFill>
              </a:rPr>
              <a:t>&lt;</a:t>
            </a:r>
            <a:r>
              <a:rPr lang="en-US" altLang="ko-KR" sz="1000" b="1" dirty="0" err="1">
                <a:solidFill>
                  <a:srgbClr val="FF0000"/>
                </a:solidFill>
              </a:rPr>
              <a:t>ip</a:t>
            </a:r>
            <a:r>
              <a:rPr lang="en-US" altLang="ko-KR" sz="1000" b="1" dirty="0">
                <a:solidFill>
                  <a:srgbClr val="FF0000"/>
                </a:solidFill>
              </a:rPr>
              <a:t>-address&gt; </a:t>
            </a:r>
            <a:r>
              <a:rPr lang="en-US" altLang="ko-KR" sz="1000" b="1" dirty="0"/>
              <a:t>alpaca.example.com bandicoot.example.com</a:t>
            </a:r>
          </a:p>
        </p:txBody>
      </p:sp>
      <p:pic>
        <p:nvPicPr>
          <p:cNvPr id="8" name="그림 7">
            <a:extLst>
              <a:ext uri="{FF2B5EF4-FFF2-40B4-BE49-F238E27FC236}">
                <a16:creationId xmlns:a16="http://schemas.microsoft.com/office/drawing/2014/main" id="{39BF99C4-245C-453D-9A06-A007A2E13DF6}"/>
              </a:ext>
            </a:extLst>
          </p:cNvPr>
          <p:cNvPicPr>
            <a:picLocks noChangeAspect="1"/>
          </p:cNvPicPr>
          <p:nvPr/>
        </p:nvPicPr>
        <p:blipFill>
          <a:blip r:embed="rId2"/>
          <a:stretch>
            <a:fillRect/>
          </a:stretch>
        </p:blipFill>
        <p:spPr>
          <a:xfrm>
            <a:off x="2172891" y="4055165"/>
            <a:ext cx="7846217" cy="2353865"/>
          </a:xfrm>
          <a:prstGeom prst="rect">
            <a:avLst/>
          </a:prstGeom>
          <a:ln>
            <a:solidFill>
              <a:schemeClr val="bg1">
                <a:lumMod val="65000"/>
              </a:schemeClr>
            </a:solidFill>
          </a:ln>
        </p:spPr>
      </p:pic>
    </p:spTree>
    <p:extLst>
      <p:ext uri="{BB962C8B-B14F-4D97-AF65-F5344CB8AC3E}">
        <p14:creationId xmlns:p14="http://schemas.microsoft.com/office/powerpoint/2010/main" val="29242983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Ingress(1/11)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Deployments :</a:t>
            </a:r>
          </a:p>
          <a:p>
            <a:pPr lvl="1">
              <a:buFont typeface="Wingdings" panose="05000000000000000000" pitchFamily="2" charset="2"/>
              <a:buChar char="§"/>
            </a:pPr>
            <a:r>
              <a:rPr lang="en-US" altLang="ko-KR" sz="1400" b="1" dirty="0"/>
              <a:t>Now that we have an Ingress controller configured</a:t>
            </a:r>
            <a:r>
              <a:rPr lang="en-US" altLang="ko-KR" sz="1400" dirty="0"/>
              <a:t>, let’s put it through its paces. First we’ll </a:t>
            </a:r>
            <a:r>
              <a:rPr lang="en-US" altLang="ko-KR" sz="1400" b="1" dirty="0"/>
              <a:t>create a few </a:t>
            </a:r>
            <a:r>
              <a:rPr lang="en-US" altLang="ko-KR" sz="1400" b="1" dirty="0">
                <a:solidFill>
                  <a:srgbClr val="FF0000"/>
                </a:solidFill>
              </a:rPr>
              <a:t>upstream</a:t>
            </a:r>
            <a:r>
              <a:rPr lang="en-US" altLang="ko-KR" sz="1400" b="1" dirty="0"/>
              <a:t> (also sometimes referred to as “</a:t>
            </a:r>
            <a:r>
              <a:rPr lang="en-US" altLang="ko-KR" sz="1400" b="1" dirty="0">
                <a:solidFill>
                  <a:srgbClr val="FF0000"/>
                </a:solidFill>
              </a:rPr>
              <a:t>backend</a:t>
            </a:r>
            <a:r>
              <a:rPr lang="en-US" altLang="ko-KR" sz="1400" b="1" dirty="0"/>
              <a:t>”) services</a:t>
            </a:r>
            <a:r>
              <a:rPr lang="en-US" altLang="ko-KR" sz="1400" dirty="0"/>
              <a:t> to play with by executing the following commands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6" name="그룹 15">
            <a:extLst>
              <a:ext uri="{FF2B5EF4-FFF2-40B4-BE49-F238E27FC236}">
                <a16:creationId xmlns:a16="http://schemas.microsoft.com/office/drawing/2014/main" id="{32543837-DFFE-4424-A449-E215034EA524}"/>
              </a:ext>
            </a:extLst>
          </p:cNvPr>
          <p:cNvGrpSpPr/>
          <p:nvPr/>
        </p:nvGrpSpPr>
        <p:grpSpPr>
          <a:xfrm>
            <a:off x="1362075" y="1676681"/>
            <a:ext cx="9467850" cy="4433325"/>
            <a:chOff x="1362075" y="1676681"/>
            <a:chExt cx="9467850" cy="4433325"/>
          </a:xfrm>
        </p:grpSpPr>
        <p:grpSp>
          <p:nvGrpSpPr>
            <p:cNvPr id="11" name="그룹 10">
              <a:extLst>
                <a:ext uri="{FF2B5EF4-FFF2-40B4-BE49-F238E27FC236}">
                  <a16:creationId xmlns:a16="http://schemas.microsoft.com/office/drawing/2014/main" id="{821BFB21-151B-4846-972D-66D163A570EE}"/>
                </a:ext>
              </a:extLst>
            </p:cNvPr>
            <p:cNvGrpSpPr/>
            <p:nvPr/>
          </p:nvGrpSpPr>
          <p:grpSpPr>
            <a:xfrm>
              <a:off x="3048000" y="1676681"/>
              <a:ext cx="6096000" cy="2565951"/>
              <a:chOff x="3048000" y="1645388"/>
              <a:chExt cx="6096000" cy="2565951"/>
            </a:xfrm>
          </p:grpSpPr>
          <p:sp>
            <p:nvSpPr>
              <p:cNvPr id="4" name="직사각형 3">
                <a:extLst>
                  <a:ext uri="{FF2B5EF4-FFF2-40B4-BE49-F238E27FC236}">
                    <a16:creationId xmlns:a16="http://schemas.microsoft.com/office/drawing/2014/main" id="{32316BB6-8E66-4054-A2C8-83A12E117B72}"/>
                  </a:ext>
                </a:extLst>
              </p:cNvPr>
              <p:cNvSpPr/>
              <p:nvPr/>
            </p:nvSpPr>
            <p:spPr>
              <a:xfrm>
                <a:off x="3048000" y="1645388"/>
                <a:ext cx="6096000" cy="2246769"/>
              </a:xfrm>
              <a:prstGeom prst="rect">
                <a:avLst/>
              </a:prstGeom>
              <a:ln>
                <a:solidFill>
                  <a:schemeClr val="bg1">
                    <a:lumMod val="65000"/>
                  </a:schemeClr>
                </a:solidFill>
              </a:ln>
            </p:spPr>
            <p:txBody>
              <a:bodyPr>
                <a:spAutoFit/>
              </a:bodyPr>
              <a:lstStyle/>
              <a:p>
                <a:r>
                  <a:rPr lang="en-US" altLang="ko-KR" sz="1000" b="1" dirty="0"/>
                  <a:t>$ </a:t>
                </a:r>
                <a:r>
                  <a:rPr lang="en-US" altLang="ko-KR" sz="1000" b="1" dirty="0" err="1">
                    <a:solidFill>
                      <a:srgbClr val="FF0000"/>
                    </a:solidFill>
                  </a:rPr>
                  <a:t>minikube</a:t>
                </a:r>
                <a:r>
                  <a:rPr lang="en-US" altLang="ko-KR" sz="1000" b="1" dirty="0">
                    <a:solidFill>
                      <a:srgbClr val="FF0000"/>
                    </a:solidFill>
                  </a:rPr>
                  <a:t> start</a:t>
                </a:r>
              </a:p>
              <a:p>
                <a:r>
                  <a:rPr lang="en-US" altLang="ko-KR" sz="1000" b="1" dirty="0"/>
                  <a:t>$ </a:t>
                </a:r>
                <a:r>
                  <a:rPr lang="en-US" altLang="ko-KR" sz="1000" b="1" dirty="0" err="1"/>
                  <a:t>kubectl</a:t>
                </a:r>
                <a:r>
                  <a:rPr lang="en-US" altLang="ko-KR" sz="1000" b="1" dirty="0"/>
                  <a:t> </a:t>
                </a:r>
                <a:r>
                  <a:rPr lang="en-US" altLang="ko-KR" sz="1000" b="1" dirty="0">
                    <a:solidFill>
                      <a:srgbClr val="FF0000"/>
                    </a:solidFill>
                  </a:rPr>
                  <a:t>create deployment</a:t>
                </a:r>
                <a:r>
                  <a:rPr lang="en-US" altLang="ko-KR" sz="1000" b="1" dirty="0"/>
                  <a:t> </a:t>
                </a:r>
                <a:r>
                  <a:rPr lang="en-US" altLang="ko-KR" sz="1000" b="1" dirty="0">
                    <a:solidFill>
                      <a:srgbClr val="FF0000"/>
                    </a:solidFill>
                  </a:rPr>
                  <a:t>default-http-backend</a:t>
                </a:r>
                <a:r>
                  <a:rPr lang="en-US" altLang="ko-KR" sz="1000" b="1" dirty="0"/>
                  <a:t> \</a:t>
                </a:r>
              </a:p>
              <a:p>
                <a:r>
                  <a:rPr lang="en-US" altLang="ko-KR" sz="1000" b="1" dirty="0"/>
                  <a:t>--image=knix008/kuard-shkwon-amd64:1.0 \</a:t>
                </a:r>
              </a:p>
              <a:p>
                <a:r>
                  <a:rPr lang="en-US" altLang="ko-KR" sz="1000" b="1" dirty="0"/>
                  <a:t>--port=8080</a:t>
                </a:r>
              </a:p>
              <a:p>
                <a:r>
                  <a:rPr lang="en-US" altLang="ko-KR" sz="1000" b="1" dirty="0"/>
                  <a:t>$ </a:t>
                </a:r>
                <a:r>
                  <a:rPr lang="en-US" altLang="ko-KR" sz="1000" b="1" dirty="0" err="1"/>
                  <a:t>kubectl</a:t>
                </a:r>
                <a:r>
                  <a:rPr lang="en-US" altLang="ko-KR" sz="1000" b="1" dirty="0"/>
                  <a:t> </a:t>
                </a:r>
                <a:r>
                  <a:rPr lang="en-US" altLang="ko-KR" sz="1000" b="1" dirty="0">
                    <a:solidFill>
                      <a:srgbClr val="FF0000"/>
                    </a:solidFill>
                  </a:rPr>
                  <a:t>expose deployment default-http-backend --type </a:t>
                </a:r>
                <a:r>
                  <a:rPr lang="en-US" altLang="ko-KR" sz="1000" b="1" dirty="0" err="1">
                    <a:solidFill>
                      <a:srgbClr val="FF0000"/>
                    </a:solidFill>
                  </a:rPr>
                  <a:t>NodePort</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a:t>
                </a:r>
                <a:r>
                  <a:rPr lang="en-US" altLang="ko-KR" sz="1000" b="1" dirty="0">
                    <a:solidFill>
                      <a:srgbClr val="FF0000"/>
                    </a:solidFill>
                  </a:rPr>
                  <a:t>create deployment alpaca </a:t>
                </a:r>
                <a:r>
                  <a:rPr lang="en-US" altLang="ko-KR" sz="1000" b="1" dirty="0"/>
                  <a:t>\</a:t>
                </a:r>
              </a:p>
              <a:p>
                <a:r>
                  <a:rPr lang="en-US" altLang="ko-KR" sz="1000" b="1" dirty="0"/>
                  <a:t>--image=knix008/kuard-shkwon-amd64:1.0 \</a:t>
                </a:r>
              </a:p>
              <a:p>
                <a:r>
                  <a:rPr lang="en-US" altLang="ko-KR" sz="1000" b="1" dirty="0"/>
                  <a:t>--port=8080</a:t>
                </a:r>
              </a:p>
              <a:p>
                <a:r>
                  <a:rPr lang="en-US" altLang="ko-KR" sz="1000" b="1" dirty="0"/>
                  <a:t>$ </a:t>
                </a:r>
                <a:r>
                  <a:rPr lang="en-US" altLang="ko-KR" sz="1000" b="1" dirty="0" err="1"/>
                  <a:t>kubectl</a:t>
                </a:r>
                <a:r>
                  <a:rPr lang="en-US" altLang="ko-KR" sz="1000" b="1" dirty="0"/>
                  <a:t> </a:t>
                </a:r>
                <a:r>
                  <a:rPr lang="en-US" altLang="ko-KR" sz="1000" b="1" dirty="0">
                    <a:solidFill>
                      <a:srgbClr val="FF0000"/>
                    </a:solidFill>
                  </a:rPr>
                  <a:t>expose deployment alpaca --type </a:t>
                </a:r>
                <a:r>
                  <a:rPr lang="en-US" altLang="ko-KR" sz="1000" b="1" dirty="0" err="1">
                    <a:solidFill>
                      <a:srgbClr val="FF0000"/>
                    </a:solidFill>
                  </a:rPr>
                  <a:t>NodePort</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a:t>
                </a:r>
                <a:r>
                  <a:rPr lang="en-US" altLang="ko-KR" sz="1000" b="1" dirty="0">
                    <a:solidFill>
                      <a:srgbClr val="FF0000"/>
                    </a:solidFill>
                  </a:rPr>
                  <a:t>create deployment bandicoot </a:t>
                </a:r>
                <a:r>
                  <a:rPr lang="en-US" altLang="ko-KR" sz="1000" b="1" dirty="0"/>
                  <a:t>\</a:t>
                </a:r>
              </a:p>
              <a:p>
                <a:r>
                  <a:rPr lang="en-US" altLang="ko-KR" sz="1000" b="1" dirty="0"/>
                  <a:t>--image=knix008/kuard-shkwon-amd64:1.0 \</a:t>
                </a:r>
              </a:p>
              <a:p>
                <a:r>
                  <a:rPr lang="en-US" altLang="ko-KR" sz="1000" b="1" dirty="0"/>
                  <a:t>--port=8080</a:t>
                </a:r>
              </a:p>
              <a:p>
                <a:r>
                  <a:rPr lang="en-US" altLang="ko-KR" sz="1000" b="1" dirty="0"/>
                  <a:t>$ </a:t>
                </a:r>
                <a:r>
                  <a:rPr lang="en-US" altLang="ko-KR" sz="1000" b="1" dirty="0" err="1"/>
                  <a:t>kubectl</a:t>
                </a:r>
                <a:r>
                  <a:rPr lang="en-US" altLang="ko-KR" sz="1000" b="1" dirty="0"/>
                  <a:t> </a:t>
                </a:r>
                <a:r>
                  <a:rPr lang="en-US" altLang="ko-KR" sz="1000" b="1" dirty="0">
                    <a:solidFill>
                      <a:srgbClr val="FF0000"/>
                    </a:solidFill>
                  </a:rPr>
                  <a:t>expose deployment bandicoot --type </a:t>
                </a:r>
                <a:r>
                  <a:rPr lang="en-US" altLang="ko-KR" sz="1000" b="1" dirty="0" err="1">
                    <a:solidFill>
                      <a:srgbClr val="FF0000"/>
                    </a:solidFill>
                  </a:rPr>
                  <a:t>NodePort</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get services -o wide</a:t>
                </a:r>
                <a:endParaRPr lang="ko-KR" altLang="en-US" sz="1000" b="1" dirty="0"/>
              </a:p>
            </p:txBody>
          </p:sp>
          <p:sp>
            <p:nvSpPr>
              <p:cNvPr id="10" name="화살표: 아래쪽 9">
                <a:extLst>
                  <a:ext uri="{FF2B5EF4-FFF2-40B4-BE49-F238E27FC236}">
                    <a16:creationId xmlns:a16="http://schemas.microsoft.com/office/drawing/2014/main" id="{0F0F24B5-5FA5-4C13-83B9-942749F635EC}"/>
                  </a:ext>
                </a:extLst>
              </p:cNvPr>
              <p:cNvSpPr/>
              <p:nvPr/>
            </p:nvSpPr>
            <p:spPr>
              <a:xfrm>
                <a:off x="5893242" y="3921110"/>
                <a:ext cx="405516" cy="290229"/>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5" name="그림 14">
              <a:extLst>
                <a:ext uri="{FF2B5EF4-FFF2-40B4-BE49-F238E27FC236}">
                  <a16:creationId xmlns:a16="http://schemas.microsoft.com/office/drawing/2014/main" id="{BB66B150-303F-4BD3-AB1E-1479E46A6958}"/>
                </a:ext>
              </a:extLst>
            </p:cNvPr>
            <p:cNvPicPr>
              <a:picLocks noChangeAspect="1"/>
            </p:cNvPicPr>
            <p:nvPr/>
          </p:nvPicPr>
          <p:blipFill>
            <a:blip r:embed="rId2"/>
            <a:stretch>
              <a:fillRect/>
            </a:stretch>
          </p:blipFill>
          <p:spPr>
            <a:xfrm>
              <a:off x="1362075" y="4252631"/>
              <a:ext cx="9467850" cy="1857375"/>
            </a:xfrm>
            <a:prstGeom prst="rect">
              <a:avLst/>
            </a:prstGeom>
            <a:ln>
              <a:solidFill>
                <a:schemeClr val="bg1">
                  <a:lumMod val="50000"/>
                </a:schemeClr>
              </a:solidFill>
            </a:ln>
          </p:spPr>
        </p:pic>
      </p:grpSp>
    </p:spTree>
    <p:extLst>
      <p:ext uri="{BB962C8B-B14F-4D97-AF65-F5344CB8AC3E}">
        <p14:creationId xmlns:p14="http://schemas.microsoft.com/office/powerpoint/2010/main" val="35666939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Ingress(2/11)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Simple Usage :</a:t>
            </a:r>
          </a:p>
          <a:p>
            <a:pPr lvl="1">
              <a:buFont typeface="Wingdings" panose="05000000000000000000" pitchFamily="2" charset="2"/>
              <a:buChar char="§"/>
            </a:pPr>
            <a:r>
              <a:rPr lang="en-US" altLang="ko-KR" sz="1400" b="1" dirty="0"/>
              <a:t>The simplest way to use “Ingress” is to have it just blindly pass everything that it sees through to an upstream service</a:t>
            </a:r>
            <a:r>
              <a:rPr lang="en-US" altLang="ko-KR" sz="1400" dirty="0"/>
              <a:t>. There is limited support for </a:t>
            </a:r>
            <a:r>
              <a:rPr lang="en-US" altLang="ko-KR" sz="1400" b="1" dirty="0"/>
              <a:t>imperative commands to work with “Ingress” in “</a:t>
            </a:r>
            <a:r>
              <a:rPr lang="en-US" altLang="ko-KR" sz="1400" b="1" dirty="0" err="1"/>
              <a:t>kubectl</a:t>
            </a:r>
            <a:r>
              <a:rPr lang="en-US" altLang="ko-KR" sz="1400" b="1" dirty="0"/>
              <a:t>”</a:t>
            </a:r>
            <a:r>
              <a:rPr lang="en-US" altLang="ko-KR" sz="1400" dirty="0"/>
              <a:t>, so we’ll </a:t>
            </a:r>
            <a:r>
              <a:rPr lang="en-US" altLang="ko-KR" sz="1400" b="1" dirty="0"/>
              <a:t>start with a YAML file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AC164AFB-9E4E-471B-B0D7-BF48B67A6E5C}"/>
              </a:ext>
            </a:extLst>
          </p:cNvPr>
          <p:cNvGrpSpPr/>
          <p:nvPr/>
        </p:nvGrpSpPr>
        <p:grpSpPr>
          <a:xfrm>
            <a:off x="3047999" y="1638116"/>
            <a:ext cx="6096000" cy="2646878"/>
            <a:chOff x="3048000" y="1853418"/>
            <a:chExt cx="6096000" cy="2646878"/>
          </a:xfrm>
        </p:grpSpPr>
        <p:sp>
          <p:nvSpPr>
            <p:cNvPr id="8" name="직사각형 7">
              <a:extLst>
                <a:ext uri="{FF2B5EF4-FFF2-40B4-BE49-F238E27FC236}">
                  <a16:creationId xmlns:a16="http://schemas.microsoft.com/office/drawing/2014/main" id="{CB28B381-7C02-4E2D-BF47-FACB09CCA3C0}"/>
                </a:ext>
              </a:extLst>
            </p:cNvPr>
            <p:cNvSpPr/>
            <p:nvPr/>
          </p:nvSpPr>
          <p:spPr>
            <a:xfrm>
              <a:off x="3048000" y="1853418"/>
              <a:ext cx="6096000" cy="2400657"/>
            </a:xfrm>
            <a:prstGeom prst="rect">
              <a:avLst/>
            </a:prstGeom>
            <a:ln>
              <a:solidFill>
                <a:schemeClr val="bg1">
                  <a:lumMod val="50000"/>
                </a:schemeClr>
              </a:solidFill>
            </a:ln>
          </p:spPr>
          <p:txBody>
            <a:bodyPr>
              <a:spAutoFit/>
            </a:bodyPr>
            <a:lstStyle/>
            <a:p>
              <a:r>
                <a:rPr lang="en-US" altLang="ko-KR" sz="1000" b="1" dirty="0" err="1"/>
                <a:t>apiVersion</a:t>
              </a:r>
              <a:r>
                <a:rPr lang="en-US" altLang="ko-KR" sz="1000" b="1" dirty="0"/>
                <a:t>: </a:t>
              </a:r>
              <a:r>
                <a:rPr lang="en-US" altLang="ko-KR" sz="1000" b="1" dirty="0">
                  <a:solidFill>
                    <a:srgbClr val="FF0000"/>
                  </a:solidFill>
                </a:rPr>
                <a:t>networking.k8s.io/v1</a:t>
              </a:r>
            </a:p>
            <a:p>
              <a:r>
                <a:rPr lang="en-US" altLang="ko-KR" sz="1000" b="1" dirty="0"/>
                <a:t>kind: </a:t>
              </a:r>
              <a:r>
                <a:rPr lang="en-US" altLang="ko-KR" sz="1000" b="1" dirty="0">
                  <a:solidFill>
                    <a:srgbClr val="FF0000"/>
                  </a:solidFill>
                </a:rPr>
                <a:t>Ingress</a:t>
              </a:r>
            </a:p>
            <a:p>
              <a:r>
                <a:rPr lang="en-US" altLang="ko-KR" sz="1000" b="1" dirty="0"/>
                <a:t>metadata:</a:t>
              </a:r>
            </a:p>
            <a:p>
              <a:r>
                <a:rPr lang="en-US" altLang="ko-KR" sz="1000" b="1" dirty="0"/>
                <a:t>  name: </a:t>
              </a:r>
              <a:r>
                <a:rPr lang="en-US" altLang="ko-KR" sz="1000" b="1" dirty="0">
                  <a:solidFill>
                    <a:srgbClr val="FF0000"/>
                  </a:solidFill>
                </a:rPr>
                <a:t>simple-ingress</a:t>
              </a:r>
            </a:p>
            <a:p>
              <a:r>
                <a:rPr lang="en-US" altLang="ko-KR" sz="1000" b="1" dirty="0"/>
                <a:t>spec:</a:t>
              </a:r>
            </a:p>
            <a:p>
              <a:r>
                <a:rPr lang="en-US" altLang="ko-KR" sz="1000" b="1" dirty="0"/>
                <a:t>  rules:</a:t>
              </a:r>
            </a:p>
            <a:p>
              <a:r>
                <a:rPr lang="en-US" altLang="ko-KR" sz="1000" b="1" dirty="0"/>
                <a:t>  - http:</a:t>
              </a:r>
            </a:p>
            <a:p>
              <a:r>
                <a:rPr lang="en-US" altLang="ko-KR" sz="1000" b="1" dirty="0"/>
                <a:t>      paths:</a:t>
              </a:r>
            </a:p>
            <a:p>
              <a:r>
                <a:rPr lang="en-US" altLang="ko-KR" sz="1000" b="1" dirty="0"/>
                <a:t>      - path: </a:t>
              </a:r>
              <a:r>
                <a:rPr lang="en-US" altLang="ko-KR" sz="1000" b="1" dirty="0">
                  <a:solidFill>
                    <a:srgbClr val="FF0000"/>
                  </a:solidFill>
                </a:rPr>
                <a:t>/alpaca</a:t>
              </a:r>
            </a:p>
            <a:p>
              <a:r>
                <a:rPr lang="en-US" altLang="ko-KR" sz="1000" b="1" dirty="0"/>
                <a:t>        </a:t>
              </a:r>
              <a:r>
                <a:rPr lang="en-US" altLang="ko-KR" sz="1000" b="1" dirty="0" err="1"/>
                <a:t>pathType</a:t>
              </a:r>
              <a:r>
                <a:rPr lang="en-US" altLang="ko-KR" sz="1000" b="1" dirty="0"/>
                <a:t>: </a:t>
              </a:r>
              <a:r>
                <a:rPr lang="en-US" altLang="ko-KR" sz="1000" b="1" dirty="0">
                  <a:solidFill>
                    <a:srgbClr val="FF0000"/>
                  </a:solidFill>
                </a:rPr>
                <a:t>Prefix</a:t>
              </a:r>
            </a:p>
            <a:p>
              <a:r>
                <a:rPr lang="en-US" altLang="ko-KR" sz="1000" b="1" dirty="0"/>
                <a:t>        backend:</a:t>
              </a:r>
            </a:p>
            <a:p>
              <a:r>
                <a:rPr lang="en-US" altLang="ko-KR" sz="1000" b="1" dirty="0"/>
                <a:t>          service:</a:t>
              </a:r>
            </a:p>
            <a:p>
              <a:r>
                <a:rPr lang="en-US" altLang="ko-KR" sz="1000" b="1" dirty="0"/>
                <a:t>            name: </a:t>
              </a:r>
              <a:r>
                <a:rPr lang="en-US" altLang="ko-KR" sz="1000" b="1" dirty="0">
                  <a:solidFill>
                    <a:srgbClr val="FF0000"/>
                  </a:solidFill>
                </a:rPr>
                <a:t>alpaca</a:t>
              </a:r>
            </a:p>
            <a:p>
              <a:r>
                <a:rPr lang="en-US" altLang="ko-KR" sz="1000" b="1" dirty="0"/>
                <a:t>            port:</a:t>
              </a:r>
            </a:p>
            <a:p>
              <a:r>
                <a:rPr lang="en-US" altLang="ko-KR" sz="1000" b="1" dirty="0"/>
                <a:t>              number: </a:t>
              </a:r>
              <a:r>
                <a:rPr lang="en-US" altLang="ko-KR" sz="1000" b="1" dirty="0">
                  <a:solidFill>
                    <a:srgbClr val="FF0000"/>
                  </a:solidFill>
                </a:rPr>
                <a:t>8080</a:t>
              </a:r>
              <a:endParaRPr lang="ko-KR" altLang="en-US" sz="1000" b="1" dirty="0">
                <a:solidFill>
                  <a:srgbClr val="FF0000"/>
                </a:solidFill>
              </a:endParaRPr>
            </a:p>
          </p:txBody>
        </p:sp>
        <p:sp>
          <p:nvSpPr>
            <p:cNvPr id="10" name="TextBox 9">
              <a:extLst>
                <a:ext uri="{FF2B5EF4-FFF2-40B4-BE49-F238E27FC236}">
                  <a16:creationId xmlns:a16="http://schemas.microsoft.com/office/drawing/2014/main" id="{B0001FE1-9D92-448C-A3E8-184B5146E95D}"/>
                </a:ext>
              </a:extLst>
            </p:cNvPr>
            <p:cNvSpPr txBox="1"/>
            <p:nvPr/>
          </p:nvSpPr>
          <p:spPr>
            <a:xfrm>
              <a:off x="4383839" y="4254075"/>
              <a:ext cx="3424335" cy="246221"/>
            </a:xfrm>
            <a:prstGeom prst="rect">
              <a:avLst/>
            </a:prstGeom>
            <a:noFill/>
          </p:spPr>
          <p:txBody>
            <a:bodyPr wrap="none" rtlCol="0">
              <a:spAutoFit/>
            </a:bodyPr>
            <a:lstStyle/>
            <a:p>
              <a:pPr algn="ctr"/>
              <a:r>
                <a:rPr lang="en-US" altLang="ko-KR" sz="1000" b="1" dirty="0"/>
                <a:t>simple-</a:t>
              </a:r>
              <a:r>
                <a:rPr lang="en-US" altLang="ko-KR" sz="1000" b="1" dirty="0" err="1"/>
                <a:t>ingress.yaml</a:t>
              </a:r>
              <a:r>
                <a:rPr lang="en-US" altLang="ko-KR" sz="1000" b="1" dirty="0"/>
                <a:t>(The Minimal Ingress YAML File)</a:t>
              </a:r>
              <a:endParaRPr lang="ko-KR" altLang="en-US" sz="1000" b="1" dirty="0"/>
            </a:p>
          </p:txBody>
        </p:sp>
      </p:grpSp>
      <p:grpSp>
        <p:nvGrpSpPr>
          <p:cNvPr id="17" name="그룹 16">
            <a:extLst>
              <a:ext uri="{FF2B5EF4-FFF2-40B4-BE49-F238E27FC236}">
                <a16:creationId xmlns:a16="http://schemas.microsoft.com/office/drawing/2014/main" id="{CFD3B5DD-74CC-41F2-9565-F5C49F31671F}"/>
              </a:ext>
            </a:extLst>
          </p:cNvPr>
          <p:cNvGrpSpPr/>
          <p:nvPr/>
        </p:nvGrpSpPr>
        <p:grpSpPr>
          <a:xfrm>
            <a:off x="2444860" y="4350866"/>
            <a:ext cx="7302280" cy="2058164"/>
            <a:chOff x="2444860" y="4350866"/>
            <a:chExt cx="7302280" cy="2058164"/>
          </a:xfrm>
        </p:grpSpPr>
        <p:grpSp>
          <p:nvGrpSpPr>
            <p:cNvPr id="15" name="그룹 14">
              <a:extLst>
                <a:ext uri="{FF2B5EF4-FFF2-40B4-BE49-F238E27FC236}">
                  <a16:creationId xmlns:a16="http://schemas.microsoft.com/office/drawing/2014/main" id="{73884DD7-C4F6-4E41-B181-F167EBE8A032}"/>
                </a:ext>
              </a:extLst>
            </p:cNvPr>
            <p:cNvGrpSpPr/>
            <p:nvPr/>
          </p:nvGrpSpPr>
          <p:grpSpPr>
            <a:xfrm>
              <a:off x="3048000" y="4350866"/>
              <a:ext cx="6095999" cy="525102"/>
              <a:chOff x="3048001" y="4532956"/>
              <a:chExt cx="6095999" cy="525102"/>
            </a:xfrm>
          </p:grpSpPr>
          <p:sp>
            <p:nvSpPr>
              <p:cNvPr id="9" name="직사각형 8">
                <a:extLst>
                  <a:ext uri="{FF2B5EF4-FFF2-40B4-BE49-F238E27FC236}">
                    <a16:creationId xmlns:a16="http://schemas.microsoft.com/office/drawing/2014/main" id="{D2DEA06A-AA52-453C-B2DE-044F435B3B37}"/>
                  </a:ext>
                </a:extLst>
              </p:cNvPr>
              <p:cNvSpPr/>
              <p:nvPr/>
            </p:nvSpPr>
            <p:spPr>
              <a:xfrm>
                <a:off x="3048001" y="4532956"/>
                <a:ext cx="6095999"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apply -f </a:t>
                </a:r>
                <a:r>
                  <a:rPr lang="en-US" altLang="ko-KR" sz="1000" b="1" dirty="0">
                    <a:solidFill>
                      <a:srgbClr val="FF0000"/>
                    </a:solidFill>
                  </a:rPr>
                  <a:t>simple-</a:t>
                </a:r>
                <a:r>
                  <a:rPr lang="en-US" altLang="ko-KR" sz="1000" b="1" dirty="0" err="1">
                    <a:solidFill>
                      <a:srgbClr val="FF0000"/>
                    </a:solidFill>
                  </a:rPr>
                  <a:t>ingress.yaml</a:t>
                </a:r>
                <a:endParaRPr lang="ko-KR" altLang="en-US" sz="1000" b="1" dirty="0">
                  <a:solidFill>
                    <a:srgbClr val="FF0000"/>
                  </a:solidFill>
                </a:endParaRPr>
              </a:p>
            </p:txBody>
          </p:sp>
          <p:sp>
            <p:nvSpPr>
              <p:cNvPr id="14" name="화살표: 아래쪽 13">
                <a:extLst>
                  <a:ext uri="{FF2B5EF4-FFF2-40B4-BE49-F238E27FC236}">
                    <a16:creationId xmlns:a16="http://schemas.microsoft.com/office/drawing/2014/main" id="{C5564D3E-DF2F-49B8-97E0-F2DED05FAE44}"/>
                  </a:ext>
                </a:extLst>
              </p:cNvPr>
              <p:cNvSpPr/>
              <p:nvPr/>
            </p:nvSpPr>
            <p:spPr>
              <a:xfrm>
                <a:off x="5897216" y="4811837"/>
                <a:ext cx="397565"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6" name="그림 15">
              <a:extLst>
                <a:ext uri="{FF2B5EF4-FFF2-40B4-BE49-F238E27FC236}">
                  <a16:creationId xmlns:a16="http://schemas.microsoft.com/office/drawing/2014/main" id="{6484633F-6CA5-4955-8F72-2B54F944691C}"/>
                </a:ext>
              </a:extLst>
            </p:cNvPr>
            <p:cNvPicPr>
              <a:picLocks noChangeAspect="1"/>
            </p:cNvPicPr>
            <p:nvPr/>
          </p:nvPicPr>
          <p:blipFill>
            <a:blip r:embed="rId2"/>
            <a:stretch>
              <a:fillRect/>
            </a:stretch>
          </p:blipFill>
          <p:spPr>
            <a:xfrm>
              <a:off x="2444860" y="4899310"/>
              <a:ext cx="7302280" cy="1509720"/>
            </a:xfrm>
            <a:prstGeom prst="rect">
              <a:avLst/>
            </a:prstGeom>
            <a:ln>
              <a:solidFill>
                <a:schemeClr val="bg1">
                  <a:lumMod val="50000"/>
                </a:schemeClr>
              </a:solidFill>
            </a:ln>
          </p:spPr>
        </p:pic>
      </p:grpSp>
    </p:spTree>
    <p:extLst>
      <p:ext uri="{BB962C8B-B14F-4D97-AF65-F5344CB8AC3E}">
        <p14:creationId xmlns:p14="http://schemas.microsoft.com/office/powerpoint/2010/main" val="17094153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Ingress(3/11)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Simple Usage :</a:t>
            </a:r>
          </a:p>
          <a:p>
            <a:pPr lvl="1">
              <a:buFont typeface="Wingdings" panose="05000000000000000000" pitchFamily="2" charset="2"/>
              <a:buChar char="§"/>
            </a:pPr>
            <a:r>
              <a:rPr lang="en-US" altLang="ko-KR" sz="1400" dirty="0"/>
              <a:t>You can verify that it was set up correctly using “</a:t>
            </a:r>
            <a:r>
              <a:rPr lang="en-US" altLang="ko-KR" sz="1400" b="1" dirty="0" err="1"/>
              <a:t>kubectl</a:t>
            </a:r>
            <a:r>
              <a:rPr lang="en-US" altLang="ko-KR" sz="1400" b="1" dirty="0"/>
              <a:t> get</a:t>
            </a:r>
            <a:r>
              <a:rPr lang="en-US" altLang="ko-KR" sz="1400" dirty="0"/>
              <a:t>” and “</a:t>
            </a:r>
            <a:r>
              <a:rPr lang="en-US" altLang="ko-KR" sz="1400" b="1" dirty="0" err="1"/>
              <a:t>kubectl</a:t>
            </a:r>
            <a:r>
              <a:rPr lang="en-US" altLang="ko-KR" sz="1400" b="1" dirty="0"/>
              <a:t> describe</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997357A5-8E36-4C4E-88FA-C9C259D9FF85}"/>
              </a:ext>
            </a:extLst>
          </p:cNvPr>
          <p:cNvGrpSpPr/>
          <p:nvPr/>
        </p:nvGrpSpPr>
        <p:grpSpPr>
          <a:xfrm>
            <a:off x="1362075" y="1529817"/>
            <a:ext cx="9467850" cy="4071122"/>
            <a:chOff x="1362075" y="1529817"/>
            <a:chExt cx="9467850" cy="4071122"/>
          </a:xfrm>
        </p:grpSpPr>
        <p:grpSp>
          <p:nvGrpSpPr>
            <p:cNvPr id="12" name="그룹 11">
              <a:extLst>
                <a:ext uri="{FF2B5EF4-FFF2-40B4-BE49-F238E27FC236}">
                  <a16:creationId xmlns:a16="http://schemas.microsoft.com/office/drawing/2014/main" id="{CADC0FB6-CA66-4A01-B275-A658950C2F48}"/>
                </a:ext>
              </a:extLst>
            </p:cNvPr>
            <p:cNvGrpSpPr/>
            <p:nvPr/>
          </p:nvGrpSpPr>
          <p:grpSpPr>
            <a:xfrm>
              <a:off x="1362075" y="1529817"/>
              <a:ext cx="9467850" cy="4071122"/>
              <a:chOff x="1362073" y="1487097"/>
              <a:chExt cx="9467850" cy="4071122"/>
            </a:xfrm>
          </p:grpSpPr>
          <p:grpSp>
            <p:nvGrpSpPr>
              <p:cNvPr id="10" name="그룹 9">
                <a:extLst>
                  <a:ext uri="{FF2B5EF4-FFF2-40B4-BE49-F238E27FC236}">
                    <a16:creationId xmlns:a16="http://schemas.microsoft.com/office/drawing/2014/main" id="{3299911C-B0B2-4A96-90DA-5D2C01A8336F}"/>
                  </a:ext>
                </a:extLst>
              </p:cNvPr>
              <p:cNvGrpSpPr/>
              <p:nvPr/>
            </p:nvGrpSpPr>
            <p:grpSpPr>
              <a:xfrm>
                <a:off x="3458452" y="1487097"/>
                <a:ext cx="5275095" cy="714466"/>
                <a:chOff x="3458452" y="1487097"/>
                <a:chExt cx="5275095" cy="714466"/>
              </a:xfrm>
            </p:grpSpPr>
            <p:sp>
              <p:nvSpPr>
                <p:cNvPr id="4" name="직사각형 3">
                  <a:extLst>
                    <a:ext uri="{FF2B5EF4-FFF2-40B4-BE49-F238E27FC236}">
                      <a16:creationId xmlns:a16="http://schemas.microsoft.com/office/drawing/2014/main" id="{217F75B6-9E5E-49FE-8211-6D4BED382BDC}"/>
                    </a:ext>
                  </a:extLst>
                </p:cNvPr>
                <p:cNvSpPr/>
                <p:nvPr/>
              </p:nvSpPr>
              <p:spPr>
                <a:xfrm>
                  <a:off x="3458452" y="1487097"/>
                  <a:ext cx="5275095" cy="400110"/>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ingress</a:t>
                  </a:r>
                </a:p>
                <a:p>
                  <a:r>
                    <a:rPr lang="en-US" altLang="ko-KR" sz="1000" b="1" dirty="0"/>
                    <a:t>$ </a:t>
                  </a:r>
                  <a:r>
                    <a:rPr lang="en-US" altLang="ko-KR" sz="1000" b="1" dirty="0" err="1"/>
                    <a:t>kubectl</a:t>
                  </a:r>
                  <a:r>
                    <a:rPr lang="en-US" altLang="ko-KR" sz="1000" b="1" dirty="0"/>
                    <a:t> describe ingress </a:t>
                  </a:r>
                  <a:r>
                    <a:rPr lang="en-US" altLang="ko-KR" sz="1000" b="1" dirty="0">
                      <a:solidFill>
                        <a:srgbClr val="FF0000"/>
                      </a:solidFill>
                    </a:rPr>
                    <a:t>simple-ingress</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499F0B30-D070-4F49-B876-E386B18D29E9}"/>
                    </a:ext>
                  </a:extLst>
                </p:cNvPr>
                <p:cNvSpPr/>
                <p:nvPr/>
              </p:nvSpPr>
              <p:spPr>
                <a:xfrm>
                  <a:off x="5889264" y="1910113"/>
                  <a:ext cx="413468" cy="29145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1" name="그림 10">
                <a:extLst>
                  <a:ext uri="{FF2B5EF4-FFF2-40B4-BE49-F238E27FC236}">
                    <a16:creationId xmlns:a16="http://schemas.microsoft.com/office/drawing/2014/main" id="{5EB6A6CF-86C0-4B4A-AF92-B4CA9B101CC2}"/>
                  </a:ext>
                </a:extLst>
              </p:cNvPr>
              <p:cNvPicPr>
                <a:picLocks noChangeAspect="1"/>
              </p:cNvPicPr>
              <p:nvPr/>
            </p:nvPicPr>
            <p:blipFill>
              <a:blip r:embed="rId2"/>
              <a:stretch>
                <a:fillRect/>
              </a:stretch>
            </p:blipFill>
            <p:spPr>
              <a:xfrm>
                <a:off x="1362073" y="2224469"/>
                <a:ext cx="9467850" cy="3333750"/>
              </a:xfrm>
              <a:prstGeom prst="rect">
                <a:avLst/>
              </a:prstGeom>
              <a:ln>
                <a:solidFill>
                  <a:schemeClr val="bg1">
                    <a:lumMod val="50000"/>
                  </a:schemeClr>
                </a:solidFill>
              </a:ln>
            </p:spPr>
          </p:pic>
        </p:grpSp>
        <p:sp>
          <p:nvSpPr>
            <p:cNvPr id="13" name="직사각형 12">
              <a:extLst>
                <a:ext uri="{FF2B5EF4-FFF2-40B4-BE49-F238E27FC236}">
                  <a16:creationId xmlns:a16="http://schemas.microsoft.com/office/drawing/2014/main" id="{417AD2D7-9F93-4929-8004-1303962369E2}"/>
                </a:ext>
              </a:extLst>
            </p:cNvPr>
            <p:cNvSpPr/>
            <p:nvPr/>
          </p:nvSpPr>
          <p:spPr>
            <a:xfrm>
              <a:off x="1486894" y="3943847"/>
              <a:ext cx="7315200" cy="17492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7707293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Ingress(4/11)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Simple Usage :</a:t>
            </a:r>
          </a:p>
          <a:p>
            <a:pPr lvl="1">
              <a:buFont typeface="Wingdings" panose="05000000000000000000" pitchFamily="2" charset="2"/>
              <a:buChar char="§"/>
            </a:pPr>
            <a:r>
              <a:rPr lang="en-US" altLang="ko-KR" sz="1400" b="1" dirty="0"/>
              <a:t>The previous command sets things up so that </a:t>
            </a:r>
            <a:r>
              <a:rPr lang="en-US" altLang="ko-KR" sz="1400" b="1" dirty="0">
                <a:solidFill>
                  <a:srgbClr val="FF0000"/>
                </a:solidFill>
              </a:rPr>
              <a:t>any HTTP request that hits the Ingress controller is forwarded on to the “alpaca” service</a:t>
            </a:r>
            <a:r>
              <a:rPr lang="en-US" altLang="ko-KR" sz="1400" dirty="0"/>
              <a:t>. You can now access the “</a:t>
            </a:r>
            <a:r>
              <a:rPr lang="en-US" altLang="ko-KR" sz="1400" b="1" dirty="0"/>
              <a:t>alpaca</a:t>
            </a:r>
            <a:r>
              <a:rPr lang="en-US" altLang="ko-KR" sz="1400" dirty="0"/>
              <a:t>” instance of “</a:t>
            </a:r>
            <a:r>
              <a:rPr lang="en-US" altLang="ko-KR" sz="1400" b="1" dirty="0" err="1"/>
              <a:t>kuard</a:t>
            </a:r>
            <a:r>
              <a:rPr lang="en-US" altLang="ko-KR" sz="1400" b="1" dirty="0"/>
              <a:t>”</a:t>
            </a:r>
            <a:r>
              <a:rPr lang="en-US" altLang="ko-KR" sz="1400" dirty="0"/>
              <a:t> on any of the raw </a:t>
            </a:r>
            <a:r>
              <a:rPr lang="en-US" altLang="ko-KR" sz="1400" b="1" dirty="0"/>
              <a:t>IPs/CNAMEs </a:t>
            </a:r>
            <a:r>
              <a:rPr lang="en-US" altLang="ko-KR" sz="1400" dirty="0"/>
              <a:t>of the service; in this case, either “</a:t>
            </a:r>
            <a:r>
              <a:rPr lang="en-US" altLang="ko-KR" sz="1400" b="1" dirty="0"/>
              <a:t>alpaca.example.com</a:t>
            </a:r>
            <a:r>
              <a:rPr lang="en-US" altLang="ko-KR" sz="1400" dirty="0"/>
              <a:t>” or “</a:t>
            </a:r>
            <a:r>
              <a:rPr lang="en-US" altLang="ko-KR" sz="1400" b="1" dirty="0"/>
              <a:t>bandicoot.example.com</a:t>
            </a:r>
            <a:r>
              <a:rPr lang="en-US" altLang="ko-KR" sz="1400" dirty="0"/>
              <a:t>” which is configured in “</a:t>
            </a:r>
            <a:r>
              <a:rPr lang="en-US" altLang="ko-KR" sz="1400" b="1" dirty="0"/>
              <a:t>/</a:t>
            </a:r>
            <a:r>
              <a:rPr lang="en-US" altLang="ko-KR" sz="1400" b="1" dirty="0" err="1"/>
              <a:t>etc</a:t>
            </a:r>
            <a:r>
              <a:rPr lang="en-US" altLang="ko-KR" sz="1400" b="1" dirty="0"/>
              <a:t>/hosts</a:t>
            </a:r>
            <a:r>
              <a:rPr lang="en-US" altLang="ko-KR" sz="1400" dirty="0"/>
              <a:t>”.</a:t>
            </a:r>
          </a:p>
          <a:p>
            <a:pPr lvl="1">
              <a:buFont typeface="Wingdings" panose="05000000000000000000" pitchFamily="2" charset="2"/>
              <a:buChar char="§"/>
            </a:pPr>
            <a:r>
              <a:rPr lang="en-US" altLang="ko-KR" sz="1400" b="1" dirty="0"/>
              <a:t>This doesn’t, at this point, add much value above a simple service of type: “</a:t>
            </a:r>
            <a:r>
              <a:rPr lang="en-US" altLang="ko-KR" sz="1400" b="1" dirty="0" err="1"/>
              <a:t>LoadBalancer</a:t>
            </a:r>
            <a:r>
              <a:rPr lang="en-US" altLang="ko-KR" sz="1400" b="1" dirty="0"/>
              <a:t>”(here we used “</a:t>
            </a:r>
            <a:r>
              <a:rPr lang="en-US" altLang="ko-KR" sz="1400" b="1" dirty="0" err="1"/>
              <a:t>NodePort</a:t>
            </a:r>
            <a:r>
              <a:rPr lang="en-US" altLang="ko-KR" sz="1400" b="1" dirty="0"/>
              <a:t>”)</a:t>
            </a:r>
            <a:r>
              <a:rPr lang="en-US" altLang="ko-KR" sz="1400" dirty="0"/>
              <a:t>.</a:t>
            </a:r>
          </a:p>
          <a:p>
            <a:pPr lvl="1">
              <a:buFont typeface="Wingdings" panose="05000000000000000000" pitchFamily="2" charset="2"/>
              <a:buChar char="§"/>
            </a:pPr>
            <a:r>
              <a:rPr lang="en-US" altLang="ko-KR" sz="1400" b="1" dirty="0"/>
              <a:t>NOTE : If you enabled “Ingress” addon, you will see the following screen shot after “</a:t>
            </a:r>
            <a:r>
              <a:rPr lang="en-US" altLang="ko-KR" sz="1400" b="1" dirty="0" err="1"/>
              <a:t>kubectl</a:t>
            </a:r>
            <a:r>
              <a:rPr lang="en-US" altLang="ko-KR" sz="1400" b="1" dirty="0"/>
              <a:t> apply -f simple-</a:t>
            </a:r>
            <a:r>
              <a:rPr lang="en-US" altLang="ko-KR" sz="1400" b="1" dirty="0" err="1"/>
              <a:t>ingress.yaml</a:t>
            </a:r>
            <a:r>
              <a:rPr lang="en-US" altLang="ko-KR" sz="1400" b="1" dirty="0"/>
              <a:t>” command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B003D26C-DC7A-4F25-B7A0-DA93CDA2613B}"/>
              </a:ext>
            </a:extLst>
          </p:cNvPr>
          <p:cNvPicPr>
            <a:picLocks noChangeAspect="1"/>
          </p:cNvPicPr>
          <p:nvPr/>
        </p:nvPicPr>
        <p:blipFill>
          <a:blip r:embed="rId2"/>
          <a:stretch>
            <a:fillRect/>
          </a:stretch>
        </p:blipFill>
        <p:spPr>
          <a:xfrm>
            <a:off x="1946815" y="2981807"/>
            <a:ext cx="8298369" cy="3062098"/>
          </a:xfrm>
          <a:prstGeom prst="rect">
            <a:avLst/>
          </a:prstGeom>
          <a:ln>
            <a:solidFill>
              <a:schemeClr val="bg1">
                <a:lumMod val="50000"/>
              </a:schemeClr>
            </a:solidFill>
          </a:ln>
        </p:spPr>
      </p:pic>
    </p:spTree>
    <p:extLst>
      <p:ext uri="{BB962C8B-B14F-4D97-AF65-F5344CB8AC3E}">
        <p14:creationId xmlns:p14="http://schemas.microsoft.com/office/powerpoint/2010/main" val="30828222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Ingress Addons(1/2)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Enabling Ingress Addons :</a:t>
            </a:r>
          </a:p>
          <a:p>
            <a:pPr lvl="1">
              <a:buFont typeface="Wingdings" panose="05000000000000000000" pitchFamily="2" charset="2"/>
              <a:buChar char="§"/>
            </a:pPr>
            <a:r>
              <a:rPr lang="en-US" altLang="ko-KR" sz="1400" dirty="0"/>
              <a:t>To </a:t>
            </a:r>
            <a:r>
              <a:rPr lang="en-US" altLang="ko-KR" sz="1400" b="1" dirty="0"/>
              <a:t>enable Ingress addon</a:t>
            </a:r>
            <a:r>
              <a:rPr lang="en-US" altLang="ko-KR" sz="1400" dirty="0"/>
              <a:t>, you can use the following command.</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1983AF68-52A2-4ADA-940E-12DA2438DBC9}"/>
              </a:ext>
            </a:extLst>
          </p:cNvPr>
          <p:cNvGrpSpPr/>
          <p:nvPr/>
        </p:nvGrpSpPr>
        <p:grpSpPr>
          <a:xfrm>
            <a:off x="1333500" y="1493394"/>
            <a:ext cx="9525000" cy="2546764"/>
            <a:chOff x="1333500" y="1399428"/>
            <a:chExt cx="9525000" cy="2546764"/>
          </a:xfrm>
        </p:grpSpPr>
        <p:sp>
          <p:nvSpPr>
            <p:cNvPr id="4" name="TextBox 3">
              <a:extLst>
                <a:ext uri="{FF2B5EF4-FFF2-40B4-BE49-F238E27FC236}">
                  <a16:creationId xmlns:a16="http://schemas.microsoft.com/office/drawing/2014/main" id="{160AD1A6-B3F9-4ABC-BC9E-17F4653A258A}"/>
                </a:ext>
              </a:extLst>
            </p:cNvPr>
            <p:cNvSpPr txBox="1"/>
            <p:nvPr/>
          </p:nvSpPr>
          <p:spPr>
            <a:xfrm>
              <a:off x="3806544" y="1399428"/>
              <a:ext cx="4578912" cy="246221"/>
            </a:xfrm>
            <a:prstGeom prst="rect">
              <a:avLst/>
            </a:prstGeom>
            <a:noFill/>
            <a:ln>
              <a:solidFill>
                <a:schemeClr val="bg1">
                  <a:lumMod val="50000"/>
                </a:schemeClr>
              </a:solidFill>
            </a:ln>
          </p:spPr>
          <p:txBody>
            <a:bodyPr wrap="square" rtlCol="0">
              <a:spAutoFit/>
            </a:bodyPr>
            <a:lstStyle/>
            <a:p>
              <a:r>
                <a:rPr lang="en-US" altLang="ko-KR" sz="1000" b="1" dirty="0"/>
                <a:t>$ </a:t>
              </a:r>
              <a:r>
                <a:rPr lang="en-US" altLang="ko-KR" sz="1000" b="1" dirty="0" err="1"/>
                <a:t>minikube</a:t>
              </a:r>
              <a:r>
                <a:rPr lang="en-US" altLang="ko-KR" sz="1000" b="1" dirty="0"/>
                <a:t> addons </a:t>
              </a:r>
              <a:r>
                <a:rPr lang="en-US" altLang="ko-KR" sz="1000" b="1" dirty="0">
                  <a:solidFill>
                    <a:srgbClr val="FF0000"/>
                  </a:solidFill>
                </a:rPr>
                <a:t>enable ingress</a:t>
              </a:r>
              <a:endParaRPr lang="ko-KR" altLang="en-US" sz="1000" b="1" dirty="0">
                <a:solidFill>
                  <a:srgbClr val="FF0000"/>
                </a:solidFill>
              </a:endParaRPr>
            </a:p>
          </p:txBody>
        </p:sp>
        <p:pic>
          <p:nvPicPr>
            <p:cNvPr id="8" name="그림 7">
              <a:extLst>
                <a:ext uri="{FF2B5EF4-FFF2-40B4-BE49-F238E27FC236}">
                  <a16:creationId xmlns:a16="http://schemas.microsoft.com/office/drawing/2014/main" id="{E9C07895-E6D7-4F07-94D8-32E46AEF2463}"/>
                </a:ext>
              </a:extLst>
            </p:cNvPr>
            <p:cNvPicPr>
              <a:picLocks noChangeAspect="1"/>
            </p:cNvPicPr>
            <p:nvPr/>
          </p:nvPicPr>
          <p:blipFill>
            <a:blip r:embed="rId2"/>
            <a:stretch>
              <a:fillRect/>
            </a:stretch>
          </p:blipFill>
          <p:spPr>
            <a:xfrm>
              <a:off x="1333500" y="1974517"/>
              <a:ext cx="9525000" cy="1971675"/>
            </a:xfrm>
            <a:prstGeom prst="rect">
              <a:avLst/>
            </a:prstGeom>
            <a:ln>
              <a:solidFill>
                <a:schemeClr val="bg1">
                  <a:lumMod val="50000"/>
                </a:schemeClr>
              </a:solidFill>
            </a:ln>
          </p:spPr>
        </p:pic>
        <p:sp>
          <p:nvSpPr>
            <p:cNvPr id="10" name="화살표: 아래쪽 9">
              <a:extLst>
                <a:ext uri="{FF2B5EF4-FFF2-40B4-BE49-F238E27FC236}">
                  <a16:creationId xmlns:a16="http://schemas.microsoft.com/office/drawing/2014/main" id="{AE829320-B1CB-426A-9E09-D3F323B5EAC4}"/>
                </a:ext>
              </a:extLst>
            </p:cNvPr>
            <p:cNvSpPr/>
            <p:nvPr/>
          </p:nvSpPr>
          <p:spPr>
            <a:xfrm>
              <a:off x="5857461" y="1678004"/>
              <a:ext cx="477078" cy="26576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2" name="직사각형 11">
            <a:extLst>
              <a:ext uri="{FF2B5EF4-FFF2-40B4-BE49-F238E27FC236}">
                <a16:creationId xmlns:a16="http://schemas.microsoft.com/office/drawing/2014/main" id="{68EF600B-9669-4B72-B491-94B44A73BC88}"/>
              </a:ext>
            </a:extLst>
          </p:cNvPr>
          <p:cNvSpPr/>
          <p:nvPr/>
        </p:nvSpPr>
        <p:spPr>
          <a:xfrm>
            <a:off x="838200" y="4154441"/>
            <a:ext cx="6002241" cy="1577868"/>
          </a:xfrm>
          <a:prstGeom prst="rect">
            <a:avLst/>
          </a:prstGeom>
        </p:spPr>
        <p:txBody>
          <a:bodyPr wrap="square">
            <a:spAutoFit/>
          </a:bodyPr>
          <a:lstStyle/>
          <a:p>
            <a:pPr marL="685800" lvl="1" indent="-228600">
              <a:lnSpc>
                <a:spcPct val="90000"/>
              </a:lnSpc>
              <a:spcBef>
                <a:spcPts val="500"/>
              </a:spcBef>
              <a:buFont typeface="Wingdings" panose="05000000000000000000" pitchFamily="2" charset="2"/>
              <a:buChar char="§"/>
            </a:pPr>
            <a:r>
              <a:rPr lang="en-US" altLang="ko-KR" sz="1400" b="1" dirty="0">
                <a:solidFill>
                  <a:prstClr val="black"/>
                </a:solidFill>
              </a:rPr>
              <a:t>To see the all addons’ status, use </a:t>
            </a:r>
            <a:r>
              <a:rPr lang="en-US" altLang="ko-KR" sz="1400" dirty="0">
                <a:solidFill>
                  <a:prstClr val="black"/>
                </a:solidFill>
              </a:rPr>
              <a:t>“</a:t>
            </a:r>
            <a:r>
              <a:rPr lang="en-US" altLang="ko-KR" sz="1400" b="1" dirty="0" err="1">
                <a:solidFill>
                  <a:srgbClr val="FF0000"/>
                </a:solidFill>
              </a:rPr>
              <a:t>minikube</a:t>
            </a:r>
            <a:r>
              <a:rPr lang="en-US" altLang="ko-KR" sz="1400" b="1" dirty="0">
                <a:solidFill>
                  <a:srgbClr val="FF0000"/>
                </a:solidFill>
              </a:rPr>
              <a:t> addons list</a:t>
            </a:r>
            <a:r>
              <a:rPr lang="en-US" altLang="ko-KR" sz="1400" dirty="0">
                <a:solidFill>
                  <a:prstClr val="black"/>
                </a:solidFill>
              </a:rPr>
              <a:t>”.</a:t>
            </a:r>
          </a:p>
          <a:p>
            <a:pPr marL="685800" lvl="1" indent="-228600">
              <a:lnSpc>
                <a:spcPct val="90000"/>
              </a:lnSpc>
              <a:spcBef>
                <a:spcPts val="500"/>
              </a:spcBef>
              <a:buFont typeface="Wingdings" panose="05000000000000000000" pitchFamily="2" charset="2"/>
              <a:buChar char="§"/>
            </a:pPr>
            <a:r>
              <a:rPr lang="en-US" altLang="ko-KR" sz="1400" b="1" dirty="0">
                <a:solidFill>
                  <a:prstClr val="black"/>
                </a:solidFill>
              </a:rPr>
              <a:t>NOTE : If the enabling Ingress addon is timeout, then disable “</a:t>
            </a:r>
            <a:r>
              <a:rPr lang="en-US" altLang="ko-KR" sz="1400" b="1" dirty="0" err="1">
                <a:solidFill>
                  <a:srgbClr val="FF0000"/>
                </a:solidFill>
              </a:rPr>
              <a:t>swaping</a:t>
            </a:r>
            <a:r>
              <a:rPr lang="en-US" altLang="ko-KR" sz="1400" b="1" dirty="0">
                <a:solidFill>
                  <a:srgbClr val="FF0000"/>
                </a:solidFill>
              </a:rPr>
              <a:t>(</a:t>
            </a:r>
            <a:r>
              <a:rPr lang="en-US" altLang="ko-KR" sz="1400" b="1" dirty="0" err="1">
                <a:solidFill>
                  <a:srgbClr val="FF0000"/>
                </a:solidFill>
              </a:rPr>
              <a:t>sudo</a:t>
            </a:r>
            <a:r>
              <a:rPr lang="en-US" altLang="ko-KR" sz="1400" b="1" dirty="0">
                <a:solidFill>
                  <a:srgbClr val="FF0000"/>
                </a:solidFill>
              </a:rPr>
              <a:t> </a:t>
            </a:r>
            <a:r>
              <a:rPr lang="en-US" altLang="ko-KR" sz="1400" b="1" dirty="0" err="1">
                <a:solidFill>
                  <a:srgbClr val="FF0000"/>
                </a:solidFill>
              </a:rPr>
              <a:t>swapoff</a:t>
            </a:r>
            <a:r>
              <a:rPr lang="en-US" altLang="ko-KR" sz="1400" b="1" dirty="0">
                <a:solidFill>
                  <a:srgbClr val="FF0000"/>
                </a:solidFill>
              </a:rPr>
              <a:t>)</a:t>
            </a:r>
            <a:r>
              <a:rPr lang="en-US" altLang="ko-KR" sz="1400" b="1" dirty="0">
                <a:solidFill>
                  <a:prstClr val="black"/>
                </a:solidFill>
              </a:rPr>
              <a:t>” and reboot the system. Then do again from the “</a:t>
            </a:r>
            <a:r>
              <a:rPr lang="en-US" altLang="ko-KR" sz="1400" b="1" dirty="0" err="1">
                <a:solidFill>
                  <a:srgbClr val="FF0000"/>
                </a:solidFill>
              </a:rPr>
              <a:t>minikube</a:t>
            </a:r>
            <a:r>
              <a:rPr lang="en-US" altLang="ko-KR" sz="1400" b="1" dirty="0">
                <a:solidFill>
                  <a:srgbClr val="FF0000"/>
                </a:solidFill>
              </a:rPr>
              <a:t> start</a:t>
            </a:r>
            <a:r>
              <a:rPr lang="en-US" altLang="ko-KR" sz="1400" b="1" dirty="0">
                <a:solidFill>
                  <a:prstClr val="black"/>
                </a:solidFill>
              </a:rPr>
              <a:t>”</a:t>
            </a:r>
            <a:r>
              <a:rPr lang="en-US" altLang="ko-KR" sz="1400" dirty="0">
                <a:solidFill>
                  <a:prstClr val="black"/>
                </a:solidFill>
              </a:rPr>
              <a:t>.</a:t>
            </a:r>
          </a:p>
          <a:p>
            <a:pPr marL="685800" lvl="1" indent="-228600">
              <a:lnSpc>
                <a:spcPct val="90000"/>
              </a:lnSpc>
              <a:spcBef>
                <a:spcPts val="500"/>
              </a:spcBef>
              <a:buFont typeface="Wingdings" panose="05000000000000000000" pitchFamily="2" charset="2"/>
              <a:buChar char="§"/>
            </a:pPr>
            <a:r>
              <a:rPr lang="en-US" altLang="ko-KR" sz="1400" b="1">
                <a:solidFill>
                  <a:prstClr val="black"/>
                </a:solidFill>
              </a:rPr>
              <a:t>Trouble Shooting </a:t>
            </a:r>
            <a:r>
              <a:rPr lang="en-US" altLang="ko-KR" sz="1400" b="1" dirty="0">
                <a:solidFill>
                  <a:prstClr val="black"/>
                </a:solidFill>
              </a:rPr>
              <a:t>: If you cannot enable Ingress addon, try “</a:t>
            </a:r>
            <a:r>
              <a:rPr lang="en-US" altLang="ko-KR" sz="1400" b="1" dirty="0" err="1">
                <a:solidFill>
                  <a:srgbClr val="FF0000"/>
                </a:solidFill>
              </a:rPr>
              <a:t>minikube</a:t>
            </a:r>
            <a:r>
              <a:rPr lang="en-US" altLang="ko-KR" sz="1400" b="1" dirty="0">
                <a:solidFill>
                  <a:srgbClr val="FF0000"/>
                </a:solidFill>
              </a:rPr>
              <a:t> delete</a:t>
            </a:r>
            <a:r>
              <a:rPr lang="en-US" altLang="ko-KR" sz="1400" b="1" dirty="0">
                <a:solidFill>
                  <a:prstClr val="black"/>
                </a:solidFill>
              </a:rPr>
              <a:t>” and restart with “</a:t>
            </a:r>
            <a:r>
              <a:rPr lang="en-US" altLang="ko-KR" sz="1400" b="1" dirty="0" err="1">
                <a:solidFill>
                  <a:srgbClr val="FF0000"/>
                </a:solidFill>
              </a:rPr>
              <a:t>minikube</a:t>
            </a:r>
            <a:r>
              <a:rPr lang="en-US" altLang="ko-KR" sz="1400" b="1" dirty="0">
                <a:solidFill>
                  <a:srgbClr val="FF0000"/>
                </a:solidFill>
              </a:rPr>
              <a:t> start --driver=docker</a:t>
            </a:r>
            <a:r>
              <a:rPr lang="en-US" altLang="ko-KR" sz="1400" b="1" dirty="0">
                <a:solidFill>
                  <a:prstClr val="black"/>
                </a:solidFill>
              </a:rPr>
              <a:t>”. Then “</a:t>
            </a:r>
            <a:r>
              <a:rPr lang="en-US" altLang="ko-KR" sz="1400" b="1" dirty="0" err="1">
                <a:solidFill>
                  <a:srgbClr val="FF0000"/>
                </a:solidFill>
              </a:rPr>
              <a:t>minikube</a:t>
            </a:r>
            <a:r>
              <a:rPr lang="en-US" altLang="ko-KR" sz="1400" b="1" dirty="0">
                <a:solidFill>
                  <a:srgbClr val="FF0000"/>
                </a:solidFill>
              </a:rPr>
              <a:t> addons enable ingress</a:t>
            </a:r>
            <a:r>
              <a:rPr lang="en-US" altLang="ko-KR" sz="1400" b="1" dirty="0">
                <a:solidFill>
                  <a:prstClr val="black"/>
                </a:solidFill>
              </a:rPr>
              <a:t>”.</a:t>
            </a:r>
          </a:p>
        </p:txBody>
      </p:sp>
      <p:grpSp>
        <p:nvGrpSpPr>
          <p:cNvPr id="14" name="그룹 13">
            <a:extLst>
              <a:ext uri="{FF2B5EF4-FFF2-40B4-BE49-F238E27FC236}">
                <a16:creationId xmlns:a16="http://schemas.microsoft.com/office/drawing/2014/main" id="{E2435D24-EFA4-4374-A16D-17A78E993F29}"/>
              </a:ext>
            </a:extLst>
          </p:cNvPr>
          <p:cNvGrpSpPr/>
          <p:nvPr/>
        </p:nvGrpSpPr>
        <p:grpSpPr>
          <a:xfrm>
            <a:off x="6840441" y="3222599"/>
            <a:ext cx="4513359" cy="3186431"/>
            <a:chOff x="6840441" y="3222599"/>
            <a:chExt cx="4513359" cy="3186431"/>
          </a:xfrm>
        </p:grpSpPr>
        <p:pic>
          <p:nvPicPr>
            <p:cNvPr id="9" name="그림 8">
              <a:extLst>
                <a:ext uri="{FF2B5EF4-FFF2-40B4-BE49-F238E27FC236}">
                  <a16:creationId xmlns:a16="http://schemas.microsoft.com/office/drawing/2014/main" id="{00FEDA03-21AA-4352-8906-998866F46373}"/>
                </a:ext>
              </a:extLst>
            </p:cNvPr>
            <p:cNvPicPr>
              <a:picLocks noChangeAspect="1"/>
            </p:cNvPicPr>
            <p:nvPr/>
          </p:nvPicPr>
          <p:blipFill>
            <a:blip r:embed="rId3"/>
            <a:stretch>
              <a:fillRect/>
            </a:stretch>
          </p:blipFill>
          <p:spPr>
            <a:xfrm>
              <a:off x="6840441" y="3222599"/>
              <a:ext cx="4513359" cy="3186431"/>
            </a:xfrm>
            <a:prstGeom prst="rect">
              <a:avLst/>
            </a:prstGeom>
            <a:ln>
              <a:solidFill>
                <a:schemeClr val="bg1">
                  <a:lumMod val="50000"/>
                </a:schemeClr>
              </a:solidFill>
            </a:ln>
          </p:spPr>
        </p:pic>
        <p:sp>
          <p:nvSpPr>
            <p:cNvPr id="13" name="직사각형 12">
              <a:extLst>
                <a:ext uri="{FF2B5EF4-FFF2-40B4-BE49-F238E27FC236}">
                  <a16:creationId xmlns:a16="http://schemas.microsoft.com/office/drawing/2014/main" id="{3833491E-0B36-4B3B-A47F-D4FC94DAB8AD}"/>
                </a:ext>
              </a:extLst>
            </p:cNvPr>
            <p:cNvSpPr/>
            <p:nvPr/>
          </p:nvSpPr>
          <p:spPr>
            <a:xfrm>
              <a:off x="6840441" y="4508390"/>
              <a:ext cx="3432644" cy="15902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5397184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Ingress Addons(2/2)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Checking the Ingress Addons :</a:t>
            </a:r>
          </a:p>
          <a:p>
            <a:pPr lvl="1">
              <a:buFont typeface="Wingdings" panose="05000000000000000000" pitchFamily="2" charset="2"/>
              <a:buChar char="§"/>
            </a:pPr>
            <a:r>
              <a:rPr lang="en-US" altLang="ko-KR" sz="1400" dirty="0"/>
              <a:t>You can use “</a:t>
            </a:r>
            <a:r>
              <a:rPr lang="en-US" altLang="ko-KR" sz="1400" b="1" dirty="0" err="1"/>
              <a:t>kubectl</a:t>
            </a:r>
            <a:r>
              <a:rPr lang="en-US" altLang="ko-KR" sz="1400" b="1" dirty="0"/>
              <a:t> get pods</a:t>
            </a:r>
            <a:r>
              <a:rPr lang="en-US" altLang="ko-KR" sz="1400" dirty="0"/>
              <a:t>” command to see the “</a:t>
            </a:r>
            <a:r>
              <a:rPr lang="en-US" altLang="ko-KR" sz="1400" b="1" dirty="0"/>
              <a:t>Ingress</a:t>
            </a:r>
            <a:r>
              <a:rPr lang="en-US" altLang="ko-KR" sz="1400" dirty="0"/>
              <a:t>” addons pods. Use the following command. As you can see, we are using </a:t>
            </a:r>
            <a:r>
              <a:rPr lang="en-US" altLang="ko-KR" sz="1400" b="1" dirty="0"/>
              <a:t>“</a:t>
            </a:r>
            <a:r>
              <a:rPr lang="en-US" altLang="ko-KR" sz="1400" b="1" dirty="0">
                <a:solidFill>
                  <a:srgbClr val="FF0000"/>
                </a:solidFill>
              </a:rPr>
              <a:t>Nginx</a:t>
            </a:r>
            <a:r>
              <a:rPr lang="en-US" altLang="ko-KR" sz="1400" b="1" dirty="0"/>
              <a:t>” ingress controller </a:t>
            </a:r>
            <a:r>
              <a:rPr lang="en-US" altLang="ko-KR" sz="1400" dirty="0"/>
              <a:t>now.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AA2F723A-6F6F-4BA3-9CA9-16FC4E9B80D1}"/>
              </a:ext>
            </a:extLst>
          </p:cNvPr>
          <p:cNvGrpSpPr/>
          <p:nvPr/>
        </p:nvGrpSpPr>
        <p:grpSpPr>
          <a:xfrm>
            <a:off x="2349030" y="1696304"/>
            <a:ext cx="7493939" cy="4712726"/>
            <a:chOff x="2349029" y="1836553"/>
            <a:chExt cx="7493939" cy="4712726"/>
          </a:xfrm>
        </p:grpSpPr>
        <p:grpSp>
          <p:nvGrpSpPr>
            <p:cNvPr id="10" name="그룹 9">
              <a:extLst>
                <a:ext uri="{FF2B5EF4-FFF2-40B4-BE49-F238E27FC236}">
                  <a16:creationId xmlns:a16="http://schemas.microsoft.com/office/drawing/2014/main" id="{C336A8F7-446C-4E8D-8FFA-E701E4FCDF67}"/>
                </a:ext>
              </a:extLst>
            </p:cNvPr>
            <p:cNvGrpSpPr/>
            <p:nvPr/>
          </p:nvGrpSpPr>
          <p:grpSpPr>
            <a:xfrm>
              <a:off x="2349029" y="1836553"/>
              <a:ext cx="7493939" cy="2035668"/>
              <a:chOff x="2349026" y="1538928"/>
              <a:chExt cx="7493939" cy="2035668"/>
            </a:xfrm>
          </p:grpSpPr>
          <p:pic>
            <p:nvPicPr>
              <p:cNvPr id="4" name="그림 3">
                <a:extLst>
                  <a:ext uri="{FF2B5EF4-FFF2-40B4-BE49-F238E27FC236}">
                    <a16:creationId xmlns:a16="http://schemas.microsoft.com/office/drawing/2014/main" id="{D48C7D1F-5ACA-402E-94A9-0E04E5FFDA13}"/>
                  </a:ext>
                </a:extLst>
              </p:cNvPr>
              <p:cNvPicPr>
                <a:picLocks noChangeAspect="1"/>
              </p:cNvPicPr>
              <p:nvPr/>
            </p:nvPicPr>
            <p:blipFill>
              <a:blip r:embed="rId2"/>
              <a:stretch>
                <a:fillRect/>
              </a:stretch>
            </p:blipFill>
            <p:spPr>
              <a:xfrm>
                <a:off x="2349026" y="2150748"/>
                <a:ext cx="7493939" cy="1423848"/>
              </a:xfrm>
              <a:prstGeom prst="rect">
                <a:avLst/>
              </a:prstGeom>
              <a:ln>
                <a:solidFill>
                  <a:schemeClr val="bg1">
                    <a:lumMod val="50000"/>
                  </a:schemeClr>
                </a:solidFill>
              </a:ln>
            </p:spPr>
          </p:pic>
          <p:sp>
            <p:nvSpPr>
              <p:cNvPr id="8" name="직사각형 7">
                <a:extLst>
                  <a:ext uri="{FF2B5EF4-FFF2-40B4-BE49-F238E27FC236}">
                    <a16:creationId xmlns:a16="http://schemas.microsoft.com/office/drawing/2014/main" id="{C8BA3B10-A308-424A-BB95-D25E50CC9620}"/>
                  </a:ext>
                </a:extLst>
              </p:cNvPr>
              <p:cNvSpPr/>
              <p:nvPr/>
            </p:nvSpPr>
            <p:spPr>
              <a:xfrm>
                <a:off x="4960912" y="1538928"/>
                <a:ext cx="2270172" cy="246221"/>
              </a:xfrm>
              <a:prstGeom prst="rect">
                <a:avLst/>
              </a:prstGeom>
              <a:ln>
                <a:solidFill>
                  <a:schemeClr val="bg1">
                    <a:lumMod val="50000"/>
                  </a:schemeClr>
                </a:solidFill>
              </a:ln>
            </p:spPr>
            <p:txBody>
              <a:bodyPr wrap="none">
                <a:spAutoFit/>
              </a:bodyPr>
              <a:lstStyle/>
              <a:p>
                <a:pPr algn="ctr"/>
                <a:r>
                  <a:rPr lang="en-US" altLang="ko-KR" sz="1000" b="1" dirty="0" err="1"/>
                  <a:t>kubectl</a:t>
                </a:r>
                <a:r>
                  <a:rPr lang="en-US" altLang="ko-KR" sz="1000" b="1" dirty="0"/>
                  <a:t> get pods -n ingress-</a:t>
                </a:r>
                <a:r>
                  <a:rPr lang="en-US" altLang="ko-KR" sz="1000" b="1" dirty="0" err="1"/>
                  <a:t>nginx</a:t>
                </a:r>
                <a:endParaRPr lang="ko-KR" altLang="en-US" sz="1000" b="1" dirty="0"/>
              </a:p>
            </p:txBody>
          </p:sp>
          <p:sp>
            <p:nvSpPr>
              <p:cNvPr id="9" name="화살표: 아래쪽 8">
                <a:extLst>
                  <a:ext uri="{FF2B5EF4-FFF2-40B4-BE49-F238E27FC236}">
                    <a16:creationId xmlns:a16="http://schemas.microsoft.com/office/drawing/2014/main" id="{5F8AE505-A42D-4072-9BE0-09AA8BBDBFD2}"/>
                  </a:ext>
                </a:extLst>
              </p:cNvPr>
              <p:cNvSpPr/>
              <p:nvPr/>
            </p:nvSpPr>
            <p:spPr>
              <a:xfrm>
                <a:off x="5861434" y="1804946"/>
                <a:ext cx="469127" cy="326004"/>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1" name="그림 10">
              <a:extLst>
                <a:ext uri="{FF2B5EF4-FFF2-40B4-BE49-F238E27FC236}">
                  <a16:creationId xmlns:a16="http://schemas.microsoft.com/office/drawing/2014/main" id="{993AA072-88C2-4D4C-A4C1-C7A1A7438DD2}"/>
                </a:ext>
              </a:extLst>
            </p:cNvPr>
            <p:cNvPicPr>
              <a:picLocks noChangeAspect="1"/>
            </p:cNvPicPr>
            <p:nvPr/>
          </p:nvPicPr>
          <p:blipFill>
            <a:blip r:embed="rId3"/>
            <a:stretch>
              <a:fillRect/>
            </a:stretch>
          </p:blipFill>
          <p:spPr>
            <a:xfrm>
              <a:off x="2349029" y="3918906"/>
              <a:ext cx="7493939" cy="2630373"/>
            </a:xfrm>
            <a:prstGeom prst="rect">
              <a:avLst/>
            </a:prstGeom>
          </p:spPr>
        </p:pic>
      </p:grpSp>
    </p:spTree>
    <p:extLst>
      <p:ext uri="{BB962C8B-B14F-4D97-AF65-F5344CB8AC3E}">
        <p14:creationId xmlns:p14="http://schemas.microsoft.com/office/powerpoint/2010/main" val="17707298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Ingress(5/11)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Hostnames :</a:t>
            </a:r>
          </a:p>
          <a:p>
            <a:pPr lvl="1">
              <a:buFont typeface="Wingdings" panose="05000000000000000000" pitchFamily="2" charset="2"/>
              <a:buChar char="§"/>
            </a:pPr>
            <a:r>
              <a:rPr lang="en-US" altLang="ko-KR" sz="1400" b="1" dirty="0"/>
              <a:t>Things start to get interesting when we start to direct traffic based on properties of the request</a:t>
            </a:r>
            <a:r>
              <a:rPr lang="en-US" altLang="ko-KR" sz="1400" dirty="0"/>
              <a:t>. The most common example of this is to </a:t>
            </a:r>
            <a:r>
              <a:rPr lang="en-US" altLang="ko-KR" sz="1400" b="1" dirty="0"/>
              <a:t>have the Ingress system look at the HTTP host header </a:t>
            </a:r>
            <a:r>
              <a:rPr lang="en-US" altLang="ko-KR" sz="1400" dirty="0"/>
              <a:t>(</a:t>
            </a:r>
            <a:r>
              <a:rPr lang="en-US" altLang="ko-KR" sz="1400" b="1" dirty="0"/>
              <a:t>which is set to the DNS domain in the original URL</a:t>
            </a:r>
            <a:r>
              <a:rPr lang="en-US" altLang="ko-KR" sz="1400" dirty="0"/>
              <a:t>) and </a:t>
            </a:r>
            <a:r>
              <a:rPr lang="en-US" altLang="ko-KR" sz="1400" b="1" dirty="0"/>
              <a:t>direct traffic based on that header</a:t>
            </a:r>
            <a:r>
              <a:rPr lang="en-US" altLang="ko-KR" sz="1400" dirty="0"/>
              <a:t>. Let’s add another Ingress object for directing traffic to the alpaca service for any traffic directed to “</a:t>
            </a:r>
            <a:r>
              <a:rPr lang="en-US" altLang="ko-KR" sz="1400" b="1" dirty="0"/>
              <a:t>alpaca.example.com</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A0424F39-F9F0-4FCE-9D5F-1E93A04044CA}"/>
              </a:ext>
            </a:extLst>
          </p:cNvPr>
          <p:cNvGrpSpPr/>
          <p:nvPr/>
        </p:nvGrpSpPr>
        <p:grpSpPr>
          <a:xfrm>
            <a:off x="1640620" y="2044882"/>
            <a:ext cx="6096000" cy="2847450"/>
            <a:chOff x="1640620" y="2044882"/>
            <a:chExt cx="6096000" cy="2847450"/>
          </a:xfrm>
        </p:grpSpPr>
        <p:grpSp>
          <p:nvGrpSpPr>
            <p:cNvPr id="11" name="그룹 10">
              <a:extLst>
                <a:ext uri="{FF2B5EF4-FFF2-40B4-BE49-F238E27FC236}">
                  <a16:creationId xmlns:a16="http://schemas.microsoft.com/office/drawing/2014/main" id="{A5925A1C-E904-4A1D-B468-8979C108C34D}"/>
                </a:ext>
              </a:extLst>
            </p:cNvPr>
            <p:cNvGrpSpPr/>
            <p:nvPr/>
          </p:nvGrpSpPr>
          <p:grpSpPr>
            <a:xfrm>
              <a:off x="1640620" y="2044882"/>
              <a:ext cx="6096000" cy="2847450"/>
              <a:chOff x="3047999" y="2108518"/>
              <a:chExt cx="6096000" cy="2847450"/>
            </a:xfrm>
          </p:grpSpPr>
          <p:sp>
            <p:nvSpPr>
              <p:cNvPr id="4" name="직사각형 3">
                <a:extLst>
                  <a:ext uri="{FF2B5EF4-FFF2-40B4-BE49-F238E27FC236}">
                    <a16:creationId xmlns:a16="http://schemas.microsoft.com/office/drawing/2014/main" id="{BC7C9DB7-A337-4093-BCAB-BB89CDBD584B}"/>
                  </a:ext>
                </a:extLst>
              </p:cNvPr>
              <p:cNvSpPr/>
              <p:nvPr/>
            </p:nvSpPr>
            <p:spPr>
              <a:xfrm>
                <a:off x="3047999" y="2108518"/>
                <a:ext cx="6095999"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apply -f </a:t>
                </a:r>
                <a:r>
                  <a:rPr lang="en-US" altLang="ko-KR" sz="1000" b="1" dirty="0">
                    <a:solidFill>
                      <a:srgbClr val="FF0000"/>
                    </a:solidFill>
                  </a:rPr>
                  <a:t>host-</a:t>
                </a:r>
                <a:r>
                  <a:rPr lang="en-US" altLang="ko-KR" sz="1000" b="1" dirty="0" err="1">
                    <a:solidFill>
                      <a:srgbClr val="FF0000"/>
                    </a:solidFill>
                  </a:rPr>
                  <a:t>ingress.yaml</a:t>
                </a:r>
                <a:endParaRPr lang="ko-KR" altLang="en-US" sz="1000" b="1" dirty="0">
                  <a:solidFill>
                    <a:srgbClr val="FF0000"/>
                  </a:solidFill>
                </a:endParaRPr>
              </a:p>
            </p:txBody>
          </p:sp>
          <p:grpSp>
            <p:nvGrpSpPr>
              <p:cNvPr id="10" name="그룹 9">
                <a:extLst>
                  <a:ext uri="{FF2B5EF4-FFF2-40B4-BE49-F238E27FC236}">
                    <a16:creationId xmlns:a16="http://schemas.microsoft.com/office/drawing/2014/main" id="{2E39FCB0-4E56-4E5A-B142-E80BADDDEC9F}"/>
                  </a:ext>
                </a:extLst>
              </p:cNvPr>
              <p:cNvGrpSpPr/>
              <p:nvPr/>
            </p:nvGrpSpPr>
            <p:grpSpPr>
              <a:xfrm>
                <a:off x="3047999" y="2387851"/>
                <a:ext cx="6096000" cy="2568117"/>
                <a:chOff x="3048000" y="2487619"/>
                <a:chExt cx="6096000" cy="2568117"/>
              </a:xfrm>
            </p:grpSpPr>
            <p:sp>
              <p:nvSpPr>
                <p:cNvPr id="8" name="직사각형 7">
                  <a:extLst>
                    <a:ext uri="{FF2B5EF4-FFF2-40B4-BE49-F238E27FC236}">
                      <a16:creationId xmlns:a16="http://schemas.microsoft.com/office/drawing/2014/main" id="{36C50B26-023B-4D71-A2AB-01E6475D309E}"/>
                    </a:ext>
                  </a:extLst>
                </p:cNvPr>
                <p:cNvSpPr/>
                <p:nvPr/>
              </p:nvSpPr>
              <p:spPr>
                <a:xfrm>
                  <a:off x="3048000" y="2501191"/>
                  <a:ext cx="6096000" cy="2554545"/>
                </a:xfrm>
                <a:prstGeom prst="rect">
                  <a:avLst/>
                </a:prstGeom>
                <a:ln>
                  <a:solidFill>
                    <a:schemeClr val="bg1">
                      <a:lumMod val="50000"/>
                    </a:schemeClr>
                  </a:solidFill>
                </a:ln>
              </p:spPr>
              <p:txBody>
                <a:bodyPr>
                  <a:spAutoFit/>
                </a:bodyPr>
                <a:lstStyle/>
                <a:p>
                  <a:r>
                    <a:rPr lang="en-US" altLang="ko-KR" sz="1000" b="1" dirty="0" err="1"/>
                    <a:t>apiVersion</a:t>
                  </a:r>
                  <a:r>
                    <a:rPr lang="en-US" altLang="ko-KR" sz="1000" b="1" dirty="0"/>
                    <a:t>: </a:t>
                  </a:r>
                  <a:r>
                    <a:rPr lang="en-US" altLang="ko-KR" sz="1000" b="1" dirty="0">
                      <a:solidFill>
                        <a:srgbClr val="FF0000"/>
                      </a:solidFill>
                    </a:rPr>
                    <a:t>networking.k8s.io/v1</a:t>
                  </a:r>
                </a:p>
                <a:p>
                  <a:r>
                    <a:rPr lang="en-US" altLang="ko-KR" sz="1000" b="1" dirty="0"/>
                    <a:t>kind: </a:t>
                  </a:r>
                  <a:r>
                    <a:rPr lang="en-US" altLang="ko-KR" sz="1000" b="1" dirty="0">
                      <a:solidFill>
                        <a:srgbClr val="FF0000"/>
                      </a:solidFill>
                    </a:rPr>
                    <a:t>Ingress</a:t>
                  </a:r>
                </a:p>
                <a:p>
                  <a:r>
                    <a:rPr lang="en-US" altLang="ko-KR" sz="1000" b="1" dirty="0"/>
                    <a:t>metadata:</a:t>
                  </a:r>
                </a:p>
                <a:p>
                  <a:r>
                    <a:rPr lang="en-US" altLang="ko-KR" sz="1000" b="1" dirty="0"/>
                    <a:t>  name: </a:t>
                  </a:r>
                  <a:r>
                    <a:rPr lang="en-US" altLang="ko-KR" sz="1000" b="1" dirty="0">
                      <a:solidFill>
                        <a:srgbClr val="FF0000"/>
                      </a:solidFill>
                    </a:rPr>
                    <a:t>host-ingress</a:t>
                  </a:r>
                </a:p>
                <a:p>
                  <a:r>
                    <a:rPr lang="en-US" altLang="ko-KR" sz="1000" b="1" dirty="0"/>
                    <a:t>spec:</a:t>
                  </a:r>
                </a:p>
                <a:p>
                  <a:r>
                    <a:rPr lang="en-US" altLang="ko-KR" sz="1000" b="1" dirty="0"/>
                    <a:t>  rules:</a:t>
                  </a:r>
                </a:p>
                <a:p>
                  <a:r>
                    <a:rPr lang="en-US" altLang="ko-KR" sz="1000" b="1" dirty="0"/>
                    <a:t>  - host: </a:t>
                  </a:r>
                  <a:r>
                    <a:rPr lang="en-US" altLang="ko-KR" sz="1000" b="1" dirty="0">
                      <a:solidFill>
                        <a:srgbClr val="FF0000"/>
                      </a:solidFill>
                    </a:rPr>
                    <a:t>alpaca.example.com</a:t>
                  </a:r>
                </a:p>
                <a:p>
                  <a:r>
                    <a:rPr lang="en-US" altLang="ko-KR" sz="1000" b="1" dirty="0"/>
                    <a:t>    http:</a:t>
                  </a:r>
                </a:p>
                <a:p>
                  <a:r>
                    <a:rPr lang="en-US" altLang="ko-KR" sz="1000" b="1" dirty="0"/>
                    <a:t>      paths:</a:t>
                  </a:r>
                </a:p>
                <a:p>
                  <a:r>
                    <a:rPr lang="en-US" altLang="ko-KR" sz="1000" b="1" dirty="0"/>
                    <a:t>        - path: </a:t>
                  </a:r>
                  <a:r>
                    <a:rPr lang="en-US" altLang="ko-KR" sz="1000" b="1" dirty="0">
                      <a:solidFill>
                        <a:srgbClr val="FF0000"/>
                      </a:solidFill>
                    </a:rPr>
                    <a:t>/</a:t>
                  </a:r>
                </a:p>
                <a:p>
                  <a:r>
                    <a:rPr lang="en-US" altLang="ko-KR" sz="1000" b="1" dirty="0"/>
                    <a:t>          </a:t>
                  </a:r>
                  <a:r>
                    <a:rPr lang="en-US" altLang="ko-KR" sz="1000" b="1" dirty="0" err="1"/>
                    <a:t>pathType</a:t>
                  </a:r>
                  <a:r>
                    <a:rPr lang="en-US" altLang="ko-KR" sz="1000" b="1" dirty="0"/>
                    <a:t>: </a:t>
                  </a:r>
                  <a:r>
                    <a:rPr lang="en-US" altLang="ko-KR" sz="1000" b="1" dirty="0">
                      <a:solidFill>
                        <a:srgbClr val="FF0000"/>
                      </a:solidFill>
                    </a:rPr>
                    <a:t>Prefix</a:t>
                  </a:r>
                </a:p>
                <a:p>
                  <a:r>
                    <a:rPr lang="en-US" altLang="ko-KR" sz="1000" b="1" dirty="0"/>
                    <a:t>          backend:</a:t>
                  </a:r>
                </a:p>
                <a:p>
                  <a:r>
                    <a:rPr lang="en-US" altLang="ko-KR" sz="1000" b="1" dirty="0"/>
                    <a:t>            service:</a:t>
                  </a:r>
                </a:p>
                <a:p>
                  <a:r>
                    <a:rPr lang="en-US" altLang="ko-KR" sz="1000" b="1" dirty="0"/>
                    <a:t>              name: </a:t>
                  </a:r>
                  <a:r>
                    <a:rPr lang="en-US" altLang="ko-KR" sz="1000" b="1" dirty="0">
                      <a:solidFill>
                        <a:srgbClr val="FF0000"/>
                      </a:solidFill>
                    </a:rPr>
                    <a:t>alpaca</a:t>
                  </a:r>
                </a:p>
                <a:p>
                  <a:r>
                    <a:rPr lang="en-US" altLang="ko-KR" sz="1000" b="1" dirty="0"/>
                    <a:t>              port:</a:t>
                  </a:r>
                </a:p>
                <a:p>
                  <a:r>
                    <a:rPr lang="en-US" altLang="ko-KR" sz="1000" b="1" dirty="0"/>
                    <a:t>                number: 8080</a:t>
                  </a:r>
                  <a:endParaRPr lang="ko-KR" altLang="en-US" sz="1000" b="1" dirty="0"/>
                </a:p>
              </p:txBody>
            </p:sp>
            <p:sp>
              <p:nvSpPr>
                <p:cNvPr id="9" name="직사각형 8">
                  <a:extLst>
                    <a:ext uri="{FF2B5EF4-FFF2-40B4-BE49-F238E27FC236}">
                      <a16:creationId xmlns:a16="http://schemas.microsoft.com/office/drawing/2014/main" id="{AD617D3C-FBD1-4ACD-810D-FC33C39B87B4}"/>
                    </a:ext>
                  </a:extLst>
                </p:cNvPr>
                <p:cNvSpPr/>
                <p:nvPr/>
              </p:nvSpPr>
              <p:spPr>
                <a:xfrm>
                  <a:off x="7880513" y="2487619"/>
                  <a:ext cx="1263486" cy="246221"/>
                </a:xfrm>
                <a:prstGeom prst="rect">
                  <a:avLst/>
                </a:prstGeom>
              </p:spPr>
              <p:txBody>
                <a:bodyPr wrap="none">
                  <a:spAutoFit/>
                </a:bodyPr>
                <a:lstStyle/>
                <a:p>
                  <a:pPr algn="ctr"/>
                  <a:r>
                    <a:rPr lang="en-US" altLang="ko-KR" sz="1000" b="1" dirty="0"/>
                    <a:t>host-</a:t>
                  </a:r>
                  <a:r>
                    <a:rPr lang="en-US" altLang="ko-KR" sz="1000" b="1" dirty="0" err="1"/>
                    <a:t>ingress.yaml</a:t>
                  </a:r>
                  <a:endParaRPr lang="ko-KR" altLang="en-US" sz="1000" b="1" dirty="0"/>
                </a:p>
              </p:txBody>
            </p:sp>
          </p:grpSp>
        </p:grpSp>
        <p:sp>
          <p:nvSpPr>
            <p:cNvPr id="14" name="직사각형 13">
              <a:extLst>
                <a:ext uri="{FF2B5EF4-FFF2-40B4-BE49-F238E27FC236}">
                  <a16:creationId xmlns:a16="http://schemas.microsoft.com/office/drawing/2014/main" id="{2C38E375-B24F-420A-969C-A4C447A91815}"/>
                </a:ext>
              </a:extLst>
            </p:cNvPr>
            <p:cNvSpPr/>
            <p:nvPr/>
          </p:nvSpPr>
          <p:spPr>
            <a:xfrm>
              <a:off x="1648571" y="3283889"/>
              <a:ext cx="1940780" cy="20673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cxnSp>
        <p:nvCxnSpPr>
          <p:cNvPr id="17" name="연결선: 꺾임 16">
            <a:extLst>
              <a:ext uri="{FF2B5EF4-FFF2-40B4-BE49-F238E27FC236}">
                <a16:creationId xmlns:a16="http://schemas.microsoft.com/office/drawing/2014/main" id="{E45FA38D-5588-4428-81C7-D4C1161EA90F}"/>
              </a:ext>
            </a:extLst>
          </p:cNvPr>
          <p:cNvCxnSpPr>
            <a:stCxn id="14" idx="3"/>
            <a:endCxn id="13" idx="1"/>
          </p:cNvCxnSpPr>
          <p:nvPr/>
        </p:nvCxnSpPr>
        <p:spPr>
          <a:xfrm>
            <a:off x="3589351" y="3387256"/>
            <a:ext cx="632792" cy="1953710"/>
          </a:xfrm>
          <a:prstGeom prst="bentConnector3">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18" name="그룹 17">
            <a:extLst>
              <a:ext uri="{FF2B5EF4-FFF2-40B4-BE49-F238E27FC236}">
                <a16:creationId xmlns:a16="http://schemas.microsoft.com/office/drawing/2014/main" id="{E884D0C7-60C7-4E2E-AEB4-43BA959672BF}"/>
              </a:ext>
            </a:extLst>
          </p:cNvPr>
          <p:cNvGrpSpPr/>
          <p:nvPr/>
        </p:nvGrpSpPr>
        <p:grpSpPr>
          <a:xfrm>
            <a:off x="4022747" y="3729162"/>
            <a:ext cx="7331053" cy="2675834"/>
            <a:chOff x="4022747" y="3729162"/>
            <a:chExt cx="7331053" cy="2675834"/>
          </a:xfrm>
        </p:grpSpPr>
        <p:pic>
          <p:nvPicPr>
            <p:cNvPr id="12" name="그림 11">
              <a:extLst>
                <a:ext uri="{FF2B5EF4-FFF2-40B4-BE49-F238E27FC236}">
                  <a16:creationId xmlns:a16="http://schemas.microsoft.com/office/drawing/2014/main" id="{28441F59-47CA-4D73-8DF1-B90AF5760934}"/>
                </a:ext>
              </a:extLst>
            </p:cNvPr>
            <p:cNvPicPr>
              <a:picLocks noChangeAspect="1"/>
            </p:cNvPicPr>
            <p:nvPr/>
          </p:nvPicPr>
          <p:blipFill>
            <a:blip r:embed="rId2"/>
            <a:stretch>
              <a:fillRect/>
            </a:stretch>
          </p:blipFill>
          <p:spPr>
            <a:xfrm>
              <a:off x="4022747" y="3729162"/>
              <a:ext cx="7331053" cy="2675834"/>
            </a:xfrm>
            <a:prstGeom prst="rect">
              <a:avLst/>
            </a:prstGeom>
          </p:spPr>
        </p:pic>
        <p:sp>
          <p:nvSpPr>
            <p:cNvPr id="13" name="직사각형 12">
              <a:extLst>
                <a:ext uri="{FF2B5EF4-FFF2-40B4-BE49-F238E27FC236}">
                  <a16:creationId xmlns:a16="http://schemas.microsoft.com/office/drawing/2014/main" id="{B6855DF8-846E-442C-ADB6-E70B0887128C}"/>
                </a:ext>
              </a:extLst>
            </p:cNvPr>
            <p:cNvSpPr/>
            <p:nvPr/>
          </p:nvSpPr>
          <p:spPr>
            <a:xfrm>
              <a:off x="4222143" y="5227336"/>
              <a:ext cx="1168841" cy="22725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9410467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Ingress(6/11)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Hostnames :</a:t>
            </a:r>
          </a:p>
          <a:p>
            <a:pPr lvl="1">
              <a:buFont typeface="Wingdings" panose="05000000000000000000" pitchFamily="2" charset="2"/>
              <a:buChar char="§"/>
            </a:pPr>
            <a:r>
              <a:rPr lang="en-US" altLang="ko-KR" sz="1400" dirty="0"/>
              <a:t>We can </a:t>
            </a:r>
            <a:r>
              <a:rPr lang="en-US" altLang="ko-KR" sz="1400" b="1" dirty="0"/>
              <a:t>verify that things are set up correctly</a:t>
            </a:r>
            <a:r>
              <a:rPr lang="en-US" altLang="ko-KR" sz="1400" dirty="0"/>
              <a:t> as follows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49DF7648-654C-4F20-B340-254DAC43C0AA}"/>
              </a:ext>
            </a:extLst>
          </p:cNvPr>
          <p:cNvGrpSpPr/>
          <p:nvPr/>
        </p:nvGrpSpPr>
        <p:grpSpPr>
          <a:xfrm>
            <a:off x="1333500" y="1600725"/>
            <a:ext cx="9525000" cy="4808305"/>
            <a:chOff x="1333500" y="1600725"/>
            <a:chExt cx="9525000" cy="4808305"/>
          </a:xfrm>
        </p:grpSpPr>
        <p:grpSp>
          <p:nvGrpSpPr>
            <p:cNvPr id="10" name="그룹 9">
              <a:extLst>
                <a:ext uri="{FF2B5EF4-FFF2-40B4-BE49-F238E27FC236}">
                  <a16:creationId xmlns:a16="http://schemas.microsoft.com/office/drawing/2014/main" id="{9B7DD2FF-A0CD-4051-9F12-244BD6C418D6}"/>
                </a:ext>
              </a:extLst>
            </p:cNvPr>
            <p:cNvGrpSpPr/>
            <p:nvPr/>
          </p:nvGrpSpPr>
          <p:grpSpPr>
            <a:xfrm>
              <a:off x="1333500" y="1600725"/>
              <a:ext cx="9525000" cy="4808305"/>
              <a:chOff x="1333497" y="1447339"/>
              <a:chExt cx="9525000" cy="4808305"/>
            </a:xfrm>
          </p:grpSpPr>
          <p:sp>
            <p:nvSpPr>
              <p:cNvPr id="4" name="직사각형 3">
                <a:extLst>
                  <a:ext uri="{FF2B5EF4-FFF2-40B4-BE49-F238E27FC236}">
                    <a16:creationId xmlns:a16="http://schemas.microsoft.com/office/drawing/2014/main" id="{259CD0C1-E8A7-465A-883C-314726BBD56A}"/>
                  </a:ext>
                </a:extLst>
              </p:cNvPr>
              <p:cNvSpPr/>
              <p:nvPr/>
            </p:nvSpPr>
            <p:spPr>
              <a:xfrm>
                <a:off x="4373185" y="1447339"/>
                <a:ext cx="3445627" cy="400110"/>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t>
                </a:r>
                <a:r>
                  <a:rPr lang="en-US" altLang="ko-KR" sz="1000" b="1" dirty="0">
                    <a:solidFill>
                      <a:srgbClr val="FF0000"/>
                    </a:solidFill>
                  </a:rPr>
                  <a:t>get ingress</a:t>
                </a:r>
              </a:p>
              <a:p>
                <a:r>
                  <a:rPr lang="en-US" altLang="ko-KR" sz="1000" dirty="0"/>
                  <a:t>$ </a:t>
                </a:r>
                <a:r>
                  <a:rPr lang="en-US" altLang="ko-KR" sz="1000" b="1" dirty="0" err="1"/>
                  <a:t>kubectl</a:t>
                </a:r>
                <a:r>
                  <a:rPr lang="en-US" altLang="ko-KR" sz="1000" b="1" dirty="0"/>
                  <a:t> describe ingress host-ingress</a:t>
                </a:r>
                <a:endParaRPr lang="ko-KR" altLang="en-US" sz="1000" b="1" dirty="0">
                  <a:solidFill>
                    <a:srgbClr val="FF0000"/>
                  </a:solidFill>
                </a:endParaRPr>
              </a:p>
            </p:txBody>
          </p:sp>
          <p:sp>
            <p:nvSpPr>
              <p:cNvPr id="8" name="화살표: 아래쪽 7">
                <a:extLst>
                  <a:ext uri="{FF2B5EF4-FFF2-40B4-BE49-F238E27FC236}">
                    <a16:creationId xmlns:a16="http://schemas.microsoft.com/office/drawing/2014/main" id="{E2576936-F031-4C43-B4CB-58CBA1E59DD5}"/>
                  </a:ext>
                </a:extLst>
              </p:cNvPr>
              <p:cNvSpPr/>
              <p:nvPr/>
            </p:nvSpPr>
            <p:spPr>
              <a:xfrm>
                <a:off x="5897215" y="1880561"/>
                <a:ext cx="397565"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A1D58193-CF05-4BB5-B2A3-DF79DF9FFE8B}"/>
                  </a:ext>
                </a:extLst>
              </p:cNvPr>
              <p:cNvPicPr>
                <a:picLocks noChangeAspect="1"/>
              </p:cNvPicPr>
              <p:nvPr/>
            </p:nvPicPr>
            <p:blipFill>
              <a:blip r:embed="rId2"/>
              <a:stretch>
                <a:fillRect/>
              </a:stretch>
            </p:blipFill>
            <p:spPr>
              <a:xfrm>
                <a:off x="1333497" y="2159894"/>
                <a:ext cx="9525000" cy="4095750"/>
              </a:xfrm>
              <a:prstGeom prst="rect">
                <a:avLst/>
              </a:prstGeom>
              <a:ln>
                <a:solidFill>
                  <a:schemeClr val="bg1">
                    <a:lumMod val="50000"/>
                  </a:schemeClr>
                </a:solidFill>
              </a:ln>
            </p:spPr>
          </p:pic>
        </p:grpSp>
        <p:sp>
          <p:nvSpPr>
            <p:cNvPr id="11" name="직사각형 10">
              <a:extLst>
                <a:ext uri="{FF2B5EF4-FFF2-40B4-BE49-F238E27FC236}">
                  <a16:creationId xmlns:a16="http://schemas.microsoft.com/office/drawing/2014/main" id="{56696B0F-C9CC-463B-8C69-079693CB8368}"/>
                </a:ext>
              </a:extLst>
            </p:cNvPr>
            <p:cNvSpPr/>
            <p:nvPr/>
          </p:nvSpPr>
          <p:spPr>
            <a:xfrm>
              <a:off x="1439186" y="3156669"/>
              <a:ext cx="5637475" cy="23257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2E608282-5465-4B00-81A7-0BCE56777BA1}"/>
                </a:ext>
              </a:extLst>
            </p:cNvPr>
            <p:cNvSpPr/>
            <p:nvPr/>
          </p:nvSpPr>
          <p:spPr>
            <a:xfrm>
              <a:off x="1574358" y="4945711"/>
              <a:ext cx="1550505" cy="20673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0935996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Ingress(7/11)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Hostnames :</a:t>
            </a:r>
          </a:p>
          <a:p>
            <a:pPr lvl="1">
              <a:buFont typeface="Wingdings" panose="05000000000000000000" pitchFamily="2" charset="2"/>
              <a:buChar char="§"/>
            </a:pPr>
            <a:r>
              <a:rPr lang="en-US" altLang="ko-KR" sz="1400" dirty="0"/>
              <a:t>There is a reference to the “</a:t>
            </a:r>
            <a:r>
              <a:rPr lang="en-US" altLang="ko-KR" sz="1400" b="1" dirty="0"/>
              <a:t>default-http-backend</a:t>
            </a:r>
            <a:r>
              <a:rPr lang="en-US" altLang="ko-KR" sz="1400" dirty="0"/>
              <a:t>”. </a:t>
            </a:r>
            <a:r>
              <a:rPr lang="en-US" altLang="ko-KR" sz="1400" b="1" dirty="0"/>
              <a:t>This is a convention that only some Ingress controllers use to handle requests that aren’t handled in any other way</a:t>
            </a:r>
            <a:r>
              <a:rPr lang="en-US" altLang="ko-KR" sz="1400" dirty="0"/>
              <a:t>. These controllers send those requests to a service called “</a:t>
            </a:r>
            <a:r>
              <a:rPr lang="en-US" altLang="ko-KR" sz="1400" b="1" dirty="0"/>
              <a:t>default-http-backend</a:t>
            </a:r>
            <a:r>
              <a:rPr lang="en-US" altLang="ko-KR" sz="1400" dirty="0"/>
              <a:t>” in the “</a:t>
            </a:r>
            <a:r>
              <a:rPr lang="en-US" altLang="ko-KR" sz="1400" b="1" dirty="0" err="1"/>
              <a:t>kube</a:t>
            </a:r>
            <a:r>
              <a:rPr lang="en-US" altLang="ko-KR" sz="1400" b="1" dirty="0"/>
              <a:t>-system</a:t>
            </a:r>
            <a:r>
              <a:rPr lang="en-US" altLang="ko-KR" sz="1400" dirty="0"/>
              <a:t>” namespace. </a:t>
            </a:r>
            <a:r>
              <a:rPr lang="en-US" altLang="ko-KR" sz="1400" b="1" dirty="0"/>
              <a:t>This convention is surfaced client-side in “</a:t>
            </a:r>
            <a:r>
              <a:rPr lang="en-US" altLang="ko-KR" sz="1400" b="1" dirty="0" err="1"/>
              <a:t>kubectl</a:t>
            </a:r>
            <a:r>
              <a:rPr lang="en-US" altLang="ko-KR" sz="1400" b="1" dirty="0"/>
              <a:t>”</a:t>
            </a:r>
            <a:r>
              <a:rPr lang="en-US" altLang="ko-KR" sz="1400" dirty="0"/>
              <a:t>.</a:t>
            </a:r>
          </a:p>
          <a:p>
            <a:pPr lvl="1">
              <a:buFont typeface="Wingdings" panose="05000000000000000000" pitchFamily="2" charset="2"/>
              <a:buChar char="§"/>
            </a:pPr>
            <a:r>
              <a:rPr lang="en-US" altLang="ko-KR" sz="1400" b="1" dirty="0"/>
              <a:t>Now you should be able to address the alpaca service via “http://alpaca.example.com”</a:t>
            </a:r>
            <a:r>
              <a:rPr lang="en-US" altLang="ko-KR" sz="1400" dirty="0"/>
              <a:t>. If instead you reach the service endpoint via other methods, you should get the default service.</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NOTE : Before you connect to the service, you need to edit “/</a:t>
            </a:r>
            <a:r>
              <a:rPr lang="en-US" altLang="ko-KR" sz="1400" b="1" dirty="0" err="1"/>
              <a:t>etc</a:t>
            </a:r>
            <a:r>
              <a:rPr lang="en-US" altLang="ko-KR" sz="1400" b="1" dirty="0"/>
              <a:t>/hosts” file to add IP address to the service. The IP address will be presented to you by “</a:t>
            </a:r>
            <a:r>
              <a:rPr lang="en-US" altLang="ko-KR" sz="1400" b="1" dirty="0" err="1"/>
              <a:t>kubectl</a:t>
            </a:r>
            <a:r>
              <a:rPr lang="en-US" altLang="ko-KR" sz="1400" b="1" dirty="0"/>
              <a:t> get ingress” command</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43AE1C68-D16D-4891-95A1-E29FC9A3ACCE}"/>
              </a:ext>
            </a:extLst>
          </p:cNvPr>
          <p:cNvPicPr>
            <a:picLocks noChangeAspect="1"/>
          </p:cNvPicPr>
          <p:nvPr/>
        </p:nvPicPr>
        <p:blipFill>
          <a:blip r:embed="rId2"/>
          <a:stretch>
            <a:fillRect/>
          </a:stretch>
        </p:blipFill>
        <p:spPr>
          <a:xfrm>
            <a:off x="2821802" y="2575930"/>
            <a:ext cx="6548396" cy="2777315"/>
          </a:xfrm>
          <a:prstGeom prst="rect">
            <a:avLst/>
          </a:prstGeom>
          <a:ln>
            <a:solidFill>
              <a:schemeClr val="bg1">
                <a:lumMod val="50000"/>
              </a:schemeClr>
            </a:solidFill>
          </a:ln>
        </p:spPr>
      </p:pic>
    </p:spTree>
    <p:extLst>
      <p:ext uri="{BB962C8B-B14F-4D97-AF65-F5344CB8AC3E}">
        <p14:creationId xmlns:p14="http://schemas.microsoft.com/office/powerpoint/2010/main" val="13832847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Setting IP Address for Service</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Linux Ubuntu 20.04 :</a:t>
            </a:r>
          </a:p>
          <a:p>
            <a:pPr lvl="1">
              <a:buFont typeface="Wingdings" panose="05000000000000000000" pitchFamily="2" charset="2"/>
              <a:buChar char="§"/>
            </a:pPr>
            <a:r>
              <a:rPr lang="en-US" altLang="ko-KR" sz="1400" dirty="0"/>
              <a:t>See the following screenshot for </a:t>
            </a:r>
            <a:r>
              <a:rPr lang="en-US" altLang="ko-KR" sz="1400" b="1" dirty="0"/>
              <a:t>setting the IP address for the service running in the Pods</a:t>
            </a:r>
            <a:r>
              <a:rPr lang="en-US" altLang="ko-KR" sz="1400" dirty="0"/>
              <a:t>. After setting the IP address for the service, connect the service with your browser.</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To get the IP address from the “</a:t>
            </a:r>
            <a:r>
              <a:rPr lang="en-US" altLang="ko-KR" sz="1400" b="1" dirty="0" err="1"/>
              <a:t>kubectl</a:t>
            </a:r>
            <a:r>
              <a:rPr lang="en-US" altLang="ko-KR" sz="1400" b="1" dirty="0"/>
              <a:t> get ingress”, you need to wait for several seconds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6" name="그룹 15">
            <a:extLst>
              <a:ext uri="{FF2B5EF4-FFF2-40B4-BE49-F238E27FC236}">
                <a16:creationId xmlns:a16="http://schemas.microsoft.com/office/drawing/2014/main" id="{8CC25A86-450F-4FCB-AD4E-9C8E37C5D21A}"/>
              </a:ext>
            </a:extLst>
          </p:cNvPr>
          <p:cNvGrpSpPr/>
          <p:nvPr/>
        </p:nvGrpSpPr>
        <p:grpSpPr>
          <a:xfrm>
            <a:off x="2833687" y="1777850"/>
            <a:ext cx="6524626" cy="3818568"/>
            <a:chOff x="2833686" y="1708003"/>
            <a:chExt cx="6524626" cy="3818568"/>
          </a:xfrm>
        </p:grpSpPr>
        <p:pic>
          <p:nvPicPr>
            <p:cNvPr id="8" name="그림 7">
              <a:extLst>
                <a:ext uri="{FF2B5EF4-FFF2-40B4-BE49-F238E27FC236}">
                  <a16:creationId xmlns:a16="http://schemas.microsoft.com/office/drawing/2014/main" id="{A8F0326E-222D-4163-AD48-1FA1AC269270}"/>
                </a:ext>
              </a:extLst>
            </p:cNvPr>
            <p:cNvPicPr>
              <a:picLocks noChangeAspect="1"/>
            </p:cNvPicPr>
            <p:nvPr/>
          </p:nvPicPr>
          <p:blipFill>
            <a:blip r:embed="rId2"/>
            <a:stretch>
              <a:fillRect/>
            </a:stretch>
          </p:blipFill>
          <p:spPr>
            <a:xfrm>
              <a:off x="2833687" y="1708003"/>
              <a:ext cx="6524625" cy="1857375"/>
            </a:xfrm>
            <a:prstGeom prst="rect">
              <a:avLst/>
            </a:prstGeom>
            <a:ln>
              <a:solidFill>
                <a:schemeClr val="bg1">
                  <a:lumMod val="50000"/>
                </a:schemeClr>
              </a:solidFill>
            </a:ln>
          </p:spPr>
        </p:pic>
        <p:pic>
          <p:nvPicPr>
            <p:cNvPr id="9" name="그림 8">
              <a:extLst>
                <a:ext uri="{FF2B5EF4-FFF2-40B4-BE49-F238E27FC236}">
                  <a16:creationId xmlns:a16="http://schemas.microsoft.com/office/drawing/2014/main" id="{B5A47DA3-3004-4176-94A9-57E18F2D78A9}"/>
                </a:ext>
              </a:extLst>
            </p:cNvPr>
            <p:cNvPicPr>
              <a:picLocks noChangeAspect="1"/>
            </p:cNvPicPr>
            <p:nvPr/>
          </p:nvPicPr>
          <p:blipFill>
            <a:blip r:embed="rId3"/>
            <a:stretch>
              <a:fillRect/>
            </a:stretch>
          </p:blipFill>
          <p:spPr>
            <a:xfrm>
              <a:off x="2833686" y="3716821"/>
              <a:ext cx="6524625" cy="1809750"/>
            </a:xfrm>
            <a:prstGeom prst="rect">
              <a:avLst/>
            </a:prstGeom>
            <a:ln>
              <a:solidFill>
                <a:schemeClr val="bg1">
                  <a:lumMod val="50000"/>
                </a:schemeClr>
              </a:solidFill>
            </a:ln>
          </p:spPr>
        </p:pic>
        <p:sp>
          <p:nvSpPr>
            <p:cNvPr id="10" name="직사각형 9">
              <a:extLst>
                <a:ext uri="{FF2B5EF4-FFF2-40B4-BE49-F238E27FC236}">
                  <a16:creationId xmlns:a16="http://schemas.microsoft.com/office/drawing/2014/main" id="{2F2F71FD-6E6B-4000-822C-F69C9E780EED}"/>
                </a:ext>
              </a:extLst>
            </p:cNvPr>
            <p:cNvSpPr/>
            <p:nvPr/>
          </p:nvSpPr>
          <p:spPr>
            <a:xfrm>
              <a:off x="6448508" y="4572000"/>
              <a:ext cx="1049572" cy="1828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직사각형 10">
              <a:extLst>
                <a:ext uri="{FF2B5EF4-FFF2-40B4-BE49-F238E27FC236}">
                  <a16:creationId xmlns:a16="http://schemas.microsoft.com/office/drawing/2014/main" id="{768A6BB0-D749-42DB-90AE-17EFF605817A}"/>
                </a:ext>
              </a:extLst>
            </p:cNvPr>
            <p:cNvSpPr/>
            <p:nvPr/>
          </p:nvSpPr>
          <p:spPr>
            <a:xfrm>
              <a:off x="2965837" y="2548117"/>
              <a:ext cx="2703443" cy="23853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3" name="연결선: 꺾임 12">
              <a:extLst>
                <a:ext uri="{FF2B5EF4-FFF2-40B4-BE49-F238E27FC236}">
                  <a16:creationId xmlns:a16="http://schemas.microsoft.com/office/drawing/2014/main" id="{DB243F15-F21C-486A-966B-DE3BA32C393F}"/>
                </a:ext>
              </a:extLst>
            </p:cNvPr>
            <p:cNvCxnSpPr>
              <a:cxnSpLocks/>
              <a:stCxn id="10" idx="1"/>
              <a:endCxn id="11" idx="2"/>
            </p:cNvCxnSpPr>
            <p:nvPr/>
          </p:nvCxnSpPr>
          <p:spPr>
            <a:xfrm rot="10800000">
              <a:off x="4317560" y="2786656"/>
              <a:ext cx="2130949" cy="1876784"/>
            </a:xfrm>
            <a:prstGeom prst="bentConnector2">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515600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Nginx Ingress Controller</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Accessing “Nginx” :</a:t>
            </a:r>
          </a:p>
          <a:p>
            <a:pPr lvl="1">
              <a:buFont typeface="Wingdings" panose="05000000000000000000" pitchFamily="2" charset="2"/>
              <a:buChar char="§"/>
            </a:pPr>
            <a:r>
              <a:rPr lang="en-US" altLang="ko-KR" sz="1400" dirty="0"/>
              <a:t>If you can access only “</a:t>
            </a:r>
            <a:r>
              <a:rPr lang="en-US" altLang="ko-KR" sz="1400" b="1" dirty="0"/>
              <a:t>Ingress(Nginx Ingress)</a:t>
            </a:r>
            <a:r>
              <a:rPr lang="en-US" altLang="ko-KR" sz="1400" dirty="0"/>
              <a:t>”, you can see the following screenshot. Use “</a:t>
            </a:r>
            <a:r>
              <a:rPr lang="en-US" altLang="ko-KR" sz="1400" b="1" dirty="0"/>
              <a:t>http://&lt;IP Address&gt;</a:t>
            </a:r>
            <a:r>
              <a:rPr lang="en-US" altLang="ko-KR" sz="1400" dirty="0"/>
              <a:t>” instead of hostname. </a:t>
            </a:r>
            <a:r>
              <a:rPr lang="en-US" altLang="ko-KR" sz="1400" b="1" dirty="0"/>
              <a:t>It means the Ingress controller is working correctly</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1A445A91-39B8-4BC0-A830-E13515B06F35}"/>
              </a:ext>
            </a:extLst>
          </p:cNvPr>
          <p:cNvGrpSpPr/>
          <p:nvPr/>
        </p:nvGrpSpPr>
        <p:grpSpPr>
          <a:xfrm>
            <a:off x="2196920" y="1916899"/>
            <a:ext cx="7798159" cy="3270347"/>
            <a:chOff x="1857375" y="1956988"/>
            <a:chExt cx="8477250" cy="3595383"/>
          </a:xfrm>
        </p:grpSpPr>
        <p:pic>
          <p:nvPicPr>
            <p:cNvPr id="4" name="그림 3">
              <a:extLst>
                <a:ext uri="{FF2B5EF4-FFF2-40B4-BE49-F238E27FC236}">
                  <a16:creationId xmlns:a16="http://schemas.microsoft.com/office/drawing/2014/main" id="{642511D7-FC10-40D9-9329-B31049D3FD37}"/>
                </a:ext>
              </a:extLst>
            </p:cNvPr>
            <p:cNvPicPr>
              <a:picLocks noChangeAspect="1"/>
            </p:cNvPicPr>
            <p:nvPr/>
          </p:nvPicPr>
          <p:blipFill>
            <a:blip r:embed="rId2"/>
            <a:stretch>
              <a:fillRect/>
            </a:stretch>
          </p:blipFill>
          <p:spPr>
            <a:xfrm>
              <a:off x="1857375" y="1956988"/>
              <a:ext cx="8477250" cy="3595383"/>
            </a:xfrm>
            <a:prstGeom prst="rect">
              <a:avLst/>
            </a:prstGeom>
          </p:spPr>
        </p:pic>
        <p:sp>
          <p:nvSpPr>
            <p:cNvPr id="8" name="직사각형 7">
              <a:extLst>
                <a:ext uri="{FF2B5EF4-FFF2-40B4-BE49-F238E27FC236}">
                  <a16:creationId xmlns:a16="http://schemas.microsoft.com/office/drawing/2014/main" id="{78782BA8-DE3E-4D09-A484-1AF3BC14AF11}"/>
                </a:ext>
              </a:extLst>
            </p:cNvPr>
            <p:cNvSpPr/>
            <p:nvPr/>
          </p:nvSpPr>
          <p:spPr>
            <a:xfrm>
              <a:off x="3093057" y="2337683"/>
              <a:ext cx="1129086" cy="20673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1630717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Ingress(8/11)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Paths :</a:t>
            </a:r>
          </a:p>
          <a:p>
            <a:pPr lvl="1">
              <a:buFont typeface="Wingdings" panose="05000000000000000000" pitchFamily="2" charset="2"/>
              <a:buChar char="§"/>
            </a:pPr>
            <a:r>
              <a:rPr lang="en-US" altLang="ko-KR" sz="1400" b="1" dirty="0"/>
              <a:t>The next interesting scenario is to direct traffic based on not just the hostname, but also the path in the HTTP request</a:t>
            </a:r>
            <a:r>
              <a:rPr lang="en-US" altLang="ko-KR" sz="1400" dirty="0"/>
              <a:t>. We can do this easily by specifying a path in the “</a:t>
            </a:r>
            <a:r>
              <a:rPr lang="en-US" altLang="ko-KR" sz="1400" b="1" dirty="0"/>
              <a:t>paths” entry</a:t>
            </a:r>
            <a:r>
              <a:rPr lang="en-US" altLang="ko-KR" sz="1400" dirty="0"/>
              <a:t>. In this example we direct everything coming into “</a:t>
            </a:r>
            <a:r>
              <a:rPr lang="en-US" altLang="ko-KR" sz="1400" b="1" dirty="0"/>
              <a:t>http://bandicoot.example.com</a:t>
            </a:r>
            <a:r>
              <a:rPr lang="en-US" altLang="ko-KR" sz="1400" dirty="0"/>
              <a:t>” to the “</a:t>
            </a:r>
            <a:r>
              <a:rPr lang="en-US" altLang="ko-KR" sz="1400" b="1" dirty="0"/>
              <a:t>bandicoot</a:t>
            </a:r>
            <a:r>
              <a:rPr lang="en-US" altLang="ko-KR" sz="1400" dirty="0"/>
              <a:t>” service, but we also send “</a:t>
            </a:r>
            <a:r>
              <a:rPr lang="en-US" altLang="ko-KR" sz="1400" b="1" dirty="0"/>
              <a:t>http://bandicoot.example.com/alpaca</a:t>
            </a:r>
            <a:r>
              <a:rPr lang="en-US" altLang="ko-KR" sz="1400" dirty="0"/>
              <a:t>” to the “</a:t>
            </a:r>
            <a:r>
              <a:rPr lang="en-US" altLang="ko-KR" sz="1400" b="1" dirty="0"/>
              <a:t>alpaca</a:t>
            </a:r>
            <a:r>
              <a:rPr lang="en-US" altLang="ko-KR" sz="1400" dirty="0"/>
              <a:t>” service. </a:t>
            </a:r>
            <a:r>
              <a:rPr lang="en-US" altLang="ko-KR" sz="1400" b="1" dirty="0"/>
              <a:t>This type of scenario can be used to host multiple services on different paths of a single domain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FEFC3192-AA80-4AB5-A103-E6AEEB1FB8AD}"/>
              </a:ext>
            </a:extLst>
          </p:cNvPr>
          <p:cNvGrpSpPr/>
          <p:nvPr/>
        </p:nvGrpSpPr>
        <p:grpSpPr>
          <a:xfrm>
            <a:off x="1592911" y="2211164"/>
            <a:ext cx="2923430" cy="3872430"/>
            <a:chOff x="1592911" y="2211164"/>
            <a:chExt cx="2923430" cy="3872430"/>
          </a:xfrm>
        </p:grpSpPr>
        <p:sp>
          <p:nvSpPr>
            <p:cNvPr id="8" name="직사각형 7">
              <a:extLst>
                <a:ext uri="{FF2B5EF4-FFF2-40B4-BE49-F238E27FC236}">
                  <a16:creationId xmlns:a16="http://schemas.microsoft.com/office/drawing/2014/main" id="{6C579EBC-1C12-490C-BA0E-623736095AA8}"/>
                </a:ext>
              </a:extLst>
            </p:cNvPr>
            <p:cNvSpPr/>
            <p:nvPr/>
          </p:nvSpPr>
          <p:spPr>
            <a:xfrm>
              <a:off x="1592911" y="2211164"/>
              <a:ext cx="2923430" cy="3631763"/>
            </a:xfrm>
            <a:prstGeom prst="rect">
              <a:avLst/>
            </a:prstGeom>
            <a:ln>
              <a:solidFill>
                <a:schemeClr val="bg1">
                  <a:lumMod val="50000"/>
                </a:schemeClr>
              </a:solidFill>
            </a:ln>
          </p:spPr>
          <p:txBody>
            <a:bodyPr wrap="square">
              <a:spAutoFit/>
            </a:bodyPr>
            <a:lstStyle/>
            <a:p>
              <a:r>
                <a:rPr lang="en-US" altLang="ko-KR" sz="1000" b="1" dirty="0" err="1"/>
                <a:t>apiVersion</a:t>
              </a:r>
              <a:r>
                <a:rPr lang="en-US" altLang="ko-KR" sz="1000" b="1" dirty="0"/>
                <a:t>: </a:t>
              </a:r>
              <a:r>
                <a:rPr lang="en-US" altLang="ko-KR" sz="1000" b="1" dirty="0">
                  <a:solidFill>
                    <a:srgbClr val="FF0000"/>
                  </a:solidFill>
                </a:rPr>
                <a:t>networking.k8s.io/v1</a:t>
              </a:r>
            </a:p>
            <a:p>
              <a:r>
                <a:rPr lang="en-US" altLang="ko-KR" sz="1000" b="1" dirty="0"/>
                <a:t>kind: Ingress</a:t>
              </a:r>
            </a:p>
            <a:p>
              <a:r>
                <a:rPr lang="en-US" altLang="ko-KR" sz="1000" b="1" dirty="0"/>
                <a:t>metadata:</a:t>
              </a:r>
            </a:p>
            <a:p>
              <a:r>
                <a:rPr lang="en-US" altLang="ko-KR" sz="1000" b="1" dirty="0"/>
                <a:t>  name: </a:t>
              </a:r>
              <a:r>
                <a:rPr lang="en-US" altLang="ko-KR" sz="1000" b="1" dirty="0">
                  <a:solidFill>
                    <a:srgbClr val="FF0000"/>
                  </a:solidFill>
                </a:rPr>
                <a:t>path-ingress</a:t>
              </a:r>
            </a:p>
            <a:p>
              <a:r>
                <a:rPr lang="en-US" altLang="ko-KR" sz="1000" b="1" dirty="0"/>
                <a:t>spec:</a:t>
              </a:r>
            </a:p>
            <a:p>
              <a:r>
                <a:rPr lang="en-US" altLang="ko-KR" sz="1000" b="1" dirty="0"/>
                <a:t>  rules:</a:t>
              </a:r>
            </a:p>
            <a:p>
              <a:r>
                <a:rPr lang="en-US" altLang="ko-KR" sz="1000" b="1" dirty="0"/>
                <a:t>  - host: </a:t>
              </a:r>
              <a:r>
                <a:rPr lang="en-US" altLang="ko-KR" sz="1000" b="1" dirty="0">
                  <a:solidFill>
                    <a:srgbClr val="FF0000"/>
                  </a:solidFill>
                </a:rPr>
                <a:t>bandicoot.example.com</a:t>
              </a:r>
            </a:p>
            <a:p>
              <a:r>
                <a:rPr lang="en-US" altLang="ko-KR" sz="1000" b="1" dirty="0"/>
                <a:t>    http:</a:t>
              </a:r>
            </a:p>
            <a:p>
              <a:r>
                <a:rPr lang="en-US" altLang="ko-KR" sz="1000" b="1" dirty="0"/>
                <a:t>      paths:</a:t>
              </a:r>
            </a:p>
            <a:p>
              <a:r>
                <a:rPr lang="en-US" altLang="ko-KR" sz="1000" b="1" dirty="0"/>
                <a:t>        - path: </a:t>
              </a:r>
              <a:r>
                <a:rPr lang="en-US" altLang="ko-KR" sz="1000" b="1" dirty="0">
                  <a:solidFill>
                    <a:srgbClr val="FF0000"/>
                  </a:solidFill>
                </a:rPr>
                <a:t>/</a:t>
              </a:r>
            </a:p>
            <a:p>
              <a:r>
                <a:rPr lang="en-US" altLang="ko-KR" sz="1000" b="1" dirty="0"/>
                <a:t>          </a:t>
              </a:r>
              <a:r>
                <a:rPr lang="en-US" altLang="ko-KR" sz="1000" b="1" dirty="0" err="1"/>
                <a:t>pathType</a:t>
              </a:r>
              <a:r>
                <a:rPr lang="en-US" altLang="ko-KR" sz="1000" b="1" dirty="0"/>
                <a:t>: Prefix</a:t>
              </a:r>
            </a:p>
            <a:p>
              <a:r>
                <a:rPr lang="en-US" altLang="ko-KR" sz="1000" b="1" dirty="0"/>
                <a:t>          backend:</a:t>
              </a:r>
            </a:p>
            <a:p>
              <a:r>
                <a:rPr lang="en-US" altLang="ko-KR" sz="1000" b="1" dirty="0"/>
                <a:t>            service:</a:t>
              </a:r>
            </a:p>
            <a:p>
              <a:r>
                <a:rPr lang="en-US" altLang="ko-KR" sz="1000" b="1" dirty="0"/>
                <a:t>              name: </a:t>
              </a:r>
              <a:r>
                <a:rPr lang="en-US" altLang="ko-KR" sz="1000" b="1" dirty="0">
                  <a:solidFill>
                    <a:srgbClr val="FF0000"/>
                  </a:solidFill>
                </a:rPr>
                <a:t>bandicoot</a:t>
              </a:r>
            </a:p>
            <a:p>
              <a:r>
                <a:rPr lang="en-US" altLang="ko-KR" sz="1000" b="1" dirty="0"/>
                <a:t>              port:</a:t>
              </a:r>
            </a:p>
            <a:p>
              <a:r>
                <a:rPr lang="en-US" altLang="ko-KR" sz="1000" b="1" dirty="0"/>
                <a:t>                number: 8080</a:t>
              </a:r>
            </a:p>
            <a:p>
              <a:r>
                <a:rPr lang="en-US" altLang="ko-KR" sz="1000" b="1" dirty="0"/>
                <a:t>        - path: </a:t>
              </a:r>
              <a:r>
                <a:rPr lang="en-US" altLang="ko-KR" sz="1000" b="1" dirty="0">
                  <a:solidFill>
                    <a:srgbClr val="FF0000"/>
                  </a:solidFill>
                </a:rPr>
                <a:t>/a/</a:t>
              </a:r>
            </a:p>
            <a:p>
              <a:r>
                <a:rPr lang="en-US" altLang="ko-KR" sz="1000" b="1" dirty="0"/>
                <a:t>          </a:t>
              </a:r>
              <a:r>
                <a:rPr lang="en-US" altLang="ko-KR" sz="1000" b="1" dirty="0" err="1"/>
                <a:t>pathType</a:t>
              </a:r>
              <a:r>
                <a:rPr lang="en-US" altLang="ko-KR" sz="1000" b="1" dirty="0"/>
                <a:t>: Prefix</a:t>
              </a:r>
            </a:p>
            <a:p>
              <a:r>
                <a:rPr lang="en-US" altLang="ko-KR" sz="1000" b="1" dirty="0"/>
                <a:t>          backend:</a:t>
              </a:r>
            </a:p>
            <a:p>
              <a:r>
                <a:rPr lang="en-US" altLang="ko-KR" sz="1000" b="1" dirty="0"/>
                <a:t>            service:</a:t>
              </a:r>
            </a:p>
            <a:p>
              <a:r>
                <a:rPr lang="en-US" altLang="ko-KR" sz="1000" b="1" dirty="0"/>
                <a:t>              name: </a:t>
              </a:r>
              <a:r>
                <a:rPr lang="en-US" altLang="ko-KR" sz="1000" b="1" dirty="0">
                  <a:solidFill>
                    <a:srgbClr val="FF0000"/>
                  </a:solidFill>
                </a:rPr>
                <a:t>alpaca</a:t>
              </a:r>
            </a:p>
            <a:p>
              <a:r>
                <a:rPr lang="en-US" altLang="ko-KR" sz="1000" b="1" dirty="0"/>
                <a:t>              port:</a:t>
              </a:r>
            </a:p>
            <a:p>
              <a:r>
                <a:rPr lang="en-US" altLang="ko-KR" sz="1000" b="1" dirty="0"/>
                <a:t>                number: 8080</a:t>
              </a:r>
              <a:endParaRPr lang="ko-KR" altLang="en-US" sz="1000" b="1" dirty="0"/>
            </a:p>
          </p:txBody>
        </p:sp>
        <p:sp>
          <p:nvSpPr>
            <p:cNvPr id="9" name="TextBox 8">
              <a:extLst>
                <a:ext uri="{FF2B5EF4-FFF2-40B4-BE49-F238E27FC236}">
                  <a16:creationId xmlns:a16="http://schemas.microsoft.com/office/drawing/2014/main" id="{3CF7F879-46B2-4502-8314-EFC76F635C4C}"/>
                </a:ext>
              </a:extLst>
            </p:cNvPr>
            <p:cNvSpPr txBox="1"/>
            <p:nvPr/>
          </p:nvSpPr>
          <p:spPr>
            <a:xfrm>
              <a:off x="2395631" y="5837373"/>
              <a:ext cx="1317990" cy="246221"/>
            </a:xfrm>
            <a:prstGeom prst="rect">
              <a:avLst/>
            </a:prstGeom>
            <a:noFill/>
          </p:spPr>
          <p:txBody>
            <a:bodyPr wrap="none" rtlCol="0">
              <a:spAutoFit/>
            </a:bodyPr>
            <a:lstStyle/>
            <a:p>
              <a:pPr algn="ctr"/>
              <a:r>
                <a:rPr lang="en-US" altLang="ko-KR" sz="1000" b="1" dirty="0"/>
                <a:t>path-</a:t>
              </a:r>
              <a:r>
                <a:rPr lang="en-US" altLang="ko-KR" sz="1000" b="1" dirty="0" err="1"/>
                <a:t>ingress.yaml</a:t>
              </a:r>
              <a:endParaRPr lang="ko-KR" altLang="en-US" sz="1000" b="1" dirty="0"/>
            </a:p>
          </p:txBody>
        </p:sp>
      </p:grpSp>
      <p:grpSp>
        <p:nvGrpSpPr>
          <p:cNvPr id="15" name="그룹 14">
            <a:extLst>
              <a:ext uri="{FF2B5EF4-FFF2-40B4-BE49-F238E27FC236}">
                <a16:creationId xmlns:a16="http://schemas.microsoft.com/office/drawing/2014/main" id="{02D1951B-199F-4F53-9B51-46E14C7291D8}"/>
              </a:ext>
            </a:extLst>
          </p:cNvPr>
          <p:cNvGrpSpPr/>
          <p:nvPr/>
        </p:nvGrpSpPr>
        <p:grpSpPr>
          <a:xfrm>
            <a:off x="3444872" y="3041312"/>
            <a:ext cx="7908928" cy="2214689"/>
            <a:chOff x="3444872" y="3041312"/>
            <a:chExt cx="7908928" cy="2214689"/>
          </a:xfrm>
        </p:grpSpPr>
        <p:grpSp>
          <p:nvGrpSpPr>
            <p:cNvPr id="13" name="그룹 12">
              <a:extLst>
                <a:ext uri="{FF2B5EF4-FFF2-40B4-BE49-F238E27FC236}">
                  <a16:creationId xmlns:a16="http://schemas.microsoft.com/office/drawing/2014/main" id="{3937723A-4D3F-4333-A9E8-38D19BF54240}"/>
                </a:ext>
              </a:extLst>
            </p:cNvPr>
            <p:cNvGrpSpPr/>
            <p:nvPr/>
          </p:nvGrpSpPr>
          <p:grpSpPr>
            <a:xfrm>
              <a:off x="3444872" y="3041312"/>
              <a:ext cx="7908928" cy="1971466"/>
              <a:chOff x="3444872" y="3041312"/>
              <a:chExt cx="7908928" cy="1971466"/>
            </a:xfrm>
          </p:grpSpPr>
          <p:pic>
            <p:nvPicPr>
              <p:cNvPr id="11" name="그림 10">
                <a:extLst>
                  <a:ext uri="{FF2B5EF4-FFF2-40B4-BE49-F238E27FC236}">
                    <a16:creationId xmlns:a16="http://schemas.microsoft.com/office/drawing/2014/main" id="{57B3277D-36E8-4047-97CD-E4BA10B33F90}"/>
                  </a:ext>
                </a:extLst>
              </p:cNvPr>
              <p:cNvPicPr>
                <a:picLocks noChangeAspect="1"/>
              </p:cNvPicPr>
              <p:nvPr/>
            </p:nvPicPr>
            <p:blipFill>
              <a:blip r:embed="rId2"/>
              <a:stretch>
                <a:fillRect/>
              </a:stretch>
            </p:blipFill>
            <p:spPr>
              <a:xfrm>
                <a:off x="3771237" y="3041312"/>
                <a:ext cx="7582563" cy="1971466"/>
              </a:xfrm>
              <a:prstGeom prst="rect">
                <a:avLst/>
              </a:prstGeom>
              <a:ln>
                <a:solidFill>
                  <a:schemeClr val="bg1">
                    <a:lumMod val="50000"/>
                  </a:schemeClr>
                </a:solidFill>
              </a:ln>
            </p:spPr>
          </p:pic>
          <p:sp>
            <p:nvSpPr>
              <p:cNvPr id="12" name="화살표: 오른쪽 11">
                <a:extLst>
                  <a:ext uri="{FF2B5EF4-FFF2-40B4-BE49-F238E27FC236}">
                    <a16:creationId xmlns:a16="http://schemas.microsoft.com/office/drawing/2014/main" id="{0DE9E47E-5B92-4A4B-8151-CFE6B68F5CE8}"/>
                  </a:ext>
                </a:extLst>
              </p:cNvPr>
              <p:cNvSpPr/>
              <p:nvPr/>
            </p:nvSpPr>
            <p:spPr>
              <a:xfrm>
                <a:off x="3444872" y="3853315"/>
                <a:ext cx="326365" cy="341907"/>
              </a:xfrm>
              <a:prstGeom prst="right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4" name="TextBox 13">
              <a:extLst>
                <a:ext uri="{FF2B5EF4-FFF2-40B4-BE49-F238E27FC236}">
                  <a16:creationId xmlns:a16="http://schemas.microsoft.com/office/drawing/2014/main" id="{E41186C4-8166-4FCF-B2F4-7644FCAA9F10}"/>
                </a:ext>
              </a:extLst>
            </p:cNvPr>
            <p:cNvSpPr txBox="1"/>
            <p:nvPr/>
          </p:nvSpPr>
          <p:spPr>
            <a:xfrm>
              <a:off x="5249850" y="5009780"/>
              <a:ext cx="4243469" cy="246221"/>
            </a:xfrm>
            <a:prstGeom prst="rect">
              <a:avLst/>
            </a:prstGeom>
            <a:noFill/>
          </p:spPr>
          <p:txBody>
            <a:bodyPr wrap="none" rtlCol="0">
              <a:spAutoFit/>
            </a:bodyPr>
            <a:lstStyle/>
            <a:p>
              <a:pPr algn="ctr"/>
              <a:r>
                <a:rPr lang="en-US" altLang="ko-KR" sz="1000" b="1" dirty="0"/>
                <a:t>NOTE : Wait for a minute to get the IP address for “path-ingress”.</a:t>
              </a:r>
              <a:endParaRPr lang="ko-KR" altLang="en-US" sz="1000" b="1" dirty="0"/>
            </a:p>
          </p:txBody>
        </p:sp>
      </p:grpSp>
    </p:spTree>
    <p:extLst>
      <p:ext uri="{BB962C8B-B14F-4D97-AF65-F5344CB8AC3E}">
        <p14:creationId xmlns:p14="http://schemas.microsoft.com/office/powerpoint/2010/main" val="21457385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Ingress(9/11)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Paths :</a:t>
            </a:r>
          </a:p>
          <a:p>
            <a:pPr lvl="1">
              <a:buFont typeface="Wingdings" panose="05000000000000000000" pitchFamily="2" charset="2"/>
              <a:buChar char="§"/>
            </a:pPr>
            <a:r>
              <a:rPr lang="en-US" altLang="ko-KR" sz="1400" b="1" dirty="0"/>
              <a:t>NOTE</a:t>
            </a:r>
            <a:r>
              <a:rPr lang="en-US" altLang="ko-KR" sz="1400" dirty="0"/>
              <a:t> : Before you run the previous command, </a:t>
            </a:r>
            <a:r>
              <a:rPr lang="en-US" altLang="ko-KR" sz="1400" b="1" dirty="0"/>
              <a:t>make sure your “/</a:t>
            </a:r>
            <a:r>
              <a:rPr lang="en-US" altLang="ko-KR" sz="1400" b="1" dirty="0" err="1"/>
              <a:t>etc</a:t>
            </a:r>
            <a:r>
              <a:rPr lang="en-US" altLang="ko-KR" sz="1400" b="1" dirty="0"/>
              <a:t>/hosts” file has “bandicoot.example.com”</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4A91285B-D8AC-444C-A313-A973C73046C0}"/>
              </a:ext>
            </a:extLst>
          </p:cNvPr>
          <p:cNvGrpSpPr/>
          <p:nvPr/>
        </p:nvGrpSpPr>
        <p:grpSpPr>
          <a:xfrm>
            <a:off x="2150993" y="1578522"/>
            <a:ext cx="7890013" cy="4684459"/>
            <a:chOff x="2150993" y="1618314"/>
            <a:chExt cx="7890013" cy="4684459"/>
          </a:xfrm>
        </p:grpSpPr>
        <p:grpSp>
          <p:nvGrpSpPr>
            <p:cNvPr id="11" name="그룹 10">
              <a:extLst>
                <a:ext uri="{FF2B5EF4-FFF2-40B4-BE49-F238E27FC236}">
                  <a16:creationId xmlns:a16="http://schemas.microsoft.com/office/drawing/2014/main" id="{B9C6E94B-2CC9-42A2-814D-8282DD633000}"/>
                </a:ext>
              </a:extLst>
            </p:cNvPr>
            <p:cNvGrpSpPr/>
            <p:nvPr/>
          </p:nvGrpSpPr>
          <p:grpSpPr>
            <a:xfrm>
              <a:off x="2150993" y="1618314"/>
              <a:ext cx="7890013" cy="4684459"/>
              <a:chOff x="2150993" y="1618314"/>
              <a:chExt cx="7890013" cy="4684459"/>
            </a:xfrm>
          </p:grpSpPr>
          <p:grpSp>
            <p:nvGrpSpPr>
              <p:cNvPr id="9" name="그룹 8">
                <a:extLst>
                  <a:ext uri="{FF2B5EF4-FFF2-40B4-BE49-F238E27FC236}">
                    <a16:creationId xmlns:a16="http://schemas.microsoft.com/office/drawing/2014/main" id="{02C64483-A8AD-46BF-9E97-6E3624E9A1F9}"/>
                  </a:ext>
                </a:extLst>
              </p:cNvPr>
              <p:cNvGrpSpPr/>
              <p:nvPr/>
            </p:nvGrpSpPr>
            <p:grpSpPr>
              <a:xfrm>
                <a:off x="2150993" y="1618314"/>
                <a:ext cx="7890013" cy="2088999"/>
                <a:chOff x="1333500" y="1594402"/>
                <a:chExt cx="9525000" cy="2476500"/>
              </a:xfrm>
            </p:grpSpPr>
            <p:pic>
              <p:nvPicPr>
                <p:cNvPr id="4" name="그림 3">
                  <a:extLst>
                    <a:ext uri="{FF2B5EF4-FFF2-40B4-BE49-F238E27FC236}">
                      <a16:creationId xmlns:a16="http://schemas.microsoft.com/office/drawing/2014/main" id="{3BAA33F5-FF77-4975-9D3A-5FA3A0E5E1F6}"/>
                    </a:ext>
                  </a:extLst>
                </p:cNvPr>
                <p:cNvPicPr>
                  <a:picLocks noChangeAspect="1"/>
                </p:cNvPicPr>
                <p:nvPr/>
              </p:nvPicPr>
              <p:blipFill>
                <a:blip r:embed="rId2"/>
                <a:stretch>
                  <a:fillRect/>
                </a:stretch>
              </p:blipFill>
              <p:spPr>
                <a:xfrm>
                  <a:off x="1333500" y="1594402"/>
                  <a:ext cx="9525000" cy="2476500"/>
                </a:xfrm>
                <a:prstGeom prst="rect">
                  <a:avLst/>
                </a:prstGeom>
                <a:ln>
                  <a:solidFill>
                    <a:schemeClr val="bg1">
                      <a:lumMod val="50000"/>
                    </a:schemeClr>
                  </a:solidFill>
                </a:ln>
              </p:spPr>
            </p:pic>
            <p:sp>
              <p:nvSpPr>
                <p:cNvPr id="8" name="직사각형 7">
                  <a:extLst>
                    <a:ext uri="{FF2B5EF4-FFF2-40B4-BE49-F238E27FC236}">
                      <a16:creationId xmlns:a16="http://schemas.microsoft.com/office/drawing/2014/main" id="{8E922A59-1E43-4546-A5F4-61133B522818}"/>
                    </a:ext>
                  </a:extLst>
                </p:cNvPr>
                <p:cNvSpPr/>
                <p:nvPr/>
              </p:nvSpPr>
              <p:spPr>
                <a:xfrm>
                  <a:off x="1399428" y="2472856"/>
                  <a:ext cx="4476585" cy="16697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0" name="그림 9">
                <a:extLst>
                  <a:ext uri="{FF2B5EF4-FFF2-40B4-BE49-F238E27FC236}">
                    <a16:creationId xmlns:a16="http://schemas.microsoft.com/office/drawing/2014/main" id="{77C1A733-0323-4A3A-B922-87B4A180A3AF}"/>
                  </a:ext>
                </a:extLst>
              </p:cNvPr>
              <p:cNvPicPr>
                <a:picLocks noChangeAspect="1"/>
              </p:cNvPicPr>
              <p:nvPr/>
            </p:nvPicPr>
            <p:blipFill>
              <a:blip r:embed="rId3"/>
              <a:stretch>
                <a:fillRect/>
              </a:stretch>
            </p:blipFill>
            <p:spPr>
              <a:xfrm>
                <a:off x="2150993" y="3783376"/>
                <a:ext cx="7890013" cy="2519397"/>
              </a:xfrm>
              <a:prstGeom prst="rect">
                <a:avLst/>
              </a:prstGeom>
            </p:spPr>
          </p:pic>
        </p:grpSp>
        <p:sp>
          <p:nvSpPr>
            <p:cNvPr id="12" name="직사각형 11">
              <a:extLst>
                <a:ext uri="{FF2B5EF4-FFF2-40B4-BE49-F238E27FC236}">
                  <a16:creationId xmlns:a16="http://schemas.microsoft.com/office/drawing/2014/main" id="{566EBE8F-2668-40C2-B6C9-F3FD814E84A0}"/>
                </a:ext>
              </a:extLst>
            </p:cNvPr>
            <p:cNvSpPr/>
            <p:nvPr/>
          </p:nvSpPr>
          <p:spPr>
            <a:xfrm>
              <a:off x="3156668" y="4118776"/>
              <a:ext cx="1645920" cy="19878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3287962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Ingress(10/11)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Paths :</a:t>
            </a:r>
          </a:p>
          <a:p>
            <a:pPr lvl="1">
              <a:buFont typeface="Wingdings" panose="05000000000000000000" pitchFamily="2" charset="2"/>
              <a:buChar char="§"/>
            </a:pPr>
            <a:r>
              <a:rPr lang="en-US" altLang="ko-KR" sz="1400" b="1" dirty="0"/>
              <a:t>When there are multiple paths on the same host listed in the Ingress system, </a:t>
            </a:r>
            <a:r>
              <a:rPr lang="en-US" altLang="ko-KR" sz="1400" b="1" dirty="0">
                <a:solidFill>
                  <a:srgbClr val="FF0000"/>
                </a:solidFill>
              </a:rPr>
              <a:t>the longest prefix matches</a:t>
            </a:r>
            <a:r>
              <a:rPr lang="en-US" altLang="ko-KR" sz="1400" dirty="0"/>
              <a:t>. So, in this example</a:t>
            </a:r>
            <a:r>
              <a:rPr lang="en-US" altLang="ko-KR" sz="1400" b="1" dirty="0"/>
              <a:t>, traffic starting with “/a/” is forwarded to the “alpaca” service</a:t>
            </a:r>
            <a:r>
              <a:rPr lang="en-US" altLang="ko-KR" sz="1400" dirty="0"/>
              <a:t>, while </a:t>
            </a:r>
            <a:r>
              <a:rPr lang="en-US" altLang="ko-KR" sz="1400" b="1" dirty="0"/>
              <a:t>all other traffic (starting with “/”) is directed to the “bandicoot” service</a:t>
            </a:r>
            <a:r>
              <a:rPr lang="en-US" altLang="ko-KR" sz="1400" dirty="0"/>
              <a:t>.</a:t>
            </a:r>
          </a:p>
          <a:p>
            <a:pPr lvl="1">
              <a:buFont typeface="Wingdings" panose="05000000000000000000" pitchFamily="2" charset="2"/>
              <a:buChar char="§"/>
            </a:pPr>
            <a:r>
              <a:rPr lang="en-US" altLang="ko-KR" sz="1400" b="1" dirty="0"/>
              <a:t>As requests get proxied to the upstream service, the path remains unmodified</a:t>
            </a:r>
            <a:r>
              <a:rPr lang="en-US" altLang="ko-KR" sz="1400" dirty="0"/>
              <a:t>. </a:t>
            </a:r>
            <a:r>
              <a:rPr lang="en-US" altLang="ko-KR" sz="1400" b="1" dirty="0"/>
              <a:t>That means a request to “bandicoot.example.com/a/” shows up to the upstream server </a:t>
            </a:r>
            <a:r>
              <a:rPr lang="en-US" altLang="ko-KR" sz="1400" dirty="0"/>
              <a:t>that is configured for that request hostname and path. </a:t>
            </a:r>
            <a:r>
              <a:rPr lang="en-US" altLang="ko-KR" sz="1400" b="1" dirty="0">
                <a:solidFill>
                  <a:srgbClr val="FF0000"/>
                </a:solidFill>
              </a:rPr>
              <a:t>The upstream service needs to be ready to serve traffic on that </a:t>
            </a:r>
            <a:r>
              <a:rPr lang="en-US" altLang="ko-KR" sz="1400" b="1" dirty="0" err="1">
                <a:solidFill>
                  <a:srgbClr val="FF0000"/>
                </a:solidFill>
              </a:rPr>
              <a:t>subpath</a:t>
            </a:r>
            <a:r>
              <a:rPr lang="en-US" altLang="ko-KR" sz="1400" dirty="0"/>
              <a:t>. In this case, </a:t>
            </a:r>
            <a:r>
              <a:rPr lang="en-US" altLang="ko-KR" sz="1400" b="1" dirty="0"/>
              <a:t>“</a:t>
            </a:r>
            <a:r>
              <a:rPr lang="en-US" altLang="ko-KR" sz="1400" b="1" dirty="0" err="1"/>
              <a:t>kuard</a:t>
            </a:r>
            <a:r>
              <a:rPr lang="en-US" altLang="ko-KR" sz="1400" b="1" dirty="0"/>
              <a:t>” has special code for testing, where it responds on the root path (“/”) along with a predefined set of </a:t>
            </a:r>
            <a:r>
              <a:rPr lang="en-US" altLang="ko-KR" sz="1400" b="1" dirty="0" err="1"/>
              <a:t>subpaths</a:t>
            </a:r>
            <a:r>
              <a:rPr lang="en-US" altLang="ko-KR" sz="1400" b="1" dirty="0"/>
              <a:t> (“/a/”, “/b/”, and “/c/”)</a:t>
            </a:r>
            <a:r>
              <a:rPr lang="en-US" altLang="ko-KR" sz="1400" dirty="0"/>
              <a:t>.</a:t>
            </a:r>
          </a:p>
          <a:p>
            <a:pPr lvl="1">
              <a:buFont typeface="Wingdings" panose="05000000000000000000" pitchFamily="2" charset="2"/>
              <a:buChar char="§"/>
            </a:pPr>
            <a:r>
              <a:rPr lang="en-US" altLang="ko-KR" sz="1400" b="1" dirty="0"/>
              <a:t>NOTICE : Use “/a/” path for “alpaca” service in YAML file for this example</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421E2F9A-C683-430B-8AF5-D4DAC7CC4CCA}"/>
              </a:ext>
            </a:extLst>
          </p:cNvPr>
          <p:cNvGrpSpPr/>
          <p:nvPr/>
        </p:nvGrpSpPr>
        <p:grpSpPr>
          <a:xfrm>
            <a:off x="2095168" y="3429000"/>
            <a:ext cx="8001663" cy="2274616"/>
            <a:chOff x="2095168" y="3429000"/>
            <a:chExt cx="8001663" cy="2274616"/>
          </a:xfrm>
        </p:grpSpPr>
        <p:pic>
          <p:nvPicPr>
            <p:cNvPr id="8" name="그림 7">
              <a:extLst>
                <a:ext uri="{FF2B5EF4-FFF2-40B4-BE49-F238E27FC236}">
                  <a16:creationId xmlns:a16="http://schemas.microsoft.com/office/drawing/2014/main" id="{9B094A20-7B02-4ED5-B3BB-2AD300F04BAB}"/>
                </a:ext>
              </a:extLst>
            </p:cNvPr>
            <p:cNvPicPr>
              <a:picLocks noChangeAspect="1"/>
            </p:cNvPicPr>
            <p:nvPr/>
          </p:nvPicPr>
          <p:blipFill>
            <a:blip r:embed="rId2"/>
            <a:stretch>
              <a:fillRect/>
            </a:stretch>
          </p:blipFill>
          <p:spPr>
            <a:xfrm>
              <a:off x="2095168" y="3429000"/>
              <a:ext cx="8001663" cy="2274616"/>
            </a:xfrm>
            <a:prstGeom prst="rect">
              <a:avLst/>
            </a:prstGeom>
            <a:ln>
              <a:solidFill>
                <a:schemeClr val="bg1">
                  <a:lumMod val="50000"/>
                </a:schemeClr>
              </a:solidFill>
            </a:ln>
          </p:spPr>
        </p:pic>
        <p:sp>
          <p:nvSpPr>
            <p:cNvPr id="9" name="직사각형 8">
              <a:extLst>
                <a:ext uri="{FF2B5EF4-FFF2-40B4-BE49-F238E27FC236}">
                  <a16:creationId xmlns:a16="http://schemas.microsoft.com/office/drawing/2014/main" id="{8F35416A-D01F-4EA6-8ED8-5D1D6922FCBE}"/>
                </a:ext>
              </a:extLst>
            </p:cNvPr>
            <p:cNvSpPr/>
            <p:nvPr/>
          </p:nvSpPr>
          <p:spPr>
            <a:xfrm>
              <a:off x="3649649" y="3776870"/>
              <a:ext cx="1168841" cy="19083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3190363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Ingress(11/11)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Cleaning Up :</a:t>
            </a:r>
          </a:p>
          <a:p>
            <a:pPr lvl="1">
              <a:buFont typeface="Wingdings" panose="05000000000000000000" pitchFamily="2" charset="2"/>
              <a:buChar char="§"/>
            </a:pPr>
            <a:r>
              <a:rPr lang="en-US" altLang="ko-KR" sz="1400" dirty="0"/>
              <a:t>To </a:t>
            </a:r>
            <a:r>
              <a:rPr lang="en-US" altLang="ko-KR" sz="1400" b="1" dirty="0"/>
              <a:t>clean up (ingress, service, deployment)</a:t>
            </a:r>
            <a:r>
              <a:rPr lang="en-US" altLang="ko-KR" sz="1400" dirty="0"/>
              <a:t>, execute the following commands :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If you want to remove IP addresses for the “xxx.example.com”, delete IP addresses for them in the “/</a:t>
            </a:r>
            <a:r>
              <a:rPr lang="en-US" altLang="ko-KR" sz="1400" b="1" dirty="0" err="1"/>
              <a:t>etc</a:t>
            </a:r>
            <a:r>
              <a:rPr lang="en-US" altLang="ko-KR" sz="1400" b="1" dirty="0"/>
              <a:t>/hosts” file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AC7819BF-2A8B-4511-A827-5971019F14DD}"/>
              </a:ext>
            </a:extLst>
          </p:cNvPr>
          <p:cNvGrpSpPr/>
          <p:nvPr/>
        </p:nvGrpSpPr>
        <p:grpSpPr>
          <a:xfrm>
            <a:off x="1333500" y="1703671"/>
            <a:ext cx="9525000" cy="3723414"/>
            <a:chOff x="1333500" y="1593056"/>
            <a:chExt cx="9525000" cy="3723414"/>
          </a:xfrm>
        </p:grpSpPr>
        <p:sp>
          <p:nvSpPr>
            <p:cNvPr id="4" name="직사각형 3">
              <a:extLst>
                <a:ext uri="{FF2B5EF4-FFF2-40B4-BE49-F238E27FC236}">
                  <a16:creationId xmlns:a16="http://schemas.microsoft.com/office/drawing/2014/main" id="{6CDFC0DB-44EA-4947-810E-78D8D5B72C2B}"/>
                </a:ext>
              </a:extLst>
            </p:cNvPr>
            <p:cNvSpPr/>
            <p:nvPr/>
          </p:nvSpPr>
          <p:spPr>
            <a:xfrm>
              <a:off x="3048000" y="1593056"/>
              <a:ext cx="6096000" cy="553998"/>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t>kubectl</a:t>
              </a:r>
              <a:r>
                <a:rPr lang="en-US" altLang="ko-KR" sz="1000" b="1" dirty="0"/>
                <a:t> delete ingress </a:t>
              </a:r>
              <a:r>
                <a:rPr lang="en-US" altLang="ko-KR" sz="1000" b="1" dirty="0">
                  <a:solidFill>
                    <a:srgbClr val="FF0000"/>
                  </a:solidFill>
                </a:rPr>
                <a:t>host-ingress path-ingress simple-ingress</a:t>
              </a:r>
            </a:p>
            <a:p>
              <a:r>
                <a:rPr lang="en-US" altLang="ko-KR" sz="1000" b="1" dirty="0"/>
                <a:t>$ </a:t>
              </a:r>
              <a:r>
                <a:rPr lang="en-US" altLang="ko-KR" sz="1000" b="1" dirty="0" err="1"/>
                <a:t>kubectl</a:t>
              </a:r>
              <a:r>
                <a:rPr lang="en-US" altLang="ko-KR" sz="1000" b="1" dirty="0"/>
                <a:t> delete service </a:t>
              </a:r>
              <a:r>
                <a:rPr lang="en-US" altLang="ko-KR" sz="1000" b="1" dirty="0">
                  <a:solidFill>
                    <a:srgbClr val="FF0000"/>
                  </a:solidFill>
                </a:rPr>
                <a:t>alpaca bandicoot default-http-backend</a:t>
              </a:r>
            </a:p>
            <a:p>
              <a:r>
                <a:rPr lang="en-US" altLang="ko-KR" sz="1000" b="1" dirty="0"/>
                <a:t>$ </a:t>
              </a:r>
              <a:r>
                <a:rPr lang="en-US" altLang="ko-KR" sz="1000" b="1" dirty="0" err="1"/>
                <a:t>kubectl</a:t>
              </a:r>
              <a:r>
                <a:rPr lang="en-US" altLang="ko-KR" sz="1000" b="1" dirty="0"/>
                <a:t> delete deployment </a:t>
              </a:r>
              <a:r>
                <a:rPr lang="en-US" altLang="ko-KR" sz="1000" b="1" dirty="0">
                  <a:solidFill>
                    <a:srgbClr val="FF0000"/>
                  </a:solidFill>
                </a:rPr>
                <a:t>alpaca bandicoot default-http-backend</a:t>
              </a:r>
              <a:endParaRPr lang="ko-KR" altLang="en-US" sz="1000" b="1" dirty="0">
                <a:solidFill>
                  <a:srgbClr val="FF0000"/>
                </a:solidFill>
              </a:endParaRPr>
            </a:p>
          </p:txBody>
        </p:sp>
        <p:pic>
          <p:nvPicPr>
            <p:cNvPr id="8" name="그림 7">
              <a:extLst>
                <a:ext uri="{FF2B5EF4-FFF2-40B4-BE49-F238E27FC236}">
                  <a16:creationId xmlns:a16="http://schemas.microsoft.com/office/drawing/2014/main" id="{C529B554-BB82-4383-B162-2723042E4433}"/>
                </a:ext>
              </a:extLst>
            </p:cNvPr>
            <p:cNvPicPr>
              <a:picLocks noChangeAspect="1"/>
            </p:cNvPicPr>
            <p:nvPr/>
          </p:nvPicPr>
          <p:blipFill>
            <a:blip r:embed="rId2"/>
            <a:stretch>
              <a:fillRect/>
            </a:stretch>
          </p:blipFill>
          <p:spPr>
            <a:xfrm>
              <a:off x="1333500" y="2458970"/>
              <a:ext cx="9525000" cy="2857500"/>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954617FD-24F5-4E56-9583-76708C682D0F}"/>
                </a:ext>
              </a:extLst>
            </p:cNvPr>
            <p:cNvSpPr/>
            <p:nvPr/>
          </p:nvSpPr>
          <p:spPr>
            <a:xfrm>
              <a:off x="5889266" y="2167429"/>
              <a:ext cx="413468" cy="271166"/>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1539825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Advanced Ingress Topics and Gotchas(1/7)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Ingress Features :</a:t>
            </a:r>
          </a:p>
          <a:p>
            <a:pPr lvl="1">
              <a:buFont typeface="Wingdings" panose="05000000000000000000" pitchFamily="2" charset="2"/>
              <a:buChar char="§"/>
            </a:pPr>
            <a:r>
              <a:rPr lang="en-US" altLang="ko-KR" sz="1400" b="1" dirty="0"/>
              <a:t>There are some other fancy features that are supported by Ingress. The level of support for these features differs based on the Ingress controller implementation</a:t>
            </a:r>
            <a:r>
              <a:rPr lang="en-US" altLang="ko-KR" sz="1400" dirty="0"/>
              <a:t>, and two controllers may implement a feature in slightly different ways.</a:t>
            </a:r>
          </a:p>
          <a:p>
            <a:pPr lvl="1">
              <a:buFont typeface="Wingdings" panose="05000000000000000000" pitchFamily="2" charset="2"/>
              <a:buChar char="§"/>
            </a:pPr>
            <a:r>
              <a:rPr lang="en-US" altLang="ko-KR" sz="1400" b="1" dirty="0"/>
              <a:t>Many of the extended features are exposed via “annotations” on the Ingress object</a:t>
            </a:r>
            <a:r>
              <a:rPr lang="en-US" altLang="ko-KR" sz="1400" dirty="0"/>
              <a:t>. Be careful, as these annotations can be hard to validate and are easy to get wrong. </a:t>
            </a:r>
            <a:r>
              <a:rPr lang="en-US" altLang="ko-KR" sz="1400" b="1" dirty="0"/>
              <a:t>Many of these annotations apply to the entire Ingress object and so can be more general than you might like</a:t>
            </a:r>
            <a:r>
              <a:rPr lang="en-US" altLang="ko-KR" sz="1400" dirty="0"/>
              <a:t>. </a:t>
            </a:r>
            <a:r>
              <a:rPr lang="en-US" altLang="ko-KR" sz="1400" b="1" dirty="0"/>
              <a:t>To scope the annotations down you can always </a:t>
            </a:r>
            <a:r>
              <a:rPr lang="en-US" altLang="ko-KR" sz="1400" b="1" dirty="0">
                <a:solidFill>
                  <a:srgbClr val="FF0000"/>
                </a:solidFill>
              </a:rPr>
              <a:t>split a single Ingress object into multiple Ingress objects</a:t>
            </a:r>
            <a:r>
              <a:rPr lang="en-US" altLang="ko-KR" sz="1400" dirty="0"/>
              <a:t>. </a:t>
            </a:r>
            <a:r>
              <a:rPr lang="en-US" altLang="ko-KR" sz="1400" b="1" dirty="0"/>
              <a:t>The Ingress controller should read them and merge them together.</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AF2361BB-D30B-4F28-BA0D-131A16DDC265}"/>
              </a:ext>
            </a:extLst>
          </p:cNvPr>
          <p:cNvPicPr>
            <a:picLocks noChangeAspect="1"/>
          </p:cNvPicPr>
          <p:nvPr/>
        </p:nvPicPr>
        <p:blipFill>
          <a:blip r:embed="rId2"/>
          <a:stretch>
            <a:fillRect/>
          </a:stretch>
        </p:blipFill>
        <p:spPr>
          <a:xfrm>
            <a:off x="3486315" y="3157800"/>
            <a:ext cx="5219369" cy="2731470"/>
          </a:xfrm>
          <a:prstGeom prst="rect">
            <a:avLst/>
          </a:prstGeom>
          <a:ln>
            <a:solidFill>
              <a:schemeClr val="bg1">
                <a:lumMod val="50000"/>
              </a:schemeClr>
            </a:solidFill>
          </a:ln>
        </p:spPr>
      </p:pic>
    </p:spTree>
    <p:extLst>
      <p:ext uri="{BB962C8B-B14F-4D97-AF65-F5344CB8AC3E}">
        <p14:creationId xmlns:p14="http://schemas.microsoft.com/office/powerpoint/2010/main" val="29356145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Advanced Ingress Topics and Gotchas(2/7)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Running Multiple Ingress Controllers :</a:t>
            </a:r>
          </a:p>
          <a:p>
            <a:pPr lvl="1">
              <a:buFont typeface="Wingdings" panose="05000000000000000000" pitchFamily="2" charset="2"/>
              <a:buChar char="§"/>
            </a:pPr>
            <a:r>
              <a:rPr lang="en-US" altLang="ko-KR" sz="1400" b="1" dirty="0"/>
              <a:t>Oftentimes, you may want to run multiple Ingress controllers on a single cluster</a:t>
            </a:r>
            <a:r>
              <a:rPr lang="en-US" altLang="ko-KR" sz="1400" dirty="0"/>
              <a:t>. In that case, you </a:t>
            </a:r>
            <a:r>
              <a:rPr lang="en-US" altLang="ko-KR" sz="1400" b="1" dirty="0"/>
              <a:t>specify which Ingress object is meant for which Ingress controller using the “</a:t>
            </a:r>
            <a:r>
              <a:rPr lang="en-US" altLang="ko-KR" sz="1400" b="1" dirty="0">
                <a:solidFill>
                  <a:srgbClr val="FF0000"/>
                </a:solidFill>
              </a:rPr>
              <a:t>kubernetes.io/</a:t>
            </a:r>
            <a:r>
              <a:rPr lang="en-US" altLang="ko-KR" sz="1400" b="1" dirty="0" err="1">
                <a:solidFill>
                  <a:srgbClr val="FF0000"/>
                </a:solidFill>
              </a:rPr>
              <a:t>ingress.class</a:t>
            </a:r>
            <a:r>
              <a:rPr lang="en-US" altLang="ko-KR" sz="1400" b="1" dirty="0"/>
              <a:t>” annotation</a:t>
            </a:r>
            <a:r>
              <a:rPr lang="en-US" altLang="ko-KR" sz="1400" dirty="0"/>
              <a:t>. The value should be a string that specifies which Ingress controller should look at this object. The Ingress controllers themselves, then, should be configured with that same string and should only respect those Ingress objects with the correct annotation.</a:t>
            </a:r>
          </a:p>
          <a:p>
            <a:pPr lvl="1">
              <a:buFont typeface="Wingdings" panose="05000000000000000000" pitchFamily="2" charset="2"/>
              <a:buChar char="§"/>
            </a:pPr>
            <a:r>
              <a:rPr lang="en-US" altLang="ko-KR" sz="1400" b="1" dirty="0"/>
              <a:t>If the “kubernetes.io/</a:t>
            </a:r>
            <a:r>
              <a:rPr lang="en-US" altLang="ko-KR" sz="1400" b="1" dirty="0" err="1"/>
              <a:t>ingress.class</a:t>
            </a:r>
            <a:r>
              <a:rPr lang="en-US" altLang="ko-KR" sz="1400" b="1" dirty="0"/>
              <a:t>” annotation is missing, behavior is undefined</a:t>
            </a:r>
            <a:r>
              <a:rPr lang="en-US" altLang="ko-KR" sz="1400" dirty="0"/>
              <a:t>. It is likely that multiple controllers will fight to satisfy the Ingress and write the status field of the Ingress objects.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D943ABBC-E74B-4ADE-920C-5544DFBAF71D}"/>
              </a:ext>
            </a:extLst>
          </p:cNvPr>
          <p:cNvPicPr>
            <a:picLocks noChangeAspect="1"/>
          </p:cNvPicPr>
          <p:nvPr/>
        </p:nvPicPr>
        <p:blipFill>
          <a:blip r:embed="rId2"/>
          <a:stretch>
            <a:fillRect/>
          </a:stretch>
        </p:blipFill>
        <p:spPr>
          <a:xfrm>
            <a:off x="3049636" y="2945551"/>
            <a:ext cx="6092728" cy="3138043"/>
          </a:xfrm>
          <a:prstGeom prst="rect">
            <a:avLst/>
          </a:prstGeom>
        </p:spPr>
      </p:pic>
    </p:spTree>
    <p:extLst>
      <p:ext uri="{BB962C8B-B14F-4D97-AF65-F5344CB8AC3E}">
        <p14:creationId xmlns:p14="http://schemas.microsoft.com/office/powerpoint/2010/main" val="33400360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Advanced Ingress Topics and Gotchas(3/7)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Multiple Ingress Objects :</a:t>
            </a:r>
          </a:p>
          <a:p>
            <a:pPr lvl="1">
              <a:buFont typeface="Wingdings" panose="05000000000000000000" pitchFamily="2" charset="2"/>
              <a:buChar char="§"/>
            </a:pPr>
            <a:r>
              <a:rPr lang="en-US" altLang="ko-KR" sz="1400" b="1" dirty="0"/>
              <a:t>If you specify </a:t>
            </a:r>
            <a:r>
              <a:rPr lang="en-US" altLang="ko-KR" sz="1400" b="1" dirty="0">
                <a:solidFill>
                  <a:srgbClr val="FF0000"/>
                </a:solidFill>
              </a:rPr>
              <a:t>multiple Ingress objects</a:t>
            </a:r>
            <a:r>
              <a:rPr lang="en-US" altLang="ko-KR" sz="1400" b="1" dirty="0"/>
              <a:t>, </a:t>
            </a:r>
            <a:r>
              <a:rPr lang="en-US" altLang="ko-KR" sz="1400" b="1" dirty="0">
                <a:solidFill>
                  <a:srgbClr val="FF0000"/>
                </a:solidFill>
              </a:rPr>
              <a:t>the Ingress controllers should read them all and try to merge them into a coherent configuration</a:t>
            </a:r>
            <a:r>
              <a:rPr lang="en-US" altLang="ko-KR" sz="1400" dirty="0"/>
              <a:t>. </a:t>
            </a:r>
            <a:r>
              <a:rPr lang="en-US" altLang="ko-KR" sz="1400" b="1" dirty="0"/>
              <a:t>However, if you specify duplicate and conflicting configurations, the behavior is undefined</a:t>
            </a:r>
            <a:r>
              <a:rPr lang="en-US" altLang="ko-KR" sz="1400" dirty="0"/>
              <a:t>. It is likely that different Ingress controllers will behave differently. Even a single implementation may do different things depending on nonobvious factors.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8F86B6A8-5BE2-4475-844C-3B49156B7F6B}"/>
              </a:ext>
            </a:extLst>
          </p:cNvPr>
          <p:cNvPicPr>
            <a:picLocks noChangeAspect="1"/>
          </p:cNvPicPr>
          <p:nvPr/>
        </p:nvPicPr>
        <p:blipFill>
          <a:blip r:embed="rId2"/>
          <a:stretch>
            <a:fillRect/>
          </a:stretch>
        </p:blipFill>
        <p:spPr>
          <a:xfrm>
            <a:off x="3093057" y="2435404"/>
            <a:ext cx="6005885" cy="3200774"/>
          </a:xfrm>
          <a:prstGeom prst="rect">
            <a:avLst/>
          </a:prstGeom>
        </p:spPr>
      </p:pic>
    </p:spTree>
    <p:extLst>
      <p:ext uri="{BB962C8B-B14F-4D97-AF65-F5344CB8AC3E}">
        <p14:creationId xmlns:p14="http://schemas.microsoft.com/office/powerpoint/2010/main" val="28000701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Advanced Ingress Topics and Gotchas(4/7)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Ingress and Namespaces :</a:t>
            </a:r>
          </a:p>
          <a:p>
            <a:pPr lvl="1">
              <a:buFont typeface="Wingdings" panose="05000000000000000000" pitchFamily="2" charset="2"/>
              <a:buChar char="§"/>
            </a:pPr>
            <a:r>
              <a:rPr lang="en-US" altLang="ko-KR" sz="1400" b="1" dirty="0"/>
              <a:t>Ingress interacts with namespaces in some nonobvious ways</a:t>
            </a:r>
            <a:r>
              <a:rPr lang="en-US" altLang="ko-KR" sz="1400" dirty="0"/>
              <a:t>. </a:t>
            </a:r>
            <a:r>
              <a:rPr lang="en-US" altLang="ko-KR" sz="1400" b="1" dirty="0"/>
              <a:t>First, due to an abundance of security caution, an </a:t>
            </a:r>
            <a:r>
              <a:rPr lang="en-US" altLang="ko-KR" sz="1400" b="1" dirty="0">
                <a:solidFill>
                  <a:srgbClr val="FF0000"/>
                </a:solidFill>
              </a:rPr>
              <a:t>Ingress object can only refer to an upstream service in the same namespace</a:t>
            </a:r>
            <a:r>
              <a:rPr lang="en-US" altLang="ko-KR" sz="1400" dirty="0"/>
              <a:t>. </a:t>
            </a:r>
            <a:r>
              <a:rPr lang="en-US" altLang="ko-KR" sz="1400" b="1" dirty="0"/>
              <a:t>This means that you can’t use an Ingress object to point a </a:t>
            </a:r>
            <a:r>
              <a:rPr lang="en-US" altLang="ko-KR" sz="1400" b="1" dirty="0" err="1"/>
              <a:t>subpath</a:t>
            </a:r>
            <a:r>
              <a:rPr lang="en-US" altLang="ko-KR" sz="1400" b="1" dirty="0"/>
              <a:t> to a service in another namespace</a:t>
            </a:r>
            <a:r>
              <a:rPr lang="en-US" altLang="ko-KR" sz="1400" dirty="0"/>
              <a:t>. </a:t>
            </a:r>
          </a:p>
          <a:p>
            <a:pPr lvl="1">
              <a:buFont typeface="Wingdings" panose="05000000000000000000" pitchFamily="2" charset="2"/>
              <a:buChar char="§"/>
            </a:pPr>
            <a:r>
              <a:rPr lang="en-US" altLang="ko-KR" sz="1400" b="1" dirty="0"/>
              <a:t>However, multiple Ingress objects in different namespaces can specify </a:t>
            </a:r>
            <a:r>
              <a:rPr lang="en-US" altLang="ko-KR" sz="1400" b="1" dirty="0" err="1"/>
              <a:t>subpaths</a:t>
            </a:r>
            <a:r>
              <a:rPr lang="en-US" altLang="ko-KR" sz="1400" b="1" dirty="0"/>
              <a:t> for the same host</a:t>
            </a:r>
            <a:r>
              <a:rPr lang="en-US" altLang="ko-KR" sz="1400" dirty="0"/>
              <a:t>. </a:t>
            </a:r>
            <a:r>
              <a:rPr lang="en-US" altLang="ko-KR" sz="1400" b="1" dirty="0"/>
              <a:t>These Ingress objects are then merged together to come up with the final config for the Ingress controller</a:t>
            </a:r>
            <a:r>
              <a:rPr lang="en-US" altLang="ko-KR" sz="1400" dirty="0"/>
              <a:t>. This cross-namespace behavior means that it is necessary that </a:t>
            </a:r>
            <a:r>
              <a:rPr lang="en-US" altLang="ko-KR" sz="1400" b="1" dirty="0">
                <a:solidFill>
                  <a:srgbClr val="FF0000"/>
                </a:solidFill>
              </a:rPr>
              <a:t>Ingress be coordinated globally across the cluster</a:t>
            </a:r>
            <a:r>
              <a:rPr lang="en-US" altLang="ko-KR" sz="1400" dirty="0"/>
              <a:t>. If not coordinated carefully, an Ingress object in one namespace could cause problems (and undefined behavior) in other namespaces. </a:t>
            </a:r>
          </a:p>
          <a:p>
            <a:pPr lvl="1">
              <a:buFont typeface="Wingdings" panose="05000000000000000000" pitchFamily="2" charset="2"/>
              <a:buChar char="§"/>
            </a:pPr>
            <a:r>
              <a:rPr lang="en-US" altLang="ko-KR" sz="1400" b="1" dirty="0"/>
              <a:t>Typically there are no restrictions built into the Ingress controller around what namespaces are allowed to specify what hostnames and paths</a:t>
            </a:r>
            <a:r>
              <a:rPr lang="en-US" altLang="ko-KR" sz="1400" dirty="0"/>
              <a:t>. </a:t>
            </a:r>
            <a:r>
              <a:rPr lang="en-US" altLang="ko-KR" sz="1400" b="1" dirty="0"/>
              <a:t>Advanced users may try to enforce a policy for this using a custom admission controller</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723C3F76-686C-4BC8-B3E5-302C0E13E4B1}"/>
              </a:ext>
            </a:extLst>
          </p:cNvPr>
          <p:cNvPicPr>
            <a:picLocks noChangeAspect="1"/>
          </p:cNvPicPr>
          <p:nvPr/>
        </p:nvPicPr>
        <p:blipFill>
          <a:blip r:embed="rId2"/>
          <a:stretch>
            <a:fillRect/>
          </a:stretch>
        </p:blipFill>
        <p:spPr>
          <a:xfrm>
            <a:off x="3382286" y="3450487"/>
            <a:ext cx="5427427" cy="2679792"/>
          </a:xfrm>
          <a:prstGeom prst="rect">
            <a:avLst/>
          </a:prstGeom>
        </p:spPr>
      </p:pic>
    </p:spTree>
    <p:extLst>
      <p:ext uri="{BB962C8B-B14F-4D97-AF65-F5344CB8AC3E}">
        <p14:creationId xmlns:p14="http://schemas.microsoft.com/office/powerpoint/2010/main" val="19806937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Advanced Ingress Topics and Gotchas(5/7)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Path Rewriting :</a:t>
            </a:r>
          </a:p>
          <a:p>
            <a:pPr lvl="1">
              <a:buFont typeface="Wingdings" panose="05000000000000000000" pitchFamily="2" charset="2"/>
              <a:buChar char="§"/>
            </a:pPr>
            <a:r>
              <a:rPr lang="en-US" altLang="ko-KR" sz="1400" b="1" dirty="0"/>
              <a:t>Some Ingress controller implementations support, optionally, doing “</a:t>
            </a:r>
            <a:r>
              <a:rPr lang="en-US" altLang="ko-KR" sz="1400" b="1" dirty="0">
                <a:solidFill>
                  <a:srgbClr val="FF0000"/>
                </a:solidFill>
              </a:rPr>
              <a:t>path rewriting</a:t>
            </a:r>
            <a:r>
              <a:rPr lang="en-US" altLang="ko-KR" sz="1400" b="1" dirty="0"/>
              <a:t>”</a:t>
            </a:r>
            <a:r>
              <a:rPr lang="en-US" altLang="ko-KR" sz="1400" dirty="0"/>
              <a:t>. </a:t>
            </a:r>
            <a:r>
              <a:rPr lang="en-US" altLang="ko-KR" sz="1400" b="1" dirty="0"/>
              <a:t>This can be used to modify the path in the HTTP request as it gets proxied</a:t>
            </a:r>
            <a:r>
              <a:rPr lang="en-US" altLang="ko-KR" sz="1400" dirty="0"/>
              <a:t>. This is usually specified by an annotation on the Ingress object and applies to all requests that are specified by that object. For example, if we were using the NGINX Ingress controller, we could specify an </a:t>
            </a:r>
            <a:r>
              <a:rPr lang="en-US" altLang="ko-KR" sz="1400" b="1" dirty="0">
                <a:solidFill>
                  <a:srgbClr val="FF0000"/>
                </a:solidFill>
              </a:rPr>
              <a:t>annotation</a:t>
            </a:r>
            <a:r>
              <a:rPr lang="en-US" altLang="ko-KR" sz="1400" dirty="0"/>
              <a:t> of “</a:t>
            </a:r>
            <a:r>
              <a:rPr lang="en-US" altLang="ko-KR" sz="1400" b="1" dirty="0"/>
              <a:t>nginx.ingress.kubernetes.io/rewrite-target: /</a:t>
            </a:r>
            <a:r>
              <a:rPr lang="en-US" altLang="ko-KR" sz="1400" dirty="0"/>
              <a:t>”. This can sometimes make upstream services work on a </a:t>
            </a:r>
            <a:r>
              <a:rPr lang="en-US" altLang="ko-KR" sz="1400" dirty="0" err="1"/>
              <a:t>subpath</a:t>
            </a:r>
            <a:r>
              <a:rPr lang="en-US" altLang="ko-KR" sz="1400" dirty="0"/>
              <a:t> even if they weren’t built to do so.</a:t>
            </a:r>
          </a:p>
          <a:p>
            <a:pPr lvl="1">
              <a:buFont typeface="Wingdings" panose="05000000000000000000" pitchFamily="2" charset="2"/>
              <a:buChar char="§"/>
            </a:pPr>
            <a:r>
              <a:rPr lang="en-US" altLang="ko-KR" sz="1400" b="1" dirty="0"/>
              <a:t>There are multiple implementations that not only implement path rewriting, but also support regular expressions when specifying the path</a:t>
            </a:r>
            <a:r>
              <a:rPr lang="en-US" altLang="ko-KR" sz="1400" dirty="0"/>
              <a:t>. For example, </a:t>
            </a:r>
            <a:r>
              <a:rPr lang="en-US" altLang="ko-KR" sz="1400" b="1" dirty="0"/>
              <a:t>the NGINX controller allows regular expressions to capture parts of the path and then use that captured content when doing rewriting</a:t>
            </a:r>
            <a:r>
              <a:rPr lang="en-US" altLang="ko-KR" sz="1400" dirty="0"/>
              <a:t>. How this is done (and what variant of regular expressions is used) is implementation-specific.</a:t>
            </a:r>
          </a:p>
          <a:p>
            <a:pPr lvl="1">
              <a:buFont typeface="Wingdings" panose="05000000000000000000" pitchFamily="2" charset="2"/>
              <a:buChar char="§"/>
            </a:pPr>
            <a:r>
              <a:rPr lang="en-US" altLang="ko-KR" sz="1400" b="1" dirty="0"/>
              <a:t>Path rewriting isn’t a silver bullet, though, and can often lead to bugs</a:t>
            </a:r>
            <a:r>
              <a:rPr lang="en-US" altLang="ko-KR" sz="1400" dirty="0"/>
              <a:t>. </a:t>
            </a:r>
            <a:r>
              <a:rPr lang="en-US" altLang="ko-KR" sz="1400" b="1" dirty="0"/>
              <a:t>Many web applications assume that they can link within themselves using absolute paths</a:t>
            </a:r>
            <a:r>
              <a:rPr lang="en-US" altLang="ko-KR" sz="1400" dirty="0"/>
              <a:t>. In that case, the app in question may be hosted on “</a:t>
            </a:r>
            <a:r>
              <a:rPr lang="en-US" altLang="ko-KR" sz="1400" b="1" dirty="0"/>
              <a:t>/</a:t>
            </a:r>
            <a:r>
              <a:rPr lang="en-US" altLang="ko-KR" sz="1400" b="1" dirty="0" err="1"/>
              <a:t>subpath</a:t>
            </a:r>
            <a:r>
              <a:rPr lang="en-US" altLang="ko-KR" sz="1400" dirty="0"/>
              <a:t>” but have requests show up to it on “</a:t>
            </a:r>
            <a:r>
              <a:rPr lang="en-US" altLang="ko-KR" sz="1400" b="1" dirty="0"/>
              <a:t>/</a:t>
            </a:r>
            <a:r>
              <a:rPr lang="en-US" altLang="ko-KR" sz="1400" dirty="0"/>
              <a:t>”. It may then send a user to “</a:t>
            </a:r>
            <a:r>
              <a:rPr lang="en-US" altLang="ko-KR" sz="1400" b="1" dirty="0"/>
              <a:t>/app-path</a:t>
            </a:r>
            <a:r>
              <a:rPr lang="en-US" altLang="ko-KR" sz="1400" dirty="0"/>
              <a:t>”. There is then the question of whether that is an </a:t>
            </a:r>
            <a:r>
              <a:rPr lang="en-US" altLang="ko-KR" sz="1400" b="1" dirty="0"/>
              <a:t>“internal” link for the app </a:t>
            </a:r>
            <a:r>
              <a:rPr lang="en-US" altLang="ko-KR" sz="1400" dirty="0"/>
              <a:t>(in which case it should instead be “</a:t>
            </a:r>
            <a:r>
              <a:rPr lang="en-US" altLang="ko-KR" sz="1400" b="1" dirty="0"/>
              <a:t>/</a:t>
            </a:r>
            <a:r>
              <a:rPr lang="en-US" altLang="ko-KR" sz="1400" b="1" dirty="0" err="1"/>
              <a:t>subpath</a:t>
            </a:r>
            <a:r>
              <a:rPr lang="en-US" altLang="ko-KR" sz="1400" b="1" dirty="0"/>
              <a:t>/app-path</a:t>
            </a:r>
            <a:r>
              <a:rPr lang="en-US" altLang="ko-KR" sz="1400" dirty="0"/>
              <a:t>”) or a link to some other app. </a:t>
            </a:r>
            <a:r>
              <a:rPr lang="en-US" altLang="ko-KR" sz="1400" b="1" dirty="0"/>
              <a:t>For this reason, </a:t>
            </a:r>
            <a:r>
              <a:rPr lang="en-US" altLang="ko-KR" sz="1400" b="1" dirty="0">
                <a:solidFill>
                  <a:srgbClr val="FF0000"/>
                </a:solidFill>
              </a:rPr>
              <a:t>it is probably best to avoid </a:t>
            </a:r>
            <a:r>
              <a:rPr lang="en-US" altLang="ko-KR" sz="1400" b="1" dirty="0" err="1">
                <a:solidFill>
                  <a:srgbClr val="FF0000"/>
                </a:solidFill>
              </a:rPr>
              <a:t>subpaths</a:t>
            </a:r>
            <a:r>
              <a:rPr lang="en-US" altLang="ko-KR" sz="1400" b="1" dirty="0">
                <a:solidFill>
                  <a:srgbClr val="FF0000"/>
                </a:solidFill>
              </a:rPr>
              <a:t> </a:t>
            </a:r>
            <a:r>
              <a:rPr lang="en-US" altLang="ko-KR" sz="1400" b="1" dirty="0"/>
              <a:t>if you can help it for any complicated applications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C0550EEF-65BE-464D-9EC5-83189E8E08BC}"/>
              </a:ext>
            </a:extLst>
          </p:cNvPr>
          <p:cNvPicPr>
            <a:picLocks noChangeAspect="1"/>
          </p:cNvPicPr>
          <p:nvPr/>
        </p:nvPicPr>
        <p:blipFill>
          <a:blip r:embed="rId2"/>
          <a:stretch>
            <a:fillRect/>
          </a:stretch>
        </p:blipFill>
        <p:spPr>
          <a:xfrm>
            <a:off x="3990975" y="4161130"/>
            <a:ext cx="4210050" cy="2247900"/>
          </a:xfrm>
          <a:prstGeom prst="rect">
            <a:avLst/>
          </a:prstGeom>
        </p:spPr>
      </p:pic>
    </p:spTree>
    <p:extLst>
      <p:ext uri="{BB962C8B-B14F-4D97-AF65-F5344CB8AC3E}">
        <p14:creationId xmlns:p14="http://schemas.microsoft.com/office/powerpoint/2010/main" val="21785257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Advanced Ingress Topics and Gotchas(6/7)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Serving TLS :</a:t>
            </a:r>
          </a:p>
          <a:p>
            <a:pPr lvl="1">
              <a:buFont typeface="Wingdings" panose="05000000000000000000" pitchFamily="2" charset="2"/>
              <a:buChar char="§"/>
            </a:pPr>
            <a:r>
              <a:rPr lang="en-US" altLang="ko-KR" sz="1400" b="1" dirty="0"/>
              <a:t>When serving websites, it is becoming increasingly necessary to do so securely using </a:t>
            </a:r>
            <a:r>
              <a:rPr lang="en-US" altLang="ko-KR" sz="1400" b="1" dirty="0">
                <a:solidFill>
                  <a:srgbClr val="FF0000"/>
                </a:solidFill>
              </a:rPr>
              <a:t>TLS</a:t>
            </a:r>
            <a:r>
              <a:rPr lang="en-US" altLang="ko-KR" sz="1400" b="1" dirty="0"/>
              <a:t> and </a:t>
            </a:r>
            <a:r>
              <a:rPr lang="en-US" altLang="ko-KR" sz="1400" b="1" dirty="0">
                <a:solidFill>
                  <a:srgbClr val="FF0000"/>
                </a:solidFill>
              </a:rPr>
              <a:t>HTTPS</a:t>
            </a:r>
            <a:r>
              <a:rPr lang="en-US" altLang="ko-KR" sz="1400" b="1" dirty="0"/>
              <a:t>. Ingress supports this (as do most Ingress controllers)</a:t>
            </a:r>
            <a:r>
              <a:rPr lang="en-US" altLang="ko-KR" sz="1400" dirty="0"/>
              <a:t>. First, users need to specify a secret with their </a:t>
            </a:r>
            <a:r>
              <a:rPr lang="en-US" altLang="ko-KR" sz="1400" b="1" dirty="0"/>
              <a:t>TLS certificate </a:t>
            </a:r>
            <a:r>
              <a:rPr lang="en-US" altLang="ko-KR" sz="1400" dirty="0"/>
              <a:t>and </a:t>
            </a:r>
            <a:r>
              <a:rPr lang="en-US" altLang="ko-KR" sz="1400" b="1" dirty="0"/>
              <a:t>keys</a:t>
            </a:r>
            <a:r>
              <a:rPr lang="en-US" altLang="ko-KR" sz="1400" dirty="0"/>
              <a:t>. You can also create a secret imperatively with “</a:t>
            </a:r>
            <a:r>
              <a:rPr lang="en-US" altLang="ko-KR" sz="1400" b="1" dirty="0" err="1">
                <a:solidFill>
                  <a:srgbClr val="FF0000"/>
                </a:solidFill>
              </a:rPr>
              <a:t>kubectl</a:t>
            </a:r>
            <a:r>
              <a:rPr lang="en-US" altLang="ko-KR" sz="1400" b="1" dirty="0">
                <a:solidFill>
                  <a:srgbClr val="FF0000"/>
                </a:solidFill>
              </a:rPr>
              <a:t> create secret </a:t>
            </a:r>
            <a:r>
              <a:rPr lang="en-US" altLang="ko-KR" sz="1400" b="1" dirty="0" err="1">
                <a:solidFill>
                  <a:srgbClr val="FF0000"/>
                </a:solidFill>
              </a:rPr>
              <a:t>tls</a:t>
            </a:r>
            <a:r>
              <a:rPr lang="en-US" altLang="ko-KR" sz="1400" b="1" dirty="0">
                <a:solidFill>
                  <a:srgbClr val="FF0000"/>
                </a:solidFill>
              </a:rPr>
              <a:t> &lt;secret-name&gt; --cert &lt;certificate-</a:t>
            </a:r>
            <a:r>
              <a:rPr lang="en-US" altLang="ko-KR" sz="1400" b="1" dirty="0" err="1">
                <a:solidFill>
                  <a:srgbClr val="FF0000"/>
                </a:solidFill>
              </a:rPr>
              <a:t>pem</a:t>
            </a:r>
            <a:r>
              <a:rPr lang="en-US" altLang="ko-KR" sz="1400" b="1" dirty="0">
                <a:solidFill>
                  <a:srgbClr val="FF0000"/>
                </a:solidFill>
              </a:rPr>
              <a:t>-file&gt; --key &lt;private-key-</a:t>
            </a:r>
            <a:r>
              <a:rPr lang="en-US" altLang="ko-KR" sz="1400" b="1" dirty="0" err="1">
                <a:solidFill>
                  <a:srgbClr val="FF0000"/>
                </a:solidFill>
              </a:rPr>
              <a:t>pem</a:t>
            </a:r>
            <a:r>
              <a:rPr lang="en-US" altLang="ko-KR" sz="1400" b="1" dirty="0">
                <a:solidFill>
                  <a:srgbClr val="FF0000"/>
                </a:solidFill>
              </a:rPr>
              <a:t>-file&gt;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524FD4E-EDC3-48E2-91B1-BFD9B266D7FA}"/>
              </a:ext>
            </a:extLst>
          </p:cNvPr>
          <p:cNvSpPr/>
          <p:nvPr/>
        </p:nvSpPr>
        <p:spPr>
          <a:xfrm>
            <a:off x="3048000" y="2095897"/>
            <a:ext cx="6096000" cy="1477328"/>
          </a:xfrm>
          <a:prstGeom prst="rect">
            <a:avLst/>
          </a:prstGeom>
          <a:ln>
            <a:solidFill>
              <a:schemeClr val="bg1">
                <a:lumMod val="50000"/>
              </a:schemeClr>
            </a:solidFill>
          </a:ln>
        </p:spPr>
        <p:txBody>
          <a:bodyPr>
            <a:spAutoFit/>
          </a:bodyPr>
          <a:lstStyle/>
          <a:p>
            <a:r>
              <a:rPr lang="en-US" altLang="ko-KR" sz="1000" b="1" dirty="0" err="1"/>
              <a:t>apiVersion</a:t>
            </a:r>
            <a:r>
              <a:rPr lang="en-US" altLang="ko-KR" sz="1000" b="1" dirty="0"/>
              <a:t>: v1</a:t>
            </a:r>
          </a:p>
          <a:p>
            <a:r>
              <a:rPr lang="en-US" altLang="ko-KR" sz="1000" b="1" dirty="0"/>
              <a:t>kind: </a:t>
            </a:r>
            <a:r>
              <a:rPr lang="en-US" altLang="ko-KR" sz="1000" b="1" dirty="0">
                <a:solidFill>
                  <a:srgbClr val="FF0000"/>
                </a:solidFill>
              </a:rPr>
              <a:t>Secret</a:t>
            </a:r>
          </a:p>
          <a:p>
            <a:r>
              <a:rPr lang="en-US" altLang="ko-KR" sz="1000" b="1" dirty="0"/>
              <a:t>metadata:</a:t>
            </a:r>
          </a:p>
          <a:p>
            <a:r>
              <a:rPr lang="en-US" altLang="ko-KR" sz="1000" b="1" dirty="0"/>
              <a:t>  </a:t>
            </a:r>
            <a:r>
              <a:rPr lang="en-US" altLang="ko-KR" sz="1000" b="1" dirty="0" err="1">
                <a:solidFill>
                  <a:srgbClr val="FF0000"/>
                </a:solidFill>
              </a:rPr>
              <a:t>creationTimestamp</a:t>
            </a:r>
            <a:r>
              <a:rPr lang="en-US" altLang="ko-KR" sz="1000" b="1" dirty="0">
                <a:solidFill>
                  <a:srgbClr val="FF0000"/>
                </a:solidFill>
              </a:rPr>
              <a:t>: null</a:t>
            </a:r>
          </a:p>
          <a:p>
            <a:r>
              <a:rPr lang="en-US" altLang="ko-KR" sz="1000" b="1" dirty="0"/>
              <a:t>  </a:t>
            </a:r>
            <a:r>
              <a:rPr lang="en-US" altLang="ko-KR" sz="1000" b="1" dirty="0">
                <a:solidFill>
                  <a:srgbClr val="FF0000"/>
                </a:solidFill>
              </a:rPr>
              <a:t>name: </a:t>
            </a:r>
            <a:r>
              <a:rPr lang="en-US" altLang="ko-KR" sz="1000" b="1" dirty="0" err="1">
                <a:solidFill>
                  <a:srgbClr val="FF0000"/>
                </a:solidFill>
              </a:rPr>
              <a:t>tls</a:t>
            </a:r>
            <a:r>
              <a:rPr lang="en-US" altLang="ko-KR" sz="1000" b="1" dirty="0">
                <a:solidFill>
                  <a:srgbClr val="FF0000"/>
                </a:solidFill>
              </a:rPr>
              <a:t>-secret-name</a:t>
            </a:r>
          </a:p>
          <a:p>
            <a:r>
              <a:rPr lang="en-US" altLang="ko-KR" sz="1000" b="1" dirty="0"/>
              <a:t>type: </a:t>
            </a:r>
            <a:r>
              <a:rPr lang="en-US" altLang="ko-KR" sz="1000" b="1" dirty="0">
                <a:solidFill>
                  <a:srgbClr val="FF0000"/>
                </a:solidFill>
              </a:rPr>
              <a:t>kubernetes.io/</a:t>
            </a:r>
            <a:r>
              <a:rPr lang="en-US" altLang="ko-KR" sz="1000" b="1" dirty="0" err="1">
                <a:solidFill>
                  <a:srgbClr val="FF0000"/>
                </a:solidFill>
              </a:rPr>
              <a:t>tls</a:t>
            </a:r>
            <a:endParaRPr lang="en-US" altLang="ko-KR" sz="1000" b="1" dirty="0">
              <a:solidFill>
                <a:srgbClr val="FF0000"/>
              </a:solidFill>
            </a:endParaRPr>
          </a:p>
          <a:p>
            <a:r>
              <a:rPr lang="en-US" altLang="ko-KR" sz="1000" b="1" dirty="0"/>
              <a:t>data:</a:t>
            </a:r>
          </a:p>
          <a:p>
            <a:r>
              <a:rPr lang="en-US" altLang="ko-KR" sz="1000" b="1" dirty="0"/>
              <a:t>  tls.crt: </a:t>
            </a:r>
            <a:r>
              <a:rPr lang="en-US" altLang="ko-KR" sz="1000" b="1" dirty="0">
                <a:solidFill>
                  <a:srgbClr val="FF0000"/>
                </a:solidFill>
              </a:rPr>
              <a:t>&lt;base64 encoded certificate&gt;</a:t>
            </a:r>
          </a:p>
          <a:p>
            <a:r>
              <a:rPr lang="en-US" altLang="ko-KR" sz="1000" b="1" dirty="0"/>
              <a:t>  </a:t>
            </a:r>
            <a:r>
              <a:rPr lang="en-US" altLang="ko-KR" sz="1000" b="1" dirty="0" err="1"/>
              <a:t>tls.key</a:t>
            </a:r>
            <a:r>
              <a:rPr lang="en-US" altLang="ko-KR" sz="1000" b="1" dirty="0"/>
              <a:t>: </a:t>
            </a:r>
            <a:r>
              <a:rPr lang="en-US" altLang="ko-KR" sz="1000" b="1" dirty="0">
                <a:solidFill>
                  <a:srgbClr val="FF0000"/>
                </a:solidFill>
              </a:rPr>
              <a:t>&lt;base64 encoded private key&gt;</a:t>
            </a:r>
            <a:endParaRPr lang="ko-KR" altLang="en-US" sz="1000" b="1" dirty="0">
              <a:solidFill>
                <a:srgbClr val="FF0000"/>
              </a:solidFill>
            </a:endParaRPr>
          </a:p>
        </p:txBody>
      </p:sp>
      <p:pic>
        <p:nvPicPr>
          <p:cNvPr id="10" name="그림 9">
            <a:extLst>
              <a:ext uri="{FF2B5EF4-FFF2-40B4-BE49-F238E27FC236}">
                <a16:creationId xmlns:a16="http://schemas.microsoft.com/office/drawing/2014/main" id="{527CC357-5C2E-4408-A782-5A7E6EDCC209}"/>
              </a:ext>
            </a:extLst>
          </p:cNvPr>
          <p:cNvPicPr>
            <a:picLocks noChangeAspect="1"/>
          </p:cNvPicPr>
          <p:nvPr/>
        </p:nvPicPr>
        <p:blipFill>
          <a:blip r:embed="rId2"/>
          <a:stretch>
            <a:fillRect/>
          </a:stretch>
        </p:blipFill>
        <p:spPr>
          <a:xfrm>
            <a:off x="8439207" y="3681454"/>
            <a:ext cx="2914593" cy="2727576"/>
          </a:xfrm>
          <a:prstGeom prst="rect">
            <a:avLst/>
          </a:prstGeom>
        </p:spPr>
      </p:pic>
      <p:sp>
        <p:nvSpPr>
          <p:cNvPr id="11" name="직사각형 10">
            <a:extLst>
              <a:ext uri="{FF2B5EF4-FFF2-40B4-BE49-F238E27FC236}">
                <a16:creationId xmlns:a16="http://schemas.microsoft.com/office/drawing/2014/main" id="{5796E77D-D4A5-4206-BFBF-151CBC91755C}"/>
              </a:ext>
            </a:extLst>
          </p:cNvPr>
          <p:cNvSpPr/>
          <p:nvPr/>
        </p:nvSpPr>
        <p:spPr>
          <a:xfrm>
            <a:off x="838199" y="3769380"/>
            <a:ext cx="7426633" cy="480131"/>
          </a:xfrm>
          <a:prstGeom prst="rect">
            <a:avLst/>
          </a:prstGeom>
        </p:spPr>
        <p:txBody>
          <a:bodyPr wrap="square">
            <a:spAutoFit/>
          </a:bodyPr>
          <a:lstStyle/>
          <a:p>
            <a:pPr marL="685800" lvl="1" indent="-228600">
              <a:lnSpc>
                <a:spcPct val="90000"/>
              </a:lnSpc>
              <a:spcBef>
                <a:spcPts val="500"/>
              </a:spcBef>
              <a:buFont typeface="Wingdings" panose="05000000000000000000" pitchFamily="2" charset="2"/>
              <a:buChar char="§"/>
            </a:pPr>
            <a:r>
              <a:rPr lang="en-US" altLang="ko-KR" sz="1400" b="1" dirty="0">
                <a:solidFill>
                  <a:prstClr val="black"/>
                </a:solidFill>
              </a:rPr>
              <a:t>NOTE : You need to check whether there is any update in the TLS support in Kubernetes</a:t>
            </a:r>
            <a:r>
              <a:rPr lang="en-US" altLang="ko-KR" sz="1400" dirty="0">
                <a:solidFill>
                  <a:prstClr val="black"/>
                </a:solidFill>
              </a:rPr>
              <a:t>.</a:t>
            </a:r>
          </a:p>
        </p:txBody>
      </p:sp>
    </p:spTree>
    <p:extLst>
      <p:ext uri="{BB962C8B-B14F-4D97-AF65-F5344CB8AC3E}">
        <p14:creationId xmlns:p14="http://schemas.microsoft.com/office/powerpoint/2010/main" val="32954760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Advanced Ingress Topics and Gotchas(7/7)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Serving TLS :</a:t>
            </a:r>
          </a:p>
          <a:p>
            <a:pPr lvl="1">
              <a:buFont typeface="Wingdings" panose="05000000000000000000" pitchFamily="2" charset="2"/>
              <a:buChar char="§"/>
            </a:pPr>
            <a:r>
              <a:rPr lang="en-US" altLang="ko-KR" sz="1400" b="1" dirty="0"/>
              <a:t>Once you have the certificate uploaded, </a:t>
            </a:r>
            <a:r>
              <a:rPr lang="en-US" altLang="ko-KR" sz="1400" b="1" dirty="0">
                <a:solidFill>
                  <a:srgbClr val="FF0000"/>
                </a:solidFill>
              </a:rPr>
              <a:t>you can reference it in an Ingress object</a:t>
            </a:r>
            <a:r>
              <a:rPr lang="en-US" altLang="ko-KR" sz="1400" dirty="0"/>
              <a:t>. </a:t>
            </a:r>
            <a:r>
              <a:rPr lang="en-US" altLang="ko-KR" sz="1400" b="1" dirty="0"/>
              <a:t>This specifies a list of  certificates along with the hostnames </a:t>
            </a:r>
            <a:r>
              <a:rPr lang="en-US" altLang="ko-KR" sz="1400" dirty="0"/>
              <a:t>that those certificates should be used for. Again, if multiple Ingress objects specify certificates for the same hostname, the behavior is undefined.</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Uploading and managing TLS secrets can be difficult</a:t>
            </a:r>
            <a:r>
              <a:rPr lang="en-US" altLang="ko-KR" sz="1400" dirty="0"/>
              <a:t>. In addition, certificates can often come at a significant cost. To help solve this problem, there is a non-profit called “</a:t>
            </a:r>
            <a:r>
              <a:rPr lang="en-US" altLang="ko-KR" sz="1400" b="1" dirty="0">
                <a:hlinkClick r:id="rId2"/>
              </a:rPr>
              <a:t>Let’s Encrypt</a:t>
            </a:r>
            <a:r>
              <a:rPr lang="en-US" altLang="ko-KR" sz="1400" dirty="0"/>
              <a:t>” </a:t>
            </a:r>
            <a:r>
              <a:rPr lang="en-US" altLang="ko-KR" sz="1400" b="1" dirty="0"/>
              <a:t>running a free Certificate Authority</a:t>
            </a:r>
            <a:r>
              <a:rPr lang="en-US" altLang="ko-KR" sz="1400" dirty="0"/>
              <a:t> that is API-driven. </a:t>
            </a:r>
            <a:r>
              <a:rPr lang="en-US" altLang="ko-KR" sz="1400" b="1" dirty="0"/>
              <a:t>Since it is API-driven, it is possible to set up a Kubernetes cluster that automatically fetches and installs TLS certificates for you</a:t>
            </a:r>
            <a:r>
              <a:rPr lang="en-US" altLang="ko-KR" sz="1400" dirty="0"/>
              <a:t>. The missing piece is an open source project called </a:t>
            </a:r>
            <a:r>
              <a:rPr lang="en-US" altLang="ko-KR" sz="1400" b="1" dirty="0">
                <a:hlinkClick r:id="rId3"/>
              </a:rPr>
              <a:t>cert-manager</a:t>
            </a:r>
            <a:r>
              <a:rPr lang="en-US" altLang="ko-KR" sz="1400" dirty="0"/>
              <a:t> initiated and supported by </a:t>
            </a:r>
            <a:r>
              <a:rPr lang="en-US" altLang="ko-KR" sz="1400" b="1" dirty="0" err="1"/>
              <a:t>Jetstack</a:t>
            </a:r>
            <a:r>
              <a:rPr lang="en-US" altLang="ko-KR" sz="1400" dirty="0"/>
              <a:t>, a UK startup.</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FA1CBBF4-85CC-4512-8836-A350E834C17F}"/>
              </a:ext>
            </a:extLst>
          </p:cNvPr>
          <p:cNvSpPr/>
          <p:nvPr/>
        </p:nvSpPr>
        <p:spPr>
          <a:xfrm>
            <a:off x="3048000" y="1923463"/>
            <a:ext cx="6096000" cy="3170099"/>
          </a:xfrm>
          <a:prstGeom prst="rect">
            <a:avLst/>
          </a:prstGeom>
          <a:ln>
            <a:solidFill>
              <a:schemeClr val="bg1">
                <a:lumMod val="50000"/>
              </a:schemeClr>
            </a:solidFill>
          </a:ln>
        </p:spPr>
        <p:txBody>
          <a:bodyPr>
            <a:spAutoFit/>
          </a:bodyPr>
          <a:lstStyle/>
          <a:p>
            <a:r>
              <a:rPr lang="en-US" altLang="ko-KR" sz="1000" b="1" dirty="0" err="1"/>
              <a:t>apiVersion</a:t>
            </a:r>
            <a:r>
              <a:rPr lang="en-US" altLang="ko-KR" sz="1000" b="1" dirty="0"/>
              <a:t>: networking.k8s.io/v1</a:t>
            </a:r>
          </a:p>
          <a:p>
            <a:r>
              <a:rPr lang="en-US" altLang="ko-KR" sz="1000" b="1" dirty="0"/>
              <a:t>kind: </a:t>
            </a:r>
            <a:r>
              <a:rPr lang="en-US" altLang="ko-KR" sz="1000" b="1" dirty="0">
                <a:solidFill>
                  <a:srgbClr val="FF0000"/>
                </a:solidFill>
              </a:rPr>
              <a:t>Ingress</a:t>
            </a:r>
          </a:p>
          <a:p>
            <a:r>
              <a:rPr lang="en-US" altLang="ko-KR" sz="1000" b="1" dirty="0"/>
              <a:t>metadata:</a:t>
            </a:r>
          </a:p>
          <a:p>
            <a:r>
              <a:rPr lang="en-US" altLang="ko-KR" sz="1000" b="1" dirty="0"/>
              <a:t>  name: </a:t>
            </a:r>
            <a:r>
              <a:rPr lang="en-US" altLang="ko-KR" sz="1000" b="1" dirty="0" err="1">
                <a:solidFill>
                  <a:srgbClr val="FF0000"/>
                </a:solidFill>
              </a:rPr>
              <a:t>tls</a:t>
            </a:r>
            <a:r>
              <a:rPr lang="en-US" altLang="ko-KR" sz="1000" b="1" dirty="0">
                <a:solidFill>
                  <a:srgbClr val="FF0000"/>
                </a:solidFill>
              </a:rPr>
              <a:t>-ingress</a:t>
            </a:r>
          </a:p>
          <a:p>
            <a:r>
              <a:rPr lang="en-US" altLang="ko-KR" sz="1000" b="1" dirty="0"/>
              <a:t>spec:</a:t>
            </a:r>
          </a:p>
          <a:p>
            <a:r>
              <a:rPr lang="en-US" altLang="ko-KR" sz="1000" b="1" dirty="0"/>
              <a:t>  </a:t>
            </a:r>
            <a:r>
              <a:rPr lang="en-US" altLang="ko-KR" sz="1000" b="1" dirty="0" err="1"/>
              <a:t>tls</a:t>
            </a:r>
            <a:r>
              <a:rPr lang="en-US" altLang="ko-KR" sz="1000" b="1" dirty="0"/>
              <a:t>:</a:t>
            </a:r>
          </a:p>
          <a:p>
            <a:r>
              <a:rPr lang="en-US" altLang="ko-KR" sz="1000" b="1" dirty="0"/>
              <a:t>  - hosts:</a:t>
            </a:r>
          </a:p>
          <a:p>
            <a:r>
              <a:rPr lang="en-US" altLang="ko-KR" sz="1000" b="1" dirty="0"/>
              <a:t>    - alpaca.example.com</a:t>
            </a:r>
          </a:p>
          <a:p>
            <a:r>
              <a:rPr lang="en-US" altLang="ko-KR" sz="1000" b="1" dirty="0"/>
              <a:t>    </a:t>
            </a:r>
            <a:r>
              <a:rPr lang="en-US" altLang="ko-KR" sz="1000" b="1" dirty="0" err="1"/>
              <a:t>secretName</a:t>
            </a:r>
            <a:r>
              <a:rPr lang="en-US" altLang="ko-KR" sz="1000" b="1" dirty="0"/>
              <a:t>: </a:t>
            </a:r>
            <a:r>
              <a:rPr lang="en-US" altLang="ko-KR" sz="1000" b="1" dirty="0" err="1">
                <a:solidFill>
                  <a:srgbClr val="FF0000"/>
                </a:solidFill>
              </a:rPr>
              <a:t>tls</a:t>
            </a:r>
            <a:r>
              <a:rPr lang="en-US" altLang="ko-KR" sz="1000" b="1" dirty="0">
                <a:solidFill>
                  <a:srgbClr val="FF0000"/>
                </a:solidFill>
              </a:rPr>
              <a:t>-secret-name</a:t>
            </a:r>
          </a:p>
          <a:p>
            <a:r>
              <a:rPr lang="en-US" altLang="ko-KR" sz="1000" b="1" dirty="0"/>
              <a:t>  rules:</a:t>
            </a:r>
          </a:p>
          <a:p>
            <a:r>
              <a:rPr lang="en-US" altLang="ko-KR" sz="1000" b="1" dirty="0"/>
              <a:t>    - host: alpaca.example.com</a:t>
            </a:r>
          </a:p>
          <a:p>
            <a:r>
              <a:rPr lang="en-US" altLang="ko-KR" sz="1000" b="1" dirty="0"/>
              <a:t>      http:</a:t>
            </a:r>
          </a:p>
          <a:p>
            <a:r>
              <a:rPr lang="en-US" altLang="ko-KR" sz="1000" b="1" dirty="0"/>
              <a:t>        paths:</a:t>
            </a:r>
          </a:p>
          <a:p>
            <a:r>
              <a:rPr lang="en-US" altLang="ko-KR" sz="1000" b="1" dirty="0"/>
              <a:t>        - path: /</a:t>
            </a:r>
          </a:p>
          <a:p>
            <a:r>
              <a:rPr lang="en-US" altLang="ko-KR" sz="1000" b="1" dirty="0"/>
              <a:t>          </a:t>
            </a:r>
            <a:r>
              <a:rPr lang="en-US" altLang="ko-KR" sz="1000" b="1" dirty="0" err="1"/>
              <a:t>pathType</a:t>
            </a:r>
            <a:r>
              <a:rPr lang="en-US" altLang="ko-KR" sz="1000" b="1" dirty="0"/>
              <a:t>: Prefix</a:t>
            </a:r>
          </a:p>
          <a:p>
            <a:r>
              <a:rPr lang="en-US" altLang="ko-KR" sz="1000" b="1" dirty="0"/>
              <a:t>          backend:</a:t>
            </a:r>
          </a:p>
          <a:p>
            <a:r>
              <a:rPr lang="en-US" altLang="ko-KR" sz="1000" b="1" dirty="0"/>
              <a:t>            service:</a:t>
            </a:r>
          </a:p>
          <a:p>
            <a:r>
              <a:rPr lang="en-US" altLang="ko-KR" sz="1000" b="1" dirty="0"/>
              <a:t>              name: alpaca</a:t>
            </a:r>
          </a:p>
          <a:p>
            <a:r>
              <a:rPr lang="en-US" altLang="ko-KR" sz="1000" b="1" dirty="0"/>
              <a:t>              port:</a:t>
            </a:r>
          </a:p>
          <a:p>
            <a:r>
              <a:rPr lang="en-US" altLang="ko-KR" sz="1000" b="1" dirty="0"/>
              <a:t>                number: 8080</a:t>
            </a:r>
            <a:endParaRPr lang="ko-KR" altLang="en-US" sz="1000" b="1" dirty="0"/>
          </a:p>
        </p:txBody>
      </p:sp>
    </p:spTree>
    <p:extLst>
      <p:ext uri="{BB962C8B-B14F-4D97-AF65-F5344CB8AC3E}">
        <p14:creationId xmlns:p14="http://schemas.microsoft.com/office/powerpoint/2010/main" val="2218791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Alternate Ingress Implementations</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Ingress Controllers :</a:t>
            </a:r>
          </a:p>
          <a:p>
            <a:pPr lvl="1">
              <a:buFont typeface="Wingdings" panose="05000000000000000000" pitchFamily="2" charset="2"/>
              <a:buChar char="§"/>
            </a:pPr>
            <a:r>
              <a:rPr lang="en-US" altLang="ko-KR" sz="1400" b="1" dirty="0"/>
              <a:t>There are many different implementations of Ingress controllers, each building on the base Ingress object with unique features</a:t>
            </a:r>
            <a:r>
              <a:rPr lang="en-US" altLang="ko-KR" sz="1400" dirty="0"/>
              <a:t>. </a:t>
            </a:r>
            <a:r>
              <a:rPr lang="en-US" altLang="ko-KR" sz="1400" b="1" dirty="0"/>
              <a:t>First, each cloud provider has an Ingress implementation that exposes the specific cloud-based L7 load balancer for that cloud</a:t>
            </a:r>
            <a:r>
              <a:rPr lang="en-US" altLang="ko-KR" sz="1400" dirty="0"/>
              <a:t>. </a:t>
            </a:r>
          </a:p>
          <a:p>
            <a:pPr lvl="1">
              <a:buFont typeface="Wingdings" panose="05000000000000000000" pitchFamily="2" charset="2"/>
              <a:buChar char="§"/>
            </a:pPr>
            <a:r>
              <a:rPr lang="en-US" altLang="ko-KR" sz="1400" b="1" dirty="0"/>
              <a:t>Instead of configuring a software load balancer running in a Pod, these controllers take Ingress objects and use them to configure, via an API, </a:t>
            </a:r>
            <a:r>
              <a:rPr lang="en-US" altLang="ko-KR" sz="1400" b="1" dirty="0">
                <a:solidFill>
                  <a:srgbClr val="FF0000"/>
                </a:solidFill>
              </a:rPr>
              <a:t>the cloud-based load balancers</a:t>
            </a:r>
            <a:r>
              <a:rPr lang="en-US" altLang="ko-KR" sz="1400" dirty="0"/>
              <a:t>. This reduces the load on the cluster and management burden for the operators, but can often come at a cost.</a:t>
            </a:r>
          </a:p>
          <a:p>
            <a:pPr lvl="1">
              <a:buFont typeface="Wingdings" panose="05000000000000000000" pitchFamily="2" charset="2"/>
              <a:buChar char="§"/>
            </a:pPr>
            <a:r>
              <a:rPr lang="en-US" altLang="ko-KR" sz="1400" b="1" dirty="0"/>
              <a:t>The most popular generic Ingress controller is probably the open source </a:t>
            </a:r>
            <a:r>
              <a:rPr lang="en-US" altLang="ko-KR" sz="1400" b="1" dirty="0">
                <a:hlinkClick r:id="rId2"/>
              </a:rPr>
              <a:t>NGINX ingress controller</a:t>
            </a:r>
            <a:r>
              <a:rPr lang="en-US" altLang="ko-KR" sz="1400" dirty="0"/>
              <a:t>. Be aware that there is also a commercial controller based on the proprietary </a:t>
            </a:r>
            <a:r>
              <a:rPr lang="en-US" altLang="ko-KR" sz="1400" b="1" dirty="0"/>
              <a:t>NGINX Plus</a:t>
            </a:r>
            <a:r>
              <a:rPr lang="en-US" altLang="ko-KR" sz="1400" dirty="0"/>
              <a:t>. </a:t>
            </a:r>
            <a:r>
              <a:rPr lang="en-US" altLang="ko-KR" sz="1400" b="1" dirty="0"/>
              <a:t>The open source controller essentially reads Ingress objects and merges them into an NGINX configuration file</a:t>
            </a:r>
            <a:r>
              <a:rPr lang="en-US" altLang="ko-KR" sz="1400" dirty="0"/>
              <a:t>. </a:t>
            </a:r>
            <a:r>
              <a:rPr lang="en-US" altLang="ko-KR" sz="1400" b="1" dirty="0"/>
              <a:t>It then signals to the NGINX process to restart with the new configuration</a:t>
            </a:r>
            <a:r>
              <a:rPr lang="en-US" altLang="ko-KR" sz="1400" dirty="0"/>
              <a:t> (while responsibly serving existing inflight connections). The open NGINX controller has </a:t>
            </a:r>
            <a:r>
              <a:rPr lang="en-US" altLang="ko-KR" sz="1400" b="1" dirty="0"/>
              <a:t>an enormous number of features and options exposed via “annotations”</a:t>
            </a:r>
            <a:r>
              <a:rPr lang="en-US" altLang="ko-KR" sz="1400" dirty="0"/>
              <a:t>.</a:t>
            </a:r>
          </a:p>
          <a:p>
            <a:pPr lvl="1">
              <a:buFont typeface="Wingdings" panose="05000000000000000000" pitchFamily="2" charset="2"/>
              <a:buChar char="§"/>
            </a:pPr>
            <a:r>
              <a:rPr lang="en-US" altLang="ko-KR" sz="1400" b="1" dirty="0">
                <a:hlinkClick r:id="rId3"/>
              </a:rPr>
              <a:t>Ambassador</a:t>
            </a:r>
            <a:r>
              <a:rPr lang="en-US" altLang="ko-KR" sz="1400" dirty="0"/>
              <a:t> and </a:t>
            </a:r>
            <a:r>
              <a:rPr lang="en-US" altLang="ko-KR" sz="1400" b="1" dirty="0" err="1">
                <a:hlinkClick r:id="rId4"/>
              </a:rPr>
              <a:t>Gloo</a:t>
            </a:r>
            <a:r>
              <a:rPr lang="en-US" altLang="ko-KR" sz="1400" dirty="0"/>
              <a:t> are two other “</a:t>
            </a:r>
            <a:r>
              <a:rPr lang="en-US" altLang="ko-KR" sz="1400" b="1" dirty="0"/>
              <a:t>Envoy-based Ingress controllers</a:t>
            </a:r>
            <a:r>
              <a:rPr lang="en-US" altLang="ko-KR" sz="1400" dirty="0"/>
              <a:t>” </a:t>
            </a:r>
            <a:r>
              <a:rPr lang="en-US" altLang="ko-KR" sz="1400" b="1" dirty="0"/>
              <a:t>that are focused on being API gateways</a:t>
            </a:r>
            <a:r>
              <a:rPr lang="en-US" altLang="ko-KR" sz="1400" dirty="0"/>
              <a:t>. </a:t>
            </a:r>
            <a:r>
              <a:rPr lang="en-US" altLang="ko-KR" sz="1400" b="1" dirty="0" err="1">
                <a:hlinkClick r:id="rId5"/>
              </a:rPr>
              <a:t>Traefik</a:t>
            </a:r>
            <a:r>
              <a:rPr lang="en-US" altLang="ko-KR" sz="1400" dirty="0"/>
              <a:t> </a:t>
            </a:r>
            <a:r>
              <a:rPr lang="en-US" altLang="ko-KR" sz="1400" b="1" dirty="0"/>
              <a:t>is a reverse proxy implemented in Go </a:t>
            </a:r>
            <a:r>
              <a:rPr lang="en-US" altLang="ko-KR" sz="1400" dirty="0"/>
              <a:t>that also can function as an Ingress controller. It has a set of features and dashboards that are very developer-friendly. </a:t>
            </a:r>
            <a:r>
              <a:rPr lang="en-US" altLang="ko-KR" sz="1400" b="1" dirty="0"/>
              <a:t>The Ingress ecosystem is very active and there are many new projects and commercial offerings </a:t>
            </a:r>
            <a:r>
              <a:rPr lang="en-US" altLang="ko-KR" sz="1400" dirty="0"/>
              <a:t>that build on the humble Ingress object in unique ways.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3074" name="Picture 2" descr="162. [Kubernetes] 1편 : 쿠버네티스 Ingress 개념 및 사용 방법, 온-프레미스 환경에서 Ingress 구축하기 :  네이버 블로그">
            <a:extLst>
              <a:ext uri="{FF2B5EF4-FFF2-40B4-BE49-F238E27FC236}">
                <a16:creationId xmlns:a16="http://schemas.microsoft.com/office/drawing/2014/main" id="{6E7B9D41-ACA2-4256-A932-941FF805217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52507" y="4208589"/>
            <a:ext cx="3101293" cy="22004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15311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The Future of Ingress</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Next Step? :</a:t>
            </a:r>
          </a:p>
          <a:p>
            <a:pPr lvl="1">
              <a:buFont typeface="Wingdings" panose="05000000000000000000" pitchFamily="2" charset="2"/>
              <a:buChar char="§"/>
            </a:pPr>
            <a:r>
              <a:rPr lang="en-US" altLang="ko-KR" sz="1400" b="1" dirty="0"/>
              <a:t>The Ingress object provides a very useful abstraction for configuring L7 load balancers</a:t>
            </a:r>
            <a:r>
              <a:rPr lang="en-US" altLang="ko-KR" sz="1400" dirty="0"/>
              <a:t>—but it hasn’t scaled to all the features that users want and various implementations are looking to offer.</a:t>
            </a:r>
          </a:p>
          <a:p>
            <a:pPr lvl="1">
              <a:buFont typeface="Wingdings" panose="05000000000000000000" pitchFamily="2" charset="2"/>
              <a:buChar char="§"/>
            </a:pPr>
            <a:r>
              <a:rPr lang="en-US" altLang="ko-KR" sz="1400" b="1" dirty="0"/>
              <a:t>Many of the features in Ingress are underdefined</a:t>
            </a:r>
            <a:r>
              <a:rPr lang="en-US" altLang="ko-KR" sz="1400" dirty="0"/>
              <a:t>. Implementations can surface these features in different ways, </a:t>
            </a:r>
            <a:r>
              <a:rPr lang="en-US" altLang="ko-KR" sz="1400" b="1" dirty="0"/>
              <a:t>reducing the portability of configurations between implementations</a:t>
            </a:r>
            <a:r>
              <a:rPr lang="en-US" altLang="ko-KR" sz="1400" dirty="0"/>
              <a:t>. Another problem is that </a:t>
            </a:r>
            <a:r>
              <a:rPr lang="en-US" altLang="ko-KR" sz="1400" b="1" dirty="0"/>
              <a:t>it is easy to misconfigure Ingress</a:t>
            </a:r>
            <a:r>
              <a:rPr lang="en-US" altLang="ko-KR" sz="1400" dirty="0"/>
              <a:t>. The way that multiple objects compose together opens the door for conflicts that are resolved differently by different implementations. In addition, </a:t>
            </a:r>
            <a:r>
              <a:rPr lang="en-US" altLang="ko-KR" sz="1400" b="1" dirty="0"/>
              <a:t>the way that these are merged across namespaces breaks the idea of </a:t>
            </a:r>
            <a:r>
              <a:rPr lang="en-US" altLang="ko-KR" sz="1400" b="1" dirty="0">
                <a:solidFill>
                  <a:srgbClr val="FF0000"/>
                </a:solidFill>
              </a:rPr>
              <a:t>namespace isolation</a:t>
            </a:r>
            <a:r>
              <a:rPr lang="en-US" altLang="ko-KR" sz="1400" dirty="0"/>
              <a:t>.</a:t>
            </a:r>
          </a:p>
          <a:p>
            <a:pPr lvl="1">
              <a:buFont typeface="Wingdings" panose="05000000000000000000" pitchFamily="2" charset="2"/>
              <a:buChar char="§"/>
            </a:pPr>
            <a:r>
              <a:rPr lang="en-US" altLang="ko-KR" sz="1400" b="1" dirty="0"/>
              <a:t>Ingress was also created before the idea of a “</a:t>
            </a:r>
            <a:r>
              <a:rPr lang="en-US" altLang="ko-KR" sz="1400" b="1" dirty="0">
                <a:solidFill>
                  <a:srgbClr val="FF0000"/>
                </a:solidFill>
              </a:rPr>
              <a:t>Service Mesh</a:t>
            </a:r>
            <a:r>
              <a:rPr lang="en-US" altLang="ko-KR" sz="1400" b="1" dirty="0"/>
              <a:t>” (exemplified by projects such as </a:t>
            </a:r>
            <a:r>
              <a:rPr lang="en-US" altLang="ko-KR" sz="1400" b="1" dirty="0" err="1">
                <a:hlinkClick r:id="rId2"/>
              </a:rPr>
              <a:t>Istio</a:t>
            </a:r>
            <a:r>
              <a:rPr lang="en-US" altLang="ko-KR" sz="1400" b="1" dirty="0"/>
              <a:t> and </a:t>
            </a:r>
            <a:r>
              <a:rPr lang="en-US" altLang="ko-KR" sz="1400" b="1" dirty="0" err="1">
                <a:hlinkClick r:id="rId3"/>
              </a:rPr>
              <a:t>Linkerd</a:t>
            </a:r>
            <a:r>
              <a:rPr lang="en-US" altLang="ko-KR" sz="1400" b="1" dirty="0"/>
              <a:t>) was well known</a:t>
            </a:r>
            <a:r>
              <a:rPr lang="en-US" altLang="ko-KR" sz="1400" dirty="0"/>
              <a:t>. The intersection of Ingress and Service Meshes is still being defined.</a:t>
            </a:r>
          </a:p>
          <a:p>
            <a:pPr lvl="1">
              <a:buFont typeface="Wingdings" panose="05000000000000000000" pitchFamily="2" charset="2"/>
              <a:buChar char="§"/>
            </a:pPr>
            <a:r>
              <a:rPr lang="en-US" altLang="ko-KR" sz="1400" b="1" dirty="0" err="1"/>
              <a:t>Istio</a:t>
            </a:r>
            <a:r>
              <a:rPr lang="en-US" altLang="ko-KR" sz="1400" dirty="0"/>
              <a:t> </a:t>
            </a:r>
            <a:r>
              <a:rPr lang="en-US" altLang="ko-KR" sz="1400" b="1" dirty="0"/>
              <a:t>implements the idea of a gateway that overlaps with Ingress in some ways</a:t>
            </a:r>
            <a:r>
              <a:rPr lang="en-US" altLang="ko-KR" sz="1400" dirty="0"/>
              <a:t>. </a:t>
            </a:r>
            <a:r>
              <a:rPr lang="en-US" altLang="ko-KR" sz="1400" b="1" dirty="0"/>
              <a:t>Contour introduces a new type called “</a:t>
            </a:r>
            <a:r>
              <a:rPr lang="en-US" altLang="ko-KR" sz="1400" b="1" dirty="0" err="1"/>
              <a:t>IngressRoute</a:t>
            </a:r>
            <a:r>
              <a:rPr lang="en-US" altLang="ko-KR" sz="1400" b="1" dirty="0"/>
              <a:t>” that is a better-defined and more explicit version of Ingress inspired by other network protocols like DNS</a:t>
            </a:r>
            <a:r>
              <a:rPr lang="en-US" altLang="ko-KR" sz="1400" dirty="0"/>
              <a:t>. </a:t>
            </a:r>
          </a:p>
          <a:p>
            <a:pPr lvl="1">
              <a:buFont typeface="Wingdings" panose="05000000000000000000" pitchFamily="2" charset="2"/>
              <a:buChar char="§"/>
            </a:pPr>
            <a:r>
              <a:rPr lang="en-US" altLang="ko-KR" sz="1400" b="1" dirty="0"/>
              <a:t>Defining the next step for Ingress is a hard problem</a:t>
            </a:r>
            <a:r>
              <a:rPr lang="en-US" altLang="ko-KR" sz="1400" dirty="0"/>
              <a:t>. It involves creating a common language that applies to most load balancers, while at the same time leaving room for innovation of new features and allowing different implementations to specialize in other directions. </a:t>
            </a:r>
            <a:r>
              <a:rPr lang="en-US" altLang="ko-KR" sz="1400" b="1" dirty="0"/>
              <a:t>This is an active area of innovation in the Kubernetes community through the </a:t>
            </a:r>
            <a:r>
              <a:rPr lang="en-US" altLang="ko-KR" sz="1400" b="1" dirty="0">
                <a:hlinkClick r:id="rId4"/>
              </a:rPr>
              <a:t>Network Special Interest Group</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81F60D60-E032-4671-BC99-C43FC1BB3F47}"/>
              </a:ext>
            </a:extLst>
          </p:cNvPr>
          <p:cNvPicPr>
            <a:picLocks noChangeAspect="1"/>
          </p:cNvPicPr>
          <p:nvPr/>
        </p:nvPicPr>
        <p:blipFill>
          <a:blip r:embed="rId5"/>
          <a:stretch>
            <a:fillRect/>
          </a:stretch>
        </p:blipFill>
        <p:spPr>
          <a:xfrm>
            <a:off x="7601447" y="4375285"/>
            <a:ext cx="3752353" cy="2033746"/>
          </a:xfrm>
          <a:prstGeom prst="rect">
            <a:avLst/>
          </a:prstGeom>
        </p:spPr>
      </p:pic>
    </p:spTree>
    <p:extLst>
      <p:ext uri="{BB962C8B-B14F-4D97-AF65-F5344CB8AC3E}">
        <p14:creationId xmlns:p14="http://schemas.microsoft.com/office/powerpoint/2010/main" val="11757774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Summary </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Remember :</a:t>
            </a:r>
          </a:p>
          <a:p>
            <a:pPr lvl="1">
              <a:buFont typeface="Wingdings" panose="05000000000000000000" pitchFamily="2" charset="2"/>
              <a:buChar char="§"/>
            </a:pPr>
            <a:r>
              <a:rPr lang="en-US" altLang="ko-KR" sz="1400" b="1" dirty="0"/>
              <a:t>Ingress is a unique system in Kubernetes. It is simply a schema, and the implementations of a controller for that schema must be installed and managed separately</a:t>
            </a:r>
            <a:r>
              <a:rPr lang="en-US" altLang="ko-KR" sz="1400" dirty="0"/>
              <a:t>. But it is also a critical system for </a:t>
            </a:r>
            <a:r>
              <a:rPr lang="en-US" altLang="ko-KR" sz="1400" b="1" dirty="0"/>
              <a:t>exposing services to users </a:t>
            </a:r>
            <a:r>
              <a:rPr lang="en-US" altLang="ko-KR" sz="1400" dirty="0"/>
              <a:t>in a practical and cost-efficient way. </a:t>
            </a:r>
          </a:p>
          <a:p>
            <a:pPr lvl="1">
              <a:buFont typeface="Wingdings" panose="05000000000000000000" pitchFamily="2" charset="2"/>
              <a:buChar char="§"/>
            </a:pPr>
            <a:r>
              <a:rPr lang="en-US" altLang="ko-KR" sz="1400" dirty="0"/>
              <a:t>As Kubernetes continues to mature, expect to see </a:t>
            </a:r>
            <a:r>
              <a:rPr lang="en-US" altLang="ko-KR" sz="1400" b="1" dirty="0"/>
              <a:t>Ingress become more and more relevant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EDFEC77E-13A9-4BBE-99EA-1A4EBE28C21A}"/>
              </a:ext>
            </a:extLst>
          </p:cNvPr>
          <p:cNvPicPr>
            <a:picLocks noChangeAspect="1"/>
          </p:cNvPicPr>
          <p:nvPr/>
        </p:nvPicPr>
        <p:blipFill>
          <a:blip r:embed="rId2"/>
          <a:stretch>
            <a:fillRect/>
          </a:stretch>
        </p:blipFill>
        <p:spPr>
          <a:xfrm>
            <a:off x="3297141" y="2630929"/>
            <a:ext cx="5597718" cy="2924589"/>
          </a:xfrm>
          <a:prstGeom prst="rect">
            <a:avLst/>
          </a:prstGeom>
          <a:ln>
            <a:solidFill>
              <a:schemeClr val="bg1">
                <a:lumMod val="50000"/>
              </a:schemeClr>
            </a:solidFill>
          </a:ln>
        </p:spPr>
      </p:pic>
    </p:spTree>
    <p:extLst>
      <p:ext uri="{BB962C8B-B14F-4D97-AF65-F5344CB8AC3E}">
        <p14:creationId xmlns:p14="http://schemas.microsoft.com/office/powerpoint/2010/main" val="1676730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sz="4400" b="1" dirty="0" err="1"/>
              <a:t>ReplicaSets</a:t>
            </a:r>
            <a:endParaRPr lang="ko-KR" altLang="en-US" sz="4400" b="1"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79289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Introduction(1/2)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ReplicaSet</a:t>
            </a:r>
            <a:r>
              <a:rPr lang="en-US" altLang="ko-KR" sz="1800" b="1" dirty="0"/>
              <a:t> : </a:t>
            </a:r>
          </a:p>
          <a:p>
            <a:pPr lvl="1">
              <a:buFont typeface="Wingdings" panose="05000000000000000000" pitchFamily="2" charset="2"/>
              <a:buChar char="§"/>
            </a:pPr>
            <a:r>
              <a:rPr lang="en-US" altLang="ko-KR" sz="1400" dirty="0"/>
              <a:t>More often than not, you want </a:t>
            </a:r>
            <a:r>
              <a:rPr lang="en-US" altLang="ko-KR" sz="1400" b="1" dirty="0"/>
              <a:t>multiple replicas of a container running at a particular time</a:t>
            </a:r>
            <a:r>
              <a:rPr lang="en-US" altLang="ko-KR" sz="1400" dirty="0"/>
              <a:t>. There are a variety of reasons for this type of replication : </a:t>
            </a:r>
          </a:p>
          <a:p>
            <a:pPr lvl="2">
              <a:buFont typeface="Wingdings" panose="05000000000000000000" pitchFamily="2" charset="2"/>
              <a:buChar char="§"/>
            </a:pPr>
            <a:r>
              <a:rPr lang="en-US" altLang="ko-KR" sz="1400" b="1" dirty="0">
                <a:solidFill>
                  <a:srgbClr val="FF0000"/>
                </a:solidFill>
              </a:rPr>
              <a:t>Redundancy</a:t>
            </a:r>
            <a:r>
              <a:rPr lang="en-US" altLang="ko-KR" sz="1400" dirty="0"/>
              <a:t> - Multiple running instances mean </a:t>
            </a:r>
            <a:r>
              <a:rPr lang="en-US" altLang="ko-KR" sz="1400" b="1" dirty="0"/>
              <a:t>failure can be tolerated(Fault Tolerant)</a:t>
            </a:r>
            <a:r>
              <a:rPr lang="en-US" altLang="ko-KR" sz="1400" dirty="0"/>
              <a:t>.</a:t>
            </a:r>
          </a:p>
          <a:p>
            <a:pPr lvl="2">
              <a:buFont typeface="Wingdings" panose="05000000000000000000" pitchFamily="2" charset="2"/>
              <a:buChar char="§"/>
            </a:pPr>
            <a:r>
              <a:rPr lang="en-US" altLang="ko-KR" sz="1400" b="1" dirty="0">
                <a:solidFill>
                  <a:srgbClr val="FF0000"/>
                </a:solidFill>
              </a:rPr>
              <a:t>Scale</a:t>
            </a:r>
            <a:r>
              <a:rPr lang="en-US" altLang="ko-KR" sz="1400" dirty="0"/>
              <a:t> - Multiple running instances mean that </a:t>
            </a:r>
            <a:r>
              <a:rPr lang="en-US" altLang="ko-KR" sz="1400" b="1" dirty="0"/>
              <a:t>more requests can be handled</a:t>
            </a:r>
            <a:r>
              <a:rPr lang="en-US" altLang="ko-KR" sz="1400" dirty="0"/>
              <a:t>.</a:t>
            </a:r>
          </a:p>
          <a:p>
            <a:pPr lvl="2">
              <a:buFont typeface="Wingdings" panose="05000000000000000000" pitchFamily="2" charset="2"/>
              <a:buChar char="§"/>
            </a:pPr>
            <a:r>
              <a:rPr lang="en-US" altLang="ko-KR" sz="1400" b="1" dirty="0" err="1">
                <a:solidFill>
                  <a:srgbClr val="FF0000"/>
                </a:solidFill>
              </a:rPr>
              <a:t>Sharding</a:t>
            </a:r>
            <a:r>
              <a:rPr lang="en-US" altLang="ko-KR" sz="1400" dirty="0"/>
              <a:t> - </a:t>
            </a:r>
            <a:r>
              <a:rPr lang="en-US" altLang="ko-KR" sz="1400" b="1" dirty="0"/>
              <a:t>Different replicas can handle different parts of a computation in parallel</a:t>
            </a:r>
            <a:r>
              <a:rPr lang="en-US" altLang="ko-KR" sz="1400" dirty="0"/>
              <a:t>.</a:t>
            </a:r>
          </a:p>
          <a:p>
            <a:pPr lvl="1">
              <a:buFont typeface="Wingdings" panose="05000000000000000000" pitchFamily="2" charset="2"/>
              <a:buChar char="§"/>
            </a:pPr>
            <a:r>
              <a:rPr lang="en-US" altLang="ko-KR" sz="1400" b="1" dirty="0"/>
              <a:t>Logically, a user managing a replicated set of Pods considers them as a “single entity” to be defined and managed</a:t>
            </a:r>
            <a:r>
              <a:rPr lang="en-US" altLang="ko-KR" sz="1400" dirty="0"/>
              <a:t>. This is precisely what a </a:t>
            </a:r>
            <a:r>
              <a:rPr lang="en-US" altLang="ko-KR" sz="1400" b="1" dirty="0" err="1">
                <a:solidFill>
                  <a:srgbClr val="FF0000"/>
                </a:solidFill>
              </a:rPr>
              <a:t>ReplicaSet</a:t>
            </a:r>
            <a:r>
              <a:rPr lang="en-US" altLang="ko-KR" sz="1400" dirty="0"/>
              <a:t> is. </a:t>
            </a:r>
            <a:r>
              <a:rPr lang="en-US" altLang="ko-KR" sz="1400" b="1" dirty="0"/>
              <a:t>A </a:t>
            </a:r>
            <a:r>
              <a:rPr lang="en-US" altLang="ko-KR" sz="1400" b="1" dirty="0" err="1"/>
              <a:t>ReplicaSet</a:t>
            </a:r>
            <a:r>
              <a:rPr lang="en-US" altLang="ko-KR" sz="1400" b="1" dirty="0"/>
              <a:t> acts as a “</a:t>
            </a:r>
            <a:r>
              <a:rPr lang="en-US" altLang="ko-KR" sz="1400" b="1" dirty="0">
                <a:solidFill>
                  <a:srgbClr val="FF0000"/>
                </a:solidFill>
              </a:rPr>
              <a:t>cluster-wide Pod manager</a:t>
            </a:r>
            <a:r>
              <a:rPr lang="en-US" altLang="ko-KR" sz="1400" b="1" dirty="0"/>
              <a:t>”, ensuring that the right types and number of Pods are running at all times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D1016387-137D-412A-8E28-BC52371868F2}"/>
              </a:ext>
            </a:extLst>
          </p:cNvPr>
          <p:cNvPicPr>
            <a:picLocks noChangeAspect="1"/>
          </p:cNvPicPr>
          <p:nvPr/>
        </p:nvPicPr>
        <p:blipFill>
          <a:blip r:embed="rId2"/>
          <a:stretch>
            <a:fillRect/>
          </a:stretch>
        </p:blipFill>
        <p:spPr>
          <a:xfrm>
            <a:off x="3413512" y="3391058"/>
            <a:ext cx="5364975" cy="2652847"/>
          </a:xfrm>
          <a:prstGeom prst="rect">
            <a:avLst/>
          </a:prstGeom>
        </p:spPr>
      </p:pic>
    </p:spTree>
    <p:extLst>
      <p:ext uri="{BB962C8B-B14F-4D97-AF65-F5344CB8AC3E}">
        <p14:creationId xmlns:p14="http://schemas.microsoft.com/office/powerpoint/2010/main" val="15042366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Introduction(2/2)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ReplicaSet</a:t>
            </a:r>
            <a:r>
              <a:rPr lang="en-US" altLang="ko-KR" sz="1800" b="1" dirty="0"/>
              <a:t> :</a:t>
            </a:r>
          </a:p>
          <a:p>
            <a:pPr lvl="1">
              <a:buFont typeface="Wingdings" panose="05000000000000000000" pitchFamily="2" charset="2"/>
              <a:buChar char="§"/>
            </a:pPr>
            <a:r>
              <a:rPr lang="en-US" altLang="ko-KR" sz="1400" b="1" dirty="0"/>
              <a:t>Because </a:t>
            </a:r>
            <a:r>
              <a:rPr lang="en-US" altLang="ko-KR" sz="1400" b="1" dirty="0" err="1"/>
              <a:t>ReplicaSets</a:t>
            </a:r>
            <a:r>
              <a:rPr lang="en-US" altLang="ko-KR" sz="1400" b="1" dirty="0"/>
              <a:t> make it easy to “create and manage replicated sets of Pods”</a:t>
            </a:r>
            <a:r>
              <a:rPr lang="en-US" altLang="ko-KR" sz="1400" dirty="0"/>
              <a:t>, </a:t>
            </a:r>
            <a:r>
              <a:rPr lang="en-US" altLang="ko-KR" sz="1400" b="1" dirty="0"/>
              <a:t>they are the building blocks used to describe common application deployment patterns and provide the underpinnings of “self-healing” for our applications at the infrastructure level</a:t>
            </a:r>
            <a:r>
              <a:rPr lang="en-US" altLang="ko-KR" sz="1400" dirty="0"/>
              <a:t>. Pods managed by </a:t>
            </a:r>
            <a:r>
              <a:rPr lang="en-US" altLang="ko-KR" sz="1400" b="1" dirty="0" err="1"/>
              <a:t>ReplicaSets</a:t>
            </a:r>
            <a:r>
              <a:rPr lang="en-US" altLang="ko-KR" sz="1400" dirty="0"/>
              <a:t> are automatically rescheduled under certain failure conditions, such as node failures and network partitions.</a:t>
            </a:r>
            <a:endParaRPr lang="en-US" altLang="ko-KR" sz="1400" b="1" dirty="0"/>
          </a:p>
          <a:p>
            <a:pPr lvl="1">
              <a:buFont typeface="Wingdings" panose="05000000000000000000" pitchFamily="2" charset="2"/>
              <a:buChar char="§"/>
            </a:pPr>
            <a:r>
              <a:rPr lang="en-US" altLang="ko-KR" sz="1400" b="1" dirty="0"/>
              <a:t>When we define a </a:t>
            </a:r>
            <a:r>
              <a:rPr lang="en-US" altLang="ko-KR" sz="1400" b="1" dirty="0" err="1"/>
              <a:t>ReplicaSet</a:t>
            </a:r>
            <a:r>
              <a:rPr lang="en-US" altLang="ko-KR" sz="1400" b="1" dirty="0"/>
              <a:t>, we </a:t>
            </a:r>
            <a:r>
              <a:rPr lang="en-US" altLang="ko-KR" sz="1400" b="1" dirty="0">
                <a:solidFill>
                  <a:srgbClr val="FF0000"/>
                </a:solidFill>
              </a:rPr>
              <a:t>define a specification for the Pods </a:t>
            </a:r>
            <a:r>
              <a:rPr lang="en-US" altLang="ko-KR" sz="1400" b="1" dirty="0"/>
              <a:t>we want to create</a:t>
            </a:r>
            <a:r>
              <a:rPr lang="en-US" altLang="ko-KR" sz="1400" dirty="0"/>
              <a:t>, </a:t>
            </a:r>
            <a:r>
              <a:rPr lang="en-US" altLang="ko-KR" sz="1400" b="1" dirty="0"/>
              <a:t>and </a:t>
            </a:r>
            <a:r>
              <a:rPr lang="en-US" altLang="ko-KR" sz="1400" b="1" dirty="0">
                <a:solidFill>
                  <a:srgbClr val="FF0000"/>
                </a:solidFill>
              </a:rPr>
              <a:t>a desired number of replicas</a:t>
            </a:r>
            <a:r>
              <a:rPr lang="en-US" altLang="ko-KR" sz="1400" dirty="0"/>
              <a:t>. Additionally, we need to </a:t>
            </a:r>
            <a:r>
              <a:rPr lang="en-US" altLang="ko-KR" sz="1400" b="1" dirty="0"/>
              <a:t>define </a:t>
            </a:r>
            <a:r>
              <a:rPr lang="en-US" altLang="ko-KR" sz="1400" b="1" dirty="0">
                <a:solidFill>
                  <a:srgbClr val="FF0000"/>
                </a:solidFill>
              </a:rPr>
              <a:t>a way of finding Pods </a:t>
            </a:r>
            <a:r>
              <a:rPr lang="en-US" altLang="ko-KR" sz="1400" b="1" dirty="0"/>
              <a:t>that the </a:t>
            </a:r>
            <a:r>
              <a:rPr lang="en-US" altLang="ko-KR" sz="1400" b="1" dirty="0" err="1"/>
              <a:t>ReplicaSet</a:t>
            </a:r>
            <a:r>
              <a:rPr lang="en-US" altLang="ko-KR" sz="1400" b="1" dirty="0"/>
              <a:t> should control</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FA02470E-92E4-4E9D-A3A0-47226F87CF8D}"/>
              </a:ext>
            </a:extLst>
          </p:cNvPr>
          <p:cNvPicPr>
            <a:picLocks noChangeAspect="1"/>
          </p:cNvPicPr>
          <p:nvPr/>
        </p:nvPicPr>
        <p:blipFill>
          <a:blip r:embed="rId2"/>
          <a:stretch>
            <a:fillRect/>
          </a:stretch>
        </p:blipFill>
        <p:spPr>
          <a:xfrm>
            <a:off x="2556344" y="2868042"/>
            <a:ext cx="7079311" cy="3008186"/>
          </a:xfrm>
          <a:prstGeom prst="rect">
            <a:avLst/>
          </a:prstGeom>
        </p:spPr>
      </p:pic>
    </p:spTree>
    <p:extLst>
      <p:ext uri="{BB962C8B-B14F-4D97-AF65-F5344CB8AC3E}">
        <p14:creationId xmlns:p14="http://schemas.microsoft.com/office/powerpoint/2010/main" val="40568602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Reconciliation Loops</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Desired State vs. The Current(Observed) State :</a:t>
            </a:r>
          </a:p>
          <a:p>
            <a:pPr lvl="1">
              <a:buFont typeface="Wingdings" panose="05000000000000000000" pitchFamily="2" charset="2"/>
              <a:buChar char="§"/>
            </a:pPr>
            <a:r>
              <a:rPr lang="en-US" altLang="ko-KR" sz="1400" b="1" dirty="0"/>
              <a:t>The central concept behind a reconciliation loop is “the notion of </a:t>
            </a:r>
            <a:r>
              <a:rPr lang="en-US" altLang="ko-KR" sz="1400" b="1" dirty="0">
                <a:solidFill>
                  <a:srgbClr val="FF0000"/>
                </a:solidFill>
              </a:rPr>
              <a:t>desired state </a:t>
            </a:r>
            <a:r>
              <a:rPr lang="en-US" altLang="ko-KR" sz="1400" b="1" dirty="0"/>
              <a:t>versus observed or current state”</a:t>
            </a:r>
            <a:r>
              <a:rPr lang="en-US" altLang="ko-KR" sz="1400" dirty="0"/>
              <a:t>. </a:t>
            </a:r>
            <a:r>
              <a:rPr lang="en-US" altLang="ko-KR" sz="1400" b="1" dirty="0"/>
              <a:t>Desired state is the state you want</a:t>
            </a:r>
            <a:r>
              <a:rPr lang="en-US" altLang="ko-KR" sz="1400" dirty="0"/>
              <a:t>. </a:t>
            </a:r>
            <a:r>
              <a:rPr lang="en-US" altLang="ko-KR" sz="1400" b="1" dirty="0"/>
              <a:t>With a </a:t>
            </a:r>
            <a:r>
              <a:rPr lang="en-US" altLang="ko-KR" sz="1400" b="1" dirty="0" err="1"/>
              <a:t>ReplicaSet</a:t>
            </a:r>
            <a:r>
              <a:rPr lang="en-US" altLang="ko-KR" sz="1400" b="1" dirty="0"/>
              <a:t>, it is </a:t>
            </a:r>
            <a:r>
              <a:rPr lang="en-US" altLang="ko-KR" sz="1400" b="1" dirty="0">
                <a:solidFill>
                  <a:srgbClr val="FF0000"/>
                </a:solidFill>
              </a:rPr>
              <a:t>the desired number of replicas </a:t>
            </a:r>
            <a:r>
              <a:rPr lang="en-US" altLang="ko-KR" sz="1400" b="1" dirty="0"/>
              <a:t>and </a:t>
            </a:r>
            <a:r>
              <a:rPr lang="en-US" altLang="ko-KR" sz="1400" b="1" dirty="0">
                <a:solidFill>
                  <a:srgbClr val="FF0000"/>
                </a:solidFill>
              </a:rPr>
              <a:t>the definition of the Pod to replicate</a:t>
            </a:r>
            <a:r>
              <a:rPr lang="en-US" altLang="ko-KR" sz="1400" dirty="0"/>
              <a:t>. For example, “the desired state is that there are three replicas of a Pod running the </a:t>
            </a:r>
            <a:r>
              <a:rPr lang="en-US" altLang="ko-KR" sz="1400" dirty="0" err="1"/>
              <a:t>kuard</a:t>
            </a:r>
            <a:r>
              <a:rPr lang="en-US" altLang="ko-KR" sz="1400" dirty="0"/>
              <a:t> server.”</a:t>
            </a:r>
          </a:p>
          <a:p>
            <a:pPr lvl="1">
              <a:buFont typeface="Wingdings" panose="05000000000000000000" pitchFamily="2" charset="2"/>
              <a:buChar char="§"/>
            </a:pPr>
            <a:r>
              <a:rPr lang="en-US" altLang="ko-KR" sz="1400" b="1" dirty="0"/>
              <a:t>In contrast, the current state is the currently observed state of the system</a:t>
            </a:r>
            <a:r>
              <a:rPr lang="en-US" altLang="ko-KR" sz="1400" dirty="0"/>
              <a:t>. For example, “there are only two </a:t>
            </a:r>
            <a:r>
              <a:rPr lang="en-US" altLang="ko-KR" sz="1400" dirty="0" err="1"/>
              <a:t>kuard</a:t>
            </a:r>
            <a:r>
              <a:rPr lang="en-US" altLang="ko-KR" sz="1400" dirty="0"/>
              <a:t> Pods currently running.” </a:t>
            </a:r>
            <a:r>
              <a:rPr lang="en-US" altLang="ko-KR" sz="1400" b="1" dirty="0"/>
              <a:t>The </a:t>
            </a:r>
            <a:r>
              <a:rPr lang="en-US" altLang="ko-KR" sz="1400" b="1" dirty="0">
                <a:solidFill>
                  <a:srgbClr val="FF0000"/>
                </a:solidFill>
              </a:rPr>
              <a:t>reconciliation loop </a:t>
            </a:r>
            <a:r>
              <a:rPr lang="en-US" altLang="ko-KR" sz="1400" b="1" dirty="0"/>
              <a:t>is constantly running, observing the current state of the world and taking action to try to make the observed state match the desired state</a:t>
            </a:r>
            <a:r>
              <a:rPr lang="en-US" altLang="ko-KR" sz="1400" dirty="0"/>
              <a:t>. For instance, with the previous examples, the reconciliation loop would create a new </a:t>
            </a:r>
            <a:r>
              <a:rPr lang="en-US" altLang="ko-KR" sz="1400" dirty="0" err="1"/>
              <a:t>kuard</a:t>
            </a:r>
            <a:r>
              <a:rPr lang="en-US" altLang="ko-KR" sz="1400" dirty="0"/>
              <a:t> Pod in an effort to </a:t>
            </a:r>
            <a:r>
              <a:rPr lang="en-US" altLang="ko-KR" sz="1400" b="1" dirty="0"/>
              <a:t>make the observed state match the desired state of three replicas</a:t>
            </a:r>
            <a:r>
              <a:rPr lang="en-US" altLang="ko-KR" sz="1400" dirty="0"/>
              <a:t>.</a:t>
            </a:r>
          </a:p>
          <a:p>
            <a:pPr lvl="1">
              <a:buFont typeface="Wingdings" panose="05000000000000000000" pitchFamily="2" charset="2"/>
              <a:buChar char="§"/>
            </a:pPr>
            <a:r>
              <a:rPr lang="en-US" altLang="ko-KR" sz="1400" dirty="0"/>
              <a:t>There are many benefits to the reconciliation loop approach to managing state. It is an inherently </a:t>
            </a:r>
            <a:r>
              <a:rPr lang="en-US" altLang="ko-KR" sz="1400" b="1" dirty="0"/>
              <a:t>goal-driven</a:t>
            </a:r>
            <a:r>
              <a:rPr lang="en-US" altLang="ko-KR" sz="1400" dirty="0"/>
              <a:t>, </a:t>
            </a:r>
            <a:r>
              <a:rPr lang="en-US" altLang="ko-KR" sz="1400" b="1" dirty="0"/>
              <a:t>self-healing system</a:t>
            </a:r>
            <a:r>
              <a:rPr lang="en-US" altLang="ko-KR" sz="1400" dirty="0"/>
              <a:t>, yet it can often be </a:t>
            </a:r>
            <a:r>
              <a:rPr lang="en-US" altLang="ko-KR" sz="1400" b="1" dirty="0"/>
              <a:t>easily expressed in a few lines of code(Infrastructure as a Code: IAAC)</a:t>
            </a:r>
            <a:r>
              <a:rPr lang="en-US" altLang="ko-KR" sz="1400" dirty="0"/>
              <a:t>.</a:t>
            </a:r>
          </a:p>
          <a:p>
            <a:pPr lvl="1">
              <a:buFont typeface="Wingdings" panose="05000000000000000000" pitchFamily="2" charset="2"/>
              <a:buChar char="§"/>
            </a:pPr>
            <a:r>
              <a:rPr lang="en-US" altLang="ko-KR" sz="1400" b="1" dirty="0"/>
              <a:t>NOTE : </a:t>
            </a:r>
            <a:r>
              <a:rPr lang="en-US" altLang="ko-KR" sz="1400" b="1" dirty="0">
                <a:solidFill>
                  <a:srgbClr val="FF0000"/>
                </a:solidFill>
              </a:rPr>
              <a:t>The reconciliation loop for </a:t>
            </a:r>
            <a:r>
              <a:rPr lang="en-US" altLang="ko-KR" sz="1400" b="1" dirty="0" err="1">
                <a:solidFill>
                  <a:srgbClr val="FF0000"/>
                </a:solidFill>
              </a:rPr>
              <a:t>ReplicaSets</a:t>
            </a:r>
            <a:r>
              <a:rPr lang="en-US" altLang="ko-KR" sz="1400" b="1" dirty="0">
                <a:solidFill>
                  <a:srgbClr val="FF0000"/>
                </a:solidFill>
              </a:rPr>
              <a:t> is a single loop</a:t>
            </a:r>
            <a:r>
              <a:rPr lang="en-US" altLang="ko-KR" sz="1400" dirty="0"/>
              <a:t>, yet it handles user actions to </a:t>
            </a:r>
            <a:r>
              <a:rPr lang="en-US" altLang="ko-KR" sz="1400" b="1" dirty="0"/>
              <a:t>scale up </a:t>
            </a:r>
            <a:r>
              <a:rPr lang="en-US" altLang="ko-KR" sz="1400" dirty="0"/>
              <a:t>or </a:t>
            </a:r>
            <a:r>
              <a:rPr lang="en-US" altLang="ko-KR" sz="1400" b="1" dirty="0"/>
              <a:t>scale down the </a:t>
            </a:r>
            <a:r>
              <a:rPr lang="en-US" altLang="ko-KR" sz="1400" b="1" dirty="0" err="1"/>
              <a:t>ReplicaSet</a:t>
            </a:r>
            <a:r>
              <a:rPr lang="en-US" altLang="ko-KR" sz="1400" b="1" dirty="0"/>
              <a:t> </a:t>
            </a:r>
            <a:r>
              <a:rPr lang="en-US" altLang="ko-KR" sz="1400" dirty="0"/>
              <a:t>as well as </a:t>
            </a:r>
            <a:r>
              <a:rPr lang="en-US" altLang="ko-KR" sz="1400" b="1" dirty="0"/>
              <a:t>node failures </a:t>
            </a:r>
            <a:r>
              <a:rPr lang="en-US" altLang="ko-KR" sz="1400" dirty="0"/>
              <a:t>or </a:t>
            </a:r>
            <a:r>
              <a:rPr lang="en-US" altLang="ko-KR" sz="1400" b="1" dirty="0"/>
              <a:t>nodes rejoining </a:t>
            </a:r>
            <a:r>
              <a:rPr lang="en-US" altLang="ko-KR" sz="1400" dirty="0"/>
              <a:t>the cluster after being absent.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DDF05378-567E-43CC-9B3E-96A91227EB52}"/>
              </a:ext>
            </a:extLst>
          </p:cNvPr>
          <p:cNvPicPr>
            <a:picLocks noChangeAspect="1"/>
          </p:cNvPicPr>
          <p:nvPr/>
        </p:nvPicPr>
        <p:blipFill>
          <a:blip r:embed="rId2"/>
          <a:stretch>
            <a:fillRect/>
          </a:stretch>
        </p:blipFill>
        <p:spPr>
          <a:xfrm>
            <a:off x="3548014" y="4082102"/>
            <a:ext cx="5095972" cy="2326928"/>
          </a:xfrm>
          <a:prstGeom prst="rect">
            <a:avLst/>
          </a:prstGeom>
        </p:spPr>
      </p:pic>
    </p:spTree>
    <p:extLst>
      <p:ext uri="{BB962C8B-B14F-4D97-AF65-F5344CB8AC3E}">
        <p14:creationId xmlns:p14="http://schemas.microsoft.com/office/powerpoint/2010/main" val="25556547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Relating Pods and </a:t>
            </a:r>
            <a:r>
              <a:rPr lang="en-US" altLang="ko-KR" sz="2800" b="1" dirty="0" err="1"/>
              <a:t>ReplicaSets</a:t>
            </a:r>
            <a:r>
              <a:rPr lang="en-US" altLang="ko-KR" sz="2800" b="1" dirty="0"/>
              <a:t>(1/3)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Decoupling :</a:t>
            </a:r>
          </a:p>
          <a:p>
            <a:pPr lvl="1">
              <a:buFont typeface="Wingdings" panose="05000000000000000000" pitchFamily="2" charset="2"/>
              <a:buChar char="§"/>
            </a:pPr>
            <a:r>
              <a:rPr lang="en-US" altLang="ko-KR" sz="1400" b="1" dirty="0"/>
              <a:t>One of the key themes that runs through Kubernetes is decoupling</a:t>
            </a:r>
            <a:r>
              <a:rPr lang="en-US" altLang="ko-KR" sz="1400" dirty="0"/>
              <a:t>. In particular, it’s important that </a:t>
            </a:r>
            <a:r>
              <a:rPr lang="en-US" altLang="ko-KR" sz="1400" b="1" dirty="0"/>
              <a:t>all of the core concepts of Kubernetes are modular with respect to each other and that they are </a:t>
            </a:r>
            <a:r>
              <a:rPr lang="en-US" altLang="ko-KR" sz="1400" b="1" dirty="0">
                <a:solidFill>
                  <a:srgbClr val="FF0000"/>
                </a:solidFill>
              </a:rPr>
              <a:t>swappable</a:t>
            </a:r>
            <a:r>
              <a:rPr lang="en-US" altLang="ko-KR" sz="1400" b="1" dirty="0"/>
              <a:t> and </a:t>
            </a:r>
            <a:r>
              <a:rPr lang="en-US" altLang="ko-KR" sz="1400" b="1" dirty="0">
                <a:solidFill>
                  <a:srgbClr val="FF0000"/>
                </a:solidFill>
              </a:rPr>
              <a:t>replaceable</a:t>
            </a:r>
            <a:r>
              <a:rPr lang="en-US" altLang="ko-KR" sz="1400" b="1" dirty="0"/>
              <a:t> with other components</a:t>
            </a:r>
            <a:r>
              <a:rPr lang="en-US" altLang="ko-KR" sz="1400" dirty="0"/>
              <a:t>. </a:t>
            </a:r>
          </a:p>
          <a:p>
            <a:pPr lvl="1">
              <a:buFont typeface="Wingdings" panose="05000000000000000000" pitchFamily="2" charset="2"/>
              <a:buChar char="§"/>
            </a:pPr>
            <a:r>
              <a:rPr lang="en-US" altLang="ko-KR" sz="1400" b="1" dirty="0"/>
              <a:t>The relationship between </a:t>
            </a:r>
            <a:r>
              <a:rPr lang="en-US" altLang="ko-KR" sz="1400" b="1" dirty="0" err="1"/>
              <a:t>ReplicaSets</a:t>
            </a:r>
            <a:r>
              <a:rPr lang="en-US" altLang="ko-KR" sz="1400" b="1" dirty="0"/>
              <a:t> and Pods is </a:t>
            </a:r>
            <a:r>
              <a:rPr lang="en-US" altLang="ko-KR" sz="1400" b="1" dirty="0">
                <a:solidFill>
                  <a:srgbClr val="FF0000"/>
                </a:solidFill>
              </a:rPr>
              <a:t>loosely coupled</a:t>
            </a:r>
            <a:r>
              <a:rPr lang="en-US" altLang="ko-KR" sz="1400" dirty="0"/>
              <a:t>. </a:t>
            </a:r>
            <a:r>
              <a:rPr lang="en-US" altLang="ko-KR" sz="1400" b="1" dirty="0"/>
              <a:t>Though </a:t>
            </a:r>
            <a:r>
              <a:rPr lang="en-US" altLang="ko-KR" sz="1400" b="1" dirty="0" err="1"/>
              <a:t>ReplicaSets</a:t>
            </a:r>
            <a:r>
              <a:rPr lang="en-US" altLang="ko-KR" sz="1400" b="1" dirty="0"/>
              <a:t> create and manage Pods, they do not own the Pods they create</a:t>
            </a:r>
            <a:r>
              <a:rPr lang="en-US" altLang="ko-KR" sz="1400" dirty="0"/>
              <a:t>. </a:t>
            </a:r>
            <a:r>
              <a:rPr lang="en-US" altLang="ko-KR" sz="1400" b="1" dirty="0" err="1"/>
              <a:t>ReplicaSets</a:t>
            </a:r>
            <a:r>
              <a:rPr lang="en-US" altLang="ko-KR" sz="1400" b="1" dirty="0"/>
              <a:t> use label queries to identify the set of Pods they should be managing</a:t>
            </a:r>
            <a:r>
              <a:rPr lang="en-US" altLang="ko-KR" sz="1400" dirty="0"/>
              <a:t>. They then </a:t>
            </a:r>
            <a:r>
              <a:rPr lang="en-US" altLang="ko-KR" sz="1400" b="1" dirty="0"/>
              <a:t>use the exact same Pod API </a:t>
            </a:r>
            <a:r>
              <a:rPr lang="en-US" altLang="ko-KR" sz="1400" dirty="0"/>
              <a:t>that you used directly to create the Pods that they are managing. This notion of “</a:t>
            </a:r>
            <a:r>
              <a:rPr lang="en-US" altLang="ko-KR" sz="1400" b="1" dirty="0">
                <a:solidFill>
                  <a:srgbClr val="FF0000"/>
                </a:solidFill>
              </a:rPr>
              <a:t>coming in the front door</a:t>
            </a:r>
            <a:r>
              <a:rPr lang="en-US" altLang="ko-KR" sz="1400" dirty="0"/>
              <a:t>” is another </a:t>
            </a:r>
            <a:r>
              <a:rPr lang="en-US" altLang="ko-KR" sz="1400" b="1" dirty="0"/>
              <a:t>central design concept in Kubernetes</a:t>
            </a:r>
            <a:r>
              <a:rPr lang="en-US" altLang="ko-KR" sz="1400" dirty="0"/>
              <a:t>. </a:t>
            </a:r>
          </a:p>
          <a:p>
            <a:pPr lvl="1">
              <a:buFont typeface="Wingdings" panose="05000000000000000000" pitchFamily="2" charset="2"/>
              <a:buChar char="§"/>
            </a:pPr>
            <a:r>
              <a:rPr lang="en-US" altLang="ko-KR" sz="1400" b="1" dirty="0"/>
              <a:t>In a similar decoupling, </a:t>
            </a:r>
            <a:r>
              <a:rPr lang="en-US" altLang="ko-KR" sz="1400" b="1" dirty="0" err="1"/>
              <a:t>ReplicaSets</a:t>
            </a:r>
            <a:r>
              <a:rPr lang="en-US" altLang="ko-KR" sz="1400" b="1" dirty="0"/>
              <a:t> that create multiple Pods and the services that load-balance to those Pods are also totally separate, decoupled API objects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DBA97090-75F0-44E4-81DD-5E45D359B40F}"/>
              </a:ext>
            </a:extLst>
          </p:cNvPr>
          <p:cNvPicPr>
            <a:picLocks noChangeAspect="1"/>
          </p:cNvPicPr>
          <p:nvPr/>
        </p:nvPicPr>
        <p:blipFill>
          <a:blip r:embed="rId2"/>
          <a:stretch>
            <a:fillRect/>
          </a:stretch>
        </p:blipFill>
        <p:spPr>
          <a:xfrm>
            <a:off x="3852221" y="3147209"/>
            <a:ext cx="4487558" cy="3261821"/>
          </a:xfrm>
          <a:prstGeom prst="rect">
            <a:avLst/>
          </a:prstGeom>
        </p:spPr>
      </p:pic>
    </p:spTree>
    <p:extLst>
      <p:ext uri="{BB962C8B-B14F-4D97-AF65-F5344CB8AC3E}">
        <p14:creationId xmlns:p14="http://schemas.microsoft.com/office/powerpoint/2010/main" val="33866747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Relating Pods and </a:t>
            </a:r>
            <a:r>
              <a:rPr lang="en-US" altLang="ko-KR" sz="2800" b="1" dirty="0" err="1"/>
              <a:t>ReplicaSets</a:t>
            </a:r>
            <a:r>
              <a:rPr lang="en-US" altLang="ko-KR" sz="2800" b="1" dirty="0"/>
              <a:t>(2/3)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Adopting Existing Containers :</a:t>
            </a:r>
          </a:p>
          <a:p>
            <a:pPr lvl="1">
              <a:buFont typeface="Wingdings" panose="05000000000000000000" pitchFamily="2" charset="2"/>
              <a:buChar char="§"/>
            </a:pPr>
            <a:r>
              <a:rPr lang="en-US" altLang="ko-KR" sz="1400" b="1" dirty="0"/>
              <a:t>Despite the value placed on declarative configuration of software, there are times when it is easier to build something up imperatively</a:t>
            </a:r>
            <a:r>
              <a:rPr lang="en-US" altLang="ko-KR" sz="1400" dirty="0"/>
              <a:t>. In particular, early on you may be simply deploying a single Pod with a container image without a </a:t>
            </a:r>
            <a:r>
              <a:rPr lang="en-US" altLang="ko-KR" sz="1400" dirty="0" err="1"/>
              <a:t>ReplicaSet</a:t>
            </a:r>
            <a:r>
              <a:rPr lang="en-US" altLang="ko-KR" sz="1400" dirty="0"/>
              <a:t> managing it. At some point you may want to expand your singleton container into a replicated service and create and manage an array of similar containers. You may have even defined a load balancer that is serving traffic to that single Pod. </a:t>
            </a:r>
          </a:p>
          <a:p>
            <a:pPr lvl="1">
              <a:buFont typeface="Wingdings" panose="05000000000000000000" pitchFamily="2" charset="2"/>
              <a:buChar char="§"/>
            </a:pPr>
            <a:r>
              <a:rPr lang="en-US" altLang="ko-KR" sz="1400" b="1" dirty="0"/>
              <a:t>If </a:t>
            </a:r>
            <a:r>
              <a:rPr lang="en-US" altLang="ko-KR" sz="1400" b="1" dirty="0" err="1"/>
              <a:t>ReplicaSets</a:t>
            </a:r>
            <a:r>
              <a:rPr lang="en-US" altLang="ko-KR" sz="1400" b="1" dirty="0"/>
              <a:t> owned the Pods they created, then the only way to start replicating your Pod would be to delete it and then relaunch it via a </a:t>
            </a:r>
            <a:r>
              <a:rPr lang="en-US" altLang="ko-KR" sz="1400" b="1" dirty="0" err="1"/>
              <a:t>ReplicaSet</a:t>
            </a:r>
            <a:r>
              <a:rPr lang="en-US" altLang="ko-KR" sz="1400" dirty="0"/>
              <a:t>. This might be disruptive, as there would be a moment in time when there would be no copies of your container running. </a:t>
            </a:r>
          </a:p>
          <a:p>
            <a:pPr lvl="1">
              <a:buFont typeface="Wingdings" panose="05000000000000000000" pitchFamily="2" charset="2"/>
              <a:buChar char="§"/>
            </a:pPr>
            <a:r>
              <a:rPr lang="en-US" altLang="ko-KR" sz="1400" b="1" dirty="0"/>
              <a:t>However, because </a:t>
            </a:r>
            <a:r>
              <a:rPr lang="en-US" altLang="ko-KR" sz="1400" b="1" dirty="0" err="1"/>
              <a:t>ReplicaSets</a:t>
            </a:r>
            <a:r>
              <a:rPr lang="en-US" altLang="ko-KR" sz="1400" b="1" dirty="0"/>
              <a:t> are decoupled from the Pods they manage, you can simply create a </a:t>
            </a:r>
            <a:r>
              <a:rPr lang="en-US" altLang="ko-KR" sz="1400" b="1" dirty="0" err="1"/>
              <a:t>ReplicaSet</a:t>
            </a:r>
            <a:r>
              <a:rPr lang="en-US" altLang="ko-KR" sz="1400" b="1" dirty="0"/>
              <a:t> that will </a:t>
            </a:r>
            <a:r>
              <a:rPr lang="en-US" altLang="ko-KR" sz="1400" b="1" dirty="0">
                <a:solidFill>
                  <a:srgbClr val="FF0000"/>
                </a:solidFill>
              </a:rPr>
              <a:t>“adopt” the existing Pod</a:t>
            </a:r>
            <a:r>
              <a:rPr lang="en-US" altLang="ko-KR" sz="1400" b="1" dirty="0"/>
              <a:t>, and scale out additional copies of those containers</a:t>
            </a:r>
            <a:r>
              <a:rPr lang="en-US" altLang="ko-KR" sz="1400" dirty="0"/>
              <a:t>. In this way, you can </a:t>
            </a:r>
            <a:r>
              <a:rPr lang="en-US" altLang="ko-KR" sz="1400" b="1" dirty="0"/>
              <a:t>seamlessly </a:t>
            </a:r>
            <a:r>
              <a:rPr lang="en-US" altLang="ko-KR" sz="1400" dirty="0"/>
              <a:t>move from a single imperative Pod to a replicated set of Pods managed by a </a:t>
            </a:r>
            <a:r>
              <a:rPr lang="en-US" altLang="ko-KR" sz="1400" b="1" dirty="0" err="1"/>
              <a:t>ReplicaSet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A724736D-831B-46FC-BE8F-FCC2ECE32A5A}"/>
              </a:ext>
            </a:extLst>
          </p:cNvPr>
          <p:cNvPicPr>
            <a:picLocks noChangeAspect="1"/>
          </p:cNvPicPr>
          <p:nvPr/>
        </p:nvPicPr>
        <p:blipFill>
          <a:blip r:embed="rId2"/>
          <a:stretch>
            <a:fillRect/>
          </a:stretch>
        </p:blipFill>
        <p:spPr>
          <a:xfrm>
            <a:off x="3286125" y="3475330"/>
            <a:ext cx="5619750" cy="2933700"/>
          </a:xfrm>
          <a:prstGeom prst="rect">
            <a:avLst/>
          </a:prstGeom>
        </p:spPr>
      </p:pic>
    </p:spTree>
    <p:extLst>
      <p:ext uri="{BB962C8B-B14F-4D97-AF65-F5344CB8AC3E}">
        <p14:creationId xmlns:p14="http://schemas.microsoft.com/office/powerpoint/2010/main" val="4002801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Relating Pods and </a:t>
            </a:r>
            <a:r>
              <a:rPr lang="en-US" altLang="ko-KR" sz="2800" b="1" dirty="0" err="1"/>
              <a:t>ReplicaSets</a:t>
            </a:r>
            <a:r>
              <a:rPr lang="en-US" altLang="ko-KR" sz="2800" b="1" dirty="0"/>
              <a:t>(3/3)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Quarantining Containers :</a:t>
            </a:r>
          </a:p>
          <a:p>
            <a:pPr lvl="1">
              <a:buFont typeface="Wingdings" panose="05000000000000000000" pitchFamily="2" charset="2"/>
              <a:buChar char="§"/>
            </a:pPr>
            <a:r>
              <a:rPr lang="en-US" altLang="ko-KR" sz="1400" b="1" dirty="0"/>
              <a:t>Oftentimes, when a server misbehaves, Pod-level health checks will automatically restart that Pod</a:t>
            </a:r>
            <a:r>
              <a:rPr lang="en-US" altLang="ko-KR" sz="1400" dirty="0"/>
              <a:t>. But if your health checks are incomplete, a Pod can be misbehaving but still be part of the replicated set. In these situations, </a:t>
            </a:r>
            <a:r>
              <a:rPr lang="en-US" altLang="ko-KR" sz="1400" b="1" dirty="0"/>
              <a:t>while it would work to simply kill the Pod, that would leave your developers with only logs to debug the problem</a:t>
            </a:r>
            <a:r>
              <a:rPr lang="en-US" altLang="ko-KR" sz="1400" dirty="0"/>
              <a:t>.</a:t>
            </a:r>
          </a:p>
          <a:p>
            <a:pPr lvl="1">
              <a:buFont typeface="Wingdings" panose="05000000000000000000" pitchFamily="2" charset="2"/>
              <a:buChar char="§"/>
            </a:pPr>
            <a:r>
              <a:rPr lang="en-US" altLang="ko-KR" sz="1400" b="1" dirty="0"/>
              <a:t>Instead, you can modify the set of labels on the “sick” Pod</a:t>
            </a:r>
            <a:r>
              <a:rPr lang="en-US" altLang="ko-KR" sz="1400" dirty="0"/>
              <a:t>. </a:t>
            </a:r>
            <a:r>
              <a:rPr lang="en-US" altLang="ko-KR" sz="1400" b="1" dirty="0"/>
              <a:t>Doing so will disassociate it from the </a:t>
            </a:r>
            <a:r>
              <a:rPr lang="en-US" altLang="ko-KR" sz="1400" b="1" dirty="0" err="1"/>
              <a:t>ReplicaSet</a:t>
            </a:r>
            <a:r>
              <a:rPr lang="en-US" altLang="ko-KR" sz="1400" b="1" dirty="0"/>
              <a:t> (and service) so that you can debug the Pod</a:t>
            </a:r>
            <a:r>
              <a:rPr lang="en-US" altLang="ko-KR" sz="1400" dirty="0"/>
              <a:t>. The </a:t>
            </a:r>
            <a:r>
              <a:rPr lang="en-US" altLang="ko-KR" sz="1400" b="1" dirty="0" err="1"/>
              <a:t>ReplicaSet</a:t>
            </a:r>
            <a:r>
              <a:rPr lang="en-US" altLang="ko-KR" sz="1400" b="1" dirty="0"/>
              <a:t> controller</a:t>
            </a:r>
            <a:r>
              <a:rPr lang="en-US" altLang="ko-KR" sz="1400" dirty="0"/>
              <a:t> will notice that a Pod is missing and create a new copy, but </a:t>
            </a:r>
            <a:r>
              <a:rPr lang="en-US" altLang="ko-KR" sz="1400" b="1" dirty="0"/>
              <a:t>because the Pod is still running it is available to developers for interactive debugging</a:t>
            </a:r>
            <a:r>
              <a:rPr lang="en-US" altLang="ko-KR" sz="1400" dirty="0"/>
              <a:t>, which is significantly more valuable than debugging from logs.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43</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aphicFrame>
        <p:nvGraphicFramePr>
          <p:cNvPr id="8" name="개체 7">
            <a:extLst>
              <a:ext uri="{FF2B5EF4-FFF2-40B4-BE49-F238E27FC236}">
                <a16:creationId xmlns:a16="http://schemas.microsoft.com/office/drawing/2014/main" id="{9418DEF8-6B88-461C-9AC0-8DCEBBFC2EBB}"/>
              </a:ext>
            </a:extLst>
          </p:cNvPr>
          <p:cNvGraphicFramePr>
            <a:graphicFrameLocks noChangeAspect="1"/>
          </p:cNvGraphicFramePr>
          <p:nvPr>
            <p:extLst>
              <p:ext uri="{D42A27DB-BD31-4B8C-83A1-F6EECF244321}">
                <p14:modId xmlns:p14="http://schemas.microsoft.com/office/powerpoint/2010/main" val="3706693431"/>
              </p:ext>
            </p:extLst>
          </p:nvPr>
        </p:nvGraphicFramePr>
        <p:xfrm>
          <a:off x="3225904" y="2969786"/>
          <a:ext cx="5740191" cy="3439244"/>
        </p:xfrm>
        <a:graphic>
          <a:graphicData uri="http://schemas.openxmlformats.org/presentationml/2006/ole">
            <mc:AlternateContent xmlns:mc="http://schemas.openxmlformats.org/markup-compatibility/2006">
              <mc:Choice xmlns:v="urn:schemas-microsoft-com:vml" Requires="v">
                <p:oleObj name="비트맵 이미지" r:id="rId2" imgW="8982000" imgH="5381640" progId="Paint.Picture">
                  <p:embed/>
                </p:oleObj>
              </mc:Choice>
              <mc:Fallback>
                <p:oleObj name="비트맵 이미지" r:id="rId2" imgW="8982000" imgH="5381640" progId="Paint.Picture">
                  <p:embed/>
                  <p:pic>
                    <p:nvPicPr>
                      <p:cNvPr id="0" name=""/>
                      <p:cNvPicPr/>
                      <p:nvPr/>
                    </p:nvPicPr>
                    <p:blipFill>
                      <a:blip r:embed="rId3"/>
                      <a:stretch>
                        <a:fillRect/>
                      </a:stretch>
                    </p:blipFill>
                    <p:spPr>
                      <a:xfrm>
                        <a:off x="3225904" y="2969786"/>
                        <a:ext cx="5740191" cy="3439244"/>
                      </a:xfrm>
                      <a:prstGeom prst="rect">
                        <a:avLst/>
                      </a:prstGeom>
                      <a:ln>
                        <a:solidFill>
                          <a:schemeClr val="bg1">
                            <a:lumMod val="50000"/>
                          </a:schemeClr>
                        </a:solidFill>
                      </a:ln>
                    </p:spPr>
                  </p:pic>
                </p:oleObj>
              </mc:Fallback>
            </mc:AlternateContent>
          </a:graphicData>
        </a:graphic>
      </p:graphicFrame>
    </p:spTree>
    <p:extLst>
      <p:ext uri="{BB962C8B-B14F-4D97-AF65-F5344CB8AC3E}">
        <p14:creationId xmlns:p14="http://schemas.microsoft.com/office/powerpoint/2010/main" val="28500363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Designing with </a:t>
            </a:r>
            <a:r>
              <a:rPr lang="en-US" altLang="ko-KR" sz="2800" b="1" dirty="0" err="1"/>
              <a:t>ReplicaSets</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 Single, Scalable, Stateless Service :</a:t>
            </a:r>
          </a:p>
          <a:p>
            <a:pPr lvl="1">
              <a:buFont typeface="Wingdings" panose="05000000000000000000" pitchFamily="2" charset="2"/>
              <a:buChar char="§"/>
            </a:pPr>
            <a:r>
              <a:rPr lang="en-US" altLang="ko-KR" sz="1400" b="1" dirty="0" err="1"/>
              <a:t>ReplicaSets</a:t>
            </a:r>
            <a:r>
              <a:rPr lang="en-US" altLang="ko-KR" sz="1400" b="1" dirty="0"/>
              <a:t> are designed to represent “</a:t>
            </a:r>
            <a:r>
              <a:rPr lang="en-US" altLang="ko-KR" sz="1400" b="1" dirty="0">
                <a:solidFill>
                  <a:srgbClr val="FF0000"/>
                </a:solidFill>
              </a:rPr>
              <a:t>a single, scalable microservice</a:t>
            </a:r>
            <a:r>
              <a:rPr lang="en-US" altLang="ko-KR" sz="1400" b="1" dirty="0"/>
              <a:t>“</a:t>
            </a:r>
            <a:r>
              <a:rPr lang="en-US" altLang="ko-KR" sz="1400" b="1" dirty="0">
                <a:solidFill>
                  <a:srgbClr val="FF0000"/>
                </a:solidFill>
              </a:rPr>
              <a:t> </a:t>
            </a:r>
            <a:r>
              <a:rPr lang="en-US" altLang="ko-KR" sz="1400" b="1" dirty="0"/>
              <a:t>inside your architecture</a:t>
            </a:r>
            <a:r>
              <a:rPr lang="en-US" altLang="ko-KR" sz="1400" dirty="0"/>
              <a:t>. The key characteristic of </a:t>
            </a:r>
            <a:r>
              <a:rPr lang="en-US" altLang="ko-KR" sz="1400" b="1" dirty="0" err="1"/>
              <a:t>ReplicaSets</a:t>
            </a:r>
            <a:r>
              <a:rPr lang="en-US" altLang="ko-KR" sz="1400" dirty="0"/>
              <a:t> is that </a:t>
            </a:r>
            <a:r>
              <a:rPr lang="en-US" altLang="ko-KR" sz="1400" b="1" dirty="0"/>
              <a:t>every Pod that is created by the </a:t>
            </a:r>
            <a:r>
              <a:rPr lang="en-US" altLang="ko-KR" sz="1400" b="1" dirty="0" err="1"/>
              <a:t>ReplicaSet</a:t>
            </a:r>
            <a:r>
              <a:rPr lang="en-US" altLang="ko-KR" sz="1400" b="1" dirty="0"/>
              <a:t> controller is </a:t>
            </a:r>
            <a:r>
              <a:rPr lang="en-US" altLang="ko-KR" sz="1400" b="1" dirty="0">
                <a:solidFill>
                  <a:srgbClr val="FF0000"/>
                </a:solidFill>
              </a:rPr>
              <a:t>entirely homogeneous</a:t>
            </a:r>
            <a:r>
              <a:rPr lang="en-US" altLang="ko-KR" sz="1400" dirty="0"/>
              <a:t>. </a:t>
            </a:r>
            <a:r>
              <a:rPr lang="en-US" altLang="ko-KR" sz="1400" b="1" dirty="0"/>
              <a:t>Typically, these Pods are then fronted by a Kubernetes service load balancer, which spreads traffic across the Pods that make up the service</a:t>
            </a:r>
            <a:r>
              <a:rPr lang="en-US" altLang="ko-KR" sz="1400" dirty="0"/>
              <a:t>. </a:t>
            </a:r>
          </a:p>
          <a:p>
            <a:pPr lvl="1">
              <a:buFont typeface="Wingdings" panose="05000000000000000000" pitchFamily="2" charset="2"/>
              <a:buChar char="§"/>
            </a:pPr>
            <a:r>
              <a:rPr lang="en-US" altLang="ko-KR" sz="1400" b="1" dirty="0"/>
              <a:t>Generally speaking, </a:t>
            </a:r>
            <a:r>
              <a:rPr lang="en-US" altLang="ko-KR" sz="1400" b="1" dirty="0" err="1"/>
              <a:t>ReplicaSets</a:t>
            </a:r>
            <a:r>
              <a:rPr lang="en-US" altLang="ko-KR" sz="1400" b="1" dirty="0"/>
              <a:t> are designed for “</a:t>
            </a:r>
            <a:r>
              <a:rPr lang="en-US" altLang="ko-KR" sz="1400" b="1" dirty="0">
                <a:solidFill>
                  <a:srgbClr val="FF0000"/>
                </a:solidFill>
              </a:rPr>
              <a:t>stateless (or nearly stateless) services</a:t>
            </a:r>
            <a:r>
              <a:rPr lang="en-US" altLang="ko-KR" sz="1400" b="1" dirty="0"/>
              <a:t>”</a:t>
            </a:r>
            <a:r>
              <a:rPr lang="en-US" altLang="ko-KR" sz="1400" dirty="0"/>
              <a:t>. </a:t>
            </a:r>
            <a:r>
              <a:rPr lang="en-US" altLang="ko-KR" sz="1400" b="1" dirty="0"/>
              <a:t>The elements created by the </a:t>
            </a:r>
            <a:r>
              <a:rPr lang="en-US" altLang="ko-KR" sz="1400" b="1" dirty="0" err="1"/>
              <a:t>ReplicaSet</a:t>
            </a:r>
            <a:r>
              <a:rPr lang="en-US" altLang="ko-KR" sz="1400" b="1" dirty="0"/>
              <a:t> are interchangeable</a:t>
            </a:r>
            <a:r>
              <a:rPr lang="en-US" altLang="ko-KR" sz="1400" dirty="0"/>
              <a:t>; when a </a:t>
            </a:r>
            <a:r>
              <a:rPr lang="en-US" altLang="ko-KR" sz="1400" b="1" dirty="0" err="1"/>
              <a:t>ReplicaSet</a:t>
            </a:r>
            <a:r>
              <a:rPr lang="en-US" altLang="ko-KR" sz="1400" dirty="0"/>
              <a:t> is scaled down, an arbitrary Pod is selected for deletion. Your application’s behavior shouldn’t change because of such a scale-down operation.</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44</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96437842-1C77-48EB-8DC7-B58EB688D17D}"/>
              </a:ext>
            </a:extLst>
          </p:cNvPr>
          <p:cNvPicPr>
            <a:picLocks noChangeAspect="1"/>
          </p:cNvPicPr>
          <p:nvPr/>
        </p:nvPicPr>
        <p:blipFill>
          <a:blip r:embed="rId2"/>
          <a:stretch>
            <a:fillRect/>
          </a:stretch>
        </p:blipFill>
        <p:spPr>
          <a:xfrm>
            <a:off x="1723114" y="2934360"/>
            <a:ext cx="8745772" cy="3087679"/>
          </a:xfrm>
          <a:prstGeom prst="rect">
            <a:avLst/>
          </a:prstGeom>
        </p:spPr>
      </p:pic>
    </p:spTree>
    <p:extLst>
      <p:ext uri="{BB962C8B-B14F-4D97-AF65-F5344CB8AC3E}">
        <p14:creationId xmlns:p14="http://schemas.microsoft.com/office/powerpoint/2010/main" val="23240452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err="1"/>
              <a:t>ReplicaSet</a:t>
            </a:r>
            <a:r>
              <a:rPr lang="en-US" altLang="ko-KR" sz="2800" b="1" dirty="0"/>
              <a:t> Spec(1/3)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Specification :</a:t>
            </a:r>
          </a:p>
          <a:p>
            <a:pPr lvl="1">
              <a:buFont typeface="Wingdings" panose="05000000000000000000" pitchFamily="2" charset="2"/>
              <a:buChar char="§"/>
            </a:pPr>
            <a:r>
              <a:rPr lang="en-US" altLang="ko-KR" sz="1400" b="1" dirty="0"/>
              <a:t>Like all objects in Kubernetes, </a:t>
            </a:r>
            <a:r>
              <a:rPr lang="en-US" altLang="ko-KR" sz="1400" b="1" dirty="0" err="1"/>
              <a:t>ReplicaSets</a:t>
            </a:r>
            <a:r>
              <a:rPr lang="en-US" altLang="ko-KR" sz="1400" b="1" dirty="0"/>
              <a:t> are defined using a specification</a:t>
            </a:r>
            <a:r>
              <a:rPr lang="en-US" altLang="ko-KR" sz="1400" dirty="0"/>
              <a:t>. </a:t>
            </a:r>
            <a:r>
              <a:rPr lang="en-US" altLang="ko-KR" sz="1400" b="1" dirty="0"/>
              <a:t>All </a:t>
            </a:r>
            <a:r>
              <a:rPr lang="en-US" altLang="ko-KR" sz="1400" b="1" dirty="0" err="1"/>
              <a:t>ReplicaSets</a:t>
            </a:r>
            <a:r>
              <a:rPr lang="en-US" altLang="ko-KR" sz="1400" b="1" dirty="0"/>
              <a:t> must have a unique name (defined using the metadata.name field), a spec section</a:t>
            </a:r>
            <a:r>
              <a:rPr lang="en-US" altLang="ko-KR" sz="1400" dirty="0"/>
              <a:t> that describes the number of Pods (replicas) that should be running cluster-wide at any given time, and </a:t>
            </a:r>
            <a:r>
              <a:rPr lang="en-US" altLang="ko-KR" sz="1400" b="1" dirty="0"/>
              <a:t>a Pod template </a:t>
            </a:r>
            <a:r>
              <a:rPr lang="en-US" altLang="ko-KR" sz="1400" dirty="0"/>
              <a:t>that describes the Pod to be created when the defined number of replicas is not met. </a:t>
            </a:r>
          </a:p>
          <a:p>
            <a:pPr lvl="1">
              <a:buFont typeface="Wingdings" panose="05000000000000000000" pitchFamily="2" charset="2"/>
              <a:buChar char="§"/>
            </a:pPr>
            <a:r>
              <a:rPr lang="en-US" altLang="ko-KR" sz="1400" dirty="0"/>
              <a:t>The following YAML file shows </a:t>
            </a:r>
            <a:r>
              <a:rPr lang="en-US" altLang="ko-KR" sz="1400" b="1" dirty="0">
                <a:solidFill>
                  <a:srgbClr val="FF0000"/>
                </a:solidFill>
              </a:rPr>
              <a:t>a minimal </a:t>
            </a:r>
            <a:r>
              <a:rPr lang="en-US" altLang="ko-KR" sz="1400" b="1" dirty="0" err="1">
                <a:solidFill>
                  <a:srgbClr val="FF0000"/>
                </a:solidFill>
              </a:rPr>
              <a:t>ReplicaSet</a:t>
            </a:r>
            <a:r>
              <a:rPr lang="en-US" altLang="ko-KR" sz="1400" b="1" dirty="0">
                <a:solidFill>
                  <a:srgbClr val="FF0000"/>
                </a:solidFill>
              </a:rPr>
              <a:t> definition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45</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67887E4B-519B-49A5-8876-24DA101DE5CF}"/>
              </a:ext>
            </a:extLst>
          </p:cNvPr>
          <p:cNvGrpSpPr/>
          <p:nvPr/>
        </p:nvGrpSpPr>
        <p:grpSpPr>
          <a:xfrm>
            <a:off x="1656522" y="2430796"/>
            <a:ext cx="9697278" cy="2862322"/>
            <a:chOff x="1656522" y="2271770"/>
            <a:chExt cx="9697278" cy="2862322"/>
          </a:xfrm>
        </p:grpSpPr>
        <p:grpSp>
          <p:nvGrpSpPr>
            <p:cNvPr id="10" name="그룹 9">
              <a:extLst>
                <a:ext uri="{FF2B5EF4-FFF2-40B4-BE49-F238E27FC236}">
                  <a16:creationId xmlns:a16="http://schemas.microsoft.com/office/drawing/2014/main" id="{2C4B743D-583E-4DE7-9A6D-C61B9BD075E6}"/>
                </a:ext>
              </a:extLst>
            </p:cNvPr>
            <p:cNvGrpSpPr/>
            <p:nvPr/>
          </p:nvGrpSpPr>
          <p:grpSpPr>
            <a:xfrm>
              <a:off x="1656522" y="2271770"/>
              <a:ext cx="6096000" cy="2862322"/>
              <a:chOff x="1656522" y="2271770"/>
              <a:chExt cx="6096000" cy="2862322"/>
            </a:xfrm>
          </p:grpSpPr>
          <p:sp>
            <p:nvSpPr>
              <p:cNvPr id="8" name="직사각형 7">
                <a:extLst>
                  <a:ext uri="{FF2B5EF4-FFF2-40B4-BE49-F238E27FC236}">
                    <a16:creationId xmlns:a16="http://schemas.microsoft.com/office/drawing/2014/main" id="{E21E853E-4CF5-4BB3-ADDD-5F3A76FA60F7}"/>
                  </a:ext>
                </a:extLst>
              </p:cNvPr>
              <p:cNvSpPr/>
              <p:nvPr/>
            </p:nvSpPr>
            <p:spPr>
              <a:xfrm>
                <a:off x="1656522" y="2271770"/>
                <a:ext cx="6096000" cy="2862322"/>
              </a:xfrm>
              <a:prstGeom prst="rect">
                <a:avLst/>
              </a:prstGeom>
              <a:ln>
                <a:solidFill>
                  <a:schemeClr val="bg1">
                    <a:lumMod val="50000"/>
                  </a:schemeClr>
                </a:solidFill>
              </a:ln>
            </p:spPr>
            <p:txBody>
              <a:bodyPr>
                <a:spAutoFit/>
              </a:bodyPr>
              <a:lstStyle/>
              <a:p>
                <a:r>
                  <a:rPr lang="en-US" altLang="ko-KR" sz="1000" b="1" dirty="0" err="1"/>
                  <a:t>apiVersion</a:t>
                </a:r>
                <a:r>
                  <a:rPr lang="en-US" altLang="ko-KR" sz="1000" b="1" dirty="0"/>
                  <a:t>: </a:t>
                </a:r>
                <a:r>
                  <a:rPr lang="en-US" altLang="ko-KR" sz="1000" b="1" dirty="0">
                    <a:solidFill>
                      <a:srgbClr val="FF0000"/>
                    </a:solidFill>
                  </a:rPr>
                  <a:t>apps/v1</a:t>
                </a:r>
              </a:p>
              <a:p>
                <a:r>
                  <a:rPr lang="en-US" altLang="ko-KR" sz="1000" b="1" dirty="0"/>
                  <a:t>kind: </a:t>
                </a:r>
                <a:r>
                  <a:rPr lang="en-US" altLang="ko-KR" sz="1000" b="1" dirty="0" err="1">
                    <a:solidFill>
                      <a:srgbClr val="FF0000"/>
                    </a:solidFill>
                  </a:rPr>
                  <a:t>ReplicaSet</a:t>
                </a:r>
                <a:endParaRPr lang="en-US" altLang="ko-KR" sz="1000" b="1" dirty="0">
                  <a:solidFill>
                    <a:srgbClr val="FF0000"/>
                  </a:solidFill>
                </a:endParaRPr>
              </a:p>
              <a:p>
                <a:r>
                  <a:rPr lang="en-US" altLang="ko-KR" sz="1000" b="1" dirty="0"/>
                  <a:t>metadata:</a:t>
                </a:r>
              </a:p>
              <a:p>
                <a:r>
                  <a:rPr lang="en-US" altLang="ko-KR" sz="1000" b="1" dirty="0"/>
                  <a:t>  name: </a:t>
                </a:r>
                <a:r>
                  <a:rPr lang="en-US" altLang="ko-KR" sz="1000" b="1" dirty="0" err="1">
                    <a:solidFill>
                      <a:srgbClr val="FF0000"/>
                    </a:solidFill>
                  </a:rPr>
                  <a:t>kuard</a:t>
                </a:r>
                <a:endParaRPr lang="en-US" altLang="ko-KR" sz="1000" b="1" dirty="0">
                  <a:solidFill>
                    <a:srgbClr val="FF0000"/>
                  </a:solidFill>
                </a:endParaRPr>
              </a:p>
              <a:p>
                <a:r>
                  <a:rPr lang="en-US" altLang="ko-KR" sz="1000" b="1" dirty="0"/>
                  <a:t>spec:</a:t>
                </a:r>
              </a:p>
              <a:p>
                <a:r>
                  <a:rPr lang="en-US" altLang="ko-KR" sz="1000" b="1" dirty="0"/>
                  <a:t>  replicas: </a:t>
                </a:r>
                <a:r>
                  <a:rPr lang="en-US" altLang="ko-KR" sz="1000" b="1" dirty="0">
                    <a:solidFill>
                      <a:srgbClr val="FF0000"/>
                    </a:solidFill>
                  </a:rPr>
                  <a:t>1</a:t>
                </a:r>
              </a:p>
              <a:p>
                <a:r>
                  <a:rPr lang="en-US" altLang="ko-KR" sz="1000" b="1" dirty="0"/>
                  <a:t>  selector:</a:t>
                </a:r>
              </a:p>
              <a:p>
                <a:r>
                  <a:rPr lang="en-US" altLang="ko-KR" sz="1000" b="1" dirty="0"/>
                  <a:t>    </a:t>
                </a:r>
                <a:r>
                  <a:rPr lang="en-US" altLang="ko-KR" sz="1000" b="1" dirty="0" err="1"/>
                  <a:t>matchLabels</a:t>
                </a:r>
                <a:r>
                  <a:rPr lang="en-US" altLang="ko-KR" sz="1000" b="1" dirty="0"/>
                  <a:t>:</a:t>
                </a:r>
              </a:p>
              <a:p>
                <a:r>
                  <a:rPr lang="en-US" altLang="ko-KR" sz="1000" b="1" dirty="0"/>
                  <a:t>      app: </a:t>
                </a:r>
                <a:r>
                  <a:rPr lang="en-US" altLang="ko-KR" sz="1000" b="1" dirty="0" err="1">
                    <a:solidFill>
                      <a:srgbClr val="FF0000"/>
                    </a:solidFill>
                  </a:rPr>
                  <a:t>kuard</a:t>
                </a:r>
                <a:endParaRPr lang="en-US" altLang="ko-KR" sz="1000" b="1" dirty="0">
                  <a:solidFill>
                    <a:srgbClr val="FF0000"/>
                  </a:solidFill>
                </a:endParaRPr>
              </a:p>
              <a:p>
                <a:r>
                  <a:rPr lang="en-US" altLang="ko-KR" sz="1000" b="1" dirty="0"/>
                  <a:t>  template:</a:t>
                </a:r>
              </a:p>
              <a:p>
                <a:r>
                  <a:rPr lang="en-US" altLang="ko-KR" sz="1000" b="1" dirty="0"/>
                  <a:t>    metadata:</a:t>
                </a:r>
              </a:p>
              <a:p>
                <a:r>
                  <a:rPr lang="en-US" altLang="ko-KR" sz="1000" b="1" dirty="0"/>
                  <a:t>      labels:</a:t>
                </a:r>
              </a:p>
              <a:p>
                <a:r>
                  <a:rPr lang="en-US" altLang="ko-KR" sz="1000" b="1" dirty="0"/>
                  <a:t>        app: </a:t>
                </a:r>
                <a:r>
                  <a:rPr lang="en-US" altLang="ko-KR" sz="1000" b="1" dirty="0" err="1">
                    <a:solidFill>
                      <a:srgbClr val="FF0000"/>
                    </a:solidFill>
                  </a:rPr>
                  <a:t>kuard</a:t>
                </a:r>
                <a:endParaRPr lang="en-US" altLang="ko-KR" sz="1000" b="1" dirty="0">
                  <a:solidFill>
                    <a:srgbClr val="FF0000"/>
                  </a:solidFill>
                </a:endParaRPr>
              </a:p>
              <a:p>
                <a:r>
                  <a:rPr lang="en-US" altLang="ko-KR" sz="1000" b="1" dirty="0"/>
                  <a:t>        version: </a:t>
                </a:r>
                <a:r>
                  <a:rPr lang="en-US" altLang="ko-KR" sz="1000" b="1" dirty="0">
                    <a:solidFill>
                      <a:srgbClr val="FF0000"/>
                    </a:solidFill>
                  </a:rPr>
                  <a:t>"1"</a:t>
                </a:r>
              </a:p>
              <a:p>
                <a:r>
                  <a:rPr lang="en-US" altLang="ko-KR" sz="1000" b="1" dirty="0"/>
                  <a:t>    spec:</a:t>
                </a:r>
              </a:p>
              <a:p>
                <a:r>
                  <a:rPr lang="en-US" altLang="ko-KR" sz="1000" b="1" dirty="0"/>
                  <a:t>      containers:</a:t>
                </a:r>
              </a:p>
              <a:p>
                <a:r>
                  <a:rPr lang="en-US" altLang="ko-KR" sz="1000" b="1" dirty="0"/>
                  <a:t>        - name: </a:t>
                </a:r>
                <a:r>
                  <a:rPr lang="en-US" altLang="ko-KR" sz="1000" b="1" dirty="0" err="1">
                    <a:solidFill>
                      <a:srgbClr val="FF0000"/>
                    </a:solidFill>
                  </a:rPr>
                  <a:t>kuard</a:t>
                </a:r>
                <a:endParaRPr lang="en-US" altLang="ko-KR" sz="1000" b="1" dirty="0">
                  <a:solidFill>
                    <a:srgbClr val="FF0000"/>
                  </a:solidFill>
                </a:endParaRPr>
              </a:p>
              <a:p>
                <a:r>
                  <a:rPr lang="en-US" altLang="ko-KR" sz="1000" b="1" dirty="0"/>
                  <a:t>          image: </a:t>
                </a:r>
                <a:r>
                  <a:rPr lang="en-US" altLang="ko-KR" sz="1000" b="1" dirty="0">
                    <a:solidFill>
                      <a:srgbClr val="FF0000"/>
                    </a:solidFill>
                  </a:rPr>
                  <a:t>"knix008/kuard-shkwon-amd64:1.0"</a:t>
                </a:r>
                <a:endParaRPr lang="ko-KR" altLang="en-US" sz="1000" b="1" dirty="0">
                  <a:solidFill>
                    <a:srgbClr val="FF0000"/>
                  </a:solidFill>
                </a:endParaRPr>
              </a:p>
            </p:txBody>
          </p:sp>
          <p:sp>
            <p:nvSpPr>
              <p:cNvPr id="9" name="TextBox 8">
                <a:extLst>
                  <a:ext uri="{FF2B5EF4-FFF2-40B4-BE49-F238E27FC236}">
                    <a16:creationId xmlns:a16="http://schemas.microsoft.com/office/drawing/2014/main" id="{EF29787F-25AB-4C94-AF2F-F8AE30BDE124}"/>
                  </a:ext>
                </a:extLst>
              </p:cNvPr>
              <p:cNvSpPr txBox="1"/>
              <p:nvPr/>
            </p:nvSpPr>
            <p:spPr>
              <a:xfrm>
                <a:off x="6732691" y="2271770"/>
                <a:ext cx="1019831" cy="246221"/>
              </a:xfrm>
              <a:prstGeom prst="rect">
                <a:avLst/>
              </a:prstGeom>
              <a:noFill/>
            </p:spPr>
            <p:txBody>
              <a:bodyPr wrap="none" rtlCol="0">
                <a:spAutoFit/>
              </a:bodyPr>
              <a:lstStyle/>
              <a:p>
                <a:pPr algn="ctr"/>
                <a:r>
                  <a:rPr lang="en-US" altLang="ko-KR" sz="1000" b="1" dirty="0" err="1"/>
                  <a:t>kuard-rs.yaml</a:t>
                </a:r>
                <a:endParaRPr lang="ko-KR" altLang="en-US" sz="1000" b="1" dirty="0"/>
              </a:p>
            </p:txBody>
          </p:sp>
        </p:grpSp>
        <p:grpSp>
          <p:nvGrpSpPr>
            <p:cNvPr id="13" name="그룹 12">
              <a:extLst>
                <a:ext uri="{FF2B5EF4-FFF2-40B4-BE49-F238E27FC236}">
                  <a16:creationId xmlns:a16="http://schemas.microsoft.com/office/drawing/2014/main" id="{98674A2F-B66B-4DE1-8B1E-22C665F2616D}"/>
                </a:ext>
              </a:extLst>
            </p:cNvPr>
            <p:cNvGrpSpPr/>
            <p:nvPr/>
          </p:nvGrpSpPr>
          <p:grpSpPr>
            <a:xfrm>
              <a:off x="3533692" y="2987654"/>
              <a:ext cx="7820108" cy="1430553"/>
              <a:chOff x="3533692" y="2987654"/>
              <a:chExt cx="7820108" cy="1430553"/>
            </a:xfrm>
          </p:grpSpPr>
          <p:pic>
            <p:nvPicPr>
              <p:cNvPr id="11" name="그림 10">
                <a:extLst>
                  <a:ext uri="{FF2B5EF4-FFF2-40B4-BE49-F238E27FC236}">
                    <a16:creationId xmlns:a16="http://schemas.microsoft.com/office/drawing/2014/main" id="{117887C0-3BB6-4D78-B2FB-A9A98E4F66E6}"/>
                  </a:ext>
                </a:extLst>
              </p:cNvPr>
              <p:cNvPicPr>
                <a:picLocks noChangeAspect="1"/>
              </p:cNvPicPr>
              <p:nvPr/>
            </p:nvPicPr>
            <p:blipFill>
              <a:blip r:embed="rId2"/>
              <a:stretch>
                <a:fillRect/>
              </a:stretch>
            </p:blipFill>
            <p:spPr>
              <a:xfrm>
                <a:off x="3824577" y="2987654"/>
                <a:ext cx="7529223" cy="1430553"/>
              </a:xfrm>
              <a:prstGeom prst="rect">
                <a:avLst/>
              </a:prstGeom>
              <a:ln>
                <a:solidFill>
                  <a:schemeClr val="bg1">
                    <a:lumMod val="50000"/>
                  </a:schemeClr>
                </a:solidFill>
              </a:ln>
            </p:spPr>
          </p:pic>
          <p:sp>
            <p:nvSpPr>
              <p:cNvPr id="12" name="화살표: 오른쪽 11">
                <a:extLst>
                  <a:ext uri="{FF2B5EF4-FFF2-40B4-BE49-F238E27FC236}">
                    <a16:creationId xmlns:a16="http://schemas.microsoft.com/office/drawing/2014/main" id="{911875EE-F003-47EB-BD45-86C5E6746540}"/>
                  </a:ext>
                </a:extLst>
              </p:cNvPr>
              <p:cNvSpPr/>
              <p:nvPr/>
            </p:nvSpPr>
            <p:spPr>
              <a:xfrm>
                <a:off x="3533692" y="3534817"/>
                <a:ext cx="290885" cy="336226"/>
              </a:xfrm>
              <a:prstGeom prst="right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Tree>
    <p:extLst>
      <p:ext uri="{BB962C8B-B14F-4D97-AF65-F5344CB8AC3E}">
        <p14:creationId xmlns:p14="http://schemas.microsoft.com/office/powerpoint/2010/main" val="41138834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err="1"/>
              <a:t>ReplicaSet</a:t>
            </a:r>
            <a:r>
              <a:rPr lang="en-US" altLang="ko-KR" sz="2800" b="1" dirty="0"/>
              <a:t> Spec(2/3)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Pod Template :</a:t>
            </a:r>
          </a:p>
          <a:p>
            <a:pPr lvl="1">
              <a:buFont typeface="Wingdings" panose="05000000000000000000" pitchFamily="2" charset="2"/>
              <a:buChar char="§"/>
            </a:pPr>
            <a:r>
              <a:rPr lang="en-US" altLang="ko-KR" sz="1400" b="1" dirty="0"/>
              <a:t>When the number of Pods in the current state is less than the number of Pods in the desired state, the </a:t>
            </a:r>
            <a:r>
              <a:rPr lang="en-US" altLang="ko-KR" sz="1400" b="1" dirty="0" err="1"/>
              <a:t>ReplicaSet</a:t>
            </a:r>
            <a:r>
              <a:rPr lang="en-US" altLang="ko-KR" sz="1400" b="1" dirty="0"/>
              <a:t> controller will create new Pods</a:t>
            </a:r>
            <a:r>
              <a:rPr lang="en-US" altLang="ko-KR" sz="1400" dirty="0"/>
              <a:t>. </a:t>
            </a:r>
            <a:r>
              <a:rPr lang="en-US" altLang="ko-KR" sz="1400" b="1" dirty="0"/>
              <a:t>The Pods are created using a Pod template that is contained in the </a:t>
            </a:r>
            <a:r>
              <a:rPr lang="en-US" altLang="ko-KR" sz="1400" b="1" dirty="0" err="1"/>
              <a:t>ReplicaSet</a:t>
            </a:r>
            <a:r>
              <a:rPr lang="en-US" altLang="ko-KR" sz="1400" b="1" dirty="0"/>
              <a:t> specification</a:t>
            </a:r>
            <a:r>
              <a:rPr lang="en-US" altLang="ko-KR" sz="1400" dirty="0"/>
              <a:t>. The Pods are created in exactly the same manner as when you created a Pod from a </a:t>
            </a:r>
            <a:r>
              <a:rPr lang="en-US" altLang="ko-KR" sz="1400" b="1" dirty="0"/>
              <a:t>YAML</a:t>
            </a:r>
            <a:r>
              <a:rPr lang="en-US" altLang="ko-KR" sz="1400" dirty="0"/>
              <a:t> file, but instead of using a file, </a:t>
            </a:r>
            <a:r>
              <a:rPr lang="en-US" altLang="ko-KR" sz="1400" b="1" dirty="0"/>
              <a:t>the Kubernetes </a:t>
            </a:r>
            <a:r>
              <a:rPr lang="en-US" altLang="ko-KR" sz="1400" b="1" dirty="0" err="1"/>
              <a:t>ReplicaSet</a:t>
            </a:r>
            <a:r>
              <a:rPr lang="en-US" altLang="ko-KR" sz="1400" b="1" dirty="0"/>
              <a:t> controller creates and submits a “</a:t>
            </a:r>
            <a:r>
              <a:rPr lang="en-US" altLang="ko-KR" sz="1400" b="1" dirty="0">
                <a:solidFill>
                  <a:srgbClr val="FF0000"/>
                </a:solidFill>
              </a:rPr>
              <a:t>Pod manifest</a:t>
            </a:r>
            <a:r>
              <a:rPr lang="en-US" altLang="ko-KR" sz="1400" b="1" dirty="0"/>
              <a:t>” based on the “</a:t>
            </a:r>
            <a:r>
              <a:rPr lang="en-US" altLang="ko-KR" sz="1400" b="1" dirty="0">
                <a:solidFill>
                  <a:srgbClr val="FF0000"/>
                </a:solidFill>
              </a:rPr>
              <a:t>Pod template</a:t>
            </a:r>
            <a:r>
              <a:rPr lang="en-US" altLang="ko-KR" sz="1400" b="1" dirty="0"/>
              <a:t>” directly to the API server</a:t>
            </a:r>
            <a:r>
              <a:rPr lang="en-US" altLang="ko-KR" sz="1400" dirty="0"/>
              <a:t>.</a:t>
            </a:r>
          </a:p>
          <a:p>
            <a:pPr lvl="1">
              <a:buFont typeface="Wingdings" panose="05000000000000000000" pitchFamily="2" charset="2"/>
              <a:buChar char="§"/>
            </a:pPr>
            <a:r>
              <a:rPr lang="en-US" altLang="ko-KR" sz="1400" dirty="0"/>
              <a:t>The following shows </a:t>
            </a:r>
            <a:r>
              <a:rPr lang="en-US" altLang="ko-KR" sz="1400" b="1" dirty="0"/>
              <a:t>an example of a Pod template in a </a:t>
            </a:r>
            <a:r>
              <a:rPr lang="en-US" altLang="ko-KR" sz="1400" b="1" dirty="0" err="1"/>
              <a:t>ReplicaSet</a:t>
            </a:r>
            <a:r>
              <a:rPr lang="en-US" altLang="ko-KR" sz="1400" b="1" dirty="0"/>
              <a:t> </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46</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2401F57F-49E0-4A45-B4C9-020A3388AD4A}"/>
              </a:ext>
            </a:extLst>
          </p:cNvPr>
          <p:cNvGrpSpPr/>
          <p:nvPr/>
        </p:nvGrpSpPr>
        <p:grpSpPr>
          <a:xfrm>
            <a:off x="1616766" y="2537061"/>
            <a:ext cx="9737034" cy="3170099"/>
            <a:chOff x="1616766" y="2537061"/>
            <a:chExt cx="9737034" cy="3170099"/>
          </a:xfrm>
        </p:grpSpPr>
        <p:sp>
          <p:nvSpPr>
            <p:cNvPr id="4" name="직사각형 3">
              <a:extLst>
                <a:ext uri="{FF2B5EF4-FFF2-40B4-BE49-F238E27FC236}">
                  <a16:creationId xmlns:a16="http://schemas.microsoft.com/office/drawing/2014/main" id="{C2813972-35C1-41B8-BB09-E851FA0B2D28}"/>
                </a:ext>
              </a:extLst>
            </p:cNvPr>
            <p:cNvSpPr/>
            <p:nvPr/>
          </p:nvSpPr>
          <p:spPr>
            <a:xfrm>
              <a:off x="1616766" y="2537061"/>
              <a:ext cx="6096000" cy="3170099"/>
            </a:xfrm>
            <a:prstGeom prst="rect">
              <a:avLst/>
            </a:prstGeom>
            <a:ln>
              <a:solidFill>
                <a:schemeClr val="bg1">
                  <a:lumMod val="50000"/>
                </a:schemeClr>
              </a:solidFill>
            </a:ln>
          </p:spPr>
          <p:txBody>
            <a:bodyPr>
              <a:spAutoFit/>
            </a:bodyPr>
            <a:lstStyle/>
            <a:p>
              <a:r>
                <a:rPr lang="en-US" altLang="ko-KR" sz="1000" b="1" dirty="0" err="1"/>
                <a:t>apiVersion</a:t>
              </a:r>
              <a:r>
                <a:rPr lang="en-US" altLang="ko-KR" sz="1000" b="1" dirty="0"/>
                <a:t>: apps/v1</a:t>
              </a:r>
            </a:p>
            <a:p>
              <a:r>
                <a:rPr lang="en-US" altLang="ko-KR" sz="1000" b="1" dirty="0"/>
                <a:t>kind: </a:t>
              </a:r>
              <a:r>
                <a:rPr lang="en-US" altLang="ko-KR" sz="1000" b="1" dirty="0" err="1"/>
                <a:t>ReplicaSet</a:t>
              </a:r>
              <a:endParaRPr lang="en-US" altLang="ko-KR" sz="1000" b="1" dirty="0"/>
            </a:p>
            <a:p>
              <a:r>
                <a:rPr lang="en-US" altLang="ko-KR" sz="1000" b="1" dirty="0"/>
                <a:t>metadata:</a:t>
              </a:r>
            </a:p>
            <a:p>
              <a:r>
                <a:rPr lang="en-US" altLang="ko-KR" sz="1000" b="1" dirty="0"/>
                <a:t>  name: </a:t>
              </a:r>
              <a:r>
                <a:rPr lang="en-US" altLang="ko-KR" sz="1000" b="1" dirty="0" err="1">
                  <a:solidFill>
                    <a:srgbClr val="FF0000"/>
                  </a:solidFill>
                </a:rPr>
                <a:t>helloworld</a:t>
              </a:r>
              <a:endParaRPr lang="en-US" altLang="ko-KR" sz="1000" b="1" dirty="0">
                <a:solidFill>
                  <a:srgbClr val="FF0000"/>
                </a:solidFill>
              </a:endParaRPr>
            </a:p>
            <a:p>
              <a:r>
                <a:rPr lang="en-US" altLang="ko-KR" sz="1000" b="1" dirty="0"/>
                <a:t>spec:</a:t>
              </a:r>
            </a:p>
            <a:p>
              <a:r>
                <a:rPr lang="en-US" altLang="ko-KR" sz="1000" b="1" dirty="0"/>
                <a:t>  replicas: 1</a:t>
              </a:r>
            </a:p>
            <a:p>
              <a:r>
                <a:rPr lang="en-US" altLang="ko-KR" sz="1000" b="1" dirty="0"/>
                <a:t>  selector:</a:t>
              </a:r>
            </a:p>
            <a:p>
              <a:r>
                <a:rPr lang="en-US" altLang="ko-KR" sz="1000" b="1" dirty="0"/>
                <a:t>    </a:t>
              </a:r>
              <a:r>
                <a:rPr lang="en-US" altLang="ko-KR" sz="1000" b="1" dirty="0" err="1"/>
                <a:t>matchLabels</a:t>
              </a:r>
              <a:r>
                <a:rPr lang="en-US" altLang="ko-KR" sz="1000" b="1" dirty="0"/>
                <a:t>:</a:t>
              </a:r>
            </a:p>
            <a:p>
              <a:r>
                <a:rPr lang="en-US" altLang="ko-KR" sz="1000" b="1" dirty="0"/>
                <a:t>      app: </a:t>
              </a:r>
              <a:r>
                <a:rPr lang="en-US" altLang="ko-KR" sz="1000" b="1" dirty="0" err="1">
                  <a:solidFill>
                    <a:srgbClr val="FF0000"/>
                  </a:solidFill>
                </a:rPr>
                <a:t>helloworld</a:t>
              </a:r>
              <a:endParaRPr lang="en-US" altLang="ko-KR" sz="1000" b="1" dirty="0">
                <a:solidFill>
                  <a:srgbClr val="FF0000"/>
                </a:solidFill>
              </a:endParaRPr>
            </a:p>
            <a:p>
              <a:r>
                <a:rPr lang="en-US" altLang="ko-KR" sz="1000" b="1" dirty="0"/>
                <a:t>  template:</a:t>
              </a:r>
            </a:p>
            <a:p>
              <a:r>
                <a:rPr lang="en-US" altLang="ko-KR" sz="1000" b="1" dirty="0"/>
                <a:t>    metadata:</a:t>
              </a:r>
            </a:p>
            <a:p>
              <a:r>
                <a:rPr lang="en-US" altLang="ko-KR" sz="1000" b="1" dirty="0"/>
                <a:t>      labels:</a:t>
              </a:r>
            </a:p>
            <a:p>
              <a:r>
                <a:rPr lang="en-US" altLang="ko-KR" sz="1000" b="1" dirty="0"/>
                <a:t>        app: </a:t>
              </a:r>
              <a:r>
                <a:rPr lang="en-US" altLang="ko-KR" sz="1000" b="1" dirty="0" err="1">
                  <a:solidFill>
                    <a:srgbClr val="FF0000"/>
                  </a:solidFill>
                </a:rPr>
                <a:t>helloworld</a:t>
              </a:r>
              <a:endParaRPr lang="en-US" altLang="ko-KR" sz="1000" b="1" dirty="0">
                <a:solidFill>
                  <a:srgbClr val="FF0000"/>
                </a:solidFill>
              </a:endParaRPr>
            </a:p>
            <a:p>
              <a:r>
                <a:rPr lang="en-US" altLang="ko-KR" sz="1000" b="1" dirty="0"/>
                <a:t>        version: </a:t>
              </a:r>
              <a:r>
                <a:rPr lang="en-US" altLang="ko-KR" sz="1000" b="1" dirty="0">
                  <a:solidFill>
                    <a:srgbClr val="FF0000"/>
                  </a:solidFill>
                </a:rPr>
                <a:t>v1</a:t>
              </a:r>
            </a:p>
            <a:p>
              <a:r>
                <a:rPr lang="en-US" altLang="ko-KR" sz="1000" b="1" dirty="0"/>
                <a:t>    spec:</a:t>
              </a:r>
            </a:p>
            <a:p>
              <a:r>
                <a:rPr lang="en-US" altLang="ko-KR" sz="1000" b="1" dirty="0"/>
                <a:t>      containers:</a:t>
              </a:r>
            </a:p>
            <a:p>
              <a:r>
                <a:rPr lang="en-US" altLang="ko-KR" sz="1000" b="1" dirty="0"/>
                <a:t>        - name: </a:t>
              </a:r>
              <a:r>
                <a:rPr lang="en-US" altLang="ko-KR" sz="1000" b="1" dirty="0" err="1">
                  <a:solidFill>
                    <a:srgbClr val="FF0000"/>
                  </a:solidFill>
                </a:rPr>
                <a:t>helloworld</a:t>
              </a:r>
              <a:endParaRPr lang="en-US" altLang="ko-KR" sz="1000" b="1" dirty="0">
                <a:solidFill>
                  <a:srgbClr val="FF0000"/>
                </a:solidFill>
              </a:endParaRPr>
            </a:p>
            <a:p>
              <a:r>
                <a:rPr lang="en-US" altLang="ko-KR" sz="1000" b="1" dirty="0"/>
                <a:t>          image: </a:t>
              </a:r>
              <a:r>
                <a:rPr lang="en-US" altLang="ko-KR" sz="1000" b="1" dirty="0" err="1">
                  <a:solidFill>
                    <a:srgbClr val="FF0000"/>
                  </a:solidFill>
                </a:rPr>
                <a:t>kelseyhightower</a:t>
              </a:r>
              <a:r>
                <a:rPr lang="en-US" altLang="ko-KR" sz="1000" b="1" dirty="0">
                  <a:solidFill>
                    <a:srgbClr val="FF0000"/>
                  </a:solidFill>
                </a:rPr>
                <a:t>/helloworld:v1</a:t>
              </a:r>
            </a:p>
            <a:p>
              <a:r>
                <a:rPr lang="en-US" altLang="ko-KR" sz="1000" b="1" dirty="0"/>
                <a:t>          ports:</a:t>
              </a:r>
            </a:p>
            <a:p>
              <a:r>
                <a:rPr lang="en-US" altLang="ko-KR" sz="1000" b="1" dirty="0"/>
                <a:t>          - </a:t>
              </a:r>
              <a:r>
                <a:rPr lang="en-US" altLang="ko-KR" sz="1000" b="1" dirty="0" err="1"/>
                <a:t>containerPort</a:t>
              </a:r>
              <a:r>
                <a:rPr lang="en-US" altLang="ko-KR" sz="1000" b="1" dirty="0"/>
                <a:t>: </a:t>
              </a:r>
              <a:r>
                <a:rPr lang="en-US" altLang="ko-KR" sz="1000" b="1" dirty="0">
                  <a:solidFill>
                    <a:srgbClr val="FF0000"/>
                  </a:solidFill>
                </a:rPr>
                <a:t>80</a:t>
              </a:r>
              <a:endParaRPr lang="ko-KR" altLang="en-US" sz="1000" b="1" dirty="0">
                <a:solidFill>
                  <a:srgbClr val="FF0000"/>
                </a:solidFill>
              </a:endParaRPr>
            </a:p>
          </p:txBody>
        </p:sp>
        <p:grpSp>
          <p:nvGrpSpPr>
            <p:cNvPr id="10" name="그룹 9">
              <a:extLst>
                <a:ext uri="{FF2B5EF4-FFF2-40B4-BE49-F238E27FC236}">
                  <a16:creationId xmlns:a16="http://schemas.microsoft.com/office/drawing/2014/main" id="{90B0B1CB-F899-494D-BDC3-3FDC2492169E}"/>
                </a:ext>
              </a:extLst>
            </p:cNvPr>
            <p:cNvGrpSpPr/>
            <p:nvPr/>
          </p:nvGrpSpPr>
          <p:grpSpPr>
            <a:xfrm>
              <a:off x="3442913" y="3364417"/>
              <a:ext cx="7910887" cy="1515386"/>
              <a:chOff x="3442913" y="3303435"/>
              <a:chExt cx="7910887" cy="1515386"/>
            </a:xfrm>
          </p:grpSpPr>
          <p:pic>
            <p:nvPicPr>
              <p:cNvPr id="8" name="그림 7">
                <a:extLst>
                  <a:ext uri="{FF2B5EF4-FFF2-40B4-BE49-F238E27FC236}">
                    <a16:creationId xmlns:a16="http://schemas.microsoft.com/office/drawing/2014/main" id="{F62E0AB3-52AB-4999-9F48-0DC0688FC8E6}"/>
                  </a:ext>
                </a:extLst>
              </p:cNvPr>
              <p:cNvPicPr>
                <a:picLocks noChangeAspect="1"/>
              </p:cNvPicPr>
              <p:nvPr/>
            </p:nvPicPr>
            <p:blipFill>
              <a:blip r:embed="rId2"/>
              <a:stretch>
                <a:fillRect/>
              </a:stretch>
            </p:blipFill>
            <p:spPr>
              <a:xfrm>
                <a:off x="3776870" y="3303435"/>
                <a:ext cx="7576930" cy="1515386"/>
              </a:xfrm>
              <a:prstGeom prst="rect">
                <a:avLst/>
              </a:prstGeom>
              <a:ln>
                <a:solidFill>
                  <a:schemeClr val="bg1">
                    <a:lumMod val="50000"/>
                  </a:schemeClr>
                </a:solidFill>
              </a:ln>
            </p:spPr>
          </p:pic>
          <p:sp>
            <p:nvSpPr>
              <p:cNvPr id="9" name="화살표: 오른쪽 8">
                <a:extLst>
                  <a:ext uri="{FF2B5EF4-FFF2-40B4-BE49-F238E27FC236}">
                    <a16:creationId xmlns:a16="http://schemas.microsoft.com/office/drawing/2014/main" id="{60ABA460-522A-41F4-8174-BF64BA32DE3F}"/>
                  </a:ext>
                </a:extLst>
              </p:cNvPr>
              <p:cNvSpPr/>
              <p:nvPr/>
            </p:nvSpPr>
            <p:spPr>
              <a:xfrm>
                <a:off x="3442913" y="3894151"/>
                <a:ext cx="318052" cy="333954"/>
              </a:xfrm>
              <a:prstGeom prst="right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Tree>
    <p:extLst>
      <p:ext uri="{BB962C8B-B14F-4D97-AF65-F5344CB8AC3E}">
        <p14:creationId xmlns:p14="http://schemas.microsoft.com/office/powerpoint/2010/main" val="31790388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err="1"/>
              <a:t>ReplicaSet</a:t>
            </a:r>
            <a:r>
              <a:rPr lang="en-US" altLang="ko-KR" sz="2800" b="1" dirty="0"/>
              <a:t> Spec(3/3)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Labels :</a:t>
            </a:r>
          </a:p>
          <a:p>
            <a:pPr lvl="1">
              <a:buFont typeface="Wingdings" panose="05000000000000000000" pitchFamily="2" charset="2"/>
              <a:buChar char="§"/>
            </a:pPr>
            <a:r>
              <a:rPr lang="en-US" altLang="ko-KR" sz="1400" b="1" dirty="0"/>
              <a:t>How does the </a:t>
            </a:r>
            <a:r>
              <a:rPr lang="en-US" altLang="ko-KR" sz="1400" b="1" dirty="0" err="1"/>
              <a:t>ReplicaSet</a:t>
            </a:r>
            <a:r>
              <a:rPr lang="en-US" altLang="ko-KR" sz="1400" b="1" dirty="0"/>
              <a:t> reconciliation loop discover the set of Pods for a particular </a:t>
            </a:r>
            <a:r>
              <a:rPr lang="en-US" altLang="ko-KR" sz="1400" b="1" dirty="0" err="1"/>
              <a:t>ReplicaSet</a:t>
            </a:r>
            <a:r>
              <a:rPr lang="en-US" altLang="ko-KR" sz="1400" b="1" dirty="0"/>
              <a:t>? </a:t>
            </a:r>
            <a:r>
              <a:rPr lang="en-US" altLang="ko-KR" sz="1400" b="1" dirty="0" err="1"/>
              <a:t>ReplicaSets</a:t>
            </a:r>
            <a:r>
              <a:rPr lang="en-US" altLang="ko-KR" sz="1400" b="1" dirty="0"/>
              <a:t> monitor cluster state using a set of “Pod labels”</a:t>
            </a:r>
            <a:r>
              <a:rPr lang="en-US" altLang="ko-KR" sz="1400" dirty="0"/>
              <a:t>. Labels are used to filter Pod listings and track Pods running within a cluster. </a:t>
            </a:r>
            <a:r>
              <a:rPr lang="en-US" altLang="ko-KR" sz="1400" b="1" dirty="0"/>
              <a:t>When initially created, a </a:t>
            </a:r>
            <a:r>
              <a:rPr lang="en-US" altLang="ko-KR" sz="1400" b="1" dirty="0" err="1"/>
              <a:t>ReplicaSet</a:t>
            </a:r>
            <a:r>
              <a:rPr lang="en-US" altLang="ko-KR" sz="1400" b="1" dirty="0"/>
              <a:t> fetches a Pod listing from the Kubernetes API and filters the results by labels</a:t>
            </a:r>
            <a:r>
              <a:rPr lang="en-US" altLang="ko-KR" sz="1400" dirty="0"/>
              <a:t>. Based on the number of Pods returned by the query, </a:t>
            </a:r>
            <a:r>
              <a:rPr lang="en-US" altLang="ko-KR" sz="1400" b="1" dirty="0"/>
              <a:t>the </a:t>
            </a:r>
            <a:r>
              <a:rPr lang="en-US" altLang="ko-KR" sz="1400" b="1" dirty="0" err="1"/>
              <a:t>ReplicaSet</a:t>
            </a:r>
            <a:r>
              <a:rPr lang="en-US" altLang="ko-KR" sz="1400" b="1" dirty="0"/>
              <a:t> deletes or creates Pods to meet the desired number of replicas</a:t>
            </a:r>
            <a:r>
              <a:rPr lang="en-US" altLang="ko-KR" sz="1400" dirty="0"/>
              <a:t>. </a:t>
            </a:r>
            <a:r>
              <a:rPr lang="en-US" altLang="ko-KR" sz="1400" b="1" dirty="0"/>
              <a:t>The labels used for filtering are defined in the “</a:t>
            </a:r>
            <a:r>
              <a:rPr lang="en-US" altLang="ko-KR" sz="1400" b="1" dirty="0" err="1"/>
              <a:t>ReplicaSet</a:t>
            </a:r>
            <a:r>
              <a:rPr lang="en-US" altLang="ko-KR" sz="1400" b="1" dirty="0"/>
              <a:t> spec section”</a:t>
            </a:r>
            <a:r>
              <a:rPr lang="en-US" altLang="ko-KR" sz="1400" dirty="0"/>
              <a:t> </a:t>
            </a:r>
            <a:r>
              <a:rPr lang="en-US" altLang="ko-KR" sz="1400" b="1" dirty="0"/>
              <a:t>and are the key to understanding how </a:t>
            </a:r>
            <a:r>
              <a:rPr lang="en-US" altLang="ko-KR" sz="1400" b="1" dirty="0" err="1"/>
              <a:t>ReplicaSets</a:t>
            </a:r>
            <a:r>
              <a:rPr lang="en-US" altLang="ko-KR" sz="1400" b="1" dirty="0"/>
              <a:t> work</a:t>
            </a:r>
            <a:r>
              <a:rPr lang="en-US" altLang="ko-KR" sz="1400" dirty="0"/>
              <a:t>.</a:t>
            </a:r>
          </a:p>
          <a:p>
            <a:pPr lvl="1">
              <a:buFont typeface="Wingdings" panose="05000000000000000000" pitchFamily="2" charset="2"/>
              <a:buChar char="§"/>
            </a:pPr>
            <a:r>
              <a:rPr lang="en-US" altLang="ko-KR" sz="1400" b="1" dirty="0"/>
              <a:t>NOTE : The selector in the </a:t>
            </a:r>
            <a:r>
              <a:rPr lang="en-US" altLang="ko-KR" sz="1400" b="1" dirty="0" err="1"/>
              <a:t>ReplicaSet</a:t>
            </a:r>
            <a:r>
              <a:rPr lang="en-US" altLang="ko-KR" sz="1400" b="1" dirty="0"/>
              <a:t> spec should be a proper subset of the labels in the Pod template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47</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7E9DDF24-3160-4DE5-8F13-AB1E8F9D6B2F}"/>
              </a:ext>
            </a:extLst>
          </p:cNvPr>
          <p:cNvPicPr>
            <a:picLocks noChangeAspect="1"/>
          </p:cNvPicPr>
          <p:nvPr/>
        </p:nvPicPr>
        <p:blipFill>
          <a:blip r:embed="rId2"/>
          <a:stretch>
            <a:fillRect/>
          </a:stretch>
        </p:blipFill>
        <p:spPr>
          <a:xfrm>
            <a:off x="4162035" y="2830102"/>
            <a:ext cx="3867929" cy="3253492"/>
          </a:xfrm>
          <a:prstGeom prst="rect">
            <a:avLst/>
          </a:prstGeom>
        </p:spPr>
      </p:pic>
    </p:spTree>
    <p:extLst>
      <p:ext uri="{BB962C8B-B14F-4D97-AF65-F5344CB8AC3E}">
        <p14:creationId xmlns:p14="http://schemas.microsoft.com/office/powerpoint/2010/main" val="20199267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Creating a </a:t>
            </a:r>
            <a:r>
              <a:rPr lang="en-US" altLang="ko-KR" sz="2800" b="1" dirty="0" err="1"/>
              <a:t>ReplicaSet</a:t>
            </a:r>
            <a:r>
              <a:rPr lang="en-US" altLang="ko-KR" sz="2800" b="1" dirty="0"/>
              <a:t>(1/2)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ReplicaSet</a:t>
            </a:r>
            <a:r>
              <a:rPr lang="en-US" altLang="ko-KR" sz="1800" b="1" dirty="0"/>
              <a:t> Object :</a:t>
            </a:r>
          </a:p>
          <a:p>
            <a:pPr lvl="1">
              <a:buFont typeface="Wingdings" panose="05000000000000000000" pitchFamily="2" charset="2"/>
              <a:buChar char="§"/>
            </a:pPr>
            <a:r>
              <a:rPr lang="en-US" altLang="ko-KR" sz="1400" b="1" dirty="0" err="1"/>
              <a:t>ReplicaSets</a:t>
            </a:r>
            <a:r>
              <a:rPr lang="en-US" altLang="ko-KR" sz="1400" b="1" dirty="0"/>
              <a:t> are created by submitting a </a:t>
            </a:r>
            <a:r>
              <a:rPr lang="en-US" altLang="ko-KR" sz="1400" b="1" dirty="0" err="1">
                <a:solidFill>
                  <a:srgbClr val="FF0000"/>
                </a:solidFill>
              </a:rPr>
              <a:t>ReplicaSet</a:t>
            </a:r>
            <a:r>
              <a:rPr lang="en-US" altLang="ko-KR" sz="1400" b="1" dirty="0">
                <a:solidFill>
                  <a:srgbClr val="FF0000"/>
                </a:solidFill>
              </a:rPr>
              <a:t> object </a:t>
            </a:r>
            <a:r>
              <a:rPr lang="en-US" altLang="ko-KR" sz="1400" b="1" dirty="0"/>
              <a:t>to the Kubernetes API</a:t>
            </a:r>
            <a:r>
              <a:rPr lang="en-US" altLang="ko-KR" sz="1400" dirty="0"/>
              <a:t>. The </a:t>
            </a:r>
            <a:r>
              <a:rPr lang="en-US" altLang="ko-KR" sz="1400" dirty="0" err="1"/>
              <a:t>ReplicaSet</a:t>
            </a:r>
            <a:r>
              <a:rPr lang="en-US" altLang="ko-KR" sz="1400" dirty="0"/>
              <a:t> configuration file will ensure one copy of the “</a:t>
            </a:r>
            <a:r>
              <a:rPr lang="en-US" altLang="ko-KR" sz="1400" b="1" dirty="0"/>
              <a:t>knix008/kuard-shkwon-amd64:1.0</a:t>
            </a:r>
            <a:r>
              <a:rPr lang="en-US" altLang="ko-KR" sz="1400" dirty="0"/>
              <a:t>” container is running at any given time. </a:t>
            </a:r>
          </a:p>
          <a:p>
            <a:pPr lvl="1">
              <a:buFont typeface="Wingdings" panose="05000000000000000000" pitchFamily="2" charset="2"/>
              <a:buChar char="§"/>
            </a:pPr>
            <a:r>
              <a:rPr lang="en-US" altLang="ko-KR" sz="1400" b="1" dirty="0"/>
              <a:t>Use the “</a:t>
            </a:r>
            <a:r>
              <a:rPr lang="en-US" altLang="ko-KR" sz="1400" b="1" dirty="0" err="1"/>
              <a:t>kubectl</a:t>
            </a:r>
            <a:r>
              <a:rPr lang="en-US" altLang="ko-KR" sz="1400" b="1" dirty="0"/>
              <a:t> apply” command to submit the “</a:t>
            </a:r>
            <a:r>
              <a:rPr lang="en-US" altLang="ko-KR" sz="1400" b="1" dirty="0" err="1"/>
              <a:t>kuard</a:t>
            </a:r>
            <a:r>
              <a:rPr lang="en-US" altLang="ko-KR" sz="1400" b="1" dirty="0"/>
              <a:t>” </a:t>
            </a:r>
            <a:r>
              <a:rPr lang="en-US" altLang="ko-KR" sz="1400" b="1" dirty="0" err="1"/>
              <a:t>ReplicaSet</a:t>
            </a:r>
            <a:r>
              <a:rPr lang="en-US" altLang="ko-KR" sz="1400" b="1" dirty="0"/>
              <a:t> to the Kubernetes </a:t>
            </a:r>
            <a:r>
              <a:rPr lang="en-US" altLang="ko-KR" sz="1400" dirty="0"/>
              <a:t>API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48</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1B4EF6A0-B659-4E6E-AE80-01CBD1727049}"/>
              </a:ext>
            </a:extLst>
          </p:cNvPr>
          <p:cNvGrpSpPr/>
          <p:nvPr/>
        </p:nvGrpSpPr>
        <p:grpSpPr>
          <a:xfrm>
            <a:off x="2346595" y="1995979"/>
            <a:ext cx="7498806" cy="4402526"/>
            <a:chOff x="2346595" y="1995979"/>
            <a:chExt cx="7498806" cy="4402526"/>
          </a:xfrm>
        </p:grpSpPr>
        <p:sp>
          <p:nvSpPr>
            <p:cNvPr id="4" name="직사각형 3">
              <a:extLst>
                <a:ext uri="{FF2B5EF4-FFF2-40B4-BE49-F238E27FC236}">
                  <a16:creationId xmlns:a16="http://schemas.microsoft.com/office/drawing/2014/main" id="{A1DC97BF-0F67-4FFD-B6DE-5102595F5FA3}"/>
                </a:ext>
              </a:extLst>
            </p:cNvPr>
            <p:cNvSpPr/>
            <p:nvPr/>
          </p:nvSpPr>
          <p:spPr>
            <a:xfrm>
              <a:off x="5018621" y="1995979"/>
              <a:ext cx="2154757" cy="246221"/>
            </a:xfrm>
            <a:prstGeom prst="rect">
              <a:avLst/>
            </a:prstGeom>
            <a:ln>
              <a:solidFill>
                <a:schemeClr val="bg1">
                  <a:lumMod val="50000"/>
                </a:schemeClr>
              </a:solidFill>
            </a:ln>
          </p:spPr>
          <p:txBody>
            <a:bodyPr wrap="none">
              <a:spAutoFit/>
            </a:bodyPr>
            <a:lstStyle/>
            <a:p>
              <a:r>
                <a:rPr lang="en-US" altLang="ko-KR" sz="1000" b="1" dirty="0"/>
                <a:t>$ </a:t>
              </a:r>
              <a:r>
                <a:rPr lang="en-US" altLang="ko-KR" sz="1000" b="1" dirty="0" err="1"/>
                <a:t>kubectl</a:t>
              </a:r>
              <a:r>
                <a:rPr lang="en-US" altLang="ko-KR" sz="1000" b="1" dirty="0"/>
                <a:t> apply -f </a:t>
              </a:r>
              <a:r>
                <a:rPr lang="en-US" altLang="ko-KR" sz="1000" b="1" dirty="0" err="1">
                  <a:solidFill>
                    <a:srgbClr val="FF0000"/>
                  </a:solidFill>
                </a:rPr>
                <a:t>kuard-rs.yaml</a:t>
              </a:r>
              <a:endParaRPr lang="ko-KR" altLang="en-US" sz="1000" b="1" dirty="0">
                <a:solidFill>
                  <a:srgbClr val="FF0000"/>
                </a:solidFill>
              </a:endParaRPr>
            </a:p>
          </p:txBody>
        </p:sp>
        <p:sp>
          <p:nvSpPr>
            <p:cNvPr id="8" name="화살표: 아래쪽 7">
              <a:extLst>
                <a:ext uri="{FF2B5EF4-FFF2-40B4-BE49-F238E27FC236}">
                  <a16:creationId xmlns:a16="http://schemas.microsoft.com/office/drawing/2014/main" id="{CA1A0E9E-AE87-4C2B-84C0-1172DC440491}"/>
                </a:ext>
              </a:extLst>
            </p:cNvPr>
            <p:cNvSpPr/>
            <p:nvPr/>
          </p:nvSpPr>
          <p:spPr>
            <a:xfrm>
              <a:off x="5897216" y="2263250"/>
              <a:ext cx="397565" cy="270344"/>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5B726FE2-57F3-4460-AE5B-439B133B5427}"/>
                </a:ext>
              </a:extLst>
            </p:cNvPr>
            <p:cNvPicPr>
              <a:picLocks noChangeAspect="1"/>
            </p:cNvPicPr>
            <p:nvPr/>
          </p:nvPicPr>
          <p:blipFill>
            <a:blip r:embed="rId2"/>
            <a:stretch>
              <a:fillRect/>
            </a:stretch>
          </p:blipFill>
          <p:spPr>
            <a:xfrm>
              <a:off x="2346595" y="2544119"/>
              <a:ext cx="7498806" cy="3854386"/>
            </a:xfrm>
            <a:prstGeom prst="rect">
              <a:avLst/>
            </a:prstGeom>
            <a:ln>
              <a:solidFill>
                <a:schemeClr val="bg1">
                  <a:lumMod val="50000"/>
                </a:schemeClr>
              </a:solidFill>
            </a:ln>
          </p:spPr>
        </p:pic>
      </p:grpSp>
    </p:spTree>
    <p:extLst>
      <p:ext uri="{BB962C8B-B14F-4D97-AF65-F5344CB8AC3E}">
        <p14:creationId xmlns:p14="http://schemas.microsoft.com/office/powerpoint/2010/main" val="24461061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Creating a </a:t>
            </a:r>
            <a:r>
              <a:rPr lang="en-US" altLang="ko-KR" sz="2800" b="1" dirty="0" err="1"/>
              <a:t>ReplicaSet</a:t>
            </a:r>
            <a:r>
              <a:rPr lang="en-US" altLang="ko-KR" sz="2800" b="1" dirty="0"/>
              <a:t>(2/2)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ReplicaSet</a:t>
            </a:r>
            <a:r>
              <a:rPr lang="en-US" altLang="ko-KR" sz="1800" b="1" dirty="0"/>
              <a:t> Object :</a:t>
            </a:r>
          </a:p>
          <a:p>
            <a:pPr lvl="1">
              <a:buFont typeface="Wingdings" panose="05000000000000000000" pitchFamily="2" charset="2"/>
              <a:buChar char="§"/>
            </a:pPr>
            <a:r>
              <a:rPr lang="en-US" altLang="ko-KR" sz="1400" b="1" dirty="0"/>
              <a:t>Once the “</a:t>
            </a:r>
            <a:r>
              <a:rPr lang="en-US" altLang="ko-KR" sz="1400" b="1" dirty="0" err="1"/>
              <a:t>kuard</a:t>
            </a:r>
            <a:r>
              <a:rPr lang="en-US" altLang="ko-KR" sz="1400" b="1" dirty="0"/>
              <a:t>” </a:t>
            </a:r>
            <a:r>
              <a:rPr lang="en-US" altLang="ko-KR" sz="1400" b="1" dirty="0" err="1"/>
              <a:t>ReplicaSet</a:t>
            </a:r>
            <a:r>
              <a:rPr lang="en-US" altLang="ko-KR" sz="1400" b="1" dirty="0"/>
              <a:t> has been accepted, the </a:t>
            </a:r>
            <a:r>
              <a:rPr lang="en-US" altLang="ko-KR" sz="1400" b="1" dirty="0" err="1">
                <a:solidFill>
                  <a:srgbClr val="FF0000"/>
                </a:solidFill>
              </a:rPr>
              <a:t>ReplicaSet</a:t>
            </a:r>
            <a:r>
              <a:rPr lang="en-US" altLang="ko-KR" sz="1400" b="1" dirty="0">
                <a:solidFill>
                  <a:srgbClr val="FF0000"/>
                </a:solidFill>
              </a:rPr>
              <a:t> controller </a:t>
            </a:r>
            <a:r>
              <a:rPr lang="en-US" altLang="ko-KR" sz="1400" b="1" dirty="0"/>
              <a:t>will detect that there are no “</a:t>
            </a:r>
            <a:r>
              <a:rPr lang="en-US" altLang="ko-KR" sz="1400" b="1" dirty="0" err="1"/>
              <a:t>kuard</a:t>
            </a:r>
            <a:r>
              <a:rPr lang="en-US" altLang="ko-KR" sz="1400" b="1" dirty="0"/>
              <a:t>” Pods running </a:t>
            </a:r>
            <a:r>
              <a:rPr lang="en-US" altLang="ko-KR" sz="1400" dirty="0"/>
              <a:t>that match the desired state</a:t>
            </a:r>
            <a:r>
              <a:rPr lang="en-US" altLang="ko-KR" sz="1400" b="1" dirty="0"/>
              <a:t>, and a new “</a:t>
            </a:r>
            <a:r>
              <a:rPr lang="en-US" altLang="ko-KR" sz="1400" b="1" dirty="0" err="1"/>
              <a:t>kuard</a:t>
            </a:r>
            <a:r>
              <a:rPr lang="en-US" altLang="ko-KR" sz="1400" b="1" dirty="0"/>
              <a:t>” Pod </a:t>
            </a:r>
            <a:r>
              <a:rPr lang="en-US" altLang="ko-KR" sz="1400" dirty="0"/>
              <a:t>will be created based on the contents of the </a:t>
            </a:r>
            <a:r>
              <a:rPr lang="en-US" altLang="ko-KR" sz="1400" b="1" dirty="0"/>
              <a:t>“Pod template”</a:t>
            </a:r>
            <a:r>
              <a:rPr lang="en-US" altLang="ko-KR" sz="1400" dirty="0"/>
              <a:t> :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If the application image is not found in your system, then the “READY” field will be “0/1”</a:t>
            </a:r>
            <a:r>
              <a:rPr lang="en-US" altLang="ko-KR" sz="1400" dirty="0"/>
              <a:t>. </a:t>
            </a:r>
            <a:r>
              <a:rPr lang="en-US" altLang="ko-KR" sz="1400" b="1" dirty="0"/>
              <a:t>You need to prepare a docker image first before you make a </a:t>
            </a:r>
            <a:r>
              <a:rPr lang="en-US" altLang="ko-KR" sz="1400" b="1" dirty="0" err="1"/>
              <a:t>ReplicaSet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49</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EFFB25A6-F52F-482B-A6EC-D821C3AF6807}"/>
              </a:ext>
            </a:extLst>
          </p:cNvPr>
          <p:cNvGrpSpPr/>
          <p:nvPr/>
        </p:nvGrpSpPr>
        <p:grpSpPr>
          <a:xfrm>
            <a:off x="1716322" y="1927440"/>
            <a:ext cx="8759356" cy="1664278"/>
            <a:chOff x="1716322" y="1953979"/>
            <a:chExt cx="8759356" cy="1664278"/>
          </a:xfrm>
        </p:grpSpPr>
        <p:pic>
          <p:nvPicPr>
            <p:cNvPr id="4" name="그림 3">
              <a:extLst>
                <a:ext uri="{FF2B5EF4-FFF2-40B4-BE49-F238E27FC236}">
                  <a16:creationId xmlns:a16="http://schemas.microsoft.com/office/drawing/2014/main" id="{DDE8603C-C01F-4D20-90B1-0CDA5DE4328E}"/>
                </a:ext>
              </a:extLst>
            </p:cNvPr>
            <p:cNvPicPr>
              <a:picLocks noChangeAspect="1"/>
            </p:cNvPicPr>
            <p:nvPr/>
          </p:nvPicPr>
          <p:blipFill>
            <a:blip r:embed="rId2"/>
            <a:stretch>
              <a:fillRect/>
            </a:stretch>
          </p:blipFill>
          <p:spPr>
            <a:xfrm>
              <a:off x="1716322" y="1953979"/>
              <a:ext cx="8759356" cy="1664278"/>
            </a:xfrm>
            <a:prstGeom prst="rect">
              <a:avLst/>
            </a:prstGeom>
          </p:spPr>
        </p:pic>
        <p:sp>
          <p:nvSpPr>
            <p:cNvPr id="8" name="직사각형 7">
              <a:extLst>
                <a:ext uri="{FF2B5EF4-FFF2-40B4-BE49-F238E27FC236}">
                  <a16:creationId xmlns:a16="http://schemas.microsoft.com/office/drawing/2014/main" id="{64FFA1B0-4FDA-4B83-A788-073663548C97}"/>
                </a:ext>
              </a:extLst>
            </p:cNvPr>
            <p:cNvSpPr/>
            <p:nvPr/>
          </p:nvSpPr>
          <p:spPr>
            <a:xfrm>
              <a:off x="2767054" y="2894274"/>
              <a:ext cx="1208598" cy="30215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8750679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Inspecting a </a:t>
            </a:r>
            <a:r>
              <a:rPr lang="en-US" altLang="ko-KR" sz="2800" b="1" dirty="0" err="1"/>
              <a:t>ReplicaSet</a:t>
            </a:r>
            <a:r>
              <a:rPr lang="en-US" altLang="ko-KR" sz="2800" b="1" dirty="0"/>
              <a:t>(1/3)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Describe Command :</a:t>
            </a:r>
          </a:p>
          <a:p>
            <a:pPr lvl="1">
              <a:buFont typeface="Wingdings" panose="05000000000000000000" pitchFamily="2" charset="2"/>
              <a:buChar char="§"/>
            </a:pPr>
            <a:r>
              <a:rPr lang="en-US" altLang="ko-KR" sz="1400" b="1" dirty="0"/>
              <a:t>As with Pods and other Kubernetes API objects, if you are interested in further details about a </a:t>
            </a:r>
            <a:r>
              <a:rPr lang="en-US" altLang="ko-KR" sz="1400" b="1" dirty="0" err="1"/>
              <a:t>ReplicaSet</a:t>
            </a:r>
            <a:r>
              <a:rPr lang="en-US" altLang="ko-KR" sz="1400" b="1" dirty="0"/>
              <a:t>, the “</a:t>
            </a:r>
            <a:r>
              <a:rPr lang="en-US" altLang="ko-KR" sz="1400" b="1" dirty="0">
                <a:solidFill>
                  <a:srgbClr val="FF0000"/>
                </a:solidFill>
              </a:rPr>
              <a:t>describe</a:t>
            </a:r>
            <a:r>
              <a:rPr lang="en-US" altLang="ko-KR" sz="1400" b="1" dirty="0"/>
              <a:t>” command will provide much more information about its state</a:t>
            </a:r>
            <a:r>
              <a:rPr lang="en-US" altLang="ko-KR" sz="1400" dirty="0"/>
              <a:t>. Here is an example of using “</a:t>
            </a:r>
            <a:r>
              <a:rPr lang="en-US" altLang="ko-KR" sz="1400" b="1" dirty="0"/>
              <a:t>describe</a:t>
            </a:r>
            <a:r>
              <a:rPr lang="en-US" altLang="ko-KR" sz="1400" dirty="0"/>
              <a:t>” to obtain the details of the “</a:t>
            </a:r>
            <a:r>
              <a:rPr lang="en-US" altLang="ko-KR" sz="1400" b="1" dirty="0" err="1"/>
              <a:t>ReplicaSet</a:t>
            </a:r>
            <a:r>
              <a:rPr lang="en-US" altLang="ko-KR" sz="1400" b="1" dirty="0"/>
              <a:t>(RS)”</a:t>
            </a:r>
            <a:r>
              <a:rPr lang="en-US" altLang="ko-KR" sz="1400" dirty="0"/>
              <a:t> we previously created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50</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C06B920D-C85D-420B-B03D-4D128BDB8E7C}"/>
              </a:ext>
            </a:extLst>
          </p:cNvPr>
          <p:cNvGrpSpPr/>
          <p:nvPr/>
        </p:nvGrpSpPr>
        <p:grpSpPr>
          <a:xfrm>
            <a:off x="2031259" y="1924418"/>
            <a:ext cx="8129482" cy="4484612"/>
            <a:chOff x="2031259" y="1924418"/>
            <a:chExt cx="8129482" cy="4484612"/>
          </a:xfrm>
        </p:grpSpPr>
        <p:grpSp>
          <p:nvGrpSpPr>
            <p:cNvPr id="10" name="그룹 9">
              <a:extLst>
                <a:ext uri="{FF2B5EF4-FFF2-40B4-BE49-F238E27FC236}">
                  <a16:creationId xmlns:a16="http://schemas.microsoft.com/office/drawing/2014/main" id="{18EEF90F-DF9C-48C6-81CF-DC8E1E4EB6D9}"/>
                </a:ext>
              </a:extLst>
            </p:cNvPr>
            <p:cNvGrpSpPr/>
            <p:nvPr/>
          </p:nvGrpSpPr>
          <p:grpSpPr>
            <a:xfrm>
              <a:off x="2031259" y="1924418"/>
              <a:ext cx="8129482" cy="4484612"/>
              <a:chOff x="2031259" y="1924418"/>
              <a:chExt cx="8129482" cy="4484612"/>
            </a:xfrm>
          </p:grpSpPr>
          <p:sp>
            <p:nvSpPr>
              <p:cNvPr id="4" name="직사각형 3">
                <a:extLst>
                  <a:ext uri="{FF2B5EF4-FFF2-40B4-BE49-F238E27FC236}">
                    <a16:creationId xmlns:a16="http://schemas.microsoft.com/office/drawing/2014/main" id="{9C336F61-556C-447F-8B1E-A9DEEA261248}"/>
                  </a:ext>
                </a:extLst>
              </p:cNvPr>
              <p:cNvSpPr/>
              <p:nvPr/>
            </p:nvSpPr>
            <p:spPr>
              <a:xfrm>
                <a:off x="5170907" y="1924418"/>
                <a:ext cx="1850185"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describe </a:t>
                </a:r>
                <a:r>
                  <a:rPr lang="en-US" altLang="ko-KR" sz="1000" b="1" dirty="0" err="1">
                    <a:solidFill>
                      <a:srgbClr val="FF0000"/>
                    </a:solidFill>
                  </a:rPr>
                  <a:t>rs</a:t>
                </a:r>
                <a:r>
                  <a:rPr lang="en-US" altLang="ko-KR" sz="1000" b="1" dirty="0">
                    <a:solidFill>
                      <a:srgbClr val="FF0000"/>
                    </a:solidFill>
                  </a:rPr>
                  <a:t> </a:t>
                </a:r>
                <a:r>
                  <a:rPr lang="en-US" altLang="ko-KR" sz="1000" b="1" dirty="0" err="1">
                    <a:solidFill>
                      <a:srgbClr val="FF0000"/>
                    </a:solidFill>
                  </a:rPr>
                  <a:t>kuard</a:t>
                </a:r>
                <a:endParaRPr lang="ko-KR" altLang="en-US" sz="1000" b="1" dirty="0">
                  <a:solidFill>
                    <a:srgbClr val="FF0000"/>
                  </a:solidFill>
                </a:endParaRPr>
              </a:p>
            </p:txBody>
          </p:sp>
          <p:sp>
            <p:nvSpPr>
              <p:cNvPr id="8" name="화살표: 아래쪽 7">
                <a:extLst>
                  <a:ext uri="{FF2B5EF4-FFF2-40B4-BE49-F238E27FC236}">
                    <a16:creationId xmlns:a16="http://schemas.microsoft.com/office/drawing/2014/main" id="{05172D20-5569-43EC-9E76-8407892C55B6}"/>
                  </a:ext>
                </a:extLst>
              </p:cNvPr>
              <p:cNvSpPr/>
              <p:nvPr/>
            </p:nvSpPr>
            <p:spPr>
              <a:xfrm>
                <a:off x="5893240" y="2203751"/>
                <a:ext cx="405517"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B572BFA5-A7B2-4BB8-AAF7-3D4584938896}"/>
                  </a:ext>
                </a:extLst>
              </p:cNvPr>
              <p:cNvPicPr>
                <a:picLocks noChangeAspect="1"/>
              </p:cNvPicPr>
              <p:nvPr/>
            </p:nvPicPr>
            <p:blipFill>
              <a:blip r:embed="rId2"/>
              <a:stretch>
                <a:fillRect/>
              </a:stretch>
            </p:blipFill>
            <p:spPr>
              <a:xfrm>
                <a:off x="2031259" y="2449972"/>
                <a:ext cx="8129482" cy="3959058"/>
              </a:xfrm>
              <a:prstGeom prst="rect">
                <a:avLst/>
              </a:prstGeom>
              <a:ln>
                <a:solidFill>
                  <a:schemeClr val="bg1">
                    <a:lumMod val="50000"/>
                  </a:schemeClr>
                </a:solidFill>
              </a:ln>
            </p:spPr>
          </p:pic>
        </p:grpSp>
        <p:sp>
          <p:nvSpPr>
            <p:cNvPr id="11" name="직사각형 10">
              <a:extLst>
                <a:ext uri="{FF2B5EF4-FFF2-40B4-BE49-F238E27FC236}">
                  <a16:creationId xmlns:a16="http://schemas.microsoft.com/office/drawing/2014/main" id="{FA85F7F3-9030-49D4-926B-1C59207C5B1F}"/>
                </a:ext>
              </a:extLst>
            </p:cNvPr>
            <p:cNvSpPr/>
            <p:nvPr/>
          </p:nvSpPr>
          <p:spPr>
            <a:xfrm>
              <a:off x="2047161" y="3307742"/>
              <a:ext cx="1753562" cy="19878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0AC2557D-D4B3-47DE-9DE3-5739BD8A04DA}"/>
                </a:ext>
              </a:extLst>
            </p:cNvPr>
            <p:cNvSpPr/>
            <p:nvPr/>
          </p:nvSpPr>
          <p:spPr>
            <a:xfrm>
              <a:off x="2047160" y="3704258"/>
              <a:ext cx="2469179" cy="19878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1557421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Inspecting a </a:t>
            </a:r>
            <a:r>
              <a:rPr lang="en-US" altLang="ko-KR" sz="2800" b="1" dirty="0" err="1"/>
              <a:t>ReplicaSet</a:t>
            </a:r>
            <a:r>
              <a:rPr lang="en-US" altLang="ko-KR" sz="2800" b="1" dirty="0"/>
              <a:t>(2/3)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Finding a </a:t>
            </a:r>
            <a:r>
              <a:rPr lang="en-US" altLang="ko-KR" sz="1800" b="1" dirty="0" err="1"/>
              <a:t>ReplicaSet</a:t>
            </a:r>
            <a:r>
              <a:rPr lang="en-US" altLang="ko-KR" sz="1800" b="1" dirty="0"/>
              <a:t> from a Pod :</a:t>
            </a:r>
          </a:p>
          <a:p>
            <a:pPr lvl="1">
              <a:buFont typeface="Wingdings" panose="05000000000000000000" pitchFamily="2" charset="2"/>
              <a:buChar char="§"/>
            </a:pPr>
            <a:r>
              <a:rPr lang="en-US" altLang="ko-KR" sz="1400" b="1" dirty="0"/>
              <a:t>Sometimes you may wonder if a Pod is being managed by a </a:t>
            </a:r>
            <a:r>
              <a:rPr lang="en-US" altLang="ko-KR" sz="1400" b="1" dirty="0" err="1"/>
              <a:t>ReplicaSet</a:t>
            </a:r>
            <a:r>
              <a:rPr lang="en-US" altLang="ko-KR" sz="1400" b="1" dirty="0"/>
              <a:t>, and if it is, which </a:t>
            </a:r>
            <a:r>
              <a:rPr lang="en-US" altLang="ko-KR" sz="1400" b="1" dirty="0" err="1"/>
              <a:t>ReplicaSet</a:t>
            </a:r>
            <a:r>
              <a:rPr lang="en-US" altLang="ko-KR" sz="1400" dirty="0"/>
              <a:t>.</a:t>
            </a:r>
          </a:p>
          <a:p>
            <a:pPr lvl="1">
              <a:buFont typeface="Wingdings" panose="05000000000000000000" pitchFamily="2" charset="2"/>
              <a:buChar char="§"/>
            </a:pPr>
            <a:r>
              <a:rPr lang="en-US" altLang="ko-KR" sz="1400" dirty="0"/>
              <a:t>To enable this kind of </a:t>
            </a:r>
            <a:r>
              <a:rPr lang="en-US" altLang="ko-KR" sz="1400" b="1" dirty="0"/>
              <a:t>discovery</a:t>
            </a:r>
            <a:r>
              <a:rPr lang="en-US" altLang="ko-KR" sz="1400" dirty="0"/>
              <a:t>, </a:t>
            </a:r>
            <a:r>
              <a:rPr lang="en-US" altLang="ko-KR" sz="1400" b="1" dirty="0"/>
              <a:t>the </a:t>
            </a:r>
            <a:r>
              <a:rPr lang="en-US" altLang="ko-KR" sz="1400" b="1" dirty="0" err="1"/>
              <a:t>ReplicaSet</a:t>
            </a:r>
            <a:r>
              <a:rPr lang="en-US" altLang="ko-KR" sz="1400" b="1" dirty="0"/>
              <a:t> controller </a:t>
            </a:r>
            <a:r>
              <a:rPr lang="en-US" altLang="ko-KR" sz="1400" b="1" dirty="0">
                <a:solidFill>
                  <a:srgbClr val="FF0000"/>
                </a:solidFill>
              </a:rPr>
              <a:t>adds an annotation to every Pod </a:t>
            </a:r>
            <a:r>
              <a:rPr lang="en-US" altLang="ko-KR" sz="1400" b="1" dirty="0"/>
              <a:t>that it creates</a:t>
            </a:r>
            <a:r>
              <a:rPr lang="en-US" altLang="ko-KR" sz="1400" dirty="0"/>
              <a:t>. </a:t>
            </a:r>
            <a:r>
              <a:rPr lang="en-US" altLang="ko-KR" sz="1400" b="1" dirty="0"/>
              <a:t>The key for the annotation is </a:t>
            </a:r>
            <a:r>
              <a:rPr lang="en-US" altLang="ko-KR" sz="1400" dirty="0"/>
              <a:t>“</a:t>
            </a:r>
            <a:r>
              <a:rPr lang="en-US" altLang="ko-KR" sz="1400" b="1" dirty="0">
                <a:solidFill>
                  <a:srgbClr val="FF0000"/>
                </a:solidFill>
              </a:rPr>
              <a:t>kubernetes.io/created-by</a:t>
            </a:r>
            <a:r>
              <a:rPr lang="en-US" altLang="ko-KR" sz="1400" dirty="0"/>
              <a:t>”. If you run the following command, look for the “</a:t>
            </a:r>
            <a:r>
              <a:rPr lang="en-US" altLang="ko-KR" sz="1400" b="1" dirty="0"/>
              <a:t>kubernetes.io/created-by</a:t>
            </a:r>
            <a:r>
              <a:rPr lang="en-US" altLang="ko-KR" sz="1400" dirty="0"/>
              <a:t>” entry in the annotations section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If applicable, this will </a:t>
            </a:r>
            <a:r>
              <a:rPr lang="en-US" altLang="ko-KR" sz="1400" b="1" dirty="0"/>
              <a:t>list the name of the </a:t>
            </a:r>
            <a:r>
              <a:rPr lang="en-US" altLang="ko-KR" sz="1400" b="1" dirty="0" err="1"/>
              <a:t>ReplicaSet</a:t>
            </a:r>
            <a:r>
              <a:rPr lang="en-US" altLang="ko-KR" sz="1400" b="1" dirty="0"/>
              <a:t> </a:t>
            </a:r>
            <a:r>
              <a:rPr lang="en-US" altLang="ko-KR" sz="1400" dirty="0"/>
              <a:t>that is managing this Pod. </a:t>
            </a:r>
          </a:p>
          <a:p>
            <a:pPr lvl="1">
              <a:buFont typeface="Wingdings" panose="05000000000000000000" pitchFamily="2" charset="2"/>
              <a:buChar char="§"/>
            </a:pPr>
            <a:r>
              <a:rPr lang="en-US" altLang="ko-KR" sz="1400" b="1" dirty="0"/>
              <a:t>Note : Such annotations are best-effort; they are only created when the Pod is created by the </a:t>
            </a:r>
            <a:r>
              <a:rPr lang="en-US" altLang="ko-KR" sz="1400" b="1" dirty="0" err="1"/>
              <a:t>ReplicaSet</a:t>
            </a:r>
            <a:r>
              <a:rPr lang="en-US" altLang="ko-KR" sz="1400" b="1" dirty="0"/>
              <a:t>, and can be removed by a Kubernetes user at any time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51</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8C1DF562-8498-4B33-B472-7CD5E4801022}"/>
              </a:ext>
            </a:extLst>
          </p:cNvPr>
          <p:cNvGrpSpPr/>
          <p:nvPr/>
        </p:nvGrpSpPr>
        <p:grpSpPr>
          <a:xfrm>
            <a:off x="1814885" y="2242469"/>
            <a:ext cx="8562230" cy="3016423"/>
            <a:chOff x="1814885" y="2242469"/>
            <a:chExt cx="8562230" cy="3016423"/>
          </a:xfrm>
        </p:grpSpPr>
        <p:sp>
          <p:nvSpPr>
            <p:cNvPr id="4" name="직사각형 3">
              <a:extLst>
                <a:ext uri="{FF2B5EF4-FFF2-40B4-BE49-F238E27FC236}">
                  <a16:creationId xmlns:a16="http://schemas.microsoft.com/office/drawing/2014/main" id="{E5C9BF13-B28C-4D72-A14D-E750FCCDC334}"/>
                </a:ext>
              </a:extLst>
            </p:cNvPr>
            <p:cNvSpPr/>
            <p:nvPr/>
          </p:nvSpPr>
          <p:spPr>
            <a:xfrm>
              <a:off x="4738096" y="2242469"/>
              <a:ext cx="2715808"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get pods &lt;</a:t>
              </a:r>
              <a:r>
                <a:rPr lang="en-US" altLang="ko-KR" sz="1000" b="1" dirty="0">
                  <a:solidFill>
                    <a:srgbClr val="FF0000"/>
                  </a:solidFill>
                </a:rPr>
                <a:t>pod-name&gt;</a:t>
              </a:r>
              <a:r>
                <a:rPr lang="en-US" altLang="ko-KR" sz="1000" b="1" dirty="0"/>
                <a:t> -o </a:t>
              </a:r>
              <a:r>
                <a:rPr lang="en-US" altLang="ko-KR" sz="1000" b="1" dirty="0" err="1"/>
                <a:t>yaml</a:t>
              </a:r>
              <a:endParaRPr lang="en-US" altLang="ko-KR" sz="1000" b="1" dirty="0"/>
            </a:p>
          </p:txBody>
        </p:sp>
        <p:pic>
          <p:nvPicPr>
            <p:cNvPr id="8" name="그림 7">
              <a:extLst>
                <a:ext uri="{FF2B5EF4-FFF2-40B4-BE49-F238E27FC236}">
                  <a16:creationId xmlns:a16="http://schemas.microsoft.com/office/drawing/2014/main" id="{6A999603-90C6-4B06-8E1B-8D7A4146A78D}"/>
                </a:ext>
              </a:extLst>
            </p:cNvPr>
            <p:cNvPicPr>
              <a:picLocks noChangeAspect="1"/>
            </p:cNvPicPr>
            <p:nvPr/>
          </p:nvPicPr>
          <p:blipFill>
            <a:blip r:embed="rId2"/>
            <a:stretch>
              <a:fillRect/>
            </a:stretch>
          </p:blipFill>
          <p:spPr>
            <a:xfrm>
              <a:off x="1814885" y="2767283"/>
              <a:ext cx="8562230" cy="2491609"/>
            </a:xfrm>
            <a:prstGeom prst="rect">
              <a:avLst/>
            </a:prstGeom>
          </p:spPr>
        </p:pic>
        <p:sp>
          <p:nvSpPr>
            <p:cNvPr id="9" name="화살표: 아래쪽 8">
              <a:extLst>
                <a:ext uri="{FF2B5EF4-FFF2-40B4-BE49-F238E27FC236}">
                  <a16:creationId xmlns:a16="http://schemas.microsoft.com/office/drawing/2014/main" id="{10FF2FA5-CB92-44EF-89BA-6E9C914FE71A}"/>
                </a:ext>
              </a:extLst>
            </p:cNvPr>
            <p:cNvSpPr/>
            <p:nvPr/>
          </p:nvSpPr>
          <p:spPr>
            <a:xfrm>
              <a:off x="5889266" y="2504876"/>
              <a:ext cx="413468"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C7F2F1F0-2B87-49CA-B4DA-5C18F680F535}"/>
              </a:ext>
            </a:extLst>
          </p:cNvPr>
          <p:cNvSpPr/>
          <p:nvPr/>
        </p:nvSpPr>
        <p:spPr>
          <a:xfrm>
            <a:off x="1924216" y="3824577"/>
            <a:ext cx="842838" cy="17492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72631569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Inspecting a </a:t>
            </a:r>
            <a:r>
              <a:rPr lang="en-US" altLang="ko-KR" sz="2800" b="1" dirty="0" err="1"/>
              <a:t>ReplicaSet</a:t>
            </a:r>
            <a:r>
              <a:rPr lang="en-US" altLang="ko-KR" sz="2800" b="1" dirty="0"/>
              <a:t>(3/3)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Finding a Set of Pods for a </a:t>
            </a:r>
            <a:r>
              <a:rPr lang="en-US" altLang="ko-KR" sz="1800" b="1" dirty="0" err="1"/>
              <a:t>ReplicaSet</a:t>
            </a:r>
            <a:r>
              <a:rPr lang="en-US" altLang="ko-KR" sz="1800" b="1" dirty="0"/>
              <a:t> :</a:t>
            </a:r>
          </a:p>
          <a:p>
            <a:pPr lvl="1">
              <a:buFont typeface="Wingdings" panose="05000000000000000000" pitchFamily="2" charset="2"/>
              <a:buChar char="§"/>
            </a:pPr>
            <a:r>
              <a:rPr lang="en-US" altLang="ko-KR" sz="1400" b="1" dirty="0"/>
              <a:t>You can also determine the set of Pods managed by a </a:t>
            </a:r>
            <a:r>
              <a:rPr lang="en-US" altLang="ko-KR" sz="1400" b="1" dirty="0" err="1"/>
              <a:t>ReplicaSet</a:t>
            </a:r>
            <a:r>
              <a:rPr lang="en-US" altLang="ko-KR" sz="1400" dirty="0"/>
              <a:t>. First, you can get </a:t>
            </a:r>
            <a:r>
              <a:rPr lang="en-US" altLang="ko-KR" sz="1400" b="1" dirty="0"/>
              <a:t>the set of labels </a:t>
            </a:r>
            <a:r>
              <a:rPr lang="en-US" altLang="ko-KR" sz="1400" dirty="0"/>
              <a:t>using the “</a:t>
            </a:r>
            <a:r>
              <a:rPr lang="en-US" altLang="ko-KR" sz="1400" b="1" dirty="0" err="1"/>
              <a:t>kubectl</a:t>
            </a:r>
            <a:r>
              <a:rPr lang="en-US" altLang="ko-KR" sz="1400" b="1" dirty="0"/>
              <a:t> describe</a:t>
            </a:r>
            <a:r>
              <a:rPr lang="en-US" altLang="ko-KR" sz="1400" dirty="0"/>
              <a:t>” command. In the previous example, </a:t>
            </a:r>
            <a:r>
              <a:rPr lang="en-US" altLang="ko-KR" sz="1400" b="1" dirty="0"/>
              <a:t>the label selector</a:t>
            </a:r>
            <a:r>
              <a:rPr lang="en-US" altLang="ko-KR" sz="1400" dirty="0"/>
              <a:t> was “</a:t>
            </a:r>
            <a:r>
              <a:rPr lang="en-US" altLang="ko-KR" sz="1400" b="1" dirty="0"/>
              <a:t>app=</a:t>
            </a:r>
            <a:r>
              <a:rPr lang="en-US" altLang="ko-KR" sz="1400" b="1" dirty="0" err="1"/>
              <a:t>kuard,version</a:t>
            </a:r>
            <a:r>
              <a:rPr lang="en-US" altLang="ko-KR" sz="1400" b="1" dirty="0"/>
              <a:t>=1</a:t>
            </a:r>
            <a:r>
              <a:rPr lang="en-US" altLang="ko-KR" sz="1400" dirty="0"/>
              <a:t>”. To find the Pods that match this selector, </a:t>
            </a:r>
            <a:r>
              <a:rPr lang="en-US" altLang="ko-KR" sz="1400" b="1" dirty="0"/>
              <a:t>use the “--selector” flag or the shorthand “-l”</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This is exactly the same query that the </a:t>
            </a:r>
            <a:r>
              <a:rPr lang="en-US" altLang="ko-KR" sz="1400" b="1" dirty="0" err="1"/>
              <a:t>ReplicaSet</a:t>
            </a:r>
            <a:r>
              <a:rPr lang="en-US" altLang="ko-KR" sz="1400" b="1" dirty="0"/>
              <a:t> executes to determine the current number of Pods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52</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B12F0B01-FA6B-406E-8FB3-68B997D964E9}"/>
              </a:ext>
            </a:extLst>
          </p:cNvPr>
          <p:cNvGrpSpPr/>
          <p:nvPr/>
        </p:nvGrpSpPr>
        <p:grpSpPr>
          <a:xfrm>
            <a:off x="1333500" y="2035735"/>
            <a:ext cx="9525000" cy="2461254"/>
            <a:chOff x="1333499" y="1892612"/>
            <a:chExt cx="9525000" cy="2461254"/>
          </a:xfrm>
        </p:grpSpPr>
        <p:sp>
          <p:nvSpPr>
            <p:cNvPr id="4" name="직사각형 3">
              <a:extLst>
                <a:ext uri="{FF2B5EF4-FFF2-40B4-BE49-F238E27FC236}">
                  <a16:creationId xmlns:a16="http://schemas.microsoft.com/office/drawing/2014/main" id="{13B7B409-CDE4-4C97-93CB-316D348AE74D}"/>
                </a:ext>
              </a:extLst>
            </p:cNvPr>
            <p:cNvSpPr/>
            <p:nvPr/>
          </p:nvSpPr>
          <p:spPr>
            <a:xfrm>
              <a:off x="4680388" y="1892612"/>
              <a:ext cx="2831223"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get pods </a:t>
              </a:r>
              <a:r>
                <a:rPr lang="en-US" altLang="ko-KR" sz="1000" b="1" dirty="0">
                  <a:solidFill>
                    <a:srgbClr val="FF0000"/>
                  </a:solidFill>
                </a:rPr>
                <a:t>-l app=</a:t>
              </a:r>
              <a:r>
                <a:rPr lang="en-US" altLang="ko-KR" sz="1000" b="1" dirty="0" err="1">
                  <a:solidFill>
                    <a:srgbClr val="FF0000"/>
                  </a:solidFill>
                </a:rPr>
                <a:t>kuard,version</a:t>
              </a:r>
              <a:r>
                <a:rPr lang="en-US" altLang="ko-KR" sz="1000" b="1" dirty="0">
                  <a:solidFill>
                    <a:srgbClr val="FF0000"/>
                  </a:solidFill>
                </a:rPr>
                <a:t>=1</a:t>
              </a:r>
              <a:endParaRPr lang="ko-KR" altLang="en-US" sz="1000" b="1" dirty="0">
                <a:solidFill>
                  <a:srgbClr val="FF0000"/>
                </a:solidFill>
              </a:endParaRPr>
            </a:p>
          </p:txBody>
        </p:sp>
        <p:pic>
          <p:nvPicPr>
            <p:cNvPr id="8" name="그림 7">
              <a:extLst>
                <a:ext uri="{FF2B5EF4-FFF2-40B4-BE49-F238E27FC236}">
                  <a16:creationId xmlns:a16="http://schemas.microsoft.com/office/drawing/2014/main" id="{76A37E78-7A5C-4A19-AC8B-736AD932704D}"/>
                </a:ext>
              </a:extLst>
            </p:cNvPr>
            <p:cNvPicPr>
              <a:picLocks noChangeAspect="1"/>
            </p:cNvPicPr>
            <p:nvPr/>
          </p:nvPicPr>
          <p:blipFill>
            <a:blip r:embed="rId2"/>
            <a:stretch>
              <a:fillRect/>
            </a:stretch>
          </p:blipFill>
          <p:spPr>
            <a:xfrm>
              <a:off x="1333499" y="2410766"/>
              <a:ext cx="9525000" cy="1943100"/>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54DE40C7-B833-4E43-A172-39771C6E44B4}"/>
                </a:ext>
              </a:extLst>
            </p:cNvPr>
            <p:cNvSpPr/>
            <p:nvPr/>
          </p:nvSpPr>
          <p:spPr>
            <a:xfrm>
              <a:off x="5889266" y="2164545"/>
              <a:ext cx="413468"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01884377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Scaling </a:t>
            </a:r>
            <a:r>
              <a:rPr lang="en-US" altLang="ko-KR" sz="2800" b="1" dirty="0" err="1"/>
              <a:t>ReplicaSets</a:t>
            </a:r>
            <a:r>
              <a:rPr lang="en-US" altLang="ko-KR" sz="2800" b="1" dirty="0"/>
              <a:t>(1/8)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Scaling Up &amp; Down :</a:t>
            </a:r>
          </a:p>
          <a:p>
            <a:pPr lvl="1">
              <a:buFont typeface="Wingdings" panose="05000000000000000000" pitchFamily="2" charset="2"/>
              <a:buChar char="§"/>
            </a:pPr>
            <a:r>
              <a:rPr lang="en-US" altLang="ko-KR" sz="1400" b="1" dirty="0" err="1"/>
              <a:t>ReplicaSets</a:t>
            </a:r>
            <a:r>
              <a:rPr lang="en-US" altLang="ko-KR" sz="1400" b="1" dirty="0"/>
              <a:t> are scaled up or down by updating the “</a:t>
            </a:r>
            <a:r>
              <a:rPr lang="en-US" altLang="ko-KR" sz="1400" b="1" dirty="0" err="1">
                <a:solidFill>
                  <a:srgbClr val="FF0000"/>
                </a:solidFill>
              </a:rPr>
              <a:t>spec.replicas</a:t>
            </a:r>
            <a:r>
              <a:rPr lang="en-US" altLang="ko-KR" sz="1400" b="1" dirty="0"/>
              <a:t>” key on the </a:t>
            </a:r>
            <a:r>
              <a:rPr lang="en-US" altLang="ko-KR" sz="1400" b="1" dirty="0" err="1"/>
              <a:t>ReplicaSet</a:t>
            </a:r>
            <a:r>
              <a:rPr lang="en-US" altLang="ko-KR" sz="1400" b="1" dirty="0"/>
              <a:t> object stored in Kubernetes</a:t>
            </a:r>
            <a:r>
              <a:rPr lang="en-US" altLang="ko-KR" sz="1400" dirty="0"/>
              <a:t>. When a </a:t>
            </a:r>
            <a:r>
              <a:rPr lang="en-US" altLang="ko-KR" sz="1400" b="1" dirty="0" err="1"/>
              <a:t>ReplicaSet</a:t>
            </a:r>
            <a:r>
              <a:rPr lang="en-US" altLang="ko-KR" sz="1400" dirty="0"/>
              <a:t> is scaled up, </a:t>
            </a:r>
            <a:r>
              <a:rPr lang="en-US" altLang="ko-KR" sz="1400" b="1" dirty="0"/>
              <a:t>new Pods are submitted to the Kubernetes API using the “</a:t>
            </a:r>
            <a:r>
              <a:rPr lang="en-US" altLang="ko-KR" sz="1400" b="1" dirty="0">
                <a:solidFill>
                  <a:srgbClr val="FF0000"/>
                </a:solidFill>
              </a:rPr>
              <a:t>Pod template</a:t>
            </a:r>
            <a:r>
              <a:rPr lang="en-US" altLang="ko-KR" sz="1400" b="1" dirty="0"/>
              <a:t>” defined on the </a:t>
            </a:r>
            <a:r>
              <a:rPr lang="en-US" altLang="ko-KR" sz="1400" b="1" dirty="0" err="1"/>
              <a:t>ReplicaSet</a:t>
            </a:r>
            <a:r>
              <a:rPr lang="en-US" altLang="ko-KR" sz="1400" b="1"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53</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53A83B33-45D9-460F-924F-07BE00BFA817}"/>
              </a:ext>
            </a:extLst>
          </p:cNvPr>
          <p:cNvPicPr>
            <a:picLocks noChangeAspect="1"/>
          </p:cNvPicPr>
          <p:nvPr/>
        </p:nvPicPr>
        <p:blipFill>
          <a:blip r:embed="rId2"/>
          <a:stretch>
            <a:fillRect/>
          </a:stretch>
        </p:blipFill>
        <p:spPr>
          <a:xfrm>
            <a:off x="2091193" y="2192645"/>
            <a:ext cx="8009614" cy="3677237"/>
          </a:xfrm>
          <a:prstGeom prst="rect">
            <a:avLst/>
          </a:prstGeom>
        </p:spPr>
      </p:pic>
    </p:spTree>
    <p:extLst>
      <p:ext uri="{BB962C8B-B14F-4D97-AF65-F5344CB8AC3E}">
        <p14:creationId xmlns:p14="http://schemas.microsoft.com/office/powerpoint/2010/main" val="266504246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Scaling </a:t>
            </a:r>
            <a:r>
              <a:rPr lang="en-US" altLang="ko-KR" sz="2800" b="1" dirty="0" err="1"/>
              <a:t>ReplicaSets</a:t>
            </a:r>
            <a:r>
              <a:rPr lang="en-US" altLang="ko-KR" sz="2800" b="1" dirty="0"/>
              <a:t>(2/8)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Imperative Scaling with “</a:t>
            </a:r>
            <a:r>
              <a:rPr lang="en-US" altLang="ko-KR" sz="1800" b="1" dirty="0" err="1"/>
              <a:t>kubectl</a:t>
            </a:r>
            <a:r>
              <a:rPr lang="en-US" altLang="ko-KR" sz="1800" b="1" dirty="0"/>
              <a:t> scale” :</a:t>
            </a:r>
          </a:p>
          <a:p>
            <a:pPr lvl="1">
              <a:buFont typeface="Wingdings" panose="05000000000000000000" pitchFamily="2" charset="2"/>
              <a:buChar char="§"/>
            </a:pPr>
            <a:r>
              <a:rPr lang="en-US" altLang="ko-KR" sz="1400" dirty="0"/>
              <a:t>The easiest way to achieve this is </a:t>
            </a:r>
            <a:r>
              <a:rPr lang="en-US" altLang="ko-KR" sz="1400" b="1" dirty="0"/>
              <a:t>using the “scale” command in </a:t>
            </a:r>
            <a:r>
              <a:rPr lang="en-US" altLang="ko-KR" sz="1400" b="1" dirty="0" err="1"/>
              <a:t>kubectl</a:t>
            </a:r>
            <a:r>
              <a:rPr lang="en-US" altLang="ko-KR" sz="1400" dirty="0"/>
              <a:t>. For example, to scale up to four replicas you could run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While such </a:t>
            </a:r>
            <a:r>
              <a:rPr lang="en-US" altLang="ko-KR" sz="1400" b="1" dirty="0"/>
              <a:t>imperative commands </a:t>
            </a:r>
            <a:r>
              <a:rPr lang="en-US" altLang="ko-KR" sz="1400" dirty="0"/>
              <a:t>are useful for demonstrations and </a:t>
            </a:r>
            <a:r>
              <a:rPr lang="en-US" altLang="ko-KR" sz="1400" b="1" dirty="0"/>
              <a:t>quick reactions to emergency situations </a:t>
            </a:r>
            <a:r>
              <a:rPr lang="en-US" altLang="ko-KR" sz="1400" dirty="0"/>
              <a:t>(e.g., in response to a sudden increase in load), it is important to also </a:t>
            </a:r>
            <a:r>
              <a:rPr lang="en-US" altLang="ko-KR" sz="1400" b="1" dirty="0"/>
              <a:t>update any text-file configurations to match the number of replicas that you set via the imperative scale command</a:t>
            </a:r>
            <a:r>
              <a:rPr lang="en-US" altLang="ko-KR" sz="1400" dirty="0"/>
              <a:t>. </a:t>
            </a:r>
          </a:p>
          <a:p>
            <a:pPr lvl="1">
              <a:buFont typeface="Wingdings" panose="05000000000000000000" pitchFamily="2" charset="2"/>
              <a:buChar char="§"/>
            </a:pPr>
            <a:r>
              <a:rPr lang="en-US" altLang="ko-KR" sz="1400" b="1" dirty="0"/>
              <a:t>NOTE : Ensure that any imperative changes are immediately followed by a declarative change in source control</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54</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EAF46C3A-B736-4E25-B123-FE520DD19B3C}"/>
              </a:ext>
            </a:extLst>
          </p:cNvPr>
          <p:cNvGrpSpPr/>
          <p:nvPr/>
        </p:nvGrpSpPr>
        <p:grpSpPr>
          <a:xfrm>
            <a:off x="1862135" y="1717684"/>
            <a:ext cx="8467725" cy="2371830"/>
            <a:chOff x="1862135" y="1717684"/>
            <a:chExt cx="8467725" cy="2371830"/>
          </a:xfrm>
        </p:grpSpPr>
        <p:sp>
          <p:nvSpPr>
            <p:cNvPr id="4" name="직사각형 3">
              <a:extLst>
                <a:ext uri="{FF2B5EF4-FFF2-40B4-BE49-F238E27FC236}">
                  <a16:creationId xmlns:a16="http://schemas.microsoft.com/office/drawing/2014/main" id="{B48F3697-50FE-4A2E-92CC-FCEB8631E685}"/>
                </a:ext>
              </a:extLst>
            </p:cNvPr>
            <p:cNvSpPr/>
            <p:nvPr/>
          </p:nvSpPr>
          <p:spPr>
            <a:xfrm>
              <a:off x="4621077" y="1717684"/>
              <a:ext cx="2949845"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scale </a:t>
              </a:r>
              <a:r>
                <a:rPr lang="en-US" altLang="ko-KR" sz="1000" b="1" dirty="0" err="1"/>
                <a:t>replicasets</a:t>
              </a:r>
              <a:r>
                <a:rPr lang="en-US" altLang="ko-KR" sz="1000" b="1" dirty="0"/>
                <a:t> </a:t>
              </a:r>
              <a:r>
                <a:rPr lang="en-US" altLang="ko-KR" sz="1000" b="1" dirty="0" err="1">
                  <a:solidFill>
                    <a:srgbClr val="FF0000"/>
                  </a:solidFill>
                </a:rPr>
                <a:t>kuard</a:t>
              </a:r>
              <a:r>
                <a:rPr lang="en-US" altLang="ko-KR" sz="1000" b="1" dirty="0"/>
                <a:t> </a:t>
              </a:r>
              <a:r>
                <a:rPr lang="en-US" altLang="ko-KR" sz="1000" b="1" dirty="0">
                  <a:solidFill>
                    <a:srgbClr val="FF0000"/>
                  </a:solidFill>
                </a:rPr>
                <a:t>--replicas=4</a:t>
              </a:r>
              <a:endParaRPr lang="ko-KR" altLang="en-US" sz="1000" b="1" dirty="0">
                <a:solidFill>
                  <a:srgbClr val="FF0000"/>
                </a:solidFill>
              </a:endParaRPr>
            </a:p>
          </p:txBody>
        </p:sp>
        <p:pic>
          <p:nvPicPr>
            <p:cNvPr id="8" name="그림 7">
              <a:extLst>
                <a:ext uri="{FF2B5EF4-FFF2-40B4-BE49-F238E27FC236}">
                  <a16:creationId xmlns:a16="http://schemas.microsoft.com/office/drawing/2014/main" id="{13F2CB52-B28D-4848-AD51-2FBE695234FB}"/>
                </a:ext>
              </a:extLst>
            </p:cNvPr>
            <p:cNvPicPr>
              <a:picLocks noChangeAspect="1"/>
            </p:cNvPicPr>
            <p:nvPr/>
          </p:nvPicPr>
          <p:blipFill>
            <a:blip r:embed="rId2"/>
            <a:stretch>
              <a:fillRect/>
            </a:stretch>
          </p:blipFill>
          <p:spPr>
            <a:xfrm>
              <a:off x="1862135" y="2279764"/>
              <a:ext cx="8467725" cy="1809750"/>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C6E9F973-BAC8-4B83-A5CF-6897564E5543}"/>
                </a:ext>
              </a:extLst>
            </p:cNvPr>
            <p:cNvSpPr/>
            <p:nvPr/>
          </p:nvSpPr>
          <p:spPr>
            <a:xfrm>
              <a:off x="5909142" y="1998724"/>
              <a:ext cx="373712"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6684211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Scaling </a:t>
            </a:r>
            <a:r>
              <a:rPr lang="en-US" altLang="ko-KR" sz="2800" b="1" dirty="0" err="1"/>
              <a:t>ReplicaSets</a:t>
            </a:r>
            <a:r>
              <a:rPr lang="en-US" altLang="ko-KR" sz="2800" b="1" dirty="0"/>
              <a:t>(3/8)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Declaratively Scaling with “</a:t>
            </a:r>
            <a:r>
              <a:rPr lang="en-US" altLang="ko-KR" sz="1800" b="1" dirty="0" err="1"/>
              <a:t>kubectl</a:t>
            </a:r>
            <a:r>
              <a:rPr lang="en-US" altLang="ko-KR" sz="1800" b="1" dirty="0"/>
              <a:t> apply” :</a:t>
            </a:r>
          </a:p>
          <a:p>
            <a:pPr lvl="1">
              <a:buFont typeface="Wingdings" panose="05000000000000000000" pitchFamily="2" charset="2"/>
              <a:buChar char="§"/>
            </a:pPr>
            <a:r>
              <a:rPr lang="en-US" altLang="ko-KR" sz="1400" b="1" dirty="0"/>
              <a:t>In a declarative world, we make changes by editing the configuration file in version control and then applying those changes to our cluster</a:t>
            </a:r>
            <a:r>
              <a:rPr lang="en-US" altLang="ko-KR" sz="1400" dirty="0"/>
              <a:t>. </a:t>
            </a:r>
          </a:p>
          <a:p>
            <a:pPr lvl="1">
              <a:buFont typeface="Wingdings" panose="05000000000000000000" pitchFamily="2" charset="2"/>
              <a:buChar char="§"/>
            </a:pPr>
            <a:r>
              <a:rPr lang="en-US" altLang="ko-KR" sz="1400" dirty="0"/>
              <a:t>To scale the “</a:t>
            </a:r>
            <a:r>
              <a:rPr lang="en-US" altLang="ko-KR" sz="1400" b="1" dirty="0" err="1"/>
              <a:t>kuard</a:t>
            </a:r>
            <a:r>
              <a:rPr lang="en-US" altLang="ko-KR" sz="1400" dirty="0"/>
              <a:t>” </a:t>
            </a:r>
            <a:r>
              <a:rPr lang="en-US" altLang="ko-KR" sz="1400" dirty="0" err="1"/>
              <a:t>ReplicaSet</a:t>
            </a:r>
            <a:r>
              <a:rPr lang="en-US" altLang="ko-KR" sz="1400" dirty="0"/>
              <a:t>, edit the “</a:t>
            </a:r>
            <a:r>
              <a:rPr lang="en-US" altLang="ko-KR" sz="1400" b="1" dirty="0" err="1"/>
              <a:t>kuard-rs.yaml</a:t>
            </a:r>
            <a:r>
              <a:rPr lang="en-US" altLang="ko-KR" sz="1400" dirty="0"/>
              <a:t>” configuration file and </a:t>
            </a:r>
            <a:r>
              <a:rPr lang="en-US" altLang="ko-KR" sz="1400" b="1" dirty="0"/>
              <a:t>set the “replicas” count to 3 </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55</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D23556E4-2E68-4475-98C4-14EB5AA1C792}"/>
              </a:ext>
            </a:extLst>
          </p:cNvPr>
          <p:cNvGrpSpPr/>
          <p:nvPr/>
        </p:nvGrpSpPr>
        <p:grpSpPr>
          <a:xfrm>
            <a:off x="1648570" y="2160557"/>
            <a:ext cx="9705230" cy="2862322"/>
            <a:chOff x="1648570" y="1997839"/>
            <a:chExt cx="9705230" cy="2862322"/>
          </a:xfrm>
        </p:grpSpPr>
        <p:grpSp>
          <p:nvGrpSpPr>
            <p:cNvPr id="11" name="그룹 10">
              <a:extLst>
                <a:ext uri="{FF2B5EF4-FFF2-40B4-BE49-F238E27FC236}">
                  <a16:creationId xmlns:a16="http://schemas.microsoft.com/office/drawing/2014/main" id="{BE367BB2-0E20-48C0-B7A4-2B3622DB9A54}"/>
                </a:ext>
              </a:extLst>
            </p:cNvPr>
            <p:cNvGrpSpPr/>
            <p:nvPr/>
          </p:nvGrpSpPr>
          <p:grpSpPr>
            <a:xfrm>
              <a:off x="1648570" y="1997839"/>
              <a:ext cx="9705230" cy="2862322"/>
              <a:chOff x="1648570" y="1997839"/>
              <a:chExt cx="9705230" cy="2862322"/>
            </a:xfrm>
          </p:grpSpPr>
          <p:sp>
            <p:nvSpPr>
              <p:cNvPr id="4" name="직사각형 3">
                <a:extLst>
                  <a:ext uri="{FF2B5EF4-FFF2-40B4-BE49-F238E27FC236}">
                    <a16:creationId xmlns:a16="http://schemas.microsoft.com/office/drawing/2014/main" id="{C4572216-D37B-4012-9285-19CF693F81BA}"/>
                  </a:ext>
                </a:extLst>
              </p:cNvPr>
              <p:cNvSpPr/>
              <p:nvPr/>
            </p:nvSpPr>
            <p:spPr>
              <a:xfrm>
                <a:off x="1648570" y="1997839"/>
                <a:ext cx="6096000" cy="2862322"/>
              </a:xfrm>
              <a:prstGeom prst="rect">
                <a:avLst/>
              </a:prstGeom>
              <a:ln>
                <a:solidFill>
                  <a:schemeClr val="bg1">
                    <a:lumMod val="50000"/>
                  </a:schemeClr>
                </a:solidFill>
              </a:ln>
            </p:spPr>
            <p:txBody>
              <a:bodyPr>
                <a:spAutoFit/>
              </a:bodyPr>
              <a:lstStyle/>
              <a:p>
                <a:r>
                  <a:rPr lang="en-US" altLang="ko-KR" sz="1000" b="1" dirty="0" err="1"/>
                  <a:t>apiVersion</a:t>
                </a:r>
                <a:r>
                  <a:rPr lang="en-US" altLang="ko-KR" sz="1000" b="1" dirty="0"/>
                  <a:t>: apps/v1</a:t>
                </a:r>
              </a:p>
              <a:p>
                <a:r>
                  <a:rPr lang="en-US" altLang="ko-KR" sz="1000" b="1" dirty="0"/>
                  <a:t>kind: </a:t>
                </a:r>
                <a:r>
                  <a:rPr lang="en-US" altLang="ko-KR" sz="1000" b="1" dirty="0" err="1"/>
                  <a:t>ReplicaSet</a:t>
                </a:r>
                <a:endParaRPr lang="en-US" altLang="ko-KR" sz="1000" b="1" dirty="0"/>
              </a:p>
              <a:p>
                <a:r>
                  <a:rPr lang="en-US" altLang="ko-KR" sz="1000" b="1" dirty="0"/>
                  <a:t>metadata:</a:t>
                </a:r>
              </a:p>
              <a:p>
                <a:r>
                  <a:rPr lang="en-US" altLang="ko-KR" sz="1000" b="1" dirty="0"/>
                  <a:t>  name: </a:t>
                </a:r>
                <a:r>
                  <a:rPr lang="en-US" altLang="ko-KR" sz="1000" b="1" dirty="0" err="1"/>
                  <a:t>kuard</a:t>
                </a:r>
                <a:endParaRPr lang="en-US" altLang="ko-KR" sz="1000" b="1" dirty="0"/>
              </a:p>
              <a:p>
                <a:r>
                  <a:rPr lang="en-US" altLang="ko-KR" sz="1000" b="1" dirty="0"/>
                  <a:t>spec:</a:t>
                </a:r>
              </a:p>
              <a:p>
                <a:r>
                  <a:rPr lang="en-US" altLang="ko-KR" sz="1000" b="1" dirty="0"/>
                  <a:t>  replicas: </a:t>
                </a:r>
                <a:r>
                  <a:rPr lang="en-US" altLang="ko-KR" sz="1000" b="1" dirty="0">
                    <a:solidFill>
                      <a:srgbClr val="FF0000"/>
                    </a:solidFill>
                  </a:rPr>
                  <a:t>3</a:t>
                </a:r>
              </a:p>
              <a:p>
                <a:r>
                  <a:rPr lang="en-US" altLang="ko-KR" sz="1000" b="1" dirty="0"/>
                  <a:t>  selector:</a:t>
                </a:r>
              </a:p>
              <a:p>
                <a:r>
                  <a:rPr lang="en-US" altLang="ko-KR" sz="1000" b="1" dirty="0"/>
                  <a:t>    </a:t>
                </a:r>
                <a:r>
                  <a:rPr lang="en-US" altLang="ko-KR" sz="1000" b="1" dirty="0" err="1"/>
                  <a:t>matchLabels</a:t>
                </a:r>
                <a:r>
                  <a:rPr lang="en-US" altLang="ko-KR" sz="1000" b="1" dirty="0"/>
                  <a:t>:</a:t>
                </a:r>
              </a:p>
              <a:p>
                <a:r>
                  <a:rPr lang="en-US" altLang="ko-KR" sz="1000" b="1" dirty="0"/>
                  <a:t>      app: </a:t>
                </a:r>
                <a:r>
                  <a:rPr lang="en-US" altLang="ko-KR" sz="1000" b="1" dirty="0" err="1"/>
                  <a:t>kuard</a:t>
                </a:r>
                <a:endParaRPr lang="en-US" altLang="ko-KR" sz="1000" b="1" dirty="0"/>
              </a:p>
              <a:p>
                <a:r>
                  <a:rPr lang="en-US" altLang="ko-KR" sz="1000" b="1" dirty="0"/>
                  <a:t>  template:</a:t>
                </a:r>
              </a:p>
              <a:p>
                <a:r>
                  <a:rPr lang="en-US" altLang="ko-KR" sz="1000" b="1" dirty="0"/>
                  <a:t>    metadata:</a:t>
                </a:r>
              </a:p>
              <a:p>
                <a:r>
                  <a:rPr lang="en-US" altLang="ko-KR" sz="1000" b="1" dirty="0"/>
                  <a:t>      labels:</a:t>
                </a:r>
              </a:p>
              <a:p>
                <a:r>
                  <a:rPr lang="en-US" altLang="ko-KR" sz="1000" b="1" dirty="0"/>
                  <a:t>        app: </a:t>
                </a:r>
                <a:r>
                  <a:rPr lang="en-US" altLang="ko-KR" sz="1000" b="1" dirty="0" err="1"/>
                  <a:t>kuard</a:t>
                </a:r>
                <a:endParaRPr lang="en-US" altLang="ko-KR" sz="1000" b="1" dirty="0"/>
              </a:p>
              <a:p>
                <a:r>
                  <a:rPr lang="en-US" altLang="ko-KR" sz="1000" b="1" dirty="0"/>
                  <a:t>        version: "1"</a:t>
                </a:r>
              </a:p>
              <a:p>
                <a:r>
                  <a:rPr lang="en-US" altLang="ko-KR" sz="1000" b="1" dirty="0"/>
                  <a:t>    spec:</a:t>
                </a:r>
              </a:p>
              <a:p>
                <a:r>
                  <a:rPr lang="en-US" altLang="ko-KR" sz="1000" b="1" dirty="0"/>
                  <a:t>      containers:</a:t>
                </a:r>
              </a:p>
              <a:p>
                <a:r>
                  <a:rPr lang="en-US" altLang="ko-KR" sz="1000" b="1" dirty="0"/>
                  <a:t>        - name: </a:t>
                </a:r>
                <a:r>
                  <a:rPr lang="en-US" altLang="ko-KR" sz="1000" b="1" dirty="0" err="1"/>
                  <a:t>kuard</a:t>
                </a:r>
                <a:endParaRPr lang="en-US" altLang="ko-KR" sz="1000" b="1" dirty="0"/>
              </a:p>
              <a:p>
                <a:r>
                  <a:rPr lang="en-US" altLang="ko-KR" sz="1000" b="1" dirty="0"/>
                  <a:t>          image: "knix008/kuard-shkwon-amd64:1.0"</a:t>
                </a:r>
                <a:endParaRPr lang="ko-KR" altLang="en-US" sz="1000" b="1" dirty="0"/>
              </a:p>
            </p:txBody>
          </p:sp>
          <p:grpSp>
            <p:nvGrpSpPr>
              <p:cNvPr id="10" name="그룹 9">
                <a:extLst>
                  <a:ext uri="{FF2B5EF4-FFF2-40B4-BE49-F238E27FC236}">
                    <a16:creationId xmlns:a16="http://schemas.microsoft.com/office/drawing/2014/main" id="{A6BA2A38-1456-4D72-AB2B-BBF061CBE1D9}"/>
                  </a:ext>
                </a:extLst>
              </p:cNvPr>
              <p:cNvGrpSpPr/>
              <p:nvPr/>
            </p:nvGrpSpPr>
            <p:grpSpPr>
              <a:xfrm>
                <a:off x="3589352" y="2399608"/>
                <a:ext cx="7764448" cy="2058783"/>
                <a:chOff x="3589352" y="2399608"/>
                <a:chExt cx="7764448" cy="2058783"/>
              </a:xfrm>
            </p:grpSpPr>
            <p:pic>
              <p:nvPicPr>
                <p:cNvPr id="8" name="그림 7">
                  <a:extLst>
                    <a:ext uri="{FF2B5EF4-FFF2-40B4-BE49-F238E27FC236}">
                      <a16:creationId xmlns:a16="http://schemas.microsoft.com/office/drawing/2014/main" id="{474B7EEE-C141-40E7-901A-1EB10769AB84}"/>
                    </a:ext>
                  </a:extLst>
                </p:cNvPr>
                <p:cNvPicPr>
                  <a:picLocks noChangeAspect="1"/>
                </p:cNvPicPr>
                <p:nvPr/>
              </p:nvPicPr>
              <p:blipFill>
                <a:blip r:embed="rId2"/>
                <a:stretch>
                  <a:fillRect/>
                </a:stretch>
              </p:blipFill>
              <p:spPr>
                <a:xfrm>
                  <a:off x="3943847" y="2399608"/>
                  <a:ext cx="7409953" cy="2058783"/>
                </a:xfrm>
                <a:prstGeom prst="rect">
                  <a:avLst/>
                </a:prstGeom>
                <a:ln>
                  <a:solidFill>
                    <a:schemeClr val="bg1">
                      <a:lumMod val="50000"/>
                    </a:schemeClr>
                  </a:solidFill>
                </a:ln>
              </p:spPr>
            </p:pic>
            <p:sp>
              <p:nvSpPr>
                <p:cNvPr id="9" name="화살표: 오른쪽 8">
                  <a:extLst>
                    <a:ext uri="{FF2B5EF4-FFF2-40B4-BE49-F238E27FC236}">
                      <a16:creationId xmlns:a16="http://schemas.microsoft.com/office/drawing/2014/main" id="{55A9F48E-F581-4603-9095-36570FA833C4}"/>
                    </a:ext>
                  </a:extLst>
                </p:cNvPr>
                <p:cNvSpPr/>
                <p:nvPr/>
              </p:nvSpPr>
              <p:spPr>
                <a:xfrm>
                  <a:off x="3589352" y="3243316"/>
                  <a:ext cx="346544" cy="381663"/>
                </a:xfrm>
                <a:prstGeom prst="right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12" name="직사각형 11">
              <a:extLst>
                <a:ext uri="{FF2B5EF4-FFF2-40B4-BE49-F238E27FC236}">
                  <a16:creationId xmlns:a16="http://schemas.microsoft.com/office/drawing/2014/main" id="{39E61DBA-7208-4757-A16C-940B25C59295}"/>
                </a:ext>
              </a:extLst>
            </p:cNvPr>
            <p:cNvSpPr/>
            <p:nvPr/>
          </p:nvSpPr>
          <p:spPr>
            <a:xfrm>
              <a:off x="4063118" y="3999506"/>
              <a:ext cx="2647784" cy="19878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0339496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Scaling </a:t>
            </a:r>
            <a:r>
              <a:rPr lang="en-US" altLang="ko-KR" sz="2800" b="1" dirty="0" err="1"/>
              <a:t>ReplicaSets</a:t>
            </a:r>
            <a:r>
              <a:rPr lang="en-US" altLang="ko-KR" sz="2800" b="1" dirty="0"/>
              <a:t>(4/8)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Declaratively Scaling with “</a:t>
            </a:r>
            <a:r>
              <a:rPr lang="en-US" altLang="ko-KR" sz="1800" b="1" dirty="0" err="1"/>
              <a:t>kubectl</a:t>
            </a:r>
            <a:r>
              <a:rPr lang="en-US" altLang="ko-KR" sz="1800" b="1" dirty="0"/>
              <a:t> apply” :</a:t>
            </a:r>
          </a:p>
          <a:p>
            <a:pPr lvl="1">
              <a:buFont typeface="Wingdings" panose="05000000000000000000" pitchFamily="2" charset="2"/>
              <a:buChar char="§"/>
            </a:pPr>
            <a:r>
              <a:rPr lang="en-US" altLang="ko-KR" sz="1400" b="1" dirty="0"/>
              <a:t>Now that the updated “</a:t>
            </a:r>
            <a:r>
              <a:rPr lang="en-US" altLang="ko-KR" sz="1400" b="1" dirty="0" err="1"/>
              <a:t>kuard</a:t>
            </a:r>
            <a:r>
              <a:rPr lang="en-US" altLang="ko-KR" sz="1400" b="1" dirty="0"/>
              <a:t>” </a:t>
            </a:r>
            <a:r>
              <a:rPr lang="en-US" altLang="ko-KR" sz="1400" b="1" dirty="0" err="1"/>
              <a:t>ReplicaSet</a:t>
            </a:r>
            <a:r>
              <a:rPr lang="en-US" altLang="ko-KR" sz="1400" b="1" dirty="0"/>
              <a:t> is in place</a:t>
            </a:r>
            <a:r>
              <a:rPr lang="en-US" altLang="ko-KR" sz="1400" dirty="0"/>
              <a:t>, </a:t>
            </a:r>
            <a:r>
              <a:rPr lang="en-US" altLang="ko-KR" sz="1400" b="1" dirty="0"/>
              <a:t>the </a:t>
            </a:r>
            <a:r>
              <a:rPr lang="en-US" altLang="ko-KR" sz="1400" b="1" dirty="0" err="1"/>
              <a:t>ReplicaSet</a:t>
            </a:r>
            <a:r>
              <a:rPr lang="en-US" altLang="ko-KR" sz="1400" b="1" dirty="0"/>
              <a:t> controller will detect that the number of desired Pods has changed and that it needs to take action to realize that desired state</a:t>
            </a:r>
            <a:r>
              <a:rPr lang="en-US" altLang="ko-KR" sz="1400" dirty="0"/>
              <a:t>. If you used the imperative scale command in the previous section, the </a:t>
            </a:r>
            <a:r>
              <a:rPr lang="en-US" altLang="ko-KR" sz="1400" dirty="0" err="1"/>
              <a:t>ReplicaSet</a:t>
            </a:r>
            <a:r>
              <a:rPr lang="en-US" altLang="ko-KR" sz="1400" dirty="0"/>
              <a:t> controller will destroy one Pod to get the number to three. Otherwise, </a:t>
            </a:r>
            <a:r>
              <a:rPr lang="en-US" altLang="ko-KR" sz="1400" b="1" dirty="0"/>
              <a:t>it will submit two new Pods to the Kubernetes API using the “Pod template” defined on the “</a:t>
            </a:r>
            <a:r>
              <a:rPr lang="en-US" altLang="ko-KR" sz="1400" b="1" dirty="0" err="1"/>
              <a:t>kuard</a:t>
            </a:r>
            <a:r>
              <a:rPr lang="en-US" altLang="ko-KR" sz="1400" b="1" dirty="0"/>
              <a:t>” </a:t>
            </a:r>
            <a:r>
              <a:rPr lang="en-US" altLang="ko-KR" sz="1400" b="1" dirty="0" err="1"/>
              <a:t>ReplicaSet</a:t>
            </a:r>
            <a:r>
              <a:rPr lang="en-US" altLang="ko-KR" sz="1400" dirty="0"/>
              <a:t>. </a:t>
            </a:r>
          </a:p>
          <a:p>
            <a:pPr lvl="1">
              <a:buFont typeface="Wingdings" panose="05000000000000000000" pitchFamily="2" charset="2"/>
              <a:buChar char="§"/>
            </a:pPr>
            <a:r>
              <a:rPr lang="en-US" altLang="ko-KR" sz="1400" dirty="0"/>
              <a:t>Use the “</a:t>
            </a:r>
            <a:r>
              <a:rPr lang="en-US" altLang="ko-KR" sz="1400" b="1" dirty="0" err="1"/>
              <a:t>kubectl</a:t>
            </a:r>
            <a:r>
              <a:rPr lang="en-US" altLang="ko-KR" sz="1400" b="1" dirty="0"/>
              <a:t> get pods</a:t>
            </a:r>
            <a:r>
              <a:rPr lang="en-US" altLang="ko-KR" sz="1400" dirty="0"/>
              <a:t>” command to </a:t>
            </a:r>
            <a:r>
              <a:rPr lang="en-US" altLang="ko-KR" sz="1400" b="1" dirty="0"/>
              <a:t>list the running “</a:t>
            </a:r>
            <a:r>
              <a:rPr lang="en-US" altLang="ko-KR" sz="1400" b="1" dirty="0" err="1"/>
              <a:t>kuard</a:t>
            </a:r>
            <a:r>
              <a:rPr lang="en-US" altLang="ko-KR" sz="1400" b="1" dirty="0"/>
              <a:t>” Pods</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56</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65AE2E7E-3C14-4ACF-921D-17E0417B4E34}"/>
              </a:ext>
            </a:extLst>
          </p:cNvPr>
          <p:cNvGrpSpPr/>
          <p:nvPr/>
        </p:nvGrpSpPr>
        <p:grpSpPr>
          <a:xfrm>
            <a:off x="2138362" y="2662401"/>
            <a:ext cx="7915275" cy="2359080"/>
            <a:chOff x="2138360" y="2519278"/>
            <a:chExt cx="7915275" cy="2359080"/>
          </a:xfrm>
        </p:grpSpPr>
        <p:pic>
          <p:nvPicPr>
            <p:cNvPr id="4" name="그림 3">
              <a:extLst>
                <a:ext uri="{FF2B5EF4-FFF2-40B4-BE49-F238E27FC236}">
                  <a16:creationId xmlns:a16="http://schemas.microsoft.com/office/drawing/2014/main" id="{89061A6B-0136-4216-ABED-72772A665966}"/>
                </a:ext>
              </a:extLst>
            </p:cNvPr>
            <p:cNvPicPr>
              <a:picLocks noChangeAspect="1"/>
            </p:cNvPicPr>
            <p:nvPr/>
          </p:nvPicPr>
          <p:blipFill>
            <a:blip r:embed="rId2"/>
            <a:stretch>
              <a:fillRect/>
            </a:stretch>
          </p:blipFill>
          <p:spPr>
            <a:xfrm>
              <a:off x="2138360" y="3068608"/>
              <a:ext cx="7915275" cy="1809750"/>
            </a:xfrm>
            <a:prstGeom prst="rect">
              <a:avLst/>
            </a:prstGeom>
            <a:ln>
              <a:solidFill>
                <a:schemeClr val="bg1">
                  <a:lumMod val="50000"/>
                </a:schemeClr>
              </a:solidFill>
            </a:ln>
          </p:spPr>
        </p:pic>
        <p:sp>
          <p:nvSpPr>
            <p:cNvPr id="8" name="직사각형 7">
              <a:extLst>
                <a:ext uri="{FF2B5EF4-FFF2-40B4-BE49-F238E27FC236}">
                  <a16:creationId xmlns:a16="http://schemas.microsoft.com/office/drawing/2014/main" id="{BCFDB8F4-82D9-47BA-9EE9-DC4CA7CD82DD}"/>
                </a:ext>
              </a:extLst>
            </p:cNvPr>
            <p:cNvSpPr/>
            <p:nvPr/>
          </p:nvSpPr>
          <p:spPr>
            <a:xfrm>
              <a:off x="5425782" y="2519278"/>
              <a:ext cx="1340432"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get pods</a:t>
              </a:r>
              <a:endParaRPr lang="ko-KR" altLang="en-US" sz="1000" b="1" dirty="0"/>
            </a:p>
          </p:txBody>
        </p:sp>
        <p:sp>
          <p:nvSpPr>
            <p:cNvPr id="9" name="화살표: 아래쪽 8">
              <a:extLst>
                <a:ext uri="{FF2B5EF4-FFF2-40B4-BE49-F238E27FC236}">
                  <a16:creationId xmlns:a16="http://schemas.microsoft.com/office/drawing/2014/main" id="{1E983EFC-C20C-469F-9902-D73B1AE3B097}"/>
                </a:ext>
              </a:extLst>
            </p:cNvPr>
            <p:cNvSpPr/>
            <p:nvPr/>
          </p:nvSpPr>
          <p:spPr>
            <a:xfrm>
              <a:off x="5901191" y="2784173"/>
              <a:ext cx="389614" cy="26576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55743665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Scaling </a:t>
            </a:r>
            <a:r>
              <a:rPr lang="en-US" altLang="ko-KR" sz="2800" b="1" dirty="0" err="1"/>
              <a:t>ReplicaSets</a:t>
            </a:r>
            <a:r>
              <a:rPr lang="en-US" altLang="ko-KR" sz="2800" b="1" dirty="0"/>
              <a:t>(5/8)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Autoscaling a </a:t>
            </a:r>
            <a:r>
              <a:rPr lang="en-US" altLang="ko-KR" sz="1800" b="1" dirty="0" err="1"/>
              <a:t>ReplicaSet</a:t>
            </a:r>
            <a:r>
              <a:rPr lang="en-US" altLang="ko-KR" sz="1800" b="1" dirty="0"/>
              <a:t> :</a:t>
            </a:r>
          </a:p>
          <a:p>
            <a:pPr lvl="1">
              <a:buFont typeface="Wingdings" panose="05000000000000000000" pitchFamily="2" charset="2"/>
              <a:buChar char="§"/>
            </a:pPr>
            <a:r>
              <a:rPr lang="en-US" altLang="ko-KR" sz="1400" b="1" dirty="0"/>
              <a:t>While there will be times when you want to have explicit control over the number of replicas in a </a:t>
            </a:r>
            <a:r>
              <a:rPr lang="en-US" altLang="ko-KR" sz="1400" b="1" dirty="0" err="1"/>
              <a:t>ReplicaSet</a:t>
            </a:r>
            <a:r>
              <a:rPr lang="en-US" altLang="ko-KR" sz="1400" b="1" dirty="0"/>
              <a:t>, often you simply want to have “enough” replicas</a:t>
            </a:r>
            <a:r>
              <a:rPr lang="en-US" altLang="ko-KR" sz="1400" dirty="0"/>
              <a:t>. The definition varies depending on the needs of the containers in the </a:t>
            </a:r>
            <a:r>
              <a:rPr lang="en-US" altLang="ko-KR" sz="1400" b="1" dirty="0" err="1"/>
              <a:t>ReplicaSet</a:t>
            </a:r>
            <a:r>
              <a:rPr lang="en-US" altLang="ko-KR" sz="1400" dirty="0"/>
              <a:t>. </a:t>
            </a:r>
          </a:p>
          <a:p>
            <a:pPr lvl="1">
              <a:buFont typeface="Wingdings" panose="05000000000000000000" pitchFamily="2" charset="2"/>
              <a:buChar char="§"/>
            </a:pPr>
            <a:r>
              <a:rPr lang="en-US" altLang="ko-KR" sz="1400" dirty="0"/>
              <a:t>For example, with a web server like </a:t>
            </a:r>
            <a:r>
              <a:rPr lang="en-US" altLang="ko-KR" sz="1400" b="1" dirty="0"/>
              <a:t>NGINX</a:t>
            </a:r>
            <a:r>
              <a:rPr lang="en-US" altLang="ko-KR" sz="1400" dirty="0"/>
              <a:t>, </a:t>
            </a:r>
            <a:r>
              <a:rPr lang="en-US" altLang="ko-KR" sz="1400" b="1" dirty="0"/>
              <a:t>you may want to scale due to CPU usage</a:t>
            </a:r>
            <a:r>
              <a:rPr lang="en-US" altLang="ko-KR" sz="1400" dirty="0"/>
              <a:t>. </a:t>
            </a:r>
            <a:r>
              <a:rPr lang="en-US" altLang="ko-KR" sz="1400" b="1" dirty="0"/>
              <a:t>For an in-memory cache, you may want to scale with memory consumption</a:t>
            </a:r>
            <a:r>
              <a:rPr lang="en-US" altLang="ko-KR" sz="1400" dirty="0"/>
              <a:t>. </a:t>
            </a:r>
            <a:r>
              <a:rPr lang="en-US" altLang="ko-KR" sz="1400" b="1" dirty="0"/>
              <a:t>In some cases you may want to scale in response to custom application metrics</a:t>
            </a:r>
            <a:r>
              <a:rPr lang="en-US" altLang="ko-KR" sz="1400" dirty="0"/>
              <a:t>. Kubernetes can handle all of these scenarios via “</a:t>
            </a:r>
            <a:r>
              <a:rPr lang="en-US" altLang="ko-KR" sz="1400" b="1" dirty="0">
                <a:solidFill>
                  <a:srgbClr val="FF0000"/>
                </a:solidFill>
              </a:rPr>
              <a:t>Horizontal Pod Autoscaling (HPA)</a:t>
            </a:r>
            <a:r>
              <a:rPr lang="en-US" altLang="ko-KR" sz="1400" b="1" dirty="0"/>
              <a:t>”</a:t>
            </a:r>
            <a:r>
              <a:rPr lang="en-US" altLang="ko-KR" sz="1400" dirty="0"/>
              <a:t>.</a:t>
            </a:r>
          </a:p>
          <a:p>
            <a:pPr lvl="1">
              <a:buFont typeface="Wingdings" panose="05000000000000000000" pitchFamily="2" charset="2"/>
              <a:buChar char="§"/>
            </a:pPr>
            <a:r>
              <a:rPr lang="en-US" altLang="ko-KR" sz="1400" b="1" dirty="0"/>
              <a:t>NOTE : HPA requires the presence of the “</a:t>
            </a:r>
            <a:r>
              <a:rPr lang="en-US" altLang="ko-KR" sz="1400" b="1" dirty="0" err="1">
                <a:solidFill>
                  <a:srgbClr val="FF0000"/>
                </a:solidFill>
              </a:rPr>
              <a:t>heapster</a:t>
            </a:r>
            <a:r>
              <a:rPr lang="en-US" altLang="ko-KR" sz="1400" b="1" dirty="0"/>
              <a:t>” Pod on your cluster</a:t>
            </a:r>
            <a:r>
              <a:rPr lang="en-US" altLang="ko-KR" sz="1400" dirty="0"/>
              <a:t>. </a:t>
            </a:r>
            <a:r>
              <a:rPr lang="en-US" altLang="ko-KR" sz="1400" b="1" dirty="0" err="1"/>
              <a:t>heapster</a:t>
            </a:r>
            <a:r>
              <a:rPr lang="en-US" altLang="ko-KR" sz="1400" b="1" dirty="0"/>
              <a:t> keeps track of metrics and provides an API for consuming metrics that HPA uses when making scaling decisions</a:t>
            </a:r>
            <a:r>
              <a:rPr lang="en-US" altLang="ko-KR" sz="1400" dirty="0"/>
              <a:t>. </a:t>
            </a:r>
            <a:r>
              <a:rPr lang="en-US" altLang="ko-KR" sz="1400" b="1" dirty="0">
                <a:solidFill>
                  <a:srgbClr val="FF0000"/>
                </a:solidFill>
              </a:rPr>
              <a:t>Now the “</a:t>
            </a:r>
            <a:r>
              <a:rPr lang="en-US" altLang="ko-KR" sz="1400" b="1" dirty="0" err="1">
                <a:solidFill>
                  <a:srgbClr val="FF0000"/>
                </a:solidFill>
              </a:rPr>
              <a:t>heapster</a:t>
            </a:r>
            <a:r>
              <a:rPr lang="en-US" altLang="ko-KR" sz="1400" b="1" dirty="0">
                <a:solidFill>
                  <a:srgbClr val="FF0000"/>
                </a:solidFill>
              </a:rPr>
              <a:t>” is deprecated. It will not be installed together with </a:t>
            </a:r>
            <a:r>
              <a:rPr lang="en-US" altLang="ko-KR" sz="1400" b="1" dirty="0" err="1">
                <a:solidFill>
                  <a:srgbClr val="FF0000"/>
                </a:solidFill>
              </a:rPr>
              <a:t>kubernetes</a:t>
            </a:r>
            <a:r>
              <a:rPr lang="en-US" altLang="ko-KR" sz="1400" dirty="0"/>
              <a:t>. You can validate its presence by listing the Pods in the “</a:t>
            </a:r>
            <a:r>
              <a:rPr lang="en-US" altLang="ko-KR" sz="1400" b="1" dirty="0" err="1"/>
              <a:t>kube</a:t>
            </a:r>
            <a:r>
              <a:rPr lang="en-US" altLang="ko-KR" sz="1400" b="1" dirty="0"/>
              <a:t>-system namespace</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57</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B1DD816E-ECB0-4F63-97DD-455A66E4067D}"/>
              </a:ext>
            </a:extLst>
          </p:cNvPr>
          <p:cNvGrpSpPr/>
          <p:nvPr/>
        </p:nvGrpSpPr>
        <p:grpSpPr>
          <a:xfrm>
            <a:off x="1469833" y="3423721"/>
            <a:ext cx="9252334" cy="2839260"/>
            <a:chOff x="1469833" y="3244334"/>
            <a:chExt cx="9252334" cy="2839260"/>
          </a:xfrm>
        </p:grpSpPr>
        <p:sp>
          <p:nvSpPr>
            <p:cNvPr id="4" name="직사각형 3">
              <a:extLst>
                <a:ext uri="{FF2B5EF4-FFF2-40B4-BE49-F238E27FC236}">
                  <a16:creationId xmlns:a16="http://schemas.microsoft.com/office/drawing/2014/main" id="{97BD075E-6668-4D6E-8801-7F9E878809D7}"/>
                </a:ext>
              </a:extLst>
            </p:cNvPr>
            <p:cNvSpPr/>
            <p:nvPr/>
          </p:nvSpPr>
          <p:spPr>
            <a:xfrm>
              <a:off x="4575390" y="3244334"/>
              <a:ext cx="3041217"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get pods </a:t>
              </a:r>
              <a:r>
                <a:rPr lang="en-US" altLang="ko-KR" sz="1000" b="1" dirty="0">
                  <a:solidFill>
                    <a:srgbClr val="FF0000"/>
                  </a:solidFill>
                </a:rPr>
                <a:t>--namespace=</a:t>
              </a:r>
              <a:r>
                <a:rPr lang="en-US" altLang="ko-KR" sz="1000" b="1" dirty="0" err="1">
                  <a:solidFill>
                    <a:srgbClr val="FF0000"/>
                  </a:solidFill>
                </a:rPr>
                <a:t>kube</a:t>
              </a:r>
              <a:r>
                <a:rPr lang="en-US" altLang="ko-KR" sz="1000" b="1" dirty="0">
                  <a:solidFill>
                    <a:srgbClr val="FF0000"/>
                  </a:solidFill>
                </a:rPr>
                <a:t>-system</a:t>
              </a:r>
              <a:endParaRPr lang="ko-KR" altLang="en-US" sz="1000" b="1" dirty="0">
                <a:solidFill>
                  <a:srgbClr val="FF0000"/>
                </a:solidFill>
              </a:endParaRPr>
            </a:p>
          </p:txBody>
        </p:sp>
        <p:pic>
          <p:nvPicPr>
            <p:cNvPr id="9" name="그림 8">
              <a:extLst>
                <a:ext uri="{FF2B5EF4-FFF2-40B4-BE49-F238E27FC236}">
                  <a16:creationId xmlns:a16="http://schemas.microsoft.com/office/drawing/2014/main" id="{86DE1527-0CAC-494E-AEDB-00F8A3F6DBAD}"/>
                </a:ext>
              </a:extLst>
            </p:cNvPr>
            <p:cNvPicPr>
              <a:picLocks noChangeAspect="1"/>
            </p:cNvPicPr>
            <p:nvPr/>
          </p:nvPicPr>
          <p:blipFill>
            <a:blip r:embed="rId2"/>
            <a:stretch>
              <a:fillRect/>
            </a:stretch>
          </p:blipFill>
          <p:spPr>
            <a:xfrm>
              <a:off x="1469833" y="3779763"/>
              <a:ext cx="9252334" cy="2303831"/>
            </a:xfrm>
            <a:prstGeom prst="rect">
              <a:avLst/>
            </a:prstGeom>
            <a:ln>
              <a:solidFill>
                <a:schemeClr val="bg1">
                  <a:lumMod val="50000"/>
                </a:schemeClr>
              </a:solidFill>
            </a:ln>
          </p:spPr>
        </p:pic>
        <p:sp>
          <p:nvSpPr>
            <p:cNvPr id="10" name="화살표: 아래쪽 9">
              <a:extLst>
                <a:ext uri="{FF2B5EF4-FFF2-40B4-BE49-F238E27FC236}">
                  <a16:creationId xmlns:a16="http://schemas.microsoft.com/office/drawing/2014/main" id="{8B77F810-2E82-412D-A2E3-990F7ECACC65}"/>
                </a:ext>
              </a:extLst>
            </p:cNvPr>
            <p:cNvSpPr/>
            <p:nvPr/>
          </p:nvSpPr>
          <p:spPr>
            <a:xfrm>
              <a:off x="5905166" y="3509714"/>
              <a:ext cx="381663"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08260362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Scaling </a:t>
            </a:r>
            <a:r>
              <a:rPr lang="en-US" altLang="ko-KR" sz="2800" b="1" dirty="0" err="1"/>
              <a:t>ReplicaSets</a:t>
            </a:r>
            <a:r>
              <a:rPr lang="en-US" altLang="ko-KR" sz="2800" b="1" dirty="0"/>
              <a:t>(6/8)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Autoscaling a </a:t>
            </a:r>
            <a:r>
              <a:rPr lang="en-US" altLang="ko-KR" sz="1800" b="1" dirty="0" err="1"/>
              <a:t>ReplicaSet</a:t>
            </a:r>
            <a:r>
              <a:rPr lang="en-US" altLang="ko-KR" sz="1800" b="1" dirty="0"/>
              <a:t> :</a:t>
            </a:r>
          </a:p>
          <a:p>
            <a:pPr lvl="1">
              <a:buFont typeface="Wingdings" panose="05000000000000000000" pitchFamily="2" charset="2"/>
              <a:buChar char="§"/>
            </a:pPr>
            <a:r>
              <a:rPr lang="en-US" altLang="ko-KR" sz="1400" b="1" dirty="0"/>
              <a:t>“</a:t>
            </a:r>
            <a:r>
              <a:rPr lang="en-US" altLang="ko-KR" sz="1400" b="1" dirty="0">
                <a:solidFill>
                  <a:srgbClr val="FF0000"/>
                </a:solidFill>
              </a:rPr>
              <a:t>Horizontal Pod Autoscaling</a:t>
            </a:r>
            <a:r>
              <a:rPr lang="en-US" altLang="ko-KR" sz="1400" b="1" dirty="0"/>
              <a:t>” </a:t>
            </a:r>
            <a:r>
              <a:rPr lang="en-US" altLang="ko-KR" sz="1400" dirty="0"/>
              <a:t>is kind of a mouthful, and you might wonder why it is not simply called </a:t>
            </a:r>
            <a:r>
              <a:rPr lang="en-US" altLang="ko-KR" sz="1400" b="1" dirty="0"/>
              <a:t>“</a:t>
            </a:r>
            <a:r>
              <a:rPr lang="en-US" altLang="ko-KR" sz="1400" b="1" dirty="0">
                <a:solidFill>
                  <a:srgbClr val="FF0000"/>
                </a:solidFill>
              </a:rPr>
              <a:t>autoscaling</a:t>
            </a:r>
            <a:r>
              <a:rPr lang="en-US" altLang="ko-KR" sz="1400" b="1" dirty="0"/>
              <a:t>.”</a:t>
            </a:r>
            <a:r>
              <a:rPr lang="en-US" altLang="ko-KR" sz="1400" dirty="0"/>
              <a:t> </a:t>
            </a:r>
            <a:r>
              <a:rPr lang="en-US" altLang="ko-KR" sz="1400" b="1" dirty="0"/>
              <a:t>Kubernetes makes a distinction between “</a:t>
            </a:r>
            <a:r>
              <a:rPr lang="en-US" altLang="ko-KR" sz="1400" b="1" dirty="0">
                <a:solidFill>
                  <a:srgbClr val="FF0000"/>
                </a:solidFill>
              </a:rPr>
              <a:t>horizontal scaling</a:t>
            </a:r>
            <a:r>
              <a:rPr lang="en-US" altLang="ko-KR" sz="1400" b="1" dirty="0"/>
              <a:t>”, which involves creating additional replicas of a Pod, and “</a:t>
            </a:r>
            <a:r>
              <a:rPr lang="en-US" altLang="ko-KR" sz="1400" b="1" dirty="0">
                <a:solidFill>
                  <a:srgbClr val="FF0000"/>
                </a:solidFill>
              </a:rPr>
              <a:t>vertical scaling</a:t>
            </a:r>
            <a:r>
              <a:rPr lang="en-US" altLang="ko-KR" sz="1400" b="1" dirty="0"/>
              <a:t>”, which involves increasing the resources required for a particular Pod (e.g., increasing the CPU required for the Pod)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58</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0114D947-7613-4BA2-894A-DF2F6132DAA2}"/>
              </a:ext>
            </a:extLst>
          </p:cNvPr>
          <p:cNvPicPr>
            <a:picLocks noChangeAspect="1"/>
          </p:cNvPicPr>
          <p:nvPr/>
        </p:nvPicPr>
        <p:blipFill>
          <a:blip r:embed="rId2"/>
          <a:stretch>
            <a:fillRect/>
          </a:stretch>
        </p:blipFill>
        <p:spPr>
          <a:xfrm>
            <a:off x="3325343" y="2227809"/>
            <a:ext cx="5541314" cy="3415878"/>
          </a:xfrm>
          <a:prstGeom prst="rect">
            <a:avLst/>
          </a:prstGeom>
        </p:spPr>
      </p:pic>
    </p:spTree>
    <p:extLst>
      <p:ext uri="{BB962C8B-B14F-4D97-AF65-F5344CB8AC3E}">
        <p14:creationId xmlns:p14="http://schemas.microsoft.com/office/powerpoint/2010/main" val="240294068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Scaling </a:t>
            </a:r>
            <a:r>
              <a:rPr lang="en-US" altLang="ko-KR" sz="2800" b="1" dirty="0" err="1"/>
              <a:t>ReplicaSets</a:t>
            </a:r>
            <a:r>
              <a:rPr lang="en-US" altLang="ko-KR" sz="2800" b="1" dirty="0"/>
              <a:t>(7/8)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Autoscaling Based on CPU :</a:t>
            </a:r>
          </a:p>
          <a:p>
            <a:pPr lvl="1">
              <a:buFont typeface="Wingdings" panose="05000000000000000000" pitchFamily="2" charset="2"/>
              <a:buChar char="§"/>
            </a:pPr>
            <a:r>
              <a:rPr lang="en-US" altLang="ko-KR" sz="1400" dirty="0"/>
              <a:t>Scaling based on CPU usage is the most common use case for Pod autoscaling. Generally it is most useful for request-based systems that consume CPU proportionally to the number of requests they are receiving, while using a relatively static amount of memory.</a:t>
            </a:r>
          </a:p>
          <a:p>
            <a:pPr lvl="1">
              <a:buFont typeface="Wingdings" panose="05000000000000000000" pitchFamily="2" charset="2"/>
              <a:buChar char="§"/>
            </a:pPr>
            <a:r>
              <a:rPr lang="en-US" altLang="ko-KR" sz="1400" dirty="0"/>
              <a:t>For example, to </a:t>
            </a:r>
            <a:r>
              <a:rPr lang="en-US" altLang="ko-KR" sz="1400" b="1" dirty="0"/>
              <a:t>scale a </a:t>
            </a:r>
            <a:r>
              <a:rPr lang="en-US" altLang="ko-KR" sz="1400" b="1" dirty="0" err="1"/>
              <a:t>ReplicaSet</a:t>
            </a:r>
            <a:r>
              <a:rPr lang="en-US" altLang="ko-KR" sz="1400" dirty="0"/>
              <a:t>, you can run a command like the following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This command creates an “</a:t>
            </a:r>
            <a:r>
              <a:rPr lang="en-US" altLang="ko-KR" sz="1400" b="1" dirty="0" err="1"/>
              <a:t>autoscaler</a:t>
            </a:r>
            <a:r>
              <a:rPr lang="en-US" altLang="ko-KR" sz="1400" b="1" dirty="0"/>
              <a:t>”</a:t>
            </a:r>
            <a:r>
              <a:rPr lang="en-US" altLang="ko-KR" sz="1400" dirty="0"/>
              <a:t> </a:t>
            </a:r>
            <a:r>
              <a:rPr lang="en-US" altLang="ko-KR" sz="1400" b="1" dirty="0"/>
              <a:t>that scales between two and five replicas with a CPU threshold of 80%.</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59</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1F8721D2-C92B-4742-8824-B74744FFD98D}"/>
              </a:ext>
            </a:extLst>
          </p:cNvPr>
          <p:cNvGrpSpPr/>
          <p:nvPr/>
        </p:nvGrpSpPr>
        <p:grpSpPr>
          <a:xfrm>
            <a:off x="1333500" y="2240090"/>
            <a:ext cx="9525000" cy="2650577"/>
            <a:chOff x="1333499" y="2143728"/>
            <a:chExt cx="9525000" cy="2650577"/>
          </a:xfrm>
        </p:grpSpPr>
        <p:sp>
          <p:nvSpPr>
            <p:cNvPr id="4" name="직사각형 3">
              <a:extLst>
                <a:ext uri="{FF2B5EF4-FFF2-40B4-BE49-F238E27FC236}">
                  <a16:creationId xmlns:a16="http://schemas.microsoft.com/office/drawing/2014/main" id="{D0B5CEC7-B3B2-4DB9-B5CF-1C44B3C14CEF}"/>
                </a:ext>
              </a:extLst>
            </p:cNvPr>
            <p:cNvSpPr/>
            <p:nvPr/>
          </p:nvSpPr>
          <p:spPr>
            <a:xfrm>
              <a:off x="3048000" y="2143728"/>
              <a:ext cx="6096000" cy="246221"/>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t>kubectl</a:t>
              </a:r>
              <a:r>
                <a:rPr lang="en-US" altLang="ko-KR" sz="1000" b="1" dirty="0"/>
                <a:t> </a:t>
              </a:r>
              <a:r>
                <a:rPr lang="en-US" altLang="ko-KR" sz="1000" b="1" dirty="0" err="1"/>
                <a:t>autoscale</a:t>
              </a:r>
              <a:r>
                <a:rPr lang="en-US" altLang="ko-KR" sz="1000" b="1" dirty="0"/>
                <a:t> </a:t>
              </a:r>
              <a:r>
                <a:rPr lang="en-US" altLang="ko-KR" sz="1000" b="1" dirty="0" err="1"/>
                <a:t>rs</a:t>
              </a:r>
              <a:r>
                <a:rPr lang="en-US" altLang="ko-KR" sz="1000" b="1" dirty="0"/>
                <a:t> </a:t>
              </a:r>
              <a:r>
                <a:rPr lang="en-US" altLang="ko-KR" sz="1000" b="1" dirty="0" err="1">
                  <a:solidFill>
                    <a:srgbClr val="FF0000"/>
                  </a:solidFill>
                </a:rPr>
                <a:t>kuard</a:t>
              </a:r>
              <a:r>
                <a:rPr lang="en-US" altLang="ko-KR" sz="1000" b="1" dirty="0"/>
                <a:t> </a:t>
              </a:r>
              <a:r>
                <a:rPr lang="en-US" altLang="ko-KR" sz="1000" b="1" dirty="0">
                  <a:solidFill>
                    <a:srgbClr val="FF0000"/>
                  </a:solidFill>
                </a:rPr>
                <a:t>--min=2 --max=5 --</a:t>
              </a:r>
              <a:r>
                <a:rPr lang="en-US" altLang="ko-KR" sz="1000" b="1" dirty="0" err="1">
                  <a:solidFill>
                    <a:srgbClr val="FF0000"/>
                  </a:solidFill>
                </a:rPr>
                <a:t>cpu</a:t>
              </a:r>
              <a:r>
                <a:rPr lang="en-US" altLang="ko-KR" sz="1000" b="1" dirty="0">
                  <a:solidFill>
                    <a:srgbClr val="FF0000"/>
                  </a:solidFill>
                </a:rPr>
                <a:t>-percent=80</a:t>
              </a:r>
              <a:endParaRPr lang="ko-KR" altLang="en-US" sz="1000" b="1" dirty="0">
                <a:solidFill>
                  <a:srgbClr val="FF0000"/>
                </a:solidFill>
              </a:endParaRPr>
            </a:p>
          </p:txBody>
        </p:sp>
        <p:pic>
          <p:nvPicPr>
            <p:cNvPr id="8" name="그림 7">
              <a:extLst>
                <a:ext uri="{FF2B5EF4-FFF2-40B4-BE49-F238E27FC236}">
                  <a16:creationId xmlns:a16="http://schemas.microsoft.com/office/drawing/2014/main" id="{CB42E980-6825-42D6-9929-36EEF40F8751}"/>
                </a:ext>
              </a:extLst>
            </p:cNvPr>
            <p:cNvPicPr>
              <a:picLocks noChangeAspect="1"/>
            </p:cNvPicPr>
            <p:nvPr/>
          </p:nvPicPr>
          <p:blipFill>
            <a:blip r:embed="rId2"/>
            <a:stretch>
              <a:fillRect/>
            </a:stretch>
          </p:blipFill>
          <p:spPr>
            <a:xfrm>
              <a:off x="1333499" y="2775005"/>
              <a:ext cx="9525000" cy="2019300"/>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D7AADEDF-79CF-447F-9622-7009E7B901D3}"/>
                </a:ext>
              </a:extLst>
            </p:cNvPr>
            <p:cNvSpPr/>
            <p:nvPr/>
          </p:nvSpPr>
          <p:spPr>
            <a:xfrm>
              <a:off x="5893241" y="2423061"/>
              <a:ext cx="405517" cy="351944"/>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07069588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Scaling </a:t>
            </a:r>
            <a:r>
              <a:rPr lang="en-US" altLang="ko-KR" sz="2800" b="1" dirty="0" err="1"/>
              <a:t>ReplicaSets</a:t>
            </a:r>
            <a:r>
              <a:rPr lang="en-US" altLang="ko-KR" sz="2800" b="1" dirty="0"/>
              <a:t>(8/8)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Autoscaling Based on CPU :</a:t>
            </a:r>
          </a:p>
          <a:p>
            <a:pPr lvl="1">
              <a:buFont typeface="Wingdings" panose="05000000000000000000" pitchFamily="2" charset="2"/>
              <a:buChar char="§"/>
            </a:pPr>
            <a:r>
              <a:rPr lang="en-US" altLang="ko-KR" sz="1400" b="1" dirty="0"/>
              <a:t>To view, modify, or delete this resource you can use the standard </a:t>
            </a:r>
            <a:r>
              <a:rPr lang="en-US" altLang="ko-KR" sz="1400" b="1" dirty="0" err="1"/>
              <a:t>kubectl</a:t>
            </a:r>
            <a:r>
              <a:rPr lang="en-US" altLang="ko-KR" sz="1400" b="1" dirty="0"/>
              <a:t> commands </a:t>
            </a:r>
            <a:r>
              <a:rPr lang="en-US" altLang="ko-KR" sz="1400" dirty="0"/>
              <a:t>and the “</a:t>
            </a:r>
            <a:r>
              <a:rPr lang="en-US" altLang="ko-KR" sz="1400" b="1" dirty="0" err="1"/>
              <a:t>horizontalpodautoscalers</a:t>
            </a:r>
            <a:r>
              <a:rPr lang="en-US" altLang="ko-KR" sz="1400" dirty="0"/>
              <a:t>” resource. “</a:t>
            </a:r>
            <a:r>
              <a:rPr lang="en-US" altLang="ko-KR" sz="1400" b="1" dirty="0" err="1"/>
              <a:t>horizontalpodautoscalers</a:t>
            </a:r>
            <a:r>
              <a:rPr lang="en-US" altLang="ko-KR" sz="1400" dirty="0"/>
              <a:t>” is quite a bit to type, but it can be shortened to “</a:t>
            </a:r>
            <a:r>
              <a:rPr lang="en-US" altLang="ko-KR" sz="1400" b="1" dirty="0" err="1">
                <a:solidFill>
                  <a:srgbClr val="FF0000"/>
                </a:solidFill>
              </a:rPr>
              <a:t>hpa</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NOTE : Because of the decoupled nature of Kubernetes, there is no direct link between the HPA and the </a:t>
            </a:r>
            <a:r>
              <a:rPr lang="en-US" altLang="ko-KR" sz="1400" b="1" dirty="0" err="1"/>
              <a:t>ReplicaSet</a:t>
            </a:r>
            <a:r>
              <a:rPr lang="en-US" altLang="ko-KR" sz="1400" dirty="0"/>
              <a:t>. While this is great for modularity and composition, it also enables some </a:t>
            </a:r>
            <a:r>
              <a:rPr lang="en-US" altLang="ko-KR" sz="1400" b="1" dirty="0"/>
              <a:t>anti-patterns</a:t>
            </a:r>
            <a:r>
              <a:rPr lang="en-US" altLang="ko-KR" sz="1400" dirty="0"/>
              <a:t>. In particular, </a:t>
            </a:r>
            <a:r>
              <a:rPr lang="en-US" altLang="ko-KR" sz="1400" b="1" dirty="0"/>
              <a:t>it’s a bad idea to combine both autoscaling and imperative or declarative management of the number of replicas</a:t>
            </a:r>
            <a:r>
              <a:rPr lang="en-US" altLang="ko-KR" sz="1400" dirty="0"/>
              <a:t>. If both you and an </a:t>
            </a:r>
            <a:r>
              <a:rPr lang="en-US" altLang="ko-KR" sz="1400" b="1" dirty="0" err="1"/>
              <a:t>autoscaler</a:t>
            </a:r>
            <a:r>
              <a:rPr lang="en-US" altLang="ko-KR" sz="1400" dirty="0"/>
              <a:t> are attempting to modify the number of replicas, it’s highly likely that you will clash, resulting in unexpected behavior.</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60</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A254E823-23D1-4A44-BF2B-E38F1F8630D4}"/>
              </a:ext>
            </a:extLst>
          </p:cNvPr>
          <p:cNvGrpSpPr/>
          <p:nvPr/>
        </p:nvGrpSpPr>
        <p:grpSpPr>
          <a:xfrm>
            <a:off x="1333500" y="1876710"/>
            <a:ext cx="9525000" cy="2561940"/>
            <a:chOff x="1333500" y="1876710"/>
            <a:chExt cx="9525000" cy="2561940"/>
          </a:xfrm>
        </p:grpSpPr>
        <p:sp>
          <p:nvSpPr>
            <p:cNvPr id="4" name="직사각형 3">
              <a:extLst>
                <a:ext uri="{FF2B5EF4-FFF2-40B4-BE49-F238E27FC236}">
                  <a16:creationId xmlns:a16="http://schemas.microsoft.com/office/drawing/2014/main" id="{12C977BD-29B9-4E1E-ADB2-2FE2B78F2A09}"/>
                </a:ext>
              </a:extLst>
            </p:cNvPr>
            <p:cNvSpPr/>
            <p:nvPr/>
          </p:nvSpPr>
          <p:spPr>
            <a:xfrm>
              <a:off x="5461852" y="1876710"/>
              <a:ext cx="1268296"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get </a:t>
              </a:r>
              <a:r>
                <a:rPr lang="en-US" altLang="ko-KR" sz="1000" b="1" dirty="0" err="1">
                  <a:solidFill>
                    <a:srgbClr val="FF0000"/>
                  </a:solidFill>
                </a:rPr>
                <a:t>hpa</a:t>
              </a:r>
              <a:endParaRPr lang="ko-KR" altLang="en-US" sz="1000" b="1" dirty="0">
                <a:solidFill>
                  <a:srgbClr val="FF0000"/>
                </a:solidFill>
              </a:endParaRPr>
            </a:p>
          </p:txBody>
        </p:sp>
        <p:pic>
          <p:nvPicPr>
            <p:cNvPr id="8" name="그림 7">
              <a:extLst>
                <a:ext uri="{FF2B5EF4-FFF2-40B4-BE49-F238E27FC236}">
                  <a16:creationId xmlns:a16="http://schemas.microsoft.com/office/drawing/2014/main" id="{280D9B29-CB4F-4E18-A26C-CDACEFAFA437}"/>
                </a:ext>
              </a:extLst>
            </p:cNvPr>
            <p:cNvPicPr>
              <a:picLocks noChangeAspect="1"/>
            </p:cNvPicPr>
            <p:nvPr/>
          </p:nvPicPr>
          <p:blipFill>
            <a:blip r:embed="rId2"/>
            <a:stretch>
              <a:fillRect/>
            </a:stretch>
          </p:blipFill>
          <p:spPr>
            <a:xfrm>
              <a:off x="1333500" y="2419350"/>
              <a:ext cx="9525000" cy="2019300"/>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62CCA163-5CBA-445E-8F86-08F143E48BD0}"/>
                </a:ext>
              </a:extLst>
            </p:cNvPr>
            <p:cNvSpPr/>
            <p:nvPr/>
          </p:nvSpPr>
          <p:spPr>
            <a:xfrm>
              <a:off x="5889266" y="2142910"/>
              <a:ext cx="413468"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83194752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Deleting </a:t>
            </a:r>
            <a:r>
              <a:rPr lang="en-US" altLang="ko-KR" sz="2800" b="1" dirty="0" err="1"/>
              <a:t>ReplicaSets</a:t>
            </a:r>
            <a:r>
              <a:rPr lang="en-US" altLang="ko-KR" sz="2800" b="1" dirty="0"/>
              <a:t>(1/2)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Deleting </a:t>
            </a:r>
            <a:r>
              <a:rPr lang="en-US" altLang="ko-KR" sz="1800" b="1" dirty="0" err="1"/>
              <a:t>ReplicaSet</a:t>
            </a:r>
            <a:r>
              <a:rPr lang="en-US" altLang="ko-KR" sz="1800" b="1" dirty="0"/>
              <a:t> and Pods :</a:t>
            </a:r>
          </a:p>
          <a:p>
            <a:pPr lvl="1">
              <a:buFont typeface="Wingdings" panose="05000000000000000000" pitchFamily="2" charset="2"/>
              <a:buChar char="§"/>
            </a:pPr>
            <a:r>
              <a:rPr lang="en-US" altLang="ko-KR" sz="1400" dirty="0"/>
              <a:t>When a </a:t>
            </a:r>
            <a:r>
              <a:rPr lang="en-US" altLang="ko-KR" sz="1400" dirty="0" err="1"/>
              <a:t>ReplicaSet</a:t>
            </a:r>
            <a:r>
              <a:rPr lang="en-US" altLang="ko-KR" sz="1400" dirty="0"/>
              <a:t> is no longer required it can be deleted using the “</a:t>
            </a:r>
            <a:r>
              <a:rPr lang="en-US" altLang="ko-KR" sz="1400" b="1" dirty="0" err="1"/>
              <a:t>kubectl</a:t>
            </a:r>
            <a:r>
              <a:rPr lang="en-US" altLang="ko-KR" sz="1400" b="1" dirty="0"/>
              <a:t> delete</a:t>
            </a:r>
            <a:r>
              <a:rPr lang="en-US" altLang="ko-KR" sz="1400" dirty="0"/>
              <a:t>” command. </a:t>
            </a:r>
            <a:r>
              <a:rPr lang="en-US" altLang="ko-KR" sz="1400" b="1" dirty="0"/>
              <a:t>By default, this also deletes the Pods that are managed by the </a:t>
            </a:r>
            <a:r>
              <a:rPr lang="en-US" altLang="ko-KR" sz="1400" b="1" dirty="0" err="1"/>
              <a:t>ReplicaSet</a:t>
            </a:r>
            <a:r>
              <a:rPr lang="en-US" altLang="ko-KR" sz="1400" b="1" dirty="0"/>
              <a:t>. Running the “</a:t>
            </a:r>
            <a:r>
              <a:rPr lang="en-US" altLang="ko-KR" sz="1400" b="1" dirty="0" err="1"/>
              <a:t>kubectl</a:t>
            </a:r>
            <a:r>
              <a:rPr lang="en-US" altLang="ko-KR" sz="1400" b="1" dirty="0"/>
              <a:t> get pods” command shows that all the “</a:t>
            </a:r>
            <a:r>
              <a:rPr lang="en-US" altLang="ko-KR" sz="1400" b="1" dirty="0" err="1"/>
              <a:t>kuard</a:t>
            </a:r>
            <a:r>
              <a:rPr lang="en-US" altLang="ko-KR" sz="1400" b="1" dirty="0"/>
              <a:t>” Pods created by the “</a:t>
            </a:r>
            <a:r>
              <a:rPr lang="en-US" altLang="ko-KR" sz="1400" b="1" dirty="0" err="1"/>
              <a:t>kuard</a:t>
            </a:r>
            <a:r>
              <a:rPr lang="en-US" altLang="ko-KR" sz="1400" b="1" dirty="0"/>
              <a:t>” </a:t>
            </a:r>
            <a:r>
              <a:rPr lang="en-US" altLang="ko-KR" sz="1400" b="1" dirty="0" err="1"/>
              <a:t>ReplicaSet</a:t>
            </a:r>
            <a:r>
              <a:rPr lang="en-US" altLang="ko-KR" sz="1400" b="1" dirty="0"/>
              <a:t> have also been deleted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61</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AD3A19A5-94CA-429B-B530-41E6321B2182}"/>
              </a:ext>
            </a:extLst>
          </p:cNvPr>
          <p:cNvGrpSpPr/>
          <p:nvPr/>
        </p:nvGrpSpPr>
        <p:grpSpPr>
          <a:xfrm>
            <a:off x="1333500" y="2166346"/>
            <a:ext cx="9525000" cy="2525308"/>
            <a:chOff x="1333500" y="1873383"/>
            <a:chExt cx="9525000" cy="2525308"/>
          </a:xfrm>
        </p:grpSpPr>
        <p:pic>
          <p:nvPicPr>
            <p:cNvPr id="4" name="그림 3">
              <a:extLst>
                <a:ext uri="{FF2B5EF4-FFF2-40B4-BE49-F238E27FC236}">
                  <a16:creationId xmlns:a16="http://schemas.microsoft.com/office/drawing/2014/main" id="{0569597E-6876-4259-8B79-608BB5262512}"/>
                </a:ext>
              </a:extLst>
            </p:cNvPr>
            <p:cNvPicPr>
              <a:picLocks noChangeAspect="1"/>
            </p:cNvPicPr>
            <p:nvPr/>
          </p:nvPicPr>
          <p:blipFill>
            <a:blip r:embed="rId2"/>
            <a:stretch>
              <a:fillRect/>
            </a:stretch>
          </p:blipFill>
          <p:spPr>
            <a:xfrm>
              <a:off x="1333500" y="2588941"/>
              <a:ext cx="9525000" cy="1809750"/>
            </a:xfrm>
            <a:prstGeom prst="rect">
              <a:avLst/>
            </a:prstGeom>
            <a:ln>
              <a:solidFill>
                <a:schemeClr val="bg1">
                  <a:lumMod val="50000"/>
                </a:schemeClr>
              </a:solidFill>
            </a:ln>
          </p:spPr>
        </p:pic>
        <p:sp>
          <p:nvSpPr>
            <p:cNvPr id="8" name="직사각형 7">
              <a:extLst>
                <a:ext uri="{FF2B5EF4-FFF2-40B4-BE49-F238E27FC236}">
                  <a16:creationId xmlns:a16="http://schemas.microsoft.com/office/drawing/2014/main" id="{DCAB01BD-5DFF-418B-82EE-AEBCDCB4D0DE}"/>
                </a:ext>
              </a:extLst>
            </p:cNvPr>
            <p:cNvSpPr/>
            <p:nvPr/>
          </p:nvSpPr>
          <p:spPr>
            <a:xfrm>
              <a:off x="3048000" y="1873383"/>
              <a:ext cx="6096000" cy="400110"/>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t>kubectl</a:t>
              </a:r>
              <a:r>
                <a:rPr lang="en-US" altLang="ko-KR" sz="1000" b="1" dirty="0"/>
                <a:t> delete </a:t>
              </a:r>
              <a:r>
                <a:rPr lang="en-US" altLang="ko-KR" sz="1000" b="1" dirty="0" err="1">
                  <a:solidFill>
                    <a:srgbClr val="FF0000"/>
                  </a:solidFill>
                </a:rPr>
                <a:t>rs</a:t>
              </a:r>
              <a:r>
                <a:rPr lang="en-US" altLang="ko-KR" sz="1000" b="1" dirty="0">
                  <a:solidFill>
                    <a:srgbClr val="FF0000"/>
                  </a:solidFill>
                </a:rPr>
                <a:t> </a:t>
              </a:r>
              <a:r>
                <a:rPr lang="en-US" altLang="ko-KR" sz="1000" b="1" dirty="0" err="1">
                  <a:solidFill>
                    <a:srgbClr val="FF0000"/>
                  </a:solidFill>
                </a:rPr>
                <a:t>kuard</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get pods</a:t>
              </a:r>
            </a:p>
          </p:txBody>
        </p:sp>
        <p:sp>
          <p:nvSpPr>
            <p:cNvPr id="9" name="화살표: 아래쪽 8">
              <a:extLst>
                <a:ext uri="{FF2B5EF4-FFF2-40B4-BE49-F238E27FC236}">
                  <a16:creationId xmlns:a16="http://schemas.microsoft.com/office/drawing/2014/main" id="{60F9E1D9-E1E4-44DA-AF3E-E61FB078383A}"/>
                </a:ext>
              </a:extLst>
            </p:cNvPr>
            <p:cNvSpPr/>
            <p:nvPr/>
          </p:nvSpPr>
          <p:spPr>
            <a:xfrm>
              <a:off x="5877339" y="2305588"/>
              <a:ext cx="437322" cy="251258"/>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3662102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Deleting </a:t>
            </a:r>
            <a:r>
              <a:rPr lang="en-US" altLang="ko-KR" sz="2800" b="1" dirty="0" err="1"/>
              <a:t>ReplicaSets</a:t>
            </a:r>
            <a:r>
              <a:rPr lang="en-US" altLang="ko-KR" sz="2800" b="1" dirty="0"/>
              <a:t>(2/2)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Deleting </a:t>
            </a:r>
            <a:r>
              <a:rPr lang="en-US" altLang="ko-KR" sz="1800" b="1" dirty="0" err="1"/>
              <a:t>ReplicaSet</a:t>
            </a:r>
            <a:r>
              <a:rPr lang="en-US" altLang="ko-KR" sz="1800" b="1" dirty="0"/>
              <a:t> Only :</a:t>
            </a:r>
          </a:p>
          <a:p>
            <a:pPr lvl="1">
              <a:buFont typeface="Wingdings" panose="05000000000000000000" pitchFamily="2" charset="2"/>
              <a:buChar char="§"/>
            </a:pPr>
            <a:r>
              <a:rPr lang="en-US" altLang="ko-KR" sz="1400" b="1" dirty="0">
                <a:solidFill>
                  <a:prstClr val="black"/>
                </a:solidFill>
              </a:rPr>
              <a:t>If you don’t want to delete the Pods that are being managed by the </a:t>
            </a:r>
            <a:r>
              <a:rPr lang="en-US" altLang="ko-KR" sz="1400" b="1" dirty="0" err="1">
                <a:solidFill>
                  <a:prstClr val="black"/>
                </a:solidFill>
              </a:rPr>
              <a:t>ReplicaSet</a:t>
            </a:r>
            <a:r>
              <a:rPr lang="en-US" altLang="ko-KR" sz="1400" b="1" dirty="0">
                <a:solidFill>
                  <a:prstClr val="black"/>
                </a:solidFill>
              </a:rPr>
              <a:t>, you can set the “</a:t>
            </a:r>
            <a:r>
              <a:rPr lang="en-US" altLang="ko-KR" sz="1400" b="1" dirty="0">
                <a:solidFill>
                  <a:srgbClr val="FF0000"/>
                </a:solidFill>
              </a:rPr>
              <a:t>--cascade</a:t>
            </a:r>
            <a:r>
              <a:rPr lang="en-US" altLang="ko-KR" sz="1400" b="1" dirty="0">
                <a:solidFill>
                  <a:prstClr val="black"/>
                </a:solidFill>
              </a:rPr>
              <a:t>” flag to false to ensure only the </a:t>
            </a:r>
            <a:r>
              <a:rPr lang="en-US" altLang="ko-KR" sz="1400" b="1" dirty="0" err="1">
                <a:solidFill>
                  <a:prstClr val="black"/>
                </a:solidFill>
              </a:rPr>
              <a:t>ReplicaSet</a:t>
            </a:r>
            <a:r>
              <a:rPr lang="en-US" altLang="ko-KR" sz="1400" b="1" dirty="0">
                <a:solidFill>
                  <a:prstClr val="black"/>
                </a:solidFill>
              </a:rPr>
              <a:t> object is deleted and not the Pods </a:t>
            </a:r>
            <a:r>
              <a:rPr lang="en-US" altLang="ko-KR" sz="1400" dirty="0">
                <a:solidFill>
                  <a:prstClr val="black"/>
                </a:solidFill>
              </a:rPr>
              <a:t>:</a:t>
            </a:r>
          </a:p>
          <a:p>
            <a:pPr lvl="1">
              <a:buFont typeface="Wingdings" panose="05000000000000000000" pitchFamily="2" charset="2"/>
              <a:buChar char="§"/>
            </a:pPr>
            <a:endParaRPr lang="en-US" altLang="ko-KR" sz="1400" dirty="0">
              <a:solidFill>
                <a:prstClr val="black"/>
              </a:solidFill>
            </a:endParaRPr>
          </a:p>
          <a:p>
            <a:pPr lvl="1">
              <a:buFont typeface="Wingdings" panose="05000000000000000000" pitchFamily="2" charset="2"/>
              <a:buChar char="§"/>
            </a:pPr>
            <a:endParaRPr lang="en-US" altLang="ko-KR" sz="1400" dirty="0">
              <a:solidFill>
                <a:prstClr val="black"/>
              </a:solidFill>
            </a:endParaRPr>
          </a:p>
          <a:p>
            <a:pPr lvl="1">
              <a:buFont typeface="Wingdings" panose="05000000000000000000" pitchFamily="2" charset="2"/>
              <a:buChar char="§"/>
            </a:pPr>
            <a:endParaRPr lang="en-US" altLang="ko-KR" sz="1400" dirty="0">
              <a:solidFill>
                <a:prstClr val="black"/>
              </a:solidFill>
            </a:endParaRPr>
          </a:p>
          <a:p>
            <a:pPr lvl="1">
              <a:buFont typeface="Wingdings" panose="05000000000000000000" pitchFamily="2" charset="2"/>
              <a:buChar char="§"/>
            </a:pPr>
            <a:endParaRPr lang="en-US" altLang="ko-KR" sz="1400" dirty="0">
              <a:solidFill>
                <a:prstClr val="black"/>
              </a:solidFill>
            </a:endParaRPr>
          </a:p>
          <a:p>
            <a:pPr lvl="1">
              <a:buFont typeface="Wingdings" panose="05000000000000000000" pitchFamily="2" charset="2"/>
              <a:buChar char="§"/>
            </a:pPr>
            <a:endParaRPr lang="en-US" altLang="ko-KR" sz="1400" dirty="0">
              <a:solidFill>
                <a:prstClr val="black"/>
              </a:solidFill>
            </a:endParaRPr>
          </a:p>
          <a:p>
            <a:pPr lvl="1">
              <a:buFont typeface="Wingdings" panose="05000000000000000000" pitchFamily="2" charset="2"/>
              <a:buChar char="§"/>
            </a:pPr>
            <a:endParaRPr lang="en-US" altLang="ko-KR" sz="1400" dirty="0">
              <a:solidFill>
                <a:prstClr val="black"/>
              </a:solidFill>
            </a:endParaRPr>
          </a:p>
          <a:p>
            <a:pPr lvl="1">
              <a:buFont typeface="Wingdings" panose="05000000000000000000" pitchFamily="2" charset="2"/>
              <a:buChar char="§"/>
            </a:pPr>
            <a:endParaRPr lang="en-US" altLang="ko-KR" sz="1400" dirty="0">
              <a:solidFill>
                <a:prstClr val="black"/>
              </a:solidFill>
            </a:endParaRPr>
          </a:p>
          <a:p>
            <a:pPr lvl="1">
              <a:buFont typeface="Wingdings" panose="05000000000000000000" pitchFamily="2" charset="2"/>
              <a:buChar char="§"/>
            </a:pPr>
            <a:endParaRPr lang="en-US" altLang="ko-KR" sz="1400" dirty="0">
              <a:solidFill>
                <a:prstClr val="black"/>
              </a:solidFill>
            </a:endParaRPr>
          </a:p>
          <a:p>
            <a:pPr lvl="1">
              <a:buFont typeface="Wingdings" panose="05000000000000000000" pitchFamily="2" charset="2"/>
              <a:buChar char="§"/>
            </a:pPr>
            <a:endParaRPr lang="en-US" altLang="ko-KR" sz="1400" dirty="0">
              <a:solidFill>
                <a:prstClr val="black"/>
              </a:solidFill>
            </a:endParaRPr>
          </a:p>
          <a:p>
            <a:pPr lvl="1">
              <a:buFont typeface="Wingdings" panose="05000000000000000000" pitchFamily="2" charset="2"/>
              <a:buChar char="§"/>
            </a:pPr>
            <a:endParaRPr lang="en-US" altLang="ko-KR" sz="1400" dirty="0">
              <a:solidFill>
                <a:prstClr val="black"/>
              </a:solidFill>
            </a:endParaRPr>
          </a:p>
          <a:p>
            <a:pPr lvl="1">
              <a:buFont typeface="Wingdings" panose="05000000000000000000" pitchFamily="2" charset="2"/>
              <a:buChar char="§"/>
            </a:pPr>
            <a:endParaRPr lang="en-US" altLang="ko-KR" sz="1400" dirty="0">
              <a:solidFill>
                <a:prstClr val="black"/>
              </a:solidFill>
            </a:endParaRPr>
          </a:p>
          <a:p>
            <a:pPr lvl="1">
              <a:buFont typeface="Wingdings" panose="05000000000000000000" pitchFamily="2" charset="2"/>
              <a:buChar char="§"/>
            </a:pPr>
            <a:endParaRPr lang="en-US" altLang="ko-KR" sz="1400" dirty="0">
              <a:solidFill>
                <a:prstClr val="black"/>
              </a:solidFill>
            </a:endParaRPr>
          </a:p>
          <a:p>
            <a:pPr lvl="1">
              <a:buFont typeface="Wingdings" panose="05000000000000000000" pitchFamily="2" charset="2"/>
              <a:buChar char="§"/>
            </a:pPr>
            <a:endParaRPr lang="en-US" altLang="ko-KR" sz="1400" dirty="0">
              <a:solidFill>
                <a:prstClr val="black"/>
              </a:solidFill>
            </a:endParaRPr>
          </a:p>
          <a:p>
            <a:pPr lvl="1">
              <a:buFont typeface="Wingdings" panose="05000000000000000000" pitchFamily="2" charset="2"/>
              <a:buChar char="§"/>
            </a:pPr>
            <a:endParaRPr lang="en-US" altLang="ko-KR" sz="1400" dirty="0">
              <a:solidFill>
                <a:prstClr val="black"/>
              </a:solidFill>
            </a:endParaRP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62</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7625EF55-F4F4-4DE2-9787-85F2A8E3E06D}"/>
              </a:ext>
            </a:extLst>
          </p:cNvPr>
          <p:cNvGrpSpPr/>
          <p:nvPr/>
        </p:nvGrpSpPr>
        <p:grpSpPr>
          <a:xfrm>
            <a:off x="1333499" y="1716656"/>
            <a:ext cx="9525000" cy="2994249"/>
            <a:chOff x="1333499" y="1716656"/>
            <a:chExt cx="9525000" cy="2994249"/>
          </a:xfrm>
        </p:grpSpPr>
        <p:grpSp>
          <p:nvGrpSpPr>
            <p:cNvPr id="10" name="그룹 9">
              <a:extLst>
                <a:ext uri="{FF2B5EF4-FFF2-40B4-BE49-F238E27FC236}">
                  <a16:creationId xmlns:a16="http://schemas.microsoft.com/office/drawing/2014/main" id="{092BC3BC-6766-48A2-9CF0-93AF70236E47}"/>
                </a:ext>
              </a:extLst>
            </p:cNvPr>
            <p:cNvGrpSpPr/>
            <p:nvPr/>
          </p:nvGrpSpPr>
          <p:grpSpPr>
            <a:xfrm>
              <a:off x="1333499" y="1716656"/>
              <a:ext cx="9525000" cy="2994249"/>
              <a:chOff x="1333499" y="1716656"/>
              <a:chExt cx="9525000" cy="2994249"/>
            </a:xfrm>
          </p:grpSpPr>
          <p:sp>
            <p:nvSpPr>
              <p:cNvPr id="4" name="직사각형 3">
                <a:extLst>
                  <a:ext uri="{FF2B5EF4-FFF2-40B4-BE49-F238E27FC236}">
                    <a16:creationId xmlns:a16="http://schemas.microsoft.com/office/drawing/2014/main" id="{A89ED8FC-CCB0-4DE0-A47D-0E45128A0870}"/>
                  </a:ext>
                </a:extLst>
              </p:cNvPr>
              <p:cNvSpPr/>
              <p:nvPr/>
            </p:nvSpPr>
            <p:spPr>
              <a:xfrm>
                <a:off x="3946019" y="1716656"/>
                <a:ext cx="4299961" cy="400110"/>
              </a:xfrm>
              <a:prstGeom prst="rect">
                <a:avLst/>
              </a:prstGeom>
              <a:ln>
                <a:solidFill>
                  <a:schemeClr val="bg1">
                    <a:lumMod val="50000"/>
                  </a:schemeClr>
                </a:solidFill>
              </a:ln>
            </p:spPr>
            <p:txBody>
              <a:bodyPr wrap="square">
                <a:spAutoFit/>
              </a:bodyPr>
              <a:lstStyle/>
              <a:p>
                <a:r>
                  <a:rPr lang="en-US" altLang="ko-KR" sz="1000" b="1" dirty="0">
                    <a:solidFill>
                      <a:prstClr val="black"/>
                    </a:solidFill>
                  </a:rPr>
                  <a:t>$ </a:t>
                </a:r>
                <a:r>
                  <a:rPr lang="en-US" altLang="ko-KR" sz="1000" b="1" dirty="0" err="1">
                    <a:solidFill>
                      <a:prstClr val="black"/>
                    </a:solidFill>
                  </a:rPr>
                  <a:t>kubectl</a:t>
                </a:r>
                <a:r>
                  <a:rPr lang="en-US" altLang="ko-KR" sz="1000" b="1" dirty="0">
                    <a:solidFill>
                      <a:prstClr val="black"/>
                    </a:solidFill>
                  </a:rPr>
                  <a:t> delete </a:t>
                </a:r>
                <a:r>
                  <a:rPr lang="en-US" altLang="ko-KR" sz="1000" b="1" dirty="0" err="1">
                    <a:solidFill>
                      <a:prstClr val="black"/>
                    </a:solidFill>
                  </a:rPr>
                  <a:t>rs</a:t>
                </a:r>
                <a:r>
                  <a:rPr lang="en-US" altLang="ko-KR" sz="1000" b="1" dirty="0">
                    <a:solidFill>
                      <a:prstClr val="black"/>
                    </a:solidFill>
                  </a:rPr>
                  <a:t> </a:t>
                </a:r>
                <a:r>
                  <a:rPr lang="en-US" altLang="ko-KR" sz="1000" b="1" dirty="0" err="1">
                    <a:solidFill>
                      <a:prstClr val="black"/>
                    </a:solidFill>
                  </a:rPr>
                  <a:t>kuard</a:t>
                </a:r>
                <a:r>
                  <a:rPr lang="en-US" altLang="ko-KR" sz="1000" b="1" dirty="0">
                    <a:solidFill>
                      <a:prstClr val="black"/>
                    </a:solidFill>
                  </a:rPr>
                  <a:t> </a:t>
                </a:r>
                <a:r>
                  <a:rPr lang="en-US" altLang="ko-KR" sz="1000" b="1" dirty="0">
                    <a:solidFill>
                      <a:srgbClr val="FF0000"/>
                    </a:solidFill>
                  </a:rPr>
                  <a:t>--cascade=false</a:t>
                </a:r>
              </a:p>
              <a:p>
                <a:r>
                  <a:rPr lang="en-US" altLang="ko-KR" sz="1000" b="1" dirty="0">
                    <a:solidFill>
                      <a:prstClr val="black"/>
                    </a:solidFill>
                  </a:rPr>
                  <a:t>$ </a:t>
                </a:r>
                <a:r>
                  <a:rPr lang="en-US" altLang="ko-KR" sz="1000" b="1" dirty="0" err="1">
                    <a:solidFill>
                      <a:prstClr val="black"/>
                    </a:solidFill>
                  </a:rPr>
                  <a:t>kubectl</a:t>
                </a:r>
                <a:r>
                  <a:rPr lang="en-US" altLang="ko-KR" sz="1000" b="1" dirty="0">
                    <a:solidFill>
                      <a:prstClr val="black"/>
                    </a:solidFill>
                  </a:rPr>
                  <a:t> get pods</a:t>
                </a:r>
                <a:endParaRPr lang="ko-KR" altLang="en-US" sz="1100" b="1" dirty="0"/>
              </a:p>
            </p:txBody>
          </p:sp>
          <p:pic>
            <p:nvPicPr>
              <p:cNvPr id="8" name="그림 7">
                <a:extLst>
                  <a:ext uri="{FF2B5EF4-FFF2-40B4-BE49-F238E27FC236}">
                    <a16:creationId xmlns:a16="http://schemas.microsoft.com/office/drawing/2014/main" id="{F76FFDF2-B199-4DE1-AD6D-959E5742B641}"/>
                  </a:ext>
                </a:extLst>
              </p:cNvPr>
              <p:cNvPicPr>
                <a:picLocks noChangeAspect="1"/>
              </p:cNvPicPr>
              <p:nvPr/>
            </p:nvPicPr>
            <p:blipFill>
              <a:blip r:embed="rId2"/>
              <a:stretch>
                <a:fillRect/>
              </a:stretch>
            </p:blipFill>
            <p:spPr>
              <a:xfrm>
                <a:off x="1333499" y="2472530"/>
                <a:ext cx="9525000" cy="2238375"/>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7ED4A733-F759-44F6-B0C4-39086A93ED0D}"/>
                  </a:ext>
                </a:extLst>
              </p:cNvPr>
              <p:cNvSpPr/>
              <p:nvPr/>
            </p:nvSpPr>
            <p:spPr>
              <a:xfrm>
                <a:off x="5893241" y="2163450"/>
                <a:ext cx="405516" cy="285552"/>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2" name="직사각형 11">
              <a:extLst>
                <a:ext uri="{FF2B5EF4-FFF2-40B4-BE49-F238E27FC236}">
                  <a16:creationId xmlns:a16="http://schemas.microsoft.com/office/drawing/2014/main" id="{6D1174DF-36A7-4A4B-89F3-55C77684F521}"/>
                </a:ext>
              </a:extLst>
            </p:cNvPr>
            <p:cNvSpPr/>
            <p:nvPr/>
          </p:nvSpPr>
          <p:spPr>
            <a:xfrm>
              <a:off x="7545788" y="3498574"/>
              <a:ext cx="1383527" cy="19083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5" name="그룹 14">
            <a:extLst>
              <a:ext uri="{FF2B5EF4-FFF2-40B4-BE49-F238E27FC236}">
                <a16:creationId xmlns:a16="http://schemas.microsoft.com/office/drawing/2014/main" id="{4B7A0222-3A2F-4D35-9204-C1A83EC45576}"/>
              </a:ext>
            </a:extLst>
          </p:cNvPr>
          <p:cNvGrpSpPr/>
          <p:nvPr/>
        </p:nvGrpSpPr>
        <p:grpSpPr>
          <a:xfrm>
            <a:off x="5186568" y="4558173"/>
            <a:ext cx="6167230" cy="1751493"/>
            <a:chOff x="5186568" y="4558173"/>
            <a:chExt cx="6167230" cy="1751493"/>
          </a:xfrm>
        </p:grpSpPr>
        <p:pic>
          <p:nvPicPr>
            <p:cNvPr id="11" name="그림 10">
              <a:extLst>
                <a:ext uri="{FF2B5EF4-FFF2-40B4-BE49-F238E27FC236}">
                  <a16:creationId xmlns:a16="http://schemas.microsoft.com/office/drawing/2014/main" id="{EBA575C1-EA7A-4742-97FA-8639FBD02873}"/>
                </a:ext>
              </a:extLst>
            </p:cNvPr>
            <p:cNvPicPr>
              <a:picLocks noChangeAspect="1"/>
            </p:cNvPicPr>
            <p:nvPr/>
          </p:nvPicPr>
          <p:blipFill>
            <a:blip r:embed="rId3"/>
            <a:stretch>
              <a:fillRect/>
            </a:stretch>
          </p:blipFill>
          <p:spPr>
            <a:xfrm>
              <a:off x="5186568" y="4558173"/>
              <a:ext cx="6167230" cy="1751493"/>
            </a:xfrm>
            <a:prstGeom prst="rect">
              <a:avLst/>
            </a:prstGeom>
            <a:ln>
              <a:solidFill>
                <a:schemeClr val="bg1">
                  <a:lumMod val="50000"/>
                </a:schemeClr>
              </a:solidFill>
            </a:ln>
          </p:spPr>
        </p:pic>
        <p:sp>
          <p:nvSpPr>
            <p:cNvPr id="13" name="직사각형 12">
              <a:extLst>
                <a:ext uri="{FF2B5EF4-FFF2-40B4-BE49-F238E27FC236}">
                  <a16:creationId xmlns:a16="http://schemas.microsoft.com/office/drawing/2014/main" id="{CB761B74-5B36-4402-BFD0-4B9F948AD121}"/>
                </a:ext>
              </a:extLst>
            </p:cNvPr>
            <p:cNvSpPr/>
            <p:nvPr/>
          </p:nvSpPr>
          <p:spPr>
            <a:xfrm>
              <a:off x="5255812" y="5422790"/>
              <a:ext cx="4770783" cy="21468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6" name="직사각형 15">
            <a:extLst>
              <a:ext uri="{FF2B5EF4-FFF2-40B4-BE49-F238E27FC236}">
                <a16:creationId xmlns:a16="http://schemas.microsoft.com/office/drawing/2014/main" id="{6ABE11B8-8B1D-4370-ADD4-42CE22A751D7}"/>
              </a:ext>
            </a:extLst>
          </p:cNvPr>
          <p:cNvSpPr/>
          <p:nvPr/>
        </p:nvSpPr>
        <p:spPr>
          <a:xfrm>
            <a:off x="1333499" y="4782257"/>
            <a:ext cx="3853067" cy="523220"/>
          </a:xfrm>
          <a:prstGeom prst="rect">
            <a:avLst/>
          </a:prstGeom>
        </p:spPr>
        <p:txBody>
          <a:bodyPr wrap="square">
            <a:spAutoFit/>
          </a:bodyPr>
          <a:lstStyle/>
          <a:p>
            <a:pPr marL="285750" indent="-285750">
              <a:buFont typeface="Wingdings" panose="05000000000000000000" pitchFamily="2" charset="2"/>
              <a:buChar char="§"/>
            </a:pPr>
            <a:r>
              <a:rPr lang="en-US" altLang="ko-KR" sz="1400" b="1" dirty="0">
                <a:solidFill>
                  <a:prstClr val="black"/>
                </a:solidFill>
              </a:rPr>
              <a:t>Note : “</a:t>
            </a:r>
            <a:r>
              <a:rPr lang="en-US" altLang="ko-KR" sz="1400" b="1" dirty="0">
                <a:solidFill>
                  <a:srgbClr val="FF0000"/>
                </a:solidFill>
              </a:rPr>
              <a:t>--cascade=false</a:t>
            </a:r>
            <a:r>
              <a:rPr lang="en-US" altLang="ko-KR" sz="1400" b="1" dirty="0">
                <a:solidFill>
                  <a:prstClr val="black"/>
                </a:solidFill>
              </a:rPr>
              <a:t>” is deprecated. Use</a:t>
            </a:r>
            <a:r>
              <a:rPr lang="ko-KR" altLang="en-US" sz="1400" b="1" dirty="0">
                <a:solidFill>
                  <a:prstClr val="black"/>
                </a:solidFill>
              </a:rPr>
              <a:t> </a:t>
            </a:r>
            <a:r>
              <a:rPr lang="en-US" altLang="ko-KR" sz="1400" b="1" dirty="0">
                <a:solidFill>
                  <a:prstClr val="black"/>
                </a:solidFill>
              </a:rPr>
              <a:t>“</a:t>
            </a:r>
            <a:r>
              <a:rPr lang="en-US" altLang="ko-KR" sz="1400" b="1" dirty="0">
                <a:solidFill>
                  <a:srgbClr val="FF0000"/>
                </a:solidFill>
              </a:rPr>
              <a:t>--cascade=orphan</a:t>
            </a:r>
            <a:r>
              <a:rPr lang="en-US" altLang="ko-KR" sz="1400" b="1" dirty="0">
                <a:solidFill>
                  <a:prstClr val="black"/>
                </a:solidFill>
              </a:rPr>
              <a:t>” instead.</a:t>
            </a:r>
          </a:p>
        </p:txBody>
      </p:sp>
    </p:spTree>
    <p:extLst>
      <p:ext uri="{BB962C8B-B14F-4D97-AF65-F5344CB8AC3E}">
        <p14:creationId xmlns:p14="http://schemas.microsoft.com/office/powerpoint/2010/main" val="228777784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Summary </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Remember :</a:t>
            </a:r>
          </a:p>
          <a:p>
            <a:pPr lvl="1">
              <a:buFont typeface="Wingdings" panose="05000000000000000000" pitchFamily="2" charset="2"/>
              <a:buChar char="§"/>
            </a:pPr>
            <a:r>
              <a:rPr lang="en-US" altLang="ko-KR" sz="1400" b="1" dirty="0"/>
              <a:t>Composing Pods with </a:t>
            </a:r>
            <a:r>
              <a:rPr lang="en-US" altLang="ko-KR" sz="1400" b="1" dirty="0" err="1"/>
              <a:t>ReplicaSets</a:t>
            </a:r>
            <a:r>
              <a:rPr lang="en-US" altLang="ko-KR" sz="1400" dirty="0"/>
              <a:t> provides the foundation for </a:t>
            </a:r>
            <a:r>
              <a:rPr lang="en-US" altLang="ko-KR" sz="1400" b="1" dirty="0"/>
              <a:t>building robust applications </a:t>
            </a:r>
            <a:r>
              <a:rPr lang="en-US" altLang="ko-KR" sz="1400" dirty="0"/>
              <a:t>with </a:t>
            </a:r>
            <a:r>
              <a:rPr lang="en-US" altLang="ko-KR" sz="1400" b="1" dirty="0"/>
              <a:t>automatic failover</a:t>
            </a:r>
            <a:r>
              <a:rPr lang="en-US" altLang="ko-KR" sz="1400" dirty="0"/>
              <a:t>, and makes deploying those applications a breeze by </a:t>
            </a:r>
            <a:r>
              <a:rPr lang="en-US" altLang="ko-KR" sz="1400" b="1" dirty="0"/>
              <a:t>enabling scalable and sane deployment patterns</a:t>
            </a:r>
            <a:r>
              <a:rPr lang="en-US" altLang="ko-KR" sz="1400" dirty="0"/>
              <a:t>. </a:t>
            </a:r>
          </a:p>
          <a:p>
            <a:pPr lvl="1">
              <a:buFont typeface="Wingdings" panose="05000000000000000000" pitchFamily="2" charset="2"/>
              <a:buChar char="§"/>
            </a:pPr>
            <a:r>
              <a:rPr lang="en-US" altLang="ko-KR" sz="1400" b="1" dirty="0" err="1"/>
              <a:t>ReplicaSets</a:t>
            </a:r>
            <a:r>
              <a:rPr lang="en-US" altLang="ko-KR" sz="1400" b="1" dirty="0"/>
              <a:t> should be used for any Pod you care about, even if it is a single Pod</a:t>
            </a:r>
            <a:r>
              <a:rPr lang="en-US" altLang="ko-KR" sz="1400" dirty="0"/>
              <a:t>! Some people even default to using </a:t>
            </a:r>
            <a:r>
              <a:rPr lang="en-US" altLang="ko-KR" sz="1400" b="1" dirty="0" err="1"/>
              <a:t>ReplicaSets</a:t>
            </a:r>
            <a:r>
              <a:rPr lang="en-US" altLang="ko-KR" sz="1400" dirty="0"/>
              <a:t> instead of Pods. </a:t>
            </a:r>
            <a:r>
              <a:rPr lang="en-US" altLang="ko-KR" sz="1400" b="1" dirty="0"/>
              <a:t>A typical cluster will have many </a:t>
            </a:r>
            <a:r>
              <a:rPr lang="en-US" altLang="ko-KR" sz="1400" b="1" dirty="0" err="1"/>
              <a:t>ReplicaSets</a:t>
            </a:r>
            <a:r>
              <a:rPr lang="en-US" altLang="ko-KR" sz="1400" dirty="0"/>
              <a:t>, so apply liberally to the affected area.</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63</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69750B21-2EC7-4465-AB3E-9F7D3D1031EF}"/>
              </a:ext>
            </a:extLst>
          </p:cNvPr>
          <p:cNvGrpSpPr/>
          <p:nvPr/>
        </p:nvGrpSpPr>
        <p:grpSpPr>
          <a:xfrm>
            <a:off x="4355536" y="2222213"/>
            <a:ext cx="3480928" cy="3908066"/>
            <a:chOff x="4355536" y="2222213"/>
            <a:chExt cx="3480928" cy="3908066"/>
          </a:xfrm>
        </p:grpSpPr>
        <p:pic>
          <p:nvPicPr>
            <p:cNvPr id="4" name="그림 3">
              <a:extLst>
                <a:ext uri="{FF2B5EF4-FFF2-40B4-BE49-F238E27FC236}">
                  <a16:creationId xmlns:a16="http://schemas.microsoft.com/office/drawing/2014/main" id="{78FC5EAF-7830-4AF7-B279-34F89389809A}"/>
                </a:ext>
              </a:extLst>
            </p:cNvPr>
            <p:cNvPicPr>
              <a:picLocks noChangeAspect="1"/>
            </p:cNvPicPr>
            <p:nvPr/>
          </p:nvPicPr>
          <p:blipFill>
            <a:blip r:embed="rId2"/>
            <a:stretch>
              <a:fillRect/>
            </a:stretch>
          </p:blipFill>
          <p:spPr>
            <a:xfrm>
              <a:off x="4355536" y="2222213"/>
              <a:ext cx="3480928" cy="3908066"/>
            </a:xfrm>
            <a:prstGeom prst="rect">
              <a:avLst/>
            </a:prstGeom>
          </p:spPr>
        </p:pic>
        <p:sp>
          <p:nvSpPr>
            <p:cNvPr id="8" name="직사각형 7">
              <a:extLst>
                <a:ext uri="{FF2B5EF4-FFF2-40B4-BE49-F238E27FC236}">
                  <a16:creationId xmlns:a16="http://schemas.microsoft.com/office/drawing/2014/main" id="{E86E08F0-0632-41A1-B023-2DE70565144E}"/>
                </a:ext>
              </a:extLst>
            </p:cNvPr>
            <p:cNvSpPr/>
            <p:nvPr/>
          </p:nvSpPr>
          <p:spPr>
            <a:xfrm>
              <a:off x="4579951" y="3291839"/>
              <a:ext cx="3021496" cy="85874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79494628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sz="4400" b="1"/>
              <a:t>Deployments</a:t>
            </a:r>
            <a:endParaRPr lang="ko-KR" altLang="en-US" sz="4400" b="1"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276304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What is Deployments?</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Deployment Object and Controller :</a:t>
            </a:r>
          </a:p>
          <a:p>
            <a:pPr lvl="1">
              <a:buFont typeface="Wingdings" panose="05000000000000000000" pitchFamily="2" charset="2"/>
              <a:buChar char="§"/>
            </a:pPr>
            <a:r>
              <a:rPr lang="en-US" altLang="ko-KR" sz="1400" dirty="0"/>
              <a:t>So far, you have seen how to </a:t>
            </a:r>
            <a:r>
              <a:rPr lang="en-US" altLang="ko-KR" sz="1400" b="1" dirty="0"/>
              <a:t>package</a:t>
            </a:r>
            <a:r>
              <a:rPr lang="en-US" altLang="ko-KR" sz="1400" dirty="0"/>
              <a:t> your applications as containers, </a:t>
            </a:r>
            <a:r>
              <a:rPr lang="en-US" altLang="ko-KR" sz="1400" b="1" dirty="0"/>
              <a:t>create replicated sets </a:t>
            </a:r>
            <a:r>
              <a:rPr lang="en-US" altLang="ko-KR" sz="1400" dirty="0"/>
              <a:t>of containers, and use </a:t>
            </a:r>
            <a:r>
              <a:rPr lang="en-US" altLang="ko-KR" sz="1400" b="1" dirty="0"/>
              <a:t>Ingress controllers </a:t>
            </a:r>
            <a:r>
              <a:rPr lang="en-US" altLang="ko-KR" sz="1400" dirty="0"/>
              <a:t>to load-balance traffic to your services. All of these objects (</a:t>
            </a:r>
            <a:r>
              <a:rPr lang="en-US" altLang="ko-KR" sz="1400" b="1" dirty="0"/>
              <a:t>Pods</a:t>
            </a:r>
            <a:r>
              <a:rPr lang="en-US" altLang="ko-KR" sz="1400" dirty="0"/>
              <a:t>, </a:t>
            </a:r>
            <a:r>
              <a:rPr lang="en-US" altLang="ko-KR" sz="1400" b="1" dirty="0" err="1"/>
              <a:t>ReplicaSets</a:t>
            </a:r>
            <a:r>
              <a:rPr lang="en-US" altLang="ko-KR" sz="1400" dirty="0"/>
              <a:t>, and </a:t>
            </a:r>
            <a:r>
              <a:rPr lang="en-US" altLang="ko-KR" sz="1400" b="1" dirty="0"/>
              <a:t>Services</a:t>
            </a:r>
            <a:r>
              <a:rPr lang="en-US" altLang="ko-KR" sz="1400" dirty="0"/>
              <a:t>) are used to build a single instance of your application. However, they do little to help you manage the daily or weekly cadence of releasing new versions of your application. </a:t>
            </a:r>
            <a:r>
              <a:rPr lang="en-US" altLang="ko-KR" sz="1400" b="1" dirty="0"/>
              <a:t>Indeed, both Pods and </a:t>
            </a:r>
            <a:r>
              <a:rPr lang="en-US" altLang="ko-KR" sz="1400" b="1" dirty="0" err="1"/>
              <a:t>ReplicaSets</a:t>
            </a:r>
            <a:r>
              <a:rPr lang="en-US" altLang="ko-KR" sz="1400" b="1" dirty="0"/>
              <a:t> are expected to be tied to specific container images that don’t change</a:t>
            </a:r>
            <a:r>
              <a:rPr lang="en-US" altLang="ko-KR" sz="1400" dirty="0"/>
              <a:t>.</a:t>
            </a:r>
          </a:p>
          <a:p>
            <a:pPr lvl="1">
              <a:buFont typeface="Wingdings" panose="05000000000000000000" pitchFamily="2" charset="2"/>
              <a:buChar char="§"/>
            </a:pPr>
            <a:r>
              <a:rPr lang="en-US" altLang="ko-KR" sz="1400" b="1" dirty="0"/>
              <a:t>The </a:t>
            </a:r>
            <a:r>
              <a:rPr lang="en-US" altLang="ko-KR" sz="1400" b="1" dirty="0">
                <a:solidFill>
                  <a:srgbClr val="FF0000"/>
                </a:solidFill>
              </a:rPr>
              <a:t>Deployment object </a:t>
            </a:r>
            <a:r>
              <a:rPr lang="en-US" altLang="ko-KR" sz="1400" b="1" dirty="0"/>
              <a:t>exists to manage the release of new versions</a:t>
            </a:r>
            <a:r>
              <a:rPr lang="en-US" altLang="ko-KR" sz="1400" dirty="0"/>
              <a:t>. </a:t>
            </a:r>
            <a:r>
              <a:rPr lang="en-US" altLang="ko-KR" sz="1400" b="1" dirty="0"/>
              <a:t>Deployments represent deployed applications in a way that transcends any particular version</a:t>
            </a:r>
            <a:r>
              <a:rPr lang="en-US" altLang="ko-KR" sz="1400" dirty="0"/>
              <a:t>. </a:t>
            </a:r>
            <a:r>
              <a:rPr lang="en-US" altLang="ko-KR" sz="1400" b="1" dirty="0"/>
              <a:t>Additionally, deployments enable you to easily move from one version of your code to the next</a:t>
            </a:r>
            <a:r>
              <a:rPr lang="en-US" altLang="ko-KR" sz="1400" dirty="0"/>
              <a:t>. This “</a:t>
            </a:r>
            <a:r>
              <a:rPr lang="en-US" altLang="ko-KR" sz="1400" b="1" dirty="0">
                <a:solidFill>
                  <a:srgbClr val="FF0000"/>
                </a:solidFill>
              </a:rPr>
              <a:t>rollout</a:t>
            </a:r>
            <a:r>
              <a:rPr lang="en-US" altLang="ko-KR" sz="1400" dirty="0"/>
              <a:t>” </a:t>
            </a:r>
            <a:r>
              <a:rPr lang="en-US" altLang="ko-KR" sz="1400" b="1" dirty="0"/>
              <a:t>process</a:t>
            </a:r>
            <a:r>
              <a:rPr lang="en-US" altLang="ko-KR" sz="1400" dirty="0"/>
              <a:t> is specifiable and careful. It waits for a user-configurable amount of time between </a:t>
            </a:r>
            <a:r>
              <a:rPr lang="en-US" altLang="ko-KR" sz="1400" b="1" dirty="0"/>
              <a:t>upgrading individual Pods</a:t>
            </a:r>
            <a:r>
              <a:rPr lang="en-US" altLang="ko-KR" sz="1400" dirty="0"/>
              <a:t>. It also uses </a:t>
            </a:r>
            <a:r>
              <a:rPr lang="en-US" altLang="ko-KR" sz="1400" b="1" dirty="0"/>
              <a:t>health checks </a:t>
            </a:r>
            <a:r>
              <a:rPr lang="en-US" altLang="ko-KR" sz="1400" dirty="0"/>
              <a:t>to ensure that the new version of the application is operating correctly, and </a:t>
            </a:r>
            <a:r>
              <a:rPr lang="en-US" altLang="ko-KR" sz="1400" b="1" dirty="0"/>
              <a:t>stops the deployment </a:t>
            </a:r>
            <a:r>
              <a:rPr lang="en-US" altLang="ko-KR" sz="1400" dirty="0"/>
              <a:t>if too many failures occur.</a:t>
            </a:r>
          </a:p>
          <a:p>
            <a:pPr lvl="1">
              <a:buFont typeface="Wingdings" panose="05000000000000000000" pitchFamily="2" charset="2"/>
              <a:buChar char="§"/>
            </a:pPr>
            <a:r>
              <a:rPr lang="en-US" altLang="ko-KR" sz="1400" b="1" dirty="0"/>
              <a:t>Using deployments you can simply and reliably roll out new software versions without downtime or errors</a:t>
            </a:r>
            <a:r>
              <a:rPr lang="en-US" altLang="ko-KR" sz="1400" dirty="0"/>
              <a:t>. The actual mechanics of the software rollout performed by a deployment is controlled by a “</a:t>
            </a:r>
            <a:r>
              <a:rPr lang="en-US" altLang="ko-KR" sz="1400" b="1" dirty="0">
                <a:solidFill>
                  <a:srgbClr val="FF0000"/>
                </a:solidFill>
              </a:rPr>
              <a:t>deployment controller</a:t>
            </a:r>
            <a:r>
              <a:rPr lang="en-US" altLang="ko-KR" sz="1400" dirty="0"/>
              <a:t>” </a:t>
            </a:r>
            <a:r>
              <a:rPr lang="en-US" altLang="ko-KR" sz="1400" b="1" dirty="0"/>
              <a:t>that runs in the Kubernetes cluster itself</a:t>
            </a:r>
            <a:r>
              <a:rPr lang="en-US" altLang="ko-KR" sz="1400" dirty="0"/>
              <a:t>. This means you can let a deployment proceed unattended and it will still operate correctly and safely(</a:t>
            </a:r>
            <a:r>
              <a:rPr lang="en-US" altLang="ko-KR" sz="1400" b="1" dirty="0"/>
              <a:t>Rolling Update</a:t>
            </a:r>
            <a:r>
              <a:rPr lang="en-US" altLang="ko-KR" sz="1400" dirty="0"/>
              <a:t>). This makes it easy to integrate deployments with numerous </a:t>
            </a:r>
            <a:r>
              <a:rPr lang="en-US" altLang="ko-KR" sz="1400" b="1" dirty="0"/>
              <a:t>continuous delivery(CD) </a:t>
            </a:r>
            <a:r>
              <a:rPr lang="en-US" altLang="ko-KR" sz="1400" dirty="0"/>
              <a:t>tools and services. Further, running server-side makes it safe to perform a rollout from places with poor or intermittent internet connectivity. Imagine rolling out a new version of your software from your phone while riding on the subway. Deployments make this possible and safe!.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65</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06D9DAD7-96BA-4557-8CAB-BD1CC95A8954}"/>
              </a:ext>
            </a:extLst>
          </p:cNvPr>
          <p:cNvPicPr>
            <a:picLocks noChangeAspect="1"/>
          </p:cNvPicPr>
          <p:nvPr/>
        </p:nvPicPr>
        <p:blipFill>
          <a:blip r:embed="rId2"/>
          <a:stretch>
            <a:fillRect/>
          </a:stretch>
        </p:blipFill>
        <p:spPr>
          <a:xfrm>
            <a:off x="6733430" y="4471775"/>
            <a:ext cx="4620370" cy="1937255"/>
          </a:xfrm>
          <a:prstGeom prst="rect">
            <a:avLst/>
          </a:prstGeom>
        </p:spPr>
      </p:pic>
    </p:spTree>
    <p:extLst>
      <p:ext uri="{BB962C8B-B14F-4D97-AF65-F5344CB8AC3E}">
        <p14:creationId xmlns:p14="http://schemas.microsoft.com/office/powerpoint/2010/main" val="259169248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Your First Deployment(1/5)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Simple Deployment YAML :</a:t>
            </a:r>
          </a:p>
          <a:p>
            <a:pPr lvl="1">
              <a:buFont typeface="Wingdings" panose="05000000000000000000" pitchFamily="2" charset="2"/>
              <a:buChar char="§"/>
            </a:pPr>
            <a:r>
              <a:rPr lang="en-US" altLang="ko-KR" sz="1400" b="1" dirty="0"/>
              <a:t>Like all objects in Kubernetes, a </a:t>
            </a:r>
            <a:r>
              <a:rPr lang="en-US" altLang="ko-KR" sz="1400" b="1" dirty="0">
                <a:solidFill>
                  <a:srgbClr val="FF0000"/>
                </a:solidFill>
              </a:rPr>
              <a:t>deployment</a:t>
            </a:r>
            <a:r>
              <a:rPr lang="en-US" altLang="ko-KR" sz="1400" b="1" dirty="0"/>
              <a:t> can be represented as a declarative YAML object that provides the details about what you want to run</a:t>
            </a:r>
            <a:r>
              <a:rPr lang="en-US" altLang="ko-KR" sz="1400" dirty="0"/>
              <a:t>. In the following case, the deployment is requesting a single instance of the “</a:t>
            </a:r>
            <a:r>
              <a:rPr lang="en-US" altLang="ko-KR" sz="1400" b="1" dirty="0" err="1"/>
              <a:t>kuard</a:t>
            </a:r>
            <a:r>
              <a:rPr lang="en-US" altLang="ko-KR" sz="1400" dirty="0"/>
              <a:t>” application : Use “</a:t>
            </a:r>
            <a:r>
              <a:rPr lang="en-US" altLang="ko-KR" sz="1400" b="1" dirty="0"/>
              <a:t>$ </a:t>
            </a:r>
            <a:r>
              <a:rPr lang="en-US" altLang="ko-KR" sz="1400" b="1" dirty="0" err="1"/>
              <a:t>kubectl</a:t>
            </a:r>
            <a:r>
              <a:rPr lang="en-US" altLang="ko-KR" sz="1400" b="1" dirty="0"/>
              <a:t> </a:t>
            </a:r>
            <a:r>
              <a:rPr lang="en-US" altLang="ko-KR" sz="1400" b="1" dirty="0">
                <a:solidFill>
                  <a:srgbClr val="FF0000"/>
                </a:solidFill>
              </a:rPr>
              <a:t>create</a:t>
            </a:r>
            <a:r>
              <a:rPr lang="en-US" altLang="ko-KR" sz="1400" b="1" dirty="0"/>
              <a:t> -f </a:t>
            </a:r>
            <a:r>
              <a:rPr lang="en-US" altLang="ko-KR" sz="1400" b="1" dirty="0" err="1"/>
              <a:t>kuard-deployment.yaml</a:t>
            </a:r>
            <a:r>
              <a:rPr lang="en-US" altLang="ko-KR" sz="1400" dirty="0"/>
              <a:t>” command to create a Deployment.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66</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754313C2-379E-4B12-89E8-B8A9B3D046BC}"/>
              </a:ext>
            </a:extLst>
          </p:cNvPr>
          <p:cNvGrpSpPr/>
          <p:nvPr/>
        </p:nvGrpSpPr>
        <p:grpSpPr>
          <a:xfrm>
            <a:off x="1994618" y="1797477"/>
            <a:ext cx="8202764" cy="4596204"/>
            <a:chOff x="1994618" y="1797477"/>
            <a:chExt cx="8202764" cy="4596204"/>
          </a:xfrm>
        </p:grpSpPr>
        <p:pic>
          <p:nvPicPr>
            <p:cNvPr id="8" name="그림 7">
              <a:extLst>
                <a:ext uri="{FF2B5EF4-FFF2-40B4-BE49-F238E27FC236}">
                  <a16:creationId xmlns:a16="http://schemas.microsoft.com/office/drawing/2014/main" id="{6A37756C-6BDD-4B30-A82A-1FCFEC2CF0AB}"/>
                </a:ext>
              </a:extLst>
            </p:cNvPr>
            <p:cNvPicPr>
              <a:picLocks noChangeAspect="1"/>
            </p:cNvPicPr>
            <p:nvPr/>
          </p:nvPicPr>
          <p:blipFill>
            <a:blip r:embed="rId2"/>
            <a:stretch>
              <a:fillRect/>
            </a:stretch>
          </p:blipFill>
          <p:spPr>
            <a:xfrm>
              <a:off x="1994618" y="4835156"/>
              <a:ext cx="8202764" cy="1558525"/>
            </a:xfrm>
            <a:prstGeom prst="rect">
              <a:avLst/>
            </a:prstGeom>
            <a:ln>
              <a:solidFill>
                <a:schemeClr val="bg1">
                  <a:lumMod val="50000"/>
                </a:schemeClr>
              </a:solidFill>
            </a:ln>
          </p:spPr>
        </p:pic>
        <p:sp>
          <p:nvSpPr>
            <p:cNvPr id="9" name="직사각형 8">
              <a:extLst>
                <a:ext uri="{FF2B5EF4-FFF2-40B4-BE49-F238E27FC236}">
                  <a16:creationId xmlns:a16="http://schemas.microsoft.com/office/drawing/2014/main" id="{7F72B9B8-1C0C-41C8-8D77-182A7ACA29FB}"/>
                </a:ext>
              </a:extLst>
            </p:cNvPr>
            <p:cNvSpPr/>
            <p:nvPr/>
          </p:nvSpPr>
          <p:spPr>
            <a:xfrm>
              <a:off x="3048000" y="1797477"/>
              <a:ext cx="6096000" cy="2708434"/>
            </a:xfrm>
            <a:prstGeom prst="rect">
              <a:avLst/>
            </a:prstGeom>
            <a:ln>
              <a:solidFill>
                <a:schemeClr val="bg1">
                  <a:lumMod val="50000"/>
                </a:schemeClr>
              </a:solidFill>
            </a:ln>
          </p:spPr>
          <p:txBody>
            <a:bodyPr>
              <a:spAutoFit/>
            </a:bodyPr>
            <a:lstStyle/>
            <a:p>
              <a:r>
                <a:rPr lang="en-US" altLang="ko-KR" sz="1000" b="1" dirty="0" err="1"/>
                <a:t>apiVersion</a:t>
              </a:r>
              <a:r>
                <a:rPr lang="en-US" altLang="ko-KR" sz="1000" b="1" dirty="0"/>
                <a:t>: </a:t>
              </a:r>
              <a:r>
                <a:rPr lang="en-US" altLang="ko-KR" sz="1000" b="1" dirty="0">
                  <a:solidFill>
                    <a:srgbClr val="FF0000"/>
                  </a:solidFill>
                </a:rPr>
                <a:t>apps/v1</a:t>
              </a:r>
            </a:p>
            <a:p>
              <a:r>
                <a:rPr lang="en-US" altLang="ko-KR" sz="1000" b="1" dirty="0"/>
                <a:t>kind: </a:t>
              </a:r>
              <a:r>
                <a:rPr lang="en-US" altLang="ko-KR" sz="1000" b="1" dirty="0">
                  <a:solidFill>
                    <a:srgbClr val="FF0000"/>
                  </a:solidFill>
                </a:rPr>
                <a:t>Deployment</a:t>
              </a:r>
            </a:p>
            <a:p>
              <a:r>
                <a:rPr lang="en-US" altLang="ko-KR" sz="1000" b="1" dirty="0"/>
                <a:t>metadata:</a:t>
              </a:r>
            </a:p>
            <a:p>
              <a:r>
                <a:rPr lang="en-US" altLang="ko-KR" sz="1000" b="1" dirty="0"/>
                <a:t>  name: </a:t>
              </a:r>
              <a:r>
                <a:rPr lang="en-US" altLang="ko-KR" sz="1000" b="1" dirty="0" err="1">
                  <a:solidFill>
                    <a:srgbClr val="FF0000"/>
                  </a:solidFill>
                </a:rPr>
                <a:t>kuard</a:t>
              </a:r>
              <a:endParaRPr lang="en-US" altLang="ko-KR" sz="1000" b="1" dirty="0">
                <a:solidFill>
                  <a:srgbClr val="FF0000"/>
                </a:solidFill>
              </a:endParaRPr>
            </a:p>
            <a:p>
              <a:r>
                <a:rPr lang="en-US" altLang="ko-KR" sz="1000" b="1" dirty="0"/>
                <a:t>spec:</a:t>
              </a:r>
            </a:p>
            <a:p>
              <a:r>
                <a:rPr lang="en-US" altLang="ko-KR" sz="1000" b="1" dirty="0"/>
                <a:t>  selector:</a:t>
              </a:r>
            </a:p>
            <a:p>
              <a:r>
                <a:rPr lang="en-US" altLang="ko-KR" sz="1000" b="1" dirty="0"/>
                <a:t>    </a:t>
              </a:r>
              <a:r>
                <a:rPr lang="en-US" altLang="ko-KR" sz="1000" b="1" dirty="0" err="1"/>
                <a:t>matchLabels</a:t>
              </a:r>
              <a:r>
                <a:rPr lang="en-US" altLang="ko-KR" sz="1000" b="1" dirty="0"/>
                <a:t>:</a:t>
              </a:r>
            </a:p>
            <a:p>
              <a:r>
                <a:rPr lang="en-US" altLang="ko-KR" sz="1000" b="1" dirty="0"/>
                <a:t>      run: </a:t>
              </a:r>
              <a:r>
                <a:rPr lang="en-US" altLang="ko-KR" sz="1000" b="1" dirty="0" err="1">
                  <a:solidFill>
                    <a:srgbClr val="FF0000"/>
                  </a:solidFill>
                </a:rPr>
                <a:t>kuard</a:t>
              </a:r>
              <a:endParaRPr lang="en-US" altLang="ko-KR" sz="1000" b="1" dirty="0">
                <a:solidFill>
                  <a:srgbClr val="FF0000"/>
                </a:solidFill>
              </a:endParaRPr>
            </a:p>
            <a:p>
              <a:r>
                <a:rPr lang="en-US" altLang="ko-KR" sz="1000" b="1" dirty="0"/>
                <a:t>  replicas: </a:t>
              </a:r>
              <a:r>
                <a:rPr lang="en-US" altLang="ko-KR" sz="1000" b="1" dirty="0">
                  <a:solidFill>
                    <a:srgbClr val="FF0000"/>
                  </a:solidFill>
                </a:rPr>
                <a:t>1</a:t>
              </a:r>
            </a:p>
            <a:p>
              <a:r>
                <a:rPr lang="en-US" altLang="ko-KR" sz="1000" b="1" dirty="0"/>
                <a:t>  template:</a:t>
              </a:r>
            </a:p>
            <a:p>
              <a:r>
                <a:rPr lang="en-US" altLang="ko-KR" sz="1000" b="1" dirty="0"/>
                <a:t>    metadata:</a:t>
              </a:r>
            </a:p>
            <a:p>
              <a:r>
                <a:rPr lang="en-US" altLang="ko-KR" sz="1000" b="1" dirty="0"/>
                <a:t>      labels:</a:t>
              </a:r>
            </a:p>
            <a:p>
              <a:r>
                <a:rPr lang="en-US" altLang="ko-KR" sz="1000" b="1" dirty="0"/>
                <a:t>        run: </a:t>
              </a:r>
              <a:r>
                <a:rPr lang="en-US" altLang="ko-KR" sz="1000" b="1" dirty="0" err="1">
                  <a:solidFill>
                    <a:srgbClr val="FF0000"/>
                  </a:solidFill>
                </a:rPr>
                <a:t>kuard</a:t>
              </a:r>
              <a:endParaRPr lang="en-US" altLang="ko-KR" sz="1000" b="1" dirty="0">
                <a:solidFill>
                  <a:srgbClr val="FF0000"/>
                </a:solidFill>
              </a:endParaRPr>
            </a:p>
            <a:p>
              <a:r>
                <a:rPr lang="en-US" altLang="ko-KR" sz="1000" b="1" dirty="0"/>
                <a:t>    spec:</a:t>
              </a:r>
            </a:p>
            <a:p>
              <a:r>
                <a:rPr lang="en-US" altLang="ko-KR" sz="1000" b="1" dirty="0"/>
                <a:t>      containers:</a:t>
              </a:r>
            </a:p>
            <a:p>
              <a:r>
                <a:rPr lang="en-US" altLang="ko-KR" sz="1000" b="1" dirty="0"/>
                <a:t>      - name: </a:t>
              </a:r>
              <a:r>
                <a:rPr lang="en-US" altLang="ko-KR" sz="1000" b="1" dirty="0" err="1">
                  <a:solidFill>
                    <a:srgbClr val="FF0000"/>
                  </a:solidFill>
                </a:rPr>
                <a:t>kuard</a:t>
              </a:r>
              <a:endParaRPr lang="en-US" altLang="ko-KR" sz="1000" b="1" dirty="0">
                <a:solidFill>
                  <a:srgbClr val="FF0000"/>
                </a:solidFill>
              </a:endParaRPr>
            </a:p>
            <a:p>
              <a:r>
                <a:rPr lang="en-US" altLang="ko-KR" sz="1000" b="1" dirty="0"/>
                <a:t>        image: </a:t>
              </a:r>
              <a:r>
                <a:rPr lang="en-US" altLang="ko-KR" sz="1000" b="1" dirty="0">
                  <a:solidFill>
                    <a:srgbClr val="FF0000"/>
                  </a:solidFill>
                </a:rPr>
                <a:t>knix008/kuard-shkwon-amd64:1.0</a:t>
              </a:r>
              <a:endParaRPr lang="ko-KR" altLang="en-US" sz="1000" b="1" dirty="0">
                <a:solidFill>
                  <a:srgbClr val="FF0000"/>
                </a:solidFill>
              </a:endParaRPr>
            </a:p>
          </p:txBody>
        </p:sp>
        <p:sp>
          <p:nvSpPr>
            <p:cNvPr id="10" name="화살표: 아래쪽 9">
              <a:extLst>
                <a:ext uri="{FF2B5EF4-FFF2-40B4-BE49-F238E27FC236}">
                  <a16:creationId xmlns:a16="http://schemas.microsoft.com/office/drawing/2014/main" id="{D6B49F12-6709-4BC6-ABBF-950104CDE7E2}"/>
                </a:ext>
              </a:extLst>
            </p:cNvPr>
            <p:cNvSpPr/>
            <p:nvPr/>
          </p:nvSpPr>
          <p:spPr>
            <a:xfrm>
              <a:off x="5905168" y="4538060"/>
              <a:ext cx="381663" cy="26576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52104691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Your First Deployment(2/5)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Deployment Internals :</a:t>
            </a:r>
          </a:p>
          <a:p>
            <a:pPr lvl="1">
              <a:buFont typeface="Wingdings" panose="05000000000000000000" pitchFamily="2" charset="2"/>
              <a:buChar char="§"/>
            </a:pPr>
            <a:r>
              <a:rPr lang="en-US" altLang="ko-KR" sz="1400" b="1" dirty="0"/>
              <a:t>Let’s explore how deployments actually work. Just as we learned that </a:t>
            </a:r>
            <a:r>
              <a:rPr lang="en-US" altLang="ko-KR" sz="1400" b="1" dirty="0" err="1"/>
              <a:t>ReplicaSets</a:t>
            </a:r>
            <a:r>
              <a:rPr lang="en-US" altLang="ko-KR" sz="1400" b="1" dirty="0"/>
              <a:t> manage Pods, </a:t>
            </a:r>
            <a:r>
              <a:rPr lang="en-US" altLang="ko-KR" sz="1400" b="1" dirty="0">
                <a:solidFill>
                  <a:srgbClr val="FF0000"/>
                </a:solidFill>
              </a:rPr>
              <a:t>deployments manage </a:t>
            </a:r>
            <a:r>
              <a:rPr lang="en-US" altLang="ko-KR" sz="1400" b="1" dirty="0" err="1">
                <a:solidFill>
                  <a:srgbClr val="FF0000"/>
                </a:solidFill>
              </a:rPr>
              <a:t>ReplicaSets</a:t>
            </a:r>
            <a:r>
              <a:rPr lang="en-US" altLang="ko-KR" sz="1400" dirty="0"/>
              <a:t>. As with all relationships in Kubernetes, this </a:t>
            </a:r>
            <a:r>
              <a:rPr lang="en-US" altLang="ko-KR" sz="1400" b="1" dirty="0"/>
              <a:t>relationship is defined by labels and a label selector</a:t>
            </a:r>
            <a:r>
              <a:rPr lang="en-US" altLang="ko-KR" sz="1400" dirty="0"/>
              <a:t>. You can see the </a:t>
            </a:r>
            <a:r>
              <a:rPr lang="en-US" altLang="ko-KR" sz="1400" b="1" dirty="0"/>
              <a:t>label selector </a:t>
            </a:r>
            <a:r>
              <a:rPr lang="en-US" altLang="ko-KR" sz="1400" dirty="0"/>
              <a:t>by looking at the </a:t>
            </a:r>
            <a:r>
              <a:rPr lang="en-US" altLang="ko-KR" sz="1400" b="1" dirty="0"/>
              <a:t>Deployment object</a:t>
            </a:r>
            <a:r>
              <a:rPr lang="en-US" altLang="ko-KR" sz="1400" dirty="0"/>
              <a:t> :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67</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ABC57999-D4EF-4B36-8694-761C6B8ED1F4}"/>
              </a:ext>
            </a:extLst>
          </p:cNvPr>
          <p:cNvGrpSpPr/>
          <p:nvPr/>
        </p:nvGrpSpPr>
        <p:grpSpPr>
          <a:xfrm>
            <a:off x="1029135" y="2181220"/>
            <a:ext cx="10133730" cy="2495559"/>
            <a:chOff x="1029135" y="1889286"/>
            <a:chExt cx="10133730" cy="2495559"/>
          </a:xfrm>
        </p:grpSpPr>
        <p:sp>
          <p:nvSpPr>
            <p:cNvPr id="4" name="직사각형 3">
              <a:extLst>
                <a:ext uri="{FF2B5EF4-FFF2-40B4-BE49-F238E27FC236}">
                  <a16:creationId xmlns:a16="http://schemas.microsoft.com/office/drawing/2014/main" id="{E288B3C4-0C65-4C70-9608-48BC0375E0AE}"/>
                </a:ext>
              </a:extLst>
            </p:cNvPr>
            <p:cNvSpPr/>
            <p:nvPr/>
          </p:nvSpPr>
          <p:spPr>
            <a:xfrm>
              <a:off x="3048000" y="1889286"/>
              <a:ext cx="6096000" cy="246221"/>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t>kubectl</a:t>
              </a:r>
              <a:r>
                <a:rPr lang="en-US" altLang="ko-KR" sz="1000" b="1" dirty="0"/>
                <a:t> </a:t>
              </a:r>
              <a:r>
                <a:rPr lang="en-US" altLang="ko-KR" sz="1000" b="1" dirty="0">
                  <a:solidFill>
                    <a:srgbClr val="FF0000"/>
                  </a:solidFill>
                </a:rPr>
                <a:t>get deployments </a:t>
              </a:r>
              <a:r>
                <a:rPr lang="en-US" altLang="ko-KR" sz="1000" b="1" dirty="0" err="1">
                  <a:solidFill>
                    <a:srgbClr val="FF0000"/>
                  </a:solidFill>
                </a:rPr>
                <a:t>kuard</a:t>
              </a:r>
              <a:r>
                <a:rPr lang="en-US" altLang="ko-KR" sz="1000" b="1" dirty="0"/>
                <a:t> -o </a:t>
              </a:r>
              <a:r>
                <a:rPr lang="en-US" altLang="ko-KR" sz="1000" b="1" dirty="0" err="1"/>
                <a:t>jsonpath</a:t>
              </a:r>
              <a:r>
                <a:rPr lang="en-US" altLang="ko-KR" sz="1000" b="1" dirty="0"/>
                <a:t> --template {.</a:t>
              </a:r>
              <a:r>
                <a:rPr lang="en-US" altLang="ko-KR" sz="1000" b="1" dirty="0" err="1"/>
                <a:t>spec.selector.matchLabels</a:t>
              </a:r>
              <a:r>
                <a:rPr lang="en-US" altLang="ko-KR" sz="1000" b="1" dirty="0"/>
                <a:t>}</a:t>
              </a:r>
              <a:endParaRPr lang="ko-KR" altLang="en-US" sz="1000" b="1" dirty="0"/>
            </a:p>
          </p:txBody>
        </p:sp>
        <p:pic>
          <p:nvPicPr>
            <p:cNvPr id="8" name="그림 7">
              <a:extLst>
                <a:ext uri="{FF2B5EF4-FFF2-40B4-BE49-F238E27FC236}">
                  <a16:creationId xmlns:a16="http://schemas.microsoft.com/office/drawing/2014/main" id="{74B6193B-48B9-4C67-AE21-13E24363948C}"/>
                </a:ext>
              </a:extLst>
            </p:cNvPr>
            <p:cNvPicPr>
              <a:picLocks noChangeAspect="1"/>
            </p:cNvPicPr>
            <p:nvPr/>
          </p:nvPicPr>
          <p:blipFill>
            <a:blip r:embed="rId2"/>
            <a:stretch>
              <a:fillRect/>
            </a:stretch>
          </p:blipFill>
          <p:spPr>
            <a:xfrm>
              <a:off x="1029135" y="2473154"/>
              <a:ext cx="10133730" cy="1911691"/>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F5123490-6C17-4496-B90A-84248F963ACC}"/>
                </a:ext>
              </a:extLst>
            </p:cNvPr>
            <p:cNvSpPr/>
            <p:nvPr/>
          </p:nvSpPr>
          <p:spPr>
            <a:xfrm>
              <a:off x="5889266" y="2149968"/>
              <a:ext cx="413468" cy="299844"/>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12349688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Your First Deployment(3/5)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Deployment Internals :</a:t>
            </a:r>
          </a:p>
          <a:p>
            <a:pPr lvl="1">
              <a:buFont typeface="Wingdings" panose="05000000000000000000" pitchFamily="2" charset="2"/>
              <a:buChar char="§"/>
            </a:pPr>
            <a:r>
              <a:rPr lang="en-US" altLang="ko-KR" sz="1400" dirty="0"/>
              <a:t>From this you can see that the deployment is managing a </a:t>
            </a:r>
            <a:r>
              <a:rPr lang="en-US" altLang="ko-KR" sz="1400" dirty="0" err="1"/>
              <a:t>ReplicaSet</a:t>
            </a:r>
            <a:r>
              <a:rPr lang="en-US" altLang="ko-KR" sz="1400" dirty="0"/>
              <a:t> with the </a:t>
            </a:r>
            <a:r>
              <a:rPr lang="en-US" altLang="ko-KR" sz="1400" b="1" dirty="0"/>
              <a:t>label “run=</a:t>
            </a:r>
            <a:r>
              <a:rPr lang="en-US" altLang="ko-KR" sz="1400" b="1" dirty="0" err="1"/>
              <a:t>kuard</a:t>
            </a:r>
            <a:r>
              <a:rPr lang="en-US" altLang="ko-KR" sz="1400" b="1" dirty="0"/>
              <a:t>”</a:t>
            </a:r>
            <a:r>
              <a:rPr lang="en-US" altLang="ko-KR" sz="1400" dirty="0"/>
              <a:t>. We can use this in a “</a:t>
            </a:r>
            <a:r>
              <a:rPr lang="en-US" altLang="ko-KR" sz="1400" b="1" dirty="0"/>
              <a:t>label selector query</a:t>
            </a:r>
            <a:r>
              <a:rPr lang="en-US" altLang="ko-KR" sz="1400" dirty="0"/>
              <a:t>” across </a:t>
            </a:r>
            <a:r>
              <a:rPr lang="en-US" altLang="ko-KR" sz="1400" dirty="0" err="1"/>
              <a:t>ReplicaSets</a:t>
            </a:r>
            <a:r>
              <a:rPr lang="en-US" altLang="ko-KR" sz="1400" dirty="0"/>
              <a:t> </a:t>
            </a:r>
            <a:r>
              <a:rPr lang="en-US" altLang="ko-KR" sz="1400" b="1" dirty="0"/>
              <a:t>to find that specific </a:t>
            </a:r>
            <a:r>
              <a:rPr lang="en-US" altLang="ko-KR" sz="1400" b="1" dirty="0" err="1"/>
              <a:t>ReplicaSet</a:t>
            </a:r>
            <a:r>
              <a:rPr lang="en-US" altLang="ko-KR" sz="1400" b="1" dirty="0"/>
              <a:t> </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68</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9E84663D-2805-42C6-8552-EC8531D09CEA}"/>
              </a:ext>
            </a:extLst>
          </p:cNvPr>
          <p:cNvGrpSpPr/>
          <p:nvPr/>
        </p:nvGrpSpPr>
        <p:grpSpPr>
          <a:xfrm>
            <a:off x="1060941" y="1873444"/>
            <a:ext cx="10070117" cy="2204664"/>
            <a:chOff x="1060939" y="1693829"/>
            <a:chExt cx="10070117" cy="2204664"/>
          </a:xfrm>
        </p:grpSpPr>
        <p:sp>
          <p:nvSpPr>
            <p:cNvPr id="4" name="직사각형 3">
              <a:extLst>
                <a:ext uri="{FF2B5EF4-FFF2-40B4-BE49-F238E27FC236}">
                  <a16:creationId xmlns:a16="http://schemas.microsoft.com/office/drawing/2014/main" id="{A47BC898-409E-4F91-8657-3E82976B137E}"/>
                </a:ext>
              </a:extLst>
            </p:cNvPr>
            <p:cNvSpPr/>
            <p:nvPr/>
          </p:nvSpPr>
          <p:spPr>
            <a:xfrm>
              <a:off x="4570582" y="1693829"/>
              <a:ext cx="3050835" cy="246221"/>
            </a:xfrm>
            <a:prstGeom prst="rect">
              <a:avLst/>
            </a:prstGeom>
            <a:ln>
              <a:solidFill>
                <a:schemeClr val="bg1">
                  <a:lumMod val="50000"/>
                </a:schemeClr>
              </a:solidFill>
            </a:ln>
          </p:spPr>
          <p:txBody>
            <a:bodyPr wrap="none">
              <a:spAutoFit/>
            </a:bodyPr>
            <a:lstStyle/>
            <a:p>
              <a:r>
                <a:rPr lang="en-US" altLang="ko-KR" sz="1000" b="1" dirty="0"/>
                <a:t>$ </a:t>
              </a:r>
              <a:r>
                <a:rPr lang="en-US" altLang="ko-KR" sz="1000" b="1" dirty="0" err="1"/>
                <a:t>kubectl</a:t>
              </a:r>
              <a:r>
                <a:rPr lang="en-US" altLang="ko-KR" sz="1000" b="1" dirty="0"/>
                <a:t> get </a:t>
              </a:r>
              <a:r>
                <a:rPr lang="en-US" altLang="ko-KR" sz="1000" b="1" dirty="0" err="1"/>
                <a:t>replicasets</a:t>
              </a:r>
              <a:r>
                <a:rPr lang="en-US" altLang="ko-KR" sz="1000" b="1" dirty="0"/>
                <a:t> </a:t>
              </a:r>
              <a:r>
                <a:rPr lang="en-US" altLang="ko-KR" sz="1000" b="1" dirty="0">
                  <a:solidFill>
                    <a:srgbClr val="FF0000"/>
                  </a:solidFill>
                </a:rPr>
                <a:t>--selector=run=</a:t>
              </a:r>
              <a:r>
                <a:rPr lang="en-US" altLang="ko-KR" sz="1000" b="1" dirty="0" err="1">
                  <a:solidFill>
                    <a:srgbClr val="FF0000"/>
                  </a:solidFill>
                </a:rPr>
                <a:t>kuard</a:t>
              </a:r>
              <a:endParaRPr lang="ko-KR" altLang="en-US" sz="1000" b="1" dirty="0">
                <a:solidFill>
                  <a:srgbClr val="FF0000"/>
                </a:solidFill>
              </a:endParaRPr>
            </a:p>
          </p:txBody>
        </p:sp>
        <p:sp>
          <p:nvSpPr>
            <p:cNvPr id="8" name="화살표: 아래쪽 7">
              <a:extLst>
                <a:ext uri="{FF2B5EF4-FFF2-40B4-BE49-F238E27FC236}">
                  <a16:creationId xmlns:a16="http://schemas.microsoft.com/office/drawing/2014/main" id="{7AC177F0-E7BA-465A-AE48-0093CE0FB332}"/>
                </a:ext>
              </a:extLst>
            </p:cNvPr>
            <p:cNvSpPr/>
            <p:nvPr/>
          </p:nvSpPr>
          <p:spPr>
            <a:xfrm>
              <a:off x="5885289" y="1965076"/>
              <a:ext cx="421419" cy="26239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50602481-4A4D-47A0-A961-B7DB01FCCDC2}"/>
                </a:ext>
              </a:extLst>
            </p:cNvPr>
            <p:cNvPicPr>
              <a:picLocks noChangeAspect="1"/>
            </p:cNvPicPr>
            <p:nvPr/>
          </p:nvPicPr>
          <p:blipFill>
            <a:blip r:embed="rId2"/>
            <a:stretch>
              <a:fillRect/>
            </a:stretch>
          </p:blipFill>
          <p:spPr>
            <a:xfrm>
              <a:off x="1060939" y="2227469"/>
              <a:ext cx="10070117" cy="1671024"/>
            </a:xfrm>
            <a:prstGeom prst="rect">
              <a:avLst/>
            </a:prstGeom>
          </p:spPr>
        </p:pic>
      </p:grpSp>
    </p:spTree>
    <p:extLst>
      <p:ext uri="{BB962C8B-B14F-4D97-AF65-F5344CB8AC3E}">
        <p14:creationId xmlns:p14="http://schemas.microsoft.com/office/powerpoint/2010/main" val="117101323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Your First Deployment(4/5)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Deployment Internals :</a:t>
            </a:r>
          </a:p>
          <a:p>
            <a:pPr lvl="1">
              <a:buFont typeface="Wingdings" panose="05000000000000000000" pitchFamily="2" charset="2"/>
              <a:buChar char="§"/>
            </a:pPr>
            <a:r>
              <a:rPr lang="en-US" altLang="ko-KR" sz="1400" dirty="0"/>
              <a:t>We can </a:t>
            </a:r>
            <a:r>
              <a:rPr lang="en-US" altLang="ko-KR" sz="1400" b="1" dirty="0"/>
              <a:t>resize the deployment</a:t>
            </a:r>
            <a:r>
              <a:rPr lang="en-US" altLang="ko-KR" sz="1400" dirty="0"/>
              <a:t> using the imperative “</a:t>
            </a:r>
            <a:r>
              <a:rPr lang="en-US" altLang="ko-KR" sz="1400" b="1" dirty="0"/>
              <a:t>scale</a:t>
            </a:r>
            <a:r>
              <a:rPr lang="en-US" altLang="ko-KR" sz="1400" dirty="0"/>
              <a:t>” command :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Now if we </a:t>
            </a:r>
            <a:r>
              <a:rPr lang="en-US" altLang="ko-KR" sz="1400" b="1" dirty="0"/>
              <a:t>list that </a:t>
            </a:r>
            <a:r>
              <a:rPr lang="en-US" altLang="ko-KR" sz="1400" b="1" dirty="0" err="1"/>
              <a:t>ReplicaSet</a:t>
            </a:r>
            <a:r>
              <a:rPr lang="en-US" altLang="ko-KR" sz="1400" b="1" dirty="0"/>
              <a:t> </a:t>
            </a:r>
            <a:r>
              <a:rPr lang="en-US" altLang="ko-KR" sz="1400" dirty="0"/>
              <a:t>again, we should see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69</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35AF87B9-D93C-4666-99B1-639DF4C753EE}"/>
              </a:ext>
            </a:extLst>
          </p:cNvPr>
          <p:cNvGrpSpPr/>
          <p:nvPr/>
        </p:nvGrpSpPr>
        <p:grpSpPr>
          <a:xfrm>
            <a:off x="1765355" y="1501190"/>
            <a:ext cx="8655989" cy="2260249"/>
            <a:chOff x="1833727" y="1510949"/>
            <a:chExt cx="8655989" cy="2260249"/>
          </a:xfrm>
        </p:grpSpPr>
        <p:sp>
          <p:nvSpPr>
            <p:cNvPr id="4" name="직사각형 3">
              <a:extLst>
                <a:ext uri="{FF2B5EF4-FFF2-40B4-BE49-F238E27FC236}">
                  <a16:creationId xmlns:a16="http://schemas.microsoft.com/office/drawing/2014/main" id="{935324A2-1ECF-40D0-AA70-A665A30BF0CE}"/>
                </a:ext>
              </a:extLst>
            </p:cNvPr>
            <p:cNvSpPr/>
            <p:nvPr/>
          </p:nvSpPr>
          <p:spPr>
            <a:xfrm>
              <a:off x="4611458" y="1510949"/>
              <a:ext cx="3100529" cy="246221"/>
            </a:xfrm>
            <a:prstGeom prst="rect">
              <a:avLst/>
            </a:prstGeom>
            <a:ln>
              <a:solidFill>
                <a:schemeClr val="bg1">
                  <a:lumMod val="50000"/>
                </a:schemeClr>
              </a:solidFill>
            </a:ln>
          </p:spPr>
          <p:txBody>
            <a:bodyPr wrap="none">
              <a:spAutoFit/>
            </a:bodyPr>
            <a:lstStyle/>
            <a:p>
              <a:r>
                <a:rPr lang="en-US" altLang="ko-KR" sz="1000" b="1" dirty="0"/>
                <a:t>$ </a:t>
              </a:r>
              <a:r>
                <a:rPr lang="en-US" altLang="ko-KR" sz="1000" b="1" dirty="0" err="1"/>
                <a:t>kubectl</a:t>
              </a:r>
              <a:r>
                <a:rPr lang="en-US" altLang="ko-KR" sz="1000" b="1" dirty="0"/>
                <a:t> </a:t>
              </a:r>
              <a:r>
                <a:rPr lang="en-US" altLang="ko-KR" sz="1000" b="1" dirty="0">
                  <a:solidFill>
                    <a:srgbClr val="FF0000"/>
                  </a:solidFill>
                </a:rPr>
                <a:t>scale</a:t>
              </a:r>
              <a:r>
                <a:rPr lang="en-US" altLang="ko-KR" sz="1000" b="1" dirty="0"/>
                <a:t> deployments </a:t>
              </a:r>
              <a:r>
                <a:rPr lang="en-US" altLang="ko-KR" sz="1000" b="1" dirty="0" err="1">
                  <a:solidFill>
                    <a:srgbClr val="FF0000"/>
                  </a:solidFill>
                </a:rPr>
                <a:t>kuard</a:t>
              </a:r>
              <a:r>
                <a:rPr lang="en-US" altLang="ko-KR" sz="1000" b="1" dirty="0"/>
                <a:t> </a:t>
              </a:r>
              <a:r>
                <a:rPr lang="en-US" altLang="ko-KR" sz="1000" b="1" dirty="0">
                  <a:solidFill>
                    <a:srgbClr val="FF0000"/>
                  </a:solidFill>
                </a:rPr>
                <a:t>--replicas=2</a:t>
              </a:r>
              <a:endParaRPr lang="ko-KR" altLang="en-US" sz="1000" b="1" dirty="0">
                <a:solidFill>
                  <a:srgbClr val="FF0000"/>
                </a:solidFill>
              </a:endParaRPr>
            </a:p>
          </p:txBody>
        </p:sp>
        <p:sp>
          <p:nvSpPr>
            <p:cNvPr id="8" name="화살표: 아래쪽 7">
              <a:extLst>
                <a:ext uri="{FF2B5EF4-FFF2-40B4-BE49-F238E27FC236}">
                  <a16:creationId xmlns:a16="http://schemas.microsoft.com/office/drawing/2014/main" id="{0942CA5D-7778-41C4-9308-A1D51222C808}"/>
                </a:ext>
              </a:extLst>
            </p:cNvPr>
            <p:cNvSpPr/>
            <p:nvPr/>
          </p:nvSpPr>
          <p:spPr>
            <a:xfrm>
              <a:off x="5966915" y="1786171"/>
              <a:ext cx="389614" cy="254442"/>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CF880206-2B56-4D67-A859-620B2959321E}"/>
                </a:ext>
              </a:extLst>
            </p:cNvPr>
            <p:cNvPicPr>
              <a:picLocks noChangeAspect="1"/>
            </p:cNvPicPr>
            <p:nvPr/>
          </p:nvPicPr>
          <p:blipFill>
            <a:blip r:embed="rId2"/>
            <a:stretch>
              <a:fillRect/>
            </a:stretch>
          </p:blipFill>
          <p:spPr>
            <a:xfrm>
              <a:off x="1833727" y="2048656"/>
              <a:ext cx="8655989" cy="1722542"/>
            </a:xfrm>
            <a:prstGeom prst="rect">
              <a:avLst/>
            </a:prstGeom>
            <a:ln>
              <a:solidFill>
                <a:schemeClr val="bg1">
                  <a:lumMod val="50000"/>
                </a:schemeClr>
              </a:solidFill>
            </a:ln>
          </p:spPr>
        </p:pic>
      </p:grpSp>
      <p:grpSp>
        <p:nvGrpSpPr>
          <p:cNvPr id="14" name="그룹 13">
            <a:extLst>
              <a:ext uri="{FF2B5EF4-FFF2-40B4-BE49-F238E27FC236}">
                <a16:creationId xmlns:a16="http://schemas.microsoft.com/office/drawing/2014/main" id="{D25AEFD5-3C98-49CC-A6D6-86CA96933320}"/>
              </a:ext>
            </a:extLst>
          </p:cNvPr>
          <p:cNvGrpSpPr/>
          <p:nvPr/>
        </p:nvGrpSpPr>
        <p:grpSpPr>
          <a:xfrm>
            <a:off x="1768005" y="4226685"/>
            <a:ext cx="8655989" cy="2182345"/>
            <a:chOff x="1768004" y="4181848"/>
            <a:chExt cx="8655989" cy="2182345"/>
          </a:xfrm>
        </p:grpSpPr>
        <p:sp>
          <p:nvSpPr>
            <p:cNvPr id="11" name="직사각형 10">
              <a:extLst>
                <a:ext uri="{FF2B5EF4-FFF2-40B4-BE49-F238E27FC236}">
                  <a16:creationId xmlns:a16="http://schemas.microsoft.com/office/drawing/2014/main" id="{BF8E1B45-E3F4-4418-8D19-C6F8E79D7642}"/>
                </a:ext>
              </a:extLst>
            </p:cNvPr>
            <p:cNvSpPr/>
            <p:nvPr/>
          </p:nvSpPr>
          <p:spPr>
            <a:xfrm>
              <a:off x="4570582" y="4181848"/>
              <a:ext cx="3050835"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get </a:t>
              </a:r>
              <a:r>
                <a:rPr lang="en-US" altLang="ko-KR" sz="1000" b="1" dirty="0" err="1">
                  <a:solidFill>
                    <a:srgbClr val="FF0000"/>
                  </a:solidFill>
                </a:rPr>
                <a:t>replicasets</a:t>
              </a:r>
              <a:r>
                <a:rPr lang="en-US" altLang="ko-KR" sz="1000" b="1" dirty="0">
                  <a:solidFill>
                    <a:srgbClr val="FF0000"/>
                  </a:solidFill>
                </a:rPr>
                <a:t> --selector=run=</a:t>
              </a:r>
              <a:r>
                <a:rPr lang="en-US" altLang="ko-KR" sz="1000" b="1" dirty="0" err="1">
                  <a:solidFill>
                    <a:srgbClr val="FF0000"/>
                  </a:solidFill>
                </a:rPr>
                <a:t>kuard</a:t>
              </a:r>
              <a:endParaRPr lang="ko-KR" altLang="en-US" sz="1000" b="1" dirty="0">
                <a:solidFill>
                  <a:srgbClr val="FF0000"/>
                </a:solidFill>
              </a:endParaRPr>
            </a:p>
          </p:txBody>
        </p:sp>
        <p:sp>
          <p:nvSpPr>
            <p:cNvPr id="12" name="화살표: 아래쪽 11">
              <a:extLst>
                <a:ext uri="{FF2B5EF4-FFF2-40B4-BE49-F238E27FC236}">
                  <a16:creationId xmlns:a16="http://schemas.microsoft.com/office/drawing/2014/main" id="{E44D78AF-0AFA-48F8-A15B-BE4D32DF7578}"/>
                </a:ext>
              </a:extLst>
            </p:cNvPr>
            <p:cNvSpPr/>
            <p:nvPr/>
          </p:nvSpPr>
          <p:spPr>
            <a:xfrm>
              <a:off x="5886616" y="4453095"/>
              <a:ext cx="413467" cy="26239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3" name="그림 12">
              <a:extLst>
                <a:ext uri="{FF2B5EF4-FFF2-40B4-BE49-F238E27FC236}">
                  <a16:creationId xmlns:a16="http://schemas.microsoft.com/office/drawing/2014/main" id="{DA0F6DE8-3EC9-43AC-80F0-343EDD0B8AA5}"/>
                </a:ext>
              </a:extLst>
            </p:cNvPr>
            <p:cNvPicPr>
              <a:picLocks noChangeAspect="1"/>
            </p:cNvPicPr>
            <p:nvPr/>
          </p:nvPicPr>
          <p:blipFill>
            <a:blip r:embed="rId3"/>
            <a:stretch>
              <a:fillRect/>
            </a:stretch>
          </p:blipFill>
          <p:spPr>
            <a:xfrm>
              <a:off x="1768004" y="4719555"/>
              <a:ext cx="8655989" cy="1644638"/>
            </a:xfrm>
            <a:prstGeom prst="rect">
              <a:avLst/>
            </a:prstGeom>
            <a:ln>
              <a:solidFill>
                <a:schemeClr val="bg1">
                  <a:lumMod val="50000"/>
                </a:schemeClr>
              </a:solidFill>
            </a:ln>
          </p:spPr>
        </p:pic>
      </p:grpSp>
    </p:spTree>
    <p:extLst>
      <p:ext uri="{BB962C8B-B14F-4D97-AF65-F5344CB8AC3E}">
        <p14:creationId xmlns:p14="http://schemas.microsoft.com/office/powerpoint/2010/main" val="356090015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Your First Deployment(5/5)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Deployment Internals :</a:t>
            </a:r>
          </a:p>
          <a:p>
            <a:pPr lvl="1">
              <a:buFont typeface="Wingdings" panose="05000000000000000000" pitchFamily="2" charset="2"/>
              <a:buChar char="§"/>
            </a:pPr>
            <a:r>
              <a:rPr lang="en-US" altLang="ko-KR" sz="1400" b="1" dirty="0"/>
              <a:t>Scaling the deployment has also scaled the </a:t>
            </a:r>
            <a:r>
              <a:rPr lang="en-US" altLang="ko-KR" sz="1400" b="1" dirty="0" err="1"/>
              <a:t>ReplicaSet</a:t>
            </a:r>
            <a:r>
              <a:rPr lang="en-US" altLang="ko-KR" sz="1400" b="1" dirty="0"/>
              <a:t> it controls</a:t>
            </a:r>
            <a:r>
              <a:rPr lang="en-US" altLang="ko-KR" sz="1400" dirty="0"/>
              <a:t>. Now let’s try the opposite, scaling the </a:t>
            </a:r>
            <a:r>
              <a:rPr lang="en-US" altLang="ko-KR" sz="1400" dirty="0" err="1"/>
              <a:t>ReplicaSet</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That’s odd. Despite our scaling the </a:t>
            </a:r>
            <a:r>
              <a:rPr lang="en-US" altLang="ko-KR" sz="1400" b="1" dirty="0" err="1"/>
              <a:t>ReplicaSet</a:t>
            </a:r>
            <a:r>
              <a:rPr lang="en-US" altLang="ko-KR" sz="1400" b="1" dirty="0"/>
              <a:t> to one replica, it still has two replicas as its desired state</a:t>
            </a:r>
            <a:r>
              <a:rPr lang="en-US" altLang="ko-KR" sz="1400" dirty="0"/>
              <a:t>. What’s going on? Remember, </a:t>
            </a:r>
            <a:r>
              <a:rPr lang="en-US" altLang="ko-KR" sz="1400" b="1" dirty="0"/>
              <a:t>Kubernetes is </a:t>
            </a:r>
            <a:r>
              <a:rPr lang="en-US" altLang="ko-KR" sz="1400" b="1" dirty="0">
                <a:solidFill>
                  <a:srgbClr val="FF0000"/>
                </a:solidFill>
              </a:rPr>
              <a:t>an online, self-healing system</a:t>
            </a:r>
            <a:r>
              <a:rPr lang="en-US" altLang="ko-KR" sz="1400" b="1" dirty="0"/>
              <a:t>. The top-level Deployment object is managing this </a:t>
            </a:r>
            <a:r>
              <a:rPr lang="en-US" altLang="ko-KR" sz="1400" b="1" dirty="0" err="1"/>
              <a:t>ReplicaSet</a:t>
            </a:r>
            <a:r>
              <a:rPr lang="en-US" altLang="ko-KR" sz="1400" b="1" dirty="0"/>
              <a:t>.</a:t>
            </a:r>
            <a:r>
              <a:rPr lang="en-US" altLang="ko-KR" sz="1400" dirty="0"/>
              <a:t> When you adjust the number of replicas to one, it no longer matches </a:t>
            </a:r>
            <a:r>
              <a:rPr lang="en-US" altLang="ko-KR" sz="1400" b="1" dirty="0">
                <a:solidFill>
                  <a:srgbClr val="FF0000"/>
                </a:solidFill>
              </a:rPr>
              <a:t>the desired state </a:t>
            </a:r>
            <a:r>
              <a:rPr lang="en-US" altLang="ko-KR" sz="1400" dirty="0"/>
              <a:t>of the deployment, which has replicas set to 2. </a:t>
            </a:r>
            <a:r>
              <a:rPr lang="en-US" altLang="ko-KR" sz="1400" b="1" dirty="0"/>
              <a:t>The deployment controller notices this and takes action to ensure the observed state matches the desired state, in this case readjusting the number of replicas back to two</a:t>
            </a:r>
            <a:r>
              <a:rPr lang="en-US" altLang="ko-KR" sz="1400" dirty="0"/>
              <a:t>.</a:t>
            </a:r>
          </a:p>
          <a:p>
            <a:pPr lvl="1">
              <a:buFont typeface="Wingdings" panose="05000000000000000000" pitchFamily="2" charset="2"/>
              <a:buChar char="§"/>
            </a:pPr>
            <a:r>
              <a:rPr lang="en-US" altLang="ko-KR" sz="1400" dirty="0"/>
              <a:t>If you ever want to </a:t>
            </a:r>
            <a:r>
              <a:rPr lang="en-US" altLang="ko-KR" sz="1400" b="1" dirty="0"/>
              <a:t>manage that </a:t>
            </a:r>
            <a:r>
              <a:rPr lang="en-US" altLang="ko-KR" sz="1400" b="1" dirty="0" err="1"/>
              <a:t>ReplicaSet</a:t>
            </a:r>
            <a:r>
              <a:rPr lang="en-US" altLang="ko-KR" sz="1400" b="1" dirty="0"/>
              <a:t> directly</a:t>
            </a:r>
            <a:r>
              <a:rPr lang="en-US" altLang="ko-KR" sz="1400" dirty="0"/>
              <a:t>, </a:t>
            </a:r>
            <a:r>
              <a:rPr lang="en-US" altLang="ko-KR" sz="1400" b="1" dirty="0"/>
              <a:t>you need to </a:t>
            </a:r>
            <a:r>
              <a:rPr lang="en-US" altLang="ko-KR" sz="1400" b="1" dirty="0">
                <a:solidFill>
                  <a:srgbClr val="FF0000"/>
                </a:solidFill>
              </a:rPr>
              <a:t>delete the deployment</a:t>
            </a:r>
            <a:r>
              <a:rPr lang="en-US" altLang="ko-KR" sz="1400" b="1" dirty="0"/>
              <a:t> (remember to set “--cascade to false”, or else </a:t>
            </a:r>
            <a:r>
              <a:rPr lang="en-US" altLang="ko-KR" sz="1400" b="1" dirty="0">
                <a:solidFill>
                  <a:srgbClr val="FF0000"/>
                </a:solidFill>
              </a:rPr>
              <a:t>it will delete the </a:t>
            </a:r>
            <a:r>
              <a:rPr lang="en-US" altLang="ko-KR" sz="1400" b="1" dirty="0" err="1">
                <a:solidFill>
                  <a:srgbClr val="FF0000"/>
                </a:solidFill>
              </a:rPr>
              <a:t>ReplicaSet</a:t>
            </a:r>
            <a:r>
              <a:rPr lang="en-US" altLang="ko-KR" sz="1400" b="1" dirty="0">
                <a:solidFill>
                  <a:srgbClr val="FF0000"/>
                </a:solidFill>
              </a:rPr>
              <a:t> and Pods as well</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70</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A19177A9-2C3A-4DD4-A3B7-A120AF2B8D4C}"/>
              </a:ext>
            </a:extLst>
          </p:cNvPr>
          <p:cNvGrpSpPr/>
          <p:nvPr/>
        </p:nvGrpSpPr>
        <p:grpSpPr>
          <a:xfrm>
            <a:off x="1333500" y="1749505"/>
            <a:ext cx="9525000" cy="2373028"/>
            <a:chOff x="1333499" y="1603038"/>
            <a:chExt cx="9525000" cy="2373028"/>
          </a:xfrm>
        </p:grpSpPr>
        <p:grpSp>
          <p:nvGrpSpPr>
            <p:cNvPr id="10" name="그룹 9">
              <a:extLst>
                <a:ext uri="{FF2B5EF4-FFF2-40B4-BE49-F238E27FC236}">
                  <a16:creationId xmlns:a16="http://schemas.microsoft.com/office/drawing/2014/main" id="{CAE0172E-D6CD-485B-A208-3703AD5890BB}"/>
                </a:ext>
              </a:extLst>
            </p:cNvPr>
            <p:cNvGrpSpPr/>
            <p:nvPr/>
          </p:nvGrpSpPr>
          <p:grpSpPr>
            <a:xfrm>
              <a:off x="1333499" y="1603038"/>
              <a:ext cx="9525000" cy="2373028"/>
              <a:chOff x="1333499" y="1603038"/>
              <a:chExt cx="9525000" cy="2373028"/>
            </a:xfrm>
          </p:grpSpPr>
          <p:sp>
            <p:nvSpPr>
              <p:cNvPr id="4" name="직사각형 3">
                <a:extLst>
                  <a:ext uri="{FF2B5EF4-FFF2-40B4-BE49-F238E27FC236}">
                    <a16:creationId xmlns:a16="http://schemas.microsoft.com/office/drawing/2014/main" id="{5CDF9BE5-D58E-49BC-A423-9CAACFDD7760}"/>
                  </a:ext>
                </a:extLst>
              </p:cNvPr>
              <p:cNvSpPr/>
              <p:nvPr/>
            </p:nvSpPr>
            <p:spPr>
              <a:xfrm>
                <a:off x="4171784" y="1603038"/>
                <a:ext cx="3848431" cy="246221"/>
              </a:xfrm>
              <a:prstGeom prst="rect">
                <a:avLst/>
              </a:prstGeom>
              <a:ln>
                <a:solidFill>
                  <a:schemeClr val="bg1">
                    <a:lumMod val="50000"/>
                  </a:schemeClr>
                </a:solidFill>
              </a:ln>
            </p:spPr>
            <p:txBody>
              <a:bodyPr wrap="square">
                <a:spAutoFit/>
              </a:bodyPr>
              <a:lstStyle/>
              <a:p>
                <a:pPr algn="ctr"/>
                <a:r>
                  <a:rPr lang="en-US" altLang="ko-KR" sz="1000" b="1" dirty="0"/>
                  <a:t>$ </a:t>
                </a:r>
                <a:r>
                  <a:rPr lang="en-US" altLang="ko-KR" sz="1000" b="1" dirty="0" err="1"/>
                  <a:t>kubectl</a:t>
                </a:r>
                <a:r>
                  <a:rPr lang="en-US" altLang="ko-KR" sz="1000" b="1" dirty="0"/>
                  <a:t> scale </a:t>
                </a:r>
                <a:r>
                  <a:rPr lang="en-US" altLang="ko-KR" sz="1000" b="1" dirty="0" err="1"/>
                  <a:t>replicasets</a:t>
                </a:r>
                <a:r>
                  <a:rPr lang="en-US" altLang="ko-KR" sz="1000" b="1" dirty="0"/>
                  <a:t> </a:t>
                </a:r>
                <a:r>
                  <a:rPr lang="en-US" altLang="ko-KR" sz="1000" b="1" dirty="0">
                    <a:solidFill>
                      <a:srgbClr val="FF0000"/>
                    </a:solidFill>
                  </a:rPr>
                  <a:t>kuard-656679684f --replicas=1</a:t>
                </a:r>
                <a:endParaRPr lang="ko-KR" altLang="en-US" sz="1000" b="1" dirty="0">
                  <a:solidFill>
                    <a:srgbClr val="FF0000"/>
                  </a:solidFill>
                </a:endParaRPr>
              </a:p>
            </p:txBody>
          </p:sp>
          <p:pic>
            <p:nvPicPr>
              <p:cNvPr id="8" name="그림 7">
                <a:extLst>
                  <a:ext uri="{FF2B5EF4-FFF2-40B4-BE49-F238E27FC236}">
                    <a16:creationId xmlns:a16="http://schemas.microsoft.com/office/drawing/2014/main" id="{2FBDAC35-FBE5-4A26-B223-252C1A453A9C}"/>
                  </a:ext>
                </a:extLst>
              </p:cNvPr>
              <p:cNvPicPr>
                <a:picLocks noChangeAspect="1"/>
              </p:cNvPicPr>
              <p:nvPr/>
            </p:nvPicPr>
            <p:blipFill>
              <a:blip r:embed="rId2"/>
              <a:stretch>
                <a:fillRect/>
              </a:stretch>
            </p:blipFill>
            <p:spPr>
              <a:xfrm>
                <a:off x="1333499" y="2166316"/>
                <a:ext cx="9525000" cy="1809750"/>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3EFAD141-BC6A-42E9-B86B-FC2D5A5C9F6D}"/>
                  </a:ext>
                </a:extLst>
              </p:cNvPr>
              <p:cNvSpPr/>
              <p:nvPr/>
            </p:nvSpPr>
            <p:spPr>
              <a:xfrm>
                <a:off x="5897216" y="1895943"/>
                <a:ext cx="397566"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74C65B2D-FAD7-4374-AD8E-62D7E2BE1323}"/>
                </a:ext>
              </a:extLst>
            </p:cNvPr>
            <p:cNvSpPr/>
            <p:nvPr/>
          </p:nvSpPr>
          <p:spPr>
            <a:xfrm>
              <a:off x="1455089" y="3363402"/>
              <a:ext cx="4126727" cy="16697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56847702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Creating Deployments(1/2)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Declarative Management :</a:t>
            </a:r>
          </a:p>
          <a:p>
            <a:pPr lvl="1">
              <a:buFont typeface="Wingdings" panose="05000000000000000000" pitchFamily="2" charset="2"/>
              <a:buChar char="§"/>
            </a:pPr>
            <a:r>
              <a:rPr lang="en-US" altLang="ko-KR" sz="1400" b="1" dirty="0"/>
              <a:t>Of course, as has been stated elsewhere, you should have a preference for declarative management of your Kubernetes configurations</a:t>
            </a:r>
            <a:r>
              <a:rPr lang="en-US" altLang="ko-KR" sz="1400" dirty="0"/>
              <a:t>. This means maintaining the state of your deployments in </a:t>
            </a:r>
            <a:r>
              <a:rPr lang="en-US" altLang="ko-KR" sz="1400" b="1" dirty="0"/>
              <a:t>YAML or JSON files on disk</a:t>
            </a:r>
            <a:r>
              <a:rPr lang="en-US" altLang="ko-KR" sz="1400" dirty="0"/>
              <a:t>.</a:t>
            </a:r>
          </a:p>
          <a:p>
            <a:pPr lvl="1">
              <a:buFont typeface="Wingdings" panose="05000000000000000000" pitchFamily="2" charset="2"/>
              <a:buChar char="§"/>
            </a:pPr>
            <a:r>
              <a:rPr lang="en-US" altLang="ko-KR" sz="1400" dirty="0"/>
              <a:t>As a starting point, </a:t>
            </a:r>
            <a:r>
              <a:rPr lang="en-US" altLang="ko-KR" sz="1400" b="1" dirty="0"/>
              <a:t>download this deployment into a YAML file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You need to run “</a:t>
            </a:r>
            <a:r>
              <a:rPr lang="en-US" altLang="ko-KR" sz="1400" b="1" dirty="0" err="1"/>
              <a:t>kubectl</a:t>
            </a:r>
            <a:r>
              <a:rPr lang="en-US" altLang="ko-KR" sz="1400" b="1" dirty="0"/>
              <a:t> replace --save-config” command</a:t>
            </a:r>
            <a:r>
              <a:rPr lang="en-US" altLang="ko-KR" sz="1400" dirty="0"/>
              <a:t>. </a:t>
            </a:r>
            <a:r>
              <a:rPr lang="en-US" altLang="ko-KR" sz="1400" b="1" dirty="0"/>
              <a:t>This adds an annotation so that, when applying changes in the future, “</a:t>
            </a:r>
            <a:r>
              <a:rPr lang="en-US" altLang="ko-KR" sz="1400" b="1" dirty="0" err="1"/>
              <a:t>kubectl</a:t>
            </a:r>
            <a:r>
              <a:rPr lang="en-US" altLang="ko-KR" sz="1400" b="1" dirty="0"/>
              <a:t>” will know what the last applied configuration was for smarter merging of configs</a:t>
            </a:r>
            <a:r>
              <a:rPr lang="en-US" altLang="ko-KR" sz="1400" dirty="0"/>
              <a:t>. If you always use “</a:t>
            </a:r>
            <a:r>
              <a:rPr lang="en-US" altLang="ko-KR" sz="1400" b="1" dirty="0" err="1"/>
              <a:t>kubectl</a:t>
            </a:r>
            <a:r>
              <a:rPr lang="en-US" altLang="ko-KR" sz="1400" b="1" dirty="0"/>
              <a:t> apply</a:t>
            </a:r>
            <a:r>
              <a:rPr lang="en-US" altLang="ko-KR" sz="1400" dirty="0"/>
              <a:t>”, this step is only required after the first time you create a deployment using “</a:t>
            </a:r>
            <a:r>
              <a:rPr lang="en-US" altLang="ko-KR" sz="1400" b="1" dirty="0" err="1"/>
              <a:t>kubectl</a:t>
            </a:r>
            <a:r>
              <a:rPr lang="en-US" altLang="ko-KR" sz="1400" b="1" dirty="0"/>
              <a:t> create -f</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71</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9639E14F-6B39-405B-8FF4-F5AD3B569093}"/>
              </a:ext>
            </a:extLst>
          </p:cNvPr>
          <p:cNvGrpSpPr/>
          <p:nvPr/>
        </p:nvGrpSpPr>
        <p:grpSpPr>
          <a:xfrm>
            <a:off x="1416957" y="2121170"/>
            <a:ext cx="9358085" cy="2413486"/>
            <a:chOff x="1416957" y="1922387"/>
            <a:chExt cx="9358085" cy="2413486"/>
          </a:xfrm>
        </p:grpSpPr>
        <p:sp>
          <p:nvSpPr>
            <p:cNvPr id="4" name="직사각형 3">
              <a:extLst>
                <a:ext uri="{FF2B5EF4-FFF2-40B4-BE49-F238E27FC236}">
                  <a16:creationId xmlns:a16="http://schemas.microsoft.com/office/drawing/2014/main" id="{DF7091E6-4B1A-411A-B455-7A78D8BBB032}"/>
                </a:ext>
              </a:extLst>
            </p:cNvPr>
            <p:cNvSpPr/>
            <p:nvPr/>
          </p:nvSpPr>
          <p:spPr>
            <a:xfrm>
              <a:off x="3048000" y="1922387"/>
              <a:ext cx="6096000" cy="400110"/>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t>kubectl</a:t>
              </a:r>
              <a:r>
                <a:rPr lang="en-US" altLang="ko-KR" sz="1000" b="1" dirty="0"/>
                <a:t> get deployments </a:t>
              </a:r>
              <a:r>
                <a:rPr lang="en-US" altLang="ko-KR" sz="1000" b="1" dirty="0" err="1"/>
                <a:t>kuard</a:t>
              </a:r>
              <a:r>
                <a:rPr lang="en-US" altLang="ko-KR" sz="1000" b="1" dirty="0"/>
                <a:t> </a:t>
              </a:r>
              <a:r>
                <a:rPr lang="en-US" altLang="ko-KR" sz="1000" b="1" dirty="0">
                  <a:solidFill>
                    <a:srgbClr val="FF0000"/>
                  </a:solidFill>
                </a:rPr>
                <a:t>-o </a:t>
              </a:r>
              <a:r>
                <a:rPr lang="en-US" altLang="ko-KR" sz="1000" b="1" dirty="0" err="1">
                  <a:solidFill>
                    <a:srgbClr val="FF0000"/>
                  </a:solidFill>
                </a:rPr>
                <a:t>yaml</a:t>
              </a:r>
              <a:r>
                <a:rPr lang="en-US" altLang="ko-KR" sz="1000" b="1" dirty="0">
                  <a:solidFill>
                    <a:srgbClr val="FF0000"/>
                  </a:solidFill>
                </a:rPr>
                <a:t> &gt; </a:t>
              </a:r>
              <a:r>
                <a:rPr lang="en-US" altLang="ko-KR" sz="1000" b="1" dirty="0" err="1">
                  <a:solidFill>
                    <a:srgbClr val="FF0000"/>
                  </a:solidFill>
                </a:rPr>
                <a:t>kuard</a:t>
              </a:r>
              <a:r>
                <a:rPr lang="en-US" altLang="ko-KR" sz="1000" b="1" dirty="0">
                  <a:solidFill>
                    <a:srgbClr val="FF0000"/>
                  </a:solidFill>
                </a:rPr>
                <a:t>-deployment-</a:t>
              </a:r>
              <a:r>
                <a:rPr lang="en-US" altLang="ko-KR" sz="1000" b="1" dirty="0" err="1">
                  <a:solidFill>
                    <a:srgbClr val="FF0000"/>
                  </a:solidFill>
                </a:rPr>
                <a:t>saved.yaml</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a:t>
              </a:r>
              <a:r>
                <a:rPr lang="en-US" altLang="ko-KR" sz="1000" b="1" dirty="0">
                  <a:solidFill>
                    <a:srgbClr val="FF0000"/>
                  </a:solidFill>
                </a:rPr>
                <a:t>replace -f </a:t>
              </a:r>
              <a:r>
                <a:rPr lang="en-US" altLang="ko-KR" sz="1000" b="1" dirty="0" err="1">
                  <a:solidFill>
                    <a:srgbClr val="FF0000"/>
                  </a:solidFill>
                </a:rPr>
                <a:t>kuard</a:t>
              </a:r>
              <a:r>
                <a:rPr lang="en-US" altLang="ko-KR" sz="1000" b="1" dirty="0">
                  <a:solidFill>
                    <a:srgbClr val="FF0000"/>
                  </a:solidFill>
                </a:rPr>
                <a:t>-deployment-</a:t>
              </a:r>
              <a:r>
                <a:rPr lang="en-US" altLang="ko-KR" sz="1000" b="1" dirty="0" err="1">
                  <a:solidFill>
                    <a:srgbClr val="FF0000"/>
                  </a:solidFill>
                </a:rPr>
                <a:t>saved.yaml</a:t>
              </a:r>
              <a:r>
                <a:rPr lang="en-US" altLang="ko-KR" sz="1000" b="1" dirty="0">
                  <a:solidFill>
                    <a:srgbClr val="FF0000"/>
                  </a:solidFill>
                </a:rPr>
                <a:t> --save-config</a:t>
              </a:r>
              <a:endParaRPr lang="ko-KR" altLang="en-US" sz="1000" b="1" dirty="0">
                <a:solidFill>
                  <a:srgbClr val="FF0000"/>
                </a:solidFill>
              </a:endParaRPr>
            </a:p>
          </p:txBody>
        </p:sp>
        <p:sp>
          <p:nvSpPr>
            <p:cNvPr id="10" name="화살표: 아래쪽 9">
              <a:extLst>
                <a:ext uri="{FF2B5EF4-FFF2-40B4-BE49-F238E27FC236}">
                  <a16:creationId xmlns:a16="http://schemas.microsoft.com/office/drawing/2014/main" id="{BB1544BB-601F-429A-9BA0-936E1B0D3B30}"/>
                </a:ext>
              </a:extLst>
            </p:cNvPr>
            <p:cNvSpPr/>
            <p:nvPr/>
          </p:nvSpPr>
          <p:spPr>
            <a:xfrm>
              <a:off x="5889266" y="2341618"/>
              <a:ext cx="413468" cy="286247"/>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15C73B2F-B24E-4367-98E6-491F402560BC}"/>
                </a:ext>
              </a:extLst>
            </p:cNvPr>
            <p:cNvPicPr>
              <a:picLocks noChangeAspect="1"/>
            </p:cNvPicPr>
            <p:nvPr/>
          </p:nvPicPr>
          <p:blipFill>
            <a:blip r:embed="rId2"/>
            <a:stretch>
              <a:fillRect/>
            </a:stretch>
          </p:blipFill>
          <p:spPr>
            <a:xfrm>
              <a:off x="1416957" y="2627865"/>
              <a:ext cx="9358085" cy="1708008"/>
            </a:xfrm>
            <a:prstGeom prst="rect">
              <a:avLst/>
            </a:prstGeom>
            <a:ln>
              <a:solidFill>
                <a:schemeClr val="bg1">
                  <a:lumMod val="50000"/>
                </a:schemeClr>
              </a:solidFill>
            </a:ln>
          </p:spPr>
        </p:pic>
      </p:grpSp>
    </p:spTree>
    <p:extLst>
      <p:ext uri="{BB962C8B-B14F-4D97-AF65-F5344CB8AC3E}">
        <p14:creationId xmlns:p14="http://schemas.microsoft.com/office/powerpoint/2010/main" val="187100514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Creating Deployments(2/2)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Declarative Management :</a:t>
            </a:r>
          </a:p>
          <a:p>
            <a:pPr lvl="1">
              <a:buFont typeface="Wingdings" panose="05000000000000000000" pitchFamily="2" charset="2"/>
              <a:buChar char="§"/>
            </a:pPr>
            <a:r>
              <a:rPr lang="en-US" altLang="ko-KR" sz="1400" b="1" dirty="0"/>
              <a:t>The deployment spec has a very similar structure to the </a:t>
            </a:r>
            <a:r>
              <a:rPr lang="en-US" altLang="ko-KR" sz="1400" b="1" dirty="0" err="1"/>
              <a:t>ReplicaSet</a:t>
            </a:r>
            <a:r>
              <a:rPr lang="en-US" altLang="ko-KR" sz="1400" b="1" dirty="0"/>
              <a:t> spec</a:t>
            </a:r>
            <a:r>
              <a:rPr lang="en-US" altLang="ko-KR" sz="1400" dirty="0"/>
              <a:t>. There is a </a:t>
            </a:r>
            <a:r>
              <a:rPr lang="en-US" altLang="ko-KR" sz="1400" b="1" dirty="0">
                <a:solidFill>
                  <a:srgbClr val="FF0000"/>
                </a:solidFill>
              </a:rPr>
              <a:t>Pod template</a:t>
            </a:r>
            <a:r>
              <a:rPr lang="en-US" altLang="ko-KR" sz="1400" dirty="0"/>
              <a:t>, </a:t>
            </a:r>
            <a:r>
              <a:rPr lang="en-US" altLang="ko-KR" sz="1400" b="1" dirty="0"/>
              <a:t>which contains </a:t>
            </a:r>
            <a:r>
              <a:rPr lang="en-US" altLang="ko-KR" sz="1400" b="1" dirty="0">
                <a:solidFill>
                  <a:srgbClr val="FF0000"/>
                </a:solidFill>
              </a:rPr>
              <a:t>a number of containers that are created for each replica</a:t>
            </a:r>
            <a:r>
              <a:rPr lang="en-US" altLang="ko-KR" sz="1400" b="1" dirty="0"/>
              <a:t> managed by the deployment</a:t>
            </a:r>
            <a:r>
              <a:rPr lang="en-US" altLang="ko-KR" sz="1400" dirty="0"/>
              <a:t>. In addition to the Pod  specification, there is also a “</a:t>
            </a:r>
            <a:r>
              <a:rPr lang="en-US" altLang="ko-KR" sz="1400" b="1" dirty="0">
                <a:solidFill>
                  <a:srgbClr val="FF0000"/>
                </a:solidFill>
              </a:rPr>
              <a:t>strategy object</a:t>
            </a:r>
            <a:r>
              <a:rPr lang="en-US" altLang="ko-KR" sz="1400" dirty="0"/>
              <a:t>” :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The strategy object dictates the different ways in which a rollout of new software can proceed</a:t>
            </a:r>
            <a:r>
              <a:rPr lang="en-US" altLang="ko-KR" sz="1400" dirty="0"/>
              <a:t>. There are two different strategies supported by deployments: “</a:t>
            </a:r>
            <a:r>
              <a:rPr lang="en-US" altLang="ko-KR" sz="1400" b="1" dirty="0"/>
              <a:t>Recreate”</a:t>
            </a:r>
            <a:r>
              <a:rPr lang="en-US" altLang="ko-KR" sz="1400" dirty="0"/>
              <a:t> and “</a:t>
            </a:r>
            <a:r>
              <a:rPr lang="en-US" altLang="ko-KR" sz="1400" b="1" dirty="0" err="1"/>
              <a:t>RollingUpdate</a:t>
            </a:r>
            <a:r>
              <a:rPr lang="en-US" altLang="ko-KR" sz="1400" b="1" dirty="0"/>
              <a: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72</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B1C3FFBE-301F-44C7-BFDD-5C7412E3F804}"/>
              </a:ext>
            </a:extLst>
          </p:cNvPr>
          <p:cNvGrpSpPr/>
          <p:nvPr/>
        </p:nvGrpSpPr>
        <p:grpSpPr>
          <a:xfrm>
            <a:off x="3191123" y="1883469"/>
            <a:ext cx="6096000" cy="3416497"/>
            <a:chOff x="3191123" y="1915562"/>
            <a:chExt cx="6096000" cy="3416497"/>
          </a:xfrm>
        </p:grpSpPr>
        <p:sp>
          <p:nvSpPr>
            <p:cNvPr id="4" name="직사각형 3">
              <a:extLst>
                <a:ext uri="{FF2B5EF4-FFF2-40B4-BE49-F238E27FC236}">
                  <a16:creationId xmlns:a16="http://schemas.microsoft.com/office/drawing/2014/main" id="{3862E874-DF50-4DC6-83C3-8EF71245212E}"/>
                </a:ext>
              </a:extLst>
            </p:cNvPr>
            <p:cNvSpPr/>
            <p:nvPr/>
          </p:nvSpPr>
          <p:spPr>
            <a:xfrm>
              <a:off x="3191123" y="1915562"/>
              <a:ext cx="6096000" cy="3170099"/>
            </a:xfrm>
            <a:prstGeom prst="rect">
              <a:avLst/>
            </a:prstGeom>
            <a:ln>
              <a:solidFill>
                <a:schemeClr val="bg1">
                  <a:lumMod val="50000"/>
                </a:schemeClr>
              </a:solidFill>
            </a:ln>
          </p:spPr>
          <p:txBody>
            <a:bodyPr>
              <a:spAutoFit/>
            </a:bodyPr>
            <a:lstStyle/>
            <a:p>
              <a:r>
                <a:rPr lang="en-US" altLang="ko-KR" sz="1000" b="1" dirty="0"/>
                <a:t>…</a:t>
              </a:r>
            </a:p>
            <a:p>
              <a:r>
                <a:rPr lang="en-US" altLang="ko-KR" sz="1000" b="1" dirty="0"/>
                <a:t>spec:</a:t>
              </a:r>
            </a:p>
            <a:p>
              <a:r>
                <a:rPr lang="en-US" altLang="ko-KR" sz="1000" b="1" dirty="0"/>
                <a:t>  </a:t>
              </a:r>
              <a:r>
                <a:rPr lang="en-US" altLang="ko-KR" sz="1000" b="1" dirty="0" err="1"/>
                <a:t>progressDeadlineSeconds</a:t>
              </a:r>
              <a:r>
                <a:rPr lang="en-US" altLang="ko-KR" sz="1000" b="1" dirty="0"/>
                <a:t>: 600</a:t>
              </a:r>
            </a:p>
            <a:p>
              <a:r>
                <a:rPr lang="en-US" altLang="ko-KR" sz="1000" b="1" dirty="0"/>
                <a:t>  replicas: </a:t>
              </a:r>
              <a:r>
                <a:rPr lang="en-US" altLang="ko-KR" sz="1000" b="1" dirty="0">
                  <a:solidFill>
                    <a:srgbClr val="FF0000"/>
                  </a:solidFill>
                </a:rPr>
                <a:t>2</a:t>
              </a:r>
            </a:p>
            <a:p>
              <a:r>
                <a:rPr lang="en-US" altLang="ko-KR" sz="1000" b="1" dirty="0"/>
                <a:t>  </a:t>
              </a:r>
              <a:r>
                <a:rPr lang="en-US" altLang="ko-KR" sz="1000" b="1" dirty="0" err="1"/>
                <a:t>revisionHistoryLimit</a:t>
              </a:r>
              <a:r>
                <a:rPr lang="en-US" altLang="ko-KR" sz="1000" b="1" dirty="0"/>
                <a:t>: 10</a:t>
              </a:r>
            </a:p>
            <a:p>
              <a:r>
                <a:rPr lang="en-US" altLang="ko-KR" sz="1000" b="1" dirty="0"/>
                <a:t>  selector:</a:t>
              </a:r>
            </a:p>
            <a:p>
              <a:r>
                <a:rPr lang="en-US" altLang="ko-KR" sz="1000" b="1" dirty="0"/>
                <a:t>    </a:t>
              </a:r>
              <a:r>
                <a:rPr lang="en-US" altLang="ko-KR" sz="1000" b="1" dirty="0" err="1"/>
                <a:t>matchLabels</a:t>
              </a:r>
              <a:r>
                <a:rPr lang="en-US" altLang="ko-KR" sz="1000" b="1" dirty="0"/>
                <a:t>:</a:t>
              </a:r>
            </a:p>
            <a:p>
              <a:r>
                <a:rPr lang="en-US" altLang="ko-KR" sz="1000" b="1" dirty="0"/>
                <a:t>      run: </a:t>
              </a:r>
              <a:r>
                <a:rPr lang="en-US" altLang="ko-KR" sz="1000" b="1" dirty="0" err="1">
                  <a:solidFill>
                    <a:srgbClr val="FF0000"/>
                  </a:solidFill>
                </a:rPr>
                <a:t>kuard</a:t>
              </a:r>
              <a:endParaRPr lang="en-US" altLang="ko-KR" sz="1000" b="1" dirty="0">
                <a:solidFill>
                  <a:srgbClr val="FF0000"/>
                </a:solidFill>
              </a:endParaRPr>
            </a:p>
            <a:p>
              <a:r>
                <a:rPr lang="en-US" altLang="ko-KR" sz="1000" b="1" dirty="0">
                  <a:solidFill>
                    <a:srgbClr val="FF0000"/>
                  </a:solidFill>
                </a:rPr>
                <a:t>  strategy:</a:t>
              </a:r>
            </a:p>
            <a:p>
              <a:r>
                <a:rPr lang="en-US" altLang="ko-KR" sz="1000" b="1" dirty="0">
                  <a:solidFill>
                    <a:srgbClr val="FF0000"/>
                  </a:solidFill>
                </a:rPr>
                <a:t>    </a:t>
              </a:r>
              <a:r>
                <a:rPr lang="en-US" altLang="ko-KR" sz="1000" b="1" dirty="0" err="1">
                  <a:solidFill>
                    <a:srgbClr val="FF0000"/>
                  </a:solidFill>
                </a:rPr>
                <a:t>rollingUpdate</a:t>
              </a:r>
              <a:r>
                <a:rPr lang="en-US" altLang="ko-KR" sz="1000" b="1" dirty="0">
                  <a:solidFill>
                    <a:srgbClr val="FF0000"/>
                  </a:solidFill>
                </a:rPr>
                <a:t>:</a:t>
              </a:r>
            </a:p>
            <a:p>
              <a:r>
                <a:rPr lang="en-US" altLang="ko-KR" sz="1000" b="1" dirty="0">
                  <a:solidFill>
                    <a:srgbClr val="FF0000"/>
                  </a:solidFill>
                </a:rPr>
                <a:t>      </a:t>
              </a:r>
              <a:r>
                <a:rPr lang="en-US" altLang="ko-KR" sz="1000" b="1" dirty="0" err="1">
                  <a:solidFill>
                    <a:srgbClr val="FF0000"/>
                  </a:solidFill>
                </a:rPr>
                <a:t>maxSurge</a:t>
              </a:r>
              <a:r>
                <a:rPr lang="en-US" altLang="ko-KR" sz="1000" b="1" dirty="0">
                  <a:solidFill>
                    <a:srgbClr val="FF0000"/>
                  </a:solidFill>
                </a:rPr>
                <a:t>: 25%</a:t>
              </a:r>
            </a:p>
            <a:p>
              <a:r>
                <a:rPr lang="en-US" altLang="ko-KR" sz="1000" b="1" dirty="0">
                  <a:solidFill>
                    <a:srgbClr val="FF0000"/>
                  </a:solidFill>
                </a:rPr>
                <a:t>      </a:t>
              </a:r>
              <a:r>
                <a:rPr lang="en-US" altLang="ko-KR" sz="1000" b="1" dirty="0" err="1">
                  <a:solidFill>
                    <a:srgbClr val="FF0000"/>
                  </a:solidFill>
                </a:rPr>
                <a:t>maxUnavailable</a:t>
              </a:r>
              <a:r>
                <a:rPr lang="en-US" altLang="ko-KR" sz="1000" b="1" dirty="0">
                  <a:solidFill>
                    <a:srgbClr val="FF0000"/>
                  </a:solidFill>
                </a:rPr>
                <a:t>: 25%</a:t>
              </a:r>
            </a:p>
            <a:p>
              <a:r>
                <a:rPr lang="en-US" altLang="ko-KR" sz="1000" b="1" dirty="0">
                  <a:solidFill>
                    <a:srgbClr val="FF0000"/>
                  </a:solidFill>
                </a:rPr>
                <a:t>    type: </a:t>
              </a:r>
              <a:r>
                <a:rPr lang="en-US" altLang="ko-KR" sz="1000" b="1" dirty="0" err="1">
                  <a:solidFill>
                    <a:srgbClr val="FF0000"/>
                  </a:solidFill>
                </a:rPr>
                <a:t>RollingUpdate</a:t>
              </a:r>
              <a:endParaRPr lang="en-US" altLang="ko-KR" sz="1000" b="1" dirty="0">
                <a:solidFill>
                  <a:srgbClr val="FF0000"/>
                </a:solidFill>
              </a:endParaRPr>
            </a:p>
            <a:p>
              <a:r>
                <a:rPr lang="en-US" altLang="ko-KR" sz="1000" b="1" dirty="0"/>
                <a:t>  template:</a:t>
              </a:r>
            </a:p>
            <a:p>
              <a:r>
                <a:rPr lang="en-US" altLang="ko-KR" sz="1000" b="1" dirty="0"/>
                <a:t>    metadata:</a:t>
              </a:r>
            </a:p>
            <a:p>
              <a:r>
                <a:rPr lang="en-US" altLang="ko-KR" sz="1000" b="1" dirty="0"/>
                <a:t>      </a:t>
              </a:r>
              <a:r>
                <a:rPr lang="en-US" altLang="ko-KR" sz="1000" b="1" dirty="0" err="1"/>
                <a:t>creationTimestamp</a:t>
              </a:r>
              <a:r>
                <a:rPr lang="en-US" altLang="ko-KR" sz="1000" b="1" dirty="0"/>
                <a:t>: null</a:t>
              </a:r>
            </a:p>
            <a:p>
              <a:r>
                <a:rPr lang="en-US" altLang="ko-KR" sz="1000" b="1" dirty="0"/>
                <a:t>      labels:</a:t>
              </a:r>
            </a:p>
            <a:p>
              <a:r>
                <a:rPr lang="en-US" altLang="ko-KR" sz="1000" b="1" dirty="0"/>
                <a:t>        run: </a:t>
              </a:r>
              <a:r>
                <a:rPr lang="en-US" altLang="ko-KR" sz="1000" b="1" dirty="0" err="1">
                  <a:solidFill>
                    <a:srgbClr val="FF0000"/>
                  </a:solidFill>
                </a:rPr>
                <a:t>kuard</a:t>
              </a:r>
              <a:endParaRPr lang="en-US" altLang="ko-KR" sz="1000" b="1" dirty="0">
                <a:solidFill>
                  <a:srgbClr val="FF0000"/>
                </a:solidFill>
              </a:endParaRPr>
            </a:p>
            <a:p>
              <a:r>
                <a:rPr lang="en-US" altLang="ko-KR" sz="1000" b="1" dirty="0"/>
                <a:t>    spec:</a:t>
              </a:r>
            </a:p>
            <a:p>
              <a:r>
                <a:rPr lang="en-US" altLang="ko-KR" sz="1000" b="1" dirty="0"/>
                <a:t>…</a:t>
              </a:r>
              <a:endParaRPr lang="ko-KR" altLang="en-US" sz="1000" b="1" dirty="0"/>
            </a:p>
          </p:txBody>
        </p:sp>
        <p:sp>
          <p:nvSpPr>
            <p:cNvPr id="8" name="TextBox 7">
              <a:extLst>
                <a:ext uri="{FF2B5EF4-FFF2-40B4-BE49-F238E27FC236}">
                  <a16:creationId xmlns:a16="http://schemas.microsoft.com/office/drawing/2014/main" id="{945E3D0D-E5C8-4BF9-BA9D-947DB858EA3C}"/>
                </a:ext>
              </a:extLst>
            </p:cNvPr>
            <p:cNvSpPr txBox="1"/>
            <p:nvPr/>
          </p:nvSpPr>
          <p:spPr>
            <a:xfrm>
              <a:off x="5073925" y="5085838"/>
              <a:ext cx="2044150" cy="246221"/>
            </a:xfrm>
            <a:prstGeom prst="rect">
              <a:avLst/>
            </a:prstGeom>
            <a:noFill/>
          </p:spPr>
          <p:txBody>
            <a:bodyPr wrap="none" rtlCol="0">
              <a:spAutoFit/>
            </a:bodyPr>
            <a:lstStyle/>
            <a:p>
              <a:pPr algn="ctr"/>
              <a:r>
                <a:rPr lang="en-US" altLang="ko-KR" sz="1000" b="1" dirty="0" err="1"/>
                <a:t>kuard</a:t>
              </a:r>
              <a:r>
                <a:rPr lang="en-US" altLang="ko-KR" sz="1000" b="1" dirty="0"/>
                <a:t>-deployment-</a:t>
              </a:r>
              <a:r>
                <a:rPr lang="en-US" altLang="ko-KR" sz="1000" b="1" dirty="0" err="1"/>
                <a:t>saved.yaml</a:t>
              </a:r>
              <a:endParaRPr lang="ko-KR" altLang="en-US" sz="1000" b="1" dirty="0"/>
            </a:p>
          </p:txBody>
        </p:sp>
      </p:grpSp>
    </p:spTree>
    <p:extLst>
      <p:ext uri="{BB962C8B-B14F-4D97-AF65-F5344CB8AC3E}">
        <p14:creationId xmlns:p14="http://schemas.microsoft.com/office/powerpoint/2010/main" val="112797581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Managing Deployments(1/2)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Get Detailed Information about a Deployment :</a:t>
            </a:r>
          </a:p>
          <a:p>
            <a:pPr lvl="1">
              <a:buFont typeface="Wingdings" panose="05000000000000000000" pitchFamily="2" charset="2"/>
              <a:buChar char="§"/>
            </a:pPr>
            <a:r>
              <a:rPr lang="en-US" altLang="ko-KR" sz="1400" dirty="0"/>
              <a:t>As with all Kubernetes objects, you can </a:t>
            </a:r>
            <a:r>
              <a:rPr lang="en-US" altLang="ko-KR" sz="1400" b="1" dirty="0"/>
              <a:t>get detailed information about your deployment via the “</a:t>
            </a:r>
            <a:r>
              <a:rPr lang="en-US" altLang="ko-KR" sz="1400" b="1" dirty="0" err="1"/>
              <a:t>kubectl</a:t>
            </a:r>
            <a:r>
              <a:rPr lang="en-US" altLang="ko-KR" sz="1400" b="1" dirty="0"/>
              <a:t> describe” command</a:t>
            </a:r>
            <a:r>
              <a:rPr lang="en-US" altLang="ko-KR" sz="1400" dirty="0"/>
              <a:t> :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73</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D534EEBD-16E3-4DDC-BCBE-D1FB7CB7EBBD}"/>
              </a:ext>
            </a:extLst>
          </p:cNvPr>
          <p:cNvGrpSpPr/>
          <p:nvPr/>
        </p:nvGrpSpPr>
        <p:grpSpPr>
          <a:xfrm>
            <a:off x="2376281" y="1599479"/>
            <a:ext cx="7439439" cy="4809551"/>
            <a:chOff x="2376281" y="1599479"/>
            <a:chExt cx="7439439" cy="4809551"/>
          </a:xfrm>
        </p:grpSpPr>
        <p:pic>
          <p:nvPicPr>
            <p:cNvPr id="8" name="그림 7">
              <a:extLst>
                <a:ext uri="{FF2B5EF4-FFF2-40B4-BE49-F238E27FC236}">
                  <a16:creationId xmlns:a16="http://schemas.microsoft.com/office/drawing/2014/main" id="{6A683A6D-A482-42CA-95E6-B48F06460E26}"/>
                </a:ext>
              </a:extLst>
            </p:cNvPr>
            <p:cNvPicPr>
              <a:picLocks noChangeAspect="1"/>
            </p:cNvPicPr>
            <p:nvPr/>
          </p:nvPicPr>
          <p:blipFill>
            <a:blip r:embed="rId2"/>
            <a:stretch>
              <a:fillRect/>
            </a:stretch>
          </p:blipFill>
          <p:spPr>
            <a:xfrm>
              <a:off x="2376281" y="1599479"/>
              <a:ext cx="7439439" cy="4809551"/>
            </a:xfrm>
            <a:prstGeom prst="rect">
              <a:avLst/>
            </a:prstGeom>
            <a:ln>
              <a:solidFill>
                <a:schemeClr val="bg1">
                  <a:lumMod val="50000"/>
                </a:schemeClr>
              </a:solidFill>
            </a:ln>
          </p:spPr>
        </p:pic>
        <p:sp>
          <p:nvSpPr>
            <p:cNvPr id="9" name="직사각형 8">
              <a:extLst>
                <a:ext uri="{FF2B5EF4-FFF2-40B4-BE49-F238E27FC236}">
                  <a16:creationId xmlns:a16="http://schemas.microsoft.com/office/drawing/2014/main" id="{387C1416-6170-4AD9-8F9C-9250A89FEC99}"/>
                </a:ext>
              </a:extLst>
            </p:cNvPr>
            <p:cNvSpPr/>
            <p:nvPr/>
          </p:nvSpPr>
          <p:spPr>
            <a:xfrm>
              <a:off x="5581815" y="1979875"/>
              <a:ext cx="2075291" cy="1828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71006774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Managing Deployments(2/2)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Get Detailed Information about a Deployment :</a:t>
            </a:r>
          </a:p>
          <a:p>
            <a:pPr lvl="1">
              <a:buFont typeface="Wingdings" panose="05000000000000000000" pitchFamily="2" charset="2"/>
              <a:buChar char="§"/>
            </a:pPr>
            <a:r>
              <a:rPr lang="en-US" altLang="ko-KR" sz="1400" dirty="0"/>
              <a:t>Two of the most important pieces of information in the output are “</a:t>
            </a:r>
            <a:r>
              <a:rPr lang="en-US" altLang="ko-KR" sz="1400" b="1" dirty="0" err="1"/>
              <a:t>OldReplicaSets</a:t>
            </a:r>
            <a:r>
              <a:rPr lang="en-US" altLang="ko-KR" sz="1400" b="1" dirty="0"/>
              <a:t>”</a:t>
            </a:r>
            <a:r>
              <a:rPr lang="en-US" altLang="ko-KR" sz="1400" dirty="0"/>
              <a:t> and “</a:t>
            </a:r>
            <a:r>
              <a:rPr lang="en-US" altLang="ko-KR" sz="1400" b="1" dirty="0" err="1"/>
              <a:t>NewReplicaSet</a:t>
            </a:r>
            <a:r>
              <a:rPr lang="en-US" altLang="ko-KR" sz="1400" b="1" dirty="0"/>
              <a:t>”</a:t>
            </a:r>
            <a:r>
              <a:rPr lang="en-US" altLang="ko-KR" sz="1400" dirty="0"/>
              <a:t>. These fields </a:t>
            </a:r>
            <a:r>
              <a:rPr lang="en-US" altLang="ko-KR" sz="1400" b="1" dirty="0"/>
              <a:t>point to the </a:t>
            </a:r>
            <a:r>
              <a:rPr lang="en-US" altLang="ko-KR" sz="1400" b="1" dirty="0" err="1"/>
              <a:t>ReplicaSet</a:t>
            </a:r>
            <a:r>
              <a:rPr lang="en-US" altLang="ko-KR" sz="1400" b="1" dirty="0"/>
              <a:t> objects this deployment is currently managing</a:t>
            </a:r>
            <a:r>
              <a:rPr lang="en-US" altLang="ko-KR" sz="1400" dirty="0"/>
              <a:t>. </a:t>
            </a:r>
            <a:r>
              <a:rPr lang="en-US" altLang="ko-KR" sz="1400" b="1" dirty="0"/>
              <a:t>If a deployment is in the middle of a rollout, both fields will be set to a value</a:t>
            </a:r>
            <a:r>
              <a:rPr lang="en-US" altLang="ko-KR" sz="1400" dirty="0"/>
              <a:t>. </a:t>
            </a:r>
            <a:r>
              <a:rPr lang="en-US" altLang="ko-KR" sz="1400" b="1" dirty="0"/>
              <a:t>If a rollout is complete, “</a:t>
            </a:r>
            <a:r>
              <a:rPr lang="en-US" altLang="ko-KR" sz="1400" b="1" dirty="0" err="1"/>
              <a:t>OldReplicaSets</a:t>
            </a:r>
            <a:r>
              <a:rPr lang="en-US" altLang="ko-KR" sz="1400" b="1" dirty="0"/>
              <a:t>” will be set to “&lt;none&gt;”</a:t>
            </a:r>
            <a:r>
              <a:rPr lang="en-US" altLang="ko-KR" sz="1400" dirty="0"/>
              <a:t>. </a:t>
            </a:r>
          </a:p>
          <a:p>
            <a:pPr lvl="1">
              <a:buFont typeface="Wingdings" panose="05000000000000000000" pitchFamily="2" charset="2"/>
              <a:buChar char="§"/>
            </a:pPr>
            <a:r>
              <a:rPr lang="en-US" altLang="ko-KR" sz="1400" dirty="0"/>
              <a:t>In addition to the “</a:t>
            </a:r>
            <a:r>
              <a:rPr lang="en-US" altLang="ko-KR" sz="1400" b="1" dirty="0"/>
              <a:t>describe</a:t>
            </a:r>
            <a:r>
              <a:rPr lang="en-US" altLang="ko-KR" sz="1400" dirty="0"/>
              <a:t>” command, there is also the “</a:t>
            </a:r>
            <a:r>
              <a:rPr lang="en-US" altLang="ko-KR" sz="1400" b="1" dirty="0" err="1">
                <a:solidFill>
                  <a:srgbClr val="FF0000"/>
                </a:solidFill>
              </a:rPr>
              <a:t>kubectl</a:t>
            </a:r>
            <a:r>
              <a:rPr lang="en-US" altLang="ko-KR" sz="1400" b="1" dirty="0">
                <a:solidFill>
                  <a:srgbClr val="FF0000"/>
                </a:solidFill>
              </a:rPr>
              <a:t> rollout</a:t>
            </a:r>
            <a:r>
              <a:rPr lang="en-US" altLang="ko-KR" sz="1400" dirty="0"/>
              <a:t>” command for deployments. </a:t>
            </a:r>
            <a:r>
              <a:rPr lang="en-US" altLang="ko-KR" sz="1400" b="1" dirty="0"/>
              <a:t>You can use “</a:t>
            </a:r>
            <a:r>
              <a:rPr lang="en-US" altLang="ko-KR" sz="1400" b="1" dirty="0" err="1">
                <a:solidFill>
                  <a:srgbClr val="FF0000"/>
                </a:solidFill>
              </a:rPr>
              <a:t>kubectl</a:t>
            </a:r>
            <a:r>
              <a:rPr lang="en-US" altLang="ko-KR" sz="1400" b="1" dirty="0">
                <a:solidFill>
                  <a:srgbClr val="FF0000"/>
                </a:solidFill>
              </a:rPr>
              <a:t> rollout history</a:t>
            </a:r>
            <a:r>
              <a:rPr lang="en-US" altLang="ko-KR" sz="1400" b="1" dirty="0"/>
              <a:t>” command to obtain the history of rollouts associated with a particular deployment</a:t>
            </a:r>
            <a:r>
              <a:rPr lang="en-US" altLang="ko-KR" sz="1400" dirty="0"/>
              <a:t>. </a:t>
            </a:r>
            <a:r>
              <a:rPr lang="en-US" altLang="ko-KR" sz="1400" b="1" dirty="0"/>
              <a:t>If you have a current deployment in progress, you can use “</a:t>
            </a:r>
            <a:r>
              <a:rPr lang="en-US" altLang="ko-KR" sz="1400" b="1" dirty="0" err="1">
                <a:solidFill>
                  <a:srgbClr val="FF0000"/>
                </a:solidFill>
              </a:rPr>
              <a:t>kubectl</a:t>
            </a:r>
            <a:r>
              <a:rPr lang="en-US" altLang="ko-KR" sz="1400" b="1" dirty="0">
                <a:solidFill>
                  <a:srgbClr val="FF0000"/>
                </a:solidFill>
              </a:rPr>
              <a:t> rollout status</a:t>
            </a:r>
            <a:r>
              <a:rPr lang="en-US" altLang="ko-KR" sz="1400" b="1" dirty="0"/>
              <a:t>” command to obtain the current status of a rollout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74</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7CE72186-84A0-497B-A991-E849061A9313}"/>
              </a:ext>
            </a:extLst>
          </p:cNvPr>
          <p:cNvGrpSpPr/>
          <p:nvPr/>
        </p:nvGrpSpPr>
        <p:grpSpPr>
          <a:xfrm>
            <a:off x="1424940" y="2979856"/>
            <a:ext cx="9342120" cy="2598561"/>
            <a:chOff x="1424940" y="2706042"/>
            <a:chExt cx="9342120" cy="2598561"/>
          </a:xfrm>
        </p:grpSpPr>
        <p:pic>
          <p:nvPicPr>
            <p:cNvPr id="4" name="그림 3">
              <a:extLst>
                <a:ext uri="{FF2B5EF4-FFF2-40B4-BE49-F238E27FC236}">
                  <a16:creationId xmlns:a16="http://schemas.microsoft.com/office/drawing/2014/main" id="{3E211E19-082A-4B36-9706-4CE28D82BC52}"/>
                </a:ext>
              </a:extLst>
            </p:cNvPr>
            <p:cNvPicPr>
              <a:picLocks noChangeAspect="1"/>
            </p:cNvPicPr>
            <p:nvPr/>
          </p:nvPicPr>
          <p:blipFill>
            <a:blip r:embed="rId2"/>
            <a:stretch>
              <a:fillRect/>
            </a:stretch>
          </p:blipFill>
          <p:spPr>
            <a:xfrm>
              <a:off x="1424940" y="3429000"/>
              <a:ext cx="9342120" cy="1875603"/>
            </a:xfrm>
            <a:prstGeom prst="rect">
              <a:avLst/>
            </a:prstGeom>
            <a:ln>
              <a:solidFill>
                <a:schemeClr val="bg1">
                  <a:lumMod val="50000"/>
                </a:schemeClr>
              </a:solidFill>
            </a:ln>
          </p:spPr>
        </p:pic>
        <p:sp>
          <p:nvSpPr>
            <p:cNvPr id="8" name="TextBox 7">
              <a:extLst>
                <a:ext uri="{FF2B5EF4-FFF2-40B4-BE49-F238E27FC236}">
                  <a16:creationId xmlns:a16="http://schemas.microsoft.com/office/drawing/2014/main" id="{CB115D35-B504-4C74-90ED-50CF9F1D78B8}"/>
                </a:ext>
              </a:extLst>
            </p:cNvPr>
            <p:cNvSpPr txBox="1"/>
            <p:nvPr/>
          </p:nvSpPr>
          <p:spPr>
            <a:xfrm>
              <a:off x="4013277" y="2706042"/>
              <a:ext cx="4165446" cy="400110"/>
            </a:xfrm>
            <a:prstGeom prst="rect">
              <a:avLst/>
            </a:prstGeom>
            <a:noFill/>
            <a:ln>
              <a:solidFill>
                <a:schemeClr val="bg1">
                  <a:lumMod val="50000"/>
                </a:schemeClr>
              </a:solidFill>
            </a:ln>
          </p:spPr>
          <p:txBody>
            <a:bodyPr wrap="square" rtlCol="0">
              <a:spAutoFit/>
            </a:bodyPr>
            <a:lstStyle/>
            <a:p>
              <a:r>
                <a:rPr lang="en-US" altLang="ko-KR" sz="1000" b="1" dirty="0"/>
                <a:t>$ </a:t>
              </a:r>
              <a:r>
                <a:rPr lang="en-US" altLang="ko-KR" sz="1000" b="1" dirty="0" err="1"/>
                <a:t>kubectl</a:t>
              </a:r>
              <a:r>
                <a:rPr lang="en-US" altLang="ko-KR" sz="1000" b="1" dirty="0"/>
                <a:t> </a:t>
              </a:r>
              <a:r>
                <a:rPr lang="en-US" altLang="ko-KR" sz="1000" b="1" dirty="0">
                  <a:solidFill>
                    <a:srgbClr val="FF0000"/>
                  </a:solidFill>
                </a:rPr>
                <a:t>rollout history </a:t>
              </a:r>
              <a:r>
                <a:rPr lang="en-US" altLang="ko-KR" sz="1000" b="1" dirty="0"/>
                <a:t>deployments </a:t>
              </a:r>
              <a:r>
                <a:rPr lang="en-US" altLang="ko-KR" sz="1000" b="1" dirty="0" err="1">
                  <a:solidFill>
                    <a:srgbClr val="FF0000"/>
                  </a:solidFill>
                </a:rPr>
                <a:t>kuard</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a:t>
              </a:r>
              <a:r>
                <a:rPr lang="en-US" altLang="ko-KR" sz="1000" b="1" dirty="0">
                  <a:solidFill>
                    <a:srgbClr val="FF0000"/>
                  </a:solidFill>
                </a:rPr>
                <a:t>rollout status  </a:t>
              </a:r>
              <a:r>
                <a:rPr lang="en-US" altLang="ko-KR" sz="1000" b="1" dirty="0"/>
                <a:t>deployments </a:t>
              </a:r>
              <a:r>
                <a:rPr lang="en-US" altLang="ko-KR" sz="1000" b="1" dirty="0" err="1">
                  <a:solidFill>
                    <a:srgbClr val="FF0000"/>
                  </a:solidFill>
                </a:rPr>
                <a:t>kuard</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0A265DA8-9632-463E-AA1C-65957A3AB816}"/>
                </a:ext>
              </a:extLst>
            </p:cNvPr>
            <p:cNvSpPr/>
            <p:nvPr/>
          </p:nvSpPr>
          <p:spPr>
            <a:xfrm>
              <a:off x="5893242" y="3116555"/>
              <a:ext cx="405516" cy="31244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82409139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Updating Deployments(1/13)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Scaling a Deployment :</a:t>
            </a:r>
          </a:p>
          <a:p>
            <a:pPr lvl="1">
              <a:buFont typeface="Wingdings" panose="05000000000000000000" pitchFamily="2" charset="2"/>
              <a:buChar char="§"/>
            </a:pPr>
            <a:r>
              <a:rPr lang="en-US" altLang="ko-KR" sz="1400" b="1" dirty="0"/>
              <a:t>Deployments are declarative objects that describe a deployed application</a:t>
            </a:r>
            <a:r>
              <a:rPr lang="en-US" altLang="ko-KR" sz="1400" dirty="0"/>
              <a:t>. The two most common operations on a deployment are </a:t>
            </a:r>
            <a:r>
              <a:rPr lang="en-US" altLang="ko-KR" sz="1400" b="1" dirty="0">
                <a:solidFill>
                  <a:srgbClr val="FF0000"/>
                </a:solidFill>
              </a:rPr>
              <a:t>scaling</a:t>
            </a:r>
            <a:r>
              <a:rPr lang="en-US" altLang="ko-KR" sz="1400" dirty="0"/>
              <a:t> and </a:t>
            </a:r>
            <a:r>
              <a:rPr lang="en-US" altLang="ko-KR" sz="1400" b="1" dirty="0">
                <a:solidFill>
                  <a:srgbClr val="FF0000"/>
                </a:solidFill>
              </a:rPr>
              <a:t>application updates</a:t>
            </a:r>
            <a:r>
              <a:rPr lang="en-US" altLang="ko-KR" sz="1400" dirty="0"/>
              <a:t>.</a:t>
            </a:r>
          </a:p>
          <a:p>
            <a:pPr lvl="1">
              <a:buFont typeface="Wingdings" panose="05000000000000000000" pitchFamily="2" charset="2"/>
              <a:buChar char="§"/>
            </a:pPr>
            <a:r>
              <a:rPr lang="en-US" altLang="ko-KR" sz="1400" b="1" dirty="0"/>
              <a:t>The best practice is to </a:t>
            </a:r>
            <a:r>
              <a:rPr lang="en-US" altLang="ko-KR" sz="1400" b="1" dirty="0">
                <a:solidFill>
                  <a:srgbClr val="FF0000"/>
                </a:solidFill>
              </a:rPr>
              <a:t>manage your deployments declaratively via the YAML files</a:t>
            </a:r>
            <a:r>
              <a:rPr lang="en-US" altLang="ko-KR" sz="1400" dirty="0"/>
              <a:t>, </a:t>
            </a:r>
            <a:r>
              <a:rPr lang="en-US" altLang="ko-KR" sz="1400" b="1" dirty="0"/>
              <a:t>and then use those files to update your deployment</a:t>
            </a:r>
            <a:r>
              <a:rPr lang="en-US" altLang="ko-KR" sz="1400" dirty="0"/>
              <a:t>. To </a:t>
            </a:r>
            <a:r>
              <a:rPr lang="en-US" altLang="ko-KR" sz="1400" b="1" dirty="0"/>
              <a:t>scale up </a:t>
            </a:r>
            <a:r>
              <a:rPr lang="en-US" altLang="ko-KR" sz="1400" dirty="0"/>
              <a:t>a deployment, you would </a:t>
            </a:r>
            <a:r>
              <a:rPr lang="en-US" altLang="ko-KR" sz="1400" b="1" dirty="0"/>
              <a:t>edit your YAML file to increase the number of replicas</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75</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099E7253-6CD6-417D-A89F-DEF1EF6CB59E}"/>
              </a:ext>
            </a:extLst>
          </p:cNvPr>
          <p:cNvSpPr/>
          <p:nvPr/>
        </p:nvSpPr>
        <p:spPr>
          <a:xfrm>
            <a:off x="3048000" y="2502602"/>
            <a:ext cx="6096000" cy="2708434"/>
          </a:xfrm>
          <a:prstGeom prst="rect">
            <a:avLst/>
          </a:prstGeom>
          <a:ln>
            <a:solidFill>
              <a:schemeClr val="bg1">
                <a:lumMod val="50000"/>
              </a:schemeClr>
            </a:solidFill>
          </a:ln>
        </p:spPr>
        <p:txBody>
          <a:bodyPr>
            <a:spAutoFit/>
          </a:bodyPr>
          <a:lstStyle/>
          <a:p>
            <a:r>
              <a:rPr lang="en-US" altLang="ko-KR" sz="1000" b="1" dirty="0" err="1"/>
              <a:t>apiVersion</a:t>
            </a:r>
            <a:r>
              <a:rPr lang="en-US" altLang="ko-KR" sz="1000" b="1" dirty="0"/>
              <a:t>: apps/v1</a:t>
            </a:r>
          </a:p>
          <a:p>
            <a:r>
              <a:rPr lang="en-US" altLang="ko-KR" sz="1000" b="1" dirty="0"/>
              <a:t>kind: Deployment</a:t>
            </a:r>
          </a:p>
          <a:p>
            <a:r>
              <a:rPr lang="en-US" altLang="ko-KR" sz="1000" b="1" dirty="0"/>
              <a:t>metadata:</a:t>
            </a:r>
          </a:p>
          <a:p>
            <a:r>
              <a:rPr lang="en-US" altLang="ko-KR" sz="1000" b="1" dirty="0"/>
              <a:t>  name: </a:t>
            </a:r>
            <a:r>
              <a:rPr lang="en-US" altLang="ko-KR" sz="1000" b="1" dirty="0" err="1"/>
              <a:t>kuard</a:t>
            </a:r>
            <a:endParaRPr lang="en-US" altLang="ko-KR" sz="1000" b="1" dirty="0"/>
          </a:p>
          <a:p>
            <a:r>
              <a:rPr lang="en-US" altLang="ko-KR" sz="1000" b="1" dirty="0"/>
              <a:t>spec:</a:t>
            </a:r>
          </a:p>
          <a:p>
            <a:r>
              <a:rPr lang="en-US" altLang="ko-KR" sz="1000" b="1" dirty="0"/>
              <a:t>  selector:</a:t>
            </a:r>
          </a:p>
          <a:p>
            <a:r>
              <a:rPr lang="en-US" altLang="ko-KR" sz="1000" b="1" dirty="0"/>
              <a:t>    </a:t>
            </a:r>
            <a:r>
              <a:rPr lang="en-US" altLang="ko-KR" sz="1000" b="1" dirty="0" err="1"/>
              <a:t>matchLabels</a:t>
            </a:r>
            <a:r>
              <a:rPr lang="en-US" altLang="ko-KR" sz="1000" b="1" dirty="0"/>
              <a:t>:</a:t>
            </a:r>
          </a:p>
          <a:p>
            <a:r>
              <a:rPr lang="en-US" altLang="ko-KR" sz="1000" b="1" dirty="0"/>
              <a:t>      run: </a:t>
            </a:r>
            <a:r>
              <a:rPr lang="en-US" altLang="ko-KR" sz="1000" b="1" dirty="0" err="1"/>
              <a:t>kuard</a:t>
            </a:r>
            <a:endParaRPr lang="en-US" altLang="ko-KR" sz="1000" b="1" dirty="0"/>
          </a:p>
          <a:p>
            <a:r>
              <a:rPr lang="en-US" altLang="ko-KR" sz="1000" b="1" dirty="0">
                <a:solidFill>
                  <a:srgbClr val="FF0000"/>
                </a:solidFill>
              </a:rPr>
              <a:t>  replicas: 3</a:t>
            </a:r>
          </a:p>
          <a:p>
            <a:r>
              <a:rPr lang="en-US" altLang="ko-KR" sz="1000" b="1" dirty="0"/>
              <a:t>  template:</a:t>
            </a:r>
          </a:p>
          <a:p>
            <a:r>
              <a:rPr lang="en-US" altLang="ko-KR" sz="1000" b="1" dirty="0"/>
              <a:t>    metadata:</a:t>
            </a:r>
          </a:p>
          <a:p>
            <a:r>
              <a:rPr lang="en-US" altLang="ko-KR" sz="1000" b="1" dirty="0"/>
              <a:t>      labels:</a:t>
            </a:r>
          </a:p>
          <a:p>
            <a:r>
              <a:rPr lang="en-US" altLang="ko-KR" sz="1000" b="1" dirty="0"/>
              <a:t>        run: </a:t>
            </a:r>
            <a:r>
              <a:rPr lang="en-US" altLang="ko-KR" sz="1000" b="1" dirty="0" err="1"/>
              <a:t>kuard</a:t>
            </a:r>
            <a:endParaRPr lang="en-US" altLang="ko-KR" sz="1000" b="1" dirty="0"/>
          </a:p>
          <a:p>
            <a:r>
              <a:rPr lang="en-US" altLang="ko-KR" sz="1000" b="1" dirty="0"/>
              <a:t>    spec:</a:t>
            </a:r>
          </a:p>
          <a:p>
            <a:r>
              <a:rPr lang="en-US" altLang="ko-KR" sz="1000" b="1" dirty="0"/>
              <a:t>      containers:</a:t>
            </a:r>
          </a:p>
          <a:p>
            <a:r>
              <a:rPr lang="en-US" altLang="ko-KR" sz="1000" b="1" dirty="0"/>
              <a:t>      - name: </a:t>
            </a:r>
            <a:r>
              <a:rPr lang="en-US" altLang="ko-KR" sz="1000" b="1" dirty="0" err="1"/>
              <a:t>kuard</a:t>
            </a:r>
            <a:endParaRPr lang="en-US" altLang="ko-KR" sz="1000" b="1" dirty="0"/>
          </a:p>
          <a:p>
            <a:r>
              <a:rPr lang="en-US" altLang="ko-KR" sz="1000" b="1" dirty="0"/>
              <a:t>        image: knix008/kuard-shkwon-amd64:1.0</a:t>
            </a:r>
            <a:endParaRPr lang="ko-KR" altLang="en-US" sz="1000" b="1" dirty="0"/>
          </a:p>
        </p:txBody>
      </p:sp>
    </p:spTree>
    <p:extLst>
      <p:ext uri="{BB962C8B-B14F-4D97-AF65-F5344CB8AC3E}">
        <p14:creationId xmlns:p14="http://schemas.microsoft.com/office/powerpoint/2010/main" val="205397953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Updating Deployments(2/13)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Scaling a Deployment :</a:t>
            </a:r>
          </a:p>
          <a:p>
            <a:pPr lvl="1">
              <a:buFont typeface="Wingdings" panose="05000000000000000000" pitchFamily="2" charset="2"/>
              <a:buChar char="§"/>
            </a:pPr>
            <a:r>
              <a:rPr lang="en-US" altLang="ko-KR" sz="1400" dirty="0"/>
              <a:t>Once you have saved and committed this change, you can </a:t>
            </a:r>
            <a:r>
              <a:rPr lang="en-US" altLang="ko-KR" sz="1400" b="1" dirty="0"/>
              <a:t>update the deployment using the “</a:t>
            </a:r>
            <a:r>
              <a:rPr lang="en-US" altLang="ko-KR" sz="1400" b="1" dirty="0" err="1"/>
              <a:t>kubectl</a:t>
            </a:r>
            <a:r>
              <a:rPr lang="en-US" altLang="ko-KR" sz="1400" b="1" dirty="0"/>
              <a:t> apply” command</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This will update the desired state of the deployment</a:t>
            </a:r>
            <a:r>
              <a:rPr lang="en-US" altLang="ko-KR" sz="1400" dirty="0"/>
              <a:t>, </a:t>
            </a:r>
            <a:r>
              <a:rPr lang="en-US" altLang="ko-KR" sz="1400" b="1" dirty="0"/>
              <a:t>causing it to increase the size of the </a:t>
            </a:r>
            <a:r>
              <a:rPr lang="en-US" altLang="ko-KR" sz="1400" b="1" dirty="0" err="1"/>
              <a:t>ReplicaSet</a:t>
            </a:r>
            <a:r>
              <a:rPr lang="en-US" altLang="ko-KR" sz="1400" b="1" dirty="0"/>
              <a:t> it manages</a:t>
            </a:r>
            <a:r>
              <a:rPr lang="en-US" altLang="ko-KR" sz="1400" dirty="0"/>
              <a:t>, and </a:t>
            </a:r>
            <a:r>
              <a:rPr lang="en-US" altLang="ko-KR" sz="1400" b="1" dirty="0"/>
              <a:t>eventually create a new Pod managed by the deployment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76</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B6997386-3E28-4D5F-B694-91326F6BA5EE}"/>
              </a:ext>
            </a:extLst>
          </p:cNvPr>
          <p:cNvGrpSpPr/>
          <p:nvPr/>
        </p:nvGrpSpPr>
        <p:grpSpPr>
          <a:xfrm>
            <a:off x="1333500" y="1852857"/>
            <a:ext cx="9525000" cy="2316380"/>
            <a:chOff x="1333498" y="1598414"/>
            <a:chExt cx="9525000" cy="2316380"/>
          </a:xfrm>
        </p:grpSpPr>
        <p:sp>
          <p:nvSpPr>
            <p:cNvPr id="4" name="직사각형 3">
              <a:extLst>
                <a:ext uri="{FF2B5EF4-FFF2-40B4-BE49-F238E27FC236}">
                  <a16:creationId xmlns:a16="http://schemas.microsoft.com/office/drawing/2014/main" id="{EA990990-1A46-4E84-8261-A302B3DE3254}"/>
                </a:ext>
              </a:extLst>
            </p:cNvPr>
            <p:cNvSpPr/>
            <p:nvPr/>
          </p:nvSpPr>
          <p:spPr>
            <a:xfrm>
              <a:off x="4706837" y="1598414"/>
              <a:ext cx="2778325"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a:t>
              </a:r>
              <a:r>
                <a:rPr lang="en-US" altLang="ko-KR" sz="1000" b="1" dirty="0">
                  <a:solidFill>
                    <a:srgbClr val="FF0000"/>
                  </a:solidFill>
                </a:rPr>
                <a:t>apply -f </a:t>
              </a:r>
              <a:r>
                <a:rPr lang="en-US" altLang="ko-KR" sz="1000" b="1" dirty="0" err="1">
                  <a:solidFill>
                    <a:srgbClr val="FF0000"/>
                  </a:solidFill>
                </a:rPr>
                <a:t>kuard-deployment.yaml</a:t>
              </a:r>
              <a:endParaRPr lang="ko-KR" altLang="en-US" sz="1000" b="1" dirty="0">
                <a:solidFill>
                  <a:srgbClr val="FF0000"/>
                </a:solidFill>
              </a:endParaRPr>
            </a:p>
          </p:txBody>
        </p:sp>
        <p:sp>
          <p:nvSpPr>
            <p:cNvPr id="8" name="화살표: 아래쪽 7">
              <a:extLst>
                <a:ext uri="{FF2B5EF4-FFF2-40B4-BE49-F238E27FC236}">
                  <a16:creationId xmlns:a16="http://schemas.microsoft.com/office/drawing/2014/main" id="{99948712-08F9-4AE0-93CA-4230CE6495E0}"/>
                </a:ext>
              </a:extLst>
            </p:cNvPr>
            <p:cNvSpPr/>
            <p:nvPr/>
          </p:nvSpPr>
          <p:spPr>
            <a:xfrm>
              <a:off x="5911130" y="1844635"/>
              <a:ext cx="369737"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133A562C-9967-44E7-A343-8139A47C4A32}"/>
                </a:ext>
              </a:extLst>
            </p:cNvPr>
            <p:cNvPicPr>
              <a:picLocks noChangeAspect="1"/>
            </p:cNvPicPr>
            <p:nvPr/>
          </p:nvPicPr>
          <p:blipFill>
            <a:blip r:embed="rId2"/>
            <a:stretch>
              <a:fillRect/>
            </a:stretch>
          </p:blipFill>
          <p:spPr>
            <a:xfrm>
              <a:off x="1333498" y="2105044"/>
              <a:ext cx="9525000" cy="1809750"/>
            </a:xfrm>
            <a:prstGeom prst="rect">
              <a:avLst/>
            </a:prstGeom>
            <a:ln>
              <a:solidFill>
                <a:schemeClr val="bg1">
                  <a:lumMod val="50000"/>
                </a:schemeClr>
              </a:solidFill>
            </a:ln>
          </p:spPr>
        </p:pic>
      </p:grpSp>
    </p:spTree>
    <p:extLst>
      <p:ext uri="{BB962C8B-B14F-4D97-AF65-F5344CB8AC3E}">
        <p14:creationId xmlns:p14="http://schemas.microsoft.com/office/powerpoint/2010/main" val="227493990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Updating Deployments(3/13)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Updating a Container Image :</a:t>
            </a:r>
          </a:p>
          <a:p>
            <a:pPr lvl="1">
              <a:buFont typeface="Wingdings" panose="05000000000000000000" pitchFamily="2" charset="2"/>
              <a:buChar char="§"/>
            </a:pPr>
            <a:r>
              <a:rPr lang="en-US" altLang="ko-KR" sz="1400" b="1" dirty="0"/>
              <a:t>The other common use case for updating a deployment is to roll out a new version of the software running in one or more containers</a:t>
            </a:r>
            <a:r>
              <a:rPr lang="en-US" altLang="ko-KR" sz="1400" dirty="0"/>
              <a:t>. To do this, you should likewise </a:t>
            </a:r>
            <a:r>
              <a:rPr lang="en-US" altLang="ko-KR" sz="1400" b="1" dirty="0"/>
              <a:t>edit the deployment YAML file</a:t>
            </a:r>
            <a:r>
              <a:rPr lang="en-US" altLang="ko-KR" sz="1400" dirty="0"/>
              <a:t>, though in this case you are updating the container image, rather than the number of replicas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We are also going to </a:t>
            </a:r>
            <a:r>
              <a:rPr lang="en-US" altLang="ko-KR" sz="1400" b="1" dirty="0"/>
              <a:t>put an “</a:t>
            </a:r>
            <a:r>
              <a:rPr lang="en-US" altLang="ko-KR" sz="1400" b="1" dirty="0">
                <a:solidFill>
                  <a:srgbClr val="FF0000"/>
                </a:solidFill>
              </a:rPr>
              <a:t>annotation</a:t>
            </a:r>
            <a:r>
              <a:rPr lang="en-US" altLang="ko-KR" sz="1400" b="1" dirty="0"/>
              <a:t>” in the template for the deployment to record some information about the update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Make sure you add this annotation to the template and not the deployment itself</a:t>
            </a:r>
            <a:r>
              <a:rPr lang="en-US" altLang="ko-KR" sz="1400" dirty="0"/>
              <a:t>, </a:t>
            </a:r>
            <a:r>
              <a:rPr lang="en-US" altLang="ko-KR" sz="1400" b="1" dirty="0"/>
              <a:t>since the “</a:t>
            </a:r>
            <a:r>
              <a:rPr lang="en-US" altLang="ko-KR" sz="1400" b="1" dirty="0" err="1"/>
              <a:t>kubectl</a:t>
            </a:r>
            <a:r>
              <a:rPr lang="en-US" altLang="ko-KR" sz="1400" b="1" dirty="0"/>
              <a:t> apply” command uses this field in the Deployment object</a:t>
            </a:r>
            <a:r>
              <a:rPr lang="en-US" altLang="ko-KR" sz="1400" dirty="0"/>
              <a:t>. Also, </a:t>
            </a:r>
            <a:r>
              <a:rPr lang="en-US" altLang="ko-KR" sz="1400" b="1" dirty="0"/>
              <a:t>do not update the “change-cause annotation” when doing simple scaling operations</a:t>
            </a:r>
            <a:r>
              <a:rPr lang="en-US" altLang="ko-KR" sz="1400" dirty="0"/>
              <a:t>. A modification of change-cause is a significant change to the template and will trigger a new rollout.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77</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7B25548A-8257-44B6-9E32-64BDB45F1351}"/>
              </a:ext>
            </a:extLst>
          </p:cNvPr>
          <p:cNvSpPr/>
          <p:nvPr/>
        </p:nvSpPr>
        <p:spPr>
          <a:xfrm>
            <a:off x="3048000" y="1934962"/>
            <a:ext cx="6096000" cy="861774"/>
          </a:xfrm>
          <a:prstGeom prst="rect">
            <a:avLst/>
          </a:prstGeom>
          <a:ln>
            <a:solidFill>
              <a:schemeClr val="bg1">
                <a:lumMod val="50000"/>
              </a:schemeClr>
            </a:solidFill>
          </a:ln>
        </p:spPr>
        <p:txBody>
          <a:bodyPr>
            <a:spAutoFit/>
          </a:bodyPr>
          <a:lstStyle/>
          <a:p>
            <a:r>
              <a:rPr lang="en-US" altLang="ko-KR" sz="1000" b="1" dirty="0"/>
              <a:t>...</a:t>
            </a:r>
          </a:p>
          <a:p>
            <a:r>
              <a:rPr lang="en-US" altLang="ko-KR" sz="1000" b="1" dirty="0"/>
              <a:t>containers:</a:t>
            </a:r>
          </a:p>
          <a:p>
            <a:r>
              <a:rPr lang="en-US" altLang="ko-KR" sz="1000" b="1" dirty="0"/>
              <a:t>  - image: </a:t>
            </a:r>
            <a:r>
              <a:rPr lang="en-US" altLang="ko-KR" sz="1000" b="1" dirty="0">
                <a:solidFill>
                  <a:srgbClr val="FF0000"/>
                </a:solidFill>
              </a:rPr>
              <a:t>knix008/kuard-shkwon-amd64:2.0</a:t>
            </a:r>
          </a:p>
          <a:p>
            <a:r>
              <a:rPr lang="en-US" altLang="ko-KR" sz="1000" b="1" dirty="0"/>
              <a:t>    </a:t>
            </a:r>
            <a:r>
              <a:rPr lang="en-US" altLang="ko-KR" sz="1000" b="1" dirty="0" err="1"/>
              <a:t>imagePullPolicy</a:t>
            </a:r>
            <a:r>
              <a:rPr lang="en-US" altLang="ko-KR" sz="1000" b="1" dirty="0"/>
              <a:t>: Always</a:t>
            </a:r>
          </a:p>
          <a:p>
            <a:r>
              <a:rPr lang="en-US" altLang="ko-KR" sz="1000" b="1" dirty="0"/>
              <a:t>...</a:t>
            </a:r>
          </a:p>
        </p:txBody>
      </p:sp>
      <p:sp>
        <p:nvSpPr>
          <p:cNvPr id="8" name="직사각형 7">
            <a:extLst>
              <a:ext uri="{FF2B5EF4-FFF2-40B4-BE49-F238E27FC236}">
                <a16:creationId xmlns:a16="http://schemas.microsoft.com/office/drawing/2014/main" id="{0B76A806-68E6-4B21-8D32-A3A57E21A92A}"/>
              </a:ext>
            </a:extLst>
          </p:cNvPr>
          <p:cNvSpPr/>
          <p:nvPr/>
        </p:nvSpPr>
        <p:spPr>
          <a:xfrm>
            <a:off x="3048000" y="3705129"/>
            <a:ext cx="6096000" cy="1323439"/>
          </a:xfrm>
          <a:prstGeom prst="rect">
            <a:avLst/>
          </a:prstGeom>
          <a:ln>
            <a:solidFill>
              <a:schemeClr val="bg1">
                <a:lumMod val="50000"/>
              </a:schemeClr>
            </a:solidFill>
          </a:ln>
        </p:spPr>
        <p:txBody>
          <a:bodyPr>
            <a:spAutoFit/>
          </a:bodyPr>
          <a:lstStyle/>
          <a:p>
            <a:r>
              <a:rPr lang="en-US" altLang="ko-KR" sz="1000" b="1" dirty="0"/>
              <a:t>...</a:t>
            </a:r>
          </a:p>
          <a:p>
            <a:r>
              <a:rPr lang="en-US" altLang="ko-KR" sz="1000" b="1" dirty="0"/>
              <a:t>spec:</a:t>
            </a:r>
          </a:p>
          <a:p>
            <a:r>
              <a:rPr lang="en-US" altLang="ko-KR" sz="1000" b="1" dirty="0"/>
              <a:t>  ...</a:t>
            </a:r>
          </a:p>
          <a:p>
            <a:r>
              <a:rPr lang="en-US" altLang="ko-KR" sz="1000" b="1" dirty="0"/>
              <a:t>  template:</a:t>
            </a:r>
          </a:p>
          <a:p>
            <a:r>
              <a:rPr lang="en-US" altLang="ko-KR" sz="1000" b="1" dirty="0"/>
              <a:t>    metadata:</a:t>
            </a:r>
          </a:p>
          <a:p>
            <a:r>
              <a:rPr lang="en-US" altLang="ko-KR" sz="1000" b="1" dirty="0"/>
              <a:t>      </a:t>
            </a:r>
            <a:r>
              <a:rPr lang="en-US" altLang="ko-KR" sz="1000" b="1" dirty="0">
                <a:solidFill>
                  <a:srgbClr val="FF0000"/>
                </a:solidFill>
              </a:rPr>
              <a:t>annotations:</a:t>
            </a:r>
          </a:p>
          <a:p>
            <a:r>
              <a:rPr lang="en-US" altLang="ko-KR" sz="1000" b="1" dirty="0">
                <a:solidFill>
                  <a:srgbClr val="FF0000"/>
                </a:solidFill>
              </a:rPr>
              <a:t>        kubernetes.io/change-cause: "Update to 2.0 </a:t>
            </a:r>
            <a:r>
              <a:rPr lang="en-US" altLang="ko-KR" sz="1000" b="1" dirty="0" err="1">
                <a:solidFill>
                  <a:srgbClr val="FF0000"/>
                </a:solidFill>
              </a:rPr>
              <a:t>kuard</a:t>
            </a:r>
            <a:r>
              <a:rPr lang="en-US" altLang="ko-KR" sz="1000" b="1" dirty="0">
                <a:solidFill>
                  <a:srgbClr val="FF0000"/>
                </a:solidFill>
              </a:rPr>
              <a:t>"</a:t>
            </a:r>
          </a:p>
          <a:p>
            <a:r>
              <a:rPr lang="en-US" altLang="ko-KR" sz="1000" b="1" dirty="0"/>
              <a:t>....</a:t>
            </a:r>
          </a:p>
        </p:txBody>
      </p:sp>
    </p:spTree>
    <p:extLst>
      <p:ext uri="{BB962C8B-B14F-4D97-AF65-F5344CB8AC3E}">
        <p14:creationId xmlns:p14="http://schemas.microsoft.com/office/powerpoint/2010/main" val="339305451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The YAML File</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Rollout YAML File :</a:t>
            </a:r>
          </a:p>
          <a:p>
            <a:pPr lvl="1">
              <a:buFont typeface="Wingdings" panose="05000000000000000000" pitchFamily="2" charset="2"/>
              <a:buChar char="§"/>
            </a:pPr>
            <a:r>
              <a:rPr lang="en-US" altLang="ko-KR" sz="1400" dirty="0"/>
              <a:t>You can use the following updated “</a:t>
            </a:r>
            <a:r>
              <a:rPr lang="en-US" altLang="ko-KR" sz="1400" b="1" dirty="0" err="1"/>
              <a:t>kuard</a:t>
            </a:r>
            <a:r>
              <a:rPr lang="en-US" altLang="ko-KR" sz="1400" b="1" dirty="0"/>
              <a:t>-development-</a:t>
            </a:r>
            <a:r>
              <a:rPr lang="en-US" altLang="ko-KR" sz="1400" b="1" dirty="0" err="1"/>
              <a:t>rollout.yaml</a:t>
            </a:r>
            <a:r>
              <a:rPr lang="en-US" altLang="ko-KR" sz="1400" dirty="0"/>
              <a:t>” file for the “</a:t>
            </a:r>
            <a:r>
              <a:rPr lang="en-US" altLang="ko-KR" sz="1400" b="1" dirty="0" err="1"/>
              <a:t>kubectl</a:t>
            </a:r>
            <a:r>
              <a:rPr lang="en-US" altLang="ko-KR" sz="1400" b="1" dirty="0"/>
              <a:t> apply -f</a:t>
            </a:r>
            <a:r>
              <a:rPr lang="en-US" altLang="ko-KR" sz="1400" dirty="0"/>
              <a:t>” command.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78</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851A3672-EAF7-4CA8-83BE-B8F1943EA506}"/>
              </a:ext>
            </a:extLst>
          </p:cNvPr>
          <p:cNvSpPr/>
          <p:nvPr/>
        </p:nvSpPr>
        <p:spPr>
          <a:xfrm>
            <a:off x="3048000" y="1577860"/>
            <a:ext cx="6096000" cy="3170099"/>
          </a:xfrm>
          <a:prstGeom prst="rect">
            <a:avLst/>
          </a:prstGeom>
          <a:ln>
            <a:solidFill>
              <a:schemeClr val="bg1">
                <a:lumMod val="50000"/>
              </a:schemeClr>
            </a:solidFill>
          </a:ln>
        </p:spPr>
        <p:txBody>
          <a:bodyPr>
            <a:spAutoFit/>
          </a:bodyPr>
          <a:lstStyle/>
          <a:p>
            <a:r>
              <a:rPr lang="en-US" altLang="ko-KR" sz="1000" b="1" dirty="0" err="1"/>
              <a:t>apiVersion</a:t>
            </a:r>
            <a:r>
              <a:rPr lang="en-US" altLang="ko-KR" sz="1000" b="1" dirty="0"/>
              <a:t>: apps/v1</a:t>
            </a:r>
          </a:p>
          <a:p>
            <a:r>
              <a:rPr lang="en-US" altLang="ko-KR" sz="1000" b="1" dirty="0"/>
              <a:t>kind: Deployment</a:t>
            </a:r>
          </a:p>
          <a:p>
            <a:r>
              <a:rPr lang="en-US" altLang="ko-KR" sz="1000" b="1" dirty="0"/>
              <a:t>metadata:</a:t>
            </a:r>
          </a:p>
          <a:p>
            <a:r>
              <a:rPr lang="en-US" altLang="ko-KR" sz="1000" b="1" dirty="0"/>
              <a:t>  name: </a:t>
            </a:r>
            <a:r>
              <a:rPr lang="en-US" altLang="ko-KR" sz="1000" b="1" dirty="0" err="1"/>
              <a:t>kuard</a:t>
            </a:r>
            <a:endParaRPr lang="en-US" altLang="ko-KR" sz="1000" b="1" dirty="0"/>
          </a:p>
          <a:p>
            <a:r>
              <a:rPr lang="en-US" altLang="ko-KR" sz="1000" b="1" dirty="0"/>
              <a:t>spec:</a:t>
            </a:r>
          </a:p>
          <a:p>
            <a:r>
              <a:rPr lang="en-US" altLang="ko-KR" sz="1000" b="1" dirty="0"/>
              <a:t>  selector:</a:t>
            </a:r>
          </a:p>
          <a:p>
            <a:r>
              <a:rPr lang="en-US" altLang="ko-KR" sz="1000" b="1" dirty="0"/>
              <a:t>    </a:t>
            </a:r>
            <a:r>
              <a:rPr lang="en-US" altLang="ko-KR" sz="1000" b="1" dirty="0" err="1"/>
              <a:t>matchLabels</a:t>
            </a:r>
            <a:r>
              <a:rPr lang="en-US" altLang="ko-KR" sz="1000" b="1" dirty="0"/>
              <a:t>:</a:t>
            </a:r>
          </a:p>
          <a:p>
            <a:r>
              <a:rPr lang="en-US" altLang="ko-KR" sz="1000" b="1" dirty="0"/>
              <a:t>      run: </a:t>
            </a:r>
            <a:r>
              <a:rPr lang="en-US" altLang="ko-KR" sz="1000" b="1" dirty="0" err="1"/>
              <a:t>kuard</a:t>
            </a:r>
            <a:endParaRPr lang="en-US" altLang="ko-KR" sz="1000" b="1" dirty="0"/>
          </a:p>
          <a:p>
            <a:r>
              <a:rPr lang="en-US" altLang="ko-KR" sz="1000" b="1" dirty="0"/>
              <a:t>  replicas: 3</a:t>
            </a:r>
          </a:p>
          <a:p>
            <a:r>
              <a:rPr lang="en-US" altLang="ko-KR" sz="1000" b="1" dirty="0"/>
              <a:t>  template:</a:t>
            </a:r>
          </a:p>
          <a:p>
            <a:r>
              <a:rPr lang="en-US" altLang="ko-KR" sz="1000" b="1" dirty="0"/>
              <a:t>    metadata:</a:t>
            </a:r>
          </a:p>
          <a:p>
            <a:r>
              <a:rPr lang="en-US" altLang="ko-KR" sz="1000" b="1" dirty="0"/>
              <a:t>      </a:t>
            </a:r>
            <a:r>
              <a:rPr lang="en-US" altLang="ko-KR" sz="1000" b="1" dirty="0">
                <a:solidFill>
                  <a:srgbClr val="FF0000"/>
                </a:solidFill>
              </a:rPr>
              <a:t>annotations:</a:t>
            </a:r>
          </a:p>
          <a:p>
            <a:r>
              <a:rPr lang="en-US" altLang="ko-KR" sz="1000" b="1" dirty="0">
                <a:solidFill>
                  <a:srgbClr val="FF0000"/>
                </a:solidFill>
              </a:rPr>
              <a:t>        kubernetes.io/change-cause: "Update to 2.0 </a:t>
            </a:r>
            <a:r>
              <a:rPr lang="en-US" altLang="ko-KR" sz="1000" b="1" dirty="0" err="1">
                <a:solidFill>
                  <a:srgbClr val="FF0000"/>
                </a:solidFill>
              </a:rPr>
              <a:t>kuard</a:t>
            </a:r>
            <a:r>
              <a:rPr lang="en-US" altLang="ko-KR" sz="1000" b="1" dirty="0">
                <a:solidFill>
                  <a:srgbClr val="FF0000"/>
                </a:solidFill>
              </a:rPr>
              <a:t>"</a:t>
            </a:r>
          </a:p>
          <a:p>
            <a:r>
              <a:rPr lang="en-US" altLang="ko-KR" sz="1000" b="1" dirty="0">
                <a:solidFill>
                  <a:srgbClr val="FF0000"/>
                </a:solidFill>
              </a:rPr>
              <a:t>      labels:</a:t>
            </a:r>
          </a:p>
          <a:p>
            <a:r>
              <a:rPr lang="en-US" altLang="ko-KR" sz="1000" b="1" dirty="0"/>
              <a:t>        run: </a:t>
            </a:r>
            <a:r>
              <a:rPr lang="en-US" altLang="ko-KR" sz="1000" b="1" dirty="0" err="1"/>
              <a:t>kuard</a:t>
            </a:r>
            <a:endParaRPr lang="en-US" altLang="ko-KR" sz="1000" b="1" dirty="0"/>
          </a:p>
          <a:p>
            <a:r>
              <a:rPr lang="en-US" altLang="ko-KR" sz="1000" b="1" dirty="0"/>
              <a:t>    spec:</a:t>
            </a:r>
          </a:p>
          <a:p>
            <a:r>
              <a:rPr lang="en-US" altLang="ko-KR" sz="1000" b="1" dirty="0"/>
              <a:t>      containers:</a:t>
            </a:r>
          </a:p>
          <a:p>
            <a:r>
              <a:rPr lang="en-US" altLang="ko-KR" sz="1000" b="1" dirty="0"/>
              <a:t>      - name: </a:t>
            </a:r>
            <a:r>
              <a:rPr lang="en-US" altLang="ko-KR" sz="1000" b="1" dirty="0" err="1"/>
              <a:t>kuard</a:t>
            </a:r>
            <a:endParaRPr lang="en-US" altLang="ko-KR" sz="1000" b="1" dirty="0"/>
          </a:p>
          <a:p>
            <a:r>
              <a:rPr lang="en-US" altLang="ko-KR" sz="1000" b="1" dirty="0"/>
              <a:t>        </a:t>
            </a:r>
            <a:r>
              <a:rPr lang="en-US" altLang="ko-KR" sz="1000" b="1" dirty="0">
                <a:solidFill>
                  <a:srgbClr val="FF0000"/>
                </a:solidFill>
              </a:rPr>
              <a:t>image: knix008/kuard-shkwon-amd64:2.0</a:t>
            </a:r>
          </a:p>
          <a:p>
            <a:r>
              <a:rPr lang="en-US" altLang="ko-KR" sz="1000" b="1" dirty="0">
                <a:solidFill>
                  <a:srgbClr val="FF0000"/>
                </a:solidFill>
              </a:rPr>
              <a:t>        </a:t>
            </a:r>
            <a:r>
              <a:rPr lang="en-US" altLang="ko-KR" sz="1000" b="1" dirty="0" err="1">
                <a:solidFill>
                  <a:srgbClr val="FF0000"/>
                </a:solidFill>
              </a:rPr>
              <a:t>imagePullPolicy</a:t>
            </a:r>
            <a:r>
              <a:rPr lang="en-US" altLang="ko-KR" sz="1000" b="1" dirty="0">
                <a:solidFill>
                  <a:srgbClr val="FF0000"/>
                </a:solidFill>
              </a:rPr>
              <a:t>: Always</a:t>
            </a:r>
          </a:p>
        </p:txBody>
      </p:sp>
    </p:spTree>
    <p:extLst>
      <p:ext uri="{BB962C8B-B14F-4D97-AF65-F5344CB8AC3E}">
        <p14:creationId xmlns:p14="http://schemas.microsoft.com/office/powerpoint/2010/main" val="261505042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Build a Docker Image</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Docker Image Build and Push :</a:t>
            </a:r>
          </a:p>
          <a:p>
            <a:pPr lvl="1">
              <a:buFont typeface="Wingdings" panose="05000000000000000000" pitchFamily="2" charset="2"/>
              <a:buChar char="§"/>
            </a:pPr>
            <a:r>
              <a:rPr lang="en-US" altLang="ko-KR" sz="1400" dirty="0"/>
              <a:t>Before you run the previous examples, you need to build new docker image only for test in your local machine and push it into docker hub.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Use the image tag name, listed by “docker images” command, instead of the red string in the box</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79</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93D72B7-FB61-45AD-A493-CB8F9E351E2A}"/>
              </a:ext>
            </a:extLst>
          </p:cNvPr>
          <p:cNvSpPr txBox="1"/>
          <p:nvPr/>
        </p:nvSpPr>
        <p:spPr>
          <a:xfrm>
            <a:off x="3376948" y="2497704"/>
            <a:ext cx="5438103" cy="553998"/>
          </a:xfrm>
          <a:prstGeom prst="rect">
            <a:avLst/>
          </a:prstGeom>
          <a:noFill/>
          <a:ln>
            <a:solidFill>
              <a:schemeClr val="bg1">
                <a:lumMod val="50000"/>
              </a:schemeClr>
            </a:solidFill>
          </a:ln>
        </p:spPr>
        <p:txBody>
          <a:bodyPr wrap="square" rtlCol="0">
            <a:spAutoFit/>
          </a:bodyPr>
          <a:lstStyle/>
          <a:p>
            <a:r>
              <a:rPr lang="en-US" altLang="ko-KR" sz="1000" b="1" dirty="0"/>
              <a:t>docker images</a:t>
            </a:r>
          </a:p>
          <a:p>
            <a:r>
              <a:rPr lang="en-US" altLang="ko-KR" sz="1000" b="1" dirty="0"/>
              <a:t>docker tag </a:t>
            </a:r>
            <a:r>
              <a:rPr lang="en-US" altLang="ko-KR" sz="1000" b="1" dirty="0">
                <a:solidFill>
                  <a:srgbClr val="FF0000"/>
                </a:solidFill>
              </a:rPr>
              <a:t>a0daf20aefbb</a:t>
            </a:r>
            <a:r>
              <a:rPr lang="en-US" altLang="ko-KR" sz="1000" b="1" dirty="0"/>
              <a:t> knix008/kuard-shkwon-amd64:1.0</a:t>
            </a:r>
          </a:p>
          <a:p>
            <a:r>
              <a:rPr lang="en-US" altLang="ko-KR" sz="1000" b="1" dirty="0"/>
              <a:t>docker push knix008/kuard-shkwon-amd64:1.0</a:t>
            </a:r>
            <a:endParaRPr lang="ko-KR" altLang="en-US" sz="1000" b="1" dirty="0"/>
          </a:p>
        </p:txBody>
      </p:sp>
      <p:grpSp>
        <p:nvGrpSpPr>
          <p:cNvPr id="12" name="그룹 11">
            <a:extLst>
              <a:ext uri="{FF2B5EF4-FFF2-40B4-BE49-F238E27FC236}">
                <a16:creationId xmlns:a16="http://schemas.microsoft.com/office/drawing/2014/main" id="{914C67CD-FBB0-4B48-844A-C17199173CB2}"/>
              </a:ext>
            </a:extLst>
          </p:cNvPr>
          <p:cNvGrpSpPr/>
          <p:nvPr/>
        </p:nvGrpSpPr>
        <p:grpSpPr>
          <a:xfrm>
            <a:off x="2253035" y="3806299"/>
            <a:ext cx="7685930" cy="2305779"/>
            <a:chOff x="2253035" y="3806299"/>
            <a:chExt cx="7685930" cy="2305779"/>
          </a:xfrm>
        </p:grpSpPr>
        <p:pic>
          <p:nvPicPr>
            <p:cNvPr id="10" name="그림 9">
              <a:extLst>
                <a:ext uri="{FF2B5EF4-FFF2-40B4-BE49-F238E27FC236}">
                  <a16:creationId xmlns:a16="http://schemas.microsoft.com/office/drawing/2014/main" id="{1667301A-BA0F-4385-899E-749BAF78EA87}"/>
                </a:ext>
              </a:extLst>
            </p:cNvPr>
            <p:cNvPicPr>
              <a:picLocks noChangeAspect="1"/>
            </p:cNvPicPr>
            <p:nvPr/>
          </p:nvPicPr>
          <p:blipFill>
            <a:blip r:embed="rId2"/>
            <a:stretch>
              <a:fillRect/>
            </a:stretch>
          </p:blipFill>
          <p:spPr>
            <a:xfrm>
              <a:off x="2253035" y="3806299"/>
              <a:ext cx="7685930" cy="2305779"/>
            </a:xfrm>
            <a:prstGeom prst="rect">
              <a:avLst/>
            </a:prstGeom>
            <a:ln>
              <a:solidFill>
                <a:schemeClr val="bg1">
                  <a:lumMod val="50000"/>
                </a:schemeClr>
              </a:solidFill>
            </a:ln>
          </p:spPr>
        </p:pic>
        <p:sp>
          <p:nvSpPr>
            <p:cNvPr id="11" name="직사각형 10">
              <a:extLst>
                <a:ext uri="{FF2B5EF4-FFF2-40B4-BE49-F238E27FC236}">
                  <a16:creationId xmlns:a16="http://schemas.microsoft.com/office/drawing/2014/main" id="{C53AC94A-8893-4AA0-9170-878460DA4484}"/>
                </a:ext>
              </a:extLst>
            </p:cNvPr>
            <p:cNvSpPr/>
            <p:nvPr/>
          </p:nvSpPr>
          <p:spPr>
            <a:xfrm>
              <a:off x="2345635" y="4516341"/>
              <a:ext cx="2154803" cy="11671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TextBox 12">
            <a:extLst>
              <a:ext uri="{FF2B5EF4-FFF2-40B4-BE49-F238E27FC236}">
                <a16:creationId xmlns:a16="http://schemas.microsoft.com/office/drawing/2014/main" id="{A847A32D-0CB3-47E2-A781-7E345E3D88A2}"/>
              </a:ext>
            </a:extLst>
          </p:cNvPr>
          <p:cNvSpPr txBox="1"/>
          <p:nvPr/>
        </p:nvSpPr>
        <p:spPr>
          <a:xfrm>
            <a:off x="3384798" y="1743107"/>
            <a:ext cx="5430253" cy="707886"/>
          </a:xfrm>
          <a:prstGeom prst="rect">
            <a:avLst/>
          </a:prstGeom>
          <a:noFill/>
          <a:ln>
            <a:solidFill>
              <a:schemeClr val="bg1">
                <a:lumMod val="50000"/>
              </a:schemeClr>
            </a:solidFill>
          </a:ln>
        </p:spPr>
        <p:txBody>
          <a:bodyPr wrap="square" rtlCol="0">
            <a:spAutoFit/>
          </a:bodyPr>
          <a:lstStyle/>
          <a:p>
            <a:r>
              <a:rPr lang="en-US" altLang="ko-KR" sz="1000" b="1" dirty="0" err="1"/>
              <a:t>mkdir</a:t>
            </a:r>
            <a:r>
              <a:rPr lang="en-US" altLang="ko-KR" sz="1000" b="1" dirty="0"/>
              <a:t> </a:t>
            </a:r>
            <a:r>
              <a:rPr lang="en-US" altLang="ko-KR" sz="1000" b="1" dirty="0" err="1"/>
              <a:t>kuard</a:t>
            </a:r>
            <a:endParaRPr lang="en-US" altLang="ko-KR" sz="1000" b="1" dirty="0"/>
          </a:p>
          <a:p>
            <a:r>
              <a:rPr lang="en-US" altLang="ko-KR" sz="1000" b="1" dirty="0"/>
              <a:t>git clone </a:t>
            </a:r>
            <a:r>
              <a:rPr lang="en-US" altLang="ko-KR" sz="1000" b="1" dirty="0">
                <a:hlinkClick r:id="rId3"/>
              </a:rPr>
              <a:t>https://github.com/kubernetes-up-and-running/kuard.git</a:t>
            </a:r>
            <a:endParaRPr lang="en-US" altLang="ko-KR" sz="1000" b="1" dirty="0"/>
          </a:p>
          <a:p>
            <a:r>
              <a:rPr lang="en-US" altLang="ko-KR" sz="1000" b="1" dirty="0"/>
              <a:t>cd </a:t>
            </a:r>
            <a:r>
              <a:rPr lang="en-US" altLang="ko-KR" sz="1000" b="1" dirty="0" err="1"/>
              <a:t>kuard</a:t>
            </a:r>
            <a:endParaRPr lang="en-US" altLang="ko-KR" sz="1000" b="1" dirty="0"/>
          </a:p>
          <a:p>
            <a:r>
              <a:rPr lang="en-US" altLang="ko-KR" sz="1000" b="1" dirty="0"/>
              <a:t>docker build -t </a:t>
            </a:r>
            <a:r>
              <a:rPr lang="en-US" altLang="ko-KR" sz="1000" b="1" dirty="0" err="1"/>
              <a:t>kuard</a:t>
            </a:r>
            <a:r>
              <a:rPr lang="en-US" altLang="ko-KR" sz="1000" b="1" dirty="0"/>
              <a:t> . </a:t>
            </a:r>
            <a:endParaRPr lang="ko-KR" altLang="en-US" sz="1000" b="1" dirty="0"/>
          </a:p>
        </p:txBody>
      </p:sp>
    </p:spTree>
    <p:extLst>
      <p:ext uri="{BB962C8B-B14F-4D97-AF65-F5344CB8AC3E}">
        <p14:creationId xmlns:p14="http://schemas.microsoft.com/office/powerpoint/2010/main" val="9117883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Updating Deployments(4/13)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Updating a Container Image :</a:t>
            </a:r>
          </a:p>
          <a:p>
            <a:pPr lvl="1">
              <a:buFont typeface="Wingdings" panose="05000000000000000000" pitchFamily="2" charset="2"/>
              <a:buChar char="§"/>
            </a:pPr>
            <a:r>
              <a:rPr lang="en-US" altLang="ko-KR" sz="1400" dirty="0"/>
              <a:t>Again, you can </a:t>
            </a:r>
            <a:r>
              <a:rPr lang="en-US" altLang="ko-KR" sz="1400" b="1" dirty="0"/>
              <a:t>use “</a:t>
            </a:r>
            <a:r>
              <a:rPr lang="en-US" altLang="ko-KR" sz="1400" b="1" dirty="0" err="1"/>
              <a:t>kubectl</a:t>
            </a:r>
            <a:r>
              <a:rPr lang="en-US" altLang="ko-KR" sz="1400" b="1" dirty="0"/>
              <a:t> apply” command to update the deployment </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80</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B3BC03D9-9807-4C34-B00C-3064EE469B89}"/>
              </a:ext>
            </a:extLst>
          </p:cNvPr>
          <p:cNvGrpSpPr/>
          <p:nvPr/>
        </p:nvGrpSpPr>
        <p:grpSpPr>
          <a:xfrm>
            <a:off x="1867314" y="1471193"/>
            <a:ext cx="8457373" cy="4935955"/>
            <a:chOff x="1867314" y="1471193"/>
            <a:chExt cx="8457373" cy="4935955"/>
          </a:xfrm>
        </p:grpSpPr>
        <p:grpSp>
          <p:nvGrpSpPr>
            <p:cNvPr id="10" name="그룹 9">
              <a:extLst>
                <a:ext uri="{FF2B5EF4-FFF2-40B4-BE49-F238E27FC236}">
                  <a16:creationId xmlns:a16="http://schemas.microsoft.com/office/drawing/2014/main" id="{0D10044D-FD0D-4E41-88A9-3ACD48A25A14}"/>
                </a:ext>
              </a:extLst>
            </p:cNvPr>
            <p:cNvGrpSpPr/>
            <p:nvPr/>
          </p:nvGrpSpPr>
          <p:grpSpPr>
            <a:xfrm>
              <a:off x="1867314" y="1471193"/>
              <a:ext cx="8457373" cy="4935955"/>
              <a:chOff x="1867314" y="1471193"/>
              <a:chExt cx="8457373" cy="4935955"/>
            </a:xfrm>
          </p:grpSpPr>
          <p:sp>
            <p:nvSpPr>
              <p:cNvPr id="4" name="직사각형 3">
                <a:extLst>
                  <a:ext uri="{FF2B5EF4-FFF2-40B4-BE49-F238E27FC236}">
                    <a16:creationId xmlns:a16="http://schemas.microsoft.com/office/drawing/2014/main" id="{79714477-A819-428B-A02E-46585B879019}"/>
                  </a:ext>
                </a:extLst>
              </p:cNvPr>
              <p:cNvSpPr/>
              <p:nvPr/>
            </p:nvSpPr>
            <p:spPr>
              <a:xfrm>
                <a:off x="4476006" y="1471193"/>
                <a:ext cx="3239990"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apply -f </a:t>
                </a:r>
                <a:r>
                  <a:rPr lang="en-US" altLang="ko-KR" sz="1000" b="1" dirty="0" err="1">
                    <a:solidFill>
                      <a:srgbClr val="FF0000"/>
                    </a:solidFill>
                  </a:rPr>
                  <a:t>kuard</a:t>
                </a:r>
                <a:r>
                  <a:rPr lang="en-US" altLang="ko-KR" sz="1000" b="1" dirty="0">
                    <a:solidFill>
                      <a:srgbClr val="FF0000"/>
                    </a:solidFill>
                  </a:rPr>
                  <a:t>-deployment-</a:t>
                </a:r>
                <a:r>
                  <a:rPr lang="en-US" altLang="ko-KR" sz="1000" b="1" dirty="0" err="1">
                    <a:solidFill>
                      <a:srgbClr val="FF0000"/>
                    </a:solidFill>
                  </a:rPr>
                  <a:t>rollout.yaml</a:t>
                </a:r>
                <a:endParaRPr lang="ko-KR" altLang="en-US" sz="1000" b="1" dirty="0">
                  <a:solidFill>
                    <a:srgbClr val="FF0000"/>
                  </a:solidFill>
                </a:endParaRPr>
              </a:p>
            </p:txBody>
          </p:sp>
          <p:sp>
            <p:nvSpPr>
              <p:cNvPr id="8" name="화살표: 아래쪽 7">
                <a:extLst>
                  <a:ext uri="{FF2B5EF4-FFF2-40B4-BE49-F238E27FC236}">
                    <a16:creationId xmlns:a16="http://schemas.microsoft.com/office/drawing/2014/main" id="{31F3801F-388C-4855-B0CC-8387ACE833A3}"/>
                  </a:ext>
                </a:extLst>
              </p:cNvPr>
              <p:cNvSpPr/>
              <p:nvPr/>
            </p:nvSpPr>
            <p:spPr>
              <a:xfrm>
                <a:off x="5885290" y="1746415"/>
                <a:ext cx="421419" cy="254442"/>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A77FD03F-DF39-4884-A97E-7AB81945B092}"/>
                  </a:ext>
                </a:extLst>
              </p:cNvPr>
              <p:cNvPicPr>
                <a:picLocks noChangeAspect="1"/>
              </p:cNvPicPr>
              <p:nvPr/>
            </p:nvPicPr>
            <p:blipFill>
              <a:blip r:embed="rId2"/>
              <a:stretch>
                <a:fillRect/>
              </a:stretch>
            </p:blipFill>
            <p:spPr>
              <a:xfrm>
                <a:off x="1867314" y="2000857"/>
                <a:ext cx="8457373" cy="4406291"/>
              </a:xfrm>
              <a:prstGeom prst="rect">
                <a:avLst/>
              </a:prstGeom>
              <a:ln>
                <a:solidFill>
                  <a:schemeClr val="bg1">
                    <a:lumMod val="50000"/>
                  </a:schemeClr>
                </a:solidFill>
              </a:ln>
            </p:spPr>
          </p:pic>
        </p:grpSp>
        <p:sp>
          <p:nvSpPr>
            <p:cNvPr id="11" name="직사각형 10">
              <a:extLst>
                <a:ext uri="{FF2B5EF4-FFF2-40B4-BE49-F238E27FC236}">
                  <a16:creationId xmlns:a16="http://schemas.microsoft.com/office/drawing/2014/main" id="{5220112D-D390-46B9-8F20-069851298C7A}"/>
                </a:ext>
              </a:extLst>
            </p:cNvPr>
            <p:cNvSpPr/>
            <p:nvPr/>
          </p:nvSpPr>
          <p:spPr>
            <a:xfrm>
              <a:off x="5693134" y="3180522"/>
              <a:ext cx="3239990" cy="1828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14089252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Updating Deployments(5/13)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Updating a Container Image :</a:t>
            </a:r>
          </a:p>
          <a:p>
            <a:pPr lvl="1">
              <a:buFont typeface="Wingdings" panose="05000000000000000000" pitchFamily="2" charset="2"/>
              <a:buChar char="§"/>
            </a:pPr>
            <a:r>
              <a:rPr lang="en-US" altLang="ko-KR" sz="1400" dirty="0"/>
              <a:t>After you update the deployment it will trigger a “</a:t>
            </a:r>
            <a:r>
              <a:rPr lang="en-US" altLang="ko-KR" sz="1400" b="1" dirty="0"/>
              <a:t>rollout”</a:t>
            </a:r>
            <a:r>
              <a:rPr lang="en-US" altLang="ko-KR" sz="1400" dirty="0"/>
              <a:t>, which you can then </a:t>
            </a:r>
            <a:r>
              <a:rPr lang="en-US" altLang="ko-KR" sz="1400" b="1" dirty="0"/>
              <a:t>monitor via the “</a:t>
            </a:r>
            <a:r>
              <a:rPr lang="en-US" altLang="ko-KR" sz="1400" b="1" dirty="0" err="1"/>
              <a:t>kubectl</a:t>
            </a:r>
            <a:r>
              <a:rPr lang="en-US" altLang="ko-KR" sz="1400" b="1" dirty="0"/>
              <a:t> rollout” command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You can see the old and new </a:t>
            </a:r>
            <a:r>
              <a:rPr lang="en-US" altLang="ko-KR" sz="1400" b="1" dirty="0" err="1"/>
              <a:t>ReplicaSets</a:t>
            </a:r>
            <a:r>
              <a:rPr lang="en-US" altLang="ko-KR" sz="1400" b="1" dirty="0"/>
              <a:t> managed by the deployment along with the images being used</a:t>
            </a:r>
            <a:r>
              <a:rPr lang="en-US" altLang="ko-KR" sz="1400" dirty="0"/>
              <a:t>. Both the old and new </a:t>
            </a:r>
            <a:r>
              <a:rPr lang="en-US" altLang="ko-KR" sz="1400" dirty="0" err="1"/>
              <a:t>ReplicaSets</a:t>
            </a:r>
            <a:r>
              <a:rPr lang="en-US" altLang="ko-KR" sz="1400" dirty="0"/>
              <a:t> are kept around in case you want to </a:t>
            </a:r>
            <a:r>
              <a:rPr lang="en-US" altLang="ko-KR" sz="1400" b="1" dirty="0"/>
              <a:t>roll back</a:t>
            </a:r>
            <a:r>
              <a:rPr lang="en-US" altLang="ko-KR" sz="1400" dirty="0"/>
              <a:t>:</a:t>
            </a:r>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81</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13" name="직사각형 12">
            <a:extLst>
              <a:ext uri="{FF2B5EF4-FFF2-40B4-BE49-F238E27FC236}">
                <a16:creationId xmlns:a16="http://schemas.microsoft.com/office/drawing/2014/main" id="{DBF95C5C-DD28-4403-99A0-70718D7DAA6D}"/>
              </a:ext>
            </a:extLst>
          </p:cNvPr>
          <p:cNvSpPr/>
          <p:nvPr/>
        </p:nvSpPr>
        <p:spPr>
          <a:xfrm>
            <a:off x="4673976" y="1566608"/>
            <a:ext cx="2844048" cy="246221"/>
          </a:xfrm>
          <a:prstGeom prst="rect">
            <a:avLst/>
          </a:prstGeom>
          <a:ln>
            <a:solidFill>
              <a:schemeClr val="bg1">
                <a:lumMod val="50000"/>
              </a:schemeClr>
            </a:solidFill>
          </a:ln>
        </p:spPr>
        <p:txBody>
          <a:bodyPr wrap="none">
            <a:spAutoFit/>
          </a:bodyPr>
          <a:lstStyle/>
          <a:p>
            <a:r>
              <a:rPr lang="en-US" altLang="ko-KR" sz="1000" b="1" dirty="0"/>
              <a:t>$ </a:t>
            </a:r>
            <a:r>
              <a:rPr lang="en-US" altLang="ko-KR" sz="1000" b="1" dirty="0" err="1"/>
              <a:t>kubectl</a:t>
            </a:r>
            <a:r>
              <a:rPr lang="en-US" altLang="ko-KR" sz="1000" b="1" dirty="0"/>
              <a:t> </a:t>
            </a:r>
            <a:r>
              <a:rPr lang="en-US" altLang="ko-KR" sz="1000" b="1" dirty="0">
                <a:solidFill>
                  <a:srgbClr val="FF0000"/>
                </a:solidFill>
              </a:rPr>
              <a:t>rollout status </a:t>
            </a:r>
            <a:r>
              <a:rPr lang="en-US" altLang="ko-KR" sz="1000" b="1" dirty="0"/>
              <a:t>deployments </a:t>
            </a:r>
            <a:r>
              <a:rPr lang="en-US" altLang="ko-KR" sz="1000" b="1" dirty="0" err="1">
                <a:solidFill>
                  <a:srgbClr val="FF0000"/>
                </a:solidFill>
              </a:rPr>
              <a:t>kuard</a:t>
            </a:r>
            <a:endParaRPr lang="ko-KR" altLang="en-US" sz="1000" b="1" dirty="0">
              <a:solidFill>
                <a:srgbClr val="FF0000"/>
              </a:solidFill>
            </a:endParaRPr>
          </a:p>
        </p:txBody>
      </p:sp>
      <p:grpSp>
        <p:nvGrpSpPr>
          <p:cNvPr id="17" name="그룹 16">
            <a:extLst>
              <a:ext uri="{FF2B5EF4-FFF2-40B4-BE49-F238E27FC236}">
                <a16:creationId xmlns:a16="http://schemas.microsoft.com/office/drawing/2014/main" id="{54EC33C9-07A3-444A-ADD9-1990BBF9CCB1}"/>
              </a:ext>
            </a:extLst>
          </p:cNvPr>
          <p:cNvGrpSpPr/>
          <p:nvPr/>
        </p:nvGrpSpPr>
        <p:grpSpPr>
          <a:xfrm>
            <a:off x="1010871" y="2732916"/>
            <a:ext cx="10170256" cy="2265572"/>
            <a:chOff x="1010871" y="2732916"/>
            <a:chExt cx="10170256" cy="2265572"/>
          </a:xfrm>
        </p:grpSpPr>
        <p:sp>
          <p:nvSpPr>
            <p:cNvPr id="14" name="직사각형 13">
              <a:extLst>
                <a:ext uri="{FF2B5EF4-FFF2-40B4-BE49-F238E27FC236}">
                  <a16:creationId xmlns:a16="http://schemas.microsoft.com/office/drawing/2014/main" id="{FDB67D40-CB60-4817-83A2-93ECF668BDD3}"/>
                </a:ext>
              </a:extLst>
            </p:cNvPr>
            <p:cNvSpPr/>
            <p:nvPr/>
          </p:nvSpPr>
          <p:spPr>
            <a:xfrm>
              <a:off x="4673976" y="2732916"/>
              <a:ext cx="2844048"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t>
              </a:r>
              <a:r>
                <a:rPr lang="en-US" altLang="ko-KR" sz="1000" b="1" dirty="0">
                  <a:solidFill>
                    <a:srgbClr val="FF0000"/>
                  </a:solidFill>
                </a:rPr>
                <a:t>get </a:t>
              </a:r>
              <a:r>
                <a:rPr lang="en-US" altLang="ko-KR" sz="1000" b="1" dirty="0" err="1">
                  <a:solidFill>
                    <a:srgbClr val="FF0000"/>
                  </a:solidFill>
                </a:rPr>
                <a:t>replicasets</a:t>
              </a:r>
              <a:r>
                <a:rPr lang="en-US" altLang="ko-KR" sz="1000" b="1" dirty="0">
                  <a:solidFill>
                    <a:srgbClr val="FF0000"/>
                  </a:solidFill>
                </a:rPr>
                <a:t> </a:t>
              </a:r>
              <a:r>
                <a:rPr lang="en-US" altLang="ko-KR" sz="1000" b="1" dirty="0"/>
                <a:t>-o wide</a:t>
              </a:r>
              <a:endParaRPr lang="ko-KR" altLang="en-US" sz="1000" b="1" dirty="0"/>
            </a:p>
          </p:txBody>
        </p:sp>
        <p:pic>
          <p:nvPicPr>
            <p:cNvPr id="15" name="그림 14">
              <a:extLst>
                <a:ext uri="{FF2B5EF4-FFF2-40B4-BE49-F238E27FC236}">
                  <a16:creationId xmlns:a16="http://schemas.microsoft.com/office/drawing/2014/main" id="{13CCDD9D-10B9-445F-8270-BF9AE47918E4}"/>
                </a:ext>
              </a:extLst>
            </p:cNvPr>
            <p:cNvPicPr>
              <a:picLocks noChangeAspect="1"/>
            </p:cNvPicPr>
            <p:nvPr/>
          </p:nvPicPr>
          <p:blipFill>
            <a:blip r:embed="rId2"/>
            <a:stretch>
              <a:fillRect/>
            </a:stretch>
          </p:blipFill>
          <p:spPr>
            <a:xfrm>
              <a:off x="1010871" y="3257793"/>
              <a:ext cx="10170256" cy="1740695"/>
            </a:xfrm>
            <a:prstGeom prst="rect">
              <a:avLst/>
            </a:prstGeom>
          </p:spPr>
        </p:pic>
        <p:sp>
          <p:nvSpPr>
            <p:cNvPr id="16" name="화살표: 아래쪽 15">
              <a:extLst>
                <a:ext uri="{FF2B5EF4-FFF2-40B4-BE49-F238E27FC236}">
                  <a16:creationId xmlns:a16="http://schemas.microsoft.com/office/drawing/2014/main" id="{4F784E43-D447-4281-B716-D596ECFAB547}"/>
                </a:ext>
              </a:extLst>
            </p:cNvPr>
            <p:cNvSpPr/>
            <p:nvPr/>
          </p:nvSpPr>
          <p:spPr>
            <a:xfrm>
              <a:off x="5921071" y="3011572"/>
              <a:ext cx="349857"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77113625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Updating Deployments(6/13)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Updating a Container Image :</a:t>
            </a:r>
          </a:p>
          <a:p>
            <a:pPr lvl="1">
              <a:buFont typeface="Wingdings" panose="05000000000000000000" pitchFamily="2" charset="2"/>
              <a:buChar char="§"/>
            </a:pPr>
            <a:r>
              <a:rPr lang="en-US" altLang="ko-KR" sz="1400" b="1" dirty="0"/>
              <a:t>If you are in the middle of a rollout and you want to temporarily pause it for some reason </a:t>
            </a:r>
            <a:r>
              <a:rPr lang="en-US" altLang="ko-KR" sz="1400" dirty="0"/>
              <a:t>(e.g., if you start seeing weird behavior in your system and you want to investigate), </a:t>
            </a:r>
            <a:r>
              <a:rPr lang="en-US" altLang="ko-KR" sz="1400" b="1" dirty="0"/>
              <a:t>you can use the “</a:t>
            </a:r>
            <a:r>
              <a:rPr lang="en-US" altLang="ko-KR" sz="1400" b="1" dirty="0">
                <a:solidFill>
                  <a:srgbClr val="FF0000"/>
                </a:solidFill>
              </a:rPr>
              <a:t>pause</a:t>
            </a:r>
            <a:r>
              <a:rPr lang="en-US" altLang="ko-KR" sz="1400" b="1" dirty="0"/>
              <a:t>” command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If, after investigation, you believe the rollout can safely proceed, you can </a:t>
            </a:r>
            <a:r>
              <a:rPr lang="en-US" altLang="ko-KR" sz="1400" b="1" dirty="0"/>
              <a:t>use the “</a:t>
            </a:r>
            <a:r>
              <a:rPr lang="en-US" altLang="ko-KR" sz="1400" b="1" dirty="0">
                <a:solidFill>
                  <a:srgbClr val="FF0000"/>
                </a:solidFill>
              </a:rPr>
              <a:t>resume</a:t>
            </a:r>
            <a:r>
              <a:rPr lang="en-US" altLang="ko-KR" sz="1400" b="1" dirty="0"/>
              <a:t>” command to start up where you left off</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82</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A9D2AFB5-837C-44A3-9BA6-01D4A0BEA634}"/>
              </a:ext>
            </a:extLst>
          </p:cNvPr>
          <p:cNvSpPr/>
          <p:nvPr/>
        </p:nvSpPr>
        <p:spPr>
          <a:xfrm>
            <a:off x="4633099" y="1669976"/>
            <a:ext cx="2925800"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rollout</a:t>
            </a:r>
            <a:r>
              <a:rPr lang="en-US" altLang="ko-KR" sz="1000" b="1" dirty="0">
                <a:solidFill>
                  <a:srgbClr val="FF0000"/>
                </a:solidFill>
              </a:rPr>
              <a:t> pause </a:t>
            </a:r>
            <a:r>
              <a:rPr lang="en-US" altLang="ko-KR" sz="1000" b="1" dirty="0"/>
              <a:t>deployments </a:t>
            </a:r>
            <a:r>
              <a:rPr lang="en-US" altLang="ko-KR" sz="1000" b="1" dirty="0" err="1">
                <a:solidFill>
                  <a:srgbClr val="FF0000"/>
                </a:solidFill>
              </a:rPr>
              <a:t>kuard</a:t>
            </a:r>
            <a:endParaRPr lang="ko-KR" altLang="en-US" sz="1000" b="1" dirty="0">
              <a:solidFill>
                <a:srgbClr val="FF0000"/>
              </a:solidFill>
            </a:endParaRPr>
          </a:p>
        </p:txBody>
      </p:sp>
      <p:grpSp>
        <p:nvGrpSpPr>
          <p:cNvPr id="11" name="그룹 10">
            <a:extLst>
              <a:ext uri="{FF2B5EF4-FFF2-40B4-BE49-F238E27FC236}">
                <a16:creationId xmlns:a16="http://schemas.microsoft.com/office/drawing/2014/main" id="{766DF2C4-EA09-4335-A265-87C48348E321}"/>
              </a:ext>
            </a:extLst>
          </p:cNvPr>
          <p:cNvGrpSpPr/>
          <p:nvPr/>
        </p:nvGrpSpPr>
        <p:grpSpPr>
          <a:xfrm>
            <a:off x="1943098" y="2614401"/>
            <a:ext cx="8305800" cy="2368416"/>
            <a:chOff x="1943098" y="2614401"/>
            <a:chExt cx="8305800" cy="2368416"/>
          </a:xfrm>
        </p:grpSpPr>
        <p:sp>
          <p:nvSpPr>
            <p:cNvPr id="8" name="직사각형 7">
              <a:extLst>
                <a:ext uri="{FF2B5EF4-FFF2-40B4-BE49-F238E27FC236}">
                  <a16:creationId xmlns:a16="http://schemas.microsoft.com/office/drawing/2014/main" id="{C272F463-BC6D-4441-975E-405E2FFAD4BC}"/>
                </a:ext>
              </a:extLst>
            </p:cNvPr>
            <p:cNvSpPr/>
            <p:nvPr/>
          </p:nvSpPr>
          <p:spPr>
            <a:xfrm>
              <a:off x="4633098" y="2614401"/>
              <a:ext cx="2925801"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rollout </a:t>
              </a:r>
              <a:r>
                <a:rPr lang="en-US" altLang="ko-KR" sz="1000" b="1" dirty="0">
                  <a:solidFill>
                    <a:srgbClr val="FF0000"/>
                  </a:solidFill>
                </a:rPr>
                <a:t>resume</a:t>
              </a:r>
              <a:r>
                <a:rPr lang="en-US" altLang="ko-KR" sz="1000" b="1" dirty="0"/>
                <a:t> deployments </a:t>
              </a:r>
              <a:r>
                <a:rPr lang="en-US" altLang="ko-KR" sz="1000" b="1" dirty="0" err="1">
                  <a:solidFill>
                    <a:srgbClr val="FF0000"/>
                  </a:solidFill>
                </a:rPr>
                <a:t>kuard</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54D915B6-4021-42E8-B0C0-DB281F5BFA8C}"/>
                </a:ext>
              </a:extLst>
            </p:cNvPr>
            <p:cNvSpPr/>
            <p:nvPr/>
          </p:nvSpPr>
          <p:spPr>
            <a:xfrm>
              <a:off x="5899865" y="2893734"/>
              <a:ext cx="392266"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0" name="그림 9">
              <a:extLst>
                <a:ext uri="{FF2B5EF4-FFF2-40B4-BE49-F238E27FC236}">
                  <a16:creationId xmlns:a16="http://schemas.microsoft.com/office/drawing/2014/main" id="{F866FAAD-80DB-44AC-ACC9-5D40AD8DFFC0}"/>
                </a:ext>
              </a:extLst>
            </p:cNvPr>
            <p:cNvPicPr>
              <a:picLocks noChangeAspect="1"/>
            </p:cNvPicPr>
            <p:nvPr/>
          </p:nvPicPr>
          <p:blipFill>
            <a:blip r:embed="rId2"/>
            <a:stretch>
              <a:fillRect/>
            </a:stretch>
          </p:blipFill>
          <p:spPr>
            <a:xfrm>
              <a:off x="1943098" y="3173067"/>
              <a:ext cx="8305800" cy="1809750"/>
            </a:xfrm>
            <a:prstGeom prst="rect">
              <a:avLst/>
            </a:prstGeom>
            <a:ln>
              <a:solidFill>
                <a:schemeClr val="bg1">
                  <a:lumMod val="50000"/>
                </a:schemeClr>
              </a:solidFill>
            </a:ln>
          </p:spPr>
        </p:pic>
      </p:grpSp>
    </p:spTree>
    <p:extLst>
      <p:ext uri="{BB962C8B-B14F-4D97-AF65-F5344CB8AC3E}">
        <p14:creationId xmlns:p14="http://schemas.microsoft.com/office/powerpoint/2010/main" val="182544255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Updating Deployments(7/13)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Rollout History :</a:t>
            </a:r>
          </a:p>
          <a:p>
            <a:pPr lvl="1">
              <a:buFont typeface="Wingdings" panose="05000000000000000000" pitchFamily="2" charset="2"/>
              <a:buChar char="§"/>
            </a:pPr>
            <a:r>
              <a:rPr lang="en-US" altLang="ko-KR" sz="1400" b="1" dirty="0"/>
              <a:t>Kubernetes deployments maintain a history of rollouts</a:t>
            </a:r>
            <a:r>
              <a:rPr lang="en-US" altLang="ko-KR" sz="1400" dirty="0"/>
              <a:t>, which can be useful both for understanding the previous state of the deployment and to roll back to a specific version.</a:t>
            </a:r>
          </a:p>
          <a:p>
            <a:pPr lvl="1">
              <a:buFont typeface="Wingdings" panose="05000000000000000000" pitchFamily="2" charset="2"/>
              <a:buChar char="§"/>
            </a:pPr>
            <a:r>
              <a:rPr lang="en-US" altLang="ko-KR" sz="1400" dirty="0"/>
              <a:t>You can see the deployment history by running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The revision history is given in oldest to newest order</a:t>
            </a:r>
            <a:r>
              <a:rPr lang="en-US" altLang="ko-KR" sz="1400" dirty="0"/>
              <a:t>. A </a:t>
            </a:r>
            <a:r>
              <a:rPr lang="en-US" altLang="ko-KR" sz="1400" b="1" dirty="0"/>
              <a:t>unique revision number </a:t>
            </a:r>
            <a:r>
              <a:rPr lang="en-US" altLang="ko-KR" sz="1400" dirty="0"/>
              <a:t>is incremented for each new rollout. So far we have two: the initial deployment, and the update of the image to “</a:t>
            </a:r>
            <a:r>
              <a:rPr lang="en-US" altLang="ko-KR" sz="1400" b="1" dirty="0"/>
              <a:t>kuard:2.0</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83</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A4A4C215-DAE1-44AC-8D46-2A1A08D5835D}"/>
              </a:ext>
            </a:extLst>
          </p:cNvPr>
          <p:cNvGrpSpPr/>
          <p:nvPr/>
        </p:nvGrpSpPr>
        <p:grpSpPr>
          <a:xfrm>
            <a:off x="1943100" y="1940320"/>
            <a:ext cx="8305800" cy="2441180"/>
            <a:chOff x="1943100" y="1940320"/>
            <a:chExt cx="8305800" cy="2441180"/>
          </a:xfrm>
        </p:grpSpPr>
        <p:grpSp>
          <p:nvGrpSpPr>
            <p:cNvPr id="10" name="그룹 9">
              <a:extLst>
                <a:ext uri="{FF2B5EF4-FFF2-40B4-BE49-F238E27FC236}">
                  <a16:creationId xmlns:a16="http://schemas.microsoft.com/office/drawing/2014/main" id="{A30558E5-8BCF-4C47-B912-98BFB0AA76EA}"/>
                </a:ext>
              </a:extLst>
            </p:cNvPr>
            <p:cNvGrpSpPr/>
            <p:nvPr/>
          </p:nvGrpSpPr>
          <p:grpSpPr>
            <a:xfrm>
              <a:off x="1943100" y="1940320"/>
              <a:ext cx="8305800" cy="2441180"/>
              <a:chOff x="1943100" y="1940320"/>
              <a:chExt cx="8305800" cy="2441180"/>
            </a:xfrm>
          </p:grpSpPr>
          <p:sp>
            <p:nvSpPr>
              <p:cNvPr id="4" name="직사각형 3">
                <a:extLst>
                  <a:ext uri="{FF2B5EF4-FFF2-40B4-BE49-F238E27FC236}">
                    <a16:creationId xmlns:a16="http://schemas.microsoft.com/office/drawing/2014/main" id="{FAB82866-4BEF-4B28-8123-64D7973030D2}"/>
                  </a:ext>
                </a:extLst>
              </p:cNvPr>
              <p:cNvSpPr/>
              <p:nvPr/>
            </p:nvSpPr>
            <p:spPr>
              <a:xfrm>
                <a:off x="4675579" y="1940320"/>
                <a:ext cx="2840841"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a:t>
                </a:r>
                <a:r>
                  <a:rPr lang="en-US" altLang="ko-KR" sz="1000" b="1" dirty="0">
                    <a:solidFill>
                      <a:srgbClr val="FF0000"/>
                    </a:solidFill>
                  </a:rPr>
                  <a:t>rollout history </a:t>
                </a:r>
                <a:r>
                  <a:rPr lang="en-US" altLang="ko-KR" sz="1000" b="1" dirty="0"/>
                  <a:t>deployment </a:t>
                </a:r>
                <a:r>
                  <a:rPr lang="en-US" altLang="ko-KR" sz="1000" b="1" dirty="0" err="1">
                    <a:solidFill>
                      <a:srgbClr val="FF0000"/>
                    </a:solidFill>
                  </a:rPr>
                  <a:t>kuard</a:t>
                </a:r>
                <a:endParaRPr lang="ko-KR" altLang="en-US" sz="1000" b="1" dirty="0">
                  <a:solidFill>
                    <a:srgbClr val="FF0000"/>
                  </a:solidFill>
                </a:endParaRPr>
              </a:p>
            </p:txBody>
          </p:sp>
          <p:pic>
            <p:nvPicPr>
              <p:cNvPr id="8" name="그림 7">
                <a:extLst>
                  <a:ext uri="{FF2B5EF4-FFF2-40B4-BE49-F238E27FC236}">
                    <a16:creationId xmlns:a16="http://schemas.microsoft.com/office/drawing/2014/main" id="{7DA5B3C1-C3F9-494F-B7D7-F57297269311}"/>
                  </a:ext>
                </a:extLst>
              </p:cNvPr>
              <p:cNvPicPr>
                <a:picLocks noChangeAspect="1"/>
              </p:cNvPicPr>
              <p:nvPr/>
            </p:nvPicPr>
            <p:blipFill>
              <a:blip r:embed="rId2"/>
              <a:stretch>
                <a:fillRect/>
              </a:stretch>
            </p:blipFill>
            <p:spPr>
              <a:xfrm>
                <a:off x="1943100" y="2476500"/>
                <a:ext cx="8305800" cy="1905000"/>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4CF712EA-2F7B-4C1B-B7EC-34C1C25F2274}"/>
                  </a:ext>
                </a:extLst>
              </p:cNvPr>
              <p:cNvSpPr/>
              <p:nvPr/>
            </p:nvSpPr>
            <p:spPr>
              <a:xfrm>
                <a:off x="5931673" y="2206937"/>
                <a:ext cx="349857"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75B4BAC4-6864-45BE-A745-FA422935EC08}"/>
                </a:ext>
              </a:extLst>
            </p:cNvPr>
            <p:cNvSpPr/>
            <p:nvPr/>
          </p:nvSpPr>
          <p:spPr>
            <a:xfrm>
              <a:off x="2083242" y="3673503"/>
              <a:ext cx="2289975" cy="15902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04116812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Updating Deployments(8/13)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Rollout History :</a:t>
            </a:r>
          </a:p>
          <a:p>
            <a:pPr lvl="1">
              <a:buFont typeface="Wingdings" panose="05000000000000000000" pitchFamily="2" charset="2"/>
              <a:buChar char="§"/>
            </a:pPr>
            <a:r>
              <a:rPr lang="en-US" altLang="ko-KR" sz="1400" b="1" dirty="0"/>
              <a:t>If you are interested in more details about a particular revision, you can add the “</a:t>
            </a:r>
            <a:r>
              <a:rPr lang="en-US" altLang="ko-KR" sz="1400" b="1" dirty="0">
                <a:solidFill>
                  <a:srgbClr val="FF0000"/>
                </a:solidFill>
              </a:rPr>
              <a:t>--revision</a:t>
            </a:r>
            <a:r>
              <a:rPr lang="en-US" altLang="ko-KR" sz="1400" b="1" dirty="0"/>
              <a:t>” flag </a:t>
            </a:r>
            <a:r>
              <a:rPr lang="en-US" altLang="ko-KR" sz="1400" dirty="0"/>
              <a:t>to view details about that specific revision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84</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2E0F21B1-E6D2-47EA-AFD9-C24747D360F7}"/>
              </a:ext>
            </a:extLst>
          </p:cNvPr>
          <p:cNvGrpSpPr/>
          <p:nvPr/>
        </p:nvGrpSpPr>
        <p:grpSpPr>
          <a:xfrm>
            <a:off x="1681162" y="1725635"/>
            <a:ext cx="8829675" cy="3885486"/>
            <a:chOff x="1681162" y="1725635"/>
            <a:chExt cx="8829675" cy="3885486"/>
          </a:xfrm>
        </p:grpSpPr>
        <p:grpSp>
          <p:nvGrpSpPr>
            <p:cNvPr id="10" name="그룹 9">
              <a:extLst>
                <a:ext uri="{FF2B5EF4-FFF2-40B4-BE49-F238E27FC236}">
                  <a16:creationId xmlns:a16="http://schemas.microsoft.com/office/drawing/2014/main" id="{BC60B33C-391C-4886-9EEB-5C8692452888}"/>
                </a:ext>
              </a:extLst>
            </p:cNvPr>
            <p:cNvGrpSpPr/>
            <p:nvPr/>
          </p:nvGrpSpPr>
          <p:grpSpPr>
            <a:xfrm>
              <a:off x="1681162" y="1725635"/>
              <a:ext cx="8829675" cy="3885486"/>
              <a:chOff x="1681162" y="1725635"/>
              <a:chExt cx="8829675" cy="3885486"/>
            </a:xfrm>
          </p:grpSpPr>
          <p:sp>
            <p:nvSpPr>
              <p:cNvPr id="4" name="직사각형 3">
                <a:extLst>
                  <a:ext uri="{FF2B5EF4-FFF2-40B4-BE49-F238E27FC236}">
                    <a16:creationId xmlns:a16="http://schemas.microsoft.com/office/drawing/2014/main" id="{1DD71203-EBD6-4111-BBEF-D98BC77D418D}"/>
                  </a:ext>
                </a:extLst>
              </p:cNvPr>
              <p:cNvSpPr/>
              <p:nvPr/>
            </p:nvSpPr>
            <p:spPr>
              <a:xfrm>
                <a:off x="4278034" y="1725635"/>
                <a:ext cx="3635932"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rollout history deployment </a:t>
                </a:r>
                <a:r>
                  <a:rPr lang="en-US" altLang="ko-KR" sz="1000" b="1" dirty="0" err="1"/>
                  <a:t>kuard</a:t>
                </a:r>
                <a:r>
                  <a:rPr lang="en-US" altLang="ko-KR" sz="1000" b="1" dirty="0"/>
                  <a:t> </a:t>
                </a:r>
                <a:r>
                  <a:rPr lang="en-US" altLang="ko-KR" sz="1000" b="1" dirty="0">
                    <a:solidFill>
                      <a:srgbClr val="FF0000"/>
                    </a:solidFill>
                  </a:rPr>
                  <a:t>--revision=2</a:t>
                </a:r>
                <a:endParaRPr lang="ko-KR" altLang="en-US" sz="1000" b="1" dirty="0">
                  <a:solidFill>
                    <a:srgbClr val="FF0000"/>
                  </a:solidFill>
                </a:endParaRPr>
              </a:p>
            </p:txBody>
          </p:sp>
          <p:sp>
            <p:nvSpPr>
              <p:cNvPr id="8" name="화살표: 아래쪽 7">
                <a:extLst>
                  <a:ext uri="{FF2B5EF4-FFF2-40B4-BE49-F238E27FC236}">
                    <a16:creationId xmlns:a16="http://schemas.microsoft.com/office/drawing/2014/main" id="{332B9A53-32E0-471B-916E-C95425D60A8C}"/>
                  </a:ext>
                </a:extLst>
              </p:cNvPr>
              <p:cNvSpPr/>
              <p:nvPr/>
            </p:nvSpPr>
            <p:spPr>
              <a:xfrm>
                <a:off x="5905169" y="2003729"/>
                <a:ext cx="381662" cy="270344"/>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95E09AEB-481F-4AFC-84D5-BF32B6BF36A9}"/>
                  </a:ext>
                </a:extLst>
              </p:cNvPr>
              <p:cNvPicPr>
                <a:picLocks noChangeAspect="1"/>
              </p:cNvPicPr>
              <p:nvPr/>
            </p:nvPicPr>
            <p:blipFill>
              <a:blip r:embed="rId2"/>
              <a:stretch>
                <a:fillRect/>
              </a:stretch>
            </p:blipFill>
            <p:spPr>
              <a:xfrm>
                <a:off x="1681162" y="2305946"/>
                <a:ext cx="8829675" cy="3305175"/>
              </a:xfrm>
              <a:prstGeom prst="rect">
                <a:avLst/>
              </a:prstGeom>
              <a:ln>
                <a:solidFill>
                  <a:schemeClr val="bg1">
                    <a:lumMod val="50000"/>
                  </a:schemeClr>
                </a:solidFill>
              </a:ln>
            </p:spPr>
          </p:pic>
        </p:grpSp>
        <p:sp>
          <p:nvSpPr>
            <p:cNvPr id="11" name="직사각형 10">
              <a:extLst>
                <a:ext uri="{FF2B5EF4-FFF2-40B4-BE49-F238E27FC236}">
                  <a16:creationId xmlns:a16="http://schemas.microsoft.com/office/drawing/2014/main" id="{9B45D6A6-8899-440C-931E-E6C6C56EE86B}"/>
                </a:ext>
              </a:extLst>
            </p:cNvPr>
            <p:cNvSpPr/>
            <p:nvPr/>
          </p:nvSpPr>
          <p:spPr>
            <a:xfrm>
              <a:off x="1844703" y="3013544"/>
              <a:ext cx="2941982" cy="16697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23A25E4D-8279-4C0C-8B48-3312C8BDC065}"/>
                </a:ext>
              </a:extLst>
            </p:cNvPr>
            <p:cNvSpPr/>
            <p:nvPr/>
          </p:nvSpPr>
          <p:spPr>
            <a:xfrm>
              <a:off x="1844702" y="3667011"/>
              <a:ext cx="4834393" cy="16697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ADF7F6AE-2E44-4B1F-9964-F39B04877C9B}"/>
                </a:ext>
              </a:extLst>
            </p:cNvPr>
            <p:cNvSpPr/>
            <p:nvPr/>
          </p:nvSpPr>
          <p:spPr>
            <a:xfrm>
              <a:off x="1844701" y="4168078"/>
              <a:ext cx="3586039" cy="16697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54205192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Updating Deployments(9/13)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Rollout History :</a:t>
            </a:r>
          </a:p>
          <a:p>
            <a:pPr lvl="1">
              <a:buFont typeface="Wingdings" panose="05000000000000000000" pitchFamily="2" charset="2"/>
              <a:buChar char="§"/>
            </a:pPr>
            <a:r>
              <a:rPr lang="en-US" altLang="ko-KR" sz="1400" b="1" dirty="0"/>
              <a:t>Let’s do one more update for this example</a:t>
            </a:r>
            <a:r>
              <a:rPr lang="en-US" altLang="ko-KR" sz="1400" dirty="0"/>
              <a:t>. Update the “</a:t>
            </a:r>
            <a:r>
              <a:rPr lang="en-US" altLang="ko-KR" sz="1400" b="1" dirty="0" err="1"/>
              <a:t>kuard</a:t>
            </a:r>
            <a:r>
              <a:rPr lang="en-US" altLang="ko-KR" sz="1400" dirty="0"/>
              <a:t>” version back to “</a:t>
            </a:r>
            <a:r>
              <a:rPr lang="en-US" altLang="ko-KR" sz="1400" b="1" dirty="0"/>
              <a:t>1.0</a:t>
            </a:r>
            <a:r>
              <a:rPr lang="en-US" altLang="ko-KR" sz="1400" dirty="0"/>
              <a:t>” by </a:t>
            </a:r>
            <a:r>
              <a:rPr lang="en-US" altLang="ko-KR" sz="1400" b="1" dirty="0"/>
              <a:t>modifying the container version number</a:t>
            </a:r>
            <a:r>
              <a:rPr lang="en-US" altLang="ko-KR" sz="1400" dirty="0"/>
              <a:t> and </a:t>
            </a:r>
            <a:r>
              <a:rPr lang="en-US" altLang="ko-KR" sz="1400" b="1" dirty="0"/>
              <a:t>updating the “change-cause annotation”</a:t>
            </a:r>
            <a:r>
              <a:rPr lang="en-US" altLang="ko-KR" sz="1400" dirty="0"/>
              <a:t>. Apply it with “</a:t>
            </a:r>
            <a:r>
              <a:rPr lang="en-US" altLang="ko-KR" sz="1400" b="1" dirty="0" err="1"/>
              <a:t>kubectl</a:t>
            </a:r>
            <a:r>
              <a:rPr lang="en-US" altLang="ko-KR" sz="1400" b="1" dirty="0"/>
              <a:t> apply -f</a:t>
            </a:r>
            <a:r>
              <a:rPr lang="en-US" altLang="ko-KR" sz="1400" dirty="0"/>
              <a:t>” command. Our history should now have three entries :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85</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556EE14E-3152-4689-9F63-9F560A9B60C0}"/>
              </a:ext>
            </a:extLst>
          </p:cNvPr>
          <p:cNvGrpSpPr/>
          <p:nvPr/>
        </p:nvGrpSpPr>
        <p:grpSpPr>
          <a:xfrm>
            <a:off x="1333500" y="2003931"/>
            <a:ext cx="9525000" cy="3617806"/>
            <a:chOff x="1333499" y="1868759"/>
            <a:chExt cx="9525000" cy="3617806"/>
          </a:xfrm>
        </p:grpSpPr>
        <p:grpSp>
          <p:nvGrpSpPr>
            <p:cNvPr id="10" name="그룹 9">
              <a:extLst>
                <a:ext uri="{FF2B5EF4-FFF2-40B4-BE49-F238E27FC236}">
                  <a16:creationId xmlns:a16="http://schemas.microsoft.com/office/drawing/2014/main" id="{82F74D6E-1AD2-49F5-8E1C-EF31DEC23BE7}"/>
                </a:ext>
              </a:extLst>
            </p:cNvPr>
            <p:cNvGrpSpPr/>
            <p:nvPr/>
          </p:nvGrpSpPr>
          <p:grpSpPr>
            <a:xfrm>
              <a:off x="1333499" y="1868759"/>
              <a:ext cx="9525000" cy="3617806"/>
              <a:chOff x="1333499" y="1868759"/>
              <a:chExt cx="9525000" cy="3617806"/>
            </a:xfrm>
          </p:grpSpPr>
          <p:sp>
            <p:nvSpPr>
              <p:cNvPr id="4" name="직사각형 3">
                <a:extLst>
                  <a:ext uri="{FF2B5EF4-FFF2-40B4-BE49-F238E27FC236}">
                    <a16:creationId xmlns:a16="http://schemas.microsoft.com/office/drawing/2014/main" id="{DCBD4F01-BCF9-4A29-BA73-B26F54F56F01}"/>
                  </a:ext>
                </a:extLst>
              </p:cNvPr>
              <p:cNvSpPr/>
              <p:nvPr/>
            </p:nvSpPr>
            <p:spPr>
              <a:xfrm>
                <a:off x="4072498" y="1868759"/>
                <a:ext cx="4047003" cy="400110"/>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apply -f </a:t>
                </a:r>
                <a:r>
                  <a:rPr lang="en-US" altLang="ko-KR" sz="1000" b="1" dirty="0" err="1">
                    <a:solidFill>
                      <a:srgbClr val="FF0000"/>
                    </a:solidFill>
                  </a:rPr>
                  <a:t>kuard</a:t>
                </a:r>
                <a:r>
                  <a:rPr lang="en-US" altLang="ko-KR" sz="1000" b="1" dirty="0">
                    <a:solidFill>
                      <a:srgbClr val="FF0000"/>
                    </a:solidFill>
                  </a:rPr>
                  <a:t>-deployment-</a:t>
                </a:r>
                <a:r>
                  <a:rPr lang="en-US" altLang="ko-KR" sz="1000" b="1" dirty="0" err="1">
                    <a:solidFill>
                      <a:srgbClr val="FF0000"/>
                    </a:solidFill>
                  </a:rPr>
                  <a:t>rollback.yaml</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rollout history deployment </a:t>
                </a:r>
                <a:r>
                  <a:rPr lang="en-US" altLang="ko-KR" sz="1000" b="1" dirty="0" err="1"/>
                  <a:t>kuard</a:t>
                </a:r>
                <a:endParaRPr lang="ko-KR" altLang="en-US" sz="1000" b="1" dirty="0"/>
              </a:p>
            </p:txBody>
          </p:sp>
          <p:sp>
            <p:nvSpPr>
              <p:cNvPr id="8" name="화살표: 아래쪽 7">
                <a:extLst>
                  <a:ext uri="{FF2B5EF4-FFF2-40B4-BE49-F238E27FC236}">
                    <a16:creationId xmlns:a16="http://schemas.microsoft.com/office/drawing/2014/main" id="{1C869C4F-6320-45C7-9EC3-103C93BB9779}"/>
                  </a:ext>
                </a:extLst>
              </p:cNvPr>
              <p:cNvSpPr/>
              <p:nvPr/>
            </p:nvSpPr>
            <p:spPr>
              <a:xfrm>
                <a:off x="5889265" y="2297892"/>
                <a:ext cx="413468" cy="30215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1E60EF9F-A2A4-4D14-9CA4-CFF830219605}"/>
                  </a:ext>
                </a:extLst>
              </p:cNvPr>
              <p:cNvPicPr>
                <a:picLocks noChangeAspect="1"/>
              </p:cNvPicPr>
              <p:nvPr/>
            </p:nvPicPr>
            <p:blipFill>
              <a:blip r:embed="rId2"/>
              <a:stretch>
                <a:fillRect/>
              </a:stretch>
            </p:blipFill>
            <p:spPr>
              <a:xfrm>
                <a:off x="1333499" y="2629065"/>
                <a:ext cx="9525000" cy="2857500"/>
              </a:xfrm>
              <a:prstGeom prst="rect">
                <a:avLst/>
              </a:prstGeom>
              <a:ln>
                <a:solidFill>
                  <a:schemeClr val="bg1">
                    <a:lumMod val="50000"/>
                  </a:schemeClr>
                </a:solidFill>
              </a:ln>
            </p:spPr>
          </p:pic>
        </p:grpSp>
        <p:sp>
          <p:nvSpPr>
            <p:cNvPr id="11" name="직사각형 10">
              <a:extLst>
                <a:ext uri="{FF2B5EF4-FFF2-40B4-BE49-F238E27FC236}">
                  <a16:creationId xmlns:a16="http://schemas.microsoft.com/office/drawing/2014/main" id="{28C24C06-DA07-4915-B285-21624D8B97B2}"/>
                </a:ext>
              </a:extLst>
            </p:cNvPr>
            <p:cNvSpPr/>
            <p:nvPr/>
          </p:nvSpPr>
          <p:spPr>
            <a:xfrm>
              <a:off x="1431235" y="4309606"/>
              <a:ext cx="2544417" cy="65200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50845026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The YAML File</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Rollback YAML File :</a:t>
            </a:r>
          </a:p>
          <a:p>
            <a:pPr lvl="1">
              <a:buFont typeface="Wingdings" panose="05000000000000000000" pitchFamily="2" charset="2"/>
              <a:buChar char="§"/>
            </a:pPr>
            <a:r>
              <a:rPr lang="en-US" altLang="ko-KR" sz="1400" dirty="0"/>
              <a:t>You can use the following updated “</a:t>
            </a:r>
            <a:r>
              <a:rPr lang="en-US" altLang="ko-KR" sz="1400" b="1" dirty="0" err="1"/>
              <a:t>kuard</a:t>
            </a:r>
            <a:r>
              <a:rPr lang="en-US" altLang="ko-KR" sz="1400" b="1" dirty="0"/>
              <a:t>-development-</a:t>
            </a:r>
            <a:r>
              <a:rPr lang="en-US" altLang="ko-KR" sz="1400" b="1" dirty="0" err="1"/>
              <a:t>rollback.yaml</a:t>
            </a:r>
            <a:r>
              <a:rPr lang="en-US" altLang="ko-KR" sz="1400" dirty="0"/>
              <a:t>” file for the “</a:t>
            </a:r>
            <a:r>
              <a:rPr lang="en-US" altLang="ko-KR" sz="1400" b="1" dirty="0" err="1"/>
              <a:t>kubectl</a:t>
            </a:r>
            <a:r>
              <a:rPr lang="en-US" altLang="ko-KR" sz="1400" b="1" dirty="0"/>
              <a:t> apply -f</a:t>
            </a:r>
            <a:r>
              <a:rPr lang="en-US" altLang="ko-KR" sz="1400" dirty="0"/>
              <a:t>” command.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86</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C5DBCF98-BBB5-4724-9665-B0D2E88B59A4}"/>
              </a:ext>
            </a:extLst>
          </p:cNvPr>
          <p:cNvSpPr/>
          <p:nvPr/>
        </p:nvSpPr>
        <p:spPr>
          <a:xfrm>
            <a:off x="3048000" y="1843950"/>
            <a:ext cx="6096000" cy="3170099"/>
          </a:xfrm>
          <a:prstGeom prst="rect">
            <a:avLst/>
          </a:prstGeom>
          <a:ln>
            <a:solidFill>
              <a:schemeClr val="bg1">
                <a:lumMod val="50000"/>
              </a:schemeClr>
            </a:solidFill>
          </a:ln>
        </p:spPr>
        <p:txBody>
          <a:bodyPr>
            <a:spAutoFit/>
          </a:bodyPr>
          <a:lstStyle/>
          <a:p>
            <a:r>
              <a:rPr lang="en-US" altLang="ko-KR" sz="1000" b="1" dirty="0" err="1"/>
              <a:t>apiVersion</a:t>
            </a:r>
            <a:r>
              <a:rPr lang="en-US" altLang="ko-KR" sz="1000" b="1" dirty="0"/>
              <a:t>: apps/v1</a:t>
            </a:r>
          </a:p>
          <a:p>
            <a:r>
              <a:rPr lang="en-US" altLang="ko-KR" sz="1000" b="1" dirty="0"/>
              <a:t>kind: Deployment</a:t>
            </a:r>
          </a:p>
          <a:p>
            <a:r>
              <a:rPr lang="en-US" altLang="ko-KR" sz="1000" b="1" dirty="0"/>
              <a:t>metadata:</a:t>
            </a:r>
          </a:p>
          <a:p>
            <a:r>
              <a:rPr lang="en-US" altLang="ko-KR" sz="1000" b="1" dirty="0"/>
              <a:t>  name: </a:t>
            </a:r>
            <a:r>
              <a:rPr lang="en-US" altLang="ko-KR" sz="1000" b="1" dirty="0" err="1"/>
              <a:t>kuard</a:t>
            </a:r>
            <a:endParaRPr lang="en-US" altLang="ko-KR" sz="1000" b="1" dirty="0"/>
          </a:p>
          <a:p>
            <a:r>
              <a:rPr lang="en-US" altLang="ko-KR" sz="1000" b="1" dirty="0"/>
              <a:t>spec:</a:t>
            </a:r>
          </a:p>
          <a:p>
            <a:r>
              <a:rPr lang="en-US" altLang="ko-KR" sz="1000" b="1" dirty="0"/>
              <a:t>  selector:</a:t>
            </a:r>
          </a:p>
          <a:p>
            <a:r>
              <a:rPr lang="en-US" altLang="ko-KR" sz="1000" b="1" dirty="0"/>
              <a:t>    </a:t>
            </a:r>
            <a:r>
              <a:rPr lang="en-US" altLang="ko-KR" sz="1000" b="1" dirty="0" err="1"/>
              <a:t>matchLabels</a:t>
            </a:r>
            <a:r>
              <a:rPr lang="en-US" altLang="ko-KR" sz="1000" b="1" dirty="0"/>
              <a:t>:</a:t>
            </a:r>
          </a:p>
          <a:p>
            <a:r>
              <a:rPr lang="en-US" altLang="ko-KR" sz="1000" b="1" dirty="0"/>
              <a:t>      run: </a:t>
            </a:r>
            <a:r>
              <a:rPr lang="en-US" altLang="ko-KR" sz="1000" b="1" dirty="0" err="1"/>
              <a:t>kuard</a:t>
            </a:r>
            <a:endParaRPr lang="en-US" altLang="ko-KR" sz="1000" b="1" dirty="0"/>
          </a:p>
          <a:p>
            <a:r>
              <a:rPr lang="en-US" altLang="ko-KR" sz="1000" b="1" dirty="0"/>
              <a:t>  replicas: 3</a:t>
            </a:r>
          </a:p>
          <a:p>
            <a:r>
              <a:rPr lang="en-US" altLang="ko-KR" sz="1000" b="1" dirty="0"/>
              <a:t>  template:</a:t>
            </a:r>
          </a:p>
          <a:p>
            <a:r>
              <a:rPr lang="en-US" altLang="ko-KR" sz="1000" b="1" dirty="0"/>
              <a:t>    metadata:</a:t>
            </a:r>
          </a:p>
          <a:p>
            <a:r>
              <a:rPr lang="en-US" altLang="ko-KR" sz="1000" b="1" dirty="0"/>
              <a:t>      annotations:</a:t>
            </a:r>
          </a:p>
          <a:p>
            <a:r>
              <a:rPr lang="en-US" altLang="ko-KR" sz="1000" b="1" dirty="0"/>
              <a:t>        </a:t>
            </a:r>
            <a:r>
              <a:rPr lang="en-US" altLang="ko-KR" sz="1000" b="1" dirty="0">
                <a:solidFill>
                  <a:srgbClr val="FF0000"/>
                </a:solidFill>
              </a:rPr>
              <a:t>kubernetes.io/change-cause: "Rollback to 1.0 </a:t>
            </a:r>
            <a:r>
              <a:rPr lang="en-US" altLang="ko-KR" sz="1000" b="1" dirty="0" err="1">
                <a:solidFill>
                  <a:srgbClr val="FF0000"/>
                </a:solidFill>
              </a:rPr>
              <a:t>kuard</a:t>
            </a:r>
            <a:r>
              <a:rPr lang="en-US" altLang="ko-KR" sz="1000" b="1" dirty="0">
                <a:solidFill>
                  <a:srgbClr val="FF0000"/>
                </a:solidFill>
              </a:rPr>
              <a:t>"</a:t>
            </a:r>
          </a:p>
          <a:p>
            <a:r>
              <a:rPr lang="en-US" altLang="ko-KR" sz="1000" b="1" dirty="0"/>
              <a:t>      labels:</a:t>
            </a:r>
          </a:p>
          <a:p>
            <a:r>
              <a:rPr lang="en-US" altLang="ko-KR" sz="1000" b="1" dirty="0"/>
              <a:t>        run: </a:t>
            </a:r>
            <a:r>
              <a:rPr lang="en-US" altLang="ko-KR" sz="1000" b="1" dirty="0" err="1"/>
              <a:t>kuard</a:t>
            </a:r>
            <a:endParaRPr lang="en-US" altLang="ko-KR" sz="1000" b="1" dirty="0"/>
          </a:p>
          <a:p>
            <a:r>
              <a:rPr lang="en-US" altLang="ko-KR" sz="1000" b="1" dirty="0"/>
              <a:t>    spec:</a:t>
            </a:r>
          </a:p>
          <a:p>
            <a:r>
              <a:rPr lang="en-US" altLang="ko-KR" sz="1000" b="1" dirty="0"/>
              <a:t>      containers:</a:t>
            </a:r>
          </a:p>
          <a:p>
            <a:r>
              <a:rPr lang="en-US" altLang="ko-KR" sz="1000" b="1" dirty="0"/>
              <a:t>      - name: </a:t>
            </a:r>
            <a:r>
              <a:rPr lang="en-US" altLang="ko-KR" sz="1000" b="1" dirty="0" err="1"/>
              <a:t>kuard</a:t>
            </a:r>
            <a:endParaRPr lang="en-US" altLang="ko-KR" sz="1000" b="1" dirty="0"/>
          </a:p>
          <a:p>
            <a:r>
              <a:rPr lang="en-US" altLang="ko-KR" sz="1000" b="1" dirty="0"/>
              <a:t>        image: </a:t>
            </a:r>
            <a:r>
              <a:rPr lang="en-US" altLang="ko-KR" sz="1000" b="1" dirty="0">
                <a:solidFill>
                  <a:srgbClr val="FF0000"/>
                </a:solidFill>
              </a:rPr>
              <a:t>knix008/kuard-shkwon-amd64:1.0</a:t>
            </a:r>
          </a:p>
          <a:p>
            <a:r>
              <a:rPr lang="en-US" altLang="ko-KR" sz="1000" b="1" dirty="0"/>
              <a:t>        </a:t>
            </a:r>
            <a:r>
              <a:rPr lang="en-US" altLang="ko-KR" sz="1000" b="1" dirty="0" err="1"/>
              <a:t>imagePullPolicy</a:t>
            </a:r>
            <a:r>
              <a:rPr lang="en-US" altLang="ko-KR" sz="1000" b="1" dirty="0"/>
              <a:t>: Always</a:t>
            </a:r>
            <a:endParaRPr lang="ko-KR" altLang="en-US" sz="1000" b="1" dirty="0"/>
          </a:p>
        </p:txBody>
      </p:sp>
    </p:spTree>
    <p:extLst>
      <p:ext uri="{BB962C8B-B14F-4D97-AF65-F5344CB8AC3E}">
        <p14:creationId xmlns:p14="http://schemas.microsoft.com/office/powerpoint/2010/main" val="241983450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Updating Deployments(10/13)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Rollout History :</a:t>
            </a:r>
          </a:p>
          <a:p>
            <a:pPr lvl="1">
              <a:buFont typeface="Wingdings" panose="05000000000000000000" pitchFamily="2" charset="2"/>
              <a:buChar char="§"/>
            </a:pPr>
            <a:r>
              <a:rPr lang="en-US" altLang="ko-KR" sz="1400" b="1" dirty="0"/>
              <a:t>Let’s say there is an issue with the latest release and you want to roll back while you investigate</a:t>
            </a:r>
            <a:r>
              <a:rPr lang="en-US" altLang="ko-KR" sz="1400" dirty="0"/>
              <a:t>. You can simply “</a:t>
            </a:r>
            <a:r>
              <a:rPr lang="en-US" altLang="ko-KR" sz="1400" b="1" dirty="0">
                <a:solidFill>
                  <a:srgbClr val="FF0000"/>
                </a:solidFill>
              </a:rPr>
              <a:t>undo</a:t>
            </a:r>
            <a:r>
              <a:rPr lang="en-US" altLang="ko-KR" sz="1400" b="1" dirty="0"/>
              <a:t>” the last rollout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The “undo” command works regardless of the stage of the rollout</a:t>
            </a:r>
            <a:r>
              <a:rPr lang="en-US" altLang="ko-KR" sz="1400" dirty="0"/>
              <a:t>. </a:t>
            </a:r>
            <a:r>
              <a:rPr lang="en-US" altLang="ko-KR" sz="1400" b="1" dirty="0"/>
              <a:t>You can undo both partially completed and fully completed rollouts</a:t>
            </a:r>
            <a:r>
              <a:rPr lang="en-US" altLang="ko-KR" sz="1400" dirty="0"/>
              <a:t>. An undo of a rollout is actually simply a rollout in reverse (e.g., from v2 to v1, instead of from v1 to v2), and all of the same policies that control the rollout strategy apply to the undo strategy as well.</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87</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D2B50BC6-B94F-46C6-8DA8-EFE6BB80FB2D}"/>
              </a:ext>
            </a:extLst>
          </p:cNvPr>
          <p:cNvGrpSpPr/>
          <p:nvPr/>
        </p:nvGrpSpPr>
        <p:grpSpPr>
          <a:xfrm>
            <a:off x="1333500" y="1763738"/>
            <a:ext cx="9525000" cy="3046180"/>
            <a:chOff x="1333500" y="1763738"/>
            <a:chExt cx="9525000" cy="3046180"/>
          </a:xfrm>
        </p:grpSpPr>
        <p:grpSp>
          <p:nvGrpSpPr>
            <p:cNvPr id="10" name="그룹 9">
              <a:extLst>
                <a:ext uri="{FF2B5EF4-FFF2-40B4-BE49-F238E27FC236}">
                  <a16:creationId xmlns:a16="http://schemas.microsoft.com/office/drawing/2014/main" id="{8F3C2102-09BE-40F8-907F-D3CF31DFEABD}"/>
                </a:ext>
              </a:extLst>
            </p:cNvPr>
            <p:cNvGrpSpPr/>
            <p:nvPr/>
          </p:nvGrpSpPr>
          <p:grpSpPr>
            <a:xfrm>
              <a:off x="1333500" y="1763738"/>
              <a:ext cx="9525000" cy="3046180"/>
              <a:chOff x="1333499" y="1669976"/>
              <a:chExt cx="9525000" cy="3046180"/>
            </a:xfrm>
          </p:grpSpPr>
          <p:sp>
            <p:nvSpPr>
              <p:cNvPr id="4" name="직사각형 3">
                <a:extLst>
                  <a:ext uri="{FF2B5EF4-FFF2-40B4-BE49-F238E27FC236}">
                    <a16:creationId xmlns:a16="http://schemas.microsoft.com/office/drawing/2014/main" id="{0214586E-90C2-4C8D-98BA-95896804BA9C}"/>
                  </a:ext>
                </a:extLst>
              </p:cNvPr>
              <p:cNvSpPr/>
              <p:nvPr/>
            </p:nvSpPr>
            <p:spPr>
              <a:xfrm>
                <a:off x="3917888" y="1669976"/>
                <a:ext cx="4356223" cy="400110"/>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rollout </a:t>
                </a:r>
                <a:r>
                  <a:rPr lang="en-US" altLang="ko-KR" sz="1000" b="1" dirty="0">
                    <a:solidFill>
                      <a:srgbClr val="FF0000"/>
                    </a:solidFill>
                  </a:rPr>
                  <a:t>undo</a:t>
                </a:r>
                <a:r>
                  <a:rPr lang="en-US" altLang="ko-KR" sz="1000" b="1" dirty="0"/>
                  <a:t> deployments </a:t>
                </a:r>
                <a:r>
                  <a:rPr lang="en-US" altLang="ko-KR" sz="1000" b="1" dirty="0" err="1">
                    <a:solidFill>
                      <a:srgbClr val="FF0000"/>
                    </a:solidFill>
                  </a:rPr>
                  <a:t>kuard</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rollout </a:t>
                </a:r>
                <a:r>
                  <a:rPr lang="en-US" altLang="ko-KR" sz="1000" b="1" dirty="0">
                    <a:solidFill>
                      <a:srgbClr val="FF0000"/>
                    </a:solidFill>
                  </a:rPr>
                  <a:t>history</a:t>
                </a:r>
                <a:r>
                  <a:rPr lang="en-US" altLang="ko-KR" sz="1000" b="1" dirty="0"/>
                  <a:t> deployment </a:t>
                </a:r>
                <a:r>
                  <a:rPr lang="en-US" altLang="ko-KR" sz="1000" b="1" dirty="0" err="1">
                    <a:solidFill>
                      <a:srgbClr val="FF0000"/>
                    </a:solidFill>
                  </a:rPr>
                  <a:t>kuard</a:t>
                </a:r>
                <a:endParaRPr lang="ko-KR" altLang="en-US" sz="1000" b="1" dirty="0">
                  <a:solidFill>
                    <a:srgbClr val="FF0000"/>
                  </a:solidFill>
                </a:endParaRPr>
              </a:p>
            </p:txBody>
          </p:sp>
          <p:sp>
            <p:nvSpPr>
              <p:cNvPr id="8" name="화살표: 아래쪽 7">
                <a:extLst>
                  <a:ext uri="{FF2B5EF4-FFF2-40B4-BE49-F238E27FC236}">
                    <a16:creationId xmlns:a16="http://schemas.microsoft.com/office/drawing/2014/main" id="{39567E0F-990C-4E5A-A38A-DC6E2216222B}"/>
                  </a:ext>
                </a:extLst>
              </p:cNvPr>
              <p:cNvSpPr/>
              <p:nvPr/>
            </p:nvSpPr>
            <p:spPr>
              <a:xfrm>
                <a:off x="5889265" y="2083185"/>
                <a:ext cx="413468" cy="286247"/>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6C0F80B1-4781-43A2-BFE1-781094116AAB}"/>
                  </a:ext>
                </a:extLst>
              </p:cNvPr>
              <p:cNvPicPr>
                <a:picLocks noChangeAspect="1"/>
              </p:cNvPicPr>
              <p:nvPr/>
            </p:nvPicPr>
            <p:blipFill>
              <a:blip r:embed="rId2"/>
              <a:stretch>
                <a:fillRect/>
              </a:stretch>
            </p:blipFill>
            <p:spPr>
              <a:xfrm>
                <a:off x="1333499" y="2382531"/>
                <a:ext cx="9525000" cy="2333625"/>
              </a:xfrm>
              <a:prstGeom prst="rect">
                <a:avLst/>
              </a:prstGeom>
              <a:ln>
                <a:solidFill>
                  <a:schemeClr val="bg1">
                    <a:lumMod val="50000"/>
                  </a:schemeClr>
                </a:solidFill>
              </a:ln>
            </p:spPr>
          </p:pic>
        </p:grpSp>
        <p:sp>
          <p:nvSpPr>
            <p:cNvPr id="11" name="직사각형 10">
              <a:extLst>
                <a:ext uri="{FF2B5EF4-FFF2-40B4-BE49-F238E27FC236}">
                  <a16:creationId xmlns:a16="http://schemas.microsoft.com/office/drawing/2014/main" id="{3B8A4835-764C-4B8F-8419-4C82D3E8D8A8}"/>
                </a:ext>
              </a:extLst>
            </p:cNvPr>
            <p:cNvSpPr/>
            <p:nvPr/>
          </p:nvSpPr>
          <p:spPr>
            <a:xfrm>
              <a:off x="1470991" y="3643105"/>
              <a:ext cx="2446898" cy="70625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44938084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Updating Deployments(11/13)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Rollout History :</a:t>
            </a:r>
          </a:p>
          <a:p>
            <a:pPr lvl="1">
              <a:buFont typeface="Wingdings" panose="05000000000000000000" pitchFamily="2" charset="2"/>
              <a:buChar char="§"/>
            </a:pPr>
            <a:r>
              <a:rPr lang="en-US" altLang="ko-KR" sz="1400" b="1" dirty="0"/>
              <a:t>The Deployment object simply adjusts the desired replica counts in the managed </a:t>
            </a:r>
            <a:r>
              <a:rPr lang="en-US" altLang="ko-KR" sz="1400" b="1" dirty="0" err="1"/>
              <a:t>ReplicaSets</a:t>
            </a:r>
            <a:r>
              <a:rPr lang="en-US" altLang="ko-KR" sz="1400" b="1" dirty="0"/>
              <a:t>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When using declarative files to control your production systems, you want to, as much as possible, </a:t>
            </a:r>
            <a:r>
              <a:rPr lang="en-US" altLang="ko-KR" sz="1400" b="1" dirty="0">
                <a:solidFill>
                  <a:srgbClr val="FF0000"/>
                </a:solidFill>
              </a:rPr>
              <a:t>ensure that the checked-in manifests match what is actually running in your cluster</a:t>
            </a:r>
            <a:r>
              <a:rPr lang="en-US" altLang="ko-KR" sz="1400" dirty="0"/>
              <a:t>. When you do a “</a:t>
            </a:r>
            <a:r>
              <a:rPr lang="en-US" altLang="ko-KR" sz="1400" b="1" dirty="0" err="1"/>
              <a:t>kubectl</a:t>
            </a:r>
            <a:r>
              <a:rPr lang="en-US" altLang="ko-KR" sz="1400" b="1" dirty="0"/>
              <a:t> rollout undo</a:t>
            </a:r>
            <a:r>
              <a:rPr lang="en-US" altLang="ko-KR" sz="1400" dirty="0"/>
              <a:t>” you are updating the production state in a way that isn’t reflected in your source control. An alternative (and perhaps preferred) way to undo a rollout is to “</a:t>
            </a:r>
            <a:r>
              <a:rPr lang="en-US" altLang="ko-KR" sz="1400" b="1" dirty="0"/>
              <a:t>revert your YAML file” and “</a:t>
            </a:r>
            <a:r>
              <a:rPr lang="en-US" altLang="ko-KR" sz="1400" b="1" dirty="0" err="1"/>
              <a:t>kubectl</a:t>
            </a:r>
            <a:r>
              <a:rPr lang="en-US" altLang="ko-KR" sz="1400" b="1" dirty="0"/>
              <a:t> apply” the previous version</a:t>
            </a:r>
            <a:r>
              <a:rPr lang="en-US" altLang="ko-KR" sz="1400" dirty="0"/>
              <a:t>. In this way, your “</a:t>
            </a:r>
            <a:r>
              <a:rPr lang="en-US" altLang="ko-KR" sz="1400" b="1" dirty="0"/>
              <a:t>change tracked configuration</a:t>
            </a:r>
            <a:r>
              <a:rPr lang="en-US" altLang="ko-KR" sz="1400" dirty="0"/>
              <a:t>” more closely tracks what is really running in your cluster.</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88</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F2E974EB-D0C5-40E2-89FB-46F25D895CF5}"/>
              </a:ext>
            </a:extLst>
          </p:cNvPr>
          <p:cNvGrpSpPr/>
          <p:nvPr/>
        </p:nvGrpSpPr>
        <p:grpSpPr>
          <a:xfrm>
            <a:off x="1194599" y="1526852"/>
            <a:ext cx="9802797" cy="2158779"/>
            <a:chOff x="1194599" y="1526852"/>
            <a:chExt cx="9802797" cy="2158779"/>
          </a:xfrm>
        </p:grpSpPr>
        <p:sp>
          <p:nvSpPr>
            <p:cNvPr id="4" name="직사각형 3">
              <a:extLst>
                <a:ext uri="{FF2B5EF4-FFF2-40B4-BE49-F238E27FC236}">
                  <a16:creationId xmlns:a16="http://schemas.microsoft.com/office/drawing/2014/main" id="{3997B1DD-35BB-4300-B9F2-4DFE8E5BF342}"/>
                </a:ext>
              </a:extLst>
            </p:cNvPr>
            <p:cNvSpPr/>
            <p:nvPr/>
          </p:nvSpPr>
          <p:spPr>
            <a:xfrm>
              <a:off x="4999385" y="1526852"/>
              <a:ext cx="2193229"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get </a:t>
              </a:r>
              <a:r>
                <a:rPr lang="en-US" altLang="ko-KR" sz="1000" b="1" dirty="0" err="1"/>
                <a:t>replicasets</a:t>
              </a:r>
              <a:r>
                <a:rPr lang="en-US" altLang="ko-KR" sz="1000" b="1" dirty="0"/>
                <a:t> -o wide</a:t>
              </a:r>
              <a:endParaRPr lang="ko-KR" altLang="en-US" sz="1000" b="1" dirty="0"/>
            </a:p>
          </p:txBody>
        </p:sp>
        <p:sp>
          <p:nvSpPr>
            <p:cNvPr id="8" name="화살표: 아래쪽 7">
              <a:extLst>
                <a:ext uri="{FF2B5EF4-FFF2-40B4-BE49-F238E27FC236}">
                  <a16:creationId xmlns:a16="http://schemas.microsoft.com/office/drawing/2014/main" id="{72702C08-4366-426D-926B-730F1394AB85}"/>
                </a:ext>
              </a:extLst>
            </p:cNvPr>
            <p:cNvSpPr/>
            <p:nvPr/>
          </p:nvSpPr>
          <p:spPr>
            <a:xfrm>
              <a:off x="5897216" y="1794123"/>
              <a:ext cx="397565" cy="27034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12AD87BF-7FB6-4C76-B02A-C17D77F8906B}"/>
                </a:ext>
              </a:extLst>
            </p:cNvPr>
            <p:cNvPicPr>
              <a:picLocks noChangeAspect="1"/>
            </p:cNvPicPr>
            <p:nvPr/>
          </p:nvPicPr>
          <p:blipFill>
            <a:blip r:embed="rId2"/>
            <a:stretch>
              <a:fillRect/>
            </a:stretch>
          </p:blipFill>
          <p:spPr>
            <a:xfrm>
              <a:off x="1194599" y="2085518"/>
              <a:ext cx="9802797" cy="1600113"/>
            </a:xfrm>
            <a:prstGeom prst="rect">
              <a:avLst/>
            </a:prstGeom>
            <a:ln>
              <a:solidFill>
                <a:schemeClr val="bg1">
                  <a:lumMod val="50000"/>
                </a:schemeClr>
              </a:solidFill>
            </a:ln>
          </p:spPr>
        </p:pic>
      </p:grpSp>
    </p:spTree>
    <p:extLst>
      <p:ext uri="{BB962C8B-B14F-4D97-AF65-F5344CB8AC3E}">
        <p14:creationId xmlns:p14="http://schemas.microsoft.com/office/powerpoint/2010/main" val="124811022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Updating Deployments(12/13)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Rollout History :</a:t>
            </a:r>
          </a:p>
          <a:p>
            <a:pPr lvl="1">
              <a:buFont typeface="Wingdings" panose="05000000000000000000" pitchFamily="2" charset="2"/>
              <a:buChar char="§"/>
            </a:pPr>
            <a:r>
              <a:rPr lang="en-US" altLang="ko-KR" sz="1400" dirty="0"/>
              <a:t>When you look at the deployment history after “undo”, you can find that “</a:t>
            </a:r>
            <a:r>
              <a:rPr lang="en-US" altLang="ko-KR" sz="1400" dirty="0" err="1"/>
              <a:t>revison</a:t>
            </a:r>
            <a:r>
              <a:rPr lang="en-US" altLang="ko-KR" sz="1400" dirty="0"/>
              <a:t> #2” is missing. </a:t>
            </a:r>
            <a:r>
              <a:rPr lang="en-US" altLang="ko-KR" sz="1400" b="1" dirty="0"/>
              <a:t>It turns out that when you roll back to a previous revision, the deployment simply reuses the template and renumbers it so that it is the latest revision</a:t>
            </a:r>
            <a:r>
              <a:rPr lang="en-US" altLang="ko-KR" sz="1400" dirty="0"/>
              <a:t>. What was revision 2 before is now reordered into revision 4.</a:t>
            </a:r>
          </a:p>
          <a:p>
            <a:pPr lvl="1">
              <a:buFont typeface="Wingdings" panose="05000000000000000000" pitchFamily="2" charset="2"/>
              <a:buChar char="§"/>
            </a:pPr>
            <a:r>
              <a:rPr lang="en-US" altLang="ko-KR" sz="1400" dirty="0"/>
              <a:t>We previously saw that you can use the “</a:t>
            </a:r>
            <a:r>
              <a:rPr lang="en-US" altLang="ko-KR" sz="1400" b="1" dirty="0" err="1"/>
              <a:t>kubectl</a:t>
            </a:r>
            <a:r>
              <a:rPr lang="en-US" altLang="ko-KR" sz="1400" b="1" dirty="0"/>
              <a:t> rollout undo</a:t>
            </a:r>
            <a:r>
              <a:rPr lang="en-US" altLang="ko-KR" sz="1400" dirty="0"/>
              <a:t>” command to roll back to a previous version of a deployment. Additionally, </a:t>
            </a:r>
            <a:r>
              <a:rPr lang="en-US" altLang="ko-KR" sz="1400" b="1" dirty="0"/>
              <a:t>you can roll back to a specific revision in the history using the “</a:t>
            </a:r>
            <a:r>
              <a:rPr lang="en-US" altLang="ko-KR" sz="1400" b="1" dirty="0">
                <a:solidFill>
                  <a:srgbClr val="FF0000"/>
                </a:solidFill>
              </a:rPr>
              <a:t>--to-revision</a:t>
            </a:r>
            <a:r>
              <a:rPr lang="en-US" altLang="ko-KR" sz="1400" b="1" dirty="0"/>
              <a:t>” flag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Again, the undo took “</a:t>
            </a:r>
            <a:r>
              <a:rPr lang="en-US" altLang="ko-KR" sz="1400" b="1" dirty="0"/>
              <a:t>revision #3</a:t>
            </a:r>
            <a:r>
              <a:rPr lang="en-US" altLang="ko-KR" sz="1400" dirty="0"/>
              <a:t>”, applied it, and renumbered it as “</a:t>
            </a:r>
            <a:r>
              <a:rPr lang="en-US" altLang="ko-KR" sz="1400" b="1" dirty="0"/>
              <a:t>revision #5</a:t>
            </a:r>
            <a:r>
              <a:rPr lang="en-US" altLang="ko-KR" sz="1400" dirty="0"/>
              <a:t>”.</a:t>
            </a:r>
          </a:p>
          <a:p>
            <a:pPr lvl="1">
              <a:buFont typeface="Wingdings" panose="05000000000000000000" pitchFamily="2" charset="2"/>
              <a:buChar char="§"/>
            </a:pPr>
            <a:r>
              <a:rPr lang="en-US" altLang="ko-KR" sz="1400" b="1" dirty="0"/>
              <a:t>Specifying a revision of “</a:t>
            </a:r>
            <a:r>
              <a:rPr lang="en-US" altLang="ko-KR" sz="1400" b="1" dirty="0">
                <a:solidFill>
                  <a:srgbClr val="FF0000"/>
                </a:solidFill>
              </a:rPr>
              <a:t>0</a:t>
            </a:r>
            <a:r>
              <a:rPr lang="en-US" altLang="ko-KR" sz="1400" b="1" dirty="0"/>
              <a:t>” is a shorthand way of </a:t>
            </a:r>
            <a:r>
              <a:rPr lang="en-US" altLang="ko-KR" sz="1400" b="1" dirty="0">
                <a:solidFill>
                  <a:srgbClr val="FF0000"/>
                </a:solidFill>
              </a:rPr>
              <a:t>specifying the previous revision</a:t>
            </a:r>
            <a:r>
              <a:rPr lang="en-US" altLang="ko-KR" sz="1400" dirty="0"/>
              <a:t>. In this way, “</a:t>
            </a:r>
            <a:r>
              <a:rPr lang="en-US" altLang="ko-KR" sz="1400" b="1" dirty="0" err="1"/>
              <a:t>kubectl</a:t>
            </a:r>
            <a:r>
              <a:rPr lang="en-US" altLang="ko-KR" sz="1400" b="1" dirty="0"/>
              <a:t> rollout undo</a:t>
            </a:r>
            <a:r>
              <a:rPr lang="en-US" altLang="ko-KR" sz="1400" dirty="0"/>
              <a:t>” command is equivalent to “</a:t>
            </a:r>
            <a:r>
              <a:rPr lang="en-US" altLang="ko-KR" sz="1400" b="1" dirty="0" err="1"/>
              <a:t>kubectl</a:t>
            </a:r>
            <a:r>
              <a:rPr lang="en-US" altLang="ko-KR" sz="1400" b="1" dirty="0"/>
              <a:t> rollout undo --to-revision=0</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89</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F18B72EB-035A-4760-8FE9-3EAEC7FBD33D}"/>
              </a:ext>
            </a:extLst>
          </p:cNvPr>
          <p:cNvGrpSpPr/>
          <p:nvPr/>
        </p:nvGrpSpPr>
        <p:grpSpPr>
          <a:xfrm>
            <a:off x="1462087" y="2308428"/>
            <a:ext cx="9267825" cy="3046180"/>
            <a:chOff x="1462087" y="2509488"/>
            <a:chExt cx="9267825" cy="3046180"/>
          </a:xfrm>
        </p:grpSpPr>
        <p:grpSp>
          <p:nvGrpSpPr>
            <p:cNvPr id="10" name="그룹 9">
              <a:extLst>
                <a:ext uri="{FF2B5EF4-FFF2-40B4-BE49-F238E27FC236}">
                  <a16:creationId xmlns:a16="http://schemas.microsoft.com/office/drawing/2014/main" id="{350A2F9B-3F2D-4AAD-9892-1A02FE401E30}"/>
                </a:ext>
              </a:extLst>
            </p:cNvPr>
            <p:cNvGrpSpPr/>
            <p:nvPr/>
          </p:nvGrpSpPr>
          <p:grpSpPr>
            <a:xfrm>
              <a:off x="1462087" y="2509488"/>
              <a:ext cx="9267825" cy="3046180"/>
              <a:chOff x="1462086" y="2390218"/>
              <a:chExt cx="9267825" cy="3046180"/>
            </a:xfrm>
          </p:grpSpPr>
          <p:sp>
            <p:nvSpPr>
              <p:cNvPr id="4" name="직사각형 3">
                <a:extLst>
                  <a:ext uri="{FF2B5EF4-FFF2-40B4-BE49-F238E27FC236}">
                    <a16:creationId xmlns:a16="http://schemas.microsoft.com/office/drawing/2014/main" id="{32C6185D-00C0-49EE-941A-98E94E548741}"/>
                  </a:ext>
                </a:extLst>
              </p:cNvPr>
              <p:cNvSpPr/>
              <p:nvPr/>
            </p:nvSpPr>
            <p:spPr>
              <a:xfrm>
                <a:off x="3048000" y="2390218"/>
                <a:ext cx="6096000" cy="400110"/>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t>kubectl</a:t>
                </a:r>
                <a:r>
                  <a:rPr lang="en-US" altLang="ko-KR" sz="1000" b="1" dirty="0"/>
                  <a:t> rollout undo deployments </a:t>
                </a:r>
                <a:r>
                  <a:rPr lang="en-US" altLang="ko-KR" sz="1000" b="1" dirty="0" err="1"/>
                  <a:t>kuard</a:t>
                </a:r>
                <a:r>
                  <a:rPr lang="en-US" altLang="ko-KR" sz="1000" b="1" dirty="0"/>
                  <a:t> </a:t>
                </a:r>
                <a:r>
                  <a:rPr lang="en-US" altLang="ko-KR" sz="1000" b="1" dirty="0">
                    <a:solidFill>
                      <a:srgbClr val="FF0000"/>
                    </a:solidFill>
                  </a:rPr>
                  <a:t>--to-revision=3</a:t>
                </a:r>
              </a:p>
              <a:p>
                <a:r>
                  <a:rPr lang="en-US" altLang="ko-KR" sz="1000" b="1" dirty="0"/>
                  <a:t>$ </a:t>
                </a:r>
                <a:r>
                  <a:rPr lang="en-US" altLang="ko-KR" sz="1000" b="1" dirty="0" err="1"/>
                  <a:t>kubectl</a:t>
                </a:r>
                <a:r>
                  <a:rPr lang="en-US" altLang="ko-KR" sz="1000" b="1" dirty="0"/>
                  <a:t> rollout history deployment </a:t>
                </a:r>
                <a:r>
                  <a:rPr lang="en-US" altLang="ko-KR" sz="1000" b="1" dirty="0" err="1"/>
                  <a:t>kuard</a:t>
                </a:r>
                <a:endParaRPr lang="ko-KR" altLang="en-US" sz="1000" b="1" dirty="0"/>
              </a:p>
            </p:txBody>
          </p:sp>
          <p:sp>
            <p:nvSpPr>
              <p:cNvPr id="8" name="화살표: 아래쪽 7">
                <a:extLst>
                  <a:ext uri="{FF2B5EF4-FFF2-40B4-BE49-F238E27FC236}">
                    <a16:creationId xmlns:a16="http://schemas.microsoft.com/office/drawing/2014/main" id="{52ABCF17-DC6E-48CE-9224-4E267D709DA3}"/>
                  </a:ext>
                </a:extLst>
              </p:cNvPr>
              <p:cNvSpPr/>
              <p:nvPr/>
            </p:nvSpPr>
            <p:spPr>
              <a:xfrm>
                <a:off x="5881314" y="2803427"/>
                <a:ext cx="429371" cy="286247"/>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9A0EEBDD-FA9E-4788-A627-6D5F5960B035}"/>
                  </a:ext>
                </a:extLst>
              </p:cNvPr>
              <p:cNvPicPr>
                <a:picLocks noChangeAspect="1"/>
              </p:cNvPicPr>
              <p:nvPr/>
            </p:nvPicPr>
            <p:blipFill>
              <a:blip r:embed="rId2"/>
              <a:stretch>
                <a:fillRect/>
              </a:stretch>
            </p:blipFill>
            <p:spPr>
              <a:xfrm>
                <a:off x="1462086" y="3102773"/>
                <a:ext cx="9267825" cy="2333625"/>
              </a:xfrm>
              <a:prstGeom prst="rect">
                <a:avLst/>
              </a:prstGeom>
              <a:ln>
                <a:solidFill>
                  <a:schemeClr val="bg1">
                    <a:lumMod val="50000"/>
                  </a:schemeClr>
                </a:solidFill>
              </a:ln>
            </p:spPr>
          </p:pic>
        </p:grpSp>
        <p:sp>
          <p:nvSpPr>
            <p:cNvPr id="11" name="직사각형 10">
              <a:extLst>
                <a:ext uri="{FF2B5EF4-FFF2-40B4-BE49-F238E27FC236}">
                  <a16:creationId xmlns:a16="http://schemas.microsoft.com/office/drawing/2014/main" id="{B9815BCF-C849-457F-B2EC-DA5962CDB123}"/>
                </a:ext>
              </a:extLst>
            </p:cNvPr>
            <p:cNvSpPr/>
            <p:nvPr/>
          </p:nvSpPr>
          <p:spPr>
            <a:xfrm>
              <a:off x="1550504" y="4388855"/>
              <a:ext cx="2552369" cy="70793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02024030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Updating Deployments(13/13)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Rollout History :</a:t>
            </a:r>
          </a:p>
          <a:p>
            <a:pPr lvl="1">
              <a:buFont typeface="Wingdings" panose="05000000000000000000" pitchFamily="2" charset="2"/>
              <a:buChar char="§"/>
            </a:pPr>
            <a:r>
              <a:rPr lang="en-US" altLang="ko-KR" sz="1400" b="1" dirty="0"/>
              <a:t>By default, the complete revision history of a deployment is kept attached to the Deployment object itself</a:t>
            </a:r>
            <a:r>
              <a:rPr lang="en-US" altLang="ko-KR" sz="1400" dirty="0"/>
              <a:t>. Over time (e.g., years) this history can grow fairly large, so it is recommended that if you have deployments that you expect to keep around for a long time you </a:t>
            </a:r>
            <a:r>
              <a:rPr lang="en-US" altLang="ko-KR" sz="1400" b="1" dirty="0">
                <a:solidFill>
                  <a:srgbClr val="FF0000"/>
                </a:solidFill>
              </a:rPr>
              <a:t>set a maximum history size for the deployment revision history</a:t>
            </a:r>
            <a:r>
              <a:rPr lang="en-US" altLang="ko-KR" sz="1400" dirty="0"/>
              <a:t>, </a:t>
            </a:r>
            <a:r>
              <a:rPr lang="en-US" altLang="ko-KR" sz="1400" b="1" dirty="0"/>
              <a:t>to limit the total size of the Deployment object</a:t>
            </a:r>
            <a:r>
              <a:rPr lang="en-US" altLang="ko-KR" sz="1400" dirty="0"/>
              <a:t>. For example, if you do a daily update you may limit your revision history to 14, to keep a maximum of 2 weeks’ worth of revisions (if you don’t expect to need to roll back beyond 2 weeks). </a:t>
            </a:r>
          </a:p>
          <a:p>
            <a:pPr lvl="1">
              <a:buFont typeface="Wingdings" panose="05000000000000000000" pitchFamily="2" charset="2"/>
              <a:buChar char="§"/>
            </a:pPr>
            <a:r>
              <a:rPr lang="en-US" altLang="ko-KR" sz="1400" dirty="0"/>
              <a:t>To accomplish this, </a:t>
            </a:r>
            <a:r>
              <a:rPr lang="en-US" altLang="ko-KR" sz="1400" b="1" dirty="0"/>
              <a:t>use the “</a:t>
            </a:r>
            <a:r>
              <a:rPr lang="en-US" altLang="ko-KR" sz="1400" b="1" dirty="0" err="1"/>
              <a:t>revisionHistoryLimit</a:t>
            </a:r>
            <a:r>
              <a:rPr lang="en-US" altLang="ko-KR" sz="1400" b="1" dirty="0"/>
              <a:t>” property in the deployment specification </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90</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410D3ECB-428E-4EFB-B820-E1E12B5A0066}"/>
              </a:ext>
            </a:extLst>
          </p:cNvPr>
          <p:cNvSpPr/>
          <p:nvPr/>
        </p:nvSpPr>
        <p:spPr>
          <a:xfrm>
            <a:off x="3048000" y="2576055"/>
            <a:ext cx="6096000" cy="1015663"/>
          </a:xfrm>
          <a:prstGeom prst="rect">
            <a:avLst/>
          </a:prstGeom>
          <a:ln>
            <a:solidFill>
              <a:schemeClr val="bg1">
                <a:lumMod val="50000"/>
              </a:schemeClr>
            </a:solidFill>
          </a:ln>
        </p:spPr>
        <p:txBody>
          <a:bodyPr>
            <a:spAutoFit/>
          </a:bodyPr>
          <a:lstStyle/>
          <a:p>
            <a:r>
              <a:rPr lang="en-US" altLang="ko-KR" sz="1000" b="1" dirty="0"/>
              <a:t>...</a:t>
            </a:r>
          </a:p>
          <a:p>
            <a:r>
              <a:rPr lang="en-US" altLang="ko-KR" sz="1000" b="1" dirty="0"/>
              <a:t>spec:</a:t>
            </a:r>
          </a:p>
          <a:p>
            <a:r>
              <a:rPr lang="en-US" altLang="ko-KR" sz="1000" b="1" dirty="0"/>
              <a:t>  # We do daily rollouts, limit the revision history to two weeks of</a:t>
            </a:r>
          </a:p>
          <a:p>
            <a:r>
              <a:rPr lang="en-US" altLang="ko-KR" sz="1000" b="1" dirty="0"/>
              <a:t>  # releases as we don't expect to roll back beyond that.</a:t>
            </a:r>
          </a:p>
          <a:p>
            <a:r>
              <a:rPr lang="en-US" altLang="ko-KR" sz="1000" b="1" dirty="0"/>
              <a:t>  </a:t>
            </a:r>
            <a:r>
              <a:rPr lang="en-US" altLang="ko-KR" sz="1000" b="1" dirty="0" err="1">
                <a:solidFill>
                  <a:srgbClr val="FF0000"/>
                </a:solidFill>
              </a:rPr>
              <a:t>revisionHistoryLimit</a:t>
            </a:r>
            <a:r>
              <a:rPr lang="en-US" altLang="ko-KR" sz="1000" b="1" dirty="0">
                <a:solidFill>
                  <a:srgbClr val="FF0000"/>
                </a:solidFill>
              </a:rPr>
              <a:t>: 14</a:t>
            </a:r>
          </a:p>
          <a:p>
            <a:r>
              <a:rPr lang="en-US" altLang="ko-KR" sz="1000" b="1" dirty="0"/>
              <a:t>...</a:t>
            </a:r>
            <a:endParaRPr lang="ko-KR" altLang="en-US" sz="1000" b="1" dirty="0"/>
          </a:p>
        </p:txBody>
      </p:sp>
    </p:spTree>
    <p:extLst>
      <p:ext uri="{BB962C8B-B14F-4D97-AF65-F5344CB8AC3E}">
        <p14:creationId xmlns:p14="http://schemas.microsoft.com/office/powerpoint/2010/main" val="180625632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Deployment Strategies(1/14)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Rollout Strategy :</a:t>
            </a:r>
          </a:p>
          <a:p>
            <a:pPr lvl="1">
              <a:buFont typeface="Wingdings" panose="05000000000000000000" pitchFamily="2" charset="2"/>
              <a:buChar char="§"/>
            </a:pPr>
            <a:r>
              <a:rPr lang="en-US" altLang="ko-KR" sz="1400" dirty="0"/>
              <a:t>When it comes time to change the version of software implementing your service, a Kubernetes deployment supports two different rollout strategies :</a:t>
            </a:r>
          </a:p>
          <a:p>
            <a:pPr lvl="2">
              <a:buFont typeface="+mj-lt"/>
              <a:buAutoNum type="arabicPeriod"/>
            </a:pPr>
            <a:r>
              <a:rPr lang="en-US" altLang="ko-KR" sz="1400" b="1" dirty="0"/>
              <a:t>Recreate</a:t>
            </a:r>
          </a:p>
          <a:p>
            <a:pPr lvl="2">
              <a:buFont typeface="+mj-lt"/>
              <a:buAutoNum type="arabicPeriod"/>
            </a:pPr>
            <a:r>
              <a:rPr lang="en-US" altLang="ko-KR" sz="1400" b="1" dirty="0" err="1"/>
              <a:t>RollingUpdate</a:t>
            </a:r>
            <a:endParaRPr lang="en-US" altLang="ko-KR" sz="1400" b="1"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91</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B188BB8B-6C1F-4701-9672-76C91FC8EBDE}"/>
              </a:ext>
            </a:extLst>
          </p:cNvPr>
          <p:cNvPicPr>
            <a:picLocks noChangeAspect="1"/>
          </p:cNvPicPr>
          <p:nvPr/>
        </p:nvPicPr>
        <p:blipFill>
          <a:blip r:embed="rId2"/>
          <a:stretch>
            <a:fillRect/>
          </a:stretch>
        </p:blipFill>
        <p:spPr>
          <a:xfrm>
            <a:off x="2154803" y="2369889"/>
            <a:ext cx="7882393" cy="3304975"/>
          </a:xfrm>
          <a:prstGeom prst="rect">
            <a:avLst/>
          </a:prstGeom>
        </p:spPr>
      </p:pic>
    </p:spTree>
    <p:extLst>
      <p:ext uri="{BB962C8B-B14F-4D97-AF65-F5344CB8AC3E}">
        <p14:creationId xmlns:p14="http://schemas.microsoft.com/office/powerpoint/2010/main" val="414079828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Deployment Strategies(2/14)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Recreate Strategy :</a:t>
            </a:r>
          </a:p>
          <a:p>
            <a:pPr lvl="1">
              <a:buFont typeface="Wingdings" panose="05000000000000000000" pitchFamily="2" charset="2"/>
              <a:buChar char="§"/>
            </a:pPr>
            <a:r>
              <a:rPr lang="en-US" altLang="ko-KR" sz="1400" b="1" dirty="0"/>
              <a:t>The Recreate strategy is the simpler of the two rollout strategies. It simply updates the </a:t>
            </a:r>
            <a:r>
              <a:rPr lang="en-US" altLang="ko-KR" sz="1400" b="1" dirty="0" err="1"/>
              <a:t>ReplicaSet</a:t>
            </a:r>
            <a:r>
              <a:rPr lang="en-US" altLang="ko-KR" sz="1400" b="1" dirty="0"/>
              <a:t> it manages to use the new image and terminates all of the Pods associated with the deployment</a:t>
            </a:r>
            <a:r>
              <a:rPr lang="en-US" altLang="ko-KR" sz="1400" dirty="0"/>
              <a:t>. The </a:t>
            </a:r>
            <a:r>
              <a:rPr lang="en-US" altLang="ko-KR" sz="1400" dirty="0" err="1"/>
              <a:t>ReplicaSet</a:t>
            </a:r>
            <a:r>
              <a:rPr lang="en-US" altLang="ko-KR" sz="1400" dirty="0"/>
              <a:t> notices that it no longer has any replicas, and re-creates all Pods using the new image. Once the Pods are re-created, they are running the new version.</a:t>
            </a:r>
          </a:p>
          <a:p>
            <a:pPr lvl="1">
              <a:buFont typeface="Wingdings" panose="05000000000000000000" pitchFamily="2" charset="2"/>
              <a:buChar char="§"/>
            </a:pPr>
            <a:r>
              <a:rPr lang="en-US" altLang="ko-KR" sz="1400" b="1" dirty="0"/>
              <a:t>While this strategy is fast and simple, it has one major drawback—it is potentially catastrophic, and will almost certainly result in some site </a:t>
            </a:r>
            <a:r>
              <a:rPr lang="en-US" altLang="ko-KR" sz="1400" b="1" dirty="0">
                <a:solidFill>
                  <a:srgbClr val="FF0000"/>
                </a:solidFill>
              </a:rPr>
              <a:t>downtime</a:t>
            </a:r>
            <a:r>
              <a:rPr lang="en-US" altLang="ko-KR" sz="1400" dirty="0"/>
              <a:t>. Because of this, </a:t>
            </a:r>
            <a:r>
              <a:rPr lang="en-US" altLang="ko-KR" sz="1400" b="1" dirty="0"/>
              <a:t>the Recreate strategy should only be used for test deployments</a:t>
            </a:r>
            <a:r>
              <a:rPr lang="en-US" altLang="ko-KR" sz="1400" dirty="0"/>
              <a:t> </a:t>
            </a:r>
            <a:r>
              <a:rPr lang="en-US" altLang="ko-KR" sz="1400" b="1" dirty="0"/>
              <a:t>where a service is not user-facing and a small amount of downtime is acceptable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92</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3049B3D7-2570-4AE3-8418-A3DB6219A31E}"/>
              </a:ext>
            </a:extLst>
          </p:cNvPr>
          <p:cNvPicPr>
            <a:picLocks noChangeAspect="1"/>
          </p:cNvPicPr>
          <p:nvPr/>
        </p:nvPicPr>
        <p:blipFill>
          <a:blip r:embed="rId2"/>
          <a:stretch>
            <a:fillRect/>
          </a:stretch>
        </p:blipFill>
        <p:spPr>
          <a:xfrm>
            <a:off x="3224357" y="3090605"/>
            <a:ext cx="5743285" cy="2953300"/>
          </a:xfrm>
          <a:prstGeom prst="rect">
            <a:avLst/>
          </a:prstGeom>
        </p:spPr>
      </p:pic>
    </p:spTree>
    <p:extLst>
      <p:ext uri="{BB962C8B-B14F-4D97-AF65-F5344CB8AC3E}">
        <p14:creationId xmlns:p14="http://schemas.microsoft.com/office/powerpoint/2010/main" val="403469308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Deployment Strategies(3/14)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RollingUpdate</a:t>
            </a:r>
            <a:r>
              <a:rPr lang="en-US" altLang="ko-KR" sz="1800" b="1" dirty="0"/>
              <a:t> Strategy :</a:t>
            </a:r>
          </a:p>
          <a:p>
            <a:pPr lvl="1">
              <a:buFont typeface="Wingdings" panose="05000000000000000000" pitchFamily="2" charset="2"/>
              <a:buChar char="§"/>
            </a:pPr>
            <a:r>
              <a:rPr lang="en-US" altLang="ko-KR" sz="1400" b="1" dirty="0"/>
              <a:t>The </a:t>
            </a:r>
            <a:r>
              <a:rPr lang="en-US" altLang="ko-KR" sz="1400" b="1" dirty="0" err="1">
                <a:solidFill>
                  <a:srgbClr val="FF0000"/>
                </a:solidFill>
              </a:rPr>
              <a:t>RollingUpdate</a:t>
            </a:r>
            <a:r>
              <a:rPr lang="en-US" altLang="ko-KR" sz="1400" b="1" dirty="0"/>
              <a:t> strategy is the generally preferable strategy for any user-facing service</a:t>
            </a:r>
            <a:r>
              <a:rPr lang="en-US" altLang="ko-KR" sz="1400" dirty="0"/>
              <a:t>. While it is slower than Recreate, it is also significantly more sophisticated and robust. </a:t>
            </a:r>
            <a:r>
              <a:rPr lang="en-US" altLang="ko-KR" sz="1400" b="1" dirty="0"/>
              <a:t>Using </a:t>
            </a:r>
            <a:r>
              <a:rPr lang="en-US" altLang="ko-KR" sz="1400" b="1" dirty="0" err="1"/>
              <a:t>RollingUpdate</a:t>
            </a:r>
            <a:r>
              <a:rPr lang="en-US" altLang="ko-KR" sz="1400" b="1" dirty="0"/>
              <a:t>, you can roll out a new version of your service while it is still receiving user traffic, </a:t>
            </a:r>
            <a:r>
              <a:rPr lang="en-US" altLang="ko-KR" sz="1400" b="1" dirty="0">
                <a:solidFill>
                  <a:srgbClr val="FF0000"/>
                </a:solidFill>
              </a:rPr>
              <a:t>without any downtime</a:t>
            </a:r>
            <a:r>
              <a:rPr lang="en-US" altLang="ko-KR" sz="1400" dirty="0"/>
              <a:t>.</a:t>
            </a:r>
          </a:p>
          <a:p>
            <a:pPr lvl="1">
              <a:buFont typeface="Wingdings" panose="05000000000000000000" pitchFamily="2" charset="2"/>
              <a:buChar char="§"/>
            </a:pPr>
            <a:r>
              <a:rPr lang="en-US" altLang="ko-KR" sz="1400" dirty="0"/>
              <a:t>As you might infer from the name, the </a:t>
            </a:r>
            <a:r>
              <a:rPr lang="en-US" altLang="ko-KR" sz="1400" b="1" dirty="0" err="1"/>
              <a:t>RollingUpdate</a:t>
            </a:r>
            <a:r>
              <a:rPr lang="en-US" altLang="ko-KR" sz="1400" dirty="0"/>
              <a:t> strategy works by </a:t>
            </a:r>
            <a:r>
              <a:rPr lang="en-US" altLang="ko-KR" sz="1400" b="1" dirty="0"/>
              <a:t>updating a few Pods at a time, moving incrementally until all of the Pods are running the new version of your software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93</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C8BACE9E-C740-4124-8CE2-3EA3A50546C4}"/>
              </a:ext>
            </a:extLst>
          </p:cNvPr>
          <p:cNvPicPr>
            <a:picLocks noChangeAspect="1"/>
          </p:cNvPicPr>
          <p:nvPr/>
        </p:nvPicPr>
        <p:blipFill>
          <a:blip r:embed="rId2"/>
          <a:stretch>
            <a:fillRect/>
          </a:stretch>
        </p:blipFill>
        <p:spPr>
          <a:xfrm>
            <a:off x="2737157" y="2659219"/>
            <a:ext cx="6717685" cy="2812319"/>
          </a:xfrm>
          <a:prstGeom prst="rect">
            <a:avLst/>
          </a:prstGeom>
        </p:spPr>
      </p:pic>
    </p:spTree>
    <p:extLst>
      <p:ext uri="{BB962C8B-B14F-4D97-AF65-F5344CB8AC3E}">
        <p14:creationId xmlns:p14="http://schemas.microsoft.com/office/powerpoint/2010/main" val="117984966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Deployment Strategies(4/14)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RollingUpdate</a:t>
            </a:r>
            <a:r>
              <a:rPr lang="en-US" altLang="ko-KR" sz="1800" b="1" dirty="0"/>
              <a:t> Strategy : </a:t>
            </a:r>
          </a:p>
          <a:p>
            <a:pPr lvl="1">
              <a:buFont typeface="Wingdings" panose="05000000000000000000" pitchFamily="2" charset="2"/>
              <a:buChar char="§"/>
            </a:pPr>
            <a:r>
              <a:rPr lang="en-US" altLang="ko-KR" sz="1400" b="1" dirty="0"/>
              <a:t>Managing multiple versions of your service - </a:t>
            </a:r>
          </a:p>
          <a:p>
            <a:pPr lvl="2">
              <a:buFont typeface="Wingdings" panose="05000000000000000000" pitchFamily="2" charset="2"/>
              <a:buChar char="§"/>
            </a:pPr>
            <a:r>
              <a:rPr lang="en-US" altLang="ko-KR" sz="1400" dirty="0"/>
              <a:t>Importantly, this means that </a:t>
            </a:r>
            <a:r>
              <a:rPr lang="en-US" altLang="ko-KR" sz="1400" b="1" dirty="0"/>
              <a:t>for a period of time, both the new and the old version of your service will be receiving requests and serving traffic</a:t>
            </a:r>
            <a:r>
              <a:rPr lang="en-US" altLang="ko-KR" sz="1400" dirty="0"/>
              <a:t>. </a:t>
            </a:r>
            <a:r>
              <a:rPr lang="en-US" altLang="ko-KR" sz="1400" b="1" dirty="0"/>
              <a:t>This has important implications for how you build your software</a:t>
            </a:r>
            <a:r>
              <a:rPr lang="en-US" altLang="ko-KR" sz="1400" dirty="0"/>
              <a:t>. Namely, it is critically important that each version of your software, and all of its clients, is capable of talking interchangeably with both a slightly older and a slightly newer version of your software.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94</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DB92C500-9FDA-46B3-AF65-1E54E1BE8770}"/>
              </a:ext>
            </a:extLst>
          </p:cNvPr>
          <p:cNvSpPr/>
          <p:nvPr/>
        </p:nvSpPr>
        <p:spPr>
          <a:xfrm>
            <a:off x="3048000" y="2237808"/>
            <a:ext cx="6096000" cy="1323439"/>
          </a:xfrm>
          <a:prstGeom prst="rect">
            <a:avLst/>
          </a:prstGeom>
          <a:ln>
            <a:solidFill>
              <a:schemeClr val="bg1">
                <a:lumMod val="50000"/>
              </a:schemeClr>
            </a:solidFill>
          </a:ln>
        </p:spPr>
        <p:txBody>
          <a:bodyPr>
            <a:spAutoFit/>
          </a:bodyPr>
          <a:lstStyle/>
          <a:p>
            <a:r>
              <a:rPr lang="en-US" altLang="ko-KR" sz="1000" b="1" dirty="0"/>
              <a:t>You are in the middle of rolling out your frontend software; half of your servers are running version 1 and half are running version 2. A user makes an initial request to your service and downloads a client-side JavaScript library that implements your UI. This request is serviced by a version 1 server and thus the user receives the version 1 client library. This client library runs in the user’s browser and makes subsequent API requests to your service. These API requests happen to be routed to a version 2 server; thus, version 1 of your JavaScript client library is talking to version 2 of your API server. </a:t>
            </a:r>
            <a:r>
              <a:rPr lang="en-US" altLang="ko-KR" sz="1000" b="1" dirty="0">
                <a:solidFill>
                  <a:srgbClr val="FF0000"/>
                </a:solidFill>
              </a:rPr>
              <a:t>If you haven’t ensured compatibility between these versions, your application won’t function correctly</a:t>
            </a:r>
            <a:r>
              <a:rPr lang="en-US" altLang="ko-KR" sz="1000" b="1" dirty="0"/>
              <a:t>.</a:t>
            </a:r>
            <a:endParaRPr lang="ko-KR" altLang="en-US" sz="1000" b="1" dirty="0"/>
          </a:p>
        </p:txBody>
      </p:sp>
      <p:pic>
        <p:nvPicPr>
          <p:cNvPr id="8" name="그림 7">
            <a:extLst>
              <a:ext uri="{FF2B5EF4-FFF2-40B4-BE49-F238E27FC236}">
                <a16:creationId xmlns:a16="http://schemas.microsoft.com/office/drawing/2014/main" id="{5D734B68-7972-40BA-8D2E-633220B92ED3}"/>
              </a:ext>
            </a:extLst>
          </p:cNvPr>
          <p:cNvPicPr>
            <a:picLocks noChangeAspect="1"/>
          </p:cNvPicPr>
          <p:nvPr/>
        </p:nvPicPr>
        <p:blipFill>
          <a:blip r:embed="rId2"/>
          <a:stretch>
            <a:fillRect/>
          </a:stretch>
        </p:blipFill>
        <p:spPr>
          <a:xfrm>
            <a:off x="4093705" y="3735574"/>
            <a:ext cx="4004590" cy="2673456"/>
          </a:xfrm>
          <a:prstGeom prst="rect">
            <a:avLst/>
          </a:prstGeom>
        </p:spPr>
      </p:pic>
    </p:spTree>
    <p:extLst>
      <p:ext uri="{BB962C8B-B14F-4D97-AF65-F5344CB8AC3E}">
        <p14:creationId xmlns:p14="http://schemas.microsoft.com/office/powerpoint/2010/main" val="305209582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Deployment Strategies(5/14)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RollingUpdate</a:t>
            </a:r>
            <a:r>
              <a:rPr lang="en-US" altLang="ko-KR" sz="1800" b="1" dirty="0"/>
              <a:t> Strategy :</a:t>
            </a:r>
          </a:p>
          <a:p>
            <a:pPr lvl="1">
              <a:buFont typeface="Wingdings" panose="05000000000000000000" pitchFamily="2" charset="2"/>
              <a:buChar char="§"/>
            </a:pPr>
            <a:r>
              <a:rPr lang="en-US" altLang="ko-KR" sz="1400" b="1" dirty="0"/>
              <a:t>Managing multiple versions of your service - </a:t>
            </a:r>
          </a:p>
          <a:p>
            <a:pPr lvl="2">
              <a:buFont typeface="Wingdings" panose="05000000000000000000" pitchFamily="2" charset="2"/>
              <a:buChar char="§"/>
            </a:pPr>
            <a:r>
              <a:rPr lang="en-US" altLang="ko-KR" sz="1400" b="1" dirty="0"/>
              <a:t>Note that this doesn’t just apply to JavaScript clients—the same thing is true of client libraries that are compiled into other services that make calls to your service</a:t>
            </a:r>
            <a:r>
              <a:rPr lang="en-US" altLang="ko-KR" sz="1400" dirty="0"/>
              <a:t>. </a:t>
            </a:r>
            <a:r>
              <a:rPr lang="en-US" altLang="ko-KR" sz="1400" b="1" dirty="0"/>
              <a:t>Just because you updated doesn’t mean they have updated their client libraries</a:t>
            </a:r>
            <a:r>
              <a:rPr lang="en-US" altLang="ko-KR" sz="1400" dirty="0"/>
              <a:t>. This sort of </a:t>
            </a:r>
            <a:r>
              <a:rPr lang="en-US" altLang="ko-KR" sz="1400" b="1" dirty="0">
                <a:solidFill>
                  <a:srgbClr val="FF0000"/>
                </a:solidFill>
              </a:rPr>
              <a:t>backward compatibility </a:t>
            </a:r>
            <a:r>
              <a:rPr lang="en-US" altLang="ko-KR" sz="1400" dirty="0"/>
              <a:t>is critical to </a:t>
            </a:r>
            <a:r>
              <a:rPr lang="en-US" altLang="ko-KR" sz="1400" b="1" dirty="0"/>
              <a:t>decoupling your service from systems that depend on your service</a:t>
            </a:r>
            <a:r>
              <a:rPr lang="en-US" altLang="ko-KR" sz="1400" dirty="0"/>
              <a:t>. If you don’t formalize your APIs and decouple yourself, you are forced to carefully manage your rollouts with all of the other systems that call into your service. </a:t>
            </a:r>
            <a:r>
              <a:rPr lang="en-US" altLang="ko-KR" sz="1400" b="1" dirty="0"/>
              <a:t>This kind of tight coupling makes it extremely hard to produce the necessary agility to be able to push out new software every week, let alone every hour or every day</a:t>
            </a:r>
            <a:r>
              <a:rPr lang="en-US" altLang="ko-KR" sz="1400" dirty="0"/>
              <a:t>. In the “</a:t>
            </a:r>
            <a:r>
              <a:rPr lang="en-US" altLang="ko-KR" sz="1400" b="1" dirty="0">
                <a:solidFill>
                  <a:srgbClr val="FF0000"/>
                </a:solidFill>
              </a:rPr>
              <a:t>decoupled architecture</a:t>
            </a:r>
            <a:r>
              <a:rPr lang="en-US" altLang="ko-KR" sz="1400" b="1" dirty="0"/>
              <a:t>”, the frontend is isolated from the backend via an API contract and a load balancer, whereas in the “</a:t>
            </a:r>
            <a:r>
              <a:rPr lang="en-US" altLang="ko-KR" sz="1400" b="1" dirty="0">
                <a:solidFill>
                  <a:srgbClr val="FF0000"/>
                </a:solidFill>
              </a:rPr>
              <a:t>coupled architecture</a:t>
            </a:r>
            <a:r>
              <a:rPr lang="en-US" altLang="ko-KR" sz="1400" b="1" dirty="0"/>
              <a:t>”, a thick client compiled into the frontend is used to connect directly to the backends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95</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232D5952-3A37-409B-A903-5DB0C22EB9DC}"/>
              </a:ext>
            </a:extLst>
          </p:cNvPr>
          <p:cNvGrpSpPr/>
          <p:nvPr/>
        </p:nvGrpSpPr>
        <p:grpSpPr>
          <a:xfrm>
            <a:off x="2555993" y="3561055"/>
            <a:ext cx="6330832" cy="2847975"/>
            <a:chOff x="2555993" y="3561055"/>
            <a:chExt cx="6330832" cy="2847975"/>
          </a:xfrm>
        </p:grpSpPr>
        <p:pic>
          <p:nvPicPr>
            <p:cNvPr id="4" name="그림 3">
              <a:extLst>
                <a:ext uri="{FF2B5EF4-FFF2-40B4-BE49-F238E27FC236}">
                  <a16:creationId xmlns:a16="http://schemas.microsoft.com/office/drawing/2014/main" id="{DBE4BAE8-3324-48C7-BB31-5CFE271D2947}"/>
                </a:ext>
              </a:extLst>
            </p:cNvPr>
            <p:cNvPicPr>
              <a:picLocks noChangeAspect="1"/>
            </p:cNvPicPr>
            <p:nvPr/>
          </p:nvPicPr>
          <p:blipFill>
            <a:blip r:embed="rId2"/>
            <a:stretch>
              <a:fillRect/>
            </a:stretch>
          </p:blipFill>
          <p:spPr>
            <a:xfrm>
              <a:off x="3305175" y="3561055"/>
              <a:ext cx="5581650" cy="2847975"/>
            </a:xfrm>
            <a:prstGeom prst="rect">
              <a:avLst/>
            </a:prstGeom>
          </p:spPr>
        </p:pic>
        <p:sp>
          <p:nvSpPr>
            <p:cNvPr id="8" name="직사각형 7">
              <a:extLst>
                <a:ext uri="{FF2B5EF4-FFF2-40B4-BE49-F238E27FC236}">
                  <a16:creationId xmlns:a16="http://schemas.microsoft.com/office/drawing/2014/main" id="{F2ED3116-DD49-4D87-A741-153924D30263}"/>
                </a:ext>
              </a:extLst>
            </p:cNvPr>
            <p:cNvSpPr/>
            <p:nvPr/>
          </p:nvSpPr>
          <p:spPr>
            <a:xfrm>
              <a:off x="3196424" y="4412974"/>
              <a:ext cx="2393343" cy="57249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TextBox 8">
              <a:extLst>
                <a:ext uri="{FF2B5EF4-FFF2-40B4-BE49-F238E27FC236}">
                  <a16:creationId xmlns:a16="http://schemas.microsoft.com/office/drawing/2014/main" id="{F2C23DDC-1965-40BD-ACC4-A5B27CD78273}"/>
                </a:ext>
              </a:extLst>
            </p:cNvPr>
            <p:cNvSpPr txBox="1"/>
            <p:nvPr/>
          </p:nvSpPr>
          <p:spPr>
            <a:xfrm>
              <a:off x="2555993" y="4166753"/>
              <a:ext cx="881973" cy="246221"/>
            </a:xfrm>
            <a:prstGeom prst="rect">
              <a:avLst/>
            </a:prstGeom>
            <a:noFill/>
          </p:spPr>
          <p:txBody>
            <a:bodyPr wrap="none" rtlCol="0">
              <a:spAutoFit/>
            </a:bodyPr>
            <a:lstStyle/>
            <a:p>
              <a:pPr algn="ctr"/>
              <a:r>
                <a:rPr lang="en-US" altLang="ko-KR" sz="1000" b="1" dirty="0"/>
                <a:t>Decoupling</a:t>
              </a:r>
              <a:endParaRPr lang="ko-KR" altLang="en-US" sz="1000" b="1" dirty="0"/>
            </a:p>
          </p:txBody>
        </p:sp>
        <p:sp>
          <p:nvSpPr>
            <p:cNvPr id="10" name="직사각형 9">
              <a:extLst>
                <a:ext uri="{FF2B5EF4-FFF2-40B4-BE49-F238E27FC236}">
                  <a16:creationId xmlns:a16="http://schemas.microsoft.com/office/drawing/2014/main" id="{B4E886BD-8796-48B4-BE57-B67F4D5D22E3}"/>
                </a:ext>
              </a:extLst>
            </p:cNvPr>
            <p:cNvSpPr/>
            <p:nvPr/>
          </p:nvSpPr>
          <p:spPr>
            <a:xfrm>
              <a:off x="6742706" y="3824576"/>
              <a:ext cx="818363" cy="51683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직사각형 10">
              <a:extLst>
                <a:ext uri="{FF2B5EF4-FFF2-40B4-BE49-F238E27FC236}">
                  <a16:creationId xmlns:a16="http://schemas.microsoft.com/office/drawing/2014/main" id="{60E31E31-65A1-4F16-BCCB-734355E39F11}"/>
                </a:ext>
              </a:extLst>
            </p:cNvPr>
            <p:cNvSpPr/>
            <p:nvPr/>
          </p:nvSpPr>
          <p:spPr>
            <a:xfrm>
              <a:off x="7952340" y="3824575"/>
              <a:ext cx="818363" cy="51683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TextBox 11">
              <a:extLst>
                <a:ext uri="{FF2B5EF4-FFF2-40B4-BE49-F238E27FC236}">
                  <a16:creationId xmlns:a16="http://schemas.microsoft.com/office/drawing/2014/main" id="{B65217BF-D600-4E8F-BF55-510FD53EB9EF}"/>
                </a:ext>
              </a:extLst>
            </p:cNvPr>
            <p:cNvSpPr txBox="1"/>
            <p:nvPr/>
          </p:nvSpPr>
          <p:spPr>
            <a:xfrm>
              <a:off x="6000867" y="4115067"/>
              <a:ext cx="734496" cy="246221"/>
            </a:xfrm>
            <a:prstGeom prst="rect">
              <a:avLst/>
            </a:prstGeom>
            <a:noFill/>
          </p:spPr>
          <p:txBody>
            <a:bodyPr wrap="none" rtlCol="0">
              <a:spAutoFit/>
            </a:bodyPr>
            <a:lstStyle/>
            <a:p>
              <a:pPr algn="ctr"/>
              <a:r>
                <a:rPr lang="en-US" altLang="ko-KR" sz="1000" b="1" dirty="0"/>
                <a:t>Coupling</a:t>
              </a:r>
              <a:endParaRPr lang="ko-KR" altLang="en-US" sz="1000" b="1" dirty="0"/>
            </a:p>
          </p:txBody>
        </p:sp>
      </p:grpSp>
    </p:spTree>
    <p:extLst>
      <p:ext uri="{BB962C8B-B14F-4D97-AF65-F5344CB8AC3E}">
        <p14:creationId xmlns:p14="http://schemas.microsoft.com/office/powerpoint/2010/main" val="13685531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Deployment Strategies(6/14)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RollingUpdate</a:t>
            </a:r>
            <a:r>
              <a:rPr lang="en-US" altLang="ko-KR" sz="1800" b="1" dirty="0"/>
              <a:t> Strategy :</a:t>
            </a:r>
          </a:p>
          <a:p>
            <a:pPr lvl="1">
              <a:buFont typeface="Wingdings" panose="05000000000000000000" pitchFamily="2" charset="2"/>
              <a:buChar char="§"/>
            </a:pPr>
            <a:r>
              <a:rPr lang="en-US" altLang="ko-KR" sz="1400" b="1" dirty="0"/>
              <a:t>Configuring a rolling update </a:t>
            </a:r>
            <a:r>
              <a:rPr lang="en-US" altLang="ko-KR" sz="1400" dirty="0"/>
              <a:t>- </a:t>
            </a:r>
          </a:p>
          <a:p>
            <a:pPr lvl="2">
              <a:buFont typeface="Wingdings" panose="05000000000000000000" pitchFamily="2" charset="2"/>
              <a:buChar char="§"/>
            </a:pPr>
            <a:r>
              <a:rPr lang="en-US" altLang="ko-KR" sz="1400" b="1" dirty="0" err="1"/>
              <a:t>RollingUpdate</a:t>
            </a:r>
            <a:r>
              <a:rPr lang="en-US" altLang="ko-KR" sz="1400" b="1" dirty="0"/>
              <a:t> is a fairly generic strategy</a:t>
            </a:r>
            <a:r>
              <a:rPr lang="en-US" altLang="ko-KR" sz="1400" dirty="0"/>
              <a:t>; it can be used to update a variety of applications in a variety of settings. Consequently, </a:t>
            </a:r>
            <a:r>
              <a:rPr lang="en-US" altLang="ko-KR" sz="1400" b="1" dirty="0"/>
              <a:t>the rolling update itself is quite configurable</a:t>
            </a:r>
            <a:r>
              <a:rPr lang="en-US" altLang="ko-KR" sz="1400" dirty="0"/>
              <a:t>; you can tune its behavior to suit your particular needs. There are two parameters you can use to </a:t>
            </a:r>
            <a:r>
              <a:rPr lang="en-US" altLang="ko-KR" sz="1400" b="1" dirty="0"/>
              <a:t>tune the rolling update behavior</a:t>
            </a:r>
            <a:r>
              <a:rPr lang="en-US" altLang="ko-KR" sz="1400" dirty="0"/>
              <a:t>: </a:t>
            </a:r>
            <a:r>
              <a:rPr lang="en-US" altLang="ko-KR" sz="1400" b="1" dirty="0" err="1">
                <a:solidFill>
                  <a:srgbClr val="FF0000"/>
                </a:solidFill>
              </a:rPr>
              <a:t>maxUnavailable</a:t>
            </a:r>
            <a:r>
              <a:rPr lang="en-US" altLang="ko-KR" sz="1400" dirty="0"/>
              <a:t> and </a:t>
            </a:r>
            <a:r>
              <a:rPr lang="en-US" altLang="ko-KR" sz="1400" b="1" dirty="0" err="1">
                <a:solidFill>
                  <a:srgbClr val="FF0000"/>
                </a:solidFill>
              </a:rPr>
              <a:t>maxSurge</a:t>
            </a:r>
            <a:r>
              <a:rPr lang="en-US" altLang="ko-KR" sz="1400" dirty="0"/>
              <a:t>.</a:t>
            </a:r>
          </a:p>
          <a:p>
            <a:pPr lvl="2">
              <a:buFont typeface="Wingdings" panose="05000000000000000000" pitchFamily="2" charset="2"/>
              <a:buChar char="§"/>
            </a:pPr>
            <a:r>
              <a:rPr lang="en-US" altLang="ko-KR" sz="1400" b="1" dirty="0"/>
              <a:t>The </a:t>
            </a:r>
            <a:r>
              <a:rPr lang="en-US" altLang="ko-KR" sz="1400" b="1" dirty="0" err="1"/>
              <a:t>maxUnavailable</a:t>
            </a:r>
            <a:r>
              <a:rPr lang="en-US" altLang="ko-KR" sz="1400" b="1" dirty="0"/>
              <a:t> parameter sets the maximum number of Pods that can be unavailable during a rolling update</a:t>
            </a:r>
            <a:r>
              <a:rPr lang="en-US" altLang="ko-KR" sz="1400" dirty="0"/>
              <a:t>. It can either be set to an </a:t>
            </a:r>
            <a:r>
              <a:rPr lang="en-US" altLang="ko-KR" sz="1400" b="1" dirty="0"/>
              <a:t>absolute number</a:t>
            </a:r>
            <a:r>
              <a:rPr lang="en-US" altLang="ko-KR" sz="1400" dirty="0"/>
              <a:t> (e.g., 3, meaning a maximum of three Pods can be unavailable) or to a </a:t>
            </a:r>
            <a:r>
              <a:rPr lang="en-US" altLang="ko-KR" sz="1400" b="1" dirty="0"/>
              <a:t>percentage</a:t>
            </a:r>
            <a:r>
              <a:rPr lang="en-US" altLang="ko-KR" sz="1400" dirty="0"/>
              <a:t> (e.g., 20%, meaning a maximum of 20% of the desired number of replicas can be unavailable). </a:t>
            </a:r>
          </a:p>
          <a:p>
            <a:pPr lvl="2">
              <a:buFont typeface="Wingdings" panose="05000000000000000000" pitchFamily="2" charset="2"/>
              <a:buChar char="§"/>
            </a:pPr>
            <a:r>
              <a:rPr lang="en-US" altLang="ko-KR" sz="1400" b="1" dirty="0"/>
              <a:t>Generally speaking, using a percentage is a good approach for most services</a:t>
            </a:r>
            <a:r>
              <a:rPr lang="en-US" altLang="ko-KR" sz="1400" dirty="0"/>
              <a:t>, since the value is correctly applicable regardless of the desired number of replicas in the deployment. However, there are times when you may want to use an absolute number (e.g., limiting the maximum unavailable Pods to one).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96</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8B19D273-384A-4585-9D8F-3A08B6081513}"/>
              </a:ext>
            </a:extLst>
          </p:cNvPr>
          <p:cNvPicPr>
            <a:picLocks noChangeAspect="1"/>
          </p:cNvPicPr>
          <p:nvPr/>
        </p:nvPicPr>
        <p:blipFill>
          <a:blip r:embed="rId2"/>
          <a:stretch>
            <a:fillRect/>
          </a:stretch>
        </p:blipFill>
        <p:spPr>
          <a:xfrm>
            <a:off x="3812816" y="3705767"/>
            <a:ext cx="4566368" cy="2703263"/>
          </a:xfrm>
          <a:prstGeom prst="rect">
            <a:avLst/>
          </a:prstGeom>
        </p:spPr>
      </p:pic>
    </p:spTree>
    <p:extLst>
      <p:ext uri="{BB962C8B-B14F-4D97-AF65-F5344CB8AC3E}">
        <p14:creationId xmlns:p14="http://schemas.microsoft.com/office/powerpoint/2010/main" val="240585122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Deployment Strategies(7/14)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RollingUpdate</a:t>
            </a:r>
            <a:r>
              <a:rPr lang="en-US" altLang="ko-KR" sz="1800" b="1" dirty="0"/>
              <a:t> Strategy :</a:t>
            </a:r>
          </a:p>
          <a:p>
            <a:pPr lvl="1">
              <a:buFont typeface="Wingdings" panose="05000000000000000000" pitchFamily="2" charset="2"/>
              <a:buChar char="§"/>
            </a:pPr>
            <a:r>
              <a:rPr lang="en-US" altLang="ko-KR" sz="1400" b="1" dirty="0"/>
              <a:t>Configuring a rolling update </a:t>
            </a:r>
            <a:r>
              <a:rPr lang="en-US" altLang="ko-KR" sz="1400" dirty="0"/>
              <a:t>- </a:t>
            </a:r>
          </a:p>
          <a:p>
            <a:pPr lvl="2">
              <a:buFont typeface="Wingdings" panose="05000000000000000000" pitchFamily="2" charset="2"/>
              <a:buChar char="§"/>
            </a:pPr>
            <a:r>
              <a:rPr lang="en-US" altLang="ko-KR" sz="1400" b="1" dirty="0"/>
              <a:t>At its core, the </a:t>
            </a:r>
            <a:r>
              <a:rPr lang="en-US" altLang="ko-KR" sz="1400" b="1" dirty="0" err="1"/>
              <a:t>maxUnavailable</a:t>
            </a:r>
            <a:r>
              <a:rPr lang="en-US" altLang="ko-KR" sz="1400" b="1" dirty="0"/>
              <a:t> parameter helps tune how quickly a rolling update proceeds</a:t>
            </a:r>
            <a:r>
              <a:rPr lang="en-US" altLang="ko-KR" sz="1400" dirty="0"/>
              <a:t>. For example, if you set </a:t>
            </a:r>
            <a:r>
              <a:rPr lang="en-US" altLang="ko-KR" sz="1400" b="1" dirty="0" err="1"/>
              <a:t>maxUnavailable</a:t>
            </a:r>
            <a:r>
              <a:rPr lang="en-US" altLang="ko-KR" sz="1400" dirty="0"/>
              <a:t> to 50%, then the rolling update will immediately scale the old </a:t>
            </a:r>
            <a:r>
              <a:rPr lang="en-US" altLang="ko-KR" sz="1400" dirty="0" err="1"/>
              <a:t>ReplicaSet</a:t>
            </a:r>
            <a:r>
              <a:rPr lang="en-US" altLang="ko-KR" sz="1400" dirty="0"/>
              <a:t> down to 50% of its original size. If you have four replicas, it will scale it down to two replicas. The rolling update will then replace the removed Pods by scaling the new </a:t>
            </a:r>
            <a:r>
              <a:rPr lang="en-US" altLang="ko-KR" sz="1400" dirty="0" err="1"/>
              <a:t>ReplicaSet</a:t>
            </a:r>
            <a:r>
              <a:rPr lang="en-US" altLang="ko-KR" sz="1400" dirty="0"/>
              <a:t> up to two replicas, for a total of four replicas (two old, two new). It will then scale the old </a:t>
            </a:r>
            <a:r>
              <a:rPr lang="en-US" altLang="ko-KR" sz="1400" dirty="0" err="1"/>
              <a:t>ReplicaSet</a:t>
            </a:r>
            <a:r>
              <a:rPr lang="en-US" altLang="ko-KR" sz="1400" dirty="0"/>
              <a:t> down to zero replicas, for a total size of two new replicas. Finally, it will scale the new </a:t>
            </a:r>
            <a:r>
              <a:rPr lang="en-US" altLang="ko-KR" sz="1400" dirty="0" err="1"/>
              <a:t>ReplicaSet</a:t>
            </a:r>
            <a:r>
              <a:rPr lang="en-US" altLang="ko-KR" sz="1400" dirty="0"/>
              <a:t> up to four replicas, completing the rollout. Thus, with </a:t>
            </a:r>
            <a:r>
              <a:rPr lang="en-US" altLang="ko-KR" sz="1400" dirty="0" err="1"/>
              <a:t>maxUnavailable</a:t>
            </a:r>
            <a:r>
              <a:rPr lang="en-US" altLang="ko-KR" sz="1400" dirty="0"/>
              <a:t> set to 50%, our </a:t>
            </a:r>
            <a:r>
              <a:rPr lang="en-US" altLang="ko-KR" sz="1400" b="1" dirty="0"/>
              <a:t>rollout completes in four steps</a:t>
            </a:r>
            <a:r>
              <a:rPr lang="en-US" altLang="ko-KR" sz="1400" dirty="0"/>
              <a:t>, </a:t>
            </a:r>
            <a:r>
              <a:rPr lang="en-US" altLang="ko-KR" sz="1400" b="1" dirty="0"/>
              <a:t>but with only 50% of our </a:t>
            </a:r>
            <a:r>
              <a:rPr lang="en-US" altLang="ko-KR" sz="1400" b="1" dirty="0">
                <a:solidFill>
                  <a:srgbClr val="FF0000"/>
                </a:solidFill>
              </a:rPr>
              <a:t>service capacity </a:t>
            </a:r>
            <a:r>
              <a:rPr lang="en-US" altLang="ko-KR" sz="1400" b="1" dirty="0"/>
              <a:t>at times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97</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602627E3-1E64-4B2C-AC55-5B9CEEC87DCB}"/>
              </a:ext>
            </a:extLst>
          </p:cNvPr>
          <p:cNvGrpSpPr/>
          <p:nvPr/>
        </p:nvGrpSpPr>
        <p:grpSpPr>
          <a:xfrm>
            <a:off x="2945958" y="3151277"/>
            <a:ext cx="6300083" cy="2682336"/>
            <a:chOff x="2945958" y="3095618"/>
            <a:chExt cx="6300083" cy="2682336"/>
          </a:xfrm>
        </p:grpSpPr>
        <p:pic>
          <p:nvPicPr>
            <p:cNvPr id="4" name="그림 3">
              <a:extLst>
                <a:ext uri="{FF2B5EF4-FFF2-40B4-BE49-F238E27FC236}">
                  <a16:creationId xmlns:a16="http://schemas.microsoft.com/office/drawing/2014/main" id="{33183FA3-D49E-4302-8F85-F982A82AF792}"/>
                </a:ext>
              </a:extLst>
            </p:cNvPr>
            <p:cNvPicPr>
              <a:picLocks noChangeAspect="1"/>
            </p:cNvPicPr>
            <p:nvPr/>
          </p:nvPicPr>
          <p:blipFill>
            <a:blip r:embed="rId2"/>
            <a:stretch>
              <a:fillRect/>
            </a:stretch>
          </p:blipFill>
          <p:spPr>
            <a:xfrm>
              <a:off x="2945958" y="3095618"/>
              <a:ext cx="6300083" cy="2682336"/>
            </a:xfrm>
            <a:prstGeom prst="rect">
              <a:avLst/>
            </a:prstGeom>
          </p:spPr>
        </p:pic>
        <p:sp>
          <p:nvSpPr>
            <p:cNvPr id="8" name="화살표: 오른쪽 7">
              <a:extLst>
                <a:ext uri="{FF2B5EF4-FFF2-40B4-BE49-F238E27FC236}">
                  <a16:creationId xmlns:a16="http://schemas.microsoft.com/office/drawing/2014/main" id="{B91EB568-4394-411B-9FCA-1B9F51381D1A}"/>
                </a:ext>
              </a:extLst>
            </p:cNvPr>
            <p:cNvSpPr/>
            <p:nvPr/>
          </p:nvSpPr>
          <p:spPr>
            <a:xfrm>
              <a:off x="5714336" y="5064981"/>
              <a:ext cx="763325" cy="206733"/>
            </a:xfrm>
            <a:prstGeom prst="right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62272859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Deployment Strategies(8/14)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RollingUpdate</a:t>
            </a:r>
            <a:r>
              <a:rPr lang="en-US" altLang="ko-KR" sz="1800" b="1" dirty="0"/>
              <a:t> Strategy :</a:t>
            </a:r>
          </a:p>
          <a:p>
            <a:pPr lvl="1">
              <a:buFont typeface="Wingdings" panose="05000000000000000000" pitchFamily="2" charset="2"/>
              <a:buChar char="§"/>
            </a:pPr>
            <a:r>
              <a:rPr lang="en-US" altLang="ko-KR" sz="1400" b="1" dirty="0"/>
              <a:t>Configuring a rolling update </a:t>
            </a:r>
            <a:r>
              <a:rPr lang="en-US" altLang="ko-KR" sz="1400" dirty="0"/>
              <a:t>-</a:t>
            </a:r>
          </a:p>
          <a:p>
            <a:pPr lvl="2">
              <a:buFont typeface="Wingdings" panose="05000000000000000000" pitchFamily="2" charset="2"/>
              <a:buChar char="§"/>
            </a:pPr>
            <a:r>
              <a:rPr lang="en-US" altLang="ko-KR" sz="1400" dirty="0"/>
              <a:t>Consider what happens if we instead </a:t>
            </a:r>
            <a:r>
              <a:rPr lang="en-US" altLang="ko-KR" sz="1400" b="1" dirty="0"/>
              <a:t>set </a:t>
            </a:r>
            <a:r>
              <a:rPr lang="en-US" altLang="ko-KR" sz="1400" b="1" dirty="0" err="1"/>
              <a:t>maxUnavailable</a:t>
            </a:r>
            <a:r>
              <a:rPr lang="en-US" altLang="ko-KR" sz="1400" b="1" dirty="0"/>
              <a:t> to 25%. </a:t>
            </a:r>
            <a:r>
              <a:rPr lang="en-US" altLang="ko-KR" sz="1400" dirty="0"/>
              <a:t>In this situation, each step is only performed with a single replica at a time and thus </a:t>
            </a:r>
            <a:r>
              <a:rPr lang="en-US" altLang="ko-KR" sz="1400" b="1" dirty="0"/>
              <a:t>it takes twice as many steps for the rollout to complete</a:t>
            </a:r>
            <a:r>
              <a:rPr lang="en-US" altLang="ko-KR" sz="1400" dirty="0"/>
              <a:t>, but </a:t>
            </a:r>
            <a:r>
              <a:rPr lang="en-US" altLang="ko-KR" sz="1400" b="1" dirty="0"/>
              <a:t>availability only drops to a minimum of 75% during the rollout</a:t>
            </a:r>
            <a:r>
              <a:rPr lang="en-US" altLang="ko-KR" sz="1400" dirty="0"/>
              <a:t>. This illustrates how </a:t>
            </a:r>
            <a:r>
              <a:rPr lang="en-US" altLang="ko-KR" sz="1400" b="1" dirty="0" err="1">
                <a:solidFill>
                  <a:srgbClr val="FF0000"/>
                </a:solidFill>
              </a:rPr>
              <a:t>maxUnavailable</a:t>
            </a:r>
            <a:r>
              <a:rPr lang="en-US" altLang="ko-KR" sz="1400" b="1" dirty="0">
                <a:solidFill>
                  <a:srgbClr val="FF0000"/>
                </a:solidFill>
              </a:rPr>
              <a:t> allows us to trade rollout speed for availability</a:t>
            </a:r>
            <a:r>
              <a:rPr lang="en-US" altLang="ko-KR" sz="1400" dirty="0"/>
              <a:t>.</a:t>
            </a:r>
          </a:p>
          <a:p>
            <a:pPr lvl="2">
              <a:buFont typeface="Wingdings" panose="05000000000000000000" pitchFamily="2" charset="2"/>
              <a:buChar char="§"/>
            </a:pPr>
            <a:r>
              <a:rPr lang="en-US" altLang="ko-KR" sz="1400" b="1" dirty="0"/>
              <a:t>NOTE : The observant among you will note that the “Recreate strategy” is identical to the “</a:t>
            </a:r>
            <a:r>
              <a:rPr lang="en-US" altLang="ko-KR" sz="1400" b="1" dirty="0" err="1"/>
              <a:t>RollingUpdate</a:t>
            </a:r>
            <a:r>
              <a:rPr lang="en-US" altLang="ko-KR" sz="1400" b="1" dirty="0"/>
              <a:t> strategy with </a:t>
            </a:r>
            <a:r>
              <a:rPr lang="en-US" altLang="ko-KR" sz="1400" b="1" dirty="0" err="1"/>
              <a:t>maxUnavailable</a:t>
            </a:r>
            <a:r>
              <a:rPr lang="en-US" altLang="ko-KR" sz="1400" b="1" dirty="0"/>
              <a:t> set to 100%”</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98</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92B8EB48-6125-44C5-925B-AA7E926AE58E}"/>
              </a:ext>
            </a:extLst>
          </p:cNvPr>
          <p:cNvPicPr>
            <a:picLocks noChangeAspect="1"/>
          </p:cNvPicPr>
          <p:nvPr/>
        </p:nvPicPr>
        <p:blipFill>
          <a:blip r:embed="rId2"/>
          <a:stretch>
            <a:fillRect/>
          </a:stretch>
        </p:blipFill>
        <p:spPr>
          <a:xfrm>
            <a:off x="4246659" y="2710349"/>
            <a:ext cx="3698681" cy="3698681"/>
          </a:xfrm>
          <a:prstGeom prst="rect">
            <a:avLst/>
          </a:prstGeom>
        </p:spPr>
      </p:pic>
    </p:spTree>
    <p:extLst>
      <p:ext uri="{BB962C8B-B14F-4D97-AF65-F5344CB8AC3E}">
        <p14:creationId xmlns:p14="http://schemas.microsoft.com/office/powerpoint/2010/main" val="122834572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Deployment Strategies(9/14)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RollingUpdate</a:t>
            </a:r>
            <a:r>
              <a:rPr lang="en-US" altLang="ko-KR" sz="1800" b="1" dirty="0"/>
              <a:t> Strategy :</a:t>
            </a:r>
          </a:p>
          <a:p>
            <a:pPr lvl="1">
              <a:buFont typeface="Wingdings" panose="05000000000000000000" pitchFamily="2" charset="2"/>
              <a:buChar char="§"/>
            </a:pPr>
            <a:r>
              <a:rPr lang="en-US" altLang="ko-KR" sz="1400" b="1" dirty="0"/>
              <a:t>Configuring a rolling update </a:t>
            </a:r>
            <a:r>
              <a:rPr lang="en-US" altLang="ko-KR" sz="1400" dirty="0"/>
              <a:t>-</a:t>
            </a:r>
          </a:p>
          <a:p>
            <a:pPr lvl="2">
              <a:buFont typeface="Wingdings" panose="05000000000000000000" pitchFamily="2" charset="2"/>
              <a:buChar char="§"/>
            </a:pPr>
            <a:r>
              <a:rPr lang="en-US" altLang="ko-KR" sz="1400" b="1" dirty="0"/>
              <a:t>Using reduced capacity to achieve a successful rollout is useful </a:t>
            </a:r>
            <a:r>
              <a:rPr lang="en-US" altLang="ko-KR" sz="1400" dirty="0"/>
              <a:t>either when your service has cyclical traffic patterns (e.g., much less traffic at night) or when you have limited resources, so scaling to larger than the current maximum number of replicas isn’t possible.</a:t>
            </a:r>
          </a:p>
          <a:p>
            <a:pPr lvl="2">
              <a:buFont typeface="Wingdings" panose="05000000000000000000" pitchFamily="2" charset="2"/>
              <a:buChar char="§"/>
            </a:pPr>
            <a:r>
              <a:rPr lang="en-US" altLang="ko-KR" sz="1400" b="1" dirty="0"/>
              <a:t>However, there are situations where you don’t want to fall below 100% capacity</a:t>
            </a:r>
            <a:r>
              <a:rPr lang="en-US" altLang="ko-KR" sz="1400" dirty="0"/>
              <a:t>, </a:t>
            </a:r>
            <a:r>
              <a:rPr lang="en-US" altLang="ko-KR" sz="1400" b="1" dirty="0"/>
              <a:t>but you are willing to </a:t>
            </a:r>
            <a:r>
              <a:rPr lang="en-US" altLang="ko-KR" sz="1400" b="1" dirty="0">
                <a:solidFill>
                  <a:srgbClr val="FF0000"/>
                </a:solidFill>
              </a:rPr>
              <a:t>temporarily use additional resources </a:t>
            </a:r>
            <a:r>
              <a:rPr lang="en-US" altLang="ko-KR" sz="1400" b="1" dirty="0"/>
              <a:t>in order to perform a rollout</a:t>
            </a:r>
            <a:r>
              <a:rPr lang="en-US" altLang="ko-KR" sz="1400" dirty="0"/>
              <a:t>. In these situations, you can set the </a:t>
            </a:r>
            <a:r>
              <a:rPr lang="en-US" altLang="ko-KR" sz="1400" b="1" dirty="0" err="1"/>
              <a:t>maxUnavailable</a:t>
            </a:r>
            <a:r>
              <a:rPr lang="en-US" altLang="ko-KR" sz="1400" dirty="0"/>
              <a:t> parameter to “</a:t>
            </a:r>
            <a:r>
              <a:rPr lang="en-US" altLang="ko-KR" sz="1400" b="1" dirty="0"/>
              <a:t>0%</a:t>
            </a:r>
            <a:r>
              <a:rPr lang="en-US" altLang="ko-KR" sz="1400" dirty="0"/>
              <a:t>”, and instead </a:t>
            </a:r>
            <a:r>
              <a:rPr lang="en-US" altLang="ko-KR" sz="1400" b="1" dirty="0"/>
              <a:t>control the rollout using the “</a:t>
            </a:r>
            <a:r>
              <a:rPr lang="en-US" altLang="ko-KR" sz="1400" b="1" dirty="0" err="1">
                <a:solidFill>
                  <a:srgbClr val="FF0000"/>
                </a:solidFill>
              </a:rPr>
              <a:t>maxSurge</a:t>
            </a:r>
            <a:r>
              <a:rPr lang="en-US" altLang="ko-KR" sz="1400" b="1" dirty="0"/>
              <a:t>“ parameter</a:t>
            </a:r>
            <a:r>
              <a:rPr lang="en-US" altLang="ko-KR" sz="1400" dirty="0"/>
              <a:t>. Like </a:t>
            </a:r>
            <a:r>
              <a:rPr lang="en-US" altLang="ko-KR" sz="1400" dirty="0" err="1"/>
              <a:t>maxUnavailable</a:t>
            </a:r>
            <a:r>
              <a:rPr lang="en-US" altLang="ko-KR" sz="1400" dirty="0"/>
              <a:t>, </a:t>
            </a:r>
            <a:r>
              <a:rPr lang="en-US" altLang="ko-KR" sz="1400" b="1" dirty="0" err="1"/>
              <a:t>maxSurge</a:t>
            </a:r>
            <a:r>
              <a:rPr lang="en-US" altLang="ko-KR" sz="1400" b="1" dirty="0"/>
              <a:t> can be specified either as a specific number or a percentage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99</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1D1880C3-0931-433D-B4EC-2590FE317E34}"/>
              </a:ext>
            </a:extLst>
          </p:cNvPr>
          <p:cNvGrpSpPr/>
          <p:nvPr/>
        </p:nvGrpSpPr>
        <p:grpSpPr>
          <a:xfrm>
            <a:off x="3079267" y="3164619"/>
            <a:ext cx="6033465" cy="3244411"/>
            <a:chOff x="3079267" y="3164619"/>
            <a:chExt cx="6033465" cy="3244411"/>
          </a:xfrm>
        </p:grpSpPr>
        <p:grpSp>
          <p:nvGrpSpPr>
            <p:cNvPr id="10" name="그룹 9">
              <a:extLst>
                <a:ext uri="{FF2B5EF4-FFF2-40B4-BE49-F238E27FC236}">
                  <a16:creationId xmlns:a16="http://schemas.microsoft.com/office/drawing/2014/main" id="{9D423962-1573-488F-AB9E-D076EAFE480A}"/>
                </a:ext>
              </a:extLst>
            </p:cNvPr>
            <p:cNvGrpSpPr/>
            <p:nvPr/>
          </p:nvGrpSpPr>
          <p:grpSpPr>
            <a:xfrm>
              <a:off x="3079267" y="3164619"/>
              <a:ext cx="6033465" cy="3244411"/>
              <a:chOff x="3079267" y="3164619"/>
              <a:chExt cx="6033465" cy="3244411"/>
            </a:xfrm>
          </p:grpSpPr>
          <p:pic>
            <p:nvPicPr>
              <p:cNvPr id="4" name="그림 3">
                <a:extLst>
                  <a:ext uri="{FF2B5EF4-FFF2-40B4-BE49-F238E27FC236}">
                    <a16:creationId xmlns:a16="http://schemas.microsoft.com/office/drawing/2014/main" id="{CE835C15-16D8-4317-B793-E9639695E692}"/>
                  </a:ext>
                </a:extLst>
              </p:cNvPr>
              <p:cNvPicPr>
                <a:picLocks noChangeAspect="1"/>
              </p:cNvPicPr>
              <p:nvPr/>
            </p:nvPicPr>
            <p:blipFill>
              <a:blip r:embed="rId2"/>
              <a:stretch>
                <a:fillRect/>
              </a:stretch>
            </p:blipFill>
            <p:spPr>
              <a:xfrm>
                <a:off x="3079267" y="3164619"/>
                <a:ext cx="6033465" cy="3244411"/>
              </a:xfrm>
              <a:prstGeom prst="rect">
                <a:avLst/>
              </a:prstGeom>
            </p:spPr>
          </p:pic>
          <p:sp>
            <p:nvSpPr>
              <p:cNvPr id="8" name="직사각형 7">
                <a:extLst>
                  <a:ext uri="{FF2B5EF4-FFF2-40B4-BE49-F238E27FC236}">
                    <a16:creationId xmlns:a16="http://schemas.microsoft.com/office/drawing/2014/main" id="{47A597AF-29C5-44BF-8C08-D51691B5233D}"/>
                  </a:ext>
                </a:extLst>
              </p:cNvPr>
              <p:cNvSpPr/>
              <p:nvPr/>
            </p:nvSpPr>
            <p:spPr>
              <a:xfrm>
                <a:off x="3283889" y="3864334"/>
                <a:ext cx="1129085" cy="60429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CE7D43BA-63A6-4D22-8B07-40F8DC0D3786}"/>
                </a:ext>
              </a:extLst>
            </p:cNvPr>
            <p:cNvSpPr/>
            <p:nvPr/>
          </p:nvSpPr>
          <p:spPr>
            <a:xfrm>
              <a:off x="7820109" y="5525980"/>
              <a:ext cx="1053547" cy="60429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98755045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Deployment Strategies(10/14)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RollingUpdate</a:t>
            </a:r>
            <a:r>
              <a:rPr lang="en-US" altLang="ko-KR" sz="1800" b="1" dirty="0"/>
              <a:t> Strategy :</a:t>
            </a:r>
          </a:p>
          <a:p>
            <a:pPr lvl="1">
              <a:buFont typeface="Wingdings" panose="05000000000000000000" pitchFamily="2" charset="2"/>
              <a:buChar char="§"/>
            </a:pPr>
            <a:r>
              <a:rPr lang="en-US" altLang="ko-KR" sz="1400" b="1" dirty="0"/>
              <a:t>Configuring a rolling update </a:t>
            </a:r>
            <a:r>
              <a:rPr lang="en-US" altLang="ko-KR" sz="1400" dirty="0"/>
              <a:t>-</a:t>
            </a:r>
          </a:p>
          <a:p>
            <a:pPr lvl="2">
              <a:buFont typeface="Wingdings" panose="05000000000000000000" pitchFamily="2" charset="2"/>
              <a:buChar char="§"/>
            </a:pPr>
            <a:r>
              <a:rPr lang="en-US" altLang="ko-KR" sz="1400" b="1" dirty="0"/>
              <a:t>The </a:t>
            </a:r>
            <a:r>
              <a:rPr lang="en-US" altLang="ko-KR" sz="1400" b="1" dirty="0" err="1"/>
              <a:t>maxSurge</a:t>
            </a:r>
            <a:r>
              <a:rPr lang="en-US" altLang="ko-KR" sz="1400" b="1" dirty="0"/>
              <a:t> parameter controls how </a:t>
            </a:r>
            <a:r>
              <a:rPr lang="en-US" altLang="ko-KR" sz="1400" b="1" dirty="0">
                <a:solidFill>
                  <a:srgbClr val="FF0000"/>
                </a:solidFill>
              </a:rPr>
              <a:t>many extra resources can be created to achieve a rollout</a:t>
            </a:r>
            <a:r>
              <a:rPr lang="en-US" altLang="ko-KR" sz="1400" dirty="0"/>
              <a:t>. To illustrate how this works, imagine we have a service with 10 replicas. We set </a:t>
            </a:r>
            <a:r>
              <a:rPr lang="en-US" altLang="ko-KR" sz="1400" dirty="0" err="1"/>
              <a:t>maxUnavailable</a:t>
            </a:r>
            <a:r>
              <a:rPr lang="en-US" altLang="ko-KR" sz="1400" dirty="0"/>
              <a:t> to “0” and </a:t>
            </a:r>
            <a:r>
              <a:rPr lang="en-US" altLang="ko-KR" sz="1400" dirty="0" err="1"/>
              <a:t>maxSurge</a:t>
            </a:r>
            <a:r>
              <a:rPr lang="en-US" altLang="ko-KR" sz="1400" dirty="0"/>
              <a:t> to “20%”. </a:t>
            </a:r>
            <a:r>
              <a:rPr lang="en-US" altLang="ko-KR" sz="1400" b="1" dirty="0"/>
              <a:t>The first thing the rollout will do is scale the new </a:t>
            </a:r>
            <a:r>
              <a:rPr lang="en-US" altLang="ko-KR" sz="1400" b="1" dirty="0" err="1"/>
              <a:t>ReplicaSet</a:t>
            </a:r>
            <a:r>
              <a:rPr lang="en-US" altLang="ko-KR" sz="1400" b="1" dirty="0"/>
              <a:t> up to 2 replicas</a:t>
            </a:r>
            <a:r>
              <a:rPr lang="en-US" altLang="ko-KR" sz="1400" dirty="0"/>
              <a:t>, for a total of 12 (120%) in the service. It will then scale the old </a:t>
            </a:r>
            <a:r>
              <a:rPr lang="en-US" altLang="ko-KR" sz="1400" dirty="0" err="1"/>
              <a:t>ReplicaSet</a:t>
            </a:r>
            <a:r>
              <a:rPr lang="en-US" altLang="ko-KR" sz="1400" dirty="0"/>
              <a:t> down to 8 replicas, for a total of 10 (8 old, 2 new) in the service. This process proceeds until the rollout is complete. </a:t>
            </a:r>
            <a:r>
              <a:rPr lang="en-US" altLang="ko-KR" sz="1400" b="1" dirty="0"/>
              <a:t>At any time, the capacity of the service is guaranteed to be at least 100% and the maximum extra resources used for the rollout are limited to an additional 20% of all resources</a:t>
            </a:r>
            <a:r>
              <a:rPr lang="en-US" altLang="ko-KR" sz="1400" dirty="0"/>
              <a:t>.</a:t>
            </a:r>
          </a:p>
          <a:p>
            <a:pPr lvl="2">
              <a:buFont typeface="Wingdings" panose="05000000000000000000" pitchFamily="2" charset="2"/>
              <a:buChar char="§"/>
            </a:pPr>
            <a:r>
              <a:rPr lang="en-US" altLang="ko-KR" sz="1400" b="1" dirty="0"/>
              <a:t>NOTE : Setting </a:t>
            </a:r>
            <a:r>
              <a:rPr lang="en-US" altLang="ko-KR" sz="1400" b="1" dirty="0" err="1"/>
              <a:t>maxSurge</a:t>
            </a:r>
            <a:r>
              <a:rPr lang="en-US" altLang="ko-KR" sz="1400" b="1" dirty="0"/>
              <a:t> to 100% is equivalent to a “</a:t>
            </a:r>
            <a:r>
              <a:rPr lang="en-US" altLang="ko-KR" sz="1400" b="1" dirty="0">
                <a:solidFill>
                  <a:srgbClr val="FF0000"/>
                </a:solidFill>
              </a:rPr>
              <a:t>blue/green</a:t>
            </a:r>
            <a:r>
              <a:rPr lang="en-US" altLang="ko-KR" sz="1400" b="1" dirty="0"/>
              <a:t>” deployment</a:t>
            </a:r>
            <a:r>
              <a:rPr lang="en-US" altLang="ko-KR" sz="1400" dirty="0"/>
              <a:t>. </a:t>
            </a:r>
            <a:r>
              <a:rPr lang="en-US" altLang="ko-KR" sz="1400" b="1" dirty="0"/>
              <a:t>The deployment controller first scales the new version up to 100% of the old version</a:t>
            </a:r>
            <a:r>
              <a:rPr lang="en-US" altLang="ko-KR" sz="1400" dirty="0"/>
              <a:t>. </a:t>
            </a:r>
            <a:r>
              <a:rPr lang="en-US" altLang="ko-KR" sz="1400" b="1" dirty="0"/>
              <a:t>Once the new version is healthy, it immediately scales the old version down to 0%.</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100</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48A8377F-8742-4589-AB75-63AB73E6959E}"/>
              </a:ext>
            </a:extLst>
          </p:cNvPr>
          <p:cNvPicPr>
            <a:picLocks noChangeAspect="1"/>
          </p:cNvPicPr>
          <p:nvPr/>
        </p:nvPicPr>
        <p:blipFill>
          <a:blip r:embed="rId2"/>
          <a:stretch>
            <a:fillRect/>
          </a:stretch>
        </p:blipFill>
        <p:spPr>
          <a:xfrm>
            <a:off x="4290550" y="3429000"/>
            <a:ext cx="3610900" cy="2980030"/>
          </a:xfrm>
          <a:prstGeom prst="rect">
            <a:avLst/>
          </a:prstGeom>
        </p:spPr>
      </p:pic>
    </p:spTree>
    <p:extLst>
      <p:ext uri="{BB962C8B-B14F-4D97-AF65-F5344CB8AC3E}">
        <p14:creationId xmlns:p14="http://schemas.microsoft.com/office/powerpoint/2010/main" val="20438314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Deployment Strategies(11/14)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Slowing Rollouts to Ensure Service Health :</a:t>
            </a:r>
          </a:p>
          <a:p>
            <a:pPr lvl="1">
              <a:buFont typeface="Wingdings" panose="05000000000000000000" pitchFamily="2" charset="2"/>
              <a:buChar char="§"/>
            </a:pPr>
            <a:r>
              <a:rPr lang="en-US" altLang="ko-KR" sz="1400" b="1" dirty="0"/>
              <a:t>The purpose of a staged rollout is to ensure that the rollout results in a healthy, stable service running the new software version</a:t>
            </a:r>
            <a:r>
              <a:rPr lang="en-US" altLang="ko-KR" sz="1400" dirty="0"/>
              <a:t>. To do this, the deployment controller always waits until a Pod reports that it is ready before moving on to updating the next Pod.</a:t>
            </a:r>
          </a:p>
          <a:p>
            <a:pPr lvl="1">
              <a:buFont typeface="Wingdings" panose="05000000000000000000" pitchFamily="2" charset="2"/>
              <a:buChar char="§"/>
            </a:pPr>
            <a:r>
              <a:rPr lang="en-US" altLang="ko-KR" sz="1400" b="1" dirty="0"/>
              <a:t>NOTE : The deployment controller examines the Pod’s status as determined by its “readiness checks”</a:t>
            </a:r>
            <a:r>
              <a:rPr lang="en-US" altLang="ko-KR" sz="1400" dirty="0"/>
              <a:t>. </a:t>
            </a:r>
            <a:r>
              <a:rPr lang="en-US" altLang="ko-KR" sz="1400" b="1" dirty="0"/>
              <a:t>Readiness checks are part of the Pod’s “health probes”</a:t>
            </a:r>
            <a:r>
              <a:rPr lang="en-US" altLang="ko-KR" sz="1400" dirty="0"/>
              <a:t>. If you want to use deployments to reliably roll out your software, you have to </a:t>
            </a:r>
            <a:r>
              <a:rPr lang="en-US" altLang="ko-KR" sz="1400" b="1" dirty="0"/>
              <a:t>specify “</a:t>
            </a:r>
            <a:r>
              <a:rPr lang="en-US" altLang="ko-KR" sz="1400" b="1" dirty="0">
                <a:solidFill>
                  <a:srgbClr val="FF0000"/>
                </a:solidFill>
              </a:rPr>
              <a:t>readiness health checks</a:t>
            </a:r>
            <a:r>
              <a:rPr lang="en-US" altLang="ko-KR" sz="1400" b="1" dirty="0"/>
              <a:t>” for the containers in your Pod</a:t>
            </a:r>
            <a:r>
              <a:rPr lang="en-US" altLang="ko-KR" sz="1400" dirty="0"/>
              <a:t>. Without these checks, the deployment controller is running blind.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101</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853F611E-2209-46FB-88A9-31591788816D}"/>
              </a:ext>
            </a:extLst>
          </p:cNvPr>
          <p:cNvPicPr>
            <a:picLocks noChangeAspect="1"/>
          </p:cNvPicPr>
          <p:nvPr/>
        </p:nvPicPr>
        <p:blipFill>
          <a:blip r:embed="rId2"/>
          <a:stretch>
            <a:fillRect/>
          </a:stretch>
        </p:blipFill>
        <p:spPr>
          <a:xfrm>
            <a:off x="1628402" y="3181435"/>
            <a:ext cx="8935195" cy="1935725"/>
          </a:xfrm>
          <a:prstGeom prst="rect">
            <a:avLst/>
          </a:prstGeom>
        </p:spPr>
      </p:pic>
    </p:spTree>
    <p:extLst>
      <p:ext uri="{BB962C8B-B14F-4D97-AF65-F5344CB8AC3E}">
        <p14:creationId xmlns:p14="http://schemas.microsoft.com/office/powerpoint/2010/main" val="269223777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Deployment Strategies(12/14)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Slowing Rollouts to Ensure Service Health :</a:t>
            </a:r>
          </a:p>
          <a:p>
            <a:pPr lvl="1">
              <a:buFont typeface="Wingdings" panose="05000000000000000000" pitchFamily="2" charset="2"/>
              <a:buChar char="§"/>
            </a:pPr>
            <a:r>
              <a:rPr lang="en-US" altLang="ko-KR" sz="1400" b="1" dirty="0"/>
              <a:t>Sometimes, however, simply noticing that a Pod has become ready doesn’t give you sufficient confidence that the Pod actually is behaving correctly</a:t>
            </a:r>
            <a:r>
              <a:rPr lang="en-US" altLang="ko-KR" sz="1400" dirty="0"/>
              <a:t>. </a:t>
            </a:r>
            <a:r>
              <a:rPr lang="en-US" altLang="ko-KR" sz="1400" b="1" dirty="0"/>
              <a:t>Some error conditions only occur after a period of time</a:t>
            </a:r>
            <a:r>
              <a:rPr lang="en-US" altLang="ko-KR" sz="1400" dirty="0"/>
              <a:t>. For example, you could have a serious memory leak that takes a few minutes to show up, or you could have a bug that is only triggered by 1% of all requests. </a:t>
            </a:r>
            <a:r>
              <a:rPr lang="en-US" altLang="ko-KR" sz="1400" b="1" dirty="0"/>
              <a:t>In most real-world scenarios, you want to wait a period of time to have high confidence that the new version is operating correctly before you move on to updating the next Pod</a:t>
            </a:r>
            <a:r>
              <a:rPr lang="en-US" altLang="ko-KR" sz="1400" dirty="0"/>
              <a:t>.</a:t>
            </a:r>
          </a:p>
          <a:p>
            <a:pPr lvl="1">
              <a:buFont typeface="Wingdings" panose="05000000000000000000" pitchFamily="2" charset="2"/>
              <a:buChar char="§"/>
            </a:pPr>
            <a:r>
              <a:rPr lang="en-US" altLang="ko-KR" sz="1400" dirty="0"/>
              <a:t>For deployments, this </a:t>
            </a:r>
            <a:r>
              <a:rPr lang="en-US" altLang="ko-KR" sz="1400" b="1" dirty="0"/>
              <a:t>time to wait </a:t>
            </a:r>
            <a:r>
              <a:rPr lang="en-US" altLang="ko-KR" sz="1400" dirty="0"/>
              <a:t>is defined by the “</a:t>
            </a:r>
            <a:r>
              <a:rPr lang="en-US" altLang="ko-KR" sz="1400" b="1" dirty="0" err="1">
                <a:solidFill>
                  <a:srgbClr val="FF0000"/>
                </a:solidFill>
              </a:rPr>
              <a:t>minReadySeconds</a:t>
            </a:r>
            <a:r>
              <a:rPr lang="en-US" altLang="ko-KR" sz="1400" dirty="0"/>
              <a:t>” parameter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Setting “</a:t>
            </a:r>
            <a:r>
              <a:rPr lang="en-US" altLang="ko-KR" sz="1400" b="1" dirty="0" err="1"/>
              <a:t>minReadySeconds</a:t>
            </a:r>
            <a:r>
              <a:rPr lang="en-US" altLang="ko-KR" sz="1400" b="1" dirty="0"/>
              <a:t>” to 60 indicates that the deployment must wait for 60 seconds after seeing a Pod become healthy before moving on to updating the next Pod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102</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2D594BCD-0F43-470F-8E09-C7460B15B924}"/>
              </a:ext>
            </a:extLst>
          </p:cNvPr>
          <p:cNvSpPr/>
          <p:nvPr/>
        </p:nvSpPr>
        <p:spPr>
          <a:xfrm>
            <a:off x="3048000" y="2503549"/>
            <a:ext cx="6096000" cy="707886"/>
          </a:xfrm>
          <a:prstGeom prst="rect">
            <a:avLst/>
          </a:prstGeom>
          <a:ln>
            <a:solidFill>
              <a:schemeClr val="bg1">
                <a:lumMod val="50000"/>
              </a:schemeClr>
            </a:solidFill>
          </a:ln>
        </p:spPr>
        <p:txBody>
          <a:bodyPr>
            <a:spAutoFit/>
          </a:bodyPr>
          <a:lstStyle/>
          <a:p>
            <a:r>
              <a:rPr lang="en-US" altLang="ko-KR" sz="1000" b="1" dirty="0"/>
              <a:t>...</a:t>
            </a:r>
          </a:p>
          <a:p>
            <a:r>
              <a:rPr lang="en-US" altLang="ko-KR" sz="1000" b="1" dirty="0"/>
              <a:t>spec:</a:t>
            </a:r>
          </a:p>
          <a:p>
            <a:r>
              <a:rPr lang="en-US" altLang="ko-KR" sz="1000" b="1" dirty="0"/>
              <a:t>  </a:t>
            </a:r>
            <a:r>
              <a:rPr lang="en-US" altLang="ko-KR" sz="1000" b="1" dirty="0" err="1">
                <a:solidFill>
                  <a:srgbClr val="FF0000"/>
                </a:solidFill>
              </a:rPr>
              <a:t>minReadySeconds</a:t>
            </a:r>
            <a:r>
              <a:rPr lang="en-US" altLang="ko-KR" sz="1000" b="1" dirty="0">
                <a:solidFill>
                  <a:srgbClr val="FF0000"/>
                </a:solidFill>
              </a:rPr>
              <a:t>: 60</a:t>
            </a:r>
          </a:p>
          <a:p>
            <a:r>
              <a:rPr lang="en-US" altLang="ko-KR" sz="1000" b="1" dirty="0"/>
              <a:t>...</a:t>
            </a:r>
            <a:endParaRPr lang="ko-KR" altLang="en-US" sz="1000" b="1" dirty="0"/>
          </a:p>
        </p:txBody>
      </p:sp>
      <p:grpSp>
        <p:nvGrpSpPr>
          <p:cNvPr id="10" name="그룹 9">
            <a:extLst>
              <a:ext uri="{FF2B5EF4-FFF2-40B4-BE49-F238E27FC236}">
                <a16:creationId xmlns:a16="http://schemas.microsoft.com/office/drawing/2014/main" id="{A7179A67-3B58-4714-AE9E-8003C25A114A}"/>
              </a:ext>
            </a:extLst>
          </p:cNvPr>
          <p:cNvGrpSpPr/>
          <p:nvPr/>
        </p:nvGrpSpPr>
        <p:grpSpPr>
          <a:xfrm>
            <a:off x="3962565" y="3915405"/>
            <a:ext cx="4266869" cy="2493625"/>
            <a:chOff x="3962565" y="3915405"/>
            <a:chExt cx="4266869" cy="2493625"/>
          </a:xfrm>
        </p:grpSpPr>
        <p:pic>
          <p:nvPicPr>
            <p:cNvPr id="8" name="그림 7">
              <a:extLst>
                <a:ext uri="{FF2B5EF4-FFF2-40B4-BE49-F238E27FC236}">
                  <a16:creationId xmlns:a16="http://schemas.microsoft.com/office/drawing/2014/main" id="{C36CA6CE-8E49-4701-AC31-023914919B1C}"/>
                </a:ext>
              </a:extLst>
            </p:cNvPr>
            <p:cNvPicPr>
              <a:picLocks noChangeAspect="1"/>
            </p:cNvPicPr>
            <p:nvPr/>
          </p:nvPicPr>
          <p:blipFill>
            <a:blip r:embed="rId2"/>
            <a:stretch>
              <a:fillRect/>
            </a:stretch>
          </p:blipFill>
          <p:spPr>
            <a:xfrm>
              <a:off x="3962565" y="3915405"/>
              <a:ext cx="4266869" cy="2493625"/>
            </a:xfrm>
            <a:prstGeom prst="rect">
              <a:avLst/>
            </a:prstGeom>
          </p:spPr>
        </p:pic>
        <p:sp>
          <p:nvSpPr>
            <p:cNvPr id="9" name="직사각형 8">
              <a:extLst>
                <a:ext uri="{FF2B5EF4-FFF2-40B4-BE49-F238E27FC236}">
                  <a16:creationId xmlns:a16="http://schemas.microsoft.com/office/drawing/2014/main" id="{C8210D48-3D40-4BBE-9144-B8C9598DA7B0}"/>
                </a:ext>
              </a:extLst>
            </p:cNvPr>
            <p:cNvSpPr/>
            <p:nvPr/>
          </p:nvSpPr>
          <p:spPr>
            <a:xfrm>
              <a:off x="5557962" y="4731026"/>
              <a:ext cx="747422" cy="13517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12788128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Deployment Strategies(13/14)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Slowing Rollouts to Ensure Service Health :</a:t>
            </a:r>
          </a:p>
          <a:p>
            <a:pPr lvl="1">
              <a:buFont typeface="Wingdings" panose="05000000000000000000" pitchFamily="2" charset="2"/>
              <a:buChar char="§"/>
            </a:pPr>
            <a:r>
              <a:rPr lang="en-US" altLang="ko-KR" sz="1400" b="1" dirty="0"/>
              <a:t>In addition to waiting a period of time for a Pod to become healthy, you also want to set a timeout that limits how long the system will wait</a:t>
            </a:r>
            <a:r>
              <a:rPr lang="en-US" altLang="ko-KR" sz="1400" dirty="0"/>
              <a:t>. Suppose, for example, the new version of your service has a bug and immediately deadlocks. It will never become ready, and in the absence of a timeout, the deployment controller will stall your rollout forever.</a:t>
            </a:r>
          </a:p>
          <a:p>
            <a:pPr lvl="1">
              <a:buFont typeface="Wingdings" panose="05000000000000000000" pitchFamily="2" charset="2"/>
              <a:buChar char="§"/>
            </a:pPr>
            <a:r>
              <a:rPr lang="en-US" altLang="ko-KR" sz="1400" b="1" dirty="0"/>
              <a:t>The correct behavior in such a situation is to “</a:t>
            </a:r>
            <a:r>
              <a:rPr lang="en-US" altLang="ko-KR" sz="1400" b="1" dirty="0">
                <a:solidFill>
                  <a:srgbClr val="FF0000"/>
                </a:solidFill>
              </a:rPr>
              <a:t>time out the rollout</a:t>
            </a:r>
            <a:r>
              <a:rPr lang="en-US" altLang="ko-KR" sz="1400" b="1" dirty="0"/>
              <a:t>”</a:t>
            </a:r>
            <a:r>
              <a:rPr lang="en-US" altLang="ko-KR" sz="1400" dirty="0"/>
              <a:t>. </a:t>
            </a:r>
            <a:r>
              <a:rPr lang="en-US" altLang="ko-KR" sz="1400" b="1" dirty="0"/>
              <a:t>This in turn marks the rollout as failed</a:t>
            </a:r>
            <a:r>
              <a:rPr lang="en-US" altLang="ko-KR" sz="1400" dirty="0"/>
              <a:t>. This failure status can be used to </a:t>
            </a:r>
            <a:r>
              <a:rPr lang="en-US" altLang="ko-KR" sz="1400" b="1" dirty="0"/>
              <a:t>trigger alerting that can indicate to an operator that there is a problem with the rollout</a:t>
            </a:r>
            <a:r>
              <a:rPr lang="en-US" altLang="ko-KR" sz="1400" dirty="0"/>
              <a:t>.</a:t>
            </a:r>
          </a:p>
          <a:p>
            <a:pPr lvl="1">
              <a:buFont typeface="Wingdings" panose="05000000000000000000" pitchFamily="2" charset="2"/>
              <a:buChar char="§"/>
            </a:pPr>
            <a:r>
              <a:rPr lang="en-US" altLang="ko-KR" sz="1400" b="1" dirty="0"/>
              <a:t>NOTE : At first blush, timing out a rollout might seem like an unnecessary complication. However, increasingly, things like rollouts are being triggered by fully automated systems with little to no human involvement</a:t>
            </a:r>
            <a:r>
              <a:rPr lang="en-US" altLang="ko-KR" sz="1400" dirty="0"/>
              <a:t>. In such a situation, </a:t>
            </a:r>
            <a:r>
              <a:rPr lang="en-US" altLang="ko-KR" sz="1400" b="1" dirty="0">
                <a:solidFill>
                  <a:srgbClr val="FF0000"/>
                </a:solidFill>
              </a:rPr>
              <a:t>timing out becomes a critical exception</a:t>
            </a:r>
            <a:r>
              <a:rPr lang="en-US" altLang="ko-KR" sz="1400" b="1" dirty="0"/>
              <a:t>, which can either trigger an “</a:t>
            </a:r>
            <a:r>
              <a:rPr lang="en-US" altLang="ko-KR" sz="1400" b="1" dirty="0">
                <a:solidFill>
                  <a:srgbClr val="FF0000"/>
                </a:solidFill>
              </a:rPr>
              <a:t>automated rollback</a:t>
            </a:r>
            <a:r>
              <a:rPr lang="en-US" altLang="ko-KR" sz="1400" b="1" dirty="0"/>
              <a:t>” of the release or “</a:t>
            </a:r>
            <a:r>
              <a:rPr lang="en-US" altLang="ko-KR" sz="1400" b="1" dirty="0">
                <a:solidFill>
                  <a:srgbClr val="FF0000"/>
                </a:solidFill>
              </a:rPr>
              <a:t>create a ticket/event</a:t>
            </a:r>
            <a:r>
              <a:rPr lang="en-US" altLang="ko-KR" sz="1400" b="1" dirty="0"/>
              <a:t>” that triggers human intervention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103</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8CBEB211-40C5-440D-9233-D523B2DBDC60}"/>
              </a:ext>
            </a:extLst>
          </p:cNvPr>
          <p:cNvPicPr>
            <a:picLocks noChangeAspect="1"/>
          </p:cNvPicPr>
          <p:nvPr/>
        </p:nvPicPr>
        <p:blipFill>
          <a:blip r:embed="rId2"/>
          <a:stretch>
            <a:fillRect/>
          </a:stretch>
        </p:blipFill>
        <p:spPr>
          <a:xfrm>
            <a:off x="3576637" y="3575342"/>
            <a:ext cx="5038725" cy="2833688"/>
          </a:xfrm>
          <a:prstGeom prst="rect">
            <a:avLst/>
          </a:prstGeom>
        </p:spPr>
      </p:pic>
    </p:spTree>
    <p:extLst>
      <p:ext uri="{BB962C8B-B14F-4D97-AF65-F5344CB8AC3E}">
        <p14:creationId xmlns:p14="http://schemas.microsoft.com/office/powerpoint/2010/main" val="113385511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Deployment Strategies(14/14)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Slowing Rollouts to Ensure Service Health :</a:t>
            </a:r>
          </a:p>
          <a:p>
            <a:pPr lvl="1">
              <a:buFont typeface="Wingdings" panose="05000000000000000000" pitchFamily="2" charset="2"/>
              <a:buChar char="§"/>
            </a:pPr>
            <a:r>
              <a:rPr lang="en-US" altLang="ko-KR" sz="1400" b="1" dirty="0"/>
              <a:t>To set the timeout period, the deployment parameter “</a:t>
            </a:r>
            <a:r>
              <a:rPr lang="en-US" altLang="ko-KR" sz="1400" b="1" dirty="0" err="1">
                <a:solidFill>
                  <a:srgbClr val="FF0000"/>
                </a:solidFill>
              </a:rPr>
              <a:t>progressDeadlineSeconds</a:t>
            </a:r>
            <a:r>
              <a:rPr lang="en-US" altLang="ko-KR" sz="1400" b="1" dirty="0"/>
              <a:t>” is used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This example sets the progress deadline to 10 minutes</a:t>
            </a:r>
            <a:r>
              <a:rPr lang="en-US" altLang="ko-KR" sz="1400" dirty="0"/>
              <a:t>. If any particular stage in the rollout fails to progress in 10 minutes, then </a:t>
            </a:r>
            <a:r>
              <a:rPr lang="en-US" altLang="ko-KR" sz="1400" b="1" dirty="0"/>
              <a:t>the deployment is marked as failed</a:t>
            </a:r>
            <a:r>
              <a:rPr lang="en-US" altLang="ko-KR" sz="1400" dirty="0"/>
              <a:t>, and </a:t>
            </a:r>
            <a:r>
              <a:rPr lang="en-US" altLang="ko-KR" sz="1400" b="1" dirty="0"/>
              <a:t>all attempts to move the deployment forward are halted</a:t>
            </a:r>
            <a:r>
              <a:rPr lang="en-US" altLang="ko-KR" sz="1400" dirty="0"/>
              <a:t>. </a:t>
            </a:r>
          </a:p>
          <a:p>
            <a:pPr lvl="1">
              <a:buFont typeface="Wingdings" panose="05000000000000000000" pitchFamily="2" charset="2"/>
              <a:buChar char="§"/>
            </a:pPr>
            <a:r>
              <a:rPr lang="en-US" altLang="ko-KR" sz="1400" b="1" dirty="0"/>
              <a:t>NOTE : </a:t>
            </a:r>
            <a:r>
              <a:rPr lang="en-US" altLang="ko-KR" sz="1400" b="1" dirty="0">
                <a:solidFill>
                  <a:srgbClr val="FF0000"/>
                </a:solidFill>
              </a:rPr>
              <a:t>This timeout is given in terms of deployment progress</a:t>
            </a:r>
            <a:r>
              <a:rPr lang="en-US" altLang="ko-KR" sz="1400" b="1" dirty="0"/>
              <a:t>, not the overall length of a deployment</a:t>
            </a:r>
            <a:r>
              <a:rPr lang="en-US" altLang="ko-KR" sz="1400" dirty="0"/>
              <a:t>. In this context, </a:t>
            </a:r>
            <a:r>
              <a:rPr lang="en-US" altLang="ko-KR" sz="1400" b="1" dirty="0"/>
              <a:t>progress is defined as any time the deployment creates or deletes a Pod</a:t>
            </a:r>
            <a:r>
              <a:rPr lang="en-US" altLang="ko-KR" sz="1400" dirty="0"/>
              <a:t>. When that happens, </a:t>
            </a:r>
            <a:r>
              <a:rPr lang="en-US" altLang="ko-KR" sz="1400" b="1" dirty="0"/>
              <a:t>the timeout clock is reset to zero</a:t>
            </a:r>
            <a:r>
              <a:rPr lang="en-US" altLang="ko-KR" sz="1400" dirty="0"/>
              <a:t>. The following figure is an illustration of the deployment lifecycle.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104</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717917E9-101C-4E91-B98D-25D62BDE563C}"/>
              </a:ext>
            </a:extLst>
          </p:cNvPr>
          <p:cNvSpPr/>
          <p:nvPr/>
        </p:nvSpPr>
        <p:spPr>
          <a:xfrm>
            <a:off x="3048000" y="1508919"/>
            <a:ext cx="6096000" cy="707886"/>
          </a:xfrm>
          <a:prstGeom prst="rect">
            <a:avLst/>
          </a:prstGeom>
          <a:ln>
            <a:solidFill>
              <a:schemeClr val="bg1">
                <a:lumMod val="50000"/>
              </a:schemeClr>
            </a:solidFill>
          </a:ln>
        </p:spPr>
        <p:txBody>
          <a:bodyPr>
            <a:spAutoFit/>
          </a:bodyPr>
          <a:lstStyle/>
          <a:p>
            <a:r>
              <a:rPr lang="en-US" altLang="ko-KR" sz="1000" b="1" dirty="0"/>
              <a:t>...</a:t>
            </a:r>
          </a:p>
          <a:p>
            <a:r>
              <a:rPr lang="en-US" altLang="ko-KR" sz="1000" b="1" dirty="0"/>
              <a:t>spec:</a:t>
            </a:r>
          </a:p>
          <a:p>
            <a:r>
              <a:rPr lang="en-US" altLang="ko-KR" sz="1000" b="1" dirty="0"/>
              <a:t>  </a:t>
            </a:r>
            <a:r>
              <a:rPr lang="en-US" altLang="ko-KR" sz="1000" b="1" dirty="0" err="1">
                <a:solidFill>
                  <a:srgbClr val="FF0000"/>
                </a:solidFill>
              </a:rPr>
              <a:t>progressDeadlineSeconds</a:t>
            </a:r>
            <a:r>
              <a:rPr lang="en-US" altLang="ko-KR" sz="1000" b="1" dirty="0">
                <a:solidFill>
                  <a:srgbClr val="FF0000"/>
                </a:solidFill>
              </a:rPr>
              <a:t>: 600</a:t>
            </a:r>
          </a:p>
          <a:p>
            <a:r>
              <a:rPr lang="en-US" altLang="ko-KR" sz="1000" b="1" dirty="0"/>
              <a:t>...</a:t>
            </a:r>
            <a:endParaRPr lang="ko-KR" altLang="en-US" sz="1000" b="1" dirty="0"/>
          </a:p>
        </p:txBody>
      </p:sp>
      <p:grpSp>
        <p:nvGrpSpPr>
          <p:cNvPr id="10" name="그룹 9">
            <a:extLst>
              <a:ext uri="{FF2B5EF4-FFF2-40B4-BE49-F238E27FC236}">
                <a16:creationId xmlns:a16="http://schemas.microsoft.com/office/drawing/2014/main" id="{89880C23-5DEC-4E29-9C70-B8C875D64BB4}"/>
              </a:ext>
            </a:extLst>
          </p:cNvPr>
          <p:cNvGrpSpPr/>
          <p:nvPr/>
        </p:nvGrpSpPr>
        <p:grpSpPr>
          <a:xfrm>
            <a:off x="3571182" y="3924096"/>
            <a:ext cx="5049636" cy="1872404"/>
            <a:chOff x="3571182" y="3924096"/>
            <a:chExt cx="5049636" cy="1872404"/>
          </a:xfrm>
        </p:grpSpPr>
        <p:pic>
          <p:nvPicPr>
            <p:cNvPr id="8" name="그림 7">
              <a:extLst>
                <a:ext uri="{FF2B5EF4-FFF2-40B4-BE49-F238E27FC236}">
                  <a16:creationId xmlns:a16="http://schemas.microsoft.com/office/drawing/2014/main" id="{CD6CD6FB-CB95-437A-B2CC-E557DA065C75}"/>
                </a:ext>
              </a:extLst>
            </p:cNvPr>
            <p:cNvPicPr>
              <a:picLocks noChangeAspect="1"/>
            </p:cNvPicPr>
            <p:nvPr/>
          </p:nvPicPr>
          <p:blipFill>
            <a:blip r:embed="rId2"/>
            <a:stretch>
              <a:fillRect/>
            </a:stretch>
          </p:blipFill>
          <p:spPr>
            <a:xfrm>
              <a:off x="3571182" y="3924096"/>
              <a:ext cx="5049636" cy="1872404"/>
            </a:xfrm>
            <a:prstGeom prst="rect">
              <a:avLst/>
            </a:prstGeom>
          </p:spPr>
        </p:pic>
        <p:sp>
          <p:nvSpPr>
            <p:cNvPr id="9" name="직사각형 8">
              <a:extLst>
                <a:ext uri="{FF2B5EF4-FFF2-40B4-BE49-F238E27FC236}">
                  <a16:creationId xmlns:a16="http://schemas.microsoft.com/office/drawing/2014/main" id="{01FB9CF5-0FD1-4BC3-AD41-41A38ACF4DD5}"/>
                </a:ext>
              </a:extLst>
            </p:cNvPr>
            <p:cNvSpPr/>
            <p:nvPr/>
          </p:nvSpPr>
          <p:spPr>
            <a:xfrm>
              <a:off x="7458323" y="4190337"/>
              <a:ext cx="1009816" cy="53273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8881977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Deleting a Deployment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Deleting a Deployment, the Entire Service and </a:t>
            </a:r>
            <a:r>
              <a:rPr lang="en-US" altLang="ko-KR" sz="1800" b="1" dirty="0" err="1"/>
              <a:t>ReplicaSets</a:t>
            </a:r>
            <a:r>
              <a:rPr lang="en-US" altLang="ko-KR" sz="1800" b="1" dirty="0"/>
              <a:t> :</a:t>
            </a:r>
          </a:p>
          <a:p>
            <a:pPr lvl="1">
              <a:buFont typeface="Wingdings" panose="05000000000000000000" pitchFamily="2" charset="2"/>
              <a:buChar char="§"/>
            </a:pPr>
            <a:r>
              <a:rPr lang="en-US" altLang="ko-KR" sz="1400" dirty="0"/>
              <a:t>If you ever want to delete a deployment, you can do it either with the </a:t>
            </a:r>
            <a:r>
              <a:rPr lang="en-US" altLang="ko-KR" sz="1400" b="1" dirty="0"/>
              <a:t>imperative command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or using the </a:t>
            </a:r>
            <a:r>
              <a:rPr lang="en-US" altLang="ko-KR" sz="1400" b="1" dirty="0"/>
              <a:t>declarative YAML file </a:t>
            </a:r>
            <a:r>
              <a:rPr lang="en-US" altLang="ko-KR" sz="1400" dirty="0"/>
              <a:t>we created earlier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In either case, by default, </a:t>
            </a:r>
            <a:r>
              <a:rPr lang="en-US" altLang="ko-KR" sz="1400" b="1" dirty="0">
                <a:solidFill>
                  <a:srgbClr val="FF0000"/>
                </a:solidFill>
              </a:rPr>
              <a:t>deleting a deployment deletes the entire service</a:t>
            </a:r>
            <a:r>
              <a:rPr lang="en-US" altLang="ko-KR" sz="1400" dirty="0"/>
              <a:t>. </a:t>
            </a:r>
            <a:r>
              <a:rPr lang="en-US" altLang="ko-KR" sz="1400" b="1" dirty="0"/>
              <a:t>It will delete not just the deployment, but also any </a:t>
            </a:r>
            <a:r>
              <a:rPr lang="en-US" altLang="ko-KR" sz="1400" b="1" dirty="0" err="1"/>
              <a:t>ReplicaSets</a:t>
            </a:r>
            <a:r>
              <a:rPr lang="en-US" altLang="ko-KR" sz="1400" b="1" dirty="0"/>
              <a:t> being managed by the deployment</a:t>
            </a:r>
            <a:r>
              <a:rPr lang="en-US" altLang="ko-KR" sz="1400" dirty="0"/>
              <a:t>, </a:t>
            </a:r>
            <a:r>
              <a:rPr lang="en-US" altLang="ko-KR" sz="1400" b="1" dirty="0"/>
              <a:t>as well as any Pods being managed by the </a:t>
            </a:r>
            <a:r>
              <a:rPr lang="en-US" altLang="ko-KR" sz="1400" b="1" dirty="0" err="1"/>
              <a:t>ReplicaSets</a:t>
            </a:r>
            <a:r>
              <a:rPr lang="en-US" altLang="ko-KR" sz="1400" dirty="0"/>
              <a:t>. As with </a:t>
            </a:r>
            <a:r>
              <a:rPr lang="en-US" altLang="ko-KR" sz="1400" dirty="0" err="1"/>
              <a:t>ReplicaSets</a:t>
            </a:r>
            <a:r>
              <a:rPr lang="en-US" altLang="ko-KR" sz="1400" dirty="0"/>
              <a:t>, if this is not the desired behavior, you can use the </a:t>
            </a:r>
            <a:r>
              <a:rPr lang="en-US" altLang="ko-KR" sz="1400" b="1" dirty="0"/>
              <a:t>“--cascade=false” flag to exclusively delete the Deployment object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105</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FF864617-5107-47BD-9E49-62B42F492EA8}"/>
              </a:ext>
            </a:extLst>
          </p:cNvPr>
          <p:cNvSpPr/>
          <p:nvPr/>
        </p:nvSpPr>
        <p:spPr>
          <a:xfrm>
            <a:off x="4442508" y="1471194"/>
            <a:ext cx="3306983"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t>
            </a:r>
            <a:r>
              <a:rPr lang="en-US" altLang="ko-KR" sz="1000" b="1" dirty="0">
                <a:solidFill>
                  <a:srgbClr val="FF0000"/>
                </a:solidFill>
              </a:rPr>
              <a:t>delete</a:t>
            </a:r>
            <a:r>
              <a:rPr lang="en-US" altLang="ko-KR" sz="1000" b="1" dirty="0"/>
              <a:t> deployments </a:t>
            </a:r>
            <a:r>
              <a:rPr lang="en-US" altLang="ko-KR" sz="1000" b="1" dirty="0" err="1">
                <a:solidFill>
                  <a:srgbClr val="FF0000"/>
                </a:solidFill>
              </a:rPr>
              <a:t>kuard</a:t>
            </a:r>
            <a:endParaRPr lang="ko-KR" altLang="en-US" sz="1000" b="1" dirty="0">
              <a:solidFill>
                <a:srgbClr val="FF0000"/>
              </a:solidFill>
            </a:endParaRPr>
          </a:p>
        </p:txBody>
      </p:sp>
      <p:sp>
        <p:nvSpPr>
          <p:cNvPr id="8" name="직사각형 7">
            <a:extLst>
              <a:ext uri="{FF2B5EF4-FFF2-40B4-BE49-F238E27FC236}">
                <a16:creationId xmlns:a16="http://schemas.microsoft.com/office/drawing/2014/main" id="{A35DF402-187C-4984-A1BD-D3CD9D2B8191}"/>
              </a:ext>
            </a:extLst>
          </p:cNvPr>
          <p:cNvSpPr/>
          <p:nvPr/>
        </p:nvSpPr>
        <p:spPr>
          <a:xfrm>
            <a:off x="4442508" y="2234518"/>
            <a:ext cx="3306984"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t>
            </a:r>
            <a:r>
              <a:rPr lang="en-US" altLang="ko-KR" sz="1000" b="1" dirty="0">
                <a:solidFill>
                  <a:srgbClr val="FF0000"/>
                </a:solidFill>
              </a:rPr>
              <a:t>delete</a:t>
            </a:r>
            <a:r>
              <a:rPr lang="en-US" altLang="ko-KR" sz="1000" b="1" dirty="0"/>
              <a:t> </a:t>
            </a:r>
            <a:r>
              <a:rPr lang="en-US" altLang="ko-KR" sz="1000" b="1" dirty="0">
                <a:solidFill>
                  <a:srgbClr val="FF0000"/>
                </a:solidFill>
              </a:rPr>
              <a:t>-f </a:t>
            </a:r>
            <a:r>
              <a:rPr lang="en-US" altLang="ko-KR" sz="1000" b="1" dirty="0" err="1">
                <a:solidFill>
                  <a:srgbClr val="FF0000"/>
                </a:solidFill>
              </a:rPr>
              <a:t>kuard-deployment.yaml</a:t>
            </a:r>
            <a:endParaRPr lang="en-US" altLang="ko-KR" sz="1000" b="1" dirty="0">
              <a:solidFill>
                <a:srgbClr val="FF0000"/>
              </a:solidFill>
            </a:endParaRPr>
          </a:p>
        </p:txBody>
      </p:sp>
      <p:pic>
        <p:nvPicPr>
          <p:cNvPr id="9" name="그림 8">
            <a:extLst>
              <a:ext uri="{FF2B5EF4-FFF2-40B4-BE49-F238E27FC236}">
                <a16:creationId xmlns:a16="http://schemas.microsoft.com/office/drawing/2014/main" id="{37E50BDA-3F88-4DBF-A89B-F09C4B08AC89}"/>
              </a:ext>
            </a:extLst>
          </p:cNvPr>
          <p:cNvPicPr>
            <a:picLocks noChangeAspect="1"/>
          </p:cNvPicPr>
          <p:nvPr/>
        </p:nvPicPr>
        <p:blipFill>
          <a:blip r:embed="rId2"/>
          <a:stretch>
            <a:fillRect/>
          </a:stretch>
        </p:blipFill>
        <p:spPr>
          <a:xfrm>
            <a:off x="1493686" y="3686048"/>
            <a:ext cx="9204628" cy="1988200"/>
          </a:xfrm>
          <a:prstGeom prst="rect">
            <a:avLst/>
          </a:prstGeom>
          <a:ln>
            <a:solidFill>
              <a:schemeClr val="bg1">
                <a:lumMod val="50000"/>
              </a:schemeClr>
            </a:solidFill>
          </a:ln>
        </p:spPr>
      </p:pic>
    </p:spTree>
    <p:extLst>
      <p:ext uri="{BB962C8B-B14F-4D97-AF65-F5344CB8AC3E}">
        <p14:creationId xmlns:p14="http://schemas.microsoft.com/office/powerpoint/2010/main" val="205866204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Deleting a Deployment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the Declarative YAML File :</a:t>
            </a:r>
          </a:p>
          <a:p>
            <a:pPr lvl="1">
              <a:buFont typeface="Wingdings" panose="05000000000000000000" pitchFamily="2" charset="2"/>
              <a:buChar char="§"/>
            </a:pPr>
            <a:r>
              <a:rPr lang="en-US" altLang="ko-KR" sz="1400" dirty="0"/>
              <a:t>You can use the </a:t>
            </a:r>
            <a:r>
              <a:rPr lang="en-US" altLang="ko-KR" sz="1400" b="1" dirty="0"/>
              <a:t>YAML file </a:t>
            </a:r>
            <a:r>
              <a:rPr lang="en-US" altLang="ko-KR" sz="1400" dirty="0"/>
              <a:t>used for creating a deployment to delete a deployment. See the following screenshot.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106</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0EFCA66D-46C2-4574-A81D-7E5A098065A2}"/>
              </a:ext>
            </a:extLst>
          </p:cNvPr>
          <p:cNvPicPr>
            <a:picLocks noChangeAspect="1"/>
          </p:cNvPicPr>
          <p:nvPr/>
        </p:nvPicPr>
        <p:blipFill>
          <a:blip r:embed="rId2"/>
          <a:stretch>
            <a:fillRect/>
          </a:stretch>
        </p:blipFill>
        <p:spPr>
          <a:xfrm>
            <a:off x="1771981" y="1772507"/>
            <a:ext cx="8648037" cy="2196601"/>
          </a:xfrm>
          <a:prstGeom prst="rect">
            <a:avLst/>
          </a:prstGeom>
          <a:ln>
            <a:solidFill>
              <a:schemeClr val="bg1">
                <a:lumMod val="50000"/>
              </a:schemeClr>
            </a:solidFill>
          </a:ln>
        </p:spPr>
      </p:pic>
    </p:spTree>
    <p:extLst>
      <p:ext uri="{BB962C8B-B14F-4D97-AF65-F5344CB8AC3E}">
        <p14:creationId xmlns:p14="http://schemas.microsoft.com/office/powerpoint/2010/main" val="176310634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Monitoring a Deployment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Deployment Status :</a:t>
            </a:r>
          </a:p>
          <a:p>
            <a:pPr lvl="1">
              <a:buFont typeface="Wingdings" panose="05000000000000000000" pitchFamily="2" charset="2"/>
              <a:buChar char="§"/>
            </a:pPr>
            <a:r>
              <a:rPr lang="en-US" altLang="ko-KR" sz="1400" b="1" dirty="0"/>
              <a:t>When it comes to a deployment, it is important to note that if it fails to makes progress after a certain amount of time, the deployment will time out</a:t>
            </a:r>
            <a:r>
              <a:rPr lang="en-US" altLang="ko-KR" sz="1400" dirty="0"/>
              <a:t>. When this happens, </a:t>
            </a:r>
            <a:r>
              <a:rPr lang="en-US" altLang="ko-KR" sz="1400" b="1" dirty="0"/>
              <a:t>the status of the deployment will transition to a failed state</a:t>
            </a:r>
            <a:r>
              <a:rPr lang="en-US" altLang="ko-KR" sz="1400" dirty="0"/>
              <a:t>. This status can be obtained from the “</a:t>
            </a:r>
            <a:r>
              <a:rPr lang="en-US" altLang="ko-KR" sz="1400" b="1" dirty="0" err="1">
                <a:solidFill>
                  <a:srgbClr val="FF0000"/>
                </a:solidFill>
              </a:rPr>
              <a:t>status.conditions</a:t>
            </a:r>
            <a:r>
              <a:rPr lang="en-US" altLang="ko-KR" sz="1400" dirty="0"/>
              <a:t>” array, where there will be a “</a:t>
            </a:r>
            <a:r>
              <a:rPr lang="en-US" altLang="ko-KR" sz="1400" b="1" dirty="0"/>
              <a:t>Condition</a:t>
            </a:r>
            <a:r>
              <a:rPr lang="en-US" altLang="ko-KR" sz="1400" dirty="0"/>
              <a:t>” whose “</a:t>
            </a:r>
            <a:r>
              <a:rPr lang="en-US" altLang="ko-KR" sz="1400" b="1" dirty="0"/>
              <a:t>Type</a:t>
            </a:r>
            <a:r>
              <a:rPr lang="en-US" altLang="ko-KR" sz="1400" dirty="0"/>
              <a:t>” is “</a:t>
            </a:r>
            <a:r>
              <a:rPr lang="en-US" altLang="ko-KR" sz="1400" b="1" dirty="0"/>
              <a:t>Progressing</a:t>
            </a:r>
            <a:r>
              <a:rPr lang="en-US" altLang="ko-KR" sz="1400" dirty="0"/>
              <a:t>” and whose “</a:t>
            </a:r>
            <a:r>
              <a:rPr lang="en-US" altLang="ko-KR" sz="1400" b="1" dirty="0"/>
              <a:t>Status</a:t>
            </a:r>
            <a:r>
              <a:rPr lang="en-US" altLang="ko-KR" sz="1400" dirty="0"/>
              <a:t>” is “</a:t>
            </a:r>
            <a:r>
              <a:rPr lang="en-US" altLang="ko-KR" sz="1400" b="1" dirty="0"/>
              <a:t>False</a:t>
            </a:r>
            <a:r>
              <a:rPr lang="en-US" altLang="ko-KR" sz="1400" dirty="0"/>
              <a:t>”. A deployment in such a state has failed and will not progress further. </a:t>
            </a:r>
          </a:p>
          <a:p>
            <a:pPr lvl="1">
              <a:buFont typeface="Wingdings" panose="05000000000000000000" pitchFamily="2" charset="2"/>
              <a:buChar char="§"/>
            </a:pPr>
            <a:r>
              <a:rPr lang="en-US" altLang="ko-KR" sz="1400" b="1" dirty="0"/>
              <a:t>To set how long the deployment controller should wait before transitioning into this state, use the  “</a:t>
            </a:r>
            <a:r>
              <a:rPr lang="en-US" altLang="ko-KR" sz="1400" b="1" dirty="0" err="1">
                <a:solidFill>
                  <a:srgbClr val="FF0000"/>
                </a:solidFill>
              </a:rPr>
              <a:t>spec.progressDeadlineSeconds</a:t>
            </a:r>
            <a:r>
              <a:rPr lang="en-US" altLang="ko-KR" sz="1400" b="1" dirty="0"/>
              <a:t>” field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107</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3BAF0536-B01B-4353-B55B-C93618AAB67D}"/>
              </a:ext>
            </a:extLst>
          </p:cNvPr>
          <p:cNvGrpSpPr/>
          <p:nvPr/>
        </p:nvGrpSpPr>
        <p:grpSpPr>
          <a:xfrm>
            <a:off x="2554564" y="2433099"/>
            <a:ext cx="7082872" cy="3975931"/>
            <a:chOff x="2554564" y="2433099"/>
            <a:chExt cx="7082872" cy="3975931"/>
          </a:xfrm>
        </p:grpSpPr>
        <p:pic>
          <p:nvPicPr>
            <p:cNvPr id="4" name="그림 3">
              <a:extLst>
                <a:ext uri="{FF2B5EF4-FFF2-40B4-BE49-F238E27FC236}">
                  <a16:creationId xmlns:a16="http://schemas.microsoft.com/office/drawing/2014/main" id="{B1E78BF9-321A-4392-8F7A-81233CE7D27A}"/>
                </a:ext>
              </a:extLst>
            </p:cNvPr>
            <p:cNvPicPr>
              <a:picLocks noChangeAspect="1"/>
            </p:cNvPicPr>
            <p:nvPr/>
          </p:nvPicPr>
          <p:blipFill>
            <a:blip r:embed="rId2"/>
            <a:stretch>
              <a:fillRect/>
            </a:stretch>
          </p:blipFill>
          <p:spPr>
            <a:xfrm>
              <a:off x="2554564" y="2433099"/>
              <a:ext cx="7082872" cy="3975931"/>
            </a:xfrm>
            <a:prstGeom prst="rect">
              <a:avLst/>
            </a:prstGeom>
          </p:spPr>
        </p:pic>
        <p:sp>
          <p:nvSpPr>
            <p:cNvPr id="8" name="직사각형 7">
              <a:extLst>
                <a:ext uri="{FF2B5EF4-FFF2-40B4-BE49-F238E27FC236}">
                  <a16:creationId xmlns:a16="http://schemas.microsoft.com/office/drawing/2014/main" id="{EA0AEA5B-8C61-4F0E-A161-0D8D1F43AFE2}"/>
                </a:ext>
              </a:extLst>
            </p:cNvPr>
            <p:cNvSpPr/>
            <p:nvPr/>
          </p:nvSpPr>
          <p:spPr>
            <a:xfrm>
              <a:off x="2578417" y="5096787"/>
              <a:ext cx="2743200" cy="51683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32000709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Summary </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Remember :</a:t>
            </a:r>
          </a:p>
          <a:p>
            <a:pPr lvl="1">
              <a:buFont typeface="Wingdings" panose="05000000000000000000" pitchFamily="2" charset="2"/>
              <a:buChar char="§"/>
            </a:pPr>
            <a:r>
              <a:rPr lang="en-US" altLang="ko-KR" sz="1400" dirty="0"/>
              <a:t>At the end of the day, </a:t>
            </a:r>
            <a:r>
              <a:rPr lang="en-US" altLang="ko-KR" sz="1400" b="1" dirty="0"/>
              <a:t>the primary goal of Kubernetes is to make it easy for you to build and deploy reliable distributed systems</a:t>
            </a:r>
            <a:r>
              <a:rPr lang="en-US" altLang="ko-KR" sz="1400" dirty="0"/>
              <a:t>. This means not just instantiating the application once, but managing the regularly scheduled rollout of new versions of that software service. </a:t>
            </a:r>
          </a:p>
          <a:p>
            <a:pPr lvl="1">
              <a:buFont typeface="Wingdings" panose="05000000000000000000" pitchFamily="2" charset="2"/>
              <a:buChar char="§"/>
            </a:pPr>
            <a:r>
              <a:rPr lang="en-US" altLang="ko-KR" sz="1400" b="1" dirty="0"/>
              <a:t>Deployments are a critical piece of reliable rollouts and rollout management for your services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108</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A12E5989-799A-4F6A-A368-6820C9997A1E}"/>
              </a:ext>
            </a:extLst>
          </p:cNvPr>
          <p:cNvPicPr>
            <a:picLocks noChangeAspect="1"/>
          </p:cNvPicPr>
          <p:nvPr/>
        </p:nvPicPr>
        <p:blipFill>
          <a:blip r:embed="rId2"/>
          <a:stretch>
            <a:fillRect/>
          </a:stretch>
        </p:blipFill>
        <p:spPr>
          <a:xfrm>
            <a:off x="4192644" y="2135204"/>
            <a:ext cx="3806712" cy="4273826"/>
          </a:xfrm>
          <a:prstGeom prst="rect">
            <a:avLst/>
          </a:prstGeom>
        </p:spPr>
      </p:pic>
    </p:spTree>
    <p:extLst>
      <p:ext uri="{BB962C8B-B14F-4D97-AF65-F5344CB8AC3E}">
        <p14:creationId xmlns:p14="http://schemas.microsoft.com/office/powerpoint/2010/main" val="91507861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CI/CD with Kubernetes</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Continuous Integration &amp; Continuous Delivery :</a:t>
            </a:r>
          </a:p>
          <a:p>
            <a:pPr lvl="1">
              <a:buFont typeface="Wingdings" panose="05000000000000000000" pitchFamily="2" charset="2"/>
              <a:buChar char="§"/>
            </a:pPr>
            <a:r>
              <a:rPr lang="en-US" altLang="ko-KR" sz="1400" dirty="0"/>
              <a:t>The Blue and Green Deployments.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dirty="0"/>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109</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BC48C612-561C-4EF0-8033-2B2D3AA71085}"/>
              </a:ext>
            </a:extLst>
          </p:cNvPr>
          <p:cNvPicPr>
            <a:picLocks noChangeAspect="1"/>
          </p:cNvPicPr>
          <p:nvPr/>
        </p:nvPicPr>
        <p:blipFill>
          <a:blip r:embed="rId2"/>
          <a:stretch>
            <a:fillRect/>
          </a:stretch>
        </p:blipFill>
        <p:spPr>
          <a:xfrm>
            <a:off x="2895600" y="1558424"/>
            <a:ext cx="6400800" cy="4850606"/>
          </a:xfrm>
          <a:prstGeom prst="rect">
            <a:avLst/>
          </a:prstGeom>
        </p:spPr>
      </p:pic>
    </p:spTree>
    <p:extLst>
      <p:ext uri="{BB962C8B-B14F-4D97-AF65-F5344CB8AC3E}">
        <p14:creationId xmlns:p14="http://schemas.microsoft.com/office/powerpoint/2010/main" val="170098766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Reference</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823973"/>
            <a:ext cx="10515600" cy="5352990"/>
          </a:xfrm>
        </p:spPr>
        <p:txBody>
          <a:bodyPr>
            <a:normAutofit/>
          </a:bodyPr>
          <a:lstStyle/>
          <a:p>
            <a:pPr marL="0" indent="0">
              <a:buNone/>
            </a:pPr>
            <a:r>
              <a:rPr lang="en-US" altLang="ko-KR" sz="1400" b="1" dirty="0"/>
              <a:t>[1] Kubernetes: Up and Running, Dive into the Future of Infrastructure, Brendan Burns, Joe Beda, and Kelsey Hightower, </a:t>
            </a:r>
            <a:r>
              <a:rPr lang="en-US" altLang="ko-KR" sz="1400" b="1" dirty="0" err="1"/>
              <a:t>Oreilly</a:t>
            </a:r>
            <a:r>
              <a:rPr lang="en-US" altLang="ko-KR" sz="1400" b="1" dirty="0"/>
              <a:t>, 2</a:t>
            </a:r>
            <a:r>
              <a:rPr lang="en-US" altLang="ko-KR" sz="1400" b="1" baseline="30000" dirty="0"/>
              <a:t>nd</a:t>
            </a:r>
            <a:r>
              <a:rPr lang="en-US" altLang="ko-KR" sz="1400" b="1" dirty="0"/>
              <a:t> Edition, 2019. </a:t>
            </a:r>
          </a:p>
          <a:p>
            <a:pPr marL="0" indent="0">
              <a:buNone/>
            </a:pPr>
            <a:r>
              <a:rPr lang="en-US" altLang="ko-KR" sz="1400" b="1" dirty="0"/>
              <a:t>[2] </a:t>
            </a:r>
            <a:r>
              <a:rPr lang="en-US" altLang="ko-KR" sz="1400" b="1" dirty="0">
                <a:hlinkClick r:id="rId2"/>
              </a:rPr>
              <a:t>https://github.com/kubernetes-up-and-running/kuard</a:t>
            </a:r>
            <a:endParaRPr lang="en-US" altLang="ko-KR" sz="1400" b="1" dirty="0"/>
          </a:p>
          <a:p>
            <a:pPr marL="0" indent="0">
              <a:buNone/>
            </a:pPr>
            <a:r>
              <a:rPr lang="en-US" altLang="ko-KR" sz="1400" b="1" dirty="0"/>
              <a:t>[3] </a:t>
            </a:r>
            <a:r>
              <a:rPr lang="en-US" altLang="ko-KR" sz="1400" b="1" dirty="0">
                <a:hlinkClick r:id="rId3"/>
              </a:rPr>
              <a:t>https://projectcontour.io/</a:t>
            </a:r>
            <a:endParaRPr lang="en-US" altLang="ko-KR" sz="1400" b="1" dirty="0"/>
          </a:p>
          <a:p>
            <a:pPr marL="0" indent="0">
              <a:buNone/>
            </a:pPr>
            <a:r>
              <a:rPr lang="en-US" altLang="ko-KR" sz="1400" b="1" dirty="0"/>
              <a:t>[4] </a:t>
            </a:r>
            <a:r>
              <a:rPr lang="en-US" altLang="ko-KR" sz="1400" b="1" dirty="0">
                <a:hlinkClick r:id="rId4"/>
              </a:rPr>
              <a:t>https://kubernetes.io/ko/docs/concepts/services-networking/ingress/</a:t>
            </a:r>
            <a:r>
              <a:rPr lang="en-US" altLang="ko-KR" sz="1400" b="1" dirty="0"/>
              <a:t> </a:t>
            </a:r>
          </a:p>
          <a:p>
            <a:pPr marL="0" indent="0">
              <a:buNone/>
            </a:pPr>
            <a:r>
              <a:rPr lang="en-US" altLang="ko-KR" sz="1400" b="1" dirty="0"/>
              <a:t>[5] </a:t>
            </a:r>
            <a:r>
              <a:rPr lang="en-US" altLang="ko-KR" sz="1400" b="1" dirty="0">
                <a:hlinkClick r:id="rId5"/>
              </a:rPr>
              <a:t>https://kubernetes.io/ko/docs/tasks/access-application-cluster/ingress-minikube/</a:t>
            </a:r>
            <a:endParaRPr lang="en-US" altLang="ko-KR" sz="1400" b="1" dirty="0"/>
          </a:p>
        </p:txBody>
      </p:sp>
      <p:sp>
        <p:nvSpPr>
          <p:cNvPr id="5" name="날짜 개체 틀 4">
            <a:extLst>
              <a:ext uri="{FF2B5EF4-FFF2-40B4-BE49-F238E27FC236}">
                <a16:creationId xmlns:a16="http://schemas.microsoft.com/office/drawing/2014/main" id="{71F25A6A-304E-4639-90AF-E4FB371FA41F}"/>
              </a:ext>
            </a:extLst>
          </p:cNvPr>
          <p:cNvSpPr>
            <a:spLocks noGrp="1"/>
          </p:cNvSpPr>
          <p:nvPr>
            <p:ph type="dt" sz="half" idx="10"/>
          </p:nvPr>
        </p:nvSpPr>
        <p:spPr/>
        <p:txBody>
          <a:bodyPr/>
          <a:lstStyle/>
          <a:p>
            <a:fld id="{54654E97-B81D-448F-BE65-F0EB75A60915}"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1F8D8AB8-381F-4242-8AFA-B0E9DE538CFE}"/>
              </a:ext>
            </a:extLst>
          </p:cNvPr>
          <p:cNvSpPr>
            <a:spLocks noGrp="1"/>
          </p:cNvSpPr>
          <p:nvPr>
            <p:ph type="sldNum" sz="quarter" idx="12"/>
          </p:nvPr>
        </p:nvSpPr>
        <p:spPr/>
        <p:txBody>
          <a:bodyPr/>
          <a:lstStyle/>
          <a:p>
            <a:fld id="{34C98182-889D-4BA7-ABC9-29B15B402893}" type="slidenum">
              <a:rPr lang="ko-KR" altLang="en-US" smtClean="0"/>
              <a:t>110</a:t>
            </a:fld>
            <a:endParaRPr lang="ko-KR" altLang="en-US"/>
          </a:p>
        </p:txBody>
      </p:sp>
      <p:cxnSp>
        <p:nvCxnSpPr>
          <p:cNvPr id="9" name="직선 연결선 8">
            <a:extLst>
              <a:ext uri="{FF2B5EF4-FFF2-40B4-BE49-F238E27FC236}">
                <a16:creationId xmlns:a16="http://schemas.microsoft.com/office/drawing/2014/main" id="{693BF51C-B510-4B04-B7A1-BEEFBB6CE968}"/>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BF9582E8-13A6-4248-A570-E642AB1BB67D}"/>
              </a:ext>
            </a:extLst>
          </p:cNvPr>
          <p:cNvPicPr>
            <a:picLocks noChangeAspect="1"/>
          </p:cNvPicPr>
          <p:nvPr/>
        </p:nvPicPr>
        <p:blipFill>
          <a:blip r:embed="rId6"/>
          <a:stretch>
            <a:fillRect/>
          </a:stretch>
        </p:blipFill>
        <p:spPr>
          <a:xfrm>
            <a:off x="5023219" y="3546282"/>
            <a:ext cx="2145562" cy="2810068"/>
          </a:xfrm>
          <a:prstGeom prst="rect">
            <a:avLst/>
          </a:prstGeom>
          <a:ln>
            <a:solidFill>
              <a:schemeClr val="bg1">
                <a:lumMod val="50000"/>
              </a:schemeClr>
            </a:solidFill>
          </a:ln>
        </p:spPr>
      </p:pic>
    </p:spTree>
    <p:extLst>
      <p:ext uri="{BB962C8B-B14F-4D97-AF65-F5344CB8AC3E}">
        <p14:creationId xmlns:p14="http://schemas.microsoft.com/office/powerpoint/2010/main" val="84487956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 &amp; !</a:t>
            </a:r>
            <a:endParaRPr lang="ko-KR" altLang="en-US" sz="2800" b="1" dirty="0"/>
          </a:p>
        </p:txBody>
      </p:sp>
      <p:sp>
        <p:nvSpPr>
          <p:cNvPr id="5" name="날짜 개체 틀 4">
            <a:extLst>
              <a:ext uri="{FF2B5EF4-FFF2-40B4-BE49-F238E27FC236}">
                <a16:creationId xmlns:a16="http://schemas.microsoft.com/office/drawing/2014/main" id="{BD483CEA-56F2-47AB-BFA1-132A8DDCC80B}"/>
              </a:ext>
            </a:extLst>
          </p:cNvPr>
          <p:cNvSpPr>
            <a:spLocks noGrp="1"/>
          </p:cNvSpPr>
          <p:nvPr>
            <p:ph type="dt" sz="half" idx="10"/>
          </p:nvPr>
        </p:nvSpPr>
        <p:spPr/>
        <p:txBody>
          <a:bodyPr/>
          <a:lstStyle/>
          <a:p>
            <a:fld id="{6A8ABF0E-5B75-4D4D-BF96-82EF72C3019F}"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85979C9C-7B4D-4A38-B1F9-F720E58BA8DC}"/>
              </a:ext>
            </a:extLst>
          </p:cNvPr>
          <p:cNvSpPr>
            <a:spLocks noGrp="1"/>
          </p:cNvSpPr>
          <p:nvPr>
            <p:ph type="sldNum" sz="quarter" idx="12"/>
          </p:nvPr>
        </p:nvSpPr>
        <p:spPr/>
        <p:txBody>
          <a:bodyPr/>
          <a:lstStyle/>
          <a:p>
            <a:fld id="{34C98182-889D-4BA7-ABC9-29B15B402893}" type="slidenum">
              <a:rPr lang="ko-KR" altLang="en-US" smtClean="0"/>
              <a:t>111</a:t>
            </a:fld>
            <a:endParaRPr lang="ko-KR" altLang="en-US"/>
          </a:p>
        </p:txBody>
      </p:sp>
      <p:cxnSp>
        <p:nvCxnSpPr>
          <p:cNvPr id="9" name="직선 연결선 8">
            <a:extLst>
              <a:ext uri="{FF2B5EF4-FFF2-40B4-BE49-F238E27FC236}">
                <a16:creationId xmlns:a16="http://schemas.microsoft.com/office/drawing/2014/main" id="{B671BC0C-7CE8-4BB6-A4DB-3EA4386487A3}"/>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12" name="그림 11">
            <a:extLst>
              <a:ext uri="{FF2B5EF4-FFF2-40B4-BE49-F238E27FC236}">
                <a16:creationId xmlns:a16="http://schemas.microsoft.com/office/drawing/2014/main" id="{58424194-75B7-4C81-BAF0-83EAB1BDC610}"/>
              </a:ext>
            </a:extLst>
          </p:cNvPr>
          <p:cNvPicPr>
            <a:picLocks noChangeAspect="1"/>
          </p:cNvPicPr>
          <p:nvPr/>
        </p:nvPicPr>
        <p:blipFill>
          <a:blip r:embed="rId2">
            <a:biLevel thresh="75000"/>
          </a:blip>
          <a:stretch>
            <a:fillRect/>
          </a:stretch>
        </p:blipFill>
        <p:spPr>
          <a:xfrm>
            <a:off x="4422750" y="2072013"/>
            <a:ext cx="3346499" cy="2713974"/>
          </a:xfrm>
          <a:prstGeom prst="rect">
            <a:avLst/>
          </a:prstGeom>
        </p:spPr>
      </p:pic>
    </p:spTree>
    <p:extLst>
      <p:ext uri="{BB962C8B-B14F-4D97-AF65-F5344CB8AC3E}">
        <p14:creationId xmlns:p14="http://schemas.microsoft.com/office/powerpoint/2010/main" val="2027931730"/>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28575">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ctr">
          <a:defRPr sz="1000" b="1"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120505</TotalTime>
  <Words>14197</Words>
  <Application>Microsoft Office PowerPoint</Application>
  <PresentationFormat>와이드스크린</PresentationFormat>
  <Paragraphs>1361</Paragraphs>
  <Slides>111</Slides>
  <Notes>0</Notes>
  <HiddenSlides>0</HiddenSlides>
  <MMClips>0</MMClips>
  <ScaleCrop>false</ScaleCrop>
  <HeadingPairs>
    <vt:vector size="8" baseType="variant">
      <vt:variant>
        <vt:lpstr>사용한 글꼴</vt:lpstr>
      </vt:variant>
      <vt:variant>
        <vt:i4>3</vt:i4>
      </vt:variant>
      <vt:variant>
        <vt:lpstr>테마</vt:lpstr>
      </vt:variant>
      <vt:variant>
        <vt:i4>1</vt:i4>
      </vt:variant>
      <vt:variant>
        <vt:lpstr>포함된 OLE 서버</vt:lpstr>
      </vt:variant>
      <vt:variant>
        <vt:i4>1</vt:i4>
      </vt:variant>
      <vt:variant>
        <vt:lpstr>슬라이드 제목</vt:lpstr>
      </vt:variant>
      <vt:variant>
        <vt:i4>111</vt:i4>
      </vt:variant>
    </vt:vector>
  </HeadingPairs>
  <TitlesOfParts>
    <vt:vector size="116" baseType="lpstr">
      <vt:lpstr>맑은 고딕</vt:lpstr>
      <vt:lpstr>Arial</vt:lpstr>
      <vt:lpstr>Wingdings</vt:lpstr>
      <vt:lpstr>Office 테마</vt:lpstr>
      <vt:lpstr>비트맵 이미지</vt:lpstr>
      <vt:lpstr>Kubernetes</vt:lpstr>
      <vt:lpstr>HTTP Load Balancing with Ingress</vt:lpstr>
      <vt:lpstr>Introduction(1/2)</vt:lpstr>
      <vt:lpstr>Introduction(2/2)</vt:lpstr>
      <vt:lpstr>Ingress Spec. Versus Ingress Controllers</vt:lpstr>
      <vt:lpstr>Installing Contour(1/2)</vt:lpstr>
      <vt:lpstr>NOTE : Contour Installation</vt:lpstr>
      <vt:lpstr>Installing Contour(2/2)</vt:lpstr>
      <vt:lpstr>NOTE : Minikube Tunnel</vt:lpstr>
      <vt:lpstr>Configuring DNS</vt:lpstr>
      <vt:lpstr>Configuring a Local “Hosts” File</vt:lpstr>
      <vt:lpstr>Using Ingress(1/11)</vt:lpstr>
      <vt:lpstr>Using Ingress(2/11)</vt:lpstr>
      <vt:lpstr>Using Ingress(3/11)</vt:lpstr>
      <vt:lpstr>Using Ingress(4/11)</vt:lpstr>
      <vt:lpstr>NOTE : Ingress Addons(1/2)</vt:lpstr>
      <vt:lpstr>NOTE : Ingress Addons(2/2)</vt:lpstr>
      <vt:lpstr>Using Ingress(5/11)</vt:lpstr>
      <vt:lpstr>Using Ingress(6/11)</vt:lpstr>
      <vt:lpstr>Using Ingress(7/11)</vt:lpstr>
      <vt:lpstr>NOTE : Setting IP Address for Service</vt:lpstr>
      <vt:lpstr>NOTE : Nginx Ingress Controller</vt:lpstr>
      <vt:lpstr>Using Ingress(8/11)</vt:lpstr>
      <vt:lpstr>Using Ingress(9/11)</vt:lpstr>
      <vt:lpstr>Using Ingress(10/11)</vt:lpstr>
      <vt:lpstr>Using Ingress(11/11)</vt:lpstr>
      <vt:lpstr>Advanced Ingress Topics and Gotchas(1/7)</vt:lpstr>
      <vt:lpstr>Advanced Ingress Topics and Gotchas(2/7)</vt:lpstr>
      <vt:lpstr>Advanced Ingress Topics and Gotchas(3/7)</vt:lpstr>
      <vt:lpstr>Advanced Ingress Topics and Gotchas(4/7)</vt:lpstr>
      <vt:lpstr>Advanced Ingress Topics and Gotchas(5/7)</vt:lpstr>
      <vt:lpstr>Advanced Ingress Topics and Gotchas(6/7)</vt:lpstr>
      <vt:lpstr>Advanced Ingress Topics and Gotchas(7/7)</vt:lpstr>
      <vt:lpstr>Alternate Ingress Implementations</vt:lpstr>
      <vt:lpstr>The Future of Ingress</vt:lpstr>
      <vt:lpstr>NOTE : Summary </vt:lpstr>
      <vt:lpstr>ReplicaSets</vt:lpstr>
      <vt:lpstr>Introduction(1/2)</vt:lpstr>
      <vt:lpstr>Introduction(2/2)</vt:lpstr>
      <vt:lpstr>Reconciliation Loops</vt:lpstr>
      <vt:lpstr>Relating Pods and ReplicaSets(1/3)</vt:lpstr>
      <vt:lpstr>Relating Pods and ReplicaSets(2/3)</vt:lpstr>
      <vt:lpstr>Relating Pods and ReplicaSets(3/3)</vt:lpstr>
      <vt:lpstr>Designing with ReplicaSets</vt:lpstr>
      <vt:lpstr>ReplicaSet Spec(1/3)</vt:lpstr>
      <vt:lpstr>ReplicaSet Spec(2/3)</vt:lpstr>
      <vt:lpstr>ReplicaSet Spec(3/3)</vt:lpstr>
      <vt:lpstr>Creating a ReplicaSet(1/2)</vt:lpstr>
      <vt:lpstr>Creating a ReplicaSet(2/2)</vt:lpstr>
      <vt:lpstr>Inspecting a ReplicaSet(1/3)</vt:lpstr>
      <vt:lpstr>Inspecting a ReplicaSet(2/3)</vt:lpstr>
      <vt:lpstr>Inspecting a ReplicaSet(3/3)</vt:lpstr>
      <vt:lpstr>Scaling ReplicaSets(1/8)</vt:lpstr>
      <vt:lpstr>Scaling ReplicaSets(2/8)</vt:lpstr>
      <vt:lpstr>Scaling ReplicaSets(3/8)</vt:lpstr>
      <vt:lpstr>Scaling ReplicaSets(4/8)</vt:lpstr>
      <vt:lpstr>Scaling ReplicaSets(5/8)</vt:lpstr>
      <vt:lpstr>Scaling ReplicaSets(6/8)</vt:lpstr>
      <vt:lpstr>Scaling ReplicaSets(7/8)</vt:lpstr>
      <vt:lpstr>Scaling ReplicaSets(8/8)</vt:lpstr>
      <vt:lpstr>Deleting ReplicaSets(1/2)</vt:lpstr>
      <vt:lpstr>Deleting ReplicaSets(2/2)</vt:lpstr>
      <vt:lpstr>NOTE : Summary </vt:lpstr>
      <vt:lpstr>Deployments</vt:lpstr>
      <vt:lpstr>What is Deployments?</vt:lpstr>
      <vt:lpstr>Your First Deployment(1/5)</vt:lpstr>
      <vt:lpstr>Your First Deployment(2/5)</vt:lpstr>
      <vt:lpstr>Your First Deployment(3/5)</vt:lpstr>
      <vt:lpstr>Your First Deployment(4/5)</vt:lpstr>
      <vt:lpstr>Your First Deployment(5/5)</vt:lpstr>
      <vt:lpstr>Creating Deployments(1/2)</vt:lpstr>
      <vt:lpstr>Creating Deployments(2/2)</vt:lpstr>
      <vt:lpstr>Managing Deployments(1/2)</vt:lpstr>
      <vt:lpstr>Managing Deployments(2/2)</vt:lpstr>
      <vt:lpstr>Updating Deployments(1/13)</vt:lpstr>
      <vt:lpstr>Updating Deployments(2/13)</vt:lpstr>
      <vt:lpstr>Updating Deployments(3/13)</vt:lpstr>
      <vt:lpstr>NOTE : The YAML File</vt:lpstr>
      <vt:lpstr>NOTE : Build a Docker Image</vt:lpstr>
      <vt:lpstr>Updating Deployments(4/13)</vt:lpstr>
      <vt:lpstr>Updating Deployments(5/13)</vt:lpstr>
      <vt:lpstr>Updating Deployments(6/13)</vt:lpstr>
      <vt:lpstr>Updating Deployments(7/13)</vt:lpstr>
      <vt:lpstr>Updating Deployments(8/13)</vt:lpstr>
      <vt:lpstr>Updating Deployments(9/13)</vt:lpstr>
      <vt:lpstr>NOTE : The YAML File</vt:lpstr>
      <vt:lpstr>Updating Deployments(10/13)</vt:lpstr>
      <vt:lpstr>Updating Deployments(11/13)</vt:lpstr>
      <vt:lpstr>Updating Deployments(12/13)</vt:lpstr>
      <vt:lpstr>Updating Deployments(13/13)</vt:lpstr>
      <vt:lpstr>Deployment Strategies(1/14)</vt:lpstr>
      <vt:lpstr>Deployment Strategies(2/14)</vt:lpstr>
      <vt:lpstr>Deployment Strategies(3/14)</vt:lpstr>
      <vt:lpstr>Deployment Strategies(4/14)</vt:lpstr>
      <vt:lpstr>Deployment Strategies(5/14)</vt:lpstr>
      <vt:lpstr>Deployment Strategies(6/14)</vt:lpstr>
      <vt:lpstr>Deployment Strategies(7/14)</vt:lpstr>
      <vt:lpstr>Deployment Strategies(8/14)</vt:lpstr>
      <vt:lpstr>Deployment Strategies(9/14)</vt:lpstr>
      <vt:lpstr>Deployment Strategies(10/14)</vt:lpstr>
      <vt:lpstr>Deployment Strategies(11/14)</vt:lpstr>
      <vt:lpstr>Deployment Strategies(12/14)</vt:lpstr>
      <vt:lpstr>Deployment Strategies(13/14)</vt:lpstr>
      <vt:lpstr>Deployment Strategies(14/14)</vt:lpstr>
      <vt:lpstr>Deleting a Deployment</vt:lpstr>
      <vt:lpstr>NOTE : Deleting a Deployment</vt:lpstr>
      <vt:lpstr>Monitoring a Deployment</vt:lpstr>
      <vt:lpstr>NOTE : Summary </vt:lpstr>
      <vt:lpstr>NOTE : CI/CD with Kubernetes</vt:lpstr>
      <vt:lpstr>Reference</vt:lpstr>
      <vt:lpstr>? &amp;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Ethereum</dc:title>
  <dc:creator>빅터 (권수호)</dc:creator>
  <cp:lastModifiedBy>수호 권</cp:lastModifiedBy>
  <cp:revision>5028</cp:revision>
  <dcterms:created xsi:type="dcterms:W3CDTF">2020-11-26T08:00:10Z</dcterms:created>
  <dcterms:modified xsi:type="dcterms:W3CDTF">2026-08-18T02:32:52Z</dcterms:modified>
</cp:coreProperties>
</file>