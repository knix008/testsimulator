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5"/>
  </p:notesMasterIdLst>
  <p:sldIdLst>
    <p:sldId id="256" r:id="rId2"/>
    <p:sldId id="776" r:id="rId3"/>
    <p:sldId id="1369" r:id="rId4"/>
    <p:sldId id="1370" r:id="rId5"/>
    <p:sldId id="1371" r:id="rId6"/>
    <p:sldId id="1372" r:id="rId7"/>
    <p:sldId id="1373" r:id="rId8"/>
    <p:sldId id="1374" r:id="rId9"/>
    <p:sldId id="1375" r:id="rId10"/>
    <p:sldId id="1376" r:id="rId11"/>
    <p:sldId id="1377" r:id="rId12"/>
    <p:sldId id="1378" r:id="rId13"/>
    <p:sldId id="1379" r:id="rId14"/>
    <p:sldId id="1380" r:id="rId15"/>
    <p:sldId id="1381" r:id="rId16"/>
    <p:sldId id="1382" r:id="rId17"/>
    <p:sldId id="1383" r:id="rId18"/>
    <p:sldId id="1384" r:id="rId19"/>
    <p:sldId id="1385" r:id="rId20"/>
    <p:sldId id="1386" r:id="rId21"/>
    <p:sldId id="1387" r:id="rId22"/>
    <p:sldId id="1388" r:id="rId23"/>
    <p:sldId id="1389" r:id="rId24"/>
    <p:sldId id="1390" r:id="rId25"/>
    <p:sldId id="1391" r:id="rId26"/>
    <p:sldId id="1392" r:id="rId27"/>
    <p:sldId id="1393" r:id="rId28"/>
    <p:sldId id="1394" r:id="rId29"/>
    <p:sldId id="1395" r:id="rId30"/>
    <p:sldId id="1396" r:id="rId31"/>
    <p:sldId id="1397" r:id="rId32"/>
    <p:sldId id="1398" r:id="rId33"/>
    <p:sldId id="1399" r:id="rId34"/>
    <p:sldId id="1400" r:id="rId35"/>
    <p:sldId id="1401" r:id="rId36"/>
    <p:sldId id="1402" r:id="rId37"/>
    <p:sldId id="1403" r:id="rId38"/>
    <p:sldId id="1404" r:id="rId39"/>
    <p:sldId id="1405" r:id="rId40"/>
    <p:sldId id="1406" r:id="rId41"/>
    <p:sldId id="1407" r:id="rId42"/>
    <p:sldId id="1408" r:id="rId43"/>
    <p:sldId id="1409" r:id="rId44"/>
    <p:sldId id="1410" r:id="rId45"/>
    <p:sldId id="1411" r:id="rId46"/>
    <p:sldId id="1412" r:id="rId47"/>
    <p:sldId id="1413" r:id="rId48"/>
    <p:sldId id="1414" r:id="rId49"/>
    <p:sldId id="1415" r:id="rId50"/>
    <p:sldId id="1416" r:id="rId51"/>
    <p:sldId id="1417" r:id="rId52"/>
    <p:sldId id="1418" r:id="rId53"/>
    <p:sldId id="1419" r:id="rId54"/>
    <p:sldId id="1420" r:id="rId55"/>
    <p:sldId id="1421" r:id="rId56"/>
    <p:sldId id="1422" r:id="rId57"/>
    <p:sldId id="1423" r:id="rId58"/>
    <p:sldId id="1424" r:id="rId59"/>
    <p:sldId id="1425" r:id="rId60"/>
    <p:sldId id="1426" r:id="rId61"/>
    <p:sldId id="1427" r:id="rId62"/>
    <p:sldId id="1428" r:id="rId63"/>
    <p:sldId id="1429" r:id="rId64"/>
    <p:sldId id="1430" r:id="rId65"/>
    <p:sldId id="1431" r:id="rId66"/>
    <p:sldId id="1432" r:id="rId67"/>
    <p:sldId id="1433" r:id="rId68"/>
    <p:sldId id="1434" r:id="rId69"/>
    <p:sldId id="1436" r:id="rId70"/>
    <p:sldId id="1435" r:id="rId71"/>
    <p:sldId id="1437" r:id="rId72"/>
    <p:sldId id="1438" r:id="rId73"/>
    <p:sldId id="1439" r:id="rId74"/>
    <p:sldId id="1440" r:id="rId75"/>
    <p:sldId id="1441" r:id="rId76"/>
    <p:sldId id="1443" r:id="rId77"/>
    <p:sldId id="1442" r:id="rId78"/>
    <p:sldId id="1444" r:id="rId79"/>
    <p:sldId id="1445" r:id="rId80"/>
    <p:sldId id="1446" r:id="rId81"/>
    <p:sldId id="1447" r:id="rId82"/>
    <p:sldId id="1448" r:id="rId83"/>
    <p:sldId id="1449" r:id="rId84"/>
    <p:sldId id="1450" r:id="rId85"/>
    <p:sldId id="1451" r:id="rId86"/>
    <p:sldId id="1452" r:id="rId87"/>
    <p:sldId id="1453" r:id="rId88"/>
    <p:sldId id="1454" r:id="rId89"/>
    <p:sldId id="1455" r:id="rId90"/>
    <p:sldId id="1456" r:id="rId91"/>
    <p:sldId id="1457" r:id="rId92"/>
    <p:sldId id="281" r:id="rId93"/>
    <p:sldId id="259" r:id="rId9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14" autoAdjust="0"/>
    <p:restoredTop sz="94660"/>
  </p:normalViewPr>
  <p:slideViewPr>
    <p:cSldViewPr snapToGrid="0">
      <p:cViewPr varScale="1">
        <p:scale>
          <a:sx n="116" d="100"/>
          <a:sy n="116" d="100"/>
        </p:scale>
        <p:origin x="120" y="54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kubernetes.io/docs/user-guide/jsonpath"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10.111.208.240/"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hyperlink" Target="http://kubia.example.com/" TargetMode="Externa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6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III</a:t>
            </a:r>
          </a:p>
          <a:p>
            <a:endParaRPr lang="en-US" altLang="ko-KR" b="1" dirty="0"/>
          </a:p>
          <a:p>
            <a:r>
              <a:rPr lang="en-US" altLang="ko-KR" sz="2000" b="1" dirty="0"/>
              <a:t>2026.08.25</a:t>
            </a:r>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Services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Enabling Clients to Discover and Talk to Pods</a:t>
            </a:r>
            <a:endParaRPr lang="ko-KR" altLang="en-US" sz="2800" b="1" dirty="0"/>
          </a:p>
        </p:txBody>
      </p: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Services?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Services :</a:t>
            </a:r>
          </a:p>
          <a:p>
            <a:pPr lvl="1">
              <a:buFont typeface="Wingdings" panose="05000000000000000000" pitchFamily="2" charset="2"/>
              <a:buChar char="§"/>
            </a:pPr>
            <a:r>
              <a:rPr lang="en-US" altLang="ko-KR" sz="1400" dirty="0"/>
              <a:t>You’ve learned about pods and </a:t>
            </a:r>
            <a:r>
              <a:rPr lang="en-US" altLang="ko-KR" sz="1400" b="1" dirty="0"/>
              <a:t>how to deploy them through </a:t>
            </a:r>
            <a:r>
              <a:rPr lang="en-US" altLang="ko-KR" sz="1400" b="1" dirty="0" err="1"/>
              <a:t>ReplicaSets</a:t>
            </a:r>
            <a:r>
              <a:rPr lang="en-US" altLang="ko-KR" sz="1400" b="1" dirty="0"/>
              <a:t> </a:t>
            </a:r>
            <a:r>
              <a:rPr lang="en-US" altLang="ko-KR" sz="1400" dirty="0"/>
              <a:t>and similar resources to ensure they keep running. Although certain pods can do their work independently of an external stimulus, </a:t>
            </a:r>
            <a:r>
              <a:rPr lang="en-US" altLang="ko-KR" sz="1400" b="1" dirty="0"/>
              <a:t>many applications these days are meant to respond to external requests</a:t>
            </a:r>
            <a:r>
              <a:rPr lang="en-US" altLang="ko-KR" sz="1400" dirty="0"/>
              <a:t>. For example, in the case of </a:t>
            </a:r>
            <a:r>
              <a:rPr lang="en-US" altLang="ko-KR" sz="1400" b="1" dirty="0">
                <a:solidFill>
                  <a:srgbClr val="FF0000"/>
                </a:solidFill>
              </a:rPr>
              <a:t>microservices</a:t>
            </a:r>
            <a:r>
              <a:rPr lang="en-US" altLang="ko-KR" sz="1400" dirty="0"/>
              <a:t>, pods will usually respond to </a:t>
            </a:r>
            <a:r>
              <a:rPr lang="en-US" altLang="ko-KR" sz="1400" b="1" dirty="0"/>
              <a:t>HTTP requests </a:t>
            </a:r>
            <a:r>
              <a:rPr lang="en-US" altLang="ko-KR" sz="1400" dirty="0"/>
              <a:t>coming either from other pods inside the cluster or from clients outside the cluster.</a:t>
            </a:r>
          </a:p>
          <a:p>
            <a:pPr lvl="1">
              <a:buFont typeface="Wingdings" panose="05000000000000000000" pitchFamily="2" charset="2"/>
              <a:buChar char="§"/>
            </a:pPr>
            <a:r>
              <a:rPr lang="en-US" altLang="ko-KR" sz="1400" b="1" dirty="0"/>
              <a:t>Pods need a way of </a:t>
            </a:r>
            <a:r>
              <a:rPr lang="en-US" altLang="ko-KR" sz="1400" b="1" dirty="0">
                <a:solidFill>
                  <a:srgbClr val="FF0000"/>
                </a:solidFill>
              </a:rPr>
              <a:t>finding(discovering)</a:t>
            </a:r>
            <a:r>
              <a:rPr lang="en-US" altLang="ko-KR" sz="1400" b="1" dirty="0"/>
              <a:t> other pods </a:t>
            </a:r>
            <a:r>
              <a:rPr lang="en-US" altLang="ko-KR" sz="1400" dirty="0"/>
              <a:t>if they want to consume the services they provide. Unlike in the non-Kubernetes world, where a sysadmin would </a:t>
            </a:r>
            <a:r>
              <a:rPr lang="en-US" altLang="ko-KR" sz="1400" b="1" dirty="0"/>
              <a:t>configure each client app by specifying the exact IP address or hostname of the server providing the service in the client’s configuration files</a:t>
            </a:r>
            <a:r>
              <a:rPr lang="en-US" altLang="ko-KR" sz="1400" dirty="0"/>
              <a:t>, </a:t>
            </a:r>
            <a:r>
              <a:rPr lang="en-US" altLang="ko-KR" sz="1400" b="1" dirty="0"/>
              <a:t>doing the same in Kubernetes wouldn’t work, because</a:t>
            </a:r>
          </a:p>
          <a:p>
            <a:pPr lvl="2">
              <a:buFont typeface="Wingdings" panose="05000000000000000000" pitchFamily="2" charset="2"/>
              <a:buChar char="§"/>
            </a:pPr>
            <a:r>
              <a:rPr lang="en-US" altLang="ko-KR" sz="1400" b="1" dirty="0">
                <a:solidFill>
                  <a:srgbClr val="FF0000"/>
                </a:solidFill>
              </a:rPr>
              <a:t>Pods are ephemeral</a:t>
            </a:r>
            <a:r>
              <a:rPr lang="en-US" altLang="ko-KR" sz="1400" dirty="0"/>
              <a:t>—They may come and go at any time, whether it’s because a pod is removed from a node to make room for other pods, because someone scaled down the number of pods, or because a cluster node has failed.</a:t>
            </a:r>
          </a:p>
          <a:p>
            <a:pPr lvl="2">
              <a:buFont typeface="Wingdings" panose="05000000000000000000" pitchFamily="2" charset="2"/>
              <a:buChar char="§"/>
            </a:pPr>
            <a:r>
              <a:rPr lang="en-US" altLang="ko-KR" sz="1400" b="1" dirty="0">
                <a:solidFill>
                  <a:srgbClr val="FF0000"/>
                </a:solidFill>
              </a:rPr>
              <a:t>Kubernetes assigns an IP address to a pod </a:t>
            </a:r>
            <a:r>
              <a:rPr lang="en-US" altLang="ko-KR" sz="1400" b="1" dirty="0"/>
              <a:t>after the pod has been scheduled to a node and before it’s started</a:t>
            </a:r>
            <a:r>
              <a:rPr lang="en-US" altLang="ko-KR" sz="1400" dirty="0"/>
              <a:t>—Clients thus can’t know the IP address of the server pod up front.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65D89ED-F8D7-2616-08DC-9612563B0470}"/>
              </a:ext>
            </a:extLst>
          </p:cNvPr>
          <p:cNvSpPr txBox="1"/>
          <p:nvPr/>
        </p:nvSpPr>
        <p:spPr>
          <a:xfrm>
            <a:off x="838200" y="3827084"/>
            <a:ext cx="6035566" cy="1901546"/>
          </a:xfrm>
          <a:prstGeom prst="rect">
            <a:avLst/>
          </a:prstGeom>
          <a:noFill/>
        </p:spPr>
        <p:txBody>
          <a:bodyPr wrap="square">
            <a:spAutoFit/>
          </a:bodyPr>
          <a:lstStyle/>
          <a:p>
            <a:pPr marL="1143000" marR="0" lvl="2"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Horizontal scaling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means multiple pods may provide the same service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Each of those pods has its own IP address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Clients shouldn’t care how many pods are backing the service and what their IPs are. They shouldn’t have to keep a list of all the individual IPs of pods.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Instead, all those pods should be accessible through a single IP address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solve these problems, Kubernetes also provides another resource type,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Services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grpSp>
        <p:nvGrpSpPr>
          <p:cNvPr id="14" name="그룹 13">
            <a:extLst>
              <a:ext uri="{FF2B5EF4-FFF2-40B4-BE49-F238E27FC236}">
                <a16:creationId xmlns:a16="http://schemas.microsoft.com/office/drawing/2014/main" id="{1A99524F-DC95-464E-C129-41DBA5E210D7}"/>
              </a:ext>
            </a:extLst>
          </p:cNvPr>
          <p:cNvGrpSpPr/>
          <p:nvPr/>
        </p:nvGrpSpPr>
        <p:grpSpPr>
          <a:xfrm>
            <a:off x="6873766" y="3889010"/>
            <a:ext cx="4480034" cy="2520019"/>
            <a:chOff x="6873766" y="3889010"/>
            <a:chExt cx="4480034" cy="2520019"/>
          </a:xfrm>
        </p:grpSpPr>
        <p:pic>
          <p:nvPicPr>
            <p:cNvPr id="4" name="그림 3">
              <a:extLst>
                <a:ext uri="{FF2B5EF4-FFF2-40B4-BE49-F238E27FC236}">
                  <a16:creationId xmlns:a16="http://schemas.microsoft.com/office/drawing/2014/main" id="{17A549E2-7128-5FC7-9E07-839AEBAF4C26}"/>
                </a:ext>
              </a:extLst>
            </p:cNvPr>
            <p:cNvPicPr>
              <a:picLocks noChangeAspect="1"/>
            </p:cNvPicPr>
            <p:nvPr/>
          </p:nvPicPr>
          <p:blipFill>
            <a:blip r:embed="rId2"/>
            <a:stretch>
              <a:fillRect/>
            </a:stretch>
          </p:blipFill>
          <p:spPr>
            <a:xfrm>
              <a:off x="6873766" y="3889010"/>
              <a:ext cx="4480034" cy="2520019"/>
            </a:xfrm>
            <a:prstGeom prst="rect">
              <a:avLst/>
            </a:prstGeom>
          </p:spPr>
        </p:pic>
        <p:sp>
          <p:nvSpPr>
            <p:cNvPr id="13" name="직사각형 12">
              <a:extLst>
                <a:ext uri="{FF2B5EF4-FFF2-40B4-BE49-F238E27FC236}">
                  <a16:creationId xmlns:a16="http://schemas.microsoft.com/office/drawing/2014/main" id="{5EDDC786-DDD2-7ACC-44F8-A7672C09B764}"/>
                </a:ext>
              </a:extLst>
            </p:cNvPr>
            <p:cNvSpPr/>
            <p:nvPr/>
          </p:nvSpPr>
          <p:spPr>
            <a:xfrm>
              <a:off x="8537027" y="4816366"/>
              <a:ext cx="788276" cy="134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94504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Kubernetes Service :</a:t>
            </a:r>
          </a:p>
          <a:p>
            <a:pPr lvl="1">
              <a:buFont typeface="Wingdings" panose="05000000000000000000" pitchFamily="2" charset="2"/>
              <a:buChar char="§"/>
            </a:pPr>
            <a:r>
              <a:rPr lang="en-US" altLang="ko-KR" sz="1400" b="1" dirty="0"/>
              <a:t>A Kubernetes Service is a resource you create to make a single, constant point of entry to a group of pods providing the same service</a:t>
            </a:r>
            <a:r>
              <a:rPr lang="en-US" altLang="ko-KR" sz="1400" dirty="0"/>
              <a:t>. </a:t>
            </a:r>
            <a:r>
              <a:rPr lang="en-US" altLang="ko-KR" sz="1400" b="1" dirty="0"/>
              <a:t>Each service has </a:t>
            </a:r>
            <a:r>
              <a:rPr lang="en-US" altLang="ko-KR" sz="1400" b="1" dirty="0">
                <a:solidFill>
                  <a:srgbClr val="FF0000"/>
                </a:solidFill>
              </a:rPr>
              <a:t>an IP address and port</a:t>
            </a:r>
            <a:r>
              <a:rPr lang="en-US" altLang="ko-KR" sz="1400" b="1" dirty="0"/>
              <a:t> </a:t>
            </a:r>
            <a:r>
              <a:rPr lang="en-US" altLang="ko-KR" sz="1400" b="1" dirty="0">
                <a:solidFill>
                  <a:srgbClr val="FF0000"/>
                </a:solidFill>
              </a:rPr>
              <a:t>that never change while the service exists</a:t>
            </a:r>
            <a:r>
              <a:rPr lang="en-US" altLang="ko-KR" sz="1400" dirty="0"/>
              <a:t>. </a:t>
            </a:r>
            <a:r>
              <a:rPr lang="en-US" altLang="ko-KR" sz="1400" b="1" dirty="0"/>
              <a:t>Clients can open connections to that IP and port, and those connections are then </a:t>
            </a:r>
            <a:r>
              <a:rPr lang="en-US" altLang="ko-KR" sz="1400" b="1" dirty="0">
                <a:solidFill>
                  <a:srgbClr val="FF0000"/>
                </a:solidFill>
              </a:rPr>
              <a:t>routed</a:t>
            </a:r>
            <a:r>
              <a:rPr lang="en-US" altLang="ko-KR" sz="1400" b="1" dirty="0"/>
              <a:t> to one of the pods backing that service</a:t>
            </a:r>
            <a:r>
              <a:rPr lang="en-US" altLang="ko-KR" sz="1400" dirty="0"/>
              <a:t>. This way, clients of a service don’t need to know the location of individual pods providing the service, allowing those pods to be moved around the cluster at any time.</a:t>
            </a:r>
          </a:p>
          <a:p>
            <a:pPr lvl="1">
              <a:buFont typeface="Wingdings" panose="05000000000000000000" pitchFamily="2" charset="2"/>
              <a:buChar char="§"/>
            </a:pPr>
            <a:r>
              <a:rPr lang="en-US" altLang="ko-KR" sz="1400" b="1" dirty="0"/>
              <a:t>For example, you have a frontend web server and a backend database server</a:t>
            </a:r>
            <a:r>
              <a:rPr lang="en-US" altLang="ko-KR" sz="1400" dirty="0"/>
              <a:t>. There may be </a:t>
            </a:r>
            <a:r>
              <a:rPr lang="en-US" altLang="ko-KR" sz="1400" b="1" dirty="0"/>
              <a:t>multiple pods that all act as the frontend</a:t>
            </a:r>
            <a:r>
              <a:rPr lang="en-US" altLang="ko-KR" sz="1400" dirty="0"/>
              <a:t>, but there may </a:t>
            </a:r>
            <a:r>
              <a:rPr lang="en-US" altLang="ko-KR" sz="1400" b="1" dirty="0"/>
              <a:t>only be a single backend database pod</a:t>
            </a:r>
            <a:r>
              <a:rPr lang="en-US" altLang="ko-KR" sz="1400" dirty="0"/>
              <a:t>. You need to solve two problems to make the system function:</a:t>
            </a:r>
          </a:p>
          <a:p>
            <a:pPr lvl="2">
              <a:buFont typeface="Wingdings" panose="05000000000000000000" pitchFamily="2" charset="2"/>
              <a:buChar char="§"/>
            </a:pPr>
            <a:r>
              <a:rPr lang="en-US" altLang="ko-KR" sz="1400" b="1" dirty="0"/>
              <a:t>External clients need to connect to the frontend pods without caring if there’s only a single web server or hundreds</a:t>
            </a:r>
            <a:r>
              <a:rPr lang="en-US" altLang="ko-KR" sz="1400" dirty="0"/>
              <a:t>.</a:t>
            </a:r>
          </a:p>
          <a:p>
            <a:pPr lvl="2">
              <a:buFont typeface="Wingdings" panose="05000000000000000000" pitchFamily="2" charset="2"/>
              <a:buChar char="§"/>
            </a:pPr>
            <a:r>
              <a:rPr lang="en-US" altLang="ko-KR" sz="1400" b="1" dirty="0"/>
              <a:t>The frontend pods need to connect to the backend database</a:t>
            </a:r>
            <a:r>
              <a:rPr lang="en-US" altLang="ko-KR" sz="1400" dirty="0"/>
              <a:t>. Because the database runs inside a pod, it may be moved around the cluster over time, causing its IP address to change. You don’t want to reconfigure the frontend pods every time the backend database is moved.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2F10F01-C499-340C-7733-341A6DDA97C5}"/>
              </a:ext>
            </a:extLst>
          </p:cNvPr>
          <p:cNvPicPr>
            <a:picLocks noChangeAspect="1"/>
          </p:cNvPicPr>
          <p:nvPr/>
        </p:nvPicPr>
        <p:blipFill>
          <a:blip r:embed="rId2"/>
          <a:stretch>
            <a:fillRect/>
          </a:stretch>
        </p:blipFill>
        <p:spPr>
          <a:xfrm>
            <a:off x="3521048" y="3984033"/>
            <a:ext cx="5149903" cy="2186852"/>
          </a:xfrm>
          <a:prstGeom prst="rect">
            <a:avLst/>
          </a:prstGeom>
        </p:spPr>
      </p:pic>
    </p:spTree>
    <p:extLst>
      <p:ext uri="{BB962C8B-B14F-4D97-AF65-F5344CB8AC3E}">
        <p14:creationId xmlns:p14="http://schemas.microsoft.com/office/powerpoint/2010/main" val="3484710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Services(2/22)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Kubernetes Service :</a:t>
            </a:r>
          </a:p>
          <a:p>
            <a:pPr lvl="1">
              <a:buFont typeface="Wingdings" panose="05000000000000000000" pitchFamily="2" charset="2"/>
              <a:buChar char="§"/>
            </a:pPr>
            <a:r>
              <a:rPr lang="en-US" altLang="ko-KR" sz="1400" b="1" dirty="0"/>
              <a:t>By creating a </a:t>
            </a:r>
            <a:r>
              <a:rPr lang="en-US" altLang="ko-KR" sz="1400" b="1" dirty="0">
                <a:solidFill>
                  <a:srgbClr val="FF0000"/>
                </a:solidFill>
              </a:rPr>
              <a:t>service</a:t>
            </a:r>
            <a:r>
              <a:rPr lang="en-US" altLang="ko-KR" sz="1400" b="1" dirty="0"/>
              <a:t> for the frontend pods and configuring it to be accessible from outside the cluster, you </a:t>
            </a:r>
            <a:r>
              <a:rPr lang="en-US" altLang="ko-KR" sz="1400" b="1" dirty="0">
                <a:solidFill>
                  <a:srgbClr val="FF0000"/>
                </a:solidFill>
              </a:rPr>
              <a:t>expose</a:t>
            </a:r>
            <a:r>
              <a:rPr lang="en-US" altLang="ko-KR" sz="1400" b="1" dirty="0"/>
              <a:t> a single, constant IP address through which external clients can connect to the pods</a:t>
            </a:r>
            <a:r>
              <a:rPr lang="en-US" altLang="ko-KR" sz="1400" dirty="0"/>
              <a:t>. </a:t>
            </a:r>
            <a:r>
              <a:rPr lang="en-US" altLang="ko-KR" sz="1400" b="1" dirty="0"/>
              <a:t>Similarly, by also creating a service for the backend pod, you create a stable address for the backend pod</a:t>
            </a:r>
            <a:r>
              <a:rPr lang="en-US" altLang="ko-KR" sz="1400" dirty="0"/>
              <a:t>. </a:t>
            </a:r>
          </a:p>
          <a:p>
            <a:pPr lvl="1">
              <a:buFont typeface="Wingdings" panose="05000000000000000000" pitchFamily="2" charset="2"/>
              <a:buChar char="§"/>
            </a:pPr>
            <a:r>
              <a:rPr lang="en-US" altLang="ko-KR" sz="1400" b="1" dirty="0"/>
              <a:t>The service address doesn’t change even if the pod’s IP address changes</a:t>
            </a:r>
            <a:r>
              <a:rPr lang="en-US" altLang="ko-KR" sz="1400" dirty="0"/>
              <a:t>. </a:t>
            </a:r>
            <a:r>
              <a:rPr lang="en-US" altLang="ko-KR" sz="1400" b="1" dirty="0"/>
              <a:t>Additionally, by creating the service, you also enable the frontend pods to easily find the backend service by its name through either environment variables or </a:t>
            </a:r>
            <a:r>
              <a:rPr lang="en-US" altLang="ko-KR" sz="1400" b="1" dirty="0">
                <a:solidFill>
                  <a:srgbClr val="FF0000"/>
                </a:solidFill>
              </a:rPr>
              <a:t>DNS(Domain Name Service)</a:t>
            </a:r>
            <a:r>
              <a:rPr lang="en-US" altLang="ko-KR" sz="1400" dirty="0"/>
              <a:t>. All the components of your system (the two services, the two sets of pods backing those services, and the interdependencies between them) are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91E0BAD-2344-FD5C-581E-D90D3ADED391}"/>
              </a:ext>
            </a:extLst>
          </p:cNvPr>
          <p:cNvGrpSpPr/>
          <p:nvPr/>
        </p:nvGrpSpPr>
        <p:grpSpPr>
          <a:xfrm>
            <a:off x="3448050" y="2718741"/>
            <a:ext cx="5295900" cy="3590925"/>
            <a:chOff x="3448050" y="2718741"/>
            <a:chExt cx="5295900" cy="3590925"/>
          </a:xfrm>
        </p:grpSpPr>
        <p:pic>
          <p:nvPicPr>
            <p:cNvPr id="8" name="그림 7">
              <a:extLst>
                <a:ext uri="{FF2B5EF4-FFF2-40B4-BE49-F238E27FC236}">
                  <a16:creationId xmlns:a16="http://schemas.microsoft.com/office/drawing/2014/main" id="{FCE6585A-9CD3-C4C6-7C08-34524D2C909D}"/>
                </a:ext>
              </a:extLst>
            </p:cNvPr>
            <p:cNvPicPr>
              <a:picLocks noChangeAspect="1"/>
            </p:cNvPicPr>
            <p:nvPr/>
          </p:nvPicPr>
          <p:blipFill>
            <a:blip r:embed="rId2"/>
            <a:stretch>
              <a:fillRect/>
            </a:stretch>
          </p:blipFill>
          <p:spPr>
            <a:xfrm>
              <a:off x="3448050" y="2718741"/>
              <a:ext cx="5295900" cy="3590925"/>
            </a:xfrm>
            <a:prstGeom prst="rect">
              <a:avLst/>
            </a:prstGeom>
          </p:spPr>
        </p:pic>
        <p:sp>
          <p:nvSpPr>
            <p:cNvPr id="9" name="직사각형 8">
              <a:extLst>
                <a:ext uri="{FF2B5EF4-FFF2-40B4-BE49-F238E27FC236}">
                  <a16:creationId xmlns:a16="http://schemas.microsoft.com/office/drawing/2014/main" id="{82F5EE0E-A648-EFE7-D7D2-AC2B23BDC045}"/>
                </a:ext>
              </a:extLst>
            </p:cNvPr>
            <p:cNvSpPr/>
            <p:nvPr/>
          </p:nvSpPr>
          <p:spPr>
            <a:xfrm>
              <a:off x="6274676" y="3153104"/>
              <a:ext cx="804041"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A1039B84-1A39-6821-5FA4-37BB9110AFB7}"/>
                </a:ext>
              </a:extLst>
            </p:cNvPr>
            <p:cNvSpPr/>
            <p:nvPr/>
          </p:nvSpPr>
          <p:spPr>
            <a:xfrm>
              <a:off x="6274676" y="5081673"/>
              <a:ext cx="804041"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81856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Services(3/22)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Services :</a:t>
            </a:r>
            <a:endParaRPr lang="en-US" altLang="ko-KR" sz="1400" dirty="0"/>
          </a:p>
          <a:p>
            <a:pPr lvl="1">
              <a:buFont typeface="Wingdings" panose="05000000000000000000" pitchFamily="2" charset="2"/>
              <a:buChar char="§"/>
            </a:pPr>
            <a:r>
              <a:rPr lang="en-US" altLang="ko-KR" sz="1400" b="1" dirty="0"/>
              <a:t>A service can be backed by more than one pod</a:t>
            </a:r>
            <a:r>
              <a:rPr lang="en-US" altLang="ko-KR" sz="1400" dirty="0"/>
              <a:t>. </a:t>
            </a:r>
            <a:r>
              <a:rPr lang="en-US" altLang="ko-KR" sz="1400" b="1" dirty="0"/>
              <a:t>Connections to the service are </a:t>
            </a:r>
            <a:r>
              <a:rPr lang="en-US" altLang="ko-KR" sz="1400" b="1" dirty="0">
                <a:solidFill>
                  <a:srgbClr val="FF0000"/>
                </a:solidFill>
              </a:rPr>
              <a:t>load-balanced</a:t>
            </a:r>
            <a:r>
              <a:rPr lang="en-US" altLang="ko-KR" sz="1400" b="1" dirty="0"/>
              <a:t> across all the backing pods</a:t>
            </a:r>
            <a:r>
              <a:rPr lang="en-US" altLang="ko-KR" sz="1400" dirty="0"/>
              <a:t>. But how exactly do you define which pods are part of the service and which aren’t?</a:t>
            </a:r>
          </a:p>
          <a:p>
            <a:pPr lvl="1">
              <a:buFont typeface="Wingdings" panose="05000000000000000000" pitchFamily="2" charset="2"/>
              <a:buChar char="§"/>
            </a:pPr>
            <a:r>
              <a:rPr lang="en-US" altLang="ko-KR" sz="1400" b="1" dirty="0"/>
              <a:t>You probably remember “label selectors” and how they’re used in </a:t>
            </a:r>
            <a:r>
              <a:rPr lang="en-US" altLang="ko-KR" sz="1400" b="1" dirty="0" err="1"/>
              <a:t>ReplicationControllers</a:t>
            </a:r>
            <a:r>
              <a:rPr lang="en-US" altLang="ko-KR" sz="1400" b="1" dirty="0"/>
              <a:t> and other pod controllers to specify which pods belong to the same set</a:t>
            </a:r>
            <a:r>
              <a:rPr lang="en-US" altLang="ko-KR" sz="1400" dirty="0"/>
              <a:t>. The same mechanism is used by services in the same way, as you can see in following figure.</a:t>
            </a:r>
          </a:p>
          <a:p>
            <a:pPr lvl="1">
              <a:buFont typeface="Wingdings" panose="05000000000000000000" pitchFamily="2" charset="2"/>
              <a:buChar char="§"/>
            </a:pPr>
            <a:r>
              <a:rPr lang="en-US" altLang="ko-KR" sz="1400" b="1" dirty="0"/>
              <a:t>In the Part II, you created a </a:t>
            </a:r>
            <a:r>
              <a:rPr lang="en-US" altLang="ko-KR" sz="1400" b="1" dirty="0" err="1"/>
              <a:t>ReplicationController</a:t>
            </a:r>
            <a:r>
              <a:rPr lang="en-US" altLang="ko-KR" sz="1400" b="1" dirty="0"/>
              <a:t> which then ran three instances of the pod containing the Node.js app</a:t>
            </a:r>
            <a:r>
              <a:rPr lang="en-US" altLang="ko-KR" sz="1400" dirty="0"/>
              <a:t>. Create the </a:t>
            </a:r>
            <a:r>
              <a:rPr lang="en-US" altLang="ko-KR" sz="1400" dirty="0" err="1"/>
              <a:t>ReplicationController</a:t>
            </a:r>
            <a:r>
              <a:rPr lang="en-US" altLang="ko-KR" sz="1400" dirty="0"/>
              <a:t> again and verify three pod instances are up and running. After that, </a:t>
            </a:r>
            <a:r>
              <a:rPr lang="en-US" altLang="ko-KR" sz="1400" b="1" dirty="0"/>
              <a:t>you’ll create a </a:t>
            </a:r>
            <a:r>
              <a:rPr lang="en-US" altLang="ko-KR" sz="1400" b="1" dirty="0">
                <a:solidFill>
                  <a:srgbClr val="FF0000"/>
                </a:solidFill>
              </a:rPr>
              <a:t>Service</a:t>
            </a:r>
            <a:r>
              <a:rPr lang="en-US" altLang="ko-KR" sz="1400" b="1" dirty="0"/>
              <a:t> for those three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09F4CAB-3D48-28A9-A105-E547079B79C8}"/>
              </a:ext>
            </a:extLst>
          </p:cNvPr>
          <p:cNvPicPr>
            <a:picLocks noChangeAspect="1"/>
          </p:cNvPicPr>
          <p:nvPr/>
        </p:nvPicPr>
        <p:blipFill>
          <a:blip r:embed="rId2"/>
          <a:stretch>
            <a:fillRect/>
          </a:stretch>
        </p:blipFill>
        <p:spPr>
          <a:xfrm>
            <a:off x="4291012" y="3246218"/>
            <a:ext cx="3609975" cy="2257425"/>
          </a:xfrm>
          <a:prstGeom prst="rect">
            <a:avLst/>
          </a:prstGeom>
        </p:spPr>
      </p:pic>
    </p:spTree>
    <p:extLst>
      <p:ext uri="{BB962C8B-B14F-4D97-AF65-F5344CB8AC3E}">
        <p14:creationId xmlns:p14="http://schemas.microsoft.com/office/powerpoint/2010/main" val="1141783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Services(4/22)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Service Through </a:t>
            </a:r>
            <a:r>
              <a:rPr lang="en-US" altLang="ko-KR" sz="1800" b="1" dirty="0" err="1"/>
              <a:t>kubectl</a:t>
            </a:r>
            <a:r>
              <a:rPr lang="en-US" altLang="ko-KR" sz="1800" b="1" dirty="0"/>
              <a:t> Command :</a:t>
            </a:r>
          </a:p>
          <a:p>
            <a:pPr lvl="1">
              <a:buFont typeface="Wingdings" panose="05000000000000000000" pitchFamily="2" charset="2"/>
              <a:buChar char="§"/>
            </a:pPr>
            <a:r>
              <a:rPr lang="en-US" altLang="ko-KR" sz="1400" b="1" dirty="0"/>
              <a:t>The easiest way to create a service is through “</a:t>
            </a:r>
            <a:r>
              <a:rPr lang="en-US" altLang="ko-KR" sz="1400" b="1" dirty="0" err="1">
                <a:solidFill>
                  <a:srgbClr val="FF0000"/>
                </a:solidFill>
              </a:rPr>
              <a:t>kubectl</a:t>
            </a:r>
            <a:r>
              <a:rPr lang="en-US" altLang="ko-KR" sz="1400" b="1" dirty="0">
                <a:solidFill>
                  <a:srgbClr val="FF0000"/>
                </a:solidFill>
              </a:rPr>
              <a:t> expose</a:t>
            </a:r>
            <a:r>
              <a:rPr lang="en-US" altLang="ko-KR" sz="1400" b="1" dirty="0"/>
              <a:t>” command.</a:t>
            </a:r>
            <a:r>
              <a:rPr lang="en-US" altLang="ko-KR" sz="1400" dirty="0"/>
              <a:t> </a:t>
            </a:r>
            <a:r>
              <a:rPr lang="en-US" altLang="ko-KR" sz="1400" b="1" dirty="0"/>
              <a:t>The “expose” command created a Service resource with the same pod selector as the one used by the </a:t>
            </a:r>
            <a:r>
              <a:rPr lang="en-US" altLang="ko-KR" sz="1400" b="1" dirty="0" err="1"/>
              <a:t>ReplicationController</a:t>
            </a:r>
            <a:r>
              <a:rPr lang="en-US" altLang="ko-KR" sz="1400" dirty="0"/>
              <a:t>, </a:t>
            </a:r>
            <a:r>
              <a:rPr lang="en-US" altLang="ko-KR" sz="1400" b="1" dirty="0"/>
              <a:t>thereby exposing all its pods through a single IP address and port</a:t>
            </a:r>
            <a:r>
              <a:rPr lang="en-US" altLang="ko-KR" sz="1400" dirty="0"/>
              <a:t>.</a:t>
            </a:r>
          </a:p>
          <a:p>
            <a:pPr lvl="1">
              <a:buFont typeface="Wingdings" panose="05000000000000000000" pitchFamily="2" charset="2"/>
              <a:buChar char="§"/>
            </a:pPr>
            <a:r>
              <a:rPr lang="en-US" altLang="ko-KR" sz="1400" dirty="0"/>
              <a:t>Instead of using the </a:t>
            </a:r>
            <a:r>
              <a:rPr lang="en-US" altLang="ko-KR" sz="1400" b="1" dirty="0"/>
              <a:t>expose</a:t>
            </a:r>
            <a:r>
              <a:rPr lang="en-US" altLang="ko-KR" sz="1400" dirty="0"/>
              <a:t> command, you’ll </a:t>
            </a:r>
            <a:r>
              <a:rPr lang="en-US" altLang="ko-KR" sz="1400" b="1" dirty="0"/>
              <a:t>create a service manually by posting a YAML to the Kubernetes API server</a:t>
            </a:r>
            <a:r>
              <a:rPr lang="en-US" altLang="ko-KR" sz="1400" dirty="0"/>
              <a:t>. Create a file called “</a:t>
            </a:r>
            <a:r>
              <a:rPr lang="en-US" altLang="ko-KR" sz="1400" b="1" dirty="0" err="1"/>
              <a:t>kubia-svc.yaml</a:t>
            </a:r>
            <a:r>
              <a:rPr lang="en-US" altLang="ko-KR" sz="1400" dirty="0"/>
              <a:t>” with the following listing’s contents.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You’re defining a service called “</a:t>
            </a:r>
            <a:r>
              <a:rPr lang="en-US" altLang="ko-KR" sz="1400" b="1" dirty="0" err="1"/>
              <a:t>kubia</a:t>
            </a:r>
            <a:r>
              <a:rPr lang="en-US" altLang="ko-KR" sz="1400" dirty="0"/>
              <a:t>”, which will </a:t>
            </a:r>
            <a:r>
              <a:rPr lang="en-US" altLang="ko-KR" sz="1400" b="1" dirty="0"/>
              <a:t>accept connections on “port 80” and route each connection to “port 8080” of one of the pods matching the “app=</a:t>
            </a:r>
            <a:r>
              <a:rPr lang="en-US" altLang="ko-KR" sz="1400" b="1" dirty="0" err="1"/>
              <a:t>kubia</a:t>
            </a:r>
            <a:r>
              <a:rPr lang="en-US" altLang="ko-KR" sz="1400" b="1" dirty="0"/>
              <a:t>” label selector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570FA8E-57DA-57E9-38DC-B18D4F31429E}"/>
              </a:ext>
            </a:extLst>
          </p:cNvPr>
          <p:cNvGrpSpPr/>
          <p:nvPr/>
        </p:nvGrpSpPr>
        <p:grpSpPr>
          <a:xfrm>
            <a:off x="3047343" y="2390014"/>
            <a:ext cx="6097314" cy="1631216"/>
            <a:chOff x="3047343" y="2358481"/>
            <a:chExt cx="6097314" cy="1631216"/>
          </a:xfrm>
        </p:grpSpPr>
        <p:sp>
          <p:nvSpPr>
            <p:cNvPr id="8" name="TextBox 7">
              <a:extLst>
                <a:ext uri="{FF2B5EF4-FFF2-40B4-BE49-F238E27FC236}">
                  <a16:creationId xmlns:a16="http://schemas.microsoft.com/office/drawing/2014/main" id="{E997A7FB-4671-5B23-B5A5-3FD1CB01629B}"/>
                </a:ext>
              </a:extLst>
            </p:cNvPr>
            <p:cNvSpPr txBox="1"/>
            <p:nvPr/>
          </p:nvSpPr>
          <p:spPr>
            <a:xfrm>
              <a:off x="3047343" y="2358481"/>
              <a:ext cx="6097314"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err="1">
                  <a:solidFill>
                    <a:srgbClr val="FF0000"/>
                  </a:solidFill>
                </a:rPr>
                <a:t>kubia</a:t>
              </a:r>
              <a:endParaRPr lang="en-US" altLang="ko-KR" sz="1000" b="1" dirty="0">
                <a:solidFill>
                  <a:srgbClr val="FF0000"/>
                </a:solidFill>
              </a:endParaRPr>
            </a:p>
            <a:p>
              <a:r>
                <a:rPr lang="en-US" altLang="ko-KR" sz="1000" b="1" dirty="0"/>
                <a:t>spec:</a:t>
              </a:r>
            </a:p>
            <a:p>
              <a:r>
                <a:rPr lang="en-US" altLang="ko-KR" sz="1000" b="1" dirty="0"/>
                <a:t>  ports:</a:t>
              </a:r>
            </a:p>
            <a:p>
              <a:r>
                <a:rPr lang="en-US" altLang="ko-KR" sz="1000" b="1" dirty="0"/>
                <a:t>  - port: </a:t>
              </a:r>
              <a:r>
                <a:rPr lang="en-US" altLang="ko-KR" sz="1000" b="1" dirty="0">
                  <a:solidFill>
                    <a:srgbClr val="FF0000"/>
                  </a:solidFill>
                </a:rPr>
                <a:t>80</a:t>
              </a:r>
            </a:p>
            <a:p>
              <a:r>
                <a:rPr lang="en-US" altLang="ko-KR" sz="1000" b="1" dirty="0"/>
                <a:t>    </a:t>
              </a:r>
              <a:r>
                <a:rPr lang="en-US" altLang="ko-KR" sz="1000" b="1" dirty="0" err="1"/>
                <a:t>targetPort</a:t>
              </a:r>
              <a:r>
                <a:rPr lang="en-US" altLang="ko-KR" sz="1000" b="1" dirty="0"/>
                <a:t>: </a:t>
              </a:r>
              <a:r>
                <a:rPr lang="en-US" altLang="ko-KR" sz="1000" b="1" dirty="0">
                  <a:solidFill>
                    <a:srgbClr val="FF0000"/>
                  </a:solidFill>
                </a:rPr>
                <a:t>8080</a:t>
              </a:r>
            </a:p>
            <a:p>
              <a:r>
                <a:rPr lang="en-US" altLang="ko-KR" sz="1000" b="1" dirty="0"/>
                <a:t>  selector:</a:t>
              </a:r>
            </a:p>
            <a:p>
              <a:r>
                <a:rPr lang="en-US" altLang="ko-KR" sz="1000" b="1" dirty="0"/>
                <a:t>    app: </a:t>
              </a:r>
              <a:r>
                <a:rPr lang="en-US" altLang="ko-KR" sz="1000" b="1" dirty="0" err="1">
                  <a:solidFill>
                    <a:srgbClr val="FF0000"/>
                  </a:solidFill>
                </a:rPr>
                <a:t>kubia</a:t>
              </a:r>
              <a:endParaRPr lang="en-US" altLang="ko-KR" sz="1000" b="1" dirty="0">
                <a:solidFill>
                  <a:srgbClr val="FF0000"/>
                </a:solidFill>
              </a:endParaRPr>
            </a:p>
          </p:txBody>
        </p:sp>
        <p:sp>
          <p:nvSpPr>
            <p:cNvPr id="10" name="TextBox 9">
              <a:extLst>
                <a:ext uri="{FF2B5EF4-FFF2-40B4-BE49-F238E27FC236}">
                  <a16:creationId xmlns:a16="http://schemas.microsoft.com/office/drawing/2014/main" id="{8C8DC7DB-E228-D46C-DBDF-82BA8AAE66B1}"/>
                </a:ext>
              </a:extLst>
            </p:cNvPr>
            <p:cNvSpPr txBox="1"/>
            <p:nvPr/>
          </p:nvSpPr>
          <p:spPr>
            <a:xfrm>
              <a:off x="8057500" y="2358481"/>
              <a:ext cx="1087157" cy="246221"/>
            </a:xfrm>
            <a:prstGeom prst="rect">
              <a:avLst/>
            </a:prstGeom>
            <a:noFill/>
          </p:spPr>
          <p:txBody>
            <a:bodyPr wrap="none" rtlCol="0">
              <a:spAutoFit/>
            </a:bodyPr>
            <a:lstStyle/>
            <a:p>
              <a:pPr algn="l"/>
              <a:r>
                <a:rPr lang="en-US" altLang="ko-KR" sz="1000" b="1" dirty="0" err="1"/>
                <a:t>kubia-svc.yaml</a:t>
              </a:r>
              <a:endParaRPr lang="ko-KR" altLang="en-US" sz="1000" b="1" dirty="0"/>
            </a:p>
          </p:txBody>
        </p:sp>
      </p:grpSp>
    </p:spTree>
    <p:extLst>
      <p:ext uri="{BB962C8B-B14F-4D97-AF65-F5344CB8AC3E}">
        <p14:creationId xmlns:p14="http://schemas.microsoft.com/office/powerpoint/2010/main" val="3673800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Services(5/22)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Service Through </a:t>
            </a:r>
            <a:r>
              <a:rPr lang="en-US" altLang="ko-KR" sz="1800" b="1" dirty="0" err="1"/>
              <a:t>kubectl</a:t>
            </a:r>
            <a:r>
              <a:rPr lang="en-US" altLang="ko-KR" sz="1800" b="1" dirty="0"/>
              <a:t> Command :</a:t>
            </a:r>
          </a:p>
          <a:p>
            <a:pPr lvl="1">
              <a:buFont typeface="Wingdings" panose="05000000000000000000" pitchFamily="2" charset="2"/>
              <a:buChar char="§"/>
            </a:pPr>
            <a:r>
              <a:rPr lang="en-US" altLang="ko-KR" sz="1400" b="1" dirty="0"/>
              <a:t>Create the service by posting the file using “</a:t>
            </a:r>
            <a:r>
              <a:rPr lang="en-US" altLang="ko-KR" sz="1400" b="1" dirty="0" err="1"/>
              <a:t>kubectl</a:t>
            </a:r>
            <a:r>
              <a:rPr lang="en-US" altLang="ko-KR" sz="1400" b="1" dirty="0"/>
              <a:t> create” command</a:t>
            </a:r>
            <a:r>
              <a:rPr lang="en-US" altLang="ko-KR" sz="1400" dirty="0"/>
              <a:t>. After posting the YAML, you can </a:t>
            </a:r>
            <a:r>
              <a:rPr lang="en-US" altLang="ko-KR" sz="1400" b="1" dirty="0"/>
              <a:t>list all Service resources</a:t>
            </a:r>
            <a:r>
              <a:rPr lang="en-US" altLang="ko-KR" sz="1400" dirty="0"/>
              <a:t> in your namespace and see that an </a:t>
            </a:r>
            <a:r>
              <a:rPr lang="en-US" altLang="ko-KR" sz="1400" b="1" dirty="0"/>
              <a:t>internal cluster IP </a:t>
            </a:r>
            <a:r>
              <a:rPr lang="en-US" altLang="ko-KR" sz="1400" dirty="0"/>
              <a:t>has been assigned to your service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list shows that the IP address</a:t>
            </a:r>
            <a:r>
              <a:rPr lang="en-US" altLang="ko-KR" sz="1400" dirty="0"/>
              <a:t>. </a:t>
            </a:r>
            <a:r>
              <a:rPr lang="en-US" altLang="ko-KR" sz="1400" b="1" dirty="0"/>
              <a:t>Because this is the </a:t>
            </a:r>
            <a:r>
              <a:rPr lang="en-US" altLang="ko-KR" sz="1400" b="1" dirty="0">
                <a:solidFill>
                  <a:srgbClr val="FF0000"/>
                </a:solidFill>
              </a:rPr>
              <a:t>cluster IP</a:t>
            </a:r>
            <a:r>
              <a:rPr lang="en-US" altLang="ko-KR" sz="1400" b="1" dirty="0"/>
              <a:t>, </a:t>
            </a:r>
            <a:r>
              <a:rPr lang="en-US" altLang="ko-KR" sz="1400" b="1" dirty="0">
                <a:solidFill>
                  <a:srgbClr val="FF0000"/>
                </a:solidFill>
              </a:rPr>
              <a:t>it’s only accessible from inside the cluster</a:t>
            </a:r>
            <a:r>
              <a:rPr lang="en-US" altLang="ko-KR" sz="1400" dirty="0"/>
              <a:t>. </a:t>
            </a:r>
            <a:r>
              <a:rPr lang="en-US" altLang="ko-KR" sz="1400" b="1" dirty="0"/>
              <a:t>The primary purpose of services is exposing groups of pods to other pods in the cluster</a:t>
            </a:r>
            <a:r>
              <a:rPr lang="en-US" altLang="ko-KR" sz="1400" dirty="0"/>
              <a:t>, but you’ll usually also want to </a:t>
            </a:r>
            <a:r>
              <a:rPr lang="en-US" altLang="ko-KR" sz="1400" b="1" dirty="0"/>
              <a:t>expose services externally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34B2FBE8-7DA4-E453-A263-7C276E072757}"/>
              </a:ext>
            </a:extLst>
          </p:cNvPr>
          <p:cNvGrpSpPr/>
          <p:nvPr/>
        </p:nvGrpSpPr>
        <p:grpSpPr>
          <a:xfrm>
            <a:off x="1516445" y="1694821"/>
            <a:ext cx="9159109" cy="2386174"/>
            <a:chOff x="1516445" y="1694821"/>
            <a:chExt cx="9159109" cy="2386174"/>
          </a:xfrm>
        </p:grpSpPr>
        <p:grpSp>
          <p:nvGrpSpPr>
            <p:cNvPr id="12" name="그룹 11">
              <a:extLst>
                <a:ext uri="{FF2B5EF4-FFF2-40B4-BE49-F238E27FC236}">
                  <a16:creationId xmlns:a16="http://schemas.microsoft.com/office/drawing/2014/main" id="{0925C401-9394-7723-F797-3EEACE4BF794}"/>
                </a:ext>
              </a:extLst>
            </p:cNvPr>
            <p:cNvGrpSpPr/>
            <p:nvPr/>
          </p:nvGrpSpPr>
          <p:grpSpPr>
            <a:xfrm>
              <a:off x="1516445" y="1694821"/>
              <a:ext cx="9159109" cy="2386174"/>
              <a:chOff x="1516445" y="1694821"/>
              <a:chExt cx="9159109" cy="2386174"/>
            </a:xfrm>
          </p:grpSpPr>
          <p:sp>
            <p:nvSpPr>
              <p:cNvPr id="8" name="TextBox 7">
                <a:extLst>
                  <a:ext uri="{FF2B5EF4-FFF2-40B4-BE49-F238E27FC236}">
                    <a16:creationId xmlns:a16="http://schemas.microsoft.com/office/drawing/2014/main" id="{50B3CD0B-C213-E485-EABA-E6A2AA1854C1}"/>
                  </a:ext>
                </a:extLst>
              </p:cNvPr>
              <p:cNvSpPr txBox="1"/>
              <p:nvPr/>
            </p:nvSpPr>
            <p:spPr>
              <a:xfrm>
                <a:off x="3047343" y="1694821"/>
                <a:ext cx="6097314"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kubia-svc.yaml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a:t>
                </a:r>
                <a:r>
                  <a:rPr lang="en-US" altLang="ko-KR" sz="1000" b="1" dirty="0">
                    <a:solidFill>
                      <a:srgbClr val="FF0000"/>
                    </a:solidFill>
                  </a:rPr>
                  <a:t>svc</a:t>
                </a:r>
              </a:p>
            </p:txBody>
          </p:sp>
          <p:sp>
            <p:nvSpPr>
              <p:cNvPr id="9" name="화살표: 아래쪽 8">
                <a:extLst>
                  <a:ext uri="{FF2B5EF4-FFF2-40B4-BE49-F238E27FC236}">
                    <a16:creationId xmlns:a16="http://schemas.microsoft.com/office/drawing/2014/main" id="{80D2E0CA-0EA8-3C5D-E94D-0A1F1D0EE63C}"/>
                  </a:ext>
                </a:extLst>
              </p:cNvPr>
              <p:cNvSpPr/>
              <p:nvPr/>
            </p:nvSpPr>
            <p:spPr>
              <a:xfrm>
                <a:off x="5875283" y="2113205"/>
                <a:ext cx="441434" cy="2758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F723007E-BB62-695A-EAFC-6E7C3010BA51}"/>
                  </a:ext>
                </a:extLst>
              </p:cNvPr>
              <p:cNvPicPr>
                <a:picLocks noChangeAspect="1"/>
              </p:cNvPicPr>
              <p:nvPr/>
            </p:nvPicPr>
            <p:blipFill>
              <a:blip r:embed="rId2"/>
              <a:stretch>
                <a:fillRect/>
              </a:stretch>
            </p:blipFill>
            <p:spPr>
              <a:xfrm>
                <a:off x="1516445" y="2407376"/>
                <a:ext cx="9159109" cy="1673619"/>
              </a:xfrm>
              <a:prstGeom prst="rect">
                <a:avLst/>
              </a:prstGeom>
            </p:spPr>
          </p:pic>
        </p:grpSp>
        <p:sp>
          <p:nvSpPr>
            <p:cNvPr id="13" name="직사각형 12">
              <a:extLst>
                <a:ext uri="{FF2B5EF4-FFF2-40B4-BE49-F238E27FC236}">
                  <a16:creationId xmlns:a16="http://schemas.microsoft.com/office/drawing/2014/main" id="{917188EA-B38E-C216-01D0-436B37E2957B}"/>
                </a:ext>
              </a:extLst>
            </p:cNvPr>
            <p:cNvSpPr/>
            <p:nvPr/>
          </p:nvSpPr>
          <p:spPr>
            <a:xfrm>
              <a:off x="5738648" y="2853559"/>
              <a:ext cx="2222938" cy="2084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174B1DA4-3885-1F22-8D49-FE19F9AB15BA}"/>
                </a:ext>
              </a:extLst>
            </p:cNvPr>
            <p:cNvSpPr/>
            <p:nvPr/>
          </p:nvSpPr>
          <p:spPr>
            <a:xfrm>
              <a:off x="1600200" y="3602421"/>
              <a:ext cx="4716517" cy="1254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2912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Services(6/22)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Examining Your New Service :</a:t>
            </a:r>
          </a:p>
          <a:p>
            <a:pPr lvl="1">
              <a:buFont typeface="Wingdings" panose="05000000000000000000" pitchFamily="2" charset="2"/>
              <a:buChar char="§"/>
            </a:pPr>
            <a:r>
              <a:rPr lang="en-US" altLang="ko-KR" sz="1400" b="1" dirty="0"/>
              <a:t>You can send requests to your service from within the cluster </a:t>
            </a:r>
            <a:r>
              <a:rPr lang="en-US" altLang="ko-KR" sz="1400" dirty="0"/>
              <a:t>in a few ways :</a:t>
            </a:r>
          </a:p>
          <a:p>
            <a:pPr lvl="2">
              <a:buFont typeface="Wingdings" panose="05000000000000000000" pitchFamily="2" charset="2"/>
              <a:buChar char="§"/>
            </a:pPr>
            <a:r>
              <a:rPr lang="en-US" altLang="ko-KR" sz="1400" b="1" dirty="0"/>
              <a:t>The obvious way is to create a pod that will send the request to the service’s cluster IP and log the response</a:t>
            </a:r>
            <a:r>
              <a:rPr lang="en-US" altLang="ko-KR" sz="1400" dirty="0"/>
              <a:t>. You can then examine the pod’s log to see what the service’s response was.</a:t>
            </a:r>
          </a:p>
          <a:p>
            <a:pPr lvl="2">
              <a:buFont typeface="Wingdings" panose="05000000000000000000" pitchFamily="2" charset="2"/>
              <a:buChar char="§"/>
            </a:pPr>
            <a:r>
              <a:rPr lang="en-US" altLang="ko-KR" sz="1400" b="1" dirty="0"/>
              <a:t>You can “</a:t>
            </a:r>
            <a:r>
              <a:rPr lang="en-US" altLang="ko-KR" sz="1400" b="1" dirty="0" err="1"/>
              <a:t>ssh</a:t>
            </a:r>
            <a:r>
              <a:rPr lang="en-US" altLang="ko-KR" sz="1400" b="1" dirty="0"/>
              <a:t>” into one of the Kubernetes nodes and use the “curl” command</a:t>
            </a:r>
            <a:r>
              <a:rPr lang="en-US" altLang="ko-KR" sz="1400" dirty="0"/>
              <a:t>.</a:t>
            </a:r>
          </a:p>
          <a:p>
            <a:pPr lvl="2">
              <a:buFont typeface="Wingdings" panose="05000000000000000000" pitchFamily="2" charset="2"/>
              <a:buChar char="§"/>
            </a:pPr>
            <a:r>
              <a:rPr lang="en-US" altLang="ko-KR" sz="1400" b="1" dirty="0"/>
              <a:t>You can execute the “curl” command inside one of your existing pods through the “</a:t>
            </a:r>
            <a:r>
              <a:rPr lang="en-US" altLang="ko-KR" sz="1400" b="1" dirty="0" err="1"/>
              <a:t>kubectl</a:t>
            </a:r>
            <a:r>
              <a:rPr lang="en-US" altLang="ko-KR" sz="1400" b="1" dirty="0"/>
              <a:t> exec” command</a:t>
            </a:r>
            <a:r>
              <a:rPr lang="en-US" altLang="ko-KR" sz="1400" dirty="0"/>
              <a:t>.</a:t>
            </a:r>
          </a:p>
          <a:p>
            <a:pPr lvl="1">
              <a:buFont typeface="Wingdings" panose="05000000000000000000" pitchFamily="2" charset="2"/>
              <a:buChar char="§"/>
            </a:pPr>
            <a:r>
              <a:rPr lang="en-US" altLang="ko-KR" sz="1400" b="1" dirty="0"/>
              <a:t>The “</a:t>
            </a:r>
            <a:r>
              <a:rPr lang="en-US" altLang="ko-KR" sz="1400" b="1" dirty="0" err="1">
                <a:solidFill>
                  <a:srgbClr val="FF0000"/>
                </a:solidFill>
              </a:rPr>
              <a:t>kubectl</a:t>
            </a:r>
            <a:r>
              <a:rPr lang="en-US" altLang="ko-KR" sz="1400" b="1" dirty="0">
                <a:solidFill>
                  <a:srgbClr val="FF0000"/>
                </a:solidFill>
              </a:rPr>
              <a:t> exec</a:t>
            </a:r>
            <a:r>
              <a:rPr lang="en-US" altLang="ko-KR" sz="1400" b="1" dirty="0"/>
              <a:t>” command allows you to remotely run arbitrary commands inside an existing container of a pod</a:t>
            </a:r>
            <a:r>
              <a:rPr lang="en-US" altLang="ko-KR" sz="1400" dirty="0"/>
              <a:t>. This comes in handy when you want to </a:t>
            </a:r>
            <a:r>
              <a:rPr lang="en-US" altLang="ko-KR" sz="1400" b="1" dirty="0"/>
              <a:t>examine the contents, state, and/or environment of a container</a:t>
            </a:r>
            <a:r>
              <a:rPr lang="en-US" altLang="ko-KR" sz="1400" dirty="0"/>
              <a:t>. List the pods with the “</a:t>
            </a:r>
            <a:r>
              <a:rPr lang="en-US" altLang="ko-KR" sz="1400" b="1" dirty="0" err="1"/>
              <a:t>kubectl</a:t>
            </a:r>
            <a:r>
              <a:rPr lang="en-US" altLang="ko-KR" sz="1400" b="1" dirty="0"/>
              <a:t> get pods</a:t>
            </a:r>
            <a:r>
              <a:rPr lang="en-US" altLang="ko-KR" sz="1400" dirty="0"/>
              <a:t>” command and </a:t>
            </a:r>
            <a:r>
              <a:rPr lang="en-US" altLang="ko-KR" sz="1400" b="1" dirty="0"/>
              <a:t>choose one as your target for the “exec” command</a:t>
            </a:r>
            <a:r>
              <a:rPr lang="en-US" altLang="ko-KR" sz="1400" dirty="0"/>
              <a:t>. You’ll also need to </a:t>
            </a:r>
            <a:r>
              <a:rPr lang="en-US" altLang="ko-KR" sz="1400" b="1" dirty="0"/>
              <a:t>obtain the cluster IP of your service (using “</a:t>
            </a:r>
            <a:r>
              <a:rPr lang="en-US" altLang="ko-KR" sz="1400" b="1" dirty="0" err="1"/>
              <a:t>kubectl</a:t>
            </a:r>
            <a:r>
              <a:rPr lang="en-US" altLang="ko-KR" sz="1400" b="1" dirty="0"/>
              <a:t> get svc”, for example)</a:t>
            </a:r>
            <a:r>
              <a:rPr lang="en-US" altLang="ko-KR" sz="1400" dirty="0"/>
              <a:t>. When running the following commands yourself, be sure to replace the pod name and the service IP with your own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8249C737-A89E-744A-FC52-57C120F7F67F}"/>
              </a:ext>
            </a:extLst>
          </p:cNvPr>
          <p:cNvGrpSpPr/>
          <p:nvPr/>
        </p:nvGrpSpPr>
        <p:grpSpPr>
          <a:xfrm>
            <a:off x="2071500" y="3581015"/>
            <a:ext cx="8049000" cy="2828015"/>
            <a:chOff x="2071500" y="3581015"/>
            <a:chExt cx="8049000" cy="2828015"/>
          </a:xfrm>
        </p:grpSpPr>
        <p:grpSp>
          <p:nvGrpSpPr>
            <p:cNvPr id="16" name="그룹 15">
              <a:extLst>
                <a:ext uri="{FF2B5EF4-FFF2-40B4-BE49-F238E27FC236}">
                  <a16:creationId xmlns:a16="http://schemas.microsoft.com/office/drawing/2014/main" id="{A9947CB2-515C-4303-9427-9787FBC1928C}"/>
                </a:ext>
              </a:extLst>
            </p:cNvPr>
            <p:cNvGrpSpPr/>
            <p:nvPr/>
          </p:nvGrpSpPr>
          <p:grpSpPr>
            <a:xfrm>
              <a:off x="2071500" y="3581015"/>
              <a:ext cx="8049000" cy="2828015"/>
              <a:chOff x="2071500" y="3581015"/>
              <a:chExt cx="8049000" cy="2828015"/>
            </a:xfrm>
          </p:grpSpPr>
          <p:sp>
            <p:nvSpPr>
              <p:cNvPr id="8" name="TextBox 7">
                <a:extLst>
                  <a:ext uri="{FF2B5EF4-FFF2-40B4-BE49-F238E27FC236}">
                    <a16:creationId xmlns:a16="http://schemas.microsoft.com/office/drawing/2014/main" id="{67DF1679-8F2B-1ED2-3F75-22E73BA6CE51}"/>
                  </a:ext>
                </a:extLst>
              </p:cNvPr>
              <p:cNvSpPr txBox="1"/>
              <p:nvPr/>
            </p:nvSpPr>
            <p:spPr>
              <a:xfrm>
                <a:off x="3047343" y="358101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err="1">
                    <a:solidFill>
                      <a:srgbClr val="FF0000"/>
                    </a:solidFill>
                  </a:rPr>
                  <a:t>kubia-xxxxx</a:t>
                </a:r>
                <a:r>
                  <a:rPr lang="en-US" altLang="ko-KR" sz="1000" b="1" dirty="0">
                    <a:solidFill>
                      <a:srgbClr val="FF0000"/>
                    </a:solidFill>
                  </a:rPr>
                  <a:t> -- curl -s http://clust_IP_address</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DAF553CB-B3A8-2614-225E-7AA3B91F0A93}"/>
                  </a:ext>
                </a:extLst>
              </p:cNvPr>
              <p:cNvPicPr>
                <a:picLocks noChangeAspect="1"/>
              </p:cNvPicPr>
              <p:nvPr/>
            </p:nvPicPr>
            <p:blipFill>
              <a:blip r:embed="rId2"/>
              <a:stretch>
                <a:fillRect/>
              </a:stretch>
            </p:blipFill>
            <p:spPr>
              <a:xfrm>
                <a:off x="2071500" y="4067503"/>
                <a:ext cx="8049000" cy="2341527"/>
              </a:xfrm>
              <a:prstGeom prst="rect">
                <a:avLst/>
              </a:prstGeom>
            </p:spPr>
          </p:pic>
          <p:sp>
            <p:nvSpPr>
              <p:cNvPr id="11" name="화살표: 아래쪽 10">
                <a:extLst>
                  <a:ext uri="{FF2B5EF4-FFF2-40B4-BE49-F238E27FC236}">
                    <a16:creationId xmlns:a16="http://schemas.microsoft.com/office/drawing/2014/main" id="{FC0A599C-F92E-B6B9-959A-771747F38270}"/>
                  </a:ext>
                </a:extLst>
              </p:cNvPr>
              <p:cNvSpPr/>
              <p:nvPr/>
            </p:nvSpPr>
            <p:spPr>
              <a:xfrm>
                <a:off x="5902872" y="3846786"/>
                <a:ext cx="386255" cy="22071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5BF2E886-5B5F-42D5-25ED-E54D4E572E32}"/>
                  </a:ext>
                </a:extLst>
              </p:cNvPr>
              <p:cNvSpPr/>
              <p:nvPr/>
            </p:nvSpPr>
            <p:spPr>
              <a:xfrm>
                <a:off x="5801710" y="4461642"/>
                <a:ext cx="1876097"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63E7CB5D-AC55-0269-93D0-D2FDD3655E8D}"/>
                  </a:ext>
                </a:extLst>
              </p:cNvPr>
              <p:cNvSpPr/>
              <p:nvPr/>
            </p:nvSpPr>
            <p:spPr>
              <a:xfrm>
                <a:off x="2167759" y="4989784"/>
                <a:ext cx="3365938" cy="1103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18E23C-C4CD-5088-67B5-3A49BEEA083A}"/>
                  </a:ext>
                </a:extLst>
              </p:cNvPr>
              <p:cNvSpPr/>
              <p:nvPr/>
            </p:nvSpPr>
            <p:spPr>
              <a:xfrm>
                <a:off x="2159876" y="5730766"/>
                <a:ext cx="4129251" cy="1103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F3E4066F-8538-F2E4-D7A6-CD9AB2DCA231}"/>
                  </a:ext>
                </a:extLst>
              </p:cNvPr>
              <p:cNvSpPr/>
              <p:nvPr/>
            </p:nvSpPr>
            <p:spPr>
              <a:xfrm>
                <a:off x="5801709" y="5841125"/>
                <a:ext cx="3405353"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직사각형 16">
              <a:extLst>
                <a:ext uri="{FF2B5EF4-FFF2-40B4-BE49-F238E27FC236}">
                  <a16:creationId xmlns:a16="http://schemas.microsoft.com/office/drawing/2014/main" id="{31EE819A-E752-9F82-5708-C686A4E0A0D4}"/>
                </a:ext>
              </a:extLst>
            </p:cNvPr>
            <p:cNvSpPr/>
            <p:nvPr/>
          </p:nvSpPr>
          <p:spPr>
            <a:xfrm>
              <a:off x="2151993" y="5955425"/>
              <a:ext cx="1420562" cy="1748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77425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Double Dash(“--”) in Command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Signaling the End of Command Options for </a:t>
            </a:r>
            <a:r>
              <a:rPr lang="en-US" altLang="ko-KR" sz="1800" b="1" dirty="0" err="1"/>
              <a:t>kubectl</a:t>
            </a:r>
            <a:r>
              <a:rPr lang="en-US" altLang="ko-KR" sz="1800" b="1" dirty="0"/>
              <a:t> :</a:t>
            </a:r>
          </a:p>
          <a:p>
            <a:pPr lvl="1">
              <a:buFont typeface="Wingdings" panose="05000000000000000000" pitchFamily="2" charset="2"/>
              <a:buChar char="§"/>
            </a:pPr>
            <a:r>
              <a:rPr lang="en-US" altLang="ko-KR" sz="1400" b="1" dirty="0"/>
              <a:t>The double dash (“--”) in the command signals the end of command options for </a:t>
            </a:r>
            <a:r>
              <a:rPr lang="en-US" altLang="ko-KR" sz="1400" b="1" dirty="0" err="1"/>
              <a:t>kubectl</a:t>
            </a:r>
            <a:r>
              <a:rPr lang="en-US" altLang="ko-KR" sz="1400" dirty="0"/>
              <a:t>. </a:t>
            </a:r>
            <a:r>
              <a:rPr lang="en-US" altLang="ko-KR" sz="1400" b="1" dirty="0"/>
              <a:t>Everything after the double dash is the command that should be executed inside the pod</a:t>
            </a:r>
            <a:r>
              <a:rPr lang="en-US" altLang="ko-KR" sz="1400" dirty="0"/>
              <a:t>. </a:t>
            </a:r>
            <a:r>
              <a:rPr lang="en-US" altLang="ko-KR" sz="1400" b="1" dirty="0"/>
              <a:t>Using the double dash isn’t necessary if the command has no arguments that start with a dash(“-”)</a:t>
            </a:r>
            <a:r>
              <a:rPr lang="en-US" altLang="ko-KR" sz="1400" dirty="0"/>
              <a:t>. But in your case, if you don’t use the double dash there, the “</a:t>
            </a:r>
            <a:r>
              <a:rPr lang="en-US" altLang="ko-KR" sz="1400" b="1" dirty="0"/>
              <a:t>-s</a:t>
            </a:r>
            <a:r>
              <a:rPr lang="en-US" altLang="ko-KR" sz="1400" dirty="0"/>
              <a:t>” option in “curl” would be </a:t>
            </a:r>
            <a:r>
              <a:rPr lang="en-US" altLang="ko-KR" sz="1400" b="1" dirty="0"/>
              <a:t>interpreted as an option for “</a:t>
            </a:r>
            <a:r>
              <a:rPr lang="en-US" altLang="ko-KR" sz="1400" b="1" dirty="0" err="1"/>
              <a:t>kubectl</a:t>
            </a:r>
            <a:r>
              <a:rPr lang="en-US" altLang="ko-KR" sz="1400" b="1" dirty="0"/>
              <a:t> exec” </a:t>
            </a:r>
            <a:r>
              <a:rPr lang="en-US" altLang="ko-KR" sz="1400" dirty="0"/>
              <a:t>and would result in the following strange and highly misleading error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This has nothing to do with your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0BFB760B-5DC7-492B-33AE-9E1F17EC1B64}"/>
              </a:ext>
            </a:extLst>
          </p:cNvPr>
          <p:cNvGrpSpPr/>
          <p:nvPr/>
        </p:nvGrpSpPr>
        <p:grpSpPr>
          <a:xfrm>
            <a:off x="1254549" y="2326031"/>
            <a:ext cx="9682902" cy="2205937"/>
            <a:chOff x="1254548" y="2243375"/>
            <a:chExt cx="9682902" cy="2205937"/>
          </a:xfrm>
        </p:grpSpPr>
        <p:grpSp>
          <p:nvGrpSpPr>
            <p:cNvPr id="16" name="그룹 15">
              <a:extLst>
                <a:ext uri="{FF2B5EF4-FFF2-40B4-BE49-F238E27FC236}">
                  <a16:creationId xmlns:a16="http://schemas.microsoft.com/office/drawing/2014/main" id="{BC1BEE63-5C56-AD1B-143E-88AFD25B4BD8}"/>
                </a:ext>
              </a:extLst>
            </p:cNvPr>
            <p:cNvGrpSpPr/>
            <p:nvPr/>
          </p:nvGrpSpPr>
          <p:grpSpPr>
            <a:xfrm>
              <a:off x="1254548" y="2243375"/>
              <a:ext cx="9682902" cy="2205937"/>
              <a:chOff x="1254548" y="2243375"/>
              <a:chExt cx="9682902" cy="2205937"/>
            </a:xfrm>
          </p:grpSpPr>
          <p:sp>
            <p:nvSpPr>
              <p:cNvPr id="10" name="TextBox 9">
                <a:extLst>
                  <a:ext uri="{FF2B5EF4-FFF2-40B4-BE49-F238E27FC236}">
                    <a16:creationId xmlns:a16="http://schemas.microsoft.com/office/drawing/2014/main" id="{8EAC101B-43FE-84C3-BE27-2993A40806C3}"/>
                  </a:ext>
                </a:extLst>
              </p:cNvPr>
              <p:cNvSpPr txBox="1"/>
              <p:nvPr/>
            </p:nvSpPr>
            <p:spPr>
              <a:xfrm>
                <a:off x="3047343" y="224337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err="1"/>
                  <a:t>kubia-xxxxx</a:t>
                </a:r>
                <a:r>
                  <a:rPr lang="en-US" altLang="ko-KR" sz="1000" b="1" dirty="0"/>
                  <a:t> </a:t>
                </a:r>
                <a:r>
                  <a:rPr lang="en-US" altLang="ko-KR" sz="1000" b="1" dirty="0">
                    <a:solidFill>
                      <a:srgbClr val="FF0000"/>
                    </a:solidFill>
                  </a:rPr>
                  <a:t>curl -s http://cluster_IP_address</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37619E9E-5636-50AD-3236-AEDA72E9A29D}"/>
                  </a:ext>
                </a:extLst>
              </p:cNvPr>
              <p:cNvSpPr/>
              <p:nvPr/>
            </p:nvSpPr>
            <p:spPr>
              <a:xfrm>
                <a:off x="5879224" y="2489596"/>
                <a:ext cx="433551" cy="28377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5" name="그림 14">
                <a:extLst>
                  <a:ext uri="{FF2B5EF4-FFF2-40B4-BE49-F238E27FC236}">
                    <a16:creationId xmlns:a16="http://schemas.microsoft.com/office/drawing/2014/main" id="{9C57662B-D95A-BC2E-B9FB-7DC5AF4F9DEB}"/>
                  </a:ext>
                </a:extLst>
              </p:cNvPr>
              <p:cNvPicPr>
                <a:picLocks noChangeAspect="1"/>
              </p:cNvPicPr>
              <p:nvPr/>
            </p:nvPicPr>
            <p:blipFill>
              <a:blip r:embed="rId2"/>
              <a:stretch>
                <a:fillRect/>
              </a:stretch>
            </p:blipFill>
            <p:spPr>
              <a:xfrm>
                <a:off x="1254548" y="2776811"/>
                <a:ext cx="9682902" cy="1672501"/>
              </a:xfrm>
              <a:prstGeom prst="rect">
                <a:avLst/>
              </a:prstGeom>
            </p:spPr>
          </p:pic>
        </p:grpSp>
        <p:sp>
          <p:nvSpPr>
            <p:cNvPr id="17" name="직사각형 16">
              <a:extLst>
                <a:ext uri="{FF2B5EF4-FFF2-40B4-BE49-F238E27FC236}">
                  <a16:creationId xmlns:a16="http://schemas.microsoft.com/office/drawing/2014/main" id="{A047C0BD-844F-D46F-BB8D-74F8D0270C2A}"/>
                </a:ext>
              </a:extLst>
            </p:cNvPr>
            <p:cNvSpPr/>
            <p:nvPr/>
          </p:nvSpPr>
          <p:spPr>
            <a:xfrm>
              <a:off x="5730766" y="3255580"/>
              <a:ext cx="3901965"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E2220774-2FC1-BAA2-6C4B-03D0565AD3CF}"/>
                </a:ext>
              </a:extLst>
            </p:cNvPr>
            <p:cNvSpPr/>
            <p:nvPr/>
          </p:nvSpPr>
          <p:spPr>
            <a:xfrm>
              <a:off x="7528034" y="3716215"/>
              <a:ext cx="165538"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80753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Services(7/22)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Remotely Executing Commands in Running Containers :</a:t>
            </a:r>
          </a:p>
          <a:p>
            <a:pPr lvl="1">
              <a:buFont typeface="Wingdings" panose="05000000000000000000" pitchFamily="2" charset="2"/>
              <a:buChar char="§"/>
            </a:pPr>
            <a:r>
              <a:rPr lang="en-US" altLang="ko-KR" sz="1400" b="1" dirty="0"/>
              <a:t>The following figure shows the sequence of events</a:t>
            </a:r>
            <a:r>
              <a:rPr lang="en-US" altLang="ko-KR" sz="1400" dirty="0"/>
              <a:t>. You instructed Kubernetes to execute the “</a:t>
            </a:r>
            <a:r>
              <a:rPr lang="en-US" altLang="ko-KR" sz="1400" b="1" dirty="0"/>
              <a:t>curl</a:t>
            </a:r>
            <a:r>
              <a:rPr lang="en-US" altLang="ko-KR" sz="1400" dirty="0"/>
              <a:t>” command inside the container of one of your pods. </a:t>
            </a:r>
            <a:r>
              <a:rPr lang="en-US" altLang="ko-KR" sz="1400" b="1" dirty="0"/>
              <a:t>“Curl” sent an HTTP request to the service IP</a:t>
            </a:r>
            <a:r>
              <a:rPr lang="en-US" altLang="ko-KR" sz="1400" dirty="0"/>
              <a:t>, which is backed by three pods. </a:t>
            </a:r>
            <a:r>
              <a:rPr lang="en-US" altLang="ko-KR" sz="1400" b="1" dirty="0"/>
              <a:t>The </a:t>
            </a:r>
            <a:r>
              <a:rPr lang="en-US" altLang="ko-KR" sz="1400" b="1" dirty="0">
                <a:solidFill>
                  <a:srgbClr val="FF0000"/>
                </a:solidFill>
              </a:rPr>
              <a:t>Kubernetes service proxy </a:t>
            </a:r>
            <a:r>
              <a:rPr lang="en-US" altLang="ko-KR" sz="1400" b="1" dirty="0"/>
              <a:t>intercepted the connection, selected a random pod among the three pods, and forwarded the request to it</a:t>
            </a:r>
            <a:r>
              <a:rPr lang="en-US" altLang="ko-KR" sz="1400" dirty="0"/>
              <a:t>. </a:t>
            </a:r>
            <a:r>
              <a:rPr lang="en-US" altLang="ko-KR" sz="1400" b="1" dirty="0"/>
              <a:t>“Node.js” running inside that pod then handled the request and returned an HTTP response containing the pod’s name</a:t>
            </a:r>
            <a:r>
              <a:rPr lang="en-US" altLang="ko-KR" sz="1400" dirty="0"/>
              <a:t>. “Curl” then printed the response to the standard output, which was intercepted and printed to its standard output on your local machine by </a:t>
            </a:r>
            <a:r>
              <a:rPr lang="en-US" altLang="ko-KR" sz="1400" dirty="0" err="1"/>
              <a:t>kubectl</a:t>
            </a:r>
            <a:r>
              <a:rPr lang="en-US" altLang="ko-KR" sz="1400" dirty="0"/>
              <a:t>.</a:t>
            </a:r>
          </a:p>
          <a:p>
            <a:pPr lvl="1">
              <a:buFont typeface="Wingdings" panose="05000000000000000000" pitchFamily="2" charset="2"/>
              <a:buChar char="§"/>
            </a:pPr>
            <a:r>
              <a:rPr lang="en-US" altLang="ko-KR" sz="1400" b="1" dirty="0"/>
              <a:t>In the previous example, you executed the curl command as a separate process</a:t>
            </a:r>
            <a:r>
              <a:rPr lang="en-US" altLang="ko-KR" sz="1400" dirty="0"/>
              <a:t>, </a:t>
            </a:r>
            <a:r>
              <a:rPr lang="en-US" altLang="ko-KR" sz="1400" b="1" dirty="0"/>
              <a:t>but inside the pod’s main container</a:t>
            </a:r>
            <a:r>
              <a:rPr lang="en-US" altLang="ko-KR" sz="1400" dirty="0"/>
              <a:t>. This isn’t much different from </a:t>
            </a:r>
            <a:r>
              <a:rPr lang="en-US" altLang="ko-KR" sz="1400" b="1" dirty="0"/>
              <a:t>the actual main process in the container talking to the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B5ACB99-EC11-8AD1-7CA2-F5FC2CB49FBA}"/>
              </a:ext>
            </a:extLst>
          </p:cNvPr>
          <p:cNvGrpSpPr/>
          <p:nvPr/>
        </p:nvGrpSpPr>
        <p:grpSpPr>
          <a:xfrm>
            <a:off x="3124200" y="2967331"/>
            <a:ext cx="5943600" cy="3295650"/>
            <a:chOff x="3124200" y="2748255"/>
            <a:chExt cx="5943600" cy="3295650"/>
          </a:xfrm>
        </p:grpSpPr>
        <p:pic>
          <p:nvPicPr>
            <p:cNvPr id="8" name="그림 7">
              <a:extLst>
                <a:ext uri="{FF2B5EF4-FFF2-40B4-BE49-F238E27FC236}">
                  <a16:creationId xmlns:a16="http://schemas.microsoft.com/office/drawing/2014/main" id="{D293B0D3-01BF-4F86-FC84-C2F3C80F75E4}"/>
                </a:ext>
              </a:extLst>
            </p:cNvPr>
            <p:cNvPicPr>
              <a:picLocks noChangeAspect="1"/>
            </p:cNvPicPr>
            <p:nvPr/>
          </p:nvPicPr>
          <p:blipFill>
            <a:blip r:embed="rId2"/>
            <a:stretch>
              <a:fillRect/>
            </a:stretch>
          </p:blipFill>
          <p:spPr>
            <a:xfrm>
              <a:off x="3124200" y="2748255"/>
              <a:ext cx="5943600" cy="3295650"/>
            </a:xfrm>
            <a:prstGeom prst="rect">
              <a:avLst/>
            </a:prstGeom>
          </p:spPr>
        </p:pic>
        <p:sp>
          <p:nvSpPr>
            <p:cNvPr id="9" name="직사각형 8">
              <a:extLst>
                <a:ext uri="{FF2B5EF4-FFF2-40B4-BE49-F238E27FC236}">
                  <a16:creationId xmlns:a16="http://schemas.microsoft.com/office/drawing/2014/main" id="{643CE200-40D2-C488-6675-B9A839A3412E}"/>
                </a:ext>
              </a:extLst>
            </p:cNvPr>
            <p:cNvSpPr/>
            <p:nvPr/>
          </p:nvSpPr>
          <p:spPr>
            <a:xfrm>
              <a:off x="6329855" y="2869324"/>
              <a:ext cx="1095704" cy="4099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32863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Services(8/22)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Configuring Session Affinity on the Service :</a:t>
            </a:r>
          </a:p>
          <a:p>
            <a:pPr lvl="1">
              <a:buFont typeface="Wingdings" panose="05000000000000000000" pitchFamily="2" charset="2"/>
              <a:buChar char="§"/>
            </a:pPr>
            <a:r>
              <a:rPr lang="en-US" altLang="ko-KR" sz="1400" dirty="0"/>
              <a:t>If you execute the same command a few more times, you should hit a different pod with every invocation, because </a:t>
            </a:r>
            <a:r>
              <a:rPr lang="en-US" altLang="ko-KR" sz="1400" b="1" dirty="0"/>
              <a:t>the service proxy normally forwards each connection to a randomly selected backing pod</a:t>
            </a:r>
            <a:r>
              <a:rPr lang="en-US" altLang="ko-KR" sz="1400" dirty="0"/>
              <a:t>, even if the connections are coming from the same client.</a:t>
            </a:r>
          </a:p>
          <a:p>
            <a:pPr lvl="1">
              <a:buFont typeface="Wingdings" panose="05000000000000000000" pitchFamily="2" charset="2"/>
              <a:buChar char="§"/>
            </a:pPr>
            <a:r>
              <a:rPr lang="en-US" altLang="ko-KR" sz="1400" b="1" dirty="0"/>
              <a:t>If, on the other hand, you want all requests made by a certain client to be redirected to the same pod every time, you can set the service’s “</a:t>
            </a:r>
            <a:r>
              <a:rPr lang="en-US" altLang="ko-KR" sz="1400" b="1" dirty="0" err="1">
                <a:solidFill>
                  <a:srgbClr val="FF0000"/>
                </a:solidFill>
              </a:rPr>
              <a:t>sessionAffinity</a:t>
            </a:r>
            <a:r>
              <a:rPr lang="en-US" altLang="ko-KR" sz="1400" b="1" dirty="0"/>
              <a:t>” property to “</a:t>
            </a:r>
            <a:r>
              <a:rPr lang="en-US" altLang="ko-KR" sz="1400" b="1" dirty="0" err="1">
                <a:solidFill>
                  <a:srgbClr val="FF0000"/>
                </a:solidFill>
              </a:rPr>
              <a:t>ClientIP</a:t>
            </a:r>
            <a:r>
              <a:rPr lang="en-US" altLang="ko-KR" sz="1400" b="1" dirty="0"/>
              <a:t>” (instead of None, which is the default)</a:t>
            </a:r>
            <a:r>
              <a:rPr lang="en-US" altLang="ko-KR" sz="1400" dirty="0"/>
              <a:t>, as shown in the following listing.</a:t>
            </a:r>
          </a:p>
          <a:p>
            <a:pPr lvl="1">
              <a:buFont typeface="Wingdings" panose="05000000000000000000" pitchFamily="2" charset="2"/>
              <a:buChar char="§"/>
            </a:pPr>
            <a:r>
              <a:rPr lang="en-US" altLang="ko-KR" sz="1400" b="1" dirty="0"/>
              <a:t>This makes the service proxy redirect all requests originating from the same client IP to the same pod</a:t>
            </a:r>
            <a:r>
              <a:rPr lang="en-US" altLang="ko-KR" sz="1400" dirty="0"/>
              <a:t>. As an exercise, you can create an additional service with session affinity set to </a:t>
            </a:r>
            <a:r>
              <a:rPr lang="en-US" altLang="ko-KR" sz="1400" b="1" dirty="0" err="1"/>
              <a:t>ClientIP</a:t>
            </a:r>
            <a:r>
              <a:rPr lang="en-US" altLang="ko-KR" sz="1400" dirty="0"/>
              <a:t> and try sending requests to it.</a:t>
            </a:r>
          </a:p>
          <a:p>
            <a:pPr lvl="1">
              <a:buFont typeface="Wingdings" panose="05000000000000000000" pitchFamily="2" charset="2"/>
              <a:buChar char="§"/>
            </a:pPr>
            <a:r>
              <a:rPr lang="en-US" altLang="ko-KR" sz="1400" b="1" dirty="0"/>
              <a:t>Kubernetes supports only two types of service session affinity: </a:t>
            </a:r>
            <a:r>
              <a:rPr lang="en-US" altLang="ko-KR" sz="1400" b="1" dirty="0">
                <a:solidFill>
                  <a:srgbClr val="FF0000"/>
                </a:solidFill>
              </a:rPr>
              <a:t>None</a:t>
            </a:r>
            <a:r>
              <a:rPr lang="en-US" altLang="ko-KR" sz="1400" b="1" dirty="0"/>
              <a:t> and </a:t>
            </a:r>
            <a:r>
              <a:rPr lang="en-US" altLang="ko-KR" sz="1400" b="1" dirty="0" err="1">
                <a:solidFill>
                  <a:srgbClr val="FF0000"/>
                </a:solidFill>
              </a:rPr>
              <a:t>ClientIP</a:t>
            </a:r>
            <a:r>
              <a:rPr lang="en-US" altLang="ko-KR" sz="1400" dirty="0"/>
              <a:t>. You may be surprised it doesn’t have a cookie-based session affinity option, but you need to understand that </a:t>
            </a:r>
            <a:r>
              <a:rPr lang="en-US" altLang="ko-KR" sz="1400" b="1" dirty="0"/>
              <a:t>Kubernetes services don’t operate at the HTTP level</a:t>
            </a:r>
            <a:r>
              <a:rPr lang="en-US" altLang="ko-KR" sz="1400" dirty="0"/>
              <a:t>. </a:t>
            </a:r>
            <a:r>
              <a:rPr lang="en-US" altLang="ko-KR" sz="1400" b="1" dirty="0">
                <a:solidFill>
                  <a:srgbClr val="FF0000"/>
                </a:solidFill>
              </a:rPr>
              <a:t>Services deal with TCP and UDP packets </a:t>
            </a:r>
            <a:r>
              <a:rPr lang="en-US" altLang="ko-KR" sz="1400" b="1" dirty="0"/>
              <a:t>and don’t care about the payload they carry</a:t>
            </a:r>
            <a:r>
              <a:rPr lang="en-US" altLang="ko-KR" sz="1400" dirty="0"/>
              <a:t>. </a:t>
            </a:r>
            <a:r>
              <a:rPr lang="en-US" altLang="ko-KR" sz="1400" b="1" dirty="0"/>
              <a:t>Because cookies are a construct of the HTTP protocol, services don’t know about them</a:t>
            </a:r>
            <a:r>
              <a:rPr lang="en-US" altLang="ko-KR" sz="1400" dirty="0"/>
              <a:t>, which explains why session affinity cannot be based on cookies.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F8CCDA4-CB2B-F04B-47FC-31E93249757E}"/>
              </a:ext>
            </a:extLst>
          </p:cNvPr>
          <p:cNvSpPr txBox="1"/>
          <p:nvPr/>
        </p:nvSpPr>
        <p:spPr>
          <a:xfrm>
            <a:off x="3047343" y="4038287"/>
            <a:ext cx="6097314" cy="86177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Service</a:t>
            </a:r>
          </a:p>
          <a:p>
            <a:r>
              <a:rPr lang="en-US" altLang="ko-KR" sz="1000" b="1" dirty="0"/>
              <a:t>spec:</a:t>
            </a:r>
          </a:p>
          <a:p>
            <a:r>
              <a:rPr lang="en-US" altLang="ko-KR" sz="1000" b="1" dirty="0"/>
              <a:t>  </a:t>
            </a:r>
            <a:r>
              <a:rPr lang="en-US" altLang="ko-KR" sz="1000" b="1" dirty="0" err="1">
                <a:solidFill>
                  <a:srgbClr val="FF0000"/>
                </a:solidFill>
              </a:rPr>
              <a:t>sessionAffinity</a:t>
            </a:r>
            <a:r>
              <a:rPr lang="en-US" altLang="ko-KR" sz="1000" b="1" dirty="0">
                <a:solidFill>
                  <a:srgbClr val="FF0000"/>
                </a:solidFill>
              </a:rPr>
              <a:t>: </a:t>
            </a:r>
            <a:r>
              <a:rPr lang="en-US" altLang="ko-KR" sz="1000" b="1" dirty="0" err="1">
                <a:solidFill>
                  <a:srgbClr val="FF0000"/>
                </a:solidFill>
              </a:rPr>
              <a:t>ClientIP</a:t>
            </a:r>
            <a:endParaRPr lang="en-US" altLang="ko-KR" sz="1000" b="1" dirty="0">
              <a:solidFill>
                <a:srgbClr val="FF0000"/>
              </a:solidFill>
            </a:endParaRPr>
          </a:p>
          <a:p>
            <a:r>
              <a:rPr lang="en-US" altLang="ko-KR" sz="1000" b="1" dirty="0"/>
              <a:t>  ...</a:t>
            </a:r>
            <a:endParaRPr lang="ko-KR" altLang="en-US" sz="1000" b="1" dirty="0"/>
          </a:p>
        </p:txBody>
      </p:sp>
    </p:spTree>
    <p:extLst>
      <p:ext uri="{BB962C8B-B14F-4D97-AF65-F5344CB8AC3E}">
        <p14:creationId xmlns:p14="http://schemas.microsoft.com/office/powerpoint/2010/main" val="998966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a:t>
            </a:r>
            <a:r>
              <a:rPr lang="ko-KR" altLang="en-US" sz="2800" b="1" dirty="0"/>
              <a:t> </a:t>
            </a:r>
            <a:r>
              <a:rPr lang="en-US" altLang="ko-KR" sz="2800" b="1" dirty="0"/>
              <a:t>:</a:t>
            </a:r>
            <a:r>
              <a:rPr lang="ko-KR" altLang="en-US" sz="2800" b="1" dirty="0"/>
              <a:t> </a:t>
            </a:r>
            <a:r>
              <a:rPr lang="en-US" altLang="ko-KR" sz="2800" b="1" dirty="0"/>
              <a:t>Session</a:t>
            </a:r>
            <a:r>
              <a:rPr lang="ko-KR" altLang="en-US" sz="2800" b="1" dirty="0"/>
              <a:t> </a:t>
            </a:r>
            <a:r>
              <a:rPr lang="en-US" altLang="ko-KR" sz="2800" b="1" dirty="0"/>
              <a:t>Affinity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Create Service :</a:t>
            </a:r>
          </a:p>
          <a:p>
            <a:pPr lvl="1">
              <a:buFont typeface="Wingdings" panose="05000000000000000000" pitchFamily="2" charset="2"/>
              <a:buChar char="§"/>
            </a:pPr>
            <a:r>
              <a:rPr lang="en-US" altLang="ko-KR" sz="1400" dirty="0"/>
              <a:t>From the previous example, you can delete and create a new service using “</a:t>
            </a:r>
            <a:r>
              <a:rPr lang="en-US" altLang="ko-KR" sz="1400" b="1" dirty="0"/>
              <a:t>$ </a:t>
            </a:r>
            <a:r>
              <a:rPr lang="en-US" altLang="ko-KR" sz="1400" b="1" dirty="0" err="1"/>
              <a:t>kubectl</a:t>
            </a:r>
            <a:r>
              <a:rPr lang="en-US" altLang="ko-KR" sz="1400" b="1" dirty="0"/>
              <a:t> delete service </a:t>
            </a:r>
            <a:r>
              <a:rPr lang="en-US" altLang="ko-KR" sz="1400" b="1" dirty="0" err="1"/>
              <a:t>kubia</a:t>
            </a:r>
            <a:r>
              <a:rPr lang="en-US" altLang="ko-KR" sz="1400" dirty="0"/>
              <a:t>” and “</a:t>
            </a:r>
            <a:r>
              <a:rPr lang="en-US" altLang="ko-KR" sz="1400" b="1" dirty="0"/>
              <a:t>$</a:t>
            </a:r>
            <a:r>
              <a:rPr lang="en-US" altLang="ko-KR" sz="1400" b="1" dirty="0" err="1"/>
              <a:t>kubectl</a:t>
            </a:r>
            <a:r>
              <a:rPr lang="en-US" altLang="ko-KR" sz="1400" b="1" dirty="0"/>
              <a:t> create –f “</a:t>
            </a:r>
            <a:r>
              <a:rPr lang="en-US" altLang="ko-KR" sz="1400" b="1" dirty="0" err="1"/>
              <a:t>kubia-svc.yaml</a:t>
            </a:r>
            <a:r>
              <a:rPr lang="en-US" altLang="ko-KR" sz="1400" dirty="0"/>
              <a:t>”. In this case, the “</a:t>
            </a:r>
            <a:r>
              <a:rPr lang="en-US" altLang="ko-KR" sz="1400" b="1" dirty="0" err="1"/>
              <a:t>kubia-svc.yaml</a:t>
            </a:r>
            <a:r>
              <a:rPr lang="en-US" altLang="ko-KR" sz="1400" dirty="0"/>
              <a:t>” has “</a:t>
            </a:r>
            <a:r>
              <a:rPr lang="en-US" altLang="ko-KR" sz="1400" b="1" dirty="0" err="1"/>
              <a:t>sessionAffinity</a:t>
            </a:r>
            <a:r>
              <a:rPr lang="en-US" altLang="ko-KR" sz="1400" b="1" dirty="0"/>
              <a:t>: </a:t>
            </a:r>
            <a:r>
              <a:rPr lang="en-US" altLang="ko-KR" sz="1400" b="1" dirty="0" err="1"/>
              <a:t>ClientIP</a:t>
            </a:r>
            <a:r>
              <a:rPr lang="en-US" altLang="ko-KR" sz="1400" dirty="0"/>
              <a:t>” property.</a:t>
            </a:r>
          </a:p>
          <a:p>
            <a:pPr lvl="1">
              <a:buFont typeface="Wingdings" panose="05000000000000000000" pitchFamily="2" charset="2"/>
              <a:buChar char="§"/>
            </a:pPr>
            <a:r>
              <a:rPr lang="en-US" altLang="ko-KR" sz="1400" dirty="0"/>
              <a:t>You can check the setting with “</a:t>
            </a:r>
            <a:r>
              <a:rPr lang="en-US" altLang="ko-KR" sz="1400" b="1" dirty="0"/>
              <a:t>$ </a:t>
            </a:r>
            <a:r>
              <a:rPr lang="en-US" altLang="ko-KR" sz="1400" b="1" dirty="0" err="1"/>
              <a:t>kubectl</a:t>
            </a:r>
            <a:r>
              <a:rPr lang="en-US" altLang="ko-KR" sz="1400" b="1" dirty="0"/>
              <a:t> describe service </a:t>
            </a:r>
            <a:r>
              <a:rPr lang="en-US" altLang="ko-KR" sz="1400" b="1" dirty="0" err="1"/>
              <a:t>kubia</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A40AFCB1-42F6-F421-B741-1443A0666830}"/>
              </a:ext>
            </a:extLst>
          </p:cNvPr>
          <p:cNvGrpSpPr/>
          <p:nvPr/>
        </p:nvGrpSpPr>
        <p:grpSpPr>
          <a:xfrm>
            <a:off x="1599214" y="2103691"/>
            <a:ext cx="8993571" cy="2976054"/>
            <a:chOff x="1599214" y="2103691"/>
            <a:chExt cx="8993571" cy="2976054"/>
          </a:xfrm>
        </p:grpSpPr>
        <p:pic>
          <p:nvPicPr>
            <p:cNvPr id="4" name="그림 3">
              <a:extLst>
                <a:ext uri="{FF2B5EF4-FFF2-40B4-BE49-F238E27FC236}">
                  <a16:creationId xmlns:a16="http://schemas.microsoft.com/office/drawing/2014/main" id="{C35ABBC0-979F-B5E9-36F6-CC0287234AC2}"/>
                </a:ext>
              </a:extLst>
            </p:cNvPr>
            <p:cNvPicPr>
              <a:picLocks noChangeAspect="1"/>
            </p:cNvPicPr>
            <p:nvPr/>
          </p:nvPicPr>
          <p:blipFill>
            <a:blip r:embed="rId2"/>
            <a:stretch>
              <a:fillRect/>
            </a:stretch>
          </p:blipFill>
          <p:spPr>
            <a:xfrm>
              <a:off x="1599214" y="2103691"/>
              <a:ext cx="8993571" cy="2976054"/>
            </a:xfrm>
            <a:prstGeom prst="rect">
              <a:avLst/>
            </a:prstGeom>
          </p:spPr>
        </p:pic>
        <p:sp>
          <p:nvSpPr>
            <p:cNvPr id="8" name="직사각형 7">
              <a:extLst>
                <a:ext uri="{FF2B5EF4-FFF2-40B4-BE49-F238E27FC236}">
                  <a16:creationId xmlns:a16="http://schemas.microsoft.com/office/drawing/2014/main" id="{FB6DCE22-6277-50D2-2361-65729F6FB527}"/>
                </a:ext>
              </a:extLst>
            </p:cNvPr>
            <p:cNvSpPr/>
            <p:nvPr/>
          </p:nvSpPr>
          <p:spPr>
            <a:xfrm>
              <a:off x="1679028" y="4516820"/>
              <a:ext cx="1902372" cy="134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69312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Services(9/22)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Exposing Multiple Ports in the Same Service :</a:t>
            </a:r>
          </a:p>
          <a:p>
            <a:pPr lvl="1">
              <a:buFont typeface="Wingdings" panose="05000000000000000000" pitchFamily="2" charset="2"/>
              <a:buChar char="§"/>
            </a:pPr>
            <a:r>
              <a:rPr lang="en-US" altLang="ko-KR" sz="1400" b="1" dirty="0"/>
              <a:t>Your service exposes only a single port, but services can also support multiple ports</a:t>
            </a:r>
            <a:r>
              <a:rPr lang="en-US" altLang="ko-KR" sz="1400" dirty="0"/>
              <a:t>. </a:t>
            </a:r>
            <a:r>
              <a:rPr lang="en-US" altLang="ko-KR" sz="1400" b="1" dirty="0"/>
              <a:t>For example, you can use a single service to forward both port 80 and 443 to the pod’s ports 8080 and 8443</a:t>
            </a:r>
            <a:r>
              <a:rPr lang="en-US" altLang="ko-KR" sz="1400" dirty="0"/>
              <a:t>. You don’t need to create two different services in such cases. </a:t>
            </a:r>
            <a:r>
              <a:rPr lang="en-US" altLang="ko-KR" sz="1400" b="1" dirty="0">
                <a:solidFill>
                  <a:srgbClr val="FF0000"/>
                </a:solidFill>
              </a:rPr>
              <a:t>Using a single, multi-port service exposes all the service’s ports through a single cluster IP</a:t>
            </a:r>
            <a:r>
              <a:rPr lang="en-US" altLang="ko-KR" sz="1400" dirty="0"/>
              <a:t>. </a:t>
            </a:r>
            <a:r>
              <a:rPr lang="en-US" altLang="ko-KR" sz="1400" b="1" dirty="0"/>
              <a:t>When creating a service with multiple ports, you must specify a name for each port</a:t>
            </a:r>
            <a:r>
              <a:rPr lang="en-US" altLang="ko-KR" sz="1400" dirty="0"/>
              <a:t>. </a:t>
            </a:r>
            <a:r>
              <a:rPr lang="en-US" altLang="ko-KR" sz="1400" b="1" dirty="0"/>
              <a:t>The label selector applies to the service as a whole—it can’t be configured for each port individually</a:t>
            </a:r>
            <a:r>
              <a:rPr lang="en-US" altLang="ko-KR" sz="1400" dirty="0"/>
              <a:t>. If you want different ports to map to different subsets of pods, you need to create two services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84B7A2D9-C69B-23F6-04CB-FB70D53E87FC}"/>
              </a:ext>
            </a:extLst>
          </p:cNvPr>
          <p:cNvGrpSpPr/>
          <p:nvPr/>
        </p:nvGrpSpPr>
        <p:grpSpPr>
          <a:xfrm>
            <a:off x="1818067" y="2392683"/>
            <a:ext cx="8555865" cy="4016347"/>
            <a:chOff x="1813142" y="2554988"/>
            <a:chExt cx="8555865" cy="4016347"/>
          </a:xfrm>
        </p:grpSpPr>
        <p:grpSp>
          <p:nvGrpSpPr>
            <p:cNvPr id="14" name="그룹 13">
              <a:extLst>
                <a:ext uri="{FF2B5EF4-FFF2-40B4-BE49-F238E27FC236}">
                  <a16:creationId xmlns:a16="http://schemas.microsoft.com/office/drawing/2014/main" id="{E1E512B7-D420-46D7-0B28-D574885B6C34}"/>
                </a:ext>
              </a:extLst>
            </p:cNvPr>
            <p:cNvGrpSpPr/>
            <p:nvPr/>
          </p:nvGrpSpPr>
          <p:grpSpPr>
            <a:xfrm>
              <a:off x="1813142" y="2554988"/>
              <a:ext cx="8555865" cy="4016347"/>
              <a:chOff x="1813142" y="2305615"/>
              <a:chExt cx="8555865" cy="4016347"/>
            </a:xfrm>
          </p:grpSpPr>
          <p:grpSp>
            <p:nvGrpSpPr>
              <p:cNvPr id="10" name="그룹 9">
                <a:extLst>
                  <a:ext uri="{FF2B5EF4-FFF2-40B4-BE49-F238E27FC236}">
                    <a16:creationId xmlns:a16="http://schemas.microsoft.com/office/drawing/2014/main" id="{9B06E167-A3A8-78E5-94BF-8BC85FC2D78F}"/>
                  </a:ext>
                </a:extLst>
              </p:cNvPr>
              <p:cNvGrpSpPr/>
              <p:nvPr/>
            </p:nvGrpSpPr>
            <p:grpSpPr>
              <a:xfrm>
                <a:off x="3047343" y="2305615"/>
                <a:ext cx="6097314" cy="2246769"/>
                <a:chOff x="3047343" y="2305615"/>
                <a:chExt cx="6097314" cy="2246769"/>
              </a:xfrm>
            </p:grpSpPr>
            <p:sp>
              <p:nvSpPr>
                <p:cNvPr id="8" name="TextBox 7">
                  <a:extLst>
                    <a:ext uri="{FF2B5EF4-FFF2-40B4-BE49-F238E27FC236}">
                      <a16:creationId xmlns:a16="http://schemas.microsoft.com/office/drawing/2014/main" id="{DB5FDD68-2B58-7D76-8D46-97CB59A50FFB}"/>
                    </a:ext>
                  </a:extLst>
                </p:cNvPr>
                <p:cNvSpPr txBox="1"/>
                <p:nvPr/>
              </p:nvSpPr>
              <p:spPr>
                <a:xfrm>
                  <a:off x="3047343" y="2305615"/>
                  <a:ext cx="6097314" cy="2246769"/>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a:t>
                  </a:r>
                  <a:r>
                    <a:rPr lang="en-US" altLang="ko-KR" sz="1000" b="1" dirty="0">
                      <a:solidFill>
                        <a:srgbClr val="FF0000"/>
                      </a:solidFill>
                    </a:rPr>
                    <a:t>ports</a:t>
                  </a:r>
                  <a:r>
                    <a:rPr lang="en-US" altLang="ko-KR" sz="1000" b="1" dirty="0"/>
                    <a:t>:</a:t>
                  </a:r>
                </a:p>
                <a:p>
                  <a:r>
                    <a:rPr lang="en-US" altLang="ko-KR" sz="1000" b="1" dirty="0"/>
                    <a:t>  - </a:t>
                  </a:r>
                  <a:r>
                    <a:rPr lang="en-US" altLang="ko-KR" sz="1000" b="1" dirty="0">
                      <a:solidFill>
                        <a:srgbClr val="FF0000"/>
                      </a:solidFill>
                    </a:rPr>
                    <a:t>name: http</a:t>
                  </a:r>
                </a:p>
                <a:p>
                  <a:r>
                    <a:rPr lang="en-US" altLang="ko-KR" sz="1000" b="1" dirty="0"/>
                    <a:t>    port: 80</a:t>
                  </a:r>
                </a:p>
                <a:p>
                  <a:r>
                    <a:rPr lang="en-US" altLang="ko-KR" sz="1000" b="1" dirty="0"/>
                    <a:t>    </a:t>
                  </a:r>
                  <a:r>
                    <a:rPr lang="en-US" altLang="ko-KR" sz="1000" b="1" dirty="0" err="1"/>
                    <a:t>targetPort</a:t>
                  </a:r>
                  <a:r>
                    <a:rPr lang="en-US" altLang="ko-KR" sz="1000" b="1" dirty="0"/>
                    <a:t>: 8080</a:t>
                  </a:r>
                </a:p>
                <a:p>
                  <a:r>
                    <a:rPr lang="en-US" altLang="ko-KR" sz="1000" b="1" dirty="0"/>
                    <a:t>  - </a:t>
                  </a:r>
                  <a:r>
                    <a:rPr lang="en-US" altLang="ko-KR" sz="1000" b="1" dirty="0">
                      <a:solidFill>
                        <a:srgbClr val="FF0000"/>
                      </a:solidFill>
                    </a:rPr>
                    <a:t>name: https</a:t>
                  </a:r>
                </a:p>
                <a:p>
                  <a:r>
                    <a:rPr lang="en-US" altLang="ko-KR" sz="1000" b="1" dirty="0"/>
                    <a:t>    port: 443</a:t>
                  </a:r>
                </a:p>
                <a:p>
                  <a:r>
                    <a:rPr lang="en-US" altLang="ko-KR" sz="1000" b="1" dirty="0"/>
                    <a:t>    </a:t>
                  </a:r>
                  <a:r>
                    <a:rPr lang="en-US" altLang="ko-KR" sz="1000" b="1" dirty="0" err="1"/>
                    <a:t>targetPort</a:t>
                  </a:r>
                  <a:r>
                    <a:rPr lang="en-US" altLang="ko-KR" sz="1000" b="1" dirty="0"/>
                    <a:t>: 8443</a:t>
                  </a:r>
                </a:p>
                <a:p>
                  <a:r>
                    <a:rPr lang="en-US" altLang="ko-KR" sz="1000" b="1" dirty="0"/>
                    <a:t>  selector:</a:t>
                  </a:r>
                </a:p>
                <a:p>
                  <a:r>
                    <a:rPr lang="en-US" altLang="ko-KR" sz="1000" b="1" dirty="0"/>
                    <a:t>    app: </a:t>
                  </a:r>
                  <a:r>
                    <a:rPr lang="en-US" altLang="ko-KR" sz="1000" b="1" dirty="0" err="1"/>
                    <a:t>kubia</a:t>
                  </a:r>
                  <a:endParaRPr lang="en-US" altLang="ko-KR" sz="1000" b="1" dirty="0"/>
                </a:p>
              </p:txBody>
            </p:sp>
            <p:sp>
              <p:nvSpPr>
                <p:cNvPr id="9" name="TextBox 8">
                  <a:extLst>
                    <a:ext uri="{FF2B5EF4-FFF2-40B4-BE49-F238E27FC236}">
                      <a16:creationId xmlns:a16="http://schemas.microsoft.com/office/drawing/2014/main" id="{FC611EA3-2D47-6476-D1E5-E232A75BC9AB}"/>
                    </a:ext>
                  </a:extLst>
                </p:cNvPr>
                <p:cNvSpPr txBox="1"/>
                <p:nvPr/>
              </p:nvSpPr>
              <p:spPr>
                <a:xfrm>
                  <a:off x="7427520" y="2305615"/>
                  <a:ext cx="1717137" cy="246221"/>
                </a:xfrm>
                <a:prstGeom prst="rect">
                  <a:avLst/>
                </a:prstGeom>
                <a:noFill/>
              </p:spPr>
              <p:txBody>
                <a:bodyPr wrap="none" rtlCol="0">
                  <a:spAutoFit/>
                </a:bodyPr>
                <a:lstStyle/>
                <a:p>
                  <a:pPr algn="l"/>
                  <a:r>
                    <a:rPr lang="en-US" altLang="ko-KR" sz="1000" b="1" dirty="0" err="1"/>
                    <a:t>kubia</a:t>
                  </a:r>
                  <a:r>
                    <a:rPr lang="en-US" altLang="ko-KR" sz="1000" b="1" dirty="0"/>
                    <a:t>-multiport-</a:t>
                  </a:r>
                  <a:r>
                    <a:rPr lang="en-US" altLang="ko-KR" sz="1000" b="1" dirty="0" err="1"/>
                    <a:t>svc.yaml</a:t>
                  </a:r>
                  <a:endParaRPr lang="ko-KR" altLang="en-US" sz="1000" b="1" dirty="0"/>
                </a:p>
              </p:txBody>
            </p:sp>
          </p:grpSp>
          <p:pic>
            <p:nvPicPr>
              <p:cNvPr id="12" name="그림 11">
                <a:extLst>
                  <a:ext uri="{FF2B5EF4-FFF2-40B4-BE49-F238E27FC236}">
                    <a16:creationId xmlns:a16="http://schemas.microsoft.com/office/drawing/2014/main" id="{3BAD339C-14F7-4C11-88F0-62B4666D363C}"/>
                  </a:ext>
                </a:extLst>
              </p:cNvPr>
              <p:cNvPicPr>
                <a:picLocks noChangeAspect="1"/>
              </p:cNvPicPr>
              <p:nvPr/>
            </p:nvPicPr>
            <p:blipFill>
              <a:blip r:embed="rId2"/>
              <a:stretch>
                <a:fillRect/>
              </a:stretch>
            </p:blipFill>
            <p:spPr>
              <a:xfrm>
                <a:off x="1813142" y="4820797"/>
                <a:ext cx="8555865" cy="1501165"/>
              </a:xfrm>
              <a:prstGeom prst="rect">
                <a:avLst/>
              </a:prstGeom>
            </p:spPr>
          </p:pic>
          <p:sp>
            <p:nvSpPr>
              <p:cNvPr id="13" name="화살표: 아래쪽 12">
                <a:extLst>
                  <a:ext uri="{FF2B5EF4-FFF2-40B4-BE49-F238E27FC236}">
                    <a16:creationId xmlns:a16="http://schemas.microsoft.com/office/drawing/2014/main" id="{8B4956DA-CA65-F830-9AB5-1EE622DE6810}"/>
                  </a:ext>
                </a:extLst>
              </p:cNvPr>
              <p:cNvSpPr/>
              <p:nvPr/>
            </p:nvSpPr>
            <p:spPr>
              <a:xfrm>
                <a:off x="5908127" y="4556203"/>
                <a:ext cx="375746" cy="26459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11EF93E7-C643-652F-152F-54490CA022CA}"/>
                </a:ext>
              </a:extLst>
            </p:cNvPr>
            <p:cNvSpPr/>
            <p:nvPr/>
          </p:nvSpPr>
          <p:spPr>
            <a:xfrm>
              <a:off x="1935178" y="6182254"/>
              <a:ext cx="4697179" cy="1103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62859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Services(10/22)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Named Ports :</a:t>
            </a:r>
          </a:p>
          <a:p>
            <a:pPr lvl="1">
              <a:buFont typeface="Wingdings" panose="05000000000000000000" pitchFamily="2" charset="2"/>
              <a:buChar char="§"/>
            </a:pPr>
            <a:r>
              <a:rPr lang="en-US" altLang="ko-KR" sz="1400" dirty="0"/>
              <a:t>In all previous examples, you’ve referred to the target port by its number, </a:t>
            </a:r>
            <a:r>
              <a:rPr lang="en-US" altLang="ko-KR" sz="1400" b="1" dirty="0"/>
              <a:t>but you can also give a name to each pod’s port and refer to it by name in the service spec</a:t>
            </a:r>
            <a:r>
              <a:rPr lang="en-US" altLang="ko-KR" sz="1400" dirty="0"/>
              <a:t>. </a:t>
            </a:r>
            <a:r>
              <a:rPr lang="en-US" altLang="ko-KR" sz="1400" b="1" dirty="0"/>
              <a:t>This makes the service spec slightly clearer, especially if the port numbers aren’t well-known</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295A54F4-82D7-05F0-B164-0A152B218F6B}"/>
              </a:ext>
            </a:extLst>
          </p:cNvPr>
          <p:cNvGrpSpPr/>
          <p:nvPr/>
        </p:nvGrpSpPr>
        <p:grpSpPr>
          <a:xfrm>
            <a:off x="1232338" y="2039130"/>
            <a:ext cx="9727324" cy="3940186"/>
            <a:chOff x="1232338" y="1810530"/>
            <a:chExt cx="9727324" cy="3940186"/>
          </a:xfrm>
        </p:grpSpPr>
        <p:grpSp>
          <p:nvGrpSpPr>
            <p:cNvPr id="12" name="그룹 11">
              <a:extLst>
                <a:ext uri="{FF2B5EF4-FFF2-40B4-BE49-F238E27FC236}">
                  <a16:creationId xmlns:a16="http://schemas.microsoft.com/office/drawing/2014/main" id="{64E84019-A89A-7AF5-C8B3-AD24AAAF0F62}"/>
                </a:ext>
              </a:extLst>
            </p:cNvPr>
            <p:cNvGrpSpPr/>
            <p:nvPr/>
          </p:nvGrpSpPr>
          <p:grpSpPr>
            <a:xfrm>
              <a:off x="3047343" y="1810530"/>
              <a:ext cx="6097314" cy="2093292"/>
              <a:chOff x="3047343" y="1810530"/>
              <a:chExt cx="6097314" cy="2093292"/>
            </a:xfrm>
          </p:grpSpPr>
          <p:sp>
            <p:nvSpPr>
              <p:cNvPr id="10" name="TextBox 9">
                <a:extLst>
                  <a:ext uri="{FF2B5EF4-FFF2-40B4-BE49-F238E27FC236}">
                    <a16:creationId xmlns:a16="http://schemas.microsoft.com/office/drawing/2014/main" id="{C38C5E28-A149-5EB7-44A3-D73B43F64D1C}"/>
                  </a:ext>
                </a:extLst>
              </p:cNvPr>
              <p:cNvSpPr txBox="1"/>
              <p:nvPr/>
            </p:nvSpPr>
            <p:spPr>
              <a:xfrm>
                <a:off x="3047343" y="1810941"/>
                <a:ext cx="6097314"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containers:</a:t>
                </a:r>
              </a:p>
              <a:p>
                <a:r>
                  <a:rPr lang="en-US" altLang="ko-KR" sz="1000" b="1" dirty="0"/>
                  <a:t>  - name: </a:t>
                </a:r>
                <a:r>
                  <a:rPr lang="en-US" altLang="ko-KR" sz="1000" b="1" dirty="0" err="1"/>
                  <a:t>kubia</a:t>
                </a:r>
                <a:endParaRPr lang="en-US" altLang="ko-KR" sz="1000" b="1" dirty="0"/>
              </a:p>
              <a:p>
                <a:r>
                  <a:rPr lang="en-US" altLang="ko-KR" sz="1000" b="1" dirty="0"/>
                  <a:t>    image: knix008/</a:t>
                </a:r>
                <a:r>
                  <a:rPr lang="en-US" altLang="ko-KR" sz="1000" b="1" dirty="0" err="1"/>
                  <a:t>kubia</a:t>
                </a:r>
                <a:endParaRPr lang="en-US" altLang="ko-KR" sz="1000" b="1" dirty="0"/>
              </a:p>
              <a:p>
                <a:r>
                  <a:rPr lang="en-US" altLang="ko-KR" sz="1000" b="1" dirty="0"/>
                  <a:t>    ports:</a:t>
                </a:r>
              </a:p>
              <a:p>
                <a:r>
                  <a:rPr lang="en-US" altLang="ko-KR" sz="1000" b="1" dirty="0"/>
                  <a:t>    - </a:t>
                </a:r>
                <a:r>
                  <a:rPr lang="en-US" altLang="ko-KR" sz="1000" b="1" dirty="0">
                    <a:solidFill>
                      <a:srgbClr val="FF0000"/>
                    </a:solidFill>
                  </a:rPr>
                  <a:t>name: http</a:t>
                </a:r>
              </a:p>
              <a:p>
                <a:r>
                  <a:rPr lang="en-US" altLang="ko-KR" sz="1000" b="1" dirty="0"/>
                  <a:t>      </a:t>
                </a:r>
                <a:r>
                  <a:rPr lang="en-US" altLang="ko-KR" sz="1000" b="1" dirty="0" err="1"/>
                  <a:t>containerPort</a:t>
                </a:r>
                <a:r>
                  <a:rPr lang="en-US" altLang="ko-KR" sz="1000" b="1" dirty="0"/>
                  <a:t>: 8080</a:t>
                </a:r>
              </a:p>
              <a:p>
                <a:r>
                  <a:rPr lang="en-US" altLang="ko-KR" sz="1000" b="1" dirty="0"/>
                  <a:t>    - </a:t>
                </a:r>
                <a:r>
                  <a:rPr lang="en-US" altLang="ko-KR" sz="1000" b="1" dirty="0">
                    <a:solidFill>
                      <a:srgbClr val="FF0000"/>
                    </a:solidFill>
                  </a:rPr>
                  <a:t>name: https</a:t>
                </a:r>
              </a:p>
              <a:p>
                <a:r>
                  <a:rPr lang="en-US" altLang="ko-KR" sz="1000" b="1" dirty="0"/>
                  <a:t>      </a:t>
                </a:r>
                <a:r>
                  <a:rPr lang="en-US" altLang="ko-KR" sz="1000" b="1" dirty="0" err="1"/>
                  <a:t>containerPort</a:t>
                </a:r>
                <a:r>
                  <a:rPr lang="en-US" altLang="ko-KR" sz="1000" b="1" dirty="0"/>
                  <a:t>: 8443</a:t>
                </a:r>
              </a:p>
            </p:txBody>
          </p:sp>
          <p:sp>
            <p:nvSpPr>
              <p:cNvPr id="11" name="TextBox 10">
                <a:extLst>
                  <a:ext uri="{FF2B5EF4-FFF2-40B4-BE49-F238E27FC236}">
                    <a16:creationId xmlns:a16="http://schemas.microsoft.com/office/drawing/2014/main" id="{274E1DA4-E632-7197-416D-9BCFA38DF3A1}"/>
                  </a:ext>
                </a:extLst>
              </p:cNvPr>
              <p:cNvSpPr txBox="1"/>
              <p:nvPr/>
            </p:nvSpPr>
            <p:spPr>
              <a:xfrm>
                <a:off x="7225542" y="1810530"/>
                <a:ext cx="1919115" cy="246221"/>
              </a:xfrm>
              <a:prstGeom prst="rect">
                <a:avLst/>
              </a:prstGeom>
              <a:noFill/>
            </p:spPr>
            <p:txBody>
              <a:bodyPr wrap="none" rtlCol="0">
                <a:spAutoFit/>
              </a:bodyPr>
              <a:lstStyle/>
              <a:p>
                <a:pPr algn="l"/>
                <a:r>
                  <a:rPr lang="en-US" altLang="ko-KR" sz="1000" b="1" dirty="0" err="1"/>
                  <a:t>kubia</a:t>
                </a:r>
                <a:r>
                  <a:rPr lang="en-US" altLang="ko-KR" sz="1000" b="1" dirty="0"/>
                  <a:t>-pod-named-</a:t>
                </a:r>
                <a:r>
                  <a:rPr lang="en-US" altLang="ko-KR" sz="1000" b="1" dirty="0" err="1"/>
                  <a:t>port.yaml</a:t>
                </a:r>
                <a:endParaRPr lang="ko-KR" altLang="en-US" sz="1000" b="1" dirty="0"/>
              </a:p>
            </p:txBody>
          </p:sp>
        </p:grpSp>
        <p:sp>
          <p:nvSpPr>
            <p:cNvPr id="13" name="화살표: 아래쪽 12">
              <a:extLst>
                <a:ext uri="{FF2B5EF4-FFF2-40B4-BE49-F238E27FC236}">
                  <a16:creationId xmlns:a16="http://schemas.microsoft.com/office/drawing/2014/main" id="{F6DF85D6-4FD0-EF07-EEF5-07AF19866292}"/>
                </a:ext>
              </a:extLst>
            </p:cNvPr>
            <p:cNvSpPr/>
            <p:nvPr/>
          </p:nvSpPr>
          <p:spPr>
            <a:xfrm>
              <a:off x="5875283" y="3903822"/>
              <a:ext cx="441434" cy="30742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5" name="그림 14">
              <a:extLst>
                <a:ext uri="{FF2B5EF4-FFF2-40B4-BE49-F238E27FC236}">
                  <a16:creationId xmlns:a16="http://schemas.microsoft.com/office/drawing/2014/main" id="{D1566BE1-3CD9-CA5C-94B0-EAF44307ECB8}"/>
                </a:ext>
              </a:extLst>
            </p:cNvPr>
            <p:cNvPicPr>
              <a:picLocks noChangeAspect="1"/>
            </p:cNvPicPr>
            <p:nvPr/>
          </p:nvPicPr>
          <p:blipFill>
            <a:blip r:embed="rId2"/>
            <a:stretch>
              <a:fillRect/>
            </a:stretch>
          </p:blipFill>
          <p:spPr>
            <a:xfrm>
              <a:off x="1232338" y="4210556"/>
              <a:ext cx="9727324" cy="1540160"/>
            </a:xfrm>
            <a:prstGeom prst="rect">
              <a:avLst/>
            </a:prstGeom>
          </p:spPr>
        </p:pic>
      </p:grpSp>
    </p:spTree>
    <p:extLst>
      <p:ext uri="{BB962C8B-B14F-4D97-AF65-F5344CB8AC3E}">
        <p14:creationId xmlns:p14="http://schemas.microsoft.com/office/powerpoint/2010/main" val="3940839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Services(11/22)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Named Ports :</a:t>
            </a:r>
          </a:p>
          <a:p>
            <a:pPr lvl="1">
              <a:buFont typeface="Wingdings" panose="05000000000000000000" pitchFamily="2" charset="2"/>
              <a:buChar char="§"/>
            </a:pPr>
            <a:r>
              <a:rPr lang="en-US" altLang="ko-KR" sz="1400" b="1" dirty="0"/>
              <a:t>You can then refer to the ports by name in the service spec</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biggest benefit of doing so is that it enables you to change port numbers later without having to change the service spec</a:t>
            </a:r>
            <a:r>
              <a:rPr lang="en-US" altLang="ko-KR" sz="1400" dirty="0"/>
              <a:t>. As you spin up pods with the new ports, client connections will be forwarded to the appropriate port numbers, depending on the pod receiving the connection (port 8080 on old pods and port 80 on the new ones).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7E149371-74FD-9499-7D15-67C8450E5A24}"/>
              </a:ext>
            </a:extLst>
          </p:cNvPr>
          <p:cNvGrpSpPr/>
          <p:nvPr/>
        </p:nvGrpSpPr>
        <p:grpSpPr>
          <a:xfrm>
            <a:off x="1171904" y="1484316"/>
            <a:ext cx="9848192" cy="3857835"/>
            <a:chOff x="1171903" y="1490008"/>
            <a:chExt cx="9848192" cy="3857835"/>
          </a:xfrm>
        </p:grpSpPr>
        <p:grpSp>
          <p:nvGrpSpPr>
            <p:cNvPr id="12" name="그룹 11">
              <a:extLst>
                <a:ext uri="{FF2B5EF4-FFF2-40B4-BE49-F238E27FC236}">
                  <a16:creationId xmlns:a16="http://schemas.microsoft.com/office/drawing/2014/main" id="{C0D21C2B-EB15-8B8F-BB3E-A5822C9D558C}"/>
                </a:ext>
              </a:extLst>
            </p:cNvPr>
            <p:cNvGrpSpPr/>
            <p:nvPr/>
          </p:nvGrpSpPr>
          <p:grpSpPr>
            <a:xfrm>
              <a:off x="3047342" y="1490008"/>
              <a:ext cx="6097314" cy="2224332"/>
              <a:chOff x="3047342" y="1490008"/>
              <a:chExt cx="6097314" cy="2224332"/>
            </a:xfrm>
          </p:grpSpPr>
          <p:grpSp>
            <p:nvGrpSpPr>
              <p:cNvPr id="10" name="그룹 9">
                <a:extLst>
                  <a:ext uri="{FF2B5EF4-FFF2-40B4-BE49-F238E27FC236}">
                    <a16:creationId xmlns:a16="http://schemas.microsoft.com/office/drawing/2014/main" id="{4B441EF5-D206-043A-A5D0-1CBCA87CC18C}"/>
                  </a:ext>
                </a:extLst>
              </p:cNvPr>
              <p:cNvGrpSpPr/>
              <p:nvPr/>
            </p:nvGrpSpPr>
            <p:grpSpPr>
              <a:xfrm>
                <a:off x="3047342" y="1490008"/>
                <a:ext cx="6097314" cy="1938992"/>
                <a:chOff x="3047342" y="1490008"/>
                <a:chExt cx="6097314" cy="1938992"/>
              </a:xfrm>
            </p:grpSpPr>
            <p:sp>
              <p:nvSpPr>
                <p:cNvPr id="8" name="TextBox 7">
                  <a:extLst>
                    <a:ext uri="{FF2B5EF4-FFF2-40B4-BE49-F238E27FC236}">
                      <a16:creationId xmlns:a16="http://schemas.microsoft.com/office/drawing/2014/main" id="{B0F2B04C-ED4F-4680-5B3E-96D3E021029F}"/>
                    </a:ext>
                  </a:extLst>
                </p:cNvPr>
                <p:cNvSpPr txBox="1"/>
                <p:nvPr/>
              </p:nvSpPr>
              <p:spPr>
                <a:xfrm>
                  <a:off x="3047342" y="1490008"/>
                  <a:ext cx="6097314" cy="193899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ports:</a:t>
                  </a:r>
                </a:p>
                <a:p>
                  <a:r>
                    <a:rPr lang="en-US" altLang="ko-KR" sz="1000" b="1" dirty="0"/>
                    <a:t>  - </a:t>
                  </a:r>
                  <a:r>
                    <a:rPr lang="en-US" altLang="ko-KR" sz="1000" b="1" dirty="0">
                      <a:solidFill>
                        <a:srgbClr val="FF0000"/>
                      </a:solidFill>
                    </a:rPr>
                    <a:t>name: http</a:t>
                  </a:r>
                </a:p>
                <a:p>
                  <a:r>
                    <a:rPr lang="en-US" altLang="ko-KR" sz="1000" b="1" dirty="0"/>
                    <a:t>    port: 80</a:t>
                  </a:r>
                </a:p>
                <a:p>
                  <a:r>
                    <a:rPr lang="en-US" altLang="ko-KR" sz="1000" b="1" dirty="0"/>
                    <a:t>    </a:t>
                  </a:r>
                  <a:r>
                    <a:rPr lang="en-US" altLang="ko-KR" sz="1000" b="1" dirty="0" err="1"/>
                    <a:t>targetPort</a:t>
                  </a:r>
                  <a:r>
                    <a:rPr lang="en-US" altLang="ko-KR" sz="1000" b="1" dirty="0"/>
                    <a:t>: http</a:t>
                  </a:r>
                </a:p>
                <a:p>
                  <a:r>
                    <a:rPr lang="en-US" altLang="ko-KR" sz="1000" b="1" dirty="0"/>
                    <a:t>  - </a:t>
                  </a:r>
                  <a:r>
                    <a:rPr lang="en-US" altLang="ko-KR" sz="1000" b="1" dirty="0">
                      <a:solidFill>
                        <a:srgbClr val="FF0000"/>
                      </a:solidFill>
                    </a:rPr>
                    <a:t>name: https</a:t>
                  </a:r>
                </a:p>
                <a:p>
                  <a:r>
                    <a:rPr lang="en-US" altLang="ko-KR" sz="1000" b="1" dirty="0"/>
                    <a:t>    port: 443</a:t>
                  </a:r>
                </a:p>
                <a:p>
                  <a:r>
                    <a:rPr lang="en-US" altLang="ko-KR" sz="1000" b="1" dirty="0"/>
                    <a:t>    </a:t>
                  </a:r>
                  <a:r>
                    <a:rPr lang="en-US" altLang="ko-KR" sz="1000" b="1" dirty="0" err="1"/>
                    <a:t>targetPort</a:t>
                  </a:r>
                  <a:r>
                    <a:rPr lang="en-US" altLang="ko-KR" sz="1000" b="1" dirty="0"/>
                    <a:t>: https</a:t>
                  </a:r>
                </a:p>
              </p:txBody>
            </p:sp>
            <p:sp>
              <p:nvSpPr>
                <p:cNvPr id="9" name="TextBox 8">
                  <a:extLst>
                    <a:ext uri="{FF2B5EF4-FFF2-40B4-BE49-F238E27FC236}">
                      <a16:creationId xmlns:a16="http://schemas.microsoft.com/office/drawing/2014/main" id="{CCB4CB9A-33B0-8CBE-4C1A-CC7671A33598}"/>
                    </a:ext>
                  </a:extLst>
                </p:cNvPr>
                <p:cNvSpPr txBox="1"/>
                <p:nvPr/>
              </p:nvSpPr>
              <p:spPr>
                <a:xfrm>
                  <a:off x="7275233" y="1490008"/>
                  <a:ext cx="1869423" cy="246221"/>
                </a:xfrm>
                <a:prstGeom prst="rect">
                  <a:avLst/>
                </a:prstGeom>
                <a:noFill/>
              </p:spPr>
              <p:txBody>
                <a:bodyPr wrap="none" rtlCol="0">
                  <a:spAutoFit/>
                </a:bodyPr>
                <a:lstStyle/>
                <a:p>
                  <a:pPr algn="l"/>
                  <a:r>
                    <a:rPr lang="en-US" altLang="ko-KR" sz="1000" b="1" dirty="0" err="1"/>
                    <a:t>kubia</a:t>
                  </a:r>
                  <a:r>
                    <a:rPr lang="en-US" altLang="ko-KR" sz="1000" b="1" dirty="0"/>
                    <a:t>-svc-named-</a:t>
                  </a:r>
                  <a:r>
                    <a:rPr lang="en-US" altLang="ko-KR" sz="1000" b="1" dirty="0" err="1"/>
                    <a:t>port.yaml</a:t>
                  </a:r>
                  <a:endParaRPr lang="ko-KR" altLang="en-US" sz="1000" b="1" dirty="0"/>
                </a:p>
              </p:txBody>
            </p:sp>
          </p:grpSp>
          <p:sp>
            <p:nvSpPr>
              <p:cNvPr id="11" name="화살표: 아래쪽 10">
                <a:extLst>
                  <a:ext uri="{FF2B5EF4-FFF2-40B4-BE49-F238E27FC236}">
                    <a16:creationId xmlns:a16="http://schemas.microsoft.com/office/drawing/2014/main" id="{57766123-DA64-8E25-CE56-337DF38ED0A6}"/>
                  </a:ext>
                </a:extLst>
              </p:cNvPr>
              <p:cNvSpPr/>
              <p:nvPr/>
            </p:nvSpPr>
            <p:spPr>
              <a:xfrm>
                <a:off x="5873310" y="3429000"/>
                <a:ext cx="445378" cy="2853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F22675AD-1284-5AEE-06AD-FAEDEEDD3001}"/>
                </a:ext>
              </a:extLst>
            </p:cNvPr>
            <p:cNvPicPr>
              <a:picLocks noChangeAspect="1"/>
            </p:cNvPicPr>
            <p:nvPr/>
          </p:nvPicPr>
          <p:blipFill>
            <a:blip r:embed="rId2"/>
            <a:stretch>
              <a:fillRect/>
            </a:stretch>
          </p:blipFill>
          <p:spPr>
            <a:xfrm>
              <a:off x="1171903" y="3722891"/>
              <a:ext cx="9848192" cy="1624952"/>
            </a:xfrm>
            <a:prstGeom prst="rect">
              <a:avLst/>
            </a:prstGeom>
          </p:spPr>
        </p:pic>
      </p:grpSp>
    </p:spTree>
    <p:extLst>
      <p:ext uri="{BB962C8B-B14F-4D97-AF65-F5344CB8AC3E}">
        <p14:creationId xmlns:p14="http://schemas.microsoft.com/office/powerpoint/2010/main" val="1849157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Services(12/22)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Discovering Services :</a:t>
            </a:r>
          </a:p>
          <a:p>
            <a:pPr lvl="1">
              <a:buFont typeface="Wingdings" panose="05000000000000000000" pitchFamily="2" charset="2"/>
              <a:buChar char="§"/>
            </a:pPr>
            <a:r>
              <a:rPr lang="en-US" altLang="ko-KR" sz="1400" b="1" dirty="0"/>
              <a:t>By creating a service, you now have </a:t>
            </a:r>
            <a:r>
              <a:rPr lang="en-US" altLang="ko-KR" sz="1400" b="1" dirty="0">
                <a:solidFill>
                  <a:srgbClr val="FF0000"/>
                </a:solidFill>
              </a:rPr>
              <a:t>a single and stable IP address and port </a:t>
            </a:r>
            <a:r>
              <a:rPr lang="en-US" altLang="ko-KR" sz="1400" b="1" dirty="0"/>
              <a:t>that you can hit to </a:t>
            </a:r>
            <a:r>
              <a:rPr lang="en-US" altLang="ko-KR" sz="1400" b="1" dirty="0">
                <a:solidFill>
                  <a:srgbClr val="FF0000"/>
                </a:solidFill>
              </a:rPr>
              <a:t>access your pods</a:t>
            </a:r>
            <a:r>
              <a:rPr lang="en-US" altLang="ko-KR" sz="1400" dirty="0"/>
              <a:t>. </a:t>
            </a:r>
            <a:r>
              <a:rPr lang="en-US" altLang="ko-KR" sz="1400" b="1" dirty="0">
                <a:solidFill>
                  <a:srgbClr val="FF0000"/>
                </a:solidFill>
              </a:rPr>
              <a:t>This address will remain unchanged throughout the whole lifetime of the service</a:t>
            </a:r>
            <a:r>
              <a:rPr lang="en-US" altLang="ko-KR" sz="1400" dirty="0"/>
              <a:t>. </a:t>
            </a:r>
            <a:r>
              <a:rPr lang="en-US" altLang="ko-KR" sz="1400" b="1" dirty="0"/>
              <a:t>Pods behind this service may come and go, their IPs may change, their number can go up or down, but they’ll always be accessible through the service’s single and constant IP address</a:t>
            </a:r>
            <a:r>
              <a:rPr lang="en-US" altLang="ko-KR" sz="1400" dirty="0"/>
              <a:t>.</a:t>
            </a:r>
          </a:p>
          <a:p>
            <a:pPr lvl="1">
              <a:buFont typeface="Wingdings" panose="05000000000000000000" pitchFamily="2" charset="2"/>
              <a:buChar char="§"/>
            </a:pPr>
            <a:r>
              <a:rPr lang="en-US" altLang="ko-KR" sz="1400" b="1" dirty="0"/>
              <a:t>But how do the client pods know the IP and port of a service? </a:t>
            </a:r>
            <a:r>
              <a:rPr lang="en-US" altLang="ko-KR" sz="1400" dirty="0"/>
              <a:t>Do you need to create the service first, then manually look up its IP address and pass the IP to the configuration options of the client pod? Not really. </a:t>
            </a:r>
            <a:r>
              <a:rPr lang="en-US" altLang="ko-KR" sz="1400" b="1" dirty="0"/>
              <a:t>Kubernetes also provides ways for client pods to discover a service’s IP and port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F22A637-DF5D-827D-5B2D-F76607C9752B}"/>
              </a:ext>
            </a:extLst>
          </p:cNvPr>
          <p:cNvPicPr>
            <a:picLocks noChangeAspect="1"/>
          </p:cNvPicPr>
          <p:nvPr/>
        </p:nvPicPr>
        <p:blipFill>
          <a:blip r:embed="rId2"/>
          <a:stretch>
            <a:fillRect/>
          </a:stretch>
        </p:blipFill>
        <p:spPr>
          <a:xfrm>
            <a:off x="4103022" y="3032356"/>
            <a:ext cx="3985956" cy="2674762"/>
          </a:xfrm>
          <a:prstGeom prst="rect">
            <a:avLst/>
          </a:prstGeom>
        </p:spPr>
      </p:pic>
    </p:spTree>
    <p:extLst>
      <p:ext uri="{BB962C8B-B14F-4D97-AF65-F5344CB8AC3E}">
        <p14:creationId xmlns:p14="http://schemas.microsoft.com/office/powerpoint/2010/main" val="1237352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Services(13/22)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Discovering Services through Environment Variables :</a:t>
            </a:r>
          </a:p>
          <a:p>
            <a:pPr lvl="1">
              <a:buFont typeface="Wingdings" panose="05000000000000000000" pitchFamily="2" charset="2"/>
              <a:buChar char="§"/>
            </a:pPr>
            <a:r>
              <a:rPr lang="en-US" altLang="ko-KR" sz="1400" b="1" dirty="0"/>
              <a:t>When a pod is started, </a:t>
            </a:r>
            <a:r>
              <a:rPr lang="en-US" altLang="ko-KR" sz="1400" b="1" dirty="0">
                <a:solidFill>
                  <a:srgbClr val="FF0000"/>
                </a:solidFill>
              </a:rPr>
              <a:t>Kubernetes initializes a set of environment variables</a:t>
            </a:r>
            <a:r>
              <a:rPr lang="en-US" altLang="ko-KR" sz="1400" b="1" dirty="0"/>
              <a:t> pointing to each service that exists at that moment</a:t>
            </a:r>
            <a:r>
              <a:rPr lang="en-US" altLang="ko-KR" sz="1400" dirty="0"/>
              <a:t>. </a:t>
            </a:r>
            <a:r>
              <a:rPr lang="en-US" altLang="ko-KR" sz="1400" b="1" dirty="0"/>
              <a:t>If you create the service before creating the client pods, processes in those pods can get the IP address and port of the service by inspecting their environment variables</a:t>
            </a:r>
            <a:r>
              <a:rPr lang="en-US" altLang="ko-KR" sz="1400" dirty="0"/>
              <a:t>.</a:t>
            </a:r>
          </a:p>
          <a:p>
            <a:pPr lvl="1">
              <a:buFont typeface="Wingdings" panose="05000000000000000000" pitchFamily="2" charset="2"/>
              <a:buChar char="§"/>
            </a:pPr>
            <a:r>
              <a:rPr lang="en-US" altLang="ko-KR" sz="1400" dirty="0"/>
              <a:t>Before you can see environment variables for your service, you first </a:t>
            </a:r>
            <a:r>
              <a:rPr lang="en-US" altLang="ko-KR" sz="1400" b="1" dirty="0"/>
              <a:t>need to delete all the pods and let the </a:t>
            </a:r>
            <a:r>
              <a:rPr lang="en-US" altLang="ko-KR" sz="1400" b="1" dirty="0" err="1"/>
              <a:t>ReplicationController</a:t>
            </a:r>
            <a:r>
              <a:rPr lang="en-US" altLang="ko-KR" sz="1400" b="1" dirty="0"/>
              <a:t> create new ones</a:t>
            </a:r>
            <a:r>
              <a:rPr lang="en-US" altLang="ko-KR" sz="1400" dirty="0"/>
              <a:t>. You may remember you can delete all pods without specifying their names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B810AD3-C90E-23F2-DAB2-7AE2388B3898}"/>
              </a:ext>
            </a:extLst>
          </p:cNvPr>
          <p:cNvGrpSpPr/>
          <p:nvPr/>
        </p:nvGrpSpPr>
        <p:grpSpPr>
          <a:xfrm>
            <a:off x="1279634" y="2558629"/>
            <a:ext cx="9632731" cy="2013498"/>
            <a:chOff x="1279633" y="2471823"/>
            <a:chExt cx="9632731" cy="2013498"/>
          </a:xfrm>
        </p:grpSpPr>
        <p:sp>
          <p:nvSpPr>
            <p:cNvPr id="8" name="TextBox 7">
              <a:extLst>
                <a:ext uri="{FF2B5EF4-FFF2-40B4-BE49-F238E27FC236}">
                  <a16:creationId xmlns:a16="http://schemas.microsoft.com/office/drawing/2014/main" id="{E7672F37-F10A-D1A1-1312-1B7EFD440525}"/>
                </a:ext>
              </a:extLst>
            </p:cNvPr>
            <p:cNvSpPr txBox="1"/>
            <p:nvPr/>
          </p:nvSpPr>
          <p:spPr>
            <a:xfrm>
              <a:off x="3047343" y="2471823"/>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pods --all</a:t>
              </a:r>
              <a:endParaRPr lang="ko-KR" altLang="en-US" sz="1000" b="1" dirty="0"/>
            </a:p>
          </p:txBody>
        </p:sp>
        <p:pic>
          <p:nvPicPr>
            <p:cNvPr id="10" name="그림 9">
              <a:extLst>
                <a:ext uri="{FF2B5EF4-FFF2-40B4-BE49-F238E27FC236}">
                  <a16:creationId xmlns:a16="http://schemas.microsoft.com/office/drawing/2014/main" id="{1E21F356-7121-C7D1-46A8-884A28E81568}"/>
                </a:ext>
              </a:extLst>
            </p:cNvPr>
            <p:cNvPicPr>
              <a:picLocks noChangeAspect="1"/>
            </p:cNvPicPr>
            <p:nvPr/>
          </p:nvPicPr>
          <p:blipFill>
            <a:blip r:embed="rId2"/>
            <a:stretch>
              <a:fillRect/>
            </a:stretch>
          </p:blipFill>
          <p:spPr>
            <a:xfrm>
              <a:off x="1279633" y="2960139"/>
              <a:ext cx="9632731" cy="1525182"/>
            </a:xfrm>
            <a:prstGeom prst="rect">
              <a:avLst/>
            </a:prstGeom>
          </p:spPr>
        </p:pic>
        <p:sp>
          <p:nvSpPr>
            <p:cNvPr id="11" name="화살표: 아래쪽 10">
              <a:extLst>
                <a:ext uri="{FF2B5EF4-FFF2-40B4-BE49-F238E27FC236}">
                  <a16:creationId xmlns:a16="http://schemas.microsoft.com/office/drawing/2014/main" id="{7EFF1641-5E09-3476-B6F3-828C7C7D123D}"/>
                </a:ext>
              </a:extLst>
            </p:cNvPr>
            <p:cNvSpPr/>
            <p:nvPr/>
          </p:nvSpPr>
          <p:spPr>
            <a:xfrm>
              <a:off x="5898930" y="2713918"/>
              <a:ext cx="394138"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51319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Services(14/22)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Discovering Services through Environment Variables :</a:t>
            </a:r>
          </a:p>
          <a:p>
            <a:pPr lvl="1">
              <a:buFont typeface="Wingdings" panose="05000000000000000000" pitchFamily="2" charset="2"/>
              <a:buChar char="§"/>
            </a:pPr>
            <a:r>
              <a:rPr lang="en-US" altLang="ko-KR" sz="1400" b="1" dirty="0"/>
              <a:t>Now you can list the new pods and pick one as your target for the “</a:t>
            </a:r>
            <a:r>
              <a:rPr lang="en-US" altLang="ko-KR" sz="1400" b="1" dirty="0" err="1">
                <a:solidFill>
                  <a:srgbClr val="FF0000"/>
                </a:solidFill>
              </a:rPr>
              <a:t>kubectl</a:t>
            </a:r>
            <a:r>
              <a:rPr lang="en-US" altLang="ko-KR" sz="1400" b="1" dirty="0">
                <a:solidFill>
                  <a:srgbClr val="FF0000"/>
                </a:solidFill>
              </a:rPr>
              <a:t> exec</a:t>
            </a:r>
            <a:r>
              <a:rPr lang="en-US" altLang="ko-KR" sz="1400" b="1" dirty="0"/>
              <a:t>” command</a:t>
            </a:r>
            <a:r>
              <a:rPr lang="en-US" altLang="ko-KR" sz="1400" dirty="0"/>
              <a:t>. Once you’ve selected your target pod, you can </a:t>
            </a:r>
            <a:r>
              <a:rPr lang="en-US" altLang="ko-KR" sz="1400" b="1" dirty="0"/>
              <a:t>list environment variables by running the “</a:t>
            </a:r>
            <a:r>
              <a:rPr lang="en-US" altLang="ko-KR" sz="1400" b="1" dirty="0">
                <a:solidFill>
                  <a:srgbClr val="FF0000"/>
                </a:solidFill>
              </a:rPr>
              <a:t>env</a:t>
            </a:r>
            <a:r>
              <a:rPr lang="en-US" altLang="ko-KR" sz="1400" b="1" dirty="0"/>
              <a:t>” command inside the container,</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3440E9F3-456D-C750-89E3-91C03996793C}"/>
              </a:ext>
            </a:extLst>
          </p:cNvPr>
          <p:cNvGrpSpPr/>
          <p:nvPr/>
        </p:nvGrpSpPr>
        <p:grpSpPr>
          <a:xfrm>
            <a:off x="1275693" y="2176424"/>
            <a:ext cx="9640613" cy="3759839"/>
            <a:chOff x="1275693" y="2176424"/>
            <a:chExt cx="9640613" cy="3759839"/>
          </a:xfrm>
        </p:grpSpPr>
        <p:pic>
          <p:nvPicPr>
            <p:cNvPr id="8" name="그림 7">
              <a:extLst>
                <a:ext uri="{FF2B5EF4-FFF2-40B4-BE49-F238E27FC236}">
                  <a16:creationId xmlns:a16="http://schemas.microsoft.com/office/drawing/2014/main" id="{771843FA-0D48-8A8D-71A1-3FC5CC2E535E}"/>
                </a:ext>
              </a:extLst>
            </p:cNvPr>
            <p:cNvPicPr>
              <a:picLocks noChangeAspect="1"/>
            </p:cNvPicPr>
            <p:nvPr/>
          </p:nvPicPr>
          <p:blipFill>
            <a:blip r:embed="rId2"/>
            <a:stretch>
              <a:fillRect/>
            </a:stretch>
          </p:blipFill>
          <p:spPr>
            <a:xfrm>
              <a:off x="1275693" y="2176424"/>
              <a:ext cx="9640613" cy="3759839"/>
            </a:xfrm>
            <a:prstGeom prst="rect">
              <a:avLst/>
            </a:prstGeom>
          </p:spPr>
        </p:pic>
        <p:sp>
          <p:nvSpPr>
            <p:cNvPr id="9" name="직사각형 8">
              <a:extLst>
                <a:ext uri="{FF2B5EF4-FFF2-40B4-BE49-F238E27FC236}">
                  <a16:creationId xmlns:a16="http://schemas.microsoft.com/office/drawing/2014/main" id="{D2BAB910-79B7-A2D9-A8FD-F1D9AB92CF8F}"/>
                </a:ext>
              </a:extLst>
            </p:cNvPr>
            <p:cNvSpPr/>
            <p:nvPr/>
          </p:nvSpPr>
          <p:spPr>
            <a:xfrm>
              <a:off x="5344511" y="3563008"/>
              <a:ext cx="1915510"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1482A303-8609-27DF-1B87-59F5F25CC135}"/>
                </a:ext>
              </a:extLst>
            </p:cNvPr>
            <p:cNvSpPr/>
            <p:nvPr/>
          </p:nvSpPr>
          <p:spPr>
            <a:xfrm>
              <a:off x="1379483" y="4540469"/>
              <a:ext cx="2209800" cy="3074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63569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Executing Command in a Pod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kubectl</a:t>
            </a:r>
            <a:r>
              <a:rPr lang="en-US" altLang="ko-KR" sz="1800" b="1" dirty="0"/>
              <a:t> exec command :</a:t>
            </a:r>
          </a:p>
          <a:p>
            <a:pPr lvl="1">
              <a:buFont typeface="Wingdings" panose="05000000000000000000" pitchFamily="2" charset="2"/>
              <a:buChar char="§"/>
            </a:pPr>
            <a:r>
              <a:rPr lang="en-US" altLang="ko-KR" sz="1400" dirty="0"/>
              <a:t>You need to specify “</a:t>
            </a:r>
            <a:r>
              <a:rPr lang="en-US" altLang="ko-KR" sz="1400" b="1" dirty="0"/>
              <a:t>-- env</a:t>
            </a:r>
            <a:r>
              <a:rPr lang="en-US" altLang="ko-KR" sz="1400" dirty="0"/>
              <a:t>” to execute “</a:t>
            </a:r>
            <a:r>
              <a:rPr lang="en-US" altLang="ko-KR" sz="1400" b="1" dirty="0"/>
              <a:t>env</a:t>
            </a:r>
            <a:r>
              <a:rPr lang="en-US" altLang="ko-KR" sz="1400" dirty="0"/>
              <a:t>” command in a pod. The “</a:t>
            </a:r>
            <a:r>
              <a:rPr lang="en-US" altLang="ko-KR" sz="1400" b="1" dirty="0">
                <a:solidFill>
                  <a:srgbClr val="FF0000"/>
                </a:solidFill>
              </a:rPr>
              <a:t>--</a:t>
            </a:r>
            <a:r>
              <a:rPr lang="en-US" altLang="ko-KR" sz="1400" dirty="0"/>
              <a:t>” is required in this case.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E048327-3453-017B-7A03-6730290350F7}"/>
              </a:ext>
            </a:extLst>
          </p:cNvPr>
          <p:cNvGrpSpPr/>
          <p:nvPr/>
        </p:nvGrpSpPr>
        <p:grpSpPr>
          <a:xfrm>
            <a:off x="1270438" y="2089906"/>
            <a:ext cx="9651124" cy="2678187"/>
            <a:chOff x="1270438" y="1737634"/>
            <a:chExt cx="9651124" cy="2678187"/>
          </a:xfrm>
        </p:grpSpPr>
        <p:pic>
          <p:nvPicPr>
            <p:cNvPr id="8" name="그림 7">
              <a:extLst>
                <a:ext uri="{FF2B5EF4-FFF2-40B4-BE49-F238E27FC236}">
                  <a16:creationId xmlns:a16="http://schemas.microsoft.com/office/drawing/2014/main" id="{1F2CFC54-95E8-027C-CFE0-20779E48C1FD}"/>
                </a:ext>
              </a:extLst>
            </p:cNvPr>
            <p:cNvPicPr>
              <a:picLocks noChangeAspect="1"/>
            </p:cNvPicPr>
            <p:nvPr/>
          </p:nvPicPr>
          <p:blipFill>
            <a:blip r:embed="rId2"/>
            <a:stretch>
              <a:fillRect/>
            </a:stretch>
          </p:blipFill>
          <p:spPr>
            <a:xfrm>
              <a:off x="1270438" y="1737634"/>
              <a:ext cx="9651124" cy="2678187"/>
            </a:xfrm>
            <a:prstGeom prst="rect">
              <a:avLst/>
            </a:prstGeom>
          </p:spPr>
        </p:pic>
        <p:sp>
          <p:nvSpPr>
            <p:cNvPr id="9" name="직사각형 8">
              <a:extLst>
                <a:ext uri="{FF2B5EF4-FFF2-40B4-BE49-F238E27FC236}">
                  <a16:creationId xmlns:a16="http://schemas.microsoft.com/office/drawing/2014/main" id="{17D5C6F9-AB64-D02B-1146-6F55A44471B6}"/>
                </a:ext>
              </a:extLst>
            </p:cNvPr>
            <p:cNvSpPr/>
            <p:nvPr/>
          </p:nvSpPr>
          <p:spPr>
            <a:xfrm>
              <a:off x="5360276" y="2167759"/>
              <a:ext cx="2096814"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EAF1D97-42FF-DE12-5853-9B43D908EACE}"/>
                </a:ext>
              </a:extLst>
            </p:cNvPr>
            <p:cNvSpPr/>
            <p:nvPr/>
          </p:nvSpPr>
          <p:spPr>
            <a:xfrm>
              <a:off x="1317736" y="3011214"/>
              <a:ext cx="2310962" cy="2758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47681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Services(15/22)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Discovering Services through Environment Variables :</a:t>
            </a:r>
          </a:p>
          <a:p>
            <a:pPr lvl="1">
              <a:buFont typeface="Wingdings" panose="05000000000000000000" pitchFamily="2" charset="2"/>
              <a:buChar char="§"/>
            </a:pPr>
            <a:r>
              <a:rPr lang="en-US" altLang="ko-KR" sz="1400" b="1" dirty="0"/>
              <a:t>Two services are defined in your cluster: the </a:t>
            </a:r>
            <a:r>
              <a:rPr lang="en-US" altLang="ko-KR" sz="1400" b="1" dirty="0" err="1"/>
              <a:t>kubernetes</a:t>
            </a:r>
            <a:r>
              <a:rPr lang="en-US" altLang="ko-KR" sz="1400" b="1" dirty="0"/>
              <a:t> and the </a:t>
            </a:r>
            <a:r>
              <a:rPr lang="en-US" altLang="ko-KR" sz="1400" b="1" dirty="0" err="1"/>
              <a:t>kubia</a:t>
            </a:r>
            <a:r>
              <a:rPr lang="en-US" altLang="ko-KR" sz="1400" b="1" dirty="0"/>
              <a:t> service (you saw this earlier with the “</a:t>
            </a:r>
            <a:r>
              <a:rPr lang="en-US" altLang="ko-KR" sz="1400" b="1" dirty="0" err="1"/>
              <a:t>kubectl</a:t>
            </a:r>
            <a:r>
              <a:rPr lang="en-US" altLang="ko-KR" sz="1400" b="1" dirty="0"/>
              <a:t> get svc” command); consequently</a:t>
            </a:r>
            <a:r>
              <a:rPr lang="en-US" altLang="ko-KR" sz="1400" dirty="0"/>
              <a:t>, two sets of service-related environment variables are in the list. Among the variables that pertain to the “</a:t>
            </a:r>
            <a:r>
              <a:rPr lang="en-US" altLang="ko-KR" sz="1400" b="1" dirty="0" err="1"/>
              <a:t>kubia</a:t>
            </a:r>
            <a:r>
              <a:rPr lang="en-US" altLang="ko-KR" sz="1400" dirty="0"/>
              <a:t>” service you created at the beginning, you’ll see the “</a:t>
            </a:r>
            <a:r>
              <a:rPr lang="en-US" altLang="ko-KR" sz="1400" b="1" dirty="0"/>
              <a:t>KUBIA_SERVICE_HOST” </a:t>
            </a:r>
            <a:r>
              <a:rPr lang="en-US" altLang="ko-KR" sz="1400" dirty="0"/>
              <a:t>and the </a:t>
            </a:r>
            <a:r>
              <a:rPr lang="en-US" altLang="ko-KR" sz="1400" b="1" dirty="0"/>
              <a:t>“KUBIA_SERVICE_PORT”</a:t>
            </a:r>
            <a:r>
              <a:rPr lang="en-US" altLang="ko-KR" sz="1400" dirty="0"/>
              <a:t> environment variables, which hold </a:t>
            </a:r>
            <a:r>
              <a:rPr lang="en-US" altLang="ko-KR" sz="1400" b="1" dirty="0"/>
              <a:t>the IP address and port of the “</a:t>
            </a:r>
            <a:r>
              <a:rPr lang="en-US" altLang="ko-KR" sz="1400" b="1" dirty="0" err="1"/>
              <a:t>kubia</a:t>
            </a:r>
            <a:r>
              <a:rPr lang="en-US" altLang="ko-KR" sz="1400" b="1" dirty="0"/>
              <a:t>” service</a:t>
            </a:r>
            <a:r>
              <a:rPr lang="en-US" altLang="ko-KR" sz="1400" dirty="0"/>
              <a:t>, respectively.</a:t>
            </a:r>
          </a:p>
          <a:p>
            <a:pPr lvl="1">
              <a:buFont typeface="Wingdings" panose="05000000000000000000" pitchFamily="2" charset="2"/>
              <a:buChar char="§"/>
            </a:pPr>
            <a:r>
              <a:rPr lang="en-US" altLang="ko-KR" sz="1400" dirty="0"/>
              <a:t>Turning back to the frontend-backend example we saw before, when you have a frontend pod that requires the use of a backend database server pod, you can expose the backend pod through a service called “</a:t>
            </a:r>
            <a:r>
              <a:rPr lang="en-US" altLang="ko-KR" sz="1400" b="1" dirty="0"/>
              <a:t>backend-database</a:t>
            </a:r>
            <a:r>
              <a:rPr lang="en-US" altLang="ko-KR" sz="1400" dirty="0"/>
              <a:t>” and then have the frontend pod look up its IP address and port through the environment variables “</a:t>
            </a:r>
            <a:r>
              <a:rPr lang="en-US" altLang="ko-KR" sz="1400" b="1" dirty="0"/>
              <a:t>BACKEND_DATABASE_SERVICE_HOST</a:t>
            </a:r>
            <a:r>
              <a:rPr lang="en-US" altLang="ko-KR" sz="1400" dirty="0"/>
              <a:t>” and “</a:t>
            </a:r>
            <a:r>
              <a:rPr lang="en-US" altLang="ko-KR" sz="1400" b="1" dirty="0"/>
              <a:t>BACKEND_DATABASE_SERVICE_PORT</a:t>
            </a:r>
            <a:r>
              <a:rPr lang="en-US" altLang="ko-KR" sz="1400" dirty="0"/>
              <a:t>”.</a:t>
            </a:r>
          </a:p>
          <a:p>
            <a:pPr lvl="1">
              <a:buFont typeface="Wingdings" panose="05000000000000000000" pitchFamily="2" charset="2"/>
              <a:buChar char="§"/>
            </a:pPr>
            <a:r>
              <a:rPr lang="en-US" altLang="ko-KR" sz="1400" b="1" dirty="0"/>
              <a:t>NOTE : Dashes in the service name are converted to underscores and all letters are uppercased when the service name is used as the prefix in the environment variable’s name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7B83EA6-31EC-4BC6-33B4-3F1BCCCA1263}"/>
              </a:ext>
            </a:extLst>
          </p:cNvPr>
          <p:cNvPicPr>
            <a:picLocks noChangeAspect="1"/>
          </p:cNvPicPr>
          <p:nvPr/>
        </p:nvPicPr>
        <p:blipFill>
          <a:blip r:embed="rId2"/>
          <a:stretch>
            <a:fillRect/>
          </a:stretch>
        </p:blipFill>
        <p:spPr>
          <a:xfrm>
            <a:off x="4215531" y="3591718"/>
            <a:ext cx="3760938" cy="2654354"/>
          </a:xfrm>
          <a:prstGeom prst="rect">
            <a:avLst/>
          </a:prstGeom>
        </p:spPr>
      </p:pic>
    </p:spTree>
    <p:extLst>
      <p:ext uri="{BB962C8B-B14F-4D97-AF65-F5344CB8AC3E}">
        <p14:creationId xmlns:p14="http://schemas.microsoft.com/office/powerpoint/2010/main" val="360703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Services(16/22)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Discovering Services through DNS :</a:t>
            </a:r>
          </a:p>
          <a:p>
            <a:pPr lvl="1">
              <a:buFont typeface="Wingdings" panose="05000000000000000000" pitchFamily="2" charset="2"/>
              <a:buChar char="§"/>
            </a:pPr>
            <a:r>
              <a:rPr lang="en-US" altLang="ko-KR" sz="1400" b="1" dirty="0"/>
              <a:t>When you listed pods in the “</a:t>
            </a:r>
            <a:r>
              <a:rPr lang="en-US" altLang="ko-KR" sz="1400" b="1" dirty="0" err="1"/>
              <a:t>kube</a:t>
            </a:r>
            <a:r>
              <a:rPr lang="en-US" altLang="ko-KR" sz="1400" b="1" dirty="0"/>
              <a:t>-system” namespace, there are the pods called “</a:t>
            </a:r>
            <a:r>
              <a:rPr lang="en-US" altLang="ko-KR" sz="1400" b="1" dirty="0" err="1">
                <a:solidFill>
                  <a:srgbClr val="FF0000"/>
                </a:solidFill>
              </a:rPr>
              <a:t>coredns</a:t>
            </a:r>
            <a:r>
              <a:rPr lang="en-US" altLang="ko-KR" sz="1400" b="1" dirty="0"/>
              <a:t>”. The “</a:t>
            </a:r>
            <a:r>
              <a:rPr lang="en-US" altLang="ko-KR" sz="1400" b="1" dirty="0" err="1"/>
              <a:t>kube</a:t>
            </a:r>
            <a:r>
              <a:rPr lang="en-US" altLang="ko-KR" sz="1400" b="1" dirty="0"/>
              <a:t>-system namespace” also includes a corresponding service with the same name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t>
            </a:r>
            <a:r>
              <a:rPr lang="en-US" altLang="ko-KR" sz="1400" b="1" dirty="0" err="1">
                <a:solidFill>
                  <a:srgbClr val="FF0000"/>
                </a:solidFill>
              </a:rPr>
              <a:t>CoreDNS</a:t>
            </a:r>
            <a:r>
              <a:rPr lang="en-US" altLang="ko-KR" sz="1400" b="1" dirty="0"/>
              <a:t> Service is named “</a:t>
            </a:r>
            <a:r>
              <a:rPr lang="en-US" altLang="ko-KR" sz="1400" b="1" dirty="0" err="1">
                <a:solidFill>
                  <a:srgbClr val="FF0000"/>
                </a:solidFill>
              </a:rPr>
              <a:t>kube-dns</a:t>
            </a:r>
            <a:r>
              <a:rPr lang="en-US" altLang="ko-KR" sz="1400" b="1" dirty="0"/>
              <a:t>” in the “</a:t>
            </a:r>
            <a:r>
              <a:rPr lang="en-US" altLang="ko-KR" sz="1400" b="1" dirty="0">
                <a:solidFill>
                  <a:srgbClr val="FF0000"/>
                </a:solidFill>
              </a:rPr>
              <a:t>metadata.name</a:t>
            </a:r>
            <a:r>
              <a:rPr lang="en-US" altLang="ko-KR" sz="1400" b="1" dirty="0"/>
              <a:t>” field</a:t>
            </a:r>
            <a:r>
              <a:rPr lang="en-US" altLang="ko-KR" sz="1400" dirty="0"/>
              <a:t>. </a:t>
            </a:r>
            <a:r>
              <a:rPr lang="en-US" altLang="ko-KR" sz="1400" b="1" dirty="0"/>
              <a:t>The intent is to ensure greater interoperability with workloads that relied on the legacy “</a:t>
            </a:r>
            <a:r>
              <a:rPr lang="en-US" altLang="ko-KR" sz="1400" b="1" dirty="0" err="1">
                <a:solidFill>
                  <a:srgbClr val="FF0000"/>
                </a:solidFill>
              </a:rPr>
              <a:t>kube-dns</a:t>
            </a:r>
            <a:r>
              <a:rPr lang="en-US" altLang="ko-KR" sz="1400" b="1" dirty="0"/>
              <a:t>” Service name to resolve addresses internal to the cluster</a:t>
            </a:r>
            <a:r>
              <a:rPr lang="en-US" altLang="ko-KR" sz="1400" dirty="0"/>
              <a:t>. </a:t>
            </a:r>
            <a:r>
              <a:rPr lang="en-US" altLang="ko-KR" sz="1400" b="1" dirty="0"/>
              <a:t>Using a Service named “</a:t>
            </a:r>
            <a:r>
              <a:rPr lang="en-US" altLang="ko-KR" sz="1400" b="1" dirty="0" err="1"/>
              <a:t>kube-dns</a:t>
            </a:r>
            <a:r>
              <a:rPr lang="en-US" altLang="ko-KR" sz="1400" b="1" dirty="0"/>
              <a:t>” abstracts away the implementation detail of which DNS provider is running behind that common name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0" name="그림 9">
            <a:extLst>
              <a:ext uri="{FF2B5EF4-FFF2-40B4-BE49-F238E27FC236}">
                <a16:creationId xmlns:a16="http://schemas.microsoft.com/office/drawing/2014/main" id="{5825AACD-CD9E-9DB5-CDCA-C557E23CDCD0}"/>
              </a:ext>
            </a:extLst>
          </p:cNvPr>
          <p:cNvPicPr>
            <a:picLocks noChangeAspect="1"/>
          </p:cNvPicPr>
          <p:nvPr/>
        </p:nvPicPr>
        <p:blipFill>
          <a:blip r:embed="rId2"/>
          <a:stretch>
            <a:fillRect/>
          </a:stretch>
        </p:blipFill>
        <p:spPr>
          <a:xfrm>
            <a:off x="1388022" y="1669294"/>
            <a:ext cx="9415955" cy="1922424"/>
          </a:xfrm>
          <a:prstGeom prst="rect">
            <a:avLst/>
          </a:prstGeom>
        </p:spPr>
      </p:pic>
      <p:sp>
        <p:nvSpPr>
          <p:cNvPr id="11" name="직사각형 10">
            <a:extLst>
              <a:ext uri="{FF2B5EF4-FFF2-40B4-BE49-F238E27FC236}">
                <a16:creationId xmlns:a16="http://schemas.microsoft.com/office/drawing/2014/main" id="{FD5BFBAC-D259-E4E5-6B16-D4BD12494D2F}"/>
              </a:ext>
            </a:extLst>
          </p:cNvPr>
          <p:cNvSpPr/>
          <p:nvPr/>
        </p:nvSpPr>
        <p:spPr>
          <a:xfrm>
            <a:off x="5360276" y="2104698"/>
            <a:ext cx="2640724" cy="1734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D8B1E2D8-323D-EB47-A13D-62BFEB4CFE8F}"/>
              </a:ext>
            </a:extLst>
          </p:cNvPr>
          <p:cNvGrpSpPr/>
          <p:nvPr/>
        </p:nvGrpSpPr>
        <p:grpSpPr>
          <a:xfrm>
            <a:off x="1388022" y="4829540"/>
            <a:ext cx="9415955" cy="1490860"/>
            <a:chOff x="1388022" y="4829540"/>
            <a:chExt cx="9415955" cy="1490860"/>
          </a:xfrm>
        </p:grpSpPr>
        <p:pic>
          <p:nvPicPr>
            <p:cNvPr id="13" name="그림 12">
              <a:extLst>
                <a:ext uri="{FF2B5EF4-FFF2-40B4-BE49-F238E27FC236}">
                  <a16:creationId xmlns:a16="http://schemas.microsoft.com/office/drawing/2014/main" id="{2F197B7F-EBBA-AD33-4378-1817C3E3DC32}"/>
                </a:ext>
              </a:extLst>
            </p:cNvPr>
            <p:cNvPicPr>
              <a:picLocks noChangeAspect="1"/>
            </p:cNvPicPr>
            <p:nvPr/>
          </p:nvPicPr>
          <p:blipFill>
            <a:blip r:embed="rId3"/>
            <a:stretch>
              <a:fillRect/>
            </a:stretch>
          </p:blipFill>
          <p:spPr>
            <a:xfrm>
              <a:off x="1388022" y="4829540"/>
              <a:ext cx="9415955" cy="1490860"/>
            </a:xfrm>
            <a:prstGeom prst="rect">
              <a:avLst/>
            </a:prstGeom>
          </p:spPr>
        </p:pic>
        <p:sp>
          <p:nvSpPr>
            <p:cNvPr id="14" name="직사각형 13">
              <a:extLst>
                <a:ext uri="{FF2B5EF4-FFF2-40B4-BE49-F238E27FC236}">
                  <a16:creationId xmlns:a16="http://schemas.microsoft.com/office/drawing/2014/main" id="{992D5048-222F-A227-352D-3F603D5401BF}"/>
                </a:ext>
              </a:extLst>
            </p:cNvPr>
            <p:cNvSpPr/>
            <p:nvPr/>
          </p:nvSpPr>
          <p:spPr>
            <a:xfrm>
              <a:off x="5368159" y="5251770"/>
              <a:ext cx="2554014" cy="1952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E12FED62-6E13-05C0-347D-F756AC1796D1}"/>
                </a:ext>
              </a:extLst>
            </p:cNvPr>
            <p:cNvSpPr/>
            <p:nvPr/>
          </p:nvSpPr>
          <p:spPr>
            <a:xfrm>
              <a:off x="1474075" y="5549462"/>
              <a:ext cx="5044966" cy="134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2476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Services(17/22)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Discovering Services through DNS :</a:t>
            </a:r>
          </a:p>
          <a:p>
            <a:pPr lvl="1">
              <a:buFont typeface="Wingdings" panose="05000000000000000000" pitchFamily="2" charset="2"/>
              <a:buChar char="§"/>
            </a:pPr>
            <a:r>
              <a:rPr lang="en-US" altLang="ko-KR" sz="1400" b="1" dirty="0"/>
              <a:t>As the name suggests, the pod runs a </a:t>
            </a:r>
            <a:r>
              <a:rPr lang="en-US" altLang="ko-KR" sz="1400" b="1" dirty="0">
                <a:solidFill>
                  <a:srgbClr val="FF0000"/>
                </a:solidFill>
              </a:rPr>
              <a:t>DNS server</a:t>
            </a:r>
            <a:r>
              <a:rPr lang="en-US" altLang="ko-KR" sz="1400" b="1" dirty="0"/>
              <a:t>, which all other pods running in the cluster are automatically configured to use (Kubernetes does that by modifying each container’s “</a:t>
            </a:r>
            <a:r>
              <a:rPr lang="en-US" altLang="ko-KR" sz="1400" b="1" dirty="0">
                <a:solidFill>
                  <a:srgbClr val="FF0000"/>
                </a:solidFill>
              </a:rPr>
              <a:t>/</a:t>
            </a:r>
            <a:r>
              <a:rPr lang="en-US" altLang="ko-KR" sz="1400" b="1" dirty="0" err="1">
                <a:solidFill>
                  <a:srgbClr val="FF0000"/>
                </a:solidFill>
              </a:rPr>
              <a:t>etc</a:t>
            </a:r>
            <a:r>
              <a:rPr lang="en-US" altLang="ko-KR" sz="1400" b="1" dirty="0">
                <a:solidFill>
                  <a:srgbClr val="FF0000"/>
                </a:solidFill>
              </a:rPr>
              <a:t>/</a:t>
            </a:r>
            <a:r>
              <a:rPr lang="en-US" altLang="ko-KR" sz="1400" b="1" dirty="0" err="1">
                <a:solidFill>
                  <a:srgbClr val="FF0000"/>
                </a:solidFill>
              </a:rPr>
              <a:t>resolv.conf</a:t>
            </a:r>
            <a:r>
              <a:rPr lang="en-US" altLang="ko-KR" sz="1400" b="1" dirty="0"/>
              <a:t>” file)</a:t>
            </a:r>
            <a:r>
              <a:rPr lang="en-US" altLang="ko-KR" sz="1400" dirty="0"/>
              <a:t>. </a:t>
            </a:r>
            <a:r>
              <a:rPr lang="en-US" altLang="ko-KR" sz="1400" b="1" dirty="0"/>
              <a:t>Any DNS query performed by a process running in a pod will be handled by Kubernetes’ own DNS server</a:t>
            </a:r>
            <a:r>
              <a:rPr lang="en-US" altLang="ko-KR" sz="1400" dirty="0"/>
              <a:t>, </a:t>
            </a:r>
            <a:r>
              <a:rPr lang="en-US" altLang="ko-KR" sz="1400" b="1" dirty="0"/>
              <a:t>which knows </a:t>
            </a:r>
            <a:r>
              <a:rPr lang="en-US" altLang="ko-KR" sz="1400" b="1" dirty="0">
                <a:solidFill>
                  <a:srgbClr val="FF0000"/>
                </a:solidFill>
              </a:rPr>
              <a:t>all the services running in your system</a:t>
            </a:r>
            <a:r>
              <a:rPr lang="en-US" altLang="ko-KR" sz="1400" dirty="0"/>
              <a:t>.</a:t>
            </a:r>
          </a:p>
          <a:p>
            <a:pPr lvl="1">
              <a:buFont typeface="Wingdings" panose="05000000000000000000" pitchFamily="2" charset="2"/>
              <a:buChar char="§"/>
            </a:pPr>
            <a:r>
              <a:rPr lang="en-US" altLang="ko-KR" sz="1400" b="1" dirty="0"/>
              <a:t>NOTE : Whether a pod uses the internal DNS server or not is configurable through the “</a:t>
            </a:r>
            <a:r>
              <a:rPr lang="en-US" altLang="ko-KR" sz="1400" b="1" dirty="0" err="1">
                <a:solidFill>
                  <a:srgbClr val="FF0000"/>
                </a:solidFill>
              </a:rPr>
              <a:t>dnsPolicy</a:t>
            </a:r>
            <a:r>
              <a:rPr lang="en-US" altLang="ko-KR" sz="1400" b="1" dirty="0"/>
              <a:t>” property in each pod’s spec</a:t>
            </a:r>
            <a:r>
              <a:rPr lang="en-US" altLang="ko-KR" sz="1400" dirty="0"/>
              <a:t>. </a:t>
            </a:r>
            <a:r>
              <a:rPr lang="en-US" altLang="ko-KR" sz="1400" b="1" dirty="0"/>
              <a:t>Each service gets a DNS entry in the internal DNS server, and client pods that know the name of the service can access it through its “</a:t>
            </a:r>
            <a:r>
              <a:rPr lang="en-US" altLang="ko-KR" sz="1400" b="1" dirty="0">
                <a:solidFill>
                  <a:srgbClr val="FF0000"/>
                </a:solidFill>
              </a:rPr>
              <a:t>fully qualified domain name (FQDN)</a:t>
            </a:r>
            <a:r>
              <a:rPr lang="en-US" altLang="ko-KR" sz="1400" b="1" dirty="0"/>
              <a:t>”</a:t>
            </a:r>
            <a:r>
              <a:rPr lang="en-US" altLang="ko-KR" sz="1400" dirty="0"/>
              <a:t> instead of resorting to environment variables.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B40EDF2-0722-147F-4A16-54352A0CFEE1}"/>
              </a:ext>
            </a:extLst>
          </p:cNvPr>
          <p:cNvPicPr>
            <a:picLocks noChangeAspect="1"/>
          </p:cNvPicPr>
          <p:nvPr/>
        </p:nvPicPr>
        <p:blipFill>
          <a:blip r:embed="rId2"/>
          <a:stretch>
            <a:fillRect/>
          </a:stretch>
        </p:blipFill>
        <p:spPr>
          <a:xfrm>
            <a:off x="3095296" y="3133184"/>
            <a:ext cx="6001407" cy="2737239"/>
          </a:xfrm>
          <a:prstGeom prst="rect">
            <a:avLst/>
          </a:prstGeom>
        </p:spPr>
      </p:pic>
    </p:spTree>
    <p:extLst>
      <p:ext uri="{BB962C8B-B14F-4D97-AF65-F5344CB8AC3E}">
        <p14:creationId xmlns:p14="http://schemas.microsoft.com/office/powerpoint/2010/main" val="2708701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Services(18/22)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Connecting to the Service through It’s FQDN :</a:t>
            </a:r>
          </a:p>
          <a:p>
            <a:pPr lvl="1">
              <a:buFont typeface="Wingdings" panose="05000000000000000000" pitchFamily="2" charset="2"/>
              <a:buChar char="§"/>
            </a:pPr>
            <a:r>
              <a:rPr lang="en-US" altLang="ko-KR" sz="1400" dirty="0"/>
              <a:t>To revisit the frontend-backend example, a frontend pod can connect to the </a:t>
            </a:r>
            <a:r>
              <a:rPr lang="en-US" altLang="ko-KR" sz="1400" b="1" dirty="0"/>
              <a:t>backend-database service </a:t>
            </a:r>
            <a:r>
              <a:rPr lang="en-US" altLang="ko-KR" sz="1400" dirty="0"/>
              <a:t>by opening a connection to the following </a:t>
            </a:r>
            <a:r>
              <a:rPr lang="en-US" altLang="ko-KR" sz="1400" b="1" dirty="0"/>
              <a:t>FQDN</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“backend-database” corresponds to the service name</a:t>
            </a:r>
            <a:r>
              <a:rPr lang="en-US" altLang="ko-KR" sz="1400" dirty="0"/>
              <a:t>, default stands for the namespace the service is defined in, and “</a:t>
            </a:r>
            <a:r>
              <a:rPr lang="en-US" altLang="ko-KR" sz="1400" b="1" dirty="0" err="1"/>
              <a:t>svc.cluster.local</a:t>
            </a:r>
            <a:r>
              <a:rPr lang="en-US" altLang="ko-KR" sz="1400" dirty="0"/>
              <a:t>” is </a:t>
            </a:r>
            <a:r>
              <a:rPr lang="en-US" altLang="ko-KR" sz="1400" b="1" dirty="0"/>
              <a:t>a configurable cluster domain suffix used in all cluster local service names</a:t>
            </a:r>
            <a:r>
              <a:rPr lang="en-US" altLang="ko-KR" sz="1400" dirty="0"/>
              <a:t>.</a:t>
            </a:r>
          </a:p>
          <a:p>
            <a:pPr lvl="1">
              <a:buFont typeface="Wingdings" panose="05000000000000000000" pitchFamily="2" charset="2"/>
              <a:buChar char="§"/>
            </a:pPr>
            <a:r>
              <a:rPr lang="en-US" altLang="ko-KR" sz="1400" b="1" dirty="0"/>
              <a:t>NOTE : The client must still know the service’s port number</a:t>
            </a:r>
            <a:r>
              <a:rPr lang="en-US" altLang="ko-KR" sz="1400" dirty="0"/>
              <a:t>. </a:t>
            </a:r>
            <a:r>
              <a:rPr lang="en-US" altLang="ko-KR" sz="1400" b="1" dirty="0"/>
              <a:t>If the service is using a standard port (for example, 80 for HTTP or 5432 for Postgres), that shouldn’t be a problem</a:t>
            </a:r>
            <a:r>
              <a:rPr lang="en-US" altLang="ko-KR" sz="1400" dirty="0"/>
              <a:t>. </a:t>
            </a:r>
            <a:r>
              <a:rPr lang="en-US" altLang="ko-KR" sz="1400" b="1" dirty="0"/>
              <a:t>If not, the client can get the port number from the environment variable</a:t>
            </a:r>
            <a:r>
              <a:rPr lang="en-US" altLang="ko-KR" sz="1400" dirty="0"/>
              <a:t>.</a:t>
            </a:r>
          </a:p>
          <a:p>
            <a:pPr lvl="1">
              <a:buFont typeface="Wingdings" panose="05000000000000000000" pitchFamily="2" charset="2"/>
              <a:buChar char="§"/>
            </a:pPr>
            <a:r>
              <a:rPr lang="en-US" altLang="ko-KR" sz="1400" dirty="0"/>
              <a:t>Connecting to a service can be even simpler than that. </a:t>
            </a:r>
            <a:r>
              <a:rPr lang="en-US" altLang="ko-KR" sz="1400" b="1" dirty="0"/>
              <a:t>You can omit the “</a:t>
            </a:r>
            <a:r>
              <a:rPr lang="en-US" altLang="ko-KR" sz="1400" b="1" dirty="0" err="1"/>
              <a:t>svc.cluster.local</a:t>
            </a:r>
            <a:r>
              <a:rPr lang="en-US" altLang="ko-KR" sz="1400" b="1" dirty="0"/>
              <a:t>” suffix and even the namespace, when the frontend pod is in the same namespace as the database pod</a:t>
            </a:r>
            <a:r>
              <a:rPr lang="en-US" altLang="ko-KR" sz="1400" dirty="0"/>
              <a:t>. You can thus refer to the service simply as “backend-database”.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1F189C7-27DF-50E6-41C7-C61B5D2D0534}"/>
              </a:ext>
            </a:extLst>
          </p:cNvPr>
          <p:cNvSpPr txBox="1"/>
          <p:nvPr/>
        </p:nvSpPr>
        <p:spPr>
          <a:xfrm>
            <a:off x="3047343" y="1573190"/>
            <a:ext cx="6097314" cy="246221"/>
          </a:xfrm>
          <a:prstGeom prst="rect">
            <a:avLst/>
          </a:prstGeom>
          <a:noFill/>
          <a:ln>
            <a:solidFill>
              <a:schemeClr val="bg1">
                <a:lumMod val="50000"/>
              </a:schemeClr>
            </a:solidFill>
          </a:ln>
        </p:spPr>
        <p:txBody>
          <a:bodyPr wrap="square">
            <a:spAutoFit/>
          </a:bodyPr>
          <a:lstStyle/>
          <a:p>
            <a:r>
              <a:rPr lang="en-US" altLang="ko-KR" sz="1000" b="1" dirty="0"/>
              <a:t>backend-</a:t>
            </a:r>
            <a:r>
              <a:rPr lang="en-US" altLang="ko-KR" sz="1000" b="1" dirty="0" err="1"/>
              <a:t>database.</a:t>
            </a:r>
            <a:r>
              <a:rPr lang="en-US" altLang="ko-KR" sz="1000" b="1" dirty="0" err="1">
                <a:solidFill>
                  <a:srgbClr val="FF0000"/>
                </a:solidFill>
              </a:rPr>
              <a:t>default.svc.cluster.local</a:t>
            </a:r>
            <a:endParaRPr lang="en-US" altLang="ko-KR" sz="1000" b="1" dirty="0">
              <a:solidFill>
                <a:srgbClr val="FF0000"/>
              </a:solidFill>
            </a:endParaRPr>
          </a:p>
        </p:txBody>
      </p:sp>
      <p:pic>
        <p:nvPicPr>
          <p:cNvPr id="9" name="그림 8">
            <a:extLst>
              <a:ext uri="{FF2B5EF4-FFF2-40B4-BE49-F238E27FC236}">
                <a16:creationId xmlns:a16="http://schemas.microsoft.com/office/drawing/2014/main" id="{907381BC-698B-FEDC-4770-02962640E6B4}"/>
              </a:ext>
            </a:extLst>
          </p:cNvPr>
          <p:cNvPicPr>
            <a:picLocks noChangeAspect="1"/>
          </p:cNvPicPr>
          <p:nvPr/>
        </p:nvPicPr>
        <p:blipFill>
          <a:blip r:embed="rId2"/>
          <a:stretch>
            <a:fillRect/>
          </a:stretch>
        </p:blipFill>
        <p:spPr>
          <a:xfrm>
            <a:off x="4252666" y="3947344"/>
            <a:ext cx="3686667" cy="2321913"/>
          </a:xfrm>
          <a:prstGeom prst="rect">
            <a:avLst/>
          </a:prstGeom>
          <a:ln>
            <a:solidFill>
              <a:schemeClr val="bg1">
                <a:lumMod val="50000"/>
              </a:schemeClr>
            </a:solidFill>
          </a:ln>
        </p:spPr>
      </p:pic>
    </p:spTree>
    <p:extLst>
      <p:ext uri="{BB962C8B-B14F-4D97-AF65-F5344CB8AC3E}">
        <p14:creationId xmlns:p14="http://schemas.microsoft.com/office/powerpoint/2010/main" val="852867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Services(19/22)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Connecting to the Service through It’s FQDN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You’ll try to access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kubia</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service through its FQDN instead of its IP</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Again, you’ll need to do that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inside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 existing pod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You already know how to use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exec</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to run a single command in a pod’s container, but this time, instead of running the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curl</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command directly, you’ll run the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bash</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shell instead,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so you can then run multiple commands in the container(similar to “docker exec -it bash”)</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You can use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exec” command to run “bash” (or any other shell) inside a pod’s container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This way you’re free to explore the container as long as you want, without having to perform a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exec</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for every command you want to run.</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NOTE : The shell’s binary executable must be available in the container image for this to work</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use the shell properly, you need to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pass the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-it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”(interactive terminal) option to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exec” command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1C57624B-AE0C-17C4-F779-713913DEADF1}"/>
              </a:ext>
            </a:extLst>
          </p:cNvPr>
          <p:cNvGrpSpPr/>
          <p:nvPr/>
        </p:nvGrpSpPr>
        <p:grpSpPr>
          <a:xfrm>
            <a:off x="1290144" y="3429000"/>
            <a:ext cx="9611711" cy="2197283"/>
            <a:chOff x="1290143" y="3244334"/>
            <a:chExt cx="9611711" cy="2197283"/>
          </a:xfrm>
        </p:grpSpPr>
        <p:sp>
          <p:nvSpPr>
            <p:cNvPr id="8" name="TextBox 7">
              <a:extLst>
                <a:ext uri="{FF2B5EF4-FFF2-40B4-BE49-F238E27FC236}">
                  <a16:creationId xmlns:a16="http://schemas.microsoft.com/office/drawing/2014/main" id="{6617C4BB-C18E-0AE2-B4BC-3FF3CC2A5C87}"/>
                </a:ext>
              </a:extLst>
            </p:cNvPr>
            <p:cNvSpPr txBox="1"/>
            <p:nvPr/>
          </p:nvSpPr>
          <p:spPr>
            <a:xfrm>
              <a:off x="3048657" y="3244334"/>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-it </a:t>
              </a:r>
              <a:r>
                <a:rPr lang="en-US" altLang="ko-KR" sz="1000" b="1" dirty="0" err="1">
                  <a:solidFill>
                    <a:srgbClr val="FF0000"/>
                  </a:solidFill>
                </a:rPr>
                <a:t>kubia-xxxxx</a:t>
              </a:r>
              <a:r>
                <a:rPr lang="en-US" altLang="ko-KR" sz="1000" b="1" dirty="0">
                  <a:solidFill>
                    <a:srgbClr val="FF0000"/>
                  </a:solidFill>
                </a:rPr>
                <a:t> -- bash</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A0122B4E-707F-6754-8CB3-F003BDBB0D58}"/>
                </a:ext>
              </a:extLst>
            </p:cNvPr>
            <p:cNvSpPr/>
            <p:nvPr/>
          </p:nvSpPr>
          <p:spPr>
            <a:xfrm>
              <a:off x="5863458" y="3490555"/>
              <a:ext cx="465083" cy="30105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38912A36-8CC9-4007-BC1C-6E96E1B30CFE}"/>
                </a:ext>
              </a:extLst>
            </p:cNvPr>
            <p:cNvGrpSpPr/>
            <p:nvPr/>
          </p:nvGrpSpPr>
          <p:grpSpPr>
            <a:xfrm>
              <a:off x="1290143" y="3791607"/>
              <a:ext cx="9611711" cy="1650010"/>
              <a:chOff x="1290143" y="3791607"/>
              <a:chExt cx="9611711" cy="1650010"/>
            </a:xfrm>
          </p:grpSpPr>
          <p:pic>
            <p:nvPicPr>
              <p:cNvPr id="11" name="그림 10">
                <a:extLst>
                  <a:ext uri="{FF2B5EF4-FFF2-40B4-BE49-F238E27FC236}">
                    <a16:creationId xmlns:a16="http://schemas.microsoft.com/office/drawing/2014/main" id="{C2A3A39F-1E58-034D-6558-3D0CAAAB0D2B}"/>
                  </a:ext>
                </a:extLst>
              </p:cNvPr>
              <p:cNvPicPr>
                <a:picLocks noChangeAspect="1"/>
              </p:cNvPicPr>
              <p:nvPr/>
            </p:nvPicPr>
            <p:blipFill>
              <a:blip r:embed="rId2"/>
              <a:stretch>
                <a:fillRect/>
              </a:stretch>
            </p:blipFill>
            <p:spPr>
              <a:xfrm>
                <a:off x="1290143" y="3791607"/>
                <a:ext cx="9611711" cy="1650010"/>
              </a:xfrm>
              <a:prstGeom prst="rect">
                <a:avLst/>
              </a:prstGeom>
            </p:spPr>
          </p:pic>
          <p:sp>
            <p:nvSpPr>
              <p:cNvPr id="12" name="직사각형 11">
                <a:extLst>
                  <a:ext uri="{FF2B5EF4-FFF2-40B4-BE49-F238E27FC236}">
                    <a16:creationId xmlns:a16="http://schemas.microsoft.com/office/drawing/2014/main" id="{5188418E-61EB-716F-6F96-8DCF0FA059A9}"/>
                  </a:ext>
                </a:extLst>
              </p:cNvPr>
              <p:cNvSpPr/>
              <p:nvPr/>
            </p:nvSpPr>
            <p:spPr>
              <a:xfrm>
                <a:off x="1403131" y="4516821"/>
                <a:ext cx="3097924" cy="1497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2BF6A6F9-D6CB-886F-4EE3-37D3161FE850}"/>
                  </a:ext>
                </a:extLst>
              </p:cNvPr>
              <p:cNvSpPr/>
              <p:nvPr/>
            </p:nvSpPr>
            <p:spPr>
              <a:xfrm>
                <a:off x="5376041" y="4887311"/>
                <a:ext cx="2396359" cy="204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43334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Services(20/22)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Connecting to the Service through It’s FQDN :</a:t>
            </a:r>
          </a:p>
          <a:p>
            <a:pPr lvl="1">
              <a:buFont typeface="Wingdings" panose="05000000000000000000" pitchFamily="2" charset="2"/>
              <a:buChar char="§"/>
            </a:pPr>
            <a:r>
              <a:rPr lang="en-US" altLang="ko-KR" sz="1400" dirty="0"/>
              <a:t>You’re now inside the container. You can </a:t>
            </a:r>
            <a:r>
              <a:rPr lang="en-US" altLang="ko-KR" sz="1400" b="1" dirty="0"/>
              <a:t>use the ”curl” command to access the “</a:t>
            </a:r>
            <a:r>
              <a:rPr lang="en-US" altLang="ko-KR" sz="1400" b="1" dirty="0" err="1"/>
              <a:t>kubia</a:t>
            </a:r>
            <a:r>
              <a:rPr lang="en-US" altLang="ko-KR" sz="1400" b="1" dirty="0"/>
              <a:t>” service </a:t>
            </a:r>
            <a:r>
              <a:rPr lang="en-US" altLang="ko-KR" sz="1400" dirty="0"/>
              <a:t>in any of the following ways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Before you run the previous commands, you need to make it sure that the “</a:t>
            </a:r>
            <a:r>
              <a:rPr lang="en-US" altLang="ko-KR" sz="1400" b="1" dirty="0" err="1"/>
              <a:t>kubia</a:t>
            </a:r>
            <a:r>
              <a:rPr lang="en-US" altLang="ko-KR" sz="1400" b="1" dirty="0"/>
              <a:t>” service is created first. You can create the “</a:t>
            </a:r>
            <a:r>
              <a:rPr lang="en-US" altLang="ko-KR" sz="1400" b="1" dirty="0" err="1"/>
              <a:t>kubia</a:t>
            </a:r>
            <a:r>
              <a:rPr lang="en-US" altLang="ko-KR" sz="1400" b="1" dirty="0"/>
              <a:t>” service with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create -f </a:t>
            </a:r>
            <a:r>
              <a:rPr lang="en-US" altLang="ko-KR" sz="1400" b="1" dirty="0" err="1">
                <a:solidFill>
                  <a:srgbClr val="FF0000"/>
                </a:solidFill>
              </a:rPr>
              <a:t>kubia-svc.yaml</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9C017608-F747-0598-33E7-CBCFA7A4541A}"/>
              </a:ext>
            </a:extLst>
          </p:cNvPr>
          <p:cNvGrpSpPr/>
          <p:nvPr/>
        </p:nvGrpSpPr>
        <p:grpSpPr>
          <a:xfrm>
            <a:off x="1236307" y="1766850"/>
            <a:ext cx="9719385" cy="3116979"/>
            <a:chOff x="1236307" y="1656491"/>
            <a:chExt cx="9719385" cy="3116979"/>
          </a:xfrm>
        </p:grpSpPr>
        <p:grpSp>
          <p:nvGrpSpPr>
            <p:cNvPr id="12" name="그룹 11">
              <a:extLst>
                <a:ext uri="{FF2B5EF4-FFF2-40B4-BE49-F238E27FC236}">
                  <a16:creationId xmlns:a16="http://schemas.microsoft.com/office/drawing/2014/main" id="{991F6B45-01CE-7A23-E24A-737FAF2092F9}"/>
                </a:ext>
              </a:extLst>
            </p:cNvPr>
            <p:cNvGrpSpPr/>
            <p:nvPr/>
          </p:nvGrpSpPr>
          <p:grpSpPr>
            <a:xfrm>
              <a:off x="3047343" y="1656491"/>
              <a:ext cx="6097314" cy="853051"/>
              <a:chOff x="3047343" y="1694822"/>
              <a:chExt cx="6097314" cy="853051"/>
            </a:xfrm>
          </p:grpSpPr>
          <p:sp>
            <p:nvSpPr>
              <p:cNvPr id="8" name="TextBox 7">
                <a:extLst>
                  <a:ext uri="{FF2B5EF4-FFF2-40B4-BE49-F238E27FC236}">
                    <a16:creationId xmlns:a16="http://schemas.microsoft.com/office/drawing/2014/main" id="{F1F0E523-C5E9-98D8-8960-BAE114D60390}"/>
                  </a:ext>
                </a:extLst>
              </p:cNvPr>
              <p:cNvSpPr txBox="1"/>
              <p:nvPr/>
            </p:nvSpPr>
            <p:spPr>
              <a:xfrm>
                <a:off x="3047343" y="1694822"/>
                <a:ext cx="6097314" cy="553998"/>
              </a:xfrm>
              <a:prstGeom prst="rect">
                <a:avLst/>
              </a:prstGeom>
              <a:noFill/>
              <a:ln>
                <a:solidFill>
                  <a:schemeClr val="bg1">
                    <a:lumMod val="50000"/>
                  </a:schemeClr>
                </a:solidFill>
              </a:ln>
            </p:spPr>
            <p:txBody>
              <a:bodyPr wrap="square">
                <a:spAutoFit/>
              </a:bodyPr>
              <a:lstStyle/>
              <a:p>
                <a:r>
                  <a:rPr lang="it-IT" altLang="ko-KR" sz="1000" b="1" dirty="0"/>
                  <a:t>$ curl </a:t>
                </a:r>
                <a:r>
                  <a:rPr lang="it-IT" altLang="ko-KR" sz="1000" b="1" dirty="0">
                    <a:solidFill>
                      <a:srgbClr val="FF0000"/>
                    </a:solidFill>
                  </a:rPr>
                  <a:t>http://kubia.default.svc.cluster.local</a:t>
                </a:r>
              </a:p>
              <a:p>
                <a:r>
                  <a:rPr lang="it-IT" altLang="ko-KR" sz="1000" b="1" dirty="0"/>
                  <a:t>$ curl </a:t>
                </a:r>
                <a:r>
                  <a:rPr lang="it-IT" altLang="ko-KR" sz="1000" b="1" dirty="0">
                    <a:solidFill>
                      <a:srgbClr val="FF0000"/>
                    </a:solidFill>
                  </a:rPr>
                  <a:t>http://kubia.default</a:t>
                </a:r>
              </a:p>
              <a:p>
                <a:r>
                  <a:rPr lang="it-IT" altLang="ko-KR" sz="1000" b="1" dirty="0"/>
                  <a:t>$ curl </a:t>
                </a:r>
                <a:r>
                  <a:rPr lang="it-IT" altLang="ko-KR" sz="1000" b="1" dirty="0">
                    <a:solidFill>
                      <a:srgbClr val="FF0000"/>
                    </a:solidFill>
                  </a:rPr>
                  <a:t>http://kubia</a:t>
                </a:r>
              </a:p>
            </p:txBody>
          </p:sp>
          <p:sp>
            <p:nvSpPr>
              <p:cNvPr id="11" name="화살표: 아래쪽 10">
                <a:extLst>
                  <a:ext uri="{FF2B5EF4-FFF2-40B4-BE49-F238E27FC236}">
                    <a16:creationId xmlns:a16="http://schemas.microsoft.com/office/drawing/2014/main" id="{827959A3-1F77-2D41-1236-2BB37BD9A49D}"/>
                  </a:ext>
                </a:extLst>
              </p:cNvPr>
              <p:cNvSpPr/>
              <p:nvPr/>
            </p:nvSpPr>
            <p:spPr>
              <a:xfrm>
                <a:off x="5866743" y="2262212"/>
                <a:ext cx="458514" cy="2856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1" name="그룹 20">
              <a:extLst>
                <a:ext uri="{FF2B5EF4-FFF2-40B4-BE49-F238E27FC236}">
                  <a16:creationId xmlns:a16="http://schemas.microsoft.com/office/drawing/2014/main" id="{A386C62D-015F-A6EB-999C-4FA590A9D66E}"/>
                </a:ext>
              </a:extLst>
            </p:cNvPr>
            <p:cNvGrpSpPr/>
            <p:nvPr/>
          </p:nvGrpSpPr>
          <p:grpSpPr>
            <a:xfrm>
              <a:off x="1236307" y="2505614"/>
              <a:ext cx="9719385" cy="2267856"/>
              <a:chOff x="1236307" y="2505614"/>
              <a:chExt cx="9719385" cy="2267856"/>
            </a:xfrm>
          </p:grpSpPr>
          <p:pic>
            <p:nvPicPr>
              <p:cNvPr id="17" name="그림 16">
                <a:extLst>
                  <a:ext uri="{FF2B5EF4-FFF2-40B4-BE49-F238E27FC236}">
                    <a16:creationId xmlns:a16="http://schemas.microsoft.com/office/drawing/2014/main" id="{130F3F64-D776-B04E-DD1E-6B5C86EF06EC}"/>
                  </a:ext>
                </a:extLst>
              </p:cNvPr>
              <p:cNvPicPr>
                <a:picLocks noChangeAspect="1"/>
              </p:cNvPicPr>
              <p:nvPr/>
            </p:nvPicPr>
            <p:blipFill>
              <a:blip r:embed="rId2"/>
              <a:stretch>
                <a:fillRect/>
              </a:stretch>
            </p:blipFill>
            <p:spPr>
              <a:xfrm>
                <a:off x="1236307" y="2505614"/>
                <a:ext cx="9719385" cy="2267856"/>
              </a:xfrm>
              <a:prstGeom prst="rect">
                <a:avLst/>
              </a:prstGeom>
            </p:spPr>
          </p:pic>
          <p:sp>
            <p:nvSpPr>
              <p:cNvPr id="18" name="직사각형 17">
                <a:extLst>
                  <a:ext uri="{FF2B5EF4-FFF2-40B4-BE49-F238E27FC236}">
                    <a16:creationId xmlns:a16="http://schemas.microsoft.com/office/drawing/2014/main" id="{4D9E2674-27DA-3AA8-2A67-94CACE45C70E}"/>
                  </a:ext>
                </a:extLst>
              </p:cNvPr>
              <p:cNvSpPr/>
              <p:nvPr/>
            </p:nvSpPr>
            <p:spPr>
              <a:xfrm>
                <a:off x="2664367" y="3646899"/>
                <a:ext cx="2420012" cy="1543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0A30E3E2-1109-3829-F4EB-F6EE9DC83B41}"/>
                  </a:ext>
                </a:extLst>
              </p:cNvPr>
              <p:cNvSpPr/>
              <p:nvPr/>
            </p:nvSpPr>
            <p:spPr>
              <a:xfrm>
                <a:off x="2664367" y="3926258"/>
                <a:ext cx="1277012" cy="1543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50AC4276-E679-3ACF-FDF4-23F36C438DD5}"/>
                  </a:ext>
                </a:extLst>
              </p:cNvPr>
              <p:cNvSpPr/>
              <p:nvPr/>
            </p:nvSpPr>
            <p:spPr>
              <a:xfrm>
                <a:off x="2664367" y="4205588"/>
                <a:ext cx="756750" cy="1488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2547859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Services(21/22)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Connecting to the Service through It’s FQDN :</a:t>
            </a:r>
          </a:p>
          <a:p>
            <a:pPr lvl="1">
              <a:buFont typeface="Wingdings" panose="05000000000000000000" pitchFamily="2" charset="2"/>
              <a:buChar char="§"/>
            </a:pPr>
            <a:r>
              <a:rPr lang="en-US" altLang="ko-KR" sz="1400" b="1" dirty="0"/>
              <a:t>You can hit your service by using the service’s name as the hostname in the requested URL</a:t>
            </a:r>
            <a:r>
              <a:rPr lang="en-US" altLang="ko-KR" sz="1400" dirty="0"/>
              <a:t>. You can omit the namespace and the “</a:t>
            </a:r>
            <a:r>
              <a:rPr lang="en-US" altLang="ko-KR" sz="1400" b="1" dirty="0" err="1"/>
              <a:t>svc.cluster.local</a:t>
            </a:r>
            <a:r>
              <a:rPr lang="en-US" altLang="ko-KR" sz="1400" dirty="0"/>
              <a:t>” suffix because of how the DNS resolver inside each pod’s container is configured. </a:t>
            </a:r>
          </a:p>
          <a:p>
            <a:pPr lvl="1">
              <a:buFont typeface="Wingdings" panose="05000000000000000000" pitchFamily="2" charset="2"/>
              <a:buChar char="§"/>
            </a:pPr>
            <a:r>
              <a:rPr lang="en-US" altLang="ko-KR" sz="1400" dirty="0"/>
              <a:t>Look at the “</a:t>
            </a:r>
            <a:r>
              <a:rPr lang="en-US" altLang="ko-KR" sz="1400" b="1" dirty="0"/>
              <a:t>/</a:t>
            </a:r>
            <a:r>
              <a:rPr lang="en-US" altLang="ko-KR" sz="1400" b="1" dirty="0" err="1"/>
              <a:t>etc</a:t>
            </a:r>
            <a:r>
              <a:rPr lang="en-US" altLang="ko-KR" sz="1400" b="1" dirty="0"/>
              <a:t>/</a:t>
            </a:r>
            <a:r>
              <a:rPr lang="en-US" altLang="ko-KR" sz="1400" b="1" dirty="0" err="1"/>
              <a:t>resolv.conf</a:t>
            </a:r>
            <a:r>
              <a:rPr lang="en-US" altLang="ko-KR" sz="1400" dirty="0"/>
              <a:t>” file in the container and you’ll understand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7A9E6D2-01A7-D29A-5736-B897B0831190}"/>
              </a:ext>
            </a:extLst>
          </p:cNvPr>
          <p:cNvGrpSpPr/>
          <p:nvPr/>
        </p:nvGrpSpPr>
        <p:grpSpPr>
          <a:xfrm>
            <a:off x="1337441" y="2675561"/>
            <a:ext cx="9517117" cy="1506877"/>
            <a:chOff x="1337441" y="2290970"/>
            <a:chExt cx="9517117" cy="1506877"/>
          </a:xfrm>
        </p:grpSpPr>
        <p:pic>
          <p:nvPicPr>
            <p:cNvPr id="8" name="그림 7">
              <a:extLst>
                <a:ext uri="{FF2B5EF4-FFF2-40B4-BE49-F238E27FC236}">
                  <a16:creationId xmlns:a16="http://schemas.microsoft.com/office/drawing/2014/main" id="{18BCE222-B20A-676B-D8A2-F1997456F7AE}"/>
                </a:ext>
              </a:extLst>
            </p:cNvPr>
            <p:cNvPicPr>
              <a:picLocks noChangeAspect="1"/>
            </p:cNvPicPr>
            <p:nvPr/>
          </p:nvPicPr>
          <p:blipFill>
            <a:blip r:embed="rId2"/>
            <a:stretch>
              <a:fillRect/>
            </a:stretch>
          </p:blipFill>
          <p:spPr>
            <a:xfrm>
              <a:off x="1337441" y="2290970"/>
              <a:ext cx="9517117" cy="1506877"/>
            </a:xfrm>
            <a:prstGeom prst="rect">
              <a:avLst/>
            </a:prstGeom>
          </p:spPr>
        </p:pic>
        <p:sp>
          <p:nvSpPr>
            <p:cNvPr id="9" name="직사각형 8">
              <a:extLst>
                <a:ext uri="{FF2B5EF4-FFF2-40B4-BE49-F238E27FC236}">
                  <a16:creationId xmlns:a16="http://schemas.microsoft.com/office/drawing/2014/main" id="{D103AF2D-762B-C007-E871-3470B74AD765}"/>
                </a:ext>
              </a:extLst>
            </p:cNvPr>
            <p:cNvSpPr/>
            <p:nvPr/>
          </p:nvSpPr>
          <p:spPr>
            <a:xfrm>
              <a:off x="2695902" y="2719552"/>
              <a:ext cx="1411014"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81496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Services(22/22)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Understanding Why You Can’t Ping a Service IP :</a:t>
            </a:r>
          </a:p>
          <a:p>
            <a:pPr lvl="1">
              <a:buFont typeface="Wingdings" panose="05000000000000000000" pitchFamily="2" charset="2"/>
              <a:buChar char="§"/>
            </a:pPr>
            <a:r>
              <a:rPr lang="en-US" altLang="ko-KR" sz="1400" dirty="0"/>
              <a:t>One last thing before we move on. You know how to create services now, so you’ll soon create your own. But what if, for whatever reason, you can’t access your service? </a:t>
            </a:r>
            <a:r>
              <a:rPr lang="en-US" altLang="ko-KR" sz="1400" b="1" dirty="0"/>
              <a:t>You’ll probably try to figure out what’s wrong by entering an existing pod and trying to access the service like you did in the last example</a:t>
            </a:r>
            <a:r>
              <a:rPr lang="en-US" altLang="ko-KR" sz="1400" dirty="0"/>
              <a:t>. Then, if you still can’t access the service with a simple “</a:t>
            </a:r>
            <a:r>
              <a:rPr lang="en-US" altLang="ko-KR" sz="1400" b="1" dirty="0"/>
              <a:t>curl</a:t>
            </a:r>
            <a:r>
              <a:rPr lang="en-US" altLang="ko-KR" sz="1400" dirty="0"/>
              <a:t>” command, </a:t>
            </a:r>
            <a:r>
              <a:rPr lang="en-US" altLang="ko-KR" sz="1400" b="1" dirty="0"/>
              <a:t>maybe you’ll try to “ping” the service IP to see if it’s up</a:t>
            </a:r>
            <a:r>
              <a:rPr lang="en-US" altLang="ko-KR" sz="1400" dirty="0"/>
              <a:t>. Let’s try that now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In “</a:t>
            </a:r>
            <a:r>
              <a:rPr lang="en-US" altLang="ko-KR" sz="1400" b="1" dirty="0" err="1"/>
              <a:t>kubia</a:t>
            </a:r>
            <a:r>
              <a:rPr lang="en-US" altLang="ko-KR" sz="1400" b="1" dirty="0"/>
              <a:t>” container image don’t have “ping” command inside</a:t>
            </a:r>
            <a:r>
              <a:rPr lang="en-US" altLang="ko-KR" sz="1400" dirty="0"/>
              <a:t>. If you want to test the above command, you need to build another docker image, which is including “ping” command inside.</a:t>
            </a:r>
          </a:p>
          <a:p>
            <a:pPr lvl="1">
              <a:buFont typeface="Wingdings" panose="05000000000000000000" pitchFamily="2" charset="2"/>
              <a:buChar char="§"/>
            </a:pPr>
            <a:r>
              <a:rPr lang="en-US" altLang="ko-KR" sz="1400" b="1" dirty="0"/>
              <a:t>The “curl”-</a:t>
            </a:r>
            <a:r>
              <a:rPr lang="en-US" altLang="ko-KR" sz="1400" b="1" dirty="0" err="1"/>
              <a:t>ing</a:t>
            </a:r>
            <a:r>
              <a:rPr lang="en-US" altLang="ko-KR" sz="1400" b="1" dirty="0"/>
              <a:t> the service works, but “ping”-</a:t>
            </a:r>
            <a:r>
              <a:rPr lang="en-US" altLang="ko-KR" sz="1400" b="1" dirty="0" err="1"/>
              <a:t>ing</a:t>
            </a:r>
            <a:r>
              <a:rPr lang="en-US" altLang="ko-KR" sz="1400" b="1" dirty="0"/>
              <a:t> it doesn’t</a:t>
            </a:r>
            <a:r>
              <a:rPr lang="en-US" altLang="ko-KR" sz="1400" dirty="0"/>
              <a:t>. That’s because </a:t>
            </a:r>
            <a:r>
              <a:rPr lang="en-US" altLang="ko-KR" sz="1400" b="1" dirty="0">
                <a:solidFill>
                  <a:srgbClr val="FF0000"/>
                </a:solidFill>
              </a:rPr>
              <a:t>the service’s cluster IP is a virtual IP</a:t>
            </a:r>
            <a:r>
              <a:rPr lang="en-US" altLang="ko-KR" sz="1400" dirty="0"/>
              <a:t>, and </a:t>
            </a:r>
            <a:r>
              <a:rPr lang="en-US" altLang="ko-KR" sz="1400" b="1" dirty="0"/>
              <a:t>only has meaning when combined with the service port</a:t>
            </a:r>
            <a:r>
              <a:rPr lang="en-US" altLang="ko-KR" sz="1400" dirty="0"/>
              <a:t>. We will see it later.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7B4E125-06B2-837B-046F-6AEAB7A32CD3}"/>
              </a:ext>
            </a:extLst>
          </p:cNvPr>
          <p:cNvSpPr txBox="1"/>
          <p:nvPr/>
        </p:nvSpPr>
        <p:spPr>
          <a:xfrm>
            <a:off x="3047343" y="204615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a:solidFill>
                  <a:srgbClr val="FF0000"/>
                </a:solidFill>
              </a:rPr>
              <a:t>ping </a:t>
            </a:r>
            <a:r>
              <a:rPr lang="en-US" altLang="ko-KR" sz="1000" b="1" dirty="0" err="1">
                <a:solidFill>
                  <a:srgbClr val="FF0000"/>
                </a:solidFill>
              </a:rPr>
              <a:t>kubia</a:t>
            </a:r>
            <a:endParaRPr lang="en-US" altLang="ko-KR" sz="1000" b="1" dirty="0">
              <a:solidFill>
                <a:srgbClr val="FF0000"/>
              </a:solidFill>
            </a:endParaRPr>
          </a:p>
        </p:txBody>
      </p:sp>
      <p:grpSp>
        <p:nvGrpSpPr>
          <p:cNvPr id="12" name="그룹 11">
            <a:extLst>
              <a:ext uri="{FF2B5EF4-FFF2-40B4-BE49-F238E27FC236}">
                <a16:creationId xmlns:a16="http://schemas.microsoft.com/office/drawing/2014/main" id="{E986FA46-FF15-6A0F-0FBE-944DBBF7F009}"/>
              </a:ext>
            </a:extLst>
          </p:cNvPr>
          <p:cNvGrpSpPr/>
          <p:nvPr/>
        </p:nvGrpSpPr>
        <p:grpSpPr>
          <a:xfrm>
            <a:off x="3515710" y="3453523"/>
            <a:ext cx="5160580" cy="2902827"/>
            <a:chOff x="3515710" y="3453523"/>
            <a:chExt cx="5160580" cy="2902827"/>
          </a:xfrm>
        </p:grpSpPr>
        <p:pic>
          <p:nvPicPr>
            <p:cNvPr id="10" name="그림 9">
              <a:extLst>
                <a:ext uri="{FF2B5EF4-FFF2-40B4-BE49-F238E27FC236}">
                  <a16:creationId xmlns:a16="http://schemas.microsoft.com/office/drawing/2014/main" id="{A3C20BB7-C741-4BA9-6ADA-75511B5A5090}"/>
                </a:ext>
              </a:extLst>
            </p:cNvPr>
            <p:cNvPicPr>
              <a:picLocks noChangeAspect="1"/>
            </p:cNvPicPr>
            <p:nvPr/>
          </p:nvPicPr>
          <p:blipFill>
            <a:blip r:embed="rId2"/>
            <a:stretch>
              <a:fillRect/>
            </a:stretch>
          </p:blipFill>
          <p:spPr>
            <a:xfrm>
              <a:off x="3515710" y="3453523"/>
              <a:ext cx="5160580" cy="2902827"/>
            </a:xfrm>
            <a:prstGeom prst="rect">
              <a:avLst/>
            </a:prstGeom>
          </p:spPr>
        </p:pic>
        <p:sp>
          <p:nvSpPr>
            <p:cNvPr id="11" name="직사각형 10">
              <a:extLst>
                <a:ext uri="{FF2B5EF4-FFF2-40B4-BE49-F238E27FC236}">
                  <a16:creationId xmlns:a16="http://schemas.microsoft.com/office/drawing/2014/main" id="{3BD71E4F-3154-F46B-2403-D6CD90DDF35C}"/>
                </a:ext>
              </a:extLst>
            </p:cNvPr>
            <p:cNvSpPr/>
            <p:nvPr/>
          </p:nvSpPr>
          <p:spPr>
            <a:xfrm>
              <a:off x="5060731" y="5312980"/>
              <a:ext cx="819807" cy="2049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27045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Connecting to Services(1/7)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Service Endpoints :</a:t>
            </a:r>
          </a:p>
          <a:p>
            <a:pPr lvl="1">
              <a:buFont typeface="Wingdings" panose="05000000000000000000" pitchFamily="2" charset="2"/>
              <a:buChar char="§"/>
            </a:pPr>
            <a:r>
              <a:rPr lang="en-US" altLang="ko-KR" sz="1400" dirty="0"/>
              <a:t>Up to now, we’ve talked about services backed by </a:t>
            </a:r>
            <a:r>
              <a:rPr lang="en-US" altLang="ko-KR" sz="1400" b="1" dirty="0"/>
              <a:t>one or more pods running inside the cluster</a:t>
            </a:r>
            <a:r>
              <a:rPr lang="en-US" altLang="ko-KR" sz="1400" dirty="0"/>
              <a:t>. But cases exist when </a:t>
            </a:r>
            <a:r>
              <a:rPr lang="en-US" altLang="ko-KR" sz="1400" b="1" dirty="0"/>
              <a:t>you’d like to expose external services through the Kubernetes services feature</a:t>
            </a:r>
            <a:r>
              <a:rPr lang="en-US" altLang="ko-KR" sz="1400" dirty="0"/>
              <a:t>. </a:t>
            </a:r>
            <a:r>
              <a:rPr lang="en-US" altLang="ko-KR" sz="1400" b="1" dirty="0"/>
              <a:t>Instead of having the service redirect connections to pods in the cluster, you want it to </a:t>
            </a:r>
            <a:r>
              <a:rPr lang="en-US" altLang="ko-KR" sz="1400" b="1" dirty="0">
                <a:solidFill>
                  <a:srgbClr val="FF0000"/>
                </a:solidFill>
              </a:rPr>
              <a:t>redirect to external IP(s) and port(s)</a:t>
            </a:r>
            <a:r>
              <a:rPr lang="en-US" altLang="ko-KR" sz="1400" dirty="0"/>
              <a:t>. </a:t>
            </a:r>
          </a:p>
          <a:p>
            <a:pPr lvl="1">
              <a:buFont typeface="Wingdings" panose="05000000000000000000" pitchFamily="2" charset="2"/>
              <a:buChar char="§"/>
            </a:pPr>
            <a:r>
              <a:rPr lang="en-US" altLang="ko-KR" sz="1400" dirty="0"/>
              <a:t>This allows you to </a:t>
            </a:r>
            <a:r>
              <a:rPr lang="en-US" altLang="ko-KR" sz="1400" b="1" dirty="0"/>
              <a:t>take advantage of both </a:t>
            </a:r>
            <a:r>
              <a:rPr lang="en-US" altLang="ko-KR" sz="1400" b="1" dirty="0">
                <a:solidFill>
                  <a:srgbClr val="FF0000"/>
                </a:solidFill>
              </a:rPr>
              <a:t>service load balancing </a:t>
            </a:r>
            <a:r>
              <a:rPr lang="en-US" altLang="ko-KR" sz="1400" b="1" dirty="0"/>
              <a:t>and </a:t>
            </a:r>
            <a:r>
              <a:rPr lang="en-US" altLang="ko-KR" sz="1400" b="1" dirty="0">
                <a:solidFill>
                  <a:srgbClr val="FF0000"/>
                </a:solidFill>
              </a:rPr>
              <a:t>service discovery</a:t>
            </a:r>
            <a:r>
              <a:rPr lang="en-US" altLang="ko-KR" sz="1400" dirty="0"/>
              <a:t>. </a:t>
            </a:r>
            <a:r>
              <a:rPr lang="en-US" altLang="ko-KR" sz="1400" b="1" dirty="0"/>
              <a:t>Client pods running in the cluster can connect to the external service like they connect to internal services</a:t>
            </a:r>
            <a:r>
              <a:rPr lang="en-US" altLang="ko-KR" sz="1400" dirty="0"/>
              <a:t>.</a:t>
            </a:r>
          </a:p>
          <a:p>
            <a:pPr lvl="1">
              <a:buFont typeface="Wingdings" panose="05000000000000000000" pitchFamily="2" charset="2"/>
              <a:buChar char="§"/>
            </a:pPr>
            <a:r>
              <a:rPr lang="en-US" altLang="ko-KR" sz="1400" b="1" dirty="0"/>
              <a:t>Services don’t link to pods directly</a:t>
            </a:r>
            <a:r>
              <a:rPr lang="en-US" altLang="ko-KR" sz="1400" dirty="0"/>
              <a:t>. </a:t>
            </a:r>
            <a:r>
              <a:rPr lang="en-US" altLang="ko-KR" sz="1400" b="1" dirty="0"/>
              <a:t>Instead, a resource sits in between—the </a:t>
            </a:r>
            <a:r>
              <a:rPr lang="en-US" altLang="ko-KR" sz="1400" b="1" dirty="0">
                <a:solidFill>
                  <a:srgbClr val="FF0000"/>
                </a:solidFill>
              </a:rPr>
              <a:t>Endpoints</a:t>
            </a:r>
            <a:r>
              <a:rPr lang="en-US" altLang="ko-KR" sz="1400" b="1" dirty="0"/>
              <a:t> resource</a:t>
            </a:r>
            <a:r>
              <a:rPr lang="en-US" altLang="ko-KR" sz="1400" dirty="0"/>
              <a:t>. You may have already noticed endpoints if you used the “</a:t>
            </a:r>
            <a:r>
              <a:rPr lang="en-US" altLang="ko-KR" sz="1400" b="1" dirty="0" err="1"/>
              <a:t>kubectl</a:t>
            </a:r>
            <a:r>
              <a:rPr lang="en-US" altLang="ko-KR" sz="1400" b="1" dirty="0"/>
              <a:t> describe</a:t>
            </a:r>
            <a:r>
              <a:rPr lang="en-US" altLang="ko-KR" sz="1400" dirty="0"/>
              <a:t>” command on your service, as show in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14B31C43-C5D4-CE63-A3AE-0AC318D180CB}"/>
              </a:ext>
            </a:extLst>
          </p:cNvPr>
          <p:cNvGrpSpPr/>
          <p:nvPr/>
        </p:nvGrpSpPr>
        <p:grpSpPr>
          <a:xfrm>
            <a:off x="1581150" y="2864872"/>
            <a:ext cx="9029700" cy="3544158"/>
            <a:chOff x="1581150" y="2864872"/>
            <a:chExt cx="9029700" cy="3544158"/>
          </a:xfrm>
        </p:grpSpPr>
        <p:pic>
          <p:nvPicPr>
            <p:cNvPr id="8" name="그림 7">
              <a:extLst>
                <a:ext uri="{FF2B5EF4-FFF2-40B4-BE49-F238E27FC236}">
                  <a16:creationId xmlns:a16="http://schemas.microsoft.com/office/drawing/2014/main" id="{7FCF8318-185B-B2EE-C849-9CE9BCBB9678}"/>
                </a:ext>
              </a:extLst>
            </p:cNvPr>
            <p:cNvPicPr>
              <a:picLocks noChangeAspect="1"/>
            </p:cNvPicPr>
            <p:nvPr/>
          </p:nvPicPr>
          <p:blipFill>
            <a:blip r:embed="rId2"/>
            <a:stretch>
              <a:fillRect/>
            </a:stretch>
          </p:blipFill>
          <p:spPr>
            <a:xfrm>
              <a:off x="1581150" y="2864872"/>
              <a:ext cx="9029700" cy="3544158"/>
            </a:xfrm>
            <a:prstGeom prst="rect">
              <a:avLst/>
            </a:prstGeom>
          </p:spPr>
        </p:pic>
        <p:sp>
          <p:nvSpPr>
            <p:cNvPr id="9" name="직사각형 8">
              <a:extLst>
                <a:ext uri="{FF2B5EF4-FFF2-40B4-BE49-F238E27FC236}">
                  <a16:creationId xmlns:a16="http://schemas.microsoft.com/office/drawing/2014/main" id="{5EE2F71A-4997-4C60-8C36-55A974840BB4}"/>
                </a:ext>
              </a:extLst>
            </p:cNvPr>
            <p:cNvSpPr/>
            <p:nvPr/>
          </p:nvSpPr>
          <p:spPr>
            <a:xfrm>
              <a:off x="5433060" y="4023360"/>
              <a:ext cx="1668780" cy="1981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8DF8CAD5-BF72-A097-BBD7-81E9998B7754}"/>
                </a:ext>
              </a:extLst>
            </p:cNvPr>
            <p:cNvSpPr/>
            <p:nvPr/>
          </p:nvSpPr>
          <p:spPr>
            <a:xfrm>
              <a:off x="5433060" y="3253616"/>
              <a:ext cx="982980" cy="1981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09198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Connecting to Services(2/7)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Service Endpoints :</a:t>
            </a:r>
          </a:p>
          <a:p>
            <a:pPr lvl="1">
              <a:buFont typeface="Wingdings" panose="05000000000000000000" pitchFamily="2" charset="2"/>
              <a:buChar char="§"/>
            </a:pPr>
            <a:r>
              <a:rPr lang="en-US" altLang="ko-KR" sz="1400" b="1" dirty="0"/>
              <a:t>An </a:t>
            </a:r>
            <a:r>
              <a:rPr lang="en-US" altLang="ko-KR" sz="1400" b="1" dirty="0">
                <a:solidFill>
                  <a:srgbClr val="FF0000"/>
                </a:solidFill>
              </a:rPr>
              <a:t>Endpoints</a:t>
            </a:r>
            <a:r>
              <a:rPr lang="en-US" altLang="ko-KR" sz="1400" b="1" dirty="0"/>
              <a:t> resource (yes, plural) is </a:t>
            </a:r>
            <a:r>
              <a:rPr lang="en-US" altLang="ko-KR" sz="1400" b="1" dirty="0">
                <a:solidFill>
                  <a:srgbClr val="FF0000"/>
                </a:solidFill>
              </a:rPr>
              <a:t>a list of IP addresses and ports exposing a service</a:t>
            </a:r>
            <a:r>
              <a:rPr lang="en-US" altLang="ko-KR" sz="1400" dirty="0"/>
              <a:t>. </a:t>
            </a:r>
            <a:r>
              <a:rPr lang="en-US" altLang="ko-KR" sz="1400" b="1" dirty="0"/>
              <a:t>The Endpoints resource </a:t>
            </a:r>
            <a:r>
              <a:rPr lang="en-US" altLang="ko-KR" sz="1400" dirty="0"/>
              <a:t>is like any other Kubernetes resource, so you can display its basic info with “</a:t>
            </a:r>
            <a:r>
              <a:rPr lang="en-US" altLang="ko-KR" sz="1400" b="1" dirty="0" err="1"/>
              <a:t>kubectl</a:t>
            </a:r>
            <a:r>
              <a:rPr lang="en-US" altLang="ko-KR" sz="1400" b="1" dirty="0"/>
              <a:t> get</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Although the pod selector is defined in the service spec, it’s not used directly when redirecting incoming connections. Instead, </a:t>
            </a:r>
            <a:r>
              <a:rPr lang="en-US" altLang="ko-KR" sz="1400" b="1" dirty="0">
                <a:solidFill>
                  <a:srgbClr val="FF0000"/>
                </a:solidFill>
              </a:rPr>
              <a:t>the selector is used to build a list of IPs and ports</a:t>
            </a:r>
            <a:r>
              <a:rPr lang="en-US" altLang="ko-KR" sz="1400" b="1" dirty="0"/>
              <a:t>, which is then </a:t>
            </a:r>
            <a:r>
              <a:rPr lang="en-US" altLang="ko-KR" sz="1400" b="1" dirty="0">
                <a:solidFill>
                  <a:srgbClr val="FF0000"/>
                </a:solidFill>
              </a:rPr>
              <a:t>stored in the Endpoints resource</a:t>
            </a:r>
            <a:r>
              <a:rPr lang="en-US" altLang="ko-KR" sz="1400" dirty="0"/>
              <a:t>. When a client connects to a service, </a:t>
            </a:r>
            <a:r>
              <a:rPr lang="en-US" altLang="ko-KR" sz="1400" b="1" dirty="0"/>
              <a:t>the “</a:t>
            </a:r>
            <a:r>
              <a:rPr lang="en-US" altLang="ko-KR" sz="1400" b="1" dirty="0">
                <a:solidFill>
                  <a:srgbClr val="FF0000"/>
                </a:solidFill>
              </a:rPr>
              <a:t>service proxy</a:t>
            </a:r>
            <a:r>
              <a:rPr lang="en-US" altLang="ko-KR" sz="1400" b="1" dirty="0"/>
              <a:t>” selects one of those IP and port pairs and redirects the incoming connection to the server listening at that location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293E5B52-1ACB-1F9B-2395-E5C931C0B655}"/>
              </a:ext>
            </a:extLst>
          </p:cNvPr>
          <p:cNvGrpSpPr/>
          <p:nvPr/>
        </p:nvGrpSpPr>
        <p:grpSpPr>
          <a:xfrm>
            <a:off x="1432560" y="1796534"/>
            <a:ext cx="9326880" cy="2023979"/>
            <a:chOff x="1432560" y="1621274"/>
            <a:chExt cx="9326880" cy="2023979"/>
          </a:xfrm>
        </p:grpSpPr>
        <p:grpSp>
          <p:nvGrpSpPr>
            <p:cNvPr id="12" name="그룹 11">
              <a:extLst>
                <a:ext uri="{FF2B5EF4-FFF2-40B4-BE49-F238E27FC236}">
                  <a16:creationId xmlns:a16="http://schemas.microsoft.com/office/drawing/2014/main" id="{46F5BD31-CF74-B925-E7FA-DD4D04325838}"/>
                </a:ext>
              </a:extLst>
            </p:cNvPr>
            <p:cNvGrpSpPr/>
            <p:nvPr/>
          </p:nvGrpSpPr>
          <p:grpSpPr>
            <a:xfrm>
              <a:off x="1432560" y="1621274"/>
              <a:ext cx="9326880" cy="2023979"/>
              <a:chOff x="1432560" y="1621274"/>
              <a:chExt cx="9326880" cy="2023979"/>
            </a:xfrm>
          </p:grpSpPr>
          <p:sp>
            <p:nvSpPr>
              <p:cNvPr id="8" name="TextBox 7">
                <a:extLst>
                  <a:ext uri="{FF2B5EF4-FFF2-40B4-BE49-F238E27FC236}">
                    <a16:creationId xmlns:a16="http://schemas.microsoft.com/office/drawing/2014/main" id="{43C94E79-5081-424E-43B0-4BA5BD0A1281}"/>
                  </a:ext>
                </a:extLst>
              </p:cNvPr>
              <p:cNvSpPr txBox="1"/>
              <p:nvPr/>
            </p:nvSpPr>
            <p:spPr>
              <a:xfrm>
                <a:off x="3048000" y="1621274"/>
                <a:ext cx="609600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endpoints </a:t>
                </a:r>
                <a:r>
                  <a:rPr lang="en-US" altLang="ko-KR" sz="1000" b="1" dirty="0" err="1">
                    <a:solidFill>
                      <a:srgbClr val="FF0000"/>
                    </a:solidFill>
                  </a:rPr>
                  <a:t>kubia</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2A69AB07-3F84-3BA6-46E0-65D93450F303}"/>
                  </a:ext>
                </a:extLst>
              </p:cNvPr>
              <p:cNvSpPr/>
              <p:nvPr/>
            </p:nvSpPr>
            <p:spPr>
              <a:xfrm>
                <a:off x="5871210" y="1878937"/>
                <a:ext cx="449580" cy="28956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81A1A2E4-08EB-0686-57D7-975B51F796CF}"/>
                  </a:ext>
                </a:extLst>
              </p:cNvPr>
              <p:cNvPicPr>
                <a:picLocks noChangeAspect="1"/>
              </p:cNvPicPr>
              <p:nvPr/>
            </p:nvPicPr>
            <p:blipFill>
              <a:blip r:embed="rId2"/>
              <a:stretch>
                <a:fillRect/>
              </a:stretch>
            </p:blipFill>
            <p:spPr>
              <a:xfrm>
                <a:off x="1432560" y="2168497"/>
                <a:ext cx="9326880" cy="1476756"/>
              </a:xfrm>
              <a:prstGeom prst="rect">
                <a:avLst/>
              </a:prstGeom>
            </p:spPr>
          </p:pic>
        </p:grpSp>
        <p:sp>
          <p:nvSpPr>
            <p:cNvPr id="13" name="직사각형 12">
              <a:extLst>
                <a:ext uri="{FF2B5EF4-FFF2-40B4-BE49-F238E27FC236}">
                  <a16:creationId xmlns:a16="http://schemas.microsoft.com/office/drawing/2014/main" id="{C1E15848-F554-94A6-8344-C3ADD6B2D85C}"/>
                </a:ext>
              </a:extLst>
            </p:cNvPr>
            <p:cNvSpPr/>
            <p:nvPr/>
          </p:nvSpPr>
          <p:spPr>
            <a:xfrm>
              <a:off x="5394960" y="2575560"/>
              <a:ext cx="1752600" cy="1981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94159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Connecting to Services(3/7)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Manually Configuring Service Endpoints :</a:t>
            </a:r>
          </a:p>
          <a:p>
            <a:pPr lvl="1">
              <a:buFont typeface="Wingdings" panose="05000000000000000000" pitchFamily="2" charset="2"/>
              <a:buChar char="§"/>
            </a:pPr>
            <a:r>
              <a:rPr lang="en-US" altLang="ko-KR" sz="1400" b="1" dirty="0"/>
              <a:t>Having the service’s endpoints decoupled from the service allows them to be configured and updated manually</a:t>
            </a:r>
            <a:r>
              <a:rPr lang="en-US" altLang="ko-KR" sz="1400" dirty="0"/>
              <a:t>.</a:t>
            </a:r>
          </a:p>
          <a:p>
            <a:pPr lvl="1">
              <a:buFont typeface="Wingdings" panose="05000000000000000000" pitchFamily="2" charset="2"/>
              <a:buChar char="§"/>
            </a:pPr>
            <a:r>
              <a:rPr lang="en-US" altLang="ko-KR" sz="1400" b="1" dirty="0"/>
              <a:t>If you create a service without a pod selector, Kubernetes won’t even create the Endpoints resource (after all, without a selector, it can’t know which pods to include in the service)</a:t>
            </a:r>
            <a:r>
              <a:rPr lang="en-US" altLang="ko-KR" sz="1400" dirty="0"/>
              <a:t>. It’s up to you to create the Endpoints resource to specify the list of endpoints for the service.</a:t>
            </a:r>
          </a:p>
          <a:p>
            <a:pPr lvl="1">
              <a:buFont typeface="Wingdings" panose="05000000000000000000" pitchFamily="2" charset="2"/>
              <a:buChar char="§"/>
            </a:pPr>
            <a:r>
              <a:rPr lang="en-US" altLang="ko-KR" sz="1400" b="1" dirty="0"/>
              <a:t>To create a service with manually managed endpoints, you need to create both a </a:t>
            </a:r>
            <a:r>
              <a:rPr lang="en-US" altLang="ko-KR" sz="1400" b="1" dirty="0">
                <a:solidFill>
                  <a:srgbClr val="FF0000"/>
                </a:solidFill>
              </a:rPr>
              <a:t>Service</a:t>
            </a:r>
            <a:r>
              <a:rPr lang="en-US" altLang="ko-KR" sz="1400" b="1" dirty="0"/>
              <a:t> and an </a:t>
            </a:r>
            <a:r>
              <a:rPr lang="en-US" altLang="ko-KR" sz="1400" b="1" dirty="0">
                <a:solidFill>
                  <a:srgbClr val="FF0000"/>
                </a:solidFill>
              </a:rPr>
              <a:t>Endpoints</a:t>
            </a:r>
            <a:r>
              <a:rPr lang="en-US" altLang="ko-KR" sz="1400" b="1" dirty="0"/>
              <a:t> resource</a:t>
            </a:r>
            <a:r>
              <a:rPr lang="en-US" altLang="ko-KR" sz="1400" dirty="0"/>
              <a:t>.</a:t>
            </a:r>
          </a:p>
          <a:p>
            <a:pPr lvl="1">
              <a:buFont typeface="Wingdings" panose="05000000000000000000" pitchFamily="2" charset="2"/>
              <a:buChar char="§"/>
            </a:pPr>
            <a:r>
              <a:rPr lang="en-US" altLang="ko-KR" sz="1400" dirty="0"/>
              <a:t>You’ll first </a:t>
            </a:r>
            <a:r>
              <a:rPr lang="en-US" altLang="ko-KR" sz="1400" b="1" dirty="0"/>
              <a:t>create the YAML for the service itself</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You’re defining a service called “external-service” that will accept incoming connections on port 80</a:t>
            </a:r>
            <a:r>
              <a:rPr lang="en-US" altLang="ko-KR" sz="1400" dirty="0"/>
              <a:t>. </a:t>
            </a:r>
            <a:r>
              <a:rPr lang="en-US" altLang="ko-KR" sz="1400" b="1" dirty="0">
                <a:solidFill>
                  <a:srgbClr val="FF0000"/>
                </a:solidFill>
              </a:rPr>
              <a:t>You didn’t define a pod selector for the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A2F00467-8C0B-6C25-7CBF-D908ED4EB94B}"/>
              </a:ext>
            </a:extLst>
          </p:cNvPr>
          <p:cNvGrpSpPr/>
          <p:nvPr/>
        </p:nvGrpSpPr>
        <p:grpSpPr>
          <a:xfrm>
            <a:off x="1634490" y="2649558"/>
            <a:ext cx="8923020" cy="3042831"/>
            <a:chOff x="1634490" y="2649558"/>
            <a:chExt cx="8923020" cy="3042831"/>
          </a:xfrm>
        </p:grpSpPr>
        <p:grpSp>
          <p:nvGrpSpPr>
            <p:cNvPr id="14" name="그룹 13">
              <a:extLst>
                <a:ext uri="{FF2B5EF4-FFF2-40B4-BE49-F238E27FC236}">
                  <a16:creationId xmlns:a16="http://schemas.microsoft.com/office/drawing/2014/main" id="{2AAC974C-DFE6-63E3-9B74-7CFCD351EA80}"/>
                </a:ext>
              </a:extLst>
            </p:cNvPr>
            <p:cNvGrpSpPr/>
            <p:nvPr/>
          </p:nvGrpSpPr>
          <p:grpSpPr>
            <a:xfrm>
              <a:off x="1634490" y="2649558"/>
              <a:ext cx="8923020" cy="3042831"/>
              <a:chOff x="1634490" y="2779098"/>
              <a:chExt cx="8923020" cy="3042831"/>
            </a:xfrm>
          </p:grpSpPr>
          <p:grpSp>
            <p:nvGrpSpPr>
              <p:cNvPr id="10" name="그룹 9">
                <a:extLst>
                  <a:ext uri="{FF2B5EF4-FFF2-40B4-BE49-F238E27FC236}">
                    <a16:creationId xmlns:a16="http://schemas.microsoft.com/office/drawing/2014/main" id="{445E6DD9-371D-E1FF-943D-65E33C57B064}"/>
                  </a:ext>
                </a:extLst>
              </p:cNvPr>
              <p:cNvGrpSpPr/>
              <p:nvPr/>
            </p:nvGrpSpPr>
            <p:grpSpPr>
              <a:xfrm>
                <a:off x="3048000" y="2779098"/>
                <a:ext cx="6096000" cy="1169551"/>
                <a:chOff x="3048000" y="2779098"/>
                <a:chExt cx="6096000" cy="1169551"/>
              </a:xfrm>
            </p:grpSpPr>
            <p:sp>
              <p:nvSpPr>
                <p:cNvPr id="8" name="TextBox 7">
                  <a:extLst>
                    <a:ext uri="{FF2B5EF4-FFF2-40B4-BE49-F238E27FC236}">
                      <a16:creationId xmlns:a16="http://schemas.microsoft.com/office/drawing/2014/main" id="{E7A6910F-C1CD-954C-6135-8E685CBA382F}"/>
                    </a:ext>
                  </a:extLst>
                </p:cNvPr>
                <p:cNvSpPr txBox="1"/>
                <p:nvPr/>
              </p:nvSpPr>
              <p:spPr>
                <a:xfrm>
                  <a:off x="3048000" y="2779098"/>
                  <a:ext cx="6096000" cy="116955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a:solidFill>
                        <a:srgbClr val="FF0000"/>
                      </a:solidFill>
                    </a:rPr>
                    <a:t>external-service</a:t>
                  </a:r>
                </a:p>
                <a:p>
                  <a:r>
                    <a:rPr lang="en-US" altLang="ko-KR" sz="1000" b="1" dirty="0"/>
                    <a:t>spec:</a:t>
                  </a:r>
                </a:p>
                <a:p>
                  <a:r>
                    <a:rPr lang="en-US" altLang="ko-KR" sz="1000" b="1" dirty="0"/>
                    <a:t>  ports:</a:t>
                  </a:r>
                </a:p>
                <a:p>
                  <a:r>
                    <a:rPr lang="en-US" altLang="ko-KR" sz="1000" b="1" dirty="0"/>
                    <a:t>  - port: </a:t>
                  </a:r>
                  <a:r>
                    <a:rPr lang="en-US" altLang="ko-KR" sz="1000" b="1" dirty="0">
                      <a:solidFill>
                        <a:srgbClr val="FF0000"/>
                      </a:solidFill>
                    </a:rPr>
                    <a:t>80</a:t>
                  </a:r>
                </a:p>
              </p:txBody>
            </p:sp>
            <p:sp>
              <p:nvSpPr>
                <p:cNvPr id="9" name="TextBox 8">
                  <a:extLst>
                    <a:ext uri="{FF2B5EF4-FFF2-40B4-BE49-F238E27FC236}">
                      <a16:creationId xmlns:a16="http://schemas.microsoft.com/office/drawing/2014/main" id="{397B2436-4770-62FF-BE6F-9B34291BF889}"/>
                    </a:ext>
                  </a:extLst>
                </p:cNvPr>
                <p:cNvSpPr txBox="1"/>
                <p:nvPr/>
              </p:nvSpPr>
              <p:spPr>
                <a:xfrm>
                  <a:off x="7672122" y="2779098"/>
                  <a:ext cx="1471878" cy="246221"/>
                </a:xfrm>
                <a:prstGeom prst="rect">
                  <a:avLst/>
                </a:prstGeom>
                <a:noFill/>
              </p:spPr>
              <p:txBody>
                <a:bodyPr wrap="none" rtlCol="0">
                  <a:spAutoFit/>
                </a:bodyPr>
                <a:lstStyle/>
                <a:p>
                  <a:pPr algn="l"/>
                  <a:r>
                    <a:rPr lang="en-US" altLang="ko-KR" sz="1000" b="1" dirty="0"/>
                    <a:t>external-</a:t>
                  </a:r>
                  <a:r>
                    <a:rPr lang="en-US" altLang="ko-KR" sz="1000" b="1" dirty="0" err="1"/>
                    <a:t>service.yaml</a:t>
                  </a:r>
                  <a:endParaRPr lang="ko-KR" altLang="en-US" sz="1000" b="1" dirty="0"/>
                </a:p>
              </p:txBody>
            </p:sp>
          </p:grpSp>
          <p:pic>
            <p:nvPicPr>
              <p:cNvPr id="12" name="그림 11">
                <a:extLst>
                  <a:ext uri="{FF2B5EF4-FFF2-40B4-BE49-F238E27FC236}">
                    <a16:creationId xmlns:a16="http://schemas.microsoft.com/office/drawing/2014/main" id="{8CAAC712-D677-BF3B-C2FC-8F75D24577A5}"/>
                  </a:ext>
                </a:extLst>
              </p:cNvPr>
              <p:cNvPicPr>
                <a:picLocks noChangeAspect="1"/>
              </p:cNvPicPr>
              <p:nvPr/>
            </p:nvPicPr>
            <p:blipFill>
              <a:blip r:embed="rId2"/>
              <a:stretch>
                <a:fillRect/>
              </a:stretch>
            </p:blipFill>
            <p:spPr>
              <a:xfrm>
                <a:off x="1634490" y="4238093"/>
                <a:ext cx="8923020" cy="1583836"/>
              </a:xfrm>
              <a:prstGeom prst="rect">
                <a:avLst/>
              </a:prstGeom>
            </p:spPr>
          </p:pic>
          <p:sp>
            <p:nvSpPr>
              <p:cNvPr id="13" name="화살표: 아래쪽 12">
                <a:extLst>
                  <a:ext uri="{FF2B5EF4-FFF2-40B4-BE49-F238E27FC236}">
                    <a16:creationId xmlns:a16="http://schemas.microsoft.com/office/drawing/2014/main" id="{5BA5B600-D78B-0375-43D6-686D2FACF372}"/>
                  </a:ext>
                </a:extLst>
              </p:cNvPr>
              <p:cNvSpPr/>
              <p:nvPr/>
            </p:nvSpPr>
            <p:spPr>
              <a:xfrm>
                <a:off x="5890260" y="3948649"/>
                <a:ext cx="411480" cy="27186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B1B2946E-FB9E-3E4B-E579-5255B5DCA03F}"/>
                </a:ext>
              </a:extLst>
            </p:cNvPr>
            <p:cNvSpPr/>
            <p:nvPr/>
          </p:nvSpPr>
          <p:spPr>
            <a:xfrm>
              <a:off x="1691640" y="5036820"/>
              <a:ext cx="4663440" cy="1295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076350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Connecting to Services(4/7)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an Endpoints Resource for a Service without a Selector :</a:t>
            </a:r>
          </a:p>
          <a:p>
            <a:pPr lvl="1">
              <a:buFont typeface="Wingdings" panose="05000000000000000000" pitchFamily="2" charset="2"/>
              <a:buChar char="§"/>
            </a:pPr>
            <a:r>
              <a:rPr lang="en-US" altLang="ko-KR" sz="1400" b="1" dirty="0">
                <a:solidFill>
                  <a:srgbClr val="FF0000"/>
                </a:solidFill>
              </a:rPr>
              <a:t>Endpoints are a separate resource and not an attribute of a service</a:t>
            </a:r>
            <a:r>
              <a:rPr lang="en-US" altLang="ko-KR" sz="1400" dirty="0"/>
              <a:t>. </a:t>
            </a:r>
            <a:r>
              <a:rPr lang="en-US" altLang="ko-KR" sz="1400" b="1" dirty="0"/>
              <a:t>Because you created the service without a selector, the corresponding Endpoints resource hasn’t been created automatically</a:t>
            </a:r>
            <a:r>
              <a:rPr lang="en-US" altLang="ko-KR" sz="1400" dirty="0"/>
              <a:t>, so it’s up to you to create it. The following listing shows its YAML manifest.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0A20CC88-ACDB-E45B-9FC5-91F8332EF88D}"/>
              </a:ext>
            </a:extLst>
          </p:cNvPr>
          <p:cNvGrpSpPr/>
          <p:nvPr/>
        </p:nvGrpSpPr>
        <p:grpSpPr>
          <a:xfrm>
            <a:off x="1550670" y="2026384"/>
            <a:ext cx="9090660" cy="3550083"/>
            <a:chOff x="1550670" y="1797784"/>
            <a:chExt cx="9090660" cy="3550083"/>
          </a:xfrm>
        </p:grpSpPr>
        <p:grpSp>
          <p:nvGrpSpPr>
            <p:cNvPr id="14" name="그룹 13">
              <a:extLst>
                <a:ext uri="{FF2B5EF4-FFF2-40B4-BE49-F238E27FC236}">
                  <a16:creationId xmlns:a16="http://schemas.microsoft.com/office/drawing/2014/main" id="{81C2B1AD-2AD0-96F7-8F87-68C305475002}"/>
                </a:ext>
              </a:extLst>
            </p:cNvPr>
            <p:cNvGrpSpPr/>
            <p:nvPr/>
          </p:nvGrpSpPr>
          <p:grpSpPr>
            <a:xfrm>
              <a:off x="1550670" y="1797784"/>
              <a:ext cx="9090660" cy="3550083"/>
              <a:chOff x="1550670" y="1797784"/>
              <a:chExt cx="9090660" cy="3550083"/>
            </a:xfrm>
          </p:grpSpPr>
          <p:grpSp>
            <p:nvGrpSpPr>
              <p:cNvPr id="10" name="그룹 9">
                <a:extLst>
                  <a:ext uri="{FF2B5EF4-FFF2-40B4-BE49-F238E27FC236}">
                    <a16:creationId xmlns:a16="http://schemas.microsoft.com/office/drawing/2014/main" id="{E4EE64DA-DBB1-39D6-91F0-DB4278857E0C}"/>
                  </a:ext>
                </a:extLst>
              </p:cNvPr>
              <p:cNvGrpSpPr/>
              <p:nvPr/>
            </p:nvGrpSpPr>
            <p:grpSpPr>
              <a:xfrm>
                <a:off x="3048000" y="1797784"/>
                <a:ext cx="6096000" cy="1631216"/>
                <a:chOff x="3048000" y="1797784"/>
                <a:chExt cx="6096000" cy="1631216"/>
              </a:xfrm>
            </p:grpSpPr>
            <p:sp>
              <p:nvSpPr>
                <p:cNvPr id="8" name="TextBox 7">
                  <a:extLst>
                    <a:ext uri="{FF2B5EF4-FFF2-40B4-BE49-F238E27FC236}">
                      <a16:creationId xmlns:a16="http://schemas.microsoft.com/office/drawing/2014/main" id="{2A49EEE7-B17E-E916-31A9-61116445D670}"/>
                    </a:ext>
                  </a:extLst>
                </p:cNvPr>
                <p:cNvSpPr txBox="1"/>
                <p:nvPr/>
              </p:nvSpPr>
              <p:spPr>
                <a:xfrm>
                  <a:off x="3048000" y="1797784"/>
                  <a:ext cx="6096000"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Endpoints</a:t>
                  </a:r>
                </a:p>
                <a:p>
                  <a:r>
                    <a:rPr lang="en-US" altLang="ko-KR" sz="1000" b="1" dirty="0"/>
                    <a:t>metadata:</a:t>
                  </a:r>
                </a:p>
                <a:p>
                  <a:r>
                    <a:rPr lang="en-US" altLang="ko-KR" sz="1000" b="1" dirty="0"/>
                    <a:t>  name: </a:t>
                  </a:r>
                  <a:r>
                    <a:rPr lang="en-US" altLang="ko-KR" sz="1000" b="1" dirty="0">
                      <a:solidFill>
                        <a:srgbClr val="FF0000"/>
                      </a:solidFill>
                    </a:rPr>
                    <a:t>external-service</a:t>
                  </a:r>
                </a:p>
                <a:p>
                  <a:r>
                    <a:rPr lang="en-US" altLang="ko-KR" sz="1000" b="1" dirty="0"/>
                    <a:t>subsets:</a:t>
                  </a:r>
                </a:p>
                <a:p>
                  <a:r>
                    <a:rPr lang="en-US" altLang="ko-KR" sz="1000" b="1" dirty="0"/>
                    <a:t>- addresses:</a:t>
                  </a:r>
                </a:p>
                <a:p>
                  <a:r>
                    <a:rPr lang="en-US" altLang="ko-KR" sz="1000" b="1" dirty="0">
                      <a:solidFill>
                        <a:srgbClr val="FF0000"/>
                      </a:solidFill>
                    </a:rPr>
                    <a:t>  - </a:t>
                  </a:r>
                  <a:r>
                    <a:rPr lang="en-US" altLang="ko-KR" sz="1000" b="1" dirty="0" err="1">
                      <a:solidFill>
                        <a:srgbClr val="FF0000"/>
                      </a:solidFill>
                    </a:rPr>
                    <a:t>ip</a:t>
                  </a:r>
                  <a:r>
                    <a:rPr lang="en-US" altLang="ko-KR" sz="1000" b="1" dirty="0">
                      <a:solidFill>
                        <a:srgbClr val="FF0000"/>
                      </a:solidFill>
                    </a:rPr>
                    <a:t>: 11.11.11.11</a:t>
                  </a:r>
                </a:p>
                <a:p>
                  <a:r>
                    <a:rPr lang="en-US" altLang="ko-KR" sz="1000" b="1" dirty="0">
                      <a:solidFill>
                        <a:srgbClr val="FF0000"/>
                      </a:solidFill>
                    </a:rPr>
                    <a:t>  - </a:t>
                  </a:r>
                  <a:r>
                    <a:rPr lang="en-US" altLang="ko-KR" sz="1000" b="1" dirty="0" err="1">
                      <a:solidFill>
                        <a:srgbClr val="FF0000"/>
                      </a:solidFill>
                    </a:rPr>
                    <a:t>ip</a:t>
                  </a:r>
                  <a:r>
                    <a:rPr lang="en-US" altLang="ko-KR" sz="1000" b="1" dirty="0">
                      <a:solidFill>
                        <a:srgbClr val="FF0000"/>
                      </a:solidFill>
                    </a:rPr>
                    <a:t>: 22.22.22.22</a:t>
                  </a:r>
                </a:p>
                <a:p>
                  <a:r>
                    <a:rPr lang="en-US" altLang="ko-KR" sz="1000" b="1" dirty="0"/>
                    <a:t>  ports:</a:t>
                  </a:r>
                </a:p>
                <a:p>
                  <a:r>
                    <a:rPr lang="en-US" altLang="ko-KR" sz="1000" b="1" dirty="0"/>
                    <a:t>  </a:t>
                  </a:r>
                  <a:r>
                    <a:rPr lang="en-US" altLang="ko-KR" sz="1000" b="1" dirty="0">
                      <a:solidFill>
                        <a:srgbClr val="FF0000"/>
                      </a:solidFill>
                    </a:rPr>
                    <a:t>- port: 80</a:t>
                  </a:r>
                  <a:endParaRPr lang="ko-KR" altLang="en-US" sz="1000" b="1" dirty="0">
                    <a:solidFill>
                      <a:srgbClr val="FF0000"/>
                    </a:solidFill>
                  </a:endParaRPr>
                </a:p>
              </p:txBody>
            </p:sp>
            <p:sp>
              <p:nvSpPr>
                <p:cNvPr id="9" name="TextBox 8">
                  <a:extLst>
                    <a:ext uri="{FF2B5EF4-FFF2-40B4-BE49-F238E27FC236}">
                      <a16:creationId xmlns:a16="http://schemas.microsoft.com/office/drawing/2014/main" id="{52884390-EB0B-3B75-A8F4-6A22C211C989}"/>
                    </a:ext>
                  </a:extLst>
                </p:cNvPr>
                <p:cNvSpPr txBox="1"/>
                <p:nvPr/>
              </p:nvSpPr>
              <p:spPr>
                <a:xfrm>
                  <a:off x="7006876" y="1797784"/>
                  <a:ext cx="2137124" cy="246221"/>
                </a:xfrm>
                <a:prstGeom prst="rect">
                  <a:avLst/>
                </a:prstGeom>
                <a:noFill/>
              </p:spPr>
              <p:txBody>
                <a:bodyPr wrap="none" rtlCol="0">
                  <a:spAutoFit/>
                </a:bodyPr>
                <a:lstStyle/>
                <a:p>
                  <a:pPr algn="l"/>
                  <a:r>
                    <a:rPr lang="en-US" altLang="ko-KR" sz="1000" b="1" dirty="0"/>
                    <a:t>external-service-</a:t>
                  </a:r>
                  <a:r>
                    <a:rPr lang="en-US" altLang="ko-KR" sz="1000" b="1" dirty="0" err="1"/>
                    <a:t>endpoints.yaml</a:t>
                  </a:r>
                  <a:endParaRPr lang="ko-KR" altLang="en-US" sz="1000" b="1" dirty="0"/>
                </a:p>
              </p:txBody>
            </p:sp>
          </p:grpSp>
          <p:sp>
            <p:nvSpPr>
              <p:cNvPr id="11" name="화살표: 아래쪽 10">
                <a:extLst>
                  <a:ext uri="{FF2B5EF4-FFF2-40B4-BE49-F238E27FC236}">
                    <a16:creationId xmlns:a16="http://schemas.microsoft.com/office/drawing/2014/main" id="{F89DAF17-8809-E394-00D3-D9EDD14D6A67}"/>
                  </a:ext>
                </a:extLst>
              </p:cNvPr>
              <p:cNvSpPr/>
              <p:nvPr/>
            </p:nvSpPr>
            <p:spPr>
              <a:xfrm>
                <a:off x="5897880" y="3450748"/>
                <a:ext cx="396240" cy="28194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53454A1A-4106-3470-F729-C5FF697B4D71}"/>
                  </a:ext>
                </a:extLst>
              </p:cNvPr>
              <p:cNvPicPr>
                <a:picLocks noChangeAspect="1"/>
              </p:cNvPicPr>
              <p:nvPr/>
            </p:nvPicPr>
            <p:blipFill>
              <a:blip r:embed="rId2"/>
              <a:stretch>
                <a:fillRect/>
              </a:stretch>
            </p:blipFill>
            <p:spPr>
              <a:xfrm>
                <a:off x="1550670" y="3734275"/>
                <a:ext cx="9090660" cy="1613592"/>
              </a:xfrm>
              <a:prstGeom prst="rect">
                <a:avLst/>
              </a:prstGeom>
            </p:spPr>
          </p:pic>
        </p:grpSp>
        <p:sp>
          <p:nvSpPr>
            <p:cNvPr id="15" name="직사각형 14">
              <a:extLst>
                <a:ext uri="{FF2B5EF4-FFF2-40B4-BE49-F238E27FC236}">
                  <a16:creationId xmlns:a16="http://schemas.microsoft.com/office/drawing/2014/main" id="{B47DA030-DE62-1385-2AB1-095AADF70B7D}"/>
                </a:ext>
              </a:extLst>
            </p:cNvPr>
            <p:cNvSpPr/>
            <p:nvPr/>
          </p:nvSpPr>
          <p:spPr>
            <a:xfrm>
              <a:off x="5387340" y="4145280"/>
              <a:ext cx="3093720" cy="1752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D517C4D3-2F86-35BC-1E65-5E7B973C51F6}"/>
                </a:ext>
              </a:extLst>
            </p:cNvPr>
            <p:cNvSpPr/>
            <p:nvPr/>
          </p:nvSpPr>
          <p:spPr>
            <a:xfrm>
              <a:off x="1623060" y="4656295"/>
              <a:ext cx="4472940" cy="1752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70817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Connecting to Services(5/7)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an Endpoints Resource for a Service without a Selector :</a:t>
            </a:r>
          </a:p>
          <a:p>
            <a:pPr lvl="1">
              <a:buFont typeface="Wingdings" panose="05000000000000000000" pitchFamily="2" charset="2"/>
              <a:buChar char="§"/>
            </a:pPr>
            <a:r>
              <a:rPr lang="en-US" altLang="ko-KR" sz="1400" b="1" dirty="0"/>
              <a:t>The Endpoints object needs to have </a:t>
            </a:r>
            <a:r>
              <a:rPr lang="en-US" altLang="ko-KR" sz="1400" b="1" dirty="0">
                <a:solidFill>
                  <a:srgbClr val="FF0000"/>
                </a:solidFill>
              </a:rPr>
              <a:t>the same name as the service</a:t>
            </a:r>
            <a:r>
              <a:rPr lang="en-US" altLang="ko-KR" sz="1400" b="1" dirty="0"/>
              <a:t> and </a:t>
            </a:r>
            <a:r>
              <a:rPr lang="en-US" altLang="ko-KR" sz="1400" b="1" dirty="0">
                <a:solidFill>
                  <a:srgbClr val="FF0000"/>
                </a:solidFill>
              </a:rPr>
              <a:t>contain the list of target IP addresses and ports for the service</a:t>
            </a:r>
            <a:r>
              <a:rPr lang="en-US" altLang="ko-KR" sz="1400" dirty="0"/>
              <a:t>. </a:t>
            </a:r>
            <a:r>
              <a:rPr lang="en-US" altLang="ko-KR" sz="1400" b="1" dirty="0"/>
              <a:t>After both the Service and the Endpoints resource are posted to the server, the service is ready to be used like any regular service with a pod selector</a:t>
            </a:r>
            <a:r>
              <a:rPr lang="en-US" altLang="ko-KR" sz="1400" dirty="0"/>
              <a:t>. Containers created after the service is created will include the environment variables for the service, and all connections to its “</a:t>
            </a:r>
            <a:r>
              <a:rPr lang="en-US" altLang="ko-KR" sz="1400" dirty="0" err="1"/>
              <a:t>IP:port</a:t>
            </a:r>
            <a:r>
              <a:rPr lang="en-US" altLang="ko-KR" sz="1400" dirty="0"/>
              <a:t>” pair will be </a:t>
            </a:r>
            <a:r>
              <a:rPr lang="en-US" altLang="ko-KR" sz="1400" b="1" dirty="0"/>
              <a:t>load balanced between the service’s endpoints</a:t>
            </a:r>
            <a:r>
              <a:rPr lang="en-US" altLang="ko-KR" sz="1400" dirty="0"/>
              <a:t>.</a:t>
            </a:r>
          </a:p>
          <a:p>
            <a:pPr lvl="1">
              <a:buFont typeface="Wingdings" panose="05000000000000000000" pitchFamily="2" charset="2"/>
              <a:buChar char="§"/>
            </a:pPr>
            <a:r>
              <a:rPr lang="en-US" altLang="ko-KR" sz="1400" dirty="0"/>
              <a:t>The following figure shows three pods connecting to the service with external endpoints.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If you later decide to </a:t>
            </a:r>
            <a:r>
              <a:rPr lang="en-US" altLang="ko-KR" sz="1400" b="1" dirty="0">
                <a:solidFill>
                  <a:srgbClr val="FF0000"/>
                </a:solidFill>
              </a:rPr>
              <a:t>migrate the external service to pods </a:t>
            </a:r>
            <a:r>
              <a:rPr lang="en-US" altLang="ko-KR" sz="1400" b="1" dirty="0"/>
              <a:t>running inside Kubernetes, you can add a selector to the service</a:t>
            </a:r>
            <a:r>
              <a:rPr lang="en-US" altLang="ko-KR" sz="1400" dirty="0"/>
              <a:t>, </a:t>
            </a:r>
            <a:r>
              <a:rPr lang="en-US" altLang="ko-KR" sz="1400" b="1" dirty="0"/>
              <a:t>thereby making its Endpoints managed automatically</a:t>
            </a:r>
            <a:r>
              <a:rPr lang="en-US" altLang="ko-KR" sz="1400" dirty="0"/>
              <a:t>. The same is also true in reverse—</a:t>
            </a:r>
            <a:r>
              <a:rPr lang="en-US" altLang="ko-KR" sz="1400" b="1" dirty="0"/>
              <a:t>by removing the selector from a Service, Kubernetes stops updating its Endpoints</a:t>
            </a:r>
            <a:r>
              <a:rPr lang="en-US" altLang="ko-KR" sz="1400" dirty="0"/>
              <a:t>. This means </a:t>
            </a:r>
            <a:r>
              <a:rPr lang="en-US" altLang="ko-KR" sz="1400" b="1" dirty="0"/>
              <a:t>a service IP address can remain constant while the actual implementation of the service is changed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B408A74-8DCA-FEA0-6134-3E82664552DC}"/>
              </a:ext>
            </a:extLst>
          </p:cNvPr>
          <p:cNvGrpSpPr/>
          <p:nvPr/>
        </p:nvGrpSpPr>
        <p:grpSpPr>
          <a:xfrm>
            <a:off x="3681412" y="2791618"/>
            <a:ext cx="4829175" cy="1828800"/>
            <a:chOff x="3681412" y="2677318"/>
            <a:chExt cx="4829175" cy="1828800"/>
          </a:xfrm>
        </p:grpSpPr>
        <p:pic>
          <p:nvPicPr>
            <p:cNvPr id="8" name="그림 7">
              <a:extLst>
                <a:ext uri="{FF2B5EF4-FFF2-40B4-BE49-F238E27FC236}">
                  <a16:creationId xmlns:a16="http://schemas.microsoft.com/office/drawing/2014/main" id="{3574B94E-7B93-0B98-3E44-10A084DFC4C9}"/>
                </a:ext>
              </a:extLst>
            </p:cNvPr>
            <p:cNvPicPr>
              <a:picLocks noChangeAspect="1"/>
            </p:cNvPicPr>
            <p:nvPr/>
          </p:nvPicPr>
          <p:blipFill>
            <a:blip r:embed="rId2"/>
            <a:stretch>
              <a:fillRect/>
            </a:stretch>
          </p:blipFill>
          <p:spPr>
            <a:xfrm>
              <a:off x="3681412" y="2677318"/>
              <a:ext cx="4829175" cy="1828800"/>
            </a:xfrm>
            <a:prstGeom prst="rect">
              <a:avLst/>
            </a:prstGeom>
          </p:spPr>
        </p:pic>
        <p:sp>
          <p:nvSpPr>
            <p:cNvPr id="9" name="직사각형 8">
              <a:extLst>
                <a:ext uri="{FF2B5EF4-FFF2-40B4-BE49-F238E27FC236}">
                  <a16:creationId xmlns:a16="http://schemas.microsoft.com/office/drawing/2014/main" id="{2A3BC9DF-039F-9AB1-D75D-1B999AB2C1AA}"/>
                </a:ext>
              </a:extLst>
            </p:cNvPr>
            <p:cNvSpPr/>
            <p:nvPr/>
          </p:nvSpPr>
          <p:spPr>
            <a:xfrm>
              <a:off x="6949440" y="3413760"/>
              <a:ext cx="1181100" cy="7924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560328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Connecting to Services(6/7)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an Alias for an External Service :</a:t>
            </a:r>
          </a:p>
          <a:p>
            <a:pPr lvl="1">
              <a:buFont typeface="Wingdings" panose="05000000000000000000" pitchFamily="2" charset="2"/>
              <a:buChar char="§"/>
            </a:pPr>
            <a:r>
              <a:rPr lang="en-US" altLang="ko-KR" sz="1400" b="1" dirty="0"/>
              <a:t>Instead of exposing an external service by manually configuring the service’s Endpoints, a simpler method allows you to </a:t>
            </a:r>
            <a:r>
              <a:rPr lang="en-US" altLang="ko-KR" sz="1400" b="1" dirty="0">
                <a:solidFill>
                  <a:srgbClr val="FF0000"/>
                </a:solidFill>
              </a:rPr>
              <a:t>refer to an external service by its fully qualified domain name (FQDN)</a:t>
            </a:r>
            <a:r>
              <a:rPr lang="en-US" altLang="ko-KR" sz="1400" dirty="0"/>
              <a:t>.</a:t>
            </a:r>
          </a:p>
          <a:p>
            <a:pPr lvl="1">
              <a:buFont typeface="Wingdings" panose="05000000000000000000" pitchFamily="2" charset="2"/>
              <a:buChar char="§"/>
            </a:pPr>
            <a:r>
              <a:rPr lang="en-US" altLang="ko-KR" sz="1400" b="1" dirty="0"/>
              <a:t>To create a service that serves as an alias for an external service, you create a Service resource with the “type” field set to “</a:t>
            </a:r>
            <a:r>
              <a:rPr lang="en-US" altLang="ko-KR" sz="1400" b="1" dirty="0" err="1">
                <a:solidFill>
                  <a:srgbClr val="FF0000"/>
                </a:solidFill>
              </a:rPr>
              <a:t>ExternalName</a:t>
            </a:r>
            <a:r>
              <a:rPr lang="en-US" altLang="ko-KR" sz="1400" b="1" dirty="0"/>
              <a:t>”</a:t>
            </a:r>
            <a:r>
              <a:rPr lang="en-US" altLang="ko-KR" sz="1400" dirty="0"/>
              <a:t>. For example, let’s imagine </a:t>
            </a:r>
            <a:r>
              <a:rPr lang="en-US" altLang="ko-KR" sz="1400" b="1" dirty="0"/>
              <a:t>there’s a public API available at</a:t>
            </a:r>
            <a:r>
              <a:rPr lang="en-US" altLang="ko-KR" sz="1400" dirty="0"/>
              <a:t> “</a:t>
            </a:r>
            <a:r>
              <a:rPr lang="en-US" altLang="ko-KR" sz="1400" b="1" dirty="0"/>
              <a:t>api.somecompany.com</a:t>
            </a:r>
            <a:r>
              <a:rPr lang="en-US" altLang="ko-KR" sz="1400" dirty="0"/>
              <a:t>”. You can define </a:t>
            </a:r>
            <a:r>
              <a:rPr lang="en-US" altLang="ko-KR" sz="1400" b="1" dirty="0"/>
              <a:t>a service that points to it </a:t>
            </a:r>
            <a:r>
              <a:rPr lang="en-US" altLang="ko-KR" sz="1400" dirty="0"/>
              <a:t>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3486DF08-9DD8-ECDC-4CA5-D86D8CDCD1B8}"/>
              </a:ext>
            </a:extLst>
          </p:cNvPr>
          <p:cNvGrpSpPr/>
          <p:nvPr/>
        </p:nvGrpSpPr>
        <p:grpSpPr>
          <a:xfrm>
            <a:off x="1714500" y="2348917"/>
            <a:ext cx="8763000" cy="3847427"/>
            <a:chOff x="1714500" y="2348917"/>
            <a:chExt cx="8763000" cy="3847427"/>
          </a:xfrm>
        </p:grpSpPr>
        <p:grpSp>
          <p:nvGrpSpPr>
            <p:cNvPr id="14" name="그룹 13">
              <a:extLst>
                <a:ext uri="{FF2B5EF4-FFF2-40B4-BE49-F238E27FC236}">
                  <a16:creationId xmlns:a16="http://schemas.microsoft.com/office/drawing/2014/main" id="{B6528CFD-E299-B97E-9B6F-96D12ACA77F4}"/>
                </a:ext>
              </a:extLst>
            </p:cNvPr>
            <p:cNvGrpSpPr/>
            <p:nvPr/>
          </p:nvGrpSpPr>
          <p:grpSpPr>
            <a:xfrm>
              <a:off x="1714500" y="2348917"/>
              <a:ext cx="8763000" cy="3847427"/>
              <a:chOff x="1714500" y="2272717"/>
              <a:chExt cx="8763000" cy="3847427"/>
            </a:xfrm>
          </p:grpSpPr>
          <p:grpSp>
            <p:nvGrpSpPr>
              <p:cNvPr id="10" name="그룹 9">
                <a:extLst>
                  <a:ext uri="{FF2B5EF4-FFF2-40B4-BE49-F238E27FC236}">
                    <a16:creationId xmlns:a16="http://schemas.microsoft.com/office/drawing/2014/main" id="{D97359FC-A14D-90F3-1C3F-5C1A91481782}"/>
                  </a:ext>
                </a:extLst>
              </p:cNvPr>
              <p:cNvGrpSpPr/>
              <p:nvPr/>
            </p:nvGrpSpPr>
            <p:grpSpPr>
              <a:xfrm>
                <a:off x="3048000" y="2272717"/>
                <a:ext cx="6096000" cy="1477328"/>
                <a:chOff x="3048000" y="2272717"/>
                <a:chExt cx="6096000" cy="1477328"/>
              </a:xfrm>
            </p:grpSpPr>
            <p:sp>
              <p:nvSpPr>
                <p:cNvPr id="8" name="TextBox 7">
                  <a:extLst>
                    <a:ext uri="{FF2B5EF4-FFF2-40B4-BE49-F238E27FC236}">
                      <a16:creationId xmlns:a16="http://schemas.microsoft.com/office/drawing/2014/main" id="{CE6253A9-CF0F-B427-603C-303FB7DA580D}"/>
                    </a:ext>
                  </a:extLst>
                </p:cNvPr>
                <p:cNvSpPr txBox="1"/>
                <p:nvPr/>
              </p:nvSpPr>
              <p:spPr>
                <a:xfrm>
                  <a:off x="3048000" y="2272717"/>
                  <a:ext cx="6096000" cy="1477328"/>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a:solidFill>
                        <a:srgbClr val="FF0000"/>
                      </a:solidFill>
                    </a:rPr>
                    <a:t>external-service</a:t>
                  </a:r>
                </a:p>
                <a:p>
                  <a:r>
                    <a:rPr lang="en-US" altLang="ko-KR" sz="1000" b="1" dirty="0"/>
                    <a:t>spec:</a:t>
                  </a:r>
                </a:p>
                <a:p>
                  <a:r>
                    <a:rPr lang="en-US" altLang="ko-KR" sz="1000" b="1" dirty="0"/>
                    <a:t>  </a:t>
                  </a:r>
                  <a:r>
                    <a:rPr lang="en-US" altLang="ko-KR" sz="1000" b="1" dirty="0">
                      <a:solidFill>
                        <a:srgbClr val="FF0000"/>
                      </a:solidFill>
                    </a:rPr>
                    <a:t>type: </a:t>
                  </a:r>
                  <a:r>
                    <a:rPr lang="en-US" altLang="ko-KR" sz="1000" b="1" dirty="0" err="1">
                      <a:solidFill>
                        <a:srgbClr val="FF0000"/>
                      </a:solidFill>
                    </a:rPr>
                    <a:t>ExternalName</a:t>
                  </a:r>
                  <a:endParaRPr lang="en-US" altLang="ko-KR" sz="1000" b="1" dirty="0">
                    <a:solidFill>
                      <a:srgbClr val="FF0000"/>
                    </a:solidFill>
                  </a:endParaRPr>
                </a:p>
                <a:p>
                  <a:r>
                    <a:rPr lang="en-US" altLang="ko-KR" sz="1000" b="1" dirty="0"/>
                    <a:t>  </a:t>
                  </a:r>
                  <a:r>
                    <a:rPr lang="en-US" altLang="ko-KR" sz="1000" b="1" dirty="0" err="1"/>
                    <a:t>externalName</a:t>
                  </a:r>
                  <a:r>
                    <a:rPr lang="en-US" altLang="ko-KR" sz="1000" b="1" dirty="0"/>
                    <a:t>: </a:t>
                  </a:r>
                  <a:r>
                    <a:rPr lang="en-US" altLang="ko-KR" sz="1000" b="1" dirty="0">
                      <a:solidFill>
                        <a:srgbClr val="FF0000"/>
                      </a:solidFill>
                    </a:rPr>
                    <a:t>someapi.somecompany.com</a:t>
                  </a:r>
                </a:p>
                <a:p>
                  <a:r>
                    <a:rPr lang="en-US" altLang="ko-KR" sz="1000" b="1" dirty="0"/>
                    <a:t>  ports:</a:t>
                  </a:r>
                </a:p>
                <a:p>
                  <a:r>
                    <a:rPr lang="en-US" altLang="ko-KR" sz="1000" b="1" dirty="0"/>
                    <a:t>  - port: 80</a:t>
                  </a:r>
                  <a:endParaRPr lang="ko-KR" altLang="en-US" sz="1000" b="1" dirty="0"/>
                </a:p>
              </p:txBody>
            </p:sp>
            <p:sp>
              <p:nvSpPr>
                <p:cNvPr id="9" name="TextBox 8">
                  <a:extLst>
                    <a:ext uri="{FF2B5EF4-FFF2-40B4-BE49-F238E27FC236}">
                      <a16:creationId xmlns:a16="http://schemas.microsoft.com/office/drawing/2014/main" id="{A830CB63-D7C8-CCFB-C735-1EDBF5C95A7B}"/>
                    </a:ext>
                  </a:extLst>
                </p:cNvPr>
                <p:cNvSpPr txBox="1"/>
                <p:nvPr/>
              </p:nvSpPr>
              <p:spPr>
                <a:xfrm>
                  <a:off x="6790471" y="2272717"/>
                  <a:ext cx="2353529" cy="246221"/>
                </a:xfrm>
                <a:prstGeom prst="rect">
                  <a:avLst/>
                </a:prstGeom>
                <a:noFill/>
              </p:spPr>
              <p:txBody>
                <a:bodyPr wrap="none" rtlCol="0">
                  <a:spAutoFit/>
                </a:bodyPr>
                <a:lstStyle/>
                <a:p>
                  <a:pPr algn="l"/>
                  <a:r>
                    <a:rPr lang="en-US" altLang="ko-KR" sz="1000" b="1" dirty="0"/>
                    <a:t>external-service-</a:t>
                  </a:r>
                  <a:r>
                    <a:rPr lang="en-US" altLang="ko-KR" sz="1000" b="1" dirty="0" err="1"/>
                    <a:t>externalname.yaml</a:t>
                  </a:r>
                  <a:endParaRPr lang="ko-KR" altLang="en-US" sz="1000" b="1" dirty="0"/>
                </a:p>
              </p:txBody>
            </p:sp>
          </p:grpSp>
          <p:sp>
            <p:nvSpPr>
              <p:cNvPr id="11" name="화살표: 아래쪽 10">
                <a:extLst>
                  <a:ext uri="{FF2B5EF4-FFF2-40B4-BE49-F238E27FC236}">
                    <a16:creationId xmlns:a16="http://schemas.microsoft.com/office/drawing/2014/main" id="{3BB492B2-9092-D4D3-B939-54B3BA9357E0}"/>
                  </a:ext>
                </a:extLst>
              </p:cNvPr>
              <p:cNvSpPr/>
              <p:nvPr/>
            </p:nvSpPr>
            <p:spPr>
              <a:xfrm>
                <a:off x="5875020" y="3750045"/>
                <a:ext cx="441960" cy="2971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B28CC498-30C7-A23E-BB60-3AAF030EB42C}"/>
                  </a:ext>
                </a:extLst>
              </p:cNvPr>
              <p:cNvPicPr>
                <a:picLocks noChangeAspect="1"/>
              </p:cNvPicPr>
              <p:nvPr/>
            </p:nvPicPr>
            <p:blipFill>
              <a:blip r:embed="rId2"/>
              <a:stretch>
                <a:fillRect/>
              </a:stretch>
            </p:blipFill>
            <p:spPr>
              <a:xfrm>
                <a:off x="1714500" y="4038931"/>
                <a:ext cx="8763000" cy="2081213"/>
              </a:xfrm>
              <a:prstGeom prst="rect">
                <a:avLst/>
              </a:prstGeom>
            </p:spPr>
          </p:pic>
        </p:grpSp>
        <p:sp>
          <p:nvSpPr>
            <p:cNvPr id="15" name="직사각형 14">
              <a:extLst>
                <a:ext uri="{FF2B5EF4-FFF2-40B4-BE49-F238E27FC236}">
                  <a16:creationId xmlns:a16="http://schemas.microsoft.com/office/drawing/2014/main" id="{EB326167-EFBE-1D7D-9AB0-0CEEF8AC2579}"/>
                </a:ext>
              </a:extLst>
            </p:cNvPr>
            <p:cNvSpPr/>
            <p:nvPr/>
          </p:nvSpPr>
          <p:spPr>
            <a:xfrm>
              <a:off x="5448300" y="4770120"/>
              <a:ext cx="2346960" cy="1447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0E1AC941-3416-8A30-E68A-255E64EB0BCE}"/>
                </a:ext>
              </a:extLst>
            </p:cNvPr>
            <p:cNvSpPr/>
            <p:nvPr/>
          </p:nvSpPr>
          <p:spPr>
            <a:xfrm>
              <a:off x="5448300" y="5022544"/>
              <a:ext cx="3070860" cy="1447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51F4FA2-7CBF-DCA7-25F2-AA20E2F02ACD}"/>
                </a:ext>
              </a:extLst>
            </p:cNvPr>
            <p:cNvSpPr/>
            <p:nvPr/>
          </p:nvSpPr>
          <p:spPr>
            <a:xfrm>
              <a:off x="1760220" y="5517170"/>
              <a:ext cx="5387340" cy="1445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83580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Connecting to Services(7/7)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an Alias for an External Service :</a:t>
            </a:r>
          </a:p>
          <a:p>
            <a:pPr lvl="1">
              <a:buFont typeface="Wingdings" panose="05000000000000000000" pitchFamily="2" charset="2"/>
              <a:buChar char="§"/>
            </a:pPr>
            <a:r>
              <a:rPr lang="en-US" altLang="ko-KR" sz="1400" dirty="0"/>
              <a:t>After the service is created, pods can connect to the external service through the “</a:t>
            </a:r>
            <a:r>
              <a:rPr lang="en-US" altLang="ko-KR" sz="1400" b="1" dirty="0"/>
              <a:t>external-</a:t>
            </a:r>
            <a:r>
              <a:rPr lang="en-US" altLang="ko-KR" sz="1400" b="1" dirty="0" err="1"/>
              <a:t>service.default.svc.cluster.local</a:t>
            </a:r>
            <a:r>
              <a:rPr lang="en-US" altLang="ko-KR" sz="1400" b="1" dirty="0"/>
              <a:t>”</a:t>
            </a:r>
            <a:r>
              <a:rPr lang="en-US" altLang="ko-KR" sz="1400" dirty="0"/>
              <a:t> domain name (or even “</a:t>
            </a:r>
            <a:r>
              <a:rPr lang="en-US" altLang="ko-KR" sz="1400" b="1" dirty="0"/>
              <a:t>external-service”</a:t>
            </a:r>
            <a:r>
              <a:rPr lang="en-US" altLang="ko-KR" sz="1400" dirty="0"/>
              <a:t>) </a:t>
            </a:r>
            <a:r>
              <a:rPr lang="en-US" altLang="ko-KR" sz="1400" b="1" dirty="0"/>
              <a:t>instead of using the service’s actual FQDN</a:t>
            </a:r>
            <a:r>
              <a:rPr lang="en-US" altLang="ko-KR" sz="1400" dirty="0"/>
              <a:t>. </a:t>
            </a:r>
          </a:p>
          <a:p>
            <a:pPr lvl="1">
              <a:buFont typeface="Wingdings" panose="05000000000000000000" pitchFamily="2" charset="2"/>
              <a:buChar char="§"/>
            </a:pPr>
            <a:r>
              <a:rPr lang="en-US" altLang="ko-KR" sz="1400" b="1" dirty="0"/>
              <a:t>This hides the actual service name and its location from pods consuming the service, allowing you to modify the service definition and point it to a different service any time later, by only changing the </a:t>
            </a:r>
            <a:r>
              <a:rPr lang="en-US" altLang="ko-KR" sz="1400" b="1" dirty="0" err="1"/>
              <a:t>externalName</a:t>
            </a:r>
            <a:r>
              <a:rPr lang="en-US" altLang="ko-KR" sz="1400" b="1" dirty="0"/>
              <a:t> attribute or by changing the type back to </a:t>
            </a:r>
            <a:r>
              <a:rPr lang="en-US" altLang="ko-KR" sz="1400" b="1" dirty="0" err="1"/>
              <a:t>ClusterIP</a:t>
            </a:r>
            <a:r>
              <a:rPr lang="en-US" altLang="ko-KR" sz="1400" b="1" dirty="0"/>
              <a:t> and creating an Endpoints object for the service—either manually or by specifying a label selector on the service and having it created automatically</a:t>
            </a:r>
            <a:r>
              <a:rPr lang="en-US" altLang="ko-KR" sz="1400" dirty="0"/>
              <a:t>.</a:t>
            </a:r>
          </a:p>
          <a:p>
            <a:pPr lvl="1">
              <a:buFont typeface="Wingdings" panose="05000000000000000000" pitchFamily="2" charset="2"/>
              <a:buChar char="§"/>
            </a:pPr>
            <a:r>
              <a:rPr lang="en-US" altLang="ko-KR" sz="1400" b="1" dirty="0"/>
              <a:t>“</a:t>
            </a:r>
            <a:r>
              <a:rPr lang="en-US" altLang="ko-KR" sz="1400" b="1" dirty="0" err="1"/>
              <a:t>ExternalName</a:t>
            </a:r>
            <a:r>
              <a:rPr lang="en-US" altLang="ko-KR" sz="1400" b="1" dirty="0"/>
              <a:t>” services are implemented solely at the DNS level—a simple “</a:t>
            </a:r>
            <a:r>
              <a:rPr lang="en-US" altLang="ko-KR" sz="1400" b="1" dirty="0">
                <a:solidFill>
                  <a:srgbClr val="FF0000"/>
                </a:solidFill>
              </a:rPr>
              <a:t>CNAME DNS</a:t>
            </a:r>
            <a:r>
              <a:rPr lang="en-US" altLang="ko-KR" sz="1400" b="1" dirty="0"/>
              <a:t>” record is created for the service</a:t>
            </a:r>
            <a:r>
              <a:rPr lang="en-US" altLang="ko-KR" sz="1400" dirty="0"/>
              <a:t>. </a:t>
            </a:r>
            <a:r>
              <a:rPr lang="en-US" altLang="ko-KR" sz="1400" b="1" dirty="0"/>
              <a:t>Therefore, clients connecting to the service will connect to the external service directly, bypassing the service proxy completely</a:t>
            </a:r>
            <a:r>
              <a:rPr lang="en-US" altLang="ko-KR" sz="1400" dirty="0"/>
              <a:t>. For this reason, </a:t>
            </a:r>
            <a:r>
              <a:rPr lang="en-US" altLang="ko-KR" sz="1400" b="1" dirty="0"/>
              <a:t>these types of services don’t even get a cluster IP</a:t>
            </a:r>
            <a:r>
              <a:rPr lang="en-US" altLang="ko-KR" sz="1400" dirty="0"/>
              <a:t>. </a:t>
            </a:r>
          </a:p>
          <a:p>
            <a:pPr lvl="1">
              <a:buFont typeface="Wingdings" panose="05000000000000000000" pitchFamily="2" charset="2"/>
              <a:buChar char="§"/>
            </a:pPr>
            <a:r>
              <a:rPr lang="en-US" altLang="ko-KR" sz="1400" b="1" dirty="0"/>
              <a:t>NOTE : A “</a:t>
            </a:r>
            <a:r>
              <a:rPr lang="en-US" altLang="ko-KR" sz="1400" b="1" dirty="0">
                <a:solidFill>
                  <a:srgbClr val="FF0000"/>
                </a:solidFill>
              </a:rPr>
              <a:t>CNAME</a:t>
            </a:r>
            <a:r>
              <a:rPr lang="en-US" altLang="ko-KR" sz="1400" b="1" dirty="0"/>
              <a:t>” record points to a fully qualified domain name instead of a numeric IP address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CF71BB56-2F93-4DBF-F67E-8451D8959B54}"/>
              </a:ext>
            </a:extLst>
          </p:cNvPr>
          <p:cNvGrpSpPr/>
          <p:nvPr/>
        </p:nvGrpSpPr>
        <p:grpSpPr>
          <a:xfrm>
            <a:off x="2134250" y="3632044"/>
            <a:ext cx="7923500" cy="2776986"/>
            <a:chOff x="2134250" y="3632044"/>
            <a:chExt cx="7923500" cy="2776986"/>
          </a:xfrm>
        </p:grpSpPr>
        <p:grpSp>
          <p:nvGrpSpPr>
            <p:cNvPr id="13" name="그룹 12">
              <a:extLst>
                <a:ext uri="{FF2B5EF4-FFF2-40B4-BE49-F238E27FC236}">
                  <a16:creationId xmlns:a16="http://schemas.microsoft.com/office/drawing/2014/main" id="{7A7D4B14-12C6-AC70-A549-1C7E5E046D77}"/>
                </a:ext>
              </a:extLst>
            </p:cNvPr>
            <p:cNvGrpSpPr/>
            <p:nvPr/>
          </p:nvGrpSpPr>
          <p:grpSpPr>
            <a:xfrm>
              <a:off x="2134250" y="3632044"/>
              <a:ext cx="7923500" cy="2776986"/>
              <a:chOff x="1915135" y="3638248"/>
              <a:chExt cx="7923500" cy="2776986"/>
            </a:xfrm>
          </p:grpSpPr>
          <p:pic>
            <p:nvPicPr>
              <p:cNvPr id="8" name="그림 7">
                <a:extLst>
                  <a:ext uri="{FF2B5EF4-FFF2-40B4-BE49-F238E27FC236}">
                    <a16:creationId xmlns:a16="http://schemas.microsoft.com/office/drawing/2014/main" id="{02FE34F8-4401-A2EA-E91B-97FBBDCDC859}"/>
                  </a:ext>
                </a:extLst>
              </p:cNvPr>
              <p:cNvPicPr>
                <a:picLocks noChangeAspect="1"/>
              </p:cNvPicPr>
              <p:nvPr/>
            </p:nvPicPr>
            <p:blipFill>
              <a:blip r:embed="rId2"/>
              <a:stretch>
                <a:fillRect/>
              </a:stretch>
            </p:blipFill>
            <p:spPr>
              <a:xfrm>
                <a:off x="7382564" y="4037527"/>
                <a:ext cx="2456071" cy="2312619"/>
              </a:xfrm>
              <a:prstGeom prst="rect">
                <a:avLst/>
              </a:prstGeom>
            </p:spPr>
          </p:pic>
          <p:pic>
            <p:nvPicPr>
              <p:cNvPr id="10" name="그림 9">
                <a:extLst>
                  <a:ext uri="{FF2B5EF4-FFF2-40B4-BE49-F238E27FC236}">
                    <a16:creationId xmlns:a16="http://schemas.microsoft.com/office/drawing/2014/main" id="{FAFE7E0E-5419-78F7-8D20-863FC6007711}"/>
                  </a:ext>
                </a:extLst>
              </p:cNvPr>
              <p:cNvPicPr>
                <a:picLocks noChangeAspect="1"/>
              </p:cNvPicPr>
              <p:nvPr/>
            </p:nvPicPr>
            <p:blipFill>
              <a:blip r:embed="rId3"/>
              <a:stretch>
                <a:fillRect/>
              </a:stretch>
            </p:blipFill>
            <p:spPr>
              <a:xfrm>
                <a:off x="1915135" y="4037527"/>
                <a:ext cx="2423847" cy="2312619"/>
              </a:xfrm>
              <a:prstGeom prst="rect">
                <a:avLst/>
              </a:prstGeom>
            </p:spPr>
          </p:pic>
          <p:pic>
            <p:nvPicPr>
              <p:cNvPr id="12" name="그림 11">
                <a:extLst>
                  <a:ext uri="{FF2B5EF4-FFF2-40B4-BE49-F238E27FC236}">
                    <a16:creationId xmlns:a16="http://schemas.microsoft.com/office/drawing/2014/main" id="{E4A79C40-9D51-59C5-7A92-D27F40124D2A}"/>
                  </a:ext>
                </a:extLst>
              </p:cNvPr>
              <p:cNvPicPr>
                <a:picLocks noChangeAspect="1"/>
              </p:cNvPicPr>
              <p:nvPr/>
            </p:nvPicPr>
            <p:blipFill>
              <a:blip r:embed="rId4"/>
              <a:stretch>
                <a:fillRect/>
              </a:stretch>
            </p:blipFill>
            <p:spPr>
              <a:xfrm>
                <a:off x="4737210" y="3638248"/>
                <a:ext cx="2456070" cy="2776986"/>
              </a:xfrm>
              <a:prstGeom prst="rect">
                <a:avLst/>
              </a:prstGeom>
            </p:spPr>
          </p:pic>
        </p:grpSp>
        <p:sp>
          <p:nvSpPr>
            <p:cNvPr id="14" name="직사각형 13">
              <a:extLst>
                <a:ext uri="{FF2B5EF4-FFF2-40B4-BE49-F238E27FC236}">
                  <a16:creationId xmlns:a16="http://schemas.microsoft.com/office/drawing/2014/main" id="{97984D09-5FA4-C565-0710-9C23B6EAA569}"/>
                </a:ext>
              </a:extLst>
            </p:cNvPr>
            <p:cNvSpPr/>
            <p:nvPr/>
          </p:nvSpPr>
          <p:spPr>
            <a:xfrm>
              <a:off x="3032760" y="6126480"/>
              <a:ext cx="604655" cy="183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55E3AB59-1304-8553-A150-9A6E13A276F5}"/>
                </a:ext>
              </a:extLst>
            </p:cNvPr>
            <p:cNvSpPr/>
            <p:nvPr/>
          </p:nvSpPr>
          <p:spPr>
            <a:xfrm>
              <a:off x="5901691" y="6160756"/>
              <a:ext cx="560070" cy="183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0BB79D94-BEBA-9A42-2F34-8DA065D3B70F}"/>
                </a:ext>
              </a:extLst>
            </p:cNvPr>
            <p:cNvSpPr/>
            <p:nvPr/>
          </p:nvSpPr>
          <p:spPr>
            <a:xfrm>
              <a:off x="8492612" y="6134582"/>
              <a:ext cx="604655" cy="183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29967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Accessing Services from External Clients :</a:t>
            </a:r>
          </a:p>
          <a:p>
            <a:pPr lvl="1">
              <a:buFont typeface="Wingdings" panose="05000000000000000000" pitchFamily="2" charset="2"/>
              <a:buChar char="§"/>
            </a:pPr>
            <a:r>
              <a:rPr lang="en-US" altLang="ko-KR" sz="1400" dirty="0"/>
              <a:t>Up to now, we’ve only talked about how services can be consumed by pods from inside the cluster. But you’ll also want to </a:t>
            </a:r>
            <a:r>
              <a:rPr lang="en-US" altLang="ko-KR" sz="1400" b="1" dirty="0"/>
              <a:t>expose certain services, such as frontend webservers, to the outside, so external clients can access them</a:t>
            </a:r>
            <a:r>
              <a:rPr lang="en-US" altLang="ko-KR" sz="1400" dirty="0"/>
              <a:t>, as depicted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have a few ways to make a service accessible externally :</a:t>
            </a:r>
          </a:p>
          <a:p>
            <a:pPr lvl="2">
              <a:buFont typeface="Wingdings" panose="05000000000000000000" pitchFamily="2" charset="2"/>
              <a:buChar char="§"/>
            </a:pPr>
            <a:r>
              <a:rPr lang="en-US" altLang="ko-KR" sz="1400" b="1" dirty="0"/>
              <a:t>Setting the service type to </a:t>
            </a:r>
            <a:r>
              <a:rPr lang="en-US" altLang="ko-KR" sz="1400" b="1" dirty="0" err="1">
                <a:solidFill>
                  <a:srgbClr val="FF0000"/>
                </a:solidFill>
              </a:rPr>
              <a:t>NodePort</a:t>
            </a:r>
            <a:r>
              <a:rPr lang="en-US" altLang="ko-KR" sz="1400" dirty="0"/>
              <a:t>—</a:t>
            </a:r>
            <a:r>
              <a:rPr lang="en-US" altLang="ko-KR" sz="1400" b="1" dirty="0"/>
              <a:t>For a </a:t>
            </a:r>
            <a:r>
              <a:rPr lang="en-US" altLang="ko-KR" sz="1400" b="1" dirty="0" err="1"/>
              <a:t>NodePort</a:t>
            </a:r>
            <a:r>
              <a:rPr lang="en-US" altLang="ko-KR" sz="1400" b="1" dirty="0"/>
              <a:t> service, each cluster node opens a port on the node itself (hence the name) and redirects traffic received on that port to the underlying service</a:t>
            </a:r>
            <a:r>
              <a:rPr lang="en-US" altLang="ko-KR" sz="1400" dirty="0"/>
              <a:t>. The service isn’t accessible only at the internal cluster IP and port, but also </a:t>
            </a:r>
            <a:r>
              <a:rPr lang="en-US" altLang="ko-KR" sz="1400" b="1" dirty="0"/>
              <a:t>through a dedicated port on all nodes</a:t>
            </a:r>
            <a:r>
              <a:rPr lang="en-US" altLang="ko-KR" sz="1400" dirty="0"/>
              <a:t>.</a:t>
            </a:r>
          </a:p>
          <a:p>
            <a:pPr lvl="2">
              <a:buFont typeface="Wingdings" panose="05000000000000000000" pitchFamily="2" charset="2"/>
              <a:buChar char="§"/>
            </a:pPr>
            <a:r>
              <a:rPr lang="en-US" altLang="ko-KR" sz="1400" b="1" dirty="0"/>
              <a:t>Setting the service type to </a:t>
            </a:r>
            <a:r>
              <a:rPr lang="en-US" altLang="ko-KR" sz="1400" b="1" dirty="0" err="1">
                <a:solidFill>
                  <a:srgbClr val="FF0000"/>
                </a:solidFill>
              </a:rPr>
              <a:t>LoadBalancer</a:t>
            </a:r>
            <a:r>
              <a:rPr lang="en-US" altLang="ko-KR" sz="1400" b="1" dirty="0"/>
              <a:t>, an extension of the </a:t>
            </a:r>
            <a:r>
              <a:rPr lang="en-US" altLang="ko-KR" sz="1400" b="1" dirty="0" err="1"/>
              <a:t>NodePort</a:t>
            </a:r>
            <a:r>
              <a:rPr lang="en-US" altLang="ko-KR" sz="1400" b="1" dirty="0"/>
              <a:t> type</a:t>
            </a:r>
            <a:r>
              <a:rPr lang="en-US" altLang="ko-KR" sz="1400" dirty="0"/>
              <a:t>—</a:t>
            </a:r>
            <a:r>
              <a:rPr lang="en-US" altLang="ko-KR" sz="1400" b="1" dirty="0"/>
              <a:t>This makes the service accessible through a dedicated load balancer, provisioned from the cloud infrastructure Kubernetes is running on</a:t>
            </a:r>
            <a:r>
              <a:rPr lang="en-US" altLang="ko-KR" sz="1400" dirty="0"/>
              <a:t>. </a:t>
            </a:r>
            <a:r>
              <a:rPr lang="en-US" altLang="ko-KR" sz="1400" b="1" dirty="0"/>
              <a:t>The load balancer redirects traffic to the node port across all the nodes</a:t>
            </a:r>
            <a:r>
              <a:rPr lang="en-US" altLang="ko-KR" sz="1400" dirty="0"/>
              <a:t>. </a:t>
            </a:r>
            <a:r>
              <a:rPr lang="en-US" altLang="ko-KR" sz="1400" b="1" dirty="0"/>
              <a:t>Clients connect to the service through </a:t>
            </a:r>
            <a:r>
              <a:rPr lang="en-US" altLang="ko-KR" sz="1400" b="1" dirty="0">
                <a:solidFill>
                  <a:srgbClr val="FF0000"/>
                </a:solidFill>
              </a:rPr>
              <a:t>the load balancer’s IP</a:t>
            </a:r>
            <a:r>
              <a:rPr lang="en-US" altLang="ko-KR" sz="1400" dirty="0"/>
              <a:t>.</a:t>
            </a:r>
          </a:p>
          <a:p>
            <a:pPr lvl="2">
              <a:buFont typeface="Wingdings" panose="05000000000000000000" pitchFamily="2" charset="2"/>
              <a:buChar char="§"/>
            </a:pPr>
            <a:r>
              <a:rPr lang="en-US" altLang="ko-KR" sz="1400" b="1" dirty="0"/>
              <a:t>Creating an </a:t>
            </a:r>
            <a:r>
              <a:rPr lang="en-US" altLang="ko-KR" sz="1400" b="1" dirty="0">
                <a:solidFill>
                  <a:srgbClr val="FF0000"/>
                </a:solidFill>
              </a:rPr>
              <a:t>Ingress</a:t>
            </a:r>
            <a:r>
              <a:rPr lang="en-US" altLang="ko-KR" sz="1400" b="1" dirty="0"/>
              <a:t> resource, a radically different mechanism for exposing multiple services through a single IP address—It operates at the HTTP level (network layer 7) and can thus offer more features than layer 4 services can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75B04E2-E955-953A-3790-B60485CCB0DA}"/>
              </a:ext>
            </a:extLst>
          </p:cNvPr>
          <p:cNvPicPr>
            <a:picLocks noChangeAspect="1"/>
          </p:cNvPicPr>
          <p:nvPr/>
        </p:nvPicPr>
        <p:blipFill>
          <a:blip r:embed="rId2"/>
          <a:stretch>
            <a:fillRect/>
          </a:stretch>
        </p:blipFill>
        <p:spPr>
          <a:xfrm>
            <a:off x="3971925" y="1803082"/>
            <a:ext cx="4248150" cy="1895475"/>
          </a:xfrm>
          <a:prstGeom prst="rect">
            <a:avLst/>
          </a:prstGeom>
        </p:spPr>
      </p:pic>
    </p:spTree>
    <p:extLst>
      <p:ext uri="{BB962C8B-B14F-4D97-AF65-F5344CB8AC3E}">
        <p14:creationId xmlns:p14="http://schemas.microsoft.com/office/powerpoint/2010/main" val="1590962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NodePort</a:t>
            </a:r>
            <a:r>
              <a:rPr lang="en-US" altLang="ko-KR" sz="1800" b="1" dirty="0"/>
              <a:t> Service :</a:t>
            </a:r>
          </a:p>
          <a:p>
            <a:pPr lvl="1">
              <a:buFont typeface="Wingdings" panose="05000000000000000000" pitchFamily="2" charset="2"/>
              <a:buChar char="§"/>
            </a:pPr>
            <a:r>
              <a:rPr lang="en-US" altLang="ko-KR" sz="1400" dirty="0"/>
              <a:t>The first method of exposing a set of pods to external clients is by creating a service and setting its type to </a:t>
            </a:r>
            <a:r>
              <a:rPr lang="en-US" altLang="ko-KR" sz="1400" dirty="0" err="1"/>
              <a:t>NodePort</a:t>
            </a:r>
            <a:r>
              <a:rPr lang="en-US" altLang="ko-KR" sz="1400" dirty="0"/>
              <a:t>. By creating a “</a:t>
            </a:r>
            <a:r>
              <a:rPr lang="en-US" altLang="ko-KR" sz="1400" b="1" dirty="0" err="1">
                <a:solidFill>
                  <a:srgbClr val="FF0000"/>
                </a:solidFill>
              </a:rPr>
              <a:t>NodePort</a:t>
            </a:r>
            <a:r>
              <a:rPr lang="en-US" altLang="ko-KR" sz="1400" dirty="0"/>
              <a:t>“ service, </a:t>
            </a:r>
            <a:r>
              <a:rPr lang="en-US" altLang="ko-KR" sz="1400" b="1" dirty="0"/>
              <a:t>you make Kubernetes reserve a port on all its nodes (the same port number is used across all of them) and forward incoming connections to the pods that are part of the service</a:t>
            </a:r>
            <a:r>
              <a:rPr lang="en-US" altLang="ko-KR" sz="1400" dirty="0"/>
              <a:t>. </a:t>
            </a:r>
          </a:p>
          <a:p>
            <a:pPr lvl="1">
              <a:buFont typeface="Wingdings" panose="05000000000000000000" pitchFamily="2" charset="2"/>
              <a:buChar char="§"/>
            </a:pPr>
            <a:r>
              <a:rPr lang="en-US" altLang="ko-KR" sz="1400" dirty="0"/>
              <a:t>This is similar to a regular service (their actual type is </a:t>
            </a:r>
            <a:r>
              <a:rPr lang="en-US" altLang="ko-KR" sz="1400" dirty="0" err="1"/>
              <a:t>ClusterIP</a:t>
            </a:r>
            <a:r>
              <a:rPr lang="en-US" altLang="ko-KR" sz="1400" dirty="0"/>
              <a:t>), but </a:t>
            </a:r>
            <a:r>
              <a:rPr lang="en-US" altLang="ko-KR" sz="1400" b="1" dirty="0"/>
              <a:t>a </a:t>
            </a:r>
            <a:r>
              <a:rPr lang="en-US" altLang="ko-KR" sz="1400" b="1" dirty="0" err="1"/>
              <a:t>NodePort</a:t>
            </a:r>
            <a:r>
              <a:rPr lang="en-US" altLang="ko-KR" sz="1400" b="1" dirty="0"/>
              <a:t> service can be accessed not only through the service’s internal cluster IP, but also through any node’s IP and the reserved node port</a:t>
            </a:r>
            <a:r>
              <a:rPr lang="en-US" altLang="ko-KR" sz="1400" dirty="0"/>
              <a:t>.</a:t>
            </a:r>
          </a:p>
          <a:p>
            <a:pPr lvl="1">
              <a:buFont typeface="Wingdings" panose="05000000000000000000" pitchFamily="2" charset="2"/>
              <a:buChar char="§"/>
            </a:pPr>
            <a:r>
              <a:rPr lang="en-US" altLang="ko-KR" sz="1400" b="1" dirty="0"/>
              <a:t>You’ll now create a </a:t>
            </a:r>
            <a:r>
              <a:rPr lang="en-US" altLang="ko-KR" sz="1400" b="1" dirty="0" err="1"/>
              <a:t>NodePort</a:t>
            </a:r>
            <a:r>
              <a:rPr lang="en-US" altLang="ko-KR" sz="1400" b="1" dirty="0"/>
              <a:t> service to see how you can use it</a:t>
            </a:r>
            <a:r>
              <a:rPr lang="en-US" altLang="ko-KR" sz="1400" dirty="0"/>
              <a:t>. The following listing shows the YAML for the service.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D2D6FBF3-9247-CFF2-50A0-11CBE04E30D5}"/>
              </a:ext>
            </a:extLst>
          </p:cNvPr>
          <p:cNvGrpSpPr/>
          <p:nvPr/>
        </p:nvGrpSpPr>
        <p:grpSpPr>
          <a:xfrm>
            <a:off x="1916430" y="2595882"/>
            <a:ext cx="8359140" cy="3813148"/>
            <a:chOff x="1916430" y="2595882"/>
            <a:chExt cx="8359140" cy="3813148"/>
          </a:xfrm>
        </p:grpSpPr>
        <p:grpSp>
          <p:nvGrpSpPr>
            <p:cNvPr id="14" name="그룹 13">
              <a:extLst>
                <a:ext uri="{FF2B5EF4-FFF2-40B4-BE49-F238E27FC236}">
                  <a16:creationId xmlns:a16="http://schemas.microsoft.com/office/drawing/2014/main" id="{B9BE79D7-B673-AEF2-ED2D-42234DC5187D}"/>
                </a:ext>
              </a:extLst>
            </p:cNvPr>
            <p:cNvGrpSpPr/>
            <p:nvPr/>
          </p:nvGrpSpPr>
          <p:grpSpPr>
            <a:xfrm>
              <a:off x="1916430" y="2595882"/>
              <a:ext cx="8359140" cy="3813148"/>
              <a:chOff x="1916430" y="2595882"/>
              <a:chExt cx="8359140" cy="3813148"/>
            </a:xfrm>
          </p:grpSpPr>
          <p:pic>
            <p:nvPicPr>
              <p:cNvPr id="8" name="그림 7">
                <a:extLst>
                  <a:ext uri="{FF2B5EF4-FFF2-40B4-BE49-F238E27FC236}">
                    <a16:creationId xmlns:a16="http://schemas.microsoft.com/office/drawing/2014/main" id="{4295805E-051C-82A8-29D4-73B6EA03C55C}"/>
                  </a:ext>
                </a:extLst>
              </p:cNvPr>
              <p:cNvPicPr>
                <a:picLocks noChangeAspect="1"/>
              </p:cNvPicPr>
              <p:nvPr/>
            </p:nvPicPr>
            <p:blipFill>
              <a:blip r:embed="rId2"/>
              <a:stretch>
                <a:fillRect/>
              </a:stretch>
            </p:blipFill>
            <p:spPr>
              <a:xfrm>
                <a:off x="1916430" y="4792930"/>
                <a:ext cx="8359140" cy="1616100"/>
              </a:xfrm>
              <a:prstGeom prst="rect">
                <a:avLst/>
              </a:prstGeom>
            </p:spPr>
          </p:pic>
          <p:grpSp>
            <p:nvGrpSpPr>
              <p:cNvPr id="12" name="그룹 11">
                <a:extLst>
                  <a:ext uri="{FF2B5EF4-FFF2-40B4-BE49-F238E27FC236}">
                    <a16:creationId xmlns:a16="http://schemas.microsoft.com/office/drawing/2014/main" id="{3FBEC0E6-44D5-B719-CACC-95FCA89CA7A5}"/>
                  </a:ext>
                </a:extLst>
              </p:cNvPr>
              <p:cNvGrpSpPr/>
              <p:nvPr/>
            </p:nvGrpSpPr>
            <p:grpSpPr>
              <a:xfrm>
                <a:off x="3048000" y="2595882"/>
                <a:ext cx="6096000" cy="1938992"/>
                <a:chOff x="3048000" y="2595882"/>
                <a:chExt cx="6096000" cy="1938992"/>
              </a:xfrm>
            </p:grpSpPr>
            <p:sp>
              <p:nvSpPr>
                <p:cNvPr id="10" name="TextBox 9">
                  <a:extLst>
                    <a:ext uri="{FF2B5EF4-FFF2-40B4-BE49-F238E27FC236}">
                      <a16:creationId xmlns:a16="http://schemas.microsoft.com/office/drawing/2014/main" id="{C944DD80-0036-C9BA-F448-A2985AAA7228}"/>
                    </a:ext>
                  </a:extLst>
                </p:cNvPr>
                <p:cNvSpPr txBox="1"/>
                <p:nvPr/>
              </p:nvSpPr>
              <p:spPr>
                <a:xfrm>
                  <a:off x="3048000" y="2595882"/>
                  <a:ext cx="6096000" cy="193899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Service</a:t>
                  </a:r>
                </a:p>
                <a:p>
                  <a:r>
                    <a:rPr lang="en-US" altLang="ko-KR" sz="1000" b="1" dirty="0"/>
                    <a:t>metadata:</a:t>
                  </a:r>
                </a:p>
                <a:p>
                  <a:r>
                    <a:rPr lang="en-US" altLang="ko-KR" sz="1000" b="1" dirty="0"/>
                    <a:t>  name: </a:t>
                  </a:r>
                  <a:r>
                    <a:rPr lang="en-US" altLang="ko-KR" sz="1000" b="1" dirty="0" err="1"/>
                    <a:t>kubia-nodeport</a:t>
                  </a:r>
                  <a:endParaRPr lang="en-US" altLang="ko-KR" sz="1000" b="1" dirty="0"/>
                </a:p>
                <a:p>
                  <a:r>
                    <a:rPr lang="en-US" altLang="ko-KR" sz="1000" b="1" dirty="0"/>
                    <a:t>spec:</a:t>
                  </a:r>
                </a:p>
                <a:p>
                  <a:r>
                    <a:rPr lang="en-US" altLang="ko-KR" sz="1000" b="1" dirty="0"/>
                    <a:t>  type: </a:t>
                  </a:r>
                  <a:r>
                    <a:rPr lang="en-US" altLang="ko-KR" sz="1000" b="1" dirty="0" err="1"/>
                    <a:t>NodePort</a:t>
                  </a:r>
                  <a:endParaRPr lang="en-US" altLang="ko-KR" sz="1000" b="1" dirty="0"/>
                </a:p>
                <a:p>
                  <a:r>
                    <a:rPr lang="en-US" altLang="ko-KR" sz="1000" b="1" dirty="0"/>
                    <a:t>  ports:</a:t>
                  </a:r>
                </a:p>
                <a:p>
                  <a:r>
                    <a:rPr lang="en-US" altLang="ko-KR" sz="1000" b="1" dirty="0"/>
                    <a:t>  - port: 80</a:t>
                  </a:r>
                </a:p>
                <a:p>
                  <a:r>
                    <a:rPr lang="en-US" altLang="ko-KR" sz="1000" b="1" dirty="0"/>
                    <a:t>    </a:t>
                  </a:r>
                  <a:r>
                    <a:rPr lang="en-US" altLang="ko-KR" sz="1000" b="1" dirty="0" err="1"/>
                    <a:t>targetPort</a:t>
                  </a:r>
                  <a:r>
                    <a:rPr lang="en-US" altLang="ko-KR" sz="1000" b="1" dirty="0"/>
                    <a:t>: 8080</a:t>
                  </a:r>
                </a:p>
                <a:p>
                  <a:r>
                    <a:rPr lang="en-US" altLang="ko-KR" sz="1000" b="1" dirty="0"/>
                    <a:t>    </a:t>
                  </a:r>
                  <a:r>
                    <a:rPr lang="en-US" altLang="ko-KR" sz="1000" b="1" dirty="0" err="1"/>
                    <a:t>nodePort</a:t>
                  </a:r>
                  <a:r>
                    <a:rPr lang="en-US" altLang="ko-KR" sz="1000" b="1" dirty="0"/>
                    <a:t>: 30123</a:t>
                  </a:r>
                </a:p>
                <a:p>
                  <a:r>
                    <a:rPr lang="en-US" altLang="ko-KR" sz="1000" b="1" dirty="0"/>
                    <a:t>  selector:</a:t>
                  </a:r>
                </a:p>
                <a:p>
                  <a:r>
                    <a:rPr lang="en-US" altLang="ko-KR" sz="1000" b="1" dirty="0"/>
                    <a:t>    app: </a:t>
                  </a:r>
                  <a:r>
                    <a:rPr lang="en-US" altLang="ko-KR" sz="1000" b="1" dirty="0" err="1"/>
                    <a:t>kubia</a:t>
                  </a:r>
                  <a:endParaRPr lang="ko-KR" altLang="en-US" sz="1000" b="1" dirty="0"/>
                </a:p>
              </p:txBody>
            </p:sp>
            <p:sp>
              <p:nvSpPr>
                <p:cNvPr id="11" name="TextBox 10">
                  <a:extLst>
                    <a:ext uri="{FF2B5EF4-FFF2-40B4-BE49-F238E27FC236}">
                      <a16:creationId xmlns:a16="http://schemas.microsoft.com/office/drawing/2014/main" id="{D2327372-8FB2-53B2-B304-581CCBE9BEC2}"/>
                    </a:ext>
                  </a:extLst>
                </p:cNvPr>
                <p:cNvSpPr txBox="1"/>
                <p:nvPr/>
              </p:nvSpPr>
              <p:spPr>
                <a:xfrm>
                  <a:off x="7434878" y="2595882"/>
                  <a:ext cx="1709122" cy="246221"/>
                </a:xfrm>
                <a:prstGeom prst="rect">
                  <a:avLst/>
                </a:prstGeom>
                <a:noFill/>
              </p:spPr>
              <p:txBody>
                <a:bodyPr wrap="none" rtlCol="0">
                  <a:spAutoFit/>
                </a:bodyPr>
                <a:lstStyle/>
                <a:p>
                  <a:pPr algn="l"/>
                  <a:r>
                    <a:rPr lang="en-US" altLang="ko-KR" sz="1000" b="1" dirty="0" err="1"/>
                    <a:t>kubia</a:t>
                  </a:r>
                  <a:r>
                    <a:rPr lang="en-US" altLang="ko-KR" sz="1000" b="1" dirty="0"/>
                    <a:t>-svc-</a:t>
                  </a:r>
                  <a:r>
                    <a:rPr lang="en-US" altLang="ko-KR" sz="1000" b="1" dirty="0" err="1"/>
                    <a:t>nodeport.yaml</a:t>
                  </a:r>
                  <a:endParaRPr lang="ko-KR" altLang="en-US" sz="1000" b="1" dirty="0"/>
                </a:p>
              </p:txBody>
            </p:sp>
          </p:grpSp>
          <p:sp>
            <p:nvSpPr>
              <p:cNvPr id="13" name="화살표: 아래쪽 12">
                <a:extLst>
                  <a:ext uri="{FF2B5EF4-FFF2-40B4-BE49-F238E27FC236}">
                    <a16:creationId xmlns:a16="http://schemas.microsoft.com/office/drawing/2014/main" id="{95534304-E7BD-CB3B-AC75-14F33FCE43C0}"/>
                  </a:ext>
                </a:extLst>
              </p:cNvPr>
              <p:cNvSpPr/>
              <p:nvPr/>
            </p:nvSpPr>
            <p:spPr>
              <a:xfrm>
                <a:off x="5909310" y="4534874"/>
                <a:ext cx="373380" cy="25805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D3D49698-3FF6-267E-2512-0BD92E01A6BA}"/>
                </a:ext>
              </a:extLst>
            </p:cNvPr>
            <p:cNvSpPr/>
            <p:nvPr/>
          </p:nvSpPr>
          <p:spPr>
            <a:xfrm>
              <a:off x="1996440" y="6027420"/>
              <a:ext cx="5438438" cy="1028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63064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Clients(3/12)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Examining Your </a:t>
            </a:r>
            <a:r>
              <a:rPr lang="en-US" altLang="ko-KR" sz="1800" b="1" dirty="0" err="1"/>
              <a:t>NodePort</a:t>
            </a:r>
            <a:r>
              <a:rPr lang="en-US" altLang="ko-KR" sz="1800" b="1" dirty="0"/>
              <a:t> Service :</a:t>
            </a:r>
          </a:p>
          <a:p>
            <a:pPr lvl="1">
              <a:buFont typeface="Wingdings" panose="05000000000000000000" pitchFamily="2" charset="2"/>
              <a:buChar char="§"/>
            </a:pPr>
            <a:r>
              <a:rPr lang="en-US" altLang="ko-KR" sz="1400" b="1" dirty="0"/>
              <a:t>In the previous YAML file, you set the type to </a:t>
            </a:r>
            <a:r>
              <a:rPr lang="en-US" altLang="ko-KR" sz="1400" b="1" dirty="0" err="1"/>
              <a:t>NodePort</a:t>
            </a:r>
            <a:r>
              <a:rPr lang="en-US" altLang="ko-KR" sz="1400" b="1" dirty="0"/>
              <a:t> and specify the node port this service should be bound to across all cluster nodes. Specifying the port isn’t mandatory</a:t>
            </a:r>
            <a:r>
              <a:rPr lang="en-US" altLang="ko-KR" sz="1400" dirty="0"/>
              <a:t>; Kubernetes will choose a random port if you omit it. </a:t>
            </a:r>
            <a:r>
              <a:rPr lang="en-US" altLang="ko-KR" sz="1400" b="1" dirty="0"/>
              <a:t>Let’s see the basic information of your service </a:t>
            </a:r>
            <a:r>
              <a:rPr lang="en-US" altLang="ko-KR" sz="1400" dirty="0"/>
              <a:t>to learn more about it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Look at the “EXTERNAL-IP” column. It shows “</a:t>
            </a:r>
            <a:r>
              <a:rPr lang="en-US" altLang="ko-KR" sz="1400" b="1" dirty="0">
                <a:solidFill>
                  <a:srgbClr val="FF0000"/>
                </a:solidFill>
              </a:rPr>
              <a:t>&lt;none&gt;</a:t>
            </a:r>
            <a:r>
              <a:rPr lang="en-US" altLang="ko-KR" sz="1400" b="1" dirty="0"/>
              <a:t>”</a:t>
            </a:r>
            <a:r>
              <a:rPr lang="en-US" altLang="ko-KR" sz="1400" dirty="0"/>
              <a:t>, </a:t>
            </a:r>
            <a:r>
              <a:rPr lang="en-US" altLang="ko-KR" sz="1400" b="1" dirty="0"/>
              <a:t>indicating the service is not accessible through the IP address of any cluster node</a:t>
            </a:r>
            <a:r>
              <a:rPr lang="en-US" altLang="ko-KR" sz="1400" dirty="0"/>
              <a:t>. </a:t>
            </a:r>
            <a:r>
              <a:rPr lang="en-US" altLang="ko-KR" sz="1400" b="1" dirty="0"/>
              <a:t>The “PORT(S)” column shows both the internal port of the cluster IP (“</a:t>
            </a:r>
            <a:r>
              <a:rPr lang="en-US" altLang="ko-KR" sz="1400" b="1" dirty="0">
                <a:solidFill>
                  <a:srgbClr val="FF0000"/>
                </a:solidFill>
              </a:rPr>
              <a:t>80</a:t>
            </a:r>
            <a:r>
              <a:rPr lang="en-US" altLang="ko-KR" sz="1400" b="1" dirty="0"/>
              <a:t>”) and the node port (“</a:t>
            </a:r>
            <a:r>
              <a:rPr lang="en-US" altLang="ko-KR" sz="1400" b="1" dirty="0">
                <a:solidFill>
                  <a:srgbClr val="FF0000"/>
                </a:solidFill>
              </a:rPr>
              <a:t>30123</a:t>
            </a:r>
            <a:r>
              <a:rPr lang="en-US" altLang="ko-KR" sz="1400" b="1" dirty="0"/>
              <a:t>”)</a:t>
            </a:r>
            <a:r>
              <a:rPr lang="en-US" altLang="ko-KR" sz="1400" dirty="0"/>
              <a:t>. The service is accessible at the following way : </a:t>
            </a:r>
            <a:endParaRPr lang="en-US" altLang="ko-KR" sz="10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0AEAD34E-51F9-3199-103A-CD0E0601CBDE}"/>
              </a:ext>
            </a:extLst>
          </p:cNvPr>
          <p:cNvGrpSpPr/>
          <p:nvPr/>
        </p:nvGrpSpPr>
        <p:grpSpPr>
          <a:xfrm>
            <a:off x="1381125" y="1863259"/>
            <a:ext cx="9429750" cy="2003900"/>
            <a:chOff x="1381125" y="2125980"/>
            <a:chExt cx="9429750" cy="2003900"/>
          </a:xfrm>
        </p:grpSpPr>
        <p:grpSp>
          <p:nvGrpSpPr>
            <p:cNvPr id="11" name="그룹 10">
              <a:extLst>
                <a:ext uri="{FF2B5EF4-FFF2-40B4-BE49-F238E27FC236}">
                  <a16:creationId xmlns:a16="http://schemas.microsoft.com/office/drawing/2014/main" id="{0BD37357-637E-A840-829A-6EFFE639D821}"/>
                </a:ext>
              </a:extLst>
            </p:cNvPr>
            <p:cNvGrpSpPr/>
            <p:nvPr/>
          </p:nvGrpSpPr>
          <p:grpSpPr>
            <a:xfrm>
              <a:off x="1381125" y="2125980"/>
              <a:ext cx="9429750" cy="2003900"/>
              <a:chOff x="1381125" y="2125980"/>
              <a:chExt cx="9429750" cy="2003900"/>
            </a:xfrm>
          </p:grpSpPr>
          <p:pic>
            <p:nvPicPr>
              <p:cNvPr id="8" name="그림 7">
                <a:extLst>
                  <a:ext uri="{FF2B5EF4-FFF2-40B4-BE49-F238E27FC236}">
                    <a16:creationId xmlns:a16="http://schemas.microsoft.com/office/drawing/2014/main" id="{18F67281-EC86-14DF-3897-F0000DA2C84F}"/>
                  </a:ext>
                </a:extLst>
              </p:cNvPr>
              <p:cNvPicPr>
                <a:picLocks noChangeAspect="1"/>
              </p:cNvPicPr>
              <p:nvPr/>
            </p:nvPicPr>
            <p:blipFill>
              <a:blip r:embed="rId2"/>
              <a:stretch>
                <a:fillRect/>
              </a:stretch>
            </p:blipFill>
            <p:spPr>
              <a:xfrm>
                <a:off x="1381125" y="2636836"/>
                <a:ext cx="9429750" cy="1493044"/>
              </a:xfrm>
              <a:prstGeom prst="rect">
                <a:avLst/>
              </a:prstGeom>
            </p:spPr>
          </p:pic>
          <p:sp>
            <p:nvSpPr>
              <p:cNvPr id="9" name="TextBox 8">
                <a:extLst>
                  <a:ext uri="{FF2B5EF4-FFF2-40B4-BE49-F238E27FC236}">
                    <a16:creationId xmlns:a16="http://schemas.microsoft.com/office/drawing/2014/main" id="{A0BF978E-9057-1300-05CA-4AE4B8E563D2}"/>
                  </a:ext>
                </a:extLst>
              </p:cNvPr>
              <p:cNvSpPr txBox="1"/>
              <p:nvPr/>
            </p:nvSpPr>
            <p:spPr>
              <a:xfrm>
                <a:off x="3318510" y="2125980"/>
                <a:ext cx="5554980" cy="246221"/>
              </a:xfrm>
              <a:prstGeom prst="rect">
                <a:avLst/>
              </a:prstGeom>
              <a:noFill/>
              <a:ln>
                <a:solidFill>
                  <a:schemeClr val="bg1">
                    <a:lumMod val="50000"/>
                  </a:schemeClr>
                </a:solidFill>
              </a:ln>
            </p:spPr>
            <p:txBody>
              <a:bodyPr wrap="square" rtlCol="0">
                <a:spAutoFit/>
              </a:bodyPr>
              <a:lstStyle/>
              <a:p>
                <a:pPr algn="l"/>
                <a:r>
                  <a:rPr lang="en-US" altLang="ko-KR" sz="1000" b="1" dirty="0"/>
                  <a:t>$ </a:t>
                </a:r>
                <a:r>
                  <a:rPr lang="en-US" altLang="ko-KR" sz="1000" b="1" dirty="0" err="1"/>
                  <a:t>kubectl</a:t>
                </a:r>
                <a:r>
                  <a:rPr lang="en-US" altLang="ko-KR" sz="1000" b="1" dirty="0"/>
                  <a:t> get svc </a:t>
                </a:r>
                <a:r>
                  <a:rPr lang="en-US" altLang="ko-KR" sz="1000" b="1" dirty="0" err="1">
                    <a:solidFill>
                      <a:srgbClr val="FF0000"/>
                    </a:solidFill>
                  </a:rPr>
                  <a:t>kubia-nodeport</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5679A092-8E83-13D5-B21C-592993D5C0F6}"/>
                  </a:ext>
                </a:extLst>
              </p:cNvPr>
              <p:cNvSpPr/>
              <p:nvPr/>
            </p:nvSpPr>
            <p:spPr>
              <a:xfrm>
                <a:off x="5894070" y="2362200"/>
                <a:ext cx="403860" cy="27463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BD0950EC-A87F-142C-937C-4B092A140DAA}"/>
                </a:ext>
              </a:extLst>
            </p:cNvPr>
            <p:cNvSpPr/>
            <p:nvPr/>
          </p:nvSpPr>
          <p:spPr>
            <a:xfrm>
              <a:off x="5387340" y="3070860"/>
              <a:ext cx="1973580" cy="1447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2EE44452-8A0C-025D-700A-7F1D4D90F942}"/>
              </a:ext>
            </a:extLst>
          </p:cNvPr>
          <p:cNvGrpSpPr/>
          <p:nvPr/>
        </p:nvGrpSpPr>
        <p:grpSpPr>
          <a:xfrm>
            <a:off x="1381125" y="4808718"/>
            <a:ext cx="9429750" cy="1454263"/>
            <a:chOff x="1381125" y="4808718"/>
            <a:chExt cx="9429750" cy="1454263"/>
          </a:xfrm>
        </p:grpSpPr>
        <p:pic>
          <p:nvPicPr>
            <p:cNvPr id="15" name="그림 14">
              <a:extLst>
                <a:ext uri="{FF2B5EF4-FFF2-40B4-BE49-F238E27FC236}">
                  <a16:creationId xmlns:a16="http://schemas.microsoft.com/office/drawing/2014/main" id="{CB775A8E-F728-D2F3-A466-F3C05DCB9250}"/>
                </a:ext>
              </a:extLst>
            </p:cNvPr>
            <p:cNvPicPr>
              <a:picLocks noChangeAspect="1"/>
            </p:cNvPicPr>
            <p:nvPr/>
          </p:nvPicPr>
          <p:blipFill>
            <a:blip r:embed="rId3"/>
            <a:stretch>
              <a:fillRect/>
            </a:stretch>
          </p:blipFill>
          <p:spPr>
            <a:xfrm>
              <a:off x="1381125" y="4808718"/>
              <a:ext cx="9429750" cy="1454263"/>
            </a:xfrm>
            <a:prstGeom prst="rect">
              <a:avLst/>
            </a:prstGeom>
          </p:spPr>
        </p:pic>
        <p:sp>
          <p:nvSpPr>
            <p:cNvPr id="16" name="직사각형 15">
              <a:extLst>
                <a:ext uri="{FF2B5EF4-FFF2-40B4-BE49-F238E27FC236}">
                  <a16:creationId xmlns:a16="http://schemas.microsoft.com/office/drawing/2014/main" id="{5F9A1067-42E6-A9A8-B083-610E2C7C3AAF}"/>
                </a:ext>
              </a:extLst>
            </p:cNvPr>
            <p:cNvSpPr/>
            <p:nvPr/>
          </p:nvSpPr>
          <p:spPr>
            <a:xfrm>
              <a:off x="5120640" y="5485130"/>
              <a:ext cx="773430" cy="1536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83D56CCF-2232-FCDE-B530-30E2511CFBB7}"/>
                </a:ext>
              </a:extLst>
            </p:cNvPr>
            <p:cNvSpPr/>
            <p:nvPr/>
          </p:nvSpPr>
          <p:spPr>
            <a:xfrm>
              <a:off x="5288280" y="5631180"/>
              <a:ext cx="1531620" cy="152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011955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Clients(4/12)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Examining Your </a:t>
            </a:r>
            <a:r>
              <a:rPr lang="en-US" altLang="ko-KR" sz="1800" b="1" dirty="0" err="1"/>
              <a:t>NodePort</a:t>
            </a:r>
            <a:r>
              <a:rPr lang="en-US" altLang="ko-KR" sz="1800" b="1" dirty="0"/>
              <a:t> Service :</a:t>
            </a:r>
          </a:p>
          <a:p>
            <a:pPr lvl="1">
              <a:buFont typeface="Wingdings" panose="05000000000000000000" pitchFamily="2" charset="2"/>
              <a:buChar char="§"/>
            </a:pPr>
            <a:r>
              <a:rPr lang="en-US" altLang="ko-KR" sz="1400" b="1" dirty="0"/>
              <a:t>The following figure shows your service exposed on port “30123” of both of your cluster nodes (this applies if you’re running this on GKE; </a:t>
            </a:r>
            <a:r>
              <a:rPr lang="en-US" altLang="ko-KR" sz="1400" b="1" dirty="0" err="1"/>
              <a:t>Minikube</a:t>
            </a:r>
            <a:r>
              <a:rPr lang="en-US" altLang="ko-KR" sz="1400" b="1" dirty="0"/>
              <a:t> only has a single node, but the principle is the same)</a:t>
            </a:r>
            <a:r>
              <a:rPr lang="en-US" altLang="ko-KR" sz="1400" dirty="0"/>
              <a:t>. </a:t>
            </a:r>
            <a:r>
              <a:rPr lang="en-US" altLang="ko-KR" sz="1400" b="1" dirty="0"/>
              <a:t>An incoming connection to one of those ports will be redirected to a randomly selected pod</a:t>
            </a:r>
            <a:r>
              <a:rPr lang="en-US" altLang="ko-KR" sz="1400" dirty="0"/>
              <a:t>, which may or may not be the one running on the node the connection is being made to.</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EB071CB-8984-43D0-5E56-F4C344F00542}"/>
              </a:ext>
            </a:extLst>
          </p:cNvPr>
          <p:cNvSpPr txBox="1"/>
          <p:nvPr/>
        </p:nvSpPr>
        <p:spPr>
          <a:xfrm>
            <a:off x="8816586" y="5401207"/>
            <a:ext cx="2445774" cy="861774"/>
          </a:xfrm>
          <a:prstGeom prst="rect">
            <a:avLst/>
          </a:prstGeom>
          <a:noFill/>
        </p:spPr>
        <p:txBody>
          <a:bodyPr wrap="square">
            <a:spAutoFit/>
          </a:bodyPr>
          <a:lstStyle/>
          <a:p>
            <a:r>
              <a:rPr lang="en-US" altLang="ko-KR" sz="1000" b="1" dirty="0"/>
              <a:t>A connection received on port “30123” of the first node might be forwarded either to the pod running on the first node or to one of the pods running on the second node.</a:t>
            </a:r>
            <a:endParaRPr lang="ko-KR" altLang="en-US" sz="1000" b="1" dirty="0"/>
          </a:p>
        </p:txBody>
      </p:sp>
      <p:grpSp>
        <p:nvGrpSpPr>
          <p:cNvPr id="18" name="그룹 17">
            <a:extLst>
              <a:ext uri="{FF2B5EF4-FFF2-40B4-BE49-F238E27FC236}">
                <a16:creationId xmlns:a16="http://schemas.microsoft.com/office/drawing/2014/main" id="{7D844DD5-1D11-E3D3-DC61-E80E3A37BDBA}"/>
              </a:ext>
            </a:extLst>
          </p:cNvPr>
          <p:cNvGrpSpPr/>
          <p:nvPr/>
        </p:nvGrpSpPr>
        <p:grpSpPr>
          <a:xfrm>
            <a:off x="3283974" y="2141830"/>
            <a:ext cx="5624052" cy="4267200"/>
            <a:chOff x="3283974" y="2141830"/>
            <a:chExt cx="5624052" cy="4267200"/>
          </a:xfrm>
        </p:grpSpPr>
        <p:grpSp>
          <p:nvGrpSpPr>
            <p:cNvPr id="15" name="그룹 14">
              <a:extLst>
                <a:ext uri="{FF2B5EF4-FFF2-40B4-BE49-F238E27FC236}">
                  <a16:creationId xmlns:a16="http://schemas.microsoft.com/office/drawing/2014/main" id="{641AE1DA-9460-F794-E401-8D53D6181BDF}"/>
                </a:ext>
              </a:extLst>
            </p:cNvPr>
            <p:cNvGrpSpPr/>
            <p:nvPr/>
          </p:nvGrpSpPr>
          <p:grpSpPr>
            <a:xfrm>
              <a:off x="3283974" y="2141830"/>
              <a:ext cx="5624052" cy="4267200"/>
              <a:chOff x="3283974" y="2141830"/>
              <a:chExt cx="5624052" cy="4267200"/>
            </a:xfrm>
          </p:grpSpPr>
          <p:pic>
            <p:nvPicPr>
              <p:cNvPr id="8" name="그림 7">
                <a:extLst>
                  <a:ext uri="{FF2B5EF4-FFF2-40B4-BE49-F238E27FC236}">
                    <a16:creationId xmlns:a16="http://schemas.microsoft.com/office/drawing/2014/main" id="{E3FA14E3-9509-A984-5A93-4EF1105597A9}"/>
                  </a:ext>
                </a:extLst>
              </p:cNvPr>
              <p:cNvPicPr>
                <a:picLocks noChangeAspect="1"/>
              </p:cNvPicPr>
              <p:nvPr/>
            </p:nvPicPr>
            <p:blipFill>
              <a:blip r:embed="rId2"/>
              <a:stretch>
                <a:fillRect/>
              </a:stretch>
            </p:blipFill>
            <p:spPr>
              <a:xfrm>
                <a:off x="3283974" y="2141830"/>
                <a:ext cx="5624052" cy="4267200"/>
              </a:xfrm>
              <a:prstGeom prst="rect">
                <a:avLst/>
              </a:prstGeom>
            </p:spPr>
          </p:pic>
          <p:sp>
            <p:nvSpPr>
              <p:cNvPr id="11" name="직사각형 10">
                <a:extLst>
                  <a:ext uri="{FF2B5EF4-FFF2-40B4-BE49-F238E27FC236}">
                    <a16:creationId xmlns:a16="http://schemas.microsoft.com/office/drawing/2014/main" id="{CFC583BA-4B18-9808-E527-55AF355C3C2D}"/>
                  </a:ext>
                </a:extLst>
              </p:cNvPr>
              <p:cNvSpPr/>
              <p:nvPr/>
            </p:nvSpPr>
            <p:spPr>
              <a:xfrm>
                <a:off x="3596640" y="3291840"/>
                <a:ext cx="586740" cy="1371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A2BC49F4-65E5-2A77-3E9B-8C6BB3D4911A}"/>
                  </a:ext>
                </a:extLst>
              </p:cNvPr>
              <p:cNvSpPr/>
              <p:nvPr/>
            </p:nvSpPr>
            <p:spPr>
              <a:xfrm>
                <a:off x="6385560" y="3291840"/>
                <a:ext cx="586740" cy="1371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1565C6FF-E483-9ABE-F492-78EDE8D2E01B}"/>
                  </a:ext>
                </a:extLst>
              </p:cNvPr>
              <p:cNvSpPr/>
              <p:nvPr/>
            </p:nvSpPr>
            <p:spPr>
              <a:xfrm>
                <a:off x="6057900" y="3630782"/>
                <a:ext cx="685800" cy="2563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F245A14D-E482-B500-BACA-CDE5A5677788}"/>
                  </a:ext>
                </a:extLst>
              </p:cNvPr>
              <p:cNvSpPr/>
              <p:nvPr/>
            </p:nvSpPr>
            <p:spPr>
              <a:xfrm>
                <a:off x="4312920" y="2217420"/>
                <a:ext cx="998220" cy="3505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TextBox 15">
              <a:extLst>
                <a:ext uri="{FF2B5EF4-FFF2-40B4-BE49-F238E27FC236}">
                  <a16:creationId xmlns:a16="http://schemas.microsoft.com/office/drawing/2014/main" id="{0308B3BB-93C6-240F-D88F-EC3C71F6DEC8}"/>
                </a:ext>
              </a:extLst>
            </p:cNvPr>
            <p:cNvSpPr txBox="1"/>
            <p:nvPr/>
          </p:nvSpPr>
          <p:spPr>
            <a:xfrm>
              <a:off x="3501922" y="2979395"/>
              <a:ext cx="776175" cy="246221"/>
            </a:xfrm>
            <a:prstGeom prst="rect">
              <a:avLst/>
            </a:prstGeom>
            <a:noFill/>
          </p:spPr>
          <p:txBody>
            <a:bodyPr wrap="none" rtlCol="0">
              <a:spAutoFit/>
            </a:bodyPr>
            <a:lstStyle/>
            <a:p>
              <a:pPr algn="l"/>
              <a:r>
                <a:rPr lang="en-US" altLang="ko-KR" sz="1000" b="1" dirty="0" err="1"/>
                <a:t>NodePort</a:t>
              </a:r>
              <a:endParaRPr lang="ko-KR" altLang="en-US" sz="1000" b="1" dirty="0"/>
            </a:p>
          </p:txBody>
        </p:sp>
        <p:sp>
          <p:nvSpPr>
            <p:cNvPr id="17" name="TextBox 16">
              <a:extLst>
                <a:ext uri="{FF2B5EF4-FFF2-40B4-BE49-F238E27FC236}">
                  <a16:creationId xmlns:a16="http://schemas.microsoft.com/office/drawing/2014/main" id="{0B7012A8-873C-A1C5-6304-B203220DE4F2}"/>
                </a:ext>
              </a:extLst>
            </p:cNvPr>
            <p:cNvSpPr txBox="1"/>
            <p:nvPr/>
          </p:nvSpPr>
          <p:spPr>
            <a:xfrm>
              <a:off x="6290842" y="2990813"/>
              <a:ext cx="776175" cy="246221"/>
            </a:xfrm>
            <a:prstGeom prst="rect">
              <a:avLst/>
            </a:prstGeom>
            <a:noFill/>
          </p:spPr>
          <p:txBody>
            <a:bodyPr wrap="none" rtlCol="0">
              <a:spAutoFit/>
            </a:bodyPr>
            <a:lstStyle/>
            <a:p>
              <a:pPr algn="l"/>
              <a:r>
                <a:rPr lang="en-US" altLang="ko-KR" sz="1000" b="1" dirty="0" err="1"/>
                <a:t>NodePort</a:t>
              </a:r>
              <a:endParaRPr lang="ko-KR" altLang="en-US" sz="1000" b="1" dirty="0"/>
            </a:p>
          </p:txBody>
        </p:sp>
      </p:grpSp>
    </p:spTree>
    <p:extLst>
      <p:ext uri="{BB962C8B-B14F-4D97-AF65-F5344CB8AC3E}">
        <p14:creationId xmlns:p14="http://schemas.microsoft.com/office/powerpoint/2010/main" val="25428758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t>
            </a:r>
            <a:r>
              <a:rPr lang="en-US" altLang="ko-KR" sz="2800" b="1" dirty="0" err="1"/>
              <a:t>JSONPath</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JSONPath</a:t>
            </a:r>
            <a:r>
              <a:rPr lang="en-US" altLang="ko-KR" sz="1800" b="1" dirty="0"/>
              <a:t> to Get the IPs of All Your Nodes :</a:t>
            </a:r>
          </a:p>
          <a:p>
            <a:pPr lvl="1">
              <a:buFont typeface="Wingdings" panose="05000000000000000000" pitchFamily="2" charset="2"/>
              <a:buChar char="§"/>
            </a:pPr>
            <a:r>
              <a:rPr lang="en-US" altLang="ko-KR" sz="1400" dirty="0"/>
              <a:t>You can find the IP in the JSON or YAML descriptors of the nodes. But instead of sifting through the relatively large JSON, you can tell </a:t>
            </a:r>
            <a:r>
              <a:rPr lang="en-US" altLang="ko-KR" sz="1400" dirty="0" err="1"/>
              <a:t>kubectl</a:t>
            </a:r>
            <a:r>
              <a:rPr lang="en-US" altLang="ko-KR" sz="1400" dirty="0"/>
              <a:t> to print out only the node IP instead of the whole service definition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You’re telling </a:t>
            </a:r>
            <a:r>
              <a:rPr lang="en-US" altLang="ko-KR" sz="1400" b="1" dirty="0" err="1"/>
              <a:t>kubectl</a:t>
            </a:r>
            <a:r>
              <a:rPr lang="en-US" altLang="ko-KR" sz="1400" b="1" dirty="0"/>
              <a:t> to only output the information you want by specifying a “</a:t>
            </a:r>
            <a:r>
              <a:rPr lang="en-US" altLang="ko-KR" sz="1400" b="1" dirty="0" err="1"/>
              <a:t>JSONPath</a:t>
            </a:r>
            <a:r>
              <a:rPr lang="en-US" altLang="ko-KR" sz="1400" b="1" dirty="0"/>
              <a:t>”</a:t>
            </a:r>
            <a:r>
              <a:rPr lang="en-US" altLang="ko-KR" sz="1400" dirty="0"/>
              <a:t>. You’re probably familiar with “</a:t>
            </a:r>
            <a:r>
              <a:rPr lang="en-US" altLang="ko-KR" sz="1400" b="1" dirty="0"/>
              <a:t>XPath</a:t>
            </a:r>
            <a:r>
              <a:rPr lang="en-US" altLang="ko-KR" sz="1400" dirty="0"/>
              <a:t>” and how it’s used with “</a:t>
            </a:r>
            <a:r>
              <a:rPr lang="en-US" altLang="ko-KR" sz="1400" b="1" dirty="0"/>
              <a:t>XML</a:t>
            </a:r>
            <a:r>
              <a:rPr lang="en-US" altLang="ko-KR" sz="1400" dirty="0"/>
              <a:t>”. </a:t>
            </a:r>
            <a:r>
              <a:rPr lang="en-US" altLang="ko-KR" sz="1400" b="1" dirty="0"/>
              <a:t>“</a:t>
            </a:r>
            <a:r>
              <a:rPr lang="en-US" altLang="ko-KR" sz="1400" b="1" dirty="0" err="1"/>
              <a:t>JSONPath</a:t>
            </a:r>
            <a:r>
              <a:rPr lang="en-US" altLang="ko-KR" sz="1400" b="1" dirty="0"/>
              <a:t>” is basically “XPath” for “JSON”</a:t>
            </a:r>
            <a:r>
              <a:rPr lang="en-US" altLang="ko-KR" sz="1400" dirty="0"/>
              <a:t>. The “</a:t>
            </a:r>
            <a:r>
              <a:rPr lang="en-US" altLang="ko-KR" sz="1400" b="1" dirty="0" err="1"/>
              <a:t>JSONPath</a:t>
            </a:r>
            <a:r>
              <a:rPr lang="en-US" altLang="ko-KR" sz="1400" dirty="0"/>
              <a:t>” in the previous example instructs </a:t>
            </a:r>
            <a:r>
              <a:rPr lang="en-US" altLang="ko-KR" sz="1400" dirty="0" err="1"/>
              <a:t>kubectl</a:t>
            </a:r>
            <a:r>
              <a:rPr lang="en-US" altLang="ko-KR" sz="1400" dirty="0"/>
              <a:t> to do the following :</a:t>
            </a:r>
          </a:p>
          <a:p>
            <a:pPr lvl="2">
              <a:buFont typeface="Wingdings" panose="05000000000000000000" pitchFamily="2" charset="2"/>
              <a:buChar char="§"/>
            </a:pPr>
            <a:r>
              <a:rPr lang="en-US" altLang="ko-KR" sz="1400" dirty="0"/>
              <a:t>Go through all the elements in the </a:t>
            </a:r>
            <a:r>
              <a:rPr lang="en-US" altLang="ko-KR" sz="1400" b="1" dirty="0"/>
              <a:t>items attribute</a:t>
            </a:r>
            <a:r>
              <a:rPr lang="en-US" altLang="ko-KR" sz="1400" dirty="0"/>
              <a:t>.</a:t>
            </a:r>
          </a:p>
          <a:p>
            <a:pPr lvl="2">
              <a:buFont typeface="Wingdings" panose="05000000000000000000" pitchFamily="2" charset="2"/>
              <a:buChar char="§"/>
            </a:pPr>
            <a:r>
              <a:rPr lang="en-US" altLang="ko-KR" sz="1400" dirty="0"/>
              <a:t>For each element, enter the </a:t>
            </a:r>
            <a:r>
              <a:rPr lang="en-US" altLang="ko-KR" sz="1400" b="1" dirty="0"/>
              <a:t>status attribute</a:t>
            </a:r>
            <a:r>
              <a:rPr lang="en-US" altLang="ko-KR" sz="1400" dirty="0"/>
              <a:t>.</a:t>
            </a:r>
          </a:p>
          <a:p>
            <a:pPr lvl="2">
              <a:buFont typeface="Wingdings" panose="05000000000000000000" pitchFamily="2" charset="2"/>
              <a:buChar char="§"/>
            </a:pPr>
            <a:r>
              <a:rPr lang="en-US" altLang="ko-KR" sz="1400" b="1" dirty="0"/>
              <a:t>Filter elements of the addresses attribute</a:t>
            </a:r>
            <a:r>
              <a:rPr lang="en-US" altLang="ko-KR" sz="1400" dirty="0"/>
              <a:t>, taking only those that </a:t>
            </a:r>
            <a:r>
              <a:rPr lang="en-US" altLang="ko-KR" sz="1400" b="1" dirty="0"/>
              <a:t>have the type attribute set to </a:t>
            </a:r>
            <a:r>
              <a:rPr lang="en-US" altLang="ko-KR" sz="1400" b="1" dirty="0" err="1"/>
              <a:t>ExternalIP</a:t>
            </a:r>
            <a:r>
              <a:rPr lang="en-US" altLang="ko-KR" sz="1400" dirty="0"/>
              <a:t>.</a:t>
            </a:r>
          </a:p>
          <a:p>
            <a:pPr lvl="2">
              <a:buFont typeface="Wingdings" panose="05000000000000000000" pitchFamily="2" charset="2"/>
              <a:buChar char="§"/>
            </a:pPr>
            <a:r>
              <a:rPr lang="en-US" altLang="ko-KR" sz="1400" dirty="0"/>
              <a:t>Finally, </a:t>
            </a:r>
            <a:r>
              <a:rPr lang="en-US" altLang="ko-KR" sz="1400" b="1" dirty="0"/>
              <a:t>print the address attribute of the filtered elements</a:t>
            </a:r>
            <a:r>
              <a:rPr lang="en-US" altLang="ko-KR" sz="1400" dirty="0"/>
              <a:t>.</a:t>
            </a:r>
          </a:p>
          <a:p>
            <a:pPr lvl="1">
              <a:buFont typeface="Wingdings" panose="05000000000000000000" pitchFamily="2" charset="2"/>
              <a:buChar char="§"/>
            </a:pPr>
            <a:r>
              <a:rPr lang="en-US" altLang="ko-KR" sz="1400" dirty="0"/>
              <a:t>To learn more about how to use </a:t>
            </a:r>
            <a:r>
              <a:rPr lang="en-US" altLang="ko-KR" sz="1400" b="1" dirty="0" err="1"/>
              <a:t>JSONPath</a:t>
            </a:r>
            <a:r>
              <a:rPr lang="en-US" altLang="ko-KR" sz="1400" dirty="0"/>
              <a:t> with </a:t>
            </a:r>
            <a:r>
              <a:rPr lang="en-US" altLang="ko-KR" sz="1400" dirty="0" err="1"/>
              <a:t>kubectl</a:t>
            </a:r>
            <a:r>
              <a:rPr lang="en-US" altLang="ko-KR" sz="1400" dirty="0"/>
              <a:t>, refer to the documentation at </a:t>
            </a:r>
            <a:r>
              <a:rPr lang="en-US" altLang="ko-KR" sz="1400" b="1" dirty="0">
                <a:hlinkClick r:id="rId2"/>
              </a:rPr>
              <a:t>http://kubernetes.io/docs/user-guide/jsonpath</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7898332D-6C3A-7DE3-903F-B2232EF861AF}"/>
              </a:ext>
            </a:extLst>
          </p:cNvPr>
          <p:cNvGrpSpPr/>
          <p:nvPr/>
        </p:nvGrpSpPr>
        <p:grpSpPr>
          <a:xfrm>
            <a:off x="1123950" y="1732895"/>
            <a:ext cx="9944100" cy="1975994"/>
            <a:chOff x="1123950" y="1679555"/>
            <a:chExt cx="9944100" cy="1975994"/>
          </a:xfrm>
        </p:grpSpPr>
        <p:grpSp>
          <p:nvGrpSpPr>
            <p:cNvPr id="12" name="그룹 11">
              <a:extLst>
                <a:ext uri="{FF2B5EF4-FFF2-40B4-BE49-F238E27FC236}">
                  <a16:creationId xmlns:a16="http://schemas.microsoft.com/office/drawing/2014/main" id="{9AF0EFDA-D7E7-EADD-AE27-0F8D10DAFFB6}"/>
                </a:ext>
              </a:extLst>
            </p:cNvPr>
            <p:cNvGrpSpPr/>
            <p:nvPr/>
          </p:nvGrpSpPr>
          <p:grpSpPr>
            <a:xfrm>
              <a:off x="1123950" y="1679555"/>
              <a:ext cx="9944100" cy="1975994"/>
              <a:chOff x="1123950" y="1679555"/>
              <a:chExt cx="9944100" cy="1975994"/>
            </a:xfrm>
          </p:grpSpPr>
          <p:sp>
            <p:nvSpPr>
              <p:cNvPr id="8" name="TextBox 7">
                <a:extLst>
                  <a:ext uri="{FF2B5EF4-FFF2-40B4-BE49-F238E27FC236}">
                    <a16:creationId xmlns:a16="http://schemas.microsoft.com/office/drawing/2014/main" id="{E9633727-231C-5F6E-5BF7-18D21E9F41F6}"/>
                  </a:ext>
                </a:extLst>
              </p:cNvPr>
              <p:cNvSpPr txBox="1"/>
              <p:nvPr/>
            </p:nvSpPr>
            <p:spPr>
              <a:xfrm>
                <a:off x="3048000" y="1679555"/>
                <a:ext cx="609600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nodes </a:t>
                </a:r>
                <a:r>
                  <a:rPr lang="en-US" altLang="ko-KR" sz="1000" b="1" dirty="0">
                    <a:solidFill>
                      <a:srgbClr val="FF0000"/>
                    </a:solidFill>
                  </a:rPr>
                  <a:t>–o=</a:t>
                </a:r>
                <a:r>
                  <a:rPr lang="en-US" altLang="ko-KR" sz="1000" b="1" dirty="0" err="1">
                    <a:solidFill>
                      <a:srgbClr val="FF0000"/>
                    </a:solidFill>
                  </a:rPr>
                  <a:t>jsonpath</a:t>
                </a:r>
                <a:r>
                  <a:rPr lang="en-US" altLang="ko-KR" sz="1000" b="1" dirty="0">
                    <a:solidFill>
                      <a:srgbClr val="FF0000"/>
                    </a:solidFill>
                  </a:rPr>
                  <a:t>='{.items[*].</a:t>
                </a:r>
                <a:r>
                  <a:rPr lang="en-US" altLang="ko-KR" sz="1000" b="1" dirty="0" err="1">
                    <a:solidFill>
                      <a:srgbClr val="FF0000"/>
                    </a:solidFill>
                  </a:rPr>
                  <a:t>status.addresses</a:t>
                </a:r>
                <a:r>
                  <a:rPr lang="en-US" altLang="ko-KR" sz="1000" b="1" dirty="0">
                    <a:solidFill>
                      <a:srgbClr val="FF0000"/>
                    </a:solidFill>
                  </a:rPr>
                  <a:t>[?(@.type==“InternalIP")].address}'</a:t>
                </a:r>
              </a:p>
            </p:txBody>
          </p:sp>
          <p:pic>
            <p:nvPicPr>
              <p:cNvPr id="10" name="그림 9">
                <a:extLst>
                  <a:ext uri="{FF2B5EF4-FFF2-40B4-BE49-F238E27FC236}">
                    <a16:creationId xmlns:a16="http://schemas.microsoft.com/office/drawing/2014/main" id="{CC64A15A-FCF8-7F50-48C1-7BDF358F3432}"/>
                  </a:ext>
                </a:extLst>
              </p:cNvPr>
              <p:cNvPicPr>
                <a:picLocks noChangeAspect="1"/>
              </p:cNvPicPr>
              <p:nvPr/>
            </p:nvPicPr>
            <p:blipFill>
              <a:blip r:embed="rId3"/>
              <a:stretch>
                <a:fillRect/>
              </a:stretch>
            </p:blipFill>
            <p:spPr>
              <a:xfrm>
                <a:off x="1123950" y="2189778"/>
                <a:ext cx="9944100" cy="1465771"/>
              </a:xfrm>
              <a:prstGeom prst="rect">
                <a:avLst/>
              </a:prstGeom>
            </p:spPr>
          </p:pic>
          <p:sp>
            <p:nvSpPr>
              <p:cNvPr id="11" name="화살표: 아래쪽 10">
                <a:extLst>
                  <a:ext uri="{FF2B5EF4-FFF2-40B4-BE49-F238E27FC236}">
                    <a16:creationId xmlns:a16="http://schemas.microsoft.com/office/drawing/2014/main" id="{1E7E9B6C-D345-4F32-E592-593BACAA137A}"/>
                  </a:ext>
                </a:extLst>
              </p:cNvPr>
              <p:cNvSpPr/>
              <p:nvPr/>
            </p:nvSpPr>
            <p:spPr>
              <a:xfrm>
                <a:off x="5882640" y="1925776"/>
                <a:ext cx="42672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C4B80F6B-F623-6256-753A-3192AFE6BDA4}"/>
                </a:ext>
              </a:extLst>
            </p:cNvPr>
            <p:cNvSpPr/>
            <p:nvPr/>
          </p:nvSpPr>
          <p:spPr>
            <a:xfrm>
              <a:off x="1226820" y="2758440"/>
              <a:ext cx="800100" cy="1371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45912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Clients(5/12)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Examining Your </a:t>
            </a:r>
            <a:r>
              <a:rPr lang="en-US" altLang="ko-KR" sz="1800" b="1" dirty="0" err="1"/>
              <a:t>NodePort</a:t>
            </a:r>
            <a:r>
              <a:rPr lang="en-US" altLang="ko-KR" sz="1800" b="1" dirty="0"/>
              <a:t> Service :</a:t>
            </a:r>
          </a:p>
          <a:p>
            <a:pPr lvl="1">
              <a:buFont typeface="Wingdings" panose="05000000000000000000" pitchFamily="2" charset="2"/>
              <a:buChar char="§"/>
            </a:pPr>
            <a:r>
              <a:rPr lang="en-US" altLang="ko-KR" sz="1400" dirty="0"/>
              <a:t>Once you know </a:t>
            </a:r>
            <a:r>
              <a:rPr lang="en-US" altLang="ko-KR" sz="1400" b="1" dirty="0"/>
              <a:t>the IPs of your nodes</a:t>
            </a:r>
            <a:r>
              <a:rPr lang="en-US" altLang="ko-KR" sz="1400" dirty="0"/>
              <a:t>, you can try accessing your service through them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TIP : When using </a:t>
            </a:r>
            <a:r>
              <a:rPr lang="en-US" altLang="ko-KR" sz="1400" b="1" dirty="0" err="1"/>
              <a:t>Minikube</a:t>
            </a:r>
            <a:r>
              <a:rPr lang="en-US" altLang="ko-KR" sz="1400" b="1" dirty="0"/>
              <a:t>, you can easily access your </a:t>
            </a:r>
            <a:r>
              <a:rPr lang="en-US" altLang="ko-KR" sz="1400" b="1" dirty="0" err="1"/>
              <a:t>NodePort</a:t>
            </a:r>
            <a:r>
              <a:rPr lang="en-US" altLang="ko-KR" sz="1400" b="1" dirty="0"/>
              <a:t> services through your browser by running “</a:t>
            </a:r>
            <a:r>
              <a:rPr lang="en-US" altLang="ko-KR" sz="1400" b="1" dirty="0" err="1"/>
              <a:t>minikube</a:t>
            </a:r>
            <a:r>
              <a:rPr lang="en-US" altLang="ko-KR" sz="1400" b="1" dirty="0"/>
              <a:t> service &lt;service-name&gt; [-n &lt;namespace&gt;]”</a:t>
            </a:r>
            <a:r>
              <a:rPr lang="en-US" altLang="ko-KR" sz="1400" dirty="0"/>
              <a:t>.</a:t>
            </a:r>
          </a:p>
          <a:p>
            <a:pPr lvl="1">
              <a:buFont typeface="Wingdings" panose="05000000000000000000" pitchFamily="2" charset="2"/>
              <a:buChar char="§"/>
            </a:pPr>
            <a:r>
              <a:rPr lang="en-US" altLang="ko-KR" sz="1400" b="1" dirty="0"/>
              <a:t>As you can see, your pods are now accessible to the whole internet through port 30123 on any of your nodes</a:t>
            </a:r>
            <a:r>
              <a:rPr lang="en-US" altLang="ko-KR" sz="1400" dirty="0"/>
              <a:t>. It doesn’t matter what node a client sends the request to. </a:t>
            </a:r>
            <a:r>
              <a:rPr lang="en-US" altLang="ko-KR" sz="1400" b="1" dirty="0"/>
              <a:t>But if you only point your clients to the first node, when that node fails, your clients can’t access the service anymore</a:t>
            </a:r>
            <a:r>
              <a:rPr lang="en-US" altLang="ko-KR" sz="1400" dirty="0"/>
              <a:t>. That’s why it makes sense to </a:t>
            </a:r>
            <a:r>
              <a:rPr lang="en-US" altLang="ko-KR" sz="1400" b="1" dirty="0"/>
              <a:t>put a </a:t>
            </a:r>
            <a:r>
              <a:rPr lang="en-US" altLang="ko-KR" sz="1400" b="1" dirty="0">
                <a:solidFill>
                  <a:srgbClr val="FF0000"/>
                </a:solidFill>
              </a:rPr>
              <a:t>load balancer </a:t>
            </a:r>
            <a:r>
              <a:rPr lang="en-US" altLang="ko-KR" sz="1400" b="1" dirty="0"/>
              <a:t>in front of the nodes to make sure you’re spreading requests across all healthy nodes and never sending them to a node that’s offline at that moment</a:t>
            </a:r>
            <a:r>
              <a:rPr lang="en-US" altLang="ko-KR" sz="1400" dirty="0"/>
              <a:t>. </a:t>
            </a:r>
          </a:p>
          <a:p>
            <a:pPr lvl="1">
              <a:buFont typeface="Wingdings" panose="05000000000000000000" pitchFamily="2" charset="2"/>
              <a:buChar char="§"/>
            </a:pPr>
            <a:r>
              <a:rPr lang="en-US" altLang="ko-KR" sz="1400" b="1" dirty="0"/>
              <a:t>If your Kubernetes cluster supports it (which is mostly true when Kubernetes is deployed on cloud infrastructure), the load balancer can be provisioned automatically by creating a “</a:t>
            </a:r>
            <a:r>
              <a:rPr lang="en-US" altLang="ko-KR" sz="1400" b="1" dirty="0" err="1">
                <a:solidFill>
                  <a:srgbClr val="FF0000"/>
                </a:solidFill>
              </a:rPr>
              <a:t>LoadBalancer</a:t>
            </a:r>
            <a:r>
              <a:rPr lang="en-US" altLang="ko-KR" sz="1400" b="1" dirty="0"/>
              <a:t>” instead of a </a:t>
            </a:r>
            <a:r>
              <a:rPr lang="en-US" altLang="ko-KR" sz="1400" b="1" dirty="0" err="1"/>
              <a:t>NodePort</a:t>
            </a:r>
            <a:r>
              <a:rPr lang="en-US" altLang="ko-KR" sz="1400" b="1" dirty="0"/>
              <a:t> service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4CEA48CB-A63F-0EE9-6B37-4E7B18C02856}"/>
              </a:ext>
            </a:extLst>
          </p:cNvPr>
          <p:cNvGrpSpPr/>
          <p:nvPr/>
        </p:nvGrpSpPr>
        <p:grpSpPr>
          <a:xfrm>
            <a:off x="1438563" y="1655631"/>
            <a:ext cx="9314874" cy="1936087"/>
            <a:chOff x="1438563" y="1435020"/>
            <a:chExt cx="9314874" cy="1936087"/>
          </a:xfrm>
        </p:grpSpPr>
        <p:pic>
          <p:nvPicPr>
            <p:cNvPr id="8" name="그림 7">
              <a:extLst>
                <a:ext uri="{FF2B5EF4-FFF2-40B4-BE49-F238E27FC236}">
                  <a16:creationId xmlns:a16="http://schemas.microsoft.com/office/drawing/2014/main" id="{62F745EF-416D-C24C-8288-BF1793BF45AE}"/>
                </a:ext>
              </a:extLst>
            </p:cNvPr>
            <p:cNvPicPr>
              <a:picLocks noChangeAspect="1"/>
            </p:cNvPicPr>
            <p:nvPr/>
          </p:nvPicPr>
          <p:blipFill>
            <a:blip r:embed="rId2"/>
            <a:stretch>
              <a:fillRect/>
            </a:stretch>
          </p:blipFill>
          <p:spPr>
            <a:xfrm>
              <a:off x="1438563" y="1940366"/>
              <a:ext cx="9314874" cy="1430741"/>
            </a:xfrm>
            <a:prstGeom prst="rect">
              <a:avLst/>
            </a:prstGeom>
          </p:spPr>
        </p:pic>
        <p:sp>
          <p:nvSpPr>
            <p:cNvPr id="10" name="TextBox 9">
              <a:extLst>
                <a:ext uri="{FF2B5EF4-FFF2-40B4-BE49-F238E27FC236}">
                  <a16:creationId xmlns:a16="http://schemas.microsoft.com/office/drawing/2014/main" id="{6867DB86-B7E5-C0B2-95C3-F999514A8008}"/>
                </a:ext>
              </a:extLst>
            </p:cNvPr>
            <p:cNvSpPr txBox="1"/>
            <p:nvPr/>
          </p:nvSpPr>
          <p:spPr>
            <a:xfrm>
              <a:off x="3047343" y="1435020"/>
              <a:ext cx="6097314" cy="246221"/>
            </a:xfrm>
            <a:prstGeom prst="rect">
              <a:avLst/>
            </a:prstGeom>
            <a:noFill/>
            <a:ln>
              <a:solidFill>
                <a:schemeClr val="bg1">
                  <a:lumMod val="50000"/>
                </a:schemeClr>
              </a:solidFill>
            </a:ln>
          </p:spPr>
          <p:txBody>
            <a:bodyPr wrap="square">
              <a:spAutoFit/>
            </a:bodyPr>
            <a:lstStyle/>
            <a:p>
              <a:r>
                <a:rPr lang="it-IT" altLang="ko-KR" sz="1000" b="1" dirty="0"/>
                <a:t>$ curl </a:t>
              </a:r>
              <a:r>
                <a:rPr lang="it-IT" altLang="ko-KR" sz="1000" b="1" dirty="0">
                  <a:solidFill>
                    <a:srgbClr val="FF0000"/>
                  </a:solidFill>
                </a:rPr>
                <a:t>http://&lt;node_IP_address&gt;:30123</a:t>
              </a:r>
            </a:p>
          </p:txBody>
        </p:sp>
        <p:sp>
          <p:nvSpPr>
            <p:cNvPr id="11" name="화살표: 아래쪽 10">
              <a:extLst>
                <a:ext uri="{FF2B5EF4-FFF2-40B4-BE49-F238E27FC236}">
                  <a16:creationId xmlns:a16="http://schemas.microsoft.com/office/drawing/2014/main" id="{3FE5412B-16E5-0EE0-3A6A-EA39B5788FCE}"/>
                </a:ext>
              </a:extLst>
            </p:cNvPr>
            <p:cNvSpPr/>
            <p:nvPr/>
          </p:nvSpPr>
          <p:spPr>
            <a:xfrm>
              <a:off x="5883165" y="1694146"/>
              <a:ext cx="425669" cy="2462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711649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a:t>
            </a:r>
            <a:r>
              <a:rPr lang="en-US" altLang="ko-KR" sz="2800" b="1" dirty="0" err="1"/>
              <a:t>NodePort</a:t>
            </a:r>
            <a:r>
              <a:rPr lang="en-US" altLang="ko-KR" sz="2800" b="1" dirty="0"/>
              <a:t> in </a:t>
            </a:r>
            <a:r>
              <a:rPr lang="en-US" altLang="ko-KR" sz="2800" b="1" dirty="0" err="1"/>
              <a:t>Minikube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Accessing Service Using </a:t>
            </a:r>
            <a:r>
              <a:rPr lang="en-US" altLang="ko-KR" sz="1800" b="1" dirty="0" err="1"/>
              <a:t>Minikube</a:t>
            </a:r>
            <a:r>
              <a:rPr lang="en-US" altLang="ko-KR" sz="1800" b="1" dirty="0"/>
              <a:t> :</a:t>
            </a:r>
          </a:p>
          <a:p>
            <a:pPr lvl="1">
              <a:buFont typeface="Wingdings" panose="05000000000000000000" pitchFamily="2" charset="2"/>
              <a:buChar char="§"/>
            </a:pPr>
            <a:r>
              <a:rPr lang="en-US" altLang="ko-KR" sz="1400" dirty="0"/>
              <a:t>You can use the “</a:t>
            </a:r>
            <a:r>
              <a:rPr lang="en-US" altLang="ko-KR" sz="1400" b="1" dirty="0" err="1"/>
              <a:t>minikube</a:t>
            </a:r>
            <a:r>
              <a:rPr lang="en-US" altLang="ko-KR" sz="1400" b="1" dirty="0"/>
              <a:t> service </a:t>
            </a:r>
            <a:r>
              <a:rPr lang="en-US" altLang="ko-KR" sz="1400" b="1" dirty="0" err="1"/>
              <a:t>kubia-nodeport</a:t>
            </a:r>
            <a:r>
              <a:rPr lang="en-US" altLang="ko-KR" sz="1400" dirty="0"/>
              <a:t>” command to access the previous service.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C033F9B3-E4A9-0B9E-1804-4F57F3B62EE3}"/>
              </a:ext>
            </a:extLst>
          </p:cNvPr>
          <p:cNvGrpSpPr/>
          <p:nvPr/>
        </p:nvGrpSpPr>
        <p:grpSpPr>
          <a:xfrm>
            <a:off x="1660675" y="1471059"/>
            <a:ext cx="8870650" cy="4937971"/>
            <a:chOff x="1660674" y="1486081"/>
            <a:chExt cx="8870650" cy="4937971"/>
          </a:xfrm>
        </p:grpSpPr>
        <p:pic>
          <p:nvPicPr>
            <p:cNvPr id="8" name="그림 7">
              <a:extLst>
                <a:ext uri="{FF2B5EF4-FFF2-40B4-BE49-F238E27FC236}">
                  <a16:creationId xmlns:a16="http://schemas.microsoft.com/office/drawing/2014/main" id="{1D4C0EA0-2770-0A73-6736-D2FBC936D261}"/>
                </a:ext>
              </a:extLst>
            </p:cNvPr>
            <p:cNvPicPr>
              <a:picLocks noChangeAspect="1"/>
            </p:cNvPicPr>
            <p:nvPr/>
          </p:nvPicPr>
          <p:blipFill>
            <a:blip r:embed="rId2"/>
            <a:stretch>
              <a:fillRect/>
            </a:stretch>
          </p:blipFill>
          <p:spPr>
            <a:xfrm>
              <a:off x="1660675" y="1486081"/>
              <a:ext cx="8870649" cy="2291253"/>
            </a:xfrm>
            <a:prstGeom prst="rect">
              <a:avLst/>
            </a:prstGeom>
          </p:spPr>
        </p:pic>
        <p:pic>
          <p:nvPicPr>
            <p:cNvPr id="10" name="그림 9">
              <a:extLst>
                <a:ext uri="{FF2B5EF4-FFF2-40B4-BE49-F238E27FC236}">
                  <a16:creationId xmlns:a16="http://schemas.microsoft.com/office/drawing/2014/main" id="{20E953D0-AF02-426F-C499-48AD6522A227}"/>
                </a:ext>
              </a:extLst>
            </p:cNvPr>
            <p:cNvPicPr>
              <a:picLocks noChangeAspect="1"/>
            </p:cNvPicPr>
            <p:nvPr/>
          </p:nvPicPr>
          <p:blipFill>
            <a:blip r:embed="rId3"/>
            <a:stretch>
              <a:fillRect/>
            </a:stretch>
          </p:blipFill>
          <p:spPr>
            <a:xfrm>
              <a:off x="1660674" y="3841949"/>
              <a:ext cx="8870649" cy="2582103"/>
            </a:xfrm>
            <a:prstGeom prst="rect">
              <a:avLst/>
            </a:prstGeom>
          </p:spPr>
        </p:pic>
      </p:grpSp>
      <p:sp>
        <p:nvSpPr>
          <p:cNvPr id="12" name="직사각형 11">
            <a:extLst>
              <a:ext uri="{FF2B5EF4-FFF2-40B4-BE49-F238E27FC236}">
                <a16:creationId xmlns:a16="http://schemas.microsoft.com/office/drawing/2014/main" id="{3973388A-DCA1-EC81-21EF-17619C22B85B}"/>
              </a:ext>
            </a:extLst>
          </p:cNvPr>
          <p:cNvSpPr/>
          <p:nvPr/>
        </p:nvSpPr>
        <p:spPr>
          <a:xfrm>
            <a:off x="5722882" y="1907628"/>
            <a:ext cx="2049518"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6B601EA8-CEC3-8988-02D6-3D5305EDF6AB}"/>
              </a:ext>
            </a:extLst>
          </p:cNvPr>
          <p:cNvSpPr/>
          <p:nvPr/>
        </p:nvSpPr>
        <p:spPr>
          <a:xfrm>
            <a:off x="3681248" y="4288221"/>
            <a:ext cx="993228"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603356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Clients(6/12)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Exposing a Service Through an External Load Balancer :</a:t>
            </a:r>
          </a:p>
          <a:p>
            <a:pPr lvl="1">
              <a:buFont typeface="Wingdings" panose="05000000000000000000" pitchFamily="2" charset="2"/>
              <a:buChar char="§"/>
            </a:pPr>
            <a:r>
              <a:rPr lang="en-US" altLang="ko-KR" sz="1400" dirty="0"/>
              <a:t>Kubernetes clusters running on cloud providers usually </a:t>
            </a:r>
            <a:r>
              <a:rPr lang="en-US" altLang="ko-KR" sz="1400" b="1" dirty="0"/>
              <a:t>support the automatic provision of a load balancer from the cloud infrastructure</a:t>
            </a:r>
            <a:r>
              <a:rPr lang="en-US" altLang="ko-KR" sz="1400" dirty="0"/>
              <a:t>. </a:t>
            </a:r>
            <a:r>
              <a:rPr lang="en-US" altLang="ko-KR" sz="1400" b="1" dirty="0"/>
              <a:t>All you need to do is </a:t>
            </a:r>
            <a:r>
              <a:rPr lang="en-US" altLang="ko-KR" sz="1400" b="1" dirty="0">
                <a:solidFill>
                  <a:srgbClr val="FF0000"/>
                </a:solidFill>
              </a:rPr>
              <a:t>set the service’s type to </a:t>
            </a:r>
            <a:r>
              <a:rPr lang="en-US" altLang="ko-KR" sz="1400" b="1" dirty="0" err="1">
                <a:solidFill>
                  <a:srgbClr val="FF0000"/>
                </a:solidFill>
              </a:rPr>
              <a:t>LoadBalancer</a:t>
            </a:r>
            <a:r>
              <a:rPr lang="en-US" altLang="ko-KR" sz="1400" b="1" dirty="0">
                <a:solidFill>
                  <a:srgbClr val="FF0000"/>
                </a:solidFill>
              </a:rPr>
              <a:t> instead of </a:t>
            </a:r>
            <a:r>
              <a:rPr lang="en-US" altLang="ko-KR" sz="1400" b="1" dirty="0" err="1">
                <a:solidFill>
                  <a:srgbClr val="FF0000"/>
                </a:solidFill>
              </a:rPr>
              <a:t>NodePort</a:t>
            </a:r>
            <a:r>
              <a:rPr lang="en-US" altLang="ko-KR" sz="1400" dirty="0"/>
              <a:t>. </a:t>
            </a:r>
            <a:r>
              <a:rPr lang="en-US" altLang="ko-KR" sz="1400" b="1" dirty="0"/>
              <a:t>The load balancer will have its own unique, </a:t>
            </a:r>
            <a:r>
              <a:rPr lang="en-US" altLang="ko-KR" sz="1400" b="1" dirty="0">
                <a:solidFill>
                  <a:srgbClr val="FF0000"/>
                </a:solidFill>
              </a:rPr>
              <a:t>publicly accessible IP address </a:t>
            </a:r>
            <a:r>
              <a:rPr lang="en-US" altLang="ko-KR" sz="1400" b="1" dirty="0"/>
              <a:t>and will redirect all connections to your service</a:t>
            </a:r>
            <a:r>
              <a:rPr lang="en-US" altLang="ko-KR" sz="1400" dirty="0"/>
              <a:t>. You can thus access your service through the load balancer’s IP address.</a:t>
            </a:r>
          </a:p>
          <a:p>
            <a:pPr lvl="1">
              <a:buFont typeface="Wingdings" panose="05000000000000000000" pitchFamily="2" charset="2"/>
              <a:buChar char="§"/>
            </a:pPr>
            <a:r>
              <a:rPr lang="en-US" altLang="ko-KR" sz="1400" dirty="0"/>
              <a:t>If Kubernetes is running in an environment that doesn’t support </a:t>
            </a:r>
            <a:r>
              <a:rPr lang="en-US" altLang="ko-KR" sz="1400" dirty="0" err="1"/>
              <a:t>LoadBalancer</a:t>
            </a:r>
            <a:r>
              <a:rPr lang="en-US" altLang="ko-KR" sz="1400" dirty="0"/>
              <a:t> services, the load balancer will not be provisioned, but the service will still behave like a </a:t>
            </a:r>
            <a:r>
              <a:rPr lang="en-US" altLang="ko-KR" sz="1400" dirty="0" err="1"/>
              <a:t>NodePort</a:t>
            </a:r>
            <a:r>
              <a:rPr lang="en-US" altLang="ko-KR" sz="1400" dirty="0"/>
              <a:t> service. </a:t>
            </a:r>
            <a:r>
              <a:rPr lang="en-US" altLang="ko-KR" sz="1400" b="1" dirty="0"/>
              <a:t>That’s because a </a:t>
            </a:r>
            <a:r>
              <a:rPr lang="en-US" altLang="ko-KR" sz="1400" b="1" dirty="0" err="1"/>
              <a:t>LoadBalancer</a:t>
            </a:r>
            <a:r>
              <a:rPr lang="en-US" altLang="ko-KR" sz="1400" b="1" dirty="0"/>
              <a:t> service is an extension of a </a:t>
            </a:r>
            <a:r>
              <a:rPr lang="en-US" altLang="ko-KR" sz="1400" b="1" dirty="0" err="1"/>
              <a:t>NodePort</a:t>
            </a:r>
            <a:r>
              <a:rPr lang="en-US" altLang="ko-KR" sz="1400" b="1" dirty="0"/>
              <a:t> service</a:t>
            </a:r>
            <a:r>
              <a:rPr lang="en-US" altLang="ko-KR" sz="1400" dirty="0"/>
              <a:t>. </a:t>
            </a:r>
            <a:r>
              <a:rPr lang="en-US" altLang="ko-KR" sz="1400" b="1" dirty="0"/>
              <a:t>Google Kubernetes Engine(GKE) supports </a:t>
            </a:r>
            <a:r>
              <a:rPr lang="en-US" altLang="ko-KR" sz="1400" b="1" dirty="0" err="1"/>
              <a:t>LoadBalancer</a:t>
            </a:r>
            <a:r>
              <a:rPr lang="en-US" altLang="ko-KR" sz="1400" b="1" dirty="0"/>
              <a:t> services</a:t>
            </a:r>
            <a:r>
              <a:rPr lang="en-US" altLang="ko-KR" sz="1400" dirty="0"/>
              <a:t>. </a:t>
            </a:r>
            <a:r>
              <a:rPr lang="en-US" altLang="ko-KR" sz="1400" b="1" dirty="0"/>
              <a:t>But, </a:t>
            </a:r>
            <a:r>
              <a:rPr lang="en-US" altLang="ko-KR" sz="1400" b="1" dirty="0" err="1"/>
              <a:t>Minikube</a:t>
            </a:r>
            <a:r>
              <a:rPr lang="en-US" altLang="ko-KR" sz="1400" b="1" dirty="0"/>
              <a:t> doesn’t</a:t>
            </a:r>
            <a:r>
              <a:rPr lang="en-US" altLang="ko-KR" sz="1400" dirty="0"/>
              <a:t>.</a:t>
            </a:r>
          </a:p>
          <a:p>
            <a:pPr lvl="1">
              <a:buFont typeface="Wingdings" panose="05000000000000000000" pitchFamily="2" charset="2"/>
              <a:buChar char="§"/>
            </a:pPr>
            <a:r>
              <a:rPr lang="en-US" altLang="ko-KR" sz="1400" b="1" dirty="0"/>
              <a:t>To create a service with a load balancer</a:t>
            </a:r>
            <a:r>
              <a:rPr lang="en-US" altLang="ko-KR" sz="1400" dirty="0"/>
              <a:t> </a:t>
            </a:r>
            <a:r>
              <a:rPr lang="en-US" altLang="ko-KR" sz="1400" b="1" dirty="0"/>
              <a:t>in front</a:t>
            </a:r>
            <a:r>
              <a:rPr lang="en-US" altLang="ko-KR" sz="1400" dirty="0"/>
              <a:t>, create the service from the following YAML manifest,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service type is set to </a:t>
            </a:r>
            <a:r>
              <a:rPr lang="en-US" altLang="ko-KR" sz="1400" b="1" dirty="0" err="1"/>
              <a:t>LoadBalancer</a:t>
            </a:r>
            <a:r>
              <a:rPr lang="en-US" altLang="ko-KR" sz="1400" b="1" dirty="0"/>
              <a:t> instead of </a:t>
            </a:r>
            <a:r>
              <a:rPr lang="en-US" altLang="ko-KR" sz="1400" b="1" dirty="0" err="1"/>
              <a:t>NodePort</a:t>
            </a:r>
            <a:r>
              <a:rPr lang="en-US" altLang="ko-KR" sz="1400" dirty="0"/>
              <a:t>. </a:t>
            </a:r>
            <a:r>
              <a:rPr lang="en-US" altLang="ko-KR" sz="1400" b="1" dirty="0"/>
              <a:t>You’re not specifying a specific node port, although you could (you’re letting Kubernetes choose one instead)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FB1FF7DB-DDFC-9B69-0A4C-7B5596D04339}"/>
              </a:ext>
            </a:extLst>
          </p:cNvPr>
          <p:cNvGrpSpPr/>
          <p:nvPr/>
        </p:nvGrpSpPr>
        <p:grpSpPr>
          <a:xfrm>
            <a:off x="3047343" y="3429000"/>
            <a:ext cx="6097314" cy="1785104"/>
            <a:chOff x="3047343" y="3429000"/>
            <a:chExt cx="6097314" cy="1785104"/>
          </a:xfrm>
        </p:grpSpPr>
        <p:sp>
          <p:nvSpPr>
            <p:cNvPr id="10" name="TextBox 9">
              <a:extLst>
                <a:ext uri="{FF2B5EF4-FFF2-40B4-BE49-F238E27FC236}">
                  <a16:creationId xmlns:a16="http://schemas.microsoft.com/office/drawing/2014/main" id="{1AE3862C-AA95-3C5C-97DC-99A528325830}"/>
                </a:ext>
              </a:extLst>
            </p:cNvPr>
            <p:cNvSpPr txBox="1"/>
            <p:nvPr/>
          </p:nvSpPr>
          <p:spPr>
            <a:xfrm>
              <a:off x="3047343" y="3429000"/>
              <a:ext cx="6097314"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err="1">
                  <a:solidFill>
                    <a:srgbClr val="FF0000"/>
                  </a:solidFill>
                </a:rPr>
                <a:t>kubia-loadbalancer</a:t>
              </a:r>
              <a:endParaRPr lang="en-US" altLang="ko-KR" sz="1000" b="1" dirty="0">
                <a:solidFill>
                  <a:srgbClr val="FF0000"/>
                </a:solidFill>
              </a:endParaRPr>
            </a:p>
            <a:p>
              <a:r>
                <a:rPr lang="en-US" altLang="ko-KR" sz="1000" b="1" dirty="0"/>
                <a:t>spec:</a:t>
              </a:r>
            </a:p>
            <a:p>
              <a:r>
                <a:rPr lang="en-US" altLang="ko-KR" sz="1000" b="1" dirty="0">
                  <a:solidFill>
                    <a:srgbClr val="FF0000"/>
                  </a:solidFill>
                </a:rPr>
                <a:t>  type: </a:t>
              </a:r>
              <a:r>
                <a:rPr lang="en-US" altLang="ko-KR" sz="1000" b="1" dirty="0" err="1">
                  <a:solidFill>
                    <a:srgbClr val="FF0000"/>
                  </a:solidFill>
                </a:rPr>
                <a:t>LoadBalancer</a:t>
              </a:r>
              <a:endParaRPr lang="en-US" altLang="ko-KR" sz="1000" b="1" dirty="0">
                <a:solidFill>
                  <a:srgbClr val="FF0000"/>
                </a:solidFill>
              </a:endParaRPr>
            </a:p>
            <a:p>
              <a:r>
                <a:rPr lang="en-US" altLang="ko-KR" sz="1000" b="1" dirty="0"/>
                <a:t>  ports:</a:t>
              </a:r>
            </a:p>
            <a:p>
              <a:r>
                <a:rPr lang="en-US" altLang="ko-KR" sz="1000" b="1" dirty="0"/>
                <a:t>  - port: 80</a:t>
              </a:r>
            </a:p>
            <a:p>
              <a:r>
                <a:rPr lang="en-US" altLang="ko-KR" sz="1000" b="1" dirty="0"/>
                <a:t>    </a:t>
              </a:r>
              <a:r>
                <a:rPr lang="en-US" altLang="ko-KR" sz="1000" b="1" dirty="0" err="1"/>
                <a:t>targetPort</a:t>
              </a:r>
              <a:r>
                <a:rPr lang="en-US" altLang="ko-KR" sz="1000" b="1" dirty="0"/>
                <a:t>: 8080</a:t>
              </a:r>
            </a:p>
            <a:p>
              <a:r>
                <a:rPr lang="en-US" altLang="ko-KR" sz="1000" b="1" dirty="0"/>
                <a:t>  selector:</a:t>
              </a:r>
            </a:p>
            <a:p>
              <a:r>
                <a:rPr lang="en-US" altLang="ko-KR" sz="1000" b="1" dirty="0"/>
                <a:t>    app: </a:t>
              </a:r>
              <a:r>
                <a:rPr lang="en-US" altLang="ko-KR" sz="1000" b="1" dirty="0" err="1"/>
                <a:t>kubia</a:t>
              </a:r>
              <a:endParaRPr lang="ko-KR" altLang="en-US" sz="1000" b="1" dirty="0"/>
            </a:p>
          </p:txBody>
        </p:sp>
        <p:sp>
          <p:nvSpPr>
            <p:cNvPr id="11" name="TextBox 10">
              <a:extLst>
                <a:ext uri="{FF2B5EF4-FFF2-40B4-BE49-F238E27FC236}">
                  <a16:creationId xmlns:a16="http://schemas.microsoft.com/office/drawing/2014/main" id="{A33E72B3-EEF9-A29D-1B55-A96EA3C6C575}"/>
                </a:ext>
              </a:extLst>
            </p:cNvPr>
            <p:cNvSpPr txBox="1"/>
            <p:nvPr/>
          </p:nvSpPr>
          <p:spPr>
            <a:xfrm>
              <a:off x="7225542" y="3429000"/>
              <a:ext cx="1919115" cy="246221"/>
            </a:xfrm>
            <a:prstGeom prst="rect">
              <a:avLst/>
            </a:prstGeom>
            <a:noFill/>
          </p:spPr>
          <p:txBody>
            <a:bodyPr wrap="none" rtlCol="0">
              <a:spAutoFit/>
            </a:bodyPr>
            <a:lstStyle/>
            <a:p>
              <a:pPr algn="l"/>
              <a:r>
                <a:rPr lang="en-US" altLang="ko-KR" sz="1000" b="1" dirty="0" err="1"/>
                <a:t>kubia</a:t>
              </a:r>
              <a:r>
                <a:rPr lang="en-US" altLang="ko-KR" sz="1000" b="1" dirty="0"/>
                <a:t>-svc-</a:t>
              </a:r>
              <a:r>
                <a:rPr lang="en-US" altLang="ko-KR" sz="1000" b="1" dirty="0" err="1"/>
                <a:t>loadbalancer.yaml</a:t>
              </a:r>
              <a:endParaRPr lang="ko-KR" altLang="en-US" sz="1000" b="1" dirty="0"/>
            </a:p>
          </p:txBody>
        </p:sp>
      </p:grpSp>
    </p:spTree>
    <p:extLst>
      <p:ext uri="{BB962C8B-B14F-4D97-AF65-F5344CB8AC3E}">
        <p14:creationId xmlns:p14="http://schemas.microsoft.com/office/powerpoint/2010/main" val="39588702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Clients(7/12)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Connecting to the Service Through the Load Balancer :</a:t>
            </a:r>
          </a:p>
          <a:p>
            <a:pPr lvl="1">
              <a:buFont typeface="Wingdings" panose="05000000000000000000" pitchFamily="2" charset="2"/>
              <a:buChar char="§"/>
            </a:pPr>
            <a:r>
              <a:rPr lang="en-US" altLang="ko-KR" sz="1400" dirty="0"/>
              <a:t>After you create the service, </a:t>
            </a:r>
            <a:r>
              <a:rPr lang="en-US" altLang="ko-KR" sz="1400" b="1" dirty="0"/>
              <a:t>it takes time for the cloud infrastructure to create the load balancer and write its IP address into the </a:t>
            </a:r>
            <a:r>
              <a:rPr lang="en-US" altLang="ko-KR" sz="1400" b="1" dirty="0">
                <a:solidFill>
                  <a:srgbClr val="FF0000"/>
                </a:solidFill>
              </a:rPr>
              <a:t>Service</a:t>
            </a:r>
            <a:r>
              <a:rPr lang="en-US" altLang="ko-KR" sz="1400" b="1" dirty="0"/>
              <a:t> object</a:t>
            </a:r>
            <a:r>
              <a:rPr lang="en-US" altLang="ko-KR" sz="1400" dirty="0"/>
              <a:t>. Once it does that, </a:t>
            </a:r>
            <a:r>
              <a:rPr lang="en-US" altLang="ko-KR" sz="1400" b="1" dirty="0"/>
              <a:t>the IP address will be listed as the external IP address </a:t>
            </a:r>
            <a:r>
              <a:rPr lang="en-US" altLang="ko-KR" sz="1400" dirty="0"/>
              <a:t>of your service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 In </a:t>
            </a:r>
            <a:r>
              <a:rPr lang="en-US" altLang="ko-KR" sz="1400" b="1" dirty="0" err="1"/>
              <a:t>Minkube</a:t>
            </a:r>
            <a:r>
              <a:rPr lang="en-US" altLang="ko-KR" sz="1400" b="1" dirty="0"/>
              <a:t>, there is no load balancer for default</a:t>
            </a:r>
            <a:r>
              <a:rPr lang="en-US" altLang="ko-KR" sz="1400" dirty="0"/>
              <a:t>. So it will only shows “</a:t>
            </a:r>
            <a:r>
              <a:rPr lang="en-US" altLang="ko-KR" sz="1400" b="1" dirty="0"/>
              <a:t>&lt;pending&gt;</a:t>
            </a:r>
            <a:r>
              <a:rPr lang="en-US" altLang="ko-KR" sz="1400" dirty="0"/>
              <a:t>” in “</a:t>
            </a:r>
            <a:r>
              <a:rPr lang="en-US" altLang="ko-KR" sz="1400" b="1" dirty="0"/>
              <a:t>EXTERNAL-IP</a:t>
            </a:r>
            <a:r>
              <a:rPr lang="en-US" altLang="ko-KR" sz="1400" dirty="0"/>
              <a:t>” column. </a:t>
            </a:r>
            <a:r>
              <a:rPr lang="en-US" altLang="ko-KR" sz="1400" b="1" dirty="0"/>
              <a:t>To use </a:t>
            </a:r>
            <a:r>
              <a:rPr lang="en-US" altLang="ko-KR" sz="1400" b="1" dirty="0" err="1"/>
              <a:t>LoadBalancer</a:t>
            </a:r>
            <a:r>
              <a:rPr lang="en-US" altLang="ko-KR" sz="1400" b="1" dirty="0"/>
              <a:t> type service in </a:t>
            </a:r>
            <a:r>
              <a:rPr lang="en-US" altLang="ko-KR" sz="1400" b="1" dirty="0" err="1"/>
              <a:t>Minikube</a:t>
            </a:r>
            <a:r>
              <a:rPr lang="en-US" altLang="ko-KR" sz="1400" b="1" dirty="0"/>
              <a:t>, you need to run “</a:t>
            </a:r>
            <a:r>
              <a:rPr lang="en-US" altLang="ko-KR" sz="1400" b="1" dirty="0" err="1"/>
              <a:t>minikube</a:t>
            </a:r>
            <a:r>
              <a:rPr lang="en-US" altLang="ko-KR" sz="1400" b="1" dirty="0"/>
              <a:t> tunnel” in another terminal</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14EB16DA-02E2-2269-F55B-9E96A24D0F15}"/>
              </a:ext>
            </a:extLst>
          </p:cNvPr>
          <p:cNvGrpSpPr/>
          <p:nvPr/>
        </p:nvGrpSpPr>
        <p:grpSpPr>
          <a:xfrm>
            <a:off x="1219200" y="1827260"/>
            <a:ext cx="9753600" cy="1763776"/>
            <a:chOff x="1219200" y="3027764"/>
            <a:chExt cx="9753600" cy="1763776"/>
          </a:xfrm>
        </p:grpSpPr>
        <p:pic>
          <p:nvPicPr>
            <p:cNvPr id="4" name="그림 3">
              <a:extLst>
                <a:ext uri="{FF2B5EF4-FFF2-40B4-BE49-F238E27FC236}">
                  <a16:creationId xmlns:a16="http://schemas.microsoft.com/office/drawing/2014/main" id="{45B01A59-7098-2C8E-0D40-398FA1A4F2F6}"/>
                </a:ext>
              </a:extLst>
            </p:cNvPr>
            <p:cNvPicPr>
              <a:picLocks noChangeAspect="1"/>
            </p:cNvPicPr>
            <p:nvPr/>
          </p:nvPicPr>
          <p:blipFill>
            <a:blip r:embed="rId2"/>
            <a:stretch>
              <a:fillRect/>
            </a:stretch>
          </p:blipFill>
          <p:spPr>
            <a:xfrm>
              <a:off x="1219200" y="3027764"/>
              <a:ext cx="9753600" cy="1763776"/>
            </a:xfrm>
            <a:prstGeom prst="rect">
              <a:avLst/>
            </a:prstGeom>
          </p:spPr>
        </p:pic>
        <p:sp>
          <p:nvSpPr>
            <p:cNvPr id="8" name="직사각형 7">
              <a:extLst>
                <a:ext uri="{FF2B5EF4-FFF2-40B4-BE49-F238E27FC236}">
                  <a16:creationId xmlns:a16="http://schemas.microsoft.com/office/drawing/2014/main" id="{C811CE8F-CBA6-D65F-383D-BA1F738AE031}"/>
                </a:ext>
              </a:extLst>
            </p:cNvPr>
            <p:cNvSpPr/>
            <p:nvPr/>
          </p:nvSpPr>
          <p:spPr>
            <a:xfrm>
              <a:off x="4784835" y="4169979"/>
              <a:ext cx="646386"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7FAB2E62-B5D9-0D5E-9902-A7A7B09635EC}"/>
              </a:ext>
            </a:extLst>
          </p:cNvPr>
          <p:cNvPicPr>
            <a:picLocks noChangeAspect="1"/>
          </p:cNvPicPr>
          <p:nvPr/>
        </p:nvPicPr>
        <p:blipFill>
          <a:blip r:embed="rId3"/>
          <a:stretch>
            <a:fillRect/>
          </a:stretch>
        </p:blipFill>
        <p:spPr>
          <a:xfrm>
            <a:off x="1219200" y="4428304"/>
            <a:ext cx="9753600" cy="1544320"/>
          </a:xfrm>
          <a:prstGeom prst="rect">
            <a:avLst/>
          </a:prstGeom>
        </p:spPr>
      </p:pic>
      <p:sp>
        <p:nvSpPr>
          <p:cNvPr id="12" name="직사각형 11">
            <a:extLst>
              <a:ext uri="{FF2B5EF4-FFF2-40B4-BE49-F238E27FC236}">
                <a16:creationId xmlns:a16="http://schemas.microsoft.com/office/drawing/2014/main" id="{81F07095-0C72-7EF9-3290-A1CCA7A9FA99}"/>
              </a:ext>
            </a:extLst>
          </p:cNvPr>
          <p:cNvSpPr/>
          <p:nvPr/>
        </p:nvSpPr>
        <p:spPr>
          <a:xfrm>
            <a:off x="2932386" y="4879427"/>
            <a:ext cx="1135117"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384129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t>
            </a:r>
            <a:r>
              <a:rPr lang="en-US" altLang="ko-KR" sz="2800" b="1" dirty="0" err="1"/>
              <a:t>Minikube</a:t>
            </a:r>
            <a:r>
              <a:rPr lang="en-US" altLang="ko-KR" sz="2800" b="1" dirty="0"/>
              <a:t>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minikube</a:t>
            </a:r>
            <a:r>
              <a:rPr lang="en-US" altLang="ko-KR" sz="1800" b="1" dirty="0"/>
              <a:t> tunnel Command :</a:t>
            </a:r>
          </a:p>
          <a:p>
            <a:pPr lvl="1">
              <a:buFont typeface="Wingdings" panose="05000000000000000000" pitchFamily="2" charset="2"/>
              <a:buChar char="§"/>
            </a:pPr>
            <a:r>
              <a:rPr lang="en-US" altLang="ko-KR" sz="1400" dirty="0"/>
              <a:t>After you run the “</a:t>
            </a:r>
            <a:r>
              <a:rPr lang="en-US" altLang="ko-KR" sz="1400" b="1" dirty="0" err="1"/>
              <a:t>minikube</a:t>
            </a:r>
            <a:r>
              <a:rPr lang="en-US" altLang="ko-KR" sz="1400" b="1" dirty="0"/>
              <a:t> tunnel</a:t>
            </a:r>
            <a:r>
              <a:rPr lang="en-US" altLang="ko-KR" sz="1400" dirty="0"/>
              <a:t>” command in another terminal, you can see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you can </a:t>
            </a:r>
            <a:r>
              <a:rPr lang="en-US" altLang="ko-KR" sz="1400" b="1" dirty="0"/>
              <a:t>access the service the with browser </a:t>
            </a:r>
            <a:r>
              <a:rPr lang="en-US" altLang="ko-KR" sz="1400" dirty="0"/>
              <a:t>like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Whenever you refresh the browser, you will see different response from the service.</a:t>
            </a:r>
          </a:p>
          <a:p>
            <a:pPr lvl="1">
              <a:buFont typeface="Wingdings" panose="05000000000000000000" pitchFamily="2" charset="2"/>
              <a:buChar char="§"/>
            </a:pPr>
            <a:r>
              <a:rPr lang="en-US" altLang="ko-KR" sz="1400" b="1" dirty="0"/>
              <a:t>NOTE : When you run the “</a:t>
            </a:r>
            <a:r>
              <a:rPr lang="en-US" altLang="ko-KR" sz="1400" b="1" dirty="0" err="1"/>
              <a:t>minikube</a:t>
            </a:r>
            <a:r>
              <a:rPr lang="en-US" altLang="ko-KR" sz="1400" b="1" dirty="0"/>
              <a:t> tunnel” command, you need to </a:t>
            </a:r>
            <a:r>
              <a:rPr lang="en-US" altLang="ko-KR" sz="1400" b="1" dirty="0">
                <a:solidFill>
                  <a:srgbClr val="FF0000"/>
                </a:solidFill>
              </a:rPr>
              <a:t>provide</a:t>
            </a:r>
            <a:r>
              <a:rPr lang="en-US" altLang="ko-KR" sz="1400" b="1" dirty="0"/>
              <a:t> </a:t>
            </a:r>
            <a:r>
              <a:rPr lang="en-US" altLang="ko-KR" sz="1400" b="1" dirty="0">
                <a:solidFill>
                  <a:srgbClr val="FF0000"/>
                </a:solidFill>
              </a:rPr>
              <a:t>your password</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6D0BBB1-E5F2-C0EE-B8F4-32CD07363198}"/>
              </a:ext>
            </a:extLst>
          </p:cNvPr>
          <p:cNvGrpSpPr/>
          <p:nvPr/>
        </p:nvGrpSpPr>
        <p:grpSpPr>
          <a:xfrm>
            <a:off x="1358804" y="1512979"/>
            <a:ext cx="9474389" cy="1500112"/>
            <a:chOff x="1358804" y="1565788"/>
            <a:chExt cx="9474389" cy="1500112"/>
          </a:xfrm>
        </p:grpSpPr>
        <p:pic>
          <p:nvPicPr>
            <p:cNvPr id="8" name="그림 7">
              <a:extLst>
                <a:ext uri="{FF2B5EF4-FFF2-40B4-BE49-F238E27FC236}">
                  <a16:creationId xmlns:a16="http://schemas.microsoft.com/office/drawing/2014/main" id="{3F9B1572-85B2-11C7-16FE-3559501A450A}"/>
                </a:ext>
              </a:extLst>
            </p:cNvPr>
            <p:cNvPicPr>
              <a:picLocks noChangeAspect="1"/>
            </p:cNvPicPr>
            <p:nvPr/>
          </p:nvPicPr>
          <p:blipFill>
            <a:blip r:embed="rId2"/>
            <a:stretch>
              <a:fillRect/>
            </a:stretch>
          </p:blipFill>
          <p:spPr>
            <a:xfrm>
              <a:off x="1358804" y="1565788"/>
              <a:ext cx="9474389" cy="1500112"/>
            </a:xfrm>
            <a:prstGeom prst="rect">
              <a:avLst/>
            </a:prstGeom>
          </p:spPr>
        </p:pic>
        <p:sp>
          <p:nvSpPr>
            <p:cNvPr id="9" name="직사각형 8">
              <a:extLst>
                <a:ext uri="{FF2B5EF4-FFF2-40B4-BE49-F238E27FC236}">
                  <a16:creationId xmlns:a16="http://schemas.microsoft.com/office/drawing/2014/main" id="{B6870CBB-1C58-BFAF-5892-59A8EBFA157D}"/>
                </a:ext>
              </a:extLst>
            </p:cNvPr>
            <p:cNvSpPr/>
            <p:nvPr/>
          </p:nvSpPr>
          <p:spPr>
            <a:xfrm>
              <a:off x="4824248" y="2396359"/>
              <a:ext cx="945931"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4" name="그룹 13">
            <a:extLst>
              <a:ext uri="{FF2B5EF4-FFF2-40B4-BE49-F238E27FC236}">
                <a16:creationId xmlns:a16="http://schemas.microsoft.com/office/drawing/2014/main" id="{362A3531-0732-528C-3B72-ADF5FEAB520D}"/>
              </a:ext>
            </a:extLst>
          </p:cNvPr>
          <p:cNvGrpSpPr/>
          <p:nvPr/>
        </p:nvGrpSpPr>
        <p:grpSpPr>
          <a:xfrm>
            <a:off x="1358803" y="3497738"/>
            <a:ext cx="9474389" cy="2120143"/>
            <a:chOff x="1358803" y="3497738"/>
            <a:chExt cx="9474389" cy="2120143"/>
          </a:xfrm>
        </p:grpSpPr>
        <p:pic>
          <p:nvPicPr>
            <p:cNvPr id="11" name="그림 10">
              <a:extLst>
                <a:ext uri="{FF2B5EF4-FFF2-40B4-BE49-F238E27FC236}">
                  <a16:creationId xmlns:a16="http://schemas.microsoft.com/office/drawing/2014/main" id="{4CE7D7CB-623C-4D59-C1D9-C006C17D57BB}"/>
                </a:ext>
              </a:extLst>
            </p:cNvPr>
            <p:cNvPicPr>
              <a:picLocks noChangeAspect="1"/>
            </p:cNvPicPr>
            <p:nvPr/>
          </p:nvPicPr>
          <p:blipFill>
            <a:blip r:embed="rId3"/>
            <a:stretch>
              <a:fillRect/>
            </a:stretch>
          </p:blipFill>
          <p:spPr>
            <a:xfrm>
              <a:off x="1358803" y="3497738"/>
              <a:ext cx="9474389" cy="2120143"/>
            </a:xfrm>
            <a:prstGeom prst="rect">
              <a:avLst/>
            </a:prstGeom>
          </p:spPr>
        </p:pic>
        <p:sp>
          <p:nvSpPr>
            <p:cNvPr id="13" name="직사각형 12">
              <a:extLst>
                <a:ext uri="{FF2B5EF4-FFF2-40B4-BE49-F238E27FC236}">
                  <a16:creationId xmlns:a16="http://schemas.microsoft.com/office/drawing/2014/main" id="{AB1613CE-E586-8ADA-C48C-DBEF8C73FEDE}"/>
                </a:ext>
              </a:extLst>
            </p:cNvPr>
            <p:cNvSpPr/>
            <p:nvPr/>
          </p:nvSpPr>
          <p:spPr>
            <a:xfrm>
              <a:off x="3518336" y="4004125"/>
              <a:ext cx="851338"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454316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Clients(8/12)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Connecting to the Service Through the Load Balancer :</a:t>
            </a:r>
          </a:p>
          <a:p>
            <a:pPr lvl="1">
              <a:buFont typeface="Wingdings" panose="05000000000000000000" pitchFamily="2" charset="2"/>
              <a:buChar char="§"/>
            </a:pPr>
            <a:r>
              <a:rPr lang="en-US" altLang="ko-KR" sz="1400" dirty="0"/>
              <a:t>The load balancer is available at IP 10.111.208.240, so you can now access the service at that IP address. Use “</a:t>
            </a:r>
            <a:r>
              <a:rPr lang="en-US" altLang="ko-KR" sz="1400" b="1" dirty="0"/>
              <a:t>$ curl </a:t>
            </a:r>
            <a:r>
              <a:rPr lang="en-US" altLang="ko-KR" sz="1400" b="1" dirty="0">
                <a:hlinkClick r:id="rId2"/>
              </a:rPr>
              <a:t>http://10.111.208.240</a:t>
            </a:r>
            <a:r>
              <a:rPr lang="en-US" altLang="ko-KR" sz="1400" dirty="0"/>
              <a:t>” to access the service.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This time you didn’t need to mess with firewalls the way you had to before with the </a:t>
            </a:r>
            <a:r>
              <a:rPr lang="en-US" altLang="ko-KR" sz="1400" b="1" dirty="0" err="1"/>
              <a:t>NodePort</a:t>
            </a:r>
            <a:r>
              <a:rPr lang="en-US" altLang="ko-KR" sz="1400" b="1" dirty="0"/>
              <a:t>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111832C-9158-9C63-A449-B474E3B87A1E}"/>
              </a:ext>
            </a:extLst>
          </p:cNvPr>
          <p:cNvGrpSpPr/>
          <p:nvPr/>
        </p:nvGrpSpPr>
        <p:grpSpPr>
          <a:xfrm>
            <a:off x="1267482" y="1899969"/>
            <a:ext cx="9657036" cy="1529031"/>
            <a:chOff x="1267482" y="1756435"/>
            <a:chExt cx="9657036" cy="1529031"/>
          </a:xfrm>
        </p:grpSpPr>
        <p:pic>
          <p:nvPicPr>
            <p:cNvPr id="8" name="그림 7">
              <a:extLst>
                <a:ext uri="{FF2B5EF4-FFF2-40B4-BE49-F238E27FC236}">
                  <a16:creationId xmlns:a16="http://schemas.microsoft.com/office/drawing/2014/main" id="{75D2147E-A06D-56A3-0799-8BEBE7DE9F6F}"/>
                </a:ext>
              </a:extLst>
            </p:cNvPr>
            <p:cNvPicPr>
              <a:picLocks noChangeAspect="1"/>
            </p:cNvPicPr>
            <p:nvPr/>
          </p:nvPicPr>
          <p:blipFill>
            <a:blip r:embed="rId3"/>
            <a:stretch>
              <a:fillRect/>
            </a:stretch>
          </p:blipFill>
          <p:spPr>
            <a:xfrm>
              <a:off x="1267482" y="1756435"/>
              <a:ext cx="9657036" cy="1529031"/>
            </a:xfrm>
            <a:prstGeom prst="rect">
              <a:avLst/>
            </a:prstGeom>
          </p:spPr>
        </p:pic>
        <p:sp>
          <p:nvSpPr>
            <p:cNvPr id="9" name="직사각형 8">
              <a:extLst>
                <a:ext uri="{FF2B5EF4-FFF2-40B4-BE49-F238E27FC236}">
                  <a16:creationId xmlns:a16="http://schemas.microsoft.com/office/drawing/2014/main" id="{CCDD190E-3593-6477-AD5F-730DE1F56C33}"/>
                </a:ext>
              </a:extLst>
            </p:cNvPr>
            <p:cNvSpPr/>
            <p:nvPr/>
          </p:nvSpPr>
          <p:spPr>
            <a:xfrm>
              <a:off x="5376041" y="2199290"/>
              <a:ext cx="2254469"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27729158-2B18-4F57-809C-A21E973234FC}"/>
                </a:ext>
              </a:extLst>
            </p:cNvPr>
            <p:cNvSpPr/>
            <p:nvPr/>
          </p:nvSpPr>
          <p:spPr>
            <a:xfrm>
              <a:off x="4769069" y="2475186"/>
              <a:ext cx="1016876"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68000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Session Affinity And Web Browsers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Browser Session :</a:t>
            </a:r>
          </a:p>
          <a:p>
            <a:pPr lvl="1">
              <a:buFont typeface="Wingdings" panose="05000000000000000000" pitchFamily="2" charset="2"/>
              <a:buChar char="§"/>
            </a:pPr>
            <a:r>
              <a:rPr lang="en-US" altLang="ko-KR" sz="1400" b="1" dirty="0"/>
              <a:t>Because your service is now exposed externally, you may try accessing it with your web browser. You’ll see something that may strike you as odd—the browser will hit the exact same pod every time</a:t>
            </a:r>
            <a:r>
              <a:rPr lang="en-US" altLang="ko-KR" sz="1400" dirty="0"/>
              <a:t>. Did the service’s session affinity change in the meantime? </a:t>
            </a:r>
            <a:r>
              <a:rPr lang="en-US" altLang="ko-KR" sz="1400" b="1" dirty="0"/>
              <a:t>With </a:t>
            </a:r>
            <a:r>
              <a:rPr lang="en-US" altLang="ko-KR" sz="1400" b="1" dirty="0" err="1"/>
              <a:t>kubectl</a:t>
            </a:r>
            <a:r>
              <a:rPr lang="en-US" altLang="ko-KR" sz="1400" b="1" dirty="0"/>
              <a:t> explain, you can double-check that the </a:t>
            </a:r>
            <a:r>
              <a:rPr lang="en-US" altLang="ko-KR" sz="1400" b="1" dirty="0">
                <a:solidFill>
                  <a:srgbClr val="FF0000"/>
                </a:solidFill>
              </a:rPr>
              <a:t>service’s session affinity </a:t>
            </a:r>
            <a:r>
              <a:rPr lang="en-US" altLang="ko-KR" sz="1400" b="1" dirty="0"/>
              <a:t>is still set to “</a:t>
            </a:r>
            <a:r>
              <a:rPr lang="en-US" altLang="ko-KR" sz="1400" b="1" dirty="0">
                <a:solidFill>
                  <a:srgbClr val="FF0000"/>
                </a:solidFill>
              </a:rPr>
              <a:t>None</a:t>
            </a:r>
            <a:r>
              <a:rPr lang="en-US" altLang="ko-KR" sz="1400" b="1" dirty="0"/>
              <a:t>”</a:t>
            </a:r>
            <a:r>
              <a:rPr lang="en-US" altLang="ko-KR" sz="1400" dirty="0"/>
              <a:t>, so why don’t different browser requests hit different pods, as is the case when using curl?</a:t>
            </a:r>
          </a:p>
          <a:p>
            <a:pPr lvl="1">
              <a:buFont typeface="Wingdings" panose="05000000000000000000" pitchFamily="2" charset="2"/>
              <a:buChar char="§"/>
            </a:pPr>
            <a:r>
              <a:rPr lang="en-US" altLang="ko-KR" sz="1400" b="1" dirty="0"/>
              <a:t>The browser is using keep-alive connections and sends all its requests through a single connection, whereas curl opens a new connection every time</a:t>
            </a:r>
            <a:r>
              <a:rPr lang="en-US" altLang="ko-KR" sz="1400" dirty="0"/>
              <a:t>. </a:t>
            </a:r>
            <a:r>
              <a:rPr lang="en-US" altLang="ko-KR" sz="1400" b="1" dirty="0"/>
              <a:t>Services work at the connection level, so when a connection to a service is first opened, a random pod is selected and then all network packets belonging to that connection are all sent to that single pod</a:t>
            </a:r>
            <a:r>
              <a:rPr lang="en-US" altLang="ko-KR" sz="1400" dirty="0"/>
              <a:t>. </a:t>
            </a:r>
          </a:p>
          <a:p>
            <a:pPr lvl="1">
              <a:buFont typeface="Wingdings" panose="05000000000000000000" pitchFamily="2" charset="2"/>
              <a:buChar char="§"/>
            </a:pPr>
            <a:r>
              <a:rPr lang="en-US" altLang="ko-KR" sz="1400" b="1" dirty="0"/>
              <a:t>Even if session affinity is set to None, users will always hit the same pod (until the connection is closed)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64E2035-0C77-92AC-229B-365B0DBB75B8}"/>
              </a:ext>
            </a:extLst>
          </p:cNvPr>
          <p:cNvPicPr>
            <a:picLocks noChangeAspect="1"/>
          </p:cNvPicPr>
          <p:nvPr/>
        </p:nvPicPr>
        <p:blipFill>
          <a:blip r:embed="rId2"/>
          <a:stretch>
            <a:fillRect/>
          </a:stretch>
        </p:blipFill>
        <p:spPr>
          <a:xfrm>
            <a:off x="3612192" y="3263003"/>
            <a:ext cx="4967615" cy="3093347"/>
          </a:xfrm>
          <a:prstGeom prst="rect">
            <a:avLst/>
          </a:prstGeom>
        </p:spPr>
      </p:pic>
    </p:spTree>
    <p:extLst>
      <p:ext uri="{BB962C8B-B14F-4D97-AF65-F5344CB8AC3E}">
        <p14:creationId xmlns:p14="http://schemas.microsoft.com/office/powerpoint/2010/main" val="25205287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Clients(9/12)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Connecting to the Service Through the Load Balancer :</a:t>
            </a:r>
          </a:p>
          <a:p>
            <a:pPr lvl="1">
              <a:buFont typeface="Wingdings" panose="05000000000000000000" pitchFamily="2" charset="2"/>
              <a:buChar char="§"/>
            </a:pPr>
            <a:r>
              <a:rPr lang="en-US" altLang="ko-KR" sz="1400" b="1" dirty="0"/>
              <a:t>The following figure shows how HTTP requests are delivered to the pod</a:t>
            </a:r>
            <a:r>
              <a:rPr lang="en-US" altLang="ko-KR" sz="1400" dirty="0"/>
              <a:t>. </a:t>
            </a:r>
            <a:r>
              <a:rPr lang="en-US" altLang="ko-KR" sz="1400" b="1" dirty="0"/>
              <a:t>External clients (curl in your case) connect to port 80 of the load balancer </a:t>
            </a:r>
            <a:r>
              <a:rPr lang="en-US" altLang="ko-KR" sz="1400" dirty="0"/>
              <a:t>and </a:t>
            </a:r>
            <a:r>
              <a:rPr lang="en-US" altLang="ko-KR" sz="1400" b="1" dirty="0"/>
              <a:t>get </a:t>
            </a:r>
            <a:r>
              <a:rPr lang="en-US" altLang="ko-KR" sz="1400" b="1" dirty="0">
                <a:solidFill>
                  <a:srgbClr val="FF0000"/>
                </a:solidFill>
              </a:rPr>
              <a:t>routed</a:t>
            </a:r>
            <a:r>
              <a:rPr lang="en-US" altLang="ko-KR" sz="1400" b="1" dirty="0"/>
              <a:t> to the implicitly assigned node port on one of the nodes</a:t>
            </a:r>
            <a:r>
              <a:rPr lang="en-US" altLang="ko-KR" sz="1400" dirty="0"/>
              <a:t>. From there, the connection is forwarded to one of the pod instances.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D227EE4-C37E-B3F9-A354-9FF35EA6B1D0}"/>
              </a:ext>
            </a:extLst>
          </p:cNvPr>
          <p:cNvSpPr txBox="1"/>
          <p:nvPr/>
        </p:nvSpPr>
        <p:spPr>
          <a:xfrm>
            <a:off x="838200" y="1739176"/>
            <a:ext cx="5073869" cy="2871042"/>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As already mentioned,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LoadBalancer</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-type service is a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NodePort</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service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with an additional infrastructure-provided load balancer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If you use </a:t>
            </a:r>
            <a:r>
              <a:rPr kumimoji="0" lang="en-US" altLang="ko-KR" sz="14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describe to display additional info about the service, you’ll see that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 node port has been selected for the service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If you were to open the firewall for this port, the way you did in the previous section about </a:t>
            </a:r>
            <a:r>
              <a:rPr kumimoji="0" lang="en-US" altLang="ko-KR" sz="14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NodePort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services, you could access the service through the node IPs as well.</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TIP : If you’re using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Minikube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even though the load balancer will never be provisioned, you can still access the service through the node port (at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Minikube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VM’s IP address)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grpSp>
        <p:nvGrpSpPr>
          <p:cNvPr id="12" name="그룹 11">
            <a:extLst>
              <a:ext uri="{FF2B5EF4-FFF2-40B4-BE49-F238E27FC236}">
                <a16:creationId xmlns:a16="http://schemas.microsoft.com/office/drawing/2014/main" id="{02772190-28D6-845D-4125-3D10878EF41B}"/>
              </a:ext>
            </a:extLst>
          </p:cNvPr>
          <p:cNvGrpSpPr/>
          <p:nvPr/>
        </p:nvGrpSpPr>
        <p:grpSpPr>
          <a:xfrm>
            <a:off x="5912069" y="1739176"/>
            <a:ext cx="5441731" cy="4669855"/>
            <a:chOff x="5912069" y="1739177"/>
            <a:chExt cx="5441731" cy="4669854"/>
          </a:xfrm>
        </p:grpSpPr>
        <p:pic>
          <p:nvPicPr>
            <p:cNvPr id="8" name="그림 7">
              <a:extLst>
                <a:ext uri="{FF2B5EF4-FFF2-40B4-BE49-F238E27FC236}">
                  <a16:creationId xmlns:a16="http://schemas.microsoft.com/office/drawing/2014/main" id="{4BDD2650-574E-5807-B9FF-77FEDECE22CC}"/>
                </a:ext>
              </a:extLst>
            </p:cNvPr>
            <p:cNvPicPr>
              <a:picLocks noChangeAspect="1"/>
            </p:cNvPicPr>
            <p:nvPr/>
          </p:nvPicPr>
          <p:blipFill>
            <a:blip r:embed="rId2"/>
            <a:stretch>
              <a:fillRect/>
            </a:stretch>
          </p:blipFill>
          <p:spPr>
            <a:xfrm>
              <a:off x="5912069" y="1739177"/>
              <a:ext cx="5441731" cy="4669854"/>
            </a:xfrm>
            <a:prstGeom prst="rect">
              <a:avLst/>
            </a:prstGeom>
          </p:spPr>
        </p:pic>
        <p:sp>
          <p:nvSpPr>
            <p:cNvPr id="11" name="직사각형 10">
              <a:extLst>
                <a:ext uri="{FF2B5EF4-FFF2-40B4-BE49-F238E27FC236}">
                  <a16:creationId xmlns:a16="http://schemas.microsoft.com/office/drawing/2014/main" id="{4FDF4896-629E-3CB5-6375-DD051FBAE1A2}"/>
                </a:ext>
              </a:extLst>
            </p:cNvPr>
            <p:cNvSpPr/>
            <p:nvPr/>
          </p:nvSpPr>
          <p:spPr>
            <a:xfrm>
              <a:off x="6794938" y="2420007"/>
              <a:ext cx="1174531" cy="4256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842756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Clients(10/12)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and Preventing Unnecessary Network Hops :</a:t>
            </a:r>
          </a:p>
          <a:p>
            <a:pPr lvl="1">
              <a:buFont typeface="Wingdings" panose="05000000000000000000" pitchFamily="2" charset="2"/>
              <a:buChar char="§"/>
            </a:pPr>
            <a:r>
              <a:rPr lang="en-US" altLang="ko-KR" sz="1400" dirty="0"/>
              <a:t>When an external client connects to a service through the node port (this also includes cases when it goes through the load balancer first), </a:t>
            </a:r>
            <a:r>
              <a:rPr lang="en-US" altLang="ko-KR" sz="1400" b="1" dirty="0"/>
              <a:t>the randomly chosen pod may or may not be running on the same node that received the connection. An additional network hop is required to reach the pod, but this may not always be desirable</a:t>
            </a:r>
            <a:r>
              <a:rPr lang="en-US" altLang="ko-KR" sz="1400" dirty="0"/>
              <a:t>.</a:t>
            </a:r>
          </a:p>
          <a:p>
            <a:pPr lvl="1">
              <a:buFont typeface="Wingdings" panose="05000000000000000000" pitchFamily="2" charset="2"/>
              <a:buChar char="§"/>
            </a:pPr>
            <a:r>
              <a:rPr lang="en-US" altLang="ko-KR" sz="1400" b="1" dirty="0"/>
              <a:t>You can prevent this additional hop by configuring the service to redirect external traffic only to pods running on the node that received the connection</a:t>
            </a:r>
            <a:r>
              <a:rPr lang="en-US" altLang="ko-KR" sz="1400" dirty="0"/>
              <a:t>. This is done by setting the “</a:t>
            </a:r>
            <a:r>
              <a:rPr lang="en-US" altLang="ko-KR" sz="1400" b="1" dirty="0" err="1"/>
              <a:t>externalTrafficPolicy</a:t>
            </a:r>
            <a:r>
              <a:rPr lang="en-US" altLang="ko-KR" sz="1400" dirty="0"/>
              <a:t>” field in the service’s spec section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If a service definition includes this setting and an external connection is opened through the service’s node port, the service proxy will choose a locally running pod</a:t>
            </a:r>
            <a:r>
              <a:rPr lang="en-US" altLang="ko-KR" sz="1400" dirty="0"/>
              <a:t>. If no local pods exist, the connection will hang (it won’t be forwarded to a random global pod, the way connections are when not using the annotation). </a:t>
            </a:r>
            <a:r>
              <a:rPr lang="en-US" altLang="ko-KR" sz="1400" b="1" dirty="0"/>
              <a:t>You therefore need to ensure the load balancer forwards connections only to nodes that have at least one such pod</a:t>
            </a:r>
            <a:r>
              <a:rPr lang="en-US" altLang="ko-KR" sz="1400" dirty="0"/>
              <a:t>.</a:t>
            </a:r>
          </a:p>
          <a:p>
            <a:pPr lvl="1">
              <a:buFont typeface="Wingdings" panose="05000000000000000000" pitchFamily="2" charset="2"/>
              <a:buChar char="§"/>
            </a:pPr>
            <a:r>
              <a:rPr lang="en-US" altLang="ko-KR" sz="1400" b="1" dirty="0"/>
              <a:t>Using this annotation also has other </a:t>
            </a:r>
            <a:r>
              <a:rPr lang="en-US" altLang="ko-KR" sz="1400" b="1" dirty="0">
                <a:solidFill>
                  <a:srgbClr val="FF0000"/>
                </a:solidFill>
              </a:rPr>
              <a:t>drawbacks</a:t>
            </a:r>
            <a:r>
              <a:rPr lang="en-US" altLang="ko-KR" sz="1400" b="1" dirty="0"/>
              <a:t>. Normally, connections are spread evenly across all the pods, but when using this annotation, that’s no longer the case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CCD4CE7-49BF-EF10-AF2D-E20D0582D0B4}"/>
              </a:ext>
            </a:extLst>
          </p:cNvPr>
          <p:cNvSpPr txBox="1"/>
          <p:nvPr/>
        </p:nvSpPr>
        <p:spPr>
          <a:xfrm>
            <a:off x="3047343" y="2581080"/>
            <a:ext cx="6097314" cy="553998"/>
          </a:xfrm>
          <a:prstGeom prst="rect">
            <a:avLst/>
          </a:prstGeom>
          <a:noFill/>
          <a:ln>
            <a:solidFill>
              <a:schemeClr val="bg1">
                <a:lumMod val="50000"/>
              </a:schemeClr>
            </a:solidFill>
          </a:ln>
        </p:spPr>
        <p:txBody>
          <a:bodyPr wrap="square">
            <a:spAutoFit/>
          </a:bodyPr>
          <a:lstStyle/>
          <a:p>
            <a:r>
              <a:rPr lang="en-US" altLang="ko-KR" sz="1000" b="1" dirty="0"/>
              <a:t>spec:</a:t>
            </a:r>
          </a:p>
          <a:p>
            <a:r>
              <a:rPr lang="en-US" altLang="ko-KR" sz="1000" b="1" dirty="0">
                <a:solidFill>
                  <a:srgbClr val="FF0000"/>
                </a:solidFill>
              </a:rPr>
              <a:t>  </a:t>
            </a:r>
            <a:r>
              <a:rPr lang="en-US" altLang="ko-KR" sz="1000" b="1" dirty="0" err="1">
                <a:solidFill>
                  <a:srgbClr val="FF0000"/>
                </a:solidFill>
              </a:rPr>
              <a:t>externalTrafficPolicy</a:t>
            </a:r>
            <a:r>
              <a:rPr lang="en-US" altLang="ko-KR" sz="1000" b="1" dirty="0">
                <a:solidFill>
                  <a:srgbClr val="FF0000"/>
                </a:solidFill>
              </a:rPr>
              <a:t>: Local</a:t>
            </a:r>
          </a:p>
          <a:p>
            <a:r>
              <a:rPr lang="en-US" altLang="ko-KR" sz="1000" b="1" dirty="0"/>
              <a:t>  ...</a:t>
            </a:r>
          </a:p>
        </p:txBody>
      </p:sp>
    </p:spTree>
    <p:extLst>
      <p:ext uri="{BB962C8B-B14F-4D97-AF65-F5344CB8AC3E}">
        <p14:creationId xmlns:p14="http://schemas.microsoft.com/office/powerpoint/2010/main" val="29742323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Clients(11/12)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and Preventing Unnecessary Network Hops :</a:t>
            </a:r>
          </a:p>
          <a:p>
            <a:pPr lvl="1">
              <a:buFont typeface="Wingdings" panose="05000000000000000000" pitchFamily="2" charset="2"/>
              <a:buChar char="§"/>
            </a:pPr>
            <a:r>
              <a:rPr lang="en-US" altLang="ko-KR" sz="1400" dirty="0"/>
              <a:t>For example, imagine having two nodes and three pods. Let’s say node A runs one pod and node B runs the other two. </a:t>
            </a:r>
            <a:r>
              <a:rPr lang="en-US" altLang="ko-KR" sz="1400" b="1" dirty="0"/>
              <a:t>If the load balancer spreads connections evenly across the two nodes, the pod on node A will receive 50% of all connections, but the two pods on node B will only receive 25% each(</a:t>
            </a:r>
            <a:r>
              <a:rPr lang="en-US" altLang="ko-KR" sz="1400" b="1" dirty="0">
                <a:solidFill>
                  <a:srgbClr val="FF0000"/>
                </a:solidFill>
              </a:rPr>
              <a:t>not evenly spread</a:t>
            </a:r>
            <a:r>
              <a:rPr lang="en-US" altLang="ko-KR" sz="1400" b="1" dirty="0"/>
              <a:t>)</a:t>
            </a:r>
            <a:r>
              <a:rPr lang="en-US" altLang="ko-KR" sz="1400" dirty="0"/>
              <a:t>, 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4374D4C-6934-0C28-0DC8-440EF99840E9}"/>
              </a:ext>
            </a:extLst>
          </p:cNvPr>
          <p:cNvPicPr>
            <a:picLocks noChangeAspect="1"/>
          </p:cNvPicPr>
          <p:nvPr/>
        </p:nvPicPr>
        <p:blipFill>
          <a:blip r:embed="rId2"/>
          <a:stretch>
            <a:fillRect/>
          </a:stretch>
        </p:blipFill>
        <p:spPr>
          <a:xfrm>
            <a:off x="4129548" y="2411361"/>
            <a:ext cx="3932903" cy="2035277"/>
          </a:xfrm>
          <a:prstGeom prst="rect">
            <a:avLst/>
          </a:prstGeom>
        </p:spPr>
      </p:pic>
    </p:spTree>
    <p:extLst>
      <p:ext uri="{BB962C8B-B14F-4D97-AF65-F5344CB8AC3E}">
        <p14:creationId xmlns:p14="http://schemas.microsoft.com/office/powerpoint/2010/main" val="6884350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to External Clients(12/12)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Being Aware of the Non-Preservation of the Client’s IP :</a:t>
            </a:r>
          </a:p>
          <a:p>
            <a:pPr lvl="1">
              <a:buFont typeface="Wingdings" panose="05000000000000000000" pitchFamily="2" charset="2"/>
              <a:buChar char="§"/>
            </a:pPr>
            <a:r>
              <a:rPr lang="en-US" altLang="ko-KR" sz="1400" dirty="0"/>
              <a:t>Usually, when clients inside the cluster connect to a service, the pods backing the service can obtain the client’s IP address. </a:t>
            </a:r>
            <a:r>
              <a:rPr lang="en-US" altLang="ko-KR" sz="1400" b="1" dirty="0"/>
              <a:t>But when the connection is received through a node port, the packets’ source IP is changed, because </a:t>
            </a:r>
            <a:r>
              <a:rPr lang="en-US" altLang="ko-KR" sz="1400" b="1" dirty="0">
                <a:solidFill>
                  <a:srgbClr val="FF0000"/>
                </a:solidFill>
              </a:rPr>
              <a:t>Source Network Address Translation (SNAT) </a:t>
            </a:r>
            <a:r>
              <a:rPr lang="en-US" altLang="ko-KR" sz="1400" b="1" dirty="0"/>
              <a:t>is performed on the packets</a:t>
            </a:r>
            <a:r>
              <a:rPr lang="en-US" altLang="ko-KR" sz="1400" dirty="0"/>
              <a:t>.</a:t>
            </a:r>
          </a:p>
          <a:p>
            <a:pPr lvl="1">
              <a:buFont typeface="Wingdings" panose="05000000000000000000" pitchFamily="2" charset="2"/>
              <a:buChar char="§"/>
            </a:pPr>
            <a:r>
              <a:rPr lang="en-US" altLang="ko-KR" sz="1400" b="1" dirty="0"/>
              <a:t>The backing pod can’t see the actual client’s IP</a:t>
            </a:r>
            <a:r>
              <a:rPr lang="en-US" altLang="ko-KR" sz="1400" dirty="0"/>
              <a:t>, which may be a problem for some applications that need to know the client’s IP. In the case of a web server, for example, this means the access log won’t show the browser’s IP.</a:t>
            </a:r>
          </a:p>
          <a:p>
            <a:pPr lvl="1">
              <a:buFont typeface="Wingdings" panose="05000000000000000000" pitchFamily="2" charset="2"/>
              <a:buChar char="§"/>
            </a:pPr>
            <a:r>
              <a:rPr lang="en-US" altLang="ko-KR" sz="1400" b="1" dirty="0"/>
              <a:t>The </a:t>
            </a:r>
            <a:r>
              <a:rPr lang="en-US" altLang="ko-KR" sz="1400" b="1" dirty="0">
                <a:solidFill>
                  <a:srgbClr val="FF0000"/>
                </a:solidFill>
              </a:rPr>
              <a:t>Local external traffic policy </a:t>
            </a:r>
            <a:r>
              <a:rPr lang="en-US" altLang="ko-KR" sz="1400" b="1" dirty="0"/>
              <a:t>described in the previous pages affects the preservation of the client’s IP</a:t>
            </a:r>
            <a:r>
              <a:rPr lang="en-US" altLang="ko-KR" sz="1400" dirty="0"/>
              <a:t>, because there’s no additional hop between the node receiving the connection and the node hosting the target pod (SNAT isn’t performed).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C467F9E-27B1-D34B-05A2-4FDFA16B4670}"/>
              </a:ext>
            </a:extLst>
          </p:cNvPr>
          <p:cNvPicPr>
            <a:picLocks noChangeAspect="1"/>
          </p:cNvPicPr>
          <p:nvPr/>
        </p:nvPicPr>
        <p:blipFill>
          <a:blip r:embed="rId2"/>
          <a:stretch>
            <a:fillRect/>
          </a:stretch>
        </p:blipFill>
        <p:spPr>
          <a:xfrm>
            <a:off x="2898227" y="3264362"/>
            <a:ext cx="6395545" cy="2650006"/>
          </a:xfrm>
          <a:prstGeom prst="rect">
            <a:avLst/>
          </a:prstGeom>
        </p:spPr>
      </p:pic>
    </p:spTree>
    <p:extLst>
      <p:ext uri="{BB962C8B-B14F-4D97-AF65-F5344CB8AC3E}">
        <p14:creationId xmlns:p14="http://schemas.microsoft.com/office/powerpoint/2010/main" val="20023127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Resource(1/16)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Ingress Resource :</a:t>
            </a:r>
          </a:p>
          <a:p>
            <a:pPr lvl="1">
              <a:buFont typeface="Wingdings" panose="05000000000000000000" pitchFamily="2" charset="2"/>
              <a:buChar char="§"/>
            </a:pPr>
            <a:r>
              <a:rPr lang="en-US" altLang="ko-KR" sz="1400" dirty="0"/>
              <a:t>You’ve now seen two ways of exposing a service to clients outside the cluster, but another method exists—</a:t>
            </a:r>
            <a:r>
              <a:rPr lang="en-US" altLang="ko-KR" sz="1400" b="1" dirty="0"/>
              <a:t>creating an </a:t>
            </a:r>
            <a:r>
              <a:rPr lang="en-US" altLang="ko-KR" sz="1400" b="1" dirty="0">
                <a:solidFill>
                  <a:srgbClr val="FF0000"/>
                </a:solidFill>
              </a:rPr>
              <a:t>Ingress</a:t>
            </a:r>
            <a:r>
              <a:rPr lang="en-US" altLang="ko-KR" sz="1400" b="1" dirty="0"/>
              <a:t> resource</a:t>
            </a:r>
            <a:r>
              <a:rPr lang="en-US" altLang="ko-KR" sz="1400" dirty="0"/>
              <a:t>.</a:t>
            </a:r>
          </a:p>
          <a:p>
            <a:pPr lvl="2">
              <a:buFont typeface="Wingdings" panose="05000000000000000000" pitchFamily="2" charset="2"/>
              <a:buChar char="§"/>
            </a:pPr>
            <a:r>
              <a:rPr lang="en-US" altLang="ko-KR" sz="1400" b="1" dirty="0"/>
              <a:t>“DEFINITION Ingress (noun)—The act of going in or entering; the right to enter; a means or place of entering; entryway”</a:t>
            </a:r>
            <a:r>
              <a:rPr lang="en-US" altLang="ko-KR" sz="1400" dirty="0"/>
              <a:t>.</a:t>
            </a:r>
          </a:p>
          <a:p>
            <a:pPr lvl="1">
              <a:buFont typeface="Wingdings" panose="05000000000000000000" pitchFamily="2" charset="2"/>
              <a:buChar char="§"/>
            </a:pPr>
            <a:r>
              <a:rPr lang="en-US" altLang="ko-KR" sz="1400" b="1" dirty="0"/>
              <a:t>One important reason is that </a:t>
            </a:r>
            <a:r>
              <a:rPr lang="en-US" altLang="ko-KR" sz="1400" b="1" dirty="0">
                <a:solidFill>
                  <a:srgbClr val="FF0000"/>
                </a:solidFill>
              </a:rPr>
              <a:t>each </a:t>
            </a:r>
            <a:r>
              <a:rPr lang="en-US" altLang="ko-KR" sz="1400" b="1" dirty="0" err="1">
                <a:solidFill>
                  <a:srgbClr val="FF0000"/>
                </a:solidFill>
              </a:rPr>
              <a:t>LoadBalancer</a:t>
            </a:r>
            <a:r>
              <a:rPr lang="en-US" altLang="ko-KR" sz="1400" b="1" dirty="0">
                <a:solidFill>
                  <a:srgbClr val="FF0000"/>
                </a:solidFill>
              </a:rPr>
              <a:t> service requires its own load balancer with its own public IP address</a:t>
            </a:r>
            <a:r>
              <a:rPr lang="en-US" altLang="ko-KR" sz="1400" b="1" dirty="0"/>
              <a:t>, whereas </a:t>
            </a:r>
            <a:r>
              <a:rPr lang="en-US" altLang="ko-KR" sz="1400" b="1" dirty="0">
                <a:solidFill>
                  <a:srgbClr val="FF0000"/>
                </a:solidFill>
              </a:rPr>
              <a:t>an Ingress only requires one</a:t>
            </a:r>
            <a:r>
              <a:rPr lang="en-US" altLang="ko-KR" sz="1400" dirty="0"/>
              <a:t>, </a:t>
            </a:r>
            <a:r>
              <a:rPr lang="en-US" altLang="ko-KR" sz="1400" b="1" dirty="0"/>
              <a:t>even when providing access to dozens of services</a:t>
            </a:r>
            <a:r>
              <a:rPr lang="en-US" altLang="ko-KR" sz="1400" dirty="0"/>
              <a:t>. When a client sends an HTTP request to the Ingress, the host and path in the request determine which service the request is forwarded to, as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Ingresses operate at the application layer of the network stack (</a:t>
            </a:r>
            <a:r>
              <a:rPr lang="en-US" altLang="ko-KR" sz="1400" b="1" dirty="0">
                <a:solidFill>
                  <a:srgbClr val="FF0000"/>
                </a:solidFill>
              </a:rPr>
              <a:t>HTTP</a:t>
            </a:r>
            <a:r>
              <a:rPr lang="en-US" altLang="ko-KR" sz="1400" b="1" dirty="0"/>
              <a:t>) and can provide features such as </a:t>
            </a:r>
            <a:r>
              <a:rPr lang="en-US" altLang="ko-KR" sz="1400" b="1" dirty="0">
                <a:solidFill>
                  <a:srgbClr val="FF0000"/>
                </a:solidFill>
              </a:rPr>
              <a:t>cookie-based session affinity</a:t>
            </a:r>
            <a:r>
              <a:rPr lang="en-US" altLang="ko-KR" sz="1400" dirty="0"/>
              <a:t> and the like, which services can’t.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2EF3504-EC89-99CC-19DA-64AD73E115DD}"/>
              </a:ext>
            </a:extLst>
          </p:cNvPr>
          <p:cNvGrpSpPr/>
          <p:nvPr/>
        </p:nvGrpSpPr>
        <p:grpSpPr>
          <a:xfrm>
            <a:off x="3352800" y="3145713"/>
            <a:ext cx="5486400" cy="1685925"/>
            <a:chOff x="3352800" y="3051120"/>
            <a:chExt cx="5486400" cy="1685925"/>
          </a:xfrm>
        </p:grpSpPr>
        <p:pic>
          <p:nvPicPr>
            <p:cNvPr id="8" name="그림 7">
              <a:extLst>
                <a:ext uri="{FF2B5EF4-FFF2-40B4-BE49-F238E27FC236}">
                  <a16:creationId xmlns:a16="http://schemas.microsoft.com/office/drawing/2014/main" id="{A1F247B3-3678-8F9F-6C74-9C4466877D66}"/>
                </a:ext>
              </a:extLst>
            </p:cNvPr>
            <p:cNvPicPr>
              <a:picLocks noChangeAspect="1"/>
            </p:cNvPicPr>
            <p:nvPr/>
          </p:nvPicPr>
          <p:blipFill>
            <a:blip r:embed="rId2"/>
            <a:stretch>
              <a:fillRect/>
            </a:stretch>
          </p:blipFill>
          <p:spPr>
            <a:xfrm>
              <a:off x="3352800" y="3051120"/>
              <a:ext cx="5486400" cy="1685925"/>
            </a:xfrm>
            <a:prstGeom prst="rect">
              <a:avLst/>
            </a:prstGeom>
          </p:spPr>
        </p:pic>
        <p:sp>
          <p:nvSpPr>
            <p:cNvPr id="9" name="직사각형 8">
              <a:extLst>
                <a:ext uri="{FF2B5EF4-FFF2-40B4-BE49-F238E27FC236}">
                  <a16:creationId xmlns:a16="http://schemas.microsoft.com/office/drawing/2014/main" id="{3BAF3643-F95B-136C-0BBB-ABFE11FC0B2C}"/>
                </a:ext>
              </a:extLst>
            </p:cNvPr>
            <p:cNvSpPr/>
            <p:nvPr/>
          </p:nvSpPr>
          <p:spPr>
            <a:xfrm>
              <a:off x="4311869" y="3744310"/>
              <a:ext cx="614855" cy="3153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171559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Resource(2/16)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an Ingress Controller :</a:t>
            </a:r>
          </a:p>
          <a:p>
            <a:pPr lvl="1">
              <a:buFont typeface="Wingdings" panose="05000000000000000000" pitchFamily="2" charset="2"/>
              <a:buChar char="§"/>
            </a:pPr>
            <a:r>
              <a:rPr lang="en-US" altLang="ko-KR" sz="1400" b="1" dirty="0"/>
              <a:t>To make Ingress resources work, an </a:t>
            </a:r>
            <a:r>
              <a:rPr lang="en-US" altLang="ko-KR" sz="1400" b="1" dirty="0">
                <a:solidFill>
                  <a:srgbClr val="FF0000"/>
                </a:solidFill>
              </a:rPr>
              <a:t>Ingress controller </a:t>
            </a:r>
            <a:r>
              <a:rPr lang="en-US" altLang="ko-KR" sz="1400" b="1" dirty="0"/>
              <a:t>needs to be running in the cluster. Different Kubernetes environments use different implementations of the controller</a:t>
            </a:r>
            <a:r>
              <a:rPr lang="en-US" altLang="ko-KR" sz="1400" dirty="0"/>
              <a:t>, but several don’t provide a default controller at all.</a:t>
            </a:r>
          </a:p>
          <a:p>
            <a:pPr lvl="1">
              <a:buFont typeface="Wingdings" panose="05000000000000000000" pitchFamily="2" charset="2"/>
              <a:buChar char="§"/>
            </a:pPr>
            <a:r>
              <a:rPr lang="en-US" altLang="ko-KR" sz="1400" b="1" dirty="0"/>
              <a:t>For example, Google Kubernetes Engine uses Google Cloud Platform’s own HTTP load-balancing features to provide the Ingress functionality</a:t>
            </a:r>
            <a:r>
              <a:rPr lang="en-US" altLang="ko-KR" sz="1400" dirty="0"/>
              <a:t>. </a:t>
            </a:r>
            <a:r>
              <a:rPr lang="en-US" altLang="ko-KR" sz="1400" b="1" dirty="0"/>
              <a:t>Initially, </a:t>
            </a:r>
            <a:r>
              <a:rPr lang="en-US" altLang="ko-KR" sz="1400" b="1" dirty="0" err="1"/>
              <a:t>Minikube</a:t>
            </a:r>
            <a:r>
              <a:rPr lang="en-US" altLang="ko-KR" sz="1400" b="1" dirty="0"/>
              <a:t> didn’t provide a controller out of the box, but it now includes an add-on that can be enabled </a:t>
            </a:r>
            <a:r>
              <a:rPr lang="en-US" altLang="ko-KR" sz="1400" dirty="0"/>
              <a:t>to let you try out the Ingress functionality. </a:t>
            </a:r>
          </a:p>
          <a:p>
            <a:pPr lvl="1">
              <a:buFont typeface="Wingdings" panose="05000000000000000000" pitchFamily="2" charset="2"/>
              <a:buChar char="§"/>
            </a:pPr>
            <a:r>
              <a:rPr lang="en-US" altLang="ko-KR" sz="1400" b="1" dirty="0"/>
              <a:t>To enable the “Ingress addons” in </a:t>
            </a:r>
            <a:r>
              <a:rPr lang="en-US" altLang="ko-KR" sz="1400" b="1" dirty="0" err="1"/>
              <a:t>minikube</a:t>
            </a:r>
            <a:r>
              <a:rPr lang="en-US" altLang="ko-KR" sz="1400" dirty="0"/>
              <a:t>, you need to run the following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FAA1B564-BC33-53B0-10B9-C1205312A32B}"/>
              </a:ext>
            </a:extLst>
          </p:cNvPr>
          <p:cNvGrpSpPr/>
          <p:nvPr/>
        </p:nvGrpSpPr>
        <p:grpSpPr>
          <a:xfrm>
            <a:off x="1145628" y="2716189"/>
            <a:ext cx="9900744" cy="2470771"/>
            <a:chOff x="1145628" y="2716189"/>
            <a:chExt cx="9900744" cy="2470771"/>
          </a:xfrm>
        </p:grpSpPr>
        <p:grpSp>
          <p:nvGrpSpPr>
            <p:cNvPr id="12" name="그룹 11">
              <a:extLst>
                <a:ext uri="{FF2B5EF4-FFF2-40B4-BE49-F238E27FC236}">
                  <a16:creationId xmlns:a16="http://schemas.microsoft.com/office/drawing/2014/main" id="{B7B3EC96-D565-B1B0-83EE-D162101872C7}"/>
                </a:ext>
              </a:extLst>
            </p:cNvPr>
            <p:cNvGrpSpPr/>
            <p:nvPr/>
          </p:nvGrpSpPr>
          <p:grpSpPr>
            <a:xfrm>
              <a:off x="1145628" y="2716189"/>
              <a:ext cx="9900744" cy="2470771"/>
              <a:chOff x="1145628" y="2542768"/>
              <a:chExt cx="9900744" cy="2470771"/>
            </a:xfrm>
          </p:grpSpPr>
          <p:sp>
            <p:nvSpPr>
              <p:cNvPr id="8" name="TextBox 7">
                <a:extLst>
                  <a:ext uri="{FF2B5EF4-FFF2-40B4-BE49-F238E27FC236}">
                    <a16:creationId xmlns:a16="http://schemas.microsoft.com/office/drawing/2014/main" id="{AD80689D-1452-C055-2E8A-C2C11DBB356A}"/>
                  </a:ext>
                </a:extLst>
              </p:cNvPr>
              <p:cNvSpPr txBox="1"/>
              <p:nvPr/>
            </p:nvSpPr>
            <p:spPr>
              <a:xfrm>
                <a:off x="3047343" y="2542768"/>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minikube</a:t>
                </a:r>
                <a:r>
                  <a:rPr lang="en-US" altLang="ko-KR" sz="1000" b="1" dirty="0"/>
                  <a:t> addons </a:t>
                </a:r>
                <a:r>
                  <a:rPr lang="en-US" altLang="ko-KR" sz="1000" b="1" dirty="0">
                    <a:solidFill>
                      <a:srgbClr val="FF0000"/>
                    </a:solidFill>
                  </a:rPr>
                  <a:t>enable ingress</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917F8A91-4029-59BF-3132-69C07128D7A1}"/>
                  </a:ext>
                </a:extLst>
              </p:cNvPr>
              <p:cNvSpPr/>
              <p:nvPr/>
            </p:nvSpPr>
            <p:spPr>
              <a:xfrm>
                <a:off x="5894989" y="2814145"/>
                <a:ext cx="402021" cy="25224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E0DF61DC-ECD7-D0E4-DB32-FD5263A109BB}"/>
                  </a:ext>
                </a:extLst>
              </p:cNvPr>
              <p:cNvPicPr>
                <a:picLocks noChangeAspect="1"/>
              </p:cNvPicPr>
              <p:nvPr/>
            </p:nvPicPr>
            <p:blipFill>
              <a:blip r:embed="rId2"/>
              <a:stretch>
                <a:fillRect/>
              </a:stretch>
            </p:blipFill>
            <p:spPr>
              <a:xfrm>
                <a:off x="1145628" y="3066393"/>
                <a:ext cx="9900744" cy="1947146"/>
              </a:xfrm>
              <a:prstGeom prst="rect">
                <a:avLst/>
              </a:prstGeom>
            </p:spPr>
          </p:pic>
        </p:grpSp>
        <p:sp>
          <p:nvSpPr>
            <p:cNvPr id="13" name="직사각형 12">
              <a:extLst>
                <a:ext uri="{FF2B5EF4-FFF2-40B4-BE49-F238E27FC236}">
                  <a16:creationId xmlns:a16="http://schemas.microsoft.com/office/drawing/2014/main" id="{6EF70138-AA85-88AE-52F4-FA0463B15360}"/>
                </a:ext>
              </a:extLst>
            </p:cNvPr>
            <p:cNvSpPr/>
            <p:nvPr/>
          </p:nvSpPr>
          <p:spPr>
            <a:xfrm>
              <a:off x="5336628" y="3711325"/>
              <a:ext cx="2081048" cy="1497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464731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t>
            </a:r>
            <a:r>
              <a:rPr lang="en-US" altLang="ko-KR" sz="2800" b="1" dirty="0" err="1"/>
              <a:t>Minikube</a:t>
            </a:r>
            <a:r>
              <a:rPr lang="en-US" altLang="ko-KR" sz="2800" b="1" dirty="0"/>
              <a:t> Addons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Checking </a:t>
            </a:r>
            <a:r>
              <a:rPr lang="en-US" altLang="ko-KR" sz="1800" b="1" dirty="0" err="1"/>
              <a:t>Minikube</a:t>
            </a:r>
            <a:r>
              <a:rPr lang="en-US" altLang="ko-KR" sz="1800" b="1" dirty="0"/>
              <a:t> Addons :</a:t>
            </a:r>
          </a:p>
          <a:p>
            <a:pPr lvl="1">
              <a:buFont typeface="Wingdings" panose="05000000000000000000" pitchFamily="2" charset="2"/>
              <a:buChar char="§"/>
            </a:pPr>
            <a:r>
              <a:rPr lang="en-US" altLang="ko-KR" sz="1400" dirty="0"/>
              <a:t>You can use “</a:t>
            </a:r>
            <a:r>
              <a:rPr lang="en-US" altLang="ko-KR" sz="1400" b="1" dirty="0" err="1"/>
              <a:t>minikube</a:t>
            </a:r>
            <a:r>
              <a:rPr lang="en-US" altLang="ko-KR" sz="1400" b="1" dirty="0"/>
              <a:t> addons list</a:t>
            </a:r>
            <a:r>
              <a:rPr lang="en-US" altLang="ko-KR" sz="1400" dirty="0"/>
              <a:t>” command to see the status of all addons.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28A8C9D-45C9-0509-00D7-ED5D2DB2AFAE}"/>
              </a:ext>
            </a:extLst>
          </p:cNvPr>
          <p:cNvGrpSpPr/>
          <p:nvPr/>
        </p:nvGrpSpPr>
        <p:grpSpPr>
          <a:xfrm>
            <a:off x="2145817" y="1537138"/>
            <a:ext cx="7900365" cy="4871892"/>
            <a:chOff x="2145817" y="1537138"/>
            <a:chExt cx="7900365" cy="4871892"/>
          </a:xfrm>
        </p:grpSpPr>
        <p:pic>
          <p:nvPicPr>
            <p:cNvPr id="8" name="그림 7">
              <a:extLst>
                <a:ext uri="{FF2B5EF4-FFF2-40B4-BE49-F238E27FC236}">
                  <a16:creationId xmlns:a16="http://schemas.microsoft.com/office/drawing/2014/main" id="{72968D49-E1D9-AA2B-9F21-D47696C66C20}"/>
                </a:ext>
              </a:extLst>
            </p:cNvPr>
            <p:cNvPicPr>
              <a:picLocks noChangeAspect="1"/>
            </p:cNvPicPr>
            <p:nvPr/>
          </p:nvPicPr>
          <p:blipFill>
            <a:blip r:embed="rId2"/>
            <a:stretch>
              <a:fillRect/>
            </a:stretch>
          </p:blipFill>
          <p:spPr>
            <a:xfrm>
              <a:off x="2145817" y="1537138"/>
              <a:ext cx="7900365" cy="4871892"/>
            </a:xfrm>
            <a:prstGeom prst="rect">
              <a:avLst/>
            </a:prstGeom>
          </p:spPr>
        </p:pic>
        <p:sp>
          <p:nvSpPr>
            <p:cNvPr id="9" name="직사각형 8">
              <a:extLst>
                <a:ext uri="{FF2B5EF4-FFF2-40B4-BE49-F238E27FC236}">
                  <a16:creationId xmlns:a16="http://schemas.microsoft.com/office/drawing/2014/main" id="{1DAFCFD7-088E-D36E-0C9C-7279E70BE578}"/>
                </a:ext>
              </a:extLst>
            </p:cNvPr>
            <p:cNvSpPr/>
            <p:nvPr/>
          </p:nvSpPr>
          <p:spPr>
            <a:xfrm>
              <a:off x="2225566" y="3807372"/>
              <a:ext cx="4837386" cy="134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498590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Resource(3/16)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an Ingress Controller :</a:t>
            </a:r>
          </a:p>
          <a:p>
            <a:pPr lvl="1">
              <a:buFont typeface="Wingdings" panose="05000000000000000000" pitchFamily="2" charset="2"/>
              <a:buChar char="§"/>
            </a:pPr>
            <a:r>
              <a:rPr lang="en-US" altLang="ko-KR" sz="1400" b="1" dirty="0"/>
              <a:t>The “</a:t>
            </a:r>
            <a:r>
              <a:rPr lang="en-US" altLang="ko-KR" sz="1400" b="1" dirty="0" err="1"/>
              <a:t>minikube</a:t>
            </a:r>
            <a:r>
              <a:rPr lang="en-US" altLang="ko-KR" sz="1400" b="1" dirty="0"/>
              <a:t> addons enable ingress” command should have spun up an Ingress controller as another pod</a:t>
            </a:r>
            <a:r>
              <a:rPr lang="en-US" altLang="ko-KR" sz="1400" dirty="0"/>
              <a:t>. Most likely, the controller pod will be </a:t>
            </a:r>
            <a:r>
              <a:rPr lang="en-US" altLang="ko-KR" sz="1400" b="1" dirty="0"/>
              <a:t>in the “</a:t>
            </a:r>
            <a:r>
              <a:rPr lang="en-US" altLang="ko-KR" sz="1400" b="1" dirty="0" err="1"/>
              <a:t>kube</a:t>
            </a:r>
            <a:r>
              <a:rPr lang="en-US" altLang="ko-KR" sz="1400" b="1" dirty="0"/>
              <a:t>-system” namespace</a:t>
            </a:r>
            <a:r>
              <a:rPr lang="en-US" altLang="ko-KR" sz="1400" dirty="0"/>
              <a:t>, but not necessarily, so list all the running pods across all namespaces by using the </a:t>
            </a:r>
            <a:r>
              <a:rPr lang="en-US" altLang="ko-KR" sz="1400" b="1" dirty="0">
                <a:solidFill>
                  <a:srgbClr val="FF0000"/>
                </a:solidFill>
              </a:rPr>
              <a:t>“--all-namespaces</a:t>
            </a:r>
            <a:r>
              <a:rPr lang="en-US" altLang="ko-KR" sz="1400" dirty="0"/>
              <a:t>” option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name suggests that Nginx (an open-source HTTP server and reverse proxy) is used to provide the Ingress functionality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57737094-5C1A-0041-F65D-FEEA58E8097C}"/>
              </a:ext>
            </a:extLst>
          </p:cNvPr>
          <p:cNvGrpSpPr/>
          <p:nvPr/>
        </p:nvGrpSpPr>
        <p:grpSpPr>
          <a:xfrm>
            <a:off x="1617279" y="1886658"/>
            <a:ext cx="8957441" cy="3410120"/>
            <a:chOff x="1617279" y="1886658"/>
            <a:chExt cx="8957441" cy="3410120"/>
          </a:xfrm>
        </p:grpSpPr>
        <p:grpSp>
          <p:nvGrpSpPr>
            <p:cNvPr id="12" name="그룹 11">
              <a:extLst>
                <a:ext uri="{FF2B5EF4-FFF2-40B4-BE49-F238E27FC236}">
                  <a16:creationId xmlns:a16="http://schemas.microsoft.com/office/drawing/2014/main" id="{D835C932-13BA-C6FE-2628-43C0C167B680}"/>
                </a:ext>
              </a:extLst>
            </p:cNvPr>
            <p:cNvGrpSpPr/>
            <p:nvPr/>
          </p:nvGrpSpPr>
          <p:grpSpPr>
            <a:xfrm>
              <a:off x="1617279" y="1886658"/>
              <a:ext cx="8957441" cy="3410120"/>
              <a:chOff x="1617279" y="1853921"/>
              <a:chExt cx="8957441" cy="3410120"/>
            </a:xfrm>
          </p:grpSpPr>
          <p:pic>
            <p:nvPicPr>
              <p:cNvPr id="8" name="그림 7">
                <a:extLst>
                  <a:ext uri="{FF2B5EF4-FFF2-40B4-BE49-F238E27FC236}">
                    <a16:creationId xmlns:a16="http://schemas.microsoft.com/office/drawing/2014/main" id="{E555C447-1E4B-4817-60BF-A8A6519344E6}"/>
                  </a:ext>
                </a:extLst>
              </p:cNvPr>
              <p:cNvPicPr>
                <a:picLocks noChangeAspect="1"/>
              </p:cNvPicPr>
              <p:nvPr/>
            </p:nvPicPr>
            <p:blipFill>
              <a:blip r:embed="rId2"/>
              <a:stretch>
                <a:fillRect/>
              </a:stretch>
            </p:blipFill>
            <p:spPr>
              <a:xfrm>
                <a:off x="1617279" y="2412589"/>
                <a:ext cx="8957441" cy="2851452"/>
              </a:xfrm>
              <a:prstGeom prst="rect">
                <a:avLst/>
              </a:prstGeom>
            </p:spPr>
          </p:pic>
          <p:sp>
            <p:nvSpPr>
              <p:cNvPr id="10" name="TextBox 9">
                <a:extLst>
                  <a:ext uri="{FF2B5EF4-FFF2-40B4-BE49-F238E27FC236}">
                    <a16:creationId xmlns:a16="http://schemas.microsoft.com/office/drawing/2014/main" id="{82453318-0A8C-EA79-BF1F-3978BDFF79BD}"/>
                  </a:ext>
                </a:extLst>
              </p:cNvPr>
              <p:cNvSpPr txBox="1"/>
              <p:nvPr/>
            </p:nvSpPr>
            <p:spPr>
              <a:xfrm>
                <a:off x="3047341" y="1853921"/>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 --all-namespaces</a:t>
                </a:r>
                <a:endParaRPr lang="ko-KR" altLang="en-US" sz="1000" b="1" dirty="0"/>
              </a:p>
            </p:txBody>
          </p:sp>
          <p:sp>
            <p:nvSpPr>
              <p:cNvPr id="11" name="화살표: 아래쪽 10">
                <a:extLst>
                  <a:ext uri="{FF2B5EF4-FFF2-40B4-BE49-F238E27FC236}">
                    <a16:creationId xmlns:a16="http://schemas.microsoft.com/office/drawing/2014/main" id="{F4F87D18-E8BB-6E91-A96D-078F3D56D478}"/>
                  </a:ext>
                </a:extLst>
              </p:cNvPr>
              <p:cNvSpPr/>
              <p:nvPr/>
            </p:nvSpPr>
            <p:spPr>
              <a:xfrm>
                <a:off x="5883164" y="2100143"/>
                <a:ext cx="425669"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95C37377-A631-EA06-BB85-C33155FD1445}"/>
                </a:ext>
              </a:extLst>
            </p:cNvPr>
            <p:cNvSpPr/>
            <p:nvPr/>
          </p:nvSpPr>
          <p:spPr>
            <a:xfrm>
              <a:off x="1663262" y="3515711"/>
              <a:ext cx="6605752"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337046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Resource(4/16)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Creating an Ingress Resource :</a:t>
            </a:r>
          </a:p>
          <a:p>
            <a:pPr lvl="1">
              <a:buFont typeface="Wingdings" panose="05000000000000000000" pitchFamily="2" charset="2"/>
              <a:buChar char="§"/>
            </a:pPr>
            <a:r>
              <a:rPr lang="en-US" altLang="ko-KR" sz="1400" b="1" dirty="0"/>
              <a:t>You’ve confirmed there’s an Ingress controller running in your cluster, so you can now create an Ingress resource</a:t>
            </a:r>
            <a:r>
              <a:rPr lang="en-US" altLang="ko-KR" sz="1400" dirty="0"/>
              <a:t>. The following listing shows what the YAML manifest for the Ingress looks like.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1401D3C5-4B16-64B7-B7AD-90BEFD6F9E7C}"/>
              </a:ext>
            </a:extLst>
          </p:cNvPr>
          <p:cNvGrpSpPr/>
          <p:nvPr/>
        </p:nvGrpSpPr>
        <p:grpSpPr>
          <a:xfrm>
            <a:off x="3047343" y="1697543"/>
            <a:ext cx="6097314" cy="2554545"/>
            <a:chOff x="3047343" y="1697543"/>
            <a:chExt cx="6097314" cy="2554545"/>
          </a:xfrm>
        </p:grpSpPr>
        <p:sp>
          <p:nvSpPr>
            <p:cNvPr id="9" name="TextBox 8">
              <a:extLst>
                <a:ext uri="{FF2B5EF4-FFF2-40B4-BE49-F238E27FC236}">
                  <a16:creationId xmlns:a16="http://schemas.microsoft.com/office/drawing/2014/main" id="{0AE8F1A7-8FFD-0F91-94B5-6A6F757FE490}"/>
                </a:ext>
              </a:extLst>
            </p:cNvPr>
            <p:cNvSpPr txBox="1"/>
            <p:nvPr/>
          </p:nvSpPr>
          <p:spPr>
            <a:xfrm>
              <a:off x="3047343" y="1697543"/>
              <a:ext cx="6097314" cy="2554545"/>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networking.k8s.io/v1</a:t>
              </a:r>
            </a:p>
            <a:p>
              <a:r>
                <a:rPr lang="en-US" altLang="ko-KR" sz="1000" b="1" dirty="0"/>
                <a:t>kind: </a:t>
              </a:r>
              <a:r>
                <a:rPr lang="en-US" altLang="ko-KR" sz="1000" b="1" dirty="0">
                  <a:solidFill>
                    <a:srgbClr val="FF0000"/>
                  </a:solidFill>
                </a:rPr>
                <a:t>Ingress</a:t>
              </a:r>
            </a:p>
            <a:p>
              <a:r>
                <a:rPr lang="en-US" altLang="ko-KR" sz="1000" b="1" dirty="0"/>
                <a:t>metadata:</a:t>
              </a:r>
            </a:p>
            <a:p>
              <a:r>
                <a:rPr lang="en-US" altLang="ko-KR" sz="1000" b="1" dirty="0"/>
                <a:t>  name: </a:t>
              </a:r>
              <a:r>
                <a:rPr lang="en-US" altLang="ko-KR" sz="1000" b="1" dirty="0" err="1">
                  <a:solidFill>
                    <a:srgbClr val="FF0000"/>
                  </a:solidFill>
                </a:rPr>
                <a:t>kubia</a:t>
              </a:r>
              <a:endParaRPr lang="en-US" altLang="ko-KR" sz="1000" b="1" dirty="0">
                <a:solidFill>
                  <a:srgbClr val="FF0000"/>
                </a:solidFill>
              </a:endParaRPr>
            </a:p>
            <a:p>
              <a:r>
                <a:rPr lang="en-US" altLang="ko-KR" sz="1000" b="1" dirty="0"/>
                <a:t>spec:</a:t>
              </a:r>
            </a:p>
            <a:p>
              <a:r>
                <a:rPr lang="en-US" altLang="ko-KR" sz="1000" b="1" dirty="0"/>
                <a:t>  rules:</a:t>
              </a:r>
            </a:p>
            <a:p>
              <a:r>
                <a:rPr lang="en-US" altLang="ko-KR" sz="1000" b="1" dirty="0"/>
                <a:t>  - host: </a:t>
              </a:r>
              <a:r>
                <a:rPr lang="en-US" altLang="ko-KR" sz="1000" b="1" dirty="0">
                  <a:solidFill>
                    <a:srgbClr val="FF0000"/>
                  </a:solidFill>
                </a:rPr>
                <a:t>kubia.example.com</a:t>
              </a:r>
            </a:p>
            <a:p>
              <a:r>
                <a:rPr lang="en-US" altLang="ko-KR" sz="1000" b="1" dirty="0"/>
                <a:t>    </a:t>
              </a:r>
              <a:r>
                <a:rPr lang="en-US" altLang="ko-KR" sz="1000" b="1" dirty="0">
                  <a:solidFill>
                    <a:srgbClr val="FF0000"/>
                  </a:solidFill>
                </a:rPr>
                <a:t>http</a:t>
              </a:r>
              <a:r>
                <a:rPr lang="en-US" altLang="ko-KR" sz="1000" b="1" dirty="0"/>
                <a:t>:</a:t>
              </a:r>
            </a:p>
            <a:p>
              <a:r>
                <a:rPr lang="en-US" altLang="ko-KR" sz="1000" b="1" dirty="0">
                  <a:solidFill>
                    <a:srgbClr val="FF0000"/>
                  </a:solidFill>
                </a:rPr>
                <a:t>      paths:</a:t>
              </a:r>
            </a:p>
            <a:p>
              <a:r>
                <a:rPr lang="en-US" altLang="ko-KR" sz="1000" b="1" dirty="0"/>
                <a:t>      </a:t>
              </a:r>
              <a:r>
                <a:rPr lang="en-US" altLang="ko-KR" sz="1000" b="1" dirty="0">
                  <a:solidFill>
                    <a:srgbClr val="FF0000"/>
                  </a:solidFill>
                </a:rPr>
                <a:t>- path: /</a:t>
              </a:r>
            </a:p>
            <a:p>
              <a:r>
                <a:rPr lang="en-US" altLang="ko-KR" sz="1000" b="1" dirty="0">
                  <a:solidFill>
                    <a:srgbClr val="FF0000"/>
                  </a:solidFill>
                </a:rPr>
                <a:t>        </a:t>
              </a:r>
              <a:r>
                <a:rPr lang="en-US" altLang="ko-KR" sz="1000" b="1" dirty="0" err="1">
                  <a:solidFill>
                    <a:srgbClr val="FF0000"/>
                  </a:solidFill>
                </a:rPr>
                <a:t>pathType</a:t>
              </a:r>
              <a:r>
                <a:rPr lang="en-US" altLang="ko-KR" sz="1000" b="1" dirty="0">
                  <a:solidFill>
                    <a:srgbClr val="FF0000"/>
                  </a:solidFill>
                </a:rPr>
                <a:t>: Prefix</a:t>
              </a:r>
            </a:p>
            <a:p>
              <a:r>
                <a:rPr lang="en-US" altLang="ko-KR" sz="1000" b="1" dirty="0">
                  <a:solidFill>
                    <a:srgbClr val="FF0000"/>
                  </a:solidFill>
                </a:rPr>
                <a:t>        backend:</a:t>
              </a:r>
            </a:p>
            <a:p>
              <a:r>
                <a:rPr lang="en-US" altLang="ko-KR" sz="1000" b="1" dirty="0">
                  <a:solidFill>
                    <a:srgbClr val="FF0000"/>
                  </a:solidFill>
                </a:rPr>
                <a:t>          service:</a:t>
              </a:r>
            </a:p>
            <a:p>
              <a:r>
                <a:rPr lang="en-US" altLang="ko-KR" sz="1000" b="1" dirty="0">
                  <a:solidFill>
                    <a:srgbClr val="FF0000"/>
                  </a:solidFill>
                </a:rPr>
                <a:t>            name: </a:t>
              </a:r>
              <a:r>
                <a:rPr lang="en-US" altLang="ko-KR" sz="1000" b="1" dirty="0" err="1">
                  <a:solidFill>
                    <a:srgbClr val="FF0000"/>
                  </a:solidFill>
                </a:rPr>
                <a:t>kubia-nodeport</a:t>
              </a:r>
              <a:endParaRPr lang="en-US" altLang="ko-KR" sz="1000" b="1" dirty="0">
                <a:solidFill>
                  <a:srgbClr val="FF0000"/>
                </a:solidFill>
              </a:endParaRPr>
            </a:p>
            <a:p>
              <a:r>
                <a:rPr lang="en-US" altLang="ko-KR" sz="1000" b="1" dirty="0">
                  <a:solidFill>
                    <a:srgbClr val="FF0000"/>
                  </a:solidFill>
                </a:rPr>
                <a:t>            port:</a:t>
              </a:r>
            </a:p>
            <a:p>
              <a:r>
                <a:rPr lang="en-US" altLang="ko-KR" sz="1000" b="1" dirty="0">
                  <a:solidFill>
                    <a:srgbClr val="FF0000"/>
                  </a:solidFill>
                </a:rPr>
                <a:t>              number: 80</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F7D80C3D-9287-01CB-D25B-FA0BF972BCD7}"/>
                </a:ext>
              </a:extLst>
            </p:cNvPr>
            <p:cNvSpPr txBox="1"/>
            <p:nvPr/>
          </p:nvSpPr>
          <p:spPr>
            <a:xfrm>
              <a:off x="7815447" y="1697543"/>
              <a:ext cx="1329210" cy="246221"/>
            </a:xfrm>
            <a:prstGeom prst="rect">
              <a:avLst/>
            </a:prstGeom>
            <a:noFill/>
          </p:spPr>
          <p:txBody>
            <a:bodyPr wrap="none" rtlCol="0">
              <a:spAutoFit/>
            </a:bodyPr>
            <a:lstStyle/>
            <a:p>
              <a:pPr algn="l"/>
              <a:r>
                <a:rPr lang="en-US" altLang="ko-KR" sz="1000" b="1" dirty="0" err="1"/>
                <a:t>kubia-ingress.yaml</a:t>
              </a:r>
              <a:endParaRPr lang="ko-KR" altLang="en-US" sz="1000" b="1" dirty="0"/>
            </a:p>
          </p:txBody>
        </p:sp>
      </p:grpSp>
      <p:grpSp>
        <p:nvGrpSpPr>
          <p:cNvPr id="15" name="그룹 14">
            <a:extLst>
              <a:ext uri="{FF2B5EF4-FFF2-40B4-BE49-F238E27FC236}">
                <a16:creationId xmlns:a16="http://schemas.microsoft.com/office/drawing/2014/main" id="{CF8B3A41-D7CD-395D-D852-6AE2057D66AF}"/>
              </a:ext>
            </a:extLst>
          </p:cNvPr>
          <p:cNvGrpSpPr/>
          <p:nvPr/>
        </p:nvGrpSpPr>
        <p:grpSpPr>
          <a:xfrm>
            <a:off x="2843213" y="4275430"/>
            <a:ext cx="6505575" cy="2133600"/>
            <a:chOff x="2843213" y="4275430"/>
            <a:chExt cx="6505575" cy="2133600"/>
          </a:xfrm>
        </p:grpSpPr>
        <p:grpSp>
          <p:nvGrpSpPr>
            <p:cNvPr id="13" name="그룹 12">
              <a:extLst>
                <a:ext uri="{FF2B5EF4-FFF2-40B4-BE49-F238E27FC236}">
                  <a16:creationId xmlns:a16="http://schemas.microsoft.com/office/drawing/2014/main" id="{16C32BED-B022-2FFC-AA25-A4040244AE64}"/>
                </a:ext>
              </a:extLst>
            </p:cNvPr>
            <p:cNvGrpSpPr/>
            <p:nvPr/>
          </p:nvGrpSpPr>
          <p:grpSpPr>
            <a:xfrm>
              <a:off x="2843213" y="4275430"/>
              <a:ext cx="6505575" cy="2133600"/>
              <a:chOff x="2843213" y="4275430"/>
              <a:chExt cx="6505575" cy="2133600"/>
            </a:xfrm>
          </p:grpSpPr>
          <p:pic>
            <p:nvPicPr>
              <p:cNvPr id="4" name="그림 3">
                <a:extLst>
                  <a:ext uri="{FF2B5EF4-FFF2-40B4-BE49-F238E27FC236}">
                    <a16:creationId xmlns:a16="http://schemas.microsoft.com/office/drawing/2014/main" id="{00A10F68-3E55-F4F8-F18E-69D44282199D}"/>
                  </a:ext>
                </a:extLst>
              </p:cNvPr>
              <p:cNvPicPr>
                <a:picLocks noChangeAspect="1"/>
              </p:cNvPicPr>
              <p:nvPr/>
            </p:nvPicPr>
            <p:blipFill>
              <a:blip r:embed="rId2"/>
              <a:stretch>
                <a:fillRect/>
              </a:stretch>
            </p:blipFill>
            <p:spPr>
              <a:xfrm>
                <a:off x="2843213" y="4275430"/>
                <a:ext cx="6505575" cy="2133600"/>
              </a:xfrm>
              <a:prstGeom prst="rect">
                <a:avLst/>
              </a:prstGeom>
            </p:spPr>
          </p:pic>
          <p:sp>
            <p:nvSpPr>
              <p:cNvPr id="12" name="직사각형 11">
                <a:extLst>
                  <a:ext uri="{FF2B5EF4-FFF2-40B4-BE49-F238E27FC236}">
                    <a16:creationId xmlns:a16="http://schemas.microsoft.com/office/drawing/2014/main" id="{8C27CB27-B99D-9CDF-7771-D678CB5788FD}"/>
                  </a:ext>
                </a:extLst>
              </p:cNvPr>
              <p:cNvSpPr/>
              <p:nvPr/>
            </p:nvSpPr>
            <p:spPr>
              <a:xfrm>
                <a:off x="5510048" y="5147441"/>
                <a:ext cx="638503" cy="3783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직사각형 13">
              <a:extLst>
                <a:ext uri="{FF2B5EF4-FFF2-40B4-BE49-F238E27FC236}">
                  <a16:creationId xmlns:a16="http://schemas.microsoft.com/office/drawing/2014/main" id="{AB2D64A3-9A3D-A4E1-F741-2F0343D10326}"/>
                </a:ext>
              </a:extLst>
            </p:cNvPr>
            <p:cNvSpPr/>
            <p:nvPr/>
          </p:nvSpPr>
          <p:spPr>
            <a:xfrm>
              <a:off x="7449207" y="5132425"/>
              <a:ext cx="662151" cy="3933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723952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Resource(5/16)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Creating an Ingress Resource :</a:t>
            </a:r>
          </a:p>
          <a:p>
            <a:pPr lvl="1">
              <a:buFont typeface="Wingdings" panose="05000000000000000000" pitchFamily="2" charset="2"/>
              <a:buChar char="§"/>
            </a:pPr>
            <a:r>
              <a:rPr lang="en-US" altLang="ko-KR" sz="1400" dirty="0"/>
              <a:t>The “</a:t>
            </a:r>
            <a:r>
              <a:rPr lang="en-US" altLang="ko-KR" sz="1400" b="1" dirty="0" err="1"/>
              <a:t>kubia-ingress.yaml</a:t>
            </a:r>
            <a:r>
              <a:rPr lang="en-US" altLang="ko-KR" sz="1400" dirty="0"/>
              <a:t>” defines an Ingress with a single rule, which makes sure </a:t>
            </a:r>
            <a:r>
              <a:rPr lang="en-US" altLang="ko-KR" sz="1400" b="1" dirty="0"/>
              <a:t>all HTTP requests received by the Ingress controller</a:t>
            </a:r>
            <a:r>
              <a:rPr lang="en-US" altLang="ko-KR" sz="1400" dirty="0"/>
              <a:t>, </a:t>
            </a:r>
            <a:r>
              <a:rPr lang="en-US" altLang="ko-KR" sz="1400" b="1" dirty="0"/>
              <a:t>in which the host “kubia.example.com” is requested, will be sent to the “</a:t>
            </a:r>
            <a:r>
              <a:rPr lang="en-US" altLang="ko-KR" sz="1400" b="1" dirty="0" err="1"/>
              <a:t>kubia-nodeport</a:t>
            </a:r>
            <a:r>
              <a:rPr lang="en-US" altLang="ko-KR" sz="1400" b="1" dirty="0"/>
              <a:t>” service on port “80”</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Ingress controllers on cloud providers (in GKE, for example) require </a:t>
            </a:r>
            <a:r>
              <a:rPr lang="en-US" altLang="ko-KR" sz="1400" b="1" dirty="0">
                <a:solidFill>
                  <a:srgbClr val="FF0000"/>
                </a:solidFill>
              </a:rPr>
              <a:t>the Ingress to point to a “</a:t>
            </a:r>
            <a:r>
              <a:rPr lang="en-US" altLang="ko-KR" sz="1400" b="1" dirty="0" err="1">
                <a:solidFill>
                  <a:srgbClr val="FF0000"/>
                </a:solidFill>
              </a:rPr>
              <a:t>NodePort</a:t>
            </a:r>
            <a:r>
              <a:rPr lang="en-US" altLang="ko-KR" sz="1400" b="1" dirty="0">
                <a:solidFill>
                  <a:srgbClr val="FF0000"/>
                </a:solidFill>
              </a:rPr>
              <a:t>” service</a:t>
            </a:r>
            <a:r>
              <a:rPr lang="en-US" altLang="ko-KR" sz="1400" dirty="0"/>
              <a:t>. But that’s not a requirement of Kubernetes itself.</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D6D46B53-37FE-5C66-AB7C-ADD3F598BC9C}"/>
              </a:ext>
            </a:extLst>
          </p:cNvPr>
          <p:cNvGrpSpPr/>
          <p:nvPr/>
        </p:nvGrpSpPr>
        <p:grpSpPr>
          <a:xfrm>
            <a:off x="1282262" y="1927317"/>
            <a:ext cx="9627476" cy="1580511"/>
            <a:chOff x="1282262" y="1927317"/>
            <a:chExt cx="9627476" cy="1580511"/>
          </a:xfrm>
        </p:grpSpPr>
        <p:grpSp>
          <p:nvGrpSpPr>
            <p:cNvPr id="11" name="그룹 10">
              <a:extLst>
                <a:ext uri="{FF2B5EF4-FFF2-40B4-BE49-F238E27FC236}">
                  <a16:creationId xmlns:a16="http://schemas.microsoft.com/office/drawing/2014/main" id="{14214455-FE81-ECDB-D558-79AFDDC92681}"/>
                </a:ext>
              </a:extLst>
            </p:cNvPr>
            <p:cNvGrpSpPr/>
            <p:nvPr/>
          </p:nvGrpSpPr>
          <p:grpSpPr>
            <a:xfrm>
              <a:off x="1282262" y="1927317"/>
              <a:ext cx="9627476" cy="1580511"/>
              <a:chOff x="1282262" y="2011207"/>
              <a:chExt cx="9627476" cy="1580511"/>
            </a:xfrm>
          </p:grpSpPr>
          <p:pic>
            <p:nvPicPr>
              <p:cNvPr id="8" name="그림 7">
                <a:extLst>
                  <a:ext uri="{FF2B5EF4-FFF2-40B4-BE49-F238E27FC236}">
                    <a16:creationId xmlns:a16="http://schemas.microsoft.com/office/drawing/2014/main" id="{D8FCA686-77CC-1AA6-8AD5-A1197AD45E08}"/>
                  </a:ext>
                </a:extLst>
              </p:cNvPr>
              <p:cNvPicPr>
                <a:picLocks noChangeAspect="1"/>
              </p:cNvPicPr>
              <p:nvPr/>
            </p:nvPicPr>
            <p:blipFill>
              <a:blip r:embed="rId2"/>
              <a:stretch>
                <a:fillRect/>
              </a:stretch>
            </p:blipFill>
            <p:spPr>
              <a:xfrm>
                <a:off x="1282262" y="2011207"/>
                <a:ext cx="9627476" cy="1580511"/>
              </a:xfrm>
              <a:prstGeom prst="rect">
                <a:avLst/>
              </a:prstGeom>
            </p:spPr>
          </p:pic>
          <p:sp>
            <p:nvSpPr>
              <p:cNvPr id="9" name="직사각형 8">
                <a:extLst>
                  <a:ext uri="{FF2B5EF4-FFF2-40B4-BE49-F238E27FC236}">
                    <a16:creationId xmlns:a16="http://schemas.microsoft.com/office/drawing/2014/main" id="{B3BB6A19-37EA-0A99-E20A-AFA9933F92F1}"/>
                  </a:ext>
                </a:extLst>
              </p:cNvPr>
              <p:cNvSpPr/>
              <p:nvPr/>
            </p:nvSpPr>
            <p:spPr>
              <a:xfrm>
                <a:off x="5376041" y="2443656"/>
                <a:ext cx="2380593"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120D7A0C-4500-9D55-2CBB-6C902E662ACA}"/>
                  </a:ext>
                </a:extLst>
              </p:cNvPr>
              <p:cNvSpPr/>
              <p:nvPr/>
            </p:nvSpPr>
            <p:spPr>
              <a:xfrm>
                <a:off x="5376041" y="2727434"/>
                <a:ext cx="1426780"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 name="직사각형 3">
              <a:extLst>
                <a:ext uri="{FF2B5EF4-FFF2-40B4-BE49-F238E27FC236}">
                  <a16:creationId xmlns:a16="http://schemas.microsoft.com/office/drawing/2014/main" id="{A90AE420-C543-3139-3861-8A632A2FF996}"/>
                </a:ext>
              </a:extLst>
            </p:cNvPr>
            <p:cNvSpPr/>
            <p:nvPr/>
          </p:nvSpPr>
          <p:spPr>
            <a:xfrm>
              <a:off x="1355834" y="3050629"/>
              <a:ext cx="4816366"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60767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Registering Host Name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the Exposed Host Name :</a:t>
            </a:r>
          </a:p>
          <a:p>
            <a:pPr lvl="1">
              <a:buFont typeface="Wingdings" panose="05000000000000000000" pitchFamily="2" charset="2"/>
              <a:buChar char="§"/>
            </a:pPr>
            <a:r>
              <a:rPr lang="en-US" altLang="ko-KR" sz="1400" dirty="0"/>
              <a:t>Now, you can </a:t>
            </a:r>
            <a:r>
              <a:rPr lang="en-US" altLang="ko-KR" sz="1400" b="1" dirty="0"/>
              <a:t>add the exposed host name into “/</a:t>
            </a:r>
            <a:r>
              <a:rPr lang="en-US" altLang="ko-KR" sz="1400" b="1" dirty="0" err="1"/>
              <a:t>etc</a:t>
            </a:r>
            <a:r>
              <a:rPr lang="en-US" altLang="ko-KR" sz="1400" b="1" dirty="0"/>
              <a:t>/hosts” file</a:t>
            </a:r>
            <a:r>
              <a:rPr lang="en-US" altLang="ko-KR" sz="1400" dirty="0"/>
              <a:t>. To edit this file, you need to run </a:t>
            </a:r>
            <a:r>
              <a:rPr lang="en-US" altLang="ko-KR" sz="1400" b="1" dirty="0">
                <a:solidFill>
                  <a:srgbClr val="FF0000"/>
                </a:solidFill>
              </a:rPr>
              <a:t>“$ </a:t>
            </a:r>
            <a:r>
              <a:rPr lang="en-US" altLang="ko-KR" sz="1400" b="1" dirty="0" err="1">
                <a:solidFill>
                  <a:srgbClr val="FF0000"/>
                </a:solidFill>
              </a:rPr>
              <a:t>sudo</a:t>
            </a:r>
            <a:r>
              <a:rPr lang="en-US" altLang="ko-KR" sz="1400" b="1" dirty="0">
                <a:solidFill>
                  <a:srgbClr val="FF0000"/>
                </a:solidFill>
              </a:rPr>
              <a:t> vi /</a:t>
            </a:r>
            <a:r>
              <a:rPr lang="en-US" altLang="ko-KR" sz="1400" b="1" dirty="0" err="1">
                <a:solidFill>
                  <a:srgbClr val="FF0000"/>
                </a:solidFill>
              </a:rPr>
              <a:t>etc</a:t>
            </a:r>
            <a:r>
              <a:rPr lang="en-US" altLang="ko-KR" sz="1400" b="1" dirty="0">
                <a:solidFill>
                  <a:srgbClr val="FF0000"/>
                </a:solidFill>
              </a:rPr>
              <a:t>/hosts</a:t>
            </a:r>
            <a:r>
              <a:rPr lang="en-US" altLang="ko-KR" sz="1400" dirty="0"/>
              <a:t>” command. Then enter your password.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3B43D06-7659-7411-A218-DA12A690014F}"/>
              </a:ext>
            </a:extLst>
          </p:cNvPr>
          <p:cNvGrpSpPr/>
          <p:nvPr/>
        </p:nvGrpSpPr>
        <p:grpSpPr>
          <a:xfrm>
            <a:off x="1353207" y="2286777"/>
            <a:ext cx="9485585" cy="2284445"/>
            <a:chOff x="1353207" y="1764170"/>
            <a:chExt cx="9485585" cy="2284445"/>
          </a:xfrm>
        </p:grpSpPr>
        <p:pic>
          <p:nvPicPr>
            <p:cNvPr id="8" name="그림 7">
              <a:extLst>
                <a:ext uri="{FF2B5EF4-FFF2-40B4-BE49-F238E27FC236}">
                  <a16:creationId xmlns:a16="http://schemas.microsoft.com/office/drawing/2014/main" id="{FA364895-A7E6-6BC3-01BE-98F3A2D3DB2C}"/>
                </a:ext>
              </a:extLst>
            </p:cNvPr>
            <p:cNvPicPr>
              <a:picLocks noChangeAspect="1"/>
            </p:cNvPicPr>
            <p:nvPr/>
          </p:nvPicPr>
          <p:blipFill>
            <a:blip r:embed="rId2"/>
            <a:stretch>
              <a:fillRect/>
            </a:stretch>
          </p:blipFill>
          <p:spPr>
            <a:xfrm>
              <a:off x="1353207" y="1764170"/>
              <a:ext cx="9485585" cy="2284445"/>
            </a:xfrm>
            <a:prstGeom prst="rect">
              <a:avLst/>
            </a:prstGeom>
          </p:spPr>
        </p:pic>
        <p:sp>
          <p:nvSpPr>
            <p:cNvPr id="9" name="직사각형 8">
              <a:extLst>
                <a:ext uri="{FF2B5EF4-FFF2-40B4-BE49-F238E27FC236}">
                  <a16:creationId xmlns:a16="http://schemas.microsoft.com/office/drawing/2014/main" id="{2B990DDF-1D5A-E637-577E-F11F53E351CB}"/>
                </a:ext>
              </a:extLst>
            </p:cNvPr>
            <p:cNvSpPr/>
            <p:nvPr/>
          </p:nvSpPr>
          <p:spPr>
            <a:xfrm>
              <a:off x="1458310" y="3531476"/>
              <a:ext cx="2017987" cy="204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309487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Resource(6/16)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the Service Through the Ingress :</a:t>
            </a:r>
          </a:p>
          <a:p>
            <a:pPr lvl="1">
              <a:buFont typeface="Wingdings" panose="05000000000000000000" pitchFamily="2" charset="2"/>
              <a:buChar char="§"/>
            </a:pPr>
            <a:r>
              <a:rPr lang="en-US" altLang="ko-KR" sz="1400" b="1" dirty="0"/>
              <a:t>To access your service through “http://kubia.example.com,” you’ll need to </a:t>
            </a:r>
            <a:r>
              <a:rPr lang="en-US" altLang="ko-KR" sz="1400" b="1" dirty="0">
                <a:solidFill>
                  <a:srgbClr val="FF0000"/>
                </a:solidFill>
              </a:rPr>
              <a:t>make sure the domain name resolves to the IP of the Ingress controller</a:t>
            </a:r>
            <a:r>
              <a:rPr lang="en-US" altLang="ko-KR" sz="1400" dirty="0"/>
              <a:t>.</a:t>
            </a:r>
          </a:p>
          <a:p>
            <a:pPr lvl="1">
              <a:buFont typeface="Wingdings" panose="05000000000000000000" pitchFamily="2" charset="2"/>
              <a:buChar char="§"/>
            </a:pPr>
            <a:r>
              <a:rPr lang="en-US" altLang="ko-KR" sz="1400" b="1" dirty="0"/>
              <a:t>To look up the IP, you need to list Ingresses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When running on cloud providers, the address may take time to appear, because the Ingress controller provisions a load balancer behind the scenes</a:t>
            </a:r>
            <a:r>
              <a:rPr lang="en-US" altLang="ko-KR" sz="1400" dirty="0"/>
              <a:t>. The IP is shown in the “</a:t>
            </a:r>
            <a:r>
              <a:rPr lang="en-US" altLang="ko-KR" sz="1400" b="1" dirty="0"/>
              <a:t>ADDRESS</a:t>
            </a:r>
            <a:r>
              <a:rPr lang="en-US" altLang="ko-KR" sz="1400" dirty="0"/>
              <a:t>” column.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C45A3D79-3F34-50AF-47EE-D589ECA73AC4}"/>
              </a:ext>
            </a:extLst>
          </p:cNvPr>
          <p:cNvGrpSpPr/>
          <p:nvPr/>
        </p:nvGrpSpPr>
        <p:grpSpPr>
          <a:xfrm>
            <a:off x="1179786" y="1943679"/>
            <a:ext cx="9832427" cy="2139513"/>
            <a:chOff x="1179786" y="1943679"/>
            <a:chExt cx="9832427" cy="2139513"/>
          </a:xfrm>
        </p:grpSpPr>
        <p:sp>
          <p:nvSpPr>
            <p:cNvPr id="8" name="TextBox 7">
              <a:extLst>
                <a:ext uri="{FF2B5EF4-FFF2-40B4-BE49-F238E27FC236}">
                  <a16:creationId xmlns:a16="http://schemas.microsoft.com/office/drawing/2014/main" id="{479651A6-0E39-EE63-1B92-740BD59D6626}"/>
                </a:ext>
              </a:extLst>
            </p:cNvPr>
            <p:cNvSpPr txBox="1"/>
            <p:nvPr/>
          </p:nvSpPr>
          <p:spPr>
            <a:xfrm>
              <a:off x="3047343" y="1943679"/>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a:solidFill>
                    <a:srgbClr val="FF0000"/>
                  </a:solidFill>
                </a:rPr>
                <a:t>ingresses</a:t>
              </a:r>
            </a:p>
          </p:txBody>
        </p:sp>
        <p:sp>
          <p:nvSpPr>
            <p:cNvPr id="9" name="화살표: 아래쪽 8">
              <a:extLst>
                <a:ext uri="{FF2B5EF4-FFF2-40B4-BE49-F238E27FC236}">
                  <a16:creationId xmlns:a16="http://schemas.microsoft.com/office/drawing/2014/main" id="{7D22FCC9-E624-7C3A-0D4D-3CF2DD6A2C19}"/>
                </a:ext>
              </a:extLst>
            </p:cNvPr>
            <p:cNvSpPr/>
            <p:nvPr/>
          </p:nvSpPr>
          <p:spPr>
            <a:xfrm>
              <a:off x="5851634" y="2195315"/>
              <a:ext cx="488731" cy="33107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9CD7E294-F9C6-5089-3A51-CB403DCE1DD0}"/>
                </a:ext>
              </a:extLst>
            </p:cNvPr>
            <p:cNvPicPr>
              <a:picLocks noChangeAspect="1"/>
            </p:cNvPicPr>
            <p:nvPr/>
          </p:nvPicPr>
          <p:blipFill>
            <a:blip r:embed="rId2"/>
            <a:stretch>
              <a:fillRect/>
            </a:stretch>
          </p:blipFill>
          <p:spPr>
            <a:xfrm>
              <a:off x="1179786" y="2526391"/>
              <a:ext cx="9832427" cy="1556801"/>
            </a:xfrm>
            <a:prstGeom prst="rect">
              <a:avLst/>
            </a:prstGeom>
          </p:spPr>
        </p:pic>
      </p:grpSp>
      <p:sp>
        <p:nvSpPr>
          <p:cNvPr id="13" name="직사각형 12">
            <a:extLst>
              <a:ext uri="{FF2B5EF4-FFF2-40B4-BE49-F238E27FC236}">
                <a16:creationId xmlns:a16="http://schemas.microsoft.com/office/drawing/2014/main" id="{BB4075EF-D39F-BDE3-6E4A-BE851813DE92}"/>
              </a:ext>
            </a:extLst>
          </p:cNvPr>
          <p:cNvSpPr/>
          <p:nvPr/>
        </p:nvSpPr>
        <p:spPr>
          <a:xfrm>
            <a:off x="1245476" y="3247697"/>
            <a:ext cx="4248807"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054384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Resource(7/16)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the Service Through the Ingress :</a:t>
            </a:r>
          </a:p>
          <a:p>
            <a:pPr lvl="1">
              <a:buFont typeface="Wingdings" panose="05000000000000000000" pitchFamily="2" charset="2"/>
              <a:buChar char="§"/>
            </a:pPr>
            <a:r>
              <a:rPr lang="en-US" altLang="ko-KR" sz="1400" b="1" dirty="0"/>
              <a:t>Once you know the IP, you can then either </a:t>
            </a:r>
            <a:r>
              <a:rPr lang="en-US" altLang="ko-KR" sz="1400" b="1" dirty="0">
                <a:solidFill>
                  <a:srgbClr val="FF0000"/>
                </a:solidFill>
              </a:rPr>
              <a:t>configure your DNS servers</a:t>
            </a:r>
            <a:r>
              <a:rPr lang="en-US" altLang="ko-KR" sz="1400" b="1" dirty="0"/>
              <a:t> to resolve “kubia.example.com” to that IP or you can add the following line to “</a:t>
            </a:r>
            <a:r>
              <a:rPr lang="en-US" altLang="ko-KR" sz="1400" b="1" dirty="0">
                <a:solidFill>
                  <a:srgbClr val="FF0000"/>
                </a:solidFill>
              </a:rPr>
              <a:t>/</a:t>
            </a:r>
            <a:r>
              <a:rPr lang="en-US" altLang="ko-KR" sz="1400" b="1" dirty="0" err="1">
                <a:solidFill>
                  <a:srgbClr val="FF0000"/>
                </a:solidFill>
              </a:rPr>
              <a:t>etc</a:t>
            </a:r>
            <a:r>
              <a:rPr lang="en-US" altLang="ko-KR" sz="1400" b="1" dirty="0">
                <a:solidFill>
                  <a:srgbClr val="FF0000"/>
                </a:solidFill>
              </a:rPr>
              <a:t>/hosts</a:t>
            </a:r>
            <a:r>
              <a:rPr lang="en-US" altLang="ko-KR" sz="1400" b="1" dirty="0"/>
              <a:t>” on Linux </a:t>
            </a:r>
            <a:r>
              <a:rPr lang="en-US" altLang="ko-KR" sz="1400" dirty="0"/>
              <a:t>(or C:\windows\system32\drivers\etc\hosts on Windows)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you can access the service at ”</a:t>
            </a:r>
            <a:r>
              <a:rPr lang="en-US" altLang="ko-KR" sz="1400" b="1" dirty="0">
                <a:hlinkClick r:id="rId2"/>
              </a:rPr>
              <a:t>http://kubia.example.com</a:t>
            </a:r>
            <a:r>
              <a:rPr lang="en-US" altLang="ko-KR" sz="1400" dirty="0"/>
              <a:t>” (using a </a:t>
            </a:r>
            <a:r>
              <a:rPr lang="en-US" altLang="ko-KR" sz="1400" b="1" dirty="0"/>
              <a:t>browser</a:t>
            </a:r>
            <a:r>
              <a:rPr lang="en-US" altLang="ko-KR" sz="1400" dirty="0"/>
              <a:t> or </a:t>
            </a:r>
            <a:r>
              <a:rPr lang="en-US" altLang="ko-KR" sz="1400" b="1" dirty="0"/>
              <a:t>curl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D341DF3-3E55-A4C3-1F8A-E3A7EF29A9B4}"/>
              </a:ext>
            </a:extLst>
          </p:cNvPr>
          <p:cNvGrpSpPr/>
          <p:nvPr/>
        </p:nvGrpSpPr>
        <p:grpSpPr>
          <a:xfrm>
            <a:off x="3047343" y="1680482"/>
            <a:ext cx="6097314" cy="553998"/>
            <a:chOff x="3047343" y="1904265"/>
            <a:chExt cx="6097314" cy="553998"/>
          </a:xfrm>
        </p:grpSpPr>
        <p:sp>
          <p:nvSpPr>
            <p:cNvPr id="8" name="TextBox 7">
              <a:extLst>
                <a:ext uri="{FF2B5EF4-FFF2-40B4-BE49-F238E27FC236}">
                  <a16:creationId xmlns:a16="http://schemas.microsoft.com/office/drawing/2014/main" id="{A2644854-5FAC-E8F5-5704-78BC3C386714}"/>
                </a:ext>
              </a:extLst>
            </p:cNvPr>
            <p:cNvSpPr txBox="1"/>
            <p:nvPr/>
          </p:nvSpPr>
          <p:spPr>
            <a:xfrm>
              <a:off x="3047343" y="1904265"/>
              <a:ext cx="6097314" cy="553998"/>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a:t>192.168.49.2 kubia.example.com</a:t>
              </a:r>
            </a:p>
            <a:p>
              <a:r>
                <a:rPr lang="en-US" altLang="ko-KR" sz="1000" b="1" dirty="0"/>
                <a:t>…</a:t>
              </a:r>
            </a:p>
          </p:txBody>
        </p:sp>
        <p:sp>
          <p:nvSpPr>
            <p:cNvPr id="9" name="TextBox 8">
              <a:extLst>
                <a:ext uri="{FF2B5EF4-FFF2-40B4-BE49-F238E27FC236}">
                  <a16:creationId xmlns:a16="http://schemas.microsoft.com/office/drawing/2014/main" id="{42F50BCB-F06A-691C-A9BC-3D2AE7A045AE}"/>
                </a:ext>
              </a:extLst>
            </p:cNvPr>
            <p:cNvSpPr txBox="1"/>
            <p:nvPr/>
          </p:nvSpPr>
          <p:spPr>
            <a:xfrm>
              <a:off x="8338026" y="1904265"/>
              <a:ext cx="806631" cy="246221"/>
            </a:xfrm>
            <a:prstGeom prst="rect">
              <a:avLst/>
            </a:prstGeom>
            <a:noFill/>
          </p:spPr>
          <p:txBody>
            <a:bodyPr wrap="none" rtlCol="0">
              <a:spAutoFit/>
            </a:bodyPr>
            <a:lstStyle/>
            <a:p>
              <a:pPr algn="l"/>
              <a:r>
                <a:rPr lang="en-US" altLang="ko-KR" sz="1000" b="1" dirty="0"/>
                <a:t>/</a:t>
              </a:r>
              <a:r>
                <a:rPr lang="en-US" altLang="ko-KR" sz="1000" b="1" dirty="0" err="1"/>
                <a:t>etc</a:t>
              </a:r>
              <a:r>
                <a:rPr lang="en-US" altLang="ko-KR" sz="1000" b="1" dirty="0"/>
                <a:t>/hosts</a:t>
              </a:r>
              <a:endParaRPr lang="ko-KR" altLang="en-US" sz="1000" b="1" dirty="0"/>
            </a:p>
          </p:txBody>
        </p:sp>
      </p:grpSp>
      <p:grpSp>
        <p:nvGrpSpPr>
          <p:cNvPr id="22" name="그룹 21">
            <a:extLst>
              <a:ext uri="{FF2B5EF4-FFF2-40B4-BE49-F238E27FC236}">
                <a16:creationId xmlns:a16="http://schemas.microsoft.com/office/drawing/2014/main" id="{E7C35DED-74C1-B17A-EEDC-CAAFB12A7D5C}"/>
              </a:ext>
            </a:extLst>
          </p:cNvPr>
          <p:cNvGrpSpPr/>
          <p:nvPr/>
        </p:nvGrpSpPr>
        <p:grpSpPr>
          <a:xfrm>
            <a:off x="1349265" y="2586558"/>
            <a:ext cx="9493469" cy="3616569"/>
            <a:chOff x="1349265" y="2586558"/>
            <a:chExt cx="9493469" cy="3616569"/>
          </a:xfrm>
        </p:grpSpPr>
        <p:sp>
          <p:nvSpPr>
            <p:cNvPr id="12" name="TextBox 11">
              <a:extLst>
                <a:ext uri="{FF2B5EF4-FFF2-40B4-BE49-F238E27FC236}">
                  <a16:creationId xmlns:a16="http://schemas.microsoft.com/office/drawing/2014/main" id="{11A014A5-8B18-C1F3-5F1C-6581FFC661A2}"/>
                </a:ext>
              </a:extLst>
            </p:cNvPr>
            <p:cNvSpPr txBox="1"/>
            <p:nvPr/>
          </p:nvSpPr>
          <p:spPr>
            <a:xfrm>
              <a:off x="3047343" y="2586558"/>
              <a:ext cx="6097314" cy="246221"/>
            </a:xfrm>
            <a:prstGeom prst="rect">
              <a:avLst/>
            </a:prstGeom>
            <a:noFill/>
            <a:ln>
              <a:solidFill>
                <a:schemeClr val="bg1">
                  <a:lumMod val="50000"/>
                </a:schemeClr>
              </a:solidFill>
            </a:ln>
          </p:spPr>
          <p:txBody>
            <a:bodyPr wrap="square">
              <a:spAutoFit/>
            </a:bodyPr>
            <a:lstStyle/>
            <a:p>
              <a:r>
                <a:rPr lang="en-US" altLang="ko-KR" sz="1000" b="1" dirty="0"/>
                <a:t>$ curl </a:t>
              </a:r>
              <a:r>
                <a:rPr lang="en-US" altLang="ko-KR" sz="1000" b="1" dirty="0">
                  <a:solidFill>
                    <a:srgbClr val="FF0000"/>
                  </a:solidFill>
                </a:rPr>
                <a:t>http://kubia.example.com</a:t>
              </a:r>
            </a:p>
          </p:txBody>
        </p:sp>
        <p:sp>
          <p:nvSpPr>
            <p:cNvPr id="18" name="화살표: 아래쪽 17">
              <a:extLst>
                <a:ext uri="{FF2B5EF4-FFF2-40B4-BE49-F238E27FC236}">
                  <a16:creationId xmlns:a16="http://schemas.microsoft.com/office/drawing/2014/main" id="{51E33D4C-D1D8-E333-259D-2633E16408EC}"/>
                </a:ext>
              </a:extLst>
            </p:cNvPr>
            <p:cNvSpPr/>
            <p:nvPr/>
          </p:nvSpPr>
          <p:spPr>
            <a:xfrm>
              <a:off x="5887107" y="2832779"/>
              <a:ext cx="417786" cy="30777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1" name="그룹 20">
              <a:extLst>
                <a:ext uri="{FF2B5EF4-FFF2-40B4-BE49-F238E27FC236}">
                  <a16:creationId xmlns:a16="http://schemas.microsoft.com/office/drawing/2014/main" id="{C41B6691-12A3-3FD0-0D89-581CBF67BF78}"/>
                </a:ext>
              </a:extLst>
            </p:cNvPr>
            <p:cNvGrpSpPr/>
            <p:nvPr/>
          </p:nvGrpSpPr>
          <p:grpSpPr>
            <a:xfrm>
              <a:off x="1349265" y="3140556"/>
              <a:ext cx="9493469" cy="3062571"/>
              <a:chOff x="1349265" y="3140556"/>
              <a:chExt cx="9493469" cy="3062571"/>
            </a:xfrm>
          </p:grpSpPr>
          <p:grpSp>
            <p:nvGrpSpPr>
              <p:cNvPr id="17" name="그룹 16">
                <a:extLst>
                  <a:ext uri="{FF2B5EF4-FFF2-40B4-BE49-F238E27FC236}">
                    <a16:creationId xmlns:a16="http://schemas.microsoft.com/office/drawing/2014/main" id="{0835E7F4-3217-0CAC-DEE6-F4E02823031D}"/>
                  </a:ext>
                </a:extLst>
              </p:cNvPr>
              <p:cNvGrpSpPr/>
              <p:nvPr/>
            </p:nvGrpSpPr>
            <p:grpSpPr>
              <a:xfrm>
                <a:off x="1349265" y="3140556"/>
                <a:ext cx="9493469" cy="3062571"/>
                <a:chOff x="1349265" y="3408579"/>
                <a:chExt cx="9493469" cy="3062571"/>
              </a:xfrm>
            </p:grpSpPr>
            <p:pic>
              <p:nvPicPr>
                <p:cNvPr id="14" name="그림 13">
                  <a:extLst>
                    <a:ext uri="{FF2B5EF4-FFF2-40B4-BE49-F238E27FC236}">
                      <a16:creationId xmlns:a16="http://schemas.microsoft.com/office/drawing/2014/main" id="{66E03681-437B-8B0B-C4FE-DAB76A6E89C5}"/>
                    </a:ext>
                  </a:extLst>
                </p:cNvPr>
                <p:cNvPicPr>
                  <a:picLocks noChangeAspect="1"/>
                </p:cNvPicPr>
                <p:nvPr/>
              </p:nvPicPr>
              <p:blipFill>
                <a:blip r:embed="rId3"/>
                <a:stretch>
                  <a:fillRect/>
                </a:stretch>
              </p:blipFill>
              <p:spPr>
                <a:xfrm>
                  <a:off x="1349265" y="3408579"/>
                  <a:ext cx="9493469" cy="1503133"/>
                </a:xfrm>
                <a:prstGeom prst="rect">
                  <a:avLst/>
                </a:prstGeom>
              </p:spPr>
            </p:pic>
            <p:pic>
              <p:nvPicPr>
                <p:cNvPr id="16" name="그림 15">
                  <a:extLst>
                    <a:ext uri="{FF2B5EF4-FFF2-40B4-BE49-F238E27FC236}">
                      <a16:creationId xmlns:a16="http://schemas.microsoft.com/office/drawing/2014/main" id="{B057F2BC-3E0E-8ECF-BA42-4E4D913E8B82}"/>
                    </a:ext>
                  </a:extLst>
                </p:cNvPr>
                <p:cNvPicPr>
                  <a:picLocks noChangeAspect="1"/>
                </p:cNvPicPr>
                <p:nvPr/>
              </p:nvPicPr>
              <p:blipFill>
                <a:blip r:embed="rId4"/>
                <a:stretch>
                  <a:fillRect/>
                </a:stretch>
              </p:blipFill>
              <p:spPr>
                <a:xfrm>
                  <a:off x="1349265" y="4952527"/>
                  <a:ext cx="9493469" cy="1518623"/>
                </a:xfrm>
                <a:prstGeom prst="rect">
                  <a:avLst/>
                </a:prstGeom>
              </p:spPr>
            </p:pic>
          </p:grpSp>
          <p:sp>
            <p:nvSpPr>
              <p:cNvPr id="19" name="직사각형 18">
                <a:extLst>
                  <a:ext uri="{FF2B5EF4-FFF2-40B4-BE49-F238E27FC236}">
                    <a16:creationId xmlns:a16="http://schemas.microsoft.com/office/drawing/2014/main" id="{2069FA5C-8AA0-E7CF-43F9-AA6B596CBD42}"/>
                  </a:ext>
                </a:extLst>
              </p:cNvPr>
              <p:cNvSpPr/>
              <p:nvPr/>
            </p:nvSpPr>
            <p:spPr>
              <a:xfrm>
                <a:off x="5376041" y="3977924"/>
                <a:ext cx="1497725" cy="1684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79C4E521-2969-A35D-F9DF-EC4B98EC42ED}"/>
                  </a:ext>
                </a:extLst>
              </p:cNvPr>
              <p:cNvSpPr/>
              <p:nvPr/>
            </p:nvSpPr>
            <p:spPr>
              <a:xfrm>
                <a:off x="3476297" y="5185401"/>
                <a:ext cx="1095703" cy="1748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25552308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Resource(8/16)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Ingresses Work :</a:t>
            </a:r>
          </a:p>
          <a:p>
            <a:pPr lvl="1">
              <a:buFont typeface="Wingdings" panose="05000000000000000000" pitchFamily="2" charset="2"/>
              <a:buChar char="§"/>
            </a:pPr>
            <a:r>
              <a:rPr lang="en-US" altLang="ko-KR" sz="1400" dirty="0"/>
              <a:t>The following shows how the client connected to one of the pods through the Ingress controller. </a:t>
            </a:r>
            <a:r>
              <a:rPr lang="en-US" altLang="ko-KR" sz="1400" b="1" dirty="0"/>
              <a:t>The client first performed a DNS lookup of “kubia.example.com”</a:t>
            </a:r>
            <a:r>
              <a:rPr lang="en-US" altLang="ko-KR" sz="1400" dirty="0"/>
              <a:t>, and </a:t>
            </a:r>
            <a:r>
              <a:rPr lang="en-US" altLang="ko-KR" sz="1400" b="1" dirty="0"/>
              <a:t>the DNS server (or the local operating system) returned </a:t>
            </a:r>
            <a:r>
              <a:rPr lang="en-US" altLang="ko-KR" sz="1400" b="1" dirty="0">
                <a:solidFill>
                  <a:srgbClr val="FF0000"/>
                </a:solidFill>
              </a:rPr>
              <a:t>the IP of the Ingress controller</a:t>
            </a:r>
            <a:r>
              <a:rPr lang="en-US" altLang="ko-KR" sz="1400" dirty="0"/>
              <a:t>. </a:t>
            </a:r>
            <a:r>
              <a:rPr lang="en-US" altLang="ko-KR" sz="1400" b="1" dirty="0"/>
              <a:t>The client then sent an HTTP request to the Ingress controller </a:t>
            </a:r>
            <a:r>
              <a:rPr lang="en-US" altLang="ko-KR" sz="1400" dirty="0"/>
              <a:t>and specified “</a:t>
            </a:r>
            <a:r>
              <a:rPr lang="en-US" altLang="ko-KR" sz="1400" b="1" dirty="0"/>
              <a:t>kubia.example.com</a:t>
            </a:r>
            <a:r>
              <a:rPr lang="en-US" altLang="ko-KR" sz="1400" dirty="0"/>
              <a:t>” in the Host header. </a:t>
            </a:r>
            <a:r>
              <a:rPr lang="en-US" altLang="ko-KR" sz="1400" b="1" dirty="0"/>
              <a:t>From that header, the controller determined which service the client is trying to access, looked up the pod IPs through the </a:t>
            </a:r>
            <a:r>
              <a:rPr lang="en-US" altLang="ko-KR" sz="1400" b="1" dirty="0">
                <a:solidFill>
                  <a:srgbClr val="FF0000"/>
                </a:solidFill>
              </a:rPr>
              <a:t>Endpoints</a:t>
            </a:r>
            <a:r>
              <a:rPr lang="en-US" altLang="ko-KR" sz="1400" b="1" dirty="0"/>
              <a:t> object</a:t>
            </a:r>
            <a:r>
              <a:rPr lang="en-US" altLang="ko-KR" sz="1400" dirty="0"/>
              <a:t> associated with the service, and forwarded the client’s request to one of the pods.</a:t>
            </a:r>
          </a:p>
          <a:p>
            <a:pPr lvl="1">
              <a:buFont typeface="Wingdings" panose="05000000000000000000" pitchFamily="2" charset="2"/>
              <a:buChar char="§"/>
            </a:pPr>
            <a:r>
              <a:rPr lang="en-US" altLang="ko-KR" sz="1400" dirty="0"/>
              <a:t>As you can see, </a:t>
            </a:r>
            <a:r>
              <a:rPr lang="en-US" altLang="ko-KR" sz="1400" b="1" dirty="0">
                <a:solidFill>
                  <a:srgbClr val="FF0000"/>
                </a:solidFill>
              </a:rPr>
              <a:t>the Ingress controller didn’t forward the request to the service</a:t>
            </a:r>
            <a:r>
              <a:rPr lang="en-US" altLang="ko-KR" sz="1400" b="1" dirty="0"/>
              <a:t>. It only used it to select a pod</a:t>
            </a:r>
            <a:r>
              <a:rPr lang="en-US" altLang="ko-KR" sz="1400" dirty="0"/>
              <a:t>. Most, if not all, controllers work like this.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4A811AF-4BE7-01AF-49C2-1C1475DCBCA1}"/>
              </a:ext>
            </a:extLst>
          </p:cNvPr>
          <p:cNvPicPr>
            <a:picLocks noChangeAspect="1"/>
          </p:cNvPicPr>
          <p:nvPr/>
        </p:nvPicPr>
        <p:blipFill>
          <a:blip r:embed="rId2"/>
          <a:stretch>
            <a:fillRect/>
          </a:stretch>
        </p:blipFill>
        <p:spPr>
          <a:xfrm>
            <a:off x="3114675" y="3004808"/>
            <a:ext cx="5962650" cy="2771775"/>
          </a:xfrm>
          <a:prstGeom prst="rect">
            <a:avLst/>
          </a:prstGeom>
        </p:spPr>
      </p:pic>
      <p:sp>
        <p:nvSpPr>
          <p:cNvPr id="9" name="직사각형 8">
            <a:extLst>
              <a:ext uri="{FF2B5EF4-FFF2-40B4-BE49-F238E27FC236}">
                <a16:creationId xmlns:a16="http://schemas.microsoft.com/office/drawing/2014/main" id="{E54111B2-B0EA-FAE4-6A44-49EC81D009E7}"/>
              </a:ext>
            </a:extLst>
          </p:cNvPr>
          <p:cNvSpPr/>
          <p:nvPr/>
        </p:nvSpPr>
        <p:spPr>
          <a:xfrm>
            <a:off x="5486400" y="4422228"/>
            <a:ext cx="677917" cy="3941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622040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Resource(9/16)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Exposing Multiple Services Through the Same Ingress :</a:t>
            </a:r>
          </a:p>
          <a:p>
            <a:pPr lvl="1">
              <a:buFont typeface="Wingdings" panose="05000000000000000000" pitchFamily="2" charset="2"/>
              <a:buChar char="§"/>
            </a:pPr>
            <a:r>
              <a:rPr lang="en-US" altLang="ko-KR" sz="1400" dirty="0"/>
              <a:t>If you look at the Ingress spec closely, you’ll see that </a:t>
            </a:r>
            <a:r>
              <a:rPr lang="en-US" altLang="ko-KR" sz="1400" b="1" dirty="0"/>
              <a:t>both rules and paths are arrays</a:t>
            </a:r>
            <a:r>
              <a:rPr lang="en-US" altLang="ko-KR" sz="1400" dirty="0"/>
              <a:t>, </a:t>
            </a:r>
            <a:r>
              <a:rPr lang="en-US" altLang="ko-KR" sz="1400" b="1" dirty="0"/>
              <a:t>so they can contain multiple items</a:t>
            </a:r>
            <a:r>
              <a:rPr lang="en-US" altLang="ko-KR" sz="1400" dirty="0"/>
              <a:t>. </a:t>
            </a:r>
            <a:r>
              <a:rPr lang="en-US" altLang="ko-KR" sz="1400" b="1" dirty="0"/>
              <a:t>An Ingress can map multiple hosts and paths to multiple services</a:t>
            </a:r>
            <a:r>
              <a:rPr lang="en-US" altLang="ko-KR" sz="1400" dirty="0"/>
              <a:t>.</a:t>
            </a:r>
          </a:p>
          <a:p>
            <a:pPr lvl="1">
              <a:buFont typeface="Wingdings" panose="05000000000000000000" pitchFamily="2" charset="2"/>
              <a:buChar char="§"/>
            </a:pPr>
            <a:r>
              <a:rPr lang="en-US" altLang="ko-KR" sz="1400" b="1" dirty="0"/>
              <a:t>You can map multiple paths on the same host to different services</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In this case, requests will be sent to two different services, depending on the path in the requested URL</a:t>
            </a:r>
            <a:r>
              <a:rPr lang="en-US" altLang="ko-KR" sz="1400" dirty="0"/>
              <a:t>. Clients can therefore reach </a:t>
            </a:r>
            <a:r>
              <a:rPr lang="en-US" altLang="ko-KR" sz="1400" b="1" dirty="0"/>
              <a:t>two different services through </a:t>
            </a:r>
            <a:r>
              <a:rPr lang="en-US" altLang="ko-KR" sz="1400" b="1" dirty="0">
                <a:solidFill>
                  <a:srgbClr val="FF0000"/>
                </a:solidFill>
              </a:rPr>
              <a:t>a single IP address of the Ingress controller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3E58FE1-7B85-5461-1286-74B83ACF7170}"/>
              </a:ext>
            </a:extLst>
          </p:cNvPr>
          <p:cNvGrpSpPr/>
          <p:nvPr/>
        </p:nvGrpSpPr>
        <p:grpSpPr>
          <a:xfrm>
            <a:off x="3047343" y="2041910"/>
            <a:ext cx="6097314" cy="3631763"/>
            <a:chOff x="3047343" y="2152270"/>
            <a:chExt cx="6097314" cy="3631763"/>
          </a:xfrm>
        </p:grpSpPr>
        <p:sp>
          <p:nvSpPr>
            <p:cNvPr id="10" name="TextBox 9">
              <a:extLst>
                <a:ext uri="{FF2B5EF4-FFF2-40B4-BE49-F238E27FC236}">
                  <a16:creationId xmlns:a16="http://schemas.microsoft.com/office/drawing/2014/main" id="{25B6A871-6540-01D8-1622-1BB7E5E34BF3}"/>
                </a:ext>
              </a:extLst>
            </p:cNvPr>
            <p:cNvSpPr txBox="1"/>
            <p:nvPr/>
          </p:nvSpPr>
          <p:spPr>
            <a:xfrm>
              <a:off x="3047343" y="2152270"/>
              <a:ext cx="6097314" cy="3631763"/>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networking.k8s.io/v1</a:t>
              </a:r>
            </a:p>
            <a:p>
              <a:r>
                <a:rPr lang="en-US" altLang="ko-KR" sz="1000" b="1" dirty="0"/>
                <a:t>kind: Ingress</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rules:</a:t>
              </a:r>
            </a:p>
            <a:p>
              <a:r>
                <a:rPr lang="en-US" altLang="ko-KR" sz="1000" b="1" dirty="0"/>
                <a:t>  - host: </a:t>
              </a:r>
              <a:r>
                <a:rPr lang="en-US" altLang="ko-KR" sz="1000" b="1" dirty="0">
                  <a:solidFill>
                    <a:srgbClr val="FF0000"/>
                  </a:solidFill>
                </a:rPr>
                <a:t>kubia.example.com</a:t>
              </a:r>
            </a:p>
            <a:p>
              <a:r>
                <a:rPr lang="en-US" altLang="ko-KR" sz="1000" b="1" dirty="0"/>
                <a:t>    http:</a:t>
              </a:r>
            </a:p>
            <a:p>
              <a:r>
                <a:rPr lang="en-US" altLang="ko-KR" sz="1000" b="1" dirty="0"/>
                <a:t>      paths:</a:t>
              </a:r>
            </a:p>
            <a:p>
              <a:r>
                <a:rPr lang="en-US" altLang="ko-KR" sz="1000" b="1" dirty="0">
                  <a:solidFill>
                    <a:srgbClr val="FF0000"/>
                  </a:solidFill>
                </a:rPr>
                <a:t>      - path: /</a:t>
              </a:r>
              <a:r>
                <a:rPr lang="en-US" altLang="ko-KR" sz="1000" b="1" dirty="0" err="1">
                  <a:solidFill>
                    <a:srgbClr val="FF0000"/>
                  </a:solidFill>
                </a:rPr>
                <a:t>kubia</a:t>
              </a:r>
              <a:endParaRPr lang="en-US" altLang="ko-KR" sz="1000" b="1" dirty="0">
                <a:solidFill>
                  <a:srgbClr val="FF0000"/>
                </a:solidFill>
              </a:endParaRPr>
            </a:p>
            <a:p>
              <a:r>
                <a:rPr lang="en-US" altLang="ko-KR" sz="1000" b="1" dirty="0"/>
                <a:t>        </a:t>
              </a:r>
              <a:r>
                <a:rPr lang="en-US" altLang="ko-KR" sz="1000" b="1" dirty="0" err="1"/>
                <a:t>pathType</a:t>
              </a:r>
              <a:r>
                <a:rPr lang="en-US" altLang="ko-KR" sz="1000" b="1" dirty="0"/>
                <a:t>: Prefix</a:t>
              </a:r>
            </a:p>
            <a:p>
              <a:r>
                <a:rPr lang="en-US" altLang="ko-KR" sz="1000" b="1" dirty="0"/>
                <a:t>        backend:</a:t>
              </a:r>
            </a:p>
            <a:p>
              <a:r>
                <a:rPr lang="en-US" altLang="ko-KR" sz="1000" b="1" dirty="0"/>
                <a:t>          service:</a:t>
              </a:r>
            </a:p>
            <a:p>
              <a:r>
                <a:rPr lang="en-US" altLang="ko-KR" sz="1000" b="1" dirty="0"/>
                <a:t>            name: </a:t>
              </a:r>
              <a:r>
                <a:rPr lang="en-US" altLang="ko-KR" sz="1000" b="1" dirty="0" err="1"/>
                <a:t>kubia</a:t>
              </a:r>
              <a:endParaRPr lang="en-US" altLang="ko-KR" sz="1000" b="1" dirty="0"/>
            </a:p>
            <a:p>
              <a:r>
                <a:rPr lang="en-US" altLang="ko-KR" sz="1000" b="1" dirty="0"/>
                <a:t>            port:</a:t>
              </a:r>
            </a:p>
            <a:p>
              <a:r>
                <a:rPr lang="en-US" altLang="ko-KR" sz="1000" b="1" dirty="0"/>
                <a:t>              number: 80</a:t>
              </a:r>
            </a:p>
            <a:p>
              <a:r>
                <a:rPr lang="en-US" altLang="ko-KR" sz="1000" b="1" dirty="0">
                  <a:solidFill>
                    <a:srgbClr val="FF0000"/>
                  </a:solidFill>
                </a:rPr>
                <a:t>      - path: /foo</a:t>
              </a:r>
            </a:p>
            <a:p>
              <a:r>
                <a:rPr lang="en-US" altLang="ko-KR" sz="1000" b="1" dirty="0"/>
                <a:t>        </a:t>
              </a:r>
              <a:r>
                <a:rPr lang="en-US" altLang="ko-KR" sz="1000" b="1" dirty="0" err="1"/>
                <a:t>pathType</a:t>
              </a:r>
              <a:r>
                <a:rPr lang="en-US" altLang="ko-KR" sz="1000" b="1" dirty="0"/>
                <a:t>: Prefix</a:t>
              </a:r>
            </a:p>
            <a:p>
              <a:r>
                <a:rPr lang="en-US" altLang="ko-KR" sz="1000" b="1" dirty="0"/>
                <a:t>        backend:</a:t>
              </a:r>
            </a:p>
            <a:p>
              <a:r>
                <a:rPr lang="en-US" altLang="ko-KR" sz="1000" b="1" dirty="0"/>
                <a:t>          service:</a:t>
              </a:r>
            </a:p>
            <a:p>
              <a:r>
                <a:rPr lang="en-US" altLang="ko-KR" sz="1000" b="1" dirty="0"/>
                <a:t>            name: bar</a:t>
              </a:r>
            </a:p>
            <a:p>
              <a:r>
                <a:rPr lang="en-US" altLang="ko-KR" sz="1000" b="1" dirty="0"/>
                <a:t>            port:</a:t>
              </a:r>
            </a:p>
            <a:p>
              <a:r>
                <a:rPr lang="en-US" altLang="ko-KR" sz="1000" b="1" dirty="0"/>
                <a:t>              number: 80</a:t>
              </a:r>
              <a:endParaRPr lang="ko-KR" altLang="en-US" sz="1000" b="1" dirty="0"/>
            </a:p>
          </p:txBody>
        </p:sp>
        <p:sp>
          <p:nvSpPr>
            <p:cNvPr id="11" name="TextBox 10">
              <a:extLst>
                <a:ext uri="{FF2B5EF4-FFF2-40B4-BE49-F238E27FC236}">
                  <a16:creationId xmlns:a16="http://schemas.microsoft.com/office/drawing/2014/main" id="{AF066460-8E16-F986-5756-359481BD0BA4}"/>
                </a:ext>
              </a:extLst>
            </p:cNvPr>
            <p:cNvSpPr txBox="1"/>
            <p:nvPr/>
          </p:nvSpPr>
          <p:spPr>
            <a:xfrm>
              <a:off x="6925722" y="2152270"/>
              <a:ext cx="2215671" cy="246221"/>
            </a:xfrm>
            <a:prstGeom prst="rect">
              <a:avLst/>
            </a:prstGeom>
            <a:noFill/>
          </p:spPr>
          <p:txBody>
            <a:bodyPr wrap="none" rtlCol="0">
              <a:spAutoFit/>
            </a:bodyPr>
            <a:lstStyle/>
            <a:p>
              <a:pPr algn="l"/>
              <a:r>
                <a:rPr lang="en-US" altLang="ko-KR" sz="1000" b="1" dirty="0" err="1"/>
                <a:t>kubia</a:t>
              </a:r>
              <a:r>
                <a:rPr lang="en-US" altLang="ko-KR" sz="1000" b="1" dirty="0"/>
                <a:t>-ingress-multiple-</a:t>
              </a:r>
              <a:r>
                <a:rPr lang="en-US" altLang="ko-KR" sz="1000" b="1" dirty="0" err="1"/>
                <a:t>path.yaml</a:t>
              </a:r>
              <a:endParaRPr lang="ko-KR" altLang="en-US" sz="1000" b="1" dirty="0"/>
            </a:p>
          </p:txBody>
        </p:sp>
      </p:grpSp>
    </p:spTree>
    <p:extLst>
      <p:ext uri="{BB962C8B-B14F-4D97-AF65-F5344CB8AC3E}">
        <p14:creationId xmlns:p14="http://schemas.microsoft.com/office/powerpoint/2010/main" val="2426279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Resource(10/16)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Exposing Multiple Services Through the Same Ingress :</a:t>
            </a:r>
          </a:p>
          <a:p>
            <a:pPr lvl="1">
              <a:buFont typeface="Wingdings" panose="05000000000000000000" pitchFamily="2" charset="2"/>
              <a:buChar char="§"/>
            </a:pPr>
            <a:r>
              <a:rPr lang="en-US" altLang="ko-KR" sz="1400" dirty="0"/>
              <a:t>To access the service, you can use the “</a:t>
            </a:r>
            <a:r>
              <a:rPr lang="en-US" altLang="ko-KR" sz="1400" b="1" dirty="0"/>
              <a:t>$ curl kubia.example.com/</a:t>
            </a:r>
            <a:r>
              <a:rPr lang="en-US" altLang="ko-KR" sz="1400" b="1" dirty="0" err="1"/>
              <a:t>kubia</a:t>
            </a:r>
            <a:r>
              <a:rPr lang="en-US" altLang="ko-KR" sz="1400" dirty="0"/>
              <a:t>” command. In this case, you cannot access “kubia.example.com”. It shows that </a:t>
            </a:r>
            <a:r>
              <a:rPr lang="en-US" altLang="ko-KR" sz="1400" b="1" dirty="0"/>
              <a:t>“404 Not Found” error message from </a:t>
            </a:r>
            <a:r>
              <a:rPr lang="en-US" altLang="ko-KR" sz="1400" b="1" dirty="0">
                <a:solidFill>
                  <a:srgbClr val="FF0000"/>
                </a:solidFill>
              </a:rPr>
              <a:t>Nginx Ingress Controller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C4F1C4F-D766-410C-CBBA-D8B7C52C245C}"/>
              </a:ext>
            </a:extLst>
          </p:cNvPr>
          <p:cNvGrpSpPr/>
          <p:nvPr/>
        </p:nvGrpSpPr>
        <p:grpSpPr>
          <a:xfrm>
            <a:off x="1333171" y="1869161"/>
            <a:ext cx="9525657" cy="3445113"/>
            <a:chOff x="1333171" y="1869161"/>
            <a:chExt cx="9525657" cy="3445113"/>
          </a:xfrm>
        </p:grpSpPr>
        <p:grpSp>
          <p:nvGrpSpPr>
            <p:cNvPr id="10" name="그룹 9">
              <a:extLst>
                <a:ext uri="{FF2B5EF4-FFF2-40B4-BE49-F238E27FC236}">
                  <a16:creationId xmlns:a16="http://schemas.microsoft.com/office/drawing/2014/main" id="{ABEDD583-8B8D-501E-C148-EAD1F41C127B}"/>
                </a:ext>
              </a:extLst>
            </p:cNvPr>
            <p:cNvGrpSpPr/>
            <p:nvPr/>
          </p:nvGrpSpPr>
          <p:grpSpPr>
            <a:xfrm>
              <a:off x="1333171" y="1869161"/>
              <a:ext cx="9525657" cy="3445113"/>
              <a:chOff x="1333171" y="1869161"/>
              <a:chExt cx="9525657" cy="3445113"/>
            </a:xfrm>
          </p:grpSpPr>
          <p:pic>
            <p:nvPicPr>
              <p:cNvPr id="4" name="그림 3">
                <a:extLst>
                  <a:ext uri="{FF2B5EF4-FFF2-40B4-BE49-F238E27FC236}">
                    <a16:creationId xmlns:a16="http://schemas.microsoft.com/office/drawing/2014/main" id="{4E287BE2-40E6-5204-6555-25E7D607F1C2}"/>
                  </a:ext>
                </a:extLst>
              </p:cNvPr>
              <p:cNvPicPr>
                <a:picLocks noChangeAspect="1"/>
              </p:cNvPicPr>
              <p:nvPr/>
            </p:nvPicPr>
            <p:blipFill>
              <a:blip r:embed="rId2"/>
              <a:stretch>
                <a:fillRect/>
              </a:stretch>
            </p:blipFill>
            <p:spPr>
              <a:xfrm>
                <a:off x="1333171" y="1869161"/>
                <a:ext cx="9525657" cy="3445113"/>
              </a:xfrm>
              <a:prstGeom prst="rect">
                <a:avLst/>
              </a:prstGeom>
            </p:spPr>
          </p:pic>
          <p:sp>
            <p:nvSpPr>
              <p:cNvPr id="8" name="직사각형 7">
                <a:extLst>
                  <a:ext uri="{FF2B5EF4-FFF2-40B4-BE49-F238E27FC236}">
                    <a16:creationId xmlns:a16="http://schemas.microsoft.com/office/drawing/2014/main" id="{C44CA72B-4F94-5B77-79C1-2576F2130EBB}"/>
                  </a:ext>
                </a:extLst>
              </p:cNvPr>
              <p:cNvSpPr/>
              <p:nvPr/>
            </p:nvSpPr>
            <p:spPr>
              <a:xfrm>
                <a:off x="5391806" y="3649717"/>
                <a:ext cx="1458310"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89A2EB97-A31F-8B81-762A-47B6ECB7C6D3}"/>
                  </a:ext>
                </a:extLst>
              </p:cNvPr>
              <p:cNvSpPr/>
              <p:nvPr/>
            </p:nvSpPr>
            <p:spPr>
              <a:xfrm>
                <a:off x="5391806" y="4721772"/>
                <a:ext cx="1891863" cy="1882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3855093-AFEB-D70F-39B3-4D55E1CAAB87}"/>
                </a:ext>
              </a:extLst>
            </p:cNvPr>
            <p:cNvSpPr/>
            <p:nvPr/>
          </p:nvSpPr>
          <p:spPr>
            <a:xfrm>
              <a:off x="1434662" y="3799488"/>
              <a:ext cx="2680138" cy="945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827575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Resource(11/16)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Mapping Different Services to Different Hosts :</a:t>
            </a:r>
          </a:p>
          <a:p>
            <a:pPr lvl="1">
              <a:buFont typeface="Wingdings" panose="05000000000000000000" pitchFamily="2" charset="2"/>
              <a:buChar char="§"/>
            </a:pPr>
            <a:r>
              <a:rPr lang="en-US" altLang="ko-KR" sz="1400" b="1" dirty="0"/>
              <a:t>Similarly, you can use an Ingress to </a:t>
            </a:r>
            <a:r>
              <a:rPr lang="en-US" altLang="ko-KR" sz="1400" b="1" dirty="0">
                <a:solidFill>
                  <a:srgbClr val="FF0000"/>
                </a:solidFill>
              </a:rPr>
              <a:t>map to different services based on the host in the HTTP request </a:t>
            </a:r>
            <a:r>
              <a:rPr lang="en-US" altLang="ko-KR" sz="1400" b="1" dirty="0"/>
              <a:t>instead of (only) the path</a:t>
            </a:r>
            <a:r>
              <a:rPr lang="en-US" altLang="ko-KR" sz="1400" dirty="0"/>
              <a:t>, as shown in the next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Requests received by the controller will be forwarded to either service “foo” or “bar”, depending on the Host header in the request </a:t>
            </a:r>
            <a:r>
              <a:rPr lang="en-US" altLang="ko-KR" sz="1400" dirty="0"/>
              <a:t>(the way virtual hosts are handled in web servers). </a:t>
            </a:r>
            <a:r>
              <a:rPr lang="en-US" altLang="ko-KR" sz="1400" b="1" dirty="0"/>
              <a:t>DNS needs to point both the “foo.example.com” and the “bar.example.com” domain names to the Ingress controller’s IP address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4739B5FE-74F5-507A-63EA-B6183217E130}"/>
              </a:ext>
            </a:extLst>
          </p:cNvPr>
          <p:cNvGrpSpPr/>
          <p:nvPr/>
        </p:nvGrpSpPr>
        <p:grpSpPr>
          <a:xfrm>
            <a:off x="1931275" y="1913820"/>
            <a:ext cx="8329450" cy="2555969"/>
            <a:chOff x="880241" y="2150303"/>
            <a:chExt cx="8329450" cy="2555969"/>
          </a:xfrm>
        </p:grpSpPr>
        <p:grpSp>
          <p:nvGrpSpPr>
            <p:cNvPr id="10" name="그룹 9">
              <a:extLst>
                <a:ext uri="{FF2B5EF4-FFF2-40B4-BE49-F238E27FC236}">
                  <a16:creationId xmlns:a16="http://schemas.microsoft.com/office/drawing/2014/main" id="{52BF2895-F0CB-579D-E529-13A5C6BD8965}"/>
                </a:ext>
              </a:extLst>
            </p:cNvPr>
            <p:cNvGrpSpPr/>
            <p:nvPr/>
          </p:nvGrpSpPr>
          <p:grpSpPr>
            <a:xfrm>
              <a:off x="880241" y="2151727"/>
              <a:ext cx="8329450" cy="2554545"/>
              <a:chOff x="3047343" y="1690062"/>
              <a:chExt cx="8329450" cy="2554545"/>
            </a:xfrm>
          </p:grpSpPr>
          <p:sp>
            <p:nvSpPr>
              <p:cNvPr id="8" name="TextBox 7">
                <a:extLst>
                  <a:ext uri="{FF2B5EF4-FFF2-40B4-BE49-F238E27FC236}">
                    <a16:creationId xmlns:a16="http://schemas.microsoft.com/office/drawing/2014/main" id="{A5D533FB-5D1F-F30D-15AF-9C51F70A7A30}"/>
                  </a:ext>
                </a:extLst>
              </p:cNvPr>
              <p:cNvSpPr txBox="1"/>
              <p:nvPr/>
            </p:nvSpPr>
            <p:spPr>
              <a:xfrm>
                <a:off x="3047343" y="1690062"/>
                <a:ext cx="4164725" cy="2554545"/>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networking.k8s.io/v1</a:t>
                </a:r>
              </a:p>
              <a:p>
                <a:r>
                  <a:rPr lang="en-US" altLang="ko-KR" sz="1000" b="1" dirty="0"/>
                  <a:t>kind: Ingress</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rules:</a:t>
                </a:r>
              </a:p>
              <a:p>
                <a:r>
                  <a:rPr lang="en-US" altLang="ko-KR" sz="1000" b="1" dirty="0">
                    <a:solidFill>
                      <a:srgbClr val="FF0000"/>
                    </a:solidFill>
                  </a:rPr>
                  <a:t>  - host: foo.example.com</a:t>
                </a:r>
              </a:p>
              <a:p>
                <a:r>
                  <a:rPr lang="en-US" altLang="ko-KR" sz="1000" b="1" dirty="0"/>
                  <a:t>    http:</a:t>
                </a:r>
              </a:p>
              <a:p>
                <a:r>
                  <a:rPr lang="en-US" altLang="ko-KR" sz="1000" b="1" dirty="0"/>
                  <a:t>      paths:</a:t>
                </a:r>
              </a:p>
              <a:p>
                <a:r>
                  <a:rPr lang="en-US" altLang="ko-KR" sz="1000" b="1" dirty="0"/>
                  <a:t>      - path: /</a:t>
                </a:r>
              </a:p>
              <a:p>
                <a:r>
                  <a:rPr lang="en-US" altLang="ko-KR" sz="1000" b="1" dirty="0"/>
                  <a:t>        </a:t>
                </a:r>
                <a:r>
                  <a:rPr lang="en-US" altLang="ko-KR" sz="1000" b="1" dirty="0" err="1"/>
                  <a:t>pathType</a:t>
                </a:r>
                <a:r>
                  <a:rPr lang="en-US" altLang="ko-KR" sz="1000" b="1" dirty="0"/>
                  <a:t>: Prefix</a:t>
                </a:r>
              </a:p>
              <a:p>
                <a:r>
                  <a:rPr lang="en-US" altLang="ko-KR" sz="1000" b="1" dirty="0"/>
                  <a:t>        backend:</a:t>
                </a:r>
              </a:p>
              <a:p>
                <a:r>
                  <a:rPr lang="en-US" altLang="ko-KR" sz="1000" b="1" dirty="0"/>
                  <a:t>          service:</a:t>
                </a:r>
              </a:p>
              <a:p>
                <a:r>
                  <a:rPr lang="en-US" altLang="ko-KR" sz="1000" b="1" dirty="0"/>
                  <a:t>            name: foo</a:t>
                </a:r>
              </a:p>
              <a:p>
                <a:r>
                  <a:rPr lang="en-US" altLang="ko-KR" sz="1000" b="1" dirty="0"/>
                  <a:t>            port:</a:t>
                </a:r>
              </a:p>
              <a:p>
                <a:r>
                  <a:rPr lang="en-US" altLang="ko-KR" sz="1000" b="1" dirty="0"/>
                  <a:t>              number: 80</a:t>
                </a:r>
              </a:p>
            </p:txBody>
          </p:sp>
          <p:sp>
            <p:nvSpPr>
              <p:cNvPr id="9" name="TextBox 8">
                <a:extLst>
                  <a:ext uri="{FF2B5EF4-FFF2-40B4-BE49-F238E27FC236}">
                    <a16:creationId xmlns:a16="http://schemas.microsoft.com/office/drawing/2014/main" id="{F7F3EB1E-6354-0220-D193-B0EE4595FE09}"/>
                  </a:ext>
                </a:extLst>
              </p:cNvPr>
              <p:cNvSpPr txBox="1"/>
              <p:nvPr/>
            </p:nvSpPr>
            <p:spPr>
              <a:xfrm>
                <a:off x="9170740" y="3996962"/>
                <a:ext cx="2206053" cy="246221"/>
              </a:xfrm>
              <a:prstGeom prst="rect">
                <a:avLst/>
              </a:prstGeom>
              <a:noFill/>
            </p:spPr>
            <p:txBody>
              <a:bodyPr wrap="none" rtlCol="0">
                <a:spAutoFit/>
              </a:bodyPr>
              <a:lstStyle/>
              <a:p>
                <a:pPr algn="l"/>
                <a:r>
                  <a:rPr lang="en-US" altLang="ko-KR" sz="1000" b="1" dirty="0" err="1"/>
                  <a:t>kubia</a:t>
                </a:r>
                <a:r>
                  <a:rPr lang="en-US" altLang="ko-KR" sz="1000" b="1" dirty="0"/>
                  <a:t>-ingress-multiple-</a:t>
                </a:r>
                <a:r>
                  <a:rPr lang="en-US" altLang="ko-KR" sz="1000" b="1" dirty="0" err="1"/>
                  <a:t>host.yaml</a:t>
                </a:r>
                <a:endParaRPr lang="ko-KR" altLang="en-US" sz="1000" b="1" dirty="0"/>
              </a:p>
            </p:txBody>
          </p:sp>
        </p:grpSp>
        <p:sp>
          <p:nvSpPr>
            <p:cNvPr id="12" name="TextBox 11">
              <a:extLst>
                <a:ext uri="{FF2B5EF4-FFF2-40B4-BE49-F238E27FC236}">
                  <a16:creationId xmlns:a16="http://schemas.microsoft.com/office/drawing/2014/main" id="{0A18F763-55E3-3EF9-88B5-F37A99937808}"/>
                </a:ext>
              </a:extLst>
            </p:cNvPr>
            <p:cNvSpPr txBox="1"/>
            <p:nvPr/>
          </p:nvSpPr>
          <p:spPr>
            <a:xfrm>
              <a:off x="5044966" y="2150303"/>
              <a:ext cx="4164725" cy="2554545"/>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 host: bar.example.com</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http:</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paths: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path: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pathType</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Prefix</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backend: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service: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bar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port: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number: 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p:txBody>
        </p:sp>
      </p:grpSp>
    </p:spTree>
    <p:extLst>
      <p:ext uri="{BB962C8B-B14F-4D97-AF65-F5344CB8AC3E}">
        <p14:creationId xmlns:p14="http://schemas.microsoft.com/office/powerpoint/2010/main" val="720417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Adding Ingress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Multiple Host :</a:t>
            </a:r>
          </a:p>
          <a:p>
            <a:pPr lvl="1">
              <a:buFont typeface="Wingdings" panose="05000000000000000000" pitchFamily="2" charset="2"/>
              <a:buChar char="§"/>
            </a:pPr>
            <a:r>
              <a:rPr lang="en-US" altLang="ko-KR" sz="1400" dirty="0"/>
              <a:t>To create the Ingress resource for the previous example, you can run “</a:t>
            </a:r>
            <a:r>
              <a:rPr lang="en-US" altLang="ko-KR" sz="1400" b="1" dirty="0"/>
              <a:t>$ </a:t>
            </a:r>
            <a:r>
              <a:rPr lang="en-US" altLang="ko-KR" sz="1400" b="1" dirty="0" err="1"/>
              <a:t>kubectl</a:t>
            </a:r>
            <a:r>
              <a:rPr lang="en-US" altLang="ko-KR" sz="1400" b="1" dirty="0"/>
              <a:t> create -f </a:t>
            </a:r>
            <a:r>
              <a:rPr lang="en-US" altLang="ko-KR" sz="1400" b="1" dirty="0" err="1"/>
              <a:t>kubia</a:t>
            </a:r>
            <a:r>
              <a:rPr lang="en-US" altLang="ko-KR" sz="1400" b="1" dirty="0"/>
              <a:t>-ingress-multiple-</a:t>
            </a:r>
            <a:r>
              <a:rPr lang="en-US" altLang="ko-KR" sz="1400" b="1" dirty="0" err="1"/>
              <a:t>host.yaml</a:t>
            </a:r>
            <a:r>
              <a:rPr lang="en-US" altLang="ko-KR" sz="1400" dirty="0"/>
              <a:t>” command. Before you run the command, you can also delete the previous ingress resource with “</a:t>
            </a:r>
            <a:r>
              <a:rPr lang="en-US" altLang="ko-KR" sz="1400" b="1" dirty="0"/>
              <a:t>$ </a:t>
            </a:r>
            <a:r>
              <a:rPr lang="en-US" altLang="ko-KR" sz="1400" b="1" dirty="0" err="1"/>
              <a:t>kubectl</a:t>
            </a:r>
            <a:r>
              <a:rPr lang="en-US" altLang="ko-KR" sz="1400" b="1" dirty="0"/>
              <a:t> delete -f </a:t>
            </a:r>
            <a:r>
              <a:rPr lang="en-US" altLang="ko-KR" sz="1400" b="1" dirty="0" err="1"/>
              <a:t>kubia</a:t>
            </a:r>
            <a:r>
              <a:rPr lang="en-US" altLang="ko-KR" sz="1400" b="1" dirty="0"/>
              <a:t>-ingress-multiple-</a:t>
            </a:r>
            <a:r>
              <a:rPr lang="en-US" altLang="ko-KR" sz="1400" b="1" dirty="0" err="1"/>
              <a:t>path.yaml</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7CF2C205-D613-AA1B-2BF8-D0DA22662C22}"/>
              </a:ext>
            </a:extLst>
          </p:cNvPr>
          <p:cNvGrpSpPr/>
          <p:nvPr/>
        </p:nvGrpSpPr>
        <p:grpSpPr>
          <a:xfrm>
            <a:off x="1144314" y="2148424"/>
            <a:ext cx="9903372" cy="1741343"/>
            <a:chOff x="1144314" y="2148424"/>
            <a:chExt cx="9903372" cy="1741343"/>
          </a:xfrm>
        </p:grpSpPr>
        <p:pic>
          <p:nvPicPr>
            <p:cNvPr id="13" name="그림 12">
              <a:extLst>
                <a:ext uri="{FF2B5EF4-FFF2-40B4-BE49-F238E27FC236}">
                  <a16:creationId xmlns:a16="http://schemas.microsoft.com/office/drawing/2014/main" id="{B72E5C9C-13B9-DFF1-3251-0E7B4C4CEE9C}"/>
                </a:ext>
              </a:extLst>
            </p:cNvPr>
            <p:cNvPicPr>
              <a:picLocks noChangeAspect="1"/>
            </p:cNvPicPr>
            <p:nvPr/>
          </p:nvPicPr>
          <p:blipFill>
            <a:blip r:embed="rId2"/>
            <a:stretch>
              <a:fillRect/>
            </a:stretch>
          </p:blipFill>
          <p:spPr>
            <a:xfrm>
              <a:off x="1144314" y="2148424"/>
              <a:ext cx="9903372" cy="1741343"/>
            </a:xfrm>
            <a:prstGeom prst="rect">
              <a:avLst/>
            </a:prstGeom>
          </p:spPr>
        </p:pic>
        <p:sp>
          <p:nvSpPr>
            <p:cNvPr id="14" name="직사각형 13">
              <a:extLst>
                <a:ext uri="{FF2B5EF4-FFF2-40B4-BE49-F238E27FC236}">
                  <a16:creationId xmlns:a16="http://schemas.microsoft.com/office/drawing/2014/main" id="{48FAF694-2030-40FC-8CA7-275979A6057E}"/>
                </a:ext>
              </a:extLst>
            </p:cNvPr>
            <p:cNvSpPr/>
            <p:nvPr/>
          </p:nvSpPr>
          <p:spPr>
            <a:xfrm>
              <a:off x="5336628" y="2593428"/>
              <a:ext cx="3405352"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5FD3EC54-C481-BAA9-769C-5E4B3FFF3310}"/>
                </a:ext>
              </a:extLst>
            </p:cNvPr>
            <p:cNvSpPr/>
            <p:nvPr/>
          </p:nvSpPr>
          <p:spPr>
            <a:xfrm>
              <a:off x="5336628" y="2875280"/>
              <a:ext cx="3405352"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C520EB7F-1BDC-FA3D-DD4F-40EE960DFF40}"/>
                </a:ext>
              </a:extLst>
            </p:cNvPr>
            <p:cNvSpPr/>
            <p:nvPr/>
          </p:nvSpPr>
          <p:spPr>
            <a:xfrm>
              <a:off x="1160080" y="3466844"/>
              <a:ext cx="4951686" cy="135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951155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Resource(12/16)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Ingress to Handle TLS Traffic :</a:t>
            </a:r>
          </a:p>
          <a:p>
            <a:pPr lvl="1">
              <a:buFont typeface="Wingdings" panose="05000000000000000000" pitchFamily="2" charset="2"/>
              <a:buChar char="§"/>
            </a:pPr>
            <a:r>
              <a:rPr lang="en-US" altLang="ko-KR" sz="1400" b="1" dirty="0"/>
              <a:t>You’ve seen how an Ingress forwards HTTP traffic. Let’s take a quick look at how to configure Ingress to support </a:t>
            </a:r>
            <a:r>
              <a:rPr lang="en-US" altLang="ko-KR" sz="1400" b="1" dirty="0">
                <a:solidFill>
                  <a:srgbClr val="FF0000"/>
                </a:solidFill>
              </a:rPr>
              <a:t>TLS(Transport Layer Security)</a:t>
            </a:r>
            <a:r>
              <a:rPr lang="en-US" altLang="ko-KR" sz="1400" dirty="0"/>
              <a:t>.</a:t>
            </a:r>
          </a:p>
          <a:p>
            <a:pPr lvl="1">
              <a:buFont typeface="Wingdings" panose="05000000000000000000" pitchFamily="2" charset="2"/>
              <a:buChar char="§"/>
            </a:pPr>
            <a:r>
              <a:rPr lang="en-US" altLang="ko-KR" sz="1400" b="1" dirty="0"/>
              <a:t>When a client opens </a:t>
            </a:r>
            <a:r>
              <a:rPr lang="en-US" altLang="ko-KR" sz="1400" b="1" dirty="0">
                <a:solidFill>
                  <a:srgbClr val="FF0000"/>
                </a:solidFill>
              </a:rPr>
              <a:t>a TLS connection to an Ingress controller</a:t>
            </a:r>
            <a:r>
              <a:rPr lang="en-US" altLang="ko-KR" sz="1400" b="1" dirty="0"/>
              <a:t>, the controller terminates the TLS connection</a:t>
            </a:r>
            <a:r>
              <a:rPr lang="en-US" altLang="ko-KR" sz="1400" dirty="0"/>
              <a:t>. </a:t>
            </a:r>
            <a:r>
              <a:rPr lang="en-US" altLang="ko-KR" sz="1400" b="1" dirty="0"/>
              <a:t>The communication between the client and the controller is encrypted, whereas the communication between the controller and the backend pod isn’t</a:t>
            </a:r>
            <a:r>
              <a:rPr lang="en-US" altLang="ko-KR" sz="1400" dirty="0"/>
              <a:t>. </a:t>
            </a:r>
          </a:p>
          <a:p>
            <a:pPr lvl="1">
              <a:buFont typeface="Wingdings" panose="05000000000000000000" pitchFamily="2" charset="2"/>
              <a:buChar char="§"/>
            </a:pPr>
            <a:r>
              <a:rPr lang="en-US" altLang="ko-KR" sz="1400" b="1" dirty="0"/>
              <a:t>The application running in the pod doesn’t need to support TLS</a:t>
            </a:r>
            <a:r>
              <a:rPr lang="en-US" altLang="ko-KR" sz="1400" dirty="0"/>
              <a:t>. For example, if the pod runs a web server, it can accept only HTTP traffic and </a:t>
            </a:r>
            <a:r>
              <a:rPr lang="en-US" altLang="ko-KR" sz="1400" b="1" dirty="0"/>
              <a:t>let the Ingress controller take care of everything related to TLS</a:t>
            </a:r>
            <a:r>
              <a:rPr lang="en-US" altLang="ko-KR" sz="1400" dirty="0"/>
              <a:t>. To enable the controller to do that, </a:t>
            </a:r>
            <a:r>
              <a:rPr lang="en-US" altLang="ko-KR" sz="1400" b="1" dirty="0"/>
              <a:t>you need to attach a </a:t>
            </a:r>
            <a:r>
              <a:rPr lang="en-US" altLang="ko-KR" sz="1400" b="1" dirty="0">
                <a:solidFill>
                  <a:srgbClr val="FF0000"/>
                </a:solidFill>
              </a:rPr>
              <a:t>certificate</a:t>
            </a:r>
            <a:r>
              <a:rPr lang="en-US" altLang="ko-KR" sz="1400" b="1" dirty="0"/>
              <a:t> and a </a:t>
            </a:r>
            <a:r>
              <a:rPr lang="en-US" altLang="ko-KR" sz="1400" b="1" dirty="0">
                <a:solidFill>
                  <a:srgbClr val="FF0000"/>
                </a:solidFill>
              </a:rPr>
              <a:t>private key </a:t>
            </a:r>
            <a:r>
              <a:rPr lang="en-US" altLang="ko-KR" sz="1400" b="1" dirty="0"/>
              <a:t>to the Ingress</a:t>
            </a:r>
            <a:r>
              <a:rPr lang="en-US" altLang="ko-KR" sz="1400" dirty="0"/>
              <a:t>. </a:t>
            </a:r>
            <a:r>
              <a:rPr lang="en-US" altLang="ko-KR" sz="1400" b="1" dirty="0"/>
              <a:t>The two need to be stored in a Kubernetes resource called a </a:t>
            </a:r>
            <a:r>
              <a:rPr lang="en-US" altLang="ko-KR" sz="1400" b="1" dirty="0">
                <a:solidFill>
                  <a:srgbClr val="FF0000"/>
                </a:solidFill>
              </a:rPr>
              <a:t>Secret</a:t>
            </a:r>
            <a:r>
              <a:rPr lang="en-US" altLang="ko-KR" sz="1400" dirty="0"/>
              <a:t>, </a:t>
            </a:r>
            <a:r>
              <a:rPr lang="en-US" altLang="ko-KR" sz="1400" b="1" dirty="0"/>
              <a:t>which is then referenced in the Ingress manifest</a:t>
            </a:r>
            <a:r>
              <a:rPr lang="en-US" altLang="ko-KR" sz="1400" dirty="0"/>
              <a:t>. </a:t>
            </a:r>
          </a:p>
          <a:p>
            <a:pPr lvl="1">
              <a:buFont typeface="Wingdings" panose="05000000000000000000" pitchFamily="2" charset="2"/>
              <a:buChar char="§"/>
            </a:pPr>
            <a:r>
              <a:rPr lang="en-US" altLang="ko-KR" sz="1400" dirty="0"/>
              <a:t>For now, you’ll </a:t>
            </a:r>
            <a:r>
              <a:rPr lang="en-US" altLang="ko-KR" sz="1400" b="1" dirty="0"/>
              <a:t>create the Secret </a:t>
            </a:r>
            <a:r>
              <a:rPr lang="en-US" altLang="ko-KR" sz="1400" dirty="0"/>
              <a:t>without paying too much attention to it. First, you need to </a:t>
            </a:r>
            <a:r>
              <a:rPr lang="en-US" altLang="ko-KR" sz="1400" b="1" dirty="0"/>
              <a:t>create the private key and certificate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29C8DF8D-25F8-19C2-07D4-853CB8AC8B97}"/>
              </a:ext>
            </a:extLst>
          </p:cNvPr>
          <p:cNvGrpSpPr/>
          <p:nvPr/>
        </p:nvGrpSpPr>
        <p:grpSpPr>
          <a:xfrm>
            <a:off x="1454210" y="3612546"/>
            <a:ext cx="9283580" cy="2796484"/>
            <a:chOff x="1454210" y="3612546"/>
            <a:chExt cx="9283580" cy="2796484"/>
          </a:xfrm>
        </p:grpSpPr>
        <p:grpSp>
          <p:nvGrpSpPr>
            <p:cNvPr id="12" name="그룹 11">
              <a:extLst>
                <a:ext uri="{FF2B5EF4-FFF2-40B4-BE49-F238E27FC236}">
                  <a16:creationId xmlns:a16="http://schemas.microsoft.com/office/drawing/2014/main" id="{EFFD1549-1CE7-6E37-D047-A7C7586219E0}"/>
                </a:ext>
              </a:extLst>
            </p:cNvPr>
            <p:cNvGrpSpPr/>
            <p:nvPr/>
          </p:nvGrpSpPr>
          <p:grpSpPr>
            <a:xfrm>
              <a:off x="1454210" y="3612546"/>
              <a:ext cx="9283580" cy="2796484"/>
              <a:chOff x="1454210" y="3612546"/>
              <a:chExt cx="9283580" cy="2796484"/>
            </a:xfrm>
          </p:grpSpPr>
          <p:sp>
            <p:nvSpPr>
              <p:cNvPr id="8" name="TextBox 7">
                <a:extLst>
                  <a:ext uri="{FF2B5EF4-FFF2-40B4-BE49-F238E27FC236}">
                    <a16:creationId xmlns:a16="http://schemas.microsoft.com/office/drawing/2014/main" id="{C6B35A94-9618-6583-368E-AA2A32817D24}"/>
                  </a:ext>
                </a:extLst>
              </p:cNvPr>
              <p:cNvSpPr txBox="1"/>
              <p:nvPr/>
            </p:nvSpPr>
            <p:spPr>
              <a:xfrm>
                <a:off x="2634812" y="3612546"/>
                <a:ext cx="6922376"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openssl</a:t>
                </a:r>
                <a:r>
                  <a:rPr lang="en-US" altLang="ko-KR" sz="1000" b="1" dirty="0"/>
                  <a:t> </a:t>
                </a:r>
                <a:r>
                  <a:rPr lang="en-US" altLang="ko-KR" sz="1000" b="1" dirty="0" err="1"/>
                  <a:t>genrsa</a:t>
                </a:r>
                <a:r>
                  <a:rPr lang="en-US" altLang="ko-KR" sz="1000" b="1" dirty="0"/>
                  <a:t> -out </a:t>
                </a:r>
                <a:r>
                  <a:rPr lang="en-US" altLang="ko-KR" sz="1000" b="1" dirty="0" err="1">
                    <a:solidFill>
                      <a:srgbClr val="FF0000"/>
                    </a:solidFill>
                  </a:rPr>
                  <a:t>tls.key</a:t>
                </a:r>
                <a:r>
                  <a:rPr lang="en-US" altLang="ko-KR" sz="1000" b="1" dirty="0">
                    <a:solidFill>
                      <a:srgbClr val="FF0000"/>
                    </a:solidFill>
                  </a:rPr>
                  <a:t> </a:t>
                </a:r>
                <a:r>
                  <a:rPr lang="en-US" altLang="ko-KR" sz="1000" b="1" dirty="0"/>
                  <a:t>2048 </a:t>
                </a:r>
              </a:p>
              <a:p>
                <a:r>
                  <a:rPr lang="en-US" altLang="ko-KR" sz="1000" b="1" dirty="0"/>
                  <a:t>$ </a:t>
                </a:r>
                <a:r>
                  <a:rPr lang="en-US" altLang="ko-KR" sz="1000" b="1" dirty="0" err="1"/>
                  <a:t>openssl</a:t>
                </a:r>
                <a:r>
                  <a:rPr lang="en-US" altLang="ko-KR" sz="1000" b="1" dirty="0"/>
                  <a:t> req -new -x509 -key </a:t>
                </a:r>
                <a:r>
                  <a:rPr lang="en-US" altLang="ko-KR" sz="1000" b="1" dirty="0" err="1">
                    <a:solidFill>
                      <a:srgbClr val="FF0000"/>
                    </a:solidFill>
                  </a:rPr>
                  <a:t>tls.key</a:t>
                </a:r>
                <a:r>
                  <a:rPr lang="en-US" altLang="ko-KR" sz="1000" b="1" dirty="0">
                    <a:solidFill>
                      <a:srgbClr val="FF0000"/>
                    </a:solidFill>
                  </a:rPr>
                  <a:t> </a:t>
                </a:r>
                <a:r>
                  <a:rPr lang="en-US" altLang="ko-KR" sz="1000" b="1" dirty="0"/>
                  <a:t>-out </a:t>
                </a:r>
                <a:r>
                  <a:rPr lang="en-US" altLang="ko-KR" sz="1000" b="1" dirty="0" err="1">
                    <a:solidFill>
                      <a:srgbClr val="FF0000"/>
                    </a:solidFill>
                  </a:rPr>
                  <a:t>tls.cert</a:t>
                </a:r>
                <a:r>
                  <a:rPr lang="en-US" altLang="ko-KR" sz="1000" b="1" dirty="0">
                    <a:solidFill>
                      <a:srgbClr val="FF0000"/>
                    </a:solidFill>
                  </a:rPr>
                  <a:t> </a:t>
                </a:r>
                <a:r>
                  <a:rPr lang="en-US" altLang="ko-KR" sz="1000" b="1" dirty="0"/>
                  <a:t>-days 360 –subj /CN=</a:t>
                </a:r>
                <a:r>
                  <a:rPr lang="en-US" altLang="ko-KR" sz="1000" b="1" dirty="0">
                    <a:solidFill>
                      <a:srgbClr val="FF0000"/>
                    </a:solidFill>
                  </a:rPr>
                  <a:t>kubia.example.com</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A0B1F7D1-C85D-9304-9104-2B2E0CA681AE}"/>
                  </a:ext>
                </a:extLst>
              </p:cNvPr>
              <p:cNvPicPr>
                <a:picLocks noChangeAspect="1"/>
              </p:cNvPicPr>
              <p:nvPr/>
            </p:nvPicPr>
            <p:blipFill>
              <a:blip r:embed="rId2"/>
              <a:stretch>
                <a:fillRect/>
              </a:stretch>
            </p:blipFill>
            <p:spPr>
              <a:xfrm>
                <a:off x="1454210" y="4301487"/>
                <a:ext cx="9283580" cy="2107543"/>
              </a:xfrm>
              <a:prstGeom prst="rect">
                <a:avLst/>
              </a:prstGeom>
            </p:spPr>
          </p:pic>
          <p:sp>
            <p:nvSpPr>
              <p:cNvPr id="11" name="화살표: 아래쪽 10">
                <a:extLst>
                  <a:ext uri="{FF2B5EF4-FFF2-40B4-BE49-F238E27FC236}">
                    <a16:creationId xmlns:a16="http://schemas.microsoft.com/office/drawing/2014/main" id="{749EEE72-5EFE-E461-C4C6-6E99E42FB0F4}"/>
                  </a:ext>
                </a:extLst>
              </p:cNvPr>
              <p:cNvSpPr/>
              <p:nvPr/>
            </p:nvSpPr>
            <p:spPr>
              <a:xfrm>
                <a:off x="5887107" y="4035726"/>
                <a:ext cx="417786"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FFD85638-6A83-4BE5-4BB7-9FE183BB9AEE}"/>
                </a:ext>
              </a:extLst>
            </p:cNvPr>
            <p:cNvSpPr/>
            <p:nvPr/>
          </p:nvSpPr>
          <p:spPr>
            <a:xfrm>
              <a:off x="1537138" y="5864772"/>
              <a:ext cx="3334407" cy="2655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750146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Resource(13/16)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Ingress to Handle TLS Traffic :</a:t>
            </a:r>
          </a:p>
          <a:p>
            <a:pPr lvl="1">
              <a:buFont typeface="Wingdings" panose="05000000000000000000" pitchFamily="2" charset="2"/>
              <a:buChar char="§"/>
            </a:pPr>
            <a:r>
              <a:rPr lang="en-US" altLang="ko-KR" sz="1400" dirty="0"/>
              <a:t>Then </a:t>
            </a:r>
            <a:r>
              <a:rPr lang="en-US" altLang="ko-KR" sz="1400" b="1" dirty="0"/>
              <a:t>you create the Secret from the two files(“</a:t>
            </a:r>
            <a:r>
              <a:rPr lang="en-US" altLang="ko-KR" sz="1400" b="1" dirty="0" err="1"/>
              <a:t>tls.cert</a:t>
            </a:r>
            <a:r>
              <a:rPr lang="en-US" altLang="ko-KR" sz="1400" b="1" dirty="0"/>
              <a:t>” and “</a:t>
            </a:r>
            <a:r>
              <a:rPr lang="en-US" altLang="ko-KR" sz="1400" b="1" dirty="0" err="1"/>
              <a:t>tls.key</a:t>
            </a:r>
            <a:r>
              <a:rPr lang="en-US" altLang="ko-KR" sz="1400" b="1" dirty="0"/>
              <a:t>”)</a:t>
            </a:r>
            <a:r>
              <a:rPr lang="en-US" altLang="ko-KR" sz="1400" dirty="0"/>
              <a:t> like this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private key and the certificate are now stored in the </a:t>
            </a:r>
            <a:r>
              <a:rPr lang="en-US" altLang="ko-KR" sz="1400" b="1" dirty="0">
                <a:solidFill>
                  <a:srgbClr val="FF0000"/>
                </a:solidFill>
              </a:rPr>
              <a:t>Secret</a:t>
            </a:r>
            <a:r>
              <a:rPr lang="en-US" altLang="ko-KR" sz="1400" b="1" dirty="0"/>
              <a:t> called “</a:t>
            </a:r>
            <a:r>
              <a:rPr lang="en-US" altLang="ko-KR" sz="1400" b="1" dirty="0" err="1"/>
              <a:t>tls</a:t>
            </a:r>
            <a:r>
              <a:rPr lang="en-US" altLang="ko-KR" sz="1400" b="1" dirty="0"/>
              <a:t>-secret”</a:t>
            </a:r>
            <a:r>
              <a:rPr lang="en-US" altLang="ko-KR" sz="1400" dirty="0"/>
              <a:t>. </a:t>
            </a:r>
            <a:r>
              <a:rPr lang="en-US" altLang="ko-KR" sz="1400" b="1" dirty="0"/>
              <a:t>Now, you can </a:t>
            </a:r>
            <a:r>
              <a:rPr lang="en-US" altLang="ko-KR" sz="1400" b="1" dirty="0">
                <a:solidFill>
                  <a:srgbClr val="FF0000"/>
                </a:solidFill>
              </a:rPr>
              <a:t>update</a:t>
            </a:r>
            <a:r>
              <a:rPr lang="en-US" altLang="ko-KR" sz="1400" b="1" dirty="0"/>
              <a:t> your Ingress object so it will also accept HTTPS requests for “kubia.example.com”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58B51C40-145B-AF5C-5879-C6E7DA317832}"/>
              </a:ext>
            </a:extLst>
          </p:cNvPr>
          <p:cNvGrpSpPr/>
          <p:nvPr/>
        </p:nvGrpSpPr>
        <p:grpSpPr>
          <a:xfrm>
            <a:off x="1219200" y="1639642"/>
            <a:ext cx="9753600" cy="2162090"/>
            <a:chOff x="1219200" y="1639642"/>
            <a:chExt cx="9753600" cy="2162090"/>
          </a:xfrm>
        </p:grpSpPr>
        <p:grpSp>
          <p:nvGrpSpPr>
            <p:cNvPr id="15" name="그룹 14">
              <a:extLst>
                <a:ext uri="{FF2B5EF4-FFF2-40B4-BE49-F238E27FC236}">
                  <a16:creationId xmlns:a16="http://schemas.microsoft.com/office/drawing/2014/main" id="{33901956-8DDD-3342-E3A0-67AB5744A227}"/>
                </a:ext>
              </a:extLst>
            </p:cNvPr>
            <p:cNvGrpSpPr/>
            <p:nvPr/>
          </p:nvGrpSpPr>
          <p:grpSpPr>
            <a:xfrm>
              <a:off x="1219200" y="1639642"/>
              <a:ext cx="9753600" cy="2162090"/>
              <a:chOff x="1219200" y="1545049"/>
              <a:chExt cx="9753600" cy="2162090"/>
            </a:xfrm>
          </p:grpSpPr>
          <p:grpSp>
            <p:nvGrpSpPr>
              <p:cNvPr id="12" name="그룹 11">
                <a:extLst>
                  <a:ext uri="{FF2B5EF4-FFF2-40B4-BE49-F238E27FC236}">
                    <a16:creationId xmlns:a16="http://schemas.microsoft.com/office/drawing/2014/main" id="{EF32AAF1-1352-AC3A-B670-E3862073ED7B}"/>
                  </a:ext>
                </a:extLst>
              </p:cNvPr>
              <p:cNvGrpSpPr/>
              <p:nvPr/>
            </p:nvGrpSpPr>
            <p:grpSpPr>
              <a:xfrm>
                <a:off x="1219200" y="1545049"/>
                <a:ext cx="9753600" cy="2162090"/>
                <a:chOff x="1219200" y="1545049"/>
                <a:chExt cx="9753600" cy="2162090"/>
              </a:xfrm>
            </p:grpSpPr>
            <p:sp>
              <p:nvSpPr>
                <p:cNvPr id="8" name="TextBox 7">
                  <a:extLst>
                    <a:ext uri="{FF2B5EF4-FFF2-40B4-BE49-F238E27FC236}">
                      <a16:creationId xmlns:a16="http://schemas.microsoft.com/office/drawing/2014/main" id="{000823B7-6A83-395C-542C-FA4647EC328F}"/>
                    </a:ext>
                  </a:extLst>
                </p:cNvPr>
                <p:cNvSpPr txBox="1"/>
                <p:nvPr/>
              </p:nvSpPr>
              <p:spPr>
                <a:xfrm>
                  <a:off x="3047343" y="1545049"/>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a:solidFill>
                        <a:srgbClr val="FF0000"/>
                      </a:solidFill>
                    </a:rPr>
                    <a:t>secret </a:t>
                  </a:r>
                  <a:r>
                    <a:rPr lang="en-US" altLang="ko-KR" sz="1000" b="1" dirty="0" err="1">
                      <a:solidFill>
                        <a:srgbClr val="FF0000"/>
                      </a:solidFill>
                    </a:rPr>
                    <a:t>tls</a:t>
                  </a:r>
                  <a:r>
                    <a:rPr lang="en-US" altLang="ko-KR" sz="1000" b="1" dirty="0">
                      <a:solidFill>
                        <a:srgbClr val="FF0000"/>
                      </a:solidFill>
                    </a:rPr>
                    <a:t> </a:t>
                  </a:r>
                  <a:r>
                    <a:rPr lang="en-US" altLang="ko-KR" sz="1000" b="1" dirty="0" err="1">
                      <a:solidFill>
                        <a:srgbClr val="FF0000"/>
                      </a:solidFill>
                    </a:rPr>
                    <a:t>tls</a:t>
                  </a:r>
                  <a:r>
                    <a:rPr lang="en-US" altLang="ko-KR" sz="1000" b="1" dirty="0">
                      <a:solidFill>
                        <a:srgbClr val="FF0000"/>
                      </a:solidFill>
                    </a:rPr>
                    <a:t>-secret --cert=</a:t>
                  </a:r>
                  <a:r>
                    <a:rPr lang="en-US" altLang="ko-KR" sz="1000" b="1" dirty="0" err="1">
                      <a:solidFill>
                        <a:srgbClr val="FF0000"/>
                      </a:solidFill>
                    </a:rPr>
                    <a:t>tls.cert</a:t>
                  </a:r>
                  <a:r>
                    <a:rPr lang="en-US" altLang="ko-KR" sz="1000" b="1" dirty="0">
                      <a:solidFill>
                        <a:srgbClr val="FF0000"/>
                      </a:solidFill>
                    </a:rPr>
                    <a:t> --key=</a:t>
                  </a:r>
                  <a:r>
                    <a:rPr lang="en-US" altLang="ko-KR" sz="1000" b="1" dirty="0" err="1">
                      <a:solidFill>
                        <a:srgbClr val="FF0000"/>
                      </a:solidFill>
                    </a:rPr>
                    <a:t>tls.key</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814891C9-A74C-9418-747B-CE02D1122AB3}"/>
                    </a:ext>
                  </a:extLst>
                </p:cNvPr>
                <p:cNvSpPr/>
                <p:nvPr/>
              </p:nvSpPr>
              <p:spPr>
                <a:xfrm>
                  <a:off x="5887107" y="1813034"/>
                  <a:ext cx="417786" cy="25224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3ECF436-C6A9-B8C2-B7B7-09D9818D549B}"/>
                    </a:ext>
                  </a:extLst>
                </p:cNvPr>
                <p:cNvPicPr>
                  <a:picLocks noChangeAspect="1"/>
                </p:cNvPicPr>
                <p:nvPr/>
              </p:nvPicPr>
              <p:blipFill>
                <a:blip r:embed="rId2"/>
                <a:stretch>
                  <a:fillRect/>
                </a:stretch>
              </p:blipFill>
              <p:spPr>
                <a:xfrm>
                  <a:off x="1219200" y="2065283"/>
                  <a:ext cx="9753600" cy="1641856"/>
                </a:xfrm>
                <a:prstGeom prst="rect">
                  <a:avLst/>
                </a:prstGeom>
              </p:spPr>
            </p:pic>
          </p:grpSp>
          <p:sp>
            <p:nvSpPr>
              <p:cNvPr id="13" name="직사각형 12">
                <a:extLst>
                  <a:ext uri="{FF2B5EF4-FFF2-40B4-BE49-F238E27FC236}">
                    <a16:creationId xmlns:a16="http://schemas.microsoft.com/office/drawing/2014/main" id="{E25A4EBD-DC2A-04B9-5F09-9360258AFD97}"/>
                  </a:ext>
                </a:extLst>
              </p:cNvPr>
              <p:cNvSpPr/>
              <p:nvPr/>
            </p:nvSpPr>
            <p:spPr>
              <a:xfrm>
                <a:off x="5352393" y="2783597"/>
                <a:ext cx="1284890" cy="18220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1BBF39A-8CCD-EFAF-35D4-7C2BABFA4DE6}"/>
                  </a:ext>
                </a:extLst>
              </p:cNvPr>
              <p:cNvSpPr/>
              <p:nvPr/>
            </p:nvSpPr>
            <p:spPr>
              <a:xfrm>
                <a:off x="5352392" y="2511468"/>
                <a:ext cx="4390697" cy="1882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1B2A9AFA-3F3C-567F-F950-30DB550BC67A}"/>
                </a:ext>
              </a:extLst>
            </p:cNvPr>
            <p:cNvSpPr/>
            <p:nvPr/>
          </p:nvSpPr>
          <p:spPr>
            <a:xfrm>
              <a:off x="1277007" y="3298106"/>
              <a:ext cx="4706007" cy="18220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713267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Resource(14/16)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Ingress to Handle TLS Traffic :</a:t>
            </a:r>
          </a:p>
          <a:p>
            <a:pPr lvl="1">
              <a:buFont typeface="Wingdings" panose="05000000000000000000" pitchFamily="2" charset="2"/>
              <a:buChar char="§"/>
            </a:pPr>
            <a:r>
              <a:rPr lang="en-US" altLang="ko-KR" sz="1400" b="1" dirty="0"/>
              <a:t>To use Secret</a:t>
            </a:r>
            <a:r>
              <a:rPr lang="en-US" altLang="ko-KR" sz="1400" dirty="0"/>
              <a:t>, </a:t>
            </a:r>
            <a:r>
              <a:rPr lang="en-US" altLang="ko-KR" sz="1400" b="1" dirty="0"/>
              <a:t>the Ingress manifest </a:t>
            </a:r>
            <a:r>
              <a:rPr lang="en-US" altLang="ko-KR" sz="1400" dirty="0"/>
              <a:t>should now look like the following listing.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TIP : Instead of deleting the Ingress and re-creating it from the new file, you can invoke “</a:t>
            </a:r>
            <a:r>
              <a:rPr lang="en-US" altLang="ko-KR" sz="1400" b="1" dirty="0" err="1">
                <a:solidFill>
                  <a:srgbClr val="FF0000"/>
                </a:solidFill>
              </a:rPr>
              <a:t>kubectl</a:t>
            </a:r>
            <a:r>
              <a:rPr lang="en-US" altLang="ko-KR" sz="1400" b="1" dirty="0">
                <a:solidFill>
                  <a:srgbClr val="FF0000"/>
                </a:solidFill>
              </a:rPr>
              <a:t> apply -f </a:t>
            </a:r>
            <a:r>
              <a:rPr lang="en-US" altLang="ko-KR" sz="1400" b="1" dirty="0" err="1">
                <a:solidFill>
                  <a:srgbClr val="FF0000"/>
                </a:solidFill>
              </a:rPr>
              <a:t>kubia</a:t>
            </a:r>
            <a:r>
              <a:rPr lang="en-US" altLang="ko-KR" sz="1400" b="1" dirty="0">
                <a:solidFill>
                  <a:srgbClr val="FF0000"/>
                </a:solidFill>
              </a:rPr>
              <a:t>-ingress-</a:t>
            </a:r>
            <a:r>
              <a:rPr lang="en-US" altLang="ko-KR" sz="1400" b="1" dirty="0" err="1">
                <a:solidFill>
                  <a:srgbClr val="FF0000"/>
                </a:solidFill>
              </a:rPr>
              <a:t>secret.yaml</a:t>
            </a:r>
            <a:r>
              <a:rPr lang="en-US" altLang="ko-KR" sz="1400" b="1" dirty="0"/>
              <a:t>”, which updates the Ingress resource with what’s specified in the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C3CAC768-08B1-03DB-DFB7-8C396DFAAC13}"/>
              </a:ext>
            </a:extLst>
          </p:cNvPr>
          <p:cNvGrpSpPr/>
          <p:nvPr/>
        </p:nvGrpSpPr>
        <p:grpSpPr>
          <a:xfrm>
            <a:off x="3047343" y="1645487"/>
            <a:ext cx="6097314" cy="3170099"/>
            <a:chOff x="3047343" y="1479949"/>
            <a:chExt cx="6097314" cy="3170099"/>
          </a:xfrm>
        </p:grpSpPr>
        <p:sp>
          <p:nvSpPr>
            <p:cNvPr id="12" name="TextBox 11">
              <a:extLst>
                <a:ext uri="{FF2B5EF4-FFF2-40B4-BE49-F238E27FC236}">
                  <a16:creationId xmlns:a16="http://schemas.microsoft.com/office/drawing/2014/main" id="{9DF43659-2A98-1D2A-86BF-38199E0D992E}"/>
                </a:ext>
              </a:extLst>
            </p:cNvPr>
            <p:cNvSpPr txBox="1"/>
            <p:nvPr/>
          </p:nvSpPr>
          <p:spPr>
            <a:xfrm>
              <a:off x="3047343" y="1479949"/>
              <a:ext cx="6097314" cy="3170099"/>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networking.k8s.io/v1</a:t>
              </a:r>
            </a:p>
            <a:p>
              <a:r>
                <a:rPr lang="en-US" altLang="ko-KR" sz="1000" b="1" dirty="0"/>
                <a:t>kind: Ingress</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solidFill>
                    <a:srgbClr val="FF0000"/>
                  </a:solidFill>
                </a:rPr>
                <a:t>  </a:t>
              </a:r>
              <a:r>
                <a:rPr lang="en-US" altLang="ko-KR" sz="1000" b="1" dirty="0" err="1">
                  <a:solidFill>
                    <a:srgbClr val="FF0000"/>
                  </a:solidFill>
                </a:rPr>
                <a:t>tls</a:t>
              </a:r>
              <a:r>
                <a:rPr lang="en-US" altLang="ko-KR" sz="1000" b="1" dirty="0">
                  <a:solidFill>
                    <a:srgbClr val="FF0000"/>
                  </a:solidFill>
                </a:rPr>
                <a:t>:</a:t>
              </a:r>
            </a:p>
            <a:p>
              <a:r>
                <a:rPr lang="en-US" altLang="ko-KR" sz="1000" b="1" dirty="0">
                  <a:solidFill>
                    <a:srgbClr val="FF0000"/>
                  </a:solidFill>
                </a:rPr>
                <a:t>  - hosts:</a:t>
              </a:r>
            </a:p>
            <a:p>
              <a:r>
                <a:rPr lang="en-US" altLang="ko-KR" sz="1000" b="1" dirty="0">
                  <a:solidFill>
                    <a:srgbClr val="FF0000"/>
                  </a:solidFill>
                </a:rPr>
                <a:t>    - kubia.example.com</a:t>
              </a:r>
            </a:p>
            <a:p>
              <a:r>
                <a:rPr lang="en-US" altLang="ko-KR" sz="1000" b="1" dirty="0">
                  <a:solidFill>
                    <a:srgbClr val="FF0000"/>
                  </a:solidFill>
                </a:rPr>
                <a:t>    </a:t>
              </a:r>
              <a:r>
                <a:rPr lang="en-US" altLang="ko-KR" sz="1000" b="1" dirty="0" err="1">
                  <a:solidFill>
                    <a:srgbClr val="FF0000"/>
                  </a:solidFill>
                </a:rPr>
                <a:t>secretName</a:t>
              </a:r>
              <a:r>
                <a:rPr lang="en-US" altLang="ko-KR" sz="1000" b="1" dirty="0">
                  <a:solidFill>
                    <a:srgbClr val="FF0000"/>
                  </a:solidFill>
                </a:rPr>
                <a:t>: </a:t>
              </a:r>
              <a:r>
                <a:rPr lang="en-US" altLang="ko-KR" sz="1000" b="1" dirty="0" err="1">
                  <a:solidFill>
                    <a:srgbClr val="FF0000"/>
                  </a:solidFill>
                </a:rPr>
                <a:t>tls</a:t>
              </a:r>
              <a:r>
                <a:rPr lang="en-US" altLang="ko-KR" sz="1000" b="1" dirty="0">
                  <a:solidFill>
                    <a:srgbClr val="FF0000"/>
                  </a:solidFill>
                </a:rPr>
                <a:t>-secret</a:t>
              </a:r>
            </a:p>
            <a:p>
              <a:r>
                <a:rPr lang="en-US" altLang="ko-KR" sz="1000" b="1" dirty="0"/>
                <a:t>  rules:</a:t>
              </a:r>
            </a:p>
            <a:p>
              <a:r>
                <a:rPr lang="en-US" altLang="ko-KR" sz="1000" b="1" dirty="0"/>
                <a:t>  - host: kubia.example.com</a:t>
              </a:r>
            </a:p>
            <a:p>
              <a:r>
                <a:rPr lang="en-US" altLang="ko-KR" sz="1000" b="1" dirty="0"/>
                <a:t>    http:</a:t>
              </a:r>
            </a:p>
            <a:p>
              <a:r>
                <a:rPr lang="en-US" altLang="ko-KR" sz="1000" b="1" dirty="0"/>
                <a:t>      paths:</a:t>
              </a:r>
            </a:p>
            <a:p>
              <a:r>
                <a:rPr lang="en-US" altLang="ko-KR" sz="1000" b="1" dirty="0"/>
                <a:t>      - path: /</a:t>
              </a:r>
            </a:p>
            <a:p>
              <a:r>
                <a:rPr lang="en-US" altLang="ko-KR" sz="1000" b="1" dirty="0"/>
                <a:t>        </a:t>
              </a:r>
              <a:r>
                <a:rPr lang="en-US" altLang="ko-KR" sz="1000" b="1" dirty="0" err="1"/>
                <a:t>pathType</a:t>
              </a:r>
              <a:r>
                <a:rPr lang="en-US" altLang="ko-KR" sz="1000" b="1" dirty="0"/>
                <a:t>: Prefix</a:t>
              </a:r>
            </a:p>
            <a:p>
              <a:r>
                <a:rPr lang="en-US" altLang="ko-KR" sz="1000" b="1" dirty="0"/>
                <a:t>        backend:</a:t>
              </a:r>
            </a:p>
            <a:p>
              <a:r>
                <a:rPr lang="en-US" altLang="ko-KR" sz="1000" b="1" dirty="0"/>
                <a:t>          service:</a:t>
              </a:r>
            </a:p>
            <a:p>
              <a:r>
                <a:rPr lang="en-US" altLang="ko-KR" sz="1000" b="1" dirty="0"/>
                <a:t>            name: </a:t>
              </a:r>
              <a:r>
                <a:rPr lang="en-US" altLang="ko-KR" sz="1000" b="1" dirty="0" err="1"/>
                <a:t>kubia-nodeport</a:t>
              </a:r>
              <a:endParaRPr lang="en-US" altLang="ko-KR" sz="1000" b="1" dirty="0"/>
            </a:p>
            <a:p>
              <a:r>
                <a:rPr lang="en-US" altLang="ko-KR" sz="1000" b="1" dirty="0"/>
                <a:t>            port:</a:t>
              </a:r>
            </a:p>
            <a:p>
              <a:r>
                <a:rPr lang="en-US" altLang="ko-KR" sz="1000" b="1" dirty="0"/>
                <a:t>              number: 80</a:t>
              </a:r>
              <a:endParaRPr lang="ko-KR" altLang="en-US" sz="1000" b="1" dirty="0"/>
            </a:p>
          </p:txBody>
        </p:sp>
        <p:sp>
          <p:nvSpPr>
            <p:cNvPr id="13" name="TextBox 12">
              <a:extLst>
                <a:ext uri="{FF2B5EF4-FFF2-40B4-BE49-F238E27FC236}">
                  <a16:creationId xmlns:a16="http://schemas.microsoft.com/office/drawing/2014/main" id="{096A9AC1-8BAC-7A5C-13D2-708ECC9886A8}"/>
                </a:ext>
              </a:extLst>
            </p:cNvPr>
            <p:cNvSpPr txBox="1"/>
            <p:nvPr/>
          </p:nvSpPr>
          <p:spPr>
            <a:xfrm>
              <a:off x="7400269" y="1479949"/>
              <a:ext cx="1744388" cy="246221"/>
            </a:xfrm>
            <a:prstGeom prst="rect">
              <a:avLst/>
            </a:prstGeom>
            <a:noFill/>
          </p:spPr>
          <p:txBody>
            <a:bodyPr wrap="none" rtlCol="0">
              <a:spAutoFit/>
            </a:bodyPr>
            <a:lstStyle/>
            <a:p>
              <a:pPr algn="l"/>
              <a:r>
                <a:rPr lang="en-US" altLang="ko-KR" sz="1000" b="1" dirty="0" err="1"/>
                <a:t>kubia</a:t>
              </a:r>
              <a:r>
                <a:rPr lang="en-US" altLang="ko-KR" sz="1000" b="1" dirty="0"/>
                <a:t>-ingress-</a:t>
              </a:r>
              <a:r>
                <a:rPr lang="en-US" altLang="ko-KR" sz="1000" b="1" dirty="0" err="1"/>
                <a:t>secret.yaml</a:t>
              </a:r>
              <a:endParaRPr lang="ko-KR" altLang="en-US" sz="1000" b="1" dirty="0"/>
            </a:p>
          </p:txBody>
        </p:sp>
      </p:grpSp>
    </p:spTree>
    <p:extLst>
      <p:ext uri="{BB962C8B-B14F-4D97-AF65-F5344CB8AC3E}">
        <p14:creationId xmlns:p14="http://schemas.microsoft.com/office/powerpoint/2010/main" val="21018446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Resource(15/16)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Ingress to Handle TLS Traffic :</a:t>
            </a:r>
          </a:p>
          <a:p>
            <a:pPr lvl="1">
              <a:buFont typeface="Wingdings" panose="05000000000000000000" pitchFamily="2" charset="2"/>
              <a:buChar char="§"/>
            </a:pPr>
            <a:r>
              <a:rPr lang="en-US" altLang="ko-KR" sz="1400" dirty="0"/>
              <a:t>Now, you can create the Ingress resource with “</a:t>
            </a:r>
            <a:r>
              <a:rPr lang="en-US" altLang="ko-KR" sz="1400" b="1" dirty="0"/>
              <a:t>$ </a:t>
            </a:r>
            <a:r>
              <a:rPr lang="en-US" altLang="ko-KR" sz="1400" b="1" dirty="0" err="1"/>
              <a:t>kubectl</a:t>
            </a:r>
            <a:r>
              <a:rPr lang="en-US" altLang="ko-KR" sz="1400" b="1" dirty="0"/>
              <a:t> create -f </a:t>
            </a:r>
            <a:r>
              <a:rPr lang="en-US" altLang="ko-KR" sz="1400" b="1" dirty="0" err="1"/>
              <a:t>kubia</a:t>
            </a:r>
            <a:r>
              <a:rPr lang="en-US" altLang="ko-KR" sz="1400" b="1" dirty="0"/>
              <a:t>-ingress-</a:t>
            </a:r>
            <a:r>
              <a:rPr lang="en-US" altLang="ko-KR" sz="1400" b="1" dirty="0" err="1"/>
              <a:t>sercret.yaml</a:t>
            </a:r>
            <a:r>
              <a:rPr lang="en-US" altLang="ko-KR" sz="1400" dirty="0"/>
              <a:t>” command. Before you run the command, you can check the secret with “</a:t>
            </a:r>
            <a:r>
              <a:rPr lang="en-US" altLang="ko-KR" sz="1400" b="1" dirty="0"/>
              <a:t>$ </a:t>
            </a:r>
            <a:r>
              <a:rPr lang="en-US" altLang="ko-KR" sz="1400" b="1" dirty="0" err="1"/>
              <a:t>kubectl</a:t>
            </a:r>
            <a:r>
              <a:rPr lang="en-US" altLang="ko-KR" sz="1400" b="1" dirty="0"/>
              <a:t> get secret</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E24A28A1-1757-2E1E-D2AB-C82F6365BC43}"/>
              </a:ext>
            </a:extLst>
          </p:cNvPr>
          <p:cNvGrpSpPr/>
          <p:nvPr/>
        </p:nvGrpSpPr>
        <p:grpSpPr>
          <a:xfrm>
            <a:off x="1305910" y="2455015"/>
            <a:ext cx="9580179" cy="1947970"/>
            <a:chOff x="1305910" y="1643748"/>
            <a:chExt cx="9580179" cy="1947970"/>
          </a:xfrm>
        </p:grpSpPr>
        <p:pic>
          <p:nvPicPr>
            <p:cNvPr id="8" name="그림 7">
              <a:extLst>
                <a:ext uri="{FF2B5EF4-FFF2-40B4-BE49-F238E27FC236}">
                  <a16:creationId xmlns:a16="http://schemas.microsoft.com/office/drawing/2014/main" id="{B786CA9B-F144-E899-2EF3-D8D936231865}"/>
                </a:ext>
              </a:extLst>
            </p:cNvPr>
            <p:cNvPicPr>
              <a:picLocks noChangeAspect="1"/>
            </p:cNvPicPr>
            <p:nvPr/>
          </p:nvPicPr>
          <p:blipFill>
            <a:blip r:embed="rId2"/>
            <a:stretch>
              <a:fillRect/>
            </a:stretch>
          </p:blipFill>
          <p:spPr>
            <a:xfrm>
              <a:off x="1305910" y="1643748"/>
              <a:ext cx="9580179" cy="1947970"/>
            </a:xfrm>
            <a:prstGeom prst="rect">
              <a:avLst/>
            </a:prstGeom>
          </p:spPr>
        </p:pic>
        <p:sp>
          <p:nvSpPr>
            <p:cNvPr id="9" name="직사각형 8">
              <a:extLst>
                <a:ext uri="{FF2B5EF4-FFF2-40B4-BE49-F238E27FC236}">
                  <a16:creationId xmlns:a16="http://schemas.microsoft.com/office/drawing/2014/main" id="{2C099264-8749-5616-475F-6CD5AEA3E341}"/>
                </a:ext>
              </a:extLst>
            </p:cNvPr>
            <p:cNvSpPr/>
            <p:nvPr/>
          </p:nvSpPr>
          <p:spPr>
            <a:xfrm>
              <a:off x="5360276" y="2615042"/>
              <a:ext cx="2892972" cy="1991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146669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Services Externally Through an Ingress Resource(16/16)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Ingress to Handle TLS Traffic :</a:t>
            </a:r>
          </a:p>
          <a:p>
            <a:pPr lvl="1">
              <a:buFont typeface="Wingdings" panose="05000000000000000000" pitchFamily="2" charset="2"/>
              <a:buChar char="§"/>
            </a:pPr>
            <a:r>
              <a:rPr lang="en-US" altLang="ko-KR" sz="1400" dirty="0"/>
              <a:t>You can now </a:t>
            </a:r>
            <a:r>
              <a:rPr lang="en-US" altLang="ko-KR" sz="1400" b="1" dirty="0"/>
              <a:t>use HTTPS to access your service</a:t>
            </a:r>
            <a:r>
              <a:rPr lang="en-US" altLang="ko-KR" sz="1400" dirty="0"/>
              <a:t> through the Ingress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command’s output shows the response from the app, as well as the </a:t>
            </a:r>
            <a:r>
              <a:rPr lang="en-US" altLang="ko-KR" sz="1400" b="1" dirty="0">
                <a:solidFill>
                  <a:srgbClr val="FF0000"/>
                </a:solidFill>
              </a:rPr>
              <a:t>server certificate </a:t>
            </a:r>
            <a:r>
              <a:rPr lang="en-US" altLang="ko-KR" sz="1400" b="1" dirty="0"/>
              <a:t>you configured the Ingress with</a:t>
            </a:r>
            <a:r>
              <a:rPr lang="en-US" altLang="ko-KR" sz="1400" dirty="0"/>
              <a:t>. </a:t>
            </a:r>
          </a:p>
          <a:p>
            <a:pPr lvl="1">
              <a:buFont typeface="Wingdings" panose="05000000000000000000" pitchFamily="2" charset="2"/>
              <a:buChar char="§"/>
            </a:pPr>
            <a:r>
              <a:rPr lang="en-US" altLang="ko-KR" sz="1400" b="1" dirty="0"/>
              <a:t>NOTE : Support for Ingress features varies between the different Ingress controller implementations, so check the implementation-specific documentation to see what’s supported</a:t>
            </a:r>
            <a:r>
              <a:rPr lang="en-US" altLang="ko-KR" sz="1400" dirty="0"/>
              <a:t>. Ingresses are a relatively new Kubernetes feature, so you can expect to see many improvements and new features in the future. Although they currently support only </a:t>
            </a:r>
            <a:r>
              <a:rPr lang="en-US" altLang="ko-KR" sz="1400" b="1" dirty="0"/>
              <a:t>L7 (HTTP/HTTPS) load balancing</a:t>
            </a:r>
            <a:r>
              <a:rPr lang="en-US" altLang="ko-KR" sz="1400" dirty="0"/>
              <a:t>, support for </a:t>
            </a:r>
            <a:r>
              <a:rPr lang="en-US" altLang="ko-KR" sz="1400" b="1" dirty="0"/>
              <a:t>L4 load balancing </a:t>
            </a:r>
            <a:r>
              <a:rPr lang="en-US" altLang="ko-KR" sz="1400" dirty="0"/>
              <a:t>is also planned.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78CF5E12-EF7D-4288-1B64-8D8758362928}"/>
              </a:ext>
            </a:extLst>
          </p:cNvPr>
          <p:cNvGrpSpPr/>
          <p:nvPr/>
        </p:nvGrpSpPr>
        <p:grpSpPr>
          <a:xfrm>
            <a:off x="1481958" y="1396164"/>
            <a:ext cx="9228083" cy="3446059"/>
            <a:chOff x="1481958" y="1452795"/>
            <a:chExt cx="9228083" cy="3446059"/>
          </a:xfrm>
        </p:grpSpPr>
        <p:sp>
          <p:nvSpPr>
            <p:cNvPr id="11" name="TextBox 10">
              <a:extLst>
                <a:ext uri="{FF2B5EF4-FFF2-40B4-BE49-F238E27FC236}">
                  <a16:creationId xmlns:a16="http://schemas.microsoft.com/office/drawing/2014/main" id="{03113D08-7830-9E1C-D882-436ABA20471B}"/>
                </a:ext>
              </a:extLst>
            </p:cNvPr>
            <p:cNvSpPr txBox="1"/>
            <p:nvPr/>
          </p:nvSpPr>
          <p:spPr>
            <a:xfrm>
              <a:off x="3047343" y="1452795"/>
              <a:ext cx="6097314" cy="246221"/>
            </a:xfrm>
            <a:prstGeom prst="rect">
              <a:avLst/>
            </a:prstGeom>
            <a:noFill/>
            <a:ln>
              <a:solidFill>
                <a:schemeClr val="bg1">
                  <a:lumMod val="50000"/>
                </a:schemeClr>
              </a:solidFill>
            </a:ln>
          </p:spPr>
          <p:txBody>
            <a:bodyPr wrap="square">
              <a:spAutoFit/>
            </a:bodyPr>
            <a:lstStyle/>
            <a:p>
              <a:r>
                <a:rPr lang="en-US" altLang="ko-KR" sz="1000" b="1" dirty="0"/>
                <a:t>$ curl </a:t>
              </a:r>
              <a:r>
                <a:rPr lang="en-US" altLang="ko-KR" sz="1000" b="1" dirty="0">
                  <a:solidFill>
                    <a:srgbClr val="FF0000"/>
                  </a:solidFill>
                </a:rPr>
                <a:t>-k -v https://kubia.example.com</a:t>
              </a:r>
            </a:p>
          </p:txBody>
        </p:sp>
        <p:sp>
          <p:nvSpPr>
            <p:cNvPr id="12" name="화살표: 아래쪽 11">
              <a:extLst>
                <a:ext uri="{FF2B5EF4-FFF2-40B4-BE49-F238E27FC236}">
                  <a16:creationId xmlns:a16="http://schemas.microsoft.com/office/drawing/2014/main" id="{B88A0D53-2BC3-8253-8153-1A98D2B17F1B}"/>
                </a:ext>
              </a:extLst>
            </p:cNvPr>
            <p:cNvSpPr/>
            <p:nvPr/>
          </p:nvSpPr>
          <p:spPr>
            <a:xfrm>
              <a:off x="5879224" y="1699016"/>
              <a:ext cx="433551" cy="26013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7" name="그룹 16">
              <a:extLst>
                <a:ext uri="{FF2B5EF4-FFF2-40B4-BE49-F238E27FC236}">
                  <a16:creationId xmlns:a16="http://schemas.microsoft.com/office/drawing/2014/main" id="{08F2216B-C908-28B0-1B8E-5E0ED289791F}"/>
                </a:ext>
              </a:extLst>
            </p:cNvPr>
            <p:cNvGrpSpPr/>
            <p:nvPr/>
          </p:nvGrpSpPr>
          <p:grpSpPr>
            <a:xfrm>
              <a:off x="1481958" y="1959147"/>
              <a:ext cx="9228083" cy="2939707"/>
              <a:chOff x="1211316" y="1959147"/>
              <a:chExt cx="9769367" cy="3119093"/>
            </a:xfrm>
          </p:grpSpPr>
          <p:pic>
            <p:nvPicPr>
              <p:cNvPr id="14" name="그림 13">
                <a:extLst>
                  <a:ext uri="{FF2B5EF4-FFF2-40B4-BE49-F238E27FC236}">
                    <a16:creationId xmlns:a16="http://schemas.microsoft.com/office/drawing/2014/main" id="{9D877DC1-EDF0-45A3-78A1-BE717F1367C2}"/>
                  </a:ext>
                </a:extLst>
              </p:cNvPr>
              <p:cNvPicPr>
                <a:picLocks noChangeAspect="1"/>
              </p:cNvPicPr>
              <p:nvPr/>
            </p:nvPicPr>
            <p:blipFill>
              <a:blip r:embed="rId2"/>
              <a:stretch>
                <a:fillRect/>
              </a:stretch>
            </p:blipFill>
            <p:spPr>
              <a:xfrm>
                <a:off x="1211316" y="1959147"/>
                <a:ext cx="9769366" cy="1546816"/>
              </a:xfrm>
              <a:prstGeom prst="rect">
                <a:avLst/>
              </a:prstGeom>
            </p:spPr>
          </p:pic>
          <p:pic>
            <p:nvPicPr>
              <p:cNvPr id="16" name="그림 15">
                <a:extLst>
                  <a:ext uri="{FF2B5EF4-FFF2-40B4-BE49-F238E27FC236}">
                    <a16:creationId xmlns:a16="http://schemas.microsoft.com/office/drawing/2014/main" id="{223DCD57-2E1F-9932-09A0-A2ABC6B192C0}"/>
                  </a:ext>
                </a:extLst>
              </p:cNvPr>
              <p:cNvPicPr>
                <a:picLocks noChangeAspect="1"/>
              </p:cNvPicPr>
              <p:nvPr/>
            </p:nvPicPr>
            <p:blipFill>
              <a:blip r:embed="rId3"/>
              <a:stretch>
                <a:fillRect/>
              </a:stretch>
            </p:blipFill>
            <p:spPr>
              <a:xfrm>
                <a:off x="1211316" y="3531424"/>
                <a:ext cx="9769367" cy="1546816"/>
              </a:xfrm>
              <a:prstGeom prst="rect">
                <a:avLst/>
              </a:prstGeom>
            </p:spPr>
          </p:pic>
        </p:grpSp>
      </p:grpSp>
    </p:spTree>
    <p:extLst>
      <p:ext uri="{BB962C8B-B14F-4D97-AF65-F5344CB8AC3E}">
        <p14:creationId xmlns:p14="http://schemas.microsoft.com/office/powerpoint/2010/main" val="2201233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Readiness Probe :</a:t>
            </a:r>
          </a:p>
          <a:p>
            <a:pPr lvl="1">
              <a:buFont typeface="Wingdings" panose="05000000000000000000" pitchFamily="2" charset="2"/>
              <a:buChar char="§"/>
            </a:pPr>
            <a:r>
              <a:rPr lang="en-US" altLang="ko-KR" sz="1400" b="1" dirty="0"/>
              <a:t>As soon as a new pod with proper labels is created, it becomes part of the service and requests start to be redirected to the pod</a:t>
            </a:r>
            <a:r>
              <a:rPr lang="en-US" altLang="ko-KR" sz="1400" dirty="0"/>
              <a:t>. But what if the pod isn’t ready to start serving requests immediately? </a:t>
            </a:r>
          </a:p>
          <a:p>
            <a:pPr lvl="1">
              <a:buFont typeface="Wingdings" panose="05000000000000000000" pitchFamily="2" charset="2"/>
              <a:buChar char="§"/>
            </a:pPr>
            <a:r>
              <a:rPr lang="en-US" altLang="ko-KR" sz="1400" b="1" dirty="0"/>
              <a:t>The pod may need time to </a:t>
            </a:r>
            <a:r>
              <a:rPr lang="en-US" altLang="ko-KR" sz="1400" b="1" dirty="0">
                <a:solidFill>
                  <a:srgbClr val="FF0000"/>
                </a:solidFill>
              </a:rPr>
              <a:t>load either configuration or data</a:t>
            </a:r>
            <a:r>
              <a:rPr lang="en-US" altLang="ko-KR" sz="1400" b="1" dirty="0"/>
              <a:t>, or it may need to perform a </a:t>
            </a:r>
            <a:r>
              <a:rPr lang="en-US" altLang="ko-KR" sz="1400" b="1" dirty="0">
                <a:solidFill>
                  <a:srgbClr val="FF0000"/>
                </a:solidFill>
              </a:rPr>
              <a:t>warm-up procedure </a:t>
            </a:r>
            <a:r>
              <a:rPr lang="en-US" altLang="ko-KR" sz="1400" b="1" dirty="0"/>
              <a:t>to prevent the first user request from taking too long and affecting the user experience</a:t>
            </a:r>
            <a:r>
              <a:rPr lang="en-US" altLang="ko-KR" sz="1400" dirty="0"/>
              <a:t>. In such cases you don’t want the pod to start receiving requests immediately, especially when the already-running instances can process requests properly and quickly. </a:t>
            </a:r>
            <a:r>
              <a:rPr lang="en-US" altLang="ko-KR" sz="1400" b="1" dirty="0"/>
              <a:t>It makes sense to </a:t>
            </a:r>
            <a:r>
              <a:rPr lang="en-US" altLang="ko-KR" sz="1400" b="1" dirty="0">
                <a:solidFill>
                  <a:srgbClr val="FF0000"/>
                </a:solidFill>
              </a:rPr>
              <a:t>not forward requests to a pod </a:t>
            </a:r>
            <a:r>
              <a:rPr lang="en-US" altLang="ko-KR" sz="1400" b="1" dirty="0"/>
              <a:t>that’s in the process of starting up until it’s fully ready</a:t>
            </a:r>
            <a:r>
              <a:rPr lang="en-US" altLang="ko-KR" sz="1400" dirty="0"/>
              <a:t>.</a:t>
            </a:r>
          </a:p>
          <a:p>
            <a:pPr lvl="1">
              <a:buFont typeface="Wingdings" panose="05000000000000000000" pitchFamily="2" charset="2"/>
              <a:buChar char="§"/>
            </a:pPr>
            <a:r>
              <a:rPr lang="en-US" altLang="ko-KR" sz="1400" dirty="0"/>
              <a:t>You already learned about liveness probes and how they help keep your apps healthy by ensuring unhealthy containers are restarted automatically. Similar to liveness probes, </a:t>
            </a:r>
            <a:r>
              <a:rPr lang="en-US" altLang="ko-KR" sz="1400" b="1" dirty="0"/>
              <a:t>Kubernetes allows you to also define a </a:t>
            </a:r>
            <a:r>
              <a:rPr lang="en-US" altLang="ko-KR" sz="1400" b="1" dirty="0">
                <a:solidFill>
                  <a:srgbClr val="FF0000"/>
                </a:solidFill>
              </a:rPr>
              <a:t>readiness probe </a:t>
            </a:r>
            <a:r>
              <a:rPr lang="en-US" altLang="ko-KR" sz="1400" b="1" dirty="0"/>
              <a:t>for your pod</a:t>
            </a:r>
            <a:r>
              <a:rPr lang="en-US" altLang="ko-KR" sz="1400" dirty="0"/>
              <a:t>.</a:t>
            </a:r>
          </a:p>
          <a:p>
            <a:pPr lvl="1">
              <a:buFont typeface="Wingdings" panose="05000000000000000000" pitchFamily="2" charset="2"/>
              <a:buChar char="§"/>
            </a:pPr>
            <a:r>
              <a:rPr lang="en-US" altLang="ko-KR" sz="1400" b="1" dirty="0"/>
              <a:t>The readiness probe is invoked periodically and determines whether the specific pod should receive client requests or not</a:t>
            </a:r>
            <a:r>
              <a:rPr lang="en-US" altLang="ko-KR" sz="1400" dirty="0"/>
              <a:t>. When a container’s readiness probe returns success, it’s signaling that the container is </a:t>
            </a:r>
            <a:r>
              <a:rPr lang="en-US" altLang="ko-KR" sz="1400" b="1" dirty="0"/>
              <a:t>ready to accept requests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F62BF7F-CDC7-CB8F-9A0A-AF12A30B4F65}"/>
              </a:ext>
            </a:extLst>
          </p:cNvPr>
          <p:cNvSpPr txBox="1"/>
          <p:nvPr/>
        </p:nvSpPr>
        <p:spPr>
          <a:xfrm>
            <a:off x="838200" y="3824007"/>
            <a:ext cx="5677552" cy="1643527"/>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This notion of being ready is obviously something that’s specific to each container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Kubernetes can merely check if the app running in the container responds to a simple “GET / request” or it can hit a specific URL path, which causes the app to perform a whole list of checks to determine if it’s ready</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Such a detailed readiness probe, which takes the app’s specifics into account, is the app developer’s responsibility.</a:t>
            </a:r>
          </a:p>
        </p:txBody>
      </p:sp>
      <p:grpSp>
        <p:nvGrpSpPr>
          <p:cNvPr id="13" name="그룹 12">
            <a:extLst>
              <a:ext uri="{FF2B5EF4-FFF2-40B4-BE49-F238E27FC236}">
                <a16:creationId xmlns:a16="http://schemas.microsoft.com/office/drawing/2014/main" id="{6C8D583F-E7DB-742D-C372-D78A5399F2CD}"/>
              </a:ext>
            </a:extLst>
          </p:cNvPr>
          <p:cNvGrpSpPr/>
          <p:nvPr/>
        </p:nvGrpSpPr>
        <p:grpSpPr>
          <a:xfrm>
            <a:off x="6515752" y="3824007"/>
            <a:ext cx="4838048" cy="2585023"/>
            <a:chOff x="6515752" y="3824007"/>
            <a:chExt cx="4838048" cy="2585023"/>
          </a:xfrm>
        </p:grpSpPr>
        <p:pic>
          <p:nvPicPr>
            <p:cNvPr id="4" name="그림 3">
              <a:extLst>
                <a:ext uri="{FF2B5EF4-FFF2-40B4-BE49-F238E27FC236}">
                  <a16:creationId xmlns:a16="http://schemas.microsoft.com/office/drawing/2014/main" id="{02717EAD-B5E6-49BA-3774-A0B8384FDB82}"/>
                </a:ext>
              </a:extLst>
            </p:cNvPr>
            <p:cNvPicPr>
              <a:picLocks noChangeAspect="1"/>
            </p:cNvPicPr>
            <p:nvPr/>
          </p:nvPicPr>
          <p:blipFill>
            <a:blip r:embed="rId2"/>
            <a:stretch>
              <a:fillRect/>
            </a:stretch>
          </p:blipFill>
          <p:spPr>
            <a:xfrm>
              <a:off x="6515752" y="3824007"/>
              <a:ext cx="4838048" cy="2585023"/>
            </a:xfrm>
            <a:prstGeom prst="rect">
              <a:avLst/>
            </a:prstGeom>
          </p:spPr>
        </p:pic>
        <p:sp>
          <p:nvSpPr>
            <p:cNvPr id="12" name="직사각형 11">
              <a:extLst>
                <a:ext uri="{FF2B5EF4-FFF2-40B4-BE49-F238E27FC236}">
                  <a16:creationId xmlns:a16="http://schemas.microsoft.com/office/drawing/2014/main" id="{AB0A9201-B1FB-8B30-7D82-1FED9A6B3D5D}"/>
                </a:ext>
              </a:extLst>
            </p:cNvPr>
            <p:cNvSpPr/>
            <p:nvPr/>
          </p:nvSpPr>
          <p:spPr>
            <a:xfrm>
              <a:off x="8931166" y="4706007"/>
              <a:ext cx="1119351" cy="7615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572431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Types of Readiness Probes :</a:t>
            </a:r>
          </a:p>
          <a:p>
            <a:pPr lvl="1">
              <a:buFont typeface="Wingdings" panose="05000000000000000000" pitchFamily="2" charset="2"/>
              <a:buChar char="§"/>
            </a:pPr>
            <a:r>
              <a:rPr lang="en-US" altLang="ko-KR" sz="1400" dirty="0"/>
              <a:t>Like liveness probes, three types of readiness probes exist :</a:t>
            </a:r>
          </a:p>
          <a:p>
            <a:pPr lvl="2">
              <a:buFont typeface="Wingdings" panose="05000000000000000000" pitchFamily="2" charset="2"/>
              <a:buChar char="§"/>
            </a:pPr>
            <a:r>
              <a:rPr lang="en-US" altLang="ko-KR" sz="1400" b="1" dirty="0"/>
              <a:t>An Exec probe, </a:t>
            </a:r>
            <a:r>
              <a:rPr lang="en-US" altLang="ko-KR" sz="1400" dirty="0"/>
              <a:t>where a process is executed. The container’s status is determined by the </a:t>
            </a:r>
            <a:r>
              <a:rPr lang="en-US" altLang="ko-KR" sz="1400" b="1" dirty="0"/>
              <a:t>process’ exit status code</a:t>
            </a:r>
            <a:r>
              <a:rPr lang="en-US" altLang="ko-KR" sz="1400" dirty="0"/>
              <a:t>.</a:t>
            </a:r>
          </a:p>
          <a:p>
            <a:pPr lvl="2">
              <a:buFont typeface="Wingdings" panose="05000000000000000000" pitchFamily="2" charset="2"/>
              <a:buChar char="§"/>
            </a:pPr>
            <a:r>
              <a:rPr lang="en-US" altLang="ko-KR" sz="1400" b="1" dirty="0"/>
              <a:t>An HTTP GET probe</a:t>
            </a:r>
            <a:r>
              <a:rPr lang="en-US" altLang="ko-KR" sz="1400" dirty="0"/>
              <a:t>, which sends an </a:t>
            </a:r>
            <a:r>
              <a:rPr lang="en-US" altLang="ko-KR" sz="1400" b="1" dirty="0"/>
              <a:t>HTTP GET request </a:t>
            </a:r>
            <a:r>
              <a:rPr lang="en-US" altLang="ko-KR" sz="1400" dirty="0"/>
              <a:t>to the container and the HTTP status code of the response determines whether the container is ready or not.</a:t>
            </a:r>
          </a:p>
          <a:p>
            <a:pPr lvl="2">
              <a:buFont typeface="Wingdings" panose="05000000000000000000" pitchFamily="2" charset="2"/>
              <a:buChar char="§"/>
            </a:pPr>
            <a:r>
              <a:rPr lang="en-US" altLang="ko-KR" sz="1400" b="1" dirty="0"/>
              <a:t>A TCP Socket probe</a:t>
            </a:r>
            <a:r>
              <a:rPr lang="en-US" altLang="ko-KR" sz="1400" dirty="0"/>
              <a:t>, which opens a </a:t>
            </a:r>
            <a:r>
              <a:rPr lang="en-US" altLang="ko-KR" sz="1400" b="1" dirty="0"/>
              <a:t>TCP connection </a:t>
            </a:r>
            <a:r>
              <a:rPr lang="en-US" altLang="ko-KR" sz="1400" dirty="0"/>
              <a:t>to a specified port of the container. If the connection is established, the container is considered ready.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BF9EA6B5-4B74-926B-A1B1-414F33186511}"/>
              </a:ext>
            </a:extLst>
          </p:cNvPr>
          <p:cNvPicPr>
            <a:picLocks noChangeAspect="1"/>
          </p:cNvPicPr>
          <p:nvPr/>
        </p:nvPicPr>
        <p:blipFill>
          <a:blip r:embed="rId2"/>
          <a:stretch>
            <a:fillRect/>
          </a:stretch>
        </p:blipFill>
        <p:spPr>
          <a:xfrm>
            <a:off x="3503486" y="3090041"/>
            <a:ext cx="5185027" cy="2699055"/>
          </a:xfrm>
          <a:prstGeom prst="rect">
            <a:avLst/>
          </a:prstGeom>
        </p:spPr>
      </p:pic>
    </p:spTree>
    <p:extLst>
      <p:ext uri="{BB962C8B-B14F-4D97-AF65-F5344CB8AC3E}">
        <p14:creationId xmlns:p14="http://schemas.microsoft.com/office/powerpoint/2010/main" val="8839334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Connections(3/12)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Operation of Readiness Probes :</a:t>
            </a:r>
          </a:p>
          <a:p>
            <a:pPr lvl="1">
              <a:buFont typeface="Wingdings" panose="05000000000000000000" pitchFamily="2" charset="2"/>
              <a:buChar char="§"/>
            </a:pPr>
            <a:r>
              <a:rPr lang="en-US" altLang="ko-KR" sz="1400" b="1" dirty="0"/>
              <a:t>When a container is started, Kubernetes can be configured to wait for a configurable amount of time to pass before performing the first </a:t>
            </a:r>
            <a:r>
              <a:rPr lang="en-US" altLang="ko-KR" sz="1400" b="1" dirty="0">
                <a:solidFill>
                  <a:srgbClr val="FF0000"/>
                </a:solidFill>
              </a:rPr>
              <a:t>readiness check</a:t>
            </a:r>
            <a:r>
              <a:rPr lang="en-US" altLang="ko-KR" sz="1400" dirty="0"/>
              <a:t>. </a:t>
            </a:r>
            <a:r>
              <a:rPr lang="en-US" altLang="ko-KR" sz="1400" b="1" dirty="0"/>
              <a:t>After that, it invokes the probe periodically and acts based on the result of the readiness probe</a:t>
            </a:r>
            <a:r>
              <a:rPr lang="en-US" altLang="ko-KR" sz="1400" dirty="0"/>
              <a:t>. </a:t>
            </a:r>
            <a:r>
              <a:rPr lang="en-US" altLang="ko-KR" sz="1400" b="1" dirty="0"/>
              <a:t>If a pod reports that it’s not ready, it’s removed from the service</a:t>
            </a:r>
            <a:r>
              <a:rPr lang="en-US" altLang="ko-KR" sz="1400" dirty="0"/>
              <a:t>. </a:t>
            </a:r>
            <a:r>
              <a:rPr lang="en-US" altLang="ko-KR" sz="1400" b="1" dirty="0"/>
              <a:t>If the pod then becomes ready again, it’s re-added</a:t>
            </a:r>
            <a:r>
              <a:rPr lang="en-US" altLang="ko-KR" sz="1400" dirty="0"/>
              <a:t>.</a:t>
            </a:r>
          </a:p>
          <a:p>
            <a:pPr lvl="1">
              <a:buFont typeface="Wingdings" panose="05000000000000000000" pitchFamily="2" charset="2"/>
              <a:buChar char="§"/>
            </a:pPr>
            <a:r>
              <a:rPr lang="en-US" altLang="ko-KR" sz="1400" b="1" dirty="0"/>
              <a:t>Unlike liveness probes, if a container fails the readiness check, it won’t be killed or restarted</a:t>
            </a:r>
            <a:r>
              <a:rPr lang="en-US" altLang="ko-KR" sz="1400" dirty="0"/>
              <a:t>. This is an important distinction between liveness and readiness probes. </a:t>
            </a:r>
            <a:r>
              <a:rPr lang="en-US" altLang="ko-KR" sz="1400" b="1" dirty="0"/>
              <a:t>Liveness probes keep pods healthy by killing off unhealthy containers and replacing them with new, healthy ones, whereas readiness probes make sure that only pods that are ready to serve requests receive them</a:t>
            </a:r>
            <a:r>
              <a:rPr lang="en-US" altLang="ko-KR" sz="1400" dirty="0"/>
              <a:t>. This is mostly necessary during container start up, but it’s also useful after the container has been running for a while. </a:t>
            </a:r>
          </a:p>
          <a:p>
            <a:pPr lvl="1">
              <a:buFont typeface="Wingdings" panose="05000000000000000000" pitchFamily="2" charset="2"/>
              <a:buChar char="§"/>
            </a:pPr>
            <a:r>
              <a:rPr lang="en-US" altLang="ko-KR" sz="1400" dirty="0"/>
              <a:t>As you can see in the following figure, </a:t>
            </a:r>
            <a:r>
              <a:rPr lang="en-US" altLang="ko-KR" sz="1400" b="1" dirty="0"/>
              <a:t>if a pod’s readiness probe fails, </a:t>
            </a:r>
            <a:r>
              <a:rPr lang="en-US" altLang="ko-KR" sz="1400" b="1" dirty="0">
                <a:solidFill>
                  <a:srgbClr val="FF0000"/>
                </a:solidFill>
              </a:rPr>
              <a:t>the pod is removed from the Endpoints object</a:t>
            </a:r>
            <a:r>
              <a:rPr lang="en-US" altLang="ko-KR" sz="1400" dirty="0"/>
              <a:t>. </a:t>
            </a:r>
            <a:r>
              <a:rPr lang="en-US" altLang="ko-KR" sz="1400" b="1" dirty="0"/>
              <a:t>Clients connecting to the service will not be redirected to the pod</a:t>
            </a:r>
            <a:r>
              <a:rPr lang="en-US" altLang="ko-KR" sz="1400" dirty="0"/>
              <a:t>. The effect is the same as when the pod doesn’t match the service’s label selector at all.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DA6A10EF-4F03-17DF-548F-F68B35D19592}"/>
              </a:ext>
            </a:extLst>
          </p:cNvPr>
          <p:cNvGrpSpPr/>
          <p:nvPr/>
        </p:nvGrpSpPr>
        <p:grpSpPr>
          <a:xfrm>
            <a:off x="3323303" y="3870976"/>
            <a:ext cx="5545394" cy="2172929"/>
            <a:chOff x="3323303" y="3870976"/>
            <a:chExt cx="5545394" cy="2172929"/>
          </a:xfrm>
        </p:grpSpPr>
        <p:pic>
          <p:nvPicPr>
            <p:cNvPr id="10" name="그림 9">
              <a:extLst>
                <a:ext uri="{FF2B5EF4-FFF2-40B4-BE49-F238E27FC236}">
                  <a16:creationId xmlns:a16="http://schemas.microsoft.com/office/drawing/2014/main" id="{E3BEA2A6-5F47-40E5-25DA-F2E50ECDDE11}"/>
                </a:ext>
              </a:extLst>
            </p:cNvPr>
            <p:cNvPicPr>
              <a:picLocks noChangeAspect="1"/>
            </p:cNvPicPr>
            <p:nvPr/>
          </p:nvPicPr>
          <p:blipFill>
            <a:blip r:embed="rId2"/>
            <a:stretch>
              <a:fillRect/>
            </a:stretch>
          </p:blipFill>
          <p:spPr>
            <a:xfrm>
              <a:off x="3323303" y="3870976"/>
              <a:ext cx="5545394" cy="2172929"/>
            </a:xfrm>
            <a:prstGeom prst="rect">
              <a:avLst/>
            </a:prstGeom>
          </p:spPr>
        </p:pic>
        <p:sp>
          <p:nvSpPr>
            <p:cNvPr id="11" name="직사각형 10">
              <a:extLst>
                <a:ext uri="{FF2B5EF4-FFF2-40B4-BE49-F238E27FC236}">
                  <a16:creationId xmlns:a16="http://schemas.microsoft.com/office/drawing/2014/main" id="{D047A7E5-A46B-2119-4006-6DF3A4B066A2}"/>
                </a:ext>
              </a:extLst>
            </p:cNvPr>
            <p:cNvSpPr/>
            <p:nvPr/>
          </p:nvSpPr>
          <p:spPr>
            <a:xfrm>
              <a:off x="5391807" y="4240924"/>
              <a:ext cx="835572" cy="3704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625188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Connections(4/12)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Understanding Why Readiness Probes are Important :</a:t>
            </a:r>
          </a:p>
          <a:p>
            <a:pPr lvl="1">
              <a:buFont typeface="Wingdings" panose="05000000000000000000" pitchFamily="2" charset="2"/>
              <a:buChar char="§"/>
            </a:pPr>
            <a:r>
              <a:rPr lang="en-US" altLang="ko-KR" sz="1400" dirty="0"/>
              <a:t>For example, imagine that a group of pods (for example, pods running application servers) depends on a service provided by another pod (a backend database, for example). If at any point one of the frontend pods experiences connectivity problems and can’t reach the database anymore, it may be wise for its readiness probe to signal to Kubernetes that the pod isn’t ready to serve any requests at that time. If other pod instances aren’t experiencing the same type of connectivity issues, they can serve requests normally. </a:t>
            </a:r>
          </a:p>
          <a:p>
            <a:pPr lvl="1">
              <a:buFont typeface="Wingdings" panose="05000000000000000000" pitchFamily="2" charset="2"/>
              <a:buChar char="§"/>
            </a:pPr>
            <a:r>
              <a:rPr lang="en-US" altLang="ko-KR" sz="1400" b="1" dirty="0"/>
              <a:t>A readiness probe makes sure clients only talk to those healthy pods and never notice there’s anything wrong with the system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BFE4506-2804-4719-6388-0E04FD86557E}"/>
              </a:ext>
            </a:extLst>
          </p:cNvPr>
          <p:cNvPicPr>
            <a:picLocks noChangeAspect="1"/>
          </p:cNvPicPr>
          <p:nvPr/>
        </p:nvPicPr>
        <p:blipFill>
          <a:blip r:embed="rId2"/>
          <a:stretch>
            <a:fillRect/>
          </a:stretch>
        </p:blipFill>
        <p:spPr>
          <a:xfrm>
            <a:off x="3019753" y="3107809"/>
            <a:ext cx="6152493" cy="2245660"/>
          </a:xfrm>
          <a:prstGeom prst="rect">
            <a:avLst/>
          </a:prstGeom>
        </p:spPr>
      </p:pic>
    </p:spTree>
    <p:extLst>
      <p:ext uri="{BB962C8B-B14F-4D97-AF65-F5344CB8AC3E}">
        <p14:creationId xmlns:p14="http://schemas.microsoft.com/office/powerpoint/2010/main" val="34346237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Connections(5/12)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a Readiness Probe to a Pod :</a:t>
            </a:r>
          </a:p>
          <a:p>
            <a:pPr lvl="1">
              <a:buFont typeface="Wingdings" panose="05000000000000000000" pitchFamily="2" charset="2"/>
              <a:buChar char="§"/>
            </a:pPr>
            <a:r>
              <a:rPr lang="en-US" altLang="ko-KR" sz="1400" dirty="0"/>
              <a:t>Now, you’ll </a:t>
            </a:r>
            <a:r>
              <a:rPr lang="en-US" altLang="ko-KR" sz="1400" b="1" dirty="0"/>
              <a:t>add a readiness probe to your existing pods by modifying the </a:t>
            </a:r>
            <a:r>
              <a:rPr lang="en-US" altLang="ko-KR" sz="1400" b="1" dirty="0" err="1"/>
              <a:t>ReplicationController’s</a:t>
            </a:r>
            <a:r>
              <a:rPr lang="en-US" altLang="ko-KR" sz="1400" b="1" dirty="0"/>
              <a:t> pod template</a:t>
            </a:r>
            <a:r>
              <a:rPr lang="en-US" altLang="ko-KR" sz="1400" dirty="0"/>
              <a:t>.</a:t>
            </a:r>
          </a:p>
          <a:p>
            <a:pPr lvl="1">
              <a:buFont typeface="Wingdings" panose="05000000000000000000" pitchFamily="2" charset="2"/>
              <a:buChar char="§"/>
            </a:pPr>
            <a:r>
              <a:rPr lang="en-US" altLang="ko-KR" sz="1400" dirty="0"/>
              <a:t>You’ll use the following command to </a:t>
            </a:r>
            <a:r>
              <a:rPr lang="en-US" altLang="ko-KR" sz="1400" b="1" dirty="0"/>
              <a:t>add the probe to the pod template in your existing </a:t>
            </a:r>
            <a:r>
              <a:rPr lang="en-US" altLang="ko-KR" sz="1400" b="1" dirty="0" err="1"/>
              <a:t>ReplicationController</a:t>
            </a:r>
            <a:r>
              <a:rPr lang="en-US" altLang="ko-KR" sz="1400" b="1" dirty="0"/>
              <a: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Find the container specification in the pod template </a:t>
            </a:r>
            <a:r>
              <a:rPr lang="en-US" altLang="ko-KR" sz="1400" dirty="0"/>
              <a:t>and </a:t>
            </a:r>
            <a:r>
              <a:rPr lang="en-US" altLang="ko-KR" sz="1400" b="1" dirty="0"/>
              <a:t>add the following readiness probe definition </a:t>
            </a:r>
            <a:r>
              <a:rPr lang="en-US" altLang="ko-KR" sz="1400" dirty="0"/>
              <a:t>to the first container under “</a:t>
            </a:r>
            <a:r>
              <a:rPr lang="en-US" altLang="ko-KR" sz="1400" b="1" dirty="0" err="1"/>
              <a:t>spec.template.spec.containers</a:t>
            </a:r>
            <a:r>
              <a:rPr lang="en-US" altLang="ko-KR" sz="1400" dirty="0"/>
              <a:t>”. The YAML should look like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Before you the above steps, you can delete all resources using </a:t>
            </a:r>
            <a:r>
              <a:rPr lang="en-US" altLang="ko-KR" sz="1400" b="1" dirty="0">
                <a:solidFill>
                  <a:srgbClr val="FF0000"/>
                </a:solidFill>
              </a:rPr>
              <a:t>“$</a:t>
            </a:r>
            <a:r>
              <a:rPr lang="en-US" altLang="ko-KR" sz="1400" b="1" dirty="0" err="1">
                <a:solidFill>
                  <a:srgbClr val="FF0000"/>
                </a:solidFill>
              </a:rPr>
              <a:t>kubectl</a:t>
            </a:r>
            <a:r>
              <a:rPr lang="en-US" altLang="ko-KR" sz="1400" b="1" dirty="0">
                <a:solidFill>
                  <a:srgbClr val="FF0000"/>
                </a:solidFill>
              </a:rPr>
              <a:t> delete all --all</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F25FED7-2224-4E98-444A-8049EA982E7B}"/>
              </a:ext>
            </a:extLst>
          </p:cNvPr>
          <p:cNvSpPr txBox="1"/>
          <p:nvPr/>
        </p:nvSpPr>
        <p:spPr>
          <a:xfrm>
            <a:off x="3047343" y="1645815"/>
            <a:ext cx="6097314"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t>kubia-rc.yaml</a:t>
            </a:r>
            <a:endParaRPr lang="en-US" altLang="ko-KR" sz="1000" b="1" dirty="0"/>
          </a:p>
          <a:p>
            <a:r>
              <a:rPr lang="en-US" altLang="ko-KR" sz="1000" b="1" dirty="0"/>
              <a:t>$ </a:t>
            </a:r>
            <a:r>
              <a:rPr lang="en-US" altLang="ko-KR" sz="1000" b="1" dirty="0" err="1"/>
              <a:t>kubectl</a:t>
            </a:r>
            <a:r>
              <a:rPr lang="en-US" altLang="ko-KR" sz="1000" b="1" dirty="0"/>
              <a:t> get </a:t>
            </a:r>
            <a:r>
              <a:rPr lang="en-US" altLang="ko-KR" sz="1000" b="1" dirty="0" err="1"/>
              <a:t>rc</a:t>
            </a:r>
            <a:r>
              <a:rPr lang="en-US" altLang="ko-KR" sz="1000" b="1" dirty="0"/>
              <a:t> </a:t>
            </a:r>
            <a:r>
              <a:rPr lang="en-US" altLang="ko-KR" sz="1000" b="1" dirty="0" err="1"/>
              <a:t>kubia</a:t>
            </a:r>
            <a:r>
              <a:rPr lang="en-US" altLang="ko-KR" sz="1000" b="1" dirty="0"/>
              <a:t> -o </a:t>
            </a:r>
            <a:r>
              <a:rPr lang="en-US" altLang="ko-KR" sz="1000" b="1" dirty="0" err="1"/>
              <a:t>yaml</a:t>
            </a:r>
            <a:r>
              <a:rPr lang="en-US" altLang="ko-KR" sz="1000" b="1" dirty="0"/>
              <a:t> &gt; </a:t>
            </a:r>
            <a:r>
              <a:rPr lang="en-US" altLang="ko-KR" sz="1000" b="1" dirty="0" err="1">
                <a:solidFill>
                  <a:srgbClr val="FF0000"/>
                </a:solidFill>
              </a:rPr>
              <a:t>kubia</a:t>
            </a:r>
            <a:r>
              <a:rPr lang="en-US" altLang="ko-KR" sz="1000" b="1" dirty="0">
                <a:solidFill>
                  <a:srgbClr val="FF0000"/>
                </a:solidFill>
              </a:rPr>
              <a:t>-</a:t>
            </a:r>
            <a:r>
              <a:rPr lang="en-US" altLang="ko-KR" sz="1000" b="1" dirty="0" err="1">
                <a:solidFill>
                  <a:srgbClr val="FF0000"/>
                </a:solidFill>
              </a:rPr>
              <a:t>rc</a:t>
            </a:r>
            <a:r>
              <a:rPr lang="en-US" altLang="ko-KR" sz="1000" b="1" dirty="0">
                <a:solidFill>
                  <a:srgbClr val="FF0000"/>
                </a:solidFill>
              </a:rPr>
              <a:t>-readiness-</a:t>
            </a:r>
            <a:r>
              <a:rPr lang="en-US" altLang="ko-KR" sz="1000" b="1" dirty="0" err="1">
                <a:solidFill>
                  <a:srgbClr val="FF0000"/>
                </a:solidFill>
              </a:rPr>
              <a:t>probe.yaml</a:t>
            </a:r>
            <a:endParaRPr lang="ko-KR" altLang="en-US" sz="1000" b="1" dirty="0">
              <a:solidFill>
                <a:srgbClr val="FF0000"/>
              </a:solidFill>
            </a:endParaRPr>
          </a:p>
        </p:txBody>
      </p:sp>
      <p:grpSp>
        <p:nvGrpSpPr>
          <p:cNvPr id="21" name="그룹 20">
            <a:extLst>
              <a:ext uri="{FF2B5EF4-FFF2-40B4-BE49-F238E27FC236}">
                <a16:creationId xmlns:a16="http://schemas.microsoft.com/office/drawing/2014/main" id="{665C8D9F-02AB-F37D-9998-EAC3D688427D}"/>
              </a:ext>
            </a:extLst>
          </p:cNvPr>
          <p:cNvGrpSpPr/>
          <p:nvPr/>
        </p:nvGrpSpPr>
        <p:grpSpPr>
          <a:xfrm>
            <a:off x="3047343" y="2642428"/>
            <a:ext cx="6097314" cy="3170099"/>
            <a:chOff x="3047343" y="2642428"/>
            <a:chExt cx="6097314" cy="3170099"/>
          </a:xfrm>
        </p:grpSpPr>
        <p:sp>
          <p:nvSpPr>
            <p:cNvPr id="18" name="TextBox 17">
              <a:extLst>
                <a:ext uri="{FF2B5EF4-FFF2-40B4-BE49-F238E27FC236}">
                  <a16:creationId xmlns:a16="http://schemas.microsoft.com/office/drawing/2014/main" id="{74CD5C05-1FEE-2CEF-2062-E83EF02C2ACE}"/>
                </a:ext>
              </a:extLst>
            </p:cNvPr>
            <p:cNvSpPr txBox="1"/>
            <p:nvPr/>
          </p:nvSpPr>
          <p:spPr>
            <a:xfrm>
              <a:off x="3047343" y="2642428"/>
              <a:ext cx="6097314" cy="3170099"/>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a:t>spec:</a:t>
              </a:r>
            </a:p>
            <a:p>
              <a:r>
                <a:rPr lang="en-US" altLang="ko-KR" sz="1000" b="1" dirty="0"/>
                <a:t>  replicas: 3</a:t>
              </a:r>
            </a:p>
            <a:p>
              <a:r>
                <a:rPr lang="en-US" altLang="ko-KR" sz="1000" b="1" dirty="0"/>
                <a:t>  selector:</a:t>
              </a:r>
            </a:p>
            <a:p>
              <a:r>
                <a:rPr lang="en-US" altLang="ko-KR" sz="1000" b="1" dirty="0"/>
                <a:t>    app: </a:t>
              </a:r>
              <a:r>
                <a:rPr lang="en-US" altLang="ko-KR" sz="1000" b="1" dirty="0" err="1"/>
                <a:t>kubia</a:t>
              </a:r>
              <a:endParaRPr lang="en-US" altLang="ko-KR" sz="1000" b="1" dirty="0"/>
            </a:p>
            <a:p>
              <a:r>
                <a:rPr lang="en-US" altLang="ko-KR" sz="1000" b="1" dirty="0"/>
                <a:t>  template:</a:t>
              </a:r>
            </a:p>
            <a:p>
              <a:r>
                <a:rPr lang="en-US" altLang="ko-KR" sz="1000" b="1" dirty="0"/>
                <a:t>    metadata:</a:t>
              </a:r>
            </a:p>
            <a:p>
              <a:r>
                <a:rPr lang="en-US" altLang="ko-KR" sz="1000" b="1" dirty="0"/>
                <a:t>      </a:t>
              </a:r>
              <a:r>
                <a:rPr lang="en-US" altLang="ko-KR" sz="1000" b="1" dirty="0" err="1"/>
                <a:t>creationTimestamp</a:t>
              </a:r>
              <a:r>
                <a:rPr lang="en-US" altLang="ko-KR" sz="1000" b="1" dirty="0"/>
                <a:t>: null</a:t>
              </a:r>
            </a:p>
            <a:p>
              <a:r>
                <a:rPr lang="en-US" altLang="ko-KR" sz="1000" b="1" dirty="0"/>
                <a:t>      labels:</a:t>
              </a:r>
            </a:p>
            <a:p>
              <a:r>
                <a:rPr lang="en-US" altLang="ko-KR" sz="1000" b="1" dirty="0"/>
                <a:t>        app: </a:t>
              </a:r>
              <a:r>
                <a:rPr lang="en-US" altLang="ko-KR" sz="1000" b="1" dirty="0" err="1"/>
                <a:t>kubia</a:t>
              </a:r>
              <a:endParaRPr lang="en-US" altLang="ko-KR" sz="1000" b="1" dirty="0"/>
            </a:p>
            <a:p>
              <a:r>
                <a:rPr lang="en-US" altLang="ko-KR" sz="1000" b="1" dirty="0"/>
                <a:t>    spec:</a:t>
              </a:r>
            </a:p>
            <a:p>
              <a:r>
                <a:rPr lang="en-US" altLang="ko-KR" sz="1000" b="1" dirty="0"/>
                <a:t>      containers:</a:t>
              </a:r>
            </a:p>
            <a:p>
              <a:r>
                <a:rPr lang="en-US" altLang="ko-KR" sz="1000" b="1" dirty="0"/>
                <a:t>      - image: knix008/</a:t>
              </a:r>
              <a:r>
                <a:rPr lang="en-US" altLang="ko-KR" sz="1000" b="1" dirty="0" err="1"/>
                <a:t>kubia</a:t>
              </a:r>
              <a:endParaRPr lang="en-US" altLang="ko-KR" sz="1000" b="1" dirty="0"/>
            </a:p>
            <a:p>
              <a:r>
                <a:rPr lang="en-US" altLang="ko-KR" sz="1000" b="1" dirty="0">
                  <a:solidFill>
                    <a:srgbClr val="FF0000"/>
                  </a:solidFill>
                </a:rPr>
                <a:t>        </a:t>
              </a:r>
              <a:r>
                <a:rPr lang="en-US" altLang="ko-KR" sz="1000" b="1" dirty="0" err="1">
                  <a:solidFill>
                    <a:srgbClr val="FF0000"/>
                  </a:solidFill>
                </a:rPr>
                <a:t>readinessProbe</a:t>
              </a:r>
              <a:r>
                <a:rPr lang="en-US" altLang="ko-KR" sz="1000" b="1" dirty="0">
                  <a:solidFill>
                    <a:srgbClr val="FF0000"/>
                  </a:solidFill>
                </a:rPr>
                <a:t>:</a:t>
              </a:r>
            </a:p>
            <a:p>
              <a:r>
                <a:rPr lang="en-US" altLang="ko-KR" sz="1000" b="1" dirty="0">
                  <a:solidFill>
                    <a:srgbClr val="FF0000"/>
                  </a:solidFill>
                </a:rPr>
                <a:t>          exec:</a:t>
              </a:r>
            </a:p>
            <a:p>
              <a:r>
                <a:rPr lang="en-US" altLang="ko-KR" sz="1000" b="1" dirty="0">
                  <a:solidFill>
                    <a:srgbClr val="FF0000"/>
                  </a:solidFill>
                </a:rPr>
                <a:t>            command:</a:t>
              </a:r>
            </a:p>
            <a:p>
              <a:r>
                <a:rPr lang="en-US" altLang="ko-KR" sz="1000" b="1" dirty="0">
                  <a:solidFill>
                    <a:srgbClr val="FF0000"/>
                  </a:solidFill>
                </a:rPr>
                <a:t>            - ls</a:t>
              </a:r>
            </a:p>
            <a:p>
              <a:r>
                <a:rPr lang="en-US" altLang="ko-KR" sz="1000" b="1" dirty="0">
                  <a:solidFill>
                    <a:srgbClr val="FF0000"/>
                  </a:solidFill>
                </a:rPr>
                <a:t>            - /var/ready</a:t>
              </a:r>
            </a:p>
            <a:p>
              <a:r>
                <a:rPr lang="en-US" altLang="ko-KR" sz="1000" b="1" dirty="0"/>
                <a:t>        </a:t>
              </a:r>
              <a:r>
                <a:rPr lang="en-US" altLang="ko-KR" sz="1000" b="1" dirty="0" err="1"/>
                <a:t>imagePullPolicy</a:t>
              </a:r>
              <a:r>
                <a:rPr lang="en-US" altLang="ko-KR" sz="1000" b="1" dirty="0"/>
                <a:t>: Always</a:t>
              </a:r>
            </a:p>
            <a:p>
              <a:r>
                <a:rPr lang="en-US" altLang="ko-KR" sz="1000" b="1" dirty="0"/>
                <a:t>…</a:t>
              </a:r>
              <a:endParaRPr lang="ko-KR" altLang="en-US" sz="1000" b="1" dirty="0"/>
            </a:p>
          </p:txBody>
        </p:sp>
        <p:sp>
          <p:nvSpPr>
            <p:cNvPr id="20" name="TextBox 19">
              <a:extLst>
                <a:ext uri="{FF2B5EF4-FFF2-40B4-BE49-F238E27FC236}">
                  <a16:creationId xmlns:a16="http://schemas.microsoft.com/office/drawing/2014/main" id="{23E8F4E9-00E0-74F7-CA5D-AEEABEBE7B23}"/>
                </a:ext>
              </a:extLst>
            </p:cNvPr>
            <p:cNvSpPr txBox="1"/>
            <p:nvPr/>
          </p:nvSpPr>
          <p:spPr>
            <a:xfrm>
              <a:off x="7093169" y="2642428"/>
              <a:ext cx="2051488" cy="246221"/>
            </a:xfrm>
            <a:prstGeom prst="rect">
              <a:avLst/>
            </a:prstGeom>
            <a:noFill/>
          </p:spPr>
          <p:txBody>
            <a:bodyPr wrap="square">
              <a:spAutoFit/>
            </a:bodyPr>
            <a:lstStyle/>
            <a:p>
              <a:pPr algn="ctr"/>
              <a:r>
                <a:rPr lang="en-US" altLang="ko-KR" sz="1000" b="1" dirty="0" err="1"/>
                <a:t>kubia</a:t>
              </a:r>
              <a:r>
                <a:rPr lang="en-US" altLang="ko-KR" sz="1000" b="1" dirty="0"/>
                <a:t>-</a:t>
              </a:r>
              <a:r>
                <a:rPr lang="en-US" altLang="ko-KR" sz="1000" b="1" dirty="0" err="1"/>
                <a:t>rc</a:t>
              </a:r>
              <a:r>
                <a:rPr lang="en-US" altLang="ko-KR" sz="1000" b="1" dirty="0"/>
                <a:t>-readiness-</a:t>
              </a:r>
              <a:r>
                <a:rPr lang="en-US" altLang="ko-KR" sz="1000" b="1" dirty="0" err="1"/>
                <a:t>probe.yaml</a:t>
              </a:r>
              <a:endParaRPr lang="ko-KR" altLang="en-US" sz="1000" b="1" dirty="0"/>
            </a:p>
          </p:txBody>
        </p:sp>
      </p:grpSp>
    </p:spTree>
    <p:extLst>
      <p:ext uri="{BB962C8B-B14F-4D97-AF65-F5344CB8AC3E}">
        <p14:creationId xmlns:p14="http://schemas.microsoft.com/office/powerpoint/2010/main" val="13200556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Editor for Configuration Change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Environment Variables :</a:t>
            </a:r>
          </a:p>
          <a:p>
            <a:pPr lvl="1">
              <a:buFont typeface="Wingdings" panose="05000000000000000000" pitchFamily="2" charset="2"/>
              <a:buChar char="§"/>
            </a:pPr>
            <a:r>
              <a:rPr lang="en-US" altLang="ko-KR" sz="1400" b="1" dirty="0"/>
              <a:t>To use “$ </a:t>
            </a:r>
            <a:r>
              <a:rPr lang="en-US" altLang="ko-KR" sz="1400" b="1" dirty="0" err="1"/>
              <a:t>kubctl</a:t>
            </a:r>
            <a:r>
              <a:rPr lang="en-US" altLang="ko-KR" sz="1400" b="1" dirty="0"/>
              <a:t> edit” command </a:t>
            </a:r>
            <a:r>
              <a:rPr lang="en-US" altLang="ko-KR" sz="1400" dirty="0"/>
              <a:t>in the example, you need to </a:t>
            </a:r>
            <a:r>
              <a:rPr lang="en-US" altLang="ko-KR" sz="1400" b="1" dirty="0"/>
              <a:t>add the following line at the end of “~/.</a:t>
            </a:r>
            <a:r>
              <a:rPr lang="en-US" altLang="ko-KR" sz="1400" b="1" dirty="0" err="1"/>
              <a:t>bashrc</a:t>
            </a:r>
            <a:r>
              <a:rPr lang="en-US" altLang="ko-KR" sz="1400" b="1" dirty="0"/>
              <a:t>” file </a:t>
            </a:r>
            <a:r>
              <a:rPr lang="en-US" altLang="ko-KR" sz="1400" dirty="0"/>
              <a:t>on Ubuntu 20.04 Linux.</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a:t>
            </a:r>
            <a:r>
              <a:rPr lang="en-US" altLang="ko-KR" sz="1400" b="1" dirty="0"/>
              <a:t>KUBE_EDITOR</a:t>
            </a:r>
            <a:r>
              <a:rPr lang="en-US" altLang="ko-KR" sz="1400" dirty="0"/>
              <a:t>” environment variable(“</a:t>
            </a:r>
            <a:r>
              <a:rPr lang="en-US" altLang="ko-KR" sz="1400" b="1" dirty="0"/>
              <a:t>export KUBE_EDITOR=/</a:t>
            </a:r>
            <a:r>
              <a:rPr lang="en-US" altLang="ko-KR" sz="1400" b="1" dirty="0" err="1"/>
              <a:t>usr</a:t>
            </a:r>
            <a:r>
              <a:rPr lang="en-US" altLang="ko-KR" sz="1400" b="1" dirty="0"/>
              <a:t>/bin/vim</a:t>
            </a:r>
            <a:r>
              <a:rPr lang="en-US" altLang="ko-KR" sz="1400" dirty="0"/>
              <a:t>”) also can be set in the same file.</a:t>
            </a:r>
          </a:p>
          <a:p>
            <a:pPr lvl="1">
              <a:buFont typeface="Wingdings" panose="05000000000000000000" pitchFamily="2" charset="2"/>
              <a:buChar char="§"/>
            </a:pPr>
            <a:r>
              <a:rPr lang="en-US" altLang="ko-KR" sz="1400" dirty="0"/>
              <a:t>If you haven’t installed “</a:t>
            </a:r>
            <a:r>
              <a:rPr lang="en-US" altLang="ko-KR" sz="1400" b="1" dirty="0"/>
              <a:t>vim</a:t>
            </a:r>
            <a:r>
              <a:rPr lang="en-US" altLang="ko-KR" sz="1400" dirty="0"/>
              <a:t>” editor, you need to run the “</a:t>
            </a:r>
            <a:r>
              <a:rPr lang="en-US" altLang="ko-KR" sz="1400" b="1" dirty="0"/>
              <a:t>$ </a:t>
            </a:r>
            <a:r>
              <a:rPr lang="en-US" altLang="ko-KR" sz="1400" b="1" dirty="0" err="1"/>
              <a:t>sudo</a:t>
            </a:r>
            <a:r>
              <a:rPr lang="en-US" altLang="ko-KR" sz="1400" b="1" dirty="0"/>
              <a:t> apt install vim</a:t>
            </a:r>
            <a:r>
              <a:rPr lang="en-US" altLang="ko-KR" sz="1400" dirty="0"/>
              <a:t>”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When you finish editing the manifest file, “</a:t>
            </a:r>
            <a:r>
              <a:rPr lang="en-US" altLang="ko-KR" sz="1400" b="1" dirty="0"/>
              <a:t>ESC</a:t>
            </a:r>
            <a:r>
              <a:rPr lang="en-US" altLang="ko-KR" sz="1400" dirty="0"/>
              <a:t>” and “</a:t>
            </a:r>
            <a:r>
              <a:rPr lang="en-US" altLang="ko-KR" sz="1400" b="1" dirty="0"/>
              <a:t>:</a:t>
            </a:r>
            <a:r>
              <a:rPr lang="en-US" altLang="ko-KR" sz="1400" dirty="0"/>
              <a:t>” keys, then type “</a:t>
            </a:r>
            <a:r>
              <a:rPr lang="en-US" altLang="ko-KR" sz="1400" b="1" dirty="0" err="1"/>
              <a:t>wq</a:t>
            </a:r>
            <a:r>
              <a:rPr lang="en-US" altLang="ko-KR" sz="1400" dirty="0"/>
              <a:t>” to change and save the edited file. </a:t>
            </a:r>
          </a:p>
          <a:p>
            <a:pPr lvl="1">
              <a:buFont typeface="Wingdings" panose="05000000000000000000" pitchFamily="2" charset="2"/>
              <a:buChar char="§"/>
            </a:pPr>
            <a:r>
              <a:rPr lang="en-US" altLang="ko-KR" sz="1400" b="1" dirty="0"/>
              <a:t>NOTICE : Sometimes, the “$</a:t>
            </a:r>
            <a:r>
              <a:rPr lang="en-US" altLang="ko-KR" sz="1400" b="1" dirty="0" err="1"/>
              <a:t>kubectl</a:t>
            </a:r>
            <a:r>
              <a:rPr lang="en-US" altLang="ko-KR" sz="1400" b="1" dirty="0"/>
              <a:t> edit” command will not work correctly. So save the manifest file and edit it directly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9624938-EC60-5F91-F8E5-D8EE48E98353}"/>
              </a:ext>
            </a:extLst>
          </p:cNvPr>
          <p:cNvSpPr txBox="1"/>
          <p:nvPr/>
        </p:nvSpPr>
        <p:spPr>
          <a:xfrm>
            <a:off x="3350171" y="1694145"/>
            <a:ext cx="5491655" cy="246221"/>
          </a:xfrm>
          <a:prstGeom prst="rect">
            <a:avLst/>
          </a:prstGeom>
          <a:noFill/>
          <a:ln>
            <a:solidFill>
              <a:schemeClr val="bg1">
                <a:lumMod val="50000"/>
              </a:schemeClr>
            </a:solidFill>
          </a:ln>
        </p:spPr>
        <p:txBody>
          <a:bodyPr wrap="square" rtlCol="0">
            <a:spAutoFit/>
          </a:bodyPr>
          <a:lstStyle/>
          <a:p>
            <a:pPr algn="l"/>
            <a:r>
              <a:rPr lang="en-US" altLang="ko-KR" sz="1000" b="1" dirty="0">
                <a:solidFill>
                  <a:srgbClr val="FF0000"/>
                </a:solidFill>
              </a:rPr>
              <a:t>export EDITOR=/</a:t>
            </a:r>
            <a:r>
              <a:rPr lang="en-US" altLang="ko-KR" sz="1000" b="1" dirty="0" err="1">
                <a:solidFill>
                  <a:srgbClr val="FF0000"/>
                </a:solidFill>
              </a:rPr>
              <a:t>usr</a:t>
            </a:r>
            <a:r>
              <a:rPr lang="en-US" altLang="ko-KR" sz="1000" b="1" dirty="0">
                <a:solidFill>
                  <a:srgbClr val="FF0000"/>
                </a:solidFill>
              </a:rPr>
              <a:t>/bin/vim</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8A237F82-05BE-B6D0-C115-70673C4F5FA7}"/>
              </a:ext>
            </a:extLst>
          </p:cNvPr>
          <p:cNvPicPr>
            <a:picLocks noChangeAspect="1"/>
          </p:cNvPicPr>
          <p:nvPr/>
        </p:nvPicPr>
        <p:blipFill>
          <a:blip r:embed="rId2"/>
          <a:stretch>
            <a:fillRect/>
          </a:stretch>
        </p:blipFill>
        <p:spPr>
          <a:xfrm>
            <a:off x="1287517" y="2915916"/>
            <a:ext cx="9616965" cy="2179845"/>
          </a:xfrm>
          <a:prstGeom prst="rect">
            <a:avLst/>
          </a:prstGeom>
        </p:spPr>
      </p:pic>
    </p:spTree>
    <p:extLst>
      <p:ext uri="{BB962C8B-B14F-4D97-AF65-F5344CB8AC3E}">
        <p14:creationId xmlns:p14="http://schemas.microsoft.com/office/powerpoint/2010/main" val="11709091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Connections(6/12)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a Readiness Probe to a Pod :</a:t>
            </a:r>
          </a:p>
          <a:p>
            <a:pPr lvl="1">
              <a:buFont typeface="Wingdings" panose="05000000000000000000" pitchFamily="2" charset="2"/>
              <a:buChar char="§"/>
            </a:pPr>
            <a:r>
              <a:rPr lang="en-US" altLang="ko-KR" sz="1400" b="1" dirty="0"/>
              <a:t>The readiness probe will periodically perform the command “ls /var/ready” inside the container</a:t>
            </a:r>
            <a:r>
              <a:rPr lang="en-US" altLang="ko-KR" sz="1400" dirty="0"/>
              <a:t>. </a:t>
            </a:r>
            <a:r>
              <a:rPr lang="en-US" altLang="ko-KR" sz="1400" b="1" dirty="0"/>
              <a:t>The “ls” command returns exit code zero if the file exists, or a non-zero exit code otherwise</a:t>
            </a:r>
            <a:r>
              <a:rPr lang="en-US" altLang="ko-KR" sz="1400" dirty="0"/>
              <a:t>. </a:t>
            </a:r>
            <a:r>
              <a:rPr lang="en-US" altLang="ko-KR" sz="1400" b="1" dirty="0"/>
              <a:t>If the file exists, the readiness probe will succeed; otherwise, it will fail</a:t>
            </a:r>
            <a:r>
              <a:rPr lang="en-US" altLang="ko-KR" sz="1400" dirty="0"/>
              <a:t>.</a:t>
            </a:r>
          </a:p>
          <a:p>
            <a:pPr lvl="1">
              <a:buFont typeface="Wingdings" panose="05000000000000000000" pitchFamily="2" charset="2"/>
              <a:buChar char="§"/>
            </a:pPr>
            <a:r>
              <a:rPr lang="en-US" altLang="ko-KR" sz="1400" b="1" dirty="0"/>
              <a:t>The reason you’re defining such a strange readiness probe is so you can toggle its result by creating or removing the file in question</a:t>
            </a:r>
            <a:r>
              <a:rPr lang="en-US" altLang="ko-KR" sz="1400" dirty="0"/>
              <a:t>. The file doesn’t exist yet, so all the pods should now report not being ready, right? Well, not exactly. As you</a:t>
            </a:r>
            <a:r>
              <a:rPr lang="ko-KR" altLang="en-US" sz="1400" dirty="0"/>
              <a:t> </a:t>
            </a:r>
            <a:r>
              <a:rPr lang="en-US" altLang="ko-KR" sz="1400" dirty="0"/>
              <a:t>know, </a:t>
            </a:r>
            <a:r>
              <a:rPr lang="en-US" altLang="ko-KR" sz="1400" b="1" dirty="0"/>
              <a:t>changing a </a:t>
            </a:r>
            <a:r>
              <a:rPr lang="en-US" altLang="ko-KR" sz="1400" b="1" dirty="0" err="1"/>
              <a:t>ReplicationController’s</a:t>
            </a:r>
            <a:r>
              <a:rPr lang="en-US" altLang="ko-KR" sz="1400" b="1" dirty="0"/>
              <a:t> pod template has no effect on existing pods</a:t>
            </a:r>
            <a:r>
              <a:rPr lang="en-US" altLang="ko-KR" sz="1400" dirty="0"/>
              <a:t>. </a:t>
            </a:r>
          </a:p>
          <a:p>
            <a:pPr lvl="1">
              <a:buFont typeface="Wingdings" panose="05000000000000000000" pitchFamily="2" charset="2"/>
              <a:buChar char="§"/>
            </a:pPr>
            <a:r>
              <a:rPr lang="en-US" altLang="ko-KR" sz="1400" dirty="0"/>
              <a:t>In other words, all your existing pods still have no readiness probe defined. You can see this by listing the pods with “</a:t>
            </a:r>
            <a:r>
              <a:rPr lang="en-US" altLang="ko-KR" sz="1400" b="1" dirty="0" err="1"/>
              <a:t>kubectl</a:t>
            </a:r>
            <a:r>
              <a:rPr lang="en-US" altLang="ko-KR" sz="1400" b="1" dirty="0"/>
              <a:t> get pods</a:t>
            </a:r>
            <a:r>
              <a:rPr lang="en-US" altLang="ko-KR" sz="1400" dirty="0"/>
              <a:t>” and looking at the READY column. </a:t>
            </a:r>
            <a:r>
              <a:rPr lang="en-US" altLang="ko-KR" sz="1400" b="1" dirty="0"/>
              <a:t>You need to delete the pods and have them re-created by the </a:t>
            </a:r>
            <a:r>
              <a:rPr lang="en-US" altLang="ko-KR" sz="1400" b="1" dirty="0" err="1"/>
              <a:t>ReplicationController</a:t>
            </a:r>
            <a:r>
              <a:rPr lang="en-US" altLang="ko-KR" sz="1400" dirty="0"/>
              <a:t>. </a:t>
            </a:r>
            <a:r>
              <a:rPr lang="en-US" altLang="ko-KR" sz="1400" b="1" dirty="0"/>
              <a:t>The new pods will fail the readiness check and won’t be included as endpoints of the service until you create the “/var/ready” file in each of them</a:t>
            </a:r>
            <a:r>
              <a:rPr lang="en-US" altLang="ko-KR" sz="1400" dirty="0"/>
              <a:t>.</a:t>
            </a:r>
          </a:p>
          <a:p>
            <a:pPr lvl="1">
              <a:buFont typeface="Wingdings" panose="05000000000000000000" pitchFamily="2" charset="2"/>
              <a:buChar char="§"/>
            </a:pPr>
            <a:r>
              <a:rPr lang="en-US" altLang="ko-KR" sz="1400" dirty="0"/>
              <a:t>Now, you can </a:t>
            </a:r>
            <a:r>
              <a:rPr lang="en-US" altLang="ko-KR" sz="1400" b="1" dirty="0"/>
              <a:t>create the new </a:t>
            </a:r>
            <a:r>
              <a:rPr lang="en-US" altLang="ko-KR" sz="1400" b="1" dirty="0" err="1"/>
              <a:t>ReplicationController</a:t>
            </a:r>
            <a:r>
              <a:rPr lang="en-US" altLang="ko-KR" sz="1400" b="1" dirty="0"/>
              <a:t> </a:t>
            </a:r>
            <a:r>
              <a:rPr lang="en-US" altLang="ko-KR" sz="1400" dirty="0"/>
              <a:t>with the following command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29F42247-7587-6F87-BA61-78143C499E72}"/>
              </a:ext>
            </a:extLst>
          </p:cNvPr>
          <p:cNvGrpSpPr/>
          <p:nvPr/>
        </p:nvGrpSpPr>
        <p:grpSpPr>
          <a:xfrm>
            <a:off x="1206719" y="3675848"/>
            <a:ext cx="9778562" cy="2547718"/>
            <a:chOff x="1206719" y="3591718"/>
            <a:chExt cx="9778562" cy="2547718"/>
          </a:xfrm>
        </p:grpSpPr>
        <p:grpSp>
          <p:nvGrpSpPr>
            <p:cNvPr id="12" name="그룹 11">
              <a:extLst>
                <a:ext uri="{FF2B5EF4-FFF2-40B4-BE49-F238E27FC236}">
                  <a16:creationId xmlns:a16="http://schemas.microsoft.com/office/drawing/2014/main" id="{12403EC8-F8EC-E84A-945A-48D12A7665AD}"/>
                </a:ext>
              </a:extLst>
            </p:cNvPr>
            <p:cNvGrpSpPr/>
            <p:nvPr/>
          </p:nvGrpSpPr>
          <p:grpSpPr>
            <a:xfrm>
              <a:off x="1206719" y="3591718"/>
              <a:ext cx="9778562" cy="2547718"/>
              <a:chOff x="1206719" y="3591718"/>
              <a:chExt cx="9778562" cy="2547718"/>
            </a:xfrm>
          </p:grpSpPr>
          <p:sp>
            <p:nvSpPr>
              <p:cNvPr id="8" name="TextBox 7">
                <a:extLst>
                  <a:ext uri="{FF2B5EF4-FFF2-40B4-BE49-F238E27FC236}">
                    <a16:creationId xmlns:a16="http://schemas.microsoft.com/office/drawing/2014/main" id="{6EDED9E3-FE86-7B50-D8D2-71663C95BB7E}"/>
                  </a:ext>
                </a:extLst>
              </p:cNvPr>
              <p:cNvSpPr txBox="1"/>
              <p:nvPr/>
            </p:nvSpPr>
            <p:spPr>
              <a:xfrm>
                <a:off x="3047343" y="3591718"/>
                <a:ext cx="6097314"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-f </a:t>
                </a:r>
                <a:r>
                  <a:rPr lang="en-US" altLang="ko-KR" sz="1000" b="1" dirty="0" err="1"/>
                  <a:t>kubia-rc.yaml</a:t>
                </a:r>
                <a:endParaRPr lang="en-US" altLang="ko-KR" sz="1000" b="1" dirty="0"/>
              </a:p>
              <a:p>
                <a:r>
                  <a:rPr lang="en-US" altLang="ko-KR" sz="1000" b="1" dirty="0"/>
                  <a:t>…</a:t>
                </a:r>
              </a:p>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a:t>
                </a:r>
                <a:r>
                  <a:rPr lang="en-US" altLang="ko-KR" sz="1000" b="1" dirty="0">
                    <a:solidFill>
                      <a:srgbClr val="FF0000"/>
                    </a:solidFill>
                  </a:rPr>
                  <a:t>-</a:t>
                </a:r>
                <a:r>
                  <a:rPr lang="en-US" altLang="ko-KR" sz="1000" b="1" dirty="0" err="1">
                    <a:solidFill>
                      <a:srgbClr val="FF0000"/>
                    </a:solidFill>
                  </a:rPr>
                  <a:t>rc</a:t>
                </a:r>
                <a:r>
                  <a:rPr lang="en-US" altLang="ko-KR" sz="1000" b="1" dirty="0">
                    <a:solidFill>
                      <a:srgbClr val="FF0000"/>
                    </a:solidFill>
                  </a:rPr>
                  <a:t>-readiness-</a:t>
                </a:r>
                <a:r>
                  <a:rPr lang="en-US" altLang="ko-KR" sz="1000" b="1" dirty="0" err="1">
                    <a:solidFill>
                      <a:srgbClr val="FF0000"/>
                    </a:solidFill>
                  </a:rPr>
                  <a:t>probe.yaml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DC02CC1A-B40B-670A-1EEA-B9B60B5C1027}"/>
                  </a:ext>
                </a:extLst>
              </p:cNvPr>
              <p:cNvSpPr/>
              <p:nvPr/>
            </p:nvSpPr>
            <p:spPr>
              <a:xfrm>
                <a:off x="5902872" y="4151759"/>
                <a:ext cx="386256" cy="26013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E1B9111-1DF8-185C-26F4-C78817EBC268}"/>
                  </a:ext>
                </a:extLst>
              </p:cNvPr>
              <p:cNvPicPr>
                <a:picLocks noChangeAspect="1"/>
              </p:cNvPicPr>
              <p:nvPr/>
            </p:nvPicPr>
            <p:blipFill>
              <a:blip r:embed="rId2"/>
              <a:stretch>
                <a:fillRect/>
              </a:stretch>
            </p:blipFill>
            <p:spPr>
              <a:xfrm>
                <a:off x="1206719" y="4411890"/>
                <a:ext cx="9778562" cy="1727546"/>
              </a:xfrm>
              <a:prstGeom prst="rect">
                <a:avLst/>
              </a:prstGeom>
            </p:spPr>
          </p:pic>
        </p:grpSp>
        <p:sp>
          <p:nvSpPr>
            <p:cNvPr id="13" name="직사각형 12">
              <a:extLst>
                <a:ext uri="{FF2B5EF4-FFF2-40B4-BE49-F238E27FC236}">
                  <a16:creationId xmlns:a16="http://schemas.microsoft.com/office/drawing/2014/main" id="{B6A53D80-755A-329B-F3A7-4FA929AFDA3C}"/>
                </a:ext>
              </a:extLst>
            </p:cNvPr>
            <p:cNvSpPr/>
            <p:nvPr/>
          </p:nvSpPr>
          <p:spPr>
            <a:xfrm>
              <a:off x="5336628" y="4855779"/>
              <a:ext cx="3184634"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517339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Connections(7/12)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Observing and Modifying the Pods’ Readiness Status :</a:t>
            </a:r>
          </a:p>
          <a:p>
            <a:pPr lvl="1">
              <a:buFont typeface="Wingdings" panose="05000000000000000000" pitchFamily="2" charset="2"/>
              <a:buChar char="§"/>
            </a:pPr>
            <a:r>
              <a:rPr lang="en-US" altLang="ko-KR" sz="1400" dirty="0"/>
              <a:t>List the pods again and inspect whether they’re ready or not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“READY” column shows that none of the containers are ready</a:t>
            </a:r>
            <a:r>
              <a:rPr lang="en-US" altLang="ko-KR" sz="1400" dirty="0"/>
              <a:t>. Now make the readiness probe of one of them start returning success by creating the “</a:t>
            </a:r>
            <a:r>
              <a:rPr lang="en-US" altLang="ko-KR" sz="1400" b="1" dirty="0"/>
              <a:t>/var/ready</a:t>
            </a:r>
            <a:r>
              <a:rPr lang="en-US" altLang="ko-KR" sz="1400" dirty="0"/>
              <a:t>” file, whose existence makes your mock readiness probe succeed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E67132B-FAE8-93A6-32DA-EFCB5EAB1C63}"/>
              </a:ext>
            </a:extLst>
          </p:cNvPr>
          <p:cNvGrpSpPr/>
          <p:nvPr/>
        </p:nvGrpSpPr>
        <p:grpSpPr>
          <a:xfrm>
            <a:off x="1271752" y="1431300"/>
            <a:ext cx="9648496" cy="2051303"/>
            <a:chOff x="1271752" y="1431300"/>
            <a:chExt cx="9648496" cy="2051303"/>
          </a:xfrm>
        </p:grpSpPr>
        <p:sp>
          <p:nvSpPr>
            <p:cNvPr id="8" name="TextBox 7">
              <a:extLst>
                <a:ext uri="{FF2B5EF4-FFF2-40B4-BE49-F238E27FC236}">
                  <a16:creationId xmlns:a16="http://schemas.microsoft.com/office/drawing/2014/main" id="{2E3850C0-3070-468E-EC6B-5DF634537A76}"/>
                </a:ext>
              </a:extLst>
            </p:cNvPr>
            <p:cNvSpPr txBox="1"/>
            <p:nvPr/>
          </p:nvSpPr>
          <p:spPr>
            <a:xfrm>
              <a:off x="3047343" y="1431300"/>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a:t>
              </a:r>
              <a:endParaRPr lang="ko-KR" altLang="en-US" sz="1000" b="1" dirty="0"/>
            </a:p>
          </p:txBody>
        </p:sp>
        <p:sp>
          <p:nvSpPr>
            <p:cNvPr id="9" name="화살표: 아래쪽 8">
              <a:extLst>
                <a:ext uri="{FF2B5EF4-FFF2-40B4-BE49-F238E27FC236}">
                  <a16:creationId xmlns:a16="http://schemas.microsoft.com/office/drawing/2014/main" id="{718C9DBA-A488-A664-BEC2-0FD1299D9DFF}"/>
                </a:ext>
              </a:extLst>
            </p:cNvPr>
            <p:cNvSpPr/>
            <p:nvPr/>
          </p:nvSpPr>
          <p:spPr>
            <a:xfrm>
              <a:off x="5891048" y="1702676"/>
              <a:ext cx="409903" cy="25224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979B63D8-9013-C7D1-29BB-A82610A22DCA}"/>
                </a:ext>
              </a:extLst>
            </p:cNvPr>
            <p:cNvPicPr>
              <a:picLocks noChangeAspect="1"/>
            </p:cNvPicPr>
            <p:nvPr/>
          </p:nvPicPr>
          <p:blipFill>
            <a:blip r:embed="rId2"/>
            <a:stretch>
              <a:fillRect/>
            </a:stretch>
          </p:blipFill>
          <p:spPr>
            <a:xfrm>
              <a:off x="1271752" y="1954924"/>
              <a:ext cx="9648496" cy="1527679"/>
            </a:xfrm>
            <a:prstGeom prst="rect">
              <a:avLst/>
            </a:prstGeom>
          </p:spPr>
        </p:pic>
      </p:grpSp>
      <p:sp>
        <p:nvSpPr>
          <p:cNvPr id="13" name="직사각형 12">
            <a:extLst>
              <a:ext uri="{FF2B5EF4-FFF2-40B4-BE49-F238E27FC236}">
                <a16:creationId xmlns:a16="http://schemas.microsoft.com/office/drawing/2014/main" id="{56CC07DA-2511-BBC6-78E6-BA5444DEF2D5}"/>
              </a:ext>
            </a:extLst>
          </p:cNvPr>
          <p:cNvSpPr/>
          <p:nvPr/>
        </p:nvSpPr>
        <p:spPr>
          <a:xfrm>
            <a:off x="2209800" y="2530366"/>
            <a:ext cx="509752" cy="5833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887B8D44-C1B8-239F-5ED0-F1808BCD305B}"/>
              </a:ext>
            </a:extLst>
          </p:cNvPr>
          <p:cNvGrpSpPr/>
          <p:nvPr/>
        </p:nvGrpSpPr>
        <p:grpSpPr>
          <a:xfrm>
            <a:off x="1267809" y="4181936"/>
            <a:ext cx="9648497" cy="2062200"/>
            <a:chOff x="1267809" y="4181936"/>
            <a:chExt cx="9648497" cy="2062200"/>
          </a:xfrm>
        </p:grpSpPr>
        <p:sp>
          <p:nvSpPr>
            <p:cNvPr id="15" name="TextBox 14">
              <a:extLst>
                <a:ext uri="{FF2B5EF4-FFF2-40B4-BE49-F238E27FC236}">
                  <a16:creationId xmlns:a16="http://schemas.microsoft.com/office/drawing/2014/main" id="{6C3A5053-9ABD-4421-3C22-98EF6D76A472}"/>
                </a:ext>
              </a:extLst>
            </p:cNvPr>
            <p:cNvSpPr txBox="1"/>
            <p:nvPr/>
          </p:nvSpPr>
          <p:spPr>
            <a:xfrm>
              <a:off x="3047343" y="4181936"/>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kubia-2h49c</a:t>
              </a:r>
              <a:r>
                <a:rPr lang="en-US" altLang="ko-KR" sz="1000" b="1" dirty="0"/>
                <a:t> </a:t>
              </a:r>
              <a:r>
                <a:rPr lang="en-US" altLang="ko-KR" sz="1000" b="1" dirty="0">
                  <a:solidFill>
                    <a:srgbClr val="FF0000"/>
                  </a:solidFill>
                </a:rPr>
                <a:t>-- touch /var/ready</a:t>
              </a:r>
            </a:p>
          </p:txBody>
        </p:sp>
        <p:pic>
          <p:nvPicPr>
            <p:cNvPr id="17" name="그림 16">
              <a:extLst>
                <a:ext uri="{FF2B5EF4-FFF2-40B4-BE49-F238E27FC236}">
                  <a16:creationId xmlns:a16="http://schemas.microsoft.com/office/drawing/2014/main" id="{BD40616D-2EE9-171C-26C1-E2F74A09E654}"/>
                </a:ext>
              </a:extLst>
            </p:cNvPr>
            <p:cNvPicPr>
              <a:picLocks noChangeAspect="1"/>
            </p:cNvPicPr>
            <p:nvPr/>
          </p:nvPicPr>
          <p:blipFill>
            <a:blip r:embed="rId3"/>
            <a:stretch>
              <a:fillRect/>
            </a:stretch>
          </p:blipFill>
          <p:spPr>
            <a:xfrm>
              <a:off x="1267809" y="4700376"/>
              <a:ext cx="9648497" cy="1543760"/>
            </a:xfrm>
            <a:prstGeom prst="rect">
              <a:avLst/>
            </a:prstGeom>
          </p:spPr>
        </p:pic>
        <p:sp>
          <p:nvSpPr>
            <p:cNvPr id="18" name="화살표: 아래쪽 17">
              <a:extLst>
                <a:ext uri="{FF2B5EF4-FFF2-40B4-BE49-F238E27FC236}">
                  <a16:creationId xmlns:a16="http://schemas.microsoft.com/office/drawing/2014/main" id="{BDCCE055-C2FA-156A-A035-D19871A9834F}"/>
                </a:ext>
              </a:extLst>
            </p:cNvPr>
            <p:cNvSpPr/>
            <p:nvPr/>
          </p:nvSpPr>
          <p:spPr>
            <a:xfrm>
              <a:off x="5883165" y="4454155"/>
              <a:ext cx="417786"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0" name="직사각형 19">
            <a:extLst>
              <a:ext uri="{FF2B5EF4-FFF2-40B4-BE49-F238E27FC236}">
                <a16:creationId xmlns:a16="http://schemas.microsoft.com/office/drawing/2014/main" id="{9CA05023-474B-7560-AA34-F2950912556B}"/>
              </a:ext>
            </a:extLst>
          </p:cNvPr>
          <p:cNvSpPr/>
          <p:nvPr/>
        </p:nvSpPr>
        <p:spPr>
          <a:xfrm>
            <a:off x="5368159" y="5135373"/>
            <a:ext cx="2916620" cy="1697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340439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Connections(8/12)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Observing and Modifying the Pods’ Readiness Status :</a:t>
            </a:r>
          </a:p>
          <a:p>
            <a:pPr lvl="1">
              <a:buFont typeface="Wingdings" panose="05000000000000000000" pitchFamily="2" charset="2"/>
              <a:buChar char="§"/>
            </a:pPr>
            <a:r>
              <a:rPr lang="en-US" altLang="ko-KR" sz="1400" dirty="0"/>
              <a:t>You’ve used </a:t>
            </a:r>
            <a:r>
              <a:rPr lang="en-US" altLang="ko-KR" sz="1400" b="1" dirty="0"/>
              <a:t>the “</a:t>
            </a:r>
            <a:r>
              <a:rPr lang="en-US" altLang="ko-KR" sz="1400" b="1" dirty="0" err="1"/>
              <a:t>kubectl</a:t>
            </a:r>
            <a:r>
              <a:rPr lang="en-US" altLang="ko-KR" sz="1400" b="1" dirty="0"/>
              <a:t> exec” command to execute the “touch” command inside the container of the “kubia-2h49c” pod</a:t>
            </a:r>
            <a:r>
              <a:rPr lang="en-US" altLang="ko-KR" sz="1400" dirty="0"/>
              <a:t>. The “</a:t>
            </a:r>
            <a:r>
              <a:rPr lang="en-US" altLang="ko-KR" sz="1400" b="1" dirty="0"/>
              <a:t>touch</a:t>
            </a:r>
            <a:r>
              <a:rPr lang="en-US" altLang="ko-KR" sz="1400" dirty="0"/>
              <a:t>” command creates the file if it doesn’t yet exist. The pod’s readiness probe command should now exit with status code 0, which means the probe is successful, and the pod should now be shown as ready. Let’s see if it 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8616E032-9958-05EE-0432-74D719E08C95}"/>
              </a:ext>
            </a:extLst>
          </p:cNvPr>
          <p:cNvGrpSpPr/>
          <p:nvPr/>
        </p:nvGrpSpPr>
        <p:grpSpPr>
          <a:xfrm>
            <a:off x="1210865" y="2428905"/>
            <a:ext cx="9770270" cy="1888919"/>
            <a:chOff x="1210865" y="2097830"/>
            <a:chExt cx="9770270" cy="1888919"/>
          </a:xfrm>
        </p:grpSpPr>
        <p:pic>
          <p:nvPicPr>
            <p:cNvPr id="8" name="그림 7">
              <a:extLst>
                <a:ext uri="{FF2B5EF4-FFF2-40B4-BE49-F238E27FC236}">
                  <a16:creationId xmlns:a16="http://schemas.microsoft.com/office/drawing/2014/main" id="{DC20BFC7-BD65-5E50-C5F1-EA2BEF0CBEA6}"/>
                </a:ext>
              </a:extLst>
            </p:cNvPr>
            <p:cNvPicPr>
              <a:picLocks noChangeAspect="1"/>
            </p:cNvPicPr>
            <p:nvPr/>
          </p:nvPicPr>
          <p:blipFill>
            <a:blip r:embed="rId2"/>
            <a:stretch>
              <a:fillRect/>
            </a:stretch>
          </p:blipFill>
          <p:spPr>
            <a:xfrm>
              <a:off x="1210865" y="2097830"/>
              <a:ext cx="9770270" cy="1888919"/>
            </a:xfrm>
            <a:prstGeom prst="rect">
              <a:avLst/>
            </a:prstGeom>
          </p:spPr>
        </p:pic>
        <p:sp>
          <p:nvSpPr>
            <p:cNvPr id="9" name="직사각형 8">
              <a:extLst>
                <a:ext uri="{FF2B5EF4-FFF2-40B4-BE49-F238E27FC236}">
                  <a16:creationId xmlns:a16="http://schemas.microsoft.com/office/drawing/2014/main" id="{9FA15E64-444C-F074-80BC-7859BA7A3097}"/>
                </a:ext>
              </a:extLst>
            </p:cNvPr>
            <p:cNvSpPr/>
            <p:nvPr/>
          </p:nvSpPr>
          <p:spPr>
            <a:xfrm>
              <a:off x="5376042" y="3200400"/>
              <a:ext cx="1876096"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0EE30184-70A1-2299-7962-86D6FBDC6013}"/>
                </a:ext>
              </a:extLst>
            </p:cNvPr>
            <p:cNvSpPr/>
            <p:nvPr/>
          </p:nvSpPr>
          <p:spPr>
            <a:xfrm>
              <a:off x="1308538" y="2837793"/>
              <a:ext cx="3224048" cy="1418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1485C15A-7B6D-A99A-992F-13E6F54F5141}"/>
                </a:ext>
              </a:extLst>
            </p:cNvPr>
            <p:cNvSpPr/>
            <p:nvPr/>
          </p:nvSpPr>
          <p:spPr>
            <a:xfrm>
              <a:off x="1308538" y="3528656"/>
              <a:ext cx="3224048" cy="1418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909570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Connections(9/12)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Observing and Modifying the Pods’ Readiness Status :</a:t>
            </a:r>
          </a:p>
          <a:p>
            <a:pPr lvl="1">
              <a:buFont typeface="Wingdings" panose="05000000000000000000" pitchFamily="2" charset="2"/>
              <a:buChar char="§"/>
            </a:pPr>
            <a:r>
              <a:rPr lang="en-US" altLang="ko-KR" sz="1400" b="1" dirty="0"/>
              <a:t>Take a more detailed look at the pod with “$ </a:t>
            </a:r>
            <a:r>
              <a:rPr lang="en-US" altLang="ko-KR" sz="1400" b="1" dirty="0" err="1"/>
              <a:t>kubectl</a:t>
            </a:r>
            <a:r>
              <a:rPr lang="en-US" altLang="ko-KR" sz="1400" b="1" dirty="0"/>
              <a:t> describe pod kubia-2h49c” command</a:t>
            </a:r>
            <a:r>
              <a:rPr lang="en-US" altLang="ko-KR" sz="1400" dirty="0"/>
              <a:t>. The output should contain the following line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readiness probe is checked periodically—”every 10 seconds” by default</a:t>
            </a:r>
            <a:r>
              <a:rPr lang="en-US" altLang="ko-KR" sz="1400" dirty="0"/>
              <a:t>. The pod isn’t ready because the readiness probe hasn’t been invoked yet. But in 10 seconds at the latest, the pod should become ready and its IP should be listed as the only endpoint of the service.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8CF4D481-0BA7-7F86-7E80-C071E158F33D}"/>
              </a:ext>
            </a:extLst>
          </p:cNvPr>
          <p:cNvGrpSpPr/>
          <p:nvPr/>
        </p:nvGrpSpPr>
        <p:grpSpPr>
          <a:xfrm>
            <a:off x="1070854" y="1736436"/>
            <a:ext cx="10050291" cy="3385128"/>
            <a:chOff x="1070854" y="1983031"/>
            <a:chExt cx="10050291" cy="3385128"/>
          </a:xfrm>
        </p:grpSpPr>
        <p:grpSp>
          <p:nvGrpSpPr>
            <p:cNvPr id="12" name="그룹 11">
              <a:extLst>
                <a:ext uri="{FF2B5EF4-FFF2-40B4-BE49-F238E27FC236}">
                  <a16:creationId xmlns:a16="http://schemas.microsoft.com/office/drawing/2014/main" id="{B05B3386-F417-95D1-6F3E-0A3115BD839A}"/>
                </a:ext>
              </a:extLst>
            </p:cNvPr>
            <p:cNvGrpSpPr/>
            <p:nvPr/>
          </p:nvGrpSpPr>
          <p:grpSpPr>
            <a:xfrm>
              <a:off x="1070854" y="1983031"/>
              <a:ext cx="10050291" cy="3385128"/>
              <a:chOff x="1195100" y="2310283"/>
              <a:chExt cx="11430000" cy="3639591"/>
            </a:xfrm>
          </p:grpSpPr>
          <p:grpSp>
            <p:nvGrpSpPr>
              <p:cNvPr id="10" name="그룹 9">
                <a:extLst>
                  <a:ext uri="{FF2B5EF4-FFF2-40B4-BE49-F238E27FC236}">
                    <a16:creationId xmlns:a16="http://schemas.microsoft.com/office/drawing/2014/main" id="{821670D8-08FF-9863-A18A-DA54D6C5DCCE}"/>
                  </a:ext>
                </a:extLst>
              </p:cNvPr>
              <p:cNvGrpSpPr/>
              <p:nvPr/>
            </p:nvGrpSpPr>
            <p:grpSpPr>
              <a:xfrm>
                <a:off x="1195100" y="2310283"/>
                <a:ext cx="11430000" cy="3639591"/>
                <a:chOff x="1195100" y="2310283"/>
                <a:chExt cx="11430000" cy="3639591"/>
              </a:xfrm>
            </p:grpSpPr>
            <p:pic>
              <p:nvPicPr>
                <p:cNvPr id="8" name="그림 7">
                  <a:extLst>
                    <a:ext uri="{FF2B5EF4-FFF2-40B4-BE49-F238E27FC236}">
                      <a16:creationId xmlns:a16="http://schemas.microsoft.com/office/drawing/2014/main" id="{0BD1D336-7D95-0EF9-42E3-30CC4214F76F}"/>
                    </a:ext>
                  </a:extLst>
                </p:cNvPr>
                <p:cNvPicPr>
                  <a:picLocks noChangeAspect="1"/>
                </p:cNvPicPr>
                <p:nvPr/>
              </p:nvPicPr>
              <p:blipFill>
                <a:blip r:embed="rId2"/>
                <a:stretch>
                  <a:fillRect/>
                </a:stretch>
              </p:blipFill>
              <p:spPr>
                <a:xfrm>
                  <a:off x="1195100" y="4140124"/>
                  <a:ext cx="11430000" cy="1809750"/>
                </a:xfrm>
                <a:prstGeom prst="rect">
                  <a:avLst/>
                </a:prstGeom>
              </p:spPr>
            </p:pic>
            <p:pic>
              <p:nvPicPr>
                <p:cNvPr id="9" name="그림 8">
                  <a:extLst>
                    <a:ext uri="{FF2B5EF4-FFF2-40B4-BE49-F238E27FC236}">
                      <a16:creationId xmlns:a16="http://schemas.microsoft.com/office/drawing/2014/main" id="{23D00A8F-B5BB-358C-B75D-4B2273311474}"/>
                    </a:ext>
                  </a:extLst>
                </p:cNvPr>
                <p:cNvPicPr>
                  <a:picLocks noChangeAspect="1"/>
                </p:cNvPicPr>
                <p:nvPr/>
              </p:nvPicPr>
              <p:blipFill>
                <a:blip r:embed="rId3"/>
                <a:stretch>
                  <a:fillRect/>
                </a:stretch>
              </p:blipFill>
              <p:spPr>
                <a:xfrm>
                  <a:off x="1195100" y="2310283"/>
                  <a:ext cx="11430000" cy="1809750"/>
                </a:xfrm>
                <a:prstGeom prst="rect">
                  <a:avLst/>
                </a:prstGeom>
              </p:spPr>
            </p:pic>
          </p:grpSp>
          <p:sp>
            <p:nvSpPr>
              <p:cNvPr id="11" name="직사각형 10">
                <a:extLst>
                  <a:ext uri="{FF2B5EF4-FFF2-40B4-BE49-F238E27FC236}">
                    <a16:creationId xmlns:a16="http://schemas.microsoft.com/office/drawing/2014/main" id="{0147D1D3-AB4F-3188-62BA-A91DCDE958F0}"/>
                  </a:ext>
                </a:extLst>
              </p:cNvPr>
              <p:cNvSpPr/>
              <p:nvPr/>
            </p:nvSpPr>
            <p:spPr>
              <a:xfrm>
                <a:off x="6064468" y="2829910"/>
                <a:ext cx="2514600" cy="2128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2E6BB50A-6A33-F220-9605-944DE36604F3}"/>
                </a:ext>
              </a:extLst>
            </p:cNvPr>
            <p:cNvSpPr/>
            <p:nvPr/>
          </p:nvSpPr>
          <p:spPr>
            <a:xfrm>
              <a:off x="5391806" y="4784834"/>
              <a:ext cx="5525814"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290155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Connections(10/12)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Observing and Modifying the Pods’ Readiness Status :</a:t>
            </a:r>
          </a:p>
          <a:p>
            <a:pPr lvl="1">
              <a:buFont typeface="Wingdings" panose="05000000000000000000" pitchFamily="2" charset="2"/>
              <a:buChar char="§"/>
            </a:pPr>
            <a:r>
              <a:rPr lang="en-US" altLang="ko-KR" sz="1400" dirty="0"/>
              <a:t>Run “</a:t>
            </a:r>
            <a:r>
              <a:rPr lang="en-US" altLang="ko-KR" sz="1400" b="1" dirty="0" err="1"/>
              <a:t>kubectl</a:t>
            </a:r>
            <a:r>
              <a:rPr lang="en-US" altLang="ko-KR" sz="1400" b="1" dirty="0"/>
              <a:t> get endpoints</a:t>
            </a:r>
            <a:r>
              <a:rPr lang="en-US" altLang="ko-KR" sz="1400" dirty="0"/>
              <a:t>” command to confirm that the pod is ready to service. Before you run the command, </a:t>
            </a:r>
            <a:r>
              <a:rPr lang="en-US" altLang="ko-KR" sz="1400" b="1" dirty="0"/>
              <a:t>you need to create a Service for the </a:t>
            </a:r>
            <a:r>
              <a:rPr lang="en-US" altLang="ko-KR" sz="1400" b="1" dirty="0" err="1"/>
              <a:t>kubia</a:t>
            </a:r>
            <a:r>
              <a:rPr lang="en-US" altLang="ko-KR" sz="1400" b="1" dirty="0"/>
              <a:t> pods first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To toggle the readiness probe, you can run “</a:t>
            </a:r>
            <a:r>
              <a:rPr lang="en-US" altLang="ko-KR" sz="1400" b="1" dirty="0"/>
              <a:t>$ </a:t>
            </a:r>
            <a:r>
              <a:rPr lang="en-US" altLang="ko-KR" sz="1400" b="1" dirty="0" err="1"/>
              <a:t>kubectl</a:t>
            </a:r>
            <a:r>
              <a:rPr lang="en-US" altLang="ko-KR" sz="1400" b="1" dirty="0"/>
              <a:t> exec kubia-2h49c -- rm /var/ready</a:t>
            </a:r>
            <a:r>
              <a:rPr lang="en-US" altLang="ko-KR" sz="1400" dirty="0"/>
              <a:t>” command.</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1F6FDB07-E67B-E55F-79D4-5C418F545534}"/>
              </a:ext>
            </a:extLst>
          </p:cNvPr>
          <p:cNvGrpSpPr/>
          <p:nvPr/>
        </p:nvGrpSpPr>
        <p:grpSpPr>
          <a:xfrm>
            <a:off x="1144314" y="1704303"/>
            <a:ext cx="9903372" cy="1658815"/>
            <a:chOff x="1144314" y="2051144"/>
            <a:chExt cx="9903372" cy="1658815"/>
          </a:xfrm>
        </p:grpSpPr>
        <p:grpSp>
          <p:nvGrpSpPr>
            <p:cNvPr id="11" name="그룹 10">
              <a:extLst>
                <a:ext uri="{FF2B5EF4-FFF2-40B4-BE49-F238E27FC236}">
                  <a16:creationId xmlns:a16="http://schemas.microsoft.com/office/drawing/2014/main" id="{99923A3D-78E7-6111-A3C3-3868CCC10CE4}"/>
                </a:ext>
              </a:extLst>
            </p:cNvPr>
            <p:cNvGrpSpPr/>
            <p:nvPr/>
          </p:nvGrpSpPr>
          <p:grpSpPr>
            <a:xfrm>
              <a:off x="1144314" y="2051144"/>
              <a:ext cx="9903372" cy="1658815"/>
              <a:chOff x="1144314" y="2051144"/>
              <a:chExt cx="9903372" cy="1658815"/>
            </a:xfrm>
          </p:grpSpPr>
          <p:pic>
            <p:nvPicPr>
              <p:cNvPr id="8" name="그림 7">
                <a:extLst>
                  <a:ext uri="{FF2B5EF4-FFF2-40B4-BE49-F238E27FC236}">
                    <a16:creationId xmlns:a16="http://schemas.microsoft.com/office/drawing/2014/main" id="{0BF6A384-BFCC-C862-E184-E28945E113AE}"/>
                  </a:ext>
                </a:extLst>
              </p:cNvPr>
              <p:cNvPicPr>
                <a:picLocks noChangeAspect="1"/>
              </p:cNvPicPr>
              <p:nvPr/>
            </p:nvPicPr>
            <p:blipFill>
              <a:blip r:embed="rId2"/>
              <a:stretch>
                <a:fillRect/>
              </a:stretch>
            </p:blipFill>
            <p:spPr>
              <a:xfrm>
                <a:off x="1144314" y="2051144"/>
                <a:ext cx="9903372" cy="1658815"/>
              </a:xfrm>
              <a:prstGeom prst="rect">
                <a:avLst/>
              </a:prstGeom>
            </p:spPr>
          </p:pic>
          <p:sp>
            <p:nvSpPr>
              <p:cNvPr id="9" name="직사각형 8">
                <a:extLst>
                  <a:ext uri="{FF2B5EF4-FFF2-40B4-BE49-F238E27FC236}">
                    <a16:creationId xmlns:a16="http://schemas.microsoft.com/office/drawing/2014/main" id="{748532F3-5EE6-62CD-1492-A5E8241DEA49}"/>
                  </a:ext>
                </a:extLst>
              </p:cNvPr>
              <p:cNvSpPr/>
              <p:nvPr/>
            </p:nvSpPr>
            <p:spPr>
              <a:xfrm>
                <a:off x="5344510" y="2506717"/>
                <a:ext cx="2230821"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7E30EB18-B27C-5AF0-D1E2-9206E5247A28}"/>
                  </a:ext>
                </a:extLst>
              </p:cNvPr>
              <p:cNvSpPr/>
              <p:nvPr/>
            </p:nvSpPr>
            <p:spPr>
              <a:xfrm>
                <a:off x="5344510" y="2792511"/>
                <a:ext cx="1505608"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A4271D01-C3C2-00F4-82A8-6A6A6CD982B5}"/>
                </a:ext>
              </a:extLst>
            </p:cNvPr>
            <p:cNvSpPr/>
            <p:nvPr/>
          </p:nvSpPr>
          <p:spPr>
            <a:xfrm>
              <a:off x="1198179" y="3216166"/>
              <a:ext cx="2483069"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id="{FBE45964-CDD5-206A-10B8-456DEB5FC3AA}"/>
              </a:ext>
            </a:extLst>
          </p:cNvPr>
          <p:cNvGrpSpPr/>
          <p:nvPr/>
        </p:nvGrpSpPr>
        <p:grpSpPr>
          <a:xfrm>
            <a:off x="1144314" y="3982374"/>
            <a:ext cx="9903372" cy="2327292"/>
            <a:chOff x="1144314" y="3982374"/>
            <a:chExt cx="9903372" cy="2327292"/>
          </a:xfrm>
        </p:grpSpPr>
        <p:pic>
          <p:nvPicPr>
            <p:cNvPr id="15" name="그림 14">
              <a:extLst>
                <a:ext uri="{FF2B5EF4-FFF2-40B4-BE49-F238E27FC236}">
                  <a16:creationId xmlns:a16="http://schemas.microsoft.com/office/drawing/2014/main" id="{99DCF065-E279-2D40-2356-A335BE3674F6}"/>
                </a:ext>
              </a:extLst>
            </p:cNvPr>
            <p:cNvPicPr>
              <a:picLocks noChangeAspect="1"/>
            </p:cNvPicPr>
            <p:nvPr/>
          </p:nvPicPr>
          <p:blipFill>
            <a:blip r:embed="rId3"/>
            <a:stretch>
              <a:fillRect/>
            </a:stretch>
          </p:blipFill>
          <p:spPr>
            <a:xfrm>
              <a:off x="1144314" y="3982374"/>
              <a:ext cx="9903372" cy="2327292"/>
            </a:xfrm>
            <a:prstGeom prst="rect">
              <a:avLst/>
            </a:prstGeom>
          </p:spPr>
        </p:pic>
        <p:sp>
          <p:nvSpPr>
            <p:cNvPr id="16" name="직사각형 15">
              <a:extLst>
                <a:ext uri="{FF2B5EF4-FFF2-40B4-BE49-F238E27FC236}">
                  <a16:creationId xmlns:a16="http://schemas.microsoft.com/office/drawing/2014/main" id="{B97424F0-4C8D-94B6-2F5C-0C66F50347A3}"/>
                </a:ext>
              </a:extLst>
            </p:cNvPr>
            <p:cNvSpPr/>
            <p:nvPr/>
          </p:nvSpPr>
          <p:spPr>
            <a:xfrm>
              <a:off x="5344510" y="4430110"/>
              <a:ext cx="2814145" cy="1813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597992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Connections(11/12)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Observing and Modifying the Pods’ Readiness Status :</a:t>
            </a:r>
          </a:p>
          <a:p>
            <a:pPr lvl="1">
              <a:buFont typeface="Wingdings" panose="05000000000000000000" pitchFamily="2" charset="2"/>
              <a:buChar char="§"/>
            </a:pPr>
            <a:r>
              <a:rPr lang="en-US" altLang="ko-KR" sz="1400" dirty="0"/>
              <a:t>After the deleting “</a:t>
            </a:r>
            <a:r>
              <a:rPr lang="en-US" altLang="ko-KR" sz="1400" b="1" dirty="0"/>
              <a:t>/var/ready</a:t>
            </a:r>
            <a:r>
              <a:rPr lang="en-US" altLang="ko-KR" sz="1400" dirty="0"/>
              <a:t>” file, 10 seconds(default) later, you can find the pod status with “</a:t>
            </a:r>
            <a:r>
              <a:rPr lang="en-US" altLang="ko-KR" sz="1400" b="1" dirty="0"/>
              <a:t>$ </a:t>
            </a:r>
            <a:r>
              <a:rPr lang="en-US" altLang="ko-KR" sz="1400" b="1" dirty="0" err="1"/>
              <a:t>kubectl</a:t>
            </a:r>
            <a:r>
              <a:rPr lang="en-US" altLang="ko-KR" sz="1400" b="1" dirty="0"/>
              <a:t> get pods</a:t>
            </a:r>
            <a:r>
              <a:rPr lang="en-US" altLang="ko-KR" sz="1400" dirty="0"/>
              <a:t>” command and list the endpoints with “</a:t>
            </a:r>
            <a:r>
              <a:rPr lang="en-US" altLang="ko-KR" sz="1400" b="1" dirty="0"/>
              <a:t>$ </a:t>
            </a:r>
            <a:r>
              <a:rPr lang="en-US" altLang="ko-KR" sz="1400" b="1" dirty="0" err="1"/>
              <a:t>kubectl</a:t>
            </a:r>
            <a:r>
              <a:rPr lang="en-US" altLang="ko-KR" sz="1400" b="1" dirty="0"/>
              <a:t> get endpoints</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can enable again the readiness probe in the same pods as above screenshot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D9B877F2-C227-C764-103C-F5DED9AE7424}"/>
              </a:ext>
            </a:extLst>
          </p:cNvPr>
          <p:cNvGrpSpPr/>
          <p:nvPr/>
        </p:nvGrpSpPr>
        <p:grpSpPr>
          <a:xfrm>
            <a:off x="1116724" y="1608082"/>
            <a:ext cx="9958552" cy="4243786"/>
            <a:chOff x="1116724" y="1608082"/>
            <a:chExt cx="9958552" cy="4243786"/>
          </a:xfrm>
        </p:grpSpPr>
        <p:grpSp>
          <p:nvGrpSpPr>
            <p:cNvPr id="15" name="그룹 14">
              <a:extLst>
                <a:ext uri="{FF2B5EF4-FFF2-40B4-BE49-F238E27FC236}">
                  <a16:creationId xmlns:a16="http://schemas.microsoft.com/office/drawing/2014/main" id="{6FAF1B5B-47A1-36B9-80A7-D413AFDACD50}"/>
                </a:ext>
              </a:extLst>
            </p:cNvPr>
            <p:cNvGrpSpPr/>
            <p:nvPr/>
          </p:nvGrpSpPr>
          <p:grpSpPr>
            <a:xfrm>
              <a:off x="1116724" y="1608082"/>
              <a:ext cx="9958552" cy="4243786"/>
              <a:chOff x="838199" y="2133093"/>
              <a:chExt cx="10515601" cy="4491286"/>
            </a:xfrm>
          </p:grpSpPr>
          <p:grpSp>
            <p:nvGrpSpPr>
              <p:cNvPr id="12" name="그룹 11">
                <a:extLst>
                  <a:ext uri="{FF2B5EF4-FFF2-40B4-BE49-F238E27FC236}">
                    <a16:creationId xmlns:a16="http://schemas.microsoft.com/office/drawing/2014/main" id="{F1B94156-E417-D729-B222-713117AB7A8A}"/>
                  </a:ext>
                </a:extLst>
              </p:cNvPr>
              <p:cNvGrpSpPr/>
              <p:nvPr/>
            </p:nvGrpSpPr>
            <p:grpSpPr>
              <a:xfrm>
                <a:off x="838199" y="2133093"/>
                <a:ext cx="10515601" cy="2217039"/>
                <a:chOff x="838199" y="2133093"/>
                <a:chExt cx="10515601" cy="2217039"/>
              </a:xfrm>
            </p:grpSpPr>
            <p:pic>
              <p:nvPicPr>
                <p:cNvPr id="8" name="그림 7">
                  <a:extLst>
                    <a:ext uri="{FF2B5EF4-FFF2-40B4-BE49-F238E27FC236}">
                      <a16:creationId xmlns:a16="http://schemas.microsoft.com/office/drawing/2014/main" id="{9BFFB521-0058-88C4-C2BE-6B7273EE491E}"/>
                    </a:ext>
                  </a:extLst>
                </p:cNvPr>
                <p:cNvPicPr>
                  <a:picLocks noChangeAspect="1"/>
                </p:cNvPicPr>
                <p:nvPr/>
              </p:nvPicPr>
              <p:blipFill>
                <a:blip r:embed="rId2"/>
                <a:stretch>
                  <a:fillRect/>
                </a:stretch>
              </p:blipFill>
              <p:spPr>
                <a:xfrm>
                  <a:off x="838199" y="2133093"/>
                  <a:ext cx="10515601" cy="2217039"/>
                </a:xfrm>
                <a:prstGeom prst="rect">
                  <a:avLst/>
                </a:prstGeom>
              </p:spPr>
            </p:pic>
            <p:sp>
              <p:nvSpPr>
                <p:cNvPr id="10" name="직사각형 9">
                  <a:extLst>
                    <a:ext uri="{FF2B5EF4-FFF2-40B4-BE49-F238E27FC236}">
                      <a16:creationId xmlns:a16="http://schemas.microsoft.com/office/drawing/2014/main" id="{EF3A9B84-9F05-1AFA-72A8-5340C0E17E9E}"/>
                    </a:ext>
                  </a:extLst>
                </p:cNvPr>
                <p:cNvSpPr/>
                <p:nvPr/>
              </p:nvSpPr>
              <p:spPr>
                <a:xfrm>
                  <a:off x="938049" y="2932386"/>
                  <a:ext cx="3358055"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1C2325A0-C2E9-FE54-62A7-5DECE7867408}"/>
                    </a:ext>
                  </a:extLst>
                </p:cNvPr>
                <p:cNvSpPr/>
                <p:nvPr/>
              </p:nvSpPr>
              <p:spPr>
                <a:xfrm>
                  <a:off x="938048" y="3842036"/>
                  <a:ext cx="2643352"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C2126944-13B0-EA37-A168-ECE8413D1F6F}"/>
                  </a:ext>
                </a:extLst>
              </p:cNvPr>
              <p:cNvPicPr>
                <a:picLocks noChangeAspect="1"/>
              </p:cNvPicPr>
              <p:nvPr/>
            </p:nvPicPr>
            <p:blipFill>
              <a:blip r:embed="rId3"/>
              <a:stretch>
                <a:fillRect/>
              </a:stretch>
            </p:blipFill>
            <p:spPr>
              <a:xfrm>
                <a:off x="838200" y="4459918"/>
                <a:ext cx="10515600" cy="2164461"/>
              </a:xfrm>
              <a:prstGeom prst="rect">
                <a:avLst/>
              </a:prstGeom>
            </p:spPr>
          </p:pic>
        </p:grpSp>
        <p:sp>
          <p:nvSpPr>
            <p:cNvPr id="16" name="직사각형 15">
              <a:extLst>
                <a:ext uri="{FF2B5EF4-FFF2-40B4-BE49-F238E27FC236}">
                  <a16:creationId xmlns:a16="http://schemas.microsoft.com/office/drawing/2014/main" id="{F754EDE5-7D40-48BF-4A12-B31C8B8B55DC}"/>
                </a:ext>
              </a:extLst>
            </p:cNvPr>
            <p:cNvSpPr/>
            <p:nvPr/>
          </p:nvSpPr>
          <p:spPr>
            <a:xfrm>
              <a:off x="1203401" y="4544506"/>
              <a:ext cx="3171530" cy="1693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A2B4EC7C-C194-260F-1EBB-55902E8E9EED}"/>
                </a:ext>
              </a:extLst>
            </p:cNvPr>
            <p:cNvSpPr/>
            <p:nvPr/>
          </p:nvSpPr>
          <p:spPr>
            <a:xfrm>
              <a:off x="1203401" y="5391807"/>
              <a:ext cx="2572440" cy="1693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698600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Signaling When a Pod is Ready to Accept Connections(12/12)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Real-World Readiness Probes Should Do :</a:t>
            </a:r>
          </a:p>
          <a:p>
            <a:pPr lvl="1">
              <a:buFont typeface="Wingdings" panose="05000000000000000000" pitchFamily="2" charset="2"/>
              <a:buChar char="§"/>
            </a:pPr>
            <a:r>
              <a:rPr lang="en-US" altLang="ko-KR" sz="1400" b="1" dirty="0"/>
              <a:t>In the real world, the readiness probe should return success or failure depending on whether the app can (and wants to) receive client requests or not</a:t>
            </a:r>
            <a:r>
              <a:rPr lang="en-US" altLang="ko-KR" sz="1400" dirty="0"/>
              <a:t>.</a:t>
            </a:r>
          </a:p>
          <a:p>
            <a:pPr lvl="1">
              <a:buFont typeface="Wingdings" panose="05000000000000000000" pitchFamily="2" charset="2"/>
              <a:buChar char="§"/>
            </a:pPr>
            <a:r>
              <a:rPr lang="en-US" altLang="ko-KR" sz="1400" b="1" dirty="0"/>
              <a:t>Manually removing pods from services should be performed by either deleting the pod or changing the pod’s labels</a:t>
            </a:r>
            <a:r>
              <a:rPr lang="en-US" altLang="ko-KR" sz="1400" dirty="0"/>
              <a:t> instead of manually flipping a switch in the probe. Remove the label when you want to remove the pod from the service.</a:t>
            </a:r>
          </a:p>
          <a:p>
            <a:pPr lvl="1">
              <a:buFont typeface="Wingdings" panose="05000000000000000000" pitchFamily="2" charset="2"/>
              <a:buChar char="§"/>
            </a:pPr>
            <a:r>
              <a:rPr lang="en-US" altLang="ko-KR" sz="1400" b="1" dirty="0"/>
              <a:t>TIP : If you want to add or remove a pod from a service manually, add “</a:t>
            </a:r>
            <a:r>
              <a:rPr lang="en-US" altLang="ko-KR" sz="1400" b="1" dirty="0">
                <a:solidFill>
                  <a:srgbClr val="FF0000"/>
                </a:solidFill>
              </a:rPr>
              <a:t>enabled=true</a:t>
            </a:r>
            <a:r>
              <a:rPr lang="en-US" altLang="ko-KR" sz="1400" b="1" dirty="0"/>
              <a:t>” as a label to your pod and to the label selector of your service</a:t>
            </a:r>
            <a:r>
              <a:rPr lang="en-US" altLang="ko-KR" sz="1400" dirty="0"/>
              <a:t>.</a:t>
            </a:r>
          </a:p>
          <a:p>
            <a:pPr lvl="1">
              <a:buFont typeface="Wingdings" panose="05000000000000000000" pitchFamily="2" charset="2"/>
              <a:buChar char="§"/>
            </a:pPr>
            <a:r>
              <a:rPr lang="en-US" altLang="ko-KR" sz="1400" b="1" dirty="0"/>
              <a:t>NOTE : If you don’t add a readiness probe to your pods, they’ll become service endpoints almost immediately</a:t>
            </a:r>
            <a:r>
              <a:rPr lang="en-US" altLang="ko-KR" sz="1400" dirty="0"/>
              <a:t>. If your application takes too long to start listening for incoming connections, client requests hitting the service will be forwarded to the pod while it’s still starting up and not ready to accept incoming connections. Clients will therefore see “</a:t>
            </a:r>
            <a:r>
              <a:rPr lang="en-US" altLang="ko-KR" sz="1400" b="1" dirty="0"/>
              <a:t>Connection refused</a:t>
            </a:r>
            <a:r>
              <a:rPr lang="en-US" altLang="ko-KR" sz="1400" dirty="0"/>
              <a:t>” types of errors. </a:t>
            </a:r>
          </a:p>
          <a:p>
            <a:pPr lvl="1">
              <a:buFont typeface="Wingdings" panose="05000000000000000000" pitchFamily="2" charset="2"/>
              <a:buChar char="§"/>
            </a:pPr>
            <a:r>
              <a:rPr lang="en-US" altLang="ko-KR" sz="1400" b="1" dirty="0"/>
              <a:t>TIP : You should </a:t>
            </a:r>
            <a:r>
              <a:rPr lang="en-US" altLang="ko-KR" sz="1400" b="1" dirty="0">
                <a:solidFill>
                  <a:srgbClr val="FF0000"/>
                </a:solidFill>
              </a:rPr>
              <a:t>always define a readiness probe</a:t>
            </a:r>
            <a:r>
              <a:rPr lang="en-US" altLang="ko-KR" sz="1400" dirty="0"/>
              <a:t>, even if it’s as simple as sending an HTTP request to the base URL.</a:t>
            </a:r>
          </a:p>
          <a:p>
            <a:pPr lvl="1">
              <a:buFont typeface="Wingdings" panose="05000000000000000000" pitchFamily="2" charset="2"/>
              <a:buChar char="§"/>
            </a:pPr>
            <a:r>
              <a:rPr lang="en-US" altLang="ko-KR" sz="1400" b="1" dirty="0"/>
              <a:t>The other thing applies to the other end of the pod’s life (pod shutdown) and is also related to clients experiencing connection errors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B512045-0045-919A-5886-699CF320A0FC}"/>
              </a:ext>
            </a:extLst>
          </p:cNvPr>
          <p:cNvPicPr>
            <a:picLocks noChangeAspect="1"/>
          </p:cNvPicPr>
          <p:nvPr/>
        </p:nvPicPr>
        <p:blipFill>
          <a:blip r:embed="rId2"/>
          <a:stretch>
            <a:fillRect/>
          </a:stretch>
        </p:blipFill>
        <p:spPr>
          <a:xfrm>
            <a:off x="7819696" y="4042927"/>
            <a:ext cx="3534103" cy="2366103"/>
          </a:xfrm>
          <a:prstGeom prst="rect">
            <a:avLst/>
          </a:prstGeom>
        </p:spPr>
      </p:pic>
      <p:sp>
        <p:nvSpPr>
          <p:cNvPr id="9" name="TextBox 8">
            <a:extLst>
              <a:ext uri="{FF2B5EF4-FFF2-40B4-BE49-F238E27FC236}">
                <a16:creationId xmlns:a16="http://schemas.microsoft.com/office/drawing/2014/main" id="{254F584C-06F8-A9D1-43BF-BA84B29E1518}"/>
              </a:ext>
            </a:extLst>
          </p:cNvPr>
          <p:cNvSpPr txBox="1"/>
          <p:nvPr/>
        </p:nvSpPr>
        <p:spPr>
          <a:xfrm>
            <a:off x="838199" y="4156610"/>
            <a:ext cx="6981496" cy="1449628"/>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When a pod is being shut down, the app running in it usually stops accepting connections as soon as it receives the termination signal</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Because of this, you might think you need to make your readiness probe start failing as soon as the shutdown procedure is initiated, ensuring the pod is removed from all services it’s part of. But that’s not necessary,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because Kubernetes removes the pod from all services as soon as you delete the pod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23451393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Headless Service for Discovering Individual Pods(1/7)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DNS Lookups :</a:t>
            </a:r>
          </a:p>
          <a:p>
            <a:pPr lvl="1">
              <a:buFont typeface="Wingdings" panose="05000000000000000000" pitchFamily="2" charset="2"/>
              <a:buChar char="§"/>
            </a:pPr>
            <a:r>
              <a:rPr lang="en-US" altLang="ko-KR" sz="1400" b="1" dirty="0"/>
              <a:t>Services can be used to provide a stable IP address allowing clients to connect to pods (or other endpoints) backing each service</a:t>
            </a:r>
            <a:r>
              <a:rPr lang="en-US" altLang="ko-KR" sz="1400" dirty="0"/>
              <a:t>. Each connection to the service is </a:t>
            </a:r>
            <a:r>
              <a:rPr lang="en-US" altLang="ko-KR" sz="1400" b="1" dirty="0"/>
              <a:t>forwarded to one randomly selected backing pod</a:t>
            </a:r>
            <a:r>
              <a:rPr lang="en-US" altLang="ko-KR" sz="1400" dirty="0"/>
              <a:t>. But what if the client needs to connect to all of those pods? What if the backing pods themselves need to each connect to all the other backing pods? Connecting through the service clearly isn’t the way to do this. </a:t>
            </a:r>
          </a:p>
          <a:p>
            <a:pPr lvl="1">
              <a:buFont typeface="Wingdings" panose="05000000000000000000" pitchFamily="2" charset="2"/>
              <a:buChar char="§"/>
            </a:pPr>
            <a:r>
              <a:rPr lang="en-US" altLang="ko-KR" sz="1400" b="1" dirty="0"/>
              <a:t>For a client to connect to all pods, it needs to figure out the IP of each individual pod</a:t>
            </a:r>
            <a:r>
              <a:rPr lang="en-US" altLang="ko-KR" sz="1400" dirty="0"/>
              <a:t>. </a:t>
            </a:r>
            <a:r>
              <a:rPr lang="en-US" altLang="ko-KR" sz="1400" b="1" dirty="0"/>
              <a:t>One option is to have the client call the Kubernetes API server and get the list of pods and their IP addresses through an API call</a:t>
            </a:r>
            <a:r>
              <a:rPr lang="en-US" altLang="ko-KR" sz="1400" dirty="0"/>
              <a:t>, but because you should always strive to keep your apps “</a:t>
            </a:r>
            <a:r>
              <a:rPr lang="en-US" altLang="ko-KR" sz="1400" b="1" dirty="0"/>
              <a:t>Kubernetes-agnostic</a:t>
            </a:r>
            <a:r>
              <a:rPr lang="en-US" altLang="ko-KR" sz="1400" dirty="0"/>
              <a:t>”, using the API server isn’t ideal.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039F8A6-7DC3-DBC0-558D-620E80E58563}"/>
              </a:ext>
            </a:extLst>
          </p:cNvPr>
          <p:cNvSpPr txBox="1"/>
          <p:nvPr/>
        </p:nvSpPr>
        <p:spPr>
          <a:xfrm>
            <a:off x="838200" y="2551010"/>
            <a:ext cx="5822731" cy="3064942"/>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Kubernetes allows clients to discover pod IPs through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DNS lookups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Usually, when you perform a DNS lookup for a service, the DNS server returns a single IP—</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the service’s cluster IP</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But if you tell Kubernetes you don’t need a cluster IP for your service (you do this by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setting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clusterIP</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field to “None” in the service specification</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DNS server will return the pod IPs instead of the single service IP</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Instead of returning a single DNS A record, the DNS server will return multiple A records for the service, each pointing to the IP of an individual pod backing the service at that moment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Clients can therefore do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 simple DNS A record lookup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and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get the IPs of all the pods that are part of the service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client can then use that information to connect to one, many, or all of them.</a:t>
            </a:r>
          </a:p>
        </p:txBody>
      </p:sp>
      <p:grpSp>
        <p:nvGrpSpPr>
          <p:cNvPr id="12" name="그룹 11">
            <a:extLst>
              <a:ext uri="{FF2B5EF4-FFF2-40B4-BE49-F238E27FC236}">
                <a16:creationId xmlns:a16="http://schemas.microsoft.com/office/drawing/2014/main" id="{FAA04682-72FC-9802-5D44-26BA7A72990E}"/>
              </a:ext>
            </a:extLst>
          </p:cNvPr>
          <p:cNvGrpSpPr/>
          <p:nvPr/>
        </p:nvGrpSpPr>
        <p:grpSpPr>
          <a:xfrm>
            <a:off x="6660931" y="2597694"/>
            <a:ext cx="4692869" cy="3811336"/>
            <a:chOff x="6660931" y="2597694"/>
            <a:chExt cx="4692869" cy="3811336"/>
          </a:xfrm>
        </p:grpSpPr>
        <p:pic>
          <p:nvPicPr>
            <p:cNvPr id="8" name="그림 7">
              <a:extLst>
                <a:ext uri="{FF2B5EF4-FFF2-40B4-BE49-F238E27FC236}">
                  <a16:creationId xmlns:a16="http://schemas.microsoft.com/office/drawing/2014/main" id="{32FEFED6-CB62-9233-8DAF-9B4531690915}"/>
                </a:ext>
              </a:extLst>
            </p:cNvPr>
            <p:cNvPicPr>
              <a:picLocks noChangeAspect="1"/>
            </p:cNvPicPr>
            <p:nvPr/>
          </p:nvPicPr>
          <p:blipFill>
            <a:blip r:embed="rId2"/>
            <a:stretch>
              <a:fillRect/>
            </a:stretch>
          </p:blipFill>
          <p:spPr>
            <a:xfrm>
              <a:off x="6660931" y="2597694"/>
              <a:ext cx="4692869" cy="3811336"/>
            </a:xfrm>
            <a:prstGeom prst="rect">
              <a:avLst/>
            </a:prstGeom>
          </p:spPr>
        </p:pic>
        <p:sp>
          <p:nvSpPr>
            <p:cNvPr id="11" name="직사각형 10">
              <a:extLst>
                <a:ext uri="{FF2B5EF4-FFF2-40B4-BE49-F238E27FC236}">
                  <a16:creationId xmlns:a16="http://schemas.microsoft.com/office/drawing/2014/main" id="{A52A4860-2B2A-4F0E-F562-21B331817924}"/>
                </a:ext>
              </a:extLst>
            </p:cNvPr>
            <p:cNvSpPr/>
            <p:nvPr/>
          </p:nvSpPr>
          <p:spPr>
            <a:xfrm>
              <a:off x="8671560" y="2750820"/>
              <a:ext cx="716280" cy="2209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0518041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Headless Service for Discovering Individual Pods(2/7)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Creating a Headless Service :</a:t>
            </a:r>
          </a:p>
          <a:p>
            <a:pPr lvl="1">
              <a:buFont typeface="Wingdings" panose="05000000000000000000" pitchFamily="2" charset="2"/>
              <a:buChar char="§"/>
            </a:pPr>
            <a:r>
              <a:rPr lang="en-US" altLang="ko-KR" sz="1400" b="1" dirty="0"/>
              <a:t>Setting the “</a:t>
            </a:r>
            <a:r>
              <a:rPr lang="en-US" altLang="ko-KR" sz="1400" b="1" dirty="0" err="1">
                <a:solidFill>
                  <a:srgbClr val="FF0000"/>
                </a:solidFill>
              </a:rPr>
              <a:t>clusterIP</a:t>
            </a:r>
            <a:r>
              <a:rPr lang="en-US" altLang="ko-KR" sz="1400" b="1" dirty="0"/>
              <a:t>” field in a service spec to “</a:t>
            </a:r>
            <a:r>
              <a:rPr lang="en-US" altLang="ko-KR" sz="1400" b="1" dirty="0">
                <a:solidFill>
                  <a:srgbClr val="FF0000"/>
                </a:solidFill>
              </a:rPr>
              <a:t>None</a:t>
            </a:r>
            <a:r>
              <a:rPr lang="en-US" altLang="ko-KR" sz="1400" b="1" dirty="0"/>
              <a:t>” makes the service headless, as Kubernetes won’t assign it a cluster IP</a:t>
            </a:r>
            <a:r>
              <a:rPr lang="en-US" altLang="ko-KR" sz="1400" dirty="0"/>
              <a:t> through which clients could connect to the pods backing it.</a:t>
            </a:r>
          </a:p>
          <a:p>
            <a:pPr lvl="1">
              <a:buFont typeface="Wingdings" panose="05000000000000000000" pitchFamily="2" charset="2"/>
              <a:buChar char="§"/>
            </a:pPr>
            <a:r>
              <a:rPr lang="en-US" altLang="ko-KR" sz="1400" dirty="0"/>
              <a:t>You’ll </a:t>
            </a:r>
            <a:r>
              <a:rPr lang="en-US" altLang="ko-KR" sz="1400" b="1" dirty="0"/>
              <a:t>create a headless service called “</a:t>
            </a:r>
            <a:r>
              <a:rPr lang="en-US" altLang="ko-KR" sz="1400" b="1" dirty="0" err="1"/>
              <a:t>kubia</a:t>
            </a:r>
            <a:r>
              <a:rPr lang="en-US" altLang="ko-KR" sz="1400" b="1" dirty="0"/>
              <a:t>-headless” </a:t>
            </a:r>
            <a:r>
              <a:rPr lang="en-US" altLang="ko-KR" sz="1400" dirty="0"/>
              <a:t>now. The following listing shows its definition.</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28FF493-F1F4-0FE5-5899-08465CA89881}"/>
              </a:ext>
            </a:extLst>
          </p:cNvPr>
          <p:cNvGrpSpPr/>
          <p:nvPr/>
        </p:nvGrpSpPr>
        <p:grpSpPr>
          <a:xfrm>
            <a:off x="1289488" y="2471703"/>
            <a:ext cx="9613024" cy="1914594"/>
            <a:chOff x="1289488" y="2077201"/>
            <a:chExt cx="9613024" cy="1914594"/>
          </a:xfrm>
        </p:grpSpPr>
        <p:pic>
          <p:nvPicPr>
            <p:cNvPr id="8" name="그림 7">
              <a:extLst>
                <a:ext uri="{FF2B5EF4-FFF2-40B4-BE49-F238E27FC236}">
                  <a16:creationId xmlns:a16="http://schemas.microsoft.com/office/drawing/2014/main" id="{21B55F18-86FF-F662-E680-CDB25AF9E023}"/>
                </a:ext>
              </a:extLst>
            </p:cNvPr>
            <p:cNvPicPr>
              <a:picLocks noChangeAspect="1"/>
            </p:cNvPicPr>
            <p:nvPr/>
          </p:nvPicPr>
          <p:blipFill>
            <a:blip r:embed="rId2"/>
            <a:stretch>
              <a:fillRect/>
            </a:stretch>
          </p:blipFill>
          <p:spPr>
            <a:xfrm>
              <a:off x="1289488" y="2077201"/>
              <a:ext cx="9613024" cy="1914594"/>
            </a:xfrm>
            <a:prstGeom prst="rect">
              <a:avLst/>
            </a:prstGeom>
          </p:spPr>
        </p:pic>
        <p:sp>
          <p:nvSpPr>
            <p:cNvPr id="9" name="직사각형 8">
              <a:extLst>
                <a:ext uri="{FF2B5EF4-FFF2-40B4-BE49-F238E27FC236}">
                  <a16:creationId xmlns:a16="http://schemas.microsoft.com/office/drawing/2014/main" id="{E9337B88-52E1-78BD-E080-CDE95FD755AA}"/>
                </a:ext>
              </a:extLst>
            </p:cNvPr>
            <p:cNvSpPr/>
            <p:nvPr/>
          </p:nvSpPr>
          <p:spPr>
            <a:xfrm>
              <a:off x="5368159" y="2498834"/>
              <a:ext cx="3129455" cy="204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B0B176D-E30F-3950-E6E2-C027C8EF484A}"/>
                </a:ext>
              </a:extLst>
            </p:cNvPr>
            <p:cNvSpPr/>
            <p:nvPr/>
          </p:nvSpPr>
          <p:spPr>
            <a:xfrm>
              <a:off x="5368159" y="2774730"/>
              <a:ext cx="2790496" cy="204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E78B3E08-3270-7810-0D98-87A5F74B9FDB}"/>
                </a:ext>
              </a:extLst>
            </p:cNvPr>
            <p:cNvSpPr/>
            <p:nvPr/>
          </p:nvSpPr>
          <p:spPr>
            <a:xfrm>
              <a:off x="1387366" y="3484179"/>
              <a:ext cx="4524703" cy="1418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16562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Headless Service for Discovering Individual Pods(3/7)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Headless Service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After you create the service with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create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command, you can inspect it with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get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describe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commands.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You’ll see it has no cluster IP and its endpoints include (part of) the pods matching its pod selector. Because your pods contain a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readiness probe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so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only pods that are ready will be listed as endpoints of the service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Before continuing, please make sure at least two pods report being ready, by creating the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/var/ready</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file, as in the previous example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1FCAAD6-5C72-6A46-0DC5-F1220A846EA2}"/>
              </a:ext>
            </a:extLst>
          </p:cNvPr>
          <p:cNvSpPr txBox="1"/>
          <p:nvPr/>
        </p:nvSpPr>
        <p:spPr>
          <a:xfrm>
            <a:off x="3047343" y="2243223"/>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&lt;pod name&gt; -- touch /var/ready</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8D266E1B-580E-DB07-58FD-F6F1B2E08FE4}"/>
              </a:ext>
            </a:extLst>
          </p:cNvPr>
          <p:cNvSpPr/>
          <p:nvPr/>
        </p:nvSpPr>
        <p:spPr>
          <a:xfrm>
            <a:off x="5879224" y="2502881"/>
            <a:ext cx="433552" cy="2758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0AA2B3BB-36D6-EC2F-DECC-A2603FA56B9F}"/>
              </a:ext>
            </a:extLst>
          </p:cNvPr>
          <p:cNvGrpSpPr/>
          <p:nvPr/>
        </p:nvGrpSpPr>
        <p:grpSpPr>
          <a:xfrm>
            <a:off x="1341383" y="2778778"/>
            <a:ext cx="9509234" cy="3228591"/>
            <a:chOff x="1341383" y="2778778"/>
            <a:chExt cx="9509234" cy="3228591"/>
          </a:xfrm>
        </p:grpSpPr>
        <p:grpSp>
          <p:nvGrpSpPr>
            <p:cNvPr id="14" name="그룹 13">
              <a:extLst>
                <a:ext uri="{FF2B5EF4-FFF2-40B4-BE49-F238E27FC236}">
                  <a16:creationId xmlns:a16="http://schemas.microsoft.com/office/drawing/2014/main" id="{68700F14-8917-892E-D56D-078911FE1CEA}"/>
                </a:ext>
              </a:extLst>
            </p:cNvPr>
            <p:cNvGrpSpPr/>
            <p:nvPr/>
          </p:nvGrpSpPr>
          <p:grpSpPr>
            <a:xfrm>
              <a:off x="1341383" y="2778778"/>
              <a:ext cx="9509234" cy="3228591"/>
              <a:chOff x="1341383" y="2778778"/>
              <a:chExt cx="9509234" cy="3228591"/>
            </a:xfrm>
          </p:grpSpPr>
          <p:pic>
            <p:nvPicPr>
              <p:cNvPr id="11" name="그림 10">
                <a:extLst>
                  <a:ext uri="{FF2B5EF4-FFF2-40B4-BE49-F238E27FC236}">
                    <a16:creationId xmlns:a16="http://schemas.microsoft.com/office/drawing/2014/main" id="{8710C854-696A-4397-47F2-3CE810ABC5E4}"/>
                  </a:ext>
                </a:extLst>
              </p:cNvPr>
              <p:cNvPicPr>
                <a:picLocks noChangeAspect="1"/>
              </p:cNvPicPr>
              <p:nvPr/>
            </p:nvPicPr>
            <p:blipFill>
              <a:blip r:embed="rId2"/>
              <a:stretch>
                <a:fillRect/>
              </a:stretch>
            </p:blipFill>
            <p:spPr>
              <a:xfrm>
                <a:off x="1341383" y="2778778"/>
                <a:ext cx="9509234" cy="1695813"/>
              </a:xfrm>
              <a:prstGeom prst="rect">
                <a:avLst/>
              </a:prstGeom>
            </p:spPr>
          </p:pic>
          <p:pic>
            <p:nvPicPr>
              <p:cNvPr id="13" name="그림 12">
                <a:extLst>
                  <a:ext uri="{FF2B5EF4-FFF2-40B4-BE49-F238E27FC236}">
                    <a16:creationId xmlns:a16="http://schemas.microsoft.com/office/drawing/2014/main" id="{7B320975-0A3B-6384-FDDD-D93300C0EB58}"/>
                  </a:ext>
                </a:extLst>
              </p:cNvPr>
              <p:cNvPicPr>
                <a:picLocks noChangeAspect="1"/>
              </p:cNvPicPr>
              <p:nvPr/>
            </p:nvPicPr>
            <p:blipFill>
              <a:blip r:embed="rId3"/>
              <a:stretch>
                <a:fillRect/>
              </a:stretch>
            </p:blipFill>
            <p:spPr>
              <a:xfrm>
                <a:off x="1341383" y="4493816"/>
                <a:ext cx="9509234" cy="1513553"/>
              </a:xfrm>
              <a:prstGeom prst="rect">
                <a:avLst/>
              </a:prstGeom>
            </p:spPr>
          </p:pic>
        </p:grpSp>
        <p:sp>
          <p:nvSpPr>
            <p:cNvPr id="15" name="직사각형 14">
              <a:extLst>
                <a:ext uri="{FF2B5EF4-FFF2-40B4-BE49-F238E27FC236}">
                  <a16:creationId xmlns:a16="http://schemas.microsoft.com/office/drawing/2014/main" id="{23B46339-D433-BE48-B431-17D5D65E6BF5}"/>
                </a:ext>
              </a:extLst>
            </p:cNvPr>
            <p:cNvSpPr/>
            <p:nvPr/>
          </p:nvSpPr>
          <p:spPr>
            <a:xfrm>
              <a:off x="5376041" y="3854669"/>
              <a:ext cx="2908738" cy="3547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527384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Headless Service for Discovering Individual Pods(4/7)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Discovering Pods Through DNS :</a:t>
            </a:r>
          </a:p>
          <a:p>
            <a:pPr lvl="1">
              <a:buFont typeface="Wingdings" panose="05000000000000000000" pitchFamily="2" charset="2"/>
              <a:buChar char="§"/>
            </a:pPr>
            <a:r>
              <a:rPr lang="en-US" altLang="ko-KR" sz="1400" b="1" dirty="0"/>
              <a:t>With your pods ready, you can now try performing a DNS lookup to see if you get the actual pod IPs or not</a:t>
            </a:r>
            <a:r>
              <a:rPr lang="en-US" altLang="ko-KR" sz="1400" dirty="0"/>
              <a:t>. You’ll need to </a:t>
            </a:r>
            <a:r>
              <a:rPr lang="en-US" altLang="ko-KR" sz="1400" b="1" dirty="0"/>
              <a:t>perform the lookup from inside one of the pods</a:t>
            </a:r>
            <a:r>
              <a:rPr lang="en-US" altLang="ko-KR" sz="1400" dirty="0"/>
              <a:t>. Unfortunately, your </a:t>
            </a:r>
            <a:r>
              <a:rPr lang="en-US" altLang="ko-KR" sz="1400" dirty="0" err="1"/>
              <a:t>kubia</a:t>
            </a:r>
            <a:r>
              <a:rPr lang="en-US" altLang="ko-KR" sz="1400" dirty="0"/>
              <a:t> container image doesn’t include the “</a:t>
            </a:r>
            <a:r>
              <a:rPr lang="en-US" altLang="ko-KR" sz="1400" b="1" dirty="0" err="1"/>
              <a:t>nslookup</a:t>
            </a:r>
            <a:r>
              <a:rPr lang="en-US" altLang="ko-KR" sz="1400" dirty="0"/>
              <a:t>” (or the “</a:t>
            </a:r>
            <a:r>
              <a:rPr lang="en-US" altLang="ko-KR" sz="1400" b="1" dirty="0"/>
              <a:t>dig”</a:t>
            </a:r>
            <a:r>
              <a:rPr lang="en-US" altLang="ko-KR" sz="1400" dirty="0"/>
              <a:t>) binary, so you can’t use it to perform the DNS lookup.</a:t>
            </a:r>
          </a:p>
          <a:p>
            <a:pPr lvl="1">
              <a:buFont typeface="Wingdings" panose="05000000000000000000" pitchFamily="2" charset="2"/>
              <a:buChar char="§"/>
            </a:pPr>
            <a:r>
              <a:rPr lang="en-US" altLang="ko-KR" sz="1400" b="1" dirty="0"/>
              <a:t>All you’re trying to do is perform a DNS lookup from inside a pod running in the cluster</a:t>
            </a:r>
            <a:r>
              <a:rPr lang="en-US" altLang="ko-KR" sz="1400" dirty="0"/>
              <a:t>. Why not run a new pod based on an image that contains the binaries you need? To perform DNS-related actions, you can use </a:t>
            </a:r>
            <a:r>
              <a:rPr lang="en-US" altLang="ko-KR" sz="1400" b="1" dirty="0"/>
              <a:t>the “</a:t>
            </a:r>
            <a:r>
              <a:rPr lang="en-US" altLang="ko-KR" sz="1400" b="1" dirty="0" err="1"/>
              <a:t>tutum</a:t>
            </a:r>
            <a:r>
              <a:rPr lang="en-US" altLang="ko-KR" sz="1400" b="1" dirty="0"/>
              <a:t>/</a:t>
            </a:r>
            <a:r>
              <a:rPr lang="en-US" altLang="ko-KR" sz="1400" b="1" dirty="0" err="1"/>
              <a:t>dnsutils</a:t>
            </a:r>
            <a:r>
              <a:rPr lang="en-US" altLang="ko-KR" sz="1400" b="1" dirty="0"/>
              <a:t>” container image, which is available on Docker Hub and contains both the </a:t>
            </a:r>
            <a:r>
              <a:rPr lang="en-US" altLang="ko-KR" sz="1400" b="1" dirty="0" err="1"/>
              <a:t>nslookup</a:t>
            </a:r>
            <a:r>
              <a:rPr lang="en-US" altLang="ko-KR" sz="1400" b="1" dirty="0"/>
              <a:t> and the dig binaries</a:t>
            </a:r>
            <a:r>
              <a:rPr lang="en-US" altLang="ko-KR" sz="1400" dirty="0"/>
              <a:t>. </a:t>
            </a:r>
            <a:r>
              <a:rPr lang="en-US" altLang="ko-KR" sz="1400" b="1" dirty="0"/>
              <a:t>To run the pod, you can go through the whole process of creating a YAML manifest for it and passing it to “</a:t>
            </a:r>
            <a:r>
              <a:rPr lang="en-US" altLang="ko-KR" sz="1400" b="1" dirty="0" err="1"/>
              <a:t>kubectl</a:t>
            </a:r>
            <a:r>
              <a:rPr lang="en-US" altLang="ko-KR" sz="1400" b="1" dirty="0"/>
              <a:t> create” command. </a:t>
            </a:r>
          </a:p>
          <a:p>
            <a:pPr lvl="1">
              <a:buFont typeface="Wingdings" panose="05000000000000000000" pitchFamily="2" charset="2"/>
              <a:buChar char="§"/>
            </a:pPr>
            <a:r>
              <a:rPr lang="en-US" altLang="ko-KR" sz="1400" b="1" dirty="0"/>
              <a:t>Fortunately, you can create pods without writing a YAML manifest by using the “</a:t>
            </a:r>
            <a:r>
              <a:rPr lang="en-US" altLang="ko-KR" sz="1400" b="1" dirty="0" err="1"/>
              <a:t>kubectl</a:t>
            </a:r>
            <a:r>
              <a:rPr lang="en-US" altLang="ko-KR" sz="1400" b="1" dirty="0"/>
              <a:t> run” command</a:t>
            </a:r>
            <a:r>
              <a:rPr lang="en-US" altLang="ko-KR" sz="1400" dirty="0"/>
              <a:t>. For this time you want to create only a pod—you don’t need to create a “</a:t>
            </a:r>
            <a:r>
              <a:rPr lang="en-US" altLang="ko-KR" sz="1400" dirty="0" err="1"/>
              <a:t>ReplicationController</a:t>
            </a:r>
            <a:r>
              <a:rPr lang="en-US" altLang="ko-KR" sz="1400" dirty="0"/>
              <a:t>” to manage the pod. You can do that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59D0078F-0171-3C64-5604-4FD541E522B7}"/>
              </a:ext>
            </a:extLst>
          </p:cNvPr>
          <p:cNvGrpSpPr/>
          <p:nvPr/>
        </p:nvGrpSpPr>
        <p:grpSpPr>
          <a:xfrm>
            <a:off x="1259206" y="3591718"/>
            <a:ext cx="9673587" cy="2373390"/>
            <a:chOff x="1259206" y="3591718"/>
            <a:chExt cx="9673587" cy="2373390"/>
          </a:xfrm>
        </p:grpSpPr>
        <p:grpSp>
          <p:nvGrpSpPr>
            <p:cNvPr id="12" name="그룹 11">
              <a:extLst>
                <a:ext uri="{FF2B5EF4-FFF2-40B4-BE49-F238E27FC236}">
                  <a16:creationId xmlns:a16="http://schemas.microsoft.com/office/drawing/2014/main" id="{4F1B3F25-DE5C-AB96-6315-68496473C43A}"/>
                </a:ext>
              </a:extLst>
            </p:cNvPr>
            <p:cNvGrpSpPr/>
            <p:nvPr/>
          </p:nvGrpSpPr>
          <p:grpSpPr>
            <a:xfrm>
              <a:off x="1259206" y="3591718"/>
              <a:ext cx="9673587" cy="2373390"/>
              <a:chOff x="1259206" y="3468607"/>
              <a:chExt cx="9673587" cy="2373390"/>
            </a:xfrm>
          </p:grpSpPr>
          <p:sp>
            <p:nvSpPr>
              <p:cNvPr id="8" name="TextBox 7">
                <a:extLst>
                  <a:ext uri="{FF2B5EF4-FFF2-40B4-BE49-F238E27FC236}">
                    <a16:creationId xmlns:a16="http://schemas.microsoft.com/office/drawing/2014/main" id="{9C44E6E6-346D-08B8-8464-A773FE442A50}"/>
                  </a:ext>
                </a:extLst>
              </p:cNvPr>
              <p:cNvSpPr txBox="1"/>
              <p:nvPr/>
            </p:nvSpPr>
            <p:spPr>
              <a:xfrm>
                <a:off x="2720537" y="3468607"/>
                <a:ext cx="6750926"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a:t>
                </a:r>
                <a:r>
                  <a:rPr lang="en-US" altLang="ko-KR" sz="1000" b="1" dirty="0" err="1">
                    <a:solidFill>
                      <a:srgbClr val="FF0000"/>
                    </a:solidFill>
                  </a:rPr>
                  <a:t>dnsutils</a:t>
                </a:r>
                <a:r>
                  <a:rPr lang="en-US" altLang="ko-KR" sz="1000" b="1" dirty="0"/>
                  <a:t> --image=</a:t>
                </a:r>
                <a:r>
                  <a:rPr lang="en-US" altLang="ko-KR" sz="1000" b="1" dirty="0" err="1">
                    <a:solidFill>
                      <a:srgbClr val="FF0000"/>
                    </a:solidFill>
                  </a:rPr>
                  <a:t>tutum</a:t>
                </a:r>
                <a:r>
                  <a:rPr lang="en-US" altLang="ko-KR" sz="1000" b="1" dirty="0">
                    <a:solidFill>
                      <a:srgbClr val="FF0000"/>
                    </a:solidFill>
                  </a:rPr>
                  <a:t>/</a:t>
                </a:r>
                <a:r>
                  <a:rPr lang="en-US" altLang="ko-KR" sz="1000" b="1" dirty="0" err="1">
                    <a:solidFill>
                      <a:srgbClr val="FF0000"/>
                    </a:solidFill>
                  </a:rPr>
                  <a:t>dnsutils</a:t>
                </a:r>
                <a:r>
                  <a:rPr lang="en-US" altLang="ko-KR" sz="1000" b="1" dirty="0">
                    <a:solidFill>
                      <a:srgbClr val="FF0000"/>
                    </a:solidFill>
                  </a:rPr>
                  <a:t> </a:t>
                </a:r>
                <a:r>
                  <a:rPr lang="en-US" altLang="ko-KR" sz="1000" b="1" dirty="0"/>
                  <a:t>--command </a:t>
                </a:r>
                <a:r>
                  <a:rPr lang="en-US" altLang="ko-KR" sz="1000" b="1" dirty="0">
                    <a:solidFill>
                      <a:srgbClr val="FF0000"/>
                    </a:solidFill>
                  </a:rPr>
                  <a:t>-- sleep infinity</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B3CD8410-BBC4-464C-BA34-17A36175D1F6}"/>
                  </a:ext>
                </a:extLst>
              </p:cNvPr>
              <p:cNvSpPr/>
              <p:nvPr/>
            </p:nvSpPr>
            <p:spPr>
              <a:xfrm>
                <a:off x="5896303" y="3733611"/>
                <a:ext cx="39939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D0361A7F-7440-6EF7-A9DE-15757B372C91}"/>
                  </a:ext>
                </a:extLst>
              </p:cNvPr>
              <p:cNvPicPr>
                <a:picLocks noChangeAspect="1"/>
              </p:cNvPicPr>
              <p:nvPr/>
            </p:nvPicPr>
            <p:blipFill>
              <a:blip r:embed="rId2"/>
              <a:stretch>
                <a:fillRect/>
              </a:stretch>
            </p:blipFill>
            <p:spPr>
              <a:xfrm>
                <a:off x="1259206" y="3979832"/>
                <a:ext cx="9673587" cy="1862165"/>
              </a:xfrm>
              <a:prstGeom prst="rect">
                <a:avLst/>
              </a:prstGeom>
            </p:spPr>
          </p:pic>
        </p:grpSp>
        <p:sp>
          <p:nvSpPr>
            <p:cNvPr id="13" name="직사각형 12">
              <a:extLst>
                <a:ext uri="{FF2B5EF4-FFF2-40B4-BE49-F238E27FC236}">
                  <a16:creationId xmlns:a16="http://schemas.microsoft.com/office/drawing/2014/main" id="{E8677575-0407-9063-F17B-DD3535820905}"/>
                </a:ext>
              </a:extLst>
            </p:cNvPr>
            <p:cNvSpPr/>
            <p:nvPr/>
          </p:nvSpPr>
          <p:spPr>
            <a:xfrm>
              <a:off x="5376041" y="4532586"/>
              <a:ext cx="4666593"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622911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Headless Service for Discovering Individual Pods(5/7)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Discovering Pods Through DNS :</a:t>
            </a:r>
          </a:p>
          <a:p>
            <a:pPr lvl="1">
              <a:buFont typeface="Wingdings" panose="05000000000000000000" pitchFamily="2" charset="2"/>
              <a:buChar char="§"/>
            </a:pPr>
            <a:r>
              <a:rPr lang="en-US" altLang="ko-KR" sz="1400" dirty="0"/>
              <a:t>Let’s use the newly created pod to </a:t>
            </a:r>
            <a:r>
              <a:rPr lang="en-US" altLang="ko-KR" sz="1400" b="1" dirty="0"/>
              <a:t>perform a DNS lookup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DNS server returns two different IPs for the “</a:t>
            </a:r>
            <a:r>
              <a:rPr lang="en-US" altLang="ko-KR" sz="1400" b="1" dirty="0" err="1"/>
              <a:t>kubia-headless.default.svc.cluster.local</a:t>
            </a:r>
            <a:r>
              <a:rPr lang="en-US" altLang="ko-KR" sz="1400" dirty="0"/>
              <a:t>” </a:t>
            </a:r>
            <a:r>
              <a:rPr lang="en-US" altLang="ko-KR" sz="1400" b="1" dirty="0"/>
              <a:t>FQDN(Fully Qualified Domain Name)</a:t>
            </a:r>
            <a:r>
              <a:rPr lang="en-US" altLang="ko-KR" sz="1400" dirty="0"/>
              <a:t>. Those are the IPs of the two pods that are reporting being ready. You can confirm this by listing pods with “</a:t>
            </a:r>
            <a:r>
              <a:rPr lang="en-US" altLang="ko-KR" sz="1400" b="1" dirty="0" err="1"/>
              <a:t>kubectl</a:t>
            </a:r>
            <a:r>
              <a:rPr lang="en-US" altLang="ko-KR" sz="1400" b="1" dirty="0"/>
              <a:t> get pods -o wide</a:t>
            </a:r>
            <a:r>
              <a:rPr lang="en-US" altLang="ko-KR" sz="1400" dirty="0"/>
              <a:t>”, which shows the pods’ IPs.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4" name="그룹 23">
            <a:extLst>
              <a:ext uri="{FF2B5EF4-FFF2-40B4-BE49-F238E27FC236}">
                <a16:creationId xmlns:a16="http://schemas.microsoft.com/office/drawing/2014/main" id="{BC071D30-A2CF-FE08-FDB1-86B52573667E}"/>
              </a:ext>
            </a:extLst>
          </p:cNvPr>
          <p:cNvGrpSpPr/>
          <p:nvPr/>
        </p:nvGrpSpPr>
        <p:grpSpPr>
          <a:xfrm>
            <a:off x="1279973" y="1557425"/>
            <a:ext cx="9632054" cy="3301791"/>
            <a:chOff x="1279973" y="1557425"/>
            <a:chExt cx="9632054" cy="3301791"/>
          </a:xfrm>
        </p:grpSpPr>
        <p:grpSp>
          <p:nvGrpSpPr>
            <p:cNvPr id="22" name="그룹 21">
              <a:extLst>
                <a:ext uri="{FF2B5EF4-FFF2-40B4-BE49-F238E27FC236}">
                  <a16:creationId xmlns:a16="http://schemas.microsoft.com/office/drawing/2014/main" id="{9D419A43-DF6D-0127-23A7-15CB677A805F}"/>
                </a:ext>
              </a:extLst>
            </p:cNvPr>
            <p:cNvGrpSpPr/>
            <p:nvPr/>
          </p:nvGrpSpPr>
          <p:grpSpPr>
            <a:xfrm>
              <a:off x="1279973" y="1557425"/>
              <a:ext cx="9632054" cy="3301791"/>
              <a:chOff x="1279973" y="1557425"/>
              <a:chExt cx="9632054" cy="3301791"/>
            </a:xfrm>
          </p:grpSpPr>
          <p:pic>
            <p:nvPicPr>
              <p:cNvPr id="17" name="그림 16">
                <a:extLst>
                  <a:ext uri="{FF2B5EF4-FFF2-40B4-BE49-F238E27FC236}">
                    <a16:creationId xmlns:a16="http://schemas.microsoft.com/office/drawing/2014/main" id="{5B8B7246-8936-FA95-CC66-F2464130D085}"/>
                  </a:ext>
                </a:extLst>
              </p:cNvPr>
              <p:cNvPicPr>
                <a:picLocks noChangeAspect="1"/>
              </p:cNvPicPr>
              <p:nvPr/>
            </p:nvPicPr>
            <p:blipFill>
              <a:blip r:embed="rId2"/>
              <a:stretch>
                <a:fillRect/>
              </a:stretch>
            </p:blipFill>
            <p:spPr>
              <a:xfrm>
                <a:off x="1279973" y="2049867"/>
                <a:ext cx="9632054" cy="2809349"/>
              </a:xfrm>
              <a:prstGeom prst="rect">
                <a:avLst/>
              </a:prstGeom>
            </p:spPr>
          </p:pic>
          <p:grpSp>
            <p:nvGrpSpPr>
              <p:cNvPr id="21" name="그룹 20">
                <a:extLst>
                  <a:ext uri="{FF2B5EF4-FFF2-40B4-BE49-F238E27FC236}">
                    <a16:creationId xmlns:a16="http://schemas.microsoft.com/office/drawing/2014/main" id="{CD9DDE1A-7904-3D9B-3426-81A2C952F86D}"/>
                  </a:ext>
                </a:extLst>
              </p:cNvPr>
              <p:cNvGrpSpPr/>
              <p:nvPr/>
            </p:nvGrpSpPr>
            <p:grpSpPr>
              <a:xfrm>
                <a:off x="1347952" y="1557425"/>
                <a:ext cx="7796705" cy="2902670"/>
                <a:chOff x="1347952" y="1557425"/>
                <a:chExt cx="7796705" cy="2902670"/>
              </a:xfrm>
            </p:grpSpPr>
            <p:sp>
              <p:nvSpPr>
                <p:cNvPr id="8" name="TextBox 7">
                  <a:extLst>
                    <a:ext uri="{FF2B5EF4-FFF2-40B4-BE49-F238E27FC236}">
                      <a16:creationId xmlns:a16="http://schemas.microsoft.com/office/drawing/2014/main" id="{7022EEF8-B193-F1CC-9F81-308B4CE59153}"/>
                    </a:ext>
                  </a:extLst>
                </p:cNvPr>
                <p:cNvSpPr txBox="1"/>
                <p:nvPr/>
              </p:nvSpPr>
              <p:spPr>
                <a:xfrm>
                  <a:off x="3047343" y="155742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err="1">
                      <a:solidFill>
                        <a:srgbClr val="FF0000"/>
                      </a:solidFill>
                    </a:rPr>
                    <a:t>dnsutils</a:t>
                  </a:r>
                  <a:r>
                    <a:rPr lang="en-US" altLang="ko-KR" sz="1000" b="1" dirty="0">
                      <a:solidFill>
                        <a:srgbClr val="FF0000"/>
                      </a:solidFill>
                    </a:rPr>
                    <a:t> -- </a:t>
                  </a:r>
                  <a:r>
                    <a:rPr lang="en-US" altLang="ko-KR" sz="1000" b="1" dirty="0" err="1">
                      <a:solidFill>
                        <a:srgbClr val="FF0000"/>
                      </a:solidFill>
                    </a:rPr>
                    <a:t>nslookup</a:t>
                  </a:r>
                  <a:r>
                    <a:rPr lang="en-US" altLang="ko-KR" sz="1000" b="1" dirty="0">
                      <a:solidFill>
                        <a:srgbClr val="FF0000"/>
                      </a:solidFill>
                    </a:rPr>
                    <a:t> </a:t>
                  </a:r>
                  <a:r>
                    <a:rPr lang="en-US" altLang="ko-KR" sz="1000" b="1" dirty="0" err="1">
                      <a:solidFill>
                        <a:srgbClr val="FF0000"/>
                      </a:solidFill>
                    </a:rPr>
                    <a:t>kubia</a:t>
                  </a:r>
                  <a:r>
                    <a:rPr lang="en-US" altLang="ko-KR" sz="1000" b="1" dirty="0">
                      <a:solidFill>
                        <a:srgbClr val="FF0000"/>
                      </a:solidFill>
                    </a:rPr>
                    <a:t>-headless</a:t>
                  </a:r>
                </a:p>
              </p:txBody>
            </p:sp>
            <p:sp>
              <p:nvSpPr>
                <p:cNvPr id="9" name="화살표: 아래쪽 8">
                  <a:extLst>
                    <a:ext uri="{FF2B5EF4-FFF2-40B4-BE49-F238E27FC236}">
                      <a16:creationId xmlns:a16="http://schemas.microsoft.com/office/drawing/2014/main" id="{9D46C068-B82D-8996-2569-BAEFFF83F145}"/>
                    </a:ext>
                  </a:extLst>
                </p:cNvPr>
                <p:cNvSpPr/>
                <p:nvPr/>
              </p:nvSpPr>
              <p:spPr>
                <a:xfrm>
                  <a:off x="5887107" y="1803646"/>
                  <a:ext cx="417786"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B7A82BF3-B484-B032-A54A-9F315BD9B24B}"/>
                    </a:ext>
                  </a:extLst>
                </p:cNvPr>
                <p:cNvSpPr/>
                <p:nvPr/>
              </p:nvSpPr>
              <p:spPr>
                <a:xfrm>
                  <a:off x="5336628" y="2490954"/>
                  <a:ext cx="1671144" cy="1655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BCA30B84-6206-B152-E882-9D2054E22F21}"/>
                    </a:ext>
                  </a:extLst>
                </p:cNvPr>
                <p:cNvSpPr/>
                <p:nvPr/>
              </p:nvSpPr>
              <p:spPr>
                <a:xfrm>
                  <a:off x="1347952" y="2916621"/>
                  <a:ext cx="6337738" cy="2758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6AC0C085-0BBD-260C-FD50-90F3FF0260D9}"/>
                    </a:ext>
                  </a:extLst>
                </p:cNvPr>
                <p:cNvSpPr/>
                <p:nvPr/>
              </p:nvSpPr>
              <p:spPr>
                <a:xfrm>
                  <a:off x="1355835" y="3831020"/>
                  <a:ext cx="3224048" cy="6290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3" name="직사각형 22">
              <a:extLst>
                <a:ext uri="{FF2B5EF4-FFF2-40B4-BE49-F238E27FC236}">
                  <a16:creationId xmlns:a16="http://schemas.microsoft.com/office/drawing/2014/main" id="{F7BF7F06-A0BC-9409-B3BA-575BA595C1E7}"/>
                </a:ext>
              </a:extLst>
            </p:cNvPr>
            <p:cNvSpPr/>
            <p:nvPr/>
          </p:nvSpPr>
          <p:spPr>
            <a:xfrm>
              <a:off x="5336628" y="3287110"/>
              <a:ext cx="3192517" cy="2128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3613598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Headless Service for Discovering Individual Pods(6/7)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Discovering Pods Through DNS :</a:t>
            </a:r>
          </a:p>
          <a:p>
            <a:pPr lvl="1">
              <a:buFont typeface="Wingdings" panose="05000000000000000000" pitchFamily="2" charset="2"/>
              <a:buChar char="§"/>
            </a:pPr>
            <a:r>
              <a:rPr lang="en-US" altLang="ko-KR" sz="1400" dirty="0"/>
              <a:t>This is different from what </a:t>
            </a:r>
            <a:r>
              <a:rPr lang="en-US" altLang="ko-KR" sz="1400" b="1" dirty="0"/>
              <a:t>DNS returns for regular (non-headless) services</a:t>
            </a:r>
            <a:r>
              <a:rPr lang="en-US" altLang="ko-KR" sz="1400" dirty="0"/>
              <a:t>, such as for your “</a:t>
            </a:r>
            <a:r>
              <a:rPr lang="en-US" altLang="ko-KR" sz="1400" b="1" dirty="0" err="1"/>
              <a:t>kubia</a:t>
            </a:r>
            <a:r>
              <a:rPr lang="en-US" altLang="ko-KR" sz="1400" dirty="0"/>
              <a:t>” </a:t>
            </a:r>
            <a:r>
              <a:rPr lang="en-US" altLang="ko-KR" sz="1400" b="1" dirty="0"/>
              <a:t>service, where the returned IP is the service’s cluster IP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Although headless services may seem different from regular services, they aren’t that different from the clients’ perspective</a:t>
            </a:r>
            <a:r>
              <a:rPr lang="en-US" altLang="ko-KR" sz="1400" dirty="0"/>
              <a:t>. </a:t>
            </a:r>
            <a:r>
              <a:rPr lang="en-US" altLang="ko-KR" sz="1400" b="1" dirty="0"/>
              <a:t>Even with a headless service, clients can connect to its pods by connecting to the service’s DNS name, as they can with regular services</a:t>
            </a:r>
            <a:r>
              <a:rPr lang="en-US" altLang="ko-KR" sz="1400" dirty="0"/>
              <a:t>. But with headless services, </a:t>
            </a:r>
            <a:r>
              <a:rPr lang="en-US" altLang="ko-KR" sz="1400" b="1" dirty="0"/>
              <a:t>because DNS returns the pods’ IPs, clients connect directly to the pods</a:t>
            </a:r>
            <a:r>
              <a:rPr lang="en-US" altLang="ko-KR" sz="1400" dirty="0"/>
              <a:t>, </a:t>
            </a:r>
            <a:r>
              <a:rPr lang="en-US" altLang="ko-KR" sz="1400" b="1" dirty="0"/>
              <a:t>instead of through the service proxy</a:t>
            </a:r>
            <a:r>
              <a:rPr lang="en-US" altLang="ko-KR" sz="1400" dirty="0"/>
              <a:t>.</a:t>
            </a:r>
          </a:p>
          <a:p>
            <a:pPr lvl="1">
              <a:buFont typeface="Wingdings" panose="05000000000000000000" pitchFamily="2" charset="2"/>
              <a:buChar char="§"/>
            </a:pPr>
            <a:r>
              <a:rPr lang="en-US" altLang="ko-KR" sz="1400" b="1" dirty="0"/>
              <a:t>NOTE : </a:t>
            </a:r>
            <a:r>
              <a:rPr lang="en-US" altLang="ko-KR" sz="1400" b="1" dirty="0">
                <a:solidFill>
                  <a:srgbClr val="FF0000"/>
                </a:solidFill>
              </a:rPr>
              <a:t>A headless services still provides load balancing across pods</a:t>
            </a:r>
            <a:r>
              <a:rPr lang="en-US" altLang="ko-KR" sz="1400" b="1" dirty="0"/>
              <a:t>, but through the </a:t>
            </a:r>
            <a:r>
              <a:rPr lang="en-US" altLang="ko-KR" sz="1400" b="1" dirty="0">
                <a:solidFill>
                  <a:srgbClr val="FF0000"/>
                </a:solidFill>
              </a:rPr>
              <a:t>DNS round-robin </a:t>
            </a:r>
            <a:r>
              <a:rPr lang="en-US" altLang="ko-KR" sz="1400" b="1" dirty="0"/>
              <a:t>mechanism instead of through the service proxy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36A2749A-FAE1-5DF9-B48E-79F423FEAA45}"/>
              </a:ext>
            </a:extLst>
          </p:cNvPr>
          <p:cNvGrpSpPr/>
          <p:nvPr/>
        </p:nvGrpSpPr>
        <p:grpSpPr>
          <a:xfrm>
            <a:off x="1463565" y="1683548"/>
            <a:ext cx="9264869" cy="3076731"/>
            <a:chOff x="1463565" y="1683548"/>
            <a:chExt cx="9264869" cy="3076731"/>
          </a:xfrm>
        </p:grpSpPr>
        <p:grpSp>
          <p:nvGrpSpPr>
            <p:cNvPr id="12" name="그룹 11">
              <a:extLst>
                <a:ext uri="{FF2B5EF4-FFF2-40B4-BE49-F238E27FC236}">
                  <a16:creationId xmlns:a16="http://schemas.microsoft.com/office/drawing/2014/main" id="{1FC8AF4C-F78C-FE7E-FE85-DD7B068EDDB3}"/>
                </a:ext>
              </a:extLst>
            </p:cNvPr>
            <p:cNvGrpSpPr/>
            <p:nvPr/>
          </p:nvGrpSpPr>
          <p:grpSpPr>
            <a:xfrm>
              <a:off x="1463565" y="1683548"/>
              <a:ext cx="9264869" cy="3076731"/>
              <a:chOff x="1463565" y="1683548"/>
              <a:chExt cx="9264869" cy="3076731"/>
            </a:xfrm>
          </p:grpSpPr>
          <p:sp>
            <p:nvSpPr>
              <p:cNvPr id="8" name="TextBox 7">
                <a:extLst>
                  <a:ext uri="{FF2B5EF4-FFF2-40B4-BE49-F238E27FC236}">
                    <a16:creationId xmlns:a16="http://schemas.microsoft.com/office/drawing/2014/main" id="{CCAE76F9-C68F-CEF0-E1E7-0781CF429502}"/>
                  </a:ext>
                </a:extLst>
              </p:cNvPr>
              <p:cNvSpPr txBox="1"/>
              <p:nvPr/>
            </p:nvSpPr>
            <p:spPr>
              <a:xfrm>
                <a:off x="3047343" y="1683548"/>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err="1"/>
                  <a:t>dnsutils</a:t>
                </a:r>
                <a:r>
                  <a:rPr lang="en-US" altLang="ko-KR" sz="1000" b="1" dirty="0"/>
                  <a:t> -- </a:t>
                </a:r>
                <a:r>
                  <a:rPr lang="en-US" altLang="ko-KR" sz="1000" b="1" dirty="0" err="1"/>
                  <a:t>nslookup</a:t>
                </a:r>
                <a:r>
                  <a:rPr lang="en-US" altLang="ko-KR" sz="1000" b="1" dirty="0"/>
                  <a:t> </a:t>
                </a:r>
                <a:r>
                  <a:rPr lang="en-US" altLang="ko-KR" sz="1000" b="1" dirty="0" err="1">
                    <a:solidFill>
                      <a:srgbClr val="FF0000"/>
                    </a:solidFill>
                  </a:rPr>
                  <a:t>kubia</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B4051946-AEAF-0DEB-6F80-1B52197014EA}"/>
                  </a:ext>
                </a:extLst>
              </p:cNvPr>
              <p:cNvSpPr/>
              <p:nvPr/>
            </p:nvSpPr>
            <p:spPr>
              <a:xfrm>
                <a:off x="5875283" y="1944102"/>
                <a:ext cx="441434" cy="28377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4637BB00-8640-01F6-F8B1-942182220369}"/>
                  </a:ext>
                </a:extLst>
              </p:cNvPr>
              <p:cNvPicPr>
                <a:picLocks noChangeAspect="1"/>
              </p:cNvPicPr>
              <p:nvPr/>
            </p:nvPicPr>
            <p:blipFill>
              <a:blip r:embed="rId2"/>
              <a:stretch>
                <a:fillRect/>
              </a:stretch>
            </p:blipFill>
            <p:spPr>
              <a:xfrm>
                <a:off x="1463565" y="2227881"/>
                <a:ext cx="9264869" cy="2532398"/>
              </a:xfrm>
              <a:prstGeom prst="rect">
                <a:avLst/>
              </a:prstGeom>
            </p:spPr>
          </p:pic>
        </p:grpSp>
        <p:sp>
          <p:nvSpPr>
            <p:cNvPr id="13" name="직사각형 12">
              <a:extLst>
                <a:ext uri="{FF2B5EF4-FFF2-40B4-BE49-F238E27FC236}">
                  <a16:creationId xmlns:a16="http://schemas.microsoft.com/office/drawing/2014/main" id="{6C0D325E-8EF3-067F-7DC9-76044271F775}"/>
                </a:ext>
              </a:extLst>
            </p:cNvPr>
            <p:cNvSpPr/>
            <p:nvPr/>
          </p:nvSpPr>
          <p:spPr>
            <a:xfrm>
              <a:off x="5383924" y="2640724"/>
              <a:ext cx="2057400"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545868F9-F615-5DF5-5E0D-5E5BA89D20F3}"/>
                </a:ext>
              </a:extLst>
            </p:cNvPr>
            <p:cNvSpPr/>
            <p:nvPr/>
          </p:nvSpPr>
          <p:spPr>
            <a:xfrm>
              <a:off x="1560787" y="3294993"/>
              <a:ext cx="4550979"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5AF4E9CE-0284-E314-7697-D03A031C41C4}"/>
                </a:ext>
              </a:extLst>
            </p:cNvPr>
            <p:cNvSpPr/>
            <p:nvPr/>
          </p:nvSpPr>
          <p:spPr>
            <a:xfrm>
              <a:off x="5399690" y="3557372"/>
              <a:ext cx="2490952"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57089E85-1373-6A8E-E516-6D78BB896731}"/>
                </a:ext>
              </a:extLst>
            </p:cNvPr>
            <p:cNvSpPr/>
            <p:nvPr/>
          </p:nvSpPr>
          <p:spPr>
            <a:xfrm>
              <a:off x="1560787" y="4068319"/>
              <a:ext cx="2538247" cy="3381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322393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a Headless Service for Discovering Individual Pods(7/7)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Discovering All Pods :</a:t>
            </a:r>
          </a:p>
          <a:p>
            <a:pPr lvl="1">
              <a:buFont typeface="Wingdings" panose="05000000000000000000" pitchFamily="2" charset="2"/>
              <a:buChar char="§"/>
            </a:pPr>
            <a:r>
              <a:rPr lang="en-US" altLang="ko-KR" sz="1400" b="1" dirty="0"/>
              <a:t>Sometimes you want to use the service discovery mechanism to find all pods matching the service’s label selector</a:t>
            </a:r>
            <a:r>
              <a:rPr lang="en-US" altLang="ko-KR" sz="1400" dirty="0"/>
              <a:t>, </a:t>
            </a:r>
            <a:r>
              <a:rPr lang="en-US" altLang="ko-KR" sz="1400" b="1" dirty="0"/>
              <a:t>even those that aren’t ready</a:t>
            </a:r>
            <a:r>
              <a:rPr lang="en-US" altLang="ko-KR" sz="1400" dirty="0"/>
              <a:t>. In this case, you don’t have to resort to querying the Kubernetes API server. </a:t>
            </a:r>
            <a:r>
              <a:rPr lang="en-US" altLang="ko-KR" sz="1400" b="1" dirty="0"/>
              <a:t>You can use the DNS lookup mechanism to find even those unready pods</a:t>
            </a:r>
            <a:r>
              <a:rPr lang="en-US" altLang="ko-KR" sz="1400" dirty="0"/>
              <a:t>. To tell Kubernetes you want all pods added to a service, regardless of the pod’s readiness status, </a:t>
            </a:r>
            <a:r>
              <a:rPr lang="en-US" altLang="ko-KR" sz="1400" b="1" dirty="0"/>
              <a:t>you must add the following “</a:t>
            </a:r>
            <a:r>
              <a:rPr lang="en-US" altLang="ko-KR" sz="1400" b="1" dirty="0" err="1"/>
              <a:t>Service.spec.publishedNotReady</a:t>
            </a:r>
            <a:r>
              <a:rPr lang="en-US" altLang="ko-KR" sz="1400" b="1" dirty="0"/>
              <a:t>” to the service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0" name="그룹 19">
            <a:extLst>
              <a:ext uri="{FF2B5EF4-FFF2-40B4-BE49-F238E27FC236}">
                <a16:creationId xmlns:a16="http://schemas.microsoft.com/office/drawing/2014/main" id="{F7F48707-3164-37E6-191F-A9214D9A5ADE}"/>
              </a:ext>
            </a:extLst>
          </p:cNvPr>
          <p:cNvGrpSpPr/>
          <p:nvPr/>
        </p:nvGrpSpPr>
        <p:grpSpPr>
          <a:xfrm>
            <a:off x="1663686" y="2187063"/>
            <a:ext cx="8864627" cy="4221967"/>
            <a:chOff x="1663686" y="2187063"/>
            <a:chExt cx="8864627" cy="4221967"/>
          </a:xfrm>
        </p:grpSpPr>
        <p:grpSp>
          <p:nvGrpSpPr>
            <p:cNvPr id="16" name="그룹 15">
              <a:extLst>
                <a:ext uri="{FF2B5EF4-FFF2-40B4-BE49-F238E27FC236}">
                  <a16:creationId xmlns:a16="http://schemas.microsoft.com/office/drawing/2014/main" id="{E1D495C0-B02A-B21B-3CF5-67802994450D}"/>
                </a:ext>
              </a:extLst>
            </p:cNvPr>
            <p:cNvGrpSpPr/>
            <p:nvPr/>
          </p:nvGrpSpPr>
          <p:grpSpPr>
            <a:xfrm>
              <a:off x="1663686" y="2187063"/>
              <a:ext cx="8864627" cy="4221967"/>
              <a:chOff x="1663686" y="2187063"/>
              <a:chExt cx="8864627" cy="4221967"/>
            </a:xfrm>
          </p:grpSpPr>
          <p:grpSp>
            <p:nvGrpSpPr>
              <p:cNvPr id="15" name="그룹 14">
                <a:extLst>
                  <a:ext uri="{FF2B5EF4-FFF2-40B4-BE49-F238E27FC236}">
                    <a16:creationId xmlns:a16="http://schemas.microsoft.com/office/drawing/2014/main" id="{F5DC3E5F-20EF-C1A1-781E-FC48EA47AFD0}"/>
                  </a:ext>
                </a:extLst>
              </p:cNvPr>
              <p:cNvGrpSpPr/>
              <p:nvPr/>
            </p:nvGrpSpPr>
            <p:grpSpPr>
              <a:xfrm>
                <a:off x="3047343" y="2187063"/>
                <a:ext cx="6097314" cy="1156283"/>
                <a:chOff x="3047343" y="2280432"/>
                <a:chExt cx="6097314" cy="1156283"/>
              </a:xfrm>
            </p:grpSpPr>
            <p:grpSp>
              <p:nvGrpSpPr>
                <p:cNvPr id="11" name="그룹 10">
                  <a:extLst>
                    <a:ext uri="{FF2B5EF4-FFF2-40B4-BE49-F238E27FC236}">
                      <a16:creationId xmlns:a16="http://schemas.microsoft.com/office/drawing/2014/main" id="{AC665DA1-5A26-F659-C2E4-C21A4A298F75}"/>
                    </a:ext>
                  </a:extLst>
                </p:cNvPr>
                <p:cNvGrpSpPr/>
                <p:nvPr/>
              </p:nvGrpSpPr>
              <p:grpSpPr>
                <a:xfrm>
                  <a:off x="3047343" y="2280432"/>
                  <a:ext cx="6097314" cy="861774"/>
                  <a:chOff x="3047343" y="2280432"/>
                  <a:chExt cx="6097314" cy="861774"/>
                </a:xfrm>
              </p:grpSpPr>
              <p:sp>
                <p:nvSpPr>
                  <p:cNvPr id="8" name="TextBox 7">
                    <a:extLst>
                      <a:ext uri="{FF2B5EF4-FFF2-40B4-BE49-F238E27FC236}">
                        <a16:creationId xmlns:a16="http://schemas.microsoft.com/office/drawing/2014/main" id="{55CCE736-5076-43F9-D9E5-0E6E2A105002}"/>
                      </a:ext>
                    </a:extLst>
                  </p:cNvPr>
                  <p:cNvSpPr txBox="1"/>
                  <p:nvPr/>
                </p:nvSpPr>
                <p:spPr>
                  <a:xfrm>
                    <a:off x="3047343" y="2280432"/>
                    <a:ext cx="6097314" cy="861774"/>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a:solidFill>
                          <a:srgbClr val="FF0000"/>
                        </a:solidFill>
                      </a:rPr>
                      <a:t>spec</a:t>
                    </a:r>
                    <a:r>
                      <a:rPr lang="en-US" altLang="ko-KR" sz="1000" b="1" dirty="0"/>
                      <a:t>:</a:t>
                    </a:r>
                  </a:p>
                  <a:p>
                    <a:r>
                      <a:rPr lang="en-US" altLang="ko-KR" sz="1000" b="1" dirty="0"/>
                      <a:t>  </a:t>
                    </a:r>
                    <a:r>
                      <a:rPr lang="en-US" altLang="ko-KR" sz="1000" b="1" dirty="0" err="1"/>
                      <a:t>clusterIP</a:t>
                    </a:r>
                    <a:r>
                      <a:rPr lang="en-US" altLang="ko-KR" sz="1000" b="1" dirty="0"/>
                      <a:t>: None</a:t>
                    </a:r>
                  </a:p>
                  <a:p>
                    <a:r>
                      <a:rPr lang="en-US" altLang="ko-KR" sz="1000" b="1" dirty="0"/>
                      <a:t>  </a:t>
                    </a:r>
                    <a:r>
                      <a:rPr lang="en-US" altLang="ko-KR" sz="1000" b="1" dirty="0" err="1">
                        <a:solidFill>
                          <a:srgbClr val="FF0000"/>
                        </a:solidFill>
                      </a:rPr>
                      <a:t>publishNotReadyAddresses</a:t>
                    </a:r>
                    <a:r>
                      <a:rPr lang="en-US" altLang="ko-KR" sz="1000" b="1" dirty="0">
                        <a:solidFill>
                          <a:srgbClr val="FF0000"/>
                        </a:solidFill>
                      </a:rPr>
                      <a:t>: true</a:t>
                    </a:r>
                  </a:p>
                  <a:p>
                    <a:r>
                      <a:rPr lang="en-US" altLang="ko-KR" sz="1000" b="1" dirty="0"/>
                      <a:t>…</a:t>
                    </a:r>
                  </a:p>
                </p:txBody>
              </p:sp>
              <p:sp>
                <p:nvSpPr>
                  <p:cNvPr id="10" name="TextBox 9">
                    <a:extLst>
                      <a:ext uri="{FF2B5EF4-FFF2-40B4-BE49-F238E27FC236}">
                        <a16:creationId xmlns:a16="http://schemas.microsoft.com/office/drawing/2014/main" id="{6DE30011-7AFF-A873-E7C7-2C7437064364}"/>
                      </a:ext>
                    </a:extLst>
                  </p:cNvPr>
                  <p:cNvSpPr txBox="1"/>
                  <p:nvPr/>
                </p:nvSpPr>
                <p:spPr>
                  <a:xfrm>
                    <a:off x="7482022" y="2280432"/>
                    <a:ext cx="1662635" cy="246221"/>
                  </a:xfrm>
                  <a:prstGeom prst="rect">
                    <a:avLst/>
                  </a:prstGeom>
                  <a:noFill/>
                </p:spPr>
                <p:txBody>
                  <a:bodyPr wrap="none" rtlCol="0">
                    <a:spAutoFit/>
                  </a:bodyPr>
                  <a:lstStyle/>
                  <a:p>
                    <a:pPr algn="l"/>
                    <a:r>
                      <a:rPr lang="en-US" altLang="ko-KR" sz="1000" b="1" dirty="0" err="1"/>
                      <a:t>kubia</a:t>
                    </a:r>
                    <a:r>
                      <a:rPr lang="en-US" altLang="ko-KR" sz="1000" b="1" dirty="0"/>
                      <a:t>-svc-</a:t>
                    </a:r>
                    <a:r>
                      <a:rPr lang="en-US" altLang="ko-KR" sz="1000" b="1" dirty="0" err="1"/>
                      <a:t>headless.yaml</a:t>
                    </a:r>
                    <a:endParaRPr lang="ko-KR" altLang="en-US" sz="1000" b="1" dirty="0"/>
                  </a:p>
                </p:txBody>
              </p:sp>
            </p:grpSp>
            <p:sp>
              <p:nvSpPr>
                <p:cNvPr id="12" name="화살표: 아래쪽 11">
                  <a:extLst>
                    <a:ext uri="{FF2B5EF4-FFF2-40B4-BE49-F238E27FC236}">
                      <a16:creationId xmlns:a16="http://schemas.microsoft.com/office/drawing/2014/main" id="{869822A3-C082-C628-8D5C-5F425981E274}"/>
                    </a:ext>
                  </a:extLst>
                </p:cNvPr>
                <p:cNvSpPr/>
                <p:nvPr/>
              </p:nvSpPr>
              <p:spPr>
                <a:xfrm>
                  <a:off x="5883165" y="3142206"/>
                  <a:ext cx="425669" cy="29450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B4AFDF2D-8581-0BED-797E-1B13FDFB5E05}"/>
                  </a:ext>
                </a:extLst>
              </p:cNvPr>
              <p:cNvPicPr>
                <a:picLocks noChangeAspect="1"/>
              </p:cNvPicPr>
              <p:nvPr/>
            </p:nvPicPr>
            <p:blipFill>
              <a:blip r:embed="rId2"/>
              <a:stretch>
                <a:fillRect/>
              </a:stretch>
            </p:blipFill>
            <p:spPr>
              <a:xfrm>
                <a:off x="1663686" y="3343346"/>
                <a:ext cx="8864627" cy="3065684"/>
              </a:xfrm>
              <a:prstGeom prst="rect">
                <a:avLst/>
              </a:prstGeom>
            </p:spPr>
          </p:pic>
        </p:grpSp>
        <p:sp>
          <p:nvSpPr>
            <p:cNvPr id="17" name="직사각형 16">
              <a:extLst>
                <a:ext uri="{FF2B5EF4-FFF2-40B4-BE49-F238E27FC236}">
                  <a16:creationId xmlns:a16="http://schemas.microsoft.com/office/drawing/2014/main" id="{BF0D6EE1-87AF-5BFD-E2AC-8A7030C445E1}"/>
                </a:ext>
              </a:extLst>
            </p:cNvPr>
            <p:cNvSpPr/>
            <p:nvPr/>
          </p:nvSpPr>
          <p:spPr>
            <a:xfrm>
              <a:off x="1742090" y="4146331"/>
              <a:ext cx="5856889"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E11464CE-7128-D67A-5112-8B908FCB83F2}"/>
                </a:ext>
              </a:extLst>
            </p:cNvPr>
            <p:cNvSpPr/>
            <p:nvPr/>
          </p:nvSpPr>
          <p:spPr>
            <a:xfrm>
              <a:off x="1742090" y="5196123"/>
              <a:ext cx="2971800" cy="8953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773801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Troubleshooting Services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 Checking Services Available :</a:t>
            </a:r>
          </a:p>
          <a:p>
            <a:pPr lvl="1">
              <a:buFont typeface="Wingdings" panose="05000000000000000000" pitchFamily="2" charset="2"/>
              <a:buChar char="§"/>
            </a:pPr>
            <a:r>
              <a:rPr lang="en-US" altLang="ko-KR" sz="1400" b="1" dirty="0"/>
              <a:t>Services are a crucial Kubernetes concept and the source of frustration for many developers</a:t>
            </a:r>
            <a:r>
              <a:rPr lang="en-US" altLang="ko-KR" sz="1400" dirty="0"/>
              <a:t>. When you’re unable to access your pods through the service, you should start by going through the following list :</a:t>
            </a:r>
          </a:p>
          <a:p>
            <a:pPr marL="1257300" lvl="2" indent="-342900">
              <a:buFont typeface="+mj-lt"/>
              <a:buAutoNum type="arabicPeriod"/>
            </a:pPr>
            <a:r>
              <a:rPr lang="en-US" altLang="ko-KR" sz="1400" b="1" dirty="0"/>
              <a:t>Make sure you’re connecting to the service’s cluster IP from within the cluster</a:t>
            </a:r>
            <a:r>
              <a:rPr lang="en-US" altLang="ko-KR" sz="1400" dirty="0"/>
              <a:t>, not from the outside.</a:t>
            </a:r>
          </a:p>
          <a:p>
            <a:pPr marL="1257300" lvl="2" indent="-342900">
              <a:buFont typeface="+mj-lt"/>
              <a:buAutoNum type="arabicPeriod"/>
            </a:pPr>
            <a:r>
              <a:rPr lang="en-US" altLang="ko-KR" sz="1400" b="1" dirty="0"/>
              <a:t>Don’t bother pinging the service IP to figure out if the service is accessible </a:t>
            </a:r>
            <a:r>
              <a:rPr lang="en-US" altLang="ko-KR" sz="1400" dirty="0"/>
              <a:t>(remember, the service’s cluster IP is a virtual IP and pinging it will never work).</a:t>
            </a:r>
          </a:p>
          <a:p>
            <a:pPr marL="1257300" lvl="2" indent="-342900">
              <a:buFont typeface="+mj-lt"/>
              <a:buAutoNum type="arabicPeriod"/>
            </a:pPr>
            <a:r>
              <a:rPr lang="en-US" altLang="ko-KR" sz="1400" b="1" dirty="0"/>
              <a:t>If you’ve defined a readiness probe, make sure it’s succeeding</a:t>
            </a:r>
            <a:r>
              <a:rPr lang="en-US" altLang="ko-KR" sz="1400" dirty="0"/>
              <a:t>; otherwise the pod won’t be part of the service.</a:t>
            </a:r>
          </a:p>
          <a:p>
            <a:pPr marL="1257300" lvl="2" indent="-342900">
              <a:buFont typeface="+mj-lt"/>
              <a:buAutoNum type="arabicPeriod"/>
            </a:pPr>
            <a:r>
              <a:rPr lang="en-US" altLang="ko-KR" sz="1400" b="1" dirty="0"/>
              <a:t>To confirm that a pod is part of the service, examine the corresponding Endpoints object with “</a:t>
            </a:r>
            <a:r>
              <a:rPr lang="en-US" altLang="ko-KR" sz="1400" b="1" dirty="0" err="1"/>
              <a:t>kubectl</a:t>
            </a:r>
            <a:r>
              <a:rPr lang="en-US" altLang="ko-KR" sz="1400" b="1" dirty="0"/>
              <a:t> get endpoints” command</a:t>
            </a:r>
            <a:r>
              <a:rPr lang="en-US" altLang="ko-KR" sz="1400" dirty="0"/>
              <a:t>.</a:t>
            </a:r>
          </a:p>
          <a:p>
            <a:pPr marL="1257300" lvl="2" indent="-342900">
              <a:buFont typeface="+mj-lt"/>
              <a:buAutoNum type="arabicPeriod"/>
            </a:pPr>
            <a:r>
              <a:rPr lang="en-US" altLang="ko-KR" sz="1400" b="1" dirty="0"/>
              <a:t>If you’re trying to access the service through its FQDN or a part of it </a:t>
            </a:r>
            <a:r>
              <a:rPr lang="en-US" altLang="ko-KR" sz="1400" dirty="0"/>
              <a:t>(for example, “</a:t>
            </a:r>
            <a:r>
              <a:rPr lang="en-US" altLang="ko-KR" sz="1400" dirty="0" err="1"/>
              <a:t>myservice.mynamespace.svc.cluster.local</a:t>
            </a:r>
            <a:r>
              <a:rPr lang="en-US" altLang="ko-KR" sz="1400" dirty="0"/>
              <a:t>” or “</a:t>
            </a:r>
            <a:r>
              <a:rPr lang="en-US" altLang="ko-KR" sz="1400" dirty="0" err="1"/>
              <a:t>myservice.mynamespace</a:t>
            </a:r>
            <a:r>
              <a:rPr lang="en-US" altLang="ko-KR" sz="1400" dirty="0"/>
              <a:t>”) and it doesn’t work, </a:t>
            </a:r>
            <a:r>
              <a:rPr lang="en-US" altLang="ko-KR" sz="1400" b="1" dirty="0"/>
              <a:t>see if you can access it using its cluster IP instead of the FQDN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4266E0A-CAC9-8789-ADD0-D148C72ED428}"/>
              </a:ext>
            </a:extLst>
          </p:cNvPr>
          <p:cNvPicPr>
            <a:picLocks noChangeAspect="1"/>
          </p:cNvPicPr>
          <p:nvPr/>
        </p:nvPicPr>
        <p:blipFill>
          <a:blip r:embed="rId2"/>
          <a:stretch>
            <a:fillRect/>
          </a:stretch>
        </p:blipFill>
        <p:spPr>
          <a:xfrm>
            <a:off x="6935514" y="3923744"/>
            <a:ext cx="4418286" cy="2485286"/>
          </a:xfrm>
          <a:prstGeom prst="rect">
            <a:avLst/>
          </a:prstGeom>
        </p:spPr>
      </p:pic>
      <p:sp>
        <p:nvSpPr>
          <p:cNvPr id="11" name="TextBox 10">
            <a:extLst>
              <a:ext uri="{FF2B5EF4-FFF2-40B4-BE49-F238E27FC236}">
                <a16:creationId xmlns:a16="http://schemas.microsoft.com/office/drawing/2014/main" id="{399FD005-7515-F1FD-946C-C96F27160648}"/>
              </a:ext>
            </a:extLst>
          </p:cNvPr>
          <p:cNvSpPr txBox="1"/>
          <p:nvPr/>
        </p:nvSpPr>
        <p:spPr>
          <a:xfrm>
            <a:off x="838200" y="3831715"/>
            <a:ext cx="6097314" cy="1383969"/>
          </a:xfrm>
          <a:prstGeom prst="rect">
            <a:avLst/>
          </a:prstGeom>
          <a:noFill/>
        </p:spPr>
        <p:txBody>
          <a:bodyPr wrap="square">
            <a:spAutoFit/>
          </a:bodyPr>
          <a:lstStyle/>
          <a:p>
            <a:pPr marL="1257300" marR="0" lvl="2" indent="-342900" algn="l" defTabSz="914400" rtl="0" eaLnBrk="1" fontAlgn="auto" latinLnBrk="1" hangingPunct="1">
              <a:lnSpc>
                <a:spcPct val="90000"/>
              </a:lnSpc>
              <a:spcBef>
                <a:spcPts val="500"/>
              </a:spcBef>
              <a:spcAft>
                <a:spcPts val="0"/>
              </a:spcAft>
              <a:buClrTx/>
              <a:buSzTx/>
              <a:buFont typeface="+mj-lt"/>
              <a:buAutoNum type="arabicPeriod" startAt="6"/>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Check whether you’re connecting to the port exposed by the service and not the target port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1257300" marR="0" lvl="2" indent="-342900" algn="l" defTabSz="914400" rtl="0" eaLnBrk="1" fontAlgn="auto" latinLnBrk="1" hangingPunct="1">
              <a:lnSpc>
                <a:spcPct val="90000"/>
              </a:lnSpc>
              <a:spcBef>
                <a:spcPts val="500"/>
              </a:spcBef>
              <a:spcAft>
                <a:spcPts val="0"/>
              </a:spcAft>
              <a:buClrTx/>
              <a:buSzTx/>
              <a:buFont typeface="+mj-lt"/>
              <a:buAutoNum type="arabicPeriod" startAt="6"/>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Try connecting to the pod IP directly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confirm your pod is accepting connections on the correct port.</a:t>
            </a:r>
          </a:p>
          <a:p>
            <a:pPr marL="1257300" marR="0" lvl="2" indent="-342900" algn="l" defTabSz="914400" rtl="0" eaLnBrk="1" fontAlgn="auto" latinLnBrk="1" hangingPunct="1">
              <a:lnSpc>
                <a:spcPct val="90000"/>
              </a:lnSpc>
              <a:spcBef>
                <a:spcPts val="500"/>
              </a:spcBef>
              <a:spcAft>
                <a:spcPts val="0"/>
              </a:spcAft>
              <a:buClrTx/>
              <a:buSzTx/>
              <a:buFont typeface="+mj-lt"/>
              <a:buAutoNum type="arabicPeriod" startAt="6"/>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If you can’t even access your app through the pod’s IP</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make sure your app isn’t only binding to localhost</a:t>
            </a:r>
            <a:endParaRPr lang="ko-KR" altLang="en-US" dirty="0"/>
          </a:p>
        </p:txBody>
      </p:sp>
    </p:spTree>
    <p:extLst>
      <p:ext uri="{BB962C8B-B14F-4D97-AF65-F5344CB8AC3E}">
        <p14:creationId xmlns:p14="http://schemas.microsoft.com/office/powerpoint/2010/main" val="21302085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3"/>
          <a:stretch>
            <a:fillRect/>
          </a:stretch>
        </p:blipFill>
        <p:spPr>
          <a:xfrm>
            <a:off x="4990542" y="2209544"/>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103365</TotalTime>
  <Words>13874</Words>
  <Application>Microsoft Office PowerPoint</Application>
  <PresentationFormat>와이드스크린</PresentationFormat>
  <Paragraphs>1310</Paragraphs>
  <Slides>93</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93</vt:i4>
      </vt:variant>
    </vt:vector>
  </HeadingPairs>
  <TitlesOfParts>
    <vt:vector size="97" baseType="lpstr">
      <vt:lpstr>맑은 고딕</vt:lpstr>
      <vt:lpstr>Arial</vt:lpstr>
      <vt:lpstr>Wingdings</vt:lpstr>
      <vt:lpstr>Office 테마</vt:lpstr>
      <vt:lpstr>Kubernetes in Action</vt:lpstr>
      <vt:lpstr>Services</vt:lpstr>
      <vt:lpstr>What is Services?</vt:lpstr>
      <vt:lpstr>Introducing Services(1/22)</vt:lpstr>
      <vt:lpstr>Introducing Services(2/22)</vt:lpstr>
      <vt:lpstr>Introducing Services(3/22)</vt:lpstr>
      <vt:lpstr>Introducing Services(4/22)</vt:lpstr>
      <vt:lpstr>Introducing Services(5/22)</vt:lpstr>
      <vt:lpstr>Introducing Services(6/22)</vt:lpstr>
      <vt:lpstr>NOTE : The Double Dash(“--”) in Command</vt:lpstr>
      <vt:lpstr>Introducing Services(7/22)</vt:lpstr>
      <vt:lpstr>Introducing Services(8/22)</vt:lpstr>
      <vt:lpstr>NOTE : Session Affinity</vt:lpstr>
      <vt:lpstr>Introducing Services(9/22)</vt:lpstr>
      <vt:lpstr>Introducing Services(10/22)</vt:lpstr>
      <vt:lpstr>Introducing Services(11/22)</vt:lpstr>
      <vt:lpstr>Introducing Services(12/22)</vt:lpstr>
      <vt:lpstr>Introducing Services(13/22)</vt:lpstr>
      <vt:lpstr>Introducing Services(14/22)</vt:lpstr>
      <vt:lpstr>NOTE : Executing Command in a Pod </vt:lpstr>
      <vt:lpstr>Introducing Services(15/22)</vt:lpstr>
      <vt:lpstr>Introducing Services(16/22)</vt:lpstr>
      <vt:lpstr>Introducing Services(17/22)</vt:lpstr>
      <vt:lpstr>Introducing Services(18/22)</vt:lpstr>
      <vt:lpstr>Introducing Services(19/22)</vt:lpstr>
      <vt:lpstr>Introducing Services(20/22)</vt:lpstr>
      <vt:lpstr>Introducing Services(21/22)</vt:lpstr>
      <vt:lpstr>Introducing Services(22/22)</vt:lpstr>
      <vt:lpstr>Connecting to Services(1/7)</vt:lpstr>
      <vt:lpstr>Connecting to Services(2/7)</vt:lpstr>
      <vt:lpstr>Connecting to Services(3/7)</vt:lpstr>
      <vt:lpstr>Connecting to Services(4/7)</vt:lpstr>
      <vt:lpstr>Connecting to Services(5/7)</vt:lpstr>
      <vt:lpstr>Connecting to Services(6/7)</vt:lpstr>
      <vt:lpstr>Connecting to Services(7/7)</vt:lpstr>
      <vt:lpstr>Exposing Services to External Clients(1/12)</vt:lpstr>
      <vt:lpstr>Exposing Services to External Clients(2/12)</vt:lpstr>
      <vt:lpstr>Exposing Services to External Clients(3/12)</vt:lpstr>
      <vt:lpstr>Exposing Services to External Clients(4/12)</vt:lpstr>
      <vt:lpstr>NOTE : JSONPath</vt:lpstr>
      <vt:lpstr>Exposing Services to External Clients(5/12)</vt:lpstr>
      <vt:lpstr>NOTE : Using NodePort in Minikube</vt:lpstr>
      <vt:lpstr>Exposing Services to External Clients(6/12)</vt:lpstr>
      <vt:lpstr>Exposing Services to External Clients(7/12)</vt:lpstr>
      <vt:lpstr>NOTE : Minikube </vt:lpstr>
      <vt:lpstr>Exposing Services to External Clients(8/12)</vt:lpstr>
      <vt:lpstr>NOTE : Session Affinity And Web Browsers</vt:lpstr>
      <vt:lpstr>Exposing Services to External Clients(9/12)</vt:lpstr>
      <vt:lpstr>Exposing Services to External Clients(10/12)</vt:lpstr>
      <vt:lpstr>Exposing Services to External Clients(11/12)</vt:lpstr>
      <vt:lpstr>Exposing Services to External Clients(12/12)</vt:lpstr>
      <vt:lpstr>Exposing Services Externally Through an Ingress Resource(1/16)</vt:lpstr>
      <vt:lpstr>Exposing Services Externally Through an Ingress Resource(2/16)</vt:lpstr>
      <vt:lpstr>NOTE : Minikube Addons</vt:lpstr>
      <vt:lpstr>Exposing Services Externally Through an Ingress Resource(3/16)</vt:lpstr>
      <vt:lpstr>Exposing Services Externally Through an Ingress Resource(4/16)</vt:lpstr>
      <vt:lpstr>Exposing Services Externally Through an Ingress Resource(5/16)</vt:lpstr>
      <vt:lpstr>NOTE : Registering Host Name</vt:lpstr>
      <vt:lpstr>Exposing Services Externally Through an Ingress Resource(6/16)</vt:lpstr>
      <vt:lpstr>Exposing Services Externally Through an Ingress Resource(7/16)</vt:lpstr>
      <vt:lpstr>Exposing Services Externally Through an Ingress Resource(8/16)</vt:lpstr>
      <vt:lpstr>Exposing Services Externally Through an Ingress Resource(9/16)</vt:lpstr>
      <vt:lpstr>Exposing Services Externally Through an Ingress Resource(10/16)</vt:lpstr>
      <vt:lpstr>Exposing Services Externally Through an Ingress Resource(11/16)</vt:lpstr>
      <vt:lpstr>NOTE : Adding Ingress</vt:lpstr>
      <vt:lpstr>Exposing Services Externally Through an Ingress Resource(12/16)</vt:lpstr>
      <vt:lpstr>Exposing Services Externally Through an Ingress Resource(13/16)</vt:lpstr>
      <vt:lpstr>Exposing Services Externally Through an Ingress Resource(14/16)</vt:lpstr>
      <vt:lpstr>Exposing Services Externally Through an Ingress Resource(15/16)</vt:lpstr>
      <vt:lpstr>Exposing Services Externally Through an Ingress Resource(16/16)</vt:lpstr>
      <vt:lpstr>Signaling When a Pod is Ready to Accept Connections(1/12)</vt:lpstr>
      <vt:lpstr>Signaling When a Pod is Ready to Accept Connections(2/12)</vt:lpstr>
      <vt:lpstr>Signaling When a Pod is Ready to Accept Connections(3/12)</vt:lpstr>
      <vt:lpstr>Signaling When a Pod is Ready to Accept Connections(4/12)</vt:lpstr>
      <vt:lpstr>Signaling When a Pod is Ready to Accept Connections(5/12)</vt:lpstr>
      <vt:lpstr>NOTE : Using Editor for Configuration Change</vt:lpstr>
      <vt:lpstr>Signaling When a Pod is Ready to Accept Connections(6/12)</vt:lpstr>
      <vt:lpstr>Signaling When a Pod is Ready to Accept Connections(7/12)</vt:lpstr>
      <vt:lpstr>Signaling When a Pod is Ready to Accept Connections(8/12)</vt:lpstr>
      <vt:lpstr>Signaling When a Pod is Ready to Accept Connections(9/12)</vt:lpstr>
      <vt:lpstr>Signaling When a Pod is Ready to Accept Connections(10/12)</vt:lpstr>
      <vt:lpstr>Signaling When a Pod is Ready to Accept Connections(11/12)</vt:lpstr>
      <vt:lpstr>Signaling When a Pod is Ready to Accept Connections(12/12)</vt:lpstr>
      <vt:lpstr>Using a Headless Service for Discovering Individual Pods(1/7)</vt:lpstr>
      <vt:lpstr>Using a Headless Service for Discovering Individual Pods(2/7)</vt:lpstr>
      <vt:lpstr>Using a Headless Service for Discovering Individual Pods(3/7)</vt:lpstr>
      <vt:lpstr>Using a Headless Service for Discovering Individual Pods(4/7)</vt:lpstr>
      <vt:lpstr>Using a Headless Service for Discovering Individual Pods(5/7)</vt:lpstr>
      <vt:lpstr>Using a Headless Service for Discovering Individual Pods(6/7)</vt:lpstr>
      <vt:lpstr>Using a Headless Service for Discovering Individual Pods(7/7)</vt:lpstr>
      <vt:lpstr>Troubleshooting Services</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4842</cp:revision>
  <dcterms:created xsi:type="dcterms:W3CDTF">2020-11-26T08:00:10Z</dcterms:created>
  <dcterms:modified xsi:type="dcterms:W3CDTF">2026-08-18T02:39:33Z</dcterms:modified>
</cp:coreProperties>
</file>