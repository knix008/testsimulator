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3"/>
  </p:notesMasterIdLst>
  <p:sldIdLst>
    <p:sldId id="256" r:id="rId2"/>
    <p:sldId id="776" r:id="rId3"/>
    <p:sldId id="1697" r:id="rId4"/>
    <p:sldId id="1698" r:id="rId5"/>
    <p:sldId id="1699" r:id="rId6"/>
    <p:sldId id="1700" r:id="rId7"/>
    <p:sldId id="1701" r:id="rId8"/>
    <p:sldId id="1702" r:id="rId9"/>
    <p:sldId id="1703" r:id="rId10"/>
    <p:sldId id="1704" r:id="rId11"/>
    <p:sldId id="1705" r:id="rId12"/>
    <p:sldId id="1706" r:id="rId13"/>
    <p:sldId id="1707" r:id="rId14"/>
    <p:sldId id="1708" r:id="rId15"/>
    <p:sldId id="1709" r:id="rId16"/>
    <p:sldId id="1710" r:id="rId17"/>
    <p:sldId id="1711" r:id="rId18"/>
    <p:sldId id="1712" r:id="rId19"/>
    <p:sldId id="1713" r:id="rId20"/>
    <p:sldId id="1714" r:id="rId21"/>
    <p:sldId id="1715" r:id="rId22"/>
    <p:sldId id="1716" r:id="rId23"/>
    <p:sldId id="1717" r:id="rId24"/>
    <p:sldId id="1718" r:id="rId25"/>
    <p:sldId id="1719" r:id="rId26"/>
    <p:sldId id="1720" r:id="rId27"/>
    <p:sldId id="1721" r:id="rId28"/>
    <p:sldId id="1722" r:id="rId29"/>
    <p:sldId id="1723" r:id="rId30"/>
    <p:sldId id="1724" r:id="rId31"/>
    <p:sldId id="1725" r:id="rId32"/>
    <p:sldId id="1726" r:id="rId33"/>
    <p:sldId id="1727" r:id="rId34"/>
    <p:sldId id="1728" r:id="rId35"/>
    <p:sldId id="1729" r:id="rId36"/>
    <p:sldId id="1730" r:id="rId37"/>
    <p:sldId id="1731" r:id="rId38"/>
    <p:sldId id="1734" r:id="rId39"/>
    <p:sldId id="1732" r:id="rId40"/>
    <p:sldId id="1733" r:id="rId41"/>
    <p:sldId id="1735" r:id="rId42"/>
    <p:sldId id="1736" r:id="rId43"/>
    <p:sldId id="1737" r:id="rId44"/>
    <p:sldId id="1738" r:id="rId45"/>
    <p:sldId id="1739" r:id="rId46"/>
    <p:sldId id="1740" r:id="rId47"/>
    <p:sldId id="1741" r:id="rId48"/>
    <p:sldId id="1742" r:id="rId49"/>
    <p:sldId id="1743" r:id="rId50"/>
    <p:sldId id="1744" r:id="rId51"/>
    <p:sldId id="1745" r:id="rId52"/>
    <p:sldId id="1746" r:id="rId53"/>
    <p:sldId id="1747" r:id="rId54"/>
    <p:sldId id="1748" r:id="rId55"/>
    <p:sldId id="1749" r:id="rId56"/>
    <p:sldId id="1750" r:id="rId57"/>
    <p:sldId id="1793" r:id="rId58"/>
    <p:sldId id="1792" r:id="rId59"/>
    <p:sldId id="1753" r:id="rId60"/>
    <p:sldId id="1754" r:id="rId61"/>
    <p:sldId id="1755" r:id="rId62"/>
    <p:sldId id="1756" r:id="rId63"/>
    <p:sldId id="1757" r:id="rId64"/>
    <p:sldId id="1758" r:id="rId65"/>
    <p:sldId id="1759" r:id="rId66"/>
    <p:sldId id="1760" r:id="rId67"/>
    <p:sldId id="1761" r:id="rId68"/>
    <p:sldId id="1762" r:id="rId69"/>
    <p:sldId id="1763" r:id="rId70"/>
    <p:sldId id="1764" r:id="rId71"/>
    <p:sldId id="1765" r:id="rId72"/>
    <p:sldId id="1766" r:id="rId73"/>
    <p:sldId id="1767" r:id="rId74"/>
    <p:sldId id="1768" r:id="rId75"/>
    <p:sldId id="1769" r:id="rId76"/>
    <p:sldId id="1770" r:id="rId77"/>
    <p:sldId id="1771" r:id="rId78"/>
    <p:sldId id="1772" r:id="rId79"/>
    <p:sldId id="1773" r:id="rId80"/>
    <p:sldId id="1774" r:id="rId81"/>
    <p:sldId id="1775" r:id="rId82"/>
    <p:sldId id="1776" r:id="rId83"/>
    <p:sldId id="1777" r:id="rId84"/>
    <p:sldId id="1778" r:id="rId85"/>
    <p:sldId id="1779" r:id="rId86"/>
    <p:sldId id="1780" r:id="rId87"/>
    <p:sldId id="1781" r:id="rId88"/>
    <p:sldId id="1782" r:id="rId89"/>
    <p:sldId id="1783" r:id="rId90"/>
    <p:sldId id="1784" r:id="rId91"/>
    <p:sldId id="1785" r:id="rId92"/>
    <p:sldId id="1786" r:id="rId93"/>
    <p:sldId id="1787" r:id="rId94"/>
    <p:sldId id="1788" r:id="rId95"/>
    <p:sldId id="1789" r:id="rId96"/>
    <p:sldId id="1790" r:id="rId97"/>
    <p:sldId id="1791" r:id="rId98"/>
    <p:sldId id="1794" r:id="rId99"/>
    <p:sldId id="1795" r:id="rId100"/>
    <p:sldId id="1796" r:id="rId101"/>
    <p:sldId id="1797" r:id="rId102"/>
    <p:sldId id="1798" r:id="rId103"/>
    <p:sldId id="1799" r:id="rId104"/>
    <p:sldId id="1800" r:id="rId105"/>
    <p:sldId id="1801" r:id="rId106"/>
    <p:sldId id="1802" r:id="rId107"/>
    <p:sldId id="1803" r:id="rId108"/>
    <p:sldId id="1804" r:id="rId109"/>
    <p:sldId id="1805" r:id="rId110"/>
    <p:sldId id="1806" r:id="rId111"/>
    <p:sldId id="1807" r:id="rId112"/>
    <p:sldId id="1808" r:id="rId113"/>
    <p:sldId id="1809" r:id="rId114"/>
    <p:sldId id="1810" r:id="rId115"/>
    <p:sldId id="1811" r:id="rId116"/>
    <p:sldId id="1812" r:id="rId117"/>
    <p:sldId id="1817" r:id="rId118"/>
    <p:sldId id="1813" r:id="rId119"/>
    <p:sldId id="1814" r:id="rId120"/>
    <p:sldId id="1815" r:id="rId121"/>
    <p:sldId id="1816" r:id="rId122"/>
    <p:sldId id="1818" r:id="rId123"/>
    <p:sldId id="1819" r:id="rId124"/>
    <p:sldId id="1820" r:id="rId125"/>
    <p:sldId id="1821" r:id="rId126"/>
    <p:sldId id="1822" r:id="rId127"/>
    <p:sldId id="1823" r:id="rId128"/>
    <p:sldId id="1824" r:id="rId129"/>
    <p:sldId id="1825" r:id="rId130"/>
    <p:sldId id="281" r:id="rId131"/>
    <p:sldId id="259" r:id="rId13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2" autoAdjust="0"/>
    <p:restoredTop sz="94660"/>
  </p:normalViewPr>
  <p:slideViewPr>
    <p:cSldViewPr snapToGrid="0">
      <p:cViewPr varScale="1">
        <p:scale>
          <a:sx n="113" d="100"/>
          <a:sy n="113" d="100"/>
        </p:scale>
        <p:origin x="108" y="6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commentAuthors" Target="commen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hyperlink" Target="https://kubernetes.io/docs/tasks/administer-cluster/configure-upgrade-etcd/"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kubernetes.io/docs/admin/admission-controllers/"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hyperlink" Target="https://github.com/kubernetes/kubernetes/blob/master/pkg/controller"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6.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8.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1.em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6.em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hyperlink" Target="https://kubernetes.io/docs/concepts/cluster-administration/addons/" TargetMode="Externa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20.em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hyperlink" Target="https://github.com/kubernetes/contrib/tree/master/election" TargetMode="Externa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22.emf"/><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25.emf"/><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hyperlink" Target="https://minikube.sigs.k8s.io/docs/" TargetMode="External"/><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13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VI</a:t>
            </a:r>
          </a:p>
          <a:p>
            <a:endParaRPr lang="en-US" altLang="ko-KR" b="1" dirty="0"/>
          </a:p>
          <a:p>
            <a:r>
              <a:rPr lang="en-US" altLang="ko-KR" sz="2000" b="1"/>
              <a:t>2028.08.25</a:t>
            </a:r>
            <a:endParaRPr lang="en-US" altLang="ko-KR" sz="2000" b="1" dirty="0"/>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err="1"/>
              <a:t>StatefulSets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Deploying Replicated Stateful Applications</a:t>
            </a:r>
            <a:endParaRPr lang="ko-KR" altLang="en-US" sz="2800" b="1" dirty="0"/>
          </a:p>
        </p:txBody>
      </p: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Replicating</a:t>
            </a:r>
            <a:r>
              <a:rPr lang="ko-KR" altLang="en-US" sz="2800" b="1" dirty="0"/>
              <a:t> </a:t>
            </a:r>
            <a:r>
              <a:rPr lang="en-US" altLang="ko-KR" sz="2800" b="1" dirty="0"/>
              <a:t>Stateful</a:t>
            </a:r>
            <a:r>
              <a:rPr lang="ko-KR" altLang="en-US" sz="2800" b="1" dirty="0"/>
              <a:t> </a:t>
            </a:r>
            <a:r>
              <a:rPr lang="en-US" altLang="ko-KR" sz="2800" b="1" dirty="0"/>
              <a:t>Pods(1/5)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StatefulSets</a:t>
            </a:r>
            <a:r>
              <a:rPr lang="en-US" altLang="ko-KR" sz="1800" b="1" dirty="0"/>
              <a:t> :</a:t>
            </a:r>
            <a:endParaRPr lang="en-US" altLang="ko-KR" sz="1400" dirty="0"/>
          </a:p>
          <a:p>
            <a:pPr lvl="1">
              <a:buFont typeface="Wingdings" panose="05000000000000000000" pitchFamily="2" charset="2"/>
              <a:buChar char="§"/>
            </a:pPr>
            <a:r>
              <a:rPr lang="en-US" altLang="ko-KR" sz="1400" b="1" dirty="0" err="1"/>
              <a:t>ReplicaSets</a:t>
            </a:r>
            <a:r>
              <a:rPr lang="en-US" altLang="ko-KR" sz="1400" b="1" dirty="0"/>
              <a:t> create multiple pod replicas from a single pod template</a:t>
            </a:r>
            <a:r>
              <a:rPr lang="en-US" altLang="ko-KR" sz="1400" dirty="0"/>
              <a:t>. These replicas don’t differ from each other, apart from </a:t>
            </a:r>
            <a:r>
              <a:rPr lang="en-US" altLang="ko-KR" sz="1400" b="1" dirty="0"/>
              <a:t>their name </a:t>
            </a:r>
            <a:r>
              <a:rPr lang="en-US" altLang="ko-KR" sz="1400" dirty="0"/>
              <a:t>and </a:t>
            </a:r>
            <a:r>
              <a:rPr lang="en-US" altLang="ko-KR" sz="1400" b="1" dirty="0"/>
              <a:t>IP address</a:t>
            </a:r>
            <a:r>
              <a:rPr lang="en-US" altLang="ko-KR" sz="1400" dirty="0"/>
              <a:t>. If the pod template includes a volume, which refers to a specific </a:t>
            </a:r>
            <a:r>
              <a:rPr lang="en-US" altLang="ko-KR" sz="1400" b="1" dirty="0" err="1"/>
              <a:t>PersistentVolumeClaim</a:t>
            </a:r>
            <a:r>
              <a:rPr lang="en-US" altLang="ko-KR" sz="1400" dirty="0"/>
              <a:t>, </a:t>
            </a:r>
            <a:r>
              <a:rPr lang="en-US" altLang="ko-KR" sz="1400" b="1" dirty="0"/>
              <a:t>all replicas of the </a:t>
            </a:r>
            <a:r>
              <a:rPr lang="en-US" altLang="ko-KR" sz="1400" b="1" dirty="0" err="1"/>
              <a:t>ReplicaSet</a:t>
            </a:r>
            <a:r>
              <a:rPr lang="en-US" altLang="ko-KR" sz="1400" b="1" dirty="0"/>
              <a:t> will use the exact same </a:t>
            </a:r>
            <a:r>
              <a:rPr lang="en-US" altLang="ko-KR" sz="1400" b="1" dirty="0" err="1"/>
              <a:t>PersistentVolumeClaim</a:t>
            </a:r>
            <a:r>
              <a:rPr lang="en-US" altLang="ko-KR" sz="1400" b="1" dirty="0"/>
              <a:t> and therefore the same </a:t>
            </a:r>
            <a:r>
              <a:rPr lang="en-US" altLang="ko-KR" sz="1400" b="1" dirty="0" err="1"/>
              <a:t>PersistentVolume</a:t>
            </a:r>
            <a:r>
              <a:rPr lang="en-US" altLang="ko-KR" sz="1400" dirty="0"/>
              <a:t> bound by the claim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Because the reference to the claim is in the pod template, which is used to stamp out multiple pod replicas, you can’t </a:t>
            </a:r>
            <a:r>
              <a:rPr lang="en-US" altLang="ko-KR" sz="1400" b="1" dirty="0">
                <a:solidFill>
                  <a:srgbClr val="FF0000"/>
                </a:solidFill>
              </a:rPr>
              <a:t>make each replica use its own separate </a:t>
            </a:r>
            <a:r>
              <a:rPr lang="en-US" altLang="ko-KR" sz="1400" b="1" dirty="0" err="1">
                <a:solidFill>
                  <a:srgbClr val="FF0000"/>
                </a:solidFill>
              </a:rPr>
              <a:t>PersistentVolumeClaim</a:t>
            </a:r>
            <a:r>
              <a:rPr lang="en-US" altLang="ko-KR" sz="1400" dirty="0"/>
              <a:t>. </a:t>
            </a:r>
            <a:r>
              <a:rPr lang="en-US" altLang="ko-KR" sz="1400" b="1" dirty="0"/>
              <a:t>You can’t use a </a:t>
            </a:r>
            <a:r>
              <a:rPr lang="en-US" altLang="ko-KR" sz="1400" b="1" dirty="0" err="1"/>
              <a:t>ReplicaSet</a:t>
            </a:r>
            <a:r>
              <a:rPr lang="en-US" altLang="ko-KR" sz="1400" b="1" dirty="0"/>
              <a:t> to run a distributed data store, where each instance needs its own separate storage</a:t>
            </a:r>
            <a:r>
              <a:rPr lang="en-US" altLang="ko-KR" sz="1400" dirty="0"/>
              <a:t>—at least not by using a single </a:t>
            </a:r>
            <a:r>
              <a:rPr lang="en-US" altLang="ko-KR" sz="1400" b="1" dirty="0" err="1"/>
              <a:t>ReplicaSet</a:t>
            </a:r>
            <a:r>
              <a:rPr lang="en-US" altLang="ko-KR" sz="1400" dirty="0"/>
              <a:t>. To be honest, none of the API objects you’ve seen so far make running such a data store possible. You need something else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B311902-0862-3B01-38C7-25B59098CC4B}"/>
              </a:ext>
            </a:extLst>
          </p:cNvPr>
          <p:cNvPicPr>
            <a:picLocks noChangeAspect="1"/>
          </p:cNvPicPr>
          <p:nvPr/>
        </p:nvPicPr>
        <p:blipFill>
          <a:blip r:embed="rId2"/>
          <a:stretch>
            <a:fillRect/>
          </a:stretch>
        </p:blipFill>
        <p:spPr>
          <a:xfrm>
            <a:off x="4129548" y="2099296"/>
            <a:ext cx="3932903" cy="1386348"/>
          </a:xfrm>
          <a:prstGeom prst="rect">
            <a:avLst/>
          </a:prstGeom>
        </p:spPr>
      </p:pic>
      <p:pic>
        <p:nvPicPr>
          <p:cNvPr id="9" name="그림 8">
            <a:extLst>
              <a:ext uri="{FF2B5EF4-FFF2-40B4-BE49-F238E27FC236}">
                <a16:creationId xmlns:a16="http://schemas.microsoft.com/office/drawing/2014/main" id="{A2FE8429-051D-BBA3-EBD0-80D77242687A}"/>
              </a:ext>
            </a:extLst>
          </p:cNvPr>
          <p:cNvPicPr>
            <a:picLocks noChangeAspect="1"/>
          </p:cNvPicPr>
          <p:nvPr/>
        </p:nvPicPr>
        <p:blipFill>
          <a:blip r:embed="rId3"/>
          <a:stretch>
            <a:fillRect/>
          </a:stretch>
        </p:blipFill>
        <p:spPr>
          <a:xfrm>
            <a:off x="5172748" y="4590504"/>
            <a:ext cx="1846503" cy="1818526"/>
          </a:xfrm>
          <a:prstGeom prst="rect">
            <a:avLst/>
          </a:prstGeom>
        </p:spPr>
      </p:pic>
    </p:spTree>
    <p:extLst>
      <p:ext uri="{BB962C8B-B14F-4D97-AF65-F5344CB8AC3E}">
        <p14:creationId xmlns:p14="http://schemas.microsoft.com/office/powerpoint/2010/main" val="470128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Replicating</a:t>
            </a:r>
            <a:r>
              <a:rPr lang="ko-KR" altLang="en-US" sz="2800" b="1" dirty="0"/>
              <a:t> </a:t>
            </a:r>
            <a:r>
              <a:rPr lang="en-US" altLang="ko-KR" sz="2800" b="1" dirty="0"/>
              <a:t>Stateful</a:t>
            </a:r>
            <a:r>
              <a:rPr lang="ko-KR" altLang="en-US" sz="2800" b="1" dirty="0"/>
              <a:t> </a:t>
            </a:r>
            <a:r>
              <a:rPr lang="en-US" altLang="ko-KR" sz="2800" b="1" dirty="0"/>
              <a:t>Pods(2/5)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Multiple Replicas with Separate Storage for Each :</a:t>
            </a:r>
          </a:p>
          <a:p>
            <a:pPr lvl="1">
              <a:buFont typeface="Wingdings" panose="05000000000000000000" pitchFamily="2" charset="2"/>
              <a:buChar char="§"/>
            </a:pPr>
            <a:r>
              <a:rPr lang="en-US" altLang="ko-KR" sz="1400" dirty="0"/>
              <a:t>How does one run multiple replicas of a pod and have each pod use its own storage volume? </a:t>
            </a:r>
            <a:r>
              <a:rPr lang="en-US" altLang="ko-KR" sz="1400" b="1" dirty="0" err="1"/>
              <a:t>ReplicaSets</a:t>
            </a:r>
            <a:r>
              <a:rPr lang="en-US" altLang="ko-KR" sz="1400" b="1" dirty="0"/>
              <a:t> create exact copies (replicas) of a pod</a:t>
            </a:r>
            <a:r>
              <a:rPr lang="en-US" altLang="ko-KR" sz="1400" dirty="0"/>
              <a:t>; therefore you can’t use them for these types of pods. What can you use?</a:t>
            </a:r>
          </a:p>
          <a:p>
            <a:pPr lvl="1">
              <a:buFont typeface="Wingdings" panose="05000000000000000000" pitchFamily="2" charset="2"/>
              <a:buChar char="§"/>
            </a:pPr>
            <a:r>
              <a:rPr lang="en-US" altLang="ko-KR" sz="1400" b="1" dirty="0"/>
              <a:t>You could create pods manually and have each of them use its own </a:t>
            </a:r>
            <a:r>
              <a:rPr lang="en-US" altLang="ko-KR" sz="1400" b="1" dirty="0" err="1"/>
              <a:t>PersistentVolumeClaim</a:t>
            </a:r>
            <a:r>
              <a:rPr lang="en-US" altLang="ko-KR" sz="1400" dirty="0"/>
              <a:t>, but because no </a:t>
            </a:r>
            <a:r>
              <a:rPr lang="en-US" altLang="ko-KR" sz="1400" b="1" dirty="0" err="1"/>
              <a:t>ReplicaSet</a:t>
            </a:r>
            <a:r>
              <a:rPr lang="en-US" altLang="ko-KR" sz="1400" dirty="0"/>
              <a:t> looks after them, you’d need to manage them manually and recreate them when they disappear (as in the event of a node failure). Therefore, this isn’t a viable option.</a:t>
            </a:r>
          </a:p>
          <a:p>
            <a:pPr lvl="1">
              <a:buFont typeface="Wingdings" panose="05000000000000000000" pitchFamily="2" charset="2"/>
              <a:buChar char="§"/>
            </a:pPr>
            <a:r>
              <a:rPr lang="en-US" altLang="ko-KR" sz="1400" b="1" dirty="0"/>
              <a:t>Instead of creating pods directly, you could create multiple </a:t>
            </a:r>
            <a:r>
              <a:rPr lang="en-US" altLang="ko-KR" sz="1400" b="1" dirty="0" err="1"/>
              <a:t>ReplicaSets</a:t>
            </a:r>
            <a:r>
              <a:rPr lang="en-US" altLang="ko-KR" sz="1400" dirty="0"/>
              <a:t>—one for each pod with each </a:t>
            </a:r>
            <a:r>
              <a:rPr lang="en-US" altLang="ko-KR" sz="1400" b="1" dirty="0" err="1"/>
              <a:t>ReplicaSet’s</a:t>
            </a:r>
            <a:r>
              <a:rPr lang="en-US" altLang="ko-KR" sz="1400" b="1" dirty="0"/>
              <a:t> desired replica count set to one</a:t>
            </a:r>
            <a:r>
              <a:rPr lang="en-US" altLang="ko-KR" sz="1400" dirty="0"/>
              <a:t>, and </a:t>
            </a:r>
            <a:r>
              <a:rPr lang="en-US" altLang="ko-KR" sz="1400" b="1" dirty="0"/>
              <a:t>each </a:t>
            </a:r>
            <a:r>
              <a:rPr lang="en-US" altLang="ko-KR" sz="1400" b="1" dirty="0" err="1"/>
              <a:t>ReplicaSet’s</a:t>
            </a:r>
            <a:r>
              <a:rPr lang="en-US" altLang="ko-KR" sz="1400" b="1" dirty="0"/>
              <a:t> pod template referencing a dedicated </a:t>
            </a:r>
            <a:r>
              <a:rPr lang="en-US" altLang="ko-KR" sz="1400" b="1" dirty="0" err="1"/>
              <a:t>PersistentVolumeClaim</a:t>
            </a:r>
            <a:r>
              <a:rPr lang="en-US" altLang="ko-KR" sz="1400" b="1" dirty="0"/>
              <a:t> </a:t>
            </a:r>
            <a:r>
              <a:rPr lang="en-US" altLang="ko-KR" sz="1400" dirty="0"/>
              <a:t>(as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Although this takes care of the automatic rescheduling in case of node failures or accidental pod deletions, </a:t>
            </a:r>
            <a:r>
              <a:rPr lang="en-US" altLang="ko-KR" sz="1400" b="1" dirty="0"/>
              <a:t>it’s much more cumbersome compared to having a single </a:t>
            </a:r>
            <a:r>
              <a:rPr lang="en-US" altLang="ko-KR" sz="1400" b="1" dirty="0" err="1"/>
              <a:t>ReplicaSet</a:t>
            </a:r>
            <a:r>
              <a:rPr lang="en-US" altLang="ko-KR" sz="1400" dirty="0"/>
              <a:t>. For example, think about how you’d scale the pods in that case. You couldn’t change the desired replica count—you’d have to create additional </a:t>
            </a:r>
            <a:r>
              <a:rPr lang="en-US" altLang="ko-KR" sz="1400" b="1" dirty="0" err="1"/>
              <a:t>ReplicaSets</a:t>
            </a:r>
            <a:r>
              <a:rPr lang="en-US" altLang="ko-KR" sz="1400" dirty="0"/>
              <a:t> instead.</a:t>
            </a:r>
          </a:p>
          <a:p>
            <a:pPr lvl="1">
              <a:buFont typeface="Wingdings" panose="05000000000000000000" pitchFamily="2" charset="2"/>
              <a:buChar char="§"/>
            </a:pPr>
            <a:r>
              <a:rPr lang="en-US" altLang="ko-KR" sz="1400" b="1" dirty="0"/>
              <a:t>Using multiple </a:t>
            </a:r>
            <a:r>
              <a:rPr lang="en-US" altLang="ko-KR" sz="1400" b="1" dirty="0" err="1"/>
              <a:t>ReplicaSets</a:t>
            </a:r>
            <a:r>
              <a:rPr lang="en-US" altLang="ko-KR" sz="1400" b="1" dirty="0"/>
              <a:t> is therefore not the best solution</a:t>
            </a:r>
            <a:r>
              <a:rPr lang="en-US" altLang="ko-KR" sz="1400" dirty="0"/>
              <a:t>. But could you maybe </a:t>
            </a:r>
            <a:r>
              <a:rPr lang="en-US" altLang="ko-KR" sz="1400" b="1" dirty="0"/>
              <a:t>use a single </a:t>
            </a:r>
            <a:r>
              <a:rPr lang="en-US" altLang="ko-KR" sz="1400" b="1" dirty="0" err="1"/>
              <a:t>ReplicaSet</a:t>
            </a:r>
            <a:r>
              <a:rPr lang="en-US" altLang="ko-KR" sz="1400" b="1" dirty="0"/>
              <a:t> and have each pod instance keep its own persistent state</a:t>
            </a:r>
            <a:r>
              <a:rPr lang="en-US" altLang="ko-KR" sz="1400" dirty="0"/>
              <a:t>, </a:t>
            </a:r>
            <a:r>
              <a:rPr lang="en-US" altLang="ko-KR" sz="1400" b="1" dirty="0"/>
              <a:t>even though they’re all using the same storage volume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CF15D5E0-61DF-24FA-1366-754BD4D505EB}"/>
              </a:ext>
            </a:extLst>
          </p:cNvPr>
          <p:cNvPicPr>
            <a:picLocks noChangeAspect="1"/>
          </p:cNvPicPr>
          <p:nvPr/>
        </p:nvPicPr>
        <p:blipFill>
          <a:blip r:embed="rId2"/>
          <a:stretch>
            <a:fillRect/>
          </a:stretch>
        </p:blipFill>
        <p:spPr>
          <a:xfrm>
            <a:off x="4247535" y="3145318"/>
            <a:ext cx="3696929" cy="1406013"/>
          </a:xfrm>
          <a:prstGeom prst="rect">
            <a:avLst/>
          </a:prstGeom>
        </p:spPr>
      </p:pic>
    </p:spTree>
    <p:extLst>
      <p:ext uri="{BB962C8B-B14F-4D97-AF65-F5344CB8AC3E}">
        <p14:creationId xmlns:p14="http://schemas.microsoft.com/office/powerpoint/2010/main" val="1901602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Replicating</a:t>
            </a:r>
            <a:r>
              <a:rPr lang="ko-KR" altLang="en-US" sz="2800" b="1" dirty="0"/>
              <a:t> </a:t>
            </a:r>
            <a:r>
              <a:rPr lang="en-US" altLang="ko-KR" sz="2800" b="1" dirty="0"/>
              <a:t>Stateful</a:t>
            </a:r>
            <a:r>
              <a:rPr lang="ko-KR" altLang="en-US" sz="2800" b="1" dirty="0"/>
              <a:t> </a:t>
            </a:r>
            <a:r>
              <a:rPr lang="en-US" altLang="ko-KR" sz="2800" b="1" dirty="0"/>
              <a:t>Pods(3/5)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Multiple Replicas with Separate Storage for Each :</a:t>
            </a:r>
          </a:p>
          <a:p>
            <a:pPr lvl="1">
              <a:buFont typeface="Wingdings" panose="05000000000000000000" pitchFamily="2" charset="2"/>
              <a:buChar char="§"/>
            </a:pPr>
            <a:r>
              <a:rPr lang="en-US" altLang="ko-KR" sz="1400" b="1" dirty="0"/>
              <a:t>A trick you can use is to have all pods use the same </a:t>
            </a:r>
            <a:r>
              <a:rPr lang="en-US" altLang="ko-KR" sz="1400" b="1" dirty="0" err="1"/>
              <a:t>PersistentVolume</a:t>
            </a:r>
            <a:r>
              <a:rPr lang="en-US" altLang="ko-KR" sz="1400" b="1" dirty="0"/>
              <a:t>, but then have a separate file directory inside that volume for each pod </a:t>
            </a:r>
            <a:r>
              <a:rPr lang="en-US" altLang="ko-KR" sz="1400" dirty="0"/>
              <a:t>(this is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Because you can’t configure pod replicas differently from a single pod template, you can’t tell each instance what directory it should use, but you can make each instance automatically select (and possibly also create) a data directory that isn’t being used by any other instance at that time</a:t>
            </a:r>
            <a:r>
              <a:rPr lang="en-US" altLang="ko-KR" sz="1400" dirty="0"/>
              <a:t>. This solution does require coordination between the instances, and isn’t easy to do correctly. </a:t>
            </a:r>
            <a:r>
              <a:rPr lang="en-US" altLang="ko-KR" sz="1400" b="1" dirty="0"/>
              <a:t>It also makes the shared storage volume the bottleneck</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272CE56-26B0-DBBD-B2D8-30354BDEA7C9}"/>
              </a:ext>
            </a:extLst>
          </p:cNvPr>
          <p:cNvPicPr>
            <a:picLocks noChangeAspect="1"/>
          </p:cNvPicPr>
          <p:nvPr/>
        </p:nvPicPr>
        <p:blipFill>
          <a:blip r:embed="rId2"/>
          <a:stretch>
            <a:fillRect/>
          </a:stretch>
        </p:blipFill>
        <p:spPr>
          <a:xfrm>
            <a:off x="4090219" y="1875416"/>
            <a:ext cx="4011561" cy="1691148"/>
          </a:xfrm>
          <a:prstGeom prst="rect">
            <a:avLst/>
          </a:prstGeom>
        </p:spPr>
      </p:pic>
    </p:spTree>
    <p:extLst>
      <p:ext uri="{BB962C8B-B14F-4D97-AF65-F5344CB8AC3E}">
        <p14:creationId xmlns:p14="http://schemas.microsoft.com/office/powerpoint/2010/main" val="2455999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Replicating</a:t>
            </a:r>
            <a:r>
              <a:rPr lang="ko-KR" altLang="en-US" sz="2800" b="1" dirty="0"/>
              <a:t> </a:t>
            </a:r>
            <a:r>
              <a:rPr lang="en-US" altLang="ko-KR" sz="2800" b="1" dirty="0"/>
              <a:t>Stateful</a:t>
            </a:r>
            <a:r>
              <a:rPr lang="ko-KR" altLang="en-US" sz="2800" b="1" dirty="0"/>
              <a:t> </a:t>
            </a:r>
            <a:r>
              <a:rPr lang="en-US" altLang="ko-KR" sz="2800" b="1" dirty="0"/>
              <a:t>Pods(4/5)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Stable Identity for Each Pod :</a:t>
            </a:r>
          </a:p>
          <a:p>
            <a:pPr lvl="1">
              <a:buFont typeface="Wingdings" panose="05000000000000000000" pitchFamily="2" charset="2"/>
              <a:buChar char="§"/>
            </a:pPr>
            <a:r>
              <a:rPr lang="en-US" altLang="ko-KR" sz="1400" b="1" dirty="0"/>
              <a:t>In addition to storage, certain clustered applications also require that each instance has </a:t>
            </a:r>
            <a:r>
              <a:rPr lang="en-US" altLang="ko-KR" sz="1400" b="1" dirty="0">
                <a:solidFill>
                  <a:srgbClr val="FF0000"/>
                </a:solidFill>
              </a:rPr>
              <a:t>a long-lived stable identity</a:t>
            </a:r>
            <a:r>
              <a:rPr lang="en-US" altLang="ko-KR" sz="1400" dirty="0"/>
              <a:t>. Pods can be killed from time to time and replaced with new ones. </a:t>
            </a:r>
            <a:r>
              <a:rPr lang="en-US" altLang="ko-KR" sz="1400" b="1" dirty="0"/>
              <a:t>When a </a:t>
            </a:r>
            <a:r>
              <a:rPr lang="en-US" altLang="ko-KR" sz="1400" b="1" dirty="0" err="1"/>
              <a:t>ReplicaSet</a:t>
            </a:r>
            <a:r>
              <a:rPr lang="en-US" altLang="ko-KR" sz="1400" b="1" dirty="0"/>
              <a:t> replaces a pod, the new pod is a completely new pod with a new hostname and IP, although the data in its storage volume may be that of the killed pod</a:t>
            </a:r>
            <a:r>
              <a:rPr lang="en-US" altLang="ko-KR" sz="1400" dirty="0"/>
              <a:t>. For certain apps, starting up with the old instance’s data but with a completely new network identity may cause problems.</a:t>
            </a:r>
          </a:p>
          <a:p>
            <a:pPr lvl="1">
              <a:buFont typeface="Wingdings" panose="05000000000000000000" pitchFamily="2" charset="2"/>
              <a:buChar char="§"/>
            </a:pPr>
            <a:r>
              <a:rPr lang="en-US" altLang="ko-KR" sz="1400" b="1" dirty="0"/>
              <a:t>Why do certain apps mandate a stable network identity? </a:t>
            </a:r>
            <a:r>
              <a:rPr lang="en-US" altLang="ko-KR" sz="1400" dirty="0"/>
              <a:t>This requirement is fairly common in distributed stateful applications. </a:t>
            </a:r>
            <a:r>
              <a:rPr lang="en-US" altLang="ko-KR" sz="1400" b="1" dirty="0"/>
              <a:t>Certain apps require the administrator to list all the other cluster members and their IP addresses (or hostnames) in each member’s configuration file</a:t>
            </a:r>
            <a:r>
              <a:rPr lang="en-US" altLang="ko-KR" sz="1400" dirty="0"/>
              <a:t>. But in Kubernetes, every time a pod is rescheduled, the new pod gets both a new hostname and a new IP address, so </a:t>
            </a:r>
            <a:r>
              <a:rPr lang="en-US" altLang="ko-KR" sz="1400" b="1" dirty="0"/>
              <a:t>the whole application cluster would have to be reconfigured every time one of its members is rescheduled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8C373DD-3662-7FF7-6704-142F2A37DF38}"/>
              </a:ext>
            </a:extLst>
          </p:cNvPr>
          <p:cNvPicPr>
            <a:picLocks noChangeAspect="1"/>
          </p:cNvPicPr>
          <p:nvPr/>
        </p:nvPicPr>
        <p:blipFill>
          <a:blip r:embed="rId2"/>
          <a:stretch>
            <a:fillRect/>
          </a:stretch>
        </p:blipFill>
        <p:spPr>
          <a:xfrm>
            <a:off x="2933700" y="3429000"/>
            <a:ext cx="6324600" cy="2925128"/>
          </a:xfrm>
          <a:prstGeom prst="rect">
            <a:avLst/>
          </a:prstGeom>
        </p:spPr>
      </p:pic>
    </p:spTree>
    <p:extLst>
      <p:ext uri="{BB962C8B-B14F-4D97-AF65-F5344CB8AC3E}">
        <p14:creationId xmlns:p14="http://schemas.microsoft.com/office/powerpoint/2010/main" val="305634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Replicating</a:t>
            </a:r>
            <a:r>
              <a:rPr lang="ko-KR" altLang="en-US" sz="2800" b="1" dirty="0"/>
              <a:t> </a:t>
            </a:r>
            <a:r>
              <a:rPr lang="en-US" altLang="ko-KR" sz="2800" b="1" dirty="0"/>
              <a:t>Stateful</a:t>
            </a:r>
            <a:r>
              <a:rPr lang="ko-KR" altLang="en-US" sz="2800" b="1" dirty="0"/>
              <a:t> </a:t>
            </a:r>
            <a:r>
              <a:rPr lang="en-US" altLang="ko-KR" sz="2800" b="1" dirty="0"/>
              <a:t>Pods(5/5)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Stable Identity for Each Pod :</a:t>
            </a:r>
          </a:p>
          <a:p>
            <a:pPr lvl="1">
              <a:buFont typeface="Wingdings" panose="05000000000000000000" pitchFamily="2" charset="2"/>
              <a:buChar char="§"/>
            </a:pPr>
            <a:r>
              <a:rPr lang="en-US" altLang="ko-KR" sz="1400" dirty="0"/>
              <a:t>A trick you can use to work around this problem is to provide a stable network address for cluster members by </a:t>
            </a:r>
            <a:r>
              <a:rPr lang="en-US" altLang="ko-KR" sz="1400" b="1" dirty="0"/>
              <a:t>creating a dedicated Kubernetes Service for each individual member</a:t>
            </a:r>
            <a:r>
              <a:rPr lang="en-US" altLang="ko-KR" sz="1400" dirty="0"/>
              <a:t>. </a:t>
            </a:r>
            <a:r>
              <a:rPr lang="en-US" altLang="ko-KR" sz="1400" b="1" dirty="0"/>
              <a:t>Because service IPs are stable, you can then point to each member through its service IP (rather than the pod IP) in the configuration</a:t>
            </a:r>
            <a:r>
              <a:rPr lang="en-US" altLang="ko-KR" sz="1400" dirty="0"/>
              <a:t>.</a:t>
            </a:r>
          </a:p>
          <a:p>
            <a:pPr lvl="1">
              <a:buFont typeface="Wingdings" panose="05000000000000000000" pitchFamily="2" charset="2"/>
              <a:buChar char="§"/>
            </a:pPr>
            <a:r>
              <a:rPr lang="en-US" altLang="ko-KR" sz="1400" b="1" dirty="0"/>
              <a:t>This is similar to creating a </a:t>
            </a:r>
            <a:r>
              <a:rPr lang="en-US" altLang="ko-KR" sz="1400" b="1" dirty="0" err="1"/>
              <a:t>ReplicaSet</a:t>
            </a:r>
            <a:r>
              <a:rPr lang="en-US" altLang="ko-KR" sz="1400" b="1" dirty="0"/>
              <a:t> for each member to provide them with individual storage</a:t>
            </a:r>
            <a:r>
              <a:rPr lang="en-US" altLang="ko-KR" sz="1400" dirty="0"/>
              <a:t>, as described previously. Combining these two techniques results in the setup shown in the following figure (an additional service covering all the cluster members is also shown, because you usually need one for clients of the cluster).</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solution is not only ugly, but it still doesn’t solve everything. </a:t>
            </a:r>
            <a:r>
              <a:rPr lang="en-US" altLang="ko-KR" sz="1400" b="1" dirty="0"/>
              <a:t>The individual pods can’t know which Service they are exposed through (and thus can’t know their stable IP), so they can’t self-register in other pods using that IP</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70AAAAE-2304-6358-E9D8-D3D8B32110B3}"/>
              </a:ext>
            </a:extLst>
          </p:cNvPr>
          <p:cNvPicPr>
            <a:picLocks noChangeAspect="1"/>
          </p:cNvPicPr>
          <p:nvPr/>
        </p:nvPicPr>
        <p:blipFill>
          <a:blip r:embed="rId2"/>
          <a:stretch>
            <a:fillRect/>
          </a:stretch>
        </p:blipFill>
        <p:spPr>
          <a:xfrm>
            <a:off x="4168877" y="2403634"/>
            <a:ext cx="3854245" cy="2998839"/>
          </a:xfrm>
          <a:prstGeom prst="rect">
            <a:avLst/>
          </a:prstGeom>
        </p:spPr>
      </p:pic>
    </p:spTree>
    <p:extLst>
      <p:ext uri="{BB962C8B-B14F-4D97-AF65-F5344CB8AC3E}">
        <p14:creationId xmlns:p14="http://schemas.microsoft.com/office/powerpoint/2010/main" val="2283567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a:t>
            </a:r>
            <a:r>
              <a:rPr lang="en-US" altLang="ko-KR" sz="1800" b="1" dirty="0" err="1"/>
              <a:t>StatefulSets</a:t>
            </a:r>
            <a:r>
              <a:rPr lang="en-US" altLang="ko-KR" sz="1800" b="1" dirty="0"/>
              <a:t> and </a:t>
            </a:r>
            <a:r>
              <a:rPr lang="en-US" altLang="ko-KR" sz="1800" b="1" dirty="0" err="1"/>
              <a:t>ReplicaSets</a:t>
            </a:r>
            <a:r>
              <a:rPr lang="en-US" altLang="ko-KR" sz="1800" b="1" dirty="0"/>
              <a:t> :</a:t>
            </a:r>
          </a:p>
          <a:p>
            <a:pPr lvl="1">
              <a:buFont typeface="Wingdings" panose="05000000000000000000" pitchFamily="2" charset="2"/>
              <a:buChar char="§"/>
            </a:pPr>
            <a:r>
              <a:rPr lang="en-US" altLang="ko-KR" sz="1400" dirty="0"/>
              <a:t>Instead of using a </a:t>
            </a:r>
            <a:r>
              <a:rPr lang="en-US" altLang="ko-KR" sz="1400" b="1" dirty="0" err="1"/>
              <a:t>ReplicaSet</a:t>
            </a:r>
            <a:r>
              <a:rPr lang="en-US" altLang="ko-KR" sz="1400" dirty="0"/>
              <a:t> to run the previous types of pods, you create </a:t>
            </a:r>
            <a:r>
              <a:rPr lang="en-US" altLang="ko-KR" sz="1400" b="1" dirty="0"/>
              <a:t>a</a:t>
            </a:r>
            <a:r>
              <a:rPr lang="en-US" altLang="ko-KR" sz="1400" dirty="0"/>
              <a:t> </a:t>
            </a:r>
            <a:r>
              <a:rPr lang="en-US" altLang="ko-KR" sz="1400" b="1" dirty="0" err="1">
                <a:solidFill>
                  <a:srgbClr val="FF0000"/>
                </a:solidFill>
              </a:rPr>
              <a:t>StatefulSet</a:t>
            </a:r>
            <a:r>
              <a:rPr lang="en-US" altLang="ko-KR" sz="1400" b="1" dirty="0"/>
              <a:t> resource</a:t>
            </a:r>
            <a:r>
              <a:rPr lang="en-US" altLang="ko-KR" sz="1400" dirty="0"/>
              <a:t>, </a:t>
            </a:r>
            <a:r>
              <a:rPr lang="en-US" altLang="ko-KR" sz="1400" b="1" dirty="0"/>
              <a:t>which is specifically tailored to applications where instances of the application must be treated as </a:t>
            </a:r>
            <a:r>
              <a:rPr lang="en-US" altLang="ko-KR" sz="1400" b="1" dirty="0">
                <a:solidFill>
                  <a:srgbClr val="FF0000"/>
                </a:solidFill>
              </a:rPr>
              <a:t>non-fungible individuals</a:t>
            </a:r>
            <a:r>
              <a:rPr lang="en-US" altLang="ko-KR" sz="1400" dirty="0"/>
              <a:t>, </a:t>
            </a:r>
            <a:r>
              <a:rPr lang="en-US" altLang="ko-KR" sz="1400" b="1" dirty="0"/>
              <a:t>with each one </a:t>
            </a:r>
            <a:r>
              <a:rPr lang="en-US" altLang="ko-KR" sz="1400" b="1" dirty="0">
                <a:solidFill>
                  <a:srgbClr val="FF0000"/>
                </a:solidFill>
              </a:rPr>
              <a:t>having a stable name and state</a:t>
            </a:r>
            <a:r>
              <a:rPr lang="en-US" altLang="ko-KR" sz="1400" dirty="0"/>
              <a:t>.</a:t>
            </a:r>
          </a:p>
          <a:p>
            <a:pPr lvl="1">
              <a:buFont typeface="Wingdings" panose="05000000000000000000" pitchFamily="2" charset="2"/>
              <a:buChar char="§"/>
            </a:pPr>
            <a:r>
              <a:rPr lang="en-US" altLang="ko-KR" sz="1400" dirty="0"/>
              <a:t>To understand the purpose of </a:t>
            </a:r>
            <a:r>
              <a:rPr lang="en-US" altLang="ko-KR" sz="1400" b="1" dirty="0" err="1"/>
              <a:t>StatefulSets</a:t>
            </a:r>
            <a:r>
              <a:rPr lang="en-US" altLang="ko-KR" sz="1400" dirty="0"/>
              <a:t>, it’s best to </a:t>
            </a:r>
            <a:r>
              <a:rPr lang="en-US" altLang="ko-KR" sz="1400" b="1" dirty="0"/>
              <a:t>compare them to </a:t>
            </a:r>
            <a:r>
              <a:rPr lang="en-US" altLang="ko-KR" sz="1400" b="1" dirty="0" err="1"/>
              <a:t>ReplicaSets</a:t>
            </a:r>
            <a:r>
              <a:rPr lang="en-US" altLang="ko-KR" sz="1400" b="1" dirty="0"/>
              <a:t> or </a:t>
            </a:r>
            <a:r>
              <a:rPr lang="en-US" altLang="ko-KR" sz="1400" b="1" dirty="0" err="1"/>
              <a:t>ReplicationControllers</a:t>
            </a:r>
            <a:r>
              <a:rPr lang="en-US" altLang="ko-KR" sz="1400" dirty="0"/>
              <a:t>. </a:t>
            </a:r>
          </a:p>
          <a:p>
            <a:pPr lvl="1">
              <a:buFont typeface="Wingdings" panose="05000000000000000000" pitchFamily="2" charset="2"/>
              <a:buChar char="§"/>
            </a:pPr>
            <a:r>
              <a:rPr lang="en-US" altLang="ko-KR" sz="1400" b="1" dirty="0"/>
              <a:t>NOTE : </a:t>
            </a:r>
            <a:r>
              <a:rPr lang="en-US" altLang="ko-KR" sz="1400" b="1" dirty="0" err="1"/>
              <a:t>StatefulSets</a:t>
            </a:r>
            <a:r>
              <a:rPr lang="en-US" altLang="ko-KR" sz="1400" b="1" dirty="0"/>
              <a:t> were initially called </a:t>
            </a:r>
            <a:r>
              <a:rPr lang="en-US" altLang="ko-KR" sz="1400" b="1" dirty="0" err="1"/>
              <a:t>PetSets</a:t>
            </a:r>
            <a:r>
              <a:rPr lang="en-US" altLang="ko-KR" sz="1400" b="1" dirty="0"/>
              <a:t>. That name comes from the pets vs. cattle analogy</a:t>
            </a:r>
            <a:r>
              <a:rPr lang="en-US" altLang="ko-KR" sz="1400" dirty="0"/>
              <a:t>.</a:t>
            </a:r>
          </a:p>
          <a:p>
            <a:pPr lvl="1">
              <a:buFont typeface="Wingdings" panose="05000000000000000000" pitchFamily="2" charset="2"/>
              <a:buChar char="§"/>
            </a:pPr>
            <a:r>
              <a:rPr lang="en-US" altLang="ko-KR" sz="1400" b="1" dirty="0"/>
              <a:t>We tend to treat our app instances as </a:t>
            </a:r>
            <a:r>
              <a:rPr lang="en-US" altLang="ko-KR" sz="1400" b="1" dirty="0">
                <a:solidFill>
                  <a:srgbClr val="FF0000"/>
                </a:solidFill>
              </a:rPr>
              <a:t>pets</a:t>
            </a:r>
            <a:r>
              <a:rPr lang="en-US" altLang="ko-KR" sz="1400" b="1" dirty="0"/>
              <a:t>, where we </a:t>
            </a:r>
            <a:r>
              <a:rPr lang="en-US" altLang="ko-KR" sz="1400" b="1" dirty="0">
                <a:solidFill>
                  <a:srgbClr val="FF0000"/>
                </a:solidFill>
              </a:rPr>
              <a:t>give each instance a name and take care of each instance individually</a:t>
            </a:r>
            <a:r>
              <a:rPr lang="en-US" altLang="ko-KR" sz="1400" dirty="0"/>
              <a:t>. </a:t>
            </a:r>
            <a:r>
              <a:rPr lang="en-US" altLang="ko-KR" sz="1400" b="1" dirty="0"/>
              <a:t>But it’s usually better to treat instances as </a:t>
            </a:r>
            <a:r>
              <a:rPr lang="en-US" altLang="ko-KR" sz="1400" b="1" dirty="0">
                <a:solidFill>
                  <a:srgbClr val="FF0000"/>
                </a:solidFill>
              </a:rPr>
              <a:t>cattle</a:t>
            </a:r>
            <a:r>
              <a:rPr lang="en-US" altLang="ko-KR" sz="1400" b="1" dirty="0"/>
              <a:t> and </a:t>
            </a:r>
            <a:r>
              <a:rPr lang="en-US" altLang="ko-KR" sz="1400" b="1" dirty="0">
                <a:solidFill>
                  <a:srgbClr val="FF0000"/>
                </a:solidFill>
              </a:rPr>
              <a:t>not pay special attention to each individual instance</a:t>
            </a:r>
            <a:r>
              <a:rPr lang="en-US" altLang="ko-KR" sz="1400" dirty="0"/>
              <a:t>. This makes it easy to </a:t>
            </a:r>
            <a:r>
              <a:rPr lang="en-US" altLang="ko-KR" sz="1400" b="1" dirty="0"/>
              <a:t>replace</a:t>
            </a:r>
            <a:r>
              <a:rPr lang="en-US" altLang="ko-KR" sz="1400" dirty="0"/>
              <a:t> unhealthy instances without giving it a second thought, similar to the way a farmer replaces unhealthy cattle.</a:t>
            </a:r>
          </a:p>
          <a:p>
            <a:pPr lvl="1">
              <a:buFont typeface="Wingdings" panose="05000000000000000000" pitchFamily="2" charset="2"/>
              <a:buChar char="§"/>
            </a:pPr>
            <a:r>
              <a:rPr lang="en-US" altLang="ko-KR" sz="1400" b="1" dirty="0"/>
              <a:t>Instances of a stateless app, for example, behave much like heads of cattle</a:t>
            </a:r>
            <a:r>
              <a:rPr lang="en-US" altLang="ko-KR" sz="1400" dirty="0"/>
              <a:t>. It doesn’t matter if an instance dies—you can create a new instance and people won’t notice the difference.</a:t>
            </a:r>
          </a:p>
          <a:p>
            <a:pPr lvl="1">
              <a:buFont typeface="Wingdings" panose="05000000000000000000" pitchFamily="2" charset="2"/>
              <a:buChar char="§"/>
            </a:pPr>
            <a:r>
              <a:rPr lang="en-US" altLang="ko-KR" sz="1400" b="1" dirty="0"/>
              <a:t>On the other hand, with stateful apps, an app instance is more like a pet</a:t>
            </a:r>
            <a:r>
              <a:rPr lang="en-US" altLang="ko-KR" sz="1400" dirty="0"/>
              <a:t>. When a pet dies, you can’t go buy a new one and expect people not to notice. To replace a lost pet, you need to find a new one that looks and behaves exactly like the old one. In the case of apps, this means </a:t>
            </a:r>
            <a:r>
              <a:rPr lang="en-US" altLang="ko-KR" sz="1400" b="1" dirty="0"/>
              <a:t>the new instance needs to have the same state and identity as the old one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15351B9-30F8-AE67-74BA-B8B50009041F}"/>
              </a:ext>
            </a:extLst>
          </p:cNvPr>
          <p:cNvPicPr>
            <a:picLocks noChangeAspect="1"/>
          </p:cNvPicPr>
          <p:nvPr/>
        </p:nvPicPr>
        <p:blipFill>
          <a:blip r:embed="rId2"/>
          <a:stretch>
            <a:fillRect/>
          </a:stretch>
        </p:blipFill>
        <p:spPr>
          <a:xfrm>
            <a:off x="4264225" y="4516144"/>
            <a:ext cx="3663549" cy="1822405"/>
          </a:xfrm>
          <a:prstGeom prst="rect">
            <a:avLst/>
          </a:prstGeom>
        </p:spPr>
      </p:pic>
    </p:spTree>
    <p:extLst>
      <p:ext uri="{BB962C8B-B14F-4D97-AF65-F5344CB8AC3E}">
        <p14:creationId xmlns:p14="http://schemas.microsoft.com/office/powerpoint/2010/main" val="1186374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a:t>
            </a:r>
            <a:r>
              <a:rPr lang="en-US" altLang="ko-KR" sz="1800" b="1" dirty="0" err="1"/>
              <a:t>StatefulSets</a:t>
            </a:r>
            <a:r>
              <a:rPr lang="en-US" altLang="ko-KR" sz="1800" b="1" dirty="0"/>
              <a:t> and </a:t>
            </a:r>
            <a:r>
              <a:rPr lang="en-US" altLang="ko-KR" sz="1800" b="1" dirty="0" err="1"/>
              <a:t>ReplicaSets</a:t>
            </a:r>
            <a:r>
              <a:rPr lang="en-US" altLang="ko-KR" sz="1800" b="1" dirty="0"/>
              <a:t> :</a:t>
            </a:r>
          </a:p>
          <a:p>
            <a:pPr lvl="1">
              <a:buFont typeface="Wingdings" panose="05000000000000000000" pitchFamily="2" charset="2"/>
              <a:buChar char="§"/>
            </a:pPr>
            <a:r>
              <a:rPr lang="en-US" altLang="ko-KR" sz="1400" b="1" dirty="0"/>
              <a:t>Pod replicas managed by a </a:t>
            </a:r>
            <a:r>
              <a:rPr lang="en-US" altLang="ko-KR" sz="1400" b="1" dirty="0" err="1"/>
              <a:t>ReplicaSet</a:t>
            </a:r>
            <a:r>
              <a:rPr lang="en-US" altLang="ko-KR" sz="1400" b="1" dirty="0"/>
              <a:t> or </a:t>
            </a:r>
            <a:r>
              <a:rPr lang="en-US" altLang="ko-KR" sz="1400" b="1" dirty="0" err="1"/>
              <a:t>ReplicationController</a:t>
            </a:r>
            <a:r>
              <a:rPr lang="en-US" altLang="ko-KR" sz="1400" b="1" dirty="0"/>
              <a:t> are much like cattle</a:t>
            </a:r>
            <a:r>
              <a:rPr lang="en-US" altLang="ko-KR" sz="1400" dirty="0"/>
              <a:t>. Because they’re mostly </a:t>
            </a:r>
            <a:r>
              <a:rPr lang="en-US" altLang="ko-KR" sz="1400" b="1" dirty="0">
                <a:solidFill>
                  <a:srgbClr val="FF0000"/>
                </a:solidFill>
              </a:rPr>
              <a:t>stateless</a:t>
            </a:r>
            <a:r>
              <a:rPr lang="en-US" altLang="ko-KR" sz="1400" dirty="0"/>
              <a:t>, </a:t>
            </a:r>
            <a:r>
              <a:rPr lang="en-US" altLang="ko-KR" sz="1400" b="1" dirty="0"/>
              <a:t>they can be replaced with a completely new pod replica at any time</a:t>
            </a:r>
            <a:r>
              <a:rPr lang="en-US" altLang="ko-KR" sz="1400" dirty="0"/>
              <a:t>. </a:t>
            </a:r>
            <a:r>
              <a:rPr lang="en-US" altLang="ko-KR" sz="1400" b="1" dirty="0">
                <a:solidFill>
                  <a:srgbClr val="FF0000"/>
                </a:solidFill>
              </a:rPr>
              <a:t>Stateful</a:t>
            </a:r>
            <a:r>
              <a:rPr lang="en-US" altLang="ko-KR" sz="1400" b="1" dirty="0"/>
              <a:t> pods </a:t>
            </a:r>
            <a:r>
              <a:rPr lang="en-US" altLang="ko-KR" sz="1400" dirty="0"/>
              <a:t>require a different approach. When a stateful pod instance dies (or the node it’s running on fails), the pod instance needs to be resurrected on another node, but </a:t>
            </a:r>
            <a:r>
              <a:rPr lang="en-US" altLang="ko-KR" sz="1400" b="1" dirty="0"/>
              <a:t>the new instance needs to get the same name, network identity</a:t>
            </a:r>
            <a:r>
              <a:rPr lang="en-US" altLang="ko-KR" sz="1400" dirty="0"/>
              <a:t>, </a:t>
            </a:r>
            <a:r>
              <a:rPr lang="en-US" altLang="ko-KR" sz="1400" b="1" dirty="0"/>
              <a:t>and</a:t>
            </a:r>
            <a:r>
              <a:rPr lang="en-US" altLang="ko-KR" sz="1400" dirty="0"/>
              <a:t> </a:t>
            </a:r>
            <a:r>
              <a:rPr lang="en-US" altLang="ko-KR" sz="1400" b="1" dirty="0"/>
              <a:t>state as the one it’s replacing</a:t>
            </a:r>
            <a:r>
              <a:rPr lang="en-US" altLang="ko-KR" sz="1400" dirty="0"/>
              <a:t>. This is what happens when the pods are managed through a </a:t>
            </a:r>
            <a:r>
              <a:rPr lang="en-US" altLang="ko-KR" sz="1400" b="1" dirty="0" err="1">
                <a:solidFill>
                  <a:srgbClr val="FF0000"/>
                </a:solidFill>
              </a:rPr>
              <a:t>StatefulSet</a:t>
            </a:r>
            <a:r>
              <a:rPr lang="en-US" altLang="ko-KR" sz="1400" dirty="0"/>
              <a:t>.</a:t>
            </a:r>
          </a:p>
          <a:p>
            <a:pPr lvl="1">
              <a:buFont typeface="Wingdings" panose="05000000000000000000" pitchFamily="2" charset="2"/>
              <a:buChar char="§"/>
            </a:pPr>
            <a:r>
              <a:rPr lang="en-US" altLang="ko-KR" sz="1400" b="1" dirty="0"/>
              <a:t>A </a:t>
            </a:r>
            <a:r>
              <a:rPr lang="en-US" altLang="ko-KR" sz="1400" b="1" dirty="0" err="1">
                <a:solidFill>
                  <a:srgbClr val="FF0000"/>
                </a:solidFill>
              </a:rPr>
              <a:t>StatefulSet</a:t>
            </a:r>
            <a:r>
              <a:rPr lang="en-US" altLang="ko-KR" sz="1400" b="1" dirty="0"/>
              <a:t> makes sure pods are rescheduled in such a way that they retain their </a:t>
            </a:r>
            <a:r>
              <a:rPr lang="en-US" altLang="ko-KR" sz="1400" b="1" dirty="0">
                <a:solidFill>
                  <a:srgbClr val="FF0000"/>
                </a:solidFill>
              </a:rPr>
              <a:t>identity</a:t>
            </a:r>
            <a:r>
              <a:rPr lang="en-US" altLang="ko-KR" sz="1400" b="1" dirty="0"/>
              <a:t> and </a:t>
            </a:r>
            <a:r>
              <a:rPr lang="en-US" altLang="ko-KR" sz="1400" b="1" dirty="0">
                <a:solidFill>
                  <a:srgbClr val="FF0000"/>
                </a:solidFill>
              </a:rPr>
              <a:t>state</a:t>
            </a:r>
            <a:r>
              <a:rPr lang="en-US" altLang="ko-KR" sz="1400" dirty="0"/>
              <a:t>. </a:t>
            </a:r>
            <a:r>
              <a:rPr lang="en-US" altLang="ko-KR" sz="1400" b="1" dirty="0"/>
              <a:t>It also allows you to easily scale the number of pets up and down</a:t>
            </a:r>
            <a:r>
              <a:rPr lang="en-US" altLang="ko-KR" sz="1400" dirty="0"/>
              <a:t>. A </a:t>
            </a:r>
            <a:r>
              <a:rPr lang="en-US" altLang="ko-KR" sz="1400" b="1" dirty="0" err="1"/>
              <a:t>StatefulSet</a:t>
            </a:r>
            <a:r>
              <a:rPr lang="en-US" altLang="ko-KR" sz="1400" dirty="0"/>
              <a:t>, like a </a:t>
            </a:r>
            <a:r>
              <a:rPr lang="en-US" altLang="ko-KR" sz="1400" b="1" dirty="0" err="1"/>
              <a:t>ReplicaSet</a:t>
            </a:r>
            <a:r>
              <a:rPr lang="en-US" altLang="ko-KR" sz="1400" dirty="0"/>
              <a:t>, has a </a:t>
            </a:r>
            <a:r>
              <a:rPr lang="en-US" altLang="ko-KR" sz="1400" b="1" dirty="0"/>
              <a:t>desired replica count field </a:t>
            </a:r>
            <a:r>
              <a:rPr lang="en-US" altLang="ko-KR" sz="1400" dirty="0"/>
              <a:t>that determines how many pets you want running at that time. </a:t>
            </a:r>
            <a:r>
              <a:rPr lang="en-US" altLang="ko-KR" sz="1400" b="1" dirty="0"/>
              <a:t>Similar to </a:t>
            </a:r>
            <a:r>
              <a:rPr lang="en-US" altLang="ko-KR" sz="1400" b="1" dirty="0" err="1"/>
              <a:t>ReplicaSets</a:t>
            </a:r>
            <a:r>
              <a:rPr lang="en-US" altLang="ko-KR" sz="1400" b="1" dirty="0"/>
              <a:t>, pods are created from a pod template specified as part of the </a:t>
            </a:r>
            <a:r>
              <a:rPr lang="en-US" altLang="ko-KR" sz="1400" b="1" dirty="0" err="1"/>
              <a:t>StatefulSet</a:t>
            </a:r>
            <a:r>
              <a:rPr lang="en-US" altLang="ko-KR" sz="1400" dirty="0"/>
              <a:t>. </a:t>
            </a:r>
            <a:r>
              <a:rPr lang="en-US" altLang="ko-KR" sz="1400" b="1" dirty="0"/>
              <a:t>But unlike pods created by </a:t>
            </a:r>
            <a:r>
              <a:rPr lang="en-US" altLang="ko-KR" sz="1400" b="1" dirty="0" err="1"/>
              <a:t>ReplicaSets</a:t>
            </a:r>
            <a:r>
              <a:rPr lang="en-US" altLang="ko-KR" sz="1400" b="1" dirty="0"/>
              <a:t>, pods created by the </a:t>
            </a:r>
            <a:r>
              <a:rPr lang="en-US" altLang="ko-KR" sz="1400" b="1" dirty="0" err="1"/>
              <a:t>StatefulSet</a:t>
            </a:r>
            <a:r>
              <a:rPr lang="en-US" altLang="ko-KR" sz="1400" b="1" dirty="0"/>
              <a:t> aren’t exact replicas of each other</a:t>
            </a:r>
            <a:r>
              <a:rPr lang="en-US" altLang="ko-KR" sz="1400" dirty="0"/>
              <a:t>. </a:t>
            </a:r>
            <a:r>
              <a:rPr lang="en-US" altLang="ko-KR" sz="1400" b="1" dirty="0"/>
              <a:t>Each can have </a:t>
            </a:r>
            <a:r>
              <a:rPr lang="en-US" altLang="ko-KR" sz="1400" b="1" dirty="0">
                <a:solidFill>
                  <a:srgbClr val="FF0000"/>
                </a:solidFill>
              </a:rPr>
              <a:t>its own set of volumes</a:t>
            </a:r>
            <a:r>
              <a:rPr lang="en-US" altLang="ko-KR" sz="1400" dirty="0"/>
              <a:t>—in other words, </a:t>
            </a:r>
            <a:r>
              <a:rPr lang="en-US" altLang="ko-KR" sz="1400" b="1" dirty="0"/>
              <a:t>storage</a:t>
            </a:r>
            <a:r>
              <a:rPr lang="en-US" altLang="ko-KR" sz="1400" dirty="0"/>
              <a:t> (</a:t>
            </a:r>
            <a:r>
              <a:rPr lang="en-US" altLang="ko-KR" sz="1400" b="1" dirty="0"/>
              <a:t>and thus persistent state</a:t>
            </a:r>
            <a:r>
              <a:rPr lang="en-US" altLang="ko-KR" sz="1400" dirty="0"/>
              <a:t>)—which differentiates it from its peers. </a:t>
            </a:r>
            <a:r>
              <a:rPr lang="en-US" altLang="ko-KR" sz="1400" b="1" dirty="0"/>
              <a:t>Pet(Stateful) pods also have a predictable (and stable) identity instead of each new pod instance getting a completely random one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873DE4F-6D35-8B27-7FFE-32A704A0AA2B}"/>
              </a:ext>
            </a:extLst>
          </p:cNvPr>
          <p:cNvPicPr>
            <a:picLocks noChangeAspect="1"/>
          </p:cNvPicPr>
          <p:nvPr/>
        </p:nvPicPr>
        <p:blipFill>
          <a:blip r:embed="rId2"/>
          <a:stretch>
            <a:fillRect/>
          </a:stretch>
        </p:blipFill>
        <p:spPr>
          <a:xfrm>
            <a:off x="2972390" y="3811866"/>
            <a:ext cx="6247220" cy="2318413"/>
          </a:xfrm>
          <a:prstGeom prst="rect">
            <a:avLst/>
          </a:prstGeom>
        </p:spPr>
      </p:pic>
    </p:spTree>
    <p:extLst>
      <p:ext uri="{BB962C8B-B14F-4D97-AF65-F5344CB8AC3E}">
        <p14:creationId xmlns:p14="http://schemas.microsoft.com/office/powerpoint/2010/main" val="1171694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Stable Network Identity :</a:t>
            </a:r>
          </a:p>
          <a:p>
            <a:pPr lvl="1">
              <a:buFont typeface="Wingdings" panose="05000000000000000000" pitchFamily="2" charset="2"/>
              <a:buChar char="§"/>
            </a:pPr>
            <a:r>
              <a:rPr lang="en-US" altLang="ko-KR" sz="1400" b="1" dirty="0"/>
              <a:t>Each pod created by a </a:t>
            </a:r>
            <a:r>
              <a:rPr lang="en-US" altLang="ko-KR" sz="1400" b="1" dirty="0" err="1"/>
              <a:t>StatefulSet</a:t>
            </a:r>
            <a:r>
              <a:rPr lang="en-US" altLang="ko-KR" sz="1400" b="1" dirty="0"/>
              <a:t> is assigned an ordinal index (zero-based)</a:t>
            </a:r>
            <a:r>
              <a:rPr lang="en-US" altLang="ko-KR" sz="1400" dirty="0"/>
              <a:t>, which is then </a:t>
            </a:r>
            <a:r>
              <a:rPr lang="en-US" altLang="ko-KR" sz="1400" b="1" dirty="0"/>
              <a:t>used to derive the pod’s name and hostname</a:t>
            </a:r>
            <a:r>
              <a:rPr lang="en-US" altLang="ko-KR" sz="1400" dirty="0"/>
              <a:t>, </a:t>
            </a:r>
            <a:r>
              <a:rPr lang="en-US" altLang="ko-KR" sz="1400" b="1" dirty="0"/>
              <a:t>and to attach stable storage to the pod</a:t>
            </a:r>
            <a:r>
              <a:rPr lang="en-US" altLang="ko-KR" sz="1400" dirty="0"/>
              <a:t>. </a:t>
            </a:r>
            <a:r>
              <a:rPr lang="en-US" altLang="ko-KR" sz="1400" b="1" dirty="0"/>
              <a:t>The names of the pods are thus predictable</a:t>
            </a:r>
            <a:r>
              <a:rPr lang="en-US" altLang="ko-KR" sz="1400" dirty="0"/>
              <a:t>, because </a:t>
            </a:r>
            <a:r>
              <a:rPr lang="en-US" altLang="ko-KR" sz="1400" b="1" dirty="0"/>
              <a:t>each pod’s name is derived from the </a:t>
            </a:r>
            <a:r>
              <a:rPr lang="en-US" altLang="ko-KR" sz="1400" b="1" dirty="0" err="1">
                <a:solidFill>
                  <a:srgbClr val="FF0000"/>
                </a:solidFill>
              </a:rPr>
              <a:t>StatefulSet’s</a:t>
            </a:r>
            <a:r>
              <a:rPr lang="en-US" altLang="ko-KR" sz="1400" b="1" dirty="0">
                <a:solidFill>
                  <a:srgbClr val="FF0000"/>
                </a:solidFill>
              </a:rPr>
              <a:t> name </a:t>
            </a:r>
            <a:r>
              <a:rPr lang="en-US" altLang="ko-KR" sz="1400" b="1" dirty="0"/>
              <a:t>and the </a:t>
            </a:r>
            <a:r>
              <a:rPr lang="en-US" altLang="ko-KR" sz="1400" b="1" dirty="0">
                <a:solidFill>
                  <a:srgbClr val="FF0000"/>
                </a:solidFill>
              </a:rPr>
              <a:t>ordinal index </a:t>
            </a:r>
            <a:r>
              <a:rPr lang="en-US" altLang="ko-KR" sz="1400" b="1" dirty="0"/>
              <a:t>of the instance</a:t>
            </a:r>
            <a:r>
              <a:rPr lang="en-US" altLang="ko-KR" sz="1400" dirty="0"/>
              <a:t>. Rather than the pods having random names, they’re nicely organized, 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EAEF28D-7DDD-54A1-4505-FB38AA9AC77B}"/>
              </a:ext>
            </a:extLst>
          </p:cNvPr>
          <p:cNvPicPr>
            <a:picLocks noChangeAspect="1"/>
          </p:cNvPicPr>
          <p:nvPr/>
        </p:nvPicPr>
        <p:blipFill>
          <a:blip r:embed="rId2"/>
          <a:stretch>
            <a:fillRect/>
          </a:stretch>
        </p:blipFill>
        <p:spPr>
          <a:xfrm>
            <a:off x="3165987" y="2450690"/>
            <a:ext cx="5860026" cy="1956619"/>
          </a:xfrm>
          <a:prstGeom prst="rect">
            <a:avLst/>
          </a:prstGeom>
        </p:spPr>
      </p:pic>
    </p:spTree>
    <p:extLst>
      <p:ext uri="{BB962C8B-B14F-4D97-AF65-F5344CB8AC3E}">
        <p14:creationId xmlns:p14="http://schemas.microsoft.com/office/powerpoint/2010/main" val="2857762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Stable Network Identity :</a:t>
            </a:r>
          </a:p>
          <a:p>
            <a:pPr lvl="1">
              <a:buFont typeface="Wingdings" panose="05000000000000000000" pitchFamily="2" charset="2"/>
              <a:buChar char="§"/>
            </a:pPr>
            <a:r>
              <a:rPr lang="en-US" altLang="ko-KR" sz="1400" b="1" dirty="0"/>
              <a:t>Unlike regular pods, stateful pods sometimes need to be addressable by their hostname</a:t>
            </a:r>
            <a:r>
              <a:rPr lang="en-US" altLang="ko-KR" sz="1400" dirty="0"/>
              <a:t>, whereas stateless pods usually don’t. After all, each stateless pod is like any other. When you need one, you pick any one of them. </a:t>
            </a:r>
            <a:r>
              <a:rPr lang="en-US" altLang="ko-KR" sz="1400" b="1" dirty="0"/>
              <a:t>But with stateful pods, you usually want to operate on a specific pod from the group</a:t>
            </a:r>
            <a:r>
              <a:rPr lang="en-US" altLang="ko-KR" sz="1400" dirty="0"/>
              <a:t>, because they differ from each other (they hold </a:t>
            </a:r>
            <a:r>
              <a:rPr lang="en-US" altLang="ko-KR" sz="1400" b="1" dirty="0"/>
              <a:t>different state</a:t>
            </a:r>
            <a:r>
              <a:rPr lang="en-US" altLang="ko-KR" sz="1400" dirty="0"/>
              <a:t>, for example).</a:t>
            </a:r>
          </a:p>
          <a:p>
            <a:pPr lvl="1">
              <a:buFont typeface="Wingdings" panose="05000000000000000000" pitchFamily="2" charset="2"/>
              <a:buChar char="§"/>
            </a:pPr>
            <a:r>
              <a:rPr lang="en-US" altLang="ko-KR" sz="1400" dirty="0"/>
              <a:t>For this reason, </a:t>
            </a:r>
            <a:r>
              <a:rPr lang="en-US" altLang="ko-KR" sz="1400" b="1" dirty="0"/>
              <a:t>a </a:t>
            </a:r>
            <a:r>
              <a:rPr lang="en-US" altLang="ko-KR" sz="1400" b="1" dirty="0" err="1"/>
              <a:t>StatefulSet</a:t>
            </a:r>
            <a:r>
              <a:rPr lang="en-US" altLang="ko-KR" sz="1400" b="1" dirty="0"/>
              <a:t> requires you to create a corresponding governing </a:t>
            </a:r>
            <a:r>
              <a:rPr lang="en-US" altLang="ko-KR" sz="1400" b="1" dirty="0">
                <a:solidFill>
                  <a:srgbClr val="FF0000"/>
                </a:solidFill>
              </a:rPr>
              <a:t>headless Service that’s used to provide the actual network identity to each pod</a:t>
            </a:r>
            <a:r>
              <a:rPr lang="en-US" altLang="ko-KR" sz="1400" dirty="0"/>
              <a:t>. </a:t>
            </a:r>
            <a:r>
              <a:rPr lang="en-US" altLang="ko-KR" sz="1400" b="1" dirty="0"/>
              <a:t>Through this Service, each pod gets its own DNS entry, so its peers and possibly other clients in the cluster can address the pod by its hostname</a:t>
            </a:r>
            <a:r>
              <a:rPr lang="en-US" altLang="ko-KR" sz="1400" dirty="0"/>
              <a:t>. For example, if the governing Service belongs to the default namespace and is called “</a:t>
            </a:r>
            <a:r>
              <a:rPr lang="en-US" altLang="ko-KR" sz="1400" b="1" dirty="0"/>
              <a:t>foo</a:t>
            </a:r>
            <a:r>
              <a:rPr lang="en-US" altLang="ko-KR" sz="1400" dirty="0"/>
              <a:t>”, and one of the pods is called “</a:t>
            </a:r>
            <a:r>
              <a:rPr lang="en-US" altLang="ko-KR" sz="1400" b="1" dirty="0"/>
              <a:t>A-0</a:t>
            </a:r>
            <a:r>
              <a:rPr lang="en-US" altLang="ko-KR" sz="1400" dirty="0"/>
              <a:t>”, you can reach the pod through its </a:t>
            </a:r>
            <a:r>
              <a:rPr lang="en-US" altLang="ko-KR" sz="1400" b="1" dirty="0"/>
              <a:t>fully qualified domain name</a:t>
            </a:r>
            <a:r>
              <a:rPr lang="en-US" altLang="ko-KR" sz="1400" dirty="0"/>
              <a:t>, which is “</a:t>
            </a:r>
            <a:r>
              <a:rPr lang="en-US" altLang="ko-KR" sz="1400" b="1" dirty="0"/>
              <a:t>a-0.foo.default.svc.cluster.local</a:t>
            </a:r>
            <a:r>
              <a:rPr lang="en-US" altLang="ko-KR" sz="1400" dirty="0"/>
              <a:t>”. You can’t do that with pods managed by a </a:t>
            </a:r>
            <a:r>
              <a:rPr lang="en-US" altLang="ko-KR" sz="1400" b="1" dirty="0" err="1"/>
              <a:t>ReplicaSet</a:t>
            </a:r>
            <a:r>
              <a:rPr lang="en-US" altLang="ko-KR" sz="1400" dirty="0"/>
              <a:t>.</a:t>
            </a:r>
          </a:p>
          <a:p>
            <a:pPr lvl="1">
              <a:buFont typeface="Wingdings" panose="05000000000000000000" pitchFamily="2" charset="2"/>
              <a:buChar char="§"/>
            </a:pPr>
            <a:r>
              <a:rPr lang="en-US" altLang="ko-KR" sz="1400" b="1" dirty="0"/>
              <a:t>You can also use </a:t>
            </a:r>
            <a:r>
              <a:rPr lang="en-US" altLang="ko-KR" sz="1400" b="1" dirty="0">
                <a:solidFill>
                  <a:srgbClr val="FF0000"/>
                </a:solidFill>
              </a:rPr>
              <a:t>DNS</a:t>
            </a:r>
            <a:r>
              <a:rPr lang="en-US" altLang="ko-KR" sz="1400" b="1" dirty="0"/>
              <a:t> to look up all the </a:t>
            </a:r>
            <a:r>
              <a:rPr lang="en-US" altLang="ko-KR" sz="1400" b="1" dirty="0" err="1"/>
              <a:t>StatefulSet’s</a:t>
            </a:r>
            <a:r>
              <a:rPr lang="en-US" altLang="ko-KR" sz="1400" b="1" dirty="0"/>
              <a:t> pods’ names by looking up </a:t>
            </a:r>
            <a:r>
              <a:rPr lang="en-US" altLang="ko-KR" sz="1400" b="1" dirty="0">
                <a:solidFill>
                  <a:srgbClr val="FF0000"/>
                </a:solidFill>
              </a:rPr>
              <a:t>SRV records </a:t>
            </a:r>
            <a:r>
              <a:rPr lang="en-US" altLang="ko-KR" sz="1400" b="1" dirty="0"/>
              <a:t>for the “</a:t>
            </a:r>
            <a:r>
              <a:rPr lang="en-US" altLang="ko-KR" sz="1400" b="1" dirty="0" err="1"/>
              <a:t>foo.default.svc.cluster.local</a:t>
            </a:r>
            <a:r>
              <a:rPr lang="en-US" altLang="ko-KR" sz="1400" b="1" dirty="0"/>
              <a:t>” domain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05C8906-B604-6EEA-1A37-53741457024E}"/>
              </a:ext>
            </a:extLst>
          </p:cNvPr>
          <p:cNvPicPr>
            <a:picLocks noChangeAspect="1"/>
          </p:cNvPicPr>
          <p:nvPr/>
        </p:nvPicPr>
        <p:blipFill>
          <a:blip r:embed="rId2"/>
          <a:stretch>
            <a:fillRect/>
          </a:stretch>
        </p:blipFill>
        <p:spPr>
          <a:xfrm>
            <a:off x="3405187" y="3646701"/>
            <a:ext cx="5381625" cy="2762329"/>
          </a:xfrm>
          <a:prstGeom prst="rect">
            <a:avLst/>
          </a:prstGeom>
        </p:spPr>
      </p:pic>
    </p:spTree>
    <p:extLst>
      <p:ext uri="{BB962C8B-B14F-4D97-AF65-F5344CB8AC3E}">
        <p14:creationId xmlns:p14="http://schemas.microsoft.com/office/powerpoint/2010/main" val="2943464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Stable Network Identity :</a:t>
            </a:r>
          </a:p>
          <a:p>
            <a:pPr lvl="1">
              <a:buFont typeface="Wingdings" panose="05000000000000000000" pitchFamily="2" charset="2"/>
              <a:buChar char="§"/>
            </a:pPr>
            <a:r>
              <a:rPr lang="en-US" altLang="ko-KR" sz="1400" b="1" dirty="0"/>
              <a:t>When a pod instance managed by a </a:t>
            </a:r>
            <a:r>
              <a:rPr lang="en-US" altLang="ko-KR" sz="1400" b="1" dirty="0" err="1"/>
              <a:t>StatefulSet</a:t>
            </a:r>
            <a:r>
              <a:rPr lang="en-US" altLang="ko-KR" sz="1400" b="1" dirty="0"/>
              <a:t> disappears (because the node the pod was running on has failed, it was evicted from the node, or someone deleted the pod object manually), the </a:t>
            </a:r>
            <a:r>
              <a:rPr lang="en-US" altLang="ko-KR" sz="1400" b="1" dirty="0" err="1"/>
              <a:t>StatefulSet</a:t>
            </a:r>
            <a:r>
              <a:rPr lang="en-US" altLang="ko-KR" sz="1400" b="1" dirty="0"/>
              <a:t> makes sure it’s replaced with a new instance—similar to how </a:t>
            </a:r>
            <a:r>
              <a:rPr lang="en-US" altLang="ko-KR" sz="1400" b="1" dirty="0" err="1"/>
              <a:t>ReplicaSets</a:t>
            </a:r>
            <a:r>
              <a:rPr lang="en-US" altLang="ko-KR" sz="1400" b="1" dirty="0"/>
              <a:t> do it</a:t>
            </a:r>
            <a:r>
              <a:rPr lang="en-US" altLang="ko-KR" sz="1400" dirty="0"/>
              <a:t>. But in contrast to </a:t>
            </a:r>
            <a:r>
              <a:rPr lang="en-US" altLang="ko-KR" sz="1400" b="1" dirty="0" err="1"/>
              <a:t>ReplicaSets</a:t>
            </a:r>
            <a:r>
              <a:rPr lang="en-US" altLang="ko-KR" sz="1400" dirty="0"/>
              <a:t>, </a:t>
            </a:r>
            <a:r>
              <a:rPr lang="en-US" altLang="ko-KR" sz="1400" b="1" dirty="0"/>
              <a:t>the </a:t>
            </a:r>
            <a:r>
              <a:rPr lang="en-US" altLang="ko-KR" sz="1400" b="1" dirty="0">
                <a:solidFill>
                  <a:srgbClr val="FF0000"/>
                </a:solidFill>
              </a:rPr>
              <a:t>replacement pod gets the same name and hostname </a:t>
            </a:r>
            <a:r>
              <a:rPr lang="en-US" altLang="ko-KR" sz="1400" b="1" dirty="0"/>
              <a:t>as the pod that has disappeared </a:t>
            </a:r>
            <a:r>
              <a:rPr lang="en-US" altLang="ko-KR" sz="1400" dirty="0"/>
              <a:t>(this distinction between </a:t>
            </a:r>
            <a:r>
              <a:rPr lang="en-US" altLang="ko-KR" sz="1400" b="1" dirty="0" err="1"/>
              <a:t>ReplicaSets</a:t>
            </a:r>
            <a:r>
              <a:rPr lang="en-US" altLang="ko-KR" sz="1400" dirty="0"/>
              <a:t> and </a:t>
            </a:r>
            <a:r>
              <a:rPr lang="en-US" altLang="ko-KR" sz="1400" b="1" dirty="0" err="1"/>
              <a:t>StatefulSets</a:t>
            </a:r>
            <a:r>
              <a:rPr lang="en-US" altLang="ko-KR" sz="1400" dirty="0"/>
              <a:t> is illustrated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6F5A123C-A9A3-610E-CFD9-299CC4980DAF}"/>
              </a:ext>
            </a:extLst>
          </p:cNvPr>
          <p:cNvGrpSpPr/>
          <p:nvPr/>
        </p:nvGrpSpPr>
        <p:grpSpPr>
          <a:xfrm>
            <a:off x="3658383" y="2189880"/>
            <a:ext cx="4875234" cy="4166470"/>
            <a:chOff x="3658383" y="2189880"/>
            <a:chExt cx="4875234" cy="4166470"/>
          </a:xfrm>
        </p:grpSpPr>
        <p:pic>
          <p:nvPicPr>
            <p:cNvPr id="8" name="그림 7">
              <a:extLst>
                <a:ext uri="{FF2B5EF4-FFF2-40B4-BE49-F238E27FC236}">
                  <a16:creationId xmlns:a16="http://schemas.microsoft.com/office/drawing/2014/main" id="{68143E33-9C87-E0A9-3996-612CA11EC3A5}"/>
                </a:ext>
              </a:extLst>
            </p:cNvPr>
            <p:cNvPicPr>
              <a:picLocks noChangeAspect="1"/>
            </p:cNvPicPr>
            <p:nvPr/>
          </p:nvPicPr>
          <p:blipFill>
            <a:blip r:embed="rId2"/>
            <a:stretch>
              <a:fillRect/>
            </a:stretch>
          </p:blipFill>
          <p:spPr>
            <a:xfrm>
              <a:off x="3658383" y="2189880"/>
              <a:ext cx="4875234" cy="4166470"/>
            </a:xfrm>
            <a:prstGeom prst="rect">
              <a:avLst/>
            </a:prstGeom>
          </p:spPr>
        </p:pic>
        <p:sp>
          <p:nvSpPr>
            <p:cNvPr id="9" name="직사각형 8">
              <a:extLst>
                <a:ext uri="{FF2B5EF4-FFF2-40B4-BE49-F238E27FC236}">
                  <a16:creationId xmlns:a16="http://schemas.microsoft.com/office/drawing/2014/main" id="{A91DC594-B719-8D59-E8CB-20B86CF48FB2}"/>
                </a:ext>
              </a:extLst>
            </p:cNvPr>
            <p:cNvSpPr/>
            <p:nvPr/>
          </p:nvSpPr>
          <p:spPr>
            <a:xfrm>
              <a:off x="7614605" y="2848396"/>
              <a:ext cx="720191" cy="3398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962576A1-9249-088F-E970-3DEC8C83B131}"/>
                </a:ext>
              </a:extLst>
            </p:cNvPr>
            <p:cNvSpPr/>
            <p:nvPr/>
          </p:nvSpPr>
          <p:spPr>
            <a:xfrm>
              <a:off x="7614604" y="5282750"/>
              <a:ext cx="720191" cy="3398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TextBox 12">
            <a:extLst>
              <a:ext uri="{FF2B5EF4-FFF2-40B4-BE49-F238E27FC236}">
                <a16:creationId xmlns:a16="http://schemas.microsoft.com/office/drawing/2014/main" id="{8FA6E300-1F57-0C6A-6289-E412352C5F94}"/>
              </a:ext>
            </a:extLst>
          </p:cNvPr>
          <p:cNvSpPr txBox="1"/>
          <p:nvPr/>
        </p:nvSpPr>
        <p:spPr>
          <a:xfrm>
            <a:off x="8533617" y="5032911"/>
            <a:ext cx="2820183" cy="1323439"/>
          </a:xfrm>
          <a:prstGeom prst="rect">
            <a:avLst/>
          </a:prstGeom>
          <a:noFill/>
        </p:spPr>
        <p:txBody>
          <a:bodyPr wrap="square">
            <a:spAutoFit/>
          </a:bodyPr>
          <a:lstStyle/>
          <a:p>
            <a:r>
              <a:rPr lang="en-US" altLang="ko-KR" sz="1000" b="1" dirty="0">
                <a:solidFill>
                  <a:srgbClr val="FF0000"/>
                </a:solidFill>
              </a:rPr>
              <a:t>The new pod isn’t necessarily scheduled to the same node</a:t>
            </a:r>
            <a:r>
              <a:rPr lang="en-US" altLang="ko-KR" sz="1000" b="1" dirty="0"/>
              <a:t>, but as you learned early on, what node a pod runs on shouldn’t matter. This holds true even for stateful pods. Even if the pod is scheduled to a different node, it will still be </a:t>
            </a:r>
            <a:r>
              <a:rPr lang="en-US" altLang="ko-KR" sz="1000" b="1" dirty="0">
                <a:solidFill>
                  <a:srgbClr val="FF0000"/>
                </a:solidFill>
              </a:rPr>
              <a:t>available</a:t>
            </a:r>
            <a:r>
              <a:rPr lang="en-US" altLang="ko-KR" sz="1000" b="1" dirty="0"/>
              <a:t> and </a:t>
            </a:r>
            <a:r>
              <a:rPr lang="en-US" altLang="ko-KR" sz="1000" b="1" dirty="0">
                <a:solidFill>
                  <a:srgbClr val="FF0000"/>
                </a:solidFill>
              </a:rPr>
              <a:t>reachable</a:t>
            </a:r>
            <a:r>
              <a:rPr lang="en-US" altLang="ko-KR" sz="1000" b="1" dirty="0"/>
              <a:t> </a:t>
            </a:r>
            <a:r>
              <a:rPr lang="en-US" altLang="ko-KR" sz="1000" b="1" dirty="0">
                <a:solidFill>
                  <a:srgbClr val="FF0000"/>
                </a:solidFill>
              </a:rPr>
              <a:t>under the same hostname as before</a:t>
            </a:r>
            <a:r>
              <a:rPr lang="en-US" altLang="ko-KR" sz="1000" b="1" dirty="0"/>
              <a:t>.</a:t>
            </a:r>
            <a:endParaRPr lang="ko-KR" altLang="en-US" sz="1000" b="1" dirty="0"/>
          </a:p>
        </p:txBody>
      </p:sp>
    </p:spTree>
    <p:extLst>
      <p:ext uri="{BB962C8B-B14F-4D97-AF65-F5344CB8AC3E}">
        <p14:creationId xmlns:p14="http://schemas.microsoft.com/office/powerpoint/2010/main" val="1579961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Stable Network Identity :</a:t>
            </a:r>
          </a:p>
          <a:p>
            <a:pPr lvl="1">
              <a:buFont typeface="Wingdings" panose="05000000000000000000" pitchFamily="2" charset="2"/>
              <a:buChar char="§"/>
            </a:pPr>
            <a:r>
              <a:rPr lang="en-US" altLang="ko-KR" sz="1400" b="1" dirty="0"/>
              <a:t>Scaling the </a:t>
            </a:r>
            <a:r>
              <a:rPr lang="en-US" altLang="ko-KR" sz="1400" b="1" dirty="0" err="1"/>
              <a:t>StatefulSet</a:t>
            </a:r>
            <a:r>
              <a:rPr lang="en-US" altLang="ko-KR" sz="1400" b="1" dirty="0"/>
              <a:t> creates a new pod instance with the next unused ordinal index</a:t>
            </a:r>
            <a:r>
              <a:rPr lang="en-US" altLang="ko-KR" sz="1400" dirty="0"/>
              <a:t>. If you scale up from two to three instances, the new instance will get index 2 (the existing instances obviously have indexes 0 and 1).</a:t>
            </a:r>
          </a:p>
          <a:p>
            <a:pPr lvl="1">
              <a:buFont typeface="Wingdings" panose="05000000000000000000" pitchFamily="2" charset="2"/>
              <a:buChar char="§"/>
            </a:pPr>
            <a:r>
              <a:rPr lang="en-US" altLang="ko-KR" sz="1400" b="1" dirty="0"/>
              <a:t>The nice thing about scaling down a </a:t>
            </a:r>
            <a:r>
              <a:rPr lang="en-US" altLang="ko-KR" sz="1400" b="1" dirty="0" err="1"/>
              <a:t>StatefulSet</a:t>
            </a:r>
            <a:r>
              <a:rPr lang="en-US" altLang="ko-KR" sz="1400" b="1" dirty="0"/>
              <a:t> is the fact that you always know what pod will be removed</a:t>
            </a:r>
            <a:r>
              <a:rPr lang="en-US" altLang="ko-KR" sz="1400" dirty="0"/>
              <a:t>. Again, this is also in contrast to scaling down a </a:t>
            </a:r>
            <a:r>
              <a:rPr lang="en-US" altLang="ko-KR" sz="1400" b="1" dirty="0" err="1"/>
              <a:t>ReplicaSet</a:t>
            </a:r>
            <a:r>
              <a:rPr lang="en-US" altLang="ko-KR" sz="1400" dirty="0"/>
              <a:t>, </a:t>
            </a:r>
            <a:r>
              <a:rPr lang="en-US" altLang="ko-KR" sz="1400" b="1" dirty="0"/>
              <a:t>where you have no idea what instance will be deleted</a:t>
            </a:r>
            <a:r>
              <a:rPr lang="en-US" altLang="ko-KR" sz="1400" dirty="0"/>
              <a:t>, and </a:t>
            </a:r>
            <a:r>
              <a:rPr lang="en-US" altLang="ko-KR" sz="1400" b="1" dirty="0"/>
              <a:t>you can’t even specify which one you want removed first</a:t>
            </a:r>
            <a:r>
              <a:rPr lang="en-US" altLang="ko-KR" sz="1400" dirty="0"/>
              <a:t>. </a:t>
            </a:r>
            <a:r>
              <a:rPr lang="en-US" altLang="ko-KR" sz="1400" b="1" dirty="0">
                <a:solidFill>
                  <a:srgbClr val="FF0000"/>
                </a:solidFill>
              </a:rPr>
              <a:t>Scaling down a </a:t>
            </a:r>
            <a:r>
              <a:rPr lang="en-US" altLang="ko-KR" sz="1400" b="1" dirty="0" err="1">
                <a:solidFill>
                  <a:srgbClr val="FF0000"/>
                </a:solidFill>
              </a:rPr>
              <a:t>StatefulSet</a:t>
            </a:r>
            <a:r>
              <a:rPr lang="en-US" altLang="ko-KR" sz="1400" b="1" dirty="0">
                <a:solidFill>
                  <a:srgbClr val="FF0000"/>
                </a:solidFill>
              </a:rPr>
              <a:t> always removes the instances with the highest ordinal index first </a:t>
            </a:r>
            <a:r>
              <a:rPr lang="en-US" altLang="ko-KR" sz="1400" dirty="0"/>
              <a:t>(shown in the following figure). </a:t>
            </a:r>
            <a:r>
              <a:rPr lang="en-US" altLang="ko-KR" sz="1400" b="1" dirty="0"/>
              <a:t>This makes the effects of a scale-down predictable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Because certain stateful applications don’t handle rapid scale-downs nicely, </a:t>
            </a:r>
            <a:r>
              <a:rPr lang="en-US" altLang="ko-KR" sz="1400" b="1" dirty="0" err="1">
                <a:solidFill>
                  <a:srgbClr val="FF0000"/>
                </a:solidFill>
              </a:rPr>
              <a:t>StatefulSets</a:t>
            </a:r>
            <a:r>
              <a:rPr lang="en-US" altLang="ko-KR" sz="1400" b="1" dirty="0">
                <a:solidFill>
                  <a:srgbClr val="FF0000"/>
                </a:solidFill>
              </a:rPr>
              <a:t> scale down only one pod instance at a time</a:t>
            </a:r>
            <a:r>
              <a:rPr lang="en-US" altLang="ko-KR" sz="1400" dirty="0"/>
              <a:t>. A distributed data store, for example, may lose data if multiple nodes go down at the same time. For example, if a replicated data store is configured to store two copies of each data entry, in cases where two nodes go down at the same time, a data entry would be lost if it was stored on exactly those two nodes. If the scale-down was sequential, the distributed data store has time to create an additional replica of the data entry somewhere else to replace the (single) lost copy.</a:t>
            </a:r>
          </a:p>
          <a:p>
            <a:pPr lvl="1">
              <a:buFont typeface="Wingdings" panose="05000000000000000000" pitchFamily="2" charset="2"/>
              <a:buChar char="§"/>
            </a:pPr>
            <a:r>
              <a:rPr lang="en-US" altLang="ko-KR" sz="1400" b="1" dirty="0"/>
              <a:t>For this exact reason, </a:t>
            </a:r>
            <a:r>
              <a:rPr lang="en-US" altLang="ko-KR" sz="1400" b="1" dirty="0" err="1"/>
              <a:t>StatefulSets</a:t>
            </a:r>
            <a:r>
              <a:rPr lang="en-US" altLang="ko-KR" sz="1400" b="1" dirty="0"/>
              <a:t> also never permit scale-down operations if any of the instances are unhealthy</a:t>
            </a:r>
            <a:r>
              <a:rPr lang="en-US" altLang="ko-KR" sz="1400" dirty="0"/>
              <a:t>. If an instance is unhealthy, and you scale down by one at the same time, you’ve effectively lost two cluster members at once.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9A169F46-96BE-5C79-FEE1-A5EDF9F39987}"/>
              </a:ext>
            </a:extLst>
          </p:cNvPr>
          <p:cNvGrpSpPr/>
          <p:nvPr/>
        </p:nvGrpSpPr>
        <p:grpSpPr>
          <a:xfrm>
            <a:off x="2733367" y="2657167"/>
            <a:ext cx="6725265" cy="1543665"/>
            <a:chOff x="2733367" y="2657167"/>
            <a:chExt cx="6725265" cy="1543665"/>
          </a:xfrm>
        </p:grpSpPr>
        <p:pic>
          <p:nvPicPr>
            <p:cNvPr id="8" name="그림 7">
              <a:extLst>
                <a:ext uri="{FF2B5EF4-FFF2-40B4-BE49-F238E27FC236}">
                  <a16:creationId xmlns:a16="http://schemas.microsoft.com/office/drawing/2014/main" id="{F8D1E969-94E2-F3DB-BBE0-1ED0B283936D}"/>
                </a:ext>
              </a:extLst>
            </p:cNvPr>
            <p:cNvPicPr>
              <a:picLocks noChangeAspect="1"/>
            </p:cNvPicPr>
            <p:nvPr/>
          </p:nvPicPr>
          <p:blipFill>
            <a:blip r:embed="rId2"/>
            <a:stretch>
              <a:fillRect/>
            </a:stretch>
          </p:blipFill>
          <p:spPr>
            <a:xfrm>
              <a:off x="2733367" y="2657167"/>
              <a:ext cx="6725265" cy="1543665"/>
            </a:xfrm>
            <a:prstGeom prst="rect">
              <a:avLst/>
            </a:prstGeom>
          </p:spPr>
        </p:pic>
        <p:sp>
          <p:nvSpPr>
            <p:cNvPr id="9" name="화살표: 아래쪽 8">
              <a:extLst>
                <a:ext uri="{FF2B5EF4-FFF2-40B4-BE49-F238E27FC236}">
                  <a16:creationId xmlns:a16="http://schemas.microsoft.com/office/drawing/2014/main" id="{1DAD6DD5-D84F-1D9D-61D4-186EA9D9EA4F}"/>
                </a:ext>
              </a:extLst>
            </p:cNvPr>
            <p:cNvSpPr/>
            <p:nvPr/>
          </p:nvSpPr>
          <p:spPr>
            <a:xfrm rot="5400000">
              <a:off x="6680044" y="3105386"/>
              <a:ext cx="218348" cy="42887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화살표: 아래쪽 9">
              <a:extLst>
                <a:ext uri="{FF2B5EF4-FFF2-40B4-BE49-F238E27FC236}">
                  <a16:creationId xmlns:a16="http://schemas.microsoft.com/office/drawing/2014/main" id="{82727767-62CA-5C87-A90F-B10ECAA667D5}"/>
                </a:ext>
              </a:extLst>
            </p:cNvPr>
            <p:cNvSpPr/>
            <p:nvPr/>
          </p:nvSpPr>
          <p:spPr>
            <a:xfrm rot="5400000">
              <a:off x="8575211" y="3105386"/>
              <a:ext cx="218348" cy="42887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36479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Stable Dedicated Storage to Each Stateful Instance :</a:t>
            </a:r>
          </a:p>
          <a:p>
            <a:pPr lvl="1">
              <a:buFont typeface="Wingdings" panose="05000000000000000000" pitchFamily="2" charset="2"/>
              <a:buChar char="§"/>
            </a:pPr>
            <a:r>
              <a:rPr lang="en-US" altLang="ko-KR" sz="1400" b="1" dirty="0"/>
              <a:t>Each stateful pod instance needs to use its </a:t>
            </a:r>
            <a:r>
              <a:rPr lang="en-US" altLang="ko-KR" sz="1400" b="1" dirty="0">
                <a:solidFill>
                  <a:srgbClr val="FF0000"/>
                </a:solidFill>
              </a:rPr>
              <a:t>own storage</a:t>
            </a:r>
            <a:r>
              <a:rPr lang="en-US" altLang="ko-KR" sz="1400" b="1" dirty="0"/>
              <a:t>, plus if a stateful pod is rescheduled (replaced with a new instance but with the same identity as before), </a:t>
            </a:r>
            <a:r>
              <a:rPr lang="en-US" altLang="ko-KR" sz="1400" b="1" dirty="0">
                <a:solidFill>
                  <a:srgbClr val="FF0000"/>
                </a:solidFill>
              </a:rPr>
              <a:t>the new instance must have the same storage attached to it</a:t>
            </a:r>
            <a:r>
              <a:rPr lang="en-US" altLang="ko-KR" sz="1400" dirty="0"/>
              <a:t>.</a:t>
            </a:r>
          </a:p>
          <a:p>
            <a:pPr lvl="1">
              <a:buFont typeface="Wingdings" panose="05000000000000000000" pitchFamily="2" charset="2"/>
              <a:buChar char="§"/>
            </a:pPr>
            <a:r>
              <a:rPr lang="en-US" altLang="ko-KR" sz="1400" b="1" dirty="0"/>
              <a:t>Obviously, storage for stateful pods needs to be persistent and decoupled from the pods</a:t>
            </a:r>
            <a:r>
              <a:rPr lang="en-US" altLang="ko-KR" sz="1400" dirty="0"/>
              <a:t>. The </a:t>
            </a:r>
            <a:r>
              <a:rPr lang="en-US" altLang="ko-KR" sz="1400" b="1" dirty="0" err="1"/>
              <a:t>PersistentVolumes</a:t>
            </a:r>
            <a:r>
              <a:rPr lang="en-US" altLang="ko-KR" sz="1400" dirty="0"/>
              <a:t> and </a:t>
            </a:r>
            <a:r>
              <a:rPr lang="en-US" altLang="ko-KR" sz="1400" b="1" dirty="0" err="1"/>
              <a:t>PersistentVolumeClaims</a:t>
            </a:r>
            <a:r>
              <a:rPr lang="en-US" altLang="ko-KR" sz="1400" dirty="0"/>
              <a:t> allow persistent storage to be </a:t>
            </a:r>
            <a:r>
              <a:rPr lang="en-US" altLang="ko-KR" sz="1400" b="1" dirty="0"/>
              <a:t>attached to a pod by referencing the </a:t>
            </a:r>
            <a:r>
              <a:rPr lang="en-US" altLang="ko-KR" sz="1400" b="1" dirty="0" err="1"/>
              <a:t>PersistentVolumeClaim</a:t>
            </a:r>
            <a:r>
              <a:rPr lang="en-US" altLang="ko-KR" sz="1400" b="1" dirty="0"/>
              <a:t> in the pod by name</a:t>
            </a:r>
            <a:r>
              <a:rPr lang="en-US" altLang="ko-KR" sz="1400" dirty="0"/>
              <a:t>. </a:t>
            </a:r>
            <a:r>
              <a:rPr lang="en-US" altLang="ko-KR" sz="1400" b="1" dirty="0"/>
              <a:t>Because </a:t>
            </a:r>
            <a:r>
              <a:rPr lang="en-US" altLang="ko-KR" sz="1400" b="1" dirty="0" err="1"/>
              <a:t>PersistentVolumeClaims</a:t>
            </a:r>
            <a:r>
              <a:rPr lang="en-US" altLang="ko-KR" sz="1400" b="1" dirty="0"/>
              <a:t> map to </a:t>
            </a:r>
            <a:r>
              <a:rPr lang="en-US" altLang="ko-KR" sz="1400" b="1" dirty="0" err="1"/>
              <a:t>PersistentVolumes</a:t>
            </a:r>
            <a:r>
              <a:rPr lang="en-US" altLang="ko-KR" sz="1400" b="1" dirty="0"/>
              <a:t> one-to-one, each pod of a </a:t>
            </a:r>
            <a:r>
              <a:rPr lang="en-US" altLang="ko-KR" sz="1400" b="1" dirty="0" err="1"/>
              <a:t>StatefulSet</a:t>
            </a:r>
            <a:r>
              <a:rPr lang="en-US" altLang="ko-KR" sz="1400" b="1" dirty="0"/>
              <a:t> needs to reference a different </a:t>
            </a:r>
            <a:r>
              <a:rPr lang="en-US" altLang="ko-KR" sz="1400" b="1" dirty="0" err="1"/>
              <a:t>PersistentVolumeClaim</a:t>
            </a:r>
            <a:r>
              <a:rPr lang="en-US" altLang="ko-KR" sz="1400" b="1" dirty="0"/>
              <a:t> to have its own separate </a:t>
            </a:r>
            <a:r>
              <a:rPr lang="en-US" altLang="ko-KR" sz="1400" b="1" dirty="0" err="1"/>
              <a:t>PersistentVolume</a:t>
            </a:r>
            <a:r>
              <a:rPr lang="en-US" altLang="ko-KR" sz="1400" dirty="0"/>
              <a:t>.</a:t>
            </a:r>
          </a:p>
          <a:p>
            <a:pPr lvl="1">
              <a:buFont typeface="Wingdings" panose="05000000000000000000" pitchFamily="2" charset="2"/>
              <a:buChar char="§"/>
            </a:pPr>
            <a:r>
              <a:rPr lang="en-US" altLang="ko-KR" sz="1400" b="1" dirty="0">
                <a:solidFill>
                  <a:srgbClr val="FF0000"/>
                </a:solidFill>
              </a:rPr>
              <a:t>The </a:t>
            </a:r>
            <a:r>
              <a:rPr lang="en-US" altLang="ko-KR" sz="1400" b="1" dirty="0" err="1">
                <a:solidFill>
                  <a:srgbClr val="FF0000"/>
                </a:solidFill>
              </a:rPr>
              <a:t>StatefulSet</a:t>
            </a:r>
            <a:r>
              <a:rPr lang="en-US" altLang="ko-KR" sz="1400" b="1" dirty="0">
                <a:solidFill>
                  <a:srgbClr val="FF0000"/>
                </a:solidFill>
              </a:rPr>
              <a:t> has to create the </a:t>
            </a:r>
            <a:r>
              <a:rPr lang="en-US" altLang="ko-KR" sz="1400" b="1" dirty="0" err="1">
                <a:solidFill>
                  <a:srgbClr val="FF0000"/>
                </a:solidFill>
              </a:rPr>
              <a:t>PersistentVolumeClaims</a:t>
            </a:r>
            <a:r>
              <a:rPr lang="en-US" altLang="ko-KR" sz="1400" b="1" dirty="0"/>
              <a:t> as well, the same way it’s creating the pods</a:t>
            </a:r>
            <a:r>
              <a:rPr lang="en-US" altLang="ko-KR" sz="1400" dirty="0"/>
              <a:t>. For this reason, </a:t>
            </a:r>
            <a:r>
              <a:rPr lang="en-US" altLang="ko-KR" sz="1400" b="1" dirty="0"/>
              <a:t>a </a:t>
            </a:r>
            <a:r>
              <a:rPr lang="en-US" altLang="ko-KR" sz="1400" b="1" dirty="0" err="1"/>
              <a:t>StatefulSet</a:t>
            </a:r>
            <a:r>
              <a:rPr lang="en-US" altLang="ko-KR" sz="1400" b="1" dirty="0"/>
              <a:t> can also have </a:t>
            </a:r>
            <a:r>
              <a:rPr lang="en-US" altLang="ko-KR" sz="1400" b="1" dirty="0">
                <a:solidFill>
                  <a:srgbClr val="FF0000"/>
                </a:solidFill>
              </a:rPr>
              <a:t>one or more volume claim templates</a:t>
            </a:r>
            <a:r>
              <a:rPr lang="en-US" altLang="ko-KR" sz="1400" dirty="0"/>
              <a:t>, which enable it to </a:t>
            </a:r>
            <a:r>
              <a:rPr lang="en-US" altLang="ko-KR" sz="1400" b="1" dirty="0"/>
              <a:t>stamp out </a:t>
            </a:r>
            <a:r>
              <a:rPr lang="en-US" altLang="ko-KR" sz="1400" b="1" dirty="0" err="1"/>
              <a:t>PersistentVolumeClaims</a:t>
            </a:r>
            <a:r>
              <a:rPr lang="en-US" altLang="ko-KR" sz="1400" b="1" dirty="0"/>
              <a:t> along with each pod instance </a:t>
            </a:r>
            <a:r>
              <a:rPr lang="en-US" altLang="ko-KR" sz="1400" dirty="0"/>
              <a:t>(see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t>
            </a:r>
            <a:r>
              <a:rPr lang="en-US" altLang="ko-KR" sz="1400" b="1" dirty="0" err="1"/>
              <a:t>PersistentVolumes</a:t>
            </a:r>
            <a:r>
              <a:rPr lang="en-US" altLang="ko-KR" sz="1400" b="1" dirty="0"/>
              <a:t> for the claims can either be provisioned up-front by an administrator or just in time through dynamic provisioning of </a:t>
            </a:r>
            <a:r>
              <a:rPr lang="en-US" altLang="ko-KR" sz="1400" b="1" dirty="0" err="1"/>
              <a:t>PersistentVolumes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BCF88FF-38EE-8CED-9129-4228E555F679}"/>
              </a:ext>
            </a:extLst>
          </p:cNvPr>
          <p:cNvPicPr>
            <a:picLocks noChangeAspect="1"/>
          </p:cNvPicPr>
          <p:nvPr/>
        </p:nvPicPr>
        <p:blipFill>
          <a:blip r:embed="rId2"/>
          <a:stretch>
            <a:fillRect/>
          </a:stretch>
        </p:blipFill>
        <p:spPr>
          <a:xfrm>
            <a:off x="3736258" y="3591718"/>
            <a:ext cx="4719484" cy="1671484"/>
          </a:xfrm>
          <a:prstGeom prst="rect">
            <a:avLst/>
          </a:prstGeom>
        </p:spPr>
      </p:pic>
    </p:spTree>
    <p:extLst>
      <p:ext uri="{BB962C8B-B14F-4D97-AF65-F5344CB8AC3E}">
        <p14:creationId xmlns:p14="http://schemas.microsoft.com/office/powerpoint/2010/main" val="1691455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Stable Dedicated Storage to Each Stateful Instance :</a:t>
            </a:r>
          </a:p>
          <a:p>
            <a:pPr lvl="1">
              <a:buFont typeface="Wingdings" panose="05000000000000000000" pitchFamily="2" charset="2"/>
              <a:buChar char="§"/>
            </a:pPr>
            <a:r>
              <a:rPr lang="en-US" altLang="ko-KR" sz="1400" b="1" dirty="0"/>
              <a:t>Scaling up a </a:t>
            </a:r>
            <a:r>
              <a:rPr lang="en-US" altLang="ko-KR" sz="1400" b="1" dirty="0" err="1"/>
              <a:t>StatefulSet</a:t>
            </a:r>
            <a:r>
              <a:rPr lang="en-US" altLang="ko-KR" sz="1400" b="1" dirty="0"/>
              <a:t> by one creates two or more API objects (the pod and one or more </a:t>
            </a:r>
            <a:r>
              <a:rPr lang="en-US" altLang="ko-KR" sz="1400" b="1" dirty="0" err="1"/>
              <a:t>PersistentVolumeClaims</a:t>
            </a:r>
            <a:r>
              <a:rPr lang="en-US" altLang="ko-KR" sz="1400" b="1" dirty="0"/>
              <a:t> referenced by the pod)</a:t>
            </a:r>
            <a:r>
              <a:rPr lang="en-US" altLang="ko-KR" sz="1400" dirty="0"/>
              <a:t>. </a:t>
            </a:r>
            <a:r>
              <a:rPr lang="en-US" altLang="ko-KR" sz="1400" b="1" dirty="0"/>
              <a:t>Scaling down, however, deletes only the pod</a:t>
            </a:r>
            <a:r>
              <a:rPr lang="en-US" altLang="ko-KR" sz="1400" dirty="0"/>
              <a:t>, </a:t>
            </a:r>
            <a:r>
              <a:rPr lang="en-US" altLang="ko-KR" sz="1400" b="1" dirty="0"/>
              <a:t>leaving the claims alone</a:t>
            </a:r>
            <a:r>
              <a:rPr lang="en-US" altLang="ko-KR" sz="1400" dirty="0"/>
              <a:t>. The reason for this is obvious, if you consider what happens when a claim is deleted. After a claim is deleted, the </a:t>
            </a:r>
            <a:r>
              <a:rPr lang="en-US" altLang="ko-KR" sz="1400" dirty="0" err="1"/>
              <a:t>PersistentVolume</a:t>
            </a:r>
            <a:r>
              <a:rPr lang="en-US" altLang="ko-KR" sz="1400" dirty="0"/>
              <a:t> it was bound to gets recycled or deleted and its contents are lost.</a:t>
            </a:r>
          </a:p>
          <a:p>
            <a:pPr lvl="1">
              <a:buFont typeface="Wingdings" panose="05000000000000000000" pitchFamily="2" charset="2"/>
              <a:buChar char="§"/>
            </a:pPr>
            <a:r>
              <a:rPr lang="en-US" altLang="ko-KR" sz="1400" b="1" dirty="0"/>
              <a:t>Because stateful pods are meant to run stateful applications, which implies that the data they store in the volume is important, deleting the claim on scale-down of a </a:t>
            </a:r>
            <a:r>
              <a:rPr lang="en-US" altLang="ko-KR" sz="1400" b="1" dirty="0" err="1"/>
              <a:t>StatefulSet</a:t>
            </a:r>
            <a:r>
              <a:rPr lang="en-US" altLang="ko-KR" sz="1400" b="1" dirty="0"/>
              <a:t> could be catastrophic</a:t>
            </a:r>
            <a:r>
              <a:rPr lang="en-US" altLang="ko-KR" sz="1400" dirty="0"/>
              <a:t>—especially since triggering a scale-down is as simple as decreasing the replicas field of the </a:t>
            </a:r>
            <a:r>
              <a:rPr lang="en-US" altLang="ko-KR" sz="1400" b="1" dirty="0" err="1"/>
              <a:t>StatefulSet</a:t>
            </a:r>
            <a:r>
              <a:rPr lang="en-US" altLang="ko-KR" sz="1400" dirty="0"/>
              <a:t>. For this reason, </a:t>
            </a:r>
            <a:r>
              <a:rPr lang="en-US" altLang="ko-KR" sz="1400" b="1" dirty="0"/>
              <a:t>you’re required to delete </a:t>
            </a:r>
            <a:r>
              <a:rPr lang="en-US" altLang="ko-KR" sz="1400" b="1" dirty="0" err="1"/>
              <a:t>PersistentVolumeClaims</a:t>
            </a:r>
            <a:r>
              <a:rPr lang="en-US" altLang="ko-KR" sz="1400" b="1" dirty="0"/>
              <a:t> manually to release the underlying </a:t>
            </a:r>
            <a:r>
              <a:rPr lang="en-US" altLang="ko-KR" sz="1400" b="1" dirty="0" err="1"/>
              <a:t>PersistentVolume</a:t>
            </a:r>
            <a:r>
              <a:rPr lang="en-US" altLang="ko-KR" sz="1400" dirty="0"/>
              <a:t>.</a:t>
            </a:r>
          </a:p>
          <a:p>
            <a:pPr lvl="1">
              <a:buFont typeface="Wingdings" panose="05000000000000000000" pitchFamily="2" charset="2"/>
              <a:buChar char="§"/>
            </a:pPr>
            <a:r>
              <a:rPr lang="en-US" altLang="ko-KR" sz="1400" b="1" dirty="0"/>
              <a:t>The fact that </a:t>
            </a:r>
            <a:r>
              <a:rPr lang="en-US" altLang="ko-KR" sz="1400" b="1" dirty="0">
                <a:solidFill>
                  <a:srgbClr val="FF0000"/>
                </a:solidFill>
              </a:rPr>
              <a:t>the </a:t>
            </a:r>
            <a:r>
              <a:rPr lang="en-US" altLang="ko-KR" sz="1400" b="1" dirty="0" err="1">
                <a:solidFill>
                  <a:srgbClr val="FF0000"/>
                </a:solidFill>
              </a:rPr>
              <a:t>PersistentVolumeClaim</a:t>
            </a:r>
            <a:r>
              <a:rPr lang="en-US" altLang="ko-KR" sz="1400" b="1" dirty="0">
                <a:solidFill>
                  <a:srgbClr val="FF0000"/>
                </a:solidFill>
              </a:rPr>
              <a:t> remains after a scale-down </a:t>
            </a:r>
            <a:r>
              <a:rPr lang="en-US" altLang="ko-KR" sz="1400" b="1" dirty="0"/>
              <a:t>means a subsequent scale-up can reattach the same claim along with the bound </a:t>
            </a:r>
            <a:r>
              <a:rPr lang="en-US" altLang="ko-KR" sz="1400" b="1" dirty="0" err="1"/>
              <a:t>PersistentVolume</a:t>
            </a:r>
            <a:r>
              <a:rPr lang="en-US" altLang="ko-KR" sz="1400" dirty="0"/>
              <a:t> </a:t>
            </a:r>
            <a:r>
              <a:rPr lang="en-US" altLang="ko-KR" sz="1400" b="1" dirty="0"/>
              <a:t>and its contents to the new pod instance </a:t>
            </a:r>
            <a:r>
              <a:rPr lang="en-US" altLang="ko-KR" sz="1400" dirty="0"/>
              <a:t>(shown in the following figure). If you accidentally scale down a </a:t>
            </a:r>
            <a:r>
              <a:rPr lang="en-US" altLang="ko-KR" sz="1400" b="1" dirty="0" err="1"/>
              <a:t>StatefulSet</a:t>
            </a:r>
            <a:r>
              <a:rPr lang="en-US" altLang="ko-KR" sz="1400" dirty="0"/>
              <a:t>, you can undo the mistake by scaling up again and the new pod will get the same persisted state again (as well as the same name).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6BAEA7E5-27DF-2172-F058-51D9C03C74B4}"/>
              </a:ext>
            </a:extLst>
          </p:cNvPr>
          <p:cNvGrpSpPr/>
          <p:nvPr/>
        </p:nvGrpSpPr>
        <p:grpSpPr>
          <a:xfrm>
            <a:off x="3903211" y="3632031"/>
            <a:ext cx="4385578" cy="2776999"/>
            <a:chOff x="3903211" y="3632031"/>
            <a:chExt cx="4385578" cy="2776999"/>
          </a:xfrm>
        </p:grpSpPr>
        <p:pic>
          <p:nvPicPr>
            <p:cNvPr id="8" name="그림 7">
              <a:extLst>
                <a:ext uri="{FF2B5EF4-FFF2-40B4-BE49-F238E27FC236}">
                  <a16:creationId xmlns:a16="http://schemas.microsoft.com/office/drawing/2014/main" id="{BB3811D2-D9E5-31CC-EFCC-1FF680216E46}"/>
                </a:ext>
              </a:extLst>
            </p:cNvPr>
            <p:cNvPicPr>
              <a:picLocks noChangeAspect="1"/>
            </p:cNvPicPr>
            <p:nvPr/>
          </p:nvPicPr>
          <p:blipFill>
            <a:blip r:embed="rId2"/>
            <a:stretch>
              <a:fillRect/>
            </a:stretch>
          </p:blipFill>
          <p:spPr>
            <a:xfrm>
              <a:off x="3903211" y="3632031"/>
              <a:ext cx="4385578" cy="2776999"/>
            </a:xfrm>
            <a:prstGeom prst="rect">
              <a:avLst/>
            </a:prstGeom>
          </p:spPr>
        </p:pic>
        <p:sp>
          <p:nvSpPr>
            <p:cNvPr id="9" name="직사각형 8">
              <a:extLst>
                <a:ext uri="{FF2B5EF4-FFF2-40B4-BE49-F238E27FC236}">
                  <a16:creationId xmlns:a16="http://schemas.microsoft.com/office/drawing/2014/main" id="{28436252-83D8-5650-706D-A3A6538CA048}"/>
                </a:ext>
              </a:extLst>
            </p:cNvPr>
            <p:cNvSpPr/>
            <p:nvPr/>
          </p:nvSpPr>
          <p:spPr>
            <a:xfrm>
              <a:off x="5866726" y="4005558"/>
              <a:ext cx="436970" cy="9872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B5642B74-DA70-311C-E2E9-87ED50BB79BC}"/>
                </a:ext>
              </a:extLst>
            </p:cNvPr>
            <p:cNvSpPr/>
            <p:nvPr/>
          </p:nvSpPr>
          <p:spPr>
            <a:xfrm>
              <a:off x="7363752" y="4021742"/>
              <a:ext cx="436970" cy="140801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41462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t>
            </a:r>
            <a:r>
              <a:rPr lang="en-US" altLang="ko-KR" sz="1800" b="1" dirty="0" err="1"/>
              <a:t>StatefulSet</a:t>
            </a:r>
            <a:r>
              <a:rPr lang="en-US" altLang="ko-KR" sz="1800" b="1" dirty="0"/>
              <a:t> Guarantees :</a:t>
            </a:r>
          </a:p>
          <a:p>
            <a:pPr lvl="1">
              <a:buFont typeface="Wingdings" panose="05000000000000000000" pitchFamily="2" charset="2"/>
              <a:buChar char="§"/>
            </a:pPr>
            <a:r>
              <a:rPr lang="en-US" altLang="ko-KR" sz="1400" b="1" dirty="0" err="1"/>
              <a:t>StatefulSets</a:t>
            </a:r>
            <a:r>
              <a:rPr lang="en-US" altLang="ko-KR" sz="1400" b="1" dirty="0"/>
              <a:t> behave differently from </a:t>
            </a:r>
            <a:r>
              <a:rPr lang="en-US" altLang="ko-KR" sz="1400" b="1" dirty="0" err="1"/>
              <a:t>ReplicaSets</a:t>
            </a:r>
            <a:r>
              <a:rPr lang="en-US" altLang="ko-KR" sz="1400" b="1" dirty="0"/>
              <a:t> or </a:t>
            </a:r>
            <a:r>
              <a:rPr lang="en-US" altLang="ko-KR" sz="1400" b="1" dirty="0" err="1"/>
              <a:t>ReplicationControllers</a:t>
            </a:r>
            <a:r>
              <a:rPr lang="en-US" altLang="ko-KR" sz="1400" dirty="0"/>
              <a:t>. But this doesn’t end with the pods having a stable identity and storage. </a:t>
            </a:r>
            <a:r>
              <a:rPr lang="en-US" altLang="ko-KR" sz="1400" b="1" dirty="0" err="1"/>
              <a:t>StatefulSets</a:t>
            </a:r>
            <a:r>
              <a:rPr lang="en-US" altLang="ko-KR" sz="1400" b="1" dirty="0"/>
              <a:t> also have different guarantees regarding their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244E9CD-3F98-AC7D-1942-D0AB415FCFDD}"/>
              </a:ext>
            </a:extLst>
          </p:cNvPr>
          <p:cNvPicPr>
            <a:picLocks noChangeAspect="1"/>
          </p:cNvPicPr>
          <p:nvPr/>
        </p:nvPicPr>
        <p:blipFill>
          <a:blip r:embed="rId2"/>
          <a:stretch>
            <a:fillRect/>
          </a:stretch>
        </p:blipFill>
        <p:spPr>
          <a:xfrm>
            <a:off x="6756044" y="1594130"/>
            <a:ext cx="4597756" cy="4814899"/>
          </a:xfrm>
          <a:prstGeom prst="rect">
            <a:avLst/>
          </a:prstGeom>
        </p:spPr>
      </p:pic>
      <p:sp>
        <p:nvSpPr>
          <p:cNvPr id="9" name="TextBox 8">
            <a:extLst>
              <a:ext uri="{FF2B5EF4-FFF2-40B4-BE49-F238E27FC236}">
                <a16:creationId xmlns:a16="http://schemas.microsoft.com/office/drawing/2014/main" id="{8552BA08-1347-A3C5-1D53-687C3326CF96}"/>
              </a:ext>
            </a:extLst>
          </p:cNvPr>
          <p:cNvSpPr txBox="1"/>
          <p:nvPr/>
        </p:nvSpPr>
        <p:spPr>
          <a:xfrm>
            <a:off x="838200" y="1594129"/>
            <a:ext cx="5917844" cy="3646639"/>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While regular, stateless pods are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fungible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stateful pods aren’t(</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non-fungible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We’ve already seen how a stateful pod is always replaced with an identical pod (one having the same name and hostname, using the same persistent storage, and so on). This happens when Kubernetes sees that the old pod is no longer there (for example, when you delete the pod manually).</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But what if Kubernetes can’t be sure about the state of the pod?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If it creates a replacement pod with the same identity, two instances of the app with the same identity might be running in the system.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two would also be bound to the same storage, so two processes with the same identity would be writing over the same files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With pods managed by a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ReplicaSet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this isn’t a problem, because the apps are obviously made to work on the same files.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Also,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ReplicaSets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create pods with a randomly generated identity, so there’s no way for two processes to run with the same identity</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2770730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t>
            </a:r>
            <a:r>
              <a:rPr lang="en-US" altLang="ko-KR" sz="2800" b="1" dirty="0" err="1"/>
              <a:t>StatefulSets</a:t>
            </a:r>
            <a:r>
              <a:rPr lang="en-US" altLang="ko-KR" sz="2800" b="1" dirty="0"/>
              <a:t>(10/10)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t>
            </a:r>
            <a:r>
              <a:rPr lang="en-US" altLang="ko-KR" sz="1800" b="1" dirty="0" err="1"/>
              <a:t>StatefulSet</a:t>
            </a:r>
            <a:r>
              <a:rPr lang="en-US" altLang="ko-KR" sz="1800" b="1" dirty="0"/>
              <a:t> Guarantees :</a:t>
            </a:r>
          </a:p>
          <a:p>
            <a:pPr lvl="1">
              <a:buFont typeface="Wingdings" panose="05000000000000000000" pitchFamily="2" charset="2"/>
              <a:buChar char="§"/>
            </a:pPr>
            <a:r>
              <a:rPr lang="en-US" altLang="ko-KR" sz="1400" b="1" dirty="0"/>
              <a:t>Kubernetes must thus take great care to ensure two stateful pod instances are never running with the same identity and are bound to the same </a:t>
            </a:r>
            <a:r>
              <a:rPr lang="en-US" altLang="ko-KR" sz="1400" b="1" dirty="0" err="1"/>
              <a:t>PersistentVolumeClaim</a:t>
            </a:r>
            <a:r>
              <a:rPr lang="en-US" altLang="ko-KR" sz="1400" dirty="0"/>
              <a:t>. </a:t>
            </a:r>
            <a:r>
              <a:rPr lang="en-US" altLang="ko-KR" sz="1400" b="1" dirty="0">
                <a:solidFill>
                  <a:srgbClr val="FF0000"/>
                </a:solidFill>
              </a:rPr>
              <a:t>A </a:t>
            </a:r>
            <a:r>
              <a:rPr lang="en-US" altLang="ko-KR" sz="1400" b="1" dirty="0" err="1">
                <a:solidFill>
                  <a:srgbClr val="FF0000"/>
                </a:solidFill>
              </a:rPr>
              <a:t>StatefulSet</a:t>
            </a:r>
            <a:r>
              <a:rPr lang="en-US" altLang="ko-KR" sz="1400" b="1" dirty="0">
                <a:solidFill>
                  <a:srgbClr val="FF0000"/>
                </a:solidFill>
              </a:rPr>
              <a:t> must guarantee at-most-one semantics for stateful pod instances</a:t>
            </a:r>
            <a:r>
              <a:rPr lang="en-US" altLang="ko-KR" sz="1400" dirty="0"/>
              <a:t>. </a:t>
            </a:r>
          </a:p>
          <a:p>
            <a:pPr lvl="1">
              <a:buFont typeface="Wingdings" panose="05000000000000000000" pitchFamily="2" charset="2"/>
              <a:buChar char="§"/>
            </a:pPr>
            <a:r>
              <a:rPr lang="en-US" altLang="ko-KR" sz="1400" b="1" dirty="0"/>
              <a:t>This means a </a:t>
            </a:r>
            <a:r>
              <a:rPr lang="en-US" altLang="ko-KR" sz="1400" b="1" dirty="0" err="1"/>
              <a:t>StatefulSet</a:t>
            </a:r>
            <a:r>
              <a:rPr lang="en-US" altLang="ko-KR" sz="1400" b="1" dirty="0"/>
              <a:t> must be absolutely certain that a pod is no longer running before it can create a replacement pod</a:t>
            </a:r>
            <a:r>
              <a:rPr lang="en-US" altLang="ko-KR" sz="1400" dirty="0"/>
              <a:t>. This has a big effect on how node failures are handled.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55E645C-CF52-D91C-BEC6-93309F7693FF}"/>
              </a:ext>
            </a:extLst>
          </p:cNvPr>
          <p:cNvPicPr>
            <a:picLocks noChangeAspect="1"/>
          </p:cNvPicPr>
          <p:nvPr/>
        </p:nvPicPr>
        <p:blipFill>
          <a:blip r:embed="rId2"/>
          <a:stretch>
            <a:fillRect/>
          </a:stretch>
        </p:blipFill>
        <p:spPr>
          <a:xfrm>
            <a:off x="3285345" y="2442674"/>
            <a:ext cx="5621309" cy="3820307"/>
          </a:xfrm>
          <a:prstGeom prst="rect">
            <a:avLst/>
          </a:prstGeom>
        </p:spPr>
      </p:pic>
    </p:spTree>
    <p:extLst>
      <p:ext uri="{BB962C8B-B14F-4D97-AF65-F5344CB8AC3E}">
        <p14:creationId xmlns:p14="http://schemas.microsoft.com/office/powerpoint/2010/main" val="3434510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the App and Container Image :</a:t>
            </a:r>
          </a:p>
          <a:p>
            <a:pPr lvl="1">
              <a:buFont typeface="Wingdings" panose="05000000000000000000" pitchFamily="2" charset="2"/>
              <a:buChar char="§"/>
            </a:pPr>
            <a:r>
              <a:rPr lang="en-US" altLang="ko-KR" sz="1400" dirty="0"/>
              <a:t>To properly show </a:t>
            </a:r>
            <a:r>
              <a:rPr lang="en-US" altLang="ko-KR" sz="1400" b="1" dirty="0" err="1"/>
              <a:t>StatefulSets</a:t>
            </a:r>
            <a:r>
              <a:rPr lang="en-US" altLang="ko-KR" sz="1400" dirty="0"/>
              <a:t> in action, you’ll </a:t>
            </a:r>
            <a:r>
              <a:rPr lang="en-US" altLang="ko-KR" sz="1400" b="1" dirty="0"/>
              <a:t>build your own little clustered data store</a:t>
            </a:r>
            <a:r>
              <a:rPr lang="en-US" altLang="ko-KR" sz="1400" dirty="0"/>
              <a:t>. You’ll use the “</a:t>
            </a:r>
            <a:r>
              <a:rPr lang="en-US" altLang="ko-KR" sz="1400" b="1" dirty="0" err="1"/>
              <a:t>kubia</a:t>
            </a:r>
            <a:r>
              <a:rPr lang="en-US" altLang="ko-KR" sz="1400" dirty="0"/>
              <a:t>” app you’ve used before as your starting point. </a:t>
            </a:r>
            <a:r>
              <a:rPr lang="en-US" altLang="ko-KR" sz="1400" b="1" dirty="0"/>
              <a:t>You’ll expand it so it allows you to store and retrieve a single data entry on each pod instance</a:t>
            </a:r>
            <a:r>
              <a:rPr lang="en-US" altLang="ko-KR" sz="1400" dirty="0"/>
              <a:t>. The important parts of the source code of your data store are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Whenever the app receives a POST request, it writes the data it receives in the body of the request to the file “/var/data/kubia.txt”</a:t>
            </a:r>
            <a:r>
              <a:rPr lang="en-US" altLang="ko-KR" sz="1400" dirty="0"/>
              <a:t>. Upon a “</a:t>
            </a:r>
            <a:r>
              <a:rPr lang="en-US" altLang="ko-KR" sz="1400" b="1" dirty="0"/>
              <a:t>GET”(</a:t>
            </a:r>
            <a:r>
              <a:rPr lang="en-US" altLang="ko-KR" sz="1400" b="1" dirty="0" err="1"/>
              <a:t>request.method</a:t>
            </a:r>
            <a:r>
              <a:rPr lang="en-US" altLang="ko-KR" sz="1400" b="1" dirty="0"/>
              <a:t> != ‘POST’)</a:t>
            </a:r>
            <a:r>
              <a:rPr lang="en-US" altLang="ko-KR" sz="1400" dirty="0"/>
              <a:t> </a:t>
            </a:r>
            <a:r>
              <a:rPr lang="en-US" altLang="ko-KR" sz="1400" b="1" dirty="0"/>
              <a:t>request</a:t>
            </a:r>
            <a:r>
              <a:rPr lang="en-US" altLang="ko-KR" sz="1400" dirty="0"/>
              <a:t>, it returns the hostname and the stored data (contents of the file). This is the first version of your app. It’s not clustered yet, but it’s enough to get you started. You’ll expand the app later.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37155D8C-D9E0-FDA5-17C6-71EF55A380CD}"/>
              </a:ext>
            </a:extLst>
          </p:cNvPr>
          <p:cNvGrpSpPr/>
          <p:nvPr/>
        </p:nvGrpSpPr>
        <p:grpSpPr>
          <a:xfrm>
            <a:off x="1369239" y="2190092"/>
            <a:ext cx="9453521" cy="2862322"/>
            <a:chOff x="1369239" y="2718155"/>
            <a:chExt cx="9453521" cy="2862322"/>
          </a:xfrm>
        </p:grpSpPr>
        <p:grpSp>
          <p:nvGrpSpPr>
            <p:cNvPr id="11" name="그룹 10">
              <a:extLst>
                <a:ext uri="{FF2B5EF4-FFF2-40B4-BE49-F238E27FC236}">
                  <a16:creationId xmlns:a16="http://schemas.microsoft.com/office/drawing/2014/main" id="{3042E1D1-26BB-01D5-9FAE-1B24372CA84D}"/>
                </a:ext>
              </a:extLst>
            </p:cNvPr>
            <p:cNvGrpSpPr/>
            <p:nvPr/>
          </p:nvGrpSpPr>
          <p:grpSpPr>
            <a:xfrm>
              <a:off x="1369239" y="2718155"/>
              <a:ext cx="9453521" cy="2862322"/>
              <a:chOff x="1397898" y="2726247"/>
              <a:chExt cx="9453521" cy="2862322"/>
            </a:xfrm>
          </p:grpSpPr>
          <p:sp>
            <p:nvSpPr>
              <p:cNvPr id="8" name="TextBox 7">
                <a:extLst>
                  <a:ext uri="{FF2B5EF4-FFF2-40B4-BE49-F238E27FC236}">
                    <a16:creationId xmlns:a16="http://schemas.microsoft.com/office/drawing/2014/main" id="{B5BC8544-D9B2-ED5E-2EA1-568965ADAC93}"/>
                  </a:ext>
                </a:extLst>
              </p:cNvPr>
              <p:cNvSpPr txBox="1"/>
              <p:nvPr/>
            </p:nvSpPr>
            <p:spPr>
              <a:xfrm>
                <a:off x="5160695" y="2726247"/>
                <a:ext cx="5690724" cy="2862322"/>
              </a:xfrm>
              <a:prstGeom prst="rect">
                <a:avLst/>
              </a:prstGeom>
              <a:noFill/>
              <a:ln>
                <a:solidFill>
                  <a:schemeClr val="bg1">
                    <a:lumMod val="50000"/>
                  </a:schemeClr>
                </a:solidFill>
              </a:ln>
            </p:spPr>
            <p:txBody>
              <a:bodyPr wrap="square">
                <a:spAutoFit/>
              </a:bodyPr>
              <a:lstStyle/>
              <a:p>
                <a:r>
                  <a:rPr lang="en-US" altLang="ko-KR" sz="1000" b="1" dirty="0">
                    <a:solidFill>
                      <a:srgbClr val="FF0000"/>
                    </a:solidFill>
                  </a:rPr>
                  <a:t>    </a:t>
                </a:r>
                <a:r>
                  <a:rPr lang="en-US" altLang="ko-KR" sz="1000" b="1" dirty="0" err="1">
                    <a:solidFill>
                      <a:srgbClr val="FF0000"/>
                    </a:solidFill>
                  </a:rPr>
                  <a:t>file.on</a:t>
                </a:r>
                <a:r>
                  <a:rPr lang="en-US" altLang="ko-KR" sz="1000" b="1" dirty="0">
                    <a:solidFill>
                      <a:srgbClr val="FF0000"/>
                    </a:solidFill>
                  </a:rPr>
                  <a:t>('open', function (</a:t>
                </a:r>
                <a:r>
                  <a:rPr lang="en-US" altLang="ko-KR" sz="1000" b="1" dirty="0" err="1">
                    <a:solidFill>
                      <a:srgbClr val="FF0000"/>
                    </a:solidFill>
                  </a:rPr>
                  <a:t>fd</a:t>
                </a:r>
                <a:r>
                  <a:rPr lang="en-US" altLang="ko-KR" sz="1000" b="1" dirty="0">
                    <a:solidFill>
                      <a:srgbClr val="FF0000"/>
                    </a:solidFill>
                  </a:rPr>
                  <a:t>) {</a:t>
                </a:r>
              </a:p>
              <a:p>
                <a:r>
                  <a:rPr lang="en-US" altLang="ko-KR" sz="1000" b="1" dirty="0">
                    <a:solidFill>
                      <a:srgbClr val="FF0000"/>
                    </a:solidFill>
                  </a:rPr>
                  <a:t>      </a:t>
                </a:r>
                <a:r>
                  <a:rPr lang="en-US" altLang="ko-KR" sz="1000" b="1" dirty="0" err="1">
                    <a:solidFill>
                      <a:srgbClr val="FF0000"/>
                    </a:solidFill>
                  </a:rPr>
                  <a:t>request.pipe</a:t>
                </a:r>
                <a:r>
                  <a:rPr lang="en-US" altLang="ko-KR" sz="1000" b="1" dirty="0">
                    <a:solidFill>
                      <a:srgbClr val="FF0000"/>
                    </a:solidFill>
                  </a:rPr>
                  <a:t>(file);</a:t>
                </a:r>
              </a:p>
              <a:p>
                <a:r>
                  <a:rPr lang="en-US" altLang="ko-KR" sz="1000" b="1" dirty="0">
                    <a:solidFill>
                      <a:srgbClr val="FF0000"/>
                    </a:solidFill>
                  </a:rPr>
                  <a:t>      console.log("New data has been received and stored.");</a:t>
                </a:r>
              </a:p>
              <a:p>
                <a:r>
                  <a:rPr lang="en-US" altLang="ko-KR" sz="1000" b="1" dirty="0">
                    <a:solidFill>
                      <a:srgbClr val="FF0000"/>
                    </a:solidFill>
                  </a:rPr>
                  <a:t>      </a:t>
                </a:r>
                <a:r>
                  <a:rPr lang="en-US" altLang="ko-KR" sz="1000" b="1" dirty="0" err="1">
                    <a:solidFill>
                      <a:srgbClr val="FF0000"/>
                    </a:solidFill>
                  </a:rPr>
                  <a:t>response.writeHead</a:t>
                </a:r>
                <a:r>
                  <a:rPr lang="en-US" altLang="ko-KR" sz="1000" b="1" dirty="0">
                    <a:solidFill>
                      <a:srgbClr val="FF0000"/>
                    </a:solidFill>
                  </a:rPr>
                  <a:t>(200);</a:t>
                </a:r>
              </a:p>
              <a:p>
                <a:r>
                  <a:rPr lang="en-US" altLang="ko-KR" sz="1000" b="1" dirty="0">
                    <a:solidFill>
                      <a:srgbClr val="FF0000"/>
                    </a:solidFill>
                  </a:rPr>
                  <a:t>      </a:t>
                </a:r>
                <a:r>
                  <a:rPr lang="en-US" altLang="ko-KR" sz="1000" b="1" dirty="0" err="1">
                    <a:solidFill>
                      <a:srgbClr val="FF0000"/>
                    </a:solidFill>
                  </a:rPr>
                  <a:t>response.end</a:t>
                </a:r>
                <a:r>
                  <a:rPr lang="en-US" altLang="ko-KR" sz="1000" b="1" dirty="0">
                    <a:solidFill>
                      <a:srgbClr val="FF0000"/>
                    </a:solidFill>
                  </a:rPr>
                  <a:t>("Data stored on pod " + </a:t>
                </a:r>
                <a:r>
                  <a:rPr lang="en-US" altLang="ko-KR" sz="1000" b="1" dirty="0" err="1">
                    <a:solidFill>
                      <a:srgbClr val="FF0000"/>
                    </a:solidFill>
                  </a:rPr>
                  <a:t>os.hostname</a:t>
                </a:r>
                <a:r>
                  <a:rPr lang="en-US" altLang="ko-KR" sz="1000" b="1" dirty="0">
                    <a:solidFill>
                      <a:srgbClr val="FF0000"/>
                    </a:solidFill>
                  </a:rPr>
                  <a:t>() + "\n");</a:t>
                </a:r>
              </a:p>
              <a:p>
                <a:r>
                  <a:rPr lang="en-US" altLang="ko-KR" sz="1000" b="1" dirty="0"/>
                  <a:t>    });</a:t>
                </a:r>
              </a:p>
              <a:p>
                <a:r>
                  <a:rPr lang="en-US" altLang="ko-KR" sz="1000" b="1" dirty="0"/>
                  <a:t>  } else {</a:t>
                </a:r>
              </a:p>
              <a:p>
                <a:r>
                  <a:rPr lang="en-US" altLang="ko-KR" sz="1000" b="1" dirty="0"/>
                  <a:t>    </a:t>
                </a:r>
                <a:r>
                  <a:rPr lang="en-US" altLang="ko-KR" sz="1000" b="1" dirty="0">
                    <a:solidFill>
                      <a:srgbClr val="FF0000"/>
                    </a:solidFill>
                  </a:rPr>
                  <a:t>var data = </a:t>
                </a:r>
                <a:r>
                  <a:rPr lang="en-US" altLang="ko-KR" sz="1000" b="1" dirty="0" err="1">
                    <a:solidFill>
                      <a:srgbClr val="FF0000"/>
                    </a:solidFill>
                  </a:rPr>
                  <a:t>fileExists</a:t>
                </a:r>
                <a:r>
                  <a:rPr lang="en-US" altLang="ko-KR" sz="1000" b="1" dirty="0">
                    <a:solidFill>
                      <a:srgbClr val="FF0000"/>
                    </a:solidFill>
                  </a:rPr>
                  <a:t>(</a:t>
                </a:r>
                <a:r>
                  <a:rPr lang="en-US" altLang="ko-KR" sz="1000" b="1" dirty="0" err="1">
                    <a:solidFill>
                      <a:srgbClr val="FF0000"/>
                    </a:solidFill>
                  </a:rPr>
                  <a:t>dataFile</a:t>
                </a:r>
                <a:r>
                  <a:rPr lang="en-US" altLang="ko-KR" sz="1000" b="1" dirty="0">
                    <a:solidFill>
                      <a:srgbClr val="FF0000"/>
                    </a:solidFill>
                  </a:rPr>
                  <a:t>) ? </a:t>
                </a:r>
                <a:r>
                  <a:rPr lang="en-US" altLang="ko-KR" sz="1000" b="1" dirty="0" err="1">
                    <a:solidFill>
                      <a:srgbClr val="FF0000"/>
                    </a:solidFill>
                  </a:rPr>
                  <a:t>fs.readFileSync</a:t>
                </a:r>
                <a:r>
                  <a:rPr lang="en-US" altLang="ko-KR" sz="1000" b="1" dirty="0">
                    <a:solidFill>
                      <a:srgbClr val="FF0000"/>
                    </a:solidFill>
                  </a:rPr>
                  <a:t>(</a:t>
                </a:r>
                <a:r>
                  <a:rPr lang="en-US" altLang="ko-KR" sz="1000" b="1" dirty="0" err="1">
                    <a:solidFill>
                      <a:srgbClr val="FF0000"/>
                    </a:solidFill>
                  </a:rPr>
                  <a:t>dataFile</a:t>
                </a:r>
                <a:r>
                  <a:rPr lang="en-US" altLang="ko-KR" sz="1000" b="1" dirty="0">
                    <a:solidFill>
                      <a:srgbClr val="FF0000"/>
                    </a:solidFill>
                  </a:rPr>
                  <a:t>, 'utf8') : "No data posted yet";</a:t>
                </a:r>
              </a:p>
              <a:p>
                <a:r>
                  <a:rPr lang="en-US" altLang="ko-KR" sz="1000" b="1" dirty="0">
                    <a:solidFill>
                      <a:srgbClr val="FF0000"/>
                    </a:solidFill>
                  </a:rPr>
                  <a:t>    </a:t>
                </a:r>
                <a:r>
                  <a:rPr lang="en-US" altLang="ko-KR" sz="1000" b="1" dirty="0" err="1">
                    <a:solidFill>
                      <a:srgbClr val="FF0000"/>
                    </a:solidFill>
                  </a:rPr>
                  <a:t>response.writeHead</a:t>
                </a:r>
                <a:r>
                  <a:rPr lang="en-US" altLang="ko-KR" sz="1000" b="1" dirty="0">
                    <a:solidFill>
                      <a:srgbClr val="FF0000"/>
                    </a:solidFill>
                  </a:rPr>
                  <a:t>(200);</a:t>
                </a:r>
              </a:p>
              <a:p>
                <a:r>
                  <a:rPr lang="en-US" altLang="ko-KR" sz="1000" b="1" dirty="0">
                    <a:solidFill>
                      <a:srgbClr val="FF0000"/>
                    </a:solidFill>
                  </a:rPr>
                  <a:t>    </a:t>
                </a:r>
                <a:r>
                  <a:rPr lang="en-US" altLang="ko-KR" sz="1000" b="1" dirty="0" err="1">
                    <a:solidFill>
                      <a:srgbClr val="FF0000"/>
                    </a:solidFill>
                  </a:rPr>
                  <a:t>response.write</a:t>
                </a:r>
                <a:r>
                  <a:rPr lang="en-US" altLang="ko-KR" sz="1000" b="1" dirty="0">
                    <a:solidFill>
                      <a:srgbClr val="FF0000"/>
                    </a:solidFill>
                  </a:rPr>
                  <a:t>("You've hit " + </a:t>
                </a:r>
                <a:r>
                  <a:rPr lang="en-US" altLang="ko-KR" sz="1000" b="1" dirty="0" err="1">
                    <a:solidFill>
                      <a:srgbClr val="FF0000"/>
                    </a:solidFill>
                  </a:rPr>
                  <a:t>os.hostname</a:t>
                </a:r>
                <a:r>
                  <a:rPr lang="en-US" altLang="ko-KR" sz="1000" b="1" dirty="0">
                    <a:solidFill>
                      <a:srgbClr val="FF0000"/>
                    </a:solidFill>
                  </a:rPr>
                  <a:t>() + "\n");</a:t>
                </a:r>
              </a:p>
              <a:p>
                <a:r>
                  <a:rPr lang="en-US" altLang="ko-KR" sz="1000" b="1" dirty="0">
                    <a:solidFill>
                      <a:srgbClr val="FF0000"/>
                    </a:solidFill>
                  </a:rPr>
                  <a:t>    </a:t>
                </a:r>
                <a:r>
                  <a:rPr lang="en-US" altLang="ko-KR" sz="1000" b="1" dirty="0" err="1">
                    <a:solidFill>
                      <a:srgbClr val="FF0000"/>
                    </a:solidFill>
                  </a:rPr>
                  <a:t>response.end</a:t>
                </a:r>
                <a:r>
                  <a:rPr lang="en-US" altLang="ko-KR" sz="1000" b="1" dirty="0">
                    <a:solidFill>
                      <a:srgbClr val="FF0000"/>
                    </a:solidFill>
                  </a:rPr>
                  <a:t>("Data stored on this pod: " + data + "\n");</a:t>
                </a:r>
              </a:p>
              <a:p>
                <a:r>
                  <a:rPr lang="en-US" altLang="ko-KR" sz="1000" b="1" dirty="0">
                    <a:solidFill>
                      <a:srgbClr val="FF0000"/>
                    </a:solidFill>
                  </a:rPr>
                  <a:t>  }</a:t>
                </a:r>
              </a:p>
              <a:p>
                <a:r>
                  <a:rPr lang="en-US" altLang="ko-KR" sz="1000" b="1" dirty="0"/>
                  <a:t>};</a:t>
                </a:r>
              </a:p>
              <a:p>
                <a:endParaRPr lang="en-US" altLang="ko-KR" sz="1000" b="1" dirty="0"/>
              </a:p>
              <a:p>
                <a:r>
                  <a:rPr lang="en-US" altLang="ko-KR" sz="1000" b="1" dirty="0"/>
                  <a:t>var www = </a:t>
                </a:r>
                <a:r>
                  <a:rPr lang="en-US" altLang="ko-KR" sz="1000" b="1" dirty="0" err="1"/>
                  <a:t>http.createServer</a:t>
                </a:r>
                <a:r>
                  <a:rPr lang="en-US" altLang="ko-KR" sz="1000" b="1" dirty="0"/>
                  <a:t>(handler);</a:t>
                </a:r>
              </a:p>
              <a:p>
                <a:r>
                  <a:rPr lang="en-US" altLang="ko-KR" sz="1000" b="1" dirty="0"/>
                  <a:t>www.listen(8080);</a:t>
                </a:r>
              </a:p>
              <a:p>
                <a:endParaRPr lang="en-US" altLang="ko-KR" sz="1000" b="1" dirty="0"/>
              </a:p>
              <a:p>
                <a:endParaRPr lang="en-US" altLang="ko-KR" sz="1000" b="1" dirty="0"/>
              </a:p>
            </p:txBody>
          </p:sp>
          <p:sp>
            <p:nvSpPr>
              <p:cNvPr id="10" name="TextBox 9">
                <a:extLst>
                  <a:ext uri="{FF2B5EF4-FFF2-40B4-BE49-F238E27FC236}">
                    <a16:creationId xmlns:a16="http://schemas.microsoft.com/office/drawing/2014/main" id="{5F25B856-155B-2831-48A4-5D93A0C11F3B}"/>
                  </a:ext>
                </a:extLst>
              </p:cNvPr>
              <p:cNvSpPr txBox="1"/>
              <p:nvPr/>
            </p:nvSpPr>
            <p:spPr>
              <a:xfrm>
                <a:off x="1397898" y="2726247"/>
                <a:ext cx="3762797" cy="2862322"/>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http = require('http');</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os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require('</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os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fs = require('fs');</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dataFile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/var/data/kubia.txt</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function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fileExists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(file)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try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fs.statSync</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(file);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return true;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catch (e)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return false;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var handler = function(request, response)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if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request.method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'POST</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var file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fs.createWriteStream</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dataFile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lang="ko-KR" altLang="en-US" dirty="0"/>
              </a:p>
            </p:txBody>
          </p:sp>
        </p:grpSp>
        <p:sp>
          <p:nvSpPr>
            <p:cNvPr id="12" name="TextBox 11">
              <a:extLst>
                <a:ext uri="{FF2B5EF4-FFF2-40B4-BE49-F238E27FC236}">
                  <a16:creationId xmlns:a16="http://schemas.microsoft.com/office/drawing/2014/main" id="{4D809C34-6900-0D80-847C-A93E787AF263}"/>
                </a:ext>
              </a:extLst>
            </p:cNvPr>
            <p:cNvSpPr txBox="1"/>
            <p:nvPr/>
          </p:nvSpPr>
          <p:spPr>
            <a:xfrm>
              <a:off x="9211421" y="5334256"/>
              <a:ext cx="1611339" cy="246221"/>
            </a:xfrm>
            <a:prstGeom prst="rect">
              <a:avLst/>
            </a:prstGeom>
            <a:noFill/>
          </p:spPr>
          <p:txBody>
            <a:bodyPr wrap="none" rtlCol="0">
              <a:spAutoFit/>
            </a:bodyPr>
            <a:lstStyle/>
            <a:p>
              <a:pPr algn="l"/>
              <a:r>
                <a:rPr lang="en-US" altLang="ko-KR" sz="1000" b="1" dirty="0" err="1"/>
                <a:t>kubia</a:t>
              </a:r>
              <a:r>
                <a:rPr lang="en-US" altLang="ko-KR" sz="1000" b="1" dirty="0"/>
                <a:t>-pet-image/app.js</a:t>
              </a:r>
              <a:endParaRPr lang="ko-KR" altLang="en-US" sz="1000" b="1" dirty="0"/>
            </a:p>
          </p:txBody>
        </p:sp>
      </p:grpSp>
    </p:spTree>
    <p:extLst>
      <p:ext uri="{BB962C8B-B14F-4D97-AF65-F5344CB8AC3E}">
        <p14:creationId xmlns:p14="http://schemas.microsoft.com/office/powerpoint/2010/main" val="332706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(2/21)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the App and Container Image :</a:t>
            </a:r>
          </a:p>
          <a:p>
            <a:pPr lvl="1">
              <a:buFont typeface="Wingdings" panose="05000000000000000000" pitchFamily="2" charset="2"/>
              <a:buChar char="§"/>
            </a:pPr>
            <a:r>
              <a:rPr lang="en-US" altLang="ko-KR" sz="1400" dirty="0"/>
              <a:t>To create and push a Docker image into Docker Hub repository, you need to run the following commands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7201627-E4FB-0DEF-A95F-482DFAA93B76}"/>
              </a:ext>
            </a:extLst>
          </p:cNvPr>
          <p:cNvGrpSpPr/>
          <p:nvPr/>
        </p:nvGrpSpPr>
        <p:grpSpPr>
          <a:xfrm>
            <a:off x="1102877" y="1514662"/>
            <a:ext cx="9986246" cy="4894368"/>
            <a:chOff x="1102877" y="1514662"/>
            <a:chExt cx="9986246" cy="4894368"/>
          </a:xfrm>
        </p:grpSpPr>
        <p:sp>
          <p:nvSpPr>
            <p:cNvPr id="8" name="TextBox 7">
              <a:extLst>
                <a:ext uri="{FF2B5EF4-FFF2-40B4-BE49-F238E27FC236}">
                  <a16:creationId xmlns:a16="http://schemas.microsoft.com/office/drawing/2014/main" id="{033A35CB-9D23-DB4E-0C6F-A8D56B3B3AA4}"/>
                </a:ext>
              </a:extLst>
            </p:cNvPr>
            <p:cNvSpPr txBox="1"/>
            <p:nvPr/>
          </p:nvSpPr>
          <p:spPr>
            <a:xfrm>
              <a:off x="3047326" y="1514662"/>
              <a:ext cx="6097348" cy="400110"/>
            </a:xfrm>
            <a:prstGeom prst="rect">
              <a:avLst/>
            </a:prstGeom>
            <a:noFill/>
            <a:ln>
              <a:solidFill>
                <a:schemeClr val="bg1">
                  <a:lumMod val="50000"/>
                </a:schemeClr>
              </a:solidFill>
            </a:ln>
          </p:spPr>
          <p:txBody>
            <a:bodyPr wrap="square">
              <a:spAutoFit/>
            </a:bodyPr>
            <a:lstStyle/>
            <a:p>
              <a:r>
                <a:rPr lang="en-US" altLang="ko-KR" sz="1000" b="1" dirty="0"/>
                <a:t>$ docker build -t </a:t>
              </a:r>
              <a:r>
                <a:rPr lang="en-US" altLang="ko-KR" sz="1000" b="1" dirty="0">
                  <a:solidFill>
                    <a:srgbClr val="FF0000"/>
                  </a:solidFill>
                </a:rPr>
                <a:t>knix008/</a:t>
              </a:r>
              <a:r>
                <a:rPr lang="en-US" altLang="ko-KR" sz="1000" b="1" dirty="0" err="1">
                  <a:solidFill>
                    <a:srgbClr val="FF0000"/>
                  </a:solidFill>
                </a:rPr>
                <a:t>kubia</a:t>
              </a:r>
              <a:r>
                <a:rPr lang="en-US" altLang="ko-KR" sz="1000" b="1" dirty="0">
                  <a:solidFill>
                    <a:srgbClr val="FF0000"/>
                  </a:solidFill>
                </a:rPr>
                <a:t>-pet</a:t>
              </a:r>
              <a:r>
                <a:rPr lang="en-US" altLang="ko-KR" sz="1000" b="1" dirty="0"/>
                <a:t> .</a:t>
              </a:r>
            </a:p>
            <a:p>
              <a:r>
                <a:rPr lang="en-US" altLang="ko-KR" sz="1000" b="1" dirty="0"/>
                <a:t>$ docker push knix008/</a:t>
              </a:r>
              <a:r>
                <a:rPr lang="en-US" altLang="ko-KR" sz="1000" b="1" dirty="0" err="1"/>
                <a:t>kubia</a:t>
              </a:r>
              <a:r>
                <a:rPr lang="en-US" altLang="ko-KR" sz="1000" b="1" dirty="0"/>
                <a:t>-pet</a:t>
              </a:r>
              <a:endParaRPr lang="ko-KR" altLang="en-US" sz="1000" b="1" dirty="0"/>
            </a:p>
          </p:txBody>
        </p:sp>
        <p:sp>
          <p:nvSpPr>
            <p:cNvPr id="9" name="화살표: 아래쪽 8">
              <a:extLst>
                <a:ext uri="{FF2B5EF4-FFF2-40B4-BE49-F238E27FC236}">
                  <a16:creationId xmlns:a16="http://schemas.microsoft.com/office/drawing/2014/main" id="{35D93071-16CA-5CE7-EDFE-BC711EA25C65}"/>
                </a:ext>
              </a:extLst>
            </p:cNvPr>
            <p:cNvSpPr/>
            <p:nvPr/>
          </p:nvSpPr>
          <p:spPr>
            <a:xfrm>
              <a:off x="5869423" y="1914772"/>
              <a:ext cx="453154"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676F5AC1-5F4E-4E15-98B4-F4BFBC330FDC}"/>
                </a:ext>
              </a:extLst>
            </p:cNvPr>
            <p:cNvPicPr>
              <a:picLocks noChangeAspect="1"/>
            </p:cNvPicPr>
            <p:nvPr/>
          </p:nvPicPr>
          <p:blipFill>
            <a:blip r:embed="rId2"/>
            <a:stretch>
              <a:fillRect/>
            </a:stretch>
          </p:blipFill>
          <p:spPr>
            <a:xfrm>
              <a:off x="1102877" y="2231451"/>
              <a:ext cx="9986246" cy="4177579"/>
            </a:xfrm>
            <a:prstGeom prst="rect">
              <a:avLst/>
            </a:prstGeom>
          </p:spPr>
        </p:pic>
      </p:grpSp>
    </p:spTree>
    <p:extLst>
      <p:ext uri="{BB962C8B-B14F-4D97-AF65-F5344CB8AC3E}">
        <p14:creationId xmlns:p14="http://schemas.microsoft.com/office/powerpoint/2010/main" val="1841626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(3/21)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To deploy your app</a:t>
            </a:r>
            <a:r>
              <a:rPr lang="en-US" altLang="ko-KR" sz="1400" dirty="0"/>
              <a:t>, you’ll need to </a:t>
            </a:r>
            <a:r>
              <a:rPr lang="en-US" altLang="ko-KR" sz="1400" b="1" dirty="0"/>
              <a:t>create two (or three) different types of objects </a:t>
            </a:r>
            <a:r>
              <a:rPr lang="en-US" altLang="ko-KR" sz="1400" dirty="0"/>
              <a:t>: </a:t>
            </a:r>
          </a:p>
          <a:p>
            <a:pPr lvl="2">
              <a:buFont typeface="Wingdings" panose="05000000000000000000" pitchFamily="2" charset="2"/>
              <a:buChar char="§"/>
            </a:pPr>
            <a:r>
              <a:rPr lang="en-US" altLang="ko-KR" sz="1400" b="1" dirty="0" err="1">
                <a:solidFill>
                  <a:srgbClr val="FF0000"/>
                </a:solidFill>
              </a:rPr>
              <a:t>PersistentVolumes</a:t>
            </a:r>
            <a:r>
              <a:rPr lang="en-US" altLang="ko-KR" sz="1400" dirty="0"/>
              <a:t> for storing your data files (you’ll need to create these only if the cluster doesn’t support dynamic provisioning of </a:t>
            </a:r>
            <a:r>
              <a:rPr lang="en-US" altLang="ko-KR" sz="1400" b="1" dirty="0" err="1"/>
              <a:t>PersistentVolumes</a:t>
            </a:r>
            <a:r>
              <a:rPr lang="en-US" altLang="ko-KR" sz="1400" dirty="0"/>
              <a:t>).</a:t>
            </a:r>
          </a:p>
          <a:p>
            <a:pPr lvl="2">
              <a:buFont typeface="Wingdings" panose="05000000000000000000" pitchFamily="2" charset="2"/>
              <a:buChar char="§"/>
            </a:pPr>
            <a:r>
              <a:rPr lang="en-US" altLang="ko-KR" sz="1400" b="1" dirty="0"/>
              <a:t>A governing </a:t>
            </a:r>
            <a:r>
              <a:rPr lang="en-US" altLang="ko-KR" sz="1400" b="1" dirty="0">
                <a:solidFill>
                  <a:srgbClr val="FF0000"/>
                </a:solidFill>
              </a:rPr>
              <a:t>Service</a:t>
            </a:r>
            <a:r>
              <a:rPr lang="en-US" altLang="ko-KR" sz="1400" b="1" dirty="0"/>
              <a:t> required by the </a:t>
            </a:r>
            <a:r>
              <a:rPr lang="en-US" altLang="ko-KR" sz="1400" b="1" dirty="0" err="1"/>
              <a:t>StatefulSet</a:t>
            </a:r>
            <a:r>
              <a:rPr lang="en-US" altLang="ko-KR" sz="1400" dirty="0"/>
              <a:t>. </a:t>
            </a:r>
          </a:p>
          <a:p>
            <a:pPr lvl="2">
              <a:buFont typeface="Wingdings" panose="05000000000000000000" pitchFamily="2" charset="2"/>
              <a:buChar char="§"/>
            </a:pPr>
            <a:r>
              <a:rPr lang="en-US" altLang="ko-KR" sz="1400" b="1" dirty="0"/>
              <a:t>The </a:t>
            </a:r>
            <a:r>
              <a:rPr lang="en-US" altLang="ko-KR" sz="1400" b="1" dirty="0" err="1">
                <a:solidFill>
                  <a:srgbClr val="FF0000"/>
                </a:solidFill>
              </a:rPr>
              <a:t>StatefulSet</a:t>
            </a:r>
            <a:r>
              <a:rPr lang="en-US" altLang="ko-KR" sz="1400" b="1" dirty="0"/>
              <a:t> itself</a:t>
            </a:r>
            <a:r>
              <a:rPr lang="en-US" altLang="ko-KR" sz="1400" dirty="0"/>
              <a:t>.</a:t>
            </a:r>
          </a:p>
          <a:p>
            <a:pPr lvl="1">
              <a:buFont typeface="Wingdings" panose="05000000000000000000" pitchFamily="2" charset="2"/>
              <a:buChar char="§"/>
            </a:pPr>
            <a:r>
              <a:rPr lang="en-US" altLang="ko-KR" sz="1400" dirty="0"/>
              <a:t>For each pod instance, </a:t>
            </a:r>
            <a:r>
              <a:rPr lang="en-US" altLang="ko-KR" sz="1400" b="1" dirty="0"/>
              <a:t>the </a:t>
            </a:r>
            <a:r>
              <a:rPr lang="en-US" altLang="ko-KR" sz="1400" b="1" dirty="0" err="1"/>
              <a:t>StatefulSet</a:t>
            </a:r>
            <a:r>
              <a:rPr lang="en-US" altLang="ko-KR" sz="1400" b="1" dirty="0"/>
              <a:t> will create a </a:t>
            </a:r>
            <a:r>
              <a:rPr lang="en-US" altLang="ko-KR" sz="1400" b="1" dirty="0" err="1"/>
              <a:t>PersistentVolumeClaim</a:t>
            </a:r>
            <a:r>
              <a:rPr lang="en-US" altLang="ko-KR" sz="1400" b="1" dirty="0"/>
              <a:t> that will bind to a </a:t>
            </a:r>
            <a:r>
              <a:rPr lang="en-US" altLang="ko-KR" sz="1400" b="1" dirty="0" err="1"/>
              <a:t>PersistentVolume</a:t>
            </a:r>
            <a:r>
              <a:rPr lang="en-US" altLang="ko-KR" sz="1400" dirty="0"/>
              <a:t>. If your cluster supports dynamic provisioning, you don’t need to create any </a:t>
            </a:r>
            <a:r>
              <a:rPr lang="en-US" altLang="ko-KR" sz="1400" b="1" dirty="0" err="1"/>
              <a:t>PersistentVolumes</a:t>
            </a:r>
            <a:r>
              <a:rPr lang="en-US" altLang="ko-KR" sz="1400" dirty="0"/>
              <a:t> manually. If it doesn’t, you’ll need to create them.</a:t>
            </a:r>
          </a:p>
          <a:p>
            <a:pPr lvl="1">
              <a:buFont typeface="Wingdings" panose="05000000000000000000" pitchFamily="2" charset="2"/>
              <a:buChar char="§"/>
            </a:pPr>
            <a:r>
              <a:rPr lang="en-US" altLang="ko-KR" sz="1400" b="1" dirty="0"/>
              <a:t>You’ll need three </a:t>
            </a:r>
            <a:r>
              <a:rPr lang="en-US" altLang="ko-KR" sz="1400" b="1" dirty="0" err="1"/>
              <a:t>PersistentVolumes</a:t>
            </a:r>
            <a:r>
              <a:rPr lang="en-US" altLang="ko-KR" sz="1400" b="1" dirty="0"/>
              <a:t>, because you’ll be scaling the </a:t>
            </a:r>
            <a:r>
              <a:rPr lang="en-US" altLang="ko-KR" sz="1400" b="1" dirty="0" err="1"/>
              <a:t>StatefulSet</a:t>
            </a:r>
            <a:r>
              <a:rPr lang="en-US" altLang="ko-KR" sz="1400" b="1" dirty="0"/>
              <a:t> up to three replicas</a:t>
            </a:r>
            <a:r>
              <a:rPr lang="en-US" altLang="ko-KR" sz="1400" dirty="0"/>
              <a:t>. You must create more if you plan on scaling the </a:t>
            </a:r>
            <a:r>
              <a:rPr lang="en-US" altLang="ko-KR" sz="1400" dirty="0" err="1"/>
              <a:t>StatefulSet</a:t>
            </a:r>
            <a:r>
              <a:rPr lang="en-US" altLang="ko-KR" sz="1400" dirty="0"/>
              <a:t> up more than that.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8B26D39-426C-2161-8695-B50BD83ECF32}"/>
              </a:ext>
            </a:extLst>
          </p:cNvPr>
          <p:cNvPicPr>
            <a:picLocks noChangeAspect="1"/>
          </p:cNvPicPr>
          <p:nvPr/>
        </p:nvPicPr>
        <p:blipFill>
          <a:blip r:embed="rId2"/>
          <a:stretch>
            <a:fillRect/>
          </a:stretch>
        </p:blipFill>
        <p:spPr>
          <a:xfrm>
            <a:off x="4692753" y="3429000"/>
            <a:ext cx="2806494" cy="2980030"/>
          </a:xfrm>
          <a:prstGeom prst="rect">
            <a:avLst/>
          </a:prstGeom>
        </p:spPr>
      </p:pic>
    </p:spTree>
    <p:extLst>
      <p:ext uri="{BB962C8B-B14F-4D97-AF65-F5344CB8AC3E}">
        <p14:creationId xmlns:p14="http://schemas.microsoft.com/office/powerpoint/2010/main" val="1814895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(4/21)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dirty="0"/>
              <a:t>If you’re using </a:t>
            </a:r>
            <a:r>
              <a:rPr lang="en-US" altLang="ko-KR" sz="1400" b="1" dirty="0" err="1"/>
              <a:t>Minikube</a:t>
            </a:r>
            <a:r>
              <a:rPr lang="en-US" altLang="ko-KR" sz="1400" dirty="0"/>
              <a:t>, </a:t>
            </a:r>
            <a:r>
              <a:rPr lang="en-US" altLang="ko-KR" sz="1400" b="1" dirty="0"/>
              <a:t>deploy the </a:t>
            </a:r>
            <a:r>
              <a:rPr lang="en-US" altLang="ko-KR" sz="1400" b="1" dirty="0" err="1"/>
              <a:t>PersistentVolumes</a:t>
            </a:r>
            <a:r>
              <a:rPr lang="en-US" altLang="ko-KR" sz="1400" b="1" dirty="0"/>
              <a:t> defined in “persistent-volumes-</a:t>
            </a:r>
            <a:r>
              <a:rPr lang="en-US" altLang="ko-KR" sz="1400" b="1" dirty="0" err="1"/>
              <a:t>hostpath.yaml</a:t>
            </a:r>
            <a:r>
              <a:rPr lang="en-US" altLang="ko-KR" sz="1400" b="1" dirty="0"/>
              <a:t>” file</a:t>
            </a:r>
            <a:r>
              <a:rPr lang="en-US" altLang="ko-KR" sz="1400" dirty="0"/>
              <a:t>.</a:t>
            </a:r>
          </a:p>
          <a:p>
            <a:pPr lvl="1">
              <a:buFont typeface="Wingdings" panose="05000000000000000000" pitchFamily="2" charset="2"/>
              <a:buChar char="§"/>
            </a:pPr>
            <a:r>
              <a:rPr lang="en-US" altLang="ko-KR" sz="1400" dirty="0"/>
              <a:t>If you’re using </a:t>
            </a:r>
            <a:r>
              <a:rPr lang="en-US" altLang="ko-KR" sz="1400" b="1" dirty="0"/>
              <a:t>Google Kubernetes Engine(GKE)</a:t>
            </a:r>
            <a:r>
              <a:rPr lang="en-US" altLang="ko-KR" sz="1400" dirty="0"/>
              <a:t>, you’ll first need to create the actual </a:t>
            </a:r>
            <a:r>
              <a:rPr lang="en-US" altLang="ko-KR" sz="1400" b="1" dirty="0"/>
              <a:t>GCE Persistent Disks </a:t>
            </a:r>
            <a:r>
              <a:rPr lang="en-US" altLang="ko-KR" sz="1400" dirty="0"/>
              <a:t>using the following commands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Make sure to create the disks in the same zone that your nodes are running in</a:t>
            </a:r>
            <a:r>
              <a:rPr lang="en-US" altLang="ko-KR" sz="1400" dirty="0"/>
              <a:t>.</a:t>
            </a:r>
          </a:p>
          <a:p>
            <a:pPr lvl="1">
              <a:buFont typeface="Wingdings" panose="05000000000000000000" pitchFamily="2" charset="2"/>
              <a:buChar char="§"/>
            </a:pPr>
            <a:r>
              <a:rPr lang="en-US" altLang="ko-KR" sz="1400" dirty="0"/>
              <a:t>For </a:t>
            </a:r>
            <a:r>
              <a:rPr lang="en-US" altLang="ko-KR" sz="1400" b="1" dirty="0" err="1"/>
              <a:t>Minikube</a:t>
            </a:r>
            <a:r>
              <a:rPr lang="en-US" altLang="ko-KR" sz="1400" dirty="0"/>
              <a:t>, use the following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7F4D6AF-EAF4-9706-63C7-418E4BF6A60C}"/>
              </a:ext>
            </a:extLst>
          </p:cNvPr>
          <p:cNvSpPr txBox="1"/>
          <p:nvPr/>
        </p:nvSpPr>
        <p:spPr>
          <a:xfrm>
            <a:off x="3047326" y="1892332"/>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gcloud</a:t>
            </a:r>
            <a:r>
              <a:rPr lang="en-US" altLang="ko-KR" sz="1000" b="1" dirty="0"/>
              <a:t> compute disks create --size=1GiB --zone=europe-west1-b </a:t>
            </a:r>
            <a:r>
              <a:rPr lang="en-US" altLang="ko-KR" sz="1000" b="1" dirty="0" err="1"/>
              <a:t>pv</a:t>
            </a:r>
            <a:r>
              <a:rPr lang="en-US" altLang="ko-KR" sz="1000" b="1" dirty="0"/>
              <a:t>-a</a:t>
            </a:r>
          </a:p>
          <a:p>
            <a:r>
              <a:rPr lang="en-US" altLang="ko-KR" sz="1000" b="1" dirty="0"/>
              <a:t>$ </a:t>
            </a:r>
            <a:r>
              <a:rPr lang="en-US" altLang="ko-KR" sz="1000" b="1" dirty="0" err="1"/>
              <a:t>gcloud</a:t>
            </a:r>
            <a:r>
              <a:rPr lang="en-US" altLang="ko-KR" sz="1000" b="1" dirty="0"/>
              <a:t> compute disks create --size=1GiB --zone=europe-west1-b </a:t>
            </a:r>
            <a:r>
              <a:rPr lang="en-US" altLang="ko-KR" sz="1000" b="1" dirty="0" err="1"/>
              <a:t>pv</a:t>
            </a:r>
            <a:r>
              <a:rPr lang="en-US" altLang="ko-KR" sz="1000" b="1" dirty="0"/>
              <a:t>-b</a:t>
            </a:r>
          </a:p>
          <a:p>
            <a:r>
              <a:rPr lang="en-US" altLang="ko-KR" sz="1000" b="1" dirty="0"/>
              <a:t>$ </a:t>
            </a:r>
            <a:r>
              <a:rPr lang="en-US" altLang="ko-KR" sz="1000" b="1" dirty="0" err="1"/>
              <a:t>gcloud</a:t>
            </a:r>
            <a:r>
              <a:rPr lang="en-US" altLang="ko-KR" sz="1000" b="1" dirty="0"/>
              <a:t> compute disks create --size=1GiB --zone=europe-west1-b </a:t>
            </a:r>
            <a:r>
              <a:rPr lang="en-US" altLang="ko-KR" sz="1000" b="1" dirty="0" err="1"/>
              <a:t>pv</a:t>
            </a:r>
            <a:r>
              <a:rPr lang="en-US" altLang="ko-KR" sz="1000" b="1" dirty="0"/>
              <a:t>-c</a:t>
            </a:r>
            <a:endParaRPr lang="ko-KR" altLang="en-US" sz="1000" b="1" dirty="0"/>
          </a:p>
        </p:txBody>
      </p:sp>
      <p:grpSp>
        <p:nvGrpSpPr>
          <p:cNvPr id="16" name="그룹 15">
            <a:extLst>
              <a:ext uri="{FF2B5EF4-FFF2-40B4-BE49-F238E27FC236}">
                <a16:creationId xmlns:a16="http://schemas.microsoft.com/office/drawing/2014/main" id="{7EFCAA62-8A29-98C7-0E31-2CF90947DC61}"/>
              </a:ext>
            </a:extLst>
          </p:cNvPr>
          <p:cNvGrpSpPr/>
          <p:nvPr/>
        </p:nvGrpSpPr>
        <p:grpSpPr>
          <a:xfrm>
            <a:off x="1117038" y="3301636"/>
            <a:ext cx="9957924" cy="2578842"/>
            <a:chOff x="1117038" y="2707645"/>
            <a:chExt cx="9957924" cy="2578842"/>
          </a:xfrm>
        </p:grpSpPr>
        <p:grpSp>
          <p:nvGrpSpPr>
            <p:cNvPr id="14" name="그룹 13">
              <a:extLst>
                <a:ext uri="{FF2B5EF4-FFF2-40B4-BE49-F238E27FC236}">
                  <a16:creationId xmlns:a16="http://schemas.microsoft.com/office/drawing/2014/main" id="{173483A0-E636-B133-219A-47CF812367EA}"/>
                </a:ext>
              </a:extLst>
            </p:cNvPr>
            <p:cNvGrpSpPr/>
            <p:nvPr/>
          </p:nvGrpSpPr>
          <p:grpSpPr>
            <a:xfrm>
              <a:off x="1117038" y="2707645"/>
              <a:ext cx="9957924" cy="2578842"/>
              <a:chOff x="1117038" y="2707645"/>
              <a:chExt cx="9957924" cy="2578842"/>
            </a:xfrm>
          </p:grpSpPr>
          <p:pic>
            <p:nvPicPr>
              <p:cNvPr id="10" name="그림 9">
                <a:extLst>
                  <a:ext uri="{FF2B5EF4-FFF2-40B4-BE49-F238E27FC236}">
                    <a16:creationId xmlns:a16="http://schemas.microsoft.com/office/drawing/2014/main" id="{DF1ADA9D-BF9F-A0D8-6FA7-073207EE1AE8}"/>
                  </a:ext>
                </a:extLst>
              </p:cNvPr>
              <p:cNvPicPr>
                <a:picLocks noChangeAspect="1"/>
              </p:cNvPicPr>
              <p:nvPr/>
            </p:nvPicPr>
            <p:blipFill>
              <a:blip r:embed="rId2"/>
              <a:stretch>
                <a:fillRect/>
              </a:stretch>
            </p:blipFill>
            <p:spPr>
              <a:xfrm>
                <a:off x="1117038" y="3236814"/>
                <a:ext cx="9957924" cy="2049673"/>
              </a:xfrm>
              <a:prstGeom prst="rect">
                <a:avLst/>
              </a:prstGeom>
            </p:spPr>
          </p:pic>
          <p:sp>
            <p:nvSpPr>
              <p:cNvPr id="12" name="TextBox 11">
                <a:extLst>
                  <a:ext uri="{FF2B5EF4-FFF2-40B4-BE49-F238E27FC236}">
                    <a16:creationId xmlns:a16="http://schemas.microsoft.com/office/drawing/2014/main" id="{847D9211-1824-DF2B-7A94-6305261024B7}"/>
                  </a:ext>
                </a:extLst>
              </p:cNvPr>
              <p:cNvSpPr txBox="1"/>
              <p:nvPr/>
            </p:nvSpPr>
            <p:spPr>
              <a:xfrm>
                <a:off x="3047326" y="270764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persistent-volumes-</a:t>
                </a:r>
                <a:r>
                  <a:rPr lang="en-US" altLang="ko-KR" sz="1000" b="1" dirty="0" err="1">
                    <a:solidFill>
                      <a:srgbClr val="FF0000"/>
                    </a:solidFill>
                  </a:rPr>
                  <a:t>hostpath.yaml</a:t>
                </a:r>
                <a:r>
                  <a:rPr lang="en-US" altLang="ko-KR" sz="1000" b="1" dirty="0">
                    <a:solidFill>
                      <a:srgbClr val="FF0000"/>
                    </a:solidFill>
                  </a:rPr>
                  <a:t> </a:t>
                </a:r>
                <a:endParaRPr lang="ko-KR" altLang="en-US" sz="1000" b="1" dirty="0">
                  <a:solidFill>
                    <a:srgbClr val="FF0000"/>
                  </a:solidFill>
                </a:endParaRPr>
              </a:p>
            </p:txBody>
          </p:sp>
          <p:sp>
            <p:nvSpPr>
              <p:cNvPr id="13" name="화살표: 아래쪽 12">
                <a:extLst>
                  <a:ext uri="{FF2B5EF4-FFF2-40B4-BE49-F238E27FC236}">
                    <a16:creationId xmlns:a16="http://schemas.microsoft.com/office/drawing/2014/main" id="{AA0C26C2-8F25-4021-A79D-ED963B5A3973}"/>
                  </a:ext>
                </a:extLst>
              </p:cNvPr>
              <p:cNvSpPr/>
              <p:nvPr/>
            </p:nvSpPr>
            <p:spPr>
              <a:xfrm>
                <a:off x="5873469" y="2971723"/>
                <a:ext cx="445062" cy="26509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348FD375-3DBC-4926-9339-288C0D6CD866}"/>
                </a:ext>
              </a:extLst>
            </p:cNvPr>
            <p:cNvSpPr/>
            <p:nvPr/>
          </p:nvSpPr>
          <p:spPr>
            <a:xfrm>
              <a:off x="1189529" y="3835625"/>
              <a:ext cx="2071561" cy="4693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338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(5/21)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The “persistent-volumes-</a:t>
            </a:r>
            <a:r>
              <a:rPr lang="en-US" altLang="ko-KR" sz="1400" b="1" dirty="0" err="1"/>
              <a:t>hostpath.yaml</a:t>
            </a:r>
            <a:r>
              <a:rPr lang="en-US" altLang="ko-KR" sz="1400" b="1" dirty="0"/>
              <a:t>” file</a:t>
            </a:r>
            <a:r>
              <a:rPr lang="en-US" altLang="ko-KR" sz="1400" dirty="0"/>
              <a:t>, which is shown in the following listing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a:t>
            </a:r>
            <a:r>
              <a:rPr lang="en-US" altLang="ko-KR" sz="1400" dirty="0"/>
              <a:t> : </a:t>
            </a:r>
            <a:r>
              <a:rPr lang="en-US" altLang="ko-KR" sz="1400" b="1" dirty="0"/>
              <a:t>Here we defined a </a:t>
            </a:r>
            <a:r>
              <a:rPr lang="en-US" altLang="ko-KR" sz="1400" b="1" dirty="0">
                <a:solidFill>
                  <a:srgbClr val="FF0000"/>
                </a:solidFill>
              </a:rPr>
              <a:t>List</a:t>
            </a:r>
            <a:r>
              <a:rPr lang="en-US" altLang="ko-KR" sz="1400" b="1" dirty="0"/>
              <a:t> object and </a:t>
            </a:r>
            <a:r>
              <a:rPr lang="en-US" altLang="ko-KR" sz="1400" b="1" dirty="0">
                <a:solidFill>
                  <a:srgbClr val="FF0000"/>
                </a:solidFill>
              </a:rPr>
              <a:t>listing the resources as items of the object,</a:t>
            </a:r>
            <a:r>
              <a:rPr lang="en-US" altLang="ko-KR" sz="1400" b="1" dirty="0"/>
              <a:t> which is same as multiple resources definition in one YAML file with “---” separator.</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3" name="그룹 22">
            <a:extLst>
              <a:ext uri="{FF2B5EF4-FFF2-40B4-BE49-F238E27FC236}">
                <a16:creationId xmlns:a16="http://schemas.microsoft.com/office/drawing/2014/main" id="{D34829E2-95D8-819F-A303-4C2572F65621}"/>
              </a:ext>
            </a:extLst>
          </p:cNvPr>
          <p:cNvGrpSpPr/>
          <p:nvPr/>
        </p:nvGrpSpPr>
        <p:grpSpPr>
          <a:xfrm>
            <a:off x="1387109" y="1468059"/>
            <a:ext cx="9417782" cy="4247317"/>
            <a:chOff x="1745857" y="1639138"/>
            <a:chExt cx="9417782" cy="4247317"/>
          </a:xfrm>
        </p:grpSpPr>
        <p:grpSp>
          <p:nvGrpSpPr>
            <p:cNvPr id="16" name="그룹 15">
              <a:extLst>
                <a:ext uri="{FF2B5EF4-FFF2-40B4-BE49-F238E27FC236}">
                  <a16:creationId xmlns:a16="http://schemas.microsoft.com/office/drawing/2014/main" id="{BB839E3B-3508-03A4-0978-B5C3655636EC}"/>
                </a:ext>
              </a:extLst>
            </p:cNvPr>
            <p:cNvGrpSpPr/>
            <p:nvPr/>
          </p:nvGrpSpPr>
          <p:grpSpPr>
            <a:xfrm>
              <a:off x="1745857" y="1639138"/>
              <a:ext cx="9417782" cy="4247317"/>
              <a:chOff x="1745857" y="1639138"/>
              <a:chExt cx="9417782" cy="4247317"/>
            </a:xfrm>
          </p:grpSpPr>
          <p:sp>
            <p:nvSpPr>
              <p:cNvPr id="13" name="TextBox 12">
                <a:extLst>
                  <a:ext uri="{FF2B5EF4-FFF2-40B4-BE49-F238E27FC236}">
                    <a16:creationId xmlns:a16="http://schemas.microsoft.com/office/drawing/2014/main" id="{53ED155A-6381-9730-0512-78818DBD6B6C}"/>
                  </a:ext>
                </a:extLst>
              </p:cNvPr>
              <p:cNvSpPr txBox="1"/>
              <p:nvPr/>
            </p:nvSpPr>
            <p:spPr>
              <a:xfrm>
                <a:off x="6454748" y="1639138"/>
                <a:ext cx="4708891" cy="4247317"/>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apiVersion</a:t>
                </a:r>
                <a:r>
                  <a:rPr lang="en-US" altLang="ko-KR" sz="1000" b="1" dirty="0"/>
                  <a:t>: v1</a:t>
                </a:r>
              </a:p>
              <a:p>
                <a:r>
                  <a:rPr lang="en-US" altLang="ko-KR" sz="1000" b="1" dirty="0"/>
                  <a:t>  kind: </a:t>
                </a:r>
                <a:r>
                  <a:rPr lang="en-US" altLang="ko-KR" sz="1000" b="1" dirty="0" err="1">
                    <a:solidFill>
                      <a:srgbClr val="FF0000"/>
                    </a:solidFill>
                  </a:rPr>
                  <a:t>PersistentVolume</a:t>
                </a:r>
                <a:endParaRPr lang="en-US" altLang="ko-KR" sz="1000" b="1" dirty="0">
                  <a:solidFill>
                    <a:srgbClr val="FF0000"/>
                  </a:solidFill>
                </a:endParaRPr>
              </a:p>
              <a:p>
                <a:r>
                  <a:rPr lang="en-US" altLang="ko-KR" sz="1000" b="1" dirty="0"/>
                  <a:t>  metadata:</a:t>
                </a:r>
              </a:p>
              <a:p>
                <a:r>
                  <a:rPr lang="en-US" altLang="ko-KR" sz="1000" b="1" dirty="0"/>
                  <a:t>    name: </a:t>
                </a:r>
                <a:r>
                  <a:rPr lang="en-US" altLang="ko-KR" sz="1000" b="1" dirty="0" err="1">
                    <a:solidFill>
                      <a:srgbClr val="FF0000"/>
                    </a:solidFill>
                  </a:rPr>
                  <a:t>pv</a:t>
                </a:r>
                <a:r>
                  <a:rPr lang="en-US" altLang="ko-KR" sz="1000" b="1" dirty="0">
                    <a:solidFill>
                      <a:srgbClr val="FF0000"/>
                    </a:solidFill>
                  </a:rPr>
                  <a:t>-c</a:t>
                </a:r>
              </a:p>
              <a:p>
                <a:r>
                  <a:rPr lang="en-US" altLang="ko-KR" sz="1000" b="1" dirty="0"/>
                  <a:t>  spec:</a:t>
                </a:r>
              </a:p>
              <a:p>
                <a:r>
                  <a:rPr lang="en-US" altLang="ko-KR" sz="1000" b="1" dirty="0"/>
                  <a:t>    capacity:</a:t>
                </a:r>
              </a:p>
              <a:p>
                <a:r>
                  <a:rPr lang="en-US" altLang="ko-KR" sz="1000" b="1" dirty="0"/>
                  <a:t>      storage: 1Mi</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t>ReadWriteOnce</a:t>
                </a:r>
                <a:endParaRPr lang="en-US" altLang="ko-KR" sz="1000" b="1" dirty="0"/>
              </a:p>
              <a:p>
                <a:r>
                  <a:rPr lang="en-US" altLang="ko-KR" sz="1000" b="1" dirty="0"/>
                  <a:t>    </a:t>
                </a:r>
                <a:r>
                  <a:rPr lang="en-US" altLang="ko-KR" sz="1000" b="1" dirty="0" err="1">
                    <a:solidFill>
                      <a:srgbClr val="FF0000"/>
                    </a:solidFill>
                  </a:rPr>
                  <a:t>persistentVolumeReclaimPolicy</a:t>
                </a:r>
                <a:r>
                  <a:rPr lang="en-US" altLang="ko-KR" sz="1000" b="1" dirty="0">
                    <a:solidFill>
                      <a:srgbClr val="FF0000"/>
                    </a:solidFill>
                  </a:rPr>
                  <a:t>: Recycle</a:t>
                </a:r>
              </a:p>
              <a:p>
                <a:r>
                  <a:rPr lang="en-US" altLang="ko-KR" sz="1000" b="1" dirty="0"/>
                  <a:t>    </a:t>
                </a:r>
                <a:r>
                  <a:rPr lang="en-US" altLang="ko-KR" sz="1000" b="1" dirty="0" err="1"/>
                  <a:t>hostPath</a:t>
                </a:r>
                <a:r>
                  <a:rPr lang="en-US" altLang="ko-KR" sz="1000" b="1" dirty="0"/>
                  <a:t>:</a:t>
                </a:r>
              </a:p>
              <a:p>
                <a:r>
                  <a:rPr lang="en-US" altLang="ko-KR" sz="1000" b="1" dirty="0"/>
                  <a:t>      </a:t>
                </a:r>
                <a:r>
                  <a:rPr lang="en-US" altLang="ko-KR" sz="1000" b="1" dirty="0">
                    <a:solidFill>
                      <a:srgbClr val="FF0000"/>
                    </a:solidFill>
                  </a:rPr>
                  <a:t>path: /</a:t>
                </a:r>
                <a:r>
                  <a:rPr lang="en-US" altLang="ko-KR" sz="1000" b="1" dirty="0" err="1">
                    <a:solidFill>
                      <a:srgbClr val="FF0000"/>
                    </a:solidFill>
                  </a:rPr>
                  <a:t>tmp</a:t>
                </a:r>
                <a:r>
                  <a:rPr lang="en-US" altLang="ko-KR" sz="1000" b="1" dirty="0">
                    <a:solidFill>
                      <a:srgbClr val="FF0000"/>
                    </a:solidFill>
                  </a:rPr>
                  <a:t>/</a:t>
                </a:r>
                <a:r>
                  <a:rPr lang="en-US" altLang="ko-KR" sz="1000" b="1" dirty="0" err="1">
                    <a:solidFill>
                      <a:srgbClr val="FF0000"/>
                    </a:solidFill>
                  </a:rPr>
                  <a:t>pv</a:t>
                </a:r>
                <a:r>
                  <a:rPr lang="en-US" altLang="ko-KR" sz="1000" b="1" dirty="0">
                    <a:solidFill>
                      <a:srgbClr val="FF0000"/>
                    </a:solidFill>
                  </a:rPr>
                  <a:t>-c</a:t>
                </a:r>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p:txBody>
          </p:sp>
          <p:sp>
            <p:nvSpPr>
              <p:cNvPr id="15" name="TextBox 14">
                <a:extLst>
                  <a:ext uri="{FF2B5EF4-FFF2-40B4-BE49-F238E27FC236}">
                    <a16:creationId xmlns:a16="http://schemas.microsoft.com/office/drawing/2014/main" id="{2FAF2B5F-CD79-C6EF-B097-36AA49BDAB66}"/>
                  </a:ext>
                </a:extLst>
              </p:cNvPr>
              <p:cNvSpPr txBox="1"/>
              <p:nvPr/>
            </p:nvSpPr>
            <p:spPr>
              <a:xfrm>
                <a:off x="1745857" y="1639138"/>
                <a:ext cx="4708891" cy="4247317"/>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kind: List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items: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kind: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PersistentVolume</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pv</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capacity:</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storage: 1Mi</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accessModes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ReadWriteOnce</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persistentVolumeReclaimPolicy</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Recycle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hostPath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path: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tmp</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pv</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kind: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PersistentVolume</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pv</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-b</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capacity:</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storage: 1Mi</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accessModes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ReadWriteOnce</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persistentVolumeReclaimPolicy</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Recycle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hostPath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path: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tmp</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pv</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-b</a:t>
                </a:r>
                <a:endParaRPr lang="ko-KR" altLang="en-US" dirty="0">
                  <a:solidFill>
                    <a:srgbClr val="FF0000"/>
                  </a:solidFill>
                </a:endParaRPr>
              </a:p>
            </p:txBody>
          </p:sp>
        </p:grpSp>
        <p:sp>
          <p:nvSpPr>
            <p:cNvPr id="22" name="TextBox 21">
              <a:extLst>
                <a:ext uri="{FF2B5EF4-FFF2-40B4-BE49-F238E27FC236}">
                  <a16:creationId xmlns:a16="http://schemas.microsoft.com/office/drawing/2014/main" id="{4CCB13B7-E864-362E-A879-8A153E617D69}"/>
                </a:ext>
              </a:extLst>
            </p:cNvPr>
            <p:cNvSpPr txBox="1"/>
            <p:nvPr/>
          </p:nvSpPr>
          <p:spPr>
            <a:xfrm>
              <a:off x="8863479" y="5640234"/>
              <a:ext cx="2300160" cy="246221"/>
            </a:xfrm>
            <a:prstGeom prst="rect">
              <a:avLst/>
            </a:prstGeom>
            <a:noFill/>
          </p:spPr>
          <p:txBody>
            <a:bodyPr wrap="square">
              <a:spAutoFit/>
            </a:bodyPr>
            <a:lstStyle/>
            <a:p>
              <a:pPr algn="ctr"/>
              <a:r>
                <a:rPr lang="en-US" altLang="ko-KR" sz="1000" b="1" dirty="0"/>
                <a:t>persistent-volumes-</a:t>
              </a:r>
              <a:r>
                <a:rPr lang="en-US" altLang="ko-KR" sz="1000" b="1" dirty="0" err="1"/>
                <a:t>hostpath.yaml</a:t>
              </a:r>
              <a:endParaRPr lang="ko-KR" altLang="en-US" sz="1000" b="1" dirty="0"/>
            </a:p>
          </p:txBody>
        </p:sp>
      </p:grpSp>
    </p:spTree>
    <p:extLst>
      <p:ext uri="{BB962C8B-B14F-4D97-AF65-F5344CB8AC3E}">
        <p14:creationId xmlns:p14="http://schemas.microsoft.com/office/powerpoint/2010/main" val="2891201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(6/21)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The previous manifest YAML file creates </a:t>
            </a:r>
            <a:r>
              <a:rPr lang="en-US" altLang="ko-KR" sz="1400" b="1" dirty="0" err="1"/>
              <a:t>PersistentVolumes</a:t>
            </a:r>
            <a:r>
              <a:rPr lang="en-US" altLang="ko-KR" sz="1400" b="1" dirty="0"/>
              <a:t> called “</a:t>
            </a:r>
            <a:r>
              <a:rPr lang="en-US" altLang="ko-KR" sz="1400" b="1" dirty="0" err="1"/>
              <a:t>pv</a:t>
            </a:r>
            <a:r>
              <a:rPr lang="en-US" altLang="ko-KR" sz="1400" b="1" dirty="0"/>
              <a:t>-a”, “</a:t>
            </a:r>
            <a:r>
              <a:rPr lang="en-US" altLang="ko-KR" sz="1400" b="1" dirty="0" err="1"/>
              <a:t>pv</a:t>
            </a:r>
            <a:r>
              <a:rPr lang="en-US" altLang="ko-KR" sz="1400" b="1" dirty="0"/>
              <a:t>-b”, and “</a:t>
            </a:r>
            <a:r>
              <a:rPr lang="en-US" altLang="ko-KR" sz="1400" b="1" dirty="0" err="1"/>
              <a:t>pv</a:t>
            </a:r>
            <a:r>
              <a:rPr lang="en-US" altLang="ko-KR" sz="1400" b="1" dirty="0"/>
              <a:t>-c”</a:t>
            </a:r>
            <a:r>
              <a:rPr lang="en-US" altLang="ko-KR" sz="1400" dirty="0"/>
              <a:t>. They use </a:t>
            </a:r>
            <a:r>
              <a:rPr lang="en-US" altLang="ko-KR" sz="1400" b="1" dirty="0"/>
              <a:t>“</a:t>
            </a:r>
            <a:r>
              <a:rPr lang="en-US" altLang="ko-KR" sz="1400" b="1" dirty="0" err="1"/>
              <a:t>Hostpath</a:t>
            </a:r>
            <a:r>
              <a:rPr lang="en-US" altLang="ko-KR" sz="1400" b="1" dirty="0"/>
              <a:t>” Persistent Disks as the underlying storage mechanism</a:t>
            </a:r>
            <a:r>
              <a:rPr lang="en-US" altLang="ko-KR" sz="1400" dirty="0"/>
              <a:t>. If you’re running the cluster elsewhere, you must </a:t>
            </a:r>
            <a:r>
              <a:rPr lang="en-US" altLang="ko-KR" sz="1400" b="1" dirty="0"/>
              <a:t>modify the </a:t>
            </a:r>
            <a:r>
              <a:rPr lang="en-US" altLang="ko-KR" sz="1400" b="1" dirty="0" err="1"/>
              <a:t>PersistentVolume</a:t>
            </a:r>
            <a:r>
              <a:rPr lang="en-US" altLang="ko-KR" sz="1400" b="1" dirty="0"/>
              <a:t> definition </a:t>
            </a:r>
            <a:r>
              <a:rPr lang="en-US" altLang="ko-KR" sz="1400" dirty="0"/>
              <a:t>and use an appropriate volume type, such as </a:t>
            </a:r>
            <a:r>
              <a:rPr lang="en-US" altLang="ko-KR" sz="1400" b="1" dirty="0"/>
              <a:t>NFS (Network File System)</a:t>
            </a:r>
            <a:r>
              <a:rPr lang="en-US" altLang="ko-KR" sz="1400" dirty="0"/>
              <a:t>, or similar.</a:t>
            </a:r>
          </a:p>
          <a:p>
            <a:pPr lvl="1">
              <a:buFont typeface="Wingdings" panose="05000000000000000000" pitchFamily="2" charset="2"/>
              <a:buChar char="§"/>
            </a:pPr>
            <a:r>
              <a:rPr lang="en-US" altLang="ko-KR" sz="1400" b="1" dirty="0"/>
              <a:t>Before deploying a </a:t>
            </a:r>
            <a:r>
              <a:rPr lang="en-US" altLang="ko-KR" sz="1400" b="1" dirty="0" err="1"/>
              <a:t>StatefulSet</a:t>
            </a:r>
            <a:r>
              <a:rPr lang="en-US" altLang="ko-KR" sz="1400" b="1" dirty="0"/>
              <a:t>, you first need to create a </a:t>
            </a:r>
            <a:r>
              <a:rPr lang="en-US" altLang="ko-KR" sz="1400" b="1" dirty="0">
                <a:solidFill>
                  <a:srgbClr val="FF0000"/>
                </a:solidFill>
              </a:rPr>
              <a:t>headless Service</a:t>
            </a:r>
            <a:r>
              <a:rPr lang="en-US" altLang="ko-KR" sz="1400" dirty="0"/>
              <a:t>, </a:t>
            </a:r>
            <a:r>
              <a:rPr lang="en-US" altLang="ko-KR" sz="1400" b="1" dirty="0"/>
              <a:t>which will be used to provide the network identity for your stateful pods</a:t>
            </a:r>
            <a:r>
              <a:rPr lang="en-US" altLang="ko-KR" sz="1400" dirty="0"/>
              <a:t>. The following listing shows the </a:t>
            </a:r>
            <a:r>
              <a:rPr lang="en-US" altLang="ko-KR" sz="1400" b="1" dirty="0"/>
              <a:t>Service manifest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You’re setting the “</a:t>
            </a:r>
            <a:r>
              <a:rPr lang="en-US" altLang="ko-KR" sz="1400" b="1" dirty="0" err="1">
                <a:solidFill>
                  <a:srgbClr val="FF0000"/>
                </a:solidFill>
              </a:rPr>
              <a:t>clusterIP</a:t>
            </a:r>
            <a:r>
              <a:rPr lang="en-US" altLang="ko-KR" sz="1400" b="1" dirty="0"/>
              <a:t>” field to “</a:t>
            </a:r>
            <a:r>
              <a:rPr lang="en-US" altLang="ko-KR" sz="1400" b="1" dirty="0">
                <a:solidFill>
                  <a:srgbClr val="FF0000"/>
                </a:solidFill>
              </a:rPr>
              <a:t>None</a:t>
            </a:r>
            <a:r>
              <a:rPr lang="en-US" altLang="ko-KR" sz="1400" b="1" dirty="0"/>
              <a:t>”</a:t>
            </a:r>
            <a:r>
              <a:rPr lang="en-US" altLang="ko-KR" sz="1400" dirty="0"/>
              <a:t>, </a:t>
            </a:r>
            <a:r>
              <a:rPr lang="en-US" altLang="ko-KR" sz="1400" b="1" dirty="0"/>
              <a:t>which makes this a “</a:t>
            </a:r>
            <a:r>
              <a:rPr lang="en-US" altLang="ko-KR" sz="1400" b="1" dirty="0">
                <a:solidFill>
                  <a:srgbClr val="FF0000"/>
                </a:solidFill>
              </a:rPr>
              <a:t>headless</a:t>
            </a:r>
            <a:r>
              <a:rPr lang="en-US" altLang="ko-KR" sz="1400" b="1" dirty="0"/>
              <a:t>” Service</a:t>
            </a:r>
            <a:r>
              <a:rPr lang="en-US" altLang="ko-KR" sz="1400" dirty="0"/>
              <a:t>. </a:t>
            </a:r>
            <a:r>
              <a:rPr lang="en-US" altLang="ko-KR" sz="1400" b="1" dirty="0"/>
              <a:t>It will enable peer discovery between your pods (you’ll need this later)</a:t>
            </a:r>
            <a:r>
              <a:rPr lang="en-US" altLang="ko-KR" sz="1400" dirty="0"/>
              <a:t>. Once you create the Service, you can move on to </a:t>
            </a:r>
            <a:r>
              <a:rPr lang="en-US" altLang="ko-KR" sz="1400" b="1" dirty="0"/>
              <a:t>creating the actual </a:t>
            </a:r>
            <a:r>
              <a:rPr lang="en-US" altLang="ko-KR" sz="1400" b="1" dirty="0" err="1"/>
              <a:t>StatefulSet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53A0551-E33F-7927-0794-1ABD2A3F0680}"/>
              </a:ext>
            </a:extLst>
          </p:cNvPr>
          <p:cNvGrpSpPr/>
          <p:nvPr/>
        </p:nvGrpSpPr>
        <p:grpSpPr>
          <a:xfrm>
            <a:off x="3047326" y="2411622"/>
            <a:ext cx="6097348" cy="1785104"/>
            <a:chOff x="3047326" y="2346885"/>
            <a:chExt cx="6097348" cy="1785104"/>
          </a:xfrm>
        </p:grpSpPr>
        <p:sp>
          <p:nvSpPr>
            <p:cNvPr id="8" name="TextBox 7">
              <a:extLst>
                <a:ext uri="{FF2B5EF4-FFF2-40B4-BE49-F238E27FC236}">
                  <a16:creationId xmlns:a16="http://schemas.microsoft.com/office/drawing/2014/main" id="{9CCF0628-9725-7397-731D-7DCDC8EF91C4}"/>
                </a:ext>
              </a:extLst>
            </p:cNvPr>
            <p:cNvSpPr txBox="1"/>
            <p:nvPr/>
          </p:nvSpPr>
          <p:spPr>
            <a:xfrm>
              <a:off x="3047326" y="2346885"/>
              <a:ext cx="6097348"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err="1">
                  <a:solidFill>
                    <a:srgbClr val="FF0000"/>
                  </a:solidFill>
                </a:rPr>
                <a:t>kubia</a:t>
              </a:r>
              <a:endParaRPr lang="en-US" altLang="ko-KR" sz="1000" b="1" dirty="0">
                <a:solidFill>
                  <a:srgbClr val="FF0000"/>
                </a:solidFill>
              </a:endParaRPr>
            </a:p>
            <a:p>
              <a:r>
                <a:rPr lang="en-US" altLang="ko-KR" sz="1000" b="1" dirty="0"/>
                <a:t>spec:</a:t>
              </a:r>
            </a:p>
            <a:p>
              <a:r>
                <a:rPr lang="en-US" altLang="ko-KR" sz="1000" b="1" dirty="0"/>
                <a:t>  </a:t>
              </a:r>
              <a:r>
                <a:rPr lang="en-US" altLang="ko-KR" sz="1000" b="1" dirty="0" err="1"/>
                <a:t>clusterIP</a:t>
              </a:r>
              <a:r>
                <a:rPr lang="en-US" altLang="ko-KR" sz="1000" b="1" dirty="0"/>
                <a:t>: </a:t>
              </a:r>
              <a:r>
                <a:rPr lang="en-US" altLang="ko-KR" sz="1000" b="1" dirty="0">
                  <a:solidFill>
                    <a:srgbClr val="FF0000"/>
                  </a:solidFill>
                </a:rPr>
                <a:t>None</a:t>
              </a:r>
            </a:p>
            <a:p>
              <a:r>
                <a:rPr lang="en-US" altLang="ko-KR" sz="1000" b="1" dirty="0"/>
                <a:t>  selector:</a:t>
              </a:r>
            </a:p>
            <a:p>
              <a:r>
                <a:rPr lang="en-US" altLang="ko-KR" sz="1000" b="1" dirty="0"/>
                <a:t>    app: </a:t>
              </a:r>
              <a:r>
                <a:rPr lang="en-US" altLang="ko-KR" sz="1000" b="1" dirty="0" err="1">
                  <a:solidFill>
                    <a:srgbClr val="FF0000"/>
                  </a:solidFill>
                </a:rPr>
                <a:t>kubia</a:t>
              </a:r>
              <a:endParaRPr lang="en-US" altLang="ko-KR" sz="1000" b="1" dirty="0">
                <a:solidFill>
                  <a:srgbClr val="FF0000"/>
                </a:solidFill>
              </a:endParaRPr>
            </a:p>
            <a:p>
              <a:r>
                <a:rPr lang="en-US" altLang="ko-KR" sz="1000" b="1" dirty="0"/>
                <a:t>  ports:</a:t>
              </a:r>
            </a:p>
            <a:p>
              <a:r>
                <a:rPr lang="en-US" altLang="ko-KR" sz="1000" b="1" dirty="0"/>
                <a:t>  - name: http</a:t>
              </a:r>
            </a:p>
            <a:p>
              <a:r>
                <a:rPr lang="en-US" altLang="ko-KR" sz="1000" b="1" dirty="0"/>
                <a:t>    port: 80</a:t>
              </a:r>
            </a:p>
          </p:txBody>
        </p:sp>
        <p:sp>
          <p:nvSpPr>
            <p:cNvPr id="9" name="TextBox 8">
              <a:extLst>
                <a:ext uri="{FF2B5EF4-FFF2-40B4-BE49-F238E27FC236}">
                  <a16:creationId xmlns:a16="http://schemas.microsoft.com/office/drawing/2014/main" id="{684B0B7B-0586-7361-794A-9054C39F51B4}"/>
                </a:ext>
              </a:extLst>
            </p:cNvPr>
            <p:cNvSpPr txBox="1"/>
            <p:nvPr/>
          </p:nvSpPr>
          <p:spPr>
            <a:xfrm>
              <a:off x="7256015" y="2346885"/>
              <a:ext cx="1888659" cy="246221"/>
            </a:xfrm>
            <a:prstGeom prst="rect">
              <a:avLst/>
            </a:prstGeom>
            <a:noFill/>
          </p:spPr>
          <p:txBody>
            <a:bodyPr wrap="none" rtlCol="0">
              <a:spAutoFit/>
            </a:bodyPr>
            <a:lstStyle/>
            <a:p>
              <a:pPr algn="l"/>
              <a:r>
                <a:rPr lang="en-US" altLang="ko-KR" sz="1000" b="1" dirty="0" err="1"/>
                <a:t>kubia</a:t>
              </a:r>
              <a:r>
                <a:rPr lang="en-US" altLang="ko-KR" sz="1000" b="1" dirty="0"/>
                <a:t>-service-</a:t>
              </a:r>
              <a:r>
                <a:rPr lang="en-US" altLang="ko-KR" sz="1000" b="1" dirty="0" err="1"/>
                <a:t>headless.yaml</a:t>
              </a:r>
              <a:endParaRPr lang="ko-KR" altLang="en-US" sz="1000" b="1" dirty="0"/>
            </a:p>
          </p:txBody>
        </p:sp>
      </p:grpSp>
    </p:spTree>
    <p:extLst>
      <p:ext uri="{BB962C8B-B14F-4D97-AF65-F5344CB8AC3E}">
        <p14:creationId xmlns:p14="http://schemas.microsoft.com/office/powerpoint/2010/main" val="723283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(7/21)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To create the headless Service</a:t>
            </a:r>
            <a:r>
              <a:rPr lang="en-US" altLang="ko-KR" sz="1400" dirty="0"/>
              <a:t>, use the following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A465D21C-EB95-6D2E-DD1A-21037D65B730}"/>
              </a:ext>
            </a:extLst>
          </p:cNvPr>
          <p:cNvGrpSpPr/>
          <p:nvPr/>
        </p:nvGrpSpPr>
        <p:grpSpPr>
          <a:xfrm>
            <a:off x="1153452" y="1677942"/>
            <a:ext cx="9885096" cy="2126469"/>
            <a:chOff x="1153452" y="1567167"/>
            <a:chExt cx="9885096" cy="2126469"/>
          </a:xfrm>
        </p:grpSpPr>
        <p:grpSp>
          <p:nvGrpSpPr>
            <p:cNvPr id="12" name="그룹 11">
              <a:extLst>
                <a:ext uri="{FF2B5EF4-FFF2-40B4-BE49-F238E27FC236}">
                  <a16:creationId xmlns:a16="http://schemas.microsoft.com/office/drawing/2014/main" id="{6717F3D4-9A84-FDC5-2274-08B79D2E9C4F}"/>
                </a:ext>
              </a:extLst>
            </p:cNvPr>
            <p:cNvGrpSpPr/>
            <p:nvPr/>
          </p:nvGrpSpPr>
          <p:grpSpPr>
            <a:xfrm>
              <a:off x="1153452" y="1567167"/>
              <a:ext cx="9885096" cy="2126469"/>
              <a:chOff x="1153452" y="1567167"/>
              <a:chExt cx="9885096" cy="2126469"/>
            </a:xfrm>
          </p:grpSpPr>
          <p:pic>
            <p:nvPicPr>
              <p:cNvPr id="8" name="그림 7">
                <a:extLst>
                  <a:ext uri="{FF2B5EF4-FFF2-40B4-BE49-F238E27FC236}">
                    <a16:creationId xmlns:a16="http://schemas.microsoft.com/office/drawing/2014/main" id="{A268945F-110D-AFBF-8C20-DA6C6047153C}"/>
                  </a:ext>
                </a:extLst>
              </p:cNvPr>
              <p:cNvPicPr>
                <a:picLocks noChangeAspect="1"/>
              </p:cNvPicPr>
              <p:nvPr/>
            </p:nvPicPr>
            <p:blipFill>
              <a:blip r:embed="rId2"/>
              <a:stretch>
                <a:fillRect/>
              </a:stretch>
            </p:blipFill>
            <p:spPr>
              <a:xfrm>
                <a:off x="1153452" y="2112021"/>
                <a:ext cx="9885096" cy="1581615"/>
              </a:xfrm>
              <a:prstGeom prst="rect">
                <a:avLst/>
              </a:prstGeom>
            </p:spPr>
          </p:pic>
          <p:sp>
            <p:nvSpPr>
              <p:cNvPr id="10" name="TextBox 9">
                <a:extLst>
                  <a:ext uri="{FF2B5EF4-FFF2-40B4-BE49-F238E27FC236}">
                    <a16:creationId xmlns:a16="http://schemas.microsoft.com/office/drawing/2014/main" id="{59B9E8D2-DF61-1E4B-22E1-7D7C7C0701A0}"/>
                  </a:ext>
                </a:extLst>
              </p:cNvPr>
              <p:cNvSpPr txBox="1"/>
              <p:nvPr/>
            </p:nvSpPr>
            <p:spPr>
              <a:xfrm>
                <a:off x="3047326" y="1567167"/>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a:t>
                </a:r>
                <a:r>
                  <a:rPr lang="en-US" altLang="ko-KR" sz="1000" b="1" dirty="0">
                    <a:solidFill>
                      <a:srgbClr val="FF0000"/>
                    </a:solidFill>
                  </a:rPr>
                  <a:t>-service-</a:t>
                </a:r>
                <a:r>
                  <a:rPr lang="en-US" altLang="ko-KR" sz="1000" b="1" dirty="0" err="1">
                    <a:solidFill>
                      <a:srgbClr val="FF0000"/>
                    </a:solidFill>
                  </a:rPr>
                  <a:t>headless.yaml</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ACB77B98-29C9-E77D-8650-E2EECB957828}"/>
                  </a:ext>
                </a:extLst>
              </p:cNvPr>
              <p:cNvSpPr/>
              <p:nvPr/>
            </p:nvSpPr>
            <p:spPr>
              <a:xfrm>
                <a:off x="5873469" y="1813388"/>
                <a:ext cx="445062" cy="29863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30DEF04F-843B-B2CF-CE56-BF2709AA06A9}"/>
                </a:ext>
              </a:extLst>
            </p:cNvPr>
            <p:cNvSpPr/>
            <p:nvPr/>
          </p:nvSpPr>
          <p:spPr>
            <a:xfrm>
              <a:off x="2913133" y="3269182"/>
              <a:ext cx="728283" cy="1598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32852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(8/21)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dirty="0"/>
              <a:t>Now you can finally </a:t>
            </a:r>
            <a:r>
              <a:rPr lang="en-US" altLang="ko-KR" sz="1400" b="1" dirty="0"/>
              <a:t>create the </a:t>
            </a:r>
            <a:r>
              <a:rPr lang="en-US" altLang="ko-KR" sz="1400" b="1" dirty="0" err="1"/>
              <a:t>StatefulSet</a:t>
            </a:r>
            <a:r>
              <a:rPr lang="en-US" altLang="ko-KR" sz="1400" dirty="0"/>
              <a:t>. The following listing shows the manifest.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t>
            </a:r>
            <a:r>
              <a:rPr lang="en-US" altLang="ko-KR" sz="1400" b="1" dirty="0" err="1"/>
              <a:t>StatefulSet</a:t>
            </a:r>
            <a:r>
              <a:rPr lang="en-US" altLang="ko-KR" sz="1400" b="1" dirty="0"/>
              <a:t> manifest isn’t that different from </a:t>
            </a:r>
            <a:r>
              <a:rPr lang="en-US" altLang="ko-KR" sz="1400" b="1" dirty="0" err="1"/>
              <a:t>ReplicaSet</a:t>
            </a:r>
            <a:r>
              <a:rPr lang="en-US" altLang="ko-KR" sz="1400" b="1" dirty="0"/>
              <a:t> or Deployment manifests you’ve created so far</a:t>
            </a:r>
            <a:r>
              <a:rPr lang="en-US" altLang="ko-KR" sz="1400" dirty="0"/>
              <a:t>. What’s new is </a:t>
            </a:r>
            <a:r>
              <a:rPr lang="en-US" altLang="ko-KR" sz="1400" b="1" dirty="0">
                <a:solidFill>
                  <a:srgbClr val="FF0000"/>
                </a:solidFill>
              </a:rPr>
              <a:t>the </a:t>
            </a:r>
            <a:r>
              <a:rPr lang="en-US" altLang="ko-KR" sz="1400" b="1" dirty="0" err="1">
                <a:solidFill>
                  <a:srgbClr val="FF0000"/>
                </a:solidFill>
              </a:rPr>
              <a:t>volumeClaimTemplates</a:t>
            </a:r>
            <a:r>
              <a:rPr lang="en-US" altLang="ko-KR" sz="1400" b="1" dirty="0">
                <a:solidFill>
                  <a:srgbClr val="FF0000"/>
                </a:solidFill>
              </a:rPr>
              <a:t> list</a:t>
            </a:r>
            <a:r>
              <a:rPr lang="en-US" altLang="ko-KR" sz="1400" dirty="0"/>
              <a:t>. In it, you’re defining </a:t>
            </a:r>
            <a:r>
              <a:rPr lang="en-US" altLang="ko-KR" sz="1400" b="1" dirty="0"/>
              <a:t>one </a:t>
            </a:r>
            <a:r>
              <a:rPr lang="en-US" altLang="ko-KR" sz="1400" b="1" dirty="0">
                <a:solidFill>
                  <a:srgbClr val="FF0000"/>
                </a:solidFill>
              </a:rPr>
              <a:t>volume claim template </a:t>
            </a:r>
            <a:r>
              <a:rPr lang="en-US" altLang="ko-KR" sz="1400" b="1" dirty="0"/>
              <a:t>called “data”</a:t>
            </a:r>
            <a:r>
              <a:rPr lang="en-US" altLang="ko-KR" sz="1400" dirty="0"/>
              <a:t>, </a:t>
            </a:r>
            <a:r>
              <a:rPr lang="en-US" altLang="ko-KR" sz="1400" b="1" dirty="0"/>
              <a:t>which will be used to create a </a:t>
            </a:r>
            <a:r>
              <a:rPr lang="en-US" altLang="ko-KR" sz="1400" b="1" dirty="0" err="1"/>
              <a:t>PersistentVolumeClaim</a:t>
            </a:r>
            <a:r>
              <a:rPr lang="en-US" altLang="ko-KR" sz="1400" b="1" dirty="0"/>
              <a:t> for each pod</a:t>
            </a:r>
            <a:r>
              <a:rPr lang="en-US" altLang="ko-KR" sz="1400" dirty="0"/>
              <a:t>. </a:t>
            </a:r>
            <a:r>
              <a:rPr lang="en-US" altLang="ko-KR" sz="1400" b="1" dirty="0"/>
              <a:t>A pod references a claim by including a </a:t>
            </a:r>
            <a:r>
              <a:rPr lang="en-US" altLang="ko-KR" sz="1400" b="1" dirty="0" err="1"/>
              <a:t>persistentVolumeClaim</a:t>
            </a:r>
            <a:r>
              <a:rPr lang="en-US" altLang="ko-KR" sz="1400" b="1" dirty="0"/>
              <a:t> volume in the manifest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3354D957-06C5-1CBC-0D4A-CF2EA2F560E7}"/>
              </a:ext>
            </a:extLst>
          </p:cNvPr>
          <p:cNvGrpSpPr/>
          <p:nvPr/>
        </p:nvGrpSpPr>
        <p:grpSpPr>
          <a:xfrm>
            <a:off x="1332825" y="1536174"/>
            <a:ext cx="9526349" cy="3785652"/>
            <a:chOff x="1332825" y="1894246"/>
            <a:chExt cx="9526349" cy="3785652"/>
          </a:xfrm>
        </p:grpSpPr>
        <p:grpSp>
          <p:nvGrpSpPr>
            <p:cNvPr id="11" name="그룹 10">
              <a:extLst>
                <a:ext uri="{FF2B5EF4-FFF2-40B4-BE49-F238E27FC236}">
                  <a16:creationId xmlns:a16="http://schemas.microsoft.com/office/drawing/2014/main" id="{F7CA9EF0-25FA-F260-72BF-820B7845F6C2}"/>
                </a:ext>
              </a:extLst>
            </p:cNvPr>
            <p:cNvGrpSpPr/>
            <p:nvPr/>
          </p:nvGrpSpPr>
          <p:grpSpPr>
            <a:xfrm>
              <a:off x="1332825" y="1894246"/>
              <a:ext cx="9526349" cy="3785652"/>
              <a:chOff x="1276518" y="1902338"/>
              <a:chExt cx="9526349" cy="3785652"/>
            </a:xfrm>
          </p:grpSpPr>
          <p:sp>
            <p:nvSpPr>
              <p:cNvPr id="8" name="TextBox 7">
                <a:extLst>
                  <a:ext uri="{FF2B5EF4-FFF2-40B4-BE49-F238E27FC236}">
                    <a16:creationId xmlns:a16="http://schemas.microsoft.com/office/drawing/2014/main" id="{3CE22297-8413-1AB2-F05E-AA2E3672A869}"/>
                  </a:ext>
                </a:extLst>
              </p:cNvPr>
              <p:cNvSpPr txBox="1"/>
              <p:nvPr/>
            </p:nvSpPr>
            <p:spPr>
              <a:xfrm>
                <a:off x="6039691" y="1902338"/>
                <a:ext cx="4763176" cy="3785652"/>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solidFill>
                      <a:srgbClr val="FF0000"/>
                    </a:solidFill>
                  </a:rPr>
                  <a:t>volumeClaimTemplates</a:t>
                </a:r>
                <a:r>
                  <a:rPr lang="en-US" altLang="ko-KR" sz="1000" b="1" dirty="0"/>
                  <a:t>:</a:t>
                </a:r>
              </a:p>
              <a:p>
                <a:r>
                  <a:rPr lang="en-US" altLang="ko-KR" sz="1000" b="1" dirty="0"/>
                  <a:t>  - metadata:</a:t>
                </a:r>
              </a:p>
              <a:p>
                <a:r>
                  <a:rPr lang="en-US" altLang="ko-KR" sz="1000" b="1" dirty="0"/>
                  <a:t>      </a:t>
                </a:r>
                <a:r>
                  <a:rPr lang="en-US" altLang="ko-KR" sz="1000" b="1" dirty="0">
                    <a:solidFill>
                      <a:srgbClr val="FF0000"/>
                    </a:solidFill>
                  </a:rPr>
                  <a:t>name: data</a:t>
                </a:r>
              </a:p>
              <a:p>
                <a:r>
                  <a:rPr lang="en-US" altLang="ko-KR" sz="1000" b="1" dirty="0"/>
                  <a:t>    spec:</a:t>
                </a:r>
              </a:p>
              <a:p>
                <a:r>
                  <a:rPr lang="en-US" altLang="ko-KR" sz="1000" b="1" dirty="0"/>
                  <a:t>      resources:</a:t>
                </a:r>
              </a:p>
              <a:p>
                <a:r>
                  <a:rPr lang="en-US" altLang="ko-KR" sz="1000" b="1" dirty="0"/>
                  <a:t>        requests:</a:t>
                </a:r>
              </a:p>
              <a:p>
                <a:r>
                  <a:rPr lang="en-US" altLang="ko-KR" sz="1000" b="1" dirty="0"/>
                  <a:t>          </a:t>
                </a:r>
                <a:r>
                  <a:rPr lang="en-US" altLang="ko-KR" sz="1000" b="1" dirty="0">
                    <a:solidFill>
                      <a:srgbClr val="FF0000"/>
                    </a:solidFill>
                  </a:rPr>
                  <a:t>storage: 1Mi</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t>ReadWriteOnce</a:t>
                </a:r>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p:txBody>
          </p:sp>
          <p:sp>
            <p:nvSpPr>
              <p:cNvPr id="10" name="TextBox 9">
                <a:extLst>
                  <a:ext uri="{FF2B5EF4-FFF2-40B4-BE49-F238E27FC236}">
                    <a16:creationId xmlns:a16="http://schemas.microsoft.com/office/drawing/2014/main" id="{E0A5E638-51F1-E6BF-2468-99DD67A07292}"/>
                  </a:ext>
                </a:extLst>
              </p:cNvPr>
              <p:cNvSpPr txBox="1"/>
              <p:nvPr/>
            </p:nvSpPr>
            <p:spPr>
              <a:xfrm>
                <a:off x="1276518" y="1902338"/>
                <a:ext cx="4763175" cy="3785652"/>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apps/v1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StatefulSet</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kubia</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serviceName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kubia</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replicas: 2</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selector: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matchLabels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app: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kubia</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 has to match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spec.template.metadata.labels</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template: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labels: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app: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kubia</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kubia</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image: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knix008/</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kubia</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-pet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ports: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http</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containerPort</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8080</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volumeMounts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name: 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/var/data</a:t>
                </a:r>
                <a:endParaRPr lang="ko-KR" altLang="en-US" dirty="0">
                  <a:solidFill>
                    <a:srgbClr val="FF0000"/>
                  </a:solidFill>
                </a:endParaRPr>
              </a:p>
            </p:txBody>
          </p:sp>
        </p:grpSp>
        <p:sp>
          <p:nvSpPr>
            <p:cNvPr id="12" name="TextBox 11">
              <a:extLst>
                <a:ext uri="{FF2B5EF4-FFF2-40B4-BE49-F238E27FC236}">
                  <a16:creationId xmlns:a16="http://schemas.microsoft.com/office/drawing/2014/main" id="{0025AC4B-CFB8-848E-94D5-853EB88E851C}"/>
                </a:ext>
              </a:extLst>
            </p:cNvPr>
            <p:cNvSpPr txBox="1"/>
            <p:nvPr/>
          </p:nvSpPr>
          <p:spPr>
            <a:xfrm>
              <a:off x="9323175" y="1894246"/>
              <a:ext cx="1535998" cy="246221"/>
            </a:xfrm>
            <a:prstGeom prst="rect">
              <a:avLst/>
            </a:prstGeom>
            <a:noFill/>
          </p:spPr>
          <p:txBody>
            <a:bodyPr wrap="none" rtlCol="0">
              <a:spAutoFit/>
            </a:bodyPr>
            <a:lstStyle/>
            <a:p>
              <a:pPr algn="l"/>
              <a:r>
                <a:rPr lang="en-US" altLang="ko-KR" sz="1000" b="1" dirty="0" err="1"/>
                <a:t>kubia-statefulset.yaml</a:t>
              </a:r>
              <a:endParaRPr lang="ko-KR" altLang="en-US" sz="1000" b="1" dirty="0"/>
            </a:p>
          </p:txBody>
        </p:sp>
      </p:grpSp>
    </p:spTree>
    <p:extLst>
      <p:ext uri="{BB962C8B-B14F-4D97-AF65-F5344CB8AC3E}">
        <p14:creationId xmlns:p14="http://schemas.microsoft.com/office/powerpoint/2010/main" val="3386789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(9/21)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In the previous pod template, you’ll find no such volume</a:t>
            </a:r>
            <a:r>
              <a:rPr lang="en-US" altLang="ko-KR" sz="1400" dirty="0"/>
              <a:t>. </a:t>
            </a:r>
            <a:r>
              <a:rPr lang="en-US" altLang="ko-KR" sz="1400" b="1" dirty="0"/>
              <a:t>The </a:t>
            </a:r>
            <a:r>
              <a:rPr lang="en-US" altLang="ko-KR" sz="1400" b="1" dirty="0" err="1">
                <a:solidFill>
                  <a:srgbClr val="FF0000"/>
                </a:solidFill>
              </a:rPr>
              <a:t>StatefulSet</a:t>
            </a:r>
            <a:r>
              <a:rPr lang="en-US" altLang="ko-KR" sz="1400" b="1" dirty="0">
                <a:solidFill>
                  <a:srgbClr val="FF0000"/>
                </a:solidFill>
              </a:rPr>
              <a:t> adds it to the pod specification </a:t>
            </a:r>
            <a:r>
              <a:rPr lang="en-US" altLang="ko-KR" sz="1400" b="1" dirty="0"/>
              <a:t>automatically and </a:t>
            </a:r>
            <a:r>
              <a:rPr lang="en-US" altLang="ko-KR" sz="1400" b="1" dirty="0">
                <a:solidFill>
                  <a:srgbClr val="FF0000"/>
                </a:solidFill>
              </a:rPr>
              <a:t>configures the volume to be bound to the claim </a:t>
            </a:r>
            <a:r>
              <a:rPr lang="en-US" altLang="ko-KR" sz="1400" b="1" dirty="0"/>
              <a:t>the </a:t>
            </a:r>
            <a:r>
              <a:rPr lang="en-US" altLang="ko-KR" sz="1400" b="1" dirty="0" err="1"/>
              <a:t>StatefulSet</a:t>
            </a:r>
            <a:r>
              <a:rPr lang="en-US" altLang="ko-KR" sz="1400" b="1" dirty="0"/>
              <a:t> created for the specific pod</a:t>
            </a:r>
            <a:r>
              <a:rPr lang="en-US" altLang="ko-KR" sz="1400" dirty="0"/>
              <a:t>.</a:t>
            </a:r>
          </a:p>
          <a:p>
            <a:pPr lvl="1">
              <a:buFont typeface="Wingdings" panose="05000000000000000000" pitchFamily="2" charset="2"/>
              <a:buChar char="§"/>
            </a:pPr>
            <a:r>
              <a:rPr lang="en-US" altLang="ko-KR" sz="1400" dirty="0"/>
              <a:t>You’ll </a:t>
            </a:r>
            <a:r>
              <a:rPr lang="en-US" altLang="ko-KR" sz="1400" b="1" dirty="0"/>
              <a:t>create the </a:t>
            </a:r>
            <a:r>
              <a:rPr lang="en-US" altLang="ko-KR" sz="1400" b="1" dirty="0" err="1"/>
              <a:t>StatefulSet</a:t>
            </a:r>
            <a:r>
              <a:rPr lang="en-US" altLang="ko-KR" sz="1400" b="1" dirty="0"/>
              <a:t> now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455DB79F-C279-3606-18F8-A94AC8A0F744}"/>
              </a:ext>
            </a:extLst>
          </p:cNvPr>
          <p:cNvGrpSpPr/>
          <p:nvPr/>
        </p:nvGrpSpPr>
        <p:grpSpPr>
          <a:xfrm>
            <a:off x="1214142" y="2097288"/>
            <a:ext cx="9763715" cy="3786263"/>
            <a:chOff x="1214142" y="1903079"/>
            <a:chExt cx="9763715" cy="3786263"/>
          </a:xfrm>
        </p:grpSpPr>
        <p:grpSp>
          <p:nvGrpSpPr>
            <p:cNvPr id="12" name="그룹 11">
              <a:extLst>
                <a:ext uri="{FF2B5EF4-FFF2-40B4-BE49-F238E27FC236}">
                  <a16:creationId xmlns:a16="http://schemas.microsoft.com/office/drawing/2014/main" id="{03773FC5-C572-4990-040E-2F4EB78F73E9}"/>
                </a:ext>
              </a:extLst>
            </p:cNvPr>
            <p:cNvGrpSpPr/>
            <p:nvPr/>
          </p:nvGrpSpPr>
          <p:grpSpPr>
            <a:xfrm>
              <a:off x="1214142" y="1903079"/>
              <a:ext cx="9763715" cy="3786263"/>
              <a:chOff x="1214142" y="1903079"/>
              <a:chExt cx="9763715" cy="3786263"/>
            </a:xfrm>
          </p:grpSpPr>
          <p:sp>
            <p:nvSpPr>
              <p:cNvPr id="8" name="TextBox 7">
                <a:extLst>
                  <a:ext uri="{FF2B5EF4-FFF2-40B4-BE49-F238E27FC236}">
                    <a16:creationId xmlns:a16="http://schemas.microsoft.com/office/drawing/2014/main" id="{D14EA150-226E-DBFB-B7D7-A1E8639C3A9C}"/>
                  </a:ext>
                </a:extLst>
              </p:cNvPr>
              <p:cNvSpPr txBox="1"/>
              <p:nvPr/>
            </p:nvSpPr>
            <p:spPr>
              <a:xfrm>
                <a:off x="3047326" y="1903079"/>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kubia-statefulset.yaml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pods</a:t>
                </a:r>
              </a:p>
            </p:txBody>
          </p:sp>
          <p:sp>
            <p:nvSpPr>
              <p:cNvPr id="9" name="화살표: 아래쪽 8">
                <a:extLst>
                  <a:ext uri="{FF2B5EF4-FFF2-40B4-BE49-F238E27FC236}">
                    <a16:creationId xmlns:a16="http://schemas.microsoft.com/office/drawing/2014/main" id="{47CD913D-BD04-AB03-9D28-D8D7742273EF}"/>
                  </a:ext>
                </a:extLst>
              </p:cNvPr>
              <p:cNvSpPr/>
              <p:nvPr/>
            </p:nvSpPr>
            <p:spPr>
              <a:xfrm>
                <a:off x="5865377" y="2303189"/>
                <a:ext cx="461246" cy="30244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3B53C05A-893B-C624-2D16-6E100B6FC66A}"/>
                  </a:ext>
                </a:extLst>
              </p:cNvPr>
              <p:cNvPicPr>
                <a:picLocks noChangeAspect="1"/>
              </p:cNvPicPr>
              <p:nvPr/>
            </p:nvPicPr>
            <p:blipFill>
              <a:blip r:embed="rId2"/>
              <a:stretch>
                <a:fillRect/>
              </a:stretch>
            </p:blipFill>
            <p:spPr>
              <a:xfrm>
                <a:off x="1214142" y="2605635"/>
                <a:ext cx="9763715" cy="3083707"/>
              </a:xfrm>
              <a:prstGeom prst="rect">
                <a:avLst/>
              </a:prstGeom>
            </p:spPr>
          </p:pic>
        </p:grpSp>
        <p:sp>
          <p:nvSpPr>
            <p:cNvPr id="13" name="직사각형 12">
              <a:extLst>
                <a:ext uri="{FF2B5EF4-FFF2-40B4-BE49-F238E27FC236}">
                  <a16:creationId xmlns:a16="http://schemas.microsoft.com/office/drawing/2014/main" id="{D583C5B9-8B2E-B333-3FD9-DDFE4B3E1C06}"/>
                </a:ext>
              </a:extLst>
            </p:cNvPr>
            <p:cNvSpPr/>
            <p:nvPr/>
          </p:nvSpPr>
          <p:spPr>
            <a:xfrm>
              <a:off x="5373112" y="3034513"/>
              <a:ext cx="2646095" cy="2184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01616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(10/21)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A </a:t>
            </a:r>
            <a:r>
              <a:rPr lang="en-US" altLang="ko-KR" sz="1400" b="1" dirty="0" err="1"/>
              <a:t>ReplicationController</a:t>
            </a:r>
            <a:r>
              <a:rPr lang="en-US" altLang="ko-KR" sz="1400" b="1" dirty="0"/>
              <a:t> or a </a:t>
            </a:r>
            <a:r>
              <a:rPr lang="en-US" altLang="ko-KR" sz="1400" b="1" dirty="0" err="1"/>
              <a:t>ReplicaSet</a:t>
            </a:r>
            <a:r>
              <a:rPr lang="en-US" altLang="ko-KR" sz="1400" b="1" dirty="0"/>
              <a:t> creates all the pod instances at the same time</a:t>
            </a:r>
            <a:r>
              <a:rPr lang="en-US" altLang="ko-KR" sz="1400" dirty="0"/>
              <a:t>. </a:t>
            </a:r>
            <a:r>
              <a:rPr lang="en-US" altLang="ko-KR" sz="1400" b="1" dirty="0"/>
              <a:t>Your </a:t>
            </a:r>
            <a:r>
              <a:rPr lang="en-US" altLang="ko-KR" sz="1400" b="1" dirty="0" err="1"/>
              <a:t>StatefulSet</a:t>
            </a:r>
            <a:r>
              <a:rPr lang="en-US" altLang="ko-KR" sz="1400" b="1" dirty="0"/>
              <a:t> is configured to create two replicas</a:t>
            </a:r>
            <a:r>
              <a:rPr lang="en-US" altLang="ko-KR" sz="1400" dirty="0"/>
              <a:t>, </a:t>
            </a:r>
            <a:r>
              <a:rPr lang="en-US" altLang="ko-KR" sz="1400" b="1" dirty="0"/>
              <a:t>but it created a single pod</a:t>
            </a:r>
            <a:r>
              <a:rPr lang="en-US" altLang="ko-KR" sz="1400" dirty="0"/>
              <a:t>. </a:t>
            </a:r>
            <a:r>
              <a:rPr lang="en-US" altLang="ko-KR" sz="1400" b="1" dirty="0"/>
              <a:t>The second pod will be created only after the first one is up and ready</a:t>
            </a:r>
            <a:r>
              <a:rPr lang="en-US" altLang="ko-KR" sz="1400" dirty="0"/>
              <a:t>. </a:t>
            </a:r>
          </a:p>
          <a:p>
            <a:pPr lvl="1">
              <a:buFont typeface="Wingdings" panose="05000000000000000000" pitchFamily="2" charset="2"/>
              <a:buChar char="§"/>
            </a:pPr>
            <a:r>
              <a:rPr lang="en-US" altLang="ko-KR" sz="1400" b="1" dirty="0" err="1"/>
              <a:t>StatefulSets</a:t>
            </a:r>
            <a:r>
              <a:rPr lang="en-US" altLang="ko-KR" sz="1400" dirty="0"/>
              <a:t> behave this way because certain clustered stateful apps are sensitive to race conditions if two or more cluster members come up at the same time, so </a:t>
            </a:r>
            <a:r>
              <a:rPr lang="en-US" altLang="ko-KR" sz="1400" b="1" dirty="0"/>
              <a:t>it’s safer to bring each member up fully before continuing to bring up the rest</a:t>
            </a:r>
            <a:r>
              <a:rPr lang="en-US" altLang="ko-KR" sz="1400" dirty="0"/>
              <a:t>.</a:t>
            </a:r>
          </a:p>
          <a:p>
            <a:pPr lvl="1">
              <a:buFont typeface="Wingdings" panose="05000000000000000000" pitchFamily="2" charset="2"/>
              <a:buChar char="§"/>
            </a:pPr>
            <a:r>
              <a:rPr lang="en-US" altLang="ko-KR" sz="1400" b="1" dirty="0"/>
              <a:t>See how the </a:t>
            </a:r>
            <a:r>
              <a:rPr lang="en-US" altLang="ko-KR" sz="1400" b="1" dirty="0" err="1"/>
              <a:t>StatefulSet</a:t>
            </a:r>
            <a:r>
              <a:rPr lang="en-US" altLang="ko-KR" sz="1400" b="1" dirty="0"/>
              <a:t> has constructed the pod from the pod template and the </a:t>
            </a:r>
            <a:r>
              <a:rPr lang="en-US" altLang="ko-KR" sz="1400" b="1" dirty="0" err="1"/>
              <a:t>PersistentVolumeClaim</a:t>
            </a:r>
            <a:r>
              <a:rPr lang="en-US" altLang="ko-KR" sz="1400" b="1" dirty="0"/>
              <a:t> template </a:t>
            </a:r>
            <a:r>
              <a:rPr lang="en-US" altLang="ko-KR" sz="1400" dirty="0"/>
              <a:t>with the following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723E484-87E6-CA2B-B880-AF7A49E5DA0A}"/>
              </a:ext>
            </a:extLst>
          </p:cNvPr>
          <p:cNvGrpSpPr/>
          <p:nvPr/>
        </p:nvGrpSpPr>
        <p:grpSpPr>
          <a:xfrm>
            <a:off x="1186228" y="3124976"/>
            <a:ext cx="9819543" cy="2762912"/>
            <a:chOff x="1186228" y="2979320"/>
            <a:chExt cx="9819543" cy="2762912"/>
          </a:xfrm>
        </p:grpSpPr>
        <p:sp>
          <p:nvSpPr>
            <p:cNvPr id="8" name="TextBox 7">
              <a:extLst>
                <a:ext uri="{FF2B5EF4-FFF2-40B4-BE49-F238E27FC236}">
                  <a16:creationId xmlns:a16="http://schemas.microsoft.com/office/drawing/2014/main" id="{AA963407-B433-C860-F169-415D19FDF261}"/>
                </a:ext>
              </a:extLst>
            </p:cNvPr>
            <p:cNvSpPr txBox="1"/>
            <p:nvPr/>
          </p:nvSpPr>
          <p:spPr>
            <a:xfrm>
              <a:off x="3047326" y="2979320"/>
              <a:ext cx="6097348" cy="246221"/>
            </a:xfrm>
            <a:prstGeom prst="rect">
              <a:avLst/>
            </a:prstGeom>
            <a:noFill/>
            <a:ln>
              <a:solidFill>
                <a:schemeClr val="bg1">
                  <a:lumMod val="50000"/>
                </a:schemeClr>
              </a:solidFill>
            </a:ln>
          </p:spPr>
          <p:txBody>
            <a:bodyPr wrap="square">
              <a:spAutoFit/>
            </a:bodyPr>
            <a:lstStyle/>
            <a:p>
              <a:r>
                <a:rPr lang="pl-PL" altLang="ko-KR" sz="1000" b="1" dirty="0"/>
                <a:t>$ kubectl get po</a:t>
              </a:r>
              <a:r>
                <a:rPr lang="en-US" altLang="ko-KR" sz="1000" b="1" dirty="0"/>
                <a:t>d</a:t>
              </a:r>
              <a:r>
                <a:rPr lang="pl-PL" altLang="ko-KR" sz="1000" b="1" dirty="0"/>
                <a:t> </a:t>
              </a:r>
              <a:r>
                <a:rPr lang="pl-PL" altLang="ko-KR" sz="1000" b="1" dirty="0">
                  <a:solidFill>
                    <a:srgbClr val="FF0000"/>
                  </a:solidFill>
                </a:rPr>
                <a:t>kubia-0</a:t>
              </a:r>
              <a:r>
                <a:rPr lang="pl-PL" altLang="ko-KR" sz="1000" b="1" dirty="0"/>
                <a:t> -o yaml</a:t>
              </a:r>
              <a:endParaRPr lang="ko-KR" altLang="en-US" sz="1000" b="1" dirty="0"/>
            </a:p>
          </p:txBody>
        </p:sp>
        <p:sp>
          <p:nvSpPr>
            <p:cNvPr id="9" name="화살표: 아래쪽 8">
              <a:extLst>
                <a:ext uri="{FF2B5EF4-FFF2-40B4-BE49-F238E27FC236}">
                  <a16:creationId xmlns:a16="http://schemas.microsoft.com/office/drawing/2014/main" id="{490E6785-194F-0C46-A69E-A940BE2603FE}"/>
                </a:ext>
              </a:extLst>
            </p:cNvPr>
            <p:cNvSpPr/>
            <p:nvPr/>
          </p:nvSpPr>
          <p:spPr>
            <a:xfrm>
              <a:off x="5865377" y="3252998"/>
              <a:ext cx="461246" cy="30749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7088D5A3-0E87-F497-B4A2-0D8A036E0BAB}"/>
                </a:ext>
              </a:extLst>
            </p:cNvPr>
            <p:cNvPicPr>
              <a:picLocks noChangeAspect="1"/>
            </p:cNvPicPr>
            <p:nvPr/>
          </p:nvPicPr>
          <p:blipFill>
            <a:blip r:embed="rId2"/>
            <a:stretch>
              <a:fillRect/>
            </a:stretch>
          </p:blipFill>
          <p:spPr>
            <a:xfrm>
              <a:off x="1186228" y="3557384"/>
              <a:ext cx="9819543" cy="2184848"/>
            </a:xfrm>
            <a:prstGeom prst="rect">
              <a:avLst/>
            </a:prstGeom>
          </p:spPr>
        </p:pic>
      </p:grpSp>
    </p:spTree>
    <p:extLst>
      <p:ext uri="{BB962C8B-B14F-4D97-AF65-F5344CB8AC3E}">
        <p14:creationId xmlns:p14="http://schemas.microsoft.com/office/powerpoint/2010/main" val="3676798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The </a:t>
            </a:r>
            <a:r>
              <a:rPr lang="en-US" altLang="ko-KR" sz="1400" b="1" dirty="0" err="1">
                <a:solidFill>
                  <a:srgbClr val="FF0000"/>
                </a:solidFill>
              </a:rPr>
              <a:t>PersistentVolumeClaim</a:t>
            </a:r>
            <a:r>
              <a:rPr lang="en-US" altLang="ko-KR" sz="1400" b="1" dirty="0">
                <a:solidFill>
                  <a:srgbClr val="FF0000"/>
                </a:solidFill>
              </a:rPr>
              <a:t> template</a:t>
            </a:r>
            <a:r>
              <a:rPr lang="en-US" altLang="ko-KR" sz="1400" b="1" dirty="0"/>
              <a:t> was used to create the </a:t>
            </a:r>
            <a:r>
              <a:rPr lang="en-US" altLang="ko-KR" sz="1400" b="1" dirty="0" err="1"/>
              <a:t>PersistentVolumeClaim</a:t>
            </a:r>
            <a:r>
              <a:rPr lang="en-US" altLang="ko-KR" sz="1400" b="1" dirty="0"/>
              <a:t> </a:t>
            </a:r>
            <a:r>
              <a:rPr lang="en-US" altLang="ko-KR" sz="1400" dirty="0"/>
              <a:t>and </a:t>
            </a:r>
            <a:r>
              <a:rPr lang="en-US" altLang="ko-KR" sz="1400" b="1" dirty="0"/>
              <a:t>the volume inside the pod, which refers to the created </a:t>
            </a:r>
            <a:r>
              <a:rPr lang="en-US" altLang="ko-KR" sz="1400" b="1" dirty="0" err="1"/>
              <a:t>PersistentVolumeClaim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68D33996-6C86-A91B-BB19-9B874E9A1119}"/>
              </a:ext>
            </a:extLst>
          </p:cNvPr>
          <p:cNvGrpSpPr/>
          <p:nvPr/>
        </p:nvGrpSpPr>
        <p:grpSpPr>
          <a:xfrm>
            <a:off x="1420489" y="1691235"/>
            <a:ext cx="9351021" cy="4507402"/>
            <a:chOff x="1420489" y="1901628"/>
            <a:chExt cx="9351021" cy="4507402"/>
          </a:xfrm>
        </p:grpSpPr>
        <p:grpSp>
          <p:nvGrpSpPr>
            <p:cNvPr id="11" name="그룹 10">
              <a:extLst>
                <a:ext uri="{FF2B5EF4-FFF2-40B4-BE49-F238E27FC236}">
                  <a16:creationId xmlns:a16="http://schemas.microsoft.com/office/drawing/2014/main" id="{90FDABC2-F959-7015-14EF-FF7DA98A324D}"/>
                </a:ext>
              </a:extLst>
            </p:cNvPr>
            <p:cNvGrpSpPr/>
            <p:nvPr/>
          </p:nvGrpSpPr>
          <p:grpSpPr>
            <a:xfrm>
              <a:off x="1420489" y="1901628"/>
              <a:ext cx="9351021" cy="4507402"/>
              <a:chOff x="381000" y="1559535"/>
              <a:chExt cx="11430000" cy="5766917"/>
            </a:xfrm>
          </p:grpSpPr>
          <p:pic>
            <p:nvPicPr>
              <p:cNvPr id="8" name="그림 7">
                <a:extLst>
                  <a:ext uri="{FF2B5EF4-FFF2-40B4-BE49-F238E27FC236}">
                    <a16:creationId xmlns:a16="http://schemas.microsoft.com/office/drawing/2014/main" id="{74D59656-005A-3FE7-18E2-E263C49D3766}"/>
                  </a:ext>
                </a:extLst>
              </p:cNvPr>
              <p:cNvPicPr>
                <a:picLocks noChangeAspect="1"/>
              </p:cNvPicPr>
              <p:nvPr/>
            </p:nvPicPr>
            <p:blipFill>
              <a:blip r:embed="rId2"/>
              <a:stretch>
                <a:fillRect/>
              </a:stretch>
            </p:blipFill>
            <p:spPr>
              <a:xfrm>
                <a:off x="381000" y="1559535"/>
                <a:ext cx="11430000" cy="2543175"/>
              </a:xfrm>
              <a:prstGeom prst="rect">
                <a:avLst/>
              </a:prstGeom>
            </p:spPr>
          </p:pic>
          <p:pic>
            <p:nvPicPr>
              <p:cNvPr id="10" name="그림 9">
                <a:extLst>
                  <a:ext uri="{FF2B5EF4-FFF2-40B4-BE49-F238E27FC236}">
                    <a16:creationId xmlns:a16="http://schemas.microsoft.com/office/drawing/2014/main" id="{648BC276-2EB8-EC19-60E9-D02FA19C3219}"/>
                  </a:ext>
                </a:extLst>
              </p:cNvPr>
              <p:cNvPicPr>
                <a:picLocks noChangeAspect="1"/>
              </p:cNvPicPr>
              <p:nvPr/>
            </p:nvPicPr>
            <p:blipFill>
              <a:blip r:embed="rId3"/>
              <a:stretch>
                <a:fillRect/>
              </a:stretch>
            </p:blipFill>
            <p:spPr>
              <a:xfrm>
                <a:off x="381000" y="4126052"/>
                <a:ext cx="11430000" cy="3200400"/>
              </a:xfrm>
              <a:prstGeom prst="rect">
                <a:avLst/>
              </a:prstGeom>
            </p:spPr>
          </p:pic>
        </p:grpSp>
        <p:sp>
          <p:nvSpPr>
            <p:cNvPr id="12" name="직사각형 11">
              <a:extLst>
                <a:ext uri="{FF2B5EF4-FFF2-40B4-BE49-F238E27FC236}">
                  <a16:creationId xmlns:a16="http://schemas.microsoft.com/office/drawing/2014/main" id="{382B1A36-A287-AD3B-FAA3-2EC799F4F212}"/>
                </a:ext>
              </a:extLst>
            </p:cNvPr>
            <p:cNvSpPr/>
            <p:nvPr/>
          </p:nvSpPr>
          <p:spPr>
            <a:xfrm>
              <a:off x="1804524" y="4442528"/>
              <a:ext cx="1626499" cy="4369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8B654B5B-3D51-F6AE-C47C-827400340E26}"/>
                </a:ext>
              </a:extLst>
            </p:cNvPr>
            <p:cNvSpPr/>
            <p:nvPr/>
          </p:nvSpPr>
          <p:spPr>
            <a:xfrm>
              <a:off x="1788340" y="2686556"/>
              <a:ext cx="1505118" cy="2751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45672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(12/21)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App Through a </a:t>
            </a:r>
            <a:r>
              <a:rPr lang="en-US" altLang="ko-KR" sz="1800" b="1" dirty="0" err="1"/>
              <a:t>StatefulSet</a:t>
            </a:r>
            <a:r>
              <a:rPr lang="en-US" altLang="ko-KR" sz="1800" b="1" dirty="0"/>
              <a:t> :</a:t>
            </a:r>
          </a:p>
          <a:p>
            <a:pPr lvl="1">
              <a:buFont typeface="Wingdings" panose="05000000000000000000" pitchFamily="2" charset="2"/>
              <a:buChar char="§"/>
            </a:pPr>
            <a:r>
              <a:rPr lang="en-US" altLang="ko-KR" sz="1400" dirty="0"/>
              <a:t>Now </a:t>
            </a:r>
            <a:r>
              <a:rPr lang="en-US" altLang="ko-KR" sz="1400" b="1" dirty="0"/>
              <a:t>list the generated </a:t>
            </a:r>
            <a:r>
              <a:rPr lang="en-US" altLang="ko-KR" sz="1400" b="1" dirty="0" err="1"/>
              <a:t>PersistentVolumeClaims</a:t>
            </a:r>
            <a:r>
              <a:rPr lang="en-US" altLang="ko-KR" sz="1400" b="1" dirty="0"/>
              <a:t> </a:t>
            </a:r>
            <a:r>
              <a:rPr lang="en-US" altLang="ko-KR" sz="1400" dirty="0"/>
              <a:t>to confirm they were created with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names of the generated </a:t>
            </a:r>
            <a:r>
              <a:rPr lang="en-US" altLang="ko-KR" sz="1400" b="1" dirty="0" err="1"/>
              <a:t>PersistentVolumeClaims</a:t>
            </a:r>
            <a:r>
              <a:rPr lang="en-US" altLang="ko-KR" sz="1400" b="1" dirty="0"/>
              <a:t> are composed of </a:t>
            </a:r>
            <a:r>
              <a:rPr lang="en-US" altLang="ko-KR" sz="1400" b="1" dirty="0">
                <a:solidFill>
                  <a:srgbClr val="FF0000"/>
                </a:solidFill>
              </a:rPr>
              <a:t>the name defined in the </a:t>
            </a:r>
            <a:r>
              <a:rPr lang="en-US" altLang="ko-KR" sz="1400" b="1" dirty="0" err="1">
                <a:solidFill>
                  <a:srgbClr val="FF0000"/>
                </a:solidFill>
              </a:rPr>
              <a:t>volumeClaimTemplate</a:t>
            </a:r>
            <a:r>
              <a:rPr lang="en-US" altLang="ko-KR" sz="1400" b="1" dirty="0"/>
              <a:t> and </a:t>
            </a:r>
            <a:r>
              <a:rPr lang="en-US" altLang="ko-KR" sz="1400" b="1" dirty="0">
                <a:solidFill>
                  <a:srgbClr val="FF0000"/>
                </a:solidFill>
              </a:rPr>
              <a:t>the name of each pod</a:t>
            </a:r>
            <a:r>
              <a:rPr lang="en-US" altLang="ko-KR" sz="1400" dirty="0"/>
              <a:t>. You can examine the claims’ YAML to see that they match the template.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A7E63179-9B90-E8E8-4BFF-5144D8F1B09E}"/>
              </a:ext>
            </a:extLst>
          </p:cNvPr>
          <p:cNvGrpSpPr/>
          <p:nvPr/>
        </p:nvGrpSpPr>
        <p:grpSpPr>
          <a:xfrm>
            <a:off x="1145360" y="1644135"/>
            <a:ext cx="9901280" cy="2481963"/>
            <a:chOff x="1145360" y="1644135"/>
            <a:chExt cx="9901280" cy="2481963"/>
          </a:xfrm>
        </p:grpSpPr>
        <p:grpSp>
          <p:nvGrpSpPr>
            <p:cNvPr id="12" name="그룹 11">
              <a:extLst>
                <a:ext uri="{FF2B5EF4-FFF2-40B4-BE49-F238E27FC236}">
                  <a16:creationId xmlns:a16="http://schemas.microsoft.com/office/drawing/2014/main" id="{939A9183-16C9-55AE-4328-19BAC724F5A1}"/>
                </a:ext>
              </a:extLst>
            </p:cNvPr>
            <p:cNvGrpSpPr/>
            <p:nvPr/>
          </p:nvGrpSpPr>
          <p:grpSpPr>
            <a:xfrm>
              <a:off x="1145360" y="1644135"/>
              <a:ext cx="9901280" cy="2481963"/>
              <a:chOff x="1145360" y="1538938"/>
              <a:chExt cx="9901280" cy="2481963"/>
            </a:xfrm>
          </p:grpSpPr>
          <p:sp>
            <p:nvSpPr>
              <p:cNvPr id="8" name="TextBox 7">
                <a:extLst>
                  <a:ext uri="{FF2B5EF4-FFF2-40B4-BE49-F238E27FC236}">
                    <a16:creationId xmlns:a16="http://schemas.microsoft.com/office/drawing/2014/main" id="{33E278CB-3309-84D4-AA6E-41C25F2E6D73}"/>
                  </a:ext>
                </a:extLst>
              </p:cNvPr>
              <p:cNvSpPr txBox="1"/>
              <p:nvPr/>
            </p:nvSpPr>
            <p:spPr>
              <a:xfrm>
                <a:off x="3047326" y="153893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t>pvc</a:t>
                </a:r>
                <a:endParaRPr lang="en-US" altLang="ko-KR" sz="1000" b="1" dirty="0"/>
              </a:p>
            </p:txBody>
          </p:sp>
          <p:sp>
            <p:nvSpPr>
              <p:cNvPr id="9" name="화살표: 아래쪽 8">
                <a:extLst>
                  <a:ext uri="{FF2B5EF4-FFF2-40B4-BE49-F238E27FC236}">
                    <a16:creationId xmlns:a16="http://schemas.microsoft.com/office/drawing/2014/main" id="{6D98F145-E340-4366-EFA6-9556E9075339}"/>
                  </a:ext>
                </a:extLst>
              </p:cNvPr>
              <p:cNvSpPr/>
              <p:nvPr/>
            </p:nvSpPr>
            <p:spPr>
              <a:xfrm>
                <a:off x="5869423" y="1785159"/>
                <a:ext cx="453154" cy="3379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ADAE2B20-733D-EB95-4A74-52EE693A125D}"/>
                  </a:ext>
                </a:extLst>
              </p:cNvPr>
              <p:cNvPicPr>
                <a:picLocks noChangeAspect="1"/>
              </p:cNvPicPr>
              <p:nvPr/>
            </p:nvPicPr>
            <p:blipFill>
              <a:blip r:embed="rId2"/>
              <a:stretch>
                <a:fillRect/>
              </a:stretch>
            </p:blipFill>
            <p:spPr>
              <a:xfrm>
                <a:off x="1145360" y="2123156"/>
                <a:ext cx="9901280" cy="1897745"/>
              </a:xfrm>
              <a:prstGeom prst="rect">
                <a:avLst/>
              </a:prstGeom>
            </p:spPr>
          </p:pic>
        </p:grpSp>
        <p:sp>
          <p:nvSpPr>
            <p:cNvPr id="13" name="직사각형 12">
              <a:extLst>
                <a:ext uri="{FF2B5EF4-FFF2-40B4-BE49-F238E27FC236}">
                  <a16:creationId xmlns:a16="http://schemas.microsoft.com/office/drawing/2014/main" id="{946AAFC3-FC76-F246-1328-59043B781DAB}"/>
                </a:ext>
              </a:extLst>
            </p:cNvPr>
            <p:cNvSpPr/>
            <p:nvPr/>
          </p:nvSpPr>
          <p:spPr>
            <a:xfrm>
              <a:off x="1238081" y="2966066"/>
              <a:ext cx="7460857" cy="3031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69816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(13/21)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Playing with Your Pods :</a:t>
            </a:r>
          </a:p>
          <a:p>
            <a:pPr lvl="1">
              <a:buFont typeface="Wingdings" panose="05000000000000000000" pitchFamily="2" charset="2"/>
              <a:buChar char="§"/>
            </a:pPr>
            <a:r>
              <a:rPr lang="en-US" altLang="ko-KR" sz="1400" b="1" dirty="0"/>
              <a:t>You can’t communicate with your pods through the Service you created because it’s headless</a:t>
            </a:r>
            <a:r>
              <a:rPr lang="en-US" altLang="ko-KR" sz="1400" dirty="0"/>
              <a:t>. </a:t>
            </a:r>
            <a:r>
              <a:rPr lang="en-US" altLang="ko-KR" sz="1400" b="1" dirty="0"/>
              <a:t>You’ll need to connect to individual pods directly </a:t>
            </a:r>
            <a:r>
              <a:rPr lang="en-US" altLang="ko-KR" sz="1400" dirty="0"/>
              <a:t>(or create a regular Service, but that wouldn’t allow you to talk to a specific pod).</a:t>
            </a:r>
          </a:p>
          <a:p>
            <a:pPr lvl="1">
              <a:buFont typeface="Wingdings" panose="05000000000000000000" pitchFamily="2" charset="2"/>
              <a:buChar char="§"/>
            </a:pPr>
            <a:r>
              <a:rPr lang="en-US" altLang="ko-KR" sz="1400" dirty="0"/>
              <a:t>You’ve already seen ways to connect to a pod directly: </a:t>
            </a:r>
            <a:r>
              <a:rPr lang="en-US" altLang="ko-KR" sz="1400" b="1" dirty="0"/>
              <a:t>by piggybacking on another pod and running “curl” inside it</a:t>
            </a:r>
            <a:r>
              <a:rPr lang="en-US" altLang="ko-KR" sz="1400" dirty="0"/>
              <a:t>, by using </a:t>
            </a:r>
            <a:r>
              <a:rPr lang="en-US" altLang="ko-KR" sz="1400" b="1" dirty="0"/>
              <a:t>port-forwarding</a:t>
            </a:r>
            <a:r>
              <a:rPr lang="en-US" altLang="ko-KR" sz="1400" dirty="0"/>
              <a:t>, and so on. This time, you’ll try another option. </a:t>
            </a:r>
            <a:r>
              <a:rPr lang="en-US" altLang="ko-KR" sz="1400" b="1" dirty="0"/>
              <a:t>You’ll </a:t>
            </a:r>
            <a:r>
              <a:rPr lang="en-US" altLang="ko-KR" sz="1400" b="1" dirty="0">
                <a:solidFill>
                  <a:srgbClr val="FF0000"/>
                </a:solidFill>
              </a:rPr>
              <a:t>use the API server as a proxy</a:t>
            </a:r>
            <a:r>
              <a:rPr lang="en-US" altLang="ko-KR" sz="1400" b="1" dirty="0"/>
              <a:t> to the pods</a:t>
            </a:r>
            <a:r>
              <a:rPr lang="en-US" altLang="ko-KR" sz="1400" dirty="0"/>
              <a:t>.</a:t>
            </a:r>
          </a:p>
          <a:p>
            <a:pPr lvl="1">
              <a:buFont typeface="Wingdings" panose="05000000000000000000" pitchFamily="2" charset="2"/>
              <a:buChar char="§"/>
            </a:pPr>
            <a:r>
              <a:rPr lang="en-US" altLang="ko-KR" sz="1400" b="1" dirty="0"/>
              <a:t>One useful feature of </a:t>
            </a:r>
            <a:r>
              <a:rPr lang="en-US" altLang="ko-KR" sz="1400" b="1" dirty="0">
                <a:solidFill>
                  <a:srgbClr val="FF0000"/>
                </a:solidFill>
              </a:rPr>
              <a:t>the API server </a:t>
            </a:r>
            <a:r>
              <a:rPr lang="en-US" altLang="ko-KR" sz="1400" b="1" dirty="0"/>
              <a:t>is the ability to proxy connections directly to individual pods</a:t>
            </a:r>
            <a:r>
              <a:rPr lang="en-US" altLang="ko-KR" sz="1400" dirty="0"/>
              <a:t>. If you want to perform </a:t>
            </a:r>
            <a:r>
              <a:rPr lang="en-US" altLang="ko-KR" sz="1400" b="1" dirty="0"/>
              <a:t>requests against your “kubia-0” pod</a:t>
            </a:r>
            <a:r>
              <a:rPr lang="en-US" altLang="ko-KR" sz="1400" dirty="0"/>
              <a:t>, you hit the following URL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Because the API server is secured, sending requests to pods through the API server is cumbersome </a:t>
            </a:r>
            <a:r>
              <a:rPr lang="en-US" altLang="ko-KR" sz="1400" dirty="0"/>
              <a:t>(among other things, you need to pass the authorization token in each request). Luckily, you already learned how to </a:t>
            </a:r>
            <a:r>
              <a:rPr lang="en-US" altLang="ko-KR" sz="1400" b="1" dirty="0"/>
              <a:t>use </a:t>
            </a:r>
            <a:r>
              <a:rPr lang="en-US" altLang="ko-KR" sz="1400" b="1" dirty="0" err="1"/>
              <a:t>kubectl</a:t>
            </a:r>
            <a:r>
              <a:rPr lang="en-US" altLang="ko-KR" sz="1400" b="1" dirty="0"/>
              <a:t> proxy to talk to the API server without having to deal with authentication and SSL certificates</a:t>
            </a:r>
            <a:r>
              <a:rPr lang="en-US" altLang="ko-KR" sz="1400" dirty="0"/>
              <a:t>. </a:t>
            </a:r>
          </a:p>
          <a:p>
            <a:pPr lvl="1">
              <a:buFont typeface="Wingdings" panose="05000000000000000000" pitchFamily="2" charset="2"/>
              <a:buChar char="§"/>
            </a:pPr>
            <a:r>
              <a:rPr lang="en-US" altLang="ko-KR" sz="1400" b="1" dirty="0"/>
              <a:t>Run </a:t>
            </a:r>
            <a:r>
              <a:rPr lang="en-US" altLang="ko-KR" sz="1400" b="1" dirty="0">
                <a:solidFill>
                  <a:srgbClr val="FF0000"/>
                </a:solidFill>
              </a:rPr>
              <a:t>the proxy </a:t>
            </a:r>
            <a:r>
              <a:rPr lang="en-US" altLang="ko-KR" sz="1400" b="1" dirty="0"/>
              <a:t>again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04C66EF-3DCD-D513-C77C-4CEAA8F5BF87}"/>
              </a:ext>
            </a:extLst>
          </p:cNvPr>
          <p:cNvSpPr txBox="1"/>
          <p:nvPr/>
        </p:nvSpPr>
        <p:spPr>
          <a:xfrm>
            <a:off x="3047326" y="2873189"/>
            <a:ext cx="6097348" cy="246221"/>
          </a:xfrm>
          <a:prstGeom prst="rect">
            <a:avLst/>
          </a:prstGeom>
          <a:noFill/>
          <a:ln>
            <a:solidFill>
              <a:schemeClr val="bg1">
                <a:lumMod val="50000"/>
              </a:schemeClr>
            </a:solidFill>
          </a:ln>
        </p:spPr>
        <p:txBody>
          <a:bodyPr wrap="square">
            <a:spAutoFit/>
          </a:bodyPr>
          <a:lstStyle/>
          <a:p>
            <a:r>
              <a:rPr lang="en-US" altLang="ko-KR" sz="1000" b="1" dirty="0"/>
              <a:t>&lt;</a:t>
            </a:r>
            <a:r>
              <a:rPr lang="en-US" altLang="ko-KR" sz="1000" b="1" dirty="0" err="1"/>
              <a:t>apiServerHost</a:t>
            </a:r>
            <a:r>
              <a:rPr lang="en-US" altLang="ko-KR" sz="1000" b="1" dirty="0"/>
              <a:t>&gt;:&lt;port&gt;/</a:t>
            </a:r>
            <a:r>
              <a:rPr lang="en-US" altLang="ko-KR" sz="1000" b="1" dirty="0" err="1"/>
              <a:t>api</a:t>
            </a:r>
            <a:r>
              <a:rPr lang="en-US" altLang="ko-KR" sz="1000" b="1" dirty="0"/>
              <a:t>/v1/namespaces/default/pods/</a:t>
            </a:r>
            <a:r>
              <a:rPr lang="en-US" altLang="ko-KR" sz="1000" b="1" dirty="0">
                <a:solidFill>
                  <a:srgbClr val="FF0000"/>
                </a:solidFill>
              </a:rPr>
              <a:t>kubia-0</a:t>
            </a:r>
            <a:r>
              <a:rPr lang="en-US" altLang="ko-KR" sz="1000" b="1" dirty="0"/>
              <a:t>/proxy/&lt;path&gt;</a:t>
            </a:r>
          </a:p>
        </p:txBody>
      </p:sp>
      <p:grpSp>
        <p:nvGrpSpPr>
          <p:cNvPr id="15" name="그룹 14">
            <a:extLst>
              <a:ext uri="{FF2B5EF4-FFF2-40B4-BE49-F238E27FC236}">
                <a16:creationId xmlns:a16="http://schemas.microsoft.com/office/drawing/2014/main" id="{CA131201-7259-B449-9FA3-117C0E143541}"/>
              </a:ext>
            </a:extLst>
          </p:cNvPr>
          <p:cNvGrpSpPr/>
          <p:nvPr/>
        </p:nvGrpSpPr>
        <p:grpSpPr>
          <a:xfrm>
            <a:off x="1610652" y="4394888"/>
            <a:ext cx="8970696" cy="1981845"/>
            <a:chOff x="1610652" y="4394888"/>
            <a:chExt cx="8970696" cy="1981845"/>
          </a:xfrm>
        </p:grpSpPr>
        <p:sp>
          <p:nvSpPr>
            <p:cNvPr id="10" name="TextBox 9">
              <a:extLst>
                <a:ext uri="{FF2B5EF4-FFF2-40B4-BE49-F238E27FC236}">
                  <a16:creationId xmlns:a16="http://schemas.microsoft.com/office/drawing/2014/main" id="{7CDA7BB4-2722-CE5C-E54D-3772411EB4E7}"/>
                </a:ext>
              </a:extLst>
            </p:cNvPr>
            <p:cNvSpPr txBox="1"/>
            <p:nvPr/>
          </p:nvSpPr>
          <p:spPr>
            <a:xfrm>
              <a:off x="3047326" y="439488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proxy</a:t>
              </a:r>
              <a:endParaRPr lang="ko-KR" altLang="en-US" sz="1000" b="1" dirty="0"/>
            </a:p>
          </p:txBody>
        </p:sp>
        <p:grpSp>
          <p:nvGrpSpPr>
            <p:cNvPr id="14" name="그룹 13">
              <a:extLst>
                <a:ext uri="{FF2B5EF4-FFF2-40B4-BE49-F238E27FC236}">
                  <a16:creationId xmlns:a16="http://schemas.microsoft.com/office/drawing/2014/main" id="{6EAA02B9-6DA1-A219-3338-C039F9D8D174}"/>
                </a:ext>
              </a:extLst>
            </p:cNvPr>
            <p:cNvGrpSpPr/>
            <p:nvPr/>
          </p:nvGrpSpPr>
          <p:grpSpPr>
            <a:xfrm>
              <a:off x="1610652" y="4663468"/>
              <a:ext cx="8970696" cy="1713265"/>
              <a:chOff x="1610652" y="4663468"/>
              <a:chExt cx="8970696" cy="1713265"/>
            </a:xfrm>
          </p:grpSpPr>
          <p:pic>
            <p:nvPicPr>
              <p:cNvPr id="12" name="그림 11">
                <a:extLst>
                  <a:ext uri="{FF2B5EF4-FFF2-40B4-BE49-F238E27FC236}">
                    <a16:creationId xmlns:a16="http://schemas.microsoft.com/office/drawing/2014/main" id="{2894A950-DBD4-D8D9-BBAD-7E4D4D0E9F33}"/>
                  </a:ext>
                </a:extLst>
              </p:cNvPr>
              <p:cNvPicPr>
                <a:picLocks noChangeAspect="1"/>
              </p:cNvPicPr>
              <p:nvPr/>
            </p:nvPicPr>
            <p:blipFill>
              <a:blip r:embed="rId2"/>
              <a:stretch>
                <a:fillRect/>
              </a:stretch>
            </p:blipFill>
            <p:spPr>
              <a:xfrm>
                <a:off x="1610652" y="4956373"/>
                <a:ext cx="8970696" cy="1420360"/>
              </a:xfrm>
              <a:prstGeom prst="rect">
                <a:avLst/>
              </a:prstGeom>
            </p:spPr>
          </p:pic>
          <p:sp>
            <p:nvSpPr>
              <p:cNvPr id="13" name="화살표: 아래쪽 12">
                <a:extLst>
                  <a:ext uri="{FF2B5EF4-FFF2-40B4-BE49-F238E27FC236}">
                    <a16:creationId xmlns:a16="http://schemas.microsoft.com/office/drawing/2014/main" id="{575BDB24-59E3-8BF6-F0B2-818B2AE5F1F7}"/>
                  </a:ext>
                </a:extLst>
              </p:cNvPr>
              <p:cNvSpPr/>
              <p:nvPr/>
            </p:nvSpPr>
            <p:spPr>
              <a:xfrm>
                <a:off x="5877515" y="4663468"/>
                <a:ext cx="436970" cy="2929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4729981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(14/21)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Playing with Your Pods :</a:t>
            </a:r>
          </a:p>
          <a:p>
            <a:pPr lvl="1">
              <a:buFont typeface="Wingdings" panose="05000000000000000000" pitchFamily="2" charset="2"/>
              <a:buChar char="§"/>
            </a:pPr>
            <a:r>
              <a:rPr lang="en-US" altLang="ko-KR" sz="1400" dirty="0"/>
              <a:t>Now, because you’ll be </a:t>
            </a:r>
            <a:r>
              <a:rPr lang="en-US" altLang="ko-KR" sz="1400" b="1" dirty="0"/>
              <a:t>talking to the API server through the “</a:t>
            </a:r>
            <a:r>
              <a:rPr lang="en-US" altLang="ko-KR" sz="1400" b="1" dirty="0" err="1"/>
              <a:t>kubectl</a:t>
            </a:r>
            <a:r>
              <a:rPr lang="en-US" altLang="ko-KR" sz="1400" b="1" dirty="0"/>
              <a:t> proxy”</a:t>
            </a:r>
            <a:r>
              <a:rPr lang="en-US" altLang="ko-KR" sz="1400" dirty="0"/>
              <a:t>, you’ll </a:t>
            </a:r>
            <a:r>
              <a:rPr lang="en-US" altLang="ko-KR" sz="1400" b="1" dirty="0"/>
              <a:t>use “localhost:8001” rather than the actual API server host and port</a:t>
            </a:r>
            <a:r>
              <a:rPr lang="en-US" altLang="ko-KR" sz="1400" dirty="0"/>
              <a:t>. Open another terminal first, then you’ll </a:t>
            </a:r>
            <a:r>
              <a:rPr lang="en-US" altLang="ko-KR" sz="1400" b="1" dirty="0"/>
              <a:t>send a request to the “kubia-0” pod</a:t>
            </a:r>
            <a:r>
              <a:rPr lang="en-US" altLang="ko-KR" sz="1400" dirty="0"/>
              <a:t> like this: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response shows </a:t>
            </a:r>
            <a:r>
              <a:rPr lang="en-US" altLang="ko-KR" sz="1400" b="1" dirty="0"/>
              <a:t>that the request was indeed received and handled by the app running in your pod “kubia-0”</a:t>
            </a:r>
            <a:r>
              <a:rPr lang="en-US" altLang="ko-KR" sz="1400" dirty="0"/>
              <a:t>.</a:t>
            </a:r>
          </a:p>
          <a:p>
            <a:pPr lvl="1">
              <a:buFont typeface="Wingdings" panose="05000000000000000000" pitchFamily="2" charset="2"/>
              <a:buChar char="§"/>
            </a:pPr>
            <a:r>
              <a:rPr lang="en-US" altLang="ko-KR" sz="1400" b="1" dirty="0"/>
              <a:t>NOTE : If you receive an empty response, make sure you haven’t left out that last slash character at the end of the URL </a:t>
            </a:r>
            <a:r>
              <a:rPr lang="en-US" altLang="ko-KR" sz="1400" dirty="0"/>
              <a:t>(or make sure “curl” follows redirects by using its “</a:t>
            </a:r>
            <a:r>
              <a:rPr lang="en-US" altLang="ko-KR" sz="1400" b="1" dirty="0"/>
              <a:t>-L</a:t>
            </a:r>
            <a:r>
              <a:rPr lang="en-US" altLang="ko-KR" sz="1400" dirty="0"/>
              <a:t>” option).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D5386A9-B83D-3E4F-0FFB-202C37FFDCB0}"/>
              </a:ext>
            </a:extLst>
          </p:cNvPr>
          <p:cNvGrpSpPr/>
          <p:nvPr/>
        </p:nvGrpSpPr>
        <p:grpSpPr>
          <a:xfrm>
            <a:off x="1266740" y="1870709"/>
            <a:ext cx="9658519" cy="2101643"/>
            <a:chOff x="1266740" y="1870709"/>
            <a:chExt cx="9658519" cy="2101643"/>
          </a:xfrm>
        </p:grpSpPr>
        <p:sp>
          <p:nvSpPr>
            <p:cNvPr id="8" name="TextBox 7">
              <a:extLst>
                <a:ext uri="{FF2B5EF4-FFF2-40B4-BE49-F238E27FC236}">
                  <a16:creationId xmlns:a16="http://schemas.microsoft.com/office/drawing/2014/main" id="{7CE9C7D6-7E6E-5187-BF1C-1C328CA10A5F}"/>
                </a:ext>
              </a:extLst>
            </p:cNvPr>
            <p:cNvSpPr txBox="1"/>
            <p:nvPr/>
          </p:nvSpPr>
          <p:spPr>
            <a:xfrm>
              <a:off x="3047326" y="1870709"/>
              <a:ext cx="6097348" cy="246221"/>
            </a:xfrm>
            <a:prstGeom prst="rect">
              <a:avLst/>
            </a:prstGeom>
            <a:noFill/>
            <a:ln>
              <a:solidFill>
                <a:schemeClr val="bg1">
                  <a:lumMod val="50000"/>
                </a:schemeClr>
              </a:solidFill>
            </a:ln>
          </p:spPr>
          <p:txBody>
            <a:bodyPr wrap="square">
              <a:spAutoFit/>
            </a:bodyPr>
            <a:lstStyle/>
            <a:p>
              <a:r>
                <a:rPr lang="en-US" altLang="ko-KR" sz="1000" b="1" dirty="0"/>
                <a:t>$ curl </a:t>
              </a:r>
              <a:r>
                <a:rPr lang="en-US" altLang="ko-KR" sz="1000" b="1" dirty="0">
                  <a:solidFill>
                    <a:srgbClr val="FF0000"/>
                  </a:solidFill>
                </a:rPr>
                <a:t>localhost:8001</a:t>
              </a:r>
              <a:r>
                <a:rPr lang="en-US" altLang="ko-KR" sz="1000" b="1" dirty="0"/>
                <a:t>/</a:t>
              </a:r>
              <a:r>
                <a:rPr lang="en-US" altLang="ko-KR" sz="1000" b="1" dirty="0" err="1"/>
                <a:t>api</a:t>
              </a:r>
              <a:r>
                <a:rPr lang="en-US" altLang="ko-KR" sz="1000" b="1" dirty="0"/>
                <a:t>/v1/namespaces/default/pods/</a:t>
              </a:r>
              <a:r>
                <a:rPr lang="en-US" altLang="ko-KR" sz="1000" b="1" dirty="0">
                  <a:solidFill>
                    <a:srgbClr val="FF0000"/>
                  </a:solidFill>
                </a:rPr>
                <a:t>kubia-0</a:t>
              </a:r>
              <a:r>
                <a:rPr lang="en-US" altLang="ko-KR" sz="1000" b="1" dirty="0"/>
                <a:t>/proxy/</a:t>
              </a:r>
            </a:p>
          </p:txBody>
        </p:sp>
        <p:sp>
          <p:nvSpPr>
            <p:cNvPr id="9" name="화살표: 아래쪽 8">
              <a:extLst>
                <a:ext uri="{FF2B5EF4-FFF2-40B4-BE49-F238E27FC236}">
                  <a16:creationId xmlns:a16="http://schemas.microsoft.com/office/drawing/2014/main" id="{F877F4B6-0657-13A6-7DE4-6D36AB333D3E}"/>
                </a:ext>
              </a:extLst>
            </p:cNvPr>
            <p:cNvSpPr/>
            <p:nvPr/>
          </p:nvSpPr>
          <p:spPr>
            <a:xfrm>
              <a:off x="5845147" y="2119404"/>
              <a:ext cx="501706" cy="32368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1" name="그림 10">
              <a:extLst>
                <a:ext uri="{FF2B5EF4-FFF2-40B4-BE49-F238E27FC236}">
                  <a16:creationId xmlns:a16="http://schemas.microsoft.com/office/drawing/2014/main" id="{D9444FE6-C2C4-2AE9-A598-34FE2220B586}"/>
                </a:ext>
              </a:extLst>
            </p:cNvPr>
            <p:cNvPicPr>
              <a:picLocks noChangeAspect="1"/>
            </p:cNvPicPr>
            <p:nvPr/>
          </p:nvPicPr>
          <p:blipFill>
            <a:blip r:embed="rId2"/>
            <a:stretch>
              <a:fillRect/>
            </a:stretch>
          </p:blipFill>
          <p:spPr>
            <a:xfrm>
              <a:off x="1266740" y="2443086"/>
              <a:ext cx="9658519" cy="1529266"/>
            </a:xfrm>
            <a:prstGeom prst="rect">
              <a:avLst/>
            </a:prstGeom>
          </p:spPr>
        </p:pic>
      </p:grpSp>
    </p:spTree>
    <p:extLst>
      <p:ext uri="{BB962C8B-B14F-4D97-AF65-F5344CB8AC3E}">
        <p14:creationId xmlns:p14="http://schemas.microsoft.com/office/powerpoint/2010/main" val="18361624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(15/21)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Playing with Your Pods :</a:t>
            </a:r>
          </a:p>
          <a:p>
            <a:pPr lvl="1">
              <a:buFont typeface="Wingdings" panose="05000000000000000000" pitchFamily="2" charset="2"/>
              <a:buChar char="§"/>
            </a:pPr>
            <a:r>
              <a:rPr lang="en-US" altLang="ko-KR" sz="1400" dirty="0"/>
              <a:t>Because you’re communicating with the pod through “</a:t>
            </a:r>
            <a:r>
              <a:rPr lang="en-US" altLang="ko-KR" sz="1400" b="1" dirty="0"/>
              <a:t>the API server</a:t>
            </a:r>
            <a:r>
              <a:rPr lang="en-US" altLang="ko-KR" sz="1400" dirty="0"/>
              <a:t>”, which </a:t>
            </a:r>
            <a:r>
              <a:rPr lang="en-US" altLang="ko-KR" sz="1400" b="1" dirty="0"/>
              <a:t>you’re connecting to through the “</a:t>
            </a:r>
            <a:r>
              <a:rPr lang="en-US" altLang="ko-KR" sz="1400" b="1" dirty="0" err="1"/>
              <a:t>kubectl</a:t>
            </a:r>
            <a:r>
              <a:rPr lang="en-US" altLang="ko-KR" sz="1400" b="1" dirty="0"/>
              <a:t> proxy”</a:t>
            </a:r>
            <a:r>
              <a:rPr lang="en-US" altLang="ko-KR" sz="1400" dirty="0"/>
              <a:t>, </a:t>
            </a:r>
            <a:r>
              <a:rPr lang="en-US" altLang="ko-KR" sz="1400" b="1" dirty="0"/>
              <a:t>the request went through two different proxies </a:t>
            </a:r>
            <a:r>
              <a:rPr lang="en-US" altLang="ko-KR" sz="1400" dirty="0"/>
              <a:t>(the first was the “</a:t>
            </a:r>
            <a:r>
              <a:rPr lang="en-US" altLang="ko-KR" sz="1400" b="1" dirty="0" err="1"/>
              <a:t>kubectl</a:t>
            </a:r>
            <a:r>
              <a:rPr lang="en-US" altLang="ko-KR" sz="1400" b="1" dirty="0"/>
              <a:t> proxy</a:t>
            </a:r>
            <a:r>
              <a:rPr lang="en-US" altLang="ko-KR" sz="1400" dirty="0"/>
              <a:t>” and the other was “</a:t>
            </a:r>
            <a:r>
              <a:rPr lang="en-US" altLang="ko-KR" sz="1400" b="1" dirty="0"/>
              <a:t>the API server</a:t>
            </a:r>
            <a:r>
              <a:rPr lang="en-US" altLang="ko-KR" sz="1400" dirty="0"/>
              <a:t>”, </a:t>
            </a:r>
            <a:r>
              <a:rPr lang="en-US" altLang="ko-KR" sz="1400" b="1" dirty="0"/>
              <a:t>which proxied the request to the pod</a:t>
            </a:r>
            <a:r>
              <a:rPr lang="en-US" altLang="ko-KR" sz="1400" dirty="0"/>
              <a:t>). For a clearer picture, examine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request you sent to the pod was a </a:t>
            </a:r>
            <a:r>
              <a:rPr lang="en-US" altLang="ko-KR" sz="1400" b="1" dirty="0"/>
              <a:t>GET request</a:t>
            </a:r>
            <a:r>
              <a:rPr lang="en-US" altLang="ko-KR" sz="1400" dirty="0"/>
              <a:t>, but you can also send </a:t>
            </a:r>
            <a:r>
              <a:rPr lang="en-US" altLang="ko-KR" sz="1400" b="1" dirty="0"/>
              <a:t>POST requests</a:t>
            </a:r>
            <a:r>
              <a:rPr lang="en-US" altLang="ko-KR" sz="1400" dirty="0"/>
              <a:t> through the API server. This is done by </a:t>
            </a:r>
            <a:r>
              <a:rPr lang="en-US" altLang="ko-KR" sz="1400" b="1" dirty="0"/>
              <a:t>sending a POST request to the same proxy URL as the one you sent the GET request to</a:t>
            </a:r>
            <a:r>
              <a:rPr lang="en-US" altLang="ko-KR" sz="1400" dirty="0"/>
              <a:t>. When your app receives a </a:t>
            </a:r>
            <a:r>
              <a:rPr lang="en-US" altLang="ko-KR" sz="1400" b="1" dirty="0"/>
              <a:t>POST request</a:t>
            </a:r>
            <a:r>
              <a:rPr lang="en-US" altLang="ko-KR" sz="1400" dirty="0"/>
              <a:t>, </a:t>
            </a:r>
            <a:r>
              <a:rPr lang="en-US" altLang="ko-KR" sz="1400" b="1" dirty="0"/>
              <a:t>it stores whatever’s in the request body into a local file</a:t>
            </a:r>
            <a:r>
              <a:rPr lang="en-US" altLang="ko-KR" sz="1400" dirty="0"/>
              <a:t>. </a:t>
            </a:r>
            <a:r>
              <a:rPr lang="en-US" altLang="ko-KR" sz="1400" b="1" dirty="0"/>
              <a:t>Send a POST request to the “kubia-0” pod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E0098BFE-2AF0-ED15-526E-46E15FF5644C}"/>
              </a:ext>
            </a:extLst>
          </p:cNvPr>
          <p:cNvGrpSpPr/>
          <p:nvPr/>
        </p:nvGrpSpPr>
        <p:grpSpPr>
          <a:xfrm>
            <a:off x="3601649" y="1871511"/>
            <a:ext cx="4569726" cy="1342862"/>
            <a:chOff x="3457575" y="1885950"/>
            <a:chExt cx="5276850" cy="1543050"/>
          </a:xfrm>
        </p:grpSpPr>
        <p:pic>
          <p:nvPicPr>
            <p:cNvPr id="8" name="그림 7">
              <a:extLst>
                <a:ext uri="{FF2B5EF4-FFF2-40B4-BE49-F238E27FC236}">
                  <a16:creationId xmlns:a16="http://schemas.microsoft.com/office/drawing/2014/main" id="{5E9001F5-4C4B-CB7E-6E4C-F096AD98886C}"/>
                </a:ext>
              </a:extLst>
            </p:cNvPr>
            <p:cNvPicPr>
              <a:picLocks noChangeAspect="1"/>
            </p:cNvPicPr>
            <p:nvPr/>
          </p:nvPicPr>
          <p:blipFill>
            <a:blip r:embed="rId2"/>
            <a:stretch>
              <a:fillRect/>
            </a:stretch>
          </p:blipFill>
          <p:spPr>
            <a:xfrm>
              <a:off x="3457575" y="1885950"/>
              <a:ext cx="5276850" cy="1543050"/>
            </a:xfrm>
            <a:prstGeom prst="rect">
              <a:avLst/>
            </a:prstGeom>
          </p:spPr>
        </p:pic>
        <p:sp>
          <p:nvSpPr>
            <p:cNvPr id="9" name="직사각형 8">
              <a:extLst>
                <a:ext uri="{FF2B5EF4-FFF2-40B4-BE49-F238E27FC236}">
                  <a16:creationId xmlns:a16="http://schemas.microsoft.com/office/drawing/2014/main" id="{703DBCA4-429A-9BD4-35FD-BA9A4E2B7CBE}"/>
                </a:ext>
              </a:extLst>
            </p:cNvPr>
            <p:cNvSpPr/>
            <p:nvPr/>
          </p:nvSpPr>
          <p:spPr>
            <a:xfrm>
              <a:off x="4968510" y="2832212"/>
              <a:ext cx="801111" cy="3317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2AFB8BC9-784C-43D9-BDF0-7F06AE0D49E6}"/>
                </a:ext>
              </a:extLst>
            </p:cNvPr>
            <p:cNvSpPr/>
            <p:nvPr/>
          </p:nvSpPr>
          <p:spPr>
            <a:xfrm>
              <a:off x="6398987" y="2832212"/>
              <a:ext cx="801111" cy="3317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id="{2835FAFB-A901-9F3C-4928-5C2D645CCE72}"/>
              </a:ext>
            </a:extLst>
          </p:cNvPr>
          <p:cNvGrpSpPr/>
          <p:nvPr/>
        </p:nvGrpSpPr>
        <p:grpSpPr>
          <a:xfrm>
            <a:off x="1409088" y="4184194"/>
            <a:ext cx="9373824" cy="2078787"/>
            <a:chOff x="1409088" y="4325612"/>
            <a:chExt cx="9373824" cy="2078787"/>
          </a:xfrm>
        </p:grpSpPr>
        <p:sp>
          <p:nvSpPr>
            <p:cNvPr id="13" name="TextBox 12">
              <a:extLst>
                <a:ext uri="{FF2B5EF4-FFF2-40B4-BE49-F238E27FC236}">
                  <a16:creationId xmlns:a16="http://schemas.microsoft.com/office/drawing/2014/main" id="{B9D14558-A2B4-DE87-F89D-6707C214B5A3}"/>
                </a:ext>
              </a:extLst>
            </p:cNvPr>
            <p:cNvSpPr txBox="1"/>
            <p:nvPr/>
          </p:nvSpPr>
          <p:spPr>
            <a:xfrm>
              <a:off x="1409088" y="4325612"/>
              <a:ext cx="9373824" cy="246221"/>
            </a:xfrm>
            <a:prstGeom prst="rect">
              <a:avLst/>
            </a:prstGeom>
            <a:noFill/>
            <a:ln>
              <a:solidFill>
                <a:schemeClr val="bg1">
                  <a:lumMod val="50000"/>
                </a:schemeClr>
              </a:solidFill>
            </a:ln>
          </p:spPr>
          <p:txBody>
            <a:bodyPr wrap="square">
              <a:spAutoFit/>
            </a:bodyPr>
            <a:lstStyle/>
            <a:p>
              <a:r>
                <a:rPr lang="en-US" altLang="ko-KR" sz="1000" b="1" dirty="0"/>
                <a:t>$ curl </a:t>
              </a:r>
              <a:r>
                <a:rPr lang="en-US" altLang="ko-KR" sz="1000" b="1" dirty="0">
                  <a:solidFill>
                    <a:srgbClr val="FF0000"/>
                  </a:solidFill>
                </a:rPr>
                <a:t>-X POST -d "Hey there! This greeting was submitted to kubia-0." </a:t>
              </a:r>
              <a:r>
                <a:rPr lang="en-US" altLang="ko-KR" sz="1000" b="1" dirty="0"/>
                <a:t>localhost:8001/</a:t>
              </a:r>
              <a:r>
                <a:rPr lang="en-US" altLang="ko-KR" sz="1000" b="1" dirty="0" err="1"/>
                <a:t>api</a:t>
              </a:r>
              <a:r>
                <a:rPr lang="en-US" altLang="ko-KR" sz="1000" b="1" dirty="0"/>
                <a:t>/v1/namespaces/default/pods/</a:t>
              </a:r>
              <a:r>
                <a:rPr lang="en-US" altLang="ko-KR" sz="1000" b="1" dirty="0">
                  <a:solidFill>
                    <a:srgbClr val="FF0000"/>
                  </a:solidFill>
                </a:rPr>
                <a:t>kubia-0</a:t>
              </a:r>
              <a:r>
                <a:rPr lang="en-US" altLang="ko-KR" sz="1000" b="1" dirty="0"/>
                <a:t>/proxy/</a:t>
              </a:r>
              <a:endParaRPr lang="ko-KR" altLang="en-US" sz="1000" b="1" dirty="0"/>
            </a:p>
          </p:txBody>
        </p:sp>
        <p:pic>
          <p:nvPicPr>
            <p:cNvPr id="15" name="그림 14">
              <a:extLst>
                <a:ext uri="{FF2B5EF4-FFF2-40B4-BE49-F238E27FC236}">
                  <a16:creationId xmlns:a16="http://schemas.microsoft.com/office/drawing/2014/main" id="{5A566987-298A-4C63-8D6A-BCC396F1F75C}"/>
                </a:ext>
              </a:extLst>
            </p:cNvPr>
            <p:cNvPicPr>
              <a:picLocks noChangeAspect="1"/>
            </p:cNvPicPr>
            <p:nvPr/>
          </p:nvPicPr>
          <p:blipFill>
            <a:blip r:embed="rId3"/>
            <a:stretch>
              <a:fillRect/>
            </a:stretch>
          </p:blipFill>
          <p:spPr>
            <a:xfrm>
              <a:off x="1409088" y="4920210"/>
              <a:ext cx="9373824" cy="1484189"/>
            </a:xfrm>
            <a:prstGeom prst="rect">
              <a:avLst/>
            </a:prstGeom>
          </p:spPr>
        </p:pic>
        <p:sp>
          <p:nvSpPr>
            <p:cNvPr id="16" name="화살표: 아래쪽 15">
              <a:extLst>
                <a:ext uri="{FF2B5EF4-FFF2-40B4-BE49-F238E27FC236}">
                  <a16:creationId xmlns:a16="http://schemas.microsoft.com/office/drawing/2014/main" id="{33BDE27D-570E-555C-721C-DC0CD7CAA63C}"/>
                </a:ext>
              </a:extLst>
            </p:cNvPr>
            <p:cNvSpPr/>
            <p:nvPr/>
          </p:nvSpPr>
          <p:spPr>
            <a:xfrm>
              <a:off x="5850994" y="4595175"/>
              <a:ext cx="490012" cy="3307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83297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(16/21)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Playing with Your Pods :</a:t>
            </a:r>
          </a:p>
          <a:p>
            <a:pPr lvl="1">
              <a:buFont typeface="Wingdings" panose="05000000000000000000" pitchFamily="2" charset="2"/>
              <a:buChar char="§"/>
            </a:pPr>
            <a:r>
              <a:rPr lang="en-US" altLang="ko-KR" sz="1400" dirty="0"/>
              <a:t>The data you sent should now be stored in that pod. Let’s see if it returns </a:t>
            </a:r>
            <a:r>
              <a:rPr lang="en-US" altLang="ko-KR" sz="1400" b="1" dirty="0"/>
              <a:t>the stored data when you perform a GET request again</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a:t>
            </a:r>
            <a:r>
              <a:rPr lang="en-US" altLang="ko-KR" sz="1400" b="1" dirty="0"/>
              <a:t>let’s see what the other cluster node (the “kubia-1” pod) says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90933F56-E86A-38A6-A4E5-BF995414A537}"/>
              </a:ext>
            </a:extLst>
          </p:cNvPr>
          <p:cNvGrpSpPr/>
          <p:nvPr/>
        </p:nvGrpSpPr>
        <p:grpSpPr>
          <a:xfrm>
            <a:off x="1226786" y="1609896"/>
            <a:ext cx="9738428" cy="2090469"/>
            <a:chOff x="1226786" y="1609896"/>
            <a:chExt cx="9738428" cy="2090469"/>
          </a:xfrm>
        </p:grpSpPr>
        <p:grpSp>
          <p:nvGrpSpPr>
            <p:cNvPr id="12" name="그룹 11">
              <a:extLst>
                <a:ext uri="{FF2B5EF4-FFF2-40B4-BE49-F238E27FC236}">
                  <a16:creationId xmlns:a16="http://schemas.microsoft.com/office/drawing/2014/main" id="{270EFF1D-9956-A97B-647B-583F1F5A2536}"/>
                </a:ext>
              </a:extLst>
            </p:cNvPr>
            <p:cNvGrpSpPr/>
            <p:nvPr/>
          </p:nvGrpSpPr>
          <p:grpSpPr>
            <a:xfrm>
              <a:off x="1226786" y="1609896"/>
              <a:ext cx="9738428" cy="2090469"/>
              <a:chOff x="1226786" y="1609896"/>
              <a:chExt cx="9738428" cy="2090469"/>
            </a:xfrm>
          </p:grpSpPr>
          <p:sp>
            <p:nvSpPr>
              <p:cNvPr id="8" name="TextBox 7">
                <a:extLst>
                  <a:ext uri="{FF2B5EF4-FFF2-40B4-BE49-F238E27FC236}">
                    <a16:creationId xmlns:a16="http://schemas.microsoft.com/office/drawing/2014/main" id="{D1FECB1C-7938-559F-F7D6-5FB02CD64C48}"/>
                  </a:ext>
                </a:extLst>
              </p:cNvPr>
              <p:cNvSpPr txBox="1"/>
              <p:nvPr/>
            </p:nvSpPr>
            <p:spPr>
              <a:xfrm>
                <a:off x="3047326" y="1609896"/>
                <a:ext cx="6097348" cy="246221"/>
              </a:xfrm>
              <a:prstGeom prst="rect">
                <a:avLst/>
              </a:prstGeom>
              <a:noFill/>
              <a:ln>
                <a:solidFill>
                  <a:schemeClr val="bg1">
                    <a:lumMod val="50000"/>
                  </a:schemeClr>
                </a:solidFill>
              </a:ln>
            </p:spPr>
            <p:txBody>
              <a:bodyPr wrap="square">
                <a:spAutoFit/>
              </a:bodyPr>
              <a:lstStyle/>
              <a:p>
                <a:r>
                  <a:rPr lang="en-US" altLang="ko-KR" sz="1000" b="1" dirty="0"/>
                  <a:t>$ curl localhost:8001/</a:t>
                </a:r>
                <a:r>
                  <a:rPr lang="en-US" altLang="ko-KR" sz="1000" b="1" dirty="0" err="1"/>
                  <a:t>api</a:t>
                </a:r>
                <a:r>
                  <a:rPr lang="en-US" altLang="ko-KR" sz="1000" b="1" dirty="0"/>
                  <a:t>/v1/namespaces/default/pods/kubia-0/proxy/</a:t>
                </a:r>
              </a:p>
            </p:txBody>
          </p:sp>
          <p:sp>
            <p:nvSpPr>
              <p:cNvPr id="9" name="화살표: 아래쪽 8">
                <a:extLst>
                  <a:ext uri="{FF2B5EF4-FFF2-40B4-BE49-F238E27FC236}">
                    <a16:creationId xmlns:a16="http://schemas.microsoft.com/office/drawing/2014/main" id="{B6A7CC1B-82E2-CFE7-F0F4-6E1A29FACF21}"/>
                  </a:ext>
                </a:extLst>
              </p:cNvPr>
              <p:cNvSpPr/>
              <p:nvPr/>
            </p:nvSpPr>
            <p:spPr>
              <a:xfrm>
                <a:off x="5865377" y="1866683"/>
                <a:ext cx="461246"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1" name="그림 10">
                <a:extLst>
                  <a:ext uri="{FF2B5EF4-FFF2-40B4-BE49-F238E27FC236}">
                    <a16:creationId xmlns:a16="http://schemas.microsoft.com/office/drawing/2014/main" id="{6646F57E-F66C-DC76-3A19-AB87B7062A7D}"/>
                  </a:ext>
                </a:extLst>
              </p:cNvPr>
              <p:cNvPicPr>
                <a:picLocks noChangeAspect="1"/>
              </p:cNvPicPr>
              <p:nvPr/>
            </p:nvPicPr>
            <p:blipFill>
              <a:blip r:embed="rId2"/>
              <a:stretch>
                <a:fillRect/>
              </a:stretch>
            </p:blipFill>
            <p:spPr>
              <a:xfrm>
                <a:off x="1226786" y="2158447"/>
                <a:ext cx="9738428" cy="1541918"/>
              </a:xfrm>
              <a:prstGeom prst="rect">
                <a:avLst/>
              </a:prstGeom>
            </p:spPr>
          </p:pic>
        </p:grpSp>
        <p:sp>
          <p:nvSpPr>
            <p:cNvPr id="13" name="직사각형 12">
              <a:extLst>
                <a:ext uri="{FF2B5EF4-FFF2-40B4-BE49-F238E27FC236}">
                  <a16:creationId xmlns:a16="http://schemas.microsoft.com/office/drawing/2014/main" id="{D7951EF7-1577-7837-4F7A-98876A7D0D1E}"/>
                </a:ext>
              </a:extLst>
            </p:cNvPr>
            <p:cNvSpPr/>
            <p:nvPr/>
          </p:nvSpPr>
          <p:spPr>
            <a:xfrm>
              <a:off x="1246173" y="2880765"/>
              <a:ext cx="5057523"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2" name="그룹 21">
            <a:extLst>
              <a:ext uri="{FF2B5EF4-FFF2-40B4-BE49-F238E27FC236}">
                <a16:creationId xmlns:a16="http://schemas.microsoft.com/office/drawing/2014/main" id="{46C683F5-ECD2-8229-5CDC-7F41DD75F731}"/>
              </a:ext>
            </a:extLst>
          </p:cNvPr>
          <p:cNvGrpSpPr/>
          <p:nvPr/>
        </p:nvGrpSpPr>
        <p:grpSpPr>
          <a:xfrm>
            <a:off x="1226786" y="4292765"/>
            <a:ext cx="9738428" cy="2090469"/>
            <a:chOff x="1226786" y="4292765"/>
            <a:chExt cx="9738428" cy="2090469"/>
          </a:xfrm>
        </p:grpSpPr>
        <p:grpSp>
          <p:nvGrpSpPr>
            <p:cNvPr id="20" name="그룹 19">
              <a:extLst>
                <a:ext uri="{FF2B5EF4-FFF2-40B4-BE49-F238E27FC236}">
                  <a16:creationId xmlns:a16="http://schemas.microsoft.com/office/drawing/2014/main" id="{51EB2E94-B058-7623-C0A2-05B48AA42966}"/>
                </a:ext>
              </a:extLst>
            </p:cNvPr>
            <p:cNvGrpSpPr/>
            <p:nvPr/>
          </p:nvGrpSpPr>
          <p:grpSpPr>
            <a:xfrm>
              <a:off x="1226786" y="4292765"/>
              <a:ext cx="9738428" cy="2090469"/>
              <a:chOff x="1226786" y="4265881"/>
              <a:chExt cx="9738428" cy="2090469"/>
            </a:xfrm>
          </p:grpSpPr>
          <p:sp>
            <p:nvSpPr>
              <p:cNvPr id="16" name="TextBox 15">
                <a:extLst>
                  <a:ext uri="{FF2B5EF4-FFF2-40B4-BE49-F238E27FC236}">
                    <a16:creationId xmlns:a16="http://schemas.microsoft.com/office/drawing/2014/main" id="{1087868C-610F-F2C6-0CD8-278E4F02B746}"/>
                  </a:ext>
                </a:extLst>
              </p:cNvPr>
              <p:cNvSpPr txBox="1"/>
              <p:nvPr/>
            </p:nvSpPr>
            <p:spPr>
              <a:xfrm>
                <a:off x="3047326" y="4265881"/>
                <a:ext cx="6097348" cy="246221"/>
              </a:xfrm>
              <a:prstGeom prst="rect">
                <a:avLst/>
              </a:prstGeom>
              <a:noFill/>
              <a:ln>
                <a:solidFill>
                  <a:schemeClr val="bg1">
                    <a:lumMod val="50000"/>
                  </a:schemeClr>
                </a:solidFill>
              </a:ln>
            </p:spPr>
            <p:txBody>
              <a:bodyPr wrap="square">
                <a:spAutoFit/>
              </a:bodyPr>
              <a:lstStyle/>
              <a:p>
                <a:r>
                  <a:rPr lang="en-US" altLang="ko-KR" sz="1000" b="1" dirty="0"/>
                  <a:t>$ curl localhost:8001/</a:t>
                </a:r>
                <a:r>
                  <a:rPr lang="en-US" altLang="ko-KR" sz="1000" b="1" dirty="0" err="1"/>
                  <a:t>api</a:t>
                </a:r>
                <a:r>
                  <a:rPr lang="en-US" altLang="ko-KR" sz="1000" b="1" dirty="0"/>
                  <a:t>/v1/namespaces/default/pods/</a:t>
                </a:r>
                <a:r>
                  <a:rPr lang="en-US" altLang="ko-KR" sz="1000" b="1" dirty="0">
                    <a:solidFill>
                      <a:srgbClr val="FF0000"/>
                    </a:solidFill>
                  </a:rPr>
                  <a:t>kubia-1</a:t>
                </a:r>
                <a:r>
                  <a:rPr lang="en-US" altLang="ko-KR" sz="1000" b="1" dirty="0"/>
                  <a:t>/proxy/</a:t>
                </a:r>
              </a:p>
            </p:txBody>
          </p:sp>
          <p:sp>
            <p:nvSpPr>
              <p:cNvPr id="17" name="화살표: 아래쪽 16">
                <a:extLst>
                  <a:ext uri="{FF2B5EF4-FFF2-40B4-BE49-F238E27FC236}">
                    <a16:creationId xmlns:a16="http://schemas.microsoft.com/office/drawing/2014/main" id="{3E416625-F2AF-1694-1376-7400C760A68C}"/>
                  </a:ext>
                </a:extLst>
              </p:cNvPr>
              <p:cNvSpPr/>
              <p:nvPr/>
            </p:nvSpPr>
            <p:spPr>
              <a:xfrm>
                <a:off x="5865377" y="4524871"/>
                <a:ext cx="461246"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9" name="그림 18">
                <a:extLst>
                  <a:ext uri="{FF2B5EF4-FFF2-40B4-BE49-F238E27FC236}">
                    <a16:creationId xmlns:a16="http://schemas.microsoft.com/office/drawing/2014/main" id="{9522D39A-C9EC-E393-0E64-B0853F564B60}"/>
                  </a:ext>
                </a:extLst>
              </p:cNvPr>
              <p:cNvPicPr>
                <a:picLocks noChangeAspect="1"/>
              </p:cNvPicPr>
              <p:nvPr/>
            </p:nvPicPr>
            <p:blipFill>
              <a:blip r:embed="rId3"/>
              <a:stretch>
                <a:fillRect/>
              </a:stretch>
            </p:blipFill>
            <p:spPr>
              <a:xfrm>
                <a:off x="1226786" y="4814432"/>
                <a:ext cx="9738428" cy="1541918"/>
              </a:xfrm>
              <a:prstGeom prst="rect">
                <a:avLst/>
              </a:prstGeom>
            </p:spPr>
          </p:pic>
        </p:grpSp>
        <p:sp>
          <p:nvSpPr>
            <p:cNvPr id="21" name="직사각형 20">
              <a:extLst>
                <a:ext uri="{FF2B5EF4-FFF2-40B4-BE49-F238E27FC236}">
                  <a16:creationId xmlns:a16="http://schemas.microsoft.com/office/drawing/2014/main" id="{64BF3A47-30D6-0907-BC73-19FE1C3DE275}"/>
                </a:ext>
              </a:extLst>
            </p:cNvPr>
            <p:cNvSpPr/>
            <p:nvPr/>
          </p:nvSpPr>
          <p:spPr>
            <a:xfrm>
              <a:off x="1246173" y="5571815"/>
              <a:ext cx="3026422" cy="1654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287029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(17/21)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Playing with Your Pods :</a:t>
            </a:r>
          </a:p>
          <a:p>
            <a:pPr lvl="1">
              <a:buFont typeface="Wingdings" panose="05000000000000000000" pitchFamily="2" charset="2"/>
              <a:buChar char="§"/>
            </a:pPr>
            <a:r>
              <a:rPr lang="en-US" altLang="ko-KR" sz="1400" dirty="0"/>
              <a:t>You’re going to </a:t>
            </a:r>
            <a:r>
              <a:rPr lang="en-US" altLang="ko-KR" sz="1400" b="1" dirty="0"/>
              <a:t>delete the “kubia-0” pod </a:t>
            </a:r>
            <a:r>
              <a:rPr lang="en-US" altLang="ko-KR" sz="1400" dirty="0"/>
              <a:t>and </a:t>
            </a:r>
            <a:r>
              <a:rPr lang="en-US" altLang="ko-KR" sz="1400" b="1" dirty="0"/>
              <a:t>wait for it to be rescheduled</a:t>
            </a:r>
            <a:r>
              <a:rPr lang="en-US" altLang="ko-KR" sz="1400" dirty="0"/>
              <a:t>. Then you’ll see if it’s still serving the same data as before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list the pods, you’ll see that the pod is terminating(or running already but the “</a:t>
            </a:r>
            <a:r>
              <a:rPr lang="en-US" altLang="ko-KR" sz="1400" b="1" dirty="0"/>
              <a:t>AGE</a:t>
            </a:r>
            <a:r>
              <a:rPr lang="en-US" altLang="ko-KR" sz="1400" dirty="0"/>
              <a:t>” is different. </a:t>
            </a:r>
            <a:r>
              <a:rPr lang="en-US" altLang="ko-KR" sz="1400" b="1" dirty="0"/>
              <a:t>As soon as it terminates successfully, </a:t>
            </a:r>
            <a:r>
              <a:rPr lang="en-US" altLang="ko-KR" sz="1400" b="1" dirty="0">
                <a:solidFill>
                  <a:srgbClr val="FF0000"/>
                </a:solidFill>
              </a:rPr>
              <a:t>a new pod with the same name is created by the </a:t>
            </a:r>
            <a:r>
              <a:rPr lang="en-US" altLang="ko-KR" sz="1400" b="1" dirty="0" err="1">
                <a:solidFill>
                  <a:srgbClr val="FF0000"/>
                </a:solidFill>
              </a:rPr>
              <a:t>StatefulSet</a:t>
            </a:r>
            <a:r>
              <a:rPr lang="en-US" altLang="ko-KR" sz="1400" dirty="0"/>
              <a:t>.</a:t>
            </a:r>
          </a:p>
          <a:p>
            <a:pPr lvl="1">
              <a:buFont typeface="Wingdings" panose="05000000000000000000" pitchFamily="2" charset="2"/>
              <a:buChar char="§"/>
            </a:pPr>
            <a:r>
              <a:rPr lang="en-US" altLang="ko-KR" sz="1400" b="1" dirty="0"/>
              <a:t>NOTE : Let me remind you again that this new pod may be scheduled to any node in the cluster</a:t>
            </a:r>
            <a:r>
              <a:rPr lang="en-US" altLang="ko-KR" sz="1400" dirty="0"/>
              <a:t>, </a:t>
            </a:r>
            <a:r>
              <a:rPr lang="en-US" altLang="ko-KR" sz="1400" b="1" dirty="0"/>
              <a:t>not necessarily the same node that the old pod was scheduled to</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51335E7B-1A61-C7B5-1458-198252F6C8FB}"/>
              </a:ext>
            </a:extLst>
          </p:cNvPr>
          <p:cNvGrpSpPr/>
          <p:nvPr/>
        </p:nvGrpSpPr>
        <p:grpSpPr>
          <a:xfrm>
            <a:off x="1230326" y="1943539"/>
            <a:ext cx="9731347" cy="2210538"/>
            <a:chOff x="1230326" y="1668410"/>
            <a:chExt cx="9731347" cy="2210538"/>
          </a:xfrm>
        </p:grpSpPr>
        <p:sp>
          <p:nvSpPr>
            <p:cNvPr id="8" name="TextBox 7">
              <a:extLst>
                <a:ext uri="{FF2B5EF4-FFF2-40B4-BE49-F238E27FC236}">
                  <a16:creationId xmlns:a16="http://schemas.microsoft.com/office/drawing/2014/main" id="{3DA7DEDC-4EFE-D42B-3450-E74FDB801264}"/>
                </a:ext>
              </a:extLst>
            </p:cNvPr>
            <p:cNvSpPr txBox="1"/>
            <p:nvPr/>
          </p:nvSpPr>
          <p:spPr>
            <a:xfrm>
              <a:off x="3047326" y="166841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pod </a:t>
              </a:r>
              <a:r>
                <a:rPr lang="en-US" altLang="ko-KR" sz="1000" b="1" dirty="0">
                  <a:solidFill>
                    <a:srgbClr val="FF0000"/>
                  </a:solidFill>
                </a:rPr>
                <a:t>kubia-0</a:t>
              </a:r>
            </a:p>
          </p:txBody>
        </p:sp>
        <p:sp>
          <p:nvSpPr>
            <p:cNvPr id="9" name="화살표: 아래쪽 8">
              <a:extLst>
                <a:ext uri="{FF2B5EF4-FFF2-40B4-BE49-F238E27FC236}">
                  <a16:creationId xmlns:a16="http://schemas.microsoft.com/office/drawing/2014/main" id="{B9D6FAB6-35F1-E41A-3356-02F59E634F68}"/>
                </a:ext>
              </a:extLst>
            </p:cNvPr>
            <p:cNvSpPr/>
            <p:nvPr/>
          </p:nvSpPr>
          <p:spPr>
            <a:xfrm>
              <a:off x="5853239" y="1925197"/>
              <a:ext cx="485522"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72DA8BE6-DDE0-6AE8-8E41-BCE4564442B8}"/>
                </a:ext>
              </a:extLst>
            </p:cNvPr>
            <p:cNvPicPr>
              <a:picLocks noChangeAspect="1"/>
            </p:cNvPicPr>
            <p:nvPr/>
          </p:nvPicPr>
          <p:blipFill>
            <a:blip r:embed="rId2"/>
            <a:stretch>
              <a:fillRect/>
            </a:stretch>
          </p:blipFill>
          <p:spPr>
            <a:xfrm>
              <a:off x="1230326" y="2216510"/>
              <a:ext cx="9731347" cy="1662438"/>
            </a:xfrm>
            <a:prstGeom prst="rect">
              <a:avLst/>
            </a:prstGeom>
          </p:spPr>
        </p:pic>
        <p:sp>
          <p:nvSpPr>
            <p:cNvPr id="12" name="직사각형 11">
              <a:extLst>
                <a:ext uri="{FF2B5EF4-FFF2-40B4-BE49-F238E27FC236}">
                  <a16:creationId xmlns:a16="http://schemas.microsoft.com/office/drawing/2014/main" id="{8152FB30-F3C1-7FF8-8135-12AF8EAED55A}"/>
                </a:ext>
              </a:extLst>
            </p:cNvPr>
            <p:cNvSpPr/>
            <p:nvPr/>
          </p:nvSpPr>
          <p:spPr>
            <a:xfrm>
              <a:off x="5373112" y="2629912"/>
              <a:ext cx="1772155"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직사각형 13">
            <a:extLst>
              <a:ext uri="{FF2B5EF4-FFF2-40B4-BE49-F238E27FC236}">
                <a16:creationId xmlns:a16="http://schemas.microsoft.com/office/drawing/2014/main" id="{872A3952-CA99-8B49-4282-8342DCF268E1}"/>
              </a:ext>
            </a:extLst>
          </p:cNvPr>
          <p:cNvSpPr/>
          <p:nvPr/>
        </p:nvSpPr>
        <p:spPr>
          <a:xfrm>
            <a:off x="1310910" y="3221308"/>
            <a:ext cx="2840304" cy="1516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4240653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(18/21)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Playing with Your Pods :</a:t>
            </a:r>
          </a:p>
          <a:p>
            <a:pPr lvl="1">
              <a:buFont typeface="Wingdings" panose="05000000000000000000" pitchFamily="2" charset="2"/>
              <a:buChar char="§"/>
            </a:pPr>
            <a:r>
              <a:rPr lang="en-US" altLang="ko-KR" sz="1400" b="1" dirty="0"/>
              <a:t>The old pod’s whole identity (the name, hostname, and the storage) is effectively moved to the new node </a:t>
            </a:r>
            <a:r>
              <a:rPr lang="en-US" altLang="ko-KR" sz="1400" dirty="0"/>
              <a:t>(as shown in the following figure). If you’re using </a:t>
            </a:r>
            <a:r>
              <a:rPr lang="en-US" altLang="ko-KR" sz="1400" b="1" dirty="0" err="1"/>
              <a:t>Minikube</a:t>
            </a:r>
            <a:r>
              <a:rPr lang="en-US" altLang="ko-KR" sz="1400" dirty="0"/>
              <a:t>, you can’t see this because </a:t>
            </a:r>
            <a:r>
              <a:rPr lang="en-US" altLang="ko-KR" sz="1400" b="1" dirty="0" err="1"/>
              <a:t>Minikube</a:t>
            </a:r>
            <a:r>
              <a:rPr lang="en-US" altLang="ko-KR" sz="1400" b="1" dirty="0"/>
              <a:t> only runs a single node</a:t>
            </a:r>
            <a:r>
              <a:rPr lang="en-US" altLang="ko-KR" sz="1400" dirty="0"/>
              <a:t>, but in a multi-node cluster, you may see the pod scheduled to a different node than before.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4B7FE1B-A7A1-BE4B-1B78-081F211E43F9}"/>
              </a:ext>
            </a:extLst>
          </p:cNvPr>
          <p:cNvGrpSpPr/>
          <p:nvPr/>
        </p:nvGrpSpPr>
        <p:grpSpPr>
          <a:xfrm>
            <a:off x="3133725" y="2076450"/>
            <a:ext cx="5924550" cy="2705100"/>
            <a:chOff x="3133725" y="2076450"/>
            <a:chExt cx="5924550" cy="2705100"/>
          </a:xfrm>
        </p:grpSpPr>
        <p:pic>
          <p:nvPicPr>
            <p:cNvPr id="8" name="그림 7">
              <a:extLst>
                <a:ext uri="{FF2B5EF4-FFF2-40B4-BE49-F238E27FC236}">
                  <a16:creationId xmlns:a16="http://schemas.microsoft.com/office/drawing/2014/main" id="{91BECAD8-726F-EC76-D425-1F219412020E}"/>
                </a:ext>
              </a:extLst>
            </p:cNvPr>
            <p:cNvPicPr>
              <a:picLocks noChangeAspect="1"/>
            </p:cNvPicPr>
            <p:nvPr/>
          </p:nvPicPr>
          <p:blipFill>
            <a:blip r:embed="rId2"/>
            <a:stretch>
              <a:fillRect/>
            </a:stretch>
          </p:blipFill>
          <p:spPr>
            <a:xfrm>
              <a:off x="3133725" y="2076450"/>
              <a:ext cx="5924550" cy="2705100"/>
            </a:xfrm>
            <a:prstGeom prst="rect">
              <a:avLst/>
            </a:prstGeom>
          </p:spPr>
        </p:pic>
        <p:sp>
          <p:nvSpPr>
            <p:cNvPr id="9" name="직사각형 8">
              <a:extLst>
                <a:ext uri="{FF2B5EF4-FFF2-40B4-BE49-F238E27FC236}">
                  <a16:creationId xmlns:a16="http://schemas.microsoft.com/office/drawing/2014/main" id="{98410FEE-2548-B046-8811-A2FBF7C720B4}"/>
                </a:ext>
              </a:extLst>
            </p:cNvPr>
            <p:cNvSpPr/>
            <p:nvPr/>
          </p:nvSpPr>
          <p:spPr>
            <a:xfrm>
              <a:off x="7088623" y="3673784"/>
              <a:ext cx="987228" cy="979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84573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(19/21)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Playing with Your Pods :</a:t>
            </a:r>
          </a:p>
          <a:p>
            <a:pPr lvl="1">
              <a:buFont typeface="Wingdings" panose="05000000000000000000" pitchFamily="2" charset="2"/>
              <a:buChar char="§"/>
            </a:pPr>
            <a:r>
              <a:rPr lang="en-US" altLang="ko-KR" sz="1400" dirty="0"/>
              <a:t>With the new pod now running, </a:t>
            </a:r>
            <a:r>
              <a:rPr lang="en-US" altLang="ko-KR" sz="1400" b="1" dirty="0"/>
              <a:t>let’s check to see if it has the exact same identity as in its previous incarnation</a:t>
            </a:r>
            <a:r>
              <a:rPr lang="en-US" altLang="ko-KR" sz="1400" dirty="0"/>
              <a:t>. The </a:t>
            </a:r>
            <a:r>
              <a:rPr lang="en-US" altLang="ko-KR" sz="1400" b="1" dirty="0"/>
              <a:t>pod’s name </a:t>
            </a:r>
            <a:r>
              <a:rPr lang="en-US" altLang="ko-KR" sz="1400" dirty="0"/>
              <a:t>is the same, but what about </a:t>
            </a:r>
            <a:r>
              <a:rPr lang="en-US" altLang="ko-KR" sz="1400" b="1" dirty="0"/>
              <a:t>the hostname </a:t>
            </a:r>
            <a:r>
              <a:rPr lang="en-US" altLang="ko-KR" sz="1400" dirty="0"/>
              <a:t>and </a:t>
            </a:r>
            <a:r>
              <a:rPr lang="en-US" altLang="ko-KR" sz="1400" b="1" dirty="0"/>
              <a:t>persistent data</a:t>
            </a:r>
            <a:r>
              <a:rPr lang="en-US" altLang="ko-KR" sz="1400" dirty="0"/>
              <a:t>? You can ask the pod itself to confirm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pod’s response shows that both the hostname and the data are the same as before</a:t>
            </a:r>
            <a:r>
              <a:rPr lang="en-US" altLang="ko-KR" sz="1400" dirty="0"/>
              <a:t>, confirming that </a:t>
            </a:r>
            <a:r>
              <a:rPr lang="en-US" altLang="ko-KR" sz="1400" b="1" dirty="0"/>
              <a:t>a </a:t>
            </a:r>
            <a:r>
              <a:rPr lang="en-US" altLang="ko-KR" sz="1400" b="1" dirty="0" err="1">
                <a:solidFill>
                  <a:srgbClr val="FF0000"/>
                </a:solidFill>
              </a:rPr>
              <a:t>StatefulSet</a:t>
            </a:r>
            <a:r>
              <a:rPr lang="en-US" altLang="ko-KR" sz="1400" b="1" dirty="0">
                <a:solidFill>
                  <a:srgbClr val="FF0000"/>
                </a:solidFill>
              </a:rPr>
              <a:t> always replaces a deleted pod with what’s effectively the exact same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EDD47DDD-A21A-A925-F3B6-29DC12431412}"/>
              </a:ext>
            </a:extLst>
          </p:cNvPr>
          <p:cNvGrpSpPr/>
          <p:nvPr/>
        </p:nvGrpSpPr>
        <p:grpSpPr>
          <a:xfrm>
            <a:off x="1011841" y="1983007"/>
            <a:ext cx="10168317" cy="2131334"/>
            <a:chOff x="1011841" y="1828381"/>
            <a:chExt cx="10168317" cy="2131334"/>
          </a:xfrm>
        </p:grpSpPr>
        <p:sp>
          <p:nvSpPr>
            <p:cNvPr id="8" name="TextBox 7">
              <a:extLst>
                <a:ext uri="{FF2B5EF4-FFF2-40B4-BE49-F238E27FC236}">
                  <a16:creationId xmlns:a16="http://schemas.microsoft.com/office/drawing/2014/main" id="{9D0ADE2B-5A2A-79F7-C7B5-BF29217DC84B}"/>
                </a:ext>
              </a:extLst>
            </p:cNvPr>
            <p:cNvSpPr txBox="1"/>
            <p:nvPr/>
          </p:nvSpPr>
          <p:spPr>
            <a:xfrm>
              <a:off x="3047326" y="1828381"/>
              <a:ext cx="6097348" cy="246221"/>
            </a:xfrm>
            <a:prstGeom prst="rect">
              <a:avLst/>
            </a:prstGeom>
            <a:noFill/>
            <a:ln>
              <a:solidFill>
                <a:schemeClr val="bg1">
                  <a:lumMod val="50000"/>
                </a:schemeClr>
              </a:solidFill>
            </a:ln>
          </p:spPr>
          <p:txBody>
            <a:bodyPr wrap="square">
              <a:spAutoFit/>
            </a:bodyPr>
            <a:lstStyle/>
            <a:p>
              <a:r>
                <a:rPr lang="en-US" altLang="ko-KR" sz="1000" b="1" dirty="0"/>
                <a:t>$ curl localhost:8001/</a:t>
              </a:r>
              <a:r>
                <a:rPr lang="en-US" altLang="ko-KR" sz="1000" b="1" dirty="0" err="1"/>
                <a:t>api</a:t>
              </a:r>
              <a:r>
                <a:rPr lang="en-US" altLang="ko-KR" sz="1000" b="1" dirty="0"/>
                <a:t>/v1/namespaces/default/pods/</a:t>
              </a:r>
              <a:r>
                <a:rPr lang="en-US" altLang="ko-KR" sz="1000" b="1" dirty="0">
                  <a:solidFill>
                    <a:srgbClr val="FF0000"/>
                  </a:solidFill>
                </a:rPr>
                <a:t>kubia-0</a:t>
              </a:r>
              <a:r>
                <a:rPr lang="en-US" altLang="ko-KR" sz="1000" b="1" dirty="0"/>
                <a:t>/proxy/</a:t>
              </a:r>
              <a:endParaRPr lang="ko-KR" altLang="en-US" sz="1000" b="1" dirty="0"/>
            </a:p>
          </p:txBody>
        </p:sp>
        <p:sp>
          <p:nvSpPr>
            <p:cNvPr id="9" name="화살표: 아래쪽 8">
              <a:extLst>
                <a:ext uri="{FF2B5EF4-FFF2-40B4-BE49-F238E27FC236}">
                  <a16:creationId xmlns:a16="http://schemas.microsoft.com/office/drawing/2014/main" id="{CE3F5401-359C-DE39-4F5E-E6C8F7094CDD}"/>
                </a:ext>
              </a:extLst>
            </p:cNvPr>
            <p:cNvSpPr/>
            <p:nvPr/>
          </p:nvSpPr>
          <p:spPr>
            <a:xfrm>
              <a:off x="5861331" y="2074602"/>
              <a:ext cx="469338" cy="27512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8E85FFA9-57BC-343A-BBC3-C8D2D9DF22AF}"/>
                </a:ext>
              </a:extLst>
            </p:cNvPr>
            <p:cNvPicPr>
              <a:picLocks noChangeAspect="1"/>
            </p:cNvPicPr>
            <p:nvPr/>
          </p:nvPicPr>
          <p:blipFill>
            <a:blip r:embed="rId2"/>
            <a:stretch>
              <a:fillRect/>
            </a:stretch>
          </p:blipFill>
          <p:spPr>
            <a:xfrm>
              <a:off x="1011841" y="2349731"/>
              <a:ext cx="10168317" cy="1609984"/>
            </a:xfrm>
            <a:prstGeom prst="rect">
              <a:avLst/>
            </a:prstGeom>
          </p:spPr>
        </p:pic>
      </p:grpSp>
    </p:spTree>
    <p:extLst>
      <p:ext uri="{BB962C8B-B14F-4D97-AF65-F5344CB8AC3E}">
        <p14:creationId xmlns:p14="http://schemas.microsoft.com/office/powerpoint/2010/main" val="3783084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(20/21)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Playing with Your Pods :</a:t>
            </a:r>
          </a:p>
          <a:p>
            <a:pPr lvl="1">
              <a:buFont typeface="Wingdings" panose="05000000000000000000" pitchFamily="2" charset="2"/>
              <a:buChar char="§"/>
            </a:pPr>
            <a:r>
              <a:rPr lang="en-US" altLang="ko-KR" sz="1400" b="1" dirty="0"/>
              <a:t>Scaling down a </a:t>
            </a:r>
            <a:r>
              <a:rPr lang="en-US" altLang="ko-KR" sz="1400" b="1" dirty="0" err="1"/>
              <a:t>StatefulSet</a:t>
            </a:r>
            <a:r>
              <a:rPr lang="en-US" altLang="ko-KR" sz="1400" b="1" dirty="0"/>
              <a:t> and scaling it back up after an extended time period should be no different than deleting a pod and having the </a:t>
            </a:r>
            <a:r>
              <a:rPr lang="en-US" altLang="ko-KR" sz="1400" b="1" dirty="0" err="1"/>
              <a:t>StatefulSet</a:t>
            </a:r>
            <a:r>
              <a:rPr lang="en-US" altLang="ko-KR" sz="1400" b="1" dirty="0"/>
              <a:t> recreate it immediately</a:t>
            </a:r>
            <a:r>
              <a:rPr lang="en-US" altLang="ko-KR" sz="1400" dirty="0"/>
              <a:t>. </a:t>
            </a:r>
            <a:r>
              <a:rPr lang="en-US" altLang="ko-KR" sz="1400" b="1" dirty="0"/>
              <a:t>Remember that </a:t>
            </a:r>
            <a:r>
              <a:rPr lang="en-US" altLang="ko-KR" sz="1400" b="1" dirty="0">
                <a:solidFill>
                  <a:srgbClr val="FF0000"/>
                </a:solidFill>
              </a:rPr>
              <a:t>scaling down a </a:t>
            </a:r>
            <a:r>
              <a:rPr lang="en-US" altLang="ko-KR" sz="1400" b="1" dirty="0" err="1">
                <a:solidFill>
                  <a:srgbClr val="FF0000"/>
                </a:solidFill>
              </a:rPr>
              <a:t>StatefulSet</a:t>
            </a:r>
            <a:r>
              <a:rPr lang="en-US" altLang="ko-KR" sz="1400" b="1" dirty="0">
                <a:solidFill>
                  <a:srgbClr val="FF0000"/>
                </a:solidFill>
              </a:rPr>
              <a:t> only deletes the pods, but leaves the </a:t>
            </a:r>
            <a:r>
              <a:rPr lang="en-US" altLang="ko-KR" sz="1400" b="1" dirty="0" err="1">
                <a:solidFill>
                  <a:srgbClr val="FF0000"/>
                </a:solidFill>
              </a:rPr>
              <a:t>PersistentVolumeClaims</a:t>
            </a:r>
            <a:r>
              <a:rPr lang="en-US" altLang="ko-KR" sz="1400" b="1" dirty="0">
                <a:solidFill>
                  <a:srgbClr val="FF0000"/>
                </a:solidFill>
              </a:rPr>
              <a:t> untouched</a:t>
            </a:r>
            <a:r>
              <a:rPr lang="en-US" altLang="ko-KR" sz="1400" dirty="0"/>
              <a:t>.</a:t>
            </a:r>
          </a:p>
          <a:p>
            <a:pPr lvl="1">
              <a:buFont typeface="Wingdings" panose="05000000000000000000" pitchFamily="2" charset="2"/>
              <a:buChar char="§"/>
            </a:pPr>
            <a:r>
              <a:rPr lang="en-US" altLang="ko-KR" sz="1400" b="1" dirty="0"/>
              <a:t>The key thing to remember is that </a:t>
            </a:r>
            <a:r>
              <a:rPr lang="en-US" altLang="ko-KR" sz="1400" b="1" dirty="0">
                <a:solidFill>
                  <a:srgbClr val="FF0000"/>
                </a:solidFill>
              </a:rPr>
              <a:t>scaling down (and up) is performed gradually</a:t>
            </a:r>
            <a:r>
              <a:rPr lang="en-US" altLang="ko-KR" sz="1400" b="1" dirty="0"/>
              <a:t>—similar to how individual pods are created when the </a:t>
            </a:r>
            <a:r>
              <a:rPr lang="en-US" altLang="ko-KR" sz="1400" b="1" dirty="0" err="1"/>
              <a:t>StatefulSet</a:t>
            </a:r>
            <a:r>
              <a:rPr lang="en-US" altLang="ko-KR" sz="1400" b="1" dirty="0"/>
              <a:t> is created initially</a:t>
            </a:r>
            <a:r>
              <a:rPr lang="en-US" altLang="ko-KR" sz="1400" dirty="0"/>
              <a:t>. </a:t>
            </a:r>
            <a:r>
              <a:rPr lang="en-US" altLang="ko-KR" sz="1400" b="1" dirty="0"/>
              <a:t>When scaling down by more than one instance, the pod with the highest ordinal number is deleted first</a:t>
            </a:r>
            <a:r>
              <a:rPr lang="en-US" altLang="ko-KR" sz="1400" dirty="0"/>
              <a:t>. </a:t>
            </a:r>
            <a:r>
              <a:rPr lang="en-US" altLang="ko-KR" sz="1400" b="1" dirty="0"/>
              <a:t>Only after the pod terminates completely is the pod with the second highest ordinal number deleted</a:t>
            </a:r>
            <a:r>
              <a:rPr lang="en-US" altLang="ko-KR" sz="1400" dirty="0"/>
              <a:t>.</a:t>
            </a:r>
          </a:p>
          <a:p>
            <a:pPr lvl="1">
              <a:buFont typeface="Wingdings" panose="05000000000000000000" pitchFamily="2" charset="2"/>
              <a:buChar char="§"/>
            </a:pPr>
            <a:r>
              <a:rPr lang="en-US" altLang="ko-KR" sz="1400" dirty="0"/>
              <a:t>Before you move on, you’re going to add a proper, </a:t>
            </a:r>
            <a:r>
              <a:rPr lang="en-US" altLang="ko-KR" sz="1400" b="1" dirty="0"/>
              <a:t>non-headless Service </a:t>
            </a:r>
            <a:r>
              <a:rPr lang="en-US" altLang="ko-KR" sz="1400" dirty="0"/>
              <a:t>in front of your pods, because </a:t>
            </a:r>
            <a:r>
              <a:rPr lang="en-US" altLang="ko-KR" sz="1400" b="1" dirty="0"/>
              <a:t>clients usually connect to the pods through a Service rather than connecting directly</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Because this isn’t an externally exposed Service (it’s a regular </a:t>
            </a:r>
            <a:r>
              <a:rPr lang="en-US" altLang="ko-KR" sz="1400" b="1" dirty="0" err="1"/>
              <a:t>ClusterIP</a:t>
            </a:r>
            <a:r>
              <a:rPr lang="en-US" altLang="ko-KR" sz="1400" b="1" dirty="0"/>
              <a:t> Service, not a </a:t>
            </a:r>
            <a:r>
              <a:rPr lang="en-US" altLang="ko-KR" sz="1400" b="1" dirty="0" err="1"/>
              <a:t>NodePort</a:t>
            </a:r>
            <a:r>
              <a:rPr lang="en-US" altLang="ko-KR" sz="1400" b="1" dirty="0"/>
              <a:t> or a </a:t>
            </a:r>
            <a:r>
              <a:rPr lang="en-US" altLang="ko-KR" sz="1400" b="1" dirty="0" err="1"/>
              <a:t>LoadBalancer</a:t>
            </a:r>
            <a:r>
              <a:rPr lang="en-US" altLang="ko-KR" sz="1400" b="1" dirty="0"/>
              <a:t>-type Service), you can only access it from inside the cluster</a:t>
            </a:r>
            <a:r>
              <a:rPr lang="en-US" altLang="ko-KR" sz="1400" dirty="0"/>
              <a:t>. You’ll need a pod to access it from, right? Not necessarily.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352A20FF-0B1C-28B7-867B-FD1944E93AC4}"/>
              </a:ext>
            </a:extLst>
          </p:cNvPr>
          <p:cNvGrpSpPr/>
          <p:nvPr/>
        </p:nvGrpSpPr>
        <p:grpSpPr>
          <a:xfrm>
            <a:off x="3047326" y="3307620"/>
            <a:ext cx="6097348" cy="1631216"/>
            <a:chOff x="3047326" y="3429000"/>
            <a:chExt cx="6097348" cy="1631216"/>
          </a:xfrm>
        </p:grpSpPr>
        <p:sp>
          <p:nvSpPr>
            <p:cNvPr id="8" name="TextBox 7">
              <a:extLst>
                <a:ext uri="{FF2B5EF4-FFF2-40B4-BE49-F238E27FC236}">
                  <a16:creationId xmlns:a16="http://schemas.microsoft.com/office/drawing/2014/main" id="{71488DBB-57DE-E68D-8BAB-404F227B2574}"/>
                </a:ext>
              </a:extLst>
            </p:cNvPr>
            <p:cNvSpPr txBox="1"/>
            <p:nvPr/>
          </p:nvSpPr>
          <p:spPr>
            <a:xfrm>
              <a:off x="3047326" y="3429000"/>
              <a:ext cx="6097348"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err="1">
                  <a:solidFill>
                    <a:srgbClr val="FF0000"/>
                  </a:solidFill>
                </a:rPr>
                <a:t>kubia</a:t>
              </a:r>
              <a:r>
                <a:rPr lang="en-US" altLang="ko-KR" sz="1000" b="1" dirty="0">
                  <a:solidFill>
                    <a:srgbClr val="FF0000"/>
                  </a:solidFill>
                </a:rPr>
                <a:t>-public</a:t>
              </a:r>
            </a:p>
            <a:p>
              <a:r>
                <a:rPr lang="en-US" altLang="ko-KR" sz="1000" b="1" dirty="0"/>
                <a:t>spec:</a:t>
              </a:r>
            </a:p>
            <a:p>
              <a:r>
                <a:rPr lang="en-US" altLang="ko-KR" sz="1000" b="1" dirty="0"/>
                <a:t>  selector:</a:t>
              </a:r>
            </a:p>
            <a:p>
              <a:r>
                <a:rPr lang="en-US" altLang="ko-KR" sz="1000" b="1" dirty="0"/>
                <a:t>    app: </a:t>
              </a:r>
              <a:r>
                <a:rPr lang="en-US" altLang="ko-KR" sz="1000" b="1" dirty="0" err="1">
                  <a:solidFill>
                    <a:srgbClr val="FF0000"/>
                  </a:solidFill>
                </a:rPr>
                <a:t>kubia</a:t>
              </a:r>
              <a:endParaRPr lang="en-US" altLang="ko-KR" sz="1000" b="1" dirty="0">
                <a:solidFill>
                  <a:srgbClr val="FF0000"/>
                </a:solidFill>
              </a:endParaRPr>
            </a:p>
            <a:p>
              <a:r>
                <a:rPr lang="en-US" altLang="ko-KR" sz="1000" b="1" dirty="0"/>
                <a:t>  ports:</a:t>
              </a:r>
            </a:p>
            <a:p>
              <a:r>
                <a:rPr lang="en-US" altLang="ko-KR" sz="1000" b="1" dirty="0"/>
                <a:t>  - port: 80</a:t>
              </a:r>
            </a:p>
            <a:p>
              <a:r>
                <a:rPr lang="en-US" altLang="ko-KR" sz="1000" b="1" dirty="0"/>
                <a:t>    </a:t>
              </a:r>
              <a:r>
                <a:rPr lang="en-US" altLang="ko-KR" sz="1000" b="1" dirty="0" err="1"/>
                <a:t>targetPort</a:t>
              </a:r>
              <a:r>
                <a:rPr lang="en-US" altLang="ko-KR" sz="1000" b="1" dirty="0"/>
                <a:t>: 8080</a:t>
              </a:r>
              <a:endParaRPr lang="ko-KR" altLang="en-US" sz="1000" b="1" dirty="0"/>
            </a:p>
          </p:txBody>
        </p:sp>
        <p:sp>
          <p:nvSpPr>
            <p:cNvPr id="9" name="TextBox 8">
              <a:extLst>
                <a:ext uri="{FF2B5EF4-FFF2-40B4-BE49-F238E27FC236}">
                  <a16:creationId xmlns:a16="http://schemas.microsoft.com/office/drawing/2014/main" id="{C79673AB-F9CB-3959-A575-E2CF19C418C2}"/>
                </a:ext>
              </a:extLst>
            </p:cNvPr>
            <p:cNvSpPr txBox="1"/>
            <p:nvPr/>
          </p:nvSpPr>
          <p:spPr>
            <a:xfrm>
              <a:off x="7406698" y="3429000"/>
              <a:ext cx="1737976" cy="246221"/>
            </a:xfrm>
            <a:prstGeom prst="rect">
              <a:avLst/>
            </a:prstGeom>
            <a:noFill/>
          </p:spPr>
          <p:txBody>
            <a:bodyPr wrap="none" rtlCol="0">
              <a:spAutoFit/>
            </a:bodyPr>
            <a:lstStyle/>
            <a:p>
              <a:pPr algn="l"/>
              <a:r>
                <a:rPr lang="en-US" altLang="ko-KR" sz="1000" b="1" dirty="0" err="1"/>
                <a:t>kubia</a:t>
              </a:r>
              <a:r>
                <a:rPr lang="en-US" altLang="ko-KR" sz="1000" b="1" dirty="0"/>
                <a:t>-service-</a:t>
              </a:r>
              <a:r>
                <a:rPr lang="en-US" altLang="ko-KR" sz="1000" b="1" dirty="0" err="1"/>
                <a:t>public.yaml</a:t>
              </a:r>
              <a:endParaRPr lang="ko-KR" altLang="en-US" sz="1000" b="1" dirty="0"/>
            </a:p>
          </p:txBody>
        </p:sp>
      </p:grpSp>
    </p:spTree>
    <p:extLst>
      <p:ext uri="{BB962C8B-B14F-4D97-AF65-F5344CB8AC3E}">
        <p14:creationId xmlns:p14="http://schemas.microsoft.com/office/powerpoint/2010/main" val="3763310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Creating Non-Headless Service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Non-Headless Service for </a:t>
            </a:r>
            <a:r>
              <a:rPr lang="en-US" altLang="ko-KR" sz="1800" b="1" dirty="0" err="1"/>
              <a:t>StatefulSet</a:t>
            </a:r>
            <a:r>
              <a:rPr lang="en-US" altLang="ko-KR" sz="1800" b="1" dirty="0"/>
              <a:t> :</a:t>
            </a:r>
          </a:p>
          <a:p>
            <a:pPr lvl="1">
              <a:buFont typeface="Wingdings" panose="05000000000000000000" pitchFamily="2" charset="2"/>
              <a:buChar char="§"/>
            </a:pPr>
            <a:r>
              <a:rPr lang="en-US" altLang="ko-KR" sz="1400" dirty="0"/>
              <a:t>You need to </a:t>
            </a:r>
            <a:r>
              <a:rPr lang="en-US" altLang="ko-KR" sz="1400" b="1" dirty="0"/>
              <a:t>create the Non-Headless Service</a:t>
            </a:r>
            <a:r>
              <a:rPr lang="en-US" altLang="ko-KR" sz="1400" dirty="0"/>
              <a:t> for the rest of the example. Run the following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908066D-E454-FE1D-E387-545C32FE8119}"/>
              </a:ext>
            </a:extLst>
          </p:cNvPr>
          <p:cNvGrpSpPr/>
          <p:nvPr/>
        </p:nvGrpSpPr>
        <p:grpSpPr>
          <a:xfrm>
            <a:off x="1112992" y="1878803"/>
            <a:ext cx="9966016" cy="2309258"/>
            <a:chOff x="1112992" y="1741238"/>
            <a:chExt cx="9966016" cy="2309258"/>
          </a:xfrm>
        </p:grpSpPr>
        <p:pic>
          <p:nvPicPr>
            <p:cNvPr id="8" name="그림 7">
              <a:extLst>
                <a:ext uri="{FF2B5EF4-FFF2-40B4-BE49-F238E27FC236}">
                  <a16:creationId xmlns:a16="http://schemas.microsoft.com/office/drawing/2014/main" id="{ACBD34F7-47A4-D7FD-BCC6-86E9D3D0B712}"/>
                </a:ext>
              </a:extLst>
            </p:cNvPr>
            <p:cNvPicPr>
              <a:picLocks noChangeAspect="1"/>
            </p:cNvPicPr>
            <p:nvPr/>
          </p:nvPicPr>
          <p:blipFill>
            <a:blip r:embed="rId2"/>
            <a:stretch>
              <a:fillRect/>
            </a:stretch>
          </p:blipFill>
          <p:spPr>
            <a:xfrm>
              <a:off x="1112992" y="2298138"/>
              <a:ext cx="9966016" cy="1752358"/>
            </a:xfrm>
            <a:prstGeom prst="rect">
              <a:avLst/>
            </a:prstGeom>
          </p:spPr>
        </p:pic>
        <p:sp>
          <p:nvSpPr>
            <p:cNvPr id="10" name="TextBox 9">
              <a:extLst>
                <a:ext uri="{FF2B5EF4-FFF2-40B4-BE49-F238E27FC236}">
                  <a16:creationId xmlns:a16="http://schemas.microsoft.com/office/drawing/2014/main" id="{B710A1C0-CFEF-026B-4DFD-AC194487C6EF}"/>
                </a:ext>
              </a:extLst>
            </p:cNvPr>
            <p:cNvSpPr txBox="1"/>
            <p:nvPr/>
          </p:nvSpPr>
          <p:spPr>
            <a:xfrm>
              <a:off x="3047326" y="174123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a:t>
              </a:r>
              <a:r>
                <a:rPr lang="en-US" altLang="ko-KR" sz="1000" b="1" dirty="0">
                  <a:solidFill>
                    <a:srgbClr val="FF0000"/>
                  </a:solidFill>
                </a:rPr>
                <a:t>-service-</a:t>
              </a:r>
              <a:r>
                <a:rPr lang="en-US" altLang="ko-KR" sz="1000" b="1" dirty="0" err="1">
                  <a:solidFill>
                    <a:srgbClr val="FF0000"/>
                  </a:solidFill>
                </a:rPr>
                <a:t>public.yaml</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8A35EBB4-2166-E469-3E0D-F30C8DBF51EB}"/>
                </a:ext>
              </a:extLst>
            </p:cNvPr>
            <p:cNvSpPr/>
            <p:nvPr/>
          </p:nvSpPr>
          <p:spPr>
            <a:xfrm>
              <a:off x="5869423" y="1982549"/>
              <a:ext cx="453154" cy="31558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329458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a:t>
            </a:r>
            <a:r>
              <a:rPr lang="en-US" altLang="ko-KR" sz="2800" b="1" dirty="0" err="1"/>
              <a:t>StatefulSet</a:t>
            </a:r>
            <a:r>
              <a:rPr lang="en-US" altLang="ko-KR" sz="2800" b="1" dirty="0"/>
              <a:t>(21/21)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Playing with Your Pods :</a:t>
            </a:r>
          </a:p>
          <a:p>
            <a:pPr lvl="1">
              <a:buFont typeface="Wingdings" panose="05000000000000000000" pitchFamily="2" charset="2"/>
              <a:buChar char="§"/>
            </a:pPr>
            <a:r>
              <a:rPr lang="en-US" altLang="ko-KR" sz="1400" dirty="0"/>
              <a:t>Instead of using a piggyback pod to access the service from inside the cluster, you can </a:t>
            </a:r>
            <a:r>
              <a:rPr lang="en-US" altLang="ko-KR" sz="1400" b="1" dirty="0"/>
              <a:t>use the same proxy feature provided by the API server to access the service the way you’ve accessed individual pods</a:t>
            </a:r>
            <a:r>
              <a:rPr lang="en-US" altLang="ko-KR" sz="1400" dirty="0"/>
              <a:t>.</a:t>
            </a:r>
          </a:p>
          <a:p>
            <a:pPr lvl="1">
              <a:buFont typeface="Wingdings" panose="05000000000000000000" pitchFamily="2" charset="2"/>
              <a:buChar char="§"/>
            </a:pPr>
            <a:r>
              <a:rPr lang="en-US" altLang="ko-KR" sz="1400" dirty="0"/>
              <a:t>The URI path for proxy-</a:t>
            </a:r>
            <a:r>
              <a:rPr lang="en-US" altLang="ko-KR" sz="1400" dirty="0" err="1"/>
              <a:t>ing</a:t>
            </a:r>
            <a:r>
              <a:rPr lang="en-US" altLang="ko-KR" sz="1400" dirty="0"/>
              <a:t> requests to Services is formed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Therefore, you can run curl on your local machine and access the service through the “</a:t>
            </a:r>
            <a:r>
              <a:rPr lang="en-US" altLang="ko-KR" sz="1400" b="1" dirty="0" err="1"/>
              <a:t>kubectl</a:t>
            </a:r>
            <a:r>
              <a:rPr lang="en-US" altLang="ko-KR" sz="1400" b="1" dirty="0"/>
              <a:t> proxy</a:t>
            </a:r>
            <a:r>
              <a:rPr lang="en-US" altLang="ko-KR" sz="1400" dirty="0"/>
              <a:t>” command like this (you ran “</a:t>
            </a:r>
            <a:r>
              <a:rPr lang="en-US" altLang="ko-KR" sz="1400" b="1" dirty="0" err="1"/>
              <a:t>kubectl</a:t>
            </a:r>
            <a:r>
              <a:rPr lang="en-US" altLang="ko-KR" sz="1400" b="1" dirty="0"/>
              <a:t> proxy</a:t>
            </a:r>
            <a:r>
              <a:rPr lang="en-US" altLang="ko-KR" sz="1400" dirty="0"/>
              <a:t>” command earlier and it should still be running):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Likewise, clients (inside the cluster) can use the “</a:t>
            </a:r>
            <a:r>
              <a:rPr lang="en-US" altLang="ko-KR" sz="1400" b="1" dirty="0" err="1">
                <a:solidFill>
                  <a:srgbClr val="FF0000"/>
                </a:solidFill>
              </a:rPr>
              <a:t>kubia</a:t>
            </a:r>
            <a:r>
              <a:rPr lang="en-US" altLang="ko-KR" sz="1400" b="1" dirty="0">
                <a:solidFill>
                  <a:srgbClr val="FF0000"/>
                </a:solidFill>
              </a:rPr>
              <a:t>-public</a:t>
            </a:r>
            <a:r>
              <a:rPr lang="en-US" altLang="ko-KR" sz="1400" b="1" dirty="0"/>
              <a:t>” service for storing to and reading data from your clustered data store</a:t>
            </a:r>
            <a:r>
              <a:rPr lang="en-US" altLang="ko-KR" sz="1400" dirty="0"/>
              <a:t>. </a:t>
            </a:r>
            <a:r>
              <a:rPr lang="en-US" altLang="ko-KR" sz="1400" b="1" dirty="0"/>
              <a:t>Of course, </a:t>
            </a:r>
            <a:r>
              <a:rPr lang="en-US" altLang="ko-KR" sz="1400" b="1" dirty="0">
                <a:solidFill>
                  <a:srgbClr val="FF0000"/>
                </a:solidFill>
              </a:rPr>
              <a:t>each request lands on a random cluster node</a:t>
            </a:r>
            <a:r>
              <a:rPr lang="en-US" altLang="ko-KR" sz="1400" b="1" dirty="0"/>
              <a:t>, </a:t>
            </a:r>
            <a:r>
              <a:rPr lang="en-US" altLang="ko-KR" sz="1400" dirty="0"/>
              <a:t>so you’ll get the data from a random node each time.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E07B28E-DA9E-E984-3344-873C3490CC92}"/>
              </a:ext>
            </a:extLst>
          </p:cNvPr>
          <p:cNvSpPr txBox="1"/>
          <p:nvPr/>
        </p:nvSpPr>
        <p:spPr>
          <a:xfrm>
            <a:off x="3048674" y="1935156"/>
            <a:ext cx="6097348" cy="246221"/>
          </a:xfrm>
          <a:prstGeom prst="rect">
            <a:avLst/>
          </a:prstGeom>
          <a:noFill/>
          <a:ln>
            <a:solidFill>
              <a:schemeClr val="bg1">
                <a:lumMod val="50000"/>
              </a:schemeClr>
            </a:solidFill>
          </a:ln>
        </p:spPr>
        <p:txBody>
          <a:bodyPr wrap="square">
            <a:spAutoFit/>
          </a:bodyPr>
          <a:lstStyle/>
          <a:p>
            <a:r>
              <a:rPr lang="en-US" altLang="ko-KR" sz="1000" b="1" dirty="0"/>
              <a:t>/</a:t>
            </a:r>
            <a:r>
              <a:rPr lang="en-US" altLang="ko-KR" sz="1000" b="1" dirty="0" err="1"/>
              <a:t>api</a:t>
            </a:r>
            <a:r>
              <a:rPr lang="en-US" altLang="ko-KR" sz="1000" b="1" dirty="0"/>
              <a:t>/v1/namespaces/&lt;namespace&gt;/</a:t>
            </a:r>
            <a:r>
              <a:rPr lang="en-US" altLang="ko-KR" sz="1000" b="1" dirty="0">
                <a:solidFill>
                  <a:srgbClr val="FF0000"/>
                </a:solidFill>
              </a:rPr>
              <a:t>services/&lt;service name&gt;</a:t>
            </a:r>
            <a:r>
              <a:rPr lang="en-US" altLang="ko-KR" sz="1000" b="1" dirty="0"/>
              <a:t>/proxy/&lt;path&gt;</a:t>
            </a:r>
          </a:p>
        </p:txBody>
      </p:sp>
      <p:grpSp>
        <p:nvGrpSpPr>
          <p:cNvPr id="14" name="그룹 13">
            <a:extLst>
              <a:ext uri="{FF2B5EF4-FFF2-40B4-BE49-F238E27FC236}">
                <a16:creationId xmlns:a16="http://schemas.microsoft.com/office/drawing/2014/main" id="{C69F2BB6-06BF-2745-17F1-501E805DA9E3}"/>
              </a:ext>
            </a:extLst>
          </p:cNvPr>
          <p:cNvGrpSpPr/>
          <p:nvPr/>
        </p:nvGrpSpPr>
        <p:grpSpPr>
          <a:xfrm>
            <a:off x="1112992" y="2944147"/>
            <a:ext cx="9966016" cy="2127330"/>
            <a:chOff x="1112992" y="2855135"/>
            <a:chExt cx="9966016" cy="2127330"/>
          </a:xfrm>
        </p:grpSpPr>
        <p:sp>
          <p:nvSpPr>
            <p:cNvPr id="8" name="TextBox 7">
              <a:extLst>
                <a:ext uri="{FF2B5EF4-FFF2-40B4-BE49-F238E27FC236}">
                  <a16:creationId xmlns:a16="http://schemas.microsoft.com/office/drawing/2014/main" id="{21061BEE-73EA-7655-5EE6-38A508807E08}"/>
                </a:ext>
              </a:extLst>
            </p:cNvPr>
            <p:cNvSpPr txBox="1"/>
            <p:nvPr/>
          </p:nvSpPr>
          <p:spPr>
            <a:xfrm>
              <a:off x="3048674" y="2855135"/>
              <a:ext cx="6097348" cy="246221"/>
            </a:xfrm>
            <a:prstGeom prst="rect">
              <a:avLst/>
            </a:prstGeom>
            <a:noFill/>
            <a:ln>
              <a:solidFill>
                <a:schemeClr val="bg1">
                  <a:lumMod val="50000"/>
                </a:schemeClr>
              </a:solidFill>
            </a:ln>
          </p:spPr>
          <p:txBody>
            <a:bodyPr wrap="square">
              <a:spAutoFit/>
            </a:bodyPr>
            <a:lstStyle/>
            <a:p>
              <a:r>
                <a:rPr lang="en-US" altLang="ko-KR" sz="1000" b="1" dirty="0"/>
                <a:t>$ curl localhost:8001/</a:t>
              </a:r>
              <a:r>
                <a:rPr lang="en-US" altLang="ko-KR" sz="1000" b="1" dirty="0" err="1"/>
                <a:t>api</a:t>
              </a:r>
              <a:r>
                <a:rPr lang="en-US" altLang="ko-KR" sz="1000" b="1" dirty="0"/>
                <a:t>/v1/namespaces/default/</a:t>
              </a:r>
              <a:r>
                <a:rPr lang="en-US" altLang="ko-KR" sz="1000" b="1" dirty="0">
                  <a:solidFill>
                    <a:srgbClr val="FF0000"/>
                  </a:solidFill>
                </a:rPr>
                <a:t>services</a:t>
              </a:r>
              <a:r>
                <a:rPr lang="en-US" altLang="ko-KR" sz="1000" b="1" dirty="0"/>
                <a:t>/</a:t>
              </a:r>
              <a:r>
                <a:rPr lang="en-US" altLang="ko-KR" sz="1000" b="1" dirty="0" err="1">
                  <a:solidFill>
                    <a:srgbClr val="FF0000"/>
                  </a:solidFill>
                </a:rPr>
                <a:t>kubia</a:t>
              </a:r>
              <a:r>
                <a:rPr lang="en-US" altLang="ko-KR" sz="1000" b="1" dirty="0">
                  <a:solidFill>
                    <a:srgbClr val="FF0000"/>
                  </a:solidFill>
                </a:rPr>
                <a:t>-public</a:t>
              </a:r>
              <a:r>
                <a:rPr lang="en-US" altLang="ko-KR" sz="1000" b="1" dirty="0"/>
                <a:t>/proxy/</a:t>
              </a:r>
            </a:p>
          </p:txBody>
        </p:sp>
        <p:pic>
          <p:nvPicPr>
            <p:cNvPr id="12" name="그림 11">
              <a:extLst>
                <a:ext uri="{FF2B5EF4-FFF2-40B4-BE49-F238E27FC236}">
                  <a16:creationId xmlns:a16="http://schemas.microsoft.com/office/drawing/2014/main" id="{C6424C66-2F3C-BD5B-72A2-7B6DE2C1D0C4}"/>
                </a:ext>
              </a:extLst>
            </p:cNvPr>
            <p:cNvPicPr>
              <a:picLocks noChangeAspect="1"/>
            </p:cNvPicPr>
            <p:nvPr/>
          </p:nvPicPr>
          <p:blipFill>
            <a:blip r:embed="rId2"/>
            <a:stretch>
              <a:fillRect/>
            </a:stretch>
          </p:blipFill>
          <p:spPr>
            <a:xfrm>
              <a:off x="1112992" y="3404512"/>
              <a:ext cx="9966016" cy="1577953"/>
            </a:xfrm>
            <a:prstGeom prst="rect">
              <a:avLst/>
            </a:prstGeom>
          </p:spPr>
        </p:pic>
        <p:sp>
          <p:nvSpPr>
            <p:cNvPr id="13" name="화살표: 아래쪽 12">
              <a:extLst>
                <a:ext uri="{FF2B5EF4-FFF2-40B4-BE49-F238E27FC236}">
                  <a16:creationId xmlns:a16="http://schemas.microsoft.com/office/drawing/2014/main" id="{6DD7222F-DC88-45B1-6389-0FCD086BB81F}"/>
                </a:ext>
              </a:extLst>
            </p:cNvPr>
            <p:cNvSpPr/>
            <p:nvPr/>
          </p:nvSpPr>
          <p:spPr>
            <a:xfrm>
              <a:off x="5869423" y="3124698"/>
              <a:ext cx="453154" cy="2809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29552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SRV(SERVICE) Record :</a:t>
            </a:r>
          </a:p>
          <a:p>
            <a:pPr lvl="1">
              <a:buFont typeface="Wingdings" panose="05000000000000000000" pitchFamily="2" charset="2"/>
              <a:buChar char="§"/>
            </a:pPr>
            <a:r>
              <a:rPr lang="en-US" altLang="ko-KR" sz="1400" b="1" dirty="0"/>
              <a:t>An important requirement of clustered apps is </a:t>
            </a:r>
            <a:r>
              <a:rPr lang="en-US" altLang="ko-KR" sz="1400" b="1" dirty="0">
                <a:solidFill>
                  <a:srgbClr val="FF0000"/>
                </a:solidFill>
              </a:rPr>
              <a:t>peer discovery</a:t>
            </a:r>
            <a:r>
              <a:rPr lang="en-US" altLang="ko-KR" sz="1400" dirty="0"/>
              <a:t>—the ability to find other members of the cluster. </a:t>
            </a:r>
            <a:r>
              <a:rPr lang="en-US" altLang="ko-KR" sz="1400" b="1" dirty="0"/>
              <a:t>Each member of a </a:t>
            </a:r>
            <a:r>
              <a:rPr lang="en-US" altLang="ko-KR" sz="1400" b="1" dirty="0" err="1"/>
              <a:t>StatefulSet</a:t>
            </a:r>
            <a:r>
              <a:rPr lang="en-US" altLang="ko-KR" sz="1400" b="1" dirty="0"/>
              <a:t> needs to easily find all the other members</a:t>
            </a:r>
            <a:r>
              <a:rPr lang="en-US" altLang="ko-KR" sz="1400" dirty="0"/>
              <a:t>. Sure, it could do that by talking to the API server, but </a:t>
            </a:r>
            <a:r>
              <a:rPr lang="en-US" altLang="ko-KR" sz="1400" b="1" dirty="0"/>
              <a:t>one of Kubernetes’ aims is to </a:t>
            </a:r>
            <a:r>
              <a:rPr lang="en-US" altLang="ko-KR" sz="1400" b="1" dirty="0">
                <a:solidFill>
                  <a:srgbClr val="FF0000"/>
                </a:solidFill>
              </a:rPr>
              <a:t>expose features </a:t>
            </a:r>
            <a:r>
              <a:rPr lang="en-US" altLang="ko-KR" sz="1400" b="1" dirty="0"/>
              <a:t>that help keep applications completely Kubernetes-agnostic</a:t>
            </a:r>
            <a:r>
              <a:rPr lang="en-US" altLang="ko-KR" sz="1400" dirty="0"/>
              <a:t>. </a:t>
            </a:r>
            <a:r>
              <a:rPr lang="en-US" altLang="ko-KR" sz="1400" b="1" dirty="0"/>
              <a:t>Having apps talk to the Kubernetes API is therefore undesirable</a:t>
            </a:r>
            <a:r>
              <a:rPr lang="en-US" altLang="ko-KR" sz="1400" dirty="0"/>
              <a:t>.</a:t>
            </a:r>
          </a:p>
          <a:p>
            <a:pPr lvl="1">
              <a:buFont typeface="Wingdings" panose="05000000000000000000" pitchFamily="2" charset="2"/>
              <a:buChar char="§"/>
            </a:pPr>
            <a:r>
              <a:rPr lang="en-US" altLang="ko-KR" sz="1400" dirty="0"/>
              <a:t>Depending on how much you know about DNS, you probably understand what an </a:t>
            </a:r>
            <a:r>
              <a:rPr lang="en-US" altLang="ko-KR" sz="1400" b="1" dirty="0"/>
              <a:t>A, CNAME, or MX record </a:t>
            </a:r>
            <a:r>
              <a:rPr lang="en-US" altLang="ko-KR" sz="1400" dirty="0"/>
              <a:t>is used for. </a:t>
            </a:r>
            <a:r>
              <a:rPr lang="en-US" altLang="ko-KR" sz="1400" b="1" dirty="0"/>
              <a:t>Other lesser-known types of DNS records also exist. One of them is the </a:t>
            </a:r>
            <a:r>
              <a:rPr lang="en-US" altLang="ko-KR" sz="1400" b="1" dirty="0">
                <a:solidFill>
                  <a:srgbClr val="FF0000"/>
                </a:solidFill>
              </a:rPr>
              <a:t>SRV record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227208F-6BAA-4BDC-EEA5-BBBA7B2CD8FD}"/>
              </a:ext>
            </a:extLst>
          </p:cNvPr>
          <p:cNvPicPr>
            <a:picLocks noChangeAspect="1"/>
          </p:cNvPicPr>
          <p:nvPr/>
        </p:nvPicPr>
        <p:blipFill>
          <a:blip r:embed="rId2"/>
          <a:stretch>
            <a:fillRect/>
          </a:stretch>
        </p:blipFill>
        <p:spPr>
          <a:xfrm>
            <a:off x="2936144" y="2734733"/>
            <a:ext cx="6319711" cy="3120192"/>
          </a:xfrm>
          <a:prstGeom prst="rect">
            <a:avLst/>
          </a:prstGeom>
        </p:spPr>
      </p:pic>
    </p:spTree>
    <p:extLst>
      <p:ext uri="{BB962C8B-B14F-4D97-AF65-F5344CB8AC3E}">
        <p14:creationId xmlns:p14="http://schemas.microsoft.com/office/powerpoint/2010/main" val="3919358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SRV Records :</a:t>
            </a:r>
          </a:p>
          <a:p>
            <a:pPr lvl="1">
              <a:buFont typeface="Wingdings" panose="05000000000000000000" pitchFamily="2" charset="2"/>
              <a:buChar char="§"/>
            </a:pPr>
            <a:r>
              <a:rPr lang="en-US" altLang="ko-KR" sz="1400" b="1" dirty="0">
                <a:solidFill>
                  <a:srgbClr val="FF0000"/>
                </a:solidFill>
              </a:rPr>
              <a:t>SRV records </a:t>
            </a:r>
            <a:r>
              <a:rPr lang="en-US" altLang="ko-KR" sz="1400" b="1" dirty="0"/>
              <a:t>are used to point to </a:t>
            </a:r>
            <a:r>
              <a:rPr lang="en-US" altLang="ko-KR" sz="1400" b="1" dirty="0">
                <a:solidFill>
                  <a:srgbClr val="FF0000"/>
                </a:solidFill>
              </a:rPr>
              <a:t>hostnames</a:t>
            </a:r>
            <a:r>
              <a:rPr lang="en-US" altLang="ko-KR" sz="1400" b="1" dirty="0"/>
              <a:t> and </a:t>
            </a:r>
            <a:r>
              <a:rPr lang="en-US" altLang="ko-KR" sz="1400" b="1" dirty="0">
                <a:solidFill>
                  <a:srgbClr val="FF0000"/>
                </a:solidFill>
              </a:rPr>
              <a:t>ports of servers </a:t>
            </a:r>
            <a:r>
              <a:rPr lang="en-US" altLang="ko-KR" sz="1400" b="1" dirty="0"/>
              <a:t>providing a specific servic</a:t>
            </a:r>
            <a:r>
              <a:rPr lang="en-US" altLang="ko-KR" sz="1400" dirty="0"/>
              <a:t>e. </a:t>
            </a:r>
            <a:r>
              <a:rPr lang="en-US" altLang="ko-KR" sz="1400" b="1" dirty="0"/>
              <a:t>Kubernetes creates SRV records to point to the hostnames of the pods backing a headless service</a:t>
            </a:r>
            <a:r>
              <a:rPr lang="en-US" altLang="ko-KR" sz="1400" dirty="0"/>
              <a:t>.</a:t>
            </a:r>
          </a:p>
          <a:p>
            <a:pPr lvl="1">
              <a:buFont typeface="Wingdings" panose="05000000000000000000" pitchFamily="2" charset="2"/>
              <a:buChar char="§"/>
            </a:pPr>
            <a:r>
              <a:rPr lang="en-US" altLang="ko-KR" sz="1400" b="1" dirty="0"/>
              <a:t>You’re going to </a:t>
            </a:r>
            <a:r>
              <a:rPr lang="en-US" altLang="ko-KR" sz="1400" b="1" dirty="0">
                <a:solidFill>
                  <a:srgbClr val="FF0000"/>
                </a:solidFill>
              </a:rPr>
              <a:t>list the SRV records </a:t>
            </a:r>
            <a:r>
              <a:rPr lang="en-US" altLang="ko-KR" sz="1400" b="1" dirty="0"/>
              <a:t>for your stateful pods by running the “</a:t>
            </a:r>
            <a:r>
              <a:rPr lang="en-US" altLang="ko-KR" sz="1400" b="1" dirty="0">
                <a:solidFill>
                  <a:srgbClr val="FF0000"/>
                </a:solidFill>
              </a:rPr>
              <a:t>dig</a:t>
            </a:r>
            <a:r>
              <a:rPr lang="en-US" altLang="ko-KR" sz="1400" b="1" dirty="0"/>
              <a:t>” DNS lookup tool inside a new temporary pod</a:t>
            </a:r>
            <a:r>
              <a:rPr lang="en-US" altLang="ko-KR" sz="1400" dirty="0"/>
              <a:t>. This is the command you’ll use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command runs a one-off pod (“--restart=Never”) called “</a:t>
            </a:r>
            <a:r>
              <a:rPr lang="en-US" altLang="ko-KR" sz="1400" b="1" dirty="0" err="1"/>
              <a:t>srvlookup</a:t>
            </a:r>
            <a:r>
              <a:rPr lang="en-US" altLang="ko-KR" sz="1400" b="1" dirty="0"/>
              <a:t>”, which is attached to the console (“-it”) and is deleted as soon as it terminates (“--rm”). </a:t>
            </a:r>
            <a:r>
              <a:rPr lang="en-US" altLang="ko-KR" sz="1400" dirty="0"/>
              <a:t>The pod runs a single container from the “</a:t>
            </a:r>
            <a:r>
              <a:rPr lang="en-US" altLang="ko-KR" sz="1400" b="1" dirty="0" err="1"/>
              <a:t>tutum</a:t>
            </a:r>
            <a:r>
              <a:rPr lang="en-US" altLang="ko-KR" sz="1400" b="1" dirty="0"/>
              <a:t>/</a:t>
            </a:r>
            <a:r>
              <a:rPr lang="en-US" altLang="ko-KR" sz="1400" b="1" dirty="0" err="1"/>
              <a:t>dnsutils</a:t>
            </a:r>
            <a:r>
              <a:rPr lang="en-US" altLang="ko-KR" sz="1400" dirty="0"/>
              <a:t>” image and runs the following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0DFDDF8-827B-0401-6D96-B78A987E85A0}"/>
              </a:ext>
            </a:extLst>
          </p:cNvPr>
          <p:cNvSpPr txBox="1"/>
          <p:nvPr/>
        </p:nvSpPr>
        <p:spPr>
          <a:xfrm>
            <a:off x="2462340" y="2175297"/>
            <a:ext cx="7267322"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-it </a:t>
            </a:r>
            <a:r>
              <a:rPr lang="en-US" altLang="ko-KR" sz="1000" b="1" dirty="0" err="1">
                <a:solidFill>
                  <a:srgbClr val="FF0000"/>
                </a:solidFill>
              </a:rPr>
              <a:t>srvlookup</a:t>
            </a:r>
            <a:r>
              <a:rPr lang="en-US" altLang="ko-KR" sz="1000" b="1" dirty="0"/>
              <a:t> --image=</a:t>
            </a:r>
            <a:r>
              <a:rPr lang="en-US" altLang="ko-KR" sz="1000" b="1" dirty="0" err="1">
                <a:solidFill>
                  <a:srgbClr val="FF0000"/>
                </a:solidFill>
              </a:rPr>
              <a:t>tutum</a:t>
            </a:r>
            <a:r>
              <a:rPr lang="en-US" altLang="ko-KR" sz="1000" b="1" dirty="0">
                <a:solidFill>
                  <a:srgbClr val="FF0000"/>
                </a:solidFill>
              </a:rPr>
              <a:t>/</a:t>
            </a:r>
            <a:r>
              <a:rPr lang="en-US" altLang="ko-KR" sz="1000" b="1" dirty="0" err="1">
                <a:solidFill>
                  <a:srgbClr val="FF0000"/>
                </a:solidFill>
              </a:rPr>
              <a:t>dnsutils</a:t>
            </a:r>
            <a:r>
              <a:rPr lang="en-US" altLang="ko-KR" sz="1000" b="1" dirty="0">
                <a:solidFill>
                  <a:srgbClr val="FF0000"/>
                </a:solidFill>
              </a:rPr>
              <a:t> </a:t>
            </a:r>
            <a:r>
              <a:rPr lang="en-US" altLang="ko-KR" sz="1000" b="1" dirty="0"/>
              <a:t>--rm --restart=Never -- </a:t>
            </a:r>
            <a:r>
              <a:rPr lang="en-US" altLang="ko-KR" sz="1000" b="1" dirty="0">
                <a:solidFill>
                  <a:srgbClr val="FF0000"/>
                </a:solidFill>
              </a:rPr>
              <a:t>dig SRV </a:t>
            </a:r>
            <a:r>
              <a:rPr lang="en-US" altLang="ko-KR" sz="1000" b="1" dirty="0" err="1">
                <a:solidFill>
                  <a:srgbClr val="FF0000"/>
                </a:solidFill>
              </a:rPr>
              <a:t>kubia.default.svc.cluster.local</a:t>
            </a:r>
            <a:endParaRPr lang="en-US" altLang="ko-KR" sz="1000" b="1" dirty="0">
              <a:solidFill>
                <a:srgbClr val="FF0000"/>
              </a:solidFill>
            </a:endParaRPr>
          </a:p>
        </p:txBody>
      </p:sp>
      <p:sp>
        <p:nvSpPr>
          <p:cNvPr id="11" name="TextBox 10">
            <a:extLst>
              <a:ext uri="{FF2B5EF4-FFF2-40B4-BE49-F238E27FC236}">
                <a16:creationId xmlns:a16="http://schemas.microsoft.com/office/drawing/2014/main" id="{BAF8F460-9582-7595-DE14-897B79D192A2}"/>
              </a:ext>
            </a:extLst>
          </p:cNvPr>
          <p:cNvSpPr txBox="1"/>
          <p:nvPr/>
        </p:nvSpPr>
        <p:spPr>
          <a:xfrm>
            <a:off x="2462340" y="3591718"/>
            <a:ext cx="7267323"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a:solidFill>
                  <a:srgbClr val="FF0000"/>
                </a:solidFill>
              </a:rPr>
              <a:t>dig</a:t>
            </a:r>
            <a:r>
              <a:rPr lang="en-US" altLang="ko-KR" sz="1000" b="1" dirty="0"/>
              <a:t> SRV </a:t>
            </a:r>
            <a:r>
              <a:rPr lang="en-US" altLang="ko-KR" sz="1000" b="1" dirty="0" err="1"/>
              <a:t>kubia.default.svc.cluster.local</a:t>
            </a:r>
            <a:endParaRPr lang="en-US" altLang="ko-KR" sz="1000" b="1" dirty="0"/>
          </a:p>
        </p:txBody>
      </p:sp>
      <p:pic>
        <p:nvPicPr>
          <p:cNvPr id="12" name="그림 11">
            <a:extLst>
              <a:ext uri="{FF2B5EF4-FFF2-40B4-BE49-F238E27FC236}">
                <a16:creationId xmlns:a16="http://schemas.microsoft.com/office/drawing/2014/main" id="{87735E16-3637-EB9A-FE36-8DB6594F0C1A}"/>
              </a:ext>
            </a:extLst>
          </p:cNvPr>
          <p:cNvPicPr>
            <a:picLocks noChangeAspect="1"/>
          </p:cNvPicPr>
          <p:nvPr/>
        </p:nvPicPr>
        <p:blipFill>
          <a:blip r:embed="rId2"/>
          <a:stretch>
            <a:fillRect/>
          </a:stretch>
        </p:blipFill>
        <p:spPr>
          <a:xfrm>
            <a:off x="4043396" y="4135030"/>
            <a:ext cx="4105208" cy="2274000"/>
          </a:xfrm>
          <a:prstGeom prst="rect">
            <a:avLst/>
          </a:prstGeom>
        </p:spPr>
      </p:pic>
    </p:spTree>
    <p:extLst>
      <p:ext uri="{BB962C8B-B14F-4D97-AF65-F5344CB8AC3E}">
        <p14:creationId xmlns:p14="http://schemas.microsoft.com/office/powerpoint/2010/main" val="21760060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(3/12)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SRV Records :</a:t>
            </a:r>
          </a:p>
          <a:p>
            <a:pPr lvl="1">
              <a:buFont typeface="Wingdings" panose="05000000000000000000" pitchFamily="2" charset="2"/>
              <a:buChar char="§"/>
            </a:pPr>
            <a:r>
              <a:rPr lang="en-US" altLang="ko-KR" sz="1400" dirty="0"/>
              <a:t>The following listing shows what the previous command prints out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8A27EAE-4459-D051-5DD7-FC6A8A3659FE}"/>
              </a:ext>
            </a:extLst>
          </p:cNvPr>
          <p:cNvGrpSpPr/>
          <p:nvPr/>
        </p:nvGrpSpPr>
        <p:grpSpPr>
          <a:xfrm>
            <a:off x="1248978" y="1488934"/>
            <a:ext cx="9694043" cy="4701611"/>
            <a:chOff x="1248978" y="1488934"/>
            <a:chExt cx="9694043" cy="4701611"/>
          </a:xfrm>
        </p:grpSpPr>
        <p:pic>
          <p:nvPicPr>
            <p:cNvPr id="8" name="그림 7">
              <a:extLst>
                <a:ext uri="{FF2B5EF4-FFF2-40B4-BE49-F238E27FC236}">
                  <a16:creationId xmlns:a16="http://schemas.microsoft.com/office/drawing/2014/main" id="{7A7547B7-5CEF-5364-B040-22F78CB3E17A}"/>
                </a:ext>
              </a:extLst>
            </p:cNvPr>
            <p:cNvPicPr>
              <a:picLocks noChangeAspect="1"/>
            </p:cNvPicPr>
            <p:nvPr/>
          </p:nvPicPr>
          <p:blipFill>
            <a:blip r:embed="rId2"/>
            <a:stretch>
              <a:fillRect/>
            </a:stretch>
          </p:blipFill>
          <p:spPr>
            <a:xfrm>
              <a:off x="1248978" y="1488934"/>
              <a:ext cx="9694043" cy="4701611"/>
            </a:xfrm>
            <a:prstGeom prst="rect">
              <a:avLst/>
            </a:prstGeom>
          </p:spPr>
        </p:pic>
        <p:sp>
          <p:nvSpPr>
            <p:cNvPr id="9" name="직사각형 8">
              <a:extLst>
                <a:ext uri="{FF2B5EF4-FFF2-40B4-BE49-F238E27FC236}">
                  <a16:creationId xmlns:a16="http://schemas.microsoft.com/office/drawing/2014/main" id="{82830AA9-5B60-84CB-5262-A3B66B31EF04}"/>
                </a:ext>
              </a:extLst>
            </p:cNvPr>
            <p:cNvSpPr/>
            <p:nvPr/>
          </p:nvSpPr>
          <p:spPr>
            <a:xfrm>
              <a:off x="1319002" y="3982203"/>
              <a:ext cx="6360340" cy="10348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35681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(4/12)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SRV Records :</a:t>
            </a:r>
          </a:p>
          <a:p>
            <a:pPr lvl="1">
              <a:buFont typeface="Wingdings" panose="05000000000000000000" pitchFamily="2" charset="2"/>
              <a:buChar char="§"/>
            </a:pPr>
            <a:r>
              <a:rPr lang="en-US" altLang="ko-KR" sz="1400" b="1" dirty="0"/>
              <a:t>The “</a:t>
            </a:r>
            <a:r>
              <a:rPr lang="en-US" altLang="ko-KR" sz="1400" b="1" dirty="0">
                <a:solidFill>
                  <a:srgbClr val="FF0000"/>
                </a:solidFill>
              </a:rPr>
              <a:t>ANSWER SECTION</a:t>
            </a:r>
            <a:r>
              <a:rPr lang="en-US" altLang="ko-KR" sz="1400" b="1" dirty="0"/>
              <a:t>” shows two “</a:t>
            </a:r>
            <a:r>
              <a:rPr lang="en-US" altLang="ko-KR" sz="1400" b="1" dirty="0">
                <a:solidFill>
                  <a:srgbClr val="FF0000"/>
                </a:solidFill>
              </a:rPr>
              <a:t>SRV records</a:t>
            </a:r>
            <a:r>
              <a:rPr lang="en-US" altLang="ko-KR" sz="1400" b="1" dirty="0"/>
              <a:t>” pointing to the two pods backing your headless service</a:t>
            </a:r>
            <a:r>
              <a:rPr lang="en-US" altLang="ko-KR" sz="1400" dirty="0"/>
              <a:t>. </a:t>
            </a:r>
            <a:r>
              <a:rPr lang="en-US" altLang="ko-KR" sz="1400" b="1" dirty="0"/>
              <a:t>Each pod also gets its own “A record”</a:t>
            </a:r>
            <a:r>
              <a:rPr lang="en-US" altLang="ko-KR" sz="1400" dirty="0"/>
              <a:t>, as shown in “</a:t>
            </a:r>
            <a:r>
              <a:rPr lang="en-US" altLang="ko-KR" sz="1400" b="1" dirty="0"/>
              <a:t>ADDITIONAL SECTION</a:t>
            </a:r>
            <a:r>
              <a:rPr lang="en-US" altLang="ko-KR" sz="1400" dirty="0"/>
              <a:t>”.</a:t>
            </a:r>
          </a:p>
          <a:p>
            <a:pPr lvl="1">
              <a:buFont typeface="Wingdings" panose="05000000000000000000" pitchFamily="2" charset="2"/>
              <a:buChar char="§"/>
            </a:pPr>
            <a:r>
              <a:rPr lang="en-US" altLang="ko-KR" sz="1400" b="1" dirty="0"/>
              <a:t>For a pod to get a list of all the other pods of a </a:t>
            </a:r>
            <a:r>
              <a:rPr lang="en-US" altLang="ko-KR" sz="1400" b="1" dirty="0" err="1"/>
              <a:t>StatefulSet</a:t>
            </a:r>
            <a:r>
              <a:rPr lang="en-US" altLang="ko-KR" sz="1400" b="1" dirty="0"/>
              <a:t>, all you need to do is perform an “SRV DNS lookup”</a:t>
            </a:r>
            <a:r>
              <a:rPr lang="en-US" altLang="ko-KR" sz="1400" dirty="0"/>
              <a:t>. In “</a:t>
            </a:r>
            <a:r>
              <a:rPr lang="en-US" altLang="ko-KR" sz="1400" b="1" dirty="0"/>
              <a:t>Node.js”</a:t>
            </a:r>
            <a:r>
              <a:rPr lang="en-US" altLang="ko-KR" sz="1400" dirty="0"/>
              <a:t>, for example, the lookup is performed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You’ll use this command in your app to </a:t>
            </a:r>
            <a:r>
              <a:rPr lang="en-US" altLang="ko-KR" sz="1400" b="1" dirty="0"/>
              <a:t>enable each pod to discover its peers</a:t>
            </a:r>
            <a:r>
              <a:rPr lang="en-US" altLang="ko-KR" sz="1400" dirty="0"/>
              <a:t>.</a:t>
            </a:r>
          </a:p>
          <a:p>
            <a:pPr lvl="1">
              <a:buFont typeface="Wingdings" panose="05000000000000000000" pitchFamily="2" charset="2"/>
              <a:buChar char="§"/>
            </a:pPr>
            <a:r>
              <a:rPr lang="en-US" altLang="ko-KR" sz="1400" b="1" dirty="0"/>
              <a:t>NOTE : The order of the returned SRV records is random, because they all have the same priority</a:t>
            </a:r>
            <a:r>
              <a:rPr lang="en-US" altLang="ko-KR" sz="1400" dirty="0"/>
              <a:t>. Don’t expect to always see “</a:t>
            </a:r>
            <a:r>
              <a:rPr lang="en-US" altLang="ko-KR" sz="1400" b="1" dirty="0"/>
              <a:t>kubia-0</a:t>
            </a:r>
            <a:r>
              <a:rPr lang="en-US" altLang="ko-KR" sz="1400" dirty="0"/>
              <a:t>” listed before “</a:t>
            </a:r>
            <a:r>
              <a:rPr lang="en-US" altLang="ko-KR" sz="1400" b="1" dirty="0"/>
              <a:t>kubia-1</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41DEA1D-B214-9865-BCBE-C43C4FD7F122}"/>
              </a:ext>
            </a:extLst>
          </p:cNvPr>
          <p:cNvSpPr txBox="1"/>
          <p:nvPr/>
        </p:nvSpPr>
        <p:spPr>
          <a:xfrm>
            <a:off x="3047326" y="2128721"/>
            <a:ext cx="6097348" cy="246221"/>
          </a:xfrm>
          <a:prstGeom prst="rect">
            <a:avLst/>
          </a:prstGeom>
          <a:noFill/>
          <a:ln>
            <a:solidFill>
              <a:schemeClr val="bg1">
                <a:lumMod val="50000"/>
              </a:schemeClr>
            </a:solidFill>
          </a:ln>
        </p:spPr>
        <p:txBody>
          <a:bodyPr wrap="square">
            <a:spAutoFit/>
          </a:bodyPr>
          <a:lstStyle/>
          <a:p>
            <a:r>
              <a:rPr lang="en-US" altLang="ko-KR" sz="1000" b="1" dirty="0" err="1"/>
              <a:t>dns.resolveSrv</a:t>
            </a:r>
            <a:r>
              <a:rPr lang="en-US" altLang="ko-KR" sz="1000" b="1" dirty="0"/>
              <a:t>("</a:t>
            </a:r>
            <a:r>
              <a:rPr lang="en-US" altLang="ko-KR" sz="1000" b="1" dirty="0" err="1">
                <a:solidFill>
                  <a:srgbClr val="FF0000"/>
                </a:solidFill>
              </a:rPr>
              <a:t>kubia.default.svc.cluster.local</a:t>
            </a:r>
            <a:r>
              <a:rPr lang="en-US" altLang="ko-KR" sz="1000" b="1" dirty="0"/>
              <a:t>", </a:t>
            </a:r>
            <a:r>
              <a:rPr lang="en-US" altLang="ko-KR" sz="1000" b="1" i="1" dirty="0" err="1"/>
              <a:t>callBackFunction</a:t>
            </a:r>
            <a:r>
              <a:rPr lang="en-US" altLang="ko-KR" sz="1000" b="1" dirty="0"/>
              <a:t>);</a:t>
            </a:r>
          </a:p>
        </p:txBody>
      </p:sp>
      <p:pic>
        <p:nvPicPr>
          <p:cNvPr id="9" name="그림 8">
            <a:extLst>
              <a:ext uri="{FF2B5EF4-FFF2-40B4-BE49-F238E27FC236}">
                <a16:creationId xmlns:a16="http://schemas.microsoft.com/office/drawing/2014/main" id="{8509CF41-0572-AABC-CB5F-BAB285A6BBAA}"/>
              </a:ext>
            </a:extLst>
          </p:cNvPr>
          <p:cNvPicPr>
            <a:picLocks noChangeAspect="1"/>
          </p:cNvPicPr>
          <p:nvPr/>
        </p:nvPicPr>
        <p:blipFill>
          <a:blip r:embed="rId2"/>
          <a:stretch>
            <a:fillRect/>
          </a:stretch>
        </p:blipFill>
        <p:spPr>
          <a:xfrm>
            <a:off x="8223392" y="3301550"/>
            <a:ext cx="3130408" cy="3107480"/>
          </a:xfrm>
          <a:prstGeom prst="rect">
            <a:avLst/>
          </a:prstGeom>
          <a:ln>
            <a:solidFill>
              <a:schemeClr val="bg1">
                <a:lumMod val="50000"/>
              </a:schemeClr>
            </a:solidFill>
          </a:ln>
        </p:spPr>
      </p:pic>
    </p:spTree>
    <p:extLst>
      <p:ext uri="{BB962C8B-B14F-4D97-AF65-F5344CB8AC3E}">
        <p14:creationId xmlns:p14="http://schemas.microsoft.com/office/powerpoint/2010/main" val="3789893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(5/12)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Implementing Peer Discovery Through DNS :</a:t>
            </a:r>
          </a:p>
          <a:p>
            <a:pPr lvl="1">
              <a:buFont typeface="Wingdings" panose="05000000000000000000" pitchFamily="2" charset="2"/>
              <a:buChar char="§"/>
            </a:pPr>
            <a:r>
              <a:rPr lang="en-US" altLang="ko-KR" sz="1400" b="1" dirty="0"/>
              <a:t>Each data store node runs completely independently of all the others</a:t>
            </a:r>
            <a:r>
              <a:rPr lang="en-US" altLang="ko-KR" sz="1400" dirty="0"/>
              <a:t>—</a:t>
            </a:r>
            <a:r>
              <a:rPr lang="en-US" altLang="ko-KR" sz="1400" b="1" dirty="0"/>
              <a:t>no communication exists between them</a:t>
            </a:r>
            <a:r>
              <a:rPr lang="en-US" altLang="ko-KR" sz="1400" dirty="0"/>
              <a:t>. You’ll get them talking to each other next. </a:t>
            </a:r>
          </a:p>
          <a:p>
            <a:pPr lvl="1">
              <a:buFont typeface="Wingdings" panose="05000000000000000000" pitchFamily="2" charset="2"/>
              <a:buChar char="§"/>
            </a:pPr>
            <a:r>
              <a:rPr lang="en-US" altLang="ko-KR" sz="1400" b="1" dirty="0"/>
              <a:t>Data posted by clients connecting to your data store cluster through the “</a:t>
            </a:r>
            <a:r>
              <a:rPr lang="en-US" altLang="ko-KR" sz="1400" b="1" dirty="0" err="1">
                <a:solidFill>
                  <a:srgbClr val="FF0000"/>
                </a:solidFill>
              </a:rPr>
              <a:t>kubia</a:t>
            </a:r>
            <a:r>
              <a:rPr lang="en-US" altLang="ko-KR" sz="1400" b="1" dirty="0">
                <a:solidFill>
                  <a:srgbClr val="FF0000"/>
                </a:solidFill>
              </a:rPr>
              <a:t>-public</a:t>
            </a:r>
            <a:r>
              <a:rPr lang="en-US" altLang="ko-KR" sz="1400" b="1" dirty="0"/>
              <a:t>” Service lands on a random cluster node</a:t>
            </a:r>
            <a:r>
              <a:rPr lang="en-US" altLang="ko-KR" sz="1400" dirty="0"/>
              <a:t>. The cluster can store multiple data entries, but clients currently have no good way to see all those entries. </a:t>
            </a:r>
            <a:r>
              <a:rPr lang="en-US" altLang="ko-KR" sz="1400" b="1" dirty="0"/>
              <a:t>Because services forward requests to pods randomly, a client would need to perform many requests until it hit all the pods if it wanted to get the data from all the pods</a:t>
            </a:r>
            <a:r>
              <a:rPr lang="en-US" altLang="ko-KR" sz="1400" dirty="0"/>
              <a:t>. </a:t>
            </a:r>
          </a:p>
          <a:p>
            <a:pPr lvl="1">
              <a:buFont typeface="Wingdings" panose="05000000000000000000" pitchFamily="2" charset="2"/>
              <a:buChar char="§"/>
            </a:pPr>
            <a:r>
              <a:rPr lang="en-US" altLang="ko-KR" sz="1400" b="1" dirty="0"/>
              <a:t>You can improve this by having the node respond with data from all the cluster nodes</a:t>
            </a:r>
            <a:r>
              <a:rPr lang="en-US" altLang="ko-KR" sz="1400" dirty="0"/>
              <a:t>. </a:t>
            </a:r>
            <a:r>
              <a:rPr lang="en-US" altLang="ko-KR" sz="1400" b="1" dirty="0"/>
              <a:t>To do this, the node needs to find all its peers</a:t>
            </a:r>
            <a:r>
              <a:rPr lang="en-US" altLang="ko-KR" sz="1400" dirty="0"/>
              <a:t>. You’re going to use what you learned about </a:t>
            </a:r>
            <a:r>
              <a:rPr lang="en-US" altLang="ko-KR" sz="1400" b="1" dirty="0" err="1">
                <a:solidFill>
                  <a:srgbClr val="FF0000"/>
                </a:solidFill>
              </a:rPr>
              <a:t>StatefulSets</a:t>
            </a:r>
            <a:r>
              <a:rPr lang="en-US" altLang="ko-KR" sz="1400" dirty="0"/>
              <a:t> and </a:t>
            </a:r>
            <a:r>
              <a:rPr lang="en-US" altLang="ko-KR" sz="1400" b="1" dirty="0">
                <a:solidFill>
                  <a:srgbClr val="FF0000"/>
                </a:solidFill>
              </a:rPr>
              <a:t>SRV records </a:t>
            </a:r>
            <a:r>
              <a:rPr lang="en-US" altLang="ko-KR" sz="1400" dirty="0"/>
              <a:t>to do this.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13153401-D2CB-BE52-59CD-E37019520D0F}"/>
              </a:ext>
            </a:extLst>
          </p:cNvPr>
          <p:cNvGrpSpPr/>
          <p:nvPr/>
        </p:nvGrpSpPr>
        <p:grpSpPr>
          <a:xfrm>
            <a:off x="1489271" y="3092570"/>
            <a:ext cx="9213458" cy="2862322"/>
            <a:chOff x="1983222" y="3181583"/>
            <a:chExt cx="8225556" cy="2862322"/>
          </a:xfrm>
        </p:grpSpPr>
        <p:grpSp>
          <p:nvGrpSpPr>
            <p:cNvPr id="11" name="그룹 10">
              <a:extLst>
                <a:ext uri="{FF2B5EF4-FFF2-40B4-BE49-F238E27FC236}">
                  <a16:creationId xmlns:a16="http://schemas.microsoft.com/office/drawing/2014/main" id="{C27E57D2-6460-D9CD-F59D-15346C6CDB5E}"/>
                </a:ext>
              </a:extLst>
            </p:cNvPr>
            <p:cNvGrpSpPr/>
            <p:nvPr/>
          </p:nvGrpSpPr>
          <p:grpSpPr>
            <a:xfrm>
              <a:off x="1983222" y="3181583"/>
              <a:ext cx="8225556" cy="2862322"/>
              <a:chOff x="2288022" y="3108755"/>
              <a:chExt cx="8225556" cy="2862322"/>
            </a:xfrm>
          </p:grpSpPr>
          <p:sp>
            <p:nvSpPr>
              <p:cNvPr id="8" name="TextBox 7">
                <a:extLst>
                  <a:ext uri="{FF2B5EF4-FFF2-40B4-BE49-F238E27FC236}">
                    <a16:creationId xmlns:a16="http://schemas.microsoft.com/office/drawing/2014/main" id="{4CC3346A-8C54-830F-3853-B602474C3CCD}"/>
                  </a:ext>
                </a:extLst>
              </p:cNvPr>
              <p:cNvSpPr txBox="1"/>
              <p:nvPr/>
            </p:nvSpPr>
            <p:spPr>
              <a:xfrm>
                <a:off x="6400800" y="3108755"/>
                <a:ext cx="4112778" cy="2862322"/>
              </a:xfrm>
              <a:prstGeom prst="rect">
                <a:avLst/>
              </a:prstGeom>
              <a:noFill/>
              <a:ln>
                <a:solidFill>
                  <a:schemeClr val="bg1">
                    <a:lumMod val="50000"/>
                  </a:schemeClr>
                </a:solidFill>
              </a:ln>
            </p:spPr>
            <p:txBody>
              <a:bodyPr wrap="square">
                <a:spAutoFit/>
              </a:bodyPr>
              <a:lstStyle/>
              <a:p>
                <a:r>
                  <a:rPr lang="en-US" altLang="ko-KR" sz="1000" b="1" dirty="0"/>
                  <a:t>function </a:t>
                </a:r>
                <a:r>
                  <a:rPr lang="en-US" altLang="ko-KR" sz="1000" b="1" dirty="0" err="1"/>
                  <a:t>httpGet</a:t>
                </a:r>
                <a:r>
                  <a:rPr lang="en-US" altLang="ko-KR" sz="1000" b="1" dirty="0"/>
                  <a:t>(</a:t>
                </a:r>
                <a:r>
                  <a:rPr lang="en-US" altLang="ko-KR" sz="1000" b="1" dirty="0" err="1"/>
                  <a:t>reqOptions</a:t>
                </a:r>
                <a:r>
                  <a:rPr lang="en-US" altLang="ko-KR" sz="1000" b="1" dirty="0"/>
                  <a:t>, callback) {</a:t>
                </a:r>
              </a:p>
              <a:p>
                <a:r>
                  <a:rPr lang="en-US" altLang="ko-KR" sz="1000" b="1" dirty="0"/>
                  <a:t>  return </a:t>
                </a:r>
                <a:r>
                  <a:rPr lang="en-US" altLang="ko-KR" sz="1000" b="1" dirty="0" err="1"/>
                  <a:t>http.get</a:t>
                </a:r>
                <a:r>
                  <a:rPr lang="en-US" altLang="ko-KR" sz="1000" b="1" dirty="0"/>
                  <a:t>(</a:t>
                </a:r>
                <a:r>
                  <a:rPr lang="en-US" altLang="ko-KR" sz="1000" b="1" dirty="0" err="1"/>
                  <a:t>reqOptions</a:t>
                </a:r>
                <a:r>
                  <a:rPr lang="en-US" altLang="ko-KR" sz="1000" b="1" dirty="0"/>
                  <a:t>, function(response) {</a:t>
                </a:r>
              </a:p>
              <a:p>
                <a:r>
                  <a:rPr lang="en-US" altLang="ko-KR" sz="1000" b="1" dirty="0"/>
                  <a:t>    var body = '';</a:t>
                </a:r>
              </a:p>
              <a:p>
                <a:r>
                  <a:rPr lang="en-US" altLang="ko-KR" sz="1000" b="1" dirty="0"/>
                  <a:t>    </a:t>
                </a:r>
                <a:r>
                  <a:rPr lang="en-US" altLang="ko-KR" sz="1000" b="1" dirty="0" err="1"/>
                  <a:t>response.on</a:t>
                </a:r>
                <a:r>
                  <a:rPr lang="en-US" altLang="ko-KR" sz="1000" b="1" dirty="0"/>
                  <a:t>('data', function(d) { body += d; });</a:t>
                </a:r>
              </a:p>
              <a:p>
                <a:r>
                  <a:rPr lang="en-US" altLang="ko-KR" sz="1000" b="1" dirty="0"/>
                  <a:t>    </a:t>
                </a:r>
                <a:r>
                  <a:rPr lang="en-US" altLang="ko-KR" sz="1000" b="1" dirty="0" err="1"/>
                  <a:t>response.on</a:t>
                </a:r>
                <a:r>
                  <a:rPr lang="en-US" altLang="ko-KR" sz="1000" b="1" dirty="0"/>
                  <a:t>('end', function() { callback(body); });</a:t>
                </a:r>
              </a:p>
              <a:p>
                <a:r>
                  <a:rPr lang="en-US" altLang="ko-KR" sz="1000" b="1" dirty="0"/>
                  <a:t>  }).on('error', function(e) {</a:t>
                </a:r>
              </a:p>
              <a:p>
                <a:r>
                  <a:rPr lang="en-US" altLang="ko-KR" sz="1000" b="1" dirty="0"/>
                  <a:t>    callback("Error: " + </a:t>
                </a:r>
                <a:r>
                  <a:rPr lang="en-US" altLang="ko-KR" sz="1000" b="1" dirty="0" err="1"/>
                  <a:t>e.message</a:t>
                </a:r>
                <a:r>
                  <a:rPr lang="en-US" altLang="ko-KR" sz="1000" b="1" dirty="0"/>
                  <a:t>);</a:t>
                </a:r>
              </a:p>
              <a:p>
                <a:r>
                  <a:rPr lang="en-US" altLang="ko-KR" sz="1000" b="1" dirty="0"/>
                  <a:t>  });</a:t>
                </a:r>
              </a:p>
              <a:p>
                <a:r>
                  <a:rPr lang="en-US" altLang="ko-KR" sz="1000" b="1" dirty="0"/>
                  <a:t>}</a:t>
                </a:r>
              </a:p>
              <a:p>
                <a:r>
                  <a:rPr lang="en-US" altLang="ko-KR" sz="1000" b="1" dirty="0"/>
                  <a:t>…</a:t>
                </a:r>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p:txBody>
          </p:sp>
          <p:sp>
            <p:nvSpPr>
              <p:cNvPr id="10" name="TextBox 9">
                <a:extLst>
                  <a:ext uri="{FF2B5EF4-FFF2-40B4-BE49-F238E27FC236}">
                    <a16:creationId xmlns:a16="http://schemas.microsoft.com/office/drawing/2014/main" id="{85E13F8A-0C6B-69B9-E66C-56AFB39A8AAE}"/>
                  </a:ext>
                </a:extLst>
              </p:cNvPr>
              <p:cNvSpPr txBox="1"/>
              <p:nvPr/>
            </p:nvSpPr>
            <p:spPr>
              <a:xfrm>
                <a:off x="2288022" y="3108755"/>
                <a:ext cx="4112778" cy="2862322"/>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http = require('http');</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os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require('</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os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fs = require('fs');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dns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require('</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dns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dataFile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"/var/data/kubia.txt";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const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serviceName</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kubia.default.svc.cluster.local</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const port = 8080;</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function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fileExists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(file)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try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fs.statSync</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(file);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return true;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catch (e)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return false;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lang="ko-KR" altLang="en-US" dirty="0"/>
              </a:p>
            </p:txBody>
          </p:sp>
        </p:grpSp>
        <p:sp>
          <p:nvSpPr>
            <p:cNvPr id="12" name="TextBox 11">
              <a:extLst>
                <a:ext uri="{FF2B5EF4-FFF2-40B4-BE49-F238E27FC236}">
                  <a16:creationId xmlns:a16="http://schemas.microsoft.com/office/drawing/2014/main" id="{A90CF239-F13E-8EF8-EF6D-CBD719C42242}"/>
                </a:ext>
              </a:extLst>
            </p:cNvPr>
            <p:cNvSpPr txBox="1"/>
            <p:nvPr/>
          </p:nvSpPr>
          <p:spPr>
            <a:xfrm>
              <a:off x="8419841" y="5797684"/>
              <a:ext cx="1788935" cy="246221"/>
            </a:xfrm>
            <a:prstGeom prst="rect">
              <a:avLst/>
            </a:prstGeom>
            <a:noFill/>
          </p:spPr>
          <p:txBody>
            <a:bodyPr wrap="square" rtlCol="0">
              <a:spAutoFit/>
            </a:bodyPr>
            <a:lstStyle/>
            <a:p>
              <a:pPr algn="l"/>
              <a:r>
                <a:rPr lang="en-US" altLang="ko-KR" sz="1000" b="1" dirty="0" err="1"/>
                <a:t>kubia</a:t>
              </a:r>
              <a:r>
                <a:rPr lang="en-US" altLang="ko-KR" sz="1000" b="1" dirty="0"/>
                <a:t>-pet-peers-image/app.js</a:t>
              </a:r>
              <a:endParaRPr lang="ko-KR" altLang="en-US" sz="1000" b="1" dirty="0"/>
            </a:p>
          </p:txBody>
        </p:sp>
      </p:grpSp>
    </p:spTree>
    <p:extLst>
      <p:ext uri="{BB962C8B-B14F-4D97-AF65-F5344CB8AC3E}">
        <p14:creationId xmlns:p14="http://schemas.microsoft.com/office/powerpoint/2010/main" val="2495667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(6/12)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Implementing Peer Discovery Through DNS :</a:t>
            </a:r>
          </a:p>
          <a:p>
            <a:pPr lvl="1">
              <a:buFont typeface="Wingdings" panose="05000000000000000000" pitchFamily="2" charset="2"/>
              <a:buChar char="§"/>
            </a:pPr>
            <a:r>
              <a:rPr lang="en-US" altLang="ko-KR" sz="1400" dirty="0"/>
              <a:t>As you can see from the following code, “</a:t>
            </a:r>
            <a:r>
              <a:rPr lang="en-US" altLang="ko-KR" sz="1400" b="1" dirty="0" err="1">
                <a:solidFill>
                  <a:srgbClr val="FF0000"/>
                </a:solidFill>
              </a:rPr>
              <a:t>dns.resolveSrv</a:t>
            </a:r>
            <a:r>
              <a:rPr lang="en-US" altLang="ko-KR" sz="1400" b="1" dirty="0">
                <a:solidFill>
                  <a:srgbClr val="FF0000"/>
                </a:solidFill>
              </a:rPr>
              <a:t>()</a:t>
            </a:r>
            <a:r>
              <a:rPr lang="en-US" altLang="ko-KR" sz="1400" dirty="0"/>
              <a:t>” is used to </a:t>
            </a:r>
            <a:r>
              <a:rPr lang="en-US" altLang="ko-KR" sz="1400" b="1" dirty="0"/>
              <a:t>get the peer list </a:t>
            </a:r>
            <a:r>
              <a:rPr lang="en-US" altLang="ko-KR" sz="1400" dirty="0"/>
              <a:t>and </a:t>
            </a:r>
            <a:r>
              <a:rPr lang="en-US" altLang="ko-KR" sz="1400" b="1" dirty="0"/>
              <a:t>the response values are used to find other peers</a:t>
            </a:r>
            <a:r>
              <a:rPr lang="en-US" altLang="ko-KR" sz="1400" dirty="0"/>
              <a:t>. Then </a:t>
            </a:r>
            <a:r>
              <a:rPr lang="en-US" altLang="ko-KR" sz="1400" b="1" dirty="0"/>
              <a:t>it send “HTTP GET request” to each peers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E0A36671-0651-78FA-094E-131B50F7B777}"/>
              </a:ext>
            </a:extLst>
          </p:cNvPr>
          <p:cNvGrpSpPr/>
          <p:nvPr/>
        </p:nvGrpSpPr>
        <p:grpSpPr>
          <a:xfrm>
            <a:off x="1427281" y="1745241"/>
            <a:ext cx="9337438" cy="4093428"/>
            <a:chOff x="1368352" y="1477538"/>
            <a:chExt cx="9511940" cy="4093428"/>
          </a:xfrm>
        </p:grpSpPr>
        <p:grpSp>
          <p:nvGrpSpPr>
            <p:cNvPr id="12" name="그룹 11">
              <a:extLst>
                <a:ext uri="{FF2B5EF4-FFF2-40B4-BE49-F238E27FC236}">
                  <a16:creationId xmlns:a16="http://schemas.microsoft.com/office/drawing/2014/main" id="{80B31A59-ABEA-9E25-2E69-B2E2556C2BBE}"/>
                </a:ext>
              </a:extLst>
            </p:cNvPr>
            <p:cNvGrpSpPr/>
            <p:nvPr/>
          </p:nvGrpSpPr>
          <p:grpSpPr>
            <a:xfrm>
              <a:off x="6124322" y="1477538"/>
              <a:ext cx="4755970" cy="4093428"/>
              <a:chOff x="6124322" y="1477538"/>
              <a:chExt cx="4755970" cy="4093428"/>
            </a:xfrm>
          </p:grpSpPr>
          <p:sp>
            <p:nvSpPr>
              <p:cNvPr id="8" name="TextBox 7">
                <a:extLst>
                  <a:ext uri="{FF2B5EF4-FFF2-40B4-BE49-F238E27FC236}">
                    <a16:creationId xmlns:a16="http://schemas.microsoft.com/office/drawing/2014/main" id="{02B3BCC7-FC2D-AFC9-7772-44A7BA47CAF7}"/>
                  </a:ext>
                </a:extLst>
              </p:cNvPr>
              <p:cNvSpPr txBox="1"/>
              <p:nvPr/>
            </p:nvSpPr>
            <p:spPr>
              <a:xfrm>
                <a:off x="6124322" y="1477538"/>
                <a:ext cx="4755970" cy="4093428"/>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else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addresses.forEach</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(function (item) </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var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requestOptions</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host: item.name,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port: port,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path: '/data'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httpGet</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requestOptions</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function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returnedData</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numResponses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response.write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 item.name + ": "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returnedData</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if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numResponses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addresses.length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response.end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var www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http.createServer</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(handler);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www.listen(port);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32B6FB00-B41F-8D26-C28E-6BA5C67BF731}"/>
                  </a:ext>
                </a:extLst>
              </p:cNvPr>
              <p:cNvSpPr txBox="1"/>
              <p:nvPr/>
            </p:nvSpPr>
            <p:spPr>
              <a:xfrm>
                <a:off x="8813805" y="5324745"/>
                <a:ext cx="1994457" cy="246221"/>
              </a:xfrm>
              <a:prstGeom prst="rect">
                <a:avLst/>
              </a:prstGeom>
              <a:noFill/>
            </p:spPr>
            <p:txBody>
              <a:bodyPr wrap="none" rtlCol="0">
                <a:spAutoFit/>
              </a:bodyPr>
              <a:lstStyle/>
              <a:p>
                <a:pPr algn="l"/>
                <a:r>
                  <a:rPr lang="en-US" altLang="ko-KR" sz="1000" b="1" dirty="0" err="1"/>
                  <a:t>kubia</a:t>
                </a:r>
                <a:r>
                  <a:rPr lang="en-US" altLang="ko-KR" sz="1000" b="1" dirty="0"/>
                  <a:t>-pet-peers-image/app.js</a:t>
                </a:r>
                <a:endParaRPr lang="ko-KR" altLang="en-US" sz="1000" b="1" dirty="0"/>
              </a:p>
            </p:txBody>
          </p:sp>
        </p:grpSp>
        <p:sp>
          <p:nvSpPr>
            <p:cNvPr id="11" name="TextBox 10">
              <a:extLst>
                <a:ext uri="{FF2B5EF4-FFF2-40B4-BE49-F238E27FC236}">
                  <a16:creationId xmlns:a16="http://schemas.microsoft.com/office/drawing/2014/main" id="{76856F63-DF11-97DA-624B-11BB75E816B8}"/>
                </a:ext>
              </a:extLst>
            </p:cNvPr>
            <p:cNvSpPr txBox="1"/>
            <p:nvPr/>
          </p:nvSpPr>
          <p:spPr>
            <a:xfrm>
              <a:off x="1368352" y="1477538"/>
              <a:ext cx="4755970" cy="4093428"/>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var handler = function(request, response)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if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request.method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'POST')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var file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fs.createWriteStream</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dataFile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file.on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('open', function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request.pipe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(file);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response.writeHead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(200);</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response.end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("Data stored on pod "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os.hostname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else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response.writeHead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(200);</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if (request.url == '/data')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var data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fileExists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dataFile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fs.readFileSync</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dataFile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'utf8') : "No data posted yet";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response.end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else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response.write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("You've hit "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os.hostname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response.write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("Data stored in the cluster:\n");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dns.resolveSrv</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serviceName</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function (err, addresses)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if (err)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response.end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("Could not look up DNS SRV records: " + err);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return;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var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numResponses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0;</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if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addresses.length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0)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response.end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("No peers discovered.");</a:t>
              </a:r>
            </a:p>
          </p:txBody>
        </p:sp>
      </p:grpSp>
    </p:spTree>
    <p:extLst>
      <p:ext uri="{BB962C8B-B14F-4D97-AF65-F5344CB8AC3E}">
        <p14:creationId xmlns:p14="http://schemas.microsoft.com/office/powerpoint/2010/main" val="39862787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(7/12)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Implementing Peer Discovery Through DNS :</a:t>
            </a:r>
          </a:p>
          <a:p>
            <a:pPr lvl="1">
              <a:buFont typeface="Wingdings" panose="05000000000000000000" pitchFamily="2" charset="2"/>
              <a:buChar char="§"/>
            </a:pPr>
            <a:r>
              <a:rPr lang="en-US" altLang="ko-KR" sz="1400" b="1" dirty="0"/>
              <a:t>The following figure shows what happens when a GET request is received by your app</a:t>
            </a:r>
            <a:r>
              <a:rPr lang="en-US" altLang="ko-KR" sz="1400" dirty="0"/>
              <a:t>. The server that receives the request first performs </a:t>
            </a:r>
            <a:r>
              <a:rPr lang="en-US" altLang="ko-KR" sz="1400" b="1" dirty="0"/>
              <a:t>a lookup of SRV records for the headless </a:t>
            </a:r>
            <a:r>
              <a:rPr lang="en-US" altLang="ko-KR" sz="1400" b="1" dirty="0" err="1"/>
              <a:t>kubia</a:t>
            </a:r>
            <a:r>
              <a:rPr lang="en-US" altLang="ko-KR" sz="1400" b="1" dirty="0"/>
              <a:t> service </a:t>
            </a:r>
            <a:r>
              <a:rPr lang="en-US" altLang="ko-KR" sz="1400" dirty="0"/>
              <a:t>and </a:t>
            </a:r>
            <a:r>
              <a:rPr lang="en-US" altLang="ko-KR" sz="1400" b="1" dirty="0"/>
              <a:t>then sends a GET request to each of the pods </a:t>
            </a:r>
            <a:r>
              <a:rPr lang="en-US" altLang="ko-KR" sz="1400" dirty="0"/>
              <a:t>backing the service (even to itself, which obviously isn’t necessary, but I wanted to keep the code as simple as possible). </a:t>
            </a:r>
            <a:r>
              <a:rPr lang="en-US" altLang="ko-KR" sz="1400" b="1" dirty="0"/>
              <a:t>It then returns a list of all the nodes along with the data stored on each of them</a:t>
            </a:r>
            <a:r>
              <a:rPr lang="en-US" altLang="ko-KR" sz="1400" dirty="0"/>
              <a:t>.</a:t>
            </a:r>
          </a:p>
          <a:p>
            <a:pPr lvl="1">
              <a:buFont typeface="Wingdings" panose="05000000000000000000" pitchFamily="2" charset="2"/>
              <a:buChar char="§"/>
            </a:pPr>
            <a:r>
              <a:rPr lang="en-US" altLang="ko-KR" sz="1400" dirty="0"/>
              <a:t>The container image containing this new version of the app is available at “</a:t>
            </a:r>
            <a:r>
              <a:rPr lang="en-US" altLang="ko-KR" sz="1400" b="1" dirty="0"/>
              <a:t>knix008/</a:t>
            </a:r>
            <a:r>
              <a:rPr lang="en-US" altLang="ko-KR" sz="1400" b="1" dirty="0" err="1"/>
              <a:t>kubia</a:t>
            </a:r>
            <a:r>
              <a:rPr lang="en-US" altLang="ko-KR" sz="1400" b="1" dirty="0"/>
              <a:t>-pet-peers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1336F379-1E69-9C16-58EE-F20A621D1D2C}"/>
              </a:ext>
            </a:extLst>
          </p:cNvPr>
          <p:cNvPicPr>
            <a:picLocks noChangeAspect="1"/>
          </p:cNvPicPr>
          <p:nvPr/>
        </p:nvPicPr>
        <p:blipFill>
          <a:blip r:embed="rId2"/>
          <a:stretch>
            <a:fillRect/>
          </a:stretch>
        </p:blipFill>
        <p:spPr>
          <a:xfrm>
            <a:off x="3395662" y="2466975"/>
            <a:ext cx="5400675" cy="1924050"/>
          </a:xfrm>
          <a:prstGeom prst="rect">
            <a:avLst/>
          </a:prstGeom>
        </p:spPr>
      </p:pic>
    </p:spTree>
    <p:extLst>
      <p:ext uri="{BB962C8B-B14F-4D97-AF65-F5344CB8AC3E}">
        <p14:creationId xmlns:p14="http://schemas.microsoft.com/office/powerpoint/2010/main" val="28395047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Build Docker Image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Docker Image Build for The Example :</a:t>
            </a:r>
          </a:p>
          <a:p>
            <a:pPr lvl="1">
              <a:buFont typeface="Wingdings" panose="05000000000000000000" pitchFamily="2" charset="2"/>
              <a:buChar char="§"/>
            </a:pPr>
            <a:r>
              <a:rPr lang="en-US" altLang="ko-KR" sz="1400" dirty="0"/>
              <a:t>You need to </a:t>
            </a:r>
            <a:r>
              <a:rPr lang="en-US" altLang="ko-KR" sz="1400" b="1" dirty="0"/>
              <a:t>build the docker image </a:t>
            </a:r>
            <a:r>
              <a:rPr lang="en-US" altLang="ko-KR" sz="1400" dirty="0"/>
              <a:t>and </a:t>
            </a:r>
            <a:r>
              <a:rPr lang="en-US" altLang="ko-KR" sz="1400" b="1" dirty="0"/>
              <a:t>push it into the Docker Hub repository </a:t>
            </a:r>
            <a:r>
              <a:rPr lang="en-US" altLang="ko-KR" sz="1400" dirty="0"/>
              <a:t>before you run the example. Use the following commands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0FAAFE0C-217A-0C8C-459E-AEC7595A21F4}"/>
              </a:ext>
            </a:extLst>
          </p:cNvPr>
          <p:cNvGrpSpPr/>
          <p:nvPr/>
        </p:nvGrpSpPr>
        <p:grpSpPr>
          <a:xfrm>
            <a:off x="1266293" y="1640170"/>
            <a:ext cx="9659413" cy="4768860"/>
            <a:chOff x="1266293" y="1587490"/>
            <a:chExt cx="9659413" cy="4768860"/>
          </a:xfrm>
        </p:grpSpPr>
        <p:pic>
          <p:nvPicPr>
            <p:cNvPr id="8" name="그림 7">
              <a:extLst>
                <a:ext uri="{FF2B5EF4-FFF2-40B4-BE49-F238E27FC236}">
                  <a16:creationId xmlns:a16="http://schemas.microsoft.com/office/drawing/2014/main" id="{F5FA8BAF-4271-14AB-B4F0-385257E49332}"/>
                </a:ext>
              </a:extLst>
            </p:cNvPr>
            <p:cNvPicPr>
              <a:picLocks noChangeAspect="1"/>
            </p:cNvPicPr>
            <p:nvPr/>
          </p:nvPicPr>
          <p:blipFill>
            <a:blip r:embed="rId2"/>
            <a:stretch>
              <a:fillRect/>
            </a:stretch>
          </p:blipFill>
          <p:spPr>
            <a:xfrm>
              <a:off x="1266293" y="2291347"/>
              <a:ext cx="9659413" cy="4065003"/>
            </a:xfrm>
            <a:prstGeom prst="rect">
              <a:avLst/>
            </a:prstGeom>
          </p:spPr>
        </p:pic>
        <p:sp>
          <p:nvSpPr>
            <p:cNvPr id="10" name="TextBox 9">
              <a:extLst>
                <a:ext uri="{FF2B5EF4-FFF2-40B4-BE49-F238E27FC236}">
                  <a16:creationId xmlns:a16="http://schemas.microsoft.com/office/drawing/2014/main" id="{21A4167E-1AF3-ABBF-75BB-A2346353B413}"/>
                </a:ext>
              </a:extLst>
            </p:cNvPr>
            <p:cNvSpPr txBox="1"/>
            <p:nvPr/>
          </p:nvSpPr>
          <p:spPr>
            <a:xfrm>
              <a:off x="3047326" y="1587490"/>
              <a:ext cx="6097348" cy="400110"/>
            </a:xfrm>
            <a:prstGeom prst="rect">
              <a:avLst/>
            </a:prstGeom>
            <a:noFill/>
            <a:ln>
              <a:solidFill>
                <a:schemeClr val="bg1">
                  <a:lumMod val="50000"/>
                </a:schemeClr>
              </a:solidFill>
            </a:ln>
          </p:spPr>
          <p:txBody>
            <a:bodyPr wrap="square">
              <a:spAutoFit/>
            </a:bodyPr>
            <a:lstStyle/>
            <a:p>
              <a:r>
                <a:rPr lang="en-US" altLang="ko-KR" sz="1000" b="1" dirty="0"/>
                <a:t>$ docker build -t </a:t>
              </a:r>
              <a:r>
                <a:rPr lang="en-US" altLang="ko-KR" sz="1000" b="1" dirty="0">
                  <a:solidFill>
                    <a:srgbClr val="FF0000"/>
                  </a:solidFill>
                </a:rPr>
                <a:t>knix008/</a:t>
              </a:r>
              <a:r>
                <a:rPr lang="en-US" altLang="ko-KR" sz="1000" b="1" dirty="0" err="1">
                  <a:solidFill>
                    <a:srgbClr val="FF0000"/>
                  </a:solidFill>
                </a:rPr>
                <a:t>kubia</a:t>
              </a:r>
              <a:r>
                <a:rPr lang="en-US" altLang="ko-KR" sz="1000" b="1" dirty="0">
                  <a:solidFill>
                    <a:srgbClr val="FF0000"/>
                  </a:solidFill>
                </a:rPr>
                <a:t>-pet-peers </a:t>
              </a:r>
              <a:r>
                <a:rPr lang="en-US" altLang="ko-KR" sz="1000" b="1" dirty="0"/>
                <a:t>.</a:t>
              </a:r>
            </a:p>
            <a:p>
              <a:r>
                <a:rPr lang="en-US" altLang="ko-KR" sz="1000" b="1" dirty="0"/>
                <a:t>$ docker push </a:t>
              </a:r>
              <a:r>
                <a:rPr lang="en-US" altLang="ko-KR" sz="1000" b="1" dirty="0">
                  <a:solidFill>
                    <a:srgbClr val="FF0000"/>
                  </a:solidFill>
                </a:rPr>
                <a:t>knix008/</a:t>
              </a:r>
              <a:r>
                <a:rPr lang="en-US" altLang="ko-KR" sz="1000" b="1" dirty="0" err="1">
                  <a:solidFill>
                    <a:srgbClr val="FF0000"/>
                  </a:solidFill>
                </a:rPr>
                <a:t>kubia</a:t>
              </a:r>
              <a:r>
                <a:rPr lang="en-US" altLang="ko-KR" sz="1000" b="1" dirty="0">
                  <a:solidFill>
                    <a:srgbClr val="FF0000"/>
                  </a:solidFill>
                </a:rPr>
                <a:t>-pet-peers</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7FDE8950-BF39-1DFD-B67A-8F5C10EF90EE}"/>
                </a:ext>
              </a:extLst>
            </p:cNvPr>
            <p:cNvSpPr/>
            <p:nvPr/>
          </p:nvSpPr>
          <p:spPr>
            <a:xfrm>
              <a:off x="5877515" y="1996298"/>
              <a:ext cx="436970" cy="29504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794806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(8/12)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Your </a:t>
            </a:r>
            <a:r>
              <a:rPr lang="en-US" altLang="ko-KR" sz="1400" b="1" dirty="0" err="1"/>
              <a:t>StatefulSet</a:t>
            </a:r>
            <a:r>
              <a:rPr lang="en-US" altLang="ko-KR" sz="1400" b="1" dirty="0"/>
              <a:t> is already running, so let’s see how to update its pod template so the pods use the new image</a:t>
            </a:r>
            <a:r>
              <a:rPr lang="en-US" altLang="ko-KR" sz="1400" dirty="0"/>
              <a:t>. </a:t>
            </a:r>
            <a:r>
              <a:rPr lang="en-US" altLang="ko-KR" sz="1400" b="1" dirty="0"/>
              <a:t>You’ll also set the replica count to 3 at the same time</a:t>
            </a:r>
            <a:r>
              <a:rPr lang="en-US" altLang="ko-KR" sz="1400" dirty="0"/>
              <a:t>. </a:t>
            </a:r>
            <a:r>
              <a:rPr lang="en-US" altLang="ko-KR" sz="1400" b="1" dirty="0"/>
              <a:t>To update the </a:t>
            </a:r>
            <a:r>
              <a:rPr lang="en-US" altLang="ko-KR" sz="1400" b="1" dirty="0" err="1"/>
              <a:t>StatefulSet</a:t>
            </a:r>
            <a:r>
              <a:rPr lang="en-US" altLang="ko-KR" sz="1400" b="1" dirty="0"/>
              <a:t>, use the “</a:t>
            </a:r>
            <a:r>
              <a:rPr lang="en-US" altLang="ko-KR" sz="1400" b="1" dirty="0" err="1"/>
              <a:t>kubectl</a:t>
            </a:r>
            <a:r>
              <a:rPr lang="en-US" altLang="ko-KR" sz="1400" b="1" dirty="0"/>
              <a:t> edit” command </a:t>
            </a:r>
            <a:r>
              <a:rPr lang="en-US" altLang="ko-KR" sz="1400" dirty="0"/>
              <a:t>(the “</a:t>
            </a:r>
            <a:r>
              <a:rPr lang="en-US" altLang="ko-KR" sz="1400" b="1" dirty="0"/>
              <a:t>patch</a:t>
            </a:r>
            <a:r>
              <a:rPr lang="en-US" altLang="ko-KR" sz="1400" dirty="0"/>
              <a:t>” command would be another option)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opens </a:t>
            </a:r>
            <a:r>
              <a:rPr lang="en-US" altLang="ko-KR" sz="1400" b="1" dirty="0"/>
              <a:t>the </a:t>
            </a:r>
            <a:r>
              <a:rPr lang="en-US" altLang="ko-KR" sz="1400" b="1" dirty="0" err="1"/>
              <a:t>StatefulSet</a:t>
            </a:r>
            <a:r>
              <a:rPr lang="en-US" altLang="ko-KR" sz="1400" b="1" dirty="0"/>
              <a:t> definition </a:t>
            </a:r>
            <a:r>
              <a:rPr lang="en-US" altLang="ko-KR" sz="1400" dirty="0"/>
              <a:t>in your default editor. In the definition, change </a:t>
            </a:r>
            <a:r>
              <a:rPr lang="en-US" altLang="ko-KR" sz="1400" b="1" dirty="0"/>
              <a:t>“</a:t>
            </a:r>
            <a:r>
              <a:rPr lang="en-US" altLang="ko-KR" sz="1400" b="1" dirty="0" err="1"/>
              <a:t>spec.replicas</a:t>
            </a:r>
            <a:r>
              <a:rPr lang="en-US" altLang="ko-KR" sz="1400" b="1" dirty="0"/>
              <a:t>” to 3 </a:t>
            </a:r>
            <a:r>
              <a:rPr lang="en-US" altLang="ko-KR" sz="1400" dirty="0"/>
              <a:t>and modify the </a:t>
            </a:r>
            <a:r>
              <a:rPr lang="en-US" altLang="ko-KR" sz="1400" b="1" dirty="0"/>
              <a:t>“</a:t>
            </a:r>
            <a:r>
              <a:rPr lang="en-US" altLang="ko-KR" sz="1400" b="1" dirty="0" err="1"/>
              <a:t>spec.template.spec.containers.image</a:t>
            </a:r>
            <a:r>
              <a:rPr lang="en-US" altLang="ko-KR" sz="1400" b="1" dirty="0"/>
              <a:t>” attribute so it points to the new image (“knix008/</a:t>
            </a:r>
            <a:r>
              <a:rPr lang="en-US" altLang="ko-KR" sz="1400" b="1" dirty="0" err="1"/>
              <a:t>kubia</a:t>
            </a:r>
            <a:r>
              <a:rPr lang="en-US" altLang="ko-KR" sz="1400" b="1" dirty="0"/>
              <a:t>-pet-peers” instead of “</a:t>
            </a:r>
            <a:r>
              <a:rPr lang="en-US" altLang="ko-KR" sz="1400" b="1" dirty="0" err="1"/>
              <a:t>luksa</a:t>
            </a:r>
            <a:r>
              <a:rPr lang="en-US" altLang="ko-KR" sz="1400" b="1" dirty="0"/>
              <a:t>/</a:t>
            </a:r>
            <a:r>
              <a:rPr lang="en-US" altLang="ko-KR" sz="1400" b="1" dirty="0" err="1"/>
              <a:t>kubia</a:t>
            </a:r>
            <a:r>
              <a:rPr lang="en-US" altLang="ko-KR" sz="1400" b="1" dirty="0"/>
              <a:t>-pet”)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900F1844-259A-A477-E613-D7EC76AB03FD}"/>
              </a:ext>
            </a:extLst>
          </p:cNvPr>
          <p:cNvGrpSpPr/>
          <p:nvPr/>
        </p:nvGrpSpPr>
        <p:grpSpPr>
          <a:xfrm>
            <a:off x="1481178" y="1885960"/>
            <a:ext cx="9229641" cy="3209305"/>
            <a:chOff x="1481178" y="1885960"/>
            <a:chExt cx="9229641" cy="3209305"/>
          </a:xfrm>
        </p:grpSpPr>
        <p:grpSp>
          <p:nvGrpSpPr>
            <p:cNvPr id="12" name="그룹 11">
              <a:extLst>
                <a:ext uri="{FF2B5EF4-FFF2-40B4-BE49-F238E27FC236}">
                  <a16:creationId xmlns:a16="http://schemas.microsoft.com/office/drawing/2014/main" id="{E1BC11D2-A04F-0793-A71D-1E07B7AB1EA9}"/>
                </a:ext>
              </a:extLst>
            </p:cNvPr>
            <p:cNvGrpSpPr/>
            <p:nvPr/>
          </p:nvGrpSpPr>
          <p:grpSpPr>
            <a:xfrm>
              <a:off x="1481178" y="1885960"/>
              <a:ext cx="9229641" cy="3209305"/>
              <a:chOff x="1481178" y="1885960"/>
              <a:chExt cx="9229641" cy="3209305"/>
            </a:xfrm>
          </p:grpSpPr>
          <p:sp>
            <p:nvSpPr>
              <p:cNvPr id="8" name="TextBox 7">
                <a:extLst>
                  <a:ext uri="{FF2B5EF4-FFF2-40B4-BE49-F238E27FC236}">
                    <a16:creationId xmlns:a16="http://schemas.microsoft.com/office/drawing/2014/main" id="{5F939DE5-A50C-5575-39A6-D5DE8C861021}"/>
                  </a:ext>
                </a:extLst>
              </p:cNvPr>
              <p:cNvSpPr txBox="1"/>
              <p:nvPr/>
            </p:nvSpPr>
            <p:spPr>
              <a:xfrm>
                <a:off x="3047326" y="188596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edit</a:t>
                </a:r>
                <a:r>
                  <a:rPr lang="en-US" altLang="ko-KR" sz="1000" b="1" dirty="0"/>
                  <a:t> </a:t>
                </a:r>
                <a:r>
                  <a:rPr lang="en-US" altLang="ko-KR" sz="1000" b="1" dirty="0" err="1">
                    <a:solidFill>
                      <a:srgbClr val="FF0000"/>
                    </a:solidFill>
                  </a:rPr>
                  <a:t>statefulset</a:t>
                </a:r>
                <a:r>
                  <a:rPr lang="en-US" altLang="ko-KR" sz="1000" b="1" dirty="0"/>
                  <a:t> </a:t>
                </a:r>
                <a:r>
                  <a:rPr lang="en-US" altLang="ko-KR" sz="1000" b="1" dirty="0" err="1">
                    <a:solidFill>
                      <a:srgbClr val="FF0000"/>
                    </a:solidFill>
                  </a:rPr>
                  <a:t>kubia</a:t>
                </a:r>
                <a:endParaRPr lang="en-US" altLang="ko-KR" sz="1000" b="1" dirty="0">
                  <a:solidFill>
                    <a:srgbClr val="FF0000"/>
                  </a:solidFill>
                </a:endParaRPr>
              </a:p>
            </p:txBody>
          </p:sp>
          <p:pic>
            <p:nvPicPr>
              <p:cNvPr id="10" name="그림 9">
                <a:extLst>
                  <a:ext uri="{FF2B5EF4-FFF2-40B4-BE49-F238E27FC236}">
                    <a16:creationId xmlns:a16="http://schemas.microsoft.com/office/drawing/2014/main" id="{A7B5670F-5DB0-057A-FA3F-78D5D85178A1}"/>
                  </a:ext>
                </a:extLst>
              </p:cNvPr>
              <p:cNvPicPr>
                <a:picLocks noChangeAspect="1"/>
              </p:cNvPicPr>
              <p:nvPr/>
            </p:nvPicPr>
            <p:blipFill>
              <a:blip r:embed="rId2"/>
              <a:stretch>
                <a:fillRect/>
              </a:stretch>
            </p:blipFill>
            <p:spPr>
              <a:xfrm>
                <a:off x="1481178" y="2403286"/>
                <a:ext cx="9229641" cy="2691979"/>
              </a:xfrm>
              <a:prstGeom prst="rect">
                <a:avLst/>
              </a:prstGeom>
            </p:spPr>
          </p:pic>
          <p:sp>
            <p:nvSpPr>
              <p:cNvPr id="11" name="화살표: 아래쪽 10">
                <a:extLst>
                  <a:ext uri="{FF2B5EF4-FFF2-40B4-BE49-F238E27FC236}">
                    <a16:creationId xmlns:a16="http://schemas.microsoft.com/office/drawing/2014/main" id="{96CDE0FE-6193-6F5D-255B-DD47E6C615F7}"/>
                  </a:ext>
                </a:extLst>
              </p:cNvPr>
              <p:cNvSpPr/>
              <p:nvPr/>
            </p:nvSpPr>
            <p:spPr>
              <a:xfrm>
                <a:off x="5893698" y="2157065"/>
                <a:ext cx="40460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C16F15DF-BC19-7065-E906-BD40818F63F4}"/>
                </a:ext>
              </a:extLst>
            </p:cNvPr>
            <p:cNvSpPr/>
            <p:nvPr/>
          </p:nvSpPr>
          <p:spPr>
            <a:xfrm>
              <a:off x="1925904" y="2956984"/>
              <a:ext cx="817296" cy="1584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D704C4CA-4909-01AE-79C2-80AAB9EE2C8D}"/>
                </a:ext>
              </a:extLst>
            </p:cNvPr>
            <p:cNvSpPr/>
            <p:nvPr/>
          </p:nvSpPr>
          <p:spPr>
            <a:xfrm>
              <a:off x="2330506" y="4669104"/>
              <a:ext cx="1917813" cy="1584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29835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(9/12)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Save the file and exit the editor to update the </a:t>
            </a:r>
            <a:r>
              <a:rPr lang="en-US" altLang="ko-KR" sz="1400" b="1" dirty="0" err="1"/>
              <a:t>StatefulSet</a:t>
            </a:r>
            <a:r>
              <a:rPr lang="en-US" altLang="ko-KR" sz="1400" dirty="0"/>
              <a:t>. Two replicas were running previously, so you should now </a:t>
            </a:r>
            <a:r>
              <a:rPr lang="en-US" altLang="ko-KR" sz="1400" b="1" dirty="0"/>
              <a:t>see an additional replica called “kubia-2” starting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A0A7E573-EA0C-A57E-2D73-7E9ED2AFFE5C}"/>
              </a:ext>
            </a:extLst>
          </p:cNvPr>
          <p:cNvGrpSpPr/>
          <p:nvPr/>
        </p:nvGrpSpPr>
        <p:grpSpPr>
          <a:xfrm>
            <a:off x="1355753" y="1802827"/>
            <a:ext cx="9480494" cy="3909986"/>
            <a:chOff x="1355753" y="1746182"/>
            <a:chExt cx="9480494" cy="3909986"/>
          </a:xfrm>
        </p:grpSpPr>
        <p:grpSp>
          <p:nvGrpSpPr>
            <p:cNvPr id="13" name="그룹 12">
              <a:extLst>
                <a:ext uri="{FF2B5EF4-FFF2-40B4-BE49-F238E27FC236}">
                  <a16:creationId xmlns:a16="http://schemas.microsoft.com/office/drawing/2014/main" id="{CBC477EF-4A4F-15EA-81AC-3C50719CEDF9}"/>
                </a:ext>
              </a:extLst>
            </p:cNvPr>
            <p:cNvGrpSpPr/>
            <p:nvPr/>
          </p:nvGrpSpPr>
          <p:grpSpPr>
            <a:xfrm>
              <a:off x="1355753" y="1746182"/>
              <a:ext cx="9480494" cy="3909986"/>
              <a:chOff x="1355753" y="1746182"/>
              <a:chExt cx="9480494" cy="3909986"/>
            </a:xfrm>
          </p:grpSpPr>
          <p:grpSp>
            <p:nvGrpSpPr>
              <p:cNvPr id="10" name="그룹 9">
                <a:extLst>
                  <a:ext uri="{FF2B5EF4-FFF2-40B4-BE49-F238E27FC236}">
                    <a16:creationId xmlns:a16="http://schemas.microsoft.com/office/drawing/2014/main" id="{58C06A63-5639-FF79-DF0C-842D77664ECB}"/>
                  </a:ext>
                </a:extLst>
              </p:cNvPr>
              <p:cNvGrpSpPr/>
              <p:nvPr/>
            </p:nvGrpSpPr>
            <p:grpSpPr>
              <a:xfrm>
                <a:off x="1355753" y="1746182"/>
                <a:ext cx="9480494" cy="2362223"/>
                <a:chOff x="1355753" y="2247888"/>
                <a:chExt cx="9480494" cy="2362223"/>
              </a:xfrm>
            </p:grpSpPr>
            <p:pic>
              <p:nvPicPr>
                <p:cNvPr id="8" name="그림 7">
                  <a:extLst>
                    <a:ext uri="{FF2B5EF4-FFF2-40B4-BE49-F238E27FC236}">
                      <a16:creationId xmlns:a16="http://schemas.microsoft.com/office/drawing/2014/main" id="{62252F0B-5369-349A-A18B-6BA72730331B}"/>
                    </a:ext>
                  </a:extLst>
                </p:cNvPr>
                <p:cNvPicPr>
                  <a:picLocks noChangeAspect="1"/>
                </p:cNvPicPr>
                <p:nvPr/>
              </p:nvPicPr>
              <p:blipFill>
                <a:blip r:embed="rId2"/>
                <a:stretch>
                  <a:fillRect/>
                </a:stretch>
              </p:blipFill>
              <p:spPr>
                <a:xfrm>
                  <a:off x="1355753" y="2247888"/>
                  <a:ext cx="9480494" cy="2362223"/>
                </a:xfrm>
                <a:prstGeom prst="rect">
                  <a:avLst/>
                </a:prstGeom>
              </p:spPr>
            </p:pic>
            <p:sp>
              <p:nvSpPr>
                <p:cNvPr id="9" name="직사각형 8">
                  <a:extLst>
                    <a:ext uri="{FF2B5EF4-FFF2-40B4-BE49-F238E27FC236}">
                      <a16:creationId xmlns:a16="http://schemas.microsoft.com/office/drawing/2014/main" id="{A3AD8063-059F-967B-02B3-240E21FF09EA}"/>
                    </a:ext>
                  </a:extLst>
                </p:cNvPr>
                <p:cNvSpPr/>
                <p:nvPr/>
              </p:nvSpPr>
              <p:spPr>
                <a:xfrm>
                  <a:off x="1456566" y="4175490"/>
                  <a:ext cx="3099250"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D2927C6B-C739-C312-610D-931AEA8FB96A}"/>
                  </a:ext>
                </a:extLst>
              </p:cNvPr>
              <p:cNvPicPr>
                <a:picLocks noChangeAspect="1"/>
              </p:cNvPicPr>
              <p:nvPr/>
            </p:nvPicPr>
            <p:blipFill>
              <a:blip r:embed="rId3"/>
              <a:stretch>
                <a:fillRect/>
              </a:stretch>
            </p:blipFill>
            <p:spPr>
              <a:xfrm>
                <a:off x="1355753" y="4155089"/>
                <a:ext cx="9480494" cy="1501079"/>
              </a:xfrm>
              <a:prstGeom prst="rect">
                <a:avLst/>
              </a:prstGeom>
            </p:spPr>
          </p:pic>
        </p:grpSp>
        <p:sp>
          <p:nvSpPr>
            <p:cNvPr id="14" name="직사각형 13">
              <a:extLst>
                <a:ext uri="{FF2B5EF4-FFF2-40B4-BE49-F238E27FC236}">
                  <a16:creationId xmlns:a16="http://schemas.microsoft.com/office/drawing/2014/main" id="{6CA51334-D362-B502-132C-63CCDFDBF012}"/>
                </a:ext>
              </a:extLst>
            </p:cNvPr>
            <p:cNvSpPr/>
            <p:nvPr/>
          </p:nvSpPr>
          <p:spPr>
            <a:xfrm>
              <a:off x="1464658" y="4879497"/>
              <a:ext cx="2816029" cy="2670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0717553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(10/12)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 </a:t>
            </a:r>
            <a:r>
              <a:rPr lang="en-US" altLang="ko-KR" sz="1800" b="1" dirty="0" err="1"/>
              <a:t>StatefulSet</a:t>
            </a:r>
            <a:r>
              <a:rPr lang="en-US" altLang="ko-KR" sz="1800" b="1" dirty="0"/>
              <a:t> :</a:t>
            </a:r>
          </a:p>
          <a:p>
            <a:pPr lvl="1">
              <a:buFont typeface="Wingdings" panose="05000000000000000000" pitchFamily="2" charset="2"/>
              <a:buChar char="§"/>
            </a:pPr>
            <a:r>
              <a:rPr lang="en-US" altLang="ko-KR" sz="1400" b="1" dirty="0"/>
              <a:t>The new pod instance is running the new image</a:t>
            </a:r>
            <a:r>
              <a:rPr lang="en-US" altLang="ko-KR" sz="1400" dirty="0"/>
              <a:t>. But what about the existing two replicas? Judging from their age in the previous screenshot, they seem to have been updated. </a:t>
            </a:r>
          </a:p>
          <a:p>
            <a:pPr lvl="1">
              <a:buFont typeface="Wingdings" panose="05000000000000000000" pitchFamily="2" charset="2"/>
              <a:buChar char="§"/>
            </a:pPr>
            <a:r>
              <a:rPr lang="en-US" altLang="ko-KR" sz="1400" b="1" dirty="0"/>
              <a:t>NOTE : Starting from Kubernetes version 1.7, </a:t>
            </a:r>
            <a:r>
              <a:rPr lang="en-US" altLang="ko-KR" sz="1400" b="1" dirty="0" err="1"/>
              <a:t>StatefulSets</a:t>
            </a:r>
            <a:r>
              <a:rPr lang="en-US" altLang="ko-KR" sz="1400" b="1" dirty="0"/>
              <a:t> support rolling updates the same way Deployments and </a:t>
            </a:r>
            <a:r>
              <a:rPr lang="en-US" altLang="ko-KR" sz="1400" b="1" dirty="0" err="1"/>
              <a:t>DaemonSets</a:t>
            </a:r>
            <a:r>
              <a:rPr lang="en-US" altLang="ko-KR" sz="1400" b="1" dirty="0"/>
              <a:t> do</a:t>
            </a:r>
            <a:r>
              <a:rPr lang="en-US" altLang="ko-KR" sz="1400" dirty="0"/>
              <a:t>. See the </a:t>
            </a:r>
            <a:r>
              <a:rPr lang="en-US" altLang="ko-KR" sz="1400" b="1" dirty="0" err="1"/>
              <a:t>StatefulSet’s</a:t>
            </a:r>
            <a:r>
              <a:rPr lang="en-US" altLang="ko-KR" sz="1400" b="1" dirty="0"/>
              <a:t> “</a:t>
            </a:r>
            <a:r>
              <a:rPr lang="en-US" altLang="ko-KR" sz="1400" b="1" dirty="0" err="1">
                <a:solidFill>
                  <a:srgbClr val="FF0000"/>
                </a:solidFill>
              </a:rPr>
              <a:t>spec.updateStrategy</a:t>
            </a:r>
            <a:r>
              <a:rPr lang="en-US" altLang="ko-KR" sz="1400" dirty="0"/>
              <a:t>” field documentation using </a:t>
            </a:r>
            <a:r>
              <a:rPr lang="en-US" altLang="ko-KR" sz="1400" dirty="0" err="1"/>
              <a:t>kubectl</a:t>
            </a:r>
            <a:r>
              <a:rPr lang="en-US" altLang="ko-KR" sz="1400" dirty="0"/>
              <a:t> explain for more information. </a:t>
            </a:r>
            <a:r>
              <a:rPr lang="en-US" altLang="ko-KR" sz="1400" b="1" dirty="0"/>
              <a:t>As you can see from the previous screenshot, we used the rolling updates of the </a:t>
            </a:r>
            <a:r>
              <a:rPr lang="en-US" altLang="ko-KR" sz="1400" b="1" dirty="0" err="1"/>
              <a:t>StatefulSets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1" name="그림 10">
            <a:extLst>
              <a:ext uri="{FF2B5EF4-FFF2-40B4-BE49-F238E27FC236}">
                <a16:creationId xmlns:a16="http://schemas.microsoft.com/office/drawing/2014/main" id="{2E24BF66-4AC0-1734-EC5B-3F6A71C72C59}"/>
              </a:ext>
            </a:extLst>
          </p:cNvPr>
          <p:cNvPicPr>
            <a:picLocks noChangeAspect="1"/>
          </p:cNvPicPr>
          <p:nvPr/>
        </p:nvPicPr>
        <p:blipFill>
          <a:blip r:embed="rId2"/>
          <a:stretch>
            <a:fillRect/>
          </a:stretch>
        </p:blipFill>
        <p:spPr>
          <a:xfrm>
            <a:off x="4219069" y="2835569"/>
            <a:ext cx="3867150" cy="3248025"/>
          </a:xfrm>
          <a:prstGeom prst="rect">
            <a:avLst/>
          </a:prstGeom>
        </p:spPr>
      </p:pic>
    </p:spTree>
    <p:extLst>
      <p:ext uri="{BB962C8B-B14F-4D97-AF65-F5344CB8AC3E}">
        <p14:creationId xmlns:p14="http://schemas.microsoft.com/office/powerpoint/2010/main" val="1550779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(11/12)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Trying out Your Clustered Data Store :</a:t>
            </a:r>
          </a:p>
          <a:p>
            <a:pPr lvl="1">
              <a:buFont typeface="Wingdings" panose="05000000000000000000" pitchFamily="2" charset="2"/>
              <a:buChar char="§"/>
            </a:pPr>
            <a:r>
              <a:rPr lang="en-US" altLang="ko-KR" sz="1400" dirty="0"/>
              <a:t>Once the two pods are up, you can see if your shiny new Stone Age data store works as expected. </a:t>
            </a:r>
            <a:r>
              <a:rPr lang="en-US" altLang="ko-KR" sz="1400" b="1" dirty="0"/>
              <a:t>Post a few requests to the cluster</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7BE0304-22F5-5417-DD8F-339512639528}"/>
              </a:ext>
            </a:extLst>
          </p:cNvPr>
          <p:cNvGrpSpPr/>
          <p:nvPr/>
        </p:nvGrpSpPr>
        <p:grpSpPr>
          <a:xfrm>
            <a:off x="1040163" y="1867907"/>
            <a:ext cx="10111673" cy="2495594"/>
            <a:chOff x="1040163" y="1827447"/>
            <a:chExt cx="10111673" cy="2495594"/>
          </a:xfrm>
        </p:grpSpPr>
        <p:sp>
          <p:nvSpPr>
            <p:cNvPr id="8" name="TextBox 7">
              <a:extLst>
                <a:ext uri="{FF2B5EF4-FFF2-40B4-BE49-F238E27FC236}">
                  <a16:creationId xmlns:a16="http://schemas.microsoft.com/office/drawing/2014/main" id="{525184DD-8F95-DD8C-6218-13ADC1A940A2}"/>
                </a:ext>
              </a:extLst>
            </p:cNvPr>
            <p:cNvSpPr txBox="1"/>
            <p:nvPr/>
          </p:nvSpPr>
          <p:spPr>
            <a:xfrm>
              <a:off x="2105615" y="1827447"/>
              <a:ext cx="7980770" cy="400110"/>
            </a:xfrm>
            <a:prstGeom prst="rect">
              <a:avLst/>
            </a:prstGeom>
            <a:noFill/>
            <a:ln>
              <a:solidFill>
                <a:schemeClr val="bg1">
                  <a:lumMod val="50000"/>
                </a:schemeClr>
              </a:solidFill>
            </a:ln>
          </p:spPr>
          <p:txBody>
            <a:bodyPr wrap="square">
              <a:spAutoFit/>
            </a:bodyPr>
            <a:lstStyle/>
            <a:p>
              <a:r>
                <a:rPr lang="en-US" altLang="ko-KR" sz="1000" b="1" dirty="0"/>
                <a:t>$ curl -X POST -d "The sun is shining" localhost:8001/</a:t>
              </a:r>
              <a:r>
                <a:rPr lang="en-US" altLang="ko-KR" sz="1000" b="1" dirty="0" err="1"/>
                <a:t>api</a:t>
              </a:r>
              <a:r>
                <a:rPr lang="en-US" altLang="ko-KR" sz="1000" b="1" dirty="0"/>
                <a:t>/v1/namespaces/default/</a:t>
              </a:r>
              <a:r>
                <a:rPr lang="en-US" altLang="ko-KR" sz="1000" b="1" dirty="0">
                  <a:solidFill>
                    <a:srgbClr val="FF0000"/>
                  </a:solidFill>
                </a:rPr>
                <a:t>services</a:t>
              </a:r>
              <a:r>
                <a:rPr lang="en-US" altLang="ko-KR" sz="1000" b="1" dirty="0"/>
                <a:t>/</a:t>
              </a:r>
              <a:r>
                <a:rPr lang="en-US" altLang="ko-KR" sz="1000" b="1" dirty="0" err="1">
                  <a:solidFill>
                    <a:srgbClr val="FF0000"/>
                  </a:solidFill>
                </a:rPr>
                <a:t>kubia</a:t>
              </a:r>
              <a:r>
                <a:rPr lang="en-US" altLang="ko-KR" sz="1000" b="1" dirty="0">
                  <a:solidFill>
                    <a:srgbClr val="FF0000"/>
                  </a:solidFill>
                </a:rPr>
                <a:t>-public</a:t>
              </a:r>
              <a:r>
                <a:rPr lang="en-US" altLang="ko-KR" sz="1000" b="1" dirty="0"/>
                <a:t>/proxy/</a:t>
              </a:r>
            </a:p>
            <a:p>
              <a:r>
                <a:rPr lang="en-US" altLang="ko-KR" sz="1000" b="1" dirty="0"/>
                <a:t>$ curl -X POST -d "The weather is sweet" localhost:8001/</a:t>
              </a:r>
              <a:r>
                <a:rPr lang="en-US" altLang="ko-KR" sz="1000" b="1" dirty="0" err="1"/>
                <a:t>api</a:t>
              </a:r>
              <a:r>
                <a:rPr lang="en-US" altLang="ko-KR" sz="1000" b="1" dirty="0"/>
                <a:t>/v1/namespaces/default/</a:t>
              </a:r>
              <a:r>
                <a:rPr lang="en-US" altLang="ko-KR" sz="1000" b="1" dirty="0">
                  <a:solidFill>
                    <a:srgbClr val="FF0000"/>
                  </a:solidFill>
                </a:rPr>
                <a:t>services</a:t>
              </a:r>
              <a:r>
                <a:rPr lang="en-US" altLang="ko-KR" sz="1000" b="1" dirty="0"/>
                <a:t>/</a:t>
              </a:r>
              <a:r>
                <a:rPr lang="en-US" altLang="ko-KR" sz="1000" b="1" dirty="0" err="1">
                  <a:solidFill>
                    <a:srgbClr val="FF0000"/>
                  </a:solidFill>
                </a:rPr>
                <a:t>kubia</a:t>
              </a:r>
              <a:r>
                <a:rPr lang="en-US" altLang="ko-KR" sz="1000" b="1" dirty="0">
                  <a:solidFill>
                    <a:srgbClr val="FF0000"/>
                  </a:solidFill>
                </a:rPr>
                <a:t>-public</a:t>
              </a:r>
              <a:r>
                <a:rPr lang="en-US" altLang="ko-KR" sz="1000" b="1" dirty="0"/>
                <a:t>/proxy/</a:t>
              </a:r>
              <a:endParaRPr lang="ko-KR" altLang="en-US" sz="1000" b="1" dirty="0"/>
            </a:p>
          </p:txBody>
        </p:sp>
        <p:sp>
          <p:nvSpPr>
            <p:cNvPr id="9" name="화살표: 아래쪽 8">
              <a:extLst>
                <a:ext uri="{FF2B5EF4-FFF2-40B4-BE49-F238E27FC236}">
                  <a16:creationId xmlns:a16="http://schemas.microsoft.com/office/drawing/2014/main" id="{DD6C1017-E108-943F-9AF7-F01C2DF81BE5}"/>
                </a:ext>
              </a:extLst>
            </p:cNvPr>
            <p:cNvSpPr/>
            <p:nvPr/>
          </p:nvSpPr>
          <p:spPr>
            <a:xfrm>
              <a:off x="5873469" y="2241494"/>
              <a:ext cx="445062" cy="33177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EB151BB5-92A5-0791-C0A9-DC852C516245}"/>
                </a:ext>
              </a:extLst>
            </p:cNvPr>
            <p:cNvPicPr>
              <a:picLocks noChangeAspect="1"/>
            </p:cNvPicPr>
            <p:nvPr/>
          </p:nvPicPr>
          <p:blipFill>
            <a:blip r:embed="rId2"/>
            <a:stretch>
              <a:fillRect/>
            </a:stretch>
          </p:blipFill>
          <p:spPr>
            <a:xfrm>
              <a:off x="1040163" y="2587204"/>
              <a:ext cx="10111673" cy="1735837"/>
            </a:xfrm>
            <a:prstGeom prst="rect">
              <a:avLst/>
            </a:prstGeom>
          </p:spPr>
        </p:pic>
      </p:grpSp>
    </p:spTree>
    <p:extLst>
      <p:ext uri="{BB962C8B-B14F-4D97-AF65-F5344CB8AC3E}">
        <p14:creationId xmlns:p14="http://schemas.microsoft.com/office/powerpoint/2010/main" val="2278386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Discovering Peers in a </a:t>
            </a:r>
            <a:r>
              <a:rPr lang="en-US" altLang="ko-KR" sz="2800" b="1" dirty="0" err="1"/>
              <a:t>StatefulSet</a:t>
            </a:r>
            <a:r>
              <a:rPr lang="en-US" altLang="ko-KR" sz="2800" b="1" dirty="0"/>
              <a:t>(12/12)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Trying out Your Clustered Data Store :</a:t>
            </a:r>
          </a:p>
          <a:p>
            <a:pPr lvl="1">
              <a:buFont typeface="Wingdings" panose="05000000000000000000" pitchFamily="2" charset="2"/>
              <a:buChar char="§"/>
            </a:pPr>
            <a:r>
              <a:rPr lang="en-US" altLang="ko-KR" sz="1400" dirty="0"/>
              <a:t>Now, </a:t>
            </a:r>
            <a:r>
              <a:rPr lang="en-US" altLang="ko-KR" sz="1400" b="1" dirty="0"/>
              <a:t>read the stored data</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When a client request reaches one of your cluster nodes, it discovers all its peers, gathers data from them, and sends all the data back to the client(“</a:t>
            </a:r>
            <a:r>
              <a:rPr lang="en-US" altLang="ko-KR" sz="1400" b="1" dirty="0">
                <a:solidFill>
                  <a:srgbClr val="FF0000"/>
                </a:solidFill>
              </a:rPr>
              <a:t>knix008/</a:t>
            </a:r>
            <a:r>
              <a:rPr lang="en-US" altLang="ko-KR" sz="1400" b="1" dirty="0" err="1">
                <a:solidFill>
                  <a:srgbClr val="FF0000"/>
                </a:solidFill>
              </a:rPr>
              <a:t>kubia</a:t>
            </a:r>
            <a:r>
              <a:rPr lang="en-US" altLang="ko-KR" sz="1400" b="1" dirty="0">
                <a:solidFill>
                  <a:srgbClr val="FF0000"/>
                </a:solidFill>
              </a:rPr>
              <a:t>-pet-peers</a:t>
            </a:r>
            <a:r>
              <a:rPr lang="en-US" altLang="ko-KR" sz="1400" b="1" dirty="0"/>
              <a:t>” Docker Image)</a:t>
            </a:r>
            <a:r>
              <a:rPr lang="en-US" altLang="ko-KR" sz="1400" dirty="0"/>
              <a:t>. Even if you scale the </a:t>
            </a:r>
            <a:r>
              <a:rPr lang="en-US" altLang="ko-KR" sz="1400" b="1" dirty="0" err="1"/>
              <a:t>StatefulSet</a:t>
            </a:r>
            <a:r>
              <a:rPr lang="en-US" altLang="ko-KR" sz="1400" dirty="0"/>
              <a:t> up or down, the pod servicing the client’s request can always find all the peers running at that time.</a:t>
            </a:r>
          </a:p>
          <a:p>
            <a:pPr lvl="1">
              <a:buFont typeface="Wingdings" panose="05000000000000000000" pitchFamily="2" charset="2"/>
              <a:buChar char="§"/>
            </a:pPr>
            <a:r>
              <a:rPr lang="en-US" altLang="ko-KR" sz="1400" dirty="0"/>
              <a:t>In this example, you found that </a:t>
            </a:r>
            <a:r>
              <a:rPr lang="en-US" altLang="ko-KR" sz="1400" b="1" dirty="0"/>
              <a:t>instances of a replicated stateful app can discover their peers and handle </a:t>
            </a:r>
            <a:r>
              <a:rPr lang="en-US" altLang="ko-KR" sz="1400" b="1" dirty="0">
                <a:solidFill>
                  <a:srgbClr val="FF0000"/>
                </a:solidFill>
              </a:rPr>
              <a:t>horizontal scaling</a:t>
            </a:r>
            <a:r>
              <a:rPr lang="en-US" altLang="ko-KR" sz="1400" b="1" dirty="0"/>
              <a:t> with ease.</a:t>
            </a:r>
          </a:p>
          <a:p>
            <a:pPr lvl="1">
              <a:buFont typeface="Wingdings" panose="05000000000000000000" pitchFamily="2" charset="2"/>
              <a:buChar char="§"/>
            </a:pPr>
            <a:r>
              <a:rPr lang="en-US" altLang="ko-KR" sz="1400" b="1" dirty="0"/>
              <a:t>NOTICE : Here you are still running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proxy</a:t>
            </a:r>
            <a:r>
              <a:rPr lang="en-US" altLang="ko-KR" sz="1400" b="1" dirty="0"/>
              <a:t>” command in another terminal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4738F9C2-5F5C-D10E-279F-1E6EBFFE0DA0}"/>
              </a:ext>
            </a:extLst>
          </p:cNvPr>
          <p:cNvGrpSpPr/>
          <p:nvPr/>
        </p:nvGrpSpPr>
        <p:grpSpPr>
          <a:xfrm>
            <a:off x="1117038" y="1480423"/>
            <a:ext cx="9957924" cy="2378719"/>
            <a:chOff x="1117038" y="1480423"/>
            <a:chExt cx="9957924" cy="2378719"/>
          </a:xfrm>
        </p:grpSpPr>
        <p:grpSp>
          <p:nvGrpSpPr>
            <p:cNvPr id="12" name="그룹 11">
              <a:extLst>
                <a:ext uri="{FF2B5EF4-FFF2-40B4-BE49-F238E27FC236}">
                  <a16:creationId xmlns:a16="http://schemas.microsoft.com/office/drawing/2014/main" id="{A3AB02C7-8964-42F9-9A22-F89B1696C7C8}"/>
                </a:ext>
              </a:extLst>
            </p:cNvPr>
            <p:cNvGrpSpPr/>
            <p:nvPr/>
          </p:nvGrpSpPr>
          <p:grpSpPr>
            <a:xfrm>
              <a:off x="1117038" y="1480423"/>
              <a:ext cx="9957924" cy="2378719"/>
              <a:chOff x="1117038" y="1520883"/>
              <a:chExt cx="9957924" cy="2378719"/>
            </a:xfrm>
          </p:grpSpPr>
          <p:sp>
            <p:nvSpPr>
              <p:cNvPr id="8" name="TextBox 7">
                <a:extLst>
                  <a:ext uri="{FF2B5EF4-FFF2-40B4-BE49-F238E27FC236}">
                    <a16:creationId xmlns:a16="http://schemas.microsoft.com/office/drawing/2014/main" id="{131AC2A4-29B8-2AAB-3975-3B8506745454}"/>
                  </a:ext>
                </a:extLst>
              </p:cNvPr>
              <p:cNvSpPr txBox="1"/>
              <p:nvPr/>
            </p:nvSpPr>
            <p:spPr>
              <a:xfrm>
                <a:off x="3047326" y="1520883"/>
                <a:ext cx="6097348" cy="246221"/>
              </a:xfrm>
              <a:prstGeom prst="rect">
                <a:avLst/>
              </a:prstGeom>
              <a:noFill/>
              <a:ln>
                <a:solidFill>
                  <a:schemeClr val="bg1">
                    <a:lumMod val="50000"/>
                  </a:schemeClr>
                </a:solidFill>
              </a:ln>
            </p:spPr>
            <p:txBody>
              <a:bodyPr wrap="square">
                <a:spAutoFit/>
              </a:bodyPr>
              <a:lstStyle/>
              <a:p>
                <a:r>
                  <a:rPr lang="en-US" altLang="ko-KR" sz="1000" b="1" dirty="0"/>
                  <a:t>$ curl localhost:8001/</a:t>
                </a:r>
                <a:r>
                  <a:rPr lang="en-US" altLang="ko-KR" sz="1000" b="1" dirty="0" err="1"/>
                  <a:t>api</a:t>
                </a:r>
                <a:r>
                  <a:rPr lang="en-US" altLang="ko-KR" sz="1000" b="1" dirty="0"/>
                  <a:t>/v1/namespaces/default/services/</a:t>
                </a:r>
                <a:r>
                  <a:rPr lang="en-US" altLang="ko-KR" sz="1000" b="1" dirty="0" err="1">
                    <a:solidFill>
                      <a:srgbClr val="FF0000"/>
                    </a:solidFill>
                  </a:rPr>
                  <a:t>kubia</a:t>
                </a:r>
                <a:r>
                  <a:rPr lang="en-US" altLang="ko-KR" sz="1000" b="1" dirty="0">
                    <a:solidFill>
                      <a:srgbClr val="FF0000"/>
                    </a:solidFill>
                  </a:rPr>
                  <a:t>-public</a:t>
                </a:r>
                <a:r>
                  <a:rPr lang="en-US" altLang="ko-KR" sz="1000" b="1" dirty="0"/>
                  <a:t>/proxy/</a:t>
                </a:r>
                <a:endParaRPr lang="ko-KR" altLang="en-US" sz="1000" b="1" dirty="0"/>
              </a:p>
            </p:txBody>
          </p:sp>
          <p:sp>
            <p:nvSpPr>
              <p:cNvPr id="9" name="화살표: 아래쪽 8">
                <a:extLst>
                  <a:ext uri="{FF2B5EF4-FFF2-40B4-BE49-F238E27FC236}">
                    <a16:creationId xmlns:a16="http://schemas.microsoft.com/office/drawing/2014/main" id="{95C5DA6A-52B7-D0E2-AACD-B9473C851903}"/>
                  </a:ext>
                </a:extLst>
              </p:cNvPr>
              <p:cNvSpPr/>
              <p:nvPr/>
            </p:nvSpPr>
            <p:spPr>
              <a:xfrm>
                <a:off x="5857285" y="1767104"/>
                <a:ext cx="477430" cy="33177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CD853DF4-DA9C-08ED-7C81-BF451560A3EA}"/>
                  </a:ext>
                </a:extLst>
              </p:cNvPr>
              <p:cNvPicPr>
                <a:picLocks noChangeAspect="1"/>
              </p:cNvPicPr>
              <p:nvPr/>
            </p:nvPicPr>
            <p:blipFill>
              <a:blip r:embed="rId2"/>
              <a:stretch>
                <a:fillRect/>
              </a:stretch>
            </p:blipFill>
            <p:spPr>
              <a:xfrm>
                <a:off x="1117038" y="2098877"/>
                <a:ext cx="9957924" cy="1800725"/>
              </a:xfrm>
              <a:prstGeom prst="rect">
                <a:avLst/>
              </a:prstGeom>
            </p:spPr>
          </p:pic>
        </p:grpSp>
        <p:sp>
          <p:nvSpPr>
            <p:cNvPr id="13" name="직사각형 12">
              <a:extLst>
                <a:ext uri="{FF2B5EF4-FFF2-40B4-BE49-F238E27FC236}">
                  <a16:creationId xmlns:a16="http://schemas.microsoft.com/office/drawing/2014/main" id="{1A0D5BE6-097B-2242-245A-8CBA0323FC6E}"/>
                </a:ext>
              </a:extLst>
            </p:cNvPr>
            <p:cNvSpPr/>
            <p:nvPr/>
          </p:nvSpPr>
          <p:spPr>
            <a:xfrm>
              <a:off x="1286634" y="3083065"/>
              <a:ext cx="4224042" cy="4531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118686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How </a:t>
            </a:r>
            <a:r>
              <a:rPr lang="en-US" altLang="ko-KR" sz="2800" b="1" dirty="0" err="1"/>
              <a:t>StatefulSets</a:t>
            </a:r>
            <a:r>
              <a:rPr lang="en-US" altLang="ko-KR" sz="2800" b="1" dirty="0"/>
              <a:t> Deal with Node Failure(1/)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Handling Node Failure in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a:t>Kubernetes must be absolutely sure that a stateful pod is no longer running before creating its replacement</a:t>
            </a:r>
            <a:r>
              <a:rPr lang="en-US" altLang="ko-KR" sz="1400" dirty="0"/>
              <a:t>. When a node fails abruptly, Kubernetes can’t know the state of the node or its pods. It can’t know whether the pods are no longer running, or if they still are and are possibly even still reachable, and </a:t>
            </a:r>
            <a:r>
              <a:rPr lang="en-US" altLang="ko-KR" sz="1400" b="1" dirty="0"/>
              <a:t>it’s only the </a:t>
            </a:r>
            <a:r>
              <a:rPr lang="en-US" altLang="ko-KR" sz="1400" b="1" dirty="0" err="1"/>
              <a:t>Kubelet</a:t>
            </a:r>
            <a:r>
              <a:rPr lang="en-US" altLang="ko-KR" sz="1400" b="1" dirty="0"/>
              <a:t> that has stopped reporting the node’s state to the master</a:t>
            </a:r>
            <a:r>
              <a:rPr lang="en-US" altLang="ko-KR" sz="1400" dirty="0"/>
              <a:t>.</a:t>
            </a:r>
          </a:p>
          <a:p>
            <a:pPr lvl="1">
              <a:buFont typeface="Wingdings" panose="05000000000000000000" pitchFamily="2" charset="2"/>
              <a:buChar char="§"/>
            </a:pPr>
            <a:r>
              <a:rPr lang="en-US" altLang="ko-KR" sz="1400" b="1" dirty="0"/>
              <a:t>Because a </a:t>
            </a:r>
            <a:r>
              <a:rPr lang="en-US" altLang="ko-KR" sz="1400" b="1" dirty="0" err="1"/>
              <a:t>StatefulSet</a:t>
            </a:r>
            <a:r>
              <a:rPr lang="en-US" altLang="ko-KR" sz="1400" b="1" dirty="0"/>
              <a:t> guarantees that there will </a:t>
            </a:r>
            <a:r>
              <a:rPr lang="en-US" altLang="ko-KR" sz="1400" b="1" dirty="0">
                <a:solidFill>
                  <a:srgbClr val="FF0000"/>
                </a:solidFill>
              </a:rPr>
              <a:t>never be two pods running with the same identity and storage</a:t>
            </a:r>
            <a:r>
              <a:rPr lang="en-US" altLang="ko-KR" sz="1400" b="1" dirty="0"/>
              <a:t>, when a node appears to have failed, the </a:t>
            </a:r>
            <a:r>
              <a:rPr lang="en-US" altLang="ko-KR" sz="1400" b="1" dirty="0" err="1"/>
              <a:t>StatefulSet</a:t>
            </a:r>
            <a:r>
              <a:rPr lang="en-US" altLang="ko-KR" sz="1400" b="1" dirty="0"/>
              <a:t> cannot and should not create a replacement pod until it knows for certain that the pod is no longer running</a:t>
            </a:r>
            <a:r>
              <a:rPr lang="en-US" altLang="ko-KR" sz="1400" dirty="0"/>
              <a:t>.</a:t>
            </a:r>
          </a:p>
          <a:p>
            <a:pPr lvl="1">
              <a:buFont typeface="Wingdings" panose="05000000000000000000" pitchFamily="2" charset="2"/>
              <a:buChar char="§"/>
            </a:pPr>
            <a:r>
              <a:rPr lang="en-US" altLang="ko-KR" sz="1400" b="1" dirty="0"/>
              <a:t>It can only know that when the cluster administrator tells it so</a:t>
            </a:r>
            <a:r>
              <a:rPr lang="en-US" altLang="ko-KR" sz="1400" dirty="0"/>
              <a:t>. To do that, the admin needs to either </a:t>
            </a:r>
            <a:r>
              <a:rPr lang="en-US" altLang="ko-KR" sz="1400" b="1" dirty="0">
                <a:solidFill>
                  <a:srgbClr val="FF0000"/>
                </a:solidFill>
              </a:rPr>
              <a:t>delete the pod</a:t>
            </a:r>
            <a:r>
              <a:rPr lang="en-US" altLang="ko-KR" sz="1400" b="1" dirty="0"/>
              <a:t> or </a:t>
            </a:r>
            <a:r>
              <a:rPr lang="en-US" altLang="ko-KR" sz="1400" b="1" dirty="0">
                <a:solidFill>
                  <a:srgbClr val="FF0000"/>
                </a:solidFill>
              </a:rPr>
              <a:t>delete the whole node </a:t>
            </a:r>
            <a:r>
              <a:rPr lang="en-US" altLang="ko-KR" sz="1400" dirty="0"/>
              <a:t>(</a:t>
            </a:r>
            <a:r>
              <a:rPr lang="en-US" altLang="ko-KR" sz="1400" b="1" dirty="0"/>
              <a:t>doing so then deletes all the pods scheduled to the node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72AF6EC-577F-14B0-9734-F1CF8004E4A7}"/>
              </a:ext>
            </a:extLst>
          </p:cNvPr>
          <p:cNvPicPr>
            <a:picLocks noChangeAspect="1"/>
          </p:cNvPicPr>
          <p:nvPr/>
        </p:nvPicPr>
        <p:blipFill>
          <a:blip r:embed="rId2"/>
          <a:stretch>
            <a:fillRect/>
          </a:stretch>
        </p:blipFill>
        <p:spPr>
          <a:xfrm>
            <a:off x="3623546" y="3108303"/>
            <a:ext cx="4944908" cy="3300727"/>
          </a:xfrm>
          <a:prstGeom prst="rect">
            <a:avLst/>
          </a:prstGeom>
        </p:spPr>
      </p:pic>
    </p:spTree>
    <p:extLst>
      <p:ext uri="{BB962C8B-B14F-4D97-AF65-F5344CB8AC3E}">
        <p14:creationId xmlns:p14="http://schemas.microsoft.com/office/powerpoint/2010/main" val="860038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How </a:t>
            </a:r>
            <a:r>
              <a:rPr lang="en-US" altLang="ko-KR" sz="2800" b="1" dirty="0" err="1"/>
              <a:t>StatefulSets</a:t>
            </a:r>
            <a:r>
              <a:rPr lang="en-US" altLang="ko-KR" sz="2800" b="1" dirty="0"/>
              <a:t> Deal with Node Failure(2/)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Handling Node Failure in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a:t>If the node were down and came back online and report its and its pod statuses again</a:t>
            </a:r>
            <a:r>
              <a:rPr lang="en-US" altLang="ko-KR" sz="1400" dirty="0"/>
              <a:t>, </a:t>
            </a:r>
            <a:r>
              <a:rPr lang="en-US" altLang="ko-KR" sz="1400" b="1" dirty="0"/>
              <a:t>the pod would again be marked as “Running”</a:t>
            </a:r>
            <a:r>
              <a:rPr lang="en-US" altLang="ko-KR" sz="1400" dirty="0"/>
              <a:t>. But </a:t>
            </a:r>
            <a:r>
              <a:rPr lang="en-US" altLang="ko-KR" sz="1400" b="1" dirty="0"/>
              <a:t>if the pod’s status remains unknown for more than a few minutes (this time is configurable), the pod is automatically evicted from the node</a:t>
            </a:r>
            <a:r>
              <a:rPr lang="en-US" altLang="ko-KR" sz="1400" dirty="0"/>
              <a:t>. This is done by </a:t>
            </a:r>
            <a:r>
              <a:rPr lang="en-US" altLang="ko-KR" sz="1400" b="1" dirty="0"/>
              <a:t>the master (the Kubernetes control plane)</a:t>
            </a:r>
            <a:r>
              <a:rPr lang="en-US" altLang="ko-KR" sz="1400" dirty="0"/>
              <a:t>. It evicts the pod by deleting the pod resource.</a:t>
            </a:r>
          </a:p>
          <a:p>
            <a:pPr lvl="1">
              <a:buFont typeface="Wingdings" panose="05000000000000000000" pitchFamily="2" charset="2"/>
              <a:buChar char="§"/>
            </a:pPr>
            <a:r>
              <a:rPr lang="en-US" altLang="ko-KR" sz="1400" b="1" dirty="0"/>
              <a:t>When the </a:t>
            </a:r>
            <a:r>
              <a:rPr lang="en-US" altLang="ko-KR" sz="1400" b="1" dirty="0" err="1"/>
              <a:t>Kubelet</a:t>
            </a:r>
            <a:r>
              <a:rPr lang="en-US" altLang="ko-KR" sz="1400" b="1" dirty="0"/>
              <a:t> sees that the pod has been marked for deletion, it starts terminating the pod</a:t>
            </a:r>
            <a:r>
              <a:rPr lang="en-US" altLang="ko-KR" sz="1400" dirty="0"/>
              <a:t>. The </a:t>
            </a:r>
            <a:r>
              <a:rPr lang="en-US" altLang="ko-KR" sz="1400" b="1" dirty="0" err="1"/>
              <a:t>Kubelet</a:t>
            </a:r>
            <a:r>
              <a:rPr lang="en-US" altLang="ko-KR" sz="1400" dirty="0"/>
              <a:t> can no longer reach the master (because the node was disconnected from the network), which means the pod will keep running in the disconnected node.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6F3EFA9-544A-C25A-B7AF-A2D75B4D865E}"/>
              </a:ext>
            </a:extLst>
          </p:cNvPr>
          <p:cNvPicPr>
            <a:picLocks noChangeAspect="1"/>
          </p:cNvPicPr>
          <p:nvPr/>
        </p:nvPicPr>
        <p:blipFill>
          <a:blip r:embed="rId2"/>
          <a:stretch>
            <a:fillRect/>
          </a:stretch>
        </p:blipFill>
        <p:spPr>
          <a:xfrm>
            <a:off x="3843623" y="3272819"/>
            <a:ext cx="4504754" cy="2537400"/>
          </a:xfrm>
          <a:prstGeom prst="rect">
            <a:avLst/>
          </a:prstGeom>
        </p:spPr>
      </p:pic>
    </p:spTree>
    <p:extLst>
      <p:ext uri="{BB962C8B-B14F-4D97-AF65-F5344CB8AC3E}">
        <p14:creationId xmlns:p14="http://schemas.microsoft.com/office/powerpoint/2010/main" val="15803439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How </a:t>
            </a:r>
            <a:r>
              <a:rPr lang="en-US" altLang="ko-KR" sz="2800" b="1" dirty="0" err="1"/>
              <a:t>StatefulSets</a:t>
            </a:r>
            <a:r>
              <a:rPr lang="en-US" altLang="ko-KR" sz="2800" b="1" dirty="0"/>
              <a:t> Deal with Node Failure(3/)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Pods Manually :</a:t>
            </a:r>
          </a:p>
          <a:p>
            <a:pPr lvl="1">
              <a:buFont typeface="Wingdings" panose="05000000000000000000" pitchFamily="2" charset="2"/>
              <a:buChar char="§"/>
            </a:pPr>
            <a:r>
              <a:rPr lang="en-US" altLang="ko-KR" sz="1400" dirty="0"/>
              <a:t>If you know the node isn’t coming back, but you need all three pods running to handle clients properly. </a:t>
            </a:r>
            <a:r>
              <a:rPr lang="en-US" altLang="ko-KR" sz="1400" b="1" dirty="0"/>
              <a:t>You need to get the pod rescheduled to a healthy node</a:t>
            </a:r>
            <a:r>
              <a:rPr lang="en-US" altLang="ko-KR" sz="1400" dirty="0"/>
              <a:t>. In this case, </a:t>
            </a:r>
            <a:r>
              <a:rPr lang="en-US" altLang="ko-KR" sz="1400" b="1" dirty="0"/>
              <a:t>you need to delete the node or the pod manually</a:t>
            </a:r>
            <a:r>
              <a:rPr lang="en-US" altLang="ko-KR" sz="1400" dirty="0"/>
              <a:t>.</a:t>
            </a:r>
          </a:p>
          <a:p>
            <a:pPr lvl="1">
              <a:buFont typeface="Wingdings" panose="05000000000000000000" pitchFamily="2" charset="2"/>
              <a:buChar char="§"/>
            </a:pPr>
            <a:r>
              <a:rPr lang="en-US" altLang="ko-KR" sz="1400" b="1" dirty="0"/>
              <a:t>The pod was marked for deletion even before you deleted it</a:t>
            </a:r>
            <a:r>
              <a:rPr lang="en-US" altLang="ko-KR" sz="1400" dirty="0"/>
              <a:t>. </a:t>
            </a:r>
            <a:r>
              <a:rPr lang="en-US" altLang="ko-KR" sz="1400" b="1" dirty="0"/>
              <a:t>That’s because the control plane itself already deleted it (in order to evict it from the node). </a:t>
            </a:r>
            <a:r>
              <a:rPr lang="en-US" altLang="ko-KR" sz="1400" dirty="0"/>
              <a:t>Sometime, you’ll see that the pod’s status is “</a:t>
            </a:r>
            <a:r>
              <a:rPr lang="en-US" altLang="ko-KR" sz="1400" b="1" dirty="0"/>
              <a:t>Terminating</a:t>
            </a:r>
            <a:r>
              <a:rPr lang="en-US" altLang="ko-KR" sz="1400" dirty="0"/>
              <a:t>”. </a:t>
            </a:r>
            <a:r>
              <a:rPr lang="en-US" altLang="ko-KR" sz="1400" b="1" dirty="0"/>
              <a:t>The pod was already marked for deletion earlier and will be removed as soon as the </a:t>
            </a:r>
            <a:r>
              <a:rPr lang="en-US" altLang="ko-KR" sz="1400" b="1" dirty="0" err="1"/>
              <a:t>Kubelet</a:t>
            </a:r>
            <a:r>
              <a:rPr lang="en-US" altLang="ko-KR" sz="1400" b="1" dirty="0"/>
              <a:t> on its node notifies the API server that the pod’s containers have terminated</a:t>
            </a:r>
            <a:r>
              <a:rPr lang="en-US" altLang="ko-KR" sz="1400" dirty="0"/>
              <a:t>. If the node’s network is down, this will never happen.</a:t>
            </a:r>
          </a:p>
          <a:p>
            <a:pPr lvl="1">
              <a:buFont typeface="Wingdings" panose="05000000000000000000" pitchFamily="2" charset="2"/>
              <a:buChar char="§"/>
            </a:pPr>
            <a:r>
              <a:rPr lang="en-US" altLang="ko-KR" sz="1400" b="1" dirty="0"/>
              <a:t>The only thing you can do is tell the API server to delete the pod without waiting for the </a:t>
            </a:r>
            <a:r>
              <a:rPr lang="en-US" altLang="ko-KR" sz="1400" b="1" dirty="0" err="1"/>
              <a:t>Kubelet</a:t>
            </a:r>
            <a:r>
              <a:rPr lang="en-US" altLang="ko-KR" sz="1400" b="1" dirty="0"/>
              <a:t> to confirm that the pod is no longer running</a:t>
            </a:r>
            <a:r>
              <a:rPr lang="en-US" altLang="ko-KR" sz="1400" dirty="0"/>
              <a:t>. You do that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DDFB1C2B-CF13-AC5A-7FDF-2F5F77C0401D}"/>
              </a:ext>
            </a:extLst>
          </p:cNvPr>
          <p:cNvGrpSpPr/>
          <p:nvPr/>
        </p:nvGrpSpPr>
        <p:grpSpPr>
          <a:xfrm>
            <a:off x="1297276" y="2995504"/>
            <a:ext cx="9597447" cy="3202741"/>
            <a:chOff x="1297276" y="2995504"/>
            <a:chExt cx="9597447" cy="3202741"/>
          </a:xfrm>
        </p:grpSpPr>
        <p:grpSp>
          <p:nvGrpSpPr>
            <p:cNvPr id="14" name="그룹 13">
              <a:extLst>
                <a:ext uri="{FF2B5EF4-FFF2-40B4-BE49-F238E27FC236}">
                  <a16:creationId xmlns:a16="http://schemas.microsoft.com/office/drawing/2014/main" id="{E98CF9D2-91A9-FCCC-AECB-53B5C98A3FFB}"/>
                </a:ext>
              </a:extLst>
            </p:cNvPr>
            <p:cNvGrpSpPr/>
            <p:nvPr/>
          </p:nvGrpSpPr>
          <p:grpSpPr>
            <a:xfrm>
              <a:off x="1297276" y="2995504"/>
              <a:ext cx="9597447" cy="3202741"/>
              <a:chOff x="1297276" y="2995504"/>
              <a:chExt cx="9597447" cy="3202741"/>
            </a:xfrm>
          </p:grpSpPr>
          <p:grpSp>
            <p:nvGrpSpPr>
              <p:cNvPr id="12" name="그룹 11">
                <a:extLst>
                  <a:ext uri="{FF2B5EF4-FFF2-40B4-BE49-F238E27FC236}">
                    <a16:creationId xmlns:a16="http://schemas.microsoft.com/office/drawing/2014/main" id="{ECC8D349-0347-AF64-3F1F-0AABD09334CD}"/>
                  </a:ext>
                </a:extLst>
              </p:cNvPr>
              <p:cNvGrpSpPr/>
              <p:nvPr/>
            </p:nvGrpSpPr>
            <p:grpSpPr>
              <a:xfrm>
                <a:off x="1297276" y="2995504"/>
                <a:ext cx="9597447" cy="3202741"/>
                <a:chOff x="1297276" y="3060240"/>
                <a:chExt cx="9597447" cy="3202741"/>
              </a:xfrm>
            </p:grpSpPr>
            <p:sp>
              <p:nvSpPr>
                <p:cNvPr id="8" name="TextBox 7">
                  <a:extLst>
                    <a:ext uri="{FF2B5EF4-FFF2-40B4-BE49-F238E27FC236}">
                      <a16:creationId xmlns:a16="http://schemas.microsoft.com/office/drawing/2014/main" id="{A75A4C65-F3E0-0ABA-965F-F5C019C91F4A}"/>
                    </a:ext>
                  </a:extLst>
                </p:cNvPr>
                <p:cNvSpPr txBox="1"/>
                <p:nvPr/>
              </p:nvSpPr>
              <p:spPr>
                <a:xfrm>
                  <a:off x="3047326" y="3060240"/>
                  <a:ext cx="6097348" cy="246221"/>
                </a:xfrm>
                <a:prstGeom prst="rect">
                  <a:avLst/>
                </a:prstGeom>
                <a:noFill/>
                <a:ln>
                  <a:solidFill>
                    <a:schemeClr val="bg1">
                      <a:lumMod val="50000"/>
                    </a:schemeClr>
                  </a:solidFill>
                </a:ln>
              </p:spPr>
              <p:txBody>
                <a:bodyPr wrap="square">
                  <a:spAutoFit/>
                </a:bodyPr>
                <a:lstStyle/>
                <a:p>
                  <a:r>
                    <a:rPr lang="it-IT" altLang="ko-KR" sz="1000" b="1" dirty="0"/>
                    <a:t>$ kubectl delete pod kubia-0 </a:t>
                  </a:r>
                  <a:r>
                    <a:rPr lang="it-IT" altLang="ko-KR" sz="1000" b="1" dirty="0">
                      <a:solidFill>
                        <a:srgbClr val="FF0000"/>
                      </a:solidFill>
                    </a:rPr>
                    <a:t>--force --grace-period 0</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B485BF86-F6F2-6F81-7B64-68789A5FEFEF}"/>
                    </a:ext>
                  </a:extLst>
                </p:cNvPr>
                <p:cNvSpPr/>
                <p:nvPr/>
              </p:nvSpPr>
              <p:spPr>
                <a:xfrm>
                  <a:off x="5865377" y="3325827"/>
                  <a:ext cx="461246" cy="2994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42F44D8E-FC80-41E6-7F8E-8B6A1699276B}"/>
                    </a:ext>
                  </a:extLst>
                </p:cNvPr>
                <p:cNvPicPr>
                  <a:picLocks noChangeAspect="1"/>
                </p:cNvPicPr>
                <p:nvPr/>
              </p:nvPicPr>
              <p:blipFill>
                <a:blip r:embed="rId2"/>
                <a:stretch>
                  <a:fillRect/>
                </a:stretch>
              </p:blipFill>
              <p:spPr>
                <a:xfrm>
                  <a:off x="1297276" y="3615685"/>
                  <a:ext cx="9597447" cy="2647296"/>
                </a:xfrm>
                <a:prstGeom prst="rect">
                  <a:avLst/>
                </a:prstGeom>
              </p:spPr>
            </p:pic>
          </p:grpSp>
          <p:sp>
            <p:nvSpPr>
              <p:cNvPr id="13" name="직사각형 12">
                <a:extLst>
                  <a:ext uri="{FF2B5EF4-FFF2-40B4-BE49-F238E27FC236}">
                    <a16:creationId xmlns:a16="http://schemas.microsoft.com/office/drawing/2014/main" id="{E929F989-50FF-41F1-31C4-680197DC5191}"/>
                  </a:ext>
                </a:extLst>
              </p:cNvPr>
              <p:cNvSpPr/>
              <p:nvPr/>
            </p:nvSpPr>
            <p:spPr>
              <a:xfrm>
                <a:off x="1343278" y="5486400"/>
                <a:ext cx="2888857"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E321A891-0E57-6982-9E30-2059AD4C815B}"/>
                </a:ext>
              </a:extLst>
            </p:cNvPr>
            <p:cNvSpPr/>
            <p:nvPr/>
          </p:nvSpPr>
          <p:spPr>
            <a:xfrm>
              <a:off x="1343278" y="4272541"/>
              <a:ext cx="2888857"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0971300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How </a:t>
            </a:r>
            <a:r>
              <a:rPr lang="en-US" altLang="ko-KR" sz="2800" b="1" dirty="0" err="1"/>
              <a:t>StatefulSets</a:t>
            </a:r>
            <a:r>
              <a:rPr lang="en-US" altLang="ko-KR" sz="2800" b="1" dirty="0"/>
              <a:t> Deal with Node Failure(4/)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Pods Manually :</a:t>
            </a:r>
          </a:p>
          <a:p>
            <a:pPr lvl="1">
              <a:buFont typeface="Wingdings" panose="05000000000000000000" pitchFamily="2" charset="2"/>
              <a:buChar char="§"/>
            </a:pPr>
            <a:r>
              <a:rPr lang="en-US" altLang="ko-KR" sz="1400" dirty="0"/>
              <a:t>As you can see from the previous screenshot, </a:t>
            </a:r>
            <a:r>
              <a:rPr lang="en-US" altLang="ko-KR" sz="1400" b="1" dirty="0"/>
              <a:t>you deleted the pod a moment ago and </a:t>
            </a:r>
            <a:r>
              <a:rPr lang="en-US" altLang="ko-KR" sz="1400" b="1" dirty="0" err="1"/>
              <a:t>kubectl</a:t>
            </a:r>
            <a:r>
              <a:rPr lang="en-US" altLang="ko-KR" sz="1400" b="1" dirty="0"/>
              <a:t> said it had deleted it</a:t>
            </a:r>
            <a:r>
              <a:rPr lang="en-US" altLang="ko-KR" sz="1400" dirty="0"/>
              <a:t>. Why is the same pod still there? </a:t>
            </a:r>
            <a:r>
              <a:rPr lang="en-US" altLang="ko-KR" sz="1400" b="1" dirty="0"/>
              <a:t>When the pod was deleted, the API server detected the status and create another pods in the available nodes(In </a:t>
            </a:r>
            <a:r>
              <a:rPr lang="en-US" altLang="ko-KR" sz="1400" b="1" dirty="0" err="1"/>
              <a:t>Minikube</a:t>
            </a:r>
            <a:r>
              <a:rPr lang="en-US" altLang="ko-KR" sz="1400" b="1" dirty="0"/>
              <a:t>, there is only one node)</a:t>
            </a:r>
            <a:r>
              <a:rPr lang="en-US" altLang="ko-KR" sz="1400" dirty="0"/>
              <a:t>.</a:t>
            </a:r>
          </a:p>
          <a:p>
            <a:pPr lvl="1">
              <a:buFont typeface="Wingdings" panose="05000000000000000000" pitchFamily="2" charset="2"/>
              <a:buChar char="§"/>
            </a:pPr>
            <a:r>
              <a:rPr lang="en-US" altLang="ko-KR" sz="1400" b="1" dirty="0"/>
              <a:t>NOTE : You need to use both the “</a:t>
            </a:r>
            <a:r>
              <a:rPr lang="en-US" altLang="ko-KR" sz="1400" b="1" dirty="0">
                <a:solidFill>
                  <a:srgbClr val="FF0000"/>
                </a:solidFill>
              </a:rPr>
              <a:t>--force</a:t>
            </a:r>
            <a:r>
              <a:rPr lang="en-US" altLang="ko-KR" sz="1400" b="1" dirty="0"/>
              <a:t>” and “</a:t>
            </a:r>
            <a:r>
              <a:rPr lang="en-US" altLang="ko-KR" sz="1400" b="1" dirty="0">
                <a:solidFill>
                  <a:srgbClr val="FF0000"/>
                </a:solidFill>
              </a:rPr>
              <a:t>--grace-period 0</a:t>
            </a:r>
            <a:r>
              <a:rPr lang="en-US" altLang="ko-KR" sz="1400" b="1" dirty="0"/>
              <a:t>” options. The warning displayed by </a:t>
            </a:r>
            <a:r>
              <a:rPr lang="en-US" altLang="ko-KR" sz="1400" b="1" dirty="0" err="1"/>
              <a:t>kubectl</a:t>
            </a:r>
            <a:r>
              <a:rPr lang="en-US" altLang="ko-KR" sz="1400" b="1" dirty="0"/>
              <a:t> notifies you of what you did</a:t>
            </a:r>
            <a:r>
              <a:rPr lang="en-US" altLang="ko-KR" sz="1400" dirty="0"/>
              <a:t>. If you list the pods again, you’ll finally see a new “</a:t>
            </a:r>
            <a:r>
              <a:rPr lang="en-US" altLang="ko-KR" sz="1400" b="1" dirty="0"/>
              <a:t>kubia-0</a:t>
            </a:r>
            <a:r>
              <a:rPr lang="en-US" altLang="ko-KR" sz="1400" dirty="0"/>
              <a:t>” pod created(</a:t>
            </a:r>
            <a:r>
              <a:rPr lang="en-US" altLang="ko-KR" sz="1400" b="1" dirty="0"/>
              <a:t>see the “AGE” column</a:t>
            </a:r>
            <a:r>
              <a:rPr lang="en-US" altLang="ko-KR" sz="1400" dirty="0"/>
              <a:t>). </a:t>
            </a:r>
          </a:p>
          <a:p>
            <a:pPr lvl="1">
              <a:buFont typeface="Wingdings" panose="05000000000000000000" pitchFamily="2" charset="2"/>
              <a:buChar char="§"/>
            </a:pPr>
            <a:r>
              <a:rPr lang="en-US" altLang="ko-KR" sz="1400" b="1" dirty="0"/>
              <a:t>WARNING : Don’t delete stateful pods forcibly unless you know the node is no longer running or is unreachable (and will remain so forever)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3A103BD-E41B-E502-B32A-9FCFA109E0AC}"/>
              </a:ext>
            </a:extLst>
          </p:cNvPr>
          <p:cNvPicPr>
            <a:picLocks noChangeAspect="1"/>
          </p:cNvPicPr>
          <p:nvPr/>
        </p:nvPicPr>
        <p:blipFill>
          <a:blip r:embed="rId2"/>
          <a:stretch>
            <a:fillRect/>
          </a:stretch>
        </p:blipFill>
        <p:spPr>
          <a:xfrm>
            <a:off x="2147887" y="3429000"/>
            <a:ext cx="7896225" cy="1990725"/>
          </a:xfrm>
          <a:prstGeom prst="rect">
            <a:avLst/>
          </a:prstGeom>
          <a:ln>
            <a:solidFill>
              <a:schemeClr val="bg1">
                <a:lumMod val="50000"/>
              </a:schemeClr>
            </a:solidFill>
          </a:ln>
        </p:spPr>
      </p:pic>
    </p:spTree>
    <p:extLst>
      <p:ext uri="{BB962C8B-B14F-4D97-AF65-F5344CB8AC3E}">
        <p14:creationId xmlns:p14="http://schemas.microsoft.com/office/powerpoint/2010/main" val="32944481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Advanced Topics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51048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Kubernetes Internals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Understanding Kubernetes Internals</a:t>
            </a:r>
            <a:endParaRPr lang="ko-KR" altLang="en-US" sz="2800" b="1" dirty="0"/>
          </a:p>
        </p:txBody>
      </p:sp>
    </p:spTree>
    <p:extLst>
      <p:ext uri="{BB962C8B-B14F-4D97-AF65-F5344CB8AC3E}">
        <p14:creationId xmlns:p14="http://schemas.microsoft.com/office/powerpoint/2010/main" val="14540725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Components :</a:t>
            </a:r>
          </a:p>
          <a:p>
            <a:pPr lvl="1">
              <a:buFont typeface="Wingdings" panose="05000000000000000000" pitchFamily="2" charset="2"/>
              <a:buChar char="§"/>
            </a:pPr>
            <a:r>
              <a:rPr lang="en-US" altLang="ko-KR" sz="1400" dirty="0"/>
              <a:t>Before you look at how Kubernetes does what it does, let’s take a closer look at </a:t>
            </a:r>
            <a:r>
              <a:rPr lang="en-US" altLang="ko-KR" sz="1400" b="1" dirty="0"/>
              <a:t>the components that make up a Kubernetes cluster</a:t>
            </a:r>
            <a:r>
              <a:rPr lang="en-US" altLang="ko-KR" sz="1400" dirty="0"/>
              <a:t>. As you saw that a Kubernetes cluster is split into two parts :</a:t>
            </a:r>
          </a:p>
          <a:p>
            <a:pPr lvl="2">
              <a:buFont typeface="Wingdings" panose="05000000000000000000" pitchFamily="2" charset="2"/>
              <a:buChar char="§"/>
            </a:pPr>
            <a:r>
              <a:rPr lang="en-US" altLang="ko-KR" sz="1400" b="1" dirty="0"/>
              <a:t>The Kubernetes Control Plane</a:t>
            </a:r>
          </a:p>
          <a:p>
            <a:pPr lvl="2">
              <a:buFont typeface="Wingdings" panose="05000000000000000000" pitchFamily="2" charset="2"/>
              <a:buChar char="§"/>
            </a:pPr>
            <a:r>
              <a:rPr lang="en-US" altLang="ko-KR" sz="1400" b="1" dirty="0"/>
              <a:t>The (worker) nodes</a:t>
            </a:r>
          </a:p>
          <a:p>
            <a:pPr lvl="1">
              <a:buFont typeface="Wingdings" panose="05000000000000000000" pitchFamily="2" charset="2"/>
              <a:buChar char="§"/>
            </a:pPr>
            <a:r>
              <a:rPr lang="en-US" altLang="ko-KR" sz="1400" b="1" dirty="0"/>
              <a:t>The </a:t>
            </a:r>
            <a:r>
              <a:rPr lang="en-US" altLang="ko-KR" sz="1400" b="1" dirty="0">
                <a:solidFill>
                  <a:srgbClr val="FF0000"/>
                </a:solidFill>
              </a:rPr>
              <a:t>Control Plane </a:t>
            </a:r>
            <a:r>
              <a:rPr lang="en-US" altLang="ko-KR" sz="1400" b="1" dirty="0"/>
              <a:t>is what controls and makes the whole cluster function</a:t>
            </a:r>
            <a:r>
              <a:rPr lang="en-US" altLang="ko-KR" sz="1400" dirty="0"/>
              <a:t>. To refresh your memory, the components that make up the Control Plane are : </a:t>
            </a:r>
          </a:p>
          <a:p>
            <a:pPr lvl="2">
              <a:buFont typeface="Wingdings" panose="05000000000000000000" pitchFamily="2" charset="2"/>
              <a:buChar char="§"/>
            </a:pPr>
            <a:r>
              <a:rPr lang="en-US" altLang="ko-KR" sz="1400" b="1" dirty="0"/>
              <a:t>The </a:t>
            </a:r>
            <a:r>
              <a:rPr lang="en-US" altLang="ko-KR" sz="1400" b="1" dirty="0" err="1">
                <a:solidFill>
                  <a:srgbClr val="FF0000"/>
                </a:solidFill>
              </a:rPr>
              <a:t>etcd</a:t>
            </a:r>
            <a:r>
              <a:rPr lang="en-US" altLang="ko-KR" sz="1400" b="1" dirty="0"/>
              <a:t> distributed persistent storage</a:t>
            </a:r>
          </a:p>
          <a:p>
            <a:pPr lvl="2">
              <a:buFont typeface="Wingdings" panose="05000000000000000000" pitchFamily="2" charset="2"/>
              <a:buChar char="§"/>
            </a:pPr>
            <a:r>
              <a:rPr lang="en-US" altLang="ko-KR" sz="1400" b="1" dirty="0"/>
              <a:t>The </a:t>
            </a:r>
            <a:r>
              <a:rPr lang="en-US" altLang="ko-KR" sz="1400" b="1" dirty="0">
                <a:solidFill>
                  <a:srgbClr val="FF0000"/>
                </a:solidFill>
              </a:rPr>
              <a:t>API server</a:t>
            </a:r>
          </a:p>
          <a:p>
            <a:pPr lvl="2">
              <a:buFont typeface="Wingdings" panose="05000000000000000000" pitchFamily="2" charset="2"/>
              <a:buChar char="§"/>
            </a:pPr>
            <a:r>
              <a:rPr lang="en-US" altLang="ko-KR" sz="1400" b="1" dirty="0"/>
              <a:t>The </a:t>
            </a:r>
            <a:r>
              <a:rPr lang="en-US" altLang="ko-KR" sz="1400" b="1" dirty="0">
                <a:solidFill>
                  <a:srgbClr val="FF0000"/>
                </a:solidFill>
              </a:rPr>
              <a:t>Scheduler</a:t>
            </a:r>
          </a:p>
          <a:p>
            <a:pPr lvl="2">
              <a:buFont typeface="Wingdings" panose="05000000000000000000" pitchFamily="2" charset="2"/>
              <a:buChar char="§"/>
            </a:pPr>
            <a:r>
              <a:rPr lang="en-US" altLang="ko-KR" sz="1400" b="1" dirty="0"/>
              <a:t>The </a:t>
            </a:r>
            <a:r>
              <a:rPr lang="en-US" altLang="ko-KR" sz="1400" b="1" dirty="0">
                <a:solidFill>
                  <a:srgbClr val="FF0000"/>
                </a:solidFill>
              </a:rPr>
              <a:t>Controller Manager</a:t>
            </a:r>
          </a:p>
          <a:p>
            <a:pPr lvl="1">
              <a:buFont typeface="Wingdings" panose="05000000000000000000" pitchFamily="2" charset="2"/>
              <a:buChar char="§"/>
            </a:pPr>
            <a:r>
              <a:rPr lang="en-US" altLang="ko-KR" sz="1400" b="1" dirty="0"/>
              <a:t>These components store and manage the state of the cluster</a:t>
            </a:r>
            <a:r>
              <a:rPr lang="en-US" altLang="ko-KR" sz="1400" dirty="0"/>
              <a:t>, but they aren’t what runs the application containers.</a:t>
            </a:r>
          </a:p>
          <a:p>
            <a:pPr lvl="1">
              <a:buFont typeface="Wingdings" panose="05000000000000000000" pitchFamily="2" charset="2"/>
              <a:buChar char="§"/>
            </a:pPr>
            <a:r>
              <a:rPr lang="en-US" altLang="ko-KR" sz="1400" b="1" dirty="0"/>
              <a:t>The task of running your containers is up to the components running on each worker node </a:t>
            </a:r>
            <a:r>
              <a:rPr lang="en-US" altLang="ko-KR" sz="1400" dirty="0"/>
              <a:t>:</a:t>
            </a:r>
          </a:p>
          <a:p>
            <a:pPr lvl="2">
              <a:buFont typeface="Wingdings" panose="05000000000000000000" pitchFamily="2" charset="2"/>
              <a:buChar char="§"/>
            </a:pPr>
            <a:r>
              <a:rPr lang="en-US" altLang="ko-KR" sz="1400" b="1" dirty="0"/>
              <a:t>The </a:t>
            </a:r>
            <a:r>
              <a:rPr lang="en-US" altLang="ko-KR" sz="1400" b="1" dirty="0" err="1">
                <a:solidFill>
                  <a:srgbClr val="FF0000"/>
                </a:solidFill>
              </a:rPr>
              <a:t>Kubelet</a:t>
            </a:r>
            <a:endParaRPr lang="en-US" altLang="ko-KR" sz="1400" b="1" dirty="0">
              <a:solidFill>
                <a:srgbClr val="FF0000"/>
              </a:solidFill>
            </a:endParaRPr>
          </a:p>
          <a:p>
            <a:pPr lvl="2">
              <a:buFont typeface="Wingdings" panose="05000000000000000000" pitchFamily="2" charset="2"/>
              <a:buChar char="§"/>
            </a:pPr>
            <a:r>
              <a:rPr lang="en-US" altLang="ko-KR" sz="1400" b="1" dirty="0"/>
              <a:t>The </a:t>
            </a:r>
            <a:r>
              <a:rPr lang="en-US" altLang="ko-KR" sz="1400" b="1" dirty="0">
                <a:solidFill>
                  <a:srgbClr val="FF0000"/>
                </a:solidFill>
              </a:rPr>
              <a:t>Kubernetes Service Proxy (</a:t>
            </a:r>
            <a:r>
              <a:rPr lang="en-US" altLang="ko-KR" sz="1400" b="1" dirty="0" err="1">
                <a:solidFill>
                  <a:srgbClr val="FF0000"/>
                </a:solidFill>
              </a:rPr>
              <a:t>kube</a:t>
            </a:r>
            <a:r>
              <a:rPr lang="en-US" altLang="ko-KR" sz="1400" b="1" dirty="0">
                <a:solidFill>
                  <a:srgbClr val="FF0000"/>
                </a:solidFill>
              </a:rPr>
              <a:t>-proxy)</a:t>
            </a:r>
          </a:p>
          <a:p>
            <a:pPr lvl="2">
              <a:buFont typeface="Wingdings" panose="05000000000000000000" pitchFamily="2" charset="2"/>
              <a:buChar char="§"/>
            </a:pPr>
            <a:r>
              <a:rPr lang="en-US" altLang="ko-KR" sz="1400" b="1" dirty="0"/>
              <a:t>The </a:t>
            </a:r>
            <a:r>
              <a:rPr lang="en-US" altLang="ko-KR" sz="1400" b="1" dirty="0">
                <a:solidFill>
                  <a:srgbClr val="FF0000"/>
                </a:solidFill>
              </a:rPr>
              <a:t>Container Runtime </a:t>
            </a:r>
            <a:r>
              <a:rPr lang="en-US" altLang="ko-KR" sz="1400" b="1" dirty="0"/>
              <a:t>(Docker, </a:t>
            </a:r>
            <a:r>
              <a:rPr lang="en-US" altLang="ko-KR" sz="1400" b="1" dirty="0" err="1"/>
              <a:t>rkt</a:t>
            </a:r>
            <a:r>
              <a:rPr lang="en-US" altLang="ko-KR" sz="1400" b="1" dirty="0"/>
              <a:t>, or others)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6DC5DBB-B5C3-1B62-1C95-E33653DA70B0}"/>
              </a:ext>
            </a:extLst>
          </p:cNvPr>
          <p:cNvPicPr>
            <a:picLocks noChangeAspect="1"/>
          </p:cNvPicPr>
          <p:nvPr/>
        </p:nvPicPr>
        <p:blipFill>
          <a:blip r:embed="rId2"/>
          <a:stretch>
            <a:fillRect/>
          </a:stretch>
        </p:blipFill>
        <p:spPr>
          <a:xfrm>
            <a:off x="3779065" y="4909178"/>
            <a:ext cx="4633870" cy="1499852"/>
          </a:xfrm>
          <a:prstGeom prst="rect">
            <a:avLst/>
          </a:prstGeom>
        </p:spPr>
      </p:pic>
    </p:spTree>
    <p:extLst>
      <p:ext uri="{BB962C8B-B14F-4D97-AF65-F5344CB8AC3E}">
        <p14:creationId xmlns:p14="http://schemas.microsoft.com/office/powerpoint/2010/main" val="8756711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Components :</a:t>
            </a:r>
          </a:p>
          <a:p>
            <a:pPr lvl="1">
              <a:buFont typeface="Wingdings" panose="05000000000000000000" pitchFamily="2" charset="2"/>
              <a:buChar char="§"/>
            </a:pPr>
            <a:r>
              <a:rPr lang="en-US" altLang="ko-KR" sz="1400" dirty="0"/>
              <a:t>Beside the Control Plane components and the components running on the nodes, </a:t>
            </a:r>
            <a:r>
              <a:rPr lang="en-US" altLang="ko-KR" sz="1400" b="1" dirty="0"/>
              <a:t>a few add-on components </a:t>
            </a:r>
            <a:r>
              <a:rPr lang="en-US" altLang="ko-KR" sz="1400" dirty="0"/>
              <a:t>are required for the cluster. This includes : </a:t>
            </a:r>
          </a:p>
          <a:p>
            <a:pPr lvl="2">
              <a:buFont typeface="Wingdings" panose="05000000000000000000" pitchFamily="2" charset="2"/>
              <a:buChar char="§"/>
            </a:pPr>
            <a:r>
              <a:rPr lang="en-US" altLang="ko-KR" sz="1400" b="1" dirty="0"/>
              <a:t>The </a:t>
            </a:r>
            <a:r>
              <a:rPr lang="en-US" altLang="ko-KR" sz="1400" b="1" dirty="0">
                <a:solidFill>
                  <a:srgbClr val="FF0000"/>
                </a:solidFill>
              </a:rPr>
              <a:t>Kubernetes DNS server</a:t>
            </a:r>
          </a:p>
          <a:p>
            <a:pPr lvl="2">
              <a:buFont typeface="Wingdings" panose="05000000000000000000" pitchFamily="2" charset="2"/>
              <a:buChar char="§"/>
            </a:pPr>
            <a:r>
              <a:rPr lang="en-US" altLang="ko-KR" sz="1400" b="1" dirty="0"/>
              <a:t>The </a:t>
            </a:r>
            <a:r>
              <a:rPr lang="en-US" altLang="ko-KR" sz="1400" b="1" dirty="0">
                <a:solidFill>
                  <a:srgbClr val="FF0000"/>
                </a:solidFill>
              </a:rPr>
              <a:t>Dashboard</a:t>
            </a:r>
          </a:p>
          <a:p>
            <a:pPr lvl="2">
              <a:buFont typeface="Wingdings" panose="05000000000000000000" pitchFamily="2" charset="2"/>
              <a:buChar char="§"/>
            </a:pPr>
            <a:r>
              <a:rPr lang="en-US" altLang="ko-KR" sz="1400" b="1" dirty="0"/>
              <a:t>An </a:t>
            </a:r>
            <a:r>
              <a:rPr lang="en-US" altLang="ko-KR" sz="1400" b="1" dirty="0">
                <a:solidFill>
                  <a:srgbClr val="FF0000"/>
                </a:solidFill>
              </a:rPr>
              <a:t>Ingress controller</a:t>
            </a:r>
          </a:p>
          <a:p>
            <a:pPr lvl="2">
              <a:buFont typeface="Wingdings" panose="05000000000000000000" pitchFamily="2" charset="2"/>
              <a:buChar char="§"/>
            </a:pPr>
            <a:r>
              <a:rPr lang="en-US" altLang="ko-KR" sz="1400" b="1" dirty="0" err="1">
                <a:solidFill>
                  <a:srgbClr val="FF0000"/>
                </a:solidFill>
              </a:rPr>
              <a:t>Heapster</a:t>
            </a:r>
            <a:endParaRPr lang="en-US" altLang="ko-KR" sz="1400" b="1" dirty="0">
              <a:solidFill>
                <a:srgbClr val="FF0000"/>
              </a:solidFill>
            </a:endParaRPr>
          </a:p>
          <a:p>
            <a:pPr lvl="2">
              <a:buFont typeface="Wingdings" panose="05000000000000000000" pitchFamily="2" charset="2"/>
              <a:buChar char="§"/>
            </a:pPr>
            <a:r>
              <a:rPr lang="en-US" altLang="ko-KR" sz="1400" b="1" dirty="0"/>
              <a:t>The </a:t>
            </a:r>
            <a:r>
              <a:rPr lang="en-US" altLang="ko-KR" sz="1400" b="1" dirty="0">
                <a:solidFill>
                  <a:srgbClr val="FF0000"/>
                </a:solidFill>
              </a:rPr>
              <a:t>Container Network Interface </a:t>
            </a:r>
            <a:r>
              <a:rPr lang="en-US" altLang="ko-KR" sz="1400" b="1" dirty="0"/>
              <a:t>network plugin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2700E0A-75C7-F88F-3DF0-C820DE962FC7}"/>
              </a:ext>
            </a:extLst>
          </p:cNvPr>
          <p:cNvPicPr>
            <a:picLocks noChangeAspect="1"/>
          </p:cNvPicPr>
          <p:nvPr/>
        </p:nvPicPr>
        <p:blipFill>
          <a:blip r:embed="rId2"/>
          <a:stretch>
            <a:fillRect/>
          </a:stretch>
        </p:blipFill>
        <p:spPr>
          <a:xfrm>
            <a:off x="3212538" y="3070577"/>
            <a:ext cx="5766924" cy="3192404"/>
          </a:xfrm>
          <a:prstGeom prst="rect">
            <a:avLst/>
          </a:prstGeom>
        </p:spPr>
      </p:pic>
    </p:spTree>
    <p:extLst>
      <p:ext uri="{BB962C8B-B14F-4D97-AF65-F5344CB8AC3E}">
        <p14:creationId xmlns:p14="http://schemas.microsoft.com/office/powerpoint/2010/main" val="2724712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Big Picture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Kubernetes Cluster Architecture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221A282-803E-21D8-DCC1-04D0155FEA3B}"/>
              </a:ext>
            </a:extLst>
          </p:cNvPr>
          <p:cNvPicPr>
            <a:picLocks noChangeAspect="1"/>
          </p:cNvPicPr>
          <p:nvPr/>
        </p:nvPicPr>
        <p:blipFill>
          <a:blip r:embed="rId2"/>
          <a:stretch>
            <a:fillRect/>
          </a:stretch>
        </p:blipFill>
        <p:spPr>
          <a:xfrm>
            <a:off x="1365559" y="1333866"/>
            <a:ext cx="9460881" cy="4637210"/>
          </a:xfrm>
          <a:prstGeom prst="rect">
            <a:avLst/>
          </a:prstGeom>
        </p:spPr>
      </p:pic>
    </p:spTree>
    <p:extLst>
      <p:ext uri="{BB962C8B-B14F-4D97-AF65-F5344CB8AC3E}">
        <p14:creationId xmlns:p14="http://schemas.microsoft.com/office/powerpoint/2010/main" val="29474530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t>The previously mentioned components all run as individual processes</a:t>
            </a:r>
            <a:r>
              <a:rPr lang="en-US" altLang="ko-KR" sz="1400" dirty="0"/>
              <a:t>. The components and their inter-dependencies are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To get all the features Kubernetes provides, all these components need to be running</a:t>
            </a:r>
            <a:r>
              <a:rPr lang="en-US" altLang="ko-KR" sz="1400" dirty="0"/>
              <a:t>. But several can also perform useful work individually without the other components.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0D408224-0FB6-F98C-1EAD-D906B2FDA8C8}"/>
              </a:ext>
            </a:extLst>
          </p:cNvPr>
          <p:cNvGrpSpPr/>
          <p:nvPr/>
        </p:nvGrpSpPr>
        <p:grpSpPr>
          <a:xfrm>
            <a:off x="4214264" y="1866235"/>
            <a:ext cx="3763471" cy="2390313"/>
            <a:chOff x="4214264" y="1866235"/>
            <a:chExt cx="3763471" cy="2390313"/>
          </a:xfrm>
        </p:grpSpPr>
        <p:grpSp>
          <p:nvGrpSpPr>
            <p:cNvPr id="11" name="그룹 10">
              <a:extLst>
                <a:ext uri="{FF2B5EF4-FFF2-40B4-BE49-F238E27FC236}">
                  <a16:creationId xmlns:a16="http://schemas.microsoft.com/office/drawing/2014/main" id="{D7AD5D54-12CB-C9A5-8C66-86CE0E839E4D}"/>
                </a:ext>
              </a:extLst>
            </p:cNvPr>
            <p:cNvGrpSpPr/>
            <p:nvPr/>
          </p:nvGrpSpPr>
          <p:grpSpPr>
            <a:xfrm>
              <a:off x="4214264" y="1866235"/>
              <a:ext cx="3763471" cy="2390313"/>
              <a:chOff x="4214264" y="1866235"/>
              <a:chExt cx="3763471" cy="2390313"/>
            </a:xfrm>
          </p:grpSpPr>
          <p:pic>
            <p:nvPicPr>
              <p:cNvPr id="9" name="그림 8">
                <a:extLst>
                  <a:ext uri="{FF2B5EF4-FFF2-40B4-BE49-F238E27FC236}">
                    <a16:creationId xmlns:a16="http://schemas.microsoft.com/office/drawing/2014/main" id="{96321E8C-9C0D-8E6F-6072-F9F817B631E9}"/>
                  </a:ext>
                </a:extLst>
              </p:cNvPr>
              <p:cNvPicPr>
                <a:picLocks noChangeAspect="1"/>
              </p:cNvPicPr>
              <p:nvPr/>
            </p:nvPicPr>
            <p:blipFill>
              <a:blip r:embed="rId2"/>
              <a:stretch>
                <a:fillRect/>
              </a:stretch>
            </p:blipFill>
            <p:spPr>
              <a:xfrm>
                <a:off x="4214264" y="1866235"/>
                <a:ext cx="3763471" cy="2390313"/>
              </a:xfrm>
              <a:prstGeom prst="rect">
                <a:avLst/>
              </a:prstGeom>
            </p:spPr>
          </p:pic>
          <p:sp>
            <p:nvSpPr>
              <p:cNvPr id="10" name="직사각형 9">
                <a:extLst>
                  <a:ext uri="{FF2B5EF4-FFF2-40B4-BE49-F238E27FC236}">
                    <a16:creationId xmlns:a16="http://schemas.microsoft.com/office/drawing/2014/main" id="{BB2A72D2-9509-ED0E-4D92-2A743B8E9188}"/>
                  </a:ext>
                </a:extLst>
              </p:cNvPr>
              <p:cNvSpPr/>
              <p:nvPr/>
            </p:nvSpPr>
            <p:spPr>
              <a:xfrm>
                <a:off x="4280687" y="2654188"/>
                <a:ext cx="2087745" cy="6069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4D07DA67-FD99-AC83-3F14-CDE0C47F4531}"/>
                </a:ext>
              </a:extLst>
            </p:cNvPr>
            <p:cNvSpPr/>
            <p:nvPr/>
          </p:nvSpPr>
          <p:spPr>
            <a:xfrm>
              <a:off x="6789218" y="2994053"/>
              <a:ext cx="882032" cy="11409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849086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Architecture(4/39)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t>To check the status of the Control Plane components, you can use an API resource exposed by the API server called “</a:t>
            </a:r>
            <a:r>
              <a:rPr lang="en-US" altLang="ko-KR" sz="1400" b="1" dirty="0" err="1">
                <a:solidFill>
                  <a:srgbClr val="FF0000"/>
                </a:solidFill>
              </a:rPr>
              <a:t>ComponentStatus</a:t>
            </a:r>
            <a:r>
              <a:rPr lang="en-US" altLang="ko-KR" sz="1400" b="1" dirty="0"/>
              <a:t>”</a:t>
            </a:r>
            <a:r>
              <a:rPr lang="en-US" altLang="ko-KR" sz="1400" dirty="0"/>
              <a:t>, which shows </a:t>
            </a:r>
            <a:r>
              <a:rPr lang="en-US" altLang="ko-KR" sz="1400" b="1" dirty="0"/>
              <a:t>the health status of each Control Plane component</a:t>
            </a:r>
            <a:r>
              <a:rPr lang="en-US" altLang="ko-KR" sz="1400" dirty="0"/>
              <a:t>. You can list the components and their statuses with </a:t>
            </a:r>
            <a:r>
              <a:rPr lang="en-US" altLang="ko-KR" sz="1400" b="1" dirty="0" err="1"/>
              <a:t>kubectl</a:t>
            </a:r>
            <a:r>
              <a:rPr lang="en-US" altLang="ko-KR" sz="1400" dirty="0"/>
              <a:t> command like the following.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A344F5B-BFC0-72B6-020E-FDC69EA28A9C}"/>
              </a:ext>
            </a:extLst>
          </p:cNvPr>
          <p:cNvGrpSpPr/>
          <p:nvPr/>
        </p:nvGrpSpPr>
        <p:grpSpPr>
          <a:xfrm>
            <a:off x="1327431" y="1964252"/>
            <a:ext cx="9537138" cy="2929495"/>
            <a:chOff x="1327431" y="1943540"/>
            <a:chExt cx="9537138" cy="2929495"/>
          </a:xfrm>
        </p:grpSpPr>
        <p:sp>
          <p:nvSpPr>
            <p:cNvPr id="8" name="TextBox 7">
              <a:extLst>
                <a:ext uri="{FF2B5EF4-FFF2-40B4-BE49-F238E27FC236}">
                  <a16:creationId xmlns:a16="http://schemas.microsoft.com/office/drawing/2014/main" id="{B11D3CB2-4252-D639-A8CD-AFDB139DC7A4}"/>
                </a:ext>
              </a:extLst>
            </p:cNvPr>
            <p:cNvSpPr txBox="1"/>
            <p:nvPr/>
          </p:nvSpPr>
          <p:spPr>
            <a:xfrm>
              <a:off x="3047326" y="194354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componentstatuses</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85D9EB96-E7CC-3DC4-85DC-0258D728D871}"/>
                </a:ext>
              </a:extLst>
            </p:cNvPr>
            <p:cNvSpPr/>
            <p:nvPr/>
          </p:nvSpPr>
          <p:spPr>
            <a:xfrm>
              <a:off x="5881561" y="2201619"/>
              <a:ext cx="428878"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A8B343A0-0529-83C1-20B2-1012E5B07AC7}"/>
                </a:ext>
              </a:extLst>
            </p:cNvPr>
            <p:cNvPicPr>
              <a:picLocks noChangeAspect="1"/>
            </p:cNvPicPr>
            <p:nvPr/>
          </p:nvPicPr>
          <p:blipFill>
            <a:blip r:embed="rId2"/>
            <a:stretch>
              <a:fillRect/>
            </a:stretch>
          </p:blipFill>
          <p:spPr>
            <a:xfrm>
              <a:off x="1327431" y="2496698"/>
              <a:ext cx="9537138" cy="2376337"/>
            </a:xfrm>
            <a:prstGeom prst="rect">
              <a:avLst/>
            </a:prstGeom>
          </p:spPr>
        </p:pic>
      </p:grpSp>
    </p:spTree>
    <p:extLst>
      <p:ext uri="{BB962C8B-B14F-4D97-AF65-F5344CB8AC3E}">
        <p14:creationId xmlns:p14="http://schemas.microsoft.com/office/powerpoint/2010/main" val="13694150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Architecture(5/39)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t>Kubernetes system components communicate only with </a:t>
            </a:r>
            <a:r>
              <a:rPr lang="en-US" altLang="ko-KR" sz="1400" b="1" dirty="0">
                <a:solidFill>
                  <a:srgbClr val="FF0000"/>
                </a:solidFill>
              </a:rPr>
              <a:t>the API server</a:t>
            </a:r>
            <a:r>
              <a:rPr lang="en-US" altLang="ko-KR" sz="1400" dirty="0"/>
              <a:t>. </a:t>
            </a:r>
            <a:r>
              <a:rPr lang="en-US" altLang="ko-KR" sz="1400" b="1" dirty="0"/>
              <a:t>They don’t talk to each other directly</a:t>
            </a:r>
            <a:r>
              <a:rPr lang="en-US" altLang="ko-KR" sz="1400" dirty="0"/>
              <a:t>. </a:t>
            </a:r>
            <a:r>
              <a:rPr lang="en-US" altLang="ko-KR" sz="1400" b="1" dirty="0"/>
              <a:t>The API server is the only component that communicates with </a:t>
            </a:r>
            <a:r>
              <a:rPr lang="en-US" altLang="ko-KR" sz="1400" b="1" dirty="0" err="1">
                <a:solidFill>
                  <a:srgbClr val="FF0000"/>
                </a:solidFill>
              </a:rPr>
              <a:t>etcd</a:t>
            </a:r>
            <a:r>
              <a:rPr lang="en-US" altLang="ko-KR" sz="1400" dirty="0"/>
              <a:t>. </a:t>
            </a:r>
            <a:r>
              <a:rPr lang="en-US" altLang="ko-KR" sz="1400" b="1" dirty="0"/>
              <a:t>None of the other components communicate with </a:t>
            </a:r>
            <a:r>
              <a:rPr lang="en-US" altLang="ko-KR" sz="1400" b="1" dirty="0" err="1"/>
              <a:t>etcd</a:t>
            </a:r>
            <a:r>
              <a:rPr lang="en-US" altLang="ko-KR" sz="1400" b="1" dirty="0"/>
              <a:t> directly</a:t>
            </a:r>
            <a:r>
              <a:rPr lang="en-US" altLang="ko-KR" sz="1400" dirty="0"/>
              <a:t>, </a:t>
            </a:r>
            <a:r>
              <a:rPr lang="en-US" altLang="ko-KR" sz="1400" b="1" dirty="0"/>
              <a:t>but instead </a:t>
            </a:r>
            <a:r>
              <a:rPr lang="en-US" altLang="ko-KR" sz="1400" b="1" dirty="0">
                <a:solidFill>
                  <a:srgbClr val="FF0000"/>
                </a:solidFill>
              </a:rPr>
              <a:t>modify the cluster state </a:t>
            </a:r>
            <a:r>
              <a:rPr lang="en-US" altLang="ko-KR" sz="1400" b="1" dirty="0"/>
              <a:t>by talking to the API server</a:t>
            </a:r>
            <a:r>
              <a:rPr lang="en-US" altLang="ko-KR" sz="1400" dirty="0"/>
              <a:t>.</a:t>
            </a:r>
          </a:p>
          <a:p>
            <a:pPr lvl="1">
              <a:buFont typeface="Wingdings" panose="05000000000000000000" pitchFamily="2" charset="2"/>
              <a:buChar char="§"/>
            </a:pPr>
            <a:r>
              <a:rPr lang="en-US" altLang="ko-KR" sz="1400" b="1" dirty="0"/>
              <a:t>Connections between the API server and the other components are almost always initiated by the components</a:t>
            </a:r>
            <a:r>
              <a:rPr lang="en-US" altLang="ko-KR" sz="1400" dirty="0"/>
              <a:t>. But the API server does connect to the </a:t>
            </a:r>
            <a:r>
              <a:rPr lang="en-US" altLang="ko-KR" sz="1400" b="1" dirty="0" err="1">
                <a:solidFill>
                  <a:srgbClr val="FF0000"/>
                </a:solidFill>
              </a:rPr>
              <a:t>Kubelet</a:t>
            </a:r>
            <a:r>
              <a:rPr lang="en-US" altLang="ko-KR" sz="1400" dirty="0"/>
              <a:t> when you use </a:t>
            </a:r>
            <a:r>
              <a:rPr lang="en-US" altLang="ko-KR" sz="1400" b="1" dirty="0" err="1"/>
              <a:t>kubectl</a:t>
            </a:r>
            <a:r>
              <a:rPr lang="en-US" altLang="ko-KR" sz="1400" b="1" dirty="0"/>
              <a:t> to fetch logs</a:t>
            </a:r>
            <a:r>
              <a:rPr lang="en-US" altLang="ko-KR" sz="1400" dirty="0"/>
              <a:t>, use </a:t>
            </a:r>
            <a:r>
              <a:rPr lang="en-US" altLang="ko-KR" sz="1400" b="1" dirty="0" err="1"/>
              <a:t>kubectl</a:t>
            </a:r>
            <a:r>
              <a:rPr lang="en-US" altLang="ko-KR" sz="1400" b="1" dirty="0"/>
              <a:t> attach</a:t>
            </a:r>
            <a:r>
              <a:rPr lang="en-US" altLang="ko-KR" sz="1400" dirty="0"/>
              <a:t> to connect to a running container, or use the </a:t>
            </a:r>
            <a:r>
              <a:rPr lang="en-US" altLang="ko-KR" sz="1400" b="1" dirty="0" err="1"/>
              <a:t>kubectl</a:t>
            </a:r>
            <a:r>
              <a:rPr lang="en-US" altLang="ko-KR" sz="1400" b="1" dirty="0"/>
              <a:t> port-forward</a:t>
            </a:r>
            <a:r>
              <a:rPr lang="en-US" altLang="ko-KR" sz="1400" dirty="0"/>
              <a:t> command. </a:t>
            </a:r>
          </a:p>
          <a:p>
            <a:pPr lvl="1">
              <a:buFont typeface="Wingdings" panose="05000000000000000000" pitchFamily="2" charset="2"/>
              <a:buChar char="§"/>
            </a:pPr>
            <a:r>
              <a:rPr lang="en-US" altLang="ko-KR" sz="1400" b="1" dirty="0"/>
              <a:t>NOTE : The “</a:t>
            </a:r>
            <a:r>
              <a:rPr lang="en-US" altLang="ko-KR" sz="1400" b="1" dirty="0" err="1"/>
              <a:t>kubectl</a:t>
            </a:r>
            <a:r>
              <a:rPr lang="en-US" altLang="ko-KR" sz="1400" b="1" dirty="0"/>
              <a:t> attach” command is similar to “</a:t>
            </a:r>
            <a:r>
              <a:rPr lang="en-US" altLang="ko-KR" sz="1400" b="1" dirty="0" err="1"/>
              <a:t>kubectl</a:t>
            </a:r>
            <a:r>
              <a:rPr lang="en-US" altLang="ko-KR" sz="1400" b="1" dirty="0"/>
              <a:t> exec”, but it attaches to the main process running in the container instead of running an additional one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E3C288C-6C18-3C33-5858-D846C36C4A2E}"/>
              </a:ext>
            </a:extLst>
          </p:cNvPr>
          <p:cNvPicPr>
            <a:picLocks noChangeAspect="1"/>
          </p:cNvPicPr>
          <p:nvPr/>
        </p:nvPicPr>
        <p:blipFill>
          <a:blip r:embed="rId2"/>
          <a:stretch>
            <a:fillRect/>
          </a:stretch>
        </p:blipFill>
        <p:spPr>
          <a:xfrm>
            <a:off x="2459001" y="3010237"/>
            <a:ext cx="7273998" cy="3398793"/>
          </a:xfrm>
          <a:prstGeom prst="rect">
            <a:avLst/>
          </a:prstGeom>
        </p:spPr>
      </p:pic>
    </p:spTree>
    <p:extLst>
      <p:ext uri="{BB962C8B-B14F-4D97-AF65-F5344CB8AC3E}">
        <p14:creationId xmlns:p14="http://schemas.microsoft.com/office/powerpoint/2010/main" val="12851775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Architecture(6/39)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t>Although the components on the </a:t>
            </a:r>
            <a:r>
              <a:rPr lang="en-US" altLang="ko-KR" sz="1400" b="1" dirty="0">
                <a:solidFill>
                  <a:srgbClr val="FF0000"/>
                </a:solidFill>
              </a:rPr>
              <a:t>worker nodes </a:t>
            </a:r>
            <a:r>
              <a:rPr lang="en-US" altLang="ko-KR" sz="1400" b="1" dirty="0"/>
              <a:t>all need to run on the same node, the components of the </a:t>
            </a:r>
            <a:r>
              <a:rPr lang="en-US" altLang="ko-KR" sz="1400" b="1" dirty="0">
                <a:solidFill>
                  <a:srgbClr val="FF0000"/>
                </a:solidFill>
              </a:rPr>
              <a:t>Control Plane </a:t>
            </a:r>
            <a:r>
              <a:rPr lang="en-US" altLang="ko-KR" sz="1400" b="1" dirty="0"/>
              <a:t>can easily be split across multiple servers</a:t>
            </a:r>
            <a:r>
              <a:rPr lang="en-US" altLang="ko-KR" sz="1400" dirty="0"/>
              <a:t>. </a:t>
            </a:r>
            <a:r>
              <a:rPr lang="en-US" altLang="ko-KR" sz="1400" b="1" dirty="0"/>
              <a:t>There can be more than one instance of each Control Plane component running to ensure </a:t>
            </a:r>
            <a:r>
              <a:rPr lang="en-US" altLang="ko-KR" sz="1400" b="1" dirty="0">
                <a:solidFill>
                  <a:srgbClr val="FF0000"/>
                </a:solidFill>
              </a:rPr>
              <a:t>high availability(HA)</a:t>
            </a:r>
            <a:r>
              <a:rPr lang="en-US" altLang="ko-KR" sz="1400" dirty="0"/>
              <a:t>. While multiple instances of “</a:t>
            </a:r>
            <a:r>
              <a:rPr lang="en-US" altLang="ko-KR" sz="1400" b="1" dirty="0" err="1"/>
              <a:t>etcd</a:t>
            </a:r>
            <a:r>
              <a:rPr lang="en-US" altLang="ko-KR" sz="1400" dirty="0"/>
              <a:t>” and </a:t>
            </a:r>
            <a:r>
              <a:rPr lang="en-US" altLang="ko-KR" sz="1400" b="1" dirty="0"/>
              <a:t>API server </a:t>
            </a:r>
            <a:r>
              <a:rPr lang="en-US" altLang="ko-KR" sz="1400" dirty="0"/>
              <a:t>can be active at the same time and do perform their jobs in parallel, </a:t>
            </a:r>
            <a:r>
              <a:rPr lang="en-US" altLang="ko-KR" sz="1400" b="1" dirty="0"/>
              <a:t>only a single instance of the </a:t>
            </a:r>
            <a:r>
              <a:rPr lang="en-US" altLang="ko-KR" sz="1400" b="1" dirty="0">
                <a:solidFill>
                  <a:srgbClr val="FF0000"/>
                </a:solidFill>
              </a:rPr>
              <a:t>Scheduler</a:t>
            </a:r>
            <a:r>
              <a:rPr lang="en-US" altLang="ko-KR" sz="1400" b="1" dirty="0"/>
              <a:t> and the </a:t>
            </a:r>
            <a:r>
              <a:rPr lang="en-US" altLang="ko-KR" sz="1400" b="1" dirty="0">
                <a:solidFill>
                  <a:srgbClr val="FF0000"/>
                </a:solidFill>
              </a:rPr>
              <a:t>Controller Manager </a:t>
            </a:r>
            <a:r>
              <a:rPr lang="en-US" altLang="ko-KR" sz="1400" b="1" dirty="0"/>
              <a:t>may be </a:t>
            </a:r>
            <a:r>
              <a:rPr lang="en-US" altLang="ko-KR" sz="1400" b="1" dirty="0">
                <a:solidFill>
                  <a:srgbClr val="FF0000"/>
                </a:solidFill>
              </a:rPr>
              <a:t>active</a:t>
            </a:r>
            <a:r>
              <a:rPr lang="en-US" altLang="ko-KR" sz="1400" b="1" dirty="0"/>
              <a:t> at a given time—with the others in standby mode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5499F895-6E31-2F7E-2151-063F8E97F548}"/>
              </a:ext>
            </a:extLst>
          </p:cNvPr>
          <p:cNvGrpSpPr/>
          <p:nvPr/>
        </p:nvGrpSpPr>
        <p:grpSpPr>
          <a:xfrm>
            <a:off x="2410033" y="2112246"/>
            <a:ext cx="7371933" cy="4296784"/>
            <a:chOff x="2410033" y="2112246"/>
            <a:chExt cx="7371933" cy="4296784"/>
          </a:xfrm>
        </p:grpSpPr>
        <p:pic>
          <p:nvPicPr>
            <p:cNvPr id="4" name="그림 3">
              <a:extLst>
                <a:ext uri="{FF2B5EF4-FFF2-40B4-BE49-F238E27FC236}">
                  <a16:creationId xmlns:a16="http://schemas.microsoft.com/office/drawing/2014/main" id="{5FB39BD8-D356-DDC0-D9F4-8890C2C9D0A2}"/>
                </a:ext>
              </a:extLst>
            </p:cNvPr>
            <p:cNvPicPr>
              <a:picLocks noChangeAspect="1"/>
            </p:cNvPicPr>
            <p:nvPr/>
          </p:nvPicPr>
          <p:blipFill>
            <a:blip r:embed="rId2"/>
            <a:stretch>
              <a:fillRect/>
            </a:stretch>
          </p:blipFill>
          <p:spPr>
            <a:xfrm>
              <a:off x="2410033" y="2112246"/>
              <a:ext cx="7371933" cy="4296784"/>
            </a:xfrm>
            <a:prstGeom prst="rect">
              <a:avLst/>
            </a:prstGeom>
          </p:spPr>
        </p:pic>
        <p:sp>
          <p:nvSpPr>
            <p:cNvPr id="8" name="직사각형 7">
              <a:extLst>
                <a:ext uri="{FF2B5EF4-FFF2-40B4-BE49-F238E27FC236}">
                  <a16:creationId xmlns:a16="http://schemas.microsoft.com/office/drawing/2014/main" id="{CD6E7900-B1B7-74FB-AC0A-C2C57214A785}"/>
                </a:ext>
              </a:extLst>
            </p:cNvPr>
            <p:cNvSpPr/>
            <p:nvPr/>
          </p:nvSpPr>
          <p:spPr>
            <a:xfrm>
              <a:off x="3665692" y="4118846"/>
              <a:ext cx="1828800" cy="493614"/>
            </a:xfrm>
            <a:prstGeom prst="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073295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Architecture(7/39)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t>The Control Plane components, as well as </a:t>
            </a:r>
            <a:r>
              <a:rPr lang="en-US" altLang="ko-KR" sz="1400" b="1" dirty="0" err="1"/>
              <a:t>kube</a:t>
            </a:r>
            <a:r>
              <a:rPr lang="en-US" altLang="ko-KR" sz="1400" b="1" dirty="0"/>
              <a:t>-proxy, can either be deployed on the system directly or they can run as pods</a:t>
            </a:r>
            <a:r>
              <a:rPr lang="en-US" altLang="ko-KR" sz="1400" dirty="0"/>
              <a:t> (as shown in the following screenshot).</a:t>
            </a:r>
          </a:p>
          <a:p>
            <a:pPr lvl="1">
              <a:buFont typeface="Wingdings" panose="05000000000000000000" pitchFamily="2" charset="2"/>
              <a:buChar char="§"/>
            </a:pPr>
            <a:r>
              <a:rPr lang="en-US" altLang="ko-KR" sz="1400" b="1" dirty="0"/>
              <a:t>The </a:t>
            </a:r>
            <a:r>
              <a:rPr lang="en-US" altLang="ko-KR" sz="1400" b="1" dirty="0" err="1">
                <a:solidFill>
                  <a:srgbClr val="FF0000"/>
                </a:solidFill>
              </a:rPr>
              <a:t>Kubelet</a:t>
            </a:r>
            <a:r>
              <a:rPr lang="en-US" altLang="ko-KR" sz="1400" b="1" dirty="0"/>
              <a:t> is the only component that always runs as a regular system component</a:t>
            </a:r>
            <a:r>
              <a:rPr lang="en-US" altLang="ko-KR" sz="1400" dirty="0"/>
              <a:t>, </a:t>
            </a:r>
            <a:r>
              <a:rPr lang="en-US" altLang="ko-KR" sz="1400" b="1" dirty="0"/>
              <a:t>and it’s the </a:t>
            </a:r>
            <a:r>
              <a:rPr lang="en-US" altLang="ko-KR" sz="1400" b="1" dirty="0" err="1">
                <a:solidFill>
                  <a:srgbClr val="FF0000"/>
                </a:solidFill>
              </a:rPr>
              <a:t>Kubelet</a:t>
            </a:r>
            <a:r>
              <a:rPr lang="en-US" altLang="ko-KR" sz="1400" b="1" dirty="0"/>
              <a:t> that then runs all the other components as pods</a:t>
            </a:r>
            <a:r>
              <a:rPr lang="en-US" altLang="ko-KR" sz="1400" dirty="0"/>
              <a:t>. </a:t>
            </a:r>
            <a:r>
              <a:rPr lang="en-US" altLang="ko-KR" sz="1400" b="1" dirty="0"/>
              <a:t>To run the Control Plane components as pods, the </a:t>
            </a:r>
            <a:r>
              <a:rPr lang="en-US" altLang="ko-KR" sz="1400" b="1" dirty="0" err="1">
                <a:solidFill>
                  <a:srgbClr val="FF0000"/>
                </a:solidFill>
              </a:rPr>
              <a:t>Kubelet</a:t>
            </a:r>
            <a:r>
              <a:rPr lang="en-US" altLang="ko-KR" sz="1400" b="1" dirty="0"/>
              <a:t> is also deployed on the master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As you can see from the above screenshot, </a:t>
            </a:r>
            <a:r>
              <a:rPr lang="en-US" altLang="ko-KR" sz="1400" b="1" dirty="0"/>
              <a:t>all the Control Plane components are running as pods on the master node(here it is “</a:t>
            </a:r>
            <a:r>
              <a:rPr lang="en-US" altLang="ko-KR" sz="1400" b="1" dirty="0" err="1"/>
              <a:t>minikube</a:t>
            </a:r>
            <a:r>
              <a:rPr lang="en-US" altLang="ko-KR" sz="1400" b="1" dirty="0"/>
              <a:t>”)</a:t>
            </a:r>
            <a:r>
              <a:rPr lang="en-US" altLang="ko-KR" sz="1400" dirty="0"/>
              <a:t>. There is just one </a:t>
            </a:r>
            <a:r>
              <a:rPr lang="en-US" altLang="ko-KR" sz="1400" b="1" dirty="0"/>
              <a:t>master node(and also worker node, </a:t>
            </a:r>
            <a:r>
              <a:rPr lang="en-US" altLang="ko-KR" sz="1400" b="1" dirty="0" err="1"/>
              <a:t>minikube</a:t>
            </a:r>
            <a:r>
              <a:rPr lang="en-US" altLang="ko-KR" sz="1400" b="1" dirty="0"/>
              <a:t>)</a:t>
            </a:r>
            <a:r>
              <a:rPr lang="en-US" altLang="ko-KR" sz="1400" dirty="0"/>
              <a:t> and the node runs the “</a:t>
            </a:r>
            <a:r>
              <a:rPr lang="en-US" altLang="ko-KR" sz="1400" b="1" dirty="0" err="1"/>
              <a:t>kube</a:t>
            </a:r>
            <a:r>
              <a:rPr lang="en-US" altLang="ko-KR" sz="1400" b="1" dirty="0"/>
              <a:t>-proxy</a:t>
            </a:r>
            <a:r>
              <a:rPr lang="en-US" altLang="ko-KR" sz="1400" dirty="0"/>
              <a:t>”.</a:t>
            </a:r>
          </a:p>
          <a:p>
            <a:pPr lvl="1">
              <a:buFont typeface="Wingdings" panose="05000000000000000000" pitchFamily="2" charset="2"/>
              <a:buChar char="§"/>
            </a:pPr>
            <a:r>
              <a:rPr lang="en-US" altLang="ko-KR" sz="1400" b="1" dirty="0"/>
              <a:t>TIP : As shown in the listing, you can tell </a:t>
            </a:r>
            <a:r>
              <a:rPr lang="en-US" altLang="ko-KR" sz="1400" b="1" dirty="0" err="1"/>
              <a:t>kubectl</a:t>
            </a:r>
            <a:r>
              <a:rPr lang="en-US" altLang="ko-KR" sz="1400" b="1" dirty="0"/>
              <a:t> to display custom columns with the “-o custom-columns” option and sort the resource list with “--sort-by”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3B9F207C-3614-1937-D2A0-E2BEDC268F4A}"/>
              </a:ext>
            </a:extLst>
          </p:cNvPr>
          <p:cNvGrpSpPr/>
          <p:nvPr/>
        </p:nvGrpSpPr>
        <p:grpSpPr>
          <a:xfrm>
            <a:off x="1100854" y="2366625"/>
            <a:ext cx="9990292" cy="2714386"/>
            <a:chOff x="1100854" y="3329519"/>
            <a:chExt cx="9990292" cy="2714386"/>
          </a:xfrm>
        </p:grpSpPr>
        <p:grpSp>
          <p:nvGrpSpPr>
            <p:cNvPr id="13" name="그룹 12">
              <a:extLst>
                <a:ext uri="{FF2B5EF4-FFF2-40B4-BE49-F238E27FC236}">
                  <a16:creationId xmlns:a16="http://schemas.microsoft.com/office/drawing/2014/main" id="{4B2D1F77-4487-BC02-7CE0-73EC888F1944}"/>
                </a:ext>
              </a:extLst>
            </p:cNvPr>
            <p:cNvGrpSpPr/>
            <p:nvPr/>
          </p:nvGrpSpPr>
          <p:grpSpPr>
            <a:xfrm>
              <a:off x="1100854" y="3329519"/>
              <a:ext cx="9990292" cy="2714386"/>
              <a:chOff x="1100854" y="3329519"/>
              <a:chExt cx="9990292" cy="2714386"/>
            </a:xfrm>
          </p:grpSpPr>
          <p:sp>
            <p:nvSpPr>
              <p:cNvPr id="8" name="TextBox 7">
                <a:extLst>
                  <a:ext uri="{FF2B5EF4-FFF2-40B4-BE49-F238E27FC236}">
                    <a16:creationId xmlns:a16="http://schemas.microsoft.com/office/drawing/2014/main" id="{B27996DB-70E0-2E35-DD55-222608DD3613}"/>
                  </a:ext>
                </a:extLst>
              </p:cNvPr>
              <p:cNvSpPr txBox="1"/>
              <p:nvPr/>
            </p:nvSpPr>
            <p:spPr>
              <a:xfrm>
                <a:off x="1882410" y="3329519"/>
                <a:ext cx="842718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 -o custom-columns=</a:t>
                </a:r>
                <a:r>
                  <a:rPr lang="en-US" altLang="ko-KR" sz="1000" b="1" dirty="0" err="1">
                    <a:solidFill>
                      <a:srgbClr val="FF0000"/>
                    </a:solidFill>
                  </a:rPr>
                  <a:t>POD:metadata.name,NODE:spec.nodeName</a:t>
                </a:r>
                <a:r>
                  <a:rPr lang="en-US" altLang="ko-KR" sz="1000" b="1" dirty="0">
                    <a:solidFill>
                      <a:srgbClr val="FF0000"/>
                    </a:solidFill>
                  </a:rPr>
                  <a:t> </a:t>
                </a:r>
                <a:r>
                  <a:rPr lang="en-US" altLang="ko-KR" sz="1000" b="1" dirty="0"/>
                  <a:t>--sort-by </a:t>
                </a:r>
                <a:r>
                  <a:rPr lang="en-US" altLang="ko-KR" sz="1000" b="1" dirty="0" err="1">
                    <a:solidFill>
                      <a:srgbClr val="FF0000"/>
                    </a:solidFill>
                  </a:rPr>
                  <a:t>spec.nodeName</a:t>
                </a:r>
                <a:r>
                  <a:rPr lang="en-US" altLang="ko-KR" sz="1000" b="1" dirty="0"/>
                  <a:t> -n </a:t>
                </a:r>
                <a:r>
                  <a:rPr lang="en-US" altLang="ko-KR" sz="1000" b="1" dirty="0" err="1">
                    <a:solidFill>
                      <a:srgbClr val="FF0000"/>
                    </a:solidFill>
                  </a:rPr>
                  <a:t>kube</a:t>
                </a:r>
                <a:r>
                  <a:rPr lang="en-US" altLang="ko-KR" sz="1000" b="1" dirty="0">
                    <a:solidFill>
                      <a:srgbClr val="FF0000"/>
                    </a:solidFill>
                  </a:rPr>
                  <a:t>-system</a:t>
                </a:r>
                <a:endParaRPr lang="ko-KR" altLang="en-US" sz="1000" b="1" dirty="0">
                  <a:solidFill>
                    <a:srgbClr val="FF0000"/>
                  </a:solidFill>
                </a:endParaRPr>
              </a:p>
            </p:txBody>
          </p:sp>
          <p:pic>
            <p:nvPicPr>
              <p:cNvPr id="11" name="그림 10">
                <a:extLst>
                  <a:ext uri="{FF2B5EF4-FFF2-40B4-BE49-F238E27FC236}">
                    <a16:creationId xmlns:a16="http://schemas.microsoft.com/office/drawing/2014/main" id="{D898EEDF-323C-094C-F835-66BD710BCF6B}"/>
                  </a:ext>
                </a:extLst>
              </p:cNvPr>
              <p:cNvPicPr>
                <a:picLocks noChangeAspect="1"/>
              </p:cNvPicPr>
              <p:nvPr/>
            </p:nvPicPr>
            <p:blipFill>
              <a:blip r:embed="rId2"/>
              <a:stretch>
                <a:fillRect/>
              </a:stretch>
            </p:blipFill>
            <p:spPr>
              <a:xfrm>
                <a:off x="1100854" y="3854366"/>
                <a:ext cx="9990292" cy="2189539"/>
              </a:xfrm>
              <a:prstGeom prst="rect">
                <a:avLst/>
              </a:prstGeom>
            </p:spPr>
          </p:pic>
          <p:sp>
            <p:nvSpPr>
              <p:cNvPr id="12" name="화살표: 아래쪽 11">
                <a:extLst>
                  <a:ext uri="{FF2B5EF4-FFF2-40B4-BE49-F238E27FC236}">
                    <a16:creationId xmlns:a16="http://schemas.microsoft.com/office/drawing/2014/main" id="{9565FCDD-CCA3-5D01-71CE-C4815CBD5704}"/>
                  </a:ext>
                </a:extLst>
              </p:cNvPr>
              <p:cNvSpPr/>
              <p:nvPr/>
            </p:nvSpPr>
            <p:spPr>
              <a:xfrm>
                <a:off x="5897745" y="3599931"/>
                <a:ext cx="39651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직사각형 13">
              <a:extLst>
                <a:ext uri="{FF2B5EF4-FFF2-40B4-BE49-F238E27FC236}">
                  <a16:creationId xmlns:a16="http://schemas.microsoft.com/office/drawing/2014/main" id="{CCA2CB0A-F8B8-EE0E-F2C5-2573B027E922}"/>
                </a:ext>
              </a:extLst>
            </p:cNvPr>
            <p:cNvSpPr/>
            <p:nvPr/>
          </p:nvSpPr>
          <p:spPr>
            <a:xfrm>
              <a:off x="1173345" y="5324559"/>
              <a:ext cx="3018329" cy="1537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169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Architecture(8/39)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t>All the objects you’ve created before—Pods, </a:t>
            </a:r>
            <a:r>
              <a:rPr lang="en-US" altLang="ko-KR" sz="1400" b="1" dirty="0" err="1"/>
              <a:t>ReplicationControllers</a:t>
            </a:r>
            <a:r>
              <a:rPr lang="en-US" altLang="ko-KR" sz="1400" b="1" dirty="0"/>
              <a:t>, Services, Secrets, and so on—need to be stored somewhere in a persistent manner so their manifests survive API server restarts and failures</a:t>
            </a:r>
            <a:r>
              <a:rPr lang="en-US" altLang="ko-KR" sz="1400" dirty="0"/>
              <a:t>. For this, Kubernetes uses </a:t>
            </a:r>
            <a:r>
              <a:rPr lang="en-US" altLang="ko-KR" sz="1400" b="1" dirty="0" err="1">
                <a:solidFill>
                  <a:srgbClr val="FF0000"/>
                </a:solidFill>
              </a:rPr>
              <a:t>etcd</a:t>
            </a:r>
            <a:r>
              <a:rPr lang="en-US" altLang="ko-KR" sz="1400" dirty="0"/>
              <a:t>, </a:t>
            </a:r>
            <a:r>
              <a:rPr lang="en-US" altLang="ko-KR" sz="1400" b="1" dirty="0"/>
              <a:t>which is a fast, distributed, and consistent key-value store</a:t>
            </a:r>
            <a:r>
              <a:rPr lang="en-US" altLang="ko-KR" sz="1400" dirty="0"/>
              <a:t>. </a:t>
            </a:r>
            <a:r>
              <a:rPr lang="en-US" altLang="ko-KR" sz="1400" b="1" dirty="0"/>
              <a:t>Because it’s distributed, you can run more than one </a:t>
            </a:r>
            <a:r>
              <a:rPr lang="en-US" altLang="ko-KR" sz="1400" b="1" dirty="0" err="1">
                <a:solidFill>
                  <a:srgbClr val="FF0000"/>
                </a:solidFill>
              </a:rPr>
              <a:t>etcd</a:t>
            </a:r>
            <a:r>
              <a:rPr lang="en-US" altLang="ko-KR" sz="1400" b="1" dirty="0"/>
              <a:t> instance to provide both high availability and better performance</a:t>
            </a:r>
            <a:r>
              <a:rPr lang="en-US" altLang="ko-KR" sz="1400" dirty="0"/>
              <a:t>.</a:t>
            </a:r>
          </a:p>
          <a:p>
            <a:pPr lvl="1">
              <a:buFont typeface="Wingdings" panose="05000000000000000000" pitchFamily="2" charset="2"/>
              <a:buChar char="§"/>
            </a:pPr>
            <a:r>
              <a:rPr lang="en-US" altLang="ko-KR" sz="1400" b="1" dirty="0"/>
              <a:t>The only component that talks to </a:t>
            </a:r>
            <a:r>
              <a:rPr lang="en-US" altLang="ko-KR" sz="1400" b="1" dirty="0" err="1"/>
              <a:t>etcd</a:t>
            </a:r>
            <a:r>
              <a:rPr lang="en-US" altLang="ko-KR" sz="1400" b="1" dirty="0"/>
              <a:t> directly is the Kubernetes API server</a:t>
            </a:r>
            <a:r>
              <a:rPr lang="en-US" altLang="ko-KR" sz="1400" dirty="0"/>
              <a:t>. </a:t>
            </a:r>
            <a:r>
              <a:rPr lang="en-US" altLang="ko-KR" sz="1400" b="1" dirty="0"/>
              <a:t>All other components read and write data to </a:t>
            </a:r>
            <a:r>
              <a:rPr lang="en-US" altLang="ko-KR" sz="1400" b="1" dirty="0" err="1"/>
              <a:t>etcd</a:t>
            </a:r>
            <a:r>
              <a:rPr lang="en-US" altLang="ko-KR" sz="1400" b="1" dirty="0"/>
              <a:t> indirectly through the API server</a:t>
            </a:r>
            <a:r>
              <a:rPr lang="en-US" altLang="ko-KR" sz="1400" dirty="0"/>
              <a:t>. This brings a few benefits, among them </a:t>
            </a:r>
            <a:r>
              <a:rPr lang="en-US" altLang="ko-KR" sz="1400" b="1" dirty="0"/>
              <a:t>a more robust optimistic </a:t>
            </a:r>
            <a:r>
              <a:rPr lang="en-US" altLang="ko-KR" sz="1400" b="1" dirty="0">
                <a:solidFill>
                  <a:srgbClr val="FF0000"/>
                </a:solidFill>
              </a:rPr>
              <a:t>locking</a:t>
            </a:r>
            <a:r>
              <a:rPr lang="en-US" altLang="ko-KR" sz="1400" b="1" dirty="0"/>
              <a:t> system as well as validation</a:t>
            </a:r>
            <a:r>
              <a:rPr lang="en-US" altLang="ko-KR" sz="1400" dirty="0"/>
              <a:t>; </a:t>
            </a:r>
            <a:r>
              <a:rPr lang="en-US" altLang="ko-KR" sz="1400" b="1" dirty="0"/>
              <a:t>and, by </a:t>
            </a:r>
            <a:r>
              <a:rPr lang="en-US" altLang="ko-KR" sz="1400" b="1" dirty="0">
                <a:solidFill>
                  <a:srgbClr val="FF0000"/>
                </a:solidFill>
              </a:rPr>
              <a:t>abstracting</a:t>
            </a:r>
            <a:r>
              <a:rPr lang="en-US" altLang="ko-KR" sz="1400" b="1" dirty="0"/>
              <a:t> away the actual storage mechanism from all the other components, it’s much simpler to replace it in the future</a:t>
            </a:r>
            <a:r>
              <a:rPr lang="en-US" altLang="ko-KR" sz="1400" dirty="0"/>
              <a:t>. It’s worth emphasizing that </a:t>
            </a:r>
            <a:r>
              <a:rPr lang="en-US" altLang="ko-KR" sz="1400" b="1" dirty="0" err="1">
                <a:solidFill>
                  <a:srgbClr val="FF0000"/>
                </a:solidFill>
              </a:rPr>
              <a:t>etcd</a:t>
            </a:r>
            <a:r>
              <a:rPr lang="en-US" altLang="ko-KR" sz="1400" b="1" dirty="0">
                <a:solidFill>
                  <a:srgbClr val="FF0000"/>
                </a:solidFill>
              </a:rPr>
              <a:t> is the only place Kubernetes stores cluster state and metadata</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7172928-388E-7F4E-7556-42A3E2D54CEB}"/>
              </a:ext>
            </a:extLst>
          </p:cNvPr>
          <p:cNvPicPr>
            <a:picLocks noChangeAspect="1"/>
          </p:cNvPicPr>
          <p:nvPr/>
        </p:nvPicPr>
        <p:blipFill>
          <a:blip r:embed="rId2"/>
          <a:stretch>
            <a:fillRect/>
          </a:stretch>
        </p:blipFill>
        <p:spPr>
          <a:xfrm>
            <a:off x="3207860" y="2974094"/>
            <a:ext cx="5776280" cy="3382256"/>
          </a:xfrm>
          <a:prstGeom prst="rect">
            <a:avLst/>
          </a:prstGeom>
        </p:spPr>
      </p:pic>
    </p:spTree>
    <p:extLst>
      <p:ext uri="{BB962C8B-B14F-4D97-AF65-F5344CB8AC3E}">
        <p14:creationId xmlns:p14="http://schemas.microsoft.com/office/powerpoint/2010/main" val="21094271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Architecture(9/39)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solidFill>
                  <a:srgbClr val="FF0000"/>
                </a:solidFill>
              </a:rPr>
              <a:t>Optimistic concurrency control </a:t>
            </a:r>
            <a:r>
              <a:rPr lang="en-US" altLang="ko-KR" sz="1400" b="1" dirty="0"/>
              <a:t>(sometimes referred to as </a:t>
            </a:r>
            <a:r>
              <a:rPr lang="en-US" altLang="ko-KR" sz="1400" b="1" dirty="0">
                <a:solidFill>
                  <a:srgbClr val="FF0000"/>
                </a:solidFill>
              </a:rPr>
              <a:t>optimistic locking</a:t>
            </a:r>
            <a:r>
              <a:rPr lang="en-US" altLang="ko-KR" sz="1400" b="1" dirty="0"/>
              <a:t>) is a method where instead of locking a piece of data and preventing it from being read or updated while the lock is in place, the piece of data includes a </a:t>
            </a:r>
            <a:r>
              <a:rPr lang="en-US" altLang="ko-KR" sz="1400" b="1" dirty="0">
                <a:solidFill>
                  <a:srgbClr val="FF0000"/>
                </a:solidFill>
              </a:rPr>
              <a:t>version number</a:t>
            </a:r>
            <a:r>
              <a:rPr lang="en-US" altLang="ko-KR" sz="1400" dirty="0"/>
              <a:t>. </a:t>
            </a:r>
          </a:p>
          <a:p>
            <a:pPr lvl="1">
              <a:buFont typeface="Wingdings" panose="05000000000000000000" pitchFamily="2" charset="2"/>
              <a:buChar char="§"/>
            </a:pPr>
            <a:r>
              <a:rPr lang="en-US" altLang="ko-KR" sz="1400" b="1" dirty="0"/>
              <a:t>Every time the data is updated, the version number increases</a:t>
            </a:r>
            <a:r>
              <a:rPr lang="en-US" altLang="ko-KR" sz="1400" dirty="0"/>
              <a:t>. </a:t>
            </a:r>
            <a:r>
              <a:rPr lang="en-US" altLang="ko-KR" sz="1400" b="1" dirty="0"/>
              <a:t>When updating the data, the version number is checked to see if it has increased between the time the client read the data and the time it submits the update</a:t>
            </a:r>
            <a:r>
              <a:rPr lang="en-US" altLang="ko-KR" sz="1400" dirty="0"/>
              <a:t>. </a:t>
            </a:r>
            <a:r>
              <a:rPr lang="en-US" altLang="ko-KR" sz="1400" b="1" dirty="0"/>
              <a:t>If this happens, the update is rejected and the client must re-read the new data and try to update it again</a:t>
            </a:r>
            <a:r>
              <a:rPr lang="en-US" altLang="ko-KR" sz="1400" dirty="0"/>
              <a:t>. The result is that when two clients try to update the same data entry, only the first one succeeds.</a:t>
            </a:r>
          </a:p>
          <a:p>
            <a:pPr lvl="1">
              <a:buFont typeface="Wingdings" panose="05000000000000000000" pitchFamily="2" charset="2"/>
              <a:buChar char="§"/>
            </a:pPr>
            <a:r>
              <a:rPr lang="en-US" altLang="ko-KR" sz="1400" dirty="0"/>
              <a:t>All Kubernetes resources include </a:t>
            </a:r>
            <a:r>
              <a:rPr lang="en-US" altLang="ko-KR" sz="1400" b="1" dirty="0"/>
              <a:t>a “</a:t>
            </a:r>
            <a:r>
              <a:rPr lang="en-US" altLang="ko-KR" sz="1400" b="1" dirty="0" err="1">
                <a:solidFill>
                  <a:srgbClr val="FF0000"/>
                </a:solidFill>
              </a:rPr>
              <a:t>metadata.resourceVersion</a:t>
            </a:r>
            <a:r>
              <a:rPr lang="en-US" altLang="ko-KR" sz="1400" b="1" dirty="0"/>
              <a:t>” field, which clients need to pass back to the API server when updating an object</a:t>
            </a:r>
            <a:r>
              <a:rPr lang="en-US" altLang="ko-KR" sz="1400" dirty="0"/>
              <a:t>. </a:t>
            </a:r>
            <a:r>
              <a:rPr lang="en-US" altLang="ko-KR" sz="1400" b="1" dirty="0"/>
              <a:t>If the version doesn’t match the one stored in </a:t>
            </a:r>
            <a:r>
              <a:rPr lang="en-US" altLang="ko-KR" sz="1400" b="1" dirty="0" err="1">
                <a:solidFill>
                  <a:srgbClr val="FF0000"/>
                </a:solidFill>
              </a:rPr>
              <a:t>etcd</a:t>
            </a:r>
            <a:r>
              <a:rPr lang="en-US" altLang="ko-KR" sz="1400" b="1" dirty="0"/>
              <a:t>, the API server rejects the update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5C1CD7A-CDD4-65D2-F883-7872A0D6FA8C}"/>
              </a:ext>
            </a:extLst>
          </p:cNvPr>
          <p:cNvPicPr>
            <a:picLocks noChangeAspect="1"/>
          </p:cNvPicPr>
          <p:nvPr/>
        </p:nvPicPr>
        <p:blipFill>
          <a:blip r:embed="rId2"/>
          <a:stretch>
            <a:fillRect/>
          </a:stretch>
        </p:blipFill>
        <p:spPr>
          <a:xfrm>
            <a:off x="3790550" y="3298440"/>
            <a:ext cx="4610900" cy="3110590"/>
          </a:xfrm>
          <a:prstGeom prst="rect">
            <a:avLst/>
          </a:prstGeom>
        </p:spPr>
      </p:pic>
    </p:spTree>
    <p:extLst>
      <p:ext uri="{BB962C8B-B14F-4D97-AF65-F5344CB8AC3E}">
        <p14:creationId xmlns:p14="http://schemas.microsoft.com/office/powerpoint/2010/main" val="23544625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Architecture(10/39)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t>Kubernetes can use either </a:t>
            </a:r>
            <a:r>
              <a:rPr lang="en-US" altLang="ko-KR" sz="1400" b="1" dirty="0" err="1"/>
              <a:t>etcd</a:t>
            </a:r>
            <a:r>
              <a:rPr lang="en-US" altLang="ko-KR" sz="1400" b="1" dirty="0"/>
              <a:t> version 2 or version 3</a:t>
            </a:r>
            <a:r>
              <a:rPr lang="en-US" altLang="ko-KR" sz="1400" dirty="0"/>
              <a:t>, but </a:t>
            </a:r>
            <a:r>
              <a:rPr lang="en-US" altLang="ko-KR" sz="1400" b="1" dirty="0"/>
              <a:t>version 3 is now recommended </a:t>
            </a:r>
            <a:r>
              <a:rPr lang="en-US" altLang="ko-KR" sz="1400" dirty="0"/>
              <a:t>because of improved performance. </a:t>
            </a:r>
            <a:r>
              <a:rPr lang="en-US" altLang="ko-KR" sz="1400" b="1" dirty="0" err="1"/>
              <a:t>etcd</a:t>
            </a:r>
            <a:r>
              <a:rPr lang="en-US" altLang="ko-KR" sz="1400" b="1" dirty="0"/>
              <a:t> v2 stores keys in a hierarchical key space</a:t>
            </a:r>
            <a:r>
              <a:rPr lang="en-US" altLang="ko-KR" sz="1400" dirty="0"/>
              <a:t>, </a:t>
            </a:r>
            <a:r>
              <a:rPr lang="en-US" altLang="ko-KR" sz="1400" b="1" dirty="0"/>
              <a:t>which makes key-value pairs similar to files in a file system</a:t>
            </a:r>
            <a:r>
              <a:rPr lang="en-US" altLang="ko-KR" sz="1400" dirty="0"/>
              <a:t>. </a:t>
            </a:r>
            <a:r>
              <a:rPr lang="en-US" altLang="ko-KR" sz="1400" b="1" dirty="0"/>
              <a:t>Each key in </a:t>
            </a:r>
            <a:r>
              <a:rPr lang="en-US" altLang="ko-KR" sz="1400" b="1" dirty="0" err="1"/>
              <a:t>etcd</a:t>
            </a:r>
            <a:r>
              <a:rPr lang="en-US" altLang="ko-KR" sz="1400" b="1" dirty="0"/>
              <a:t> is either a directory, which contains other keys, or is a regular key with a corresponding value</a:t>
            </a:r>
            <a:r>
              <a:rPr lang="en-US" altLang="ko-KR" sz="1400" dirty="0"/>
              <a:t>. </a:t>
            </a:r>
            <a:r>
              <a:rPr lang="en-US" altLang="ko-KR" sz="1400" b="1" dirty="0" err="1"/>
              <a:t>etcd</a:t>
            </a:r>
            <a:r>
              <a:rPr lang="en-US" altLang="ko-KR" sz="1400" b="1" dirty="0"/>
              <a:t> v3 doesn’t support directories</a:t>
            </a:r>
            <a:r>
              <a:rPr lang="en-US" altLang="ko-KR" sz="1400" dirty="0"/>
              <a:t>, </a:t>
            </a:r>
            <a:r>
              <a:rPr lang="en-US" altLang="ko-KR" sz="1400" b="1" dirty="0"/>
              <a:t>but because the key format remains the same (keys can include slashes)</a:t>
            </a:r>
            <a:r>
              <a:rPr lang="en-US" altLang="ko-KR" sz="1400" dirty="0"/>
              <a:t>, you can still think of them as being grouped into directories. </a:t>
            </a:r>
            <a:r>
              <a:rPr lang="en-US" altLang="ko-KR" sz="1400" b="1" dirty="0"/>
              <a:t>Kubernetes stores all its data in “</a:t>
            </a:r>
            <a:r>
              <a:rPr lang="en-US" altLang="ko-KR" sz="1400" b="1" dirty="0" err="1"/>
              <a:t>etcd</a:t>
            </a:r>
            <a:r>
              <a:rPr lang="en-US" altLang="ko-KR" sz="1400" b="1" dirty="0"/>
              <a:t>” under “/registry”</a:t>
            </a:r>
            <a:r>
              <a:rPr lang="en-US" altLang="ko-KR" sz="1400" dirty="0"/>
              <a:t>. </a:t>
            </a:r>
            <a:r>
              <a:rPr lang="en-US" altLang="ko-KR" sz="1400" b="1" dirty="0"/>
              <a:t>To see the contents of the “/registry”, you need to use “</a:t>
            </a:r>
            <a:r>
              <a:rPr lang="en-US" altLang="ko-KR" sz="1400" b="1" dirty="0" err="1"/>
              <a:t>etcdctl</a:t>
            </a:r>
            <a:r>
              <a:rPr lang="en-US" altLang="ko-KR" sz="1400" b="1" dirty="0"/>
              <a:t>” command</a:t>
            </a:r>
            <a:r>
              <a:rPr lang="en-US" altLang="ko-KR" sz="1400" dirty="0"/>
              <a:t>.</a:t>
            </a:r>
          </a:p>
          <a:p>
            <a:pPr lvl="1">
              <a:buFont typeface="Wingdings" panose="05000000000000000000" pitchFamily="2" charset="2"/>
              <a:buChar char="§"/>
            </a:pPr>
            <a:r>
              <a:rPr lang="en-US" altLang="ko-KR" sz="1400" b="1" dirty="0"/>
              <a:t>NOTE : If you want to use “</a:t>
            </a:r>
            <a:r>
              <a:rPr lang="en-US" altLang="ko-KR" sz="1400" b="1" dirty="0" err="1">
                <a:solidFill>
                  <a:srgbClr val="FF0000"/>
                </a:solidFill>
              </a:rPr>
              <a:t>etcdctl</a:t>
            </a:r>
            <a:r>
              <a:rPr lang="en-US" altLang="ko-KR" sz="1400" b="1" dirty="0"/>
              <a:t>” command, you need install it with “</a:t>
            </a:r>
            <a:r>
              <a:rPr lang="en-US" altLang="ko-KR" sz="1400" b="1" dirty="0">
                <a:solidFill>
                  <a:srgbClr val="FF0000"/>
                </a:solidFill>
              </a:rPr>
              <a:t>$ </a:t>
            </a:r>
            <a:r>
              <a:rPr lang="en-US" altLang="ko-KR" sz="1400" b="1" dirty="0" err="1">
                <a:solidFill>
                  <a:srgbClr val="FF0000"/>
                </a:solidFill>
              </a:rPr>
              <a:t>sudo</a:t>
            </a:r>
            <a:r>
              <a:rPr lang="en-US" altLang="ko-KR" sz="1400" b="1" dirty="0">
                <a:solidFill>
                  <a:srgbClr val="FF0000"/>
                </a:solidFill>
              </a:rPr>
              <a:t> apt install </a:t>
            </a:r>
            <a:r>
              <a:rPr lang="en-US" altLang="ko-KR" sz="1400" b="1" dirty="0" err="1">
                <a:solidFill>
                  <a:srgbClr val="FF0000"/>
                </a:solidFill>
              </a:rPr>
              <a:t>etcd</a:t>
            </a:r>
            <a:r>
              <a:rPr lang="en-US" altLang="ko-KR" sz="1400" b="1" dirty="0">
                <a:solidFill>
                  <a:srgbClr val="FF0000"/>
                </a:solidFill>
              </a:rPr>
              <a:t>-client</a:t>
            </a:r>
            <a:r>
              <a:rPr lang="en-US" altLang="ko-KR" sz="1400" b="1" dirty="0"/>
              <a:t>” command</a:t>
            </a:r>
            <a:r>
              <a:rPr lang="en-US" altLang="ko-KR" sz="1400" dirty="0"/>
              <a:t>.</a:t>
            </a:r>
          </a:p>
          <a:p>
            <a:pPr lvl="1">
              <a:buFont typeface="Wingdings" panose="05000000000000000000" pitchFamily="2" charset="2"/>
              <a:buChar char="§"/>
            </a:pPr>
            <a:r>
              <a:rPr lang="en-US" altLang="ko-KR" sz="1400" b="1" dirty="0"/>
              <a:t>NOTE : If you’re using v3 of the </a:t>
            </a:r>
            <a:r>
              <a:rPr lang="en-US" altLang="ko-KR" sz="1400" b="1" dirty="0" err="1"/>
              <a:t>etcd</a:t>
            </a:r>
            <a:r>
              <a:rPr lang="en-US" altLang="ko-KR" sz="1400" b="1" dirty="0"/>
              <a:t> API</a:t>
            </a:r>
            <a:r>
              <a:rPr lang="en-US" altLang="ko-KR" sz="1400" dirty="0"/>
              <a:t>, </a:t>
            </a:r>
            <a:r>
              <a:rPr lang="en-US" altLang="ko-KR" sz="1400" b="1" dirty="0"/>
              <a:t>you can’t use the “ls” command to see the contents of a directory. Instead, you can list all keys that start with a given prefix with “</a:t>
            </a:r>
            <a:r>
              <a:rPr lang="en-US" altLang="ko-KR" sz="1400" b="1" dirty="0">
                <a:solidFill>
                  <a:srgbClr val="FF0000"/>
                </a:solidFill>
              </a:rPr>
              <a:t>$ </a:t>
            </a:r>
            <a:r>
              <a:rPr lang="en-US" altLang="ko-KR" sz="1400" b="1" dirty="0" err="1">
                <a:solidFill>
                  <a:srgbClr val="FF0000"/>
                </a:solidFill>
              </a:rPr>
              <a:t>etcdctl</a:t>
            </a:r>
            <a:r>
              <a:rPr lang="en-US" altLang="ko-KR" sz="1400" b="1" dirty="0">
                <a:solidFill>
                  <a:srgbClr val="FF0000"/>
                </a:solidFill>
              </a:rPr>
              <a:t> get /registry --prefix=true</a:t>
            </a:r>
            <a:r>
              <a:rPr lang="en-US" altLang="ko-KR" sz="1400" b="1" dirty="0"/>
              <a:t>”</a:t>
            </a:r>
            <a:r>
              <a:rPr lang="en-US" altLang="ko-KR" sz="1400" dirty="0"/>
              <a:t>.</a:t>
            </a:r>
          </a:p>
          <a:p>
            <a:pPr lvl="1">
              <a:buFont typeface="Wingdings" panose="05000000000000000000" pitchFamily="2" charset="2"/>
              <a:buChar char="§"/>
            </a:pPr>
            <a:r>
              <a:rPr lang="en-US" altLang="ko-KR" sz="1400" dirty="0"/>
              <a:t>For more information, see the following link - </a:t>
            </a:r>
            <a:r>
              <a:rPr lang="en-US" altLang="ko-KR" sz="1400" b="1" dirty="0">
                <a:hlinkClick r:id="rId2"/>
              </a:rPr>
              <a:t>https://kubernetes.io/docs/tasks/administer-cluster/configure-upgrade-etcd/</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975A191-2CC8-322D-B711-F64D3BE26A77}"/>
              </a:ext>
            </a:extLst>
          </p:cNvPr>
          <p:cNvPicPr>
            <a:picLocks noChangeAspect="1"/>
          </p:cNvPicPr>
          <p:nvPr/>
        </p:nvPicPr>
        <p:blipFill>
          <a:blip r:embed="rId3"/>
          <a:stretch>
            <a:fillRect/>
          </a:stretch>
        </p:blipFill>
        <p:spPr>
          <a:xfrm>
            <a:off x="4077233" y="3361965"/>
            <a:ext cx="4037533" cy="3047065"/>
          </a:xfrm>
          <a:prstGeom prst="rect">
            <a:avLst/>
          </a:prstGeom>
        </p:spPr>
      </p:pic>
    </p:spTree>
    <p:extLst>
      <p:ext uri="{BB962C8B-B14F-4D97-AF65-F5344CB8AC3E}">
        <p14:creationId xmlns:p14="http://schemas.microsoft.com/office/powerpoint/2010/main" val="35968791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Architecture(11/39)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t>Kubernetes improves the optimistic concurrency control by requiring all other Control Plane components to go through the API server</a:t>
            </a:r>
            <a:r>
              <a:rPr lang="en-US" altLang="ko-KR" sz="1400" dirty="0"/>
              <a:t>. </a:t>
            </a:r>
            <a:r>
              <a:rPr lang="en-US" altLang="ko-KR" sz="1400" b="1" dirty="0"/>
              <a:t>This way updates to the cluster state are always consistent</a:t>
            </a:r>
            <a:r>
              <a:rPr lang="en-US" altLang="ko-KR" sz="1400" dirty="0"/>
              <a:t>, </a:t>
            </a:r>
            <a:r>
              <a:rPr lang="en-US" altLang="ko-KR" sz="1400" b="1" dirty="0"/>
              <a:t>because the optimistic locking mechanism is implemented in a single place</a:t>
            </a:r>
            <a:r>
              <a:rPr lang="en-US" altLang="ko-KR" sz="1400" dirty="0"/>
              <a:t>, </a:t>
            </a:r>
            <a:r>
              <a:rPr lang="en-US" altLang="ko-KR" sz="1400" b="1" dirty="0"/>
              <a:t>so less chance exists, if any, of error</a:t>
            </a:r>
            <a:r>
              <a:rPr lang="en-US" altLang="ko-KR" sz="1400" dirty="0"/>
              <a:t>. </a:t>
            </a:r>
            <a:r>
              <a:rPr lang="en-US" altLang="ko-KR" sz="1400" b="1" dirty="0"/>
              <a:t>The </a:t>
            </a:r>
            <a:r>
              <a:rPr lang="en-US" altLang="ko-KR" sz="1400" b="1" dirty="0">
                <a:solidFill>
                  <a:srgbClr val="FF0000"/>
                </a:solidFill>
              </a:rPr>
              <a:t>API server</a:t>
            </a:r>
            <a:r>
              <a:rPr lang="en-US" altLang="ko-KR" sz="1400" b="1" dirty="0"/>
              <a:t> also makes sure that the data written to the store is always valid </a:t>
            </a:r>
            <a:r>
              <a:rPr lang="en-US" altLang="ko-KR" sz="1400" dirty="0"/>
              <a:t>and that </a:t>
            </a:r>
            <a:r>
              <a:rPr lang="en-US" altLang="ko-KR" sz="1400" b="1" dirty="0"/>
              <a:t>changes to the data are only performed by authorized clients</a:t>
            </a:r>
            <a:r>
              <a:rPr lang="en-US" altLang="ko-KR" sz="1400" dirty="0"/>
              <a:t>.</a:t>
            </a:r>
          </a:p>
          <a:p>
            <a:pPr lvl="1">
              <a:buFont typeface="Wingdings" panose="05000000000000000000" pitchFamily="2" charset="2"/>
              <a:buChar char="§"/>
            </a:pPr>
            <a:r>
              <a:rPr lang="en-US" altLang="ko-KR" sz="1400" dirty="0"/>
              <a:t>For ensuring high availability, </a:t>
            </a:r>
            <a:r>
              <a:rPr lang="en-US" altLang="ko-KR" sz="1400" b="1" dirty="0"/>
              <a:t>you’ll usually run more than a single instance of </a:t>
            </a:r>
            <a:r>
              <a:rPr lang="en-US" altLang="ko-KR" sz="1400" b="1" dirty="0" err="1"/>
              <a:t>etcd</a:t>
            </a:r>
            <a:r>
              <a:rPr lang="en-US" altLang="ko-KR" sz="1400" dirty="0"/>
              <a:t>. </a:t>
            </a:r>
            <a:r>
              <a:rPr lang="en-US" altLang="ko-KR" sz="1400" b="1" dirty="0"/>
              <a:t>Multiple </a:t>
            </a:r>
            <a:r>
              <a:rPr lang="en-US" altLang="ko-KR" sz="1400" b="1" dirty="0" err="1"/>
              <a:t>etcd</a:t>
            </a:r>
            <a:r>
              <a:rPr lang="en-US" altLang="ko-KR" sz="1400" b="1" dirty="0"/>
              <a:t> instances will need to remain consistent</a:t>
            </a:r>
            <a:r>
              <a:rPr lang="en-US" altLang="ko-KR" sz="1400" dirty="0"/>
              <a:t>. Such a distributed system needs to reach a </a:t>
            </a:r>
            <a:r>
              <a:rPr lang="en-US" altLang="ko-KR" sz="1400" b="1" dirty="0">
                <a:solidFill>
                  <a:srgbClr val="FF0000"/>
                </a:solidFill>
              </a:rPr>
              <a:t>consensus</a:t>
            </a:r>
            <a:r>
              <a:rPr lang="en-US" altLang="ko-KR" sz="1400" dirty="0"/>
              <a:t> on what the actual state is. </a:t>
            </a:r>
            <a:r>
              <a:rPr lang="en-US" altLang="ko-KR" sz="1400" b="1" dirty="0" err="1"/>
              <a:t>etcd</a:t>
            </a:r>
            <a:r>
              <a:rPr lang="en-US" altLang="ko-KR" sz="1400" b="1" dirty="0"/>
              <a:t> uses the </a:t>
            </a:r>
            <a:r>
              <a:rPr lang="en-US" altLang="ko-KR" sz="1400" b="1" dirty="0">
                <a:solidFill>
                  <a:srgbClr val="FF0000"/>
                </a:solidFill>
              </a:rPr>
              <a:t>RAFT</a:t>
            </a:r>
            <a:r>
              <a:rPr lang="en-US" altLang="ko-KR" sz="1400" b="1" dirty="0"/>
              <a:t> consensus algorithm </a:t>
            </a:r>
            <a:r>
              <a:rPr lang="en-US" altLang="ko-KR" sz="1400" dirty="0"/>
              <a:t>to achieve this, which ensures that at any given moment, </a:t>
            </a:r>
            <a:r>
              <a:rPr lang="en-US" altLang="ko-KR" sz="1400" b="1" dirty="0"/>
              <a:t>each node’s state is either what the majority of the nodes agrees is the current state or is one of the previously agreed upon states</a:t>
            </a:r>
            <a:r>
              <a:rPr lang="en-US" altLang="ko-KR" sz="1400" dirty="0"/>
              <a:t>.</a:t>
            </a:r>
          </a:p>
          <a:p>
            <a:pPr lvl="1">
              <a:buFont typeface="Wingdings" panose="05000000000000000000" pitchFamily="2" charset="2"/>
              <a:buChar char="§"/>
            </a:pPr>
            <a:r>
              <a:rPr lang="en-US" altLang="ko-KR" sz="1400" b="1" dirty="0"/>
              <a:t>Clients(the API server)</a:t>
            </a:r>
            <a:r>
              <a:rPr lang="en-US" altLang="ko-KR" sz="1400" dirty="0"/>
              <a:t> connecting to different nodes of an </a:t>
            </a:r>
            <a:r>
              <a:rPr lang="en-US" altLang="ko-KR" sz="1400" dirty="0" err="1"/>
              <a:t>etcd</a:t>
            </a:r>
            <a:r>
              <a:rPr lang="en-US" altLang="ko-KR" sz="1400" dirty="0"/>
              <a:t> cluster will either see the actual current state or one of the states from the past (</a:t>
            </a:r>
            <a:r>
              <a:rPr lang="en-US" altLang="ko-KR" sz="1400" b="1" dirty="0"/>
              <a:t>in Kubernetes, the only </a:t>
            </a:r>
            <a:r>
              <a:rPr lang="en-US" altLang="ko-KR" sz="1400" b="1" dirty="0" err="1"/>
              <a:t>etcd</a:t>
            </a:r>
            <a:r>
              <a:rPr lang="en-US" altLang="ko-KR" sz="1400" b="1" dirty="0"/>
              <a:t> client is the API server</a:t>
            </a:r>
            <a:r>
              <a:rPr lang="en-US" altLang="ko-KR" sz="1400" dirty="0"/>
              <a:t>, </a:t>
            </a:r>
            <a:r>
              <a:rPr lang="en-US" altLang="ko-KR" sz="1400" b="1" dirty="0"/>
              <a:t>but there may be multiple instances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3C04F3B-FAB2-E12D-9320-26E0FCE67F24}"/>
              </a:ext>
            </a:extLst>
          </p:cNvPr>
          <p:cNvGrpSpPr/>
          <p:nvPr/>
        </p:nvGrpSpPr>
        <p:grpSpPr>
          <a:xfrm>
            <a:off x="2640008" y="3681157"/>
            <a:ext cx="6911985" cy="2774557"/>
            <a:chOff x="2640008" y="3681157"/>
            <a:chExt cx="6911985" cy="2774557"/>
          </a:xfrm>
        </p:grpSpPr>
        <p:grpSp>
          <p:nvGrpSpPr>
            <p:cNvPr id="9" name="그룹 8">
              <a:extLst>
                <a:ext uri="{FF2B5EF4-FFF2-40B4-BE49-F238E27FC236}">
                  <a16:creationId xmlns:a16="http://schemas.microsoft.com/office/drawing/2014/main" id="{15B27023-4BEE-063E-5D2C-12FF2DBA560A}"/>
                </a:ext>
              </a:extLst>
            </p:cNvPr>
            <p:cNvGrpSpPr/>
            <p:nvPr/>
          </p:nvGrpSpPr>
          <p:grpSpPr>
            <a:xfrm>
              <a:off x="2640008" y="3681157"/>
              <a:ext cx="6911985" cy="2774557"/>
              <a:chOff x="3332810" y="3634473"/>
              <a:chExt cx="6911985" cy="2774557"/>
            </a:xfrm>
          </p:grpSpPr>
          <p:pic>
            <p:nvPicPr>
              <p:cNvPr id="4" name="그림 3">
                <a:extLst>
                  <a:ext uri="{FF2B5EF4-FFF2-40B4-BE49-F238E27FC236}">
                    <a16:creationId xmlns:a16="http://schemas.microsoft.com/office/drawing/2014/main" id="{8B53243A-2B04-F149-99A3-5C28E2433FE6}"/>
                  </a:ext>
                </a:extLst>
              </p:cNvPr>
              <p:cNvPicPr>
                <a:picLocks noChangeAspect="1"/>
              </p:cNvPicPr>
              <p:nvPr/>
            </p:nvPicPr>
            <p:blipFill>
              <a:blip r:embed="rId2"/>
              <a:stretch>
                <a:fillRect/>
              </a:stretch>
            </p:blipFill>
            <p:spPr>
              <a:xfrm>
                <a:off x="6545386" y="3634473"/>
                <a:ext cx="3699409" cy="2774557"/>
              </a:xfrm>
              <a:prstGeom prst="rect">
                <a:avLst/>
              </a:prstGeom>
            </p:spPr>
          </p:pic>
          <p:pic>
            <p:nvPicPr>
              <p:cNvPr id="8" name="그림 7">
                <a:extLst>
                  <a:ext uri="{FF2B5EF4-FFF2-40B4-BE49-F238E27FC236}">
                    <a16:creationId xmlns:a16="http://schemas.microsoft.com/office/drawing/2014/main" id="{55622D70-F988-9CE5-E606-1DEE237A9E6B}"/>
                  </a:ext>
                </a:extLst>
              </p:cNvPr>
              <p:cNvPicPr>
                <a:picLocks noChangeAspect="1"/>
              </p:cNvPicPr>
              <p:nvPr/>
            </p:nvPicPr>
            <p:blipFill>
              <a:blip r:embed="rId3"/>
              <a:stretch>
                <a:fillRect/>
              </a:stretch>
            </p:blipFill>
            <p:spPr>
              <a:xfrm>
                <a:off x="3332810" y="3634473"/>
                <a:ext cx="3212576" cy="2409432"/>
              </a:xfrm>
              <a:prstGeom prst="rect">
                <a:avLst/>
              </a:prstGeom>
            </p:spPr>
          </p:pic>
        </p:grpSp>
        <p:sp>
          <p:nvSpPr>
            <p:cNvPr id="10" name="직사각형 9">
              <a:extLst>
                <a:ext uri="{FF2B5EF4-FFF2-40B4-BE49-F238E27FC236}">
                  <a16:creationId xmlns:a16="http://schemas.microsoft.com/office/drawing/2014/main" id="{06B1F134-B46E-483D-274A-D15595097727}"/>
                </a:ext>
              </a:extLst>
            </p:cNvPr>
            <p:cNvSpPr/>
            <p:nvPr/>
          </p:nvSpPr>
          <p:spPr>
            <a:xfrm>
              <a:off x="5988106" y="5664425"/>
              <a:ext cx="3414839"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화살표: 오른쪽 10">
              <a:extLst>
                <a:ext uri="{FF2B5EF4-FFF2-40B4-BE49-F238E27FC236}">
                  <a16:creationId xmlns:a16="http://schemas.microsoft.com/office/drawing/2014/main" id="{6273A9C1-DC4D-2052-2D79-85F32F078C22}"/>
                </a:ext>
              </a:extLst>
            </p:cNvPr>
            <p:cNvSpPr/>
            <p:nvPr/>
          </p:nvSpPr>
          <p:spPr>
            <a:xfrm rot="2142242">
              <a:off x="5478630" y="5486400"/>
              <a:ext cx="380326" cy="356050"/>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81973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Architecture(12/39)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a:t>The consensus algorithm requires a majority (or </a:t>
            </a:r>
            <a:r>
              <a:rPr lang="en-US" altLang="ko-KR" sz="1400" b="1" dirty="0">
                <a:solidFill>
                  <a:srgbClr val="FF0000"/>
                </a:solidFill>
              </a:rPr>
              <a:t>quorum</a:t>
            </a:r>
            <a:r>
              <a:rPr lang="en-US" altLang="ko-KR" sz="1400" b="1" dirty="0"/>
              <a:t>) for the cluster to progress to the next state</a:t>
            </a:r>
            <a:r>
              <a:rPr lang="en-US" altLang="ko-KR" sz="1400" dirty="0"/>
              <a:t>. As a result, if the cluster splits into two disconnected groups of nodes, the state in the two groups can never diverge, because to transition from the previous state to the new one, there needs to be more than half of the nodes taking part in the state change. </a:t>
            </a:r>
            <a:r>
              <a:rPr lang="en-US" altLang="ko-KR" sz="1400" b="1" dirty="0"/>
              <a:t>If one group contains the majority of all nodes, the other one obviously doesn’t. The first group can modify the cluster state, whereas the other one can’t</a:t>
            </a:r>
            <a:r>
              <a:rPr lang="en-US" altLang="ko-KR" sz="1400" dirty="0"/>
              <a:t>. </a:t>
            </a:r>
          </a:p>
          <a:p>
            <a:pPr lvl="1">
              <a:buFont typeface="Wingdings" panose="05000000000000000000" pitchFamily="2" charset="2"/>
              <a:buChar char="§"/>
            </a:pPr>
            <a:r>
              <a:rPr lang="en-US" altLang="ko-KR" sz="1400" b="1" dirty="0"/>
              <a:t>When the two groups reconnect, the second group can catch up with the state in the first group </a:t>
            </a:r>
            <a:r>
              <a:rPr lang="en-US" altLang="ko-KR" sz="1400" dirty="0"/>
              <a:t>(see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F3B20D2-D7D2-662C-4C83-2BD262504707}"/>
              </a:ext>
            </a:extLst>
          </p:cNvPr>
          <p:cNvPicPr>
            <a:picLocks noChangeAspect="1"/>
          </p:cNvPicPr>
          <p:nvPr/>
        </p:nvPicPr>
        <p:blipFill>
          <a:blip r:embed="rId2"/>
          <a:stretch>
            <a:fillRect/>
          </a:stretch>
        </p:blipFill>
        <p:spPr>
          <a:xfrm>
            <a:off x="3452812" y="2820048"/>
            <a:ext cx="5286375" cy="2705100"/>
          </a:xfrm>
          <a:prstGeom prst="rect">
            <a:avLst/>
          </a:prstGeom>
        </p:spPr>
      </p:pic>
    </p:spTree>
    <p:extLst>
      <p:ext uri="{BB962C8B-B14F-4D97-AF65-F5344CB8AC3E}">
        <p14:creationId xmlns:p14="http://schemas.microsoft.com/office/powerpoint/2010/main" val="18597509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Architecture(13/39)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Distributed Nature of Kubernetes Components :</a:t>
            </a:r>
          </a:p>
          <a:p>
            <a:pPr lvl="1">
              <a:buFont typeface="Wingdings" panose="05000000000000000000" pitchFamily="2" charset="2"/>
              <a:buChar char="§"/>
            </a:pPr>
            <a:r>
              <a:rPr lang="en-US" altLang="ko-KR" sz="1400" b="1" dirty="0" err="1"/>
              <a:t>etcd</a:t>
            </a:r>
            <a:r>
              <a:rPr lang="en-US" altLang="ko-KR" sz="1400" b="1" dirty="0"/>
              <a:t> is usually deployed with </a:t>
            </a:r>
            <a:r>
              <a:rPr lang="en-US" altLang="ko-KR" sz="1400" b="1" dirty="0">
                <a:solidFill>
                  <a:srgbClr val="FF0000"/>
                </a:solidFill>
              </a:rPr>
              <a:t>an odd number of instances</a:t>
            </a:r>
            <a:r>
              <a:rPr lang="en-US" altLang="ko-KR" sz="1400" dirty="0"/>
              <a:t>. Let’s compare having two vs. having one instance. Having two instances requires both instances to be present to have a majority. If either of them fails, the </a:t>
            </a:r>
            <a:r>
              <a:rPr lang="en-US" altLang="ko-KR" sz="1400" b="1" dirty="0" err="1"/>
              <a:t>etcd</a:t>
            </a:r>
            <a:r>
              <a:rPr lang="en-US" altLang="ko-KR" sz="1400" dirty="0"/>
              <a:t> cluster can’t transition to a new state because no majority exists. Having two instances is worse than having only a single instance. By having two, the chance of the whole cluster failing has increased by 100%, compared to that of a single-node cluster failing.</a:t>
            </a:r>
          </a:p>
          <a:p>
            <a:pPr lvl="1">
              <a:buFont typeface="Wingdings" panose="05000000000000000000" pitchFamily="2" charset="2"/>
              <a:buChar char="§"/>
            </a:pPr>
            <a:r>
              <a:rPr lang="en-US" altLang="ko-KR" sz="1400" b="1" dirty="0"/>
              <a:t>The same applies when comparing three vs. four </a:t>
            </a:r>
            <a:r>
              <a:rPr lang="en-US" altLang="ko-KR" sz="1400" b="1" dirty="0" err="1"/>
              <a:t>etcd</a:t>
            </a:r>
            <a:r>
              <a:rPr lang="en-US" altLang="ko-KR" sz="1400" b="1" dirty="0"/>
              <a:t> instances</a:t>
            </a:r>
            <a:r>
              <a:rPr lang="en-US" altLang="ko-KR" sz="1400" dirty="0"/>
              <a:t>. With three instances, one instance can fail and a majority (of two) still exists. With four instances, you need three nodes for a majority (two aren’t enough). In both three- and four-instance clusters, only a single instance may fail. But when running four instances, if one fails, a higher possibility exists of an additional instance of the three remaining instances failing (compared to a three-node cluster with one failed node and two remaining nodes).</a:t>
            </a:r>
          </a:p>
          <a:p>
            <a:pPr lvl="1">
              <a:buFont typeface="Wingdings" panose="05000000000000000000" pitchFamily="2" charset="2"/>
              <a:buChar char="§"/>
            </a:pPr>
            <a:r>
              <a:rPr lang="en-US" altLang="ko-KR" sz="1400" b="1" dirty="0"/>
              <a:t>Usually, for large clusters, an </a:t>
            </a:r>
            <a:r>
              <a:rPr lang="en-US" altLang="ko-KR" sz="1400" b="1" dirty="0" err="1"/>
              <a:t>etcd</a:t>
            </a:r>
            <a:r>
              <a:rPr lang="en-US" altLang="ko-KR" sz="1400" b="1" dirty="0"/>
              <a:t> cluster of </a:t>
            </a:r>
            <a:r>
              <a:rPr lang="en-US" altLang="ko-KR" sz="1400" b="1" dirty="0">
                <a:solidFill>
                  <a:srgbClr val="FF0000"/>
                </a:solidFill>
              </a:rPr>
              <a:t>five</a:t>
            </a:r>
            <a:r>
              <a:rPr lang="en-US" altLang="ko-KR" sz="1400" b="1" dirty="0"/>
              <a:t> or </a:t>
            </a:r>
            <a:r>
              <a:rPr lang="en-US" altLang="ko-KR" sz="1400" b="1" dirty="0">
                <a:solidFill>
                  <a:srgbClr val="FF0000"/>
                </a:solidFill>
              </a:rPr>
              <a:t>seven</a:t>
            </a:r>
            <a:r>
              <a:rPr lang="en-US" altLang="ko-KR" sz="1400" b="1" dirty="0"/>
              <a:t> nodes is sufficient</a:t>
            </a:r>
            <a:r>
              <a:rPr lang="en-US" altLang="ko-KR" sz="1400" dirty="0"/>
              <a:t>. </a:t>
            </a:r>
            <a:r>
              <a:rPr lang="en-US" altLang="ko-KR" sz="1400" b="1" dirty="0"/>
              <a:t>It can handle a two- or a three-node failure, respectively, </a:t>
            </a:r>
            <a:r>
              <a:rPr lang="en-US" altLang="ko-KR" sz="1400" dirty="0"/>
              <a:t>which suffices in almost all situations.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0A43B84-1604-016B-2368-E1A0A88A988E}"/>
              </a:ext>
            </a:extLst>
          </p:cNvPr>
          <p:cNvPicPr>
            <a:picLocks noChangeAspect="1"/>
          </p:cNvPicPr>
          <p:nvPr/>
        </p:nvPicPr>
        <p:blipFill>
          <a:blip r:embed="rId2"/>
          <a:stretch>
            <a:fillRect/>
          </a:stretch>
        </p:blipFill>
        <p:spPr>
          <a:xfrm>
            <a:off x="7396121" y="3454105"/>
            <a:ext cx="3957680" cy="2954925"/>
          </a:xfrm>
          <a:prstGeom prst="rect">
            <a:avLst/>
          </a:prstGeom>
        </p:spPr>
      </p:pic>
      <p:sp>
        <p:nvSpPr>
          <p:cNvPr id="9" name="TextBox 8">
            <a:extLst>
              <a:ext uri="{FF2B5EF4-FFF2-40B4-BE49-F238E27FC236}">
                <a16:creationId xmlns:a16="http://schemas.microsoft.com/office/drawing/2014/main" id="{62E3730D-3B75-B0CA-BEF5-CE4AD2CCDD2A}"/>
              </a:ext>
            </a:extLst>
          </p:cNvPr>
          <p:cNvSpPr txBox="1"/>
          <p:nvPr/>
        </p:nvSpPr>
        <p:spPr>
          <a:xfrm>
            <a:off x="838200" y="3591718"/>
            <a:ext cx="6557922" cy="867930"/>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NOTE : If the number of failure nodes is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f</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then the minimum number of nodes is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2f+1</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For example, if one node is can be failed, then the number of nodes should be 3. If two nodes can fail, then you must prepare 5 nodes.</a:t>
            </a:r>
          </a:p>
        </p:txBody>
      </p:sp>
    </p:spTree>
    <p:extLst>
      <p:ext uri="{BB962C8B-B14F-4D97-AF65-F5344CB8AC3E}">
        <p14:creationId xmlns:p14="http://schemas.microsoft.com/office/powerpoint/2010/main" val="9489786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Architecture(14/39)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the API Server Does :</a:t>
            </a:r>
          </a:p>
          <a:p>
            <a:pPr lvl="1">
              <a:buFont typeface="Wingdings" panose="05000000000000000000" pitchFamily="2" charset="2"/>
              <a:buChar char="§"/>
            </a:pPr>
            <a:r>
              <a:rPr lang="en-US" altLang="ko-KR" sz="1400" b="1" dirty="0"/>
              <a:t>The </a:t>
            </a:r>
            <a:r>
              <a:rPr lang="en-US" altLang="ko-KR" sz="1400" b="1" dirty="0">
                <a:solidFill>
                  <a:srgbClr val="FF0000"/>
                </a:solidFill>
              </a:rPr>
              <a:t>Kubernetes API server </a:t>
            </a:r>
            <a:r>
              <a:rPr lang="en-US" altLang="ko-KR" sz="1400" b="1" dirty="0"/>
              <a:t>is the central component used by all other components and by clients</a:t>
            </a:r>
            <a:r>
              <a:rPr lang="en-US" altLang="ko-KR" sz="1400" dirty="0"/>
              <a:t>, such as </a:t>
            </a:r>
            <a:r>
              <a:rPr lang="en-US" altLang="ko-KR" sz="1400" b="1" dirty="0" err="1"/>
              <a:t>kubectl</a:t>
            </a:r>
            <a:r>
              <a:rPr lang="en-US" altLang="ko-KR" sz="1400" dirty="0"/>
              <a:t>. </a:t>
            </a:r>
            <a:r>
              <a:rPr lang="en-US" altLang="ko-KR" sz="1400" b="1" dirty="0"/>
              <a:t>It provides a CRUD (Create, Read, Update, Delete) </a:t>
            </a:r>
            <a:r>
              <a:rPr lang="en-US" altLang="ko-KR" sz="1400" dirty="0"/>
              <a:t>interface for querying and modifying the cluster state over a </a:t>
            </a:r>
            <a:r>
              <a:rPr lang="en-US" altLang="ko-KR" sz="1400" b="1" dirty="0"/>
              <a:t>RESTful API</a:t>
            </a:r>
            <a:r>
              <a:rPr lang="en-US" altLang="ko-KR" sz="1400" dirty="0"/>
              <a:t>. </a:t>
            </a:r>
            <a:r>
              <a:rPr lang="en-US" altLang="ko-KR" sz="1400" b="1" dirty="0"/>
              <a:t>It stores that state in </a:t>
            </a:r>
            <a:r>
              <a:rPr lang="en-US" altLang="ko-KR" sz="1400" b="1" dirty="0" err="1"/>
              <a:t>etcd</a:t>
            </a:r>
            <a:r>
              <a:rPr lang="en-US" altLang="ko-KR" sz="1400" dirty="0"/>
              <a:t>.</a:t>
            </a:r>
          </a:p>
          <a:p>
            <a:pPr lvl="1">
              <a:buFont typeface="Wingdings" panose="05000000000000000000" pitchFamily="2" charset="2"/>
              <a:buChar char="§"/>
            </a:pPr>
            <a:r>
              <a:rPr lang="en-US" altLang="ko-KR" sz="1400" dirty="0"/>
              <a:t>In addition to providing a consistent way of storing objects in </a:t>
            </a:r>
            <a:r>
              <a:rPr lang="en-US" altLang="ko-KR" sz="1400" b="1" dirty="0" err="1"/>
              <a:t>etcd</a:t>
            </a:r>
            <a:r>
              <a:rPr lang="en-US" altLang="ko-KR" sz="1400" dirty="0"/>
              <a:t>, </a:t>
            </a:r>
            <a:r>
              <a:rPr lang="en-US" altLang="ko-KR" sz="1400" b="1" dirty="0"/>
              <a:t>it also performs validation of those objects</a:t>
            </a:r>
            <a:r>
              <a:rPr lang="en-US" altLang="ko-KR" sz="1400" dirty="0"/>
              <a:t>, so clients can’t store improperly configured objects (which they could if they were writing to the store directly). Along with validation, </a:t>
            </a:r>
            <a:r>
              <a:rPr lang="en-US" altLang="ko-KR" sz="1400" b="1" dirty="0"/>
              <a:t>it also handles optimistic locking</a:t>
            </a:r>
            <a:r>
              <a:rPr lang="en-US" altLang="ko-KR" sz="1400" dirty="0"/>
              <a:t>, so changes to an object are never overridden by other clients in the event of concurrent updates.</a:t>
            </a:r>
          </a:p>
          <a:p>
            <a:pPr lvl="1">
              <a:buFont typeface="Wingdings" panose="05000000000000000000" pitchFamily="2" charset="2"/>
              <a:buChar char="§"/>
            </a:pPr>
            <a:r>
              <a:rPr lang="en-US" altLang="ko-KR" sz="1400" b="1" dirty="0"/>
              <a:t>One of the API server’s clients is the command-line tool </a:t>
            </a:r>
            <a:r>
              <a:rPr lang="en-US" altLang="ko-KR" sz="1400" b="1" dirty="0" err="1">
                <a:solidFill>
                  <a:srgbClr val="FF0000"/>
                </a:solidFill>
              </a:rPr>
              <a:t>kubectl</a:t>
            </a:r>
            <a:r>
              <a:rPr lang="en-US" altLang="ko-KR" sz="1400" b="1" dirty="0"/>
              <a:t> </a:t>
            </a:r>
            <a:r>
              <a:rPr lang="en-US" altLang="ko-KR" sz="1400" dirty="0"/>
              <a:t>you’ve been using from the beginning of the book. When creating a resource from a JSON file, for example, </a:t>
            </a:r>
            <a:r>
              <a:rPr lang="en-US" altLang="ko-KR" sz="1400" b="1" dirty="0" err="1"/>
              <a:t>kubectl</a:t>
            </a:r>
            <a:r>
              <a:rPr lang="en-US" altLang="ko-KR" sz="1400" b="1" dirty="0"/>
              <a:t> posts the file’s contents to the API server through an HTTP POST request</a:t>
            </a:r>
            <a:r>
              <a:rPr lang="en-US" altLang="ko-KR" sz="1400" dirty="0"/>
              <a:t>. The following figure shows what happens inside the API server when it receives the request.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54E9BF07-6052-2F40-76E2-D9B35D49BE5E}"/>
              </a:ext>
            </a:extLst>
          </p:cNvPr>
          <p:cNvGrpSpPr/>
          <p:nvPr/>
        </p:nvGrpSpPr>
        <p:grpSpPr>
          <a:xfrm>
            <a:off x="3371850" y="3591718"/>
            <a:ext cx="5448300" cy="1743075"/>
            <a:chOff x="3371850" y="3591718"/>
            <a:chExt cx="5448300" cy="1743075"/>
          </a:xfrm>
        </p:grpSpPr>
        <p:pic>
          <p:nvPicPr>
            <p:cNvPr id="8" name="그림 7">
              <a:extLst>
                <a:ext uri="{FF2B5EF4-FFF2-40B4-BE49-F238E27FC236}">
                  <a16:creationId xmlns:a16="http://schemas.microsoft.com/office/drawing/2014/main" id="{C84BA732-0313-9BC6-BCEF-FDB2DEB8DE1F}"/>
                </a:ext>
              </a:extLst>
            </p:cNvPr>
            <p:cNvPicPr>
              <a:picLocks noChangeAspect="1"/>
            </p:cNvPicPr>
            <p:nvPr/>
          </p:nvPicPr>
          <p:blipFill>
            <a:blip r:embed="rId2"/>
            <a:stretch>
              <a:fillRect/>
            </a:stretch>
          </p:blipFill>
          <p:spPr>
            <a:xfrm>
              <a:off x="3371850" y="3591718"/>
              <a:ext cx="5448300" cy="1743075"/>
            </a:xfrm>
            <a:prstGeom prst="rect">
              <a:avLst/>
            </a:prstGeom>
          </p:spPr>
        </p:pic>
        <p:sp>
          <p:nvSpPr>
            <p:cNvPr id="9" name="직사각형 8">
              <a:extLst>
                <a:ext uri="{FF2B5EF4-FFF2-40B4-BE49-F238E27FC236}">
                  <a16:creationId xmlns:a16="http://schemas.microsoft.com/office/drawing/2014/main" id="{3FFFF0B4-F49B-682D-9885-D067299241C2}"/>
                </a:ext>
              </a:extLst>
            </p:cNvPr>
            <p:cNvSpPr/>
            <p:nvPr/>
          </p:nvSpPr>
          <p:spPr>
            <a:xfrm>
              <a:off x="3495759" y="3948913"/>
              <a:ext cx="614995" cy="3074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순서도: 자기 디스크 9">
              <a:extLst>
                <a:ext uri="{FF2B5EF4-FFF2-40B4-BE49-F238E27FC236}">
                  <a16:creationId xmlns:a16="http://schemas.microsoft.com/office/drawing/2014/main" id="{2ECD0371-ADDD-3FE7-0243-5158BA186AC2}"/>
                </a:ext>
              </a:extLst>
            </p:cNvPr>
            <p:cNvSpPr/>
            <p:nvPr/>
          </p:nvSpPr>
          <p:spPr>
            <a:xfrm>
              <a:off x="8181048" y="4354661"/>
              <a:ext cx="550258" cy="365125"/>
            </a:xfrm>
            <a:prstGeom prst="flowChartMagneticDisk">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938410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Architecture(15/39)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the API Server Does :</a:t>
            </a:r>
          </a:p>
          <a:p>
            <a:pPr lvl="1">
              <a:buFont typeface="Wingdings" panose="05000000000000000000" pitchFamily="2" charset="2"/>
              <a:buChar char="§"/>
            </a:pPr>
            <a:r>
              <a:rPr lang="en-US" altLang="ko-KR" sz="1400" b="1" dirty="0"/>
              <a:t>First, the API server needs to authenticate the client sending the request</a:t>
            </a:r>
            <a:r>
              <a:rPr lang="en-US" altLang="ko-KR" sz="1400" dirty="0"/>
              <a:t>. This is performed by one or more </a:t>
            </a:r>
            <a:r>
              <a:rPr lang="en-US" altLang="ko-KR" sz="1400" b="1" dirty="0">
                <a:solidFill>
                  <a:srgbClr val="FF0000"/>
                </a:solidFill>
              </a:rPr>
              <a:t>authentication plugins </a:t>
            </a:r>
            <a:r>
              <a:rPr lang="en-US" altLang="ko-KR" sz="1400" dirty="0"/>
              <a:t>configured in the API server. The API server calls these plugins in turn, until one of them determines who is sending the request. </a:t>
            </a:r>
            <a:r>
              <a:rPr lang="en-US" altLang="ko-KR" sz="1400" b="1" dirty="0"/>
              <a:t>It does this by inspecting the HTTP request</a:t>
            </a:r>
            <a:r>
              <a:rPr lang="en-US" altLang="ko-KR" sz="1400" dirty="0"/>
              <a:t>.</a:t>
            </a:r>
          </a:p>
          <a:p>
            <a:pPr lvl="1">
              <a:buFont typeface="Wingdings" panose="05000000000000000000" pitchFamily="2" charset="2"/>
              <a:buChar char="§"/>
            </a:pPr>
            <a:r>
              <a:rPr lang="en-US" altLang="ko-KR" sz="1400" b="1" dirty="0"/>
              <a:t>Depending on the authentication method, the user can be extracted from the client’s certificate or an HTTP header</a:t>
            </a:r>
            <a:r>
              <a:rPr lang="en-US" altLang="ko-KR" sz="1400" dirty="0"/>
              <a:t>, such as Authorization. The plugin extracts the </a:t>
            </a:r>
            <a:r>
              <a:rPr lang="en-US" altLang="ko-KR" sz="1400" b="1" dirty="0"/>
              <a:t>client’s username</a:t>
            </a:r>
            <a:r>
              <a:rPr lang="en-US" altLang="ko-KR" sz="1400" dirty="0"/>
              <a:t>, </a:t>
            </a:r>
            <a:r>
              <a:rPr lang="en-US" altLang="ko-KR" sz="1400" b="1" dirty="0"/>
              <a:t>user ID</a:t>
            </a:r>
            <a:r>
              <a:rPr lang="en-US" altLang="ko-KR" sz="1400" dirty="0"/>
              <a:t>, and </a:t>
            </a:r>
            <a:r>
              <a:rPr lang="en-US" altLang="ko-KR" sz="1400" b="1" dirty="0"/>
              <a:t>groups</a:t>
            </a:r>
            <a:r>
              <a:rPr lang="en-US" altLang="ko-KR" sz="1400" dirty="0"/>
              <a:t> the user belongs to. </a:t>
            </a:r>
            <a:r>
              <a:rPr lang="en-US" altLang="ko-KR" sz="1400" b="1" dirty="0"/>
              <a:t>This data is then used in the next stage, which is authorization</a:t>
            </a:r>
            <a:r>
              <a:rPr lang="en-US" altLang="ko-KR" sz="1400" dirty="0"/>
              <a:t>.</a:t>
            </a:r>
          </a:p>
          <a:p>
            <a:pPr lvl="1">
              <a:buFont typeface="Wingdings" panose="05000000000000000000" pitchFamily="2" charset="2"/>
              <a:buChar char="§"/>
            </a:pPr>
            <a:r>
              <a:rPr lang="en-US" altLang="ko-KR" sz="1400" b="1" dirty="0"/>
              <a:t>Besides authentication plugins, the API server is also configured to use one or more </a:t>
            </a:r>
            <a:r>
              <a:rPr lang="en-US" altLang="ko-KR" sz="1400" b="1" dirty="0">
                <a:solidFill>
                  <a:srgbClr val="FF0000"/>
                </a:solidFill>
              </a:rPr>
              <a:t>authorization plugins</a:t>
            </a:r>
            <a:r>
              <a:rPr lang="en-US" altLang="ko-KR" sz="1400" dirty="0"/>
              <a:t>. Their job is to </a:t>
            </a:r>
            <a:r>
              <a:rPr lang="en-US" altLang="ko-KR" sz="1400" b="1" dirty="0"/>
              <a:t>determine whether the authenticated user can perform the requested action on the requested resource</a:t>
            </a:r>
            <a:r>
              <a:rPr lang="en-US" altLang="ko-KR" sz="1400" dirty="0"/>
              <a:t>. For example, when creating pods, the API server consults all authorization plugins in turn, to determine whether the user can create pods in the requested namespace. As soon as a plugin says the user can perform the action, the API server progresses to the next stage.</a:t>
            </a:r>
          </a:p>
          <a:p>
            <a:pPr lvl="1">
              <a:buFont typeface="Wingdings" panose="05000000000000000000" pitchFamily="2" charset="2"/>
              <a:buChar char="§"/>
            </a:pPr>
            <a:r>
              <a:rPr lang="en-US" altLang="ko-KR" sz="1400" b="1" dirty="0"/>
              <a:t>If the request is trying to create, modify, or delete a resource, the request is sent through Admission Control</a:t>
            </a:r>
            <a:r>
              <a:rPr lang="en-US" altLang="ko-KR" sz="1400" dirty="0"/>
              <a:t>. </a:t>
            </a:r>
            <a:r>
              <a:rPr lang="en-US" altLang="ko-KR" sz="1400" b="1" dirty="0"/>
              <a:t>Again, the server is configured with multiple </a:t>
            </a:r>
            <a:r>
              <a:rPr lang="en-US" altLang="ko-KR" sz="1400" b="1" dirty="0">
                <a:solidFill>
                  <a:srgbClr val="FF0000"/>
                </a:solidFill>
              </a:rPr>
              <a:t>Admission Control </a:t>
            </a:r>
            <a:r>
              <a:rPr lang="en-US" altLang="ko-KR" sz="1400" b="1" dirty="0"/>
              <a:t>plugins</a:t>
            </a:r>
            <a:r>
              <a:rPr lang="en-US" altLang="ko-KR" sz="1400" dirty="0"/>
              <a:t>. </a:t>
            </a:r>
            <a:r>
              <a:rPr lang="en-US" altLang="ko-KR" sz="1400" b="1" dirty="0"/>
              <a:t>These plugins can modify the resource for different reasons</a:t>
            </a:r>
            <a:r>
              <a:rPr lang="en-US" altLang="ko-KR" sz="1400" dirty="0"/>
              <a:t>. They may initialize fields missing from the resource specification to the configured default values or even override them. They may even modify other related resources, which aren’t in the request, and can also reject a request for whatever reason. </a:t>
            </a:r>
            <a:r>
              <a:rPr lang="en-US" altLang="ko-KR" sz="1400" b="1" dirty="0"/>
              <a:t>The resource passes through all Admission Control plugins</a:t>
            </a:r>
            <a:r>
              <a:rPr lang="en-US" altLang="ko-KR" sz="1400" dirty="0"/>
              <a:t>. </a:t>
            </a:r>
          </a:p>
          <a:p>
            <a:pPr lvl="1">
              <a:buFont typeface="Wingdings" panose="05000000000000000000" pitchFamily="2" charset="2"/>
              <a:buChar char="§"/>
            </a:pPr>
            <a:r>
              <a:rPr lang="en-US" altLang="ko-KR" sz="1400" b="1" dirty="0"/>
              <a:t>NOTE : When the request is only trying to read data, the request doesn’t go through the Admission Control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828173A-8A6B-2924-1DE8-AFB82091FF82}"/>
              </a:ext>
            </a:extLst>
          </p:cNvPr>
          <p:cNvPicPr>
            <a:picLocks noChangeAspect="1"/>
          </p:cNvPicPr>
          <p:nvPr/>
        </p:nvPicPr>
        <p:blipFill>
          <a:blip r:embed="rId2"/>
          <a:stretch>
            <a:fillRect/>
          </a:stretch>
        </p:blipFill>
        <p:spPr>
          <a:xfrm>
            <a:off x="4114520" y="4736480"/>
            <a:ext cx="3962960" cy="1672550"/>
          </a:xfrm>
          <a:prstGeom prst="rect">
            <a:avLst/>
          </a:prstGeom>
        </p:spPr>
      </p:pic>
    </p:spTree>
    <p:extLst>
      <p:ext uri="{BB962C8B-B14F-4D97-AF65-F5344CB8AC3E}">
        <p14:creationId xmlns:p14="http://schemas.microsoft.com/office/powerpoint/2010/main" val="10681145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Architecture(16/39)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the API Server Does :</a:t>
            </a:r>
          </a:p>
          <a:p>
            <a:pPr lvl="1">
              <a:buFont typeface="Wingdings" panose="05000000000000000000" pitchFamily="2" charset="2"/>
              <a:buChar char="§"/>
            </a:pPr>
            <a:r>
              <a:rPr lang="en-US" altLang="ko-KR" sz="1400" b="1" dirty="0"/>
              <a:t>Examples of Admission Control plugins </a:t>
            </a:r>
            <a:r>
              <a:rPr lang="en-US" altLang="ko-KR" sz="1400" dirty="0"/>
              <a:t>include : </a:t>
            </a:r>
          </a:p>
          <a:p>
            <a:pPr lvl="2">
              <a:buFont typeface="Wingdings" panose="05000000000000000000" pitchFamily="2" charset="2"/>
              <a:buChar char="§"/>
            </a:pPr>
            <a:r>
              <a:rPr lang="en-US" altLang="ko-KR" sz="1400" b="1" dirty="0" err="1"/>
              <a:t>AlwaysPullImages</a:t>
            </a:r>
            <a:r>
              <a:rPr lang="en-US" altLang="ko-KR" sz="1400" dirty="0"/>
              <a:t>—</a:t>
            </a:r>
            <a:r>
              <a:rPr lang="en-US" altLang="ko-KR" sz="1400" b="1" dirty="0"/>
              <a:t>Overrides the pod’s </a:t>
            </a:r>
            <a:r>
              <a:rPr lang="en-US" altLang="ko-KR" sz="1400" dirty="0"/>
              <a:t>“</a:t>
            </a:r>
            <a:r>
              <a:rPr lang="en-US" altLang="ko-KR" sz="1400" b="1" dirty="0" err="1"/>
              <a:t>imagePullPolicy</a:t>
            </a:r>
            <a:r>
              <a:rPr lang="en-US" altLang="ko-KR" sz="1400" dirty="0"/>
              <a:t>” </a:t>
            </a:r>
            <a:r>
              <a:rPr lang="en-US" altLang="ko-KR" sz="1400" b="1" dirty="0"/>
              <a:t>to</a:t>
            </a:r>
            <a:r>
              <a:rPr lang="en-US" altLang="ko-KR" sz="1400" dirty="0"/>
              <a:t> “</a:t>
            </a:r>
            <a:r>
              <a:rPr lang="en-US" altLang="ko-KR" sz="1400" b="1" dirty="0"/>
              <a:t>Always</a:t>
            </a:r>
            <a:r>
              <a:rPr lang="en-US" altLang="ko-KR" sz="1400" dirty="0"/>
              <a:t>”, forcing the image to be pulled every time the pod is deployed.</a:t>
            </a:r>
          </a:p>
          <a:p>
            <a:pPr lvl="2">
              <a:buFont typeface="Wingdings" panose="05000000000000000000" pitchFamily="2" charset="2"/>
              <a:buChar char="§"/>
            </a:pPr>
            <a:r>
              <a:rPr lang="en-US" altLang="ko-KR" sz="1400" b="1" dirty="0" err="1"/>
              <a:t>ServiceAccount</a:t>
            </a:r>
            <a:r>
              <a:rPr lang="en-US" altLang="ko-KR" sz="1400" dirty="0"/>
              <a:t>—</a:t>
            </a:r>
            <a:r>
              <a:rPr lang="en-US" altLang="ko-KR" sz="1400" b="1" dirty="0"/>
              <a:t>Applies the default service account to pods </a:t>
            </a:r>
            <a:r>
              <a:rPr lang="en-US" altLang="ko-KR" sz="1400" dirty="0"/>
              <a:t>that don’t specify it explicitly.</a:t>
            </a:r>
          </a:p>
          <a:p>
            <a:pPr lvl="2">
              <a:buFont typeface="Wingdings" panose="05000000000000000000" pitchFamily="2" charset="2"/>
              <a:buChar char="§"/>
            </a:pPr>
            <a:r>
              <a:rPr lang="en-US" altLang="ko-KR" sz="1400" b="1" dirty="0" err="1"/>
              <a:t>NamespaceLifecycle</a:t>
            </a:r>
            <a:r>
              <a:rPr lang="en-US" altLang="ko-KR" sz="1400" dirty="0"/>
              <a:t>—</a:t>
            </a:r>
            <a:r>
              <a:rPr lang="en-US" altLang="ko-KR" sz="1400" b="1" dirty="0"/>
              <a:t>Prevents creation of pods in namespaces </a:t>
            </a:r>
            <a:r>
              <a:rPr lang="en-US" altLang="ko-KR" sz="1400" dirty="0"/>
              <a:t>that are in the process of being deleted, as well as in non-existing namespaces.</a:t>
            </a:r>
          </a:p>
          <a:p>
            <a:pPr lvl="2">
              <a:buFont typeface="Wingdings" panose="05000000000000000000" pitchFamily="2" charset="2"/>
              <a:buChar char="§"/>
            </a:pPr>
            <a:r>
              <a:rPr lang="en-US" altLang="ko-KR" sz="1400" b="1" dirty="0" err="1"/>
              <a:t>ResourceQuota</a:t>
            </a:r>
            <a:r>
              <a:rPr lang="en-US" altLang="ko-KR" sz="1400" dirty="0"/>
              <a:t>—</a:t>
            </a:r>
            <a:r>
              <a:rPr lang="en-US" altLang="ko-KR" sz="1400" b="1" dirty="0"/>
              <a:t>Ensures pods in a certain namespace only use as much CPU and memory as has been allotted to the namespace</a:t>
            </a:r>
            <a:r>
              <a:rPr lang="en-US" altLang="ko-KR" sz="1400" dirty="0"/>
              <a:t>.</a:t>
            </a:r>
          </a:p>
          <a:p>
            <a:pPr lvl="1">
              <a:buFont typeface="Wingdings" panose="05000000000000000000" pitchFamily="2" charset="2"/>
              <a:buChar char="§"/>
            </a:pPr>
            <a:r>
              <a:rPr lang="en-US" altLang="ko-KR" sz="1400" b="1" dirty="0"/>
              <a:t>NOTE : You’ll find a list of additional Admission Control plugins in the Kubernetes documentation at </a:t>
            </a:r>
            <a:r>
              <a:rPr lang="en-US" altLang="ko-KR" sz="1400" b="1" dirty="0">
                <a:hlinkClick r:id="rId2"/>
              </a:rPr>
              <a:t>https://kubernetes.io/docs/admin/admission-controllers/</a:t>
            </a:r>
            <a:r>
              <a:rPr lang="en-US" altLang="ko-KR" sz="1400" dirty="0"/>
              <a:t>.</a:t>
            </a:r>
          </a:p>
          <a:p>
            <a:pPr lvl="1">
              <a:buFont typeface="Wingdings" panose="05000000000000000000" pitchFamily="2" charset="2"/>
              <a:buChar char="§"/>
            </a:pPr>
            <a:r>
              <a:rPr lang="en-US" altLang="ko-KR" sz="1400" dirty="0"/>
              <a:t>After letting the request pass through all the Admission Control plugins, </a:t>
            </a:r>
            <a:r>
              <a:rPr lang="en-US" altLang="ko-KR" sz="1400" b="1" dirty="0"/>
              <a:t>the API server then </a:t>
            </a:r>
            <a:r>
              <a:rPr lang="en-US" altLang="ko-KR" sz="1400" b="1" dirty="0">
                <a:solidFill>
                  <a:srgbClr val="FF0000"/>
                </a:solidFill>
              </a:rPr>
              <a:t>validates</a:t>
            </a:r>
            <a:r>
              <a:rPr lang="en-US" altLang="ko-KR" sz="1400" b="1" dirty="0"/>
              <a:t> </a:t>
            </a:r>
            <a:r>
              <a:rPr lang="en-US" altLang="ko-KR" sz="1400" b="1" dirty="0">
                <a:solidFill>
                  <a:srgbClr val="FF0000"/>
                </a:solidFill>
              </a:rPr>
              <a:t>the object</a:t>
            </a:r>
            <a:r>
              <a:rPr lang="en-US" altLang="ko-KR" sz="1400" dirty="0"/>
              <a:t>, </a:t>
            </a:r>
            <a:r>
              <a:rPr lang="en-US" altLang="ko-KR" sz="1400" b="1" dirty="0">
                <a:solidFill>
                  <a:srgbClr val="FF0000"/>
                </a:solidFill>
              </a:rPr>
              <a:t>stores it in </a:t>
            </a:r>
            <a:r>
              <a:rPr lang="en-US" altLang="ko-KR" sz="1400" b="1" dirty="0" err="1">
                <a:solidFill>
                  <a:srgbClr val="FF0000"/>
                </a:solidFill>
              </a:rPr>
              <a:t>etcd</a:t>
            </a:r>
            <a:r>
              <a:rPr lang="en-US" altLang="ko-KR" sz="1400" b="1" dirty="0"/>
              <a:t>, and </a:t>
            </a:r>
            <a:r>
              <a:rPr lang="en-US" altLang="ko-KR" sz="1400" b="1" dirty="0">
                <a:solidFill>
                  <a:srgbClr val="FF0000"/>
                </a:solidFill>
              </a:rPr>
              <a:t>returns a response to the client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AD6D42B-7CB1-F8ED-3E54-E2F0CF8CCD09}"/>
              </a:ext>
            </a:extLst>
          </p:cNvPr>
          <p:cNvPicPr>
            <a:picLocks noChangeAspect="1"/>
          </p:cNvPicPr>
          <p:nvPr/>
        </p:nvPicPr>
        <p:blipFill>
          <a:blip r:embed="rId3"/>
          <a:stretch>
            <a:fillRect/>
          </a:stretch>
        </p:blipFill>
        <p:spPr>
          <a:xfrm>
            <a:off x="3002861" y="3826157"/>
            <a:ext cx="6186277" cy="2304122"/>
          </a:xfrm>
          <a:prstGeom prst="rect">
            <a:avLst/>
          </a:prstGeom>
        </p:spPr>
      </p:pic>
    </p:spTree>
    <p:extLst>
      <p:ext uri="{BB962C8B-B14F-4D97-AF65-F5344CB8AC3E}">
        <p14:creationId xmlns:p14="http://schemas.microsoft.com/office/powerpoint/2010/main" val="32162089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Architecture(17/39)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the API Server Notifies Clients of Resource Changes : </a:t>
            </a:r>
          </a:p>
          <a:p>
            <a:pPr lvl="1">
              <a:buFont typeface="Wingdings" panose="05000000000000000000" pitchFamily="2" charset="2"/>
              <a:buChar char="§"/>
            </a:pPr>
            <a:r>
              <a:rPr lang="en-US" altLang="ko-KR" sz="1400" b="1" dirty="0"/>
              <a:t>The API server doesn’t do anything else except what we’ve discussed</a:t>
            </a:r>
            <a:r>
              <a:rPr lang="en-US" altLang="ko-KR" sz="1400" dirty="0"/>
              <a:t>. For example, it doesn’t create pods when you create a </a:t>
            </a:r>
            <a:r>
              <a:rPr lang="en-US" altLang="ko-KR" sz="1400" b="1" dirty="0" err="1"/>
              <a:t>ReplicaSet</a:t>
            </a:r>
            <a:r>
              <a:rPr lang="en-US" altLang="ko-KR" sz="1400" dirty="0"/>
              <a:t> resource and it doesn’t </a:t>
            </a:r>
            <a:r>
              <a:rPr lang="en-US" altLang="ko-KR" sz="1400" b="1" dirty="0"/>
              <a:t>manage the endpoints of a service</a:t>
            </a:r>
            <a:r>
              <a:rPr lang="en-US" altLang="ko-KR" sz="1400" dirty="0"/>
              <a:t>. </a:t>
            </a:r>
            <a:r>
              <a:rPr lang="en-US" altLang="ko-KR" sz="1400" b="1" dirty="0"/>
              <a:t>That’s what controllers in the </a:t>
            </a:r>
            <a:r>
              <a:rPr lang="en-US" altLang="ko-KR" sz="1400" b="1" dirty="0">
                <a:solidFill>
                  <a:srgbClr val="FF0000"/>
                </a:solidFill>
              </a:rPr>
              <a:t>Controller Manager </a:t>
            </a:r>
            <a:r>
              <a:rPr lang="en-US" altLang="ko-KR" sz="1400" b="1" dirty="0"/>
              <a:t>do</a:t>
            </a:r>
            <a:r>
              <a:rPr lang="en-US" altLang="ko-KR" sz="1400" dirty="0"/>
              <a:t>.</a:t>
            </a:r>
          </a:p>
          <a:p>
            <a:pPr lvl="1">
              <a:buFont typeface="Wingdings" panose="05000000000000000000" pitchFamily="2" charset="2"/>
              <a:buChar char="§"/>
            </a:pPr>
            <a:r>
              <a:rPr lang="en-US" altLang="ko-KR" sz="1400" b="1" dirty="0"/>
              <a:t>But the API server doesn’t even tell these controllers what to do. All it does is enable those controllers and other components to observe changes to deployed resources</a:t>
            </a:r>
            <a:r>
              <a:rPr lang="en-US" altLang="ko-KR" sz="1400" dirty="0"/>
              <a:t>. A Control Plane component can request to be notified when a resource is created, modified, or deleted. This enables the component to perform whatever task it needs in response to a change of the cluster metadata.</a:t>
            </a:r>
          </a:p>
          <a:p>
            <a:pPr lvl="1">
              <a:buFont typeface="Wingdings" panose="05000000000000000000" pitchFamily="2" charset="2"/>
              <a:buChar char="§"/>
            </a:pPr>
            <a:r>
              <a:rPr lang="en-US" altLang="ko-KR" sz="1400" b="1" dirty="0"/>
              <a:t>Clients watch for changes by opening an HTTP connection to the API server</a:t>
            </a:r>
            <a:r>
              <a:rPr lang="en-US" altLang="ko-KR" sz="1400" dirty="0"/>
              <a:t>. </a:t>
            </a:r>
            <a:r>
              <a:rPr lang="en-US" altLang="ko-KR" sz="1400" b="1" dirty="0"/>
              <a:t>Through this connection, the client will then receive </a:t>
            </a:r>
            <a:r>
              <a:rPr lang="en-US" altLang="ko-KR" sz="1400" b="1" dirty="0">
                <a:solidFill>
                  <a:srgbClr val="FF0000"/>
                </a:solidFill>
              </a:rPr>
              <a:t>a stream of modifications to the watched objects</a:t>
            </a:r>
            <a:r>
              <a:rPr lang="en-US" altLang="ko-KR" sz="1400" dirty="0"/>
              <a:t>. </a:t>
            </a:r>
            <a:r>
              <a:rPr lang="en-US" altLang="ko-KR" sz="1400" b="1" dirty="0"/>
              <a:t>Every time an object is updated, the server sends the new version of the object to all connected clients watching the object</a:t>
            </a:r>
            <a:r>
              <a:rPr lang="en-US" altLang="ko-KR" sz="1400" dirty="0"/>
              <a:t>. The following figure shows how clients can watch for changes to pods and how a change to one of the pods is stored into </a:t>
            </a:r>
            <a:r>
              <a:rPr lang="en-US" altLang="ko-KR" sz="1400" dirty="0" err="1"/>
              <a:t>etcd</a:t>
            </a:r>
            <a:r>
              <a:rPr lang="en-US" altLang="ko-KR" sz="1400" dirty="0"/>
              <a:t> and then relayed to all clients watching pods at that moment.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D3AE896-3434-9493-6311-A830D3B37C35}"/>
              </a:ext>
            </a:extLst>
          </p:cNvPr>
          <p:cNvPicPr>
            <a:picLocks noChangeAspect="1"/>
          </p:cNvPicPr>
          <p:nvPr/>
        </p:nvPicPr>
        <p:blipFill>
          <a:blip r:embed="rId2"/>
          <a:stretch>
            <a:fillRect/>
          </a:stretch>
        </p:blipFill>
        <p:spPr>
          <a:xfrm>
            <a:off x="3578942" y="4058027"/>
            <a:ext cx="5034116" cy="1671484"/>
          </a:xfrm>
          <a:prstGeom prst="rect">
            <a:avLst/>
          </a:prstGeom>
        </p:spPr>
      </p:pic>
    </p:spTree>
    <p:extLst>
      <p:ext uri="{BB962C8B-B14F-4D97-AF65-F5344CB8AC3E}">
        <p14:creationId xmlns:p14="http://schemas.microsoft.com/office/powerpoint/2010/main" val="14617839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Architecture(18/39)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the API Server Notifies Clients of Resource Changes :</a:t>
            </a:r>
          </a:p>
          <a:p>
            <a:pPr lvl="1">
              <a:buFont typeface="Wingdings" panose="05000000000000000000" pitchFamily="2" charset="2"/>
              <a:buChar char="§"/>
            </a:pPr>
            <a:r>
              <a:rPr lang="en-US" altLang="ko-KR" sz="1400" b="1" dirty="0"/>
              <a:t>One of the API server’s clients is the </a:t>
            </a:r>
            <a:r>
              <a:rPr lang="en-US" altLang="ko-KR" sz="1400" b="1" dirty="0" err="1"/>
              <a:t>kubectl</a:t>
            </a:r>
            <a:r>
              <a:rPr lang="en-US" altLang="ko-KR" sz="1400" b="1" dirty="0"/>
              <a:t> tool</a:t>
            </a:r>
            <a:r>
              <a:rPr lang="en-US" altLang="ko-KR" sz="1400" dirty="0"/>
              <a:t>, </a:t>
            </a:r>
            <a:r>
              <a:rPr lang="en-US" altLang="ko-KR" sz="1400" b="1" dirty="0"/>
              <a:t>which also supports watching resources</a:t>
            </a:r>
            <a:r>
              <a:rPr lang="en-US" altLang="ko-KR" sz="1400" dirty="0"/>
              <a:t>. For example, when deploying a pod, you don’t need to constantly poll the list of pods by repeatedly executing “</a:t>
            </a:r>
            <a:r>
              <a:rPr lang="en-US" altLang="ko-KR" sz="1400" b="1" dirty="0"/>
              <a:t>$ </a:t>
            </a:r>
            <a:r>
              <a:rPr lang="en-US" altLang="ko-KR" sz="1400" b="1" dirty="0" err="1"/>
              <a:t>kubectl</a:t>
            </a:r>
            <a:r>
              <a:rPr lang="en-US" altLang="ko-KR" sz="1400" b="1" dirty="0"/>
              <a:t> get pods</a:t>
            </a:r>
            <a:r>
              <a:rPr lang="en-US" altLang="ko-KR" sz="1400" dirty="0"/>
              <a:t>” command. Instead, </a:t>
            </a:r>
            <a:r>
              <a:rPr lang="en-US" altLang="ko-KR" sz="1400" b="1" dirty="0"/>
              <a:t>you can use the “</a:t>
            </a:r>
            <a:r>
              <a:rPr lang="en-US" altLang="ko-KR" sz="1400" b="1" dirty="0">
                <a:solidFill>
                  <a:srgbClr val="FF0000"/>
                </a:solidFill>
              </a:rPr>
              <a:t>--watch</a:t>
            </a:r>
            <a:r>
              <a:rPr lang="en-US" altLang="ko-KR" sz="1400" b="1" dirty="0"/>
              <a:t>” flag and be notified of each creation, modification, or deletion of a pod</a:t>
            </a:r>
            <a:r>
              <a:rPr lang="en-US" altLang="ko-KR" sz="1400" dirty="0"/>
              <a:t>, as shown in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 The command will not be completed. You can see that the cursor is at the end of the output and no shell prompt is displayed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8DD77AC7-473A-E838-1395-3CE9690C93E8}"/>
              </a:ext>
            </a:extLst>
          </p:cNvPr>
          <p:cNvGrpSpPr/>
          <p:nvPr/>
        </p:nvGrpSpPr>
        <p:grpSpPr>
          <a:xfrm>
            <a:off x="1084670" y="2064920"/>
            <a:ext cx="10022660" cy="2164916"/>
            <a:chOff x="1084670" y="2064920"/>
            <a:chExt cx="10022660" cy="2164916"/>
          </a:xfrm>
        </p:grpSpPr>
        <p:sp>
          <p:nvSpPr>
            <p:cNvPr id="8" name="TextBox 7">
              <a:extLst>
                <a:ext uri="{FF2B5EF4-FFF2-40B4-BE49-F238E27FC236}">
                  <a16:creationId xmlns:a16="http://schemas.microsoft.com/office/drawing/2014/main" id="{B6A584DC-54D1-8D14-A3F5-32715B38A14F}"/>
                </a:ext>
              </a:extLst>
            </p:cNvPr>
            <p:cNvSpPr txBox="1"/>
            <p:nvPr/>
          </p:nvSpPr>
          <p:spPr>
            <a:xfrm>
              <a:off x="3047326" y="206492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--watch</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FBD16448-8C5D-8CB8-5A16-35821B30B60F}"/>
                </a:ext>
              </a:extLst>
            </p:cNvPr>
            <p:cNvSpPr/>
            <p:nvPr/>
          </p:nvSpPr>
          <p:spPr>
            <a:xfrm>
              <a:off x="5865377" y="2311141"/>
              <a:ext cx="461246" cy="33177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A69E4BE6-0995-B286-FED9-E3ED1EDD8384}"/>
                </a:ext>
              </a:extLst>
            </p:cNvPr>
            <p:cNvPicPr>
              <a:picLocks noChangeAspect="1"/>
            </p:cNvPicPr>
            <p:nvPr/>
          </p:nvPicPr>
          <p:blipFill>
            <a:blip r:embed="rId2"/>
            <a:stretch>
              <a:fillRect/>
            </a:stretch>
          </p:blipFill>
          <p:spPr>
            <a:xfrm>
              <a:off x="1084670" y="2642915"/>
              <a:ext cx="10022660" cy="1586921"/>
            </a:xfrm>
            <a:prstGeom prst="rect">
              <a:avLst/>
            </a:prstGeom>
          </p:spPr>
        </p:pic>
      </p:grpSp>
    </p:spTree>
    <p:extLst>
      <p:ext uri="{BB962C8B-B14F-4D97-AF65-F5344CB8AC3E}">
        <p14:creationId xmlns:p14="http://schemas.microsoft.com/office/powerpoint/2010/main" val="7899371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Architecture(19/39)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the API Server Notifies Clients of Resource Changes :</a:t>
            </a:r>
          </a:p>
          <a:p>
            <a:pPr lvl="1">
              <a:buFont typeface="Wingdings" panose="05000000000000000000" pitchFamily="2" charset="2"/>
              <a:buChar char="§"/>
            </a:pPr>
            <a:r>
              <a:rPr lang="en-US" altLang="ko-KR" sz="1400" b="1" dirty="0"/>
              <a:t>You can even have </a:t>
            </a:r>
            <a:r>
              <a:rPr lang="en-US" altLang="ko-KR" sz="1400" b="1" dirty="0" err="1"/>
              <a:t>kubectl</a:t>
            </a:r>
            <a:r>
              <a:rPr lang="en-US" altLang="ko-KR" sz="1400" b="1" dirty="0"/>
              <a:t> print out the whole YAML on each watch event </a:t>
            </a:r>
            <a:r>
              <a:rPr lang="en-US" altLang="ko-KR" sz="1400" dirty="0"/>
              <a:t>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The watch mechanism is also used by the </a:t>
            </a:r>
            <a:r>
              <a:rPr lang="en-US" altLang="ko-KR" sz="1400" b="1" dirty="0">
                <a:solidFill>
                  <a:srgbClr val="FF0000"/>
                </a:solidFill>
              </a:rPr>
              <a:t>Scheduler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D3FF3093-45FD-16EE-69E7-2FF13D6C262A}"/>
              </a:ext>
            </a:extLst>
          </p:cNvPr>
          <p:cNvGrpSpPr/>
          <p:nvPr/>
        </p:nvGrpSpPr>
        <p:grpSpPr>
          <a:xfrm>
            <a:off x="1206050" y="1639631"/>
            <a:ext cx="9779899" cy="3758513"/>
            <a:chOff x="1206050" y="1571306"/>
            <a:chExt cx="9779899" cy="3758513"/>
          </a:xfrm>
        </p:grpSpPr>
        <p:sp>
          <p:nvSpPr>
            <p:cNvPr id="8" name="TextBox 7">
              <a:extLst>
                <a:ext uri="{FF2B5EF4-FFF2-40B4-BE49-F238E27FC236}">
                  <a16:creationId xmlns:a16="http://schemas.microsoft.com/office/drawing/2014/main" id="{AC8C4447-E095-E108-4D67-80E5AB8797E0}"/>
                </a:ext>
              </a:extLst>
            </p:cNvPr>
            <p:cNvSpPr txBox="1"/>
            <p:nvPr/>
          </p:nvSpPr>
          <p:spPr>
            <a:xfrm>
              <a:off x="3047326" y="157130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-o </a:t>
              </a:r>
              <a:r>
                <a:rPr lang="en-US" altLang="ko-KR" sz="1000" b="1" dirty="0" err="1">
                  <a:solidFill>
                    <a:srgbClr val="FF0000"/>
                  </a:solidFill>
                </a:rPr>
                <a:t>yaml</a:t>
              </a:r>
              <a:r>
                <a:rPr lang="en-US" altLang="ko-KR" sz="1000" b="1" dirty="0">
                  <a:solidFill>
                    <a:srgbClr val="FF0000"/>
                  </a:solidFill>
                </a:rPr>
                <a:t> </a:t>
              </a:r>
              <a:r>
                <a:rPr lang="en-US" altLang="ko-KR" sz="1000" b="1" dirty="0"/>
                <a:t>--watch</a:t>
              </a:r>
            </a:p>
          </p:txBody>
        </p:sp>
        <p:sp>
          <p:nvSpPr>
            <p:cNvPr id="9" name="화살표: 아래쪽 8">
              <a:extLst>
                <a:ext uri="{FF2B5EF4-FFF2-40B4-BE49-F238E27FC236}">
                  <a16:creationId xmlns:a16="http://schemas.microsoft.com/office/drawing/2014/main" id="{04631CDE-6101-35E9-4D98-8A9B742D044D}"/>
                </a:ext>
              </a:extLst>
            </p:cNvPr>
            <p:cNvSpPr/>
            <p:nvPr/>
          </p:nvSpPr>
          <p:spPr>
            <a:xfrm>
              <a:off x="5853239" y="1811909"/>
              <a:ext cx="485522" cy="32368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1346BDAF-53F6-90A9-FA2A-DA4CEDE9CE07}"/>
                </a:ext>
              </a:extLst>
            </p:cNvPr>
            <p:cNvGrpSpPr/>
            <p:nvPr/>
          </p:nvGrpSpPr>
          <p:grpSpPr>
            <a:xfrm>
              <a:off x="1206050" y="2135591"/>
              <a:ext cx="9779899" cy="3194228"/>
              <a:chOff x="381000" y="2144496"/>
              <a:chExt cx="11430000" cy="3668971"/>
            </a:xfrm>
          </p:grpSpPr>
          <p:pic>
            <p:nvPicPr>
              <p:cNvPr id="11" name="그림 10">
                <a:extLst>
                  <a:ext uri="{FF2B5EF4-FFF2-40B4-BE49-F238E27FC236}">
                    <a16:creationId xmlns:a16="http://schemas.microsoft.com/office/drawing/2014/main" id="{BB2483F7-EDDD-AE49-4BFF-BD434CA71232}"/>
                  </a:ext>
                </a:extLst>
              </p:cNvPr>
              <p:cNvPicPr>
                <a:picLocks noChangeAspect="1"/>
              </p:cNvPicPr>
              <p:nvPr/>
            </p:nvPicPr>
            <p:blipFill>
              <a:blip r:embed="rId2"/>
              <a:stretch>
                <a:fillRect/>
              </a:stretch>
            </p:blipFill>
            <p:spPr>
              <a:xfrm>
                <a:off x="381000" y="2144496"/>
                <a:ext cx="11430000" cy="1809750"/>
              </a:xfrm>
              <a:prstGeom prst="rect">
                <a:avLst/>
              </a:prstGeom>
            </p:spPr>
          </p:pic>
          <p:pic>
            <p:nvPicPr>
              <p:cNvPr id="13" name="그림 12">
                <a:extLst>
                  <a:ext uri="{FF2B5EF4-FFF2-40B4-BE49-F238E27FC236}">
                    <a16:creationId xmlns:a16="http://schemas.microsoft.com/office/drawing/2014/main" id="{2FC5F5D7-72B0-6405-8F18-04890B9E594E}"/>
                  </a:ext>
                </a:extLst>
              </p:cNvPr>
              <p:cNvPicPr>
                <a:picLocks noChangeAspect="1"/>
              </p:cNvPicPr>
              <p:nvPr/>
            </p:nvPicPr>
            <p:blipFill>
              <a:blip r:embed="rId3"/>
              <a:stretch>
                <a:fillRect/>
              </a:stretch>
            </p:blipFill>
            <p:spPr>
              <a:xfrm>
                <a:off x="381000" y="4003717"/>
                <a:ext cx="11430000" cy="1809750"/>
              </a:xfrm>
              <a:prstGeom prst="rect">
                <a:avLst/>
              </a:prstGeom>
            </p:spPr>
          </p:pic>
        </p:grpSp>
      </p:grpSp>
    </p:spTree>
    <p:extLst>
      <p:ext uri="{BB962C8B-B14F-4D97-AF65-F5344CB8AC3E}">
        <p14:creationId xmlns:p14="http://schemas.microsoft.com/office/powerpoint/2010/main" val="7761629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Architecture(20/39)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Scheduler :</a:t>
            </a:r>
          </a:p>
          <a:p>
            <a:pPr lvl="1">
              <a:buFont typeface="Wingdings" panose="05000000000000000000" pitchFamily="2" charset="2"/>
              <a:buChar char="§"/>
            </a:pPr>
            <a:r>
              <a:rPr lang="en-US" altLang="ko-KR" sz="1400" b="1" dirty="0"/>
              <a:t>The Scheduler specifies which cluster node a pod should run on.</a:t>
            </a:r>
            <a:r>
              <a:rPr lang="en-US" altLang="ko-KR" sz="1400" dirty="0"/>
              <a:t> From afar, the operation of the Scheduler looks simple. </a:t>
            </a:r>
            <a:r>
              <a:rPr lang="en-US" altLang="ko-KR" sz="1400" b="1" dirty="0"/>
              <a:t>All it does is wait for newly created pods through the API server’s watch mechanism and assign a node to each new pod that doesn’t already have the node set</a:t>
            </a:r>
            <a:r>
              <a:rPr lang="en-US" altLang="ko-KR" sz="1400" dirty="0"/>
              <a:t>.</a:t>
            </a:r>
          </a:p>
          <a:p>
            <a:pPr lvl="1">
              <a:buFont typeface="Wingdings" panose="05000000000000000000" pitchFamily="2" charset="2"/>
              <a:buChar char="§"/>
            </a:pPr>
            <a:r>
              <a:rPr lang="en-US" altLang="ko-KR" sz="1400" b="1" dirty="0"/>
              <a:t>The Scheduler doesn’t instruct the selected node (or the </a:t>
            </a:r>
            <a:r>
              <a:rPr lang="en-US" altLang="ko-KR" sz="1400" b="1" dirty="0" err="1"/>
              <a:t>Kubelet</a:t>
            </a:r>
            <a:r>
              <a:rPr lang="en-US" altLang="ko-KR" sz="1400" b="1" dirty="0"/>
              <a:t> running on that node) to run the pod. All the Scheduler does is </a:t>
            </a:r>
            <a:r>
              <a:rPr lang="en-US" altLang="ko-KR" sz="1400" b="1" dirty="0">
                <a:solidFill>
                  <a:srgbClr val="FF0000"/>
                </a:solidFill>
              </a:rPr>
              <a:t>update the pod definition through the API server</a:t>
            </a:r>
            <a:r>
              <a:rPr lang="en-US" altLang="ko-KR" sz="1400" dirty="0"/>
              <a:t>. </a:t>
            </a:r>
            <a:r>
              <a:rPr lang="en-US" altLang="ko-KR" sz="1400" b="1" dirty="0"/>
              <a:t>The API server then notifies the </a:t>
            </a:r>
            <a:r>
              <a:rPr lang="en-US" altLang="ko-KR" sz="1400" b="1" dirty="0" err="1">
                <a:solidFill>
                  <a:srgbClr val="FF0000"/>
                </a:solidFill>
              </a:rPr>
              <a:t>Kubelet</a:t>
            </a:r>
            <a:r>
              <a:rPr lang="en-US" altLang="ko-KR" sz="1400" b="1" dirty="0"/>
              <a:t> (again, through the watch mechanism described previously) that the pod has been scheduled</a:t>
            </a:r>
            <a:r>
              <a:rPr lang="en-US" altLang="ko-KR" sz="1400" dirty="0"/>
              <a:t>. As soon as the </a:t>
            </a:r>
            <a:r>
              <a:rPr lang="en-US" altLang="ko-KR" sz="1400" b="1" dirty="0" err="1"/>
              <a:t>Kubelet</a:t>
            </a:r>
            <a:r>
              <a:rPr lang="en-US" altLang="ko-KR" sz="1400" dirty="0"/>
              <a:t> on the target node sees the pod has been scheduled to its node, </a:t>
            </a:r>
            <a:r>
              <a:rPr lang="en-US" altLang="ko-KR" sz="1400" b="1" dirty="0"/>
              <a:t>it creates and runs the pod’s containers</a:t>
            </a:r>
            <a:r>
              <a:rPr lang="en-US" altLang="ko-KR" sz="1400" dirty="0"/>
              <a:t>.</a:t>
            </a:r>
          </a:p>
          <a:p>
            <a:pPr lvl="1">
              <a:buFont typeface="Wingdings" panose="05000000000000000000" pitchFamily="2" charset="2"/>
              <a:buChar char="§"/>
            </a:pPr>
            <a:r>
              <a:rPr lang="en-US" altLang="ko-KR" sz="1400" b="1" dirty="0"/>
              <a:t>Although a coarse-grained view of the scheduling process seems trivial, the actual task of selecting the best node for the pod isn’t that simple</a:t>
            </a:r>
            <a:r>
              <a:rPr lang="en-US" altLang="ko-KR" sz="1400" dirty="0"/>
              <a:t>. Sure, the simplest Scheduler could pick a random node and not care about the pods already running on that node. On the other side of the spectrum, </a:t>
            </a:r>
            <a:r>
              <a:rPr lang="en-US" altLang="ko-KR" sz="1400" b="1" dirty="0"/>
              <a:t>the Scheduler could use advanced techniques such as machine learning to anticipate what kind of pods are about to be scheduled in the next minutes or hours and schedule pods to maximize future hardware utilization without requiring any rescheduling of existing pods</a:t>
            </a:r>
            <a:r>
              <a:rPr lang="en-US" altLang="ko-KR" sz="1400" dirty="0"/>
              <a:t>. Kubernetes’ default Scheduler falls somewhere in between.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8FA0680-8633-014A-8D2E-B2BBCAC1DB88}"/>
              </a:ext>
            </a:extLst>
          </p:cNvPr>
          <p:cNvPicPr>
            <a:picLocks noChangeAspect="1"/>
          </p:cNvPicPr>
          <p:nvPr/>
        </p:nvPicPr>
        <p:blipFill>
          <a:blip r:embed="rId2"/>
          <a:stretch>
            <a:fillRect/>
          </a:stretch>
        </p:blipFill>
        <p:spPr>
          <a:xfrm>
            <a:off x="3806172" y="3876085"/>
            <a:ext cx="4579655" cy="2532945"/>
          </a:xfrm>
          <a:prstGeom prst="rect">
            <a:avLst/>
          </a:prstGeom>
        </p:spPr>
      </p:pic>
    </p:spTree>
    <p:extLst>
      <p:ext uri="{BB962C8B-B14F-4D97-AF65-F5344CB8AC3E}">
        <p14:creationId xmlns:p14="http://schemas.microsoft.com/office/powerpoint/2010/main" val="1361626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Architecture(21/39)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Scheduler :</a:t>
            </a:r>
          </a:p>
          <a:p>
            <a:pPr lvl="1">
              <a:buFont typeface="Wingdings" panose="05000000000000000000" pitchFamily="2" charset="2"/>
              <a:buChar char="§"/>
            </a:pPr>
            <a:r>
              <a:rPr lang="en-US" altLang="ko-KR" sz="1400" b="1" dirty="0"/>
              <a:t>The selection of a node</a:t>
            </a:r>
            <a:r>
              <a:rPr lang="en-US" altLang="ko-KR" sz="1400" dirty="0"/>
              <a:t> can be broken down into two parts, as shown in the following figure :</a:t>
            </a:r>
          </a:p>
          <a:p>
            <a:pPr lvl="2">
              <a:buFont typeface="Wingdings" panose="05000000000000000000" pitchFamily="2" charset="2"/>
              <a:buChar char="§"/>
            </a:pPr>
            <a:r>
              <a:rPr lang="en-US" altLang="ko-KR" sz="1400" b="1" dirty="0"/>
              <a:t>Filtering the list of all nodes to obtain a list of acceptable nodes </a:t>
            </a:r>
            <a:r>
              <a:rPr lang="en-US" altLang="ko-KR" sz="1400" dirty="0"/>
              <a:t>the pod can be scheduled to.</a:t>
            </a:r>
          </a:p>
          <a:p>
            <a:pPr lvl="2">
              <a:buFont typeface="Wingdings" panose="05000000000000000000" pitchFamily="2" charset="2"/>
              <a:buChar char="§"/>
            </a:pPr>
            <a:r>
              <a:rPr lang="en-US" altLang="ko-KR" sz="1400" b="1" dirty="0"/>
              <a:t>Prioritizing the acceptable nodes and choosing the best one</a:t>
            </a:r>
            <a:r>
              <a:rPr lang="en-US" altLang="ko-KR" sz="1400" dirty="0"/>
              <a:t>. If multiple nodes have the highest score, </a:t>
            </a:r>
            <a:r>
              <a:rPr lang="en-US" altLang="ko-KR" sz="1400" b="1" dirty="0"/>
              <a:t>round-robin(default scheduling algorithm)</a:t>
            </a:r>
            <a:r>
              <a:rPr lang="en-US" altLang="ko-KR" sz="1400" dirty="0"/>
              <a:t> is used to ensure pods are </a:t>
            </a:r>
            <a:r>
              <a:rPr lang="en-US" altLang="ko-KR" sz="1400" b="1" dirty="0"/>
              <a:t>deployed across all of them evenly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60379AFD-4E8A-FB7D-E9C8-C0BE4B004006}"/>
              </a:ext>
            </a:extLst>
          </p:cNvPr>
          <p:cNvPicPr>
            <a:picLocks noChangeAspect="1"/>
          </p:cNvPicPr>
          <p:nvPr/>
        </p:nvPicPr>
        <p:blipFill>
          <a:blip r:embed="rId2"/>
          <a:stretch>
            <a:fillRect/>
          </a:stretch>
        </p:blipFill>
        <p:spPr>
          <a:xfrm>
            <a:off x="3838575" y="2247900"/>
            <a:ext cx="4514850" cy="1181100"/>
          </a:xfrm>
          <a:prstGeom prst="rect">
            <a:avLst/>
          </a:prstGeom>
        </p:spPr>
      </p:pic>
      <p:pic>
        <p:nvPicPr>
          <p:cNvPr id="11" name="그림 10">
            <a:extLst>
              <a:ext uri="{FF2B5EF4-FFF2-40B4-BE49-F238E27FC236}">
                <a16:creationId xmlns:a16="http://schemas.microsoft.com/office/drawing/2014/main" id="{EE9706F0-7906-7CAB-CF81-C0F76E634D67}"/>
              </a:ext>
            </a:extLst>
          </p:cNvPr>
          <p:cNvPicPr>
            <a:picLocks noChangeAspect="1"/>
          </p:cNvPicPr>
          <p:nvPr/>
        </p:nvPicPr>
        <p:blipFill>
          <a:blip r:embed="rId3"/>
          <a:stretch>
            <a:fillRect/>
          </a:stretch>
        </p:blipFill>
        <p:spPr>
          <a:xfrm>
            <a:off x="3080887" y="3603569"/>
            <a:ext cx="6030226" cy="2706097"/>
          </a:xfrm>
          <a:prstGeom prst="rect">
            <a:avLst/>
          </a:prstGeom>
        </p:spPr>
      </p:pic>
    </p:spTree>
    <p:extLst>
      <p:ext uri="{BB962C8B-B14F-4D97-AF65-F5344CB8AC3E}">
        <p14:creationId xmlns:p14="http://schemas.microsoft.com/office/powerpoint/2010/main" val="22540924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Architecture(22/39)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Scheduler :</a:t>
            </a:r>
          </a:p>
          <a:p>
            <a:pPr lvl="1">
              <a:buFont typeface="Wingdings" panose="05000000000000000000" pitchFamily="2" charset="2"/>
              <a:buChar char="§"/>
            </a:pPr>
            <a:r>
              <a:rPr lang="en-US" altLang="ko-KR" sz="1400" b="1" dirty="0"/>
              <a:t>To determine which nodes are acceptable for the pod, the Scheduler passes each node through a list of configured predicate functions</a:t>
            </a:r>
            <a:r>
              <a:rPr lang="en-US" altLang="ko-KR" sz="1400" dirty="0"/>
              <a:t>. These check various things such as : </a:t>
            </a:r>
          </a:p>
          <a:p>
            <a:pPr lvl="2">
              <a:buFont typeface="Wingdings" panose="05000000000000000000" pitchFamily="2" charset="2"/>
              <a:buChar char="§"/>
            </a:pPr>
            <a:r>
              <a:rPr lang="en-US" altLang="ko-KR" sz="1400" dirty="0"/>
              <a:t>Can the node </a:t>
            </a:r>
            <a:r>
              <a:rPr lang="en-US" altLang="ko-KR" sz="1400" b="1" dirty="0"/>
              <a:t>fulfill the pod’s requests for hardware resources</a:t>
            </a:r>
            <a:r>
              <a:rPr lang="en-US" altLang="ko-KR" sz="1400" dirty="0"/>
              <a:t>?</a:t>
            </a:r>
          </a:p>
          <a:p>
            <a:pPr lvl="2">
              <a:buFont typeface="Wingdings" panose="05000000000000000000" pitchFamily="2" charset="2"/>
              <a:buChar char="§"/>
            </a:pPr>
            <a:r>
              <a:rPr lang="en-US" altLang="ko-KR" sz="1400" b="1" dirty="0"/>
              <a:t>Is the node running out of resources </a:t>
            </a:r>
            <a:r>
              <a:rPr lang="en-US" altLang="ko-KR" sz="1400" dirty="0"/>
              <a:t>(is it reporting a memory or a disk pressure condition)?</a:t>
            </a:r>
          </a:p>
          <a:p>
            <a:pPr lvl="2">
              <a:buFont typeface="Wingdings" panose="05000000000000000000" pitchFamily="2" charset="2"/>
              <a:buChar char="§"/>
            </a:pPr>
            <a:r>
              <a:rPr lang="en-US" altLang="ko-KR" sz="1400" b="1" dirty="0"/>
              <a:t>If the pod requests to be scheduled to a specific node (by name)</a:t>
            </a:r>
            <a:r>
              <a:rPr lang="en-US" altLang="ko-KR" sz="1400" dirty="0"/>
              <a:t>, is this the node?</a:t>
            </a:r>
          </a:p>
          <a:p>
            <a:pPr lvl="2">
              <a:buFont typeface="Wingdings" panose="05000000000000000000" pitchFamily="2" charset="2"/>
              <a:buChar char="§"/>
            </a:pPr>
            <a:r>
              <a:rPr lang="en-US" altLang="ko-KR" sz="1400" b="1" dirty="0"/>
              <a:t>Does the node have a label that matches the node selector </a:t>
            </a:r>
            <a:r>
              <a:rPr lang="en-US" altLang="ko-KR" sz="1400" dirty="0"/>
              <a:t>in the pod specification (if one is defined)?</a:t>
            </a:r>
          </a:p>
          <a:p>
            <a:pPr lvl="2">
              <a:buFont typeface="Wingdings" panose="05000000000000000000" pitchFamily="2" charset="2"/>
              <a:buChar char="§"/>
            </a:pPr>
            <a:r>
              <a:rPr lang="en-US" altLang="ko-KR" sz="1400" b="1" dirty="0"/>
              <a:t>If the pod requests to be bound to a specific host port</a:t>
            </a:r>
            <a:r>
              <a:rPr lang="en-US" altLang="ko-KR" sz="1400" dirty="0"/>
              <a:t>, </a:t>
            </a:r>
            <a:r>
              <a:rPr lang="en-US" altLang="ko-KR" sz="1400" b="1" dirty="0"/>
              <a:t>is that port already taken on this node or not</a:t>
            </a:r>
            <a:r>
              <a:rPr lang="en-US" altLang="ko-KR" sz="1400" dirty="0"/>
              <a:t>?</a:t>
            </a:r>
          </a:p>
          <a:p>
            <a:pPr lvl="2">
              <a:buFont typeface="Wingdings" panose="05000000000000000000" pitchFamily="2" charset="2"/>
              <a:buChar char="§"/>
            </a:pPr>
            <a:r>
              <a:rPr lang="en-US" altLang="ko-KR" sz="1400" b="1" dirty="0"/>
              <a:t>If the pod requests a certain type of volume</a:t>
            </a:r>
            <a:r>
              <a:rPr lang="en-US" altLang="ko-KR" sz="1400" dirty="0"/>
              <a:t>, </a:t>
            </a:r>
            <a:r>
              <a:rPr lang="en-US" altLang="ko-KR" sz="1400" b="1" dirty="0"/>
              <a:t>can this volume be mounted for this pod on this node</a:t>
            </a:r>
            <a:r>
              <a:rPr lang="en-US" altLang="ko-KR" sz="1400" dirty="0"/>
              <a:t>, or is </a:t>
            </a:r>
            <a:r>
              <a:rPr lang="en-US" altLang="ko-KR" sz="1400" b="1" dirty="0"/>
              <a:t>another pod on the node already using the same volume</a:t>
            </a:r>
            <a:r>
              <a:rPr lang="en-US" altLang="ko-KR" sz="1400" dirty="0"/>
              <a:t>?</a:t>
            </a:r>
          </a:p>
          <a:p>
            <a:pPr lvl="2">
              <a:buFont typeface="Wingdings" panose="05000000000000000000" pitchFamily="2" charset="2"/>
              <a:buChar char="§"/>
            </a:pPr>
            <a:r>
              <a:rPr lang="en-US" altLang="ko-KR" sz="1400" b="1" dirty="0"/>
              <a:t>Does the pod tolerate the </a:t>
            </a:r>
            <a:r>
              <a:rPr lang="en-US" altLang="ko-KR" sz="1400" b="1" dirty="0">
                <a:solidFill>
                  <a:srgbClr val="FF0000"/>
                </a:solidFill>
              </a:rPr>
              <a:t>taints</a:t>
            </a:r>
            <a:r>
              <a:rPr lang="en-US" altLang="ko-KR" sz="1400" b="1" dirty="0"/>
              <a:t> of the node</a:t>
            </a:r>
            <a:r>
              <a:rPr lang="en-US" altLang="ko-KR" sz="1400" dirty="0"/>
              <a:t>?</a:t>
            </a:r>
          </a:p>
          <a:p>
            <a:pPr lvl="2">
              <a:buFont typeface="Wingdings" panose="05000000000000000000" pitchFamily="2" charset="2"/>
              <a:buChar char="§"/>
            </a:pPr>
            <a:r>
              <a:rPr lang="en-US" altLang="ko-KR" sz="1400" b="1" dirty="0"/>
              <a:t>Does the pod specify node and/or </a:t>
            </a:r>
            <a:r>
              <a:rPr lang="en-US" altLang="ko-KR" sz="1400" b="1" dirty="0">
                <a:solidFill>
                  <a:srgbClr val="FF0000"/>
                </a:solidFill>
              </a:rPr>
              <a:t>pod affinity</a:t>
            </a:r>
            <a:r>
              <a:rPr lang="en-US" altLang="ko-KR" sz="1400" b="1" dirty="0"/>
              <a:t> or anti-affinity rules</a:t>
            </a:r>
            <a:r>
              <a:rPr lang="en-US" altLang="ko-KR" sz="1400" dirty="0"/>
              <a:t>? If yes, would scheduling the pod to this node break those rules?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B0DF04D-A0EC-C46A-2ADA-43A730C068CC}"/>
              </a:ext>
            </a:extLst>
          </p:cNvPr>
          <p:cNvPicPr>
            <a:picLocks noChangeAspect="1"/>
          </p:cNvPicPr>
          <p:nvPr/>
        </p:nvPicPr>
        <p:blipFill>
          <a:blip r:embed="rId2"/>
          <a:stretch>
            <a:fillRect/>
          </a:stretch>
        </p:blipFill>
        <p:spPr>
          <a:xfrm>
            <a:off x="6773034" y="3858376"/>
            <a:ext cx="4580766" cy="2550654"/>
          </a:xfrm>
          <a:prstGeom prst="rect">
            <a:avLst/>
          </a:prstGeom>
        </p:spPr>
      </p:pic>
      <p:sp>
        <p:nvSpPr>
          <p:cNvPr id="9" name="TextBox 8">
            <a:extLst>
              <a:ext uri="{FF2B5EF4-FFF2-40B4-BE49-F238E27FC236}">
                <a16:creationId xmlns:a16="http://schemas.microsoft.com/office/drawing/2014/main" id="{1DE361B2-2FB5-D0A5-9165-6128787A084B}"/>
              </a:ext>
            </a:extLst>
          </p:cNvPr>
          <p:cNvSpPr txBox="1"/>
          <p:nvPr/>
        </p:nvSpPr>
        <p:spPr>
          <a:xfrm>
            <a:off x="838200" y="3952228"/>
            <a:ext cx="5934834" cy="1255728"/>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All these checks must pass for the node to be eligible to host the pod. After performing these checks on every node, the Scheduler ends up with a subset of the nodes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Any of these nodes could run the pod, because they have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enough available resources for the pod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and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conform to all requirements you’ve specified in the pod definition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18523981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Architecture(23/39)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Scheduler :</a:t>
            </a:r>
          </a:p>
          <a:p>
            <a:pPr lvl="1">
              <a:buFont typeface="Wingdings" panose="05000000000000000000" pitchFamily="2" charset="2"/>
              <a:buChar char="§"/>
            </a:pPr>
            <a:r>
              <a:rPr lang="en-US" altLang="ko-KR" sz="1400" b="1" dirty="0"/>
              <a:t>Even though all these nodes are acceptable and can run the pod, several may be a better choice than others</a:t>
            </a:r>
            <a:r>
              <a:rPr lang="en-US" altLang="ko-KR" sz="1400" dirty="0"/>
              <a:t>. Suppose you have a two-node cluster. Both nodes are eligible, but one is already running 10 pods, while the other, for whatever reason, isn’t running any pods right now. It’s obvious the </a:t>
            </a:r>
            <a:r>
              <a:rPr lang="en-US" altLang="ko-KR" sz="1400" b="1" dirty="0"/>
              <a:t>Scheduler</a:t>
            </a:r>
            <a:r>
              <a:rPr lang="en-US" altLang="ko-KR" sz="1400" dirty="0"/>
              <a:t> should favor the second node in this case. Or is it? If these two nodes are provided by the cloud infrastructure, it may be better to schedule the pod to the first node and relinquish the second node back to the cloud provider to save money.</a:t>
            </a:r>
          </a:p>
          <a:p>
            <a:pPr lvl="1">
              <a:buFont typeface="Wingdings" panose="05000000000000000000" pitchFamily="2" charset="2"/>
              <a:buChar char="§"/>
            </a:pPr>
            <a:r>
              <a:rPr lang="en-US" altLang="ko-KR" sz="1400" b="1" dirty="0"/>
              <a:t>Consider another example. Imagine having multiple replicas of a pod. Ideally, you’d want them spread across as many nodes as possible instead of having them all scheduled to a single one</a:t>
            </a:r>
            <a:r>
              <a:rPr lang="en-US" altLang="ko-KR" sz="1400" dirty="0"/>
              <a:t>. </a:t>
            </a:r>
            <a:r>
              <a:rPr lang="en-US" altLang="ko-KR" sz="1400" b="1" dirty="0"/>
              <a:t>Failure of that node would cause the service backed by those pods to become unavailable</a:t>
            </a:r>
            <a:r>
              <a:rPr lang="en-US" altLang="ko-KR" sz="1400" dirty="0"/>
              <a:t>. But if the pods were spread across different nodes, a single node failure would barely leave a dent in the service’s capacity. </a:t>
            </a:r>
          </a:p>
          <a:p>
            <a:pPr lvl="1">
              <a:buFont typeface="Wingdings" panose="05000000000000000000" pitchFamily="2" charset="2"/>
              <a:buChar char="§"/>
            </a:pPr>
            <a:r>
              <a:rPr lang="en-US" altLang="ko-KR" sz="1400" b="1" dirty="0"/>
              <a:t>Pods belonging to the same Service or </a:t>
            </a:r>
            <a:r>
              <a:rPr lang="en-US" altLang="ko-KR" sz="1400" b="1" dirty="0" err="1"/>
              <a:t>ReplicaSet</a:t>
            </a:r>
            <a:r>
              <a:rPr lang="en-US" altLang="ko-KR" sz="1400" b="1" dirty="0"/>
              <a:t> are spread across multiple nodes by default. It’s not guaranteed that this is always the case</a:t>
            </a:r>
            <a:r>
              <a:rPr lang="en-US" altLang="ko-KR" sz="1400" dirty="0"/>
              <a:t>. </a:t>
            </a:r>
            <a:r>
              <a:rPr lang="en-US" altLang="ko-KR" sz="1400" b="1" dirty="0"/>
              <a:t>But you can force pods to be spread around the cluster or kept close together by defining </a:t>
            </a:r>
            <a:r>
              <a:rPr lang="en-US" altLang="ko-KR" sz="1400" b="1" dirty="0">
                <a:solidFill>
                  <a:srgbClr val="FF0000"/>
                </a:solidFill>
              </a:rPr>
              <a:t>pod affinity </a:t>
            </a:r>
            <a:r>
              <a:rPr lang="en-US" altLang="ko-KR" sz="1400" b="1" dirty="0"/>
              <a:t>and </a:t>
            </a:r>
            <a:r>
              <a:rPr lang="en-US" altLang="ko-KR" sz="1400" b="1" dirty="0">
                <a:solidFill>
                  <a:srgbClr val="FF0000"/>
                </a:solidFill>
              </a:rPr>
              <a:t>anti-affinity </a:t>
            </a:r>
            <a:r>
              <a:rPr lang="en-US" altLang="ko-KR" sz="1400" b="1" dirty="0"/>
              <a:t>rules</a:t>
            </a:r>
            <a:r>
              <a:rPr lang="en-US" altLang="ko-KR" sz="1400" dirty="0"/>
              <a:t>.</a:t>
            </a:r>
          </a:p>
          <a:p>
            <a:pPr lvl="1">
              <a:buFont typeface="Wingdings" panose="05000000000000000000" pitchFamily="2" charset="2"/>
              <a:buChar char="§"/>
            </a:pPr>
            <a:r>
              <a:rPr lang="en-US" altLang="ko-KR" sz="1400" b="1" dirty="0"/>
              <a:t>Even these two simple cases show how complex scheduling can be, because it depends on a multitude of factors</a:t>
            </a:r>
            <a:r>
              <a:rPr lang="en-US" altLang="ko-KR" sz="1400" dirty="0"/>
              <a:t>. Because of this, </a:t>
            </a:r>
            <a:r>
              <a:rPr lang="en-US" altLang="ko-KR" sz="1400" b="1" dirty="0"/>
              <a:t>the Scheduler can either be configured to suit your specific needs or infrastructure specifics, or it can even be replaced with a custom implementation altogether</a:t>
            </a:r>
            <a:r>
              <a:rPr lang="en-US" altLang="ko-KR" sz="1400" dirty="0"/>
              <a:t>. You could also run a Kubernetes cluster without a Scheduler, but then you’d have to perform the scheduling manually.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C1600DD-DF5B-6D65-9D7D-951D84BEFD67}"/>
              </a:ext>
            </a:extLst>
          </p:cNvPr>
          <p:cNvPicPr>
            <a:picLocks noChangeAspect="1"/>
          </p:cNvPicPr>
          <p:nvPr/>
        </p:nvPicPr>
        <p:blipFill>
          <a:blip r:embed="rId2"/>
          <a:stretch>
            <a:fillRect/>
          </a:stretch>
        </p:blipFill>
        <p:spPr>
          <a:xfrm>
            <a:off x="8375256" y="4441330"/>
            <a:ext cx="2978543" cy="1967700"/>
          </a:xfrm>
          <a:prstGeom prst="rect">
            <a:avLst/>
          </a:prstGeom>
        </p:spPr>
      </p:pic>
    </p:spTree>
    <p:extLst>
      <p:ext uri="{BB962C8B-B14F-4D97-AF65-F5344CB8AC3E}">
        <p14:creationId xmlns:p14="http://schemas.microsoft.com/office/powerpoint/2010/main" val="17518119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Architecture(24/39)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Scheduler :</a:t>
            </a:r>
          </a:p>
          <a:p>
            <a:pPr lvl="1">
              <a:buFont typeface="Wingdings" panose="05000000000000000000" pitchFamily="2" charset="2"/>
              <a:buChar char="§"/>
            </a:pPr>
            <a:r>
              <a:rPr lang="en-US" altLang="ko-KR" sz="1400" b="1" dirty="0"/>
              <a:t>Instead of running a single Scheduler in the cluster, you can run multiple Schedulers</a:t>
            </a:r>
            <a:r>
              <a:rPr lang="en-US" altLang="ko-KR" sz="1400" dirty="0"/>
              <a:t>. Then, for each pod, you </a:t>
            </a:r>
            <a:r>
              <a:rPr lang="en-US" altLang="ko-KR" sz="1400" b="1" dirty="0"/>
              <a:t>specify the Scheduler that should schedule this particular pod by setting the “</a:t>
            </a:r>
            <a:r>
              <a:rPr lang="en-US" altLang="ko-KR" sz="1400" b="1" dirty="0" err="1">
                <a:solidFill>
                  <a:srgbClr val="FF0000"/>
                </a:solidFill>
              </a:rPr>
              <a:t>schedulerName</a:t>
            </a:r>
            <a:r>
              <a:rPr lang="en-US" altLang="ko-KR" sz="1400" b="1" dirty="0"/>
              <a:t>” property in the pod spec</a:t>
            </a:r>
            <a:r>
              <a:rPr lang="en-US" altLang="ko-KR" sz="1400" dirty="0"/>
              <a:t>.</a:t>
            </a:r>
          </a:p>
          <a:p>
            <a:pPr lvl="1">
              <a:buFont typeface="Wingdings" panose="05000000000000000000" pitchFamily="2" charset="2"/>
              <a:buChar char="§"/>
            </a:pPr>
            <a:r>
              <a:rPr lang="en-US" altLang="ko-KR" sz="1400" b="1" dirty="0"/>
              <a:t>Pods without this property set are scheduled using the default Scheduler</a:t>
            </a:r>
            <a:r>
              <a:rPr lang="en-US" altLang="ko-KR" sz="1400" dirty="0"/>
              <a:t>, and so are pods with “</a:t>
            </a:r>
            <a:r>
              <a:rPr lang="en-US" altLang="ko-KR" sz="1400" b="1" dirty="0" err="1"/>
              <a:t>schedulerName</a:t>
            </a:r>
            <a:r>
              <a:rPr lang="en-US" altLang="ko-KR" sz="1400" dirty="0"/>
              <a:t>” set to “</a:t>
            </a:r>
            <a:r>
              <a:rPr lang="en-US" altLang="ko-KR" sz="1400" b="1" dirty="0"/>
              <a:t>default-scheduler</a:t>
            </a:r>
            <a:r>
              <a:rPr lang="en-US" altLang="ko-KR" sz="1400" dirty="0"/>
              <a:t>”. </a:t>
            </a:r>
            <a:r>
              <a:rPr lang="en-US" altLang="ko-KR" sz="1400" b="1" dirty="0"/>
              <a:t>All other pods are ignored by the default Scheduler, so they need to be scheduled either manually or by another Scheduler watching for such pods</a:t>
            </a:r>
            <a:r>
              <a:rPr lang="en-US" altLang="ko-KR" sz="1400" dirty="0"/>
              <a:t>.</a:t>
            </a:r>
          </a:p>
          <a:p>
            <a:pPr lvl="1">
              <a:buFont typeface="Wingdings" panose="05000000000000000000" pitchFamily="2" charset="2"/>
              <a:buChar char="§"/>
            </a:pPr>
            <a:r>
              <a:rPr lang="en-US" altLang="ko-KR" sz="1400" b="1" dirty="0"/>
              <a:t>You can implement </a:t>
            </a:r>
            <a:r>
              <a:rPr lang="en-US" altLang="ko-KR" sz="1400" b="1" dirty="0">
                <a:solidFill>
                  <a:srgbClr val="FF0000"/>
                </a:solidFill>
              </a:rPr>
              <a:t>your own Schedulers </a:t>
            </a:r>
            <a:r>
              <a:rPr lang="en-US" altLang="ko-KR" sz="1400" b="1" dirty="0"/>
              <a:t>and deploy them in the cluster</a:t>
            </a:r>
            <a:r>
              <a:rPr lang="en-US" altLang="ko-KR" sz="1400" dirty="0"/>
              <a:t>, or </a:t>
            </a:r>
            <a:r>
              <a:rPr lang="en-US" altLang="ko-KR" sz="1400" b="1" dirty="0"/>
              <a:t>you can </a:t>
            </a:r>
            <a:r>
              <a:rPr lang="en-US" altLang="ko-KR" sz="1400" b="1" dirty="0">
                <a:solidFill>
                  <a:srgbClr val="FF0000"/>
                </a:solidFill>
              </a:rPr>
              <a:t>deploy an additional instance of Kubernetes’ Scheduler </a:t>
            </a:r>
            <a:r>
              <a:rPr lang="en-US" altLang="ko-KR" sz="1400" b="1" dirty="0"/>
              <a:t>with different configuration options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BBCD120A-9B07-B255-2153-6ACCD387B1F2}"/>
              </a:ext>
            </a:extLst>
          </p:cNvPr>
          <p:cNvGrpSpPr/>
          <p:nvPr/>
        </p:nvGrpSpPr>
        <p:grpSpPr>
          <a:xfrm>
            <a:off x="4691062" y="3221514"/>
            <a:ext cx="2809875" cy="1628775"/>
            <a:chOff x="4691062" y="3221514"/>
            <a:chExt cx="2809875" cy="1628775"/>
          </a:xfrm>
        </p:grpSpPr>
        <p:pic>
          <p:nvPicPr>
            <p:cNvPr id="4" name="그림 3">
              <a:extLst>
                <a:ext uri="{FF2B5EF4-FFF2-40B4-BE49-F238E27FC236}">
                  <a16:creationId xmlns:a16="http://schemas.microsoft.com/office/drawing/2014/main" id="{EB207814-F4E4-62DE-E13A-A6DE16F4D736}"/>
                </a:ext>
              </a:extLst>
            </p:cNvPr>
            <p:cNvPicPr>
              <a:picLocks noChangeAspect="1"/>
            </p:cNvPicPr>
            <p:nvPr/>
          </p:nvPicPr>
          <p:blipFill>
            <a:blip r:embed="rId2"/>
            <a:stretch>
              <a:fillRect/>
            </a:stretch>
          </p:blipFill>
          <p:spPr>
            <a:xfrm>
              <a:off x="4691062" y="3221514"/>
              <a:ext cx="2809875" cy="1628775"/>
            </a:xfrm>
            <a:prstGeom prst="rect">
              <a:avLst/>
            </a:prstGeom>
          </p:spPr>
        </p:pic>
        <p:sp>
          <p:nvSpPr>
            <p:cNvPr id="8" name="직사각형 7">
              <a:extLst>
                <a:ext uri="{FF2B5EF4-FFF2-40B4-BE49-F238E27FC236}">
                  <a16:creationId xmlns:a16="http://schemas.microsoft.com/office/drawing/2014/main" id="{FA6C1D49-0EAB-E0A8-C1E2-4F03D95674BA}"/>
                </a:ext>
              </a:extLst>
            </p:cNvPr>
            <p:cNvSpPr/>
            <p:nvPr/>
          </p:nvSpPr>
          <p:spPr>
            <a:xfrm>
              <a:off x="4879497" y="4628644"/>
              <a:ext cx="2201034" cy="2216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0193895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Kubernetes Scheduler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Workflow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B53EE51F-9159-0961-077A-EE227CF8ACB7}"/>
              </a:ext>
            </a:extLst>
          </p:cNvPr>
          <p:cNvPicPr>
            <a:picLocks noChangeAspect="1"/>
          </p:cNvPicPr>
          <p:nvPr/>
        </p:nvPicPr>
        <p:blipFill>
          <a:blip r:embed="rId2"/>
          <a:stretch>
            <a:fillRect/>
          </a:stretch>
        </p:blipFill>
        <p:spPr>
          <a:xfrm>
            <a:off x="1489040" y="1137844"/>
            <a:ext cx="9213921" cy="5271186"/>
          </a:xfrm>
          <a:prstGeom prst="rect">
            <a:avLst/>
          </a:prstGeom>
        </p:spPr>
      </p:pic>
    </p:spTree>
    <p:extLst>
      <p:ext uri="{BB962C8B-B14F-4D97-AF65-F5344CB8AC3E}">
        <p14:creationId xmlns:p14="http://schemas.microsoft.com/office/powerpoint/2010/main" val="25470484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Architecture(25/39)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Controllers Running in the Controller Manager :</a:t>
            </a:r>
          </a:p>
          <a:p>
            <a:pPr lvl="1">
              <a:buFont typeface="Wingdings" panose="05000000000000000000" pitchFamily="2" charset="2"/>
              <a:buChar char="§"/>
            </a:pPr>
            <a:r>
              <a:rPr lang="en-US" altLang="ko-KR" sz="1400" b="1" dirty="0"/>
              <a:t>As previously mentioned, the API server doesn’t do anything except store resources in </a:t>
            </a:r>
            <a:r>
              <a:rPr lang="en-US" altLang="ko-KR" sz="1400" b="1" dirty="0" err="1"/>
              <a:t>etcd</a:t>
            </a:r>
            <a:r>
              <a:rPr lang="en-US" altLang="ko-KR" sz="1400" b="1" dirty="0"/>
              <a:t> and notify clients about the change</a:t>
            </a:r>
            <a:r>
              <a:rPr lang="en-US" altLang="ko-KR" sz="1400" dirty="0"/>
              <a:t>. </a:t>
            </a:r>
            <a:r>
              <a:rPr lang="en-US" altLang="ko-KR" sz="1400" b="1" dirty="0"/>
              <a:t>The Scheduler only assigns a node to the pod, so you need other active components to </a:t>
            </a:r>
            <a:r>
              <a:rPr lang="en-US" altLang="ko-KR" sz="1400" b="1" dirty="0">
                <a:solidFill>
                  <a:srgbClr val="FF0000"/>
                </a:solidFill>
              </a:rPr>
              <a:t>make sure the actual state of the system converges toward the desired state</a:t>
            </a:r>
            <a:r>
              <a:rPr lang="en-US" altLang="ko-KR" sz="1400" b="1" dirty="0"/>
              <a:t>, as specified in the resources deployed through the API server</a:t>
            </a:r>
            <a:r>
              <a:rPr lang="en-US" altLang="ko-KR" sz="1400" dirty="0"/>
              <a:t>. This work is done by controllers running inside the </a:t>
            </a:r>
            <a:r>
              <a:rPr lang="en-US" altLang="ko-KR" sz="1400" b="1" dirty="0">
                <a:solidFill>
                  <a:srgbClr val="FF0000"/>
                </a:solidFill>
              </a:rPr>
              <a:t>Controller Manager</a:t>
            </a:r>
            <a:r>
              <a:rPr lang="en-US" altLang="ko-KR" sz="1400" dirty="0"/>
              <a:t>. </a:t>
            </a:r>
          </a:p>
          <a:p>
            <a:pPr lvl="1">
              <a:buFont typeface="Wingdings" panose="05000000000000000000" pitchFamily="2" charset="2"/>
              <a:buChar char="§"/>
            </a:pPr>
            <a:r>
              <a:rPr lang="en-US" altLang="ko-KR" sz="1400" b="1" dirty="0"/>
              <a:t>The single Controller Manager process currently combines a multitude of controllers performing various </a:t>
            </a:r>
            <a:r>
              <a:rPr lang="en-US" altLang="ko-KR" sz="1400" b="1" dirty="0">
                <a:solidFill>
                  <a:srgbClr val="FF0000"/>
                </a:solidFill>
              </a:rPr>
              <a:t>reconciliation</a:t>
            </a:r>
            <a:r>
              <a:rPr lang="en-US" altLang="ko-KR" sz="1400" b="1" dirty="0"/>
              <a:t> tasks</a:t>
            </a:r>
            <a:r>
              <a:rPr lang="en-US" altLang="ko-KR" sz="1400" dirty="0"/>
              <a:t>. </a:t>
            </a:r>
            <a:r>
              <a:rPr lang="en-US" altLang="ko-KR" sz="1400" b="1" dirty="0"/>
              <a:t>Eventually those controllers will be split up into separate processes</a:t>
            </a:r>
            <a:r>
              <a:rPr lang="en-US" altLang="ko-KR" sz="1400" dirty="0"/>
              <a:t>, enabling you to replace each one with a custom implementation if necessary. </a:t>
            </a:r>
          </a:p>
          <a:p>
            <a:pPr lvl="1">
              <a:buFont typeface="Wingdings" panose="05000000000000000000" pitchFamily="2" charset="2"/>
              <a:buChar char="§"/>
            </a:pPr>
            <a:r>
              <a:rPr lang="en-US" altLang="ko-KR" sz="1400" dirty="0"/>
              <a:t>The list of these controllers includes the :</a:t>
            </a:r>
          </a:p>
          <a:p>
            <a:pPr lvl="2">
              <a:buFont typeface="Wingdings" panose="05000000000000000000" pitchFamily="2" charset="2"/>
              <a:buChar char="§"/>
            </a:pPr>
            <a:r>
              <a:rPr lang="en-US" altLang="ko-KR" sz="1400" b="1" dirty="0"/>
              <a:t>Replication Manager</a:t>
            </a:r>
            <a:r>
              <a:rPr lang="en-US" altLang="ko-KR" sz="1400" dirty="0"/>
              <a:t> (a controller for </a:t>
            </a:r>
            <a:r>
              <a:rPr lang="en-US" altLang="ko-KR" sz="1400" b="1" dirty="0" err="1"/>
              <a:t>ReplicationController</a:t>
            </a:r>
            <a:r>
              <a:rPr lang="en-US" altLang="ko-KR" sz="1400" dirty="0"/>
              <a:t> resources)</a:t>
            </a:r>
          </a:p>
          <a:p>
            <a:pPr lvl="2">
              <a:buFont typeface="Wingdings" panose="05000000000000000000" pitchFamily="2" charset="2"/>
              <a:buChar char="§"/>
            </a:pPr>
            <a:r>
              <a:rPr lang="en-US" altLang="ko-KR" sz="1400" b="1" dirty="0" err="1"/>
              <a:t>ReplicaSet</a:t>
            </a:r>
            <a:r>
              <a:rPr lang="en-US" altLang="ko-KR" sz="1400" dirty="0"/>
              <a:t>, </a:t>
            </a:r>
            <a:r>
              <a:rPr lang="en-US" altLang="ko-KR" sz="1400" b="1" dirty="0" err="1"/>
              <a:t>DaemonSet</a:t>
            </a:r>
            <a:r>
              <a:rPr lang="en-US" altLang="ko-KR" sz="1400" dirty="0"/>
              <a:t>, and </a:t>
            </a:r>
            <a:r>
              <a:rPr lang="en-US" altLang="ko-KR" sz="1400" b="1" dirty="0"/>
              <a:t>Job</a:t>
            </a:r>
            <a:r>
              <a:rPr lang="en-US" altLang="ko-KR" sz="1400" dirty="0"/>
              <a:t> controllers.</a:t>
            </a:r>
          </a:p>
          <a:p>
            <a:pPr lvl="2">
              <a:buFont typeface="Wingdings" panose="05000000000000000000" pitchFamily="2" charset="2"/>
              <a:buChar char="§"/>
            </a:pPr>
            <a:r>
              <a:rPr lang="en-US" altLang="ko-KR" sz="1400" b="1" dirty="0"/>
              <a:t>Deployment</a:t>
            </a:r>
            <a:r>
              <a:rPr lang="en-US" altLang="ko-KR" sz="1400" dirty="0"/>
              <a:t> controller</a:t>
            </a:r>
          </a:p>
          <a:p>
            <a:pPr lvl="2">
              <a:buFont typeface="Wingdings" panose="05000000000000000000" pitchFamily="2" charset="2"/>
              <a:buChar char="§"/>
            </a:pPr>
            <a:r>
              <a:rPr lang="en-US" altLang="ko-KR" sz="1400" b="1" dirty="0" err="1"/>
              <a:t>StatefulSet</a:t>
            </a:r>
            <a:r>
              <a:rPr lang="en-US" altLang="ko-KR" sz="1400" dirty="0"/>
              <a:t> controller</a:t>
            </a:r>
          </a:p>
          <a:p>
            <a:pPr lvl="2">
              <a:buFont typeface="Wingdings" panose="05000000000000000000" pitchFamily="2" charset="2"/>
              <a:buChar char="§"/>
            </a:pPr>
            <a:r>
              <a:rPr lang="en-US" altLang="ko-KR" sz="1400" b="1" dirty="0"/>
              <a:t>Node</a:t>
            </a:r>
            <a:r>
              <a:rPr lang="en-US" altLang="ko-KR" sz="1400" dirty="0"/>
              <a:t> controller</a:t>
            </a:r>
          </a:p>
          <a:p>
            <a:pPr lvl="2">
              <a:buFont typeface="Wingdings" panose="05000000000000000000" pitchFamily="2" charset="2"/>
              <a:buChar char="§"/>
            </a:pPr>
            <a:r>
              <a:rPr lang="en-US" altLang="ko-KR" sz="1400" b="1" dirty="0"/>
              <a:t>Service</a:t>
            </a:r>
            <a:r>
              <a:rPr lang="en-US" altLang="ko-KR" sz="1400" dirty="0"/>
              <a:t> controller</a:t>
            </a:r>
          </a:p>
          <a:p>
            <a:pPr lvl="2">
              <a:buFont typeface="Wingdings" panose="05000000000000000000" pitchFamily="2" charset="2"/>
              <a:buChar char="§"/>
            </a:pPr>
            <a:r>
              <a:rPr lang="en-US" altLang="ko-KR" sz="1400" b="1" dirty="0"/>
              <a:t>Endpoints</a:t>
            </a:r>
            <a:r>
              <a:rPr lang="en-US" altLang="ko-KR" sz="1400" dirty="0"/>
              <a:t> controller</a:t>
            </a:r>
          </a:p>
          <a:p>
            <a:pPr lvl="2">
              <a:buFont typeface="Wingdings" panose="05000000000000000000" pitchFamily="2" charset="2"/>
              <a:buChar char="§"/>
            </a:pPr>
            <a:r>
              <a:rPr lang="en-US" altLang="ko-KR" sz="1400" b="1" dirty="0"/>
              <a:t>Namespace</a:t>
            </a:r>
            <a:r>
              <a:rPr lang="en-US" altLang="ko-KR" sz="1400" dirty="0"/>
              <a:t> controller</a:t>
            </a:r>
          </a:p>
          <a:p>
            <a:pPr lvl="2">
              <a:buFont typeface="Wingdings" panose="05000000000000000000" pitchFamily="2" charset="2"/>
              <a:buChar char="§"/>
            </a:pPr>
            <a:r>
              <a:rPr lang="en-US" altLang="ko-KR" sz="1400" b="1" dirty="0" err="1"/>
              <a:t>PersistentVolume</a:t>
            </a:r>
            <a:r>
              <a:rPr lang="en-US" altLang="ko-KR" sz="1400" dirty="0"/>
              <a:t> controller</a:t>
            </a:r>
          </a:p>
          <a:p>
            <a:pPr lvl="2">
              <a:buFont typeface="Wingdings" panose="05000000000000000000" pitchFamily="2" charset="2"/>
              <a:buChar char="§"/>
            </a:pPr>
            <a:r>
              <a:rPr lang="en-US" altLang="ko-KR" sz="1400" dirty="0"/>
              <a:t>Others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EC2A35B4-6FBC-331F-10BE-321370287CEB}"/>
              </a:ext>
            </a:extLst>
          </p:cNvPr>
          <p:cNvGrpSpPr/>
          <p:nvPr/>
        </p:nvGrpSpPr>
        <p:grpSpPr>
          <a:xfrm>
            <a:off x="5864702" y="3429000"/>
            <a:ext cx="5491795" cy="2608603"/>
            <a:chOff x="5864702" y="3429000"/>
            <a:chExt cx="5491795" cy="2608603"/>
          </a:xfrm>
        </p:grpSpPr>
        <p:pic>
          <p:nvPicPr>
            <p:cNvPr id="4" name="그림 3">
              <a:extLst>
                <a:ext uri="{FF2B5EF4-FFF2-40B4-BE49-F238E27FC236}">
                  <a16:creationId xmlns:a16="http://schemas.microsoft.com/office/drawing/2014/main" id="{BF9ADF36-3617-0653-CB5C-B2A9C4D8B170}"/>
                </a:ext>
              </a:extLst>
            </p:cNvPr>
            <p:cNvPicPr>
              <a:picLocks noChangeAspect="1"/>
            </p:cNvPicPr>
            <p:nvPr/>
          </p:nvPicPr>
          <p:blipFill>
            <a:blip r:embed="rId2"/>
            <a:stretch>
              <a:fillRect/>
            </a:stretch>
          </p:blipFill>
          <p:spPr>
            <a:xfrm>
              <a:off x="5864702" y="3429000"/>
              <a:ext cx="5491795" cy="2608603"/>
            </a:xfrm>
            <a:prstGeom prst="rect">
              <a:avLst/>
            </a:prstGeom>
          </p:spPr>
        </p:pic>
        <p:sp>
          <p:nvSpPr>
            <p:cNvPr id="8" name="TextBox 7">
              <a:extLst>
                <a:ext uri="{FF2B5EF4-FFF2-40B4-BE49-F238E27FC236}">
                  <a16:creationId xmlns:a16="http://schemas.microsoft.com/office/drawing/2014/main" id="{417B03C6-B20C-99AD-510D-C3485B68B491}"/>
                </a:ext>
              </a:extLst>
            </p:cNvPr>
            <p:cNvSpPr txBox="1"/>
            <p:nvPr/>
          </p:nvSpPr>
          <p:spPr>
            <a:xfrm>
              <a:off x="7994931" y="5396242"/>
              <a:ext cx="1002197" cy="246221"/>
            </a:xfrm>
            <a:prstGeom prst="rect">
              <a:avLst/>
            </a:prstGeom>
            <a:noFill/>
          </p:spPr>
          <p:txBody>
            <a:bodyPr wrap="none" rtlCol="0">
              <a:spAutoFit/>
            </a:bodyPr>
            <a:lstStyle/>
            <a:p>
              <a:pPr algn="l"/>
              <a:r>
                <a:rPr lang="en-US" altLang="ko-KR" sz="1000" b="1" dirty="0"/>
                <a:t>Desired State</a:t>
              </a:r>
              <a:endParaRPr lang="ko-KR" altLang="en-US" sz="1000" b="1" dirty="0"/>
            </a:p>
          </p:txBody>
        </p:sp>
      </p:grpSp>
    </p:spTree>
    <p:extLst>
      <p:ext uri="{BB962C8B-B14F-4D97-AF65-F5344CB8AC3E}">
        <p14:creationId xmlns:p14="http://schemas.microsoft.com/office/powerpoint/2010/main" val="40672698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Architecture(26/39)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Controllers Running in the Controller Manager :</a:t>
            </a:r>
          </a:p>
          <a:p>
            <a:pPr lvl="1">
              <a:buFont typeface="Wingdings" panose="05000000000000000000" pitchFamily="2" charset="2"/>
              <a:buChar char="§"/>
            </a:pPr>
            <a:r>
              <a:rPr lang="en-US" altLang="ko-KR" sz="1400" b="1" dirty="0"/>
              <a:t>From the previous list, you can tell there’s a controller for almost every resource you can create</a:t>
            </a:r>
            <a:r>
              <a:rPr lang="en-US" altLang="ko-KR" sz="1400" dirty="0"/>
              <a:t>. </a:t>
            </a:r>
            <a:r>
              <a:rPr lang="en-US" altLang="ko-KR" sz="1400" b="1" dirty="0">
                <a:solidFill>
                  <a:srgbClr val="FF0000"/>
                </a:solidFill>
              </a:rPr>
              <a:t>Resources</a:t>
            </a:r>
            <a:r>
              <a:rPr lang="en-US" altLang="ko-KR" sz="1400" b="1" dirty="0"/>
              <a:t> are descriptions of what should be running in the cluster</a:t>
            </a:r>
            <a:r>
              <a:rPr lang="en-US" altLang="ko-KR" sz="1400" dirty="0"/>
              <a:t>, </a:t>
            </a:r>
            <a:r>
              <a:rPr lang="en-US" altLang="ko-KR" sz="1400" b="1" dirty="0"/>
              <a:t>whereas </a:t>
            </a:r>
            <a:r>
              <a:rPr lang="en-US" altLang="ko-KR" sz="1400" b="1" dirty="0">
                <a:solidFill>
                  <a:srgbClr val="FF0000"/>
                </a:solidFill>
              </a:rPr>
              <a:t>the controllers are the active Kubernetes components that perform actual work </a:t>
            </a:r>
            <a:r>
              <a:rPr lang="en-US" altLang="ko-KR" sz="1400" b="1" dirty="0"/>
              <a:t>as a result of the deployed resources</a:t>
            </a:r>
            <a:r>
              <a:rPr lang="en-US" altLang="ko-KR" sz="1400" dirty="0"/>
              <a:t>.</a:t>
            </a:r>
          </a:p>
          <a:p>
            <a:pPr lvl="1">
              <a:buFont typeface="Wingdings" panose="05000000000000000000" pitchFamily="2" charset="2"/>
              <a:buChar char="§"/>
            </a:pPr>
            <a:r>
              <a:rPr lang="en-US" altLang="ko-KR" sz="1400" b="1" dirty="0"/>
              <a:t>Controllers do many different things, but they all watch the API server for changes to resources </a:t>
            </a:r>
            <a:r>
              <a:rPr lang="en-US" altLang="ko-KR" sz="1400" dirty="0"/>
              <a:t>(Deployments, Services, and so on) and </a:t>
            </a:r>
            <a:r>
              <a:rPr lang="en-US" altLang="ko-KR" sz="1400" b="1" dirty="0"/>
              <a:t>perform operations for each change</a:t>
            </a:r>
            <a:r>
              <a:rPr lang="en-US" altLang="ko-KR" sz="1400" dirty="0"/>
              <a:t>, whether it’s a creation of a new object or an update or deletion of an existing object. Most of the time, these operations include </a:t>
            </a:r>
            <a:r>
              <a:rPr lang="en-US" altLang="ko-KR" sz="1400" b="1" dirty="0"/>
              <a:t>creating other resources </a:t>
            </a:r>
            <a:r>
              <a:rPr lang="en-US" altLang="ko-KR" sz="1400" dirty="0"/>
              <a:t>or </a:t>
            </a:r>
            <a:r>
              <a:rPr lang="en-US" altLang="ko-KR" sz="1400" b="1" dirty="0"/>
              <a:t>updating the watched resources </a:t>
            </a:r>
            <a:r>
              <a:rPr lang="en-US" altLang="ko-KR" sz="1400" dirty="0"/>
              <a:t>themselves (to update the object’s status, for example).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FE3D0EA-191C-1657-10DE-604A3399E9C7}"/>
              </a:ext>
            </a:extLst>
          </p:cNvPr>
          <p:cNvSpPr txBox="1"/>
          <p:nvPr/>
        </p:nvSpPr>
        <p:spPr>
          <a:xfrm>
            <a:off x="838199" y="4016404"/>
            <a:ext cx="6478318" cy="1061829"/>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Controllers never talk to each other directly</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They don’t even know any other controllers exist. Each controller connects to the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API server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and, through the watch mechanism</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asks to be notified when a change occurs in the list of resources of any type the controller is responsible for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grpSp>
        <p:nvGrpSpPr>
          <p:cNvPr id="14" name="그룹 13">
            <a:extLst>
              <a:ext uri="{FF2B5EF4-FFF2-40B4-BE49-F238E27FC236}">
                <a16:creationId xmlns:a16="http://schemas.microsoft.com/office/drawing/2014/main" id="{33341538-DAD5-3181-C1B6-0208FA620AB8}"/>
              </a:ext>
            </a:extLst>
          </p:cNvPr>
          <p:cNvGrpSpPr/>
          <p:nvPr/>
        </p:nvGrpSpPr>
        <p:grpSpPr>
          <a:xfrm>
            <a:off x="7349175" y="2690451"/>
            <a:ext cx="4004625" cy="3718580"/>
            <a:chOff x="7349175" y="2690451"/>
            <a:chExt cx="4004625" cy="3718580"/>
          </a:xfrm>
        </p:grpSpPr>
        <p:pic>
          <p:nvPicPr>
            <p:cNvPr id="4" name="그림 3">
              <a:extLst>
                <a:ext uri="{FF2B5EF4-FFF2-40B4-BE49-F238E27FC236}">
                  <a16:creationId xmlns:a16="http://schemas.microsoft.com/office/drawing/2014/main" id="{DCE97AFD-30C2-73FE-35D4-A10D9EF45F13}"/>
                </a:ext>
              </a:extLst>
            </p:cNvPr>
            <p:cNvPicPr>
              <a:picLocks noChangeAspect="1"/>
            </p:cNvPicPr>
            <p:nvPr/>
          </p:nvPicPr>
          <p:blipFill>
            <a:blip r:embed="rId2"/>
            <a:stretch>
              <a:fillRect/>
            </a:stretch>
          </p:blipFill>
          <p:spPr>
            <a:xfrm>
              <a:off x="7349175" y="2690451"/>
              <a:ext cx="4004625" cy="3718580"/>
            </a:xfrm>
            <a:prstGeom prst="rect">
              <a:avLst/>
            </a:prstGeom>
          </p:spPr>
        </p:pic>
        <p:sp>
          <p:nvSpPr>
            <p:cNvPr id="10" name="타원 9">
              <a:extLst>
                <a:ext uri="{FF2B5EF4-FFF2-40B4-BE49-F238E27FC236}">
                  <a16:creationId xmlns:a16="http://schemas.microsoft.com/office/drawing/2014/main" id="{BE8DC1CA-8E8E-644A-839E-EB8692C38BC0}"/>
                </a:ext>
              </a:extLst>
            </p:cNvPr>
            <p:cNvSpPr/>
            <p:nvPr/>
          </p:nvSpPr>
          <p:spPr>
            <a:xfrm>
              <a:off x="9144000" y="3899069"/>
              <a:ext cx="388418" cy="36512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TextBox 12">
            <a:extLst>
              <a:ext uri="{FF2B5EF4-FFF2-40B4-BE49-F238E27FC236}">
                <a16:creationId xmlns:a16="http://schemas.microsoft.com/office/drawing/2014/main" id="{B33D848D-C64D-3930-E4E0-031C0AD73265}"/>
              </a:ext>
            </a:extLst>
          </p:cNvPr>
          <p:cNvSpPr txBox="1"/>
          <p:nvPr/>
        </p:nvSpPr>
        <p:spPr>
          <a:xfrm>
            <a:off x="838200" y="2566776"/>
            <a:ext cx="6510974" cy="1449628"/>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In general, controllers run a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reconciliation loop</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which reconciles the actual state with the desired state (specified in the resource’s spec section)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writes the new actual state to the resource’s status section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Controllers use the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watch</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mechanism to be notified of changes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but because using watches doesn’t guarantee the controller won’t miss an event,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they also perform a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re-list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operation periodically to make sure they haven’t missed anything</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25828845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Architecture(27/39)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Controllers Running in the Controller Manager :</a:t>
            </a:r>
          </a:p>
          <a:p>
            <a:pPr lvl="1">
              <a:buFont typeface="Wingdings" panose="05000000000000000000" pitchFamily="2" charset="2"/>
              <a:buChar char="§"/>
            </a:pPr>
            <a:r>
              <a:rPr lang="en-US" altLang="ko-KR" sz="1400" b="1" dirty="0"/>
              <a:t>The controller that makes </a:t>
            </a:r>
            <a:r>
              <a:rPr lang="en-US" altLang="ko-KR" sz="1400" b="1" dirty="0" err="1"/>
              <a:t>ReplicationController</a:t>
            </a:r>
            <a:r>
              <a:rPr lang="en-US" altLang="ko-KR" sz="1400" b="1" dirty="0"/>
              <a:t> resources come to life is called the </a:t>
            </a:r>
            <a:r>
              <a:rPr lang="en-US" altLang="ko-KR" sz="1400" b="1" dirty="0">
                <a:solidFill>
                  <a:srgbClr val="FF0000"/>
                </a:solidFill>
              </a:rPr>
              <a:t>Replication Manager</a:t>
            </a:r>
            <a:r>
              <a:rPr lang="en-US" altLang="ko-KR" sz="1400" dirty="0"/>
              <a:t>. It’s not the </a:t>
            </a:r>
            <a:r>
              <a:rPr lang="en-US" altLang="ko-KR" sz="1400" b="1" dirty="0" err="1"/>
              <a:t>ReplicationControllers</a:t>
            </a:r>
            <a:r>
              <a:rPr lang="en-US" altLang="ko-KR" sz="1400" dirty="0"/>
              <a:t> that do the actual work, but the Replication Manager.</a:t>
            </a:r>
          </a:p>
          <a:p>
            <a:pPr lvl="1">
              <a:buFont typeface="Wingdings" panose="05000000000000000000" pitchFamily="2" charset="2"/>
              <a:buChar char="§"/>
            </a:pPr>
            <a:r>
              <a:rPr lang="en-US" altLang="ko-KR" sz="1400" b="1" dirty="0"/>
              <a:t>We said that the operation of a </a:t>
            </a:r>
            <a:r>
              <a:rPr lang="en-US" altLang="ko-KR" sz="1400" b="1" dirty="0" err="1"/>
              <a:t>ReplicationController</a:t>
            </a:r>
            <a:r>
              <a:rPr lang="en-US" altLang="ko-KR" sz="1400" b="1" dirty="0"/>
              <a:t> could be thought of as an infinite loop, where in each iteration, the controller finds the number of pods matching its pod selector and compares the number to the desired replica count</a:t>
            </a:r>
            <a:r>
              <a:rPr lang="en-US" altLang="ko-KR" sz="1400" dirty="0"/>
              <a:t>.</a:t>
            </a:r>
          </a:p>
          <a:p>
            <a:pPr lvl="1">
              <a:buFont typeface="Wingdings" panose="05000000000000000000" pitchFamily="2" charset="2"/>
              <a:buChar char="§"/>
            </a:pPr>
            <a:r>
              <a:rPr lang="en-US" altLang="ko-KR" sz="1400" dirty="0"/>
              <a:t>Now that you know how the API server can notify clients through the watch mechanism, </a:t>
            </a:r>
            <a:r>
              <a:rPr lang="en-US" altLang="ko-KR" sz="1400" b="1" dirty="0"/>
              <a:t>it’s clear that the controller doesn’t poll the pods in every iteration, but is instead notified by the </a:t>
            </a:r>
            <a:r>
              <a:rPr lang="en-US" altLang="ko-KR" sz="1400" b="1" dirty="0">
                <a:solidFill>
                  <a:srgbClr val="FF0000"/>
                </a:solidFill>
              </a:rPr>
              <a:t>watch mechanism </a:t>
            </a:r>
            <a:r>
              <a:rPr lang="en-US" altLang="ko-KR" sz="1400" b="1" dirty="0"/>
              <a:t>of each change that may affect the desired replica count or the number of matched pods </a:t>
            </a:r>
            <a:r>
              <a:rPr lang="en-US" altLang="ko-KR" sz="1400" dirty="0"/>
              <a:t>(see the following figure). </a:t>
            </a:r>
            <a:r>
              <a:rPr lang="en-US" altLang="ko-KR" sz="1400" b="1" dirty="0">
                <a:solidFill>
                  <a:srgbClr val="FF0000"/>
                </a:solidFill>
              </a:rPr>
              <a:t>Any such changes trigger the controller to recheck the desired vs. actual replica count and act accordingly</a:t>
            </a:r>
            <a:r>
              <a:rPr lang="en-US" altLang="ko-KR" sz="1400" dirty="0"/>
              <a:t>.</a:t>
            </a:r>
          </a:p>
          <a:p>
            <a:pPr lvl="1">
              <a:buFont typeface="Wingdings" panose="05000000000000000000" pitchFamily="2" charset="2"/>
              <a:buChar char="§"/>
            </a:pPr>
            <a:r>
              <a:rPr lang="en-US" altLang="ko-KR" sz="1400" dirty="0"/>
              <a:t>You already know that when too few pod instances are running, the </a:t>
            </a:r>
            <a:r>
              <a:rPr lang="en-US" altLang="ko-KR" sz="1400" b="1" dirty="0" err="1"/>
              <a:t>ReplicationController</a:t>
            </a:r>
            <a:r>
              <a:rPr lang="en-US" altLang="ko-KR" sz="1400" dirty="0"/>
              <a:t> runs additional instances. But it doesn’t actually run them itself. </a:t>
            </a:r>
            <a:r>
              <a:rPr lang="en-US" altLang="ko-KR" sz="1400" b="1" dirty="0"/>
              <a:t>It creates </a:t>
            </a:r>
            <a:r>
              <a:rPr lang="en-US" altLang="ko-KR" sz="1400" b="1" dirty="0">
                <a:solidFill>
                  <a:srgbClr val="FF0000"/>
                </a:solidFill>
              </a:rPr>
              <a:t>new Pod manifests</a:t>
            </a:r>
            <a:r>
              <a:rPr lang="en-US" altLang="ko-KR" sz="1400" b="1" dirty="0"/>
              <a:t>, </a:t>
            </a:r>
            <a:r>
              <a:rPr lang="en-US" altLang="ko-KR" sz="1400" b="1" dirty="0">
                <a:solidFill>
                  <a:srgbClr val="FF0000"/>
                </a:solidFill>
              </a:rPr>
              <a:t>posts them to the API server</a:t>
            </a:r>
            <a:r>
              <a:rPr lang="en-US" altLang="ko-KR" sz="1400" b="1" dirty="0"/>
              <a:t>, and lets the </a:t>
            </a:r>
            <a:r>
              <a:rPr lang="en-US" altLang="ko-KR" sz="1400" b="1" dirty="0">
                <a:solidFill>
                  <a:srgbClr val="FF0000"/>
                </a:solidFill>
              </a:rPr>
              <a:t>Scheduler</a:t>
            </a:r>
            <a:r>
              <a:rPr lang="en-US" altLang="ko-KR" sz="1400" b="1" dirty="0"/>
              <a:t> and the </a:t>
            </a:r>
            <a:r>
              <a:rPr lang="en-US" altLang="ko-KR" sz="1400" b="1" dirty="0" err="1">
                <a:solidFill>
                  <a:srgbClr val="FF0000"/>
                </a:solidFill>
              </a:rPr>
              <a:t>Kubelet</a:t>
            </a:r>
            <a:r>
              <a:rPr lang="en-US" altLang="ko-KR" sz="1400" b="1" dirty="0"/>
              <a:t> do their job of scheduling and running the p</a:t>
            </a:r>
            <a:r>
              <a:rPr lang="en-US" altLang="ko-KR" sz="1400" dirty="0"/>
              <a:t>od.</a:t>
            </a:r>
          </a:p>
          <a:p>
            <a:pPr lvl="1">
              <a:buFont typeface="Wingdings" panose="05000000000000000000" pitchFamily="2" charset="2"/>
              <a:buChar char="§"/>
            </a:pPr>
            <a:r>
              <a:rPr lang="en-US" altLang="ko-KR" sz="1400" b="1" dirty="0"/>
              <a:t>The Replication Manager performs its work by </a:t>
            </a:r>
            <a:r>
              <a:rPr lang="en-US" altLang="ko-KR" sz="1400" b="1" dirty="0">
                <a:solidFill>
                  <a:srgbClr val="FF0000"/>
                </a:solidFill>
              </a:rPr>
              <a:t>manipulating Pod API objects through the API server</a:t>
            </a:r>
            <a:r>
              <a:rPr lang="en-US" altLang="ko-KR" sz="1400" dirty="0"/>
              <a:t>. This is how all controllers operate.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02E7C24-79C4-ABE1-28A4-B8737A7A8FFD}"/>
              </a:ext>
            </a:extLst>
          </p:cNvPr>
          <p:cNvGrpSpPr/>
          <p:nvPr/>
        </p:nvGrpSpPr>
        <p:grpSpPr>
          <a:xfrm>
            <a:off x="4059134" y="4122974"/>
            <a:ext cx="4073731" cy="2286056"/>
            <a:chOff x="4059134" y="4122974"/>
            <a:chExt cx="4073731" cy="2286056"/>
          </a:xfrm>
        </p:grpSpPr>
        <p:pic>
          <p:nvPicPr>
            <p:cNvPr id="8" name="그림 7">
              <a:extLst>
                <a:ext uri="{FF2B5EF4-FFF2-40B4-BE49-F238E27FC236}">
                  <a16:creationId xmlns:a16="http://schemas.microsoft.com/office/drawing/2014/main" id="{F2A0F0E4-F8D5-6FAE-561A-52F9D8F8A4BE}"/>
                </a:ext>
              </a:extLst>
            </p:cNvPr>
            <p:cNvPicPr>
              <a:picLocks noChangeAspect="1"/>
            </p:cNvPicPr>
            <p:nvPr/>
          </p:nvPicPr>
          <p:blipFill>
            <a:blip r:embed="rId2"/>
            <a:stretch>
              <a:fillRect/>
            </a:stretch>
          </p:blipFill>
          <p:spPr>
            <a:xfrm>
              <a:off x="4059134" y="4122974"/>
              <a:ext cx="4073731" cy="2286056"/>
            </a:xfrm>
            <a:prstGeom prst="rect">
              <a:avLst/>
            </a:prstGeom>
          </p:spPr>
        </p:pic>
        <p:sp>
          <p:nvSpPr>
            <p:cNvPr id="4" name="직사각형 3">
              <a:extLst>
                <a:ext uri="{FF2B5EF4-FFF2-40B4-BE49-F238E27FC236}">
                  <a16:creationId xmlns:a16="http://schemas.microsoft.com/office/drawing/2014/main" id="{322F7408-1497-3EEB-7117-0D5419B5308A}"/>
                </a:ext>
              </a:extLst>
            </p:cNvPr>
            <p:cNvSpPr/>
            <p:nvPr/>
          </p:nvSpPr>
          <p:spPr>
            <a:xfrm>
              <a:off x="4361607" y="4758117"/>
              <a:ext cx="1027689" cy="5502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206250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Source Code of Controllers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Controllers :</a:t>
            </a:r>
          </a:p>
          <a:p>
            <a:pPr lvl="1">
              <a:buFont typeface="Wingdings" panose="05000000000000000000" pitchFamily="2" charset="2"/>
              <a:buChar char="§"/>
            </a:pPr>
            <a:r>
              <a:rPr lang="en-US" altLang="ko-KR" sz="1400" dirty="0"/>
              <a:t>A few pointers on exploring </a:t>
            </a:r>
            <a:r>
              <a:rPr lang="en-US" altLang="ko-KR" sz="1400" b="1" dirty="0"/>
              <a:t>the controllers’ source code</a:t>
            </a:r>
            <a:r>
              <a:rPr lang="en-US" altLang="ko-KR" sz="1400" dirty="0"/>
              <a:t>. To make it easier, here are a few tips :</a:t>
            </a:r>
          </a:p>
          <a:p>
            <a:pPr lvl="1">
              <a:buFont typeface="Wingdings" panose="05000000000000000000" pitchFamily="2" charset="2"/>
              <a:buChar char="§"/>
            </a:pPr>
            <a:r>
              <a:rPr lang="en-US" altLang="ko-KR" sz="1400" dirty="0"/>
              <a:t>The source code for the controllers is available at </a:t>
            </a:r>
            <a:r>
              <a:rPr lang="en-US" altLang="ko-KR" sz="1400" b="1" dirty="0">
                <a:hlinkClick r:id="rId2"/>
              </a:rPr>
              <a:t>https://github.com/kubernetes/kubernetes/blob/master/pkg/controller</a:t>
            </a:r>
            <a:r>
              <a:rPr lang="en-US" altLang="ko-KR" sz="1400" dirty="0"/>
              <a:t>.</a:t>
            </a:r>
          </a:p>
          <a:p>
            <a:pPr lvl="1">
              <a:buFont typeface="Wingdings" panose="05000000000000000000" pitchFamily="2" charset="2"/>
              <a:buChar char="§"/>
            </a:pPr>
            <a:r>
              <a:rPr lang="en-US" altLang="ko-KR" sz="1400" b="1" dirty="0"/>
              <a:t>Each controller usually has a constructor in which it creates an Informer, which is basically a </a:t>
            </a:r>
            <a:r>
              <a:rPr lang="en-US" altLang="ko-KR" sz="1400" b="1" dirty="0">
                <a:solidFill>
                  <a:srgbClr val="FF0000"/>
                </a:solidFill>
              </a:rPr>
              <a:t>listener</a:t>
            </a:r>
            <a:r>
              <a:rPr lang="en-US" altLang="ko-KR" sz="1400" b="1" dirty="0"/>
              <a:t> that gets called every time an API object gets updated</a:t>
            </a:r>
            <a:r>
              <a:rPr lang="en-US" altLang="ko-KR" sz="1400" dirty="0"/>
              <a:t>. Usually, an Informer listens for changes to a specific type of resource. Looking at the constructor will show you which resources the controller is watching.</a:t>
            </a:r>
          </a:p>
          <a:p>
            <a:pPr lvl="1">
              <a:buFont typeface="Wingdings" panose="05000000000000000000" pitchFamily="2" charset="2"/>
              <a:buChar char="§"/>
            </a:pPr>
            <a:r>
              <a:rPr lang="en-US" altLang="ko-KR" sz="1400" dirty="0"/>
              <a:t>Next, go look for the “</a:t>
            </a:r>
            <a:r>
              <a:rPr lang="en-US" altLang="ko-KR" sz="1400" b="1" dirty="0"/>
              <a:t>worker()</a:t>
            </a:r>
            <a:r>
              <a:rPr lang="en-US" altLang="ko-KR" sz="1400" dirty="0"/>
              <a:t>” method. In it, you’ll find </a:t>
            </a:r>
            <a:r>
              <a:rPr lang="en-US" altLang="ko-KR" sz="1400" b="1" dirty="0"/>
              <a:t>the method that gets invoked each time the controller needs to do something</a:t>
            </a:r>
            <a:r>
              <a:rPr lang="en-US" altLang="ko-KR" sz="1400" dirty="0"/>
              <a:t>. The actual function is often stored in a field called “</a:t>
            </a:r>
            <a:r>
              <a:rPr lang="en-US" altLang="ko-KR" sz="1400" b="1" dirty="0" err="1"/>
              <a:t>syncHandler</a:t>
            </a:r>
            <a:r>
              <a:rPr lang="en-US" altLang="ko-KR" sz="1400" dirty="0"/>
              <a:t>” or something similar. </a:t>
            </a:r>
            <a:r>
              <a:rPr lang="en-US" altLang="ko-KR" sz="1400" b="1" dirty="0"/>
              <a:t>This field is also initialized in the constructor, so that’s where you’ll find the name of the function that gets called</a:t>
            </a:r>
            <a:r>
              <a:rPr lang="en-US" altLang="ko-KR" sz="1400" dirty="0"/>
              <a:t>. That function is the place where all the magic happens.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7E83751-E9B3-F61C-BEB7-151BCAD27197}"/>
              </a:ext>
            </a:extLst>
          </p:cNvPr>
          <p:cNvPicPr>
            <a:picLocks noChangeAspect="1"/>
          </p:cNvPicPr>
          <p:nvPr/>
        </p:nvPicPr>
        <p:blipFill>
          <a:blip r:embed="rId3"/>
          <a:stretch>
            <a:fillRect/>
          </a:stretch>
        </p:blipFill>
        <p:spPr>
          <a:xfrm>
            <a:off x="2633957" y="3429000"/>
            <a:ext cx="6924085" cy="2719239"/>
          </a:xfrm>
          <a:prstGeom prst="rect">
            <a:avLst/>
          </a:prstGeom>
        </p:spPr>
      </p:pic>
    </p:spTree>
    <p:extLst>
      <p:ext uri="{BB962C8B-B14F-4D97-AF65-F5344CB8AC3E}">
        <p14:creationId xmlns:p14="http://schemas.microsoft.com/office/powerpoint/2010/main" val="25605007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Architecture(28/39)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Controllers Running in the Controller Manager :</a:t>
            </a:r>
          </a:p>
          <a:p>
            <a:pPr lvl="1">
              <a:buFont typeface="Wingdings" panose="05000000000000000000" pitchFamily="2" charset="2"/>
              <a:buChar char="§"/>
            </a:pPr>
            <a:r>
              <a:rPr lang="en-US" altLang="ko-KR" sz="1400" b="1" dirty="0"/>
              <a:t>The </a:t>
            </a:r>
            <a:r>
              <a:rPr lang="en-US" altLang="ko-KR" sz="1400" b="1" dirty="0" err="1">
                <a:solidFill>
                  <a:srgbClr val="FF0000"/>
                </a:solidFill>
              </a:rPr>
              <a:t>ReplicaSet</a:t>
            </a:r>
            <a:r>
              <a:rPr lang="en-US" altLang="ko-KR" sz="1400" b="1" dirty="0"/>
              <a:t> controller does almost the same thing as the Replication Manager described previously. The </a:t>
            </a:r>
            <a:r>
              <a:rPr lang="en-US" altLang="ko-KR" sz="1400" b="1" dirty="0" err="1">
                <a:solidFill>
                  <a:srgbClr val="FF0000"/>
                </a:solidFill>
              </a:rPr>
              <a:t>DaemonSet</a:t>
            </a:r>
            <a:r>
              <a:rPr lang="en-US" altLang="ko-KR" sz="1400" b="1" dirty="0"/>
              <a:t> and </a:t>
            </a:r>
            <a:r>
              <a:rPr lang="en-US" altLang="ko-KR" sz="1400" b="1" dirty="0">
                <a:solidFill>
                  <a:srgbClr val="FF0000"/>
                </a:solidFill>
              </a:rPr>
              <a:t>Job</a:t>
            </a:r>
            <a:r>
              <a:rPr lang="en-US" altLang="ko-KR" sz="1400" b="1" dirty="0"/>
              <a:t> controllers are similar</a:t>
            </a:r>
            <a:r>
              <a:rPr lang="en-US" altLang="ko-KR" sz="1400" dirty="0"/>
              <a:t>. They create Pod resources from the pod template defined in their respective resources. </a:t>
            </a:r>
            <a:r>
              <a:rPr lang="en-US" altLang="ko-KR" sz="1400" b="1" dirty="0"/>
              <a:t>Like the Replication Manager, these controllers don’t run the pods, but post Pod definitions to the API server, letting the </a:t>
            </a:r>
            <a:r>
              <a:rPr lang="en-US" altLang="ko-KR" sz="1400" b="1" dirty="0" err="1"/>
              <a:t>Kubelet</a:t>
            </a:r>
            <a:r>
              <a:rPr lang="en-US" altLang="ko-KR" sz="1400" b="1" dirty="0"/>
              <a:t> create their containers and run them</a:t>
            </a:r>
            <a:r>
              <a:rPr lang="en-US" altLang="ko-KR" sz="1400" dirty="0"/>
              <a:t>.</a:t>
            </a:r>
          </a:p>
          <a:p>
            <a:pPr lvl="1">
              <a:buFont typeface="Wingdings" panose="05000000000000000000" pitchFamily="2" charset="2"/>
              <a:buChar char="§"/>
            </a:pPr>
            <a:r>
              <a:rPr lang="en-US" altLang="ko-KR" sz="1400" b="1" dirty="0"/>
              <a:t>The </a:t>
            </a:r>
            <a:r>
              <a:rPr lang="en-US" altLang="ko-KR" sz="1400" b="1" dirty="0">
                <a:solidFill>
                  <a:srgbClr val="FF0000"/>
                </a:solidFill>
              </a:rPr>
              <a:t>Deployment</a:t>
            </a:r>
            <a:r>
              <a:rPr lang="en-US" altLang="ko-KR" sz="1400" b="1" dirty="0"/>
              <a:t> controller takes care of keeping the actual state of a deployment in sync with the desired state specified in the corresponding </a:t>
            </a:r>
            <a:r>
              <a:rPr lang="en-US" altLang="ko-KR" sz="1400" b="1" dirty="0">
                <a:solidFill>
                  <a:srgbClr val="FF0000"/>
                </a:solidFill>
              </a:rPr>
              <a:t>Deployment API object</a:t>
            </a:r>
            <a:r>
              <a:rPr lang="en-US" altLang="ko-KR" sz="1400" dirty="0"/>
              <a:t>. </a:t>
            </a:r>
            <a:r>
              <a:rPr lang="en-US" altLang="ko-KR" sz="1400" b="1" dirty="0"/>
              <a:t>The Deployment controller performs a rollout of a new version each time a Deployment object is modified </a:t>
            </a:r>
            <a:r>
              <a:rPr lang="en-US" altLang="ko-KR" sz="1400" dirty="0"/>
              <a:t>(if the modification should affect the deployed pods). It does this by </a:t>
            </a:r>
            <a:r>
              <a:rPr lang="en-US" altLang="ko-KR" sz="1400" b="1" dirty="0"/>
              <a:t>creating a </a:t>
            </a:r>
            <a:r>
              <a:rPr lang="en-US" altLang="ko-KR" sz="1400" b="1" dirty="0" err="1"/>
              <a:t>ReplicaSet</a:t>
            </a:r>
            <a:r>
              <a:rPr lang="en-US" altLang="ko-KR" sz="1400" b="1" dirty="0"/>
              <a:t> and then appropriately scaling both the old and the new </a:t>
            </a:r>
            <a:r>
              <a:rPr lang="en-US" altLang="ko-KR" sz="1400" b="1" dirty="0" err="1"/>
              <a:t>ReplicaSet</a:t>
            </a:r>
            <a:r>
              <a:rPr lang="en-US" altLang="ko-KR" sz="1400" b="1" dirty="0"/>
              <a:t> based on the strategy specified in the Deployment</a:t>
            </a:r>
            <a:r>
              <a:rPr lang="en-US" altLang="ko-KR" sz="1400" dirty="0"/>
              <a:t>, </a:t>
            </a:r>
            <a:r>
              <a:rPr lang="en-US" altLang="ko-KR" sz="1400" b="1" dirty="0"/>
              <a:t>until all the old pods have been replaced with new ones</a:t>
            </a:r>
            <a:r>
              <a:rPr lang="en-US" altLang="ko-KR" sz="1400" dirty="0"/>
              <a:t>. It doesn’t create any pods directly.</a:t>
            </a:r>
          </a:p>
          <a:p>
            <a:pPr lvl="1">
              <a:buFont typeface="Wingdings" panose="05000000000000000000" pitchFamily="2" charset="2"/>
              <a:buChar char="§"/>
            </a:pPr>
            <a:r>
              <a:rPr lang="en-US" altLang="ko-KR" sz="1400" b="1" dirty="0"/>
              <a:t>The </a:t>
            </a:r>
            <a:r>
              <a:rPr lang="en-US" altLang="ko-KR" sz="1400" b="1" dirty="0" err="1">
                <a:solidFill>
                  <a:srgbClr val="FF0000"/>
                </a:solidFill>
              </a:rPr>
              <a:t>StatefulSet</a:t>
            </a:r>
            <a:r>
              <a:rPr lang="en-US" altLang="ko-KR" sz="1400" b="1" dirty="0"/>
              <a:t> controller, similarly to the </a:t>
            </a:r>
            <a:r>
              <a:rPr lang="en-US" altLang="ko-KR" sz="1400" b="1" dirty="0" err="1"/>
              <a:t>ReplicaSet</a:t>
            </a:r>
            <a:r>
              <a:rPr lang="en-US" altLang="ko-KR" sz="1400" b="1" dirty="0"/>
              <a:t> controller and other related controllers, creates, manages, and deletes Pods according to the spec of a </a:t>
            </a:r>
            <a:r>
              <a:rPr lang="en-US" altLang="ko-KR" sz="1400" b="1" dirty="0" err="1"/>
              <a:t>StatefulSet</a:t>
            </a:r>
            <a:r>
              <a:rPr lang="en-US" altLang="ko-KR" sz="1400" b="1" dirty="0"/>
              <a:t> resource</a:t>
            </a:r>
            <a:r>
              <a:rPr lang="en-US" altLang="ko-KR" sz="1400" dirty="0"/>
              <a:t>. But while those other controllers only manage Pods, </a:t>
            </a:r>
            <a:r>
              <a:rPr lang="en-US" altLang="ko-KR" sz="1400" b="1" dirty="0"/>
              <a:t>the </a:t>
            </a:r>
            <a:r>
              <a:rPr lang="en-US" altLang="ko-KR" sz="1400" b="1" dirty="0" err="1"/>
              <a:t>StatefulSet</a:t>
            </a:r>
            <a:r>
              <a:rPr lang="en-US" altLang="ko-KR" sz="1400" b="1" dirty="0"/>
              <a:t> controller also instantiates and manages </a:t>
            </a:r>
            <a:r>
              <a:rPr lang="en-US" altLang="ko-KR" sz="1400" b="1" dirty="0" err="1">
                <a:solidFill>
                  <a:srgbClr val="FF0000"/>
                </a:solidFill>
              </a:rPr>
              <a:t>PersistentVolumeClaims</a:t>
            </a:r>
            <a:r>
              <a:rPr lang="en-US" altLang="ko-KR" sz="1400" b="1" dirty="0"/>
              <a:t> for each Pod instance</a:t>
            </a:r>
            <a:r>
              <a:rPr lang="en-US" altLang="ko-KR" sz="1400" dirty="0"/>
              <a:t>.</a:t>
            </a:r>
          </a:p>
          <a:p>
            <a:pPr lvl="1">
              <a:buFont typeface="Wingdings" panose="05000000000000000000" pitchFamily="2" charset="2"/>
              <a:buChar char="§"/>
            </a:pPr>
            <a:r>
              <a:rPr lang="en-US" altLang="ko-KR" sz="1400" b="1" dirty="0"/>
              <a:t>The </a:t>
            </a:r>
            <a:r>
              <a:rPr lang="en-US" altLang="ko-KR" sz="1400" b="1" dirty="0">
                <a:solidFill>
                  <a:srgbClr val="FF0000"/>
                </a:solidFill>
              </a:rPr>
              <a:t>Node</a:t>
            </a:r>
            <a:r>
              <a:rPr lang="en-US" altLang="ko-KR" sz="1400" b="1" dirty="0"/>
              <a:t> controller manages the Node resources, which describe the cluster’s worker nodes</a:t>
            </a:r>
            <a:r>
              <a:rPr lang="en-US" altLang="ko-KR" sz="1400" dirty="0"/>
              <a:t>. </a:t>
            </a:r>
            <a:r>
              <a:rPr lang="en-US" altLang="ko-KR" sz="1400" b="1" dirty="0"/>
              <a:t>Among other things, a Node controller </a:t>
            </a:r>
            <a:r>
              <a:rPr lang="en-US" altLang="ko-KR" sz="1400" b="1" dirty="0">
                <a:solidFill>
                  <a:srgbClr val="FF0000"/>
                </a:solidFill>
              </a:rPr>
              <a:t>keeps the list of Node objects </a:t>
            </a:r>
            <a:r>
              <a:rPr lang="en-US" altLang="ko-KR" sz="1400" b="1" dirty="0"/>
              <a:t>in sync with the actual list of machines running in the cluster</a:t>
            </a:r>
            <a:r>
              <a:rPr lang="en-US" altLang="ko-KR" sz="1400" dirty="0"/>
              <a:t>. </a:t>
            </a:r>
            <a:r>
              <a:rPr lang="en-US" altLang="ko-KR" sz="1400" b="1" dirty="0"/>
              <a:t>It also monitors each node’s health and evicts pods from unreachable nodes</a:t>
            </a:r>
            <a:r>
              <a:rPr lang="en-US" altLang="ko-KR" sz="1400" dirty="0"/>
              <a:t>. The Node controller isn’t the only component making changes to Node objects. They’re also changed by the </a:t>
            </a:r>
            <a:r>
              <a:rPr lang="en-US" altLang="ko-KR" sz="1400" b="1" dirty="0" err="1"/>
              <a:t>Kubelet</a:t>
            </a:r>
            <a:r>
              <a:rPr lang="en-US" altLang="ko-KR" sz="1400" dirty="0"/>
              <a:t>, and can obviously also be </a:t>
            </a:r>
            <a:r>
              <a:rPr lang="en-US" altLang="ko-KR" sz="1400" b="1" dirty="0"/>
              <a:t>modified by users through REST API calls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DBEC3E1-B57F-F337-91E9-4FE1ED5A555A}"/>
              </a:ext>
            </a:extLst>
          </p:cNvPr>
          <p:cNvPicPr>
            <a:picLocks noChangeAspect="1"/>
          </p:cNvPicPr>
          <p:nvPr/>
        </p:nvPicPr>
        <p:blipFill>
          <a:blip r:embed="rId2"/>
          <a:stretch>
            <a:fillRect/>
          </a:stretch>
        </p:blipFill>
        <p:spPr>
          <a:xfrm>
            <a:off x="7198877" y="4643188"/>
            <a:ext cx="4154923" cy="1765842"/>
          </a:xfrm>
          <a:prstGeom prst="rect">
            <a:avLst/>
          </a:prstGeom>
        </p:spPr>
      </p:pic>
    </p:spTree>
    <p:extLst>
      <p:ext uri="{BB962C8B-B14F-4D97-AF65-F5344CB8AC3E}">
        <p14:creationId xmlns:p14="http://schemas.microsoft.com/office/powerpoint/2010/main" val="5495687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Architecture(29/39)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Controllers Running in the Controller Manager :</a:t>
            </a:r>
          </a:p>
          <a:p>
            <a:pPr lvl="1">
              <a:buFont typeface="Wingdings" panose="05000000000000000000" pitchFamily="2" charset="2"/>
              <a:buChar char="§"/>
            </a:pPr>
            <a:r>
              <a:rPr lang="en-US" altLang="ko-KR" sz="1400" dirty="0"/>
              <a:t>When we talked about </a:t>
            </a:r>
            <a:r>
              <a:rPr lang="en-US" altLang="ko-KR" sz="1400" b="1" dirty="0"/>
              <a:t>Services</a:t>
            </a:r>
            <a:r>
              <a:rPr lang="en-US" altLang="ko-KR" sz="1400" dirty="0"/>
              <a:t>, you learned that a few different types exist. One of them was the </a:t>
            </a:r>
            <a:r>
              <a:rPr lang="en-US" altLang="ko-KR" sz="1400" b="1" dirty="0" err="1"/>
              <a:t>LoadBalancer</a:t>
            </a:r>
            <a:r>
              <a:rPr lang="en-US" altLang="ko-KR" sz="1400" dirty="0"/>
              <a:t> </a:t>
            </a:r>
            <a:r>
              <a:rPr lang="en-US" altLang="ko-KR" sz="1400" b="1" dirty="0"/>
              <a:t>service, which requests a load balancer from the infrastructure to make the service available externally</a:t>
            </a:r>
            <a:r>
              <a:rPr lang="en-US" altLang="ko-KR" sz="1400" dirty="0"/>
              <a:t>. The </a:t>
            </a:r>
            <a:r>
              <a:rPr lang="en-US" altLang="ko-KR" sz="1400" b="1" dirty="0">
                <a:solidFill>
                  <a:srgbClr val="FF0000"/>
                </a:solidFill>
              </a:rPr>
              <a:t>Service</a:t>
            </a:r>
            <a:r>
              <a:rPr lang="en-US" altLang="ko-KR" sz="1400" b="1" dirty="0"/>
              <a:t> controller is the one requesting and releasing a load balancer from the infrastructure, when a </a:t>
            </a:r>
            <a:r>
              <a:rPr lang="en-US" altLang="ko-KR" sz="1400" b="1" dirty="0" err="1"/>
              <a:t>LoadBalancer</a:t>
            </a:r>
            <a:r>
              <a:rPr lang="en-US" altLang="ko-KR" sz="1400" b="1" dirty="0"/>
              <a:t>-type Service is created or deleted</a:t>
            </a:r>
            <a:r>
              <a:rPr lang="en-US" altLang="ko-KR" sz="1400" dirty="0"/>
              <a:t>.</a:t>
            </a:r>
          </a:p>
          <a:p>
            <a:pPr lvl="1">
              <a:buFont typeface="Wingdings" panose="05000000000000000000" pitchFamily="2" charset="2"/>
              <a:buChar char="§"/>
            </a:pPr>
            <a:r>
              <a:rPr lang="en-US" altLang="ko-KR" sz="1400" b="1" dirty="0"/>
              <a:t>Services aren’t linked directly to pods, but instead contain a list of </a:t>
            </a:r>
            <a:r>
              <a:rPr lang="en-US" altLang="ko-KR" sz="1400" b="1" dirty="0">
                <a:solidFill>
                  <a:srgbClr val="FF0000"/>
                </a:solidFill>
              </a:rPr>
              <a:t>endpoints (IPs and ports)</a:t>
            </a:r>
            <a:r>
              <a:rPr lang="en-US" altLang="ko-KR" sz="1400" b="1" dirty="0"/>
              <a:t>, which is created and updated either manually or automatically according to the pod selector defined on the Service</a:t>
            </a:r>
            <a:r>
              <a:rPr lang="en-US" altLang="ko-KR" sz="1400" dirty="0"/>
              <a:t>. </a:t>
            </a:r>
            <a:r>
              <a:rPr lang="en-US" altLang="ko-KR" sz="1400" b="1" dirty="0"/>
              <a:t>The </a:t>
            </a:r>
            <a:r>
              <a:rPr lang="en-US" altLang="ko-KR" sz="1400" b="1" dirty="0">
                <a:solidFill>
                  <a:srgbClr val="FF0000"/>
                </a:solidFill>
              </a:rPr>
              <a:t>Endpoints</a:t>
            </a:r>
            <a:r>
              <a:rPr lang="en-US" altLang="ko-KR" sz="1400" b="1" dirty="0"/>
              <a:t> controller is the active component that keeps the endpoint list constantly updated with the IPs and ports of pods matching the label selector</a:t>
            </a:r>
            <a:r>
              <a:rPr lang="en-US" altLang="ko-KR" sz="1400" dirty="0"/>
              <a:t>.</a:t>
            </a:r>
          </a:p>
          <a:p>
            <a:pPr lvl="1">
              <a:buFont typeface="Wingdings" panose="05000000000000000000" pitchFamily="2" charset="2"/>
              <a:buChar char="§"/>
            </a:pPr>
            <a:r>
              <a:rPr lang="en-US" altLang="ko-KR" sz="1400" dirty="0"/>
              <a:t>As the following figure shows, </a:t>
            </a:r>
            <a:r>
              <a:rPr lang="en-US" altLang="ko-KR" sz="1400" b="1" dirty="0"/>
              <a:t>the controller watches both Services and Pods</a:t>
            </a:r>
            <a:r>
              <a:rPr lang="en-US" altLang="ko-KR" sz="1400" dirty="0"/>
              <a:t>. </a:t>
            </a:r>
            <a:r>
              <a:rPr lang="en-US" altLang="ko-KR" sz="1400" b="1" dirty="0"/>
              <a:t>When Services are added or updated or Pods are added, updated, or deleted, it selects Pods matching the Service’s pod selector and adds their IPs and ports to the Endpoints resource</a:t>
            </a:r>
            <a:r>
              <a:rPr lang="en-US" altLang="ko-KR" sz="1400" dirty="0"/>
              <a:t>. Remember, </a:t>
            </a:r>
            <a:r>
              <a:rPr lang="en-US" altLang="ko-KR" sz="1400" b="1" dirty="0">
                <a:solidFill>
                  <a:srgbClr val="FF0000"/>
                </a:solidFill>
              </a:rPr>
              <a:t>the Endpoints object is a standalone object</a:t>
            </a:r>
            <a:r>
              <a:rPr lang="en-US" altLang="ko-KR" sz="1400" dirty="0"/>
              <a:t>, so the controller creates it if necessary. Likewise, it also deletes the Endpoints object when the Service is deleted.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5CA78D2-E99C-097D-8CB9-03F08C3C13E9}"/>
              </a:ext>
            </a:extLst>
          </p:cNvPr>
          <p:cNvGrpSpPr/>
          <p:nvPr/>
        </p:nvGrpSpPr>
        <p:grpSpPr>
          <a:xfrm>
            <a:off x="4011561" y="3859027"/>
            <a:ext cx="4168877" cy="2271252"/>
            <a:chOff x="4011561" y="3859027"/>
            <a:chExt cx="4168877" cy="2271252"/>
          </a:xfrm>
        </p:grpSpPr>
        <p:pic>
          <p:nvPicPr>
            <p:cNvPr id="8" name="그림 7">
              <a:extLst>
                <a:ext uri="{FF2B5EF4-FFF2-40B4-BE49-F238E27FC236}">
                  <a16:creationId xmlns:a16="http://schemas.microsoft.com/office/drawing/2014/main" id="{C507B355-4434-6F50-0A50-720337024A00}"/>
                </a:ext>
              </a:extLst>
            </p:cNvPr>
            <p:cNvPicPr>
              <a:picLocks noChangeAspect="1"/>
            </p:cNvPicPr>
            <p:nvPr/>
          </p:nvPicPr>
          <p:blipFill>
            <a:blip r:embed="rId2"/>
            <a:stretch>
              <a:fillRect/>
            </a:stretch>
          </p:blipFill>
          <p:spPr>
            <a:xfrm>
              <a:off x="4011561" y="3859027"/>
              <a:ext cx="4168877" cy="2271252"/>
            </a:xfrm>
            <a:prstGeom prst="rect">
              <a:avLst/>
            </a:prstGeom>
          </p:spPr>
        </p:pic>
        <p:sp>
          <p:nvSpPr>
            <p:cNvPr id="9" name="직사각형 8">
              <a:extLst>
                <a:ext uri="{FF2B5EF4-FFF2-40B4-BE49-F238E27FC236}">
                  <a16:creationId xmlns:a16="http://schemas.microsoft.com/office/drawing/2014/main" id="{A3CEA3FF-DB5A-0327-AD8D-4D9E53F58488}"/>
                </a:ext>
              </a:extLst>
            </p:cNvPr>
            <p:cNvSpPr/>
            <p:nvPr/>
          </p:nvSpPr>
          <p:spPr>
            <a:xfrm>
              <a:off x="4288779" y="4466804"/>
              <a:ext cx="1019596" cy="5664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A7A6B461-2DA0-2E30-B47F-ECFBFFC57E70}"/>
                </a:ext>
              </a:extLst>
            </p:cNvPr>
            <p:cNvSpPr/>
            <p:nvPr/>
          </p:nvSpPr>
          <p:spPr>
            <a:xfrm>
              <a:off x="6740665" y="5284099"/>
              <a:ext cx="1173346" cy="3398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178525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Architecture(30/39)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Controllers Running in the Controller Manager :</a:t>
            </a:r>
          </a:p>
          <a:p>
            <a:pPr lvl="1">
              <a:buFont typeface="Wingdings" panose="05000000000000000000" pitchFamily="2" charset="2"/>
              <a:buChar char="§"/>
            </a:pPr>
            <a:r>
              <a:rPr lang="en-US" altLang="ko-KR" sz="1400" b="1" dirty="0"/>
              <a:t>Most resources belong to a specific namespace</a:t>
            </a:r>
            <a:r>
              <a:rPr lang="en-US" altLang="ko-KR" sz="1400" dirty="0"/>
              <a:t>. </a:t>
            </a:r>
            <a:r>
              <a:rPr lang="en-US" altLang="ko-KR" sz="1400" b="1" dirty="0"/>
              <a:t>When a </a:t>
            </a:r>
            <a:r>
              <a:rPr lang="en-US" altLang="ko-KR" sz="1400" b="1" dirty="0">
                <a:solidFill>
                  <a:srgbClr val="FF0000"/>
                </a:solidFill>
              </a:rPr>
              <a:t>Namespace resource</a:t>
            </a:r>
            <a:r>
              <a:rPr lang="en-US" altLang="ko-KR" sz="1400" b="1" dirty="0"/>
              <a:t> is deleted, all the resources in that namespace must also be deleted</a:t>
            </a:r>
            <a:r>
              <a:rPr lang="en-US" altLang="ko-KR" sz="1400" dirty="0"/>
              <a:t>. This is what the </a:t>
            </a:r>
            <a:r>
              <a:rPr lang="en-US" altLang="ko-KR" sz="1400" b="1" dirty="0">
                <a:solidFill>
                  <a:srgbClr val="FF0000"/>
                </a:solidFill>
              </a:rPr>
              <a:t>Namespace</a:t>
            </a:r>
            <a:r>
              <a:rPr lang="en-US" altLang="ko-KR" sz="1400" b="1" dirty="0"/>
              <a:t> controller </a:t>
            </a:r>
            <a:r>
              <a:rPr lang="en-US" altLang="ko-KR" sz="1400" dirty="0"/>
              <a:t>does. </a:t>
            </a:r>
            <a:r>
              <a:rPr lang="en-US" altLang="ko-KR" sz="1400" b="1" dirty="0"/>
              <a:t>When it’s notified of the deletion of a Namespace object, it deletes all the resources belonging to the namespace through the API server</a:t>
            </a:r>
            <a:r>
              <a:rPr lang="en-US" altLang="ko-KR" sz="1400" dirty="0"/>
              <a:t>.</a:t>
            </a:r>
          </a:p>
          <a:p>
            <a:pPr lvl="1">
              <a:buFont typeface="Wingdings" panose="05000000000000000000" pitchFamily="2" charset="2"/>
              <a:buChar char="§"/>
            </a:pPr>
            <a:r>
              <a:rPr lang="en-US" altLang="ko-KR" sz="1400" b="1" dirty="0"/>
              <a:t>Once a user creates a </a:t>
            </a:r>
            <a:r>
              <a:rPr lang="en-US" altLang="ko-KR" sz="1400" b="1" dirty="0" err="1"/>
              <a:t>PersistentVolumeClaim</a:t>
            </a:r>
            <a:r>
              <a:rPr lang="en-US" altLang="ko-KR" sz="1400" b="1" dirty="0"/>
              <a:t>, Kubernetes must find an appropriate </a:t>
            </a:r>
            <a:r>
              <a:rPr lang="en-US" altLang="ko-KR" sz="1400" b="1" dirty="0" err="1"/>
              <a:t>PersistentVolume</a:t>
            </a:r>
            <a:r>
              <a:rPr lang="en-US" altLang="ko-KR" sz="1400" b="1" dirty="0"/>
              <a:t> and bind it to the claim</a:t>
            </a:r>
            <a:r>
              <a:rPr lang="en-US" altLang="ko-KR" sz="1400" dirty="0"/>
              <a:t>. This is performed by </a:t>
            </a:r>
            <a:r>
              <a:rPr lang="en-US" altLang="ko-KR" sz="1400" b="1" dirty="0"/>
              <a:t>the </a:t>
            </a:r>
            <a:r>
              <a:rPr lang="en-US" altLang="ko-KR" sz="1400" b="1" dirty="0" err="1">
                <a:solidFill>
                  <a:srgbClr val="FF0000"/>
                </a:solidFill>
              </a:rPr>
              <a:t>PersistentVolume</a:t>
            </a:r>
            <a:r>
              <a:rPr lang="en-US" altLang="ko-KR" sz="1400" b="1" dirty="0"/>
              <a:t> controller</a:t>
            </a:r>
            <a:r>
              <a:rPr lang="en-US" altLang="ko-KR" sz="1400" dirty="0"/>
              <a:t>. </a:t>
            </a:r>
            <a:r>
              <a:rPr lang="en-US" altLang="ko-KR" sz="1400" b="1" dirty="0"/>
              <a:t>When a </a:t>
            </a:r>
            <a:r>
              <a:rPr lang="en-US" altLang="ko-KR" sz="1400" b="1" dirty="0" err="1"/>
              <a:t>PersistentVolumeClaim</a:t>
            </a:r>
            <a:r>
              <a:rPr lang="en-US" altLang="ko-KR" sz="1400" b="1" dirty="0"/>
              <a:t> pops up, the controller finds the best match for the claim by </a:t>
            </a:r>
            <a:r>
              <a:rPr lang="en-US" altLang="ko-KR" sz="1400" b="1" dirty="0">
                <a:solidFill>
                  <a:srgbClr val="FF0000"/>
                </a:solidFill>
              </a:rPr>
              <a:t>selecting the smallest </a:t>
            </a:r>
            <a:r>
              <a:rPr lang="en-US" altLang="ko-KR" sz="1400" b="1" dirty="0" err="1">
                <a:solidFill>
                  <a:srgbClr val="FF0000"/>
                </a:solidFill>
              </a:rPr>
              <a:t>PersistentVolume</a:t>
            </a:r>
            <a:r>
              <a:rPr lang="en-US" altLang="ko-KR" sz="1400" b="1" dirty="0">
                <a:solidFill>
                  <a:srgbClr val="FF0000"/>
                </a:solidFill>
              </a:rPr>
              <a:t> </a:t>
            </a:r>
            <a:r>
              <a:rPr lang="en-US" altLang="ko-KR" sz="1400" b="1" dirty="0"/>
              <a:t>with the access mode matching the one requested in the claim and the declared capacity above the capacity requested in the claim</a:t>
            </a:r>
            <a:r>
              <a:rPr lang="en-US" altLang="ko-KR" sz="1400" dirty="0"/>
              <a:t>. It does this by </a:t>
            </a:r>
            <a:r>
              <a:rPr lang="en-US" altLang="ko-KR" sz="1400" b="1" dirty="0"/>
              <a:t>keeping an ordered list of </a:t>
            </a:r>
            <a:r>
              <a:rPr lang="en-US" altLang="ko-KR" sz="1400" b="1" dirty="0" err="1"/>
              <a:t>PersistentVolumes</a:t>
            </a:r>
            <a:r>
              <a:rPr lang="en-US" altLang="ko-KR" sz="1400" b="1" dirty="0"/>
              <a:t> for each access mode by ascending capacity and returning the first volume from the list.</a:t>
            </a:r>
            <a:r>
              <a:rPr lang="en-US" altLang="ko-KR" sz="1400" dirty="0"/>
              <a:t> Then, when the user deletes the </a:t>
            </a:r>
            <a:r>
              <a:rPr lang="en-US" altLang="ko-KR" sz="1400" b="1" dirty="0" err="1"/>
              <a:t>PersistentVolumeClaim</a:t>
            </a:r>
            <a:r>
              <a:rPr lang="en-US" altLang="ko-KR" sz="1400" dirty="0"/>
              <a:t>, </a:t>
            </a:r>
            <a:r>
              <a:rPr lang="en-US" altLang="ko-KR" sz="1400" b="1" dirty="0"/>
              <a:t>the volume is unbound and reclaimed according to </a:t>
            </a:r>
            <a:r>
              <a:rPr lang="en-US" altLang="ko-KR" sz="1400" b="1" dirty="0">
                <a:solidFill>
                  <a:srgbClr val="FF0000"/>
                </a:solidFill>
              </a:rPr>
              <a:t>the volume’s reclaim policy </a:t>
            </a:r>
            <a:r>
              <a:rPr lang="en-US" altLang="ko-KR" sz="1400" dirty="0"/>
              <a:t>(</a:t>
            </a:r>
            <a:r>
              <a:rPr lang="en-US" altLang="ko-KR" sz="1400" b="1" dirty="0"/>
              <a:t>left</a:t>
            </a:r>
            <a:r>
              <a:rPr lang="en-US" altLang="ko-KR" sz="1400" dirty="0"/>
              <a:t> as is, </a:t>
            </a:r>
            <a:r>
              <a:rPr lang="en-US" altLang="ko-KR" sz="1400" b="1" dirty="0"/>
              <a:t>deleted</a:t>
            </a:r>
            <a:r>
              <a:rPr lang="en-US" altLang="ko-KR" sz="1400" dirty="0"/>
              <a:t>, or </a:t>
            </a:r>
            <a:r>
              <a:rPr lang="en-US" altLang="ko-KR" sz="1400" b="1" dirty="0"/>
              <a:t>emptied</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F0AA83F-4203-784B-534A-512C1BEAC708}"/>
              </a:ext>
            </a:extLst>
          </p:cNvPr>
          <p:cNvPicPr>
            <a:picLocks noChangeAspect="1"/>
          </p:cNvPicPr>
          <p:nvPr/>
        </p:nvPicPr>
        <p:blipFill>
          <a:blip r:embed="rId2"/>
          <a:stretch>
            <a:fillRect/>
          </a:stretch>
        </p:blipFill>
        <p:spPr>
          <a:xfrm>
            <a:off x="4142293" y="3234256"/>
            <a:ext cx="3907414" cy="3174774"/>
          </a:xfrm>
          <a:prstGeom prst="rect">
            <a:avLst/>
          </a:prstGeom>
        </p:spPr>
      </p:pic>
    </p:spTree>
    <p:extLst>
      <p:ext uri="{BB962C8B-B14F-4D97-AF65-F5344CB8AC3E}">
        <p14:creationId xmlns:p14="http://schemas.microsoft.com/office/powerpoint/2010/main" val="16441630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Architecture(31/39)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Controllers Running in the Controller Manager :</a:t>
            </a:r>
          </a:p>
          <a:p>
            <a:pPr lvl="1">
              <a:buFont typeface="Wingdings" panose="05000000000000000000" pitchFamily="2" charset="2"/>
              <a:buChar char="§"/>
            </a:pPr>
            <a:r>
              <a:rPr lang="en-US" altLang="ko-KR" sz="1400" b="1" dirty="0"/>
              <a:t>All these controllers operate on the API objects through the API server</a:t>
            </a:r>
            <a:r>
              <a:rPr lang="en-US" altLang="ko-KR" sz="1400" dirty="0"/>
              <a:t>. </a:t>
            </a:r>
            <a:r>
              <a:rPr lang="en-US" altLang="ko-KR" sz="1400" b="1" dirty="0"/>
              <a:t>They </a:t>
            </a:r>
            <a:r>
              <a:rPr lang="en-US" altLang="ko-KR" sz="1400" b="1" dirty="0">
                <a:solidFill>
                  <a:srgbClr val="FF0000"/>
                </a:solidFill>
              </a:rPr>
              <a:t>don’t communicate with the </a:t>
            </a:r>
            <a:r>
              <a:rPr lang="en-US" altLang="ko-KR" sz="1400" b="1" dirty="0" err="1">
                <a:solidFill>
                  <a:srgbClr val="FF0000"/>
                </a:solidFill>
              </a:rPr>
              <a:t>Kubelets</a:t>
            </a:r>
            <a:r>
              <a:rPr lang="en-US" altLang="ko-KR" sz="1400" b="1" dirty="0">
                <a:solidFill>
                  <a:srgbClr val="FF0000"/>
                </a:solidFill>
              </a:rPr>
              <a:t> directly</a:t>
            </a:r>
            <a:r>
              <a:rPr lang="en-US" altLang="ko-KR" sz="1400" b="1" dirty="0"/>
              <a:t> or issue any kind of instructions to them</a:t>
            </a:r>
            <a:r>
              <a:rPr lang="en-US" altLang="ko-KR" sz="1400" dirty="0"/>
              <a:t>. In fact, they don’t even know </a:t>
            </a:r>
            <a:r>
              <a:rPr lang="en-US" altLang="ko-KR" sz="1400" b="1" dirty="0" err="1"/>
              <a:t>Kubelets</a:t>
            </a:r>
            <a:r>
              <a:rPr lang="en-US" altLang="ko-KR" sz="1400" dirty="0"/>
              <a:t> exist. </a:t>
            </a:r>
            <a:r>
              <a:rPr lang="en-US" altLang="ko-KR" sz="1400" b="1" dirty="0"/>
              <a:t>After a controller updates a resource in the API server, the </a:t>
            </a:r>
            <a:r>
              <a:rPr lang="en-US" altLang="ko-KR" sz="1400" b="1" dirty="0" err="1"/>
              <a:t>Kubelets</a:t>
            </a:r>
            <a:r>
              <a:rPr lang="en-US" altLang="ko-KR" sz="1400" b="1" dirty="0"/>
              <a:t> and Kubernetes Service Proxies, also oblivious of the controllers’ existence</a:t>
            </a:r>
            <a:r>
              <a:rPr lang="en-US" altLang="ko-KR" sz="1400" dirty="0"/>
              <a:t>, </a:t>
            </a:r>
            <a:r>
              <a:rPr lang="en-US" altLang="ko-KR" sz="1400" b="1" dirty="0"/>
              <a:t>perform their work</a:t>
            </a:r>
            <a:r>
              <a:rPr lang="en-US" altLang="ko-KR" sz="1400" dirty="0"/>
              <a:t>, such as spinning up a pod’s containers and attaching network storage to them, or in the case of services, setting up the actual load balancing across pods.</a:t>
            </a:r>
          </a:p>
          <a:p>
            <a:pPr lvl="1">
              <a:buFont typeface="Wingdings" panose="05000000000000000000" pitchFamily="2" charset="2"/>
              <a:buChar char="§"/>
            </a:pPr>
            <a:r>
              <a:rPr lang="en-US" altLang="ko-KR" sz="1400" b="1" dirty="0"/>
              <a:t>The Control Plane handles one part of the operation of the whole system, so to fully understand how things unfold in a Kubernetes cluster, you also need to understand what the </a:t>
            </a:r>
            <a:r>
              <a:rPr lang="en-US" altLang="ko-KR" sz="1400" b="1" dirty="0" err="1">
                <a:solidFill>
                  <a:srgbClr val="FF0000"/>
                </a:solidFill>
              </a:rPr>
              <a:t>Kubelet</a:t>
            </a:r>
            <a:r>
              <a:rPr lang="en-US" altLang="ko-KR" sz="1400" b="1" dirty="0"/>
              <a:t> and the </a:t>
            </a:r>
            <a:r>
              <a:rPr lang="en-US" altLang="ko-KR" sz="1400" b="1" dirty="0">
                <a:solidFill>
                  <a:srgbClr val="FF0000"/>
                </a:solidFill>
              </a:rPr>
              <a:t>Kubernetes Service Proxy </a:t>
            </a:r>
            <a:r>
              <a:rPr lang="en-US" altLang="ko-KR" sz="1400" b="1" dirty="0"/>
              <a:t>do</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167EB52F-97FE-25A1-077F-32CC4A4A9B4C}"/>
              </a:ext>
            </a:extLst>
          </p:cNvPr>
          <p:cNvPicPr>
            <a:picLocks noChangeAspect="1"/>
          </p:cNvPicPr>
          <p:nvPr/>
        </p:nvPicPr>
        <p:blipFill>
          <a:blip r:embed="rId2"/>
          <a:stretch>
            <a:fillRect/>
          </a:stretch>
        </p:blipFill>
        <p:spPr>
          <a:xfrm>
            <a:off x="3675850" y="2913785"/>
            <a:ext cx="4840299" cy="3442565"/>
          </a:xfrm>
          <a:prstGeom prst="rect">
            <a:avLst/>
          </a:prstGeom>
        </p:spPr>
      </p:pic>
    </p:spTree>
    <p:extLst>
      <p:ext uri="{BB962C8B-B14F-4D97-AF65-F5344CB8AC3E}">
        <p14:creationId xmlns:p14="http://schemas.microsoft.com/office/powerpoint/2010/main" val="28306073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Architecture(32/39)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the </a:t>
            </a:r>
            <a:r>
              <a:rPr lang="en-US" altLang="ko-KR" sz="1800" b="1" dirty="0" err="1"/>
              <a:t>Kubelet</a:t>
            </a:r>
            <a:r>
              <a:rPr lang="en-US" altLang="ko-KR" sz="1800" b="1" dirty="0"/>
              <a:t> Does :</a:t>
            </a:r>
          </a:p>
          <a:p>
            <a:pPr lvl="1">
              <a:buFont typeface="Wingdings" panose="05000000000000000000" pitchFamily="2" charset="2"/>
              <a:buChar char="§"/>
            </a:pPr>
            <a:r>
              <a:rPr lang="en-US" altLang="ko-KR" sz="1400" dirty="0"/>
              <a:t>In contrast to all the controllers, which are part of the Kubernetes Control Plane and run on the master node(s), </a:t>
            </a:r>
            <a:r>
              <a:rPr lang="en-US" altLang="ko-KR" sz="1400" b="1" dirty="0"/>
              <a:t>the </a:t>
            </a:r>
            <a:r>
              <a:rPr lang="en-US" altLang="ko-KR" sz="1400" b="1" dirty="0" err="1">
                <a:solidFill>
                  <a:srgbClr val="FF0000"/>
                </a:solidFill>
              </a:rPr>
              <a:t>Kubelet</a:t>
            </a:r>
            <a:r>
              <a:rPr lang="en-US" altLang="ko-KR" sz="1400" b="1" dirty="0"/>
              <a:t> and the </a:t>
            </a:r>
            <a:r>
              <a:rPr lang="en-US" altLang="ko-KR" sz="1400" b="1" dirty="0">
                <a:solidFill>
                  <a:srgbClr val="FF0000"/>
                </a:solidFill>
              </a:rPr>
              <a:t>Service Proxy </a:t>
            </a:r>
            <a:r>
              <a:rPr lang="en-US" altLang="ko-KR" sz="1400" b="1" dirty="0"/>
              <a:t>both run on the worker nodes</a:t>
            </a:r>
            <a:r>
              <a:rPr lang="en-US" altLang="ko-KR" sz="1400" dirty="0"/>
              <a:t>, where the actual pods containers run. </a:t>
            </a:r>
          </a:p>
          <a:p>
            <a:pPr lvl="1">
              <a:buFont typeface="Wingdings" panose="05000000000000000000" pitchFamily="2" charset="2"/>
              <a:buChar char="§"/>
            </a:pPr>
            <a:r>
              <a:rPr lang="en-US" altLang="ko-KR" sz="1400" b="1" dirty="0"/>
              <a:t>The </a:t>
            </a:r>
            <a:r>
              <a:rPr lang="en-US" altLang="ko-KR" sz="1400" b="1" dirty="0" err="1">
                <a:solidFill>
                  <a:srgbClr val="FF0000"/>
                </a:solidFill>
              </a:rPr>
              <a:t>Kubelet</a:t>
            </a:r>
            <a:r>
              <a:rPr lang="en-US" altLang="ko-KR" sz="1400" b="1" dirty="0"/>
              <a:t> is the component responsible for everything running on a worker node</a:t>
            </a:r>
            <a:r>
              <a:rPr lang="en-US" altLang="ko-KR" sz="1400" dirty="0"/>
              <a:t>. Its initial job is to </a:t>
            </a:r>
            <a:r>
              <a:rPr lang="en-US" altLang="ko-KR" sz="1400" b="1" dirty="0"/>
              <a:t>register the node it’s running on by creating a Node resource in the API server</a:t>
            </a:r>
            <a:r>
              <a:rPr lang="en-US" altLang="ko-KR" sz="1400" dirty="0"/>
              <a:t>. Then it needs to </a:t>
            </a:r>
            <a:r>
              <a:rPr lang="en-US" altLang="ko-KR" sz="1400" b="1" dirty="0"/>
              <a:t>continuously monitor the API server for Pods </a:t>
            </a:r>
            <a:r>
              <a:rPr lang="en-US" altLang="ko-KR" sz="1400" dirty="0"/>
              <a:t>that have been scheduled to the node, and </a:t>
            </a:r>
            <a:r>
              <a:rPr lang="en-US" altLang="ko-KR" sz="1400" b="1" dirty="0"/>
              <a:t>start the pod’s containers</a:t>
            </a:r>
            <a:r>
              <a:rPr lang="en-US" altLang="ko-KR" sz="1400" dirty="0"/>
              <a:t>. It does this by telling the configured container runtime (which is </a:t>
            </a:r>
            <a:r>
              <a:rPr lang="en-US" altLang="ko-KR" sz="1400" b="1" dirty="0"/>
              <a:t>Docker</a:t>
            </a:r>
            <a:r>
              <a:rPr lang="en-US" altLang="ko-KR" sz="1400" dirty="0"/>
              <a:t>, </a:t>
            </a:r>
            <a:r>
              <a:rPr lang="en-US" altLang="ko-KR" sz="1400" b="1" dirty="0"/>
              <a:t>CoreOS’ </a:t>
            </a:r>
            <a:r>
              <a:rPr lang="en-US" altLang="ko-KR" sz="1400" b="1" dirty="0" err="1"/>
              <a:t>rkt</a:t>
            </a:r>
            <a:r>
              <a:rPr lang="en-US" altLang="ko-KR" sz="1400" dirty="0"/>
              <a:t>, or something else) to run a container from a specific container image. </a:t>
            </a:r>
            <a:r>
              <a:rPr lang="en-US" altLang="ko-KR" sz="1400" b="1" dirty="0"/>
              <a:t>The </a:t>
            </a:r>
            <a:r>
              <a:rPr lang="en-US" altLang="ko-KR" sz="1400" b="1" dirty="0" err="1"/>
              <a:t>Kubelet</a:t>
            </a:r>
            <a:r>
              <a:rPr lang="en-US" altLang="ko-KR" sz="1400" b="1" dirty="0"/>
              <a:t> then constantly monitors running containers and reports their status, events, and resource consumption to the API server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F23F262-75DD-3B10-85F4-7037B374DA46}"/>
              </a:ext>
            </a:extLst>
          </p:cNvPr>
          <p:cNvSpPr txBox="1"/>
          <p:nvPr/>
        </p:nvSpPr>
        <p:spPr>
          <a:xfrm>
            <a:off x="838199" y="2738268"/>
            <a:ext cx="6323251" cy="1061829"/>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Kubelet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is also the component that runs the container liveness probes, restarting containers when the probes fail. Lastly, it terminates containers when their Pod is deleted from the API server and notifies the server that the pod has terminated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grpSp>
        <p:nvGrpSpPr>
          <p:cNvPr id="12" name="그룹 11">
            <a:extLst>
              <a:ext uri="{FF2B5EF4-FFF2-40B4-BE49-F238E27FC236}">
                <a16:creationId xmlns:a16="http://schemas.microsoft.com/office/drawing/2014/main" id="{6BFF23FF-ADA8-8632-FA30-13C1583D4062}"/>
              </a:ext>
            </a:extLst>
          </p:cNvPr>
          <p:cNvGrpSpPr/>
          <p:nvPr/>
        </p:nvGrpSpPr>
        <p:grpSpPr>
          <a:xfrm>
            <a:off x="7161451" y="2643539"/>
            <a:ext cx="4192349" cy="3765491"/>
            <a:chOff x="7161451" y="2643539"/>
            <a:chExt cx="4192349" cy="3765491"/>
          </a:xfrm>
        </p:grpSpPr>
        <p:pic>
          <p:nvPicPr>
            <p:cNvPr id="4" name="그림 3">
              <a:extLst>
                <a:ext uri="{FF2B5EF4-FFF2-40B4-BE49-F238E27FC236}">
                  <a16:creationId xmlns:a16="http://schemas.microsoft.com/office/drawing/2014/main" id="{ED0696A4-69B0-60C9-9E0E-A5C51B841055}"/>
                </a:ext>
              </a:extLst>
            </p:cNvPr>
            <p:cNvPicPr>
              <a:picLocks noChangeAspect="1"/>
            </p:cNvPicPr>
            <p:nvPr/>
          </p:nvPicPr>
          <p:blipFill>
            <a:blip r:embed="rId2"/>
            <a:stretch>
              <a:fillRect/>
            </a:stretch>
          </p:blipFill>
          <p:spPr>
            <a:xfrm>
              <a:off x="7161451" y="2643539"/>
              <a:ext cx="4192349" cy="3765491"/>
            </a:xfrm>
            <a:prstGeom prst="rect">
              <a:avLst/>
            </a:prstGeom>
          </p:spPr>
        </p:pic>
        <p:sp>
          <p:nvSpPr>
            <p:cNvPr id="10" name="직사각형 9">
              <a:extLst>
                <a:ext uri="{FF2B5EF4-FFF2-40B4-BE49-F238E27FC236}">
                  <a16:creationId xmlns:a16="http://schemas.microsoft.com/office/drawing/2014/main" id="{17C76A14-FE9A-69CF-9D79-E88272389866}"/>
                </a:ext>
              </a:extLst>
            </p:cNvPr>
            <p:cNvSpPr/>
            <p:nvPr/>
          </p:nvSpPr>
          <p:spPr>
            <a:xfrm>
              <a:off x="9265381" y="3705368"/>
              <a:ext cx="979136" cy="7695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F2B74C2B-9AE5-3C06-E4C9-7980D11EBA85}"/>
                </a:ext>
              </a:extLst>
            </p:cNvPr>
            <p:cNvSpPr/>
            <p:nvPr/>
          </p:nvSpPr>
          <p:spPr>
            <a:xfrm>
              <a:off x="9273473" y="5489129"/>
              <a:ext cx="979136" cy="7695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042382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Architecture(33/39)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the </a:t>
            </a:r>
            <a:r>
              <a:rPr lang="en-US" altLang="ko-KR" sz="1800" b="1" dirty="0" err="1"/>
              <a:t>Kubelet</a:t>
            </a:r>
            <a:r>
              <a:rPr lang="en-US" altLang="ko-KR" sz="1800" b="1" dirty="0"/>
              <a:t> Does :</a:t>
            </a:r>
          </a:p>
          <a:p>
            <a:pPr lvl="1">
              <a:buFont typeface="Wingdings" panose="05000000000000000000" pitchFamily="2" charset="2"/>
              <a:buChar char="§"/>
            </a:pPr>
            <a:r>
              <a:rPr lang="en-US" altLang="ko-KR" sz="1400" b="1" dirty="0"/>
              <a:t>Although the </a:t>
            </a:r>
            <a:r>
              <a:rPr lang="en-US" altLang="ko-KR" sz="1400" b="1" dirty="0" err="1"/>
              <a:t>Kubelet</a:t>
            </a:r>
            <a:r>
              <a:rPr lang="en-US" altLang="ko-KR" sz="1400" b="1" dirty="0"/>
              <a:t> talks to the Kubernetes API server and gets the pod manifests from there, it can also run pods based on pod manifest files in a specific local directory </a:t>
            </a:r>
            <a:r>
              <a:rPr lang="en-US" altLang="ko-KR" sz="1400" dirty="0"/>
              <a:t>as shown in the following figure. </a:t>
            </a:r>
            <a:r>
              <a:rPr lang="en-US" altLang="ko-KR" sz="1400" b="1" dirty="0"/>
              <a:t>This feature is used to run the containerized versions of the Control Plane components as pods</a:t>
            </a:r>
            <a:r>
              <a:rPr lang="en-US" altLang="ko-KR" sz="1400" dirty="0"/>
              <a:t>. Instead of running Kubernetes system components natively, </a:t>
            </a:r>
            <a:r>
              <a:rPr lang="en-US" altLang="ko-KR" sz="1400" b="1" dirty="0"/>
              <a:t>you can put their pod manifests into the </a:t>
            </a:r>
            <a:r>
              <a:rPr lang="en-US" altLang="ko-KR" sz="1400" b="1" dirty="0" err="1"/>
              <a:t>Kubelet’s</a:t>
            </a:r>
            <a:r>
              <a:rPr lang="en-US" altLang="ko-KR" sz="1400" b="1" dirty="0"/>
              <a:t> manifest directory and have the </a:t>
            </a:r>
            <a:r>
              <a:rPr lang="en-US" altLang="ko-KR" sz="1400" b="1" dirty="0" err="1"/>
              <a:t>Kubelet</a:t>
            </a:r>
            <a:r>
              <a:rPr lang="en-US" altLang="ko-KR" sz="1400" b="1" dirty="0"/>
              <a:t> run and manage them. </a:t>
            </a:r>
            <a:r>
              <a:rPr lang="en-US" altLang="ko-KR" sz="1400" dirty="0"/>
              <a:t>You can also use the same method to </a:t>
            </a:r>
            <a:r>
              <a:rPr lang="en-US" altLang="ko-KR" sz="1400" b="1" dirty="0"/>
              <a:t>run your custom system containers</a:t>
            </a:r>
            <a:r>
              <a:rPr lang="en-US" altLang="ko-KR" sz="1400" dirty="0"/>
              <a:t>, but doing it through a </a:t>
            </a:r>
            <a:r>
              <a:rPr lang="en-US" altLang="ko-KR" sz="1400" b="1" dirty="0" err="1"/>
              <a:t>DaemonSet</a:t>
            </a:r>
            <a:r>
              <a:rPr lang="en-US" altLang="ko-KR" sz="1400" dirty="0"/>
              <a:t> is the recommended method.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2C1F9B4-458D-4D20-DC79-67C71FB5644D}"/>
              </a:ext>
            </a:extLst>
          </p:cNvPr>
          <p:cNvGrpSpPr/>
          <p:nvPr/>
        </p:nvGrpSpPr>
        <p:grpSpPr>
          <a:xfrm>
            <a:off x="3405187" y="2548585"/>
            <a:ext cx="5381625" cy="2886075"/>
            <a:chOff x="3405187" y="2548585"/>
            <a:chExt cx="5381625" cy="2886075"/>
          </a:xfrm>
        </p:grpSpPr>
        <p:pic>
          <p:nvPicPr>
            <p:cNvPr id="8" name="그림 7">
              <a:extLst>
                <a:ext uri="{FF2B5EF4-FFF2-40B4-BE49-F238E27FC236}">
                  <a16:creationId xmlns:a16="http://schemas.microsoft.com/office/drawing/2014/main" id="{7483420B-1BF7-6D3E-2A6A-1F37595A1889}"/>
                </a:ext>
              </a:extLst>
            </p:cNvPr>
            <p:cNvPicPr>
              <a:picLocks noChangeAspect="1"/>
            </p:cNvPicPr>
            <p:nvPr/>
          </p:nvPicPr>
          <p:blipFill>
            <a:blip r:embed="rId2"/>
            <a:stretch>
              <a:fillRect/>
            </a:stretch>
          </p:blipFill>
          <p:spPr>
            <a:xfrm>
              <a:off x="3405187" y="2548585"/>
              <a:ext cx="5381625" cy="2886075"/>
            </a:xfrm>
            <a:prstGeom prst="rect">
              <a:avLst/>
            </a:prstGeom>
          </p:spPr>
        </p:pic>
        <p:sp>
          <p:nvSpPr>
            <p:cNvPr id="9" name="직사각형 8">
              <a:extLst>
                <a:ext uri="{FF2B5EF4-FFF2-40B4-BE49-F238E27FC236}">
                  <a16:creationId xmlns:a16="http://schemas.microsoft.com/office/drawing/2014/main" id="{78046367-18E4-E926-10CD-011B7AA701E0}"/>
                </a:ext>
              </a:extLst>
            </p:cNvPr>
            <p:cNvSpPr/>
            <p:nvPr/>
          </p:nvSpPr>
          <p:spPr>
            <a:xfrm>
              <a:off x="5623965" y="3163986"/>
              <a:ext cx="817295" cy="4531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347118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Architecture(34/39)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Role of the Kubernetes Service Proxy :</a:t>
            </a:r>
          </a:p>
          <a:p>
            <a:pPr lvl="1">
              <a:buFont typeface="Wingdings" panose="05000000000000000000" pitchFamily="2" charset="2"/>
              <a:buChar char="§"/>
            </a:pPr>
            <a:r>
              <a:rPr lang="en-US" altLang="ko-KR" sz="1400" b="1" dirty="0"/>
              <a:t>Beside the </a:t>
            </a:r>
            <a:r>
              <a:rPr lang="en-US" altLang="ko-KR" sz="1400" b="1" dirty="0" err="1"/>
              <a:t>Kubelet</a:t>
            </a:r>
            <a:r>
              <a:rPr lang="en-US" altLang="ko-KR" sz="1400" b="1" dirty="0"/>
              <a:t>, every worker node also runs the </a:t>
            </a:r>
            <a:r>
              <a:rPr lang="en-US" altLang="ko-KR" sz="1400" b="1" dirty="0" err="1">
                <a:solidFill>
                  <a:srgbClr val="FF0000"/>
                </a:solidFill>
              </a:rPr>
              <a:t>kube</a:t>
            </a:r>
            <a:r>
              <a:rPr lang="en-US" altLang="ko-KR" sz="1400" b="1" dirty="0">
                <a:solidFill>
                  <a:srgbClr val="FF0000"/>
                </a:solidFill>
              </a:rPr>
              <a:t>-proxy</a:t>
            </a:r>
            <a:r>
              <a:rPr lang="en-US" altLang="ko-KR" sz="1400" dirty="0"/>
              <a:t>, </a:t>
            </a:r>
            <a:r>
              <a:rPr lang="en-US" altLang="ko-KR" sz="1400" b="1" dirty="0"/>
              <a:t>whose purpose is to make sure clients can connect to the services you define through the Kubernetes API</a:t>
            </a:r>
            <a:r>
              <a:rPr lang="en-US" altLang="ko-KR" sz="1400" dirty="0"/>
              <a:t>. </a:t>
            </a:r>
            <a:r>
              <a:rPr lang="en-US" altLang="ko-KR" sz="1400" b="1" dirty="0"/>
              <a:t>The </a:t>
            </a:r>
            <a:r>
              <a:rPr lang="en-US" altLang="ko-KR" sz="1400" b="1" dirty="0" err="1"/>
              <a:t>kube</a:t>
            </a:r>
            <a:r>
              <a:rPr lang="en-US" altLang="ko-KR" sz="1400" b="1" dirty="0"/>
              <a:t>-proxy makes sure connections to the service IP and port end up at one of the pods backing that service (or other, non-pod service endpoints). </a:t>
            </a:r>
            <a:r>
              <a:rPr lang="en-US" altLang="ko-KR" sz="1400" dirty="0"/>
              <a:t>When a service is backed by more than one pod, </a:t>
            </a:r>
            <a:r>
              <a:rPr lang="en-US" altLang="ko-KR" sz="1400" b="1" dirty="0"/>
              <a:t>the proxy performs </a:t>
            </a:r>
            <a:r>
              <a:rPr lang="en-US" altLang="ko-KR" sz="1400" b="1" dirty="0">
                <a:solidFill>
                  <a:srgbClr val="FF0000"/>
                </a:solidFill>
              </a:rPr>
              <a:t>load balancing </a:t>
            </a:r>
            <a:r>
              <a:rPr lang="en-US" altLang="ko-KR" sz="1400" b="1" dirty="0"/>
              <a:t>across those pods</a:t>
            </a:r>
            <a:r>
              <a:rPr lang="en-US" altLang="ko-KR" sz="1400" dirty="0"/>
              <a:t>. </a:t>
            </a:r>
          </a:p>
          <a:p>
            <a:pPr lvl="1">
              <a:buFont typeface="Wingdings" panose="05000000000000000000" pitchFamily="2" charset="2"/>
              <a:buChar char="§"/>
            </a:pPr>
            <a:r>
              <a:rPr lang="en-US" altLang="ko-KR" sz="1400" b="1" dirty="0"/>
              <a:t>The initial implementation of the </a:t>
            </a:r>
            <a:r>
              <a:rPr lang="en-US" altLang="ko-KR" sz="1400" b="1" dirty="0" err="1"/>
              <a:t>kube</a:t>
            </a:r>
            <a:r>
              <a:rPr lang="en-US" altLang="ko-KR" sz="1400" b="1" dirty="0"/>
              <a:t>-proxy was the </a:t>
            </a:r>
            <a:r>
              <a:rPr lang="en-US" altLang="ko-KR" sz="1400" b="1" dirty="0" err="1">
                <a:solidFill>
                  <a:srgbClr val="FF0000"/>
                </a:solidFill>
              </a:rPr>
              <a:t>userspace</a:t>
            </a:r>
            <a:r>
              <a:rPr lang="en-US" altLang="ko-KR" sz="1400" b="1" dirty="0"/>
              <a:t> proxy</a:t>
            </a:r>
            <a:r>
              <a:rPr lang="en-US" altLang="ko-KR" sz="1400" dirty="0"/>
              <a:t>. </a:t>
            </a:r>
            <a:r>
              <a:rPr lang="en-US" altLang="ko-KR" sz="1400" b="1" dirty="0"/>
              <a:t>It used an actual server process to accept connections and proxy them to the pods</a:t>
            </a:r>
            <a:r>
              <a:rPr lang="en-US" altLang="ko-KR" sz="1400" dirty="0"/>
              <a:t>. To intercept connections destined to the service IPs, </a:t>
            </a:r>
            <a:r>
              <a:rPr lang="en-US" altLang="ko-KR" sz="1400" b="1" dirty="0"/>
              <a:t>the proxy configured </a:t>
            </a:r>
            <a:r>
              <a:rPr lang="en-US" altLang="ko-KR" sz="1400" b="1" dirty="0">
                <a:solidFill>
                  <a:srgbClr val="FF0000"/>
                </a:solidFill>
              </a:rPr>
              <a:t>iptables</a:t>
            </a:r>
            <a:r>
              <a:rPr lang="en-US" altLang="ko-KR" sz="1400" b="1" dirty="0"/>
              <a:t> rules (iptables is the tool for managing the Linux kernel’s </a:t>
            </a:r>
            <a:r>
              <a:rPr lang="en-US" altLang="ko-KR" sz="1400" b="1" dirty="0">
                <a:solidFill>
                  <a:srgbClr val="FF0000"/>
                </a:solidFill>
              </a:rPr>
              <a:t>packet filtering</a:t>
            </a:r>
            <a:r>
              <a:rPr lang="en-US" altLang="ko-KR" sz="1400" b="1" dirty="0"/>
              <a:t> features) to redirect the connections to the proxy server</a:t>
            </a:r>
            <a:r>
              <a:rPr lang="en-US" altLang="ko-KR" sz="1400" dirty="0"/>
              <a:t>. A rough diagram of the </a:t>
            </a:r>
            <a:r>
              <a:rPr lang="en-US" altLang="ko-KR" sz="1400" b="1" dirty="0" err="1"/>
              <a:t>userspace</a:t>
            </a:r>
            <a:r>
              <a:rPr lang="en-US" altLang="ko-KR" sz="1400" dirty="0"/>
              <a:t> proxy mode is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33D47D5D-2E44-2A06-725E-B616A26D31B2}"/>
              </a:ext>
            </a:extLst>
          </p:cNvPr>
          <p:cNvGrpSpPr/>
          <p:nvPr/>
        </p:nvGrpSpPr>
        <p:grpSpPr>
          <a:xfrm>
            <a:off x="3677264" y="3386517"/>
            <a:ext cx="4837471" cy="1082679"/>
            <a:chOff x="3677264" y="3070608"/>
            <a:chExt cx="4837471" cy="1082679"/>
          </a:xfrm>
        </p:grpSpPr>
        <p:pic>
          <p:nvPicPr>
            <p:cNvPr id="8" name="그림 7">
              <a:extLst>
                <a:ext uri="{FF2B5EF4-FFF2-40B4-BE49-F238E27FC236}">
                  <a16:creationId xmlns:a16="http://schemas.microsoft.com/office/drawing/2014/main" id="{C74178EC-73B3-573D-4B8A-5AC25FF0D397}"/>
                </a:ext>
              </a:extLst>
            </p:cNvPr>
            <p:cNvPicPr>
              <a:picLocks noChangeAspect="1"/>
            </p:cNvPicPr>
            <p:nvPr/>
          </p:nvPicPr>
          <p:blipFill>
            <a:blip r:embed="rId2"/>
            <a:stretch>
              <a:fillRect/>
            </a:stretch>
          </p:blipFill>
          <p:spPr>
            <a:xfrm>
              <a:off x="3677264" y="3070608"/>
              <a:ext cx="4837471" cy="1042219"/>
            </a:xfrm>
            <a:prstGeom prst="rect">
              <a:avLst/>
            </a:prstGeom>
          </p:spPr>
        </p:pic>
        <p:sp>
          <p:nvSpPr>
            <p:cNvPr id="9" name="직사각형 8">
              <a:extLst>
                <a:ext uri="{FF2B5EF4-FFF2-40B4-BE49-F238E27FC236}">
                  <a16:creationId xmlns:a16="http://schemas.microsoft.com/office/drawing/2014/main" id="{67A26427-1388-BFB7-3E59-BEEF347EFBF5}"/>
                </a:ext>
              </a:extLst>
            </p:cNvPr>
            <p:cNvSpPr/>
            <p:nvPr/>
          </p:nvSpPr>
          <p:spPr>
            <a:xfrm>
              <a:off x="4750025" y="3469460"/>
              <a:ext cx="1197621" cy="6838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182873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Architecture(35/39)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Role of the Kubernetes Service Proxy :</a:t>
            </a:r>
          </a:p>
          <a:p>
            <a:pPr lvl="1">
              <a:buFont typeface="Wingdings" panose="05000000000000000000" pitchFamily="2" charset="2"/>
              <a:buChar char="§"/>
            </a:pPr>
            <a:r>
              <a:rPr lang="en-US" altLang="ko-KR" sz="1400" b="1" dirty="0"/>
              <a:t>The </a:t>
            </a:r>
            <a:r>
              <a:rPr lang="en-US" altLang="ko-KR" sz="1400" b="1" dirty="0" err="1"/>
              <a:t>kube</a:t>
            </a:r>
            <a:r>
              <a:rPr lang="en-US" altLang="ko-KR" sz="1400" b="1" dirty="0"/>
              <a:t>-proxy got its name because it was an actual proxy</a:t>
            </a:r>
            <a:r>
              <a:rPr lang="en-US" altLang="ko-KR" sz="1400" dirty="0"/>
              <a:t>, but the current, much better performing implementation </a:t>
            </a:r>
            <a:r>
              <a:rPr lang="en-US" altLang="ko-KR" sz="1400" b="1" dirty="0"/>
              <a:t>only uses iptables rules to redirect packets to a randomly selected backend pod without passing them through an actual proxy server</a:t>
            </a:r>
            <a:r>
              <a:rPr lang="en-US" altLang="ko-KR" sz="1400" dirty="0"/>
              <a:t>. This mode is called the </a:t>
            </a:r>
            <a:r>
              <a:rPr lang="en-US" altLang="ko-KR" sz="1400" b="1" dirty="0">
                <a:solidFill>
                  <a:srgbClr val="FF0000"/>
                </a:solidFill>
              </a:rPr>
              <a:t>iptables proxy mode</a:t>
            </a:r>
            <a:r>
              <a:rPr lang="en-US" altLang="ko-KR" sz="1400" dirty="0"/>
              <a:t> and is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major difference between these two modes is whether packets pass through the </a:t>
            </a:r>
            <a:r>
              <a:rPr lang="en-US" altLang="ko-KR" sz="1400" b="1" dirty="0" err="1"/>
              <a:t>kube</a:t>
            </a:r>
            <a:r>
              <a:rPr lang="en-US" altLang="ko-KR" sz="1400" b="1" dirty="0"/>
              <a:t>-proxy and must be handled in user space, or whether they’re handled only by the Kernel (in kernel space)</a:t>
            </a:r>
            <a:r>
              <a:rPr lang="en-US" altLang="ko-KR" sz="1400" dirty="0"/>
              <a:t>. This has a major impact on </a:t>
            </a:r>
            <a:r>
              <a:rPr lang="en-US" altLang="ko-KR" sz="1400" b="1" dirty="0"/>
              <a:t>performance</a:t>
            </a:r>
            <a:r>
              <a:rPr lang="en-US" altLang="ko-KR" sz="1400" dirty="0"/>
              <a:t>. </a:t>
            </a:r>
          </a:p>
          <a:p>
            <a:pPr lvl="1">
              <a:buFont typeface="Wingdings" panose="05000000000000000000" pitchFamily="2" charset="2"/>
              <a:buChar char="§"/>
            </a:pPr>
            <a:r>
              <a:rPr lang="en-US" altLang="ko-KR" sz="1400" b="1" dirty="0"/>
              <a:t>Another smaller difference is that the </a:t>
            </a:r>
            <a:r>
              <a:rPr lang="en-US" altLang="ko-KR" sz="1400" b="1" dirty="0" err="1">
                <a:solidFill>
                  <a:srgbClr val="FF0000"/>
                </a:solidFill>
              </a:rPr>
              <a:t>userspace</a:t>
            </a:r>
            <a:r>
              <a:rPr lang="en-US" altLang="ko-KR" sz="1400" b="1" dirty="0"/>
              <a:t> proxy mode balanced connections across pods in a </a:t>
            </a:r>
            <a:r>
              <a:rPr lang="en-US" altLang="ko-KR" sz="1400" b="1" dirty="0">
                <a:solidFill>
                  <a:srgbClr val="FF0000"/>
                </a:solidFill>
              </a:rPr>
              <a:t>true round-robin</a:t>
            </a:r>
            <a:r>
              <a:rPr lang="en-US" altLang="ko-KR" sz="1400" b="1" dirty="0"/>
              <a:t> fashion</a:t>
            </a:r>
            <a:r>
              <a:rPr lang="en-US" altLang="ko-KR" sz="1400" dirty="0"/>
              <a:t>, </a:t>
            </a:r>
            <a:r>
              <a:rPr lang="en-US" altLang="ko-KR" sz="1400" b="1" dirty="0"/>
              <a:t>while the iptables proxy mode doesn’t—it selects pods </a:t>
            </a:r>
            <a:r>
              <a:rPr lang="en-US" altLang="ko-KR" sz="1400" b="1" dirty="0">
                <a:solidFill>
                  <a:srgbClr val="FF0000"/>
                </a:solidFill>
              </a:rPr>
              <a:t>randomly</a:t>
            </a:r>
            <a:r>
              <a:rPr lang="en-US" altLang="ko-KR" sz="1400" dirty="0"/>
              <a:t>. When only a few clients use a service, they may not be spread evenly across pods. For example, if a service has two backing pods but only five or so clients, don’t be surprised if you see four clients connect to pod A and only one client connect to pod B. With a higher number of clients or pods, this problem isn’t so apparent.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3A73F6B6-3576-A0BD-B667-EB774099AC4E}"/>
              </a:ext>
            </a:extLst>
          </p:cNvPr>
          <p:cNvGrpSpPr/>
          <p:nvPr/>
        </p:nvGrpSpPr>
        <p:grpSpPr>
          <a:xfrm>
            <a:off x="3696929" y="2131142"/>
            <a:ext cx="4798142" cy="1297858"/>
            <a:chOff x="3696929" y="2003235"/>
            <a:chExt cx="4798142" cy="1297858"/>
          </a:xfrm>
        </p:grpSpPr>
        <p:pic>
          <p:nvPicPr>
            <p:cNvPr id="8" name="그림 7">
              <a:extLst>
                <a:ext uri="{FF2B5EF4-FFF2-40B4-BE49-F238E27FC236}">
                  <a16:creationId xmlns:a16="http://schemas.microsoft.com/office/drawing/2014/main" id="{C5CDFDF8-4AAE-CDD0-50C5-456598F4E423}"/>
                </a:ext>
              </a:extLst>
            </p:cNvPr>
            <p:cNvPicPr>
              <a:picLocks noChangeAspect="1"/>
            </p:cNvPicPr>
            <p:nvPr/>
          </p:nvPicPr>
          <p:blipFill>
            <a:blip r:embed="rId2"/>
            <a:stretch>
              <a:fillRect/>
            </a:stretch>
          </p:blipFill>
          <p:spPr>
            <a:xfrm>
              <a:off x="3696929" y="2003235"/>
              <a:ext cx="4798142" cy="1297858"/>
            </a:xfrm>
            <a:prstGeom prst="rect">
              <a:avLst/>
            </a:prstGeom>
          </p:spPr>
        </p:pic>
        <p:sp>
          <p:nvSpPr>
            <p:cNvPr id="9" name="직사각형 8">
              <a:extLst>
                <a:ext uri="{FF2B5EF4-FFF2-40B4-BE49-F238E27FC236}">
                  <a16:creationId xmlns:a16="http://schemas.microsoft.com/office/drawing/2014/main" id="{86F5513F-A175-633E-684F-CFB310D82749}"/>
                </a:ext>
              </a:extLst>
            </p:cNvPr>
            <p:cNvSpPr/>
            <p:nvPr/>
          </p:nvSpPr>
          <p:spPr>
            <a:xfrm>
              <a:off x="6764942" y="2330506"/>
              <a:ext cx="776835" cy="3479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0565467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Architecture(36/39)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Kubernetes Add-Ons :</a:t>
            </a:r>
          </a:p>
          <a:p>
            <a:pPr lvl="1">
              <a:buFont typeface="Wingdings" panose="05000000000000000000" pitchFamily="2" charset="2"/>
              <a:buChar char="§"/>
            </a:pPr>
            <a:r>
              <a:rPr lang="en-US" altLang="ko-KR" sz="1400" dirty="0"/>
              <a:t>We also listed a few </a:t>
            </a:r>
            <a:r>
              <a:rPr lang="en-US" altLang="ko-KR" sz="1400" b="1" dirty="0">
                <a:solidFill>
                  <a:srgbClr val="FF0000"/>
                </a:solidFill>
              </a:rPr>
              <a:t>add-ons</a:t>
            </a:r>
            <a:r>
              <a:rPr lang="en-US" altLang="ko-KR" sz="1400" dirty="0"/>
              <a:t>, </a:t>
            </a:r>
            <a:r>
              <a:rPr lang="en-US" altLang="ko-KR" sz="1400" b="1" dirty="0"/>
              <a:t>which although not always required, enable features such as DNS lookup of Kubernetes services, exposing multiple HTTP services through a single external IP address, the Kubernetes web dashboard, and so on</a:t>
            </a:r>
            <a:r>
              <a:rPr lang="en-US" altLang="ko-KR" sz="1400" dirty="0"/>
              <a:t>.</a:t>
            </a:r>
          </a:p>
          <a:p>
            <a:pPr lvl="1">
              <a:buFont typeface="Wingdings" panose="05000000000000000000" pitchFamily="2" charset="2"/>
              <a:buChar char="§"/>
            </a:pPr>
            <a:r>
              <a:rPr lang="en-US" altLang="ko-KR" sz="1400" b="1" dirty="0"/>
              <a:t>These components are available as add-ons and are </a:t>
            </a:r>
            <a:r>
              <a:rPr lang="en-US" altLang="ko-KR" sz="1400" b="1" dirty="0">
                <a:solidFill>
                  <a:srgbClr val="FF0000"/>
                </a:solidFill>
              </a:rPr>
              <a:t>deployed as pods </a:t>
            </a:r>
            <a:r>
              <a:rPr lang="en-US" altLang="ko-KR" sz="1400" b="1" dirty="0"/>
              <a:t>by submitting YAML manifests to the API server.</a:t>
            </a:r>
            <a:r>
              <a:rPr lang="en-US" altLang="ko-KR" sz="1400" dirty="0"/>
              <a:t> </a:t>
            </a:r>
            <a:r>
              <a:rPr lang="en-US" altLang="ko-KR" sz="1400" b="1" dirty="0"/>
              <a:t>Some of these components are deployed through a Deployment resource or a </a:t>
            </a:r>
            <a:r>
              <a:rPr lang="en-US" altLang="ko-KR" sz="1400" b="1" dirty="0" err="1"/>
              <a:t>ReplicationController</a:t>
            </a:r>
            <a:r>
              <a:rPr lang="en-US" altLang="ko-KR" sz="1400" b="1" dirty="0"/>
              <a:t> resource, and some through a </a:t>
            </a:r>
            <a:r>
              <a:rPr lang="en-US" altLang="ko-KR" sz="1400" b="1" dirty="0" err="1"/>
              <a:t>DaemonSet</a:t>
            </a:r>
            <a:r>
              <a:rPr lang="en-US" altLang="ko-KR" sz="1400" dirty="0"/>
              <a:t>.</a:t>
            </a:r>
          </a:p>
          <a:p>
            <a:pPr lvl="1">
              <a:buFont typeface="Wingdings" panose="05000000000000000000" pitchFamily="2" charset="2"/>
              <a:buChar char="§"/>
            </a:pPr>
            <a:r>
              <a:rPr lang="en-US" altLang="ko-KR" sz="1400" b="1" dirty="0"/>
              <a:t>In </a:t>
            </a:r>
            <a:r>
              <a:rPr lang="en-US" altLang="ko-KR" sz="1400" b="1" dirty="0" err="1"/>
              <a:t>Minikube</a:t>
            </a:r>
            <a:r>
              <a:rPr lang="en-US" altLang="ko-KR" sz="1400" b="1" dirty="0"/>
              <a:t>, the Ingress controller and the dashboard add-ons are deployed as </a:t>
            </a:r>
            <a:r>
              <a:rPr lang="en-US" altLang="ko-KR" sz="1400" b="1" dirty="0" err="1"/>
              <a:t>ReplicationControllers</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C02C017-15B3-D7FC-55B9-96F2654783FD}"/>
              </a:ext>
            </a:extLst>
          </p:cNvPr>
          <p:cNvGrpSpPr/>
          <p:nvPr/>
        </p:nvGrpSpPr>
        <p:grpSpPr>
          <a:xfrm>
            <a:off x="1378644" y="2965213"/>
            <a:ext cx="9434712" cy="3448447"/>
            <a:chOff x="1378644" y="2965213"/>
            <a:chExt cx="9434712" cy="3448447"/>
          </a:xfrm>
        </p:grpSpPr>
        <p:sp>
          <p:nvSpPr>
            <p:cNvPr id="8" name="TextBox 7">
              <a:extLst>
                <a:ext uri="{FF2B5EF4-FFF2-40B4-BE49-F238E27FC236}">
                  <a16:creationId xmlns:a16="http://schemas.microsoft.com/office/drawing/2014/main" id="{A06533E4-B6D8-C8D7-80C0-BCA48A139C5B}"/>
                </a:ext>
              </a:extLst>
            </p:cNvPr>
            <p:cNvSpPr txBox="1"/>
            <p:nvPr/>
          </p:nvSpPr>
          <p:spPr>
            <a:xfrm>
              <a:off x="3047326" y="2965213"/>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t>rc</a:t>
              </a:r>
              <a:r>
                <a:rPr lang="en-US" altLang="ko-KR" sz="1000" b="1" dirty="0"/>
                <a:t> -n </a:t>
              </a:r>
              <a:r>
                <a:rPr lang="en-US" altLang="ko-KR" sz="1000" b="1" dirty="0" err="1"/>
                <a:t>kube</a:t>
              </a:r>
              <a:r>
                <a:rPr lang="en-US" altLang="ko-KR" sz="1000" b="1" dirty="0"/>
                <a:t>-system</a:t>
              </a:r>
            </a:p>
            <a:p>
              <a:r>
                <a:rPr lang="en-US" altLang="ko-KR" sz="1000" b="1" dirty="0"/>
                <a:t>$ </a:t>
              </a:r>
              <a:r>
                <a:rPr lang="en-US" altLang="ko-KR" sz="1000" b="1" dirty="0" err="1"/>
                <a:t>kubectl</a:t>
              </a:r>
              <a:r>
                <a:rPr lang="en-US" altLang="ko-KR" sz="1000" b="1" dirty="0"/>
                <a:t> get deploy -n </a:t>
              </a:r>
              <a:r>
                <a:rPr lang="en-US" altLang="ko-KR" sz="1000" b="1" dirty="0" err="1"/>
                <a:t>kube</a:t>
              </a:r>
              <a:r>
                <a:rPr lang="en-US" altLang="ko-KR" sz="1000" b="1" dirty="0"/>
                <a:t>-system</a:t>
              </a:r>
              <a:endParaRPr lang="ko-KR" altLang="en-US" sz="1000" b="1" dirty="0"/>
            </a:p>
          </p:txBody>
        </p:sp>
        <p:sp>
          <p:nvSpPr>
            <p:cNvPr id="9" name="화살표: 아래쪽 8">
              <a:extLst>
                <a:ext uri="{FF2B5EF4-FFF2-40B4-BE49-F238E27FC236}">
                  <a16:creationId xmlns:a16="http://schemas.microsoft.com/office/drawing/2014/main" id="{A4B59321-5709-0BBE-3E0A-24F1CF042699}"/>
                </a:ext>
              </a:extLst>
            </p:cNvPr>
            <p:cNvSpPr/>
            <p:nvPr/>
          </p:nvSpPr>
          <p:spPr>
            <a:xfrm>
              <a:off x="5869423" y="3365323"/>
              <a:ext cx="453154" cy="3084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F56D8E12-0041-7C1C-3043-ED247BA73A0A}"/>
                </a:ext>
              </a:extLst>
            </p:cNvPr>
            <p:cNvPicPr>
              <a:picLocks noChangeAspect="1"/>
            </p:cNvPicPr>
            <p:nvPr/>
          </p:nvPicPr>
          <p:blipFill>
            <a:blip r:embed="rId2"/>
            <a:stretch>
              <a:fillRect/>
            </a:stretch>
          </p:blipFill>
          <p:spPr>
            <a:xfrm>
              <a:off x="1378644" y="3677594"/>
              <a:ext cx="9434712" cy="2736066"/>
            </a:xfrm>
            <a:prstGeom prst="rect">
              <a:avLst/>
            </a:prstGeom>
          </p:spPr>
        </p:pic>
      </p:grpSp>
      <p:sp>
        <p:nvSpPr>
          <p:cNvPr id="13" name="직사각형 12">
            <a:extLst>
              <a:ext uri="{FF2B5EF4-FFF2-40B4-BE49-F238E27FC236}">
                <a16:creationId xmlns:a16="http://schemas.microsoft.com/office/drawing/2014/main" id="{88974E78-6CF9-C899-98A5-C8C5B3303509}"/>
              </a:ext>
            </a:extLst>
          </p:cNvPr>
          <p:cNvSpPr/>
          <p:nvPr/>
        </p:nvSpPr>
        <p:spPr>
          <a:xfrm>
            <a:off x="5243639" y="4369699"/>
            <a:ext cx="1982549" cy="1861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7339943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Architecture(37/39)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Kubernetes Add-Ons :</a:t>
            </a:r>
          </a:p>
          <a:p>
            <a:pPr lvl="1">
              <a:buFont typeface="Wingdings" panose="05000000000000000000" pitchFamily="2" charset="2"/>
              <a:buChar char="§"/>
            </a:pPr>
            <a:r>
              <a:rPr lang="en-US" altLang="ko-KR" sz="1400" b="1" dirty="0"/>
              <a:t>All the pods in the cluster are configured to use the </a:t>
            </a:r>
            <a:r>
              <a:rPr lang="en-US" altLang="ko-KR" sz="1400" b="1" dirty="0">
                <a:solidFill>
                  <a:srgbClr val="FF0000"/>
                </a:solidFill>
              </a:rPr>
              <a:t>cluster’s internal DNS server </a:t>
            </a:r>
            <a:r>
              <a:rPr lang="en-US" altLang="ko-KR" sz="1400" b="1" dirty="0"/>
              <a:t>by default</a:t>
            </a:r>
            <a:r>
              <a:rPr lang="en-US" altLang="ko-KR" sz="1400" dirty="0"/>
              <a:t>. This allows pods to </a:t>
            </a:r>
            <a:r>
              <a:rPr lang="en-US" altLang="ko-KR" sz="1400" b="1" dirty="0"/>
              <a:t>easily look up services by name or even the pod’s IP addresses in the case of headless services</a:t>
            </a:r>
            <a:r>
              <a:rPr lang="en-US" altLang="ko-KR" sz="1400" dirty="0"/>
              <a:t>.</a:t>
            </a:r>
          </a:p>
          <a:p>
            <a:pPr lvl="1">
              <a:buFont typeface="Wingdings" panose="05000000000000000000" pitchFamily="2" charset="2"/>
              <a:buChar char="§"/>
            </a:pPr>
            <a:r>
              <a:rPr lang="en-US" altLang="ko-KR" sz="1400" b="1" dirty="0"/>
              <a:t>The </a:t>
            </a:r>
            <a:r>
              <a:rPr lang="en-US" altLang="ko-KR" sz="1400" b="1" dirty="0">
                <a:solidFill>
                  <a:srgbClr val="FF0000"/>
                </a:solidFill>
              </a:rPr>
              <a:t>DNS server pod </a:t>
            </a:r>
            <a:r>
              <a:rPr lang="en-US" altLang="ko-KR" sz="1400" b="1" dirty="0"/>
              <a:t>is exposed through </a:t>
            </a:r>
            <a:r>
              <a:rPr lang="en-US" altLang="ko-KR" sz="1400" b="1" dirty="0">
                <a:solidFill>
                  <a:srgbClr val="FF0000"/>
                </a:solidFill>
              </a:rPr>
              <a:t>the </a:t>
            </a:r>
            <a:r>
              <a:rPr lang="en-US" altLang="ko-KR" sz="1400" b="1" dirty="0" err="1">
                <a:solidFill>
                  <a:srgbClr val="FF0000"/>
                </a:solidFill>
              </a:rPr>
              <a:t>kube-dns</a:t>
            </a:r>
            <a:r>
              <a:rPr lang="en-US" altLang="ko-KR" sz="1400" b="1" dirty="0">
                <a:solidFill>
                  <a:srgbClr val="FF0000"/>
                </a:solidFill>
              </a:rPr>
              <a:t>(</a:t>
            </a:r>
            <a:r>
              <a:rPr lang="en-US" altLang="ko-KR" sz="1400" b="1" dirty="0" err="1">
                <a:solidFill>
                  <a:srgbClr val="FF0000"/>
                </a:solidFill>
              </a:rPr>
              <a:t>coredns</a:t>
            </a:r>
            <a:r>
              <a:rPr lang="en-US" altLang="ko-KR" sz="1400" b="1" dirty="0">
                <a:solidFill>
                  <a:srgbClr val="FF0000"/>
                </a:solidFill>
              </a:rPr>
              <a:t> in </a:t>
            </a:r>
            <a:r>
              <a:rPr lang="en-US" altLang="ko-KR" sz="1400" b="1" dirty="0" err="1">
                <a:solidFill>
                  <a:srgbClr val="FF0000"/>
                </a:solidFill>
              </a:rPr>
              <a:t>Minikube</a:t>
            </a:r>
            <a:r>
              <a:rPr lang="en-US" altLang="ko-KR" sz="1400" b="1" dirty="0">
                <a:solidFill>
                  <a:srgbClr val="FF0000"/>
                </a:solidFill>
              </a:rPr>
              <a:t>) service</a:t>
            </a:r>
            <a:r>
              <a:rPr lang="en-US" altLang="ko-KR" sz="1400" dirty="0"/>
              <a:t>, </a:t>
            </a:r>
            <a:r>
              <a:rPr lang="en-US" altLang="ko-KR" sz="1400" b="1" dirty="0"/>
              <a:t>allowing the pod to be moved around the cluster, like any other pod</a:t>
            </a:r>
            <a:r>
              <a:rPr lang="en-US" altLang="ko-KR" sz="1400" dirty="0"/>
              <a:t>. </a:t>
            </a:r>
            <a:r>
              <a:rPr lang="en-US" altLang="ko-KR" sz="1400" b="1" dirty="0"/>
              <a:t>The service’s IP address is specified as the nameserver in the “/</a:t>
            </a:r>
            <a:r>
              <a:rPr lang="en-US" altLang="ko-KR" sz="1400" b="1" dirty="0" err="1"/>
              <a:t>etc</a:t>
            </a:r>
            <a:r>
              <a:rPr lang="en-US" altLang="ko-KR" sz="1400" b="1" dirty="0"/>
              <a:t>/</a:t>
            </a:r>
            <a:r>
              <a:rPr lang="en-US" altLang="ko-KR" sz="1400" b="1" dirty="0" err="1"/>
              <a:t>resolv.conf</a:t>
            </a:r>
            <a:r>
              <a:rPr lang="en-US" altLang="ko-KR" sz="1400" b="1" dirty="0"/>
              <a:t>” file inside every container deployed in the cluster</a:t>
            </a:r>
            <a:r>
              <a:rPr lang="en-US" altLang="ko-KR" sz="1400" dirty="0"/>
              <a:t>. </a:t>
            </a:r>
            <a:r>
              <a:rPr lang="en-US" altLang="ko-KR" sz="1400" b="1" dirty="0"/>
              <a:t>The </a:t>
            </a:r>
            <a:r>
              <a:rPr lang="en-US" altLang="ko-KR" sz="1400" b="1" dirty="0" err="1"/>
              <a:t>kube-dns</a:t>
            </a:r>
            <a:r>
              <a:rPr lang="en-US" altLang="ko-KR" sz="1400" b="1" dirty="0"/>
              <a:t> pod uses the API server’s watch mechanism to observe changes to Services and Endpoints and updates its DNS records with every change, allowing its clients to always get (</a:t>
            </a:r>
            <a:r>
              <a:rPr lang="en-US" altLang="ko-KR" sz="1400" b="1" dirty="0">
                <a:solidFill>
                  <a:srgbClr val="FF0000"/>
                </a:solidFill>
              </a:rPr>
              <a:t>fairly</a:t>
            </a:r>
            <a:r>
              <a:rPr lang="en-US" altLang="ko-KR" sz="1400" b="1" dirty="0"/>
              <a:t>) up-to-date DNS information</a:t>
            </a:r>
            <a:r>
              <a:rPr lang="en-US" altLang="ko-KR" sz="1400" dirty="0"/>
              <a:t>. Because during the time between the update of the Service or Endpoints resource and the time the DNS pod receives the watch notification, the DNS records may be invalid.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B3F850C-57D1-B22C-D997-6B3D359D0BEB}"/>
              </a:ext>
            </a:extLst>
          </p:cNvPr>
          <p:cNvPicPr>
            <a:picLocks noChangeAspect="1"/>
          </p:cNvPicPr>
          <p:nvPr/>
        </p:nvPicPr>
        <p:blipFill>
          <a:blip r:embed="rId2"/>
          <a:stretch>
            <a:fillRect/>
          </a:stretch>
        </p:blipFill>
        <p:spPr>
          <a:xfrm>
            <a:off x="3532173" y="3429000"/>
            <a:ext cx="5127653" cy="2338720"/>
          </a:xfrm>
          <a:prstGeom prst="rect">
            <a:avLst/>
          </a:prstGeom>
        </p:spPr>
      </p:pic>
    </p:spTree>
    <p:extLst>
      <p:ext uri="{BB962C8B-B14F-4D97-AF65-F5344CB8AC3E}">
        <p14:creationId xmlns:p14="http://schemas.microsoft.com/office/powerpoint/2010/main" val="36419850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Architecture(38/39)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Kubernetes Add-Ons :</a:t>
            </a:r>
          </a:p>
          <a:p>
            <a:pPr lvl="1">
              <a:buFont typeface="Wingdings" panose="05000000000000000000" pitchFamily="2" charset="2"/>
              <a:buChar char="§"/>
            </a:pPr>
            <a:r>
              <a:rPr lang="en-US" altLang="ko-KR" sz="1400" b="1" dirty="0"/>
              <a:t>Unlike the DNS add-on, you’ll find a few different implementations of Ingress controllers, but most of them work in the same way.</a:t>
            </a:r>
            <a:r>
              <a:rPr lang="en-US" altLang="ko-KR" sz="1400" dirty="0"/>
              <a:t> </a:t>
            </a:r>
            <a:r>
              <a:rPr lang="en-US" altLang="ko-KR" sz="1400" b="1" dirty="0"/>
              <a:t>An Ingress controller runs </a:t>
            </a:r>
            <a:r>
              <a:rPr lang="en-US" altLang="ko-KR" sz="1400" b="1" dirty="0">
                <a:solidFill>
                  <a:srgbClr val="FF0000"/>
                </a:solidFill>
              </a:rPr>
              <a:t>a reverse proxy server </a:t>
            </a:r>
            <a:r>
              <a:rPr lang="en-US" altLang="ko-KR" sz="1400" b="1" dirty="0"/>
              <a:t>(like </a:t>
            </a:r>
            <a:r>
              <a:rPr lang="en-US" altLang="ko-KR" sz="1400" b="1" dirty="0">
                <a:solidFill>
                  <a:srgbClr val="FF0000"/>
                </a:solidFill>
              </a:rPr>
              <a:t>Nginx</a:t>
            </a:r>
            <a:r>
              <a:rPr lang="en-US" altLang="ko-KR" sz="1400" b="1" dirty="0"/>
              <a:t>, for example), and keeps it configured according to the Ingress, Service, and Endpoints resources defined in the cluster</a:t>
            </a:r>
            <a:r>
              <a:rPr lang="en-US" altLang="ko-KR" sz="1400" dirty="0"/>
              <a:t>. </a:t>
            </a:r>
            <a:r>
              <a:rPr lang="en-US" altLang="ko-KR" sz="1400" b="1" dirty="0"/>
              <a:t>The controller thus needs to observe those resources </a:t>
            </a:r>
            <a:r>
              <a:rPr lang="en-US" altLang="ko-KR" sz="1400" dirty="0"/>
              <a:t>(again, through </a:t>
            </a:r>
            <a:r>
              <a:rPr lang="en-US" altLang="ko-KR" sz="1400" b="1" dirty="0"/>
              <a:t>the watch mechanism</a:t>
            </a:r>
            <a:r>
              <a:rPr lang="en-US" altLang="ko-KR" sz="1400" dirty="0"/>
              <a:t>) and </a:t>
            </a:r>
            <a:r>
              <a:rPr lang="en-US" altLang="ko-KR" sz="1400" b="1" dirty="0"/>
              <a:t>change the proxy server’s config every time one of them changes</a:t>
            </a:r>
            <a:r>
              <a:rPr lang="en-US" altLang="ko-KR" sz="1400" dirty="0"/>
              <a:t>.</a:t>
            </a:r>
          </a:p>
          <a:p>
            <a:pPr lvl="1">
              <a:buFont typeface="Wingdings" panose="05000000000000000000" pitchFamily="2" charset="2"/>
              <a:buChar char="§"/>
            </a:pPr>
            <a:r>
              <a:rPr lang="en-US" altLang="ko-KR" sz="1400" b="1" dirty="0"/>
              <a:t>Although the Ingress resource’s definition points to a Service, Ingress controllers </a:t>
            </a:r>
            <a:r>
              <a:rPr lang="en-US" altLang="ko-KR" sz="1400" b="1" dirty="0">
                <a:solidFill>
                  <a:srgbClr val="FF0000"/>
                </a:solidFill>
              </a:rPr>
              <a:t>forward traffic to the service’s pod directly </a:t>
            </a:r>
            <a:r>
              <a:rPr lang="en-US" altLang="ko-KR" sz="1400" b="1" dirty="0"/>
              <a:t>instead of going through the service IP</a:t>
            </a:r>
            <a:r>
              <a:rPr lang="en-US" altLang="ko-KR" sz="1400" dirty="0"/>
              <a:t>. This affects the preservation of client IPs when external clients connect through the Ingress controller, which makes them preferred over Services in certain use cases.</a:t>
            </a:r>
          </a:p>
          <a:p>
            <a:pPr lvl="1">
              <a:buFont typeface="Wingdings" panose="05000000000000000000" pitchFamily="2" charset="2"/>
              <a:buChar char="§"/>
            </a:pPr>
            <a:r>
              <a:rPr lang="en-US" altLang="ko-KR" sz="1400" b="1" dirty="0"/>
              <a:t>You’ve seen how both the DNS server and the Ingress controller add-ons are similar to the controllers running in the Controller Manager, except that they also accept client connections instead of only observing and modifying resources through the API server</a:t>
            </a:r>
            <a:r>
              <a:rPr lang="en-US" altLang="ko-KR" sz="1400" dirty="0"/>
              <a:t>.  </a:t>
            </a:r>
          </a:p>
          <a:p>
            <a:pPr lvl="1">
              <a:buFont typeface="Wingdings" panose="05000000000000000000" pitchFamily="2" charset="2"/>
              <a:buChar char="§"/>
            </a:pPr>
            <a:r>
              <a:rPr lang="en-US" altLang="ko-KR" sz="1400" b="1" dirty="0"/>
              <a:t>Other add-ons are similar</a:t>
            </a:r>
            <a:r>
              <a:rPr lang="en-US" altLang="ko-KR" sz="1400" dirty="0"/>
              <a:t>. They all need to </a:t>
            </a:r>
            <a:r>
              <a:rPr lang="en-US" altLang="ko-KR" sz="1400" b="1" dirty="0"/>
              <a:t>observe the cluster state and perform the necessary actions </a:t>
            </a:r>
            <a:r>
              <a:rPr lang="en-US" altLang="ko-KR" sz="1400" dirty="0"/>
              <a:t>when that changes.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2F02BA2-8517-79E2-37DB-99B6C7FA1444}"/>
              </a:ext>
            </a:extLst>
          </p:cNvPr>
          <p:cNvPicPr>
            <a:picLocks noChangeAspect="1"/>
          </p:cNvPicPr>
          <p:nvPr/>
        </p:nvPicPr>
        <p:blipFill>
          <a:blip r:embed="rId2"/>
          <a:stretch>
            <a:fillRect/>
          </a:stretch>
        </p:blipFill>
        <p:spPr>
          <a:xfrm>
            <a:off x="3766168" y="3919933"/>
            <a:ext cx="4659663" cy="2489097"/>
          </a:xfrm>
          <a:prstGeom prst="rect">
            <a:avLst/>
          </a:prstGeom>
        </p:spPr>
      </p:pic>
    </p:spTree>
    <p:extLst>
      <p:ext uri="{BB962C8B-B14F-4D97-AF65-F5344CB8AC3E}">
        <p14:creationId xmlns:p14="http://schemas.microsoft.com/office/powerpoint/2010/main" val="39701432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Architecture(39/39)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Bringing It All Together :</a:t>
            </a:r>
          </a:p>
          <a:p>
            <a:pPr lvl="1">
              <a:buFont typeface="Wingdings" panose="05000000000000000000" pitchFamily="2" charset="2"/>
              <a:buChar char="§"/>
            </a:pPr>
            <a:r>
              <a:rPr lang="en-US" altLang="ko-KR" sz="1400" dirty="0"/>
              <a:t>You’ve now learned that </a:t>
            </a:r>
            <a:r>
              <a:rPr lang="en-US" altLang="ko-KR" sz="1400" b="1" dirty="0"/>
              <a:t>the whole Kubernetes system is composed of </a:t>
            </a:r>
            <a:r>
              <a:rPr lang="en-US" altLang="ko-KR" sz="1400" b="1" dirty="0">
                <a:solidFill>
                  <a:srgbClr val="FF0000"/>
                </a:solidFill>
              </a:rPr>
              <a:t>relatively small</a:t>
            </a:r>
            <a:r>
              <a:rPr lang="en-US" altLang="ko-KR" sz="1400" b="1" dirty="0"/>
              <a:t>, </a:t>
            </a:r>
            <a:r>
              <a:rPr lang="en-US" altLang="ko-KR" sz="1400" b="1" dirty="0">
                <a:solidFill>
                  <a:srgbClr val="FF0000"/>
                </a:solidFill>
              </a:rPr>
              <a:t>loosely coupled </a:t>
            </a:r>
            <a:r>
              <a:rPr lang="en-US" altLang="ko-KR" sz="1400" b="1" dirty="0"/>
              <a:t>components with good </a:t>
            </a:r>
            <a:r>
              <a:rPr lang="en-US" altLang="ko-KR" sz="1400" b="1" dirty="0">
                <a:solidFill>
                  <a:srgbClr val="FF0000"/>
                </a:solidFill>
              </a:rPr>
              <a:t>separation of concerns</a:t>
            </a:r>
            <a:r>
              <a:rPr lang="en-US" altLang="ko-KR" sz="1400" dirty="0"/>
              <a:t>. The API server, the </a:t>
            </a:r>
            <a:r>
              <a:rPr lang="en-US" altLang="ko-KR" sz="1400" b="1" dirty="0"/>
              <a:t>Scheduler</a:t>
            </a:r>
            <a:r>
              <a:rPr lang="en-US" altLang="ko-KR" sz="1400" dirty="0"/>
              <a:t>, </a:t>
            </a:r>
            <a:r>
              <a:rPr lang="en-US" altLang="ko-KR" sz="1400" b="1" dirty="0"/>
              <a:t>the individual controllers </a:t>
            </a:r>
            <a:r>
              <a:rPr lang="en-US" altLang="ko-KR" sz="1400" dirty="0"/>
              <a:t>running inside the </a:t>
            </a:r>
            <a:r>
              <a:rPr lang="en-US" altLang="ko-KR" sz="1400" b="1" dirty="0"/>
              <a:t>Controller Manager</a:t>
            </a:r>
            <a:r>
              <a:rPr lang="en-US" altLang="ko-KR" sz="1400" dirty="0"/>
              <a:t>, the </a:t>
            </a:r>
            <a:r>
              <a:rPr lang="en-US" altLang="ko-KR" sz="1400" b="1" dirty="0" err="1"/>
              <a:t>Kubelet</a:t>
            </a:r>
            <a:r>
              <a:rPr lang="en-US" altLang="ko-KR" sz="1400" dirty="0"/>
              <a:t>, and the </a:t>
            </a:r>
            <a:r>
              <a:rPr lang="en-US" altLang="ko-KR" sz="1400" b="1" dirty="0" err="1"/>
              <a:t>kube</a:t>
            </a:r>
            <a:r>
              <a:rPr lang="en-US" altLang="ko-KR" sz="1400" b="1" dirty="0"/>
              <a:t>-proxy </a:t>
            </a:r>
            <a:r>
              <a:rPr lang="en-US" altLang="ko-KR" sz="1400" dirty="0"/>
              <a:t>all work together to keep the actual state of the system synchronized with what you specify as the desired state.</a:t>
            </a:r>
          </a:p>
          <a:p>
            <a:pPr lvl="1">
              <a:buFont typeface="Wingdings" panose="05000000000000000000" pitchFamily="2" charset="2"/>
              <a:buChar char="§"/>
            </a:pPr>
            <a:r>
              <a:rPr lang="en-US" altLang="ko-KR" sz="1400" dirty="0"/>
              <a:t>For example, </a:t>
            </a:r>
            <a:r>
              <a:rPr lang="en-US" altLang="ko-KR" sz="1400" b="1" dirty="0"/>
              <a:t>submitting a pod manifest to the API server triggers a coordinated dance of various Kubernetes components</a:t>
            </a:r>
            <a:r>
              <a:rPr lang="en-US" altLang="ko-KR" sz="1400" dirty="0"/>
              <a:t>, which eventually results in the pod’s containers running.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54FA31E-9308-7574-F6E7-E0AFB3ABE801}"/>
              </a:ext>
            </a:extLst>
          </p:cNvPr>
          <p:cNvPicPr>
            <a:picLocks noChangeAspect="1"/>
          </p:cNvPicPr>
          <p:nvPr/>
        </p:nvPicPr>
        <p:blipFill>
          <a:blip r:embed="rId2"/>
          <a:stretch>
            <a:fillRect/>
          </a:stretch>
        </p:blipFill>
        <p:spPr>
          <a:xfrm>
            <a:off x="3458754" y="2558651"/>
            <a:ext cx="5274492" cy="3850379"/>
          </a:xfrm>
          <a:prstGeom prst="rect">
            <a:avLst/>
          </a:prstGeom>
        </p:spPr>
      </p:pic>
    </p:spTree>
    <p:extLst>
      <p:ext uri="{BB962C8B-B14F-4D97-AF65-F5344CB8AC3E}">
        <p14:creationId xmlns:p14="http://schemas.microsoft.com/office/powerpoint/2010/main" val="22660749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How Controllers Cooperate(1/5)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Which Components Are Involved :</a:t>
            </a:r>
          </a:p>
          <a:p>
            <a:pPr lvl="1">
              <a:buFont typeface="Wingdings" panose="05000000000000000000" pitchFamily="2" charset="2"/>
              <a:buChar char="§"/>
            </a:pPr>
            <a:r>
              <a:rPr lang="en-US" altLang="ko-KR" sz="1400" b="1" dirty="0"/>
              <a:t>Because you normally don’t create Pods directly, you’re going to create a Deployment resource </a:t>
            </a:r>
            <a:r>
              <a:rPr lang="en-US" altLang="ko-KR" sz="1400" dirty="0"/>
              <a:t>instead and see everything that must happen for the pod’s containers to be started.</a:t>
            </a:r>
          </a:p>
          <a:p>
            <a:pPr lvl="1">
              <a:buFont typeface="Wingdings" panose="05000000000000000000" pitchFamily="2" charset="2"/>
              <a:buChar char="§"/>
            </a:pPr>
            <a:r>
              <a:rPr lang="en-US" altLang="ko-KR" sz="1400" b="1" dirty="0"/>
              <a:t>Even before you start the whole process, the controllers, the Scheduler, and the </a:t>
            </a:r>
            <a:r>
              <a:rPr lang="en-US" altLang="ko-KR" sz="1400" b="1" dirty="0" err="1"/>
              <a:t>Kubelet</a:t>
            </a:r>
            <a:r>
              <a:rPr lang="en-US" altLang="ko-KR" sz="1400" b="1" dirty="0"/>
              <a:t> are watching the API server for changes to their respective resource types</a:t>
            </a:r>
            <a:r>
              <a:rPr lang="en-US" altLang="ko-KR" sz="1400" dirty="0"/>
              <a:t>. This is shown in the following figure. The components depicted in the figure will each play a part in the process you’re about to trigger. </a:t>
            </a:r>
            <a:r>
              <a:rPr lang="en-US" altLang="ko-KR" sz="1400" b="1" dirty="0"/>
              <a:t>The diagram doesn’t include </a:t>
            </a:r>
            <a:r>
              <a:rPr lang="en-US" altLang="ko-KR" sz="1400" b="1" dirty="0" err="1"/>
              <a:t>etcd</a:t>
            </a:r>
            <a:r>
              <a:rPr lang="en-US" altLang="ko-KR" sz="1400" b="1" dirty="0"/>
              <a:t>, because it’s hidden behind the API server</a:t>
            </a:r>
            <a:r>
              <a:rPr lang="en-US" altLang="ko-KR" sz="1400" dirty="0"/>
              <a:t>, </a:t>
            </a:r>
            <a:r>
              <a:rPr lang="en-US" altLang="ko-KR" sz="1400" b="1" dirty="0"/>
              <a:t>and you can think of the API server as the place where objects are stored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5BBE514-894F-9E8E-122E-C98E178C763F}"/>
              </a:ext>
            </a:extLst>
          </p:cNvPr>
          <p:cNvPicPr>
            <a:picLocks noChangeAspect="1"/>
          </p:cNvPicPr>
          <p:nvPr/>
        </p:nvPicPr>
        <p:blipFill>
          <a:blip r:embed="rId2"/>
          <a:stretch>
            <a:fillRect/>
          </a:stretch>
        </p:blipFill>
        <p:spPr>
          <a:xfrm>
            <a:off x="3614737" y="2918148"/>
            <a:ext cx="4962525" cy="2219325"/>
          </a:xfrm>
          <a:prstGeom prst="rect">
            <a:avLst/>
          </a:prstGeom>
        </p:spPr>
      </p:pic>
    </p:spTree>
    <p:extLst>
      <p:ext uri="{BB962C8B-B14F-4D97-AF65-F5344CB8AC3E}">
        <p14:creationId xmlns:p14="http://schemas.microsoft.com/office/powerpoint/2010/main" val="2131536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How Controllers Cooperate(2/5)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Chain of Events :</a:t>
            </a:r>
          </a:p>
          <a:p>
            <a:pPr lvl="1">
              <a:buFont typeface="Wingdings" panose="05000000000000000000" pitchFamily="2" charset="2"/>
              <a:buChar char="§"/>
            </a:pPr>
            <a:r>
              <a:rPr lang="en-US" altLang="ko-KR" sz="1400" dirty="0"/>
              <a:t>Imagine you prepared </a:t>
            </a:r>
            <a:r>
              <a:rPr lang="en-US" altLang="ko-KR" sz="1400" b="1" dirty="0"/>
              <a:t>the YAML file containing the Deployment manifest </a:t>
            </a:r>
            <a:r>
              <a:rPr lang="en-US" altLang="ko-KR" sz="1400" dirty="0"/>
              <a:t>and you’re about to </a:t>
            </a:r>
            <a:r>
              <a:rPr lang="en-US" altLang="ko-KR" sz="1400" b="1" dirty="0"/>
              <a:t>submit it to Kubernetes through </a:t>
            </a:r>
            <a:r>
              <a:rPr lang="en-US" altLang="ko-KR" sz="1400" b="1" dirty="0" err="1">
                <a:solidFill>
                  <a:srgbClr val="FF0000"/>
                </a:solidFill>
              </a:rPr>
              <a:t>kubectl</a:t>
            </a:r>
            <a:r>
              <a:rPr lang="en-US" altLang="ko-KR" sz="1400" dirty="0"/>
              <a:t>. </a:t>
            </a:r>
            <a:r>
              <a:rPr lang="en-US" altLang="ko-KR" sz="1400" b="1" dirty="0" err="1"/>
              <a:t>kubectl</a:t>
            </a:r>
            <a:r>
              <a:rPr lang="en-US" altLang="ko-KR" sz="1400" b="1" dirty="0"/>
              <a:t> sends the manifest to the </a:t>
            </a:r>
            <a:r>
              <a:rPr lang="en-US" altLang="ko-KR" sz="1400" b="1" dirty="0">
                <a:solidFill>
                  <a:srgbClr val="FF0000"/>
                </a:solidFill>
              </a:rPr>
              <a:t>Kubernetes API server </a:t>
            </a:r>
            <a:r>
              <a:rPr lang="en-US" altLang="ko-KR" sz="1400" b="1" dirty="0"/>
              <a:t>in an </a:t>
            </a:r>
            <a:r>
              <a:rPr lang="en-US" altLang="ko-KR" sz="1400" b="1" dirty="0">
                <a:solidFill>
                  <a:srgbClr val="FF0000"/>
                </a:solidFill>
              </a:rPr>
              <a:t>HTTP POST </a:t>
            </a:r>
            <a:r>
              <a:rPr lang="en-US" altLang="ko-KR" sz="1400" b="1" dirty="0"/>
              <a:t>request</a:t>
            </a:r>
            <a:r>
              <a:rPr lang="en-US" altLang="ko-KR" sz="1400" dirty="0"/>
              <a:t>. </a:t>
            </a:r>
            <a:r>
              <a:rPr lang="en-US" altLang="ko-KR" sz="1400" b="1" dirty="0"/>
              <a:t>The API server validates the Deployment specification</a:t>
            </a:r>
            <a:r>
              <a:rPr lang="en-US" altLang="ko-KR" sz="1400" dirty="0"/>
              <a:t>, </a:t>
            </a:r>
            <a:r>
              <a:rPr lang="en-US" altLang="ko-KR" sz="1400" b="1" dirty="0"/>
              <a:t>stores it in </a:t>
            </a:r>
            <a:r>
              <a:rPr lang="en-US" altLang="ko-KR" sz="1400" b="1" dirty="0" err="1"/>
              <a:t>etcd</a:t>
            </a:r>
            <a:r>
              <a:rPr lang="en-US" altLang="ko-KR" sz="1400" dirty="0"/>
              <a:t>, and </a:t>
            </a:r>
            <a:r>
              <a:rPr lang="en-US" altLang="ko-KR" sz="1400" b="1" dirty="0"/>
              <a:t>returns a response to </a:t>
            </a:r>
            <a:r>
              <a:rPr lang="en-US" altLang="ko-KR" sz="1400" b="1" dirty="0" err="1"/>
              <a:t>kubectl</a:t>
            </a:r>
            <a:r>
              <a:rPr lang="en-US" altLang="ko-KR" sz="1400" dirty="0"/>
              <a:t>. Now a chain of events starts to unfold, 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0670721-9375-33CA-B8F8-CF0F9B3E4584}"/>
              </a:ext>
            </a:extLst>
          </p:cNvPr>
          <p:cNvPicPr>
            <a:picLocks noChangeAspect="1"/>
          </p:cNvPicPr>
          <p:nvPr/>
        </p:nvPicPr>
        <p:blipFill>
          <a:blip r:embed="rId2"/>
          <a:stretch>
            <a:fillRect/>
          </a:stretch>
        </p:blipFill>
        <p:spPr>
          <a:xfrm>
            <a:off x="3100387" y="2233905"/>
            <a:ext cx="5991225" cy="3810000"/>
          </a:xfrm>
          <a:prstGeom prst="rect">
            <a:avLst/>
          </a:prstGeom>
        </p:spPr>
      </p:pic>
    </p:spTree>
    <p:extLst>
      <p:ext uri="{BB962C8B-B14F-4D97-AF65-F5344CB8AC3E}">
        <p14:creationId xmlns:p14="http://schemas.microsoft.com/office/powerpoint/2010/main" val="427623758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How Controllers Cooperate(3/5)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Chain of Events :</a:t>
            </a:r>
          </a:p>
          <a:p>
            <a:pPr lvl="1">
              <a:buFont typeface="Wingdings" panose="05000000000000000000" pitchFamily="2" charset="2"/>
              <a:buChar char="§"/>
            </a:pPr>
            <a:r>
              <a:rPr lang="en-US" altLang="ko-KR" sz="1400" b="1" dirty="0"/>
              <a:t>All API server clients watching the list of Deployments through the API server’s watch mechanism are notified of the newly created Deployment resource immediately after it’s created</a:t>
            </a:r>
            <a:r>
              <a:rPr lang="en-US" altLang="ko-KR" sz="1400" dirty="0"/>
              <a:t>. One of those clients is the </a:t>
            </a:r>
            <a:r>
              <a:rPr lang="en-US" altLang="ko-KR" sz="1400" b="1" dirty="0">
                <a:solidFill>
                  <a:srgbClr val="FF0000"/>
                </a:solidFill>
              </a:rPr>
              <a:t>Deployment controller</a:t>
            </a:r>
            <a:r>
              <a:rPr lang="en-US" altLang="ko-KR" sz="1400" b="1" dirty="0"/>
              <a:t>, which is the active component responsible for handling Deployments</a:t>
            </a:r>
            <a:r>
              <a:rPr lang="en-US" altLang="ko-KR" sz="1400" dirty="0"/>
              <a:t>.</a:t>
            </a:r>
          </a:p>
          <a:p>
            <a:pPr lvl="1">
              <a:buFont typeface="Wingdings" panose="05000000000000000000" pitchFamily="2" charset="2"/>
              <a:buChar char="§"/>
            </a:pPr>
            <a:r>
              <a:rPr lang="en-US" altLang="ko-KR" sz="1400" b="1" dirty="0"/>
              <a:t>A Deployment is backed by one or more </a:t>
            </a:r>
            <a:r>
              <a:rPr lang="en-US" altLang="ko-KR" sz="1400" b="1" dirty="0" err="1"/>
              <a:t>ReplicaSets</a:t>
            </a:r>
            <a:r>
              <a:rPr lang="en-US" altLang="ko-KR" sz="1400" b="1" dirty="0"/>
              <a:t>, which then create the actual pods</a:t>
            </a:r>
            <a:r>
              <a:rPr lang="en-US" altLang="ko-KR" sz="1400" dirty="0"/>
              <a:t>. </a:t>
            </a:r>
            <a:r>
              <a:rPr lang="en-US" altLang="ko-KR" sz="1400" b="1" dirty="0"/>
              <a:t>As a new Deployment object is detected by the Deployment controller, it creates a </a:t>
            </a:r>
            <a:r>
              <a:rPr lang="en-US" altLang="ko-KR" sz="1400" b="1" dirty="0" err="1">
                <a:solidFill>
                  <a:srgbClr val="FF0000"/>
                </a:solidFill>
              </a:rPr>
              <a:t>ReplicaSet</a:t>
            </a:r>
            <a:r>
              <a:rPr lang="en-US" altLang="ko-KR" sz="1400" b="1" dirty="0"/>
              <a:t> for the current specification of the Deployment</a:t>
            </a:r>
            <a:r>
              <a:rPr lang="en-US" altLang="ko-KR" sz="1400" dirty="0"/>
              <a:t>. </a:t>
            </a:r>
            <a:r>
              <a:rPr lang="en-US" altLang="ko-KR" sz="1400" b="1" dirty="0"/>
              <a:t>This involves creating a new </a:t>
            </a:r>
            <a:r>
              <a:rPr lang="en-US" altLang="ko-KR" sz="1400" b="1" dirty="0" err="1"/>
              <a:t>ReplicaSet</a:t>
            </a:r>
            <a:r>
              <a:rPr lang="en-US" altLang="ko-KR" sz="1400" b="1" dirty="0"/>
              <a:t> resource through the Kubernetes API</a:t>
            </a:r>
            <a:r>
              <a:rPr lang="en-US" altLang="ko-KR" sz="1400" dirty="0"/>
              <a:t>. The Deployment controller doesn’t deal with individual pods at all.</a:t>
            </a:r>
          </a:p>
          <a:p>
            <a:pPr lvl="1">
              <a:buFont typeface="Wingdings" panose="05000000000000000000" pitchFamily="2" charset="2"/>
              <a:buChar char="§"/>
            </a:pPr>
            <a:r>
              <a:rPr lang="en-US" altLang="ko-KR" sz="1400" b="1" dirty="0"/>
              <a:t>The newly created </a:t>
            </a:r>
            <a:r>
              <a:rPr lang="en-US" altLang="ko-KR" sz="1400" b="1" dirty="0" err="1"/>
              <a:t>ReplicaSet</a:t>
            </a:r>
            <a:r>
              <a:rPr lang="en-US" altLang="ko-KR" sz="1400" b="1" dirty="0"/>
              <a:t> is then picked up by the </a:t>
            </a:r>
            <a:r>
              <a:rPr lang="en-US" altLang="ko-KR" sz="1400" b="1" dirty="0" err="1">
                <a:solidFill>
                  <a:srgbClr val="FF0000"/>
                </a:solidFill>
              </a:rPr>
              <a:t>ReplicaSet</a:t>
            </a:r>
            <a:r>
              <a:rPr lang="en-US" altLang="ko-KR" sz="1400" b="1" dirty="0">
                <a:solidFill>
                  <a:srgbClr val="FF0000"/>
                </a:solidFill>
              </a:rPr>
              <a:t> controller</a:t>
            </a:r>
            <a:r>
              <a:rPr lang="en-US" altLang="ko-KR" sz="1400" dirty="0"/>
              <a:t>, </a:t>
            </a:r>
            <a:r>
              <a:rPr lang="en-US" altLang="ko-KR" sz="1400" b="1" dirty="0"/>
              <a:t>which watches for creations, modifications, and deletions of </a:t>
            </a:r>
            <a:r>
              <a:rPr lang="en-US" altLang="ko-KR" sz="1400" b="1" dirty="0" err="1"/>
              <a:t>ReplicaSet</a:t>
            </a:r>
            <a:r>
              <a:rPr lang="en-US" altLang="ko-KR" sz="1400" b="1" dirty="0"/>
              <a:t> resources in the API server</a:t>
            </a:r>
            <a:r>
              <a:rPr lang="en-US" altLang="ko-KR" sz="1400" dirty="0"/>
              <a:t>. The controller takes into consideration the </a:t>
            </a:r>
            <a:r>
              <a:rPr lang="en-US" altLang="ko-KR" sz="1400" b="1" dirty="0"/>
              <a:t>replica count </a:t>
            </a:r>
            <a:r>
              <a:rPr lang="en-US" altLang="ko-KR" sz="1400" dirty="0"/>
              <a:t>and </a:t>
            </a:r>
            <a:r>
              <a:rPr lang="en-US" altLang="ko-KR" sz="1400" b="1" dirty="0"/>
              <a:t>pod selector </a:t>
            </a:r>
            <a:r>
              <a:rPr lang="en-US" altLang="ko-KR" sz="1400" dirty="0"/>
              <a:t>defined in the </a:t>
            </a:r>
            <a:r>
              <a:rPr lang="en-US" altLang="ko-KR" sz="1400" b="1" dirty="0" err="1"/>
              <a:t>ReplicaSet</a:t>
            </a:r>
            <a:r>
              <a:rPr lang="en-US" altLang="ko-KR" sz="1400" dirty="0"/>
              <a:t> and verifies whether enough existing Pods match the selector. </a:t>
            </a:r>
            <a:r>
              <a:rPr lang="en-US" altLang="ko-KR" sz="1400" b="1" dirty="0"/>
              <a:t>The controller then creates the Pod resources based on the pod template in the </a:t>
            </a:r>
            <a:r>
              <a:rPr lang="en-US" altLang="ko-KR" sz="1400" b="1" dirty="0" err="1"/>
              <a:t>ReplicaSet</a:t>
            </a:r>
            <a:r>
              <a:rPr lang="en-US" altLang="ko-KR" sz="1400" b="1" dirty="0"/>
              <a:t> (</a:t>
            </a:r>
            <a:r>
              <a:rPr lang="en-US" altLang="ko-KR" sz="1400" b="1" dirty="0">
                <a:solidFill>
                  <a:srgbClr val="FF0000"/>
                </a:solidFill>
              </a:rPr>
              <a:t>the pod template was copied over from the Deployment </a:t>
            </a:r>
            <a:r>
              <a:rPr lang="en-US" altLang="ko-KR" sz="1400" b="1" dirty="0"/>
              <a:t>when the Deployment controller created the </a:t>
            </a:r>
            <a:r>
              <a:rPr lang="en-US" altLang="ko-KR" sz="1400" b="1" dirty="0" err="1"/>
              <a:t>ReplicaSet</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F58C5BEC-E29C-8523-DA35-7F970FB474D8}"/>
              </a:ext>
            </a:extLst>
          </p:cNvPr>
          <p:cNvPicPr>
            <a:picLocks noChangeAspect="1"/>
          </p:cNvPicPr>
          <p:nvPr/>
        </p:nvPicPr>
        <p:blipFill>
          <a:blip r:embed="rId2"/>
          <a:stretch>
            <a:fillRect/>
          </a:stretch>
        </p:blipFill>
        <p:spPr>
          <a:xfrm>
            <a:off x="3399003" y="3785483"/>
            <a:ext cx="5393994" cy="2547525"/>
          </a:xfrm>
          <a:prstGeom prst="rect">
            <a:avLst/>
          </a:prstGeom>
          <a:ln>
            <a:solidFill>
              <a:schemeClr val="bg1">
                <a:lumMod val="50000"/>
              </a:schemeClr>
            </a:solidFill>
          </a:ln>
        </p:spPr>
      </p:pic>
    </p:spTree>
    <p:extLst>
      <p:ext uri="{BB962C8B-B14F-4D97-AF65-F5344CB8AC3E}">
        <p14:creationId xmlns:p14="http://schemas.microsoft.com/office/powerpoint/2010/main" val="300553295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How Controllers Cooperate(4/5)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Chain of Events :</a:t>
            </a:r>
          </a:p>
          <a:p>
            <a:pPr lvl="1">
              <a:buFont typeface="Wingdings" panose="05000000000000000000" pitchFamily="2" charset="2"/>
              <a:buChar char="§"/>
            </a:pPr>
            <a:r>
              <a:rPr lang="en-US" altLang="ko-KR" sz="1400" b="1" dirty="0"/>
              <a:t>The newly created Pods are now stored in </a:t>
            </a:r>
            <a:r>
              <a:rPr lang="en-US" altLang="ko-KR" sz="1400" b="1" dirty="0" err="1">
                <a:solidFill>
                  <a:srgbClr val="FF0000"/>
                </a:solidFill>
              </a:rPr>
              <a:t>etcd</a:t>
            </a:r>
            <a:r>
              <a:rPr lang="en-US" altLang="ko-KR" sz="1400" dirty="0"/>
              <a:t>, but they each still lack one important thing—they don’t have an associated node yet. </a:t>
            </a:r>
            <a:r>
              <a:rPr lang="en-US" altLang="ko-KR" sz="1400" b="1" dirty="0"/>
              <a:t>Their “</a:t>
            </a:r>
            <a:r>
              <a:rPr lang="en-US" altLang="ko-KR" sz="1400" b="1" dirty="0" err="1">
                <a:solidFill>
                  <a:srgbClr val="FF0000"/>
                </a:solidFill>
              </a:rPr>
              <a:t>nodeName</a:t>
            </a:r>
            <a:r>
              <a:rPr lang="en-US" altLang="ko-KR" sz="1400" b="1" dirty="0"/>
              <a:t>“ attribute isn’t set</a:t>
            </a:r>
            <a:r>
              <a:rPr lang="en-US" altLang="ko-KR" sz="1400" dirty="0"/>
              <a:t>. </a:t>
            </a:r>
            <a:r>
              <a:rPr lang="en-US" altLang="ko-KR" sz="1400" b="1" dirty="0"/>
              <a:t>The Scheduler watches for Pods like this, and when it encounters one, chooses the best node for the Pod and assigns the Pod to the node</a:t>
            </a:r>
            <a:r>
              <a:rPr lang="en-US" altLang="ko-KR" sz="1400" dirty="0"/>
              <a:t>. The Pod’s definition now includes </a:t>
            </a:r>
            <a:r>
              <a:rPr lang="en-US" altLang="ko-KR" sz="1400" b="1" dirty="0"/>
              <a:t>the name of the node </a:t>
            </a:r>
            <a:r>
              <a:rPr lang="en-US" altLang="ko-KR" sz="1400" dirty="0"/>
              <a:t>it should be running on.</a:t>
            </a:r>
          </a:p>
          <a:p>
            <a:pPr lvl="1">
              <a:buFont typeface="Wingdings" panose="05000000000000000000" pitchFamily="2" charset="2"/>
              <a:buChar char="§"/>
            </a:pPr>
            <a:r>
              <a:rPr lang="en-US" altLang="ko-KR" sz="1400" b="1" dirty="0"/>
              <a:t>Everything so far has been happening in the </a:t>
            </a:r>
            <a:r>
              <a:rPr lang="en-US" altLang="ko-KR" sz="1400" b="1" dirty="0">
                <a:solidFill>
                  <a:srgbClr val="FF0000"/>
                </a:solidFill>
              </a:rPr>
              <a:t>Kubernetes Control Plane</a:t>
            </a:r>
            <a:r>
              <a:rPr lang="en-US" altLang="ko-KR" sz="1400" dirty="0"/>
              <a:t>. None of the controllers that have taken part in this whole process have done anything tangible except update the resources through the API server.</a:t>
            </a:r>
          </a:p>
          <a:p>
            <a:pPr lvl="1">
              <a:buFont typeface="Wingdings" panose="05000000000000000000" pitchFamily="2" charset="2"/>
              <a:buChar char="§"/>
            </a:pPr>
            <a:r>
              <a:rPr lang="en-US" altLang="ko-KR" sz="1400" b="1" dirty="0"/>
              <a:t>The worker nodes haven’t done anything up to this point</a:t>
            </a:r>
            <a:r>
              <a:rPr lang="en-US" altLang="ko-KR" sz="1400" dirty="0"/>
              <a:t>. </a:t>
            </a:r>
            <a:r>
              <a:rPr lang="en-US" altLang="ko-KR" sz="1400" b="1" dirty="0"/>
              <a:t>The pod’s containers haven’t been started yet. The images for the pod’s containers haven’t even been downloaded yet</a:t>
            </a:r>
            <a:r>
              <a:rPr lang="en-US" altLang="ko-KR" sz="1400" dirty="0"/>
              <a:t>.</a:t>
            </a:r>
          </a:p>
          <a:p>
            <a:pPr lvl="1">
              <a:buFont typeface="Wingdings" panose="05000000000000000000" pitchFamily="2" charset="2"/>
              <a:buChar char="§"/>
            </a:pPr>
            <a:r>
              <a:rPr lang="en-US" altLang="ko-KR" sz="1400" b="1" dirty="0"/>
              <a:t>With the Pod now scheduled to a specific node, the </a:t>
            </a:r>
            <a:r>
              <a:rPr lang="en-US" altLang="ko-KR" sz="1400" b="1" dirty="0" err="1">
                <a:solidFill>
                  <a:srgbClr val="FF0000"/>
                </a:solidFill>
              </a:rPr>
              <a:t>Kubelet</a:t>
            </a:r>
            <a:r>
              <a:rPr lang="en-US" altLang="ko-KR" sz="1400" b="1" dirty="0"/>
              <a:t> on that node can finally get to work</a:t>
            </a:r>
            <a:r>
              <a:rPr lang="en-US" altLang="ko-KR" sz="1400" dirty="0"/>
              <a:t>. </a:t>
            </a:r>
            <a:r>
              <a:rPr lang="en-US" altLang="ko-KR" sz="1400" b="1" dirty="0"/>
              <a:t>The </a:t>
            </a:r>
            <a:r>
              <a:rPr lang="en-US" altLang="ko-KR" sz="1400" b="1" dirty="0" err="1"/>
              <a:t>Kubelet</a:t>
            </a:r>
            <a:r>
              <a:rPr lang="en-US" altLang="ko-KR" sz="1400" b="1" dirty="0"/>
              <a:t>, watching for changes to Pods on the API server, sees a new Pod scheduled to its node, so it inspects the Pod definition and instructs Docker, or whatever container runtime it’s using, to start the pod’s containers</a:t>
            </a:r>
            <a:r>
              <a:rPr lang="en-US" altLang="ko-KR" sz="1400" dirty="0"/>
              <a:t>. </a:t>
            </a:r>
            <a:r>
              <a:rPr lang="en-US" altLang="ko-KR" sz="1400" b="1" dirty="0">
                <a:solidFill>
                  <a:srgbClr val="FF0000"/>
                </a:solidFill>
              </a:rPr>
              <a:t>The container runtime </a:t>
            </a:r>
            <a:r>
              <a:rPr lang="en-US" altLang="ko-KR" sz="1400" b="1" dirty="0"/>
              <a:t>then runs the containers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771301C-D2CD-75B0-147A-4EFC3A68EC4B}"/>
              </a:ext>
            </a:extLst>
          </p:cNvPr>
          <p:cNvPicPr>
            <a:picLocks noChangeAspect="1"/>
          </p:cNvPicPr>
          <p:nvPr/>
        </p:nvPicPr>
        <p:blipFill>
          <a:blip r:embed="rId2"/>
          <a:stretch>
            <a:fillRect/>
          </a:stretch>
        </p:blipFill>
        <p:spPr>
          <a:xfrm>
            <a:off x="3441114" y="3783351"/>
            <a:ext cx="5309772" cy="2526315"/>
          </a:xfrm>
          <a:prstGeom prst="rect">
            <a:avLst/>
          </a:prstGeom>
        </p:spPr>
      </p:pic>
    </p:spTree>
    <p:extLst>
      <p:ext uri="{BB962C8B-B14F-4D97-AF65-F5344CB8AC3E}">
        <p14:creationId xmlns:p14="http://schemas.microsoft.com/office/powerpoint/2010/main" val="52356896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How Controllers Cooperate(5/5)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Observing Cluster Events :</a:t>
            </a:r>
          </a:p>
          <a:p>
            <a:pPr lvl="1">
              <a:buFont typeface="Wingdings" panose="05000000000000000000" pitchFamily="2" charset="2"/>
              <a:buChar char="§"/>
            </a:pPr>
            <a:r>
              <a:rPr lang="en-US" altLang="ko-KR" sz="1400" b="1" dirty="0"/>
              <a:t>Both the Control Plane components and the </a:t>
            </a:r>
            <a:r>
              <a:rPr lang="en-US" altLang="ko-KR" sz="1400" b="1" dirty="0" err="1"/>
              <a:t>Kubelet</a:t>
            </a:r>
            <a:r>
              <a:rPr lang="en-US" altLang="ko-KR" sz="1400" b="1" dirty="0"/>
              <a:t> emit events to the API server as they perform these actions</a:t>
            </a:r>
            <a:r>
              <a:rPr lang="en-US" altLang="ko-KR" sz="1400" dirty="0"/>
              <a:t>. They do this by creating </a:t>
            </a:r>
            <a:r>
              <a:rPr lang="en-US" altLang="ko-KR" sz="1400" b="1" dirty="0">
                <a:solidFill>
                  <a:srgbClr val="FF0000"/>
                </a:solidFill>
              </a:rPr>
              <a:t>Event resources</a:t>
            </a:r>
            <a:r>
              <a:rPr lang="en-US" altLang="ko-KR" sz="1400" dirty="0"/>
              <a:t>, which are like any other Kubernetes resource. You’ve already seen events pertaining to specific resources every time you used “</a:t>
            </a:r>
            <a:r>
              <a:rPr lang="en-US" altLang="ko-KR" sz="1400" b="1" dirty="0" err="1"/>
              <a:t>kubectl</a:t>
            </a:r>
            <a:r>
              <a:rPr lang="en-US" altLang="ko-KR" sz="1400" b="1" dirty="0"/>
              <a:t> describe” </a:t>
            </a:r>
            <a:r>
              <a:rPr lang="en-US" altLang="ko-KR" sz="1400" dirty="0"/>
              <a:t>to inspect those resources, but you can also retrieve events directly with “</a:t>
            </a:r>
            <a:r>
              <a:rPr lang="en-US" altLang="ko-KR" sz="1400" b="1" dirty="0" err="1"/>
              <a:t>kubectl</a:t>
            </a:r>
            <a:r>
              <a:rPr lang="en-US" altLang="ko-KR" sz="1400" b="1" dirty="0"/>
              <a:t> get events</a:t>
            </a:r>
            <a:r>
              <a:rPr lang="en-US" altLang="ko-KR" sz="1400" dirty="0"/>
              <a:t>”.</a:t>
            </a:r>
          </a:p>
          <a:p>
            <a:pPr lvl="1">
              <a:buFont typeface="Wingdings" panose="05000000000000000000" pitchFamily="2" charset="2"/>
              <a:buChar char="§"/>
            </a:pPr>
            <a:r>
              <a:rPr lang="en-US" altLang="ko-KR" sz="1400" b="1" dirty="0"/>
              <a:t>Using </a:t>
            </a:r>
            <a:r>
              <a:rPr lang="en-US" altLang="ko-KR" sz="1400" b="1" dirty="0" err="1"/>
              <a:t>kubectl</a:t>
            </a:r>
            <a:r>
              <a:rPr lang="en-US" altLang="ko-KR" sz="1400" b="1" dirty="0"/>
              <a:t> get to inspect events is painful, because they’re not shown in proper temporal order</a:t>
            </a:r>
            <a:r>
              <a:rPr lang="en-US" altLang="ko-KR" sz="1400" dirty="0"/>
              <a:t>. </a:t>
            </a:r>
            <a:r>
              <a:rPr lang="en-US" altLang="ko-KR" sz="1400" b="1" dirty="0"/>
              <a:t>Instead, if an event occurs multiple times, the event is displayed only once</a:t>
            </a:r>
            <a:r>
              <a:rPr lang="en-US" altLang="ko-KR" sz="1400" dirty="0"/>
              <a:t>, </a:t>
            </a:r>
            <a:r>
              <a:rPr lang="en-US" altLang="ko-KR" sz="1400" b="1" dirty="0"/>
              <a:t>showing when it was first seen, when it was last seen, and the number of times it occurred</a:t>
            </a:r>
            <a:r>
              <a:rPr lang="en-US" altLang="ko-KR" sz="1400" dirty="0"/>
              <a:t>. Luckily, watching events with the “</a:t>
            </a:r>
            <a:r>
              <a:rPr lang="en-US" altLang="ko-KR" sz="1400" b="1" dirty="0">
                <a:solidFill>
                  <a:srgbClr val="FF0000"/>
                </a:solidFill>
              </a:rPr>
              <a:t>--watch</a:t>
            </a:r>
            <a:r>
              <a:rPr lang="en-US" altLang="ko-KR" sz="1400" dirty="0"/>
              <a:t>” option is much easier on the eyes and useful for seeing what’s happening in the cluster. </a:t>
            </a:r>
          </a:p>
          <a:p>
            <a:pPr lvl="1">
              <a:buFont typeface="Wingdings" panose="05000000000000000000" pitchFamily="2" charset="2"/>
              <a:buChar char="§"/>
            </a:pPr>
            <a:r>
              <a:rPr lang="en-US" altLang="ko-KR" sz="1400" b="1" dirty="0"/>
              <a:t>The following listing shows the events emitted in the process </a:t>
            </a:r>
            <a:r>
              <a:rPr lang="en-US" altLang="ko-KR" sz="1400" dirty="0"/>
              <a:t>described previously.</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above events are occurred when running “$ </a:t>
            </a:r>
            <a:r>
              <a:rPr lang="en-US" altLang="ko-KR" sz="1400" b="1" dirty="0" err="1"/>
              <a:t>kubectl</a:t>
            </a:r>
            <a:r>
              <a:rPr lang="en-US" altLang="ko-KR" sz="1400" b="1" dirty="0"/>
              <a:t> delete all --all”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1FF3CB24-C94A-2AF6-E886-80A0ABEC89AA}"/>
              </a:ext>
            </a:extLst>
          </p:cNvPr>
          <p:cNvPicPr>
            <a:picLocks noChangeAspect="1"/>
          </p:cNvPicPr>
          <p:nvPr/>
        </p:nvPicPr>
        <p:blipFill>
          <a:blip r:embed="rId2"/>
          <a:stretch>
            <a:fillRect/>
          </a:stretch>
        </p:blipFill>
        <p:spPr>
          <a:xfrm>
            <a:off x="1299109" y="3683556"/>
            <a:ext cx="9593782" cy="2222559"/>
          </a:xfrm>
          <a:prstGeom prst="rect">
            <a:avLst/>
          </a:prstGeom>
        </p:spPr>
      </p:pic>
      <p:sp>
        <p:nvSpPr>
          <p:cNvPr id="10" name="TextBox 9">
            <a:extLst>
              <a:ext uri="{FF2B5EF4-FFF2-40B4-BE49-F238E27FC236}">
                <a16:creationId xmlns:a16="http://schemas.microsoft.com/office/drawing/2014/main" id="{F4C192FD-02DA-CC44-64AF-24D15FC61DE1}"/>
              </a:ext>
            </a:extLst>
          </p:cNvPr>
          <p:cNvSpPr txBox="1"/>
          <p:nvPr/>
        </p:nvSpPr>
        <p:spPr>
          <a:xfrm>
            <a:off x="3047326" y="315429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a:solidFill>
                  <a:srgbClr val="FF0000"/>
                </a:solidFill>
              </a:rPr>
              <a:t>events --watch</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2382A69D-A80B-D8EA-B4A8-98010DE9B355}"/>
              </a:ext>
            </a:extLst>
          </p:cNvPr>
          <p:cNvSpPr/>
          <p:nvPr/>
        </p:nvSpPr>
        <p:spPr>
          <a:xfrm>
            <a:off x="5889653" y="3400516"/>
            <a:ext cx="412694" cy="2830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15491953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What A Running Pod Is?(1/3)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Pod :</a:t>
            </a:r>
          </a:p>
          <a:p>
            <a:pPr lvl="1">
              <a:buFont typeface="Wingdings" panose="05000000000000000000" pitchFamily="2" charset="2"/>
              <a:buChar char="§"/>
            </a:pPr>
            <a:r>
              <a:rPr lang="en-US" altLang="ko-KR" sz="1400" dirty="0"/>
              <a:t>If a pod contains a single container, do you think that the </a:t>
            </a:r>
            <a:r>
              <a:rPr lang="en-US" altLang="ko-KR" sz="1400" b="1" dirty="0" err="1"/>
              <a:t>Kubelet</a:t>
            </a:r>
            <a:r>
              <a:rPr lang="en-US" altLang="ko-KR" sz="1400" dirty="0"/>
              <a:t> just runs this single container, or is there more to it? If you’re the investigative type, you may have already snuck a peek at </a:t>
            </a:r>
            <a:r>
              <a:rPr lang="en-US" altLang="ko-KR" sz="1400" b="1" dirty="0"/>
              <a:t>what exactly Docker ran when you created a pod</a:t>
            </a:r>
            <a:r>
              <a:rPr lang="en-US" altLang="ko-KR" sz="1400" dirty="0"/>
              <a:t>.</a:t>
            </a:r>
          </a:p>
          <a:p>
            <a:pPr lvl="1">
              <a:buFont typeface="Wingdings" panose="05000000000000000000" pitchFamily="2" charset="2"/>
              <a:buChar char="§"/>
            </a:pPr>
            <a:r>
              <a:rPr lang="en-US" altLang="ko-KR" sz="1400" b="1" dirty="0"/>
              <a:t>Imagine you run a single container pod</a:t>
            </a:r>
            <a:r>
              <a:rPr lang="en-US" altLang="ko-KR" sz="1400" dirty="0"/>
              <a:t>. Let’s say you create an “</a:t>
            </a:r>
            <a:r>
              <a:rPr lang="en-US" altLang="ko-KR" sz="1400" b="1" dirty="0"/>
              <a:t>Nginx</a:t>
            </a:r>
            <a:r>
              <a:rPr lang="en-US" altLang="ko-KR" sz="1400" dirty="0"/>
              <a:t>” pod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can now “</a:t>
            </a:r>
            <a:r>
              <a:rPr lang="en-US" altLang="ko-KR" sz="1400" b="1" dirty="0" err="1"/>
              <a:t>ssh</a:t>
            </a:r>
            <a:r>
              <a:rPr lang="en-US" altLang="ko-KR" sz="1400" b="1" dirty="0"/>
              <a:t>” into the worker node running the pod </a:t>
            </a:r>
            <a:r>
              <a:rPr lang="en-US" altLang="ko-KR" sz="1400" dirty="0"/>
              <a:t>and </a:t>
            </a:r>
            <a:r>
              <a:rPr lang="en-US" altLang="ko-KR" sz="1400" b="1" dirty="0"/>
              <a:t>inspect the list of running Docker containers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BBCA332-3BDC-E734-99F4-36BA56782139}"/>
              </a:ext>
            </a:extLst>
          </p:cNvPr>
          <p:cNvGrpSpPr/>
          <p:nvPr/>
        </p:nvGrpSpPr>
        <p:grpSpPr>
          <a:xfrm>
            <a:off x="1380029" y="2123638"/>
            <a:ext cx="9431942" cy="2052057"/>
            <a:chOff x="1380029" y="2123638"/>
            <a:chExt cx="9431942" cy="2052057"/>
          </a:xfrm>
        </p:grpSpPr>
        <p:pic>
          <p:nvPicPr>
            <p:cNvPr id="8" name="그림 7">
              <a:extLst>
                <a:ext uri="{FF2B5EF4-FFF2-40B4-BE49-F238E27FC236}">
                  <a16:creationId xmlns:a16="http://schemas.microsoft.com/office/drawing/2014/main" id="{7F810A85-0EB3-EC0E-C6CF-65FE6186E449}"/>
                </a:ext>
              </a:extLst>
            </p:cNvPr>
            <p:cNvPicPr>
              <a:picLocks noChangeAspect="1"/>
            </p:cNvPicPr>
            <p:nvPr/>
          </p:nvPicPr>
          <p:blipFill>
            <a:blip r:embed="rId2"/>
            <a:stretch>
              <a:fillRect/>
            </a:stretch>
          </p:blipFill>
          <p:spPr>
            <a:xfrm>
              <a:off x="1380029" y="2682304"/>
              <a:ext cx="9431942" cy="1493391"/>
            </a:xfrm>
            <a:prstGeom prst="rect">
              <a:avLst/>
            </a:prstGeom>
          </p:spPr>
        </p:pic>
        <p:sp>
          <p:nvSpPr>
            <p:cNvPr id="10" name="TextBox 9">
              <a:extLst>
                <a:ext uri="{FF2B5EF4-FFF2-40B4-BE49-F238E27FC236}">
                  <a16:creationId xmlns:a16="http://schemas.microsoft.com/office/drawing/2014/main" id="{44772194-8774-D5FE-8518-5DC7FDA2E9E2}"/>
                </a:ext>
              </a:extLst>
            </p:cNvPr>
            <p:cNvSpPr txBox="1"/>
            <p:nvPr/>
          </p:nvSpPr>
          <p:spPr>
            <a:xfrm>
              <a:off x="3047326" y="212363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nginx --image=nginx</a:t>
              </a:r>
              <a:endParaRPr lang="ko-KR" altLang="en-US" sz="1000" b="1" dirty="0"/>
            </a:p>
          </p:txBody>
        </p:sp>
        <p:sp>
          <p:nvSpPr>
            <p:cNvPr id="11" name="화살표: 아래쪽 10">
              <a:extLst>
                <a:ext uri="{FF2B5EF4-FFF2-40B4-BE49-F238E27FC236}">
                  <a16:creationId xmlns:a16="http://schemas.microsoft.com/office/drawing/2014/main" id="{D9FAEA25-71A1-3310-E06F-18E5EC194660}"/>
                </a:ext>
              </a:extLst>
            </p:cNvPr>
            <p:cNvSpPr/>
            <p:nvPr/>
          </p:nvSpPr>
          <p:spPr>
            <a:xfrm>
              <a:off x="5861331" y="2369859"/>
              <a:ext cx="469338"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0549439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What A Running Pod Is?(2/3)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Pod :</a:t>
            </a:r>
          </a:p>
          <a:p>
            <a:pPr lvl="1">
              <a:buFont typeface="Wingdings" panose="05000000000000000000" pitchFamily="2" charset="2"/>
              <a:buChar char="§"/>
            </a:pPr>
            <a:r>
              <a:rPr lang="en-US" altLang="ko-KR" sz="1400" dirty="0"/>
              <a:t>Once you’re </a:t>
            </a:r>
            <a:r>
              <a:rPr lang="en-US" altLang="ko-KR" sz="1400" b="1" dirty="0"/>
              <a:t>inside the node</a:t>
            </a:r>
            <a:r>
              <a:rPr lang="en-US" altLang="ko-KR" sz="1400" dirty="0"/>
              <a:t>, you can </a:t>
            </a:r>
            <a:r>
              <a:rPr lang="en-US" altLang="ko-KR" sz="1400" b="1" dirty="0"/>
              <a:t>list all the running containers with docker “</a:t>
            </a:r>
            <a:r>
              <a:rPr lang="en-US" altLang="ko-KR" sz="1400" b="1" dirty="0" err="1"/>
              <a:t>ps</a:t>
            </a:r>
            <a:r>
              <a:rPr lang="en-US" altLang="ko-KR" sz="1400" b="1" dirty="0"/>
              <a:t>”</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Pay attention to the two containers that were created a few seconds ago</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5CE9D159-891B-391F-AA61-92E9EEB2BA9C}"/>
              </a:ext>
            </a:extLst>
          </p:cNvPr>
          <p:cNvGrpSpPr/>
          <p:nvPr/>
        </p:nvGrpSpPr>
        <p:grpSpPr>
          <a:xfrm>
            <a:off x="1391210" y="1722143"/>
            <a:ext cx="9409579" cy="2781526"/>
            <a:chOff x="1391210" y="1722143"/>
            <a:chExt cx="9409579" cy="2781526"/>
          </a:xfrm>
        </p:grpSpPr>
        <p:grpSp>
          <p:nvGrpSpPr>
            <p:cNvPr id="12" name="그룹 11">
              <a:extLst>
                <a:ext uri="{FF2B5EF4-FFF2-40B4-BE49-F238E27FC236}">
                  <a16:creationId xmlns:a16="http://schemas.microsoft.com/office/drawing/2014/main" id="{BCD49EC4-1499-A1D1-E664-50B152556B9A}"/>
                </a:ext>
              </a:extLst>
            </p:cNvPr>
            <p:cNvGrpSpPr/>
            <p:nvPr/>
          </p:nvGrpSpPr>
          <p:grpSpPr>
            <a:xfrm>
              <a:off x="1391210" y="1722143"/>
              <a:ext cx="9409579" cy="2781526"/>
              <a:chOff x="1391210" y="1786880"/>
              <a:chExt cx="9409579" cy="2781526"/>
            </a:xfrm>
          </p:grpSpPr>
          <p:pic>
            <p:nvPicPr>
              <p:cNvPr id="8" name="그림 7">
                <a:extLst>
                  <a:ext uri="{FF2B5EF4-FFF2-40B4-BE49-F238E27FC236}">
                    <a16:creationId xmlns:a16="http://schemas.microsoft.com/office/drawing/2014/main" id="{96628C40-D1F9-A35D-DBA1-4AD5791DE97F}"/>
                  </a:ext>
                </a:extLst>
              </p:cNvPr>
              <p:cNvPicPr>
                <a:picLocks noChangeAspect="1"/>
              </p:cNvPicPr>
              <p:nvPr/>
            </p:nvPicPr>
            <p:blipFill>
              <a:blip r:embed="rId2"/>
              <a:stretch>
                <a:fillRect/>
              </a:stretch>
            </p:blipFill>
            <p:spPr>
              <a:xfrm>
                <a:off x="1391210" y="2498299"/>
                <a:ext cx="9409579" cy="2070107"/>
              </a:xfrm>
              <a:prstGeom prst="rect">
                <a:avLst/>
              </a:prstGeom>
            </p:spPr>
          </p:pic>
          <p:sp>
            <p:nvSpPr>
              <p:cNvPr id="10" name="TextBox 9">
                <a:extLst>
                  <a:ext uri="{FF2B5EF4-FFF2-40B4-BE49-F238E27FC236}">
                    <a16:creationId xmlns:a16="http://schemas.microsoft.com/office/drawing/2014/main" id="{913DC70A-7ED7-2911-EC31-BA856F36D95B}"/>
                  </a:ext>
                </a:extLst>
              </p:cNvPr>
              <p:cNvSpPr txBox="1"/>
              <p:nvPr/>
            </p:nvSpPr>
            <p:spPr>
              <a:xfrm>
                <a:off x="3047325" y="1786880"/>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minikube</a:t>
                </a:r>
                <a:r>
                  <a:rPr lang="en-US" altLang="ko-KR" sz="1000" b="1" dirty="0"/>
                  <a:t> </a:t>
                </a:r>
                <a:r>
                  <a:rPr lang="en-US" altLang="ko-KR" sz="1000" b="1" dirty="0" err="1"/>
                  <a:t>ssh</a:t>
                </a:r>
                <a:endParaRPr lang="en-US" altLang="ko-KR" sz="1000" b="1" dirty="0"/>
              </a:p>
              <a:p>
                <a:r>
                  <a:rPr lang="en-US" altLang="ko-KR" sz="1000" b="1" dirty="0"/>
                  <a:t>$ docker </a:t>
                </a:r>
                <a:r>
                  <a:rPr lang="en-US" altLang="ko-KR" sz="1000" b="1" dirty="0" err="1"/>
                  <a:t>ps</a:t>
                </a:r>
                <a:endParaRPr lang="ko-KR" altLang="en-US" sz="1000" b="1" dirty="0"/>
              </a:p>
            </p:txBody>
          </p:sp>
          <p:sp>
            <p:nvSpPr>
              <p:cNvPr id="11" name="화살표: 아래쪽 10">
                <a:extLst>
                  <a:ext uri="{FF2B5EF4-FFF2-40B4-BE49-F238E27FC236}">
                    <a16:creationId xmlns:a16="http://schemas.microsoft.com/office/drawing/2014/main" id="{A4B3A6AF-9973-6E6D-F3A4-7EB04A1F0A7F}"/>
                  </a:ext>
                </a:extLst>
              </p:cNvPr>
              <p:cNvSpPr/>
              <p:nvPr/>
            </p:nvSpPr>
            <p:spPr>
              <a:xfrm>
                <a:off x="5869423" y="2201034"/>
                <a:ext cx="453154"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D4C3A590-A755-FA1D-BCEF-9F16105AE8EE}"/>
                </a:ext>
              </a:extLst>
            </p:cNvPr>
            <p:cNvSpPr/>
            <p:nvPr/>
          </p:nvSpPr>
          <p:spPr>
            <a:xfrm>
              <a:off x="1448474" y="3261090"/>
              <a:ext cx="9160184" cy="3074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917669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What A Running Pod Is?(3/3)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Pod :</a:t>
            </a:r>
          </a:p>
          <a:p>
            <a:pPr lvl="1">
              <a:buFont typeface="Wingdings" panose="05000000000000000000" pitchFamily="2" charset="2"/>
              <a:buChar char="§"/>
            </a:pPr>
            <a:r>
              <a:rPr lang="en-US" altLang="ko-KR" sz="1400" b="1" dirty="0"/>
              <a:t>As expected, you see the Nginx container, but also additional containers</a:t>
            </a:r>
            <a:r>
              <a:rPr lang="en-US" altLang="ko-KR" sz="1400" dirty="0"/>
              <a:t>. Judging from the “</a:t>
            </a:r>
            <a:r>
              <a:rPr lang="en-US" altLang="ko-KR" sz="1400" b="1" dirty="0"/>
              <a:t>COMMAND</a:t>
            </a:r>
            <a:r>
              <a:rPr lang="en-US" altLang="ko-KR" sz="1400" dirty="0"/>
              <a:t>” column, these additional containers aren’t doing anything (</a:t>
            </a:r>
            <a:r>
              <a:rPr lang="en-US" altLang="ko-KR" sz="1400" b="1" dirty="0"/>
              <a:t>the container’s command is "pause"</a:t>
            </a:r>
            <a:r>
              <a:rPr lang="en-US" altLang="ko-KR" sz="1400" dirty="0"/>
              <a:t>). If you look closely, you’ll see that </a:t>
            </a:r>
            <a:r>
              <a:rPr lang="en-US" altLang="ko-KR" sz="1400" b="1" dirty="0"/>
              <a:t>these container were created a few seconds(or minutes) before the Nginx container</a:t>
            </a:r>
            <a:r>
              <a:rPr lang="en-US" altLang="ko-KR" sz="1400" dirty="0"/>
              <a:t>. </a:t>
            </a:r>
          </a:p>
          <a:p>
            <a:pPr lvl="1">
              <a:buFont typeface="Wingdings" panose="05000000000000000000" pitchFamily="2" charset="2"/>
              <a:buChar char="§"/>
            </a:pPr>
            <a:r>
              <a:rPr lang="en-US" altLang="ko-KR" sz="1400" b="1" dirty="0"/>
              <a:t>This pause container is the container that </a:t>
            </a:r>
            <a:r>
              <a:rPr lang="en-US" altLang="ko-KR" sz="1400" b="1" dirty="0">
                <a:solidFill>
                  <a:srgbClr val="FF0000"/>
                </a:solidFill>
              </a:rPr>
              <a:t>holds all the containers of a pod</a:t>
            </a:r>
            <a:r>
              <a:rPr lang="en-US" altLang="ko-KR" sz="1400" b="1" dirty="0"/>
              <a:t> together</a:t>
            </a:r>
            <a:r>
              <a:rPr lang="en-US" altLang="ko-KR" sz="1400" dirty="0"/>
              <a:t>. </a:t>
            </a:r>
            <a:r>
              <a:rPr lang="en-US" altLang="ko-KR" sz="1400" b="1" dirty="0"/>
              <a:t>Remember how all containers of a pod share the same network and other Linux namespaces?</a:t>
            </a:r>
            <a:r>
              <a:rPr lang="en-US" altLang="ko-KR" sz="1400" dirty="0"/>
              <a:t> </a:t>
            </a:r>
            <a:r>
              <a:rPr lang="en-US" altLang="ko-KR" sz="1400" b="1" dirty="0"/>
              <a:t>The pause container is an infrastructure container whose sole purpose is to </a:t>
            </a:r>
            <a:r>
              <a:rPr lang="en-US" altLang="ko-KR" sz="1400" b="1" dirty="0">
                <a:solidFill>
                  <a:srgbClr val="FF0000"/>
                </a:solidFill>
              </a:rPr>
              <a:t>hold all these namespaces</a:t>
            </a:r>
            <a:r>
              <a:rPr lang="en-US" altLang="ko-KR" sz="1400" dirty="0"/>
              <a:t>. </a:t>
            </a:r>
            <a:r>
              <a:rPr lang="en-US" altLang="ko-KR" sz="1400" b="1" dirty="0"/>
              <a:t>All other user-defined containers of the pod then use the namespaces of </a:t>
            </a:r>
            <a:r>
              <a:rPr lang="en-US" altLang="ko-KR" sz="1400" b="1" dirty="0">
                <a:solidFill>
                  <a:srgbClr val="FF0000"/>
                </a:solidFill>
              </a:rPr>
              <a:t>the pod infrastructure container </a:t>
            </a:r>
            <a:r>
              <a:rPr lang="en-US" altLang="ko-KR" sz="1400" dirty="0"/>
              <a:t>(see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Actual application containers may die and get restarted</a:t>
            </a:r>
            <a:r>
              <a:rPr lang="en-US" altLang="ko-KR" sz="1400" dirty="0"/>
              <a:t>. </a:t>
            </a:r>
            <a:r>
              <a:rPr lang="en-US" altLang="ko-KR" sz="1400" b="1" dirty="0"/>
              <a:t>When such a container starts up again, it needs to </a:t>
            </a:r>
            <a:r>
              <a:rPr lang="en-US" altLang="ko-KR" sz="1400" b="1" dirty="0">
                <a:solidFill>
                  <a:srgbClr val="FF0000"/>
                </a:solidFill>
              </a:rPr>
              <a:t>become part of the same Linux namespaces as before</a:t>
            </a:r>
            <a:r>
              <a:rPr lang="en-US" altLang="ko-KR" sz="1400" dirty="0"/>
              <a:t>. </a:t>
            </a:r>
            <a:r>
              <a:rPr lang="en-US" altLang="ko-KR" sz="1400" b="1" dirty="0"/>
              <a:t>The infrastructure container makes this possible since its lifecycle is tied to that of the pod</a:t>
            </a:r>
            <a:r>
              <a:rPr lang="en-US" altLang="ko-KR" sz="1400" dirty="0"/>
              <a:t>—the container runs from the time the pod is scheduled until the pod is deleted. </a:t>
            </a:r>
            <a:r>
              <a:rPr lang="en-US" altLang="ko-KR" sz="1400" b="1" dirty="0"/>
              <a:t>If the infrastructure pod is killed in the meantime, the </a:t>
            </a:r>
            <a:r>
              <a:rPr lang="en-US" altLang="ko-KR" sz="1400" b="1" dirty="0" err="1"/>
              <a:t>Kubelet</a:t>
            </a:r>
            <a:r>
              <a:rPr lang="en-US" altLang="ko-KR" sz="1400" b="1" dirty="0"/>
              <a:t> recreates it and all the pod’s containers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BCAE5F6-773A-64F0-9DF2-4DA6060D8856}"/>
              </a:ext>
            </a:extLst>
          </p:cNvPr>
          <p:cNvPicPr>
            <a:picLocks noChangeAspect="1"/>
          </p:cNvPicPr>
          <p:nvPr/>
        </p:nvPicPr>
        <p:blipFill>
          <a:blip r:embed="rId2"/>
          <a:stretch>
            <a:fillRect/>
          </a:stretch>
        </p:blipFill>
        <p:spPr>
          <a:xfrm>
            <a:off x="4011561" y="2873963"/>
            <a:ext cx="4168877" cy="1435510"/>
          </a:xfrm>
          <a:prstGeom prst="rect">
            <a:avLst/>
          </a:prstGeom>
        </p:spPr>
      </p:pic>
    </p:spTree>
    <p:extLst>
      <p:ext uri="{BB962C8B-B14F-4D97-AF65-F5344CB8AC3E}">
        <p14:creationId xmlns:p14="http://schemas.microsoft.com/office/powerpoint/2010/main" val="177251379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Inter-Pod Networking(1/7)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the Network Must Be Like :</a:t>
            </a:r>
          </a:p>
          <a:p>
            <a:pPr lvl="1">
              <a:buFont typeface="Wingdings" panose="05000000000000000000" pitchFamily="2" charset="2"/>
              <a:buChar char="§"/>
            </a:pPr>
            <a:r>
              <a:rPr lang="en-US" altLang="ko-KR" sz="1400" b="1" dirty="0"/>
              <a:t>The network is set up by the system administrator or by a </a:t>
            </a:r>
            <a:r>
              <a:rPr lang="en-US" altLang="ko-KR" sz="1400" b="1" dirty="0">
                <a:solidFill>
                  <a:srgbClr val="FF0000"/>
                </a:solidFill>
              </a:rPr>
              <a:t>Container Network Interface (CNI)</a:t>
            </a:r>
            <a:r>
              <a:rPr lang="en-US" altLang="ko-KR" sz="1400" b="1" dirty="0"/>
              <a:t> plugin, not by Kubernetes itself</a:t>
            </a:r>
            <a:r>
              <a:rPr lang="en-US" altLang="ko-KR" sz="1400" dirty="0"/>
              <a:t>.</a:t>
            </a:r>
          </a:p>
          <a:p>
            <a:pPr lvl="1">
              <a:buFont typeface="Wingdings" panose="05000000000000000000" pitchFamily="2" charset="2"/>
              <a:buChar char="§"/>
            </a:pPr>
            <a:r>
              <a:rPr lang="en-US" altLang="ko-KR" sz="1400" b="1" dirty="0"/>
              <a:t>Kubernetes doesn’t require you to use a specific networking technology</a:t>
            </a:r>
            <a:r>
              <a:rPr lang="en-US" altLang="ko-KR" sz="1400" dirty="0"/>
              <a:t>, but it does mandate that </a:t>
            </a:r>
            <a:r>
              <a:rPr lang="en-US" altLang="ko-KR" sz="1400" b="1" dirty="0"/>
              <a:t>the pods (or to be more precise, their containers) can communicate with each other, regardless if they’re running on the same worker node or not</a:t>
            </a:r>
            <a:r>
              <a:rPr lang="en-US" altLang="ko-KR" sz="1400" dirty="0"/>
              <a:t>. The network the pods use to communicate must be such that </a:t>
            </a:r>
            <a:r>
              <a:rPr lang="en-US" altLang="ko-KR" sz="1400" b="1" dirty="0"/>
              <a:t>the IP address a pod sees as its own is the exact same address that all other pods see as the IP address of the pod in question</a:t>
            </a:r>
            <a:r>
              <a:rPr lang="en-US" altLang="ko-KR" sz="1400" dirty="0"/>
              <a:t>.</a:t>
            </a:r>
          </a:p>
          <a:p>
            <a:pPr lvl="1">
              <a:buFont typeface="Wingdings" panose="05000000000000000000" pitchFamily="2" charset="2"/>
              <a:buChar char="§"/>
            </a:pPr>
            <a:r>
              <a:rPr lang="en-US" altLang="ko-KR" sz="1400" dirty="0"/>
              <a:t>Look at the following figure. </a:t>
            </a:r>
            <a:r>
              <a:rPr lang="en-US" altLang="ko-KR" sz="1400" b="1" dirty="0"/>
              <a:t>When pod A connects to (sends a network packet to) pod B, the source IP pod B sees must be the same IP that pod A sees as its own</a:t>
            </a:r>
            <a:r>
              <a:rPr lang="en-US" altLang="ko-KR" sz="1400" dirty="0"/>
              <a:t>. </a:t>
            </a:r>
            <a:r>
              <a:rPr lang="en-US" altLang="ko-KR" sz="1400" b="1" dirty="0"/>
              <a:t>There should be no </a:t>
            </a:r>
            <a:r>
              <a:rPr lang="en-US" altLang="ko-KR" sz="1400" b="1" dirty="0">
                <a:solidFill>
                  <a:srgbClr val="FF0000"/>
                </a:solidFill>
              </a:rPr>
              <a:t>network address translation (NAT) </a:t>
            </a:r>
            <a:r>
              <a:rPr lang="en-US" altLang="ko-KR" sz="1400" b="1" dirty="0"/>
              <a:t>performed in between—the packet sent by pod A must reach pod B with both the source and destination address unchanged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178125A-AA15-F22E-13AE-351C34A55BA3}"/>
              </a:ext>
            </a:extLst>
          </p:cNvPr>
          <p:cNvPicPr>
            <a:picLocks noChangeAspect="1"/>
          </p:cNvPicPr>
          <p:nvPr/>
        </p:nvPicPr>
        <p:blipFill>
          <a:blip r:embed="rId2"/>
          <a:stretch>
            <a:fillRect/>
          </a:stretch>
        </p:blipFill>
        <p:spPr>
          <a:xfrm>
            <a:off x="4052044" y="3259706"/>
            <a:ext cx="4087911" cy="2950987"/>
          </a:xfrm>
          <a:prstGeom prst="rect">
            <a:avLst/>
          </a:prstGeom>
        </p:spPr>
      </p:pic>
    </p:spTree>
    <p:extLst>
      <p:ext uri="{BB962C8B-B14F-4D97-AF65-F5344CB8AC3E}">
        <p14:creationId xmlns:p14="http://schemas.microsoft.com/office/powerpoint/2010/main" val="6451704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Inter-Pod Networking(2/7)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the Network Must Be Like :</a:t>
            </a:r>
          </a:p>
          <a:p>
            <a:pPr lvl="1">
              <a:buFont typeface="Wingdings" panose="05000000000000000000" pitchFamily="2" charset="2"/>
              <a:buChar char="§"/>
            </a:pPr>
            <a:r>
              <a:rPr lang="en-US" altLang="ko-KR" sz="1400" b="1" dirty="0"/>
              <a:t>This is important, because it makes networking for applications running inside pods simple and </a:t>
            </a:r>
            <a:r>
              <a:rPr lang="en-US" altLang="ko-KR" sz="1400" b="1" dirty="0">
                <a:solidFill>
                  <a:srgbClr val="FF0000"/>
                </a:solidFill>
              </a:rPr>
              <a:t>exactly as if they were running on machines connected to the same network switch</a:t>
            </a:r>
            <a:r>
              <a:rPr lang="en-US" altLang="ko-KR" sz="1400" dirty="0"/>
              <a:t>. The absence of NAT between pods enables applications running inside them to </a:t>
            </a:r>
            <a:r>
              <a:rPr lang="en-US" altLang="ko-KR" sz="1400" b="1" dirty="0"/>
              <a:t>self-register in other pods</a:t>
            </a:r>
            <a:r>
              <a:rPr lang="en-US" altLang="ko-KR" sz="1400" dirty="0"/>
              <a:t>.</a:t>
            </a:r>
          </a:p>
          <a:p>
            <a:pPr lvl="1">
              <a:buFont typeface="Wingdings" panose="05000000000000000000" pitchFamily="2" charset="2"/>
              <a:buChar char="§"/>
            </a:pPr>
            <a:r>
              <a:rPr lang="en-US" altLang="ko-KR" sz="1400" dirty="0"/>
              <a:t>For example, say </a:t>
            </a:r>
            <a:r>
              <a:rPr lang="en-US" altLang="ko-KR" sz="1400" b="1" dirty="0"/>
              <a:t>you have a client pod X and pod Y, which provides a kind of notification service to all pods that register with it</a:t>
            </a:r>
            <a:r>
              <a:rPr lang="en-US" altLang="ko-KR" sz="1400" dirty="0"/>
              <a:t>. Pod X connects to pod Y and tells it, “Hey, I’m pod X, available at IP 1.2.3.4; please send updates to me at this IP address.” </a:t>
            </a:r>
            <a:r>
              <a:rPr lang="en-US" altLang="ko-KR" sz="1400" b="1" dirty="0"/>
              <a:t>The pod providing the service can connect to the first pod by using the received IP address</a:t>
            </a:r>
            <a:r>
              <a:rPr lang="en-US" altLang="ko-KR" sz="1400" dirty="0"/>
              <a:t>.</a:t>
            </a:r>
          </a:p>
          <a:p>
            <a:pPr lvl="1">
              <a:buFont typeface="Wingdings" panose="05000000000000000000" pitchFamily="2" charset="2"/>
              <a:buChar char="§"/>
            </a:pPr>
            <a:r>
              <a:rPr lang="en-US" altLang="ko-KR" sz="1400" b="1" dirty="0"/>
              <a:t>The requirement for </a:t>
            </a:r>
            <a:r>
              <a:rPr lang="en-US" altLang="ko-KR" sz="1400" b="1" dirty="0">
                <a:solidFill>
                  <a:srgbClr val="FF0000"/>
                </a:solidFill>
              </a:rPr>
              <a:t>NAT-less communication </a:t>
            </a:r>
            <a:r>
              <a:rPr lang="en-US" altLang="ko-KR" sz="1400" b="1" dirty="0"/>
              <a:t>between pods also extends to pod-to-node and node-to-pod communication</a:t>
            </a:r>
            <a:r>
              <a:rPr lang="en-US" altLang="ko-KR" sz="1400" dirty="0"/>
              <a:t>. </a:t>
            </a:r>
            <a:r>
              <a:rPr lang="en-US" altLang="ko-KR" sz="1400" b="1" dirty="0"/>
              <a:t>But when a pod communicates with services out on the internet, the source IP of the packets the pod sends does need to be changed(NAT), because </a:t>
            </a:r>
            <a:r>
              <a:rPr lang="en-US" altLang="ko-KR" sz="1400" b="1" dirty="0">
                <a:solidFill>
                  <a:srgbClr val="FF0000"/>
                </a:solidFill>
              </a:rPr>
              <a:t>the pod’s IP is private</a:t>
            </a:r>
            <a:r>
              <a:rPr lang="en-US" altLang="ko-KR" sz="1400" dirty="0"/>
              <a:t>. </a:t>
            </a:r>
            <a:r>
              <a:rPr lang="en-US" altLang="ko-KR" sz="1400" b="1" dirty="0"/>
              <a:t>The source IP of outbound packets is changed to the host worker node’s IP address</a:t>
            </a:r>
            <a:r>
              <a:rPr lang="en-US" altLang="ko-KR" sz="1400" dirty="0"/>
              <a:t>.</a:t>
            </a:r>
          </a:p>
          <a:p>
            <a:pPr lvl="1">
              <a:buFont typeface="Wingdings" panose="05000000000000000000" pitchFamily="2" charset="2"/>
              <a:buChar char="§"/>
            </a:pPr>
            <a:r>
              <a:rPr lang="en-US" altLang="ko-KR" sz="1400" b="1" dirty="0"/>
              <a:t>Building a proper Kubernetes cluster involves setting up the networking according to these requirements</a:t>
            </a:r>
            <a:r>
              <a:rPr lang="en-US" altLang="ko-KR" sz="1400" dirty="0"/>
              <a:t>. </a:t>
            </a:r>
            <a:r>
              <a:rPr lang="en-US" altLang="ko-KR" sz="1400" b="1" dirty="0"/>
              <a:t>There are various methods and technologies available to do this</a:t>
            </a:r>
            <a:r>
              <a:rPr lang="en-US" altLang="ko-KR" sz="1400" dirty="0"/>
              <a:t>, </a:t>
            </a:r>
            <a:r>
              <a:rPr lang="en-US" altLang="ko-KR" sz="1400" b="1" dirty="0"/>
              <a:t>each with its own benefits or drawbacks in a given scenario</a:t>
            </a:r>
            <a:r>
              <a:rPr lang="en-US" altLang="ko-KR" sz="1400" dirty="0"/>
              <a:t>. Because of this, we’re not going to go into specific technologies.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36C12F6-F524-5814-0342-8B5CCAE8054A}"/>
              </a:ext>
            </a:extLst>
          </p:cNvPr>
          <p:cNvPicPr>
            <a:picLocks noChangeAspect="1"/>
          </p:cNvPicPr>
          <p:nvPr/>
        </p:nvPicPr>
        <p:blipFill>
          <a:blip r:embed="rId2"/>
          <a:stretch>
            <a:fillRect/>
          </a:stretch>
        </p:blipFill>
        <p:spPr>
          <a:xfrm>
            <a:off x="3984653" y="4080365"/>
            <a:ext cx="4232135" cy="2328665"/>
          </a:xfrm>
          <a:prstGeom prst="rect">
            <a:avLst/>
          </a:prstGeom>
        </p:spPr>
      </p:pic>
    </p:spTree>
    <p:extLst>
      <p:ext uri="{BB962C8B-B14F-4D97-AF65-F5344CB8AC3E}">
        <p14:creationId xmlns:p14="http://schemas.microsoft.com/office/powerpoint/2010/main" val="145631434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Inter-Pod Networking(3/7)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Driving Deeper into How Networking Works :</a:t>
            </a:r>
          </a:p>
          <a:p>
            <a:pPr lvl="1">
              <a:buFont typeface="Wingdings" panose="05000000000000000000" pitchFamily="2" charset="2"/>
              <a:buChar char="§"/>
            </a:pPr>
            <a:r>
              <a:rPr lang="en-US" altLang="ko-KR" sz="1400" dirty="0"/>
              <a:t>We already saw that </a:t>
            </a:r>
            <a:r>
              <a:rPr lang="en-US" altLang="ko-KR" sz="1400" b="1" dirty="0"/>
              <a:t>a pod’s IP address and network namespace are set up and held by the infrastructure container (the pause container)</a:t>
            </a:r>
            <a:r>
              <a:rPr lang="en-US" altLang="ko-KR" sz="1400" dirty="0"/>
              <a:t>. </a:t>
            </a:r>
            <a:r>
              <a:rPr lang="en-US" altLang="ko-KR" sz="1400" b="1" dirty="0"/>
              <a:t>The pod’s containers then use its network namespace</a:t>
            </a:r>
            <a:r>
              <a:rPr lang="en-US" altLang="ko-KR" sz="1400" dirty="0"/>
              <a:t>. </a:t>
            </a:r>
            <a:r>
              <a:rPr lang="en-US" altLang="ko-KR" sz="1400" b="1" dirty="0"/>
              <a:t>A pod’s network interface is thus whatever is set up in the infrastructure container</a:t>
            </a:r>
            <a:r>
              <a:rPr lang="en-US" altLang="ko-KR" sz="1400" dirty="0"/>
              <a:t>. Let’s see how the interface is created and how it’s connected to the interfaces in all the other pods. Look at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Before the infrastructure container is started, a </a:t>
            </a:r>
            <a:r>
              <a:rPr lang="en-US" altLang="ko-KR" sz="1400" b="1" dirty="0">
                <a:solidFill>
                  <a:srgbClr val="FF0000"/>
                </a:solidFill>
              </a:rPr>
              <a:t>virtual Ethernet</a:t>
            </a:r>
            <a:r>
              <a:rPr lang="en-US" altLang="ko-KR" sz="1400" b="1" dirty="0"/>
              <a:t> interface pair (a </a:t>
            </a:r>
            <a:r>
              <a:rPr lang="en-US" altLang="ko-KR" sz="1400" b="1" dirty="0" err="1">
                <a:solidFill>
                  <a:srgbClr val="FF0000"/>
                </a:solidFill>
              </a:rPr>
              <a:t>veth</a:t>
            </a:r>
            <a:r>
              <a:rPr lang="en-US" altLang="ko-KR" sz="1400" b="1" dirty="0"/>
              <a:t> pair) is created for the container.</a:t>
            </a:r>
            <a:r>
              <a:rPr lang="en-US" altLang="ko-KR" sz="1400" dirty="0"/>
              <a:t> One interface of the pair remains in the host’s namespace (you’ll see it listed as “</a:t>
            </a:r>
            <a:r>
              <a:rPr lang="en-US" altLang="ko-KR" sz="1400" b="1" dirty="0" err="1">
                <a:solidFill>
                  <a:srgbClr val="FF0000"/>
                </a:solidFill>
              </a:rPr>
              <a:t>vethXXX</a:t>
            </a:r>
            <a:r>
              <a:rPr lang="en-US" altLang="ko-KR" sz="1400" dirty="0"/>
              <a:t>” when you run “</a:t>
            </a:r>
            <a:r>
              <a:rPr lang="en-US" altLang="ko-KR" sz="1400" b="1" dirty="0">
                <a:solidFill>
                  <a:srgbClr val="FF0000"/>
                </a:solidFill>
              </a:rPr>
              <a:t>$ </a:t>
            </a:r>
            <a:r>
              <a:rPr lang="en-US" altLang="ko-KR" sz="1400" b="1" dirty="0" err="1">
                <a:solidFill>
                  <a:srgbClr val="FF0000"/>
                </a:solidFill>
              </a:rPr>
              <a:t>ifconfig</a:t>
            </a:r>
            <a:r>
              <a:rPr lang="en-US" altLang="ko-KR" sz="1400" dirty="0"/>
              <a:t>” command on the node), whereas </a:t>
            </a:r>
            <a:r>
              <a:rPr lang="en-US" altLang="ko-KR" sz="1400" b="1" dirty="0"/>
              <a:t>the other is moved into the container’s network namespace and renamed “</a:t>
            </a:r>
            <a:r>
              <a:rPr lang="en-US" altLang="ko-KR" sz="1400" b="1" dirty="0">
                <a:solidFill>
                  <a:srgbClr val="FF0000"/>
                </a:solidFill>
              </a:rPr>
              <a:t>eth0</a:t>
            </a:r>
            <a:r>
              <a:rPr lang="en-US" altLang="ko-KR" sz="1400" b="1" dirty="0"/>
              <a:t>”</a:t>
            </a:r>
            <a:r>
              <a:rPr lang="en-US" altLang="ko-KR" sz="1400" dirty="0"/>
              <a:t>. The two virtual interfaces are like two ends of a pipe (or like two network devices connected by an Ethernet cable)—what goes in on one side comes out on the other, and vice-versa.</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2A25E057-4534-A1D7-8B76-08E41A9FC1DC}"/>
              </a:ext>
            </a:extLst>
          </p:cNvPr>
          <p:cNvGrpSpPr/>
          <p:nvPr/>
        </p:nvGrpSpPr>
        <p:grpSpPr>
          <a:xfrm>
            <a:off x="4365522" y="2391697"/>
            <a:ext cx="3460955" cy="2074606"/>
            <a:chOff x="4365522" y="2391697"/>
            <a:chExt cx="3460955" cy="2074606"/>
          </a:xfrm>
        </p:grpSpPr>
        <p:grpSp>
          <p:nvGrpSpPr>
            <p:cNvPr id="11" name="그룹 10">
              <a:extLst>
                <a:ext uri="{FF2B5EF4-FFF2-40B4-BE49-F238E27FC236}">
                  <a16:creationId xmlns:a16="http://schemas.microsoft.com/office/drawing/2014/main" id="{E7D9D843-5BB1-0F75-3D9A-81BAC30DF869}"/>
                </a:ext>
              </a:extLst>
            </p:cNvPr>
            <p:cNvGrpSpPr/>
            <p:nvPr/>
          </p:nvGrpSpPr>
          <p:grpSpPr>
            <a:xfrm>
              <a:off x="4365522" y="2391697"/>
              <a:ext cx="3460955" cy="2074606"/>
              <a:chOff x="4365522" y="2391697"/>
              <a:chExt cx="3460955" cy="2074606"/>
            </a:xfrm>
          </p:grpSpPr>
          <p:pic>
            <p:nvPicPr>
              <p:cNvPr id="8" name="그림 7">
                <a:extLst>
                  <a:ext uri="{FF2B5EF4-FFF2-40B4-BE49-F238E27FC236}">
                    <a16:creationId xmlns:a16="http://schemas.microsoft.com/office/drawing/2014/main" id="{C5BB1E03-53CA-5F0F-5D84-ED95FEEDC8B7}"/>
                  </a:ext>
                </a:extLst>
              </p:cNvPr>
              <p:cNvPicPr>
                <a:picLocks noChangeAspect="1"/>
              </p:cNvPicPr>
              <p:nvPr/>
            </p:nvPicPr>
            <p:blipFill>
              <a:blip r:embed="rId2"/>
              <a:stretch>
                <a:fillRect/>
              </a:stretch>
            </p:blipFill>
            <p:spPr>
              <a:xfrm>
                <a:off x="4365522" y="2391697"/>
                <a:ext cx="3460955" cy="2074606"/>
              </a:xfrm>
              <a:prstGeom prst="rect">
                <a:avLst/>
              </a:prstGeom>
            </p:spPr>
          </p:pic>
          <p:sp>
            <p:nvSpPr>
              <p:cNvPr id="9" name="직사각형 8">
                <a:extLst>
                  <a:ext uri="{FF2B5EF4-FFF2-40B4-BE49-F238E27FC236}">
                    <a16:creationId xmlns:a16="http://schemas.microsoft.com/office/drawing/2014/main" id="{AEC7D486-74CE-A6A5-A5C5-C307C682583A}"/>
                  </a:ext>
                </a:extLst>
              </p:cNvPr>
              <p:cNvSpPr/>
              <p:nvPr/>
            </p:nvSpPr>
            <p:spPr>
              <a:xfrm>
                <a:off x="6166131" y="3050697"/>
                <a:ext cx="574534" cy="3621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C1117F0F-072C-80B0-868E-40CAF51DCF0D}"/>
                  </a:ext>
                </a:extLst>
              </p:cNvPr>
              <p:cNvSpPr/>
              <p:nvPr/>
            </p:nvSpPr>
            <p:spPr>
              <a:xfrm>
                <a:off x="6166131" y="3758500"/>
                <a:ext cx="574534" cy="3621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348717D0-3448-7B16-1C8E-06D341898FDD}"/>
                </a:ext>
              </a:extLst>
            </p:cNvPr>
            <p:cNvSpPr/>
            <p:nvPr/>
          </p:nvSpPr>
          <p:spPr>
            <a:xfrm>
              <a:off x="7031979" y="3429000"/>
              <a:ext cx="623086" cy="3418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769778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Network Configuration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Ubuntu 20.04 :</a:t>
            </a:r>
          </a:p>
          <a:p>
            <a:pPr lvl="1">
              <a:buFont typeface="Wingdings" panose="05000000000000000000" pitchFamily="2" charset="2"/>
              <a:buChar char="§"/>
            </a:pPr>
            <a:r>
              <a:rPr lang="en-US" altLang="ko-KR" sz="1400" dirty="0"/>
              <a:t>Run “</a:t>
            </a:r>
            <a:r>
              <a:rPr lang="en-US" altLang="ko-KR" sz="1400" b="1" dirty="0"/>
              <a:t>$ </a:t>
            </a:r>
            <a:r>
              <a:rPr lang="en-US" altLang="ko-KR" sz="1400" b="1" dirty="0" err="1"/>
              <a:t>ifconfig</a:t>
            </a:r>
            <a:r>
              <a:rPr lang="en-US" altLang="ko-KR" sz="1400" b="1" dirty="0"/>
              <a:t> -a</a:t>
            </a:r>
            <a:r>
              <a:rPr lang="en-US" altLang="ko-KR" sz="1400" dirty="0"/>
              <a:t>” command to see the all network interface in your system.</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9F6F6AFA-946D-38FA-EA45-16EA87F5721A}"/>
              </a:ext>
            </a:extLst>
          </p:cNvPr>
          <p:cNvGrpSpPr/>
          <p:nvPr/>
        </p:nvGrpSpPr>
        <p:grpSpPr>
          <a:xfrm>
            <a:off x="1860493" y="1414490"/>
            <a:ext cx="8471014" cy="4895176"/>
            <a:chOff x="1327091" y="1461174"/>
            <a:chExt cx="9715164" cy="5812894"/>
          </a:xfrm>
        </p:grpSpPr>
        <p:grpSp>
          <p:nvGrpSpPr>
            <p:cNvPr id="10" name="그룹 9">
              <a:extLst>
                <a:ext uri="{FF2B5EF4-FFF2-40B4-BE49-F238E27FC236}">
                  <a16:creationId xmlns:a16="http://schemas.microsoft.com/office/drawing/2014/main" id="{0577700A-3483-3724-2E8A-350CC9A319EE}"/>
                </a:ext>
              </a:extLst>
            </p:cNvPr>
            <p:cNvGrpSpPr/>
            <p:nvPr/>
          </p:nvGrpSpPr>
          <p:grpSpPr>
            <a:xfrm>
              <a:off x="1327092" y="1461174"/>
              <a:ext cx="9715163" cy="2833589"/>
              <a:chOff x="1327092" y="1461174"/>
              <a:chExt cx="9715163" cy="2833589"/>
            </a:xfrm>
          </p:grpSpPr>
          <p:pic>
            <p:nvPicPr>
              <p:cNvPr id="8" name="그림 7">
                <a:extLst>
                  <a:ext uri="{FF2B5EF4-FFF2-40B4-BE49-F238E27FC236}">
                    <a16:creationId xmlns:a16="http://schemas.microsoft.com/office/drawing/2014/main" id="{27D23656-8B5A-4CD0-B72A-72F7EC31C8C4}"/>
                  </a:ext>
                </a:extLst>
              </p:cNvPr>
              <p:cNvPicPr>
                <a:picLocks noChangeAspect="1"/>
              </p:cNvPicPr>
              <p:nvPr/>
            </p:nvPicPr>
            <p:blipFill>
              <a:blip r:embed="rId2"/>
              <a:stretch>
                <a:fillRect/>
              </a:stretch>
            </p:blipFill>
            <p:spPr>
              <a:xfrm>
                <a:off x="1327092" y="1461174"/>
                <a:ext cx="9715163" cy="2833589"/>
              </a:xfrm>
              <a:prstGeom prst="rect">
                <a:avLst/>
              </a:prstGeom>
            </p:spPr>
          </p:pic>
          <p:sp>
            <p:nvSpPr>
              <p:cNvPr id="9" name="직사각형 8">
                <a:extLst>
                  <a:ext uri="{FF2B5EF4-FFF2-40B4-BE49-F238E27FC236}">
                    <a16:creationId xmlns:a16="http://schemas.microsoft.com/office/drawing/2014/main" id="{0210EDEA-38B1-578E-262E-FA30C85E386F}"/>
                  </a:ext>
                </a:extLst>
              </p:cNvPr>
              <p:cNvSpPr/>
              <p:nvPr/>
            </p:nvSpPr>
            <p:spPr>
              <a:xfrm>
                <a:off x="5437848" y="1901628"/>
                <a:ext cx="841571" cy="1861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572CC95A-C768-B3FD-C02E-3999BFA3D142}"/>
                </a:ext>
              </a:extLst>
            </p:cNvPr>
            <p:cNvPicPr>
              <a:picLocks noChangeAspect="1"/>
            </p:cNvPicPr>
            <p:nvPr/>
          </p:nvPicPr>
          <p:blipFill>
            <a:blip r:embed="rId3"/>
            <a:stretch>
              <a:fillRect/>
            </a:stretch>
          </p:blipFill>
          <p:spPr>
            <a:xfrm>
              <a:off x="1327091" y="4319039"/>
              <a:ext cx="9715163" cy="2955029"/>
            </a:xfrm>
            <a:prstGeom prst="rect">
              <a:avLst/>
            </a:prstGeom>
          </p:spPr>
        </p:pic>
      </p:grpSp>
    </p:spTree>
    <p:extLst>
      <p:ext uri="{BB962C8B-B14F-4D97-AF65-F5344CB8AC3E}">
        <p14:creationId xmlns:p14="http://schemas.microsoft.com/office/powerpoint/2010/main" val="336692271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Inter-Pod Networking(4/7)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Driving Deeper into How Networking Works :</a:t>
            </a:r>
          </a:p>
          <a:p>
            <a:pPr lvl="1">
              <a:buFont typeface="Wingdings" panose="05000000000000000000" pitchFamily="2" charset="2"/>
              <a:buChar char="§"/>
            </a:pPr>
            <a:r>
              <a:rPr lang="en-US" altLang="ko-KR" sz="1400" b="1" dirty="0"/>
              <a:t>The interface in the host’s network namespace is attached to a network bridge that the container runtime is configured to use</a:t>
            </a:r>
            <a:r>
              <a:rPr lang="en-US" altLang="ko-KR" sz="1400" dirty="0"/>
              <a:t>. </a:t>
            </a:r>
            <a:r>
              <a:rPr lang="en-US" altLang="ko-KR" sz="1400" b="1" dirty="0"/>
              <a:t>The eth0 interface in the container is assigned an IP address from the bridge’s address range</a:t>
            </a:r>
            <a:r>
              <a:rPr lang="en-US" altLang="ko-KR" sz="1400" dirty="0"/>
              <a:t>. </a:t>
            </a:r>
            <a:r>
              <a:rPr lang="en-US" altLang="ko-KR" sz="1400" b="1" dirty="0"/>
              <a:t>Anything that an application running inside the container sends to the eth0 network interface (the one in the container’s namespace), comes out at the other “</a:t>
            </a:r>
            <a:r>
              <a:rPr lang="en-US" altLang="ko-KR" sz="1400" b="1" dirty="0" err="1"/>
              <a:t>veth</a:t>
            </a:r>
            <a:r>
              <a:rPr lang="en-US" altLang="ko-KR" sz="1400" b="1" dirty="0"/>
              <a:t>” interface in the host’s namespace and is sent to the bridge. This means</a:t>
            </a:r>
            <a:r>
              <a:rPr lang="en-US" altLang="ko-KR" sz="1400" dirty="0"/>
              <a:t> </a:t>
            </a:r>
            <a:r>
              <a:rPr lang="en-US" altLang="ko-KR" sz="1400" b="1" dirty="0"/>
              <a:t>it can be received by any network interface that’s connected to the bridge</a:t>
            </a:r>
            <a:r>
              <a:rPr lang="en-US" altLang="ko-KR" sz="1400" dirty="0"/>
              <a:t>.</a:t>
            </a:r>
          </a:p>
          <a:p>
            <a:pPr lvl="1">
              <a:buFont typeface="Wingdings" panose="05000000000000000000" pitchFamily="2" charset="2"/>
              <a:buChar char="§"/>
            </a:pPr>
            <a:r>
              <a:rPr lang="en-US" altLang="ko-KR" sz="1400" dirty="0"/>
              <a:t>If pod A sends a network packet to pod B, the packet first goes through pod A’s </a:t>
            </a:r>
            <a:r>
              <a:rPr lang="en-US" altLang="ko-KR" sz="1400" b="1" dirty="0" err="1"/>
              <a:t>veth</a:t>
            </a:r>
            <a:r>
              <a:rPr lang="en-US" altLang="ko-KR" sz="1400" dirty="0"/>
              <a:t> pair to the </a:t>
            </a:r>
            <a:r>
              <a:rPr lang="en-US" altLang="ko-KR" sz="1400" b="1" dirty="0"/>
              <a:t>bridge</a:t>
            </a:r>
            <a:r>
              <a:rPr lang="en-US" altLang="ko-KR" sz="1400" dirty="0"/>
              <a:t> and then through pod B’s </a:t>
            </a:r>
            <a:r>
              <a:rPr lang="en-US" altLang="ko-KR" sz="1400" b="1" dirty="0" err="1"/>
              <a:t>veth</a:t>
            </a:r>
            <a:r>
              <a:rPr lang="en-US" altLang="ko-KR" sz="1400" dirty="0"/>
              <a:t> pair. </a:t>
            </a:r>
            <a:r>
              <a:rPr lang="en-US" altLang="ko-KR" sz="1400" b="1" dirty="0"/>
              <a:t>All containers on a node are connected to the same bridge</a:t>
            </a:r>
            <a:r>
              <a:rPr lang="en-US" altLang="ko-KR" sz="1400" dirty="0"/>
              <a:t>, </a:t>
            </a:r>
            <a:r>
              <a:rPr lang="en-US" altLang="ko-KR" sz="1400" b="1" dirty="0"/>
              <a:t>which means they can all communicate with each other</a:t>
            </a:r>
            <a:r>
              <a:rPr lang="en-US" altLang="ko-KR" sz="1400" dirty="0"/>
              <a:t>. </a:t>
            </a:r>
            <a:r>
              <a:rPr lang="en-US" altLang="ko-KR" sz="1400" b="1" dirty="0"/>
              <a:t>But to enable communication between containers running on different nodes, the bridges on those nodes need to be connected somehow</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D517BFAF-D127-8DF0-0B8D-D3D161999CBF}"/>
              </a:ext>
            </a:extLst>
          </p:cNvPr>
          <p:cNvGrpSpPr/>
          <p:nvPr/>
        </p:nvGrpSpPr>
        <p:grpSpPr>
          <a:xfrm>
            <a:off x="1824928" y="3003188"/>
            <a:ext cx="8542144" cy="3405842"/>
            <a:chOff x="-315591" y="3003188"/>
            <a:chExt cx="8542144" cy="3405842"/>
          </a:xfrm>
        </p:grpSpPr>
        <p:pic>
          <p:nvPicPr>
            <p:cNvPr id="4" name="그림 3">
              <a:extLst>
                <a:ext uri="{FF2B5EF4-FFF2-40B4-BE49-F238E27FC236}">
                  <a16:creationId xmlns:a16="http://schemas.microsoft.com/office/drawing/2014/main" id="{9DC3F7FE-1FBE-4732-DB6F-D9536CD220CF}"/>
                </a:ext>
              </a:extLst>
            </p:cNvPr>
            <p:cNvPicPr>
              <a:picLocks noChangeAspect="1"/>
            </p:cNvPicPr>
            <p:nvPr/>
          </p:nvPicPr>
          <p:blipFill>
            <a:blip r:embed="rId2"/>
            <a:stretch>
              <a:fillRect/>
            </a:stretch>
          </p:blipFill>
          <p:spPr>
            <a:xfrm>
              <a:off x="3965446" y="3003188"/>
              <a:ext cx="4261107" cy="3405842"/>
            </a:xfrm>
            <a:prstGeom prst="rect">
              <a:avLst/>
            </a:prstGeom>
          </p:spPr>
        </p:pic>
        <p:pic>
          <p:nvPicPr>
            <p:cNvPr id="8" name="그림 7">
              <a:extLst>
                <a:ext uri="{FF2B5EF4-FFF2-40B4-BE49-F238E27FC236}">
                  <a16:creationId xmlns:a16="http://schemas.microsoft.com/office/drawing/2014/main" id="{5FC9FBDA-5322-93E1-CF35-F22757F293F1}"/>
                </a:ext>
              </a:extLst>
            </p:cNvPr>
            <p:cNvPicPr>
              <a:picLocks noChangeAspect="1"/>
            </p:cNvPicPr>
            <p:nvPr/>
          </p:nvPicPr>
          <p:blipFill>
            <a:blip r:embed="rId3"/>
            <a:stretch>
              <a:fillRect/>
            </a:stretch>
          </p:blipFill>
          <p:spPr>
            <a:xfrm>
              <a:off x="-315591" y="3207138"/>
              <a:ext cx="4186111" cy="2876456"/>
            </a:xfrm>
            <a:prstGeom prst="rect">
              <a:avLst/>
            </a:prstGeom>
          </p:spPr>
        </p:pic>
      </p:grpSp>
    </p:spTree>
    <p:extLst>
      <p:ext uri="{BB962C8B-B14F-4D97-AF65-F5344CB8AC3E}">
        <p14:creationId xmlns:p14="http://schemas.microsoft.com/office/powerpoint/2010/main" val="223773096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Inter-Pod Networking(5/7)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Driving Deeper into How Networking Works :</a:t>
            </a:r>
          </a:p>
          <a:p>
            <a:pPr lvl="1">
              <a:buFont typeface="Wingdings" panose="05000000000000000000" pitchFamily="2" charset="2"/>
              <a:buChar char="§"/>
            </a:pPr>
            <a:r>
              <a:rPr lang="en-US" altLang="ko-KR" sz="1400" b="1" dirty="0"/>
              <a:t>You have many ways to connect bridges on different nodes</a:t>
            </a:r>
            <a:r>
              <a:rPr lang="en-US" altLang="ko-KR" sz="1400" dirty="0"/>
              <a:t>. This can be done with </a:t>
            </a:r>
            <a:r>
              <a:rPr lang="en-US" altLang="ko-KR" sz="1400" b="1" dirty="0"/>
              <a:t>overlay</a:t>
            </a:r>
            <a:r>
              <a:rPr lang="en-US" altLang="ko-KR" sz="1400" dirty="0"/>
              <a:t> or </a:t>
            </a:r>
            <a:r>
              <a:rPr lang="en-US" altLang="ko-KR" sz="1400" b="1" dirty="0"/>
              <a:t>underlay</a:t>
            </a:r>
            <a:r>
              <a:rPr lang="en-US" altLang="ko-KR" sz="1400" dirty="0"/>
              <a:t> networks or by </a:t>
            </a:r>
            <a:r>
              <a:rPr lang="en-US" altLang="ko-KR" sz="1400" b="1" dirty="0"/>
              <a:t>regular layer 3 routing</a:t>
            </a:r>
            <a:r>
              <a:rPr lang="en-US" altLang="ko-KR" sz="1400" dirty="0"/>
              <a:t>. </a:t>
            </a:r>
          </a:p>
          <a:p>
            <a:pPr lvl="1">
              <a:buFont typeface="Wingdings" panose="05000000000000000000" pitchFamily="2" charset="2"/>
              <a:buChar char="§"/>
            </a:pPr>
            <a:r>
              <a:rPr lang="en-US" altLang="ko-KR" sz="1400" b="1" dirty="0"/>
              <a:t>You know pod IP addresses must be unique across the whole cluster</a:t>
            </a:r>
            <a:r>
              <a:rPr lang="en-US" altLang="ko-KR" sz="1400" dirty="0"/>
              <a:t>, </a:t>
            </a:r>
            <a:r>
              <a:rPr lang="en-US" altLang="ko-KR" sz="1400" b="1" dirty="0"/>
              <a:t>so the bridges across the nodes must use </a:t>
            </a:r>
            <a:r>
              <a:rPr lang="en-US" altLang="ko-KR" sz="1400" b="1" dirty="0">
                <a:solidFill>
                  <a:srgbClr val="FF0000"/>
                </a:solidFill>
              </a:rPr>
              <a:t>non-overlapping address ranges </a:t>
            </a:r>
            <a:r>
              <a:rPr lang="en-US" altLang="ko-KR" sz="1400" b="1" dirty="0"/>
              <a:t>to prevent pods on different nodes from getting the same IP</a:t>
            </a:r>
            <a:r>
              <a:rPr lang="en-US" altLang="ko-KR" sz="1400" dirty="0"/>
              <a:t>. In the example shown in the following figure, the bridge on node A is using the “</a:t>
            </a:r>
            <a:r>
              <a:rPr lang="en-US" altLang="ko-KR" sz="1400" b="1" dirty="0"/>
              <a:t>10.1.1.0/24</a:t>
            </a:r>
            <a:r>
              <a:rPr lang="en-US" altLang="ko-KR" sz="1400" dirty="0"/>
              <a:t>“ IP range and the bridge on node B is using “</a:t>
            </a:r>
            <a:r>
              <a:rPr lang="en-US" altLang="ko-KR" sz="1400" b="1" dirty="0"/>
              <a:t>10.1.2.0/24</a:t>
            </a:r>
            <a:r>
              <a:rPr lang="en-US" altLang="ko-KR" sz="1400" dirty="0"/>
              <a:t>”, which ensures no IP address conflicts exist.</a:t>
            </a:r>
          </a:p>
          <a:p>
            <a:pPr lvl="1">
              <a:buFont typeface="Wingdings" panose="05000000000000000000" pitchFamily="2" charset="2"/>
              <a:buChar char="§"/>
            </a:pPr>
            <a:r>
              <a:rPr lang="en-US" altLang="ko-KR" sz="1400" dirty="0"/>
              <a:t>The following figure shows </a:t>
            </a:r>
            <a:r>
              <a:rPr lang="en-US" altLang="ko-KR" sz="1400" b="1" dirty="0"/>
              <a:t>that to enable communication between pods across two nodes with plain layer 3 networking, the node’s physical network interface needs to be connected to the bridge as well</a:t>
            </a:r>
            <a:r>
              <a:rPr lang="en-US" altLang="ko-KR" sz="1400" dirty="0"/>
              <a:t>. </a:t>
            </a:r>
            <a:r>
              <a:rPr lang="en-US" altLang="ko-KR" sz="1400" b="1" dirty="0"/>
              <a:t>Routing tables </a:t>
            </a:r>
            <a:r>
              <a:rPr lang="en-US" altLang="ko-KR" sz="1400" dirty="0"/>
              <a:t>on node A need to be configured so all packets destined for “</a:t>
            </a:r>
            <a:r>
              <a:rPr lang="en-US" altLang="ko-KR" sz="1400" b="1" dirty="0"/>
              <a:t>10.1.2.0/24</a:t>
            </a:r>
            <a:r>
              <a:rPr lang="en-US" altLang="ko-KR" sz="1400" dirty="0"/>
              <a:t>” are routed to node B, whereas node B’s </a:t>
            </a:r>
            <a:r>
              <a:rPr lang="en-US" altLang="ko-KR" sz="1400" b="1" dirty="0"/>
              <a:t>routing tables </a:t>
            </a:r>
            <a:r>
              <a:rPr lang="en-US" altLang="ko-KR" sz="1400" dirty="0"/>
              <a:t>need to be configured so packets sent to “</a:t>
            </a:r>
            <a:r>
              <a:rPr lang="en-US" altLang="ko-KR" sz="1400" b="1" dirty="0"/>
              <a:t>10.1.1.0/24</a:t>
            </a:r>
            <a:r>
              <a:rPr lang="en-US" altLang="ko-KR" sz="1400" dirty="0"/>
              <a:t>” are routed to node A.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CEA02BAD-2EF2-A16C-3403-5AABC1647A6B}"/>
              </a:ext>
            </a:extLst>
          </p:cNvPr>
          <p:cNvGrpSpPr/>
          <p:nvPr/>
        </p:nvGrpSpPr>
        <p:grpSpPr>
          <a:xfrm>
            <a:off x="3071327" y="3427605"/>
            <a:ext cx="6049345" cy="2702674"/>
            <a:chOff x="3071327" y="3427605"/>
            <a:chExt cx="6049345" cy="2702674"/>
          </a:xfrm>
        </p:grpSpPr>
        <p:pic>
          <p:nvPicPr>
            <p:cNvPr id="8" name="그림 7">
              <a:extLst>
                <a:ext uri="{FF2B5EF4-FFF2-40B4-BE49-F238E27FC236}">
                  <a16:creationId xmlns:a16="http://schemas.microsoft.com/office/drawing/2014/main" id="{93142E2F-D20F-8A08-A5AB-87F187B5EEB2}"/>
                </a:ext>
              </a:extLst>
            </p:cNvPr>
            <p:cNvPicPr>
              <a:picLocks noChangeAspect="1"/>
            </p:cNvPicPr>
            <p:nvPr/>
          </p:nvPicPr>
          <p:blipFill>
            <a:blip r:embed="rId2"/>
            <a:stretch>
              <a:fillRect/>
            </a:stretch>
          </p:blipFill>
          <p:spPr>
            <a:xfrm>
              <a:off x="3071327" y="3427605"/>
              <a:ext cx="6049345" cy="2702674"/>
            </a:xfrm>
            <a:prstGeom prst="rect">
              <a:avLst/>
            </a:prstGeom>
          </p:spPr>
        </p:pic>
        <p:sp>
          <p:nvSpPr>
            <p:cNvPr id="9" name="직사각형 8">
              <a:extLst>
                <a:ext uri="{FF2B5EF4-FFF2-40B4-BE49-F238E27FC236}">
                  <a16:creationId xmlns:a16="http://schemas.microsoft.com/office/drawing/2014/main" id="{D792D7AC-0986-F0A9-2EEF-8FDF2C2E31AD}"/>
                </a:ext>
              </a:extLst>
            </p:cNvPr>
            <p:cNvSpPr/>
            <p:nvPr/>
          </p:nvSpPr>
          <p:spPr>
            <a:xfrm>
              <a:off x="5195087" y="4596276"/>
              <a:ext cx="801111" cy="10034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284F5C32-79D0-9ED6-142A-7C872C8659EE}"/>
                </a:ext>
              </a:extLst>
            </p:cNvPr>
            <p:cNvSpPr/>
            <p:nvPr/>
          </p:nvSpPr>
          <p:spPr>
            <a:xfrm>
              <a:off x="6211988" y="4596276"/>
              <a:ext cx="801111" cy="10034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2704058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Inter-Pod Networking(6/7)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Driving Deeper into How Networking Works :</a:t>
            </a:r>
          </a:p>
          <a:p>
            <a:pPr lvl="1">
              <a:buFont typeface="Wingdings" panose="05000000000000000000" pitchFamily="2" charset="2"/>
              <a:buChar char="§"/>
            </a:pPr>
            <a:r>
              <a:rPr lang="en-US" altLang="ko-KR" sz="1400" dirty="0"/>
              <a:t>With this type of setup, </a:t>
            </a:r>
            <a:r>
              <a:rPr lang="en-US" altLang="ko-KR" sz="1400" b="1" dirty="0"/>
              <a:t>when a packet is sent by a container on one of the nodes to a container on the other node, the packet first goes through the </a:t>
            </a:r>
            <a:r>
              <a:rPr lang="en-US" altLang="ko-KR" sz="1400" b="1" dirty="0" err="1">
                <a:solidFill>
                  <a:srgbClr val="FF0000"/>
                </a:solidFill>
              </a:rPr>
              <a:t>veth</a:t>
            </a:r>
            <a:r>
              <a:rPr lang="en-US" altLang="ko-KR" sz="1400" b="1" dirty="0"/>
              <a:t> pair, then through the </a:t>
            </a:r>
            <a:r>
              <a:rPr lang="en-US" altLang="ko-KR" sz="1400" b="1" dirty="0">
                <a:solidFill>
                  <a:srgbClr val="FF0000"/>
                </a:solidFill>
              </a:rPr>
              <a:t>bridge</a:t>
            </a:r>
            <a:r>
              <a:rPr lang="en-US" altLang="ko-KR" sz="1400" b="1" dirty="0"/>
              <a:t> to the node’s </a:t>
            </a:r>
            <a:r>
              <a:rPr lang="en-US" altLang="ko-KR" sz="1400" b="1" dirty="0">
                <a:solidFill>
                  <a:srgbClr val="FF0000"/>
                </a:solidFill>
              </a:rPr>
              <a:t>physical adapter</a:t>
            </a:r>
            <a:r>
              <a:rPr lang="en-US" altLang="ko-KR" sz="1400" b="1" dirty="0"/>
              <a:t>, then over the wire to the other node’s </a:t>
            </a:r>
            <a:r>
              <a:rPr lang="en-US" altLang="ko-KR" sz="1400" b="1" dirty="0">
                <a:solidFill>
                  <a:srgbClr val="FF0000"/>
                </a:solidFill>
              </a:rPr>
              <a:t>physical adapter</a:t>
            </a:r>
            <a:r>
              <a:rPr lang="en-US" altLang="ko-KR" sz="1400" b="1" dirty="0"/>
              <a:t>, through the other node’s </a:t>
            </a:r>
            <a:r>
              <a:rPr lang="en-US" altLang="ko-KR" sz="1400" b="1" dirty="0">
                <a:solidFill>
                  <a:srgbClr val="FF0000"/>
                </a:solidFill>
              </a:rPr>
              <a:t>bridge</a:t>
            </a:r>
            <a:r>
              <a:rPr lang="en-US" altLang="ko-KR" sz="1400" b="1" dirty="0"/>
              <a:t>, and finally through the </a:t>
            </a:r>
            <a:r>
              <a:rPr lang="en-US" altLang="ko-KR" sz="1400" b="1" dirty="0" err="1">
                <a:solidFill>
                  <a:srgbClr val="FF0000"/>
                </a:solidFill>
              </a:rPr>
              <a:t>veth</a:t>
            </a:r>
            <a:r>
              <a:rPr lang="en-US" altLang="ko-KR" sz="1400" b="1" dirty="0"/>
              <a:t> pair of the destination container</a:t>
            </a:r>
            <a:r>
              <a:rPr lang="en-US" altLang="ko-KR" sz="1400" dirty="0"/>
              <a:t>.</a:t>
            </a:r>
          </a:p>
          <a:p>
            <a:pPr lvl="1">
              <a:buFont typeface="Wingdings" panose="05000000000000000000" pitchFamily="2" charset="2"/>
              <a:buChar char="§"/>
            </a:pPr>
            <a:r>
              <a:rPr lang="en-US" altLang="ko-KR" sz="1400" b="1" dirty="0"/>
              <a:t>This works only when nodes are connected to the same network switch</a:t>
            </a:r>
            <a:r>
              <a:rPr lang="en-US" altLang="ko-KR" sz="1400" dirty="0"/>
              <a:t>, </a:t>
            </a:r>
            <a:r>
              <a:rPr lang="en-US" altLang="ko-KR" sz="1400" b="1" dirty="0"/>
              <a:t>without any routers in between</a:t>
            </a:r>
            <a:r>
              <a:rPr lang="en-US" altLang="ko-KR" sz="1400" dirty="0"/>
              <a:t>; </a:t>
            </a:r>
            <a:r>
              <a:rPr lang="en-US" altLang="ko-KR" sz="1400" b="1" dirty="0"/>
              <a:t>otherwise those routers would drop the packets because they refer to pod IPs, which are private</a:t>
            </a:r>
            <a:r>
              <a:rPr lang="en-US" altLang="ko-KR" sz="1400" dirty="0"/>
              <a:t>. Sure, the routers in between could be configured to route packets between the nodes, but this becomes increasingly difficult and error-prone as the number of routers between the nodes increases. </a:t>
            </a:r>
            <a:r>
              <a:rPr lang="en-US" altLang="ko-KR" sz="1400" b="1" dirty="0"/>
              <a:t>Because of this, it’s easier to use a </a:t>
            </a:r>
            <a:r>
              <a:rPr lang="en-US" altLang="ko-KR" sz="1400" b="1" dirty="0">
                <a:solidFill>
                  <a:srgbClr val="FF0000"/>
                </a:solidFill>
              </a:rPr>
              <a:t>Software Defined Network (SDN)</a:t>
            </a:r>
            <a:r>
              <a:rPr lang="en-US" altLang="ko-KR" sz="1400" b="1" dirty="0"/>
              <a:t>, which makes the nodes appear as though they’re connected to the same network switch, regardless of the actual underlying network topology, no matter how complex it is</a:t>
            </a:r>
            <a:r>
              <a:rPr lang="en-US" altLang="ko-KR" sz="1400" dirty="0"/>
              <a:t>. Packets sent from the pod are </a:t>
            </a:r>
            <a:r>
              <a:rPr lang="en-US" altLang="ko-KR" sz="1400" b="1" dirty="0"/>
              <a:t>encapsulated</a:t>
            </a:r>
            <a:r>
              <a:rPr lang="en-US" altLang="ko-KR" sz="1400" dirty="0"/>
              <a:t> and sent over the network to the node running the other pod, where they are </a:t>
            </a:r>
            <a:r>
              <a:rPr lang="en-US" altLang="ko-KR" sz="1400" b="1" dirty="0"/>
              <a:t>de-encapsulated</a:t>
            </a:r>
            <a:r>
              <a:rPr lang="en-US" altLang="ko-KR" sz="1400" dirty="0"/>
              <a:t> and delivered to the pod in their original form.</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096F9C1-3C37-D7BA-B028-230A26DCD34B}"/>
              </a:ext>
            </a:extLst>
          </p:cNvPr>
          <p:cNvPicPr>
            <a:picLocks noChangeAspect="1"/>
          </p:cNvPicPr>
          <p:nvPr/>
        </p:nvPicPr>
        <p:blipFill>
          <a:blip r:embed="rId2"/>
          <a:stretch>
            <a:fillRect/>
          </a:stretch>
        </p:blipFill>
        <p:spPr>
          <a:xfrm>
            <a:off x="7048163" y="3465004"/>
            <a:ext cx="4305637" cy="2944026"/>
          </a:xfrm>
          <a:prstGeom prst="rect">
            <a:avLst/>
          </a:prstGeom>
        </p:spPr>
      </p:pic>
    </p:spTree>
    <p:extLst>
      <p:ext uri="{BB962C8B-B14F-4D97-AF65-F5344CB8AC3E}">
        <p14:creationId xmlns:p14="http://schemas.microsoft.com/office/powerpoint/2010/main" val="27110632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Inter-Pod Networking(7/7)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Container Network Interface(CNI) :</a:t>
            </a:r>
          </a:p>
          <a:p>
            <a:pPr lvl="1">
              <a:buFont typeface="Wingdings" panose="05000000000000000000" pitchFamily="2" charset="2"/>
              <a:buChar char="§"/>
            </a:pPr>
            <a:r>
              <a:rPr lang="en-US" altLang="ko-KR" sz="1400" b="1" dirty="0"/>
              <a:t>To make it easier to connect containers into a network, a project called </a:t>
            </a:r>
            <a:r>
              <a:rPr lang="en-US" altLang="ko-KR" sz="1400" b="1" dirty="0">
                <a:solidFill>
                  <a:srgbClr val="FF0000"/>
                </a:solidFill>
              </a:rPr>
              <a:t>Container Network Interface (CNI)</a:t>
            </a:r>
            <a:r>
              <a:rPr lang="en-US" altLang="ko-KR" sz="1400" b="1" dirty="0"/>
              <a:t> was started</a:t>
            </a:r>
            <a:r>
              <a:rPr lang="en-US" altLang="ko-KR" sz="1400" dirty="0"/>
              <a:t>. </a:t>
            </a:r>
            <a:r>
              <a:rPr lang="en-US" altLang="ko-KR" sz="1400" b="1" dirty="0"/>
              <a:t>The CNI allows Kubernetes to be configured to use any CNI plugin</a:t>
            </a:r>
            <a:r>
              <a:rPr lang="en-US" altLang="ko-KR" sz="1400" dirty="0"/>
              <a:t>. These plugins include : </a:t>
            </a:r>
          </a:p>
          <a:p>
            <a:pPr lvl="2">
              <a:buFont typeface="Wingdings" panose="05000000000000000000" pitchFamily="2" charset="2"/>
              <a:buChar char="§"/>
            </a:pPr>
            <a:r>
              <a:rPr lang="en-US" altLang="ko-KR" sz="1400" b="1" dirty="0"/>
              <a:t>Calico</a:t>
            </a:r>
          </a:p>
          <a:p>
            <a:pPr lvl="2">
              <a:buFont typeface="Wingdings" panose="05000000000000000000" pitchFamily="2" charset="2"/>
              <a:buChar char="§"/>
            </a:pPr>
            <a:r>
              <a:rPr lang="en-US" altLang="ko-KR" sz="1400" b="1" dirty="0"/>
              <a:t>Flannel</a:t>
            </a:r>
          </a:p>
          <a:p>
            <a:pPr lvl="2">
              <a:buFont typeface="Wingdings" panose="05000000000000000000" pitchFamily="2" charset="2"/>
              <a:buChar char="§"/>
            </a:pPr>
            <a:r>
              <a:rPr lang="en-US" altLang="ko-KR" sz="1400" b="1" dirty="0"/>
              <a:t>Romana</a:t>
            </a:r>
          </a:p>
          <a:p>
            <a:pPr lvl="2">
              <a:buFont typeface="Wingdings" panose="05000000000000000000" pitchFamily="2" charset="2"/>
              <a:buChar char="§"/>
            </a:pPr>
            <a:r>
              <a:rPr lang="en-US" altLang="ko-KR" sz="1400" b="1" dirty="0"/>
              <a:t>Weave Net</a:t>
            </a:r>
          </a:p>
          <a:p>
            <a:pPr lvl="2">
              <a:buFont typeface="Wingdings" panose="05000000000000000000" pitchFamily="2" charset="2"/>
              <a:buChar char="§"/>
            </a:pPr>
            <a:r>
              <a:rPr lang="en-US" altLang="ko-KR" sz="1400" dirty="0"/>
              <a:t>And others</a:t>
            </a:r>
          </a:p>
          <a:p>
            <a:pPr lvl="1">
              <a:buFont typeface="Wingdings" panose="05000000000000000000" pitchFamily="2" charset="2"/>
              <a:buChar char="§"/>
            </a:pPr>
            <a:r>
              <a:rPr lang="en-US" altLang="ko-KR" sz="1400" dirty="0"/>
              <a:t>If you want to learn more about them, refer to </a:t>
            </a:r>
            <a:r>
              <a:rPr lang="en-US" altLang="ko-KR" sz="1400" b="1" dirty="0">
                <a:hlinkClick r:id="rId2"/>
              </a:rPr>
              <a:t>https://kubernetes.io/docs/concepts/cluster-administration/addons/</a:t>
            </a:r>
            <a:r>
              <a:rPr lang="en-US" altLang="ko-KR" sz="1400" dirty="0"/>
              <a:t>.</a:t>
            </a:r>
          </a:p>
          <a:p>
            <a:pPr lvl="1">
              <a:buFont typeface="Wingdings" panose="05000000000000000000" pitchFamily="2" charset="2"/>
              <a:buChar char="§"/>
            </a:pPr>
            <a:r>
              <a:rPr lang="en-US" altLang="ko-KR" sz="1400" b="1" dirty="0"/>
              <a:t>You only need to deploy a YAML containing a </a:t>
            </a:r>
            <a:r>
              <a:rPr lang="en-US" altLang="ko-KR" sz="1400" b="1" dirty="0" err="1">
                <a:solidFill>
                  <a:srgbClr val="FF0000"/>
                </a:solidFill>
              </a:rPr>
              <a:t>DaemonSet</a:t>
            </a:r>
            <a:r>
              <a:rPr lang="en-US" altLang="ko-KR" sz="1400" b="1" dirty="0"/>
              <a:t> and a few other supporting resources</a:t>
            </a:r>
            <a:r>
              <a:rPr lang="en-US" altLang="ko-KR" sz="1400" dirty="0"/>
              <a:t>. This YAML is provided on each plugin’s project page. As you can imagine, </a:t>
            </a:r>
            <a:r>
              <a:rPr lang="en-US" altLang="ko-KR" sz="1400" b="1" dirty="0"/>
              <a:t>the </a:t>
            </a:r>
            <a:r>
              <a:rPr lang="en-US" altLang="ko-KR" sz="1400" b="1" dirty="0" err="1"/>
              <a:t>DaemonSet</a:t>
            </a:r>
            <a:r>
              <a:rPr lang="en-US" altLang="ko-KR" sz="1400" b="1" dirty="0"/>
              <a:t> is used to deploy a network agent on all cluster nodes</a:t>
            </a:r>
            <a:r>
              <a:rPr lang="en-US" altLang="ko-KR" sz="1400" dirty="0"/>
              <a:t>. </a:t>
            </a:r>
            <a:r>
              <a:rPr lang="en-US" altLang="ko-KR" sz="1400" b="1" dirty="0"/>
              <a:t>It then ties into the CNI interface on the node, but be aware that the </a:t>
            </a:r>
            <a:r>
              <a:rPr lang="en-US" altLang="ko-KR" sz="1400" b="1" dirty="0" err="1">
                <a:solidFill>
                  <a:srgbClr val="FF0000"/>
                </a:solidFill>
              </a:rPr>
              <a:t>Kubelet</a:t>
            </a:r>
            <a:r>
              <a:rPr lang="en-US" altLang="ko-KR" sz="1400" b="1" dirty="0"/>
              <a:t> needs to be started with “</a:t>
            </a:r>
            <a:r>
              <a:rPr lang="en-US" altLang="ko-KR" sz="1400" b="1" dirty="0">
                <a:solidFill>
                  <a:srgbClr val="FF0000"/>
                </a:solidFill>
              </a:rPr>
              <a:t>--network-plugin=</a:t>
            </a:r>
            <a:r>
              <a:rPr lang="en-US" altLang="ko-KR" sz="1400" b="1" dirty="0" err="1">
                <a:solidFill>
                  <a:srgbClr val="FF0000"/>
                </a:solidFill>
              </a:rPr>
              <a:t>cni</a:t>
            </a:r>
            <a:r>
              <a:rPr lang="en-US" altLang="ko-KR" sz="1400" b="1" dirty="0"/>
              <a:t>” to use CNI</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48B47AD-9CF1-9B3A-D482-0FCEC69FA311}"/>
              </a:ext>
            </a:extLst>
          </p:cNvPr>
          <p:cNvPicPr>
            <a:picLocks noChangeAspect="1"/>
          </p:cNvPicPr>
          <p:nvPr/>
        </p:nvPicPr>
        <p:blipFill>
          <a:blip r:embed="rId3"/>
          <a:stretch>
            <a:fillRect/>
          </a:stretch>
        </p:blipFill>
        <p:spPr>
          <a:xfrm>
            <a:off x="8723215" y="3979391"/>
            <a:ext cx="2630586" cy="2429639"/>
          </a:xfrm>
          <a:prstGeom prst="rect">
            <a:avLst/>
          </a:prstGeom>
        </p:spPr>
      </p:pic>
    </p:spTree>
    <p:extLst>
      <p:ext uri="{BB962C8B-B14F-4D97-AF65-F5344CB8AC3E}">
        <p14:creationId xmlns:p14="http://schemas.microsoft.com/office/powerpoint/2010/main" val="108496301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Networking Big Picture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Example Network in Kubernetes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CEBAAFAA-A437-0800-B154-96EC1F70C53A}"/>
              </a:ext>
            </a:extLst>
          </p:cNvPr>
          <p:cNvGrpSpPr/>
          <p:nvPr/>
        </p:nvGrpSpPr>
        <p:grpSpPr>
          <a:xfrm>
            <a:off x="1234372" y="1219267"/>
            <a:ext cx="9723256" cy="4864327"/>
            <a:chOff x="1234372" y="1219267"/>
            <a:chExt cx="9723256" cy="4864327"/>
          </a:xfrm>
        </p:grpSpPr>
        <p:pic>
          <p:nvPicPr>
            <p:cNvPr id="4" name="그림 3">
              <a:extLst>
                <a:ext uri="{FF2B5EF4-FFF2-40B4-BE49-F238E27FC236}">
                  <a16:creationId xmlns:a16="http://schemas.microsoft.com/office/drawing/2014/main" id="{B7ECB1A9-3B6B-9C1C-FD69-9E8B55A4BBD3}"/>
                </a:ext>
              </a:extLst>
            </p:cNvPr>
            <p:cNvPicPr>
              <a:picLocks noChangeAspect="1"/>
            </p:cNvPicPr>
            <p:nvPr/>
          </p:nvPicPr>
          <p:blipFill>
            <a:blip r:embed="rId2"/>
            <a:stretch>
              <a:fillRect/>
            </a:stretch>
          </p:blipFill>
          <p:spPr>
            <a:xfrm>
              <a:off x="1234372" y="1219267"/>
              <a:ext cx="9723256" cy="4864327"/>
            </a:xfrm>
            <a:prstGeom prst="rect">
              <a:avLst/>
            </a:prstGeom>
          </p:spPr>
        </p:pic>
        <p:sp>
          <p:nvSpPr>
            <p:cNvPr id="8" name="사각형: 잘린 한쪽 모서리 7">
              <a:extLst>
                <a:ext uri="{FF2B5EF4-FFF2-40B4-BE49-F238E27FC236}">
                  <a16:creationId xmlns:a16="http://schemas.microsoft.com/office/drawing/2014/main" id="{F2741758-DFCA-5BB4-03AE-71F838C22F0B}"/>
                </a:ext>
              </a:extLst>
            </p:cNvPr>
            <p:cNvSpPr/>
            <p:nvPr/>
          </p:nvSpPr>
          <p:spPr>
            <a:xfrm>
              <a:off x="1335186" y="5259823"/>
              <a:ext cx="2184849" cy="403186"/>
            </a:xfrm>
            <a:prstGeom prst="snip1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417666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How Services Are Implemented(1/4)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a:t>
            </a:r>
            <a:r>
              <a:rPr lang="en-US" altLang="ko-KR" sz="1800" b="1" dirty="0" err="1"/>
              <a:t>kube</a:t>
            </a:r>
            <a:r>
              <a:rPr lang="en-US" altLang="ko-KR" sz="1800" b="1" dirty="0"/>
              <a:t>-proxy :</a:t>
            </a:r>
          </a:p>
          <a:p>
            <a:pPr lvl="1">
              <a:buFont typeface="Wingdings" panose="05000000000000000000" pitchFamily="2" charset="2"/>
              <a:buChar char="§"/>
            </a:pPr>
            <a:r>
              <a:rPr lang="en-US" altLang="ko-KR" sz="1400" b="1" dirty="0">
                <a:solidFill>
                  <a:srgbClr val="FF0000"/>
                </a:solidFill>
              </a:rPr>
              <a:t>Services</a:t>
            </a:r>
            <a:r>
              <a:rPr lang="en-US" altLang="ko-KR" sz="1400" b="1" dirty="0"/>
              <a:t> allow exposing a set of pods at a long-lived, </a:t>
            </a:r>
            <a:r>
              <a:rPr lang="en-US" altLang="ko-KR" sz="1400" b="1" dirty="0">
                <a:solidFill>
                  <a:srgbClr val="FF0000"/>
                </a:solidFill>
              </a:rPr>
              <a:t>stable IP address </a:t>
            </a:r>
            <a:r>
              <a:rPr lang="en-US" altLang="ko-KR" sz="1400" b="1" dirty="0"/>
              <a:t>and </a:t>
            </a:r>
            <a:r>
              <a:rPr lang="en-US" altLang="ko-KR" sz="1400" b="1" dirty="0">
                <a:solidFill>
                  <a:srgbClr val="FF0000"/>
                </a:solidFill>
              </a:rPr>
              <a:t>port</a:t>
            </a:r>
            <a:r>
              <a:rPr lang="en-US" altLang="ko-KR" sz="1400" dirty="0"/>
              <a:t>. In order to focus on what Services are meant for and how they can be used, we intentionally didn’t go into how they work. But to truly understand Services and have a better feel for where to look when things don’t behave the way you expect, </a:t>
            </a:r>
            <a:r>
              <a:rPr lang="en-US" altLang="ko-KR" sz="1400" b="1" dirty="0"/>
              <a:t>you need to understand how they are implemented</a:t>
            </a:r>
            <a:r>
              <a:rPr lang="en-US" altLang="ko-KR" sz="1400" dirty="0"/>
              <a:t>.</a:t>
            </a:r>
          </a:p>
          <a:p>
            <a:pPr lvl="1">
              <a:buFont typeface="Wingdings" panose="05000000000000000000" pitchFamily="2" charset="2"/>
              <a:buChar char="§"/>
            </a:pPr>
            <a:r>
              <a:rPr lang="en-US" altLang="ko-KR" sz="1400" b="1" dirty="0"/>
              <a:t>Everything related to Services is handled by the </a:t>
            </a:r>
            <a:r>
              <a:rPr lang="en-US" altLang="ko-KR" sz="1400" b="1" dirty="0" err="1">
                <a:solidFill>
                  <a:srgbClr val="FF0000"/>
                </a:solidFill>
              </a:rPr>
              <a:t>kube</a:t>
            </a:r>
            <a:r>
              <a:rPr lang="en-US" altLang="ko-KR" sz="1400" b="1" dirty="0">
                <a:solidFill>
                  <a:srgbClr val="FF0000"/>
                </a:solidFill>
              </a:rPr>
              <a:t>-proxy</a:t>
            </a:r>
            <a:r>
              <a:rPr lang="en-US" altLang="ko-KR" sz="1400" b="1" dirty="0"/>
              <a:t> process running on each node</a:t>
            </a:r>
            <a:r>
              <a:rPr lang="en-US" altLang="ko-KR" sz="1400" dirty="0"/>
              <a:t>. </a:t>
            </a:r>
            <a:r>
              <a:rPr lang="en-US" altLang="ko-KR" sz="1400" b="1" dirty="0"/>
              <a:t>Initially, the </a:t>
            </a:r>
            <a:r>
              <a:rPr lang="en-US" altLang="ko-KR" sz="1400" b="1" dirty="0" err="1"/>
              <a:t>kube</a:t>
            </a:r>
            <a:r>
              <a:rPr lang="en-US" altLang="ko-KR" sz="1400" b="1" dirty="0"/>
              <a:t>-proxy was an actual proxy waiting for connections and for each incoming connection, opening a new connection to one of the pods</a:t>
            </a:r>
            <a:r>
              <a:rPr lang="en-US" altLang="ko-KR" sz="1400" dirty="0"/>
              <a:t>. This was called the </a:t>
            </a:r>
            <a:r>
              <a:rPr lang="en-US" altLang="ko-KR" sz="1400" b="1" dirty="0" err="1">
                <a:solidFill>
                  <a:srgbClr val="FF0000"/>
                </a:solidFill>
              </a:rPr>
              <a:t>userspace</a:t>
            </a:r>
            <a:r>
              <a:rPr lang="en-US" altLang="ko-KR" sz="1400" b="1" dirty="0">
                <a:solidFill>
                  <a:srgbClr val="FF0000"/>
                </a:solidFill>
              </a:rPr>
              <a:t> proxy mode</a:t>
            </a:r>
            <a:r>
              <a:rPr lang="en-US" altLang="ko-KR" sz="1400" dirty="0"/>
              <a:t>. Later, a better-performing </a:t>
            </a:r>
            <a:r>
              <a:rPr lang="en-US" altLang="ko-KR" sz="1400" b="1" dirty="0">
                <a:solidFill>
                  <a:srgbClr val="FF0000"/>
                </a:solidFill>
              </a:rPr>
              <a:t>iptables proxy mode</a:t>
            </a:r>
            <a:r>
              <a:rPr lang="en-US" altLang="ko-KR" sz="1400" dirty="0"/>
              <a:t> replaced it. </a:t>
            </a:r>
            <a:r>
              <a:rPr lang="en-US" altLang="ko-KR" sz="1400" b="1" dirty="0"/>
              <a:t>This is now the default</a:t>
            </a:r>
            <a:r>
              <a:rPr lang="en-US" altLang="ko-KR" sz="1400" dirty="0"/>
              <a:t>, but you can still configure Kubernetes to use the old mode if you want.</a:t>
            </a:r>
          </a:p>
          <a:p>
            <a:pPr lvl="1">
              <a:buFont typeface="Wingdings" panose="05000000000000000000" pitchFamily="2" charset="2"/>
              <a:buChar char="§"/>
            </a:pPr>
            <a:r>
              <a:rPr lang="en-US" altLang="ko-KR" sz="1400" b="1" dirty="0"/>
              <a:t>Clients (usually pods) use the service by connecting to this IP address and port</a:t>
            </a:r>
            <a:r>
              <a:rPr lang="en-US" altLang="ko-KR" sz="1400" dirty="0"/>
              <a:t>. </a:t>
            </a:r>
            <a:r>
              <a:rPr lang="en-US" altLang="ko-KR" sz="1400" b="1" dirty="0"/>
              <a:t>The IP address is virtual</a:t>
            </a:r>
            <a:r>
              <a:rPr lang="en-US" altLang="ko-KR" sz="1400" dirty="0"/>
              <a:t>—it’s not assigned to any network interfaces and is never listed as either the source or the destination IP address in a network packet when the packet leaves the node. </a:t>
            </a:r>
            <a:r>
              <a:rPr lang="en-US" altLang="ko-KR" sz="1400" b="1" dirty="0"/>
              <a:t>A key detail of Services is that they consist of an IP and port pair (or multiple IP and port pairs in the case of </a:t>
            </a:r>
            <a:r>
              <a:rPr lang="en-US" altLang="ko-KR" sz="1400" b="1" dirty="0">
                <a:solidFill>
                  <a:srgbClr val="FF0000"/>
                </a:solidFill>
              </a:rPr>
              <a:t>multi-port Services</a:t>
            </a:r>
            <a:r>
              <a:rPr lang="en-US" altLang="ko-KR" sz="1400" b="1" dirty="0"/>
              <a:t>), so the service IP by itself doesn’t represent anything</a:t>
            </a:r>
            <a:r>
              <a:rPr lang="en-US" altLang="ko-KR" sz="1400" dirty="0"/>
              <a:t>. That’s why you can’t ping them.</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C688B1F-7FC4-0D09-A620-8520C8B66620}"/>
              </a:ext>
            </a:extLst>
          </p:cNvPr>
          <p:cNvPicPr>
            <a:picLocks noChangeAspect="1"/>
          </p:cNvPicPr>
          <p:nvPr/>
        </p:nvPicPr>
        <p:blipFill>
          <a:blip r:embed="rId2"/>
          <a:stretch>
            <a:fillRect/>
          </a:stretch>
        </p:blipFill>
        <p:spPr>
          <a:xfrm>
            <a:off x="3988277" y="4023705"/>
            <a:ext cx="4215445" cy="2385325"/>
          </a:xfrm>
          <a:prstGeom prst="rect">
            <a:avLst/>
          </a:prstGeom>
        </p:spPr>
      </p:pic>
    </p:spTree>
    <p:extLst>
      <p:ext uri="{BB962C8B-B14F-4D97-AF65-F5344CB8AC3E}">
        <p14:creationId xmlns:p14="http://schemas.microsoft.com/office/powerpoint/2010/main" val="38796784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How Services Are Implemented(2/4)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How </a:t>
            </a:r>
            <a:r>
              <a:rPr lang="en-US" altLang="ko-KR" sz="1800" b="1" dirty="0" err="1"/>
              <a:t>kube</a:t>
            </a:r>
            <a:r>
              <a:rPr lang="en-US" altLang="ko-KR" sz="1800" b="1" dirty="0"/>
              <a:t>-proxy Uses Iptables :</a:t>
            </a:r>
          </a:p>
          <a:p>
            <a:pPr lvl="1">
              <a:buFont typeface="Wingdings" panose="05000000000000000000" pitchFamily="2" charset="2"/>
              <a:buChar char="§"/>
            </a:pPr>
            <a:r>
              <a:rPr lang="en-US" altLang="ko-KR" sz="1400" b="1" dirty="0"/>
              <a:t>When a service is created in the API server, the </a:t>
            </a:r>
            <a:r>
              <a:rPr lang="en-US" altLang="ko-KR" sz="1400" b="1" dirty="0">
                <a:solidFill>
                  <a:srgbClr val="FF0000"/>
                </a:solidFill>
              </a:rPr>
              <a:t>virtual IP address </a:t>
            </a:r>
            <a:r>
              <a:rPr lang="en-US" altLang="ko-KR" sz="1400" b="1" dirty="0"/>
              <a:t>is assigned to it immediately</a:t>
            </a:r>
            <a:r>
              <a:rPr lang="en-US" altLang="ko-KR" sz="1400" dirty="0"/>
              <a:t>. Soon afterward, </a:t>
            </a:r>
            <a:r>
              <a:rPr lang="en-US" altLang="ko-KR" sz="1400" b="1" dirty="0"/>
              <a:t>the API server notifies all </a:t>
            </a:r>
            <a:r>
              <a:rPr lang="en-US" altLang="ko-KR" sz="1400" b="1" dirty="0" err="1"/>
              <a:t>kube</a:t>
            </a:r>
            <a:r>
              <a:rPr lang="en-US" altLang="ko-KR" sz="1400" b="1" dirty="0"/>
              <a:t>-proxy agents running on the worker nodes that a new Service has been created</a:t>
            </a:r>
            <a:r>
              <a:rPr lang="en-US" altLang="ko-KR" sz="1400" dirty="0"/>
              <a:t>. Then, </a:t>
            </a:r>
            <a:r>
              <a:rPr lang="en-US" altLang="ko-KR" sz="1400" b="1" dirty="0"/>
              <a:t>each </a:t>
            </a:r>
            <a:r>
              <a:rPr lang="en-US" altLang="ko-KR" sz="1400" b="1" dirty="0" err="1">
                <a:solidFill>
                  <a:srgbClr val="FF0000"/>
                </a:solidFill>
              </a:rPr>
              <a:t>kube</a:t>
            </a:r>
            <a:r>
              <a:rPr lang="en-US" altLang="ko-KR" sz="1400" b="1" dirty="0">
                <a:solidFill>
                  <a:srgbClr val="FF0000"/>
                </a:solidFill>
              </a:rPr>
              <a:t>-proxy</a:t>
            </a:r>
            <a:r>
              <a:rPr lang="en-US" altLang="ko-KR" sz="1400" b="1" dirty="0"/>
              <a:t> makes that service addressable on the node it’s running on</a:t>
            </a:r>
            <a:r>
              <a:rPr lang="en-US" altLang="ko-KR" sz="1400" dirty="0"/>
              <a:t>. It does this by </a:t>
            </a:r>
            <a:r>
              <a:rPr lang="en-US" altLang="ko-KR" sz="1400" b="1" dirty="0"/>
              <a:t>setting up a few </a:t>
            </a:r>
            <a:r>
              <a:rPr lang="en-US" altLang="ko-KR" sz="1400" b="1" dirty="0">
                <a:solidFill>
                  <a:srgbClr val="FF0000"/>
                </a:solidFill>
              </a:rPr>
              <a:t>iptables rules</a:t>
            </a:r>
            <a:r>
              <a:rPr lang="en-US" altLang="ko-KR" sz="1400" dirty="0"/>
              <a:t>, </a:t>
            </a:r>
            <a:r>
              <a:rPr lang="en-US" altLang="ko-KR" sz="1400" b="1" dirty="0"/>
              <a:t>which make sure each packet destined for the service IP/port pair is intercepted and its destination address modified</a:t>
            </a:r>
            <a:r>
              <a:rPr lang="en-US" altLang="ko-KR" sz="1400" dirty="0"/>
              <a:t>, so the packet is redirected to one of the pods backing the service.</a:t>
            </a:r>
          </a:p>
          <a:p>
            <a:pPr lvl="1">
              <a:buFont typeface="Wingdings" panose="05000000000000000000" pitchFamily="2" charset="2"/>
              <a:buChar char="§"/>
            </a:pPr>
            <a:r>
              <a:rPr lang="en-US" altLang="ko-KR" sz="1400" b="1" dirty="0"/>
              <a:t>Besides watching the API server for changes to Services, </a:t>
            </a:r>
            <a:r>
              <a:rPr lang="en-US" altLang="ko-KR" sz="1400" b="1" dirty="0" err="1"/>
              <a:t>kube</a:t>
            </a:r>
            <a:r>
              <a:rPr lang="en-US" altLang="ko-KR" sz="1400" b="1" dirty="0"/>
              <a:t>-proxy also watches for changes to Endpoints objects. An </a:t>
            </a:r>
            <a:r>
              <a:rPr lang="en-US" altLang="ko-KR" sz="1400" b="1" dirty="0">
                <a:solidFill>
                  <a:srgbClr val="FF0000"/>
                </a:solidFill>
              </a:rPr>
              <a:t>Endpoints</a:t>
            </a:r>
            <a:r>
              <a:rPr lang="en-US" altLang="ko-KR" sz="1400" b="1" dirty="0"/>
              <a:t> object holds the </a:t>
            </a:r>
            <a:r>
              <a:rPr lang="en-US" altLang="ko-KR" sz="1400" b="1" dirty="0">
                <a:solidFill>
                  <a:srgbClr val="FF0000"/>
                </a:solidFill>
              </a:rPr>
              <a:t>IP/port </a:t>
            </a:r>
            <a:r>
              <a:rPr lang="en-US" altLang="ko-KR" sz="1400" b="1" dirty="0"/>
              <a:t>pairs of all the pods that back the service (an IP/port pair can also point to something other than a pod)</a:t>
            </a:r>
            <a:r>
              <a:rPr lang="en-US" altLang="ko-KR" sz="1400" dirty="0"/>
              <a:t>. </a:t>
            </a:r>
            <a:r>
              <a:rPr lang="en-US" altLang="ko-KR" sz="1400" b="1" dirty="0"/>
              <a:t>That’s why the </a:t>
            </a:r>
            <a:r>
              <a:rPr lang="en-US" altLang="ko-KR" sz="1400" b="1" dirty="0" err="1"/>
              <a:t>kube</a:t>
            </a:r>
            <a:r>
              <a:rPr lang="en-US" altLang="ko-KR" sz="1400" b="1" dirty="0"/>
              <a:t>-proxy must also watch all Endpoints objects</a:t>
            </a:r>
            <a:r>
              <a:rPr lang="en-US" altLang="ko-KR" sz="1400" dirty="0"/>
              <a:t>. After all, </a:t>
            </a:r>
            <a:r>
              <a:rPr lang="en-US" altLang="ko-KR" sz="1400" b="1" dirty="0"/>
              <a:t>an Endpoints object changes every time a new backing pod is created or deleted</a:t>
            </a:r>
            <a:r>
              <a:rPr lang="en-US" altLang="ko-KR" sz="1400" dirty="0"/>
              <a:t>, and when the pod’s readiness status changes or the pod’s labels change and it falls in or out of scope of the service.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D94FA5A-4F33-25E3-2029-3D774EEAE7EF}"/>
              </a:ext>
            </a:extLst>
          </p:cNvPr>
          <p:cNvPicPr>
            <a:picLocks noChangeAspect="1"/>
          </p:cNvPicPr>
          <p:nvPr/>
        </p:nvPicPr>
        <p:blipFill>
          <a:blip r:embed="rId2"/>
          <a:stretch>
            <a:fillRect/>
          </a:stretch>
        </p:blipFill>
        <p:spPr>
          <a:xfrm>
            <a:off x="2649130" y="3429000"/>
            <a:ext cx="6893740" cy="2701996"/>
          </a:xfrm>
          <a:prstGeom prst="rect">
            <a:avLst/>
          </a:prstGeom>
        </p:spPr>
      </p:pic>
    </p:spTree>
    <p:extLst>
      <p:ext uri="{BB962C8B-B14F-4D97-AF65-F5344CB8AC3E}">
        <p14:creationId xmlns:p14="http://schemas.microsoft.com/office/powerpoint/2010/main" val="92863977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How Services Are Implemented(3/4)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How </a:t>
            </a:r>
            <a:r>
              <a:rPr lang="en-US" altLang="ko-KR" sz="1800" b="1" dirty="0" err="1"/>
              <a:t>kube</a:t>
            </a:r>
            <a:r>
              <a:rPr lang="en-US" altLang="ko-KR" sz="1800" b="1" dirty="0"/>
              <a:t>-proxy Uses Iptables :</a:t>
            </a:r>
          </a:p>
          <a:p>
            <a:pPr lvl="1">
              <a:buFont typeface="Wingdings" panose="05000000000000000000" pitchFamily="2" charset="2"/>
              <a:buChar char="§"/>
            </a:pPr>
            <a:r>
              <a:rPr lang="en-US" altLang="ko-KR" sz="1400" dirty="0"/>
              <a:t>Now let’s see </a:t>
            </a:r>
            <a:r>
              <a:rPr lang="en-US" altLang="ko-KR" sz="1400" b="1" dirty="0"/>
              <a:t>how </a:t>
            </a:r>
            <a:r>
              <a:rPr lang="en-US" altLang="ko-KR" sz="1400" b="1" dirty="0" err="1"/>
              <a:t>kube</a:t>
            </a:r>
            <a:r>
              <a:rPr lang="en-US" altLang="ko-KR" sz="1400" b="1" dirty="0"/>
              <a:t>-proxy enables clients to connect to those pods through the Service</a:t>
            </a:r>
            <a:r>
              <a:rPr lang="en-US" altLang="ko-KR" sz="1400" dirty="0"/>
              <a:t>. This is shown in the following figure. The figure shows </a:t>
            </a:r>
            <a:r>
              <a:rPr lang="en-US" altLang="ko-KR" sz="1400" b="1" dirty="0"/>
              <a:t>what the </a:t>
            </a:r>
            <a:r>
              <a:rPr lang="en-US" altLang="ko-KR" sz="1400" b="1" dirty="0" err="1"/>
              <a:t>kube</a:t>
            </a:r>
            <a:r>
              <a:rPr lang="en-US" altLang="ko-KR" sz="1400" b="1" dirty="0"/>
              <a:t>-proxy does </a:t>
            </a:r>
            <a:r>
              <a:rPr lang="en-US" altLang="ko-KR" sz="1400" dirty="0"/>
              <a:t>and </a:t>
            </a:r>
            <a:r>
              <a:rPr lang="en-US" altLang="ko-KR" sz="1400" b="1" dirty="0"/>
              <a:t>how a packet sent by a client pod reaches one of the pods backing the Service</a:t>
            </a:r>
            <a:r>
              <a:rPr lang="en-US" altLang="ko-KR" sz="1400" dirty="0"/>
              <a:t>. Let’s examine what happens to the packet when it’s sent by the client pod (pod A in the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0D681BB-650D-60FE-2E61-899087402870}"/>
              </a:ext>
            </a:extLst>
          </p:cNvPr>
          <p:cNvPicPr>
            <a:picLocks noChangeAspect="1"/>
          </p:cNvPicPr>
          <p:nvPr/>
        </p:nvPicPr>
        <p:blipFill>
          <a:blip r:embed="rId2"/>
          <a:stretch>
            <a:fillRect/>
          </a:stretch>
        </p:blipFill>
        <p:spPr>
          <a:xfrm>
            <a:off x="3938587" y="2127250"/>
            <a:ext cx="4314825" cy="4229100"/>
          </a:xfrm>
          <a:prstGeom prst="rect">
            <a:avLst/>
          </a:prstGeom>
        </p:spPr>
      </p:pic>
    </p:spTree>
    <p:extLst>
      <p:ext uri="{BB962C8B-B14F-4D97-AF65-F5344CB8AC3E}">
        <p14:creationId xmlns:p14="http://schemas.microsoft.com/office/powerpoint/2010/main" val="380341182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How Services Are Implemented(4/4)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How </a:t>
            </a:r>
            <a:r>
              <a:rPr lang="en-US" altLang="ko-KR" sz="1800" b="1" dirty="0" err="1"/>
              <a:t>kube</a:t>
            </a:r>
            <a:r>
              <a:rPr lang="en-US" altLang="ko-KR" sz="1800" b="1" dirty="0"/>
              <a:t>-proxy Uses Iptables :</a:t>
            </a:r>
          </a:p>
          <a:p>
            <a:pPr lvl="1">
              <a:buFont typeface="Wingdings" panose="05000000000000000000" pitchFamily="2" charset="2"/>
              <a:buChar char="§"/>
            </a:pPr>
            <a:r>
              <a:rPr lang="en-US" altLang="ko-KR" sz="1400" dirty="0"/>
              <a:t>The packet’s destination is initially set to the IP and port of the Service (in the example, the Service is at </a:t>
            </a:r>
            <a:r>
              <a:rPr lang="en-US" altLang="ko-KR" sz="1400" b="1" dirty="0"/>
              <a:t>172.30.0.1:80</a:t>
            </a:r>
            <a:r>
              <a:rPr lang="en-US" altLang="ko-KR" sz="1400" dirty="0"/>
              <a:t>). </a:t>
            </a:r>
            <a:r>
              <a:rPr lang="en-US" altLang="ko-KR" sz="1400" b="1" dirty="0"/>
              <a:t>Before being sent to the network, the packet is first handled by node A’s kernel according to the </a:t>
            </a:r>
            <a:r>
              <a:rPr lang="en-US" altLang="ko-KR" sz="1400" b="1" dirty="0">
                <a:solidFill>
                  <a:srgbClr val="FF0000"/>
                </a:solidFill>
              </a:rPr>
              <a:t>iptables rules </a:t>
            </a:r>
            <a:r>
              <a:rPr lang="en-US" altLang="ko-KR" sz="1400" dirty="0"/>
              <a:t>set up on the node.</a:t>
            </a:r>
          </a:p>
          <a:p>
            <a:pPr lvl="1">
              <a:buFont typeface="Wingdings" panose="05000000000000000000" pitchFamily="2" charset="2"/>
              <a:buChar char="§"/>
            </a:pPr>
            <a:r>
              <a:rPr lang="en-US" altLang="ko-KR" sz="1400" b="1" dirty="0"/>
              <a:t>The kernel checks if the packet matches any of those iptables rules</a:t>
            </a:r>
            <a:r>
              <a:rPr lang="en-US" altLang="ko-KR" sz="1400" dirty="0"/>
              <a:t>. One of them says that </a:t>
            </a:r>
            <a:r>
              <a:rPr lang="en-US" altLang="ko-KR" sz="1400" b="1" dirty="0"/>
              <a:t>if any packet has the destination IP equal to 172.30.0.1 and destination port equal to 80, the packet’s destination IP and port should be replaced with the IP and port of a randomly selected pod(Network Address Translation)</a:t>
            </a:r>
            <a:r>
              <a:rPr lang="en-US" altLang="ko-KR" sz="1400" dirty="0"/>
              <a:t>.</a:t>
            </a:r>
          </a:p>
          <a:p>
            <a:pPr lvl="1">
              <a:buFont typeface="Wingdings" panose="05000000000000000000" pitchFamily="2" charset="2"/>
              <a:buChar char="§"/>
            </a:pPr>
            <a:r>
              <a:rPr lang="en-US" altLang="ko-KR" sz="1400" b="1" dirty="0"/>
              <a:t>The packet in the example matches that rule and so its destination IP/port is changed</a:t>
            </a:r>
            <a:r>
              <a:rPr lang="en-US" altLang="ko-KR" sz="1400" dirty="0"/>
              <a:t>. In the example, pod B2 was </a:t>
            </a:r>
            <a:r>
              <a:rPr lang="en-US" altLang="ko-KR" sz="1400" b="1" dirty="0"/>
              <a:t>randomly selected</a:t>
            </a:r>
            <a:r>
              <a:rPr lang="en-US" altLang="ko-KR" sz="1400" dirty="0"/>
              <a:t>, so the packet’s destination IP is changed to </a:t>
            </a:r>
            <a:r>
              <a:rPr lang="en-US" altLang="ko-KR" sz="1400" b="1" dirty="0"/>
              <a:t>10.1.2.1 (pod B2’s IP)</a:t>
            </a:r>
            <a:r>
              <a:rPr lang="en-US" altLang="ko-KR" sz="1400" dirty="0"/>
              <a:t> and the </a:t>
            </a:r>
            <a:r>
              <a:rPr lang="en-US" altLang="ko-KR" sz="1400" b="1" dirty="0"/>
              <a:t>port to 8080 </a:t>
            </a:r>
            <a:r>
              <a:rPr lang="en-US" altLang="ko-KR" sz="1400" dirty="0"/>
              <a:t>(</a:t>
            </a:r>
            <a:r>
              <a:rPr lang="en-US" altLang="ko-KR" sz="1400" b="1" dirty="0"/>
              <a:t>the target port specified in the Service spec</a:t>
            </a:r>
            <a:r>
              <a:rPr lang="en-US" altLang="ko-KR" sz="1400" dirty="0"/>
              <a:t>). From here on, it’s exactly as if the client pod had sent the packet to pod B directly instead of through the service.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E3BEA30-21E1-03CD-EA67-049BF3DBFAC9}"/>
              </a:ext>
            </a:extLst>
          </p:cNvPr>
          <p:cNvPicPr>
            <a:picLocks noChangeAspect="1"/>
          </p:cNvPicPr>
          <p:nvPr/>
        </p:nvPicPr>
        <p:blipFill>
          <a:blip r:embed="rId2"/>
          <a:stretch>
            <a:fillRect/>
          </a:stretch>
        </p:blipFill>
        <p:spPr>
          <a:xfrm>
            <a:off x="3048000" y="3429000"/>
            <a:ext cx="6096000" cy="2647950"/>
          </a:xfrm>
          <a:prstGeom prst="rect">
            <a:avLst/>
          </a:prstGeom>
        </p:spPr>
      </p:pic>
    </p:spTree>
    <p:extLst>
      <p:ext uri="{BB962C8B-B14F-4D97-AF65-F5344CB8AC3E}">
        <p14:creationId xmlns:p14="http://schemas.microsoft.com/office/powerpoint/2010/main" val="23346662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Highly Available Clusters(1/8)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 Your Apps Highly Available :</a:t>
            </a:r>
          </a:p>
          <a:p>
            <a:pPr lvl="1">
              <a:buFont typeface="Wingdings" panose="05000000000000000000" pitchFamily="2" charset="2"/>
              <a:buChar char="§"/>
            </a:pPr>
            <a:r>
              <a:rPr lang="en-US" altLang="ko-KR" sz="1400" b="1" dirty="0"/>
              <a:t>One of the reasons for running apps inside Kubernetes is to keep them running without interruption with no or limited manual intervention in case of infrastructure failures</a:t>
            </a:r>
            <a:r>
              <a:rPr lang="en-US" altLang="ko-KR" sz="1400" dirty="0"/>
              <a:t>. For running services without interruption it’s not only </a:t>
            </a:r>
            <a:r>
              <a:rPr lang="en-US" altLang="ko-KR" sz="1400" b="1" dirty="0"/>
              <a:t>the apps </a:t>
            </a:r>
            <a:r>
              <a:rPr lang="en-US" altLang="ko-KR" sz="1400" dirty="0"/>
              <a:t>that need to be up all the time, but also the </a:t>
            </a:r>
            <a:r>
              <a:rPr lang="en-US" altLang="ko-KR" sz="1400" b="1" dirty="0"/>
              <a:t>Kubernetes Control Plane components</a:t>
            </a:r>
            <a:r>
              <a:rPr lang="en-US" altLang="ko-KR" sz="1400" dirty="0"/>
              <a:t>.</a:t>
            </a:r>
          </a:p>
          <a:p>
            <a:pPr lvl="1">
              <a:buFont typeface="Wingdings" panose="05000000000000000000" pitchFamily="2" charset="2"/>
              <a:buChar char="§"/>
            </a:pPr>
            <a:r>
              <a:rPr lang="en-US" altLang="ko-KR" sz="1400" b="1" dirty="0"/>
              <a:t>When running apps in Kubernetes, the various controllers make sure your app keeps running smoothly and at the specified scale even when nodes fail</a:t>
            </a:r>
            <a:r>
              <a:rPr lang="en-US" altLang="ko-KR" sz="1400" dirty="0"/>
              <a:t>. To ensure your app is highly available, you only need to </a:t>
            </a:r>
            <a:r>
              <a:rPr lang="en-US" altLang="ko-KR" sz="1400" b="1" dirty="0"/>
              <a:t>run them through a </a:t>
            </a:r>
            <a:r>
              <a:rPr lang="en-US" altLang="ko-KR" sz="1400" b="1" dirty="0">
                <a:solidFill>
                  <a:srgbClr val="FF0000"/>
                </a:solidFill>
              </a:rPr>
              <a:t>Deployment resource </a:t>
            </a:r>
            <a:r>
              <a:rPr lang="en-US" altLang="ko-KR" sz="1400" b="1" dirty="0"/>
              <a:t>and configure an appropriate number of </a:t>
            </a:r>
            <a:r>
              <a:rPr lang="en-US" altLang="ko-KR" sz="1400" b="1" dirty="0">
                <a:solidFill>
                  <a:srgbClr val="FF0000"/>
                </a:solidFill>
              </a:rPr>
              <a:t>replicas</a:t>
            </a:r>
            <a:r>
              <a:rPr lang="en-US" altLang="ko-KR" sz="1400" dirty="0"/>
              <a:t>; everything else is taken care of by Kubernetes.</a:t>
            </a:r>
          </a:p>
          <a:p>
            <a:pPr lvl="1">
              <a:buFont typeface="Wingdings" panose="05000000000000000000" pitchFamily="2" charset="2"/>
              <a:buChar char="§"/>
            </a:pPr>
            <a:r>
              <a:rPr lang="en-US" altLang="ko-KR" sz="1400" b="1" dirty="0"/>
              <a:t>This requires your apps to be </a:t>
            </a:r>
            <a:r>
              <a:rPr lang="en-US" altLang="ko-KR" sz="1400" b="1" dirty="0">
                <a:solidFill>
                  <a:srgbClr val="FF0000"/>
                </a:solidFill>
              </a:rPr>
              <a:t>horizontally scalable</a:t>
            </a:r>
            <a:r>
              <a:rPr lang="en-US" altLang="ko-KR" sz="1400" dirty="0"/>
              <a:t>, but even if that’s not the case in your app, </a:t>
            </a:r>
            <a:r>
              <a:rPr lang="en-US" altLang="ko-KR" sz="1400" b="1" dirty="0"/>
              <a:t>you should still use a </a:t>
            </a:r>
            <a:r>
              <a:rPr lang="en-US" altLang="ko-KR" sz="1400" b="1" dirty="0">
                <a:solidFill>
                  <a:srgbClr val="FF0000"/>
                </a:solidFill>
              </a:rPr>
              <a:t>Deployment with its replica count set to one</a:t>
            </a:r>
            <a:r>
              <a:rPr lang="en-US" altLang="ko-KR" sz="1400" dirty="0"/>
              <a:t>. </a:t>
            </a:r>
            <a:r>
              <a:rPr lang="en-US" altLang="ko-KR" sz="1400" b="1" dirty="0"/>
              <a:t>If the replica becomes unavailable, it will be replaced with a new one quickly, although that doesn’t happen instantaneously</a:t>
            </a:r>
            <a:r>
              <a:rPr lang="en-US" altLang="ko-KR" sz="1400" dirty="0"/>
              <a:t>. It takes time for all the involved controllers to notice that a node has failed, create the new pod replica, and start the pod’s containers. </a:t>
            </a:r>
            <a:r>
              <a:rPr lang="en-US" altLang="ko-KR" sz="1400" b="1" dirty="0"/>
              <a:t>There will inevitably be a short period of downtime in between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5F723AD-FA94-2DB6-529F-D61F7D869462}"/>
              </a:ext>
            </a:extLst>
          </p:cNvPr>
          <p:cNvGrpSpPr/>
          <p:nvPr/>
        </p:nvGrpSpPr>
        <p:grpSpPr>
          <a:xfrm>
            <a:off x="2880764" y="3743182"/>
            <a:ext cx="6430471" cy="2613168"/>
            <a:chOff x="2880764" y="3743182"/>
            <a:chExt cx="6430471" cy="2613168"/>
          </a:xfrm>
        </p:grpSpPr>
        <p:pic>
          <p:nvPicPr>
            <p:cNvPr id="8" name="그림 7">
              <a:extLst>
                <a:ext uri="{FF2B5EF4-FFF2-40B4-BE49-F238E27FC236}">
                  <a16:creationId xmlns:a16="http://schemas.microsoft.com/office/drawing/2014/main" id="{94E617C7-2E33-A33C-1E63-673C7823AA83}"/>
                </a:ext>
              </a:extLst>
            </p:cNvPr>
            <p:cNvPicPr>
              <a:picLocks noChangeAspect="1"/>
            </p:cNvPicPr>
            <p:nvPr/>
          </p:nvPicPr>
          <p:blipFill>
            <a:blip r:embed="rId2"/>
            <a:stretch>
              <a:fillRect/>
            </a:stretch>
          </p:blipFill>
          <p:spPr>
            <a:xfrm>
              <a:off x="2880764" y="3795862"/>
              <a:ext cx="6430471" cy="2560488"/>
            </a:xfrm>
            <a:prstGeom prst="rect">
              <a:avLst/>
            </a:prstGeom>
          </p:spPr>
        </p:pic>
        <p:sp>
          <p:nvSpPr>
            <p:cNvPr id="9" name="TextBox 8">
              <a:extLst>
                <a:ext uri="{FF2B5EF4-FFF2-40B4-BE49-F238E27FC236}">
                  <a16:creationId xmlns:a16="http://schemas.microsoft.com/office/drawing/2014/main" id="{6A55BFF6-FA7C-4704-6C4D-316586657642}"/>
                </a:ext>
              </a:extLst>
            </p:cNvPr>
            <p:cNvSpPr txBox="1"/>
            <p:nvPr/>
          </p:nvSpPr>
          <p:spPr>
            <a:xfrm>
              <a:off x="5445019" y="3743182"/>
              <a:ext cx="1301959" cy="246221"/>
            </a:xfrm>
            <a:prstGeom prst="rect">
              <a:avLst/>
            </a:prstGeom>
            <a:noFill/>
          </p:spPr>
          <p:txBody>
            <a:bodyPr wrap="none" rtlCol="0">
              <a:spAutoFit/>
            </a:bodyPr>
            <a:lstStyle/>
            <a:p>
              <a:pPr algn="l"/>
              <a:r>
                <a:rPr lang="en-US" altLang="ko-KR" sz="1000" b="1" dirty="0"/>
                <a:t>Horizontal Scaling</a:t>
              </a:r>
              <a:endParaRPr lang="ko-KR" altLang="en-US" sz="1000" b="1" dirty="0"/>
            </a:p>
          </p:txBody>
        </p:sp>
      </p:grpSp>
    </p:spTree>
    <p:extLst>
      <p:ext uri="{BB962C8B-B14F-4D97-AF65-F5344CB8AC3E}">
        <p14:creationId xmlns:p14="http://schemas.microsoft.com/office/powerpoint/2010/main" val="163999854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Highly Available Clusters(2/8)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 Your Apps Highly Available :</a:t>
            </a:r>
          </a:p>
          <a:p>
            <a:pPr lvl="1">
              <a:buFont typeface="Wingdings" panose="05000000000000000000" pitchFamily="2" charset="2"/>
              <a:buChar char="§"/>
            </a:pPr>
            <a:r>
              <a:rPr lang="en-US" altLang="ko-KR" sz="1400" b="1" dirty="0"/>
              <a:t>To avoid the downtime, you need to run additional inactive replicas along with the active one and use a </a:t>
            </a:r>
            <a:r>
              <a:rPr lang="en-US" altLang="ko-KR" sz="1400" b="1" dirty="0">
                <a:solidFill>
                  <a:srgbClr val="FF0000"/>
                </a:solidFill>
              </a:rPr>
              <a:t>fast-acting lease</a:t>
            </a:r>
            <a:r>
              <a:rPr lang="en-US" altLang="ko-KR" sz="1400" b="1" dirty="0"/>
              <a:t> or </a:t>
            </a:r>
            <a:r>
              <a:rPr lang="en-US" altLang="ko-KR" sz="1400" b="1" dirty="0">
                <a:solidFill>
                  <a:srgbClr val="FF0000"/>
                </a:solidFill>
              </a:rPr>
              <a:t>leader-election</a:t>
            </a:r>
            <a:r>
              <a:rPr lang="en-US" altLang="ko-KR" sz="1400" b="1" dirty="0"/>
              <a:t> mechanism to make sure only one is active</a:t>
            </a:r>
            <a:r>
              <a:rPr lang="en-US" altLang="ko-KR" sz="1400" dirty="0"/>
              <a:t>. In case you’re unfamiliar with leader election, </a:t>
            </a:r>
            <a:r>
              <a:rPr lang="en-US" altLang="ko-KR" sz="1400" b="1" dirty="0"/>
              <a:t>it’s a way for multiple app instances running in a distributed environment to come to an agreement on which is the leader</a:t>
            </a:r>
            <a:r>
              <a:rPr lang="en-US" altLang="ko-KR" sz="1400" dirty="0"/>
              <a:t>. </a:t>
            </a:r>
            <a:r>
              <a:rPr lang="en-US" altLang="ko-KR" sz="1400" b="1" dirty="0"/>
              <a:t>That </a:t>
            </a:r>
            <a:r>
              <a:rPr lang="en-US" altLang="ko-KR" sz="1400" b="1" dirty="0">
                <a:solidFill>
                  <a:srgbClr val="FF0000"/>
                </a:solidFill>
              </a:rPr>
              <a:t>leader</a:t>
            </a:r>
            <a:r>
              <a:rPr lang="en-US" altLang="ko-KR" sz="1400" b="1" dirty="0"/>
              <a:t> is either the only one performing tasks, while all others are waiting for the leader to fail and then becoming leaders themselves, or they can all be active, with the leader being the only instance performing writes, while all the others are providing read-only access to their data</a:t>
            </a:r>
            <a:r>
              <a:rPr lang="en-US" altLang="ko-KR" sz="1400" dirty="0"/>
              <a:t>, for example. This ensures two instances are never doing the same job, if that would lead to </a:t>
            </a:r>
            <a:r>
              <a:rPr lang="en-US" altLang="ko-KR" sz="1400" b="1" dirty="0"/>
              <a:t>unpredictable system behavior due to </a:t>
            </a:r>
            <a:r>
              <a:rPr lang="en-US" altLang="ko-KR" sz="1400" b="1" dirty="0">
                <a:solidFill>
                  <a:srgbClr val="FF0000"/>
                </a:solidFill>
              </a:rPr>
              <a:t>race conditions</a:t>
            </a:r>
            <a:r>
              <a:rPr lang="en-US" altLang="ko-KR" sz="1400" dirty="0"/>
              <a:t>.</a:t>
            </a:r>
          </a:p>
          <a:p>
            <a:pPr lvl="1">
              <a:buFont typeface="Wingdings" panose="05000000000000000000" pitchFamily="2" charset="2"/>
              <a:buChar char="§"/>
            </a:pPr>
            <a:r>
              <a:rPr lang="en-US" altLang="ko-KR" sz="1400" b="1" dirty="0"/>
              <a:t>The mechanism doesn’t need to be incorporated into the app itself</a:t>
            </a:r>
            <a:r>
              <a:rPr lang="en-US" altLang="ko-KR" sz="1400" dirty="0"/>
              <a:t>. You can use </a:t>
            </a:r>
            <a:r>
              <a:rPr lang="en-US" altLang="ko-KR" sz="1400" b="1" dirty="0">
                <a:solidFill>
                  <a:srgbClr val="FF0000"/>
                </a:solidFill>
              </a:rPr>
              <a:t>a sidecar container </a:t>
            </a:r>
            <a:r>
              <a:rPr lang="en-US" altLang="ko-KR" sz="1400" b="1" dirty="0"/>
              <a:t>that performs all the leader-election operations and signals the main container when it should become active</a:t>
            </a:r>
            <a:r>
              <a:rPr lang="en-US" altLang="ko-KR" sz="1400" dirty="0"/>
              <a:t>. You’ll find an example of leader election in Kubernetes at </a:t>
            </a:r>
            <a:r>
              <a:rPr lang="en-US" altLang="ko-KR" sz="1400" b="1" dirty="0">
                <a:hlinkClick r:id="rId2"/>
              </a:rPr>
              <a:t>https://github.com/kubernetes/contrib/tree/master/election</a:t>
            </a:r>
            <a:r>
              <a:rPr lang="en-US" altLang="ko-KR" sz="1400" dirty="0"/>
              <a:t>. </a:t>
            </a:r>
            <a:r>
              <a:rPr lang="en-US" altLang="ko-KR" sz="1400" b="1" dirty="0"/>
              <a:t>Ensuring your apps are highly available is relatively simple, because Kubernetes takes care of almost everything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5E2E1C3-0D04-0CFD-0510-E9179942B1B7}"/>
              </a:ext>
            </a:extLst>
          </p:cNvPr>
          <p:cNvPicPr>
            <a:picLocks noChangeAspect="1"/>
          </p:cNvPicPr>
          <p:nvPr/>
        </p:nvPicPr>
        <p:blipFill>
          <a:blip r:embed="rId3"/>
          <a:stretch>
            <a:fillRect/>
          </a:stretch>
        </p:blipFill>
        <p:spPr>
          <a:xfrm>
            <a:off x="3911478" y="3620125"/>
            <a:ext cx="4369043" cy="2788905"/>
          </a:xfrm>
          <a:prstGeom prst="rect">
            <a:avLst/>
          </a:prstGeom>
        </p:spPr>
      </p:pic>
    </p:spTree>
    <p:extLst>
      <p:ext uri="{BB962C8B-B14F-4D97-AF65-F5344CB8AC3E}">
        <p14:creationId xmlns:p14="http://schemas.microsoft.com/office/powerpoint/2010/main" val="375442023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Highly Available Clusters(3/8)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a:t>
            </a:r>
            <a:r>
              <a:rPr lang="ko-KR" altLang="en-US" sz="1800" b="1" dirty="0"/>
              <a:t> </a:t>
            </a:r>
            <a:r>
              <a:rPr lang="en-US" altLang="ko-KR" sz="1800" b="1" dirty="0"/>
              <a:t>Kubernetes</a:t>
            </a:r>
            <a:r>
              <a:rPr lang="ko-KR" altLang="en-US" sz="1800" b="1" dirty="0"/>
              <a:t> </a:t>
            </a:r>
            <a:r>
              <a:rPr lang="en-US" altLang="ko-KR" sz="1800" b="1" dirty="0"/>
              <a:t>Control Plane Components Highly Available :</a:t>
            </a:r>
          </a:p>
          <a:p>
            <a:pPr lvl="1">
              <a:buFont typeface="Wingdings" panose="05000000000000000000" pitchFamily="2" charset="2"/>
              <a:buChar char="§"/>
            </a:pPr>
            <a:r>
              <a:rPr lang="en-US" altLang="ko-KR" sz="1400" dirty="0"/>
              <a:t>To make Kubernetes highly available, you need to run multiple master nodes, which run multiple instances of the following components :</a:t>
            </a:r>
          </a:p>
          <a:p>
            <a:pPr lvl="2">
              <a:buFont typeface="Wingdings" panose="05000000000000000000" pitchFamily="2" charset="2"/>
              <a:buChar char="§"/>
            </a:pPr>
            <a:r>
              <a:rPr lang="en-US" altLang="ko-KR" sz="1400" b="1" dirty="0" err="1">
                <a:solidFill>
                  <a:srgbClr val="FF0000"/>
                </a:solidFill>
              </a:rPr>
              <a:t>etcd</a:t>
            </a:r>
            <a:r>
              <a:rPr lang="en-US" altLang="ko-KR" sz="1400" dirty="0"/>
              <a:t>, which is </a:t>
            </a:r>
            <a:r>
              <a:rPr lang="en-US" altLang="ko-KR" sz="1400" b="1" dirty="0"/>
              <a:t>the distributed data store </a:t>
            </a:r>
            <a:r>
              <a:rPr lang="en-US" altLang="ko-KR" sz="1400" dirty="0"/>
              <a:t>where all the API objects are kept </a:t>
            </a:r>
          </a:p>
          <a:p>
            <a:pPr lvl="2">
              <a:buFont typeface="Wingdings" panose="05000000000000000000" pitchFamily="2" charset="2"/>
              <a:buChar char="§"/>
            </a:pPr>
            <a:r>
              <a:rPr lang="en-US" altLang="ko-KR" sz="1400" b="1" dirty="0">
                <a:solidFill>
                  <a:srgbClr val="FF0000"/>
                </a:solidFill>
              </a:rPr>
              <a:t>API server</a:t>
            </a:r>
          </a:p>
          <a:p>
            <a:pPr lvl="2">
              <a:buFont typeface="Wingdings" panose="05000000000000000000" pitchFamily="2" charset="2"/>
              <a:buChar char="§"/>
            </a:pPr>
            <a:r>
              <a:rPr lang="en-US" altLang="ko-KR" sz="1400" b="1" dirty="0">
                <a:solidFill>
                  <a:srgbClr val="FF0000"/>
                </a:solidFill>
              </a:rPr>
              <a:t>Controller Manager</a:t>
            </a:r>
            <a:r>
              <a:rPr lang="en-US" altLang="ko-KR" sz="1400" dirty="0"/>
              <a:t>, which is the process in which all the controllers run</a:t>
            </a:r>
          </a:p>
          <a:p>
            <a:pPr lvl="2">
              <a:buFont typeface="Wingdings" panose="05000000000000000000" pitchFamily="2" charset="2"/>
              <a:buChar char="§"/>
            </a:pPr>
            <a:r>
              <a:rPr lang="en-US" altLang="ko-KR" sz="1400" b="1" dirty="0">
                <a:solidFill>
                  <a:srgbClr val="FF0000"/>
                </a:solidFill>
              </a:rPr>
              <a:t>Scheduler</a:t>
            </a:r>
          </a:p>
          <a:p>
            <a:pPr lvl="1">
              <a:buFont typeface="Wingdings" panose="05000000000000000000" pitchFamily="2" charset="2"/>
              <a:buChar char="§"/>
            </a:pPr>
            <a:r>
              <a:rPr lang="en-US" altLang="ko-KR" sz="1400" dirty="0"/>
              <a:t>The following figure shows </a:t>
            </a:r>
            <a:r>
              <a:rPr lang="en-US" altLang="ko-KR" sz="1400" b="1" dirty="0"/>
              <a:t>an overview of a highly available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33E0B2FE-F51E-61B5-9B85-D2E0C4D066B0}"/>
              </a:ext>
            </a:extLst>
          </p:cNvPr>
          <p:cNvGrpSpPr/>
          <p:nvPr/>
        </p:nvGrpSpPr>
        <p:grpSpPr>
          <a:xfrm>
            <a:off x="2792361" y="3035594"/>
            <a:ext cx="6607277" cy="3048000"/>
            <a:chOff x="2792361" y="3035594"/>
            <a:chExt cx="6607277" cy="3048000"/>
          </a:xfrm>
        </p:grpSpPr>
        <p:pic>
          <p:nvPicPr>
            <p:cNvPr id="8" name="그림 7">
              <a:extLst>
                <a:ext uri="{FF2B5EF4-FFF2-40B4-BE49-F238E27FC236}">
                  <a16:creationId xmlns:a16="http://schemas.microsoft.com/office/drawing/2014/main" id="{DF441013-96DB-41B5-8BA6-68A4DC869046}"/>
                </a:ext>
              </a:extLst>
            </p:cNvPr>
            <p:cNvPicPr>
              <a:picLocks noChangeAspect="1"/>
            </p:cNvPicPr>
            <p:nvPr/>
          </p:nvPicPr>
          <p:blipFill>
            <a:blip r:embed="rId2"/>
            <a:stretch>
              <a:fillRect/>
            </a:stretch>
          </p:blipFill>
          <p:spPr>
            <a:xfrm>
              <a:off x="2792361" y="3035594"/>
              <a:ext cx="6607277" cy="3048000"/>
            </a:xfrm>
            <a:prstGeom prst="rect">
              <a:avLst/>
            </a:prstGeom>
          </p:spPr>
        </p:pic>
        <p:sp>
          <p:nvSpPr>
            <p:cNvPr id="9" name="직사각형 8">
              <a:extLst>
                <a:ext uri="{FF2B5EF4-FFF2-40B4-BE49-F238E27FC236}">
                  <a16:creationId xmlns:a16="http://schemas.microsoft.com/office/drawing/2014/main" id="{B3F98A6A-FCD1-2131-80C7-4C1F5C6F1B66}"/>
                </a:ext>
              </a:extLst>
            </p:cNvPr>
            <p:cNvSpPr/>
            <p:nvPr/>
          </p:nvSpPr>
          <p:spPr>
            <a:xfrm>
              <a:off x="3581400" y="3269182"/>
              <a:ext cx="5627336" cy="17236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1140518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Highly Available Clusters(4/8)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a:t>
            </a:r>
            <a:r>
              <a:rPr lang="ko-KR" altLang="en-US" sz="1800" b="1" dirty="0"/>
              <a:t> </a:t>
            </a:r>
            <a:r>
              <a:rPr lang="en-US" altLang="ko-KR" sz="1800" b="1" dirty="0"/>
              <a:t>Kubernetes</a:t>
            </a:r>
            <a:r>
              <a:rPr lang="ko-KR" altLang="en-US" sz="1800" b="1" dirty="0"/>
              <a:t> </a:t>
            </a:r>
            <a:r>
              <a:rPr lang="en-US" altLang="ko-KR" sz="1800" b="1" dirty="0"/>
              <a:t>Control Plane Components Highly Available :</a:t>
            </a:r>
          </a:p>
          <a:p>
            <a:pPr lvl="1">
              <a:buFont typeface="Wingdings" panose="05000000000000000000" pitchFamily="2" charset="2"/>
              <a:buChar char="§"/>
            </a:pPr>
            <a:r>
              <a:rPr lang="en-US" altLang="ko-KR" sz="1400" b="1" dirty="0"/>
              <a:t>Because </a:t>
            </a:r>
            <a:r>
              <a:rPr lang="en-US" altLang="ko-KR" sz="1400" b="1" dirty="0" err="1">
                <a:solidFill>
                  <a:srgbClr val="FF0000"/>
                </a:solidFill>
              </a:rPr>
              <a:t>etcd</a:t>
            </a:r>
            <a:r>
              <a:rPr lang="en-US" altLang="ko-KR" sz="1400" b="1" dirty="0">
                <a:solidFill>
                  <a:srgbClr val="FF0000"/>
                </a:solidFill>
              </a:rPr>
              <a:t> was designed as a distributed system</a:t>
            </a:r>
            <a:r>
              <a:rPr lang="en-US" altLang="ko-KR" sz="1400" b="1" dirty="0"/>
              <a:t>, one of its key features is the ability to run multiple </a:t>
            </a:r>
            <a:r>
              <a:rPr lang="en-US" altLang="ko-KR" sz="1400" b="1" dirty="0" err="1"/>
              <a:t>etcd</a:t>
            </a:r>
            <a:r>
              <a:rPr lang="en-US" altLang="ko-KR" sz="1400" b="1" dirty="0"/>
              <a:t> instances, so making it highly available is no big deal</a:t>
            </a:r>
            <a:r>
              <a:rPr lang="en-US" altLang="ko-KR" sz="1400" dirty="0"/>
              <a:t>. All you need to do is </a:t>
            </a:r>
            <a:r>
              <a:rPr lang="en-US" altLang="ko-KR" sz="1400" b="1" dirty="0"/>
              <a:t>run it on an appropriate number of machines </a:t>
            </a:r>
            <a:r>
              <a:rPr lang="en-US" altLang="ko-KR" sz="1400" dirty="0"/>
              <a:t>(three, five, or seven, as explained before) and </a:t>
            </a:r>
            <a:r>
              <a:rPr lang="en-US" altLang="ko-KR" sz="1400" b="1" dirty="0"/>
              <a:t>make them aware of each other</a:t>
            </a:r>
            <a:r>
              <a:rPr lang="en-US" altLang="ko-KR" sz="1400" dirty="0"/>
              <a:t>. You do this by including the list of all the other instances in every instance’s configuration. For example, </a:t>
            </a:r>
            <a:r>
              <a:rPr lang="en-US" altLang="ko-KR" sz="1400" b="1" dirty="0"/>
              <a:t>when starting an instance, you specify the IPs and ports where the other </a:t>
            </a:r>
            <a:r>
              <a:rPr lang="en-US" altLang="ko-KR" sz="1400" b="1" dirty="0" err="1"/>
              <a:t>etcd</a:t>
            </a:r>
            <a:r>
              <a:rPr lang="en-US" altLang="ko-KR" sz="1400" b="1" dirty="0"/>
              <a:t> instances can be reached</a:t>
            </a:r>
            <a:r>
              <a:rPr lang="en-US" altLang="ko-KR" sz="1400" dirty="0"/>
              <a:t>.</a:t>
            </a:r>
          </a:p>
          <a:p>
            <a:pPr lvl="1">
              <a:buFont typeface="Wingdings" panose="05000000000000000000" pitchFamily="2" charset="2"/>
              <a:buChar char="§"/>
            </a:pPr>
            <a:r>
              <a:rPr lang="en-US" altLang="ko-KR" sz="1400" b="1" dirty="0" err="1"/>
              <a:t>etcd</a:t>
            </a:r>
            <a:r>
              <a:rPr lang="en-US" altLang="ko-KR" sz="1400" b="1" dirty="0"/>
              <a:t> will replicate data across all its instances, so a failure of one of the nodes when running a three-machine cluster will still allow the cluster to accept both read and write operations</a:t>
            </a:r>
            <a:r>
              <a:rPr lang="en-US" altLang="ko-KR" sz="1400" dirty="0"/>
              <a:t>. To increase the </a:t>
            </a:r>
            <a:r>
              <a:rPr lang="en-US" altLang="ko-KR" sz="1400" b="1" dirty="0">
                <a:solidFill>
                  <a:srgbClr val="FF0000"/>
                </a:solidFill>
              </a:rPr>
              <a:t>fault tolerance </a:t>
            </a:r>
            <a:r>
              <a:rPr lang="en-US" altLang="ko-KR" sz="1400" b="1" dirty="0"/>
              <a:t>to more than a single node, you need to run five or seven </a:t>
            </a:r>
            <a:r>
              <a:rPr lang="en-US" altLang="ko-KR" sz="1400" b="1" dirty="0" err="1"/>
              <a:t>etcd</a:t>
            </a:r>
            <a:r>
              <a:rPr lang="en-US" altLang="ko-KR" sz="1400" b="1" dirty="0"/>
              <a:t> nodes, which would allow the cluster to handle two or three node failures, respectively</a:t>
            </a:r>
            <a:r>
              <a:rPr lang="en-US" altLang="ko-KR" sz="1400" dirty="0"/>
              <a:t>. Having more than seven </a:t>
            </a:r>
            <a:r>
              <a:rPr lang="en-US" altLang="ko-KR" sz="1400" b="1" dirty="0" err="1"/>
              <a:t>etcd</a:t>
            </a:r>
            <a:r>
              <a:rPr lang="en-US" altLang="ko-KR" sz="1400" dirty="0"/>
              <a:t> instances is almost never necessary and begins impacting performance. One more things about HA, you can build </a:t>
            </a:r>
            <a:r>
              <a:rPr lang="en-US" altLang="ko-KR" sz="1400" b="1" dirty="0"/>
              <a:t>external </a:t>
            </a:r>
            <a:r>
              <a:rPr lang="en-US" altLang="ko-KR" sz="1400" b="1" dirty="0" err="1"/>
              <a:t>etcd</a:t>
            </a:r>
            <a:r>
              <a:rPr lang="en-US" altLang="ko-KR" sz="1400" b="1" dirty="0"/>
              <a:t> cluster </a:t>
            </a:r>
            <a:r>
              <a:rPr lang="en-US" altLang="ko-KR" sz="1400" dirty="0"/>
              <a:t>like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E8A7BFEF-6321-CBE4-3D47-2CFC305515F7}"/>
              </a:ext>
            </a:extLst>
          </p:cNvPr>
          <p:cNvGrpSpPr/>
          <p:nvPr/>
        </p:nvGrpSpPr>
        <p:grpSpPr>
          <a:xfrm>
            <a:off x="3798283" y="3182563"/>
            <a:ext cx="4595433" cy="3226467"/>
            <a:chOff x="3798283" y="3182563"/>
            <a:chExt cx="4595433" cy="3226467"/>
          </a:xfrm>
        </p:grpSpPr>
        <p:pic>
          <p:nvPicPr>
            <p:cNvPr id="4" name="그림 3">
              <a:extLst>
                <a:ext uri="{FF2B5EF4-FFF2-40B4-BE49-F238E27FC236}">
                  <a16:creationId xmlns:a16="http://schemas.microsoft.com/office/drawing/2014/main" id="{C3996152-544A-9084-962F-448330F658E2}"/>
                </a:ext>
              </a:extLst>
            </p:cNvPr>
            <p:cNvPicPr>
              <a:picLocks noChangeAspect="1"/>
            </p:cNvPicPr>
            <p:nvPr/>
          </p:nvPicPr>
          <p:blipFill>
            <a:blip r:embed="rId2"/>
            <a:stretch>
              <a:fillRect/>
            </a:stretch>
          </p:blipFill>
          <p:spPr>
            <a:xfrm>
              <a:off x="3798283" y="3182563"/>
              <a:ext cx="4595433" cy="3226467"/>
            </a:xfrm>
            <a:prstGeom prst="rect">
              <a:avLst/>
            </a:prstGeom>
          </p:spPr>
        </p:pic>
        <p:sp>
          <p:nvSpPr>
            <p:cNvPr id="8" name="직사각형 7">
              <a:extLst>
                <a:ext uri="{FF2B5EF4-FFF2-40B4-BE49-F238E27FC236}">
                  <a16:creationId xmlns:a16="http://schemas.microsoft.com/office/drawing/2014/main" id="{9FCF5030-F0B3-6AA3-7E43-E87176CE10C1}"/>
                </a:ext>
              </a:extLst>
            </p:cNvPr>
            <p:cNvSpPr/>
            <p:nvPr/>
          </p:nvSpPr>
          <p:spPr>
            <a:xfrm>
              <a:off x="4046018" y="5753437"/>
              <a:ext cx="4094570" cy="4855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4310551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Highly Available Clusters(5/8)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a:t>
            </a:r>
            <a:r>
              <a:rPr lang="ko-KR" altLang="en-US" sz="1800" b="1" dirty="0"/>
              <a:t> </a:t>
            </a:r>
            <a:r>
              <a:rPr lang="en-US" altLang="ko-KR" sz="1800" b="1" dirty="0"/>
              <a:t>Kubernetes</a:t>
            </a:r>
            <a:r>
              <a:rPr lang="ko-KR" altLang="en-US" sz="1800" b="1" dirty="0"/>
              <a:t> </a:t>
            </a:r>
            <a:r>
              <a:rPr lang="en-US" altLang="ko-KR" sz="1800" b="1" dirty="0"/>
              <a:t>Control Plane Components Highly Available :</a:t>
            </a:r>
          </a:p>
          <a:p>
            <a:pPr lvl="1">
              <a:buFont typeface="Wingdings" panose="05000000000000000000" pitchFamily="2" charset="2"/>
              <a:buChar char="§"/>
            </a:pPr>
            <a:r>
              <a:rPr lang="en-US" altLang="ko-KR" sz="1400" b="1" dirty="0"/>
              <a:t>Making the API server highly available is even simpler. Because the API server is (almost completely) </a:t>
            </a:r>
            <a:r>
              <a:rPr lang="en-US" altLang="ko-KR" sz="1400" b="1" dirty="0">
                <a:solidFill>
                  <a:srgbClr val="FF0000"/>
                </a:solidFill>
              </a:rPr>
              <a:t>stateless</a:t>
            </a:r>
            <a:r>
              <a:rPr lang="en-US" altLang="ko-KR" sz="1400" b="1" dirty="0"/>
              <a:t> (all the data is stored in </a:t>
            </a:r>
            <a:r>
              <a:rPr lang="en-US" altLang="ko-KR" sz="1400" b="1" dirty="0" err="1"/>
              <a:t>etcd</a:t>
            </a:r>
            <a:r>
              <a:rPr lang="en-US" altLang="ko-KR" sz="1400" b="1" dirty="0"/>
              <a:t>, but the API server does cache it), you can run as many API servers as you need, and </a:t>
            </a:r>
            <a:r>
              <a:rPr lang="en-US" altLang="ko-KR" sz="1400" b="1" dirty="0">
                <a:solidFill>
                  <a:srgbClr val="FF0000"/>
                </a:solidFill>
              </a:rPr>
              <a:t>they don’t need to be aware of each other at all</a:t>
            </a:r>
            <a:r>
              <a:rPr lang="en-US" altLang="ko-KR" sz="1400" dirty="0"/>
              <a:t>. Usually, one API server is </a:t>
            </a:r>
            <a:r>
              <a:rPr lang="en-US" altLang="ko-KR" sz="1400" b="1" dirty="0"/>
              <a:t>collocated with every </a:t>
            </a:r>
            <a:r>
              <a:rPr lang="en-US" altLang="ko-KR" sz="1400" b="1" dirty="0" err="1"/>
              <a:t>etcd</a:t>
            </a:r>
            <a:r>
              <a:rPr lang="en-US" altLang="ko-KR" sz="1400" b="1" dirty="0"/>
              <a:t> instance</a:t>
            </a:r>
            <a:r>
              <a:rPr lang="en-US" altLang="ko-KR" sz="1400" dirty="0"/>
              <a:t>. By doing this, </a:t>
            </a:r>
            <a:r>
              <a:rPr lang="en-US" altLang="ko-KR" sz="1400" b="1" dirty="0"/>
              <a:t>the </a:t>
            </a:r>
            <a:r>
              <a:rPr lang="en-US" altLang="ko-KR" sz="1400" b="1" dirty="0" err="1"/>
              <a:t>etcd</a:t>
            </a:r>
            <a:r>
              <a:rPr lang="en-US" altLang="ko-KR" sz="1400" b="1" dirty="0"/>
              <a:t> instances don’t need any kind of load balancer in front of them</a:t>
            </a:r>
            <a:r>
              <a:rPr lang="en-US" altLang="ko-KR" sz="1400" dirty="0"/>
              <a:t>, </a:t>
            </a:r>
            <a:r>
              <a:rPr lang="en-US" altLang="ko-KR" sz="1400" b="1" dirty="0"/>
              <a:t>because every API server instance only talks to the local </a:t>
            </a:r>
            <a:r>
              <a:rPr lang="en-US" altLang="ko-KR" sz="1400" b="1" dirty="0" err="1"/>
              <a:t>etcd</a:t>
            </a:r>
            <a:r>
              <a:rPr lang="en-US" altLang="ko-KR" sz="1400" b="1" dirty="0"/>
              <a:t> instance</a:t>
            </a:r>
            <a:r>
              <a:rPr lang="en-US" altLang="ko-KR" sz="1400" dirty="0"/>
              <a:t>. </a:t>
            </a:r>
          </a:p>
          <a:p>
            <a:pPr lvl="1">
              <a:buFont typeface="Wingdings" panose="05000000000000000000" pitchFamily="2" charset="2"/>
              <a:buChar char="§"/>
            </a:pPr>
            <a:r>
              <a:rPr lang="en-US" altLang="ko-KR" sz="1400" b="1" dirty="0"/>
              <a:t>The API servers, on the other hand, </a:t>
            </a:r>
            <a:r>
              <a:rPr lang="en-US" altLang="ko-KR" sz="1400" b="1" dirty="0">
                <a:solidFill>
                  <a:srgbClr val="FF0000"/>
                </a:solidFill>
              </a:rPr>
              <a:t>do need to be fronted by a load balancer</a:t>
            </a:r>
            <a:r>
              <a:rPr lang="en-US" altLang="ko-KR" sz="1400" b="1" dirty="0"/>
              <a:t>, so clients (</a:t>
            </a:r>
            <a:r>
              <a:rPr lang="en-US" altLang="ko-KR" sz="1400" b="1" dirty="0" err="1"/>
              <a:t>kubectl</a:t>
            </a:r>
            <a:r>
              <a:rPr lang="en-US" altLang="ko-KR" sz="1400" b="1" dirty="0"/>
              <a:t>, but also the Controller Manager, Scheduler, and all the </a:t>
            </a:r>
            <a:r>
              <a:rPr lang="en-US" altLang="ko-KR" sz="1400" b="1" dirty="0" err="1"/>
              <a:t>Kubelets</a:t>
            </a:r>
            <a:r>
              <a:rPr lang="en-US" altLang="ko-KR" sz="1400" b="1" dirty="0"/>
              <a:t>) always connect only to the healthy API server instances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0C3D2488-480F-E70E-70CD-3FE11197BA22}"/>
              </a:ext>
            </a:extLst>
          </p:cNvPr>
          <p:cNvGrpSpPr/>
          <p:nvPr/>
        </p:nvGrpSpPr>
        <p:grpSpPr>
          <a:xfrm>
            <a:off x="3393890" y="2739061"/>
            <a:ext cx="5404220" cy="3523920"/>
            <a:chOff x="3393890" y="2739061"/>
            <a:chExt cx="5404220" cy="3523920"/>
          </a:xfrm>
        </p:grpSpPr>
        <p:pic>
          <p:nvPicPr>
            <p:cNvPr id="4" name="그림 3">
              <a:extLst>
                <a:ext uri="{FF2B5EF4-FFF2-40B4-BE49-F238E27FC236}">
                  <a16:creationId xmlns:a16="http://schemas.microsoft.com/office/drawing/2014/main" id="{903FCC74-8445-4497-762E-6BEAF8752FC3}"/>
                </a:ext>
              </a:extLst>
            </p:cNvPr>
            <p:cNvPicPr>
              <a:picLocks noChangeAspect="1"/>
            </p:cNvPicPr>
            <p:nvPr/>
          </p:nvPicPr>
          <p:blipFill>
            <a:blip r:embed="rId2"/>
            <a:stretch>
              <a:fillRect/>
            </a:stretch>
          </p:blipFill>
          <p:spPr>
            <a:xfrm>
              <a:off x="3393890" y="2739061"/>
              <a:ext cx="5404220" cy="3523920"/>
            </a:xfrm>
            <a:prstGeom prst="rect">
              <a:avLst/>
            </a:prstGeom>
          </p:spPr>
        </p:pic>
        <p:sp>
          <p:nvSpPr>
            <p:cNvPr id="8" name="직사각형 7">
              <a:extLst>
                <a:ext uri="{FF2B5EF4-FFF2-40B4-BE49-F238E27FC236}">
                  <a16:creationId xmlns:a16="http://schemas.microsoft.com/office/drawing/2014/main" id="{9B22C86F-A8AC-427C-5138-D15404398B9E}"/>
                </a:ext>
              </a:extLst>
            </p:cNvPr>
            <p:cNvSpPr/>
            <p:nvPr/>
          </p:nvSpPr>
          <p:spPr>
            <a:xfrm>
              <a:off x="3649508" y="4725749"/>
              <a:ext cx="4887589" cy="3965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849432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Highly Available Clusters(6/8)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a:t>
            </a:r>
            <a:r>
              <a:rPr lang="ko-KR" altLang="en-US" sz="1800" b="1" dirty="0"/>
              <a:t> </a:t>
            </a:r>
            <a:r>
              <a:rPr lang="en-US" altLang="ko-KR" sz="1800" b="1" dirty="0"/>
              <a:t>Kubernetes</a:t>
            </a:r>
            <a:r>
              <a:rPr lang="ko-KR" altLang="en-US" sz="1800" b="1" dirty="0"/>
              <a:t> </a:t>
            </a:r>
            <a:r>
              <a:rPr lang="en-US" altLang="ko-KR" sz="1800" b="1" dirty="0"/>
              <a:t>Control Plane Components Highly Available :</a:t>
            </a:r>
          </a:p>
          <a:p>
            <a:pPr lvl="1">
              <a:buFont typeface="Wingdings" panose="05000000000000000000" pitchFamily="2" charset="2"/>
              <a:buChar char="§"/>
            </a:pPr>
            <a:r>
              <a:rPr lang="en-US" altLang="ko-KR" sz="1400" b="1" dirty="0"/>
              <a:t>Compared to the API server, where multiple replicas can run simultaneously, running multiple instances of the Controller Manager or the Scheduler isn’t as simple</a:t>
            </a:r>
            <a:r>
              <a:rPr lang="en-US" altLang="ko-KR" sz="1400" dirty="0"/>
              <a:t>. </a:t>
            </a:r>
            <a:r>
              <a:rPr lang="en-US" altLang="ko-KR" sz="1400" b="1" dirty="0"/>
              <a:t>Because controllers and the Scheduler all </a:t>
            </a:r>
            <a:r>
              <a:rPr lang="en-US" altLang="ko-KR" sz="1400" b="1" dirty="0">
                <a:solidFill>
                  <a:srgbClr val="FF0000"/>
                </a:solidFill>
              </a:rPr>
              <a:t>actively watch the cluster state and act when it changes</a:t>
            </a:r>
            <a:r>
              <a:rPr lang="en-US" altLang="ko-KR" sz="1400" b="1" dirty="0"/>
              <a:t>, </a:t>
            </a:r>
            <a:r>
              <a:rPr lang="en-US" altLang="ko-KR" sz="1400" b="1" dirty="0">
                <a:solidFill>
                  <a:srgbClr val="FF0000"/>
                </a:solidFill>
              </a:rPr>
              <a:t>possibly modifying the cluster state further </a:t>
            </a:r>
            <a:r>
              <a:rPr lang="en-US" altLang="ko-KR" sz="1400" dirty="0"/>
              <a:t>(for example, when the desired replica count on a </a:t>
            </a:r>
            <a:r>
              <a:rPr lang="en-US" altLang="ko-KR" sz="1400" b="1" dirty="0" err="1"/>
              <a:t>ReplicaSet</a:t>
            </a:r>
            <a:r>
              <a:rPr lang="en-US" altLang="ko-KR" sz="1400" dirty="0"/>
              <a:t> is increased by one, the </a:t>
            </a:r>
            <a:r>
              <a:rPr lang="en-US" altLang="ko-KR" sz="1400" b="1" dirty="0" err="1"/>
              <a:t>ReplicaSet</a:t>
            </a:r>
            <a:r>
              <a:rPr lang="en-US" altLang="ko-KR" sz="1400" dirty="0"/>
              <a:t> controller creates an additional pod), running multiple instances of each of those components would result in all of them performing the same action. They’d be racing each other, which could cause undesired effects (creating two new pods instead of one, as mentioned in the previous example).</a:t>
            </a:r>
          </a:p>
          <a:p>
            <a:pPr lvl="1">
              <a:buFont typeface="Wingdings" panose="05000000000000000000" pitchFamily="2" charset="2"/>
              <a:buChar char="§"/>
            </a:pPr>
            <a:r>
              <a:rPr lang="en-US" altLang="ko-KR" sz="1400" b="1" dirty="0"/>
              <a:t>For this reason, when running multiple instances of these components, </a:t>
            </a:r>
            <a:r>
              <a:rPr lang="en-US" altLang="ko-KR" sz="1400" b="1" dirty="0">
                <a:solidFill>
                  <a:srgbClr val="FF0000"/>
                </a:solidFill>
              </a:rPr>
              <a:t>only one instance may be active </a:t>
            </a:r>
            <a:r>
              <a:rPr lang="en-US" altLang="ko-KR" sz="1400" b="1" dirty="0"/>
              <a:t>at any given time</a:t>
            </a:r>
            <a:r>
              <a:rPr lang="en-US" altLang="ko-KR" sz="1400" dirty="0"/>
              <a:t>. Luckily, this is all taken care of by the components themselves (</a:t>
            </a:r>
            <a:r>
              <a:rPr lang="en-US" altLang="ko-KR" sz="1400" b="1" dirty="0"/>
              <a:t>this is controlled with the </a:t>
            </a:r>
            <a:r>
              <a:rPr lang="en-US" altLang="ko-KR" sz="1400" dirty="0"/>
              <a:t>“</a:t>
            </a:r>
            <a:r>
              <a:rPr lang="en-US" altLang="ko-KR" sz="1400" b="1" dirty="0">
                <a:solidFill>
                  <a:srgbClr val="FF0000"/>
                </a:solidFill>
              </a:rPr>
              <a:t>--leader-elect</a:t>
            </a:r>
            <a:r>
              <a:rPr lang="en-US" altLang="ko-KR" sz="1400" dirty="0"/>
              <a:t>” </a:t>
            </a:r>
            <a:r>
              <a:rPr lang="en-US" altLang="ko-KR" sz="1400" b="1" dirty="0"/>
              <a:t>option, which defaults to true</a:t>
            </a:r>
            <a:r>
              <a:rPr lang="en-US" altLang="ko-KR" sz="1400" dirty="0"/>
              <a:t>). </a:t>
            </a:r>
            <a:r>
              <a:rPr lang="en-US" altLang="ko-KR" sz="1400" b="1" dirty="0"/>
              <a:t>Each individual component will only be active when it’s the elected leader</a:t>
            </a:r>
            <a:r>
              <a:rPr lang="en-US" altLang="ko-KR" sz="1400" dirty="0"/>
              <a:t>. </a:t>
            </a:r>
            <a:r>
              <a:rPr lang="en-US" altLang="ko-KR" sz="1400" b="1" dirty="0"/>
              <a:t>Only the leader performs actual work, whereas all other instances are standing by and waiting for the current leader to fail</a:t>
            </a:r>
            <a:r>
              <a:rPr lang="en-US" altLang="ko-KR" sz="1400" dirty="0"/>
              <a:t>. </a:t>
            </a:r>
            <a:r>
              <a:rPr lang="en-US" altLang="ko-KR" sz="1400" b="1" dirty="0"/>
              <a:t>When it does, the remaining instances elect a new leader, which then takes over the work</a:t>
            </a:r>
            <a:r>
              <a:rPr lang="en-US" altLang="ko-KR" sz="1400" dirty="0"/>
              <a:t>. This mechanism ensures that two components are never operating at the same time and doing the same work (see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BD25C7B-3BC2-C3DD-B264-8155D0937034}"/>
              </a:ext>
            </a:extLst>
          </p:cNvPr>
          <p:cNvPicPr>
            <a:picLocks noChangeAspect="1"/>
          </p:cNvPicPr>
          <p:nvPr/>
        </p:nvPicPr>
        <p:blipFill>
          <a:blip r:embed="rId2"/>
          <a:stretch>
            <a:fillRect/>
          </a:stretch>
        </p:blipFill>
        <p:spPr>
          <a:xfrm>
            <a:off x="2969342" y="3998795"/>
            <a:ext cx="6253316" cy="2045110"/>
          </a:xfrm>
          <a:prstGeom prst="rect">
            <a:avLst/>
          </a:prstGeom>
        </p:spPr>
      </p:pic>
    </p:spTree>
    <p:extLst>
      <p:ext uri="{BB962C8B-B14F-4D97-AF65-F5344CB8AC3E}">
        <p14:creationId xmlns:p14="http://schemas.microsoft.com/office/powerpoint/2010/main" val="421257826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Highly Available Clusters(7/8)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a:t>
            </a:r>
            <a:r>
              <a:rPr lang="ko-KR" altLang="en-US" sz="1800" b="1" dirty="0"/>
              <a:t> </a:t>
            </a:r>
            <a:r>
              <a:rPr lang="en-US" altLang="ko-KR" sz="1800" b="1" dirty="0"/>
              <a:t>Kubernetes</a:t>
            </a:r>
            <a:r>
              <a:rPr lang="ko-KR" altLang="en-US" sz="1800" b="1" dirty="0"/>
              <a:t> </a:t>
            </a:r>
            <a:r>
              <a:rPr lang="en-US" altLang="ko-KR" sz="1800" b="1" dirty="0"/>
              <a:t>Control Plane Components Highly Available :</a:t>
            </a:r>
          </a:p>
          <a:p>
            <a:pPr lvl="1">
              <a:buFont typeface="Wingdings" panose="05000000000000000000" pitchFamily="2" charset="2"/>
              <a:buChar char="§"/>
            </a:pPr>
            <a:r>
              <a:rPr lang="en-US" altLang="ko-KR" sz="1400" b="1" dirty="0"/>
              <a:t>The Controller Manager and Scheduler can run collocated with the API server and </a:t>
            </a:r>
            <a:r>
              <a:rPr lang="en-US" altLang="ko-KR" sz="1400" b="1" dirty="0" err="1"/>
              <a:t>etcd</a:t>
            </a:r>
            <a:r>
              <a:rPr lang="en-US" altLang="ko-KR" sz="1400" b="1" dirty="0"/>
              <a:t>, or they can run on separate machines</a:t>
            </a:r>
            <a:r>
              <a:rPr lang="en-US" altLang="ko-KR" sz="1400" dirty="0"/>
              <a:t>. When collocated, they can </a:t>
            </a:r>
            <a:r>
              <a:rPr lang="en-US" altLang="ko-KR" sz="1400" b="1" dirty="0"/>
              <a:t>talk to the local API server directly</a:t>
            </a:r>
            <a:r>
              <a:rPr lang="en-US" altLang="ko-KR" sz="1400" dirty="0"/>
              <a:t>; otherwise they </a:t>
            </a:r>
            <a:r>
              <a:rPr lang="en-US" altLang="ko-KR" sz="1400" b="1" dirty="0"/>
              <a:t>connect to the API servers through the load balancer</a:t>
            </a:r>
            <a:r>
              <a:rPr lang="en-US" altLang="ko-KR" sz="1400" dirty="0"/>
              <a:t>.</a:t>
            </a:r>
          </a:p>
          <a:p>
            <a:pPr lvl="1">
              <a:buFont typeface="Wingdings" panose="05000000000000000000" pitchFamily="2" charset="2"/>
              <a:buChar char="§"/>
            </a:pPr>
            <a:r>
              <a:rPr lang="en-US" altLang="ko-KR" sz="1400" dirty="0"/>
              <a:t>These components don’t need to talk to each other directly to elect a leader. </a:t>
            </a:r>
            <a:r>
              <a:rPr lang="en-US" altLang="ko-KR" sz="1400" b="1" dirty="0"/>
              <a:t>The leader election mechanism works purely by creating a resource in the API server</a:t>
            </a:r>
            <a:r>
              <a:rPr lang="en-US" altLang="ko-KR" sz="1400" dirty="0"/>
              <a:t>. And it’s not even a special kind of resource—</a:t>
            </a:r>
            <a:r>
              <a:rPr lang="en-US" altLang="ko-KR" sz="1400" b="1" dirty="0">
                <a:solidFill>
                  <a:srgbClr val="FF0000"/>
                </a:solidFill>
              </a:rPr>
              <a:t>the Endpoints </a:t>
            </a:r>
            <a:r>
              <a:rPr lang="en-US" altLang="ko-KR" sz="1400" dirty="0"/>
              <a:t>resource is used to achieve this (abused is probably a more appropriate term).</a:t>
            </a:r>
          </a:p>
          <a:p>
            <a:pPr lvl="1">
              <a:buFont typeface="Wingdings" panose="05000000000000000000" pitchFamily="2" charset="2"/>
              <a:buChar char="§"/>
            </a:pPr>
            <a:r>
              <a:rPr lang="en-US" altLang="ko-KR" sz="1400" b="1" dirty="0"/>
              <a:t>There’s nothing special about using an Endpoints object to do this. It’s used because it has no side effects as long as no Service with the same name exists</a:t>
            </a:r>
            <a:r>
              <a:rPr lang="en-US" altLang="ko-KR" sz="1400" dirty="0"/>
              <a:t>. Any other resource could be used (in fact, </a:t>
            </a:r>
            <a:r>
              <a:rPr lang="en-US" altLang="ko-KR" sz="1400" b="1" dirty="0"/>
              <a:t>the leader election mechanism will soon use </a:t>
            </a:r>
            <a:r>
              <a:rPr lang="en-US" altLang="ko-KR" sz="1400" b="1" dirty="0" err="1">
                <a:solidFill>
                  <a:srgbClr val="FF0000"/>
                </a:solidFill>
              </a:rPr>
              <a:t>ConfigMaps</a:t>
            </a:r>
            <a:r>
              <a:rPr lang="en-US" altLang="ko-KR" sz="1400" b="1" dirty="0"/>
              <a:t> instead of Endpoints</a:t>
            </a:r>
            <a:r>
              <a:rPr lang="en-US" altLang="ko-KR" sz="1400" dirty="0"/>
              <a:t>).</a:t>
            </a:r>
          </a:p>
          <a:p>
            <a:pPr lvl="1">
              <a:buFont typeface="Wingdings" panose="05000000000000000000" pitchFamily="2" charset="2"/>
              <a:buChar char="§"/>
            </a:pPr>
            <a:r>
              <a:rPr lang="en-US" altLang="ko-KR" sz="1400" dirty="0"/>
              <a:t>For example, in </a:t>
            </a:r>
            <a:r>
              <a:rPr lang="en-US" altLang="ko-KR" sz="1400" b="1" dirty="0" err="1"/>
              <a:t>Minikube</a:t>
            </a:r>
            <a:r>
              <a:rPr lang="en-US" altLang="ko-KR" sz="1400" dirty="0"/>
              <a:t> you can </a:t>
            </a:r>
            <a:r>
              <a:rPr lang="en-US" altLang="ko-KR" sz="1400" b="1" dirty="0"/>
              <a:t>find more information about the Scheduler</a:t>
            </a:r>
            <a:r>
              <a:rPr lang="en-US" altLang="ko-KR" sz="1400" dirty="0"/>
              <a:t>, use the following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0310EFFA-0E18-4323-6D5B-A253217CF5E7}"/>
              </a:ext>
            </a:extLst>
          </p:cNvPr>
          <p:cNvGrpSpPr/>
          <p:nvPr/>
        </p:nvGrpSpPr>
        <p:grpSpPr>
          <a:xfrm>
            <a:off x="1113143" y="3400118"/>
            <a:ext cx="9965714" cy="3008912"/>
            <a:chOff x="1113143" y="3400118"/>
            <a:chExt cx="9965714" cy="3008912"/>
          </a:xfrm>
        </p:grpSpPr>
        <p:grpSp>
          <p:nvGrpSpPr>
            <p:cNvPr id="14" name="그룹 13">
              <a:extLst>
                <a:ext uri="{FF2B5EF4-FFF2-40B4-BE49-F238E27FC236}">
                  <a16:creationId xmlns:a16="http://schemas.microsoft.com/office/drawing/2014/main" id="{1E3ED795-9B1E-9AB1-7C26-51BB32F073E0}"/>
                </a:ext>
              </a:extLst>
            </p:cNvPr>
            <p:cNvGrpSpPr/>
            <p:nvPr/>
          </p:nvGrpSpPr>
          <p:grpSpPr>
            <a:xfrm>
              <a:off x="1113143" y="3400118"/>
              <a:ext cx="9965714" cy="3008912"/>
              <a:chOff x="1113143" y="3400118"/>
              <a:chExt cx="9965714" cy="3008912"/>
            </a:xfrm>
          </p:grpSpPr>
          <p:sp>
            <p:nvSpPr>
              <p:cNvPr id="10" name="TextBox 9">
                <a:extLst>
                  <a:ext uri="{FF2B5EF4-FFF2-40B4-BE49-F238E27FC236}">
                    <a16:creationId xmlns:a16="http://schemas.microsoft.com/office/drawing/2014/main" id="{1DCA5230-DA9E-0F6D-8DBB-8F13BDDD7222}"/>
                  </a:ext>
                </a:extLst>
              </p:cNvPr>
              <p:cNvSpPr txBox="1"/>
              <p:nvPr/>
            </p:nvSpPr>
            <p:spPr>
              <a:xfrm>
                <a:off x="3047326" y="340011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a:t>
                </a:r>
                <a:r>
                  <a:rPr lang="en-US" altLang="ko-KR" sz="1000" b="1" dirty="0">
                    <a:solidFill>
                      <a:srgbClr val="FF0000"/>
                    </a:solidFill>
                  </a:rPr>
                  <a:t>pod/</a:t>
                </a:r>
                <a:r>
                  <a:rPr lang="en-US" altLang="ko-KR" sz="1000" b="1" dirty="0" err="1">
                    <a:solidFill>
                      <a:srgbClr val="FF0000"/>
                    </a:solidFill>
                  </a:rPr>
                  <a:t>kube</a:t>
                </a:r>
                <a:r>
                  <a:rPr lang="en-US" altLang="ko-KR" sz="1000" b="1" dirty="0">
                    <a:solidFill>
                      <a:srgbClr val="FF0000"/>
                    </a:solidFill>
                  </a:rPr>
                  <a:t>-scheduler-</a:t>
                </a:r>
                <a:r>
                  <a:rPr lang="en-US" altLang="ko-KR" sz="1000" b="1" dirty="0" err="1">
                    <a:solidFill>
                      <a:srgbClr val="FF0000"/>
                    </a:solidFill>
                  </a:rPr>
                  <a:t>minikube</a:t>
                </a:r>
                <a:r>
                  <a:rPr lang="en-US" altLang="ko-KR" sz="1000" b="1" dirty="0">
                    <a:solidFill>
                      <a:srgbClr val="FF0000"/>
                    </a:solidFill>
                  </a:rPr>
                  <a:t> </a:t>
                </a:r>
                <a:r>
                  <a:rPr lang="en-US" altLang="ko-KR" sz="1000" b="1" dirty="0"/>
                  <a:t>--namespace=</a:t>
                </a:r>
                <a:r>
                  <a:rPr lang="en-US" altLang="ko-KR" sz="1000" b="1" dirty="0" err="1">
                    <a:solidFill>
                      <a:srgbClr val="FF0000"/>
                    </a:solidFill>
                  </a:rPr>
                  <a:t>kube</a:t>
                </a:r>
                <a:r>
                  <a:rPr lang="en-US" altLang="ko-KR" sz="1000" b="1" dirty="0">
                    <a:solidFill>
                      <a:srgbClr val="FF0000"/>
                    </a:solidFill>
                  </a:rPr>
                  <a:t>-system</a:t>
                </a:r>
                <a:endParaRPr lang="ko-KR" altLang="en-US" sz="1000" b="1" dirty="0">
                  <a:solidFill>
                    <a:srgbClr val="FF0000"/>
                  </a:solidFill>
                </a:endParaRPr>
              </a:p>
            </p:txBody>
          </p:sp>
          <p:pic>
            <p:nvPicPr>
              <p:cNvPr id="12" name="그림 11">
                <a:extLst>
                  <a:ext uri="{FF2B5EF4-FFF2-40B4-BE49-F238E27FC236}">
                    <a16:creationId xmlns:a16="http://schemas.microsoft.com/office/drawing/2014/main" id="{53EA224C-D77B-DD62-9576-13FF0238D05F}"/>
                  </a:ext>
                </a:extLst>
              </p:cNvPr>
              <p:cNvPicPr>
                <a:picLocks noChangeAspect="1"/>
              </p:cNvPicPr>
              <p:nvPr/>
            </p:nvPicPr>
            <p:blipFill>
              <a:blip r:embed="rId2"/>
              <a:stretch>
                <a:fillRect/>
              </a:stretch>
            </p:blipFill>
            <p:spPr>
              <a:xfrm>
                <a:off x="1113143" y="3959125"/>
                <a:ext cx="9965714" cy="2449905"/>
              </a:xfrm>
              <a:prstGeom prst="rect">
                <a:avLst/>
              </a:prstGeom>
            </p:spPr>
          </p:pic>
          <p:sp>
            <p:nvSpPr>
              <p:cNvPr id="13" name="화살표: 아래쪽 12">
                <a:extLst>
                  <a:ext uri="{FF2B5EF4-FFF2-40B4-BE49-F238E27FC236}">
                    <a16:creationId xmlns:a16="http://schemas.microsoft.com/office/drawing/2014/main" id="{F6FCE3A7-584A-31FF-0FD6-45CC46E5A96C}"/>
                  </a:ext>
                </a:extLst>
              </p:cNvPr>
              <p:cNvSpPr/>
              <p:nvPr/>
            </p:nvSpPr>
            <p:spPr>
              <a:xfrm>
                <a:off x="5873469" y="3646339"/>
                <a:ext cx="445062" cy="31066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6B6A6E6F-379B-CDD1-3468-FDE5D889B074}"/>
                </a:ext>
              </a:extLst>
            </p:cNvPr>
            <p:cNvSpPr/>
            <p:nvPr/>
          </p:nvSpPr>
          <p:spPr>
            <a:xfrm>
              <a:off x="1221897" y="5421664"/>
              <a:ext cx="4898379" cy="1537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1568323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Highly Available Clusters(8/8)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a:t>
            </a:r>
            <a:r>
              <a:rPr lang="ko-KR" altLang="en-US" sz="1800" b="1" dirty="0"/>
              <a:t> </a:t>
            </a:r>
            <a:r>
              <a:rPr lang="en-US" altLang="ko-KR" sz="1800" b="1" dirty="0"/>
              <a:t>Kubernetes</a:t>
            </a:r>
            <a:r>
              <a:rPr lang="ko-KR" altLang="en-US" sz="1800" b="1" dirty="0"/>
              <a:t> </a:t>
            </a:r>
            <a:r>
              <a:rPr lang="en-US" altLang="ko-KR" sz="1800" b="1" dirty="0"/>
              <a:t>Control Plane Components Highly Available :</a:t>
            </a:r>
          </a:p>
          <a:p>
            <a:pPr lvl="1">
              <a:buFont typeface="Wingdings" panose="05000000000000000000" pitchFamily="2" charset="2"/>
              <a:buChar char="§"/>
            </a:pPr>
            <a:r>
              <a:rPr lang="en-US" altLang="ko-KR" sz="1400" dirty="0"/>
              <a:t>As you can from the output of the previous command, </a:t>
            </a:r>
            <a:r>
              <a:rPr lang="en-US" altLang="ko-KR" sz="1400" b="1" dirty="0"/>
              <a:t>in </a:t>
            </a:r>
            <a:r>
              <a:rPr lang="en-US" altLang="ko-KR" sz="1400" b="1" dirty="0" err="1"/>
              <a:t>Minikube</a:t>
            </a:r>
            <a:r>
              <a:rPr lang="en-US" altLang="ko-KR" sz="1400" b="1" dirty="0"/>
              <a:t> the leader election option(“--leader-elect=false”) is “false”</a:t>
            </a:r>
            <a:r>
              <a:rPr lang="en-US" altLang="ko-KR" sz="1400" dirty="0"/>
              <a:t> as the following screenshot. </a:t>
            </a:r>
            <a:r>
              <a:rPr lang="en-US" altLang="ko-KR" sz="1400" b="1" dirty="0"/>
              <a:t>So there is only one leader Scheduler in </a:t>
            </a:r>
            <a:r>
              <a:rPr lang="en-US" altLang="ko-KR" sz="1400" b="1" dirty="0" err="1"/>
              <a:t>Minikube</a:t>
            </a:r>
            <a:r>
              <a:rPr lang="en-US" altLang="ko-KR" sz="1400" b="1" dirty="0"/>
              <a:t> now</a:t>
            </a:r>
            <a:r>
              <a:rPr lang="en-US" altLang="ko-KR" sz="1400" dirty="0"/>
              <a:t>.</a:t>
            </a:r>
          </a:p>
          <a:p>
            <a:pPr lvl="1">
              <a:buFont typeface="Wingdings" panose="05000000000000000000" pitchFamily="2" charset="2"/>
              <a:buChar char="§"/>
            </a:pPr>
            <a:r>
              <a:rPr lang="en-US" altLang="ko-KR" sz="1400" b="1" dirty="0"/>
              <a:t>Once becoming the leader, it must periodically update the resource (every two seconds by default), so all other instances know that it’s still alive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57944D42-3F50-3EAA-B6C7-0216AE190430}"/>
              </a:ext>
            </a:extLst>
          </p:cNvPr>
          <p:cNvGrpSpPr/>
          <p:nvPr/>
        </p:nvGrpSpPr>
        <p:grpSpPr>
          <a:xfrm>
            <a:off x="1896234" y="1982549"/>
            <a:ext cx="8399531" cy="4426481"/>
            <a:chOff x="1896234" y="1982549"/>
            <a:chExt cx="8399531" cy="4426481"/>
          </a:xfrm>
        </p:grpSpPr>
        <p:grpSp>
          <p:nvGrpSpPr>
            <p:cNvPr id="18" name="그룹 17">
              <a:extLst>
                <a:ext uri="{FF2B5EF4-FFF2-40B4-BE49-F238E27FC236}">
                  <a16:creationId xmlns:a16="http://schemas.microsoft.com/office/drawing/2014/main" id="{004A27D5-D681-83B6-6197-9755F24EC6B8}"/>
                </a:ext>
              </a:extLst>
            </p:cNvPr>
            <p:cNvGrpSpPr/>
            <p:nvPr/>
          </p:nvGrpSpPr>
          <p:grpSpPr>
            <a:xfrm>
              <a:off x="1896234" y="1982549"/>
              <a:ext cx="8399531" cy="4426481"/>
              <a:chOff x="1896234" y="1982549"/>
              <a:chExt cx="8399531" cy="4426481"/>
            </a:xfrm>
          </p:grpSpPr>
          <p:grpSp>
            <p:nvGrpSpPr>
              <p:cNvPr id="16" name="그룹 15">
                <a:extLst>
                  <a:ext uri="{FF2B5EF4-FFF2-40B4-BE49-F238E27FC236}">
                    <a16:creationId xmlns:a16="http://schemas.microsoft.com/office/drawing/2014/main" id="{87DF9140-FD47-8A02-BE9F-7CCA6DD8A429}"/>
                  </a:ext>
                </a:extLst>
              </p:cNvPr>
              <p:cNvGrpSpPr/>
              <p:nvPr/>
            </p:nvGrpSpPr>
            <p:grpSpPr>
              <a:xfrm>
                <a:off x="1896234" y="1982549"/>
                <a:ext cx="8399531" cy="4426481"/>
                <a:chOff x="1896234" y="1982549"/>
                <a:chExt cx="8399531" cy="4426481"/>
              </a:xfrm>
            </p:grpSpPr>
            <p:grpSp>
              <p:nvGrpSpPr>
                <p:cNvPr id="11" name="그룹 10">
                  <a:extLst>
                    <a:ext uri="{FF2B5EF4-FFF2-40B4-BE49-F238E27FC236}">
                      <a16:creationId xmlns:a16="http://schemas.microsoft.com/office/drawing/2014/main" id="{7355152E-B447-E01A-341C-90BEBDD98905}"/>
                    </a:ext>
                  </a:extLst>
                </p:cNvPr>
                <p:cNvGrpSpPr/>
                <p:nvPr/>
              </p:nvGrpSpPr>
              <p:grpSpPr>
                <a:xfrm>
                  <a:off x="1896234" y="1982549"/>
                  <a:ext cx="8399531" cy="4426481"/>
                  <a:chOff x="1250556" y="2237828"/>
                  <a:chExt cx="9690888" cy="4780870"/>
                </a:xfrm>
              </p:grpSpPr>
              <p:pic>
                <p:nvPicPr>
                  <p:cNvPr id="8" name="그림 7">
                    <a:extLst>
                      <a:ext uri="{FF2B5EF4-FFF2-40B4-BE49-F238E27FC236}">
                        <a16:creationId xmlns:a16="http://schemas.microsoft.com/office/drawing/2014/main" id="{0A147F01-011A-E2D6-666A-BB383880A8B0}"/>
                      </a:ext>
                    </a:extLst>
                  </p:cNvPr>
                  <p:cNvPicPr>
                    <a:picLocks noChangeAspect="1"/>
                  </p:cNvPicPr>
                  <p:nvPr/>
                </p:nvPicPr>
                <p:blipFill>
                  <a:blip r:embed="rId2"/>
                  <a:stretch>
                    <a:fillRect/>
                  </a:stretch>
                </p:blipFill>
                <p:spPr>
                  <a:xfrm>
                    <a:off x="1250556" y="4636355"/>
                    <a:ext cx="9690888" cy="2382343"/>
                  </a:xfrm>
                  <a:prstGeom prst="rect">
                    <a:avLst/>
                  </a:prstGeom>
                </p:spPr>
              </p:pic>
              <p:pic>
                <p:nvPicPr>
                  <p:cNvPr id="10" name="그림 9">
                    <a:extLst>
                      <a:ext uri="{FF2B5EF4-FFF2-40B4-BE49-F238E27FC236}">
                        <a16:creationId xmlns:a16="http://schemas.microsoft.com/office/drawing/2014/main" id="{A5CC64EB-D812-05AA-F280-29918B51FC7C}"/>
                      </a:ext>
                    </a:extLst>
                  </p:cNvPr>
                  <p:cNvPicPr>
                    <a:picLocks noChangeAspect="1"/>
                  </p:cNvPicPr>
                  <p:nvPr/>
                </p:nvPicPr>
                <p:blipFill>
                  <a:blip r:embed="rId3"/>
                  <a:stretch>
                    <a:fillRect/>
                  </a:stretch>
                </p:blipFill>
                <p:spPr>
                  <a:xfrm>
                    <a:off x="1250556" y="2237828"/>
                    <a:ext cx="9690888" cy="2382343"/>
                  </a:xfrm>
                  <a:prstGeom prst="rect">
                    <a:avLst/>
                  </a:prstGeom>
                </p:spPr>
              </p:pic>
            </p:grpSp>
            <p:sp>
              <p:nvSpPr>
                <p:cNvPr id="15" name="직사각형 14">
                  <a:extLst>
                    <a:ext uri="{FF2B5EF4-FFF2-40B4-BE49-F238E27FC236}">
                      <a16:creationId xmlns:a16="http://schemas.microsoft.com/office/drawing/2014/main" id="{F377D9D3-9A86-EDC3-1C10-743FE70AFB92}"/>
                    </a:ext>
                  </a:extLst>
                </p:cNvPr>
                <p:cNvSpPr/>
                <p:nvPr/>
              </p:nvSpPr>
              <p:spPr>
                <a:xfrm>
                  <a:off x="3196354" y="3317735"/>
                  <a:ext cx="1448474" cy="2427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직사각형 16">
                <a:extLst>
                  <a:ext uri="{FF2B5EF4-FFF2-40B4-BE49-F238E27FC236}">
                    <a16:creationId xmlns:a16="http://schemas.microsoft.com/office/drawing/2014/main" id="{E001539B-448C-D8A3-4588-E1DFF9FD262A}"/>
                  </a:ext>
                </a:extLst>
              </p:cNvPr>
              <p:cNvSpPr/>
              <p:nvPr/>
            </p:nvSpPr>
            <p:spPr>
              <a:xfrm>
                <a:off x="3196354" y="2540899"/>
                <a:ext cx="1448474" cy="2427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직사각형 13">
              <a:extLst>
                <a:ext uri="{FF2B5EF4-FFF2-40B4-BE49-F238E27FC236}">
                  <a16:creationId xmlns:a16="http://schemas.microsoft.com/office/drawing/2014/main" id="{3D3E4B7F-1C69-1D0A-B7C1-60734CDC2877}"/>
                </a:ext>
              </a:extLst>
            </p:cNvPr>
            <p:cNvSpPr/>
            <p:nvPr/>
          </p:nvSpPr>
          <p:spPr>
            <a:xfrm>
              <a:off x="2266444" y="6138371"/>
              <a:ext cx="1310235" cy="1793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7412698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a:p>
            <a:pPr marL="0" indent="0">
              <a:buNone/>
            </a:pPr>
            <a:r>
              <a:rPr lang="en-US" altLang="ko-KR" sz="1400" b="1" dirty="0"/>
              <a:t>[3] </a:t>
            </a:r>
            <a:r>
              <a:rPr lang="en-US" altLang="ko-KR" sz="1400" b="1" dirty="0">
                <a:hlinkClick r:id="rId3"/>
              </a:rPr>
              <a:t>https://minikube.sigs.k8s.io/docs/</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130</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4"/>
          <a:stretch>
            <a:fillRect/>
          </a:stretch>
        </p:blipFill>
        <p:spPr>
          <a:xfrm>
            <a:off x="4990542" y="2209544"/>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131</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110108</TotalTime>
  <Words>21558</Words>
  <Application>Microsoft Office PowerPoint</Application>
  <PresentationFormat>와이드스크린</PresentationFormat>
  <Paragraphs>1513</Paragraphs>
  <Slides>131</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131</vt:i4>
      </vt:variant>
    </vt:vector>
  </HeadingPairs>
  <TitlesOfParts>
    <vt:vector size="135" baseType="lpstr">
      <vt:lpstr>맑은 고딕</vt:lpstr>
      <vt:lpstr>Arial</vt:lpstr>
      <vt:lpstr>Wingdings</vt:lpstr>
      <vt:lpstr>Office 테마</vt:lpstr>
      <vt:lpstr>Kubernetes in Action</vt:lpstr>
      <vt:lpstr>StatefulSets</vt:lpstr>
      <vt:lpstr>Replicating Stateful Pods(1/5)</vt:lpstr>
      <vt:lpstr>Replicating Stateful Pods(2/5)</vt:lpstr>
      <vt:lpstr>Replicating Stateful Pods(3/5)</vt:lpstr>
      <vt:lpstr>Replicating Stateful Pods(4/5)</vt:lpstr>
      <vt:lpstr>Replicating Stateful Pods(5/5)</vt:lpstr>
      <vt:lpstr>Understanding StatefulSets(1/10)</vt:lpstr>
      <vt:lpstr>Understanding StatefulSets(2/10)</vt:lpstr>
      <vt:lpstr>Understanding StatefulSets(3/10)</vt:lpstr>
      <vt:lpstr>Understanding StatefulSets(4/10)</vt:lpstr>
      <vt:lpstr>Understanding StatefulSets(5/10)</vt:lpstr>
      <vt:lpstr>Understanding StatefulSets(6/10)</vt:lpstr>
      <vt:lpstr>Understanding StatefulSets(7/10)</vt:lpstr>
      <vt:lpstr>Understanding StatefulSets(8/10)</vt:lpstr>
      <vt:lpstr>Understanding StatefulSets(9/10)</vt:lpstr>
      <vt:lpstr>Understanding StatefulSets(10/10)</vt:lpstr>
      <vt:lpstr>Using a StatefulSet(1/21)</vt:lpstr>
      <vt:lpstr>Using a StatefulSet(2/21)</vt:lpstr>
      <vt:lpstr>Using a StatefulSet(3/21)</vt:lpstr>
      <vt:lpstr>Using a StatefulSet(4/21)</vt:lpstr>
      <vt:lpstr>Using a StatefulSet(5/21)</vt:lpstr>
      <vt:lpstr>Using a StatefulSet(6/21)</vt:lpstr>
      <vt:lpstr>Using a StatefulSet(7/21)</vt:lpstr>
      <vt:lpstr>Using a StatefulSet(8/21)</vt:lpstr>
      <vt:lpstr>Using a StatefulSet(9/21)</vt:lpstr>
      <vt:lpstr>Using a StatefulSet(10/21)</vt:lpstr>
      <vt:lpstr>Using a StatefulSet(11/21)</vt:lpstr>
      <vt:lpstr>Using a StatefulSet(12/21)</vt:lpstr>
      <vt:lpstr>Using a StatefulSet(13/21)</vt:lpstr>
      <vt:lpstr>Using a StatefulSet(14/21)</vt:lpstr>
      <vt:lpstr>Using a StatefulSet(15/21)</vt:lpstr>
      <vt:lpstr>Using a StatefulSet(16/21)</vt:lpstr>
      <vt:lpstr>Using a StatefulSet(17/21)</vt:lpstr>
      <vt:lpstr>Using a StatefulSet(18/21)</vt:lpstr>
      <vt:lpstr>Using a StatefulSet(19/21)</vt:lpstr>
      <vt:lpstr>Using a StatefulSet(20/21)</vt:lpstr>
      <vt:lpstr>NOTE : Creating Non-Headless Service</vt:lpstr>
      <vt:lpstr>Using a StatefulSet(21/21)</vt:lpstr>
      <vt:lpstr>Discovering Peers in a StatefulSet(1/12)</vt:lpstr>
      <vt:lpstr>Discovering Peers in a StatefulSet(2/12)</vt:lpstr>
      <vt:lpstr>Discovering Peers in a StatefulSet(3/12)</vt:lpstr>
      <vt:lpstr>Discovering Peers in a StatefulSet(4/12)</vt:lpstr>
      <vt:lpstr>Discovering Peers in a StatefulSet(5/12)</vt:lpstr>
      <vt:lpstr>Discovering Peers in a StatefulSet(6/12)</vt:lpstr>
      <vt:lpstr>Discovering Peers in a StatefulSet(7/12)</vt:lpstr>
      <vt:lpstr>NOTE : Build Docker Image</vt:lpstr>
      <vt:lpstr>Discovering Peers in a StatefulSet(8/12)</vt:lpstr>
      <vt:lpstr>Discovering Peers in a StatefulSet(9/12)</vt:lpstr>
      <vt:lpstr>Discovering Peers in a StatefulSet(10/12)</vt:lpstr>
      <vt:lpstr>Discovering Peers in a StatefulSet(11/12)</vt:lpstr>
      <vt:lpstr>Discovering Peers in a StatefulSet(12/12)</vt:lpstr>
      <vt:lpstr>Understanding How StatefulSets Deal with Node Failure(1/)</vt:lpstr>
      <vt:lpstr>Understanding How StatefulSets Deal with Node Failure(2/)</vt:lpstr>
      <vt:lpstr>Understanding How StatefulSets Deal with Node Failure(3/)</vt:lpstr>
      <vt:lpstr>Understanding How StatefulSets Deal with Node Failure(4/)</vt:lpstr>
      <vt:lpstr>Advanced Topics</vt:lpstr>
      <vt:lpstr>Kubernetes Internals</vt:lpstr>
      <vt:lpstr>Understanding the Architecture(1/39)</vt:lpstr>
      <vt:lpstr>Understanding the Architecture(2/39)</vt:lpstr>
      <vt:lpstr>NOTE : The Big Picture</vt:lpstr>
      <vt:lpstr>Understanding the Architecture(3/39)</vt:lpstr>
      <vt:lpstr>Understanding the Architecture(4/39)</vt:lpstr>
      <vt:lpstr>Understanding the Architecture(5/39)</vt:lpstr>
      <vt:lpstr>Understanding the Architecture(6/39)</vt:lpstr>
      <vt:lpstr>Understanding the Architecture(7/39)</vt:lpstr>
      <vt:lpstr>Understanding the Architecture(8/39)</vt:lpstr>
      <vt:lpstr>Understanding the Architecture(9/39)</vt:lpstr>
      <vt:lpstr>Understanding the Architecture(10/39)</vt:lpstr>
      <vt:lpstr>Understanding the Architecture(11/39)</vt:lpstr>
      <vt:lpstr>Understanding the Architecture(12/39)</vt:lpstr>
      <vt:lpstr>Understanding the Architecture(13/39)</vt:lpstr>
      <vt:lpstr>Understanding the Architecture(14/39)</vt:lpstr>
      <vt:lpstr>Understanding the Architecture(15/39)</vt:lpstr>
      <vt:lpstr>Understanding the Architecture(16/39)</vt:lpstr>
      <vt:lpstr>Understanding the Architecture(17/39)</vt:lpstr>
      <vt:lpstr>Understanding the Architecture(18/39)</vt:lpstr>
      <vt:lpstr>Understanding the Architecture(19/39)</vt:lpstr>
      <vt:lpstr>Understanding the Architecture(20/39)</vt:lpstr>
      <vt:lpstr>Understanding the Architecture(21/39)</vt:lpstr>
      <vt:lpstr>Understanding the Architecture(22/39)</vt:lpstr>
      <vt:lpstr>Understanding the Architecture(23/39)</vt:lpstr>
      <vt:lpstr>Understanding the Architecture(24/39)</vt:lpstr>
      <vt:lpstr>NOTE : The Kubernetes Scheduler</vt:lpstr>
      <vt:lpstr>Understanding the Architecture(25/39)</vt:lpstr>
      <vt:lpstr>Understanding the Architecture(26/39)</vt:lpstr>
      <vt:lpstr>Understanding the Architecture(27/39)</vt:lpstr>
      <vt:lpstr>NOTE : The Source Code of Controllers</vt:lpstr>
      <vt:lpstr>Understanding the Architecture(28/39)</vt:lpstr>
      <vt:lpstr>Understanding the Architecture(29/39)</vt:lpstr>
      <vt:lpstr>Understanding the Architecture(30/39)</vt:lpstr>
      <vt:lpstr>Understanding the Architecture(31/39)</vt:lpstr>
      <vt:lpstr>Understanding the Architecture(32/39)</vt:lpstr>
      <vt:lpstr>Understanding the Architecture(33/39)</vt:lpstr>
      <vt:lpstr>Understanding the Architecture(34/39)</vt:lpstr>
      <vt:lpstr>Understanding the Architecture(35/39)</vt:lpstr>
      <vt:lpstr>Understanding the Architecture(36/39)</vt:lpstr>
      <vt:lpstr>Understanding the Architecture(37/39)</vt:lpstr>
      <vt:lpstr>Understanding the Architecture(38/39)</vt:lpstr>
      <vt:lpstr>Understanding the Architecture(39/39)</vt:lpstr>
      <vt:lpstr>How Controllers Cooperate(1/5)</vt:lpstr>
      <vt:lpstr>How Controllers Cooperate(2/5)</vt:lpstr>
      <vt:lpstr>How Controllers Cooperate(3/5)</vt:lpstr>
      <vt:lpstr>How Controllers Cooperate(4/5)</vt:lpstr>
      <vt:lpstr>How Controllers Cooperate(5/5)</vt:lpstr>
      <vt:lpstr>Understanding What A Running Pod Is?(1/3)</vt:lpstr>
      <vt:lpstr>Understanding What A Running Pod Is?(2/3)</vt:lpstr>
      <vt:lpstr>Understanding What A Running Pod Is?(3/3)</vt:lpstr>
      <vt:lpstr>Inter-Pod Networking(1/7)</vt:lpstr>
      <vt:lpstr>Inter-Pod Networking(2/7)</vt:lpstr>
      <vt:lpstr>Inter-Pod Networking(3/7)</vt:lpstr>
      <vt:lpstr>NOTE : Network Configuration</vt:lpstr>
      <vt:lpstr>Inter-Pod Networking(4/7)</vt:lpstr>
      <vt:lpstr>Inter-Pod Networking(5/7)</vt:lpstr>
      <vt:lpstr>Inter-Pod Networking(6/7)</vt:lpstr>
      <vt:lpstr>Inter-Pod Networking(7/7)</vt:lpstr>
      <vt:lpstr>NOTE : Kubernetes Networking Big Picture</vt:lpstr>
      <vt:lpstr>How Services Are Implemented(1/4)</vt:lpstr>
      <vt:lpstr>How Services Are Implemented(2/4)</vt:lpstr>
      <vt:lpstr>How Services Are Implemented(3/4)</vt:lpstr>
      <vt:lpstr>How Services Are Implemented(4/4)</vt:lpstr>
      <vt:lpstr>Running Highly Available Clusters(1/8)</vt:lpstr>
      <vt:lpstr>Running Highly Available Clusters(2/8)</vt:lpstr>
      <vt:lpstr>Running Highly Available Clusters(3/8)</vt:lpstr>
      <vt:lpstr>Running Highly Available Clusters(4/8)</vt:lpstr>
      <vt:lpstr>Running Highly Available Clusters(5/8)</vt:lpstr>
      <vt:lpstr>Running Highly Available Clusters(6/8)</vt:lpstr>
      <vt:lpstr>Running Highly Available Clusters(7/8)</vt:lpstr>
      <vt:lpstr>Running Highly Available Clusters(8/8)</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6067</cp:revision>
  <dcterms:created xsi:type="dcterms:W3CDTF">2020-11-26T08:00:10Z</dcterms:created>
  <dcterms:modified xsi:type="dcterms:W3CDTF">2026-08-18T02:42:41Z</dcterms:modified>
</cp:coreProperties>
</file>