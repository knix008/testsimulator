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6"/>
  </p:notesMasterIdLst>
  <p:sldIdLst>
    <p:sldId id="256" r:id="rId2"/>
    <p:sldId id="776" r:id="rId3"/>
    <p:sldId id="1457" r:id="rId4"/>
    <p:sldId id="1458" r:id="rId5"/>
    <p:sldId id="1459" r:id="rId6"/>
    <p:sldId id="1460" r:id="rId7"/>
    <p:sldId id="1461" r:id="rId8"/>
    <p:sldId id="1462" r:id="rId9"/>
    <p:sldId id="1464" r:id="rId10"/>
    <p:sldId id="1465" r:id="rId11"/>
    <p:sldId id="1463" r:id="rId12"/>
    <p:sldId id="1466" r:id="rId13"/>
    <p:sldId id="1467" r:id="rId14"/>
    <p:sldId id="1468" r:id="rId15"/>
    <p:sldId id="1471" r:id="rId16"/>
    <p:sldId id="1472" r:id="rId17"/>
    <p:sldId id="1473" r:id="rId18"/>
    <p:sldId id="1474" r:id="rId19"/>
    <p:sldId id="1475" r:id="rId20"/>
    <p:sldId id="1476" r:id="rId21"/>
    <p:sldId id="1477" r:id="rId22"/>
    <p:sldId id="1478" r:id="rId23"/>
    <p:sldId id="1479" r:id="rId24"/>
    <p:sldId id="1484" r:id="rId25"/>
    <p:sldId id="1483" r:id="rId26"/>
    <p:sldId id="1486" r:id="rId27"/>
    <p:sldId id="1480" r:id="rId28"/>
    <p:sldId id="1481" r:id="rId29"/>
    <p:sldId id="1482" r:id="rId30"/>
    <p:sldId id="1487" r:id="rId31"/>
    <p:sldId id="1488" r:id="rId32"/>
    <p:sldId id="1490" r:id="rId33"/>
    <p:sldId id="1489" r:id="rId34"/>
    <p:sldId id="1491" r:id="rId35"/>
    <p:sldId id="1492" r:id="rId36"/>
    <p:sldId id="1493" r:id="rId37"/>
    <p:sldId id="1494" r:id="rId38"/>
    <p:sldId id="1495" r:id="rId39"/>
    <p:sldId id="1496" r:id="rId40"/>
    <p:sldId id="1497" r:id="rId41"/>
    <p:sldId id="1498" r:id="rId42"/>
    <p:sldId id="1499" r:id="rId43"/>
    <p:sldId id="1500" r:id="rId44"/>
    <p:sldId id="1501" r:id="rId45"/>
    <p:sldId id="1502" r:id="rId46"/>
    <p:sldId id="1503" r:id="rId47"/>
    <p:sldId id="1504" r:id="rId48"/>
    <p:sldId id="1505" r:id="rId49"/>
    <p:sldId id="1506" r:id="rId50"/>
    <p:sldId id="1507" r:id="rId51"/>
    <p:sldId id="1508" r:id="rId52"/>
    <p:sldId id="1509" r:id="rId53"/>
    <p:sldId id="1510" r:id="rId54"/>
    <p:sldId id="1511" r:id="rId55"/>
    <p:sldId id="1512" r:id="rId56"/>
    <p:sldId id="1513" r:id="rId57"/>
    <p:sldId id="1560" r:id="rId58"/>
    <p:sldId id="1514" r:id="rId59"/>
    <p:sldId id="1515" r:id="rId60"/>
    <p:sldId id="1516" r:id="rId61"/>
    <p:sldId id="1517" r:id="rId62"/>
    <p:sldId id="1518" r:id="rId63"/>
    <p:sldId id="1519" r:id="rId64"/>
    <p:sldId id="1520" r:id="rId65"/>
    <p:sldId id="1522" r:id="rId66"/>
    <p:sldId id="1521" r:id="rId67"/>
    <p:sldId id="1523" r:id="rId68"/>
    <p:sldId id="1524" r:id="rId69"/>
    <p:sldId id="1525" r:id="rId70"/>
    <p:sldId id="1526" r:id="rId71"/>
    <p:sldId id="1527" r:id="rId72"/>
    <p:sldId id="1528" r:id="rId73"/>
    <p:sldId id="1529" r:id="rId74"/>
    <p:sldId id="1530" r:id="rId75"/>
    <p:sldId id="1531" r:id="rId76"/>
    <p:sldId id="1532" r:id="rId77"/>
    <p:sldId id="1533" r:id="rId78"/>
    <p:sldId id="1534" r:id="rId79"/>
    <p:sldId id="1535" r:id="rId80"/>
    <p:sldId id="1536" r:id="rId81"/>
    <p:sldId id="1537" r:id="rId82"/>
    <p:sldId id="1538" r:id="rId83"/>
    <p:sldId id="1539" r:id="rId84"/>
    <p:sldId id="1540" r:id="rId85"/>
    <p:sldId id="1541" r:id="rId86"/>
    <p:sldId id="1542" r:id="rId87"/>
    <p:sldId id="1543" r:id="rId88"/>
    <p:sldId id="1544" r:id="rId89"/>
    <p:sldId id="1545" r:id="rId90"/>
    <p:sldId id="1546" r:id="rId91"/>
    <p:sldId id="1548" r:id="rId92"/>
    <p:sldId id="1547" r:id="rId93"/>
    <p:sldId id="1549" r:id="rId94"/>
    <p:sldId id="1550" r:id="rId95"/>
    <p:sldId id="1551" r:id="rId96"/>
    <p:sldId id="1552" r:id="rId97"/>
    <p:sldId id="1553" r:id="rId98"/>
    <p:sldId id="1554" r:id="rId99"/>
    <p:sldId id="1555" r:id="rId100"/>
    <p:sldId id="1556" r:id="rId101"/>
    <p:sldId id="1557" r:id="rId102"/>
    <p:sldId id="1558" r:id="rId103"/>
    <p:sldId id="1559" r:id="rId104"/>
    <p:sldId id="1561" r:id="rId105"/>
    <p:sldId id="1562" r:id="rId106"/>
    <p:sldId id="1563" r:id="rId107"/>
    <p:sldId id="1564" r:id="rId108"/>
    <p:sldId id="1565" r:id="rId109"/>
    <p:sldId id="1566" r:id="rId110"/>
    <p:sldId id="1567" r:id="rId111"/>
    <p:sldId id="1568" r:id="rId112"/>
    <p:sldId id="1569" r:id="rId113"/>
    <p:sldId id="1570" r:id="rId114"/>
    <p:sldId id="1571" r:id="rId115"/>
    <p:sldId id="1572" r:id="rId116"/>
    <p:sldId id="1573" r:id="rId117"/>
    <p:sldId id="1574" r:id="rId118"/>
    <p:sldId id="1575" r:id="rId119"/>
    <p:sldId id="1576" r:id="rId120"/>
    <p:sldId id="1577" r:id="rId121"/>
    <p:sldId id="1578" r:id="rId122"/>
    <p:sldId id="1579" r:id="rId123"/>
    <p:sldId id="1580" r:id="rId124"/>
    <p:sldId id="1583" r:id="rId125"/>
    <p:sldId id="1581" r:id="rId126"/>
    <p:sldId id="1582" r:id="rId127"/>
    <p:sldId id="1584" r:id="rId128"/>
    <p:sldId id="1585" r:id="rId129"/>
    <p:sldId id="1586" r:id="rId130"/>
    <p:sldId id="1587" r:id="rId131"/>
    <p:sldId id="1588" r:id="rId132"/>
    <p:sldId id="1589" r:id="rId133"/>
    <p:sldId id="281" r:id="rId134"/>
    <p:sldId id="259" r:id="rId13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2" autoAdjust="0"/>
    <p:restoredTop sz="94660"/>
  </p:normalViewPr>
  <p:slideViewPr>
    <p:cSldViewPr snapToGrid="0">
      <p:cViewPr varScale="1">
        <p:scale>
          <a:sx n="113" d="100"/>
          <a:sy n="113" d="100"/>
        </p:scale>
        <p:origin x="108" y="6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kubernetes.io/docs/concepts/storage/volumes/"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github.com/knix008/Website"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kubernetes.io/docs/tasks/configure-pod-container/configure-persistent-volume-storag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6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IV</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Volumes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Attaching Disk Storage to Containers</a:t>
            </a:r>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Volume?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File System Resources :</a:t>
            </a:r>
          </a:p>
          <a:p>
            <a:pPr lvl="1">
              <a:buFont typeface="Wingdings" panose="05000000000000000000" pitchFamily="2" charset="2"/>
              <a:buChar char="§"/>
            </a:pPr>
            <a:r>
              <a:rPr lang="en-US" altLang="ko-KR" sz="1400" dirty="0"/>
              <a:t>We’ve said that </a:t>
            </a:r>
            <a:r>
              <a:rPr lang="en-US" altLang="ko-KR" sz="1400" b="1" dirty="0"/>
              <a:t>pods are similar to logical hosts</a:t>
            </a:r>
            <a:r>
              <a:rPr lang="en-US" altLang="ko-KR" sz="1400" dirty="0"/>
              <a:t> where processes running inside them share resources such as CPU, RAM, network interfaces, and others. One would expect the processes to also share disks, but that’s not the case. You’ll remember that </a:t>
            </a:r>
            <a:r>
              <a:rPr lang="en-US" altLang="ko-KR" sz="1400" b="1" dirty="0"/>
              <a:t>each container in a pod has its </a:t>
            </a:r>
            <a:r>
              <a:rPr lang="en-US" altLang="ko-KR" sz="1400" b="1" dirty="0">
                <a:solidFill>
                  <a:srgbClr val="FF0000"/>
                </a:solidFill>
              </a:rPr>
              <a:t>own isolated filesystem</a:t>
            </a:r>
            <a:r>
              <a:rPr lang="en-US" altLang="ko-KR" sz="1400" b="1" dirty="0"/>
              <a:t>, because </a:t>
            </a:r>
            <a:r>
              <a:rPr lang="en-US" altLang="ko-KR" sz="1400" b="1" dirty="0">
                <a:solidFill>
                  <a:srgbClr val="FF0000"/>
                </a:solidFill>
              </a:rPr>
              <a:t>the filesystem comes from the container’s image</a:t>
            </a:r>
            <a:r>
              <a:rPr lang="en-US" altLang="ko-KR" sz="1400" dirty="0"/>
              <a:t>.</a:t>
            </a:r>
          </a:p>
          <a:p>
            <a:pPr lvl="1">
              <a:buFont typeface="Wingdings" panose="05000000000000000000" pitchFamily="2" charset="2"/>
              <a:buChar char="§"/>
            </a:pPr>
            <a:r>
              <a:rPr lang="en-US" altLang="ko-KR" sz="1400" b="1" dirty="0"/>
              <a:t>Every new container starts off with the exact set of files that was added to the image at build time</a:t>
            </a:r>
            <a:r>
              <a:rPr lang="en-US" altLang="ko-KR" sz="1400" dirty="0"/>
              <a:t>. Combine this with the fact that containers in a pod get restarted (either because the process died or because the liveness probe signaled to Kubernetes that the container wasn’t healthy anymore) and you’ll realize that </a:t>
            </a:r>
            <a:r>
              <a:rPr lang="en-US" altLang="ko-KR" sz="1400" b="1" dirty="0"/>
              <a:t>the new container will not see anything that was written to the filesystem by the previous container, even though the newly started container runs in the same pod</a:t>
            </a:r>
            <a:r>
              <a:rPr lang="en-US" altLang="ko-KR" sz="1400" dirty="0"/>
              <a:t>.</a:t>
            </a:r>
          </a:p>
          <a:p>
            <a:pPr lvl="1">
              <a:buFont typeface="Wingdings" panose="05000000000000000000" pitchFamily="2" charset="2"/>
              <a:buChar char="§"/>
            </a:pPr>
            <a:r>
              <a:rPr lang="en-US" altLang="ko-KR" sz="1400" dirty="0"/>
              <a:t>In certain scenarios you want </a:t>
            </a:r>
            <a:r>
              <a:rPr lang="en-US" altLang="ko-KR" sz="1400" b="1" dirty="0"/>
              <a:t>the new container to continue where the last one finished</a:t>
            </a:r>
            <a:r>
              <a:rPr lang="en-US" altLang="ko-KR" sz="1400" dirty="0"/>
              <a:t>, such as when restarting a process on a physical machine. </a:t>
            </a:r>
            <a:r>
              <a:rPr lang="en-US" altLang="ko-KR" sz="1400" b="1" dirty="0"/>
              <a:t>You may not need (or want) the whole filesystem to be </a:t>
            </a:r>
            <a:r>
              <a:rPr lang="en-US" altLang="ko-KR" sz="1400" b="1" dirty="0">
                <a:solidFill>
                  <a:srgbClr val="FF0000"/>
                </a:solidFill>
              </a:rPr>
              <a:t>persisted</a:t>
            </a:r>
            <a:r>
              <a:rPr lang="en-US" altLang="ko-KR" sz="1400" b="1" dirty="0"/>
              <a:t>, but you do want to </a:t>
            </a:r>
            <a:r>
              <a:rPr lang="en-US" altLang="ko-KR" sz="1400" b="1" dirty="0">
                <a:solidFill>
                  <a:srgbClr val="FF0000"/>
                </a:solidFill>
              </a:rPr>
              <a:t>preserve</a:t>
            </a:r>
            <a:r>
              <a:rPr lang="en-US" altLang="ko-KR" sz="1400" b="1" dirty="0"/>
              <a:t> the directories that hold actual data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9" name="그림 8">
            <a:extLst>
              <a:ext uri="{FF2B5EF4-FFF2-40B4-BE49-F238E27FC236}">
                <a16:creationId xmlns:a16="http://schemas.microsoft.com/office/drawing/2014/main" id="{5F455379-144A-8098-B267-E8658CD37DD6}"/>
              </a:ext>
            </a:extLst>
          </p:cNvPr>
          <p:cNvPicPr>
            <a:picLocks noChangeAspect="1"/>
          </p:cNvPicPr>
          <p:nvPr/>
        </p:nvPicPr>
        <p:blipFill>
          <a:blip r:embed="rId2"/>
          <a:stretch>
            <a:fillRect/>
          </a:stretch>
        </p:blipFill>
        <p:spPr>
          <a:xfrm>
            <a:off x="8741579" y="3591718"/>
            <a:ext cx="2612221" cy="2817312"/>
          </a:xfrm>
          <a:prstGeom prst="rect">
            <a:avLst/>
          </a:prstGeom>
        </p:spPr>
      </p:pic>
      <p:sp>
        <p:nvSpPr>
          <p:cNvPr id="13" name="TextBox 12">
            <a:extLst>
              <a:ext uri="{FF2B5EF4-FFF2-40B4-BE49-F238E27FC236}">
                <a16:creationId xmlns:a16="http://schemas.microsoft.com/office/drawing/2014/main" id="{8EF6318D-AC35-4D52-A8DA-B46DAEE42E93}"/>
              </a:ext>
            </a:extLst>
          </p:cNvPr>
          <p:cNvSpPr txBox="1"/>
          <p:nvPr/>
        </p:nvSpPr>
        <p:spPr>
          <a:xfrm>
            <a:off x="838198" y="3591718"/>
            <a:ext cx="7903381" cy="1643527"/>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Kubernetes provides this by defining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storage volumes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They aren’t top-level resources like pods, but are instead defined as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 part of a pod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share the same lifecycle as the pod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This means a volume is created when the pod is started and is destroyed when the pod is deleted</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Because of this,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volume’s contents will persist across container restarts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After a container is restarted, the new container can see all the files that were written to the volume by the previous container. Also,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if a pod contains multiple containers, the volume can be used by all of them at once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2130208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Volumes(1/4)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Volumes :</a:t>
            </a:r>
          </a:p>
          <a:p>
            <a:pPr lvl="1">
              <a:buFont typeface="Wingdings" panose="05000000000000000000" pitchFamily="2" charset="2"/>
              <a:buChar char="§"/>
            </a:pPr>
            <a:r>
              <a:rPr lang="en-US" altLang="ko-KR" sz="1400" b="1" dirty="0"/>
              <a:t>Kubernetes volumes are </a:t>
            </a:r>
            <a:r>
              <a:rPr lang="en-US" altLang="ko-KR" sz="1400" b="1" dirty="0">
                <a:solidFill>
                  <a:srgbClr val="FF0000"/>
                </a:solidFill>
              </a:rPr>
              <a:t>a component of a pod </a:t>
            </a:r>
            <a:r>
              <a:rPr lang="en-US" altLang="ko-KR" sz="1400" b="1" dirty="0"/>
              <a:t>and are thus </a:t>
            </a:r>
            <a:r>
              <a:rPr lang="en-US" altLang="ko-KR" sz="1400" b="1" dirty="0">
                <a:solidFill>
                  <a:srgbClr val="FF0000"/>
                </a:solidFill>
              </a:rPr>
              <a:t>defined in the pod’s specification</a:t>
            </a:r>
            <a:r>
              <a:rPr lang="en-US" altLang="ko-KR" sz="1400" dirty="0"/>
              <a:t>—</a:t>
            </a:r>
            <a:r>
              <a:rPr lang="en-US" altLang="ko-KR" sz="1400" b="1" dirty="0"/>
              <a:t>much like </a:t>
            </a:r>
            <a:r>
              <a:rPr lang="en-US" altLang="ko-KR" sz="1400" b="1" dirty="0">
                <a:solidFill>
                  <a:srgbClr val="FF0000"/>
                </a:solidFill>
              </a:rPr>
              <a:t>containers</a:t>
            </a:r>
            <a:r>
              <a:rPr lang="en-US" altLang="ko-KR" sz="1400" dirty="0"/>
              <a:t>. </a:t>
            </a:r>
            <a:r>
              <a:rPr lang="en-US" altLang="ko-KR" sz="1400" b="1" dirty="0"/>
              <a:t>They aren’t a standalone Kubernetes object and cannot be created or deleted on their own</a:t>
            </a:r>
            <a:r>
              <a:rPr lang="en-US" altLang="ko-KR" sz="1400" dirty="0"/>
              <a:t>. </a:t>
            </a:r>
            <a:r>
              <a:rPr lang="en-US" altLang="ko-KR" sz="1400" b="1" dirty="0"/>
              <a:t>A volume is available to all containers in the pod</a:t>
            </a:r>
            <a:r>
              <a:rPr lang="en-US" altLang="ko-KR" sz="1400" dirty="0"/>
              <a:t>, </a:t>
            </a:r>
            <a:r>
              <a:rPr lang="en-US" altLang="ko-KR" sz="1400" b="1" dirty="0"/>
              <a:t>but it must be </a:t>
            </a:r>
            <a:r>
              <a:rPr lang="en-US" altLang="ko-KR" sz="1400" b="1" dirty="0">
                <a:solidFill>
                  <a:srgbClr val="FF0000"/>
                </a:solidFill>
              </a:rPr>
              <a:t>mounted</a:t>
            </a:r>
            <a:r>
              <a:rPr lang="en-US" altLang="ko-KR" sz="1400" b="1" dirty="0"/>
              <a:t> in each container </a:t>
            </a:r>
            <a:r>
              <a:rPr lang="en-US" altLang="ko-KR" sz="1400" dirty="0"/>
              <a:t>that needs to access it. In each container, you can mount the volume in any location of its filesystem.</a:t>
            </a:r>
          </a:p>
          <a:p>
            <a:pPr lvl="1">
              <a:buFont typeface="Wingdings" panose="05000000000000000000" pitchFamily="2" charset="2"/>
              <a:buChar char="§"/>
            </a:pPr>
            <a:r>
              <a:rPr lang="en-US" altLang="ko-KR" sz="1400" dirty="0"/>
              <a:t>Imagine you have a pod with three containers (shown in the following figure). One container runs a web server that serves HTML pages from the “</a:t>
            </a:r>
            <a:r>
              <a:rPr lang="en-US" altLang="ko-KR" sz="1400" b="1" dirty="0"/>
              <a:t>/var/</a:t>
            </a:r>
            <a:r>
              <a:rPr lang="en-US" altLang="ko-KR" sz="1400" b="1" dirty="0" err="1"/>
              <a:t>htdocs</a:t>
            </a:r>
            <a:r>
              <a:rPr lang="en-US" altLang="ko-KR" sz="1400" dirty="0"/>
              <a:t>” directory and stores the access log to “</a:t>
            </a:r>
            <a:r>
              <a:rPr lang="en-US" altLang="ko-KR" sz="1400" b="1" dirty="0"/>
              <a:t>/var/logs</a:t>
            </a:r>
            <a:r>
              <a:rPr lang="en-US" altLang="ko-KR" sz="1400" dirty="0"/>
              <a:t>”. The second container runs an agent that creates HTML files and stores them in “</a:t>
            </a:r>
            <a:r>
              <a:rPr lang="en-US" altLang="ko-KR" sz="1400" b="1" dirty="0"/>
              <a:t>/var/html</a:t>
            </a:r>
            <a:r>
              <a:rPr lang="en-US" altLang="ko-KR" sz="1400" dirty="0"/>
              <a:t>”. The third container processes the logs it finds in the “</a:t>
            </a:r>
            <a:r>
              <a:rPr lang="en-US" altLang="ko-KR" sz="1400" b="1" dirty="0"/>
              <a:t>/var/logs</a:t>
            </a:r>
            <a:r>
              <a:rPr lang="en-US" altLang="ko-KR" sz="1400" dirty="0"/>
              <a:t>” directory (rotates them, compresses them, analyzes them, or whatever).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CD4AFEF-BEF0-4031-B727-43178C4AE222}"/>
              </a:ext>
            </a:extLst>
          </p:cNvPr>
          <p:cNvPicPr>
            <a:picLocks noChangeAspect="1"/>
          </p:cNvPicPr>
          <p:nvPr/>
        </p:nvPicPr>
        <p:blipFill>
          <a:blip r:embed="rId2"/>
          <a:stretch>
            <a:fillRect/>
          </a:stretch>
        </p:blipFill>
        <p:spPr>
          <a:xfrm>
            <a:off x="4796175" y="2892972"/>
            <a:ext cx="2599650" cy="3463378"/>
          </a:xfrm>
          <a:prstGeom prst="rect">
            <a:avLst/>
          </a:prstGeom>
        </p:spPr>
      </p:pic>
    </p:spTree>
    <p:extLst>
      <p:ext uri="{BB962C8B-B14F-4D97-AF65-F5344CB8AC3E}">
        <p14:creationId xmlns:p14="http://schemas.microsoft.com/office/powerpoint/2010/main" val="4226768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Volumes(2/4)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Volumes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Each container has a nicely defined single responsibility, but on its own each container wouldn’t be of much use.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Creating a pod with these three containers without them sharing disk storage doesn’t make any sense, because the content generator would write the generated HTML files inside its own container and the web server couldn’t access those files, as it runs in a separate isolated container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Instead, it would serve an empty directory or whatever you put in the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/var/</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htdocs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directory in its container image. Similarly, the log rotator would never have anything to do, because its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/var/logs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directory would always remain empty with nothing writing logs there. A pod with these three containers and no volumes basically does nothing.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lang="en-US" altLang="ko-KR" sz="1400" b="1" dirty="0">
                <a:solidFill>
                  <a:prstClr val="black"/>
                </a:solidFill>
                <a:latin typeface="맑은 고딕" panose="020F0502020204030204"/>
                <a:ea typeface="맑은 고딕" panose="020B0503020000020004" pitchFamily="50" charset="-127"/>
              </a:rPr>
              <a:t>I</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f you add two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volumes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to the pod and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mount</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them at appropriate paths inside the three containers, as shown in the following figure, you’ve created a system that’s much more than the sum of its parts.</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741C943-A933-FEB5-B960-3C4E5EEFC3CA}"/>
              </a:ext>
            </a:extLst>
          </p:cNvPr>
          <p:cNvGrpSpPr/>
          <p:nvPr/>
        </p:nvGrpSpPr>
        <p:grpSpPr>
          <a:xfrm>
            <a:off x="4833688" y="3003331"/>
            <a:ext cx="2524623" cy="3405699"/>
            <a:chOff x="4833688" y="3003331"/>
            <a:chExt cx="2524623" cy="3405699"/>
          </a:xfrm>
        </p:grpSpPr>
        <p:pic>
          <p:nvPicPr>
            <p:cNvPr id="8" name="그림 7">
              <a:extLst>
                <a:ext uri="{FF2B5EF4-FFF2-40B4-BE49-F238E27FC236}">
                  <a16:creationId xmlns:a16="http://schemas.microsoft.com/office/drawing/2014/main" id="{91E24605-CB38-F519-4F67-E16E4B0259F5}"/>
                </a:ext>
              </a:extLst>
            </p:cNvPr>
            <p:cNvPicPr>
              <a:picLocks noChangeAspect="1"/>
            </p:cNvPicPr>
            <p:nvPr/>
          </p:nvPicPr>
          <p:blipFill>
            <a:blip r:embed="rId2"/>
            <a:stretch>
              <a:fillRect/>
            </a:stretch>
          </p:blipFill>
          <p:spPr>
            <a:xfrm>
              <a:off x="4833688" y="3003331"/>
              <a:ext cx="2524623" cy="3405699"/>
            </a:xfrm>
            <a:prstGeom prst="rect">
              <a:avLst/>
            </a:prstGeom>
          </p:spPr>
        </p:pic>
        <p:sp>
          <p:nvSpPr>
            <p:cNvPr id="9" name="직사각형 8">
              <a:extLst>
                <a:ext uri="{FF2B5EF4-FFF2-40B4-BE49-F238E27FC236}">
                  <a16:creationId xmlns:a16="http://schemas.microsoft.com/office/drawing/2014/main" id="{56630CA5-6697-F9B8-5C56-37627B6D4EE6}"/>
                </a:ext>
              </a:extLst>
            </p:cNvPr>
            <p:cNvSpPr/>
            <p:nvPr/>
          </p:nvSpPr>
          <p:spPr>
            <a:xfrm>
              <a:off x="6526924" y="3783724"/>
              <a:ext cx="748862" cy="17815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2702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Volumes(3/4)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Volumes :</a:t>
            </a:r>
          </a:p>
          <a:p>
            <a:pPr lvl="1">
              <a:buFont typeface="Wingdings" panose="05000000000000000000" pitchFamily="2" charset="2"/>
              <a:buChar char="§"/>
            </a:pPr>
            <a:r>
              <a:rPr lang="en-US" altLang="ko-KR" sz="1400" b="1" dirty="0"/>
              <a:t>Linux allows you to mount a filesystem at arbitrary locations in the file tree</a:t>
            </a:r>
            <a:r>
              <a:rPr lang="en-US" altLang="ko-KR" sz="1400" dirty="0"/>
              <a:t>. When you do that, </a:t>
            </a:r>
            <a:r>
              <a:rPr lang="en-US" altLang="ko-KR" sz="1400" b="1" dirty="0"/>
              <a:t>the contents of the mounted filesystem are accessible in the directory it’s mounted into</a:t>
            </a:r>
            <a:r>
              <a:rPr lang="en-US" altLang="ko-KR" sz="1400" dirty="0"/>
              <a:t>. By mounting the same volume into two containers, they can operate on the same files. In your case, you’re mounting two volumes in three containers. By doing this, your three containers can work together and do something useful.</a:t>
            </a:r>
          </a:p>
          <a:p>
            <a:pPr lvl="1">
              <a:buFont typeface="Wingdings" panose="05000000000000000000" pitchFamily="2" charset="2"/>
              <a:buChar char="§"/>
            </a:pPr>
            <a:r>
              <a:rPr lang="en-US" altLang="ko-KR" sz="1400" dirty="0"/>
              <a:t>First, the pod has a volume called “</a:t>
            </a:r>
            <a:r>
              <a:rPr lang="en-US" altLang="ko-KR" sz="1400" b="1" dirty="0" err="1"/>
              <a:t>publicHtml</a:t>
            </a:r>
            <a:r>
              <a:rPr lang="en-US" altLang="ko-KR" sz="1400" dirty="0"/>
              <a:t>”. This volume is mounted in the </a:t>
            </a:r>
            <a:r>
              <a:rPr lang="en-US" altLang="ko-KR" sz="1400" b="1" dirty="0" err="1"/>
              <a:t>WebServer</a:t>
            </a:r>
            <a:r>
              <a:rPr lang="en-US" altLang="ko-KR" sz="1400" dirty="0"/>
              <a:t> container at “</a:t>
            </a:r>
            <a:r>
              <a:rPr lang="en-US" altLang="ko-KR" sz="1400" b="1" dirty="0"/>
              <a:t>/var/</a:t>
            </a:r>
            <a:r>
              <a:rPr lang="en-US" altLang="ko-KR" sz="1400" b="1" dirty="0" err="1"/>
              <a:t>htdocs</a:t>
            </a:r>
            <a:r>
              <a:rPr lang="en-US" altLang="ko-KR" sz="1400" dirty="0"/>
              <a:t>”, because that’s the directory the web server serves files from. The same volume is also mounted in the </a:t>
            </a:r>
            <a:r>
              <a:rPr lang="en-US" altLang="ko-KR" sz="1400" b="1" dirty="0" err="1"/>
              <a:t>ContentAgent</a:t>
            </a:r>
            <a:r>
              <a:rPr lang="en-US" altLang="ko-KR" sz="1400" dirty="0"/>
              <a:t> container, but at “</a:t>
            </a:r>
            <a:r>
              <a:rPr lang="en-US" altLang="ko-KR" sz="1400" b="1" dirty="0"/>
              <a:t>/var/html</a:t>
            </a:r>
            <a:r>
              <a:rPr lang="en-US" altLang="ko-KR" sz="1400" dirty="0"/>
              <a:t>”, because that’s where the agent writes the files to. By mounting this single volume like that, </a:t>
            </a:r>
            <a:r>
              <a:rPr lang="en-US" altLang="ko-KR" sz="1400" b="1" dirty="0"/>
              <a:t>the web server will now serve the content generated by the content agent</a:t>
            </a:r>
            <a:r>
              <a:rPr lang="en-US" altLang="ko-KR" sz="1400" dirty="0"/>
              <a:t>. </a:t>
            </a:r>
          </a:p>
          <a:p>
            <a:pPr lvl="1">
              <a:buFont typeface="Wingdings" panose="05000000000000000000" pitchFamily="2" charset="2"/>
              <a:buChar char="§"/>
            </a:pPr>
            <a:r>
              <a:rPr lang="en-US" altLang="ko-KR" sz="1400" dirty="0"/>
              <a:t>Similarly, the pod also has a volume called “</a:t>
            </a:r>
            <a:r>
              <a:rPr lang="en-US" altLang="ko-KR" sz="1400" b="1" dirty="0" err="1"/>
              <a:t>logVol</a:t>
            </a:r>
            <a:r>
              <a:rPr lang="en-US" altLang="ko-KR" sz="1400" dirty="0"/>
              <a:t>” for storing logs. This volume is mounted at “</a:t>
            </a:r>
            <a:r>
              <a:rPr lang="en-US" altLang="ko-KR" sz="1400" b="1" dirty="0"/>
              <a:t>/var/logs</a:t>
            </a:r>
            <a:r>
              <a:rPr lang="en-US" altLang="ko-KR" sz="1400" dirty="0"/>
              <a:t>” in both the </a:t>
            </a:r>
            <a:r>
              <a:rPr lang="en-US" altLang="ko-KR" sz="1400" b="1" dirty="0" err="1"/>
              <a:t>WebServer</a:t>
            </a:r>
            <a:r>
              <a:rPr lang="en-US" altLang="ko-KR" sz="1400" dirty="0"/>
              <a:t> and the </a:t>
            </a:r>
            <a:r>
              <a:rPr lang="en-US" altLang="ko-KR" sz="1400" b="1" dirty="0" err="1"/>
              <a:t>LogRotator</a:t>
            </a:r>
            <a:r>
              <a:rPr lang="en-US" altLang="ko-KR" sz="1400" dirty="0"/>
              <a:t> containers. Note that it isn’t mounted in the </a:t>
            </a:r>
            <a:r>
              <a:rPr lang="en-US" altLang="ko-KR" sz="1400" b="1" dirty="0" err="1"/>
              <a:t>ContentAgent</a:t>
            </a:r>
            <a:r>
              <a:rPr lang="en-US" altLang="ko-KR" sz="1400" dirty="0"/>
              <a:t> container. The container cannot access its files, even though the container and the volume are part of the same pod. It’s not enough to define a volume in the pod; you need to </a:t>
            </a:r>
            <a:r>
              <a:rPr lang="en-US" altLang="ko-KR" sz="1400" b="1" dirty="0"/>
              <a:t>define a “</a:t>
            </a:r>
            <a:r>
              <a:rPr lang="en-US" altLang="ko-KR" sz="1400" b="1" dirty="0" err="1"/>
              <a:t>VolumeMount</a:t>
            </a:r>
            <a:r>
              <a:rPr lang="en-US" altLang="ko-KR" sz="1400" b="1" dirty="0"/>
              <a:t>” inside the container’s spec</a:t>
            </a:r>
            <a:r>
              <a:rPr lang="en-US" altLang="ko-KR" sz="1400" dirty="0"/>
              <a:t> also, if you want the container to be able to access it.</a:t>
            </a:r>
          </a:p>
          <a:p>
            <a:pPr lvl="1">
              <a:buFont typeface="Wingdings" panose="05000000000000000000" pitchFamily="2" charset="2"/>
              <a:buChar char="§"/>
            </a:pPr>
            <a:r>
              <a:rPr lang="en-US" altLang="ko-KR" sz="1400" dirty="0"/>
              <a:t>The two volumes in this example can both initially be empty, so you can use </a:t>
            </a:r>
            <a:r>
              <a:rPr lang="en-US" altLang="ko-KR" sz="1400" b="1" dirty="0"/>
              <a:t>a type of volume called “</a:t>
            </a:r>
            <a:r>
              <a:rPr lang="en-US" altLang="ko-KR" sz="1400" b="1" dirty="0" err="1">
                <a:solidFill>
                  <a:srgbClr val="FF0000"/>
                </a:solidFill>
              </a:rPr>
              <a:t>emptyDir</a:t>
            </a:r>
            <a:r>
              <a:rPr lang="en-US" altLang="ko-KR" sz="1400" b="1" dirty="0"/>
              <a:t>”</a:t>
            </a:r>
            <a:r>
              <a:rPr lang="en-US" altLang="ko-KR" sz="1400" dirty="0"/>
              <a:t>. </a:t>
            </a:r>
            <a:r>
              <a:rPr lang="en-US" altLang="ko-KR" sz="1400" b="1" dirty="0"/>
              <a:t>Kubernetes also supports other types of volumes that are either populated during initialization of the volume from an external source, or an existing directory is mounted inside the volume</a:t>
            </a:r>
            <a:r>
              <a:rPr lang="en-US" altLang="ko-KR" sz="1400" dirty="0"/>
              <a:t>. </a:t>
            </a:r>
            <a:r>
              <a:rPr lang="en-US" altLang="ko-KR" sz="1400" b="1" dirty="0"/>
              <a:t>This process of populating or mounting a volume is performed before the pod’s containers are started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017E6C7-7238-8802-5DC7-37D7768EBE6A}"/>
              </a:ext>
            </a:extLst>
          </p:cNvPr>
          <p:cNvPicPr>
            <a:picLocks noChangeAspect="1"/>
          </p:cNvPicPr>
          <p:nvPr/>
        </p:nvPicPr>
        <p:blipFill>
          <a:blip r:embed="rId2"/>
          <a:stretch>
            <a:fillRect/>
          </a:stretch>
        </p:blipFill>
        <p:spPr>
          <a:xfrm>
            <a:off x="8749862" y="4650858"/>
            <a:ext cx="2603938" cy="1758171"/>
          </a:xfrm>
          <a:prstGeom prst="rect">
            <a:avLst/>
          </a:prstGeom>
        </p:spPr>
      </p:pic>
      <p:sp>
        <p:nvSpPr>
          <p:cNvPr id="9" name="TextBox 8">
            <a:extLst>
              <a:ext uri="{FF2B5EF4-FFF2-40B4-BE49-F238E27FC236}">
                <a16:creationId xmlns:a16="http://schemas.microsoft.com/office/drawing/2014/main" id="{04D882CC-047A-801C-3C98-614EE8B32410}"/>
              </a:ext>
            </a:extLst>
          </p:cNvPr>
          <p:cNvSpPr txBox="1"/>
          <p:nvPr/>
        </p:nvSpPr>
        <p:spPr>
          <a:xfrm>
            <a:off x="838199" y="4650858"/>
            <a:ext cx="7856483" cy="867930"/>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 volume is bound to the lifecycle of a pod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and will stay in existence only while the pod exists, but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depending on the volume type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the volume’s files may remain intact even after the pod and volume disappear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can later be mounted into a new volume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p>
        </p:txBody>
      </p:sp>
    </p:spTree>
    <p:extLst>
      <p:ext uri="{BB962C8B-B14F-4D97-AF65-F5344CB8AC3E}">
        <p14:creationId xmlns:p14="http://schemas.microsoft.com/office/powerpoint/2010/main" val="3664857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Introducing Volumes(4/4)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Volume Types :</a:t>
            </a:r>
          </a:p>
          <a:p>
            <a:pPr lvl="1">
              <a:buFont typeface="Wingdings" panose="05000000000000000000" pitchFamily="2" charset="2"/>
              <a:buChar char="§"/>
            </a:pPr>
            <a:r>
              <a:rPr lang="en-US" altLang="ko-KR" sz="1400" b="1" dirty="0"/>
              <a:t>A wide variety of volume types is available. Several are generic, while others are specific to the actual storage technologies used underneath</a:t>
            </a:r>
            <a:r>
              <a:rPr lang="en-US" altLang="ko-KR" sz="1400" dirty="0"/>
              <a:t>. You’ll probably only use volume types for the technologies you already know and use. Here’s a list of several of the available volume types :</a:t>
            </a:r>
          </a:p>
          <a:p>
            <a:pPr lvl="2">
              <a:buFont typeface="Wingdings" panose="05000000000000000000" pitchFamily="2" charset="2"/>
              <a:buChar char="§"/>
            </a:pPr>
            <a:r>
              <a:rPr lang="en-US" altLang="ko-KR" sz="1400" b="1" dirty="0" err="1"/>
              <a:t>emptyDir</a:t>
            </a:r>
            <a:r>
              <a:rPr lang="en-US" altLang="ko-KR" sz="1400" dirty="0"/>
              <a:t>—A simple empty directory used for </a:t>
            </a:r>
            <a:r>
              <a:rPr lang="en-US" altLang="ko-KR" sz="1400" b="1" dirty="0"/>
              <a:t>storing transient data</a:t>
            </a:r>
            <a:r>
              <a:rPr lang="en-US" altLang="ko-KR" sz="1400" dirty="0"/>
              <a:t>.</a:t>
            </a:r>
          </a:p>
          <a:p>
            <a:pPr lvl="2">
              <a:buFont typeface="Wingdings" panose="05000000000000000000" pitchFamily="2" charset="2"/>
              <a:buChar char="§"/>
            </a:pPr>
            <a:r>
              <a:rPr lang="en-US" altLang="ko-KR" sz="1400" b="1" dirty="0" err="1"/>
              <a:t>hostPath</a:t>
            </a:r>
            <a:r>
              <a:rPr lang="en-US" altLang="ko-KR" sz="1400" dirty="0"/>
              <a:t>—Used for mounting directories from </a:t>
            </a:r>
            <a:r>
              <a:rPr lang="en-US" altLang="ko-KR" sz="1400" b="1" dirty="0"/>
              <a:t>the worker node’s filesystem </a:t>
            </a:r>
            <a:r>
              <a:rPr lang="en-US" altLang="ko-KR" sz="1400" dirty="0"/>
              <a:t>into the pod.</a:t>
            </a:r>
          </a:p>
          <a:p>
            <a:pPr lvl="2">
              <a:buFont typeface="Wingdings" panose="05000000000000000000" pitchFamily="2" charset="2"/>
              <a:buChar char="§"/>
            </a:pPr>
            <a:r>
              <a:rPr lang="en-US" altLang="ko-KR" sz="1400" b="1" dirty="0" err="1"/>
              <a:t>gitRepo</a:t>
            </a:r>
            <a:r>
              <a:rPr lang="en-US" altLang="ko-KR" sz="1400" dirty="0"/>
              <a:t>—A volume initialized by checking out the contents of a </a:t>
            </a:r>
            <a:r>
              <a:rPr lang="en-US" altLang="ko-KR" sz="1400" b="1" dirty="0"/>
              <a:t>Git repository</a:t>
            </a:r>
            <a:r>
              <a:rPr lang="en-US" altLang="ko-KR" sz="1400" dirty="0"/>
              <a:t>.(</a:t>
            </a:r>
            <a:r>
              <a:rPr lang="en-US" altLang="ko-KR" sz="1400" b="1" dirty="0"/>
              <a:t>Deprecated</a:t>
            </a:r>
            <a:r>
              <a:rPr lang="en-US" altLang="ko-KR" sz="1400" dirty="0"/>
              <a:t>)</a:t>
            </a:r>
          </a:p>
          <a:p>
            <a:pPr lvl="2">
              <a:buFont typeface="Wingdings" panose="05000000000000000000" pitchFamily="2" charset="2"/>
              <a:buChar char="§"/>
            </a:pPr>
            <a:r>
              <a:rPr lang="en-US" altLang="ko-KR" sz="1400" b="1" dirty="0" err="1"/>
              <a:t>nfs</a:t>
            </a:r>
            <a:r>
              <a:rPr lang="en-US" altLang="ko-KR" sz="1400" dirty="0"/>
              <a:t>—An </a:t>
            </a:r>
            <a:r>
              <a:rPr lang="en-US" altLang="ko-KR" sz="1400" b="1" dirty="0"/>
              <a:t>NFS(Network File System)</a:t>
            </a:r>
            <a:r>
              <a:rPr lang="en-US" altLang="ko-KR" sz="1400" dirty="0"/>
              <a:t> share mounted into the pod.</a:t>
            </a:r>
          </a:p>
          <a:p>
            <a:pPr lvl="2">
              <a:buFont typeface="Wingdings" panose="05000000000000000000" pitchFamily="2" charset="2"/>
              <a:buChar char="§"/>
            </a:pPr>
            <a:r>
              <a:rPr lang="en-US" altLang="ko-KR" sz="1400" b="1" dirty="0" err="1"/>
              <a:t>gcePersistentDisk</a:t>
            </a:r>
            <a:r>
              <a:rPr lang="en-US" altLang="ko-KR" sz="1400" dirty="0"/>
              <a:t> (Google Compute Engine Persistent Disk), </a:t>
            </a:r>
            <a:r>
              <a:rPr lang="en-US" altLang="ko-KR" sz="1400" b="1" dirty="0" err="1"/>
              <a:t>awsElasticBlockStore</a:t>
            </a:r>
            <a:r>
              <a:rPr lang="en-US" altLang="ko-KR" sz="1400" dirty="0"/>
              <a:t> (Amazon Web Services Elastic Block Store Volume), </a:t>
            </a:r>
            <a:r>
              <a:rPr lang="en-US" altLang="ko-KR" sz="1400" b="1" dirty="0" err="1"/>
              <a:t>azureDisk</a:t>
            </a:r>
            <a:r>
              <a:rPr lang="en-US" altLang="ko-KR" sz="1400" dirty="0"/>
              <a:t> (Microsoft Azure Disk Volume)—Used for mounting </a:t>
            </a:r>
            <a:r>
              <a:rPr lang="en-US" altLang="ko-KR" sz="1400" b="1" dirty="0"/>
              <a:t>cloud provider-specific storage</a:t>
            </a:r>
            <a:r>
              <a:rPr lang="en-US" altLang="ko-KR" sz="1400" dirty="0"/>
              <a:t>.</a:t>
            </a:r>
          </a:p>
          <a:p>
            <a:pPr lvl="2">
              <a:buFont typeface="Wingdings" panose="05000000000000000000" pitchFamily="2" charset="2"/>
              <a:buChar char="§"/>
            </a:pPr>
            <a:r>
              <a:rPr lang="en-US" altLang="ko-KR" sz="1400" b="1" dirty="0"/>
              <a:t>cinder, </a:t>
            </a:r>
            <a:r>
              <a:rPr lang="en-US" altLang="ko-KR" sz="1400" b="1" dirty="0" err="1"/>
              <a:t>cephfs</a:t>
            </a:r>
            <a:r>
              <a:rPr lang="en-US" altLang="ko-KR" sz="1400" b="1" dirty="0"/>
              <a:t>, </a:t>
            </a:r>
            <a:r>
              <a:rPr lang="en-US" altLang="ko-KR" sz="1400" b="1" dirty="0" err="1"/>
              <a:t>iscsi</a:t>
            </a:r>
            <a:r>
              <a:rPr lang="en-US" altLang="ko-KR" sz="1400" b="1" dirty="0"/>
              <a:t>, </a:t>
            </a:r>
            <a:r>
              <a:rPr lang="en-US" altLang="ko-KR" sz="1400" b="1" dirty="0" err="1"/>
              <a:t>flocker</a:t>
            </a:r>
            <a:r>
              <a:rPr lang="en-US" altLang="ko-KR" sz="1400" b="1" dirty="0"/>
              <a:t>, </a:t>
            </a:r>
            <a:r>
              <a:rPr lang="en-US" altLang="ko-KR" sz="1400" b="1" dirty="0" err="1"/>
              <a:t>glusterfs</a:t>
            </a:r>
            <a:r>
              <a:rPr lang="en-US" altLang="ko-KR" sz="1400" b="1" dirty="0"/>
              <a:t>, </a:t>
            </a:r>
            <a:r>
              <a:rPr lang="en-US" altLang="ko-KR" sz="1400" b="1" dirty="0" err="1"/>
              <a:t>quobyte</a:t>
            </a:r>
            <a:r>
              <a:rPr lang="en-US" altLang="ko-KR" sz="1400" b="1" dirty="0"/>
              <a:t>, </a:t>
            </a:r>
            <a:r>
              <a:rPr lang="en-US" altLang="ko-KR" sz="1400" b="1" dirty="0" err="1"/>
              <a:t>rbd</a:t>
            </a:r>
            <a:r>
              <a:rPr lang="en-US" altLang="ko-KR" sz="1400" b="1" dirty="0"/>
              <a:t>, </a:t>
            </a:r>
            <a:r>
              <a:rPr lang="en-US" altLang="ko-KR" sz="1400" b="1" dirty="0" err="1"/>
              <a:t>flexVolume</a:t>
            </a:r>
            <a:r>
              <a:rPr lang="en-US" altLang="ko-KR" sz="1400" b="1" dirty="0"/>
              <a:t>, </a:t>
            </a:r>
            <a:r>
              <a:rPr lang="en-US" altLang="ko-KR" sz="1400" b="1" dirty="0" err="1"/>
              <a:t>vsphereVolume</a:t>
            </a:r>
            <a:r>
              <a:rPr lang="en-US" altLang="ko-KR" sz="1400" dirty="0"/>
              <a:t>, </a:t>
            </a:r>
            <a:r>
              <a:rPr lang="en-US" altLang="ko-KR" sz="1400" b="1" dirty="0" err="1"/>
              <a:t>photonPersistentDisk</a:t>
            </a:r>
            <a:r>
              <a:rPr lang="en-US" altLang="ko-KR" sz="1400" dirty="0"/>
              <a:t>, </a:t>
            </a:r>
            <a:r>
              <a:rPr lang="en-US" altLang="ko-KR" sz="1400" b="1" dirty="0" err="1"/>
              <a:t>scaleIO</a:t>
            </a:r>
            <a:r>
              <a:rPr lang="en-US" altLang="ko-KR" sz="1400" dirty="0"/>
              <a:t>—Used for mounting other types of </a:t>
            </a:r>
            <a:r>
              <a:rPr lang="en-US" altLang="ko-KR" sz="1400" b="1" dirty="0"/>
              <a:t>network storage</a:t>
            </a:r>
            <a:r>
              <a:rPr lang="en-US" altLang="ko-KR" sz="1400" dirty="0"/>
              <a:t>.</a:t>
            </a:r>
          </a:p>
          <a:p>
            <a:pPr lvl="2">
              <a:buFont typeface="Wingdings" panose="05000000000000000000" pitchFamily="2" charset="2"/>
              <a:buChar char="§"/>
            </a:pPr>
            <a:r>
              <a:rPr lang="en-US" altLang="ko-KR" sz="1400" b="1" dirty="0" err="1">
                <a:solidFill>
                  <a:srgbClr val="FF0000"/>
                </a:solidFill>
              </a:rPr>
              <a:t>configMap</a:t>
            </a:r>
            <a:r>
              <a:rPr lang="en-US" altLang="ko-KR" sz="1400" dirty="0"/>
              <a:t>, </a:t>
            </a:r>
            <a:r>
              <a:rPr lang="en-US" altLang="ko-KR" sz="1400" b="1" dirty="0">
                <a:solidFill>
                  <a:srgbClr val="FF0000"/>
                </a:solidFill>
              </a:rPr>
              <a:t>secret</a:t>
            </a:r>
            <a:r>
              <a:rPr lang="en-US" altLang="ko-KR" sz="1400" dirty="0"/>
              <a:t>, </a:t>
            </a:r>
            <a:r>
              <a:rPr lang="en-US" altLang="ko-KR" sz="1400" b="1" dirty="0" err="1"/>
              <a:t>downwardAPI</a:t>
            </a:r>
            <a:r>
              <a:rPr lang="en-US" altLang="ko-KR" sz="1400" dirty="0"/>
              <a:t>—Special types of volumes used to </a:t>
            </a:r>
            <a:r>
              <a:rPr lang="en-US" altLang="ko-KR" sz="1400" b="1" dirty="0"/>
              <a:t>expose certain Kubernetes resources and cluster information</a:t>
            </a:r>
            <a:r>
              <a:rPr lang="en-US" altLang="ko-KR" sz="1400" dirty="0"/>
              <a:t> to the pod.</a:t>
            </a:r>
          </a:p>
          <a:p>
            <a:pPr lvl="2">
              <a:buFont typeface="Wingdings" panose="05000000000000000000" pitchFamily="2" charset="2"/>
              <a:buChar char="§"/>
            </a:pPr>
            <a:r>
              <a:rPr lang="en-US" altLang="ko-KR" sz="1400" b="1" dirty="0" err="1">
                <a:solidFill>
                  <a:srgbClr val="FF0000"/>
                </a:solidFill>
              </a:rPr>
              <a:t>persistentVolumeClaim</a:t>
            </a:r>
            <a:r>
              <a:rPr lang="en-US" altLang="ko-KR" sz="1400" dirty="0"/>
              <a:t>—A way to use a pre- or dynamically provisioned </a:t>
            </a:r>
            <a:r>
              <a:rPr lang="en-US" altLang="ko-KR" sz="1400" b="1" dirty="0"/>
              <a:t>persistent storage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A4CB583-FB80-CBEA-E39E-4AC6D3E23EC3}"/>
              </a:ext>
            </a:extLst>
          </p:cNvPr>
          <p:cNvPicPr>
            <a:picLocks noChangeAspect="1"/>
          </p:cNvPicPr>
          <p:nvPr/>
        </p:nvPicPr>
        <p:blipFill>
          <a:blip r:embed="rId2"/>
          <a:stretch>
            <a:fillRect/>
          </a:stretch>
        </p:blipFill>
        <p:spPr>
          <a:xfrm>
            <a:off x="7945820" y="4650729"/>
            <a:ext cx="3407979" cy="1758301"/>
          </a:xfrm>
          <a:prstGeom prst="rect">
            <a:avLst/>
          </a:prstGeom>
        </p:spPr>
      </p:pic>
      <p:sp>
        <p:nvSpPr>
          <p:cNvPr id="9" name="TextBox 8">
            <a:extLst>
              <a:ext uri="{FF2B5EF4-FFF2-40B4-BE49-F238E27FC236}">
                <a16:creationId xmlns:a16="http://schemas.microsoft.com/office/drawing/2014/main" id="{8F56CE86-38F3-C091-EA23-4D5E841CB464}"/>
              </a:ext>
            </a:extLst>
          </p:cNvPr>
          <p:cNvSpPr txBox="1"/>
          <p:nvPr/>
        </p:nvSpPr>
        <p:spPr>
          <a:xfrm>
            <a:off x="838200" y="4593791"/>
            <a:ext cx="6997262" cy="1513748"/>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single pod can use multiple volumes of different types at the same time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each of the pod’s containers can either have the volume mounted or not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lang="en-US" altLang="ko-KR" sz="1400" b="1" dirty="0">
                <a:solidFill>
                  <a:srgbClr val="FF0000"/>
                </a:solidFill>
                <a:latin typeface="맑은 고딕" panose="020F0502020204030204"/>
                <a:ea typeface="맑은 고딕" panose="020B0503020000020004" pitchFamily="50" charset="-127"/>
              </a:rPr>
              <a:t>NOTICE </a:t>
            </a:r>
            <a:r>
              <a:rPr lang="en-US" altLang="ko-KR" sz="1400" b="1" dirty="0">
                <a:solidFill>
                  <a:prstClr val="black"/>
                </a:solidFill>
                <a:latin typeface="맑은 고딕" panose="020F0502020204030204"/>
                <a:ea typeface="맑은 고딕" panose="020B0503020000020004" pitchFamily="50" charset="-127"/>
              </a:rPr>
              <a:t>: Some of the above volume types are already </a:t>
            </a:r>
            <a:r>
              <a:rPr lang="en-US" altLang="ko-KR" sz="1400" b="1" dirty="0">
                <a:solidFill>
                  <a:srgbClr val="FF0000"/>
                </a:solidFill>
                <a:latin typeface="맑은 고딕" panose="020F0502020204030204"/>
                <a:ea typeface="맑은 고딕" panose="020B0503020000020004" pitchFamily="50" charset="-127"/>
              </a:rPr>
              <a:t>deprecated</a:t>
            </a:r>
            <a:r>
              <a:rPr lang="en-US" altLang="ko-KR" sz="1400" b="1" dirty="0">
                <a:solidFill>
                  <a:prstClr val="black"/>
                </a:solidFill>
                <a:latin typeface="맑은 고딕" panose="020F0502020204030204"/>
                <a:ea typeface="맑은 고딕" panose="020B0503020000020004" pitchFamily="50" charset="-127"/>
              </a:rPr>
              <a:t>. Check the status of the volume types in </a:t>
            </a:r>
            <a:r>
              <a:rPr lang="en-US" altLang="ko-KR" sz="1400" b="1" dirty="0">
                <a:solidFill>
                  <a:prstClr val="black"/>
                </a:solidFill>
                <a:latin typeface="맑은 고딕" panose="020F0502020204030204"/>
                <a:ea typeface="맑은 고딕" panose="020B0503020000020004" pitchFamily="50" charset="-127"/>
                <a:hlinkClick r:id="rId3"/>
              </a:rPr>
              <a:t>https://kubernetes.io/docs/concepts/storage/volumes/</a:t>
            </a:r>
            <a:r>
              <a:rPr lang="en-US" altLang="ko-KR" sz="1400" b="1" dirty="0">
                <a:solidFill>
                  <a:prstClr val="black"/>
                </a:solidFill>
                <a:latin typeface="맑은 고딕" panose="020F0502020204030204"/>
                <a:ea typeface="맑은 고딕" panose="020B0503020000020004" pitchFamily="50" charset="-127"/>
              </a:rPr>
              <a:t> before you use it</a:t>
            </a:r>
            <a:r>
              <a:rPr lang="en-US" altLang="ko-KR" sz="1400" dirty="0">
                <a:solidFill>
                  <a:prstClr val="black"/>
                </a:solidFill>
                <a:latin typeface="맑은 고딕" panose="020F0502020204030204"/>
                <a:ea typeface="맑은 고딕" panose="020B0503020000020004" pitchFamily="50" charset="-127"/>
              </a:rPr>
              <a:t>.</a:t>
            </a:r>
            <a:endPar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2044690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Volumes(1/8)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 </a:t>
            </a:r>
            <a:r>
              <a:rPr lang="en-US" altLang="ko-KR" sz="1800" b="1" dirty="0" err="1"/>
              <a:t>emptyDir</a:t>
            </a:r>
            <a:r>
              <a:rPr lang="en-US" altLang="ko-KR" sz="1800" b="1" dirty="0"/>
              <a:t> Volume :</a:t>
            </a:r>
          </a:p>
          <a:p>
            <a:pPr lvl="1">
              <a:buFont typeface="Wingdings" panose="05000000000000000000" pitchFamily="2" charset="2"/>
              <a:buChar char="§"/>
            </a:pPr>
            <a:r>
              <a:rPr lang="en-US" altLang="ko-KR" sz="1400" b="1" dirty="0"/>
              <a:t>The simplest volume type is the </a:t>
            </a:r>
            <a:r>
              <a:rPr lang="en-US" altLang="ko-KR" sz="1400" b="1" dirty="0" err="1">
                <a:solidFill>
                  <a:srgbClr val="FF0000"/>
                </a:solidFill>
              </a:rPr>
              <a:t>emptyDir</a:t>
            </a:r>
            <a:r>
              <a:rPr lang="en-US" altLang="ko-KR" sz="1400" b="1" dirty="0"/>
              <a:t> volume. </a:t>
            </a:r>
            <a:r>
              <a:rPr lang="en-US" altLang="ko-KR" sz="1400" dirty="0"/>
              <a:t>As the name suggests, </a:t>
            </a:r>
            <a:r>
              <a:rPr lang="en-US" altLang="ko-KR" sz="1400" b="1" dirty="0"/>
              <a:t>the volume starts out as an empty directory</a:t>
            </a:r>
            <a:r>
              <a:rPr lang="en-US" altLang="ko-KR" sz="1400" dirty="0"/>
              <a:t>. The app running inside the pod can then write any files it needs to it. </a:t>
            </a:r>
            <a:r>
              <a:rPr lang="en-US" altLang="ko-KR" sz="1400" b="1" dirty="0"/>
              <a:t>Because the volume’s lifetime is tied to that of the pod, the volume’s contents are lost when the pod is deleted</a:t>
            </a:r>
            <a:r>
              <a:rPr lang="en-US" altLang="ko-KR" sz="1400" dirty="0"/>
              <a:t>.</a:t>
            </a:r>
          </a:p>
          <a:p>
            <a:pPr lvl="1">
              <a:buFont typeface="Wingdings" panose="05000000000000000000" pitchFamily="2" charset="2"/>
              <a:buChar char="§"/>
            </a:pPr>
            <a:r>
              <a:rPr lang="en-US" altLang="ko-KR" sz="1400" b="1" dirty="0"/>
              <a:t>An </a:t>
            </a:r>
            <a:r>
              <a:rPr lang="en-US" altLang="ko-KR" sz="1400" b="1" dirty="0" err="1"/>
              <a:t>emptyDir</a:t>
            </a:r>
            <a:r>
              <a:rPr lang="en-US" altLang="ko-KR" sz="1400" b="1" dirty="0"/>
              <a:t> volume is especially useful for </a:t>
            </a:r>
            <a:r>
              <a:rPr lang="en-US" altLang="ko-KR" sz="1400" b="1" dirty="0">
                <a:solidFill>
                  <a:srgbClr val="FF0000"/>
                </a:solidFill>
              </a:rPr>
              <a:t>sharing files between containers running in the same pod</a:t>
            </a:r>
            <a:r>
              <a:rPr lang="en-US" altLang="ko-KR" sz="1400" dirty="0"/>
              <a:t>. But it can also be used by a single container for when </a:t>
            </a:r>
            <a:r>
              <a:rPr lang="en-US" altLang="ko-KR" sz="1400" b="1" dirty="0"/>
              <a:t>a container needs to write data to disk temporarily</a:t>
            </a:r>
            <a:r>
              <a:rPr lang="en-US" altLang="ko-KR" sz="1400" dirty="0"/>
              <a:t>, such as when performing a sort operation on a large dataset, which can’t fit into the available memory. The data could also be written to the container’s filesystem itself, but subtle differences exist between the two options. </a:t>
            </a:r>
            <a:r>
              <a:rPr lang="en-US" altLang="ko-KR" sz="1400" b="1" dirty="0"/>
              <a:t>A container’s filesystem may not even be writable</a:t>
            </a:r>
            <a:r>
              <a:rPr lang="en-US" altLang="ko-KR" sz="1400" dirty="0"/>
              <a:t>, </a:t>
            </a:r>
            <a:r>
              <a:rPr lang="en-US" altLang="ko-KR" sz="1400" b="1" dirty="0"/>
              <a:t>so writing to a mounted volume might be the only option</a:t>
            </a:r>
            <a:r>
              <a:rPr lang="en-US" altLang="ko-KR" sz="1400" dirty="0"/>
              <a:t>.</a:t>
            </a:r>
          </a:p>
          <a:p>
            <a:pPr lvl="1">
              <a:buFont typeface="Wingdings" panose="05000000000000000000" pitchFamily="2" charset="2"/>
              <a:buChar char="§"/>
            </a:pPr>
            <a:r>
              <a:rPr lang="en-US" altLang="ko-KR" sz="1400" b="1" dirty="0"/>
              <a:t>You’ll build a pod with only the web server container and the content agent and a single volume for the HTML</a:t>
            </a:r>
            <a:r>
              <a:rPr lang="en-US" altLang="ko-KR" sz="1400" dirty="0"/>
              <a:t>.</a:t>
            </a:r>
          </a:p>
          <a:p>
            <a:pPr lvl="1">
              <a:buFont typeface="Wingdings" panose="05000000000000000000" pitchFamily="2" charset="2"/>
              <a:buChar char="§"/>
            </a:pPr>
            <a:r>
              <a:rPr lang="en-US" altLang="ko-KR" sz="1400" dirty="0"/>
              <a:t>You’ll use </a:t>
            </a:r>
            <a:r>
              <a:rPr lang="en-US" altLang="ko-KR" sz="1400" b="1" dirty="0"/>
              <a:t>Nginx</a:t>
            </a:r>
            <a:r>
              <a:rPr lang="en-US" altLang="ko-KR" sz="1400" dirty="0"/>
              <a:t> as the web server and the UNIX “</a:t>
            </a:r>
            <a:r>
              <a:rPr lang="en-US" altLang="ko-KR" sz="1400" b="1" dirty="0"/>
              <a:t>fortune</a:t>
            </a:r>
            <a:r>
              <a:rPr lang="en-US" altLang="ko-KR" sz="1400" dirty="0"/>
              <a:t>” command to generate the HTML content. </a:t>
            </a:r>
            <a:r>
              <a:rPr lang="en-US" altLang="ko-KR" sz="1400" b="1" dirty="0"/>
              <a:t>The fortune command prints out a random quote every time you run it</a:t>
            </a:r>
            <a:r>
              <a:rPr lang="en-US" altLang="ko-KR" sz="1400" dirty="0"/>
              <a:t>. </a:t>
            </a:r>
            <a:r>
              <a:rPr lang="en-US" altLang="ko-KR" sz="1400" b="1" dirty="0"/>
              <a:t>You’ll create a script that invokes the “fortune” command every 10 seconds and stores its output in “index.html”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A428183-90DC-8224-2AB4-CC7A0FF2DA0E}"/>
              </a:ext>
            </a:extLst>
          </p:cNvPr>
          <p:cNvPicPr>
            <a:picLocks noChangeAspect="1"/>
          </p:cNvPicPr>
          <p:nvPr/>
        </p:nvPicPr>
        <p:blipFill>
          <a:blip r:embed="rId2"/>
          <a:stretch>
            <a:fillRect/>
          </a:stretch>
        </p:blipFill>
        <p:spPr>
          <a:xfrm>
            <a:off x="3409293" y="3926500"/>
            <a:ext cx="5373414" cy="2117405"/>
          </a:xfrm>
          <a:prstGeom prst="rect">
            <a:avLst/>
          </a:prstGeom>
        </p:spPr>
      </p:pic>
    </p:spTree>
    <p:extLst>
      <p:ext uri="{BB962C8B-B14F-4D97-AF65-F5344CB8AC3E}">
        <p14:creationId xmlns:p14="http://schemas.microsoft.com/office/powerpoint/2010/main" val="2844080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Building Docker Image(1/2)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the Fortune Docker Image :</a:t>
            </a:r>
          </a:p>
          <a:p>
            <a:pPr lvl="1">
              <a:buFont typeface="Wingdings" panose="05000000000000000000" pitchFamily="2" charset="2"/>
              <a:buChar char="§"/>
            </a:pPr>
            <a:r>
              <a:rPr lang="en-US" altLang="ko-KR" sz="1400" b="1" dirty="0"/>
              <a:t>Create a new directory called “fortune” </a:t>
            </a:r>
            <a:r>
              <a:rPr lang="en-US" altLang="ko-KR" sz="1400" dirty="0"/>
              <a:t>and then inside it, create a “</a:t>
            </a:r>
            <a:r>
              <a:rPr lang="en-US" altLang="ko-KR" sz="1400" b="1" dirty="0"/>
              <a:t>fortuneloop.sh</a:t>
            </a:r>
            <a:r>
              <a:rPr lang="en-US" altLang="ko-KR" sz="1400" dirty="0"/>
              <a:t>” shell script with the following contents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Then, in the same directory, </a:t>
            </a:r>
            <a:r>
              <a:rPr lang="en-US" altLang="ko-KR" sz="1400" b="1" dirty="0"/>
              <a:t>create a file called “</a:t>
            </a:r>
            <a:r>
              <a:rPr lang="en-US" altLang="ko-KR" sz="1400" b="1" dirty="0" err="1"/>
              <a:t>Dockerfile</a:t>
            </a:r>
            <a:r>
              <a:rPr lang="en-US" altLang="ko-KR" sz="1400" b="1" dirty="0"/>
              <a:t>” file </a:t>
            </a:r>
            <a:r>
              <a:rPr lang="en-US" altLang="ko-KR" sz="1400" dirty="0"/>
              <a:t>containing the following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marL="457200" lvl="1" indent="0">
              <a:buNone/>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dirty="0"/>
              <a:t>The image is based on the “</a:t>
            </a:r>
            <a:r>
              <a:rPr lang="en-US" altLang="ko-KR" sz="1400" b="1" dirty="0"/>
              <a:t>ubuntu:20.04</a:t>
            </a:r>
            <a:r>
              <a:rPr lang="en-US" altLang="ko-KR" sz="1400" dirty="0"/>
              <a:t>” image, which doesn’t include the “</a:t>
            </a:r>
            <a:r>
              <a:rPr lang="en-US" altLang="ko-KR" sz="1400" b="1" dirty="0"/>
              <a:t>fortune</a:t>
            </a:r>
            <a:r>
              <a:rPr lang="en-US" altLang="ko-KR" sz="1400" dirty="0"/>
              <a:t>” binary by default. That’s why in the second line of the “</a:t>
            </a:r>
            <a:r>
              <a:rPr lang="en-US" altLang="ko-KR" sz="1400" b="1" dirty="0" err="1"/>
              <a:t>Dockerfile</a:t>
            </a:r>
            <a:r>
              <a:rPr lang="en-US" altLang="ko-KR" sz="1400" dirty="0"/>
              <a:t>” you install it with “</a:t>
            </a:r>
            <a:r>
              <a:rPr lang="en-US" altLang="ko-KR" sz="1400" b="1" dirty="0"/>
              <a:t>apt-get</a:t>
            </a:r>
            <a:r>
              <a:rPr lang="en-US" altLang="ko-KR" sz="1400" dirty="0"/>
              <a:t>”. After that, you </a:t>
            </a:r>
            <a:r>
              <a:rPr lang="en-US" altLang="ko-KR" sz="1400" b="1" dirty="0"/>
              <a:t>add the “fortuneloop.sh” script to the image’s /bin folder</a:t>
            </a:r>
            <a:r>
              <a:rPr lang="en-US" altLang="ko-KR" sz="1400" dirty="0"/>
              <a:t>. Then you </a:t>
            </a:r>
            <a:r>
              <a:rPr lang="en-US" altLang="ko-KR" sz="1400" b="1" dirty="0"/>
              <a:t>specify that the “fortuneloop.sh” script should be executed when the image is run(ENTRYPOINT)</a:t>
            </a:r>
            <a:r>
              <a:rPr lang="en-US" altLang="ko-KR" sz="1400" dirty="0"/>
              <a:t>. </a:t>
            </a:r>
          </a:p>
          <a:p>
            <a:pPr lvl="1">
              <a:buFont typeface="Wingdings" panose="05000000000000000000" pitchFamily="2" charset="2"/>
              <a:buChar char="§"/>
            </a:pPr>
            <a:r>
              <a:rPr lang="en-US" altLang="ko-KR" sz="1400" b="1" dirty="0"/>
              <a:t>NOTE : If you specify the Ubuntu as “</a:t>
            </a:r>
            <a:r>
              <a:rPr lang="en-US" altLang="ko-KR" sz="1400" b="1" dirty="0">
                <a:solidFill>
                  <a:srgbClr val="FF0000"/>
                </a:solidFill>
              </a:rPr>
              <a:t>latest</a:t>
            </a:r>
            <a:r>
              <a:rPr lang="en-US" altLang="ko-KR" sz="1400" b="1" dirty="0"/>
              <a:t>” instead of “</a:t>
            </a:r>
            <a:r>
              <a:rPr lang="en-US" altLang="ko-KR" sz="1400" b="1" dirty="0">
                <a:solidFill>
                  <a:srgbClr val="FF0000"/>
                </a:solidFill>
              </a:rPr>
              <a:t>20.04</a:t>
            </a:r>
            <a:r>
              <a:rPr lang="en-US" altLang="ko-KR" sz="1400" b="1" dirty="0"/>
              <a:t>”, there will be </a:t>
            </a:r>
            <a:r>
              <a:rPr lang="en-US" altLang="ko-KR" sz="1400" b="1" dirty="0">
                <a:solidFill>
                  <a:srgbClr val="FF0000"/>
                </a:solidFill>
              </a:rPr>
              <a:t>public key issue </a:t>
            </a:r>
            <a:r>
              <a:rPr lang="en-US" altLang="ko-KR" sz="1400" b="1" dirty="0"/>
              <a:t>in running “apt-update” command. So I just used “20.04” for the Ubuntu version</a:t>
            </a:r>
            <a:r>
              <a:rPr lang="en-US" altLang="ko-KR" sz="1400" dirty="0"/>
              <a:t>.</a:t>
            </a:r>
          </a:p>
          <a:p>
            <a:pPr lvl="1">
              <a:buFont typeface="Wingdings" panose="05000000000000000000" pitchFamily="2" charset="2"/>
              <a:buChar char="§"/>
            </a:pPr>
            <a:r>
              <a:rPr lang="en-US" altLang="ko-KR" sz="1400" b="1" dirty="0"/>
              <a:t>NOTICE : You need to change the permission of the “fortuneloop.sh” to be executed in the container. So change the permission with “</a:t>
            </a:r>
            <a:r>
              <a:rPr lang="en-US" altLang="ko-KR" sz="1400" b="1" dirty="0">
                <a:solidFill>
                  <a:srgbClr val="FF0000"/>
                </a:solidFill>
              </a:rPr>
              <a:t>$ </a:t>
            </a:r>
            <a:r>
              <a:rPr lang="en-US" altLang="ko-KR" sz="1400" b="1" dirty="0" err="1">
                <a:solidFill>
                  <a:srgbClr val="FF0000"/>
                </a:solidFill>
              </a:rPr>
              <a:t>chmod</a:t>
            </a:r>
            <a:r>
              <a:rPr lang="en-US" altLang="ko-KR" sz="1400" b="1" dirty="0">
                <a:solidFill>
                  <a:srgbClr val="FF0000"/>
                </a:solidFill>
              </a:rPr>
              <a:t> 0777 fortuneloop.sh</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0CCF2A1-2BD8-2922-640A-5093173EF220}"/>
              </a:ext>
            </a:extLst>
          </p:cNvPr>
          <p:cNvGrpSpPr/>
          <p:nvPr/>
        </p:nvGrpSpPr>
        <p:grpSpPr>
          <a:xfrm>
            <a:off x="3047343" y="3429000"/>
            <a:ext cx="6097314" cy="707886"/>
            <a:chOff x="3047343" y="2289988"/>
            <a:chExt cx="6097314" cy="707886"/>
          </a:xfrm>
        </p:grpSpPr>
        <p:sp>
          <p:nvSpPr>
            <p:cNvPr id="8" name="TextBox 7">
              <a:extLst>
                <a:ext uri="{FF2B5EF4-FFF2-40B4-BE49-F238E27FC236}">
                  <a16:creationId xmlns:a16="http://schemas.microsoft.com/office/drawing/2014/main" id="{BDFCBFBF-74B1-1D55-C463-2BA8CFB68653}"/>
                </a:ext>
              </a:extLst>
            </p:cNvPr>
            <p:cNvSpPr txBox="1"/>
            <p:nvPr/>
          </p:nvSpPr>
          <p:spPr>
            <a:xfrm>
              <a:off x="3047343" y="2289988"/>
              <a:ext cx="6097314" cy="707886"/>
            </a:xfrm>
            <a:prstGeom prst="rect">
              <a:avLst/>
            </a:prstGeom>
            <a:noFill/>
            <a:ln>
              <a:solidFill>
                <a:schemeClr val="bg1">
                  <a:lumMod val="50000"/>
                </a:schemeClr>
              </a:solidFill>
            </a:ln>
          </p:spPr>
          <p:txBody>
            <a:bodyPr wrap="square">
              <a:spAutoFit/>
            </a:bodyPr>
            <a:lstStyle/>
            <a:p>
              <a:r>
                <a:rPr lang="en-US" altLang="ko-KR" sz="1000" b="1" dirty="0"/>
                <a:t>FROM ubuntu:</a:t>
              </a:r>
              <a:r>
                <a:rPr lang="en-US" altLang="ko-KR" sz="1000" b="1" dirty="0">
                  <a:solidFill>
                    <a:srgbClr val="FF0000"/>
                  </a:solidFill>
                </a:rPr>
                <a:t>20.04</a:t>
              </a:r>
            </a:p>
            <a:p>
              <a:r>
                <a:rPr lang="en-US" altLang="ko-KR" sz="1000" b="1" dirty="0"/>
                <a:t>RUN apt-get update ; </a:t>
              </a:r>
              <a:r>
                <a:rPr lang="en-US" altLang="ko-KR" sz="1000" b="1" dirty="0">
                  <a:solidFill>
                    <a:srgbClr val="FF0000"/>
                  </a:solidFill>
                </a:rPr>
                <a:t>apt-get -y install fortune</a:t>
              </a:r>
            </a:p>
            <a:p>
              <a:r>
                <a:rPr lang="en-US" altLang="ko-KR" sz="1000" b="1" dirty="0"/>
                <a:t>ADD </a:t>
              </a:r>
              <a:r>
                <a:rPr lang="en-US" altLang="ko-KR" sz="1000" b="1" dirty="0">
                  <a:solidFill>
                    <a:srgbClr val="FF0000"/>
                  </a:solidFill>
                </a:rPr>
                <a:t>fortuneloop.sh /bin/fortuneloop.sh</a:t>
              </a:r>
            </a:p>
            <a:p>
              <a:r>
                <a:rPr lang="en-US" altLang="ko-KR" sz="1000" b="1" dirty="0"/>
                <a:t>ENTRYPOINT /bin/fortuneloop.sh</a:t>
              </a:r>
              <a:endParaRPr lang="ko-KR" altLang="en-US" sz="1000" b="1" dirty="0"/>
            </a:p>
          </p:txBody>
        </p:sp>
        <p:sp>
          <p:nvSpPr>
            <p:cNvPr id="9" name="TextBox 8">
              <a:extLst>
                <a:ext uri="{FF2B5EF4-FFF2-40B4-BE49-F238E27FC236}">
                  <a16:creationId xmlns:a16="http://schemas.microsoft.com/office/drawing/2014/main" id="{5E4F5434-6755-94A2-1033-16E5A02C35D3}"/>
                </a:ext>
              </a:extLst>
            </p:cNvPr>
            <p:cNvSpPr txBox="1"/>
            <p:nvPr/>
          </p:nvSpPr>
          <p:spPr>
            <a:xfrm>
              <a:off x="8341232" y="2289988"/>
              <a:ext cx="803425" cy="246221"/>
            </a:xfrm>
            <a:prstGeom prst="rect">
              <a:avLst/>
            </a:prstGeom>
            <a:noFill/>
          </p:spPr>
          <p:txBody>
            <a:bodyPr wrap="none" rtlCol="0">
              <a:spAutoFit/>
            </a:bodyPr>
            <a:lstStyle/>
            <a:p>
              <a:pPr algn="l"/>
              <a:r>
                <a:rPr lang="en-US" altLang="ko-KR" sz="1000" b="1" dirty="0" err="1"/>
                <a:t>Dockerfile</a:t>
              </a:r>
              <a:endParaRPr lang="ko-KR" altLang="en-US" sz="1000" b="1" dirty="0"/>
            </a:p>
          </p:txBody>
        </p:sp>
      </p:grpSp>
      <p:grpSp>
        <p:nvGrpSpPr>
          <p:cNvPr id="14" name="그룹 13">
            <a:extLst>
              <a:ext uri="{FF2B5EF4-FFF2-40B4-BE49-F238E27FC236}">
                <a16:creationId xmlns:a16="http://schemas.microsoft.com/office/drawing/2014/main" id="{2438D5A6-67D5-7173-8F90-BDE2F302E98D}"/>
              </a:ext>
            </a:extLst>
          </p:cNvPr>
          <p:cNvGrpSpPr/>
          <p:nvPr/>
        </p:nvGrpSpPr>
        <p:grpSpPr>
          <a:xfrm>
            <a:off x="3047343" y="1519938"/>
            <a:ext cx="6097314" cy="1477328"/>
            <a:chOff x="3047343" y="1432388"/>
            <a:chExt cx="6097314" cy="1477328"/>
          </a:xfrm>
        </p:grpSpPr>
        <p:sp>
          <p:nvSpPr>
            <p:cNvPr id="12" name="TextBox 11">
              <a:extLst>
                <a:ext uri="{FF2B5EF4-FFF2-40B4-BE49-F238E27FC236}">
                  <a16:creationId xmlns:a16="http://schemas.microsoft.com/office/drawing/2014/main" id="{94FF7EC7-ECB4-ADE0-157D-23CA47A32123}"/>
                </a:ext>
              </a:extLst>
            </p:cNvPr>
            <p:cNvSpPr txBox="1"/>
            <p:nvPr/>
          </p:nvSpPr>
          <p:spPr>
            <a:xfrm>
              <a:off x="3047343" y="1432388"/>
              <a:ext cx="6097314" cy="1477328"/>
            </a:xfrm>
            <a:prstGeom prst="rect">
              <a:avLst/>
            </a:prstGeom>
            <a:noFill/>
            <a:ln>
              <a:solidFill>
                <a:schemeClr val="bg1">
                  <a:lumMod val="50000"/>
                </a:schemeClr>
              </a:solidFill>
            </a:ln>
          </p:spPr>
          <p:txBody>
            <a:bodyPr wrap="square">
              <a:spAutoFit/>
            </a:bodyPr>
            <a:lstStyle/>
            <a:p>
              <a:r>
                <a:rPr lang="en-US" altLang="ko-KR" sz="1000" b="1" dirty="0"/>
                <a:t>#!/bin/bash</a:t>
              </a:r>
            </a:p>
            <a:p>
              <a:r>
                <a:rPr lang="en-US" altLang="ko-KR" sz="1000" b="1" dirty="0"/>
                <a:t>trap "exit" SIGINT</a:t>
              </a:r>
            </a:p>
            <a:p>
              <a:r>
                <a:rPr lang="en-US" altLang="ko-KR" sz="1000" b="1" dirty="0" err="1"/>
                <a:t>mkdir</a:t>
              </a:r>
              <a:r>
                <a:rPr lang="en-US" altLang="ko-KR" sz="1000" b="1" dirty="0"/>
                <a:t> /var/</a:t>
              </a:r>
              <a:r>
                <a:rPr lang="en-US" altLang="ko-KR" sz="1000" b="1" dirty="0" err="1"/>
                <a:t>htdocs</a:t>
              </a:r>
              <a:endParaRPr lang="en-US" altLang="ko-KR" sz="1000" b="1" dirty="0"/>
            </a:p>
            <a:p>
              <a:r>
                <a:rPr lang="en-US" altLang="ko-KR" sz="1000" b="1" dirty="0"/>
                <a:t>while :</a:t>
              </a:r>
            </a:p>
            <a:p>
              <a:r>
                <a:rPr lang="en-US" altLang="ko-KR" sz="1000" b="1" dirty="0"/>
                <a:t>do</a:t>
              </a:r>
            </a:p>
            <a:p>
              <a:r>
                <a:rPr lang="en-US" altLang="ko-KR" sz="1000" b="1" dirty="0"/>
                <a:t>    </a:t>
              </a:r>
              <a:r>
                <a:rPr lang="en-US" altLang="ko-KR" sz="1000" b="1" dirty="0">
                  <a:solidFill>
                    <a:srgbClr val="FF0000"/>
                  </a:solidFill>
                </a:rPr>
                <a:t>echo $(date) Writing fortune to /var/</a:t>
              </a:r>
              <a:r>
                <a:rPr lang="en-US" altLang="ko-KR" sz="1000" b="1" dirty="0" err="1">
                  <a:solidFill>
                    <a:srgbClr val="FF0000"/>
                  </a:solidFill>
                </a:rPr>
                <a:t>htdocs</a:t>
              </a:r>
              <a:r>
                <a:rPr lang="en-US" altLang="ko-KR" sz="1000" b="1" dirty="0">
                  <a:solidFill>
                    <a:srgbClr val="FF0000"/>
                  </a:solidFill>
                </a:rPr>
                <a:t>/index.html</a:t>
              </a:r>
            </a:p>
            <a:p>
              <a:r>
                <a:rPr lang="en-US" altLang="ko-KR" sz="1000" b="1" dirty="0">
                  <a:solidFill>
                    <a:srgbClr val="FF0000"/>
                  </a:solidFill>
                </a:rPr>
                <a:t>    /</a:t>
              </a:r>
              <a:r>
                <a:rPr lang="en-US" altLang="ko-KR" sz="1000" b="1" dirty="0" err="1">
                  <a:solidFill>
                    <a:srgbClr val="FF0000"/>
                  </a:solidFill>
                </a:rPr>
                <a:t>usr</a:t>
              </a:r>
              <a:r>
                <a:rPr lang="en-US" altLang="ko-KR" sz="1000" b="1" dirty="0">
                  <a:solidFill>
                    <a:srgbClr val="FF0000"/>
                  </a:solidFill>
                </a:rPr>
                <a:t>/games/fortune &gt; /var/</a:t>
              </a:r>
              <a:r>
                <a:rPr lang="en-US" altLang="ko-KR" sz="1000" b="1" dirty="0" err="1">
                  <a:solidFill>
                    <a:srgbClr val="FF0000"/>
                  </a:solidFill>
                </a:rPr>
                <a:t>htdocs</a:t>
              </a:r>
              <a:r>
                <a:rPr lang="en-US" altLang="ko-KR" sz="1000" b="1" dirty="0">
                  <a:solidFill>
                    <a:srgbClr val="FF0000"/>
                  </a:solidFill>
                </a:rPr>
                <a:t>/index.html</a:t>
              </a:r>
            </a:p>
            <a:p>
              <a:r>
                <a:rPr lang="en-US" altLang="ko-KR" sz="1000" b="1" dirty="0">
                  <a:solidFill>
                    <a:srgbClr val="FF0000"/>
                  </a:solidFill>
                </a:rPr>
                <a:t>    sleep 10</a:t>
              </a:r>
            </a:p>
            <a:p>
              <a:r>
                <a:rPr lang="en-US" altLang="ko-KR" sz="1000" b="1" dirty="0"/>
                <a:t>done</a:t>
              </a:r>
              <a:endParaRPr lang="ko-KR" altLang="en-US" sz="1000" b="1" dirty="0"/>
            </a:p>
          </p:txBody>
        </p:sp>
        <p:sp>
          <p:nvSpPr>
            <p:cNvPr id="13" name="TextBox 12">
              <a:extLst>
                <a:ext uri="{FF2B5EF4-FFF2-40B4-BE49-F238E27FC236}">
                  <a16:creationId xmlns:a16="http://schemas.microsoft.com/office/drawing/2014/main" id="{3124FCC0-51AD-36C8-D998-A3E43CAEA3B0}"/>
                </a:ext>
              </a:extLst>
            </p:cNvPr>
            <p:cNvSpPr txBox="1"/>
            <p:nvPr/>
          </p:nvSpPr>
          <p:spPr>
            <a:xfrm>
              <a:off x="8057500" y="1432388"/>
              <a:ext cx="1087157" cy="246221"/>
            </a:xfrm>
            <a:prstGeom prst="rect">
              <a:avLst/>
            </a:prstGeom>
            <a:noFill/>
          </p:spPr>
          <p:txBody>
            <a:bodyPr wrap="none" rtlCol="0">
              <a:spAutoFit/>
            </a:bodyPr>
            <a:lstStyle/>
            <a:p>
              <a:pPr algn="l"/>
              <a:r>
                <a:rPr lang="en-US" altLang="ko-KR" sz="1000" b="1" dirty="0"/>
                <a:t>fortuneloop.sh</a:t>
              </a:r>
              <a:endParaRPr lang="ko-KR" altLang="en-US" sz="1000" b="1" dirty="0"/>
            </a:p>
          </p:txBody>
        </p:sp>
      </p:grpSp>
    </p:spTree>
    <p:extLst>
      <p:ext uri="{BB962C8B-B14F-4D97-AF65-F5344CB8AC3E}">
        <p14:creationId xmlns:p14="http://schemas.microsoft.com/office/powerpoint/2010/main" val="531206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Building Docker Image(2/2)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Building the Fortune Docker Image :</a:t>
            </a:r>
          </a:p>
          <a:p>
            <a:pPr lvl="1">
              <a:buFont typeface="Wingdings" panose="05000000000000000000" pitchFamily="2" charset="2"/>
              <a:buChar char="§"/>
            </a:pPr>
            <a:r>
              <a:rPr lang="en-US" altLang="ko-KR" sz="1400" dirty="0"/>
              <a:t>After preparing both files, </a:t>
            </a:r>
            <a:r>
              <a:rPr lang="en-US" altLang="ko-KR" sz="1400" b="1" dirty="0"/>
              <a:t>build and upload the image to Docker Hub </a:t>
            </a:r>
            <a:r>
              <a:rPr lang="en-US" altLang="ko-KR" sz="1400" dirty="0"/>
              <a:t>with the following two commands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5EF3924A-C283-BD07-35F7-FF38C219B9D7}"/>
              </a:ext>
            </a:extLst>
          </p:cNvPr>
          <p:cNvGrpSpPr/>
          <p:nvPr/>
        </p:nvGrpSpPr>
        <p:grpSpPr>
          <a:xfrm>
            <a:off x="1830114" y="1525334"/>
            <a:ext cx="8531772" cy="4604945"/>
            <a:chOff x="1830114" y="1525334"/>
            <a:chExt cx="8531772" cy="4604945"/>
          </a:xfrm>
        </p:grpSpPr>
        <p:grpSp>
          <p:nvGrpSpPr>
            <p:cNvPr id="14" name="그룹 13">
              <a:extLst>
                <a:ext uri="{FF2B5EF4-FFF2-40B4-BE49-F238E27FC236}">
                  <a16:creationId xmlns:a16="http://schemas.microsoft.com/office/drawing/2014/main" id="{4E757F5D-70F1-6388-E052-3057B3F169C5}"/>
                </a:ext>
              </a:extLst>
            </p:cNvPr>
            <p:cNvGrpSpPr/>
            <p:nvPr/>
          </p:nvGrpSpPr>
          <p:grpSpPr>
            <a:xfrm>
              <a:off x="1830114" y="1525334"/>
              <a:ext cx="8531772" cy="4604945"/>
              <a:chOff x="1830114" y="1438960"/>
              <a:chExt cx="8531772" cy="4604945"/>
            </a:xfrm>
          </p:grpSpPr>
          <p:pic>
            <p:nvPicPr>
              <p:cNvPr id="8" name="그림 7">
                <a:extLst>
                  <a:ext uri="{FF2B5EF4-FFF2-40B4-BE49-F238E27FC236}">
                    <a16:creationId xmlns:a16="http://schemas.microsoft.com/office/drawing/2014/main" id="{53306533-EAFA-BF72-BFE4-A51521F9169E}"/>
                  </a:ext>
                </a:extLst>
              </p:cNvPr>
              <p:cNvPicPr>
                <a:picLocks noChangeAspect="1"/>
              </p:cNvPicPr>
              <p:nvPr/>
            </p:nvPicPr>
            <p:blipFill>
              <a:blip r:embed="rId2"/>
              <a:stretch>
                <a:fillRect/>
              </a:stretch>
            </p:blipFill>
            <p:spPr>
              <a:xfrm>
                <a:off x="1830114" y="2121084"/>
                <a:ext cx="8531772" cy="2488434"/>
              </a:xfrm>
              <a:prstGeom prst="rect">
                <a:avLst/>
              </a:prstGeom>
            </p:spPr>
          </p:pic>
          <p:sp>
            <p:nvSpPr>
              <p:cNvPr id="10" name="TextBox 9">
                <a:extLst>
                  <a:ext uri="{FF2B5EF4-FFF2-40B4-BE49-F238E27FC236}">
                    <a16:creationId xmlns:a16="http://schemas.microsoft.com/office/drawing/2014/main" id="{7CE9A2F5-A09E-D4BD-AE8B-6D533D9C8D41}"/>
                  </a:ext>
                </a:extLst>
              </p:cNvPr>
              <p:cNvSpPr txBox="1"/>
              <p:nvPr/>
            </p:nvSpPr>
            <p:spPr>
              <a:xfrm>
                <a:off x="3047343" y="1438960"/>
                <a:ext cx="6097314" cy="400110"/>
              </a:xfrm>
              <a:prstGeom prst="rect">
                <a:avLst/>
              </a:prstGeom>
              <a:noFill/>
              <a:ln>
                <a:solidFill>
                  <a:schemeClr val="bg1">
                    <a:lumMod val="50000"/>
                  </a:schemeClr>
                </a:solidFill>
              </a:ln>
            </p:spPr>
            <p:txBody>
              <a:bodyPr wrap="square">
                <a:spAutoFit/>
              </a:bodyPr>
              <a:lstStyle/>
              <a:p>
                <a:r>
                  <a:rPr lang="en-US" altLang="ko-KR" sz="1000" b="1" dirty="0"/>
                  <a:t>$ docker build -t </a:t>
                </a:r>
                <a:r>
                  <a:rPr lang="en-US" altLang="ko-KR" sz="1000" b="1" dirty="0">
                    <a:solidFill>
                      <a:srgbClr val="FF0000"/>
                    </a:solidFill>
                  </a:rPr>
                  <a:t>knix008/fortune .</a:t>
                </a:r>
              </a:p>
              <a:p>
                <a:r>
                  <a:rPr lang="en-US" altLang="ko-KR" sz="1000" b="1" dirty="0"/>
                  <a:t>$ docker push </a:t>
                </a:r>
                <a:r>
                  <a:rPr lang="en-US" altLang="ko-KR" sz="1000" b="1" dirty="0">
                    <a:solidFill>
                      <a:srgbClr val="FF0000"/>
                    </a:solidFill>
                  </a:rPr>
                  <a:t>knix008/fortune</a:t>
                </a:r>
              </a:p>
            </p:txBody>
          </p:sp>
          <p:sp>
            <p:nvSpPr>
              <p:cNvPr id="11" name="화살표: 아래쪽 10">
                <a:extLst>
                  <a:ext uri="{FF2B5EF4-FFF2-40B4-BE49-F238E27FC236}">
                    <a16:creationId xmlns:a16="http://schemas.microsoft.com/office/drawing/2014/main" id="{596C2EA1-8A5E-BC00-6FB8-3E2661E1E86A}"/>
                  </a:ext>
                </a:extLst>
              </p:cNvPr>
              <p:cNvSpPr/>
              <p:nvPr/>
            </p:nvSpPr>
            <p:spPr>
              <a:xfrm>
                <a:off x="5871341" y="1858538"/>
                <a:ext cx="449317" cy="27350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333A274F-64C7-A872-8B6B-3817DFFE8E13}"/>
                  </a:ext>
                </a:extLst>
              </p:cNvPr>
              <p:cNvPicPr>
                <a:picLocks noChangeAspect="1"/>
              </p:cNvPicPr>
              <p:nvPr/>
            </p:nvPicPr>
            <p:blipFill>
              <a:blip r:embed="rId3"/>
              <a:stretch>
                <a:fillRect/>
              </a:stretch>
            </p:blipFill>
            <p:spPr>
              <a:xfrm>
                <a:off x="1830114" y="4671712"/>
                <a:ext cx="8531772" cy="1372193"/>
              </a:xfrm>
              <a:prstGeom prst="rect">
                <a:avLst/>
              </a:prstGeom>
            </p:spPr>
          </p:pic>
        </p:grpSp>
        <p:sp>
          <p:nvSpPr>
            <p:cNvPr id="15" name="직사각형 14">
              <a:extLst>
                <a:ext uri="{FF2B5EF4-FFF2-40B4-BE49-F238E27FC236}">
                  <a16:creationId xmlns:a16="http://schemas.microsoft.com/office/drawing/2014/main" id="{3806EFB4-DE34-A401-928B-7EFE24308B5C}"/>
                </a:ext>
              </a:extLst>
            </p:cNvPr>
            <p:cNvSpPr/>
            <p:nvPr/>
          </p:nvSpPr>
          <p:spPr>
            <a:xfrm>
              <a:off x="5927834" y="2593428"/>
              <a:ext cx="1899745"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75D4F84-491B-9410-62D1-D74DAAB0A408}"/>
                </a:ext>
              </a:extLst>
            </p:cNvPr>
            <p:cNvSpPr/>
            <p:nvPr/>
          </p:nvSpPr>
          <p:spPr>
            <a:xfrm>
              <a:off x="5919951" y="5131676"/>
              <a:ext cx="1584435" cy="1931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9272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Volumes(2/8)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 </a:t>
            </a:r>
            <a:r>
              <a:rPr lang="en-US" altLang="ko-KR" sz="1800" b="1" dirty="0" err="1"/>
              <a:t>emptyDir</a:t>
            </a:r>
            <a:r>
              <a:rPr lang="en-US" altLang="ko-KR" sz="1800" b="1" dirty="0"/>
              <a:t> Volume :</a:t>
            </a:r>
          </a:p>
          <a:p>
            <a:pPr lvl="1">
              <a:buFont typeface="Wingdings" panose="05000000000000000000" pitchFamily="2" charset="2"/>
              <a:buChar char="§"/>
            </a:pPr>
            <a:r>
              <a:rPr lang="en-US" altLang="ko-KR" sz="1400" b="1" dirty="0"/>
              <a:t>Create a file called “fortune-</a:t>
            </a:r>
            <a:r>
              <a:rPr lang="en-US" altLang="ko-KR" sz="1400" b="1" dirty="0" err="1"/>
              <a:t>pod.yaml</a:t>
            </a:r>
            <a:r>
              <a:rPr lang="en-US" altLang="ko-KR" sz="1400" b="1" dirty="0"/>
              <a:t>” </a:t>
            </a:r>
            <a:r>
              <a:rPr lang="en-US" altLang="ko-KR" sz="1400" dirty="0"/>
              <a:t>with the contents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 </a:t>
            </a:r>
            <a:r>
              <a:rPr lang="en-US" altLang="ko-KR" sz="1400" b="1" dirty="0">
                <a:solidFill>
                  <a:srgbClr val="FF0000"/>
                </a:solidFill>
              </a:rPr>
              <a:t>Make sure that “fortuneloop.sh” can be executed</a:t>
            </a:r>
            <a:r>
              <a:rPr lang="en-US" altLang="ko-KR" sz="1400" b="1" dirty="0"/>
              <a:t>. Before you build docker image, you need to change the permission of the “fortuneloop.sh” shell script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24A5261-8047-3A50-8C37-E1E2380FDFF7}"/>
              </a:ext>
            </a:extLst>
          </p:cNvPr>
          <p:cNvGrpSpPr/>
          <p:nvPr/>
        </p:nvGrpSpPr>
        <p:grpSpPr>
          <a:xfrm>
            <a:off x="3047343" y="1613118"/>
            <a:ext cx="6097314" cy="3631763"/>
            <a:chOff x="3047343" y="1613118"/>
            <a:chExt cx="6097314" cy="3631763"/>
          </a:xfrm>
        </p:grpSpPr>
        <p:sp>
          <p:nvSpPr>
            <p:cNvPr id="8" name="TextBox 7">
              <a:extLst>
                <a:ext uri="{FF2B5EF4-FFF2-40B4-BE49-F238E27FC236}">
                  <a16:creationId xmlns:a16="http://schemas.microsoft.com/office/drawing/2014/main" id="{55A58A64-312D-3A78-B384-91096A9166EB}"/>
                </a:ext>
              </a:extLst>
            </p:cNvPr>
            <p:cNvSpPr txBox="1"/>
            <p:nvPr/>
          </p:nvSpPr>
          <p:spPr>
            <a:xfrm>
              <a:off x="3047343" y="1613118"/>
              <a:ext cx="6097314" cy="36317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a:solidFill>
                    <a:srgbClr val="FF0000"/>
                  </a:solidFill>
                </a:rPr>
                <a:t>fortune</a:t>
              </a: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knix008/fortune</a:t>
              </a:r>
            </a:p>
            <a:p>
              <a:r>
                <a:rPr lang="en-US" altLang="ko-KR" sz="1000" b="1" dirty="0"/>
                <a:t>    name: html-generator</a:t>
              </a:r>
            </a:p>
            <a:p>
              <a:r>
                <a:rPr lang="en-US" altLang="ko-KR" sz="1000" b="1" dirty="0"/>
                <a:t>    </a:t>
              </a:r>
              <a:r>
                <a:rPr lang="en-US" altLang="ko-KR" sz="1000" b="1" dirty="0" err="1"/>
                <a:t>volumeMounts</a:t>
              </a:r>
              <a:r>
                <a:rPr lang="en-US" altLang="ko-KR" sz="1000" b="1" dirty="0"/>
                <a:t>:</a:t>
              </a:r>
            </a:p>
            <a:p>
              <a:r>
                <a:rPr lang="en-US" altLang="ko-KR" sz="1000" b="1" dirty="0"/>
                <a:t>    - name: </a:t>
              </a:r>
              <a:r>
                <a:rPr lang="en-US" altLang="ko-KR" sz="1000" b="1" dirty="0">
                  <a:solidFill>
                    <a:srgbClr val="FF0000"/>
                  </a:solidFill>
                </a:rPr>
                <a:t>html</a:t>
              </a:r>
            </a:p>
            <a:p>
              <a:r>
                <a:rPr lang="en-US" altLang="ko-KR" sz="1000" b="1" dirty="0"/>
                <a:t>      </a:t>
              </a:r>
              <a:r>
                <a:rPr lang="en-US" altLang="ko-KR" sz="1000" b="1" dirty="0" err="1">
                  <a:solidFill>
                    <a:srgbClr val="FF0000"/>
                  </a:solidFill>
                </a:rPr>
                <a:t>mountPath</a:t>
              </a:r>
              <a:r>
                <a:rPr lang="en-US" altLang="ko-KR" sz="1000" b="1" dirty="0">
                  <a:solidFill>
                    <a:srgbClr val="FF0000"/>
                  </a:solidFill>
                </a:rPr>
                <a:t>: /var/</a:t>
              </a:r>
              <a:r>
                <a:rPr lang="en-US" altLang="ko-KR" sz="1000" b="1" dirty="0" err="1">
                  <a:solidFill>
                    <a:srgbClr val="FF0000"/>
                  </a:solidFill>
                </a:rPr>
                <a:t>htdocs</a:t>
              </a:r>
              <a:endParaRPr lang="en-US" altLang="ko-KR" sz="1000" b="1" dirty="0">
                <a:solidFill>
                  <a:srgbClr val="FF0000"/>
                </a:solidFill>
              </a:endParaRPr>
            </a:p>
            <a:p>
              <a:r>
                <a:rPr lang="en-US" altLang="ko-KR" sz="1000" b="1" dirty="0"/>
                <a:t>  - image: </a:t>
              </a:r>
              <a:r>
                <a:rPr lang="en-US" altLang="ko-KR" sz="1000" b="1" dirty="0" err="1"/>
                <a:t>nginx:alpine</a:t>
              </a:r>
              <a:endParaRPr lang="en-US" altLang="ko-KR" sz="1000" b="1" dirty="0"/>
            </a:p>
            <a:p>
              <a:r>
                <a:rPr lang="en-US" altLang="ko-KR" sz="1000" b="1" dirty="0"/>
                <a:t>    name: web-server</a:t>
              </a:r>
            </a:p>
            <a:p>
              <a:r>
                <a:rPr lang="en-US" altLang="ko-KR" sz="1000" b="1" dirty="0"/>
                <a:t>    </a:t>
              </a:r>
              <a:r>
                <a:rPr lang="en-US" altLang="ko-KR" sz="1000" b="1" dirty="0" err="1"/>
                <a:t>volumeMounts</a:t>
              </a:r>
              <a:r>
                <a:rPr lang="en-US" altLang="ko-KR" sz="1000" b="1" dirty="0"/>
                <a:t>:</a:t>
              </a:r>
            </a:p>
            <a:p>
              <a:r>
                <a:rPr lang="en-US" altLang="ko-KR" sz="1000" b="1" dirty="0"/>
                <a:t>    - name: </a:t>
              </a:r>
              <a:r>
                <a:rPr lang="en-US" altLang="ko-KR" sz="1000" b="1" dirty="0">
                  <a:solidFill>
                    <a:srgbClr val="FF0000"/>
                  </a:solidFill>
                </a:rPr>
                <a:t>html</a:t>
              </a:r>
            </a:p>
            <a:p>
              <a:r>
                <a:rPr lang="en-US" altLang="ko-KR" sz="1000" b="1" dirty="0"/>
                <a:t>      </a:t>
              </a:r>
              <a:r>
                <a:rPr lang="en-US" altLang="ko-KR" sz="1000" b="1" dirty="0" err="1">
                  <a:solidFill>
                    <a:srgbClr val="FF0000"/>
                  </a:solidFill>
                </a:rPr>
                <a:t>mountPath</a:t>
              </a:r>
              <a:r>
                <a:rPr lang="en-US" altLang="ko-KR" sz="1000" b="1" dirty="0">
                  <a:solidFill>
                    <a:srgbClr val="FF0000"/>
                  </a:solidFill>
                </a:rPr>
                <a:t>: /</a:t>
              </a:r>
              <a:r>
                <a:rPr lang="en-US" altLang="ko-KR" sz="1000" b="1" dirty="0" err="1">
                  <a:solidFill>
                    <a:srgbClr val="FF0000"/>
                  </a:solidFill>
                </a:rPr>
                <a:t>usr</a:t>
              </a:r>
              <a:r>
                <a:rPr lang="en-US" altLang="ko-KR" sz="1000" b="1" dirty="0">
                  <a:solidFill>
                    <a:srgbClr val="FF0000"/>
                  </a:solidFill>
                </a:rPr>
                <a:t>/share/nginx/html</a:t>
              </a:r>
            </a:p>
            <a:p>
              <a:r>
                <a:rPr lang="en-US" altLang="ko-KR" sz="1000" b="1" dirty="0"/>
                <a:t>      </a:t>
              </a:r>
              <a:r>
                <a:rPr lang="en-US" altLang="ko-KR" sz="1000" b="1" dirty="0" err="1"/>
                <a:t>readOnly</a:t>
              </a:r>
              <a:r>
                <a:rPr lang="en-US" altLang="ko-KR" sz="1000" b="1" dirty="0"/>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protocol: TCP</a:t>
              </a:r>
            </a:p>
            <a:p>
              <a:r>
                <a:rPr lang="en-US" altLang="ko-KR" sz="1000" b="1" dirty="0">
                  <a:solidFill>
                    <a:srgbClr val="FF0000"/>
                  </a:solidFill>
                </a:rPr>
                <a:t>  volumes:</a:t>
              </a:r>
            </a:p>
            <a:p>
              <a:r>
                <a:rPr lang="en-US" altLang="ko-KR" sz="1000" b="1" dirty="0"/>
                <a:t>  - </a:t>
              </a:r>
              <a:r>
                <a:rPr lang="en-US" altLang="ko-KR" sz="1000" b="1" dirty="0">
                  <a:solidFill>
                    <a:srgbClr val="FF0000"/>
                  </a:solidFill>
                </a:rPr>
                <a:t>name: html</a:t>
              </a:r>
            </a:p>
            <a:p>
              <a:r>
                <a:rPr lang="en-US" altLang="ko-KR" sz="1000" b="1" dirty="0"/>
                <a:t>    </a:t>
              </a:r>
              <a:r>
                <a:rPr lang="en-US" altLang="ko-KR" sz="1000" b="1" dirty="0" err="1">
                  <a:solidFill>
                    <a:srgbClr val="FF0000"/>
                  </a:solidFill>
                </a:rPr>
                <a:t>emptyDir</a:t>
              </a:r>
              <a:r>
                <a:rPr lang="en-US" altLang="ko-KR" sz="1000" b="1" dirty="0">
                  <a:solidFill>
                    <a:srgbClr val="FF0000"/>
                  </a:solidFill>
                </a:rPr>
                <a:t>: {}</a:t>
              </a:r>
              <a:endParaRPr lang="ko-KR" altLang="en-US" sz="1000" b="1" dirty="0">
                <a:solidFill>
                  <a:srgbClr val="FF0000"/>
                </a:solidFill>
              </a:endParaRPr>
            </a:p>
          </p:txBody>
        </p:sp>
        <p:sp>
          <p:nvSpPr>
            <p:cNvPr id="9" name="TextBox 8">
              <a:extLst>
                <a:ext uri="{FF2B5EF4-FFF2-40B4-BE49-F238E27FC236}">
                  <a16:creationId xmlns:a16="http://schemas.microsoft.com/office/drawing/2014/main" id="{1D970567-7E47-0321-A30B-64DFADFAAE58}"/>
                </a:ext>
              </a:extLst>
            </p:cNvPr>
            <p:cNvSpPr txBox="1"/>
            <p:nvPr/>
          </p:nvSpPr>
          <p:spPr>
            <a:xfrm>
              <a:off x="7885979" y="1613118"/>
              <a:ext cx="1258678" cy="246221"/>
            </a:xfrm>
            <a:prstGeom prst="rect">
              <a:avLst/>
            </a:prstGeom>
            <a:noFill/>
          </p:spPr>
          <p:txBody>
            <a:bodyPr wrap="none" rtlCol="0">
              <a:spAutoFit/>
            </a:bodyPr>
            <a:lstStyle/>
            <a:p>
              <a:pPr algn="l"/>
              <a:r>
                <a:rPr lang="en-US" altLang="ko-KR" sz="1000" b="1" dirty="0"/>
                <a:t>fortune-</a:t>
              </a:r>
              <a:r>
                <a:rPr lang="en-US" altLang="ko-KR" sz="1000" b="1" dirty="0" err="1"/>
                <a:t>pod.yaml</a:t>
              </a:r>
              <a:endParaRPr lang="ko-KR" altLang="en-US" sz="1000" b="1" dirty="0"/>
            </a:p>
          </p:txBody>
        </p:sp>
      </p:grpSp>
    </p:spTree>
    <p:extLst>
      <p:ext uri="{BB962C8B-B14F-4D97-AF65-F5344CB8AC3E}">
        <p14:creationId xmlns:p14="http://schemas.microsoft.com/office/powerpoint/2010/main" val="2644201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Volumes(3/8)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 </a:t>
            </a:r>
            <a:r>
              <a:rPr lang="en-US" altLang="ko-KR" sz="1800" b="1" dirty="0" err="1"/>
              <a:t>emptyDir</a:t>
            </a:r>
            <a:r>
              <a:rPr lang="en-US" altLang="ko-KR" sz="1800" b="1" dirty="0"/>
              <a:t> Volume :</a:t>
            </a:r>
          </a:p>
          <a:p>
            <a:pPr lvl="1">
              <a:buFont typeface="Wingdings" panose="05000000000000000000" pitchFamily="2" charset="2"/>
              <a:buChar char="§"/>
            </a:pPr>
            <a:r>
              <a:rPr lang="en-US" altLang="ko-KR" sz="1400" b="1" dirty="0"/>
              <a:t>The pod contains two containers and a single volume that’s mounted in both of them, yet at different paths</a:t>
            </a:r>
            <a:r>
              <a:rPr lang="en-US" altLang="ko-KR" sz="1400" dirty="0"/>
              <a:t>. When the “</a:t>
            </a:r>
            <a:r>
              <a:rPr lang="en-US" altLang="ko-KR" sz="1400" b="1" dirty="0"/>
              <a:t>html-generator</a:t>
            </a:r>
            <a:r>
              <a:rPr lang="en-US" altLang="ko-KR" sz="1400" dirty="0"/>
              <a:t>” container starts, it starts </a:t>
            </a:r>
            <a:r>
              <a:rPr lang="en-US" altLang="ko-KR" sz="1400" b="1" dirty="0"/>
              <a:t>writing the output of the fortune command to the “/var/</a:t>
            </a:r>
            <a:r>
              <a:rPr lang="en-US" altLang="ko-KR" sz="1400" b="1" dirty="0" err="1"/>
              <a:t>htdocs</a:t>
            </a:r>
            <a:r>
              <a:rPr lang="en-US" altLang="ko-KR" sz="1400" b="1" dirty="0"/>
              <a:t>/index.html” file every 10 seconds</a:t>
            </a:r>
            <a:r>
              <a:rPr lang="en-US" altLang="ko-KR" sz="1400" dirty="0"/>
              <a:t>. Because the volume is mounted at “</a:t>
            </a:r>
            <a:r>
              <a:rPr lang="en-US" altLang="ko-KR" sz="1400" b="1" dirty="0"/>
              <a:t>/var/</a:t>
            </a:r>
            <a:r>
              <a:rPr lang="en-US" altLang="ko-KR" sz="1400" b="1" dirty="0" err="1"/>
              <a:t>htdocs</a:t>
            </a:r>
            <a:r>
              <a:rPr lang="en-US" altLang="ko-KR" sz="1400" dirty="0"/>
              <a:t>”, </a:t>
            </a:r>
            <a:r>
              <a:rPr lang="en-US" altLang="ko-KR" sz="1400" b="1" dirty="0"/>
              <a:t>the “index.html” file is written to the volume instead of the container’s top layer</a:t>
            </a:r>
            <a:r>
              <a:rPr lang="en-US" altLang="ko-KR" sz="1400" dirty="0"/>
              <a:t>. As soon as the “</a:t>
            </a:r>
            <a:r>
              <a:rPr lang="en-US" altLang="ko-KR" sz="1400" b="1" dirty="0"/>
              <a:t>web-server</a:t>
            </a:r>
            <a:r>
              <a:rPr lang="en-US" altLang="ko-KR" sz="1400" dirty="0"/>
              <a:t>” container starts, it starts serving whatever HTML files are in the </a:t>
            </a:r>
            <a:r>
              <a:rPr lang="en-US" altLang="ko-KR" sz="1400" b="1" dirty="0"/>
              <a:t>“/</a:t>
            </a:r>
            <a:r>
              <a:rPr lang="en-US" altLang="ko-KR" sz="1400" b="1" dirty="0" err="1"/>
              <a:t>usr</a:t>
            </a:r>
            <a:r>
              <a:rPr lang="en-US" altLang="ko-KR" sz="1400" b="1" dirty="0"/>
              <a:t>/share/nginx/html</a:t>
            </a:r>
            <a:r>
              <a:rPr lang="en-US" altLang="ko-KR" sz="1400" dirty="0"/>
              <a:t>” directory (this is </a:t>
            </a:r>
            <a:r>
              <a:rPr lang="en-US" altLang="ko-KR" sz="1400" b="1" dirty="0"/>
              <a:t>the default directory Nginx serves files from</a:t>
            </a:r>
            <a:r>
              <a:rPr lang="en-US" altLang="ko-KR" sz="1400" dirty="0"/>
              <a:t>). Because you mounted the volume in that exact location, </a:t>
            </a:r>
            <a:r>
              <a:rPr lang="en-US" altLang="ko-KR" sz="1400" b="1" dirty="0"/>
              <a:t>Nginx will serve the “index.html” file written there by the container running the “fortuneloop.sh”</a:t>
            </a:r>
            <a:r>
              <a:rPr lang="en-US" altLang="ko-KR" sz="1400" dirty="0"/>
              <a:t>. The end effect is that </a:t>
            </a:r>
            <a:r>
              <a:rPr lang="en-US" altLang="ko-KR" sz="1400" b="1" dirty="0"/>
              <a:t>a client sending an HTTP request to the pod on port 80 will receive the current fortune message as the response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84419E3D-E5F4-DE69-E431-9B6B7DF5DCA9}"/>
              </a:ext>
            </a:extLst>
          </p:cNvPr>
          <p:cNvGrpSpPr/>
          <p:nvPr/>
        </p:nvGrpSpPr>
        <p:grpSpPr>
          <a:xfrm>
            <a:off x="1396562" y="3041892"/>
            <a:ext cx="9398876" cy="1488155"/>
            <a:chOff x="1396562" y="3104954"/>
            <a:chExt cx="9398876" cy="1488155"/>
          </a:xfrm>
        </p:grpSpPr>
        <p:grpSp>
          <p:nvGrpSpPr>
            <p:cNvPr id="10" name="그룹 9">
              <a:extLst>
                <a:ext uri="{FF2B5EF4-FFF2-40B4-BE49-F238E27FC236}">
                  <a16:creationId xmlns:a16="http://schemas.microsoft.com/office/drawing/2014/main" id="{E0779E9F-0A01-A731-F64A-24389ECA3B69}"/>
                </a:ext>
              </a:extLst>
            </p:cNvPr>
            <p:cNvGrpSpPr/>
            <p:nvPr/>
          </p:nvGrpSpPr>
          <p:grpSpPr>
            <a:xfrm>
              <a:off x="1396562" y="3104954"/>
              <a:ext cx="9398876" cy="1488155"/>
              <a:chOff x="1396562" y="3104954"/>
              <a:chExt cx="9398876" cy="1488155"/>
            </a:xfrm>
          </p:grpSpPr>
          <p:pic>
            <p:nvPicPr>
              <p:cNvPr id="8" name="그림 7">
                <a:extLst>
                  <a:ext uri="{FF2B5EF4-FFF2-40B4-BE49-F238E27FC236}">
                    <a16:creationId xmlns:a16="http://schemas.microsoft.com/office/drawing/2014/main" id="{907787CE-A87D-418C-F481-A05960FA664E}"/>
                  </a:ext>
                </a:extLst>
              </p:cNvPr>
              <p:cNvPicPr>
                <a:picLocks noChangeAspect="1"/>
              </p:cNvPicPr>
              <p:nvPr/>
            </p:nvPicPr>
            <p:blipFill>
              <a:blip r:embed="rId2"/>
              <a:stretch>
                <a:fillRect/>
              </a:stretch>
            </p:blipFill>
            <p:spPr>
              <a:xfrm>
                <a:off x="1396562" y="3104954"/>
                <a:ext cx="9398876" cy="1488155"/>
              </a:xfrm>
              <a:prstGeom prst="rect">
                <a:avLst/>
              </a:prstGeom>
            </p:spPr>
          </p:pic>
          <p:sp>
            <p:nvSpPr>
              <p:cNvPr id="9" name="직사각형 8">
                <a:extLst>
                  <a:ext uri="{FF2B5EF4-FFF2-40B4-BE49-F238E27FC236}">
                    <a16:creationId xmlns:a16="http://schemas.microsoft.com/office/drawing/2014/main" id="{C7B59428-3AA1-A7C8-BF64-2F1BB3AA5EBF}"/>
                  </a:ext>
                </a:extLst>
              </p:cNvPr>
              <p:cNvSpPr/>
              <p:nvPr/>
            </p:nvSpPr>
            <p:spPr>
              <a:xfrm>
                <a:off x="5383924" y="3499945"/>
                <a:ext cx="2246586" cy="2364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5C618128-04E5-18B1-1125-B29354724D42}"/>
                </a:ext>
              </a:extLst>
            </p:cNvPr>
            <p:cNvSpPr/>
            <p:nvPr/>
          </p:nvSpPr>
          <p:spPr>
            <a:xfrm>
              <a:off x="1481959" y="4083269"/>
              <a:ext cx="2743200" cy="165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41303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Volumes(4/8)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 </a:t>
            </a:r>
            <a:r>
              <a:rPr lang="en-US" altLang="ko-KR" sz="1800" b="1" dirty="0" err="1"/>
              <a:t>emptyDir</a:t>
            </a:r>
            <a:r>
              <a:rPr lang="en-US" altLang="ko-KR" sz="1800" b="1" dirty="0"/>
              <a:t> Volume :</a:t>
            </a:r>
          </a:p>
          <a:p>
            <a:pPr lvl="1">
              <a:buFont typeface="Wingdings" panose="05000000000000000000" pitchFamily="2" charset="2"/>
              <a:buChar char="§"/>
            </a:pPr>
            <a:r>
              <a:rPr lang="en-US" altLang="ko-KR" sz="1400" b="1" dirty="0"/>
              <a:t>To see the fortune message, you need to enable access to the pod</a:t>
            </a:r>
            <a:r>
              <a:rPr lang="en-US" altLang="ko-KR" sz="1400" dirty="0"/>
              <a:t>. You’ll do that by “</a:t>
            </a:r>
            <a:r>
              <a:rPr lang="en-US" altLang="ko-KR" sz="1400" b="1" dirty="0"/>
              <a:t>forwarding a port(port forwarding)</a:t>
            </a:r>
            <a:r>
              <a:rPr lang="en-US" altLang="ko-KR" sz="1400" dirty="0"/>
              <a:t>” from your local machine to the pod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an exercise, you can also </a:t>
            </a:r>
            <a:r>
              <a:rPr lang="en-US" altLang="ko-KR" sz="1400" b="1" dirty="0">
                <a:solidFill>
                  <a:srgbClr val="FF0000"/>
                </a:solidFill>
              </a:rPr>
              <a:t>expose the pod through a service </a:t>
            </a:r>
            <a:r>
              <a:rPr lang="en-US" altLang="ko-KR" sz="1400" b="1" dirty="0"/>
              <a:t>instead of using port forwarding</a:t>
            </a:r>
            <a:r>
              <a:rPr lang="en-US" altLang="ko-KR" sz="1400" dirty="0"/>
              <a:t>.</a:t>
            </a:r>
          </a:p>
          <a:p>
            <a:pPr lvl="1">
              <a:buFont typeface="Wingdings" panose="05000000000000000000" pitchFamily="2" charset="2"/>
              <a:buChar char="§"/>
            </a:pPr>
            <a:r>
              <a:rPr lang="en-US" altLang="ko-KR" sz="1400" b="1" dirty="0"/>
              <a:t>Now you can access the Nginx server through port 8080 of your local machine</a:t>
            </a:r>
            <a:r>
              <a:rPr lang="en-US" altLang="ko-KR" sz="1400" dirty="0"/>
              <a:t>. Use </a:t>
            </a:r>
            <a:r>
              <a:rPr lang="en-US" altLang="ko-KR" sz="1400" b="1" dirty="0"/>
              <a:t>curl</a:t>
            </a:r>
            <a:r>
              <a:rPr lang="en-US" altLang="ko-KR" sz="1400" dirty="0"/>
              <a:t> to do that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B21AC118-3FA9-4B8A-B6C6-01B96157B680}"/>
              </a:ext>
            </a:extLst>
          </p:cNvPr>
          <p:cNvGrpSpPr/>
          <p:nvPr/>
        </p:nvGrpSpPr>
        <p:grpSpPr>
          <a:xfrm>
            <a:off x="1599331" y="1663778"/>
            <a:ext cx="8993337" cy="1955453"/>
            <a:chOff x="1599332" y="1659900"/>
            <a:chExt cx="8993337" cy="1955453"/>
          </a:xfrm>
        </p:grpSpPr>
        <p:grpSp>
          <p:nvGrpSpPr>
            <p:cNvPr id="12" name="그룹 11">
              <a:extLst>
                <a:ext uri="{FF2B5EF4-FFF2-40B4-BE49-F238E27FC236}">
                  <a16:creationId xmlns:a16="http://schemas.microsoft.com/office/drawing/2014/main" id="{EEC69AB4-BF6A-CD42-50E8-FD9A3BD920CE}"/>
                </a:ext>
              </a:extLst>
            </p:cNvPr>
            <p:cNvGrpSpPr/>
            <p:nvPr/>
          </p:nvGrpSpPr>
          <p:grpSpPr>
            <a:xfrm>
              <a:off x="1599332" y="1659900"/>
              <a:ext cx="8993337" cy="1955453"/>
              <a:chOff x="1599332" y="1659900"/>
              <a:chExt cx="8993337" cy="1955453"/>
            </a:xfrm>
          </p:grpSpPr>
          <p:pic>
            <p:nvPicPr>
              <p:cNvPr id="8" name="그림 7">
                <a:extLst>
                  <a:ext uri="{FF2B5EF4-FFF2-40B4-BE49-F238E27FC236}">
                    <a16:creationId xmlns:a16="http://schemas.microsoft.com/office/drawing/2014/main" id="{76E072E0-C8EF-E4DF-3B04-AFC26CA050E0}"/>
                  </a:ext>
                </a:extLst>
              </p:cNvPr>
              <p:cNvPicPr>
                <a:picLocks noChangeAspect="1"/>
              </p:cNvPicPr>
              <p:nvPr/>
            </p:nvPicPr>
            <p:blipFill>
              <a:blip r:embed="rId2"/>
              <a:stretch>
                <a:fillRect/>
              </a:stretch>
            </p:blipFill>
            <p:spPr>
              <a:xfrm>
                <a:off x="1599332" y="2191407"/>
                <a:ext cx="8993337" cy="1423946"/>
              </a:xfrm>
              <a:prstGeom prst="rect">
                <a:avLst/>
              </a:prstGeom>
            </p:spPr>
          </p:pic>
          <p:sp>
            <p:nvSpPr>
              <p:cNvPr id="10" name="TextBox 9">
                <a:extLst>
                  <a:ext uri="{FF2B5EF4-FFF2-40B4-BE49-F238E27FC236}">
                    <a16:creationId xmlns:a16="http://schemas.microsoft.com/office/drawing/2014/main" id="{08CABCCA-2500-181F-48FE-DB934E7DC639}"/>
                  </a:ext>
                </a:extLst>
              </p:cNvPr>
              <p:cNvSpPr txBox="1"/>
              <p:nvPr/>
            </p:nvSpPr>
            <p:spPr>
              <a:xfrm>
                <a:off x="3047343" y="1659900"/>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port-forward </a:t>
                </a:r>
                <a:r>
                  <a:rPr lang="en-US" altLang="ko-KR" sz="1000" b="1" dirty="0">
                    <a:solidFill>
                      <a:srgbClr val="FF0000"/>
                    </a:solidFill>
                  </a:rPr>
                  <a:t>fortune 8080:80</a:t>
                </a:r>
              </a:p>
            </p:txBody>
          </p:sp>
          <p:sp>
            <p:nvSpPr>
              <p:cNvPr id="11" name="화살표: 아래쪽 10">
                <a:extLst>
                  <a:ext uri="{FF2B5EF4-FFF2-40B4-BE49-F238E27FC236}">
                    <a16:creationId xmlns:a16="http://schemas.microsoft.com/office/drawing/2014/main" id="{7CB2F77F-B1C9-21AE-9249-4976862A1489}"/>
                  </a:ext>
                </a:extLst>
              </p:cNvPr>
              <p:cNvSpPr/>
              <p:nvPr/>
            </p:nvSpPr>
            <p:spPr>
              <a:xfrm>
                <a:off x="5891048" y="1931276"/>
                <a:ext cx="409903" cy="26013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C45F31EF-4080-E743-21BA-A592AECDAC3A}"/>
                </a:ext>
              </a:extLst>
            </p:cNvPr>
            <p:cNvSpPr/>
            <p:nvPr/>
          </p:nvSpPr>
          <p:spPr>
            <a:xfrm>
              <a:off x="5383924" y="2593427"/>
              <a:ext cx="2372710"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F7A74D2C-F135-052F-52C8-799365A37AD7}"/>
              </a:ext>
            </a:extLst>
          </p:cNvPr>
          <p:cNvGrpSpPr/>
          <p:nvPr/>
        </p:nvGrpSpPr>
        <p:grpSpPr>
          <a:xfrm>
            <a:off x="1599331" y="4443853"/>
            <a:ext cx="8993337" cy="1986654"/>
            <a:chOff x="1599331" y="4443853"/>
            <a:chExt cx="8993337" cy="1986654"/>
          </a:xfrm>
        </p:grpSpPr>
        <p:grpSp>
          <p:nvGrpSpPr>
            <p:cNvPr id="20" name="그룹 19">
              <a:extLst>
                <a:ext uri="{FF2B5EF4-FFF2-40B4-BE49-F238E27FC236}">
                  <a16:creationId xmlns:a16="http://schemas.microsoft.com/office/drawing/2014/main" id="{C6C36132-5AE2-6864-53F3-85D3496AEE72}"/>
                </a:ext>
              </a:extLst>
            </p:cNvPr>
            <p:cNvGrpSpPr/>
            <p:nvPr/>
          </p:nvGrpSpPr>
          <p:grpSpPr>
            <a:xfrm>
              <a:off x="3047340" y="4443853"/>
              <a:ext cx="6097314" cy="549114"/>
              <a:chOff x="3047340" y="4443853"/>
              <a:chExt cx="6097314" cy="549114"/>
            </a:xfrm>
          </p:grpSpPr>
          <p:sp>
            <p:nvSpPr>
              <p:cNvPr id="16" name="TextBox 15">
                <a:extLst>
                  <a:ext uri="{FF2B5EF4-FFF2-40B4-BE49-F238E27FC236}">
                    <a16:creationId xmlns:a16="http://schemas.microsoft.com/office/drawing/2014/main" id="{FEF31D9A-1E7F-B8F5-83A6-04B5FC331F1B}"/>
                  </a:ext>
                </a:extLst>
              </p:cNvPr>
              <p:cNvSpPr txBox="1"/>
              <p:nvPr/>
            </p:nvSpPr>
            <p:spPr>
              <a:xfrm>
                <a:off x="3047340" y="4443853"/>
                <a:ext cx="6097314" cy="246221"/>
              </a:xfrm>
              <a:prstGeom prst="rect">
                <a:avLst/>
              </a:prstGeom>
              <a:noFill/>
              <a:ln>
                <a:solidFill>
                  <a:schemeClr val="bg1">
                    <a:lumMod val="50000"/>
                  </a:schemeClr>
                </a:solidFill>
              </a:ln>
            </p:spPr>
            <p:txBody>
              <a:bodyPr wrap="square">
                <a:spAutoFit/>
              </a:bodyPr>
              <a:lstStyle/>
              <a:p>
                <a:r>
                  <a:rPr lang="en-US" altLang="ko-KR" sz="1000" b="1" dirty="0"/>
                  <a:t>$ curl </a:t>
                </a:r>
                <a:r>
                  <a:rPr lang="en-US" altLang="ko-KR" sz="1000" b="1" dirty="0">
                    <a:solidFill>
                      <a:srgbClr val="FF0000"/>
                    </a:solidFill>
                  </a:rPr>
                  <a:t>http://localhost:8080</a:t>
                </a:r>
              </a:p>
            </p:txBody>
          </p:sp>
          <p:sp>
            <p:nvSpPr>
              <p:cNvPr id="19" name="화살표: 아래쪽 18">
                <a:extLst>
                  <a:ext uri="{FF2B5EF4-FFF2-40B4-BE49-F238E27FC236}">
                    <a16:creationId xmlns:a16="http://schemas.microsoft.com/office/drawing/2014/main" id="{DB130F64-97B9-7000-AB9F-F783C5CE45F9}"/>
                  </a:ext>
                </a:extLst>
              </p:cNvPr>
              <p:cNvSpPr/>
              <p:nvPr/>
            </p:nvSpPr>
            <p:spPr>
              <a:xfrm>
                <a:off x="5891047" y="4697956"/>
                <a:ext cx="417787" cy="29501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4" name="그림 23">
              <a:extLst>
                <a:ext uri="{FF2B5EF4-FFF2-40B4-BE49-F238E27FC236}">
                  <a16:creationId xmlns:a16="http://schemas.microsoft.com/office/drawing/2014/main" id="{19079666-4EE2-6D84-4E4D-0FAF418799AC}"/>
                </a:ext>
              </a:extLst>
            </p:cNvPr>
            <p:cNvPicPr>
              <a:picLocks noChangeAspect="1"/>
            </p:cNvPicPr>
            <p:nvPr/>
          </p:nvPicPr>
          <p:blipFill>
            <a:blip r:embed="rId3"/>
            <a:stretch>
              <a:fillRect/>
            </a:stretch>
          </p:blipFill>
          <p:spPr>
            <a:xfrm>
              <a:off x="1599331" y="5006562"/>
              <a:ext cx="8993337" cy="1423945"/>
            </a:xfrm>
            <a:prstGeom prst="rect">
              <a:avLst/>
            </a:prstGeom>
          </p:spPr>
        </p:pic>
      </p:grpSp>
    </p:spTree>
    <p:extLst>
      <p:ext uri="{BB962C8B-B14F-4D97-AF65-F5344CB8AC3E}">
        <p14:creationId xmlns:p14="http://schemas.microsoft.com/office/powerpoint/2010/main" val="1587808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Volumes(5/8)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 </a:t>
            </a:r>
            <a:r>
              <a:rPr lang="en-US" altLang="ko-KR" sz="1800" b="1" dirty="0" err="1"/>
              <a:t>emptyDir</a:t>
            </a:r>
            <a:r>
              <a:rPr lang="en-US" altLang="ko-KR" sz="1800" b="1" dirty="0"/>
              <a:t> Volume :</a:t>
            </a:r>
          </a:p>
          <a:p>
            <a:pPr lvl="1">
              <a:buFont typeface="Wingdings" panose="05000000000000000000" pitchFamily="2" charset="2"/>
              <a:buChar char="§"/>
            </a:pPr>
            <a:r>
              <a:rPr lang="en-US" altLang="ko-KR" sz="1400" b="1" dirty="0"/>
              <a:t>The “</a:t>
            </a:r>
            <a:r>
              <a:rPr lang="en-US" altLang="ko-KR" sz="1400" b="1" dirty="0" err="1"/>
              <a:t>emptyDir</a:t>
            </a:r>
            <a:r>
              <a:rPr lang="en-US" altLang="ko-KR" sz="1400" b="1" dirty="0"/>
              <a:t>” you used as the volume was created on the actual disk of the worker node hosting your pod</a:t>
            </a:r>
            <a:r>
              <a:rPr lang="en-US" altLang="ko-KR" sz="1400" dirty="0"/>
              <a:t>, so </a:t>
            </a:r>
            <a:r>
              <a:rPr lang="en-US" altLang="ko-KR" sz="1400" b="1" dirty="0"/>
              <a:t>its performance depends on the type of the node’s disks</a:t>
            </a:r>
            <a:r>
              <a:rPr lang="en-US" altLang="ko-KR" sz="1400" dirty="0"/>
              <a:t>. </a:t>
            </a:r>
          </a:p>
          <a:p>
            <a:pPr lvl="1">
              <a:buFont typeface="Wingdings" panose="05000000000000000000" pitchFamily="2" charset="2"/>
              <a:buChar char="§"/>
            </a:pPr>
            <a:r>
              <a:rPr lang="en-US" altLang="ko-KR" sz="1400" b="1" dirty="0"/>
              <a:t>You can also tell Kubernetes to create the “</a:t>
            </a:r>
            <a:r>
              <a:rPr lang="en-US" altLang="ko-KR" sz="1400" b="1" dirty="0" err="1"/>
              <a:t>emptyDir</a:t>
            </a:r>
            <a:r>
              <a:rPr lang="en-US" altLang="ko-KR" sz="1400" b="1" dirty="0"/>
              <a:t>” on a “</a:t>
            </a:r>
            <a:r>
              <a:rPr lang="en-US" altLang="ko-KR" sz="1400" b="1" dirty="0" err="1">
                <a:solidFill>
                  <a:srgbClr val="FF0000"/>
                </a:solidFill>
              </a:rPr>
              <a:t>tmpfs</a:t>
            </a:r>
            <a:r>
              <a:rPr lang="en-US" altLang="ko-KR" sz="1400" b="1" dirty="0"/>
              <a:t>” filesystem (in memory instead of on disk)</a:t>
            </a:r>
            <a:r>
              <a:rPr lang="en-US" altLang="ko-KR" sz="1400" dirty="0"/>
              <a:t>. To do this, </a:t>
            </a:r>
            <a:r>
              <a:rPr lang="en-US" altLang="ko-KR" sz="1400" b="1" dirty="0"/>
              <a:t>set the </a:t>
            </a:r>
            <a:r>
              <a:rPr lang="en-US" altLang="ko-KR" sz="1400" b="1" dirty="0" err="1"/>
              <a:t>emptyDir’s</a:t>
            </a:r>
            <a:r>
              <a:rPr lang="en-US" altLang="ko-KR" sz="1400" b="1" dirty="0"/>
              <a:t> “</a:t>
            </a:r>
            <a:r>
              <a:rPr lang="en-US" altLang="ko-KR" sz="1400" b="1" dirty="0">
                <a:solidFill>
                  <a:srgbClr val="FF0000"/>
                </a:solidFill>
              </a:rPr>
              <a:t>medium</a:t>
            </a:r>
            <a:r>
              <a:rPr lang="en-US" altLang="ko-KR" sz="1400" b="1" dirty="0"/>
              <a:t>” to “</a:t>
            </a:r>
            <a:r>
              <a:rPr lang="en-US" altLang="ko-KR" sz="1400" b="1" dirty="0">
                <a:solidFill>
                  <a:srgbClr val="FF0000"/>
                </a:solidFill>
              </a:rPr>
              <a:t>Memory</a:t>
            </a:r>
            <a:r>
              <a:rPr lang="en-US" altLang="ko-KR" sz="1400" b="1" dirty="0"/>
              <a:t>” </a:t>
            </a:r>
            <a:r>
              <a:rPr lang="en-US" altLang="ko-KR" sz="1400" dirty="0"/>
              <a:t>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An </a:t>
            </a:r>
            <a:r>
              <a:rPr lang="en-US" altLang="ko-KR" sz="1400" b="1" dirty="0" err="1"/>
              <a:t>emptyDir</a:t>
            </a:r>
            <a:r>
              <a:rPr lang="en-US" altLang="ko-KR" sz="1400" b="1" dirty="0"/>
              <a:t> volume is the simplest type of volume, but other types build upon it</a:t>
            </a:r>
            <a:r>
              <a:rPr lang="en-US" altLang="ko-KR" sz="1400" dirty="0"/>
              <a:t>. After the empty directory is created, they populate it with data.</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875F362-BB32-35A9-964C-CBE51D52F016}"/>
              </a:ext>
            </a:extLst>
          </p:cNvPr>
          <p:cNvGrpSpPr/>
          <p:nvPr/>
        </p:nvGrpSpPr>
        <p:grpSpPr>
          <a:xfrm>
            <a:off x="3047343" y="2214724"/>
            <a:ext cx="6097314" cy="1785104"/>
            <a:chOff x="3047343" y="2025538"/>
            <a:chExt cx="6097314" cy="1785104"/>
          </a:xfrm>
        </p:grpSpPr>
        <p:sp>
          <p:nvSpPr>
            <p:cNvPr id="8" name="TextBox 7">
              <a:extLst>
                <a:ext uri="{FF2B5EF4-FFF2-40B4-BE49-F238E27FC236}">
                  <a16:creationId xmlns:a16="http://schemas.microsoft.com/office/drawing/2014/main" id="{3AAFAB1F-0549-D1A4-40DF-BEE335036A5E}"/>
                </a:ext>
              </a:extLst>
            </p:cNvPr>
            <p:cNvSpPr txBox="1"/>
            <p:nvPr/>
          </p:nvSpPr>
          <p:spPr>
            <a:xfrm>
              <a:off x="3047343" y="2025538"/>
              <a:ext cx="6097314"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fortune</a:t>
              </a:r>
            </a:p>
            <a:p>
              <a:r>
                <a:rPr lang="en-US" altLang="ko-KR" sz="1000" b="1" dirty="0"/>
                <a:t>spec:</a:t>
              </a:r>
            </a:p>
            <a:p>
              <a:r>
                <a:rPr lang="en-US" altLang="ko-KR" sz="1000" b="1" dirty="0"/>
                <a:t>  containers:</a:t>
              </a:r>
            </a:p>
            <a:p>
              <a:r>
                <a:rPr lang="en-US" altLang="ko-KR" sz="1000" b="1" dirty="0"/>
                <a:t>…</a:t>
              </a:r>
            </a:p>
            <a:p>
              <a:r>
                <a:rPr lang="en-US" altLang="ko-KR" sz="1000" b="1" dirty="0"/>
                <a:t>  volumes:</a:t>
              </a:r>
            </a:p>
            <a:p>
              <a:r>
                <a:rPr lang="en-US" altLang="ko-KR" sz="1000" b="1" dirty="0"/>
                <a:t>  - name: html</a:t>
              </a:r>
            </a:p>
            <a:p>
              <a:r>
                <a:rPr lang="en-US" altLang="ko-KR" sz="1000" b="1" dirty="0">
                  <a:solidFill>
                    <a:srgbClr val="FF0000"/>
                  </a:solidFill>
                </a:rPr>
                <a:t>    </a:t>
              </a:r>
              <a:r>
                <a:rPr lang="en-US" altLang="ko-KR" sz="1000" b="1" dirty="0" err="1">
                  <a:solidFill>
                    <a:srgbClr val="FF0000"/>
                  </a:solidFill>
                </a:rPr>
                <a:t>emptyDir</a:t>
              </a:r>
              <a:r>
                <a:rPr lang="en-US" altLang="ko-KR" sz="1000" b="1" dirty="0">
                  <a:solidFill>
                    <a:srgbClr val="FF0000"/>
                  </a:solidFill>
                </a:rPr>
                <a:t>:</a:t>
              </a:r>
            </a:p>
            <a:p>
              <a:r>
                <a:rPr lang="en-US" altLang="ko-KR" sz="1000" b="1" dirty="0">
                  <a:solidFill>
                    <a:srgbClr val="FF0000"/>
                  </a:solidFill>
                </a:rPr>
                <a:t>      medium: Memory</a:t>
              </a:r>
              <a:endParaRPr lang="ko-KR" altLang="en-US" sz="1000" b="1" dirty="0">
                <a:solidFill>
                  <a:srgbClr val="FF0000"/>
                </a:solidFill>
              </a:endParaRPr>
            </a:p>
          </p:txBody>
        </p:sp>
        <p:sp>
          <p:nvSpPr>
            <p:cNvPr id="9" name="TextBox 8">
              <a:extLst>
                <a:ext uri="{FF2B5EF4-FFF2-40B4-BE49-F238E27FC236}">
                  <a16:creationId xmlns:a16="http://schemas.microsoft.com/office/drawing/2014/main" id="{3166141A-435F-344A-7410-89102848B526}"/>
                </a:ext>
              </a:extLst>
            </p:cNvPr>
            <p:cNvSpPr txBox="1"/>
            <p:nvPr/>
          </p:nvSpPr>
          <p:spPr>
            <a:xfrm>
              <a:off x="7885979" y="2025538"/>
              <a:ext cx="1258678" cy="246221"/>
            </a:xfrm>
            <a:prstGeom prst="rect">
              <a:avLst/>
            </a:prstGeom>
            <a:noFill/>
          </p:spPr>
          <p:txBody>
            <a:bodyPr wrap="none" rtlCol="0">
              <a:spAutoFit/>
            </a:bodyPr>
            <a:lstStyle/>
            <a:p>
              <a:pPr algn="l"/>
              <a:r>
                <a:rPr lang="en-US" altLang="ko-KR" sz="1000" b="1" dirty="0"/>
                <a:t>fortune-</a:t>
              </a:r>
              <a:r>
                <a:rPr lang="en-US" altLang="ko-KR" sz="1000" b="1" dirty="0" err="1"/>
                <a:t>pod.yaml</a:t>
              </a:r>
              <a:endParaRPr lang="ko-KR" altLang="en-US" sz="1000" b="1" dirty="0"/>
            </a:p>
          </p:txBody>
        </p:sp>
      </p:grpSp>
    </p:spTree>
    <p:extLst>
      <p:ext uri="{BB962C8B-B14F-4D97-AF65-F5344CB8AC3E}">
        <p14:creationId xmlns:p14="http://schemas.microsoft.com/office/powerpoint/2010/main" val="697309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Volumes(6/8)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 </a:t>
            </a:r>
            <a:r>
              <a:rPr lang="en-US" altLang="ko-KR" sz="1800" b="1" dirty="0" err="1"/>
              <a:t>emptyDir</a:t>
            </a:r>
            <a:r>
              <a:rPr lang="en-US" altLang="ko-KR" sz="1800" b="1" dirty="0"/>
              <a:t> Volume :</a:t>
            </a:r>
          </a:p>
          <a:p>
            <a:pPr lvl="1">
              <a:buFont typeface="Wingdings" panose="05000000000000000000" pitchFamily="2" charset="2"/>
              <a:buChar char="§"/>
            </a:pPr>
            <a:r>
              <a:rPr lang="en-US" altLang="ko-KR" sz="1400" b="1" dirty="0"/>
              <a:t>To use </a:t>
            </a:r>
            <a:r>
              <a:rPr lang="en-US" altLang="ko-KR" sz="1400" b="1" dirty="0" err="1"/>
              <a:t>Github</a:t>
            </a:r>
            <a:r>
              <a:rPr lang="en-US" altLang="ko-KR" sz="1400" b="1" dirty="0"/>
              <a:t> repository for your volume, you need to use “</a:t>
            </a:r>
            <a:r>
              <a:rPr lang="en-US" altLang="ko-KR" sz="1400" b="1" dirty="0" err="1"/>
              <a:t>initContainers</a:t>
            </a:r>
            <a:r>
              <a:rPr lang="en-US" altLang="ko-KR" sz="1400" b="1" dirty="0"/>
              <a:t>” container</a:t>
            </a:r>
            <a:r>
              <a:rPr lang="en-US" altLang="ko-KR" sz="1400" dirty="0"/>
              <a:t>(specialized containers that run before app containers in a Pod. </a:t>
            </a:r>
            <a:r>
              <a:rPr lang="en-US" altLang="ko-KR" sz="1400" b="1" dirty="0"/>
              <a:t>Init containers can contain utilities or setup scripts not present in an app image</a:t>
            </a:r>
            <a:r>
              <a:rPr lang="en-US" altLang="ko-KR" sz="1400" dirty="0"/>
              <a:t>. You can </a:t>
            </a:r>
            <a:r>
              <a:rPr lang="en-US" altLang="ko-KR" sz="1400" b="1" dirty="0"/>
              <a:t>specify </a:t>
            </a:r>
            <a:r>
              <a:rPr lang="en-US" altLang="ko-KR" sz="1400" b="1" dirty="0" err="1"/>
              <a:t>init</a:t>
            </a:r>
            <a:r>
              <a:rPr lang="en-US" altLang="ko-KR" sz="1400" b="1" dirty="0"/>
              <a:t> containers in the Pod specification alongside the containers array, </a:t>
            </a:r>
            <a:r>
              <a:rPr lang="en-US" altLang="ko-KR" sz="1400" dirty="0"/>
              <a:t>which describes app containers.) </a:t>
            </a:r>
            <a:r>
              <a:rPr lang="en-US" altLang="ko-KR" sz="1400" b="1" dirty="0"/>
              <a:t>instead of “</a:t>
            </a:r>
            <a:r>
              <a:rPr lang="en-US" altLang="ko-KR" sz="1400" b="1" dirty="0" err="1"/>
              <a:t>gitRepo</a:t>
            </a:r>
            <a:r>
              <a:rPr lang="en-US" altLang="ko-KR" sz="1400" b="1" dirty="0"/>
              <a:t>” volume type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7FBBFAE-2C38-FEC5-44F3-2DA3FFDB955B}"/>
              </a:ext>
            </a:extLst>
          </p:cNvPr>
          <p:cNvGrpSpPr/>
          <p:nvPr/>
        </p:nvGrpSpPr>
        <p:grpSpPr>
          <a:xfrm>
            <a:off x="3047343" y="2007825"/>
            <a:ext cx="6097314" cy="4401205"/>
            <a:chOff x="3047343" y="2007825"/>
            <a:chExt cx="6097314" cy="4401205"/>
          </a:xfrm>
        </p:grpSpPr>
        <p:sp>
          <p:nvSpPr>
            <p:cNvPr id="8" name="TextBox 7">
              <a:extLst>
                <a:ext uri="{FF2B5EF4-FFF2-40B4-BE49-F238E27FC236}">
                  <a16:creationId xmlns:a16="http://schemas.microsoft.com/office/drawing/2014/main" id="{660E7549-0223-057B-AA72-4671CB11CEC9}"/>
                </a:ext>
              </a:extLst>
            </p:cNvPr>
            <p:cNvSpPr txBox="1"/>
            <p:nvPr/>
          </p:nvSpPr>
          <p:spPr>
            <a:xfrm>
              <a:off x="3047343" y="2007825"/>
              <a:ext cx="6097314" cy="4401205"/>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gitrepo</a:t>
              </a:r>
              <a:r>
                <a:rPr lang="en-US" altLang="ko-KR" sz="1000" b="1" dirty="0">
                  <a:solidFill>
                    <a:srgbClr val="FF0000"/>
                  </a:solidFill>
                </a:rPr>
                <a:t>-volume-pod</a:t>
              </a:r>
            </a:p>
            <a:p>
              <a:r>
                <a:rPr lang="en-US" altLang="ko-KR" sz="1000" b="1" dirty="0"/>
                <a:t>spec:</a:t>
              </a:r>
            </a:p>
            <a:p>
              <a:r>
                <a:rPr lang="en-US" altLang="ko-KR" sz="1000" b="1" dirty="0"/>
                <a:t>  </a:t>
              </a:r>
              <a:r>
                <a:rPr lang="en-US" altLang="ko-KR" sz="1000" b="1" dirty="0" err="1">
                  <a:solidFill>
                    <a:srgbClr val="FF0000"/>
                  </a:solidFill>
                </a:rPr>
                <a:t>initContainers</a:t>
              </a:r>
              <a:r>
                <a:rPr lang="en-US" altLang="ko-KR" sz="1000" b="1" dirty="0"/>
                <a:t>:</a:t>
              </a:r>
            </a:p>
            <a:p>
              <a:r>
                <a:rPr lang="en-US" altLang="ko-KR" sz="1000" b="1" dirty="0"/>
                <a:t>  - name: </a:t>
              </a:r>
              <a:r>
                <a:rPr lang="en-US" altLang="ko-KR" sz="1000" b="1" dirty="0">
                  <a:solidFill>
                    <a:srgbClr val="FF0000"/>
                  </a:solidFill>
                </a:rPr>
                <a:t>git-clone</a:t>
              </a:r>
            </a:p>
            <a:p>
              <a:r>
                <a:rPr lang="en-US" altLang="ko-KR" sz="1000" b="1" dirty="0"/>
                <a:t>    image: </a:t>
              </a:r>
              <a:r>
                <a:rPr lang="en-US" altLang="ko-KR" sz="1000" b="1" dirty="0">
                  <a:solidFill>
                    <a:srgbClr val="FF0000"/>
                  </a:solidFill>
                </a:rPr>
                <a:t>alpine/git</a:t>
              </a:r>
            </a:p>
            <a:p>
              <a:r>
                <a:rPr lang="en-US" altLang="ko-KR" sz="1000" b="1" dirty="0"/>
                <a:t>    </a:t>
              </a:r>
              <a:r>
                <a:rPr lang="en-US" altLang="ko-KR" sz="1000" b="1" dirty="0" err="1"/>
                <a:t>args</a:t>
              </a:r>
              <a:r>
                <a:rPr lang="en-US" altLang="ko-KR" sz="1000" b="1" dirty="0"/>
                <a:t>:</a:t>
              </a:r>
            </a:p>
            <a:p>
              <a:r>
                <a:rPr lang="en-US" altLang="ko-KR" sz="1000" b="1" dirty="0"/>
                <a:t>    - </a:t>
              </a:r>
              <a:r>
                <a:rPr lang="en-US" altLang="ko-KR" sz="1000" b="1" dirty="0">
                  <a:solidFill>
                    <a:srgbClr val="FF0000"/>
                  </a:solidFill>
                </a:rPr>
                <a:t>clone</a:t>
              </a:r>
            </a:p>
            <a:p>
              <a:r>
                <a:rPr lang="en-US" altLang="ko-KR" sz="1000" b="1" dirty="0"/>
                <a:t>    - </a:t>
              </a:r>
              <a:r>
                <a:rPr lang="en-US" altLang="ko-KR" sz="1000" b="1" dirty="0">
                  <a:solidFill>
                    <a:srgbClr val="FF0000"/>
                  </a:solidFill>
                </a:rPr>
                <a:t>https://github.com/knix008/Website</a:t>
              </a:r>
            </a:p>
            <a:p>
              <a:r>
                <a:rPr lang="en-US" altLang="ko-KR" sz="1000" b="1" dirty="0"/>
                <a:t>    - </a:t>
              </a:r>
              <a:r>
                <a:rPr lang="en-US" altLang="ko-KR" sz="1000" b="1" dirty="0">
                  <a:solidFill>
                    <a:srgbClr val="FF0000"/>
                  </a:solidFill>
                </a:rPr>
                <a:t>/repo</a:t>
              </a:r>
            </a:p>
            <a:p>
              <a:r>
                <a:rPr lang="en-US" altLang="ko-KR" sz="1000" b="1" dirty="0"/>
                <a:t>    </a:t>
              </a:r>
              <a:r>
                <a:rPr lang="en-US" altLang="ko-KR" sz="1000" b="1" dirty="0" err="1"/>
                <a:t>volumeMounts</a:t>
              </a:r>
              <a:r>
                <a:rPr lang="en-US" altLang="ko-KR" sz="1000" b="1" dirty="0"/>
                <a:t>:</a:t>
              </a:r>
            </a:p>
            <a:p>
              <a:r>
                <a:rPr lang="en-US" altLang="ko-KR" sz="1000" b="1" dirty="0"/>
                <a:t>    - name: </a:t>
              </a:r>
              <a:r>
                <a:rPr lang="en-US" altLang="ko-KR" sz="1000" b="1" dirty="0">
                  <a:solidFill>
                    <a:srgbClr val="FF0000"/>
                  </a:solidFill>
                </a:rPr>
                <a:t>git-repository</a:t>
              </a:r>
            </a:p>
            <a:p>
              <a:r>
                <a:rPr lang="en-US" altLang="ko-KR" sz="1000" b="1" dirty="0"/>
                <a:t>      </a:t>
              </a:r>
              <a:r>
                <a:rPr lang="en-US" altLang="ko-KR" sz="1000" b="1" dirty="0" err="1"/>
                <a:t>mountPath</a:t>
              </a:r>
              <a:r>
                <a:rPr lang="en-US" altLang="ko-KR" sz="1000" b="1" dirty="0"/>
                <a:t>: </a:t>
              </a:r>
              <a:r>
                <a:rPr lang="en-US" altLang="ko-KR" sz="1000" b="1" dirty="0">
                  <a:solidFill>
                    <a:srgbClr val="FF0000"/>
                  </a:solidFill>
                </a:rPr>
                <a:t>/repo</a:t>
              </a:r>
            </a:p>
            <a:p>
              <a:r>
                <a:rPr lang="en-US" altLang="ko-KR" sz="1000" b="1" dirty="0"/>
                <a:t>  containers:</a:t>
              </a:r>
            </a:p>
            <a:p>
              <a:r>
                <a:rPr lang="en-US" altLang="ko-KR" sz="1000" b="1" dirty="0"/>
                <a:t>  - image: </a:t>
              </a:r>
              <a:r>
                <a:rPr lang="en-US" altLang="ko-KR" sz="1000" b="1" dirty="0" err="1"/>
                <a:t>nginx:alpine</a:t>
              </a:r>
              <a:endParaRPr lang="en-US" altLang="ko-KR" sz="1000" b="1" dirty="0"/>
            </a:p>
            <a:p>
              <a:r>
                <a:rPr lang="en-US" altLang="ko-KR" sz="1000" b="1" dirty="0"/>
                <a:t>    name: web-server</a:t>
              </a:r>
            </a:p>
            <a:p>
              <a:r>
                <a:rPr lang="en-US" altLang="ko-KR" sz="1000" b="1" dirty="0"/>
                <a:t>    </a:t>
              </a:r>
              <a:r>
                <a:rPr lang="en-US" altLang="ko-KR" sz="1000" b="1" dirty="0" err="1"/>
                <a:t>volumeMounts</a:t>
              </a:r>
              <a:r>
                <a:rPr lang="en-US" altLang="ko-KR" sz="1000" b="1" dirty="0"/>
                <a:t>:</a:t>
              </a:r>
            </a:p>
            <a:p>
              <a:r>
                <a:rPr lang="en-US" altLang="ko-KR" sz="1000" b="1" dirty="0"/>
                <a:t>    - name: </a:t>
              </a:r>
              <a:r>
                <a:rPr lang="en-US" altLang="ko-KR" sz="1000" b="1" dirty="0">
                  <a:solidFill>
                    <a:srgbClr val="FF0000"/>
                  </a:solidFill>
                </a:rPr>
                <a:t>git-repository</a:t>
              </a:r>
            </a:p>
            <a:p>
              <a:r>
                <a:rPr lang="en-US" altLang="ko-KR" sz="1000" b="1" dirty="0"/>
                <a:t>      </a:t>
              </a:r>
              <a:r>
                <a:rPr lang="en-US" altLang="ko-KR" sz="1000" b="1" dirty="0" err="1"/>
                <a:t>mountPath</a:t>
              </a:r>
              <a:r>
                <a:rPr lang="en-US" altLang="ko-KR" sz="1000" b="1" dirty="0"/>
                <a:t>: </a:t>
              </a:r>
              <a:r>
                <a:rPr lang="en-US" altLang="ko-KR" sz="1000" b="1" dirty="0">
                  <a:solidFill>
                    <a:srgbClr val="FF0000"/>
                  </a:solidFill>
                </a:rPr>
                <a:t>/</a:t>
              </a:r>
              <a:r>
                <a:rPr lang="en-US" altLang="ko-KR" sz="1000" b="1" dirty="0" err="1">
                  <a:solidFill>
                    <a:srgbClr val="FF0000"/>
                  </a:solidFill>
                </a:rPr>
                <a:t>usr</a:t>
              </a:r>
              <a:r>
                <a:rPr lang="en-US" altLang="ko-KR" sz="1000" b="1" dirty="0">
                  <a:solidFill>
                    <a:srgbClr val="FF0000"/>
                  </a:solidFill>
                </a:rPr>
                <a:t>/share/nginx/html</a:t>
              </a:r>
            </a:p>
            <a:p>
              <a:r>
                <a:rPr lang="en-US" altLang="ko-KR" sz="1000" b="1" dirty="0"/>
                <a:t>      </a:t>
              </a:r>
              <a:r>
                <a:rPr lang="en-US" altLang="ko-KR" sz="1000" b="1" dirty="0" err="1"/>
                <a:t>readOnly</a:t>
              </a:r>
              <a:r>
                <a:rPr lang="en-US" altLang="ko-KR" sz="1000" b="1" dirty="0"/>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protocol: TCP</a:t>
              </a:r>
            </a:p>
            <a:p>
              <a:r>
                <a:rPr lang="en-US" altLang="ko-KR" sz="1000" b="1" dirty="0"/>
                <a:t>  volumes:</a:t>
              </a:r>
            </a:p>
            <a:p>
              <a:r>
                <a:rPr lang="en-US" altLang="ko-KR" sz="1000" b="1" dirty="0"/>
                <a:t>  - name: </a:t>
              </a:r>
              <a:r>
                <a:rPr lang="en-US" altLang="ko-KR" sz="1000" b="1" dirty="0">
                  <a:solidFill>
                    <a:srgbClr val="FF0000"/>
                  </a:solidFill>
                </a:rPr>
                <a:t>git-repository</a:t>
              </a:r>
            </a:p>
            <a:p>
              <a:r>
                <a:rPr lang="en-US" altLang="ko-KR" sz="1000" b="1" dirty="0"/>
                <a:t>    </a:t>
              </a:r>
              <a:r>
                <a:rPr lang="en-US" altLang="ko-KR" sz="1000" b="1" dirty="0" err="1">
                  <a:solidFill>
                    <a:srgbClr val="FF0000"/>
                  </a:solidFill>
                </a:rPr>
                <a:t>emptyDir</a:t>
              </a:r>
              <a:r>
                <a:rPr lang="en-US" altLang="ko-KR" sz="1000" b="1" dirty="0">
                  <a:solidFill>
                    <a:srgbClr val="FF0000"/>
                  </a:solidFill>
                </a:rPr>
                <a:t>: {}</a:t>
              </a:r>
              <a:endParaRPr lang="ko-KR" altLang="en-US" sz="1000" b="1" dirty="0">
                <a:solidFill>
                  <a:srgbClr val="FF0000"/>
                </a:solidFill>
              </a:endParaRPr>
            </a:p>
          </p:txBody>
        </p:sp>
        <p:sp>
          <p:nvSpPr>
            <p:cNvPr id="9" name="TextBox 8">
              <a:extLst>
                <a:ext uri="{FF2B5EF4-FFF2-40B4-BE49-F238E27FC236}">
                  <a16:creationId xmlns:a16="http://schemas.microsoft.com/office/drawing/2014/main" id="{4EA36771-8455-C0E6-1CCF-58E60C14F9DB}"/>
                </a:ext>
              </a:extLst>
            </p:cNvPr>
            <p:cNvSpPr txBox="1"/>
            <p:nvPr/>
          </p:nvSpPr>
          <p:spPr>
            <a:xfrm>
              <a:off x="7356988" y="2007825"/>
              <a:ext cx="1787669" cy="246221"/>
            </a:xfrm>
            <a:prstGeom prst="rect">
              <a:avLst/>
            </a:prstGeom>
            <a:noFill/>
          </p:spPr>
          <p:txBody>
            <a:bodyPr wrap="none" rtlCol="0">
              <a:spAutoFit/>
            </a:bodyPr>
            <a:lstStyle/>
            <a:p>
              <a:pPr algn="l"/>
              <a:r>
                <a:rPr lang="en-US" altLang="ko-KR" sz="1000" b="1" dirty="0" err="1"/>
                <a:t>gitrepo</a:t>
              </a:r>
              <a:r>
                <a:rPr lang="en-US" altLang="ko-KR" sz="1000" b="1" dirty="0"/>
                <a:t>-volume-</a:t>
              </a:r>
              <a:r>
                <a:rPr lang="en-US" altLang="ko-KR" sz="1000" b="1" dirty="0" err="1"/>
                <a:t>pod.yaml</a:t>
              </a:r>
              <a:endParaRPr lang="ko-KR" altLang="en-US" sz="1000" b="1" dirty="0"/>
            </a:p>
          </p:txBody>
        </p:sp>
      </p:grpSp>
      <p:grpSp>
        <p:nvGrpSpPr>
          <p:cNvPr id="15" name="그룹 14">
            <a:extLst>
              <a:ext uri="{FF2B5EF4-FFF2-40B4-BE49-F238E27FC236}">
                <a16:creationId xmlns:a16="http://schemas.microsoft.com/office/drawing/2014/main" id="{83E11A1B-22DA-EEC2-153C-CC76BA9CD056}"/>
              </a:ext>
            </a:extLst>
          </p:cNvPr>
          <p:cNvGrpSpPr/>
          <p:nvPr/>
        </p:nvGrpSpPr>
        <p:grpSpPr>
          <a:xfrm>
            <a:off x="6172200" y="3154617"/>
            <a:ext cx="4876800" cy="2054942"/>
            <a:chOff x="6172200" y="3154617"/>
            <a:chExt cx="4876800" cy="2054942"/>
          </a:xfrm>
        </p:grpSpPr>
        <p:pic>
          <p:nvPicPr>
            <p:cNvPr id="12" name="그림 11">
              <a:extLst>
                <a:ext uri="{FF2B5EF4-FFF2-40B4-BE49-F238E27FC236}">
                  <a16:creationId xmlns:a16="http://schemas.microsoft.com/office/drawing/2014/main" id="{F7FCF9F0-F65F-8B96-34B7-C68C565DF042}"/>
                </a:ext>
              </a:extLst>
            </p:cNvPr>
            <p:cNvPicPr>
              <a:picLocks noChangeAspect="1"/>
            </p:cNvPicPr>
            <p:nvPr/>
          </p:nvPicPr>
          <p:blipFill>
            <a:blip r:embed="rId2"/>
            <a:stretch>
              <a:fillRect/>
            </a:stretch>
          </p:blipFill>
          <p:spPr>
            <a:xfrm>
              <a:off x="6172200" y="3154617"/>
              <a:ext cx="4876800" cy="2054942"/>
            </a:xfrm>
            <a:prstGeom prst="rect">
              <a:avLst/>
            </a:prstGeom>
            <a:ln>
              <a:solidFill>
                <a:schemeClr val="bg1">
                  <a:lumMod val="50000"/>
                </a:schemeClr>
              </a:solidFill>
            </a:ln>
          </p:spPr>
        </p:pic>
        <p:sp>
          <p:nvSpPr>
            <p:cNvPr id="13" name="TextBox 12">
              <a:extLst>
                <a:ext uri="{FF2B5EF4-FFF2-40B4-BE49-F238E27FC236}">
                  <a16:creationId xmlns:a16="http://schemas.microsoft.com/office/drawing/2014/main" id="{C7FAE7CF-D40A-FF30-F047-39779C86A97E}"/>
                </a:ext>
              </a:extLst>
            </p:cNvPr>
            <p:cNvSpPr txBox="1"/>
            <p:nvPr/>
          </p:nvSpPr>
          <p:spPr>
            <a:xfrm>
              <a:off x="8150693" y="4745420"/>
              <a:ext cx="753732" cy="246221"/>
            </a:xfrm>
            <a:prstGeom prst="rect">
              <a:avLst/>
            </a:prstGeom>
            <a:noFill/>
          </p:spPr>
          <p:txBody>
            <a:bodyPr wrap="none" rtlCol="0">
              <a:spAutoFit/>
            </a:bodyPr>
            <a:lstStyle/>
            <a:p>
              <a:pPr algn="l"/>
              <a:r>
                <a:rPr lang="en-US" altLang="ko-KR" sz="1000" b="1" dirty="0" err="1"/>
                <a:t>emptyDir</a:t>
              </a:r>
              <a:endParaRPr lang="ko-KR" altLang="en-US" sz="1000" b="1" dirty="0"/>
            </a:p>
          </p:txBody>
        </p:sp>
        <p:sp>
          <p:nvSpPr>
            <p:cNvPr id="14" name="TextBox 13">
              <a:extLst>
                <a:ext uri="{FF2B5EF4-FFF2-40B4-BE49-F238E27FC236}">
                  <a16:creationId xmlns:a16="http://schemas.microsoft.com/office/drawing/2014/main" id="{9BEE9AD3-C1FF-08A6-0712-A4DF7BD1E657}"/>
                </a:ext>
              </a:extLst>
            </p:cNvPr>
            <p:cNvSpPr txBox="1"/>
            <p:nvPr/>
          </p:nvSpPr>
          <p:spPr>
            <a:xfrm>
              <a:off x="9197601" y="4548348"/>
              <a:ext cx="1035861" cy="246221"/>
            </a:xfrm>
            <a:prstGeom prst="rect">
              <a:avLst/>
            </a:prstGeom>
            <a:noFill/>
          </p:spPr>
          <p:txBody>
            <a:bodyPr wrap="none" rtlCol="0">
              <a:spAutoFit/>
            </a:bodyPr>
            <a:lstStyle/>
            <a:p>
              <a:pPr algn="l"/>
              <a:r>
                <a:rPr lang="en-US" altLang="ko-KR" sz="1000" b="1" dirty="0" err="1"/>
                <a:t>initContainers</a:t>
              </a:r>
              <a:endParaRPr lang="ko-KR" altLang="en-US" sz="1000" b="1" dirty="0"/>
            </a:p>
          </p:txBody>
        </p:sp>
      </p:grpSp>
    </p:spTree>
    <p:extLst>
      <p:ext uri="{BB962C8B-B14F-4D97-AF65-F5344CB8AC3E}">
        <p14:creationId xmlns:p14="http://schemas.microsoft.com/office/powerpoint/2010/main" val="2555644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Volumes(7/8)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 </a:t>
            </a:r>
            <a:r>
              <a:rPr lang="en-US" altLang="ko-KR" sz="1800" b="1" dirty="0" err="1"/>
              <a:t>emptyDir</a:t>
            </a:r>
            <a:r>
              <a:rPr lang="en-US" altLang="ko-KR" sz="1800" b="1" dirty="0"/>
              <a:t> Volume :</a:t>
            </a:r>
          </a:p>
          <a:p>
            <a:pPr lvl="1">
              <a:buFont typeface="Wingdings" panose="05000000000000000000" pitchFamily="2" charset="2"/>
              <a:buChar char="§"/>
            </a:pPr>
            <a:r>
              <a:rPr lang="en-US" altLang="ko-KR" sz="1400" dirty="0"/>
              <a:t>In “</a:t>
            </a:r>
            <a:r>
              <a:rPr lang="en-US" altLang="ko-KR" sz="1400" b="1" dirty="0" err="1"/>
              <a:t>initContainers</a:t>
            </a:r>
            <a:r>
              <a:rPr lang="en-US" altLang="ko-KR" sz="1400" dirty="0"/>
              <a:t>” specification, we used </a:t>
            </a:r>
            <a:r>
              <a:rPr lang="en-US" altLang="ko-KR" sz="1400" b="1" dirty="0"/>
              <a:t>“git” command to clone the </a:t>
            </a:r>
            <a:r>
              <a:rPr lang="en-US" altLang="ko-KR" sz="1400" b="1" dirty="0">
                <a:hlinkClick r:id="rId2"/>
              </a:rPr>
              <a:t>https://github.com/knix008/Website</a:t>
            </a:r>
            <a:r>
              <a:rPr lang="en-US" altLang="ko-KR" sz="1400" b="1" dirty="0"/>
              <a:t> into “/repo”</a:t>
            </a:r>
            <a:r>
              <a:rPr lang="en-US" altLang="ko-KR" sz="1400" dirty="0"/>
              <a:t>. </a:t>
            </a:r>
            <a:r>
              <a:rPr lang="en-US" altLang="ko-KR" sz="1400" b="1" dirty="0"/>
              <a:t>The “/repo” is the mounted from the “git-repository” in </a:t>
            </a:r>
            <a:r>
              <a:rPr lang="en-US" altLang="ko-KR" sz="1400" b="1" dirty="0" err="1">
                <a:solidFill>
                  <a:srgbClr val="FF0000"/>
                </a:solidFill>
              </a:rPr>
              <a:t>emptyDir</a:t>
            </a:r>
            <a:r>
              <a:rPr lang="en-US" altLang="ko-KR" sz="1400" b="1" dirty="0"/>
              <a:t> type “volume”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EF3850D0-563C-B19F-5073-F05681DE4008}"/>
              </a:ext>
            </a:extLst>
          </p:cNvPr>
          <p:cNvGrpSpPr/>
          <p:nvPr/>
        </p:nvGrpSpPr>
        <p:grpSpPr>
          <a:xfrm>
            <a:off x="1316337" y="1652018"/>
            <a:ext cx="9559324" cy="4743407"/>
            <a:chOff x="1316337" y="1652018"/>
            <a:chExt cx="9559324" cy="4743407"/>
          </a:xfrm>
        </p:grpSpPr>
        <p:grpSp>
          <p:nvGrpSpPr>
            <p:cNvPr id="15" name="그룹 14">
              <a:extLst>
                <a:ext uri="{FF2B5EF4-FFF2-40B4-BE49-F238E27FC236}">
                  <a16:creationId xmlns:a16="http://schemas.microsoft.com/office/drawing/2014/main" id="{647BB03D-CE6F-633A-111A-2369474E6DCB}"/>
                </a:ext>
              </a:extLst>
            </p:cNvPr>
            <p:cNvGrpSpPr/>
            <p:nvPr/>
          </p:nvGrpSpPr>
          <p:grpSpPr>
            <a:xfrm>
              <a:off x="1316337" y="1652018"/>
              <a:ext cx="9559324" cy="4743407"/>
              <a:chOff x="1316337" y="1652018"/>
              <a:chExt cx="9559324" cy="4743407"/>
            </a:xfrm>
          </p:grpSpPr>
          <p:sp>
            <p:nvSpPr>
              <p:cNvPr id="8" name="TextBox 7">
                <a:extLst>
                  <a:ext uri="{FF2B5EF4-FFF2-40B4-BE49-F238E27FC236}">
                    <a16:creationId xmlns:a16="http://schemas.microsoft.com/office/drawing/2014/main" id="{11354BA2-29B4-ECC6-D31A-873C55B8E2B6}"/>
                  </a:ext>
                </a:extLst>
              </p:cNvPr>
              <p:cNvSpPr txBox="1"/>
              <p:nvPr/>
            </p:nvSpPr>
            <p:spPr>
              <a:xfrm>
                <a:off x="3047343" y="1652018"/>
                <a:ext cx="6097314" cy="861774"/>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gitrepo</a:t>
                </a:r>
                <a:r>
                  <a:rPr lang="en-US" altLang="ko-KR" sz="1000" b="1" dirty="0">
                    <a:solidFill>
                      <a:srgbClr val="FF0000"/>
                    </a:solidFill>
                  </a:rPr>
                  <a:t>-volume-</a:t>
                </a:r>
                <a:r>
                  <a:rPr lang="en-US" altLang="ko-KR" sz="1000" b="1" dirty="0" err="1">
                    <a:solidFill>
                      <a:srgbClr val="FF0000"/>
                    </a:solidFill>
                  </a:rPr>
                  <a:t>pod.yaml</a:t>
                </a:r>
                <a:r>
                  <a:rPr lang="en-US" altLang="ko-KR" sz="1000" b="1" dirty="0">
                    <a:solidFill>
                      <a:srgbClr val="FF0000"/>
                    </a:solidFill>
                  </a:rPr>
                  <a:t> </a:t>
                </a:r>
              </a:p>
              <a:p>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gitrepo</a:t>
                </a:r>
                <a:r>
                  <a:rPr lang="en-US" altLang="ko-KR" sz="1000" b="1" dirty="0">
                    <a:solidFill>
                      <a:srgbClr val="FF0000"/>
                    </a:solidFill>
                  </a:rPr>
                  <a:t>-volume-pod 8080:80</a:t>
                </a:r>
              </a:p>
              <a:p>
                <a:r>
                  <a:rPr lang="en-US" altLang="ko-KR" sz="1000" b="1" dirty="0"/>
                  <a:t>…</a:t>
                </a:r>
              </a:p>
              <a:p>
                <a:r>
                  <a:rPr lang="en-US" altLang="ko-KR" sz="1000" b="1" dirty="0"/>
                  <a:t>In other terminal</a:t>
                </a:r>
              </a:p>
              <a:p>
                <a:r>
                  <a:rPr lang="en-US" altLang="ko-KR" sz="1000" b="1" dirty="0"/>
                  <a:t>$ curl http://localhost:8080</a:t>
                </a:r>
              </a:p>
            </p:txBody>
          </p:sp>
          <p:sp>
            <p:nvSpPr>
              <p:cNvPr id="9" name="화살표: 아래쪽 8">
                <a:extLst>
                  <a:ext uri="{FF2B5EF4-FFF2-40B4-BE49-F238E27FC236}">
                    <a16:creationId xmlns:a16="http://schemas.microsoft.com/office/drawing/2014/main" id="{F0D02E47-988D-6CE8-E9DA-1C61F6E209C7}"/>
                  </a:ext>
                </a:extLst>
              </p:cNvPr>
              <p:cNvSpPr/>
              <p:nvPr/>
            </p:nvSpPr>
            <p:spPr>
              <a:xfrm>
                <a:off x="5863458" y="2521627"/>
                <a:ext cx="465083" cy="2666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F327484B-3624-7242-0CED-5BE4647DD27B}"/>
                  </a:ext>
                </a:extLst>
              </p:cNvPr>
              <p:cNvGrpSpPr/>
              <p:nvPr/>
            </p:nvGrpSpPr>
            <p:grpSpPr>
              <a:xfrm>
                <a:off x="1316337" y="2788240"/>
                <a:ext cx="9559324" cy="3607185"/>
                <a:chOff x="762000" y="1607680"/>
                <a:chExt cx="11430000" cy="4809185"/>
              </a:xfrm>
            </p:grpSpPr>
            <p:pic>
              <p:nvPicPr>
                <p:cNvPr id="11" name="그림 10">
                  <a:extLst>
                    <a:ext uri="{FF2B5EF4-FFF2-40B4-BE49-F238E27FC236}">
                      <a16:creationId xmlns:a16="http://schemas.microsoft.com/office/drawing/2014/main" id="{DD00F086-1F2C-BD70-5C7C-DABDDFDC48C5}"/>
                    </a:ext>
                  </a:extLst>
                </p:cNvPr>
                <p:cNvPicPr>
                  <a:picLocks noChangeAspect="1"/>
                </p:cNvPicPr>
                <p:nvPr/>
              </p:nvPicPr>
              <p:blipFill>
                <a:blip r:embed="rId3"/>
                <a:stretch>
                  <a:fillRect/>
                </a:stretch>
              </p:blipFill>
              <p:spPr>
                <a:xfrm>
                  <a:off x="762000" y="4492815"/>
                  <a:ext cx="11430000" cy="1924050"/>
                </a:xfrm>
                <a:prstGeom prst="rect">
                  <a:avLst/>
                </a:prstGeom>
              </p:spPr>
            </p:pic>
            <p:pic>
              <p:nvPicPr>
                <p:cNvPr id="13" name="그림 12">
                  <a:extLst>
                    <a:ext uri="{FF2B5EF4-FFF2-40B4-BE49-F238E27FC236}">
                      <a16:creationId xmlns:a16="http://schemas.microsoft.com/office/drawing/2014/main" id="{D3948837-D13D-15F7-040F-A3106B1C36B9}"/>
                    </a:ext>
                  </a:extLst>
                </p:cNvPr>
                <p:cNvPicPr>
                  <a:picLocks noChangeAspect="1"/>
                </p:cNvPicPr>
                <p:nvPr/>
              </p:nvPicPr>
              <p:blipFill>
                <a:blip r:embed="rId4"/>
                <a:stretch>
                  <a:fillRect/>
                </a:stretch>
              </p:blipFill>
              <p:spPr>
                <a:xfrm>
                  <a:off x="762000" y="1607680"/>
                  <a:ext cx="11430000" cy="2838450"/>
                </a:xfrm>
                <a:prstGeom prst="rect">
                  <a:avLst/>
                </a:prstGeom>
              </p:spPr>
            </p:pic>
          </p:grpSp>
        </p:grpSp>
        <p:sp>
          <p:nvSpPr>
            <p:cNvPr id="16" name="직사각형 15">
              <a:extLst>
                <a:ext uri="{FF2B5EF4-FFF2-40B4-BE49-F238E27FC236}">
                  <a16:creationId xmlns:a16="http://schemas.microsoft.com/office/drawing/2014/main" id="{1A734BD1-893D-9662-1403-8A6966DD04F8}"/>
                </a:ext>
              </a:extLst>
            </p:cNvPr>
            <p:cNvSpPr/>
            <p:nvPr/>
          </p:nvSpPr>
          <p:spPr>
            <a:xfrm>
              <a:off x="5391807" y="3160986"/>
              <a:ext cx="2703786"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0D1EE354-F5DD-4C8A-66A9-142B4C323337}"/>
                </a:ext>
              </a:extLst>
            </p:cNvPr>
            <p:cNvSpPr/>
            <p:nvPr/>
          </p:nvSpPr>
          <p:spPr>
            <a:xfrm>
              <a:off x="5391807" y="4146331"/>
              <a:ext cx="3082159"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E3315E90-1AB3-563D-25B9-61FABA983B9C}"/>
                </a:ext>
              </a:extLst>
            </p:cNvPr>
            <p:cNvSpPr/>
            <p:nvPr/>
          </p:nvSpPr>
          <p:spPr>
            <a:xfrm>
              <a:off x="3909849" y="5313647"/>
              <a:ext cx="1742089" cy="1964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94108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Volumes(8/8)</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Sidecar Containers :</a:t>
            </a:r>
          </a:p>
          <a:p>
            <a:pPr lvl="1">
              <a:buFont typeface="Wingdings" panose="05000000000000000000" pitchFamily="2" charset="2"/>
              <a:buChar char="§"/>
            </a:pPr>
            <a:r>
              <a:rPr lang="en-US" altLang="ko-KR" sz="1400" b="1" dirty="0"/>
              <a:t>The Git sync process shouldn’t run in the same container as the Nginx web server, but in a second container: a </a:t>
            </a:r>
            <a:r>
              <a:rPr lang="en-US" altLang="ko-KR" sz="1400" b="1" dirty="0">
                <a:solidFill>
                  <a:srgbClr val="FF0000"/>
                </a:solidFill>
              </a:rPr>
              <a:t>sidecar</a:t>
            </a:r>
            <a:r>
              <a:rPr lang="en-US" altLang="ko-KR" sz="1400" b="1" dirty="0"/>
              <a:t> container</a:t>
            </a:r>
            <a:r>
              <a:rPr lang="en-US" altLang="ko-KR" sz="1400" dirty="0"/>
              <a:t>. </a:t>
            </a:r>
            <a:r>
              <a:rPr lang="en-US" altLang="ko-KR" sz="1400" b="1" dirty="0">
                <a:solidFill>
                  <a:srgbClr val="FF0000"/>
                </a:solidFill>
              </a:rPr>
              <a:t>A sidecar container is a container that augments the operation of the main container of the pod</a:t>
            </a:r>
            <a:r>
              <a:rPr lang="en-US" altLang="ko-KR" sz="1400" dirty="0"/>
              <a:t>. </a:t>
            </a:r>
            <a:r>
              <a:rPr lang="en-US" altLang="ko-KR" sz="1400" b="1" dirty="0"/>
              <a:t>You add a sidecar to a pod so you can use an existing container image instead of cramming additional logic into the main app’s code</a:t>
            </a:r>
            <a:r>
              <a:rPr lang="en-US" altLang="ko-KR" sz="1400" dirty="0"/>
              <a:t>, which would make it overly complex and less reusable.</a:t>
            </a:r>
          </a:p>
          <a:p>
            <a:pPr lvl="1">
              <a:buFont typeface="Wingdings" panose="05000000000000000000" pitchFamily="2" charset="2"/>
              <a:buChar char="§"/>
            </a:pPr>
            <a:r>
              <a:rPr lang="en-US" altLang="ko-KR" sz="1400" dirty="0"/>
              <a:t>To find an existing container image, which keeps a local directory synchronized with a Git repository, go to Docker Hub and search for “git sync.” You’ll find many images that do that. Then use the image in a new container in the pod from the previous example, mount the pod’s existing volume in the new container, and configure the Git sync container to keep the files in sync with your Git repo. If you set everything up correctly, you should see that the files the web server is serving are kept in sync with your GitHub repo.</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C9DE1A9-4A0E-F010-2AA8-83A6570FE534}"/>
              </a:ext>
            </a:extLst>
          </p:cNvPr>
          <p:cNvPicPr>
            <a:picLocks noChangeAspect="1"/>
          </p:cNvPicPr>
          <p:nvPr/>
        </p:nvPicPr>
        <p:blipFill>
          <a:blip r:embed="rId2"/>
          <a:stretch>
            <a:fillRect/>
          </a:stretch>
        </p:blipFill>
        <p:spPr>
          <a:xfrm>
            <a:off x="4668235" y="3228065"/>
            <a:ext cx="2855529" cy="2855529"/>
          </a:xfrm>
          <a:prstGeom prst="rect">
            <a:avLst/>
          </a:prstGeom>
        </p:spPr>
      </p:pic>
      <p:sp>
        <p:nvSpPr>
          <p:cNvPr id="8" name="TextBox 7">
            <a:extLst>
              <a:ext uri="{FF2B5EF4-FFF2-40B4-BE49-F238E27FC236}">
                <a16:creationId xmlns:a16="http://schemas.microsoft.com/office/drawing/2014/main" id="{8D8BD11E-D091-8689-B0AF-88DA898D8582}"/>
              </a:ext>
            </a:extLst>
          </p:cNvPr>
          <p:cNvSpPr txBox="1"/>
          <p:nvPr/>
        </p:nvSpPr>
        <p:spPr>
          <a:xfrm>
            <a:off x="6353503" y="5431220"/>
            <a:ext cx="663964" cy="246221"/>
          </a:xfrm>
          <a:prstGeom prst="rect">
            <a:avLst/>
          </a:prstGeom>
          <a:noFill/>
        </p:spPr>
        <p:txBody>
          <a:bodyPr wrap="none" rtlCol="0">
            <a:spAutoFit/>
          </a:bodyPr>
          <a:lstStyle/>
          <a:p>
            <a:pPr algn="l"/>
            <a:r>
              <a:rPr lang="en-US" altLang="ko-KR" sz="1000" b="1" dirty="0"/>
              <a:t>git sync</a:t>
            </a:r>
            <a:endParaRPr lang="ko-KR" altLang="en-US" sz="1000" b="1" dirty="0"/>
          </a:p>
        </p:txBody>
      </p:sp>
      <p:grpSp>
        <p:nvGrpSpPr>
          <p:cNvPr id="11" name="그룹 10">
            <a:extLst>
              <a:ext uri="{FF2B5EF4-FFF2-40B4-BE49-F238E27FC236}">
                <a16:creationId xmlns:a16="http://schemas.microsoft.com/office/drawing/2014/main" id="{F2CC26A1-4CD2-2371-90D9-1E8B2F60D60B}"/>
              </a:ext>
            </a:extLst>
          </p:cNvPr>
          <p:cNvGrpSpPr/>
          <p:nvPr/>
        </p:nvGrpSpPr>
        <p:grpSpPr>
          <a:xfrm>
            <a:off x="7539529" y="4516821"/>
            <a:ext cx="2111593" cy="1310507"/>
            <a:chOff x="7539529" y="4516821"/>
            <a:chExt cx="2111593" cy="1310507"/>
          </a:xfrm>
        </p:grpSpPr>
        <p:pic>
          <p:nvPicPr>
            <p:cNvPr id="9" name="그림 8">
              <a:extLst>
                <a:ext uri="{FF2B5EF4-FFF2-40B4-BE49-F238E27FC236}">
                  <a16:creationId xmlns:a16="http://schemas.microsoft.com/office/drawing/2014/main" id="{722AD5A4-2FAE-97F3-13E4-E520715E44CF}"/>
                </a:ext>
              </a:extLst>
            </p:cNvPr>
            <p:cNvPicPr>
              <a:picLocks noChangeAspect="1"/>
            </p:cNvPicPr>
            <p:nvPr/>
          </p:nvPicPr>
          <p:blipFill>
            <a:blip r:embed="rId3"/>
            <a:stretch>
              <a:fillRect/>
            </a:stretch>
          </p:blipFill>
          <p:spPr>
            <a:xfrm>
              <a:off x="7903780" y="4516821"/>
              <a:ext cx="1747342" cy="1310507"/>
            </a:xfrm>
            <a:prstGeom prst="rect">
              <a:avLst/>
            </a:prstGeom>
          </p:spPr>
        </p:pic>
        <p:sp>
          <p:nvSpPr>
            <p:cNvPr id="10" name="화살표: 왼쪽/오른쪽 9">
              <a:extLst>
                <a:ext uri="{FF2B5EF4-FFF2-40B4-BE49-F238E27FC236}">
                  <a16:creationId xmlns:a16="http://schemas.microsoft.com/office/drawing/2014/main" id="{A04430FD-69AD-E859-31E2-C7A752913FC4}"/>
                </a:ext>
              </a:extLst>
            </p:cNvPr>
            <p:cNvSpPr/>
            <p:nvPr/>
          </p:nvSpPr>
          <p:spPr>
            <a:xfrm>
              <a:off x="7539529" y="5037082"/>
              <a:ext cx="493002" cy="283779"/>
            </a:xfrm>
            <a:prstGeom prst="lef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2423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Files on the Worker Node’s Filesystem(1/5)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hostPath</a:t>
            </a:r>
            <a:r>
              <a:rPr lang="en-US" altLang="ko-KR" sz="1800" b="1" dirty="0"/>
              <a:t> Volume :</a:t>
            </a:r>
          </a:p>
          <a:p>
            <a:pPr lvl="1">
              <a:buFont typeface="Wingdings" panose="05000000000000000000" pitchFamily="2" charset="2"/>
              <a:buChar char="§"/>
            </a:pPr>
            <a:r>
              <a:rPr lang="en-US" altLang="ko-KR" sz="1400" b="1" dirty="0"/>
              <a:t>Most pods should be oblivious of their host node, so they shouldn’t access any files on the node’s filesystem</a:t>
            </a:r>
            <a:r>
              <a:rPr lang="en-US" altLang="ko-KR" sz="1400" dirty="0"/>
              <a:t>. But </a:t>
            </a:r>
            <a:r>
              <a:rPr lang="en-US" altLang="ko-KR" sz="1400" b="1" dirty="0"/>
              <a:t>certain system-level pods </a:t>
            </a:r>
            <a:r>
              <a:rPr lang="en-US" altLang="ko-KR" sz="1400" dirty="0"/>
              <a:t>(remember, these will usually be managed by a </a:t>
            </a:r>
            <a:r>
              <a:rPr lang="en-US" altLang="ko-KR" sz="1400" b="1" dirty="0" err="1"/>
              <a:t>DaemonSet</a:t>
            </a:r>
            <a:r>
              <a:rPr lang="en-US" altLang="ko-KR" sz="1400" dirty="0"/>
              <a:t>) do need to either </a:t>
            </a:r>
            <a:r>
              <a:rPr lang="en-US" altLang="ko-KR" sz="1400" b="1" dirty="0"/>
              <a:t>read the node’s files or use the node’s filesystem </a:t>
            </a:r>
            <a:r>
              <a:rPr lang="en-US" altLang="ko-KR" sz="1400" dirty="0"/>
              <a:t>to access the node’s devices through the filesystem. </a:t>
            </a:r>
            <a:r>
              <a:rPr lang="en-US" altLang="ko-KR" sz="1400" b="1" dirty="0"/>
              <a:t>Kubernetes makes this possible through a “</a:t>
            </a:r>
            <a:r>
              <a:rPr lang="en-US" altLang="ko-KR" sz="1400" b="1" dirty="0" err="1">
                <a:solidFill>
                  <a:srgbClr val="FF0000"/>
                </a:solidFill>
              </a:rPr>
              <a:t>hostPath</a:t>
            </a:r>
            <a:r>
              <a:rPr lang="en-US" altLang="ko-KR" sz="1400" b="1" dirty="0"/>
              <a:t>” volume</a:t>
            </a:r>
            <a:r>
              <a:rPr lang="en-US" altLang="ko-KR" sz="1400" dirty="0"/>
              <a:t>.</a:t>
            </a:r>
          </a:p>
          <a:p>
            <a:pPr lvl="1">
              <a:buFont typeface="Wingdings" panose="05000000000000000000" pitchFamily="2" charset="2"/>
              <a:buChar char="§"/>
            </a:pPr>
            <a:r>
              <a:rPr lang="en-US" altLang="ko-KR" sz="1400" b="1" dirty="0"/>
              <a:t>A </a:t>
            </a:r>
            <a:r>
              <a:rPr lang="en-US" altLang="ko-KR" sz="1400" b="1" dirty="0" err="1">
                <a:solidFill>
                  <a:srgbClr val="FF0000"/>
                </a:solidFill>
              </a:rPr>
              <a:t>hostPath</a:t>
            </a:r>
            <a:r>
              <a:rPr lang="en-US" altLang="ko-KR" sz="1400" b="1" dirty="0"/>
              <a:t> volume points to a specific file or directory on the node’s filesystem </a:t>
            </a:r>
            <a:r>
              <a:rPr lang="en-US" altLang="ko-KR" sz="1400" dirty="0"/>
              <a:t>(see the following figure). </a:t>
            </a:r>
            <a:r>
              <a:rPr lang="en-US" altLang="ko-KR" sz="1400" b="1" dirty="0"/>
              <a:t>Pods running on the same node and using the same path in their </a:t>
            </a:r>
            <a:r>
              <a:rPr lang="en-US" altLang="ko-KR" sz="1400" b="1" dirty="0" err="1"/>
              <a:t>hostPath</a:t>
            </a:r>
            <a:r>
              <a:rPr lang="en-US" altLang="ko-KR" sz="1400" b="1" dirty="0"/>
              <a:t> volume see the same files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err="1"/>
              <a:t>hostPath</a:t>
            </a:r>
            <a:r>
              <a:rPr lang="en-US" altLang="ko-KR" sz="1400" b="1" dirty="0"/>
              <a:t> volumes are the first type of </a:t>
            </a:r>
            <a:r>
              <a:rPr lang="en-US" altLang="ko-KR" sz="1400" b="1" dirty="0">
                <a:solidFill>
                  <a:srgbClr val="FF0000"/>
                </a:solidFill>
              </a:rPr>
              <a:t>persistent storage</a:t>
            </a:r>
            <a:r>
              <a:rPr lang="en-US" altLang="ko-KR" sz="1400" dirty="0"/>
              <a:t>, </a:t>
            </a:r>
            <a:r>
              <a:rPr lang="en-US" altLang="ko-KR" sz="1400" b="1" dirty="0"/>
              <a:t>because the </a:t>
            </a:r>
            <a:r>
              <a:rPr lang="en-US" altLang="ko-KR" sz="1400" b="1" dirty="0" err="1"/>
              <a:t>emptyDir</a:t>
            </a:r>
            <a:r>
              <a:rPr lang="en-US" altLang="ko-KR" sz="1400" b="1" dirty="0"/>
              <a:t> volume’s contents get deleted when a pod is torn down</a:t>
            </a:r>
            <a:r>
              <a:rPr lang="en-US" altLang="ko-KR" sz="1400" dirty="0"/>
              <a:t>, </a:t>
            </a:r>
            <a:r>
              <a:rPr lang="en-US" altLang="ko-KR" sz="1400" b="1" dirty="0"/>
              <a:t>whereas a </a:t>
            </a:r>
            <a:r>
              <a:rPr lang="en-US" altLang="ko-KR" sz="1400" b="1" dirty="0" err="1"/>
              <a:t>hostPath</a:t>
            </a:r>
            <a:r>
              <a:rPr lang="en-US" altLang="ko-KR" sz="1400" b="1" dirty="0"/>
              <a:t> volume’s contents don’t</a:t>
            </a:r>
            <a:r>
              <a:rPr lang="en-US" altLang="ko-KR" sz="1400" dirty="0"/>
              <a:t>. If a pod is deleted and the next pod uses a </a:t>
            </a:r>
            <a:r>
              <a:rPr lang="en-US" altLang="ko-KR" sz="1400" b="1" dirty="0" err="1"/>
              <a:t>hostPath</a:t>
            </a:r>
            <a:r>
              <a:rPr lang="en-US" altLang="ko-KR" sz="1400" dirty="0"/>
              <a:t> volume pointing to the same path on the host, </a:t>
            </a:r>
            <a:r>
              <a:rPr lang="en-US" altLang="ko-KR" sz="1400" b="1" dirty="0"/>
              <a:t>the new pod will see whatever was left behind by the previous pod, but only if it’s </a:t>
            </a:r>
            <a:r>
              <a:rPr lang="en-US" altLang="ko-KR" sz="1400" b="1" dirty="0">
                <a:solidFill>
                  <a:srgbClr val="FF0000"/>
                </a:solidFill>
              </a:rPr>
              <a:t>scheduled to the same node</a:t>
            </a:r>
            <a:r>
              <a:rPr lang="en-US" altLang="ko-KR" sz="1400" b="1" dirty="0"/>
              <a:t> as the first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12B8D2E8-02F5-516A-7EE0-C6BEA39E17B4}"/>
              </a:ext>
            </a:extLst>
          </p:cNvPr>
          <p:cNvPicPr>
            <a:picLocks noChangeAspect="1"/>
          </p:cNvPicPr>
          <p:nvPr/>
        </p:nvPicPr>
        <p:blipFill>
          <a:blip r:embed="rId2"/>
          <a:stretch>
            <a:fillRect/>
          </a:stretch>
        </p:blipFill>
        <p:spPr>
          <a:xfrm>
            <a:off x="3962400" y="2660239"/>
            <a:ext cx="4267200" cy="2209800"/>
          </a:xfrm>
          <a:prstGeom prst="rect">
            <a:avLst/>
          </a:prstGeom>
        </p:spPr>
      </p:pic>
    </p:spTree>
    <p:extLst>
      <p:ext uri="{BB962C8B-B14F-4D97-AF65-F5344CB8AC3E}">
        <p14:creationId xmlns:p14="http://schemas.microsoft.com/office/powerpoint/2010/main" val="1385735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Files on the Worker Node’s Filesystem(2/5)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hostPath</a:t>
            </a:r>
            <a:r>
              <a:rPr lang="en-US" altLang="ko-KR" sz="1800" b="1" dirty="0"/>
              <a:t> Volume :</a:t>
            </a:r>
          </a:p>
          <a:p>
            <a:pPr lvl="1">
              <a:buFont typeface="Wingdings" panose="05000000000000000000" pitchFamily="2" charset="2"/>
              <a:buChar char="§"/>
            </a:pPr>
            <a:r>
              <a:rPr lang="en-US" altLang="ko-KR" sz="1400" b="1" dirty="0"/>
              <a:t>Because the volume’s contents are stored on a specific node’s filesystem, when a pod gets rescheduled to another node, it will no longer see the data</a:t>
            </a:r>
            <a:r>
              <a:rPr lang="en-US" altLang="ko-KR" sz="1400" dirty="0"/>
              <a:t>. This explains why it’s </a:t>
            </a:r>
            <a:r>
              <a:rPr lang="en-US" altLang="ko-KR" sz="1400" b="1" dirty="0"/>
              <a:t>not a good idea to use a </a:t>
            </a:r>
            <a:r>
              <a:rPr lang="en-US" altLang="ko-KR" sz="1400" b="1" dirty="0" err="1"/>
              <a:t>hostPath</a:t>
            </a:r>
            <a:r>
              <a:rPr lang="en-US" altLang="ko-KR" sz="1400" b="1" dirty="0"/>
              <a:t> volume for regular pods</a:t>
            </a:r>
            <a:r>
              <a:rPr lang="en-US" altLang="ko-KR" sz="1400" dirty="0"/>
              <a:t>, because </a:t>
            </a:r>
            <a:r>
              <a:rPr lang="en-US" altLang="ko-KR" sz="1400" b="1" dirty="0"/>
              <a:t>it makes the pod sensitive to what node it’s scheduled to</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C6192A5-2A6D-D31E-A5BB-030CCB0E8396}"/>
              </a:ext>
            </a:extLst>
          </p:cNvPr>
          <p:cNvPicPr>
            <a:picLocks noChangeAspect="1"/>
          </p:cNvPicPr>
          <p:nvPr/>
        </p:nvPicPr>
        <p:blipFill>
          <a:blip r:embed="rId2"/>
          <a:stretch>
            <a:fillRect/>
          </a:stretch>
        </p:blipFill>
        <p:spPr>
          <a:xfrm>
            <a:off x="2495550" y="2129630"/>
            <a:ext cx="7200900" cy="2924175"/>
          </a:xfrm>
          <a:prstGeom prst="rect">
            <a:avLst/>
          </a:prstGeom>
        </p:spPr>
      </p:pic>
    </p:spTree>
    <p:extLst>
      <p:ext uri="{BB962C8B-B14F-4D97-AF65-F5344CB8AC3E}">
        <p14:creationId xmlns:p14="http://schemas.microsoft.com/office/powerpoint/2010/main" val="6635469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Files on the Worker Node’s Filesystem(3/5)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System Pods That Use </a:t>
            </a:r>
            <a:r>
              <a:rPr lang="en-US" altLang="ko-KR" sz="1800" b="1" dirty="0" err="1"/>
              <a:t>hostPath</a:t>
            </a:r>
            <a:r>
              <a:rPr lang="en-US" altLang="ko-KR" sz="1800" b="1" dirty="0"/>
              <a:t> Volumes :</a:t>
            </a:r>
          </a:p>
          <a:p>
            <a:pPr lvl="1">
              <a:buFont typeface="Wingdings" panose="05000000000000000000" pitchFamily="2" charset="2"/>
              <a:buChar char="§"/>
            </a:pPr>
            <a:r>
              <a:rPr lang="en-US" altLang="ko-KR" sz="1400" dirty="0"/>
              <a:t>Let’s see </a:t>
            </a:r>
            <a:r>
              <a:rPr lang="en-US" altLang="ko-KR" sz="1400" b="1" dirty="0"/>
              <a:t>how a </a:t>
            </a:r>
            <a:r>
              <a:rPr lang="en-US" altLang="ko-KR" sz="1400" b="1" dirty="0" err="1"/>
              <a:t>hostPath</a:t>
            </a:r>
            <a:r>
              <a:rPr lang="en-US" altLang="ko-KR" sz="1400" b="1" dirty="0"/>
              <a:t> volume can be used properly</a:t>
            </a:r>
            <a:r>
              <a:rPr lang="en-US" altLang="ko-KR" sz="1400" dirty="0"/>
              <a:t>. Instead of creating a new pod, </a:t>
            </a:r>
            <a:r>
              <a:rPr lang="en-US" altLang="ko-KR" sz="1400" b="1" dirty="0"/>
              <a:t>let’s see if any existing system-wide pods are already using this type of volume</a:t>
            </a:r>
            <a:r>
              <a:rPr lang="en-US" altLang="ko-KR" sz="1400" dirty="0"/>
              <a:t>. As you may remember from one of the previous examples, several such pods are running in the </a:t>
            </a:r>
            <a:r>
              <a:rPr lang="en-US" altLang="ko-KR" sz="1400" b="1" dirty="0"/>
              <a:t>“</a:t>
            </a:r>
            <a:r>
              <a:rPr lang="en-US" altLang="ko-KR" sz="1400" b="1" dirty="0" err="1"/>
              <a:t>kube</a:t>
            </a:r>
            <a:r>
              <a:rPr lang="en-US" altLang="ko-KR" sz="1400" b="1" dirty="0"/>
              <a:t>-system” namespace</a:t>
            </a:r>
            <a:r>
              <a:rPr lang="en-US" altLang="ko-KR" sz="1400" dirty="0"/>
              <a:t>. Let’s list them again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EF75D738-274B-1DFA-64D6-158BE63F829A}"/>
              </a:ext>
            </a:extLst>
          </p:cNvPr>
          <p:cNvGrpSpPr/>
          <p:nvPr/>
        </p:nvGrpSpPr>
        <p:grpSpPr>
          <a:xfrm>
            <a:off x="1108841" y="2135506"/>
            <a:ext cx="9974317" cy="2586988"/>
            <a:chOff x="1108841" y="1920031"/>
            <a:chExt cx="9974317" cy="2586988"/>
          </a:xfrm>
        </p:grpSpPr>
        <p:sp>
          <p:nvSpPr>
            <p:cNvPr id="8" name="TextBox 7">
              <a:extLst>
                <a:ext uri="{FF2B5EF4-FFF2-40B4-BE49-F238E27FC236}">
                  <a16:creationId xmlns:a16="http://schemas.microsoft.com/office/drawing/2014/main" id="{51651BB1-907C-2BA5-18A2-1EF56CC9C7E3}"/>
                </a:ext>
              </a:extLst>
            </p:cNvPr>
            <p:cNvSpPr txBox="1"/>
            <p:nvPr/>
          </p:nvSpPr>
          <p:spPr>
            <a:xfrm>
              <a:off x="3047343" y="1920031"/>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 </a:t>
              </a:r>
              <a:r>
                <a:rPr lang="en-US" altLang="ko-KR" sz="1000" b="1" dirty="0">
                  <a:solidFill>
                    <a:srgbClr val="FF0000"/>
                  </a:solidFill>
                </a:rPr>
                <a:t>--namespace </a:t>
              </a:r>
              <a:r>
                <a:rPr lang="en-US" altLang="ko-KR" sz="1000" b="1" dirty="0" err="1">
                  <a:solidFill>
                    <a:srgbClr val="FF0000"/>
                  </a:solidFill>
                </a:rPr>
                <a:t>kube</a:t>
              </a:r>
              <a:r>
                <a:rPr lang="en-US" altLang="ko-KR" sz="1000" b="1" dirty="0">
                  <a:solidFill>
                    <a:srgbClr val="FF0000"/>
                  </a:solidFill>
                </a:rPr>
                <a:t>-system</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B12CF8B4-6273-7FFD-D8A3-C4C42F15EF2F}"/>
                </a:ext>
              </a:extLst>
            </p:cNvPr>
            <p:cNvSpPr/>
            <p:nvPr/>
          </p:nvSpPr>
          <p:spPr>
            <a:xfrm>
              <a:off x="5867400" y="2163168"/>
              <a:ext cx="457200" cy="30742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21274473-49AB-CAB7-8203-D8B791CCFFC2}"/>
                </a:ext>
              </a:extLst>
            </p:cNvPr>
            <p:cNvPicPr>
              <a:picLocks noChangeAspect="1"/>
            </p:cNvPicPr>
            <p:nvPr/>
          </p:nvPicPr>
          <p:blipFill>
            <a:blip r:embed="rId2"/>
            <a:stretch>
              <a:fillRect/>
            </a:stretch>
          </p:blipFill>
          <p:spPr>
            <a:xfrm>
              <a:off x="1108841" y="2470596"/>
              <a:ext cx="9974317" cy="2036423"/>
            </a:xfrm>
            <a:prstGeom prst="rect">
              <a:avLst/>
            </a:prstGeom>
          </p:spPr>
        </p:pic>
      </p:grpSp>
    </p:spTree>
    <p:extLst>
      <p:ext uri="{BB962C8B-B14F-4D97-AF65-F5344CB8AC3E}">
        <p14:creationId xmlns:p14="http://schemas.microsoft.com/office/powerpoint/2010/main" val="4294114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Files on the Worker Node’s Filesystem(4/5)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System Pods That Use </a:t>
            </a:r>
            <a:r>
              <a:rPr lang="en-US" altLang="ko-KR" sz="1800" b="1" dirty="0" err="1"/>
              <a:t>hostPath</a:t>
            </a:r>
            <a:r>
              <a:rPr lang="en-US" altLang="ko-KR" sz="1800" b="1" dirty="0"/>
              <a:t> Volumes :</a:t>
            </a:r>
          </a:p>
          <a:p>
            <a:pPr lvl="1">
              <a:buFont typeface="Wingdings" panose="05000000000000000000" pitchFamily="2" charset="2"/>
              <a:buChar char="§"/>
            </a:pPr>
            <a:r>
              <a:rPr lang="en-US" altLang="ko-KR" sz="1400" dirty="0"/>
              <a:t>Pick one pod from the previous listing and see what kinds of volumes it uses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D06D1234-FD8B-63DA-AEAD-4B7E90AB6416}"/>
              </a:ext>
            </a:extLst>
          </p:cNvPr>
          <p:cNvGrpSpPr/>
          <p:nvPr/>
        </p:nvGrpSpPr>
        <p:grpSpPr>
          <a:xfrm>
            <a:off x="1569983" y="1637665"/>
            <a:ext cx="9052034" cy="4330808"/>
            <a:chOff x="1569983" y="1795320"/>
            <a:chExt cx="9052034" cy="4330808"/>
          </a:xfrm>
        </p:grpSpPr>
        <p:pic>
          <p:nvPicPr>
            <p:cNvPr id="8" name="그림 7">
              <a:extLst>
                <a:ext uri="{FF2B5EF4-FFF2-40B4-BE49-F238E27FC236}">
                  <a16:creationId xmlns:a16="http://schemas.microsoft.com/office/drawing/2014/main" id="{A061EAE7-9AE8-176D-39C4-43A947A1DC19}"/>
                </a:ext>
              </a:extLst>
            </p:cNvPr>
            <p:cNvPicPr>
              <a:picLocks noChangeAspect="1"/>
            </p:cNvPicPr>
            <p:nvPr/>
          </p:nvPicPr>
          <p:blipFill>
            <a:blip r:embed="rId2"/>
            <a:stretch>
              <a:fillRect/>
            </a:stretch>
          </p:blipFill>
          <p:spPr>
            <a:xfrm>
              <a:off x="1569983" y="1795320"/>
              <a:ext cx="9052034" cy="2164945"/>
            </a:xfrm>
            <a:prstGeom prst="rect">
              <a:avLst/>
            </a:prstGeom>
          </p:spPr>
        </p:pic>
        <p:pic>
          <p:nvPicPr>
            <p:cNvPr id="10" name="그림 9">
              <a:extLst>
                <a:ext uri="{FF2B5EF4-FFF2-40B4-BE49-F238E27FC236}">
                  <a16:creationId xmlns:a16="http://schemas.microsoft.com/office/drawing/2014/main" id="{4937559E-4028-FB8F-FA8D-99D588643941}"/>
                </a:ext>
              </a:extLst>
            </p:cNvPr>
            <p:cNvPicPr>
              <a:picLocks noChangeAspect="1"/>
            </p:cNvPicPr>
            <p:nvPr/>
          </p:nvPicPr>
          <p:blipFill>
            <a:blip r:embed="rId3"/>
            <a:stretch>
              <a:fillRect/>
            </a:stretch>
          </p:blipFill>
          <p:spPr>
            <a:xfrm>
              <a:off x="1569984" y="3961183"/>
              <a:ext cx="9052033" cy="2164945"/>
            </a:xfrm>
            <a:prstGeom prst="rect">
              <a:avLst/>
            </a:prstGeom>
          </p:spPr>
        </p:pic>
        <p:sp>
          <p:nvSpPr>
            <p:cNvPr id="11" name="직사각형 10">
              <a:extLst>
                <a:ext uri="{FF2B5EF4-FFF2-40B4-BE49-F238E27FC236}">
                  <a16:creationId xmlns:a16="http://schemas.microsoft.com/office/drawing/2014/main" id="{A77A5F87-AB7E-67CC-8A27-CFC95461A413}"/>
                </a:ext>
              </a:extLst>
            </p:cNvPr>
            <p:cNvSpPr/>
            <p:nvPr/>
          </p:nvSpPr>
          <p:spPr>
            <a:xfrm>
              <a:off x="5415455" y="2215055"/>
              <a:ext cx="3649717"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B6B57416-13BE-B93D-E517-A978B33F5BC5}"/>
                </a:ext>
              </a:extLst>
            </p:cNvPr>
            <p:cNvSpPr/>
            <p:nvPr/>
          </p:nvSpPr>
          <p:spPr>
            <a:xfrm>
              <a:off x="1891862" y="4380000"/>
              <a:ext cx="3255579" cy="396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4A2EB7BF-B638-B5B8-AB3C-F7729A6FF905}"/>
                </a:ext>
              </a:extLst>
            </p:cNvPr>
            <p:cNvSpPr/>
            <p:nvPr/>
          </p:nvSpPr>
          <p:spPr>
            <a:xfrm>
              <a:off x="1883979" y="4897610"/>
              <a:ext cx="3255579" cy="396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9287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Files on the Worker Node’s Filesystem(5/5)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System Pods That Use </a:t>
            </a:r>
            <a:r>
              <a:rPr lang="en-US" altLang="ko-KR" sz="1800" b="1" dirty="0" err="1"/>
              <a:t>hostPath</a:t>
            </a:r>
            <a:r>
              <a:rPr lang="en-US" altLang="ko-KR" sz="1800" b="1" dirty="0"/>
              <a:t> Volumes :</a:t>
            </a:r>
          </a:p>
          <a:p>
            <a:pPr lvl="1">
              <a:buFont typeface="Wingdings" panose="05000000000000000000" pitchFamily="2" charset="2"/>
              <a:buChar char="§"/>
            </a:pPr>
            <a:r>
              <a:rPr lang="en-US" altLang="ko-KR" sz="1400" b="1" dirty="0"/>
              <a:t>The pod uses two </a:t>
            </a:r>
            <a:r>
              <a:rPr lang="en-US" altLang="ko-KR" sz="1400" b="1" dirty="0" err="1"/>
              <a:t>hostPath</a:t>
            </a:r>
            <a:r>
              <a:rPr lang="en-US" altLang="ko-KR" sz="1400" b="1" dirty="0"/>
              <a:t> volumes to gain access to the node’s “/var/lib/</a:t>
            </a:r>
            <a:r>
              <a:rPr lang="en-US" altLang="ko-KR" sz="1400" b="1" dirty="0" err="1"/>
              <a:t>minikube</a:t>
            </a:r>
            <a:r>
              <a:rPr lang="en-US" altLang="ko-KR" sz="1400" b="1" dirty="0"/>
              <a:t>/certs/</a:t>
            </a:r>
            <a:r>
              <a:rPr lang="en-US" altLang="ko-KR" sz="1400" b="1" dirty="0" err="1"/>
              <a:t>etcd</a:t>
            </a:r>
            <a:r>
              <a:rPr lang="en-US" altLang="ko-KR" sz="1400" b="1" dirty="0"/>
              <a:t>” and the “/var/lib/</a:t>
            </a:r>
            <a:r>
              <a:rPr lang="en-US" altLang="ko-KR" sz="1400" b="1" dirty="0" err="1"/>
              <a:t>minikube</a:t>
            </a:r>
            <a:r>
              <a:rPr lang="en-US" altLang="ko-KR" sz="1400" b="1" dirty="0"/>
              <a:t>/</a:t>
            </a:r>
            <a:r>
              <a:rPr lang="en-US" altLang="ko-KR" sz="1400" b="1" dirty="0" err="1"/>
              <a:t>etcd</a:t>
            </a:r>
            <a:r>
              <a:rPr lang="en-US" altLang="ko-KR" sz="1400" b="1" dirty="0"/>
              <a:t>” directories</a:t>
            </a:r>
            <a:r>
              <a:rPr lang="en-US" altLang="ko-KR" sz="1400" dirty="0"/>
              <a:t>.</a:t>
            </a:r>
          </a:p>
          <a:p>
            <a:pPr lvl="1">
              <a:buFont typeface="Wingdings" panose="05000000000000000000" pitchFamily="2" charset="2"/>
              <a:buChar char="§"/>
            </a:pPr>
            <a:r>
              <a:rPr lang="en-US" altLang="ko-KR" sz="1400" dirty="0"/>
              <a:t>If you inspect the other pods, you’ll see some of them uses the </a:t>
            </a:r>
            <a:r>
              <a:rPr lang="en-US" altLang="ko-KR" sz="1400" b="1" dirty="0" err="1"/>
              <a:t>hostPath</a:t>
            </a:r>
            <a:r>
              <a:rPr lang="en-US" altLang="ko-KR" sz="1400" dirty="0"/>
              <a:t> volume for storing their own data. </a:t>
            </a:r>
            <a:r>
              <a:rPr lang="en-US" altLang="ko-KR" sz="1400" b="1" dirty="0"/>
              <a:t>They use it to get access to the node’s data</a:t>
            </a:r>
            <a:r>
              <a:rPr lang="en-US" altLang="ko-KR" sz="1400" dirty="0"/>
              <a:t>. </a:t>
            </a:r>
            <a:r>
              <a:rPr lang="en-US" altLang="ko-KR" sz="1400" b="1" dirty="0" err="1"/>
              <a:t>hostPath</a:t>
            </a:r>
            <a:r>
              <a:rPr lang="en-US" altLang="ko-KR" sz="1400" b="1" dirty="0"/>
              <a:t> volumes are often used for trying out persistent storage in single-node clusters, such as the one created by </a:t>
            </a:r>
            <a:r>
              <a:rPr lang="en-US" altLang="ko-KR" sz="1400" b="1" dirty="0" err="1"/>
              <a:t>Minikube</a:t>
            </a:r>
            <a:r>
              <a:rPr lang="en-US" altLang="ko-KR" sz="1400" dirty="0"/>
              <a:t>. Read on to learn about the types of volumes you should use for </a:t>
            </a:r>
            <a:r>
              <a:rPr lang="en-US" altLang="ko-KR" sz="1400" b="1" dirty="0"/>
              <a:t>storing persistent data properly even in a multi-node cluster</a:t>
            </a:r>
            <a:r>
              <a:rPr lang="en-US" altLang="ko-KR" sz="1400" dirty="0"/>
              <a:t>.</a:t>
            </a:r>
          </a:p>
          <a:p>
            <a:pPr lvl="1">
              <a:buFont typeface="Wingdings" panose="05000000000000000000" pitchFamily="2" charset="2"/>
              <a:buChar char="§"/>
            </a:pPr>
            <a:r>
              <a:rPr lang="en-US" altLang="ko-KR" sz="1400" b="1" dirty="0"/>
              <a:t>TIP : </a:t>
            </a:r>
            <a:r>
              <a:rPr lang="en-US" altLang="ko-KR" sz="1400" b="1" dirty="0">
                <a:solidFill>
                  <a:srgbClr val="FF0000"/>
                </a:solidFill>
              </a:rPr>
              <a:t>Remember to use </a:t>
            </a:r>
            <a:r>
              <a:rPr lang="en-US" altLang="ko-KR" sz="1400" b="1" dirty="0" err="1">
                <a:solidFill>
                  <a:srgbClr val="FF0000"/>
                </a:solidFill>
              </a:rPr>
              <a:t>hostPath</a:t>
            </a:r>
            <a:r>
              <a:rPr lang="en-US" altLang="ko-KR" sz="1400" b="1" dirty="0">
                <a:solidFill>
                  <a:srgbClr val="FF0000"/>
                </a:solidFill>
              </a:rPr>
              <a:t> volumes only if you need to read or write system files on the node</a:t>
            </a:r>
            <a:r>
              <a:rPr lang="en-US" altLang="ko-KR" sz="1400" dirty="0"/>
              <a:t>. </a:t>
            </a:r>
            <a:r>
              <a:rPr lang="en-US" altLang="ko-KR" sz="1400" b="1" dirty="0"/>
              <a:t>Never use them to persist data across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0170088A-7713-E64C-78E8-F2C7EAA94184}"/>
              </a:ext>
            </a:extLst>
          </p:cNvPr>
          <p:cNvGrpSpPr/>
          <p:nvPr/>
        </p:nvGrpSpPr>
        <p:grpSpPr>
          <a:xfrm>
            <a:off x="1154824" y="3191524"/>
            <a:ext cx="9882352" cy="2892070"/>
            <a:chOff x="1154824" y="3191524"/>
            <a:chExt cx="9882352" cy="2892070"/>
          </a:xfrm>
        </p:grpSpPr>
        <p:grpSp>
          <p:nvGrpSpPr>
            <p:cNvPr id="9" name="그룹 8">
              <a:extLst>
                <a:ext uri="{FF2B5EF4-FFF2-40B4-BE49-F238E27FC236}">
                  <a16:creationId xmlns:a16="http://schemas.microsoft.com/office/drawing/2014/main" id="{81E5EDE1-2922-9AB6-30CF-834114BFFE3E}"/>
                </a:ext>
              </a:extLst>
            </p:cNvPr>
            <p:cNvGrpSpPr/>
            <p:nvPr/>
          </p:nvGrpSpPr>
          <p:grpSpPr>
            <a:xfrm>
              <a:off x="1154824" y="3191524"/>
              <a:ext cx="9882352" cy="2892070"/>
              <a:chOff x="1154824" y="3191524"/>
              <a:chExt cx="9882352" cy="2892070"/>
            </a:xfrm>
          </p:grpSpPr>
          <p:pic>
            <p:nvPicPr>
              <p:cNvPr id="4" name="그림 3">
                <a:extLst>
                  <a:ext uri="{FF2B5EF4-FFF2-40B4-BE49-F238E27FC236}">
                    <a16:creationId xmlns:a16="http://schemas.microsoft.com/office/drawing/2014/main" id="{DEC904AE-A080-2500-A1FB-47F32C2B959F}"/>
                  </a:ext>
                </a:extLst>
              </p:cNvPr>
              <p:cNvPicPr>
                <a:picLocks noChangeAspect="1"/>
              </p:cNvPicPr>
              <p:nvPr/>
            </p:nvPicPr>
            <p:blipFill>
              <a:blip r:embed="rId2"/>
              <a:stretch>
                <a:fillRect/>
              </a:stretch>
            </p:blipFill>
            <p:spPr>
              <a:xfrm>
                <a:off x="1154824" y="3191524"/>
                <a:ext cx="9882352" cy="2892070"/>
              </a:xfrm>
              <a:prstGeom prst="rect">
                <a:avLst/>
              </a:prstGeom>
            </p:spPr>
          </p:pic>
          <p:sp>
            <p:nvSpPr>
              <p:cNvPr id="8" name="직사각형 7">
                <a:extLst>
                  <a:ext uri="{FF2B5EF4-FFF2-40B4-BE49-F238E27FC236}">
                    <a16:creationId xmlns:a16="http://schemas.microsoft.com/office/drawing/2014/main" id="{7C598ADB-E127-371A-22BB-FAB2EEEAAF4C}"/>
                  </a:ext>
                </a:extLst>
              </p:cNvPr>
              <p:cNvSpPr/>
              <p:nvPr/>
            </p:nvSpPr>
            <p:spPr>
              <a:xfrm>
                <a:off x="3728545" y="3515710"/>
                <a:ext cx="2278117" cy="1718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화살표: 오른쪽 9">
              <a:extLst>
                <a:ext uri="{FF2B5EF4-FFF2-40B4-BE49-F238E27FC236}">
                  <a16:creationId xmlns:a16="http://schemas.microsoft.com/office/drawing/2014/main" id="{B885B7C5-E71F-E6B7-0867-DAA69F620F4D}"/>
                </a:ext>
              </a:extLst>
            </p:cNvPr>
            <p:cNvSpPr/>
            <p:nvPr/>
          </p:nvSpPr>
          <p:spPr>
            <a:xfrm>
              <a:off x="6061843" y="4201509"/>
              <a:ext cx="268014" cy="236483"/>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59276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Persistent Storage(1/2)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Persistent Storage :</a:t>
            </a:r>
          </a:p>
          <a:p>
            <a:pPr lvl="1">
              <a:buFont typeface="Wingdings" panose="05000000000000000000" pitchFamily="2" charset="2"/>
              <a:buChar char="§"/>
            </a:pPr>
            <a:r>
              <a:rPr lang="en-US" altLang="ko-KR" sz="1400" b="1" dirty="0"/>
              <a:t>When an application running in a pod needs to persist data to disk and have that same data available even when the pod is rescheduled to another node</a:t>
            </a:r>
            <a:r>
              <a:rPr lang="en-US" altLang="ko-KR" sz="1400" dirty="0"/>
              <a:t>, you can’t use any of the volume types we’ve mentioned so far. </a:t>
            </a:r>
            <a:r>
              <a:rPr lang="en-US" altLang="ko-KR" sz="1400" b="1" dirty="0"/>
              <a:t>Because this data needs to be accessible from any cluster node, it must be stored on some type of </a:t>
            </a:r>
            <a:r>
              <a:rPr lang="en-US" altLang="ko-KR" sz="1400" b="1" dirty="0">
                <a:solidFill>
                  <a:srgbClr val="FF0000"/>
                </a:solidFill>
              </a:rPr>
              <a:t>network-attached storage (NAS)</a:t>
            </a:r>
            <a:r>
              <a:rPr lang="en-US" altLang="ko-KR" sz="1400" dirty="0"/>
              <a:t>.</a:t>
            </a:r>
          </a:p>
          <a:p>
            <a:pPr lvl="1">
              <a:buFont typeface="Wingdings" panose="05000000000000000000" pitchFamily="2" charset="2"/>
              <a:buChar char="§"/>
            </a:pPr>
            <a:r>
              <a:rPr lang="en-US" altLang="ko-KR" sz="1400" dirty="0"/>
              <a:t>Now</a:t>
            </a:r>
            <a:r>
              <a:rPr lang="ko-KR" altLang="en-US" sz="1400" dirty="0"/>
              <a:t> </a:t>
            </a:r>
            <a:r>
              <a:rPr lang="en-US" altLang="ko-KR" sz="1400" dirty="0"/>
              <a:t>you will create a </a:t>
            </a:r>
            <a:r>
              <a:rPr lang="en-US" altLang="ko-KR" sz="1400" b="1" dirty="0" err="1">
                <a:solidFill>
                  <a:srgbClr val="FF0000"/>
                </a:solidFill>
              </a:rPr>
              <a:t>hostPath</a:t>
            </a:r>
            <a:r>
              <a:rPr lang="en-US" altLang="ko-KR" sz="1400" b="1" dirty="0">
                <a:solidFill>
                  <a:srgbClr val="FF0000"/>
                </a:solidFill>
              </a:rPr>
              <a:t> </a:t>
            </a:r>
            <a:r>
              <a:rPr lang="en-US" altLang="ko-KR" sz="1400" b="1" dirty="0" err="1">
                <a:solidFill>
                  <a:srgbClr val="FF0000"/>
                </a:solidFill>
              </a:rPr>
              <a:t>PersistentVolume</a:t>
            </a:r>
            <a:r>
              <a:rPr lang="en-US" altLang="ko-KR" sz="1400" dirty="0"/>
              <a:t>. </a:t>
            </a:r>
            <a:r>
              <a:rPr lang="en-US" altLang="ko-KR" sz="1400" b="1" dirty="0"/>
              <a:t>Kubernetes supports </a:t>
            </a:r>
            <a:r>
              <a:rPr lang="en-US" altLang="ko-KR" sz="1400" b="1" dirty="0" err="1"/>
              <a:t>hostPath</a:t>
            </a:r>
            <a:r>
              <a:rPr lang="en-US" altLang="ko-KR" sz="1400" b="1" dirty="0"/>
              <a:t> for development and testing on a single-node cluster</a:t>
            </a:r>
            <a:r>
              <a:rPr lang="en-US" altLang="ko-KR" sz="1400" dirty="0"/>
              <a:t>. </a:t>
            </a:r>
            <a:r>
              <a:rPr lang="en-US" altLang="ko-KR" sz="1400" b="1" dirty="0">
                <a:solidFill>
                  <a:srgbClr val="FF0000"/>
                </a:solidFill>
              </a:rPr>
              <a:t>A </a:t>
            </a:r>
            <a:r>
              <a:rPr lang="en-US" altLang="ko-KR" sz="1400" b="1" dirty="0" err="1">
                <a:solidFill>
                  <a:srgbClr val="FF0000"/>
                </a:solidFill>
              </a:rPr>
              <a:t>hostPath</a:t>
            </a:r>
            <a:r>
              <a:rPr lang="en-US" altLang="ko-KR" sz="1400" b="1" dirty="0">
                <a:solidFill>
                  <a:srgbClr val="FF0000"/>
                </a:solidFill>
              </a:rPr>
              <a:t> </a:t>
            </a:r>
            <a:r>
              <a:rPr lang="en-US" altLang="ko-KR" sz="1400" b="1" dirty="0" err="1">
                <a:solidFill>
                  <a:srgbClr val="FF0000"/>
                </a:solidFill>
              </a:rPr>
              <a:t>PersistentVolume</a:t>
            </a:r>
            <a:r>
              <a:rPr lang="en-US" altLang="ko-KR" sz="1400" b="1" dirty="0">
                <a:solidFill>
                  <a:srgbClr val="FF0000"/>
                </a:solidFill>
              </a:rPr>
              <a:t> uses a file or directory on the Node </a:t>
            </a:r>
            <a:r>
              <a:rPr lang="en-US" altLang="ko-KR" sz="1400" b="1" dirty="0"/>
              <a:t>to emulate network-attached storage</a:t>
            </a:r>
            <a:r>
              <a:rPr lang="en-US" altLang="ko-KR" sz="1400" dirty="0"/>
              <a:t>.</a:t>
            </a:r>
          </a:p>
          <a:p>
            <a:pPr lvl="1">
              <a:buFont typeface="Wingdings" panose="05000000000000000000" pitchFamily="2" charset="2"/>
              <a:buChar char="§"/>
            </a:pPr>
            <a:r>
              <a:rPr lang="en-US" altLang="ko-KR" sz="1400" b="1" dirty="0"/>
              <a:t>In a production cluster, you would not use </a:t>
            </a:r>
            <a:r>
              <a:rPr lang="en-US" altLang="ko-KR" sz="1400" b="1" dirty="0" err="1"/>
              <a:t>hostPath</a:t>
            </a:r>
            <a:r>
              <a:rPr lang="en-US" altLang="ko-KR" sz="1400" dirty="0"/>
              <a:t>. Instead a cluster administrator would provision a network resource like a </a:t>
            </a:r>
            <a:r>
              <a:rPr lang="en-US" altLang="ko-KR" sz="1400" b="1" dirty="0"/>
              <a:t>Google Compute Engine(GCE) persistent disk</a:t>
            </a:r>
            <a:r>
              <a:rPr lang="en-US" altLang="ko-KR" sz="1400" dirty="0"/>
              <a:t>, an </a:t>
            </a:r>
            <a:r>
              <a:rPr lang="en-US" altLang="ko-KR" sz="1400" b="1" dirty="0"/>
              <a:t>NFS</a:t>
            </a:r>
            <a:r>
              <a:rPr lang="en-US" altLang="ko-KR" sz="1400" dirty="0"/>
              <a:t> share, or an </a:t>
            </a:r>
            <a:r>
              <a:rPr lang="en-US" altLang="ko-KR" sz="1400" b="1" dirty="0"/>
              <a:t>Amazon Elastic Block Store</a:t>
            </a:r>
            <a:r>
              <a:rPr lang="en-US" altLang="ko-KR" sz="1400" dirty="0"/>
              <a:t> volume. </a:t>
            </a:r>
            <a:r>
              <a:rPr lang="en-US" altLang="ko-KR" sz="1400" b="1" dirty="0"/>
              <a:t>Cluster administrators can also use </a:t>
            </a:r>
            <a:r>
              <a:rPr lang="en-US" altLang="ko-KR" sz="1400" b="1" dirty="0" err="1">
                <a:solidFill>
                  <a:srgbClr val="FF0000"/>
                </a:solidFill>
              </a:rPr>
              <a:t>StorageClasses</a:t>
            </a:r>
            <a:r>
              <a:rPr lang="en-US" altLang="ko-KR" sz="1400" b="1" dirty="0"/>
              <a:t> to set up dynamic provisioning</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1BCEBE4-F7B7-6E25-771D-8D191920334E}"/>
              </a:ext>
            </a:extLst>
          </p:cNvPr>
          <p:cNvGrpSpPr/>
          <p:nvPr/>
        </p:nvGrpSpPr>
        <p:grpSpPr>
          <a:xfrm>
            <a:off x="3047343" y="3429000"/>
            <a:ext cx="6097314" cy="2862322"/>
            <a:chOff x="3047343" y="3591718"/>
            <a:chExt cx="6097314" cy="2862322"/>
          </a:xfrm>
        </p:grpSpPr>
        <p:sp>
          <p:nvSpPr>
            <p:cNvPr id="8" name="TextBox 7">
              <a:extLst>
                <a:ext uri="{FF2B5EF4-FFF2-40B4-BE49-F238E27FC236}">
                  <a16:creationId xmlns:a16="http://schemas.microsoft.com/office/drawing/2014/main" id="{C173DC21-D4CD-E257-FC97-9849D0276A51}"/>
                </a:ext>
              </a:extLst>
            </p:cNvPr>
            <p:cNvSpPr txBox="1"/>
            <p:nvPr/>
          </p:nvSpPr>
          <p:spPr>
            <a:xfrm>
              <a:off x="3047343" y="3591718"/>
              <a:ext cx="6097314"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err="1">
                  <a:solidFill>
                    <a:srgbClr val="FF0000"/>
                  </a:solidFill>
                </a:rPr>
                <a:t>mongodb</a:t>
              </a:r>
              <a:endParaRPr lang="en-US" altLang="ko-KR" sz="1000" b="1" dirty="0">
                <a:solidFill>
                  <a:srgbClr val="FF0000"/>
                </a:solidFill>
              </a:endParaRPr>
            </a:p>
            <a:p>
              <a:r>
                <a:rPr lang="en-US" altLang="ko-KR" sz="1000" b="1" dirty="0"/>
                <a:t>spec:</a:t>
              </a:r>
            </a:p>
            <a:p>
              <a:r>
                <a:rPr lang="en-US" altLang="ko-KR" sz="1000" b="1" dirty="0"/>
                <a:t>  volumes:</a:t>
              </a:r>
            </a:p>
            <a:p>
              <a:r>
                <a:rPr lang="en-US" altLang="ko-KR" sz="1000" b="1" dirty="0"/>
                <a:t>  - name: </a:t>
              </a:r>
              <a:r>
                <a:rPr lang="en-US" altLang="ko-KR" sz="1000" b="1" dirty="0" err="1">
                  <a:solidFill>
                    <a:srgbClr val="FF0000"/>
                  </a:solidFill>
                </a:rPr>
                <a:t>mongodb</a:t>
              </a:r>
              <a:r>
                <a:rPr lang="en-US" altLang="ko-KR" sz="1000" b="1" dirty="0">
                  <a:solidFill>
                    <a:srgbClr val="FF0000"/>
                  </a:solidFill>
                </a:rPr>
                <a:t>-data</a:t>
              </a:r>
            </a:p>
            <a:p>
              <a:r>
                <a:rPr lang="en-US" altLang="ko-KR" sz="1000" b="1" dirty="0"/>
                <a:t>    </a:t>
              </a:r>
              <a:r>
                <a:rPr lang="en-US" altLang="ko-KR" sz="1000" b="1" dirty="0" err="1"/>
                <a:t>hostPath</a:t>
              </a:r>
              <a:r>
                <a:rPr lang="en-US" altLang="ko-KR" sz="1000" b="1" dirty="0"/>
                <a:t>:</a:t>
              </a:r>
            </a:p>
            <a:p>
              <a:r>
                <a:rPr lang="en-US" altLang="ko-KR" sz="1000" b="1" dirty="0"/>
                <a:t>      path: </a:t>
              </a:r>
              <a:r>
                <a:rPr lang="en-US" altLang="ko-KR" sz="1000" b="1" dirty="0">
                  <a:solidFill>
                    <a:srgbClr val="FF0000"/>
                  </a:solidFill>
                </a:rPr>
                <a:t>/</a:t>
              </a:r>
              <a:r>
                <a:rPr lang="en-US" altLang="ko-KR" sz="1000" b="1" dirty="0" err="1">
                  <a:solidFill>
                    <a:srgbClr val="FF0000"/>
                  </a:solidFill>
                </a:rPr>
                <a:t>tmp</a:t>
              </a:r>
              <a:r>
                <a:rPr lang="en-US" altLang="ko-KR" sz="1000" b="1" dirty="0">
                  <a:solidFill>
                    <a:srgbClr val="FF0000"/>
                  </a:solidFill>
                </a:rPr>
                <a:t>/</a:t>
              </a:r>
              <a:r>
                <a:rPr lang="en-US" altLang="ko-KR" sz="1000" b="1" dirty="0" err="1">
                  <a:solidFill>
                    <a:srgbClr val="FF0000"/>
                  </a:solidFill>
                </a:rPr>
                <a:t>mongodb</a:t>
              </a:r>
              <a:endParaRPr lang="en-US" altLang="ko-KR" sz="1000" b="1" dirty="0">
                <a:solidFill>
                  <a:srgbClr val="FF0000"/>
                </a:solidFill>
              </a:endParaRPr>
            </a:p>
            <a:p>
              <a:r>
                <a:rPr lang="en-US" altLang="ko-KR" sz="1000" b="1" dirty="0"/>
                <a:t>  containers:</a:t>
              </a:r>
            </a:p>
            <a:p>
              <a:r>
                <a:rPr lang="en-US" altLang="ko-KR" sz="1000" b="1" dirty="0"/>
                <a:t>  - image: </a:t>
              </a:r>
              <a:r>
                <a:rPr lang="en-US" altLang="ko-KR" sz="1000" b="1" dirty="0">
                  <a:solidFill>
                    <a:srgbClr val="FF0000"/>
                  </a:solidFill>
                </a:rPr>
                <a:t>mongo:4.4.6  # NOTICE : MongoDB 5.0+ needs AVX support in Intel CPU. </a:t>
              </a:r>
            </a:p>
            <a:p>
              <a:r>
                <a:rPr lang="en-US" altLang="ko-KR" sz="1000" b="1" dirty="0"/>
                <a:t>    name: </a:t>
              </a:r>
              <a:r>
                <a:rPr lang="en-US" altLang="ko-KR" sz="1000" b="1" dirty="0" err="1"/>
                <a:t>mongodb</a:t>
              </a:r>
              <a:endParaRPr lang="en-US" altLang="ko-KR" sz="1000" b="1" dirty="0"/>
            </a:p>
            <a:p>
              <a:r>
                <a:rPr lang="en-US" altLang="ko-KR" sz="1000" b="1" dirty="0"/>
                <a:t>    </a:t>
              </a:r>
              <a:r>
                <a:rPr lang="en-US" altLang="ko-KR" sz="1000" b="1" dirty="0" err="1">
                  <a:solidFill>
                    <a:srgbClr val="FF0000"/>
                  </a:solidFill>
                </a:rPr>
                <a:t>volumeMounts</a:t>
              </a:r>
              <a:r>
                <a:rPr lang="en-US" altLang="ko-KR" sz="1000" b="1" dirty="0">
                  <a:solidFill>
                    <a:srgbClr val="FF0000"/>
                  </a:solidFill>
                </a:rPr>
                <a:t>:</a:t>
              </a:r>
            </a:p>
            <a:p>
              <a:r>
                <a:rPr lang="en-US" altLang="ko-KR" sz="1000" b="1" dirty="0">
                  <a:solidFill>
                    <a:srgbClr val="FF0000"/>
                  </a:solidFill>
                </a:rPr>
                <a:t>    - name: </a:t>
              </a:r>
              <a:r>
                <a:rPr lang="en-US" altLang="ko-KR" sz="1000" b="1" dirty="0" err="1">
                  <a:solidFill>
                    <a:srgbClr val="FF0000"/>
                  </a:solidFill>
                </a:rPr>
                <a:t>mongodb</a:t>
              </a:r>
              <a:r>
                <a:rPr lang="en-US" altLang="ko-KR" sz="1000" b="1" dirty="0">
                  <a:solidFill>
                    <a:srgbClr val="FF0000"/>
                  </a:solidFill>
                </a:rPr>
                <a:t>-data</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/data/</a:t>
              </a:r>
              <a:r>
                <a:rPr lang="en-US" altLang="ko-KR" sz="1000" b="1" dirty="0" err="1">
                  <a:solidFill>
                    <a:srgbClr val="FF0000"/>
                  </a:solidFill>
                </a:rPr>
                <a:t>db</a:t>
              </a:r>
              <a:endParaRPr lang="en-US" altLang="ko-KR" sz="1000" b="1" dirty="0">
                <a:solidFill>
                  <a:srgbClr val="FF0000"/>
                </a:solidFill>
              </a:endParaRPr>
            </a:p>
            <a:p>
              <a:r>
                <a:rPr lang="en-US" altLang="ko-KR" sz="1000" b="1" dirty="0"/>
                <a:t>    ports:</a:t>
              </a:r>
            </a:p>
            <a:p>
              <a:r>
                <a:rPr lang="en-US" altLang="ko-KR" sz="1000" b="1" dirty="0"/>
                <a:t>    - </a:t>
              </a:r>
              <a:r>
                <a:rPr lang="en-US" altLang="ko-KR" sz="1000" b="1" dirty="0" err="1"/>
                <a:t>containerPort</a:t>
              </a:r>
              <a:r>
                <a:rPr lang="en-US" altLang="ko-KR" sz="1000" b="1" dirty="0"/>
                <a:t>: 27017</a:t>
              </a:r>
            </a:p>
            <a:p>
              <a:r>
                <a:rPr lang="en-US" altLang="ko-KR" sz="1000" b="1" dirty="0"/>
                <a:t>      protocol: TCP</a:t>
              </a:r>
              <a:endParaRPr lang="en-US" altLang="ko-KR" sz="1000" b="1" dirty="0">
                <a:solidFill>
                  <a:srgbClr val="FF0000"/>
                </a:solidFill>
              </a:endParaRPr>
            </a:p>
          </p:txBody>
        </p:sp>
        <p:sp>
          <p:nvSpPr>
            <p:cNvPr id="10" name="TextBox 9">
              <a:extLst>
                <a:ext uri="{FF2B5EF4-FFF2-40B4-BE49-F238E27FC236}">
                  <a16:creationId xmlns:a16="http://schemas.microsoft.com/office/drawing/2014/main" id="{8F2DF2F8-9265-BD8A-68BB-A17E03321376}"/>
                </a:ext>
              </a:extLst>
            </p:cNvPr>
            <p:cNvSpPr txBox="1"/>
            <p:nvPr/>
          </p:nvSpPr>
          <p:spPr>
            <a:xfrm>
              <a:off x="7145392" y="3591718"/>
              <a:ext cx="1999265" cy="246221"/>
            </a:xfrm>
            <a:prstGeom prst="rect">
              <a:avLst/>
            </a:prstGeom>
            <a:noFill/>
          </p:spPr>
          <p:txBody>
            <a:bodyPr wrap="none" rtlCol="0">
              <a:spAutoFit/>
            </a:bodyPr>
            <a:lstStyle/>
            <a:p>
              <a:pPr algn="l"/>
              <a:r>
                <a:rPr lang="en-US" altLang="ko-KR" sz="1000" b="1" dirty="0" err="1"/>
                <a:t>mongodb</a:t>
              </a:r>
              <a:r>
                <a:rPr lang="en-US" altLang="ko-KR" sz="1000" b="1" dirty="0"/>
                <a:t>-pod-</a:t>
              </a:r>
              <a:r>
                <a:rPr lang="en-US" altLang="ko-KR" sz="1000" b="1" dirty="0" err="1"/>
                <a:t>hostpath.yaml</a:t>
              </a:r>
              <a:endParaRPr lang="ko-KR" altLang="en-US" sz="1000" b="1" dirty="0"/>
            </a:p>
          </p:txBody>
        </p:sp>
      </p:grpSp>
    </p:spTree>
    <p:extLst>
      <p:ext uri="{BB962C8B-B14F-4D97-AF65-F5344CB8AC3E}">
        <p14:creationId xmlns:p14="http://schemas.microsoft.com/office/powerpoint/2010/main" val="3027705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a:t>
            </a:r>
            <a:r>
              <a:rPr lang="en-US" altLang="ko-KR" sz="2800" b="1" dirty="0" err="1"/>
              <a:t>Minikube</a:t>
            </a:r>
            <a:r>
              <a:rPr lang="en-US" altLang="ko-KR" sz="2800" b="1" dirty="0"/>
              <a:t> with Persistent Volume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t>
            </a:r>
            <a:r>
              <a:rPr lang="en-US" altLang="ko-KR" sz="1800" b="1" dirty="0" err="1"/>
              <a:t>Minikube</a:t>
            </a:r>
            <a:r>
              <a:rPr lang="en-US" altLang="ko-KR" sz="1800" b="1" dirty="0"/>
              <a:t> :</a:t>
            </a:r>
          </a:p>
          <a:p>
            <a:pPr lvl="1">
              <a:buFont typeface="Wingdings" panose="05000000000000000000" pitchFamily="2" charset="2"/>
              <a:buChar char="§"/>
            </a:pPr>
            <a:r>
              <a:rPr lang="en-US" altLang="ko-KR" sz="1400" b="1" dirty="0"/>
              <a:t>When you are running Kubernetes cluster with </a:t>
            </a:r>
            <a:r>
              <a:rPr lang="en-US" altLang="ko-KR" sz="1400" b="1" dirty="0" err="1"/>
              <a:t>Minikube</a:t>
            </a:r>
            <a:r>
              <a:rPr lang="en-US" altLang="ko-KR" sz="1400" dirty="0"/>
              <a:t>, </a:t>
            </a:r>
            <a:r>
              <a:rPr lang="en-US" altLang="ko-KR" sz="1400" b="1" dirty="0"/>
              <a:t>the node is inside in the </a:t>
            </a:r>
            <a:r>
              <a:rPr lang="en-US" altLang="ko-KR" sz="1400" b="1" dirty="0" err="1"/>
              <a:t>Minikube</a:t>
            </a:r>
            <a:r>
              <a:rPr lang="en-US" altLang="ko-KR" sz="1400" b="1" dirty="0"/>
              <a:t> container</a:t>
            </a:r>
            <a:r>
              <a:rPr lang="en-US" altLang="ko-KR" sz="1400" dirty="0"/>
              <a:t>. So you want to make a file to be used in Persistent Volume, </a:t>
            </a:r>
            <a:r>
              <a:rPr lang="en-US" altLang="ko-KR" sz="1400" b="1" dirty="0"/>
              <a:t>you need to create a file in the </a:t>
            </a:r>
            <a:r>
              <a:rPr lang="en-US" altLang="ko-KR" sz="1400" b="1" dirty="0" err="1"/>
              <a:t>Minikube</a:t>
            </a:r>
            <a:r>
              <a:rPr lang="en-US" altLang="ko-KR" sz="1400" b="1" dirty="0"/>
              <a:t> container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the above screenshot, you can find that the </a:t>
            </a:r>
            <a:r>
              <a:rPr lang="en-US" altLang="ko-KR" sz="1400" b="1" dirty="0"/>
              <a:t>MongoDB files are located in the </a:t>
            </a:r>
            <a:r>
              <a:rPr lang="en-US" altLang="ko-KR" sz="1400" b="1" dirty="0" err="1"/>
              <a:t>Minikube</a:t>
            </a:r>
            <a:r>
              <a:rPr lang="en-US" altLang="ko-KR" sz="1400" b="1" dirty="0"/>
              <a:t> container’s “/</a:t>
            </a:r>
            <a:r>
              <a:rPr lang="en-US" altLang="ko-KR" sz="1400" b="1" dirty="0" err="1"/>
              <a:t>tmp</a:t>
            </a:r>
            <a:r>
              <a:rPr lang="en-US" altLang="ko-KR" sz="1400" b="1" dirty="0"/>
              <a:t>/</a:t>
            </a:r>
            <a:r>
              <a:rPr lang="en-US" altLang="ko-KR" sz="1400" b="1" dirty="0" err="1"/>
              <a:t>mongodb</a:t>
            </a:r>
            <a:r>
              <a:rPr lang="en-US" altLang="ko-KR" sz="1400" b="1" dirty="0"/>
              <a:t>” directory which is used in the previous YAML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EC9DB175-EA73-D1F1-6289-B7F8A96B325D}"/>
              </a:ext>
            </a:extLst>
          </p:cNvPr>
          <p:cNvGrpSpPr/>
          <p:nvPr/>
        </p:nvGrpSpPr>
        <p:grpSpPr>
          <a:xfrm>
            <a:off x="1244162" y="2063416"/>
            <a:ext cx="9703676" cy="1730489"/>
            <a:chOff x="1244162" y="2063416"/>
            <a:chExt cx="9703676" cy="1730489"/>
          </a:xfrm>
        </p:grpSpPr>
        <p:pic>
          <p:nvPicPr>
            <p:cNvPr id="8" name="그림 7">
              <a:extLst>
                <a:ext uri="{FF2B5EF4-FFF2-40B4-BE49-F238E27FC236}">
                  <a16:creationId xmlns:a16="http://schemas.microsoft.com/office/drawing/2014/main" id="{6C95D1DE-FB2F-2500-ED0C-B5B626D8AA9B}"/>
                </a:ext>
              </a:extLst>
            </p:cNvPr>
            <p:cNvPicPr>
              <a:picLocks noChangeAspect="1"/>
            </p:cNvPicPr>
            <p:nvPr/>
          </p:nvPicPr>
          <p:blipFill>
            <a:blip r:embed="rId2"/>
            <a:stretch>
              <a:fillRect/>
            </a:stretch>
          </p:blipFill>
          <p:spPr>
            <a:xfrm>
              <a:off x="1244162" y="2063416"/>
              <a:ext cx="9703676" cy="1730489"/>
            </a:xfrm>
            <a:prstGeom prst="rect">
              <a:avLst/>
            </a:prstGeom>
          </p:spPr>
        </p:pic>
        <p:sp>
          <p:nvSpPr>
            <p:cNvPr id="9" name="직사각형 8">
              <a:extLst>
                <a:ext uri="{FF2B5EF4-FFF2-40B4-BE49-F238E27FC236}">
                  <a16:creationId xmlns:a16="http://schemas.microsoft.com/office/drawing/2014/main" id="{2A1B471D-0787-8A84-863B-99D7143EBC02}"/>
                </a:ext>
              </a:extLst>
            </p:cNvPr>
            <p:cNvSpPr/>
            <p:nvPr/>
          </p:nvSpPr>
          <p:spPr>
            <a:xfrm>
              <a:off x="5360275" y="2483069"/>
              <a:ext cx="2301766" cy="2049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5A5B9D6B-5C22-A209-D16C-7339B0F2956D}"/>
                </a:ext>
              </a:extLst>
            </p:cNvPr>
            <p:cNvSpPr/>
            <p:nvPr/>
          </p:nvSpPr>
          <p:spPr>
            <a:xfrm>
              <a:off x="2435772" y="2664372"/>
              <a:ext cx="1137745"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98628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Persistent Storage(2/2)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Persistent Storage :</a:t>
            </a:r>
          </a:p>
          <a:p>
            <a:pPr lvl="1">
              <a:buFont typeface="Wingdings" panose="05000000000000000000" pitchFamily="2" charset="2"/>
              <a:buChar char="§"/>
            </a:pPr>
            <a:r>
              <a:rPr lang="en-US" altLang="ko-KR" sz="1400" dirty="0"/>
              <a:t>In previous YAML file, we defined </a:t>
            </a:r>
            <a:r>
              <a:rPr lang="en-US" altLang="ko-KR" sz="1400" b="1" dirty="0">
                <a:solidFill>
                  <a:srgbClr val="FF0000"/>
                </a:solidFill>
              </a:rPr>
              <a:t>MongoDB pod using </a:t>
            </a:r>
            <a:r>
              <a:rPr lang="en-US" altLang="ko-KR" sz="1400" b="1" dirty="0" err="1">
                <a:solidFill>
                  <a:srgbClr val="FF0000"/>
                </a:solidFill>
              </a:rPr>
              <a:t>hostPath</a:t>
            </a:r>
            <a:r>
              <a:rPr lang="en-US" altLang="ko-KR" sz="1400" b="1" dirty="0">
                <a:solidFill>
                  <a:srgbClr val="FF0000"/>
                </a:solidFill>
              </a:rPr>
              <a:t> </a:t>
            </a:r>
            <a:r>
              <a:rPr lang="en-US" altLang="ko-KR" sz="1400" dirty="0"/>
              <a:t>for it’s storage. </a:t>
            </a:r>
            <a:r>
              <a:rPr lang="en-US" altLang="ko-KR" sz="1400" b="1" dirty="0"/>
              <a:t>Create the pod and check it’s storage </a:t>
            </a:r>
            <a:r>
              <a:rPr lang="en-US" altLang="ko-KR" sz="1400" dirty="0"/>
              <a:t>with the following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NOTICE : When you are running </a:t>
            </a:r>
            <a:r>
              <a:rPr lang="en-US" altLang="ko-KR" sz="1400" b="1" dirty="0" err="1">
                <a:solidFill>
                  <a:srgbClr val="FF0000"/>
                </a:solidFill>
              </a:rPr>
              <a:t>Minikube</a:t>
            </a:r>
            <a:r>
              <a:rPr lang="en-US" altLang="ko-KR" sz="1400" b="1" dirty="0">
                <a:solidFill>
                  <a:srgbClr val="FF0000"/>
                </a:solidFill>
              </a:rPr>
              <a:t>, your persistent storage will be create in the </a:t>
            </a:r>
            <a:r>
              <a:rPr lang="en-US" altLang="ko-KR" sz="1400" b="1" dirty="0" err="1">
                <a:solidFill>
                  <a:srgbClr val="FF0000"/>
                </a:solidFill>
              </a:rPr>
              <a:t>Minikube</a:t>
            </a:r>
            <a:r>
              <a:rPr lang="en-US" altLang="ko-KR" sz="1400" b="1" dirty="0">
                <a:solidFill>
                  <a:srgbClr val="FF0000"/>
                </a:solidFill>
              </a:rPr>
              <a:t> container</a:t>
            </a:r>
            <a:r>
              <a:rPr lang="en-US" altLang="ko-KR" sz="1400" b="1" dirty="0"/>
              <a:t>. So you need to run “$ docker exec -it </a:t>
            </a:r>
            <a:r>
              <a:rPr lang="en-US" altLang="ko-KR" sz="1400" b="1" dirty="0" err="1"/>
              <a:t>minikube</a:t>
            </a:r>
            <a:r>
              <a:rPr lang="en-US" altLang="ko-KR" sz="1400" b="1" dirty="0"/>
              <a:t> /bin/bash” to check the </a:t>
            </a:r>
            <a:r>
              <a:rPr lang="en-US" altLang="ko-KR" sz="1400" b="1" dirty="0" err="1"/>
              <a:t>hostPath</a:t>
            </a:r>
            <a:r>
              <a:rPr lang="en-US" altLang="ko-KR" sz="1400" dirty="0"/>
              <a:t>. In the above example, you can see </a:t>
            </a:r>
            <a:r>
              <a:rPr lang="en-US" altLang="ko-KR" sz="1400" b="1" dirty="0"/>
              <a:t>the </a:t>
            </a:r>
            <a:r>
              <a:rPr lang="en-US" altLang="ko-KR" sz="1400" b="1" dirty="0" err="1"/>
              <a:t>mongodb</a:t>
            </a:r>
            <a:r>
              <a:rPr lang="en-US" altLang="ko-KR" sz="1400" b="1" dirty="0"/>
              <a:t> files in “/</a:t>
            </a:r>
            <a:r>
              <a:rPr lang="en-US" altLang="ko-KR" sz="1400" b="1" dirty="0" err="1"/>
              <a:t>tmp</a:t>
            </a:r>
            <a:r>
              <a:rPr lang="en-US" altLang="ko-KR" sz="1400" b="1" dirty="0"/>
              <a:t>/</a:t>
            </a:r>
            <a:r>
              <a:rPr lang="en-US" altLang="ko-KR" sz="1400" b="1" dirty="0" err="1"/>
              <a:t>mongodb</a:t>
            </a:r>
            <a:r>
              <a:rPr lang="en-US" altLang="ko-KR" sz="1400" b="1" dirty="0"/>
              <a:t>” directory in the </a:t>
            </a:r>
            <a:r>
              <a:rPr lang="en-US" altLang="ko-KR" sz="1400" b="1" dirty="0" err="1"/>
              <a:t>minikube</a:t>
            </a:r>
            <a:r>
              <a:rPr lang="en-US" altLang="ko-KR" sz="1400" b="1" dirty="0"/>
              <a:t> container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F22EF3C3-8CDC-CE14-92D7-2A7E23F0908F}"/>
              </a:ext>
            </a:extLst>
          </p:cNvPr>
          <p:cNvGrpSpPr/>
          <p:nvPr/>
        </p:nvGrpSpPr>
        <p:grpSpPr>
          <a:xfrm>
            <a:off x="1760480" y="1710559"/>
            <a:ext cx="8671035" cy="3062587"/>
            <a:chOff x="1760480" y="1710559"/>
            <a:chExt cx="8671035" cy="3062587"/>
          </a:xfrm>
        </p:grpSpPr>
        <p:sp>
          <p:nvSpPr>
            <p:cNvPr id="11" name="TextBox 10">
              <a:extLst>
                <a:ext uri="{FF2B5EF4-FFF2-40B4-BE49-F238E27FC236}">
                  <a16:creationId xmlns:a16="http://schemas.microsoft.com/office/drawing/2014/main" id="{B39929B3-18E7-57A7-FD6E-F542C31BBBA1}"/>
                </a:ext>
              </a:extLst>
            </p:cNvPr>
            <p:cNvSpPr txBox="1"/>
            <p:nvPr/>
          </p:nvSpPr>
          <p:spPr>
            <a:xfrm>
              <a:off x="3139965" y="1710559"/>
              <a:ext cx="5912069" cy="400110"/>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mongodb</a:t>
              </a:r>
              <a:r>
                <a:rPr lang="en-US" altLang="ko-KR" sz="1000" b="1" dirty="0">
                  <a:solidFill>
                    <a:srgbClr val="FF0000"/>
                  </a:solidFill>
                </a:rPr>
                <a:t>-pod-</a:t>
              </a:r>
              <a:r>
                <a:rPr lang="en-US" altLang="ko-KR" sz="1000" b="1" dirty="0" err="1">
                  <a:solidFill>
                    <a:srgbClr val="FF0000"/>
                  </a:solidFill>
                </a:rPr>
                <a:t>hostpath.yaml</a:t>
              </a:r>
              <a:endParaRPr lang="en-US" altLang="ko-KR" sz="1000" b="1" dirty="0">
                <a:solidFill>
                  <a:srgbClr val="FF0000"/>
                </a:solidFill>
              </a:endParaRPr>
            </a:p>
            <a:p>
              <a:pPr algn="l"/>
              <a:r>
                <a:rPr lang="en-US" altLang="ko-KR" sz="1000" b="1" dirty="0"/>
                <a:t>$ </a:t>
              </a:r>
              <a:r>
                <a:rPr lang="en-US" altLang="ko-KR" sz="1000" b="1" dirty="0" err="1"/>
                <a:t>kubectl</a:t>
              </a:r>
              <a:r>
                <a:rPr lang="en-US" altLang="ko-KR" sz="1000" b="1" dirty="0"/>
                <a:t> exec -it </a:t>
              </a:r>
              <a:r>
                <a:rPr lang="en-US" altLang="ko-KR" sz="1000" b="1" dirty="0" err="1">
                  <a:solidFill>
                    <a:srgbClr val="FF0000"/>
                  </a:solidFill>
                </a:rPr>
                <a:t>mongodb</a:t>
              </a:r>
              <a:r>
                <a:rPr lang="en-US" altLang="ko-KR" sz="1000" b="1" dirty="0"/>
                <a:t> -- /bin/bash</a:t>
              </a:r>
              <a:endParaRPr lang="ko-KR" altLang="en-US" sz="1000" b="1" dirty="0"/>
            </a:p>
          </p:txBody>
        </p:sp>
        <p:sp>
          <p:nvSpPr>
            <p:cNvPr id="12" name="화살표: 아래쪽 11">
              <a:extLst>
                <a:ext uri="{FF2B5EF4-FFF2-40B4-BE49-F238E27FC236}">
                  <a16:creationId xmlns:a16="http://schemas.microsoft.com/office/drawing/2014/main" id="{AA2BEB32-6A96-FF50-F461-A917DE54B75A}"/>
                </a:ext>
              </a:extLst>
            </p:cNvPr>
            <p:cNvSpPr/>
            <p:nvPr/>
          </p:nvSpPr>
          <p:spPr>
            <a:xfrm>
              <a:off x="5891047" y="2131929"/>
              <a:ext cx="409903" cy="26992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4" name="그림 13">
              <a:extLst>
                <a:ext uri="{FF2B5EF4-FFF2-40B4-BE49-F238E27FC236}">
                  <a16:creationId xmlns:a16="http://schemas.microsoft.com/office/drawing/2014/main" id="{0909469D-53B7-93BD-944A-C6A51BA0B390}"/>
                </a:ext>
              </a:extLst>
            </p:cNvPr>
            <p:cNvPicPr>
              <a:picLocks noChangeAspect="1"/>
            </p:cNvPicPr>
            <p:nvPr/>
          </p:nvPicPr>
          <p:blipFill>
            <a:blip r:embed="rId2"/>
            <a:stretch>
              <a:fillRect/>
            </a:stretch>
          </p:blipFill>
          <p:spPr>
            <a:xfrm>
              <a:off x="1760480" y="2410289"/>
              <a:ext cx="8671035" cy="2362857"/>
            </a:xfrm>
            <a:prstGeom prst="rect">
              <a:avLst/>
            </a:prstGeom>
          </p:spPr>
        </p:pic>
        <p:sp>
          <p:nvSpPr>
            <p:cNvPr id="15" name="직사각형 14">
              <a:extLst>
                <a:ext uri="{FF2B5EF4-FFF2-40B4-BE49-F238E27FC236}">
                  <a16:creationId xmlns:a16="http://schemas.microsoft.com/office/drawing/2014/main" id="{4249D090-5C9E-53B1-BE92-9042CDE54E4F}"/>
                </a:ext>
              </a:extLst>
            </p:cNvPr>
            <p:cNvSpPr/>
            <p:nvPr/>
          </p:nvSpPr>
          <p:spPr>
            <a:xfrm>
              <a:off x="5439104" y="2798380"/>
              <a:ext cx="2490952" cy="1734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2067B48-494B-D268-917A-65DBD4D9EB0E}"/>
                </a:ext>
              </a:extLst>
            </p:cNvPr>
            <p:cNvSpPr/>
            <p:nvPr/>
          </p:nvSpPr>
          <p:spPr>
            <a:xfrm>
              <a:off x="5439104" y="3038939"/>
              <a:ext cx="2230820" cy="1734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61366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Minikube</a:t>
            </a:r>
            <a:r>
              <a:rPr lang="en-US" altLang="ko-KR" sz="2800" b="1" dirty="0"/>
              <a:t> with Persistent Volume(1/6)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Minikube</a:t>
            </a:r>
            <a:r>
              <a:rPr lang="en-US" altLang="ko-KR" sz="1800" b="1" dirty="0"/>
              <a:t> Container :</a:t>
            </a:r>
          </a:p>
          <a:p>
            <a:pPr lvl="1">
              <a:buFont typeface="Wingdings" panose="05000000000000000000" pitchFamily="2" charset="2"/>
              <a:buChar char="§"/>
            </a:pPr>
            <a:r>
              <a:rPr lang="en-US" altLang="ko-KR" sz="1400" dirty="0"/>
              <a:t>Before you run some examples, you need to </a:t>
            </a:r>
            <a:r>
              <a:rPr lang="en-US" altLang="ko-KR" sz="1400" b="1" dirty="0"/>
              <a:t>create a file in the </a:t>
            </a:r>
            <a:r>
              <a:rPr lang="en-US" altLang="ko-KR" sz="1400" b="1" dirty="0" err="1"/>
              <a:t>Minikube</a:t>
            </a:r>
            <a:r>
              <a:rPr lang="en-US" altLang="ko-KR" sz="1400" b="1" dirty="0"/>
              <a:t> container</a:t>
            </a:r>
            <a:r>
              <a:rPr lang="en-US" altLang="ko-KR" sz="1400" dirty="0"/>
              <a:t>. </a:t>
            </a:r>
            <a:r>
              <a:rPr lang="en-US" altLang="ko-KR" sz="1400" b="1" dirty="0"/>
              <a:t>To copy host file into container</a:t>
            </a:r>
            <a:r>
              <a:rPr lang="en-US" altLang="ko-KR" sz="1400" dirty="0"/>
              <a:t>, you can use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Then </a:t>
            </a:r>
            <a:r>
              <a:rPr lang="en-US" altLang="ko-KR" sz="1400" b="1" dirty="0"/>
              <a:t>create </a:t>
            </a:r>
            <a:r>
              <a:rPr lang="en-US" altLang="ko-KR" sz="1400" b="1" dirty="0" err="1"/>
              <a:t>PersistentVolume</a:t>
            </a:r>
            <a:r>
              <a:rPr lang="en-US" altLang="ko-KR" sz="1400" b="1" dirty="0"/>
              <a:t> </a:t>
            </a:r>
            <a:r>
              <a:rPr lang="en-US" altLang="ko-KR" sz="1400" dirty="0"/>
              <a:t>with the following YAML file.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31A02CAF-A10F-0B24-3679-A334AE2EBA1F}"/>
              </a:ext>
            </a:extLst>
          </p:cNvPr>
          <p:cNvGrpSpPr/>
          <p:nvPr/>
        </p:nvGrpSpPr>
        <p:grpSpPr>
          <a:xfrm>
            <a:off x="3047343" y="4162261"/>
            <a:ext cx="6097314" cy="2246769"/>
            <a:chOff x="3047343" y="3429000"/>
            <a:chExt cx="6097314" cy="2246769"/>
          </a:xfrm>
        </p:grpSpPr>
        <p:sp>
          <p:nvSpPr>
            <p:cNvPr id="8" name="TextBox 7">
              <a:extLst>
                <a:ext uri="{FF2B5EF4-FFF2-40B4-BE49-F238E27FC236}">
                  <a16:creationId xmlns:a16="http://schemas.microsoft.com/office/drawing/2014/main" id="{3BF2AD01-CEE6-4F7B-9663-3D4B2A842574}"/>
                </a:ext>
              </a:extLst>
            </p:cNvPr>
            <p:cNvSpPr txBox="1"/>
            <p:nvPr/>
          </p:nvSpPr>
          <p:spPr>
            <a:xfrm>
              <a:off x="3047343" y="3429000"/>
              <a:ext cx="6097314" cy="2246769"/>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task-</a:t>
              </a:r>
              <a:r>
                <a:rPr lang="en-US" altLang="ko-KR" sz="1000" b="1" dirty="0" err="1">
                  <a:solidFill>
                    <a:srgbClr val="FF0000"/>
                  </a:solidFill>
                </a:rPr>
                <a:t>pv</a:t>
              </a:r>
              <a:r>
                <a:rPr lang="en-US" altLang="ko-KR" sz="1000" b="1" dirty="0">
                  <a:solidFill>
                    <a:srgbClr val="FF0000"/>
                  </a:solidFill>
                </a:rPr>
                <a:t>-volume</a:t>
              </a:r>
            </a:p>
            <a:p>
              <a:r>
                <a:rPr lang="en-US" altLang="ko-KR" sz="1000" b="1" dirty="0"/>
                <a:t>  labels:</a:t>
              </a:r>
            </a:p>
            <a:p>
              <a:r>
                <a:rPr lang="en-US" altLang="ko-KR" sz="1000" b="1" dirty="0"/>
                <a:t>    type: </a:t>
              </a:r>
              <a:r>
                <a:rPr lang="en-US" altLang="ko-KR" sz="1000" b="1" dirty="0">
                  <a:solidFill>
                    <a:srgbClr val="FF0000"/>
                  </a:solidFill>
                </a:rPr>
                <a:t>local</a:t>
              </a:r>
            </a:p>
            <a:p>
              <a:r>
                <a:rPr lang="en-US" altLang="ko-KR" sz="1000" b="1" dirty="0"/>
                <a:t>spec:</a:t>
              </a:r>
            </a:p>
            <a:p>
              <a:r>
                <a:rPr lang="en-US" altLang="ko-KR" sz="1000" b="1" dirty="0"/>
                <a:t>  </a:t>
              </a:r>
              <a:r>
                <a:rPr lang="en-US" altLang="ko-KR" sz="1000" b="1" dirty="0" err="1"/>
                <a:t>storageClassName</a:t>
              </a:r>
              <a:r>
                <a:rPr lang="en-US" altLang="ko-KR" sz="1000" b="1" dirty="0"/>
                <a:t>: </a:t>
              </a:r>
              <a:r>
                <a:rPr lang="en-US" altLang="ko-KR" sz="1000" b="1" dirty="0">
                  <a:solidFill>
                    <a:srgbClr val="FF0000"/>
                  </a:solidFill>
                </a:rPr>
                <a:t>manual</a:t>
              </a:r>
            </a:p>
            <a:p>
              <a:r>
                <a:rPr lang="en-US" altLang="ko-KR" sz="1000" b="1" dirty="0"/>
                <a:t>  capacity:</a:t>
              </a:r>
            </a:p>
            <a:p>
              <a:r>
                <a:rPr lang="en-US" altLang="ko-KR" sz="1000" b="1" dirty="0"/>
                <a:t>    </a:t>
              </a:r>
              <a:r>
                <a:rPr lang="en-US" altLang="ko-KR" sz="1000" b="1" dirty="0">
                  <a:solidFill>
                    <a:srgbClr val="FF0000"/>
                  </a:solidFill>
                </a:rPr>
                <a:t>storage: 10Gi</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solidFill>
                    <a:srgbClr val="FF0000"/>
                  </a:solidFill>
                </a:rPr>
                <a:t>ReadWriteOnce</a:t>
              </a:r>
              <a:endParaRPr lang="en-US" altLang="ko-KR" sz="1000" b="1" dirty="0">
                <a:solidFill>
                  <a:srgbClr val="FF0000"/>
                </a:solidFill>
              </a:endParaRPr>
            </a:p>
            <a:p>
              <a:r>
                <a:rPr lang="en-US" altLang="ko-KR" sz="1000" b="1" dirty="0"/>
                <a:t>  </a:t>
              </a:r>
              <a:r>
                <a:rPr lang="en-US" altLang="ko-KR" sz="1000" b="1" dirty="0" err="1">
                  <a:solidFill>
                    <a:srgbClr val="FF0000"/>
                  </a:solidFill>
                </a:rPr>
                <a:t>hostPath</a:t>
              </a:r>
              <a:r>
                <a:rPr lang="en-US" altLang="ko-KR" sz="1000" b="1" dirty="0"/>
                <a:t>:</a:t>
              </a:r>
            </a:p>
            <a:p>
              <a:r>
                <a:rPr lang="en-US" altLang="ko-KR" sz="1000" b="1" dirty="0"/>
                <a:t>    </a:t>
              </a:r>
              <a:r>
                <a:rPr lang="en-US" altLang="ko-KR" sz="1000" b="1" dirty="0">
                  <a:solidFill>
                    <a:srgbClr val="FF0000"/>
                  </a:solidFill>
                </a:rPr>
                <a:t>path: "/</a:t>
              </a:r>
              <a:r>
                <a:rPr lang="en-US" altLang="ko-KR" sz="1000" b="1" dirty="0" err="1">
                  <a:solidFill>
                    <a:srgbClr val="FF0000"/>
                  </a:solidFill>
                </a:rPr>
                <a:t>mnt</a:t>
              </a:r>
              <a:r>
                <a:rPr lang="en-US" altLang="ko-KR" sz="1000" b="1" dirty="0">
                  <a:solidFill>
                    <a:srgbClr val="FF0000"/>
                  </a:solidFill>
                </a:rPr>
                <a:t>/data"</a:t>
              </a:r>
              <a:endParaRPr lang="ko-KR" altLang="en-US" sz="1000" b="1" dirty="0">
                <a:solidFill>
                  <a:srgbClr val="FF0000"/>
                </a:solidFill>
              </a:endParaRPr>
            </a:p>
          </p:txBody>
        </p:sp>
        <p:sp>
          <p:nvSpPr>
            <p:cNvPr id="9" name="TextBox 8">
              <a:extLst>
                <a:ext uri="{FF2B5EF4-FFF2-40B4-BE49-F238E27FC236}">
                  <a16:creationId xmlns:a16="http://schemas.microsoft.com/office/drawing/2014/main" id="{C92AB8C4-E214-86BA-4901-A3C0FD10119E}"/>
                </a:ext>
              </a:extLst>
            </p:cNvPr>
            <p:cNvSpPr txBox="1"/>
            <p:nvPr/>
          </p:nvSpPr>
          <p:spPr>
            <a:xfrm>
              <a:off x="7525303" y="3429000"/>
              <a:ext cx="1619354" cy="246221"/>
            </a:xfrm>
            <a:prstGeom prst="rect">
              <a:avLst/>
            </a:prstGeom>
            <a:noFill/>
          </p:spPr>
          <p:txBody>
            <a:bodyPr wrap="none" rtlCol="0">
              <a:spAutoFit/>
            </a:bodyPr>
            <a:lstStyle/>
            <a:p>
              <a:pPr algn="l"/>
              <a:r>
                <a:rPr lang="en-US" altLang="ko-KR" sz="1000" b="1" dirty="0" err="1"/>
                <a:t>persistent_volume.yaml</a:t>
              </a:r>
              <a:endParaRPr lang="ko-KR" altLang="en-US" sz="1000" b="1" dirty="0"/>
            </a:p>
          </p:txBody>
        </p:sp>
      </p:grpSp>
      <p:grpSp>
        <p:nvGrpSpPr>
          <p:cNvPr id="15" name="그룹 14">
            <a:extLst>
              <a:ext uri="{FF2B5EF4-FFF2-40B4-BE49-F238E27FC236}">
                <a16:creationId xmlns:a16="http://schemas.microsoft.com/office/drawing/2014/main" id="{B8B5A28F-8BA2-35C2-259E-7FC44AC9EE5E}"/>
              </a:ext>
            </a:extLst>
          </p:cNvPr>
          <p:cNvGrpSpPr/>
          <p:nvPr/>
        </p:nvGrpSpPr>
        <p:grpSpPr>
          <a:xfrm>
            <a:off x="1342697" y="1605823"/>
            <a:ext cx="9506606" cy="2046163"/>
            <a:chOff x="1342697" y="1732372"/>
            <a:chExt cx="9506606" cy="2046163"/>
          </a:xfrm>
        </p:grpSpPr>
        <p:sp>
          <p:nvSpPr>
            <p:cNvPr id="10" name="TextBox 9">
              <a:extLst>
                <a:ext uri="{FF2B5EF4-FFF2-40B4-BE49-F238E27FC236}">
                  <a16:creationId xmlns:a16="http://schemas.microsoft.com/office/drawing/2014/main" id="{0BAF1779-DB11-5CE0-8C55-3A27D0CE4A6C}"/>
                </a:ext>
              </a:extLst>
            </p:cNvPr>
            <p:cNvSpPr txBox="1"/>
            <p:nvPr/>
          </p:nvSpPr>
          <p:spPr>
            <a:xfrm>
              <a:off x="2692014" y="1732372"/>
              <a:ext cx="6807972" cy="246221"/>
            </a:xfrm>
            <a:prstGeom prst="rect">
              <a:avLst/>
            </a:prstGeom>
            <a:noFill/>
            <a:ln>
              <a:solidFill>
                <a:schemeClr val="bg1">
                  <a:lumMod val="50000"/>
                </a:schemeClr>
              </a:solidFill>
            </a:ln>
          </p:spPr>
          <p:txBody>
            <a:bodyPr wrap="square" rtlCol="0">
              <a:spAutoFit/>
            </a:bodyPr>
            <a:lstStyle/>
            <a:p>
              <a:pPr algn="l"/>
              <a:r>
                <a:rPr lang="en-US" altLang="ko-KR" sz="1000" b="1" dirty="0"/>
                <a:t>$ docker cp </a:t>
              </a:r>
              <a:r>
                <a:rPr lang="en-US" altLang="ko-KR" sz="1000" b="1" dirty="0">
                  <a:solidFill>
                    <a:srgbClr val="FF0000"/>
                  </a:solidFill>
                </a:rPr>
                <a:t>[</a:t>
              </a:r>
              <a:r>
                <a:rPr lang="en-US" altLang="ko-KR" sz="1000" b="1" dirty="0" err="1">
                  <a:solidFill>
                    <a:srgbClr val="FF0000"/>
                  </a:solidFill>
                </a:rPr>
                <a:t>file_name</a:t>
              </a:r>
              <a:r>
                <a:rPr lang="en-US" altLang="ko-KR" sz="1000" b="1" dirty="0">
                  <a:solidFill>
                    <a:srgbClr val="FF0000"/>
                  </a:solidFill>
                </a:rPr>
                <a:t>] container:[destination]</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8A2A84D7-678E-061C-6EE7-C6E01B3A2C72}"/>
                </a:ext>
              </a:extLst>
            </p:cNvPr>
            <p:cNvSpPr/>
            <p:nvPr/>
          </p:nvSpPr>
          <p:spPr>
            <a:xfrm>
              <a:off x="5887106" y="1989564"/>
              <a:ext cx="417787" cy="28375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134251D5-74D1-41DD-C98B-786791E94514}"/>
                </a:ext>
              </a:extLst>
            </p:cNvPr>
            <p:cNvPicPr>
              <a:picLocks noChangeAspect="1"/>
            </p:cNvPicPr>
            <p:nvPr/>
          </p:nvPicPr>
          <p:blipFill>
            <a:blip r:embed="rId2"/>
            <a:stretch>
              <a:fillRect/>
            </a:stretch>
          </p:blipFill>
          <p:spPr>
            <a:xfrm>
              <a:off x="1342697" y="2273323"/>
              <a:ext cx="9506606" cy="1505212"/>
            </a:xfrm>
            <a:prstGeom prst="rect">
              <a:avLst/>
            </a:prstGeom>
          </p:spPr>
        </p:pic>
        <p:sp>
          <p:nvSpPr>
            <p:cNvPr id="14" name="직사각형 13">
              <a:extLst>
                <a:ext uri="{FF2B5EF4-FFF2-40B4-BE49-F238E27FC236}">
                  <a16:creationId xmlns:a16="http://schemas.microsoft.com/office/drawing/2014/main" id="{DF167B0F-4BB9-19BC-3824-3EAB60A4B416}"/>
                </a:ext>
              </a:extLst>
            </p:cNvPr>
            <p:cNvSpPr/>
            <p:nvPr/>
          </p:nvSpPr>
          <p:spPr>
            <a:xfrm>
              <a:off x="5376041" y="2695739"/>
              <a:ext cx="2577662" cy="1689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33134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Minikube</a:t>
            </a:r>
            <a:r>
              <a:rPr lang="en-US" altLang="ko-KR" sz="2800" b="1" dirty="0"/>
              <a:t> with Persistent Volume(2/6)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Persistent Volume Claim :</a:t>
            </a:r>
          </a:p>
          <a:p>
            <a:pPr lvl="1">
              <a:buFont typeface="Wingdings" panose="05000000000000000000" pitchFamily="2" charset="2"/>
              <a:buChar char="§"/>
            </a:pPr>
            <a:r>
              <a:rPr lang="en-US" altLang="ko-KR" sz="1400" b="1" dirty="0"/>
              <a:t>The previous configuration file(persistent-</a:t>
            </a:r>
            <a:r>
              <a:rPr lang="en-US" altLang="ko-KR" sz="1400" b="1" dirty="0" err="1"/>
              <a:t>volume.yaml</a:t>
            </a:r>
            <a:r>
              <a:rPr lang="en-US" altLang="ko-KR" sz="1400" b="1" dirty="0"/>
              <a:t>) specifies that the volume is at “/home/shkwon/Projects/</a:t>
            </a:r>
            <a:r>
              <a:rPr lang="en-US" altLang="ko-KR" sz="1400" b="1" dirty="0" err="1"/>
              <a:t>Kubernetes_In_Action</a:t>
            </a:r>
            <a:r>
              <a:rPr lang="en-US" altLang="ko-KR" sz="1400" b="1" dirty="0"/>
              <a:t>/Part04/data” on the cluster's Node</a:t>
            </a:r>
            <a:r>
              <a:rPr lang="en-US" altLang="ko-KR" sz="1400" dirty="0"/>
              <a:t>. The configuration also specifies </a:t>
            </a:r>
            <a:r>
              <a:rPr lang="en-US" altLang="ko-KR" sz="1400" b="1" dirty="0"/>
              <a:t>a size of 10 gibibytes </a:t>
            </a:r>
            <a:r>
              <a:rPr lang="en-US" altLang="ko-KR" sz="1400" dirty="0"/>
              <a:t>and </a:t>
            </a:r>
            <a:r>
              <a:rPr lang="en-US" altLang="ko-KR" sz="1400" b="1" dirty="0"/>
              <a:t>an access mode of “</a:t>
            </a:r>
            <a:r>
              <a:rPr lang="en-US" altLang="ko-KR" sz="1400" b="1" dirty="0" err="1"/>
              <a:t>ReadWriteOnce</a:t>
            </a:r>
            <a:r>
              <a:rPr lang="en-US" altLang="ko-KR" sz="1400" b="1" dirty="0"/>
              <a:t>”</a:t>
            </a:r>
            <a:r>
              <a:rPr lang="en-US" altLang="ko-KR" sz="1400" dirty="0"/>
              <a:t>, </a:t>
            </a:r>
            <a:r>
              <a:rPr lang="en-US" altLang="ko-KR" sz="1400" b="1" dirty="0"/>
              <a:t>which means the volume can be mounted as read-write by a single Node</a:t>
            </a:r>
            <a:r>
              <a:rPr lang="en-US" altLang="ko-KR" sz="1400" dirty="0"/>
              <a:t>. It defines the </a:t>
            </a:r>
            <a:r>
              <a:rPr lang="en-US" altLang="ko-KR" sz="1400" b="1" dirty="0" err="1"/>
              <a:t>StorageClass</a:t>
            </a:r>
            <a:r>
              <a:rPr lang="en-US" altLang="ko-KR" sz="1400" dirty="0"/>
              <a:t> name “</a:t>
            </a:r>
            <a:r>
              <a:rPr lang="en-US" altLang="ko-KR" sz="1400" b="1" dirty="0"/>
              <a:t>manual”</a:t>
            </a:r>
            <a:r>
              <a:rPr lang="en-US" altLang="ko-KR" sz="1400" dirty="0"/>
              <a:t> </a:t>
            </a:r>
            <a:r>
              <a:rPr lang="en-US" altLang="ko-KR" sz="1400" b="1" dirty="0"/>
              <a:t>for the </a:t>
            </a:r>
            <a:r>
              <a:rPr lang="en-US" altLang="ko-KR" sz="1400" b="1" dirty="0" err="1"/>
              <a:t>PersistentVolume</a:t>
            </a:r>
            <a:r>
              <a:rPr lang="en-US" altLang="ko-KR" sz="1400" b="1" dirty="0"/>
              <a:t>, which will be used to bind </a:t>
            </a:r>
            <a:r>
              <a:rPr lang="en-US" altLang="ko-KR" sz="1400" b="1" dirty="0" err="1">
                <a:solidFill>
                  <a:srgbClr val="FF0000"/>
                </a:solidFill>
              </a:rPr>
              <a:t>PersistentVolumeClaim</a:t>
            </a:r>
            <a:r>
              <a:rPr lang="en-US" altLang="ko-KR" sz="1400" b="1" dirty="0"/>
              <a:t> requests to this </a:t>
            </a:r>
            <a:r>
              <a:rPr lang="en-US" altLang="ko-KR" sz="1400" b="1" dirty="0" err="1"/>
              <a:t>PersistentVolume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3D6F71A6-EA52-0D0D-0BCF-2B800AA6BBDC}"/>
              </a:ext>
            </a:extLst>
          </p:cNvPr>
          <p:cNvGrpSpPr/>
          <p:nvPr/>
        </p:nvGrpSpPr>
        <p:grpSpPr>
          <a:xfrm>
            <a:off x="1674799" y="2462161"/>
            <a:ext cx="8842401" cy="3067838"/>
            <a:chOff x="1674799" y="2580403"/>
            <a:chExt cx="8842401" cy="3067838"/>
          </a:xfrm>
        </p:grpSpPr>
        <p:grpSp>
          <p:nvGrpSpPr>
            <p:cNvPr id="11" name="그룹 10">
              <a:extLst>
                <a:ext uri="{FF2B5EF4-FFF2-40B4-BE49-F238E27FC236}">
                  <a16:creationId xmlns:a16="http://schemas.microsoft.com/office/drawing/2014/main" id="{9295DC59-AACC-D3DD-7BF2-8747913FC9F4}"/>
                </a:ext>
              </a:extLst>
            </p:cNvPr>
            <p:cNvGrpSpPr/>
            <p:nvPr/>
          </p:nvGrpSpPr>
          <p:grpSpPr>
            <a:xfrm>
              <a:off x="1674799" y="2580403"/>
              <a:ext cx="8842401" cy="3067838"/>
              <a:chOff x="1674799" y="1997079"/>
              <a:chExt cx="8842401" cy="3067838"/>
            </a:xfrm>
          </p:grpSpPr>
          <p:pic>
            <p:nvPicPr>
              <p:cNvPr id="8" name="그림 7">
                <a:extLst>
                  <a:ext uri="{FF2B5EF4-FFF2-40B4-BE49-F238E27FC236}">
                    <a16:creationId xmlns:a16="http://schemas.microsoft.com/office/drawing/2014/main" id="{55718648-6BC7-33D4-A723-B152724314F4}"/>
                  </a:ext>
                </a:extLst>
              </p:cNvPr>
              <p:cNvPicPr>
                <a:picLocks noChangeAspect="1"/>
              </p:cNvPicPr>
              <p:nvPr/>
            </p:nvPicPr>
            <p:blipFill>
              <a:blip r:embed="rId2"/>
              <a:stretch>
                <a:fillRect/>
              </a:stretch>
            </p:blipFill>
            <p:spPr>
              <a:xfrm>
                <a:off x="1674799" y="1997079"/>
                <a:ext cx="8842401" cy="1621107"/>
              </a:xfrm>
              <a:prstGeom prst="rect">
                <a:avLst/>
              </a:prstGeom>
            </p:spPr>
          </p:pic>
          <p:pic>
            <p:nvPicPr>
              <p:cNvPr id="10" name="그림 9">
                <a:extLst>
                  <a:ext uri="{FF2B5EF4-FFF2-40B4-BE49-F238E27FC236}">
                    <a16:creationId xmlns:a16="http://schemas.microsoft.com/office/drawing/2014/main" id="{0FE9A321-7C34-655C-F389-9EC141CDB028}"/>
                  </a:ext>
                </a:extLst>
              </p:cNvPr>
              <p:cNvPicPr>
                <a:picLocks noChangeAspect="1"/>
              </p:cNvPicPr>
              <p:nvPr/>
            </p:nvPicPr>
            <p:blipFill>
              <a:blip r:embed="rId3"/>
              <a:stretch>
                <a:fillRect/>
              </a:stretch>
            </p:blipFill>
            <p:spPr>
              <a:xfrm>
                <a:off x="1674799" y="3664870"/>
                <a:ext cx="8842401" cy="1400047"/>
              </a:xfrm>
              <a:prstGeom prst="rect">
                <a:avLst/>
              </a:prstGeom>
            </p:spPr>
          </p:pic>
        </p:grpSp>
        <p:sp>
          <p:nvSpPr>
            <p:cNvPr id="12" name="직사각형 11">
              <a:extLst>
                <a:ext uri="{FF2B5EF4-FFF2-40B4-BE49-F238E27FC236}">
                  <a16:creationId xmlns:a16="http://schemas.microsoft.com/office/drawing/2014/main" id="{166CC083-1E65-78E4-1D4F-59FF0282BCF0}"/>
                </a:ext>
              </a:extLst>
            </p:cNvPr>
            <p:cNvSpPr/>
            <p:nvPr/>
          </p:nvSpPr>
          <p:spPr>
            <a:xfrm>
              <a:off x="5423338" y="2971800"/>
              <a:ext cx="2364828"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37DD8645-7E84-2B66-2175-2282AF99D3BB}"/>
                </a:ext>
              </a:extLst>
            </p:cNvPr>
            <p:cNvSpPr/>
            <p:nvPr/>
          </p:nvSpPr>
          <p:spPr>
            <a:xfrm>
              <a:off x="5423338" y="3479522"/>
              <a:ext cx="1757855"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4501B967-8D05-2F99-1742-229C55AE9FDA}"/>
                </a:ext>
              </a:extLst>
            </p:cNvPr>
            <p:cNvSpPr/>
            <p:nvPr/>
          </p:nvSpPr>
          <p:spPr>
            <a:xfrm>
              <a:off x="5431221" y="4632322"/>
              <a:ext cx="1757855" cy="1919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16548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Minikube</a:t>
            </a:r>
            <a:r>
              <a:rPr lang="en-US" altLang="ko-KR" sz="2800" b="1" dirty="0"/>
              <a:t> with Persistent Volume(3/6)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PersistentVolumeClaim</a:t>
            </a:r>
            <a:r>
              <a:rPr lang="en-US" altLang="ko-KR" sz="1800" b="1" dirty="0"/>
              <a:t> :</a:t>
            </a:r>
          </a:p>
          <a:p>
            <a:pPr lvl="1">
              <a:buFont typeface="Wingdings" panose="05000000000000000000" pitchFamily="2" charset="2"/>
              <a:buChar char="§"/>
            </a:pPr>
            <a:r>
              <a:rPr lang="en-US" altLang="ko-KR" sz="1400" b="1" dirty="0"/>
              <a:t>The next step is to create a </a:t>
            </a:r>
            <a:r>
              <a:rPr lang="en-US" altLang="ko-KR" sz="1400" b="1" dirty="0" err="1">
                <a:solidFill>
                  <a:srgbClr val="FF0000"/>
                </a:solidFill>
              </a:rPr>
              <a:t>PersistentVolumeClaim</a:t>
            </a:r>
            <a:r>
              <a:rPr lang="en-US" altLang="ko-KR" sz="1400" dirty="0"/>
              <a:t>. </a:t>
            </a:r>
            <a:r>
              <a:rPr lang="en-US" altLang="ko-KR" sz="1400" b="1" dirty="0"/>
              <a:t>Pods use </a:t>
            </a:r>
            <a:r>
              <a:rPr lang="en-US" altLang="ko-KR" sz="1400" b="1" dirty="0" err="1"/>
              <a:t>PersistentVolumeClaims</a:t>
            </a:r>
            <a:r>
              <a:rPr lang="en-US" altLang="ko-KR" sz="1400" b="1" dirty="0"/>
              <a:t> to request physical storage</a:t>
            </a:r>
            <a:r>
              <a:rPr lang="en-US" altLang="ko-KR" sz="1400" dirty="0"/>
              <a:t>. In this exercise, you create </a:t>
            </a:r>
            <a:r>
              <a:rPr lang="en-US" altLang="ko-KR" sz="1400" b="1" dirty="0"/>
              <a:t>a </a:t>
            </a:r>
            <a:r>
              <a:rPr lang="en-US" altLang="ko-KR" sz="1400" b="1" dirty="0" err="1"/>
              <a:t>PersistentVolumeClaim</a:t>
            </a:r>
            <a:r>
              <a:rPr lang="en-US" altLang="ko-KR" sz="1400" b="1" dirty="0"/>
              <a:t> that requests a volume of at least three gibibytes that can provide read-write access for at least one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866E4C80-92CD-7B9C-40C5-9F80F4F70354}"/>
              </a:ext>
            </a:extLst>
          </p:cNvPr>
          <p:cNvGrpSpPr/>
          <p:nvPr/>
        </p:nvGrpSpPr>
        <p:grpSpPr>
          <a:xfrm>
            <a:off x="1522686" y="2088169"/>
            <a:ext cx="9146628" cy="3900095"/>
            <a:chOff x="1522685" y="2529603"/>
            <a:chExt cx="9146628" cy="3900095"/>
          </a:xfrm>
        </p:grpSpPr>
        <p:grpSp>
          <p:nvGrpSpPr>
            <p:cNvPr id="14" name="그룹 13">
              <a:extLst>
                <a:ext uri="{FF2B5EF4-FFF2-40B4-BE49-F238E27FC236}">
                  <a16:creationId xmlns:a16="http://schemas.microsoft.com/office/drawing/2014/main" id="{F151AEC0-81A2-0840-544D-8FC1B0733F49}"/>
                </a:ext>
              </a:extLst>
            </p:cNvPr>
            <p:cNvGrpSpPr/>
            <p:nvPr/>
          </p:nvGrpSpPr>
          <p:grpSpPr>
            <a:xfrm>
              <a:off x="1522685" y="2529603"/>
              <a:ext cx="9146628" cy="3900095"/>
              <a:chOff x="1522684" y="2324652"/>
              <a:chExt cx="9146628" cy="3900095"/>
            </a:xfrm>
          </p:grpSpPr>
          <p:pic>
            <p:nvPicPr>
              <p:cNvPr id="8" name="그림 7">
                <a:extLst>
                  <a:ext uri="{FF2B5EF4-FFF2-40B4-BE49-F238E27FC236}">
                    <a16:creationId xmlns:a16="http://schemas.microsoft.com/office/drawing/2014/main" id="{3967E1F6-929A-AA13-A4FF-FF8218622775}"/>
                  </a:ext>
                </a:extLst>
              </p:cNvPr>
              <p:cNvPicPr>
                <a:picLocks noChangeAspect="1"/>
              </p:cNvPicPr>
              <p:nvPr/>
            </p:nvPicPr>
            <p:blipFill>
              <a:blip r:embed="rId2"/>
              <a:stretch>
                <a:fillRect/>
              </a:stretch>
            </p:blipFill>
            <p:spPr>
              <a:xfrm>
                <a:off x="1522684" y="4403044"/>
                <a:ext cx="9146628" cy="1821703"/>
              </a:xfrm>
              <a:prstGeom prst="rect">
                <a:avLst/>
              </a:prstGeom>
            </p:spPr>
          </p:pic>
          <p:grpSp>
            <p:nvGrpSpPr>
              <p:cNvPr id="12" name="그룹 11">
                <a:extLst>
                  <a:ext uri="{FF2B5EF4-FFF2-40B4-BE49-F238E27FC236}">
                    <a16:creationId xmlns:a16="http://schemas.microsoft.com/office/drawing/2014/main" id="{D1823387-7C3C-6A61-187C-5364A5806408}"/>
                  </a:ext>
                </a:extLst>
              </p:cNvPr>
              <p:cNvGrpSpPr/>
              <p:nvPr/>
            </p:nvGrpSpPr>
            <p:grpSpPr>
              <a:xfrm>
                <a:off x="3047341" y="2324652"/>
                <a:ext cx="6097314" cy="1785104"/>
                <a:chOff x="3047341" y="2324652"/>
                <a:chExt cx="6097314" cy="1785104"/>
              </a:xfrm>
            </p:grpSpPr>
            <p:sp>
              <p:nvSpPr>
                <p:cNvPr id="10" name="TextBox 9">
                  <a:extLst>
                    <a:ext uri="{FF2B5EF4-FFF2-40B4-BE49-F238E27FC236}">
                      <a16:creationId xmlns:a16="http://schemas.microsoft.com/office/drawing/2014/main" id="{C3B21B95-B802-B1D5-22B3-405FE5385BA5}"/>
                    </a:ext>
                  </a:extLst>
                </p:cNvPr>
                <p:cNvSpPr txBox="1"/>
                <p:nvPr/>
              </p:nvSpPr>
              <p:spPr>
                <a:xfrm>
                  <a:off x="3047341" y="2324652"/>
                  <a:ext cx="6097314"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task-</a:t>
                  </a:r>
                  <a:r>
                    <a:rPr lang="en-US" altLang="ko-KR" sz="1000" b="1" dirty="0" err="1">
                      <a:solidFill>
                        <a:srgbClr val="FF0000"/>
                      </a:solidFill>
                    </a:rPr>
                    <a:t>pv</a:t>
                  </a:r>
                  <a:r>
                    <a:rPr lang="en-US" altLang="ko-KR" sz="1000" b="1" dirty="0">
                      <a:solidFill>
                        <a:srgbClr val="FF0000"/>
                      </a:solidFill>
                    </a:rPr>
                    <a:t>-claim</a:t>
                  </a:r>
                </a:p>
                <a:p>
                  <a:r>
                    <a:rPr lang="en-US" altLang="ko-KR" sz="1000" b="1" dirty="0"/>
                    <a:t>spec:</a:t>
                  </a:r>
                </a:p>
                <a:p>
                  <a:r>
                    <a:rPr lang="en-US" altLang="ko-KR" sz="1000" b="1" dirty="0"/>
                    <a:t>  </a:t>
                  </a:r>
                  <a:r>
                    <a:rPr lang="en-US" altLang="ko-KR" sz="1000" b="1" dirty="0" err="1"/>
                    <a:t>storageClassName</a:t>
                  </a:r>
                  <a:r>
                    <a:rPr lang="en-US" altLang="ko-KR" sz="1000" b="1" dirty="0"/>
                    <a:t>: </a:t>
                  </a:r>
                  <a:r>
                    <a:rPr lang="en-US" altLang="ko-KR" sz="1000" b="1" dirty="0">
                      <a:solidFill>
                        <a:srgbClr val="FF0000"/>
                      </a:solidFill>
                    </a:rPr>
                    <a:t>manual</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solidFill>
                        <a:srgbClr val="FF0000"/>
                      </a:solidFill>
                    </a:rPr>
                    <a:t>ReadWriteOnce</a:t>
                  </a:r>
                  <a:endParaRPr lang="en-US" altLang="ko-KR" sz="1000" b="1" dirty="0">
                    <a:solidFill>
                      <a:srgbClr val="FF0000"/>
                    </a:solidFill>
                  </a:endParaRPr>
                </a:p>
                <a:p>
                  <a:r>
                    <a:rPr lang="en-US" altLang="ko-KR" sz="1000" b="1" dirty="0"/>
                    <a:t>  resources:</a:t>
                  </a:r>
                </a:p>
                <a:p>
                  <a:r>
                    <a:rPr lang="en-US" altLang="ko-KR" sz="1000" b="1" dirty="0"/>
                    <a:t>    </a:t>
                  </a:r>
                  <a:r>
                    <a:rPr lang="en-US" altLang="ko-KR" sz="1000" b="1" dirty="0">
                      <a:solidFill>
                        <a:srgbClr val="FF0000"/>
                      </a:solidFill>
                    </a:rPr>
                    <a:t>requests:</a:t>
                  </a:r>
                </a:p>
                <a:p>
                  <a:r>
                    <a:rPr lang="en-US" altLang="ko-KR" sz="1000" b="1" dirty="0">
                      <a:solidFill>
                        <a:srgbClr val="FF0000"/>
                      </a:solidFill>
                    </a:rPr>
                    <a:t>      storage: 3Gi</a:t>
                  </a:r>
                </a:p>
              </p:txBody>
            </p:sp>
            <p:sp>
              <p:nvSpPr>
                <p:cNvPr id="11" name="TextBox 10">
                  <a:extLst>
                    <a:ext uri="{FF2B5EF4-FFF2-40B4-BE49-F238E27FC236}">
                      <a16:creationId xmlns:a16="http://schemas.microsoft.com/office/drawing/2014/main" id="{5CFB78B1-0918-95A5-65D0-97991F6CFF39}"/>
                    </a:ext>
                  </a:extLst>
                </p:cNvPr>
                <p:cNvSpPr txBox="1"/>
                <p:nvPr/>
              </p:nvSpPr>
              <p:spPr>
                <a:xfrm>
                  <a:off x="7153404" y="2324652"/>
                  <a:ext cx="1991251" cy="246221"/>
                </a:xfrm>
                <a:prstGeom prst="rect">
                  <a:avLst/>
                </a:prstGeom>
                <a:noFill/>
              </p:spPr>
              <p:txBody>
                <a:bodyPr wrap="none" rtlCol="0">
                  <a:spAutoFit/>
                </a:bodyPr>
                <a:lstStyle/>
                <a:p>
                  <a:pPr algn="l"/>
                  <a:r>
                    <a:rPr lang="en-US" altLang="ko-KR" sz="1000" b="1" dirty="0"/>
                    <a:t>persistent-volume-</a:t>
                  </a:r>
                  <a:r>
                    <a:rPr lang="en-US" altLang="ko-KR" sz="1000" b="1" dirty="0" err="1"/>
                    <a:t>claim.yaml</a:t>
                  </a:r>
                  <a:endParaRPr lang="ko-KR" altLang="en-US" sz="1000" b="1" dirty="0"/>
                </a:p>
              </p:txBody>
            </p:sp>
          </p:grpSp>
          <p:sp>
            <p:nvSpPr>
              <p:cNvPr id="13" name="화살표: 아래쪽 12">
                <a:extLst>
                  <a:ext uri="{FF2B5EF4-FFF2-40B4-BE49-F238E27FC236}">
                    <a16:creationId xmlns:a16="http://schemas.microsoft.com/office/drawing/2014/main" id="{061A7101-4236-8A86-0197-DC77155670BB}"/>
                  </a:ext>
                </a:extLst>
              </p:cNvPr>
              <p:cNvSpPr/>
              <p:nvPr/>
            </p:nvSpPr>
            <p:spPr>
              <a:xfrm>
                <a:off x="5902871" y="4133098"/>
                <a:ext cx="386255" cy="26994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2E450AF6-BDA6-81D8-A7EF-4FD2F3BE51D5}"/>
                </a:ext>
              </a:extLst>
            </p:cNvPr>
            <p:cNvSpPr/>
            <p:nvPr/>
          </p:nvSpPr>
          <p:spPr>
            <a:xfrm>
              <a:off x="5394434" y="5037083"/>
              <a:ext cx="1852449"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883A078C-5EF8-3CF0-D7BC-755A498E3744}"/>
                </a:ext>
              </a:extLst>
            </p:cNvPr>
            <p:cNvSpPr/>
            <p:nvPr/>
          </p:nvSpPr>
          <p:spPr>
            <a:xfrm>
              <a:off x="1608082" y="5433152"/>
              <a:ext cx="7449207" cy="1576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88771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Minikube</a:t>
            </a:r>
            <a:r>
              <a:rPr lang="en-US" altLang="ko-KR" sz="2800" b="1" dirty="0"/>
              <a:t> with Persistent Volume(4/6)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Pod :</a:t>
            </a:r>
          </a:p>
          <a:p>
            <a:pPr lvl="1">
              <a:buFont typeface="Wingdings" panose="05000000000000000000" pitchFamily="2" charset="2"/>
              <a:buChar char="§"/>
            </a:pPr>
            <a:r>
              <a:rPr lang="en-US" altLang="ko-KR" sz="1400" b="1" dirty="0"/>
              <a:t>The next step is to create </a:t>
            </a:r>
            <a:r>
              <a:rPr lang="en-US" altLang="ko-KR" sz="1400" b="1" dirty="0">
                <a:solidFill>
                  <a:srgbClr val="FF0000"/>
                </a:solidFill>
              </a:rPr>
              <a:t>a Pod that uses your </a:t>
            </a:r>
            <a:r>
              <a:rPr lang="en-US" altLang="ko-KR" sz="1400" b="1" dirty="0" err="1">
                <a:solidFill>
                  <a:srgbClr val="FF0000"/>
                </a:solidFill>
              </a:rPr>
              <a:t>PersistentVolumeClaim</a:t>
            </a:r>
            <a:r>
              <a:rPr lang="en-US" altLang="ko-KR" sz="1400" b="1" dirty="0">
                <a:solidFill>
                  <a:srgbClr val="FF0000"/>
                </a:solidFill>
              </a:rPr>
              <a:t> as a volume</a:t>
            </a:r>
            <a:r>
              <a:rPr lang="en-US" altLang="ko-KR" sz="1400" dirty="0"/>
              <a:t>. Here is the configuration file for the Pod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6F13EC15-92B9-3608-B568-4F7BA1AEC5F0}"/>
              </a:ext>
            </a:extLst>
          </p:cNvPr>
          <p:cNvGrpSpPr/>
          <p:nvPr/>
        </p:nvGrpSpPr>
        <p:grpSpPr>
          <a:xfrm>
            <a:off x="1427858" y="1641845"/>
            <a:ext cx="9336284" cy="4691163"/>
            <a:chOff x="1427858" y="1717867"/>
            <a:chExt cx="9336284" cy="4691163"/>
          </a:xfrm>
        </p:grpSpPr>
        <p:grpSp>
          <p:nvGrpSpPr>
            <p:cNvPr id="10" name="그룹 9">
              <a:extLst>
                <a:ext uri="{FF2B5EF4-FFF2-40B4-BE49-F238E27FC236}">
                  <a16:creationId xmlns:a16="http://schemas.microsoft.com/office/drawing/2014/main" id="{D8742D72-5EAB-EADD-49CE-B6D799B31BC2}"/>
                </a:ext>
              </a:extLst>
            </p:cNvPr>
            <p:cNvGrpSpPr/>
            <p:nvPr/>
          </p:nvGrpSpPr>
          <p:grpSpPr>
            <a:xfrm>
              <a:off x="3047342" y="1717867"/>
              <a:ext cx="6097314" cy="2862322"/>
              <a:chOff x="3047343" y="1646589"/>
              <a:chExt cx="6097314" cy="2862322"/>
            </a:xfrm>
          </p:grpSpPr>
          <p:sp>
            <p:nvSpPr>
              <p:cNvPr id="8" name="TextBox 7">
                <a:extLst>
                  <a:ext uri="{FF2B5EF4-FFF2-40B4-BE49-F238E27FC236}">
                    <a16:creationId xmlns:a16="http://schemas.microsoft.com/office/drawing/2014/main" id="{5199D47D-F320-88E7-87C8-466C7E13A95F}"/>
                  </a:ext>
                </a:extLst>
              </p:cNvPr>
              <p:cNvSpPr txBox="1"/>
              <p:nvPr/>
            </p:nvSpPr>
            <p:spPr>
              <a:xfrm>
                <a:off x="3047343" y="1646589"/>
                <a:ext cx="6097314"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a:solidFill>
                      <a:srgbClr val="FF0000"/>
                    </a:solidFill>
                  </a:rPr>
                  <a:t>task-</a:t>
                </a:r>
                <a:r>
                  <a:rPr lang="en-US" altLang="ko-KR" sz="1000" b="1" dirty="0" err="1">
                    <a:solidFill>
                      <a:srgbClr val="FF0000"/>
                    </a:solidFill>
                  </a:rPr>
                  <a:t>pv</a:t>
                </a:r>
                <a:r>
                  <a:rPr lang="en-US" altLang="ko-KR" sz="1000" b="1" dirty="0">
                    <a:solidFill>
                      <a:srgbClr val="FF0000"/>
                    </a:solidFill>
                  </a:rPr>
                  <a:t>-pod</a:t>
                </a:r>
              </a:p>
              <a:p>
                <a:r>
                  <a:rPr lang="en-US" altLang="ko-KR" sz="1000" b="1" dirty="0"/>
                  <a:t>spec:</a:t>
                </a:r>
              </a:p>
              <a:p>
                <a:r>
                  <a:rPr lang="en-US" altLang="ko-KR" sz="1000" b="1" dirty="0">
                    <a:solidFill>
                      <a:srgbClr val="FF0000"/>
                    </a:solidFill>
                  </a:rPr>
                  <a:t>  volumes:</a:t>
                </a:r>
              </a:p>
              <a:p>
                <a:r>
                  <a:rPr lang="en-US" altLang="ko-KR" sz="1000" b="1" dirty="0">
                    <a:solidFill>
                      <a:srgbClr val="FF0000"/>
                    </a:solidFill>
                  </a:rPr>
                  <a:t>  - name: task-</a:t>
                </a:r>
                <a:r>
                  <a:rPr lang="en-US" altLang="ko-KR" sz="1000" b="1" dirty="0" err="1">
                    <a:solidFill>
                      <a:srgbClr val="FF0000"/>
                    </a:solidFill>
                  </a:rPr>
                  <a:t>pv</a:t>
                </a:r>
                <a:r>
                  <a:rPr lang="en-US" altLang="ko-KR" sz="1000" b="1" dirty="0">
                    <a:solidFill>
                      <a:srgbClr val="FF0000"/>
                    </a:solidFill>
                  </a:rPr>
                  <a:t>-storage</a:t>
                </a:r>
              </a:p>
              <a:p>
                <a:r>
                  <a:rPr lang="en-US" altLang="ko-KR" sz="1000" b="1" dirty="0">
                    <a:solidFill>
                      <a:srgbClr val="FF0000"/>
                    </a:solidFill>
                  </a:rPr>
                  <a:t>    </a:t>
                </a:r>
                <a:r>
                  <a:rPr lang="en-US" altLang="ko-KR" sz="1000" b="1" dirty="0" err="1">
                    <a:solidFill>
                      <a:srgbClr val="FF0000"/>
                    </a:solidFill>
                  </a:rPr>
                  <a:t>persistentVolumeClaim</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claimName</a:t>
                </a:r>
                <a:r>
                  <a:rPr lang="en-US" altLang="ko-KR" sz="1000" b="1" dirty="0">
                    <a:solidFill>
                      <a:srgbClr val="FF0000"/>
                    </a:solidFill>
                  </a:rPr>
                  <a:t>: task-</a:t>
                </a:r>
                <a:r>
                  <a:rPr lang="en-US" altLang="ko-KR" sz="1000" b="1" dirty="0" err="1">
                    <a:solidFill>
                      <a:srgbClr val="FF0000"/>
                    </a:solidFill>
                  </a:rPr>
                  <a:t>pv</a:t>
                </a:r>
                <a:r>
                  <a:rPr lang="en-US" altLang="ko-KR" sz="1000" b="1" dirty="0">
                    <a:solidFill>
                      <a:srgbClr val="FF0000"/>
                    </a:solidFill>
                  </a:rPr>
                  <a:t>-claim</a:t>
                </a:r>
              </a:p>
              <a:p>
                <a:r>
                  <a:rPr lang="en-US" altLang="ko-KR" sz="1000" b="1" dirty="0"/>
                  <a:t>  containers:</a:t>
                </a:r>
              </a:p>
              <a:p>
                <a:r>
                  <a:rPr lang="en-US" altLang="ko-KR" sz="1000" b="1" dirty="0"/>
                  <a:t>  - name: task-</a:t>
                </a:r>
                <a:r>
                  <a:rPr lang="en-US" altLang="ko-KR" sz="1000" b="1" dirty="0" err="1"/>
                  <a:t>pv</a:t>
                </a:r>
                <a:r>
                  <a:rPr lang="en-US" altLang="ko-KR" sz="1000" b="1" dirty="0"/>
                  <a:t>-container</a:t>
                </a:r>
              </a:p>
              <a:p>
                <a:r>
                  <a:rPr lang="en-US" altLang="ko-KR" sz="1000" b="1" dirty="0"/>
                  <a:t>    image: nginx</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name: "http-server"</a:t>
                </a:r>
              </a:p>
              <a:p>
                <a:r>
                  <a:rPr lang="en-US" altLang="ko-KR" sz="1000" b="1" dirty="0">
                    <a:solidFill>
                      <a:srgbClr val="FF0000"/>
                    </a:solidFill>
                  </a:rPr>
                  <a:t>    </a:t>
                </a:r>
                <a:r>
                  <a:rPr lang="en-US" altLang="ko-KR" sz="1000" b="1" dirty="0" err="1">
                    <a:solidFill>
                      <a:srgbClr val="FF0000"/>
                    </a:solidFill>
                  </a:rPr>
                  <a:t>volumeMounts</a:t>
                </a:r>
                <a:r>
                  <a:rPr lang="en-US" altLang="ko-KR" sz="1000" b="1" dirty="0">
                    <a:solidFill>
                      <a:srgbClr val="FF0000"/>
                    </a:solidFill>
                  </a:rPr>
                  <a:t>:</a:t>
                </a:r>
              </a:p>
              <a:p>
                <a:r>
                  <a:rPr lang="en-US" altLang="ko-KR" sz="1000" b="1" dirty="0">
                    <a:solidFill>
                      <a:srgbClr val="FF0000"/>
                    </a:solidFill>
                  </a:rPr>
                  <a:t>    - </a:t>
                </a:r>
                <a:r>
                  <a:rPr lang="en-US" altLang="ko-KR" sz="1000" b="1" dirty="0" err="1">
                    <a:solidFill>
                      <a:srgbClr val="FF0000"/>
                    </a:solidFill>
                  </a:rPr>
                  <a:t>mountPath</a:t>
                </a:r>
                <a:r>
                  <a:rPr lang="en-US" altLang="ko-KR" sz="1000" b="1" dirty="0">
                    <a:solidFill>
                      <a:srgbClr val="FF0000"/>
                    </a:solidFill>
                  </a:rPr>
                  <a:t>: "/</a:t>
                </a:r>
                <a:r>
                  <a:rPr lang="en-US" altLang="ko-KR" sz="1000" b="1" dirty="0" err="1">
                    <a:solidFill>
                      <a:srgbClr val="FF0000"/>
                    </a:solidFill>
                  </a:rPr>
                  <a:t>usr</a:t>
                </a:r>
                <a:r>
                  <a:rPr lang="en-US" altLang="ko-KR" sz="1000" b="1" dirty="0">
                    <a:solidFill>
                      <a:srgbClr val="FF0000"/>
                    </a:solidFill>
                  </a:rPr>
                  <a:t>/share/nginx/html"</a:t>
                </a:r>
              </a:p>
              <a:p>
                <a:r>
                  <a:rPr lang="en-US" altLang="ko-KR" sz="1000" b="1" dirty="0">
                    <a:solidFill>
                      <a:srgbClr val="FF0000"/>
                    </a:solidFill>
                  </a:rPr>
                  <a:t>      name: task-</a:t>
                </a:r>
                <a:r>
                  <a:rPr lang="en-US" altLang="ko-KR" sz="1000" b="1" dirty="0" err="1">
                    <a:solidFill>
                      <a:srgbClr val="FF0000"/>
                    </a:solidFill>
                  </a:rPr>
                  <a:t>pv</a:t>
                </a:r>
                <a:r>
                  <a:rPr lang="en-US" altLang="ko-KR" sz="1000" b="1" dirty="0">
                    <a:solidFill>
                      <a:srgbClr val="FF0000"/>
                    </a:solidFill>
                  </a:rPr>
                  <a:t>-storage</a:t>
                </a:r>
                <a:endParaRPr lang="ko-KR" altLang="en-US" sz="1000" b="1" dirty="0">
                  <a:solidFill>
                    <a:srgbClr val="FF0000"/>
                  </a:solidFill>
                </a:endParaRPr>
              </a:p>
            </p:txBody>
          </p:sp>
          <p:sp>
            <p:nvSpPr>
              <p:cNvPr id="9" name="TextBox 8">
                <a:extLst>
                  <a:ext uri="{FF2B5EF4-FFF2-40B4-BE49-F238E27FC236}">
                    <a16:creationId xmlns:a16="http://schemas.microsoft.com/office/drawing/2014/main" id="{FFE70785-79DF-4A03-F752-6D2783E867D4}"/>
                  </a:ext>
                </a:extLst>
              </p:cNvPr>
              <p:cNvSpPr txBox="1"/>
              <p:nvPr/>
            </p:nvSpPr>
            <p:spPr>
              <a:xfrm>
                <a:off x="7233556" y="1646589"/>
                <a:ext cx="1911101" cy="246221"/>
              </a:xfrm>
              <a:prstGeom prst="rect">
                <a:avLst/>
              </a:prstGeom>
              <a:noFill/>
            </p:spPr>
            <p:txBody>
              <a:bodyPr wrap="none" rtlCol="0">
                <a:spAutoFit/>
              </a:bodyPr>
              <a:lstStyle/>
              <a:p>
                <a:pPr algn="l"/>
                <a:r>
                  <a:rPr lang="en-US" altLang="ko-KR" sz="1000" b="1" dirty="0"/>
                  <a:t>persistent-volume-</a:t>
                </a:r>
                <a:r>
                  <a:rPr lang="en-US" altLang="ko-KR" sz="1000" b="1" dirty="0" err="1"/>
                  <a:t>pod.yaml</a:t>
                </a:r>
                <a:endParaRPr lang="ko-KR" altLang="en-US" sz="1000" b="1" dirty="0"/>
              </a:p>
            </p:txBody>
          </p:sp>
        </p:grpSp>
        <p:pic>
          <p:nvPicPr>
            <p:cNvPr id="12" name="그림 11">
              <a:extLst>
                <a:ext uri="{FF2B5EF4-FFF2-40B4-BE49-F238E27FC236}">
                  <a16:creationId xmlns:a16="http://schemas.microsoft.com/office/drawing/2014/main" id="{AB0A0880-1608-FB7A-0E2A-995F2192A351}"/>
                </a:ext>
              </a:extLst>
            </p:cNvPr>
            <p:cNvPicPr>
              <a:picLocks noChangeAspect="1"/>
            </p:cNvPicPr>
            <p:nvPr/>
          </p:nvPicPr>
          <p:blipFill>
            <a:blip r:embed="rId2"/>
            <a:stretch>
              <a:fillRect/>
            </a:stretch>
          </p:blipFill>
          <p:spPr>
            <a:xfrm>
              <a:off x="1427858" y="4899664"/>
              <a:ext cx="9336284" cy="1509366"/>
            </a:xfrm>
            <a:prstGeom prst="rect">
              <a:avLst/>
            </a:prstGeom>
          </p:spPr>
        </p:pic>
        <p:sp>
          <p:nvSpPr>
            <p:cNvPr id="13" name="화살표: 아래쪽 12">
              <a:extLst>
                <a:ext uri="{FF2B5EF4-FFF2-40B4-BE49-F238E27FC236}">
                  <a16:creationId xmlns:a16="http://schemas.microsoft.com/office/drawing/2014/main" id="{25E8953B-537E-B18C-39F9-75FCCBFE7F8D}"/>
                </a:ext>
              </a:extLst>
            </p:cNvPr>
            <p:cNvSpPr/>
            <p:nvPr/>
          </p:nvSpPr>
          <p:spPr>
            <a:xfrm>
              <a:off x="5891048" y="4603531"/>
              <a:ext cx="409903" cy="28377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7192DB7F-AE7E-CE06-7FB1-6C894F76620B}"/>
              </a:ext>
            </a:extLst>
          </p:cNvPr>
          <p:cNvSpPr/>
          <p:nvPr/>
        </p:nvSpPr>
        <p:spPr>
          <a:xfrm>
            <a:off x="5407572" y="5659821"/>
            <a:ext cx="2766849" cy="1340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DD2D3783-8B9B-AB0D-96CA-65207F02CE86}"/>
              </a:ext>
            </a:extLst>
          </p:cNvPr>
          <p:cNvSpPr/>
          <p:nvPr/>
        </p:nvSpPr>
        <p:spPr>
          <a:xfrm>
            <a:off x="5391806" y="5921536"/>
            <a:ext cx="2680138" cy="1462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367466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Minikube</a:t>
            </a:r>
            <a:r>
              <a:rPr lang="en-US" altLang="ko-KR" sz="2800" b="1" dirty="0"/>
              <a:t> with Persistent Volume(5/6)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the volume :</a:t>
            </a:r>
          </a:p>
          <a:p>
            <a:pPr lvl="1">
              <a:buFont typeface="Wingdings" panose="05000000000000000000" pitchFamily="2" charset="2"/>
              <a:buChar char="§"/>
            </a:pPr>
            <a:r>
              <a:rPr lang="en-US" altLang="ko-KR" sz="1400" dirty="0"/>
              <a:t>Now, you are </a:t>
            </a:r>
            <a:r>
              <a:rPr lang="en-US" altLang="ko-KR" sz="1400" b="1" dirty="0"/>
              <a:t>ready to access the Persistent Volume </a:t>
            </a:r>
            <a:r>
              <a:rPr lang="en-US" altLang="ko-KR" sz="1400" dirty="0"/>
              <a:t>with the following command. Here we will </a:t>
            </a:r>
            <a:r>
              <a:rPr lang="en-US" altLang="ko-KR" sz="1400" b="1" dirty="0"/>
              <a:t>use “curl” command to see the “index.html” file </a:t>
            </a:r>
            <a:r>
              <a:rPr lang="en-US" altLang="ko-KR" sz="1400" dirty="0"/>
              <a:t>in the mounted volume.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from the above screenshot, the </a:t>
            </a:r>
            <a:r>
              <a:rPr lang="en-US" altLang="ko-KR" sz="1400" b="1" dirty="0" err="1"/>
              <a:t>minikube</a:t>
            </a:r>
            <a:r>
              <a:rPr lang="en-US" altLang="ko-KR" sz="1400" b="1" dirty="0"/>
              <a:t> file(“index.html”) is mounted to the persistent volume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A58B90C3-B4C6-758E-AAD8-3041A5DD29CE}"/>
              </a:ext>
            </a:extLst>
          </p:cNvPr>
          <p:cNvGrpSpPr/>
          <p:nvPr/>
        </p:nvGrpSpPr>
        <p:grpSpPr>
          <a:xfrm>
            <a:off x="1763110" y="1708117"/>
            <a:ext cx="8665779" cy="3441765"/>
            <a:chOff x="1763109" y="1667783"/>
            <a:chExt cx="8665779" cy="3441765"/>
          </a:xfrm>
        </p:grpSpPr>
        <p:pic>
          <p:nvPicPr>
            <p:cNvPr id="8" name="그림 7">
              <a:extLst>
                <a:ext uri="{FF2B5EF4-FFF2-40B4-BE49-F238E27FC236}">
                  <a16:creationId xmlns:a16="http://schemas.microsoft.com/office/drawing/2014/main" id="{AAFE0C16-E5AC-B511-644B-E85C0EC65E6A}"/>
                </a:ext>
              </a:extLst>
            </p:cNvPr>
            <p:cNvPicPr>
              <a:picLocks noChangeAspect="1"/>
            </p:cNvPicPr>
            <p:nvPr/>
          </p:nvPicPr>
          <p:blipFill>
            <a:blip r:embed="rId2"/>
            <a:stretch>
              <a:fillRect/>
            </a:stretch>
          </p:blipFill>
          <p:spPr>
            <a:xfrm>
              <a:off x="1763109" y="2842002"/>
              <a:ext cx="8665779" cy="2267546"/>
            </a:xfrm>
            <a:prstGeom prst="rect">
              <a:avLst/>
            </a:prstGeom>
          </p:spPr>
        </p:pic>
        <p:sp>
          <p:nvSpPr>
            <p:cNvPr id="10" name="TextBox 9">
              <a:extLst>
                <a:ext uri="{FF2B5EF4-FFF2-40B4-BE49-F238E27FC236}">
                  <a16:creationId xmlns:a16="http://schemas.microsoft.com/office/drawing/2014/main" id="{137B891F-C38B-BA1A-9FA6-EBC7B5ACE3D2}"/>
                </a:ext>
              </a:extLst>
            </p:cNvPr>
            <p:cNvSpPr txBox="1"/>
            <p:nvPr/>
          </p:nvSpPr>
          <p:spPr>
            <a:xfrm>
              <a:off x="3047342" y="1667783"/>
              <a:ext cx="6097314" cy="861774"/>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persistent-</a:t>
              </a:r>
              <a:r>
                <a:rPr lang="en-US" altLang="ko-KR" sz="1000" b="1" dirty="0" err="1"/>
                <a:t>volume.yaml</a:t>
              </a:r>
              <a:endParaRPr lang="en-US" altLang="ko-KR" sz="1000" b="1" dirty="0"/>
            </a:p>
            <a:p>
              <a:r>
                <a:rPr lang="en-US" altLang="ko-KR" sz="1000" b="1" dirty="0"/>
                <a:t>$ </a:t>
              </a:r>
              <a:r>
                <a:rPr lang="en-US" altLang="ko-KR" sz="1000" b="1" dirty="0" err="1"/>
                <a:t>kubectl</a:t>
              </a:r>
              <a:r>
                <a:rPr lang="en-US" altLang="ko-KR" sz="1000" b="1" dirty="0"/>
                <a:t> apply -f persistent-volume-</a:t>
              </a:r>
              <a:r>
                <a:rPr lang="en-US" altLang="ko-KR" sz="1000" b="1" dirty="0" err="1"/>
                <a:t>claim.yaml</a:t>
              </a:r>
              <a:endParaRPr lang="en-US" altLang="ko-KR" sz="1000" b="1" dirty="0"/>
            </a:p>
            <a:p>
              <a:r>
                <a:rPr lang="en-US" altLang="ko-KR" sz="1000" b="1" dirty="0"/>
                <a:t>$ </a:t>
              </a:r>
              <a:r>
                <a:rPr lang="en-US" altLang="ko-KR" sz="1000" b="1" dirty="0" err="1"/>
                <a:t>kubectl</a:t>
              </a:r>
              <a:r>
                <a:rPr lang="en-US" altLang="ko-KR" sz="1000" b="1" dirty="0"/>
                <a:t> apply -f persistent-volume-</a:t>
              </a:r>
              <a:r>
                <a:rPr lang="en-US" altLang="ko-KR" sz="1000" b="1" dirty="0" err="1"/>
                <a:t>pod.yaml</a:t>
              </a:r>
              <a:endParaRPr lang="en-US" altLang="ko-KR" sz="1000" b="1" dirty="0"/>
            </a:p>
            <a:p>
              <a:r>
                <a:rPr lang="en-US" altLang="ko-KR" sz="1000" b="1" dirty="0"/>
                <a:t>$ </a:t>
              </a:r>
              <a:r>
                <a:rPr lang="en-US" altLang="ko-KR" sz="1000" b="1" dirty="0" err="1"/>
                <a:t>kubectl</a:t>
              </a:r>
              <a:r>
                <a:rPr lang="en-US" altLang="ko-KR" sz="1000" b="1" dirty="0"/>
                <a:t> exec -it task-</a:t>
              </a:r>
              <a:r>
                <a:rPr lang="en-US" altLang="ko-KR" sz="1000" b="1" dirty="0" err="1"/>
                <a:t>pv</a:t>
              </a:r>
              <a:r>
                <a:rPr lang="en-US" altLang="ko-KR" sz="1000" b="1" dirty="0"/>
                <a:t>-pod -- /bin/bash</a:t>
              </a:r>
            </a:p>
            <a:p>
              <a:r>
                <a:rPr lang="en-US" altLang="ko-KR" sz="1000" b="1" dirty="0">
                  <a:solidFill>
                    <a:srgbClr val="FF0000"/>
                  </a:solidFill>
                </a:rPr>
                <a:t>$ curl http://localhost/</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9A3F7D67-A3E2-5B51-69D4-E0DFEC5D74AC}"/>
                </a:ext>
              </a:extLst>
            </p:cNvPr>
            <p:cNvSpPr/>
            <p:nvPr/>
          </p:nvSpPr>
          <p:spPr>
            <a:xfrm>
              <a:off x="5867399" y="2547831"/>
              <a:ext cx="457200" cy="2758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97A57C5E-FEAB-874A-98A9-5DAC578B83AF}"/>
                </a:ext>
              </a:extLst>
            </p:cNvPr>
            <p:cNvSpPr/>
            <p:nvPr/>
          </p:nvSpPr>
          <p:spPr>
            <a:xfrm>
              <a:off x="3031576" y="4106917"/>
              <a:ext cx="1311824" cy="149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67649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Minikube</a:t>
            </a:r>
            <a:r>
              <a:rPr lang="en-US" altLang="ko-KR" sz="2800" b="1" dirty="0"/>
              <a:t> with Persistent Volume(6/6)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Remove the Persistent Volume :</a:t>
            </a:r>
          </a:p>
          <a:p>
            <a:pPr lvl="1">
              <a:buFont typeface="Wingdings" panose="05000000000000000000" pitchFamily="2" charset="2"/>
              <a:buChar char="§"/>
            </a:pPr>
            <a:r>
              <a:rPr lang="en-US" altLang="ko-KR" sz="1400" dirty="0"/>
              <a:t>After you finished the test, you can </a:t>
            </a:r>
            <a:r>
              <a:rPr lang="en-US" altLang="ko-KR" sz="1400" b="1" dirty="0"/>
              <a:t>remove the persistent volume </a:t>
            </a:r>
            <a:r>
              <a:rPr lang="en-US" altLang="ko-KR" sz="1400" dirty="0"/>
              <a:t>with the following commands sequence.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For more information, please see </a:t>
            </a:r>
            <a:r>
              <a:rPr lang="en-US" altLang="ko-KR" sz="1400" dirty="0"/>
              <a:t>“</a:t>
            </a:r>
            <a:r>
              <a:rPr lang="en-US" altLang="ko-KR" sz="1400" b="1" dirty="0">
                <a:hlinkClick r:id="rId2"/>
              </a:rPr>
              <a:t>https://kubernetes.io/docs/tasks/configure-pod-container/configure-persistent-volume-storage/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BA1AA98-317F-D72C-7BAE-387A16AC1D07}"/>
              </a:ext>
            </a:extLst>
          </p:cNvPr>
          <p:cNvGrpSpPr/>
          <p:nvPr/>
        </p:nvGrpSpPr>
        <p:grpSpPr>
          <a:xfrm>
            <a:off x="1346310" y="1603618"/>
            <a:ext cx="9499379" cy="2399384"/>
            <a:chOff x="1346310" y="1603618"/>
            <a:chExt cx="9499379" cy="2399384"/>
          </a:xfrm>
        </p:grpSpPr>
        <p:sp>
          <p:nvSpPr>
            <p:cNvPr id="8" name="TextBox 7">
              <a:extLst>
                <a:ext uri="{FF2B5EF4-FFF2-40B4-BE49-F238E27FC236}">
                  <a16:creationId xmlns:a16="http://schemas.microsoft.com/office/drawing/2014/main" id="{F4818F90-7960-E950-41E8-2924041990B4}"/>
                </a:ext>
              </a:extLst>
            </p:cNvPr>
            <p:cNvSpPr txBox="1"/>
            <p:nvPr/>
          </p:nvSpPr>
          <p:spPr>
            <a:xfrm>
              <a:off x="3047343" y="1603618"/>
              <a:ext cx="6097314"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-f </a:t>
              </a:r>
              <a:r>
                <a:rPr lang="en-US" altLang="ko-KR" sz="1000" b="1" dirty="0">
                  <a:solidFill>
                    <a:srgbClr val="FF0000"/>
                  </a:solidFill>
                </a:rPr>
                <a:t>persistent-volume-</a:t>
              </a:r>
              <a:r>
                <a:rPr lang="en-US" altLang="ko-KR" sz="1000" b="1" dirty="0" err="1">
                  <a:solidFill>
                    <a:srgbClr val="FF0000"/>
                  </a:solidFill>
                </a:rPr>
                <a:t>pod.yaml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delete -f </a:t>
              </a:r>
              <a:r>
                <a:rPr lang="en-US" altLang="ko-KR" sz="1000" b="1" dirty="0">
                  <a:solidFill>
                    <a:srgbClr val="FF0000"/>
                  </a:solidFill>
                </a:rPr>
                <a:t>persistent-volume-</a:t>
              </a:r>
              <a:r>
                <a:rPr lang="en-US" altLang="ko-KR" sz="1000" b="1" dirty="0" err="1">
                  <a:solidFill>
                    <a:srgbClr val="FF0000"/>
                  </a:solidFill>
                </a:rPr>
                <a:t>claim.yaml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delete -f </a:t>
              </a:r>
              <a:r>
                <a:rPr lang="en-US" altLang="ko-KR" sz="1000" b="1" dirty="0">
                  <a:solidFill>
                    <a:srgbClr val="FF0000"/>
                  </a:solidFill>
                </a:rPr>
                <a:t>persistent-</a:t>
              </a:r>
              <a:r>
                <a:rPr lang="en-US" altLang="ko-KR" sz="1000" b="1" dirty="0" err="1">
                  <a:solidFill>
                    <a:srgbClr val="FF0000"/>
                  </a:solidFill>
                </a:rPr>
                <a:t>volume.yaml</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8BD2A20A-90F0-42AD-6EDB-2C0A298C41C9}"/>
                </a:ext>
              </a:extLst>
            </p:cNvPr>
            <p:cNvSpPr/>
            <p:nvPr/>
          </p:nvSpPr>
          <p:spPr>
            <a:xfrm>
              <a:off x="5889077" y="2157616"/>
              <a:ext cx="413845" cy="31757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030AE55A-7277-88C0-61B7-91C2DF73B509}"/>
                </a:ext>
              </a:extLst>
            </p:cNvPr>
            <p:cNvPicPr>
              <a:picLocks noChangeAspect="1"/>
            </p:cNvPicPr>
            <p:nvPr/>
          </p:nvPicPr>
          <p:blipFill>
            <a:blip r:embed="rId3"/>
            <a:stretch>
              <a:fillRect/>
            </a:stretch>
          </p:blipFill>
          <p:spPr>
            <a:xfrm>
              <a:off x="1346310" y="2475186"/>
              <a:ext cx="9499379" cy="1527816"/>
            </a:xfrm>
            <a:prstGeom prst="rect">
              <a:avLst/>
            </a:prstGeom>
          </p:spPr>
        </p:pic>
      </p:grpSp>
    </p:spTree>
    <p:extLst>
      <p:ext uri="{BB962C8B-B14F-4D97-AF65-F5344CB8AC3E}">
        <p14:creationId xmlns:p14="http://schemas.microsoft.com/office/powerpoint/2010/main" val="17664181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Hiding the Actual Infrastructure :</a:t>
            </a:r>
          </a:p>
          <a:p>
            <a:pPr lvl="1">
              <a:buFont typeface="Wingdings" panose="05000000000000000000" pitchFamily="2" charset="2"/>
              <a:buChar char="§"/>
            </a:pPr>
            <a:r>
              <a:rPr lang="en-US" altLang="ko-KR" sz="1400" b="1" dirty="0"/>
              <a:t>All the persistent volume types we’ve explored so far have required the developer of the pod to have knowledge of the actual network storage infrastructure available in the cluster</a:t>
            </a:r>
            <a:r>
              <a:rPr lang="en-US" altLang="ko-KR" sz="1400" dirty="0"/>
              <a:t>. For example, to create a </a:t>
            </a:r>
            <a:r>
              <a:rPr lang="en-US" altLang="ko-KR" sz="1400" b="1" dirty="0"/>
              <a:t>NFS-backed volume</a:t>
            </a:r>
            <a:r>
              <a:rPr lang="en-US" altLang="ko-KR" sz="1400" dirty="0"/>
              <a:t>, the developer has to know the actual server the </a:t>
            </a:r>
            <a:r>
              <a:rPr lang="en-US" altLang="ko-KR" sz="1400" b="1" dirty="0"/>
              <a:t>NFS export </a:t>
            </a:r>
            <a:r>
              <a:rPr lang="en-US" altLang="ko-KR" sz="1400" dirty="0"/>
              <a:t>is located on. This is against </a:t>
            </a:r>
            <a:r>
              <a:rPr lang="en-US" altLang="ko-KR" sz="1400" b="1" dirty="0"/>
              <a:t>the basic idea of Kubernetes, which aims to </a:t>
            </a:r>
            <a:r>
              <a:rPr lang="en-US" altLang="ko-KR" sz="1400" b="1" dirty="0">
                <a:solidFill>
                  <a:srgbClr val="FF0000"/>
                </a:solidFill>
              </a:rPr>
              <a:t>hide the actual infrastructure </a:t>
            </a:r>
            <a:r>
              <a:rPr lang="en-US" altLang="ko-KR" sz="1400" b="1" dirty="0"/>
              <a:t>from both the application and its developer, leaving them free from worrying about the specifics of the infrastructure and making apps portable across a wide array of cloud providers and on-premises datacenters</a:t>
            </a:r>
            <a:r>
              <a:rPr lang="en-US" altLang="ko-KR" sz="1400" dirty="0"/>
              <a:t>. </a:t>
            </a:r>
          </a:p>
          <a:p>
            <a:pPr lvl="1">
              <a:buFont typeface="Wingdings" panose="05000000000000000000" pitchFamily="2" charset="2"/>
              <a:buChar char="§"/>
            </a:pPr>
            <a:r>
              <a:rPr lang="en-US" altLang="ko-KR" sz="1400" b="1" dirty="0"/>
              <a:t>Ideally, a developer deploying their apps on Kubernetes </a:t>
            </a:r>
            <a:r>
              <a:rPr lang="en-US" altLang="ko-KR" sz="1400" b="1" dirty="0">
                <a:solidFill>
                  <a:srgbClr val="FF0000"/>
                </a:solidFill>
              </a:rPr>
              <a:t>should never have to know what kind of storage technology is used underneath</a:t>
            </a:r>
            <a:r>
              <a:rPr lang="en-US" altLang="ko-KR" sz="1400" dirty="0"/>
              <a:t>, the same way </a:t>
            </a:r>
            <a:r>
              <a:rPr lang="en-US" altLang="ko-KR" sz="1400" b="1" dirty="0"/>
              <a:t>they don’t have to know what type of physical servers are being used to run their pods</a:t>
            </a:r>
            <a:r>
              <a:rPr lang="en-US" altLang="ko-KR" sz="1400" dirty="0"/>
              <a:t>. Infrastructure-related dealings should be the sole domain of the cluster administrator. </a:t>
            </a:r>
          </a:p>
          <a:p>
            <a:pPr lvl="1">
              <a:buFont typeface="Wingdings" panose="05000000000000000000" pitchFamily="2" charset="2"/>
              <a:buChar char="§"/>
            </a:pPr>
            <a:r>
              <a:rPr lang="en-US" altLang="ko-KR" sz="1400" b="1" dirty="0"/>
              <a:t>When a developer needs a certain amount of persistent storage for their application, they can </a:t>
            </a:r>
            <a:r>
              <a:rPr lang="en-US" altLang="ko-KR" sz="1400" b="1" dirty="0">
                <a:solidFill>
                  <a:srgbClr val="FF0000"/>
                </a:solidFill>
              </a:rPr>
              <a:t>request it from Kubernetes</a:t>
            </a:r>
            <a:r>
              <a:rPr lang="en-US" altLang="ko-KR" sz="1400" dirty="0"/>
              <a:t>, the same way they can </a:t>
            </a:r>
            <a:r>
              <a:rPr lang="en-US" altLang="ko-KR" sz="1400" b="1" dirty="0"/>
              <a:t>request CPU, memory, and other resources when creating a pod</a:t>
            </a:r>
            <a:r>
              <a:rPr lang="en-US" altLang="ko-KR" sz="1400" dirty="0"/>
              <a:t>. The system administrator can configure the cluster so it can give the apps what they request.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6E6F084-78CB-BBAC-881E-02C86D67E7D1}"/>
              </a:ext>
            </a:extLst>
          </p:cNvPr>
          <p:cNvPicPr>
            <a:picLocks noChangeAspect="1"/>
          </p:cNvPicPr>
          <p:nvPr/>
        </p:nvPicPr>
        <p:blipFill>
          <a:blip r:embed="rId2"/>
          <a:stretch>
            <a:fillRect/>
          </a:stretch>
        </p:blipFill>
        <p:spPr>
          <a:xfrm>
            <a:off x="4895751" y="3773334"/>
            <a:ext cx="2400497" cy="2420233"/>
          </a:xfrm>
          <a:prstGeom prst="rect">
            <a:avLst/>
          </a:prstGeom>
        </p:spPr>
      </p:pic>
    </p:spTree>
    <p:extLst>
      <p:ext uri="{BB962C8B-B14F-4D97-AF65-F5344CB8AC3E}">
        <p14:creationId xmlns:p14="http://schemas.microsoft.com/office/powerpoint/2010/main" val="18496954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Technology(2/25)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PersistentVolumes</a:t>
            </a:r>
            <a:r>
              <a:rPr lang="en-US" altLang="ko-KR" sz="1800" b="1" dirty="0"/>
              <a:t> and </a:t>
            </a:r>
            <a:r>
              <a:rPr lang="en-US" altLang="ko-KR" sz="1800" b="1" dirty="0" err="1"/>
              <a:t>PersistentVolumeClaims</a:t>
            </a:r>
            <a:r>
              <a:rPr lang="en-US" altLang="ko-KR" sz="1800" b="1" dirty="0"/>
              <a:t> :</a:t>
            </a:r>
          </a:p>
          <a:p>
            <a:pPr lvl="1">
              <a:buFont typeface="Wingdings" panose="05000000000000000000" pitchFamily="2" charset="2"/>
              <a:buChar char="§"/>
            </a:pPr>
            <a:r>
              <a:rPr lang="en-US" altLang="ko-KR" sz="1400" b="1" dirty="0"/>
              <a:t>To enable apps to request storage in a Kubernetes cluster without having to deal with infrastructure specifics, two new resources were introduced</a:t>
            </a:r>
            <a:r>
              <a:rPr lang="en-US" altLang="ko-KR" sz="1400" dirty="0"/>
              <a:t>. They are </a:t>
            </a:r>
            <a:r>
              <a:rPr lang="en-US" altLang="ko-KR" sz="1400" b="1" dirty="0" err="1">
                <a:solidFill>
                  <a:srgbClr val="FF0000"/>
                </a:solidFill>
              </a:rPr>
              <a:t>PersistentVolumes</a:t>
            </a:r>
            <a:r>
              <a:rPr lang="en-US" altLang="ko-KR" sz="1400" dirty="0"/>
              <a:t> and </a:t>
            </a:r>
            <a:r>
              <a:rPr lang="en-US" altLang="ko-KR" sz="1400" b="1" dirty="0" err="1">
                <a:solidFill>
                  <a:srgbClr val="FF0000"/>
                </a:solidFill>
              </a:rPr>
              <a:t>PersistentVolumeClaims</a:t>
            </a:r>
            <a:r>
              <a:rPr lang="en-US" altLang="ko-KR" sz="1400" dirty="0"/>
              <a:t>. The names may be a bit misleading, because as you’ve seen in the previous few sections, even regular Kubernetes volumes can be used to store persistent data.</a:t>
            </a:r>
          </a:p>
          <a:p>
            <a:pPr lvl="1">
              <a:buFont typeface="Wingdings" panose="05000000000000000000" pitchFamily="2" charset="2"/>
              <a:buChar char="§"/>
            </a:pPr>
            <a:r>
              <a:rPr lang="en-US" altLang="ko-KR" sz="1400" b="1" dirty="0"/>
              <a:t>Using a </a:t>
            </a:r>
            <a:r>
              <a:rPr lang="en-US" altLang="ko-KR" sz="1400" b="1" dirty="0" err="1"/>
              <a:t>PersistentVolume</a:t>
            </a:r>
            <a:r>
              <a:rPr lang="en-US" altLang="ko-KR" sz="1400" b="1" dirty="0"/>
              <a:t> inside a pod is a little more complex than using a regular pod volume</a:t>
            </a:r>
            <a:r>
              <a:rPr lang="en-US" altLang="ko-KR" sz="1400" dirty="0"/>
              <a:t>, so let’s illustrate how pods, </a:t>
            </a:r>
            <a:r>
              <a:rPr lang="en-US" altLang="ko-KR" sz="1400" b="1" dirty="0" err="1"/>
              <a:t>PersistentVolumeClaims</a:t>
            </a:r>
            <a:r>
              <a:rPr lang="en-US" altLang="ko-KR" sz="1400" dirty="0"/>
              <a:t>, </a:t>
            </a:r>
            <a:r>
              <a:rPr lang="en-US" altLang="ko-KR" sz="1400" b="1" dirty="0" err="1"/>
              <a:t>PersistentVolumes</a:t>
            </a:r>
            <a:r>
              <a:rPr lang="en-US" altLang="ko-KR" sz="1400" dirty="0"/>
              <a:t>, and the actual underlying storage relate to each other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FDB83867-AD03-1061-39D9-845380A4A57C}"/>
              </a:ext>
            </a:extLst>
          </p:cNvPr>
          <p:cNvGrpSpPr/>
          <p:nvPr/>
        </p:nvGrpSpPr>
        <p:grpSpPr>
          <a:xfrm>
            <a:off x="3443287" y="2878684"/>
            <a:ext cx="5305425" cy="2771775"/>
            <a:chOff x="3443287" y="2878684"/>
            <a:chExt cx="5305425" cy="2771775"/>
          </a:xfrm>
        </p:grpSpPr>
        <p:pic>
          <p:nvPicPr>
            <p:cNvPr id="8" name="그림 7">
              <a:extLst>
                <a:ext uri="{FF2B5EF4-FFF2-40B4-BE49-F238E27FC236}">
                  <a16:creationId xmlns:a16="http://schemas.microsoft.com/office/drawing/2014/main" id="{E095788A-3B84-BD14-34DB-0EDDF2B6A814}"/>
                </a:ext>
              </a:extLst>
            </p:cNvPr>
            <p:cNvPicPr>
              <a:picLocks noChangeAspect="1"/>
            </p:cNvPicPr>
            <p:nvPr/>
          </p:nvPicPr>
          <p:blipFill>
            <a:blip r:embed="rId2"/>
            <a:stretch>
              <a:fillRect/>
            </a:stretch>
          </p:blipFill>
          <p:spPr>
            <a:xfrm>
              <a:off x="3443287" y="2878684"/>
              <a:ext cx="5305425" cy="2771775"/>
            </a:xfrm>
            <a:prstGeom prst="rect">
              <a:avLst/>
            </a:prstGeom>
          </p:spPr>
        </p:pic>
        <p:sp>
          <p:nvSpPr>
            <p:cNvPr id="9" name="직사각형 8">
              <a:extLst>
                <a:ext uri="{FF2B5EF4-FFF2-40B4-BE49-F238E27FC236}">
                  <a16:creationId xmlns:a16="http://schemas.microsoft.com/office/drawing/2014/main" id="{FD81CFE7-AE19-37F6-ED3A-CA9104BEAFE2}"/>
                </a:ext>
              </a:extLst>
            </p:cNvPr>
            <p:cNvSpPr/>
            <p:nvPr/>
          </p:nvSpPr>
          <p:spPr>
            <a:xfrm>
              <a:off x="6936828" y="3358055"/>
              <a:ext cx="938048" cy="724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2164D867-2782-7F67-56AE-5277A1DFC907}"/>
                </a:ext>
              </a:extLst>
            </p:cNvPr>
            <p:cNvSpPr/>
            <p:nvPr/>
          </p:nvSpPr>
          <p:spPr>
            <a:xfrm>
              <a:off x="6253656" y="4288220"/>
              <a:ext cx="938048" cy="7246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994085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Technology(3/25)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PersistentVolumes</a:t>
            </a:r>
            <a:r>
              <a:rPr lang="en-US" altLang="ko-KR" sz="1800" b="1" dirty="0"/>
              <a:t> and </a:t>
            </a:r>
            <a:r>
              <a:rPr lang="en-US" altLang="ko-KR" sz="1800" b="1" dirty="0" err="1"/>
              <a:t>PersistentVolumeClaims</a:t>
            </a:r>
            <a:r>
              <a:rPr lang="en-US" altLang="ko-KR" sz="1800" b="1" dirty="0"/>
              <a:t> :</a:t>
            </a:r>
          </a:p>
          <a:p>
            <a:pPr lvl="1">
              <a:buFont typeface="Wingdings" panose="05000000000000000000" pitchFamily="2" charset="2"/>
              <a:buChar char="§"/>
            </a:pPr>
            <a:r>
              <a:rPr lang="en-US" altLang="ko-KR" sz="1400" dirty="0"/>
              <a:t>Instead of the developer adding a technology-specific volume to their pod, it’s </a:t>
            </a:r>
            <a:r>
              <a:rPr lang="en-US" altLang="ko-KR" sz="1400" b="1" dirty="0"/>
              <a:t>the cluster administrator who sets up the underlying storage and then registers it in Kubernetes by creating a </a:t>
            </a:r>
            <a:r>
              <a:rPr lang="en-US" altLang="ko-KR" sz="1400" b="1" dirty="0" err="1">
                <a:solidFill>
                  <a:srgbClr val="FF0000"/>
                </a:solidFill>
              </a:rPr>
              <a:t>PersistentVolume</a:t>
            </a:r>
            <a:r>
              <a:rPr lang="en-US" altLang="ko-KR" sz="1400" b="1" dirty="0">
                <a:solidFill>
                  <a:srgbClr val="FF0000"/>
                </a:solidFill>
              </a:rPr>
              <a:t> resource</a:t>
            </a:r>
            <a:r>
              <a:rPr lang="en-US" altLang="ko-KR" sz="1400" b="1" dirty="0"/>
              <a:t> through the Kubernetes API server</a:t>
            </a:r>
            <a:r>
              <a:rPr lang="en-US" altLang="ko-KR" sz="1400" dirty="0"/>
              <a:t>. When creating the </a:t>
            </a:r>
            <a:r>
              <a:rPr lang="en-US" altLang="ko-KR" sz="1400" b="1" dirty="0" err="1"/>
              <a:t>PersistentVolume</a:t>
            </a:r>
            <a:r>
              <a:rPr lang="en-US" altLang="ko-KR" sz="1400" dirty="0"/>
              <a:t>, the admin specifies its </a:t>
            </a:r>
            <a:r>
              <a:rPr lang="en-US" altLang="ko-KR" sz="1400" b="1" dirty="0"/>
              <a:t>size</a:t>
            </a:r>
            <a:r>
              <a:rPr lang="en-US" altLang="ko-KR" sz="1400" dirty="0"/>
              <a:t> and the </a:t>
            </a:r>
            <a:r>
              <a:rPr lang="en-US" altLang="ko-KR" sz="1400" b="1" dirty="0"/>
              <a:t>access modes </a:t>
            </a:r>
            <a:r>
              <a:rPr lang="en-US" altLang="ko-KR" sz="1400" dirty="0"/>
              <a:t>it supports. </a:t>
            </a:r>
          </a:p>
          <a:p>
            <a:pPr lvl="1">
              <a:buFont typeface="Wingdings" panose="05000000000000000000" pitchFamily="2" charset="2"/>
              <a:buChar char="§"/>
            </a:pPr>
            <a:r>
              <a:rPr lang="en-US" altLang="ko-KR" sz="1400" b="1" dirty="0"/>
              <a:t>When a cluster user needs to use persistent storage in one of their pods, they first create a </a:t>
            </a:r>
            <a:r>
              <a:rPr lang="en-US" altLang="ko-KR" sz="1400" b="1" dirty="0" err="1">
                <a:solidFill>
                  <a:srgbClr val="FF0000"/>
                </a:solidFill>
              </a:rPr>
              <a:t>PersistentVolumeClaim</a:t>
            </a:r>
            <a:r>
              <a:rPr lang="en-US" altLang="ko-KR" sz="1400" b="1" dirty="0">
                <a:solidFill>
                  <a:srgbClr val="FF0000"/>
                </a:solidFill>
              </a:rPr>
              <a:t> manifest</a:t>
            </a:r>
            <a:r>
              <a:rPr lang="en-US" altLang="ko-KR" sz="1400" dirty="0"/>
              <a:t>, specifying </a:t>
            </a:r>
            <a:r>
              <a:rPr lang="en-US" altLang="ko-KR" sz="1400" b="1" dirty="0"/>
              <a:t>the minimum size </a:t>
            </a:r>
            <a:r>
              <a:rPr lang="en-US" altLang="ko-KR" sz="1400" dirty="0"/>
              <a:t>and </a:t>
            </a:r>
            <a:r>
              <a:rPr lang="en-US" altLang="ko-KR" sz="1400" b="1" dirty="0"/>
              <a:t>the access mode </a:t>
            </a:r>
            <a:r>
              <a:rPr lang="en-US" altLang="ko-KR" sz="1400" dirty="0"/>
              <a:t>they require. The user then submits the </a:t>
            </a:r>
            <a:r>
              <a:rPr lang="en-US" altLang="ko-KR" sz="1400" b="1" dirty="0" err="1"/>
              <a:t>PersistentVolumeClaim</a:t>
            </a:r>
            <a:r>
              <a:rPr lang="en-US" altLang="ko-KR" sz="1400" dirty="0"/>
              <a:t> manifest to the Kubernetes API server, and </a:t>
            </a:r>
            <a:r>
              <a:rPr lang="en-US" altLang="ko-KR" sz="1400" b="1" dirty="0"/>
              <a:t>Kubernetes finds the appropriate </a:t>
            </a:r>
            <a:r>
              <a:rPr lang="en-US" altLang="ko-KR" sz="1400" b="1" dirty="0" err="1"/>
              <a:t>PersistentVolume</a:t>
            </a:r>
            <a:r>
              <a:rPr lang="en-US" altLang="ko-KR" sz="1400" b="1" dirty="0"/>
              <a:t> and </a:t>
            </a:r>
            <a:r>
              <a:rPr lang="en-US" altLang="ko-KR" sz="1400" b="1" dirty="0">
                <a:solidFill>
                  <a:srgbClr val="FF0000"/>
                </a:solidFill>
              </a:rPr>
              <a:t>binds the volume to the claim</a:t>
            </a:r>
            <a:r>
              <a:rPr lang="en-US" altLang="ko-KR" sz="1400" dirty="0"/>
              <a:t>. </a:t>
            </a:r>
            <a:r>
              <a:rPr lang="en-US" altLang="ko-KR" sz="1400" b="1" dirty="0"/>
              <a:t>The </a:t>
            </a:r>
            <a:r>
              <a:rPr lang="en-US" altLang="ko-KR" sz="1400" b="1" dirty="0" err="1"/>
              <a:t>PersistentVolumeClaim</a:t>
            </a:r>
            <a:r>
              <a:rPr lang="en-US" altLang="ko-KR" sz="1400" b="1" dirty="0"/>
              <a:t> can then be used as one of the volumes inside a pod</a:t>
            </a:r>
            <a:r>
              <a:rPr lang="en-US" altLang="ko-KR" sz="1400" dirty="0"/>
              <a:t>. </a:t>
            </a:r>
            <a:r>
              <a:rPr lang="en-US" altLang="ko-KR" sz="1400" b="1" dirty="0"/>
              <a:t>Other users cannot use the same </a:t>
            </a:r>
            <a:r>
              <a:rPr lang="en-US" altLang="ko-KR" sz="1400" b="1" dirty="0" err="1"/>
              <a:t>PersistentVolume</a:t>
            </a:r>
            <a:r>
              <a:rPr lang="en-US" altLang="ko-KR" sz="1400" b="1" dirty="0"/>
              <a:t> until it has been released by deleting the bound </a:t>
            </a:r>
            <a:r>
              <a:rPr lang="en-US" altLang="ko-KR" sz="1400" b="1" dirty="0" err="1"/>
              <a:t>PersistentVolumeClaim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30A4183-1856-355F-6BA8-66946F2A823F}"/>
              </a:ext>
            </a:extLst>
          </p:cNvPr>
          <p:cNvPicPr>
            <a:picLocks noChangeAspect="1"/>
          </p:cNvPicPr>
          <p:nvPr/>
        </p:nvPicPr>
        <p:blipFill>
          <a:blip r:embed="rId2"/>
          <a:stretch>
            <a:fillRect/>
          </a:stretch>
        </p:blipFill>
        <p:spPr>
          <a:xfrm>
            <a:off x="4460327" y="3360595"/>
            <a:ext cx="3271346" cy="2816991"/>
          </a:xfrm>
          <a:prstGeom prst="rect">
            <a:avLst/>
          </a:prstGeom>
        </p:spPr>
      </p:pic>
    </p:spTree>
    <p:extLst>
      <p:ext uri="{BB962C8B-B14F-4D97-AF65-F5344CB8AC3E}">
        <p14:creationId xmlns:p14="http://schemas.microsoft.com/office/powerpoint/2010/main" val="2030552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Technology(4/25)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PersistentVolume</a:t>
            </a:r>
            <a:r>
              <a:rPr lang="en-US" altLang="ko-KR" sz="1800" b="1" dirty="0"/>
              <a:t> :</a:t>
            </a:r>
          </a:p>
          <a:p>
            <a:pPr lvl="1">
              <a:buFont typeface="Wingdings" panose="05000000000000000000" pitchFamily="2" charset="2"/>
              <a:buChar char="§"/>
            </a:pPr>
            <a:r>
              <a:rPr lang="en-US" altLang="ko-KR" sz="1400" b="1" dirty="0"/>
              <a:t>Let’s revisit the MongoDB example, but unlike before, you won’t reference the Persistent Disk in the pod directly</a:t>
            </a:r>
            <a:r>
              <a:rPr lang="en-US" altLang="ko-KR" sz="1400" dirty="0"/>
              <a:t>. Instead, you’ll first assume </a:t>
            </a:r>
            <a:r>
              <a:rPr lang="en-US" altLang="ko-KR" sz="1400" b="1" dirty="0"/>
              <a:t>the role of a cluster administrator and create a </a:t>
            </a:r>
            <a:r>
              <a:rPr lang="en-US" altLang="ko-KR" sz="1400" b="1" dirty="0" err="1"/>
              <a:t>PersistentVolume</a:t>
            </a:r>
            <a:r>
              <a:rPr lang="en-US" altLang="ko-KR" sz="1400" b="1" dirty="0"/>
              <a:t> backed by the host(</a:t>
            </a:r>
            <a:r>
              <a:rPr lang="en-US" altLang="ko-KR" sz="1400" b="1" dirty="0" err="1"/>
              <a:t>minikube</a:t>
            </a:r>
            <a:r>
              <a:rPr lang="en-US" altLang="ko-KR" sz="1400" b="1" dirty="0"/>
              <a:t>) Persistent Disk</a:t>
            </a:r>
            <a:r>
              <a:rPr lang="en-US" altLang="ko-KR" sz="1400" dirty="0"/>
              <a:t>. Then you’ll assume the role of the application developer and </a:t>
            </a:r>
            <a:r>
              <a:rPr lang="en-US" altLang="ko-KR" sz="1400" b="1" dirty="0"/>
              <a:t>first claim the </a:t>
            </a:r>
            <a:r>
              <a:rPr lang="en-US" altLang="ko-KR" sz="1400" b="1" dirty="0" err="1"/>
              <a:t>PersistentVolume</a:t>
            </a:r>
            <a:r>
              <a:rPr lang="en-US" altLang="ko-KR" sz="1400" b="1" dirty="0"/>
              <a:t> </a:t>
            </a:r>
            <a:r>
              <a:rPr lang="en-US" altLang="ko-KR" sz="1400" dirty="0"/>
              <a:t>and then </a:t>
            </a:r>
            <a:r>
              <a:rPr lang="en-US" altLang="ko-KR" sz="1400" b="1" dirty="0"/>
              <a:t>use it inside your pod</a:t>
            </a:r>
            <a:r>
              <a:rPr lang="en-US" altLang="ko-KR" sz="1400" dirty="0"/>
              <a:t>.</a:t>
            </a:r>
          </a:p>
          <a:p>
            <a:pPr lvl="1">
              <a:buFont typeface="Wingdings" panose="05000000000000000000" pitchFamily="2" charset="2"/>
              <a:buChar char="§"/>
            </a:pPr>
            <a:r>
              <a:rPr lang="en-US" altLang="ko-KR" sz="1400" dirty="0"/>
              <a:t>All you need to do is </a:t>
            </a:r>
            <a:r>
              <a:rPr lang="en-US" altLang="ko-KR" sz="1400" b="1" dirty="0"/>
              <a:t>create the </a:t>
            </a:r>
            <a:r>
              <a:rPr lang="en-US" altLang="ko-KR" sz="1400" b="1" dirty="0" err="1"/>
              <a:t>PersistentVolume</a:t>
            </a:r>
            <a:r>
              <a:rPr lang="en-US" altLang="ko-KR" sz="1400" b="1" dirty="0"/>
              <a:t> resource </a:t>
            </a:r>
            <a:r>
              <a:rPr lang="en-US" altLang="ko-KR" sz="1400" dirty="0"/>
              <a:t>in Kubernetes by preparing the manifest shown in the following listing and posting it to the API server.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creating a </a:t>
            </a:r>
            <a:r>
              <a:rPr lang="en-US" altLang="ko-KR" sz="1400" b="1" dirty="0" err="1"/>
              <a:t>PersistentVolume</a:t>
            </a:r>
            <a:r>
              <a:rPr lang="en-US" altLang="ko-KR" sz="1400" dirty="0"/>
              <a:t>, the administrator needs to tell Kubernetes </a:t>
            </a:r>
            <a:r>
              <a:rPr lang="en-US" altLang="ko-KR" sz="1400" b="1" dirty="0"/>
              <a:t>what its capacity is </a:t>
            </a:r>
            <a:r>
              <a:rPr lang="en-US" altLang="ko-KR" sz="1400" dirty="0"/>
              <a:t>and </a:t>
            </a:r>
            <a:r>
              <a:rPr lang="en-US" altLang="ko-KR" sz="1400" b="1" dirty="0"/>
              <a:t>whether it can be read from and/or written to by a single node or by multiple nodes at the same time</a:t>
            </a:r>
            <a:r>
              <a:rPr lang="en-US" altLang="ko-KR" sz="1400" dirty="0"/>
              <a:t>. They also need to tell Kubernetes </a:t>
            </a:r>
            <a:r>
              <a:rPr lang="en-US" altLang="ko-KR" sz="1400" b="1" dirty="0"/>
              <a:t>what to do with the </a:t>
            </a:r>
            <a:r>
              <a:rPr lang="en-US" altLang="ko-KR" sz="1400" b="1" dirty="0" err="1"/>
              <a:t>PersistentVolume</a:t>
            </a:r>
            <a:r>
              <a:rPr lang="en-US" altLang="ko-KR" sz="1400" b="1" dirty="0"/>
              <a:t> when it’s released (when the </a:t>
            </a:r>
            <a:r>
              <a:rPr lang="en-US" altLang="ko-KR" sz="1400" b="1" dirty="0" err="1"/>
              <a:t>PersistentVolumeClaim</a:t>
            </a:r>
            <a:r>
              <a:rPr lang="en-US" altLang="ko-KR" sz="1400" b="1" dirty="0"/>
              <a:t> it’s bound to is deleted)</a:t>
            </a:r>
            <a:r>
              <a:rPr lang="en-US" altLang="ko-KR" sz="1400" dirty="0"/>
              <a:t>. And last, but certainly not least, they need to </a:t>
            </a:r>
            <a:r>
              <a:rPr lang="en-US" altLang="ko-KR" sz="1400" b="1" dirty="0"/>
              <a:t>specify the type, location, and other properties of the actual storage this </a:t>
            </a:r>
            <a:r>
              <a:rPr lang="en-US" altLang="ko-KR" sz="1400" b="1" dirty="0" err="1"/>
              <a:t>PersistentVolume</a:t>
            </a:r>
            <a:r>
              <a:rPr lang="en-US" altLang="ko-KR" sz="1400" b="1" dirty="0"/>
              <a:t> is backed by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C4C93AC0-E278-E98D-2CA9-D3F0728F98E8}"/>
              </a:ext>
            </a:extLst>
          </p:cNvPr>
          <p:cNvGrpSpPr/>
          <p:nvPr/>
        </p:nvGrpSpPr>
        <p:grpSpPr>
          <a:xfrm>
            <a:off x="3047343" y="2545277"/>
            <a:ext cx="6097314" cy="2092881"/>
            <a:chOff x="3047343" y="2622865"/>
            <a:chExt cx="6097314" cy="2092881"/>
          </a:xfrm>
        </p:grpSpPr>
        <p:sp>
          <p:nvSpPr>
            <p:cNvPr id="8" name="TextBox 7">
              <a:extLst>
                <a:ext uri="{FF2B5EF4-FFF2-40B4-BE49-F238E27FC236}">
                  <a16:creationId xmlns:a16="http://schemas.microsoft.com/office/drawing/2014/main" id="{A38ECF9E-F735-4BDF-EA81-6E574E248FD0}"/>
                </a:ext>
              </a:extLst>
            </p:cNvPr>
            <p:cNvSpPr txBox="1"/>
            <p:nvPr/>
          </p:nvSpPr>
          <p:spPr>
            <a:xfrm>
              <a:off x="3047343" y="2622865"/>
              <a:ext cx="6097314"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mongodb-pv</a:t>
              </a:r>
              <a:endParaRPr lang="en-US" altLang="ko-KR" sz="1000" b="1" dirty="0">
                <a:solidFill>
                  <a:srgbClr val="FF0000"/>
                </a:solidFill>
              </a:endParaRPr>
            </a:p>
            <a:p>
              <a:r>
                <a:rPr lang="en-US" altLang="ko-KR" sz="1000" b="1" dirty="0"/>
                <a:t>spec:</a:t>
              </a:r>
            </a:p>
            <a:p>
              <a:r>
                <a:rPr lang="en-US" altLang="ko-KR" sz="1000" b="1" dirty="0"/>
                <a:t>  capacity:</a:t>
              </a:r>
            </a:p>
            <a:p>
              <a:r>
                <a:rPr lang="en-US" altLang="ko-KR" sz="1000" b="1" dirty="0"/>
                <a:t>    storage: </a:t>
              </a:r>
              <a:r>
                <a:rPr lang="en-US" altLang="ko-KR" sz="1000" b="1" dirty="0">
                  <a:solidFill>
                    <a:srgbClr val="FF0000"/>
                  </a:solidFill>
                </a:rPr>
                <a:t>1Gi</a:t>
              </a:r>
            </a:p>
            <a:p>
              <a:r>
                <a:rPr lang="en-US" altLang="ko-KR" sz="1000" b="1" dirty="0"/>
                <a:t>  </a:t>
              </a:r>
              <a:r>
                <a:rPr lang="en-US" altLang="ko-KR" sz="1000" b="1" dirty="0" err="1"/>
                <a:t>accessModes</a:t>
              </a:r>
              <a:r>
                <a:rPr lang="en-US" altLang="ko-KR" sz="1000" b="1" dirty="0"/>
                <a:t>:</a:t>
              </a:r>
            </a:p>
            <a:p>
              <a:r>
                <a:rPr lang="en-US" altLang="ko-KR" sz="1000" b="1" dirty="0">
                  <a:solidFill>
                    <a:srgbClr val="FF0000"/>
                  </a:solidFill>
                </a:rPr>
                <a:t>  - </a:t>
              </a:r>
              <a:r>
                <a:rPr lang="en-US" altLang="ko-KR" sz="1000" b="1" dirty="0" err="1">
                  <a:solidFill>
                    <a:srgbClr val="FF0000"/>
                  </a:solidFill>
                </a:rPr>
                <a:t>ReadWriteOnce</a:t>
              </a:r>
              <a:endParaRPr lang="en-US" altLang="ko-KR" sz="1000" b="1" dirty="0">
                <a:solidFill>
                  <a:srgbClr val="FF0000"/>
                </a:solidFill>
              </a:endParaRPr>
            </a:p>
            <a:p>
              <a:r>
                <a:rPr lang="en-US" altLang="ko-KR" sz="1000" b="1" dirty="0">
                  <a:solidFill>
                    <a:srgbClr val="FF0000"/>
                  </a:solidFill>
                </a:rPr>
                <a:t>  - </a:t>
              </a:r>
              <a:r>
                <a:rPr lang="en-US" altLang="ko-KR" sz="1000" b="1" dirty="0" err="1">
                  <a:solidFill>
                    <a:srgbClr val="FF0000"/>
                  </a:solidFill>
                </a:rPr>
                <a:t>ReadOnlyMany</a:t>
              </a:r>
              <a:endParaRPr lang="en-US" altLang="ko-KR" sz="1000" b="1" dirty="0">
                <a:solidFill>
                  <a:srgbClr val="FF0000"/>
                </a:solidFill>
              </a:endParaRPr>
            </a:p>
            <a:p>
              <a:r>
                <a:rPr lang="en-US" altLang="ko-KR" sz="1000" b="1" dirty="0"/>
                <a:t>  </a:t>
              </a:r>
              <a:r>
                <a:rPr lang="en-US" altLang="ko-KR" sz="1000" b="1" dirty="0" err="1"/>
                <a:t>persistentVolumeReclaimPolicy</a:t>
              </a:r>
              <a:r>
                <a:rPr lang="en-US" altLang="ko-KR" sz="1000" b="1" dirty="0"/>
                <a:t>: </a:t>
              </a:r>
              <a:r>
                <a:rPr lang="en-US" altLang="ko-KR" sz="1000" b="1" dirty="0">
                  <a:solidFill>
                    <a:srgbClr val="FF0000"/>
                  </a:solidFill>
                </a:rPr>
                <a:t>Retain</a:t>
              </a:r>
            </a:p>
            <a:p>
              <a:r>
                <a:rPr lang="en-US" altLang="ko-KR" sz="1000" b="1" dirty="0"/>
                <a:t>  </a:t>
              </a:r>
              <a:r>
                <a:rPr lang="en-US" altLang="ko-KR" sz="1000" b="1" dirty="0" err="1"/>
                <a:t>hostPath</a:t>
              </a:r>
              <a:r>
                <a:rPr lang="en-US" altLang="ko-KR" sz="1000" b="1" dirty="0"/>
                <a:t>:</a:t>
              </a:r>
            </a:p>
            <a:p>
              <a:r>
                <a:rPr lang="en-US" altLang="ko-KR" sz="1000" b="1" dirty="0"/>
                <a:t>    path: </a:t>
              </a:r>
              <a:r>
                <a:rPr lang="en-US" altLang="ko-KR" sz="1000" b="1" dirty="0">
                  <a:solidFill>
                    <a:srgbClr val="FF0000"/>
                  </a:solidFill>
                </a:rPr>
                <a:t>/</a:t>
              </a:r>
              <a:r>
                <a:rPr lang="en-US" altLang="ko-KR" sz="1000" b="1" dirty="0" err="1">
                  <a:solidFill>
                    <a:srgbClr val="FF0000"/>
                  </a:solidFill>
                </a:rPr>
                <a:t>tmp</a:t>
              </a:r>
              <a:r>
                <a:rPr lang="en-US" altLang="ko-KR" sz="1000" b="1" dirty="0">
                  <a:solidFill>
                    <a:srgbClr val="FF0000"/>
                  </a:solidFill>
                </a:rPr>
                <a:t>/</a:t>
              </a:r>
              <a:r>
                <a:rPr lang="en-US" altLang="ko-KR" sz="1000" b="1" dirty="0" err="1">
                  <a:solidFill>
                    <a:srgbClr val="FF0000"/>
                  </a:solidFill>
                </a:rPr>
                <a:t>mongodb</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C8470AAF-11D4-789B-2DAB-D566098AAA49}"/>
                </a:ext>
              </a:extLst>
            </p:cNvPr>
            <p:cNvSpPr txBox="1"/>
            <p:nvPr/>
          </p:nvSpPr>
          <p:spPr>
            <a:xfrm>
              <a:off x="7236762" y="2622865"/>
              <a:ext cx="1907895" cy="246221"/>
            </a:xfrm>
            <a:prstGeom prst="rect">
              <a:avLst/>
            </a:prstGeom>
            <a:noFill/>
          </p:spPr>
          <p:txBody>
            <a:bodyPr wrap="none" rtlCol="0">
              <a:spAutoFit/>
            </a:bodyPr>
            <a:lstStyle/>
            <a:p>
              <a:pPr algn="l"/>
              <a:r>
                <a:rPr lang="en-US" altLang="ko-KR" sz="1000" b="1" dirty="0" err="1"/>
                <a:t>mongodb-pv-hostpath.yaml</a:t>
              </a:r>
              <a:endParaRPr lang="ko-KR" altLang="en-US" sz="1000" b="1" dirty="0"/>
            </a:p>
          </p:txBody>
        </p:sp>
      </p:grpSp>
    </p:spTree>
    <p:extLst>
      <p:ext uri="{BB962C8B-B14F-4D97-AF65-F5344CB8AC3E}">
        <p14:creationId xmlns:p14="http://schemas.microsoft.com/office/powerpoint/2010/main" val="3681593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Technology(5/25)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PersistentVolume</a:t>
            </a:r>
            <a:r>
              <a:rPr lang="en-US" altLang="ko-KR" sz="1800" b="1" dirty="0"/>
              <a:t> :</a:t>
            </a:r>
          </a:p>
          <a:p>
            <a:pPr lvl="1">
              <a:buFont typeface="Wingdings" panose="05000000000000000000" pitchFamily="2" charset="2"/>
              <a:buChar char="§"/>
            </a:pPr>
            <a:r>
              <a:rPr lang="en-US" altLang="ko-KR" sz="1400" b="1" dirty="0"/>
              <a:t>After you create the </a:t>
            </a:r>
            <a:r>
              <a:rPr lang="en-US" altLang="ko-KR" sz="1400" b="1" dirty="0" err="1"/>
              <a:t>PersistentVolume</a:t>
            </a:r>
            <a:r>
              <a:rPr lang="en-US" altLang="ko-KR" sz="1400" b="1" dirty="0"/>
              <a:t> with the “</a:t>
            </a:r>
            <a:r>
              <a:rPr lang="en-US" altLang="ko-KR" sz="1400" b="1" dirty="0" err="1"/>
              <a:t>kubectl</a:t>
            </a:r>
            <a:r>
              <a:rPr lang="en-US" altLang="ko-KR" sz="1400" b="1" dirty="0"/>
              <a:t> create” command</a:t>
            </a:r>
            <a:r>
              <a:rPr lang="en-US" altLang="ko-KR" sz="1400" dirty="0"/>
              <a:t>, it should be ready to be claimed. See if it is by </a:t>
            </a:r>
            <a:r>
              <a:rPr lang="en-US" altLang="ko-KR" sz="1400" b="1" dirty="0"/>
              <a:t>listing all </a:t>
            </a:r>
            <a:r>
              <a:rPr lang="en-US" altLang="ko-KR" sz="1400" b="1" dirty="0" err="1"/>
              <a:t>PersistentVolumes</a:t>
            </a:r>
            <a:r>
              <a:rPr lang="en-US" altLang="ko-KR" sz="1400" b="1" dirty="0"/>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t>
            </a:r>
            <a:r>
              <a:rPr lang="en-US" altLang="ko-KR" sz="1400" b="1" dirty="0" err="1"/>
              <a:t>pv</a:t>
            </a:r>
            <a:r>
              <a:rPr lang="en-US" altLang="ko-KR" sz="1400" b="1" dirty="0"/>
              <a:t>” is used as a shorthand for “</a:t>
            </a:r>
            <a:r>
              <a:rPr lang="en-US" altLang="ko-KR" sz="1400" b="1" dirty="0" err="1"/>
              <a:t>persistentvolume</a:t>
            </a:r>
            <a:r>
              <a:rPr lang="en-US" altLang="ko-KR" sz="1400" b="1" dirty="0"/>
              <a:t>”</a:t>
            </a:r>
            <a:r>
              <a:rPr lang="en-US" altLang="ko-KR" sz="1400" dirty="0"/>
              <a:t>. As expected, </a:t>
            </a:r>
            <a:r>
              <a:rPr lang="en-US" altLang="ko-KR" sz="1400" b="1" dirty="0"/>
              <a:t>the </a:t>
            </a:r>
            <a:r>
              <a:rPr lang="en-US" altLang="ko-KR" sz="1400" b="1" dirty="0" err="1"/>
              <a:t>PersistentVolume</a:t>
            </a:r>
            <a:r>
              <a:rPr lang="en-US" altLang="ko-KR" sz="1400" b="1" dirty="0"/>
              <a:t> is shown as Available, because you haven’t yet created the </a:t>
            </a:r>
            <a:r>
              <a:rPr lang="en-US" altLang="ko-KR" sz="1400" b="1" dirty="0" err="1"/>
              <a:t>PersistentVolumeClaim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5F82F5F-5E93-A850-8EB8-CE2CC4EDB561}"/>
              </a:ext>
            </a:extLst>
          </p:cNvPr>
          <p:cNvGrpSpPr/>
          <p:nvPr/>
        </p:nvGrpSpPr>
        <p:grpSpPr>
          <a:xfrm>
            <a:off x="1475389" y="1799527"/>
            <a:ext cx="9241221" cy="2172087"/>
            <a:chOff x="1475387" y="1673403"/>
            <a:chExt cx="9241221" cy="2172087"/>
          </a:xfrm>
        </p:grpSpPr>
        <p:pic>
          <p:nvPicPr>
            <p:cNvPr id="8" name="그림 7">
              <a:extLst>
                <a:ext uri="{FF2B5EF4-FFF2-40B4-BE49-F238E27FC236}">
                  <a16:creationId xmlns:a16="http://schemas.microsoft.com/office/drawing/2014/main" id="{6FEC8319-E4BE-E378-723A-FB43FF5681B7}"/>
                </a:ext>
              </a:extLst>
            </p:cNvPr>
            <p:cNvPicPr>
              <a:picLocks noChangeAspect="1"/>
            </p:cNvPicPr>
            <p:nvPr/>
          </p:nvPicPr>
          <p:blipFill>
            <a:blip r:embed="rId2"/>
            <a:stretch>
              <a:fillRect/>
            </a:stretch>
          </p:blipFill>
          <p:spPr>
            <a:xfrm>
              <a:off x="1475387" y="2382297"/>
              <a:ext cx="9241221" cy="1463193"/>
            </a:xfrm>
            <a:prstGeom prst="rect">
              <a:avLst/>
            </a:prstGeom>
          </p:spPr>
        </p:pic>
        <p:sp>
          <p:nvSpPr>
            <p:cNvPr id="10" name="TextBox 9">
              <a:extLst>
                <a:ext uri="{FF2B5EF4-FFF2-40B4-BE49-F238E27FC236}">
                  <a16:creationId xmlns:a16="http://schemas.microsoft.com/office/drawing/2014/main" id="{3701D989-226D-DA1C-9E9B-2D877002BB51}"/>
                </a:ext>
              </a:extLst>
            </p:cNvPr>
            <p:cNvSpPr txBox="1"/>
            <p:nvPr/>
          </p:nvSpPr>
          <p:spPr>
            <a:xfrm>
              <a:off x="3047342" y="1673403"/>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mongodb-pv-hostpath.yaml</a:t>
              </a:r>
              <a:r>
                <a:rPr lang="en-US" altLang="ko-KR" sz="1000" b="1" dirty="0">
                  <a:solidFill>
                    <a:srgbClr val="FF0000"/>
                  </a:solidFill>
                </a:rPr>
                <a:t> </a:t>
              </a:r>
            </a:p>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pv</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B06638BE-68CA-8C6F-B114-D4953E6768CD}"/>
                </a:ext>
              </a:extLst>
            </p:cNvPr>
            <p:cNvSpPr/>
            <p:nvPr/>
          </p:nvSpPr>
          <p:spPr>
            <a:xfrm>
              <a:off x="5879223" y="2098517"/>
              <a:ext cx="433551" cy="2837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C6D9C79-FD41-34BD-5063-FDEAAE00399A}"/>
                </a:ext>
              </a:extLst>
            </p:cNvPr>
            <p:cNvSpPr/>
            <p:nvPr/>
          </p:nvSpPr>
          <p:spPr>
            <a:xfrm>
              <a:off x="5376042" y="2825899"/>
              <a:ext cx="2703786" cy="1387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216A26AA-F899-078F-DF86-3F3646DA01AF}"/>
                </a:ext>
              </a:extLst>
            </p:cNvPr>
            <p:cNvSpPr/>
            <p:nvPr/>
          </p:nvSpPr>
          <p:spPr>
            <a:xfrm>
              <a:off x="5376042" y="3086030"/>
              <a:ext cx="936732" cy="1387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86462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Technology(6/25)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PersistentVolume</a:t>
            </a:r>
            <a:r>
              <a:rPr lang="en-US" altLang="ko-KR" sz="1800" b="1" dirty="0"/>
              <a:t> :</a:t>
            </a:r>
          </a:p>
          <a:p>
            <a:pPr lvl="1">
              <a:buFont typeface="Wingdings" panose="05000000000000000000" pitchFamily="2" charset="2"/>
              <a:buChar char="§"/>
            </a:pPr>
            <a:r>
              <a:rPr lang="en-US" altLang="ko-KR" sz="1400" dirty="0"/>
              <a:t>As you can see in the following figure, </a:t>
            </a:r>
            <a:r>
              <a:rPr lang="en-US" altLang="ko-KR" sz="1400" b="1" dirty="0"/>
              <a:t>the </a:t>
            </a:r>
            <a:r>
              <a:rPr lang="en-US" altLang="ko-KR" sz="1400" b="1" dirty="0" err="1"/>
              <a:t>PersistenVolumes</a:t>
            </a:r>
            <a:r>
              <a:rPr lang="en-US" altLang="ko-KR" sz="1400" b="1" dirty="0"/>
              <a:t> are cluster-level resources like nodes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1F19E00-2B0D-AF6F-CC6A-A35DB2CD040E}"/>
              </a:ext>
            </a:extLst>
          </p:cNvPr>
          <p:cNvGrpSpPr/>
          <p:nvPr/>
        </p:nvGrpSpPr>
        <p:grpSpPr>
          <a:xfrm>
            <a:off x="3243262" y="1662277"/>
            <a:ext cx="5705475" cy="3943350"/>
            <a:chOff x="3243262" y="1457325"/>
            <a:chExt cx="5705475" cy="3943350"/>
          </a:xfrm>
        </p:grpSpPr>
        <p:pic>
          <p:nvPicPr>
            <p:cNvPr id="8" name="그림 7">
              <a:extLst>
                <a:ext uri="{FF2B5EF4-FFF2-40B4-BE49-F238E27FC236}">
                  <a16:creationId xmlns:a16="http://schemas.microsoft.com/office/drawing/2014/main" id="{B304FDCB-2BD5-1C77-A93E-4823F8381B53}"/>
                </a:ext>
              </a:extLst>
            </p:cNvPr>
            <p:cNvPicPr>
              <a:picLocks noChangeAspect="1"/>
            </p:cNvPicPr>
            <p:nvPr/>
          </p:nvPicPr>
          <p:blipFill>
            <a:blip r:embed="rId2"/>
            <a:stretch>
              <a:fillRect/>
            </a:stretch>
          </p:blipFill>
          <p:spPr>
            <a:xfrm>
              <a:off x="3243262" y="1457325"/>
              <a:ext cx="5705475" cy="3943350"/>
            </a:xfrm>
            <a:prstGeom prst="rect">
              <a:avLst/>
            </a:prstGeom>
          </p:spPr>
        </p:pic>
        <p:sp>
          <p:nvSpPr>
            <p:cNvPr id="9" name="직사각형 8">
              <a:extLst>
                <a:ext uri="{FF2B5EF4-FFF2-40B4-BE49-F238E27FC236}">
                  <a16:creationId xmlns:a16="http://schemas.microsoft.com/office/drawing/2014/main" id="{F3C4D3D9-E4CB-0CD8-BF8E-E58C2DB2B9FF}"/>
                </a:ext>
              </a:extLst>
            </p:cNvPr>
            <p:cNvSpPr/>
            <p:nvPr/>
          </p:nvSpPr>
          <p:spPr>
            <a:xfrm>
              <a:off x="4020207" y="1593703"/>
              <a:ext cx="4169979" cy="7632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657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Technology(7/25)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Claiming a </a:t>
            </a:r>
            <a:r>
              <a:rPr lang="en-US" altLang="ko-KR" sz="1800" b="1" dirty="0" err="1"/>
              <a:t>PersistentVolume</a:t>
            </a:r>
            <a:r>
              <a:rPr lang="en-US" altLang="ko-KR" sz="1800" b="1" dirty="0"/>
              <a:t> by Creating a </a:t>
            </a:r>
            <a:r>
              <a:rPr lang="en-US" altLang="ko-KR" sz="1800" b="1" dirty="0" err="1"/>
              <a:t>PersistentVolumeClaim</a:t>
            </a:r>
            <a:r>
              <a:rPr lang="en-US" altLang="ko-KR" sz="1800" b="1" dirty="0"/>
              <a:t> : </a:t>
            </a:r>
          </a:p>
          <a:p>
            <a:pPr lvl="1">
              <a:buFont typeface="Wingdings" panose="05000000000000000000" pitchFamily="2" charset="2"/>
              <a:buChar char="§"/>
            </a:pPr>
            <a:r>
              <a:rPr lang="en-US" altLang="ko-KR" sz="1400" b="1" dirty="0"/>
              <a:t>Assume that you need to deploy a pod that requires persistent storage</a:t>
            </a:r>
            <a:r>
              <a:rPr lang="en-US" altLang="ko-KR" sz="1400" dirty="0"/>
              <a:t>. You’ll use the </a:t>
            </a:r>
            <a:r>
              <a:rPr lang="en-US" altLang="ko-KR" sz="1400" b="1" dirty="0" err="1"/>
              <a:t>PersistentVolume</a:t>
            </a:r>
            <a:r>
              <a:rPr lang="en-US" altLang="ko-KR" sz="1400" dirty="0"/>
              <a:t> you created earlier. </a:t>
            </a:r>
            <a:r>
              <a:rPr lang="en-US" altLang="ko-KR" sz="1400" b="1" dirty="0"/>
              <a:t>But you can’t use it directly in the pod. You need to claim it first</a:t>
            </a:r>
            <a:r>
              <a:rPr lang="en-US" altLang="ko-KR" sz="1400" dirty="0"/>
              <a:t>. </a:t>
            </a:r>
          </a:p>
          <a:p>
            <a:pPr lvl="1">
              <a:buFont typeface="Wingdings" panose="05000000000000000000" pitchFamily="2" charset="2"/>
              <a:buChar char="§"/>
            </a:pPr>
            <a:r>
              <a:rPr lang="en-US" altLang="ko-KR" sz="1400" b="1" dirty="0"/>
              <a:t>Claiming a </a:t>
            </a:r>
            <a:r>
              <a:rPr lang="en-US" altLang="ko-KR" sz="1400" b="1" dirty="0" err="1"/>
              <a:t>PersistentVolume</a:t>
            </a:r>
            <a:r>
              <a:rPr lang="en-US" altLang="ko-KR" sz="1400" b="1" dirty="0"/>
              <a:t> is a completely separate process from creating a pod</a:t>
            </a:r>
            <a:r>
              <a:rPr lang="en-US" altLang="ko-KR" sz="1400" dirty="0"/>
              <a:t>, because you want the same </a:t>
            </a:r>
            <a:r>
              <a:rPr lang="en-US" altLang="ko-KR" sz="1400" b="1" dirty="0" err="1"/>
              <a:t>PersistentVolumeClaim</a:t>
            </a:r>
            <a:r>
              <a:rPr lang="en-US" altLang="ko-KR" sz="1400" dirty="0"/>
              <a:t> to stay available even if the pod is rescheduled (remember, rescheduling means the previous pod is deleted and a new one is created).</a:t>
            </a:r>
          </a:p>
          <a:p>
            <a:pPr lvl="1">
              <a:buFont typeface="Wingdings" panose="05000000000000000000" pitchFamily="2" charset="2"/>
              <a:buChar char="§"/>
            </a:pPr>
            <a:r>
              <a:rPr lang="en-US" altLang="ko-KR" sz="1400" b="1" dirty="0"/>
              <a:t>You’ll create the claim now</a:t>
            </a:r>
            <a:r>
              <a:rPr lang="en-US" altLang="ko-KR" sz="1400" dirty="0"/>
              <a:t>. You need to prepare a </a:t>
            </a:r>
            <a:r>
              <a:rPr lang="en-US" altLang="ko-KR" sz="1400" b="1" dirty="0" err="1"/>
              <a:t>PersistentVolumeClaim</a:t>
            </a:r>
            <a:r>
              <a:rPr lang="en-US" altLang="ko-KR" sz="1400" b="1" dirty="0"/>
              <a:t> manifest </a:t>
            </a:r>
            <a:r>
              <a:rPr lang="en-US" altLang="ko-KR" sz="1400" dirty="0"/>
              <a:t>like the one shown in the following listing and post it to the Kubernetes API through “</a:t>
            </a:r>
            <a:r>
              <a:rPr lang="en-US" altLang="ko-KR" sz="1400" b="1" dirty="0" err="1"/>
              <a:t>kubectl</a:t>
            </a:r>
            <a:r>
              <a:rPr lang="en-US" altLang="ko-KR" sz="1400" b="1" dirty="0"/>
              <a:t> create</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As soon as you create the claim, Kubernetes finds the appropriate </a:t>
            </a:r>
            <a:r>
              <a:rPr lang="en-US" altLang="ko-KR" sz="1400" b="1" dirty="0" err="1"/>
              <a:t>PersistentVolume</a:t>
            </a:r>
            <a:r>
              <a:rPr lang="en-US" altLang="ko-KR" sz="1400" b="1" dirty="0"/>
              <a:t> and </a:t>
            </a:r>
            <a:r>
              <a:rPr lang="en-US" altLang="ko-KR" sz="1400" b="1" dirty="0">
                <a:solidFill>
                  <a:srgbClr val="FF0000"/>
                </a:solidFill>
              </a:rPr>
              <a:t>binds</a:t>
            </a:r>
            <a:r>
              <a:rPr lang="en-US" altLang="ko-KR" sz="1400" b="1" dirty="0"/>
              <a:t> it to the claim</a:t>
            </a:r>
            <a:r>
              <a:rPr lang="en-US" altLang="ko-KR" sz="1400" dirty="0"/>
              <a:t>. </a:t>
            </a:r>
            <a:r>
              <a:rPr lang="en-US" altLang="ko-KR" sz="1400" b="1" dirty="0">
                <a:solidFill>
                  <a:srgbClr val="FF0000"/>
                </a:solidFill>
              </a:rPr>
              <a:t>The </a:t>
            </a:r>
            <a:r>
              <a:rPr lang="en-US" altLang="ko-KR" sz="1400" b="1" dirty="0" err="1">
                <a:solidFill>
                  <a:srgbClr val="FF0000"/>
                </a:solidFill>
              </a:rPr>
              <a:t>PersistentVolume’s</a:t>
            </a:r>
            <a:r>
              <a:rPr lang="en-US" altLang="ko-KR" sz="1400" b="1" dirty="0">
                <a:solidFill>
                  <a:srgbClr val="FF0000"/>
                </a:solidFill>
              </a:rPr>
              <a:t> capacity must be large enough to accommodate what the claim requests</a:t>
            </a:r>
            <a:r>
              <a:rPr lang="en-US" altLang="ko-KR" sz="1400" dirty="0"/>
              <a:t>. </a:t>
            </a:r>
            <a:r>
              <a:rPr lang="en-US" altLang="ko-KR" sz="1400" b="1" dirty="0"/>
              <a:t>Additionally, the volume’s access modes must include the access modes requested by the claim</a:t>
            </a:r>
            <a:r>
              <a:rPr lang="en-US" altLang="ko-KR" sz="1400" dirty="0"/>
              <a:t>. In this case, the claim requests </a:t>
            </a:r>
            <a:r>
              <a:rPr lang="en-US" altLang="ko-KR" sz="1400" b="1" dirty="0"/>
              <a:t>1 GiB </a:t>
            </a:r>
            <a:r>
              <a:rPr lang="en-US" altLang="ko-KR" sz="1400" dirty="0"/>
              <a:t>of storage and a </a:t>
            </a:r>
            <a:r>
              <a:rPr lang="en-US" altLang="ko-KR" sz="1400" b="1" dirty="0" err="1"/>
              <a:t>ReadWriteOnce</a:t>
            </a:r>
            <a:r>
              <a:rPr lang="en-US" altLang="ko-KR" sz="1400" dirty="0"/>
              <a:t> access mode. </a:t>
            </a:r>
            <a:r>
              <a:rPr lang="en-US" altLang="ko-KR" sz="1400" b="1" dirty="0"/>
              <a:t>The </a:t>
            </a:r>
            <a:r>
              <a:rPr lang="en-US" altLang="ko-KR" sz="1400" b="1" dirty="0" err="1"/>
              <a:t>PersistentVolume</a:t>
            </a:r>
            <a:r>
              <a:rPr lang="en-US" altLang="ko-KR" sz="1400" b="1" dirty="0"/>
              <a:t> we created earlier matches those two requirements so it is bound to our claim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D9251ED-196F-87FA-36D3-38D69E3D9E77}"/>
              </a:ext>
            </a:extLst>
          </p:cNvPr>
          <p:cNvGrpSpPr/>
          <p:nvPr/>
        </p:nvGrpSpPr>
        <p:grpSpPr>
          <a:xfrm>
            <a:off x="3047343" y="2884099"/>
            <a:ext cx="6097314" cy="1785104"/>
            <a:chOff x="3047343" y="2765858"/>
            <a:chExt cx="6097314" cy="1785104"/>
          </a:xfrm>
        </p:grpSpPr>
        <p:sp>
          <p:nvSpPr>
            <p:cNvPr id="8" name="TextBox 7">
              <a:extLst>
                <a:ext uri="{FF2B5EF4-FFF2-40B4-BE49-F238E27FC236}">
                  <a16:creationId xmlns:a16="http://schemas.microsoft.com/office/drawing/2014/main" id="{E19F2956-6691-547C-8AA8-1560FA0C44BC}"/>
                </a:ext>
              </a:extLst>
            </p:cNvPr>
            <p:cNvSpPr txBox="1"/>
            <p:nvPr/>
          </p:nvSpPr>
          <p:spPr>
            <a:xfrm>
              <a:off x="3047343" y="2765858"/>
              <a:ext cx="6097314"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mongodb-pvc</a:t>
              </a:r>
              <a:r>
                <a:rPr lang="en-US" altLang="ko-KR" sz="1000" b="1" dirty="0"/>
                <a:t> </a:t>
              </a:r>
            </a:p>
            <a:p>
              <a:r>
                <a:rPr lang="en-US" altLang="ko-KR" sz="1000" b="1" dirty="0"/>
                <a:t>spec:</a:t>
              </a:r>
            </a:p>
            <a:p>
              <a:r>
                <a:rPr lang="en-US" altLang="ko-KR" sz="1000" b="1" dirty="0"/>
                <a:t>  resources:</a:t>
              </a:r>
            </a:p>
            <a:p>
              <a:r>
                <a:rPr lang="en-US" altLang="ko-KR" sz="1000" b="1" dirty="0">
                  <a:solidFill>
                    <a:srgbClr val="FF0000"/>
                  </a:solidFill>
                </a:rPr>
                <a:t>    requests:</a:t>
              </a:r>
            </a:p>
            <a:p>
              <a:r>
                <a:rPr lang="en-US" altLang="ko-KR" sz="1000" b="1" dirty="0">
                  <a:solidFill>
                    <a:srgbClr val="FF0000"/>
                  </a:solidFill>
                </a:rPr>
                <a:t>      storage: 1Gi</a:t>
              </a:r>
            </a:p>
            <a:p>
              <a:r>
                <a:rPr lang="en-US" altLang="ko-KR" sz="1000" b="1" dirty="0">
                  <a:solidFill>
                    <a:srgbClr val="FF0000"/>
                  </a:solidFill>
                </a:rPr>
                <a:t>  </a:t>
              </a:r>
              <a:r>
                <a:rPr lang="en-US" altLang="ko-KR" sz="1000" b="1" dirty="0" err="1">
                  <a:solidFill>
                    <a:srgbClr val="FF0000"/>
                  </a:solidFill>
                </a:rPr>
                <a:t>accessModes</a:t>
              </a:r>
              <a:r>
                <a:rPr lang="en-US" altLang="ko-KR" sz="1000" b="1" dirty="0">
                  <a:solidFill>
                    <a:srgbClr val="FF0000"/>
                  </a:solidFill>
                </a:rPr>
                <a:t>:</a:t>
              </a:r>
            </a:p>
            <a:p>
              <a:r>
                <a:rPr lang="en-US" altLang="ko-KR" sz="1000" b="1" dirty="0">
                  <a:solidFill>
                    <a:srgbClr val="FF0000"/>
                  </a:solidFill>
                </a:rPr>
                <a:t>  - </a:t>
              </a:r>
              <a:r>
                <a:rPr lang="en-US" altLang="ko-KR" sz="1000" b="1" dirty="0" err="1">
                  <a:solidFill>
                    <a:srgbClr val="FF0000"/>
                  </a:solidFill>
                </a:rPr>
                <a:t>ReadWriteOnce</a:t>
              </a:r>
              <a:endParaRPr lang="en-US" altLang="ko-KR" sz="1000" b="1" dirty="0">
                <a:solidFill>
                  <a:srgbClr val="FF0000"/>
                </a:solidFill>
              </a:endParaRPr>
            </a:p>
            <a:p>
              <a:r>
                <a:rPr lang="en-US" altLang="ko-KR" sz="1000" b="1" dirty="0"/>
                <a:t>  </a:t>
              </a:r>
              <a:r>
                <a:rPr lang="en-US" altLang="ko-KR" sz="1000" b="1" dirty="0" err="1"/>
                <a:t>storageClassName</a:t>
              </a:r>
              <a:r>
                <a:rPr lang="en-US" altLang="ko-KR" sz="1000" b="1" dirty="0"/>
                <a:t>: ""</a:t>
              </a:r>
              <a:endParaRPr lang="ko-KR" altLang="en-US" sz="1000" b="1" dirty="0"/>
            </a:p>
          </p:txBody>
        </p:sp>
        <p:sp>
          <p:nvSpPr>
            <p:cNvPr id="9" name="TextBox 8">
              <a:extLst>
                <a:ext uri="{FF2B5EF4-FFF2-40B4-BE49-F238E27FC236}">
                  <a16:creationId xmlns:a16="http://schemas.microsoft.com/office/drawing/2014/main" id="{7EC6BE83-73FB-BCE6-4C6D-47C80A0E3B7C}"/>
                </a:ext>
              </a:extLst>
            </p:cNvPr>
            <p:cNvSpPr txBox="1"/>
            <p:nvPr/>
          </p:nvSpPr>
          <p:spPr>
            <a:xfrm>
              <a:off x="7772165" y="2765858"/>
              <a:ext cx="1372492" cy="246221"/>
            </a:xfrm>
            <a:prstGeom prst="rect">
              <a:avLst/>
            </a:prstGeom>
            <a:noFill/>
          </p:spPr>
          <p:txBody>
            <a:bodyPr wrap="none" rtlCol="0">
              <a:spAutoFit/>
            </a:bodyPr>
            <a:lstStyle/>
            <a:p>
              <a:pPr algn="l"/>
              <a:r>
                <a:rPr lang="en-US" altLang="ko-KR" sz="1000" b="1" dirty="0" err="1"/>
                <a:t>mongodb-pvc.yaml</a:t>
              </a:r>
              <a:endParaRPr lang="ko-KR" altLang="en-US" sz="1000" b="1" dirty="0"/>
            </a:p>
          </p:txBody>
        </p:sp>
      </p:grpSp>
    </p:spTree>
    <p:extLst>
      <p:ext uri="{BB962C8B-B14F-4D97-AF65-F5344CB8AC3E}">
        <p14:creationId xmlns:p14="http://schemas.microsoft.com/office/powerpoint/2010/main" val="2352100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Technology(8/25)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Binding and Listing </a:t>
            </a:r>
            <a:r>
              <a:rPr lang="en-US" altLang="ko-KR" sz="1800" b="1" dirty="0" err="1"/>
              <a:t>PersistentVolumeClaims</a:t>
            </a:r>
            <a:r>
              <a:rPr lang="en-US" altLang="ko-KR" sz="1800" b="1" dirty="0"/>
              <a:t> :</a:t>
            </a:r>
          </a:p>
          <a:p>
            <a:pPr lvl="1">
              <a:buFont typeface="Wingdings" panose="05000000000000000000" pitchFamily="2" charset="2"/>
              <a:buChar char="§"/>
            </a:pPr>
            <a:r>
              <a:rPr lang="en-US" altLang="ko-KR" sz="1400" b="1" dirty="0"/>
              <a:t>List all </a:t>
            </a:r>
            <a:r>
              <a:rPr lang="en-US" altLang="ko-KR" sz="1400" b="1" dirty="0" err="1"/>
              <a:t>PersistentVolumeClaims</a:t>
            </a:r>
            <a:r>
              <a:rPr lang="en-US" altLang="ko-KR" sz="1400" b="1" dirty="0"/>
              <a:t> </a:t>
            </a:r>
            <a:r>
              <a:rPr lang="en-US" altLang="ko-KR" sz="1400" dirty="0"/>
              <a:t>to see the state of your PVC with the following commands.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We’re using “</a:t>
            </a:r>
            <a:r>
              <a:rPr lang="en-US" altLang="ko-KR" sz="1400" b="1" dirty="0" err="1">
                <a:solidFill>
                  <a:srgbClr val="FF0000"/>
                </a:solidFill>
              </a:rPr>
              <a:t>pvc</a:t>
            </a:r>
            <a:r>
              <a:rPr lang="en-US" altLang="ko-KR" sz="1400" b="1" dirty="0"/>
              <a:t>” as a shorthand for </a:t>
            </a:r>
            <a:r>
              <a:rPr lang="en-US" altLang="ko-KR" sz="1400" b="1" dirty="0" err="1"/>
              <a:t>persistentvolumeclaim</a:t>
            </a:r>
            <a:r>
              <a:rPr lang="en-US" altLang="ko-KR" sz="1400" dirty="0"/>
              <a:t>. </a:t>
            </a:r>
          </a:p>
          <a:p>
            <a:pPr lvl="1">
              <a:buFont typeface="Wingdings" panose="05000000000000000000" pitchFamily="2" charset="2"/>
              <a:buChar char="§"/>
            </a:pPr>
            <a:r>
              <a:rPr lang="en-US" altLang="ko-KR" sz="1400" b="1" dirty="0"/>
              <a:t>The claim is shown as “</a:t>
            </a:r>
            <a:r>
              <a:rPr lang="en-US" altLang="ko-KR" sz="1400" b="1" dirty="0">
                <a:solidFill>
                  <a:srgbClr val="FF0000"/>
                </a:solidFill>
              </a:rPr>
              <a:t>Bound</a:t>
            </a:r>
            <a:r>
              <a:rPr lang="en-US" altLang="ko-KR" sz="1400" b="1" dirty="0"/>
              <a:t>” to </a:t>
            </a:r>
            <a:r>
              <a:rPr lang="en-US" altLang="ko-KR" sz="1400" b="1" dirty="0" err="1"/>
              <a:t>PersistentVolume</a:t>
            </a:r>
            <a:r>
              <a:rPr lang="en-US" altLang="ko-KR" sz="1400" b="1" dirty="0"/>
              <a:t> “</a:t>
            </a:r>
            <a:r>
              <a:rPr lang="en-US" altLang="ko-KR" sz="1400" b="1" dirty="0" err="1"/>
              <a:t>mongodb-pv</a:t>
            </a:r>
            <a:r>
              <a:rPr lang="en-US" altLang="ko-KR" sz="1400" b="1" dirty="0"/>
              <a:t>”</a:t>
            </a:r>
            <a:r>
              <a:rPr lang="en-US" altLang="ko-KR" sz="1400" dirty="0"/>
              <a:t>. </a:t>
            </a:r>
          </a:p>
          <a:p>
            <a:pPr lvl="1">
              <a:buFont typeface="Wingdings" panose="05000000000000000000" pitchFamily="2" charset="2"/>
              <a:buChar char="§"/>
            </a:pPr>
            <a:r>
              <a:rPr lang="en-US" altLang="ko-KR" sz="1400" b="1" dirty="0"/>
              <a:t>NOTE : The abbreviations used for the access modes </a:t>
            </a:r>
            <a:r>
              <a:rPr lang="en-US" altLang="ko-KR" sz="1400" dirty="0"/>
              <a:t>:</a:t>
            </a:r>
          </a:p>
          <a:p>
            <a:pPr lvl="2">
              <a:buFont typeface="Wingdings" panose="05000000000000000000" pitchFamily="2" charset="2"/>
              <a:buChar char="§"/>
            </a:pPr>
            <a:r>
              <a:rPr lang="en-US" altLang="ko-KR" sz="1400" b="1" dirty="0"/>
              <a:t>RWO—</a:t>
            </a:r>
            <a:r>
              <a:rPr lang="en-US" altLang="ko-KR" sz="1400" b="1" dirty="0" err="1"/>
              <a:t>ReadWriteOnce</a:t>
            </a:r>
            <a:r>
              <a:rPr lang="en-US" altLang="ko-KR" sz="1400" dirty="0"/>
              <a:t>—Only a single node can mount the volume for reading and writing.</a:t>
            </a:r>
          </a:p>
          <a:p>
            <a:pPr lvl="2">
              <a:buFont typeface="Wingdings" panose="05000000000000000000" pitchFamily="2" charset="2"/>
              <a:buChar char="§"/>
            </a:pPr>
            <a:r>
              <a:rPr lang="en-US" altLang="ko-KR" sz="1400" b="1" dirty="0"/>
              <a:t>ROX—</a:t>
            </a:r>
            <a:r>
              <a:rPr lang="en-US" altLang="ko-KR" sz="1400" b="1" dirty="0" err="1"/>
              <a:t>ReadOnlyMany</a:t>
            </a:r>
            <a:r>
              <a:rPr lang="en-US" altLang="ko-KR" sz="1400" dirty="0"/>
              <a:t>—Multiple nodes can mount the volume for reading.</a:t>
            </a:r>
          </a:p>
          <a:p>
            <a:pPr lvl="2">
              <a:buFont typeface="Wingdings" panose="05000000000000000000" pitchFamily="2" charset="2"/>
              <a:buChar char="§"/>
            </a:pPr>
            <a:r>
              <a:rPr lang="en-US" altLang="ko-KR" sz="1400" b="1" dirty="0"/>
              <a:t>RWX—</a:t>
            </a:r>
            <a:r>
              <a:rPr lang="en-US" altLang="ko-KR" sz="1400" b="1" dirty="0" err="1"/>
              <a:t>ReadWriteMany</a:t>
            </a:r>
            <a:r>
              <a:rPr lang="en-US" altLang="ko-KR" sz="1400" dirty="0"/>
              <a:t>—Multiple nodes can mount the volume for both reading and writing.</a:t>
            </a:r>
          </a:p>
          <a:p>
            <a:pPr lvl="1">
              <a:buFont typeface="Wingdings" panose="05000000000000000000" pitchFamily="2" charset="2"/>
              <a:buChar char="§"/>
            </a:pPr>
            <a:r>
              <a:rPr lang="en-US" altLang="ko-KR" sz="1400" b="1" dirty="0"/>
              <a:t>NOTE : RWO, ROX, and RWX pertain to </a:t>
            </a:r>
            <a:r>
              <a:rPr lang="en-US" altLang="ko-KR" sz="1400" b="1" dirty="0">
                <a:solidFill>
                  <a:srgbClr val="FF0000"/>
                </a:solidFill>
              </a:rPr>
              <a:t>the number of worker nodes </a:t>
            </a:r>
            <a:r>
              <a:rPr lang="en-US" altLang="ko-KR" sz="1400" dirty="0"/>
              <a:t>that can use the volume at the same time, not to the number of pods!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5C76B681-7620-45F7-70B2-2BDAA14B0C08}"/>
              </a:ext>
            </a:extLst>
          </p:cNvPr>
          <p:cNvGrpSpPr/>
          <p:nvPr/>
        </p:nvGrpSpPr>
        <p:grpSpPr>
          <a:xfrm>
            <a:off x="1329558" y="1598080"/>
            <a:ext cx="9532883" cy="2221927"/>
            <a:chOff x="1329556" y="1519253"/>
            <a:chExt cx="9532883" cy="2221927"/>
          </a:xfrm>
        </p:grpSpPr>
        <p:grpSp>
          <p:nvGrpSpPr>
            <p:cNvPr id="12" name="그룹 11">
              <a:extLst>
                <a:ext uri="{FF2B5EF4-FFF2-40B4-BE49-F238E27FC236}">
                  <a16:creationId xmlns:a16="http://schemas.microsoft.com/office/drawing/2014/main" id="{6AD0F4E5-F563-5D89-DF6A-224FD53913B8}"/>
                </a:ext>
              </a:extLst>
            </p:cNvPr>
            <p:cNvGrpSpPr/>
            <p:nvPr/>
          </p:nvGrpSpPr>
          <p:grpSpPr>
            <a:xfrm>
              <a:off x="1329556" y="1519253"/>
              <a:ext cx="9532883" cy="2221927"/>
              <a:chOff x="1329556" y="1519253"/>
              <a:chExt cx="9532883" cy="2221927"/>
            </a:xfrm>
          </p:grpSpPr>
          <p:pic>
            <p:nvPicPr>
              <p:cNvPr id="8" name="그림 7">
                <a:extLst>
                  <a:ext uri="{FF2B5EF4-FFF2-40B4-BE49-F238E27FC236}">
                    <a16:creationId xmlns:a16="http://schemas.microsoft.com/office/drawing/2014/main" id="{5934C979-8DC0-1E20-3C33-03788983BB0F}"/>
                  </a:ext>
                </a:extLst>
              </p:cNvPr>
              <p:cNvPicPr>
                <a:picLocks noChangeAspect="1"/>
              </p:cNvPicPr>
              <p:nvPr/>
            </p:nvPicPr>
            <p:blipFill>
              <a:blip r:embed="rId2"/>
              <a:stretch>
                <a:fillRect/>
              </a:stretch>
            </p:blipFill>
            <p:spPr>
              <a:xfrm>
                <a:off x="1329556" y="2231807"/>
                <a:ext cx="9532883" cy="1509373"/>
              </a:xfrm>
              <a:prstGeom prst="rect">
                <a:avLst/>
              </a:prstGeom>
            </p:spPr>
          </p:pic>
          <p:sp>
            <p:nvSpPr>
              <p:cNvPr id="10" name="TextBox 9">
                <a:extLst>
                  <a:ext uri="{FF2B5EF4-FFF2-40B4-BE49-F238E27FC236}">
                    <a16:creationId xmlns:a16="http://schemas.microsoft.com/office/drawing/2014/main" id="{15E623A0-604F-789A-7D75-1D8F759D4F99}"/>
                  </a:ext>
                </a:extLst>
              </p:cNvPr>
              <p:cNvSpPr txBox="1"/>
              <p:nvPr/>
            </p:nvSpPr>
            <p:spPr>
              <a:xfrm>
                <a:off x="3047342" y="1519253"/>
                <a:ext cx="6097314"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mongodb-pvc.yaml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pvc</a:t>
                </a:r>
                <a:r>
                  <a:rPr lang="en-US" altLang="ko-KR" sz="1000" b="1" dirty="0"/>
                  <a:t> </a:t>
                </a:r>
                <a:endParaRPr lang="ko-KR" altLang="en-US" sz="1000" b="1" dirty="0"/>
              </a:p>
            </p:txBody>
          </p:sp>
          <p:sp>
            <p:nvSpPr>
              <p:cNvPr id="11" name="화살표: 아래쪽 10">
                <a:extLst>
                  <a:ext uri="{FF2B5EF4-FFF2-40B4-BE49-F238E27FC236}">
                    <a16:creationId xmlns:a16="http://schemas.microsoft.com/office/drawing/2014/main" id="{6E537A88-8633-DCC2-4C24-B681BE5C3731}"/>
                  </a:ext>
                </a:extLst>
              </p:cNvPr>
              <p:cNvSpPr/>
              <p:nvPr/>
            </p:nvSpPr>
            <p:spPr>
              <a:xfrm>
                <a:off x="5894988" y="1941578"/>
                <a:ext cx="402021" cy="2680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29D18505-DD72-47A4-4702-0B052E7D3E8F}"/>
                </a:ext>
              </a:extLst>
            </p:cNvPr>
            <p:cNvSpPr/>
            <p:nvPr/>
          </p:nvSpPr>
          <p:spPr>
            <a:xfrm>
              <a:off x="5376041" y="2656490"/>
              <a:ext cx="2254469"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518AEB19-8EAA-BDDA-2097-F15653CC4381}"/>
                </a:ext>
              </a:extLst>
            </p:cNvPr>
            <p:cNvSpPr/>
            <p:nvPr/>
          </p:nvSpPr>
          <p:spPr>
            <a:xfrm>
              <a:off x="5376041" y="2941332"/>
              <a:ext cx="1048408" cy="1813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EF03095A-BEF5-8D59-BB63-D9D210E452FE}"/>
                </a:ext>
              </a:extLst>
            </p:cNvPr>
            <p:cNvSpPr/>
            <p:nvPr/>
          </p:nvSpPr>
          <p:spPr>
            <a:xfrm>
              <a:off x="2293883" y="3090042"/>
              <a:ext cx="1347949" cy="2764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822114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Technology(9/25)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a:t>
            </a:r>
            <a:r>
              <a:rPr lang="en-US" altLang="ko-KR" sz="1800" b="1" dirty="0" err="1"/>
              <a:t>PersistentVolumes</a:t>
            </a:r>
            <a:r>
              <a:rPr lang="en-US" altLang="ko-KR" sz="1800" b="1" dirty="0"/>
              <a:t> :</a:t>
            </a:r>
          </a:p>
          <a:p>
            <a:pPr lvl="1">
              <a:buFont typeface="Wingdings" panose="05000000000000000000" pitchFamily="2" charset="2"/>
              <a:buChar char="§"/>
            </a:pPr>
            <a:r>
              <a:rPr lang="en-US" altLang="ko-KR" sz="1400" dirty="0"/>
              <a:t>You can also see that </a:t>
            </a:r>
            <a:r>
              <a:rPr lang="en-US" altLang="ko-KR" sz="1400" b="1" dirty="0"/>
              <a:t>the </a:t>
            </a:r>
            <a:r>
              <a:rPr lang="en-US" altLang="ko-KR" sz="1400" b="1" dirty="0" err="1"/>
              <a:t>PersistentVolume</a:t>
            </a:r>
            <a:r>
              <a:rPr lang="en-US" altLang="ko-KR" sz="1400" b="1" dirty="0"/>
              <a:t> is now Bound and no longer Available by inspecting it with </a:t>
            </a:r>
            <a:r>
              <a:rPr lang="en-US" altLang="ko-KR" sz="1400" dirty="0"/>
              <a:t>“</a:t>
            </a:r>
            <a:r>
              <a:rPr lang="en-US" altLang="ko-KR" sz="1400" b="1" dirty="0" err="1"/>
              <a:t>kubectl</a:t>
            </a:r>
            <a:r>
              <a:rPr lang="en-US" altLang="ko-KR" sz="1400" b="1" dirty="0"/>
              <a:t> get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t>
            </a:r>
            <a:r>
              <a:rPr lang="en-US" altLang="ko-KR" sz="1400" b="1" dirty="0" err="1"/>
              <a:t>PersistentVolume</a:t>
            </a:r>
            <a:r>
              <a:rPr lang="en-US" altLang="ko-KR" sz="1400" b="1" dirty="0"/>
              <a:t> shows it’s bound to claim “default/</a:t>
            </a:r>
            <a:r>
              <a:rPr lang="en-US" altLang="ko-KR" sz="1400" b="1" dirty="0" err="1"/>
              <a:t>mongodb-pvc</a:t>
            </a:r>
            <a:r>
              <a:rPr lang="en-US" altLang="ko-KR" sz="1400" b="1" dirty="0"/>
              <a:t>”</a:t>
            </a:r>
            <a:r>
              <a:rPr lang="en-US" altLang="ko-KR" sz="1400" dirty="0"/>
              <a:t>. </a:t>
            </a:r>
            <a:r>
              <a:rPr lang="en-US" altLang="ko-KR" sz="1400" b="1" dirty="0"/>
              <a:t>The “</a:t>
            </a:r>
            <a:r>
              <a:rPr lang="en-US" altLang="ko-KR" sz="1400" b="1" dirty="0">
                <a:solidFill>
                  <a:srgbClr val="FF0000"/>
                </a:solidFill>
              </a:rPr>
              <a:t>default</a:t>
            </a:r>
            <a:r>
              <a:rPr lang="en-US" altLang="ko-KR" sz="1400" b="1" dirty="0"/>
              <a:t>” part is the namespace the claim resides in (you created the claim in the default namespace)</a:t>
            </a:r>
            <a:r>
              <a:rPr lang="en-US" altLang="ko-KR" sz="1400" dirty="0"/>
              <a:t>. We’ve already said that </a:t>
            </a:r>
            <a:r>
              <a:rPr lang="en-US" altLang="ko-KR" sz="1400" b="1" dirty="0" err="1"/>
              <a:t>PersistentVolume</a:t>
            </a:r>
            <a:r>
              <a:rPr lang="en-US" altLang="ko-KR" sz="1400" b="1" dirty="0"/>
              <a:t> resources are cluster-scoped and thus cannot be created in a specific namespace, but </a:t>
            </a:r>
            <a:r>
              <a:rPr lang="en-US" altLang="ko-KR" sz="1400" b="1" dirty="0" err="1">
                <a:solidFill>
                  <a:srgbClr val="FF0000"/>
                </a:solidFill>
              </a:rPr>
              <a:t>PersistentVolumeClaims</a:t>
            </a:r>
            <a:r>
              <a:rPr lang="en-US" altLang="ko-KR" sz="1400" b="1" dirty="0">
                <a:solidFill>
                  <a:srgbClr val="FF0000"/>
                </a:solidFill>
              </a:rPr>
              <a:t> can only be created in a specific namespace</a:t>
            </a:r>
            <a:r>
              <a:rPr lang="en-US" altLang="ko-KR" sz="1400" dirty="0"/>
              <a:t>. </a:t>
            </a:r>
            <a:r>
              <a:rPr lang="en-US" altLang="ko-KR" sz="1400" b="1" dirty="0"/>
              <a:t>They can then </a:t>
            </a:r>
            <a:r>
              <a:rPr lang="en-US" altLang="ko-KR" sz="1400" b="1" dirty="0">
                <a:solidFill>
                  <a:srgbClr val="FF0000"/>
                </a:solidFill>
              </a:rPr>
              <a:t>only be used by pods in the same 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CA2F66B4-7177-DEA4-60DC-CE789E3A7A6B}"/>
              </a:ext>
            </a:extLst>
          </p:cNvPr>
          <p:cNvGrpSpPr/>
          <p:nvPr/>
        </p:nvGrpSpPr>
        <p:grpSpPr>
          <a:xfrm>
            <a:off x="1510862" y="1791134"/>
            <a:ext cx="9170276" cy="1974004"/>
            <a:chOff x="1510862" y="1521043"/>
            <a:chExt cx="9170276" cy="1974004"/>
          </a:xfrm>
        </p:grpSpPr>
        <p:grpSp>
          <p:nvGrpSpPr>
            <p:cNvPr id="12" name="그룹 11">
              <a:extLst>
                <a:ext uri="{FF2B5EF4-FFF2-40B4-BE49-F238E27FC236}">
                  <a16:creationId xmlns:a16="http://schemas.microsoft.com/office/drawing/2014/main" id="{3FD3DEB8-D240-5AD9-A508-5C8587A08B8A}"/>
                </a:ext>
              </a:extLst>
            </p:cNvPr>
            <p:cNvGrpSpPr/>
            <p:nvPr/>
          </p:nvGrpSpPr>
          <p:grpSpPr>
            <a:xfrm>
              <a:off x="1510862" y="1521043"/>
              <a:ext cx="9170276" cy="1974004"/>
              <a:chOff x="1510862" y="1521043"/>
              <a:chExt cx="9170276" cy="1974004"/>
            </a:xfrm>
          </p:grpSpPr>
          <p:pic>
            <p:nvPicPr>
              <p:cNvPr id="8" name="그림 7">
                <a:extLst>
                  <a:ext uri="{FF2B5EF4-FFF2-40B4-BE49-F238E27FC236}">
                    <a16:creationId xmlns:a16="http://schemas.microsoft.com/office/drawing/2014/main" id="{E0B8941A-763A-6FF9-EDC5-5392209783F8}"/>
                  </a:ext>
                </a:extLst>
              </p:cNvPr>
              <p:cNvPicPr>
                <a:picLocks noChangeAspect="1"/>
              </p:cNvPicPr>
              <p:nvPr/>
            </p:nvPicPr>
            <p:blipFill>
              <a:blip r:embed="rId2"/>
              <a:stretch>
                <a:fillRect/>
              </a:stretch>
            </p:blipFill>
            <p:spPr>
              <a:xfrm>
                <a:off x="1510862" y="2043087"/>
                <a:ext cx="9170276" cy="1451960"/>
              </a:xfrm>
              <a:prstGeom prst="rect">
                <a:avLst/>
              </a:prstGeom>
            </p:spPr>
          </p:pic>
          <p:sp>
            <p:nvSpPr>
              <p:cNvPr id="10" name="TextBox 9">
                <a:extLst>
                  <a:ext uri="{FF2B5EF4-FFF2-40B4-BE49-F238E27FC236}">
                    <a16:creationId xmlns:a16="http://schemas.microsoft.com/office/drawing/2014/main" id="{799D489B-84E2-6705-028D-6B1F892C63C2}"/>
                  </a:ext>
                </a:extLst>
              </p:cNvPr>
              <p:cNvSpPr txBox="1"/>
              <p:nvPr/>
            </p:nvSpPr>
            <p:spPr>
              <a:xfrm>
                <a:off x="3047343" y="1521043"/>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pv</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BD9A92D2-CC6B-C48E-5DE6-21B856C9AE98}"/>
                  </a:ext>
                </a:extLst>
              </p:cNvPr>
              <p:cNvSpPr/>
              <p:nvPr/>
            </p:nvSpPr>
            <p:spPr>
              <a:xfrm>
                <a:off x="5898931" y="1767264"/>
                <a:ext cx="394138"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935A46A7-00C9-9B25-9279-BBCAD7295600}"/>
                </a:ext>
              </a:extLst>
            </p:cNvPr>
            <p:cNvSpPr/>
            <p:nvPr/>
          </p:nvSpPr>
          <p:spPr>
            <a:xfrm>
              <a:off x="5422024" y="2443655"/>
              <a:ext cx="1435975"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24471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Technology(10/25)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PersistentVolumeClaim</a:t>
            </a:r>
            <a:r>
              <a:rPr lang="en-US" altLang="ko-KR" sz="1800" b="1" dirty="0"/>
              <a:t> in a Pod :</a:t>
            </a:r>
          </a:p>
          <a:p>
            <a:pPr lvl="1">
              <a:buFont typeface="Wingdings" panose="05000000000000000000" pitchFamily="2" charset="2"/>
              <a:buChar char="§"/>
            </a:pPr>
            <a:r>
              <a:rPr lang="en-US" altLang="ko-KR" sz="1400" b="1" dirty="0"/>
              <a:t>The </a:t>
            </a:r>
            <a:r>
              <a:rPr lang="en-US" altLang="ko-KR" sz="1400" b="1" dirty="0" err="1"/>
              <a:t>PersistentVolume</a:t>
            </a:r>
            <a:r>
              <a:rPr lang="en-US" altLang="ko-KR" sz="1400" b="1" dirty="0"/>
              <a:t> is now yours to use. Nobody else can claim the same volume until you release it</a:t>
            </a:r>
            <a:r>
              <a:rPr lang="en-US" altLang="ko-KR" sz="1400" dirty="0"/>
              <a:t>. To use it inside a pod, </a:t>
            </a:r>
            <a:r>
              <a:rPr lang="en-US" altLang="ko-KR" sz="1400" b="1" dirty="0"/>
              <a:t>you need to </a:t>
            </a:r>
            <a:r>
              <a:rPr lang="en-US" altLang="ko-KR" sz="1400" b="1" dirty="0">
                <a:solidFill>
                  <a:srgbClr val="FF0000"/>
                </a:solidFill>
              </a:rPr>
              <a:t>reference the </a:t>
            </a:r>
            <a:r>
              <a:rPr lang="en-US" altLang="ko-KR" sz="1400" b="1" dirty="0" err="1">
                <a:solidFill>
                  <a:srgbClr val="FF0000"/>
                </a:solidFill>
              </a:rPr>
              <a:t>PersistentVolumeClaim</a:t>
            </a:r>
            <a:r>
              <a:rPr lang="en-US" altLang="ko-KR" sz="1400" b="1" dirty="0">
                <a:solidFill>
                  <a:srgbClr val="FF0000"/>
                </a:solidFill>
              </a:rPr>
              <a:t> by name </a:t>
            </a:r>
            <a:r>
              <a:rPr lang="en-US" altLang="ko-KR" sz="1400" b="1" dirty="0"/>
              <a:t>inside the pod’s volume </a:t>
            </a:r>
            <a:r>
              <a:rPr lang="en-US" altLang="ko-KR" sz="1400" dirty="0"/>
              <a:t>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NOTICE : If you use the “mongo” image without any version tag, the container will crash. Because MongoDB v5.0+ requires a CPU with AVX support, we will use “</a:t>
            </a:r>
            <a:r>
              <a:rPr lang="en-US" altLang="ko-KR" sz="1400" b="1" dirty="0">
                <a:solidFill>
                  <a:srgbClr val="FF0000"/>
                </a:solidFill>
              </a:rPr>
              <a:t>mongo:4.4.6</a:t>
            </a:r>
            <a:r>
              <a:rPr lang="en-US" altLang="ko-KR" sz="1400" b="1" dirty="0"/>
              <a:t>” image in this case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EA180A-F536-8106-32F0-601DACFC9813}"/>
              </a:ext>
            </a:extLst>
          </p:cNvPr>
          <p:cNvGrpSpPr/>
          <p:nvPr/>
        </p:nvGrpSpPr>
        <p:grpSpPr>
          <a:xfrm>
            <a:off x="3047343" y="2124324"/>
            <a:ext cx="6097314" cy="2862322"/>
            <a:chOff x="3047343" y="1914603"/>
            <a:chExt cx="6097314" cy="2862322"/>
          </a:xfrm>
        </p:grpSpPr>
        <p:sp>
          <p:nvSpPr>
            <p:cNvPr id="8" name="TextBox 7">
              <a:extLst>
                <a:ext uri="{FF2B5EF4-FFF2-40B4-BE49-F238E27FC236}">
                  <a16:creationId xmlns:a16="http://schemas.microsoft.com/office/drawing/2014/main" id="{3C515E4C-14DC-7B28-6801-8CD6CC7EB4DA}"/>
                </a:ext>
              </a:extLst>
            </p:cNvPr>
            <p:cNvSpPr txBox="1"/>
            <p:nvPr/>
          </p:nvSpPr>
          <p:spPr>
            <a:xfrm>
              <a:off x="3047343" y="1914603"/>
              <a:ext cx="6097314"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err="1">
                  <a:solidFill>
                    <a:srgbClr val="FF0000"/>
                  </a:solidFill>
                </a:rPr>
                <a:t>mongodb</a:t>
              </a:r>
              <a:r>
                <a:rPr lang="en-US" altLang="ko-KR" sz="1000" b="1" dirty="0"/>
                <a:t> </a:t>
              </a: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mongo:4.4.6</a:t>
              </a:r>
            </a:p>
            <a:p>
              <a:r>
                <a:rPr lang="en-US" altLang="ko-KR" sz="1000" b="1" dirty="0"/>
                <a:t>    name: </a:t>
              </a:r>
              <a:r>
                <a:rPr lang="en-US" altLang="ko-KR" sz="1000" b="1" dirty="0" err="1"/>
                <a:t>mongodb</a:t>
              </a:r>
              <a:endParaRPr lang="en-US" altLang="ko-KR" sz="1000" b="1" dirty="0"/>
            </a:p>
            <a:p>
              <a:r>
                <a:rPr lang="en-US" altLang="ko-KR" sz="1000" b="1" dirty="0">
                  <a:solidFill>
                    <a:srgbClr val="FF0000"/>
                  </a:solidFill>
                </a:rPr>
                <a:t>    </a:t>
              </a:r>
              <a:r>
                <a:rPr lang="en-US" altLang="ko-KR" sz="1000" b="1" dirty="0" err="1">
                  <a:solidFill>
                    <a:srgbClr val="FF0000"/>
                  </a:solidFill>
                </a:rPr>
                <a:t>volumeMounts</a:t>
              </a:r>
              <a:r>
                <a:rPr lang="en-US" altLang="ko-KR" sz="1000" b="1" dirty="0">
                  <a:solidFill>
                    <a:srgbClr val="FF0000"/>
                  </a:solidFill>
                </a:rPr>
                <a:t>:</a:t>
              </a:r>
            </a:p>
            <a:p>
              <a:r>
                <a:rPr lang="en-US" altLang="ko-KR" sz="1000" b="1" dirty="0">
                  <a:solidFill>
                    <a:srgbClr val="FF0000"/>
                  </a:solidFill>
                </a:rPr>
                <a:t>    - name: </a:t>
              </a:r>
              <a:r>
                <a:rPr lang="en-US" altLang="ko-KR" sz="1000" b="1" dirty="0" err="1">
                  <a:solidFill>
                    <a:srgbClr val="FF0000"/>
                  </a:solidFill>
                </a:rPr>
                <a:t>mongodb</a:t>
              </a:r>
              <a:r>
                <a:rPr lang="en-US" altLang="ko-KR" sz="1000" b="1" dirty="0">
                  <a:solidFill>
                    <a:srgbClr val="FF0000"/>
                  </a:solidFill>
                </a:rPr>
                <a:t>-data</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/data/</a:t>
              </a:r>
              <a:r>
                <a:rPr lang="en-US" altLang="ko-KR" sz="1000" b="1" dirty="0" err="1">
                  <a:solidFill>
                    <a:srgbClr val="FF0000"/>
                  </a:solidFill>
                </a:rPr>
                <a:t>db</a:t>
              </a:r>
              <a:endParaRPr lang="en-US" altLang="ko-KR" sz="1000" b="1" dirty="0">
                <a:solidFill>
                  <a:srgbClr val="FF0000"/>
                </a:solidFill>
              </a:endParaRPr>
            </a:p>
            <a:p>
              <a:r>
                <a:rPr lang="en-US" altLang="ko-KR" sz="1000" b="1" dirty="0"/>
                <a:t>    ports:</a:t>
              </a:r>
            </a:p>
            <a:p>
              <a:r>
                <a:rPr lang="en-US" altLang="ko-KR" sz="1000" b="1" dirty="0"/>
                <a:t>    - </a:t>
              </a:r>
              <a:r>
                <a:rPr lang="en-US" altLang="ko-KR" sz="1000" b="1" dirty="0" err="1"/>
                <a:t>containerPort</a:t>
              </a:r>
              <a:r>
                <a:rPr lang="en-US" altLang="ko-KR" sz="1000" b="1" dirty="0"/>
                <a:t>: 27017</a:t>
              </a:r>
            </a:p>
            <a:p>
              <a:r>
                <a:rPr lang="en-US" altLang="ko-KR" sz="1000" b="1" dirty="0"/>
                <a:t>      protocol: TCP</a:t>
              </a:r>
            </a:p>
            <a:p>
              <a:r>
                <a:rPr lang="en-US" altLang="ko-KR" sz="1000" b="1" dirty="0"/>
                <a:t>  </a:t>
              </a:r>
              <a:r>
                <a:rPr lang="en-US" altLang="ko-KR" sz="1000" b="1" dirty="0">
                  <a:solidFill>
                    <a:srgbClr val="FF0000"/>
                  </a:solidFill>
                </a:rPr>
                <a:t>volumes:</a:t>
              </a:r>
            </a:p>
            <a:p>
              <a:r>
                <a:rPr lang="en-US" altLang="ko-KR" sz="1000" b="1" dirty="0">
                  <a:solidFill>
                    <a:srgbClr val="FF0000"/>
                  </a:solidFill>
                </a:rPr>
                <a:t>  - name: </a:t>
              </a:r>
              <a:r>
                <a:rPr lang="en-US" altLang="ko-KR" sz="1000" b="1" dirty="0" err="1">
                  <a:solidFill>
                    <a:srgbClr val="FF0000"/>
                  </a:solidFill>
                </a:rPr>
                <a:t>mongodb</a:t>
              </a:r>
              <a:r>
                <a:rPr lang="en-US" altLang="ko-KR" sz="1000" b="1" dirty="0">
                  <a:solidFill>
                    <a:srgbClr val="FF0000"/>
                  </a:solidFill>
                </a:rPr>
                <a:t>-data</a:t>
              </a:r>
            </a:p>
            <a:p>
              <a:r>
                <a:rPr lang="en-US" altLang="ko-KR" sz="1000" b="1" dirty="0">
                  <a:solidFill>
                    <a:srgbClr val="FF0000"/>
                  </a:solidFill>
                </a:rPr>
                <a:t>    </a:t>
              </a:r>
              <a:r>
                <a:rPr lang="en-US" altLang="ko-KR" sz="1000" b="1" dirty="0" err="1">
                  <a:solidFill>
                    <a:srgbClr val="FF0000"/>
                  </a:solidFill>
                </a:rPr>
                <a:t>persistentVolumeClaim</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claimName</a:t>
              </a:r>
              <a:r>
                <a:rPr lang="en-US" altLang="ko-KR" sz="1000" b="1" dirty="0">
                  <a:solidFill>
                    <a:srgbClr val="FF0000"/>
                  </a:solidFill>
                </a:rPr>
                <a:t>: </a:t>
              </a:r>
              <a:r>
                <a:rPr lang="en-US" altLang="ko-KR" sz="1000" b="1" dirty="0" err="1">
                  <a:solidFill>
                    <a:srgbClr val="FF0000"/>
                  </a:solidFill>
                </a:rPr>
                <a:t>mongodb-pvc</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5D38DD07-2CB5-C17A-6492-0CE28FE49B7E}"/>
                </a:ext>
              </a:extLst>
            </p:cNvPr>
            <p:cNvSpPr txBox="1"/>
            <p:nvPr/>
          </p:nvSpPr>
          <p:spPr>
            <a:xfrm>
              <a:off x="7478816" y="1914603"/>
              <a:ext cx="1665841" cy="246221"/>
            </a:xfrm>
            <a:prstGeom prst="rect">
              <a:avLst/>
            </a:prstGeom>
            <a:noFill/>
          </p:spPr>
          <p:txBody>
            <a:bodyPr wrap="none" rtlCol="0">
              <a:spAutoFit/>
            </a:bodyPr>
            <a:lstStyle/>
            <a:p>
              <a:pPr algn="l"/>
              <a:r>
                <a:rPr lang="en-US" altLang="ko-KR" sz="1000" b="1" dirty="0" err="1"/>
                <a:t>mongodb</a:t>
              </a:r>
              <a:r>
                <a:rPr lang="en-US" altLang="ko-KR" sz="1000" b="1" dirty="0"/>
                <a:t>-pod-</a:t>
              </a:r>
              <a:r>
                <a:rPr lang="en-US" altLang="ko-KR" sz="1000" b="1" dirty="0" err="1"/>
                <a:t>pvc.yaml</a:t>
              </a:r>
              <a:endParaRPr lang="ko-KR" altLang="en-US" sz="1000" b="1" dirty="0"/>
            </a:p>
          </p:txBody>
        </p:sp>
      </p:grpSp>
    </p:spTree>
    <p:extLst>
      <p:ext uri="{BB962C8B-B14F-4D97-AF65-F5344CB8AC3E}">
        <p14:creationId xmlns:p14="http://schemas.microsoft.com/office/powerpoint/2010/main" val="395342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Technology(11/25)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 </a:t>
            </a:r>
            <a:r>
              <a:rPr lang="en-US" altLang="ko-KR" sz="1800" b="1" dirty="0" err="1"/>
              <a:t>PersistentVolumeClaim</a:t>
            </a:r>
            <a:r>
              <a:rPr lang="en-US" altLang="ko-KR" sz="1800" b="1" dirty="0"/>
              <a:t> in a Pod :</a:t>
            </a:r>
          </a:p>
          <a:p>
            <a:pPr lvl="1">
              <a:buFont typeface="Wingdings" panose="05000000000000000000" pitchFamily="2" charset="2"/>
              <a:buChar char="§"/>
            </a:pPr>
            <a:r>
              <a:rPr lang="en-US" altLang="ko-KR" sz="1400" b="1" dirty="0"/>
              <a:t>Use the “$ </a:t>
            </a:r>
            <a:r>
              <a:rPr lang="en-US" altLang="ko-KR" sz="1400" b="1" dirty="0" err="1"/>
              <a:t>kubectl</a:t>
            </a:r>
            <a:r>
              <a:rPr lang="en-US" altLang="ko-KR" sz="1400" b="1" dirty="0"/>
              <a:t> create -f” command to create the Pod </a:t>
            </a:r>
            <a:r>
              <a:rPr lang="en-US" altLang="ko-KR" sz="1400" dirty="0"/>
              <a:t>and try to </a:t>
            </a:r>
            <a:r>
              <a:rPr lang="en-US" altLang="ko-KR" sz="1400" b="1" dirty="0"/>
              <a:t>access the DB</a:t>
            </a:r>
            <a:r>
              <a:rPr lang="en-US" altLang="ko-KR" sz="1400" dirty="0"/>
              <a:t> with interactive terminal.</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To exit from the MongoDB command line, just enter “exit”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960BB660-907C-C5F8-1DC9-4E423834B56B}"/>
              </a:ext>
            </a:extLst>
          </p:cNvPr>
          <p:cNvGrpSpPr/>
          <p:nvPr/>
        </p:nvGrpSpPr>
        <p:grpSpPr>
          <a:xfrm>
            <a:off x="1285546" y="1622522"/>
            <a:ext cx="9620908" cy="3612955"/>
            <a:chOff x="1285545" y="1568669"/>
            <a:chExt cx="9620908" cy="3612955"/>
          </a:xfrm>
        </p:grpSpPr>
        <p:grpSp>
          <p:nvGrpSpPr>
            <p:cNvPr id="13" name="그룹 12">
              <a:extLst>
                <a:ext uri="{FF2B5EF4-FFF2-40B4-BE49-F238E27FC236}">
                  <a16:creationId xmlns:a16="http://schemas.microsoft.com/office/drawing/2014/main" id="{4F21E055-51C4-BB74-7AF3-D1E50E7D9BF7}"/>
                </a:ext>
              </a:extLst>
            </p:cNvPr>
            <p:cNvGrpSpPr/>
            <p:nvPr/>
          </p:nvGrpSpPr>
          <p:grpSpPr>
            <a:xfrm>
              <a:off x="1285547" y="1568669"/>
              <a:ext cx="9620906" cy="2042960"/>
              <a:chOff x="1285547" y="1568669"/>
              <a:chExt cx="9620906" cy="2042960"/>
            </a:xfrm>
          </p:grpSpPr>
          <p:grpSp>
            <p:nvGrpSpPr>
              <p:cNvPr id="11" name="그룹 10">
                <a:extLst>
                  <a:ext uri="{FF2B5EF4-FFF2-40B4-BE49-F238E27FC236}">
                    <a16:creationId xmlns:a16="http://schemas.microsoft.com/office/drawing/2014/main" id="{6489DC40-A99B-C304-E54D-E3FE823070F0}"/>
                  </a:ext>
                </a:extLst>
              </p:cNvPr>
              <p:cNvGrpSpPr/>
              <p:nvPr/>
            </p:nvGrpSpPr>
            <p:grpSpPr>
              <a:xfrm>
                <a:off x="1285547" y="1568669"/>
                <a:ext cx="9620906" cy="2042960"/>
                <a:chOff x="1285547" y="1568669"/>
                <a:chExt cx="9620906" cy="2042960"/>
              </a:xfrm>
            </p:grpSpPr>
            <p:sp>
              <p:nvSpPr>
                <p:cNvPr id="4" name="TextBox 3">
                  <a:extLst>
                    <a:ext uri="{FF2B5EF4-FFF2-40B4-BE49-F238E27FC236}">
                      <a16:creationId xmlns:a16="http://schemas.microsoft.com/office/drawing/2014/main" id="{B9C44926-A8B9-475C-A7D8-8FEF0B83C5BB}"/>
                    </a:ext>
                  </a:extLst>
                </p:cNvPr>
                <p:cNvSpPr txBox="1"/>
                <p:nvPr/>
              </p:nvSpPr>
              <p:spPr>
                <a:xfrm>
                  <a:off x="3463158" y="1568669"/>
                  <a:ext cx="5265683" cy="246221"/>
                </a:xfrm>
                <a:prstGeom prst="rect">
                  <a:avLst/>
                </a:prstGeom>
                <a:noFill/>
                <a:ln>
                  <a:solidFill>
                    <a:schemeClr val="bg1">
                      <a:lumMod val="50000"/>
                    </a:schemeClr>
                  </a:solidFill>
                </a:ln>
              </p:spPr>
              <p:txBody>
                <a:bodyPr wrap="square" rtlCol="0">
                  <a:spAutoFit/>
                </a:bodyPr>
                <a:lstStyle/>
                <a:p>
                  <a:pPr algn="l"/>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mongodb</a:t>
                  </a:r>
                  <a:r>
                    <a:rPr lang="en-US" altLang="ko-KR" sz="1000" b="1" dirty="0">
                      <a:solidFill>
                        <a:srgbClr val="FF0000"/>
                      </a:solidFill>
                    </a:rPr>
                    <a:t>-pod-</a:t>
                  </a:r>
                  <a:r>
                    <a:rPr lang="en-US" altLang="ko-KR" sz="1000" b="1" dirty="0" err="1">
                      <a:solidFill>
                        <a:srgbClr val="FF0000"/>
                      </a:solidFill>
                    </a:rPr>
                    <a:t>pvc.yaml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2031B98B-A4D9-41CB-DCD6-6D3167C96929}"/>
                    </a:ext>
                  </a:extLst>
                </p:cNvPr>
                <p:cNvSpPr/>
                <p:nvPr/>
              </p:nvSpPr>
              <p:spPr>
                <a:xfrm>
                  <a:off x="5883165" y="1836070"/>
                  <a:ext cx="425669" cy="25224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E33980C8-D47C-3712-FD95-49901C400DCC}"/>
                    </a:ext>
                  </a:extLst>
                </p:cNvPr>
                <p:cNvPicPr>
                  <a:picLocks noChangeAspect="1"/>
                </p:cNvPicPr>
                <p:nvPr/>
              </p:nvPicPr>
              <p:blipFill>
                <a:blip r:embed="rId2"/>
                <a:stretch>
                  <a:fillRect/>
                </a:stretch>
              </p:blipFill>
              <p:spPr>
                <a:xfrm>
                  <a:off x="1285547" y="2088319"/>
                  <a:ext cx="9620906" cy="1523310"/>
                </a:xfrm>
                <a:prstGeom prst="rect">
                  <a:avLst/>
                </a:prstGeom>
              </p:spPr>
            </p:pic>
          </p:grpSp>
          <p:sp>
            <p:nvSpPr>
              <p:cNvPr id="12" name="직사각형 11">
                <a:extLst>
                  <a:ext uri="{FF2B5EF4-FFF2-40B4-BE49-F238E27FC236}">
                    <a16:creationId xmlns:a16="http://schemas.microsoft.com/office/drawing/2014/main" id="{AFE8BCD9-F5DE-33DA-9E67-E4CEEBD7FC57}"/>
                  </a:ext>
                </a:extLst>
              </p:cNvPr>
              <p:cNvSpPr/>
              <p:nvPr/>
            </p:nvSpPr>
            <p:spPr>
              <a:xfrm>
                <a:off x="5368159" y="2514600"/>
                <a:ext cx="2522482" cy="2049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7" name="그림 16">
              <a:extLst>
                <a:ext uri="{FF2B5EF4-FFF2-40B4-BE49-F238E27FC236}">
                  <a16:creationId xmlns:a16="http://schemas.microsoft.com/office/drawing/2014/main" id="{A7A60983-4C3D-FF02-4D2E-1A2F4A828288}"/>
                </a:ext>
              </a:extLst>
            </p:cNvPr>
            <p:cNvPicPr>
              <a:picLocks noChangeAspect="1"/>
            </p:cNvPicPr>
            <p:nvPr/>
          </p:nvPicPr>
          <p:blipFill>
            <a:blip r:embed="rId3"/>
            <a:stretch>
              <a:fillRect/>
            </a:stretch>
          </p:blipFill>
          <p:spPr>
            <a:xfrm>
              <a:off x="1285545" y="3658314"/>
              <a:ext cx="9620907" cy="1523310"/>
            </a:xfrm>
            <a:prstGeom prst="rect">
              <a:avLst/>
            </a:prstGeom>
          </p:spPr>
        </p:pic>
      </p:grpSp>
    </p:spTree>
    <p:extLst>
      <p:ext uri="{BB962C8B-B14F-4D97-AF65-F5344CB8AC3E}">
        <p14:creationId xmlns:p14="http://schemas.microsoft.com/office/powerpoint/2010/main" val="3185935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Technology(12/25)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the Benefits of Using </a:t>
            </a:r>
            <a:r>
              <a:rPr lang="en-US" altLang="ko-KR" sz="1800" b="1" dirty="0" err="1"/>
              <a:t>PersistentVolumes</a:t>
            </a:r>
            <a:r>
              <a:rPr lang="en-US" altLang="ko-KR" sz="1800" b="1" dirty="0"/>
              <a:t> and Claims :</a:t>
            </a:r>
          </a:p>
          <a:p>
            <a:pPr lvl="1">
              <a:buFont typeface="Wingdings" panose="05000000000000000000" pitchFamily="2" charset="2"/>
              <a:buChar char="§"/>
            </a:pPr>
            <a:r>
              <a:rPr lang="en-US" altLang="ko-KR" sz="1400" b="1" dirty="0"/>
              <a:t>The following figure shows both ways a pod can use a GCE Persistent Disk—directly or through a </a:t>
            </a:r>
            <a:r>
              <a:rPr lang="en-US" altLang="ko-KR" sz="1400" b="1" dirty="0" err="1"/>
              <a:t>PersistentVolume</a:t>
            </a:r>
            <a:r>
              <a:rPr lang="en-US" altLang="ko-KR" sz="1400" b="1" dirty="0"/>
              <a:t> and claim</a:t>
            </a:r>
            <a:r>
              <a:rPr lang="en-US" altLang="ko-KR" sz="1400" dirty="0"/>
              <a:t>. Consider how using this indirect method of obtaining storage from the infrastructure is much simpler for the application developer (or cluster user). </a:t>
            </a:r>
            <a:r>
              <a:rPr lang="en-US" altLang="ko-KR" sz="1400" b="1" dirty="0"/>
              <a:t>Yes, it does require the additional steps of creating the </a:t>
            </a:r>
            <a:r>
              <a:rPr lang="en-US" altLang="ko-KR" sz="1400" b="1" dirty="0" err="1"/>
              <a:t>PersistentVolume</a:t>
            </a:r>
            <a:r>
              <a:rPr lang="en-US" altLang="ko-KR" sz="1400" b="1" dirty="0"/>
              <a:t> and the </a:t>
            </a:r>
            <a:r>
              <a:rPr lang="en-US" altLang="ko-KR" sz="1400" b="1" dirty="0" err="1"/>
              <a:t>PersistentVolumeClaim</a:t>
            </a:r>
            <a:r>
              <a:rPr lang="en-US" altLang="ko-KR" sz="1400" b="1" dirty="0"/>
              <a:t>, but the developer doesn’t have to know anything about the actual storage technology used underneath</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F62D185-56D9-043B-BBFF-F5D95817EA6C}"/>
              </a:ext>
            </a:extLst>
          </p:cNvPr>
          <p:cNvSpPr txBox="1"/>
          <p:nvPr/>
        </p:nvSpPr>
        <p:spPr>
          <a:xfrm>
            <a:off x="838200" y="2227555"/>
            <a:ext cx="5514975" cy="1449628"/>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Additionally, the same pod and claim manifests can now be used on many different Kubernetes clusters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because they don’t refer to anything infrastructure-specific. The claim states, “I need x amount of storage and I need to be able to read and write to it by a single client at once,” and then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pod references the claim by name in one of its volumes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grpSp>
        <p:nvGrpSpPr>
          <p:cNvPr id="13" name="그룹 12">
            <a:extLst>
              <a:ext uri="{FF2B5EF4-FFF2-40B4-BE49-F238E27FC236}">
                <a16:creationId xmlns:a16="http://schemas.microsoft.com/office/drawing/2014/main" id="{3C0A30C2-AFF9-39E9-BF8F-D8EBBA3550A2}"/>
              </a:ext>
            </a:extLst>
          </p:cNvPr>
          <p:cNvGrpSpPr/>
          <p:nvPr/>
        </p:nvGrpSpPr>
        <p:grpSpPr>
          <a:xfrm>
            <a:off x="6353175" y="2227555"/>
            <a:ext cx="5000625" cy="4181475"/>
            <a:chOff x="6353175" y="2227555"/>
            <a:chExt cx="5000625" cy="4181475"/>
          </a:xfrm>
        </p:grpSpPr>
        <p:pic>
          <p:nvPicPr>
            <p:cNvPr id="8" name="그림 7">
              <a:extLst>
                <a:ext uri="{FF2B5EF4-FFF2-40B4-BE49-F238E27FC236}">
                  <a16:creationId xmlns:a16="http://schemas.microsoft.com/office/drawing/2014/main" id="{39B60750-573E-7F17-C422-45513B45F398}"/>
                </a:ext>
              </a:extLst>
            </p:cNvPr>
            <p:cNvPicPr>
              <a:picLocks noChangeAspect="1"/>
            </p:cNvPicPr>
            <p:nvPr/>
          </p:nvPicPr>
          <p:blipFill>
            <a:blip r:embed="rId2"/>
            <a:stretch>
              <a:fillRect/>
            </a:stretch>
          </p:blipFill>
          <p:spPr>
            <a:xfrm>
              <a:off x="6353175" y="2227555"/>
              <a:ext cx="5000625" cy="4181475"/>
            </a:xfrm>
            <a:prstGeom prst="rect">
              <a:avLst/>
            </a:prstGeom>
          </p:spPr>
        </p:pic>
        <p:sp>
          <p:nvSpPr>
            <p:cNvPr id="11" name="직사각형 10">
              <a:extLst>
                <a:ext uri="{FF2B5EF4-FFF2-40B4-BE49-F238E27FC236}">
                  <a16:creationId xmlns:a16="http://schemas.microsoft.com/office/drawing/2014/main" id="{D6800023-E741-147A-B5C3-260C0241EDDE}"/>
                </a:ext>
              </a:extLst>
            </p:cNvPr>
            <p:cNvSpPr/>
            <p:nvPr/>
          </p:nvSpPr>
          <p:spPr>
            <a:xfrm>
              <a:off x="8403021" y="5715000"/>
              <a:ext cx="1079938" cy="5360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순서도: 자기 디스크 11">
              <a:extLst>
                <a:ext uri="{FF2B5EF4-FFF2-40B4-BE49-F238E27FC236}">
                  <a16:creationId xmlns:a16="http://schemas.microsoft.com/office/drawing/2014/main" id="{B95A8806-237D-110D-81B3-B0B1E534C046}"/>
                </a:ext>
              </a:extLst>
            </p:cNvPr>
            <p:cNvSpPr/>
            <p:nvPr/>
          </p:nvSpPr>
          <p:spPr>
            <a:xfrm>
              <a:off x="10365826" y="5628290"/>
              <a:ext cx="906520" cy="728060"/>
            </a:xfrm>
            <a:prstGeom prst="flowChartMagneticDisk">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485086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Technology(13/25)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Recycling</a:t>
            </a:r>
            <a:r>
              <a:rPr lang="ko-KR" altLang="en-US" sz="1800" b="1" dirty="0"/>
              <a:t> </a:t>
            </a:r>
            <a:r>
              <a:rPr lang="en-US" altLang="ko-KR" sz="1800" b="1" dirty="0" err="1"/>
              <a:t>PersistentVolumes</a:t>
            </a:r>
            <a:r>
              <a:rPr lang="ko-KR" altLang="en-US" sz="1800" b="1" dirty="0"/>
              <a:t> </a:t>
            </a:r>
            <a:r>
              <a:rPr lang="en-US" altLang="ko-KR" sz="1800" b="1" dirty="0"/>
              <a:t>:</a:t>
            </a:r>
          </a:p>
          <a:p>
            <a:pPr lvl="1">
              <a:buFont typeface="Wingdings" panose="05000000000000000000" pitchFamily="2" charset="2"/>
              <a:buChar char="§"/>
            </a:pPr>
            <a:r>
              <a:rPr lang="en-US" altLang="ko-KR" sz="1400" b="1" dirty="0"/>
              <a:t>Delete the pod and the </a:t>
            </a:r>
            <a:r>
              <a:rPr lang="en-US" altLang="ko-KR" sz="1400" b="1" dirty="0" err="1"/>
              <a:t>PersistentVolumeClaim</a:t>
            </a:r>
            <a:r>
              <a:rPr lang="en-US" altLang="ko-KR" sz="1400" b="1" dirty="0"/>
              <a: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What if you create the </a:t>
            </a:r>
            <a:r>
              <a:rPr lang="en-US" altLang="ko-KR" sz="1400" b="1" dirty="0" err="1"/>
              <a:t>PersistentVolumeClaim</a:t>
            </a:r>
            <a:r>
              <a:rPr lang="en-US" altLang="ko-KR" sz="1400" b="1" dirty="0"/>
              <a:t> again? </a:t>
            </a:r>
            <a:r>
              <a:rPr lang="en-US" altLang="ko-KR" sz="1400" dirty="0"/>
              <a:t>Will it be bound to the </a:t>
            </a:r>
            <a:r>
              <a:rPr lang="en-US" altLang="ko-KR" sz="1400" dirty="0" err="1"/>
              <a:t>PersistentVolume</a:t>
            </a:r>
            <a:r>
              <a:rPr lang="en-US" altLang="ko-KR" sz="1400" dirty="0"/>
              <a:t> or not? After you create the claim, what does “</a:t>
            </a:r>
            <a:r>
              <a:rPr lang="en-US" altLang="ko-KR" sz="1400" b="1" dirty="0"/>
              <a:t>$ </a:t>
            </a:r>
            <a:r>
              <a:rPr lang="en-US" altLang="ko-KR" sz="1400" b="1" dirty="0" err="1"/>
              <a:t>kubectl</a:t>
            </a:r>
            <a:r>
              <a:rPr lang="en-US" altLang="ko-KR" sz="1400" b="1" dirty="0"/>
              <a:t> get </a:t>
            </a:r>
            <a:r>
              <a:rPr lang="en-US" altLang="ko-KR" sz="1400" b="1" dirty="0" err="1"/>
              <a:t>pv</a:t>
            </a:r>
            <a:r>
              <a:rPr lang="en-US" altLang="ko-KR" sz="1400" dirty="0"/>
              <a:t>” show?</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STATUS column shows the </a:t>
            </a:r>
            <a:r>
              <a:rPr lang="en-US" altLang="ko-KR" sz="1400" b="1" dirty="0" err="1"/>
              <a:t>PersistentVolume</a:t>
            </a:r>
            <a:r>
              <a:rPr lang="en-US" altLang="ko-KR" sz="1400" b="1" dirty="0"/>
              <a:t> as “</a:t>
            </a:r>
            <a:r>
              <a:rPr lang="en-US" altLang="ko-KR" sz="1400" b="1" dirty="0">
                <a:solidFill>
                  <a:srgbClr val="FF0000"/>
                </a:solidFill>
              </a:rPr>
              <a:t>Released</a:t>
            </a:r>
            <a:r>
              <a:rPr lang="en-US" altLang="ko-KR" sz="1400" b="1" dirty="0"/>
              <a:t>”</a:t>
            </a:r>
            <a:r>
              <a:rPr lang="en-US" altLang="ko-KR" sz="1400" dirty="0"/>
              <a:t>, not Available like before. </a:t>
            </a:r>
            <a:r>
              <a:rPr lang="en-US" altLang="ko-KR" sz="1400" b="1" dirty="0"/>
              <a:t>Because you’ve already used the volume, it may contain data and shouldn’t be bound to a completely new claim without giving the cluster admin a chance to clean it up</a:t>
            </a:r>
            <a:r>
              <a:rPr lang="en-US" altLang="ko-KR" sz="1400" dirty="0"/>
              <a:t>. Without this, a new pod using the same </a:t>
            </a:r>
            <a:r>
              <a:rPr lang="en-US" altLang="ko-KR" sz="1400" b="1" dirty="0" err="1"/>
              <a:t>PersistentVolume</a:t>
            </a:r>
            <a:r>
              <a:rPr lang="en-US" altLang="ko-KR" sz="1400" dirty="0"/>
              <a:t> could read the data stored there by the previous pod, even if the claim and pod were created in a different namespace (and thus likely belong to a different cluster tenant).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A8CAE00-EF1E-ABA2-8DC5-E7E121D63E6B}"/>
              </a:ext>
            </a:extLst>
          </p:cNvPr>
          <p:cNvPicPr>
            <a:picLocks noChangeAspect="1"/>
          </p:cNvPicPr>
          <p:nvPr/>
        </p:nvPicPr>
        <p:blipFill>
          <a:blip r:embed="rId2"/>
          <a:stretch>
            <a:fillRect/>
          </a:stretch>
        </p:blipFill>
        <p:spPr>
          <a:xfrm>
            <a:off x="1491155" y="1373781"/>
            <a:ext cx="9209690" cy="1458201"/>
          </a:xfrm>
          <a:prstGeom prst="rect">
            <a:avLst/>
          </a:prstGeom>
        </p:spPr>
      </p:pic>
      <p:grpSp>
        <p:nvGrpSpPr>
          <p:cNvPr id="14" name="그룹 13">
            <a:extLst>
              <a:ext uri="{FF2B5EF4-FFF2-40B4-BE49-F238E27FC236}">
                <a16:creationId xmlns:a16="http://schemas.microsoft.com/office/drawing/2014/main" id="{D764D842-C3FF-34A2-34A0-A0057FF8C07E}"/>
              </a:ext>
            </a:extLst>
          </p:cNvPr>
          <p:cNvGrpSpPr/>
          <p:nvPr/>
        </p:nvGrpSpPr>
        <p:grpSpPr>
          <a:xfrm>
            <a:off x="1491155" y="3476304"/>
            <a:ext cx="9209690" cy="1458201"/>
            <a:chOff x="1491156" y="3388417"/>
            <a:chExt cx="9209690" cy="1458201"/>
          </a:xfrm>
        </p:grpSpPr>
        <p:pic>
          <p:nvPicPr>
            <p:cNvPr id="12" name="그림 11">
              <a:extLst>
                <a:ext uri="{FF2B5EF4-FFF2-40B4-BE49-F238E27FC236}">
                  <a16:creationId xmlns:a16="http://schemas.microsoft.com/office/drawing/2014/main" id="{F50F34BF-7FC5-9EE2-CB7F-534613704E93}"/>
                </a:ext>
              </a:extLst>
            </p:cNvPr>
            <p:cNvPicPr>
              <a:picLocks noChangeAspect="1"/>
            </p:cNvPicPr>
            <p:nvPr/>
          </p:nvPicPr>
          <p:blipFill>
            <a:blip r:embed="rId3"/>
            <a:stretch>
              <a:fillRect/>
            </a:stretch>
          </p:blipFill>
          <p:spPr>
            <a:xfrm>
              <a:off x="1491156" y="3388417"/>
              <a:ext cx="9209690" cy="1458201"/>
            </a:xfrm>
            <a:prstGeom prst="rect">
              <a:avLst/>
            </a:prstGeom>
          </p:spPr>
        </p:pic>
        <p:sp>
          <p:nvSpPr>
            <p:cNvPr id="13" name="직사각형 12">
              <a:extLst>
                <a:ext uri="{FF2B5EF4-FFF2-40B4-BE49-F238E27FC236}">
                  <a16:creationId xmlns:a16="http://schemas.microsoft.com/office/drawing/2014/main" id="{34A686DB-6E65-0AF3-D015-B34F4020AEA9}"/>
                </a:ext>
              </a:extLst>
            </p:cNvPr>
            <p:cNvSpPr/>
            <p:nvPr/>
          </p:nvSpPr>
          <p:spPr>
            <a:xfrm>
              <a:off x="5029200" y="4205405"/>
              <a:ext cx="591207" cy="2798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724152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Technology(14/25)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Reclaiming </a:t>
            </a:r>
            <a:r>
              <a:rPr lang="en-US" altLang="ko-KR" sz="1800" b="1" dirty="0" err="1"/>
              <a:t>PersistentVolumes</a:t>
            </a:r>
            <a:r>
              <a:rPr lang="en-US" altLang="ko-KR" sz="1800" b="1" dirty="0"/>
              <a:t> Manually and Automatically :</a:t>
            </a:r>
          </a:p>
          <a:p>
            <a:pPr lvl="1">
              <a:buFont typeface="Wingdings" panose="05000000000000000000" pitchFamily="2" charset="2"/>
              <a:buChar char="§"/>
            </a:pPr>
            <a:r>
              <a:rPr lang="en-US" altLang="ko-KR" sz="1400" b="1" dirty="0"/>
              <a:t>You told Kubernetes you wanted your </a:t>
            </a:r>
            <a:r>
              <a:rPr lang="en-US" altLang="ko-KR" sz="1400" b="1" dirty="0" err="1"/>
              <a:t>PersistentVolume</a:t>
            </a:r>
            <a:r>
              <a:rPr lang="en-US" altLang="ko-KR" sz="1400" b="1" dirty="0"/>
              <a:t> to behave like this when you created it—by setting its “</a:t>
            </a:r>
            <a:r>
              <a:rPr lang="en-US" altLang="ko-KR" sz="1400" b="1" dirty="0" err="1">
                <a:solidFill>
                  <a:srgbClr val="FF0000"/>
                </a:solidFill>
              </a:rPr>
              <a:t>persistentVolumeReclaimPolicy</a:t>
            </a:r>
            <a:r>
              <a:rPr lang="en-US" altLang="ko-KR" sz="1400" b="1" dirty="0"/>
              <a:t>” to “</a:t>
            </a:r>
            <a:r>
              <a:rPr lang="en-US" altLang="ko-KR" sz="1400" b="1" dirty="0">
                <a:solidFill>
                  <a:srgbClr val="FF0000"/>
                </a:solidFill>
              </a:rPr>
              <a:t>Retain</a:t>
            </a:r>
            <a:r>
              <a:rPr lang="en-US" altLang="ko-KR" sz="1400" b="1" dirty="0"/>
              <a:t>”</a:t>
            </a:r>
            <a:r>
              <a:rPr lang="en-US" altLang="ko-KR" sz="1400" dirty="0"/>
              <a:t>. You wanted Kubernetes to retain the volume and its contents after it’s released from its claim. </a:t>
            </a:r>
            <a:r>
              <a:rPr lang="en-US" altLang="ko-KR" sz="1400" b="1" dirty="0"/>
              <a:t>The only way to manually recycle the </a:t>
            </a:r>
            <a:r>
              <a:rPr lang="en-US" altLang="ko-KR" sz="1400" b="1" dirty="0" err="1"/>
              <a:t>PersistentVolume</a:t>
            </a:r>
            <a:r>
              <a:rPr lang="en-US" altLang="ko-KR" sz="1400" b="1" dirty="0"/>
              <a:t> to make it available again is to delete and recreate the </a:t>
            </a:r>
            <a:r>
              <a:rPr lang="en-US" altLang="ko-KR" sz="1400" b="1" dirty="0" err="1"/>
              <a:t>PersistentVolume</a:t>
            </a:r>
            <a:r>
              <a:rPr lang="en-US" altLang="ko-KR" sz="1400" b="1" dirty="0"/>
              <a:t> resource</a:t>
            </a:r>
            <a:r>
              <a:rPr lang="en-US" altLang="ko-KR" sz="1400" dirty="0"/>
              <a:t>. As you do that, it’s your decision what to do with the files on the underlying storage : you can either delete them or leave them alone so they can be reused by the next pod.</a:t>
            </a:r>
          </a:p>
          <a:p>
            <a:pPr lvl="1">
              <a:buFont typeface="Wingdings" panose="05000000000000000000" pitchFamily="2" charset="2"/>
              <a:buChar char="§"/>
            </a:pPr>
            <a:r>
              <a:rPr lang="en-US" altLang="ko-KR" sz="1400" b="1" dirty="0"/>
              <a:t>Two other possible </a:t>
            </a:r>
            <a:r>
              <a:rPr lang="en-US" altLang="ko-KR" sz="1400" b="1" dirty="0">
                <a:solidFill>
                  <a:srgbClr val="FF0000"/>
                </a:solidFill>
              </a:rPr>
              <a:t>reclaim policies </a:t>
            </a:r>
            <a:r>
              <a:rPr lang="en-US" altLang="ko-KR" sz="1400" b="1" dirty="0"/>
              <a:t>exist: “</a:t>
            </a:r>
            <a:r>
              <a:rPr lang="en-US" altLang="ko-KR" sz="1400" b="1" dirty="0">
                <a:solidFill>
                  <a:srgbClr val="FF0000"/>
                </a:solidFill>
              </a:rPr>
              <a:t>Recycle</a:t>
            </a:r>
            <a:r>
              <a:rPr lang="en-US" altLang="ko-KR" sz="1400" b="1" dirty="0"/>
              <a:t>” and “</a:t>
            </a:r>
            <a:r>
              <a:rPr lang="en-US" altLang="ko-KR" sz="1400" b="1" dirty="0">
                <a:solidFill>
                  <a:srgbClr val="FF0000"/>
                </a:solidFill>
              </a:rPr>
              <a:t>Delete</a:t>
            </a:r>
            <a:r>
              <a:rPr lang="en-US" altLang="ko-KR" sz="1400" b="1" dirty="0"/>
              <a:t>”</a:t>
            </a:r>
            <a:r>
              <a:rPr lang="en-US" altLang="ko-KR" sz="1400" dirty="0"/>
              <a:t>. </a:t>
            </a:r>
            <a:r>
              <a:rPr lang="en-US" altLang="ko-KR" sz="1400" b="1" dirty="0"/>
              <a:t>The Recycle policy deletes the volume’s contents and makes the volume available to be claimed again</a:t>
            </a:r>
            <a:r>
              <a:rPr lang="en-US" altLang="ko-KR" sz="1400" dirty="0"/>
              <a:t>. This way, the </a:t>
            </a:r>
            <a:r>
              <a:rPr lang="en-US" altLang="ko-KR" sz="1400" b="1" dirty="0" err="1"/>
              <a:t>PersistentVolume</a:t>
            </a:r>
            <a:r>
              <a:rPr lang="en-US" altLang="ko-KR" sz="1400" dirty="0"/>
              <a:t> can be reused multiple times by different </a:t>
            </a:r>
            <a:r>
              <a:rPr lang="en-US" altLang="ko-KR" sz="1400" b="1" dirty="0" err="1"/>
              <a:t>PersistentVolumeClaims</a:t>
            </a:r>
            <a:r>
              <a:rPr lang="en-US" altLang="ko-KR" sz="1400" dirty="0"/>
              <a:t> and different pods, as you can see in the following figure. </a:t>
            </a:r>
            <a:r>
              <a:rPr lang="en-US" altLang="ko-KR" sz="1400" b="1" dirty="0"/>
              <a:t>The Delete policy, on the other hand, deletes the underlying storage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68E38D66-AD1C-3A39-03CD-82C3F720CC87}"/>
              </a:ext>
            </a:extLst>
          </p:cNvPr>
          <p:cNvPicPr>
            <a:picLocks noChangeAspect="1"/>
          </p:cNvPicPr>
          <p:nvPr/>
        </p:nvPicPr>
        <p:blipFill>
          <a:blip r:embed="rId2"/>
          <a:stretch>
            <a:fillRect/>
          </a:stretch>
        </p:blipFill>
        <p:spPr>
          <a:xfrm>
            <a:off x="3295650" y="3334398"/>
            <a:ext cx="5600700" cy="2362200"/>
          </a:xfrm>
          <a:prstGeom prst="rect">
            <a:avLst/>
          </a:prstGeom>
        </p:spPr>
      </p:pic>
    </p:spTree>
    <p:extLst>
      <p:ext uri="{BB962C8B-B14F-4D97-AF65-F5344CB8AC3E}">
        <p14:creationId xmlns:p14="http://schemas.microsoft.com/office/powerpoint/2010/main" val="17303200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Technology(15/25)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Reclaiming </a:t>
            </a:r>
            <a:r>
              <a:rPr lang="en-US" altLang="ko-KR" sz="1800" b="1" dirty="0" err="1"/>
              <a:t>PersistentVolumes</a:t>
            </a:r>
            <a:r>
              <a:rPr lang="en-US" altLang="ko-KR" sz="1800" b="1" dirty="0"/>
              <a:t> Manually and Automatically :</a:t>
            </a:r>
          </a:p>
          <a:p>
            <a:pPr lvl="1">
              <a:buFont typeface="Wingdings" panose="05000000000000000000" pitchFamily="2" charset="2"/>
              <a:buChar char="§"/>
            </a:pPr>
            <a:r>
              <a:rPr lang="en-US" altLang="ko-KR" sz="1400" b="1" dirty="0"/>
              <a:t>NOTE : The </a:t>
            </a:r>
            <a:r>
              <a:rPr lang="en-US" altLang="ko-KR" sz="1400" b="1" dirty="0">
                <a:solidFill>
                  <a:srgbClr val="FF0000"/>
                </a:solidFill>
              </a:rPr>
              <a:t>Recycle</a:t>
            </a:r>
            <a:r>
              <a:rPr lang="en-US" altLang="ko-KR" sz="1400" b="1" dirty="0"/>
              <a:t> option is currently not available for GCE Persistent Disks</a:t>
            </a:r>
            <a:r>
              <a:rPr lang="en-US" altLang="ko-KR" sz="1400" dirty="0"/>
              <a:t>. </a:t>
            </a:r>
            <a:r>
              <a:rPr lang="en-US" altLang="ko-KR" sz="1400" b="1" dirty="0"/>
              <a:t>This type of A </a:t>
            </a:r>
            <a:r>
              <a:rPr lang="en-US" altLang="ko-KR" sz="1400" b="1" dirty="0" err="1"/>
              <a:t>PersistentVolume</a:t>
            </a:r>
            <a:r>
              <a:rPr lang="en-US" altLang="ko-KR" sz="1400" b="1" dirty="0"/>
              <a:t> only supports the </a:t>
            </a:r>
            <a:r>
              <a:rPr lang="en-US" altLang="ko-KR" sz="1400" b="1" dirty="0">
                <a:solidFill>
                  <a:srgbClr val="FF0000"/>
                </a:solidFill>
              </a:rPr>
              <a:t>Retain</a:t>
            </a:r>
            <a:r>
              <a:rPr lang="en-US" altLang="ko-KR" sz="1400" b="1" dirty="0"/>
              <a:t> or </a:t>
            </a:r>
            <a:r>
              <a:rPr lang="en-US" altLang="ko-KR" sz="1400" b="1" dirty="0">
                <a:solidFill>
                  <a:srgbClr val="FF0000"/>
                </a:solidFill>
              </a:rPr>
              <a:t>Delete</a:t>
            </a:r>
            <a:r>
              <a:rPr lang="en-US" altLang="ko-KR" sz="1400" b="1" dirty="0"/>
              <a:t> policies</a:t>
            </a:r>
            <a:r>
              <a:rPr lang="en-US" altLang="ko-KR" sz="1400" dirty="0"/>
              <a:t>. Other </a:t>
            </a:r>
            <a:r>
              <a:rPr lang="en-US" altLang="ko-KR" sz="1400" b="1" dirty="0" err="1"/>
              <a:t>PersistentVolume</a:t>
            </a:r>
            <a:r>
              <a:rPr lang="en-US" altLang="ko-KR" sz="1400" dirty="0"/>
              <a:t> types may or may not support each of these options, so </a:t>
            </a:r>
            <a:r>
              <a:rPr lang="en-US" altLang="ko-KR" sz="1400" b="1" dirty="0"/>
              <a:t>before creating your own </a:t>
            </a:r>
            <a:r>
              <a:rPr lang="en-US" altLang="ko-KR" sz="1400" b="1" dirty="0" err="1"/>
              <a:t>PersistentVolume</a:t>
            </a:r>
            <a:r>
              <a:rPr lang="en-US" altLang="ko-KR" sz="1400" b="1" dirty="0"/>
              <a:t>, be sure to check what reclaim policies are supported for the specific underlying storage </a:t>
            </a:r>
            <a:r>
              <a:rPr lang="en-US" altLang="ko-KR" sz="1400" dirty="0"/>
              <a:t>you’ll use in the volume. </a:t>
            </a:r>
          </a:p>
          <a:p>
            <a:pPr lvl="1">
              <a:buFont typeface="Wingdings" panose="05000000000000000000" pitchFamily="2" charset="2"/>
              <a:buChar char="§"/>
            </a:pPr>
            <a:r>
              <a:rPr lang="en-US" altLang="ko-KR" sz="1400" b="1" dirty="0"/>
              <a:t>TIP : You can change the </a:t>
            </a:r>
            <a:r>
              <a:rPr lang="en-US" altLang="ko-KR" sz="1400" b="1" dirty="0" err="1"/>
              <a:t>PersistentVolume</a:t>
            </a:r>
            <a:r>
              <a:rPr lang="en-US" altLang="ko-KR" sz="1400" b="1" dirty="0"/>
              <a:t> reclaim policy on an existing </a:t>
            </a:r>
            <a:r>
              <a:rPr lang="en-US" altLang="ko-KR" sz="1400" b="1" dirty="0" err="1"/>
              <a:t>PersistentVolume</a:t>
            </a:r>
            <a:r>
              <a:rPr lang="en-US" altLang="ko-KR" sz="1400" dirty="0"/>
              <a:t>. For example, if it’s initially set to </a:t>
            </a:r>
            <a:r>
              <a:rPr lang="en-US" altLang="ko-KR" sz="1400" b="1" dirty="0"/>
              <a:t>Delete</a:t>
            </a:r>
            <a:r>
              <a:rPr lang="en-US" altLang="ko-KR" sz="1400" dirty="0"/>
              <a:t>, you can easily change it to </a:t>
            </a:r>
            <a:r>
              <a:rPr lang="en-US" altLang="ko-KR" sz="1400" b="1" dirty="0"/>
              <a:t>Retain</a:t>
            </a:r>
            <a:r>
              <a:rPr lang="en-US" altLang="ko-KR" sz="1400" dirty="0"/>
              <a:t> to prevent losing valuable data.</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4961495-F6BD-CF89-D488-33CB36F9391C}"/>
              </a:ext>
            </a:extLst>
          </p:cNvPr>
          <p:cNvPicPr>
            <a:picLocks noChangeAspect="1"/>
          </p:cNvPicPr>
          <p:nvPr/>
        </p:nvPicPr>
        <p:blipFill>
          <a:blip r:embed="rId2"/>
          <a:stretch>
            <a:fillRect/>
          </a:stretch>
        </p:blipFill>
        <p:spPr>
          <a:xfrm>
            <a:off x="3039050" y="2770436"/>
            <a:ext cx="6113900" cy="3273469"/>
          </a:xfrm>
          <a:prstGeom prst="rect">
            <a:avLst/>
          </a:prstGeom>
        </p:spPr>
      </p:pic>
    </p:spTree>
    <p:extLst>
      <p:ext uri="{BB962C8B-B14F-4D97-AF65-F5344CB8AC3E}">
        <p14:creationId xmlns:p14="http://schemas.microsoft.com/office/powerpoint/2010/main" val="3827832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Technology(16/25)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Provisioning of </a:t>
            </a:r>
            <a:r>
              <a:rPr lang="en-US" altLang="ko-KR" sz="1800" b="1" dirty="0" err="1"/>
              <a:t>PersistentVolumes</a:t>
            </a:r>
            <a:r>
              <a:rPr lang="en-US" altLang="ko-KR" sz="1800" b="1" dirty="0"/>
              <a:t> :</a:t>
            </a:r>
          </a:p>
          <a:p>
            <a:pPr lvl="1">
              <a:buFont typeface="Wingdings" panose="05000000000000000000" pitchFamily="2" charset="2"/>
              <a:buChar char="§"/>
            </a:pPr>
            <a:r>
              <a:rPr lang="en-US" altLang="ko-KR" sz="1400" dirty="0"/>
              <a:t>You’ve seen how using </a:t>
            </a:r>
            <a:r>
              <a:rPr lang="en-US" altLang="ko-KR" sz="1400" b="1" dirty="0" err="1"/>
              <a:t>PersistentVolumes</a:t>
            </a:r>
            <a:r>
              <a:rPr lang="en-US" altLang="ko-KR" sz="1400" dirty="0"/>
              <a:t> and </a:t>
            </a:r>
            <a:r>
              <a:rPr lang="en-US" altLang="ko-KR" sz="1400" b="1" dirty="0" err="1"/>
              <a:t>PersistentVolumeClaims</a:t>
            </a:r>
            <a:r>
              <a:rPr lang="en-US" altLang="ko-KR" sz="1400" dirty="0"/>
              <a:t> makes it easy to obtain persistent storage without the developer having to deal with the actual storage technology used underneath. But this still requires a cluster administrator to provision the actual storage up front. Luckily, Kubernetes can also perform this job automatically through </a:t>
            </a:r>
            <a:r>
              <a:rPr lang="en-US" altLang="ko-KR" sz="1400" b="1" dirty="0">
                <a:solidFill>
                  <a:srgbClr val="FF0000"/>
                </a:solidFill>
              </a:rPr>
              <a:t>dynamic provisioning of </a:t>
            </a:r>
            <a:r>
              <a:rPr lang="en-US" altLang="ko-KR" sz="1400" b="1" dirty="0" err="1">
                <a:solidFill>
                  <a:srgbClr val="FF0000"/>
                </a:solidFill>
              </a:rPr>
              <a:t>PersistentVolumes</a:t>
            </a:r>
            <a:r>
              <a:rPr lang="en-US" altLang="ko-KR" sz="1400" dirty="0"/>
              <a:t>. </a:t>
            </a:r>
          </a:p>
          <a:p>
            <a:pPr lvl="1">
              <a:buFont typeface="Wingdings" panose="05000000000000000000" pitchFamily="2" charset="2"/>
              <a:buChar char="§"/>
            </a:pPr>
            <a:r>
              <a:rPr lang="en-US" altLang="ko-KR" sz="1400" b="1" dirty="0"/>
              <a:t>The cluster admin, instead of creating </a:t>
            </a:r>
            <a:r>
              <a:rPr lang="en-US" altLang="ko-KR" sz="1400" b="1" dirty="0" err="1"/>
              <a:t>PersistentVolumes</a:t>
            </a:r>
            <a:r>
              <a:rPr lang="en-US" altLang="ko-KR" sz="1400" b="1" dirty="0"/>
              <a:t>, can deploy a </a:t>
            </a:r>
            <a:r>
              <a:rPr lang="en-US" altLang="ko-KR" sz="1400" b="1" dirty="0" err="1"/>
              <a:t>PersistentVolume</a:t>
            </a:r>
            <a:r>
              <a:rPr lang="en-US" altLang="ko-KR" sz="1400" b="1" dirty="0"/>
              <a:t> provisioner and define one or more </a:t>
            </a:r>
            <a:r>
              <a:rPr lang="en-US" altLang="ko-KR" sz="1400" b="1" dirty="0" err="1"/>
              <a:t>StorageClass</a:t>
            </a:r>
            <a:r>
              <a:rPr lang="en-US" altLang="ko-KR" sz="1400" b="1" dirty="0"/>
              <a:t> objects to let users choose what type of </a:t>
            </a:r>
            <a:r>
              <a:rPr lang="en-US" altLang="ko-KR" sz="1400" b="1" dirty="0" err="1"/>
              <a:t>PersistentVolume</a:t>
            </a:r>
            <a:r>
              <a:rPr lang="en-US" altLang="ko-KR" sz="1400" b="1" dirty="0"/>
              <a:t> they want. The users can refer to the </a:t>
            </a:r>
            <a:r>
              <a:rPr lang="en-US" altLang="ko-KR" sz="1400" b="1" dirty="0" err="1"/>
              <a:t>StorageClass</a:t>
            </a:r>
            <a:r>
              <a:rPr lang="en-US" altLang="ko-KR" sz="1400" b="1" dirty="0"/>
              <a:t> in their </a:t>
            </a:r>
            <a:r>
              <a:rPr lang="en-US" altLang="ko-KR" sz="1400" b="1" dirty="0" err="1"/>
              <a:t>PersistentVolumeClaims</a:t>
            </a:r>
            <a:r>
              <a:rPr lang="en-US" altLang="ko-KR" sz="1400" b="1" dirty="0"/>
              <a:t> and the provisioner will take that into account when provisioning the persistent storage</a:t>
            </a:r>
            <a:r>
              <a:rPr lang="en-US" altLang="ko-KR" sz="1400" dirty="0"/>
              <a:t>.</a:t>
            </a:r>
          </a:p>
          <a:p>
            <a:pPr lvl="1">
              <a:buFont typeface="Wingdings" panose="05000000000000000000" pitchFamily="2" charset="2"/>
              <a:buChar char="§"/>
            </a:pPr>
            <a:r>
              <a:rPr lang="en-US" altLang="ko-KR" sz="1400" b="1" dirty="0"/>
              <a:t>NOTE : Similar to </a:t>
            </a:r>
            <a:r>
              <a:rPr lang="en-US" altLang="ko-KR" sz="1400" b="1" dirty="0" err="1"/>
              <a:t>PersistentVolumes</a:t>
            </a:r>
            <a:r>
              <a:rPr lang="en-US" altLang="ko-KR" sz="1400" b="1" dirty="0"/>
              <a:t>, </a:t>
            </a:r>
            <a:r>
              <a:rPr lang="en-US" altLang="ko-KR" sz="1400" b="1" dirty="0" err="1"/>
              <a:t>StorageClass</a:t>
            </a:r>
            <a:r>
              <a:rPr lang="en-US" altLang="ko-KR" sz="1400" b="1" dirty="0"/>
              <a:t> resources aren’t </a:t>
            </a:r>
            <a:r>
              <a:rPr lang="en-US" altLang="ko-KR" sz="1400" b="1" dirty="0" err="1"/>
              <a:t>namespaced</a:t>
            </a:r>
            <a:r>
              <a:rPr lang="en-US" altLang="ko-KR" sz="1400" dirty="0"/>
              <a:t>. Kubernetes includes provisioners for the most popular cloud providers, so the administrator doesn’t always need to deploy a provisioner. </a:t>
            </a:r>
            <a:r>
              <a:rPr lang="en-US" altLang="ko-KR" sz="1400" b="1" dirty="0"/>
              <a:t>But if Kubernetes is deployed on-premises, a custom provisioner needs to be deployed</a:t>
            </a:r>
            <a:r>
              <a:rPr lang="en-US" altLang="ko-KR" sz="1400" dirty="0"/>
              <a:t>.</a:t>
            </a:r>
          </a:p>
          <a:p>
            <a:pPr lvl="1">
              <a:buFont typeface="Wingdings" panose="05000000000000000000" pitchFamily="2" charset="2"/>
              <a:buChar char="§"/>
            </a:pPr>
            <a:r>
              <a:rPr lang="en-US" altLang="ko-KR" sz="1400" b="1" dirty="0"/>
              <a:t>Instead of the administrator pre-provisioning a bunch of </a:t>
            </a:r>
            <a:r>
              <a:rPr lang="en-US" altLang="ko-KR" sz="1400" b="1" dirty="0" err="1"/>
              <a:t>PersistentVolumes</a:t>
            </a:r>
            <a:r>
              <a:rPr lang="en-US" altLang="ko-KR" sz="1400" b="1" dirty="0"/>
              <a:t>, they need to define one or two (or more) </a:t>
            </a:r>
            <a:r>
              <a:rPr lang="en-US" altLang="ko-KR" sz="1400" b="1" dirty="0" err="1"/>
              <a:t>StorageClasses</a:t>
            </a:r>
            <a:r>
              <a:rPr lang="en-US" altLang="ko-KR" sz="1400" b="1" dirty="0"/>
              <a:t> and let the system create a new </a:t>
            </a:r>
            <a:r>
              <a:rPr lang="en-US" altLang="ko-KR" sz="1400" b="1" dirty="0" err="1"/>
              <a:t>PersistentVolume</a:t>
            </a:r>
            <a:r>
              <a:rPr lang="en-US" altLang="ko-KR" sz="1400" b="1" dirty="0"/>
              <a:t> each time one is requested through a </a:t>
            </a:r>
            <a:r>
              <a:rPr lang="en-US" altLang="ko-KR" sz="1400" b="1" dirty="0" err="1"/>
              <a:t>PersistentVolumeClaim</a:t>
            </a:r>
            <a:r>
              <a:rPr lang="en-US" altLang="ko-KR" sz="1400" dirty="0"/>
              <a:t>. The great thing about this is that </a:t>
            </a:r>
            <a:r>
              <a:rPr lang="en-US" altLang="ko-KR" sz="1400" b="1" dirty="0"/>
              <a:t>it’s impossible to run out of </a:t>
            </a:r>
            <a:r>
              <a:rPr lang="en-US" altLang="ko-KR" sz="1400" b="1" dirty="0" err="1"/>
              <a:t>PersistentVolumes</a:t>
            </a:r>
            <a:r>
              <a:rPr lang="en-US" altLang="ko-KR" sz="1400" b="1" dirty="0"/>
              <a:t> </a:t>
            </a:r>
            <a:r>
              <a:rPr lang="en-US" altLang="ko-KR" sz="1400" dirty="0"/>
              <a:t>(obviously, you can run out of storage space).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D301BDC-83FD-08A9-A5FE-8CB2D7F9DCF3}"/>
              </a:ext>
            </a:extLst>
          </p:cNvPr>
          <p:cNvPicPr>
            <a:picLocks noChangeAspect="1"/>
          </p:cNvPicPr>
          <p:nvPr/>
        </p:nvPicPr>
        <p:blipFill>
          <a:blip r:embed="rId2"/>
          <a:stretch>
            <a:fillRect/>
          </a:stretch>
        </p:blipFill>
        <p:spPr>
          <a:xfrm>
            <a:off x="3757397" y="4233041"/>
            <a:ext cx="4677206" cy="2175989"/>
          </a:xfrm>
          <a:prstGeom prst="rect">
            <a:avLst/>
          </a:prstGeom>
        </p:spPr>
      </p:pic>
    </p:spTree>
    <p:extLst>
      <p:ext uri="{BB962C8B-B14F-4D97-AF65-F5344CB8AC3E}">
        <p14:creationId xmlns:p14="http://schemas.microsoft.com/office/powerpoint/2010/main" val="37354265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Technology(17/25)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Available Storage Types through </a:t>
            </a:r>
            <a:r>
              <a:rPr lang="en-US" altLang="ko-KR" sz="1800" b="1" dirty="0" err="1"/>
              <a:t>StorageClass</a:t>
            </a:r>
            <a:r>
              <a:rPr lang="en-US" altLang="ko-KR" sz="1800" b="1" dirty="0"/>
              <a:t> Resources :</a:t>
            </a:r>
          </a:p>
          <a:p>
            <a:pPr lvl="1">
              <a:buFont typeface="Wingdings" panose="05000000000000000000" pitchFamily="2" charset="2"/>
              <a:buChar char="§"/>
            </a:pPr>
            <a:r>
              <a:rPr lang="en-US" altLang="ko-KR" sz="1400" b="1" dirty="0"/>
              <a:t>Before a user can create a </a:t>
            </a:r>
            <a:r>
              <a:rPr lang="en-US" altLang="ko-KR" sz="1400" b="1" dirty="0" err="1"/>
              <a:t>PersistentVolumeClaim</a:t>
            </a:r>
            <a:r>
              <a:rPr lang="en-US" altLang="ko-KR" sz="1400" b="1" dirty="0"/>
              <a:t>, which will result in a new </a:t>
            </a:r>
            <a:r>
              <a:rPr lang="en-US" altLang="ko-KR" sz="1400" b="1" dirty="0" err="1"/>
              <a:t>PersistentVolume</a:t>
            </a:r>
            <a:r>
              <a:rPr lang="en-US" altLang="ko-KR" sz="1400" b="1" dirty="0"/>
              <a:t> being provisioned, an admin needs to create one or more </a:t>
            </a:r>
            <a:r>
              <a:rPr lang="en-US" altLang="ko-KR" sz="1400" b="1" dirty="0" err="1">
                <a:solidFill>
                  <a:srgbClr val="FF0000"/>
                </a:solidFill>
              </a:rPr>
              <a:t>StorageClass</a:t>
            </a:r>
            <a:r>
              <a:rPr lang="en-US" altLang="ko-KR" sz="1400" b="1" dirty="0"/>
              <a:t> resources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err="1">
                <a:solidFill>
                  <a:srgbClr val="FF0000"/>
                </a:solidFill>
              </a:rPr>
              <a:t>StorageClass</a:t>
            </a:r>
            <a:r>
              <a:rPr lang="en-US" altLang="ko-KR" sz="1400" b="1" dirty="0"/>
              <a:t> resource specifies </a:t>
            </a:r>
            <a:r>
              <a:rPr lang="en-US" altLang="ko-KR" sz="1400" b="1" dirty="0">
                <a:solidFill>
                  <a:srgbClr val="FF0000"/>
                </a:solidFill>
              </a:rPr>
              <a:t>which provisioner should be used </a:t>
            </a:r>
            <a:r>
              <a:rPr lang="en-US" altLang="ko-KR" sz="1400" b="1" dirty="0"/>
              <a:t>for provisioning the </a:t>
            </a:r>
            <a:r>
              <a:rPr lang="en-US" altLang="ko-KR" sz="1400" b="1" dirty="0" err="1"/>
              <a:t>PersistentVolume</a:t>
            </a:r>
            <a:r>
              <a:rPr lang="en-US" altLang="ko-KR" sz="1400" b="1" dirty="0"/>
              <a:t> when a </a:t>
            </a:r>
            <a:r>
              <a:rPr lang="en-US" altLang="ko-KR" sz="1400" b="1" dirty="0" err="1"/>
              <a:t>PersistentVolumeClaim</a:t>
            </a:r>
            <a:r>
              <a:rPr lang="en-US" altLang="ko-KR" sz="1400" b="1" dirty="0"/>
              <a:t> requests this </a:t>
            </a:r>
            <a:r>
              <a:rPr lang="en-US" altLang="ko-KR" sz="1400" b="1" dirty="0" err="1"/>
              <a:t>StorageClass</a:t>
            </a:r>
            <a:r>
              <a:rPr lang="en-US" altLang="ko-KR" sz="1400" dirty="0"/>
              <a:t>. </a:t>
            </a:r>
            <a:r>
              <a:rPr lang="en-US" altLang="ko-KR" sz="1400" b="1" dirty="0"/>
              <a:t>The parameters defined in the </a:t>
            </a:r>
            <a:r>
              <a:rPr lang="en-US" altLang="ko-KR" sz="1400" b="1" dirty="0" err="1"/>
              <a:t>StorageClass</a:t>
            </a:r>
            <a:r>
              <a:rPr lang="en-US" altLang="ko-KR" sz="1400" b="1" dirty="0"/>
              <a:t> definition are passed to the provisioner and are specific to each </a:t>
            </a:r>
            <a:r>
              <a:rPr lang="en-US" altLang="ko-KR" sz="1400" b="1" dirty="0">
                <a:solidFill>
                  <a:srgbClr val="FF0000"/>
                </a:solidFill>
              </a:rPr>
              <a:t>provisioner plugin</a:t>
            </a:r>
            <a:r>
              <a:rPr lang="en-US" altLang="ko-KR" sz="1400" dirty="0"/>
              <a:t>.</a:t>
            </a:r>
          </a:p>
          <a:p>
            <a:pPr lvl="1">
              <a:buFont typeface="Wingdings" panose="05000000000000000000" pitchFamily="2" charset="2"/>
              <a:buChar char="§"/>
            </a:pPr>
            <a:r>
              <a:rPr lang="en-US" altLang="ko-KR" sz="1400" b="1" dirty="0"/>
              <a:t>NOTE : In the above YAML file, “</a:t>
            </a:r>
            <a:r>
              <a:rPr lang="en-US" altLang="ko-KR" sz="1400" b="1" dirty="0">
                <a:solidFill>
                  <a:srgbClr val="FF0000"/>
                </a:solidFill>
              </a:rPr>
              <a:t>pd</a:t>
            </a:r>
            <a:r>
              <a:rPr lang="en-US" altLang="ko-KR" sz="1400" b="1" dirty="0"/>
              <a:t>” means Persistent Disk</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E2ACE81-5038-702D-EAC6-FD617B0B59A0}"/>
              </a:ext>
            </a:extLst>
          </p:cNvPr>
          <p:cNvGrpSpPr/>
          <p:nvPr/>
        </p:nvGrpSpPr>
        <p:grpSpPr>
          <a:xfrm>
            <a:off x="3047343" y="1711774"/>
            <a:ext cx="6097314" cy="1169551"/>
            <a:chOff x="3047343" y="1672360"/>
            <a:chExt cx="6097314" cy="1169551"/>
          </a:xfrm>
        </p:grpSpPr>
        <p:sp>
          <p:nvSpPr>
            <p:cNvPr id="8" name="TextBox 7">
              <a:extLst>
                <a:ext uri="{FF2B5EF4-FFF2-40B4-BE49-F238E27FC236}">
                  <a16:creationId xmlns:a16="http://schemas.microsoft.com/office/drawing/2014/main" id="{D28149C0-F916-5037-BE73-EB632594F738}"/>
                </a:ext>
              </a:extLst>
            </p:cNvPr>
            <p:cNvSpPr txBox="1"/>
            <p:nvPr/>
          </p:nvSpPr>
          <p:spPr>
            <a:xfrm>
              <a:off x="3047343" y="1672360"/>
              <a:ext cx="6097314" cy="116955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storage.k8s.io/v1</a:t>
              </a:r>
            </a:p>
            <a:p>
              <a:r>
                <a:rPr lang="en-US" altLang="ko-KR" sz="1000" b="1" dirty="0"/>
                <a:t>kind: </a:t>
              </a:r>
              <a:r>
                <a:rPr lang="en-US" altLang="ko-KR" sz="1000" b="1" dirty="0" err="1">
                  <a:solidFill>
                    <a:srgbClr val="FF0000"/>
                  </a:solidFill>
                </a:rPr>
                <a:t>StorageClass</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fast</a:t>
              </a:r>
            </a:p>
            <a:p>
              <a:r>
                <a:rPr lang="en-US" altLang="ko-KR" sz="1000" b="1" dirty="0"/>
                <a:t>provisioner: </a:t>
              </a:r>
              <a:r>
                <a:rPr lang="en-US" altLang="ko-KR" sz="1000" b="1" dirty="0">
                  <a:solidFill>
                    <a:srgbClr val="FF0000"/>
                  </a:solidFill>
                </a:rPr>
                <a:t>k8s.io/</a:t>
              </a:r>
              <a:r>
                <a:rPr lang="en-US" altLang="ko-KR" sz="1000" b="1" dirty="0" err="1">
                  <a:solidFill>
                    <a:srgbClr val="FF0000"/>
                  </a:solidFill>
                </a:rPr>
                <a:t>minikube-hostpath</a:t>
              </a:r>
              <a:endParaRPr lang="en-US" altLang="ko-KR" sz="1000" b="1" dirty="0">
                <a:solidFill>
                  <a:srgbClr val="FF0000"/>
                </a:solidFill>
              </a:endParaRPr>
            </a:p>
            <a:p>
              <a:r>
                <a:rPr lang="en-US" altLang="ko-KR" sz="1000" b="1" dirty="0"/>
                <a:t>parameters:</a:t>
              </a:r>
            </a:p>
            <a:p>
              <a:r>
                <a:rPr lang="en-US" altLang="ko-KR" sz="1000" b="1" dirty="0"/>
                <a:t>  type: </a:t>
              </a:r>
              <a:r>
                <a:rPr lang="en-US" altLang="ko-KR" sz="1000" b="1" dirty="0">
                  <a:solidFill>
                    <a:srgbClr val="FF0000"/>
                  </a:solidFill>
                </a:rPr>
                <a:t>pd-</a:t>
              </a:r>
              <a:r>
                <a:rPr lang="en-US" altLang="ko-KR" sz="1000" b="1" dirty="0" err="1">
                  <a:solidFill>
                    <a:srgbClr val="FF0000"/>
                  </a:solidFill>
                </a:rPr>
                <a:t>ssd</a:t>
              </a:r>
              <a:endParaRPr lang="ko-KR" altLang="en-US" sz="1000" b="1" dirty="0">
                <a:solidFill>
                  <a:srgbClr val="FF0000"/>
                </a:solidFill>
              </a:endParaRPr>
            </a:p>
          </p:txBody>
        </p:sp>
        <p:sp>
          <p:nvSpPr>
            <p:cNvPr id="10" name="TextBox 9">
              <a:extLst>
                <a:ext uri="{FF2B5EF4-FFF2-40B4-BE49-F238E27FC236}">
                  <a16:creationId xmlns:a16="http://schemas.microsoft.com/office/drawing/2014/main" id="{42B2C073-0F22-31A5-1BCB-06B357749CDA}"/>
                </a:ext>
              </a:extLst>
            </p:cNvPr>
            <p:cNvSpPr txBox="1"/>
            <p:nvPr/>
          </p:nvSpPr>
          <p:spPr>
            <a:xfrm>
              <a:off x="7013946" y="1672360"/>
              <a:ext cx="2130711" cy="246221"/>
            </a:xfrm>
            <a:prstGeom prst="rect">
              <a:avLst/>
            </a:prstGeom>
            <a:noFill/>
          </p:spPr>
          <p:txBody>
            <a:bodyPr wrap="none" rtlCol="0">
              <a:spAutoFit/>
            </a:bodyPr>
            <a:lstStyle/>
            <a:p>
              <a:pPr algn="l"/>
              <a:r>
                <a:rPr lang="en-US" altLang="ko-KR" sz="1000" b="1" dirty="0" err="1"/>
                <a:t>storageclass</a:t>
              </a:r>
              <a:r>
                <a:rPr lang="en-US" altLang="ko-KR" sz="1000" b="1" dirty="0"/>
                <a:t>-fast-</a:t>
              </a:r>
              <a:r>
                <a:rPr lang="en-US" altLang="ko-KR" sz="1000" b="1" dirty="0" err="1"/>
                <a:t>hostpath.yaml</a:t>
              </a:r>
              <a:endParaRPr lang="ko-KR" altLang="en-US" sz="1000" b="1" dirty="0"/>
            </a:p>
          </p:txBody>
        </p:sp>
      </p:grpSp>
      <p:grpSp>
        <p:nvGrpSpPr>
          <p:cNvPr id="18" name="그룹 17">
            <a:extLst>
              <a:ext uri="{FF2B5EF4-FFF2-40B4-BE49-F238E27FC236}">
                <a16:creationId xmlns:a16="http://schemas.microsoft.com/office/drawing/2014/main" id="{23A9D00C-87B1-AFE3-3FD0-227A12474249}"/>
              </a:ext>
            </a:extLst>
          </p:cNvPr>
          <p:cNvGrpSpPr/>
          <p:nvPr/>
        </p:nvGrpSpPr>
        <p:grpSpPr>
          <a:xfrm>
            <a:off x="1365031" y="4156062"/>
            <a:ext cx="9461938" cy="1521795"/>
            <a:chOff x="1365031" y="4156062"/>
            <a:chExt cx="9461938" cy="1521795"/>
          </a:xfrm>
        </p:grpSpPr>
        <p:pic>
          <p:nvPicPr>
            <p:cNvPr id="15" name="그림 14">
              <a:extLst>
                <a:ext uri="{FF2B5EF4-FFF2-40B4-BE49-F238E27FC236}">
                  <a16:creationId xmlns:a16="http://schemas.microsoft.com/office/drawing/2014/main" id="{858A11C8-74A4-92B0-FF6E-CC368630576D}"/>
                </a:ext>
              </a:extLst>
            </p:cNvPr>
            <p:cNvPicPr>
              <a:picLocks noChangeAspect="1"/>
            </p:cNvPicPr>
            <p:nvPr/>
          </p:nvPicPr>
          <p:blipFill>
            <a:blip r:embed="rId2"/>
            <a:stretch>
              <a:fillRect/>
            </a:stretch>
          </p:blipFill>
          <p:spPr>
            <a:xfrm>
              <a:off x="1365031" y="4156062"/>
              <a:ext cx="9461938" cy="1521795"/>
            </a:xfrm>
            <a:prstGeom prst="rect">
              <a:avLst/>
            </a:prstGeom>
          </p:spPr>
        </p:pic>
        <p:sp>
          <p:nvSpPr>
            <p:cNvPr id="16" name="직사각형 15">
              <a:extLst>
                <a:ext uri="{FF2B5EF4-FFF2-40B4-BE49-F238E27FC236}">
                  <a16:creationId xmlns:a16="http://schemas.microsoft.com/office/drawing/2014/main" id="{93F4AE54-297D-3A9A-22AC-CE8417B36640}"/>
                </a:ext>
              </a:extLst>
            </p:cNvPr>
            <p:cNvSpPr/>
            <p:nvPr/>
          </p:nvSpPr>
          <p:spPr>
            <a:xfrm>
              <a:off x="5376041" y="4579883"/>
              <a:ext cx="3234559" cy="1778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4781B2BC-848C-72E8-E63B-FCC72E2FCEC8}"/>
                </a:ext>
              </a:extLst>
            </p:cNvPr>
            <p:cNvSpPr/>
            <p:nvPr/>
          </p:nvSpPr>
          <p:spPr>
            <a:xfrm>
              <a:off x="1450428" y="5146226"/>
              <a:ext cx="7160172" cy="1273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764634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Technology(18/25)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Requesting the Storage Class in a </a:t>
            </a:r>
            <a:r>
              <a:rPr lang="en-US" altLang="ko-KR" sz="1800" b="1" dirty="0" err="1"/>
              <a:t>PersistentVolumeClaim</a:t>
            </a:r>
            <a:r>
              <a:rPr lang="en-US" altLang="ko-KR" sz="1800" b="1" dirty="0"/>
              <a:t> :</a:t>
            </a:r>
          </a:p>
          <a:p>
            <a:pPr lvl="1">
              <a:buFont typeface="Wingdings" panose="05000000000000000000" pitchFamily="2" charset="2"/>
              <a:buChar char="§"/>
            </a:pPr>
            <a:r>
              <a:rPr lang="en-US" altLang="ko-KR" sz="1400" b="1" dirty="0"/>
              <a:t>After the </a:t>
            </a:r>
            <a:r>
              <a:rPr lang="en-US" altLang="ko-KR" sz="1400" b="1" dirty="0" err="1"/>
              <a:t>StorageClass</a:t>
            </a:r>
            <a:r>
              <a:rPr lang="en-US" altLang="ko-KR" sz="1400" b="1" dirty="0"/>
              <a:t> resource is created, users can refer to the storage class by name in their </a:t>
            </a:r>
            <a:r>
              <a:rPr lang="en-US" altLang="ko-KR" sz="1400" b="1" dirty="0" err="1"/>
              <a:t>PersistentVolumeClaims</a:t>
            </a:r>
            <a:r>
              <a:rPr lang="en-US" altLang="ko-KR" sz="1400" dirty="0"/>
              <a:t>. </a:t>
            </a:r>
            <a:r>
              <a:rPr lang="en-US" altLang="ko-KR" sz="1400" b="1" dirty="0"/>
              <a:t>You can modify your “</a:t>
            </a:r>
            <a:r>
              <a:rPr lang="en-US" altLang="ko-KR" sz="1400" b="1" dirty="0" err="1"/>
              <a:t>mongodb-pvc</a:t>
            </a:r>
            <a:r>
              <a:rPr lang="en-US" altLang="ko-KR" sz="1400" b="1" dirty="0"/>
              <a:t>” to use dynamic provisioning</a:t>
            </a:r>
            <a:r>
              <a:rPr lang="en-US" altLang="ko-KR" sz="1400" dirty="0"/>
              <a:t>. The following listing shows the updated YAML definition of the PVC.</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Apart from specifying the size and access modes, your </a:t>
            </a:r>
            <a:r>
              <a:rPr lang="en-US" altLang="ko-KR" sz="1400" b="1" dirty="0" err="1"/>
              <a:t>PersistentVolumeClaim</a:t>
            </a:r>
            <a:r>
              <a:rPr lang="en-US" altLang="ko-KR" sz="1400" b="1" dirty="0"/>
              <a:t> now also </a:t>
            </a:r>
            <a:r>
              <a:rPr lang="en-US" altLang="ko-KR" sz="1400" b="1" dirty="0">
                <a:solidFill>
                  <a:srgbClr val="FF0000"/>
                </a:solidFill>
              </a:rPr>
              <a:t>specifies the class of storage</a:t>
            </a:r>
            <a:r>
              <a:rPr lang="en-US" altLang="ko-KR" sz="1400" b="1" dirty="0"/>
              <a:t> you want to use</a:t>
            </a:r>
            <a:r>
              <a:rPr lang="en-US" altLang="ko-KR" sz="1400" dirty="0"/>
              <a:t>. When you create the claim, </a:t>
            </a:r>
            <a:r>
              <a:rPr lang="en-US" altLang="ko-KR" sz="1400" b="1" dirty="0"/>
              <a:t>the </a:t>
            </a:r>
            <a:r>
              <a:rPr lang="en-US" altLang="ko-KR" sz="1400" b="1" dirty="0" err="1"/>
              <a:t>PersistentVolume</a:t>
            </a:r>
            <a:r>
              <a:rPr lang="en-US" altLang="ko-KR" sz="1400" b="1" dirty="0"/>
              <a:t> is created by the provisioner referenced in the fast </a:t>
            </a:r>
            <a:r>
              <a:rPr lang="en-US" altLang="ko-KR" sz="1400" b="1" dirty="0" err="1"/>
              <a:t>StorageClass</a:t>
            </a:r>
            <a:r>
              <a:rPr lang="en-US" altLang="ko-KR" sz="1400" b="1" dirty="0"/>
              <a:t> resource</a:t>
            </a:r>
            <a:r>
              <a:rPr lang="en-US" altLang="ko-KR" sz="1400" dirty="0"/>
              <a:t>. </a:t>
            </a:r>
            <a:r>
              <a:rPr lang="en-US" altLang="ko-KR" sz="1400" b="1" dirty="0"/>
              <a:t>The provisioner is used even if an existing manually provisioned </a:t>
            </a:r>
            <a:r>
              <a:rPr lang="en-US" altLang="ko-KR" sz="1400" b="1" dirty="0" err="1"/>
              <a:t>PersistentVolume</a:t>
            </a:r>
            <a:r>
              <a:rPr lang="en-US" altLang="ko-KR" sz="1400" b="1" dirty="0"/>
              <a:t> matches the </a:t>
            </a:r>
            <a:r>
              <a:rPr lang="en-US" altLang="ko-KR" sz="1400" b="1" dirty="0" err="1"/>
              <a:t>PersistentVolumeClaim</a:t>
            </a:r>
            <a:r>
              <a:rPr lang="en-US" altLang="ko-KR" sz="1400" dirty="0"/>
              <a:t>.</a:t>
            </a:r>
          </a:p>
          <a:p>
            <a:pPr lvl="1">
              <a:buFont typeface="Wingdings" panose="05000000000000000000" pitchFamily="2" charset="2"/>
              <a:buChar char="§"/>
            </a:pPr>
            <a:r>
              <a:rPr lang="en-US" altLang="ko-KR" sz="1400" b="1" dirty="0"/>
              <a:t>NOTE : If you reference a non-existing storage class in a PVC, the provisioning of the PV will fail </a:t>
            </a:r>
            <a:r>
              <a:rPr lang="en-US" altLang="ko-KR" sz="1400" dirty="0"/>
              <a:t>(you’ll see a “</a:t>
            </a:r>
            <a:r>
              <a:rPr lang="en-US" altLang="ko-KR" sz="1400" b="1" dirty="0" err="1"/>
              <a:t>ProvisioningFailed</a:t>
            </a:r>
            <a:r>
              <a:rPr lang="en-US" altLang="ko-KR" sz="1400" b="1" dirty="0"/>
              <a:t>”</a:t>
            </a:r>
            <a:r>
              <a:rPr lang="en-US" altLang="ko-KR" sz="1400" dirty="0"/>
              <a:t> </a:t>
            </a:r>
            <a:r>
              <a:rPr lang="en-US" altLang="ko-KR" sz="1400" b="1" dirty="0"/>
              <a:t>event</a:t>
            </a:r>
            <a:r>
              <a:rPr lang="en-US" altLang="ko-KR" sz="1400" dirty="0"/>
              <a:t> when you use “</a:t>
            </a:r>
            <a:r>
              <a:rPr lang="en-US" altLang="ko-KR" sz="1400" b="1" dirty="0"/>
              <a:t>$ </a:t>
            </a:r>
            <a:r>
              <a:rPr lang="en-US" altLang="ko-KR" sz="1400" b="1" dirty="0" err="1"/>
              <a:t>kubectl</a:t>
            </a:r>
            <a:r>
              <a:rPr lang="en-US" altLang="ko-KR" sz="1400" b="1" dirty="0"/>
              <a:t> describe</a:t>
            </a:r>
            <a:r>
              <a:rPr lang="en-US" altLang="ko-KR" sz="1400" dirty="0"/>
              <a:t>” command on the PVC).</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A89CE20-0FB5-D67A-CFA4-7C8692E9B7BC}"/>
              </a:ext>
            </a:extLst>
          </p:cNvPr>
          <p:cNvGrpSpPr/>
          <p:nvPr/>
        </p:nvGrpSpPr>
        <p:grpSpPr>
          <a:xfrm>
            <a:off x="3047343" y="1953933"/>
            <a:ext cx="6097314" cy="1785104"/>
            <a:chOff x="3047343" y="1882988"/>
            <a:chExt cx="6097314" cy="1785104"/>
          </a:xfrm>
        </p:grpSpPr>
        <p:sp>
          <p:nvSpPr>
            <p:cNvPr id="10" name="TextBox 9">
              <a:extLst>
                <a:ext uri="{FF2B5EF4-FFF2-40B4-BE49-F238E27FC236}">
                  <a16:creationId xmlns:a16="http://schemas.microsoft.com/office/drawing/2014/main" id="{384396D5-033D-17EB-EAEF-22651564A0F1}"/>
                </a:ext>
              </a:extLst>
            </p:cNvPr>
            <p:cNvSpPr txBox="1"/>
            <p:nvPr/>
          </p:nvSpPr>
          <p:spPr>
            <a:xfrm>
              <a:off x="3047343" y="1882988"/>
              <a:ext cx="6097314"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mongodb-pvc</a:t>
              </a:r>
              <a:r>
                <a:rPr lang="en-US" altLang="ko-KR" sz="1000" b="1" dirty="0"/>
                <a:t> </a:t>
              </a:r>
            </a:p>
            <a:p>
              <a:r>
                <a:rPr lang="en-US" altLang="ko-KR" sz="1000" b="1" dirty="0"/>
                <a:t>spec:</a:t>
              </a:r>
            </a:p>
            <a:p>
              <a:r>
                <a:rPr lang="en-US" altLang="ko-KR" sz="1000" b="1" dirty="0"/>
                <a:t>  </a:t>
              </a:r>
              <a:r>
                <a:rPr lang="en-US" altLang="ko-KR" sz="1000" b="1" dirty="0" err="1">
                  <a:solidFill>
                    <a:srgbClr val="FF0000"/>
                  </a:solidFill>
                </a:rPr>
                <a:t>storageClassName</a:t>
              </a:r>
              <a:r>
                <a:rPr lang="en-US" altLang="ko-KR" sz="1000" b="1" dirty="0">
                  <a:solidFill>
                    <a:srgbClr val="FF0000"/>
                  </a:solidFill>
                </a:rPr>
                <a:t>: fast</a:t>
              </a:r>
            </a:p>
            <a:p>
              <a:r>
                <a:rPr lang="en-US" altLang="ko-KR" sz="1000" b="1" dirty="0"/>
                <a:t>  resources:</a:t>
              </a:r>
            </a:p>
            <a:p>
              <a:r>
                <a:rPr lang="en-US" altLang="ko-KR" sz="1000" b="1" dirty="0"/>
                <a:t>    requests:</a:t>
              </a:r>
            </a:p>
            <a:p>
              <a:r>
                <a:rPr lang="en-US" altLang="ko-KR" sz="1000" b="1" dirty="0"/>
                <a:t>      storage: 100Mi</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t>ReadWriteOnce</a:t>
              </a:r>
              <a:endParaRPr lang="en-US" altLang="ko-KR" sz="1000" b="1" dirty="0"/>
            </a:p>
          </p:txBody>
        </p:sp>
        <p:sp>
          <p:nvSpPr>
            <p:cNvPr id="11" name="TextBox 10">
              <a:extLst>
                <a:ext uri="{FF2B5EF4-FFF2-40B4-BE49-F238E27FC236}">
                  <a16:creationId xmlns:a16="http://schemas.microsoft.com/office/drawing/2014/main" id="{A20D2CCD-F532-FEC1-A42C-356ECAADC741}"/>
                </a:ext>
              </a:extLst>
            </p:cNvPr>
            <p:cNvSpPr txBox="1"/>
            <p:nvPr/>
          </p:nvSpPr>
          <p:spPr>
            <a:xfrm>
              <a:off x="7558967" y="1882988"/>
              <a:ext cx="1585690" cy="246221"/>
            </a:xfrm>
            <a:prstGeom prst="rect">
              <a:avLst/>
            </a:prstGeom>
            <a:noFill/>
          </p:spPr>
          <p:txBody>
            <a:bodyPr wrap="none" rtlCol="0">
              <a:spAutoFit/>
            </a:bodyPr>
            <a:lstStyle/>
            <a:p>
              <a:pPr algn="l"/>
              <a:r>
                <a:rPr lang="en-US" altLang="ko-KR" sz="1000" b="1" dirty="0" err="1"/>
                <a:t>mongodb-pvc-dp.yaml</a:t>
              </a:r>
              <a:endParaRPr lang="ko-KR" altLang="en-US" sz="1000" b="1" dirty="0"/>
            </a:p>
          </p:txBody>
        </p:sp>
      </p:grpSp>
    </p:spTree>
    <p:extLst>
      <p:ext uri="{BB962C8B-B14F-4D97-AF65-F5344CB8AC3E}">
        <p14:creationId xmlns:p14="http://schemas.microsoft.com/office/powerpoint/2010/main" val="11492834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Technology(19/25)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Examining the Created PVC and the Dynamically Provisioned PV :</a:t>
            </a:r>
          </a:p>
          <a:p>
            <a:pPr lvl="1">
              <a:buFont typeface="Wingdings" panose="05000000000000000000" pitchFamily="2" charset="2"/>
              <a:buChar char="§"/>
            </a:pPr>
            <a:r>
              <a:rPr lang="en-US" altLang="ko-KR" sz="1400" b="1" dirty="0"/>
              <a:t>To use the previous dynamically provisioned PV, you’ll create the PVC and then use “$ </a:t>
            </a:r>
            <a:r>
              <a:rPr lang="en-US" altLang="ko-KR" sz="1400" b="1" dirty="0" err="1"/>
              <a:t>kubectl</a:t>
            </a:r>
            <a:r>
              <a:rPr lang="en-US" altLang="ko-KR" sz="1400" b="1" dirty="0"/>
              <a:t> get” command to see it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VOLUME column shows the </a:t>
            </a:r>
            <a:r>
              <a:rPr lang="en-US" altLang="ko-KR" sz="1400" b="1" dirty="0" err="1"/>
              <a:t>PersistentVolume</a:t>
            </a:r>
            <a:r>
              <a:rPr lang="en-US" altLang="ko-KR" sz="1400" b="1" dirty="0"/>
              <a:t> that’s bound to this claim </a:t>
            </a:r>
            <a:r>
              <a:rPr lang="en-US" altLang="ko-KR" sz="1400" dirty="0"/>
              <a:t>(the actual name is longer than what’s shown above). </a:t>
            </a:r>
            <a:r>
              <a:rPr lang="en-US" altLang="ko-KR" sz="1400" b="1" dirty="0"/>
              <a:t>You can try listing </a:t>
            </a:r>
            <a:r>
              <a:rPr lang="en-US" altLang="ko-KR" sz="1400" b="1" dirty="0" err="1"/>
              <a:t>PersistentVolumes</a:t>
            </a:r>
            <a:r>
              <a:rPr lang="en-US" altLang="ko-KR" sz="1400" b="1" dirty="0"/>
              <a:t> now using “$ </a:t>
            </a:r>
            <a:r>
              <a:rPr lang="en-US" altLang="ko-KR" sz="1400" b="1" dirty="0" err="1">
                <a:solidFill>
                  <a:srgbClr val="FF0000"/>
                </a:solidFill>
              </a:rPr>
              <a:t>kubectl</a:t>
            </a:r>
            <a:r>
              <a:rPr lang="en-US" altLang="ko-KR" sz="1400" b="1" dirty="0">
                <a:solidFill>
                  <a:srgbClr val="FF0000"/>
                </a:solidFill>
              </a:rPr>
              <a:t> get </a:t>
            </a:r>
            <a:r>
              <a:rPr lang="en-US" altLang="ko-KR" sz="1400" b="1" dirty="0" err="1">
                <a:solidFill>
                  <a:srgbClr val="FF0000"/>
                </a:solidFill>
              </a:rPr>
              <a:t>pv</a:t>
            </a:r>
            <a:r>
              <a:rPr lang="en-US" altLang="ko-KR" sz="1400" b="1" dirty="0"/>
              <a:t>” command to see that a new PV has indeed been created automatically</a:t>
            </a:r>
            <a:r>
              <a:rPr lang="en-US" altLang="ko-KR" sz="1400" dirty="0"/>
              <a:t>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6DCE044B-9080-E01F-1DC6-9BDB7ABC7311}"/>
              </a:ext>
            </a:extLst>
          </p:cNvPr>
          <p:cNvGrpSpPr/>
          <p:nvPr/>
        </p:nvGrpSpPr>
        <p:grpSpPr>
          <a:xfrm>
            <a:off x="1401817" y="1604721"/>
            <a:ext cx="9388366" cy="2045156"/>
            <a:chOff x="1401817" y="1604721"/>
            <a:chExt cx="9388366" cy="2045156"/>
          </a:xfrm>
        </p:grpSpPr>
        <p:sp>
          <p:nvSpPr>
            <p:cNvPr id="8" name="TextBox 7">
              <a:extLst>
                <a:ext uri="{FF2B5EF4-FFF2-40B4-BE49-F238E27FC236}">
                  <a16:creationId xmlns:a16="http://schemas.microsoft.com/office/drawing/2014/main" id="{48B6440C-892F-E5BA-F8E3-4110F5A43710}"/>
                </a:ext>
              </a:extLst>
            </p:cNvPr>
            <p:cNvSpPr txBox="1"/>
            <p:nvPr/>
          </p:nvSpPr>
          <p:spPr>
            <a:xfrm>
              <a:off x="3047343" y="1604721"/>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pvc</a:t>
              </a:r>
              <a:r>
                <a:rPr lang="en-US" altLang="ko-KR" sz="1000" b="1" dirty="0"/>
                <a:t> </a:t>
              </a:r>
              <a:r>
                <a:rPr lang="en-US" altLang="ko-KR" sz="1000" b="1" dirty="0" err="1">
                  <a:solidFill>
                    <a:srgbClr val="FF0000"/>
                  </a:solidFill>
                </a:rPr>
                <a:t>mongodb-pvc</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09AB8E4E-5B32-A48F-A032-B9AFB738B842}"/>
                </a:ext>
              </a:extLst>
            </p:cNvPr>
            <p:cNvSpPr/>
            <p:nvPr/>
          </p:nvSpPr>
          <p:spPr>
            <a:xfrm>
              <a:off x="5871341" y="1865274"/>
              <a:ext cx="449318" cy="2837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D8D8B948-C489-7AFD-A359-FCDF965BABC0}"/>
                </a:ext>
              </a:extLst>
            </p:cNvPr>
            <p:cNvPicPr>
              <a:picLocks noChangeAspect="1"/>
            </p:cNvPicPr>
            <p:nvPr/>
          </p:nvPicPr>
          <p:blipFill>
            <a:blip r:embed="rId2"/>
            <a:stretch>
              <a:fillRect/>
            </a:stretch>
          </p:blipFill>
          <p:spPr>
            <a:xfrm>
              <a:off x="1401817" y="2163386"/>
              <a:ext cx="9388366" cy="1486491"/>
            </a:xfrm>
            <a:prstGeom prst="rect">
              <a:avLst/>
            </a:prstGeom>
          </p:spPr>
        </p:pic>
        <p:sp>
          <p:nvSpPr>
            <p:cNvPr id="12" name="직사각형 11">
              <a:extLst>
                <a:ext uri="{FF2B5EF4-FFF2-40B4-BE49-F238E27FC236}">
                  <a16:creationId xmlns:a16="http://schemas.microsoft.com/office/drawing/2014/main" id="{4F84409F-E58E-4F73-A629-367F7F3DD0EC}"/>
                </a:ext>
              </a:extLst>
            </p:cNvPr>
            <p:cNvSpPr/>
            <p:nvPr/>
          </p:nvSpPr>
          <p:spPr>
            <a:xfrm>
              <a:off x="5399689" y="2585545"/>
              <a:ext cx="2372710" cy="1734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99DB974A-EE3B-6889-754E-D2B0FBE2E02F}"/>
                </a:ext>
              </a:extLst>
            </p:cNvPr>
            <p:cNvSpPr/>
            <p:nvPr/>
          </p:nvSpPr>
          <p:spPr>
            <a:xfrm>
              <a:off x="5399689" y="2853519"/>
              <a:ext cx="1765739" cy="1734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AEAB6D19-6DBE-08CF-CD7B-C07F8DAF3E88}"/>
                </a:ext>
              </a:extLst>
            </p:cNvPr>
            <p:cNvSpPr/>
            <p:nvPr/>
          </p:nvSpPr>
          <p:spPr>
            <a:xfrm>
              <a:off x="2356945" y="3003290"/>
              <a:ext cx="3200400" cy="2838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7D444563-B305-3AC8-2C10-6F20C728E1F9}"/>
              </a:ext>
            </a:extLst>
          </p:cNvPr>
          <p:cNvGrpSpPr/>
          <p:nvPr/>
        </p:nvGrpSpPr>
        <p:grpSpPr>
          <a:xfrm>
            <a:off x="1401817" y="4643787"/>
            <a:ext cx="9388366" cy="1486492"/>
            <a:chOff x="1401817" y="4643787"/>
            <a:chExt cx="9388366" cy="1486492"/>
          </a:xfrm>
        </p:grpSpPr>
        <p:pic>
          <p:nvPicPr>
            <p:cNvPr id="17" name="그림 16">
              <a:extLst>
                <a:ext uri="{FF2B5EF4-FFF2-40B4-BE49-F238E27FC236}">
                  <a16:creationId xmlns:a16="http://schemas.microsoft.com/office/drawing/2014/main" id="{33B29557-DDCE-7AC6-A070-BA0EDF7BBEF6}"/>
                </a:ext>
              </a:extLst>
            </p:cNvPr>
            <p:cNvPicPr>
              <a:picLocks noChangeAspect="1"/>
            </p:cNvPicPr>
            <p:nvPr/>
          </p:nvPicPr>
          <p:blipFill>
            <a:blip r:embed="rId3"/>
            <a:stretch>
              <a:fillRect/>
            </a:stretch>
          </p:blipFill>
          <p:spPr>
            <a:xfrm>
              <a:off x="1401817" y="4643787"/>
              <a:ext cx="9388366" cy="1486492"/>
            </a:xfrm>
            <a:prstGeom prst="rect">
              <a:avLst/>
            </a:prstGeom>
          </p:spPr>
        </p:pic>
        <p:sp>
          <p:nvSpPr>
            <p:cNvPr id="18" name="직사각형 17">
              <a:extLst>
                <a:ext uri="{FF2B5EF4-FFF2-40B4-BE49-F238E27FC236}">
                  <a16:creationId xmlns:a16="http://schemas.microsoft.com/office/drawing/2014/main" id="{FF9EDBA8-D35C-EE80-D73E-2714F66E3BF5}"/>
                </a:ext>
              </a:extLst>
            </p:cNvPr>
            <p:cNvSpPr/>
            <p:nvPr/>
          </p:nvSpPr>
          <p:spPr>
            <a:xfrm>
              <a:off x="1513490" y="5360276"/>
              <a:ext cx="9144000" cy="27589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435138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Technology(20/25)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How to Use Storage Classes :</a:t>
            </a:r>
          </a:p>
          <a:p>
            <a:pPr lvl="1">
              <a:buFont typeface="Wingdings" panose="05000000000000000000" pitchFamily="2" charset="2"/>
              <a:buChar char="§"/>
            </a:pPr>
            <a:r>
              <a:rPr lang="en-US" altLang="ko-KR" sz="1400" b="1" dirty="0"/>
              <a:t>The cluster admin can create multiple storage classes with different performance or other characteristics</a:t>
            </a:r>
            <a:r>
              <a:rPr lang="en-US" altLang="ko-KR" sz="1400" dirty="0"/>
              <a:t>. </a:t>
            </a:r>
            <a:r>
              <a:rPr lang="en-US" altLang="ko-KR" sz="1400" b="1" dirty="0"/>
              <a:t>The developer then decides which one is most appropriate for each claim they create</a:t>
            </a:r>
            <a:r>
              <a:rPr lang="en-US" altLang="ko-KR" sz="1400" dirty="0"/>
              <a:t>.</a:t>
            </a:r>
          </a:p>
          <a:p>
            <a:pPr lvl="1">
              <a:buFont typeface="Wingdings" panose="05000000000000000000" pitchFamily="2" charset="2"/>
              <a:buChar char="§"/>
            </a:pPr>
            <a:r>
              <a:rPr lang="en-US" altLang="ko-KR" sz="1400" b="1" dirty="0"/>
              <a:t>The nice thing about </a:t>
            </a:r>
            <a:r>
              <a:rPr lang="en-US" altLang="ko-KR" sz="1400" b="1" dirty="0" err="1"/>
              <a:t>StorageClasses</a:t>
            </a:r>
            <a:r>
              <a:rPr lang="en-US" altLang="ko-KR" sz="1400" b="1" dirty="0"/>
              <a:t> is the fact that </a:t>
            </a:r>
            <a:r>
              <a:rPr lang="en-US" altLang="ko-KR" sz="1400" b="1" dirty="0">
                <a:solidFill>
                  <a:srgbClr val="FF0000"/>
                </a:solidFill>
              </a:rPr>
              <a:t>claims refer to them by name</a:t>
            </a:r>
            <a:r>
              <a:rPr lang="en-US" altLang="ko-KR" sz="1400" dirty="0"/>
              <a:t>. </a:t>
            </a:r>
            <a:r>
              <a:rPr lang="en-US" altLang="ko-KR" sz="1400" b="1" dirty="0"/>
              <a:t>The PVC definitions are therefore </a:t>
            </a:r>
            <a:r>
              <a:rPr lang="en-US" altLang="ko-KR" sz="1400" b="1" dirty="0">
                <a:solidFill>
                  <a:srgbClr val="FF0000"/>
                </a:solidFill>
              </a:rPr>
              <a:t>portable</a:t>
            </a:r>
            <a:r>
              <a:rPr lang="en-US" altLang="ko-KR" sz="1400" b="1" dirty="0"/>
              <a:t> </a:t>
            </a:r>
            <a:r>
              <a:rPr lang="en-US" altLang="ko-KR" sz="1400" b="1" dirty="0">
                <a:solidFill>
                  <a:srgbClr val="FF0000"/>
                </a:solidFill>
              </a:rPr>
              <a:t>across different clusters</a:t>
            </a:r>
            <a:r>
              <a:rPr lang="en-US" altLang="ko-KR" sz="1400" b="1" dirty="0"/>
              <a:t>, as long as the </a:t>
            </a:r>
            <a:r>
              <a:rPr lang="en-US" altLang="ko-KR" sz="1400" b="1" dirty="0" err="1"/>
              <a:t>StorageClass</a:t>
            </a:r>
            <a:r>
              <a:rPr lang="en-US" altLang="ko-KR" sz="1400" b="1" dirty="0"/>
              <a:t> names are the same across all of them</a:t>
            </a:r>
            <a:r>
              <a:rPr lang="en-US" altLang="ko-KR" sz="1400" dirty="0"/>
              <a:t>. For example, as a cluster admin, you’ll have to create a different storage class (but with the same name). The storage class defined in the </a:t>
            </a:r>
            <a:r>
              <a:rPr lang="en-US" altLang="ko-KR" sz="1400" b="1" dirty="0"/>
              <a:t>“</a:t>
            </a:r>
            <a:r>
              <a:rPr lang="en-US" altLang="ko-KR" sz="1400" b="1" dirty="0" err="1"/>
              <a:t>storageclass</a:t>
            </a:r>
            <a:r>
              <a:rPr lang="en-US" altLang="ko-KR" sz="1400" b="1" dirty="0"/>
              <a:t>-fast-</a:t>
            </a:r>
            <a:r>
              <a:rPr lang="en-US" altLang="ko-KR" sz="1400" b="1" dirty="0" err="1"/>
              <a:t>hostpath.yaml</a:t>
            </a:r>
            <a:r>
              <a:rPr lang="en-US" altLang="ko-KR" sz="1400" b="1" dirty="0"/>
              <a:t>” file is tailor-made for use in </a:t>
            </a:r>
            <a:r>
              <a:rPr lang="en-US" altLang="ko-KR" sz="1400" b="1" dirty="0" err="1"/>
              <a:t>Minikube</a:t>
            </a:r>
            <a:r>
              <a:rPr lang="en-US" altLang="ko-KR" sz="1400" b="1" dirty="0"/>
              <a:t> or GKE</a:t>
            </a:r>
            <a:r>
              <a:rPr lang="en-US" altLang="ko-KR" sz="1400" dirty="0"/>
              <a:t>. Then, once you deploy the storage class, </a:t>
            </a:r>
            <a:r>
              <a:rPr lang="en-US" altLang="ko-KR" sz="1400" b="1" dirty="0"/>
              <a:t>you as a cluster user can deploy the exact same PVC manifest and the exact same pod manifest as before</a:t>
            </a:r>
            <a:r>
              <a:rPr lang="en-US" altLang="ko-KR" sz="1400" dirty="0"/>
              <a:t>. This shows how the pods and PVCs are portable across different clusters.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E5C8AAF-F732-4240-4E7F-86723615DD2E}"/>
              </a:ext>
            </a:extLst>
          </p:cNvPr>
          <p:cNvPicPr>
            <a:picLocks noChangeAspect="1"/>
          </p:cNvPicPr>
          <p:nvPr/>
        </p:nvPicPr>
        <p:blipFill>
          <a:blip r:embed="rId2"/>
          <a:stretch>
            <a:fillRect/>
          </a:stretch>
        </p:blipFill>
        <p:spPr>
          <a:xfrm>
            <a:off x="3322172" y="3010232"/>
            <a:ext cx="5547655" cy="3120047"/>
          </a:xfrm>
          <a:prstGeom prst="rect">
            <a:avLst/>
          </a:prstGeom>
        </p:spPr>
      </p:pic>
    </p:spTree>
    <p:extLst>
      <p:ext uri="{BB962C8B-B14F-4D97-AF65-F5344CB8AC3E}">
        <p14:creationId xmlns:p14="http://schemas.microsoft.com/office/powerpoint/2010/main" val="40236502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Technology(21/25)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Provisioning without Specifying a Storage Class :</a:t>
            </a:r>
          </a:p>
          <a:p>
            <a:pPr lvl="1">
              <a:buFont typeface="Wingdings" panose="05000000000000000000" pitchFamily="2" charset="2"/>
              <a:buChar char="§"/>
            </a:pPr>
            <a:r>
              <a:rPr lang="en-US" altLang="ko-KR" sz="1400" dirty="0"/>
              <a:t>Here we can understand that provisioning of storage has evolved from early Kubernetes versions to now. Now it’s time see that </a:t>
            </a:r>
            <a:r>
              <a:rPr lang="en-US" altLang="ko-KR" sz="1400" b="1" dirty="0"/>
              <a:t>the latest and simplest way of attaching a </a:t>
            </a:r>
            <a:r>
              <a:rPr lang="en-US" altLang="ko-KR" sz="1400" b="1" dirty="0" err="1"/>
              <a:t>PersistentVolume</a:t>
            </a:r>
            <a:r>
              <a:rPr lang="en-US" altLang="ko-KR" sz="1400" b="1" dirty="0"/>
              <a:t> to a pod</a:t>
            </a:r>
            <a:r>
              <a:rPr lang="en-US" altLang="ko-KR" sz="1400" dirty="0"/>
              <a:t>.</a:t>
            </a:r>
          </a:p>
          <a:p>
            <a:pPr lvl="1">
              <a:buFont typeface="Wingdings" panose="05000000000000000000" pitchFamily="2" charset="2"/>
              <a:buChar char="§"/>
            </a:pPr>
            <a:r>
              <a:rPr lang="en-US" altLang="ko-KR" sz="1400" b="1" dirty="0"/>
              <a:t>When you created your custom storage class called “fast”, you didn’t check if any existing storage classes were already defined in your cluster</a:t>
            </a:r>
            <a:r>
              <a:rPr lang="en-US" altLang="ko-KR" sz="1400" dirty="0"/>
              <a:t>. You can use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get </a:t>
            </a:r>
            <a:r>
              <a:rPr lang="en-US" altLang="ko-KR" sz="1400" b="1" dirty="0" err="1">
                <a:solidFill>
                  <a:srgbClr val="FF0000"/>
                </a:solidFill>
              </a:rPr>
              <a:t>sc</a:t>
            </a:r>
            <a:r>
              <a:rPr lang="en-US" altLang="ko-KR" sz="1400" dirty="0"/>
              <a:t>” command to see which storage classes are available.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We’re using “</a:t>
            </a:r>
            <a:r>
              <a:rPr lang="en-US" altLang="ko-KR" sz="1400" b="1" dirty="0" err="1">
                <a:solidFill>
                  <a:srgbClr val="FF0000"/>
                </a:solidFill>
              </a:rPr>
              <a:t>sc</a:t>
            </a:r>
            <a:r>
              <a:rPr lang="en-US" altLang="ko-KR" sz="1400" b="1" dirty="0"/>
              <a:t>” as shorthand for </a:t>
            </a:r>
            <a:r>
              <a:rPr lang="en-US" altLang="ko-KR" sz="1400" b="1" dirty="0" err="1"/>
              <a:t>storageclass</a:t>
            </a:r>
            <a:r>
              <a:rPr lang="en-US" altLang="ko-KR" sz="1400" dirty="0"/>
              <a:t>.</a:t>
            </a:r>
          </a:p>
          <a:p>
            <a:pPr lvl="1">
              <a:buFont typeface="Wingdings" panose="05000000000000000000" pitchFamily="2" charset="2"/>
              <a:buChar char="§"/>
            </a:pPr>
            <a:r>
              <a:rPr lang="en-US" altLang="ko-KR" sz="1400" b="1" dirty="0"/>
              <a:t>Beside the fast storage class, which you created yourself, a standard storage class exists and is marked as “</a:t>
            </a:r>
            <a:r>
              <a:rPr lang="en-US" altLang="ko-KR" sz="1400" b="1" dirty="0">
                <a:solidFill>
                  <a:srgbClr val="FF0000"/>
                </a:solidFill>
              </a:rPr>
              <a:t>default</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3FA76AD-8E91-AB79-1EBB-27644F772637}"/>
              </a:ext>
            </a:extLst>
          </p:cNvPr>
          <p:cNvGrpSpPr/>
          <p:nvPr/>
        </p:nvGrpSpPr>
        <p:grpSpPr>
          <a:xfrm>
            <a:off x="1345324" y="2252876"/>
            <a:ext cx="9501352" cy="1504381"/>
            <a:chOff x="1345324" y="2174048"/>
            <a:chExt cx="9501352" cy="1504381"/>
          </a:xfrm>
        </p:grpSpPr>
        <p:pic>
          <p:nvPicPr>
            <p:cNvPr id="8" name="그림 7">
              <a:extLst>
                <a:ext uri="{FF2B5EF4-FFF2-40B4-BE49-F238E27FC236}">
                  <a16:creationId xmlns:a16="http://schemas.microsoft.com/office/drawing/2014/main" id="{48589223-D3A3-B7B6-6687-40B1E87B6E90}"/>
                </a:ext>
              </a:extLst>
            </p:cNvPr>
            <p:cNvPicPr>
              <a:picLocks noChangeAspect="1"/>
            </p:cNvPicPr>
            <p:nvPr/>
          </p:nvPicPr>
          <p:blipFill>
            <a:blip r:embed="rId2"/>
            <a:stretch>
              <a:fillRect/>
            </a:stretch>
          </p:blipFill>
          <p:spPr>
            <a:xfrm>
              <a:off x="1345324" y="2174048"/>
              <a:ext cx="9501352" cy="1504381"/>
            </a:xfrm>
            <a:prstGeom prst="rect">
              <a:avLst/>
            </a:prstGeom>
          </p:spPr>
        </p:pic>
        <p:sp>
          <p:nvSpPr>
            <p:cNvPr id="9" name="직사각형 8">
              <a:extLst>
                <a:ext uri="{FF2B5EF4-FFF2-40B4-BE49-F238E27FC236}">
                  <a16:creationId xmlns:a16="http://schemas.microsoft.com/office/drawing/2014/main" id="{AF6A59AD-65CD-EAE1-E8D3-534C0E8C680C}"/>
                </a:ext>
              </a:extLst>
            </p:cNvPr>
            <p:cNvSpPr/>
            <p:nvPr/>
          </p:nvSpPr>
          <p:spPr>
            <a:xfrm>
              <a:off x="1450427" y="3026979"/>
              <a:ext cx="1213945" cy="1497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94910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Technology(22/25)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Provisioning without Specifying a Storage Class :</a:t>
            </a:r>
          </a:p>
          <a:p>
            <a:pPr lvl="1">
              <a:buFont typeface="Wingdings" panose="05000000000000000000" pitchFamily="2" charset="2"/>
              <a:buChar char="§"/>
            </a:pPr>
            <a:r>
              <a:rPr lang="en-US" altLang="ko-KR" sz="1400" dirty="0"/>
              <a:t>You’re going to use “</a:t>
            </a:r>
            <a:r>
              <a:rPr lang="en-US" altLang="ko-KR" sz="1400" b="1" dirty="0"/>
              <a:t>$ </a:t>
            </a:r>
            <a:r>
              <a:rPr lang="en-US" altLang="ko-KR" sz="1400" b="1" dirty="0" err="1"/>
              <a:t>kubectl</a:t>
            </a:r>
            <a:r>
              <a:rPr lang="en-US" altLang="ko-KR" sz="1400" b="1" dirty="0"/>
              <a:t> get</a:t>
            </a:r>
            <a:r>
              <a:rPr lang="en-US" altLang="ko-KR" sz="1400" dirty="0"/>
              <a:t>” </a:t>
            </a:r>
            <a:r>
              <a:rPr lang="en-US" altLang="ko-KR" sz="1400" b="1" dirty="0"/>
              <a:t>command to see more info about the standard storage class </a:t>
            </a:r>
            <a:r>
              <a:rPr lang="en-US" altLang="ko-KR" sz="1400" dirty="0"/>
              <a:t>in a </a:t>
            </a:r>
            <a:r>
              <a:rPr lang="en-US" altLang="ko-KR" sz="1400" b="1" dirty="0" err="1"/>
              <a:t>Minikube</a:t>
            </a:r>
            <a:r>
              <a:rPr lang="en-US" altLang="ko-KR" sz="1400" dirty="0"/>
              <a:t> cluster,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look closely toward the top of the listing, </a:t>
            </a:r>
            <a:r>
              <a:rPr lang="en-US" altLang="ko-KR" sz="1400" b="1" dirty="0"/>
              <a:t>the storage class definition includes an annotation</a:t>
            </a:r>
            <a:r>
              <a:rPr lang="en-US" altLang="ko-KR" sz="1400" dirty="0"/>
              <a:t>, </a:t>
            </a:r>
            <a:r>
              <a:rPr lang="en-US" altLang="ko-KR" sz="1400" b="1" dirty="0"/>
              <a:t>which makes this the default storage class</a:t>
            </a:r>
            <a:r>
              <a:rPr lang="en-US" altLang="ko-KR" sz="1400" dirty="0"/>
              <a:t>. </a:t>
            </a:r>
            <a:r>
              <a:rPr lang="en-US" altLang="ko-KR" sz="1400" b="1" dirty="0"/>
              <a:t>The </a:t>
            </a:r>
            <a:r>
              <a:rPr lang="en-US" altLang="ko-KR" sz="1400" b="1" dirty="0">
                <a:solidFill>
                  <a:srgbClr val="FF0000"/>
                </a:solidFill>
              </a:rPr>
              <a:t>default storage class </a:t>
            </a:r>
            <a:r>
              <a:rPr lang="en-US" altLang="ko-KR" sz="1400" b="1" dirty="0"/>
              <a:t>is what’s used to dynamically provision a </a:t>
            </a:r>
            <a:r>
              <a:rPr lang="en-US" altLang="ko-KR" sz="1400" b="1" dirty="0" err="1"/>
              <a:t>PersistentVolume</a:t>
            </a:r>
            <a:r>
              <a:rPr lang="en-US" altLang="ko-KR" sz="1400" b="1" dirty="0"/>
              <a:t> if the </a:t>
            </a:r>
            <a:r>
              <a:rPr lang="en-US" altLang="ko-KR" sz="1400" b="1" dirty="0" err="1"/>
              <a:t>PersistentVolumeClaim</a:t>
            </a:r>
            <a:r>
              <a:rPr lang="en-US" altLang="ko-KR" sz="1400" b="1" dirty="0"/>
              <a:t> doesn’t explicitly say which storage class to use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541069E-BB63-863C-70DA-87F11D227DF2}"/>
              </a:ext>
            </a:extLst>
          </p:cNvPr>
          <p:cNvGrpSpPr/>
          <p:nvPr/>
        </p:nvGrpSpPr>
        <p:grpSpPr>
          <a:xfrm>
            <a:off x="1151806" y="1667782"/>
            <a:ext cx="9888387" cy="3807858"/>
            <a:chOff x="1151806" y="1667782"/>
            <a:chExt cx="9888387" cy="3807858"/>
          </a:xfrm>
        </p:grpSpPr>
        <p:grpSp>
          <p:nvGrpSpPr>
            <p:cNvPr id="12" name="그룹 11">
              <a:extLst>
                <a:ext uri="{FF2B5EF4-FFF2-40B4-BE49-F238E27FC236}">
                  <a16:creationId xmlns:a16="http://schemas.microsoft.com/office/drawing/2014/main" id="{D93A0EA4-3818-4EC1-998C-DB9417820F12}"/>
                </a:ext>
              </a:extLst>
            </p:cNvPr>
            <p:cNvGrpSpPr/>
            <p:nvPr/>
          </p:nvGrpSpPr>
          <p:grpSpPr>
            <a:xfrm>
              <a:off x="1151806" y="1667782"/>
              <a:ext cx="9888387" cy="3807858"/>
              <a:chOff x="1151806" y="1667782"/>
              <a:chExt cx="9888387" cy="3807858"/>
            </a:xfrm>
          </p:grpSpPr>
          <p:sp>
            <p:nvSpPr>
              <p:cNvPr id="8" name="TextBox 7">
                <a:extLst>
                  <a:ext uri="{FF2B5EF4-FFF2-40B4-BE49-F238E27FC236}">
                    <a16:creationId xmlns:a16="http://schemas.microsoft.com/office/drawing/2014/main" id="{CA140C3D-475C-861C-CB36-019F77A35085}"/>
                  </a:ext>
                </a:extLst>
              </p:cNvPr>
              <p:cNvSpPr txBox="1"/>
              <p:nvPr/>
            </p:nvSpPr>
            <p:spPr>
              <a:xfrm>
                <a:off x="3047343" y="1667782"/>
                <a:ext cx="609731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sc</a:t>
                </a:r>
                <a:r>
                  <a:rPr lang="en-US" altLang="ko-KR" sz="1000" b="1" dirty="0"/>
                  <a:t> </a:t>
                </a:r>
                <a:r>
                  <a:rPr lang="en-US" altLang="ko-KR" sz="1000" b="1" dirty="0">
                    <a:solidFill>
                      <a:srgbClr val="FF0000"/>
                    </a:solidFill>
                  </a:rPr>
                  <a:t>standard</a:t>
                </a:r>
                <a:r>
                  <a:rPr lang="en-US" altLang="ko-KR" sz="1000" b="1" dirty="0"/>
                  <a:t> -o </a:t>
                </a:r>
                <a:r>
                  <a:rPr lang="en-US" altLang="ko-KR" sz="1000" b="1" dirty="0" err="1"/>
                  <a:t>yaml</a:t>
                </a:r>
                <a:endParaRPr lang="en-US" altLang="ko-KR" sz="1000" b="1" dirty="0"/>
              </a:p>
            </p:txBody>
          </p:sp>
          <p:sp>
            <p:nvSpPr>
              <p:cNvPr id="9" name="화살표: 아래쪽 8">
                <a:extLst>
                  <a:ext uri="{FF2B5EF4-FFF2-40B4-BE49-F238E27FC236}">
                    <a16:creationId xmlns:a16="http://schemas.microsoft.com/office/drawing/2014/main" id="{E7EA721D-B02D-5251-987D-7896C60A5CB7}"/>
                  </a:ext>
                </a:extLst>
              </p:cNvPr>
              <p:cNvSpPr/>
              <p:nvPr/>
            </p:nvSpPr>
            <p:spPr>
              <a:xfrm>
                <a:off x="5863458" y="1936218"/>
                <a:ext cx="465083" cy="2680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89E49A4A-6B49-1F36-2EA4-917696849D53}"/>
                  </a:ext>
                </a:extLst>
              </p:cNvPr>
              <p:cNvPicPr>
                <a:picLocks noChangeAspect="1"/>
              </p:cNvPicPr>
              <p:nvPr/>
            </p:nvPicPr>
            <p:blipFill>
              <a:blip r:embed="rId2"/>
              <a:stretch>
                <a:fillRect/>
              </a:stretch>
            </p:blipFill>
            <p:spPr>
              <a:xfrm>
                <a:off x="1151806" y="2204232"/>
                <a:ext cx="9888387" cy="3271408"/>
              </a:xfrm>
              <a:prstGeom prst="rect">
                <a:avLst/>
              </a:prstGeom>
            </p:spPr>
          </p:pic>
        </p:grpSp>
        <p:sp>
          <p:nvSpPr>
            <p:cNvPr id="13" name="직사각형 12">
              <a:extLst>
                <a:ext uri="{FF2B5EF4-FFF2-40B4-BE49-F238E27FC236}">
                  <a16:creationId xmlns:a16="http://schemas.microsoft.com/office/drawing/2014/main" id="{458A2480-F5B9-AE35-C03E-6C3B91D74535}"/>
                </a:ext>
              </a:extLst>
            </p:cNvPr>
            <p:cNvSpPr/>
            <p:nvPr/>
          </p:nvSpPr>
          <p:spPr>
            <a:xfrm>
              <a:off x="6095999" y="3499945"/>
              <a:ext cx="4742794" cy="1729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030407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Technology(23/25)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Provisioning without Specifying a Storage Class :</a:t>
            </a:r>
          </a:p>
          <a:p>
            <a:pPr lvl="1">
              <a:buFont typeface="Wingdings" panose="05000000000000000000" pitchFamily="2" charset="2"/>
              <a:buChar char="§"/>
            </a:pPr>
            <a:r>
              <a:rPr lang="en-US" altLang="ko-KR" sz="1400" b="1" dirty="0"/>
              <a:t>You can create a PVC without specifying the “</a:t>
            </a:r>
            <a:r>
              <a:rPr lang="en-US" altLang="ko-KR" sz="1400" b="1" dirty="0" err="1">
                <a:solidFill>
                  <a:srgbClr val="FF0000"/>
                </a:solidFill>
              </a:rPr>
              <a:t>storageClassName</a:t>
            </a:r>
            <a:r>
              <a:rPr lang="en-US" altLang="ko-KR" sz="1400" b="1" dirty="0"/>
              <a:t>” attribute and (on Google Kubernetes Engine) a “GCE Persistent Disk” of type “</a:t>
            </a:r>
            <a:r>
              <a:rPr lang="en-US" altLang="ko-KR" sz="1400" b="1" dirty="0">
                <a:solidFill>
                  <a:srgbClr val="FF0000"/>
                </a:solidFill>
              </a:rPr>
              <a:t>pd-standard</a:t>
            </a:r>
            <a:r>
              <a:rPr lang="en-US" altLang="ko-KR" sz="1400" b="1" dirty="0"/>
              <a:t>” will be provisioned for you</a:t>
            </a:r>
            <a:r>
              <a:rPr lang="en-US" altLang="ko-KR" sz="1400" dirty="0"/>
              <a:t>. Try this by creating a claim from the YAML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above PVC definition includes only the storage size request and the desired access modes, but </a:t>
            </a:r>
            <a:r>
              <a:rPr lang="en-US" altLang="ko-KR" sz="1400" b="1" dirty="0">
                <a:solidFill>
                  <a:srgbClr val="FF0000"/>
                </a:solidFill>
              </a:rPr>
              <a:t>no storage class</a:t>
            </a:r>
            <a:r>
              <a:rPr lang="en-US" altLang="ko-KR" sz="1400" dirty="0"/>
              <a:t>. </a:t>
            </a:r>
            <a:r>
              <a:rPr lang="en-US" altLang="ko-KR" sz="1400" b="1" dirty="0"/>
              <a:t>When you create the PVC, whatever </a:t>
            </a:r>
            <a:r>
              <a:rPr lang="en-US" altLang="ko-KR" sz="1400" b="1" dirty="0">
                <a:solidFill>
                  <a:srgbClr val="FF0000"/>
                </a:solidFill>
              </a:rPr>
              <a:t>storage class is marked as “default” will be used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BA7FF20-6576-BACC-C4FE-0579B89AB292}"/>
              </a:ext>
            </a:extLst>
          </p:cNvPr>
          <p:cNvGrpSpPr/>
          <p:nvPr/>
        </p:nvGrpSpPr>
        <p:grpSpPr>
          <a:xfrm>
            <a:off x="3047343" y="1918783"/>
            <a:ext cx="6097314" cy="1631216"/>
            <a:chOff x="3047343" y="1960502"/>
            <a:chExt cx="6097314" cy="1631216"/>
          </a:xfrm>
        </p:grpSpPr>
        <p:sp>
          <p:nvSpPr>
            <p:cNvPr id="8" name="TextBox 7">
              <a:extLst>
                <a:ext uri="{FF2B5EF4-FFF2-40B4-BE49-F238E27FC236}">
                  <a16:creationId xmlns:a16="http://schemas.microsoft.com/office/drawing/2014/main" id="{ABF7E45D-23F7-4F65-27A0-3C0A355B0C82}"/>
                </a:ext>
              </a:extLst>
            </p:cNvPr>
            <p:cNvSpPr txBox="1"/>
            <p:nvPr/>
          </p:nvSpPr>
          <p:spPr>
            <a:xfrm>
              <a:off x="3047343" y="1960502"/>
              <a:ext cx="6097314"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mongodb-pvc2 </a:t>
              </a:r>
            </a:p>
            <a:p>
              <a:r>
                <a:rPr lang="en-US" altLang="ko-KR" sz="1000" b="1" dirty="0"/>
                <a:t>spec:</a:t>
              </a:r>
            </a:p>
            <a:p>
              <a:r>
                <a:rPr lang="en-US" altLang="ko-KR" sz="1000" b="1" dirty="0"/>
                <a:t>  resources:</a:t>
              </a:r>
            </a:p>
            <a:p>
              <a:r>
                <a:rPr lang="en-US" altLang="ko-KR" sz="1000" b="1" dirty="0"/>
                <a:t>    requests:</a:t>
              </a:r>
            </a:p>
            <a:p>
              <a:r>
                <a:rPr lang="en-US" altLang="ko-KR" sz="1000" b="1" dirty="0"/>
                <a:t>      storage: 100Mi</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t>ReadWriteOnce</a:t>
              </a:r>
              <a:endParaRPr lang="en-US" altLang="ko-KR" sz="1000" b="1" dirty="0"/>
            </a:p>
          </p:txBody>
        </p:sp>
        <p:sp>
          <p:nvSpPr>
            <p:cNvPr id="9" name="TextBox 8">
              <a:extLst>
                <a:ext uri="{FF2B5EF4-FFF2-40B4-BE49-F238E27FC236}">
                  <a16:creationId xmlns:a16="http://schemas.microsoft.com/office/drawing/2014/main" id="{F7BB4AD4-DA84-D6BF-A6AE-3624160F1804}"/>
                </a:ext>
              </a:extLst>
            </p:cNvPr>
            <p:cNvSpPr txBox="1"/>
            <p:nvPr/>
          </p:nvSpPr>
          <p:spPr>
            <a:xfrm>
              <a:off x="6603577" y="1965565"/>
              <a:ext cx="2541080" cy="246221"/>
            </a:xfrm>
            <a:prstGeom prst="rect">
              <a:avLst/>
            </a:prstGeom>
            <a:noFill/>
          </p:spPr>
          <p:txBody>
            <a:bodyPr wrap="none" rtlCol="0">
              <a:spAutoFit/>
            </a:bodyPr>
            <a:lstStyle/>
            <a:p>
              <a:pPr algn="l"/>
              <a:r>
                <a:rPr lang="en-US" altLang="ko-KR" sz="1000" b="1" dirty="0" err="1"/>
                <a:t>mongodb-pvc-dp-nostorageclass.yaml</a:t>
              </a:r>
              <a:endParaRPr lang="ko-KR" altLang="en-US" sz="1000" b="1" dirty="0"/>
            </a:p>
          </p:txBody>
        </p:sp>
      </p:grpSp>
      <p:grpSp>
        <p:nvGrpSpPr>
          <p:cNvPr id="16" name="그룹 15">
            <a:extLst>
              <a:ext uri="{FF2B5EF4-FFF2-40B4-BE49-F238E27FC236}">
                <a16:creationId xmlns:a16="http://schemas.microsoft.com/office/drawing/2014/main" id="{F69C59B7-EC99-E09A-087D-9EDC1B23E6F2}"/>
              </a:ext>
            </a:extLst>
          </p:cNvPr>
          <p:cNvGrpSpPr/>
          <p:nvPr/>
        </p:nvGrpSpPr>
        <p:grpSpPr>
          <a:xfrm>
            <a:off x="1407073" y="4482315"/>
            <a:ext cx="9377855" cy="1874035"/>
            <a:chOff x="1407073" y="4482315"/>
            <a:chExt cx="9377855" cy="1874035"/>
          </a:xfrm>
        </p:grpSpPr>
        <p:pic>
          <p:nvPicPr>
            <p:cNvPr id="12" name="그림 11">
              <a:extLst>
                <a:ext uri="{FF2B5EF4-FFF2-40B4-BE49-F238E27FC236}">
                  <a16:creationId xmlns:a16="http://schemas.microsoft.com/office/drawing/2014/main" id="{9A58CF18-BC4D-F7D8-DFD1-BC908F5903F8}"/>
                </a:ext>
              </a:extLst>
            </p:cNvPr>
            <p:cNvPicPr>
              <a:picLocks noChangeAspect="1"/>
            </p:cNvPicPr>
            <p:nvPr/>
          </p:nvPicPr>
          <p:blipFill>
            <a:blip r:embed="rId2"/>
            <a:stretch>
              <a:fillRect/>
            </a:stretch>
          </p:blipFill>
          <p:spPr>
            <a:xfrm>
              <a:off x="1407073" y="4482315"/>
              <a:ext cx="9377855" cy="1874035"/>
            </a:xfrm>
            <a:prstGeom prst="rect">
              <a:avLst/>
            </a:prstGeom>
          </p:spPr>
        </p:pic>
        <p:sp>
          <p:nvSpPr>
            <p:cNvPr id="13" name="직사각형 12">
              <a:extLst>
                <a:ext uri="{FF2B5EF4-FFF2-40B4-BE49-F238E27FC236}">
                  <a16:creationId xmlns:a16="http://schemas.microsoft.com/office/drawing/2014/main" id="{A9277666-6CE5-A4B9-E5AE-BC0AEF4DC01C}"/>
                </a:ext>
              </a:extLst>
            </p:cNvPr>
            <p:cNvSpPr/>
            <p:nvPr/>
          </p:nvSpPr>
          <p:spPr>
            <a:xfrm>
              <a:off x="5312979" y="4895193"/>
              <a:ext cx="3281855"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C78087D5-6403-8F7B-4361-8C41B30B0DA4}"/>
                </a:ext>
              </a:extLst>
            </p:cNvPr>
            <p:cNvSpPr/>
            <p:nvPr/>
          </p:nvSpPr>
          <p:spPr>
            <a:xfrm>
              <a:off x="7236372" y="5289331"/>
              <a:ext cx="804042" cy="3074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6B3308B3-29A4-D18C-12E1-AE3CD8E03CDC}"/>
                </a:ext>
              </a:extLst>
            </p:cNvPr>
            <p:cNvSpPr/>
            <p:nvPr/>
          </p:nvSpPr>
          <p:spPr>
            <a:xfrm>
              <a:off x="1489841" y="5817476"/>
              <a:ext cx="9041525" cy="1734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494607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Technology(24/25)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Provisioning without Specifying a Storage Class :</a:t>
            </a:r>
          </a:p>
          <a:p>
            <a:pPr lvl="1">
              <a:buFont typeface="Wingdings" panose="05000000000000000000" pitchFamily="2" charset="2"/>
              <a:buChar char="§"/>
            </a:pPr>
            <a:r>
              <a:rPr lang="en-US" altLang="ko-KR" sz="1400" dirty="0"/>
              <a:t>Let’s repeat the relevant lines of the “</a:t>
            </a:r>
            <a:r>
              <a:rPr lang="en-US" altLang="ko-KR" sz="1400" b="1" dirty="0" err="1"/>
              <a:t>mongodb-pvc.yaml</a:t>
            </a:r>
            <a:r>
              <a:rPr lang="en-US" altLang="ko-KR" sz="1400" dirty="0"/>
              <a:t>” PVC definition here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Specifying an empty string as the storage class name ensures the PVC binds to a pre-provisioned PV instead of dynamically provisioning a new one. </a:t>
            </a:r>
          </a:p>
          <a:p>
            <a:pPr lvl="1">
              <a:buFont typeface="Wingdings" panose="05000000000000000000" pitchFamily="2" charset="2"/>
              <a:buChar char="§"/>
            </a:pPr>
            <a:r>
              <a:rPr lang="en-US" altLang="ko-KR" sz="1400" dirty="0"/>
              <a:t>If you hadn’t set the “</a:t>
            </a:r>
            <a:r>
              <a:rPr lang="en-US" altLang="ko-KR" sz="1400" b="1" dirty="0" err="1">
                <a:solidFill>
                  <a:srgbClr val="FF0000"/>
                </a:solidFill>
              </a:rPr>
              <a:t>storageClassName</a:t>
            </a:r>
            <a:r>
              <a:rPr lang="en-US" altLang="ko-KR" sz="1400" dirty="0"/>
              <a:t>” attribute to an empty string, the dynamic volume provisioner would have provisioned a new </a:t>
            </a:r>
            <a:r>
              <a:rPr lang="en-US" altLang="ko-KR" sz="1400" b="1" dirty="0" err="1"/>
              <a:t>PersistentVolume</a:t>
            </a:r>
            <a:r>
              <a:rPr lang="en-US" altLang="ko-KR" sz="1400" dirty="0"/>
              <a:t>, despite there being an appropriate pre-provisioned </a:t>
            </a:r>
            <a:r>
              <a:rPr lang="en-US" altLang="ko-KR" sz="1400" b="1" dirty="0" err="1"/>
              <a:t>PersistentVolume</a:t>
            </a:r>
            <a:r>
              <a:rPr lang="en-US" altLang="ko-KR" sz="1400" dirty="0"/>
              <a:t>.</a:t>
            </a:r>
          </a:p>
          <a:p>
            <a:pPr lvl="1">
              <a:buFont typeface="Wingdings" panose="05000000000000000000" pitchFamily="2" charset="2"/>
              <a:buChar char="§"/>
            </a:pPr>
            <a:r>
              <a:rPr lang="en-US" altLang="ko-KR" sz="1400" b="1" dirty="0"/>
              <a:t>TIP : Explicitly set “</a:t>
            </a:r>
            <a:r>
              <a:rPr lang="en-US" altLang="ko-KR" sz="1400" b="1" dirty="0" err="1"/>
              <a:t>storageClassName</a:t>
            </a:r>
            <a:r>
              <a:rPr lang="en-US" altLang="ko-KR" sz="1400" b="1" dirty="0"/>
              <a:t>” to "" if you want the PVC to use a pre-provisioned </a:t>
            </a:r>
            <a:r>
              <a:rPr lang="en-US" altLang="ko-KR" sz="1400" b="1" dirty="0" err="1"/>
              <a:t>PersistentVolume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CAFCD378-10FE-D3C6-E41B-502BE672592E}"/>
              </a:ext>
            </a:extLst>
          </p:cNvPr>
          <p:cNvGrpSpPr/>
          <p:nvPr/>
        </p:nvGrpSpPr>
        <p:grpSpPr>
          <a:xfrm>
            <a:off x="3047343" y="1619843"/>
            <a:ext cx="6097314" cy="1785104"/>
            <a:chOff x="3047343" y="1619843"/>
            <a:chExt cx="6097314" cy="1785104"/>
          </a:xfrm>
        </p:grpSpPr>
        <p:sp>
          <p:nvSpPr>
            <p:cNvPr id="8" name="TextBox 7">
              <a:extLst>
                <a:ext uri="{FF2B5EF4-FFF2-40B4-BE49-F238E27FC236}">
                  <a16:creationId xmlns:a16="http://schemas.microsoft.com/office/drawing/2014/main" id="{F708D901-D420-2F9C-CAC2-849488C425FF}"/>
                </a:ext>
              </a:extLst>
            </p:cNvPr>
            <p:cNvSpPr txBox="1"/>
            <p:nvPr/>
          </p:nvSpPr>
          <p:spPr>
            <a:xfrm>
              <a:off x="3047343" y="1619843"/>
              <a:ext cx="6097314"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PersistentVolumeClaim</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t>mongodb-pvc</a:t>
              </a:r>
              <a:r>
                <a:rPr lang="en-US" altLang="ko-KR" sz="1000" b="1" dirty="0"/>
                <a:t> </a:t>
              </a:r>
            </a:p>
            <a:p>
              <a:r>
                <a:rPr lang="en-US" altLang="ko-KR" sz="1000" b="1" dirty="0"/>
                <a:t>spec:</a:t>
              </a:r>
            </a:p>
            <a:p>
              <a:r>
                <a:rPr lang="en-US" altLang="ko-KR" sz="1000" b="1" dirty="0"/>
                <a:t>  resources:</a:t>
              </a:r>
            </a:p>
            <a:p>
              <a:r>
                <a:rPr lang="en-US" altLang="ko-KR" sz="1000" b="1" dirty="0"/>
                <a:t>    requests:</a:t>
              </a:r>
            </a:p>
            <a:p>
              <a:r>
                <a:rPr lang="en-US" altLang="ko-KR" sz="1000" b="1" dirty="0"/>
                <a:t>      storage: 1Gi</a:t>
              </a:r>
            </a:p>
            <a:p>
              <a:r>
                <a:rPr lang="en-US" altLang="ko-KR" sz="1000" b="1" dirty="0"/>
                <a:t>  </a:t>
              </a:r>
              <a:r>
                <a:rPr lang="en-US" altLang="ko-KR" sz="1000" b="1" dirty="0" err="1"/>
                <a:t>accessModes</a:t>
              </a:r>
              <a:r>
                <a:rPr lang="en-US" altLang="ko-KR" sz="1000" b="1" dirty="0"/>
                <a:t>:</a:t>
              </a:r>
            </a:p>
            <a:p>
              <a:r>
                <a:rPr lang="en-US" altLang="ko-KR" sz="1000" b="1" dirty="0"/>
                <a:t>  - </a:t>
              </a:r>
              <a:r>
                <a:rPr lang="en-US" altLang="ko-KR" sz="1000" b="1" dirty="0" err="1"/>
                <a:t>ReadWriteOnce</a:t>
              </a:r>
              <a:endParaRPr lang="en-US" altLang="ko-KR" sz="1000" b="1" dirty="0"/>
            </a:p>
            <a:p>
              <a:r>
                <a:rPr lang="en-US" altLang="ko-KR" sz="1000" b="1" dirty="0"/>
                <a:t>  </a:t>
              </a:r>
              <a:r>
                <a:rPr lang="en-US" altLang="ko-KR" sz="1000" b="1" dirty="0" err="1">
                  <a:solidFill>
                    <a:srgbClr val="FF0000"/>
                  </a:solidFill>
                </a:rPr>
                <a:t>storageClassName</a:t>
              </a:r>
              <a:r>
                <a:rPr lang="en-US" altLang="ko-KR" sz="1000" b="1" dirty="0">
                  <a:solidFill>
                    <a:srgbClr val="FF0000"/>
                  </a:solidFill>
                </a:rPr>
                <a:t>: ""</a:t>
              </a:r>
            </a:p>
          </p:txBody>
        </p:sp>
        <p:sp>
          <p:nvSpPr>
            <p:cNvPr id="11" name="TextBox 10">
              <a:extLst>
                <a:ext uri="{FF2B5EF4-FFF2-40B4-BE49-F238E27FC236}">
                  <a16:creationId xmlns:a16="http://schemas.microsoft.com/office/drawing/2014/main" id="{3D1B32F9-1E65-6EEB-4C39-B6274D5696B1}"/>
                </a:ext>
              </a:extLst>
            </p:cNvPr>
            <p:cNvSpPr txBox="1"/>
            <p:nvPr/>
          </p:nvSpPr>
          <p:spPr>
            <a:xfrm>
              <a:off x="7772165" y="1619843"/>
              <a:ext cx="1372492" cy="246221"/>
            </a:xfrm>
            <a:prstGeom prst="rect">
              <a:avLst/>
            </a:prstGeom>
            <a:noFill/>
          </p:spPr>
          <p:txBody>
            <a:bodyPr wrap="none" rtlCol="0">
              <a:spAutoFit/>
            </a:bodyPr>
            <a:lstStyle/>
            <a:p>
              <a:pPr algn="l"/>
              <a:r>
                <a:rPr lang="en-US" altLang="ko-KR" sz="1000" b="1" dirty="0" err="1"/>
                <a:t>mongodb-pvc.yaml</a:t>
              </a:r>
              <a:endParaRPr lang="ko-KR" altLang="en-US" sz="1000" b="1" dirty="0"/>
            </a:p>
          </p:txBody>
        </p:sp>
      </p:grpSp>
    </p:spTree>
    <p:extLst>
      <p:ext uri="{BB962C8B-B14F-4D97-AF65-F5344CB8AC3E}">
        <p14:creationId xmlns:p14="http://schemas.microsoft.com/office/powerpoint/2010/main" val="3059992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Pods from the Underlying Storage Technology(25/25)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Dynamic Provisioning without Specifying a Storage Class :</a:t>
            </a:r>
          </a:p>
          <a:p>
            <a:pPr lvl="1">
              <a:buFont typeface="Wingdings" panose="05000000000000000000" pitchFamily="2" charset="2"/>
              <a:buChar char="§"/>
            </a:pPr>
            <a:r>
              <a:rPr lang="en-US" altLang="ko-KR" sz="1400" b="1" dirty="0"/>
              <a:t>To summarize, the best way to attach persistent storage to a pod is to only create the PVC (with an explicitly specified </a:t>
            </a:r>
            <a:r>
              <a:rPr lang="en-US" altLang="ko-KR" sz="1400" b="1" dirty="0" err="1"/>
              <a:t>storageClassName</a:t>
            </a:r>
            <a:r>
              <a:rPr lang="en-US" altLang="ko-KR" sz="1400" b="1" dirty="0"/>
              <a:t> if necessary) and the pod (which refers to the PVC by name). </a:t>
            </a:r>
            <a:r>
              <a:rPr lang="en-US" altLang="ko-KR" sz="1400" dirty="0"/>
              <a:t>Everything else is taken care of by </a:t>
            </a:r>
            <a:r>
              <a:rPr lang="en-US" altLang="ko-KR" sz="1400" b="1" dirty="0"/>
              <a:t>the dynamic </a:t>
            </a:r>
            <a:r>
              <a:rPr lang="en-US" altLang="ko-KR" sz="1400" b="1" dirty="0" err="1"/>
              <a:t>PersistentVolume</a:t>
            </a:r>
            <a:r>
              <a:rPr lang="en-US" altLang="ko-KR" sz="1400" b="1" dirty="0"/>
              <a:t> provisioner</a:t>
            </a:r>
            <a:r>
              <a:rPr lang="en-US" altLang="ko-KR" sz="1400" dirty="0"/>
              <a:t>. The following figure will show you how to do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3E8B4AE-C8B8-3432-28F2-33B59541194B}"/>
              </a:ext>
            </a:extLst>
          </p:cNvPr>
          <p:cNvGrpSpPr/>
          <p:nvPr/>
        </p:nvGrpSpPr>
        <p:grpSpPr>
          <a:xfrm>
            <a:off x="3133725" y="2176956"/>
            <a:ext cx="5924550" cy="3276600"/>
            <a:chOff x="3133725" y="2176956"/>
            <a:chExt cx="5924550" cy="3276600"/>
          </a:xfrm>
        </p:grpSpPr>
        <p:pic>
          <p:nvPicPr>
            <p:cNvPr id="8" name="그림 7">
              <a:extLst>
                <a:ext uri="{FF2B5EF4-FFF2-40B4-BE49-F238E27FC236}">
                  <a16:creationId xmlns:a16="http://schemas.microsoft.com/office/drawing/2014/main" id="{DDEB001B-BF24-D877-DF12-0C26CBC53E0A}"/>
                </a:ext>
              </a:extLst>
            </p:cNvPr>
            <p:cNvPicPr>
              <a:picLocks noChangeAspect="1"/>
            </p:cNvPicPr>
            <p:nvPr/>
          </p:nvPicPr>
          <p:blipFill>
            <a:blip r:embed="rId2"/>
            <a:stretch>
              <a:fillRect/>
            </a:stretch>
          </p:blipFill>
          <p:spPr>
            <a:xfrm>
              <a:off x="3133725" y="2176956"/>
              <a:ext cx="5924550" cy="3276600"/>
            </a:xfrm>
            <a:prstGeom prst="rect">
              <a:avLst/>
            </a:prstGeom>
          </p:spPr>
        </p:pic>
        <p:sp>
          <p:nvSpPr>
            <p:cNvPr id="9" name="직사각형 8">
              <a:extLst>
                <a:ext uri="{FF2B5EF4-FFF2-40B4-BE49-F238E27FC236}">
                  <a16:creationId xmlns:a16="http://schemas.microsoft.com/office/drawing/2014/main" id="{70A90B02-79D5-77A7-B2BA-DD7F8A8D0985}"/>
                </a:ext>
              </a:extLst>
            </p:cNvPr>
            <p:cNvSpPr/>
            <p:nvPr/>
          </p:nvSpPr>
          <p:spPr>
            <a:xfrm>
              <a:off x="4950371" y="2743199"/>
              <a:ext cx="654269" cy="52026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6935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err="1"/>
              <a:t>ConfigMaps</a:t>
            </a:r>
            <a:r>
              <a:rPr lang="en-US" altLang="ko-KR" sz="4400" b="1" dirty="0"/>
              <a:t> and Secrets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Configuring Applications</a:t>
            </a:r>
            <a:endParaRPr lang="ko-KR" altLang="en-US" sz="2800" b="1" dirty="0"/>
          </a:p>
        </p:txBody>
      </p:sp>
    </p:spTree>
    <p:extLst>
      <p:ext uri="{BB962C8B-B14F-4D97-AF65-F5344CB8AC3E}">
        <p14:creationId xmlns:p14="http://schemas.microsoft.com/office/powerpoint/2010/main" val="27176059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Containerized Applications(1/2)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How to Configure Your Application :</a:t>
            </a:r>
          </a:p>
          <a:p>
            <a:pPr lvl="1">
              <a:buFont typeface="Wingdings" panose="05000000000000000000" pitchFamily="2" charset="2"/>
              <a:buChar char="§"/>
            </a:pPr>
            <a:r>
              <a:rPr lang="en-US" altLang="ko-KR" sz="1400" dirty="0"/>
              <a:t>If you skip the fact that you can bake the configuration into the application itself, when starting development of a new app, you usually start off by having the app configured through </a:t>
            </a:r>
            <a:r>
              <a:rPr lang="en-US" altLang="ko-KR" sz="1400" b="1" dirty="0"/>
              <a:t>command-line arguments</a:t>
            </a:r>
            <a:r>
              <a:rPr lang="en-US" altLang="ko-KR" sz="1400" dirty="0"/>
              <a:t>. Then, as the list of configuration options grows, you can move the configuration into a </a:t>
            </a:r>
            <a:r>
              <a:rPr lang="en-US" altLang="ko-KR" sz="1400" b="1" dirty="0"/>
              <a:t>config file</a:t>
            </a:r>
            <a:r>
              <a:rPr lang="en-US" altLang="ko-KR" sz="1400" dirty="0"/>
              <a:t>.</a:t>
            </a:r>
          </a:p>
          <a:p>
            <a:pPr lvl="1">
              <a:buFont typeface="Wingdings" panose="05000000000000000000" pitchFamily="2" charset="2"/>
              <a:buChar char="§"/>
            </a:pPr>
            <a:r>
              <a:rPr lang="en-US" altLang="ko-KR" sz="1400" dirty="0"/>
              <a:t>Another way of passing configuration options to an application that’s widely popular in containerized applications is through </a:t>
            </a:r>
            <a:r>
              <a:rPr lang="en-US" altLang="ko-KR" sz="1400" b="1" dirty="0"/>
              <a:t>environment variables</a:t>
            </a:r>
            <a:r>
              <a:rPr lang="en-US" altLang="ko-KR" sz="1400" dirty="0"/>
              <a:t>. Instead of having the app read a config file or command-line arguments, the app looks up the value of a certain environment variable. The official MySQL container image, for example, uses an environment variable called “</a:t>
            </a:r>
            <a:r>
              <a:rPr lang="en-US" altLang="ko-KR" sz="1400" b="1" dirty="0"/>
              <a:t>MYSQL_ROOT_PASSWORD” </a:t>
            </a:r>
            <a:r>
              <a:rPr lang="en-US" altLang="ko-KR" sz="1400" dirty="0"/>
              <a:t>for setting the password for the root super-user account.</a:t>
            </a:r>
          </a:p>
          <a:p>
            <a:pPr lvl="1">
              <a:buFont typeface="Wingdings" panose="05000000000000000000" pitchFamily="2" charset="2"/>
              <a:buChar char="§"/>
            </a:pPr>
            <a:r>
              <a:rPr lang="en-US" altLang="ko-KR" sz="1400" dirty="0"/>
              <a:t>Using configuration files inside Docker containers is a bit tricky, because you’d have to bake the config file into the container image itself or mount a volume containing the file into the container. Obviously, </a:t>
            </a:r>
            <a:r>
              <a:rPr lang="en-US" altLang="ko-KR" sz="1400" b="1" dirty="0"/>
              <a:t>baking files into the image is similar to hardcoding configuration into the source code of the application</a:t>
            </a:r>
            <a:r>
              <a:rPr lang="en-US" altLang="ko-KR" sz="1400" dirty="0"/>
              <a:t>, because it requires you to rebuild the image every time you want to change the config. Plus, everyone with access to the image can see the config, including any information that should be kept </a:t>
            </a:r>
            <a:r>
              <a:rPr lang="en-US" altLang="ko-KR" sz="1400" b="1" dirty="0"/>
              <a:t>secret, such as credentials or encryption keys</a:t>
            </a:r>
            <a:r>
              <a:rPr lang="en-US" altLang="ko-KR" sz="1400" dirty="0"/>
              <a:t>. Using a volume is better, but still requires you to make sure the file is written to the volume before the container is started.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5445DA81-34D9-A4F1-F2CC-DA22E902DF5C}"/>
              </a:ext>
            </a:extLst>
          </p:cNvPr>
          <p:cNvGrpSpPr/>
          <p:nvPr/>
        </p:nvGrpSpPr>
        <p:grpSpPr>
          <a:xfrm>
            <a:off x="5232430" y="3872177"/>
            <a:ext cx="1727140" cy="2536853"/>
            <a:chOff x="9626660" y="3872177"/>
            <a:chExt cx="1727140" cy="2536853"/>
          </a:xfrm>
        </p:grpSpPr>
        <p:pic>
          <p:nvPicPr>
            <p:cNvPr id="4" name="그림 3">
              <a:extLst>
                <a:ext uri="{FF2B5EF4-FFF2-40B4-BE49-F238E27FC236}">
                  <a16:creationId xmlns:a16="http://schemas.microsoft.com/office/drawing/2014/main" id="{C3EE2773-A7A5-277D-0135-051187709AC8}"/>
                </a:ext>
              </a:extLst>
            </p:cNvPr>
            <p:cNvPicPr>
              <a:picLocks noChangeAspect="1"/>
            </p:cNvPicPr>
            <p:nvPr/>
          </p:nvPicPr>
          <p:blipFill>
            <a:blip r:embed="rId2"/>
            <a:stretch>
              <a:fillRect/>
            </a:stretch>
          </p:blipFill>
          <p:spPr>
            <a:xfrm>
              <a:off x="9626660" y="3872177"/>
              <a:ext cx="1727140" cy="2536853"/>
            </a:xfrm>
            <a:prstGeom prst="rect">
              <a:avLst/>
            </a:prstGeom>
          </p:spPr>
        </p:pic>
        <p:sp>
          <p:nvSpPr>
            <p:cNvPr id="10" name="직사각형 9">
              <a:extLst>
                <a:ext uri="{FF2B5EF4-FFF2-40B4-BE49-F238E27FC236}">
                  <a16:creationId xmlns:a16="http://schemas.microsoft.com/office/drawing/2014/main" id="{A1F71968-3633-7EBF-BA0E-05903F760FEC}"/>
                </a:ext>
              </a:extLst>
            </p:cNvPr>
            <p:cNvSpPr/>
            <p:nvPr/>
          </p:nvSpPr>
          <p:spPr>
            <a:xfrm>
              <a:off x="10624842" y="4377791"/>
              <a:ext cx="663547" cy="7120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538653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Containerized Applications(2/2)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t>
            </a:r>
            <a:r>
              <a:rPr lang="en-US" altLang="ko-KR" sz="1800" b="1" dirty="0" err="1"/>
              <a:t>ConfigMap</a:t>
            </a:r>
            <a:r>
              <a:rPr lang="en-US" altLang="ko-KR" sz="1800" b="1" dirty="0"/>
              <a:t> and Secret :</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 simpler way allows you to </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put the configuration data into a top-level Kubernetes resource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store it and all the other resource definitions in the same Git repository or in any other file-based storage</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Kubernetes resource for storing configuration data is called a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ConfigMap</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lvl="1">
              <a:buFont typeface="Wingdings" panose="05000000000000000000" pitchFamily="2" charset="2"/>
              <a:buChar char="§"/>
            </a:pPr>
            <a:r>
              <a:rPr lang="en-US" altLang="ko-KR" sz="1400" dirty="0"/>
              <a:t>Regardless if you’re using a </a:t>
            </a:r>
            <a:r>
              <a:rPr lang="en-US" altLang="ko-KR" sz="1400" b="1" dirty="0" err="1"/>
              <a:t>ConfigMap</a:t>
            </a:r>
            <a:r>
              <a:rPr lang="en-US" altLang="ko-KR" sz="1400" dirty="0"/>
              <a:t> to </a:t>
            </a:r>
            <a:r>
              <a:rPr lang="en-US" altLang="ko-KR" sz="1400" b="1" dirty="0"/>
              <a:t>store configuration data </a:t>
            </a:r>
            <a:r>
              <a:rPr lang="en-US" altLang="ko-KR" sz="1400" dirty="0"/>
              <a:t>or not, you can configure your apps by</a:t>
            </a:r>
          </a:p>
          <a:p>
            <a:pPr lvl="2">
              <a:buFont typeface="Wingdings" panose="05000000000000000000" pitchFamily="2" charset="2"/>
              <a:buChar char="§"/>
            </a:pPr>
            <a:r>
              <a:rPr lang="en-US" altLang="ko-KR" sz="1400" b="1" dirty="0"/>
              <a:t>Passing command-line arguments to containers</a:t>
            </a:r>
          </a:p>
          <a:p>
            <a:pPr lvl="2">
              <a:buFont typeface="Wingdings" panose="05000000000000000000" pitchFamily="2" charset="2"/>
              <a:buChar char="§"/>
            </a:pPr>
            <a:r>
              <a:rPr lang="en-US" altLang="ko-KR" sz="1400" b="1" dirty="0"/>
              <a:t>Setting custom environment variables for each container</a:t>
            </a:r>
          </a:p>
          <a:p>
            <a:pPr lvl="2">
              <a:buFont typeface="Wingdings" panose="05000000000000000000" pitchFamily="2" charset="2"/>
              <a:buChar char="§"/>
            </a:pPr>
            <a:r>
              <a:rPr lang="en-US" altLang="ko-KR" sz="1400" b="1" dirty="0"/>
              <a:t>Mounting configuration files into containers through a special type of volume</a:t>
            </a:r>
          </a:p>
          <a:p>
            <a:pPr lvl="1">
              <a:buFont typeface="Wingdings" panose="05000000000000000000" pitchFamily="2" charset="2"/>
              <a:buChar char="§"/>
            </a:pPr>
            <a:r>
              <a:rPr lang="en-US" altLang="ko-KR" sz="1400" b="1" dirty="0"/>
              <a:t>Though most configuration options don’t contain any sensitive information, several can</a:t>
            </a:r>
            <a:r>
              <a:rPr lang="en-US" altLang="ko-KR" sz="1400" dirty="0"/>
              <a:t>. These include credentials, private encryption keys, and similar data that needs to be kept secure. This type of information needs to be handled with special care, which is why </a:t>
            </a:r>
            <a:r>
              <a:rPr lang="en-US" altLang="ko-KR" sz="1400" b="1" dirty="0"/>
              <a:t>Kubernetes offers another type of </a:t>
            </a:r>
            <a:r>
              <a:rPr lang="en-US" altLang="ko-KR" sz="1400" b="1" dirty="0">
                <a:solidFill>
                  <a:srgbClr val="FF0000"/>
                </a:solidFill>
              </a:rPr>
              <a:t>first-class object </a:t>
            </a:r>
            <a:r>
              <a:rPr lang="en-US" altLang="ko-KR" sz="1400" b="1" dirty="0"/>
              <a:t>called a </a:t>
            </a:r>
            <a:r>
              <a:rPr lang="en-US" altLang="ko-KR" sz="1400" b="1" dirty="0">
                <a:solidFill>
                  <a:srgbClr val="FF0000"/>
                </a:solidFill>
              </a:rPr>
              <a:t>Secret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DB7CA61-E43F-DA13-016F-12F394AB36C3}"/>
              </a:ext>
            </a:extLst>
          </p:cNvPr>
          <p:cNvPicPr>
            <a:picLocks noChangeAspect="1"/>
          </p:cNvPicPr>
          <p:nvPr/>
        </p:nvPicPr>
        <p:blipFill>
          <a:blip r:embed="rId2"/>
          <a:stretch>
            <a:fillRect/>
          </a:stretch>
        </p:blipFill>
        <p:spPr>
          <a:xfrm>
            <a:off x="3236056" y="3591718"/>
            <a:ext cx="5719888" cy="2357521"/>
          </a:xfrm>
          <a:prstGeom prst="rect">
            <a:avLst/>
          </a:prstGeom>
        </p:spPr>
      </p:pic>
    </p:spTree>
    <p:extLst>
      <p:ext uri="{BB962C8B-B14F-4D97-AF65-F5344CB8AC3E}">
        <p14:creationId xmlns:p14="http://schemas.microsoft.com/office/powerpoint/2010/main" val="4643171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Command and Arguments in Docker :</a:t>
            </a:r>
          </a:p>
          <a:p>
            <a:pPr lvl="1">
              <a:buFont typeface="Wingdings" panose="05000000000000000000" pitchFamily="2" charset="2"/>
              <a:buChar char="§"/>
            </a:pPr>
            <a:r>
              <a:rPr lang="en-US" altLang="ko-KR" sz="1400" b="1" dirty="0"/>
              <a:t>Kubernetes allows overriding the command as part of the pod’s container definition when you want to run a different executable </a:t>
            </a:r>
            <a:r>
              <a:rPr lang="en-US" altLang="ko-KR" sz="1400" dirty="0"/>
              <a:t>instead of the one specified in the image, or want to run it with a different set of command-line arguments. The whole command that gets executed in the container is composed of two parts : </a:t>
            </a:r>
            <a:r>
              <a:rPr lang="en-US" altLang="ko-KR" sz="1400" b="1" dirty="0"/>
              <a:t>the </a:t>
            </a:r>
            <a:r>
              <a:rPr lang="en-US" altLang="ko-KR" sz="1400" b="1" dirty="0">
                <a:solidFill>
                  <a:srgbClr val="FF0000"/>
                </a:solidFill>
              </a:rPr>
              <a:t>command</a:t>
            </a:r>
            <a:r>
              <a:rPr lang="en-US" altLang="ko-KR" sz="1400" b="1" dirty="0"/>
              <a:t> and the </a:t>
            </a:r>
            <a:r>
              <a:rPr lang="en-US" altLang="ko-KR" sz="1400" b="1" dirty="0">
                <a:solidFill>
                  <a:srgbClr val="FF0000"/>
                </a:solidFill>
              </a:rPr>
              <a:t>arguments</a:t>
            </a:r>
            <a:r>
              <a:rPr lang="en-US" altLang="ko-KR" sz="1400" dirty="0"/>
              <a:t>.</a:t>
            </a:r>
          </a:p>
          <a:p>
            <a:pPr lvl="1">
              <a:buFont typeface="Wingdings" panose="05000000000000000000" pitchFamily="2" charset="2"/>
              <a:buChar char="§"/>
            </a:pPr>
            <a:r>
              <a:rPr lang="en-US" altLang="ko-KR" sz="1400" dirty="0"/>
              <a:t>In a </a:t>
            </a:r>
            <a:r>
              <a:rPr lang="en-US" altLang="ko-KR" sz="1400" b="1" dirty="0" err="1"/>
              <a:t>Dockerfile</a:t>
            </a:r>
            <a:r>
              <a:rPr lang="en-US" altLang="ko-KR" sz="1400" dirty="0"/>
              <a:t>, two instructions define the two parts :</a:t>
            </a:r>
          </a:p>
          <a:p>
            <a:pPr lvl="2">
              <a:buFont typeface="Wingdings" panose="05000000000000000000" pitchFamily="2" charset="2"/>
              <a:buChar char="§"/>
            </a:pPr>
            <a:r>
              <a:rPr lang="en-US" altLang="ko-KR" sz="1400" b="1" dirty="0">
                <a:solidFill>
                  <a:srgbClr val="FF0000"/>
                </a:solidFill>
              </a:rPr>
              <a:t>ENTRYPOINT</a:t>
            </a:r>
            <a:r>
              <a:rPr lang="en-US" altLang="ko-KR" sz="1400" b="1" dirty="0"/>
              <a:t> defines the executable invoked when the container is started</a:t>
            </a:r>
            <a:r>
              <a:rPr lang="en-US" altLang="ko-KR" sz="1400" dirty="0"/>
              <a:t>.</a:t>
            </a:r>
          </a:p>
          <a:p>
            <a:pPr lvl="2">
              <a:buFont typeface="Wingdings" panose="05000000000000000000" pitchFamily="2" charset="2"/>
              <a:buChar char="§"/>
            </a:pPr>
            <a:r>
              <a:rPr lang="en-US" altLang="ko-KR" sz="1400" b="1" dirty="0">
                <a:solidFill>
                  <a:srgbClr val="FF0000"/>
                </a:solidFill>
              </a:rPr>
              <a:t>CMD</a:t>
            </a:r>
            <a:r>
              <a:rPr lang="en-US" altLang="ko-KR" sz="1400" b="1" dirty="0"/>
              <a:t> specifies the arguments that get passed to the ENTRYPOINT</a:t>
            </a:r>
            <a:r>
              <a:rPr lang="en-US" altLang="ko-KR" sz="1400" dirty="0"/>
              <a:t>.</a:t>
            </a:r>
          </a:p>
          <a:p>
            <a:pPr lvl="1">
              <a:buFont typeface="Wingdings" panose="05000000000000000000" pitchFamily="2" charset="2"/>
              <a:buChar char="§"/>
            </a:pPr>
            <a:r>
              <a:rPr lang="en-US" altLang="ko-KR" sz="1400" dirty="0"/>
              <a:t>Although you can use the </a:t>
            </a:r>
            <a:r>
              <a:rPr lang="en-US" altLang="ko-KR" sz="1400" b="1" dirty="0"/>
              <a:t>CMD</a:t>
            </a:r>
            <a:r>
              <a:rPr lang="en-US" altLang="ko-KR" sz="1400" dirty="0"/>
              <a:t> instruction to specify the command you want to execute when the image is run, the correct way is to do it through the </a:t>
            </a:r>
            <a:r>
              <a:rPr lang="en-US" altLang="ko-KR" sz="1400" b="1" dirty="0"/>
              <a:t>ENTRYPOINT</a:t>
            </a:r>
            <a:r>
              <a:rPr lang="en-US" altLang="ko-KR" sz="1400" dirty="0"/>
              <a:t> instruction and to only specify the CMD if you want to define the default arguments. </a:t>
            </a:r>
            <a:r>
              <a:rPr lang="en-US" altLang="ko-KR" sz="1400" b="1" dirty="0"/>
              <a:t>The image can then be run without specifying any arguments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or </a:t>
            </a:r>
            <a:r>
              <a:rPr lang="en-US" altLang="ko-KR" sz="1400" b="1" dirty="0"/>
              <a:t>with additional arguments</a:t>
            </a:r>
            <a:r>
              <a:rPr lang="en-US" altLang="ko-KR" sz="1400" dirty="0"/>
              <a:t>, </a:t>
            </a:r>
            <a:r>
              <a:rPr lang="en-US" altLang="ko-KR" sz="1400" b="1" dirty="0"/>
              <a:t>which </a:t>
            </a:r>
            <a:r>
              <a:rPr lang="en-US" altLang="ko-KR" sz="1400" b="1" dirty="0">
                <a:solidFill>
                  <a:srgbClr val="FF0000"/>
                </a:solidFill>
              </a:rPr>
              <a:t>override whatever’s set under CMD </a:t>
            </a:r>
            <a:r>
              <a:rPr lang="en-US" altLang="ko-KR" sz="1400" b="1" dirty="0"/>
              <a:t>in the </a:t>
            </a:r>
            <a:r>
              <a:rPr lang="en-US" altLang="ko-KR" sz="1400" b="1" dirty="0" err="1"/>
              <a:t>Dockerfile</a:t>
            </a:r>
            <a:r>
              <a:rPr lang="en-US" altLang="ko-KR" sz="1400" b="1" dirty="0"/>
              <a: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BDCEF6E-929B-3774-437A-45373D334C9D}"/>
              </a:ext>
            </a:extLst>
          </p:cNvPr>
          <p:cNvSpPr txBox="1"/>
          <p:nvPr/>
        </p:nvSpPr>
        <p:spPr>
          <a:xfrm>
            <a:off x="3047326" y="3574990"/>
            <a:ext cx="6097348" cy="246221"/>
          </a:xfrm>
          <a:prstGeom prst="rect">
            <a:avLst/>
          </a:prstGeom>
          <a:noFill/>
          <a:ln>
            <a:solidFill>
              <a:schemeClr val="bg1">
                <a:lumMod val="50000"/>
              </a:schemeClr>
            </a:solidFill>
          </a:ln>
        </p:spPr>
        <p:txBody>
          <a:bodyPr wrap="square">
            <a:spAutoFit/>
          </a:bodyPr>
          <a:lstStyle/>
          <a:p>
            <a:r>
              <a:rPr lang="en-US" altLang="ko-KR" sz="1000" b="1" dirty="0"/>
              <a:t>$ docker run </a:t>
            </a:r>
            <a:r>
              <a:rPr lang="en-US" altLang="ko-KR" sz="1000" b="1" dirty="0">
                <a:solidFill>
                  <a:srgbClr val="FF0000"/>
                </a:solidFill>
              </a:rPr>
              <a:t>&lt;image&gt;</a:t>
            </a:r>
          </a:p>
        </p:txBody>
      </p:sp>
      <p:sp>
        <p:nvSpPr>
          <p:cNvPr id="10" name="TextBox 9">
            <a:extLst>
              <a:ext uri="{FF2B5EF4-FFF2-40B4-BE49-F238E27FC236}">
                <a16:creationId xmlns:a16="http://schemas.microsoft.com/office/drawing/2014/main" id="{1BBE5C8F-05CF-024E-4308-1F57B4A5AE93}"/>
              </a:ext>
            </a:extLst>
          </p:cNvPr>
          <p:cNvSpPr txBox="1"/>
          <p:nvPr/>
        </p:nvSpPr>
        <p:spPr>
          <a:xfrm>
            <a:off x="3047326" y="4609612"/>
            <a:ext cx="6097348" cy="246221"/>
          </a:xfrm>
          <a:prstGeom prst="rect">
            <a:avLst/>
          </a:prstGeom>
          <a:noFill/>
          <a:ln>
            <a:solidFill>
              <a:schemeClr val="bg1">
                <a:lumMod val="50000"/>
              </a:schemeClr>
            </a:solidFill>
          </a:ln>
        </p:spPr>
        <p:txBody>
          <a:bodyPr wrap="square">
            <a:spAutoFit/>
          </a:bodyPr>
          <a:lstStyle/>
          <a:p>
            <a:r>
              <a:rPr lang="en-US" altLang="ko-KR" sz="1000" b="1" dirty="0"/>
              <a:t>$ docker run </a:t>
            </a:r>
            <a:r>
              <a:rPr lang="en-US" altLang="ko-KR" sz="1000" b="1" dirty="0">
                <a:solidFill>
                  <a:srgbClr val="FF0000"/>
                </a:solidFill>
              </a:rPr>
              <a:t>&lt;image&gt; &lt;arguments&gt;</a:t>
            </a:r>
          </a:p>
        </p:txBody>
      </p:sp>
    </p:spTree>
    <p:extLst>
      <p:ext uri="{BB962C8B-B14F-4D97-AF65-F5344CB8AC3E}">
        <p14:creationId xmlns:p14="http://schemas.microsoft.com/office/powerpoint/2010/main" val="24522212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Command and Arguments in Docker :</a:t>
            </a:r>
          </a:p>
          <a:p>
            <a:pPr lvl="1">
              <a:buFont typeface="Wingdings" panose="05000000000000000000" pitchFamily="2" charset="2"/>
              <a:buChar char="§"/>
            </a:pPr>
            <a:r>
              <a:rPr lang="en-US" altLang="ko-KR" sz="1400" dirty="0"/>
              <a:t>Both instructions support two different forms :</a:t>
            </a:r>
          </a:p>
          <a:p>
            <a:pPr lvl="2">
              <a:buFont typeface="Wingdings" panose="05000000000000000000" pitchFamily="2" charset="2"/>
              <a:buChar char="§"/>
            </a:pPr>
            <a:r>
              <a:rPr lang="en-US" altLang="ko-KR" sz="1400" b="1" dirty="0"/>
              <a:t>shell form</a:t>
            </a:r>
            <a:r>
              <a:rPr lang="en-US" altLang="ko-KR" sz="1400" dirty="0"/>
              <a:t>—For example, ENTRYPOINT node app.js.</a:t>
            </a:r>
          </a:p>
          <a:p>
            <a:pPr lvl="2">
              <a:buFont typeface="Wingdings" panose="05000000000000000000" pitchFamily="2" charset="2"/>
              <a:buChar char="§"/>
            </a:pPr>
            <a:r>
              <a:rPr lang="en-US" altLang="ko-KR" sz="1400" b="1" dirty="0"/>
              <a:t>exec form</a:t>
            </a:r>
            <a:r>
              <a:rPr lang="en-US" altLang="ko-KR" sz="1400" dirty="0"/>
              <a:t>—For example, ENTRYPOINT ["node", "app.js"].</a:t>
            </a:r>
          </a:p>
          <a:p>
            <a:pPr lvl="1">
              <a:buFont typeface="Wingdings" panose="05000000000000000000" pitchFamily="2" charset="2"/>
              <a:buChar char="§"/>
            </a:pPr>
            <a:r>
              <a:rPr lang="en-US" altLang="ko-KR" sz="1400" b="1" dirty="0"/>
              <a:t>The difference is whether the specified command is invoked inside a shell or not</a:t>
            </a:r>
            <a:r>
              <a:rPr lang="en-US" altLang="ko-KR" sz="1400" dirty="0"/>
              <a:t>.</a:t>
            </a:r>
          </a:p>
          <a:p>
            <a:pPr lvl="1">
              <a:buFont typeface="Wingdings" panose="05000000000000000000" pitchFamily="2" charset="2"/>
              <a:buChar char="§"/>
            </a:pPr>
            <a:r>
              <a:rPr lang="en-US" altLang="ko-KR" sz="1400" dirty="0"/>
              <a:t>In the “</a:t>
            </a:r>
            <a:r>
              <a:rPr lang="en-US" altLang="ko-KR" sz="1400" b="1" dirty="0" err="1"/>
              <a:t>kubia</a:t>
            </a:r>
            <a:r>
              <a:rPr lang="en-US" altLang="ko-KR" sz="1400" dirty="0"/>
              <a:t>” image you created before, you used </a:t>
            </a:r>
            <a:r>
              <a:rPr lang="en-US" altLang="ko-KR" sz="1400" b="1" dirty="0"/>
              <a:t>the “exec” form of the ENTRYPOINT instruction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runs the node process directly (not inside a shell)</a:t>
            </a:r>
            <a:r>
              <a:rPr lang="en-US" altLang="ko-KR" sz="1400" dirty="0"/>
              <a:t>, as you can see by listing the processes running inside the container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DCCF4DE-5F53-875F-0A6E-C451B0CB40CC}"/>
              </a:ext>
            </a:extLst>
          </p:cNvPr>
          <p:cNvSpPr txBox="1"/>
          <p:nvPr/>
        </p:nvSpPr>
        <p:spPr>
          <a:xfrm>
            <a:off x="3047325" y="2477614"/>
            <a:ext cx="6097348" cy="246221"/>
          </a:xfrm>
          <a:prstGeom prst="rect">
            <a:avLst/>
          </a:prstGeom>
          <a:noFill/>
          <a:ln>
            <a:solidFill>
              <a:schemeClr val="bg1">
                <a:lumMod val="50000"/>
              </a:schemeClr>
            </a:solidFill>
          </a:ln>
        </p:spPr>
        <p:txBody>
          <a:bodyPr wrap="square">
            <a:spAutoFit/>
          </a:bodyPr>
          <a:lstStyle/>
          <a:p>
            <a:r>
              <a:rPr lang="en-US" altLang="ko-KR" sz="1000" b="1" dirty="0"/>
              <a:t>ENTRYPOINT ["node", "app.js"]</a:t>
            </a:r>
          </a:p>
        </p:txBody>
      </p:sp>
      <p:grpSp>
        <p:nvGrpSpPr>
          <p:cNvPr id="13" name="그룹 12">
            <a:extLst>
              <a:ext uri="{FF2B5EF4-FFF2-40B4-BE49-F238E27FC236}">
                <a16:creationId xmlns:a16="http://schemas.microsoft.com/office/drawing/2014/main" id="{B5BC409F-0A81-384D-9B91-57ECD010B092}"/>
              </a:ext>
            </a:extLst>
          </p:cNvPr>
          <p:cNvGrpSpPr/>
          <p:nvPr/>
        </p:nvGrpSpPr>
        <p:grpSpPr>
          <a:xfrm>
            <a:off x="1413269" y="3421850"/>
            <a:ext cx="9365459" cy="2987180"/>
            <a:chOff x="1413271" y="3429000"/>
            <a:chExt cx="9365459" cy="2987180"/>
          </a:xfrm>
        </p:grpSpPr>
        <p:pic>
          <p:nvPicPr>
            <p:cNvPr id="10" name="그림 9">
              <a:extLst>
                <a:ext uri="{FF2B5EF4-FFF2-40B4-BE49-F238E27FC236}">
                  <a16:creationId xmlns:a16="http://schemas.microsoft.com/office/drawing/2014/main" id="{343AD57D-266D-4FF1-2E43-739FDC9F77B9}"/>
                </a:ext>
              </a:extLst>
            </p:cNvPr>
            <p:cNvPicPr>
              <a:picLocks noChangeAspect="1"/>
            </p:cNvPicPr>
            <p:nvPr/>
          </p:nvPicPr>
          <p:blipFill>
            <a:blip r:embed="rId2"/>
            <a:stretch>
              <a:fillRect/>
            </a:stretch>
          </p:blipFill>
          <p:spPr>
            <a:xfrm>
              <a:off x="1413271" y="3429000"/>
              <a:ext cx="9365458" cy="1482865"/>
            </a:xfrm>
            <a:prstGeom prst="rect">
              <a:avLst/>
            </a:prstGeom>
          </p:spPr>
        </p:pic>
        <p:pic>
          <p:nvPicPr>
            <p:cNvPr id="12" name="그림 11">
              <a:extLst>
                <a:ext uri="{FF2B5EF4-FFF2-40B4-BE49-F238E27FC236}">
                  <a16:creationId xmlns:a16="http://schemas.microsoft.com/office/drawing/2014/main" id="{291F0A6D-57EF-496B-3B29-FB5181E5CC66}"/>
                </a:ext>
              </a:extLst>
            </p:cNvPr>
            <p:cNvPicPr>
              <a:picLocks noChangeAspect="1"/>
            </p:cNvPicPr>
            <p:nvPr/>
          </p:nvPicPr>
          <p:blipFill>
            <a:blip r:embed="rId3"/>
            <a:stretch>
              <a:fillRect/>
            </a:stretch>
          </p:blipFill>
          <p:spPr>
            <a:xfrm>
              <a:off x="1413271" y="4933316"/>
              <a:ext cx="9365459" cy="1482864"/>
            </a:xfrm>
            <a:prstGeom prst="rect">
              <a:avLst/>
            </a:prstGeom>
          </p:spPr>
        </p:pic>
      </p:grpSp>
      <p:sp>
        <p:nvSpPr>
          <p:cNvPr id="14" name="직사각형 13">
            <a:extLst>
              <a:ext uri="{FF2B5EF4-FFF2-40B4-BE49-F238E27FC236}">
                <a16:creationId xmlns:a16="http://schemas.microsoft.com/office/drawing/2014/main" id="{6DC5165A-0015-5B1D-4F08-C46F45469028}"/>
              </a:ext>
            </a:extLst>
          </p:cNvPr>
          <p:cNvSpPr/>
          <p:nvPr/>
        </p:nvSpPr>
        <p:spPr>
          <a:xfrm>
            <a:off x="5389296" y="3835625"/>
            <a:ext cx="1586039" cy="2184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D3DC9295-DBE0-CAD7-6E57-E7B945B3F225}"/>
              </a:ext>
            </a:extLst>
          </p:cNvPr>
          <p:cNvSpPr/>
          <p:nvPr/>
        </p:nvSpPr>
        <p:spPr>
          <a:xfrm>
            <a:off x="3055417" y="5371279"/>
            <a:ext cx="1953553" cy="1474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319404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Command and Arguments in Docker :</a:t>
            </a:r>
          </a:p>
          <a:p>
            <a:pPr lvl="1">
              <a:buFont typeface="Wingdings" panose="05000000000000000000" pitchFamily="2" charset="2"/>
              <a:buChar char="§"/>
            </a:pPr>
            <a:r>
              <a:rPr lang="en-US" altLang="ko-KR" sz="1400" dirty="0"/>
              <a:t>If you’d used </a:t>
            </a:r>
            <a:r>
              <a:rPr lang="en-US" altLang="ko-KR" sz="1400" b="1" dirty="0"/>
              <a:t>the shell form </a:t>
            </a:r>
            <a:r>
              <a:rPr lang="en-US" altLang="ko-KR" sz="1400" dirty="0"/>
              <a:t>(“</a:t>
            </a:r>
            <a:r>
              <a:rPr lang="en-US" altLang="ko-KR" sz="1400" b="1" dirty="0"/>
              <a:t>ENTRYPOINT node app.js</a:t>
            </a:r>
            <a:r>
              <a:rPr lang="en-US" altLang="ko-KR" sz="1400" dirty="0"/>
              <a:t>”), these would have been the container’s processes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C00B6AF-E69E-81F5-0E68-16374EB26BF7}"/>
              </a:ext>
            </a:extLst>
          </p:cNvPr>
          <p:cNvGrpSpPr/>
          <p:nvPr/>
        </p:nvGrpSpPr>
        <p:grpSpPr>
          <a:xfrm>
            <a:off x="1286718" y="1595583"/>
            <a:ext cx="9618564" cy="2788457"/>
            <a:chOff x="1286718" y="1514662"/>
            <a:chExt cx="9618564" cy="2788457"/>
          </a:xfrm>
        </p:grpSpPr>
        <p:sp>
          <p:nvSpPr>
            <p:cNvPr id="8" name="TextBox 7">
              <a:extLst>
                <a:ext uri="{FF2B5EF4-FFF2-40B4-BE49-F238E27FC236}">
                  <a16:creationId xmlns:a16="http://schemas.microsoft.com/office/drawing/2014/main" id="{3ECF1999-078E-3278-67E4-32966C4EAD5C}"/>
                </a:ext>
              </a:extLst>
            </p:cNvPr>
            <p:cNvSpPr txBox="1"/>
            <p:nvPr/>
          </p:nvSpPr>
          <p:spPr>
            <a:xfrm>
              <a:off x="3047326" y="1514662"/>
              <a:ext cx="6097348" cy="246221"/>
            </a:xfrm>
            <a:prstGeom prst="rect">
              <a:avLst/>
            </a:prstGeom>
            <a:noFill/>
            <a:ln>
              <a:solidFill>
                <a:schemeClr val="bg1">
                  <a:lumMod val="50000"/>
                </a:schemeClr>
              </a:solidFill>
            </a:ln>
          </p:spPr>
          <p:txBody>
            <a:bodyPr wrap="square">
              <a:spAutoFit/>
            </a:bodyPr>
            <a:lstStyle/>
            <a:p>
              <a:r>
                <a:rPr lang="en-US" altLang="ko-KR" sz="1000" b="1" dirty="0"/>
                <a:t>$ docker exec -it </a:t>
              </a:r>
              <a:r>
                <a:rPr lang="en-US" altLang="ko-KR" sz="1000" b="1" dirty="0">
                  <a:solidFill>
                    <a:srgbClr val="FF0000"/>
                  </a:solidFill>
                </a:rPr>
                <a:t>&lt;container id&gt; </a:t>
              </a:r>
              <a:r>
                <a:rPr lang="en-US" altLang="ko-KR" sz="1000" b="1" dirty="0" err="1">
                  <a:solidFill>
                    <a:srgbClr val="FF0000"/>
                  </a:solidFill>
                </a:rPr>
                <a:t>ps</a:t>
              </a:r>
              <a:r>
                <a:rPr lang="en-US" altLang="ko-KR" sz="1000" b="1" dirty="0">
                  <a:solidFill>
                    <a:srgbClr val="FF0000"/>
                  </a:solidFill>
                </a:rPr>
                <a:t> x</a:t>
              </a:r>
            </a:p>
          </p:txBody>
        </p:sp>
        <p:sp>
          <p:nvSpPr>
            <p:cNvPr id="9" name="화살표: 아래쪽 8">
              <a:extLst>
                <a:ext uri="{FF2B5EF4-FFF2-40B4-BE49-F238E27FC236}">
                  <a16:creationId xmlns:a16="http://schemas.microsoft.com/office/drawing/2014/main" id="{4620B1D6-ADE6-2733-268B-BA59874B9790}"/>
                </a:ext>
              </a:extLst>
            </p:cNvPr>
            <p:cNvSpPr/>
            <p:nvPr/>
          </p:nvSpPr>
          <p:spPr>
            <a:xfrm>
              <a:off x="5865377" y="1772156"/>
              <a:ext cx="461246" cy="2994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339C6C38-535B-048A-7D18-E0A08A599EFB}"/>
                </a:ext>
              </a:extLst>
            </p:cNvPr>
            <p:cNvPicPr>
              <a:picLocks noChangeAspect="1"/>
            </p:cNvPicPr>
            <p:nvPr/>
          </p:nvPicPr>
          <p:blipFill>
            <a:blip r:embed="rId2"/>
            <a:stretch>
              <a:fillRect/>
            </a:stretch>
          </p:blipFill>
          <p:spPr>
            <a:xfrm>
              <a:off x="1286718" y="2082834"/>
              <a:ext cx="9618564" cy="2220285"/>
            </a:xfrm>
            <a:prstGeom prst="rect">
              <a:avLst/>
            </a:prstGeom>
          </p:spPr>
        </p:pic>
      </p:grpSp>
      <p:sp>
        <p:nvSpPr>
          <p:cNvPr id="13" name="직사각형 12">
            <a:extLst>
              <a:ext uri="{FF2B5EF4-FFF2-40B4-BE49-F238E27FC236}">
                <a16:creationId xmlns:a16="http://schemas.microsoft.com/office/drawing/2014/main" id="{2FD85E81-1CA0-4B34-018C-248CE3EA395B}"/>
              </a:ext>
            </a:extLst>
          </p:cNvPr>
          <p:cNvSpPr/>
          <p:nvPr/>
        </p:nvSpPr>
        <p:spPr>
          <a:xfrm>
            <a:off x="2994053" y="3551258"/>
            <a:ext cx="2217218" cy="1629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966529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Command and Arguments in Docker :</a:t>
            </a:r>
          </a:p>
          <a:p>
            <a:pPr lvl="1">
              <a:buFont typeface="Wingdings" panose="05000000000000000000" pitchFamily="2" charset="2"/>
              <a:buChar char="§"/>
            </a:pPr>
            <a:r>
              <a:rPr lang="en-US" altLang="ko-KR" sz="1400" b="1" dirty="0"/>
              <a:t>Let’s modify your fortune script and image so the delay interval in the loop is configurable</a:t>
            </a:r>
            <a:r>
              <a:rPr lang="en-US" altLang="ko-KR" sz="1400" dirty="0"/>
              <a:t>. You’ll add </a:t>
            </a:r>
            <a:r>
              <a:rPr lang="en-US" altLang="ko-KR" sz="1400" b="1" dirty="0"/>
              <a:t>an “INTERVAL” variable and initialize it with the value of the first command-line argument</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you’ll modify the </a:t>
            </a:r>
            <a:r>
              <a:rPr lang="en-US" altLang="ko-KR" sz="1400" b="1" dirty="0" err="1"/>
              <a:t>Dockerfile</a:t>
            </a:r>
            <a:r>
              <a:rPr lang="en-US" altLang="ko-KR" sz="1400" b="1" dirty="0"/>
              <a:t> so it uses the exec version of the ENTRYPOINT instruction and sets the default interval to 10 seconds using the CMD instruction</a:t>
            </a:r>
            <a:r>
              <a:rPr lang="en-US" altLang="ko-KR" sz="1400" dirty="0"/>
              <a:t>, as shown in the following listing.</a:t>
            </a:r>
          </a:p>
          <a:p>
            <a:pPr lvl="1">
              <a:buFont typeface="Wingdings" panose="05000000000000000000" pitchFamily="2" charset="2"/>
              <a:buChar char="§"/>
            </a:pPr>
            <a:r>
              <a:rPr lang="en-US" altLang="ko-KR" sz="1400" b="1" dirty="0"/>
              <a:t>NOTICE : You need to change the file mode using “</a:t>
            </a:r>
            <a:r>
              <a:rPr lang="en-US" altLang="ko-KR" sz="1400" b="1" dirty="0" err="1">
                <a:solidFill>
                  <a:srgbClr val="FF0000"/>
                </a:solidFill>
              </a:rPr>
              <a:t>chmod</a:t>
            </a:r>
            <a:r>
              <a:rPr lang="en-US" altLang="ko-KR" sz="1400" b="1" dirty="0">
                <a:solidFill>
                  <a:srgbClr val="FF0000"/>
                </a:solidFill>
              </a:rPr>
              <a:t> 0777 fortuneloop.sh</a:t>
            </a:r>
            <a:r>
              <a:rPr lang="en-US" altLang="ko-KR" sz="1400" b="1" dirty="0"/>
              <a:t>” command before you build docker image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50BF339-25C3-D5DF-25B4-91B588DCEC6C}"/>
              </a:ext>
            </a:extLst>
          </p:cNvPr>
          <p:cNvGrpSpPr/>
          <p:nvPr/>
        </p:nvGrpSpPr>
        <p:grpSpPr>
          <a:xfrm>
            <a:off x="3047326" y="1804500"/>
            <a:ext cx="6097348" cy="1787218"/>
            <a:chOff x="3047326" y="1804500"/>
            <a:chExt cx="6097348" cy="1787218"/>
          </a:xfrm>
        </p:grpSpPr>
        <p:sp>
          <p:nvSpPr>
            <p:cNvPr id="8" name="TextBox 7">
              <a:extLst>
                <a:ext uri="{FF2B5EF4-FFF2-40B4-BE49-F238E27FC236}">
                  <a16:creationId xmlns:a16="http://schemas.microsoft.com/office/drawing/2014/main" id="{590E33E7-AADF-FD09-1A2B-B7B19DD200E0}"/>
                </a:ext>
              </a:extLst>
            </p:cNvPr>
            <p:cNvSpPr txBox="1"/>
            <p:nvPr/>
          </p:nvSpPr>
          <p:spPr>
            <a:xfrm>
              <a:off x="3047326" y="1806614"/>
              <a:ext cx="6097348" cy="1785104"/>
            </a:xfrm>
            <a:prstGeom prst="rect">
              <a:avLst/>
            </a:prstGeom>
            <a:noFill/>
            <a:ln>
              <a:solidFill>
                <a:schemeClr val="bg1">
                  <a:lumMod val="50000"/>
                </a:schemeClr>
              </a:solidFill>
            </a:ln>
          </p:spPr>
          <p:txBody>
            <a:bodyPr wrap="square">
              <a:spAutoFit/>
            </a:bodyPr>
            <a:lstStyle/>
            <a:p>
              <a:r>
                <a:rPr lang="en-US" altLang="ko-KR" sz="1000" b="1" dirty="0"/>
                <a:t>#!/bin/bash</a:t>
              </a:r>
            </a:p>
            <a:p>
              <a:r>
                <a:rPr lang="en-US" altLang="ko-KR" sz="1000" b="1" dirty="0"/>
                <a:t>trap "exit" SIGINT</a:t>
              </a:r>
            </a:p>
            <a:p>
              <a:r>
                <a:rPr lang="en-US" altLang="ko-KR" sz="1000" b="1" dirty="0">
                  <a:solidFill>
                    <a:srgbClr val="FF0000"/>
                  </a:solidFill>
                </a:rPr>
                <a:t>INTERVAL=$1</a:t>
              </a:r>
            </a:p>
            <a:p>
              <a:r>
                <a:rPr lang="en-US" altLang="ko-KR" sz="1000" b="1" dirty="0"/>
                <a:t>echo Configured to generate new fortune every </a:t>
              </a:r>
              <a:r>
                <a:rPr lang="en-US" altLang="ko-KR" sz="1000" b="1" dirty="0">
                  <a:solidFill>
                    <a:srgbClr val="FF0000"/>
                  </a:solidFill>
                </a:rPr>
                <a:t>$INTERVAL </a:t>
              </a:r>
              <a:r>
                <a:rPr lang="en-US" altLang="ko-KR" sz="1000" b="1" dirty="0"/>
                <a:t>seconds</a:t>
              </a:r>
            </a:p>
            <a:p>
              <a:r>
                <a:rPr lang="en-US" altLang="ko-KR" sz="1000" b="1" dirty="0" err="1"/>
                <a:t>mkdir</a:t>
              </a:r>
              <a:r>
                <a:rPr lang="en-US" altLang="ko-KR" sz="1000" b="1" dirty="0"/>
                <a:t> -p /var/</a:t>
              </a:r>
              <a:r>
                <a:rPr lang="en-US" altLang="ko-KR" sz="1000" b="1" dirty="0" err="1"/>
                <a:t>htdocs</a:t>
              </a:r>
              <a:endParaRPr lang="en-US" altLang="ko-KR" sz="1000" b="1" dirty="0"/>
            </a:p>
            <a:p>
              <a:r>
                <a:rPr lang="en-US" altLang="ko-KR" sz="1000" b="1" dirty="0"/>
                <a:t>while :</a:t>
              </a:r>
            </a:p>
            <a:p>
              <a:r>
                <a:rPr lang="en-US" altLang="ko-KR" sz="1000" b="1" dirty="0"/>
                <a:t>do</a:t>
              </a:r>
            </a:p>
            <a:p>
              <a:r>
                <a:rPr lang="en-US" altLang="ko-KR" sz="1000" b="1" dirty="0"/>
                <a:t>    echo $(date) Writing fortune to /var/</a:t>
              </a:r>
              <a:r>
                <a:rPr lang="en-US" altLang="ko-KR" sz="1000" b="1" dirty="0" err="1"/>
                <a:t>htdocs</a:t>
              </a:r>
              <a:r>
                <a:rPr lang="en-US" altLang="ko-KR" sz="1000" b="1" dirty="0"/>
                <a:t>/index.html</a:t>
              </a:r>
            </a:p>
            <a:p>
              <a:r>
                <a:rPr lang="en-US" altLang="ko-KR" sz="1000" b="1" dirty="0"/>
                <a:t>    /</a:t>
              </a:r>
              <a:r>
                <a:rPr lang="en-US" altLang="ko-KR" sz="1000" b="1" dirty="0" err="1"/>
                <a:t>usr</a:t>
              </a:r>
              <a:r>
                <a:rPr lang="en-US" altLang="ko-KR" sz="1000" b="1" dirty="0"/>
                <a:t>/games/fortune &gt; /var/</a:t>
              </a:r>
              <a:r>
                <a:rPr lang="en-US" altLang="ko-KR" sz="1000" b="1" dirty="0" err="1"/>
                <a:t>htdocs</a:t>
              </a:r>
              <a:r>
                <a:rPr lang="en-US" altLang="ko-KR" sz="1000" b="1" dirty="0"/>
                <a:t>/index.html</a:t>
              </a:r>
            </a:p>
            <a:p>
              <a:r>
                <a:rPr lang="en-US" altLang="ko-KR" sz="1000" b="1" dirty="0"/>
                <a:t>    sleep </a:t>
              </a:r>
              <a:r>
                <a:rPr lang="en-US" altLang="ko-KR" sz="1000" b="1" dirty="0">
                  <a:solidFill>
                    <a:srgbClr val="FF0000"/>
                  </a:solidFill>
                </a:rPr>
                <a:t>$INTERVAL</a:t>
              </a:r>
            </a:p>
            <a:p>
              <a:r>
                <a:rPr lang="en-US" altLang="ko-KR" sz="1000" b="1" dirty="0"/>
                <a:t>done</a:t>
              </a:r>
              <a:endParaRPr lang="ko-KR" altLang="en-US" sz="1000" b="1" dirty="0"/>
            </a:p>
          </p:txBody>
        </p:sp>
        <p:sp>
          <p:nvSpPr>
            <p:cNvPr id="9" name="TextBox 8">
              <a:extLst>
                <a:ext uri="{FF2B5EF4-FFF2-40B4-BE49-F238E27FC236}">
                  <a16:creationId xmlns:a16="http://schemas.microsoft.com/office/drawing/2014/main" id="{B4BB6D95-2355-C7EF-00CD-77F6EE9BAEB3}"/>
                </a:ext>
              </a:extLst>
            </p:cNvPr>
            <p:cNvSpPr txBox="1"/>
            <p:nvPr/>
          </p:nvSpPr>
          <p:spPr>
            <a:xfrm>
              <a:off x="7235177" y="1804500"/>
              <a:ext cx="1909497" cy="246221"/>
            </a:xfrm>
            <a:prstGeom prst="rect">
              <a:avLst/>
            </a:prstGeom>
            <a:noFill/>
          </p:spPr>
          <p:txBody>
            <a:bodyPr wrap="none" rtlCol="0">
              <a:spAutoFit/>
            </a:bodyPr>
            <a:lstStyle/>
            <a:p>
              <a:pPr algn="l"/>
              <a:r>
                <a:rPr lang="en-US" altLang="ko-KR" sz="1000" b="1" dirty="0"/>
                <a:t>fortune-args/fortuneloop.sh</a:t>
              </a:r>
              <a:endParaRPr lang="ko-KR" altLang="en-US" sz="1000" b="1" dirty="0"/>
            </a:p>
          </p:txBody>
        </p:sp>
      </p:grpSp>
      <p:grpSp>
        <p:nvGrpSpPr>
          <p:cNvPr id="14" name="그룹 13">
            <a:extLst>
              <a:ext uri="{FF2B5EF4-FFF2-40B4-BE49-F238E27FC236}">
                <a16:creationId xmlns:a16="http://schemas.microsoft.com/office/drawing/2014/main" id="{ADE89B6B-00FA-D551-A852-7DE302CA897B}"/>
              </a:ext>
            </a:extLst>
          </p:cNvPr>
          <p:cNvGrpSpPr/>
          <p:nvPr/>
        </p:nvGrpSpPr>
        <p:grpSpPr>
          <a:xfrm>
            <a:off x="3047326" y="4826046"/>
            <a:ext cx="6097348" cy="861774"/>
            <a:chOff x="3047326" y="4384466"/>
            <a:chExt cx="6097348" cy="861774"/>
          </a:xfrm>
        </p:grpSpPr>
        <p:sp>
          <p:nvSpPr>
            <p:cNvPr id="12" name="TextBox 11">
              <a:extLst>
                <a:ext uri="{FF2B5EF4-FFF2-40B4-BE49-F238E27FC236}">
                  <a16:creationId xmlns:a16="http://schemas.microsoft.com/office/drawing/2014/main" id="{0F8AEBAD-CB49-36C5-4FDE-F3DA974642E9}"/>
                </a:ext>
              </a:extLst>
            </p:cNvPr>
            <p:cNvSpPr txBox="1"/>
            <p:nvPr/>
          </p:nvSpPr>
          <p:spPr>
            <a:xfrm>
              <a:off x="3047326" y="4384466"/>
              <a:ext cx="6097348" cy="861774"/>
            </a:xfrm>
            <a:prstGeom prst="rect">
              <a:avLst/>
            </a:prstGeom>
            <a:noFill/>
            <a:ln>
              <a:solidFill>
                <a:schemeClr val="bg1">
                  <a:lumMod val="50000"/>
                </a:schemeClr>
              </a:solidFill>
            </a:ln>
          </p:spPr>
          <p:txBody>
            <a:bodyPr wrap="square">
              <a:spAutoFit/>
            </a:bodyPr>
            <a:lstStyle/>
            <a:p>
              <a:r>
                <a:rPr lang="en-US" altLang="ko-KR" sz="1000" b="1" dirty="0"/>
                <a:t>FROM ubuntu:20.04</a:t>
              </a:r>
            </a:p>
            <a:p>
              <a:r>
                <a:rPr lang="en-US" altLang="ko-KR" sz="1000" b="1" dirty="0"/>
                <a:t>RUN apt-get update ; apt-get -y install fortune </a:t>
              </a:r>
              <a:r>
                <a:rPr lang="en-US" altLang="ko-KR" sz="1000" b="1" dirty="0">
                  <a:solidFill>
                    <a:srgbClr val="FF0000"/>
                  </a:solidFill>
                </a:rPr>
                <a:t>apt-utils</a:t>
              </a:r>
            </a:p>
            <a:p>
              <a:r>
                <a:rPr lang="en-US" altLang="ko-KR" sz="1000" b="1" dirty="0"/>
                <a:t>ADD fortuneloop.sh /bin/fortuneloop.sh</a:t>
              </a:r>
            </a:p>
            <a:p>
              <a:r>
                <a:rPr lang="en-US" altLang="ko-KR" sz="1000" b="1" dirty="0">
                  <a:solidFill>
                    <a:srgbClr val="FF0000"/>
                  </a:solidFill>
                </a:rPr>
                <a:t>ENTRYPOINT ["/bin/fortuneloop.sh"]</a:t>
              </a:r>
            </a:p>
            <a:p>
              <a:r>
                <a:rPr lang="en-US" altLang="ko-KR" sz="1000" b="1" dirty="0">
                  <a:solidFill>
                    <a:srgbClr val="FF0000"/>
                  </a:solidFill>
                </a:rPr>
                <a:t>CMD ["10"]</a:t>
              </a:r>
              <a:endParaRPr lang="ko-KR" altLang="en-US" sz="1000" b="1" dirty="0">
                <a:solidFill>
                  <a:srgbClr val="FF0000"/>
                </a:solidFill>
              </a:endParaRPr>
            </a:p>
          </p:txBody>
        </p:sp>
        <p:sp>
          <p:nvSpPr>
            <p:cNvPr id="13" name="TextBox 12">
              <a:extLst>
                <a:ext uri="{FF2B5EF4-FFF2-40B4-BE49-F238E27FC236}">
                  <a16:creationId xmlns:a16="http://schemas.microsoft.com/office/drawing/2014/main" id="{72C07820-6CA6-F3BE-6C70-6D0613A0C918}"/>
                </a:ext>
              </a:extLst>
            </p:cNvPr>
            <p:cNvSpPr txBox="1"/>
            <p:nvPr/>
          </p:nvSpPr>
          <p:spPr>
            <a:xfrm>
              <a:off x="7518908" y="4384466"/>
              <a:ext cx="1625766" cy="246221"/>
            </a:xfrm>
            <a:prstGeom prst="rect">
              <a:avLst/>
            </a:prstGeom>
            <a:noFill/>
          </p:spPr>
          <p:txBody>
            <a:bodyPr wrap="none" rtlCol="0">
              <a:spAutoFit/>
            </a:bodyPr>
            <a:lstStyle/>
            <a:p>
              <a:pPr algn="l"/>
              <a:r>
                <a:rPr lang="en-US" altLang="ko-KR" sz="1000" b="1" dirty="0"/>
                <a:t>fortune-</a:t>
              </a:r>
              <a:r>
                <a:rPr lang="en-US" altLang="ko-KR" sz="1000" b="1" dirty="0" err="1"/>
                <a:t>args</a:t>
              </a:r>
              <a:r>
                <a:rPr lang="en-US" altLang="ko-KR" sz="1000" b="1" dirty="0"/>
                <a:t>/</a:t>
              </a:r>
              <a:r>
                <a:rPr lang="en-US" altLang="ko-KR" sz="1000" b="1" dirty="0" err="1"/>
                <a:t>Dockerfile</a:t>
              </a:r>
              <a:endParaRPr lang="ko-KR" altLang="en-US" sz="1000" b="1" dirty="0"/>
            </a:p>
          </p:txBody>
        </p:sp>
      </p:grpSp>
    </p:spTree>
    <p:extLst>
      <p:ext uri="{BB962C8B-B14F-4D97-AF65-F5344CB8AC3E}">
        <p14:creationId xmlns:p14="http://schemas.microsoft.com/office/powerpoint/2010/main" val="11069718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Command and Arguments in Docker :</a:t>
            </a:r>
          </a:p>
          <a:p>
            <a:pPr lvl="1">
              <a:buFont typeface="Wingdings" panose="05000000000000000000" pitchFamily="2" charset="2"/>
              <a:buChar char="§"/>
            </a:pPr>
            <a:r>
              <a:rPr lang="en-US" altLang="ko-KR" sz="1400" dirty="0"/>
              <a:t>You can now </a:t>
            </a:r>
            <a:r>
              <a:rPr lang="en-US" altLang="ko-KR" sz="1400" b="1" dirty="0"/>
              <a:t>build and push the image to Docker Hub</a:t>
            </a:r>
            <a:r>
              <a:rPr lang="en-US" altLang="ko-KR" sz="1400" dirty="0"/>
              <a:t>. This time, you’ll </a:t>
            </a:r>
            <a:r>
              <a:rPr lang="en-US" altLang="ko-KR" sz="1400" b="1" dirty="0"/>
              <a:t>tag the image as </a:t>
            </a:r>
            <a:r>
              <a:rPr lang="en-US" altLang="ko-KR" sz="1400" b="1" dirty="0" err="1"/>
              <a:t>args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E0842EB7-5024-E99E-6353-56431D3E6C42}"/>
              </a:ext>
            </a:extLst>
          </p:cNvPr>
          <p:cNvGrpSpPr/>
          <p:nvPr/>
        </p:nvGrpSpPr>
        <p:grpSpPr>
          <a:xfrm>
            <a:off x="1885613" y="1489450"/>
            <a:ext cx="8420774" cy="4820216"/>
            <a:chOff x="1885613" y="1489450"/>
            <a:chExt cx="8420774" cy="4820216"/>
          </a:xfrm>
        </p:grpSpPr>
        <p:grpSp>
          <p:nvGrpSpPr>
            <p:cNvPr id="15" name="그룹 14">
              <a:extLst>
                <a:ext uri="{FF2B5EF4-FFF2-40B4-BE49-F238E27FC236}">
                  <a16:creationId xmlns:a16="http://schemas.microsoft.com/office/drawing/2014/main" id="{AC7B5CF4-587A-5235-3F01-8A8F6A817DF2}"/>
                </a:ext>
              </a:extLst>
            </p:cNvPr>
            <p:cNvGrpSpPr/>
            <p:nvPr/>
          </p:nvGrpSpPr>
          <p:grpSpPr>
            <a:xfrm>
              <a:off x="1885613" y="1489450"/>
              <a:ext cx="8420774" cy="3410532"/>
              <a:chOff x="1885613" y="1489450"/>
              <a:chExt cx="8420774" cy="3410532"/>
            </a:xfrm>
          </p:grpSpPr>
          <p:sp>
            <p:nvSpPr>
              <p:cNvPr id="8" name="TextBox 7">
                <a:extLst>
                  <a:ext uri="{FF2B5EF4-FFF2-40B4-BE49-F238E27FC236}">
                    <a16:creationId xmlns:a16="http://schemas.microsoft.com/office/drawing/2014/main" id="{0C773709-A476-8B15-9EB2-9CE3EAD618BB}"/>
                  </a:ext>
                </a:extLst>
              </p:cNvPr>
              <p:cNvSpPr txBox="1"/>
              <p:nvPr/>
            </p:nvSpPr>
            <p:spPr>
              <a:xfrm>
                <a:off x="3047326" y="1489450"/>
                <a:ext cx="6097348" cy="400110"/>
              </a:xfrm>
              <a:prstGeom prst="rect">
                <a:avLst/>
              </a:prstGeom>
              <a:noFill/>
              <a:ln>
                <a:solidFill>
                  <a:schemeClr val="bg1">
                    <a:lumMod val="50000"/>
                  </a:schemeClr>
                </a:solidFill>
              </a:ln>
            </p:spPr>
            <p:txBody>
              <a:bodyPr wrap="square">
                <a:spAutoFit/>
              </a:bodyPr>
              <a:lstStyle/>
              <a:p>
                <a:r>
                  <a:rPr lang="en-US" altLang="ko-KR" sz="1000" b="1" dirty="0"/>
                  <a:t>$ docker build -t </a:t>
                </a:r>
                <a:r>
                  <a:rPr lang="en-US" altLang="ko-KR" sz="1000" b="1" dirty="0">
                    <a:solidFill>
                      <a:srgbClr val="FF0000"/>
                    </a:solidFill>
                  </a:rPr>
                  <a:t>knix008/</a:t>
                </a:r>
                <a:r>
                  <a:rPr lang="en-US" altLang="ko-KR" sz="1000" b="1" dirty="0" err="1">
                    <a:solidFill>
                      <a:srgbClr val="FF0000"/>
                    </a:solidFill>
                  </a:rPr>
                  <a:t>fortune:args</a:t>
                </a:r>
                <a:r>
                  <a:rPr lang="en-US" altLang="ko-KR" sz="1000" b="1" dirty="0">
                    <a:solidFill>
                      <a:srgbClr val="FF0000"/>
                    </a:solidFill>
                  </a:rPr>
                  <a:t> .</a:t>
                </a:r>
              </a:p>
              <a:p>
                <a:r>
                  <a:rPr lang="en-US" altLang="ko-KR" sz="1000" b="1" dirty="0"/>
                  <a:t>$ docker push </a:t>
                </a:r>
                <a:r>
                  <a:rPr lang="en-US" altLang="ko-KR" sz="1000" b="1" dirty="0">
                    <a:solidFill>
                      <a:srgbClr val="FF0000"/>
                    </a:solidFill>
                  </a:rPr>
                  <a:t>knix008/</a:t>
                </a:r>
                <a:r>
                  <a:rPr lang="en-US" altLang="ko-KR" sz="1000" b="1" dirty="0" err="1">
                    <a:solidFill>
                      <a:srgbClr val="FF0000"/>
                    </a:solidFill>
                  </a:rPr>
                  <a:t>fortune:args</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76310253-CEBE-41E6-0CB0-BE6DDD1BB3BD}"/>
                  </a:ext>
                </a:extLst>
              </p:cNvPr>
              <p:cNvSpPr/>
              <p:nvPr/>
            </p:nvSpPr>
            <p:spPr>
              <a:xfrm>
                <a:off x="5877515" y="1904172"/>
                <a:ext cx="436970"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256A056A-8C04-8501-1506-1177C7330F8C}"/>
                  </a:ext>
                </a:extLst>
              </p:cNvPr>
              <p:cNvGrpSpPr/>
              <p:nvPr/>
            </p:nvGrpSpPr>
            <p:grpSpPr>
              <a:xfrm>
                <a:off x="1885613" y="2196971"/>
                <a:ext cx="8420774" cy="2703011"/>
                <a:chOff x="1885613" y="2196971"/>
                <a:chExt cx="8420774" cy="2703011"/>
              </a:xfrm>
            </p:grpSpPr>
            <p:pic>
              <p:nvPicPr>
                <p:cNvPr id="11" name="그림 10">
                  <a:extLst>
                    <a:ext uri="{FF2B5EF4-FFF2-40B4-BE49-F238E27FC236}">
                      <a16:creationId xmlns:a16="http://schemas.microsoft.com/office/drawing/2014/main" id="{EC557271-1ADD-79FA-A6A7-72A02CA128E3}"/>
                    </a:ext>
                  </a:extLst>
                </p:cNvPr>
                <p:cNvPicPr>
                  <a:picLocks noChangeAspect="1"/>
                </p:cNvPicPr>
                <p:nvPr/>
              </p:nvPicPr>
              <p:blipFill>
                <a:blip r:embed="rId2"/>
                <a:stretch>
                  <a:fillRect/>
                </a:stretch>
              </p:blipFill>
              <p:spPr>
                <a:xfrm>
                  <a:off x="1885613" y="2196971"/>
                  <a:ext cx="8420774" cy="1333289"/>
                </a:xfrm>
                <a:prstGeom prst="rect">
                  <a:avLst/>
                </a:prstGeom>
              </p:spPr>
            </p:pic>
            <p:pic>
              <p:nvPicPr>
                <p:cNvPr id="13" name="그림 12">
                  <a:extLst>
                    <a:ext uri="{FF2B5EF4-FFF2-40B4-BE49-F238E27FC236}">
                      <a16:creationId xmlns:a16="http://schemas.microsoft.com/office/drawing/2014/main" id="{E139BB1A-A482-7CE6-8E44-C8AD93C3B276}"/>
                    </a:ext>
                  </a:extLst>
                </p:cNvPr>
                <p:cNvPicPr>
                  <a:picLocks noChangeAspect="1"/>
                </p:cNvPicPr>
                <p:nvPr/>
              </p:nvPicPr>
              <p:blipFill>
                <a:blip r:embed="rId3"/>
                <a:stretch>
                  <a:fillRect/>
                </a:stretch>
              </p:blipFill>
              <p:spPr>
                <a:xfrm>
                  <a:off x="1885613" y="3566693"/>
                  <a:ext cx="8420774" cy="1333289"/>
                </a:xfrm>
                <a:prstGeom prst="rect">
                  <a:avLst/>
                </a:prstGeom>
              </p:spPr>
            </p:pic>
          </p:grpSp>
        </p:grpSp>
        <p:pic>
          <p:nvPicPr>
            <p:cNvPr id="17" name="그림 16">
              <a:extLst>
                <a:ext uri="{FF2B5EF4-FFF2-40B4-BE49-F238E27FC236}">
                  <a16:creationId xmlns:a16="http://schemas.microsoft.com/office/drawing/2014/main" id="{1AD17499-02D5-A576-2D4D-0D0C27FD0144}"/>
                </a:ext>
              </a:extLst>
            </p:cNvPr>
            <p:cNvPicPr>
              <a:picLocks noChangeAspect="1"/>
            </p:cNvPicPr>
            <p:nvPr/>
          </p:nvPicPr>
          <p:blipFill>
            <a:blip r:embed="rId4"/>
            <a:stretch>
              <a:fillRect/>
            </a:stretch>
          </p:blipFill>
          <p:spPr>
            <a:xfrm>
              <a:off x="1885613" y="4948307"/>
              <a:ext cx="8420774" cy="1361359"/>
            </a:xfrm>
            <a:prstGeom prst="rect">
              <a:avLst/>
            </a:prstGeom>
          </p:spPr>
        </p:pic>
      </p:grpSp>
    </p:spTree>
    <p:extLst>
      <p:ext uri="{BB962C8B-B14F-4D97-AF65-F5344CB8AC3E}">
        <p14:creationId xmlns:p14="http://schemas.microsoft.com/office/powerpoint/2010/main" val="25494556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Docker Hub Repository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Checking Your Docker Hub Repository :</a:t>
            </a:r>
          </a:p>
          <a:p>
            <a:pPr lvl="1">
              <a:buFont typeface="Wingdings" panose="05000000000000000000" pitchFamily="2" charset="2"/>
              <a:buChar char="§"/>
            </a:pPr>
            <a:r>
              <a:rPr lang="en-US" altLang="ko-KR" sz="1400" dirty="0"/>
              <a:t>As you can see from the following screenshot, you can find that the “</a:t>
            </a:r>
            <a:r>
              <a:rPr lang="en-US" altLang="ko-KR" sz="1400" b="1" dirty="0">
                <a:solidFill>
                  <a:srgbClr val="FF0000"/>
                </a:solidFill>
              </a:rPr>
              <a:t>knix008/</a:t>
            </a:r>
            <a:r>
              <a:rPr lang="en-US" altLang="ko-KR" sz="1400" b="1" dirty="0" err="1">
                <a:solidFill>
                  <a:srgbClr val="FF0000"/>
                </a:solidFill>
              </a:rPr>
              <a:t>fortune:args</a:t>
            </a:r>
            <a:r>
              <a:rPr lang="en-US" altLang="ko-KR" sz="1400" dirty="0"/>
              <a:t>” image now.</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20AD0FD-0378-2E5B-E1E9-8C289B1832D1}"/>
              </a:ext>
            </a:extLst>
          </p:cNvPr>
          <p:cNvGrpSpPr/>
          <p:nvPr/>
        </p:nvGrpSpPr>
        <p:grpSpPr>
          <a:xfrm>
            <a:off x="2377943" y="1474786"/>
            <a:ext cx="7436115" cy="4934244"/>
            <a:chOff x="2377943" y="1474786"/>
            <a:chExt cx="7436115" cy="4934244"/>
          </a:xfrm>
        </p:grpSpPr>
        <p:pic>
          <p:nvPicPr>
            <p:cNvPr id="8" name="그림 7">
              <a:extLst>
                <a:ext uri="{FF2B5EF4-FFF2-40B4-BE49-F238E27FC236}">
                  <a16:creationId xmlns:a16="http://schemas.microsoft.com/office/drawing/2014/main" id="{BC758E9D-12B3-3045-7B13-128DCAB1B347}"/>
                </a:ext>
              </a:extLst>
            </p:cNvPr>
            <p:cNvPicPr>
              <a:picLocks noChangeAspect="1"/>
            </p:cNvPicPr>
            <p:nvPr/>
          </p:nvPicPr>
          <p:blipFill>
            <a:blip r:embed="rId2"/>
            <a:stretch>
              <a:fillRect/>
            </a:stretch>
          </p:blipFill>
          <p:spPr>
            <a:xfrm>
              <a:off x="2377943" y="1474786"/>
              <a:ext cx="7436115" cy="4934244"/>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515114B8-2CEB-3E25-208F-E02664503CA5}"/>
                </a:ext>
              </a:extLst>
            </p:cNvPr>
            <p:cNvSpPr/>
            <p:nvPr/>
          </p:nvSpPr>
          <p:spPr>
            <a:xfrm>
              <a:off x="3212538" y="4863313"/>
              <a:ext cx="3269182" cy="210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441787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the Command and Arguments in Docker :</a:t>
            </a:r>
          </a:p>
          <a:p>
            <a:pPr lvl="1">
              <a:buFont typeface="Wingdings" panose="05000000000000000000" pitchFamily="2" charset="2"/>
              <a:buChar char="§"/>
            </a:pPr>
            <a:r>
              <a:rPr lang="en-US" altLang="ko-KR" sz="1400" dirty="0"/>
              <a:t>You can test the image by running it locally with Docker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you can override the default sleep interval by passing it as an argument </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9D7D00D-DFAD-2196-7BDA-5A96B541593F}"/>
              </a:ext>
            </a:extLst>
          </p:cNvPr>
          <p:cNvGrpSpPr/>
          <p:nvPr/>
        </p:nvGrpSpPr>
        <p:grpSpPr>
          <a:xfrm>
            <a:off x="1250556" y="1482478"/>
            <a:ext cx="9690887" cy="2093056"/>
            <a:chOff x="1250556" y="1555122"/>
            <a:chExt cx="9690887" cy="2093056"/>
          </a:xfrm>
        </p:grpSpPr>
        <p:sp>
          <p:nvSpPr>
            <p:cNvPr id="8" name="TextBox 7">
              <a:extLst>
                <a:ext uri="{FF2B5EF4-FFF2-40B4-BE49-F238E27FC236}">
                  <a16:creationId xmlns:a16="http://schemas.microsoft.com/office/drawing/2014/main" id="{1EE4A9C5-5EBC-261E-AE88-0D83A28E6534}"/>
                </a:ext>
              </a:extLst>
            </p:cNvPr>
            <p:cNvSpPr txBox="1"/>
            <p:nvPr/>
          </p:nvSpPr>
          <p:spPr>
            <a:xfrm>
              <a:off x="3047326" y="1555122"/>
              <a:ext cx="6097348" cy="246221"/>
            </a:xfrm>
            <a:prstGeom prst="rect">
              <a:avLst/>
            </a:prstGeom>
            <a:noFill/>
            <a:ln>
              <a:solidFill>
                <a:schemeClr val="bg1">
                  <a:lumMod val="50000"/>
                </a:schemeClr>
              </a:solidFill>
            </a:ln>
          </p:spPr>
          <p:txBody>
            <a:bodyPr wrap="square">
              <a:spAutoFit/>
            </a:bodyPr>
            <a:lstStyle/>
            <a:p>
              <a:r>
                <a:rPr lang="en-US" altLang="ko-KR" sz="1000" b="1" dirty="0"/>
                <a:t>$ docker run -it </a:t>
              </a:r>
              <a:r>
                <a:rPr lang="en-US" altLang="ko-KR" sz="1000" b="1" dirty="0">
                  <a:solidFill>
                    <a:srgbClr val="FF0000"/>
                  </a:solidFill>
                </a:rPr>
                <a:t>knix008/</a:t>
              </a:r>
              <a:r>
                <a:rPr lang="en-US" altLang="ko-KR" sz="1000" b="1" dirty="0" err="1">
                  <a:solidFill>
                    <a:srgbClr val="FF0000"/>
                  </a:solidFill>
                </a:rPr>
                <a:t>fortune:args</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3CE5D220-FE6E-55B6-D55A-46C1D14342B3}"/>
                </a:ext>
              </a:extLst>
            </p:cNvPr>
            <p:cNvSpPr/>
            <p:nvPr/>
          </p:nvSpPr>
          <p:spPr>
            <a:xfrm>
              <a:off x="5865377" y="1815955"/>
              <a:ext cx="461246"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0EC1D031-4C1D-EF6E-AAEF-D31086D10873}"/>
                </a:ext>
              </a:extLst>
            </p:cNvPr>
            <p:cNvPicPr>
              <a:picLocks noChangeAspect="1"/>
            </p:cNvPicPr>
            <p:nvPr/>
          </p:nvPicPr>
          <p:blipFill>
            <a:blip r:embed="rId2"/>
            <a:stretch>
              <a:fillRect/>
            </a:stretch>
          </p:blipFill>
          <p:spPr>
            <a:xfrm>
              <a:off x="1250556" y="2113788"/>
              <a:ext cx="9690887" cy="1534390"/>
            </a:xfrm>
            <a:prstGeom prst="rect">
              <a:avLst/>
            </a:prstGeom>
          </p:spPr>
        </p:pic>
      </p:grpSp>
      <p:sp>
        <p:nvSpPr>
          <p:cNvPr id="18" name="직사각형 17">
            <a:extLst>
              <a:ext uri="{FF2B5EF4-FFF2-40B4-BE49-F238E27FC236}">
                <a16:creationId xmlns:a16="http://schemas.microsoft.com/office/drawing/2014/main" id="{CC063115-711E-6809-149F-EBDACA55E0B9}"/>
              </a:ext>
            </a:extLst>
          </p:cNvPr>
          <p:cNvSpPr/>
          <p:nvPr/>
        </p:nvSpPr>
        <p:spPr>
          <a:xfrm>
            <a:off x="1367554" y="2758096"/>
            <a:ext cx="4580092" cy="3168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0" name="그룹 19">
            <a:extLst>
              <a:ext uri="{FF2B5EF4-FFF2-40B4-BE49-F238E27FC236}">
                <a16:creationId xmlns:a16="http://schemas.microsoft.com/office/drawing/2014/main" id="{E5BFBEE5-C38B-1AEA-EE1A-C6BC0F874000}"/>
              </a:ext>
            </a:extLst>
          </p:cNvPr>
          <p:cNvGrpSpPr/>
          <p:nvPr/>
        </p:nvGrpSpPr>
        <p:grpSpPr>
          <a:xfrm>
            <a:off x="1295400" y="4033112"/>
            <a:ext cx="9646043" cy="2097167"/>
            <a:chOff x="1295400" y="4016886"/>
            <a:chExt cx="9646043" cy="2097167"/>
          </a:xfrm>
        </p:grpSpPr>
        <p:sp>
          <p:nvSpPr>
            <p:cNvPr id="14" name="TextBox 13">
              <a:extLst>
                <a:ext uri="{FF2B5EF4-FFF2-40B4-BE49-F238E27FC236}">
                  <a16:creationId xmlns:a16="http://schemas.microsoft.com/office/drawing/2014/main" id="{6CC0CE8E-98F8-4354-AA79-1F6B1F370674}"/>
                </a:ext>
              </a:extLst>
            </p:cNvPr>
            <p:cNvSpPr txBox="1"/>
            <p:nvPr/>
          </p:nvSpPr>
          <p:spPr>
            <a:xfrm>
              <a:off x="3047325" y="4016886"/>
              <a:ext cx="6097348" cy="246221"/>
            </a:xfrm>
            <a:prstGeom prst="rect">
              <a:avLst/>
            </a:prstGeom>
            <a:noFill/>
            <a:ln>
              <a:solidFill>
                <a:schemeClr val="bg1">
                  <a:lumMod val="50000"/>
                </a:schemeClr>
              </a:solidFill>
            </a:ln>
          </p:spPr>
          <p:txBody>
            <a:bodyPr wrap="square">
              <a:spAutoFit/>
            </a:bodyPr>
            <a:lstStyle/>
            <a:p>
              <a:r>
                <a:rPr lang="en-US" altLang="ko-KR" sz="1000" b="1" dirty="0"/>
                <a:t>$ docker run -it </a:t>
              </a:r>
              <a:r>
                <a:rPr lang="en-US" altLang="ko-KR" sz="1000" b="1" dirty="0">
                  <a:solidFill>
                    <a:srgbClr val="FF0000"/>
                  </a:solidFill>
                </a:rPr>
                <a:t>knix008/</a:t>
              </a:r>
              <a:r>
                <a:rPr lang="en-US" altLang="ko-KR" sz="1000" b="1" dirty="0" err="1">
                  <a:solidFill>
                    <a:srgbClr val="FF0000"/>
                  </a:solidFill>
                </a:rPr>
                <a:t>fortune:args</a:t>
              </a:r>
              <a:r>
                <a:rPr lang="en-US" altLang="ko-KR" sz="1000" b="1" dirty="0">
                  <a:solidFill>
                    <a:srgbClr val="FF0000"/>
                  </a:solidFill>
                </a:rPr>
                <a:t> 15</a:t>
              </a:r>
            </a:p>
          </p:txBody>
        </p:sp>
        <p:sp>
          <p:nvSpPr>
            <p:cNvPr id="15" name="화살표: 아래쪽 14">
              <a:extLst>
                <a:ext uri="{FF2B5EF4-FFF2-40B4-BE49-F238E27FC236}">
                  <a16:creationId xmlns:a16="http://schemas.microsoft.com/office/drawing/2014/main" id="{2FB51A71-1168-E22D-B164-1D53696F353C}"/>
                </a:ext>
              </a:extLst>
            </p:cNvPr>
            <p:cNvSpPr/>
            <p:nvPr/>
          </p:nvSpPr>
          <p:spPr>
            <a:xfrm>
              <a:off x="5865376" y="4277719"/>
              <a:ext cx="461246"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DAFE350F-03F9-4C42-D660-3520740E8299}"/>
                </a:ext>
              </a:extLst>
            </p:cNvPr>
            <p:cNvPicPr>
              <a:picLocks noChangeAspect="1"/>
            </p:cNvPicPr>
            <p:nvPr/>
          </p:nvPicPr>
          <p:blipFill>
            <a:blip r:embed="rId3"/>
            <a:stretch>
              <a:fillRect/>
            </a:stretch>
          </p:blipFill>
          <p:spPr>
            <a:xfrm>
              <a:off x="1295400" y="4586763"/>
              <a:ext cx="9646043" cy="1527290"/>
            </a:xfrm>
            <a:prstGeom prst="rect">
              <a:avLst/>
            </a:prstGeom>
          </p:spPr>
        </p:pic>
        <p:sp>
          <p:nvSpPr>
            <p:cNvPr id="19" name="직사각형 18">
              <a:extLst>
                <a:ext uri="{FF2B5EF4-FFF2-40B4-BE49-F238E27FC236}">
                  <a16:creationId xmlns:a16="http://schemas.microsoft.com/office/drawing/2014/main" id="{F42A6CDE-A888-67A1-6BF9-43302AFE41FD}"/>
                </a:ext>
              </a:extLst>
            </p:cNvPr>
            <p:cNvSpPr/>
            <p:nvPr/>
          </p:nvSpPr>
          <p:spPr>
            <a:xfrm>
              <a:off x="1391830" y="5314796"/>
              <a:ext cx="4580092" cy="4467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807758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Overriding the Command and Arguments in Kubernetes :</a:t>
            </a:r>
          </a:p>
          <a:p>
            <a:pPr lvl="1">
              <a:buFont typeface="Wingdings" panose="05000000000000000000" pitchFamily="2" charset="2"/>
              <a:buChar char="§"/>
            </a:pPr>
            <a:r>
              <a:rPr lang="en-US" altLang="ko-KR" sz="1400" b="1" dirty="0"/>
              <a:t>In Kubernetes, when specifying a container, you can choose to override both ENTRYPOINT and CMD</a:t>
            </a:r>
            <a:r>
              <a:rPr lang="en-US" altLang="ko-KR" sz="1400" dirty="0"/>
              <a:t>. To do that, you set the properties “</a:t>
            </a:r>
            <a:r>
              <a:rPr lang="en-US" altLang="ko-KR" sz="1400" b="1" dirty="0">
                <a:solidFill>
                  <a:srgbClr val="FF0000"/>
                </a:solidFill>
              </a:rPr>
              <a:t>command</a:t>
            </a:r>
            <a:r>
              <a:rPr lang="en-US" altLang="ko-KR" sz="1400" dirty="0"/>
              <a:t>” and “</a:t>
            </a:r>
            <a:r>
              <a:rPr lang="en-US" altLang="ko-KR" sz="1400" b="1" dirty="0" err="1">
                <a:solidFill>
                  <a:srgbClr val="FF0000"/>
                </a:solidFill>
              </a:rPr>
              <a:t>args</a:t>
            </a:r>
            <a:r>
              <a:rPr lang="en-US" altLang="ko-KR" sz="1400" dirty="0"/>
              <a:t>” in the container specification,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 most cases, you’ll only set custom arguments and rarely override the command </a:t>
            </a:r>
            <a:r>
              <a:rPr lang="en-US" altLang="ko-KR" sz="1400" dirty="0"/>
              <a:t>(except in general-purpose images such as </a:t>
            </a:r>
            <a:r>
              <a:rPr lang="en-US" altLang="ko-KR" sz="1400" b="1" dirty="0" err="1"/>
              <a:t>busybox</a:t>
            </a:r>
            <a:r>
              <a:rPr lang="en-US" altLang="ko-KR" sz="1400" dirty="0"/>
              <a:t>, </a:t>
            </a:r>
            <a:r>
              <a:rPr lang="en-US" altLang="ko-KR" sz="1400" b="1" dirty="0"/>
              <a:t>which doesn’t define an ENTRYPOINT at all</a:t>
            </a:r>
            <a:r>
              <a:rPr lang="en-US" altLang="ko-KR" sz="1400" dirty="0"/>
              <a:t>).</a:t>
            </a:r>
          </a:p>
          <a:p>
            <a:pPr lvl="1">
              <a:buFont typeface="Wingdings" panose="05000000000000000000" pitchFamily="2" charset="2"/>
              <a:buChar char="§"/>
            </a:pPr>
            <a:r>
              <a:rPr lang="en-US" altLang="ko-KR" sz="1400" b="1" dirty="0"/>
              <a:t>NOTE : The “command” and “</a:t>
            </a:r>
            <a:r>
              <a:rPr lang="en-US" altLang="ko-KR" sz="1400" b="1" dirty="0" err="1"/>
              <a:t>args</a:t>
            </a:r>
            <a:r>
              <a:rPr lang="en-US" altLang="ko-KR" sz="1400" b="1" dirty="0"/>
              <a:t>” fields can’t be updated after the pod is created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527B7248-3580-8C84-F62D-1A2F7C5708C7}"/>
              </a:ext>
            </a:extLst>
          </p:cNvPr>
          <p:cNvGrpSpPr/>
          <p:nvPr/>
        </p:nvGrpSpPr>
        <p:grpSpPr>
          <a:xfrm>
            <a:off x="1205460" y="1797784"/>
            <a:ext cx="9781080" cy="3428929"/>
            <a:chOff x="1205460" y="1797784"/>
            <a:chExt cx="9781080" cy="3428929"/>
          </a:xfrm>
        </p:grpSpPr>
        <p:grpSp>
          <p:nvGrpSpPr>
            <p:cNvPr id="10" name="그룹 9">
              <a:extLst>
                <a:ext uri="{FF2B5EF4-FFF2-40B4-BE49-F238E27FC236}">
                  <a16:creationId xmlns:a16="http://schemas.microsoft.com/office/drawing/2014/main" id="{30C12E18-1BF6-197C-2C9E-006196F78705}"/>
                </a:ext>
              </a:extLst>
            </p:cNvPr>
            <p:cNvGrpSpPr/>
            <p:nvPr/>
          </p:nvGrpSpPr>
          <p:grpSpPr>
            <a:xfrm>
              <a:off x="3047326" y="1797784"/>
              <a:ext cx="6097348" cy="1631216"/>
              <a:chOff x="3047326" y="1797784"/>
              <a:chExt cx="6097348" cy="1631216"/>
            </a:xfrm>
          </p:grpSpPr>
          <p:sp>
            <p:nvSpPr>
              <p:cNvPr id="8" name="TextBox 7">
                <a:extLst>
                  <a:ext uri="{FF2B5EF4-FFF2-40B4-BE49-F238E27FC236}">
                    <a16:creationId xmlns:a16="http://schemas.microsoft.com/office/drawing/2014/main" id="{264EED0A-099A-CD72-020E-849E72999490}"/>
                  </a:ext>
                </a:extLst>
              </p:cNvPr>
              <p:cNvSpPr txBox="1"/>
              <p:nvPr/>
            </p:nvSpPr>
            <p:spPr>
              <a:xfrm>
                <a:off x="3047326" y="1797784"/>
                <a:ext cx="6097348"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fortune-</a:t>
                </a:r>
                <a:r>
                  <a:rPr lang="en-US" altLang="ko-KR" sz="1000" b="1" dirty="0" err="1"/>
                  <a:t>args</a:t>
                </a:r>
                <a:endParaRPr lang="en-US" altLang="ko-KR" sz="1000" b="1" dirty="0"/>
              </a:p>
              <a:p>
                <a:r>
                  <a:rPr lang="en-US" altLang="ko-KR" sz="1000" b="1" dirty="0"/>
                  <a:t>spec:</a:t>
                </a:r>
              </a:p>
              <a:p>
                <a:r>
                  <a:rPr lang="en-US" altLang="ko-KR" sz="1000" b="1" dirty="0"/>
                  <a:t>  containers:</a:t>
                </a:r>
              </a:p>
              <a:p>
                <a:r>
                  <a:rPr lang="en-US" altLang="ko-KR" sz="1000" b="1" dirty="0"/>
                  <a:t>  - name: fortune-</a:t>
                </a:r>
                <a:r>
                  <a:rPr lang="en-US" altLang="ko-KR" sz="1000" b="1" dirty="0" err="1"/>
                  <a:t>args</a:t>
                </a:r>
                <a:endParaRPr lang="en-US" altLang="ko-KR" sz="1000" b="1" dirty="0"/>
              </a:p>
              <a:p>
                <a:r>
                  <a:rPr lang="en-US" altLang="ko-KR" sz="1000" b="1" dirty="0"/>
                  <a:t>    image: </a:t>
                </a:r>
                <a:r>
                  <a:rPr lang="en-US" altLang="ko-KR" sz="1000" b="1" dirty="0">
                    <a:solidFill>
                      <a:srgbClr val="FF0000"/>
                    </a:solidFill>
                  </a:rPr>
                  <a:t>knix008/</a:t>
                </a:r>
                <a:r>
                  <a:rPr lang="en-US" altLang="ko-KR" sz="1000" b="1" dirty="0" err="1">
                    <a:solidFill>
                      <a:srgbClr val="FF0000"/>
                    </a:solidFill>
                  </a:rPr>
                  <a:t>fortune:args</a:t>
                </a:r>
                <a:endParaRPr lang="en-US" altLang="ko-KR" sz="1000" b="1" dirty="0">
                  <a:solidFill>
                    <a:srgbClr val="FF0000"/>
                  </a:solidFill>
                </a:endParaRPr>
              </a:p>
              <a:p>
                <a:r>
                  <a:rPr lang="en-US" altLang="ko-KR" sz="1000" b="1" dirty="0"/>
                  <a:t>    </a:t>
                </a:r>
                <a:r>
                  <a:rPr lang="en-US" altLang="ko-KR" sz="1000" b="1" dirty="0">
                    <a:solidFill>
                      <a:srgbClr val="FF0000"/>
                    </a:solidFill>
                  </a:rPr>
                  <a:t>command: ["/bin/fortuneloop.sh"]</a:t>
                </a:r>
              </a:p>
              <a:p>
                <a:r>
                  <a:rPr lang="en-US" altLang="ko-KR" sz="1000" b="1" dirty="0"/>
                  <a:t>    </a:t>
                </a:r>
                <a:r>
                  <a:rPr lang="en-US" altLang="ko-KR" sz="1000" b="1" dirty="0" err="1">
                    <a:solidFill>
                      <a:srgbClr val="FF0000"/>
                    </a:solidFill>
                  </a:rPr>
                  <a:t>args</a:t>
                </a:r>
                <a:r>
                  <a:rPr lang="en-US" altLang="ko-KR" sz="1000" b="1" dirty="0">
                    <a:solidFill>
                      <a:srgbClr val="FF0000"/>
                    </a:solidFill>
                  </a:rPr>
                  <a:t>: ["10"]</a:t>
                </a:r>
                <a:endParaRPr lang="ko-KR" altLang="en-US" sz="1000" b="1" dirty="0">
                  <a:solidFill>
                    <a:srgbClr val="FF0000"/>
                  </a:solidFill>
                </a:endParaRPr>
              </a:p>
            </p:txBody>
          </p:sp>
          <p:sp>
            <p:nvSpPr>
              <p:cNvPr id="9" name="TextBox 8">
                <a:extLst>
                  <a:ext uri="{FF2B5EF4-FFF2-40B4-BE49-F238E27FC236}">
                    <a16:creationId xmlns:a16="http://schemas.microsoft.com/office/drawing/2014/main" id="{4E5B55E5-4F7E-5AF1-C208-9B82FB29E7BE}"/>
                  </a:ext>
                </a:extLst>
              </p:cNvPr>
              <p:cNvSpPr txBox="1"/>
              <p:nvPr/>
            </p:nvSpPr>
            <p:spPr>
              <a:xfrm>
                <a:off x="7575014" y="1797784"/>
                <a:ext cx="1569660" cy="246221"/>
              </a:xfrm>
              <a:prstGeom prst="rect">
                <a:avLst/>
              </a:prstGeom>
              <a:noFill/>
            </p:spPr>
            <p:txBody>
              <a:bodyPr wrap="none" rtlCol="0">
                <a:spAutoFit/>
              </a:bodyPr>
              <a:lstStyle/>
              <a:p>
                <a:pPr algn="l"/>
                <a:r>
                  <a:rPr lang="en-US" altLang="ko-KR" sz="1000" b="1" dirty="0"/>
                  <a:t>fortune-pod-</a:t>
                </a:r>
                <a:r>
                  <a:rPr lang="en-US" altLang="ko-KR" sz="1000" b="1" dirty="0" err="1"/>
                  <a:t>args.yaml</a:t>
                </a:r>
                <a:endParaRPr lang="ko-KR" altLang="en-US" sz="1000" b="1" dirty="0"/>
              </a:p>
            </p:txBody>
          </p:sp>
        </p:grpSp>
        <p:pic>
          <p:nvPicPr>
            <p:cNvPr id="12" name="그림 11">
              <a:extLst>
                <a:ext uri="{FF2B5EF4-FFF2-40B4-BE49-F238E27FC236}">
                  <a16:creationId xmlns:a16="http://schemas.microsoft.com/office/drawing/2014/main" id="{03424609-B4F4-1491-A383-D82B663C2909}"/>
                </a:ext>
              </a:extLst>
            </p:cNvPr>
            <p:cNvPicPr>
              <a:picLocks noChangeAspect="1"/>
            </p:cNvPicPr>
            <p:nvPr/>
          </p:nvPicPr>
          <p:blipFill>
            <a:blip r:embed="rId2"/>
            <a:stretch>
              <a:fillRect/>
            </a:stretch>
          </p:blipFill>
          <p:spPr>
            <a:xfrm>
              <a:off x="1205460" y="3678042"/>
              <a:ext cx="9781080" cy="1548671"/>
            </a:xfrm>
            <a:prstGeom prst="rect">
              <a:avLst/>
            </a:prstGeom>
          </p:spPr>
        </p:pic>
        <p:sp>
          <p:nvSpPr>
            <p:cNvPr id="13" name="화살표: 아래쪽 12">
              <a:extLst>
                <a:ext uri="{FF2B5EF4-FFF2-40B4-BE49-F238E27FC236}">
                  <a16:creationId xmlns:a16="http://schemas.microsoft.com/office/drawing/2014/main" id="{A3EE2B6D-96DE-8295-0BF7-4ED2E1F1D1FC}"/>
                </a:ext>
              </a:extLst>
            </p:cNvPr>
            <p:cNvSpPr/>
            <p:nvPr/>
          </p:nvSpPr>
          <p:spPr>
            <a:xfrm>
              <a:off x="5882910" y="3441350"/>
              <a:ext cx="420786" cy="23985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238856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Overriding the Command and Arguments in Kubernetes :</a:t>
            </a:r>
          </a:p>
          <a:p>
            <a:pPr lvl="1">
              <a:buFont typeface="Wingdings" panose="05000000000000000000" pitchFamily="2" charset="2"/>
              <a:buChar char="§"/>
            </a:pPr>
            <a:r>
              <a:rPr lang="en-US" altLang="ko-KR" sz="1400" dirty="0"/>
              <a:t>The two </a:t>
            </a:r>
            <a:r>
              <a:rPr lang="en-US" altLang="ko-KR" sz="1400" dirty="0" err="1"/>
              <a:t>Dockerfile</a:t>
            </a:r>
            <a:r>
              <a:rPr lang="en-US" altLang="ko-KR" sz="1400" dirty="0"/>
              <a:t> instructions and the equivalent pod spec fields are shown in the following table.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F39CF72-C084-8EF6-8AC6-170EB3181D45}"/>
              </a:ext>
            </a:extLst>
          </p:cNvPr>
          <p:cNvPicPr>
            <a:picLocks noChangeAspect="1"/>
          </p:cNvPicPr>
          <p:nvPr/>
        </p:nvPicPr>
        <p:blipFill>
          <a:blip r:embed="rId2"/>
          <a:stretch>
            <a:fillRect/>
          </a:stretch>
        </p:blipFill>
        <p:spPr>
          <a:xfrm>
            <a:off x="3441290" y="1503966"/>
            <a:ext cx="5309419" cy="904568"/>
          </a:xfrm>
          <a:prstGeom prst="rect">
            <a:avLst/>
          </a:prstGeom>
        </p:spPr>
      </p:pic>
      <p:pic>
        <p:nvPicPr>
          <p:cNvPr id="9" name="그림 8">
            <a:extLst>
              <a:ext uri="{FF2B5EF4-FFF2-40B4-BE49-F238E27FC236}">
                <a16:creationId xmlns:a16="http://schemas.microsoft.com/office/drawing/2014/main" id="{8BDE9465-DFBB-6A2E-608F-C94E9A78616A}"/>
              </a:ext>
            </a:extLst>
          </p:cNvPr>
          <p:cNvPicPr>
            <a:picLocks noChangeAspect="1"/>
          </p:cNvPicPr>
          <p:nvPr/>
        </p:nvPicPr>
        <p:blipFill>
          <a:blip r:embed="rId3"/>
          <a:stretch>
            <a:fillRect/>
          </a:stretch>
        </p:blipFill>
        <p:spPr>
          <a:xfrm>
            <a:off x="2659583" y="2543060"/>
            <a:ext cx="6872835" cy="3865970"/>
          </a:xfrm>
          <a:prstGeom prst="rect">
            <a:avLst/>
          </a:prstGeom>
        </p:spPr>
      </p:pic>
    </p:spTree>
    <p:extLst>
      <p:ext uri="{BB962C8B-B14F-4D97-AF65-F5344CB8AC3E}">
        <p14:creationId xmlns:p14="http://schemas.microsoft.com/office/powerpoint/2010/main" val="16640531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Overriding the Command and Arguments in Kubernetes :</a:t>
            </a:r>
          </a:p>
          <a:p>
            <a:pPr lvl="1">
              <a:buFont typeface="Wingdings" panose="05000000000000000000" pitchFamily="2" charset="2"/>
              <a:buChar char="§"/>
            </a:pPr>
            <a:r>
              <a:rPr lang="en-US" altLang="ko-KR" sz="1400" b="1" dirty="0"/>
              <a:t>To run the fortune pod with a custom delay interval</a:t>
            </a:r>
            <a:r>
              <a:rPr lang="en-US" altLang="ko-KR" sz="1400" dirty="0"/>
              <a:t>, you’ll copy your “</a:t>
            </a:r>
            <a:r>
              <a:rPr lang="en-US" altLang="ko-KR" sz="1400" b="1" dirty="0"/>
              <a:t>fortune-</a:t>
            </a:r>
            <a:r>
              <a:rPr lang="en-US" altLang="ko-KR" sz="1400" b="1" dirty="0" err="1"/>
              <a:t>pod.yaml</a:t>
            </a:r>
            <a:r>
              <a:rPr lang="en-US" altLang="ko-KR" sz="1400" dirty="0"/>
              <a:t>” into “</a:t>
            </a:r>
            <a:r>
              <a:rPr lang="en-US" altLang="ko-KR" sz="1400" b="1" dirty="0"/>
              <a:t>fortune-pod-command-</a:t>
            </a:r>
            <a:r>
              <a:rPr lang="en-US" altLang="ko-KR" sz="1400" b="1" dirty="0" err="1"/>
              <a:t>args.yaml</a:t>
            </a:r>
            <a:r>
              <a:rPr lang="en-US" altLang="ko-KR" sz="1400" dirty="0"/>
              <a:t>” and modify it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added the “</a:t>
            </a:r>
            <a:r>
              <a:rPr lang="en-US" altLang="ko-KR" sz="1400" b="1" dirty="0" err="1"/>
              <a:t>args</a:t>
            </a:r>
            <a:r>
              <a:rPr lang="en-US" altLang="ko-KR" sz="1400" b="1" dirty="0"/>
              <a:t>” array to the container definition</a:t>
            </a:r>
            <a:r>
              <a:rPr lang="en-US" altLang="ko-KR" sz="1400" dirty="0"/>
              <a:t>. </a:t>
            </a:r>
            <a:r>
              <a:rPr lang="en-US" altLang="ko-KR" sz="1400" b="1" dirty="0"/>
              <a:t>The values of the array will be passed to the container as command-line arguments when it is run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852E336-0C3B-73C1-FA71-E7BF9EC54B38}"/>
              </a:ext>
            </a:extLst>
          </p:cNvPr>
          <p:cNvGrpSpPr/>
          <p:nvPr/>
        </p:nvGrpSpPr>
        <p:grpSpPr>
          <a:xfrm>
            <a:off x="3047326" y="1698892"/>
            <a:ext cx="6097348" cy="3785652"/>
            <a:chOff x="3047326" y="1698892"/>
            <a:chExt cx="6097348" cy="3785652"/>
          </a:xfrm>
        </p:grpSpPr>
        <p:sp>
          <p:nvSpPr>
            <p:cNvPr id="8" name="TextBox 7">
              <a:extLst>
                <a:ext uri="{FF2B5EF4-FFF2-40B4-BE49-F238E27FC236}">
                  <a16:creationId xmlns:a16="http://schemas.microsoft.com/office/drawing/2014/main" id="{9FC107A8-8273-0BFC-8B78-BDCB83039050}"/>
                </a:ext>
              </a:extLst>
            </p:cNvPr>
            <p:cNvSpPr txBox="1"/>
            <p:nvPr/>
          </p:nvSpPr>
          <p:spPr>
            <a:xfrm>
              <a:off x="3047326" y="1698892"/>
              <a:ext cx="6097348" cy="378565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solidFill>
                    <a:srgbClr val="FF0000"/>
                  </a:solidFill>
                </a:rPr>
                <a:t>  name: fortune15s</a:t>
              </a:r>
            </a:p>
            <a:p>
              <a:r>
                <a:rPr lang="en-US" altLang="ko-KR" sz="1000" b="1" dirty="0"/>
                <a:t>spec:</a:t>
              </a:r>
            </a:p>
            <a:p>
              <a:r>
                <a:rPr lang="en-US" altLang="ko-KR" sz="1000" b="1" dirty="0"/>
                <a:t>  containers:</a:t>
              </a:r>
            </a:p>
            <a:p>
              <a:r>
                <a:rPr lang="en-US" altLang="ko-KR" sz="1000" b="1" dirty="0">
                  <a:solidFill>
                    <a:srgbClr val="FF0000"/>
                  </a:solidFill>
                </a:rPr>
                <a:t>  - image: knix008/</a:t>
              </a:r>
              <a:r>
                <a:rPr lang="en-US" altLang="ko-KR" sz="1000" b="1" dirty="0" err="1">
                  <a:solidFill>
                    <a:srgbClr val="FF0000"/>
                  </a:solidFill>
                </a:rPr>
                <a:t>fortune:args</a:t>
              </a:r>
              <a:endParaRPr lang="en-US" altLang="ko-KR" sz="1000" b="1" dirty="0">
                <a:solidFill>
                  <a:srgbClr val="FF0000"/>
                </a:solidFill>
              </a:endParaRPr>
            </a:p>
            <a:p>
              <a:r>
                <a:rPr lang="en-US" altLang="ko-KR" sz="1000" b="1" dirty="0">
                  <a:solidFill>
                    <a:srgbClr val="FF0000"/>
                  </a:solidFill>
                </a:rPr>
                <a:t>    </a:t>
              </a:r>
              <a:r>
                <a:rPr lang="en-US" altLang="ko-KR" sz="1000" b="1" dirty="0" err="1">
                  <a:solidFill>
                    <a:srgbClr val="FF0000"/>
                  </a:solidFill>
                </a:rPr>
                <a:t>args</a:t>
              </a:r>
              <a:r>
                <a:rPr lang="en-US" altLang="ko-KR" sz="1000" b="1" dirty="0">
                  <a:solidFill>
                    <a:srgbClr val="FF0000"/>
                  </a:solidFill>
                </a:rPr>
                <a:t>: ["15"]</a:t>
              </a:r>
            </a:p>
            <a:p>
              <a:r>
                <a:rPr lang="en-US" altLang="ko-KR" sz="1000" b="1" dirty="0"/>
                <a:t>    name: html-generator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/var/</a:t>
              </a:r>
              <a:r>
                <a:rPr lang="en-US" altLang="ko-KR" sz="1000" b="1" dirty="0" err="1"/>
                <a:t>htdocs</a:t>
              </a:r>
              <a:endParaRPr lang="en-US" altLang="ko-KR" sz="1000" b="1" dirty="0"/>
            </a:p>
            <a:p>
              <a:r>
                <a:rPr lang="en-US" altLang="ko-KR" sz="1000" b="1" dirty="0"/>
                <a:t>  - image: </a:t>
              </a:r>
              <a:r>
                <a:rPr lang="en-US" altLang="ko-KR" sz="1000" b="1" dirty="0" err="1"/>
                <a:t>nginx:alpine</a:t>
              </a:r>
              <a:endParaRPr lang="en-US" altLang="ko-KR" sz="1000" b="1" dirty="0"/>
            </a:p>
            <a:p>
              <a:r>
                <a:rPr lang="en-US" altLang="ko-KR" sz="1000" b="1" dirty="0"/>
                <a:t>    name: web-server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a:t>
              </a:r>
              <a:r>
                <a:rPr lang="en-US" altLang="ko-KR" sz="1000" b="1" dirty="0" err="1"/>
                <a:t>usr</a:t>
              </a:r>
              <a:r>
                <a:rPr lang="en-US" altLang="ko-KR" sz="1000" b="1" dirty="0"/>
                <a:t>/share/nginx/html</a:t>
              </a:r>
            </a:p>
            <a:p>
              <a:r>
                <a:rPr lang="en-US" altLang="ko-KR" sz="1000" b="1" dirty="0"/>
                <a:t>      </a:t>
              </a:r>
              <a:r>
                <a:rPr lang="en-US" altLang="ko-KR" sz="1000" b="1" dirty="0" err="1"/>
                <a:t>readOnly</a:t>
              </a:r>
              <a:r>
                <a:rPr lang="en-US" altLang="ko-KR" sz="1000" b="1" dirty="0"/>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protocol: TCP</a:t>
              </a:r>
            </a:p>
            <a:p>
              <a:r>
                <a:rPr lang="en-US" altLang="ko-KR" sz="1000" b="1" dirty="0"/>
                <a:t>  volumes:</a:t>
              </a:r>
            </a:p>
            <a:p>
              <a:r>
                <a:rPr lang="en-US" altLang="ko-KR" sz="1000" b="1" dirty="0"/>
                <a:t>  - name: html</a:t>
              </a:r>
            </a:p>
            <a:p>
              <a:r>
                <a:rPr lang="en-US" altLang="ko-KR" sz="1000" b="1" dirty="0"/>
                <a:t>    </a:t>
              </a:r>
              <a:r>
                <a:rPr lang="en-US" altLang="ko-KR" sz="1000" b="1" dirty="0" err="1"/>
                <a:t>emptyDir</a:t>
              </a:r>
              <a:r>
                <a:rPr lang="en-US" altLang="ko-KR" sz="1000" b="1" dirty="0"/>
                <a:t>: {}</a:t>
              </a:r>
              <a:endParaRPr lang="ko-KR" altLang="en-US" sz="1000" b="1" dirty="0"/>
            </a:p>
          </p:txBody>
        </p:sp>
        <p:sp>
          <p:nvSpPr>
            <p:cNvPr id="9" name="TextBox 8">
              <a:extLst>
                <a:ext uri="{FF2B5EF4-FFF2-40B4-BE49-F238E27FC236}">
                  <a16:creationId xmlns:a16="http://schemas.microsoft.com/office/drawing/2014/main" id="{7594F2DC-59F1-4877-87BE-C1D04062373B}"/>
                </a:ext>
              </a:extLst>
            </p:cNvPr>
            <p:cNvSpPr txBox="1"/>
            <p:nvPr/>
          </p:nvSpPr>
          <p:spPr>
            <a:xfrm>
              <a:off x="6914576" y="1698892"/>
              <a:ext cx="2230098" cy="246221"/>
            </a:xfrm>
            <a:prstGeom prst="rect">
              <a:avLst/>
            </a:prstGeom>
            <a:noFill/>
          </p:spPr>
          <p:txBody>
            <a:bodyPr wrap="none" rtlCol="0">
              <a:spAutoFit/>
            </a:bodyPr>
            <a:lstStyle/>
            <a:p>
              <a:pPr algn="l"/>
              <a:r>
                <a:rPr lang="en-US" altLang="ko-KR" sz="1000" b="1" dirty="0"/>
                <a:t>fortune-pod-command-</a:t>
              </a:r>
              <a:r>
                <a:rPr lang="en-US" altLang="ko-KR" sz="1000" b="1" dirty="0" err="1"/>
                <a:t>args.yaml</a:t>
              </a:r>
              <a:endParaRPr lang="ko-KR" altLang="en-US" sz="1000" b="1" dirty="0"/>
            </a:p>
          </p:txBody>
        </p:sp>
      </p:grpSp>
    </p:spTree>
    <p:extLst>
      <p:ext uri="{BB962C8B-B14F-4D97-AF65-F5344CB8AC3E}">
        <p14:creationId xmlns:p14="http://schemas.microsoft.com/office/powerpoint/2010/main" val="1474853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Passing Command-Line Arguments to Containers(10/10)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Overriding the Command and Arguments in Kubernetes :</a:t>
            </a:r>
          </a:p>
          <a:p>
            <a:pPr lvl="1">
              <a:buFont typeface="Wingdings" panose="05000000000000000000" pitchFamily="2" charset="2"/>
              <a:buChar char="§"/>
            </a:pPr>
            <a:r>
              <a:rPr lang="en-US" altLang="ko-KR" sz="1400" dirty="0"/>
              <a:t>The </a:t>
            </a:r>
            <a:r>
              <a:rPr lang="en-US" altLang="ko-KR" sz="1400" b="1" dirty="0"/>
              <a:t>array notation </a:t>
            </a:r>
            <a:r>
              <a:rPr lang="en-US" altLang="ko-KR" sz="1400" dirty="0"/>
              <a:t>used in the previous listing is great if you have one argument or a few. If you have several, you can also use the following notation:</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TIP : You don’t need to enclose string values in quotations marks (but you must enclose numbers)</a:t>
            </a:r>
            <a:r>
              <a:rPr lang="en-US" altLang="ko-KR" sz="1400" dirty="0"/>
              <a:t>.</a:t>
            </a:r>
          </a:p>
          <a:p>
            <a:pPr lvl="1">
              <a:buFont typeface="Wingdings" panose="05000000000000000000" pitchFamily="2" charset="2"/>
              <a:buChar char="§"/>
            </a:pPr>
            <a:r>
              <a:rPr lang="en-US" altLang="ko-KR" sz="1400" b="1" dirty="0"/>
              <a:t>Specifying arguments is one way of passing config options to your containers through command-line arguments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BF49841-339D-0F7F-2315-C69309D76673}"/>
              </a:ext>
            </a:extLst>
          </p:cNvPr>
          <p:cNvSpPr txBox="1"/>
          <p:nvPr/>
        </p:nvSpPr>
        <p:spPr>
          <a:xfrm>
            <a:off x="3047326" y="1805345"/>
            <a:ext cx="6097348" cy="707886"/>
          </a:xfrm>
          <a:prstGeom prst="rect">
            <a:avLst/>
          </a:prstGeom>
          <a:noFill/>
          <a:ln>
            <a:solidFill>
              <a:schemeClr val="bg1">
                <a:lumMod val="50000"/>
              </a:schemeClr>
            </a:solidFill>
          </a:ln>
        </p:spPr>
        <p:txBody>
          <a:bodyPr wrap="square">
            <a:spAutoFit/>
          </a:bodyPr>
          <a:lstStyle/>
          <a:p>
            <a:r>
              <a:rPr lang="en-US" altLang="ko-KR" sz="1000" b="1" dirty="0" err="1"/>
              <a:t>args</a:t>
            </a:r>
            <a:r>
              <a:rPr lang="en-US" altLang="ko-KR" sz="1000" b="1" dirty="0"/>
              <a:t>:</a:t>
            </a:r>
          </a:p>
          <a:p>
            <a:r>
              <a:rPr lang="en-US" altLang="ko-KR" sz="1000" b="1" dirty="0"/>
              <a:t>- foo</a:t>
            </a:r>
          </a:p>
          <a:p>
            <a:r>
              <a:rPr lang="en-US" altLang="ko-KR" sz="1000" b="1" dirty="0"/>
              <a:t>- bar</a:t>
            </a:r>
          </a:p>
          <a:p>
            <a:r>
              <a:rPr lang="en-US" altLang="ko-KR" sz="1000" b="1" dirty="0"/>
              <a:t>- "15"</a:t>
            </a:r>
          </a:p>
        </p:txBody>
      </p:sp>
      <p:pic>
        <p:nvPicPr>
          <p:cNvPr id="9" name="그림 8">
            <a:extLst>
              <a:ext uri="{FF2B5EF4-FFF2-40B4-BE49-F238E27FC236}">
                <a16:creationId xmlns:a16="http://schemas.microsoft.com/office/drawing/2014/main" id="{14295763-C8C2-2516-776A-569B67B70865}"/>
              </a:ext>
            </a:extLst>
          </p:cNvPr>
          <p:cNvPicPr>
            <a:picLocks noChangeAspect="1"/>
          </p:cNvPicPr>
          <p:nvPr/>
        </p:nvPicPr>
        <p:blipFill>
          <a:blip r:embed="rId2"/>
          <a:stretch>
            <a:fillRect/>
          </a:stretch>
        </p:blipFill>
        <p:spPr>
          <a:xfrm>
            <a:off x="3639393" y="3750247"/>
            <a:ext cx="4913214" cy="2380032"/>
          </a:xfrm>
          <a:prstGeom prst="rect">
            <a:avLst/>
          </a:prstGeom>
          <a:ln>
            <a:solidFill>
              <a:schemeClr val="bg1">
                <a:lumMod val="50000"/>
              </a:schemeClr>
            </a:solidFill>
          </a:ln>
        </p:spPr>
      </p:pic>
    </p:spTree>
    <p:extLst>
      <p:ext uri="{BB962C8B-B14F-4D97-AF65-F5344CB8AC3E}">
        <p14:creationId xmlns:p14="http://schemas.microsoft.com/office/powerpoint/2010/main" val="35524205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Environment Variables for a Container(1/6)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Environment Variables :</a:t>
            </a:r>
          </a:p>
          <a:p>
            <a:pPr lvl="1">
              <a:buFont typeface="Wingdings" panose="05000000000000000000" pitchFamily="2" charset="2"/>
              <a:buChar char="§"/>
            </a:pPr>
            <a:r>
              <a:rPr lang="en-US" altLang="ko-KR" sz="1400" b="1" dirty="0"/>
              <a:t>The containerized applications often use environment variables as a source of configuration options</a:t>
            </a:r>
            <a:r>
              <a:rPr lang="en-US" altLang="ko-KR" sz="1400" dirty="0"/>
              <a:t>. </a:t>
            </a:r>
            <a:r>
              <a:rPr lang="en-US" altLang="ko-KR" sz="1400" b="1" dirty="0"/>
              <a:t>Kubernetes allows you to specify a custom list of environment variables for each container of a pod</a:t>
            </a:r>
            <a:r>
              <a:rPr lang="en-US" altLang="ko-KR" sz="1400" dirty="0"/>
              <a:t>, as shown in the following figure. Although it would be useful to also define environment variables at the pod level and have them be inherited by its containers, no such option currently exists.</a:t>
            </a:r>
          </a:p>
          <a:p>
            <a:pPr lvl="1">
              <a:buFont typeface="Wingdings" panose="05000000000000000000" pitchFamily="2" charset="2"/>
              <a:buChar char="§"/>
            </a:pPr>
            <a:r>
              <a:rPr lang="en-US" altLang="ko-KR" sz="1400" b="1" dirty="0"/>
              <a:t>NOTE : Like the container’s command and arguments, the list of environment variables also cannot be updated after the pod is created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4B2D23A4-8D42-AD07-0141-6D041D3EF565}"/>
              </a:ext>
            </a:extLst>
          </p:cNvPr>
          <p:cNvPicPr>
            <a:picLocks noChangeAspect="1"/>
          </p:cNvPicPr>
          <p:nvPr/>
        </p:nvPicPr>
        <p:blipFill>
          <a:blip r:embed="rId2"/>
          <a:stretch>
            <a:fillRect/>
          </a:stretch>
        </p:blipFill>
        <p:spPr>
          <a:xfrm>
            <a:off x="5005387" y="2710958"/>
            <a:ext cx="2181225" cy="2714625"/>
          </a:xfrm>
          <a:prstGeom prst="rect">
            <a:avLst/>
          </a:prstGeom>
        </p:spPr>
      </p:pic>
    </p:spTree>
    <p:extLst>
      <p:ext uri="{BB962C8B-B14F-4D97-AF65-F5344CB8AC3E}">
        <p14:creationId xmlns:p14="http://schemas.microsoft.com/office/powerpoint/2010/main" val="25349642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Environment Variables for a Container(2/6)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through an Environment Variable :</a:t>
            </a:r>
          </a:p>
          <a:p>
            <a:pPr lvl="1">
              <a:buFont typeface="Wingdings" panose="05000000000000000000" pitchFamily="2" charset="2"/>
              <a:buChar char="§"/>
            </a:pPr>
            <a:r>
              <a:rPr lang="en-US" altLang="ko-KR" sz="1400" dirty="0"/>
              <a:t>Let’s see how to modify your “</a:t>
            </a:r>
            <a:r>
              <a:rPr lang="en-US" altLang="ko-KR" sz="1400" b="1" dirty="0"/>
              <a:t>fortuneloop.sh</a:t>
            </a:r>
            <a:r>
              <a:rPr lang="en-US" altLang="ko-KR" sz="1400" dirty="0"/>
              <a:t>” script once again to </a:t>
            </a:r>
            <a:r>
              <a:rPr lang="en-US" altLang="ko-KR" sz="1400" b="1" dirty="0"/>
              <a:t>allow it to be configured from an environment variable</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All you had to do was remove the row where the </a:t>
            </a:r>
            <a:r>
              <a:rPr lang="en-US" altLang="ko-KR" sz="1400" b="1" dirty="0"/>
              <a:t>INTERVAL</a:t>
            </a:r>
            <a:r>
              <a:rPr lang="en-US" altLang="ko-KR" sz="1400" dirty="0"/>
              <a:t> variable is initialized. Because your “</a:t>
            </a:r>
            <a:r>
              <a:rPr lang="en-US" altLang="ko-KR" sz="1400" b="1" dirty="0"/>
              <a:t>app</a:t>
            </a:r>
            <a:r>
              <a:rPr lang="en-US" altLang="ko-KR" sz="1400" dirty="0"/>
              <a:t>” is a simple bash script, you didn’t need to do anything else. If the app was written in </a:t>
            </a:r>
            <a:r>
              <a:rPr lang="en-US" altLang="ko-KR" sz="1400" b="1" dirty="0"/>
              <a:t>Java</a:t>
            </a:r>
            <a:r>
              <a:rPr lang="en-US" altLang="ko-KR" sz="1400" dirty="0"/>
              <a:t> you’d use “</a:t>
            </a:r>
            <a:r>
              <a:rPr lang="en-US" altLang="ko-KR" sz="1400" b="1" dirty="0" err="1"/>
              <a:t>System.getenv</a:t>
            </a:r>
            <a:r>
              <a:rPr lang="en-US" altLang="ko-KR" sz="1400" b="1" dirty="0"/>
              <a:t>("INTERVAL")</a:t>
            </a:r>
            <a:r>
              <a:rPr lang="en-US" altLang="ko-KR" sz="1400" dirty="0"/>
              <a:t>”, whereas in </a:t>
            </a:r>
            <a:r>
              <a:rPr lang="en-US" altLang="ko-KR" sz="1400" b="1" dirty="0"/>
              <a:t>Node.JS</a:t>
            </a:r>
            <a:r>
              <a:rPr lang="en-US" altLang="ko-KR" sz="1400" dirty="0"/>
              <a:t> you’d use “</a:t>
            </a:r>
            <a:r>
              <a:rPr lang="en-US" altLang="ko-KR" sz="1400" b="1" dirty="0" err="1"/>
              <a:t>process.env.INTERVAL</a:t>
            </a:r>
            <a:r>
              <a:rPr lang="en-US" altLang="ko-KR" sz="1400" b="1" dirty="0"/>
              <a:t>”</a:t>
            </a:r>
            <a:r>
              <a:rPr lang="en-US" altLang="ko-KR" sz="1400" dirty="0"/>
              <a:t>, and in </a:t>
            </a:r>
            <a:r>
              <a:rPr lang="en-US" altLang="ko-KR" sz="1400" b="1" dirty="0"/>
              <a:t>Python</a:t>
            </a:r>
            <a:r>
              <a:rPr lang="en-US" altLang="ko-KR" sz="1400" dirty="0"/>
              <a:t> you’d use “</a:t>
            </a:r>
            <a:r>
              <a:rPr lang="en-US" altLang="ko-KR" sz="1400" b="1" dirty="0" err="1"/>
              <a:t>os.environ</a:t>
            </a:r>
            <a:r>
              <a:rPr lang="en-US" altLang="ko-KR" sz="1400" b="1" dirty="0"/>
              <a:t>['INTERVAL’]</a:t>
            </a:r>
            <a:r>
              <a:rPr lang="en-US" altLang="ko-KR" sz="1400" dirty="0"/>
              <a:t>”.</a:t>
            </a:r>
          </a:p>
          <a:p>
            <a:pPr lvl="1">
              <a:buFont typeface="Wingdings" panose="05000000000000000000" pitchFamily="2" charset="2"/>
              <a:buChar char="§"/>
            </a:pPr>
            <a:r>
              <a:rPr lang="en-US" altLang="ko-KR" sz="1400" b="1" dirty="0"/>
              <a:t>NOTE : You need to change the permission of the “fortuneloop.sh” using “</a:t>
            </a:r>
            <a:r>
              <a:rPr lang="en-US" altLang="ko-KR" sz="1400" b="1" dirty="0">
                <a:solidFill>
                  <a:srgbClr val="FF0000"/>
                </a:solidFill>
              </a:rPr>
              <a:t>$ </a:t>
            </a:r>
            <a:r>
              <a:rPr lang="en-US" altLang="ko-KR" sz="1400" b="1" dirty="0" err="1">
                <a:solidFill>
                  <a:srgbClr val="FF0000"/>
                </a:solidFill>
              </a:rPr>
              <a:t>chmod</a:t>
            </a:r>
            <a:r>
              <a:rPr lang="en-US" altLang="ko-KR" sz="1400" b="1" dirty="0">
                <a:solidFill>
                  <a:srgbClr val="FF0000"/>
                </a:solidFill>
              </a:rPr>
              <a:t> 0777 fortuneloop.sh</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C2BF4F8-84B7-66F9-0F60-57FB3DB97F7E}"/>
              </a:ext>
            </a:extLst>
          </p:cNvPr>
          <p:cNvGrpSpPr/>
          <p:nvPr/>
        </p:nvGrpSpPr>
        <p:grpSpPr>
          <a:xfrm>
            <a:off x="3047326" y="1951672"/>
            <a:ext cx="6097348" cy="1477328"/>
            <a:chOff x="3037211" y="1867220"/>
            <a:chExt cx="6097348" cy="1477328"/>
          </a:xfrm>
        </p:grpSpPr>
        <p:sp>
          <p:nvSpPr>
            <p:cNvPr id="8" name="TextBox 7">
              <a:extLst>
                <a:ext uri="{FF2B5EF4-FFF2-40B4-BE49-F238E27FC236}">
                  <a16:creationId xmlns:a16="http://schemas.microsoft.com/office/drawing/2014/main" id="{E8E3DE13-EA26-FD75-7419-6AE0CE2BDE9A}"/>
                </a:ext>
              </a:extLst>
            </p:cNvPr>
            <p:cNvSpPr txBox="1"/>
            <p:nvPr/>
          </p:nvSpPr>
          <p:spPr>
            <a:xfrm>
              <a:off x="3037211" y="1867220"/>
              <a:ext cx="6097348" cy="1477328"/>
            </a:xfrm>
            <a:prstGeom prst="rect">
              <a:avLst/>
            </a:prstGeom>
            <a:noFill/>
            <a:ln>
              <a:solidFill>
                <a:schemeClr val="bg1">
                  <a:lumMod val="50000"/>
                </a:schemeClr>
              </a:solidFill>
            </a:ln>
          </p:spPr>
          <p:txBody>
            <a:bodyPr wrap="square">
              <a:spAutoFit/>
            </a:bodyPr>
            <a:lstStyle/>
            <a:p>
              <a:r>
                <a:rPr lang="en-US" altLang="ko-KR" sz="1000" b="1" dirty="0"/>
                <a:t>#!/bin/bash</a:t>
              </a:r>
            </a:p>
            <a:p>
              <a:r>
                <a:rPr lang="en-US" altLang="ko-KR" sz="1000" b="1" dirty="0"/>
                <a:t>trap "exit" SIGINT</a:t>
              </a:r>
            </a:p>
            <a:p>
              <a:r>
                <a:rPr lang="en-US" altLang="ko-KR" sz="1000" b="1" dirty="0"/>
                <a:t>echo Configured to generate new fortune every </a:t>
              </a:r>
              <a:r>
                <a:rPr lang="en-US" altLang="ko-KR" sz="1000" b="1" dirty="0">
                  <a:solidFill>
                    <a:srgbClr val="FF0000"/>
                  </a:solidFill>
                </a:rPr>
                <a:t>$INTERVAL </a:t>
              </a:r>
              <a:r>
                <a:rPr lang="en-US" altLang="ko-KR" sz="1000" b="1" dirty="0"/>
                <a:t>seconds</a:t>
              </a:r>
            </a:p>
            <a:p>
              <a:r>
                <a:rPr lang="en-US" altLang="ko-KR" sz="1000" b="1" dirty="0" err="1"/>
                <a:t>mkdir</a:t>
              </a:r>
              <a:r>
                <a:rPr lang="en-US" altLang="ko-KR" sz="1000" b="1" dirty="0"/>
                <a:t> -p /var/</a:t>
              </a:r>
              <a:r>
                <a:rPr lang="en-US" altLang="ko-KR" sz="1000" b="1" dirty="0" err="1"/>
                <a:t>htdocs</a:t>
              </a:r>
              <a:endParaRPr lang="en-US" altLang="ko-KR" sz="1000" b="1" dirty="0"/>
            </a:p>
            <a:p>
              <a:r>
                <a:rPr lang="en-US" altLang="ko-KR" sz="1000" b="1" dirty="0"/>
                <a:t>while :; do</a:t>
              </a:r>
            </a:p>
            <a:p>
              <a:r>
                <a:rPr lang="en-US" altLang="ko-KR" sz="1000" b="1" dirty="0"/>
                <a:t>    echo $(date) Writing fortune to /var/</a:t>
              </a:r>
              <a:r>
                <a:rPr lang="en-US" altLang="ko-KR" sz="1000" b="1" dirty="0" err="1"/>
                <a:t>htdocs</a:t>
              </a:r>
              <a:r>
                <a:rPr lang="en-US" altLang="ko-KR" sz="1000" b="1" dirty="0"/>
                <a:t>/index.html</a:t>
              </a:r>
            </a:p>
            <a:p>
              <a:r>
                <a:rPr lang="en-US" altLang="ko-KR" sz="1000" b="1" dirty="0"/>
                <a:t>    /</a:t>
              </a:r>
              <a:r>
                <a:rPr lang="en-US" altLang="ko-KR" sz="1000" b="1" dirty="0" err="1"/>
                <a:t>usr</a:t>
              </a:r>
              <a:r>
                <a:rPr lang="en-US" altLang="ko-KR" sz="1000" b="1" dirty="0"/>
                <a:t>/games/fortune &gt;/var/</a:t>
              </a:r>
              <a:r>
                <a:rPr lang="en-US" altLang="ko-KR" sz="1000" b="1" dirty="0" err="1"/>
                <a:t>htdocs</a:t>
              </a:r>
              <a:r>
                <a:rPr lang="en-US" altLang="ko-KR" sz="1000" b="1" dirty="0"/>
                <a:t>/index.html</a:t>
              </a:r>
            </a:p>
            <a:p>
              <a:r>
                <a:rPr lang="en-US" altLang="ko-KR" sz="1000" b="1" dirty="0"/>
                <a:t>    sleep </a:t>
              </a:r>
              <a:r>
                <a:rPr lang="en-US" altLang="ko-KR" sz="1000" b="1" dirty="0">
                  <a:solidFill>
                    <a:srgbClr val="FF0000"/>
                  </a:solidFill>
                </a:rPr>
                <a:t>$INTERVAL</a:t>
              </a:r>
            </a:p>
            <a:p>
              <a:r>
                <a:rPr lang="en-US" altLang="ko-KR" sz="1000" b="1" dirty="0"/>
                <a:t>done</a:t>
              </a:r>
            </a:p>
          </p:txBody>
        </p:sp>
        <p:sp>
          <p:nvSpPr>
            <p:cNvPr id="9" name="TextBox 8">
              <a:extLst>
                <a:ext uri="{FF2B5EF4-FFF2-40B4-BE49-F238E27FC236}">
                  <a16:creationId xmlns:a16="http://schemas.microsoft.com/office/drawing/2014/main" id="{6528CECE-FBD2-F758-65E1-8845FF6833DD}"/>
                </a:ext>
              </a:extLst>
            </p:cNvPr>
            <p:cNvSpPr txBox="1"/>
            <p:nvPr/>
          </p:nvSpPr>
          <p:spPr>
            <a:xfrm>
              <a:off x="7265136" y="1867220"/>
              <a:ext cx="1869423" cy="246221"/>
            </a:xfrm>
            <a:prstGeom prst="rect">
              <a:avLst/>
            </a:prstGeom>
            <a:noFill/>
          </p:spPr>
          <p:txBody>
            <a:bodyPr wrap="none" rtlCol="0">
              <a:spAutoFit/>
            </a:bodyPr>
            <a:lstStyle/>
            <a:p>
              <a:pPr algn="l"/>
              <a:r>
                <a:rPr lang="en-US" altLang="ko-KR" sz="1000" b="1" dirty="0"/>
                <a:t>fortune-env/fortuneloop.sh</a:t>
              </a:r>
              <a:endParaRPr lang="ko-KR" altLang="en-US" sz="1000" b="1" dirty="0"/>
            </a:p>
          </p:txBody>
        </p:sp>
      </p:grpSp>
    </p:spTree>
    <p:extLst>
      <p:ext uri="{BB962C8B-B14F-4D97-AF65-F5344CB8AC3E}">
        <p14:creationId xmlns:p14="http://schemas.microsoft.com/office/powerpoint/2010/main" val="15380277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Environment Variables for a Container(3/6)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Environment Variables in a Container Definition :</a:t>
            </a:r>
          </a:p>
          <a:p>
            <a:pPr lvl="1">
              <a:buFont typeface="Wingdings" panose="05000000000000000000" pitchFamily="2" charset="2"/>
              <a:buChar char="§"/>
            </a:pPr>
            <a:r>
              <a:rPr lang="en-US" altLang="ko-KR" sz="1400" b="1" dirty="0"/>
              <a:t>After building the new image (we can tag it as “knix008/</a:t>
            </a:r>
            <a:r>
              <a:rPr lang="en-US" altLang="ko-KR" sz="1400" b="1" dirty="0" err="1"/>
              <a:t>fortune:env</a:t>
            </a:r>
            <a:r>
              <a:rPr lang="en-US" altLang="ko-KR" sz="1400" b="1" dirty="0"/>
              <a:t>” for this example) and pushing it to Docker Hub</a:t>
            </a:r>
            <a:r>
              <a:rPr lang="en-US" altLang="ko-KR" sz="1400" dirty="0"/>
              <a:t>, you can run it by creating a new pod, in which you pass the environment variable to the script by including it in your container definition,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50C1362-CBBC-8FB4-1420-0CE1C7767397}"/>
              </a:ext>
            </a:extLst>
          </p:cNvPr>
          <p:cNvGrpSpPr/>
          <p:nvPr/>
        </p:nvGrpSpPr>
        <p:grpSpPr>
          <a:xfrm>
            <a:off x="3047326" y="1950477"/>
            <a:ext cx="6097348" cy="4093428"/>
            <a:chOff x="3047326" y="1950477"/>
            <a:chExt cx="6097348" cy="4093428"/>
          </a:xfrm>
        </p:grpSpPr>
        <p:sp>
          <p:nvSpPr>
            <p:cNvPr id="8" name="TextBox 7">
              <a:extLst>
                <a:ext uri="{FF2B5EF4-FFF2-40B4-BE49-F238E27FC236}">
                  <a16:creationId xmlns:a16="http://schemas.microsoft.com/office/drawing/2014/main" id="{1F85619E-1BF4-9966-CC62-0ACF15CF453C}"/>
                </a:ext>
              </a:extLst>
            </p:cNvPr>
            <p:cNvSpPr txBox="1"/>
            <p:nvPr/>
          </p:nvSpPr>
          <p:spPr>
            <a:xfrm>
              <a:off x="3047326" y="1950477"/>
              <a:ext cx="6097348" cy="4093428"/>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a:solidFill>
                    <a:srgbClr val="FF0000"/>
                  </a:solidFill>
                </a:rPr>
                <a:t>fortune-env</a:t>
              </a:r>
            </a:p>
            <a:p>
              <a:r>
                <a:rPr lang="en-US" altLang="ko-KR" sz="1000" b="1" dirty="0"/>
                <a:t>spec:</a:t>
              </a:r>
            </a:p>
            <a:p>
              <a:r>
                <a:rPr lang="en-US" altLang="ko-KR" sz="1000" b="1" dirty="0"/>
                <a:t>  containers:</a:t>
              </a:r>
            </a:p>
            <a:p>
              <a:r>
                <a:rPr lang="en-US" altLang="ko-KR" sz="1000" b="1" dirty="0">
                  <a:solidFill>
                    <a:srgbClr val="FF0000"/>
                  </a:solidFill>
                </a:rPr>
                <a:t>  - image: knix008/</a:t>
              </a:r>
              <a:r>
                <a:rPr lang="en-US" altLang="ko-KR" sz="1000" b="1" dirty="0" err="1">
                  <a:solidFill>
                    <a:srgbClr val="FF0000"/>
                  </a:solidFill>
                </a:rPr>
                <a:t>fortune:env</a:t>
              </a:r>
              <a:endParaRPr lang="en-US" altLang="ko-KR" sz="1000" b="1" dirty="0">
                <a:solidFill>
                  <a:srgbClr val="FF0000"/>
                </a:solidFill>
              </a:endParaRPr>
            </a:p>
            <a:p>
              <a:r>
                <a:rPr lang="en-US" altLang="ko-KR" sz="1000" b="1" dirty="0">
                  <a:solidFill>
                    <a:srgbClr val="FF0000"/>
                  </a:solidFill>
                </a:rPr>
                <a:t>    env:</a:t>
              </a:r>
            </a:p>
            <a:p>
              <a:r>
                <a:rPr lang="en-US" altLang="ko-KR" sz="1000" b="1" dirty="0">
                  <a:solidFill>
                    <a:srgbClr val="FF0000"/>
                  </a:solidFill>
                </a:rPr>
                <a:t>    - name: INTERVAL</a:t>
              </a:r>
            </a:p>
            <a:p>
              <a:r>
                <a:rPr lang="en-US" altLang="ko-KR" sz="1000" b="1" dirty="0">
                  <a:solidFill>
                    <a:srgbClr val="FF0000"/>
                  </a:solidFill>
                </a:rPr>
                <a:t>      value: “10”</a:t>
              </a:r>
            </a:p>
            <a:p>
              <a:r>
                <a:rPr lang="en-US" altLang="ko-KR" sz="1000" b="1" dirty="0"/>
                <a:t>    name: html-generator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/var/</a:t>
              </a:r>
              <a:r>
                <a:rPr lang="en-US" altLang="ko-KR" sz="1000" b="1" dirty="0" err="1"/>
                <a:t>htdocs</a:t>
              </a:r>
              <a:endParaRPr lang="en-US" altLang="ko-KR" sz="1000" b="1" dirty="0"/>
            </a:p>
            <a:p>
              <a:r>
                <a:rPr lang="en-US" altLang="ko-KR" sz="1000" b="1" dirty="0"/>
                <a:t>  - image: </a:t>
              </a:r>
              <a:r>
                <a:rPr lang="en-US" altLang="ko-KR" sz="1000" b="1" dirty="0" err="1"/>
                <a:t>nginx:alpine</a:t>
              </a:r>
              <a:endParaRPr lang="en-US" altLang="ko-KR" sz="1000" b="1" dirty="0"/>
            </a:p>
            <a:p>
              <a:r>
                <a:rPr lang="en-US" altLang="ko-KR" sz="1000" b="1" dirty="0"/>
                <a:t>    name: web-server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a:t>
              </a:r>
              <a:r>
                <a:rPr lang="en-US" altLang="ko-KR" sz="1000" b="1" dirty="0" err="1"/>
                <a:t>usr</a:t>
              </a:r>
              <a:r>
                <a:rPr lang="en-US" altLang="ko-KR" sz="1000" b="1" dirty="0"/>
                <a:t>/share/nginx/html</a:t>
              </a:r>
            </a:p>
            <a:p>
              <a:r>
                <a:rPr lang="en-US" altLang="ko-KR" sz="1000" b="1" dirty="0"/>
                <a:t>      </a:t>
              </a:r>
              <a:r>
                <a:rPr lang="en-US" altLang="ko-KR" sz="1000" b="1" dirty="0" err="1"/>
                <a:t>readOnly</a:t>
              </a:r>
              <a:r>
                <a:rPr lang="en-US" altLang="ko-KR" sz="1000" b="1" dirty="0"/>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protocol: TCP</a:t>
              </a:r>
            </a:p>
            <a:p>
              <a:r>
                <a:rPr lang="en-US" altLang="ko-KR" sz="1000" b="1" dirty="0"/>
                <a:t>  volumes:</a:t>
              </a:r>
            </a:p>
            <a:p>
              <a:r>
                <a:rPr lang="en-US" altLang="ko-KR" sz="1000" b="1" dirty="0"/>
                <a:t>  - name: html</a:t>
              </a:r>
            </a:p>
            <a:p>
              <a:r>
                <a:rPr lang="en-US" altLang="ko-KR" sz="1000" b="1" dirty="0"/>
                <a:t>    </a:t>
              </a:r>
              <a:r>
                <a:rPr lang="en-US" altLang="ko-KR" sz="1000" b="1" dirty="0" err="1"/>
                <a:t>emptyDir</a:t>
              </a:r>
              <a:r>
                <a:rPr lang="en-US" altLang="ko-KR" sz="1000" b="1" dirty="0"/>
                <a:t>: {}</a:t>
              </a:r>
              <a:endParaRPr lang="ko-KR" altLang="en-US" sz="1000" b="1" dirty="0"/>
            </a:p>
          </p:txBody>
        </p:sp>
        <p:sp>
          <p:nvSpPr>
            <p:cNvPr id="9" name="TextBox 8">
              <a:extLst>
                <a:ext uri="{FF2B5EF4-FFF2-40B4-BE49-F238E27FC236}">
                  <a16:creationId xmlns:a16="http://schemas.microsoft.com/office/drawing/2014/main" id="{DE85AD5F-112E-245A-293B-C9E84C6142B5}"/>
                </a:ext>
              </a:extLst>
            </p:cNvPr>
            <p:cNvSpPr txBox="1"/>
            <p:nvPr/>
          </p:nvSpPr>
          <p:spPr>
            <a:xfrm>
              <a:off x="7615088" y="1950477"/>
              <a:ext cx="1529586" cy="246221"/>
            </a:xfrm>
            <a:prstGeom prst="rect">
              <a:avLst/>
            </a:prstGeom>
            <a:noFill/>
          </p:spPr>
          <p:txBody>
            <a:bodyPr wrap="none" rtlCol="0">
              <a:spAutoFit/>
            </a:bodyPr>
            <a:lstStyle/>
            <a:p>
              <a:pPr algn="l"/>
              <a:r>
                <a:rPr lang="en-US" altLang="ko-KR" sz="1000" b="1" dirty="0"/>
                <a:t>fortune-pod-</a:t>
              </a:r>
              <a:r>
                <a:rPr lang="en-US" altLang="ko-KR" sz="1000" b="1" dirty="0" err="1"/>
                <a:t>env.yaml</a:t>
              </a:r>
              <a:endParaRPr lang="ko-KR" altLang="en-US" sz="1000" b="1" dirty="0"/>
            </a:p>
          </p:txBody>
        </p:sp>
      </p:grpSp>
    </p:spTree>
    <p:extLst>
      <p:ext uri="{BB962C8B-B14F-4D97-AF65-F5344CB8AC3E}">
        <p14:creationId xmlns:p14="http://schemas.microsoft.com/office/powerpoint/2010/main" val="37217503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Environment Variables for a Container(4/6)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Environment Variables in a Container Definition :</a:t>
            </a:r>
          </a:p>
          <a:p>
            <a:pPr lvl="1">
              <a:buFont typeface="Wingdings" panose="05000000000000000000" pitchFamily="2" charset="2"/>
              <a:buChar char="§"/>
            </a:pPr>
            <a:r>
              <a:rPr lang="en-US" altLang="ko-KR" sz="1400" dirty="0"/>
              <a:t>To make the docker container image and push it into the Docker hub, you need to run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C57F5F1A-0D16-6C3A-F6BC-655C5D1DC41A}"/>
              </a:ext>
            </a:extLst>
          </p:cNvPr>
          <p:cNvGrpSpPr/>
          <p:nvPr/>
        </p:nvGrpSpPr>
        <p:grpSpPr>
          <a:xfrm>
            <a:off x="1602560" y="1716178"/>
            <a:ext cx="8986880" cy="4327727"/>
            <a:chOff x="1602560" y="1481178"/>
            <a:chExt cx="8986880" cy="4327727"/>
          </a:xfrm>
        </p:grpSpPr>
        <p:grpSp>
          <p:nvGrpSpPr>
            <p:cNvPr id="12" name="그룹 11">
              <a:extLst>
                <a:ext uri="{FF2B5EF4-FFF2-40B4-BE49-F238E27FC236}">
                  <a16:creationId xmlns:a16="http://schemas.microsoft.com/office/drawing/2014/main" id="{2E0D21B1-6B76-B397-A49C-465FB98E51EC}"/>
                </a:ext>
              </a:extLst>
            </p:cNvPr>
            <p:cNvGrpSpPr/>
            <p:nvPr/>
          </p:nvGrpSpPr>
          <p:grpSpPr>
            <a:xfrm>
              <a:off x="1602560" y="1481178"/>
              <a:ext cx="8986880" cy="4327727"/>
              <a:chOff x="1602560" y="1481178"/>
              <a:chExt cx="8986880" cy="4327727"/>
            </a:xfrm>
          </p:grpSpPr>
          <p:pic>
            <p:nvPicPr>
              <p:cNvPr id="8" name="그림 7">
                <a:extLst>
                  <a:ext uri="{FF2B5EF4-FFF2-40B4-BE49-F238E27FC236}">
                    <a16:creationId xmlns:a16="http://schemas.microsoft.com/office/drawing/2014/main" id="{50536D92-1D93-51F9-A704-16404FABB446}"/>
                  </a:ext>
                </a:extLst>
              </p:cNvPr>
              <p:cNvPicPr>
                <a:picLocks noChangeAspect="1"/>
              </p:cNvPicPr>
              <p:nvPr/>
            </p:nvPicPr>
            <p:blipFill>
              <a:blip r:embed="rId2"/>
              <a:stretch>
                <a:fillRect/>
              </a:stretch>
            </p:blipFill>
            <p:spPr>
              <a:xfrm>
                <a:off x="1602560" y="2326489"/>
                <a:ext cx="8986880" cy="3482416"/>
              </a:xfrm>
              <a:prstGeom prst="rect">
                <a:avLst/>
              </a:prstGeom>
            </p:spPr>
          </p:pic>
          <p:sp>
            <p:nvSpPr>
              <p:cNvPr id="10" name="TextBox 9">
                <a:extLst>
                  <a:ext uri="{FF2B5EF4-FFF2-40B4-BE49-F238E27FC236}">
                    <a16:creationId xmlns:a16="http://schemas.microsoft.com/office/drawing/2014/main" id="{DC08198F-979E-8D9E-F27A-09A6A612313A}"/>
                  </a:ext>
                </a:extLst>
              </p:cNvPr>
              <p:cNvSpPr txBox="1"/>
              <p:nvPr/>
            </p:nvSpPr>
            <p:spPr>
              <a:xfrm>
                <a:off x="3047326" y="1481178"/>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chmod</a:t>
                </a:r>
                <a:r>
                  <a:rPr lang="en-US" altLang="ko-KR" sz="1000" b="1" dirty="0"/>
                  <a:t> 0777 fortuneloop.sh</a:t>
                </a:r>
              </a:p>
              <a:p>
                <a:r>
                  <a:rPr lang="en-US" altLang="ko-KR" sz="1000" b="1" dirty="0"/>
                  <a:t>$ docker build -t knix008/</a:t>
                </a:r>
                <a:r>
                  <a:rPr lang="en-US" altLang="ko-KR" sz="1000" b="1" dirty="0" err="1"/>
                  <a:t>fortune:env</a:t>
                </a:r>
                <a:r>
                  <a:rPr lang="en-US" altLang="ko-KR" sz="1000" b="1" dirty="0"/>
                  <a:t> .</a:t>
                </a:r>
              </a:p>
              <a:p>
                <a:r>
                  <a:rPr lang="en-US" altLang="ko-KR" sz="1000" b="1" dirty="0"/>
                  <a:t>$ docker push knix008/</a:t>
                </a:r>
                <a:r>
                  <a:rPr lang="en-US" altLang="ko-KR" sz="1000" b="1" dirty="0" err="1"/>
                  <a:t>fortune:env</a:t>
                </a:r>
                <a:r>
                  <a:rPr lang="en-US" altLang="ko-KR" sz="1000" b="1" dirty="0"/>
                  <a:t> </a:t>
                </a:r>
                <a:endParaRPr lang="ko-KR" altLang="en-US" sz="1000" b="1" dirty="0"/>
              </a:p>
            </p:txBody>
          </p:sp>
          <p:sp>
            <p:nvSpPr>
              <p:cNvPr id="11" name="화살표: 아래쪽 10">
                <a:extLst>
                  <a:ext uri="{FF2B5EF4-FFF2-40B4-BE49-F238E27FC236}">
                    <a16:creationId xmlns:a16="http://schemas.microsoft.com/office/drawing/2014/main" id="{267B504D-2737-897D-8221-AB45AF6B4F43}"/>
                  </a:ext>
                </a:extLst>
              </p:cNvPr>
              <p:cNvSpPr/>
              <p:nvPr/>
            </p:nvSpPr>
            <p:spPr>
              <a:xfrm>
                <a:off x="5853239" y="2035176"/>
                <a:ext cx="485522"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ECB5E1E6-C1B7-441C-EFCF-71E13539ADEA}"/>
                </a:ext>
              </a:extLst>
            </p:cNvPr>
            <p:cNvSpPr/>
            <p:nvPr/>
          </p:nvSpPr>
          <p:spPr>
            <a:xfrm>
              <a:off x="6133763" y="2727016"/>
              <a:ext cx="2306230" cy="3155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4E77145-F7BA-C9A0-4E1E-30DCAD9FFCA3}"/>
                </a:ext>
              </a:extLst>
            </p:cNvPr>
            <p:cNvSpPr/>
            <p:nvPr/>
          </p:nvSpPr>
          <p:spPr>
            <a:xfrm>
              <a:off x="6133763" y="4766209"/>
              <a:ext cx="2014917"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518971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Environment Variables for a Container(5/6)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Specifying Environment Variables in a Container Definition :</a:t>
            </a:r>
          </a:p>
          <a:p>
            <a:pPr lvl="1">
              <a:buFont typeface="Wingdings" panose="05000000000000000000" pitchFamily="2" charset="2"/>
              <a:buChar char="§"/>
            </a:pPr>
            <a:r>
              <a:rPr lang="en-US" altLang="ko-KR" sz="1400" b="1" dirty="0"/>
              <a:t>NOTE : You set the environment variable inside the container definition</a:t>
            </a:r>
            <a:r>
              <a:rPr lang="en-US" altLang="ko-KR" sz="1400" dirty="0"/>
              <a:t>, </a:t>
            </a:r>
            <a:r>
              <a:rPr lang="en-US" altLang="ko-KR" sz="1400" b="1" dirty="0"/>
              <a:t>not at the pod level</a:t>
            </a:r>
            <a:r>
              <a:rPr lang="en-US" altLang="ko-KR" sz="1400" dirty="0"/>
              <a:t>.</a:t>
            </a:r>
          </a:p>
          <a:p>
            <a:pPr lvl="1">
              <a:buFont typeface="Wingdings" panose="05000000000000000000" pitchFamily="2" charset="2"/>
              <a:buChar char="§"/>
            </a:pPr>
            <a:r>
              <a:rPr lang="en-US" altLang="ko-KR" sz="1400" b="1" dirty="0"/>
              <a:t>NOTE : Don’t forget that in each container, Kubernetes also automatically exposes environment variables for each service in the same namespace</a:t>
            </a:r>
            <a:r>
              <a:rPr lang="en-US" altLang="ko-KR" sz="1400" dirty="0"/>
              <a:t>. </a:t>
            </a:r>
            <a:r>
              <a:rPr lang="en-US" altLang="ko-KR" sz="1400" b="1" dirty="0"/>
              <a:t>These environment variables are basically </a:t>
            </a:r>
            <a:r>
              <a:rPr lang="en-US" altLang="ko-KR" sz="1400" b="1" dirty="0">
                <a:solidFill>
                  <a:srgbClr val="FF0000"/>
                </a:solidFill>
              </a:rPr>
              <a:t>auto-injected configuration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65A90E11-3BDD-FC8D-F6D7-AD971F30E429}"/>
              </a:ext>
            </a:extLst>
          </p:cNvPr>
          <p:cNvGrpSpPr/>
          <p:nvPr/>
        </p:nvGrpSpPr>
        <p:grpSpPr>
          <a:xfrm>
            <a:off x="1444765" y="2234854"/>
            <a:ext cx="9302469" cy="3569524"/>
            <a:chOff x="1444764" y="1967816"/>
            <a:chExt cx="9302469" cy="3569524"/>
          </a:xfrm>
        </p:grpSpPr>
        <p:grpSp>
          <p:nvGrpSpPr>
            <p:cNvPr id="12" name="그룹 11">
              <a:extLst>
                <a:ext uri="{FF2B5EF4-FFF2-40B4-BE49-F238E27FC236}">
                  <a16:creationId xmlns:a16="http://schemas.microsoft.com/office/drawing/2014/main" id="{404D74B0-8BAB-25D8-EEBD-487F8F4911E4}"/>
                </a:ext>
              </a:extLst>
            </p:cNvPr>
            <p:cNvGrpSpPr/>
            <p:nvPr/>
          </p:nvGrpSpPr>
          <p:grpSpPr>
            <a:xfrm>
              <a:off x="1444764" y="1967816"/>
              <a:ext cx="9302469" cy="3569524"/>
              <a:chOff x="1444764" y="1967816"/>
              <a:chExt cx="9302469" cy="3569524"/>
            </a:xfrm>
          </p:grpSpPr>
          <p:pic>
            <p:nvPicPr>
              <p:cNvPr id="8" name="그림 7">
                <a:extLst>
                  <a:ext uri="{FF2B5EF4-FFF2-40B4-BE49-F238E27FC236}">
                    <a16:creationId xmlns:a16="http://schemas.microsoft.com/office/drawing/2014/main" id="{BB175081-2AC7-0845-CB1A-75AA5A65EF08}"/>
                  </a:ext>
                </a:extLst>
              </p:cNvPr>
              <p:cNvPicPr>
                <a:picLocks noChangeAspect="1"/>
              </p:cNvPicPr>
              <p:nvPr/>
            </p:nvPicPr>
            <p:blipFill>
              <a:blip r:embed="rId2"/>
              <a:stretch>
                <a:fillRect/>
              </a:stretch>
            </p:blipFill>
            <p:spPr>
              <a:xfrm>
                <a:off x="1444764" y="2824120"/>
                <a:ext cx="9302469" cy="2713220"/>
              </a:xfrm>
              <a:prstGeom prst="rect">
                <a:avLst/>
              </a:prstGeom>
            </p:spPr>
          </p:pic>
          <p:sp>
            <p:nvSpPr>
              <p:cNvPr id="10" name="TextBox 9">
                <a:extLst>
                  <a:ext uri="{FF2B5EF4-FFF2-40B4-BE49-F238E27FC236}">
                    <a16:creationId xmlns:a16="http://schemas.microsoft.com/office/drawing/2014/main" id="{673ADA28-8E9E-36DD-8427-EA5E5FB33449}"/>
                  </a:ext>
                </a:extLst>
              </p:cNvPr>
              <p:cNvSpPr txBox="1"/>
              <p:nvPr/>
            </p:nvSpPr>
            <p:spPr>
              <a:xfrm>
                <a:off x="3047325" y="1967816"/>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fortune-pod-</a:t>
                </a:r>
                <a:r>
                  <a:rPr lang="en-US" altLang="ko-KR" sz="1000" b="1" dirty="0" err="1">
                    <a:solidFill>
                      <a:srgbClr val="FF0000"/>
                    </a:solidFill>
                  </a:rPr>
                  <a:t>env.yaml</a:t>
                </a:r>
                <a:r>
                  <a:rPr lang="en-US" altLang="ko-KR" sz="1000" b="1" dirty="0">
                    <a:solidFill>
                      <a:srgbClr val="FF0000"/>
                    </a:solidFill>
                  </a:rPr>
                  <a:t> </a:t>
                </a:r>
              </a:p>
              <a:p>
                <a:r>
                  <a:rPr lang="en-US" altLang="ko-KR" sz="1000" b="1" dirty="0"/>
                  <a:t>$ </a:t>
                </a:r>
                <a:r>
                  <a:rPr lang="en-US" altLang="ko-KR" sz="1000" b="1" dirty="0" err="1"/>
                  <a:t>kubectl</a:t>
                </a:r>
                <a:r>
                  <a:rPr lang="en-US" altLang="ko-KR" sz="1000" b="1" dirty="0"/>
                  <a:t> get pods</a:t>
                </a:r>
              </a:p>
              <a:p>
                <a:r>
                  <a:rPr lang="en-US" altLang="ko-KR" sz="1000" b="1" dirty="0"/>
                  <a:t>$ </a:t>
                </a:r>
                <a:r>
                  <a:rPr lang="en-US" altLang="ko-KR" sz="1000" b="1" dirty="0" err="1"/>
                  <a:t>kubectl</a:t>
                </a:r>
                <a:r>
                  <a:rPr lang="en-US" altLang="ko-KR" sz="1000" b="1" dirty="0"/>
                  <a:t> logs </a:t>
                </a:r>
                <a:r>
                  <a:rPr lang="en-US" altLang="ko-KR" sz="1000" b="1" dirty="0">
                    <a:solidFill>
                      <a:srgbClr val="FF0000"/>
                    </a:solidFill>
                  </a:rPr>
                  <a:t>fortune-env</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8287735F-E69A-BA65-7CC0-E57ECE717C16}"/>
                  </a:ext>
                </a:extLst>
              </p:cNvPr>
              <p:cNvSpPr/>
              <p:nvPr/>
            </p:nvSpPr>
            <p:spPr>
              <a:xfrm>
                <a:off x="5869423" y="2516623"/>
                <a:ext cx="453154"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42E7587C-4C86-E014-95C8-3AC603079BE9}"/>
                </a:ext>
              </a:extLst>
            </p:cNvPr>
            <p:cNvSpPr/>
            <p:nvPr/>
          </p:nvSpPr>
          <p:spPr>
            <a:xfrm>
              <a:off x="5373112" y="3228722"/>
              <a:ext cx="2451886" cy="2083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273555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Setting Environment Variables for a Container(6/6)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Referring to Other Environment Variables in a Variable’s Value :</a:t>
            </a:r>
          </a:p>
          <a:p>
            <a:pPr lvl="1">
              <a:buFont typeface="Wingdings" panose="05000000000000000000" pitchFamily="2" charset="2"/>
              <a:buChar char="§"/>
            </a:pPr>
            <a:r>
              <a:rPr lang="en-US" altLang="ko-KR" sz="1400" dirty="0"/>
              <a:t>In the previous example, you set a fixed value for the environment variable, but </a:t>
            </a:r>
            <a:r>
              <a:rPr lang="en-US" altLang="ko-KR" sz="1400" b="1" dirty="0"/>
              <a:t>you can also reference previously defined environment variables or any other existing variables by using the “</a:t>
            </a:r>
            <a:r>
              <a:rPr lang="en-US" altLang="ko-KR" sz="1400" b="1" dirty="0">
                <a:solidFill>
                  <a:srgbClr val="FF0000"/>
                </a:solidFill>
              </a:rPr>
              <a:t>$(VAR)</a:t>
            </a:r>
            <a:r>
              <a:rPr lang="en-US" altLang="ko-KR" sz="1400" b="1" dirty="0"/>
              <a:t>” syntax</a:t>
            </a:r>
            <a:r>
              <a:rPr lang="en-US" altLang="ko-KR" sz="1400" dirty="0"/>
              <a:t>. If you define two environment variables, the second one can include the value of the first one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this case, the “</a:t>
            </a:r>
            <a:r>
              <a:rPr lang="en-US" altLang="ko-KR" sz="1400" b="1" dirty="0"/>
              <a:t>SECOND_VAR</a:t>
            </a:r>
            <a:r>
              <a:rPr lang="en-US" altLang="ko-KR" sz="1400" dirty="0"/>
              <a:t>”’s value will be "</a:t>
            </a:r>
            <a:r>
              <a:rPr lang="en-US" altLang="ko-KR" sz="1400" b="1" dirty="0" err="1"/>
              <a:t>foobar</a:t>
            </a:r>
            <a:r>
              <a:rPr lang="en-US" altLang="ko-KR" sz="1400" dirty="0"/>
              <a:t>". Similarly, </a:t>
            </a:r>
            <a:r>
              <a:rPr lang="en-US" altLang="ko-KR" sz="1400" b="1" dirty="0"/>
              <a:t>both the “command” and “</a:t>
            </a:r>
            <a:r>
              <a:rPr lang="en-US" altLang="ko-KR" sz="1400" b="1" dirty="0" err="1"/>
              <a:t>args</a:t>
            </a:r>
            <a:r>
              <a:rPr lang="en-US" altLang="ko-KR" sz="1400" b="1" dirty="0"/>
              <a:t>” attributes can also refer to environment variables like this</a:t>
            </a:r>
            <a:r>
              <a:rPr lang="en-US" altLang="ko-KR" sz="1400" dirty="0"/>
              <a:t>. </a:t>
            </a:r>
          </a:p>
          <a:p>
            <a:pPr lvl="1">
              <a:buFont typeface="Wingdings" panose="05000000000000000000" pitchFamily="2" charset="2"/>
              <a:buChar char="§"/>
            </a:pPr>
            <a:r>
              <a:rPr lang="en-US" altLang="ko-KR" sz="1400" dirty="0"/>
              <a:t>Having values effectively hardcoded in the pod definition means you need to have separate pod definitions for your production and your development pods. </a:t>
            </a:r>
            <a:r>
              <a:rPr lang="en-US" altLang="ko-KR" sz="1400" b="1" dirty="0"/>
              <a:t>To reuse the same pod definition in multiple environments, it makes sense to </a:t>
            </a:r>
            <a:r>
              <a:rPr lang="en-US" altLang="ko-KR" sz="1400" b="1" dirty="0">
                <a:solidFill>
                  <a:srgbClr val="FF0000"/>
                </a:solidFill>
              </a:rPr>
              <a:t>decouple the configuration from the pod descriptor</a:t>
            </a:r>
            <a:r>
              <a:rPr lang="en-US" altLang="ko-KR" sz="1400" dirty="0"/>
              <a:t>. Luckily, you can do that using a “</a:t>
            </a:r>
            <a:r>
              <a:rPr lang="en-US" altLang="ko-KR" sz="1400" b="1" dirty="0" err="1"/>
              <a:t>ConfigMap</a:t>
            </a:r>
            <a:r>
              <a:rPr lang="en-US" altLang="ko-KR" sz="1400" b="1" dirty="0"/>
              <a:t>”</a:t>
            </a:r>
            <a:r>
              <a:rPr lang="en-US" altLang="ko-KR" sz="1400" dirty="0"/>
              <a:t> </a:t>
            </a:r>
            <a:r>
              <a:rPr lang="en-US" altLang="ko-KR" sz="1400" b="1" dirty="0"/>
              <a:t>resource and using it as a source for environment variable values using the “</a:t>
            </a:r>
            <a:r>
              <a:rPr lang="en-US" altLang="ko-KR" sz="1400" b="1" dirty="0" err="1">
                <a:solidFill>
                  <a:srgbClr val="FF0000"/>
                </a:solidFill>
              </a:rPr>
              <a:t>valueFrom</a:t>
            </a:r>
            <a:r>
              <a:rPr lang="en-US" altLang="ko-KR" sz="1400" b="1" dirty="0"/>
              <a:t>” instead of the “value” field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CE95CFD-12DA-6CBA-37CC-7350CF77FD05}"/>
              </a:ext>
            </a:extLst>
          </p:cNvPr>
          <p:cNvSpPr txBox="1"/>
          <p:nvPr/>
        </p:nvSpPr>
        <p:spPr>
          <a:xfrm>
            <a:off x="3047326" y="2004536"/>
            <a:ext cx="6097348" cy="1169551"/>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env:</a:t>
            </a:r>
          </a:p>
          <a:p>
            <a:r>
              <a:rPr lang="en-US" altLang="ko-KR" sz="1000" b="1" dirty="0">
                <a:solidFill>
                  <a:srgbClr val="FF0000"/>
                </a:solidFill>
              </a:rPr>
              <a:t>- name: FIRST_VAR</a:t>
            </a:r>
          </a:p>
          <a:p>
            <a:r>
              <a:rPr lang="en-US" altLang="ko-KR" sz="1000" b="1" dirty="0">
                <a:solidFill>
                  <a:srgbClr val="FF0000"/>
                </a:solidFill>
              </a:rPr>
              <a:t>  value: "foo"</a:t>
            </a:r>
          </a:p>
          <a:p>
            <a:r>
              <a:rPr lang="en-US" altLang="ko-KR" sz="1000" b="1" dirty="0">
                <a:solidFill>
                  <a:srgbClr val="FF0000"/>
                </a:solidFill>
              </a:rPr>
              <a:t>- name: SECOND_VAR</a:t>
            </a:r>
          </a:p>
          <a:p>
            <a:r>
              <a:rPr lang="en-US" altLang="ko-KR" sz="1000" b="1" dirty="0">
                <a:solidFill>
                  <a:srgbClr val="FF0000"/>
                </a:solidFill>
              </a:rPr>
              <a:t>  value: "$(FIRST_VAR)bar“</a:t>
            </a:r>
          </a:p>
          <a:p>
            <a:r>
              <a:rPr lang="en-US" altLang="ko-KR" sz="1000" b="1" dirty="0"/>
              <a:t>…</a:t>
            </a:r>
          </a:p>
        </p:txBody>
      </p:sp>
    </p:spTree>
    <p:extLst>
      <p:ext uri="{BB962C8B-B14F-4D97-AF65-F5344CB8AC3E}">
        <p14:creationId xmlns:p14="http://schemas.microsoft.com/office/powerpoint/2010/main" val="31247830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a:t>
            </a:r>
            <a:r>
              <a:rPr lang="en-US" altLang="ko-KR" sz="1800" b="1" dirty="0" err="1"/>
              <a:t>ConfigMaps</a:t>
            </a:r>
            <a:r>
              <a:rPr lang="en-US" altLang="ko-KR" sz="1800" b="1" dirty="0"/>
              <a:t> :</a:t>
            </a:r>
          </a:p>
          <a:p>
            <a:pPr lvl="1">
              <a:buFont typeface="Wingdings" panose="05000000000000000000" pitchFamily="2" charset="2"/>
              <a:buChar char="§"/>
            </a:pPr>
            <a:r>
              <a:rPr lang="en-US" altLang="ko-KR" sz="1400" b="1" dirty="0"/>
              <a:t>The whole point of an app’s configuration is to keep the config options that vary between environments, or change frequently, separate from the application’s source code</a:t>
            </a:r>
            <a:r>
              <a:rPr lang="en-US" altLang="ko-KR" sz="1400" dirty="0"/>
              <a:t>. If you think of a pod descriptor as source code for your app (and in microservices architectures that’s what it really is, because it defines how to compose the individual components into a functioning system), it’s clear </a:t>
            </a:r>
            <a:r>
              <a:rPr lang="en-US" altLang="ko-KR" sz="1400" b="1" dirty="0"/>
              <a:t>you should move the configuration out of the pod description</a:t>
            </a:r>
            <a:r>
              <a:rPr lang="en-US" altLang="ko-KR" sz="1400" dirty="0"/>
              <a:t>.</a:t>
            </a:r>
          </a:p>
          <a:p>
            <a:pPr lvl="1">
              <a:buFont typeface="Wingdings" panose="05000000000000000000" pitchFamily="2" charset="2"/>
              <a:buChar char="§"/>
            </a:pPr>
            <a:r>
              <a:rPr lang="en-US" altLang="ko-KR" sz="1400" b="1" dirty="0"/>
              <a:t>Kubernetes allows separating configuration options into a separate object called a </a:t>
            </a:r>
            <a:r>
              <a:rPr lang="en-US" altLang="ko-KR" sz="1400" b="1" dirty="0" err="1">
                <a:solidFill>
                  <a:srgbClr val="FF0000"/>
                </a:solidFill>
              </a:rPr>
              <a:t>ConfigMap</a:t>
            </a:r>
            <a:r>
              <a:rPr lang="en-US" altLang="ko-KR" sz="1400" dirty="0"/>
              <a:t>, </a:t>
            </a:r>
            <a:r>
              <a:rPr lang="en-US" altLang="ko-KR" sz="1400" b="1" dirty="0"/>
              <a:t>which is a map containing </a:t>
            </a:r>
            <a:r>
              <a:rPr lang="en-US" altLang="ko-KR" sz="1400" b="1" dirty="0">
                <a:solidFill>
                  <a:srgbClr val="FF0000"/>
                </a:solidFill>
              </a:rPr>
              <a:t>key/value pairs</a:t>
            </a:r>
            <a:r>
              <a:rPr lang="en-US" altLang="ko-KR" sz="1400" b="1" dirty="0"/>
              <a:t> with the values ranging from short literals to full config files</a:t>
            </a:r>
            <a:r>
              <a:rPr lang="en-US" altLang="ko-KR" sz="1400" dirty="0"/>
              <a:t>.</a:t>
            </a:r>
          </a:p>
          <a:p>
            <a:pPr lvl="1">
              <a:buFont typeface="Wingdings" panose="05000000000000000000" pitchFamily="2" charset="2"/>
              <a:buChar char="§"/>
            </a:pPr>
            <a:r>
              <a:rPr lang="en-US" altLang="ko-KR" sz="1400" b="1" dirty="0"/>
              <a:t>An application doesn’t need to read the </a:t>
            </a:r>
            <a:r>
              <a:rPr lang="en-US" altLang="ko-KR" sz="1400" b="1" dirty="0" err="1"/>
              <a:t>ConfigMap</a:t>
            </a:r>
            <a:r>
              <a:rPr lang="en-US" altLang="ko-KR" sz="1400" b="1" dirty="0"/>
              <a:t> directly or even know that it exists</a:t>
            </a:r>
            <a:r>
              <a:rPr lang="en-US" altLang="ko-KR" sz="1400" dirty="0"/>
              <a:t>. </a:t>
            </a:r>
            <a:r>
              <a:rPr lang="en-US" altLang="ko-KR" sz="1400" b="1" dirty="0"/>
              <a:t>The contents of the map are instead passed to containers as either environment variables or as files in a volume (see the following figure)</a:t>
            </a:r>
            <a:r>
              <a:rPr lang="en-US" altLang="ko-KR" sz="1400" dirty="0"/>
              <a:t>. And because environment variables can be referenced in command-line arguments using the “</a:t>
            </a:r>
            <a:r>
              <a:rPr lang="en-US" altLang="ko-KR" sz="1400" b="1" dirty="0">
                <a:solidFill>
                  <a:srgbClr val="FF0000"/>
                </a:solidFill>
              </a:rPr>
              <a:t>$(ENV_VAR)</a:t>
            </a:r>
            <a:r>
              <a:rPr lang="en-US" altLang="ko-KR" sz="1400" dirty="0"/>
              <a:t>” syntax, </a:t>
            </a:r>
            <a:r>
              <a:rPr lang="en-US" altLang="ko-KR" sz="1400" b="1" dirty="0"/>
              <a:t>you can also pass </a:t>
            </a:r>
            <a:r>
              <a:rPr lang="en-US" altLang="ko-KR" sz="1400" b="1" dirty="0" err="1"/>
              <a:t>ConfigMap</a:t>
            </a:r>
            <a:r>
              <a:rPr lang="en-US" altLang="ko-KR" sz="1400" b="1" dirty="0"/>
              <a:t> entries to processes as command-line arguments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D98DA64-0E01-0BAB-1145-AF1570CC7B14}"/>
              </a:ext>
            </a:extLst>
          </p:cNvPr>
          <p:cNvPicPr>
            <a:picLocks noChangeAspect="1"/>
          </p:cNvPicPr>
          <p:nvPr/>
        </p:nvPicPr>
        <p:blipFill>
          <a:blip r:embed="rId2"/>
          <a:stretch>
            <a:fillRect/>
          </a:stretch>
        </p:blipFill>
        <p:spPr>
          <a:xfrm>
            <a:off x="4793226" y="3597787"/>
            <a:ext cx="2605548" cy="1818968"/>
          </a:xfrm>
          <a:prstGeom prst="rect">
            <a:avLst/>
          </a:prstGeom>
        </p:spPr>
      </p:pic>
    </p:spTree>
    <p:extLst>
      <p:ext uri="{BB962C8B-B14F-4D97-AF65-F5344CB8AC3E}">
        <p14:creationId xmlns:p14="http://schemas.microsoft.com/office/powerpoint/2010/main" val="10153593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a:t>
            </a:r>
            <a:r>
              <a:rPr lang="en-US" altLang="ko-KR" sz="1800" b="1" dirty="0" err="1"/>
              <a:t>ConfigMaps</a:t>
            </a:r>
            <a:r>
              <a:rPr lang="en-US" altLang="ko-KR" sz="1800" b="1" dirty="0"/>
              <a:t> :</a:t>
            </a:r>
          </a:p>
          <a:p>
            <a:pPr lvl="1">
              <a:buFont typeface="Wingdings" panose="05000000000000000000" pitchFamily="2" charset="2"/>
              <a:buChar char="§"/>
            </a:pPr>
            <a:r>
              <a:rPr lang="en-US" altLang="ko-KR" sz="1400" b="1" dirty="0"/>
              <a:t>The application can also read the contents of a </a:t>
            </a:r>
            <a:r>
              <a:rPr lang="en-US" altLang="ko-KR" sz="1400" b="1" dirty="0" err="1"/>
              <a:t>ConfigMap</a:t>
            </a:r>
            <a:r>
              <a:rPr lang="en-US" altLang="ko-KR" sz="1400" b="1" dirty="0"/>
              <a:t> directly through the Kubernetes REST API endpoint if needed, but unless you have a real need for this, you should </a:t>
            </a:r>
            <a:r>
              <a:rPr lang="en-US" altLang="ko-KR" sz="1400" b="1" dirty="0">
                <a:solidFill>
                  <a:srgbClr val="FF0000"/>
                </a:solidFill>
              </a:rPr>
              <a:t>keep your app Kubernetes-agnostic</a:t>
            </a:r>
            <a:r>
              <a:rPr lang="en-US" altLang="ko-KR" sz="1400" b="1" dirty="0"/>
              <a:t> as much as possible</a:t>
            </a:r>
            <a:r>
              <a:rPr lang="en-US" altLang="ko-KR" sz="1400" dirty="0"/>
              <a:t>.</a:t>
            </a:r>
          </a:p>
          <a:p>
            <a:pPr lvl="1">
              <a:buFont typeface="Wingdings" panose="05000000000000000000" pitchFamily="2" charset="2"/>
              <a:buChar char="§"/>
            </a:pPr>
            <a:r>
              <a:rPr lang="en-US" altLang="ko-KR" sz="1400" b="1" dirty="0"/>
              <a:t>Regardless of how an app consumes a </a:t>
            </a:r>
            <a:r>
              <a:rPr lang="en-US" altLang="ko-KR" sz="1400" b="1" dirty="0" err="1"/>
              <a:t>ConfigMap</a:t>
            </a:r>
            <a:r>
              <a:rPr lang="en-US" altLang="ko-KR" sz="1400" b="1" dirty="0"/>
              <a:t>, having the config in a separate standalone object like this allows you to keep </a:t>
            </a:r>
            <a:r>
              <a:rPr lang="en-US" altLang="ko-KR" sz="1400" b="1" dirty="0">
                <a:solidFill>
                  <a:srgbClr val="FF0000"/>
                </a:solidFill>
              </a:rPr>
              <a:t>multiple manifests for </a:t>
            </a:r>
            <a:r>
              <a:rPr lang="en-US" altLang="ko-KR" sz="1400" b="1" dirty="0" err="1">
                <a:solidFill>
                  <a:srgbClr val="FF0000"/>
                </a:solidFill>
              </a:rPr>
              <a:t>ConfigMaps</a:t>
            </a:r>
            <a:r>
              <a:rPr lang="en-US" altLang="ko-KR" sz="1400" b="1" dirty="0">
                <a:solidFill>
                  <a:srgbClr val="FF0000"/>
                </a:solidFill>
              </a:rPr>
              <a:t> with the same name</a:t>
            </a:r>
            <a:r>
              <a:rPr lang="en-US" altLang="ko-KR" sz="1400" b="1" dirty="0"/>
              <a:t>, each for a different environment (development, testing, QA, production, and so on). </a:t>
            </a:r>
            <a:r>
              <a:rPr lang="en-US" altLang="ko-KR" sz="1400" dirty="0"/>
              <a:t>Because pods reference the </a:t>
            </a:r>
            <a:r>
              <a:rPr lang="en-US" altLang="ko-KR" sz="1400" dirty="0" err="1"/>
              <a:t>ConfigMap</a:t>
            </a:r>
            <a:r>
              <a:rPr lang="en-US" altLang="ko-KR" sz="1400" dirty="0"/>
              <a:t> by name, you can use a different config in each environment while using the same pod specification across all of them (see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B1AB037-A392-F39C-B35F-4B4787563DB9}"/>
              </a:ext>
            </a:extLst>
          </p:cNvPr>
          <p:cNvGrpSpPr/>
          <p:nvPr/>
        </p:nvGrpSpPr>
        <p:grpSpPr>
          <a:xfrm>
            <a:off x="3943350" y="3110377"/>
            <a:ext cx="4305300" cy="2514600"/>
            <a:chOff x="3943350" y="3110377"/>
            <a:chExt cx="4305300" cy="2514600"/>
          </a:xfrm>
        </p:grpSpPr>
        <p:pic>
          <p:nvPicPr>
            <p:cNvPr id="8" name="그림 7">
              <a:extLst>
                <a:ext uri="{FF2B5EF4-FFF2-40B4-BE49-F238E27FC236}">
                  <a16:creationId xmlns:a16="http://schemas.microsoft.com/office/drawing/2014/main" id="{BC8D2320-D8D9-D73A-B6B4-0DCB966C454F}"/>
                </a:ext>
              </a:extLst>
            </p:cNvPr>
            <p:cNvPicPr>
              <a:picLocks noChangeAspect="1"/>
            </p:cNvPicPr>
            <p:nvPr/>
          </p:nvPicPr>
          <p:blipFill>
            <a:blip r:embed="rId2"/>
            <a:stretch>
              <a:fillRect/>
            </a:stretch>
          </p:blipFill>
          <p:spPr>
            <a:xfrm>
              <a:off x="3943350" y="3110377"/>
              <a:ext cx="4305300" cy="2514600"/>
            </a:xfrm>
            <a:prstGeom prst="rect">
              <a:avLst/>
            </a:prstGeom>
          </p:spPr>
        </p:pic>
        <p:sp>
          <p:nvSpPr>
            <p:cNvPr id="9" name="직사각형 8">
              <a:extLst>
                <a:ext uri="{FF2B5EF4-FFF2-40B4-BE49-F238E27FC236}">
                  <a16:creationId xmlns:a16="http://schemas.microsoft.com/office/drawing/2014/main" id="{7C7164A0-6FA6-DB83-CA41-59ED0FBAB374}"/>
                </a:ext>
              </a:extLst>
            </p:cNvPr>
            <p:cNvSpPr/>
            <p:nvPr/>
          </p:nvSpPr>
          <p:spPr>
            <a:xfrm>
              <a:off x="6104092" y="3110377"/>
              <a:ext cx="1413409" cy="3853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87947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(3/31)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dirty="0"/>
              <a:t>To start with the simplest example, you’ll first </a:t>
            </a:r>
            <a:r>
              <a:rPr lang="en-US" altLang="ko-KR" sz="1400" b="1" dirty="0"/>
              <a:t>create a map with a single key</a:t>
            </a:r>
            <a:r>
              <a:rPr lang="en-US" altLang="ko-KR" sz="1400" dirty="0"/>
              <a:t> and use it to fill the “</a:t>
            </a:r>
            <a:r>
              <a:rPr lang="en-US" altLang="ko-KR" sz="1400" b="1" dirty="0"/>
              <a:t>INTERVAL</a:t>
            </a:r>
            <a:r>
              <a:rPr lang="en-US" altLang="ko-KR" sz="1400" dirty="0"/>
              <a:t>” environment variable from your previous example. </a:t>
            </a:r>
            <a:r>
              <a:rPr lang="en-US" altLang="ko-KR" sz="1400" b="1" dirty="0"/>
              <a:t>You’ll create the </a:t>
            </a:r>
            <a:r>
              <a:rPr lang="en-US" altLang="ko-KR" sz="1400" b="1" dirty="0" err="1"/>
              <a:t>ConfigMap</a:t>
            </a:r>
            <a:r>
              <a:rPr lang="en-US" altLang="ko-KR" sz="1400" b="1" dirty="0"/>
              <a:t> with the special “</a:t>
            </a:r>
            <a:r>
              <a:rPr lang="en-US" altLang="ko-KR" sz="1400" b="1" dirty="0" err="1">
                <a:solidFill>
                  <a:srgbClr val="FF0000"/>
                </a:solidFill>
              </a:rPr>
              <a:t>kubectl</a:t>
            </a:r>
            <a:r>
              <a:rPr lang="en-US" altLang="ko-KR" sz="1400" b="1" dirty="0">
                <a:solidFill>
                  <a:srgbClr val="FF0000"/>
                </a:solidFill>
              </a:rPr>
              <a:t> create </a:t>
            </a:r>
            <a:r>
              <a:rPr lang="en-US" altLang="ko-KR" sz="1400" b="1" dirty="0" err="1">
                <a:solidFill>
                  <a:srgbClr val="FF0000"/>
                </a:solidFill>
              </a:rPr>
              <a:t>configmap</a:t>
            </a:r>
            <a:r>
              <a:rPr lang="en-US" altLang="ko-KR" sz="1400" b="1" dirty="0"/>
              <a:t>” command instead of posting a YAML with the generic “</a:t>
            </a:r>
            <a:r>
              <a:rPr lang="en-US" altLang="ko-KR" sz="1400" b="1" dirty="0" err="1"/>
              <a:t>kubectl</a:t>
            </a:r>
            <a:r>
              <a:rPr lang="en-US" altLang="ko-KR" sz="1400" b="1" dirty="0"/>
              <a:t> create –f” command</a:t>
            </a:r>
            <a:r>
              <a:rPr lang="en-US" altLang="ko-KR" sz="1400" dirty="0"/>
              <a:t>.</a:t>
            </a:r>
          </a:p>
          <a:p>
            <a:pPr lvl="1">
              <a:buFont typeface="Wingdings" panose="05000000000000000000" pitchFamily="2" charset="2"/>
              <a:buChar char="§"/>
            </a:pPr>
            <a:r>
              <a:rPr lang="en-US" altLang="ko-KR" sz="1400" b="1" dirty="0"/>
              <a:t>You can define the map’s entries by passing literals to the “</a:t>
            </a:r>
            <a:r>
              <a:rPr lang="en-US" altLang="ko-KR" sz="1400" b="1" dirty="0" err="1"/>
              <a:t>kubectl</a:t>
            </a:r>
            <a:r>
              <a:rPr lang="en-US" altLang="ko-KR" sz="1400" b="1" dirty="0"/>
              <a:t>” command </a:t>
            </a:r>
            <a:r>
              <a:rPr lang="en-US" altLang="ko-KR" sz="1400" dirty="0"/>
              <a:t>or you can “</a:t>
            </a:r>
            <a:r>
              <a:rPr lang="en-US" altLang="ko-KR" sz="1400" b="1" dirty="0"/>
              <a:t>create the </a:t>
            </a:r>
            <a:r>
              <a:rPr lang="en-US" altLang="ko-KR" sz="1400" b="1" dirty="0" err="1"/>
              <a:t>ConfigMap</a:t>
            </a:r>
            <a:r>
              <a:rPr lang="en-US" altLang="ko-KR" sz="1400" b="1" dirty="0"/>
              <a:t> from files</a:t>
            </a:r>
            <a:r>
              <a:rPr lang="en-US" altLang="ko-KR" sz="1400" dirty="0"/>
              <a:t>” stored on your disk. Use a simple literal first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t>
            </a:r>
            <a:r>
              <a:rPr lang="en-US" altLang="ko-KR" sz="1400" b="1" dirty="0" err="1"/>
              <a:t>ConfigMap</a:t>
            </a:r>
            <a:r>
              <a:rPr lang="en-US" altLang="ko-KR" sz="1400" b="1" dirty="0"/>
              <a:t> keys must be a valid DNS subdomain </a:t>
            </a:r>
            <a:r>
              <a:rPr lang="en-US" altLang="ko-KR" sz="1400" dirty="0"/>
              <a:t>(they may only contain </a:t>
            </a:r>
            <a:r>
              <a:rPr lang="en-US" altLang="ko-KR" sz="1400" b="1" dirty="0"/>
              <a:t>alphanumeric characters</a:t>
            </a:r>
            <a:r>
              <a:rPr lang="en-US" altLang="ko-KR" sz="1400" dirty="0"/>
              <a:t>, </a:t>
            </a:r>
            <a:r>
              <a:rPr lang="en-US" altLang="ko-KR" sz="1400" b="1" dirty="0"/>
              <a:t>dashes</a:t>
            </a:r>
            <a:r>
              <a:rPr lang="en-US" altLang="ko-KR" sz="1400" dirty="0"/>
              <a:t>, </a:t>
            </a:r>
            <a:r>
              <a:rPr lang="en-US" altLang="ko-KR" sz="1400" b="1" dirty="0"/>
              <a:t>underscores</a:t>
            </a:r>
            <a:r>
              <a:rPr lang="en-US" altLang="ko-KR" sz="1400" dirty="0"/>
              <a:t>, and </a:t>
            </a:r>
            <a:r>
              <a:rPr lang="en-US" altLang="ko-KR" sz="1400" b="1" dirty="0"/>
              <a:t>dots</a:t>
            </a:r>
            <a:r>
              <a:rPr lang="en-US" altLang="ko-KR" sz="1400" dirty="0"/>
              <a:t>). They may optionally include </a:t>
            </a:r>
            <a:r>
              <a:rPr lang="en-US" altLang="ko-KR" sz="1400" b="1" dirty="0"/>
              <a:t>a leading dot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52EEA36F-D7BA-2DB9-2AB0-01BEC1467AE0}"/>
              </a:ext>
            </a:extLst>
          </p:cNvPr>
          <p:cNvGrpSpPr/>
          <p:nvPr/>
        </p:nvGrpSpPr>
        <p:grpSpPr>
          <a:xfrm>
            <a:off x="1343615" y="2379574"/>
            <a:ext cx="9504770" cy="2094439"/>
            <a:chOff x="1343615" y="2379574"/>
            <a:chExt cx="9504770" cy="2094439"/>
          </a:xfrm>
        </p:grpSpPr>
        <p:grpSp>
          <p:nvGrpSpPr>
            <p:cNvPr id="13" name="그룹 12">
              <a:extLst>
                <a:ext uri="{FF2B5EF4-FFF2-40B4-BE49-F238E27FC236}">
                  <a16:creationId xmlns:a16="http://schemas.microsoft.com/office/drawing/2014/main" id="{B67A14D7-62ED-4D3D-ED0D-01EE17ECFF28}"/>
                </a:ext>
              </a:extLst>
            </p:cNvPr>
            <p:cNvGrpSpPr/>
            <p:nvPr/>
          </p:nvGrpSpPr>
          <p:grpSpPr>
            <a:xfrm>
              <a:off x="1343615" y="2379574"/>
              <a:ext cx="9504770" cy="2094439"/>
              <a:chOff x="1343615" y="2379574"/>
              <a:chExt cx="9504770" cy="2094439"/>
            </a:xfrm>
          </p:grpSpPr>
          <p:grpSp>
            <p:nvGrpSpPr>
              <p:cNvPr id="10" name="그룹 9">
                <a:extLst>
                  <a:ext uri="{FF2B5EF4-FFF2-40B4-BE49-F238E27FC236}">
                    <a16:creationId xmlns:a16="http://schemas.microsoft.com/office/drawing/2014/main" id="{1C1EA84B-C456-4392-4399-FC5AAF0F7200}"/>
                  </a:ext>
                </a:extLst>
              </p:cNvPr>
              <p:cNvGrpSpPr/>
              <p:nvPr/>
            </p:nvGrpSpPr>
            <p:grpSpPr>
              <a:xfrm>
                <a:off x="3047326" y="2379574"/>
                <a:ext cx="6097348" cy="557835"/>
                <a:chOff x="3047326" y="2379574"/>
                <a:chExt cx="6097348" cy="557835"/>
              </a:xfrm>
            </p:grpSpPr>
            <p:sp>
              <p:nvSpPr>
                <p:cNvPr id="8" name="TextBox 7">
                  <a:extLst>
                    <a:ext uri="{FF2B5EF4-FFF2-40B4-BE49-F238E27FC236}">
                      <a16:creationId xmlns:a16="http://schemas.microsoft.com/office/drawing/2014/main" id="{CD4E729A-3558-1CEF-437F-BE4977C78C48}"/>
                    </a:ext>
                  </a:extLst>
                </p:cNvPr>
                <p:cNvSpPr txBox="1"/>
                <p:nvPr/>
              </p:nvSpPr>
              <p:spPr>
                <a:xfrm>
                  <a:off x="3047326" y="237957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configmap</a:t>
                  </a:r>
                  <a:r>
                    <a:rPr lang="en-US" altLang="ko-KR" sz="1000" b="1" dirty="0">
                      <a:solidFill>
                        <a:srgbClr val="FF0000"/>
                      </a:solidFill>
                    </a:rPr>
                    <a:t> fortune-config --from-literal=sleep-interval=10</a:t>
                  </a:r>
                </a:p>
              </p:txBody>
            </p:sp>
            <p:sp>
              <p:nvSpPr>
                <p:cNvPr id="9" name="화살표: 아래쪽 8">
                  <a:extLst>
                    <a:ext uri="{FF2B5EF4-FFF2-40B4-BE49-F238E27FC236}">
                      <a16:creationId xmlns:a16="http://schemas.microsoft.com/office/drawing/2014/main" id="{02AE1266-7324-E464-58ED-5617E15ADE9E}"/>
                    </a:ext>
                  </a:extLst>
                </p:cNvPr>
                <p:cNvSpPr/>
                <p:nvPr/>
              </p:nvSpPr>
              <p:spPr>
                <a:xfrm>
                  <a:off x="5869423" y="2646096"/>
                  <a:ext cx="453154"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8703C8BF-E12B-E94B-BEF7-1FD63DBD0DD1}"/>
                  </a:ext>
                </a:extLst>
              </p:cNvPr>
              <p:cNvPicPr>
                <a:picLocks noChangeAspect="1"/>
              </p:cNvPicPr>
              <p:nvPr/>
            </p:nvPicPr>
            <p:blipFill>
              <a:blip r:embed="rId2"/>
              <a:stretch>
                <a:fillRect/>
              </a:stretch>
            </p:blipFill>
            <p:spPr>
              <a:xfrm>
                <a:off x="1343615" y="2937409"/>
                <a:ext cx="9504770" cy="1536604"/>
              </a:xfrm>
              <a:prstGeom prst="rect">
                <a:avLst/>
              </a:prstGeom>
            </p:spPr>
          </p:pic>
        </p:grpSp>
        <p:sp>
          <p:nvSpPr>
            <p:cNvPr id="14" name="직사각형 13">
              <a:extLst>
                <a:ext uri="{FF2B5EF4-FFF2-40B4-BE49-F238E27FC236}">
                  <a16:creationId xmlns:a16="http://schemas.microsoft.com/office/drawing/2014/main" id="{D0788744-C16A-4B04-19D8-E716973A93B5}"/>
                </a:ext>
              </a:extLst>
            </p:cNvPr>
            <p:cNvSpPr/>
            <p:nvPr/>
          </p:nvSpPr>
          <p:spPr>
            <a:xfrm>
              <a:off x="5381204" y="3358195"/>
              <a:ext cx="4661012" cy="210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1022F176-43CE-D5C4-F5E1-8B5F33B682AE}"/>
                </a:ext>
              </a:extLst>
            </p:cNvPr>
            <p:cNvSpPr/>
            <p:nvPr/>
          </p:nvSpPr>
          <p:spPr>
            <a:xfrm>
              <a:off x="5381204" y="3625232"/>
              <a:ext cx="1456566" cy="210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D41E3DB7-4EF1-26F3-7A21-28E718C3BCC5}"/>
                </a:ext>
              </a:extLst>
            </p:cNvPr>
            <p:cNvSpPr/>
            <p:nvPr/>
          </p:nvSpPr>
          <p:spPr>
            <a:xfrm>
              <a:off x="1370589" y="3900361"/>
              <a:ext cx="2052342"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1" name="그룹 20">
            <a:extLst>
              <a:ext uri="{FF2B5EF4-FFF2-40B4-BE49-F238E27FC236}">
                <a16:creationId xmlns:a16="http://schemas.microsoft.com/office/drawing/2014/main" id="{E6C947F0-D595-27F9-58F6-00311DEB48D4}"/>
              </a:ext>
            </a:extLst>
          </p:cNvPr>
          <p:cNvGrpSpPr/>
          <p:nvPr/>
        </p:nvGrpSpPr>
        <p:grpSpPr>
          <a:xfrm>
            <a:off x="5343267" y="5409886"/>
            <a:ext cx="1494503" cy="629265"/>
            <a:chOff x="5343267" y="5409886"/>
            <a:chExt cx="1494503" cy="629265"/>
          </a:xfrm>
        </p:grpSpPr>
        <p:pic>
          <p:nvPicPr>
            <p:cNvPr id="19" name="그림 18">
              <a:extLst>
                <a:ext uri="{FF2B5EF4-FFF2-40B4-BE49-F238E27FC236}">
                  <a16:creationId xmlns:a16="http://schemas.microsoft.com/office/drawing/2014/main" id="{38763F76-07A6-AFCB-DB89-660C1251C606}"/>
                </a:ext>
              </a:extLst>
            </p:cNvPr>
            <p:cNvPicPr>
              <a:picLocks noChangeAspect="1"/>
            </p:cNvPicPr>
            <p:nvPr/>
          </p:nvPicPr>
          <p:blipFill>
            <a:blip r:embed="rId3"/>
            <a:stretch>
              <a:fillRect/>
            </a:stretch>
          </p:blipFill>
          <p:spPr>
            <a:xfrm>
              <a:off x="5343267" y="5409886"/>
              <a:ext cx="1494503" cy="629265"/>
            </a:xfrm>
            <a:prstGeom prst="rect">
              <a:avLst/>
            </a:prstGeom>
          </p:spPr>
        </p:pic>
        <p:sp>
          <p:nvSpPr>
            <p:cNvPr id="20" name="TextBox 19">
              <a:extLst>
                <a:ext uri="{FF2B5EF4-FFF2-40B4-BE49-F238E27FC236}">
                  <a16:creationId xmlns:a16="http://schemas.microsoft.com/office/drawing/2014/main" id="{8E7B9A62-CA69-3FA7-378C-5ACFFDA1238C}"/>
                </a:ext>
              </a:extLst>
            </p:cNvPr>
            <p:cNvSpPr txBox="1"/>
            <p:nvPr/>
          </p:nvSpPr>
          <p:spPr>
            <a:xfrm>
              <a:off x="6379221" y="5724518"/>
              <a:ext cx="303288" cy="215444"/>
            </a:xfrm>
            <a:prstGeom prst="rect">
              <a:avLst/>
            </a:prstGeom>
            <a:noFill/>
          </p:spPr>
          <p:txBody>
            <a:bodyPr wrap="none" rtlCol="0">
              <a:spAutoFit/>
            </a:bodyPr>
            <a:lstStyle/>
            <a:p>
              <a:pPr algn="l"/>
              <a:r>
                <a:rPr lang="en-US" altLang="ko-KR" sz="800" b="1" dirty="0"/>
                <a:t>10</a:t>
              </a:r>
              <a:endParaRPr lang="ko-KR" altLang="en-US" sz="800" b="1" dirty="0"/>
            </a:p>
          </p:txBody>
        </p:sp>
      </p:grpSp>
    </p:spTree>
    <p:extLst>
      <p:ext uri="{BB962C8B-B14F-4D97-AF65-F5344CB8AC3E}">
        <p14:creationId xmlns:p14="http://schemas.microsoft.com/office/powerpoint/2010/main" val="23564944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(4/31)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ConfigMap</a:t>
            </a:r>
            <a:r>
              <a:rPr lang="en-US" altLang="ko-KR" sz="1800" b="1" dirty="0"/>
              <a:t> :</a:t>
            </a:r>
          </a:p>
          <a:p>
            <a:pPr lvl="1">
              <a:buFont typeface="Wingdings" panose="05000000000000000000" pitchFamily="2" charset="2"/>
              <a:buChar char="§"/>
            </a:pPr>
            <a:r>
              <a:rPr lang="en-US" altLang="ko-KR" sz="1400" b="1" dirty="0" err="1"/>
              <a:t>ConfigMaps</a:t>
            </a:r>
            <a:r>
              <a:rPr lang="en-US" altLang="ko-KR" sz="1400" dirty="0"/>
              <a:t> usually contain more than one entry. To create a </a:t>
            </a:r>
            <a:r>
              <a:rPr lang="en-US" altLang="ko-KR" sz="1400" b="1" dirty="0" err="1"/>
              <a:t>ConfigMap</a:t>
            </a:r>
            <a:r>
              <a:rPr lang="en-US" altLang="ko-KR" sz="1400" dirty="0"/>
              <a:t> </a:t>
            </a:r>
            <a:r>
              <a:rPr lang="en-US" altLang="ko-KR" sz="1400" b="1" dirty="0"/>
              <a:t>with multiple literal entries</a:t>
            </a:r>
            <a:r>
              <a:rPr lang="en-US" altLang="ko-KR" sz="1400" dirty="0"/>
              <a:t>, you </a:t>
            </a:r>
            <a:r>
              <a:rPr lang="en-US" altLang="ko-KR" sz="1400" b="1" dirty="0"/>
              <a:t>add multiple “--from-literal” arguments</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Let’s inspect the YAML descriptor of the </a:t>
            </a:r>
            <a:r>
              <a:rPr lang="en-US" altLang="ko-KR" sz="1400" b="1" dirty="0" err="1"/>
              <a:t>ConfigMap</a:t>
            </a:r>
            <a:r>
              <a:rPr lang="en-US" altLang="ko-KR" sz="1400" b="1" dirty="0"/>
              <a:t> </a:t>
            </a:r>
            <a:r>
              <a:rPr lang="en-US" altLang="ko-KR" sz="1400" dirty="0"/>
              <a:t>you created by using the “</a:t>
            </a:r>
            <a:r>
              <a:rPr lang="en-US" altLang="ko-KR" sz="1400" b="1" dirty="0"/>
              <a:t>$ </a:t>
            </a:r>
            <a:r>
              <a:rPr lang="en-US" altLang="ko-KR" sz="1400" b="1" dirty="0" err="1"/>
              <a:t>kubectl</a:t>
            </a:r>
            <a:r>
              <a:rPr lang="en-US" altLang="ko-KR" sz="1400" b="1" dirty="0"/>
              <a:t> get</a:t>
            </a:r>
            <a:r>
              <a:rPr lang="en-US" altLang="ko-KR" sz="1400" dirty="0"/>
              <a:t>” command, as shown in the following screenshot.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could easily have written this </a:t>
            </a:r>
            <a:r>
              <a:rPr lang="en-US" altLang="ko-KR" sz="1400" b="1" dirty="0"/>
              <a:t>YAML</a:t>
            </a:r>
            <a:r>
              <a:rPr lang="en-US" altLang="ko-KR" sz="1400" dirty="0"/>
              <a:t> yourself (you wouldn’t need to specify anything but the name in the metadata section, of course) and posted it to the Kubernetes API with the well-known “</a:t>
            </a:r>
            <a:r>
              <a:rPr lang="en-US" altLang="ko-KR" sz="1400" b="1" dirty="0"/>
              <a:t>$ </a:t>
            </a:r>
            <a:r>
              <a:rPr lang="en-US" altLang="ko-KR" sz="1400" b="1" dirty="0" err="1"/>
              <a:t>kubectl</a:t>
            </a:r>
            <a:r>
              <a:rPr lang="en-US" altLang="ko-KR" sz="1400" b="1" dirty="0"/>
              <a:t> create -f fortune-</a:t>
            </a:r>
            <a:r>
              <a:rPr lang="en-US" altLang="ko-KR" sz="1400" b="1" dirty="0" err="1"/>
              <a:t>config.yaml</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C62C75A-EAED-703B-7510-27A3E444BA70}"/>
              </a:ext>
            </a:extLst>
          </p:cNvPr>
          <p:cNvSpPr txBox="1"/>
          <p:nvPr/>
        </p:nvSpPr>
        <p:spPr>
          <a:xfrm>
            <a:off x="2499427" y="1666540"/>
            <a:ext cx="7275752"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configmap</a:t>
            </a:r>
            <a:r>
              <a:rPr lang="en-US" altLang="ko-KR" sz="1000" b="1" dirty="0">
                <a:solidFill>
                  <a:srgbClr val="FF0000"/>
                </a:solidFill>
              </a:rPr>
              <a:t> </a:t>
            </a:r>
            <a:r>
              <a:rPr lang="en-US" altLang="ko-KR" sz="1000" b="1" dirty="0" err="1">
                <a:solidFill>
                  <a:srgbClr val="FF0000"/>
                </a:solidFill>
              </a:rPr>
              <a:t>configmap_name</a:t>
            </a:r>
            <a:r>
              <a:rPr lang="en-US" altLang="ko-KR" sz="1000" b="1" dirty="0"/>
              <a:t> </a:t>
            </a:r>
            <a:r>
              <a:rPr lang="en-US" altLang="ko-KR" sz="1000" b="1" dirty="0">
                <a:solidFill>
                  <a:srgbClr val="FF0000"/>
                </a:solidFill>
              </a:rPr>
              <a:t>--from-literal</a:t>
            </a:r>
            <a:r>
              <a:rPr lang="en-US" altLang="ko-KR" sz="1000" b="1" dirty="0"/>
              <a:t>=foo=bar </a:t>
            </a:r>
            <a:r>
              <a:rPr lang="en-US" altLang="ko-KR" sz="1000" b="1" dirty="0">
                <a:solidFill>
                  <a:srgbClr val="FF0000"/>
                </a:solidFill>
              </a:rPr>
              <a:t>--from-literal</a:t>
            </a:r>
            <a:r>
              <a:rPr lang="en-US" altLang="ko-KR" sz="1000" b="1" dirty="0"/>
              <a:t>=bar=</a:t>
            </a:r>
            <a:r>
              <a:rPr lang="en-US" altLang="ko-KR" sz="1000" b="1" dirty="0" err="1"/>
              <a:t>baz</a:t>
            </a:r>
            <a:r>
              <a:rPr lang="en-US" altLang="ko-KR" sz="1000" b="1" dirty="0"/>
              <a:t> </a:t>
            </a:r>
            <a:r>
              <a:rPr lang="en-US" altLang="ko-KR" sz="1000" b="1" dirty="0">
                <a:solidFill>
                  <a:srgbClr val="FF0000"/>
                </a:solidFill>
              </a:rPr>
              <a:t>--from-literal</a:t>
            </a:r>
            <a:r>
              <a:rPr lang="en-US" altLang="ko-KR" sz="1000" b="1" dirty="0"/>
              <a:t>=one=two</a:t>
            </a:r>
          </a:p>
        </p:txBody>
      </p:sp>
      <p:grpSp>
        <p:nvGrpSpPr>
          <p:cNvPr id="18" name="그룹 17">
            <a:extLst>
              <a:ext uri="{FF2B5EF4-FFF2-40B4-BE49-F238E27FC236}">
                <a16:creationId xmlns:a16="http://schemas.microsoft.com/office/drawing/2014/main" id="{5EB6FF2A-8F8D-DF4B-4792-3112AC50268D}"/>
              </a:ext>
            </a:extLst>
          </p:cNvPr>
          <p:cNvGrpSpPr/>
          <p:nvPr/>
        </p:nvGrpSpPr>
        <p:grpSpPr>
          <a:xfrm>
            <a:off x="1440213" y="2669406"/>
            <a:ext cx="9311573" cy="2696664"/>
            <a:chOff x="1440213" y="2588486"/>
            <a:chExt cx="9311573" cy="2696664"/>
          </a:xfrm>
        </p:grpSpPr>
        <p:grpSp>
          <p:nvGrpSpPr>
            <p:cNvPr id="14" name="그룹 13">
              <a:extLst>
                <a:ext uri="{FF2B5EF4-FFF2-40B4-BE49-F238E27FC236}">
                  <a16:creationId xmlns:a16="http://schemas.microsoft.com/office/drawing/2014/main" id="{3C98049F-3DB8-63CD-8A88-1C2FC523601E}"/>
                </a:ext>
              </a:extLst>
            </p:cNvPr>
            <p:cNvGrpSpPr/>
            <p:nvPr/>
          </p:nvGrpSpPr>
          <p:grpSpPr>
            <a:xfrm>
              <a:off x="1440213" y="2588486"/>
              <a:ext cx="9311573" cy="2696664"/>
              <a:chOff x="1440213" y="2588486"/>
              <a:chExt cx="9311573" cy="2696664"/>
            </a:xfrm>
          </p:grpSpPr>
          <p:pic>
            <p:nvPicPr>
              <p:cNvPr id="10" name="그림 9">
                <a:extLst>
                  <a:ext uri="{FF2B5EF4-FFF2-40B4-BE49-F238E27FC236}">
                    <a16:creationId xmlns:a16="http://schemas.microsoft.com/office/drawing/2014/main" id="{56141418-211E-A195-6F00-CE0116117BB5}"/>
                  </a:ext>
                </a:extLst>
              </p:cNvPr>
              <p:cNvPicPr>
                <a:picLocks noChangeAspect="1"/>
              </p:cNvPicPr>
              <p:nvPr/>
            </p:nvPicPr>
            <p:blipFill>
              <a:blip r:embed="rId2"/>
              <a:stretch>
                <a:fillRect/>
              </a:stretch>
            </p:blipFill>
            <p:spPr>
              <a:xfrm>
                <a:off x="1440213" y="3120209"/>
                <a:ext cx="9311573" cy="2164941"/>
              </a:xfrm>
              <a:prstGeom prst="rect">
                <a:avLst/>
              </a:prstGeom>
            </p:spPr>
          </p:pic>
          <p:sp>
            <p:nvSpPr>
              <p:cNvPr id="12" name="TextBox 11">
                <a:extLst>
                  <a:ext uri="{FF2B5EF4-FFF2-40B4-BE49-F238E27FC236}">
                    <a16:creationId xmlns:a16="http://schemas.microsoft.com/office/drawing/2014/main" id="{23EEFE54-A934-E43D-2EC8-192CD97747EF}"/>
                  </a:ext>
                </a:extLst>
              </p:cNvPr>
              <p:cNvSpPr txBox="1"/>
              <p:nvPr/>
            </p:nvSpPr>
            <p:spPr>
              <a:xfrm>
                <a:off x="3088629" y="258848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configmap</a:t>
                </a:r>
                <a:r>
                  <a:rPr lang="en-US" altLang="ko-KR" sz="1000" b="1" dirty="0"/>
                  <a:t> </a:t>
                </a:r>
                <a:r>
                  <a:rPr lang="en-US" altLang="ko-KR" sz="1000" b="1" dirty="0">
                    <a:solidFill>
                      <a:srgbClr val="FF0000"/>
                    </a:solidFill>
                  </a:rPr>
                  <a:t>fortune-config</a:t>
                </a:r>
                <a:r>
                  <a:rPr lang="en-US" altLang="ko-KR" sz="1000" b="1" dirty="0"/>
                  <a:t> -o </a:t>
                </a:r>
                <a:r>
                  <a:rPr lang="en-US" altLang="ko-KR" sz="1000" b="1" dirty="0" err="1"/>
                  <a:t>yaml</a:t>
                </a:r>
                <a:endParaRPr lang="ko-KR" altLang="en-US" sz="1000" b="1" dirty="0"/>
              </a:p>
            </p:txBody>
          </p:sp>
          <p:sp>
            <p:nvSpPr>
              <p:cNvPr id="13" name="화살표: 아래쪽 12">
                <a:extLst>
                  <a:ext uri="{FF2B5EF4-FFF2-40B4-BE49-F238E27FC236}">
                    <a16:creationId xmlns:a16="http://schemas.microsoft.com/office/drawing/2014/main" id="{20C89F59-FE50-731D-F417-BAF312BFBA3A}"/>
                  </a:ext>
                </a:extLst>
              </p:cNvPr>
              <p:cNvSpPr/>
              <p:nvPr/>
            </p:nvSpPr>
            <p:spPr>
              <a:xfrm>
                <a:off x="5865377" y="2834707"/>
                <a:ext cx="461246" cy="31309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7164FF05-625D-B392-3DDA-3132BF7896F3}"/>
                </a:ext>
              </a:extLst>
            </p:cNvPr>
            <p:cNvSpPr/>
            <p:nvPr/>
          </p:nvSpPr>
          <p:spPr>
            <a:xfrm>
              <a:off x="5381204" y="3551258"/>
              <a:ext cx="2816028" cy="1629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42340DDE-839E-7BC2-749F-466B618B79FA}"/>
                </a:ext>
              </a:extLst>
            </p:cNvPr>
            <p:cNvSpPr/>
            <p:nvPr/>
          </p:nvSpPr>
          <p:spPr>
            <a:xfrm>
              <a:off x="1561763" y="3840077"/>
              <a:ext cx="1399922" cy="3942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156028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t>
            </a:r>
            <a:r>
              <a:rPr lang="en-US" altLang="ko-KR" sz="2800" b="1" dirty="0" err="1"/>
              <a:t>ConfigMap</a:t>
            </a:r>
            <a:r>
              <a:rPr lang="en-US" altLang="ko-KR" sz="2800" b="1" dirty="0"/>
              <a:t> YAML File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Making </a:t>
            </a:r>
            <a:r>
              <a:rPr lang="en-US" altLang="ko-KR" sz="1800" b="1" dirty="0" err="1"/>
              <a:t>ConfigMap</a:t>
            </a:r>
            <a:r>
              <a:rPr lang="en-US" altLang="ko-KR" sz="1800" b="1" dirty="0"/>
              <a:t> YAML :</a:t>
            </a:r>
          </a:p>
          <a:p>
            <a:pPr lvl="1">
              <a:buFont typeface="Wingdings" panose="05000000000000000000" pitchFamily="2" charset="2"/>
              <a:buChar char="§"/>
            </a:pPr>
            <a:r>
              <a:rPr lang="en-US" altLang="ko-KR" sz="1400" dirty="0"/>
              <a:t>You can see the “</a:t>
            </a:r>
            <a:r>
              <a:rPr lang="en-US" altLang="ko-KR" sz="1400" b="1" dirty="0"/>
              <a:t>fortune-</a:t>
            </a:r>
            <a:r>
              <a:rPr lang="en-US" altLang="ko-KR" sz="1400" b="1" dirty="0" err="1"/>
              <a:t>config.yaml</a:t>
            </a:r>
            <a:r>
              <a:rPr lang="en-US" altLang="ko-KR" sz="1400" dirty="0"/>
              <a:t>” file in the Git Repository. </a:t>
            </a:r>
            <a:r>
              <a:rPr lang="en-US" altLang="ko-KR" sz="1400" b="1" dirty="0"/>
              <a:t>Checking, creating and deleting </a:t>
            </a:r>
            <a:r>
              <a:rPr lang="en-US" altLang="ko-KR" sz="1400" b="1" dirty="0" err="1"/>
              <a:t>configmap</a:t>
            </a:r>
            <a:r>
              <a:rPr lang="en-US" altLang="ko-KR" sz="1400" b="1" dirty="0"/>
              <a:t> </a:t>
            </a:r>
            <a:r>
              <a:rPr lang="en-US" altLang="ko-KR" sz="1400" dirty="0"/>
              <a:t>can be shown as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64F55F80-7FDC-03A8-0A2A-839124C193EE}"/>
              </a:ext>
            </a:extLst>
          </p:cNvPr>
          <p:cNvGrpSpPr/>
          <p:nvPr/>
        </p:nvGrpSpPr>
        <p:grpSpPr>
          <a:xfrm>
            <a:off x="1347213" y="1584068"/>
            <a:ext cx="9497574" cy="4824962"/>
            <a:chOff x="1347213" y="1584068"/>
            <a:chExt cx="9497574" cy="4824962"/>
          </a:xfrm>
        </p:grpSpPr>
        <p:grpSp>
          <p:nvGrpSpPr>
            <p:cNvPr id="16" name="그룹 15">
              <a:extLst>
                <a:ext uri="{FF2B5EF4-FFF2-40B4-BE49-F238E27FC236}">
                  <a16:creationId xmlns:a16="http://schemas.microsoft.com/office/drawing/2014/main" id="{BF724B43-7539-5620-ED34-98CDF0E4DAC8}"/>
                </a:ext>
              </a:extLst>
            </p:cNvPr>
            <p:cNvGrpSpPr/>
            <p:nvPr/>
          </p:nvGrpSpPr>
          <p:grpSpPr>
            <a:xfrm>
              <a:off x="1347213" y="1584068"/>
              <a:ext cx="9497574" cy="4824962"/>
              <a:chOff x="1347213" y="1584068"/>
              <a:chExt cx="9497574" cy="4824962"/>
            </a:xfrm>
          </p:grpSpPr>
          <p:grpSp>
            <p:nvGrpSpPr>
              <p:cNvPr id="14" name="그룹 13">
                <a:extLst>
                  <a:ext uri="{FF2B5EF4-FFF2-40B4-BE49-F238E27FC236}">
                    <a16:creationId xmlns:a16="http://schemas.microsoft.com/office/drawing/2014/main" id="{9560B53F-0861-0AA0-5333-A5A30FE32EA4}"/>
                  </a:ext>
                </a:extLst>
              </p:cNvPr>
              <p:cNvGrpSpPr/>
              <p:nvPr/>
            </p:nvGrpSpPr>
            <p:grpSpPr>
              <a:xfrm>
                <a:off x="1347213" y="1584068"/>
                <a:ext cx="9497574" cy="4824962"/>
                <a:chOff x="1347213" y="1584068"/>
                <a:chExt cx="9497574" cy="4824962"/>
              </a:xfrm>
            </p:grpSpPr>
            <p:pic>
              <p:nvPicPr>
                <p:cNvPr id="10" name="그림 9">
                  <a:extLst>
                    <a:ext uri="{FF2B5EF4-FFF2-40B4-BE49-F238E27FC236}">
                      <a16:creationId xmlns:a16="http://schemas.microsoft.com/office/drawing/2014/main" id="{1DD251DE-D7EA-6C9F-4D00-FFF09130E15E}"/>
                    </a:ext>
                  </a:extLst>
                </p:cNvPr>
                <p:cNvPicPr>
                  <a:picLocks noChangeAspect="1"/>
                </p:cNvPicPr>
                <p:nvPr/>
              </p:nvPicPr>
              <p:blipFill>
                <a:blip r:embed="rId2"/>
                <a:stretch>
                  <a:fillRect/>
                </a:stretch>
              </p:blipFill>
              <p:spPr>
                <a:xfrm>
                  <a:off x="1347213" y="2847440"/>
                  <a:ext cx="9497574" cy="3561590"/>
                </a:xfrm>
                <a:prstGeom prst="rect">
                  <a:avLst/>
                </a:prstGeom>
              </p:spPr>
            </p:pic>
            <p:sp>
              <p:nvSpPr>
                <p:cNvPr id="12" name="TextBox 11">
                  <a:extLst>
                    <a:ext uri="{FF2B5EF4-FFF2-40B4-BE49-F238E27FC236}">
                      <a16:creationId xmlns:a16="http://schemas.microsoft.com/office/drawing/2014/main" id="{A729EC4B-7644-41F6-5D86-DB23AEC65A9E}"/>
                    </a:ext>
                  </a:extLst>
                </p:cNvPr>
                <p:cNvSpPr txBox="1"/>
                <p:nvPr/>
              </p:nvSpPr>
              <p:spPr>
                <a:xfrm>
                  <a:off x="3047326" y="1584068"/>
                  <a:ext cx="6097348" cy="10156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solidFill>
                        <a:srgbClr val="FF0000"/>
                      </a:solidFill>
                    </a:rPr>
                    <a:t>ConfigMap</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fortune-config</a:t>
                  </a:r>
                </a:p>
                <a:p>
                  <a:r>
                    <a:rPr lang="en-US" altLang="ko-KR" sz="1000" b="1" dirty="0">
                      <a:solidFill>
                        <a:srgbClr val="FF0000"/>
                      </a:solidFill>
                    </a:rPr>
                    <a:t>data:</a:t>
                  </a:r>
                </a:p>
                <a:p>
                  <a:r>
                    <a:rPr lang="en-US" altLang="ko-KR" sz="1000" b="1" dirty="0">
                      <a:solidFill>
                        <a:srgbClr val="FF0000"/>
                      </a:solidFill>
                    </a:rPr>
                    <a:t>  sleep-interval: "10"</a:t>
                  </a:r>
                  <a:endParaRPr lang="ko-KR" altLang="en-US" sz="1000" b="1" dirty="0">
                    <a:solidFill>
                      <a:srgbClr val="FF0000"/>
                    </a:solidFill>
                  </a:endParaRPr>
                </a:p>
              </p:txBody>
            </p:sp>
            <p:sp>
              <p:nvSpPr>
                <p:cNvPr id="13" name="화살표: 아래쪽 12">
                  <a:extLst>
                    <a:ext uri="{FF2B5EF4-FFF2-40B4-BE49-F238E27FC236}">
                      <a16:creationId xmlns:a16="http://schemas.microsoft.com/office/drawing/2014/main" id="{2F9D0F41-D4CD-09CE-CE19-DB7C7C81CD02}"/>
                    </a:ext>
                  </a:extLst>
                </p:cNvPr>
                <p:cNvSpPr/>
                <p:nvPr/>
              </p:nvSpPr>
              <p:spPr>
                <a:xfrm>
                  <a:off x="5884932" y="2599731"/>
                  <a:ext cx="422135" cy="24770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TextBox 14">
                <a:extLst>
                  <a:ext uri="{FF2B5EF4-FFF2-40B4-BE49-F238E27FC236}">
                    <a16:creationId xmlns:a16="http://schemas.microsoft.com/office/drawing/2014/main" id="{26972922-494D-4164-0EDC-9F2382D0C8F7}"/>
                  </a:ext>
                </a:extLst>
              </p:cNvPr>
              <p:cNvSpPr txBox="1"/>
              <p:nvPr/>
            </p:nvSpPr>
            <p:spPr>
              <a:xfrm>
                <a:off x="7741726" y="1584068"/>
                <a:ext cx="1402948" cy="246221"/>
              </a:xfrm>
              <a:prstGeom prst="rect">
                <a:avLst/>
              </a:prstGeom>
              <a:noFill/>
            </p:spPr>
            <p:txBody>
              <a:bodyPr wrap="none" rtlCol="0">
                <a:spAutoFit/>
              </a:bodyPr>
              <a:lstStyle/>
              <a:p>
                <a:pPr algn="l"/>
                <a:r>
                  <a:rPr lang="en-US" altLang="ko-KR" sz="1000" b="1" dirty="0"/>
                  <a:t>fortune-</a:t>
                </a:r>
                <a:r>
                  <a:rPr lang="en-US" altLang="ko-KR" sz="1000" b="1" dirty="0" err="1"/>
                  <a:t>config.yaml</a:t>
                </a:r>
                <a:endParaRPr lang="ko-KR" altLang="en-US" sz="1000" b="1" dirty="0"/>
              </a:p>
            </p:txBody>
          </p:sp>
        </p:grpSp>
        <p:sp>
          <p:nvSpPr>
            <p:cNvPr id="17" name="직사각형 16">
              <a:extLst>
                <a:ext uri="{FF2B5EF4-FFF2-40B4-BE49-F238E27FC236}">
                  <a16:creationId xmlns:a16="http://schemas.microsoft.com/office/drawing/2014/main" id="{0428098D-3519-5C86-6840-AEDA6CDB752A}"/>
                </a:ext>
              </a:extLst>
            </p:cNvPr>
            <p:cNvSpPr/>
            <p:nvPr/>
          </p:nvSpPr>
          <p:spPr>
            <a:xfrm>
              <a:off x="1456566" y="3811349"/>
              <a:ext cx="2124834" cy="1861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58826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(5/31)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ConfigMap</a:t>
            </a:r>
            <a:r>
              <a:rPr lang="en-US" altLang="ko-KR" sz="1800" b="1" dirty="0"/>
              <a:t> Entry from the Contents of a File :</a:t>
            </a:r>
          </a:p>
          <a:p>
            <a:pPr lvl="1">
              <a:buFont typeface="Wingdings" panose="05000000000000000000" pitchFamily="2" charset="2"/>
              <a:buChar char="§"/>
            </a:pPr>
            <a:r>
              <a:rPr lang="en-US" altLang="ko-KR" sz="1400" b="1" dirty="0" err="1"/>
              <a:t>ConfigMaps</a:t>
            </a:r>
            <a:r>
              <a:rPr lang="en-US" altLang="ko-KR" sz="1400" b="1" dirty="0"/>
              <a:t> can also store coarse-grained config data, such as complete config files</a:t>
            </a:r>
            <a:r>
              <a:rPr lang="en-US" altLang="ko-KR" sz="1400" dirty="0"/>
              <a:t>. To do this, the “</a:t>
            </a:r>
            <a:r>
              <a:rPr lang="en-US" altLang="ko-KR" sz="1400" b="1" dirty="0" err="1"/>
              <a:t>kubectl</a:t>
            </a:r>
            <a:r>
              <a:rPr lang="en-US" altLang="ko-KR" sz="1400" b="1" dirty="0"/>
              <a:t> create </a:t>
            </a:r>
            <a:r>
              <a:rPr lang="en-US" altLang="ko-KR" sz="1400" b="1" dirty="0" err="1"/>
              <a:t>configmap</a:t>
            </a:r>
            <a:r>
              <a:rPr lang="en-US" altLang="ko-KR" sz="1400" dirty="0"/>
              <a:t>” command also supports </a:t>
            </a:r>
            <a:r>
              <a:rPr lang="en-US" altLang="ko-KR" sz="1400" b="1" dirty="0"/>
              <a:t>reading files from disk and storing them as individual entries in the </a:t>
            </a:r>
            <a:r>
              <a:rPr lang="en-US" altLang="ko-KR" sz="1400" b="1" dirty="0" err="1"/>
              <a:t>ConfigMap</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When you run the above command, </a:t>
            </a:r>
            <a:r>
              <a:rPr lang="en-US" altLang="ko-KR" sz="1400" b="1" dirty="0" err="1"/>
              <a:t>kubectl</a:t>
            </a:r>
            <a:r>
              <a:rPr lang="en-US" altLang="ko-KR" sz="1400" b="1" dirty="0"/>
              <a:t> looks for the file “config-</a:t>
            </a:r>
            <a:r>
              <a:rPr lang="en-US" altLang="ko-KR" sz="1400" b="1" dirty="0" err="1"/>
              <a:t>file.conf</a:t>
            </a:r>
            <a:r>
              <a:rPr lang="en-US" altLang="ko-KR" sz="1400" b="1" dirty="0"/>
              <a:t>” in the directory you run </a:t>
            </a:r>
            <a:r>
              <a:rPr lang="en-US" altLang="ko-KR" sz="1400" b="1" dirty="0" err="1"/>
              <a:t>kubectl</a:t>
            </a:r>
            <a:r>
              <a:rPr lang="en-US" altLang="ko-KR" sz="1400" b="1" dirty="0"/>
              <a:t> in</a:t>
            </a:r>
            <a:r>
              <a:rPr lang="en-US" altLang="ko-KR" sz="1400" dirty="0"/>
              <a:t>. </a:t>
            </a:r>
            <a:r>
              <a:rPr lang="en-US" altLang="ko-KR" sz="1400" b="1" dirty="0"/>
              <a:t>It will then store the contents of the file under the key “config-</a:t>
            </a:r>
            <a:r>
              <a:rPr lang="en-US" altLang="ko-KR" sz="1400" b="1" dirty="0" err="1"/>
              <a:t>file.conf</a:t>
            </a:r>
            <a:r>
              <a:rPr lang="en-US" altLang="ko-KR" sz="1400" b="1" dirty="0"/>
              <a:t>” in the </a:t>
            </a:r>
            <a:r>
              <a:rPr lang="en-US" altLang="ko-KR" sz="1400" b="1" dirty="0" err="1"/>
              <a:t>ConfigMap</a:t>
            </a:r>
            <a:r>
              <a:rPr lang="en-US" altLang="ko-KR" sz="1400" b="1" dirty="0"/>
              <a:t> (</a:t>
            </a:r>
            <a:r>
              <a:rPr lang="en-US" altLang="ko-KR" sz="1400" b="1" dirty="0">
                <a:solidFill>
                  <a:srgbClr val="FF0000"/>
                </a:solidFill>
              </a:rPr>
              <a:t>the filename is used as the map key</a:t>
            </a:r>
            <a:r>
              <a:rPr lang="en-US" altLang="ko-KR" sz="1400" b="1" dirty="0"/>
              <a:t>), </a:t>
            </a:r>
            <a:r>
              <a:rPr lang="en-US" altLang="ko-KR" sz="1400" dirty="0"/>
              <a:t>but you can also specify a key manually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above command will store the file’s contents under the key “</a:t>
            </a:r>
            <a:r>
              <a:rPr lang="en-US" altLang="ko-KR" sz="1400" b="1" dirty="0" err="1"/>
              <a:t>customkey</a:t>
            </a:r>
            <a:r>
              <a:rPr lang="en-US" altLang="ko-KR" sz="1400" b="1" dirty="0"/>
              <a:t>”</a:t>
            </a:r>
            <a:r>
              <a:rPr lang="en-US" altLang="ko-KR" sz="1400" dirty="0"/>
              <a:t>. As with literals, </a:t>
            </a:r>
            <a:r>
              <a:rPr lang="en-US" altLang="ko-KR" sz="1400" b="1" dirty="0"/>
              <a:t>you can add multiple files by using the “--from-file” argument multiple times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CFF9A57-E3E4-060A-D0AE-57B3C69ED923}"/>
              </a:ext>
            </a:extLst>
          </p:cNvPr>
          <p:cNvSpPr txBox="1"/>
          <p:nvPr/>
        </p:nvSpPr>
        <p:spPr>
          <a:xfrm>
            <a:off x="3047326" y="197497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a:t>
            </a:r>
            <a:r>
              <a:rPr lang="en-US" altLang="ko-KR" sz="1000" b="1" dirty="0">
                <a:solidFill>
                  <a:srgbClr val="FF0000"/>
                </a:solidFill>
              </a:rPr>
              <a:t>my-config --from-file=config-</a:t>
            </a:r>
            <a:r>
              <a:rPr lang="en-US" altLang="ko-KR" sz="1000" b="1" dirty="0" err="1">
                <a:solidFill>
                  <a:srgbClr val="FF0000"/>
                </a:solidFill>
              </a:rPr>
              <a:t>file.conf</a:t>
            </a:r>
            <a:endParaRPr lang="en-US" altLang="ko-KR" sz="1000" b="1" dirty="0">
              <a:solidFill>
                <a:srgbClr val="FF0000"/>
              </a:solidFill>
            </a:endParaRPr>
          </a:p>
        </p:txBody>
      </p:sp>
      <p:sp>
        <p:nvSpPr>
          <p:cNvPr id="11" name="TextBox 10">
            <a:extLst>
              <a:ext uri="{FF2B5EF4-FFF2-40B4-BE49-F238E27FC236}">
                <a16:creationId xmlns:a16="http://schemas.microsoft.com/office/drawing/2014/main" id="{C13A952E-7DA9-A30B-1055-21ED0257B660}"/>
              </a:ext>
            </a:extLst>
          </p:cNvPr>
          <p:cNvSpPr txBox="1"/>
          <p:nvPr/>
        </p:nvSpPr>
        <p:spPr>
          <a:xfrm>
            <a:off x="3047326" y="358969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a:t>
            </a:r>
            <a:r>
              <a:rPr lang="en-US" altLang="ko-KR" sz="1000" b="1" dirty="0">
                <a:solidFill>
                  <a:srgbClr val="FF0000"/>
                </a:solidFill>
              </a:rPr>
              <a:t>my-config --from-file=</a:t>
            </a:r>
            <a:r>
              <a:rPr lang="en-US" altLang="ko-KR" sz="1000" b="1" dirty="0" err="1">
                <a:solidFill>
                  <a:srgbClr val="FF0000"/>
                </a:solidFill>
              </a:rPr>
              <a:t>customkey</a:t>
            </a:r>
            <a:r>
              <a:rPr lang="en-US" altLang="ko-KR" sz="1000" b="1" dirty="0">
                <a:solidFill>
                  <a:srgbClr val="FF0000"/>
                </a:solidFill>
              </a:rPr>
              <a:t>=config-</a:t>
            </a:r>
            <a:r>
              <a:rPr lang="en-US" altLang="ko-KR" sz="1000" b="1" dirty="0" err="1">
                <a:solidFill>
                  <a:srgbClr val="FF0000"/>
                </a:solidFill>
              </a:rPr>
              <a:t>file.conf</a:t>
            </a:r>
            <a:endParaRPr lang="en-US" altLang="ko-KR" sz="1000" b="1" dirty="0">
              <a:solidFill>
                <a:srgbClr val="FF0000"/>
              </a:solidFill>
            </a:endParaRPr>
          </a:p>
        </p:txBody>
      </p:sp>
    </p:spTree>
    <p:extLst>
      <p:ext uri="{BB962C8B-B14F-4D97-AF65-F5344CB8AC3E}">
        <p14:creationId xmlns:p14="http://schemas.microsoft.com/office/powerpoint/2010/main" val="27108577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(6/31)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ConfigMap</a:t>
            </a:r>
            <a:r>
              <a:rPr lang="en-US" altLang="ko-KR" sz="1800" b="1" dirty="0"/>
              <a:t> Entry from the Contents of a File :</a:t>
            </a:r>
          </a:p>
          <a:p>
            <a:pPr lvl="1">
              <a:buFont typeface="Wingdings" panose="05000000000000000000" pitchFamily="2" charset="2"/>
              <a:buChar char="§"/>
            </a:pPr>
            <a:r>
              <a:rPr lang="en-US" altLang="ko-KR" sz="1400" dirty="0"/>
              <a:t>Instead of importing each file individually, </a:t>
            </a:r>
            <a:r>
              <a:rPr lang="en-US" altLang="ko-KR" sz="1400" b="1" dirty="0"/>
              <a:t>you can even import all files from a file directory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this case, </a:t>
            </a:r>
            <a:r>
              <a:rPr lang="en-US" altLang="ko-KR" sz="1400" b="1" dirty="0" err="1"/>
              <a:t>kubectl</a:t>
            </a:r>
            <a:r>
              <a:rPr lang="en-US" altLang="ko-KR" sz="1400" b="1" dirty="0"/>
              <a:t> will create an individual map entry for each file in the specified directory</a:t>
            </a:r>
            <a:r>
              <a:rPr lang="en-US" altLang="ko-KR" sz="1400" dirty="0"/>
              <a:t>, but only for files whose name is </a:t>
            </a:r>
            <a:r>
              <a:rPr lang="en-US" altLang="ko-KR" sz="1400" b="1" dirty="0"/>
              <a:t>a valid </a:t>
            </a:r>
            <a:r>
              <a:rPr lang="en-US" altLang="ko-KR" sz="1400" b="1" dirty="0" err="1"/>
              <a:t>ConfigMap</a:t>
            </a:r>
            <a:r>
              <a:rPr lang="en-US" altLang="ko-KR" sz="1400" b="1" dirty="0"/>
              <a:t> key</a:t>
            </a:r>
            <a:r>
              <a:rPr lang="en-US" altLang="ko-KR" sz="1400" dirty="0"/>
              <a:t>.</a:t>
            </a:r>
          </a:p>
          <a:p>
            <a:pPr lvl="1">
              <a:buFont typeface="Wingdings" panose="05000000000000000000" pitchFamily="2" charset="2"/>
              <a:buChar char="§"/>
            </a:pPr>
            <a:r>
              <a:rPr lang="en-US" altLang="ko-KR" sz="1400" b="1" dirty="0"/>
              <a:t>When creating </a:t>
            </a:r>
            <a:r>
              <a:rPr lang="en-US" altLang="ko-KR" sz="1400" b="1" dirty="0" err="1"/>
              <a:t>ConfigMaps</a:t>
            </a:r>
            <a:r>
              <a:rPr lang="en-US" altLang="ko-KR" sz="1400" b="1" dirty="0"/>
              <a:t>, you can use a combination of all the options mentioned here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Here, you’ve created the </a:t>
            </a:r>
            <a:r>
              <a:rPr lang="en-US" altLang="ko-KR" sz="1400" b="1" dirty="0" err="1"/>
              <a:t>ConfigMap</a:t>
            </a:r>
            <a:r>
              <a:rPr lang="en-US" altLang="ko-KR" sz="1400" b="1" dirty="0"/>
              <a:t> from multiple sources: a whole directory, a file, another file (but stored under a custom key instead of using the filename as the key), and a literal value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4682A7A-C835-040A-3580-4C35395970FB}"/>
              </a:ext>
            </a:extLst>
          </p:cNvPr>
          <p:cNvSpPr txBox="1"/>
          <p:nvPr/>
        </p:nvSpPr>
        <p:spPr>
          <a:xfrm>
            <a:off x="3047326" y="164319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my-config </a:t>
            </a:r>
            <a:r>
              <a:rPr lang="en-US" altLang="ko-KR" sz="1000" b="1" dirty="0">
                <a:solidFill>
                  <a:srgbClr val="FF0000"/>
                </a:solidFill>
              </a:rPr>
              <a:t>--from-file=/path/to/</a:t>
            </a:r>
            <a:r>
              <a:rPr lang="en-US" altLang="ko-KR" sz="1000" b="1" dirty="0" err="1">
                <a:solidFill>
                  <a:srgbClr val="FF0000"/>
                </a:solidFill>
              </a:rPr>
              <a:t>dir</a:t>
            </a:r>
            <a:endParaRPr lang="en-US" altLang="ko-KR" sz="1000" b="1" dirty="0">
              <a:solidFill>
                <a:srgbClr val="FF0000"/>
              </a:solidFill>
            </a:endParaRPr>
          </a:p>
        </p:txBody>
      </p:sp>
      <p:sp>
        <p:nvSpPr>
          <p:cNvPr id="10" name="TextBox 9">
            <a:extLst>
              <a:ext uri="{FF2B5EF4-FFF2-40B4-BE49-F238E27FC236}">
                <a16:creationId xmlns:a16="http://schemas.microsoft.com/office/drawing/2014/main" id="{4067B10B-5959-8D00-43E5-177544631095}"/>
              </a:ext>
            </a:extLst>
          </p:cNvPr>
          <p:cNvSpPr txBox="1"/>
          <p:nvPr/>
        </p:nvSpPr>
        <p:spPr>
          <a:xfrm>
            <a:off x="3047326" y="3165268"/>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my-config </a:t>
            </a:r>
            <a:r>
              <a:rPr lang="en-US" altLang="ko-KR" sz="1000" b="1" dirty="0">
                <a:solidFill>
                  <a:srgbClr val="FF0000"/>
                </a:solidFill>
              </a:rPr>
              <a:t>--from-file=</a:t>
            </a:r>
            <a:r>
              <a:rPr lang="en-US" altLang="ko-KR" sz="1000" b="1" dirty="0" err="1">
                <a:solidFill>
                  <a:srgbClr val="FF0000"/>
                </a:solidFill>
              </a:rPr>
              <a:t>foo.json</a:t>
            </a:r>
            <a:r>
              <a:rPr lang="en-US" altLang="ko-KR" sz="1000" b="1" dirty="0">
                <a:solidFill>
                  <a:srgbClr val="FF0000"/>
                </a:solidFill>
              </a:rPr>
              <a:t> --from-file=bar=</a:t>
            </a:r>
            <a:r>
              <a:rPr lang="en-US" altLang="ko-KR" sz="1000" b="1" dirty="0" err="1">
                <a:solidFill>
                  <a:srgbClr val="FF0000"/>
                </a:solidFill>
              </a:rPr>
              <a:t>foobar.conf</a:t>
            </a:r>
            <a:r>
              <a:rPr lang="en-US" altLang="ko-KR" sz="1000" b="1" dirty="0">
                <a:solidFill>
                  <a:srgbClr val="FF0000"/>
                </a:solidFill>
              </a:rPr>
              <a:t> --from-file=config-opts/ --from-literal=some=thing</a:t>
            </a:r>
          </a:p>
        </p:txBody>
      </p:sp>
    </p:spTree>
    <p:extLst>
      <p:ext uri="{BB962C8B-B14F-4D97-AF65-F5344CB8AC3E}">
        <p14:creationId xmlns:p14="http://schemas.microsoft.com/office/powerpoint/2010/main" val="23757557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(7/31)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a:t>
            </a:r>
            <a:r>
              <a:rPr lang="en-US" altLang="ko-KR" sz="1800" b="1" dirty="0" err="1"/>
              <a:t>ConfigMap</a:t>
            </a:r>
            <a:r>
              <a:rPr lang="en-US" altLang="ko-KR" sz="1800" b="1" dirty="0"/>
              <a:t> Entry from the Contents of a File :</a:t>
            </a:r>
          </a:p>
          <a:p>
            <a:pPr lvl="1">
              <a:buFont typeface="Wingdings" panose="05000000000000000000" pitchFamily="2" charset="2"/>
              <a:buChar char="§"/>
            </a:pPr>
            <a:r>
              <a:rPr lang="en-US" altLang="ko-KR" sz="1400" dirty="0"/>
              <a:t>The following figure shows </a:t>
            </a:r>
            <a:r>
              <a:rPr lang="en-US" altLang="ko-KR" sz="1400" b="1" dirty="0"/>
              <a:t>all the sources </a:t>
            </a:r>
            <a:r>
              <a:rPr lang="en-US" altLang="ko-KR" sz="1400" dirty="0"/>
              <a:t>in previous page and </a:t>
            </a:r>
            <a:r>
              <a:rPr lang="en-US" altLang="ko-KR" sz="1400" b="1" dirty="0"/>
              <a:t>the resulting </a:t>
            </a:r>
            <a:r>
              <a:rPr lang="en-US" altLang="ko-KR" sz="1400" b="1" dirty="0" err="1"/>
              <a:t>ConfigMap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DC58EC0E-BEEC-6FB7-B3A3-2D55B0F0CD39}"/>
              </a:ext>
            </a:extLst>
          </p:cNvPr>
          <p:cNvGrpSpPr/>
          <p:nvPr/>
        </p:nvGrpSpPr>
        <p:grpSpPr>
          <a:xfrm>
            <a:off x="3368461" y="1430338"/>
            <a:ext cx="5455077" cy="4978692"/>
            <a:chOff x="3368461" y="1430338"/>
            <a:chExt cx="5455077" cy="4978692"/>
          </a:xfrm>
        </p:grpSpPr>
        <p:pic>
          <p:nvPicPr>
            <p:cNvPr id="8" name="그림 7">
              <a:extLst>
                <a:ext uri="{FF2B5EF4-FFF2-40B4-BE49-F238E27FC236}">
                  <a16:creationId xmlns:a16="http://schemas.microsoft.com/office/drawing/2014/main" id="{08EA1941-B07C-41A2-47CC-324F11F51ED7}"/>
                </a:ext>
              </a:extLst>
            </p:cNvPr>
            <p:cNvPicPr>
              <a:picLocks noChangeAspect="1"/>
            </p:cNvPicPr>
            <p:nvPr/>
          </p:nvPicPr>
          <p:blipFill>
            <a:blip r:embed="rId2"/>
            <a:stretch>
              <a:fillRect/>
            </a:stretch>
          </p:blipFill>
          <p:spPr>
            <a:xfrm>
              <a:off x="3368461" y="1430338"/>
              <a:ext cx="5455077" cy="4978692"/>
            </a:xfrm>
            <a:prstGeom prst="rect">
              <a:avLst/>
            </a:prstGeom>
          </p:spPr>
        </p:pic>
        <p:sp>
          <p:nvSpPr>
            <p:cNvPr id="9" name="직사각형 8">
              <a:extLst>
                <a:ext uri="{FF2B5EF4-FFF2-40B4-BE49-F238E27FC236}">
                  <a16:creationId xmlns:a16="http://schemas.microsoft.com/office/drawing/2014/main" id="{26B35752-F7D7-A37C-6F7D-CA7904691535}"/>
                </a:ext>
              </a:extLst>
            </p:cNvPr>
            <p:cNvSpPr/>
            <p:nvPr/>
          </p:nvSpPr>
          <p:spPr>
            <a:xfrm>
              <a:off x="3811349" y="2451887"/>
              <a:ext cx="1238081" cy="3155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D347C38E-9F4B-31E6-13F0-B0660723240B}"/>
                </a:ext>
              </a:extLst>
            </p:cNvPr>
            <p:cNvSpPr/>
            <p:nvPr/>
          </p:nvSpPr>
          <p:spPr>
            <a:xfrm>
              <a:off x="7459508" y="3810001"/>
              <a:ext cx="1364030" cy="3155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766C1D99-53D0-2D9C-31BC-C24D3517A3E5}"/>
                </a:ext>
              </a:extLst>
            </p:cNvPr>
            <p:cNvSpPr/>
            <p:nvPr/>
          </p:nvSpPr>
          <p:spPr>
            <a:xfrm>
              <a:off x="5944948" y="5030550"/>
              <a:ext cx="1514560" cy="3155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8EC55C4A-43B4-E971-7841-158B235BCC0A}"/>
                </a:ext>
              </a:extLst>
            </p:cNvPr>
            <p:cNvSpPr/>
            <p:nvPr/>
          </p:nvSpPr>
          <p:spPr>
            <a:xfrm>
              <a:off x="3803256" y="5022457"/>
              <a:ext cx="1594131" cy="3155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311276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(8/31)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a </a:t>
            </a:r>
            <a:r>
              <a:rPr lang="en-US" altLang="ko-KR" sz="1800" b="1" dirty="0" err="1"/>
              <a:t>ConfigMap</a:t>
            </a:r>
            <a:r>
              <a:rPr lang="en-US" altLang="ko-KR" sz="1800" b="1" dirty="0"/>
              <a:t> Entry to a Container as an Environment Variable :</a:t>
            </a:r>
          </a:p>
          <a:p>
            <a:pPr lvl="1">
              <a:buFont typeface="Wingdings" panose="05000000000000000000" pitchFamily="2" charset="2"/>
              <a:buChar char="§"/>
            </a:pPr>
            <a:r>
              <a:rPr lang="en-US" altLang="ko-KR" sz="1400" b="1" dirty="0"/>
              <a:t>How do you now get the values from this map into a pod’s container? </a:t>
            </a:r>
            <a:r>
              <a:rPr lang="en-US" altLang="ko-KR" sz="1400" dirty="0"/>
              <a:t>You have three options. Let’s start with the simplest—</a:t>
            </a:r>
            <a:r>
              <a:rPr lang="en-US" altLang="ko-KR" sz="1400" b="1" dirty="0"/>
              <a:t>setting an environment variable</a:t>
            </a:r>
            <a:r>
              <a:rPr lang="en-US" altLang="ko-KR" sz="1400" dirty="0"/>
              <a:t>. You’ll use the </a:t>
            </a:r>
            <a:r>
              <a:rPr lang="en-US" altLang="ko-KR" sz="1400" b="1" dirty="0"/>
              <a:t>“</a:t>
            </a:r>
            <a:r>
              <a:rPr lang="en-US" altLang="ko-KR" sz="1400" b="1" dirty="0" err="1">
                <a:solidFill>
                  <a:srgbClr val="FF0000"/>
                </a:solidFill>
              </a:rPr>
              <a:t>valueFrom</a:t>
            </a:r>
            <a:r>
              <a:rPr lang="en-US" altLang="ko-KR" sz="1400" b="1" dirty="0"/>
              <a:t>” field</a:t>
            </a:r>
            <a:r>
              <a:rPr lang="en-US" altLang="ko-KR" sz="1400" dirty="0"/>
              <a:t>. The pod descriptor should look like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51DF4F23-5F09-054D-C003-C1F458D2FE8C}"/>
              </a:ext>
            </a:extLst>
          </p:cNvPr>
          <p:cNvGrpSpPr/>
          <p:nvPr/>
        </p:nvGrpSpPr>
        <p:grpSpPr>
          <a:xfrm>
            <a:off x="3047326" y="1853937"/>
            <a:ext cx="6097348" cy="4555093"/>
            <a:chOff x="3047326" y="1853937"/>
            <a:chExt cx="6097348" cy="4555093"/>
          </a:xfrm>
        </p:grpSpPr>
        <p:sp>
          <p:nvSpPr>
            <p:cNvPr id="8" name="TextBox 7">
              <a:extLst>
                <a:ext uri="{FF2B5EF4-FFF2-40B4-BE49-F238E27FC236}">
                  <a16:creationId xmlns:a16="http://schemas.microsoft.com/office/drawing/2014/main" id="{878E37A7-F79E-09C0-BEA6-8FF4955662B4}"/>
                </a:ext>
              </a:extLst>
            </p:cNvPr>
            <p:cNvSpPr txBox="1"/>
            <p:nvPr/>
          </p:nvSpPr>
          <p:spPr>
            <a:xfrm>
              <a:off x="3047326" y="1853937"/>
              <a:ext cx="6097348" cy="455509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a:solidFill>
                    <a:srgbClr val="FF0000"/>
                  </a:solidFill>
                </a:rPr>
                <a:t>fortune-env-from-</a:t>
              </a:r>
              <a:r>
                <a:rPr lang="en-US" altLang="ko-KR" sz="1000" b="1" dirty="0" err="1">
                  <a:solidFill>
                    <a:srgbClr val="FF0000"/>
                  </a:solidFill>
                </a:rPr>
                <a:t>configmap</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a:t>
              </a:r>
              <a:r>
                <a:rPr lang="en-US" altLang="ko-KR" sz="1000" b="1" dirty="0" err="1">
                  <a:solidFill>
                    <a:srgbClr val="FF0000"/>
                  </a:solidFill>
                </a:rPr>
                <a:t>fortune:env</a:t>
              </a:r>
              <a:endParaRPr lang="en-US" altLang="ko-KR" sz="1000" b="1" dirty="0">
                <a:solidFill>
                  <a:srgbClr val="FF0000"/>
                </a:solidFill>
              </a:endParaRPr>
            </a:p>
            <a:p>
              <a:r>
                <a:rPr lang="en-US" altLang="ko-KR" sz="1000" b="1" dirty="0"/>
                <a:t>    </a:t>
              </a:r>
              <a:r>
                <a:rPr lang="en-US" altLang="ko-KR" sz="1000" b="1" dirty="0">
                  <a:solidFill>
                    <a:srgbClr val="FF0000"/>
                  </a:solidFill>
                </a:rPr>
                <a:t>env:</a:t>
              </a:r>
            </a:p>
            <a:p>
              <a:r>
                <a:rPr lang="en-US" altLang="ko-KR" sz="1000" b="1" dirty="0">
                  <a:solidFill>
                    <a:srgbClr val="FF0000"/>
                  </a:solidFill>
                </a:rPr>
                <a:t>    - name: INTERVAL</a:t>
              </a:r>
            </a:p>
            <a:p>
              <a:r>
                <a:rPr lang="en-US" altLang="ko-KR" sz="1000" b="1" dirty="0">
                  <a:solidFill>
                    <a:srgbClr val="FF0000"/>
                  </a:solidFill>
                </a:rPr>
                <a:t>      </a:t>
              </a:r>
              <a:r>
                <a:rPr lang="en-US" altLang="ko-KR" sz="1000" b="1" dirty="0" err="1">
                  <a:solidFill>
                    <a:srgbClr val="FF0000"/>
                  </a:solidFill>
                </a:rPr>
                <a:t>valueFrom</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configMapKeyRef</a:t>
              </a:r>
              <a:r>
                <a:rPr lang="en-US" altLang="ko-KR" sz="1000" b="1" dirty="0">
                  <a:solidFill>
                    <a:srgbClr val="FF0000"/>
                  </a:solidFill>
                </a:rPr>
                <a:t>:</a:t>
              </a:r>
            </a:p>
            <a:p>
              <a:r>
                <a:rPr lang="en-US" altLang="ko-KR" sz="1000" b="1" dirty="0">
                  <a:solidFill>
                    <a:srgbClr val="FF0000"/>
                  </a:solidFill>
                </a:rPr>
                <a:t>          name: fortune-config</a:t>
              </a:r>
            </a:p>
            <a:p>
              <a:r>
                <a:rPr lang="en-US" altLang="ko-KR" sz="1000" b="1" dirty="0">
                  <a:solidFill>
                    <a:srgbClr val="FF0000"/>
                  </a:solidFill>
                </a:rPr>
                <a:t>          key: sleep-interval</a:t>
              </a:r>
            </a:p>
            <a:p>
              <a:r>
                <a:rPr lang="en-US" altLang="ko-KR" sz="1000" b="1" dirty="0"/>
                <a:t>    name: html-generator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/var/</a:t>
              </a:r>
              <a:r>
                <a:rPr lang="en-US" altLang="ko-KR" sz="1000" b="1" dirty="0" err="1"/>
                <a:t>htdocs</a:t>
              </a:r>
              <a:endParaRPr lang="en-US" altLang="ko-KR" sz="1000" b="1" dirty="0"/>
            </a:p>
            <a:p>
              <a:r>
                <a:rPr lang="en-US" altLang="ko-KR" sz="1000" b="1" dirty="0"/>
                <a:t>  - image: </a:t>
              </a:r>
              <a:r>
                <a:rPr lang="en-US" altLang="ko-KR" sz="1000" b="1" dirty="0" err="1"/>
                <a:t>nginx:alpine</a:t>
              </a:r>
              <a:endParaRPr lang="en-US" altLang="ko-KR" sz="1000" b="1" dirty="0"/>
            </a:p>
            <a:p>
              <a:r>
                <a:rPr lang="en-US" altLang="ko-KR" sz="1000" b="1" dirty="0"/>
                <a:t>    name: web-server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a:t>
              </a:r>
              <a:r>
                <a:rPr lang="en-US" altLang="ko-KR" sz="1000" b="1" dirty="0" err="1"/>
                <a:t>usr</a:t>
              </a:r>
              <a:r>
                <a:rPr lang="en-US" altLang="ko-KR" sz="1000" b="1" dirty="0"/>
                <a:t>/share/nginx/html</a:t>
              </a:r>
            </a:p>
            <a:p>
              <a:r>
                <a:rPr lang="en-US" altLang="ko-KR" sz="1000" b="1" dirty="0"/>
                <a:t>      </a:t>
              </a:r>
              <a:r>
                <a:rPr lang="en-US" altLang="ko-KR" sz="1000" b="1" dirty="0" err="1"/>
                <a:t>readOnly</a:t>
              </a:r>
              <a:r>
                <a:rPr lang="en-US" altLang="ko-KR" sz="1000" b="1" dirty="0"/>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protocol: TCP</a:t>
              </a:r>
            </a:p>
            <a:p>
              <a:r>
                <a:rPr lang="en-US" altLang="ko-KR" sz="1000" b="1" dirty="0"/>
                <a:t>  volumes:</a:t>
              </a:r>
            </a:p>
            <a:p>
              <a:r>
                <a:rPr lang="en-US" altLang="ko-KR" sz="1000" b="1" dirty="0"/>
                <a:t>  - name: html</a:t>
              </a:r>
            </a:p>
            <a:p>
              <a:r>
                <a:rPr lang="en-US" altLang="ko-KR" sz="1000" b="1" dirty="0"/>
                <a:t>    </a:t>
              </a:r>
              <a:r>
                <a:rPr lang="en-US" altLang="ko-KR" sz="1000" b="1" dirty="0" err="1"/>
                <a:t>emptyDir</a:t>
              </a:r>
              <a:r>
                <a:rPr lang="en-US" altLang="ko-KR" sz="1000" b="1" dirty="0"/>
                <a:t>: {}</a:t>
              </a:r>
              <a:endParaRPr lang="ko-KR" altLang="en-US" sz="1000" b="1" dirty="0"/>
            </a:p>
          </p:txBody>
        </p:sp>
        <p:sp>
          <p:nvSpPr>
            <p:cNvPr id="10" name="TextBox 9">
              <a:extLst>
                <a:ext uri="{FF2B5EF4-FFF2-40B4-BE49-F238E27FC236}">
                  <a16:creationId xmlns:a16="http://schemas.microsoft.com/office/drawing/2014/main" id="{F2D774DF-133B-95D1-42F1-017BB3F9E603}"/>
                </a:ext>
              </a:extLst>
            </p:cNvPr>
            <p:cNvSpPr txBox="1"/>
            <p:nvPr/>
          </p:nvSpPr>
          <p:spPr>
            <a:xfrm>
              <a:off x="6909767" y="1853937"/>
              <a:ext cx="2234907" cy="246221"/>
            </a:xfrm>
            <a:prstGeom prst="rect">
              <a:avLst/>
            </a:prstGeom>
            <a:noFill/>
          </p:spPr>
          <p:txBody>
            <a:bodyPr wrap="none" rtlCol="0">
              <a:spAutoFit/>
            </a:bodyPr>
            <a:lstStyle/>
            <a:p>
              <a:pPr algn="l"/>
              <a:r>
                <a:rPr lang="en-US" altLang="ko-KR" sz="1000" b="1" dirty="0"/>
                <a:t>fortune-pod-env-</a:t>
              </a:r>
              <a:r>
                <a:rPr lang="en-US" altLang="ko-KR" sz="1000" b="1" dirty="0" err="1"/>
                <a:t>configmap.yaml</a:t>
              </a:r>
              <a:endParaRPr lang="ko-KR" altLang="en-US" sz="1000" b="1" dirty="0"/>
            </a:p>
          </p:txBody>
        </p:sp>
      </p:grpSp>
    </p:spTree>
    <p:extLst>
      <p:ext uri="{BB962C8B-B14F-4D97-AF65-F5344CB8AC3E}">
        <p14:creationId xmlns:p14="http://schemas.microsoft.com/office/powerpoint/2010/main" val="16393030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(9/31)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a </a:t>
            </a:r>
            <a:r>
              <a:rPr lang="en-US" altLang="ko-KR" sz="1800" b="1" dirty="0" err="1"/>
              <a:t>ConfigMap</a:t>
            </a:r>
            <a:r>
              <a:rPr lang="en-US" altLang="ko-KR" sz="1800" b="1" dirty="0"/>
              <a:t> Entry to a Container as an Environment Variable :</a:t>
            </a:r>
          </a:p>
          <a:p>
            <a:pPr lvl="1">
              <a:buFont typeface="Wingdings" panose="05000000000000000000" pitchFamily="2" charset="2"/>
              <a:buChar char="§"/>
            </a:pPr>
            <a:r>
              <a:rPr lang="en-US" altLang="ko-KR" sz="1400" b="1" dirty="0"/>
              <a:t>You defined an environment variable called “INTERVAL” and set its value to whatever is stored in the “fortune-config” </a:t>
            </a:r>
            <a:r>
              <a:rPr lang="en-US" altLang="ko-KR" sz="1400" b="1" dirty="0" err="1"/>
              <a:t>ConfigMap</a:t>
            </a:r>
            <a:r>
              <a:rPr lang="en-US" altLang="ko-KR" sz="1400" b="1" dirty="0"/>
              <a:t> under the key “sleep-interval”</a:t>
            </a:r>
            <a:r>
              <a:rPr lang="en-US" altLang="ko-KR" sz="1400" dirty="0"/>
              <a:t>. When the process running in the “</a:t>
            </a:r>
            <a:r>
              <a:rPr lang="en-US" altLang="ko-KR" sz="1400" b="1" dirty="0"/>
              <a:t>html-generator</a:t>
            </a:r>
            <a:r>
              <a:rPr lang="en-US" altLang="ko-KR" sz="1400" dirty="0"/>
              <a:t>” container reads the “</a:t>
            </a:r>
            <a:r>
              <a:rPr lang="en-US" altLang="ko-KR" sz="1400" b="1" dirty="0"/>
              <a:t>INTERVAL</a:t>
            </a:r>
            <a:r>
              <a:rPr lang="en-US" altLang="ko-KR" sz="1400" dirty="0"/>
              <a:t>” environment variable, it will see the value 25 (as shown in the following figure).</a:t>
            </a:r>
          </a:p>
          <a:p>
            <a:pPr lvl="1">
              <a:buFont typeface="Wingdings" panose="05000000000000000000" pitchFamily="2" charset="2"/>
              <a:buChar char="§"/>
            </a:pPr>
            <a:r>
              <a:rPr lang="en-US" altLang="ko-KR" sz="1400" b="1" dirty="0"/>
              <a:t>NOTE : In the actual example, I used “10” </a:t>
            </a:r>
            <a:r>
              <a:rPr lang="en-US" altLang="ko-KR" sz="1400" dirty="0"/>
              <a:t>instead of 25.</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might wonder what happens if the referenced </a:t>
            </a:r>
            <a:r>
              <a:rPr lang="en-US" altLang="ko-KR" sz="1400" b="1" dirty="0" err="1"/>
              <a:t>ConfigMap</a:t>
            </a:r>
            <a:r>
              <a:rPr lang="en-US" altLang="ko-KR" sz="1400" dirty="0"/>
              <a:t> doesn’t exist when you create the pod. Kubernetes schedules the pod normally and tries to run its containers. </a:t>
            </a:r>
            <a:r>
              <a:rPr lang="en-US" altLang="ko-KR" sz="1400" b="1" dirty="0"/>
              <a:t>The container referencing the non-existing </a:t>
            </a:r>
            <a:r>
              <a:rPr lang="en-US" altLang="ko-KR" sz="1400" b="1" dirty="0" err="1"/>
              <a:t>ConfigMap</a:t>
            </a:r>
            <a:r>
              <a:rPr lang="en-US" altLang="ko-KR" sz="1400" b="1" dirty="0"/>
              <a:t> will fail to start, but the other container will start normally. If you then create the missing </a:t>
            </a:r>
            <a:r>
              <a:rPr lang="en-US" altLang="ko-KR" sz="1400" b="1" dirty="0" err="1"/>
              <a:t>ConfigMap</a:t>
            </a:r>
            <a:r>
              <a:rPr lang="en-US" altLang="ko-KR" sz="1400" b="1" dirty="0"/>
              <a:t>, the failed container is started without requiring you to recreate the pod</a:t>
            </a:r>
            <a:r>
              <a:rPr lang="en-US" altLang="ko-KR" sz="1400" dirty="0"/>
              <a:t>.</a:t>
            </a:r>
          </a:p>
          <a:p>
            <a:pPr lvl="1">
              <a:buFont typeface="Wingdings" panose="05000000000000000000" pitchFamily="2" charset="2"/>
              <a:buChar char="§"/>
            </a:pPr>
            <a:r>
              <a:rPr lang="en-US" altLang="ko-KR" sz="1400" b="1" dirty="0"/>
              <a:t>NOTE : You can also mark a reference to a </a:t>
            </a:r>
            <a:r>
              <a:rPr lang="en-US" altLang="ko-KR" sz="1400" b="1" dirty="0" err="1"/>
              <a:t>ConfigMap</a:t>
            </a:r>
            <a:r>
              <a:rPr lang="en-US" altLang="ko-KR" sz="1400" b="1" dirty="0"/>
              <a:t> as optional </a:t>
            </a:r>
            <a:r>
              <a:rPr lang="en-US" altLang="ko-KR" sz="1400" dirty="0"/>
              <a:t>(by setting “</a:t>
            </a:r>
            <a:r>
              <a:rPr lang="en-US" altLang="ko-KR" sz="1400" b="1" dirty="0" err="1"/>
              <a:t>configMapKeyRef.optional</a:t>
            </a:r>
            <a:r>
              <a:rPr lang="en-US" altLang="ko-KR" sz="1400" b="1" dirty="0"/>
              <a:t>: true</a:t>
            </a:r>
            <a:r>
              <a:rPr lang="en-US" altLang="ko-KR" sz="1400" dirty="0"/>
              <a:t>”). </a:t>
            </a:r>
            <a:r>
              <a:rPr lang="en-US" altLang="ko-KR" sz="1400" b="1" dirty="0"/>
              <a:t>In that case, the container starts even if the </a:t>
            </a:r>
            <a:r>
              <a:rPr lang="en-US" altLang="ko-KR" sz="1400" b="1" dirty="0" err="1"/>
              <a:t>ConfigMap</a:t>
            </a:r>
            <a:r>
              <a:rPr lang="en-US" altLang="ko-KR" sz="1400" b="1" dirty="0"/>
              <a:t> doesn’t exist</a:t>
            </a:r>
            <a:r>
              <a:rPr lang="en-US" altLang="ko-KR" sz="1400" dirty="0"/>
              <a:t>.</a:t>
            </a:r>
          </a:p>
          <a:p>
            <a:pPr lvl="1">
              <a:buFont typeface="Wingdings" panose="05000000000000000000" pitchFamily="2" charset="2"/>
              <a:buChar char="§"/>
            </a:pPr>
            <a:r>
              <a:rPr lang="en-US" altLang="ko-KR" sz="1400" b="1" dirty="0"/>
              <a:t>The above example shows you how to </a:t>
            </a:r>
            <a:r>
              <a:rPr lang="en-US" altLang="ko-KR" sz="1400" b="1" dirty="0">
                <a:solidFill>
                  <a:srgbClr val="FF0000"/>
                </a:solidFill>
              </a:rPr>
              <a:t>decouple the configuration from the pod specification</a:t>
            </a:r>
            <a:r>
              <a:rPr lang="en-US" altLang="ko-KR" sz="1400" dirty="0"/>
              <a:t>. </a:t>
            </a:r>
            <a:r>
              <a:rPr lang="en-US" altLang="ko-KR" sz="1400" b="1" dirty="0"/>
              <a:t>This allows you to keep all the configuration options closely together (even for multiple pods)</a:t>
            </a:r>
            <a:r>
              <a:rPr lang="en-US" altLang="ko-KR" sz="1400" dirty="0"/>
              <a:t> instead of having them splattered around the pod definition (or duplicated across multiple pod manifests).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81952255-11A1-0012-A1B6-84E0E09E9060}"/>
              </a:ext>
            </a:extLst>
          </p:cNvPr>
          <p:cNvPicPr>
            <a:picLocks noChangeAspect="1"/>
          </p:cNvPicPr>
          <p:nvPr/>
        </p:nvPicPr>
        <p:blipFill>
          <a:blip r:embed="rId2"/>
          <a:stretch>
            <a:fillRect/>
          </a:stretch>
        </p:blipFill>
        <p:spPr>
          <a:xfrm>
            <a:off x="4029075" y="2151849"/>
            <a:ext cx="4133850" cy="1971675"/>
          </a:xfrm>
          <a:prstGeom prst="rect">
            <a:avLst/>
          </a:prstGeom>
        </p:spPr>
      </p:pic>
    </p:spTree>
    <p:extLst>
      <p:ext uri="{BB962C8B-B14F-4D97-AF65-F5344CB8AC3E}">
        <p14:creationId xmlns:p14="http://schemas.microsoft.com/office/powerpoint/2010/main" val="25530143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The </a:t>
            </a:r>
            <a:r>
              <a:rPr lang="en-US" altLang="ko-KR" sz="2800" b="1" dirty="0" err="1"/>
              <a:t>ConfigMap</a:t>
            </a:r>
            <a:r>
              <a:rPr lang="en-US" altLang="ko-KR" sz="2800" b="1" dirty="0"/>
              <a:t> Example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ConfigMap</a:t>
            </a:r>
            <a:r>
              <a:rPr lang="en-US" altLang="ko-KR" sz="1800" b="1" dirty="0"/>
              <a:t> for Environment Variable :</a:t>
            </a:r>
          </a:p>
          <a:p>
            <a:pPr lvl="1">
              <a:buFont typeface="Wingdings" panose="05000000000000000000" pitchFamily="2" charset="2"/>
              <a:buChar char="§"/>
            </a:pPr>
            <a:r>
              <a:rPr lang="en-US" altLang="ko-KR" sz="1400" dirty="0"/>
              <a:t>Now, you can </a:t>
            </a:r>
            <a:r>
              <a:rPr lang="en-US" altLang="ko-KR" sz="1400" b="1" dirty="0"/>
              <a:t>create the </a:t>
            </a:r>
            <a:r>
              <a:rPr lang="en-US" altLang="ko-KR" sz="1400" b="1" dirty="0" err="1"/>
              <a:t>ConfigMap</a:t>
            </a:r>
            <a:r>
              <a:rPr lang="en-US" altLang="ko-KR" sz="1400" b="1" dirty="0"/>
              <a:t> and Pod </a:t>
            </a:r>
            <a:r>
              <a:rPr lang="en-US" altLang="ko-KR" sz="1400" dirty="0"/>
              <a:t>with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1C0695BE-EF3D-F063-05AB-39BB75912BD8}"/>
              </a:ext>
            </a:extLst>
          </p:cNvPr>
          <p:cNvGrpSpPr/>
          <p:nvPr/>
        </p:nvGrpSpPr>
        <p:grpSpPr>
          <a:xfrm>
            <a:off x="1175537" y="1697085"/>
            <a:ext cx="9840925" cy="3463830"/>
            <a:chOff x="1175537" y="1697085"/>
            <a:chExt cx="9840925" cy="3463830"/>
          </a:xfrm>
        </p:grpSpPr>
        <p:grpSp>
          <p:nvGrpSpPr>
            <p:cNvPr id="16" name="그룹 15">
              <a:extLst>
                <a:ext uri="{FF2B5EF4-FFF2-40B4-BE49-F238E27FC236}">
                  <a16:creationId xmlns:a16="http://schemas.microsoft.com/office/drawing/2014/main" id="{B1350702-F3C2-C8DE-4936-0489C2EFC669}"/>
                </a:ext>
              </a:extLst>
            </p:cNvPr>
            <p:cNvGrpSpPr/>
            <p:nvPr/>
          </p:nvGrpSpPr>
          <p:grpSpPr>
            <a:xfrm>
              <a:off x="1175537" y="1697085"/>
              <a:ext cx="9840925" cy="3463830"/>
              <a:chOff x="1175537" y="1605611"/>
              <a:chExt cx="9840925" cy="3463830"/>
            </a:xfrm>
          </p:grpSpPr>
          <p:grpSp>
            <p:nvGrpSpPr>
              <p:cNvPr id="12" name="그룹 11">
                <a:extLst>
                  <a:ext uri="{FF2B5EF4-FFF2-40B4-BE49-F238E27FC236}">
                    <a16:creationId xmlns:a16="http://schemas.microsoft.com/office/drawing/2014/main" id="{DE38F3A8-1B08-EAA0-DA93-25840E0C0C3E}"/>
                  </a:ext>
                </a:extLst>
              </p:cNvPr>
              <p:cNvGrpSpPr/>
              <p:nvPr/>
            </p:nvGrpSpPr>
            <p:grpSpPr>
              <a:xfrm>
                <a:off x="1175537" y="1605611"/>
                <a:ext cx="9840925" cy="3463830"/>
                <a:chOff x="1175537" y="1532782"/>
                <a:chExt cx="9840925" cy="3463830"/>
              </a:xfrm>
            </p:grpSpPr>
            <p:pic>
              <p:nvPicPr>
                <p:cNvPr id="8" name="그림 7">
                  <a:extLst>
                    <a:ext uri="{FF2B5EF4-FFF2-40B4-BE49-F238E27FC236}">
                      <a16:creationId xmlns:a16="http://schemas.microsoft.com/office/drawing/2014/main" id="{2C2C08E6-3514-5197-6DED-A7E0F128630D}"/>
                    </a:ext>
                  </a:extLst>
                </p:cNvPr>
                <p:cNvPicPr>
                  <a:picLocks noChangeAspect="1"/>
                </p:cNvPicPr>
                <p:nvPr/>
              </p:nvPicPr>
              <p:blipFill>
                <a:blip r:embed="rId2"/>
                <a:stretch>
                  <a:fillRect/>
                </a:stretch>
              </p:blipFill>
              <p:spPr>
                <a:xfrm>
                  <a:off x="1175537" y="2380567"/>
                  <a:ext cx="9840925" cy="2616045"/>
                </a:xfrm>
                <a:prstGeom prst="rect">
                  <a:avLst/>
                </a:prstGeom>
              </p:spPr>
            </p:pic>
            <p:sp>
              <p:nvSpPr>
                <p:cNvPr id="10" name="TextBox 9">
                  <a:extLst>
                    <a:ext uri="{FF2B5EF4-FFF2-40B4-BE49-F238E27FC236}">
                      <a16:creationId xmlns:a16="http://schemas.microsoft.com/office/drawing/2014/main" id="{B795DD93-27ED-305F-97BA-922A15A8229B}"/>
                    </a:ext>
                  </a:extLst>
                </p:cNvPr>
                <p:cNvSpPr txBox="1"/>
                <p:nvPr/>
              </p:nvSpPr>
              <p:spPr>
                <a:xfrm>
                  <a:off x="3047325" y="1532782"/>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fortune-</a:t>
                  </a:r>
                  <a:r>
                    <a:rPr lang="en-US" altLang="ko-KR" sz="1000" b="1" dirty="0" err="1">
                      <a:solidFill>
                        <a:srgbClr val="FF0000"/>
                      </a:solidFill>
                    </a:rPr>
                    <a:t>config.yaml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fortune-pod-env-</a:t>
                  </a:r>
                  <a:r>
                    <a:rPr lang="en-US" altLang="ko-KR" sz="1000" b="1" dirty="0" err="1">
                      <a:solidFill>
                        <a:srgbClr val="FF0000"/>
                      </a:solidFill>
                    </a:rPr>
                    <a:t>configmap.yaml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logs </a:t>
                  </a:r>
                  <a:r>
                    <a:rPr lang="en-US" altLang="ko-KR" sz="1000" b="1" dirty="0">
                      <a:solidFill>
                        <a:srgbClr val="FF0000"/>
                      </a:solidFill>
                    </a:rPr>
                    <a:t>fortune-env-from-</a:t>
                  </a:r>
                  <a:r>
                    <a:rPr lang="en-US" altLang="ko-KR" sz="1000" b="1" dirty="0" err="1">
                      <a:solidFill>
                        <a:srgbClr val="FF0000"/>
                      </a:solidFill>
                    </a:rPr>
                    <a:t>configmap</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63412737-71BF-B307-2E23-FEEBCE78EECA}"/>
                    </a:ext>
                  </a:extLst>
                </p:cNvPr>
                <p:cNvSpPr/>
                <p:nvPr/>
              </p:nvSpPr>
              <p:spPr>
                <a:xfrm>
                  <a:off x="5857284" y="2105438"/>
                  <a:ext cx="477430" cy="27512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234AA1B1-816D-0BA3-1997-DBD802FF8B7C}"/>
                  </a:ext>
                </a:extLst>
              </p:cNvPr>
              <p:cNvSpPr/>
              <p:nvPr/>
            </p:nvSpPr>
            <p:spPr>
              <a:xfrm>
                <a:off x="5356927" y="2905041"/>
                <a:ext cx="2500439" cy="1780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EF89EA65-1E11-C9E3-1790-6E45BE6AE8C8}"/>
                  </a:ext>
                </a:extLst>
              </p:cNvPr>
              <p:cNvSpPr/>
              <p:nvPr/>
            </p:nvSpPr>
            <p:spPr>
              <a:xfrm>
                <a:off x="5356926" y="3184268"/>
                <a:ext cx="3253674" cy="1739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16F2CD25-986C-EAFA-4117-55A35217E3AD}"/>
                  </a:ext>
                </a:extLst>
              </p:cNvPr>
              <p:cNvSpPr/>
              <p:nvPr/>
            </p:nvSpPr>
            <p:spPr>
              <a:xfrm>
                <a:off x="5356926" y="3882317"/>
                <a:ext cx="2654189" cy="1739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직사각형 16">
              <a:extLst>
                <a:ext uri="{FF2B5EF4-FFF2-40B4-BE49-F238E27FC236}">
                  <a16:creationId xmlns:a16="http://schemas.microsoft.com/office/drawing/2014/main" id="{9ECBB9B5-C4FD-1778-2E9A-04D7E2CB2579}"/>
                </a:ext>
              </a:extLst>
            </p:cNvPr>
            <p:cNvSpPr/>
            <p:nvPr/>
          </p:nvSpPr>
          <p:spPr>
            <a:xfrm>
              <a:off x="2023009" y="4402067"/>
              <a:ext cx="590718" cy="4369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598536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(10/31)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All Entries of a </a:t>
            </a:r>
            <a:r>
              <a:rPr lang="en-US" altLang="ko-KR" sz="1800" b="1" dirty="0" err="1"/>
              <a:t>ConfigMap</a:t>
            </a:r>
            <a:r>
              <a:rPr lang="en-US" altLang="ko-KR" sz="1800" b="1" dirty="0"/>
              <a:t> as Environment Variables at Once :</a:t>
            </a:r>
          </a:p>
          <a:p>
            <a:pPr lvl="1">
              <a:buFont typeface="Wingdings" panose="05000000000000000000" pitchFamily="2" charset="2"/>
              <a:buChar char="§"/>
            </a:pPr>
            <a:r>
              <a:rPr lang="en-US" altLang="ko-KR" sz="1400" dirty="0"/>
              <a:t>When your </a:t>
            </a:r>
            <a:r>
              <a:rPr lang="en-US" altLang="ko-KR" sz="1400" b="1" dirty="0" err="1"/>
              <a:t>ConfigMap</a:t>
            </a:r>
            <a:r>
              <a:rPr lang="en-US" altLang="ko-KR" sz="1400" dirty="0"/>
              <a:t> contains more than just a few entries, it becomes tedious and error-prone to create environment variables from each entry individually. </a:t>
            </a:r>
            <a:r>
              <a:rPr lang="en-US" altLang="ko-KR" sz="1400" b="1" dirty="0"/>
              <a:t>Kubernetes version 1.6+ provides a way to expose all entries of a </a:t>
            </a:r>
            <a:r>
              <a:rPr lang="en-US" altLang="ko-KR" sz="1400" b="1" dirty="0" err="1"/>
              <a:t>ConfigMap</a:t>
            </a:r>
            <a:r>
              <a:rPr lang="en-US" altLang="ko-KR" sz="1400" b="1" dirty="0"/>
              <a:t> as environment variables</a:t>
            </a:r>
            <a:r>
              <a:rPr lang="en-US" altLang="ko-KR" sz="1400" dirty="0"/>
              <a:t>.</a:t>
            </a:r>
          </a:p>
          <a:p>
            <a:pPr lvl="1">
              <a:buFont typeface="Wingdings" panose="05000000000000000000" pitchFamily="2" charset="2"/>
              <a:buChar char="§"/>
            </a:pPr>
            <a:r>
              <a:rPr lang="en-US" altLang="ko-KR" sz="1400" dirty="0"/>
              <a:t>Imagine having a </a:t>
            </a:r>
            <a:r>
              <a:rPr lang="en-US" altLang="ko-KR" sz="1400" b="1" dirty="0" err="1"/>
              <a:t>ConfigMap</a:t>
            </a:r>
            <a:r>
              <a:rPr lang="en-US" altLang="ko-KR" sz="1400" dirty="0"/>
              <a:t> with three keys called “</a:t>
            </a:r>
            <a:r>
              <a:rPr lang="en-US" altLang="ko-KR" sz="1400" b="1" dirty="0"/>
              <a:t>FOO</a:t>
            </a:r>
            <a:r>
              <a:rPr lang="en-US" altLang="ko-KR" sz="1400" dirty="0"/>
              <a:t>”, “</a:t>
            </a:r>
            <a:r>
              <a:rPr lang="en-US" altLang="ko-KR" sz="1400" b="1" dirty="0"/>
              <a:t>BAR</a:t>
            </a:r>
            <a:r>
              <a:rPr lang="en-US" altLang="ko-KR" sz="1400" dirty="0"/>
              <a:t>”, and “</a:t>
            </a:r>
            <a:r>
              <a:rPr lang="en-US" altLang="ko-KR" sz="1400" b="1" dirty="0"/>
              <a:t>FOO-BAR</a:t>
            </a:r>
            <a:r>
              <a:rPr lang="en-US" altLang="ko-KR" sz="1400" dirty="0"/>
              <a:t>”. You can expose them all as environment variables by using the “</a:t>
            </a:r>
            <a:r>
              <a:rPr lang="en-US" altLang="ko-KR" sz="1400" b="1" dirty="0" err="1"/>
              <a:t>envFrom</a:t>
            </a:r>
            <a:r>
              <a:rPr lang="en-US" altLang="ko-KR" sz="1400" dirty="0"/>
              <a:t>” attribute, instead of “</a:t>
            </a:r>
            <a:r>
              <a:rPr lang="en-US" altLang="ko-KR" sz="1400" b="1" dirty="0"/>
              <a:t>env</a:t>
            </a:r>
            <a:r>
              <a:rPr lang="en-US" altLang="ko-KR" sz="1400" dirty="0"/>
              <a:t>” the way we did in previous examples. The following listing shows an example.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you can see, </a:t>
            </a:r>
            <a:r>
              <a:rPr lang="en-US" altLang="ko-KR" sz="1400" b="1" dirty="0"/>
              <a:t>you can also </a:t>
            </a:r>
            <a:r>
              <a:rPr lang="en-US" altLang="ko-KR" sz="1400" b="1" dirty="0">
                <a:solidFill>
                  <a:srgbClr val="FF0000"/>
                </a:solidFill>
              </a:rPr>
              <a:t>specify a prefix </a:t>
            </a:r>
            <a:r>
              <a:rPr lang="en-US" altLang="ko-KR" sz="1400" b="1" dirty="0"/>
              <a:t>for the environment variables (“CONFIG_” in this case)</a:t>
            </a:r>
            <a:r>
              <a:rPr lang="en-US" altLang="ko-KR" sz="1400" dirty="0"/>
              <a:t>. This results in the following two environment variables being present inside the container : “</a:t>
            </a:r>
            <a:r>
              <a:rPr lang="en-US" altLang="ko-KR" sz="1400" b="1" dirty="0"/>
              <a:t>CONFIG_FOO</a:t>
            </a:r>
            <a:r>
              <a:rPr lang="en-US" altLang="ko-KR" sz="1400" dirty="0"/>
              <a:t>” and “</a:t>
            </a:r>
            <a:r>
              <a:rPr lang="en-US" altLang="ko-KR" sz="1400" b="1" dirty="0"/>
              <a:t>CONFIG_BAR</a:t>
            </a:r>
            <a:r>
              <a:rPr lang="en-US" altLang="ko-KR" sz="1400" dirty="0"/>
              <a:t>”.</a:t>
            </a:r>
          </a:p>
          <a:p>
            <a:pPr lvl="1">
              <a:buFont typeface="Wingdings" panose="05000000000000000000" pitchFamily="2" charset="2"/>
              <a:buChar char="§"/>
            </a:pPr>
            <a:r>
              <a:rPr lang="en-US" altLang="ko-KR" sz="1400" b="1" dirty="0"/>
              <a:t>NOTE : The prefix is optional, so if you omit it the environment variables will have the same name as the keys</a:t>
            </a:r>
            <a:r>
              <a:rPr lang="en-US" altLang="ko-KR" sz="1400" dirty="0"/>
              <a:t>.</a:t>
            </a:r>
          </a:p>
          <a:p>
            <a:pPr lvl="1">
              <a:buFont typeface="Wingdings" panose="05000000000000000000" pitchFamily="2" charset="2"/>
              <a:buChar char="§"/>
            </a:pPr>
            <a:r>
              <a:rPr lang="en-US" altLang="ko-KR" sz="1400" b="1" dirty="0"/>
              <a:t>The reason is that “</a:t>
            </a:r>
            <a:r>
              <a:rPr lang="en-US" altLang="ko-KR" sz="1400" b="1" dirty="0">
                <a:solidFill>
                  <a:srgbClr val="FF0000"/>
                </a:solidFill>
              </a:rPr>
              <a:t>CONFIG_FOO-BAR</a:t>
            </a:r>
            <a:r>
              <a:rPr lang="en-US" altLang="ko-KR" sz="1400" b="1" dirty="0"/>
              <a:t>” isn’t a valid environment variable name because </a:t>
            </a:r>
            <a:r>
              <a:rPr lang="en-US" altLang="ko-KR" sz="1400" b="1" dirty="0">
                <a:solidFill>
                  <a:srgbClr val="FF0000"/>
                </a:solidFill>
              </a:rPr>
              <a:t>it contains a dash</a:t>
            </a:r>
            <a:r>
              <a:rPr lang="en-US" altLang="ko-KR" sz="1400" dirty="0"/>
              <a:t>. </a:t>
            </a:r>
            <a:r>
              <a:rPr lang="en-US" altLang="ko-KR" sz="1400" b="1" dirty="0"/>
              <a:t>Kubernetes doesn’t convert the keys in any way </a:t>
            </a:r>
            <a:r>
              <a:rPr lang="en-US" altLang="ko-KR" sz="1400" dirty="0"/>
              <a:t>(it doesn’t convert dashes to underscores, for example). </a:t>
            </a:r>
            <a:r>
              <a:rPr lang="en-US" altLang="ko-KR" sz="1400" b="1" dirty="0"/>
              <a:t>If a </a:t>
            </a:r>
            <a:r>
              <a:rPr lang="en-US" altLang="ko-KR" sz="1400" b="1" dirty="0" err="1"/>
              <a:t>ConfigMap</a:t>
            </a:r>
            <a:r>
              <a:rPr lang="en-US" altLang="ko-KR" sz="1400" b="1" dirty="0"/>
              <a:t> key isn’t in the proper format, it skips the entry </a:t>
            </a:r>
            <a:r>
              <a:rPr lang="en-US" altLang="ko-KR" sz="1400" dirty="0"/>
              <a:t>(but it does record an event informing you it skipped it).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9AC53A0-FCD9-A871-078A-E6B34F075A5E}"/>
              </a:ext>
            </a:extLst>
          </p:cNvPr>
          <p:cNvSpPr txBox="1"/>
          <p:nvPr/>
        </p:nvSpPr>
        <p:spPr>
          <a:xfrm>
            <a:off x="3047326" y="2690336"/>
            <a:ext cx="6097348" cy="1477328"/>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spec:</a:t>
            </a:r>
          </a:p>
          <a:p>
            <a:r>
              <a:rPr lang="en-US" altLang="ko-KR" sz="1000" b="1" dirty="0"/>
              <a:t>  containers:</a:t>
            </a:r>
          </a:p>
          <a:p>
            <a:r>
              <a:rPr lang="en-US" altLang="ko-KR" sz="1000" b="1" dirty="0"/>
              <a:t>  - image: some-image</a:t>
            </a:r>
          </a:p>
          <a:p>
            <a:r>
              <a:rPr lang="en-US" altLang="ko-KR" sz="1000" b="1" dirty="0"/>
              <a:t>    </a:t>
            </a:r>
            <a:r>
              <a:rPr lang="en-US" altLang="ko-KR" sz="1000" b="1" dirty="0" err="1">
                <a:solidFill>
                  <a:srgbClr val="FF0000"/>
                </a:solidFill>
              </a:rPr>
              <a:t>envFrom</a:t>
            </a:r>
            <a:r>
              <a:rPr lang="en-US" altLang="ko-KR" sz="1000" b="1" dirty="0">
                <a:solidFill>
                  <a:srgbClr val="FF0000"/>
                </a:solidFill>
              </a:rPr>
              <a:t>:</a:t>
            </a:r>
          </a:p>
          <a:p>
            <a:r>
              <a:rPr lang="en-US" altLang="ko-KR" sz="1000" b="1" dirty="0">
                <a:solidFill>
                  <a:srgbClr val="FF0000"/>
                </a:solidFill>
              </a:rPr>
              <a:t>    - prefix: CONFIG_</a:t>
            </a:r>
          </a:p>
          <a:p>
            <a:r>
              <a:rPr lang="en-US" altLang="ko-KR" sz="1000" b="1" dirty="0">
                <a:solidFill>
                  <a:srgbClr val="FF0000"/>
                </a:solidFill>
              </a:rPr>
              <a:t>      </a:t>
            </a:r>
            <a:r>
              <a:rPr lang="en-US" altLang="ko-KR" sz="1000" b="1" dirty="0" err="1">
                <a:solidFill>
                  <a:srgbClr val="FF0000"/>
                </a:solidFill>
              </a:rPr>
              <a:t>configMapRef</a:t>
            </a:r>
            <a:r>
              <a:rPr lang="en-US" altLang="ko-KR" sz="1000" b="1" dirty="0">
                <a:solidFill>
                  <a:srgbClr val="FF0000"/>
                </a:solidFill>
              </a:rPr>
              <a:t>:</a:t>
            </a:r>
          </a:p>
          <a:p>
            <a:r>
              <a:rPr lang="en-US" altLang="ko-KR" sz="1000" b="1" dirty="0">
                <a:solidFill>
                  <a:srgbClr val="FF0000"/>
                </a:solidFill>
              </a:rPr>
              <a:t>        name: my-config-map</a:t>
            </a:r>
          </a:p>
          <a:p>
            <a:r>
              <a:rPr lang="en-US" altLang="ko-KR" sz="1000" b="1" dirty="0"/>
              <a:t>...</a:t>
            </a:r>
            <a:endParaRPr lang="ko-KR" altLang="en-US" sz="1000" b="1" dirty="0"/>
          </a:p>
        </p:txBody>
      </p:sp>
    </p:spTree>
    <p:extLst>
      <p:ext uri="{BB962C8B-B14F-4D97-AF65-F5344CB8AC3E}">
        <p14:creationId xmlns:p14="http://schemas.microsoft.com/office/powerpoint/2010/main" val="24852510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(11/31)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a </a:t>
            </a:r>
            <a:r>
              <a:rPr lang="en-US" altLang="ko-KR" sz="1800" b="1" dirty="0" err="1"/>
              <a:t>ConfigMap</a:t>
            </a:r>
            <a:r>
              <a:rPr lang="en-US" altLang="ko-KR" sz="1800" b="1" dirty="0"/>
              <a:t> Entry as a Command-Line Argument :</a:t>
            </a:r>
          </a:p>
          <a:p>
            <a:pPr lvl="1">
              <a:buFont typeface="Wingdings" panose="05000000000000000000" pitchFamily="2" charset="2"/>
              <a:buChar char="§"/>
            </a:pPr>
            <a:r>
              <a:rPr lang="en-US" altLang="ko-KR" sz="1400" dirty="0"/>
              <a:t>Now, let’s also look at </a:t>
            </a:r>
            <a:r>
              <a:rPr lang="en-US" altLang="ko-KR" sz="1400" b="1" dirty="0"/>
              <a:t>how to pass values from a </a:t>
            </a:r>
            <a:r>
              <a:rPr lang="en-US" altLang="ko-KR" sz="1400" b="1" dirty="0" err="1"/>
              <a:t>ConfigMap</a:t>
            </a:r>
            <a:r>
              <a:rPr lang="en-US" altLang="ko-KR" sz="1400" b="1" dirty="0"/>
              <a:t> as arguments to the main process running in the container</a:t>
            </a:r>
            <a:r>
              <a:rPr lang="en-US" altLang="ko-KR" sz="1400" dirty="0"/>
              <a:t>. </a:t>
            </a:r>
            <a:r>
              <a:rPr lang="en-US" altLang="ko-KR" sz="1400" b="1" dirty="0"/>
              <a:t>You can’t reference </a:t>
            </a:r>
            <a:r>
              <a:rPr lang="en-US" altLang="ko-KR" sz="1400" b="1" dirty="0" err="1"/>
              <a:t>ConfigMap</a:t>
            </a:r>
            <a:r>
              <a:rPr lang="en-US" altLang="ko-KR" sz="1400" b="1" dirty="0"/>
              <a:t> entries directly in the “</a:t>
            </a:r>
            <a:r>
              <a:rPr lang="en-US" altLang="ko-KR" sz="1400" b="1" dirty="0" err="1"/>
              <a:t>pod.spec.containers.args</a:t>
            </a:r>
            <a:r>
              <a:rPr lang="en-US" altLang="ko-KR" sz="1400" b="1" dirty="0"/>
              <a:t>” field</a:t>
            </a:r>
            <a:r>
              <a:rPr lang="en-US" altLang="ko-KR" sz="1400" dirty="0"/>
              <a:t>, but you can </a:t>
            </a:r>
            <a:r>
              <a:rPr lang="en-US" altLang="ko-KR" sz="1400" b="1" dirty="0"/>
              <a:t>first initialize an environment variable from the </a:t>
            </a:r>
            <a:r>
              <a:rPr lang="en-US" altLang="ko-KR" sz="1400" b="1" dirty="0" err="1"/>
              <a:t>ConfigMap</a:t>
            </a:r>
            <a:r>
              <a:rPr lang="en-US" altLang="ko-KR" sz="1400" b="1" dirty="0"/>
              <a:t> entry and then refer to the variable </a:t>
            </a:r>
            <a:r>
              <a:rPr lang="en-US" altLang="ko-KR" sz="1400" dirty="0"/>
              <a:t>inside the arguments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8F9E86AC-E0C1-E9B1-13D3-B6385FE686B0}"/>
              </a:ext>
            </a:extLst>
          </p:cNvPr>
          <p:cNvGrpSpPr/>
          <p:nvPr/>
        </p:nvGrpSpPr>
        <p:grpSpPr>
          <a:xfrm>
            <a:off x="3629025" y="2605880"/>
            <a:ext cx="4933950" cy="1971675"/>
            <a:chOff x="3629025" y="2443162"/>
            <a:chExt cx="4933950" cy="1971675"/>
          </a:xfrm>
        </p:grpSpPr>
        <p:pic>
          <p:nvPicPr>
            <p:cNvPr id="8" name="그림 7">
              <a:extLst>
                <a:ext uri="{FF2B5EF4-FFF2-40B4-BE49-F238E27FC236}">
                  <a16:creationId xmlns:a16="http://schemas.microsoft.com/office/drawing/2014/main" id="{FD46F93F-32E2-6AC8-4659-8107ED6ED691}"/>
                </a:ext>
              </a:extLst>
            </p:cNvPr>
            <p:cNvPicPr>
              <a:picLocks noChangeAspect="1"/>
            </p:cNvPicPr>
            <p:nvPr/>
          </p:nvPicPr>
          <p:blipFill>
            <a:blip r:embed="rId2"/>
            <a:stretch>
              <a:fillRect/>
            </a:stretch>
          </p:blipFill>
          <p:spPr>
            <a:xfrm>
              <a:off x="3629025" y="2443162"/>
              <a:ext cx="4933950" cy="1971675"/>
            </a:xfrm>
            <a:prstGeom prst="rect">
              <a:avLst/>
            </a:prstGeom>
          </p:spPr>
        </p:pic>
        <p:sp>
          <p:nvSpPr>
            <p:cNvPr id="9" name="직사각형 8">
              <a:extLst>
                <a:ext uri="{FF2B5EF4-FFF2-40B4-BE49-F238E27FC236}">
                  <a16:creationId xmlns:a16="http://schemas.microsoft.com/office/drawing/2014/main" id="{540533CF-CF46-C206-84D9-A4521F561867}"/>
                </a:ext>
              </a:extLst>
            </p:cNvPr>
            <p:cNvSpPr/>
            <p:nvPr/>
          </p:nvSpPr>
          <p:spPr>
            <a:xfrm>
              <a:off x="3884177" y="3495759"/>
              <a:ext cx="1537487" cy="2913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694719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(12/31)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Passing a </a:t>
            </a:r>
            <a:r>
              <a:rPr lang="en-US" altLang="ko-KR" sz="1800" b="1" dirty="0" err="1"/>
              <a:t>ConfigMap</a:t>
            </a:r>
            <a:r>
              <a:rPr lang="en-US" altLang="ko-KR" sz="1800" b="1" dirty="0"/>
              <a:t> Entry as a Command-Line Argument :</a:t>
            </a:r>
          </a:p>
          <a:p>
            <a:pPr lvl="1">
              <a:buFont typeface="Wingdings" panose="05000000000000000000" pitchFamily="2" charset="2"/>
              <a:buChar char="§"/>
            </a:pPr>
            <a:r>
              <a:rPr lang="en-US" altLang="ko-KR" sz="1400" dirty="0"/>
              <a:t>In the following listing, you defined the environment variable exactly as you did before, but then </a:t>
            </a:r>
            <a:r>
              <a:rPr lang="en-US" altLang="ko-KR" sz="1400" b="1" dirty="0"/>
              <a:t>you used the “$(ENV_VARIABLE_NAME)” syntax to have Kubernetes inject the value of the variable into the argument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C670F0B-D0D6-1648-B143-8623CD17D063}"/>
              </a:ext>
            </a:extLst>
          </p:cNvPr>
          <p:cNvGrpSpPr/>
          <p:nvPr/>
        </p:nvGrpSpPr>
        <p:grpSpPr>
          <a:xfrm>
            <a:off x="3047326" y="1700049"/>
            <a:ext cx="6097348" cy="4708981"/>
            <a:chOff x="3047326" y="1461758"/>
            <a:chExt cx="6097348" cy="4708981"/>
          </a:xfrm>
        </p:grpSpPr>
        <p:sp>
          <p:nvSpPr>
            <p:cNvPr id="8" name="TextBox 7">
              <a:extLst>
                <a:ext uri="{FF2B5EF4-FFF2-40B4-BE49-F238E27FC236}">
                  <a16:creationId xmlns:a16="http://schemas.microsoft.com/office/drawing/2014/main" id="{263DA6C3-9439-846B-01D5-98ED9F353407}"/>
                </a:ext>
              </a:extLst>
            </p:cNvPr>
            <p:cNvSpPr txBox="1"/>
            <p:nvPr/>
          </p:nvSpPr>
          <p:spPr>
            <a:xfrm>
              <a:off x="3047326" y="1461758"/>
              <a:ext cx="6097348" cy="47089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a:solidFill>
                    <a:srgbClr val="FF0000"/>
                  </a:solidFill>
                </a:rPr>
                <a:t>Pod</a:t>
              </a:r>
            </a:p>
            <a:p>
              <a:r>
                <a:rPr lang="en-US" altLang="ko-KR" sz="1000" b="1" dirty="0"/>
                <a:t>metadata:</a:t>
              </a:r>
            </a:p>
            <a:p>
              <a:r>
                <a:rPr lang="en-US" altLang="ko-KR" sz="1000" b="1" dirty="0"/>
                <a:t>  name: </a:t>
              </a:r>
              <a:r>
                <a:rPr lang="en-US" altLang="ko-KR" sz="1000" b="1" dirty="0">
                  <a:solidFill>
                    <a:srgbClr val="FF0000"/>
                  </a:solidFill>
                </a:rPr>
                <a:t>fortune-</a:t>
              </a:r>
              <a:r>
                <a:rPr lang="en-US" altLang="ko-KR" sz="1000" b="1" dirty="0" err="1">
                  <a:solidFill>
                    <a:srgbClr val="FF0000"/>
                  </a:solidFill>
                </a:rPr>
                <a:t>args</a:t>
              </a:r>
              <a:r>
                <a:rPr lang="en-US" altLang="ko-KR" sz="1000" b="1" dirty="0">
                  <a:solidFill>
                    <a:srgbClr val="FF0000"/>
                  </a:solidFill>
                </a:rPr>
                <a:t>-from-</a:t>
              </a:r>
              <a:r>
                <a:rPr lang="en-US" altLang="ko-KR" sz="1000" b="1" dirty="0" err="1">
                  <a:solidFill>
                    <a:srgbClr val="FF0000"/>
                  </a:solidFill>
                </a:rPr>
                <a:t>configmap</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a:t>
              </a:r>
              <a:r>
                <a:rPr lang="en-US" altLang="ko-KR" sz="1000" b="1" dirty="0" err="1">
                  <a:solidFill>
                    <a:srgbClr val="FF0000"/>
                  </a:solidFill>
                </a:rPr>
                <a:t>fortune:args</a:t>
              </a:r>
              <a:endParaRPr lang="en-US" altLang="ko-KR" sz="1000" b="1" dirty="0">
                <a:solidFill>
                  <a:srgbClr val="FF0000"/>
                </a:solidFill>
              </a:endParaRPr>
            </a:p>
            <a:p>
              <a:r>
                <a:rPr lang="en-US" altLang="ko-KR" sz="1000" b="1" dirty="0">
                  <a:solidFill>
                    <a:srgbClr val="FF0000"/>
                  </a:solidFill>
                </a:rPr>
                <a:t>    env:</a:t>
              </a:r>
            </a:p>
            <a:p>
              <a:r>
                <a:rPr lang="en-US" altLang="ko-KR" sz="1000" b="1" dirty="0">
                  <a:solidFill>
                    <a:srgbClr val="FF0000"/>
                  </a:solidFill>
                </a:rPr>
                <a:t>    - name: INTERVAL</a:t>
              </a:r>
            </a:p>
            <a:p>
              <a:r>
                <a:rPr lang="en-US" altLang="ko-KR" sz="1000" b="1" dirty="0"/>
                <a:t>      </a:t>
              </a:r>
              <a:r>
                <a:rPr lang="en-US" altLang="ko-KR" sz="1000" b="1" dirty="0" err="1"/>
                <a:t>valueFrom</a:t>
              </a:r>
              <a:r>
                <a:rPr lang="en-US" altLang="ko-KR" sz="1000" b="1" dirty="0"/>
                <a:t>: </a:t>
              </a:r>
            </a:p>
            <a:p>
              <a:r>
                <a:rPr lang="en-US" altLang="ko-KR" sz="1000" b="1" dirty="0"/>
                <a:t>        </a:t>
              </a:r>
              <a:r>
                <a:rPr lang="en-US" altLang="ko-KR" sz="1000" b="1" dirty="0" err="1"/>
                <a:t>configMapKeyRef</a:t>
              </a:r>
              <a:r>
                <a:rPr lang="en-US" altLang="ko-KR" sz="1000" b="1" dirty="0"/>
                <a:t>:</a:t>
              </a:r>
            </a:p>
            <a:p>
              <a:r>
                <a:rPr lang="en-US" altLang="ko-KR" sz="1000" b="1" dirty="0"/>
                <a:t>          name: fortune-config</a:t>
              </a:r>
            </a:p>
            <a:p>
              <a:r>
                <a:rPr lang="en-US" altLang="ko-KR" sz="1000" b="1" dirty="0"/>
                <a:t>          key: sleep-interval</a:t>
              </a:r>
            </a:p>
            <a:p>
              <a:r>
                <a:rPr lang="en-US" altLang="ko-KR" sz="1000" b="1" dirty="0">
                  <a:solidFill>
                    <a:srgbClr val="FF0000"/>
                  </a:solidFill>
                </a:rPr>
                <a:t>    </a:t>
              </a:r>
              <a:r>
                <a:rPr lang="en-US" altLang="ko-KR" sz="1000" b="1" dirty="0" err="1">
                  <a:solidFill>
                    <a:srgbClr val="FF0000"/>
                  </a:solidFill>
                </a:rPr>
                <a:t>args</a:t>
              </a:r>
              <a:r>
                <a:rPr lang="en-US" altLang="ko-KR" sz="1000" b="1" dirty="0">
                  <a:solidFill>
                    <a:srgbClr val="FF0000"/>
                  </a:solidFill>
                </a:rPr>
                <a:t>: ["$(INTERVAL)"]</a:t>
              </a:r>
            </a:p>
            <a:p>
              <a:r>
                <a:rPr lang="en-US" altLang="ko-KR" sz="1000" b="1" dirty="0"/>
                <a:t>    name: html-generator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/var/</a:t>
              </a:r>
              <a:r>
                <a:rPr lang="en-US" altLang="ko-KR" sz="1000" b="1" dirty="0" err="1"/>
                <a:t>htdocs</a:t>
              </a:r>
              <a:endParaRPr lang="en-US" altLang="ko-KR" sz="1000" b="1" dirty="0"/>
            </a:p>
            <a:p>
              <a:r>
                <a:rPr lang="en-US" altLang="ko-KR" sz="1000" b="1" dirty="0"/>
                <a:t>  - image: </a:t>
              </a:r>
              <a:r>
                <a:rPr lang="en-US" altLang="ko-KR" sz="1000" b="1" dirty="0" err="1"/>
                <a:t>nginx:alpine</a:t>
              </a:r>
              <a:endParaRPr lang="en-US" altLang="ko-KR" sz="1000" b="1" dirty="0"/>
            </a:p>
            <a:p>
              <a:r>
                <a:rPr lang="en-US" altLang="ko-KR" sz="1000" b="1" dirty="0"/>
                <a:t>    name: web-server</a:t>
              </a:r>
            </a:p>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a:t>
              </a:r>
              <a:r>
                <a:rPr lang="en-US" altLang="ko-KR" sz="1000" b="1" dirty="0" err="1"/>
                <a:t>usr</a:t>
              </a:r>
              <a:r>
                <a:rPr lang="en-US" altLang="ko-KR" sz="1000" b="1" dirty="0"/>
                <a:t>/share/nginx/html</a:t>
              </a:r>
            </a:p>
            <a:p>
              <a:r>
                <a:rPr lang="en-US" altLang="ko-KR" sz="1000" b="1" dirty="0"/>
                <a:t>      </a:t>
              </a:r>
              <a:r>
                <a:rPr lang="en-US" altLang="ko-KR" sz="1000" b="1" dirty="0" err="1"/>
                <a:t>readOnly</a:t>
              </a:r>
              <a:r>
                <a:rPr lang="en-US" altLang="ko-KR" sz="1000" b="1" dirty="0"/>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protocol: TCP</a:t>
              </a:r>
            </a:p>
            <a:p>
              <a:r>
                <a:rPr lang="en-US" altLang="ko-KR" sz="1000" b="1" dirty="0"/>
                <a:t>  volumes:</a:t>
              </a:r>
            </a:p>
            <a:p>
              <a:r>
                <a:rPr lang="en-US" altLang="ko-KR" sz="1000" b="1" dirty="0"/>
                <a:t>  - name: html</a:t>
              </a:r>
            </a:p>
            <a:p>
              <a:r>
                <a:rPr lang="en-US" altLang="ko-KR" sz="1000" b="1" dirty="0"/>
                <a:t>    </a:t>
              </a:r>
              <a:r>
                <a:rPr lang="en-US" altLang="ko-KR" sz="1000" b="1" dirty="0" err="1"/>
                <a:t>emptyDir</a:t>
              </a:r>
              <a:r>
                <a:rPr lang="en-US" altLang="ko-KR" sz="1000" b="1" dirty="0"/>
                <a:t>: {}</a:t>
              </a:r>
              <a:endParaRPr lang="ko-KR" altLang="en-US" sz="1000" b="1" dirty="0"/>
            </a:p>
          </p:txBody>
        </p:sp>
        <p:sp>
          <p:nvSpPr>
            <p:cNvPr id="9" name="TextBox 8">
              <a:extLst>
                <a:ext uri="{FF2B5EF4-FFF2-40B4-BE49-F238E27FC236}">
                  <a16:creationId xmlns:a16="http://schemas.microsoft.com/office/drawing/2014/main" id="{2C9D2D57-BD90-6409-77EE-6094C81FF882}"/>
                </a:ext>
              </a:extLst>
            </p:cNvPr>
            <p:cNvSpPr txBox="1"/>
            <p:nvPr/>
          </p:nvSpPr>
          <p:spPr>
            <a:xfrm>
              <a:off x="6869692" y="1461758"/>
              <a:ext cx="2274982" cy="246221"/>
            </a:xfrm>
            <a:prstGeom prst="rect">
              <a:avLst/>
            </a:prstGeom>
            <a:noFill/>
          </p:spPr>
          <p:txBody>
            <a:bodyPr wrap="none" rtlCol="0">
              <a:spAutoFit/>
            </a:bodyPr>
            <a:lstStyle/>
            <a:p>
              <a:pPr algn="l"/>
              <a:r>
                <a:rPr lang="en-US" altLang="ko-KR" sz="1000" b="1" dirty="0"/>
                <a:t>fortune-pod-</a:t>
              </a:r>
              <a:r>
                <a:rPr lang="en-US" altLang="ko-KR" sz="1000" b="1" dirty="0" err="1"/>
                <a:t>args</a:t>
              </a:r>
              <a:r>
                <a:rPr lang="en-US" altLang="ko-KR" sz="1000" b="1" dirty="0"/>
                <a:t>-</a:t>
              </a:r>
              <a:r>
                <a:rPr lang="en-US" altLang="ko-KR" sz="1000" b="1" dirty="0" err="1"/>
                <a:t>configmap.yaml</a:t>
              </a:r>
              <a:endParaRPr lang="ko-KR" altLang="en-US" sz="1000" b="1" dirty="0"/>
            </a:p>
          </p:txBody>
        </p:sp>
      </p:grpSp>
    </p:spTree>
    <p:extLst>
      <p:ext uri="{BB962C8B-B14F-4D97-AF65-F5344CB8AC3E}">
        <p14:creationId xmlns:p14="http://schemas.microsoft.com/office/powerpoint/2010/main" val="313334319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Passing a </a:t>
            </a:r>
            <a:r>
              <a:rPr lang="en-US" altLang="ko-KR" sz="2800" b="1" dirty="0" err="1"/>
              <a:t>ConfigMap</a:t>
            </a:r>
            <a:r>
              <a:rPr lang="en-US" altLang="ko-KR" sz="2800" b="1" dirty="0"/>
              <a:t> Entry as a Command-Line Argument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Command-Line Argument Passing :</a:t>
            </a:r>
          </a:p>
          <a:p>
            <a:pPr lvl="1">
              <a:buFont typeface="Wingdings" panose="05000000000000000000" pitchFamily="2" charset="2"/>
              <a:buChar char="§"/>
            </a:pPr>
            <a:r>
              <a:rPr lang="en-US" altLang="ko-KR" sz="1400" dirty="0"/>
              <a:t>To run the example, you need to run the following command. First of all, you need to </a:t>
            </a:r>
            <a:r>
              <a:rPr lang="en-US" altLang="ko-KR" sz="1400" b="1" dirty="0"/>
              <a:t>create </a:t>
            </a:r>
            <a:r>
              <a:rPr lang="en-US" altLang="ko-KR" sz="1400" b="1" dirty="0" err="1"/>
              <a:t>ConfigMap</a:t>
            </a:r>
            <a:r>
              <a:rPr lang="en-US" altLang="ko-KR" sz="1400" dirty="0"/>
              <a:t>, then use “</a:t>
            </a:r>
            <a:r>
              <a:rPr lang="en-US" altLang="ko-KR" sz="1400" b="1" dirty="0"/>
              <a:t>$ </a:t>
            </a:r>
            <a:r>
              <a:rPr lang="en-US" altLang="ko-KR" sz="1400" b="1" dirty="0" err="1"/>
              <a:t>kubectl</a:t>
            </a:r>
            <a:r>
              <a:rPr lang="en-US" altLang="ko-KR" sz="1400" b="1" dirty="0"/>
              <a:t> create</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Here we used “10” seconds for sleep interval, which is passed from the </a:t>
            </a:r>
            <a:r>
              <a:rPr lang="en-US" altLang="ko-KR" sz="1400" b="1" dirty="0" err="1"/>
              <a:t>ConfigMap</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86322B9B-D0BE-1547-630C-8210512CB89C}"/>
              </a:ext>
            </a:extLst>
          </p:cNvPr>
          <p:cNvGrpSpPr/>
          <p:nvPr/>
        </p:nvGrpSpPr>
        <p:grpSpPr>
          <a:xfrm>
            <a:off x="1226280" y="1815873"/>
            <a:ext cx="9739439" cy="3551689"/>
            <a:chOff x="1226279" y="1762734"/>
            <a:chExt cx="9739439" cy="3551689"/>
          </a:xfrm>
        </p:grpSpPr>
        <p:pic>
          <p:nvPicPr>
            <p:cNvPr id="8" name="그림 7">
              <a:extLst>
                <a:ext uri="{FF2B5EF4-FFF2-40B4-BE49-F238E27FC236}">
                  <a16:creationId xmlns:a16="http://schemas.microsoft.com/office/drawing/2014/main" id="{D490DA4C-0422-C68F-2B03-0766550534FF}"/>
                </a:ext>
              </a:extLst>
            </p:cNvPr>
            <p:cNvPicPr>
              <a:picLocks noChangeAspect="1"/>
            </p:cNvPicPr>
            <p:nvPr/>
          </p:nvPicPr>
          <p:blipFill>
            <a:blip r:embed="rId2"/>
            <a:stretch>
              <a:fillRect/>
            </a:stretch>
          </p:blipFill>
          <p:spPr>
            <a:xfrm>
              <a:off x="1226279" y="2603612"/>
              <a:ext cx="9739439" cy="2710811"/>
            </a:xfrm>
            <a:prstGeom prst="rect">
              <a:avLst/>
            </a:prstGeom>
          </p:spPr>
        </p:pic>
        <p:sp>
          <p:nvSpPr>
            <p:cNvPr id="10" name="TextBox 9">
              <a:extLst>
                <a:ext uri="{FF2B5EF4-FFF2-40B4-BE49-F238E27FC236}">
                  <a16:creationId xmlns:a16="http://schemas.microsoft.com/office/drawing/2014/main" id="{4F173D94-29DD-AAE6-89B7-BA9B9365C9B2}"/>
                </a:ext>
              </a:extLst>
            </p:cNvPr>
            <p:cNvSpPr txBox="1"/>
            <p:nvPr/>
          </p:nvSpPr>
          <p:spPr>
            <a:xfrm>
              <a:off x="3047325" y="1762734"/>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fortune-</a:t>
              </a:r>
              <a:r>
                <a:rPr lang="en-US" altLang="ko-KR" sz="1000" b="1" dirty="0" err="1">
                  <a:solidFill>
                    <a:srgbClr val="FF0000"/>
                  </a:solidFill>
                </a:rPr>
                <a:t>config.yaml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fortune-pod-</a:t>
              </a:r>
              <a:r>
                <a:rPr lang="en-US" altLang="ko-KR" sz="1000" b="1" dirty="0" err="1">
                  <a:solidFill>
                    <a:srgbClr val="FF0000"/>
                  </a:solidFill>
                </a:rPr>
                <a:t>args</a:t>
              </a:r>
              <a:r>
                <a:rPr lang="en-US" altLang="ko-KR" sz="1000" b="1" dirty="0">
                  <a:solidFill>
                    <a:srgbClr val="FF0000"/>
                  </a:solidFill>
                </a:rPr>
                <a:t>-</a:t>
              </a:r>
              <a:r>
                <a:rPr lang="en-US" altLang="ko-KR" sz="1000" b="1" dirty="0" err="1">
                  <a:solidFill>
                    <a:srgbClr val="FF0000"/>
                  </a:solidFill>
                </a:rPr>
                <a:t>configmap.yaml</a:t>
              </a:r>
              <a:r>
                <a:rPr lang="en-US" altLang="ko-KR" sz="1000" b="1" dirty="0">
                  <a:solidFill>
                    <a:srgbClr val="FF0000"/>
                  </a:solidFill>
                </a:rPr>
                <a:t> </a:t>
              </a:r>
            </a:p>
            <a:p>
              <a:r>
                <a:rPr lang="en-US" altLang="ko-KR" sz="1000" b="1" dirty="0"/>
                <a:t>$ </a:t>
              </a:r>
              <a:r>
                <a:rPr lang="en-US" altLang="ko-KR" sz="1000" b="1" dirty="0" err="1"/>
                <a:t>kubectl</a:t>
              </a:r>
              <a:r>
                <a:rPr lang="en-US" altLang="ko-KR" sz="1000" b="1" dirty="0"/>
                <a:t> logs </a:t>
              </a:r>
              <a:r>
                <a:rPr lang="en-US" altLang="ko-KR" sz="1000" b="1" dirty="0">
                  <a:solidFill>
                    <a:srgbClr val="FF0000"/>
                  </a:solidFill>
                </a:rPr>
                <a:t>fortune-</a:t>
              </a:r>
              <a:r>
                <a:rPr lang="en-US" altLang="ko-KR" sz="1000" b="1" dirty="0" err="1">
                  <a:solidFill>
                    <a:srgbClr val="FF0000"/>
                  </a:solidFill>
                </a:rPr>
                <a:t>args</a:t>
              </a:r>
              <a:r>
                <a:rPr lang="en-US" altLang="ko-KR" sz="1000" b="1" dirty="0">
                  <a:solidFill>
                    <a:srgbClr val="FF0000"/>
                  </a:solidFill>
                </a:rPr>
                <a:t>-from-</a:t>
              </a:r>
              <a:r>
                <a:rPr lang="en-US" altLang="ko-KR" sz="1000" b="1" dirty="0" err="1">
                  <a:solidFill>
                    <a:srgbClr val="FF0000"/>
                  </a:solidFill>
                </a:rPr>
                <a:t>configmap</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7147A1D5-259D-4100-9E66-EC2311C22199}"/>
                </a:ext>
              </a:extLst>
            </p:cNvPr>
            <p:cNvSpPr/>
            <p:nvPr/>
          </p:nvSpPr>
          <p:spPr>
            <a:xfrm>
              <a:off x="5881561" y="2322414"/>
              <a:ext cx="428878"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3791F646-2BF3-FB86-3FE3-B7E657C9EED4}"/>
                </a:ext>
              </a:extLst>
            </p:cNvPr>
            <p:cNvSpPr/>
            <p:nvPr/>
          </p:nvSpPr>
          <p:spPr>
            <a:xfrm>
              <a:off x="5373111" y="3039843"/>
              <a:ext cx="2451887" cy="1969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B25D771B-3342-6BAA-05E3-941BCC95173D}"/>
                </a:ext>
              </a:extLst>
            </p:cNvPr>
            <p:cNvSpPr/>
            <p:nvPr/>
          </p:nvSpPr>
          <p:spPr>
            <a:xfrm>
              <a:off x="5373111" y="3314972"/>
              <a:ext cx="3237489" cy="1949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B7D5BDB5-2B5C-D991-5EBB-9D802D1AE767}"/>
                </a:ext>
              </a:extLst>
            </p:cNvPr>
            <p:cNvSpPr/>
            <p:nvPr/>
          </p:nvSpPr>
          <p:spPr>
            <a:xfrm>
              <a:off x="5365019" y="4145938"/>
              <a:ext cx="2702740" cy="1949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B45352D7-96E2-0623-20EB-9545FC09FB03}"/>
                </a:ext>
              </a:extLst>
            </p:cNvPr>
            <p:cNvSpPr/>
            <p:nvPr/>
          </p:nvSpPr>
          <p:spPr>
            <a:xfrm>
              <a:off x="2047285" y="4563908"/>
              <a:ext cx="614995" cy="4693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973456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(13/31)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Passing configuration options as environment variables or command-line arguments is usually used for short variable values</a:t>
            </a:r>
            <a:r>
              <a:rPr lang="en-US" altLang="ko-KR" sz="1400" dirty="0"/>
              <a:t>. </a:t>
            </a:r>
            <a:r>
              <a:rPr lang="en-US" altLang="ko-KR" sz="1400" b="1" dirty="0"/>
              <a:t>A </a:t>
            </a:r>
            <a:r>
              <a:rPr lang="en-US" altLang="ko-KR" sz="1400" b="1" dirty="0" err="1"/>
              <a:t>ConfigMap</a:t>
            </a:r>
            <a:r>
              <a:rPr lang="en-US" altLang="ko-KR" sz="1400" b="1" dirty="0"/>
              <a:t> can also contain </a:t>
            </a:r>
            <a:r>
              <a:rPr lang="en-US" altLang="ko-KR" sz="1400" b="1" dirty="0">
                <a:solidFill>
                  <a:srgbClr val="FF0000"/>
                </a:solidFill>
              </a:rPr>
              <a:t>whole config files</a:t>
            </a:r>
            <a:r>
              <a:rPr lang="en-US" altLang="ko-KR" sz="1400" dirty="0"/>
              <a:t>. When you want to expose those to the container, you can use one of the special volume types, namely a </a:t>
            </a:r>
            <a:r>
              <a:rPr lang="en-US" altLang="ko-KR" sz="1400" b="1" dirty="0"/>
              <a:t>“</a:t>
            </a:r>
            <a:r>
              <a:rPr lang="en-US" altLang="ko-KR" sz="1400" b="1" dirty="0" err="1">
                <a:solidFill>
                  <a:srgbClr val="FF0000"/>
                </a:solidFill>
              </a:rPr>
              <a:t>configMap</a:t>
            </a:r>
            <a:r>
              <a:rPr lang="en-US" altLang="ko-KR" sz="1400" b="1" dirty="0"/>
              <a:t>” volume</a:t>
            </a:r>
            <a:r>
              <a:rPr lang="en-US" altLang="ko-KR" sz="1400" dirty="0"/>
              <a:t>.</a:t>
            </a:r>
          </a:p>
          <a:p>
            <a:pPr lvl="1">
              <a:buFont typeface="Wingdings" panose="05000000000000000000" pitchFamily="2" charset="2"/>
              <a:buChar char="§"/>
            </a:pPr>
            <a:r>
              <a:rPr lang="en-US" altLang="ko-KR" sz="1400" b="1" dirty="0"/>
              <a:t>A “</a:t>
            </a:r>
            <a:r>
              <a:rPr lang="en-US" altLang="ko-KR" sz="1400" b="1" dirty="0" err="1"/>
              <a:t>configMap</a:t>
            </a:r>
            <a:r>
              <a:rPr lang="en-US" altLang="ko-KR" sz="1400" b="1" dirty="0"/>
              <a:t>” volume will expose each entry of the </a:t>
            </a:r>
            <a:r>
              <a:rPr lang="en-US" altLang="ko-KR" sz="1400" b="1" dirty="0" err="1"/>
              <a:t>ConfigMap</a:t>
            </a:r>
            <a:r>
              <a:rPr lang="en-US" altLang="ko-KR" sz="1400" b="1" dirty="0"/>
              <a:t> as a file</a:t>
            </a:r>
            <a:r>
              <a:rPr lang="en-US" altLang="ko-KR" sz="1400" dirty="0"/>
              <a:t>. </a:t>
            </a:r>
            <a:r>
              <a:rPr lang="en-US" altLang="ko-KR" sz="1400" b="1" dirty="0"/>
              <a:t>The process running in the container can </a:t>
            </a:r>
            <a:r>
              <a:rPr lang="en-US" altLang="ko-KR" sz="1400" b="1" dirty="0">
                <a:solidFill>
                  <a:srgbClr val="FF0000"/>
                </a:solidFill>
              </a:rPr>
              <a:t>obtain the entry’s value by reading the contents of the file</a:t>
            </a:r>
            <a:r>
              <a:rPr lang="en-US" altLang="ko-KR" sz="1400" dirty="0"/>
              <a:t>. Although this method is mostly meant for </a:t>
            </a:r>
            <a:r>
              <a:rPr lang="en-US" altLang="ko-KR" sz="1400" b="1" dirty="0"/>
              <a:t>passing large config files to the container</a:t>
            </a:r>
            <a:r>
              <a:rPr lang="en-US" altLang="ko-KR" sz="1400" dirty="0"/>
              <a:t>, </a:t>
            </a:r>
            <a:r>
              <a:rPr lang="en-US" altLang="ko-KR" sz="1400" b="1" dirty="0"/>
              <a:t>nothing prevents you from passing short single values this way</a:t>
            </a:r>
            <a:r>
              <a:rPr lang="en-US" altLang="ko-KR" sz="1400" dirty="0"/>
              <a:t>.</a:t>
            </a:r>
          </a:p>
          <a:p>
            <a:pPr lvl="1">
              <a:buFont typeface="Wingdings" panose="05000000000000000000" pitchFamily="2" charset="2"/>
              <a:buChar char="§"/>
            </a:pPr>
            <a:r>
              <a:rPr lang="en-US" altLang="ko-KR" sz="1400" b="1" dirty="0"/>
              <a:t>Here</a:t>
            </a:r>
            <a:r>
              <a:rPr lang="ko-KR" altLang="en-US" sz="1400" b="1" dirty="0"/>
              <a:t> </a:t>
            </a:r>
            <a:r>
              <a:rPr lang="en-US" altLang="ko-KR" sz="1400" b="1" dirty="0"/>
              <a:t>you’ll use a config file to configure the Nginx web server running inside the fortune pod’s web-server container</a:t>
            </a:r>
            <a:r>
              <a:rPr lang="en-US" altLang="ko-KR" sz="1400" dirty="0"/>
              <a:t>. Let’s say you want your Nginx server to </a:t>
            </a:r>
            <a:r>
              <a:rPr lang="en-US" altLang="ko-KR" sz="1400" b="1" dirty="0"/>
              <a:t>compress responses</a:t>
            </a:r>
            <a:r>
              <a:rPr lang="en-US" altLang="ko-KR" sz="1400" dirty="0"/>
              <a:t> it sends to the client. To enable compression, </a:t>
            </a:r>
            <a:r>
              <a:rPr lang="en-US" altLang="ko-KR" sz="1400" b="1" dirty="0"/>
              <a:t>the config file for Nginx </a:t>
            </a:r>
            <a:r>
              <a:rPr lang="en-US" altLang="ko-KR" sz="1400" dirty="0"/>
              <a:t>needs to look like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delete your existing “fortune-config” </a:t>
            </a:r>
            <a:r>
              <a:rPr lang="en-US" altLang="ko-KR" sz="1400" b="1" dirty="0" err="1"/>
              <a:t>ConfigMap</a:t>
            </a:r>
            <a:r>
              <a:rPr lang="en-US" altLang="ko-KR" sz="1400" b="1" dirty="0"/>
              <a:t> with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delete </a:t>
            </a:r>
            <a:r>
              <a:rPr lang="en-US" altLang="ko-KR" sz="1400" b="1" dirty="0" err="1">
                <a:solidFill>
                  <a:srgbClr val="FF0000"/>
                </a:solidFill>
              </a:rPr>
              <a:t>configmap</a:t>
            </a:r>
            <a:r>
              <a:rPr lang="en-US" altLang="ko-KR" sz="1400" b="1" dirty="0">
                <a:solidFill>
                  <a:srgbClr val="FF0000"/>
                </a:solidFill>
              </a:rPr>
              <a:t> fortune-config</a:t>
            </a:r>
            <a:r>
              <a:rPr lang="en-US" altLang="ko-KR" sz="1400" b="1" dirty="0"/>
              <a:t>”, so that you can replace it with a new one, which will include the Nginx config file</a:t>
            </a:r>
            <a:r>
              <a:rPr lang="en-US" altLang="ko-KR" sz="1400" dirty="0"/>
              <a:t>. You’ll create the </a:t>
            </a:r>
            <a:r>
              <a:rPr lang="en-US" altLang="ko-KR" sz="1400" dirty="0" err="1"/>
              <a:t>ConfigMap</a:t>
            </a:r>
            <a:r>
              <a:rPr lang="en-US" altLang="ko-KR" sz="1400" dirty="0"/>
              <a:t> from files stored on your local disk.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888C149-5ACC-4545-133F-6621B7A21FC6}"/>
              </a:ext>
            </a:extLst>
          </p:cNvPr>
          <p:cNvGrpSpPr/>
          <p:nvPr/>
        </p:nvGrpSpPr>
        <p:grpSpPr>
          <a:xfrm>
            <a:off x="3047326" y="3323804"/>
            <a:ext cx="6097348" cy="1938992"/>
            <a:chOff x="3047326" y="3429000"/>
            <a:chExt cx="6097348" cy="1938992"/>
          </a:xfrm>
        </p:grpSpPr>
        <p:sp>
          <p:nvSpPr>
            <p:cNvPr id="8" name="TextBox 7">
              <a:extLst>
                <a:ext uri="{FF2B5EF4-FFF2-40B4-BE49-F238E27FC236}">
                  <a16:creationId xmlns:a16="http://schemas.microsoft.com/office/drawing/2014/main" id="{40C85A5D-1FA4-AD38-05CE-73DD9E4045B1}"/>
                </a:ext>
              </a:extLst>
            </p:cNvPr>
            <p:cNvSpPr txBox="1"/>
            <p:nvPr/>
          </p:nvSpPr>
          <p:spPr>
            <a:xfrm>
              <a:off x="3047326" y="3429000"/>
              <a:ext cx="6097348" cy="1938992"/>
            </a:xfrm>
            <a:prstGeom prst="rect">
              <a:avLst/>
            </a:prstGeom>
            <a:noFill/>
            <a:ln>
              <a:solidFill>
                <a:schemeClr val="bg1">
                  <a:lumMod val="50000"/>
                </a:schemeClr>
              </a:solidFill>
            </a:ln>
          </p:spPr>
          <p:txBody>
            <a:bodyPr wrap="square">
              <a:spAutoFit/>
            </a:bodyPr>
            <a:lstStyle/>
            <a:p>
              <a:r>
                <a:rPr lang="en-US" altLang="ko-KR" sz="1000" b="1" dirty="0"/>
                <a:t>server {</a:t>
              </a:r>
            </a:p>
            <a:p>
              <a:r>
                <a:rPr lang="en-US" altLang="ko-KR" sz="1000" b="1" dirty="0"/>
                <a:t>    listen                  80;</a:t>
              </a:r>
            </a:p>
            <a:p>
              <a:r>
                <a:rPr lang="en-US" altLang="ko-KR" sz="1000" b="1" dirty="0"/>
                <a:t>    </a:t>
              </a:r>
              <a:r>
                <a:rPr lang="en-US" altLang="ko-KR" sz="1000" b="1" dirty="0" err="1"/>
                <a:t>server_name</a:t>
              </a:r>
              <a:r>
                <a:rPr lang="en-US" altLang="ko-KR" sz="1000" b="1" dirty="0"/>
                <a:t>         www.kubia-example.com;</a:t>
              </a:r>
            </a:p>
            <a:p>
              <a:endParaRPr lang="en-US" altLang="ko-KR" sz="1000" b="1" dirty="0"/>
            </a:p>
            <a:p>
              <a:r>
                <a:rPr lang="en-US" altLang="ko-KR" sz="1000" b="1" dirty="0"/>
                <a:t>    </a:t>
              </a:r>
              <a:r>
                <a:rPr lang="en-US" altLang="ko-KR" sz="1000" b="1" dirty="0" err="1"/>
                <a:t>gzip</a:t>
              </a:r>
              <a:r>
                <a:rPr lang="en-US" altLang="ko-KR" sz="1000" b="1" dirty="0"/>
                <a:t> on;</a:t>
              </a:r>
            </a:p>
            <a:p>
              <a:r>
                <a:rPr lang="en-US" altLang="ko-KR" sz="1000" b="1" dirty="0"/>
                <a:t>    </a:t>
              </a:r>
              <a:r>
                <a:rPr lang="en-US" altLang="ko-KR" sz="1000" b="1" dirty="0" err="1"/>
                <a:t>gzip_types</a:t>
              </a:r>
              <a:r>
                <a:rPr lang="en-US" altLang="ko-KR" sz="1000" b="1" dirty="0"/>
                <a:t> text/plain application/xml;</a:t>
              </a:r>
            </a:p>
            <a:p>
              <a:endParaRPr lang="en-US" altLang="ko-KR" sz="1000" b="1" dirty="0"/>
            </a:p>
            <a:p>
              <a:r>
                <a:rPr lang="en-US" altLang="ko-KR" sz="1000" b="1" dirty="0"/>
                <a:t>    location / {</a:t>
              </a:r>
            </a:p>
            <a:p>
              <a:r>
                <a:rPr lang="en-US" altLang="ko-KR" sz="1000" b="1" dirty="0"/>
                <a:t>        root   /</a:t>
              </a:r>
              <a:r>
                <a:rPr lang="en-US" altLang="ko-KR" sz="1000" b="1" dirty="0" err="1"/>
                <a:t>usr</a:t>
              </a:r>
              <a:r>
                <a:rPr lang="en-US" altLang="ko-KR" sz="1000" b="1" dirty="0"/>
                <a:t>/share/nginx/html;</a:t>
              </a:r>
            </a:p>
            <a:p>
              <a:r>
                <a:rPr lang="en-US" altLang="ko-KR" sz="1000" b="1" dirty="0"/>
                <a:t>        index  index.html index.htm;</a:t>
              </a:r>
            </a:p>
            <a:p>
              <a:r>
                <a:rPr lang="en-US" altLang="ko-KR" sz="1000" b="1" dirty="0"/>
                <a:t>    }</a:t>
              </a:r>
            </a:p>
            <a:p>
              <a:r>
                <a:rPr lang="en-US" altLang="ko-KR" sz="1000" b="1" dirty="0"/>
                <a:t>}</a:t>
              </a:r>
            </a:p>
          </p:txBody>
        </p:sp>
        <p:sp>
          <p:nvSpPr>
            <p:cNvPr id="9" name="TextBox 8">
              <a:extLst>
                <a:ext uri="{FF2B5EF4-FFF2-40B4-BE49-F238E27FC236}">
                  <a16:creationId xmlns:a16="http://schemas.microsoft.com/office/drawing/2014/main" id="{FCFED2BC-2DD7-B6DC-196D-00E0AC16483E}"/>
                </a:ext>
              </a:extLst>
            </p:cNvPr>
            <p:cNvSpPr txBox="1"/>
            <p:nvPr/>
          </p:nvSpPr>
          <p:spPr>
            <a:xfrm>
              <a:off x="7602264" y="3430692"/>
              <a:ext cx="1542410" cy="246221"/>
            </a:xfrm>
            <a:prstGeom prst="rect">
              <a:avLst/>
            </a:prstGeom>
            <a:noFill/>
          </p:spPr>
          <p:txBody>
            <a:bodyPr wrap="none" rtlCol="0">
              <a:spAutoFit/>
            </a:bodyPr>
            <a:lstStyle/>
            <a:p>
              <a:pPr algn="l"/>
              <a:r>
                <a:rPr lang="en-US" altLang="ko-KR" sz="1000" b="1" dirty="0"/>
                <a:t>my-nginx-</a:t>
              </a:r>
              <a:r>
                <a:rPr lang="en-US" altLang="ko-KR" sz="1000" b="1" dirty="0" err="1"/>
                <a:t>config.conf</a:t>
              </a:r>
              <a:endParaRPr lang="ko-KR" altLang="en-US" sz="1000" b="1" dirty="0"/>
            </a:p>
          </p:txBody>
        </p:sp>
      </p:grpSp>
    </p:spTree>
    <p:extLst>
      <p:ext uri="{BB962C8B-B14F-4D97-AF65-F5344CB8AC3E}">
        <p14:creationId xmlns:p14="http://schemas.microsoft.com/office/powerpoint/2010/main" val="418621191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(14/31)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Create a new directory called “</a:t>
            </a:r>
            <a:r>
              <a:rPr lang="en-US" altLang="ko-KR" sz="1400" b="1" dirty="0" err="1"/>
              <a:t>configmap</a:t>
            </a:r>
            <a:r>
              <a:rPr lang="en-US" altLang="ko-KR" sz="1400" b="1" dirty="0"/>
              <a:t>-files” and store the Nginx config from the previous listing into “</a:t>
            </a:r>
            <a:r>
              <a:rPr lang="en-US" altLang="ko-KR" sz="1400" b="1" dirty="0" err="1"/>
              <a:t>configmap</a:t>
            </a:r>
            <a:r>
              <a:rPr lang="en-US" altLang="ko-KR" sz="1400" b="1" dirty="0"/>
              <a:t>-files/my-nginx-</a:t>
            </a:r>
            <a:r>
              <a:rPr lang="en-US" altLang="ko-KR" sz="1400" b="1" dirty="0" err="1"/>
              <a:t>config.conf</a:t>
            </a:r>
            <a:r>
              <a:rPr lang="en-US" altLang="ko-KR" sz="1400" b="1" dirty="0"/>
              <a:t>”</a:t>
            </a:r>
            <a:r>
              <a:rPr lang="en-US" altLang="ko-KR" sz="1400" dirty="0"/>
              <a:t>. To make the </a:t>
            </a:r>
            <a:r>
              <a:rPr lang="en-US" altLang="ko-KR" sz="1400" b="1" dirty="0" err="1"/>
              <a:t>ConfigMap</a:t>
            </a:r>
            <a:r>
              <a:rPr lang="en-US" altLang="ko-KR" sz="1400" dirty="0"/>
              <a:t> also contain the “</a:t>
            </a:r>
            <a:r>
              <a:rPr lang="en-US" altLang="ko-KR" sz="1400" b="1" dirty="0"/>
              <a:t>sleep-interval</a:t>
            </a:r>
            <a:r>
              <a:rPr lang="en-US" altLang="ko-KR" sz="1400" dirty="0"/>
              <a:t>” entry, add a plain text file called “</a:t>
            </a:r>
            <a:r>
              <a:rPr lang="en-US" altLang="ko-KR" sz="1400" b="1" dirty="0">
                <a:solidFill>
                  <a:srgbClr val="FF0000"/>
                </a:solidFill>
              </a:rPr>
              <a:t>sleep-interval</a:t>
            </a:r>
            <a:r>
              <a:rPr lang="en-US" altLang="ko-KR" sz="1400" dirty="0"/>
              <a:t>” to the same directory and store the number “</a:t>
            </a:r>
            <a:r>
              <a:rPr lang="en-US" altLang="ko-KR" sz="1400" b="1" dirty="0"/>
              <a:t>10</a:t>
            </a:r>
            <a:r>
              <a:rPr lang="en-US" altLang="ko-KR" sz="1400" dirty="0"/>
              <a:t>“ in it (see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create a </a:t>
            </a:r>
            <a:r>
              <a:rPr lang="en-US" altLang="ko-KR" sz="1400" dirty="0" err="1">
                <a:solidFill>
                  <a:srgbClr val="FF0000"/>
                </a:solidFill>
              </a:rPr>
              <a:t>ConfigMap</a:t>
            </a:r>
            <a:r>
              <a:rPr lang="en-US" altLang="ko-KR" sz="1400" dirty="0"/>
              <a:t> from all the files in the directory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8D35AD1-E982-0935-EEA8-D878F55CEC4F}"/>
              </a:ext>
            </a:extLst>
          </p:cNvPr>
          <p:cNvGrpSpPr/>
          <p:nvPr/>
        </p:nvGrpSpPr>
        <p:grpSpPr>
          <a:xfrm>
            <a:off x="4672008" y="1848643"/>
            <a:ext cx="2847975" cy="1743075"/>
            <a:chOff x="4672012" y="1848643"/>
            <a:chExt cx="2847975" cy="1743075"/>
          </a:xfrm>
        </p:grpSpPr>
        <p:pic>
          <p:nvPicPr>
            <p:cNvPr id="8" name="그림 7">
              <a:extLst>
                <a:ext uri="{FF2B5EF4-FFF2-40B4-BE49-F238E27FC236}">
                  <a16:creationId xmlns:a16="http://schemas.microsoft.com/office/drawing/2014/main" id="{6AA2135E-93C1-2101-F034-7AB073183448}"/>
                </a:ext>
              </a:extLst>
            </p:cNvPr>
            <p:cNvPicPr>
              <a:picLocks noChangeAspect="1"/>
            </p:cNvPicPr>
            <p:nvPr/>
          </p:nvPicPr>
          <p:blipFill>
            <a:blip r:embed="rId2"/>
            <a:stretch>
              <a:fillRect/>
            </a:stretch>
          </p:blipFill>
          <p:spPr>
            <a:xfrm>
              <a:off x="4672012" y="1848643"/>
              <a:ext cx="2847975" cy="1743075"/>
            </a:xfrm>
            <a:prstGeom prst="rect">
              <a:avLst/>
            </a:prstGeom>
          </p:spPr>
        </p:pic>
        <p:sp>
          <p:nvSpPr>
            <p:cNvPr id="9" name="TextBox 8">
              <a:extLst>
                <a:ext uri="{FF2B5EF4-FFF2-40B4-BE49-F238E27FC236}">
                  <a16:creationId xmlns:a16="http://schemas.microsoft.com/office/drawing/2014/main" id="{1A7C8F70-3CEF-1668-9384-D1A1E34713B9}"/>
                </a:ext>
              </a:extLst>
            </p:cNvPr>
            <p:cNvSpPr txBox="1"/>
            <p:nvPr/>
          </p:nvSpPr>
          <p:spPr>
            <a:xfrm>
              <a:off x="6659745" y="2281954"/>
              <a:ext cx="332142" cy="246221"/>
            </a:xfrm>
            <a:prstGeom prst="rect">
              <a:avLst/>
            </a:prstGeom>
            <a:noFill/>
          </p:spPr>
          <p:txBody>
            <a:bodyPr wrap="none" rtlCol="0">
              <a:spAutoFit/>
            </a:bodyPr>
            <a:lstStyle/>
            <a:p>
              <a:pPr algn="l"/>
              <a:r>
                <a:rPr lang="en-US" altLang="ko-KR" sz="1000" b="1" dirty="0"/>
                <a:t>10</a:t>
              </a:r>
              <a:endParaRPr lang="ko-KR" altLang="en-US" sz="1000" b="1" dirty="0"/>
            </a:p>
          </p:txBody>
        </p:sp>
      </p:grpSp>
      <p:grpSp>
        <p:nvGrpSpPr>
          <p:cNvPr id="19" name="그룹 18">
            <a:extLst>
              <a:ext uri="{FF2B5EF4-FFF2-40B4-BE49-F238E27FC236}">
                <a16:creationId xmlns:a16="http://schemas.microsoft.com/office/drawing/2014/main" id="{DE3ED5F0-D597-0BD9-75C5-06F8F08D3A92}"/>
              </a:ext>
            </a:extLst>
          </p:cNvPr>
          <p:cNvGrpSpPr/>
          <p:nvPr/>
        </p:nvGrpSpPr>
        <p:grpSpPr>
          <a:xfrm>
            <a:off x="1238080" y="4211263"/>
            <a:ext cx="9715835" cy="2121745"/>
            <a:chOff x="1238080" y="4211263"/>
            <a:chExt cx="9715835" cy="2121745"/>
          </a:xfrm>
        </p:grpSpPr>
        <p:grpSp>
          <p:nvGrpSpPr>
            <p:cNvPr id="16" name="그룹 15">
              <a:extLst>
                <a:ext uri="{FF2B5EF4-FFF2-40B4-BE49-F238E27FC236}">
                  <a16:creationId xmlns:a16="http://schemas.microsoft.com/office/drawing/2014/main" id="{40F8F153-A075-43E5-C0CA-EB52F58C3211}"/>
                </a:ext>
              </a:extLst>
            </p:cNvPr>
            <p:cNvGrpSpPr/>
            <p:nvPr/>
          </p:nvGrpSpPr>
          <p:grpSpPr>
            <a:xfrm>
              <a:off x="1238080" y="4211263"/>
              <a:ext cx="9715835" cy="2121745"/>
              <a:chOff x="1238082" y="3829089"/>
              <a:chExt cx="9715835" cy="2121745"/>
            </a:xfrm>
          </p:grpSpPr>
          <p:sp>
            <p:nvSpPr>
              <p:cNvPr id="12" name="TextBox 11">
                <a:extLst>
                  <a:ext uri="{FF2B5EF4-FFF2-40B4-BE49-F238E27FC236}">
                    <a16:creationId xmlns:a16="http://schemas.microsoft.com/office/drawing/2014/main" id="{040B8D13-99EC-260E-5E67-1E5C0D700312}"/>
                  </a:ext>
                </a:extLst>
              </p:cNvPr>
              <p:cNvSpPr txBox="1"/>
              <p:nvPr/>
            </p:nvSpPr>
            <p:spPr>
              <a:xfrm>
                <a:off x="3047324" y="382908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fortune-config </a:t>
                </a:r>
                <a:r>
                  <a:rPr lang="en-US" altLang="ko-KR" sz="1000" b="1" dirty="0">
                    <a:solidFill>
                      <a:srgbClr val="FF0000"/>
                    </a:solidFill>
                  </a:rPr>
                  <a:t>--from-file=</a:t>
                </a:r>
                <a:r>
                  <a:rPr lang="en-US" altLang="ko-KR" sz="1000" b="1" dirty="0" err="1">
                    <a:solidFill>
                      <a:srgbClr val="FF0000"/>
                    </a:solidFill>
                  </a:rPr>
                  <a:t>configmap</a:t>
                </a:r>
                <a:r>
                  <a:rPr lang="en-US" altLang="ko-KR" sz="1000" b="1" dirty="0">
                    <a:solidFill>
                      <a:srgbClr val="FF0000"/>
                    </a:solidFill>
                  </a:rPr>
                  <a:t>-files</a:t>
                </a:r>
                <a:endParaRPr lang="ko-KR" altLang="en-US" sz="1000" b="1" dirty="0">
                  <a:solidFill>
                    <a:srgbClr val="FF0000"/>
                  </a:solidFill>
                </a:endParaRPr>
              </a:p>
            </p:txBody>
          </p:sp>
          <p:sp>
            <p:nvSpPr>
              <p:cNvPr id="13" name="화살표: 아래쪽 12">
                <a:extLst>
                  <a:ext uri="{FF2B5EF4-FFF2-40B4-BE49-F238E27FC236}">
                    <a16:creationId xmlns:a16="http://schemas.microsoft.com/office/drawing/2014/main" id="{1484073F-C5CF-3343-32E5-FD94F6233F04}"/>
                  </a:ext>
                </a:extLst>
              </p:cNvPr>
              <p:cNvSpPr/>
              <p:nvPr/>
            </p:nvSpPr>
            <p:spPr>
              <a:xfrm>
                <a:off x="5865377" y="4094197"/>
                <a:ext cx="461246"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5" name="그림 14">
                <a:extLst>
                  <a:ext uri="{FF2B5EF4-FFF2-40B4-BE49-F238E27FC236}">
                    <a16:creationId xmlns:a16="http://schemas.microsoft.com/office/drawing/2014/main" id="{0F20AA3C-576B-6E08-0D5F-A55659EB5B20}"/>
                  </a:ext>
                </a:extLst>
              </p:cNvPr>
              <p:cNvPicPr>
                <a:picLocks noChangeAspect="1"/>
              </p:cNvPicPr>
              <p:nvPr/>
            </p:nvPicPr>
            <p:blipFill>
              <a:blip r:embed="rId3"/>
              <a:stretch>
                <a:fillRect/>
              </a:stretch>
            </p:blipFill>
            <p:spPr>
              <a:xfrm>
                <a:off x="1238082" y="4404397"/>
                <a:ext cx="9715835" cy="1546437"/>
              </a:xfrm>
              <a:prstGeom prst="rect">
                <a:avLst/>
              </a:prstGeom>
            </p:spPr>
          </p:pic>
        </p:grpSp>
        <p:sp>
          <p:nvSpPr>
            <p:cNvPr id="17" name="직사각형 16">
              <a:extLst>
                <a:ext uri="{FF2B5EF4-FFF2-40B4-BE49-F238E27FC236}">
                  <a16:creationId xmlns:a16="http://schemas.microsoft.com/office/drawing/2014/main" id="{ED398E5D-34A2-6994-1693-DD010A773BC6}"/>
                </a:ext>
              </a:extLst>
            </p:cNvPr>
            <p:cNvSpPr/>
            <p:nvPr/>
          </p:nvSpPr>
          <p:spPr>
            <a:xfrm>
              <a:off x="1327094" y="5785805"/>
              <a:ext cx="2006825"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94744125-753D-BBE2-9D31-4FAE73C3AD40}"/>
                </a:ext>
              </a:extLst>
            </p:cNvPr>
            <p:cNvSpPr/>
            <p:nvPr/>
          </p:nvSpPr>
          <p:spPr>
            <a:xfrm>
              <a:off x="5356927" y="5235547"/>
              <a:ext cx="4450620" cy="1780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822665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(15/31)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dirty="0"/>
              <a:t>The following listing shows what </a:t>
            </a:r>
            <a:r>
              <a:rPr lang="en-US" altLang="ko-KR" sz="1400" b="1" dirty="0"/>
              <a:t>the YAML of this </a:t>
            </a:r>
            <a:r>
              <a:rPr lang="en-US" altLang="ko-KR" sz="1400" b="1" dirty="0" err="1"/>
              <a:t>ConfigMap</a:t>
            </a:r>
            <a:r>
              <a:rPr lang="en-US" altLang="ko-KR" sz="1400" b="1" dirty="0"/>
              <a:t> </a:t>
            </a:r>
            <a:r>
              <a:rPr lang="en-US" altLang="ko-KR" sz="1400" dirty="0"/>
              <a:t>looks like.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4B3ABEF7-9B42-D37B-9F10-78B1C1351395}"/>
              </a:ext>
            </a:extLst>
          </p:cNvPr>
          <p:cNvGrpSpPr/>
          <p:nvPr/>
        </p:nvGrpSpPr>
        <p:grpSpPr>
          <a:xfrm>
            <a:off x="1078601" y="1508733"/>
            <a:ext cx="10034798" cy="4754248"/>
            <a:chOff x="1078601" y="1508733"/>
            <a:chExt cx="10034798" cy="4754248"/>
          </a:xfrm>
        </p:grpSpPr>
        <p:grpSp>
          <p:nvGrpSpPr>
            <p:cNvPr id="15" name="그룹 14">
              <a:extLst>
                <a:ext uri="{FF2B5EF4-FFF2-40B4-BE49-F238E27FC236}">
                  <a16:creationId xmlns:a16="http://schemas.microsoft.com/office/drawing/2014/main" id="{65AA50E3-2690-87E6-0EC4-FBFA7D58A613}"/>
                </a:ext>
              </a:extLst>
            </p:cNvPr>
            <p:cNvGrpSpPr/>
            <p:nvPr/>
          </p:nvGrpSpPr>
          <p:grpSpPr>
            <a:xfrm>
              <a:off x="1078601" y="1508733"/>
              <a:ext cx="10034798" cy="4754248"/>
              <a:chOff x="1078601" y="1508733"/>
              <a:chExt cx="10034798" cy="4754248"/>
            </a:xfrm>
          </p:grpSpPr>
          <p:grpSp>
            <p:nvGrpSpPr>
              <p:cNvPr id="13" name="그룹 12">
                <a:extLst>
                  <a:ext uri="{FF2B5EF4-FFF2-40B4-BE49-F238E27FC236}">
                    <a16:creationId xmlns:a16="http://schemas.microsoft.com/office/drawing/2014/main" id="{990B4FC8-2EF4-AF08-1A7E-F1BFEDC69022}"/>
                  </a:ext>
                </a:extLst>
              </p:cNvPr>
              <p:cNvGrpSpPr/>
              <p:nvPr/>
            </p:nvGrpSpPr>
            <p:grpSpPr>
              <a:xfrm>
                <a:off x="1078601" y="1508733"/>
                <a:ext cx="10034798" cy="4754248"/>
                <a:chOff x="1078600" y="1417558"/>
                <a:chExt cx="10034798" cy="4754248"/>
              </a:xfrm>
            </p:grpSpPr>
            <p:grpSp>
              <p:nvGrpSpPr>
                <p:cNvPr id="10" name="그룹 9">
                  <a:extLst>
                    <a:ext uri="{FF2B5EF4-FFF2-40B4-BE49-F238E27FC236}">
                      <a16:creationId xmlns:a16="http://schemas.microsoft.com/office/drawing/2014/main" id="{4D0D5E8B-E0BA-2748-2E4B-C2222BA9D3FC}"/>
                    </a:ext>
                  </a:extLst>
                </p:cNvPr>
                <p:cNvGrpSpPr/>
                <p:nvPr/>
              </p:nvGrpSpPr>
              <p:grpSpPr>
                <a:xfrm>
                  <a:off x="3047326" y="1417558"/>
                  <a:ext cx="6097348" cy="573083"/>
                  <a:chOff x="3047326" y="1417558"/>
                  <a:chExt cx="6097348" cy="573083"/>
                </a:xfrm>
              </p:grpSpPr>
              <p:sp>
                <p:nvSpPr>
                  <p:cNvPr id="8" name="TextBox 7">
                    <a:extLst>
                      <a:ext uri="{FF2B5EF4-FFF2-40B4-BE49-F238E27FC236}">
                        <a16:creationId xmlns:a16="http://schemas.microsoft.com/office/drawing/2014/main" id="{088ACEF3-D048-9C59-64D7-D071A0137B1D}"/>
                      </a:ext>
                    </a:extLst>
                  </p:cNvPr>
                  <p:cNvSpPr txBox="1"/>
                  <p:nvPr/>
                </p:nvSpPr>
                <p:spPr>
                  <a:xfrm>
                    <a:off x="3047326" y="141755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configmap</a:t>
                    </a:r>
                    <a:r>
                      <a:rPr lang="en-US" altLang="ko-KR" sz="1000" b="1" dirty="0"/>
                      <a:t> </a:t>
                    </a:r>
                    <a:r>
                      <a:rPr lang="en-US" altLang="ko-KR" sz="1000" b="1" dirty="0">
                        <a:solidFill>
                          <a:srgbClr val="FF0000"/>
                        </a:solidFill>
                      </a:rPr>
                      <a:t>fortune-config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46C2025E-5CBB-4697-D956-1100F29EF42E}"/>
                      </a:ext>
                    </a:extLst>
                  </p:cNvPr>
                  <p:cNvSpPr/>
                  <p:nvPr/>
                </p:nvSpPr>
                <p:spPr>
                  <a:xfrm>
                    <a:off x="5850541" y="1663779"/>
                    <a:ext cx="490917" cy="32686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pic>
              <p:nvPicPr>
                <p:cNvPr id="12" name="그림 11">
                  <a:extLst>
                    <a:ext uri="{FF2B5EF4-FFF2-40B4-BE49-F238E27FC236}">
                      <a16:creationId xmlns:a16="http://schemas.microsoft.com/office/drawing/2014/main" id="{29840125-7BB6-3526-6D38-B6CAAA4159C0}"/>
                    </a:ext>
                  </a:extLst>
                </p:cNvPr>
                <p:cNvPicPr>
                  <a:picLocks noChangeAspect="1"/>
                </p:cNvPicPr>
                <p:nvPr/>
              </p:nvPicPr>
              <p:blipFill>
                <a:blip r:embed="rId2"/>
                <a:stretch>
                  <a:fillRect/>
                </a:stretch>
              </p:blipFill>
              <p:spPr>
                <a:xfrm>
                  <a:off x="1078600" y="1990641"/>
                  <a:ext cx="10034798" cy="4181165"/>
                </a:xfrm>
                <a:prstGeom prst="rect">
                  <a:avLst/>
                </a:prstGeom>
              </p:spPr>
            </p:pic>
          </p:grpSp>
          <p:sp>
            <p:nvSpPr>
              <p:cNvPr id="14" name="직사각형 13">
                <a:extLst>
                  <a:ext uri="{FF2B5EF4-FFF2-40B4-BE49-F238E27FC236}">
                    <a16:creationId xmlns:a16="http://schemas.microsoft.com/office/drawing/2014/main" id="{B334F4A1-5941-4336-0713-AA56903ACE45}"/>
                  </a:ext>
                </a:extLst>
              </p:cNvPr>
              <p:cNvSpPr/>
              <p:nvPr/>
            </p:nvSpPr>
            <p:spPr>
              <a:xfrm>
                <a:off x="1189529" y="2824120"/>
                <a:ext cx="3398655" cy="21605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TextBox 16">
              <a:extLst>
                <a:ext uri="{FF2B5EF4-FFF2-40B4-BE49-F238E27FC236}">
                  <a16:creationId xmlns:a16="http://schemas.microsoft.com/office/drawing/2014/main" id="{ABF425A0-7948-CB6B-834E-7F1D4F0C5A1E}"/>
                </a:ext>
              </a:extLst>
            </p:cNvPr>
            <p:cNvSpPr txBox="1"/>
            <p:nvPr/>
          </p:nvSpPr>
          <p:spPr>
            <a:xfrm>
              <a:off x="4588184" y="3772288"/>
              <a:ext cx="5399748" cy="400110"/>
            </a:xfrm>
            <a:prstGeom prst="rect">
              <a:avLst/>
            </a:prstGeom>
            <a:noFill/>
          </p:spPr>
          <p:txBody>
            <a:bodyPr wrap="square">
              <a:spAutoFit/>
            </a:bodyPr>
            <a:lstStyle/>
            <a:p>
              <a:r>
                <a:rPr lang="en-US" altLang="ko-KR" sz="1000" b="1" dirty="0">
                  <a:solidFill>
                    <a:schemeClr val="bg1"/>
                  </a:solidFill>
                </a:rPr>
                <a:t>NOTE : The pipeline character after the colon in the first line of both entries signals that a literal multi-line value follows.</a:t>
              </a:r>
              <a:endParaRPr lang="ko-KR" altLang="en-US" sz="1000" b="1" dirty="0">
                <a:solidFill>
                  <a:schemeClr val="bg1"/>
                </a:solidFill>
              </a:endParaRPr>
            </a:p>
          </p:txBody>
        </p:sp>
      </p:grpSp>
    </p:spTree>
    <p:extLst>
      <p:ext uri="{BB962C8B-B14F-4D97-AF65-F5344CB8AC3E}">
        <p14:creationId xmlns:p14="http://schemas.microsoft.com/office/powerpoint/2010/main" val="403743477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(16/31)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Creating a volume populated with the contents of a </a:t>
            </a:r>
            <a:r>
              <a:rPr lang="en-US" altLang="ko-KR" sz="1400" b="1" dirty="0" err="1"/>
              <a:t>ConfigMap</a:t>
            </a:r>
            <a:r>
              <a:rPr lang="en-US" altLang="ko-KR" sz="1400" b="1" dirty="0"/>
              <a:t> is as easy as creating a volume that references the </a:t>
            </a:r>
            <a:r>
              <a:rPr lang="en-US" altLang="ko-KR" sz="1400" b="1" dirty="0" err="1"/>
              <a:t>ConfigMap</a:t>
            </a:r>
            <a:r>
              <a:rPr lang="en-US" altLang="ko-KR" sz="1400" b="1" dirty="0"/>
              <a:t> by name and mounting the volume in a container</a:t>
            </a:r>
            <a:r>
              <a:rPr lang="en-US" altLang="ko-KR" sz="1400" dirty="0"/>
              <a:t>. </a:t>
            </a:r>
          </a:p>
          <a:p>
            <a:pPr lvl="1">
              <a:buFont typeface="Wingdings" panose="05000000000000000000" pitchFamily="2" charset="2"/>
              <a:buChar char="§"/>
            </a:pPr>
            <a:r>
              <a:rPr lang="en-US" altLang="ko-KR" sz="1400" dirty="0"/>
              <a:t>For example, </a:t>
            </a:r>
            <a:r>
              <a:rPr lang="en-US" altLang="ko-KR" sz="1400" b="1" dirty="0"/>
              <a:t>Nginx reads its config file from “</a:t>
            </a:r>
            <a:r>
              <a:rPr lang="en-US" altLang="ko-KR" sz="1400" b="1" dirty="0">
                <a:solidFill>
                  <a:srgbClr val="FF0000"/>
                </a:solidFill>
              </a:rPr>
              <a:t>/</a:t>
            </a:r>
            <a:r>
              <a:rPr lang="en-US" altLang="ko-KR" sz="1400" b="1" dirty="0" err="1">
                <a:solidFill>
                  <a:srgbClr val="FF0000"/>
                </a:solidFill>
              </a:rPr>
              <a:t>etc</a:t>
            </a:r>
            <a:r>
              <a:rPr lang="en-US" altLang="ko-KR" sz="1400" b="1" dirty="0">
                <a:solidFill>
                  <a:srgbClr val="FF0000"/>
                </a:solidFill>
              </a:rPr>
              <a:t>/nginx/</a:t>
            </a:r>
            <a:r>
              <a:rPr lang="en-US" altLang="ko-KR" sz="1400" b="1" dirty="0" err="1">
                <a:solidFill>
                  <a:srgbClr val="FF0000"/>
                </a:solidFill>
              </a:rPr>
              <a:t>nginx.conf</a:t>
            </a:r>
            <a:r>
              <a:rPr lang="en-US" altLang="ko-KR" sz="1400" b="1" dirty="0"/>
              <a:t>”</a:t>
            </a:r>
            <a:r>
              <a:rPr lang="en-US" altLang="ko-KR" sz="1400" dirty="0"/>
              <a:t>. The Nginx image already contains this file with default configuration options, which you don’t want to override, so you don’t want to replace this file as a whole. </a:t>
            </a:r>
            <a:r>
              <a:rPr lang="en-US" altLang="ko-KR" sz="1400" b="1" dirty="0"/>
              <a:t>Luckily, the default config file automatically includes all “</a:t>
            </a:r>
            <a:r>
              <a:rPr lang="en-US" altLang="ko-KR" sz="1400" b="1" dirty="0">
                <a:solidFill>
                  <a:srgbClr val="FF0000"/>
                </a:solidFill>
              </a:rPr>
              <a:t>.conf</a:t>
            </a:r>
            <a:r>
              <a:rPr lang="en-US" altLang="ko-KR" sz="1400" b="1" dirty="0"/>
              <a:t>” files in the “</a:t>
            </a:r>
            <a:r>
              <a:rPr lang="en-US" altLang="ko-KR" sz="1400" b="1" dirty="0">
                <a:solidFill>
                  <a:srgbClr val="FF0000"/>
                </a:solidFill>
              </a:rPr>
              <a:t>/</a:t>
            </a:r>
            <a:r>
              <a:rPr lang="en-US" altLang="ko-KR" sz="1400" b="1" dirty="0" err="1">
                <a:solidFill>
                  <a:srgbClr val="FF0000"/>
                </a:solidFill>
              </a:rPr>
              <a:t>etc</a:t>
            </a:r>
            <a:r>
              <a:rPr lang="en-US" altLang="ko-KR" sz="1400" b="1" dirty="0">
                <a:solidFill>
                  <a:srgbClr val="FF0000"/>
                </a:solidFill>
              </a:rPr>
              <a:t>/nginx/</a:t>
            </a:r>
            <a:r>
              <a:rPr lang="en-US" altLang="ko-KR" sz="1400" b="1" dirty="0" err="1">
                <a:solidFill>
                  <a:srgbClr val="FF0000"/>
                </a:solidFill>
              </a:rPr>
              <a:t>conf.d</a:t>
            </a:r>
            <a:r>
              <a:rPr lang="en-US" altLang="ko-KR" sz="1400" b="1" dirty="0">
                <a:solidFill>
                  <a:srgbClr val="FF0000"/>
                </a:solidFill>
              </a:rPr>
              <a:t>/</a:t>
            </a:r>
            <a:r>
              <a:rPr lang="en-US" altLang="ko-KR" sz="1400" b="1" dirty="0"/>
              <a:t>” subdirectory as well, so you should add your config file in there</a:t>
            </a:r>
            <a:r>
              <a:rPr lang="en-US" altLang="ko-KR" sz="1400" dirty="0"/>
              <a:t>. The following figure shows what you want to achieve.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1270C2A-66A7-AA96-900C-0283741781EA}"/>
              </a:ext>
            </a:extLst>
          </p:cNvPr>
          <p:cNvGrpSpPr/>
          <p:nvPr/>
        </p:nvGrpSpPr>
        <p:grpSpPr>
          <a:xfrm>
            <a:off x="3562350" y="2979090"/>
            <a:ext cx="5067300" cy="2390775"/>
            <a:chOff x="3562350" y="2979090"/>
            <a:chExt cx="5067300" cy="2390775"/>
          </a:xfrm>
        </p:grpSpPr>
        <p:grpSp>
          <p:nvGrpSpPr>
            <p:cNvPr id="10" name="그룹 9">
              <a:extLst>
                <a:ext uri="{FF2B5EF4-FFF2-40B4-BE49-F238E27FC236}">
                  <a16:creationId xmlns:a16="http://schemas.microsoft.com/office/drawing/2014/main" id="{C528F56C-08F5-C5B8-9246-A46BD53E0CD6}"/>
                </a:ext>
              </a:extLst>
            </p:cNvPr>
            <p:cNvGrpSpPr/>
            <p:nvPr/>
          </p:nvGrpSpPr>
          <p:grpSpPr>
            <a:xfrm>
              <a:off x="3562350" y="2979090"/>
              <a:ext cx="5067300" cy="2390775"/>
              <a:chOff x="3562350" y="2979090"/>
              <a:chExt cx="5067300" cy="2390775"/>
            </a:xfrm>
          </p:grpSpPr>
          <p:pic>
            <p:nvPicPr>
              <p:cNvPr id="8" name="그림 7">
                <a:extLst>
                  <a:ext uri="{FF2B5EF4-FFF2-40B4-BE49-F238E27FC236}">
                    <a16:creationId xmlns:a16="http://schemas.microsoft.com/office/drawing/2014/main" id="{534ABC45-A21F-3E5F-5F65-4107A397093E}"/>
                  </a:ext>
                </a:extLst>
              </p:cNvPr>
              <p:cNvPicPr>
                <a:picLocks noChangeAspect="1"/>
              </p:cNvPicPr>
              <p:nvPr/>
            </p:nvPicPr>
            <p:blipFill>
              <a:blip r:embed="rId2"/>
              <a:stretch>
                <a:fillRect/>
              </a:stretch>
            </p:blipFill>
            <p:spPr>
              <a:xfrm>
                <a:off x="3562350" y="2979090"/>
                <a:ext cx="5067300" cy="2390775"/>
              </a:xfrm>
              <a:prstGeom prst="rect">
                <a:avLst/>
              </a:prstGeom>
            </p:spPr>
          </p:pic>
          <p:sp>
            <p:nvSpPr>
              <p:cNvPr id="9" name="TextBox 8">
                <a:extLst>
                  <a:ext uri="{FF2B5EF4-FFF2-40B4-BE49-F238E27FC236}">
                    <a16:creationId xmlns:a16="http://schemas.microsoft.com/office/drawing/2014/main" id="{EAC9AA4A-5408-B08F-7AFA-2887A091A46D}"/>
                  </a:ext>
                </a:extLst>
              </p:cNvPr>
              <p:cNvSpPr txBox="1"/>
              <p:nvPr/>
            </p:nvSpPr>
            <p:spPr>
              <a:xfrm>
                <a:off x="4183582" y="3345497"/>
                <a:ext cx="550151" cy="246221"/>
              </a:xfrm>
              <a:prstGeom prst="rect">
                <a:avLst/>
              </a:prstGeom>
              <a:noFill/>
            </p:spPr>
            <p:txBody>
              <a:bodyPr wrap="none" rtlCol="0">
                <a:spAutoFit/>
              </a:bodyPr>
              <a:lstStyle/>
              <a:p>
                <a:pPr algn="l"/>
                <a:r>
                  <a:rPr lang="en-US" altLang="ko-KR" sz="1000" b="1" dirty="0"/>
                  <a:t>Nginx</a:t>
                </a:r>
                <a:endParaRPr lang="ko-KR" altLang="en-US" sz="1000" b="1" dirty="0"/>
              </a:p>
            </p:txBody>
          </p:sp>
        </p:grpSp>
        <p:sp>
          <p:nvSpPr>
            <p:cNvPr id="11" name="직사각형 10">
              <a:extLst>
                <a:ext uri="{FF2B5EF4-FFF2-40B4-BE49-F238E27FC236}">
                  <a16:creationId xmlns:a16="http://schemas.microsoft.com/office/drawing/2014/main" id="{13DA5276-FEE6-661D-E0C4-23FD0286EDD5}"/>
                </a:ext>
              </a:extLst>
            </p:cNvPr>
            <p:cNvSpPr/>
            <p:nvPr/>
          </p:nvSpPr>
          <p:spPr>
            <a:xfrm>
              <a:off x="5251731" y="3698060"/>
              <a:ext cx="3358869" cy="11086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755025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(17/31)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dirty="0"/>
              <a:t>The following pod definition includes a volume, which references your </a:t>
            </a:r>
            <a:r>
              <a:rPr lang="en-US" altLang="ko-KR" sz="1400" b="1" dirty="0"/>
              <a:t>“fortune-config” </a:t>
            </a:r>
            <a:r>
              <a:rPr lang="en-US" altLang="ko-KR" sz="1400" b="1" dirty="0" err="1"/>
              <a:t>ConfigMap</a:t>
            </a:r>
            <a:r>
              <a:rPr lang="en-US" altLang="ko-KR" sz="1400" dirty="0"/>
              <a:t>. </a:t>
            </a:r>
            <a:r>
              <a:rPr lang="en-US" altLang="ko-KR" sz="1400" b="1" dirty="0"/>
              <a:t>You mount the volume into the “/</a:t>
            </a:r>
            <a:r>
              <a:rPr lang="en-US" altLang="ko-KR" sz="1400" b="1" dirty="0" err="1"/>
              <a:t>etc</a:t>
            </a:r>
            <a:r>
              <a:rPr lang="en-US" altLang="ko-KR" sz="1400" b="1" dirty="0"/>
              <a:t>/nginx/</a:t>
            </a:r>
            <a:r>
              <a:rPr lang="en-US" altLang="ko-KR" sz="1400" b="1" dirty="0" err="1"/>
              <a:t>conf.d</a:t>
            </a:r>
            <a:r>
              <a:rPr lang="en-US" altLang="ko-KR" sz="1400" b="1" dirty="0"/>
              <a:t>” directory to make Nginx use 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5812BC77-1127-E84D-7E49-DBA3765F082E}"/>
              </a:ext>
            </a:extLst>
          </p:cNvPr>
          <p:cNvGrpSpPr/>
          <p:nvPr/>
        </p:nvGrpSpPr>
        <p:grpSpPr>
          <a:xfrm>
            <a:off x="1744170" y="1801296"/>
            <a:ext cx="8703659" cy="3175971"/>
            <a:chOff x="1181437" y="2797625"/>
            <a:chExt cx="8703659" cy="3175971"/>
          </a:xfrm>
        </p:grpSpPr>
        <p:grpSp>
          <p:nvGrpSpPr>
            <p:cNvPr id="13" name="그룹 12">
              <a:extLst>
                <a:ext uri="{FF2B5EF4-FFF2-40B4-BE49-F238E27FC236}">
                  <a16:creationId xmlns:a16="http://schemas.microsoft.com/office/drawing/2014/main" id="{7F5040DE-AB83-388A-7C8E-90C5D6CB6341}"/>
                </a:ext>
              </a:extLst>
            </p:cNvPr>
            <p:cNvGrpSpPr/>
            <p:nvPr/>
          </p:nvGrpSpPr>
          <p:grpSpPr>
            <a:xfrm>
              <a:off x="1181437" y="2797625"/>
              <a:ext cx="8703659" cy="3175971"/>
              <a:chOff x="2563152" y="1980329"/>
              <a:chExt cx="7578192" cy="3175971"/>
            </a:xfrm>
          </p:grpSpPr>
          <p:sp>
            <p:nvSpPr>
              <p:cNvPr id="8" name="TextBox 7">
                <a:extLst>
                  <a:ext uri="{FF2B5EF4-FFF2-40B4-BE49-F238E27FC236}">
                    <a16:creationId xmlns:a16="http://schemas.microsoft.com/office/drawing/2014/main" id="{53B7A1B2-7E29-C55C-50A3-9E74EB4F25A7}"/>
                  </a:ext>
                </a:extLst>
              </p:cNvPr>
              <p:cNvSpPr txBox="1"/>
              <p:nvPr/>
            </p:nvSpPr>
            <p:spPr>
              <a:xfrm>
                <a:off x="6352248" y="1980329"/>
                <a:ext cx="3789096" cy="3170099"/>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a:t>
                </a:r>
                <a:r>
                  <a:rPr lang="en-US" altLang="ko-KR" sz="1000" b="1" dirty="0" err="1"/>
                  <a:t>usr</a:t>
                </a:r>
                <a:r>
                  <a:rPr lang="en-US" altLang="ko-KR" sz="1000" b="1" dirty="0"/>
                  <a:t>/share/nginx/html</a:t>
                </a:r>
              </a:p>
              <a:p>
                <a:r>
                  <a:rPr lang="en-US" altLang="ko-KR" sz="1000" b="1" dirty="0"/>
                  <a:t>      </a:t>
                </a:r>
                <a:r>
                  <a:rPr lang="en-US" altLang="ko-KR" sz="1000" b="1" dirty="0" err="1"/>
                  <a:t>readOnly</a:t>
                </a:r>
                <a:r>
                  <a:rPr lang="en-US" altLang="ko-KR" sz="1000" b="1" dirty="0"/>
                  <a:t>: true</a:t>
                </a:r>
              </a:p>
              <a:p>
                <a:r>
                  <a:rPr lang="en-US" altLang="ko-KR" sz="1000" b="1" dirty="0">
                    <a:solidFill>
                      <a:srgbClr val="FF0000"/>
                    </a:solidFill>
                  </a:rPr>
                  <a:t>    - name: config</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a:t>
                </a:r>
                <a:r>
                  <a:rPr lang="en-US" altLang="ko-KR" sz="1000" b="1" dirty="0" err="1">
                    <a:solidFill>
                      <a:srgbClr val="FF0000"/>
                    </a:solidFill>
                  </a:rPr>
                  <a:t>etc</a:t>
                </a:r>
                <a:r>
                  <a:rPr lang="en-US" altLang="ko-KR" sz="1000" b="1" dirty="0">
                    <a:solidFill>
                      <a:srgbClr val="FF0000"/>
                    </a:solidFill>
                  </a:rPr>
                  <a:t>/nginx/</a:t>
                </a:r>
                <a:r>
                  <a:rPr lang="en-US" altLang="ko-KR" sz="1000" b="1" dirty="0" err="1">
                    <a:solidFill>
                      <a:srgbClr val="FF0000"/>
                    </a:solidFill>
                  </a:rPr>
                  <a:t>conf.d</a:t>
                </a:r>
                <a:endParaRPr lang="en-US" altLang="ko-KR" sz="1000" b="1" dirty="0">
                  <a:solidFill>
                    <a:srgbClr val="FF0000"/>
                  </a:solidFill>
                </a:endParaRPr>
              </a:p>
              <a:p>
                <a:r>
                  <a:rPr lang="en-US" altLang="ko-KR" sz="1000" b="1" dirty="0">
                    <a:solidFill>
                      <a:srgbClr val="FF0000"/>
                    </a:solidFill>
                  </a:rPr>
                  <a:t>      </a:t>
                </a:r>
                <a:r>
                  <a:rPr lang="en-US" altLang="ko-KR" sz="1000" b="1" dirty="0" err="1">
                    <a:solidFill>
                      <a:srgbClr val="FF0000"/>
                    </a:solidFill>
                  </a:rPr>
                  <a:t>readOnly</a:t>
                </a:r>
                <a:r>
                  <a:rPr lang="en-US" altLang="ko-KR" sz="1000" b="1" dirty="0">
                    <a:solidFill>
                      <a:srgbClr val="FF0000"/>
                    </a:solidFill>
                  </a:rPr>
                  <a:t>: true</a:t>
                </a:r>
              </a:p>
              <a:p>
                <a:r>
                  <a:rPr lang="en-US" altLang="ko-KR" sz="1000" b="1" dirty="0">
                    <a:solidFill>
                      <a:srgbClr val="FF0000"/>
                    </a:solidFill>
                  </a:rPr>
                  <a:t>    - name: config</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a:t>
                </a:r>
                <a:r>
                  <a:rPr lang="en-US" altLang="ko-KR" sz="1000" b="1" dirty="0" err="1">
                    <a:solidFill>
                      <a:srgbClr val="FF0000"/>
                    </a:solidFill>
                  </a:rPr>
                  <a:t>tmp</a:t>
                </a:r>
                <a:r>
                  <a:rPr lang="en-US" altLang="ko-KR" sz="1000" b="1" dirty="0">
                    <a:solidFill>
                      <a:srgbClr val="FF0000"/>
                    </a:solidFill>
                  </a:rPr>
                  <a:t>/whole-fortune-config-volume</a:t>
                </a:r>
              </a:p>
              <a:p>
                <a:r>
                  <a:rPr lang="en-US" altLang="ko-KR" sz="1000" b="1" dirty="0">
                    <a:solidFill>
                      <a:srgbClr val="FF0000"/>
                    </a:solidFill>
                  </a:rPr>
                  <a:t>      </a:t>
                </a:r>
                <a:r>
                  <a:rPr lang="en-US" altLang="ko-KR" sz="1000" b="1" dirty="0" err="1">
                    <a:solidFill>
                      <a:srgbClr val="FF0000"/>
                    </a:solidFill>
                  </a:rPr>
                  <a:t>readOnly</a:t>
                </a:r>
                <a:r>
                  <a:rPr lang="en-US" altLang="ko-KR" sz="1000" b="1" dirty="0">
                    <a:solidFill>
                      <a:srgbClr val="FF0000"/>
                    </a:solidFill>
                  </a:rPr>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t>        name: http</a:t>
                </a:r>
              </a:p>
              <a:p>
                <a:r>
                  <a:rPr lang="en-US" altLang="ko-KR" sz="1000" b="1" dirty="0"/>
                  <a:t>        protocol: TCP</a:t>
                </a:r>
              </a:p>
              <a:p>
                <a:r>
                  <a:rPr lang="en-US" altLang="ko-KR" sz="1000" b="1" dirty="0"/>
                  <a:t>  volumes:</a:t>
                </a:r>
              </a:p>
              <a:p>
                <a:r>
                  <a:rPr lang="en-US" altLang="ko-KR" sz="1000" b="1" dirty="0"/>
                  <a:t>  - name: html</a:t>
                </a:r>
              </a:p>
              <a:p>
                <a:r>
                  <a:rPr lang="en-US" altLang="ko-KR" sz="1000" b="1" dirty="0"/>
                  <a:t>    </a:t>
                </a:r>
                <a:r>
                  <a:rPr lang="en-US" altLang="ko-KR" sz="1000" b="1" dirty="0" err="1"/>
                  <a:t>emptyDir</a:t>
                </a:r>
                <a:r>
                  <a:rPr lang="en-US" altLang="ko-KR" sz="1000" b="1" dirty="0"/>
                  <a:t>: {}</a:t>
                </a:r>
              </a:p>
              <a:p>
                <a:r>
                  <a:rPr lang="en-US" altLang="ko-KR" sz="1000" b="1" dirty="0">
                    <a:solidFill>
                      <a:srgbClr val="FF0000"/>
                    </a:solidFill>
                  </a:rPr>
                  <a:t>  - name: config</a:t>
                </a:r>
              </a:p>
              <a:p>
                <a:r>
                  <a:rPr lang="en-US" altLang="ko-KR" sz="1000" b="1" dirty="0">
                    <a:solidFill>
                      <a:srgbClr val="FF0000"/>
                    </a:solidFill>
                  </a:rPr>
                  <a:t>    </a:t>
                </a:r>
                <a:r>
                  <a:rPr lang="en-US" altLang="ko-KR" sz="1000" b="1" dirty="0" err="1">
                    <a:solidFill>
                      <a:srgbClr val="FF0000"/>
                    </a:solidFill>
                  </a:rPr>
                  <a:t>configMap</a:t>
                </a:r>
                <a:r>
                  <a:rPr lang="en-US" altLang="ko-KR" sz="1000" b="1" dirty="0">
                    <a:solidFill>
                      <a:srgbClr val="FF0000"/>
                    </a:solidFill>
                  </a:rPr>
                  <a:t>:</a:t>
                </a:r>
              </a:p>
              <a:p>
                <a:r>
                  <a:rPr lang="en-US" altLang="ko-KR" sz="1000" b="1" dirty="0">
                    <a:solidFill>
                      <a:srgbClr val="FF0000"/>
                    </a:solidFill>
                  </a:rPr>
                  <a:t>      name: fortune-config</a:t>
                </a:r>
                <a:endParaRPr lang="ko-KR" altLang="en-US" sz="1000" b="1" dirty="0">
                  <a:solidFill>
                    <a:srgbClr val="FF0000"/>
                  </a:solidFill>
                </a:endParaRPr>
              </a:p>
            </p:txBody>
          </p:sp>
          <p:sp>
            <p:nvSpPr>
              <p:cNvPr id="12" name="TextBox 11">
                <a:extLst>
                  <a:ext uri="{FF2B5EF4-FFF2-40B4-BE49-F238E27FC236}">
                    <a16:creationId xmlns:a16="http://schemas.microsoft.com/office/drawing/2014/main" id="{F0ED8C4D-6E86-D85E-186D-1AB4F15B2D93}"/>
                  </a:ext>
                </a:extLst>
              </p:cNvPr>
              <p:cNvSpPr txBox="1"/>
              <p:nvPr/>
            </p:nvSpPr>
            <p:spPr>
              <a:xfrm>
                <a:off x="2563152" y="1986201"/>
                <a:ext cx="3789096" cy="3170099"/>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fortune-</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configmap</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-volume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a:t>
                </a:r>
                <a:r>
                  <a:rPr lang="en-US" altLang="ko-KR" sz="1000" b="1" dirty="0">
                    <a:solidFill>
                      <a:srgbClr val="FF0000"/>
                    </a:solidFill>
                    <a:latin typeface="맑은 고딕" panose="020F0502020204030204"/>
                    <a:ea typeface="맑은 고딕" panose="020B0503020000020004" pitchFamily="50" charset="-127"/>
                  </a:rPr>
                  <a:t>knix008</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fortune:env</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env:</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INTERVAL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valueFrom</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configMapKeyRef</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name: fortune-config</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key: sleep-interval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html-generator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htdocs</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nginx:alpine</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web-server</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9C41ADF4-B70F-F932-331A-AFDD20E80875}"/>
                </a:ext>
              </a:extLst>
            </p:cNvPr>
            <p:cNvSpPr txBox="1"/>
            <p:nvPr/>
          </p:nvSpPr>
          <p:spPr>
            <a:xfrm>
              <a:off x="7416150" y="2803497"/>
              <a:ext cx="2468946" cy="246221"/>
            </a:xfrm>
            <a:prstGeom prst="rect">
              <a:avLst/>
            </a:prstGeom>
            <a:noFill/>
          </p:spPr>
          <p:txBody>
            <a:bodyPr wrap="none" rtlCol="0">
              <a:spAutoFit/>
            </a:bodyPr>
            <a:lstStyle/>
            <a:p>
              <a:pPr algn="l"/>
              <a:r>
                <a:rPr lang="en-US" altLang="ko-KR" sz="1000" b="1" dirty="0"/>
                <a:t>fortune-pod-</a:t>
              </a:r>
              <a:r>
                <a:rPr lang="en-US" altLang="ko-KR" sz="1000" b="1" dirty="0" err="1"/>
                <a:t>configmap</a:t>
              </a:r>
              <a:r>
                <a:rPr lang="en-US" altLang="ko-KR" sz="1000" b="1" dirty="0"/>
                <a:t>-</a:t>
              </a:r>
              <a:r>
                <a:rPr lang="en-US" altLang="ko-KR" sz="1000" b="1" dirty="0" err="1"/>
                <a:t>volume.yaml</a:t>
              </a:r>
              <a:endParaRPr lang="ko-KR" altLang="en-US" sz="1000" b="1" dirty="0"/>
            </a:p>
          </p:txBody>
        </p:sp>
      </p:grpSp>
    </p:spTree>
    <p:extLst>
      <p:ext uri="{BB962C8B-B14F-4D97-AF65-F5344CB8AC3E}">
        <p14:creationId xmlns:p14="http://schemas.microsoft.com/office/powerpoint/2010/main" val="19681769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(18/31)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The web server should now be configured to compress the responses it sends</a:t>
            </a:r>
            <a:r>
              <a:rPr lang="en-US" altLang="ko-KR" sz="1400" dirty="0"/>
              <a:t>. You can </a:t>
            </a:r>
            <a:r>
              <a:rPr lang="en-US" altLang="ko-KR" sz="1400" b="1" dirty="0"/>
              <a:t>verify this by enabling </a:t>
            </a:r>
            <a:r>
              <a:rPr lang="en-US" altLang="ko-KR" sz="1400" b="1" dirty="0">
                <a:solidFill>
                  <a:srgbClr val="FF0000"/>
                </a:solidFill>
              </a:rPr>
              <a:t>port-forwarding</a:t>
            </a:r>
            <a:r>
              <a:rPr lang="en-US" altLang="ko-KR" sz="1400" b="1" dirty="0"/>
              <a:t> from localhost:8080 to the pod’s port 80</a:t>
            </a:r>
            <a:r>
              <a:rPr lang="en-US" altLang="ko-KR" sz="1400" dirty="0"/>
              <a:t> and </a:t>
            </a:r>
            <a:r>
              <a:rPr lang="en-US" altLang="ko-KR" sz="1400" b="1" dirty="0"/>
              <a:t>checking the server’s response with “</a:t>
            </a:r>
            <a:r>
              <a:rPr lang="en-US" altLang="ko-KR" sz="1400" b="1" dirty="0">
                <a:solidFill>
                  <a:srgbClr val="FF0000"/>
                </a:solidFill>
              </a:rPr>
              <a:t>curl</a:t>
            </a:r>
            <a:r>
              <a:rPr lang="en-US" altLang="ko-KR" sz="1400" b="1" dirty="0"/>
              <a:t>” </a:t>
            </a:r>
            <a:r>
              <a:rPr lang="en-US" altLang="ko-KR" sz="1400" dirty="0"/>
              <a:t>with the following commands</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24C3F2DA-5DB0-AD0D-FAD9-7BE26D9CD93A}"/>
              </a:ext>
            </a:extLst>
          </p:cNvPr>
          <p:cNvGrpSpPr/>
          <p:nvPr/>
        </p:nvGrpSpPr>
        <p:grpSpPr>
          <a:xfrm>
            <a:off x="1231658" y="1997144"/>
            <a:ext cx="9728683" cy="3136469"/>
            <a:chOff x="1231658" y="1845500"/>
            <a:chExt cx="9728683" cy="3136469"/>
          </a:xfrm>
        </p:grpSpPr>
        <p:pic>
          <p:nvPicPr>
            <p:cNvPr id="8" name="그림 7">
              <a:extLst>
                <a:ext uri="{FF2B5EF4-FFF2-40B4-BE49-F238E27FC236}">
                  <a16:creationId xmlns:a16="http://schemas.microsoft.com/office/drawing/2014/main" id="{8AAA57F3-3FF0-CD56-017B-A7A1A66900E5}"/>
                </a:ext>
              </a:extLst>
            </p:cNvPr>
            <p:cNvPicPr>
              <a:picLocks noChangeAspect="1"/>
            </p:cNvPicPr>
            <p:nvPr/>
          </p:nvPicPr>
          <p:blipFill>
            <a:blip r:embed="rId2"/>
            <a:stretch>
              <a:fillRect/>
            </a:stretch>
          </p:blipFill>
          <p:spPr>
            <a:xfrm>
              <a:off x="1231658" y="2711943"/>
              <a:ext cx="9728683" cy="2270026"/>
            </a:xfrm>
            <a:prstGeom prst="rect">
              <a:avLst/>
            </a:prstGeom>
          </p:spPr>
        </p:pic>
        <p:sp>
          <p:nvSpPr>
            <p:cNvPr id="13" name="TextBox 12">
              <a:extLst>
                <a:ext uri="{FF2B5EF4-FFF2-40B4-BE49-F238E27FC236}">
                  <a16:creationId xmlns:a16="http://schemas.microsoft.com/office/drawing/2014/main" id="{DE01DE0E-9AD7-22C6-93A4-646CE8E29175}"/>
                </a:ext>
              </a:extLst>
            </p:cNvPr>
            <p:cNvSpPr txBox="1"/>
            <p:nvPr/>
          </p:nvSpPr>
          <p:spPr>
            <a:xfrm>
              <a:off x="3047326" y="1845500"/>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a:t>
              </a:r>
              <a:r>
                <a:rPr lang="en-US" altLang="ko-KR" sz="1000" b="1" dirty="0">
                  <a:solidFill>
                    <a:srgbClr val="FF0000"/>
                  </a:solidFill>
                </a:rPr>
                <a:t>fortune-config --from-file=</a:t>
              </a:r>
              <a:r>
                <a:rPr lang="en-US" altLang="ko-KR" sz="1000" b="1" dirty="0" err="1">
                  <a:solidFill>
                    <a:srgbClr val="FF0000"/>
                  </a:solidFill>
                </a:rPr>
                <a:t>configmap</a:t>
              </a:r>
              <a:r>
                <a:rPr lang="en-US" altLang="ko-KR" sz="1000" b="1" dirty="0">
                  <a:solidFill>
                    <a:srgbClr val="FF0000"/>
                  </a:solidFill>
                </a:rPr>
                <a:t>-files</a:t>
              </a:r>
            </a:p>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fortune-pod-</a:t>
              </a:r>
              <a:r>
                <a:rPr lang="en-US" altLang="ko-KR" sz="1000" b="1" dirty="0" err="1">
                  <a:solidFill>
                    <a:srgbClr val="FF0000"/>
                  </a:solidFill>
                </a:rPr>
                <a:t>configmap</a:t>
              </a:r>
              <a:r>
                <a:rPr lang="en-US" altLang="ko-KR" sz="1000" b="1" dirty="0">
                  <a:solidFill>
                    <a:srgbClr val="FF0000"/>
                  </a:solidFill>
                </a:rPr>
                <a:t>-</a:t>
              </a:r>
              <a:r>
                <a:rPr lang="en-US" altLang="ko-KR" sz="1000" b="1" dirty="0" err="1">
                  <a:solidFill>
                    <a:srgbClr val="FF0000"/>
                  </a:solidFill>
                </a:rPr>
                <a:t>volume.yaml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port-forward </a:t>
              </a:r>
              <a:r>
                <a:rPr lang="en-US" altLang="ko-KR" sz="1000" b="1" dirty="0">
                  <a:solidFill>
                    <a:srgbClr val="FF0000"/>
                  </a:solidFill>
                </a:rPr>
                <a:t>fortune-</a:t>
              </a:r>
              <a:r>
                <a:rPr lang="en-US" altLang="ko-KR" sz="1000" b="1" dirty="0" err="1">
                  <a:solidFill>
                    <a:srgbClr val="FF0000"/>
                  </a:solidFill>
                </a:rPr>
                <a:t>configmap</a:t>
              </a:r>
              <a:r>
                <a:rPr lang="en-US" altLang="ko-KR" sz="1000" b="1" dirty="0">
                  <a:solidFill>
                    <a:srgbClr val="FF0000"/>
                  </a:solidFill>
                </a:rPr>
                <a:t>-volume 8080:80 &amp;</a:t>
              </a:r>
              <a:endParaRPr lang="ko-KR" altLang="en-US" sz="1000" b="1" dirty="0">
                <a:solidFill>
                  <a:srgbClr val="FF0000"/>
                </a:solidFill>
              </a:endParaRPr>
            </a:p>
          </p:txBody>
        </p:sp>
        <p:sp>
          <p:nvSpPr>
            <p:cNvPr id="14" name="화살표: 아래쪽 13">
              <a:extLst>
                <a:ext uri="{FF2B5EF4-FFF2-40B4-BE49-F238E27FC236}">
                  <a16:creationId xmlns:a16="http://schemas.microsoft.com/office/drawing/2014/main" id="{7475B0BA-101D-3469-1AEE-EC993E6B7CBF}"/>
                </a:ext>
              </a:extLst>
            </p:cNvPr>
            <p:cNvSpPr/>
            <p:nvPr/>
          </p:nvSpPr>
          <p:spPr>
            <a:xfrm>
              <a:off x="5897745" y="2414110"/>
              <a:ext cx="396510"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131353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(19/31)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dirty="0"/>
              <a:t>Now, you can </a:t>
            </a:r>
            <a:r>
              <a:rPr lang="en-US" altLang="ko-KR" sz="1400" b="1" dirty="0"/>
              <a:t>run the following “curl” command </a:t>
            </a:r>
            <a:r>
              <a:rPr lang="en-US" altLang="ko-KR" sz="1400" dirty="0"/>
              <a:t>to check whether the configurations are working or not.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If you have a problem like “</a:t>
            </a:r>
            <a:r>
              <a:rPr lang="en-US" altLang="ko-KR" sz="1400" b="1" dirty="0" err="1"/>
              <a:t>CreatingConainterError</a:t>
            </a:r>
            <a:r>
              <a:rPr lang="en-US" altLang="ko-KR" sz="1400" b="1" dirty="0"/>
              <a:t>” in running the pod, you need to inspect the pod itself to see the cause of the problem</a:t>
            </a:r>
            <a:r>
              <a:rPr lang="en-US" altLang="ko-KR" sz="1400" dirty="0"/>
              <a:t>. Be sure that “</a:t>
            </a:r>
            <a:r>
              <a:rPr lang="en-US" altLang="ko-KR" sz="1400" b="1" dirty="0"/>
              <a:t>sleep-interval</a:t>
            </a:r>
            <a:r>
              <a:rPr lang="en-US" altLang="ko-KR" sz="1400" dirty="0"/>
              <a:t>”</a:t>
            </a:r>
            <a:r>
              <a:rPr lang="en-US" altLang="ko-KR" sz="1400" b="1" dirty="0"/>
              <a:t>(</a:t>
            </a:r>
            <a:r>
              <a:rPr lang="en-US" altLang="ko-KR" sz="1400" b="1" dirty="0">
                <a:solidFill>
                  <a:srgbClr val="FF0000"/>
                </a:solidFill>
              </a:rPr>
              <a:t>dash</a:t>
            </a:r>
            <a:r>
              <a:rPr lang="en-US" altLang="ko-KR" sz="1400" b="1" dirty="0"/>
              <a:t>)</a:t>
            </a:r>
            <a:r>
              <a:rPr lang="en-US" altLang="ko-KR" sz="1400" dirty="0"/>
              <a:t> is the filename.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17DB51D-4C3A-98B1-0943-A395C839329F}"/>
              </a:ext>
            </a:extLst>
          </p:cNvPr>
          <p:cNvGrpSpPr/>
          <p:nvPr/>
        </p:nvGrpSpPr>
        <p:grpSpPr>
          <a:xfrm>
            <a:off x="1210181" y="1592740"/>
            <a:ext cx="9771638" cy="2801261"/>
            <a:chOff x="1210181" y="1536096"/>
            <a:chExt cx="9771638" cy="2801261"/>
          </a:xfrm>
        </p:grpSpPr>
        <p:grpSp>
          <p:nvGrpSpPr>
            <p:cNvPr id="11" name="그룹 10">
              <a:extLst>
                <a:ext uri="{FF2B5EF4-FFF2-40B4-BE49-F238E27FC236}">
                  <a16:creationId xmlns:a16="http://schemas.microsoft.com/office/drawing/2014/main" id="{5242EB21-E2C7-5F77-DFA3-2CBFDC695284}"/>
                </a:ext>
              </a:extLst>
            </p:cNvPr>
            <p:cNvGrpSpPr/>
            <p:nvPr/>
          </p:nvGrpSpPr>
          <p:grpSpPr>
            <a:xfrm>
              <a:off x="1210181" y="1536096"/>
              <a:ext cx="9771638" cy="2801261"/>
              <a:chOff x="1210181" y="1479452"/>
              <a:chExt cx="9771638" cy="2801261"/>
            </a:xfrm>
          </p:grpSpPr>
          <p:pic>
            <p:nvPicPr>
              <p:cNvPr id="4" name="그림 3">
                <a:extLst>
                  <a:ext uri="{FF2B5EF4-FFF2-40B4-BE49-F238E27FC236}">
                    <a16:creationId xmlns:a16="http://schemas.microsoft.com/office/drawing/2014/main" id="{878D67BA-CE76-B6DF-D542-D40C375B3432}"/>
                  </a:ext>
                </a:extLst>
              </p:cNvPr>
              <p:cNvPicPr>
                <a:picLocks noChangeAspect="1"/>
              </p:cNvPicPr>
              <p:nvPr/>
            </p:nvPicPr>
            <p:blipFill>
              <a:blip r:embed="rId2"/>
              <a:stretch>
                <a:fillRect/>
              </a:stretch>
            </p:blipFill>
            <p:spPr>
              <a:xfrm>
                <a:off x="1210181" y="2000664"/>
                <a:ext cx="9771638" cy="2280049"/>
              </a:xfrm>
              <a:prstGeom prst="rect">
                <a:avLst/>
              </a:prstGeom>
            </p:spPr>
          </p:pic>
          <p:sp>
            <p:nvSpPr>
              <p:cNvPr id="9" name="TextBox 8">
                <a:extLst>
                  <a:ext uri="{FF2B5EF4-FFF2-40B4-BE49-F238E27FC236}">
                    <a16:creationId xmlns:a16="http://schemas.microsoft.com/office/drawing/2014/main" id="{64CBF068-D4B5-AA40-B413-6C41D289D910}"/>
                  </a:ext>
                </a:extLst>
              </p:cNvPr>
              <p:cNvSpPr txBox="1"/>
              <p:nvPr/>
            </p:nvSpPr>
            <p:spPr>
              <a:xfrm>
                <a:off x="3029119" y="1479452"/>
                <a:ext cx="6133762" cy="246221"/>
              </a:xfrm>
              <a:prstGeom prst="rect">
                <a:avLst/>
              </a:prstGeom>
              <a:noFill/>
              <a:ln>
                <a:solidFill>
                  <a:schemeClr val="bg1">
                    <a:lumMod val="50000"/>
                  </a:schemeClr>
                </a:solidFill>
              </a:ln>
            </p:spPr>
            <p:txBody>
              <a:bodyPr wrap="square">
                <a:spAutoFit/>
              </a:bodyPr>
              <a:lstStyle/>
              <a:p>
                <a:r>
                  <a:rPr lang="en-US" altLang="ko-KR" sz="1000" b="1" dirty="0"/>
                  <a:t>$ curl -H </a:t>
                </a:r>
                <a:r>
                  <a:rPr lang="en-US" altLang="ko-KR" sz="1000" b="1" dirty="0">
                    <a:solidFill>
                      <a:srgbClr val="FF0000"/>
                    </a:solidFill>
                  </a:rPr>
                  <a:t>"Accept-Encoding: </a:t>
                </a:r>
                <a:r>
                  <a:rPr lang="en-US" altLang="ko-KR" sz="1000" b="1" dirty="0" err="1">
                    <a:solidFill>
                      <a:srgbClr val="FF0000"/>
                    </a:solidFill>
                  </a:rPr>
                  <a:t>gzip</a:t>
                </a:r>
                <a:r>
                  <a:rPr lang="en-US" altLang="ko-KR" sz="1000" b="1" dirty="0">
                    <a:solidFill>
                      <a:srgbClr val="FF0000"/>
                    </a:solidFill>
                  </a:rPr>
                  <a:t>" -I localhost:8080</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EF8E31E0-0D84-F246-4525-772AF63F4C01}"/>
                  </a:ext>
                </a:extLst>
              </p:cNvPr>
              <p:cNvSpPr/>
              <p:nvPr/>
            </p:nvSpPr>
            <p:spPr>
              <a:xfrm>
                <a:off x="5888979" y="1741719"/>
                <a:ext cx="414042" cy="2589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C39236B8-5B7B-6EF7-B021-3B75EA5116F5}"/>
                </a:ext>
              </a:extLst>
            </p:cNvPr>
            <p:cNvSpPr/>
            <p:nvPr/>
          </p:nvSpPr>
          <p:spPr>
            <a:xfrm>
              <a:off x="1335186" y="3762796"/>
              <a:ext cx="1488934"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518815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(20/31)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dirty="0"/>
              <a:t>The response shows you achieved what you wanted, but </a:t>
            </a:r>
            <a:r>
              <a:rPr lang="en-US" altLang="ko-KR" sz="1400" b="1" dirty="0"/>
              <a:t>let’s look at what’s in the “/</a:t>
            </a:r>
            <a:r>
              <a:rPr lang="en-US" altLang="ko-KR" sz="1400" b="1" dirty="0" err="1"/>
              <a:t>etc</a:t>
            </a:r>
            <a:r>
              <a:rPr lang="en-US" altLang="ko-KR" sz="1400" b="1" dirty="0"/>
              <a:t>/nginx/</a:t>
            </a:r>
            <a:r>
              <a:rPr lang="en-US" altLang="ko-KR" sz="1400" b="1" dirty="0" err="1"/>
              <a:t>conf.d</a:t>
            </a:r>
            <a:r>
              <a:rPr lang="en-US" altLang="ko-KR" sz="1400" b="1" dirty="0"/>
              <a:t>” directory </a:t>
            </a:r>
            <a:r>
              <a:rPr lang="en-US" altLang="ko-KR" sz="1400" dirty="0"/>
              <a:t>now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Both entries from the </a:t>
            </a:r>
            <a:r>
              <a:rPr lang="en-US" altLang="ko-KR" sz="1400" b="1" dirty="0" err="1"/>
              <a:t>ConfigMap</a:t>
            </a:r>
            <a:r>
              <a:rPr lang="en-US" altLang="ko-KR" sz="1400" b="1" dirty="0"/>
              <a:t> have been added as files to the directory</a:t>
            </a:r>
            <a:r>
              <a:rPr lang="en-US" altLang="ko-KR" sz="1400" dirty="0"/>
              <a:t>. The “</a:t>
            </a:r>
            <a:r>
              <a:rPr lang="en-US" altLang="ko-KR" sz="1400" b="1" dirty="0"/>
              <a:t>sleep-interval</a:t>
            </a:r>
            <a:r>
              <a:rPr lang="en-US" altLang="ko-KR" sz="1400" dirty="0"/>
              <a:t>” entry is also included, although it has no business being there, because it’s only meant to be used by the “</a:t>
            </a:r>
            <a:r>
              <a:rPr lang="en-US" altLang="ko-KR" sz="1400" b="1" dirty="0" err="1"/>
              <a:t>fortuneloop</a:t>
            </a:r>
            <a:r>
              <a:rPr lang="en-US" altLang="ko-KR" sz="1400" dirty="0"/>
              <a:t>” container. </a:t>
            </a:r>
            <a:r>
              <a:rPr lang="en-US" altLang="ko-KR" sz="1400" b="1" dirty="0"/>
              <a:t>You could create two different </a:t>
            </a:r>
            <a:r>
              <a:rPr lang="en-US" altLang="ko-KR" sz="1400" b="1" dirty="0" err="1"/>
              <a:t>ConfigMaps</a:t>
            </a:r>
            <a:r>
              <a:rPr lang="en-US" altLang="ko-KR" sz="1400" b="1" dirty="0"/>
              <a:t> and use one to configure the “</a:t>
            </a:r>
            <a:r>
              <a:rPr lang="en-US" altLang="ko-KR" sz="1400" b="1" dirty="0" err="1"/>
              <a:t>fortuneloop</a:t>
            </a:r>
            <a:r>
              <a:rPr lang="en-US" altLang="ko-KR" sz="1400" b="1" dirty="0"/>
              <a:t>” container </a:t>
            </a:r>
            <a:r>
              <a:rPr lang="en-US" altLang="ko-KR" sz="1400" dirty="0"/>
              <a:t>and </a:t>
            </a:r>
            <a:r>
              <a:rPr lang="en-US" altLang="ko-KR" sz="1400" b="1" dirty="0"/>
              <a:t>the other one to configure the web-server container</a:t>
            </a:r>
            <a:r>
              <a:rPr lang="en-US" altLang="ko-KR" sz="1400" dirty="0"/>
              <a:t>. But somehow it feels wrong to use multiple </a:t>
            </a:r>
            <a:r>
              <a:rPr lang="en-US" altLang="ko-KR" sz="1400" b="1" dirty="0" err="1"/>
              <a:t>ConfigMaps</a:t>
            </a:r>
            <a:r>
              <a:rPr lang="en-US" altLang="ko-KR" sz="1400" dirty="0"/>
              <a:t> to configure containers of the same pod. </a:t>
            </a:r>
            <a:r>
              <a:rPr lang="en-US" altLang="ko-KR" sz="1400" b="1" dirty="0"/>
              <a:t>After all, having containers in the same pod implies that the containers are closely related and should probably also be configured as a unit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B332168-0351-A5F1-365A-27BA41C3FA8A}"/>
              </a:ext>
            </a:extLst>
          </p:cNvPr>
          <p:cNvGrpSpPr/>
          <p:nvPr/>
        </p:nvGrpSpPr>
        <p:grpSpPr>
          <a:xfrm>
            <a:off x="1307201" y="1805040"/>
            <a:ext cx="9577598" cy="2033461"/>
            <a:chOff x="1307201" y="1627015"/>
            <a:chExt cx="9577598" cy="2033461"/>
          </a:xfrm>
        </p:grpSpPr>
        <p:sp>
          <p:nvSpPr>
            <p:cNvPr id="8" name="TextBox 7">
              <a:extLst>
                <a:ext uri="{FF2B5EF4-FFF2-40B4-BE49-F238E27FC236}">
                  <a16:creationId xmlns:a16="http://schemas.microsoft.com/office/drawing/2014/main" id="{658699BA-7D5E-B5E5-8090-C9AD99D4A1B4}"/>
                </a:ext>
              </a:extLst>
            </p:cNvPr>
            <p:cNvSpPr txBox="1"/>
            <p:nvPr/>
          </p:nvSpPr>
          <p:spPr>
            <a:xfrm>
              <a:off x="3047326" y="162701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fortune-</a:t>
              </a:r>
              <a:r>
                <a:rPr lang="en-US" altLang="ko-KR" sz="1000" b="1" dirty="0" err="1">
                  <a:solidFill>
                    <a:srgbClr val="FF0000"/>
                  </a:solidFill>
                </a:rPr>
                <a:t>configmap</a:t>
              </a:r>
              <a:r>
                <a:rPr lang="en-US" altLang="ko-KR" sz="1000" b="1" dirty="0">
                  <a:solidFill>
                    <a:srgbClr val="FF0000"/>
                  </a:solidFill>
                </a:rPr>
                <a:t>-volume -c web-server -- ls /</a:t>
              </a:r>
              <a:r>
                <a:rPr lang="en-US" altLang="ko-KR" sz="1000" b="1" dirty="0" err="1">
                  <a:solidFill>
                    <a:srgbClr val="FF0000"/>
                  </a:solidFill>
                </a:rPr>
                <a:t>etc</a:t>
              </a:r>
              <a:r>
                <a:rPr lang="en-US" altLang="ko-KR" sz="1000" b="1" dirty="0">
                  <a:solidFill>
                    <a:srgbClr val="FF0000"/>
                  </a:solidFill>
                </a:rPr>
                <a:t>/nginx/</a:t>
              </a:r>
              <a:r>
                <a:rPr lang="en-US" altLang="ko-KR" sz="1000" b="1" dirty="0" err="1">
                  <a:solidFill>
                    <a:srgbClr val="FF0000"/>
                  </a:solidFill>
                </a:rPr>
                <a:t>conf.d</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3951EC66-11BA-83BF-3622-7804CAB68C0E}"/>
                </a:ext>
              </a:extLst>
            </p:cNvPr>
            <p:cNvPicPr>
              <a:picLocks noChangeAspect="1"/>
            </p:cNvPicPr>
            <p:nvPr/>
          </p:nvPicPr>
          <p:blipFill>
            <a:blip r:embed="rId2"/>
            <a:stretch>
              <a:fillRect/>
            </a:stretch>
          </p:blipFill>
          <p:spPr>
            <a:xfrm>
              <a:off x="1307201" y="2144023"/>
              <a:ext cx="9577598" cy="1516453"/>
            </a:xfrm>
            <a:prstGeom prst="rect">
              <a:avLst/>
            </a:prstGeom>
          </p:spPr>
        </p:pic>
        <p:sp>
          <p:nvSpPr>
            <p:cNvPr id="11" name="화살표: 아래쪽 10">
              <a:extLst>
                <a:ext uri="{FF2B5EF4-FFF2-40B4-BE49-F238E27FC236}">
                  <a16:creationId xmlns:a16="http://schemas.microsoft.com/office/drawing/2014/main" id="{B6C85EA9-2FF1-066B-E854-6F09BCD206D1}"/>
                </a:ext>
              </a:extLst>
            </p:cNvPr>
            <p:cNvSpPr/>
            <p:nvPr/>
          </p:nvSpPr>
          <p:spPr>
            <a:xfrm>
              <a:off x="5897745" y="1885519"/>
              <a:ext cx="39651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6BF02C9C-9A98-E219-03FD-1677A0DABB67}"/>
              </a:ext>
            </a:extLst>
          </p:cNvPr>
          <p:cNvSpPr/>
          <p:nvPr/>
        </p:nvSpPr>
        <p:spPr>
          <a:xfrm>
            <a:off x="1391830" y="2743200"/>
            <a:ext cx="1391830" cy="2589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13343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(21/31)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You can also populate a </a:t>
            </a:r>
            <a:r>
              <a:rPr lang="en-US" altLang="ko-KR" sz="1400" b="1" dirty="0" err="1"/>
              <a:t>configMap</a:t>
            </a:r>
            <a:r>
              <a:rPr lang="en-US" altLang="ko-KR" sz="1400" b="1" dirty="0"/>
              <a:t> volume with only part of the </a:t>
            </a:r>
            <a:r>
              <a:rPr lang="en-US" altLang="ko-KR" sz="1400" b="1" dirty="0" err="1"/>
              <a:t>ConfigMap’s</a:t>
            </a:r>
            <a:r>
              <a:rPr lang="en-US" altLang="ko-KR" sz="1400" b="1" dirty="0"/>
              <a:t> entries</a:t>
            </a:r>
            <a:r>
              <a:rPr lang="en-US" altLang="ko-KR" sz="1400" dirty="0"/>
              <a:t>—in your case, only the “</a:t>
            </a:r>
            <a:r>
              <a:rPr lang="en-US" altLang="ko-KR" sz="1400" b="1" dirty="0"/>
              <a:t>my-nginx-</a:t>
            </a:r>
            <a:r>
              <a:rPr lang="en-US" altLang="ko-KR" sz="1400" b="1" dirty="0" err="1"/>
              <a:t>config.conf</a:t>
            </a:r>
            <a:r>
              <a:rPr lang="en-US" altLang="ko-KR" sz="1400" dirty="0"/>
              <a:t>” entry. </a:t>
            </a:r>
            <a:r>
              <a:rPr lang="en-US" altLang="ko-KR" sz="1400" b="1" dirty="0"/>
              <a:t>This won’t affect the “</a:t>
            </a:r>
            <a:r>
              <a:rPr lang="en-US" altLang="ko-KR" sz="1400" b="1" dirty="0" err="1"/>
              <a:t>fortuneloop</a:t>
            </a:r>
            <a:r>
              <a:rPr lang="en-US" altLang="ko-KR" sz="1400" b="1" dirty="0"/>
              <a:t>” container</a:t>
            </a:r>
            <a:r>
              <a:rPr lang="en-US" altLang="ko-KR" sz="1400" dirty="0"/>
              <a:t>, because you’re passing the “</a:t>
            </a:r>
            <a:r>
              <a:rPr lang="en-US" altLang="ko-KR" sz="1400" b="1" dirty="0"/>
              <a:t>sleep-interval</a:t>
            </a:r>
            <a:r>
              <a:rPr lang="en-US" altLang="ko-KR" sz="1400" dirty="0"/>
              <a:t>” entry to it through an environment variable and not through the volume. </a:t>
            </a:r>
          </a:p>
          <a:p>
            <a:pPr lvl="1">
              <a:buFont typeface="Wingdings" panose="05000000000000000000" pitchFamily="2" charset="2"/>
              <a:buChar char="§"/>
            </a:pPr>
            <a:r>
              <a:rPr lang="en-US" altLang="ko-KR" sz="1400" b="1" dirty="0"/>
              <a:t>To define which entries should be exposed as files in a </a:t>
            </a:r>
            <a:r>
              <a:rPr lang="en-US" altLang="ko-KR" sz="1400" b="1" dirty="0" err="1"/>
              <a:t>configMap</a:t>
            </a:r>
            <a:r>
              <a:rPr lang="en-US" altLang="ko-KR" sz="1400" b="1" dirty="0"/>
              <a:t> volume, </a:t>
            </a:r>
            <a:r>
              <a:rPr lang="en-US" altLang="ko-KR" sz="1400" b="1" dirty="0">
                <a:solidFill>
                  <a:srgbClr val="FF0000"/>
                </a:solidFill>
              </a:rPr>
              <a:t>use the “volume’s items attribute” </a:t>
            </a:r>
            <a:r>
              <a:rPr lang="en-US" altLang="ko-KR" sz="1400" dirty="0"/>
              <a:t>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AE1AA443-8F68-CE70-F72E-A5D7664820BC}"/>
              </a:ext>
            </a:extLst>
          </p:cNvPr>
          <p:cNvGrpSpPr/>
          <p:nvPr/>
        </p:nvGrpSpPr>
        <p:grpSpPr>
          <a:xfrm>
            <a:off x="2080328" y="2412142"/>
            <a:ext cx="8031344" cy="3631763"/>
            <a:chOff x="2080328" y="2412142"/>
            <a:chExt cx="8031344" cy="3631763"/>
          </a:xfrm>
        </p:grpSpPr>
        <p:grpSp>
          <p:nvGrpSpPr>
            <p:cNvPr id="13" name="그룹 12">
              <a:extLst>
                <a:ext uri="{FF2B5EF4-FFF2-40B4-BE49-F238E27FC236}">
                  <a16:creationId xmlns:a16="http://schemas.microsoft.com/office/drawing/2014/main" id="{44994BC2-3551-406E-0AA4-08A042CC687B}"/>
                </a:ext>
              </a:extLst>
            </p:cNvPr>
            <p:cNvGrpSpPr/>
            <p:nvPr/>
          </p:nvGrpSpPr>
          <p:grpSpPr>
            <a:xfrm>
              <a:off x="2080328" y="2412142"/>
              <a:ext cx="8031344" cy="3631763"/>
              <a:chOff x="2611704" y="2631218"/>
              <a:chExt cx="8031344" cy="3631763"/>
            </a:xfrm>
          </p:grpSpPr>
          <p:sp>
            <p:nvSpPr>
              <p:cNvPr id="8" name="TextBox 7">
                <a:extLst>
                  <a:ext uri="{FF2B5EF4-FFF2-40B4-BE49-F238E27FC236}">
                    <a16:creationId xmlns:a16="http://schemas.microsoft.com/office/drawing/2014/main" id="{31556384-D324-02A3-0A50-F92E88C6ED18}"/>
                  </a:ext>
                </a:extLst>
              </p:cNvPr>
              <p:cNvSpPr txBox="1"/>
              <p:nvPr/>
            </p:nvSpPr>
            <p:spPr>
              <a:xfrm>
                <a:off x="6627376" y="2631218"/>
                <a:ext cx="4015672" cy="3631763"/>
              </a:xfrm>
              <a:prstGeom prst="rect">
                <a:avLst/>
              </a:prstGeom>
              <a:noFill/>
              <a:ln>
                <a:solidFill>
                  <a:schemeClr val="bg1">
                    <a:lumMod val="50000"/>
                  </a:schemeClr>
                </a:solidFill>
              </a:ln>
            </p:spPr>
            <p:txBody>
              <a:bodyPr wrap="square">
                <a:spAutoFit/>
              </a:bodyPr>
              <a:lstStyle/>
              <a:p>
                <a:r>
                  <a:rPr lang="en-US" altLang="ko-KR" sz="1000" b="1" dirty="0"/>
                  <a:t>volumes:</a:t>
                </a:r>
              </a:p>
              <a:p>
                <a:r>
                  <a:rPr lang="en-US" altLang="ko-KR" sz="1000" b="1" dirty="0"/>
                  <a:t>  - name: html</a:t>
                </a:r>
              </a:p>
              <a:p>
                <a:r>
                  <a:rPr lang="en-US" altLang="ko-KR" sz="1000" b="1" dirty="0"/>
                  <a:t>    </a:t>
                </a:r>
                <a:r>
                  <a:rPr lang="en-US" altLang="ko-KR" sz="1000" b="1" dirty="0" err="1"/>
                  <a:t>emptyDir</a:t>
                </a:r>
                <a:r>
                  <a:rPr lang="en-US" altLang="ko-KR" sz="1000" b="1" dirty="0"/>
                  <a:t>: {}</a:t>
                </a:r>
              </a:p>
              <a:p>
                <a:r>
                  <a:rPr lang="en-US" altLang="ko-KR" sz="1000" b="1" dirty="0"/>
                  <a:t>  - name: </a:t>
                </a:r>
                <a:r>
                  <a:rPr lang="en-US" altLang="ko-KR" sz="1000" b="1" dirty="0">
                    <a:solidFill>
                      <a:srgbClr val="FF0000"/>
                    </a:solidFill>
                  </a:rPr>
                  <a:t>config</a:t>
                </a:r>
              </a:p>
              <a:p>
                <a:r>
                  <a:rPr lang="en-US" altLang="ko-KR" sz="1000" b="1" dirty="0"/>
                  <a:t>    </a:t>
                </a:r>
                <a:r>
                  <a:rPr lang="en-US" altLang="ko-KR" sz="1000" b="1" dirty="0" err="1"/>
                  <a:t>configMap</a:t>
                </a:r>
                <a:r>
                  <a:rPr lang="en-US" altLang="ko-KR" sz="1000" b="1" dirty="0"/>
                  <a:t>:</a:t>
                </a:r>
              </a:p>
              <a:p>
                <a:r>
                  <a:rPr lang="en-US" altLang="ko-KR" sz="1000" b="1" dirty="0"/>
                  <a:t>      name: fortune-config</a:t>
                </a:r>
              </a:p>
              <a:p>
                <a:r>
                  <a:rPr lang="en-US" altLang="ko-KR" sz="1000" b="1" dirty="0">
                    <a:solidFill>
                      <a:srgbClr val="FF0000"/>
                    </a:solidFill>
                  </a:rPr>
                  <a:t>      items:</a:t>
                </a:r>
              </a:p>
              <a:p>
                <a:r>
                  <a:rPr lang="en-US" altLang="ko-KR" sz="1000" b="1" dirty="0">
                    <a:solidFill>
                      <a:srgbClr val="FF0000"/>
                    </a:solidFill>
                  </a:rPr>
                  <a:t>      - key: my-nginx-</a:t>
                </a:r>
                <a:r>
                  <a:rPr lang="en-US" altLang="ko-KR" sz="1000" b="1" dirty="0" err="1">
                    <a:solidFill>
                      <a:srgbClr val="FF0000"/>
                    </a:solidFill>
                  </a:rPr>
                  <a:t>config.conf</a:t>
                </a:r>
                <a:endParaRPr lang="en-US" altLang="ko-KR" sz="1000" b="1" dirty="0">
                  <a:solidFill>
                    <a:srgbClr val="FF0000"/>
                  </a:solidFill>
                </a:endParaRPr>
              </a:p>
              <a:p>
                <a:r>
                  <a:rPr lang="en-US" altLang="ko-KR" sz="1000" b="1" dirty="0">
                    <a:solidFill>
                      <a:srgbClr val="FF0000"/>
                    </a:solidFill>
                  </a:rPr>
                  <a:t>        path: </a:t>
                </a:r>
                <a:r>
                  <a:rPr lang="en-US" altLang="ko-KR" sz="1000" b="1" dirty="0" err="1">
                    <a:solidFill>
                      <a:srgbClr val="FF0000"/>
                    </a:solidFill>
                  </a:rPr>
                  <a:t>gzip.conf</a:t>
                </a:r>
                <a:endParaRPr lang="en-US" altLang="ko-KR" sz="1000" b="1" dirty="0">
                  <a:solidFill>
                    <a:srgbClr val="FF0000"/>
                  </a:solidFill>
                </a:endParaRPr>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p:txBody>
          </p:sp>
          <p:sp>
            <p:nvSpPr>
              <p:cNvPr id="12" name="TextBox 11">
                <a:extLst>
                  <a:ext uri="{FF2B5EF4-FFF2-40B4-BE49-F238E27FC236}">
                    <a16:creationId xmlns:a16="http://schemas.microsoft.com/office/drawing/2014/main" id="{521FE8DF-C4E0-84CA-FE55-26A7C24BCEC2}"/>
                  </a:ext>
                </a:extLst>
              </p:cNvPr>
              <p:cNvSpPr txBox="1"/>
              <p:nvPr/>
            </p:nvSpPr>
            <p:spPr>
              <a:xfrm>
                <a:off x="2611704" y="2631218"/>
                <a:ext cx="4015672" cy="3631763"/>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fortune-</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configmap</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-volume-with-items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a:t>
                </a:r>
                <a:r>
                  <a:rPr lang="en-US" altLang="ko-KR" sz="1000" b="1" dirty="0">
                    <a:solidFill>
                      <a:prstClr val="black"/>
                    </a:solidFill>
                    <a:latin typeface="맑은 고딕" panose="020F0502020204030204"/>
                    <a:ea typeface="맑은 고딕" panose="020B0503020000020004" pitchFamily="50" charset="-127"/>
                  </a:rPr>
                  <a:t>knix008</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fortune:env</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html-generator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htdocs</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nginx:alpine</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web-server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usr</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/share/nginx/html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readOnly</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true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config</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etc</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/nginx/</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conf.d</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readOnly</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true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ports: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containerPort</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80</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protocol: TCP</a:t>
                </a:r>
              </a:p>
            </p:txBody>
          </p:sp>
        </p:grpSp>
        <p:sp>
          <p:nvSpPr>
            <p:cNvPr id="14" name="TextBox 13">
              <a:extLst>
                <a:ext uri="{FF2B5EF4-FFF2-40B4-BE49-F238E27FC236}">
                  <a16:creationId xmlns:a16="http://schemas.microsoft.com/office/drawing/2014/main" id="{6B0757C9-BE8A-8E93-3CA4-A7E1FA0D6C6E}"/>
                </a:ext>
              </a:extLst>
            </p:cNvPr>
            <p:cNvSpPr txBox="1"/>
            <p:nvPr/>
          </p:nvSpPr>
          <p:spPr>
            <a:xfrm>
              <a:off x="6937405" y="5797684"/>
              <a:ext cx="3174267" cy="246221"/>
            </a:xfrm>
            <a:prstGeom prst="rect">
              <a:avLst/>
            </a:prstGeom>
            <a:noFill/>
          </p:spPr>
          <p:txBody>
            <a:bodyPr wrap="none" rtlCol="0">
              <a:spAutoFit/>
            </a:bodyPr>
            <a:lstStyle/>
            <a:p>
              <a:pPr algn="l"/>
              <a:r>
                <a:rPr lang="en-US" altLang="ko-KR" sz="1000" b="1" dirty="0"/>
                <a:t>fortune-pod-</a:t>
              </a:r>
              <a:r>
                <a:rPr lang="en-US" altLang="ko-KR" sz="1000" b="1" dirty="0" err="1"/>
                <a:t>configmap</a:t>
              </a:r>
              <a:r>
                <a:rPr lang="en-US" altLang="ko-KR" sz="1000" b="1" dirty="0"/>
                <a:t>-volume-with-</a:t>
              </a:r>
              <a:r>
                <a:rPr lang="en-US" altLang="ko-KR" sz="1000" b="1" dirty="0" err="1"/>
                <a:t>items.yaml</a:t>
              </a:r>
              <a:endParaRPr lang="ko-KR" altLang="en-US" sz="1000" b="1" dirty="0"/>
            </a:p>
          </p:txBody>
        </p:sp>
      </p:grpSp>
    </p:spTree>
    <p:extLst>
      <p:ext uri="{BB962C8B-B14F-4D97-AF65-F5344CB8AC3E}">
        <p14:creationId xmlns:p14="http://schemas.microsoft.com/office/powerpoint/2010/main" val="192668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(22/31)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When specifying individual entries, you need to set the filename for each individual entry, along with the entry’s key</a:t>
            </a:r>
            <a:r>
              <a:rPr lang="en-US" altLang="ko-KR" sz="1400" dirty="0"/>
              <a:t>. If you run the pod from the previous listing, the “</a:t>
            </a:r>
            <a:r>
              <a:rPr lang="en-US" altLang="ko-KR" sz="1400" b="1" dirty="0"/>
              <a:t>/</a:t>
            </a:r>
            <a:r>
              <a:rPr lang="en-US" altLang="ko-KR" sz="1400" b="1" dirty="0" err="1"/>
              <a:t>etc</a:t>
            </a:r>
            <a:r>
              <a:rPr lang="en-US" altLang="ko-KR" sz="1400" b="1" dirty="0"/>
              <a:t>/nginx/</a:t>
            </a:r>
            <a:r>
              <a:rPr lang="en-US" altLang="ko-KR" sz="1400" b="1" dirty="0" err="1"/>
              <a:t>conf.d</a:t>
            </a:r>
            <a:r>
              <a:rPr lang="en-US" altLang="ko-KR" sz="1400" dirty="0"/>
              <a:t>” directory is kept nice and clean, because it only contains the “</a:t>
            </a:r>
            <a:r>
              <a:rPr lang="en-US" altLang="ko-KR" sz="1400" b="1" dirty="0" err="1"/>
              <a:t>gzip.conf</a:t>
            </a:r>
            <a:r>
              <a:rPr lang="en-US" altLang="ko-KR" sz="1400" dirty="0"/>
              <a:t>” file and nothing else.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Actually, the “</a:t>
            </a:r>
            <a:r>
              <a:rPr lang="en-US" altLang="ko-KR" sz="1400" b="1" dirty="0" err="1"/>
              <a:t>gzip.conf</a:t>
            </a:r>
            <a:r>
              <a:rPr lang="en-US" altLang="ko-KR" sz="1400" b="1" dirty="0"/>
              <a:t>” is a directory</a:t>
            </a:r>
            <a:r>
              <a:rPr lang="en-US" altLang="ko-KR" sz="1400" dirty="0"/>
              <a:t>. You can check it with “</a:t>
            </a:r>
            <a:r>
              <a:rPr lang="en-US" altLang="ko-KR" sz="1400" b="1" dirty="0"/>
              <a:t>cat</a:t>
            </a:r>
            <a:r>
              <a:rPr lang="en-US" altLang="ko-KR" sz="1400" dirty="0"/>
              <a:t>” command instead of “</a:t>
            </a:r>
            <a:r>
              <a:rPr lang="en-US" altLang="ko-KR" sz="1400" b="1" dirty="0"/>
              <a:t>ls</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0C64579-9A03-FFFD-5A1D-24560BDAAC76}"/>
              </a:ext>
            </a:extLst>
          </p:cNvPr>
          <p:cNvGrpSpPr/>
          <p:nvPr/>
        </p:nvGrpSpPr>
        <p:grpSpPr>
          <a:xfrm>
            <a:off x="1191889" y="2240672"/>
            <a:ext cx="9808221" cy="2376655"/>
            <a:chOff x="1191886" y="2003577"/>
            <a:chExt cx="9808221" cy="2376655"/>
          </a:xfrm>
        </p:grpSpPr>
        <p:grpSp>
          <p:nvGrpSpPr>
            <p:cNvPr id="12" name="그룹 11">
              <a:extLst>
                <a:ext uri="{FF2B5EF4-FFF2-40B4-BE49-F238E27FC236}">
                  <a16:creationId xmlns:a16="http://schemas.microsoft.com/office/drawing/2014/main" id="{A13BF5B9-5B01-2C1A-4C58-FB546FC7309D}"/>
                </a:ext>
              </a:extLst>
            </p:cNvPr>
            <p:cNvGrpSpPr/>
            <p:nvPr/>
          </p:nvGrpSpPr>
          <p:grpSpPr>
            <a:xfrm>
              <a:off x="1191886" y="2003577"/>
              <a:ext cx="9808221" cy="2376655"/>
              <a:chOff x="1191886" y="2003577"/>
              <a:chExt cx="9808221" cy="2376655"/>
            </a:xfrm>
          </p:grpSpPr>
          <p:pic>
            <p:nvPicPr>
              <p:cNvPr id="8" name="그림 7">
                <a:extLst>
                  <a:ext uri="{FF2B5EF4-FFF2-40B4-BE49-F238E27FC236}">
                    <a16:creationId xmlns:a16="http://schemas.microsoft.com/office/drawing/2014/main" id="{A38269A0-6447-D3B5-C9A5-97749EC3CFB4}"/>
                  </a:ext>
                </a:extLst>
              </p:cNvPr>
              <p:cNvPicPr>
                <a:picLocks noChangeAspect="1"/>
              </p:cNvPicPr>
              <p:nvPr/>
            </p:nvPicPr>
            <p:blipFill>
              <a:blip r:embed="rId2"/>
              <a:stretch>
                <a:fillRect/>
              </a:stretch>
            </p:blipFill>
            <p:spPr>
              <a:xfrm>
                <a:off x="1191886" y="2824120"/>
                <a:ext cx="9808221" cy="1556112"/>
              </a:xfrm>
              <a:prstGeom prst="rect">
                <a:avLst/>
              </a:prstGeom>
            </p:spPr>
          </p:pic>
          <p:sp>
            <p:nvSpPr>
              <p:cNvPr id="10" name="TextBox 9">
                <a:extLst>
                  <a:ext uri="{FF2B5EF4-FFF2-40B4-BE49-F238E27FC236}">
                    <a16:creationId xmlns:a16="http://schemas.microsoft.com/office/drawing/2014/main" id="{116F5C64-FB39-97C6-C531-A534067F4A93}"/>
                  </a:ext>
                </a:extLst>
              </p:cNvPr>
              <p:cNvSpPr txBox="1"/>
              <p:nvPr/>
            </p:nvSpPr>
            <p:spPr>
              <a:xfrm>
                <a:off x="3047325" y="2003577"/>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-f </a:t>
                </a:r>
                <a:r>
                  <a:rPr lang="en-US" altLang="ko-KR" sz="1000" b="1" dirty="0">
                    <a:solidFill>
                      <a:srgbClr val="FF0000"/>
                    </a:solidFill>
                  </a:rPr>
                  <a:t>fortune-pod-</a:t>
                </a:r>
                <a:r>
                  <a:rPr lang="en-US" altLang="ko-KR" sz="1000" b="1" dirty="0" err="1">
                    <a:solidFill>
                      <a:srgbClr val="FF0000"/>
                    </a:solidFill>
                  </a:rPr>
                  <a:t>configmap</a:t>
                </a:r>
                <a:r>
                  <a:rPr lang="en-US" altLang="ko-KR" sz="1000" b="1" dirty="0">
                    <a:solidFill>
                      <a:srgbClr val="FF0000"/>
                    </a:solidFill>
                  </a:rPr>
                  <a:t>-</a:t>
                </a:r>
                <a:r>
                  <a:rPr lang="en-US" altLang="ko-KR" sz="1000" b="1" dirty="0" err="1">
                    <a:solidFill>
                      <a:srgbClr val="FF0000"/>
                    </a:solidFill>
                  </a:rPr>
                  <a:t>volume.yaml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fortune-pod-</a:t>
                </a:r>
                <a:r>
                  <a:rPr lang="en-US" altLang="ko-KR" sz="1000" b="1" dirty="0" err="1">
                    <a:solidFill>
                      <a:srgbClr val="FF0000"/>
                    </a:solidFill>
                  </a:rPr>
                  <a:t>configmap</a:t>
                </a:r>
                <a:r>
                  <a:rPr lang="en-US" altLang="ko-KR" sz="1000" b="1" dirty="0">
                    <a:solidFill>
                      <a:srgbClr val="FF0000"/>
                    </a:solidFill>
                  </a:rPr>
                  <a:t>-volume-with-</a:t>
                </a:r>
                <a:r>
                  <a:rPr lang="en-US" altLang="ko-KR" sz="1000" b="1" dirty="0" err="1">
                    <a:solidFill>
                      <a:srgbClr val="FF0000"/>
                    </a:solidFill>
                  </a:rPr>
                  <a:t>items.yaml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a:t>
                </a:r>
                <a:r>
                  <a:rPr lang="en-US" altLang="ko-KR" sz="1000" b="1" dirty="0">
                    <a:solidFill>
                      <a:srgbClr val="FF0000"/>
                    </a:solidFill>
                  </a:rPr>
                  <a:t>fortune-</a:t>
                </a:r>
                <a:r>
                  <a:rPr lang="en-US" altLang="ko-KR" sz="1000" b="1" dirty="0" err="1">
                    <a:solidFill>
                      <a:srgbClr val="FF0000"/>
                    </a:solidFill>
                  </a:rPr>
                  <a:t>configmap</a:t>
                </a:r>
                <a:r>
                  <a:rPr lang="en-US" altLang="ko-KR" sz="1000" b="1" dirty="0">
                    <a:solidFill>
                      <a:srgbClr val="FF0000"/>
                    </a:solidFill>
                  </a:rPr>
                  <a:t>-volume-with-items -c web-server -- ls /</a:t>
                </a:r>
                <a:r>
                  <a:rPr lang="en-US" altLang="ko-KR" sz="1000" b="1" dirty="0" err="1">
                    <a:solidFill>
                      <a:srgbClr val="FF0000"/>
                    </a:solidFill>
                  </a:rPr>
                  <a:t>etc</a:t>
                </a:r>
                <a:r>
                  <a:rPr lang="en-US" altLang="ko-KR" sz="1000" b="1" dirty="0">
                    <a:solidFill>
                      <a:srgbClr val="FF0000"/>
                    </a:solidFill>
                  </a:rPr>
                  <a:t>/nginx/</a:t>
                </a:r>
                <a:r>
                  <a:rPr lang="en-US" altLang="ko-KR" sz="1000" b="1" dirty="0" err="1">
                    <a:solidFill>
                      <a:srgbClr val="FF0000"/>
                    </a:solidFill>
                  </a:rPr>
                  <a:t>conf.d</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92D911DD-7178-5FB1-7DA3-32ACB74C6A64}"/>
                  </a:ext>
                </a:extLst>
              </p:cNvPr>
              <p:cNvSpPr/>
              <p:nvPr/>
            </p:nvSpPr>
            <p:spPr>
              <a:xfrm>
                <a:off x="5885605" y="2557575"/>
                <a:ext cx="420785" cy="2665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AD206402-4972-3CC6-FD6A-BEDC46DC0208}"/>
                </a:ext>
              </a:extLst>
            </p:cNvPr>
            <p:cNvSpPr/>
            <p:nvPr/>
          </p:nvSpPr>
          <p:spPr>
            <a:xfrm>
              <a:off x="1254265" y="3924637"/>
              <a:ext cx="695916"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42259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(23/31)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dirty="0"/>
              <a:t>There’s one important thing to discuss at this point. </a:t>
            </a:r>
            <a:r>
              <a:rPr lang="en-US" altLang="ko-KR" sz="1400" b="1" dirty="0"/>
              <a:t>In your previous examples, you mounted the volume as a directory, which means you’ve </a:t>
            </a:r>
            <a:r>
              <a:rPr lang="en-US" altLang="ko-KR" sz="1400" b="1" dirty="0">
                <a:solidFill>
                  <a:srgbClr val="FF0000"/>
                </a:solidFill>
              </a:rPr>
              <a:t>hidden</a:t>
            </a:r>
            <a:r>
              <a:rPr lang="en-US" altLang="ko-KR" sz="1400" b="1" dirty="0"/>
              <a:t> any files that are stored in the “/</a:t>
            </a:r>
            <a:r>
              <a:rPr lang="en-US" altLang="ko-KR" sz="1400" b="1" dirty="0" err="1"/>
              <a:t>etc</a:t>
            </a:r>
            <a:r>
              <a:rPr lang="en-US" altLang="ko-KR" sz="1400" b="1" dirty="0"/>
              <a:t>/nginx/</a:t>
            </a:r>
            <a:r>
              <a:rPr lang="en-US" altLang="ko-KR" sz="1400" b="1" dirty="0" err="1"/>
              <a:t>conf.d</a:t>
            </a:r>
            <a:r>
              <a:rPr lang="en-US" altLang="ko-KR" sz="1400" b="1" dirty="0"/>
              <a:t>” directory in the container image itself</a:t>
            </a:r>
            <a:r>
              <a:rPr lang="en-US" altLang="ko-KR" sz="1400" dirty="0"/>
              <a:t>.</a:t>
            </a:r>
          </a:p>
          <a:p>
            <a:pPr lvl="1">
              <a:buFont typeface="Wingdings" panose="05000000000000000000" pitchFamily="2" charset="2"/>
              <a:buChar char="§"/>
            </a:pPr>
            <a:r>
              <a:rPr lang="en-US" altLang="ko-KR" sz="1400" dirty="0"/>
              <a:t>This is generally what happens in Linux when you mount a filesystem into a nonempty directory. </a:t>
            </a:r>
            <a:r>
              <a:rPr lang="en-US" altLang="ko-KR" sz="1400" b="1" dirty="0"/>
              <a:t>The directory then only contains the files from the mounted filesystem, whereas the original files in that directory are inaccessible for as long as the filesystem is mounted</a:t>
            </a:r>
            <a:r>
              <a:rPr lang="en-US" altLang="ko-KR" sz="1400" dirty="0"/>
              <a:t>.</a:t>
            </a:r>
          </a:p>
          <a:p>
            <a:pPr lvl="1">
              <a:buFont typeface="Wingdings" panose="05000000000000000000" pitchFamily="2" charset="2"/>
              <a:buChar char="§"/>
            </a:pPr>
            <a:r>
              <a:rPr lang="en-US" altLang="ko-KR" sz="1400" dirty="0"/>
              <a:t>In your case, this has no terrible side effects, but imagine mounting a volume to the “</a:t>
            </a:r>
            <a:r>
              <a:rPr lang="en-US" altLang="ko-KR" sz="1400" b="1" dirty="0"/>
              <a:t>/</a:t>
            </a:r>
            <a:r>
              <a:rPr lang="en-US" altLang="ko-KR" sz="1400" b="1" dirty="0" err="1"/>
              <a:t>etc</a:t>
            </a:r>
            <a:r>
              <a:rPr lang="en-US" altLang="ko-KR" sz="1400" dirty="0"/>
              <a:t>” directory, which usually contains many important files. This would most likely break the whole container, because </a:t>
            </a:r>
            <a:r>
              <a:rPr lang="en-US" altLang="ko-KR" sz="1400" b="1" dirty="0"/>
              <a:t>all of the original files that should be in the “/</a:t>
            </a:r>
            <a:r>
              <a:rPr lang="en-US" altLang="ko-KR" sz="1400" b="1" dirty="0" err="1"/>
              <a:t>etc</a:t>
            </a:r>
            <a:r>
              <a:rPr lang="en-US" altLang="ko-KR" sz="1400" b="1" dirty="0"/>
              <a:t>” directory would no longer be there</a:t>
            </a:r>
            <a:r>
              <a:rPr lang="en-US" altLang="ko-KR" sz="1400" dirty="0"/>
              <a:t>. </a:t>
            </a:r>
            <a:r>
              <a:rPr lang="en-US" altLang="ko-KR" sz="1400" b="1" dirty="0"/>
              <a:t>If you need to add a file to a directory like “/</a:t>
            </a:r>
            <a:r>
              <a:rPr lang="en-US" altLang="ko-KR" sz="1400" b="1" dirty="0" err="1"/>
              <a:t>etc</a:t>
            </a:r>
            <a:r>
              <a:rPr lang="en-US" altLang="ko-KR" sz="1400" b="1" dirty="0"/>
              <a:t>”, you can’t use this method at all</a:t>
            </a:r>
            <a:r>
              <a:rPr lang="en-US" altLang="ko-KR" sz="1400" dirty="0"/>
              <a:t>.</a:t>
            </a:r>
          </a:p>
          <a:p>
            <a:pPr lvl="1">
              <a:buFont typeface="Wingdings" panose="05000000000000000000" pitchFamily="2" charset="2"/>
              <a:buChar char="§"/>
            </a:pPr>
            <a:r>
              <a:rPr lang="en-US" altLang="ko-KR" sz="1400" dirty="0"/>
              <a:t>Naturally, you’re now wondering </a:t>
            </a:r>
            <a:r>
              <a:rPr lang="en-US" altLang="ko-KR" sz="1400" b="1" dirty="0"/>
              <a:t>how to add individual files from a </a:t>
            </a:r>
            <a:r>
              <a:rPr lang="en-US" altLang="ko-KR" sz="1400" b="1" dirty="0" err="1"/>
              <a:t>ConfigMap</a:t>
            </a:r>
            <a:r>
              <a:rPr lang="en-US" altLang="ko-KR" sz="1400" b="1" dirty="0"/>
              <a:t> into an existing directory without hiding existing files stored in it</a:t>
            </a:r>
            <a:r>
              <a:rPr lang="en-US" altLang="ko-KR" sz="1400" dirty="0"/>
              <a:t>. </a:t>
            </a:r>
            <a:r>
              <a:rPr lang="en-US" altLang="ko-KR" sz="1400" b="1" dirty="0"/>
              <a:t>An additional “</a:t>
            </a:r>
            <a:r>
              <a:rPr lang="en-US" altLang="ko-KR" sz="1400" b="1" dirty="0" err="1">
                <a:solidFill>
                  <a:srgbClr val="FF0000"/>
                </a:solidFill>
              </a:rPr>
              <a:t>subPath</a:t>
            </a:r>
            <a:r>
              <a:rPr lang="en-US" altLang="ko-KR" sz="1400" b="1" dirty="0"/>
              <a:t>” property on the “</a:t>
            </a:r>
            <a:r>
              <a:rPr lang="en-US" altLang="ko-KR" sz="1400" b="1" dirty="0" err="1">
                <a:solidFill>
                  <a:srgbClr val="FF0000"/>
                </a:solidFill>
              </a:rPr>
              <a:t>volumeMount</a:t>
            </a:r>
            <a:r>
              <a:rPr lang="en-US" altLang="ko-KR" sz="1400" b="1" dirty="0"/>
              <a:t>” allows you to mount either a single file or a single directory from the volume instead of mounting the whole 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79B7414-66C1-B57C-90C6-ECB63305C29F}"/>
              </a:ext>
            </a:extLst>
          </p:cNvPr>
          <p:cNvGrpSpPr/>
          <p:nvPr/>
        </p:nvGrpSpPr>
        <p:grpSpPr>
          <a:xfrm>
            <a:off x="3599480" y="3903432"/>
            <a:ext cx="4993039" cy="2505598"/>
            <a:chOff x="3599480" y="3903432"/>
            <a:chExt cx="4993039" cy="2505598"/>
          </a:xfrm>
        </p:grpSpPr>
        <p:grpSp>
          <p:nvGrpSpPr>
            <p:cNvPr id="10" name="그룹 9">
              <a:extLst>
                <a:ext uri="{FF2B5EF4-FFF2-40B4-BE49-F238E27FC236}">
                  <a16:creationId xmlns:a16="http://schemas.microsoft.com/office/drawing/2014/main" id="{9C9AC4F4-450B-C702-47D5-30A8163ED353}"/>
                </a:ext>
              </a:extLst>
            </p:cNvPr>
            <p:cNvGrpSpPr/>
            <p:nvPr/>
          </p:nvGrpSpPr>
          <p:grpSpPr>
            <a:xfrm>
              <a:off x="3599480" y="3903432"/>
              <a:ext cx="4993039" cy="2505598"/>
              <a:chOff x="3599480" y="3903432"/>
              <a:chExt cx="4993039" cy="2505598"/>
            </a:xfrm>
          </p:grpSpPr>
          <p:pic>
            <p:nvPicPr>
              <p:cNvPr id="8" name="그림 7">
                <a:extLst>
                  <a:ext uri="{FF2B5EF4-FFF2-40B4-BE49-F238E27FC236}">
                    <a16:creationId xmlns:a16="http://schemas.microsoft.com/office/drawing/2014/main" id="{E6258922-E95E-0BC1-2A42-809EAB3DFC00}"/>
                  </a:ext>
                </a:extLst>
              </p:cNvPr>
              <p:cNvPicPr>
                <a:picLocks noChangeAspect="1"/>
              </p:cNvPicPr>
              <p:nvPr/>
            </p:nvPicPr>
            <p:blipFill>
              <a:blip r:embed="rId2"/>
              <a:stretch>
                <a:fillRect/>
              </a:stretch>
            </p:blipFill>
            <p:spPr>
              <a:xfrm>
                <a:off x="3599480" y="3903432"/>
                <a:ext cx="4993039" cy="2505598"/>
              </a:xfrm>
              <a:prstGeom prst="rect">
                <a:avLst/>
              </a:prstGeom>
            </p:spPr>
          </p:pic>
          <p:sp>
            <p:nvSpPr>
              <p:cNvPr id="9" name="직사각형 8">
                <a:extLst>
                  <a:ext uri="{FF2B5EF4-FFF2-40B4-BE49-F238E27FC236}">
                    <a16:creationId xmlns:a16="http://schemas.microsoft.com/office/drawing/2014/main" id="{FB41066E-2945-7B87-A413-6BE45DDAB424}"/>
                  </a:ext>
                </a:extLst>
              </p:cNvPr>
              <p:cNvSpPr/>
              <p:nvPr/>
            </p:nvSpPr>
            <p:spPr>
              <a:xfrm>
                <a:off x="5623965" y="4628644"/>
                <a:ext cx="1076240" cy="5178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A637D8E-5B03-B343-58F4-9631A63CECC4}"/>
                </a:ext>
              </a:extLst>
            </p:cNvPr>
            <p:cNvSpPr/>
            <p:nvPr/>
          </p:nvSpPr>
          <p:spPr>
            <a:xfrm>
              <a:off x="4191674" y="4968510"/>
              <a:ext cx="817296" cy="1132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935589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(24/31)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Say you have a </a:t>
            </a:r>
            <a:r>
              <a:rPr lang="en-US" altLang="ko-KR" sz="1400" b="1" dirty="0" err="1"/>
              <a:t>configMap</a:t>
            </a:r>
            <a:r>
              <a:rPr lang="en-US" altLang="ko-KR" sz="1400" b="1" dirty="0"/>
              <a:t> volume containing a “</a:t>
            </a:r>
            <a:r>
              <a:rPr lang="en-US" altLang="ko-KR" sz="1400" b="1" dirty="0" err="1"/>
              <a:t>myconfig.conf</a:t>
            </a:r>
            <a:r>
              <a:rPr lang="en-US" altLang="ko-KR" sz="1400" b="1" dirty="0"/>
              <a:t>” file, which you want to add to the “/</a:t>
            </a:r>
            <a:r>
              <a:rPr lang="en-US" altLang="ko-KR" sz="1400" b="1" dirty="0" err="1"/>
              <a:t>etc</a:t>
            </a:r>
            <a:r>
              <a:rPr lang="en-US" altLang="ko-KR" sz="1400" b="1" dirty="0"/>
              <a:t>” directory as “</a:t>
            </a:r>
            <a:r>
              <a:rPr lang="en-US" altLang="ko-KR" sz="1400" b="1" dirty="0" err="1"/>
              <a:t>someconfig.conf</a:t>
            </a:r>
            <a:r>
              <a:rPr lang="en-US" altLang="ko-KR" sz="1400" b="1" dirty="0"/>
              <a:t>”</a:t>
            </a:r>
            <a:r>
              <a:rPr lang="en-US" altLang="ko-KR" sz="1400" dirty="0"/>
              <a:t>. You can use the “</a:t>
            </a:r>
            <a:r>
              <a:rPr lang="en-US" altLang="ko-KR" sz="1400" b="1" dirty="0" err="1">
                <a:solidFill>
                  <a:srgbClr val="FF0000"/>
                </a:solidFill>
              </a:rPr>
              <a:t>subPath</a:t>
            </a:r>
            <a:r>
              <a:rPr lang="en-US" altLang="ko-KR" sz="1400" dirty="0"/>
              <a:t>” </a:t>
            </a:r>
            <a:r>
              <a:rPr lang="en-US" altLang="ko-KR" sz="1400" b="1" dirty="0"/>
              <a:t>property</a:t>
            </a:r>
            <a:r>
              <a:rPr lang="en-US" altLang="ko-KR" sz="1400" dirty="0"/>
              <a:t> </a:t>
            </a:r>
            <a:r>
              <a:rPr lang="en-US" altLang="ko-KR" sz="1400" b="1" dirty="0"/>
              <a:t>to mount it there without affecting any other files in that directory</a:t>
            </a:r>
            <a:r>
              <a:rPr lang="en-US" altLang="ko-KR" sz="1400" dirty="0"/>
              <a:t>. The relevant part of the pod definition is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err="1"/>
              <a:t>subPath</a:t>
            </a:r>
            <a:r>
              <a:rPr lang="en-US" altLang="ko-KR" sz="1400" b="1" dirty="0"/>
              <a:t>” property can be used when mounting any kind of volume</a:t>
            </a:r>
            <a:r>
              <a:rPr lang="en-US" altLang="ko-KR" sz="1400" dirty="0"/>
              <a:t>. Instead of mounting the whole volume, you can mount part of it. But this method of mounting individual files has a relatively big deficiency related to updating files.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2721B6F-AF79-E23B-14F9-3C324A280BBD}"/>
              </a:ext>
            </a:extLst>
          </p:cNvPr>
          <p:cNvGrpSpPr/>
          <p:nvPr/>
        </p:nvGrpSpPr>
        <p:grpSpPr>
          <a:xfrm>
            <a:off x="3443287" y="1906709"/>
            <a:ext cx="5305425" cy="1171575"/>
            <a:chOff x="3443287" y="1920720"/>
            <a:chExt cx="5305425" cy="1171575"/>
          </a:xfrm>
        </p:grpSpPr>
        <p:pic>
          <p:nvPicPr>
            <p:cNvPr id="8" name="그림 7">
              <a:extLst>
                <a:ext uri="{FF2B5EF4-FFF2-40B4-BE49-F238E27FC236}">
                  <a16:creationId xmlns:a16="http://schemas.microsoft.com/office/drawing/2014/main" id="{90C37327-CD05-22C6-C18D-AE5A3C692AE8}"/>
                </a:ext>
              </a:extLst>
            </p:cNvPr>
            <p:cNvPicPr>
              <a:picLocks noChangeAspect="1"/>
            </p:cNvPicPr>
            <p:nvPr/>
          </p:nvPicPr>
          <p:blipFill>
            <a:blip r:embed="rId2"/>
            <a:stretch>
              <a:fillRect/>
            </a:stretch>
          </p:blipFill>
          <p:spPr>
            <a:xfrm>
              <a:off x="3443287" y="1920720"/>
              <a:ext cx="5305425" cy="1171575"/>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49B3EF93-3DAE-A5E5-CB7E-FA7F6ABBC717}"/>
                </a:ext>
              </a:extLst>
            </p:cNvPr>
            <p:cNvSpPr/>
            <p:nvPr/>
          </p:nvSpPr>
          <p:spPr>
            <a:xfrm>
              <a:off x="3916545" y="2718924"/>
              <a:ext cx="2362874" cy="3074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6B8B748D-0E75-8DFF-1DE4-448F3BFC4FC2}"/>
              </a:ext>
            </a:extLst>
          </p:cNvPr>
          <p:cNvPicPr>
            <a:picLocks noChangeAspect="1"/>
          </p:cNvPicPr>
          <p:nvPr/>
        </p:nvPicPr>
        <p:blipFill>
          <a:blip r:embed="rId3"/>
          <a:stretch>
            <a:fillRect/>
          </a:stretch>
        </p:blipFill>
        <p:spPr>
          <a:xfrm>
            <a:off x="3048611" y="3959103"/>
            <a:ext cx="6094777" cy="2449927"/>
          </a:xfrm>
          <a:prstGeom prst="rect">
            <a:avLst/>
          </a:prstGeom>
        </p:spPr>
      </p:pic>
    </p:spTree>
    <p:extLst>
      <p:ext uri="{BB962C8B-B14F-4D97-AF65-F5344CB8AC3E}">
        <p14:creationId xmlns:p14="http://schemas.microsoft.com/office/powerpoint/2010/main" val="17170845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(25/31)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configMap</a:t>
            </a:r>
            <a:r>
              <a:rPr lang="en-US" altLang="ko-KR" sz="1800" b="1" dirty="0"/>
              <a:t> Volume to Expose </a:t>
            </a:r>
            <a:r>
              <a:rPr lang="en-US" altLang="ko-KR" sz="1800" b="1" dirty="0" err="1"/>
              <a:t>ConfigMap</a:t>
            </a:r>
            <a:r>
              <a:rPr lang="en-US" altLang="ko-KR" sz="1800" b="1" dirty="0"/>
              <a:t> Entries as Files :</a:t>
            </a:r>
          </a:p>
          <a:p>
            <a:pPr lvl="1">
              <a:buFont typeface="Wingdings" panose="05000000000000000000" pitchFamily="2" charset="2"/>
              <a:buChar char="§"/>
            </a:pPr>
            <a:r>
              <a:rPr lang="en-US" altLang="ko-KR" sz="1400" b="1" dirty="0"/>
              <a:t>By default, the permissions on all files in a </a:t>
            </a:r>
            <a:r>
              <a:rPr lang="en-US" altLang="ko-KR" sz="1400" b="1" dirty="0" err="1"/>
              <a:t>configMap</a:t>
            </a:r>
            <a:r>
              <a:rPr lang="en-US" altLang="ko-KR" sz="1400" b="1" dirty="0"/>
              <a:t> volume are set to “</a:t>
            </a:r>
            <a:r>
              <a:rPr lang="en-US" altLang="ko-KR" sz="1400" b="1" dirty="0">
                <a:solidFill>
                  <a:srgbClr val="FF0000"/>
                </a:solidFill>
              </a:rPr>
              <a:t>644</a:t>
            </a:r>
            <a:r>
              <a:rPr lang="en-US" altLang="ko-KR" sz="1400" b="1" dirty="0"/>
              <a:t>” (-</a:t>
            </a:r>
            <a:r>
              <a:rPr lang="en-US" altLang="ko-KR" sz="1400" b="1" dirty="0" err="1"/>
              <a:t>rw</a:t>
            </a:r>
            <a:r>
              <a:rPr lang="en-US" altLang="ko-KR" sz="1400" b="1" dirty="0"/>
              <a:t>-r—r--)</a:t>
            </a:r>
            <a:r>
              <a:rPr lang="en-US" altLang="ko-KR" sz="1400" dirty="0"/>
              <a:t>. You can </a:t>
            </a:r>
            <a:r>
              <a:rPr lang="en-US" altLang="ko-KR" sz="1400" b="1" dirty="0"/>
              <a:t>change this by setting the “</a:t>
            </a:r>
            <a:r>
              <a:rPr lang="en-US" altLang="ko-KR" sz="1400" b="1" dirty="0" err="1">
                <a:solidFill>
                  <a:srgbClr val="FF0000"/>
                </a:solidFill>
              </a:rPr>
              <a:t>defaultMode</a:t>
            </a:r>
            <a:r>
              <a:rPr lang="en-US" altLang="ko-KR" sz="1400" b="1" dirty="0"/>
              <a:t>” property in the volume spec</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92535147-929A-0F87-B065-07F083E2D396}"/>
              </a:ext>
            </a:extLst>
          </p:cNvPr>
          <p:cNvGrpSpPr/>
          <p:nvPr/>
        </p:nvGrpSpPr>
        <p:grpSpPr>
          <a:xfrm>
            <a:off x="1271646" y="1613397"/>
            <a:ext cx="9648707" cy="4795633"/>
            <a:chOff x="1271646" y="1613397"/>
            <a:chExt cx="9648707" cy="4795633"/>
          </a:xfrm>
        </p:grpSpPr>
        <p:grpSp>
          <p:nvGrpSpPr>
            <p:cNvPr id="13" name="그룹 12">
              <a:extLst>
                <a:ext uri="{FF2B5EF4-FFF2-40B4-BE49-F238E27FC236}">
                  <a16:creationId xmlns:a16="http://schemas.microsoft.com/office/drawing/2014/main" id="{C49660AA-23A7-718B-1B1E-0C7F94DB1EEE}"/>
                </a:ext>
              </a:extLst>
            </p:cNvPr>
            <p:cNvGrpSpPr/>
            <p:nvPr/>
          </p:nvGrpSpPr>
          <p:grpSpPr>
            <a:xfrm>
              <a:off x="2088418" y="1613397"/>
              <a:ext cx="8015162" cy="3016210"/>
              <a:chOff x="2088419" y="2083613"/>
              <a:chExt cx="8015162" cy="3016210"/>
            </a:xfrm>
          </p:grpSpPr>
          <p:grpSp>
            <p:nvGrpSpPr>
              <p:cNvPr id="11" name="그룹 10">
                <a:extLst>
                  <a:ext uri="{FF2B5EF4-FFF2-40B4-BE49-F238E27FC236}">
                    <a16:creationId xmlns:a16="http://schemas.microsoft.com/office/drawing/2014/main" id="{26E5D58A-B561-0B80-664C-DDAD880D18EC}"/>
                  </a:ext>
                </a:extLst>
              </p:cNvPr>
              <p:cNvGrpSpPr/>
              <p:nvPr/>
            </p:nvGrpSpPr>
            <p:grpSpPr>
              <a:xfrm>
                <a:off x="2088419" y="2083613"/>
                <a:ext cx="8015162" cy="3016210"/>
                <a:chOff x="2088419" y="2270357"/>
                <a:chExt cx="8015162" cy="3016210"/>
              </a:xfrm>
            </p:grpSpPr>
            <p:sp>
              <p:nvSpPr>
                <p:cNvPr id="8" name="TextBox 7">
                  <a:extLst>
                    <a:ext uri="{FF2B5EF4-FFF2-40B4-BE49-F238E27FC236}">
                      <a16:creationId xmlns:a16="http://schemas.microsoft.com/office/drawing/2014/main" id="{2AB14B93-337C-FF71-AA35-080DDFA193A0}"/>
                    </a:ext>
                  </a:extLst>
                </p:cNvPr>
                <p:cNvSpPr txBox="1"/>
                <p:nvPr/>
              </p:nvSpPr>
              <p:spPr>
                <a:xfrm>
                  <a:off x="6096000" y="2270357"/>
                  <a:ext cx="4007581" cy="3016210"/>
                </a:xfrm>
                <a:prstGeom prst="rect">
                  <a:avLst/>
                </a:prstGeom>
                <a:noFill/>
                <a:ln>
                  <a:solidFill>
                    <a:schemeClr val="bg1">
                      <a:lumMod val="50000"/>
                    </a:schemeClr>
                  </a:solidFill>
                </a:ln>
              </p:spPr>
              <p:txBody>
                <a:bodyPr wrap="square">
                  <a:spAutoFit/>
                </a:bodyPr>
                <a:lstStyle/>
                <a:p>
                  <a:r>
                    <a:rPr lang="en-US" altLang="ko-KR" sz="1000" b="1" dirty="0" err="1"/>
                    <a:t>volumeMounts</a:t>
                  </a:r>
                  <a:r>
                    <a:rPr lang="en-US" altLang="ko-KR" sz="1000" b="1" dirty="0"/>
                    <a:t>:</a:t>
                  </a:r>
                </a:p>
                <a:p>
                  <a:r>
                    <a:rPr lang="en-US" altLang="ko-KR" sz="1000" b="1" dirty="0"/>
                    <a:t>    - name: html</a:t>
                  </a:r>
                </a:p>
                <a:p>
                  <a:r>
                    <a:rPr lang="en-US" altLang="ko-KR" sz="1000" b="1" dirty="0"/>
                    <a:t>      </a:t>
                  </a:r>
                  <a:r>
                    <a:rPr lang="en-US" altLang="ko-KR" sz="1000" b="1" dirty="0" err="1"/>
                    <a:t>mountPath</a:t>
                  </a:r>
                  <a:r>
                    <a:rPr lang="en-US" altLang="ko-KR" sz="1000" b="1" dirty="0"/>
                    <a:t>: /</a:t>
                  </a:r>
                  <a:r>
                    <a:rPr lang="en-US" altLang="ko-KR" sz="1000" b="1" dirty="0" err="1"/>
                    <a:t>usr</a:t>
                  </a:r>
                  <a:r>
                    <a:rPr lang="en-US" altLang="ko-KR" sz="1000" b="1" dirty="0"/>
                    <a:t>/share/nginx/html</a:t>
                  </a:r>
                </a:p>
                <a:p>
                  <a:r>
                    <a:rPr lang="en-US" altLang="ko-KR" sz="1000" b="1" dirty="0"/>
                    <a:t>      </a:t>
                  </a:r>
                  <a:r>
                    <a:rPr lang="en-US" altLang="ko-KR" sz="1000" b="1" dirty="0" err="1"/>
                    <a:t>readOnly</a:t>
                  </a:r>
                  <a:r>
                    <a:rPr lang="en-US" altLang="ko-KR" sz="1000" b="1" dirty="0"/>
                    <a:t>: true</a:t>
                  </a:r>
                </a:p>
                <a:p>
                  <a:r>
                    <a:rPr lang="en-US" altLang="ko-KR" sz="1000" b="1" dirty="0"/>
                    <a:t>    - name: config</a:t>
                  </a:r>
                </a:p>
                <a:p>
                  <a:r>
                    <a:rPr lang="en-US" altLang="ko-KR" sz="1000" b="1" dirty="0"/>
                    <a:t>      </a:t>
                  </a:r>
                  <a:r>
                    <a:rPr lang="en-US" altLang="ko-KR" sz="1000" b="1" dirty="0" err="1"/>
                    <a:t>mountPath</a:t>
                  </a:r>
                  <a:r>
                    <a:rPr lang="en-US" altLang="ko-KR" sz="1000" b="1" dirty="0"/>
                    <a:t>: /</a:t>
                  </a:r>
                  <a:r>
                    <a:rPr lang="en-US" altLang="ko-KR" sz="1000" b="1" dirty="0" err="1"/>
                    <a:t>etc</a:t>
                  </a:r>
                  <a:r>
                    <a:rPr lang="en-US" altLang="ko-KR" sz="1000" b="1" dirty="0"/>
                    <a:t>/nginx/</a:t>
                  </a:r>
                  <a:r>
                    <a:rPr lang="en-US" altLang="ko-KR" sz="1000" b="1" dirty="0" err="1"/>
                    <a:t>conf.d</a:t>
                  </a:r>
                  <a:endParaRPr lang="en-US" altLang="ko-KR" sz="1000" b="1" dirty="0"/>
                </a:p>
                <a:p>
                  <a:r>
                    <a:rPr lang="en-US" altLang="ko-KR" sz="1000" b="1" dirty="0"/>
                    <a:t>      </a:t>
                  </a:r>
                  <a:r>
                    <a:rPr lang="en-US" altLang="ko-KR" sz="1000" b="1" dirty="0" err="1"/>
                    <a:t>readOnly</a:t>
                  </a:r>
                  <a:r>
                    <a:rPr lang="en-US" altLang="ko-KR" sz="1000" b="1" dirty="0"/>
                    <a:t>: true</a:t>
                  </a:r>
                </a:p>
                <a:p>
                  <a:r>
                    <a:rPr lang="en-US" altLang="ko-KR" sz="1000" b="1" dirty="0"/>
                    <a:t>    - name: config</a:t>
                  </a:r>
                </a:p>
                <a:p>
                  <a:r>
                    <a:rPr lang="en-US" altLang="ko-KR" sz="1000" b="1" dirty="0"/>
                    <a:t>      </a:t>
                  </a:r>
                  <a:r>
                    <a:rPr lang="en-US" altLang="ko-KR" sz="1000" b="1" dirty="0" err="1"/>
                    <a:t>mountPath</a:t>
                  </a:r>
                  <a:r>
                    <a:rPr lang="en-US" altLang="ko-KR" sz="1000" b="1" dirty="0"/>
                    <a:t>: /</a:t>
                  </a:r>
                  <a:r>
                    <a:rPr lang="en-US" altLang="ko-KR" sz="1000" b="1" dirty="0" err="1"/>
                    <a:t>tmp</a:t>
                  </a:r>
                  <a:r>
                    <a:rPr lang="en-US" altLang="ko-KR" sz="1000" b="1" dirty="0"/>
                    <a:t>/whole-fortune-config-volume</a:t>
                  </a:r>
                </a:p>
                <a:p>
                  <a:r>
                    <a:rPr lang="en-US" altLang="ko-KR" sz="1000" b="1" dirty="0"/>
                    <a:t>      </a:t>
                  </a:r>
                  <a:r>
                    <a:rPr lang="en-US" altLang="ko-KR" sz="1000" b="1" dirty="0" err="1"/>
                    <a:t>readOnly</a:t>
                  </a:r>
                  <a:r>
                    <a:rPr lang="en-US" altLang="ko-KR" sz="1000" b="1" dirty="0"/>
                    <a:t>: true</a:t>
                  </a:r>
                </a:p>
                <a:p>
                  <a:r>
                    <a:rPr lang="en-US" altLang="ko-KR" sz="1000" b="1" dirty="0"/>
                    <a:t>  volumes:</a:t>
                  </a:r>
                </a:p>
                <a:p>
                  <a:r>
                    <a:rPr lang="en-US" altLang="ko-KR" sz="1000" b="1" dirty="0"/>
                    <a:t>  - name: html</a:t>
                  </a:r>
                </a:p>
                <a:p>
                  <a:r>
                    <a:rPr lang="en-US" altLang="ko-KR" sz="1000" b="1" dirty="0"/>
                    <a:t>    </a:t>
                  </a:r>
                  <a:r>
                    <a:rPr lang="en-US" altLang="ko-KR" sz="1000" b="1" dirty="0" err="1"/>
                    <a:t>emptyDir</a:t>
                  </a:r>
                  <a:r>
                    <a:rPr lang="en-US" altLang="ko-KR" sz="1000" b="1" dirty="0"/>
                    <a:t>: {}</a:t>
                  </a:r>
                </a:p>
                <a:p>
                  <a:r>
                    <a:rPr lang="en-US" altLang="ko-KR" sz="1000" b="1" dirty="0"/>
                    <a:t>  - name: config</a:t>
                  </a:r>
                </a:p>
                <a:p>
                  <a:r>
                    <a:rPr lang="en-US" altLang="ko-KR" sz="1000" b="1" dirty="0"/>
                    <a:t>    </a:t>
                  </a:r>
                  <a:r>
                    <a:rPr lang="en-US" altLang="ko-KR" sz="1000" b="1" dirty="0" err="1"/>
                    <a:t>configMap</a:t>
                  </a:r>
                  <a:r>
                    <a:rPr lang="en-US" altLang="ko-KR" sz="1000" b="1" dirty="0"/>
                    <a:t>:</a:t>
                  </a:r>
                </a:p>
                <a:p>
                  <a:r>
                    <a:rPr lang="en-US" altLang="ko-KR" sz="1000" b="1" dirty="0"/>
                    <a:t>      name: fortune-config</a:t>
                  </a:r>
                </a:p>
                <a:p>
                  <a:r>
                    <a:rPr lang="en-US" altLang="ko-KR" sz="1000" b="1" dirty="0"/>
                    <a:t>      </a:t>
                  </a:r>
                  <a:r>
                    <a:rPr lang="en-US" altLang="ko-KR" sz="1000" b="1" dirty="0" err="1">
                      <a:solidFill>
                        <a:srgbClr val="FF0000"/>
                      </a:solidFill>
                    </a:rPr>
                    <a:t>defaultMode</a:t>
                  </a:r>
                  <a:r>
                    <a:rPr lang="en-US" altLang="ko-KR" sz="1000" b="1" dirty="0">
                      <a:solidFill>
                        <a:srgbClr val="FF0000"/>
                      </a:solidFill>
                    </a:rPr>
                    <a:t>: 0660</a:t>
                  </a:r>
                </a:p>
                <a:p>
                  <a:endParaRPr lang="en-US" altLang="ko-KR" sz="1000" b="1" dirty="0"/>
                </a:p>
                <a:p>
                  <a:endParaRPr lang="ko-KR" altLang="en-US" sz="1000" b="1" dirty="0"/>
                </a:p>
              </p:txBody>
            </p:sp>
            <p:sp>
              <p:nvSpPr>
                <p:cNvPr id="10" name="TextBox 9">
                  <a:extLst>
                    <a:ext uri="{FF2B5EF4-FFF2-40B4-BE49-F238E27FC236}">
                      <a16:creationId xmlns:a16="http://schemas.microsoft.com/office/drawing/2014/main" id="{C7E0AB30-B5C7-DFE0-C7E1-CCBBD0C0E478}"/>
                    </a:ext>
                  </a:extLst>
                </p:cNvPr>
                <p:cNvSpPr txBox="1"/>
                <p:nvPr/>
              </p:nvSpPr>
              <p:spPr>
                <a:xfrm>
                  <a:off x="2088419" y="2270357"/>
                  <a:ext cx="4007581" cy="3016210"/>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fortune-</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configmap</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-volume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knix008/</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fortune:env</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env:</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INTERVAL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valueFrom</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configMapKeyRef</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fortune-config</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key: sleep-interval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html-generator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htdocs</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nginx:alpine</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web-server</a:t>
                  </a:r>
                </a:p>
              </p:txBody>
            </p:sp>
          </p:grpSp>
          <p:sp>
            <p:nvSpPr>
              <p:cNvPr id="12" name="TextBox 11">
                <a:extLst>
                  <a:ext uri="{FF2B5EF4-FFF2-40B4-BE49-F238E27FC236}">
                    <a16:creationId xmlns:a16="http://schemas.microsoft.com/office/drawing/2014/main" id="{2CF69344-40D1-F441-B743-49B64F33F13C}"/>
                  </a:ext>
                </a:extLst>
              </p:cNvPr>
              <p:cNvSpPr txBox="1"/>
              <p:nvPr/>
            </p:nvSpPr>
            <p:spPr>
              <a:xfrm>
                <a:off x="6801074" y="4853602"/>
                <a:ext cx="3302507" cy="246221"/>
              </a:xfrm>
              <a:prstGeom prst="rect">
                <a:avLst/>
              </a:prstGeom>
              <a:noFill/>
            </p:spPr>
            <p:txBody>
              <a:bodyPr wrap="none" rtlCol="0">
                <a:spAutoFit/>
              </a:bodyPr>
              <a:lstStyle/>
              <a:p>
                <a:pPr algn="l"/>
                <a:r>
                  <a:rPr lang="en-US" altLang="ko-KR" sz="1000" b="1" dirty="0"/>
                  <a:t>fortune-pod-</a:t>
                </a:r>
                <a:r>
                  <a:rPr lang="en-US" altLang="ko-KR" sz="1000" b="1" dirty="0" err="1"/>
                  <a:t>configmap</a:t>
                </a:r>
                <a:r>
                  <a:rPr lang="en-US" altLang="ko-KR" sz="1000" b="1" dirty="0"/>
                  <a:t>-volume-</a:t>
                </a:r>
                <a:r>
                  <a:rPr lang="en-US" altLang="ko-KR" sz="1000" b="1" dirty="0" err="1"/>
                  <a:t>defaultMode.yaml</a:t>
                </a:r>
                <a:endParaRPr lang="ko-KR" altLang="en-US" sz="1000" b="1" dirty="0"/>
              </a:p>
            </p:txBody>
          </p:sp>
        </p:grpSp>
        <p:pic>
          <p:nvPicPr>
            <p:cNvPr id="15" name="그림 14">
              <a:extLst>
                <a:ext uri="{FF2B5EF4-FFF2-40B4-BE49-F238E27FC236}">
                  <a16:creationId xmlns:a16="http://schemas.microsoft.com/office/drawing/2014/main" id="{6C5FEBAB-66D7-3851-7985-D47A32D26279}"/>
                </a:ext>
              </a:extLst>
            </p:cNvPr>
            <p:cNvPicPr>
              <a:picLocks noChangeAspect="1"/>
            </p:cNvPicPr>
            <p:nvPr/>
          </p:nvPicPr>
          <p:blipFill>
            <a:blip r:embed="rId2"/>
            <a:stretch>
              <a:fillRect/>
            </a:stretch>
          </p:blipFill>
          <p:spPr>
            <a:xfrm>
              <a:off x="1271646" y="4881318"/>
              <a:ext cx="9648707" cy="1527712"/>
            </a:xfrm>
            <a:prstGeom prst="rect">
              <a:avLst/>
            </a:prstGeom>
          </p:spPr>
        </p:pic>
        <p:sp>
          <p:nvSpPr>
            <p:cNvPr id="16" name="화살표: 아래쪽 15">
              <a:extLst>
                <a:ext uri="{FF2B5EF4-FFF2-40B4-BE49-F238E27FC236}">
                  <a16:creationId xmlns:a16="http://schemas.microsoft.com/office/drawing/2014/main" id="{67F986AF-366A-FFCE-F174-E76227B688F2}"/>
                </a:ext>
              </a:extLst>
            </p:cNvPr>
            <p:cNvSpPr/>
            <p:nvPr/>
          </p:nvSpPr>
          <p:spPr>
            <a:xfrm>
              <a:off x="5907186" y="4622981"/>
              <a:ext cx="37223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1635875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(26/31)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an App’s Config without Having to Restart the App :</a:t>
            </a:r>
          </a:p>
          <a:p>
            <a:pPr lvl="1">
              <a:buFont typeface="Wingdings" panose="05000000000000000000" pitchFamily="2" charset="2"/>
              <a:buChar char="§"/>
            </a:pPr>
            <a:r>
              <a:rPr lang="en-US" altLang="ko-KR" sz="1400" dirty="0"/>
              <a:t>We’ve said that one of the drawbacks of using environment variables or command-line arguments as a configuration source is the inability to update them while the process is running. </a:t>
            </a:r>
            <a:r>
              <a:rPr lang="en-US" altLang="ko-KR" sz="1400" b="1" dirty="0"/>
              <a:t>Using a </a:t>
            </a:r>
            <a:r>
              <a:rPr lang="en-US" altLang="ko-KR" sz="1400" b="1" dirty="0" err="1"/>
              <a:t>ConfigMap</a:t>
            </a:r>
            <a:r>
              <a:rPr lang="en-US" altLang="ko-KR" sz="1400" b="1" dirty="0"/>
              <a:t> and exposing it through a volume brings the ability to update the configuration without having to recreate the pod or even restart the container</a:t>
            </a:r>
            <a:r>
              <a:rPr lang="en-US" altLang="ko-KR" sz="1400" dirty="0"/>
              <a:t>.</a:t>
            </a:r>
          </a:p>
          <a:p>
            <a:pPr lvl="1">
              <a:buFont typeface="Wingdings" panose="05000000000000000000" pitchFamily="2" charset="2"/>
              <a:buChar char="§"/>
            </a:pPr>
            <a:r>
              <a:rPr lang="en-US" altLang="ko-KR" sz="1400" b="1" dirty="0"/>
              <a:t>When you update a </a:t>
            </a:r>
            <a:r>
              <a:rPr lang="en-US" altLang="ko-KR" sz="1400" b="1" dirty="0" err="1"/>
              <a:t>ConfigMap</a:t>
            </a:r>
            <a:r>
              <a:rPr lang="en-US" altLang="ko-KR" sz="1400" b="1" dirty="0"/>
              <a:t>, the files in all the volumes referencing it are updated</a:t>
            </a:r>
            <a:r>
              <a:rPr lang="en-US" altLang="ko-KR" sz="1400" dirty="0"/>
              <a:t>. </a:t>
            </a:r>
            <a:r>
              <a:rPr lang="en-US" altLang="ko-KR" sz="1400" b="1" dirty="0"/>
              <a:t>It’s then up to the process to detect that they’ve been changed and reload them</a:t>
            </a:r>
            <a:r>
              <a:rPr lang="en-US" altLang="ko-KR" sz="1400" dirty="0"/>
              <a:t>. </a:t>
            </a:r>
            <a:r>
              <a:rPr lang="en-US" altLang="ko-KR" sz="1400" b="1" dirty="0"/>
              <a:t>But Kubernetes will most likely eventually also support sending a signal to the container after updating the files</a:t>
            </a:r>
            <a:r>
              <a:rPr lang="en-US" altLang="ko-KR" sz="1400" dirty="0"/>
              <a:t>.</a:t>
            </a:r>
          </a:p>
          <a:p>
            <a:pPr lvl="1">
              <a:buFont typeface="Wingdings" panose="05000000000000000000" pitchFamily="2" charset="2"/>
              <a:buChar char="§"/>
            </a:pPr>
            <a:r>
              <a:rPr lang="en-US" altLang="ko-KR" sz="1400" b="1" dirty="0">
                <a:solidFill>
                  <a:srgbClr val="FF0000"/>
                </a:solidFill>
              </a:rPr>
              <a:t>NOTICE!!! </a:t>
            </a:r>
            <a:r>
              <a:rPr lang="en-US" altLang="ko-KR" sz="1400" b="1" dirty="0"/>
              <a:t>:  Be aware that it will take a surprisingly long time for the files to be updated after you update the </a:t>
            </a:r>
            <a:r>
              <a:rPr lang="en-US" altLang="ko-KR" sz="1400" b="1" dirty="0" err="1"/>
              <a:t>ConfigMap</a:t>
            </a:r>
            <a:r>
              <a:rPr lang="en-US" altLang="ko-KR" sz="1400" b="1" dirty="0"/>
              <a:t> (it can take up to one whole minute)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EA5BDDC-D577-6FDD-898D-B1FD8A15CEAB}"/>
              </a:ext>
            </a:extLst>
          </p:cNvPr>
          <p:cNvPicPr>
            <a:picLocks noChangeAspect="1"/>
          </p:cNvPicPr>
          <p:nvPr/>
        </p:nvPicPr>
        <p:blipFill>
          <a:blip r:embed="rId2"/>
          <a:stretch>
            <a:fillRect/>
          </a:stretch>
        </p:blipFill>
        <p:spPr>
          <a:xfrm>
            <a:off x="3673015" y="3279745"/>
            <a:ext cx="4845969" cy="2914708"/>
          </a:xfrm>
          <a:prstGeom prst="rect">
            <a:avLst/>
          </a:prstGeom>
        </p:spPr>
      </p:pic>
    </p:spTree>
    <p:extLst>
      <p:ext uri="{BB962C8B-B14F-4D97-AF65-F5344CB8AC3E}">
        <p14:creationId xmlns:p14="http://schemas.microsoft.com/office/powerpoint/2010/main" val="40913820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(27/31)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an App’s Config without Having to Restart the App :</a:t>
            </a:r>
          </a:p>
          <a:p>
            <a:pPr lvl="1">
              <a:buFont typeface="Wingdings" panose="05000000000000000000" pitchFamily="2" charset="2"/>
              <a:buChar char="§"/>
            </a:pPr>
            <a:r>
              <a:rPr lang="en-US" altLang="ko-KR" sz="1400" b="1" dirty="0"/>
              <a:t>Let’s see how you can change a </a:t>
            </a:r>
            <a:r>
              <a:rPr lang="en-US" altLang="ko-KR" sz="1400" b="1" dirty="0" err="1"/>
              <a:t>ConfigMap</a:t>
            </a:r>
            <a:r>
              <a:rPr lang="en-US" altLang="ko-KR" sz="1400" b="1" dirty="0"/>
              <a:t> and have the process running in the pod reload the files exposed in the </a:t>
            </a:r>
            <a:r>
              <a:rPr lang="en-US" altLang="ko-KR" sz="1400" b="1" dirty="0" err="1"/>
              <a:t>configMap</a:t>
            </a:r>
            <a:r>
              <a:rPr lang="en-US" altLang="ko-KR" sz="1400" b="1" dirty="0"/>
              <a:t> volume</a:t>
            </a:r>
            <a:r>
              <a:rPr lang="en-US" altLang="ko-KR" sz="1400" dirty="0"/>
              <a:t>. You’ll modify the Nginx config file from your previous example and make Nginx use the new config without restarting the pod. </a:t>
            </a:r>
            <a:r>
              <a:rPr lang="en-US" altLang="ko-KR" sz="1400" b="1" dirty="0"/>
              <a:t>Try switching “</a:t>
            </a:r>
            <a:r>
              <a:rPr lang="en-US" altLang="ko-KR" sz="1400" b="1" dirty="0" err="1"/>
              <a:t>gzip</a:t>
            </a:r>
            <a:r>
              <a:rPr lang="en-US" altLang="ko-KR" sz="1400" b="1" dirty="0"/>
              <a:t> compression off” by editing the “fortune-config” </a:t>
            </a:r>
            <a:r>
              <a:rPr lang="en-US" altLang="ko-KR" sz="1400" b="1" dirty="0" err="1"/>
              <a:t>ConfigMap</a:t>
            </a:r>
            <a:r>
              <a:rPr lang="en-US" altLang="ko-KR" sz="1400" b="1" dirty="0"/>
              <a:t> with “</a:t>
            </a:r>
            <a:r>
              <a:rPr lang="en-US" altLang="ko-KR" sz="1400" b="1" dirty="0" err="1"/>
              <a:t>kubectl</a:t>
            </a:r>
            <a:r>
              <a:rPr lang="en-US" altLang="ko-KR" sz="1400" b="1" dirty="0"/>
              <a:t> edit” command</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After the editing with “vim”, just type “ESC” and “:</a:t>
            </a:r>
            <a:r>
              <a:rPr lang="en-US" altLang="ko-KR" sz="1400" b="1" dirty="0" err="1"/>
              <a:t>wq</a:t>
            </a:r>
            <a:r>
              <a:rPr lang="en-US" altLang="ko-KR" sz="1400" b="1" dirty="0"/>
              <a:t>” command to exit the editor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50340619-88B7-AE6D-CF64-07D0A0D528D9}"/>
              </a:ext>
            </a:extLst>
          </p:cNvPr>
          <p:cNvGrpSpPr/>
          <p:nvPr/>
        </p:nvGrpSpPr>
        <p:grpSpPr>
          <a:xfrm>
            <a:off x="1375983" y="2101334"/>
            <a:ext cx="9440034" cy="3360098"/>
            <a:chOff x="1375983" y="2101334"/>
            <a:chExt cx="9440034" cy="3360098"/>
          </a:xfrm>
        </p:grpSpPr>
        <p:grpSp>
          <p:nvGrpSpPr>
            <p:cNvPr id="17" name="그룹 16">
              <a:extLst>
                <a:ext uri="{FF2B5EF4-FFF2-40B4-BE49-F238E27FC236}">
                  <a16:creationId xmlns:a16="http://schemas.microsoft.com/office/drawing/2014/main" id="{6A51D0DD-65EA-65C0-5E80-EBE141C79230}"/>
                </a:ext>
              </a:extLst>
            </p:cNvPr>
            <p:cNvGrpSpPr/>
            <p:nvPr/>
          </p:nvGrpSpPr>
          <p:grpSpPr>
            <a:xfrm>
              <a:off x="1375983" y="2101334"/>
              <a:ext cx="9440034" cy="3360098"/>
              <a:chOff x="1375983" y="1971861"/>
              <a:chExt cx="9440034" cy="3360098"/>
            </a:xfrm>
          </p:grpSpPr>
          <p:grpSp>
            <p:nvGrpSpPr>
              <p:cNvPr id="11" name="그룹 10">
                <a:extLst>
                  <a:ext uri="{FF2B5EF4-FFF2-40B4-BE49-F238E27FC236}">
                    <a16:creationId xmlns:a16="http://schemas.microsoft.com/office/drawing/2014/main" id="{1E614C90-7218-DCBE-5E29-140FE235B117}"/>
                  </a:ext>
                </a:extLst>
              </p:cNvPr>
              <p:cNvGrpSpPr/>
              <p:nvPr/>
            </p:nvGrpSpPr>
            <p:grpSpPr>
              <a:xfrm>
                <a:off x="1375983" y="2540656"/>
                <a:ext cx="9440034" cy="2791303"/>
                <a:chOff x="470013" y="4273844"/>
                <a:chExt cx="11430000" cy="3619500"/>
              </a:xfrm>
            </p:grpSpPr>
            <p:pic>
              <p:nvPicPr>
                <p:cNvPr id="8" name="그림 7">
                  <a:extLst>
                    <a:ext uri="{FF2B5EF4-FFF2-40B4-BE49-F238E27FC236}">
                      <a16:creationId xmlns:a16="http://schemas.microsoft.com/office/drawing/2014/main" id="{104B20C3-5F9F-2991-7CCF-E84D3BCD2918}"/>
                    </a:ext>
                  </a:extLst>
                </p:cNvPr>
                <p:cNvPicPr>
                  <a:picLocks noChangeAspect="1"/>
                </p:cNvPicPr>
                <p:nvPr/>
              </p:nvPicPr>
              <p:blipFill>
                <a:blip r:embed="rId2"/>
                <a:stretch>
                  <a:fillRect/>
                </a:stretch>
              </p:blipFill>
              <p:spPr>
                <a:xfrm>
                  <a:off x="470013" y="4273844"/>
                  <a:ext cx="11430000" cy="1809750"/>
                </a:xfrm>
                <a:prstGeom prst="rect">
                  <a:avLst/>
                </a:prstGeom>
              </p:spPr>
            </p:pic>
            <p:pic>
              <p:nvPicPr>
                <p:cNvPr id="10" name="그림 9">
                  <a:extLst>
                    <a:ext uri="{FF2B5EF4-FFF2-40B4-BE49-F238E27FC236}">
                      <a16:creationId xmlns:a16="http://schemas.microsoft.com/office/drawing/2014/main" id="{4A43934F-E0A8-783A-0EBC-E0B61598102E}"/>
                    </a:ext>
                  </a:extLst>
                </p:cNvPr>
                <p:cNvPicPr>
                  <a:picLocks noChangeAspect="1"/>
                </p:cNvPicPr>
                <p:nvPr/>
              </p:nvPicPr>
              <p:blipFill>
                <a:blip r:embed="rId3"/>
                <a:stretch>
                  <a:fillRect/>
                </a:stretch>
              </p:blipFill>
              <p:spPr>
                <a:xfrm>
                  <a:off x="470013" y="6083594"/>
                  <a:ext cx="11430000" cy="1809750"/>
                </a:xfrm>
                <a:prstGeom prst="rect">
                  <a:avLst/>
                </a:prstGeom>
              </p:spPr>
            </p:pic>
          </p:grpSp>
          <p:sp>
            <p:nvSpPr>
              <p:cNvPr id="13" name="TextBox 12">
                <a:extLst>
                  <a:ext uri="{FF2B5EF4-FFF2-40B4-BE49-F238E27FC236}">
                    <a16:creationId xmlns:a16="http://schemas.microsoft.com/office/drawing/2014/main" id="{230F43C8-856B-2D7E-E430-7B1414199156}"/>
                  </a:ext>
                </a:extLst>
              </p:cNvPr>
              <p:cNvSpPr txBox="1"/>
              <p:nvPr/>
            </p:nvSpPr>
            <p:spPr>
              <a:xfrm>
                <a:off x="3047326" y="1971861"/>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edit </a:t>
                </a:r>
                <a:r>
                  <a:rPr lang="en-US" altLang="ko-KR" sz="1000" b="1" dirty="0" err="1">
                    <a:solidFill>
                      <a:srgbClr val="FF0000"/>
                    </a:solidFill>
                  </a:rPr>
                  <a:t>configmap</a:t>
                </a:r>
                <a:r>
                  <a:rPr lang="en-US" altLang="ko-KR" sz="1000" b="1" dirty="0">
                    <a:solidFill>
                      <a:srgbClr val="FF0000"/>
                    </a:solidFill>
                  </a:rPr>
                  <a:t> fortune-config</a:t>
                </a:r>
              </a:p>
            </p:txBody>
          </p:sp>
          <p:sp>
            <p:nvSpPr>
              <p:cNvPr id="14" name="화살표: 아래쪽 13">
                <a:extLst>
                  <a:ext uri="{FF2B5EF4-FFF2-40B4-BE49-F238E27FC236}">
                    <a16:creationId xmlns:a16="http://schemas.microsoft.com/office/drawing/2014/main" id="{C514894F-799F-6AE6-2961-2CF0AC78978A}"/>
                  </a:ext>
                </a:extLst>
              </p:cNvPr>
              <p:cNvSpPr/>
              <p:nvPr/>
            </p:nvSpPr>
            <p:spPr>
              <a:xfrm>
                <a:off x="5877515" y="2240798"/>
                <a:ext cx="436970" cy="29985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FBACD7A8-99CD-6EBA-B74B-809B35127DB3}"/>
                  </a:ext>
                </a:extLst>
              </p:cNvPr>
              <p:cNvSpPr/>
              <p:nvPr/>
            </p:nvSpPr>
            <p:spPr>
              <a:xfrm>
                <a:off x="5373112" y="2937409"/>
                <a:ext cx="2435702" cy="1780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C848D1E7-5289-9729-EAE7-5FC67D22A653}"/>
                  </a:ext>
                </a:extLst>
              </p:cNvPr>
              <p:cNvSpPr/>
              <p:nvPr/>
            </p:nvSpPr>
            <p:spPr>
              <a:xfrm>
                <a:off x="2120113" y="4717656"/>
                <a:ext cx="793020" cy="1456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 name="직사각형 17">
              <a:extLst>
                <a:ext uri="{FF2B5EF4-FFF2-40B4-BE49-F238E27FC236}">
                  <a16:creationId xmlns:a16="http://schemas.microsoft.com/office/drawing/2014/main" id="{B837CCB2-7D96-9934-A8AB-FE4A08BE9C9C}"/>
                </a:ext>
              </a:extLst>
            </p:cNvPr>
            <p:cNvSpPr/>
            <p:nvPr/>
          </p:nvSpPr>
          <p:spPr>
            <a:xfrm>
              <a:off x="1480842" y="3196355"/>
              <a:ext cx="2006825" cy="1780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3565273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(28/31)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an App’s Config without Having to Restart the App :</a:t>
            </a:r>
          </a:p>
          <a:p>
            <a:pPr lvl="1">
              <a:buFont typeface="Wingdings" panose="05000000000000000000" pitchFamily="2" charset="2"/>
              <a:buChar char="§"/>
            </a:pPr>
            <a:r>
              <a:rPr lang="en-US" altLang="ko-KR" sz="1400" dirty="0"/>
              <a:t>Once your editor opens, change the “</a:t>
            </a:r>
            <a:r>
              <a:rPr lang="en-US" altLang="ko-KR" sz="1400" b="1" dirty="0" err="1"/>
              <a:t>gzip</a:t>
            </a:r>
            <a:r>
              <a:rPr lang="en-US" altLang="ko-KR" sz="1400" b="1" dirty="0"/>
              <a:t> on</a:t>
            </a:r>
            <a:r>
              <a:rPr lang="en-US" altLang="ko-KR" sz="1400" dirty="0"/>
              <a:t>” line to “</a:t>
            </a:r>
            <a:r>
              <a:rPr lang="en-US" altLang="ko-KR" sz="1400" b="1" dirty="0" err="1"/>
              <a:t>gzip</a:t>
            </a:r>
            <a:r>
              <a:rPr lang="en-US" altLang="ko-KR" sz="1400" b="1" dirty="0"/>
              <a:t> off</a:t>
            </a:r>
            <a:r>
              <a:rPr lang="en-US" altLang="ko-KR" sz="1400" dirty="0"/>
              <a:t>”, save the file, and then close the editor. The </a:t>
            </a:r>
            <a:r>
              <a:rPr lang="en-US" altLang="ko-KR" sz="1400" dirty="0" err="1"/>
              <a:t>ConfigMap</a:t>
            </a:r>
            <a:r>
              <a:rPr lang="en-US" altLang="ko-KR" sz="1400" dirty="0"/>
              <a:t> is then updated, and soon afterward, </a:t>
            </a:r>
            <a:r>
              <a:rPr lang="en-US" altLang="ko-KR" sz="1400" b="1" dirty="0"/>
              <a:t>the actual file in the volume is updated as well</a:t>
            </a:r>
            <a:r>
              <a:rPr lang="en-US" altLang="ko-KR" sz="1400" dirty="0"/>
              <a:t>. </a:t>
            </a:r>
            <a:r>
              <a:rPr lang="en-US" altLang="ko-KR" sz="1400" b="1" dirty="0"/>
              <a:t>You can confirm this by printing the contents of the file with “</a:t>
            </a:r>
            <a:r>
              <a:rPr lang="en-US" altLang="ko-KR" sz="1400" b="1" dirty="0" err="1"/>
              <a:t>kubectl</a:t>
            </a:r>
            <a:r>
              <a:rPr lang="en-US" altLang="ko-KR" sz="1400" b="1" dirty="0"/>
              <a:t> exec”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If you don’t see the update yet, wait a while and try again</a:t>
            </a:r>
            <a:r>
              <a:rPr lang="en-US" altLang="ko-KR" sz="1400" dirty="0"/>
              <a:t>. It takes a while for the files to get updated. Eventually, you’ll see the change in the config file, </a:t>
            </a:r>
            <a:r>
              <a:rPr lang="en-US" altLang="ko-KR" sz="1400" b="1" dirty="0"/>
              <a:t>but you’ll find this has no effect on Nginx, because it doesn’t watch the files and reload them automatically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790054B3-2B31-2996-7B3C-D631B4C35E2E}"/>
              </a:ext>
            </a:extLst>
          </p:cNvPr>
          <p:cNvGrpSpPr/>
          <p:nvPr/>
        </p:nvGrpSpPr>
        <p:grpSpPr>
          <a:xfrm>
            <a:off x="1254265" y="1983065"/>
            <a:ext cx="9683469" cy="2861764"/>
            <a:chOff x="1254265" y="1983065"/>
            <a:chExt cx="9683469" cy="2861764"/>
          </a:xfrm>
        </p:grpSpPr>
        <p:grpSp>
          <p:nvGrpSpPr>
            <p:cNvPr id="14" name="그룹 13">
              <a:extLst>
                <a:ext uri="{FF2B5EF4-FFF2-40B4-BE49-F238E27FC236}">
                  <a16:creationId xmlns:a16="http://schemas.microsoft.com/office/drawing/2014/main" id="{DE892EB6-FBCC-F94A-BFD4-819B9565F977}"/>
                </a:ext>
              </a:extLst>
            </p:cNvPr>
            <p:cNvGrpSpPr/>
            <p:nvPr/>
          </p:nvGrpSpPr>
          <p:grpSpPr>
            <a:xfrm>
              <a:off x="1254265" y="1983065"/>
              <a:ext cx="9683469" cy="2861764"/>
              <a:chOff x="1254265" y="1983065"/>
              <a:chExt cx="9683469" cy="2861764"/>
            </a:xfrm>
          </p:grpSpPr>
          <p:grpSp>
            <p:nvGrpSpPr>
              <p:cNvPr id="12" name="그룹 11">
                <a:extLst>
                  <a:ext uri="{FF2B5EF4-FFF2-40B4-BE49-F238E27FC236}">
                    <a16:creationId xmlns:a16="http://schemas.microsoft.com/office/drawing/2014/main" id="{E81AE66E-15BD-4D28-B076-396A8548740F}"/>
                  </a:ext>
                </a:extLst>
              </p:cNvPr>
              <p:cNvGrpSpPr/>
              <p:nvPr/>
            </p:nvGrpSpPr>
            <p:grpSpPr>
              <a:xfrm>
                <a:off x="1254265" y="1983065"/>
                <a:ext cx="9683469" cy="2861764"/>
                <a:chOff x="1254265" y="1983065"/>
                <a:chExt cx="9683469" cy="2861764"/>
              </a:xfrm>
            </p:grpSpPr>
            <p:sp>
              <p:nvSpPr>
                <p:cNvPr id="8" name="TextBox 7">
                  <a:extLst>
                    <a:ext uri="{FF2B5EF4-FFF2-40B4-BE49-F238E27FC236}">
                      <a16:creationId xmlns:a16="http://schemas.microsoft.com/office/drawing/2014/main" id="{20B2485E-0A02-D51C-8726-C2604DB22A52}"/>
                    </a:ext>
                  </a:extLst>
                </p:cNvPr>
                <p:cNvSpPr txBox="1"/>
                <p:nvPr/>
              </p:nvSpPr>
              <p:spPr>
                <a:xfrm>
                  <a:off x="2789223" y="1983065"/>
                  <a:ext cx="6613554"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fortune-</a:t>
                  </a:r>
                  <a:r>
                    <a:rPr lang="en-US" altLang="ko-KR" sz="1000" b="1" dirty="0" err="1">
                      <a:solidFill>
                        <a:srgbClr val="FF0000"/>
                      </a:solidFill>
                    </a:rPr>
                    <a:t>configmap</a:t>
                  </a:r>
                  <a:r>
                    <a:rPr lang="en-US" altLang="ko-KR" sz="1000" b="1" dirty="0">
                      <a:solidFill>
                        <a:srgbClr val="FF0000"/>
                      </a:solidFill>
                    </a:rPr>
                    <a:t>-volume -c web-server -- cat /</a:t>
                  </a:r>
                  <a:r>
                    <a:rPr lang="en-US" altLang="ko-KR" sz="1000" b="1" dirty="0" err="1">
                      <a:solidFill>
                        <a:srgbClr val="FF0000"/>
                      </a:solidFill>
                    </a:rPr>
                    <a:t>etc</a:t>
                  </a:r>
                  <a:r>
                    <a:rPr lang="en-US" altLang="ko-KR" sz="1000" b="1" dirty="0">
                      <a:solidFill>
                        <a:srgbClr val="FF0000"/>
                      </a:solidFill>
                    </a:rPr>
                    <a:t>/nginx/</a:t>
                  </a:r>
                  <a:r>
                    <a:rPr lang="en-US" altLang="ko-KR" sz="1000" b="1" dirty="0" err="1">
                      <a:solidFill>
                        <a:srgbClr val="FF0000"/>
                      </a:solidFill>
                    </a:rPr>
                    <a:t>conf.d</a:t>
                  </a:r>
                  <a:r>
                    <a:rPr lang="en-US" altLang="ko-KR" sz="1000" b="1" dirty="0">
                      <a:solidFill>
                        <a:srgbClr val="FF0000"/>
                      </a:solidFill>
                    </a:rPr>
                    <a:t>/my-nginx-</a:t>
                  </a:r>
                  <a:r>
                    <a:rPr lang="en-US" altLang="ko-KR" sz="1000" b="1" dirty="0" err="1">
                      <a:solidFill>
                        <a:srgbClr val="FF0000"/>
                      </a:solidFill>
                    </a:rPr>
                    <a:t>config.conf</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A8FC9A3D-63E6-3CA1-4F48-58030687070E}"/>
                    </a:ext>
                  </a:extLst>
                </p:cNvPr>
                <p:cNvSpPr/>
                <p:nvPr/>
              </p:nvSpPr>
              <p:spPr>
                <a:xfrm>
                  <a:off x="5865377" y="2249586"/>
                  <a:ext cx="461246"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BFAE0BC-A83B-3E9E-D53A-BC64FE9B9C75}"/>
                    </a:ext>
                  </a:extLst>
                </p:cNvPr>
                <p:cNvPicPr>
                  <a:picLocks noChangeAspect="1"/>
                </p:cNvPicPr>
                <p:nvPr/>
              </p:nvPicPr>
              <p:blipFill>
                <a:blip r:embed="rId2"/>
                <a:stretch>
                  <a:fillRect/>
                </a:stretch>
              </p:blipFill>
              <p:spPr>
                <a:xfrm>
                  <a:off x="1254265" y="2561199"/>
                  <a:ext cx="9683469" cy="2283630"/>
                </a:xfrm>
                <a:prstGeom prst="rect">
                  <a:avLst/>
                </a:prstGeom>
              </p:spPr>
            </p:pic>
          </p:grpSp>
          <p:sp>
            <p:nvSpPr>
              <p:cNvPr id="13" name="직사각형 12">
                <a:extLst>
                  <a:ext uri="{FF2B5EF4-FFF2-40B4-BE49-F238E27FC236}">
                    <a16:creationId xmlns:a16="http://schemas.microsoft.com/office/drawing/2014/main" id="{75EE5370-63BD-7E5A-9EF1-123F8835923E}"/>
                  </a:ext>
                </a:extLst>
              </p:cNvPr>
              <p:cNvSpPr/>
              <p:nvPr/>
            </p:nvSpPr>
            <p:spPr>
              <a:xfrm>
                <a:off x="1529395" y="3591718"/>
                <a:ext cx="647363" cy="1629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107A56D3-839E-2AB5-B9CD-699A12D3B1D9}"/>
                </a:ext>
              </a:extLst>
            </p:cNvPr>
            <p:cNvSpPr/>
            <p:nvPr/>
          </p:nvSpPr>
          <p:spPr>
            <a:xfrm>
              <a:off x="4992786" y="2945501"/>
              <a:ext cx="5777713"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504352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(29/31)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an App’s Config without Having to Restart the App :</a:t>
            </a:r>
          </a:p>
          <a:p>
            <a:pPr lvl="1">
              <a:buFont typeface="Wingdings" panose="05000000000000000000" pitchFamily="2" charset="2"/>
              <a:buChar char="§"/>
            </a:pPr>
            <a:r>
              <a:rPr lang="en-US" altLang="ko-KR" sz="1400" dirty="0"/>
              <a:t>Nginx will continue to compress its responses until you tell it to </a:t>
            </a:r>
            <a:r>
              <a:rPr lang="en-US" altLang="ko-KR" sz="1400" b="1" dirty="0"/>
              <a:t>reload its config files</a:t>
            </a:r>
            <a:r>
              <a:rPr lang="en-US" altLang="ko-KR" sz="1400" dirty="0"/>
              <a:t>, which you can do with the following command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직사각형 15">
            <a:extLst>
              <a:ext uri="{FF2B5EF4-FFF2-40B4-BE49-F238E27FC236}">
                <a16:creationId xmlns:a16="http://schemas.microsoft.com/office/drawing/2014/main" id="{F1DF5EFE-99AF-D7EC-9204-0D4511CA9282}"/>
              </a:ext>
            </a:extLst>
          </p:cNvPr>
          <p:cNvSpPr/>
          <p:nvPr/>
        </p:nvSpPr>
        <p:spPr>
          <a:xfrm>
            <a:off x="5365019" y="2654188"/>
            <a:ext cx="4604369" cy="2462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C6F49585-9879-8FC5-BA32-543AB980FD48}"/>
              </a:ext>
            </a:extLst>
          </p:cNvPr>
          <p:cNvGrpSpPr/>
          <p:nvPr/>
        </p:nvGrpSpPr>
        <p:grpSpPr>
          <a:xfrm>
            <a:off x="1286971" y="1735911"/>
            <a:ext cx="9618058" cy="4347683"/>
            <a:chOff x="1286971" y="1735911"/>
            <a:chExt cx="9618058" cy="4347683"/>
          </a:xfrm>
        </p:grpSpPr>
        <p:grpSp>
          <p:nvGrpSpPr>
            <p:cNvPr id="15" name="그룹 14">
              <a:extLst>
                <a:ext uri="{FF2B5EF4-FFF2-40B4-BE49-F238E27FC236}">
                  <a16:creationId xmlns:a16="http://schemas.microsoft.com/office/drawing/2014/main" id="{B25932E5-6C88-A748-1C85-CEFE93E69613}"/>
                </a:ext>
              </a:extLst>
            </p:cNvPr>
            <p:cNvGrpSpPr/>
            <p:nvPr/>
          </p:nvGrpSpPr>
          <p:grpSpPr>
            <a:xfrm>
              <a:off x="1286971" y="1735911"/>
              <a:ext cx="9618058" cy="4347683"/>
              <a:chOff x="1286970" y="1683660"/>
              <a:chExt cx="9618058" cy="4347683"/>
            </a:xfrm>
          </p:grpSpPr>
          <p:grpSp>
            <p:nvGrpSpPr>
              <p:cNvPr id="12" name="그룹 11">
                <a:extLst>
                  <a:ext uri="{FF2B5EF4-FFF2-40B4-BE49-F238E27FC236}">
                    <a16:creationId xmlns:a16="http://schemas.microsoft.com/office/drawing/2014/main" id="{29A017BA-6CA6-F9D1-B872-53DA3E1DC142}"/>
                  </a:ext>
                </a:extLst>
              </p:cNvPr>
              <p:cNvGrpSpPr/>
              <p:nvPr/>
            </p:nvGrpSpPr>
            <p:grpSpPr>
              <a:xfrm>
                <a:off x="1286970" y="1683660"/>
                <a:ext cx="9618058" cy="2036117"/>
                <a:chOff x="1286970" y="1683660"/>
                <a:chExt cx="9618058" cy="2036117"/>
              </a:xfrm>
            </p:grpSpPr>
            <p:sp>
              <p:nvSpPr>
                <p:cNvPr id="8" name="TextBox 7">
                  <a:extLst>
                    <a:ext uri="{FF2B5EF4-FFF2-40B4-BE49-F238E27FC236}">
                      <a16:creationId xmlns:a16="http://schemas.microsoft.com/office/drawing/2014/main" id="{C3B7CA59-766D-B30A-EEDF-ED41BC1DA5FA}"/>
                    </a:ext>
                  </a:extLst>
                </p:cNvPr>
                <p:cNvSpPr txBox="1"/>
                <p:nvPr/>
              </p:nvSpPr>
              <p:spPr>
                <a:xfrm>
                  <a:off x="3047326" y="168366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fortune-</a:t>
                  </a:r>
                  <a:r>
                    <a:rPr lang="en-US" altLang="ko-KR" sz="1000" b="1" dirty="0" err="1"/>
                    <a:t>configmap</a:t>
                  </a:r>
                  <a:r>
                    <a:rPr lang="en-US" altLang="ko-KR" sz="1000" b="1" dirty="0"/>
                    <a:t>-volume -c web-server </a:t>
                  </a:r>
                  <a:r>
                    <a:rPr lang="en-US" altLang="ko-KR" sz="1000" b="1" dirty="0">
                      <a:solidFill>
                        <a:srgbClr val="FF0000"/>
                      </a:solidFill>
                    </a:rPr>
                    <a:t>-- nginx -s reload</a:t>
                  </a:r>
                </a:p>
              </p:txBody>
            </p:sp>
            <p:sp>
              <p:nvSpPr>
                <p:cNvPr id="9" name="화살표: 아래쪽 8">
                  <a:extLst>
                    <a:ext uri="{FF2B5EF4-FFF2-40B4-BE49-F238E27FC236}">
                      <a16:creationId xmlns:a16="http://schemas.microsoft.com/office/drawing/2014/main" id="{9F0DC5AF-1304-5328-EE58-EFE1CB8F007B}"/>
                    </a:ext>
                  </a:extLst>
                </p:cNvPr>
                <p:cNvSpPr/>
                <p:nvPr/>
              </p:nvSpPr>
              <p:spPr>
                <a:xfrm>
                  <a:off x="5877515" y="1929881"/>
                  <a:ext cx="436970" cy="2670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D1EE6EC-1DD2-E341-2A9C-194E9C615926}"/>
                    </a:ext>
                  </a:extLst>
                </p:cNvPr>
                <p:cNvPicPr>
                  <a:picLocks noChangeAspect="1"/>
                </p:cNvPicPr>
                <p:nvPr/>
              </p:nvPicPr>
              <p:blipFill>
                <a:blip r:embed="rId2"/>
                <a:stretch>
                  <a:fillRect/>
                </a:stretch>
              </p:blipFill>
              <p:spPr>
                <a:xfrm>
                  <a:off x="1286970" y="2196918"/>
                  <a:ext cx="9618058" cy="1522859"/>
                </a:xfrm>
                <a:prstGeom prst="rect">
                  <a:avLst/>
                </a:prstGeom>
              </p:spPr>
            </p:pic>
          </p:grpSp>
          <p:pic>
            <p:nvPicPr>
              <p:cNvPr id="14" name="그림 13">
                <a:extLst>
                  <a:ext uri="{FF2B5EF4-FFF2-40B4-BE49-F238E27FC236}">
                    <a16:creationId xmlns:a16="http://schemas.microsoft.com/office/drawing/2014/main" id="{5CF91911-914D-0C24-AFFC-5103A7B5AF51}"/>
                  </a:ext>
                </a:extLst>
              </p:cNvPr>
              <p:cNvPicPr>
                <a:picLocks noChangeAspect="1"/>
              </p:cNvPicPr>
              <p:nvPr/>
            </p:nvPicPr>
            <p:blipFill>
              <a:blip r:embed="rId3"/>
              <a:stretch>
                <a:fillRect/>
              </a:stretch>
            </p:blipFill>
            <p:spPr>
              <a:xfrm>
                <a:off x="1286971" y="3763084"/>
                <a:ext cx="9618057" cy="2268259"/>
              </a:xfrm>
              <a:prstGeom prst="rect">
                <a:avLst/>
              </a:prstGeom>
            </p:spPr>
          </p:pic>
        </p:grpSp>
        <p:sp>
          <p:nvSpPr>
            <p:cNvPr id="17" name="직사각형 16">
              <a:extLst>
                <a:ext uri="{FF2B5EF4-FFF2-40B4-BE49-F238E27FC236}">
                  <a16:creationId xmlns:a16="http://schemas.microsoft.com/office/drawing/2014/main" id="{A479EDDF-AB4E-432E-2B27-1FC88A4E8720}"/>
                </a:ext>
              </a:extLst>
            </p:cNvPr>
            <p:cNvSpPr/>
            <p:nvPr/>
          </p:nvSpPr>
          <p:spPr>
            <a:xfrm>
              <a:off x="1303155" y="5468547"/>
              <a:ext cx="1512873" cy="2201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3252037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(30/31)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an App’s Config without Having to Restart the App :</a:t>
            </a:r>
          </a:p>
          <a:p>
            <a:pPr lvl="1">
              <a:buFont typeface="Wingdings" panose="05000000000000000000" pitchFamily="2" charset="2"/>
              <a:buChar char="§"/>
            </a:pPr>
            <a:r>
              <a:rPr lang="en-US" altLang="ko-KR" sz="1400" b="1" dirty="0"/>
              <a:t>Now, if you try hitting the server again with “curl”</a:t>
            </a:r>
            <a:r>
              <a:rPr lang="en-US" altLang="ko-KR" sz="1400" dirty="0"/>
              <a:t>, you should see </a:t>
            </a:r>
            <a:r>
              <a:rPr lang="en-US" altLang="ko-KR" sz="1400" b="1" dirty="0"/>
              <a:t>the response is no longer compressed (it no longer contains the “Content-Encoding: </a:t>
            </a:r>
            <a:r>
              <a:rPr lang="en-US" altLang="ko-KR" sz="1400" b="1" dirty="0" err="1"/>
              <a:t>gzip</a:t>
            </a:r>
            <a:r>
              <a:rPr lang="en-US" altLang="ko-KR" sz="1400" b="1" dirty="0"/>
              <a:t>” header)</a:t>
            </a:r>
            <a:r>
              <a:rPr lang="en-US" altLang="ko-KR" sz="1400" dirty="0"/>
              <a:t>. You’ve effectively </a:t>
            </a:r>
            <a:r>
              <a:rPr lang="en-US" altLang="ko-KR" sz="1400" b="1" dirty="0"/>
              <a:t>changed the app’s config without having to restart the container or recreate the pod</a:t>
            </a:r>
            <a:r>
              <a:rPr lang="en-US" altLang="ko-KR" sz="1400" dirty="0"/>
              <a:t>.</a:t>
            </a:r>
          </a:p>
          <a:p>
            <a:pPr lvl="1">
              <a:buFont typeface="Wingdings" panose="05000000000000000000" pitchFamily="2" charset="2"/>
              <a:buChar char="§"/>
            </a:pPr>
            <a:r>
              <a:rPr lang="en-US" altLang="ko-KR" sz="1400" b="1" dirty="0"/>
              <a:t>You may wonder what happens if an app can detect config file changes on its own and reloads them before Kubernetes has finished updating all the files in the </a:t>
            </a:r>
            <a:r>
              <a:rPr lang="en-US" altLang="ko-KR" sz="1400" b="1" dirty="0" err="1"/>
              <a:t>configMap</a:t>
            </a:r>
            <a:r>
              <a:rPr lang="en-US" altLang="ko-KR" sz="1400" b="1" dirty="0"/>
              <a:t> volume</a:t>
            </a:r>
            <a:r>
              <a:rPr lang="en-US" altLang="ko-KR" sz="1400" dirty="0"/>
              <a:t>. Luckily, this can’t happen, because all the files are updated atomically, </a:t>
            </a:r>
            <a:r>
              <a:rPr lang="en-US" altLang="ko-KR" sz="1400" b="1" dirty="0"/>
              <a:t>which means all updates occur at once</a:t>
            </a:r>
            <a:r>
              <a:rPr lang="en-US" altLang="ko-KR" sz="1400" dirty="0"/>
              <a:t>. </a:t>
            </a:r>
            <a:r>
              <a:rPr lang="en-US" altLang="ko-KR" sz="1400" b="1" dirty="0"/>
              <a:t>Kubernetes achieves this by using </a:t>
            </a:r>
            <a:r>
              <a:rPr lang="en-US" altLang="ko-KR" sz="1400" b="1" dirty="0">
                <a:solidFill>
                  <a:srgbClr val="FF0000"/>
                </a:solidFill>
              </a:rPr>
              <a:t>symbolic links</a:t>
            </a:r>
            <a:r>
              <a:rPr lang="en-US" altLang="ko-KR" sz="1400" b="1" dirty="0"/>
              <a:t>. </a:t>
            </a:r>
            <a:r>
              <a:rPr lang="en-US" altLang="ko-KR" sz="1400" dirty="0"/>
              <a:t>If you list all the files in the mounted </a:t>
            </a:r>
            <a:r>
              <a:rPr lang="en-US" altLang="ko-KR" sz="1400" dirty="0" err="1"/>
              <a:t>configMap</a:t>
            </a:r>
            <a:r>
              <a:rPr lang="en-US" altLang="ko-KR" sz="1400" dirty="0"/>
              <a:t> volume, you’ll see something like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a:t>
            </a:r>
            <a:r>
              <a:rPr lang="en-US" altLang="ko-KR" sz="1400" dirty="0"/>
              <a:t> </a:t>
            </a:r>
            <a:r>
              <a:rPr lang="en-US" altLang="ko-KR" sz="1400" b="1" dirty="0"/>
              <a:t>The files in the mounted </a:t>
            </a:r>
            <a:r>
              <a:rPr lang="en-US" altLang="ko-KR" sz="1400" b="1" dirty="0" err="1"/>
              <a:t>configMap</a:t>
            </a:r>
            <a:r>
              <a:rPr lang="en-US" altLang="ko-KR" sz="1400" b="1" dirty="0"/>
              <a:t> volume are </a:t>
            </a:r>
            <a:r>
              <a:rPr lang="en-US" altLang="ko-KR" sz="1400" b="1" dirty="0">
                <a:solidFill>
                  <a:srgbClr val="FF0000"/>
                </a:solidFill>
              </a:rPr>
              <a:t>symbolic links </a:t>
            </a:r>
            <a:r>
              <a:rPr lang="en-US" altLang="ko-KR" sz="1400" b="1" dirty="0"/>
              <a:t>pointing to files in the “</a:t>
            </a:r>
            <a:r>
              <a:rPr lang="en-US" altLang="ko-KR" sz="1400" b="1" dirty="0">
                <a:solidFill>
                  <a:srgbClr val="FF0000"/>
                </a:solidFill>
              </a:rPr>
              <a:t>..data</a:t>
            </a:r>
            <a:r>
              <a:rPr lang="en-US" altLang="ko-KR" sz="1400" b="1" dirty="0"/>
              <a:t>” directory</a:t>
            </a:r>
            <a:r>
              <a:rPr lang="en-US" altLang="ko-KR" sz="1400" dirty="0"/>
              <a:t>. </a:t>
            </a:r>
            <a:r>
              <a:rPr lang="en-US" altLang="ko-KR" sz="1400" b="1" dirty="0"/>
              <a:t>The “..data” directory is also a symbolic link pointing to a directory called “..2022_12_19_xxxx”</a:t>
            </a:r>
            <a:r>
              <a:rPr lang="en-US" altLang="ko-KR" sz="1400" dirty="0"/>
              <a:t>. </a:t>
            </a:r>
            <a:r>
              <a:rPr lang="en-US" altLang="ko-KR" sz="1400" b="1" dirty="0"/>
              <a:t>When the </a:t>
            </a:r>
            <a:r>
              <a:rPr lang="en-US" altLang="ko-KR" sz="1400" b="1" dirty="0" err="1"/>
              <a:t>ConfigMap</a:t>
            </a:r>
            <a:r>
              <a:rPr lang="en-US" altLang="ko-KR" sz="1400" b="1" dirty="0"/>
              <a:t> is updated, Kubernetes creates a new directory like this, writes all the files to it, and then re-links the “..data” symbolic link to the new directory</a:t>
            </a:r>
            <a:r>
              <a:rPr lang="en-US" altLang="ko-KR" sz="1400" dirty="0"/>
              <a:t>, effectively changing all files at once.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C541AA2B-A693-7BFB-EC5F-E01826FB0A44}"/>
              </a:ext>
            </a:extLst>
          </p:cNvPr>
          <p:cNvGrpSpPr/>
          <p:nvPr/>
        </p:nvGrpSpPr>
        <p:grpSpPr>
          <a:xfrm>
            <a:off x="1266488" y="2791333"/>
            <a:ext cx="9659024" cy="2133054"/>
            <a:chOff x="1266488" y="2791333"/>
            <a:chExt cx="9659024" cy="2133054"/>
          </a:xfrm>
        </p:grpSpPr>
        <p:grpSp>
          <p:nvGrpSpPr>
            <p:cNvPr id="14" name="그룹 13">
              <a:extLst>
                <a:ext uri="{FF2B5EF4-FFF2-40B4-BE49-F238E27FC236}">
                  <a16:creationId xmlns:a16="http://schemas.microsoft.com/office/drawing/2014/main" id="{ADB5F1D4-1EA5-55A3-F3A9-71030B269FC2}"/>
                </a:ext>
              </a:extLst>
            </p:cNvPr>
            <p:cNvGrpSpPr/>
            <p:nvPr/>
          </p:nvGrpSpPr>
          <p:grpSpPr>
            <a:xfrm>
              <a:off x="1266488" y="2791333"/>
              <a:ext cx="9659024" cy="2133054"/>
              <a:chOff x="1266488" y="2750873"/>
              <a:chExt cx="9659024" cy="2133054"/>
            </a:xfrm>
          </p:grpSpPr>
          <p:grpSp>
            <p:nvGrpSpPr>
              <p:cNvPr id="12" name="그룹 11">
                <a:extLst>
                  <a:ext uri="{FF2B5EF4-FFF2-40B4-BE49-F238E27FC236}">
                    <a16:creationId xmlns:a16="http://schemas.microsoft.com/office/drawing/2014/main" id="{5E45B3F1-229E-072C-F699-D2025BFB5592}"/>
                  </a:ext>
                </a:extLst>
              </p:cNvPr>
              <p:cNvGrpSpPr/>
              <p:nvPr/>
            </p:nvGrpSpPr>
            <p:grpSpPr>
              <a:xfrm>
                <a:off x="1266488" y="2750873"/>
                <a:ext cx="9659024" cy="2133054"/>
                <a:chOff x="1266488" y="2750873"/>
                <a:chExt cx="9659024" cy="2133054"/>
              </a:xfrm>
            </p:grpSpPr>
            <p:sp>
              <p:nvSpPr>
                <p:cNvPr id="8" name="TextBox 7">
                  <a:extLst>
                    <a:ext uri="{FF2B5EF4-FFF2-40B4-BE49-F238E27FC236}">
                      <a16:creationId xmlns:a16="http://schemas.microsoft.com/office/drawing/2014/main" id="{ACF31269-32A6-87DF-72BE-81245FEEE198}"/>
                    </a:ext>
                  </a:extLst>
                </p:cNvPr>
                <p:cNvSpPr txBox="1"/>
                <p:nvPr/>
              </p:nvSpPr>
              <p:spPr>
                <a:xfrm>
                  <a:off x="3047326" y="275087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fortune-</a:t>
                  </a:r>
                  <a:r>
                    <a:rPr lang="en-US" altLang="ko-KR" sz="1000" b="1" dirty="0" err="1"/>
                    <a:t>configmap</a:t>
                  </a:r>
                  <a:r>
                    <a:rPr lang="en-US" altLang="ko-KR" sz="1000" b="1" dirty="0"/>
                    <a:t>-volume -c web-server </a:t>
                  </a:r>
                  <a:r>
                    <a:rPr lang="en-US" altLang="ko-KR" sz="1000" b="1" dirty="0">
                      <a:solidFill>
                        <a:srgbClr val="FF0000"/>
                      </a:solidFill>
                    </a:rPr>
                    <a:t>-- ls -</a:t>
                  </a:r>
                  <a:r>
                    <a:rPr lang="en-US" altLang="ko-KR" sz="1000" b="1" dirty="0" err="1">
                      <a:solidFill>
                        <a:srgbClr val="FF0000"/>
                      </a:solidFill>
                    </a:rPr>
                    <a:t>lA</a:t>
                  </a:r>
                  <a:r>
                    <a:rPr lang="en-US" altLang="ko-KR" sz="1000" b="1" dirty="0">
                      <a:solidFill>
                        <a:srgbClr val="FF0000"/>
                      </a:solidFill>
                    </a:rPr>
                    <a:t> /</a:t>
                  </a:r>
                  <a:r>
                    <a:rPr lang="en-US" altLang="ko-KR" sz="1000" b="1" dirty="0" err="1">
                      <a:solidFill>
                        <a:srgbClr val="FF0000"/>
                      </a:solidFill>
                    </a:rPr>
                    <a:t>etc</a:t>
                  </a:r>
                  <a:r>
                    <a:rPr lang="en-US" altLang="ko-KR" sz="1000" b="1" dirty="0">
                      <a:solidFill>
                        <a:srgbClr val="FF0000"/>
                      </a:solidFill>
                    </a:rPr>
                    <a:t>/nginx/</a:t>
                  </a:r>
                  <a:r>
                    <a:rPr lang="en-US" altLang="ko-KR" sz="1000" b="1" dirty="0" err="1">
                      <a:solidFill>
                        <a:srgbClr val="FF0000"/>
                      </a:solidFill>
                    </a:rPr>
                    <a:t>conf.d</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80BBFB98-DF9B-AA26-E7D5-0D3FF0D517C3}"/>
                    </a:ext>
                  </a:extLst>
                </p:cNvPr>
                <p:cNvSpPr/>
                <p:nvPr/>
              </p:nvSpPr>
              <p:spPr>
                <a:xfrm>
                  <a:off x="5869423" y="2999858"/>
                  <a:ext cx="453154" cy="2913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27665B4-802A-C00F-2353-E7F64F9FE118}"/>
                    </a:ext>
                  </a:extLst>
                </p:cNvPr>
                <p:cNvPicPr>
                  <a:picLocks noChangeAspect="1"/>
                </p:cNvPicPr>
                <p:nvPr/>
              </p:nvPicPr>
              <p:blipFill>
                <a:blip r:embed="rId2"/>
                <a:stretch>
                  <a:fillRect/>
                </a:stretch>
              </p:blipFill>
              <p:spPr>
                <a:xfrm>
                  <a:off x="1266488" y="3290029"/>
                  <a:ext cx="9659024" cy="1593898"/>
                </a:xfrm>
                <a:prstGeom prst="rect">
                  <a:avLst/>
                </a:prstGeom>
              </p:spPr>
            </p:pic>
          </p:grpSp>
          <p:sp>
            <p:nvSpPr>
              <p:cNvPr id="13" name="직사각형 12">
                <a:extLst>
                  <a:ext uri="{FF2B5EF4-FFF2-40B4-BE49-F238E27FC236}">
                    <a16:creationId xmlns:a16="http://schemas.microsoft.com/office/drawing/2014/main" id="{5AE2545C-DB85-C470-4129-1230D4AAB6B5}"/>
                  </a:ext>
                </a:extLst>
              </p:cNvPr>
              <p:cNvSpPr/>
              <p:nvPr/>
            </p:nvSpPr>
            <p:spPr>
              <a:xfrm>
                <a:off x="5316467" y="3714244"/>
                <a:ext cx="5421664" cy="2103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ABC108AD-A6F5-769A-AAEB-B53DAEB5D43C}"/>
                </a:ext>
              </a:extLst>
            </p:cNvPr>
            <p:cNvSpPr/>
            <p:nvPr/>
          </p:nvSpPr>
          <p:spPr>
            <a:xfrm>
              <a:off x="5008970" y="4191674"/>
              <a:ext cx="3333918" cy="42887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0823248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Decoupling Configuration with a </a:t>
            </a:r>
            <a:r>
              <a:rPr lang="en-US" altLang="ko-KR" sz="2800" b="1" dirty="0" err="1"/>
              <a:t>ConfigMap</a:t>
            </a:r>
            <a:r>
              <a:rPr lang="en-US" altLang="ko-KR" sz="2800" b="1" dirty="0"/>
              <a:t>(31/31)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an App’s Config without Having to Restart the App :</a:t>
            </a:r>
          </a:p>
          <a:p>
            <a:pPr lvl="1">
              <a:buFont typeface="Wingdings" panose="05000000000000000000" pitchFamily="2" charset="2"/>
              <a:buChar char="§"/>
            </a:pPr>
            <a:r>
              <a:rPr lang="en-US" altLang="ko-KR" sz="1400" b="1" dirty="0"/>
              <a:t>If you’ve mounted a single file in the container instead of the whole volume, the file will not be updated!</a:t>
            </a:r>
          </a:p>
          <a:p>
            <a:pPr lvl="1">
              <a:buFont typeface="Wingdings" panose="05000000000000000000" pitchFamily="2" charset="2"/>
              <a:buChar char="§"/>
            </a:pPr>
            <a:r>
              <a:rPr lang="en-US" altLang="ko-KR" sz="1400" dirty="0"/>
              <a:t>For now, if you need to add an individual file and have it updated when you update its source </a:t>
            </a:r>
            <a:r>
              <a:rPr lang="en-US" altLang="ko-KR" sz="1400" dirty="0" err="1"/>
              <a:t>ConfigMap</a:t>
            </a:r>
            <a:r>
              <a:rPr lang="en-US" altLang="ko-KR" sz="1400" dirty="0"/>
              <a:t>, one workaround is </a:t>
            </a:r>
            <a:r>
              <a:rPr lang="en-US" altLang="ko-KR" sz="1400" b="1" dirty="0"/>
              <a:t>to mount the whole volume into a different directory and then create a symbolic link pointing to the file in question</a:t>
            </a:r>
            <a:r>
              <a:rPr lang="en-US" altLang="ko-KR" sz="1400" dirty="0"/>
              <a:t>. </a:t>
            </a:r>
            <a:r>
              <a:rPr lang="en-US" altLang="ko-KR" sz="1400" b="1" dirty="0"/>
              <a:t>The </a:t>
            </a:r>
            <a:r>
              <a:rPr lang="en-US" altLang="ko-KR" sz="1400" b="1" dirty="0" err="1"/>
              <a:t>symlink</a:t>
            </a:r>
            <a:r>
              <a:rPr lang="en-US" altLang="ko-KR" sz="1400" b="1" dirty="0"/>
              <a:t> can either be created in the container image itself, or you could create the </a:t>
            </a:r>
            <a:r>
              <a:rPr lang="en-US" altLang="ko-KR" sz="1400" b="1" dirty="0" err="1"/>
              <a:t>symlink</a:t>
            </a:r>
            <a:r>
              <a:rPr lang="en-US" altLang="ko-KR" sz="1400" b="1" dirty="0"/>
              <a:t> when the container starts</a:t>
            </a:r>
            <a:r>
              <a:rPr lang="en-US" altLang="ko-KR" sz="1400" dirty="0"/>
              <a:t>.</a:t>
            </a:r>
          </a:p>
          <a:p>
            <a:pPr lvl="1">
              <a:buFont typeface="Wingdings" panose="05000000000000000000" pitchFamily="2" charset="2"/>
              <a:buChar char="§"/>
            </a:pPr>
            <a:r>
              <a:rPr lang="en-US" altLang="ko-KR" sz="1400" b="1" dirty="0"/>
              <a:t>One of the most important features of containers is their immutability</a:t>
            </a:r>
            <a:r>
              <a:rPr lang="en-US" altLang="ko-KR" sz="1400" dirty="0"/>
              <a:t>, which allows us to be certain that no differences exist between multiple running containers created from the same image, so is it wrong to bypass this immutability by modifying a </a:t>
            </a:r>
            <a:r>
              <a:rPr lang="en-US" altLang="ko-KR" sz="1400" dirty="0" err="1"/>
              <a:t>ConfigMap</a:t>
            </a:r>
            <a:r>
              <a:rPr lang="en-US" altLang="ko-KR" sz="1400" dirty="0"/>
              <a:t> used by running containers?</a:t>
            </a:r>
          </a:p>
          <a:p>
            <a:pPr lvl="1">
              <a:buFont typeface="Wingdings" panose="05000000000000000000" pitchFamily="2" charset="2"/>
              <a:buChar char="§"/>
            </a:pPr>
            <a:r>
              <a:rPr lang="en-US" altLang="ko-KR" sz="1400" b="1" dirty="0">
                <a:solidFill>
                  <a:srgbClr val="FF0000"/>
                </a:solidFill>
              </a:rPr>
              <a:t>The main problem occurs when the app doesn’t support reloading its configuration</a:t>
            </a:r>
            <a:r>
              <a:rPr lang="en-US" altLang="ko-KR" sz="1400" dirty="0"/>
              <a:t>. </a:t>
            </a:r>
            <a:r>
              <a:rPr lang="en-US" altLang="ko-KR" sz="1400" b="1" dirty="0"/>
              <a:t>This results in different running instances being configured differently—those pods that are created after the </a:t>
            </a:r>
            <a:r>
              <a:rPr lang="en-US" altLang="ko-KR" sz="1400" b="1" dirty="0" err="1"/>
              <a:t>ConfigMap</a:t>
            </a:r>
            <a:r>
              <a:rPr lang="en-US" altLang="ko-KR" sz="1400" b="1" dirty="0"/>
              <a:t> is changed will use the new config, whereas the old pods will still use the old one</a:t>
            </a:r>
            <a:r>
              <a:rPr lang="en-US" altLang="ko-KR" sz="1400" dirty="0"/>
              <a:t>. And this isn’t limited to new pods. </a:t>
            </a:r>
            <a:r>
              <a:rPr lang="en-US" altLang="ko-KR" sz="1400" b="1" dirty="0"/>
              <a:t>If a pod’s container is restarted (for whatever reason), </a:t>
            </a:r>
            <a:r>
              <a:rPr lang="en-US" altLang="ko-KR" sz="1400" b="1" dirty="0">
                <a:solidFill>
                  <a:srgbClr val="FF0000"/>
                </a:solidFill>
              </a:rPr>
              <a:t>the new process will also see the new config</a:t>
            </a:r>
            <a:r>
              <a:rPr lang="en-US" altLang="ko-KR" sz="1400" b="1" dirty="0"/>
              <a:t>. Therefore, if the app doesn’t reload its config automatically, modifying an existing </a:t>
            </a:r>
            <a:r>
              <a:rPr lang="en-US" altLang="ko-KR" sz="1400" b="1" dirty="0" err="1"/>
              <a:t>ConfigMap</a:t>
            </a:r>
            <a:r>
              <a:rPr lang="en-US" altLang="ko-KR" sz="1400" b="1" dirty="0"/>
              <a:t> (while pods are using it) may not be a good idea</a:t>
            </a:r>
            <a:r>
              <a:rPr lang="en-US" altLang="ko-KR" sz="1400" dirty="0"/>
              <a:t>.</a:t>
            </a:r>
          </a:p>
          <a:p>
            <a:pPr lvl="1">
              <a:buFont typeface="Wingdings" panose="05000000000000000000" pitchFamily="2" charset="2"/>
              <a:buChar char="§"/>
            </a:pPr>
            <a:r>
              <a:rPr lang="en-US" altLang="ko-KR" sz="1400" b="1" dirty="0"/>
              <a:t>If the app does support reloading, modifying the </a:t>
            </a:r>
            <a:r>
              <a:rPr lang="en-US" altLang="ko-KR" sz="1400" b="1" dirty="0" err="1"/>
              <a:t>ConfigMap</a:t>
            </a:r>
            <a:r>
              <a:rPr lang="en-US" altLang="ko-KR" sz="1400" b="1" dirty="0"/>
              <a:t> usually isn’t such a big deal, but you do need to be aware that because </a:t>
            </a:r>
            <a:r>
              <a:rPr lang="en-US" altLang="ko-KR" sz="1400" b="1" dirty="0">
                <a:solidFill>
                  <a:srgbClr val="FF0000"/>
                </a:solidFill>
              </a:rPr>
              <a:t>files in the </a:t>
            </a:r>
            <a:r>
              <a:rPr lang="en-US" altLang="ko-KR" sz="1400" b="1" dirty="0" err="1">
                <a:solidFill>
                  <a:srgbClr val="FF0000"/>
                </a:solidFill>
              </a:rPr>
              <a:t>ConfigMap</a:t>
            </a:r>
            <a:r>
              <a:rPr lang="en-US" altLang="ko-KR" sz="1400" b="1" dirty="0">
                <a:solidFill>
                  <a:srgbClr val="FF0000"/>
                </a:solidFill>
              </a:rPr>
              <a:t> volumes aren’t updated synchronously across all running instances</a:t>
            </a:r>
            <a:r>
              <a:rPr lang="en-US" altLang="ko-KR" sz="1400" dirty="0"/>
              <a:t>, </a:t>
            </a:r>
            <a:r>
              <a:rPr lang="en-US" altLang="ko-KR" sz="1400" b="1" dirty="0"/>
              <a:t>the files in individual pods may be out of sync for up to a whole minute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D0E954D-6F39-11FF-DE33-F4C65FB969C5}"/>
              </a:ext>
            </a:extLst>
          </p:cNvPr>
          <p:cNvPicPr>
            <a:picLocks noChangeAspect="1"/>
          </p:cNvPicPr>
          <p:nvPr/>
        </p:nvPicPr>
        <p:blipFill>
          <a:blip r:embed="rId2"/>
          <a:stretch>
            <a:fillRect/>
          </a:stretch>
        </p:blipFill>
        <p:spPr>
          <a:xfrm>
            <a:off x="7566053" y="4697989"/>
            <a:ext cx="3787747" cy="1711041"/>
          </a:xfrm>
          <a:prstGeom prst="rect">
            <a:avLst/>
          </a:prstGeom>
        </p:spPr>
      </p:pic>
    </p:spTree>
    <p:extLst>
      <p:ext uri="{BB962C8B-B14F-4D97-AF65-F5344CB8AC3E}">
        <p14:creationId xmlns:p14="http://schemas.microsoft.com/office/powerpoint/2010/main" val="409598982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Secrets :</a:t>
            </a:r>
          </a:p>
          <a:p>
            <a:pPr lvl="1">
              <a:buFont typeface="Wingdings" panose="05000000000000000000" pitchFamily="2" charset="2"/>
              <a:buChar char="§"/>
            </a:pPr>
            <a:r>
              <a:rPr lang="en-US" altLang="ko-KR" sz="1400" dirty="0"/>
              <a:t>All the information you’ve passed to your containers so far is regular, non-sensitive configuration data that doesn’t need to be kept secure. But </a:t>
            </a:r>
            <a:r>
              <a:rPr lang="en-US" altLang="ko-KR" sz="1400" b="1" dirty="0"/>
              <a:t>the config usually also includes sensitive information</a:t>
            </a:r>
            <a:r>
              <a:rPr lang="en-US" altLang="ko-KR" sz="1400" dirty="0"/>
              <a:t>, such as </a:t>
            </a:r>
            <a:r>
              <a:rPr lang="en-US" altLang="ko-KR" sz="1400" b="1" dirty="0"/>
              <a:t>credentials</a:t>
            </a:r>
            <a:r>
              <a:rPr lang="en-US" altLang="ko-KR" sz="1400" dirty="0"/>
              <a:t> and </a:t>
            </a:r>
            <a:r>
              <a:rPr lang="en-US" altLang="ko-KR" sz="1400" b="1" dirty="0"/>
              <a:t>private encryption keys</a:t>
            </a:r>
            <a:r>
              <a:rPr lang="en-US" altLang="ko-KR" sz="1400" dirty="0"/>
              <a:t>, </a:t>
            </a:r>
            <a:r>
              <a:rPr lang="en-US" altLang="ko-KR" sz="1400" b="1" dirty="0"/>
              <a:t>which need to be kept secure</a:t>
            </a:r>
            <a:r>
              <a:rPr lang="en-US" altLang="ko-KR" sz="1400" dirty="0"/>
              <a:t>.</a:t>
            </a:r>
          </a:p>
          <a:p>
            <a:pPr lvl="1">
              <a:buFont typeface="Wingdings" panose="05000000000000000000" pitchFamily="2" charset="2"/>
              <a:buChar char="§"/>
            </a:pPr>
            <a:r>
              <a:rPr lang="en-US" altLang="ko-KR" sz="1400" b="1" dirty="0"/>
              <a:t>To store and distribute such information, Kubernetes provides a separate object called a </a:t>
            </a:r>
            <a:r>
              <a:rPr lang="en-US" altLang="ko-KR" sz="1400" b="1" dirty="0">
                <a:solidFill>
                  <a:srgbClr val="FF0000"/>
                </a:solidFill>
              </a:rPr>
              <a:t>Secret</a:t>
            </a:r>
            <a:r>
              <a:rPr lang="en-US" altLang="ko-KR" sz="1400" dirty="0"/>
              <a:t>. </a:t>
            </a:r>
            <a:r>
              <a:rPr lang="en-US" altLang="ko-KR" sz="1400" b="1" dirty="0"/>
              <a:t>Secrets are much like </a:t>
            </a:r>
            <a:r>
              <a:rPr lang="en-US" altLang="ko-KR" sz="1400" b="1" dirty="0" err="1"/>
              <a:t>ConfigMaps</a:t>
            </a:r>
            <a:r>
              <a:rPr lang="en-US" altLang="ko-KR" sz="1400" b="1" dirty="0"/>
              <a:t>—they’re also maps that hold </a:t>
            </a:r>
            <a:r>
              <a:rPr lang="en-US" altLang="ko-KR" sz="1400" b="1" dirty="0">
                <a:solidFill>
                  <a:srgbClr val="FF0000"/>
                </a:solidFill>
              </a:rPr>
              <a:t>key-value pairs</a:t>
            </a:r>
            <a:r>
              <a:rPr lang="en-US" altLang="ko-KR" sz="1400" dirty="0"/>
              <a:t>. They can be used the same way as a </a:t>
            </a:r>
            <a:r>
              <a:rPr lang="en-US" altLang="ko-KR" sz="1400" dirty="0" err="1"/>
              <a:t>ConfigMap</a:t>
            </a:r>
            <a:r>
              <a:rPr lang="en-US" altLang="ko-KR" sz="1400" dirty="0"/>
              <a:t>. You can</a:t>
            </a:r>
          </a:p>
          <a:p>
            <a:pPr lvl="2">
              <a:buFont typeface="Wingdings" panose="05000000000000000000" pitchFamily="2" charset="2"/>
              <a:buChar char="§"/>
            </a:pPr>
            <a:r>
              <a:rPr lang="en-US" altLang="ko-KR" sz="1400" b="1" dirty="0"/>
              <a:t>Pass Secret entries to the container as environment variables</a:t>
            </a:r>
          </a:p>
          <a:p>
            <a:pPr lvl="2">
              <a:buFont typeface="Wingdings" panose="05000000000000000000" pitchFamily="2" charset="2"/>
              <a:buChar char="§"/>
            </a:pPr>
            <a:r>
              <a:rPr lang="en-US" altLang="ko-KR" sz="1400" b="1" dirty="0"/>
              <a:t>Expose Secret entries as files in a volume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6480223-0C09-546E-00F9-683D558632AE}"/>
              </a:ext>
            </a:extLst>
          </p:cNvPr>
          <p:cNvPicPr>
            <a:picLocks noChangeAspect="1"/>
          </p:cNvPicPr>
          <p:nvPr/>
        </p:nvPicPr>
        <p:blipFill>
          <a:blip r:embed="rId2"/>
          <a:stretch>
            <a:fillRect/>
          </a:stretch>
        </p:blipFill>
        <p:spPr>
          <a:xfrm>
            <a:off x="3482272" y="3505813"/>
            <a:ext cx="5227455" cy="2311515"/>
          </a:xfrm>
          <a:prstGeom prst="rect">
            <a:avLst/>
          </a:prstGeom>
        </p:spPr>
      </p:pic>
    </p:spTree>
    <p:extLst>
      <p:ext uri="{BB962C8B-B14F-4D97-AF65-F5344CB8AC3E}">
        <p14:creationId xmlns:p14="http://schemas.microsoft.com/office/powerpoint/2010/main" val="70319148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Secrets :</a:t>
            </a:r>
          </a:p>
          <a:p>
            <a:pPr lvl="1">
              <a:buFont typeface="Wingdings" panose="05000000000000000000" pitchFamily="2" charset="2"/>
              <a:buChar char="§"/>
            </a:pPr>
            <a:r>
              <a:rPr lang="en-US" altLang="ko-KR" sz="1400" b="1" dirty="0"/>
              <a:t>Kubernetes helps keep your Secrets safe by making sure each Secret is only distributed to the nodes that run the pods that need access to the Secret</a:t>
            </a:r>
            <a:r>
              <a:rPr lang="en-US" altLang="ko-KR" sz="1400" dirty="0"/>
              <a:t>. Also, on the nodes themselves, </a:t>
            </a:r>
            <a:r>
              <a:rPr lang="en-US" altLang="ko-KR" sz="1400" b="1" dirty="0"/>
              <a:t>Secrets are always stored in memory and never written to physical storage</a:t>
            </a:r>
            <a:r>
              <a:rPr lang="en-US" altLang="ko-KR" sz="1400" dirty="0"/>
              <a:t>, which would require wiping the disks after deleting the Secrets from them. </a:t>
            </a:r>
          </a:p>
          <a:p>
            <a:pPr lvl="1">
              <a:buFont typeface="Wingdings" panose="05000000000000000000" pitchFamily="2" charset="2"/>
              <a:buChar char="§"/>
            </a:pPr>
            <a:r>
              <a:rPr lang="en-US" altLang="ko-KR" sz="1400" b="1" dirty="0"/>
              <a:t>On the master node itself (more specifically in “</a:t>
            </a:r>
            <a:r>
              <a:rPr lang="en-US" altLang="ko-KR" sz="1400" b="1" dirty="0" err="1">
                <a:solidFill>
                  <a:srgbClr val="FF0000"/>
                </a:solidFill>
              </a:rPr>
              <a:t>etcd</a:t>
            </a:r>
            <a:r>
              <a:rPr lang="en-US" altLang="ko-KR" sz="1400" b="1" dirty="0"/>
              <a:t>”), Secrets used to be stored in unencrypted form, which meant the master node needs to be secured to keep the sensitive data stored in Secrets secure</a:t>
            </a:r>
            <a:r>
              <a:rPr lang="en-US" altLang="ko-KR" sz="1400" dirty="0"/>
              <a:t>. </a:t>
            </a:r>
            <a:r>
              <a:rPr lang="en-US" altLang="ko-KR" sz="1400" b="1" dirty="0"/>
              <a:t>This didn’t only include keeping the </a:t>
            </a:r>
            <a:r>
              <a:rPr lang="en-US" altLang="ko-KR" sz="1400" b="1" dirty="0" err="1"/>
              <a:t>etcd</a:t>
            </a:r>
            <a:r>
              <a:rPr lang="en-US" altLang="ko-KR" sz="1400" b="1" dirty="0"/>
              <a:t> storage secure, but also preventing unauthorized users from using the API server, because anyone who can create pods can mount the Secret into the pod and gain access to the sensitive data through it</a:t>
            </a:r>
            <a:r>
              <a:rPr lang="en-US" altLang="ko-KR" sz="1400" dirty="0"/>
              <a:t>. </a:t>
            </a:r>
            <a:r>
              <a:rPr lang="en-US" altLang="ko-KR" sz="1400" b="1" dirty="0"/>
              <a:t>From Kubernetes version 1.7, </a:t>
            </a:r>
            <a:r>
              <a:rPr lang="en-US" altLang="ko-KR" sz="1400" b="1" dirty="0" err="1"/>
              <a:t>etcd</a:t>
            </a:r>
            <a:r>
              <a:rPr lang="en-US" altLang="ko-KR" sz="1400" b="1" dirty="0"/>
              <a:t> stores Secrets in encrypted form</a:t>
            </a:r>
            <a:r>
              <a:rPr lang="en-US" altLang="ko-KR" sz="1400" dirty="0"/>
              <a:t>, making the system much more secure. Because of this, it’s imperative you properly choose when to use a Secret or a </a:t>
            </a:r>
            <a:r>
              <a:rPr lang="en-US" altLang="ko-KR" sz="1400" dirty="0" err="1"/>
              <a:t>ConfigMap</a:t>
            </a:r>
            <a:r>
              <a:rPr lang="en-US" altLang="ko-KR" sz="1400" dirty="0"/>
              <a:t>. Choosing between them is simple :</a:t>
            </a:r>
          </a:p>
          <a:p>
            <a:pPr lvl="2">
              <a:buFont typeface="Wingdings" panose="05000000000000000000" pitchFamily="2" charset="2"/>
              <a:buChar char="§"/>
            </a:pPr>
            <a:r>
              <a:rPr lang="en-US" altLang="ko-KR" sz="1400" b="1" dirty="0"/>
              <a:t>Use a </a:t>
            </a:r>
            <a:r>
              <a:rPr lang="en-US" altLang="ko-KR" sz="1400" b="1" dirty="0" err="1"/>
              <a:t>ConfigMap</a:t>
            </a:r>
            <a:r>
              <a:rPr lang="en-US" altLang="ko-KR" sz="1400" b="1" dirty="0"/>
              <a:t> to store non-sensitive, plain configuration data</a:t>
            </a:r>
            <a:r>
              <a:rPr lang="en-US" altLang="ko-KR" sz="1400" dirty="0"/>
              <a:t>.</a:t>
            </a:r>
          </a:p>
          <a:p>
            <a:pPr lvl="2">
              <a:buFont typeface="Wingdings" panose="05000000000000000000" pitchFamily="2" charset="2"/>
              <a:buChar char="§"/>
            </a:pPr>
            <a:r>
              <a:rPr lang="en-US" altLang="ko-KR" sz="1400" b="1" dirty="0"/>
              <a:t>Use a Secret to store any data that is sensitive in nature and needs to be kept under key</a:t>
            </a:r>
            <a:r>
              <a:rPr lang="en-US" altLang="ko-KR" sz="1400" dirty="0"/>
              <a:t>. If a config file includes both sensitive and not-sensitive data, you should store the file in a Secret.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233FA2F-A489-1992-7AD6-C135F391EED7}"/>
              </a:ext>
            </a:extLst>
          </p:cNvPr>
          <p:cNvPicPr>
            <a:picLocks noChangeAspect="1"/>
          </p:cNvPicPr>
          <p:nvPr/>
        </p:nvPicPr>
        <p:blipFill>
          <a:blip r:embed="rId2"/>
          <a:stretch>
            <a:fillRect/>
          </a:stretch>
        </p:blipFill>
        <p:spPr>
          <a:xfrm>
            <a:off x="4205066" y="3948614"/>
            <a:ext cx="3781867" cy="2460416"/>
          </a:xfrm>
          <a:prstGeom prst="rect">
            <a:avLst/>
          </a:prstGeom>
        </p:spPr>
      </p:pic>
    </p:spTree>
    <p:extLst>
      <p:ext uri="{BB962C8B-B14F-4D97-AF65-F5344CB8AC3E}">
        <p14:creationId xmlns:p14="http://schemas.microsoft.com/office/powerpoint/2010/main" val="35365665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Default Token Secret :</a:t>
            </a:r>
          </a:p>
          <a:p>
            <a:pPr lvl="1">
              <a:buFont typeface="Wingdings" panose="05000000000000000000" pitchFamily="2" charset="2"/>
              <a:buChar char="§"/>
            </a:pPr>
            <a:r>
              <a:rPr lang="en-US" altLang="ko-KR" sz="1400" dirty="0"/>
              <a:t>You’ll start learning about Secrets by </a:t>
            </a:r>
            <a:r>
              <a:rPr lang="en-US" altLang="ko-KR" sz="1400" b="1" dirty="0"/>
              <a:t>examining a Secret that’s mounted into every container</a:t>
            </a:r>
            <a:r>
              <a:rPr lang="en-US" altLang="ko-KR" sz="1400" dirty="0"/>
              <a:t> you run. You may have noticed it when using “</a:t>
            </a:r>
            <a:r>
              <a:rPr lang="en-US" altLang="ko-KR" sz="1400" b="1" dirty="0" err="1"/>
              <a:t>kubectl</a:t>
            </a:r>
            <a:r>
              <a:rPr lang="en-US" altLang="ko-KR" sz="1400" b="1" dirty="0"/>
              <a:t> describe pods </a:t>
            </a:r>
            <a:r>
              <a:rPr lang="en-US" altLang="ko-KR" sz="1400" b="1" dirty="0" err="1"/>
              <a:t>xxxx</a:t>
            </a:r>
            <a:r>
              <a:rPr lang="en-US" altLang="ko-KR" sz="1400" dirty="0"/>
              <a:t>” command on a pod.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3" name="그룹 22">
            <a:extLst>
              <a:ext uri="{FF2B5EF4-FFF2-40B4-BE49-F238E27FC236}">
                <a16:creationId xmlns:a16="http://schemas.microsoft.com/office/drawing/2014/main" id="{D7EE658E-0865-E6FE-5548-5CB1F94A4DAC}"/>
              </a:ext>
            </a:extLst>
          </p:cNvPr>
          <p:cNvGrpSpPr/>
          <p:nvPr/>
        </p:nvGrpSpPr>
        <p:grpSpPr>
          <a:xfrm>
            <a:off x="1072911" y="1916544"/>
            <a:ext cx="10046178" cy="3024912"/>
            <a:chOff x="1072911" y="1795640"/>
            <a:chExt cx="10046178" cy="3024912"/>
          </a:xfrm>
        </p:grpSpPr>
        <p:grpSp>
          <p:nvGrpSpPr>
            <p:cNvPr id="20" name="그룹 19">
              <a:extLst>
                <a:ext uri="{FF2B5EF4-FFF2-40B4-BE49-F238E27FC236}">
                  <a16:creationId xmlns:a16="http://schemas.microsoft.com/office/drawing/2014/main" id="{3E850D5A-4533-1C18-4880-79B1B76230E6}"/>
                </a:ext>
              </a:extLst>
            </p:cNvPr>
            <p:cNvGrpSpPr/>
            <p:nvPr/>
          </p:nvGrpSpPr>
          <p:grpSpPr>
            <a:xfrm>
              <a:off x="1072911" y="1795640"/>
              <a:ext cx="10046178" cy="3024912"/>
              <a:chOff x="1072911" y="1632847"/>
              <a:chExt cx="10046178" cy="3024912"/>
            </a:xfrm>
          </p:grpSpPr>
          <p:pic>
            <p:nvPicPr>
              <p:cNvPr id="17" name="그림 16">
                <a:extLst>
                  <a:ext uri="{FF2B5EF4-FFF2-40B4-BE49-F238E27FC236}">
                    <a16:creationId xmlns:a16="http://schemas.microsoft.com/office/drawing/2014/main" id="{B995FF68-FD7D-919F-C32E-7450DB5B93D7}"/>
                  </a:ext>
                </a:extLst>
              </p:cNvPr>
              <p:cNvPicPr>
                <a:picLocks noChangeAspect="1"/>
              </p:cNvPicPr>
              <p:nvPr/>
            </p:nvPicPr>
            <p:blipFill>
              <a:blip r:embed="rId2"/>
              <a:stretch>
                <a:fillRect/>
              </a:stretch>
            </p:blipFill>
            <p:spPr>
              <a:xfrm>
                <a:off x="1072911" y="1632847"/>
                <a:ext cx="10046178" cy="1493563"/>
              </a:xfrm>
              <a:prstGeom prst="rect">
                <a:avLst/>
              </a:prstGeom>
            </p:spPr>
          </p:pic>
          <p:pic>
            <p:nvPicPr>
              <p:cNvPr id="19" name="그림 18">
                <a:extLst>
                  <a:ext uri="{FF2B5EF4-FFF2-40B4-BE49-F238E27FC236}">
                    <a16:creationId xmlns:a16="http://schemas.microsoft.com/office/drawing/2014/main" id="{71FD18DE-1C28-1B97-3E52-C0015C8ACD37}"/>
                  </a:ext>
                </a:extLst>
              </p:cNvPr>
              <p:cNvPicPr>
                <a:picLocks noChangeAspect="1"/>
              </p:cNvPicPr>
              <p:nvPr/>
            </p:nvPicPr>
            <p:blipFill>
              <a:blip r:embed="rId3"/>
              <a:stretch>
                <a:fillRect/>
              </a:stretch>
            </p:blipFill>
            <p:spPr>
              <a:xfrm>
                <a:off x="1072911" y="3164195"/>
                <a:ext cx="10046178" cy="1493564"/>
              </a:xfrm>
              <a:prstGeom prst="rect">
                <a:avLst/>
              </a:prstGeom>
            </p:spPr>
          </p:pic>
        </p:grpSp>
        <p:sp>
          <p:nvSpPr>
            <p:cNvPr id="21" name="직사각형 20">
              <a:extLst>
                <a:ext uri="{FF2B5EF4-FFF2-40B4-BE49-F238E27FC236}">
                  <a16:creationId xmlns:a16="http://schemas.microsoft.com/office/drawing/2014/main" id="{01E0F718-847D-5164-C420-936BBDA69DFC}"/>
                </a:ext>
              </a:extLst>
            </p:cNvPr>
            <p:cNvSpPr/>
            <p:nvPr/>
          </p:nvSpPr>
          <p:spPr>
            <a:xfrm>
              <a:off x="5049430" y="2201034"/>
              <a:ext cx="3026421" cy="21848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직사각형 21">
              <a:extLst>
                <a:ext uri="{FF2B5EF4-FFF2-40B4-BE49-F238E27FC236}">
                  <a16:creationId xmlns:a16="http://schemas.microsoft.com/office/drawing/2014/main" id="{B382F166-AF87-03D8-5A4A-B3E9EC5311CE}"/>
                </a:ext>
              </a:extLst>
            </p:cNvPr>
            <p:cNvSpPr/>
            <p:nvPr/>
          </p:nvSpPr>
          <p:spPr>
            <a:xfrm>
              <a:off x="1545579" y="4159306"/>
              <a:ext cx="4936141" cy="1592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737277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Default Token Secret :</a:t>
            </a:r>
          </a:p>
          <a:p>
            <a:pPr lvl="1">
              <a:buFont typeface="Wingdings" panose="05000000000000000000" pitchFamily="2" charset="2"/>
              <a:buChar char="§"/>
            </a:pPr>
            <a:r>
              <a:rPr lang="en-US" altLang="ko-KR" sz="1400" dirty="0"/>
              <a:t>We’ve said </a:t>
            </a:r>
            <a:r>
              <a:rPr lang="en-US" altLang="ko-KR" sz="1400" b="1" dirty="0"/>
              <a:t>Secrets are like </a:t>
            </a:r>
            <a:r>
              <a:rPr lang="en-US" altLang="ko-KR" sz="1400" b="1" dirty="0" err="1"/>
              <a:t>ConfigMaps</a:t>
            </a:r>
            <a:r>
              <a:rPr lang="en-US" altLang="ko-KR" sz="1400" dirty="0"/>
              <a:t>, </a:t>
            </a:r>
            <a:r>
              <a:rPr lang="en-US" altLang="ko-KR" sz="1400" b="1" dirty="0"/>
              <a:t>so because this Secret contains three entries, you can expect to see three files in the directory the secret volume is mounted into</a:t>
            </a:r>
            <a:r>
              <a:rPr lang="en-US" altLang="ko-KR" sz="1400" dirty="0"/>
              <a:t>. You can check this easily with “</a:t>
            </a:r>
            <a:r>
              <a:rPr lang="en-US" altLang="ko-KR" sz="1400" b="1" dirty="0" err="1"/>
              <a:t>kubectl</a:t>
            </a:r>
            <a:r>
              <a:rPr lang="en-US" altLang="ko-KR" sz="1400" b="1" dirty="0"/>
              <a:t> exec</a:t>
            </a:r>
            <a:r>
              <a:rPr lang="en-US" altLang="ko-KR" sz="1400" dirty="0"/>
              <a:t>”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FD567B8-181D-0FE0-1DC6-B68C3E0FBEA0}"/>
              </a:ext>
            </a:extLst>
          </p:cNvPr>
          <p:cNvGrpSpPr/>
          <p:nvPr/>
        </p:nvGrpSpPr>
        <p:grpSpPr>
          <a:xfrm>
            <a:off x="1072911" y="1905923"/>
            <a:ext cx="10046178" cy="1792276"/>
            <a:chOff x="1072911" y="1905923"/>
            <a:chExt cx="10046178" cy="1792276"/>
          </a:xfrm>
        </p:grpSpPr>
        <p:grpSp>
          <p:nvGrpSpPr>
            <p:cNvPr id="4" name="그룹 3">
              <a:extLst>
                <a:ext uri="{FF2B5EF4-FFF2-40B4-BE49-F238E27FC236}">
                  <a16:creationId xmlns:a16="http://schemas.microsoft.com/office/drawing/2014/main" id="{B9529101-BA59-801D-32C4-56C80274EF7A}"/>
                </a:ext>
              </a:extLst>
            </p:cNvPr>
            <p:cNvGrpSpPr/>
            <p:nvPr/>
          </p:nvGrpSpPr>
          <p:grpSpPr>
            <a:xfrm>
              <a:off x="1072911" y="1905923"/>
              <a:ext cx="10046178" cy="1792276"/>
              <a:chOff x="1072911" y="2366525"/>
              <a:chExt cx="10046178" cy="1792276"/>
            </a:xfrm>
          </p:grpSpPr>
          <p:pic>
            <p:nvPicPr>
              <p:cNvPr id="8" name="그림 7">
                <a:extLst>
                  <a:ext uri="{FF2B5EF4-FFF2-40B4-BE49-F238E27FC236}">
                    <a16:creationId xmlns:a16="http://schemas.microsoft.com/office/drawing/2014/main" id="{01235FCE-EACC-8F71-8FD6-9EF583905E8B}"/>
                  </a:ext>
                </a:extLst>
              </p:cNvPr>
              <p:cNvPicPr>
                <a:picLocks noChangeAspect="1"/>
              </p:cNvPicPr>
              <p:nvPr/>
            </p:nvPicPr>
            <p:blipFill>
              <a:blip r:embed="rId2"/>
              <a:stretch>
                <a:fillRect/>
              </a:stretch>
            </p:blipFill>
            <p:spPr>
              <a:xfrm>
                <a:off x="1072911" y="2366525"/>
                <a:ext cx="10046178" cy="1792276"/>
              </a:xfrm>
              <a:prstGeom prst="rect">
                <a:avLst/>
              </a:prstGeom>
            </p:spPr>
          </p:pic>
          <p:sp>
            <p:nvSpPr>
              <p:cNvPr id="9" name="직사각형 8">
                <a:extLst>
                  <a:ext uri="{FF2B5EF4-FFF2-40B4-BE49-F238E27FC236}">
                    <a16:creationId xmlns:a16="http://schemas.microsoft.com/office/drawing/2014/main" id="{FBDFCBBF-B612-49CE-3DCA-5D3E70470EA8}"/>
                  </a:ext>
                </a:extLst>
              </p:cNvPr>
              <p:cNvSpPr/>
              <p:nvPr/>
            </p:nvSpPr>
            <p:spPr>
              <a:xfrm>
                <a:off x="5089890" y="3204446"/>
                <a:ext cx="5712977" cy="14565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직사각형 9">
              <a:extLst>
                <a:ext uri="{FF2B5EF4-FFF2-40B4-BE49-F238E27FC236}">
                  <a16:creationId xmlns:a16="http://schemas.microsoft.com/office/drawing/2014/main" id="{6DDDC003-422D-31B7-A8DC-CE0212CDE622}"/>
                </a:ext>
              </a:extLst>
            </p:cNvPr>
            <p:cNvSpPr/>
            <p:nvPr/>
          </p:nvSpPr>
          <p:spPr>
            <a:xfrm>
              <a:off x="1173345" y="3026421"/>
              <a:ext cx="679731" cy="40257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6" name="그룹 15">
            <a:extLst>
              <a:ext uri="{FF2B5EF4-FFF2-40B4-BE49-F238E27FC236}">
                <a16:creationId xmlns:a16="http://schemas.microsoft.com/office/drawing/2014/main" id="{54738770-519E-E854-20A6-16598F200FF1}"/>
              </a:ext>
            </a:extLst>
          </p:cNvPr>
          <p:cNvGrpSpPr/>
          <p:nvPr/>
        </p:nvGrpSpPr>
        <p:grpSpPr>
          <a:xfrm>
            <a:off x="3571875" y="3938881"/>
            <a:ext cx="5048250" cy="2324100"/>
            <a:chOff x="3571875" y="3938881"/>
            <a:chExt cx="5048250" cy="2324100"/>
          </a:xfrm>
        </p:grpSpPr>
        <p:pic>
          <p:nvPicPr>
            <p:cNvPr id="13" name="그림 12">
              <a:extLst>
                <a:ext uri="{FF2B5EF4-FFF2-40B4-BE49-F238E27FC236}">
                  <a16:creationId xmlns:a16="http://schemas.microsoft.com/office/drawing/2014/main" id="{894BF072-D736-CBE1-E1A1-A33553E4DFDC}"/>
                </a:ext>
              </a:extLst>
            </p:cNvPr>
            <p:cNvPicPr>
              <a:picLocks noChangeAspect="1"/>
            </p:cNvPicPr>
            <p:nvPr/>
          </p:nvPicPr>
          <p:blipFill>
            <a:blip r:embed="rId3"/>
            <a:stretch>
              <a:fillRect/>
            </a:stretch>
          </p:blipFill>
          <p:spPr>
            <a:xfrm>
              <a:off x="3571875" y="3938881"/>
              <a:ext cx="5048250" cy="2324100"/>
            </a:xfrm>
            <a:prstGeom prst="rect">
              <a:avLst/>
            </a:prstGeom>
          </p:spPr>
        </p:pic>
        <p:sp>
          <p:nvSpPr>
            <p:cNvPr id="14" name="직사각형 13">
              <a:extLst>
                <a:ext uri="{FF2B5EF4-FFF2-40B4-BE49-F238E27FC236}">
                  <a16:creationId xmlns:a16="http://schemas.microsoft.com/office/drawing/2014/main" id="{BAF8ED3A-3B08-2D54-F3D1-613736B6C4E2}"/>
                </a:ext>
              </a:extLst>
            </p:cNvPr>
            <p:cNvSpPr/>
            <p:nvPr/>
          </p:nvSpPr>
          <p:spPr>
            <a:xfrm>
              <a:off x="3916545" y="4515356"/>
              <a:ext cx="1764064" cy="11086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A6E2984E-4386-3AD8-592B-D9EC834BFD64}"/>
                </a:ext>
              </a:extLst>
            </p:cNvPr>
            <p:cNvSpPr/>
            <p:nvPr/>
          </p:nvSpPr>
          <p:spPr>
            <a:xfrm>
              <a:off x="7307108" y="5219363"/>
              <a:ext cx="1173345" cy="6554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550648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Secret :</a:t>
            </a:r>
          </a:p>
          <a:p>
            <a:pPr lvl="1">
              <a:buFont typeface="Wingdings" panose="05000000000000000000" pitchFamily="2" charset="2"/>
              <a:buChar char="§"/>
            </a:pPr>
            <a:r>
              <a:rPr lang="en-US" altLang="ko-KR" sz="1400" b="1" dirty="0"/>
              <a:t>Now, We will improve our fortune-serving Nginx container by configuring it to also serve HTTPS traffic</a:t>
            </a:r>
            <a:r>
              <a:rPr lang="en-US" altLang="ko-KR" sz="1400" dirty="0"/>
              <a:t>. For this, we need to </a:t>
            </a:r>
            <a:r>
              <a:rPr lang="en-US" altLang="ko-KR" sz="1400" b="1" dirty="0"/>
              <a:t>create a certificate and a private key</a:t>
            </a:r>
            <a:r>
              <a:rPr lang="en-US" altLang="ko-KR" sz="1400" dirty="0"/>
              <a:t>. The private key needs to be kept secure, so we will </a:t>
            </a:r>
            <a:r>
              <a:rPr lang="en-US" altLang="ko-KR" sz="1400" b="1" dirty="0"/>
              <a:t>put it and the certificate into a Secre</a:t>
            </a:r>
            <a:r>
              <a:rPr lang="en-US" altLang="ko-KR" sz="1400" dirty="0"/>
              <a:t>t.</a:t>
            </a:r>
          </a:p>
          <a:p>
            <a:pPr lvl="1">
              <a:buFont typeface="Wingdings" panose="05000000000000000000" pitchFamily="2" charset="2"/>
              <a:buChar char="§"/>
            </a:pPr>
            <a:r>
              <a:rPr lang="en-US" altLang="ko-KR" sz="1400" dirty="0"/>
              <a:t>First, generate the certificate and private key files (do this on your local machine)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to help better demonstrate a few things about Secrets, </a:t>
            </a:r>
            <a:r>
              <a:rPr lang="en-US" altLang="ko-KR" sz="1400" b="1" dirty="0"/>
              <a:t>create an additional dummy file called “foo” and make it contain the string “bar”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197EB9CE-1CAB-DE71-90AF-A783280356F1}"/>
              </a:ext>
            </a:extLst>
          </p:cNvPr>
          <p:cNvGrpSpPr/>
          <p:nvPr/>
        </p:nvGrpSpPr>
        <p:grpSpPr>
          <a:xfrm>
            <a:off x="1199644" y="2131832"/>
            <a:ext cx="9792712" cy="2267618"/>
            <a:chOff x="1199644" y="2131832"/>
            <a:chExt cx="9792712" cy="2267618"/>
          </a:xfrm>
        </p:grpSpPr>
        <p:pic>
          <p:nvPicPr>
            <p:cNvPr id="8" name="그림 7">
              <a:extLst>
                <a:ext uri="{FF2B5EF4-FFF2-40B4-BE49-F238E27FC236}">
                  <a16:creationId xmlns:a16="http://schemas.microsoft.com/office/drawing/2014/main" id="{CCD367B0-6BB3-4EAE-355F-12D7EB64FE8D}"/>
                </a:ext>
              </a:extLst>
            </p:cNvPr>
            <p:cNvPicPr>
              <a:picLocks noChangeAspect="1"/>
            </p:cNvPicPr>
            <p:nvPr/>
          </p:nvPicPr>
          <p:blipFill>
            <a:blip r:embed="rId2"/>
            <a:stretch>
              <a:fillRect/>
            </a:stretch>
          </p:blipFill>
          <p:spPr>
            <a:xfrm>
              <a:off x="1199644" y="2798979"/>
              <a:ext cx="9792712" cy="1600471"/>
            </a:xfrm>
            <a:prstGeom prst="rect">
              <a:avLst/>
            </a:prstGeom>
          </p:spPr>
        </p:pic>
        <p:sp>
          <p:nvSpPr>
            <p:cNvPr id="10" name="TextBox 9">
              <a:extLst>
                <a:ext uri="{FF2B5EF4-FFF2-40B4-BE49-F238E27FC236}">
                  <a16:creationId xmlns:a16="http://schemas.microsoft.com/office/drawing/2014/main" id="{6C4C6FBA-A6A5-3C3D-FEB8-EE8D7B593CC0}"/>
                </a:ext>
              </a:extLst>
            </p:cNvPr>
            <p:cNvSpPr txBox="1"/>
            <p:nvPr/>
          </p:nvSpPr>
          <p:spPr>
            <a:xfrm>
              <a:off x="2770174" y="2131832"/>
              <a:ext cx="6651652"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openssl</a:t>
              </a:r>
              <a:r>
                <a:rPr lang="en-US" altLang="ko-KR" sz="1000" b="1" dirty="0"/>
                <a:t> </a:t>
              </a:r>
              <a:r>
                <a:rPr lang="en-US" altLang="ko-KR" sz="1000" b="1" dirty="0" err="1"/>
                <a:t>genrsa</a:t>
              </a:r>
              <a:r>
                <a:rPr lang="en-US" altLang="ko-KR" sz="1000" b="1" dirty="0"/>
                <a:t> -out </a:t>
              </a:r>
              <a:r>
                <a:rPr lang="en-US" altLang="ko-KR" sz="1000" b="1" dirty="0" err="1"/>
                <a:t>https.key</a:t>
              </a:r>
              <a:r>
                <a:rPr lang="en-US" altLang="ko-KR" sz="1000" b="1" dirty="0"/>
                <a:t> 2048</a:t>
              </a:r>
            </a:p>
            <a:p>
              <a:r>
                <a:rPr lang="en-US" altLang="ko-KR" sz="1000" b="1" dirty="0"/>
                <a:t>$ </a:t>
              </a:r>
              <a:r>
                <a:rPr lang="en-US" altLang="ko-KR" sz="1000" b="1" dirty="0" err="1"/>
                <a:t>openssl</a:t>
              </a:r>
              <a:r>
                <a:rPr lang="en-US" altLang="ko-KR" sz="1000" b="1" dirty="0"/>
                <a:t> req -new -x509 -key </a:t>
              </a:r>
              <a:r>
                <a:rPr lang="en-US" altLang="ko-KR" sz="1000" b="1" dirty="0" err="1"/>
                <a:t>https.key</a:t>
              </a:r>
              <a:r>
                <a:rPr lang="en-US" altLang="ko-KR" sz="1000" b="1" dirty="0"/>
                <a:t> -out </a:t>
              </a:r>
              <a:r>
                <a:rPr lang="en-US" altLang="ko-KR" sz="1000" b="1" dirty="0" err="1"/>
                <a:t>https.cert</a:t>
              </a:r>
              <a:r>
                <a:rPr lang="en-US" altLang="ko-KR" sz="1000" b="1" dirty="0"/>
                <a:t> -days 3650 -subj /CN=www.kubia-example.com</a:t>
              </a:r>
            </a:p>
          </p:txBody>
        </p:sp>
        <p:sp>
          <p:nvSpPr>
            <p:cNvPr id="11" name="화살표: 아래쪽 10">
              <a:extLst>
                <a:ext uri="{FF2B5EF4-FFF2-40B4-BE49-F238E27FC236}">
                  <a16:creationId xmlns:a16="http://schemas.microsoft.com/office/drawing/2014/main" id="{BC41FF43-3D5C-F684-AC69-48F195FB6243}"/>
                </a:ext>
              </a:extLst>
            </p:cNvPr>
            <p:cNvSpPr/>
            <p:nvPr/>
          </p:nvSpPr>
          <p:spPr>
            <a:xfrm>
              <a:off x="5873469" y="2531942"/>
              <a:ext cx="445062" cy="26703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TextBox 12">
            <a:extLst>
              <a:ext uri="{FF2B5EF4-FFF2-40B4-BE49-F238E27FC236}">
                <a16:creationId xmlns:a16="http://schemas.microsoft.com/office/drawing/2014/main" id="{BAFE451D-013A-CF30-49F0-3C93EA9C6B87}"/>
              </a:ext>
            </a:extLst>
          </p:cNvPr>
          <p:cNvSpPr txBox="1"/>
          <p:nvPr/>
        </p:nvSpPr>
        <p:spPr>
          <a:xfrm>
            <a:off x="2770174" y="5158018"/>
            <a:ext cx="6651652" cy="246221"/>
          </a:xfrm>
          <a:prstGeom prst="rect">
            <a:avLst/>
          </a:prstGeom>
          <a:noFill/>
          <a:ln>
            <a:solidFill>
              <a:schemeClr val="bg1">
                <a:lumMod val="50000"/>
              </a:schemeClr>
            </a:solidFill>
          </a:ln>
        </p:spPr>
        <p:txBody>
          <a:bodyPr wrap="square">
            <a:spAutoFit/>
          </a:bodyPr>
          <a:lstStyle/>
          <a:p>
            <a:r>
              <a:rPr lang="en-US" altLang="ko-KR" sz="1000" b="1" dirty="0"/>
              <a:t>$ echo bar &gt; foo</a:t>
            </a:r>
          </a:p>
        </p:txBody>
      </p:sp>
    </p:spTree>
    <p:extLst>
      <p:ext uri="{BB962C8B-B14F-4D97-AF65-F5344CB8AC3E}">
        <p14:creationId xmlns:p14="http://schemas.microsoft.com/office/powerpoint/2010/main" val="234947900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Secret :</a:t>
            </a:r>
          </a:p>
          <a:p>
            <a:pPr lvl="1">
              <a:buFont typeface="Wingdings" panose="05000000000000000000" pitchFamily="2" charset="2"/>
              <a:buChar char="§"/>
            </a:pPr>
            <a:r>
              <a:rPr lang="en-US" altLang="ko-KR" sz="1400" dirty="0"/>
              <a:t>Now you can </a:t>
            </a:r>
            <a:r>
              <a:rPr lang="en-US" altLang="ko-KR" sz="1400" b="1" dirty="0"/>
              <a:t>use “$ </a:t>
            </a:r>
            <a:r>
              <a:rPr lang="en-US" altLang="ko-KR" sz="1400" b="1" dirty="0" err="1"/>
              <a:t>kubectl</a:t>
            </a:r>
            <a:r>
              <a:rPr lang="en-US" altLang="ko-KR" sz="1400" b="1" dirty="0"/>
              <a:t> create secret” command to </a:t>
            </a:r>
            <a:r>
              <a:rPr lang="en-US" altLang="ko-KR" sz="1400" b="1" dirty="0">
                <a:solidFill>
                  <a:srgbClr val="FF0000"/>
                </a:solidFill>
              </a:rPr>
              <a:t>create a Secret </a:t>
            </a:r>
            <a:r>
              <a:rPr lang="en-US" altLang="ko-KR" sz="1400" b="1" dirty="0"/>
              <a:t>from the three files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isn’t very different from creating </a:t>
            </a:r>
            <a:r>
              <a:rPr lang="en-US" altLang="ko-KR" sz="1400" dirty="0" err="1"/>
              <a:t>ConfigMaps</a:t>
            </a:r>
            <a:r>
              <a:rPr lang="en-US" altLang="ko-KR" sz="1400" dirty="0"/>
              <a:t>. In this case, we are creating a generic Secret called “</a:t>
            </a:r>
            <a:r>
              <a:rPr lang="en-US" altLang="ko-KR" sz="1400" b="1" dirty="0"/>
              <a:t>fortune-https</a:t>
            </a:r>
            <a:r>
              <a:rPr lang="en-US" altLang="ko-KR" sz="1400" dirty="0"/>
              <a:t>” and including two entries in it (“</a:t>
            </a:r>
            <a:r>
              <a:rPr lang="en-US" altLang="ko-KR" sz="1400" b="1" dirty="0" err="1"/>
              <a:t>https.key</a:t>
            </a:r>
            <a:r>
              <a:rPr lang="en-US" altLang="ko-KR" sz="1400" dirty="0"/>
              <a:t>” with the contents of the “</a:t>
            </a:r>
            <a:r>
              <a:rPr lang="en-US" altLang="ko-KR" sz="1400" b="1" dirty="0" err="1"/>
              <a:t>https.key</a:t>
            </a:r>
            <a:r>
              <a:rPr lang="en-US" altLang="ko-KR" sz="1400" dirty="0"/>
              <a:t>” file and likewise for the “</a:t>
            </a:r>
            <a:r>
              <a:rPr lang="en-US" altLang="ko-KR" sz="1400" b="1" dirty="0" err="1"/>
              <a:t>https.cert</a:t>
            </a:r>
            <a:r>
              <a:rPr lang="en-US" altLang="ko-KR" sz="1400" dirty="0"/>
              <a:t>” key/file). As you learned earlier, </a:t>
            </a:r>
            <a:r>
              <a:rPr lang="en-US" altLang="ko-KR" sz="1400" b="1" dirty="0"/>
              <a:t>you could also include the whole directory with “--from-file=fortune-https” instead of specifying each file individually</a:t>
            </a:r>
            <a:r>
              <a:rPr lang="en-US" altLang="ko-KR" sz="1400" dirty="0"/>
              <a:t>.</a:t>
            </a:r>
          </a:p>
          <a:p>
            <a:pPr lvl="1">
              <a:buFont typeface="Wingdings" panose="05000000000000000000" pitchFamily="2" charset="2"/>
              <a:buChar char="§"/>
            </a:pPr>
            <a:r>
              <a:rPr lang="en-US" altLang="ko-KR" sz="1400" b="1" dirty="0"/>
              <a:t>NOTE : You’re creating a generic Secret, but you could also have created a “TLS” Secret with the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create secret </a:t>
            </a:r>
            <a:r>
              <a:rPr lang="en-US" altLang="ko-KR" sz="1400" b="1" dirty="0" err="1">
                <a:solidFill>
                  <a:srgbClr val="FF0000"/>
                </a:solidFill>
              </a:rPr>
              <a:t>tls</a:t>
            </a:r>
            <a:r>
              <a:rPr lang="en-US" altLang="ko-KR" sz="1400" b="1" dirty="0"/>
              <a:t>” command</a:t>
            </a:r>
            <a:r>
              <a:rPr lang="en-US" altLang="ko-KR" sz="1400" dirty="0"/>
              <a:t>. This would create the Secret with different entry names, though.</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89952EF-0043-88E2-D93C-496987516D14}"/>
              </a:ext>
            </a:extLst>
          </p:cNvPr>
          <p:cNvGrpSpPr/>
          <p:nvPr/>
        </p:nvGrpSpPr>
        <p:grpSpPr>
          <a:xfrm>
            <a:off x="1232640" y="1699844"/>
            <a:ext cx="9726720" cy="2666397"/>
            <a:chOff x="1232640" y="1570371"/>
            <a:chExt cx="9726720" cy="2666397"/>
          </a:xfrm>
        </p:grpSpPr>
        <p:sp>
          <p:nvSpPr>
            <p:cNvPr id="8" name="TextBox 7">
              <a:extLst>
                <a:ext uri="{FF2B5EF4-FFF2-40B4-BE49-F238E27FC236}">
                  <a16:creationId xmlns:a16="http://schemas.microsoft.com/office/drawing/2014/main" id="{858D11D5-793A-C2A0-D881-CA4FEAEFB608}"/>
                </a:ext>
              </a:extLst>
            </p:cNvPr>
            <p:cNvSpPr txBox="1"/>
            <p:nvPr/>
          </p:nvSpPr>
          <p:spPr>
            <a:xfrm>
              <a:off x="2732747" y="1570371"/>
              <a:ext cx="6726505"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secret </a:t>
              </a:r>
              <a:r>
                <a:rPr lang="en-US" altLang="ko-KR" sz="1000" b="1" dirty="0">
                  <a:solidFill>
                    <a:srgbClr val="FF0000"/>
                  </a:solidFill>
                </a:rPr>
                <a:t>generic fortune-https --from-file=</a:t>
              </a:r>
              <a:r>
                <a:rPr lang="en-US" altLang="ko-KR" sz="1000" b="1" dirty="0" err="1">
                  <a:solidFill>
                    <a:srgbClr val="FF0000"/>
                  </a:solidFill>
                </a:rPr>
                <a:t>https.key</a:t>
              </a:r>
              <a:r>
                <a:rPr lang="en-US" altLang="ko-KR" sz="1000" b="1" dirty="0">
                  <a:solidFill>
                    <a:srgbClr val="FF0000"/>
                  </a:solidFill>
                </a:rPr>
                <a:t> --from-file=</a:t>
              </a:r>
              <a:r>
                <a:rPr lang="en-US" altLang="ko-KR" sz="1000" b="1" dirty="0" err="1">
                  <a:solidFill>
                    <a:srgbClr val="FF0000"/>
                  </a:solidFill>
                </a:rPr>
                <a:t>https.cert</a:t>
              </a:r>
              <a:r>
                <a:rPr lang="en-US" altLang="ko-KR" sz="1000" b="1" dirty="0">
                  <a:solidFill>
                    <a:srgbClr val="FF0000"/>
                  </a:solidFill>
                </a:rPr>
                <a:t> --from-file=foo</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3CE854BB-DF3E-68A7-5AE0-4E12B29CB251}"/>
                </a:ext>
              </a:extLst>
            </p:cNvPr>
            <p:cNvSpPr/>
            <p:nvPr/>
          </p:nvSpPr>
          <p:spPr>
            <a:xfrm>
              <a:off x="5877514" y="1809036"/>
              <a:ext cx="436970" cy="283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4397965-279A-0965-39B5-E0F77EFA6292}"/>
                </a:ext>
              </a:extLst>
            </p:cNvPr>
            <p:cNvPicPr>
              <a:picLocks noChangeAspect="1"/>
            </p:cNvPicPr>
            <p:nvPr/>
          </p:nvPicPr>
          <p:blipFill>
            <a:blip r:embed="rId2"/>
            <a:stretch>
              <a:fillRect/>
            </a:stretch>
          </p:blipFill>
          <p:spPr>
            <a:xfrm>
              <a:off x="1232640" y="2096890"/>
              <a:ext cx="9726720" cy="2139878"/>
            </a:xfrm>
            <a:prstGeom prst="rect">
              <a:avLst/>
            </a:prstGeom>
          </p:spPr>
        </p:pic>
      </p:grpSp>
    </p:spTree>
    <p:extLst>
      <p:ext uri="{BB962C8B-B14F-4D97-AF65-F5344CB8AC3E}">
        <p14:creationId xmlns:p14="http://schemas.microsoft.com/office/powerpoint/2010/main" val="5789107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a:t>
            </a:r>
            <a:r>
              <a:rPr lang="en-US" altLang="ko-KR" sz="1800" b="1" dirty="0" err="1"/>
              <a:t>ConfigMaps</a:t>
            </a:r>
            <a:r>
              <a:rPr lang="en-US" altLang="ko-KR" sz="1800" b="1" dirty="0"/>
              <a:t> and Secrets :</a:t>
            </a:r>
          </a:p>
          <a:p>
            <a:pPr lvl="1">
              <a:buFont typeface="Wingdings" panose="05000000000000000000" pitchFamily="2" charset="2"/>
              <a:buChar char="§"/>
            </a:pPr>
            <a:r>
              <a:rPr lang="en-US" altLang="ko-KR" sz="1400" b="1" dirty="0"/>
              <a:t>Secrets and </a:t>
            </a:r>
            <a:r>
              <a:rPr lang="en-US" altLang="ko-KR" sz="1400" b="1" dirty="0" err="1"/>
              <a:t>ConfigMaps</a:t>
            </a:r>
            <a:r>
              <a:rPr lang="en-US" altLang="ko-KR" sz="1400" b="1" dirty="0"/>
              <a:t> have a pretty big difference</a:t>
            </a:r>
            <a:r>
              <a:rPr lang="en-US" altLang="ko-KR" sz="1400" dirty="0"/>
              <a:t>. This is what drove Kubernetes developers to create </a:t>
            </a:r>
            <a:r>
              <a:rPr lang="en-US" altLang="ko-KR" sz="1400" dirty="0" err="1"/>
              <a:t>ConfigMaps</a:t>
            </a:r>
            <a:r>
              <a:rPr lang="en-US" altLang="ko-KR" sz="1400" dirty="0"/>
              <a:t> after Kubernetes had already supported Secrets for a while. The following listing shows the </a:t>
            </a:r>
            <a:r>
              <a:rPr lang="en-US" altLang="ko-KR" sz="1400" b="1" dirty="0"/>
              <a:t>YAML of the Secret</a:t>
            </a:r>
            <a:r>
              <a:rPr lang="en-US" altLang="ko-KR" sz="1400" dirty="0"/>
              <a:t> you created.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5BA2CB5D-9893-B866-DAC5-DBF8B3CA2215}"/>
              </a:ext>
            </a:extLst>
          </p:cNvPr>
          <p:cNvGrpSpPr/>
          <p:nvPr/>
        </p:nvGrpSpPr>
        <p:grpSpPr>
          <a:xfrm>
            <a:off x="1575017" y="1846435"/>
            <a:ext cx="9041966" cy="4538447"/>
            <a:chOff x="1575017" y="1846435"/>
            <a:chExt cx="9041966" cy="4538447"/>
          </a:xfrm>
        </p:grpSpPr>
        <p:grpSp>
          <p:nvGrpSpPr>
            <p:cNvPr id="17" name="그룹 16">
              <a:extLst>
                <a:ext uri="{FF2B5EF4-FFF2-40B4-BE49-F238E27FC236}">
                  <a16:creationId xmlns:a16="http://schemas.microsoft.com/office/drawing/2014/main" id="{7F29C158-D534-25F6-B862-611176CCC19A}"/>
                </a:ext>
              </a:extLst>
            </p:cNvPr>
            <p:cNvGrpSpPr/>
            <p:nvPr/>
          </p:nvGrpSpPr>
          <p:grpSpPr>
            <a:xfrm>
              <a:off x="1575017" y="1846435"/>
              <a:ext cx="9041966" cy="4538447"/>
              <a:chOff x="1575017" y="1846435"/>
              <a:chExt cx="9041966" cy="4538447"/>
            </a:xfrm>
          </p:grpSpPr>
          <p:grpSp>
            <p:nvGrpSpPr>
              <p:cNvPr id="15" name="그룹 14">
                <a:extLst>
                  <a:ext uri="{FF2B5EF4-FFF2-40B4-BE49-F238E27FC236}">
                    <a16:creationId xmlns:a16="http://schemas.microsoft.com/office/drawing/2014/main" id="{11A1EBEC-E117-674D-2AAC-725098CB01AA}"/>
                  </a:ext>
                </a:extLst>
              </p:cNvPr>
              <p:cNvGrpSpPr/>
              <p:nvPr/>
            </p:nvGrpSpPr>
            <p:grpSpPr>
              <a:xfrm>
                <a:off x="1575017" y="1846435"/>
                <a:ext cx="9041966" cy="4538447"/>
                <a:chOff x="1575017" y="1846435"/>
                <a:chExt cx="9041966" cy="4538447"/>
              </a:xfrm>
            </p:grpSpPr>
            <p:grpSp>
              <p:nvGrpSpPr>
                <p:cNvPr id="12" name="그룹 11">
                  <a:extLst>
                    <a:ext uri="{FF2B5EF4-FFF2-40B4-BE49-F238E27FC236}">
                      <a16:creationId xmlns:a16="http://schemas.microsoft.com/office/drawing/2014/main" id="{1DB022AB-B13C-BE0B-426C-4FC609A9DB65}"/>
                    </a:ext>
                  </a:extLst>
                </p:cNvPr>
                <p:cNvGrpSpPr/>
                <p:nvPr/>
              </p:nvGrpSpPr>
              <p:grpSpPr>
                <a:xfrm>
                  <a:off x="3047326" y="1846435"/>
                  <a:ext cx="6097348" cy="527991"/>
                  <a:chOff x="3047326" y="1846435"/>
                  <a:chExt cx="6097348" cy="527991"/>
                </a:xfrm>
              </p:grpSpPr>
              <p:sp>
                <p:nvSpPr>
                  <p:cNvPr id="8" name="TextBox 7">
                    <a:extLst>
                      <a:ext uri="{FF2B5EF4-FFF2-40B4-BE49-F238E27FC236}">
                        <a16:creationId xmlns:a16="http://schemas.microsoft.com/office/drawing/2014/main" id="{FCF608EE-B487-C261-7549-4D0B2E01383B}"/>
                      </a:ext>
                    </a:extLst>
                  </p:cNvPr>
                  <p:cNvSpPr txBox="1"/>
                  <p:nvPr/>
                </p:nvSpPr>
                <p:spPr>
                  <a:xfrm>
                    <a:off x="3047326" y="184643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secret </a:t>
                    </a:r>
                    <a:r>
                      <a:rPr lang="en-US" altLang="ko-KR" sz="1000" b="1" dirty="0">
                        <a:solidFill>
                          <a:srgbClr val="FF0000"/>
                        </a:solidFill>
                      </a:rPr>
                      <a:t>fortune-https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6FFAD4B-4045-7FD3-1272-4C0342729DE2}"/>
                      </a:ext>
                    </a:extLst>
                  </p:cNvPr>
                  <p:cNvSpPr/>
                  <p:nvPr/>
                </p:nvSpPr>
                <p:spPr>
                  <a:xfrm>
                    <a:off x="5877515" y="2099296"/>
                    <a:ext cx="436970" cy="27513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723D0845-73BC-7EEA-FE1B-546913BD91F9}"/>
                    </a:ext>
                  </a:extLst>
                </p:cNvPr>
                <p:cNvPicPr>
                  <a:picLocks noChangeAspect="1"/>
                </p:cNvPicPr>
                <p:nvPr/>
              </p:nvPicPr>
              <p:blipFill>
                <a:blip r:embed="rId2"/>
                <a:stretch>
                  <a:fillRect/>
                </a:stretch>
              </p:blipFill>
              <p:spPr>
                <a:xfrm>
                  <a:off x="1575017" y="2377582"/>
                  <a:ext cx="9041966" cy="4007300"/>
                </a:xfrm>
                <a:prstGeom prst="rect">
                  <a:avLst/>
                </a:prstGeom>
              </p:spPr>
            </p:pic>
          </p:grpSp>
          <p:sp>
            <p:nvSpPr>
              <p:cNvPr id="16" name="직사각형 15">
                <a:extLst>
                  <a:ext uri="{FF2B5EF4-FFF2-40B4-BE49-F238E27FC236}">
                    <a16:creationId xmlns:a16="http://schemas.microsoft.com/office/drawing/2014/main" id="{58A8766A-7E87-EE55-0C71-99D6BCA2D147}"/>
                  </a:ext>
                </a:extLst>
              </p:cNvPr>
              <p:cNvSpPr/>
              <p:nvPr/>
            </p:nvSpPr>
            <p:spPr>
              <a:xfrm>
                <a:off x="4434435" y="2937409"/>
                <a:ext cx="2014917" cy="203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8" name="직사각형 17">
              <a:extLst>
                <a:ext uri="{FF2B5EF4-FFF2-40B4-BE49-F238E27FC236}">
                  <a16:creationId xmlns:a16="http://schemas.microsoft.com/office/drawing/2014/main" id="{DB7B63B5-B36E-59B5-9528-80AF0F3F2229}"/>
                </a:ext>
              </a:extLst>
            </p:cNvPr>
            <p:cNvSpPr/>
            <p:nvPr/>
          </p:nvSpPr>
          <p:spPr>
            <a:xfrm>
              <a:off x="1623569" y="3285366"/>
              <a:ext cx="8944629" cy="21282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067884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a:t>
            </a:r>
            <a:r>
              <a:rPr lang="en-US" altLang="ko-KR" sz="1800" b="1" dirty="0" err="1"/>
              <a:t>ConfigMaps</a:t>
            </a:r>
            <a:r>
              <a:rPr lang="en-US" altLang="ko-KR" sz="1800" b="1" dirty="0"/>
              <a:t> and Secrets :</a:t>
            </a:r>
          </a:p>
          <a:p>
            <a:pPr lvl="1">
              <a:buFont typeface="Wingdings" panose="05000000000000000000" pitchFamily="2" charset="2"/>
              <a:buChar char="§"/>
            </a:pPr>
            <a:r>
              <a:rPr lang="en-US" altLang="ko-KR" sz="1400" dirty="0"/>
              <a:t>Now compare this to the </a:t>
            </a:r>
            <a:r>
              <a:rPr lang="en-US" altLang="ko-KR" sz="1400" b="1" dirty="0"/>
              <a:t>YAML of the </a:t>
            </a:r>
            <a:r>
              <a:rPr lang="en-US" altLang="ko-KR" sz="1400" b="1" dirty="0" err="1"/>
              <a:t>ConfigMap</a:t>
            </a:r>
            <a:r>
              <a:rPr lang="en-US" altLang="ko-KR" sz="1400" b="1" dirty="0"/>
              <a:t> </a:t>
            </a:r>
            <a:r>
              <a:rPr lang="en-US" altLang="ko-KR" sz="1400" dirty="0"/>
              <a:t>you created earlier, which is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D5C66CA7-4EF0-B0ED-01DD-05A489D09158}"/>
              </a:ext>
            </a:extLst>
          </p:cNvPr>
          <p:cNvGrpSpPr/>
          <p:nvPr/>
        </p:nvGrpSpPr>
        <p:grpSpPr>
          <a:xfrm>
            <a:off x="1884117" y="1563215"/>
            <a:ext cx="8423766" cy="4584368"/>
            <a:chOff x="1884117" y="1563215"/>
            <a:chExt cx="8423766" cy="4584368"/>
          </a:xfrm>
        </p:grpSpPr>
        <p:grpSp>
          <p:nvGrpSpPr>
            <p:cNvPr id="12" name="그룹 11">
              <a:extLst>
                <a:ext uri="{FF2B5EF4-FFF2-40B4-BE49-F238E27FC236}">
                  <a16:creationId xmlns:a16="http://schemas.microsoft.com/office/drawing/2014/main" id="{ADDABE2D-ABBE-640A-AE14-138C7A605856}"/>
                </a:ext>
              </a:extLst>
            </p:cNvPr>
            <p:cNvGrpSpPr/>
            <p:nvPr/>
          </p:nvGrpSpPr>
          <p:grpSpPr>
            <a:xfrm>
              <a:off x="1884117" y="1563215"/>
              <a:ext cx="8423766" cy="4584368"/>
              <a:chOff x="1884117" y="1563215"/>
              <a:chExt cx="8423766" cy="4584368"/>
            </a:xfrm>
          </p:grpSpPr>
          <p:sp>
            <p:nvSpPr>
              <p:cNvPr id="8" name="TextBox 7">
                <a:extLst>
                  <a:ext uri="{FF2B5EF4-FFF2-40B4-BE49-F238E27FC236}">
                    <a16:creationId xmlns:a16="http://schemas.microsoft.com/office/drawing/2014/main" id="{F7B53AC7-BE7A-7A62-8EBE-EB110248DAE8}"/>
                  </a:ext>
                </a:extLst>
              </p:cNvPr>
              <p:cNvSpPr txBox="1"/>
              <p:nvPr/>
            </p:nvSpPr>
            <p:spPr>
              <a:xfrm>
                <a:off x="3047326" y="156321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t>configmap</a:t>
                </a:r>
                <a:r>
                  <a:rPr lang="en-US" altLang="ko-KR" sz="1000" b="1" dirty="0"/>
                  <a:t> </a:t>
                </a:r>
                <a:r>
                  <a:rPr lang="en-US" altLang="ko-KR" sz="1000" b="1" dirty="0">
                    <a:solidFill>
                      <a:srgbClr val="FF0000"/>
                    </a:solidFill>
                  </a:rPr>
                  <a:t>fortune-config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ADFEA97F-9783-1CE7-FBE6-A74504E79429}"/>
                  </a:ext>
                </a:extLst>
              </p:cNvPr>
              <p:cNvSpPr/>
              <p:nvPr/>
            </p:nvSpPr>
            <p:spPr>
              <a:xfrm>
                <a:off x="5865377" y="1820001"/>
                <a:ext cx="461246" cy="29131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0C573E2-B02E-E6BA-8888-1B594A508396}"/>
                  </a:ext>
                </a:extLst>
              </p:cNvPr>
              <p:cNvPicPr>
                <a:picLocks noChangeAspect="1"/>
              </p:cNvPicPr>
              <p:nvPr/>
            </p:nvPicPr>
            <p:blipFill>
              <a:blip r:embed="rId2"/>
              <a:stretch>
                <a:fillRect/>
              </a:stretch>
            </p:blipFill>
            <p:spPr>
              <a:xfrm>
                <a:off x="1884117" y="2121880"/>
                <a:ext cx="8423766" cy="4025703"/>
              </a:xfrm>
              <a:prstGeom prst="rect">
                <a:avLst/>
              </a:prstGeom>
            </p:spPr>
          </p:pic>
        </p:grpSp>
        <p:sp>
          <p:nvSpPr>
            <p:cNvPr id="13" name="직사각형 12">
              <a:extLst>
                <a:ext uri="{FF2B5EF4-FFF2-40B4-BE49-F238E27FC236}">
                  <a16:creationId xmlns:a16="http://schemas.microsoft.com/office/drawing/2014/main" id="{3927E97A-79C0-6721-D494-5DCFDF476DBD}"/>
                </a:ext>
              </a:extLst>
            </p:cNvPr>
            <p:cNvSpPr/>
            <p:nvPr/>
          </p:nvSpPr>
          <p:spPr>
            <a:xfrm>
              <a:off x="1982549" y="3358195"/>
              <a:ext cx="2937409" cy="16750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620892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a:t>
            </a:r>
            <a:r>
              <a:rPr lang="en-US" altLang="ko-KR" sz="1800" b="1" dirty="0" err="1"/>
              <a:t>ConfigMaps</a:t>
            </a:r>
            <a:r>
              <a:rPr lang="en-US" altLang="ko-KR" sz="1800" b="1" dirty="0"/>
              <a:t> and Secrets :</a:t>
            </a:r>
          </a:p>
          <a:p>
            <a:pPr lvl="1">
              <a:buFont typeface="Wingdings" panose="05000000000000000000" pitchFamily="2" charset="2"/>
              <a:buChar char="§"/>
            </a:pPr>
            <a:r>
              <a:rPr lang="en-US" altLang="ko-KR" sz="1400" b="1" dirty="0"/>
              <a:t>The contents of a Secret’s entries are shown as “Base64-encoded” strings, whereas those of a </a:t>
            </a:r>
            <a:r>
              <a:rPr lang="en-US" altLang="ko-KR" sz="1400" b="1" dirty="0" err="1"/>
              <a:t>ConfigMap</a:t>
            </a:r>
            <a:r>
              <a:rPr lang="en-US" altLang="ko-KR" sz="1400" b="1" dirty="0"/>
              <a:t> are shown in clear text</a:t>
            </a:r>
            <a:r>
              <a:rPr lang="en-US" altLang="ko-KR" sz="1400" dirty="0"/>
              <a:t>. This initially made working with Secrets in YAML and JSON manifests a bit more painful, because you had to encode and decode them when setting and reading their entries.</a:t>
            </a:r>
          </a:p>
          <a:p>
            <a:pPr lvl="1">
              <a:buFont typeface="Wingdings" panose="05000000000000000000" pitchFamily="2" charset="2"/>
              <a:buChar char="§"/>
            </a:pPr>
            <a:r>
              <a:rPr lang="en-US" altLang="ko-KR" sz="1400" dirty="0"/>
              <a:t>The reason for using Base64 encoding is simple. </a:t>
            </a:r>
            <a:r>
              <a:rPr lang="en-US" altLang="ko-KR" sz="1400" b="1" dirty="0"/>
              <a:t>A Secret’s entries can contain binary values, not only plain-text. Base64 encoding allows you to include the binary data in YAML or JSON, which are both plain-text formats</a:t>
            </a:r>
            <a:r>
              <a:rPr lang="en-US" altLang="ko-KR" sz="1400" dirty="0"/>
              <a:t>.</a:t>
            </a:r>
          </a:p>
          <a:p>
            <a:pPr lvl="1">
              <a:buFont typeface="Wingdings" panose="05000000000000000000" pitchFamily="2" charset="2"/>
              <a:buChar char="§"/>
            </a:pPr>
            <a:r>
              <a:rPr lang="en-US" altLang="ko-KR" sz="1400" b="1" dirty="0"/>
              <a:t>NOTE : You can use Secrets even for non-sensitive binary data, but be aware that </a:t>
            </a:r>
            <a:r>
              <a:rPr lang="en-US" altLang="ko-KR" sz="1400" b="1" dirty="0">
                <a:solidFill>
                  <a:srgbClr val="FF0000"/>
                </a:solidFill>
              </a:rPr>
              <a:t>the maximum size of a Secret is limited to 1MB</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06CD7711-DFBD-F07F-265A-C1D820387468}"/>
              </a:ext>
            </a:extLst>
          </p:cNvPr>
          <p:cNvPicPr>
            <a:picLocks noChangeAspect="1"/>
          </p:cNvPicPr>
          <p:nvPr/>
        </p:nvPicPr>
        <p:blipFill>
          <a:blip r:embed="rId2"/>
          <a:stretch>
            <a:fillRect/>
          </a:stretch>
        </p:blipFill>
        <p:spPr>
          <a:xfrm>
            <a:off x="4149297" y="2959661"/>
            <a:ext cx="3893405" cy="2654594"/>
          </a:xfrm>
          <a:prstGeom prst="rect">
            <a:avLst/>
          </a:prstGeom>
        </p:spPr>
      </p:pic>
    </p:spTree>
    <p:extLst>
      <p:ext uri="{BB962C8B-B14F-4D97-AF65-F5344CB8AC3E}">
        <p14:creationId xmlns:p14="http://schemas.microsoft.com/office/powerpoint/2010/main" val="19137201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Comparing </a:t>
            </a:r>
            <a:r>
              <a:rPr lang="en-US" altLang="ko-KR" sz="1800" b="1" dirty="0" err="1"/>
              <a:t>ConfigMaps</a:t>
            </a:r>
            <a:r>
              <a:rPr lang="en-US" altLang="ko-KR" sz="1800" b="1" dirty="0"/>
              <a:t> and Secrets :</a:t>
            </a:r>
          </a:p>
          <a:p>
            <a:pPr lvl="1">
              <a:buFont typeface="Wingdings" panose="05000000000000000000" pitchFamily="2" charset="2"/>
              <a:buChar char="§"/>
            </a:pPr>
            <a:r>
              <a:rPr lang="en-US" altLang="ko-KR" sz="1400" b="1" dirty="0"/>
              <a:t>Because not all sensitive data is in binary form, Kubernetes also allows setting a Secret’s values through the “</a:t>
            </a:r>
            <a:r>
              <a:rPr lang="en-US" altLang="ko-KR" sz="1400" b="1" dirty="0" err="1">
                <a:solidFill>
                  <a:srgbClr val="FF0000"/>
                </a:solidFill>
              </a:rPr>
              <a:t>stringData</a:t>
            </a:r>
            <a:r>
              <a:rPr lang="en-US" altLang="ko-KR" sz="1400" b="1" dirty="0"/>
              <a:t>” field</a:t>
            </a:r>
            <a:r>
              <a:rPr lang="en-US" altLang="ko-KR" sz="1400" dirty="0"/>
              <a:t>. The following listing shows how it’s used.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t>
            </a:r>
            <a:r>
              <a:rPr lang="en-US" altLang="ko-KR" sz="1400" b="1" dirty="0" err="1"/>
              <a:t>stringData</a:t>
            </a:r>
            <a:r>
              <a:rPr lang="en-US" altLang="ko-KR" sz="1400" b="1" dirty="0"/>
              <a:t> field is “</a:t>
            </a:r>
            <a:r>
              <a:rPr lang="en-US" altLang="ko-KR" sz="1400" b="1" dirty="0">
                <a:solidFill>
                  <a:srgbClr val="FF0000"/>
                </a:solidFill>
              </a:rPr>
              <a:t>write-only</a:t>
            </a:r>
            <a:r>
              <a:rPr lang="en-US" altLang="ko-KR" sz="1400" b="1" dirty="0"/>
              <a:t>” (note: write-only, not read-only)</a:t>
            </a:r>
            <a:r>
              <a:rPr lang="en-US" altLang="ko-KR" sz="1400" dirty="0"/>
              <a:t>. It can only be used to set values. </a:t>
            </a:r>
            <a:r>
              <a:rPr lang="en-US" altLang="ko-KR" sz="1400" b="1" dirty="0"/>
              <a:t>When you retrieve the Secret’s YAML with “</a:t>
            </a:r>
            <a:r>
              <a:rPr lang="en-US" altLang="ko-KR" sz="1400" b="1" dirty="0" err="1"/>
              <a:t>kubectl</a:t>
            </a:r>
            <a:r>
              <a:rPr lang="en-US" altLang="ko-KR" sz="1400" b="1" dirty="0"/>
              <a:t> get -o </a:t>
            </a:r>
            <a:r>
              <a:rPr lang="en-US" altLang="ko-KR" sz="1400" b="1" dirty="0" err="1"/>
              <a:t>yaml</a:t>
            </a:r>
            <a:r>
              <a:rPr lang="en-US" altLang="ko-KR" sz="1400" b="1" dirty="0"/>
              <a:t>”, the </a:t>
            </a:r>
            <a:r>
              <a:rPr lang="en-US" altLang="ko-KR" sz="1400" b="1" dirty="0" err="1"/>
              <a:t>stringData</a:t>
            </a:r>
            <a:r>
              <a:rPr lang="en-US" altLang="ko-KR" sz="1400" b="1" dirty="0"/>
              <a:t> field will not be shown</a:t>
            </a:r>
            <a:r>
              <a:rPr lang="en-US" altLang="ko-KR" sz="1400" dirty="0"/>
              <a:t>. </a:t>
            </a:r>
            <a:r>
              <a:rPr lang="en-US" altLang="ko-KR" sz="1400" b="1" dirty="0"/>
              <a:t>Instead, all entries you specified in the “</a:t>
            </a:r>
            <a:r>
              <a:rPr lang="en-US" altLang="ko-KR" sz="1400" b="1" dirty="0" err="1"/>
              <a:t>stringData</a:t>
            </a:r>
            <a:r>
              <a:rPr lang="en-US" altLang="ko-KR" sz="1400" b="1" dirty="0"/>
              <a:t>” field (such as the “foo” entry in the above example) will be shown under data and </a:t>
            </a:r>
            <a:r>
              <a:rPr lang="en-US" altLang="ko-KR" sz="1400" b="1" dirty="0">
                <a:solidFill>
                  <a:srgbClr val="FF0000"/>
                </a:solidFill>
              </a:rPr>
              <a:t>will be Base64-encoded like all the other entries</a:t>
            </a:r>
            <a:r>
              <a:rPr lang="en-US" altLang="ko-KR" sz="1400" dirty="0"/>
              <a:t>.</a:t>
            </a:r>
          </a:p>
          <a:p>
            <a:pPr lvl="1">
              <a:buFont typeface="Wingdings" panose="05000000000000000000" pitchFamily="2" charset="2"/>
              <a:buChar char="§"/>
            </a:pPr>
            <a:r>
              <a:rPr lang="en-US" altLang="ko-KR" sz="1400" b="1" dirty="0"/>
              <a:t>NOTE : When you expose the Secret to a container through a secret volume, the value of the Secret entry is decoded and written to the file in its actual form (regardless if it’s plain text or binary)</a:t>
            </a:r>
            <a:r>
              <a:rPr lang="en-US" altLang="ko-KR" sz="1400" dirty="0"/>
              <a:t>. </a:t>
            </a:r>
            <a:r>
              <a:rPr lang="en-US" altLang="ko-KR" sz="1400" b="1" dirty="0"/>
              <a:t>The same is also true when exposing the Secret entry through an environment variable</a:t>
            </a:r>
            <a:r>
              <a:rPr lang="en-US" altLang="ko-KR" sz="1400" dirty="0"/>
              <a:t>. In both cases, </a:t>
            </a:r>
            <a:r>
              <a:rPr lang="en-US" altLang="ko-KR" sz="1400" b="1" dirty="0"/>
              <a:t>the app doesn’t need to decode it, but can read the file’s contents or look up the environment variable value and use it directly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6171B5AE-0CA9-D52B-40A4-363BDEC502DF}"/>
              </a:ext>
            </a:extLst>
          </p:cNvPr>
          <p:cNvGrpSpPr/>
          <p:nvPr/>
        </p:nvGrpSpPr>
        <p:grpSpPr>
          <a:xfrm>
            <a:off x="3047326" y="1715645"/>
            <a:ext cx="6097348" cy="1169551"/>
            <a:chOff x="3047326" y="3188396"/>
            <a:chExt cx="6097348" cy="1169551"/>
          </a:xfrm>
        </p:grpSpPr>
        <p:sp>
          <p:nvSpPr>
            <p:cNvPr id="8" name="TextBox 7">
              <a:extLst>
                <a:ext uri="{FF2B5EF4-FFF2-40B4-BE49-F238E27FC236}">
                  <a16:creationId xmlns:a16="http://schemas.microsoft.com/office/drawing/2014/main" id="{E52A9BA7-0190-5233-BF97-0A79135EA099}"/>
                </a:ext>
              </a:extLst>
            </p:cNvPr>
            <p:cNvSpPr txBox="1"/>
            <p:nvPr/>
          </p:nvSpPr>
          <p:spPr>
            <a:xfrm>
              <a:off x="3047326" y="3188396"/>
              <a:ext cx="6097348" cy="1169551"/>
            </a:xfrm>
            <a:prstGeom prst="rect">
              <a:avLst/>
            </a:prstGeom>
            <a:noFill/>
            <a:ln>
              <a:solidFill>
                <a:schemeClr val="bg1">
                  <a:lumMod val="50000"/>
                </a:schemeClr>
              </a:solidFill>
            </a:ln>
          </p:spPr>
          <p:txBody>
            <a:bodyPr wrap="square">
              <a:spAutoFit/>
            </a:bodyPr>
            <a:lstStyle/>
            <a:p>
              <a:r>
                <a:rPr lang="en-US" altLang="ko-KR" sz="1000" b="1" dirty="0"/>
                <a:t>kind: Secret</a:t>
              </a:r>
            </a:p>
            <a:p>
              <a:r>
                <a:rPr lang="en-US" altLang="ko-KR" sz="1000" b="1" dirty="0" err="1"/>
                <a:t>apiVersion</a:t>
              </a:r>
              <a:r>
                <a:rPr lang="en-US" altLang="ko-KR" sz="1000" b="1" dirty="0"/>
                <a:t>: v1</a:t>
              </a:r>
            </a:p>
            <a:p>
              <a:r>
                <a:rPr lang="en-US" altLang="ko-KR" sz="1000" b="1" dirty="0" err="1">
                  <a:solidFill>
                    <a:srgbClr val="FF0000"/>
                  </a:solidFill>
                </a:rPr>
                <a:t>stringData</a:t>
              </a:r>
              <a:r>
                <a:rPr lang="en-US" altLang="ko-KR" sz="1000" b="1" dirty="0">
                  <a:solidFill>
                    <a:srgbClr val="FF0000"/>
                  </a:solidFill>
                </a:rPr>
                <a:t>:</a:t>
              </a:r>
            </a:p>
            <a:p>
              <a:r>
                <a:rPr lang="en-US" altLang="ko-KR" sz="1000" b="1" dirty="0">
                  <a:solidFill>
                    <a:srgbClr val="FF0000"/>
                  </a:solidFill>
                </a:rPr>
                <a:t>  foo: plain text</a:t>
              </a:r>
            </a:p>
            <a:p>
              <a:r>
                <a:rPr lang="en-US" altLang="ko-KR" sz="1000" b="1" dirty="0"/>
                <a:t>data:</a:t>
              </a:r>
            </a:p>
            <a:p>
              <a:r>
                <a:rPr lang="en-US" altLang="ko-KR" sz="1000" b="1" dirty="0"/>
                <a:t>  </a:t>
              </a:r>
              <a:r>
                <a:rPr lang="en-US" altLang="ko-KR" sz="1000" b="1" dirty="0" err="1"/>
                <a:t>https.cert</a:t>
              </a:r>
              <a:r>
                <a:rPr lang="en-US" altLang="ko-KR" sz="1000" b="1" dirty="0"/>
                <a:t>: LS0tLS1CRUdJTiBDRVJUSUZJQ0FURS0tLS0tCk1JSURCekNDQ...</a:t>
              </a:r>
            </a:p>
            <a:p>
              <a:r>
                <a:rPr lang="en-US" altLang="ko-KR" sz="1000" b="1" dirty="0"/>
                <a:t>  </a:t>
              </a:r>
              <a:r>
                <a:rPr lang="en-US" altLang="ko-KR" sz="1000" b="1" dirty="0" err="1"/>
                <a:t>https.key</a:t>
              </a:r>
              <a:r>
                <a:rPr lang="en-US" altLang="ko-KR" sz="1000" b="1" dirty="0"/>
                <a:t>: LS0tLS1CRUdJTiBSU0EgUFJJVkFURSBLRVktLS0tLQpNSUlFcE...</a:t>
              </a:r>
              <a:endParaRPr lang="ko-KR" altLang="en-US" sz="1000" b="1" dirty="0"/>
            </a:p>
          </p:txBody>
        </p:sp>
        <p:sp>
          <p:nvSpPr>
            <p:cNvPr id="9" name="TextBox 8">
              <a:extLst>
                <a:ext uri="{FF2B5EF4-FFF2-40B4-BE49-F238E27FC236}">
                  <a16:creationId xmlns:a16="http://schemas.microsoft.com/office/drawing/2014/main" id="{972D0DC1-26E9-C2A6-F0AF-97B4266A6B21}"/>
                </a:ext>
              </a:extLst>
            </p:cNvPr>
            <p:cNvSpPr txBox="1"/>
            <p:nvPr/>
          </p:nvSpPr>
          <p:spPr>
            <a:xfrm>
              <a:off x="4358237" y="3492591"/>
              <a:ext cx="4575370" cy="400110"/>
            </a:xfrm>
            <a:prstGeom prst="rect">
              <a:avLst/>
            </a:prstGeom>
            <a:noFill/>
          </p:spPr>
          <p:txBody>
            <a:bodyPr wrap="square">
              <a:spAutoFit/>
            </a:bodyPr>
            <a:lstStyle/>
            <a:p>
              <a:r>
                <a:rPr lang="en-US" altLang="ko-KR" sz="1000" b="1" dirty="0">
                  <a:sym typeface="Wingdings" panose="05000000000000000000" pitchFamily="2" charset="2"/>
                </a:rPr>
                <a:t> </a:t>
              </a:r>
              <a:r>
                <a:rPr lang="en-US" altLang="ko-KR" sz="1000" b="1" dirty="0"/>
                <a:t># The </a:t>
              </a:r>
              <a:r>
                <a:rPr lang="en-US" altLang="ko-KR" sz="1000" b="1" dirty="0" err="1">
                  <a:solidFill>
                    <a:srgbClr val="FF0000"/>
                  </a:solidFill>
                </a:rPr>
                <a:t>stringData</a:t>
              </a:r>
              <a:r>
                <a:rPr lang="en-US" altLang="ko-KR" sz="1000" b="1" dirty="0"/>
                <a:t> can be used for non-binary Secret data.</a:t>
              </a:r>
            </a:p>
            <a:p>
              <a:r>
                <a:rPr lang="en-US" altLang="ko-KR" sz="1000" b="1" dirty="0">
                  <a:sym typeface="Wingdings" panose="05000000000000000000" pitchFamily="2" charset="2"/>
                </a:rPr>
                <a:t> </a:t>
              </a:r>
              <a:r>
                <a:rPr lang="en-US" altLang="ko-KR" sz="1000" b="1" dirty="0"/>
                <a:t># See, “</a:t>
              </a:r>
              <a:r>
                <a:rPr lang="en-US" altLang="ko-KR" sz="1000" b="1" dirty="0">
                  <a:solidFill>
                    <a:srgbClr val="FF0000"/>
                  </a:solidFill>
                </a:rPr>
                <a:t>plain text</a:t>
              </a:r>
              <a:r>
                <a:rPr lang="en-US" altLang="ko-KR" sz="1000" b="1" dirty="0"/>
                <a:t>” is not Base64-encoded.</a:t>
              </a:r>
              <a:endParaRPr lang="ko-KR" altLang="en-US" sz="1000" b="1" dirty="0"/>
            </a:p>
          </p:txBody>
        </p:sp>
      </p:grpSp>
      <p:pic>
        <p:nvPicPr>
          <p:cNvPr id="10" name="그림 9">
            <a:extLst>
              <a:ext uri="{FF2B5EF4-FFF2-40B4-BE49-F238E27FC236}">
                <a16:creationId xmlns:a16="http://schemas.microsoft.com/office/drawing/2014/main" id="{48B57FA3-CA58-DB0C-C326-2EC62014E740}"/>
              </a:ext>
            </a:extLst>
          </p:cNvPr>
          <p:cNvPicPr>
            <a:picLocks noChangeAspect="1"/>
          </p:cNvPicPr>
          <p:nvPr/>
        </p:nvPicPr>
        <p:blipFill>
          <a:blip r:embed="rId2"/>
          <a:stretch>
            <a:fillRect/>
          </a:stretch>
        </p:blipFill>
        <p:spPr>
          <a:xfrm>
            <a:off x="7966061" y="4889559"/>
            <a:ext cx="3387739" cy="1519471"/>
          </a:xfrm>
          <a:prstGeom prst="rect">
            <a:avLst/>
          </a:prstGeom>
        </p:spPr>
      </p:pic>
    </p:spTree>
    <p:extLst>
      <p:ext uri="{BB962C8B-B14F-4D97-AF65-F5344CB8AC3E}">
        <p14:creationId xmlns:p14="http://schemas.microsoft.com/office/powerpoint/2010/main" val="37683182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dirty="0"/>
              <a:t>With our “</a:t>
            </a:r>
            <a:r>
              <a:rPr lang="en-US" altLang="ko-KR" sz="1400" b="1" dirty="0"/>
              <a:t>fortune-https</a:t>
            </a:r>
            <a:r>
              <a:rPr lang="en-US" altLang="ko-KR" sz="1400" dirty="0"/>
              <a:t>” Secret containing both the cert and key files, all we need to do now is </a:t>
            </a:r>
            <a:r>
              <a:rPr lang="en-US" altLang="ko-KR" sz="1400" b="1" dirty="0"/>
              <a:t>configure Nginx to use them</a:t>
            </a:r>
            <a:r>
              <a:rPr lang="en-US" altLang="ko-KR" sz="1400" dirty="0"/>
              <a:t>. For this, you need to </a:t>
            </a:r>
            <a:r>
              <a:rPr lang="en-US" altLang="ko-KR" sz="1400" b="1" dirty="0"/>
              <a:t>modify the config file</a:t>
            </a:r>
            <a:r>
              <a:rPr lang="en-US" altLang="ko-KR" sz="1400" dirty="0"/>
              <a:t> again by editing the </a:t>
            </a:r>
            <a:r>
              <a:rPr lang="en-US" altLang="ko-KR" sz="1400" b="1" dirty="0" err="1"/>
              <a:t>ConfigMap</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D2F95A0A-E0A1-0140-C66D-FC70F1FD50FE}"/>
              </a:ext>
            </a:extLst>
          </p:cNvPr>
          <p:cNvGrpSpPr/>
          <p:nvPr/>
        </p:nvGrpSpPr>
        <p:grpSpPr>
          <a:xfrm>
            <a:off x="1737573" y="1700779"/>
            <a:ext cx="9153824" cy="4708251"/>
            <a:chOff x="1737573" y="1700779"/>
            <a:chExt cx="9153824" cy="4708251"/>
          </a:xfrm>
        </p:grpSpPr>
        <p:grpSp>
          <p:nvGrpSpPr>
            <p:cNvPr id="17" name="그룹 16">
              <a:extLst>
                <a:ext uri="{FF2B5EF4-FFF2-40B4-BE49-F238E27FC236}">
                  <a16:creationId xmlns:a16="http://schemas.microsoft.com/office/drawing/2014/main" id="{9CAC835C-799F-13BF-8570-8745509DD31D}"/>
                </a:ext>
              </a:extLst>
            </p:cNvPr>
            <p:cNvGrpSpPr/>
            <p:nvPr/>
          </p:nvGrpSpPr>
          <p:grpSpPr>
            <a:xfrm>
              <a:off x="1737573" y="1700779"/>
              <a:ext cx="9153824" cy="4708251"/>
              <a:chOff x="1737573" y="1700779"/>
              <a:chExt cx="9153824" cy="4708251"/>
            </a:xfrm>
          </p:grpSpPr>
          <p:sp>
            <p:nvSpPr>
              <p:cNvPr id="8" name="TextBox 7">
                <a:extLst>
                  <a:ext uri="{FF2B5EF4-FFF2-40B4-BE49-F238E27FC236}">
                    <a16:creationId xmlns:a16="http://schemas.microsoft.com/office/drawing/2014/main" id="{046F79AD-4DE3-67B3-6885-E98164463DAC}"/>
                  </a:ext>
                </a:extLst>
              </p:cNvPr>
              <p:cNvSpPr txBox="1"/>
              <p:nvPr/>
            </p:nvSpPr>
            <p:spPr>
              <a:xfrm>
                <a:off x="3047326" y="170077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t>configmap</a:t>
                </a:r>
                <a:r>
                  <a:rPr lang="en-US" altLang="ko-KR" sz="1000" b="1" dirty="0"/>
                  <a:t> </a:t>
                </a:r>
                <a:r>
                  <a:rPr lang="en-US" altLang="ko-KR" sz="1000" b="1" dirty="0">
                    <a:solidFill>
                      <a:srgbClr val="FF0000"/>
                    </a:solidFill>
                  </a:rPr>
                  <a:t>fortune-config-https --from-file=</a:t>
                </a:r>
                <a:r>
                  <a:rPr lang="en-US" altLang="ko-KR" sz="1000" b="1" dirty="0" err="1">
                    <a:solidFill>
                      <a:srgbClr val="FF0000"/>
                    </a:solidFill>
                  </a:rPr>
                  <a:t>configmap</a:t>
                </a:r>
                <a:r>
                  <a:rPr lang="en-US" altLang="ko-KR" sz="1000" b="1" dirty="0">
                    <a:solidFill>
                      <a:srgbClr val="FF0000"/>
                    </a:solidFill>
                  </a:rPr>
                  <a:t>-files-https</a:t>
                </a:r>
              </a:p>
            </p:txBody>
          </p:sp>
          <p:sp>
            <p:nvSpPr>
              <p:cNvPr id="11" name="화살표: 오른쪽 10">
                <a:extLst>
                  <a:ext uri="{FF2B5EF4-FFF2-40B4-BE49-F238E27FC236}">
                    <a16:creationId xmlns:a16="http://schemas.microsoft.com/office/drawing/2014/main" id="{F8985F8F-3119-CC2D-2D51-6124B2F32869}"/>
                  </a:ext>
                </a:extLst>
              </p:cNvPr>
              <p:cNvSpPr/>
              <p:nvPr/>
            </p:nvSpPr>
            <p:spPr>
              <a:xfrm rot="16200000">
                <a:off x="5954709" y="1881397"/>
                <a:ext cx="282582" cy="43697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F43EFB8F-883E-F6C3-2A2C-C46329E629BA}"/>
                  </a:ext>
                </a:extLst>
              </p:cNvPr>
              <p:cNvPicPr>
                <a:picLocks noChangeAspect="1"/>
              </p:cNvPicPr>
              <p:nvPr/>
            </p:nvPicPr>
            <p:blipFill>
              <a:blip r:embed="rId2"/>
              <a:stretch>
                <a:fillRect/>
              </a:stretch>
            </p:blipFill>
            <p:spPr>
              <a:xfrm>
                <a:off x="1737573" y="4776598"/>
                <a:ext cx="9153824" cy="1632432"/>
              </a:xfrm>
              <a:prstGeom prst="rect">
                <a:avLst/>
              </a:prstGeom>
            </p:spPr>
          </p:pic>
          <p:sp>
            <p:nvSpPr>
              <p:cNvPr id="14" name="화살표: 오른쪽 13">
                <a:extLst>
                  <a:ext uri="{FF2B5EF4-FFF2-40B4-BE49-F238E27FC236}">
                    <a16:creationId xmlns:a16="http://schemas.microsoft.com/office/drawing/2014/main" id="{92993F2E-937D-91B1-4C84-192FF2B33810}"/>
                  </a:ext>
                </a:extLst>
              </p:cNvPr>
              <p:cNvSpPr/>
              <p:nvPr/>
            </p:nvSpPr>
            <p:spPr>
              <a:xfrm rot="5400000">
                <a:off x="5954709" y="4409290"/>
                <a:ext cx="282582" cy="436970"/>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3EFF100F-C14D-DC2A-7B6A-CA7A5F87D799}"/>
                  </a:ext>
                </a:extLst>
              </p:cNvPr>
              <p:cNvGrpSpPr/>
              <p:nvPr/>
            </p:nvGrpSpPr>
            <p:grpSpPr>
              <a:xfrm>
                <a:off x="3047326" y="2229582"/>
                <a:ext cx="6097348" cy="2258360"/>
                <a:chOff x="3047326" y="2229582"/>
                <a:chExt cx="6097348" cy="2258360"/>
              </a:xfrm>
            </p:grpSpPr>
            <p:sp>
              <p:nvSpPr>
                <p:cNvPr id="10" name="TextBox 9">
                  <a:extLst>
                    <a:ext uri="{FF2B5EF4-FFF2-40B4-BE49-F238E27FC236}">
                      <a16:creationId xmlns:a16="http://schemas.microsoft.com/office/drawing/2014/main" id="{A21159AE-80A2-BB22-17C3-4C195E1E648E}"/>
                    </a:ext>
                  </a:extLst>
                </p:cNvPr>
                <p:cNvSpPr txBox="1"/>
                <p:nvPr/>
              </p:nvSpPr>
              <p:spPr>
                <a:xfrm>
                  <a:off x="3047326" y="2241173"/>
                  <a:ext cx="6097348" cy="2246769"/>
                </a:xfrm>
                <a:prstGeom prst="rect">
                  <a:avLst/>
                </a:prstGeom>
                <a:noFill/>
                <a:ln>
                  <a:solidFill>
                    <a:schemeClr val="bg1">
                      <a:lumMod val="50000"/>
                    </a:schemeClr>
                  </a:solidFill>
                </a:ln>
              </p:spPr>
              <p:txBody>
                <a:bodyPr wrap="square">
                  <a:spAutoFit/>
                </a:bodyPr>
                <a:lstStyle/>
                <a:p>
                  <a:r>
                    <a:rPr lang="en-US" altLang="ko-KR" sz="1000" b="1" dirty="0"/>
                    <a:t>server {</a:t>
                  </a:r>
                </a:p>
                <a:p>
                  <a:r>
                    <a:rPr lang="en-US" altLang="ko-KR" sz="1000" b="1" dirty="0"/>
                    <a:t>    listen 80;</a:t>
                  </a:r>
                </a:p>
                <a:p>
                  <a:r>
                    <a:rPr lang="en-US" altLang="ko-KR" sz="1000" b="1" dirty="0"/>
                    <a:t>    </a:t>
                  </a:r>
                  <a:r>
                    <a:rPr lang="en-US" altLang="ko-KR" sz="1000" b="1" dirty="0">
                      <a:solidFill>
                        <a:srgbClr val="FF0000"/>
                      </a:solidFill>
                    </a:rPr>
                    <a:t>listen 443 </a:t>
                  </a:r>
                  <a:r>
                    <a:rPr lang="en-US" altLang="ko-KR" sz="1000" b="1" dirty="0" err="1">
                      <a:solidFill>
                        <a:srgbClr val="FF0000"/>
                      </a:solidFill>
                    </a:rPr>
                    <a:t>ssl</a:t>
                  </a:r>
                  <a:r>
                    <a:rPr lang="en-US" altLang="ko-KR" sz="1000" b="1" dirty="0">
                      <a:solidFill>
                        <a:srgbClr val="FF0000"/>
                      </a:solidFill>
                    </a:rPr>
                    <a:t>;</a:t>
                  </a:r>
                </a:p>
                <a:p>
                  <a:r>
                    <a:rPr lang="en-US" altLang="ko-KR" sz="1000" b="1" dirty="0"/>
                    <a:t>    </a:t>
                  </a:r>
                  <a:r>
                    <a:rPr lang="en-US" altLang="ko-KR" sz="1000" b="1" dirty="0" err="1"/>
                    <a:t>server_name</a:t>
                  </a:r>
                  <a:r>
                    <a:rPr lang="en-US" altLang="ko-KR" sz="1000" b="1" dirty="0"/>
                    <a:t> www.kubia-example.com;</a:t>
                  </a:r>
                </a:p>
                <a:p>
                  <a:r>
                    <a:rPr lang="en-US" altLang="ko-KR" sz="1000" b="1" dirty="0"/>
                    <a:t>    </a:t>
                  </a:r>
                  <a:r>
                    <a:rPr lang="en-US" altLang="ko-KR" sz="1000" b="1" dirty="0" err="1">
                      <a:solidFill>
                        <a:srgbClr val="FF0000"/>
                      </a:solidFill>
                    </a:rPr>
                    <a:t>ssl_certificate</a:t>
                  </a:r>
                  <a:r>
                    <a:rPr lang="en-US" altLang="ko-KR" sz="1000" b="1" dirty="0">
                      <a:solidFill>
                        <a:srgbClr val="FF0000"/>
                      </a:solidFill>
                    </a:rPr>
                    <a:t> certs/</a:t>
                  </a:r>
                  <a:r>
                    <a:rPr lang="en-US" altLang="ko-KR" sz="1000" b="1" dirty="0" err="1">
                      <a:solidFill>
                        <a:srgbClr val="FF0000"/>
                      </a:solidFill>
                    </a:rPr>
                    <a:t>https.cert</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ssl_certificate_key</a:t>
                  </a:r>
                  <a:r>
                    <a:rPr lang="en-US" altLang="ko-KR" sz="1000" b="1" dirty="0">
                      <a:solidFill>
                        <a:srgbClr val="FF0000"/>
                      </a:solidFill>
                    </a:rPr>
                    <a:t> certs/</a:t>
                  </a:r>
                  <a:r>
                    <a:rPr lang="en-US" altLang="ko-KR" sz="1000" b="1" dirty="0" err="1">
                      <a:solidFill>
                        <a:srgbClr val="FF0000"/>
                      </a:solidFill>
                    </a:rPr>
                    <a:t>https.key</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ssl_protocols</a:t>
                  </a:r>
                  <a:r>
                    <a:rPr lang="en-US" altLang="ko-KR" sz="1000" b="1" dirty="0">
                      <a:solidFill>
                        <a:srgbClr val="FF0000"/>
                      </a:solidFill>
                    </a:rPr>
                    <a:t> TLSv1 TLSv1.1 TLSv1.2;</a:t>
                  </a:r>
                </a:p>
                <a:p>
                  <a:r>
                    <a:rPr lang="en-US" altLang="ko-KR" sz="1000" b="1" dirty="0">
                      <a:solidFill>
                        <a:srgbClr val="FF0000"/>
                      </a:solidFill>
                    </a:rPr>
                    <a:t>    </a:t>
                  </a:r>
                  <a:r>
                    <a:rPr lang="en-US" altLang="ko-KR" sz="1000" b="1" dirty="0" err="1">
                      <a:solidFill>
                        <a:srgbClr val="FF0000"/>
                      </a:solidFill>
                    </a:rPr>
                    <a:t>ssl_ciphers</a:t>
                  </a:r>
                  <a:r>
                    <a:rPr lang="en-US" altLang="ko-KR" sz="1000" b="1" dirty="0">
                      <a:solidFill>
                        <a:srgbClr val="FF0000"/>
                      </a:solidFill>
                    </a:rPr>
                    <a:t> HIGH:!</a:t>
                  </a:r>
                  <a:r>
                    <a:rPr lang="en-US" altLang="ko-KR" sz="1000" b="1" dirty="0" err="1">
                      <a:solidFill>
                        <a:srgbClr val="FF0000"/>
                      </a:solidFill>
                    </a:rPr>
                    <a:t>aNULL</a:t>
                  </a:r>
                  <a:r>
                    <a:rPr lang="en-US" altLang="ko-KR" sz="1000" b="1" dirty="0">
                      <a:solidFill>
                        <a:srgbClr val="FF0000"/>
                      </a:solidFill>
                    </a:rPr>
                    <a:t>:!MD5;</a:t>
                  </a:r>
                </a:p>
                <a:p>
                  <a:endParaRPr lang="en-US" altLang="ko-KR" sz="1000" b="1" dirty="0">
                    <a:solidFill>
                      <a:srgbClr val="FF0000"/>
                    </a:solidFill>
                  </a:endParaRPr>
                </a:p>
                <a:p>
                  <a:r>
                    <a:rPr lang="en-US" altLang="ko-KR" sz="1000" b="1" dirty="0"/>
                    <a:t>    location / {</a:t>
                  </a:r>
                </a:p>
                <a:p>
                  <a:r>
                    <a:rPr lang="en-US" altLang="ko-KR" sz="1000" b="1" dirty="0"/>
                    <a:t>        root /</a:t>
                  </a:r>
                  <a:r>
                    <a:rPr lang="en-US" altLang="ko-KR" sz="1000" b="1" dirty="0" err="1"/>
                    <a:t>usr</a:t>
                  </a:r>
                  <a:r>
                    <a:rPr lang="en-US" altLang="ko-KR" sz="1000" b="1" dirty="0"/>
                    <a:t>/share/nginx/html;</a:t>
                  </a:r>
                </a:p>
                <a:p>
                  <a:r>
                    <a:rPr lang="en-US" altLang="ko-KR" sz="1000" b="1" dirty="0"/>
                    <a:t>        index index.html index.htm;</a:t>
                  </a:r>
                </a:p>
                <a:p>
                  <a:r>
                    <a:rPr lang="en-US" altLang="ko-KR" sz="1000" b="1" dirty="0"/>
                    <a:t>    }</a:t>
                  </a:r>
                </a:p>
                <a:p>
                  <a:r>
                    <a:rPr lang="en-US" altLang="ko-KR" sz="1000" b="1" dirty="0"/>
                    <a:t>}</a:t>
                  </a:r>
                  <a:endParaRPr lang="ko-KR" altLang="en-US" sz="1000" b="1" dirty="0"/>
                </a:p>
              </p:txBody>
            </p:sp>
            <p:sp>
              <p:nvSpPr>
                <p:cNvPr id="15" name="TextBox 14">
                  <a:extLst>
                    <a:ext uri="{FF2B5EF4-FFF2-40B4-BE49-F238E27FC236}">
                      <a16:creationId xmlns:a16="http://schemas.microsoft.com/office/drawing/2014/main" id="{2F84C062-C558-5E65-362E-A2C8FC989A91}"/>
                    </a:ext>
                  </a:extLst>
                </p:cNvPr>
                <p:cNvSpPr txBox="1"/>
                <p:nvPr/>
              </p:nvSpPr>
              <p:spPr>
                <a:xfrm>
                  <a:off x="6257345" y="2229582"/>
                  <a:ext cx="2887329" cy="246221"/>
                </a:xfrm>
                <a:prstGeom prst="rect">
                  <a:avLst/>
                </a:prstGeom>
                <a:noFill/>
              </p:spPr>
              <p:txBody>
                <a:bodyPr wrap="none" rtlCol="0">
                  <a:spAutoFit/>
                </a:bodyPr>
                <a:lstStyle/>
                <a:p>
                  <a:pPr algn="l"/>
                  <a:r>
                    <a:rPr lang="en-US" altLang="ko-KR" sz="1000" b="1" dirty="0" err="1"/>
                    <a:t>configmap</a:t>
                  </a:r>
                  <a:r>
                    <a:rPr lang="en-US" altLang="ko-KR" sz="1000" b="1" dirty="0"/>
                    <a:t>-files-https/my-nginx-</a:t>
                  </a:r>
                  <a:r>
                    <a:rPr lang="en-US" altLang="ko-KR" sz="1000" b="1" dirty="0" err="1"/>
                    <a:t>config.conf</a:t>
                  </a:r>
                  <a:endParaRPr lang="ko-KR" altLang="en-US" sz="1000" b="1" dirty="0"/>
                </a:p>
              </p:txBody>
            </p:sp>
          </p:grpSp>
        </p:grpSp>
        <p:sp>
          <p:nvSpPr>
            <p:cNvPr id="18" name="직사각형 17">
              <a:extLst>
                <a:ext uri="{FF2B5EF4-FFF2-40B4-BE49-F238E27FC236}">
                  <a16:creationId xmlns:a16="http://schemas.microsoft.com/office/drawing/2014/main" id="{07535584-A81A-B98F-A144-B1215EEFCD96}"/>
                </a:ext>
              </a:extLst>
            </p:cNvPr>
            <p:cNvSpPr/>
            <p:nvPr/>
          </p:nvSpPr>
          <p:spPr>
            <a:xfrm>
              <a:off x="1804524" y="5826265"/>
              <a:ext cx="2136297" cy="1933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070024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Containers(12/21)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dirty="0"/>
              <a:t>The previous configuration of nginx </a:t>
            </a:r>
            <a:r>
              <a:rPr lang="en-US" altLang="ko-KR" sz="1400" b="1" dirty="0"/>
              <a:t>configures the server to read the certificate and key files from “/</a:t>
            </a:r>
            <a:r>
              <a:rPr lang="en-US" altLang="ko-KR" sz="1400" b="1" dirty="0" err="1"/>
              <a:t>etc</a:t>
            </a:r>
            <a:r>
              <a:rPr lang="en-US" altLang="ko-KR" sz="1400" b="1" dirty="0"/>
              <a:t>/nginx/certs”</a:t>
            </a:r>
            <a:r>
              <a:rPr lang="en-US" altLang="ko-KR" sz="1400" dirty="0"/>
              <a:t>, so you’ll need to </a:t>
            </a:r>
            <a:r>
              <a:rPr lang="en-US" altLang="ko-KR" sz="1400" b="1" dirty="0"/>
              <a:t>mount the secret volume there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5865A72D-59C9-393E-6FF5-3B55827DAD56}"/>
              </a:ext>
            </a:extLst>
          </p:cNvPr>
          <p:cNvGrpSpPr/>
          <p:nvPr/>
        </p:nvGrpSpPr>
        <p:grpSpPr>
          <a:xfrm>
            <a:off x="1333163" y="1853647"/>
            <a:ext cx="9525673" cy="4093428"/>
            <a:chOff x="1333163" y="1853647"/>
            <a:chExt cx="9525673" cy="4093428"/>
          </a:xfrm>
        </p:grpSpPr>
        <p:grpSp>
          <p:nvGrpSpPr>
            <p:cNvPr id="11" name="그룹 10">
              <a:extLst>
                <a:ext uri="{FF2B5EF4-FFF2-40B4-BE49-F238E27FC236}">
                  <a16:creationId xmlns:a16="http://schemas.microsoft.com/office/drawing/2014/main" id="{61EF8EF9-04F2-9A55-8F06-978EF94E0F4E}"/>
                </a:ext>
              </a:extLst>
            </p:cNvPr>
            <p:cNvGrpSpPr/>
            <p:nvPr/>
          </p:nvGrpSpPr>
          <p:grpSpPr>
            <a:xfrm>
              <a:off x="1333163" y="1853647"/>
              <a:ext cx="9525673" cy="4093428"/>
              <a:chOff x="1333163" y="1845555"/>
              <a:chExt cx="9525673" cy="4093428"/>
            </a:xfrm>
          </p:grpSpPr>
          <p:sp>
            <p:nvSpPr>
              <p:cNvPr id="8" name="TextBox 7">
                <a:extLst>
                  <a:ext uri="{FF2B5EF4-FFF2-40B4-BE49-F238E27FC236}">
                    <a16:creationId xmlns:a16="http://schemas.microsoft.com/office/drawing/2014/main" id="{8BE0E736-45C0-D323-940A-7A023F181202}"/>
                  </a:ext>
                </a:extLst>
              </p:cNvPr>
              <p:cNvSpPr txBox="1"/>
              <p:nvPr/>
            </p:nvSpPr>
            <p:spPr>
              <a:xfrm>
                <a:off x="6096000" y="1845555"/>
                <a:ext cx="4762836" cy="4093428"/>
              </a:xfrm>
              <a:prstGeom prst="rect">
                <a:avLst/>
              </a:prstGeom>
              <a:noFill/>
              <a:ln>
                <a:solidFill>
                  <a:schemeClr val="bg1">
                    <a:lumMod val="50000"/>
                  </a:schemeClr>
                </a:solidFill>
              </a:ln>
            </p:spPr>
            <p:txBody>
              <a:bodyPr wrap="square">
                <a:spAutoFit/>
              </a:bodyPr>
              <a:lstStyle/>
              <a:p>
                <a:r>
                  <a:rPr lang="en-US" altLang="ko-KR" sz="1000" b="1" dirty="0"/>
                  <a:t>- name: certs</a:t>
                </a:r>
              </a:p>
              <a:p>
                <a:r>
                  <a:rPr lang="en-US" altLang="ko-KR" sz="1000" b="1" dirty="0"/>
                  <a:t>      </a:t>
                </a:r>
                <a:r>
                  <a:rPr lang="en-US" altLang="ko-KR" sz="1000" b="1" dirty="0" err="1"/>
                  <a:t>mountPath</a:t>
                </a:r>
                <a:r>
                  <a:rPr lang="en-US" altLang="ko-KR" sz="1000" b="1" dirty="0"/>
                  <a:t>: /</a:t>
                </a:r>
                <a:r>
                  <a:rPr lang="en-US" altLang="ko-KR" sz="1000" b="1" dirty="0" err="1"/>
                  <a:t>etc</a:t>
                </a:r>
                <a:r>
                  <a:rPr lang="en-US" altLang="ko-KR" sz="1000" b="1" dirty="0"/>
                  <a:t>/nginx/certs/</a:t>
                </a:r>
              </a:p>
              <a:p>
                <a:r>
                  <a:rPr lang="en-US" altLang="ko-KR" sz="1000" b="1" dirty="0"/>
                  <a:t>      </a:t>
                </a:r>
                <a:r>
                  <a:rPr lang="en-US" altLang="ko-KR" sz="1000" b="1" dirty="0" err="1"/>
                  <a:t>readOnly</a:t>
                </a:r>
                <a:r>
                  <a:rPr lang="en-US" altLang="ko-KR" sz="1000" b="1" dirty="0"/>
                  <a:t>: true</a:t>
                </a:r>
              </a:p>
              <a:p>
                <a:r>
                  <a:rPr lang="en-US" altLang="ko-KR" sz="1000" b="1" dirty="0"/>
                  <a:t>    ports:</a:t>
                </a:r>
              </a:p>
              <a:p>
                <a:r>
                  <a:rPr lang="en-US" altLang="ko-KR" sz="1000" b="1" dirty="0"/>
                  <a:t>    - </a:t>
                </a:r>
                <a:r>
                  <a:rPr lang="en-US" altLang="ko-KR" sz="1000" b="1" dirty="0" err="1"/>
                  <a:t>containerPort</a:t>
                </a:r>
                <a:r>
                  <a:rPr lang="en-US" altLang="ko-KR" sz="1000" b="1" dirty="0"/>
                  <a:t>: 80</a:t>
                </a:r>
              </a:p>
              <a:p>
                <a:r>
                  <a:rPr lang="en-US" altLang="ko-KR" sz="1000" b="1" dirty="0">
                    <a:solidFill>
                      <a:srgbClr val="FF0000"/>
                    </a:solidFill>
                  </a:rPr>
                  <a:t>    - </a:t>
                </a:r>
                <a:r>
                  <a:rPr lang="en-US" altLang="ko-KR" sz="1000" b="1" dirty="0" err="1">
                    <a:solidFill>
                      <a:srgbClr val="FF0000"/>
                    </a:solidFill>
                  </a:rPr>
                  <a:t>containerPort</a:t>
                </a:r>
                <a:r>
                  <a:rPr lang="en-US" altLang="ko-KR" sz="1000" b="1" dirty="0">
                    <a:solidFill>
                      <a:srgbClr val="FF0000"/>
                    </a:solidFill>
                  </a:rPr>
                  <a:t>: 443</a:t>
                </a:r>
              </a:p>
              <a:p>
                <a:r>
                  <a:rPr lang="en-US" altLang="ko-KR" sz="1000" b="1" dirty="0"/>
                  <a:t>  volumes:</a:t>
                </a:r>
              </a:p>
              <a:p>
                <a:r>
                  <a:rPr lang="en-US" altLang="ko-KR" sz="1000" b="1" dirty="0"/>
                  <a:t>  - name: html</a:t>
                </a:r>
              </a:p>
              <a:p>
                <a:r>
                  <a:rPr lang="en-US" altLang="ko-KR" sz="1000" b="1" dirty="0"/>
                  <a:t>    </a:t>
                </a:r>
                <a:r>
                  <a:rPr lang="en-US" altLang="ko-KR" sz="1000" b="1" dirty="0" err="1"/>
                  <a:t>emptyDir</a:t>
                </a:r>
                <a:r>
                  <a:rPr lang="en-US" altLang="ko-KR" sz="1000" b="1" dirty="0"/>
                  <a:t>: {}</a:t>
                </a:r>
              </a:p>
              <a:p>
                <a:r>
                  <a:rPr lang="en-US" altLang="ko-KR" sz="1000" b="1" dirty="0"/>
                  <a:t>  - name: config</a:t>
                </a:r>
              </a:p>
              <a:p>
                <a:r>
                  <a:rPr lang="en-US" altLang="ko-KR" sz="1000" b="1" dirty="0">
                    <a:solidFill>
                      <a:srgbClr val="FF0000"/>
                    </a:solidFill>
                  </a:rPr>
                  <a:t>    </a:t>
                </a:r>
                <a:r>
                  <a:rPr lang="en-US" altLang="ko-KR" sz="1000" b="1" dirty="0" err="1">
                    <a:solidFill>
                      <a:srgbClr val="FF0000"/>
                    </a:solidFill>
                  </a:rPr>
                  <a:t>configMap</a:t>
                </a:r>
                <a:r>
                  <a:rPr lang="en-US" altLang="ko-KR" sz="1000" b="1" dirty="0">
                    <a:solidFill>
                      <a:srgbClr val="FF0000"/>
                    </a:solidFill>
                  </a:rPr>
                  <a:t>:</a:t>
                </a:r>
              </a:p>
              <a:p>
                <a:r>
                  <a:rPr lang="en-US" altLang="ko-KR" sz="1000" b="1" dirty="0">
                    <a:solidFill>
                      <a:srgbClr val="FF0000"/>
                    </a:solidFill>
                  </a:rPr>
                  <a:t>      name: fortune-config-https</a:t>
                </a:r>
              </a:p>
              <a:p>
                <a:r>
                  <a:rPr lang="en-US" altLang="ko-KR" sz="1000" b="1" dirty="0">
                    <a:solidFill>
                      <a:srgbClr val="FF0000"/>
                    </a:solidFill>
                  </a:rPr>
                  <a:t>      items:</a:t>
                </a:r>
              </a:p>
              <a:p>
                <a:r>
                  <a:rPr lang="en-US" altLang="ko-KR" sz="1000" b="1" dirty="0">
                    <a:solidFill>
                      <a:srgbClr val="FF0000"/>
                    </a:solidFill>
                  </a:rPr>
                  <a:t>      - key: my-nginx-</a:t>
                </a:r>
                <a:r>
                  <a:rPr lang="en-US" altLang="ko-KR" sz="1000" b="1" dirty="0" err="1">
                    <a:solidFill>
                      <a:srgbClr val="FF0000"/>
                    </a:solidFill>
                  </a:rPr>
                  <a:t>config.conf</a:t>
                </a:r>
                <a:endParaRPr lang="en-US" altLang="ko-KR" sz="1000" b="1" dirty="0">
                  <a:solidFill>
                    <a:srgbClr val="FF0000"/>
                  </a:solidFill>
                </a:endParaRPr>
              </a:p>
              <a:p>
                <a:r>
                  <a:rPr lang="en-US" altLang="ko-KR" sz="1000" b="1" dirty="0">
                    <a:solidFill>
                      <a:srgbClr val="FF0000"/>
                    </a:solidFill>
                  </a:rPr>
                  <a:t>        path: </a:t>
                </a:r>
                <a:r>
                  <a:rPr lang="en-US" altLang="ko-KR" sz="1000" b="1" dirty="0" err="1">
                    <a:solidFill>
                      <a:srgbClr val="FF0000"/>
                    </a:solidFill>
                  </a:rPr>
                  <a:t>https.conf</a:t>
                </a:r>
                <a:endParaRPr lang="en-US" altLang="ko-KR" sz="1000" b="1" dirty="0">
                  <a:solidFill>
                    <a:srgbClr val="FF0000"/>
                  </a:solidFill>
                </a:endParaRPr>
              </a:p>
              <a:p>
                <a:r>
                  <a:rPr lang="en-US" altLang="ko-KR" sz="1000" b="1" dirty="0"/>
                  <a:t>  </a:t>
                </a:r>
                <a:r>
                  <a:rPr lang="en-US" altLang="ko-KR" sz="1000" b="1" dirty="0">
                    <a:solidFill>
                      <a:srgbClr val="FF0000"/>
                    </a:solidFill>
                  </a:rPr>
                  <a:t>- name: certs</a:t>
                </a:r>
              </a:p>
              <a:p>
                <a:r>
                  <a:rPr lang="en-US" altLang="ko-KR" sz="1000" b="1" dirty="0">
                    <a:solidFill>
                      <a:srgbClr val="FF0000"/>
                    </a:solidFill>
                  </a:rPr>
                  <a:t>    secret:</a:t>
                </a:r>
              </a:p>
              <a:p>
                <a:r>
                  <a:rPr lang="en-US" altLang="ko-KR" sz="1000" b="1" dirty="0">
                    <a:solidFill>
                      <a:srgbClr val="FF0000"/>
                    </a:solidFill>
                  </a:rPr>
                  <a:t>      </a:t>
                </a:r>
                <a:r>
                  <a:rPr lang="en-US" altLang="ko-KR" sz="1000" b="1" dirty="0" err="1">
                    <a:solidFill>
                      <a:srgbClr val="FF0000"/>
                    </a:solidFill>
                  </a:rPr>
                  <a:t>secretName</a:t>
                </a:r>
                <a:r>
                  <a:rPr lang="en-US" altLang="ko-KR" sz="1000" b="1" dirty="0">
                    <a:solidFill>
                      <a:srgbClr val="FF0000"/>
                    </a:solidFill>
                  </a:rPr>
                  <a:t>: fortune-https</a:t>
                </a:r>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a:p>
                <a:endParaRPr lang="en-US" altLang="ko-KR" sz="1000" b="1" dirty="0"/>
              </a:p>
            </p:txBody>
          </p:sp>
          <p:sp>
            <p:nvSpPr>
              <p:cNvPr id="10" name="TextBox 9">
                <a:extLst>
                  <a:ext uri="{FF2B5EF4-FFF2-40B4-BE49-F238E27FC236}">
                    <a16:creationId xmlns:a16="http://schemas.microsoft.com/office/drawing/2014/main" id="{C8571A7C-3CC0-B7D1-861A-D036C0285508}"/>
                  </a:ext>
                </a:extLst>
              </p:cNvPr>
              <p:cNvSpPr txBox="1"/>
              <p:nvPr/>
            </p:nvSpPr>
            <p:spPr>
              <a:xfrm>
                <a:off x="1333163" y="1845555"/>
                <a:ext cx="4762837" cy="4093428"/>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fortune-https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knix008/</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fortune:env</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html-generator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env:</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INTERVAL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valueFrom</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configMapKeyRef</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name: fortune-config-https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key: sleep-interval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/var/</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htdocs</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image: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nginx:alpine</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web-server</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usr</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/share/nginx/html</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readOnly</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true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config</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etc</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/nginx/</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conf.d</a:t>
                </a: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readOnly</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true</a:t>
                </a:r>
              </a:p>
            </p:txBody>
          </p:sp>
        </p:grpSp>
        <p:sp>
          <p:nvSpPr>
            <p:cNvPr id="13" name="TextBox 12">
              <a:extLst>
                <a:ext uri="{FF2B5EF4-FFF2-40B4-BE49-F238E27FC236}">
                  <a16:creationId xmlns:a16="http://schemas.microsoft.com/office/drawing/2014/main" id="{A7DFC338-8965-202B-DFA4-38204C7A9327}"/>
                </a:ext>
              </a:extLst>
            </p:cNvPr>
            <p:cNvSpPr txBox="1"/>
            <p:nvPr/>
          </p:nvSpPr>
          <p:spPr>
            <a:xfrm>
              <a:off x="9229864" y="1853647"/>
              <a:ext cx="1628972" cy="246221"/>
            </a:xfrm>
            <a:prstGeom prst="rect">
              <a:avLst/>
            </a:prstGeom>
            <a:noFill/>
          </p:spPr>
          <p:txBody>
            <a:bodyPr wrap="none" rtlCol="0">
              <a:spAutoFit/>
            </a:bodyPr>
            <a:lstStyle/>
            <a:p>
              <a:pPr algn="l"/>
              <a:r>
                <a:rPr lang="en-US" altLang="ko-KR" sz="1000" b="1" dirty="0"/>
                <a:t>fortune-pod-</a:t>
              </a:r>
              <a:r>
                <a:rPr lang="en-US" altLang="ko-KR" sz="1000" b="1" dirty="0" err="1"/>
                <a:t>https.yaml</a:t>
              </a:r>
              <a:endParaRPr lang="ko-KR" altLang="en-US" sz="1000" b="1" dirty="0"/>
            </a:p>
          </p:txBody>
        </p:sp>
      </p:grpSp>
    </p:spTree>
    <p:extLst>
      <p:ext uri="{BB962C8B-B14F-4D97-AF65-F5344CB8AC3E}">
        <p14:creationId xmlns:p14="http://schemas.microsoft.com/office/powerpoint/2010/main" val="286680003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Containers(13/21)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dirty="0"/>
              <a:t>The following figure shows the components defined in the YAML. </a:t>
            </a:r>
            <a:r>
              <a:rPr lang="en-US" altLang="ko-KR" sz="1400" b="1" dirty="0"/>
              <a:t>The default-token Secret, volume, and volume mount</a:t>
            </a:r>
            <a:r>
              <a:rPr lang="en-US" altLang="ko-KR" sz="1400" dirty="0"/>
              <a:t>, which aren’t part of the YAML, but are added to your pod automatically, aren’t shown in the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Like </a:t>
            </a:r>
            <a:r>
              <a:rPr lang="en-US" altLang="ko-KR" sz="1400" b="1" dirty="0" err="1"/>
              <a:t>configMap</a:t>
            </a:r>
            <a:r>
              <a:rPr lang="en-US" altLang="ko-KR" sz="1400" b="1" dirty="0"/>
              <a:t> volumes, secret volumes also support specifying file permissions for the files exposed in the volume through the “</a:t>
            </a:r>
            <a:r>
              <a:rPr lang="en-US" altLang="ko-KR" sz="1400" b="1" dirty="0" err="1">
                <a:solidFill>
                  <a:srgbClr val="FF0000"/>
                </a:solidFill>
              </a:rPr>
              <a:t>defaultMode</a:t>
            </a:r>
            <a:r>
              <a:rPr lang="en-US" altLang="ko-KR" sz="1400" b="1" dirty="0"/>
              <a:t>” property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C06611B-544D-9B92-4165-87CFAA5B5901}"/>
              </a:ext>
            </a:extLst>
          </p:cNvPr>
          <p:cNvGrpSpPr/>
          <p:nvPr/>
        </p:nvGrpSpPr>
        <p:grpSpPr>
          <a:xfrm>
            <a:off x="3219450" y="1743868"/>
            <a:ext cx="5753100" cy="3695700"/>
            <a:chOff x="3219450" y="1743868"/>
            <a:chExt cx="5753100" cy="3695700"/>
          </a:xfrm>
        </p:grpSpPr>
        <p:grpSp>
          <p:nvGrpSpPr>
            <p:cNvPr id="12" name="그룹 11">
              <a:extLst>
                <a:ext uri="{FF2B5EF4-FFF2-40B4-BE49-F238E27FC236}">
                  <a16:creationId xmlns:a16="http://schemas.microsoft.com/office/drawing/2014/main" id="{443EDECD-DA81-9CE7-EED8-B7A73F8FE328}"/>
                </a:ext>
              </a:extLst>
            </p:cNvPr>
            <p:cNvGrpSpPr/>
            <p:nvPr/>
          </p:nvGrpSpPr>
          <p:grpSpPr>
            <a:xfrm>
              <a:off x="3219450" y="1743868"/>
              <a:ext cx="5753100" cy="3695700"/>
              <a:chOff x="3219450" y="1743868"/>
              <a:chExt cx="5753100" cy="3695700"/>
            </a:xfrm>
          </p:grpSpPr>
          <p:pic>
            <p:nvPicPr>
              <p:cNvPr id="10" name="그림 9">
                <a:extLst>
                  <a:ext uri="{FF2B5EF4-FFF2-40B4-BE49-F238E27FC236}">
                    <a16:creationId xmlns:a16="http://schemas.microsoft.com/office/drawing/2014/main" id="{10BDCA5A-BD33-FFE1-D586-81A335C6D132}"/>
                  </a:ext>
                </a:extLst>
              </p:cNvPr>
              <p:cNvPicPr>
                <a:picLocks noChangeAspect="1"/>
              </p:cNvPicPr>
              <p:nvPr/>
            </p:nvPicPr>
            <p:blipFill>
              <a:blip r:embed="rId2"/>
              <a:stretch>
                <a:fillRect/>
              </a:stretch>
            </p:blipFill>
            <p:spPr>
              <a:xfrm>
                <a:off x="3219450" y="1743868"/>
                <a:ext cx="5753100" cy="3695700"/>
              </a:xfrm>
              <a:prstGeom prst="rect">
                <a:avLst/>
              </a:prstGeom>
            </p:spPr>
          </p:pic>
          <p:sp>
            <p:nvSpPr>
              <p:cNvPr id="11" name="직사각형 10">
                <a:extLst>
                  <a:ext uri="{FF2B5EF4-FFF2-40B4-BE49-F238E27FC236}">
                    <a16:creationId xmlns:a16="http://schemas.microsoft.com/office/drawing/2014/main" id="{9C9CE7EC-9B8F-5A68-9D15-22C85BB94B10}"/>
                  </a:ext>
                </a:extLst>
              </p:cNvPr>
              <p:cNvSpPr/>
              <p:nvPr/>
            </p:nvSpPr>
            <p:spPr>
              <a:xfrm>
                <a:off x="5389296" y="3123526"/>
                <a:ext cx="930584" cy="8496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908C7C52-FCA6-84E3-7E24-6D2073031172}"/>
                </a:ext>
              </a:extLst>
            </p:cNvPr>
            <p:cNvSpPr/>
            <p:nvPr/>
          </p:nvSpPr>
          <p:spPr>
            <a:xfrm>
              <a:off x="6651653" y="3026421"/>
              <a:ext cx="2233402" cy="10195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276967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a:t>
            </a:r>
            <a:r>
              <a:rPr lang="ko-KR" altLang="en-US" sz="2800" b="1" dirty="0"/>
              <a:t> </a:t>
            </a:r>
            <a:r>
              <a:rPr lang="en-US" altLang="ko-KR" sz="2800" b="1" dirty="0"/>
              <a:t>:</a:t>
            </a:r>
            <a:r>
              <a:rPr lang="ko-KR" altLang="en-US" sz="2800" b="1" dirty="0"/>
              <a:t> </a:t>
            </a:r>
            <a:r>
              <a:rPr lang="en-US" altLang="ko-KR" sz="2800" b="1" dirty="0"/>
              <a:t>Creating Pods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Check the Pod Status :</a:t>
            </a:r>
          </a:p>
          <a:p>
            <a:pPr lvl="1">
              <a:buFont typeface="Wingdings" panose="05000000000000000000" pitchFamily="2" charset="2"/>
              <a:buChar char="§"/>
            </a:pPr>
            <a:r>
              <a:rPr lang="en-US" altLang="ko-KR" sz="1400" dirty="0"/>
              <a:t>You can check the “</a:t>
            </a:r>
            <a:r>
              <a:rPr lang="en-US" altLang="ko-KR" sz="1400" b="1" dirty="0"/>
              <a:t>fortune-https</a:t>
            </a:r>
            <a:r>
              <a:rPr lang="en-US" altLang="ko-KR" sz="1400" dirty="0"/>
              <a:t>” pod using “</a:t>
            </a:r>
            <a:r>
              <a:rPr lang="en-US" altLang="ko-KR" sz="1400" b="1" dirty="0"/>
              <a:t>$ </a:t>
            </a:r>
            <a:r>
              <a:rPr lang="en-US" altLang="ko-KR" sz="1400" b="1" dirty="0" err="1"/>
              <a:t>kubectl</a:t>
            </a:r>
            <a:r>
              <a:rPr lang="en-US" altLang="ko-KR" sz="1400" b="1" dirty="0"/>
              <a:t> logs</a:t>
            </a:r>
            <a:r>
              <a:rPr lang="en-US" altLang="ko-KR" sz="1400" dirty="0"/>
              <a:t>” command. </a:t>
            </a:r>
            <a:r>
              <a:rPr lang="en-US" altLang="ko-KR" sz="1400" b="1" dirty="0"/>
              <a:t>If you have any problem to run the pod, then use “$ </a:t>
            </a:r>
            <a:r>
              <a:rPr lang="en-US" altLang="ko-KR" sz="1400" b="1" dirty="0" err="1"/>
              <a:t>kubectl</a:t>
            </a:r>
            <a:r>
              <a:rPr lang="en-US" altLang="ko-KR" sz="1400" b="1" dirty="0"/>
              <a:t> describe pod &lt;pod name&gt;” command</a:t>
            </a:r>
            <a:r>
              <a:rPr lang="en-US" altLang="ko-KR" sz="1400" dirty="0"/>
              <a:t>. It will show you what events are happened in creating the pods.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D06AAF4F-BA1B-DE4D-5B94-D1C1EBA7F992}"/>
              </a:ext>
            </a:extLst>
          </p:cNvPr>
          <p:cNvGrpSpPr/>
          <p:nvPr/>
        </p:nvGrpSpPr>
        <p:grpSpPr>
          <a:xfrm>
            <a:off x="1810762" y="1897720"/>
            <a:ext cx="8570476" cy="4511310"/>
            <a:chOff x="1810762" y="1751671"/>
            <a:chExt cx="8570476" cy="4511310"/>
          </a:xfrm>
        </p:grpSpPr>
        <p:grpSp>
          <p:nvGrpSpPr>
            <p:cNvPr id="8" name="그룹 7">
              <a:extLst>
                <a:ext uri="{FF2B5EF4-FFF2-40B4-BE49-F238E27FC236}">
                  <a16:creationId xmlns:a16="http://schemas.microsoft.com/office/drawing/2014/main" id="{73DEFEB0-EC13-D4CB-BD7A-592B47CC6607}"/>
                </a:ext>
              </a:extLst>
            </p:cNvPr>
            <p:cNvGrpSpPr/>
            <p:nvPr/>
          </p:nvGrpSpPr>
          <p:grpSpPr>
            <a:xfrm>
              <a:off x="1810762" y="1751671"/>
              <a:ext cx="8570476" cy="4511310"/>
              <a:chOff x="1258646" y="1649981"/>
              <a:chExt cx="9674704" cy="5151375"/>
            </a:xfrm>
          </p:grpSpPr>
          <p:pic>
            <p:nvPicPr>
              <p:cNvPr id="13" name="그림 12">
                <a:extLst>
                  <a:ext uri="{FF2B5EF4-FFF2-40B4-BE49-F238E27FC236}">
                    <a16:creationId xmlns:a16="http://schemas.microsoft.com/office/drawing/2014/main" id="{585EFB2F-1BB3-5C0D-73C7-41DDDA67BCAE}"/>
                  </a:ext>
                </a:extLst>
              </p:cNvPr>
              <p:cNvPicPr>
                <a:picLocks noChangeAspect="1"/>
              </p:cNvPicPr>
              <p:nvPr/>
            </p:nvPicPr>
            <p:blipFill>
              <a:blip r:embed="rId2"/>
              <a:stretch>
                <a:fillRect/>
              </a:stretch>
            </p:blipFill>
            <p:spPr>
              <a:xfrm>
                <a:off x="1258647" y="1649981"/>
                <a:ext cx="9674703" cy="2402551"/>
              </a:xfrm>
              <a:prstGeom prst="rect">
                <a:avLst/>
              </a:prstGeom>
            </p:spPr>
          </p:pic>
          <p:pic>
            <p:nvPicPr>
              <p:cNvPr id="14" name="그림 13">
                <a:extLst>
                  <a:ext uri="{FF2B5EF4-FFF2-40B4-BE49-F238E27FC236}">
                    <a16:creationId xmlns:a16="http://schemas.microsoft.com/office/drawing/2014/main" id="{F12BD648-2F53-706A-2808-71DC12311847}"/>
                  </a:ext>
                </a:extLst>
              </p:cNvPr>
              <p:cNvPicPr>
                <a:picLocks noChangeAspect="1"/>
              </p:cNvPicPr>
              <p:nvPr/>
            </p:nvPicPr>
            <p:blipFill>
              <a:blip r:embed="rId3"/>
              <a:stretch>
                <a:fillRect/>
              </a:stretch>
            </p:blipFill>
            <p:spPr>
              <a:xfrm>
                <a:off x="1258646" y="4084378"/>
                <a:ext cx="9674703" cy="2716978"/>
              </a:xfrm>
              <a:prstGeom prst="rect">
                <a:avLst/>
              </a:prstGeom>
            </p:spPr>
          </p:pic>
        </p:grpSp>
        <p:sp>
          <p:nvSpPr>
            <p:cNvPr id="9" name="직사각형 8">
              <a:extLst>
                <a:ext uri="{FF2B5EF4-FFF2-40B4-BE49-F238E27FC236}">
                  <a16:creationId xmlns:a16="http://schemas.microsoft.com/office/drawing/2014/main" id="{2E6CEC93-3C1D-D825-36D0-A9B0F5EAA7F4}"/>
                </a:ext>
              </a:extLst>
            </p:cNvPr>
            <p:cNvSpPr/>
            <p:nvPr/>
          </p:nvSpPr>
          <p:spPr>
            <a:xfrm>
              <a:off x="5454032" y="2103929"/>
              <a:ext cx="1286633" cy="2023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59DB1E61-DC84-3384-73BC-F393ED3A1D1D}"/>
                </a:ext>
              </a:extLst>
            </p:cNvPr>
            <p:cNvSpPr/>
            <p:nvPr/>
          </p:nvSpPr>
          <p:spPr>
            <a:xfrm>
              <a:off x="5454032" y="2597543"/>
              <a:ext cx="1132885" cy="2023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9C8E49EF-1A95-1DA1-67C0-3F5DDC466C82}"/>
                </a:ext>
              </a:extLst>
            </p:cNvPr>
            <p:cNvSpPr/>
            <p:nvPr/>
          </p:nvSpPr>
          <p:spPr>
            <a:xfrm>
              <a:off x="5454032" y="2945501"/>
              <a:ext cx="2395242" cy="2023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F43599EC-8C6B-E658-E66B-ACFC359B356B}"/>
                </a:ext>
              </a:extLst>
            </p:cNvPr>
            <p:cNvSpPr/>
            <p:nvPr/>
          </p:nvSpPr>
          <p:spPr>
            <a:xfrm>
              <a:off x="6238959" y="4235849"/>
              <a:ext cx="1610315" cy="2264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7434451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Containers(14/21)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dirty="0"/>
              <a:t>Once the pod is running, you can see if it’s </a:t>
            </a:r>
            <a:r>
              <a:rPr lang="en-US" altLang="ko-KR" sz="1400" b="1" dirty="0"/>
              <a:t>serving HTTPS traffic by opening a port-forward tunnel to the pod’s port 443</a:t>
            </a:r>
            <a:r>
              <a:rPr lang="en-US" altLang="ko-KR" sz="1400" dirty="0"/>
              <a:t> and using it to </a:t>
            </a:r>
            <a:r>
              <a:rPr lang="en-US" altLang="ko-KR" sz="1400" b="1" dirty="0"/>
              <a:t>send a request to the server with “curl”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t>
            </a:r>
            <a:r>
              <a:rPr lang="en-US" altLang="ko-KR" sz="1400" b="1" dirty="0">
                <a:solidFill>
                  <a:srgbClr val="FF0000"/>
                </a:solidFill>
              </a:rPr>
              <a:t>-k</a:t>
            </a:r>
            <a:r>
              <a:rPr lang="en-US" altLang="ko-KR" sz="1400" b="1" dirty="0"/>
              <a:t>” option in “curl” command means that it allows insecure(same as “--insecure”) server connections when using SSL</a:t>
            </a:r>
            <a:r>
              <a:rPr lang="en-US" altLang="ko-KR" sz="1400" dirty="0"/>
              <a:t>. So you need to specify the option in the above example. You can check more options with “</a:t>
            </a:r>
            <a:r>
              <a:rPr lang="en-US" altLang="ko-KR" sz="1400" b="1" dirty="0"/>
              <a:t>$ curl -help</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5B4A601-1163-74B4-C641-083E3C604C40}"/>
              </a:ext>
            </a:extLst>
          </p:cNvPr>
          <p:cNvSpPr txBox="1"/>
          <p:nvPr/>
        </p:nvSpPr>
        <p:spPr>
          <a:xfrm>
            <a:off x="3047326" y="1711648"/>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port-forward </a:t>
            </a:r>
            <a:r>
              <a:rPr lang="en-US" altLang="ko-KR" sz="1000" b="1" dirty="0">
                <a:solidFill>
                  <a:srgbClr val="FF0000"/>
                </a:solidFill>
              </a:rPr>
              <a:t>fortune-https 8443:443 &amp;</a:t>
            </a:r>
          </a:p>
          <a:p>
            <a:r>
              <a:rPr lang="en-US" altLang="ko-KR" sz="1000" b="1" dirty="0"/>
              <a:t>$ curl </a:t>
            </a:r>
            <a:r>
              <a:rPr lang="en-US" altLang="ko-KR" sz="1000" b="1" dirty="0">
                <a:solidFill>
                  <a:srgbClr val="FF0000"/>
                </a:solidFill>
              </a:rPr>
              <a:t>https://localhost:8443 -k</a:t>
            </a:r>
            <a:endParaRPr lang="ko-KR" altLang="en-US" sz="1000" b="1" dirty="0">
              <a:solidFill>
                <a:srgbClr val="FF0000"/>
              </a:solidFill>
            </a:endParaRPr>
          </a:p>
        </p:txBody>
      </p:sp>
      <p:sp>
        <p:nvSpPr>
          <p:cNvPr id="18" name="화살표: 아래쪽 17">
            <a:extLst>
              <a:ext uri="{FF2B5EF4-FFF2-40B4-BE49-F238E27FC236}">
                <a16:creationId xmlns:a16="http://schemas.microsoft.com/office/drawing/2014/main" id="{3B2553D6-22BE-8B9E-4519-F866D0FF0C79}"/>
              </a:ext>
            </a:extLst>
          </p:cNvPr>
          <p:cNvSpPr/>
          <p:nvPr/>
        </p:nvSpPr>
        <p:spPr>
          <a:xfrm>
            <a:off x="5893699" y="2120113"/>
            <a:ext cx="404602" cy="28939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1" name="그룹 20">
            <a:extLst>
              <a:ext uri="{FF2B5EF4-FFF2-40B4-BE49-F238E27FC236}">
                <a16:creationId xmlns:a16="http://schemas.microsoft.com/office/drawing/2014/main" id="{97B0B0B2-487B-8521-AE9B-896A4205CED2}"/>
              </a:ext>
            </a:extLst>
          </p:cNvPr>
          <p:cNvGrpSpPr/>
          <p:nvPr/>
        </p:nvGrpSpPr>
        <p:grpSpPr>
          <a:xfrm>
            <a:off x="1108946" y="2417864"/>
            <a:ext cx="9974108" cy="2177680"/>
            <a:chOff x="1108946" y="2417864"/>
            <a:chExt cx="9974108" cy="2177680"/>
          </a:xfrm>
        </p:grpSpPr>
        <p:pic>
          <p:nvPicPr>
            <p:cNvPr id="15" name="그림 14">
              <a:extLst>
                <a:ext uri="{FF2B5EF4-FFF2-40B4-BE49-F238E27FC236}">
                  <a16:creationId xmlns:a16="http://schemas.microsoft.com/office/drawing/2014/main" id="{DBFB6E9E-B21C-9182-DCAD-25CF3E8FB912}"/>
                </a:ext>
              </a:extLst>
            </p:cNvPr>
            <p:cNvPicPr>
              <a:picLocks noChangeAspect="1"/>
            </p:cNvPicPr>
            <p:nvPr/>
          </p:nvPicPr>
          <p:blipFill>
            <a:blip r:embed="rId2"/>
            <a:stretch>
              <a:fillRect/>
            </a:stretch>
          </p:blipFill>
          <p:spPr>
            <a:xfrm>
              <a:off x="1108946" y="2417864"/>
              <a:ext cx="9974108" cy="2177680"/>
            </a:xfrm>
            <a:prstGeom prst="rect">
              <a:avLst/>
            </a:prstGeom>
          </p:spPr>
        </p:pic>
        <p:sp>
          <p:nvSpPr>
            <p:cNvPr id="19" name="직사각형 18">
              <a:extLst>
                <a:ext uri="{FF2B5EF4-FFF2-40B4-BE49-F238E27FC236}">
                  <a16:creationId xmlns:a16="http://schemas.microsoft.com/office/drawing/2014/main" id="{89128A75-400A-572E-7A1C-7F16D4C6B540}"/>
                </a:ext>
              </a:extLst>
            </p:cNvPr>
            <p:cNvSpPr/>
            <p:nvPr/>
          </p:nvSpPr>
          <p:spPr>
            <a:xfrm>
              <a:off x="5340743" y="3304245"/>
              <a:ext cx="3099250" cy="1672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직사각형 19">
              <a:extLst>
                <a:ext uri="{FF2B5EF4-FFF2-40B4-BE49-F238E27FC236}">
                  <a16:creationId xmlns:a16="http://schemas.microsoft.com/office/drawing/2014/main" id="{FDFE3256-C2DC-C422-F846-07925A624B61}"/>
                </a:ext>
              </a:extLst>
            </p:cNvPr>
            <p:cNvSpPr/>
            <p:nvPr/>
          </p:nvSpPr>
          <p:spPr>
            <a:xfrm>
              <a:off x="5340743" y="3851809"/>
              <a:ext cx="2120114" cy="2011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9108557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Containers(15/21)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529907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dirty="0"/>
              <a:t>If you configured the server properly, you should get a response. </a:t>
            </a:r>
            <a:r>
              <a:rPr lang="en-US" altLang="ko-KR" sz="1400" b="1" dirty="0"/>
              <a:t>You can check the server’s certificate to see if it matches the one you generated earlier</a:t>
            </a:r>
            <a:r>
              <a:rPr lang="en-US" altLang="ko-KR" sz="1400" dirty="0"/>
              <a:t>. This can also be done with curl by turning on “</a:t>
            </a:r>
            <a:r>
              <a:rPr lang="en-US" altLang="ko-KR" sz="1400" b="1" dirty="0">
                <a:solidFill>
                  <a:srgbClr val="FF0000"/>
                </a:solidFill>
              </a:rPr>
              <a:t>verbose logging</a:t>
            </a:r>
            <a:r>
              <a:rPr lang="en-US" altLang="ko-KR" sz="1400" b="1" dirty="0"/>
              <a:t>” using the “</a:t>
            </a:r>
            <a:r>
              <a:rPr lang="en-US" altLang="ko-KR" sz="1400" b="1" dirty="0">
                <a:solidFill>
                  <a:srgbClr val="FF0000"/>
                </a:solidFill>
              </a:rPr>
              <a:t>-v</a:t>
            </a:r>
            <a:r>
              <a:rPr lang="en-US" altLang="ko-KR" sz="1400" b="1" dirty="0"/>
              <a:t>” option</a:t>
            </a:r>
            <a:r>
              <a:rPr lang="en-US" altLang="ko-KR" sz="1400" dirty="0"/>
              <a:t>, as shown in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6E033469-AED9-B0DD-C282-6420DC8AFB66}"/>
              </a:ext>
            </a:extLst>
          </p:cNvPr>
          <p:cNvGrpSpPr/>
          <p:nvPr/>
        </p:nvGrpSpPr>
        <p:grpSpPr>
          <a:xfrm>
            <a:off x="2100999" y="2559459"/>
            <a:ext cx="3158823" cy="469946"/>
            <a:chOff x="3047326" y="1775032"/>
            <a:chExt cx="7077731" cy="469946"/>
          </a:xfrm>
        </p:grpSpPr>
        <p:sp>
          <p:nvSpPr>
            <p:cNvPr id="10" name="TextBox 9">
              <a:extLst>
                <a:ext uri="{FF2B5EF4-FFF2-40B4-BE49-F238E27FC236}">
                  <a16:creationId xmlns:a16="http://schemas.microsoft.com/office/drawing/2014/main" id="{1BA85150-8AD7-82D8-1EE6-5DA89019249E}"/>
                </a:ext>
              </a:extLst>
            </p:cNvPr>
            <p:cNvSpPr txBox="1"/>
            <p:nvPr/>
          </p:nvSpPr>
          <p:spPr>
            <a:xfrm>
              <a:off x="3047326" y="1886895"/>
              <a:ext cx="6097348" cy="246221"/>
            </a:xfrm>
            <a:prstGeom prst="rect">
              <a:avLst/>
            </a:prstGeom>
            <a:noFill/>
            <a:ln>
              <a:solidFill>
                <a:schemeClr val="bg1">
                  <a:lumMod val="50000"/>
                </a:schemeClr>
              </a:solidFill>
            </a:ln>
          </p:spPr>
          <p:txBody>
            <a:bodyPr wrap="square">
              <a:spAutoFit/>
            </a:bodyPr>
            <a:lstStyle/>
            <a:p>
              <a:r>
                <a:rPr lang="en-US" altLang="ko-KR" sz="1000" b="1" dirty="0"/>
                <a:t>$ curl https://localhost:8443 -k </a:t>
              </a:r>
              <a:r>
                <a:rPr lang="en-US" altLang="ko-KR" sz="1000" b="1" dirty="0">
                  <a:solidFill>
                    <a:srgbClr val="FF0000"/>
                  </a:solidFill>
                </a:rPr>
                <a:t>-v</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90CC9B63-B146-6661-EF08-31CFEE98E8BB}"/>
                </a:ext>
              </a:extLst>
            </p:cNvPr>
            <p:cNvSpPr/>
            <p:nvPr/>
          </p:nvSpPr>
          <p:spPr>
            <a:xfrm rot="16200000">
              <a:off x="9474943" y="1594863"/>
              <a:ext cx="469946" cy="83028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8" name="그룹 17">
            <a:extLst>
              <a:ext uri="{FF2B5EF4-FFF2-40B4-BE49-F238E27FC236}">
                <a16:creationId xmlns:a16="http://schemas.microsoft.com/office/drawing/2014/main" id="{801595E7-0D2B-9D15-4B56-135425951B1A}"/>
              </a:ext>
            </a:extLst>
          </p:cNvPr>
          <p:cNvGrpSpPr/>
          <p:nvPr/>
        </p:nvGrpSpPr>
        <p:grpSpPr>
          <a:xfrm>
            <a:off x="6204260" y="898215"/>
            <a:ext cx="5149540" cy="5510815"/>
            <a:chOff x="6204260" y="898215"/>
            <a:chExt cx="5149540" cy="5510815"/>
          </a:xfrm>
        </p:grpSpPr>
        <p:grpSp>
          <p:nvGrpSpPr>
            <p:cNvPr id="16" name="그룹 15">
              <a:extLst>
                <a:ext uri="{FF2B5EF4-FFF2-40B4-BE49-F238E27FC236}">
                  <a16:creationId xmlns:a16="http://schemas.microsoft.com/office/drawing/2014/main" id="{24F01FD2-5885-28E5-675F-54C16319D426}"/>
                </a:ext>
              </a:extLst>
            </p:cNvPr>
            <p:cNvGrpSpPr/>
            <p:nvPr/>
          </p:nvGrpSpPr>
          <p:grpSpPr>
            <a:xfrm>
              <a:off x="6204260" y="898215"/>
              <a:ext cx="5149540" cy="5510815"/>
              <a:chOff x="6137270" y="774407"/>
              <a:chExt cx="5216530" cy="5634624"/>
            </a:xfrm>
          </p:grpSpPr>
          <p:pic>
            <p:nvPicPr>
              <p:cNvPr id="14" name="그림 13">
                <a:extLst>
                  <a:ext uri="{FF2B5EF4-FFF2-40B4-BE49-F238E27FC236}">
                    <a16:creationId xmlns:a16="http://schemas.microsoft.com/office/drawing/2014/main" id="{B5C8EC39-43AB-2B4A-9BD5-36A2CFB50B0B}"/>
                  </a:ext>
                </a:extLst>
              </p:cNvPr>
              <p:cNvPicPr>
                <a:picLocks noChangeAspect="1"/>
              </p:cNvPicPr>
              <p:nvPr/>
            </p:nvPicPr>
            <p:blipFill>
              <a:blip r:embed="rId2"/>
              <a:stretch>
                <a:fillRect/>
              </a:stretch>
            </p:blipFill>
            <p:spPr>
              <a:xfrm>
                <a:off x="6137270" y="774407"/>
                <a:ext cx="5216530" cy="5634624"/>
              </a:xfrm>
              <a:prstGeom prst="rect">
                <a:avLst/>
              </a:prstGeom>
            </p:spPr>
          </p:pic>
          <p:sp>
            <p:nvSpPr>
              <p:cNvPr id="15" name="직사각형 14">
                <a:extLst>
                  <a:ext uri="{FF2B5EF4-FFF2-40B4-BE49-F238E27FC236}">
                    <a16:creationId xmlns:a16="http://schemas.microsoft.com/office/drawing/2014/main" id="{F7079D8C-840F-8E28-0638-7ACDCAEBED06}"/>
                  </a:ext>
                </a:extLst>
              </p:cNvPr>
              <p:cNvSpPr/>
              <p:nvPr/>
            </p:nvSpPr>
            <p:spPr>
              <a:xfrm>
                <a:off x="9411037" y="1084333"/>
                <a:ext cx="1796432"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직사각형 16">
              <a:extLst>
                <a:ext uri="{FF2B5EF4-FFF2-40B4-BE49-F238E27FC236}">
                  <a16:creationId xmlns:a16="http://schemas.microsoft.com/office/drawing/2014/main" id="{C25AD374-94A9-9AB3-AB31-65466EF2F187}"/>
                </a:ext>
              </a:extLst>
            </p:cNvPr>
            <p:cNvSpPr/>
            <p:nvPr/>
          </p:nvSpPr>
          <p:spPr>
            <a:xfrm>
              <a:off x="6279419" y="3487667"/>
              <a:ext cx="4264503" cy="6878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9797240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Containers(16/21)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dirty="0"/>
              <a:t>You successfully delivered your certificate and private key to your container by </a:t>
            </a:r>
            <a:r>
              <a:rPr lang="en-US" altLang="ko-KR" sz="1400" b="1" dirty="0"/>
              <a:t>mounting a secret volume in its directory tree at “/</a:t>
            </a:r>
            <a:r>
              <a:rPr lang="en-US" altLang="ko-KR" sz="1400" b="1" dirty="0" err="1"/>
              <a:t>etc</a:t>
            </a:r>
            <a:r>
              <a:rPr lang="en-US" altLang="ko-KR" sz="1400" b="1" dirty="0"/>
              <a:t>/nginx/certs”</a:t>
            </a:r>
            <a:r>
              <a:rPr lang="en-US" altLang="ko-KR" sz="1400" dirty="0"/>
              <a:t>. </a:t>
            </a:r>
            <a:r>
              <a:rPr lang="en-US" altLang="ko-KR" sz="1400" b="1" dirty="0"/>
              <a:t>The secret volume uses an </a:t>
            </a:r>
            <a:r>
              <a:rPr lang="en-US" altLang="ko-KR" sz="1400" b="1" dirty="0">
                <a:solidFill>
                  <a:srgbClr val="FF0000"/>
                </a:solidFill>
              </a:rPr>
              <a:t>in-memory filesystem </a:t>
            </a:r>
            <a:r>
              <a:rPr lang="en-US" altLang="ko-KR" sz="1400" b="1" dirty="0"/>
              <a:t>(“</a:t>
            </a:r>
            <a:r>
              <a:rPr lang="en-US" altLang="ko-KR" sz="1400" b="1" dirty="0" err="1">
                <a:solidFill>
                  <a:srgbClr val="FF0000"/>
                </a:solidFill>
              </a:rPr>
              <a:t>tmpfs</a:t>
            </a:r>
            <a:r>
              <a:rPr lang="en-US" altLang="ko-KR" sz="1400" b="1" dirty="0"/>
              <a:t>” : Temporary File System) for the Secret files</a:t>
            </a:r>
            <a:r>
              <a:rPr lang="en-US" altLang="ko-KR" sz="1400" dirty="0"/>
              <a:t>. You can see this if you list mounts in the container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Because “</a:t>
            </a:r>
            <a:r>
              <a:rPr lang="en-US" altLang="ko-KR" sz="1400" b="1" dirty="0" err="1"/>
              <a:t>tmpfs</a:t>
            </a:r>
            <a:r>
              <a:rPr lang="en-US" altLang="ko-KR" sz="1400" b="1" dirty="0"/>
              <a:t>” is used, the sensitive data stored in the Secret is never written to disk, where it could be compromised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ED54E1D-FB76-03FE-5365-7C8FBFD4D8E8}"/>
              </a:ext>
            </a:extLst>
          </p:cNvPr>
          <p:cNvGrpSpPr/>
          <p:nvPr/>
        </p:nvGrpSpPr>
        <p:grpSpPr>
          <a:xfrm>
            <a:off x="1078432" y="2015432"/>
            <a:ext cx="10035135" cy="2176499"/>
            <a:chOff x="1078432" y="1910236"/>
            <a:chExt cx="10035135" cy="2176499"/>
          </a:xfrm>
        </p:grpSpPr>
        <p:grpSp>
          <p:nvGrpSpPr>
            <p:cNvPr id="12" name="그룹 11">
              <a:extLst>
                <a:ext uri="{FF2B5EF4-FFF2-40B4-BE49-F238E27FC236}">
                  <a16:creationId xmlns:a16="http://schemas.microsoft.com/office/drawing/2014/main" id="{64E78778-2BFD-4807-14B0-924D09B6AAAB}"/>
                </a:ext>
              </a:extLst>
            </p:cNvPr>
            <p:cNvGrpSpPr/>
            <p:nvPr/>
          </p:nvGrpSpPr>
          <p:grpSpPr>
            <a:xfrm>
              <a:off x="1078432" y="1910236"/>
              <a:ext cx="10035135" cy="2176499"/>
              <a:chOff x="1078432" y="1910236"/>
              <a:chExt cx="10035135" cy="2176499"/>
            </a:xfrm>
          </p:grpSpPr>
          <p:sp>
            <p:nvSpPr>
              <p:cNvPr id="8" name="TextBox 7">
                <a:extLst>
                  <a:ext uri="{FF2B5EF4-FFF2-40B4-BE49-F238E27FC236}">
                    <a16:creationId xmlns:a16="http://schemas.microsoft.com/office/drawing/2014/main" id="{E1B9FD84-7F0B-88DF-81C1-D9A7B418C155}"/>
                  </a:ext>
                </a:extLst>
              </p:cNvPr>
              <p:cNvSpPr txBox="1"/>
              <p:nvPr/>
            </p:nvSpPr>
            <p:spPr>
              <a:xfrm>
                <a:off x="3047326" y="191023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fortune-https -c web-server -- mount | grep certs</a:t>
                </a:r>
              </a:p>
            </p:txBody>
          </p:sp>
          <p:sp>
            <p:nvSpPr>
              <p:cNvPr id="9" name="화살표: 아래쪽 8">
                <a:extLst>
                  <a:ext uri="{FF2B5EF4-FFF2-40B4-BE49-F238E27FC236}">
                    <a16:creationId xmlns:a16="http://schemas.microsoft.com/office/drawing/2014/main" id="{C35CEB88-7BE5-AAA5-96D0-EA610B08E764}"/>
                  </a:ext>
                </a:extLst>
              </p:cNvPr>
              <p:cNvSpPr/>
              <p:nvPr/>
            </p:nvSpPr>
            <p:spPr>
              <a:xfrm>
                <a:off x="5873469" y="2176758"/>
                <a:ext cx="445062" cy="2994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8A495AFE-5228-813C-BBFE-F3E3DE0D60FC}"/>
                  </a:ext>
                </a:extLst>
              </p:cNvPr>
              <p:cNvPicPr>
                <a:picLocks noChangeAspect="1"/>
              </p:cNvPicPr>
              <p:nvPr/>
            </p:nvPicPr>
            <p:blipFill>
              <a:blip r:embed="rId2"/>
              <a:stretch>
                <a:fillRect/>
              </a:stretch>
            </p:blipFill>
            <p:spPr>
              <a:xfrm>
                <a:off x="1078432" y="2497838"/>
                <a:ext cx="10035135" cy="1588897"/>
              </a:xfrm>
              <a:prstGeom prst="rect">
                <a:avLst/>
              </a:prstGeom>
            </p:spPr>
          </p:pic>
        </p:grpSp>
        <p:sp>
          <p:nvSpPr>
            <p:cNvPr id="13" name="직사각형 12">
              <a:extLst>
                <a:ext uri="{FF2B5EF4-FFF2-40B4-BE49-F238E27FC236}">
                  <a16:creationId xmlns:a16="http://schemas.microsoft.com/office/drawing/2014/main" id="{A5A745BA-69E7-46E5-AC2B-9C1301E6241B}"/>
                </a:ext>
              </a:extLst>
            </p:cNvPr>
            <p:cNvSpPr/>
            <p:nvPr/>
          </p:nvSpPr>
          <p:spPr>
            <a:xfrm>
              <a:off x="5340743" y="2961685"/>
              <a:ext cx="4207859"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6568763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Containers(17/21)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dirty="0"/>
              <a:t>Instead of using a volume, you could also have </a:t>
            </a:r>
            <a:r>
              <a:rPr lang="en-US" altLang="ko-KR" sz="1400" b="1" dirty="0"/>
              <a:t>exposed individual entries from the secret as environment variables</a:t>
            </a:r>
            <a:r>
              <a:rPr lang="en-US" altLang="ko-KR" sz="1400" dirty="0"/>
              <a:t>, the way you did with the “</a:t>
            </a:r>
            <a:r>
              <a:rPr lang="en-US" altLang="ko-KR" sz="1400" b="1" dirty="0"/>
              <a:t>sleep-interval</a:t>
            </a:r>
            <a:r>
              <a:rPr lang="en-US" altLang="ko-KR" sz="1400" dirty="0"/>
              <a:t>” </a:t>
            </a:r>
            <a:r>
              <a:rPr lang="en-US" altLang="ko-KR" sz="1400" b="1" dirty="0"/>
              <a:t>entry from the </a:t>
            </a:r>
            <a:r>
              <a:rPr lang="en-US" altLang="ko-KR" sz="1400" b="1" dirty="0" err="1"/>
              <a:t>ConfigMap</a:t>
            </a:r>
            <a:r>
              <a:rPr lang="en-US" altLang="ko-KR" sz="1400" dirty="0"/>
              <a:t>. For example, if you wanted to </a:t>
            </a:r>
            <a:r>
              <a:rPr lang="en-US" altLang="ko-KR" sz="1400" b="1" dirty="0"/>
              <a:t>expose the “foo key” from your Secret as environment variable </a:t>
            </a:r>
            <a:r>
              <a:rPr lang="en-US" altLang="ko-KR" sz="1400" dirty="0"/>
              <a:t>“</a:t>
            </a:r>
            <a:r>
              <a:rPr lang="en-US" altLang="ko-KR" sz="1400" b="1" dirty="0">
                <a:solidFill>
                  <a:srgbClr val="FF0000"/>
                </a:solidFill>
              </a:rPr>
              <a:t>FOO_SECRET</a:t>
            </a:r>
            <a:r>
              <a:rPr lang="en-US" altLang="ko-KR" sz="1400" dirty="0"/>
              <a:t>”, you’d </a:t>
            </a:r>
            <a:r>
              <a:rPr lang="en-US" altLang="ko-KR" sz="1400" b="1" dirty="0"/>
              <a:t>add the snippet from the following listing to the container definition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3CDF2BCC-C63F-ADCF-4C32-4641A1260847}"/>
              </a:ext>
            </a:extLst>
          </p:cNvPr>
          <p:cNvGrpSpPr/>
          <p:nvPr/>
        </p:nvGrpSpPr>
        <p:grpSpPr>
          <a:xfrm>
            <a:off x="1161544" y="2172681"/>
            <a:ext cx="9868911" cy="3957598"/>
            <a:chOff x="1161544" y="2172681"/>
            <a:chExt cx="9868911" cy="3957598"/>
          </a:xfrm>
        </p:grpSpPr>
        <p:grpSp>
          <p:nvGrpSpPr>
            <p:cNvPr id="14" name="그룹 13">
              <a:extLst>
                <a:ext uri="{FF2B5EF4-FFF2-40B4-BE49-F238E27FC236}">
                  <a16:creationId xmlns:a16="http://schemas.microsoft.com/office/drawing/2014/main" id="{EE6E2A0C-5C4B-32AD-918B-8651041D1FED}"/>
                </a:ext>
              </a:extLst>
            </p:cNvPr>
            <p:cNvGrpSpPr/>
            <p:nvPr/>
          </p:nvGrpSpPr>
          <p:grpSpPr>
            <a:xfrm>
              <a:off x="1161544" y="2172681"/>
              <a:ext cx="9868911" cy="3957598"/>
              <a:chOff x="1161544" y="2041884"/>
              <a:chExt cx="9868911" cy="3957598"/>
            </a:xfrm>
          </p:grpSpPr>
          <p:pic>
            <p:nvPicPr>
              <p:cNvPr id="10" name="그림 9">
                <a:extLst>
                  <a:ext uri="{FF2B5EF4-FFF2-40B4-BE49-F238E27FC236}">
                    <a16:creationId xmlns:a16="http://schemas.microsoft.com/office/drawing/2014/main" id="{43C4AD0E-7FEC-3BB1-2CAE-D650149785AF}"/>
                  </a:ext>
                </a:extLst>
              </p:cNvPr>
              <p:cNvPicPr>
                <a:picLocks noChangeAspect="1"/>
              </p:cNvPicPr>
              <p:nvPr/>
            </p:nvPicPr>
            <p:blipFill>
              <a:blip r:embed="rId2"/>
              <a:stretch>
                <a:fillRect/>
              </a:stretch>
            </p:blipFill>
            <p:spPr>
              <a:xfrm>
                <a:off x="1161544" y="3672064"/>
                <a:ext cx="9868911" cy="2327418"/>
              </a:xfrm>
              <a:prstGeom prst="rect">
                <a:avLst/>
              </a:prstGeom>
            </p:spPr>
          </p:pic>
          <p:sp>
            <p:nvSpPr>
              <p:cNvPr id="11" name="화살표: 아래쪽 10">
                <a:extLst>
                  <a:ext uri="{FF2B5EF4-FFF2-40B4-BE49-F238E27FC236}">
                    <a16:creationId xmlns:a16="http://schemas.microsoft.com/office/drawing/2014/main" id="{6AADD460-16AD-F0CF-22E1-CB76972E067E}"/>
                  </a:ext>
                </a:extLst>
              </p:cNvPr>
              <p:cNvSpPr/>
              <p:nvPr/>
            </p:nvSpPr>
            <p:spPr>
              <a:xfrm>
                <a:off x="5873468" y="3359619"/>
                <a:ext cx="445062"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그룹 12">
                <a:extLst>
                  <a:ext uri="{FF2B5EF4-FFF2-40B4-BE49-F238E27FC236}">
                    <a16:creationId xmlns:a16="http://schemas.microsoft.com/office/drawing/2014/main" id="{F1BDC43F-5B95-274F-13A6-6DD62E055845}"/>
                  </a:ext>
                </a:extLst>
              </p:cNvPr>
              <p:cNvGrpSpPr/>
              <p:nvPr/>
            </p:nvGrpSpPr>
            <p:grpSpPr>
              <a:xfrm>
                <a:off x="3047326" y="2041884"/>
                <a:ext cx="6097348" cy="1323439"/>
                <a:chOff x="3047326" y="2041884"/>
                <a:chExt cx="6097348" cy="1323439"/>
              </a:xfrm>
            </p:grpSpPr>
            <p:sp>
              <p:nvSpPr>
                <p:cNvPr id="8" name="TextBox 7">
                  <a:extLst>
                    <a:ext uri="{FF2B5EF4-FFF2-40B4-BE49-F238E27FC236}">
                      <a16:creationId xmlns:a16="http://schemas.microsoft.com/office/drawing/2014/main" id="{8F552A55-6D26-BB93-92C1-D47D62009BB9}"/>
                    </a:ext>
                  </a:extLst>
                </p:cNvPr>
                <p:cNvSpPr txBox="1"/>
                <p:nvPr/>
              </p:nvSpPr>
              <p:spPr>
                <a:xfrm>
                  <a:off x="3047326" y="2041884"/>
                  <a:ext cx="6097348" cy="1323439"/>
                </a:xfrm>
                <a:prstGeom prst="rect">
                  <a:avLst/>
                </a:prstGeom>
                <a:noFill/>
                <a:ln>
                  <a:solidFill>
                    <a:schemeClr val="bg1">
                      <a:lumMod val="50000"/>
                    </a:schemeClr>
                  </a:solidFill>
                </a:ln>
              </p:spPr>
              <p:txBody>
                <a:bodyPr wrap="square">
                  <a:spAutoFit/>
                </a:bodyPr>
                <a:lstStyle/>
                <a:p>
                  <a:r>
                    <a:rPr lang="en-US" altLang="ko-KR" sz="1000" b="1" dirty="0"/>
                    <a:t>…</a:t>
                  </a:r>
                </a:p>
                <a:p>
                  <a:r>
                    <a:rPr lang="en-US" altLang="ko-KR" sz="1000" b="1" dirty="0"/>
                    <a:t>env:</a:t>
                  </a:r>
                </a:p>
                <a:p>
                  <a:r>
                    <a:rPr lang="en-US" altLang="ko-KR" sz="1000" b="1" dirty="0"/>
                    <a:t>- name: </a:t>
                  </a:r>
                  <a:r>
                    <a:rPr lang="en-US" altLang="ko-KR" sz="1000" b="1" dirty="0">
                      <a:solidFill>
                        <a:srgbClr val="FF0000"/>
                      </a:solidFill>
                    </a:rPr>
                    <a:t>FOO_SECRET</a:t>
                  </a:r>
                </a:p>
                <a:p>
                  <a:r>
                    <a:rPr lang="en-US" altLang="ko-KR" sz="1000" b="1" dirty="0"/>
                    <a:t>  </a:t>
                  </a:r>
                  <a:r>
                    <a:rPr lang="en-US" altLang="ko-KR" sz="1000" b="1" dirty="0" err="1"/>
                    <a:t>valueFrom</a:t>
                  </a:r>
                  <a:r>
                    <a:rPr lang="en-US" altLang="ko-KR" sz="1000" b="1" dirty="0"/>
                    <a:t>:</a:t>
                  </a:r>
                </a:p>
                <a:p>
                  <a:r>
                    <a:rPr lang="en-US" altLang="ko-KR" sz="1000" b="1" dirty="0"/>
                    <a:t>    </a:t>
                  </a:r>
                  <a:r>
                    <a:rPr lang="en-US" altLang="ko-KR" sz="1000" b="1" dirty="0" err="1"/>
                    <a:t>secretKeyRef</a:t>
                  </a:r>
                  <a:r>
                    <a:rPr lang="en-US" altLang="ko-KR" sz="1000" b="1" dirty="0"/>
                    <a:t>:</a:t>
                  </a:r>
                </a:p>
                <a:p>
                  <a:r>
                    <a:rPr lang="en-US" altLang="ko-KR" sz="1000" b="1" dirty="0"/>
                    <a:t>      name: fortune-https</a:t>
                  </a:r>
                </a:p>
                <a:p>
                  <a:r>
                    <a:rPr lang="en-US" altLang="ko-KR" sz="1000" b="1" dirty="0"/>
                    <a:t>      </a:t>
                  </a:r>
                  <a:r>
                    <a:rPr lang="en-US" altLang="ko-KR" sz="1000" b="1" dirty="0">
                      <a:solidFill>
                        <a:srgbClr val="FF0000"/>
                      </a:solidFill>
                    </a:rPr>
                    <a:t>key: foo</a:t>
                  </a:r>
                </a:p>
                <a:p>
                  <a:r>
                    <a:rPr lang="en-US" altLang="ko-KR" sz="1000" b="1" dirty="0"/>
                    <a:t>…</a:t>
                  </a:r>
                  <a:endParaRPr lang="ko-KR" altLang="en-US" sz="1000" b="1" dirty="0"/>
                </a:p>
              </p:txBody>
            </p:sp>
            <p:sp>
              <p:nvSpPr>
                <p:cNvPr id="12" name="TextBox 11">
                  <a:extLst>
                    <a:ext uri="{FF2B5EF4-FFF2-40B4-BE49-F238E27FC236}">
                      <a16:creationId xmlns:a16="http://schemas.microsoft.com/office/drawing/2014/main" id="{62DD07E8-9D5F-8898-291F-8302517CADAC}"/>
                    </a:ext>
                  </a:extLst>
                </p:cNvPr>
                <p:cNvSpPr txBox="1"/>
                <p:nvPr/>
              </p:nvSpPr>
              <p:spPr>
                <a:xfrm>
                  <a:off x="7244795" y="2041884"/>
                  <a:ext cx="1899879" cy="246221"/>
                </a:xfrm>
                <a:prstGeom prst="rect">
                  <a:avLst/>
                </a:prstGeom>
                <a:noFill/>
              </p:spPr>
              <p:txBody>
                <a:bodyPr wrap="none" rtlCol="0">
                  <a:spAutoFit/>
                </a:bodyPr>
                <a:lstStyle/>
                <a:p>
                  <a:pPr algn="l"/>
                  <a:r>
                    <a:rPr lang="en-US" altLang="ko-KR" sz="1000" b="1" dirty="0"/>
                    <a:t>fortune-pod-https-</a:t>
                  </a:r>
                  <a:r>
                    <a:rPr lang="en-US" altLang="ko-KR" sz="1000" b="1" dirty="0" err="1"/>
                    <a:t>env.yaml</a:t>
                  </a:r>
                  <a:endParaRPr lang="ko-KR" altLang="en-US" sz="1000" b="1" dirty="0"/>
                </a:p>
              </p:txBody>
            </p:sp>
          </p:grpSp>
        </p:grpSp>
        <p:sp>
          <p:nvSpPr>
            <p:cNvPr id="15" name="직사각형 14">
              <a:extLst>
                <a:ext uri="{FF2B5EF4-FFF2-40B4-BE49-F238E27FC236}">
                  <a16:creationId xmlns:a16="http://schemas.microsoft.com/office/drawing/2014/main" id="{FBC6023C-5182-12A3-6A2F-2068B8B9BF07}"/>
                </a:ext>
              </a:extLst>
            </p:cNvPr>
            <p:cNvSpPr/>
            <p:nvPr/>
          </p:nvSpPr>
          <p:spPr>
            <a:xfrm>
              <a:off x="5356927" y="4232135"/>
              <a:ext cx="2994054" cy="202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07806546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Containers(18/21)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Secret in a Pod :</a:t>
            </a:r>
          </a:p>
          <a:p>
            <a:pPr lvl="1">
              <a:buFont typeface="Wingdings" panose="05000000000000000000" pitchFamily="2" charset="2"/>
              <a:buChar char="§"/>
            </a:pPr>
            <a:r>
              <a:rPr lang="en-US" altLang="ko-KR" sz="1400" b="1" dirty="0"/>
              <a:t>The previous example is almost exactly like when you set the “INTERVAL” environment variable</a:t>
            </a:r>
            <a:r>
              <a:rPr lang="en-US" altLang="ko-KR" sz="1400" dirty="0"/>
              <a:t>, except that this time </a:t>
            </a:r>
            <a:r>
              <a:rPr lang="en-US" altLang="ko-KR" sz="1400" b="1" dirty="0"/>
              <a:t>you’re referring to a Secret by using “</a:t>
            </a:r>
            <a:r>
              <a:rPr lang="en-US" altLang="ko-KR" sz="1400" b="1" dirty="0" err="1">
                <a:solidFill>
                  <a:srgbClr val="FF0000"/>
                </a:solidFill>
              </a:rPr>
              <a:t>secretKeyRef</a:t>
            </a:r>
            <a:r>
              <a:rPr lang="en-US" altLang="ko-KR" sz="1400" b="1" dirty="0"/>
              <a:t>” instead of “</a:t>
            </a:r>
            <a:r>
              <a:rPr lang="en-US" altLang="ko-KR" sz="1400" b="1" dirty="0" err="1"/>
              <a:t>configMapKeyRef</a:t>
            </a:r>
            <a:r>
              <a:rPr lang="en-US" altLang="ko-KR" sz="1400" b="1" dirty="0"/>
              <a:t>”</a:t>
            </a:r>
            <a:r>
              <a:rPr lang="en-US" altLang="ko-KR" sz="1400" dirty="0"/>
              <a:t>, </a:t>
            </a:r>
            <a:r>
              <a:rPr lang="en-US" altLang="ko-KR" sz="1400" b="1" dirty="0"/>
              <a:t>which is used to refer to a </a:t>
            </a:r>
            <a:r>
              <a:rPr lang="en-US" altLang="ko-KR" sz="1400" b="1" dirty="0" err="1"/>
              <a:t>ConfigMap</a:t>
            </a:r>
            <a:r>
              <a:rPr lang="en-US" altLang="ko-KR" sz="1400" dirty="0"/>
              <a:t>.</a:t>
            </a:r>
          </a:p>
          <a:p>
            <a:pPr lvl="1">
              <a:buFont typeface="Wingdings" panose="05000000000000000000" pitchFamily="2" charset="2"/>
              <a:buChar char="§"/>
            </a:pPr>
            <a:r>
              <a:rPr lang="en-US" altLang="ko-KR" sz="1400" b="1" dirty="0"/>
              <a:t>Even though Kubernetes enables you to expose Secrets through environment variables, it may not be the best idea to use this feature</a:t>
            </a:r>
            <a:r>
              <a:rPr lang="en-US" altLang="ko-KR" sz="1400" dirty="0"/>
              <a:t>. Applications usually dump environment variables in error reports or even write them to the application log at startup, which may </a:t>
            </a:r>
            <a:r>
              <a:rPr lang="en-US" altLang="ko-KR" sz="1400" b="1" dirty="0"/>
              <a:t>unintentionally expose </a:t>
            </a:r>
            <a:r>
              <a:rPr lang="en-US" altLang="ko-KR" sz="1400" dirty="0"/>
              <a:t>them. Additionally, </a:t>
            </a:r>
            <a:r>
              <a:rPr lang="en-US" altLang="ko-KR" sz="1400" b="1" dirty="0"/>
              <a:t>child processes inherit all the environment variables of the parent process</a:t>
            </a:r>
            <a:r>
              <a:rPr lang="en-US" altLang="ko-KR" sz="1400" dirty="0"/>
              <a:t>, so if your app runs a third-party binary, you have no way of knowing what happens with your secret data. </a:t>
            </a:r>
          </a:p>
          <a:p>
            <a:pPr lvl="1">
              <a:buFont typeface="Wingdings" panose="05000000000000000000" pitchFamily="2" charset="2"/>
              <a:buChar char="§"/>
            </a:pPr>
            <a:r>
              <a:rPr lang="en-US" altLang="ko-KR" sz="1400" b="1" dirty="0"/>
              <a:t>NOTE : Think twice before using environment variables to pass your Secrets to your container</a:t>
            </a:r>
            <a:r>
              <a:rPr lang="en-US" altLang="ko-KR" sz="1400" dirty="0"/>
              <a:t>, </a:t>
            </a:r>
            <a:r>
              <a:rPr lang="en-US" altLang="ko-KR" sz="1400" b="1" dirty="0"/>
              <a:t>because they may get exposed inadvertently</a:t>
            </a:r>
            <a:r>
              <a:rPr lang="en-US" altLang="ko-KR" sz="1400" dirty="0"/>
              <a:t>. </a:t>
            </a:r>
            <a:r>
              <a:rPr lang="en-US" altLang="ko-KR" sz="1400" b="1" dirty="0">
                <a:solidFill>
                  <a:srgbClr val="FF0000"/>
                </a:solidFill>
              </a:rPr>
              <a:t>To be safe, always use secret volumes for exposing Secrets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301C3EB-29B2-3219-A694-98B0F7DD1AC0}"/>
              </a:ext>
            </a:extLst>
          </p:cNvPr>
          <p:cNvPicPr>
            <a:picLocks noChangeAspect="1"/>
          </p:cNvPicPr>
          <p:nvPr/>
        </p:nvPicPr>
        <p:blipFill>
          <a:blip r:embed="rId2"/>
          <a:stretch>
            <a:fillRect/>
          </a:stretch>
        </p:blipFill>
        <p:spPr>
          <a:xfrm>
            <a:off x="3385758" y="3591718"/>
            <a:ext cx="5420484" cy="2234118"/>
          </a:xfrm>
          <a:prstGeom prst="rect">
            <a:avLst/>
          </a:prstGeom>
        </p:spPr>
      </p:pic>
    </p:spTree>
    <p:extLst>
      <p:ext uri="{BB962C8B-B14F-4D97-AF65-F5344CB8AC3E}">
        <p14:creationId xmlns:p14="http://schemas.microsoft.com/office/powerpoint/2010/main" val="76558795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Containers(19/21)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Image Pull Secrets :</a:t>
            </a:r>
          </a:p>
          <a:p>
            <a:pPr lvl="1">
              <a:buFont typeface="Wingdings" panose="05000000000000000000" pitchFamily="2" charset="2"/>
              <a:buChar char="§"/>
            </a:pPr>
            <a:r>
              <a:rPr lang="en-US" altLang="ko-KR" sz="1400" dirty="0"/>
              <a:t>Sometimes Kubernetes itself requires you to pass credentials to it—for example, when you’d like to use images from a private container image registry. This is also done through Secrets.</a:t>
            </a:r>
          </a:p>
          <a:p>
            <a:pPr lvl="1">
              <a:buFont typeface="Wingdings" panose="05000000000000000000" pitchFamily="2" charset="2"/>
              <a:buChar char="§"/>
            </a:pPr>
            <a:r>
              <a:rPr lang="en-US" altLang="ko-KR" sz="1400" dirty="0"/>
              <a:t>Up to now all your container images have been stored on public image registries, which don’t require any special credentials to pull images from them. But </a:t>
            </a:r>
            <a:r>
              <a:rPr lang="en-US" altLang="ko-KR" sz="1400" b="1" dirty="0"/>
              <a:t>most organizations don’t want their images to be available to everyone and thus use a private image registry</a:t>
            </a:r>
            <a:r>
              <a:rPr lang="en-US" altLang="ko-KR" sz="1400" dirty="0"/>
              <a:t>. When deploying a pod, whose </a:t>
            </a:r>
            <a:r>
              <a:rPr lang="en-US" altLang="ko-KR" sz="1400" b="1" dirty="0"/>
              <a:t>container images reside in a private registry</a:t>
            </a:r>
            <a:r>
              <a:rPr lang="en-US" altLang="ko-KR" sz="1400" dirty="0"/>
              <a:t>, </a:t>
            </a:r>
            <a:r>
              <a:rPr lang="en-US" altLang="ko-KR" sz="1400" b="1" dirty="0"/>
              <a:t>Kubernetes needs to know the credentials required to pull the image</a:t>
            </a:r>
            <a:r>
              <a:rPr lang="en-US" altLang="ko-KR" sz="1400" dirty="0"/>
              <a:t>.</a:t>
            </a:r>
          </a:p>
          <a:p>
            <a:pPr lvl="1">
              <a:buFont typeface="Wingdings" panose="05000000000000000000" pitchFamily="2" charset="2"/>
              <a:buChar char="§"/>
            </a:pPr>
            <a:r>
              <a:rPr lang="en-US" altLang="ko-KR" sz="1400" b="1" dirty="0"/>
              <a:t>Docker Hub, in addition to public image repositories, also allows you to create private repositories</a:t>
            </a:r>
            <a:r>
              <a:rPr lang="en-US" altLang="ko-KR" sz="1400" dirty="0"/>
              <a:t>. You can mark a repository as private by logging in at “</a:t>
            </a:r>
            <a:r>
              <a:rPr lang="en-US" altLang="ko-KR" sz="1400" b="1" dirty="0">
                <a:hlinkClick r:id="rId2"/>
              </a:rPr>
              <a:t>http://hub.docker.com</a:t>
            </a:r>
            <a:r>
              <a:rPr lang="en-US" altLang="ko-KR" sz="1400" dirty="0"/>
              <a:t>” with your web browser, </a:t>
            </a:r>
            <a:r>
              <a:rPr lang="en-US" altLang="ko-KR" sz="1400" b="1" dirty="0"/>
              <a:t>finding the repository and checking a checkbox</a:t>
            </a:r>
            <a:r>
              <a:rPr lang="en-US" altLang="ko-KR" sz="1400" dirty="0"/>
              <a:t>.</a:t>
            </a:r>
          </a:p>
          <a:p>
            <a:pPr lvl="1">
              <a:buFont typeface="Wingdings" panose="05000000000000000000" pitchFamily="2" charset="2"/>
              <a:buChar char="§"/>
            </a:pPr>
            <a:r>
              <a:rPr lang="en-US" altLang="ko-KR" sz="1400" b="1" dirty="0"/>
              <a:t>To run a pod, which uses an image from the private repository</a:t>
            </a:r>
            <a:r>
              <a:rPr lang="en-US" altLang="ko-KR" sz="1400" dirty="0"/>
              <a:t>, you need to do two things :</a:t>
            </a:r>
          </a:p>
          <a:p>
            <a:pPr lvl="2">
              <a:buFont typeface="Wingdings" panose="05000000000000000000" pitchFamily="2" charset="2"/>
              <a:buChar char="§"/>
            </a:pPr>
            <a:r>
              <a:rPr lang="en-US" altLang="ko-KR" sz="1400" b="1" dirty="0"/>
              <a:t>Create a Secret holding the credentials for the Docker registry.</a:t>
            </a:r>
          </a:p>
          <a:p>
            <a:pPr lvl="2">
              <a:buFont typeface="Wingdings" panose="05000000000000000000" pitchFamily="2" charset="2"/>
              <a:buChar char="§"/>
            </a:pPr>
            <a:r>
              <a:rPr lang="en-US" altLang="ko-KR" sz="1400" b="1" dirty="0"/>
              <a:t>Reference that Secret in the “</a:t>
            </a:r>
            <a:r>
              <a:rPr lang="en-US" altLang="ko-KR" sz="1400" b="1" dirty="0" err="1">
                <a:solidFill>
                  <a:srgbClr val="FF0000"/>
                </a:solidFill>
              </a:rPr>
              <a:t>imagePullSecrets</a:t>
            </a:r>
            <a:r>
              <a:rPr lang="en-US" altLang="ko-KR" sz="1400" b="1" dirty="0"/>
              <a:t>” field of the pod manifest.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524A6E6-47B3-94DD-511B-540CBB05AD43}"/>
              </a:ext>
            </a:extLst>
          </p:cNvPr>
          <p:cNvPicPr>
            <a:picLocks noChangeAspect="1"/>
          </p:cNvPicPr>
          <p:nvPr/>
        </p:nvPicPr>
        <p:blipFill>
          <a:blip r:embed="rId3"/>
          <a:stretch>
            <a:fillRect/>
          </a:stretch>
        </p:blipFill>
        <p:spPr>
          <a:xfrm>
            <a:off x="8472360" y="3824156"/>
            <a:ext cx="2881439" cy="2584874"/>
          </a:xfrm>
          <a:prstGeom prst="rect">
            <a:avLst/>
          </a:prstGeom>
        </p:spPr>
      </p:pic>
    </p:spTree>
    <p:extLst>
      <p:ext uri="{BB962C8B-B14F-4D97-AF65-F5344CB8AC3E}">
        <p14:creationId xmlns:p14="http://schemas.microsoft.com/office/powerpoint/2010/main" val="298197274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Containers(20/21)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Image Pull Secrets :</a:t>
            </a:r>
          </a:p>
          <a:p>
            <a:pPr lvl="1">
              <a:buFont typeface="Wingdings" panose="05000000000000000000" pitchFamily="2" charset="2"/>
              <a:buChar char="§"/>
            </a:pPr>
            <a:r>
              <a:rPr lang="en-US" altLang="ko-KR" sz="1400" dirty="0"/>
              <a:t>Creating a Secret holding the credentials for authenticating with a Docker registry isn’t that different from creating the generic Secret you created before. You can use the same “$ </a:t>
            </a:r>
            <a:r>
              <a:rPr lang="en-US" altLang="ko-KR" sz="1400" dirty="0" err="1"/>
              <a:t>kubectl</a:t>
            </a:r>
            <a:r>
              <a:rPr lang="en-US" altLang="ko-KR" sz="1400" dirty="0"/>
              <a:t> create secret” command, but with a different type and options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Rather than create a generic secret, you’re creating a docker-registry Secret called “</a:t>
            </a:r>
            <a:r>
              <a:rPr lang="en-US" altLang="ko-KR" sz="1400" b="1" dirty="0" err="1"/>
              <a:t>mydockerhubsecret</a:t>
            </a:r>
            <a:r>
              <a:rPr lang="en-US" altLang="ko-KR" sz="1400" b="1" dirty="0"/>
              <a:t>”</a:t>
            </a:r>
            <a:r>
              <a:rPr lang="en-US" altLang="ko-KR" sz="1400" dirty="0"/>
              <a:t>. You’re specifying your </a:t>
            </a:r>
            <a:r>
              <a:rPr lang="en-US" altLang="ko-KR" sz="1400" b="1" dirty="0"/>
              <a:t>Docker Hub username</a:t>
            </a:r>
            <a:r>
              <a:rPr lang="en-US" altLang="ko-KR" sz="1400" dirty="0"/>
              <a:t>, </a:t>
            </a:r>
            <a:r>
              <a:rPr lang="en-US" altLang="ko-KR" sz="1400" b="1" dirty="0"/>
              <a:t>password</a:t>
            </a:r>
            <a:r>
              <a:rPr lang="en-US" altLang="ko-KR" sz="1400" dirty="0"/>
              <a:t>, and </a:t>
            </a:r>
            <a:r>
              <a:rPr lang="en-US" altLang="ko-KR" sz="1400" b="1" dirty="0"/>
              <a:t>email</a:t>
            </a:r>
            <a:r>
              <a:rPr lang="en-US" altLang="ko-KR" sz="1400" dirty="0"/>
              <a:t>. If you inspect the contents of the newly created Secret with “</a:t>
            </a:r>
            <a:r>
              <a:rPr lang="en-US" altLang="ko-KR" sz="1400" b="1" dirty="0"/>
              <a:t>$ </a:t>
            </a:r>
            <a:r>
              <a:rPr lang="en-US" altLang="ko-KR" sz="1400" b="1" dirty="0" err="1"/>
              <a:t>kubectl</a:t>
            </a:r>
            <a:r>
              <a:rPr lang="en-US" altLang="ko-KR" sz="1400" b="1" dirty="0"/>
              <a:t> describe</a:t>
            </a:r>
            <a:r>
              <a:rPr lang="en-US" altLang="ko-KR" sz="1400" dirty="0"/>
              <a:t>” command, you’ll see that it includes a single entry called “</a:t>
            </a:r>
            <a:r>
              <a:rPr lang="en-US" altLang="ko-KR" sz="1400" b="1" dirty="0"/>
              <a:t>.</a:t>
            </a:r>
            <a:r>
              <a:rPr lang="en-US" altLang="ko-KR" sz="1400" b="1" dirty="0" err="1"/>
              <a:t>dockerconfigjson</a:t>
            </a:r>
            <a:r>
              <a:rPr lang="en-US" altLang="ko-KR" sz="1400" dirty="0"/>
              <a:t>”. This is equivalent to the “</a:t>
            </a:r>
            <a:r>
              <a:rPr lang="en-US" altLang="ko-KR" sz="1400" b="1" dirty="0"/>
              <a:t>.docker/</a:t>
            </a:r>
            <a:r>
              <a:rPr lang="en-US" altLang="ko-KR" sz="1400" b="1" dirty="0" err="1"/>
              <a:t>config.json</a:t>
            </a:r>
            <a:r>
              <a:rPr lang="en-US" altLang="ko-KR" sz="1400" dirty="0"/>
              <a:t>” file in your home directory, which is created by Docker when you run the docker login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F5CDA8E-9F34-5048-F7D3-735C4D2BBB53}"/>
              </a:ext>
            </a:extLst>
          </p:cNvPr>
          <p:cNvSpPr txBox="1"/>
          <p:nvPr/>
        </p:nvSpPr>
        <p:spPr>
          <a:xfrm>
            <a:off x="3047326" y="1924551"/>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secret docker-registry </a:t>
            </a:r>
            <a:r>
              <a:rPr lang="en-US" altLang="ko-KR" sz="1000" b="1" dirty="0" err="1">
                <a:solidFill>
                  <a:srgbClr val="FF0000"/>
                </a:solidFill>
              </a:rPr>
              <a:t>mydockerhubsecret</a:t>
            </a:r>
            <a:r>
              <a:rPr lang="en-US" altLang="ko-KR" sz="1000" b="1" dirty="0"/>
              <a:t> --docker-username=</a:t>
            </a:r>
            <a:r>
              <a:rPr lang="en-US" altLang="ko-KR" sz="1000" b="1" dirty="0" err="1">
                <a:solidFill>
                  <a:srgbClr val="FF0000"/>
                </a:solidFill>
              </a:rPr>
              <a:t>myusername</a:t>
            </a:r>
            <a:r>
              <a:rPr lang="en-US" altLang="ko-KR" sz="1000" b="1" dirty="0"/>
              <a:t> --docker-password=</a:t>
            </a:r>
            <a:r>
              <a:rPr lang="en-US" altLang="ko-KR" sz="1000" b="1" dirty="0" err="1">
                <a:solidFill>
                  <a:srgbClr val="FF0000"/>
                </a:solidFill>
              </a:rPr>
              <a:t>mypassword</a:t>
            </a:r>
            <a:r>
              <a:rPr lang="en-US" altLang="ko-KR" sz="1000" b="1" dirty="0"/>
              <a:t> --docker-email=</a:t>
            </a:r>
            <a:r>
              <a:rPr lang="en-US" altLang="ko-KR" sz="1000" b="1" dirty="0">
                <a:solidFill>
                  <a:srgbClr val="FF0000"/>
                </a:solidFill>
              </a:rPr>
              <a:t>my.email@provider.com</a:t>
            </a:r>
          </a:p>
        </p:txBody>
      </p:sp>
      <p:grpSp>
        <p:nvGrpSpPr>
          <p:cNvPr id="13" name="그룹 12">
            <a:extLst>
              <a:ext uri="{FF2B5EF4-FFF2-40B4-BE49-F238E27FC236}">
                <a16:creationId xmlns:a16="http://schemas.microsoft.com/office/drawing/2014/main" id="{32560259-8781-3762-C0CC-B704043BB231}"/>
              </a:ext>
            </a:extLst>
          </p:cNvPr>
          <p:cNvGrpSpPr/>
          <p:nvPr/>
        </p:nvGrpSpPr>
        <p:grpSpPr>
          <a:xfrm>
            <a:off x="1207127" y="3556716"/>
            <a:ext cx="9777745" cy="2706265"/>
            <a:chOff x="1207127" y="3556716"/>
            <a:chExt cx="9777745" cy="2706265"/>
          </a:xfrm>
        </p:grpSpPr>
        <p:pic>
          <p:nvPicPr>
            <p:cNvPr id="10" name="그림 9">
              <a:extLst>
                <a:ext uri="{FF2B5EF4-FFF2-40B4-BE49-F238E27FC236}">
                  <a16:creationId xmlns:a16="http://schemas.microsoft.com/office/drawing/2014/main" id="{C1B73180-8837-9843-7919-1E7CBA826D64}"/>
                </a:ext>
              </a:extLst>
            </p:cNvPr>
            <p:cNvPicPr>
              <a:picLocks noChangeAspect="1"/>
            </p:cNvPicPr>
            <p:nvPr/>
          </p:nvPicPr>
          <p:blipFill>
            <a:blip r:embed="rId2"/>
            <a:stretch>
              <a:fillRect/>
            </a:stretch>
          </p:blipFill>
          <p:spPr>
            <a:xfrm>
              <a:off x="1207127" y="3556716"/>
              <a:ext cx="9777745" cy="2706265"/>
            </a:xfrm>
            <a:prstGeom prst="rect">
              <a:avLst/>
            </a:prstGeom>
          </p:spPr>
        </p:pic>
        <p:sp>
          <p:nvSpPr>
            <p:cNvPr id="11" name="직사각형 10">
              <a:extLst>
                <a:ext uri="{FF2B5EF4-FFF2-40B4-BE49-F238E27FC236}">
                  <a16:creationId xmlns:a16="http://schemas.microsoft.com/office/drawing/2014/main" id="{21C5DBAC-CFA9-1690-E1D0-1D1FAC6FF4F0}"/>
                </a:ext>
              </a:extLst>
            </p:cNvPr>
            <p:cNvSpPr/>
            <p:nvPr/>
          </p:nvSpPr>
          <p:spPr>
            <a:xfrm>
              <a:off x="5356927" y="4393975"/>
              <a:ext cx="2767477"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DB114CC-B2C2-CAC5-7768-CDC71FCF1163}"/>
                </a:ext>
              </a:extLst>
            </p:cNvPr>
            <p:cNvSpPr/>
            <p:nvPr/>
          </p:nvSpPr>
          <p:spPr>
            <a:xfrm>
              <a:off x="1319002" y="5810081"/>
              <a:ext cx="1998733"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907231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Secrets to Pass Sensitive Data to Containers(21/21)</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Image Pull Secrets :</a:t>
            </a:r>
          </a:p>
          <a:p>
            <a:pPr lvl="1">
              <a:buFont typeface="Wingdings" panose="05000000000000000000" pitchFamily="2" charset="2"/>
              <a:buChar char="§"/>
            </a:pPr>
            <a:r>
              <a:rPr lang="en-US" altLang="ko-KR" sz="1400" b="1" dirty="0"/>
              <a:t>To have Kubernetes use the Secret when pulling images from your private Docker Hub repository, all you need to do is </a:t>
            </a:r>
            <a:r>
              <a:rPr lang="en-US" altLang="ko-KR" sz="1400" b="1" dirty="0">
                <a:solidFill>
                  <a:srgbClr val="FF0000"/>
                </a:solidFill>
              </a:rPr>
              <a:t>specify the Secret’s name </a:t>
            </a:r>
            <a:r>
              <a:rPr lang="en-US" altLang="ko-KR" sz="1400" b="1" dirty="0"/>
              <a:t>in the pod spec</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NOTE : In the pod definition in the above listing, you’re </a:t>
            </a:r>
            <a:r>
              <a:rPr lang="en-US" altLang="ko-KR" sz="1400" b="1" dirty="0"/>
              <a:t>specifying the “</a:t>
            </a:r>
            <a:r>
              <a:rPr lang="en-US" altLang="ko-KR" sz="1400" b="1" dirty="0" err="1"/>
              <a:t>mydockerhubsecret</a:t>
            </a:r>
            <a:r>
              <a:rPr lang="en-US" altLang="ko-KR" sz="1400" b="1" dirty="0"/>
              <a:t>” Secret as one of the “</a:t>
            </a:r>
            <a:r>
              <a:rPr lang="en-US" altLang="ko-KR" sz="1400" b="1" dirty="0" err="1">
                <a:solidFill>
                  <a:srgbClr val="FF0000"/>
                </a:solidFill>
              </a:rPr>
              <a:t>imagePullSecrets</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BF6C174-0566-5280-4C4B-0E6B82AA51CE}"/>
              </a:ext>
            </a:extLst>
          </p:cNvPr>
          <p:cNvGrpSpPr/>
          <p:nvPr/>
        </p:nvGrpSpPr>
        <p:grpSpPr>
          <a:xfrm>
            <a:off x="3047326" y="1797784"/>
            <a:ext cx="6097348" cy="1631216"/>
            <a:chOff x="3047326" y="1797784"/>
            <a:chExt cx="6097348" cy="1631216"/>
          </a:xfrm>
        </p:grpSpPr>
        <p:sp>
          <p:nvSpPr>
            <p:cNvPr id="8" name="TextBox 7">
              <a:extLst>
                <a:ext uri="{FF2B5EF4-FFF2-40B4-BE49-F238E27FC236}">
                  <a16:creationId xmlns:a16="http://schemas.microsoft.com/office/drawing/2014/main" id="{3759C461-CBFF-1266-F494-1F09B5FB61C4}"/>
                </a:ext>
              </a:extLst>
            </p:cNvPr>
            <p:cNvSpPr txBox="1"/>
            <p:nvPr/>
          </p:nvSpPr>
          <p:spPr>
            <a:xfrm>
              <a:off x="3047326" y="1797784"/>
              <a:ext cx="6097348"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private-pod</a:t>
              </a:r>
            </a:p>
            <a:p>
              <a:r>
                <a:rPr lang="en-US" altLang="ko-KR" sz="1000" b="1" dirty="0"/>
                <a:t>spec:</a:t>
              </a:r>
            </a:p>
            <a:p>
              <a:r>
                <a:rPr lang="en-US" altLang="ko-KR" sz="1000" b="1" dirty="0"/>
                <a:t>  </a:t>
              </a:r>
              <a:r>
                <a:rPr lang="en-US" altLang="ko-KR" sz="1000" b="1" dirty="0" err="1">
                  <a:solidFill>
                    <a:srgbClr val="FF0000"/>
                  </a:solidFill>
                </a:rPr>
                <a:t>imagePullSecrets</a:t>
              </a:r>
              <a:r>
                <a:rPr lang="en-US" altLang="ko-KR" sz="1000" b="1" dirty="0"/>
                <a:t>:</a:t>
              </a:r>
            </a:p>
            <a:p>
              <a:r>
                <a:rPr lang="en-US" altLang="ko-KR" sz="1000" b="1" dirty="0"/>
                <a:t>  </a:t>
              </a:r>
              <a:r>
                <a:rPr lang="en-US" altLang="ko-KR" sz="1000" b="1" dirty="0">
                  <a:solidFill>
                    <a:srgbClr val="FF0000"/>
                  </a:solidFill>
                </a:rPr>
                <a:t>- name: </a:t>
              </a:r>
              <a:r>
                <a:rPr lang="en-US" altLang="ko-KR" sz="1000" b="1" dirty="0" err="1">
                  <a:solidFill>
                    <a:srgbClr val="FF0000"/>
                  </a:solidFill>
                </a:rPr>
                <a:t>mydockerhubsecret</a:t>
              </a:r>
              <a:endParaRPr lang="en-US" altLang="ko-KR" sz="1000" b="1" dirty="0">
                <a:solidFill>
                  <a:srgbClr val="FF0000"/>
                </a:solidFill>
              </a:endParaRPr>
            </a:p>
            <a:p>
              <a:r>
                <a:rPr lang="en-US" altLang="ko-KR" sz="1000" b="1" dirty="0"/>
                <a:t>  containers:</a:t>
              </a:r>
            </a:p>
            <a:p>
              <a:r>
                <a:rPr lang="en-US" altLang="ko-KR" sz="1000" b="1" dirty="0"/>
                <a:t>  - image: username/</a:t>
              </a:r>
              <a:r>
                <a:rPr lang="en-US" altLang="ko-KR" sz="1000" b="1" dirty="0" err="1"/>
                <a:t>private:tag</a:t>
              </a:r>
              <a:endParaRPr lang="en-US" altLang="ko-KR" sz="1000" b="1" dirty="0"/>
            </a:p>
            <a:p>
              <a:r>
                <a:rPr lang="en-US" altLang="ko-KR" sz="1000" b="1" dirty="0"/>
                <a:t>    name: main</a:t>
              </a:r>
              <a:endParaRPr lang="ko-KR" altLang="en-US" sz="1000" b="1" dirty="0"/>
            </a:p>
          </p:txBody>
        </p:sp>
        <p:sp>
          <p:nvSpPr>
            <p:cNvPr id="9" name="TextBox 8">
              <a:extLst>
                <a:ext uri="{FF2B5EF4-FFF2-40B4-BE49-F238E27FC236}">
                  <a16:creationId xmlns:a16="http://schemas.microsoft.com/office/drawing/2014/main" id="{78F0791C-424D-636D-93B2-F45575A6CACE}"/>
                </a:ext>
              </a:extLst>
            </p:cNvPr>
            <p:cNvSpPr txBox="1"/>
            <p:nvPr/>
          </p:nvSpPr>
          <p:spPr>
            <a:xfrm>
              <a:off x="7172659" y="1801720"/>
              <a:ext cx="1972015" cy="246221"/>
            </a:xfrm>
            <a:prstGeom prst="rect">
              <a:avLst/>
            </a:prstGeom>
            <a:noFill/>
          </p:spPr>
          <p:txBody>
            <a:bodyPr wrap="none" rtlCol="0">
              <a:spAutoFit/>
            </a:bodyPr>
            <a:lstStyle/>
            <a:p>
              <a:pPr algn="l"/>
              <a:r>
                <a:rPr lang="en-US" altLang="ko-KR" sz="1000" b="1" dirty="0"/>
                <a:t>pod-with-private-</a:t>
              </a:r>
              <a:r>
                <a:rPr lang="en-US" altLang="ko-KR" sz="1000" b="1" dirty="0" err="1"/>
                <a:t>image.yaml</a:t>
              </a:r>
              <a:endParaRPr lang="ko-KR" altLang="en-US" sz="1000" b="1" dirty="0"/>
            </a:p>
          </p:txBody>
        </p:sp>
      </p:grpSp>
    </p:spTree>
    <p:extLst>
      <p:ext uri="{BB962C8B-B14F-4D97-AF65-F5344CB8AC3E}">
        <p14:creationId xmlns:p14="http://schemas.microsoft.com/office/powerpoint/2010/main" val="363072093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133</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3"/>
          <a:stretch>
            <a:fillRect/>
          </a:stretch>
        </p:blipFill>
        <p:spPr>
          <a:xfrm>
            <a:off x="4990542" y="2209544"/>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134</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106345</TotalTime>
  <Words>19938</Words>
  <Application>Microsoft Office PowerPoint</Application>
  <PresentationFormat>와이드스크린</PresentationFormat>
  <Paragraphs>2229</Paragraphs>
  <Slides>134</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134</vt:i4>
      </vt:variant>
    </vt:vector>
  </HeadingPairs>
  <TitlesOfParts>
    <vt:vector size="138" baseType="lpstr">
      <vt:lpstr>맑은 고딕</vt:lpstr>
      <vt:lpstr>Arial</vt:lpstr>
      <vt:lpstr>Wingdings</vt:lpstr>
      <vt:lpstr>Office 테마</vt:lpstr>
      <vt:lpstr>Kubernetes in Action</vt:lpstr>
      <vt:lpstr>Volumes</vt:lpstr>
      <vt:lpstr>What Is Volume?</vt:lpstr>
      <vt:lpstr>Introducing Volumes(1/4)</vt:lpstr>
      <vt:lpstr>Introducing Volumes(2/4)</vt:lpstr>
      <vt:lpstr>Introducing Volumes(3/4)</vt:lpstr>
      <vt:lpstr>Introducing Volumes(4/4)</vt:lpstr>
      <vt:lpstr>Using Volumes(1/8)</vt:lpstr>
      <vt:lpstr>NOTE : Building Docker Image(1/2) </vt:lpstr>
      <vt:lpstr>NOTE : Building Docker Image(2/2) </vt:lpstr>
      <vt:lpstr>Using Volumes(2/8)</vt:lpstr>
      <vt:lpstr>Using Volumes(3/8)</vt:lpstr>
      <vt:lpstr>Using Volumes(4/8)</vt:lpstr>
      <vt:lpstr>Using Volumes(5/8)</vt:lpstr>
      <vt:lpstr>Using Volumes(6/8)</vt:lpstr>
      <vt:lpstr>Using Volumes(7/8)</vt:lpstr>
      <vt:lpstr>Using Volumes(8/8)</vt:lpstr>
      <vt:lpstr>Accessing Files on the Worker Node’s Filesystem(1/5)</vt:lpstr>
      <vt:lpstr>Accessing Files on the Worker Node’s Filesystem(2/5)</vt:lpstr>
      <vt:lpstr>Accessing Files on the Worker Node’s Filesystem(3/5)</vt:lpstr>
      <vt:lpstr>Accessing Files on the Worker Node’s Filesystem(4/5)</vt:lpstr>
      <vt:lpstr>Accessing Files on the Worker Node’s Filesystem(5/5)</vt:lpstr>
      <vt:lpstr>Using Persistent Storage(1/2)</vt:lpstr>
      <vt:lpstr>NOTE : Running Minikube with Persistent Volume</vt:lpstr>
      <vt:lpstr>Using Persistent Storage(2/2)</vt:lpstr>
      <vt:lpstr>NOTE : Using Minikube with Persistent Volume(1/6)</vt:lpstr>
      <vt:lpstr>NOTE : Using Minikube with Persistent Volume(2/6)</vt:lpstr>
      <vt:lpstr>NOTE : Using Minikube with Persistent Volume(3/6)</vt:lpstr>
      <vt:lpstr>NOTE : Using Minikube with Persistent Volume(4/6)</vt:lpstr>
      <vt:lpstr>NOTE : Using Minikube with Persistent Volume(5/6)</vt:lpstr>
      <vt:lpstr>NOTE : Using Minikube with Persistent Volume(6/6)</vt:lpstr>
      <vt:lpstr>Decoupling Pods from the Underlying Storage Technology(1/25)</vt:lpstr>
      <vt:lpstr>Decoupling Pods from the Underlying Storage Technology(2/25)</vt:lpstr>
      <vt:lpstr>Decoupling Pods from the Underlying Storage Technology(3/25)</vt:lpstr>
      <vt:lpstr>Decoupling Pods from the Underlying Storage Technology(4/25)</vt:lpstr>
      <vt:lpstr>Decoupling Pods from the Underlying Storage Technology(5/25)</vt:lpstr>
      <vt:lpstr>Decoupling Pods from the Underlying Storage Technology(6/25)</vt:lpstr>
      <vt:lpstr>Decoupling Pods from the Underlying Storage Technology(7/25)</vt:lpstr>
      <vt:lpstr>Decoupling Pods from the Underlying Storage Technology(8/25)</vt:lpstr>
      <vt:lpstr>Decoupling Pods from the Underlying Storage Technology(9/25)</vt:lpstr>
      <vt:lpstr>Decoupling Pods from the Underlying Storage Technology(10/25)</vt:lpstr>
      <vt:lpstr>Decoupling Pods from the Underlying Storage Technology(11/25)</vt:lpstr>
      <vt:lpstr>Decoupling Pods from the Underlying Storage Technology(12/25)</vt:lpstr>
      <vt:lpstr>Decoupling Pods from the Underlying Storage Technology(13/25)</vt:lpstr>
      <vt:lpstr>Decoupling Pods from the Underlying Storage Technology(14/25)</vt:lpstr>
      <vt:lpstr>Decoupling Pods from the Underlying Storage Technology(15/25)</vt:lpstr>
      <vt:lpstr>Decoupling Pods from the Underlying Storage Technology(16/25)</vt:lpstr>
      <vt:lpstr>Decoupling Pods from the Underlying Storage Technology(17/25)</vt:lpstr>
      <vt:lpstr>Decoupling Pods from the Underlying Storage Technology(18/25)</vt:lpstr>
      <vt:lpstr>Decoupling Pods from the Underlying Storage Technology(19/25)</vt:lpstr>
      <vt:lpstr>Decoupling Pods from the Underlying Storage Technology(20/25)</vt:lpstr>
      <vt:lpstr>Decoupling Pods from the Underlying Storage Technology(21/25)</vt:lpstr>
      <vt:lpstr>Decoupling Pods from the Underlying Storage Technology(22/25)</vt:lpstr>
      <vt:lpstr>Decoupling Pods from the Underlying Storage Technology(23/25)</vt:lpstr>
      <vt:lpstr>Decoupling Pods from the Underlying Storage Technology(24/25)</vt:lpstr>
      <vt:lpstr>Decoupling Pods from the Underlying Storage Technology(25/25)</vt:lpstr>
      <vt:lpstr>ConfigMaps and Secrets</vt:lpstr>
      <vt:lpstr>Configuring Containerized Applications(1/2)</vt:lpstr>
      <vt:lpstr>Configuring Containerized Applications(2/2)</vt:lpstr>
      <vt:lpstr>Passing Command-Line Arguments to Containers(1/10)</vt:lpstr>
      <vt:lpstr>Passing Command-Line Arguments to Containers(2/10)</vt:lpstr>
      <vt:lpstr>Passing Command-Line Arguments to Containers(3/10)</vt:lpstr>
      <vt:lpstr>Passing Command-Line Arguments to Containers(4/10)</vt:lpstr>
      <vt:lpstr>Passing Command-Line Arguments to Containers(5/10)</vt:lpstr>
      <vt:lpstr>NOTE : Docker Hub Repository</vt:lpstr>
      <vt:lpstr>Passing Command-Line Arguments to Containers(6/10)</vt:lpstr>
      <vt:lpstr>Passing Command-Line Arguments to Containers(7/10)</vt:lpstr>
      <vt:lpstr>Passing Command-Line Arguments to Containers(8/10)</vt:lpstr>
      <vt:lpstr>Passing Command-Line Arguments to Containers(9/10)</vt:lpstr>
      <vt:lpstr>Passing Command-Line Arguments to Containers(10/10)</vt:lpstr>
      <vt:lpstr>Setting Environment Variables for a Container(1/6)</vt:lpstr>
      <vt:lpstr>Setting Environment Variables for a Container(2/6)</vt:lpstr>
      <vt:lpstr>Setting Environment Variables for a Container(3/6)</vt:lpstr>
      <vt:lpstr>Setting Environment Variables for a Container(4/6)</vt:lpstr>
      <vt:lpstr>Setting Environment Variables for a Container(5/6)</vt:lpstr>
      <vt:lpstr>Setting Environment Variables for a Container(6/6)</vt:lpstr>
      <vt:lpstr>Decoupling Configuration with a ConfigMap(1/31)</vt:lpstr>
      <vt:lpstr>Decoupling Configuration with a ConfigMap(2/31)</vt:lpstr>
      <vt:lpstr>Decoupling Configuration with a ConfigMap(3/31)</vt:lpstr>
      <vt:lpstr>Decoupling Configuration with a ConfigMap(4/31)</vt:lpstr>
      <vt:lpstr>NOTE : ConfigMap YAML File</vt:lpstr>
      <vt:lpstr>Decoupling Configuration with a ConfigMap(5/31)</vt:lpstr>
      <vt:lpstr>Decoupling Configuration with a ConfigMap(6/31)</vt:lpstr>
      <vt:lpstr>Decoupling Configuration with a ConfigMap(7/31)</vt:lpstr>
      <vt:lpstr>Decoupling Configuration with a ConfigMap(8/31)</vt:lpstr>
      <vt:lpstr>Decoupling Configuration with a ConfigMap(9/31)</vt:lpstr>
      <vt:lpstr>NOTE : Running The ConfigMap Example</vt:lpstr>
      <vt:lpstr>Decoupling Configuration with a ConfigMap(10/31)</vt:lpstr>
      <vt:lpstr>Decoupling Configuration with a ConfigMap(11/31)</vt:lpstr>
      <vt:lpstr>Decoupling Configuration with a ConfigMap(12/31)</vt:lpstr>
      <vt:lpstr>NOTE : Passing a ConfigMap Entry as a Command-Line Argument </vt:lpstr>
      <vt:lpstr>Decoupling Configuration with a ConfigMap(13/31)</vt:lpstr>
      <vt:lpstr>Decoupling Configuration with a ConfigMap(14/31)</vt:lpstr>
      <vt:lpstr>Decoupling Configuration with a ConfigMap(15/31)</vt:lpstr>
      <vt:lpstr>Decoupling Configuration with a ConfigMap(16/31)</vt:lpstr>
      <vt:lpstr>Decoupling Configuration with a ConfigMap(17/31)</vt:lpstr>
      <vt:lpstr>Decoupling Configuration with a ConfigMap(18/31)</vt:lpstr>
      <vt:lpstr>Decoupling Configuration with a ConfigMap(19/31)</vt:lpstr>
      <vt:lpstr>Decoupling Configuration with a ConfigMap(20/31)</vt:lpstr>
      <vt:lpstr>Decoupling Configuration with a ConfigMap(21/31)</vt:lpstr>
      <vt:lpstr>Decoupling Configuration with a ConfigMap(22/31)</vt:lpstr>
      <vt:lpstr>Decoupling Configuration with a ConfigMap(23/31)</vt:lpstr>
      <vt:lpstr>Decoupling Configuration with a ConfigMap(24/31)</vt:lpstr>
      <vt:lpstr>Decoupling Configuration with a ConfigMap(25/31)</vt:lpstr>
      <vt:lpstr>Decoupling Configuration with a ConfigMap(26/31)</vt:lpstr>
      <vt:lpstr>Decoupling Configuration with a ConfigMap(27/31)</vt:lpstr>
      <vt:lpstr>Decoupling Configuration with a ConfigMap(28/31)</vt:lpstr>
      <vt:lpstr>Decoupling Configuration with a ConfigMap(29/31)</vt:lpstr>
      <vt:lpstr>Decoupling Configuration with a ConfigMap(30/31)</vt:lpstr>
      <vt:lpstr>Decoupling Configuration with a ConfigMap(31/31)</vt:lpstr>
      <vt:lpstr>Using Secrets to Pass Sensitive Data to Containers(1/21)</vt:lpstr>
      <vt:lpstr>Using Secrets to Pass Sensitive Data to Containers(2/21)</vt:lpstr>
      <vt:lpstr>Using Secrets to Pass Sensitive Data to Containers(3/21)</vt:lpstr>
      <vt:lpstr>Using Secrets to Pass Sensitive Data to Containers(4/21)</vt:lpstr>
      <vt:lpstr>Using Secrets to Pass Sensitive Data to Containers(5/21)</vt:lpstr>
      <vt:lpstr>Using Secrets to Pass Sensitive Data to Containers(6/21)</vt:lpstr>
      <vt:lpstr>Using Secrets to Pass Sensitive Data to Containers(7/21)</vt:lpstr>
      <vt:lpstr>Using Secrets to Pass Sensitive Data to Containers(8/21)</vt:lpstr>
      <vt:lpstr>Using Secrets to Pass Sensitive Data to Containers(9/21)</vt:lpstr>
      <vt:lpstr>Using Secrets to Pass Sensitive Data to Containers(10/21)</vt:lpstr>
      <vt:lpstr>Using Secrets to Pass Sensitive Data to Containers(11/21)</vt:lpstr>
      <vt:lpstr>Using Secrets to Pass Sensitive Data to Containers(12/21)</vt:lpstr>
      <vt:lpstr>Using Secrets to Pass Sensitive Data to Containers(13/21)</vt:lpstr>
      <vt:lpstr>NOTE : Creating Pods</vt:lpstr>
      <vt:lpstr>Using Secrets to Pass Sensitive Data to Containers(14/21)</vt:lpstr>
      <vt:lpstr>Using Secrets to Pass Sensitive Data to Containers(15/21)</vt:lpstr>
      <vt:lpstr>Using Secrets to Pass Sensitive Data to Containers(16/21)</vt:lpstr>
      <vt:lpstr>Using Secrets to Pass Sensitive Data to Containers(17/21)</vt:lpstr>
      <vt:lpstr>Using Secrets to Pass Sensitive Data to Containers(18/21)</vt:lpstr>
      <vt:lpstr>Using Secrets to Pass Sensitive Data to Containers(19/21)</vt:lpstr>
      <vt:lpstr>Using Secrets to Pass Sensitive Data to Containers(20/21)</vt:lpstr>
      <vt:lpstr>Using Secrets to Pass Sensitive Data to Containers(21/21)</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5285</cp:revision>
  <dcterms:created xsi:type="dcterms:W3CDTF">2020-11-26T08:00:10Z</dcterms:created>
  <dcterms:modified xsi:type="dcterms:W3CDTF">2026-08-18T02:40:41Z</dcterms:modified>
</cp:coreProperties>
</file>