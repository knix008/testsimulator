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6"/>
  </p:notesMasterIdLst>
  <p:sldIdLst>
    <p:sldId id="256" r:id="rId2"/>
    <p:sldId id="776" r:id="rId3"/>
    <p:sldId id="1697" r:id="rId4"/>
    <p:sldId id="1797" r:id="rId5"/>
    <p:sldId id="1798" r:id="rId6"/>
    <p:sldId id="1799" r:id="rId7"/>
    <p:sldId id="1800" r:id="rId8"/>
    <p:sldId id="1801" r:id="rId9"/>
    <p:sldId id="1802" r:id="rId10"/>
    <p:sldId id="1803" r:id="rId11"/>
    <p:sldId id="1804" r:id="rId12"/>
    <p:sldId id="1805" r:id="rId13"/>
    <p:sldId id="1806" r:id="rId14"/>
    <p:sldId id="1807" r:id="rId15"/>
    <p:sldId id="1808" r:id="rId16"/>
    <p:sldId id="1809" r:id="rId17"/>
    <p:sldId id="1810" r:id="rId18"/>
    <p:sldId id="1811" r:id="rId19"/>
    <p:sldId id="1812" r:id="rId20"/>
    <p:sldId id="1813" r:id="rId21"/>
    <p:sldId id="1814" r:id="rId22"/>
    <p:sldId id="1815" r:id="rId23"/>
    <p:sldId id="1816" r:id="rId24"/>
    <p:sldId id="1817" r:id="rId25"/>
    <p:sldId id="1818" r:id="rId26"/>
    <p:sldId id="1846" r:id="rId27"/>
    <p:sldId id="1855" r:id="rId28"/>
    <p:sldId id="1856" r:id="rId29"/>
    <p:sldId id="1857" r:id="rId30"/>
    <p:sldId id="1858" r:id="rId31"/>
    <p:sldId id="1859" r:id="rId32"/>
    <p:sldId id="1853" r:id="rId33"/>
    <p:sldId id="1847" r:id="rId34"/>
    <p:sldId id="1848" r:id="rId35"/>
    <p:sldId id="1849" r:id="rId36"/>
    <p:sldId id="1850" r:id="rId37"/>
    <p:sldId id="1851" r:id="rId38"/>
    <p:sldId id="1852" r:id="rId39"/>
    <p:sldId id="1822" r:id="rId40"/>
    <p:sldId id="1823" r:id="rId41"/>
    <p:sldId id="1824" r:id="rId42"/>
    <p:sldId id="1825" r:id="rId43"/>
    <p:sldId id="1826" r:id="rId44"/>
    <p:sldId id="1827" r:id="rId45"/>
    <p:sldId id="1828" r:id="rId46"/>
    <p:sldId id="1829" r:id="rId47"/>
    <p:sldId id="1830" r:id="rId48"/>
    <p:sldId id="1831" r:id="rId49"/>
    <p:sldId id="1832" r:id="rId50"/>
    <p:sldId id="1833" r:id="rId51"/>
    <p:sldId id="1834" r:id="rId52"/>
    <p:sldId id="1835" r:id="rId53"/>
    <p:sldId id="1836" r:id="rId54"/>
    <p:sldId id="1837" r:id="rId55"/>
    <p:sldId id="1838" r:id="rId56"/>
    <p:sldId id="1839" r:id="rId57"/>
    <p:sldId id="1840" r:id="rId58"/>
    <p:sldId id="1841" r:id="rId59"/>
    <p:sldId id="1842" r:id="rId60"/>
    <p:sldId id="1743" r:id="rId61"/>
    <p:sldId id="1796" r:id="rId62"/>
    <p:sldId id="1854" r:id="rId63"/>
    <p:sldId id="281" r:id="rId64"/>
    <p:sldId id="259" r:id="rId6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62" autoAdjust="0"/>
    <p:restoredTop sz="94660"/>
  </p:normalViewPr>
  <p:slideViewPr>
    <p:cSldViewPr snapToGrid="0">
      <p:cViewPr varScale="1">
        <p:scale>
          <a:sx n="135" d="100"/>
          <a:sy n="135" d="100"/>
        </p:scale>
        <p:origin x="150" y="4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2026-08-26</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2026-08-26</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2026-08-26</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2026-08-26</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2026-08-26</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2026-08-26</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2026-08-26</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2026-08-26</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2026-08-26</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2026-08-26</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2026-08-26</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2026-08-26</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2026-08-26</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blog.naver.com/knix008" TargetMode="External"/><Relationship Id="rId2" Type="http://schemas.openxmlformats.org/officeDocument/2006/relationships/hyperlink" Target="mailto:suho.kwon@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kubernetes.io/docs/tasks/extend-kubernetes/custom-resources/custom-resource-definition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github.com/kubernete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github.com/cloudfoundry/servicebroker"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minikube.sigs.k8s.io/docs/" TargetMode="External"/><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hyperlink" Target="https://kubernetes.io/docs/reference/kubectl/cheatsheet/" TargetMode="External"/></Relationships>
</file>

<file path=ppt/slides/_rels/slide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X</a:t>
            </a:r>
          </a:p>
          <a:p>
            <a:r>
              <a:rPr lang="en-US" altLang="ko-KR" sz="1600" b="1" dirty="0"/>
              <a:t>2023.04.04</a:t>
            </a:r>
          </a:p>
          <a:p>
            <a:r>
              <a:rPr lang="en-US" altLang="ko-KR" sz="1600" b="1" dirty="0"/>
              <a:t>Suho Kwon</a:t>
            </a:r>
          </a:p>
          <a:p>
            <a:r>
              <a:rPr lang="en-US" altLang="ko-KR" sz="1600" b="1" dirty="0"/>
              <a:t>(</a:t>
            </a:r>
            <a:r>
              <a:rPr lang="en-US" altLang="ko-KR" sz="1600" b="1" dirty="0">
                <a:hlinkClick r:id="rId2"/>
              </a:rPr>
              <a:t>suho.kwon@gmail.com</a:t>
            </a:r>
            <a:r>
              <a:rPr lang="en-US" altLang="ko-KR" sz="1600" b="1" dirty="0"/>
              <a:t>, </a:t>
            </a:r>
            <a:r>
              <a:rPr lang="en-US" altLang="ko-KR" sz="1600" b="1" dirty="0">
                <a:hlinkClick r:id="rId3"/>
              </a:rPr>
              <a:t>http://blog.naver.com/knix008</a:t>
            </a:r>
            <a:r>
              <a:rPr lang="en-US" altLang="ko-KR" sz="1600" b="1" dirty="0"/>
              <a:t>)</a:t>
            </a:r>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Extending Kubernetes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endParaRPr lang="ko-KR" altLang="en-US" sz="2800" b="1" dirty="0"/>
          </a:p>
        </p:txBody>
      </p: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 Custom Controller :</a:t>
            </a:r>
            <a:endParaRPr lang="en-US" altLang="ko-KR" sz="1400" dirty="0"/>
          </a:p>
          <a:p>
            <a:pPr lvl="1">
              <a:buFont typeface="Wingdings" panose="05000000000000000000" pitchFamily="2" charset="2"/>
              <a:buChar char="§"/>
            </a:pPr>
            <a:r>
              <a:rPr lang="en-US" altLang="ko-KR" sz="1400" dirty="0"/>
              <a:t>You’ve learned about </a:t>
            </a:r>
            <a:r>
              <a:rPr lang="en-US" altLang="ko-KR" sz="1400" b="1" dirty="0"/>
              <a:t>the </a:t>
            </a:r>
            <a:r>
              <a:rPr lang="en-US" altLang="ko-KR" sz="1400" b="1" dirty="0">
                <a:solidFill>
                  <a:srgbClr val="FF0000"/>
                </a:solidFill>
              </a:rPr>
              <a:t>API objects </a:t>
            </a:r>
            <a:r>
              <a:rPr lang="en-US" altLang="ko-KR" sz="1400" b="1" dirty="0"/>
              <a:t>that Kubernetes provides and how they’re used to build application systems</a:t>
            </a:r>
            <a:r>
              <a:rPr lang="en-US" altLang="ko-KR" sz="1400" dirty="0"/>
              <a:t>. Currently, Kubernetes users mostly use only these objects even though they represent </a:t>
            </a:r>
            <a:r>
              <a:rPr lang="en-US" altLang="ko-KR" sz="1400" b="1" dirty="0"/>
              <a:t>relatively low-level, generic concepts</a:t>
            </a:r>
            <a:r>
              <a:rPr lang="en-US" altLang="ko-KR" sz="1400" dirty="0"/>
              <a:t>.</a:t>
            </a:r>
          </a:p>
          <a:p>
            <a:pPr lvl="1">
              <a:buFont typeface="Wingdings" panose="05000000000000000000" pitchFamily="2" charset="2"/>
              <a:buChar char="§"/>
            </a:pPr>
            <a:r>
              <a:rPr lang="en-US" altLang="ko-KR" sz="1400" dirty="0"/>
              <a:t>As the Kubernetes ecosystem evolves, you’ll see more and more </a:t>
            </a:r>
            <a:r>
              <a:rPr lang="en-US" altLang="ko-KR" sz="1400" b="1" dirty="0"/>
              <a:t>high-level objects</a:t>
            </a:r>
            <a:r>
              <a:rPr lang="en-US" altLang="ko-KR" sz="1400" dirty="0"/>
              <a:t>, which will be much more specialized than the resources Kubernetes supports today. </a:t>
            </a:r>
            <a:r>
              <a:rPr lang="en-US" altLang="ko-KR" sz="1400" b="1" dirty="0"/>
              <a:t>Instead of dealing with Deployments, Services, </a:t>
            </a:r>
            <a:r>
              <a:rPr lang="en-US" altLang="ko-KR" sz="1400" b="1" dirty="0" err="1"/>
              <a:t>ConfigMaps</a:t>
            </a:r>
            <a:r>
              <a:rPr lang="en-US" altLang="ko-KR" sz="1400" b="1" dirty="0"/>
              <a:t>, and the like, </a:t>
            </a:r>
            <a:r>
              <a:rPr lang="en-US" altLang="ko-KR" sz="1400" b="1" dirty="0">
                <a:solidFill>
                  <a:srgbClr val="FF0000"/>
                </a:solidFill>
              </a:rPr>
              <a:t>you’ll create and manage objects that represent whole applications or software services</a:t>
            </a:r>
            <a:r>
              <a:rPr lang="en-US" altLang="ko-KR" sz="1400" dirty="0"/>
              <a:t>. </a:t>
            </a:r>
            <a:r>
              <a:rPr lang="en-US" altLang="ko-KR" sz="1400" b="1" dirty="0"/>
              <a:t>A custom controller will observe those high-level objects and create low-level objects based on them</a:t>
            </a:r>
            <a:r>
              <a:rPr lang="en-US" altLang="ko-KR" sz="1400" dirty="0"/>
              <a:t>. For example, to run a messaging broker inside a Kubernetes cluster, all you’ll need to do is create an instance of a “</a:t>
            </a:r>
            <a:r>
              <a:rPr lang="en-US" altLang="ko-KR" sz="1400" b="1" dirty="0"/>
              <a:t>Queue</a:t>
            </a:r>
            <a:r>
              <a:rPr lang="en-US" altLang="ko-KR" sz="1400" dirty="0"/>
              <a:t>” resource and </a:t>
            </a:r>
            <a:r>
              <a:rPr lang="en-US" altLang="ko-KR" sz="1400" b="1" dirty="0"/>
              <a:t>all the necessary Secrets, Deployments, and Services will be created by a custom Queue controller</a:t>
            </a:r>
            <a:r>
              <a:rPr lang="en-US" altLang="ko-KR" sz="1400" dirty="0"/>
              <a:t>. Kubernetes already provides ways of </a:t>
            </a:r>
            <a:r>
              <a:rPr lang="en-US" altLang="ko-KR" sz="1400" b="1" dirty="0"/>
              <a:t>adding custom resources </a:t>
            </a:r>
            <a:r>
              <a:rPr lang="en-US" altLang="ko-KR" sz="1400" dirty="0"/>
              <a:t>like this.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FC17ECF-CF71-E4E8-2F25-0E4570432D15}"/>
              </a:ext>
            </a:extLst>
          </p:cNvPr>
          <p:cNvPicPr>
            <a:picLocks noChangeAspect="1"/>
          </p:cNvPicPr>
          <p:nvPr/>
        </p:nvPicPr>
        <p:blipFill>
          <a:blip r:embed="rId2"/>
          <a:stretch>
            <a:fillRect/>
          </a:stretch>
        </p:blipFill>
        <p:spPr>
          <a:xfrm>
            <a:off x="3265832" y="3302418"/>
            <a:ext cx="5660336" cy="3007248"/>
          </a:xfrm>
          <a:prstGeom prst="rect">
            <a:avLst/>
          </a:prstGeom>
        </p:spPr>
      </p:pic>
    </p:spTree>
    <p:extLst>
      <p:ext uri="{BB962C8B-B14F-4D97-AF65-F5344CB8AC3E}">
        <p14:creationId xmlns:p14="http://schemas.microsoft.com/office/powerpoint/2010/main" val="470128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a:t>
            </a:r>
            <a:r>
              <a:rPr lang="en-US" altLang="ko-KR" sz="1800" b="1" dirty="0" err="1"/>
              <a:t>CustomResourceDefinitions</a:t>
            </a:r>
            <a:r>
              <a:rPr lang="en-US" altLang="ko-KR" sz="1800" b="1" dirty="0"/>
              <a:t> :</a:t>
            </a:r>
            <a:endParaRPr lang="en-US" altLang="ko-KR" sz="1400" dirty="0"/>
          </a:p>
          <a:p>
            <a:pPr lvl="1">
              <a:buFont typeface="Wingdings" panose="05000000000000000000" pitchFamily="2" charset="2"/>
              <a:buChar char="§"/>
            </a:pPr>
            <a:r>
              <a:rPr lang="en-US" altLang="ko-KR" sz="1400" dirty="0"/>
              <a:t>To define a new resource type, all you need to do is </a:t>
            </a:r>
            <a:r>
              <a:rPr lang="en-US" altLang="ko-KR" sz="1400" b="1" dirty="0"/>
              <a:t>post a “</a:t>
            </a:r>
            <a:r>
              <a:rPr lang="en-US" altLang="ko-KR" sz="1400" b="1" dirty="0" err="1">
                <a:solidFill>
                  <a:srgbClr val="FF0000"/>
                </a:solidFill>
              </a:rPr>
              <a:t>CustomResourceDefinition</a:t>
            </a:r>
            <a:r>
              <a:rPr lang="en-US" altLang="ko-KR" sz="1400" b="1" dirty="0">
                <a:solidFill>
                  <a:srgbClr val="FF0000"/>
                </a:solidFill>
              </a:rPr>
              <a:t> object (CRD)</a:t>
            </a:r>
            <a:r>
              <a:rPr lang="en-US" altLang="ko-KR" sz="1400" b="1" dirty="0"/>
              <a:t>” to the Kubernetes API server</a:t>
            </a:r>
            <a:r>
              <a:rPr lang="en-US" altLang="ko-KR" sz="1400" dirty="0"/>
              <a:t>. </a:t>
            </a:r>
            <a:r>
              <a:rPr lang="en-US" altLang="ko-KR" sz="1400" b="1" dirty="0"/>
              <a:t>The “</a:t>
            </a:r>
            <a:r>
              <a:rPr lang="en-US" altLang="ko-KR" sz="1400" b="1" dirty="0" err="1"/>
              <a:t>CustomResourceDefinition</a:t>
            </a:r>
            <a:r>
              <a:rPr lang="en-US" altLang="ko-KR" sz="1400" b="1" dirty="0"/>
              <a:t>” object is </a:t>
            </a:r>
            <a:r>
              <a:rPr lang="en-US" altLang="ko-KR" sz="1400" b="1" dirty="0">
                <a:solidFill>
                  <a:srgbClr val="FF0000"/>
                </a:solidFill>
              </a:rPr>
              <a:t>the description of the custom resource type</a:t>
            </a:r>
            <a:r>
              <a:rPr lang="en-US" altLang="ko-KR" sz="1400" dirty="0"/>
              <a:t>. </a:t>
            </a:r>
            <a:r>
              <a:rPr lang="en-US" altLang="ko-KR" sz="1400" b="1" dirty="0"/>
              <a:t>Once the CRD is posted, users can then create instances of the custom resource by posting JSON or YAML manifests to the API server</a:t>
            </a:r>
            <a:r>
              <a:rPr lang="en-US" altLang="ko-KR" sz="1400" dirty="0"/>
              <a:t>, the same as with any other Kubernetes resource.</a:t>
            </a:r>
          </a:p>
          <a:p>
            <a:pPr lvl="1">
              <a:buFont typeface="Wingdings" panose="05000000000000000000" pitchFamily="2" charset="2"/>
              <a:buChar char="§"/>
            </a:pPr>
            <a:r>
              <a:rPr lang="en-US" altLang="ko-KR" sz="1400" b="1" dirty="0"/>
              <a:t>NOTE : Prior to Kubernetes 1.7, custom resources were defined through “</a:t>
            </a:r>
            <a:r>
              <a:rPr lang="en-US" altLang="ko-KR" sz="1400" b="1" dirty="0" err="1"/>
              <a:t>ThirdPartyResource</a:t>
            </a:r>
            <a:r>
              <a:rPr lang="en-US" altLang="ko-KR" sz="1400" b="1" dirty="0"/>
              <a:t>” objects, which were similar to </a:t>
            </a:r>
            <a:r>
              <a:rPr lang="en-US" altLang="ko-KR" sz="1400" b="1" dirty="0" err="1"/>
              <a:t>CustomResourceDefinitions</a:t>
            </a:r>
            <a:r>
              <a:rPr lang="en-US" altLang="ko-KR" sz="1400" dirty="0"/>
              <a:t>, </a:t>
            </a:r>
            <a:r>
              <a:rPr lang="en-US" altLang="ko-KR" sz="1400" b="1" dirty="0"/>
              <a:t>but were removed in version 1.8</a:t>
            </a:r>
            <a:r>
              <a:rPr lang="en-US" altLang="ko-KR" sz="1400" dirty="0"/>
              <a:t>.</a:t>
            </a:r>
          </a:p>
          <a:p>
            <a:pPr lvl="1">
              <a:buFont typeface="Wingdings" panose="05000000000000000000" pitchFamily="2" charset="2"/>
              <a:buChar char="§"/>
            </a:pPr>
            <a:r>
              <a:rPr lang="en-US" altLang="ko-KR" sz="1400" dirty="0"/>
              <a:t>Creating a CRD so that users can create objects of the new type isn’t a useful feature if those objects don’t make something tangible happen in the cluster. </a:t>
            </a:r>
            <a:r>
              <a:rPr lang="en-US" altLang="ko-KR" sz="1400" b="1" dirty="0"/>
              <a:t>Each CRD will usually also have an associated controller (an active component doing something based on the </a:t>
            </a:r>
            <a:r>
              <a:rPr lang="en-US" altLang="ko-KR" sz="1400" b="1" dirty="0">
                <a:solidFill>
                  <a:srgbClr val="FF0000"/>
                </a:solidFill>
              </a:rPr>
              <a:t>custom objects</a:t>
            </a:r>
            <a:r>
              <a:rPr lang="en-US" altLang="ko-KR" sz="1400" b="1" dirty="0"/>
              <a:t>), the same way that all the core Kubernetes resources have </a:t>
            </a:r>
            <a:r>
              <a:rPr lang="en-US" altLang="ko-KR" sz="1400" b="1" dirty="0">
                <a:solidFill>
                  <a:srgbClr val="FF0000"/>
                </a:solidFill>
              </a:rPr>
              <a:t>an associated controller</a:t>
            </a:r>
            <a:r>
              <a:rPr lang="en-US" altLang="ko-KR" sz="1400" dirty="0"/>
              <a:t>. For this reason, to properly show what “</a:t>
            </a:r>
            <a:r>
              <a:rPr lang="en-US" altLang="ko-KR" sz="1400" b="1" dirty="0" err="1"/>
              <a:t>CustomResourceDefinitions</a:t>
            </a:r>
            <a:r>
              <a:rPr lang="en-US" altLang="ko-KR" sz="1400" dirty="0"/>
              <a:t>” allow you to do other than adding instances of a custom object, </a:t>
            </a:r>
            <a:r>
              <a:rPr lang="en-US" altLang="ko-KR" sz="1400" b="1" dirty="0"/>
              <a:t>a controller must be deployed</a:t>
            </a:r>
            <a:r>
              <a:rPr lang="en-US" altLang="ko-KR" sz="1400" dirty="0"/>
              <a:t> as well.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26A8565-F76C-DCF2-9B8B-311D4288793D}"/>
              </a:ext>
            </a:extLst>
          </p:cNvPr>
          <p:cNvPicPr>
            <a:picLocks noChangeAspect="1"/>
          </p:cNvPicPr>
          <p:nvPr/>
        </p:nvPicPr>
        <p:blipFill>
          <a:blip r:embed="rId2"/>
          <a:stretch>
            <a:fillRect/>
          </a:stretch>
        </p:blipFill>
        <p:spPr>
          <a:xfrm>
            <a:off x="2990812" y="3978321"/>
            <a:ext cx="6210376" cy="1657411"/>
          </a:xfrm>
          <a:prstGeom prst="rect">
            <a:avLst/>
          </a:prstGeom>
        </p:spPr>
      </p:pic>
    </p:spTree>
    <p:extLst>
      <p:ext uri="{BB962C8B-B14F-4D97-AF65-F5344CB8AC3E}">
        <p14:creationId xmlns:p14="http://schemas.microsoft.com/office/powerpoint/2010/main" val="325167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Objects(3/28)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Example </a:t>
            </a:r>
            <a:r>
              <a:rPr lang="en-US" altLang="ko-KR" sz="1800" b="1" dirty="0" err="1"/>
              <a:t>CustomResourceDefinition</a:t>
            </a:r>
            <a:r>
              <a:rPr lang="en-US" altLang="ko-KR" sz="1800" b="1" dirty="0"/>
              <a:t> :</a:t>
            </a:r>
            <a:endParaRPr lang="en-US" altLang="ko-KR" sz="1400" dirty="0"/>
          </a:p>
          <a:p>
            <a:pPr lvl="1">
              <a:buFont typeface="Wingdings" panose="05000000000000000000" pitchFamily="2" charset="2"/>
              <a:buChar char="§"/>
            </a:pPr>
            <a:r>
              <a:rPr lang="en-US" altLang="ko-KR" sz="1400" b="1" dirty="0"/>
              <a:t>Let’s imagine you want to allow users of your Kubernetes cluster to run static websites</a:t>
            </a:r>
            <a:r>
              <a:rPr lang="en-US" altLang="ko-KR" sz="1400" dirty="0"/>
              <a:t> as easily as possible, without having to deal with Pods, Services, and other Kubernetes resources. What you want to achieve is for users to create objects of type Website that contain nothing more than the website’s name and the source from which the website’s files (HTML, CSS, PNG, and others) should be obtained. </a:t>
            </a:r>
            <a:r>
              <a:rPr lang="en-US" altLang="ko-KR" sz="1400" b="1" dirty="0"/>
              <a:t>You’ll use a Git repository as the source of those files</a:t>
            </a:r>
            <a:r>
              <a:rPr lang="en-US" altLang="ko-KR" sz="1400" dirty="0"/>
              <a:t>. </a:t>
            </a:r>
            <a:r>
              <a:rPr lang="en-US" altLang="ko-KR" sz="1400" b="1" dirty="0"/>
              <a:t>When a user creates an instance of the Website resource, you want Kubernetes to spin up a new web server pod and expose it through a Service</a:t>
            </a:r>
            <a:r>
              <a:rPr lang="en-US" altLang="ko-KR" sz="1400" dirty="0"/>
              <a:t>, as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To create the Website resource, you want users to post manifests</a:t>
            </a:r>
            <a:r>
              <a:rPr lang="en-US" altLang="ko-KR" sz="1400" dirty="0"/>
              <a:t> along the lines of the one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EF03004-552D-8182-1565-0E51AE71DC5F}"/>
              </a:ext>
            </a:extLst>
          </p:cNvPr>
          <p:cNvPicPr>
            <a:picLocks noChangeAspect="1"/>
          </p:cNvPicPr>
          <p:nvPr/>
        </p:nvPicPr>
        <p:blipFill>
          <a:blip r:embed="rId2"/>
          <a:stretch>
            <a:fillRect/>
          </a:stretch>
        </p:blipFill>
        <p:spPr>
          <a:xfrm>
            <a:off x="3559277" y="2510989"/>
            <a:ext cx="5073445" cy="1366684"/>
          </a:xfrm>
          <a:prstGeom prst="rect">
            <a:avLst/>
          </a:prstGeom>
        </p:spPr>
      </p:pic>
      <p:sp>
        <p:nvSpPr>
          <p:cNvPr id="10" name="TextBox 9">
            <a:extLst>
              <a:ext uri="{FF2B5EF4-FFF2-40B4-BE49-F238E27FC236}">
                <a16:creationId xmlns:a16="http://schemas.microsoft.com/office/drawing/2014/main" id="{8C8A8D2B-EC44-CD69-D91B-675AD1E82A2E}"/>
              </a:ext>
            </a:extLst>
          </p:cNvPr>
          <p:cNvSpPr txBox="1"/>
          <p:nvPr/>
        </p:nvSpPr>
        <p:spPr>
          <a:xfrm>
            <a:off x="3047325" y="4878087"/>
            <a:ext cx="6097348" cy="861774"/>
          </a:xfrm>
          <a:prstGeom prst="rect">
            <a:avLst/>
          </a:prstGeom>
          <a:noFill/>
          <a:ln>
            <a:solidFill>
              <a:schemeClr val="bg1">
                <a:lumMod val="50000"/>
              </a:schemeClr>
            </a:solidFill>
          </a:ln>
        </p:spPr>
        <p:txBody>
          <a:bodyPr wrap="square">
            <a:spAutoFit/>
          </a:bodyPr>
          <a:lstStyle/>
          <a:p>
            <a:r>
              <a:rPr lang="en-US" altLang="ko-KR" sz="1000" b="1" dirty="0"/>
              <a:t>kind: </a:t>
            </a:r>
            <a:r>
              <a:rPr lang="en-US" altLang="ko-KR" sz="1000" b="1" dirty="0">
                <a:solidFill>
                  <a:srgbClr val="FF0000"/>
                </a:solidFill>
              </a:rPr>
              <a:t>Website</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a:t>
            </a:r>
            <a:r>
              <a:rPr lang="en-US" altLang="ko-KR" sz="1000" b="1" dirty="0" err="1">
                <a:solidFill>
                  <a:srgbClr val="FF0000"/>
                </a:solidFill>
              </a:rPr>
              <a:t>gitRepo</a:t>
            </a:r>
            <a:r>
              <a:rPr lang="en-US" altLang="ko-KR" sz="1000" b="1" dirty="0">
                <a:solidFill>
                  <a:srgbClr val="FF0000"/>
                </a:solidFill>
              </a:rPr>
              <a:t>: https://github.com/knix008/Website-Example.git</a:t>
            </a:r>
            <a:endParaRPr lang="ko-KR" altLang="en-US" sz="1000" b="1" dirty="0">
              <a:solidFill>
                <a:srgbClr val="FF0000"/>
              </a:solidFill>
            </a:endParaRPr>
          </a:p>
        </p:txBody>
      </p:sp>
    </p:spTree>
    <p:extLst>
      <p:ext uri="{BB962C8B-B14F-4D97-AF65-F5344CB8AC3E}">
        <p14:creationId xmlns:p14="http://schemas.microsoft.com/office/powerpoint/2010/main" val="2293748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Objects(4/28)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Example </a:t>
            </a:r>
            <a:r>
              <a:rPr lang="en-US" altLang="ko-KR" sz="1800" b="1" dirty="0" err="1"/>
              <a:t>CustomResourceDefinition</a:t>
            </a:r>
            <a:r>
              <a:rPr lang="en-US" altLang="ko-KR" sz="1800" b="1" dirty="0"/>
              <a:t> :</a:t>
            </a:r>
            <a:endParaRPr lang="en-US" altLang="ko-KR" sz="1400" dirty="0"/>
          </a:p>
          <a:p>
            <a:pPr lvl="1">
              <a:buFont typeface="Wingdings" panose="05000000000000000000" pitchFamily="2" charset="2"/>
              <a:buChar char="§"/>
            </a:pPr>
            <a:r>
              <a:rPr lang="en-US" altLang="ko-KR" sz="1400" b="1" dirty="0"/>
              <a:t>Like all other resources, your resource contains a “</a:t>
            </a:r>
            <a:r>
              <a:rPr lang="en-US" altLang="ko-KR" sz="1400" b="1" dirty="0">
                <a:solidFill>
                  <a:srgbClr val="FF0000"/>
                </a:solidFill>
              </a:rPr>
              <a:t>kind</a:t>
            </a:r>
            <a:r>
              <a:rPr lang="en-US" altLang="ko-KR" sz="1400" b="1" dirty="0"/>
              <a:t>” and a “</a:t>
            </a:r>
            <a:r>
              <a:rPr lang="en-US" altLang="ko-KR" sz="1400" b="1" dirty="0">
                <a:solidFill>
                  <a:srgbClr val="FF0000"/>
                </a:solidFill>
              </a:rPr>
              <a:t>metadata.name</a:t>
            </a:r>
            <a:r>
              <a:rPr lang="en-US" altLang="ko-KR" sz="1400" b="1" dirty="0"/>
              <a:t>” field, and like most resources, it also contains a “</a:t>
            </a:r>
            <a:r>
              <a:rPr lang="en-US" altLang="ko-KR" sz="1400" b="1" dirty="0">
                <a:solidFill>
                  <a:srgbClr val="FF0000"/>
                </a:solidFill>
              </a:rPr>
              <a:t>spec</a:t>
            </a:r>
            <a:r>
              <a:rPr lang="en-US" altLang="ko-KR" sz="1400" b="1" dirty="0"/>
              <a:t>” section</a:t>
            </a:r>
            <a:r>
              <a:rPr lang="en-US" altLang="ko-KR" sz="1400" dirty="0"/>
              <a:t>. It contains a single field called “</a:t>
            </a:r>
            <a:r>
              <a:rPr lang="en-US" altLang="ko-KR" sz="1400" b="1" dirty="0" err="1">
                <a:solidFill>
                  <a:srgbClr val="FF0000"/>
                </a:solidFill>
              </a:rPr>
              <a:t>gitRepo</a:t>
            </a:r>
            <a:r>
              <a:rPr lang="en-US" altLang="ko-KR" sz="1400" dirty="0"/>
              <a:t>” (you can choose the name)—</a:t>
            </a:r>
            <a:r>
              <a:rPr lang="en-US" altLang="ko-KR" sz="1400" b="1" dirty="0"/>
              <a:t>it specifies the Git repository containing the website’s files</a:t>
            </a:r>
            <a:r>
              <a:rPr lang="en-US" altLang="ko-KR" sz="1400" dirty="0"/>
              <a:t>. You’ll also need to include an “</a:t>
            </a:r>
            <a:r>
              <a:rPr lang="en-US" altLang="ko-KR" sz="1400" b="1" dirty="0" err="1">
                <a:solidFill>
                  <a:srgbClr val="FF0000"/>
                </a:solidFill>
              </a:rPr>
              <a:t>apiVersion</a:t>
            </a:r>
            <a:r>
              <a:rPr lang="en-US" altLang="ko-KR" sz="1400" dirty="0"/>
              <a:t>” field, but you don’t know yet what its value must be for custom resources.</a:t>
            </a:r>
          </a:p>
          <a:p>
            <a:pPr lvl="1">
              <a:buFont typeface="Wingdings" panose="05000000000000000000" pitchFamily="2" charset="2"/>
              <a:buChar char="§"/>
            </a:pPr>
            <a:r>
              <a:rPr lang="en-US" altLang="ko-KR" sz="1400" b="1" dirty="0"/>
              <a:t>If you try posting this resource to Kubernetes, you’ll receive an error because Kubernetes doesn’t know what a “</a:t>
            </a:r>
            <a:r>
              <a:rPr lang="en-US" altLang="ko-KR" sz="1400" b="1" dirty="0">
                <a:solidFill>
                  <a:srgbClr val="FF0000"/>
                </a:solidFill>
              </a:rPr>
              <a:t>Website</a:t>
            </a:r>
            <a:r>
              <a:rPr lang="en-US" altLang="ko-KR" sz="1400" b="1" dirty="0"/>
              <a:t>” object is yet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solidFill>
                  <a:srgbClr val="FF0000"/>
                </a:solidFill>
              </a:rPr>
              <a:t>NOTICE</a:t>
            </a:r>
            <a:r>
              <a:rPr lang="ko-KR" altLang="en-US" sz="1400" b="1" dirty="0">
                <a:solidFill>
                  <a:srgbClr val="FF0000"/>
                </a:solidFill>
              </a:rPr>
              <a:t> </a:t>
            </a:r>
            <a:r>
              <a:rPr lang="en-US" altLang="ko-KR" sz="1400" b="1" dirty="0">
                <a:solidFill>
                  <a:srgbClr val="FF0000"/>
                </a:solidFill>
              </a:rPr>
              <a:t>:</a:t>
            </a:r>
            <a:r>
              <a:rPr lang="ko-KR" altLang="en-US" sz="1400" b="1" dirty="0">
                <a:solidFill>
                  <a:srgbClr val="FF0000"/>
                </a:solidFill>
              </a:rPr>
              <a:t> </a:t>
            </a:r>
            <a:r>
              <a:rPr lang="en-US" altLang="ko-KR" sz="1400" b="1" dirty="0">
                <a:solidFill>
                  <a:srgbClr val="FF0000"/>
                </a:solidFill>
              </a:rPr>
              <a:t>Before you can create instances of your custom object, you need to make Kubernetes recognize them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799B0408-AC73-F42F-064D-24C719A78343}"/>
              </a:ext>
            </a:extLst>
          </p:cNvPr>
          <p:cNvGrpSpPr/>
          <p:nvPr/>
        </p:nvGrpSpPr>
        <p:grpSpPr>
          <a:xfrm>
            <a:off x="838200" y="2647547"/>
            <a:ext cx="10515600" cy="2079558"/>
            <a:chOff x="838200" y="2550442"/>
            <a:chExt cx="10515600" cy="2079558"/>
          </a:xfrm>
        </p:grpSpPr>
        <p:grpSp>
          <p:nvGrpSpPr>
            <p:cNvPr id="10" name="그룹 9">
              <a:extLst>
                <a:ext uri="{FF2B5EF4-FFF2-40B4-BE49-F238E27FC236}">
                  <a16:creationId xmlns:a16="http://schemas.microsoft.com/office/drawing/2014/main" id="{2D5D2802-F582-3618-D053-534FB30018CD}"/>
                </a:ext>
              </a:extLst>
            </p:cNvPr>
            <p:cNvGrpSpPr/>
            <p:nvPr/>
          </p:nvGrpSpPr>
          <p:grpSpPr>
            <a:xfrm>
              <a:off x="3047326" y="2550442"/>
              <a:ext cx="6097348" cy="558768"/>
              <a:chOff x="3047326" y="2550442"/>
              <a:chExt cx="6097348" cy="558768"/>
            </a:xfrm>
          </p:grpSpPr>
          <p:sp>
            <p:nvSpPr>
              <p:cNvPr id="8" name="TextBox 7">
                <a:extLst>
                  <a:ext uri="{FF2B5EF4-FFF2-40B4-BE49-F238E27FC236}">
                    <a16:creationId xmlns:a16="http://schemas.microsoft.com/office/drawing/2014/main" id="{1054B85F-AB18-9352-FB50-4706900C4FDA}"/>
                  </a:ext>
                </a:extLst>
              </p:cNvPr>
              <p:cNvSpPr txBox="1"/>
              <p:nvPr/>
            </p:nvSpPr>
            <p:spPr>
              <a:xfrm>
                <a:off x="3047326" y="2550442"/>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imaginary-</a:t>
                </a:r>
                <a:r>
                  <a:rPr lang="en-US" altLang="ko-KR" sz="1000" b="1" dirty="0" err="1">
                    <a:solidFill>
                      <a:srgbClr val="FF0000"/>
                    </a:solidFill>
                  </a:rPr>
                  <a:t>kubia</a:t>
                </a:r>
                <a:r>
                  <a:rPr lang="en-US" altLang="ko-KR" sz="1000" b="1" dirty="0">
                    <a:solidFill>
                      <a:srgbClr val="FF0000"/>
                    </a:solidFill>
                  </a:rPr>
                  <a:t>-</a:t>
                </a:r>
                <a:r>
                  <a:rPr lang="en-US" altLang="ko-KR" sz="1000" b="1" dirty="0" err="1">
                    <a:solidFill>
                      <a:srgbClr val="FF0000"/>
                    </a:solidFill>
                  </a:rPr>
                  <a:t>website.yaml</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50E19D76-6CBC-77D0-285E-7AE29D49808F}"/>
                  </a:ext>
                </a:extLst>
              </p:cNvPr>
              <p:cNvSpPr/>
              <p:nvPr/>
            </p:nvSpPr>
            <p:spPr>
              <a:xfrm>
                <a:off x="5841101" y="2824120"/>
                <a:ext cx="478779" cy="2850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D4E7503A-0CB1-B517-82CA-BA92D1C4F7D4}"/>
                </a:ext>
              </a:extLst>
            </p:cNvPr>
            <p:cNvPicPr>
              <a:picLocks noChangeAspect="1"/>
            </p:cNvPicPr>
            <p:nvPr/>
          </p:nvPicPr>
          <p:blipFill>
            <a:blip r:embed="rId2"/>
            <a:stretch>
              <a:fillRect/>
            </a:stretch>
          </p:blipFill>
          <p:spPr>
            <a:xfrm>
              <a:off x="838200" y="3111079"/>
              <a:ext cx="10515600" cy="1518921"/>
            </a:xfrm>
            <a:prstGeom prst="rect">
              <a:avLst/>
            </a:prstGeom>
          </p:spPr>
        </p:pic>
      </p:grpSp>
    </p:spTree>
    <p:extLst>
      <p:ext uri="{BB962C8B-B14F-4D97-AF65-F5344CB8AC3E}">
        <p14:creationId xmlns:p14="http://schemas.microsoft.com/office/powerpoint/2010/main" val="3135766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Objects(5/28)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CustomResourceDefinition</a:t>
            </a:r>
            <a:r>
              <a:rPr lang="en-US" altLang="ko-KR" sz="1800" b="1" dirty="0"/>
              <a:t> Object :</a:t>
            </a:r>
            <a:endParaRPr lang="en-US" altLang="ko-KR" sz="1400" dirty="0"/>
          </a:p>
          <a:p>
            <a:pPr lvl="1">
              <a:buFont typeface="Wingdings" panose="05000000000000000000" pitchFamily="2" charset="2"/>
              <a:buChar char="§"/>
            </a:pPr>
            <a:r>
              <a:rPr lang="en-US" altLang="ko-KR" sz="1400" dirty="0"/>
              <a:t>To make Kubernetes accept your </a:t>
            </a:r>
            <a:r>
              <a:rPr lang="en-US" altLang="ko-KR" sz="1400" b="1" dirty="0"/>
              <a:t>custom “Website” resource instances</a:t>
            </a:r>
            <a:r>
              <a:rPr lang="en-US" altLang="ko-KR" sz="1400" dirty="0"/>
              <a:t>, you need to </a:t>
            </a:r>
            <a:r>
              <a:rPr lang="en-US" altLang="ko-KR" sz="1400" b="1" dirty="0"/>
              <a:t>post the “</a:t>
            </a:r>
            <a:r>
              <a:rPr lang="en-US" altLang="ko-KR" sz="1400" b="1" dirty="0" err="1"/>
              <a:t>CustomResourceDefinition</a:t>
            </a:r>
            <a:r>
              <a:rPr lang="en-US" altLang="ko-KR" sz="1400" b="1" dirty="0"/>
              <a:t>” </a:t>
            </a:r>
            <a:r>
              <a:rPr lang="en-US" altLang="ko-KR" sz="1400" dirty="0"/>
              <a:t>shown in the following listing to </a:t>
            </a:r>
            <a:r>
              <a:rPr lang="en-US" altLang="ko-KR" sz="1400" b="1" dirty="0"/>
              <a:t>the API server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43842F2-D345-107F-9D37-95769CDB30FE}"/>
              </a:ext>
            </a:extLst>
          </p:cNvPr>
          <p:cNvGrpSpPr/>
          <p:nvPr/>
        </p:nvGrpSpPr>
        <p:grpSpPr>
          <a:xfrm>
            <a:off x="3047326" y="1700049"/>
            <a:ext cx="6097348" cy="4708981"/>
            <a:chOff x="3299527" y="1730074"/>
            <a:chExt cx="6097348" cy="4708981"/>
          </a:xfrm>
        </p:grpSpPr>
        <p:sp>
          <p:nvSpPr>
            <p:cNvPr id="8" name="TextBox 7">
              <a:extLst>
                <a:ext uri="{FF2B5EF4-FFF2-40B4-BE49-F238E27FC236}">
                  <a16:creationId xmlns:a16="http://schemas.microsoft.com/office/drawing/2014/main" id="{9B1A5E20-1936-36DA-9EAA-D94E1E85F7F1}"/>
                </a:ext>
              </a:extLst>
            </p:cNvPr>
            <p:cNvSpPr txBox="1"/>
            <p:nvPr/>
          </p:nvSpPr>
          <p:spPr>
            <a:xfrm>
              <a:off x="3299527" y="1730074"/>
              <a:ext cx="6097348" cy="47089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apiextensions.k8s.io/v1</a:t>
              </a:r>
            </a:p>
            <a:p>
              <a:r>
                <a:rPr lang="en-US" altLang="ko-KR" sz="1000" b="1" dirty="0"/>
                <a:t>kind: </a:t>
              </a:r>
              <a:r>
                <a:rPr lang="en-US" altLang="ko-KR" sz="1000" b="1" dirty="0" err="1">
                  <a:solidFill>
                    <a:srgbClr val="FF0000"/>
                  </a:solidFill>
                </a:rPr>
                <a:t>CustomResourceDefinition</a:t>
              </a:r>
              <a:endParaRPr lang="en-US" altLang="ko-KR" sz="1000" b="1" dirty="0">
                <a:solidFill>
                  <a:srgbClr val="FF0000"/>
                </a:solidFill>
              </a:endParaRPr>
            </a:p>
            <a:p>
              <a:r>
                <a:rPr lang="en-US" altLang="ko-KR" sz="1000" b="1" dirty="0"/>
                <a:t>metadata:</a:t>
              </a:r>
            </a:p>
            <a:p>
              <a:r>
                <a:rPr lang="en-US" altLang="ko-KR" sz="1000" b="1" dirty="0"/>
                <a:t>  name: websites.extensions.example.com</a:t>
              </a:r>
            </a:p>
            <a:p>
              <a:r>
                <a:rPr lang="en-US" altLang="ko-KR" sz="1000" b="1" dirty="0"/>
                <a:t>spec:</a:t>
              </a:r>
            </a:p>
            <a:p>
              <a:r>
                <a:rPr lang="en-US" altLang="ko-KR" sz="1000" b="1" dirty="0"/>
                <a:t>  scope: </a:t>
              </a:r>
              <a:r>
                <a:rPr lang="en-US" altLang="ko-KR" sz="1000" b="1" dirty="0" err="1"/>
                <a:t>Namespaced</a:t>
              </a:r>
              <a:endParaRPr lang="en-US" altLang="ko-KR" sz="1000" b="1" dirty="0"/>
            </a:p>
            <a:p>
              <a:r>
                <a:rPr lang="en-US" altLang="ko-KR" sz="1000" b="1" dirty="0"/>
                <a:t>  group: extensions.example.com</a:t>
              </a:r>
            </a:p>
            <a:p>
              <a:r>
                <a:rPr lang="en-US" altLang="ko-KR" sz="1000" b="1" dirty="0">
                  <a:solidFill>
                    <a:srgbClr val="FF0000"/>
                  </a:solidFill>
                </a:rPr>
                <a:t>  versions: </a:t>
              </a:r>
            </a:p>
            <a:p>
              <a:r>
                <a:rPr lang="en-US" altLang="ko-KR" sz="1000" b="1" dirty="0">
                  <a:solidFill>
                    <a:srgbClr val="FF0000"/>
                  </a:solidFill>
                </a:rPr>
                <a:t>  - name: v1</a:t>
              </a:r>
            </a:p>
            <a:p>
              <a:r>
                <a:rPr lang="en-US" altLang="ko-KR" sz="1000" b="1" dirty="0">
                  <a:solidFill>
                    <a:srgbClr val="FF0000"/>
                  </a:solidFill>
                </a:rPr>
                <a:t>    served: true</a:t>
              </a:r>
            </a:p>
            <a:p>
              <a:r>
                <a:rPr lang="en-US" altLang="ko-KR" sz="1000" b="1" dirty="0">
                  <a:solidFill>
                    <a:srgbClr val="FF0000"/>
                  </a:solidFill>
                </a:rPr>
                <a:t>    storage: true</a:t>
              </a:r>
            </a:p>
            <a:p>
              <a:r>
                <a:rPr lang="en-US" altLang="ko-KR" sz="1000" b="1" dirty="0">
                  <a:solidFill>
                    <a:srgbClr val="FF0000"/>
                  </a:solidFill>
                </a:rPr>
                <a:t>    schema:</a:t>
              </a:r>
            </a:p>
            <a:p>
              <a:r>
                <a:rPr lang="en-US" altLang="ko-KR" sz="1000" b="1" dirty="0">
                  <a:solidFill>
                    <a:srgbClr val="FF0000"/>
                  </a:solidFill>
                </a:rPr>
                <a:t>      openAPIV3Schema:</a:t>
              </a:r>
            </a:p>
            <a:p>
              <a:r>
                <a:rPr lang="en-US" altLang="ko-KR" sz="1000" b="1" dirty="0">
                  <a:solidFill>
                    <a:srgbClr val="FF0000"/>
                  </a:solidFill>
                </a:rPr>
                <a:t>          type: object</a:t>
              </a:r>
            </a:p>
            <a:p>
              <a:r>
                <a:rPr lang="en-US" altLang="ko-KR" sz="1000" b="1" dirty="0">
                  <a:solidFill>
                    <a:srgbClr val="FF0000"/>
                  </a:solidFill>
                </a:rPr>
                <a:t>          properties:</a:t>
              </a:r>
            </a:p>
            <a:p>
              <a:r>
                <a:rPr lang="en-US" altLang="ko-KR" sz="1000" b="1" dirty="0">
                  <a:solidFill>
                    <a:srgbClr val="FF0000"/>
                  </a:solidFill>
                </a:rPr>
                <a:t>            spec:</a:t>
              </a:r>
            </a:p>
            <a:p>
              <a:r>
                <a:rPr lang="en-US" altLang="ko-KR" sz="1000" b="1" dirty="0">
                  <a:solidFill>
                    <a:srgbClr val="FF0000"/>
                  </a:solidFill>
                </a:rPr>
                <a:t>              type: object</a:t>
              </a:r>
            </a:p>
            <a:p>
              <a:r>
                <a:rPr lang="en-US" altLang="ko-KR" sz="1000" b="1" dirty="0">
                  <a:solidFill>
                    <a:srgbClr val="FF0000"/>
                  </a:solidFill>
                </a:rPr>
                <a:t>              properties:</a:t>
              </a:r>
            </a:p>
            <a:p>
              <a:r>
                <a:rPr lang="en-US" altLang="ko-KR" sz="1000" b="1" dirty="0">
                  <a:solidFill>
                    <a:srgbClr val="FF0000"/>
                  </a:solidFill>
                </a:rPr>
                <a:t>                </a:t>
              </a:r>
              <a:r>
                <a:rPr lang="en-US" altLang="ko-KR" sz="1000" b="1" dirty="0" err="1">
                  <a:solidFill>
                    <a:srgbClr val="FF0000"/>
                  </a:solidFill>
                </a:rPr>
                <a:t>cronSpec</a:t>
              </a:r>
              <a:r>
                <a:rPr lang="en-US" altLang="ko-KR" sz="1000" b="1" dirty="0">
                  <a:solidFill>
                    <a:srgbClr val="FF0000"/>
                  </a:solidFill>
                </a:rPr>
                <a:t>:</a:t>
              </a:r>
            </a:p>
            <a:p>
              <a:r>
                <a:rPr lang="en-US" altLang="ko-KR" sz="1000" b="1" dirty="0">
                  <a:solidFill>
                    <a:srgbClr val="FF0000"/>
                  </a:solidFill>
                </a:rPr>
                <a:t>                  type: string</a:t>
              </a:r>
            </a:p>
            <a:p>
              <a:r>
                <a:rPr lang="en-US" altLang="ko-KR" sz="1000" b="1" dirty="0">
                  <a:solidFill>
                    <a:srgbClr val="FF0000"/>
                  </a:solidFill>
                </a:rPr>
                <a:t>                image:</a:t>
              </a:r>
            </a:p>
            <a:p>
              <a:r>
                <a:rPr lang="en-US" altLang="ko-KR" sz="1000" b="1" dirty="0">
                  <a:solidFill>
                    <a:srgbClr val="FF0000"/>
                  </a:solidFill>
                </a:rPr>
                <a:t>                  type: string</a:t>
              </a:r>
            </a:p>
            <a:p>
              <a:r>
                <a:rPr lang="en-US" altLang="ko-KR" sz="1000" b="1" dirty="0">
                  <a:solidFill>
                    <a:srgbClr val="FF0000"/>
                  </a:solidFill>
                </a:rPr>
                <a:t>                replicas:</a:t>
              </a:r>
            </a:p>
            <a:p>
              <a:r>
                <a:rPr lang="en-US" altLang="ko-KR" sz="1000" b="1" dirty="0">
                  <a:solidFill>
                    <a:srgbClr val="FF0000"/>
                  </a:solidFill>
                </a:rPr>
                <a:t>                  type: integer</a:t>
              </a:r>
            </a:p>
            <a:p>
              <a:r>
                <a:rPr lang="en-US" altLang="ko-KR" sz="1000" b="1" dirty="0">
                  <a:solidFill>
                    <a:srgbClr val="FF0000"/>
                  </a:solidFill>
                </a:rPr>
                <a:t>                </a:t>
              </a:r>
              <a:r>
                <a:rPr lang="en-US" altLang="ko-KR" sz="1000" b="1" dirty="0" err="1">
                  <a:solidFill>
                    <a:srgbClr val="FF0000"/>
                  </a:solidFill>
                </a:rPr>
                <a:t>gitRepo</a:t>
              </a:r>
              <a:r>
                <a:rPr lang="en-US" altLang="ko-KR" sz="1000" b="1" dirty="0">
                  <a:solidFill>
                    <a:srgbClr val="FF0000"/>
                  </a:solidFill>
                </a:rPr>
                <a:t>:</a:t>
              </a:r>
            </a:p>
            <a:p>
              <a:r>
                <a:rPr lang="en-US" altLang="ko-KR" sz="1000" b="1" dirty="0">
                  <a:solidFill>
                    <a:srgbClr val="FF0000"/>
                  </a:solidFill>
                </a:rPr>
                <a:t>                  type: string</a:t>
              </a:r>
            </a:p>
            <a:p>
              <a:r>
                <a:rPr lang="en-US" altLang="ko-KR" sz="1000" b="1" dirty="0"/>
                <a:t>  names:</a:t>
              </a:r>
            </a:p>
            <a:p>
              <a:r>
                <a:rPr lang="en-US" altLang="ko-KR" sz="1000" b="1" dirty="0"/>
                <a:t>    kind: </a:t>
              </a:r>
              <a:r>
                <a:rPr lang="en-US" altLang="ko-KR" sz="1000" b="1" dirty="0">
                  <a:solidFill>
                    <a:srgbClr val="FF0000"/>
                  </a:solidFill>
                </a:rPr>
                <a:t>Website</a:t>
              </a:r>
            </a:p>
            <a:p>
              <a:r>
                <a:rPr lang="en-US" altLang="ko-KR" sz="1000" b="1" dirty="0"/>
                <a:t>    singular: website</a:t>
              </a:r>
            </a:p>
            <a:p>
              <a:r>
                <a:rPr lang="en-US" altLang="ko-KR" sz="1000" b="1" dirty="0"/>
                <a:t>    plural: websites</a:t>
              </a:r>
            </a:p>
          </p:txBody>
        </p:sp>
        <p:sp>
          <p:nvSpPr>
            <p:cNvPr id="9" name="TextBox 8">
              <a:extLst>
                <a:ext uri="{FF2B5EF4-FFF2-40B4-BE49-F238E27FC236}">
                  <a16:creationId xmlns:a16="http://schemas.microsoft.com/office/drawing/2014/main" id="{2EABC01A-2AEB-E2DD-81AD-B541304BFCC0}"/>
                </a:ext>
              </a:extLst>
            </p:cNvPr>
            <p:cNvSpPr txBox="1"/>
            <p:nvPr/>
          </p:nvSpPr>
          <p:spPr>
            <a:xfrm>
              <a:off x="8173462" y="1730074"/>
              <a:ext cx="1223413" cy="246221"/>
            </a:xfrm>
            <a:prstGeom prst="rect">
              <a:avLst/>
            </a:prstGeom>
            <a:noFill/>
          </p:spPr>
          <p:txBody>
            <a:bodyPr wrap="none" rtlCol="0">
              <a:spAutoFit/>
            </a:bodyPr>
            <a:lstStyle/>
            <a:p>
              <a:pPr algn="ctr"/>
              <a:r>
                <a:rPr lang="en-US" altLang="ko-KR" sz="1000" b="1" dirty="0"/>
                <a:t>website-</a:t>
              </a:r>
              <a:r>
                <a:rPr lang="en-US" altLang="ko-KR" sz="1000" b="1" dirty="0" err="1"/>
                <a:t>crd.yaml</a:t>
              </a:r>
              <a:endParaRPr lang="ko-KR" altLang="en-US" sz="1000" b="1" dirty="0"/>
            </a:p>
          </p:txBody>
        </p:sp>
      </p:grpSp>
    </p:spTree>
    <p:extLst>
      <p:ext uri="{BB962C8B-B14F-4D97-AF65-F5344CB8AC3E}">
        <p14:creationId xmlns:p14="http://schemas.microsoft.com/office/powerpoint/2010/main" val="3408488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Objects(6/28)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solidFill>
                  <a:srgbClr val="FF0000"/>
                </a:solidFill>
              </a:rPr>
              <a:t>CustomResourceDefinition</a:t>
            </a:r>
            <a:r>
              <a:rPr lang="en-US" altLang="ko-KR" sz="1800" b="1" dirty="0"/>
              <a:t> Object :</a:t>
            </a:r>
            <a:endParaRPr lang="en-US" altLang="ko-KR" sz="1400" dirty="0"/>
          </a:p>
          <a:p>
            <a:pPr lvl="1">
              <a:buFont typeface="Wingdings" panose="05000000000000000000" pitchFamily="2" charset="2"/>
              <a:buChar char="§"/>
            </a:pPr>
            <a:r>
              <a:rPr lang="en-US" altLang="ko-KR" sz="1400" b="1" dirty="0"/>
              <a:t>After you post the descriptor to Kubernetes</a:t>
            </a:r>
            <a:r>
              <a:rPr lang="en-US" altLang="ko-KR" sz="1400" dirty="0"/>
              <a:t>, </a:t>
            </a:r>
            <a:r>
              <a:rPr lang="en-US" altLang="ko-KR" sz="1400" b="1" dirty="0"/>
              <a:t>it will allow you to create any number of instances of</a:t>
            </a:r>
            <a:r>
              <a:rPr lang="en-US" altLang="ko-KR" sz="1400" b="1" dirty="0">
                <a:solidFill>
                  <a:srgbClr val="FF0000"/>
                </a:solidFill>
              </a:rPr>
              <a:t> the custom “Website” resource</a:t>
            </a:r>
            <a:r>
              <a:rPr lang="en-US" altLang="ko-KR" sz="1400" dirty="0"/>
              <a:t>.</a:t>
            </a:r>
          </a:p>
          <a:p>
            <a:pPr lvl="1">
              <a:buFont typeface="Wingdings" panose="05000000000000000000" pitchFamily="2" charset="2"/>
              <a:buChar char="§"/>
            </a:pPr>
            <a:r>
              <a:rPr lang="en-US" altLang="ko-KR" sz="1400" b="1" dirty="0"/>
              <a:t>You can create the CRD from the “</a:t>
            </a:r>
            <a:r>
              <a:rPr lang="en-US" altLang="ko-KR" sz="1400" b="1" dirty="0">
                <a:solidFill>
                  <a:srgbClr val="FF0000"/>
                </a:solidFill>
              </a:rPr>
              <a:t>website-</a:t>
            </a:r>
            <a:r>
              <a:rPr lang="en-US" altLang="ko-KR" sz="1400" b="1" dirty="0" err="1">
                <a:solidFill>
                  <a:srgbClr val="FF0000"/>
                </a:solidFill>
              </a:rPr>
              <a:t>crd.yaml</a:t>
            </a:r>
            <a:r>
              <a:rPr lang="en-US" altLang="ko-KR" sz="1400" b="1" dirty="0"/>
              <a:t>” file available </a:t>
            </a:r>
            <a:r>
              <a:rPr lang="en-US" altLang="ko-KR" sz="1400" dirty="0"/>
              <a:t>in the code archive :</a:t>
            </a:r>
          </a:p>
          <a:p>
            <a:pPr lvl="1">
              <a:buFont typeface="Wingdings" panose="05000000000000000000" pitchFamily="2" charset="2"/>
              <a:buChar char="§"/>
            </a:pPr>
            <a:r>
              <a:rPr lang="en-US" altLang="ko-KR" sz="1400" b="1" dirty="0"/>
              <a:t>NOTE : For more information, see </a:t>
            </a:r>
            <a:r>
              <a:rPr lang="en-US" altLang="ko-KR" sz="1400" b="1" dirty="0">
                <a:hlinkClick r:id="rId2"/>
              </a:rPr>
              <a:t>https://kubernetes.io/docs/tasks/extend-kubernetes/custom-resources/custom-resource-definitions/</a:t>
            </a:r>
            <a:r>
              <a:rPr lang="en-US" altLang="ko-KR" sz="1400" b="1" dirty="0"/>
              <a:t>.</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FBE5E5D7-4605-2447-15C1-E9F5292EC927}"/>
              </a:ext>
            </a:extLst>
          </p:cNvPr>
          <p:cNvGrpSpPr/>
          <p:nvPr/>
        </p:nvGrpSpPr>
        <p:grpSpPr>
          <a:xfrm>
            <a:off x="838199" y="2778642"/>
            <a:ext cx="10515600" cy="2043953"/>
            <a:chOff x="838199" y="2778642"/>
            <a:chExt cx="10515600" cy="2043953"/>
          </a:xfrm>
        </p:grpSpPr>
        <p:grpSp>
          <p:nvGrpSpPr>
            <p:cNvPr id="10" name="그룹 9">
              <a:extLst>
                <a:ext uri="{FF2B5EF4-FFF2-40B4-BE49-F238E27FC236}">
                  <a16:creationId xmlns:a16="http://schemas.microsoft.com/office/drawing/2014/main" id="{EEAB41A8-D43D-66FC-D0B2-794C5BE93ED9}"/>
                </a:ext>
              </a:extLst>
            </p:cNvPr>
            <p:cNvGrpSpPr/>
            <p:nvPr/>
          </p:nvGrpSpPr>
          <p:grpSpPr>
            <a:xfrm>
              <a:off x="838199" y="3342622"/>
              <a:ext cx="10515600" cy="1479973"/>
              <a:chOff x="838200" y="2689013"/>
              <a:chExt cx="10515600" cy="1479973"/>
            </a:xfrm>
          </p:grpSpPr>
          <p:pic>
            <p:nvPicPr>
              <p:cNvPr id="8" name="그림 7">
                <a:extLst>
                  <a:ext uri="{FF2B5EF4-FFF2-40B4-BE49-F238E27FC236}">
                    <a16:creationId xmlns:a16="http://schemas.microsoft.com/office/drawing/2014/main" id="{56BBDF3B-C8F2-78D1-83B3-3BD91E699937}"/>
                  </a:ext>
                </a:extLst>
              </p:cNvPr>
              <p:cNvPicPr>
                <a:picLocks noChangeAspect="1"/>
              </p:cNvPicPr>
              <p:nvPr/>
            </p:nvPicPr>
            <p:blipFill>
              <a:blip r:embed="rId3"/>
              <a:stretch>
                <a:fillRect/>
              </a:stretch>
            </p:blipFill>
            <p:spPr>
              <a:xfrm>
                <a:off x="838200" y="2689013"/>
                <a:ext cx="10515600" cy="1479973"/>
              </a:xfrm>
              <a:prstGeom prst="rect">
                <a:avLst/>
              </a:prstGeom>
            </p:spPr>
          </p:pic>
          <p:sp>
            <p:nvSpPr>
              <p:cNvPr id="9" name="직사각형 8">
                <a:extLst>
                  <a:ext uri="{FF2B5EF4-FFF2-40B4-BE49-F238E27FC236}">
                    <a16:creationId xmlns:a16="http://schemas.microsoft.com/office/drawing/2014/main" id="{1FED40DE-0044-A618-F5EE-0713D7AC49A0}"/>
                  </a:ext>
                </a:extLst>
              </p:cNvPr>
              <p:cNvSpPr/>
              <p:nvPr/>
            </p:nvSpPr>
            <p:spPr>
              <a:xfrm>
                <a:off x="4798577" y="3091158"/>
                <a:ext cx="2201034" cy="202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 name="TextBox 3">
              <a:extLst>
                <a:ext uri="{FF2B5EF4-FFF2-40B4-BE49-F238E27FC236}">
                  <a16:creationId xmlns:a16="http://schemas.microsoft.com/office/drawing/2014/main" id="{D4E256B4-82EA-301A-B3C2-1D68B38AAD42}"/>
                </a:ext>
              </a:extLst>
            </p:cNvPr>
            <p:cNvSpPr txBox="1"/>
            <p:nvPr/>
          </p:nvSpPr>
          <p:spPr>
            <a:xfrm>
              <a:off x="4891183" y="2778642"/>
              <a:ext cx="2409634" cy="246221"/>
            </a:xfrm>
            <a:prstGeom prst="rect">
              <a:avLst/>
            </a:prstGeom>
            <a:noFill/>
            <a:ln>
              <a:solidFill>
                <a:schemeClr val="tx1"/>
              </a:solidFill>
            </a:ln>
          </p:spPr>
          <p:txBody>
            <a:bodyPr wrap="none" rtlCol="0">
              <a:spAutoFit/>
            </a:bodyPr>
            <a:lstStyle/>
            <a:p>
              <a:pPr algn="ctr"/>
              <a:r>
                <a:rPr lang="en-US" altLang="ko-KR" sz="1000" b="1" dirty="0"/>
                <a:t>$ </a:t>
              </a:r>
              <a:r>
                <a:rPr lang="en-US" altLang="ko-KR" sz="1000" b="1" dirty="0" err="1"/>
                <a:t>kubectl</a:t>
              </a:r>
              <a:r>
                <a:rPr lang="en-US" altLang="ko-KR" sz="1000" b="1" dirty="0"/>
                <a:t> create -f website-</a:t>
              </a:r>
              <a:r>
                <a:rPr lang="en-US" altLang="ko-KR" sz="1000" b="1" dirty="0" err="1"/>
                <a:t>crd.yaml</a:t>
              </a:r>
              <a:endParaRPr lang="ko-KR" altLang="en-US" sz="1000" b="1" dirty="0"/>
            </a:p>
          </p:txBody>
        </p:sp>
        <p:sp>
          <p:nvSpPr>
            <p:cNvPr id="11" name="화살표: 아래쪽 10">
              <a:extLst>
                <a:ext uri="{FF2B5EF4-FFF2-40B4-BE49-F238E27FC236}">
                  <a16:creationId xmlns:a16="http://schemas.microsoft.com/office/drawing/2014/main" id="{078D094B-9ABE-D08E-A7CB-69527A2242DA}"/>
                </a:ext>
              </a:extLst>
            </p:cNvPr>
            <p:cNvSpPr/>
            <p:nvPr/>
          </p:nvSpPr>
          <p:spPr>
            <a:xfrm>
              <a:off x="5876260" y="3019549"/>
              <a:ext cx="439479" cy="32307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53854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Objects(7/28)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CustomResourceDefinition</a:t>
            </a:r>
            <a:r>
              <a:rPr lang="en-US" altLang="ko-KR" sz="1800" b="1" dirty="0"/>
              <a:t> Object :</a:t>
            </a:r>
            <a:endParaRPr lang="en-US" altLang="ko-KR" sz="1400" dirty="0"/>
          </a:p>
          <a:p>
            <a:pPr lvl="1">
              <a:buFont typeface="Wingdings" panose="05000000000000000000" pitchFamily="2" charset="2"/>
              <a:buChar char="§"/>
            </a:pPr>
            <a:r>
              <a:rPr lang="en-US" altLang="ko-KR" sz="1400" dirty="0"/>
              <a:t>You’re wondering about </a:t>
            </a:r>
            <a:r>
              <a:rPr lang="en-US" altLang="ko-KR" sz="1400" b="1" dirty="0"/>
              <a:t>the long name of the CRD</a:t>
            </a:r>
            <a:r>
              <a:rPr lang="en-US" altLang="ko-KR" sz="1400" dirty="0"/>
              <a:t>. Why not call it “</a:t>
            </a:r>
            <a:r>
              <a:rPr lang="en-US" altLang="ko-KR" sz="1400" b="1" dirty="0"/>
              <a:t>Website</a:t>
            </a:r>
            <a:r>
              <a:rPr lang="en-US" altLang="ko-KR" sz="1400" dirty="0"/>
              <a:t>”? </a:t>
            </a:r>
            <a:r>
              <a:rPr lang="en-US" altLang="ko-KR" sz="1400" b="1" dirty="0"/>
              <a:t>The reason is to prevent name clashes</a:t>
            </a:r>
            <a:r>
              <a:rPr lang="en-US" altLang="ko-KR" sz="1400" dirty="0"/>
              <a:t>. </a:t>
            </a:r>
            <a:r>
              <a:rPr lang="en-US" altLang="ko-KR" sz="1400" b="1" dirty="0"/>
              <a:t>By adding a suffix to the name of the CRD (which will usually include the name of the organization that created the CRD), you keep CRD names unique</a:t>
            </a:r>
            <a:r>
              <a:rPr lang="en-US" altLang="ko-KR" sz="1400" dirty="0"/>
              <a:t>. Luckily, the long name doesn’t mean you’ll need to create your “</a:t>
            </a:r>
            <a:r>
              <a:rPr lang="en-US" altLang="ko-KR" sz="1400" b="1" dirty="0"/>
              <a:t>Website</a:t>
            </a:r>
            <a:r>
              <a:rPr lang="en-US" altLang="ko-KR" sz="1400" dirty="0"/>
              <a:t>” resources with “</a:t>
            </a:r>
            <a:r>
              <a:rPr lang="en-US" altLang="ko-KR" sz="1400" b="1" dirty="0"/>
              <a:t>kind: websites.extensions.example.com</a:t>
            </a:r>
            <a:r>
              <a:rPr lang="en-US" altLang="ko-KR" sz="1400" dirty="0"/>
              <a:t>”, but as “</a:t>
            </a:r>
            <a:r>
              <a:rPr lang="en-US" altLang="ko-KR" sz="1400" b="1" dirty="0">
                <a:solidFill>
                  <a:srgbClr val="FF0000"/>
                </a:solidFill>
              </a:rPr>
              <a:t>kind: Website</a:t>
            </a:r>
            <a:r>
              <a:rPr lang="en-US" altLang="ko-KR" sz="1400" dirty="0"/>
              <a:t>”, </a:t>
            </a:r>
            <a:r>
              <a:rPr lang="en-US" altLang="ko-KR" sz="1400" b="1" dirty="0"/>
              <a:t>as specified in the “</a:t>
            </a:r>
            <a:r>
              <a:rPr lang="en-US" altLang="ko-KR" sz="1400" b="1" dirty="0" err="1"/>
              <a:t>names.kind</a:t>
            </a:r>
            <a:r>
              <a:rPr lang="en-US" altLang="ko-KR" sz="1400" b="1" dirty="0"/>
              <a:t>” property of the CRD</a:t>
            </a:r>
            <a:r>
              <a:rPr lang="en-US" altLang="ko-KR" sz="1400" dirty="0"/>
              <a:t>. </a:t>
            </a:r>
            <a:r>
              <a:rPr lang="en-US" altLang="ko-KR" sz="1400" b="1" dirty="0"/>
              <a:t>The “</a:t>
            </a:r>
            <a:r>
              <a:rPr lang="en-US" altLang="ko-KR" sz="1400" b="1" dirty="0">
                <a:solidFill>
                  <a:srgbClr val="FF0000"/>
                </a:solidFill>
              </a:rPr>
              <a:t>extensions.example.com</a:t>
            </a:r>
            <a:r>
              <a:rPr lang="en-US" altLang="ko-KR" sz="1400" b="1" dirty="0"/>
              <a:t>” part is </a:t>
            </a:r>
            <a:r>
              <a:rPr lang="en-US" altLang="ko-KR" sz="1400" b="1" dirty="0">
                <a:solidFill>
                  <a:srgbClr val="FF0000"/>
                </a:solidFill>
              </a:rPr>
              <a:t>the API group of your resource</a:t>
            </a:r>
            <a:r>
              <a:rPr lang="en-US" altLang="ko-KR" sz="1400" dirty="0"/>
              <a:t>.</a:t>
            </a:r>
          </a:p>
          <a:p>
            <a:pPr lvl="1">
              <a:buFont typeface="Wingdings" panose="05000000000000000000" pitchFamily="2" charset="2"/>
              <a:buChar char="§"/>
            </a:pPr>
            <a:r>
              <a:rPr lang="en-US" altLang="ko-KR" sz="1400" b="1" dirty="0"/>
              <a:t>You’ve seen how creating Deployment objects requires you to set “</a:t>
            </a:r>
            <a:r>
              <a:rPr lang="en-US" altLang="ko-KR" sz="1400" b="1" dirty="0" err="1"/>
              <a:t>apiVersion</a:t>
            </a:r>
            <a:r>
              <a:rPr lang="en-US" altLang="ko-KR" sz="1400" b="1" dirty="0"/>
              <a:t>” to “</a:t>
            </a:r>
            <a:r>
              <a:rPr lang="en-US" altLang="ko-KR" sz="1400" b="1" dirty="0">
                <a:solidFill>
                  <a:srgbClr val="FF0000"/>
                </a:solidFill>
              </a:rPr>
              <a:t>apps/v1</a:t>
            </a:r>
            <a:r>
              <a:rPr lang="en-US" altLang="ko-KR" sz="1400" b="1" dirty="0"/>
              <a:t>” instead of “v1”</a:t>
            </a:r>
            <a:r>
              <a:rPr lang="en-US" altLang="ko-KR" sz="1400" dirty="0"/>
              <a:t>. </a:t>
            </a:r>
            <a:r>
              <a:rPr lang="en-US" altLang="ko-KR" sz="1400" b="1" dirty="0"/>
              <a:t>The part before the slash is the API group (Deployments belong to the apps API group), and the part after it is the version name</a:t>
            </a:r>
            <a:r>
              <a:rPr lang="en-US" altLang="ko-KR" sz="1400" dirty="0"/>
              <a:t> (“</a:t>
            </a:r>
            <a:r>
              <a:rPr lang="en-US" altLang="ko-KR" sz="1400" b="1" dirty="0"/>
              <a:t>v1</a:t>
            </a:r>
            <a:r>
              <a:rPr lang="en-US" altLang="ko-KR" sz="1400" dirty="0"/>
              <a:t>” </a:t>
            </a:r>
            <a:r>
              <a:rPr lang="en-US" altLang="ko-KR" sz="1400" b="1" dirty="0"/>
              <a:t>in the case of Deployments</a:t>
            </a:r>
            <a:r>
              <a:rPr lang="en-US" altLang="ko-KR" sz="1400" dirty="0"/>
              <a:t>). </a:t>
            </a:r>
            <a:r>
              <a:rPr lang="en-US" altLang="ko-KR" sz="1400" b="1" dirty="0"/>
              <a:t>When creating instances of the custom “</a:t>
            </a:r>
            <a:r>
              <a:rPr lang="en-US" altLang="ko-KR" sz="1400" b="1" dirty="0">
                <a:solidFill>
                  <a:srgbClr val="FF0000"/>
                </a:solidFill>
              </a:rPr>
              <a:t>Website</a:t>
            </a:r>
            <a:r>
              <a:rPr lang="en-US" altLang="ko-KR" sz="1400" b="1" dirty="0"/>
              <a:t>” resource, the “</a:t>
            </a:r>
            <a:r>
              <a:rPr lang="en-US" altLang="ko-KR" sz="1400" b="1" dirty="0" err="1">
                <a:solidFill>
                  <a:srgbClr val="FF0000"/>
                </a:solidFill>
              </a:rPr>
              <a:t>apiVersion</a:t>
            </a:r>
            <a:r>
              <a:rPr lang="en-US" altLang="ko-KR" sz="1400" b="1" dirty="0"/>
              <a:t>” property will need to be set to “</a:t>
            </a:r>
            <a:r>
              <a:rPr lang="en-US" altLang="ko-KR" sz="1400" b="1" dirty="0">
                <a:solidFill>
                  <a:srgbClr val="FF0000"/>
                </a:solidFill>
              </a:rPr>
              <a:t>extensions.example.com/v1</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15D5B07-B480-C79C-A1F3-0CFA9A5B4EB6}"/>
              </a:ext>
            </a:extLst>
          </p:cNvPr>
          <p:cNvPicPr>
            <a:picLocks noChangeAspect="1"/>
          </p:cNvPicPr>
          <p:nvPr/>
        </p:nvPicPr>
        <p:blipFill>
          <a:blip r:embed="rId2"/>
          <a:stretch>
            <a:fillRect/>
          </a:stretch>
        </p:blipFill>
        <p:spPr>
          <a:xfrm>
            <a:off x="3656167" y="3162812"/>
            <a:ext cx="4879666" cy="3246218"/>
          </a:xfrm>
          <a:prstGeom prst="rect">
            <a:avLst/>
          </a:prstGeom>
        </p:spPr>
      </p:pic>
    </p:spTree>
    <p:extLst>
      <p:ext uri="{BB962C8B-B14F-4D97-AF65-F5344CB8AC3E}">
        <p14:creationId xmlns:p14="http://schemas.microsoft.com/office/powerpoint/2010/main" val="201780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Objects(8/28)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an Instance of a Custom Resource :</a:t>
            </a:r>
            <a:endParaRPr lang="en-US" altLang="ko-KR" sz="1400" dirty="0"/>
          </a:p>
          <a:p>
            <a:pPr lvl="1">
              <a:buFont typeface="Wingdings" panose="05000000000000000000" pitchFamily="2" charset="2"/>
              <a:buChar char="§"/>
            </a:pPr>
            <a:r>
              <a:rPr lang="en-US" altLang="ko-KR" sz="1400" dirty="0"/>
              <a:t>Considering what you learned, </a:t>
            </a:r>
            <a:r>
              <a:rPr lang="en-US" altLang="ko-KR" sz="1400" b="1" dirty="0"/>
              <a:t>you’ll now create a proper YAML for your “Website” resource instance</a:t>
            </a:r>
            <a:r>
              <a:rPr lang="en-US" altLang="ko-KR" sz="1400" dirty="0"/>
              <a:t>. The YAML manifest is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“kind” of your resource is “Website”, and the “</a:t>
            </a:r>
            <a:r>
              <a:rPr lang="en-US" altLang="ko-KR" sz="1400" b="1" dirty="0" err="1"/>
              <a:t>apiVersion</a:t>
            </a:r>
            <a:r>
              <a:rPr lang="en-US" altLang="ko-KR" sz="1400" b="1" dirty="0"/>
              <a:t>” is composed of the “API group” and the “version number” you defined in the “</a:t>
            </a:r>
            <a:r>
              <a:rPr lang="en-US" altLang="ko-KR" sz="1400" b="1" dirty="0" err="1"/>
              <a:t>CustomResourceDefinition</a:t>
            </a:r>
            <a:r>
              <a:rPr lang="en-US" altLang="ko-KR" sz="1400" b="1" dirty="0"/>
              <a:t>”</a:t>
            </a:r>
            <a:r>
              <a:rPr lang="en-US" altLang="ko-KR" sz="1400" dirty="0"/>
              <a:t>. Create your “</a:t>
            </a:r>
            <a:r>
              <a:rPr lang="en-US" altLang="ko-KR" sz="1400" b="1" dirty="0"/>
              <a:t>Website</a:t>
            </a:r>
            <a:r>
              <a:rPr lang="en-US" altLang="ko-KR" sz="1400" dirty="0"/>
              <a:t>” object now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response tells you that the “API server” has accepted and stored your custom “Website” object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4DF5924-2D63-6D71-74CF-97D6B0F5B3CC}"/>
              </a:ext>
            </a:extLst>
          </p:cNvPr>
          <p:cNvGrpSpPr/>
          <p:nvPr/>
        </p:nvGrpSpPr>
        <p:grpSpPr>
          <a:xfrm>
            <a:off x="3047326" y="1654709"/>
            <a:ext cx="6097348" cy="1015663"/>
            <a:chOff x="3047326" y="1792274"/>
            <a:chExt cx="6097348" cy="1015663"/>
          </a:xfrm>
        </p:grpSpPr>
        <p:sp>
          <p:nvSpPr>
            <p:cNvPr id="8" name="TextBox 7">
              <a:extLst>
                <a:ext uri="{FF2B5EF4-FFF2-40B4-BE49-F238E27FC236}">
                  <a16:creationId xmlns:a16="http://schemas.microsoft.com/office/drawing/2014/main" id="{E3830A0C-B1C1-C641-4A3B-32A2C9A5D6D9}"/>
                </a:ext>
              </a:extLst>
            </p:cNvPr>
            <p:cNvSpPr txBox="1"/>
            <p:nvPr/>
          </p:nvSpPr>
          <p:spPr>
            <a:xfrm>
              <a:off x="3047326" y="1792274"/>
              <a:ext cx="6097348" cy="1015663"/>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extensions.example.com/v1</a:t>
              </a:r>
            </a:p>
            <a:p>
              <a:r>
                <a:rPr lang="en-US" altLang="ko-KR" sz="1000" b="1" dirty="0"/>
                <a:t>kind: </a:t>
              </a:r>
              <a:r>
                <a:rPr lang="en-US" altLang="ko-KR" sz="1000" b="1" dirty="0">
                  <a:solidFill>
                    <a:srgbClr val="FF0000"/>
                  </a:solidFill>
                </a:rPr>
                <a:t>Website</a:t>
              </a:r>
            </a:p>
            <a:p>
              <a:r>
                <a:rPr lang="en-US" altLang="ko-KR" sz="1000" b="1" dirty="0"/>
                <a:t>metadata:</a:t>
              </a:r>
            </a:p>
            <a:p>
              <a:r>
                <a:rPr lang="en-US" altLang="ko-KR" sz="1000" b="1" dirty="0"/>
                <a:t>  name: </a:t>
              </a:r>
              <a:r>
                <a:rPr lang="en-US" altLang="ko-KR" sz="1000" b="1" dirty="0" err="1"/>
                <a:t>kubia</a:t>
              </a:r>
              <a:endParaRPr lang="en-US" altLang="ko-KR" sz="1000" b="1" dirty="0"/>
            </a:p>
            <a:p>
              <a:r>
                <a:rPr lang="en-US" altLang="ko-KR" sz="1000" b="1" dirty="0"/>
                <a:t>spec:</a:t>
              </a:r>
            </a:p>
            <a:p>
              <a:r>
                <a:rPr lang="en-US" altLang="ko-KR" sz="1000" b="1" dirty="0"/>
                <a:t>  </a:t>
              </a:r>
              <a:r>
                <a:rPr lang="en-US" altLang="ko-KR" sz="1000" b="1" dirty="0" err="1"/>
                <a:t>gitRepo</a:t>
              </a:r>
              <a:r>
                <a:rPr lang="en-US" altLang="ko-KR" sz="1000" b="1" dirty="0"/>
                <a:t>: https://github.com/knix008/Website-Example.git</a:t>
              </a:r>
            </a:p>
          </p:txBody>
        </p:sp>
        <p:sp>
          <p:nvSpPr>
            <p:cNvPr id="9" name="TextBox 8">
              <a:extLst>
                <a:ext uri="{FF2B5EF4-FFF2-40B4-BE49-F238E27FC236}">
                  <a16:creationId xmlns:a16="http://schemas.microsoft.com/office/drawing/2014/main" id="{44944018-CEE3-5D23-FA73-77D0B88E1EFB}"/>
                </a:ext>
              </a:extLst>
            </p:cNvPr>
            <p:cNvSpPr txBox="1"/>
            <p:nvPr/>
          </p:nvSpPr>
          <p:spPr>
            <a:xfrm>
              <a:off x="7780197" y="1792274"/>
              <a:ext cx="1364477" cy="246221"/>
            </a:xfrm>
            <a:prstGeom prst="rect">
              <a:avLst/>
            </a:prstGeom>
            <a:noFill/>
          </p:spPr>
          <p:txBody>
            <a:bodyPr wrap="none" rtlCol="0">
              <a:spAutoFit/>
            </a:bodyPr>
            <a:lstStyle/>
            <a:p>
              <a:pPr algn="ctr"/>
              <a:r>
                <a:rPr lang="en-US" altLang="ko-KR" sz="1000" b="1" dirty="0" err="1"/>
                <a:t>kubia-website.yaml</a:t>
              </a:r>
              <a:endParaRPr lang="ko-KR" altLang="en-US" sz="1000" b="1" dirty="0"/>
            </a:p>
          </p:txBody>
        </p:sp>
      </p:grpSp>
      <p:grpSp>
        <p:nvGrpSpPr>
          <p:cNvPr id="18" name="그룹 17">
            <a:extLst>
              <a:ext uri="{FF2B5EF4-FFF2-40B4-BE49-F238E27FC236}">
                <a16:creationId xmlns:a16="http://schemas.microsoft.com/office/drawing/2014/main" id="{444CDB49-A638-A3D6-0759-B92E178A8A2E}"/>
              </a:ext>
            </a:extLst>
          </p:cNvPr>
          <p:cNvGrpSpPr/>
          <p:nvPr/>
        </p:nvGrpSpPr>
        <p:grpSpPr>
          <a:xfrm>
            <a:off x="838200" y="3433658"/>
            <a:ext cx="10515600" cy="2240062"/>
            <a:chOff x="838200" y="3803843"/>
            <a:chExt cx="10515600" cy="2240062"/>
          </a:xfrm>
        </p:grpSpPr>
        <p:grpSp>
          <p:nvGrpSpPr>
            <p:cNvPr id="16" name="그룹 15">
              <a:extLst>
                <a:ext uri="{FF2B5EF4-FFF2-40B4-BE49-F238E27FC236}">
                  <a16:creationId xmlns:a16="http://schemas.microsoft.com/office/drawing/2014/main" id="{3E7948D1-B45A-C1A3-7128-38238281F645}"/>
                </a:ext>
              </a:extLst>
            </p:cNvPr>
            <p:cNvGrpSpPr/>
            <p:nvPr/>
          </p:nvGrpSpPr>
          <p:grpSpPr>
            <a:xfrm>
              <a:off x="838200" y="3803843"/>
              <a:ext cx="10515600" cy="2240062"/>
              <a:chOff x="838200" y="3803843"/>
              <a:chExt cx="10515600" cy="2240062"/>
            </a:xfrm>
          </p:grpSpPr>
          <p:sp>
            <p:nvSpPr>
              <p:cNvPr id="12" name="TextBox 11">
                <a:extLst>
                  <a:ext uri="{FF2B5EF4-FFF2-40B4-BE49-F238E27FC236}">
                    <a16:creationId xmlns:a16="http://schemas.microsoft.com/office/drawing/2014/main" id="{2967656E-2367-0143-411A-EE2061B297F7}"/>
                  </a:ext>
                </a:extLst>
              </p:cNvPr>
              <p:cNvSpPr txBox="1"/>
              <p:nvPr/>
            </p:nvSpPr>
            <p:spPr>
              <a:xfrm>
                <a:off x="3047326" y="380384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kubia-website.yaml</a:t>
                </a:r>
                <a:endParaRPr lang="ko-KR" altLang="en-US" sz="1000" b="1" dirty="0">
                  <a:solidFill>
                    <a:srgbClr val="FF0000"/>
                  </a:solidFill>
                </a:endParaRPr>
              </a:p>
            </p:txBody>
          </p:sp>
          <p:pic>
            <p:nvPicPr>
              <p:cNvPr id="14" name="그림 13">
                <a:extLst>
                  <a:ext uri="{FF2B5EF4-FFF2-40B4-BE49-F238E27FC236}">
                    <a16:creationId xmlns:a16="http://schemas.microsoft.com/office/drawing/2014/main" id="{49A9CA17-069A-D707-7361-F48331C1DD3F}"/>
                  </a:ext>
                </a:extLst>
              </p:cNvPr>
              <p:cNvPicPr>
                <a:picLocks noChangeAspect="1"/>
              </p:cNvPicPr>
              <p:nvPr/>
            </p:nvPicPr>
            <p:blipFill>
              <a:blip r:embed="rId2"/>
              <a:stretch>
                <a:fillRect/>
              </a:stretch>
            </p:blipFill>
            <p:spPr>
              <a:xfrm>
                <a:off x="838200" y="4376987"/>
                <a:ext cx="10515600" cy="1666918"/>
              </a:xfrm>
              <a:prstGeom prst="rect">
                <a:avLst/>
              </a:prstGeom>
            </p:spPr>
          </p:pic>
          <p:sp>
            <p:nvSpPr>
              <p:cNvPr id="15" name="화살표: 아래쪽 14">
                <a:extLst>
                  <a:ext uri="{FF2B5EF4-FFF2-40B4-BE49-F238E27FC236}">
                    <a16:creationId xmlns:a16="http://schemas.microsoft.com/office/drawing/2014/main" id="{A730D959-13FA-BEF8-3429-0AF2EAA35FAF}"/>
                  </a:ext>
                </a:extLst>
              </p:cNvPr>
              <p:cNvSpPr/>
              <p:nvPr/>
            </p:nvSpPr>
            <p:spPr>
              <a:xfrm>
                <a:off x="5853684" y="4050064"/>
                <a:ext cx="484632" cy="32692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직사각형 16">
              <a:extLst>
                <a:ext uri="{FF2B5EF4-FFF2-40B4-BE49-F238E27FC236}">
                  <a16:creationId xmlns:a16="http://schemas.microsoft.com/office/drawing/2014/main" id="{20E2949B-BFD4-F2AE-D6EB-5828A2C3B24C}"/>
                </a:ext>
              </a:extLst>
            </p:cNvPr>
            <p:cNvSpPr/>
            <p:nvPr/>
          </p:nvSpPr>
          <p:spPr>
            <a:xfrm>
              <a:off x="4798577" y="5445222"/>
              <a:ext cx="3390563" cy="2111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54852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Objects(9/28)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Retrieving Instances of a Custom Resource :</a:t>
            </a:r>
            <a:endParaRPr lang="en-US" altLang="ko-KR" sz="1400" dirty="0"/>
          </a:p>
          <a:p>
            <a:pPr lvl="1">
              <a:buFont typeface="Wingdings" panose="05000000000000000000" pitchFamily="2" charset="2"/>
              <a:buChar char="§"/>
            </a:pPr>
            <a:r>
              <a:rPr lang="en-US" altLang="ko-KR" sz="1400" b="1" dirty="0"/>
              <a:t>List all the “websites” in your cluster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DA480772-6893-ADB7-64E0-157573C9EDCB}"/>
              </a:ext>
            </a:extLst>
          </p:cNvPr>
          <p:cNvGrpSpPr/>
          <p:nvPr/>
        </p:nvGrpSpPr>
        <p:grpSpPr>
          <a:xfrm>
            <a:off x="838200" y="2125312"/>
            <a:ext cx="10515600" cy="2607376"/>
            <a:chOff x="838200" y="1514662"/>
            <a:chExt cx="10515600" cy="2607376"/>
          </a:xfrm>
        </p:grpSpPr>
        <p:grpSp>
          <p:nvGrpSpPr>
            <p:cNvPr id="14" name="그룹 13">
              <a:extLst>
                <a:ext uri="{FF2B5EF4-FFF2-40B4-BE49-F238E27FC236}">
                  <a16:creationId xmlns:a16="http://schemas.microsoft.com/office/drawing/2014/main" id="{D7923B59-DB1B-0AB5-15B7-FD0062370CB3}"/>
                </a:ext>
              </a:extLst>
            </p:cNvPr>
            <p:cNvGrpSpPr/>
            <p:nvPr/>
          </p:nvGrpSpPr>
          <p:grpSpPr>
            <a:xfrm>
              <a:off x="838200" y="1514662"/>
              <a:ext cx="10515600" cy="2607376"/>
              <a:chOff x="838200" y="1563214"/>
              <a:chExt cx="10515600" cy="2607376"/>
            </a:xfrm>
          </p:grpSpPr>
          <p:grpSp>
            <p:nvGrpSpPr>
              <p:cNvPr id="12" name="그룹 11">
                <a:extLst>
                  <a:ext uri="{FF2B5EF4-FFF2-40B4-BE49-F238E27FC236}">
                    <a16:creationId xmlns:a16="http://schemas.microsoft.com/office/drawing/2014/main" id="{1DA23B76-B412-7BD4-16E6-8A8C742D730A}"/>
                  </a:ext>
                </a:extLst>
              </p:cNvPr>
              <p:cNvGrpSpPr/>
              <p:nvPr/>
            </p:nvGrpSpPr>
            <p:grpSpPr>
              <a:xfrm>
                <a:off x="838200" y="1563214"/>
                <a:ext cx="10515600" cy="2607376"/>
                <a:chOff x="838200" y="1563214"/>
                <a:chExt cx="10515600" cy="2607376"/>
              </a:xfrm>
            </p:grpSpPr>
            <p:sp>
              <p:nvSpPr>
                <p:cNvPr id="8" name="TextBox 7">
                  <a:extLst>
                    <a:ext uri="{FF2B5EF4-FFF2-40B4-BE49-F238E27FC236}">
                      <a16:creationId xmlns:a16="http://schemas.microsoft.com/office/drawing/2014/main" id="{4B24BB36-AD1D-88A7-15C3-CF7B4026D89D}"/>
                    </a:ext>
                  </a:extLst>
                </p:cNvPr>
                <p:cNvSpPr txBox="1"/>
                <p:nvPr/>
              </p:nvSpPr>
              <p:spPr>
                <a:xfrm>
                  <a:off x="3047326" y="156321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a:solidFill>
                        <a:srgbClr val="FF0000"/>
                      </a:solidFill>
                    </a:rPr>
                    <a:t>websites</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B4FCC72B-AE2E-6D94-B543-30CF7F28D700}"/>
                    </a:ext>
                  </a:extLst>
                </p:cNvPr>
                <p:cNvPicPr>
                  <a:picLocks noChangeAspect="1"/>
                </p:cNvPicPr>
                <p:nvPr/>
              </p:nvPicPr>
              <p:blipFill>
                <a:blip r:embed="rId2"/>
                <a:stretch>
                  <a:fillRect/>
                </a:stretch>
              </p:blipFill>
              <p:spPr>
                <a:xfrm>
                  <a:off x="838200" y="2137574"/>
                  <a:ext cx="10515600" cy="2033016"/>
                </a:xfrm>
                <a:prstGeom prst="rect">
                  <a:avLst/>
                </a:prstGeom>
              </p:spPr>
            </p:pic>
            <p:sp>
              <p:nvSpPr>
                <p:cNvPr id="11" name="화살표: 아래쪽 10">
                  <a:extLst>
                    <a:ext uri="{FF2B5EF4-FFF2-40B4-BE49-F238E27FC236}">
                      <a16:creationId xmlns:a16="http://schemas.microsoft.com/office/drawing/2014/main" id="{DE94FDBD-5E57-772D-7696-9AD0229AF200}"/>
                    </a:ext>
                  </a:extLst>
                </p:cNvPr>
                <p:cNvSpPr/>
                <p:nvPr/>
              </p:nvSpPr>
              <p:spPr>
                <a:xfrm>
                  <a:off x="5865377" y="1813448"/>
                  <a:ext cx="461246" cy="32412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3464B400-3191-D4D4-8354-5CA807F9A49E}"/>
                  </a:ext>
                </a:extLst>
              </p:cNvPr>
              <p:cNvSpPr/>
              <p:nvPr/>
            </p:nvSpPr>
            <p:spPr>
              <a:xfrm>
                <a:off x="4798577" y="3461368"/>
                <a:ext cx="1359462" cy="228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A123BAA0-B39E-97D1-6B92-0C79DD43470B}"/>
                </a:ext>
              </a:extLst>
            </p:cNvPr>
            <p:cNvSpPr/>
            <p:nvPr/>
          </p:nvSpPr>
          <p:spPr>
            <a:xfrm>
              <a:off x="854384" y="3591718"/>
              <a:ext cx="1055336" cy="3005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88938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Objects(10/28)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Retrieving Instances of a Custom Resource :</a:t>
            </a:r>
            <a:endParaRPr lang="en-US" altLang="ko-KR" sz="1400" dirty="0"/>
          </a:p>
          <a:p>
            <a:pPr lvl="1">
              <a:buFont typeface="Wingdings" panose="05000000000000000000" pitchFamily="2" charset="2"/>
              <a:buChar char="§"/>
            </a:pPr>
            <a:r>
              <a:rPr lang="en-US" altLang="ko-KR" sz="1400" dirty="0"/>
              <a:t>As with existing Kubernetes resources, you can create and then list instances of custom resources. </a:t>
            </a:r>
            <a:r>
              <a:rPr lang="en-US" altLang="ko-KR" sz="1400" b="1" dirty="0"/>
              <a:t>You can also use “$ </a:t>
            </a:r>
            <a:r>
              <a:rPr lang="en-US" altLang="ko-KR" sz="1400" b="1" dirty="0" err="1"/>
              <a:t>kubectl</a:t>
            </a:r>
            <a:r>
              <a:rPr lang="en-US" altLang="ko-KR" sz="1400" b="1" dirty="0"/>
              <a:t> describe” command to see the details of your custom object, or retrieve the whole YAML with “$ </a:t>
            </a:r>
            <a:r>
              <a:rPr lang="en-US" altLang="ko-KR" sz="1400" b="1" dirty="0" err="1"/>
              <a:t>kubectl</a:t>
            </a:r>
            <a:r>
              <a:rPr lang="en-US" altLang="ko-KR" sz="1400" b="1" dirty="0"/>
              <a:t> get” command</a:t>
            </a:r>
            <a:r>
              <a:rPr lang="en-US" altLang="ko-KR" sz="1400" dirty="0"/>
              <a:t>, as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resource includes everything that was in the original YAML definition, and that Kubernetes has initialized additional metadata fields the way it does with all other resources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C157E83-AD27-B828-D086-86E0D8785ACF}"/>
              </a:ext>
            </a:extLst>
          </p:cNvPr>
          <p:cNvGrpSpPr/>
          <p:nvPr/>
        </p:nvGrpSpPr>
        <p:grpSpPr>
          <a:xfrm>
            <a:off x="838200" y="1937342"/>
            <a:ext cx="10515600" cy="2983315"/>
            <a:chOff x="838200" y="1937342"/>
            <a:chExt cx="10515600" cy="2983315"/>
          </a:xfrm>
        </p:grpSpPr>
        <p:pic>
          <p:nvPicPr>
            <p:cNvPr id="8" name="그림 7">
              <a:extLst>
                <a:ext uri="{FF2B5EF4-FFF2-40B4-BE49-F238E27FC236}">
                  <a16:creationId xmlns:a16="http://schemas.microsoft.com/office/drawing/2014/main" id="{310D7807-F7DB-EAE9-E3FB-EAA0BBDC58CB}"/>
                </a:ext>
              </a:extLst>
            </p:cNvPr>
            <p:cNvPicPr>
              <a:picLocks noChangeAspect="1"/>
            </p:cNvPicPr>
            <p:nvPr/>
          </p:nvPicPr>
          <p:blipFill>
            <a:blip r:embed="rId2"/>
            <a:stretch>
              <a:fillRect/>
            </a:stretch>
          </p:blipFill>
          <p:spPr>
            <a:xfrm>
              <a:off x="838200" y="1937342"/>
              <a:ext cx="10515600" cy="2983315"/>
            </a:xfrm>
            <a:prstGeom prst="rect">
              <a:avLst/>
            </a:prstGeom>
          </p:spPr>
        </p:pic>
        <p:sp>
          <p:nvSpPr>
            <p:cNvPr id="9" name="직사각형 8">
              <a:extLst>
                <a:ext uri="{FF2B5EF4-FFF2-40B4-BE49-F238E27FC236}">
                  <a16:creationId xmlns:a16="http://schemas.microsoft.com/office/drawing/2014/main" id="{3B5E861F-91A3-E81F-8F92-58A5B3209175}"/>
                </a:ext>
              </a:extLst>
            </p:cNvPr>
            <p:cNvSpPr/>
            <p:nvPr/>
          </p:nvSpPr>
          <p:spPr>
            <a:xfrm>
              <a:off x="4806669" y="3002145"/>
              <a:ext cx="2176758" cy="226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97630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Objects(11/28)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an Instance of a Custom Object :</a:t>
            </a:r>
            <a:endParaRPr lang="en-US" altLang="ko-KR" sz="1400" dirty="0"/>
          </a:p>
          <a:p>
            <a:pPr lvl="1">
              <a:buFont typeface="Wingdings" panose="05000000000000000000" pitchFamily="2" charset="2"/>
              <a:buChar char="§"/>
            </a:pPr>
            <a:r>
              <a:rPr lang="en-US" altLang="ko-KR" sz="1400" dirty="0"/>
              <a:t>Obviously, in addition to </a:t>
            </a:r>
            <a:r>
              <a:rPr lang="en-US" altLang="ko-KR" sz="1400" b="1" dirty="0"/>
              <a:t>creating</a:t>
            </a:r>
            <a:r>
              <a:rPr lang="en-US" altLang="ko-KR" sz="1400" dirty="0"/>
              <a:t> and </a:t>
            </a:r>
            <a:r>
              <a:rPr lang="en-US" altLang="ko-KR" sz="1400" b="1" dirty="0"/>
              <a:t>retrieving</a:t>
            </a:r>
            <a:r>
              <a:rPr lang="en-US" altLang="ko-KR" sz="1400" dirty="0"/>
              <a:t> custom object instances, you can also </a:t>
            </a:r>
            <a:r>
              <a:rPr lang="en-US" altLang="ko-KR" sz="1400" b="1" dirty="0"/>
              <a:t>delete</a:t>
            </a:r>
            <a:r>
              <a:rPr lang="en-US" altLang="ko-KR" sz="1400" dirty="0"/>
              <a:t> them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solidFill>
                  <a:srgbClr val="FF0000"/>
                </a:solidFill>
              </a:rPr>
              <a:t>NOTE : You’re deleting an instance of a Website, not the Website CRD resource</a:t>
            </a:r>
            <a:r>
              <a:rPr lang="en-US" altLang="ko-KR" sz="1400" dirty="0"/>
              <a:t>. You could also delete the CRD object itself, but let’s hold off on that for a while, because you’ll be creating additional Website instances later.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66A852A7-08EA-F2DA-EC6D-C5C761C09B25}"/>
              </a:ext>
            </a:extLst>
          </p:cNvPr>
          <p:cNvGrpSpPr/>
          <p:nvPr/>
        </p:nvGrpSpPr>
        <p:grpSpPr>
          <a:xfrm>
            <a:off x="838200" y="1555122"/>
            <a:ext cx="10515600" cy="2053055"/>
            <a:chOff x="838200" y="1555122"/>
            <a:chExt cx="10515600" cy="2053055"/>
          </a:xfrm>
        </p:grpSpPr>
        <p:grpSp>
          <p:nvGrpSpPr>
            <p:cNvPr id="10" name="그룹 9">
              <a:extLst>
                <a:ext uri="{FF2B5EF4-FFF2-40B4-BE49-F238E27FC236}">
                  <a16:creationId xmlns:a16="http://schemas.microsoft.com/office/drawing/2014/main" id="{960E9750-B382-DCCC-5A7B-3A383F2C5928}"/>
                </a:ext>
              </a:extLst>
            </p:cNvPr>
            <p:cNvGrpSpPr/>
            <p:nvPr/>
          </p:nvGrpSpPr>
          <p:grpSpPr>
            <a:xfrm>
              <a:off x="3047326" y="1555122"/>
              <a:ext cx="6097348" cy="573082"/>
              <a:chOff x="3047326" y="1555122"/>
              <a:chExt cx="6097348" cy="573082"/>
            </a:xfrm>
          </p:grpSpPr>
          <p:sp>
            <p:nvSpPr>
              <p:cNvPr id="8" name="TextBox 7">
                <a:extLst>
                  <a:ext uri="{FF2B5EF4-FFF2-40B4-BE49-F238E27FC236}">
                    <a16:creationId xmlns:a16="http://schemas.microsoft.com/office/drawing/2014/main" id="{E1A4144B-184A-CE00-B089-10CE9F554CF6}"/>
                  </a:ext>
                </a:extLst>
              </p:cNvPr>
              <p:cNvSpPr txBox="1"/>
              <p:nvPr/>
            </p:nvSpPr>
            <p:spPr>
              <a:xfrm>
                <a:off x="3047326" y="1555122"/>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a:solidFill>
                      <a:srgbClr val="FF0000"/>
                    </a:solidFill>
                  </a:rPr>
                  <a:t>website </a:t>
                </a:r>
                <a:r>
                  <a:rPr lang="en-US" altLang="ko-KR" sz="1000" b="1" dirty="0" err="1">
                    <a:solidFill>
                      <a:srgbClr val="FF0000"/>
                    </a:solidFill>
                  </a:rPr>
                  <a:t>kubia</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9934206D-53A7-4CEA-2507-6D5ACC9176DA}"/>
                  </a:ext>
                </a:extLst>
              </p:cNvPr>
              <p:cNvSpPr/>
              <p:nvPr/>
            </p:nvSpPr>
            <p:spPr>
              <a:xfrm>
                <a:off x="5853239" y="1820707"/>
                <a:ext cx="485522"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A72BE75A-A0D6-562C-AC37-FCD255FA09B2}"/>
                </a:ext>
              </a:extLst>
            </p:cNvPr>
            <p:cNvPicPr>
              <a:picLocks noChangeAspect="1"/>
            </p:cNvPicPr>
            <p:nvPr/>
          </p:nvPicPr>
          <p:blipFill>
            <a:blip r:embed="rId2"/>
            <a:stretch>
              <a:fillRect/>
            </a:stretch>
          </p:blipFill>
          <p:spPr>
            <a:xfrm>
              <a:off x="838200" y="2128204"/>
              <a:ext cx="10515600" cy="1479973"/>
            </a:xfrm>
            <a:prstGeom prst="rect">
              <a:avLst/>
            </a:prstGeom>
          </p:spPr>
        </p:pic>
      </p:grpSp>
    </p:spTree>
    <p:extLst>
      <p:ext uri="{BB962C8B-B14F-4D97-AF65-F5344CB8AC3E}">
        <p14:creationId xmlns:p14="http://schemas.microsoft.com/office/powerpoint/2010/main" val="2924800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Objects(12/28)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an Instance of a Custom Object :</a:t>
            </a:r>
            <a:endParaRPr lang="en-US" altLang="ko-KR" sz="1400" dirty="0"/>
          </a:p>
          <a:p>
            <a:pPr lvl="1">
              <a:buFont typeface="Wingdings" panose="05000000000000000000" pitchFamily="2" charset="2"/>
              <a:buChar char="§"/>
            </a:pPr>
            <a:r>
              <a:rPr lang="en-US" altLang="ko-KR" sz="1400" b="1" dirty="0"/>
              <a:t>By creating a “</a:t>
            </a:r>
            <a:r>
              <a:rPr lang="en-US" altLang="ko-KR" sz="1400" b="1" dirty="0" err="1">
                <a:solidFill>
                  <a:srgbClr val="FF0000"/>
                </a:solidFill>
              </a:rPr>
              <a:t>CustomResourceDefinition</a:t>
            </a:r>
            <a:r>
              <a:rPr lang="en-US" altLang="ko-KR" sz="1400" b="1" dirty="0"/>
              <a:t>” object, you can now store, retrieve, and delete custom objects through the Kubernetes API server</a:t>
            </a:r>
            <a:r>
              <a:rPr lang="en-US" altLang="ko-KR" sz="1400" dirty="0"/>
              <a:t>. These objects don’t do anything yet. </a:t>
            </a:r>
            <a:r>
              <a:rPr lang="en-US" altLang="ko-KR" sz="1400" b="1" dirty="0"/>
              <a:t>You’ll need to create a </a:t>
            </a:r>
            <a:r>
              <a:rPr lang="en-US" altLang="ko-KR" sz="1400" b="1" dirty="0">
                <a:solidFill>
                  <a:srgbClr val="FF0000"/>
                </a:solidFill>
              </a:rPr>
              <a:t>controller</a:t>
            </a:r>
            <a:r>
              <a:rPr lang="en-US" altLang="ko-KR" sz="1400" b="1" dirty="0"/>
              <a:t> to make them do something</a:t>
            </a:r>
            <a:r>
              <a:rPr lang="en-US" altLang="ko-KR" sz="1400" dirty="0"/>
              <a:t>.</a:t>
            </a:r>
          </a:p>
          <a:p>
            <a:pPr lvl="1">
              <a:buFont typeface="Wingdings" panose="05000000000000000000" pitchFamily="2" charset="2"/>
              <a:buChar char="§"/>
            </a:pPr>
            <a:r>
              <a:rPr lang="en-US" altLang="ko-KR" sz="1400" dirty="0"/>
              <a:t>In general, the point of creating custom objects like this isn’t always to make something happen when the object is created. </a:t>
            </a:r>
            <a:r>
              <a:rPr lang="en-US" altLang="ko-KR" sz="1400" b="1" dirty="0"/>
              <a:t>Certain custom objects are used to store data instead of using a more generic mechanism such as a “</a:t>
            </a:r>
            <a:r>
              <a:rPr lang="en-US" altLang="ko-KR" sz="1400" b="1" dirty="0" err="1"/>
              <a:t>ConfigMap</a:t>
            </a:r>
            <a:r>
              <a:rPr lang="en-US" altLang="ko-KR" sz="1400" b="1" dirty="0"/>
              <a:t>”</a:t>
            </a:r>
            <a:r>
              <a:rPr lang="en-US" altLang="ko-KR" sz="1400" dirty="0"/>
              <a:t>. </a:t>
            </a:r>
            <a:r>
              <a:rPr lang="en-US" altLang="ko-KR" sz="1400" b="1" dirty="0"/>
              <a:t>Applications running inside pods can query the API server for those objects and read whatever is stored in them</a:t>
            </a:r>
            <a:r>
              <a:rPr lang="en-US" altLang="ko-KR" sz="1400" dirty="0"/>
              <a:t>.</a:t>
            </a:r>
          </a:p>
          <a:p>
            <a:pPr lvl="1">
              <a:buFont typeface="Wingdings" panose="05000000000000000000" pitchFamily="2" charset="2"/>
              <a:buChar char="§"/>
            </a:pPr>
            <a:r>
              <a:rPr lang="en-US" altLang="ko-KR" sz="1400" dirty="0"/>
              <a:t>But in this case, we said you wanted the existence of </a:t>
            </a:r>
            <a:r>
              <a:rPr lang="en-US" altLang="ko-KR" sz="1400" b="1" dirty="0"/>
              <a:t>a “Website” object to result in the spinning up of a web server serving the contents of the “Git repository” referenced in the object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A495294-FE84-9E7E-1407-935E3B64481E}"/>
              </a:ext>
            </a:extLst>
          </p:cNvPr>
          <p:cNvPicPr>
            <a:picLocks noChangeAspect="1"/>
          </p:cNvPicPr>
          <p:nvPr/>
        </p:nvPicPr>
        <p:blipFill>
          <a:blip r:embed="rId2"/>
          <a:stretch>
            <a:fillRect/>
          </a:stretch>
        </p:blipFill>
        <p:spPr>
          <a:xfrm>
            <a:off x="3286125" y="3429000"/>
            <a:ext cx="5619750" cy="2219325"/>
          </a:xfrm>
          <a:prstGeom prst="rect">
            <a:avLst/>
          </a:prstGeom>
        </p:spPr>
      </p:pic>
    </p:spTree>
    <p:extLst>
      <p:ext uri="{BB962C8B-B14F-4D97-AF65-F5344CB8AC3E}">
        <p14:creationId xmlns:p14="http://schemas.microsoft.com/office/powerpoint/2010/main" val="1756250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Objects(13/28)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Automating Custom Resources with Custom Controllers :</a:t>
            </a:r>
            <a:endParaRPr lang="en-US" altLang="ko-KR" sz="1400" dirty="0"/>
          </a:p>
          <a:p>
            <a:pPr lvl="1">
              <a:buFont typeface="Wingdings" panose="05000000000000000000" pitchFamily="2" charset="2"/>
              <a:buChar char="§"/>
            </a:pPr>
            <a:r>
              <a:rPr lang="en-US" altLang="ko-KR" sz="1400" b="1" dirty="0"/>
              <a:t>To make your ”Website objects” run a web server pod exposed through a “</a:t>
            </a:r>
            <a:r>
              <a:rPr lang="en-US" altLang="ko-KR" sz="1400" b="1" dirty="0">
                <a:solidFill>
                  <a:srgbClr val="FF0000"/>
                </a:solidFill>
              </a:rPr>
              <a:t>Service</a:t>
            </a:r>
            <a:r>
              <a:rPr lang="en-US" altLang="ko-KR" sz="1400" b="1" dirty="0"/>
              <a:t>”, you’ll need to build and deploy a “Website controller”, which will </a:t>
            </a:r>
            <a:r>
              <a:rPr lang="en-US" altLang="ko-KR" sz="1400" b="1" dirty="0">
                <a:solidFill>
                  <a:srgbClr val="FF0000"/>
                </a:solidFill>
              </a:rPr>
              <a:t>watch</a:t>
            </a:r>
            <a:r>
              <a:rPr lang="en-US" altLang="ko-KR" sz="1400" b="1" dirty="0"/>
              <a:t> the API server for the creation of “Website objects” and then </a:t>
            </a:r>
            <a:r>
              <a:rPr lang="en-US" altLang="ko-KR" sz="1400" b="1" dirty="0">
                <a:solidFill>
                  <a:srgbClr val="FF0000"/>
                </a:solidFill>
              </a:rPr>
              <a:t>create the “Service” and the “web server Pod” for each of them</a:t>
            </a:r>
            <a:r>
              <a:rPr lang="en-US" altLang="ko-KR" sz="1400" dirty="0"/>
              <a:t>.</a:t>
            </a:r>
          </a:p>
          <a:p>
            <a:pPr lvl="1">
              <a:buFont typeface="Wingdings" panose="05000000000000000000" pitchFamily="2" charset="2"/>
              <a:buChar char="§"/>
            </a:pPr>
            <a:r>
              <a:rPr lang="en-US" altLang="ko-KR" sz="1400" b="1" dirty="0"/>
              <a:t>To make sure the Pod is managed and survives node failures, the controller will create a “Deployment” resource instead of an unmanaged Pod directly</a:t>
            </a:r>
            <a:r>
              <a:rPr lang="en-US" altLang="ko-KR" sz="1400" dirty="0"/>
              <a:t>. The controller’s operation is summarized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C5D5FE6A-3D6E-A159-3AE9-E40004F41C0F}"/>
              </a:ext>
            </a:extLst>
          </p:cNvPr>
          <p:cNvGrpSpPr/>
          <p:nvPr/>
        </p:nvGrpSpPr>
        <p:grpSpPr>
          <a:xfrm>
            <a:off x="4345858" y="2652339"/>
            <a:ext cx="3500284" cy="3106994"/>
            <a:chOff x="4345858" y="2652339"/>
            <a:chExt cx="3500284" cy="3106994"/>
          </a:xfrm>
        </p:grpSpPr>
        <p:pic>
          <p:nvPicPr>
            <p:cNvPr id="8" name="그림 7">
              <a:extLst>
                <a:ext uri="{FF2B5EF4-FFF2-40B4-BE49-F238E27FC236}">
                  <a16:creationId xmlns:a16="http://schemas.microsoft.com/office/drawing/2014/main" id="{7724D204-5213-C0F4-7F15-711F942E2FF3}"/>
                </a:ext>
              </a:extLst>
            </p:cNvPr>
            <p:cNvPicPr>
              <a:picLocks noChangeAspect="1"/>
            </p:cNvPicPr>
            <p:nvPr/>
          </p:nvPicPr>
          <p:blipFill>
            <a:blip r:embed="rId2"/>
            <a:stretch>
              <a:fillRect/>
            </a:stretch>
          </p:blipFill>
          <p:spPr>
            <a:xfrm>
              <a:off x="4345858" y="2652339"/>
              <a:ext cx="3500284" cy="3106994"/>
            </a:xfrm>
            <a:prstGeom prst="rect">
              <a:avLst/>
            </a:prstGeom>
          </p:spPr>
        </p:pic>
        <p:sp>
          <p:nvSpPr>
            <p:cNvPr id="9" name="직사각형 8">
              <a:extLst>
                <a:ext uri="{FF2B5EF4-FFF2-40B4-BE49-F238E27FC236}">
                  <a16:creationId xmlns:a16="http://schemas.microsoft.com/office/drawing/2014/main" id="{61BC64BE-30FC-1A0B-5B5C-160833157D51}"/>
                </a:ext>
              </a:extLst>
            </p:cNvPr>
            <p:cNvSpPr/>
            <p:nvPr/>
          </p:nvSpPr>
          <p:spPr>
            <a:xfrm>
              <a:off x="6497904" y="4232135"/>
              <a:ext cx="906308" cy="3965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47CA26AB-BA12-2C6F-F8B3-F9F886F4950B}"/>
                </a:ext>
              </a:extLst>
            </p:cNvPr>
            <p:cNvSpPr/>
            <p:nvPr/>
          </p:nvSpPr>
          <p:spPr>
            <a:xfrm>
              <a:off x="6497904" y="5047658"/>
              <a:ext cx="906308" cy="3965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41892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Objects(14/28)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Automating Custom Resources with Custom Controllers :</a:t>
            </a:r>
            <a:endParaRPr lang="en-US" altLang="ko-KR" sz="1400" dirty="0"/>
          </a:p>
          <a:p>
            <a:pPr lvl="1">
              <a:buFont typeface="Wingdings" panose="05000000000000000000" pitchFamily="2" charset="2"/>
              <a:buChar char="§"/>
            </a:pPr>
            <a:r>
              <a:rPr lang="en-US" altLang="ko-KR" sz="1400" dirty="0"/>
              <a:t>The simple initial version of the controller works well enough to show CRDs and the controller in action, but it’s far from being production-ready, because it’s overly simplified. The container image is available at “</a:t>
            </a:r>
            <a:r>
              <a:rPr lang="en-US" altLang="ko-KR" sz="1400" b="1" dirty="0"/>
              <a:t>hub.docker.com/knix008/</a:t>
            </a:r>
            <a:r>
              <a:rPr lang="en-US" altLang="ko-KR" sz="1400" b="1" dirty="0" err="1"/>
              <a:t>website-controller:latest</a:t>
            </a:r>
            <a:r>
              <a:rPr lang="en-US" altLang="ko-KR" sz="1400" dirty="0"/>
              <a:t>”, and the source code is at “</a:t>
            </a:r>
            <a:r>
              <a:rPr lang="en-US" altLang="ko-KR" sz="1400" b="1" dirty="0"/>
              <a:t>https://github.com/knix008/</a:t>
            </a:r>
            <a:r>
              <a:rPr lang="en-US" altLang="ko-KR" sz="1400" b="1" dirty="0" err="1"/>
              <a:t>Kubernetes_In_Action</a:t>
            </a:r>
            <a:r>
              <a:rPr lang="en-US" altLang="ko-KR" sz="1400" b="1" dirty="0"/>
              <a:t>/Part10/Website-Controller</a:t>
            </a:r>
            <a:r>
              <a:rPr lang="en-US" altLang="ko-KR" sz="1400" dirty="0"/>
              <a:t>”.</a:t>
            </a:r>
          </a:p>
          <a:p>
            <a:pPr lvl="1">
              <a:buFont typeface="Wingdings" panose="05000000000000000000" pitchFamily="2" charset="2"/>
              <a:buChar char="§"/>
            </a:pPr>
            <a:r>
              <a:rPr lang="en-US" altLang="ko-KR" sz="1400" b="1" dirty="0"/>
              <a:t>NOTICE : Before you run “$ make” command in the project directory, be sure that your Go compiler is installed after deleting previous version of Go compiler completely</a:t>
            </a:r>
            <a:r>
              <a:rPr lang="en-US" altLang="ko-KR" sz="1400" dirty="0"/>
              <a:t>.</a:t>
            </a:r>
          </a:p>
          <a:p>
            <a:pPr lvl="1">
              <a:buFont typeface="Wingdings" panose="05000000000000000000" pitchFamily="2" charset="2"/>
              <a:buChar char="§"/>
            </a:pPr>
            <a:r>
              <a:rPr lang="en-US" altLang="ko-KR" sz="1400" dirty="0"/>
              <a:t>To build binary and docker image, just run “</a:t>
            </a:r>
            <a:r>
              <a:rPr lang="en-US" altLang="ko-KR" sz="1400" b="1" dirty="0"/>
              <a:t>$ make image</a:t>
            </a:r>
            <a:r>
              <a:rPr lang="en-US" altLang="ko-KR" sz="1400" dirty="0"/>
              <a:t>” command in the project directory. After that, you need to login “</a:t>
            </a:r>
            <a:r>
              <a:rPr lang="en-US" altLang="ko-KR" sz="1400" b="1" dirty="0"/>
              <a:t>docker hub</a:t>
            </a:r>
            <a:r>
              <a:rPr lang="en-US" altLang="ko-KR" sz="1400" dirty="0"/>
              <a:t>”. Then, run “</a:t>
            </a:r>
            <a:r>
              <a:rPr lang="en-US" altLang="ko-KR" sz="1400" b="1" dirty="0"/>
              <a:t>docker push</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F088388-E520-0D22-2A52-D9CB398719F2}"/>
              </a:ext>
            </a:extLst>
          </p:cNvPr>
          <p:cNvPicPr>
            <a:picLocks noChangeAspect="1"/>
          </p:cNvPicPr>
          <p:nvPr/>
        </p:nvPicPr>
        <p:blipFill>
          <a:blip r:embed="rId2"/>
          <a:stretch>
            <a:fillRect/>
          </a:stretch>
        </p:blipFill>
        <p:spPr>
          <a:xfrm>
            <a:off x="838200" y="3155268"/>
            <a:ext cx="10515600" cy="2687319"/>
          </a:xfrm>
          <a:prstGeom prst="rect">
            <a:avLst/>
          </a:prstGeom>
        </p:spPr>
      </p:pic>
    </p:spTree>
    <p:extLst>
      <p:ext uri="{BB962C8B-B14F-4D97-AF65-F5344CB8AC3E}">
        <p14:creationId xmlns:p14="http://schemas.microsoft.com/office/powerpoint/2010/main" val="4249237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Docker Hub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Website Controller Registration :</a:t>
            </a:r>
            <a:endParaRPr lang="en-US" altLang="ko-KR" sz="1400" dirty="0"/>
          </a:p>
          <a:p>
            <a:pPr lvl="1">
              <a:buFont typeface="Wingdings" panose="05000000000000000000" pitchFamily="2" charset="2"/>
              <a:buChar char="§"/>
            </a:pPr>
            <a:r>
              <a:rPr lang="en-US" altLang="ko-KR" sz="1400" dirty="0"/>
              <a:t>After finishing the previous step, you can </a:t>
            </a:r>
            <a:r>
              <a:rPr lang="en-US" altLang="ko-KR" sz="1400" b="1" dirty="0"/>
              <a:t>check your docker image in your docker hub repository </a:t>
            </a:r>
            <a:r>
              <a:rPr lang="en-US" altLang="ko-KR" sz="1400" dirty="0"/>
              <a:t>like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679C631-759D-D54F-D2EB-4A01FD4E3723}"/>
              </a:ext>
            </a:extLst>
          </p:cNvPr>
          <p:cNvGrpSpPr/>
          <p:nvPr/>
        </p:nvGrpSpPr>
        <p:grpSpPr>
          <a:xfrm>
            <a:off x="838200" y="1720641"/>
            <a:ext cx="10515600" cy="4542340"/>
            <a:chOff x="838200" y="1720641"/>
            <a:chExt cx="10515600" cy="4542340"/>
          </a:xfrm>
        </p:grpSpPr>
        <p:pic>
          <p:nvPicPr>
            <p:cNvPr id="8" name="그림 7">
              <a:extLst>
                <a:ext uri="{FF2B5EF4-FFF2-40B4-BE49-F238E27FC236}">
                  <a16:creationId xmlns:a16="http://schemas.microsoft.com/office/drawing/2014/main" id="{9E7558C8-B9BD-43B6-3C3E-B49AAA7FB790}"/>
                </a:ext>
              </a:extLst>
            </p:cNvPr>
            <p:cNvPicPr>
              <a:picLocks noChangeAspect="1"/>
            </p:cNvPicPr>
            <p:nvPr/>
          </p:nvPicPr>
          <p:blipFill>
            <a:blip r:embed="rId2"/>
            <a:stretch>
              <a:fillRect/>
            </a:stretch>
          </p:blipFill>
          <p:spPr>
            <a:xfrm>
              <a:off x="838200" y="1720641"/>
              <a:ext cx="10515600" cy="4542340"/>
            </a:xfrm>
            <a:prstGeom prst="rect">
              <a:avLst/>
            </a:prstGeom>
          </p:spPr>
        </p:pic>
        <p:sp>
          <p:nvSpPr>
            <p:cNvPr id="9" name="직사각형 8">
              <a:extLst>
                <a:ext uri="{FF2B5EF4-FFF2-40B4-BE49-F238E27FC236}">
                  <a16:creationId xmlns:a16="http://schemas.microsoft.com/office/drawing/2014/main" id="{6DCCF19A-A582-67A6-115A-07242489016F}"/>
                </a:ext>
              </a:extLst>
            </p:cNvPr>
            <p:cNvSpPr/>
            <p:nvPr/>
          </p:nvSpPr>
          <p:spPr>
            <a:xfrm>
              <a:off x="1181437" y="3827533"/>
              <a:ext cx="7226188" cy="7363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04299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Objects(15/28)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the Website Controller Does :</a:t>
            </a:r>
            <a:endParaRPr lang="en-US" altLang="ko-KR" sz="1400" dirty="0"/>
          </a:p>
          <a:p>
            <a:pPr lvl="1">
              <a:buFont typeface="Wingdings" panose="05000000000000000000" pitchFamily="2" charset="2"/>
              <a:buChar char="§"/>
            </a:pPr>
            <a:r>
              <a:rPr lang="en-US" altLang="ko-KR" sz="1400" b="1" dirty="0"/>
              <a:t>Immediately upon startup, the controller starts to </a:t>
            </a:r>
            <a:r>
              <a:rPr lang="en-US" altLang="ko-KR" sz="1400" b="1" dirty="0">
                <a:solidFill>
                  <a:srgbClr val="FF0000"/>
                </a:solidFill>
              </a:rPr>
              <a:t>watch “Website objects”</a:t>
            </a:r>
            <a:r>
              <a:rPr lang="en-US" altLang="ko-KR" sz="1400" b="1" dirty="0"/>
              <a:t> by requesting the following URL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may recognize the “hostname” and “port”—the controller isn’t connecting to the “API server” directly, but is instead connecting to the “</a:t>
            </a:r>
            <a:r>
              <a:rPr lang="en-US" altLang="ko-KR" sz="1400" b="1" dirty="0" err="1">
                <a:solidFill>
                  <a:srgbClr val="FF0000"/>
                </a:solidFill>
              </a:rPr>
              <a:t>kubectl</a:t>
            </a:r>
            <a:r>
              <a:rPr lang="en-US" altLang="ko-KR" sz="1400" b="1" dirty="0">
                <a:solidFill>
                  <a:srgbClr val="FF0000"/>
                </a:solidFill>
              </a:rPr>
              <a:t> proxy</a:t>
            </a:r>
            <a:r>
              <a:rPr lang="en-US" altLang="ko-KR" sz="1400" b="1" dirty="0"/>
              <a:t>” process</a:t>
            </a:r>
            <a:r>
              <a:rPr lang="en-US" altLang="ko-KR" sz="1400" dirty="0"/>
              <a:t>, </a:t>
            </a:r>
            <a:r>
              <a:rPr lang="en-US" altLang="ko-KR" sz="1400" b="1" dirty="0">
                <a:solidFill>
                  <a:srgbClr val="FF0000"/>
                </a:solidFill>
              </a:rPr>
              <a:t>which runs in a “sidecar container” in the same pod and acts as the “ambassador” to the “API server” </a:t>
            </a:r>
            <a:r>
              <a:rPr lang="en-US" altLang="ko-KR" sz="1400" b="1" dirty="0"/>
              <a:t>(we examined the “ambassador pattern”)</a:t>
            </a:r>
            <a:r>
              <a:rPr lang="en-US" altLang="ko-KR" sz="1400" dirty="0"/>
              <a:t>. </a:t>
            </a:r>
            <a:r>
              <a:rPr lang="en-US" altLang="ko-KR" sz="1400" b="1" dirty="0"/>
              <a:t>The proxy forwards the request to the API server, taking care of both </a:t>
            </a:r>
            <a:r>
              <a:rPr lang="en-US" altLang="ko-KR" sz="1400" dirty="0"/>
              <a:t>“</a:t>
            </a:r>
            <a:r>
              <a:rPr lang="en-US" altLang="ko-KR" sz="1400" b="1" dirty="0"/>
              <a:t>TLS encryption and authentication</a:t>
            </a:r>
            <a:r>
              <a:rPr lang="en-US" altLang="ko-KR" sz="1400" dirty="0"/>
              <a:t>” (see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D8480C4-975A-2161-8799-ABDE56FEBE38}"/>
              </a:ext>
            </a:extLst>
          </p:cNvPr>
          <p:cNvSpPr txBox="1"/>
          <p:nvPr/>
        </p:nvSpPr>
        <p:spPr>
          <a:xfrm>
            <a:off x="3047326" y="1594647"/>
            <a:ext cx="6097348" cy="246221"/>
          </a:xfrm>
          <a:prstGeom prst="rect">
            <a:avLst/>
          </a:prstGeom>
          <a:noFill/>
          <a:ln>
            <a:solidFill>
              <a:schemeClr val="bg1">
                <a:lumMod val="50000"/>
              </a:schemeClr>
            </a:solidFill>
          </a:ln>
        </p:spPr>
        <p:txBody>
          <a:bodyPr wrap="square">
            <a:spAutoFit/>
          </a:bodyPr>
          <a:lstStyle/>
          <a:p>
            <a:r>
              <a:rPr lang="en-US" altLang="ko-KR" sz="1000" b="1" dirty="0"/>
              <a:t>http://localhost:8001/</a:t>
            </a:r>
            <a:r>
              <a:rPr lang="en-US" altLang="ko-KR" sz="1000" b="1" dirty="0">
                <a:solidFill>
                  <a:srgbClr val="FF0000"/>
                </a:solidFill>
              </a:rPr>
              <a:t>apis/extensions.example.com/v1/websites?watch=true</a:t>
            </a:r>
          </a:p>
        </p:txBody>
      </p:sp>
      <p:pic>
        <p:nvPicPr>
          <p:cNvPr id="10" name="그림 9">
            <a:extLst>
              <a:ext uri="{FF2B5EF4-FFF2-40B4-BE49-F238E27FC236}">
                <a16:creationId xmlns:a16="http://schemas.microsoft.com/office/drawing/2014/main" id="{795CD305-CD68-5103-C01D-855CF672BAC4}"/>
              </a:ext>
            </a:extLst>
          </p:cNvPr>
          <p:cNvPicPr>
            <a:picLocks noChangeAspect="1"/>
          </p:cNvPicPr>
          <p:nvPr/>
        </p:nvPicPr>
        <p:blipFill>
          <a:blip r:embed="rId2"/>
          <a:stretch>
            <a:fillRect/>
          </a:stretch>
        </p:blipFill>
        <p:spPr>
          <a:xfrm>
            <a:off x="2871019" y="3205633"/>
            <a:ext cx="6449961" cy="1838632"/>
          </a:xfrm>
          <a:prstGeom prst="rect">
            <a:avLst/>
          </a:prstGeom>
        </p:spPr>
      </p:pic>
    </p:spTree>
    <p:extLst>
      <p:ext uri="{BB962C8B-B14F-4D97-AF65-F5344CB8AC3E}">
        <p14:creationId xmlns:p14="http://schemas.microsoft.com/office/powerpoint/2010/main" val="2099994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Objects(16/28)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the Website Controller Does :</a:t>
            </a:r>
            <a:endParaRPr lang="en-US" altLang="ko-KR" sz="1400" dirty="0"/>
          </a:p>
          <a:p>
            <a:pPr lvl="1">
              <a:buFont typeface="Wingdings" panose="05000000000000000000" pitchFamily="2" charset="2"/>
              <a:buChar char="§"/>
            </a:pPr>
            <a:r>
              <a:rPr lang="en-US" altLang="ko-KR" sz="1400" b="1" dirty="0"/>
              <a:t>Through the connection opened by this “</a:t>
            </a:r>
            <a:r>
              <a:rPr lang="en-US" altLang="ko-KR" sz="1400" b="1" dirty="0">
                <a:solidFill>
                  <a:srgbClr val="FF0000"/>
                </a:solidFill>
              </a:rPr>
              <a:t>HTTP GET request</a:t>
            </a:r>
            <a:r>
              <a:rPr lang="en-US" altLang="ko-KR" sz="1400" b="1" dirty="0"/>
              <a:t>”, the API server will send watch events for every change to any “Website” object</a:t>
            </a:r>
            <a:r>
              <a:rPr lang="en-US" altLang="ko-KR" sz="1400" dirty="0"/>
              <a:t>.</a:t>
            </a:r>
          </a:p>
          <a:p>
            <a:pPr lvl="1">
              <a:buFont typeface="Wingdings" panose="05000000000000000000" pitchFamily="2" charset="2"/>
              <a:buChar char="§"/>
            </a:pPr>
            <a:r>
              <a:rPr lang="en-US" altLang="ko-KR" sz="1400" b="1" dirty="0"/>
              <a:t>The API server sends the “ADDED” watch event every time a new Website object is created. When the controller receives such an event, it extracts the “Website’s name” and “the URL of the Git repository” from “the Website object” it received in the watch event and creates a “</a:t>
            </a:r>
            <a:r>
              <a:rPr lang="en-US" altLang="ko-KR" sz="1400" b="1" dirty="0">
                <a:solidFill>
                  <a:srgbClr val="FF0000"/>
                </a:solidFill>
              </a:rPr>
              <a:t>Deployment</a:t>
            </a:r>
            <a:r>
              <a:rPr lang="en-US" altLang="ko-KR" sz="1400" b="1" dirty="0"/>
              <a:t>” and a “</a:t>
            </a:r>
            <a:r>
              <a:rPr lang="en-US" altLang="ko-KR" sz="1400" b="1" dirty="0">
                <a:solidFill>
                  <a:srgbClr val="FF0000"/>
                </a:solidFill>
              </a:rPr>
              <a:t>Service</a:t>
            </a:r>
            <a:r>
              <a:rPr lang="en-US" altLang="ko-KR" sz="1400" b="1" dirty="0"/>
              <a:t>” object by posting their JSON manifests to the API server</a:t>
            </a:r>
            <a:r>
              <a:rPr lang="en-US" altLang="ko-KR" sz="1400" dirty="0"/>
              <a:t>.</a:t>
            </a:r>
          </a:p>
          <a:p>
            <a:pPr lvl="1">
              <a:buFont typeface="Wingdings" panose="05000000000000000000" pitchFamily="2" charset="2"/>
              <a:buChar char="§"/>
            </a:pPr>
            <a:r>
              <a:rPr lang="en-US" altLang="ko-KR" sz="1400" b="1" dirty="0"/>
              <a:t>The Deployment resource contains a template for a pod with two containers (shown in the following figure) </a:t>
            </a:r>
            <a:r>
              <a:rPr lang="en-US" altLang="ko-KR" sz="1400" dirty="0"/>
              <a:t>: </a:t>
            </a:r>
            <a:r>
              <a:rPr lang="en-US" altLang="ko-KR" sz="1400" b="1" dirty="0"/>
              <a:t>one running an “nginx” server and another one running a “</a:t>
            </a:r>
            <a:r>
              <a:rPr lang="en-US" altLang="ko-KR" sz="1400" b="1" dirty="0" err="1"/>
              <a:t>gitsync</a:t>
            </a:r>
            <a:r>
              <a:rPr lang="en-US" altLang="ko-KR" sz="1400" b="1" dirty="0"/>
              <a:t>” process, which keeps a local directory synced with the contents of a Git repo</a:t>
            </a:r>
            <a:r>
              <a:rPr lang="en-US" altLang="ko-KR" sz="1400" dirty="0"/>
              <a:t>. </a:t>
            </a:r>
            <a:r>
              <a:rPr lang="en-US" altLang="ko-KR" sz="1400" b="1" dirty="0"/>
              <a:t>The local directory is shared with the nginx container through an “</a:t>
            </a:r>
            <a:r>
              <a:rPr lang="en-US" altLang="ko-KR" sz="1400" b="1" dirty="0" err="1"/>
              <a:t>emptyDir</a:t>
            </a:r>
            <a:r>
              <a:rPr lang="en-US" altLang="ko-KR" sz="1400" b="1" dirty="0"/>
              <a:t>” volume</a:t>
            </a:r>
            <a:r>
              <a:rPr lang="en-US" altLang="ko-KR" sz="1400" dirty="0"/>
              <a:t> (you did something similar, but instead of keeping the local directory synced with a Git repo, you used a </a:t>
            </a:r>
            <a:r>
              <a:rPr lang="en-US" altLang="ko-KR" sz="1400" b="1" dirty="0"/>
              <a:t>“</a:t>
            </a:r>
            <a:r>
              <a:rPr lang="en-US" altLang="ko-KR" sz="1400" b="1" dirty="0" err="1">
                <a:solidFill>
                  <a:srgbClr val="FF0000"/>
                </a:solidFill>
              </a:rPr>
              <a:t>gitRepo</a:t>
            </a:r>
            <a:r>
              <a:rPr lang="en-US" altLang="ko-KR" sz="1400" b="1" dirty="0">
                <a:solidFill>
                  <a:srgbClr val="FF0000"/>
                </a:solidFill>
              </a:rPr>
              <a:t> volume</a:t>
            </a:r>
            <a:r>
              <a:rPr lang="en-US" altLang="ko-KR" sz="1400" b="1" dirty="0"/>
              <a:t>” to download the Git repo’s contents at pod startup</a:t>
            </a:r>
            <a:r>
              <a:rPr lang="en-US" altLang="ko-KR" sz="1400" dirty="0"/>
              <a:t>; </a:t>
            </a:r>
            <a:r>
              <a:rPr lang="en-US" altLang="ko-KR" sz="1400" b="1" dirty="0"/>
              <a:t>the volume’s contents weren’t kept in sync with the Git repo afterward</a:t>
            </a:r>
            <a:r>
              <a:rPr lang="en-US" altLang="ko-KR" sz="1400" dirty="0"/>
              <a:t>). </a:t>
            </a:r>
            <a:r>
              <a:rPr lang="en-US" altLang="ko-KR" sz="1400" b="1" dirty="0"/>
              <a:t>The Service is a “</a:t>
            </a:r>
            <a:r>
              <a:rPr lang="en-US" altLang="ko-KR" sz="1400" b="1" dirty="0" err="1">
                <a:solidFill>
                  <a:srgbClr val="FF0000"/>
                </a:solidFill>
              </a:rPr>
              <a:t>NodePort</a:t>
            </a:r>
            <a:r>
              <a:rPr lang="en-US" altLang="ko-KR" sz="1400" b="1" dirty="0"/>
              <a:t>” Service</a:t>
            </a:r>
            <a:r>
              <a:rPr lang="en-US" altLang="ko-KR" sz="1400" dirty="0"/>
              <a:t>, </a:t>
            </a:r>
            <a:r>
              <a:rPr lang="en-US" altLang="ko-KR" sz="1400" b="1" dirty="0"/>
              <a:t>which </a:t>
            </a:r>
            <a:r>
              <a:rPr lang="en-US" altLang="ko-KR" sz="1400" b="1" dirty="0">
                <a:solidFill>
                  <a:srgbClr val="FF0000"/>
                </a:solidFill>
              </a:rPr>
              <a:t>exposes your web server pod through a random port on each node </a:t>
            </a:r>
            <a:r>
              <a:rPr lang="en-US" altLang="ko-KR" sz="1400" b="1" dirty="0"/>
              <a:t>(</a:t>
            </a:r>
            <a:r>
              <a:rPr lang="en-US" altLang="ko-KR" sz="1400" b="1" dirty="0">
                <a:solidFill>
                  <a:srgbClr val="FF0000"/>
                </a:solidFill>
              </a:rPr>
              <a:t>the same port is used on all nodes</a:t>
            </a:r>
            <a:r>
              <a:rPr lang="en-US" altLang="ko-KR" sz="1400" b="1" dirty="0"/>
              <a:t>)</a:t>
            </a:r>
            <a:r>
              <a:rPr lang="en-US" altLang="ko-KR" sz="1400" dirty="0"/>
              <a:t>. </a:t>
            </a:r>
            <a:r>
              <a:rPr lang="en-US" altLang="ko-KR" sz="1400" b="1" dirty="0">
                <a:solidFill>
                  <a:srgbClr val="FF0000"/>
                </a:solidFill>
              </a:rPr>
              <a:t>When a pod is created by the Deployment object, clients can access the website through the node port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6938452-2851-8774-21FE-3736A313028A}"/>
              </a:ext>
            </a:extLst>
          </p:cNvPr>
          <p:cNvGrpSpPr/>
          <p:nvPr/>
        </p:nvGrpSpPr>
        <p:grpSpPr>
          <a:xfrm>
            <a:off x="4275031" y="4027763"/>
            <a:ext cx="3641938" cy="2381267"/>
            <a:chOff x="4275031" y="4027763"/>
            <a:chExt cx="3641938" cy="2381267"/>
          </a:xfrm>
        </p:grpSpPr>
        <p:pic>
          <p:nvPicPr>
            <p:cNvPr id="8" name="그림 7">
              <a:extLst>
                <a:ext uri="{FF2B5EF4-FFF2-40B4-BE49-F238E27FC236}">
                  <a16:creationId xmlns:a16="http://schemas.microsoft.com/office/drawing/2014/main" id="{BD69B5A7-D016-8CE0-0982-5DDB63CBE612}"/>
                </a:ext>
              </a:extLst>
            </p:cNvPr>
            <p:cNvPicPr>
              <a:picLocks noChangeAspect="1"/>
            </p:cNvPicPr>
            <p:nvPr/>
          </p:nvPicPr>
          <p:blipFill>
            <a:blip r:embed="rId2"/>
            <a:stretch>
              <a:fillRect/>
            </a:stretch>
          </p:blipFill>
          <p:spPr>
            <a:xfrm>
              <a:off x="4275031" y="4027763"/>
              <a:ext cx="3641938" cy="2381267"/>
            </a:xfrm>
            <a:prstGeom prst="rect">
              <a:avLst/>
            </a:prstGeom>
          </p:spPr>
        </p:pic>
        <p:sp>
          <p:nvSpPr>
            <p:cNvPr id="9" name="직사각형 8">
              <a:extLst>
                <a:ext uri="{FF2B5EF4-FFF2-40B4-BE49-F238E27FC236}">
                  <a16:creationId xmlns:a16="http://schemas.microsoft.com/office/drawing/2014/main" id="{8D9E81BC-03AE-4DD6-F2F1-52063A2EBCA9}"/>
                </a:ext>
              </a:extLst>
            </p:cNvPr>
            <p:cNvSpPr/>
            <p:nvPr/>
          </p:nvSpPr>
          <p:spPr>
            <a:xfrm>
              <a:off x="5413572" y="4830945"/>
              <a:ext cx="776835" cy="7768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96845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Objects(17/28)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What the Website Controller Does :</a:t>
            </a:r>
            <a:endParaRPr lang="en-US" altLang="ko-KR" sz="1400" dirty="0"/>
          </a:p>
          <a:p>
            <a:pPr lvl="1">
              <a:buFont typeface="Wingdings" panose="05000000000000000000" pitchFamily="2" charset="2"/>
              <a:buChar char="§"/>
            </a:pPr>
            <a:r>
              <a:rPr lang="en-US" altLang="ko-KR" sz="1400" b="1" dirty="0"/>
              <a:t>The API server also sends a “</a:t>
            </a:r>
            <a:r>
              <a:rPr lang="en-US" altLang="ko-KR" sz="1400" b="1" dirty="0">
                <a:solidFill>
                  <a:srgbClr val="FF0000"/>
                </a:solidFill>
              </a:rPr>
              <a:t>DELETED</a:t>
            </a:r>
            <a:r>
              <a:rPr lang="en-US" altLang="ko-KR" sz="1400" b="1" dirty="0"/>
              <a:t>” watch event when a “Website” resource instance is deleted</a:t>
            </a:r>
            <a:r>
              <a:rPr lang="en-US" altLang="ko-KR" sz="1400" dirty="0"/>
              <a:t>. </a:t>
            </a:r>
            <a:r>
              <a:rPr lang="en-US" altLang="ko-KR" sz="1400" b="1" dirty="0"/>
              <a:t>Upon receiving the event, the controller deletes the Deployment and the Service resources it created earlier</a:t>
            </a:r>
            <a:r>
              <a:rPr lang="en-US" altLang="ko-KR" sz="1400" dirty="0"/>
              <a:t>. </a:t>
            </a:r>
            <a:r>
              <a:rPr lang="en-US" altLang="ko-KR" sz="1400" b="1" dirty="0"/>
              <a:t>As soon as a user deletes the “Website” instance, the controller will shut down and remove the web server serving that website</a:t>
            </a:r>
            <a:r>
              <a:rPr lang="en-US" altLang="ko-KR" sz="1400" dirty="0"/>
              <a:t>.</a:t>
            </a:r>
          </a:p>
          <a:p>
            <a:pPr lvl="1">
              <a:buFont typeface="Wingdings" panose="05000000000000000000" pitchFamily="2" charset="2"/>
              <a:buChar char="§"/>
            </a:pPr>
            <a:r>
              <a:rPr lang="en-US" altLang="ko-KR" sz="1400" b="1" dirty="0"/>
              <a:t>NOTE : The oversimplified controller isn’t implemented properly. The way it watches the API objects doesn’t guarantee it won’t miss individual watch events</a:t>
            </a:r>
            <a:r>
              <a:rPr lang="en-US" altLang="ko-KR" sz="1400" dirty="0"/>
              <a:t>. </a:t>
            </a:r>
            <a:r>
              <a:rPr lang="en-US" altLang="ko-KR" sz="1400" b="1" dirty="0"/>
              <a:t>The proper way to watch objects through the API server is to not only watch them, but also </a:t>
            </a:r>
            <a:r>
              <a:rPr lang="en-US" altLang="ko-KR" sz="1400" b="1" dirty="0">
                <a:solidFill>
                  <a:srgbClr val="FF0000"/>
                </a:solidFill>
              </a:rPr>
              <a:t>periodically re-list all objects</a:t>
            </a:r>
            <a:r>
              <a:rPr lang="en-US" altLang="ko-KR" sz="1400" b="1" dirty="0"/>
              <a:t> in case any watch events were missed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1920536-DFAB-8E5C-CCAA-619DA95D2C8E}"/>
              </a:ext>
            </a:extLst>
          </p:cNvPr>
          <p:cNvPicPr>
            <a:picLocks noChangeAspect="1"/>
          </p:cNvPicPr>
          <p:nvPr/>
        </p:nvPicPr>
        <p:blipFill>
          <a:blip r:embed="rId2"/>
          <a:stretch>
            <a:fillRect/>
          </a:stretch>
        </p:blipFill>
        <p:spPr>
          <a:xfrm>
            <a:off x="3694351" y="3116519"/>
            <a:ext cx="4803297" cy="2669833"/>
          </a:xfrm>
          <a:prstGeom prst="rect">
            <a:avLst/>
          </a:prstGeom>
        </p:spPr>
      </p:pic>
    </p:spTree>
    <p:extLst>
      <p:ext uri="{BB962C8B-B14F-4D97-AF65-F5344CB8AC3E}">
        <p14:creationId xmlns:p14="http://schemas.microsoft.com/office/powerpoint/2010/main" val="1139058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Objects(18/28)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Controller as a Pod :</a:t>
            </a:r>
            <a:endParaRPr lang="en-US" altLang="ko-KR" sz="1400" dirty="0"/>
          </a:p>
          <a:p>
            <a:pPr lvl="1">
              <a:buFont typeface="Wingdings" panose="05000000000000000000" pitchFamily="2" charset="2"/>
              <a:buChar char="§"/>
            </a:pPr>
            <a:r>
              <a:rPr lang="en-US" altLang="ko-KR" sz="1400" b="1" dirty="0"/>
              <a:t>During development, you can the controller on your local development laptop and use a locally running “</a:t>
            </a:r>
            <a:r>
              <a:rPr lang="en-US" altLang="ko-KR" sz="1400" b="1" dirty="0" err="1"/>
              <a:t>kubectl</a:t>
            </a:r>
            <a:r>
              <a:rPr lang="en-US" altLang="ko-KR" sz="1400" b="1" dirty="0"/>
              <a:t> proxy” process (not running as a pod) as the ambassador to the Kubernetes API server</a:t>
            </a:r>
            <a:r>
              <a:rPr lang="en-US" altLang="ko-KR" sz="1400" dirty="0"/>
              <a:t>. This allows you to develop quickly, because you don’t need to build a container image after every change to the source code and then run it inside Kubernetes.</a:t>
            </a:r>
          </a:p>
          <a:p>
            <a:pPr lvl="1">
              <a:buFont typeface="Wingdings" panose="05000000000000000000" pitchFamily="2" charset="2"/>
              <a:buChar char="§"/>
            </a:pPr>
            <a:r>
              <a:rPr lang="en-US" altLang="ko-KR" sz="1400" b="1" dirty="0"/>
              <a:t>When you are ready to deploy the controller into production, the best way is to run the controller inside Kubernetes itself, the way you do with all the other core controllers</a:t>
            </a:r>
            <a:r>
              <a:rPr lang="en-US" altLang="ko-KR" sz="1400" dirty="0"/>
              <a:t>. </a:t>
            </a:r>
            <a:r>
              <a:rPr lang="en-US" altLang="ko-KR" sz="1400" b="1" dirty="0">
                <a:solidFill>
                  <a:srgbClr val="FF0000"/>
                </a:solidFill>
              </a:rPr>
              <a:t>To run the controller in Kubernetes, you can deploy it through a “Deployment” resource</a:t>
            </a:r>
            <a:r>
              <a:rPr lang="en-US" altLang="ko-KR" sz="1400" dirty="0"/>
              <a:t>. The following listing shows an example of such a Deployment.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B133247-E207-AEE2-E296-97D273A04D31}"/>
              </a:ext>
            </a:extLst>
          </p:cNvPr>
          <p:cNvGrpSpPr/>
          <p:nvPr/>
        </p:nvGrpSpPr>
        <p:grpSpPr>
          <a:xfrm>
            <a:off x="3047326" y="2963429"/>
            <a:ext cx="6097348" cy="2862322"/>
            <a:chOff x="3047326" y="2866324"/>
            <a:chExt cx="6097348" cy="2862322"/>
          </a:xfrm>
        </p:grpSpPr>
        <p:sp>
          <p:nvSpPr>
            <p:cNvPr id="8" name="TextBox 7">
              <a:extLst>
                <a:ext uri="{FF2B5EF4-FFF2-40B4-BE49-F238E27FC236}">
                  <a16:creationId xmlns:a16="http://schemas.microsoft.com/office/drawing/2014/main" id="{445306DD-BFDB-F126-2AF1-0D19D3B9AC81}"/>
                </a:ext>
              </a:extLst>
            </p:cNvPr>
            <p:cNvSpPr txBox="1"/>
            <p:nvPr/>
          </p:nvSpPr>
          <p:spPr>
            <a:xfrm>
              <a:off x="3047326" y="2866324"/>
              <a:ext cx="6097348" cy="286232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apps/v1</a:t>
              </a:r>
            </a:p>
            <a:p>
              <a:r>
                <a:rPr lang="en-US" altLang="ko-KR" sz="1000" b="1" dirty="0"/>
                <a:t>kind: Deployment</a:t>
              </a:r>
            </a:p>
            <a:p>
              <a:r>
                <a:rPr lang="en-US" altLang="ko-KR" sz="1000" b="1" dirty="0"/>
                <a:t>metadata:</a:t>
              </a:r>
            </a:p>
            <a:p>
              <a:r>
                <a:rPr lang="en-US" altLang="ko-KR" sz="1000" b="1" dirty="0"/>
                <a:t>  name: website-controller</a:t>
              </a:r>
            </a:p>
            <a:p>
              <a:r>
                <a:rPr lang="en-US" altLang="ko-KR" sz="1000" b="1" dirty="0"/>
                <a:t>spec:</a:t>
              </a:r>
            </a:p>
            <a:p>
              <a:r>
                <a:rPr lang="en-US" altLang="ko-KR" sz="1000" b="1" dirty="0"/>
                <a:t>  replicas: 1</a:t>
              </a:r>
            </a:p>
            <a:p>
              <a:r>
                <a:rPr lang="en-US" altLang="ko-KR" sz="1000" b="1" dirty="0"/>
                <a:t>  template:</a:t>
              </a:r>
            </a:p>
            <a:p>
              <a:r>
                <a:rPr lang="en-US" altLang="ko-KR" sz="1000" b="1" dirty="0"/>
                <a:t>    metadata:</a:t>
              </a:r>
            </a:p>
            <a:p>
              <a:r>
                <a:rPr lang="en-US" altLang="ko-KR" sz="1000" b="1" dirty="0"/>
                <a:t>      name: website-controller</a:t>
              </a:r>
            </a:p>
            <a:p>
              <a:r>
                <a:rPr lang="en-US" altLang="ko-KR" sz="1000" b="1" dirty="0"/>
                <a:t>      labels:</a:t>
              </a:r>
            </a:p>
            <a:p>
              <a:r>
                <a:rPr lang="en-US" altLang="ko-KR" sz="1000" b="1" dirty="0"/>
                <a:t>        app: website-controller</a:t>
              </a:r>
            </a:p>
            <a:p>
              <a:r>
                <a:rPr lang="en-US" altLang="ko-KR" sz="1000" b="1" dirty="0"/>
                <a:t>    spec:</a:t>
              </a:r>
            </a:p>
            <a:p>
              <a:r>
                <a:rPr lang="en-US" altLang="ko-KR" sz="1000" b="1" dirty="0"/>
                <a:t>      </a:t>
              </a:r>
              <a:r>
                <a:rPr lang="en-US" altLang="ko-KR" sz="1000" b="1" dirty="0" err="1">
                  <a:solidFill>
                    <a:srgbClr val="FF0000"/>
                  </a:solidFill>
                </a:rPr>
                <a:t>serviceAccountName</a:t>
              </a:r>
              <a:r>
                <a:rPr lang="en-US" altLang="ko-KR" sz="1000" b="1" dirty="0">
                  <a:solidFill>
                    <a:srgbClr val="FF0000"/>
                  </a:solidFill>
                </a:rPr>
                <a:t>: website-controller</a:t>
              </a:r>
            </a:p>
            <a:p>
              <a:r>
                <a:rPr lang="en-US" altLang="ko-KR" sz="1000" b="1" dirty="0"/>
                <a:t>      containers:</a:t>
              </a:r>
            </a:p>
            <a:p>
              <a:r>
                <a:rPr lang="en-US" altLang="ko-KR" sz="1000" b="1" dirty="0"/>
                <a:t>      - name: main</a:t>
              </a:r>
            </a:p>
            <a:p>
              <a:r>
                <a:rPr lang="en-US" altLang="ko-KR" sz="1000" b="1" dirty="0"/>
                <a:t>        </a:t>
              </a:r>
              <a:r>
                <a:rPr lang="en-US" altLang="ko-KR" sz="1000" b="1" dirty="0">
                  <a:solidFill>
                    <a:srgbClr val="FF0000"/>
                  </a:solidFill>
                </a:rPr>
                <a:t>image: knix008/website-controller</a:t>
              </a:r>
            </a:p>
            <a:p>
              <a:r>
                <a:rPr lang="en-US" altLang="ko-KR" sz="1000" b="1" dirty="0"/>
                <a:t>      - name: proxy</a:t>
              </a:r>
            </a:p>
            <a:p>
              <a:r>
                <a:rPr lang="en-US" altLang="ko-KR" sz="1000" b="1" dirty="0"/>
                <a:t>        </a:t>
              </a:r>
              <a:r>
                <a:rPr lang="en-US" altLang="ko-KR" sz="1000" b="1" dirty="0">
                  <a:solidFill>
                    <a:srgbClr val="FF0000"/>
                  </a:solidFill>
                </a:rPr>
                <a:t>image: knix008/</a:t>
              </a:r>
              <a:r>
                <a:rPr lang="en-US" altLang="ko-KR" sz="1000" b="1" dirty="0" err="1">
                  <a:solidFill>
                    <a:srgbClr val="FF0000"/>
                  </a:solidFill>
                </a:rPr>
                <a:t>kubectl-proxy:latest</a:t>
              </a:r>
              <a:endParaRPr lang="en-US" altLang="ko-KR" sz="1000" b="1" dirty="0">
                <a:solidFill>
                  <a:srgbClr val="FF0000"/>
                </a:solidFill>
              </a:endParaRPr>
            </a:p>
          </p:txBody>
        </p:sp>
        <p:sp>
          <p:nvSpPr>
            <p:cNvPr id="9" name="TextBox 8">
              <a:extLst>
                <a:ext uri="{FF2B5EF4-FFF2-40B4-BE49-F238E27FC236}">
                  <a16:creationId xmlns:a16="http://schemas.microsoft.com/office/drawing/2014/main" id="{0D17EBDC-F152-2E2C-6CC3-E7241C119FE8}"/>
                </a:ext>
              </a:extLst>
            </p:cNvPr>
            <p:cNvSpPr txBox="1"/>
            <p:nvPr/>
          </p:nvSpPr>
          <p:spPr>
            <a:xfrm>
              <a:off x="7522114" y="2866324"/>
              <a:ext cx="1622560" cy="246221"/>
            </a:xfrm>
            <a:prstGeom prst="rect">
              <a:avLst/>
            </a:prstGeom>
            <a:noFill/>
          </p:spPr>
          <p:txBody>
            <a:bodyPr wrap="none" rtlCol="0">
              <a:spAutoFit/>
            </a:bodyPr>
            <a:lstStyle/>
            <a:p>
              <a:pPr algn="ctr"/>
              <a:r>
                <a:rPr lang="en-US" altLang="ko-KR" sz="1000" b="1" dirty="0"/>
                <a:t>website-</a:t>
              </a:r>
              <a:r>
                <a:rPr lang="en-US" altLang="ko-KR" sz="1000" b="1" dirty="0" err="1"/>
                <a:t>controller.yaml</a:t>
              </a:r>
              <a:endParaRPr lang="ko-KR" altLang="en-US" sz="1000" b="1" dirty="0"/>
            </a:p>
          </p:txBody>
        </p:sp>
      </p:grpSp>
    </p:spTree>
    <p:extLst>
      <p:ext uri="{BB962C8B-B14F-4D97-AF65-F5344CB8AC3E}">
        <p14:creationId xmlns:p14="http://schemas.microsoft.com/office/powerpoint/2010/main" val="101725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Objects(19/28)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Controller as a Pod :</a:t>
            </a:r>
            <a:endParaRPr lang="en-US" altLang="ko-KR" sz="1400" dirty="0"/>
          </a:p>
          <a:p>
            <a:pPr lvl="1">
              <a:buFont typeface="Wingdings" panose="05000000000000000000" pitchFamily="2" charset="2"/>
              <a:buChar char="§"/>
            </a:pPr>
            <a:r>
              <a:rPr lang="en-US" altLang="ko-KR" sz="1400" b="1" dirty="0"/>
              <a:t>As you can see, the Deployment deploys </a:t>
            </a:r>
            <a:r>
              <a:rPr lang="en-US" altLang="ko-KR" sz="1400" b="1" dirty="0">
                <a:solidFill>
                  <a:srgbClr val="FF0000"/>
                </a:solidFill>
              </a:rPr>
              <a:t>a single replica of a two-container pod</a:t>
            </a:r>
            <a:r>
              <a:rPr lang="en-US" altLang="ko-KR" sz="1400" dirty="0"/>
              <a:t>. </a:t>
            </a:r>
            <a:r>
              <a:rPr lang="en-US" altLang="ko-KR" sz="1400" b="1" dirty="0"/>
              <a:t>One container runs your controller, whereas the other one is the “ambassador” container used for simpler communication with the API server</a:t>
            </a:r>
            <a:r>
              <a:rPr lang="en-US" altLang="ko-KR" sz="1400" dirty="0"/>
              <a:t>. </a:t>
            </a:r>
            <a:r>
              <a:rPr lang="en-US" altLang="ko-KR" sz="1400" b="1" dirty="0"/>
              <a:t>The pod runs under its own special “</a:t>
            </a:r>
            <a:r>
              <a:rPr lang="en-US" altLang="ko-KR" sz="1400" b="1" dirty="0" err="1">
                <a:solidFill>
                  <a:srgbClr val="FF0000"/>
                </a:solidFill>
              </a:rPr>
              <a:t>ServiceAccount</a:t>
            </a:r>
            <a:r>
              <a:rPr lang="en-US" altLang="ko-KR" sz="1400" b="1" dirty="0"/>
              <a:t>”, </a:t>
            </a:r>
            <a:r>
              <a:rPr lang="en-US" altLang="ko-KR" sz="1400" b="1" dirty="0">
                <a:solidFill>
                  <a:srgbClr val="FF0000"/>
                </a:solidFill>
              </a:rPr>
              <a:t>so you’ll need to create it before you deploy the controller</a:t>
            </a:r>
            <a:r>
              <a:rPr lang="en-US" altLang="ko-KR" sz="1400" b="1" dirty="0"/>
              <a:t>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D02FF40-B762-5C2B-5EC3-F087DA506F0B}"/>
              </a:ext>
            </a:extLst>
          </p:cNvPr>
          <p:cNvGrpSpPr/>
          <p:nvPr/>
        </p:nvGrpSpPr>
        <p:grpSpPr>
          <a:xfrm>
            <a:off x="838200" y="2380651"/>
            <a:ext cx="10515600" cy="2096698"/>
            <a:chOff x="838200" y="2121564"/>
            <a:chExt cx="10515600" cy="2096698"/>
          </a:xfrm>
        </p:grpSpPr>
        <p:sp>
          <p:nvSpPr>
            <p:cNvPr id="8" name="TextBox 7">
              <a:extLst>
                <a:ext uri="{FF2B5EF4-FFF2-40B4-BE49-F238E27FC236}">
                  <a16:creationId xmlns:a16="http://schemas.microsoft.com/office/drawing/2014/main" id="{3ED0D803-4679-7876-DDAD-AFF1015EB69C}"/>
                </a:ext>
              </a:extLst>
            </p:cNvPr>
            <p:cNvSpPr txBox="1"/>
            <p:nvPr/>
          </p:nvSpPr>
          <p:spPr>
            <a:xfrm>
              <a:off x="3047326" y="212156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serviceaccount</a:t>
              </a:r>
              <a:r>
                <a:rPr lang="en-US" altLang="ko-KR" sz="1000" b="1" dirty="0">
                  <a:solidFill>
                    <a:srgbClr val="FF0000"/>
                  </a:solidFill>
                </a:rPr>
                <a:t> website-controller</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9847DD7B-36D6-8499-99D9-3937812E00AA}"/>
                </a:ext>
              </a:extLst>
            </p:cNvPr>
            <p:cNvSpPr/>
            <p:nvPr/>
          </p:nvSpPr>
          <p:spPr>
            <a:xfrm>
              <a:off x="5833009" y="2379058"/>
              <a:ext cx="525982" cy="34795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40F0C711-B3AB-22F4-AA7C-5D8583F97DB2}"/>
                </a:ext>
              </a:extLst>
            </p:cNvPr>
            <p:cNvPicPr>
              <a:picLocks noChangeAspect="1"/>
            </p:cNvPicPr>
            <p:nvPr/>
          </p:nvPicPr>
          <p:blipFill>
            <a:blip r:embed="rId2"/>
            <a:stretch>
              <a:fillRect/>
            </a:stretch>
          </p:blipFill>
          <p:spPr>
            <a:xfrm>
              <a:off x="838200" y="2738289"/>
              <a:ext cx="10515600" cy="1479973"/>
            </a:xfrm>
            <a:prstGeom prst="rect">
              <a:avLst/>
            </a:prstGeom>
          </p:spPr>
        </p:pic>
      </p:grpSp>
    </p:spTree>
    <p:extLst>
      <p:ext uri="{BB962C8B-B14F-4D97-AF65-F5344CB8AC3E}">
        <p14:creationId xmlns:p14="http://schemas.microsoft.com/office/powerpoint/2010/main" val="2348737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Objects(20/28)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the Controller as a Pod :</a:t>
            </a:r>
            <a:endParaRPr lang="en-US" altLang="ko-KR" sz="1400" dirty="0"/>
          </a:p>
          <a:p>
            <a:pPr lvl="1">
              <a:buFont typeface="Wingdings" panose="05000000000000000000" pitchFamily="2" charset="2"/>
              <a:buChar char="§"/>
            </a:pPr>
            <a:r>
              <a:rPr lang="en-US" altLang="ko-KR" sz="1400" b="1" dirty="0"/>
              <a:t>If “</a:t>
            </a:r>
            <a:r>
              <a:rPr lang="en-US" altLang="ko-KR" sz="1400" b="1" dirty="0">
                <a:solidFill>
                  <a:srgbClr val="FF0000"/>
                </a:solidFill>
              </a:rPr>
              <a:t>Role Based Access Control (RBAC)</a:t>
            </a:r>
            <a:r>
              <a:rPr lang="en-US" altLang="ko-KR" sz="1400" b="1" dirty="0"/>
              <a:t>” is enabled in your cluster, Kubernetes will not allow the controller to watch Website resources or create Deployments or Services</a:t>
            </a:r>
            <a:r>
              <a:rPr lang="en-US" altLang="ko-KR" sz="1400" dirty="0"/>
              <a:t>. </a:t>
            </a:r>
            <a:r>
              <a:rPr lang="en-US" altLang="ko-KR" sz="1400" b="1" dirty="0"/>
              <a:t>To allow it to do that, you’ll need to bind the “website-controller” </a:t>
            </a:r>
            <a:r>
              <a:rPr lang="en-US" altLang="ko-KR" sz="1400" b="1" dirty="0" err="1"/>
              <a:t>ServiceAccount</a:t>
            </a:r>
            <a:r>
              <a:rPr lang="en-US" altLang="ko-KR" sz="1400" b="1" dirty="0"/>
              <a:t> to the cluster-admin “</a:t>
            </a:r>
            <a:r>
              <a:rPr lang="en-US" altLang="ko-KR" sz="1400" b="1" dirty="0" err="1">
                <a:solidFill>
                  <a:srgbClr val="FF0000"/>
                </a:solidFill>
              </a:rPr>
              <a:t>ClusterRole</a:t>
            </a:r>
            <a:r>
              <a:rPr lang="en-US" altLang="ko-KR" sz="1400" b="1" dirty="0"/>
              <a:t>”, by creating a “</a:t>
            </a:r>
            <a:r>
              <a:rPr lang="en-US" altLang="ko-KR" sz="1400" b="1" dirty="0" err="1">
                <a:solidFill>
                  <a:srgbClr val="FF0000"/>
                </a:solidFill>
              </a:rPr>
              <a:t>ClusterRoleBinding</a:t>
            </a:r>
            <a:r>
              <a:rPr lang="en-US" altLang="ko-KR" sz="1400" b="1" dirty="0"/>
              <a:t>” </a:t>
            </a:r>
            <a:r>
              <a:rPr lang="en-US" altLang="ko-KR" sz="1400" dirty="0"/>
              <a:t>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Once you have the “</a:t>
            </a:r>
            <a:r>
              <a:rPr lang="en-US" altLang="ko-KR" sz="1400" b="1" dirty="0" err="1"/>
              <a:t>ServiceAccount</a:t>
            </a:r>
            <a:r>
              <a:rPr lang="en-US" altLang="ko-KR" sz="1400" b="1" dirty="0"/>
              <a:t>” and “</a:t>
            </a:r>
            <a:r>
              <a:rPr lang="en-US" altLang="ko-KR" sz="1400" b="1" dirty="0" err="1"/>
              <a:t>ClusterRoleBinding</a:t>
            </a:r>
            <a:r>
              <a:rPr lang="en-US" altLang="ko-KR" sz="1400" b="1" dirty="0"/>
              <a:t>” in place, you can deploy the controller’s Deployment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135D86F-C376-918D-53BB-B8B1E940F744}"/>
              </a:ext>
            </a:extLst>
          </p:cNvPr>
          <p:cNvGrpSpPr/>
          <p:nvPr/>
        </p:nvGrpSpPr>
        <p:grpSpPr>
          <a:xfrm>
            <a:off x="838200" y="2160154"/>
            <a:ext cx="10515600" cy="2029695"/>
            <a:chOff x="838200" y="2257259"/>
            <a:chExt cx="10515600" cy="2029695"/>
          </a:xfrm>
        </p:grpSpPr>
        <p:sp>
          <p:nvSpPr>
            <p:cNvPr id="8" name="TextBox 7">
              <a:extLst>
                <a:ext uri="{FF2B5EF4-FFF2-40B4-BE49-F238E27FC236}">
                  <a16:creationId xmlns:a16="http://schemas.microsoft.com/office/drawing/2014/main" id="{D3ADCF24-D778-4955-669D-A0BA0D6BB2B0}"/>
                </a:ext>
              </a:extLst>
            </p:cNvPr>
            <p:cNvSpPr txBox="1"/>
            <p:nvPr/>
          </p:nvSpPr>
          <p:spPr>
            <a:xfrm>
              <a:off x="2105615" y="2257259"/>
              <a:ext cx="798077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clusterrolebinding</a:t>
              </a:r>
              <a:r>
                <a:rPr lang="en-US" altLang="ko-KR" sz="1000" b="1" dirty="0"/>
                <a:t> website-controller </a:t>
              </a:r>
              <a:r>
                <a:rPr lang="en-US" altLang="ko-KR" sz="1000" b="1" dirty="0">
                  <a:solidFill>
                    <a:srgbClr val="FF0000"/>
                  </a:solidFill>
                </a:rPr>
                <a:t>--</a:t>
              </a:r>
              <a:r>
                <a:rPr lang="en-US" altLang="ko-KR" sz="1000" b="1" dirty="0" err="1">
                  <a:solidFill>
                    <a:srgbClr val="FF0000"/>
                  </a:solidFill>
                </a:rPr>
                <a:t>clusterrole</a:t>
              </a:r>
              <a:r>
                <a:rPr lang="en-US" altLang="ko-KR" sz="1000" b="1" dirty="0"/>
                <a:t>=cluster-admin </a:t>
              </a:r>
              <a:r>
                <a:rPr lang="en-US" altLang="ko-KR" sz="1000" b="1" dirty="0">
                  <a:solidFill>
                    <a:srgbClr val="FF0000"/>
                  </a:solidFill>
                </a:rPr>
                <a:t>--</a:t>
              </a:r>
              <a:r>
                <a:rPr lang="en-US" altLang="ko-KR" sz="1000" b="1" dirty="0" err="1">
                  <a:solidFill>
                    <a:srgbClr val="FF0000"/>
                  </a:solidFill>
                </a:rPr>
                <a:t>serviceaccount</a:t>
              </a:r>
              <a:r>
                <a:rPr lang="en-US" altLang="ko-KR" sz="1000" b="1" dirty="0"/>
                <a:t>=</a:t>
              </a:r>
              <a:r>
                <a:rPr lang="en-US" altLang="ko-KR" sz="1000" b="1" dirty="0" err="1"/>
                <a:t>default:website-controller</a:t>
              </a:r>
              <a:endParaRPr lang="ko-KR" altLang="en-US" sz="1000" b="1" dirty="0"/>
            </a:p>
          </p:txBody>
        </p:sp>
        <p:pic>
          <p:nvPicPr>
            <p:cNvPr id="10" name="그림 9">
              <a:extLst>
                <a:ext uri="{FF2B5EF4-FFF2-40B4-BE49-F238E27FC236}">
                  <a16:creationId xmlns:a16="http://schemas.microsoft.com/office/drawing/2014/main" id="{D6D542CE-69A1-CD9F-60AB-B34A0141E1FE}"/>
                </a:ext>
              </a:extLst>
            </p:cNvPr>
            <p:cNvPicPr>
              <a:picLocks noChangeAspect="1"/>
            </p:cNvPicPr>
            <p:nvPr/>
          </p:nvPicPr>
          <p:blipFill>
            <a:blip r:embed="rId2"/>
            <a:stretch>
              <a:fillRect/>
            </a:stretch>
          </p:blipFill>
          <p:spPr>
            <a:xfrm>
              <a:off x="838200" y="2806981"/>
              <a:ext cx="10515600" cy="1479973"/>
            </a:xfrm>
            <a:prstGeom prst="rect">
              <a:avLst/>
            </a:prstGeom>
          </p:spPr>
        </p:pic>
        <p:sp>
          <p:nvSpPr>
            <p:cNvPr id="11" name="화살표: 아래쪽 10">
              <a:extLst>
                <a:ext uri="{FF2B5EF4-FFF2-40B4-BE49-F238E27FC236}">
                  <a16:creationId xmlns:a16="http://schemas.microsoft.com/office/drawing/2014/main" id="{721A696E-C38C-D1E9-10FC-F6250EE8AB18}"/>
                </a:ext>
              </a:extLst>
            </p:cNvPr>
            <p:cNvSpPr/>
            <p:nvPr/>
          </p:nvSpPr>
          <p:spPr>
            <a:xfrm>
              <a:off x="5857285" y="2503480"/>
              <a:ext cx="477430" cy="30445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94128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Objects(21/28)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Seeing the Controller in Action :</a:t>
            </a:r>
            <a:endParaRPr lang="en-US" altLang="ko-KR" sz="1400" dirty="0"/>
          </a:p>
          <a:p>
            <a:pPr lvl="1">
              <a:buFont typeface="Wingdings" panose="05000000000000000000" pitchFamily="2" charset="2"/>
              <a:buChar char="§"/>
            </a:pPr>
            <a:r>
              <a:rPr lang="en-US" altLang="ko-KR" sz="1400" b="1" dirty="0"/>
              <a:t>With the controller now running, </a:t>
            </a:r>
            <a:r>
              <a:rPr lang="en-US" altLang="ko-KR" sz="1400" b="1" dirty="0">
                <a:solidFill>
                  <a:srgbClr val="FF0000"/>
                </a:solidFill>
              </a:rPr>
              <a:t>create the “</a:t>
            </a:r>
            <a:r>
              <a:rPr lang="en-US" altLang="ko-KR" sz="1400" b="1" dirty="0" err="1">
                <a:solidFill>
                  <a:srgbClr val="FF0000"/>
                </a:solidFill>
              </a:rPr>
              <a:t>kubia</a:t>
            </a:r>
            <a:r>
              <a:rPr lang="en-US" altLang="ko-KR" sz="1400" b="1" dirty="0">
                <a:solidFill>
                  <a:srgbClr val="FF0000"/>
                </a:solidFill>
              </a:rPr>
              <a:t> Website resource” again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A5F54DAE-9381-09C6-62D2-E1AE14F470B2}"/>
              </a:ext>
            </a:extLst>
          </p:cNvPr>
          <p:cNvGrpSpPr/>
          <p:nvPr/>
        </p:nvGrpSpPr>
        <p:grpSpPr>
          <a:xfrm>
            <a:off x="838200" y="1942945"/>
            <a:ext cx="10515600" cy="2972110"/>
            <a:chOff x="838200" y="1679576"/>
            <a:chExt cx="10515600" cy="2972110"/>
          </a:xfrm>
        </p:grpSpPr>
        <p:pic>
          <p:nvPicPr>
            <p:cNvPr id="11" name="그림 10">
              <a:extLst>
                <a:ext uri="{FF2B5EF4-FFF2-40B4-BE49-F238E27FC236}">
                  <a16:creationId xmlns:a16="http://schemas.microsoft.com/office/drawing/2014/main" id="{E76F681C-91F8-132A-664A-98CE5EDA14B0}"/>
                </a:ext>
              </a:extLst>
            </p:cNvPr>
            <p:cNvPicPr>
              <a:picLocks noChangeAspect="1"/>
            </p:cNvPicPr>
            <p:nvPr/>
          </p:nvPicPr>
          <p:blipFill>
            <a:blip r:embed="rId2"/>
            <a:stretch>
              <a:fillRect/>
            </a:stretch>
          </p:blipFill>
          <p:spPr>
            <a:xfrm>
              <a:off x="838200" y="2230596"/>
              <a:ext cx="10515600" cy="2421090"/>
            </a:xfrm>
            <a:prstGeom prst="rect">
              <a:avLst/>
            </a:prstGeom>
          </p:spPr>
        </p:pic>
        <p:grpSp>
          <p:nvGrpSpPr>
            <p:cNvPr id="13" name="그룹 12">
              <a:extLst>
                <a:ext uri="{FF2B5EF4-FFF2-40B4-BE49-F238E27FC236}">
                  <a16:creationId xmlns:a16="http://schemas.microsoft.com/office/drawing/2014/main" id="{01A97DE1-E37A-4DA6-60C5-98B07586A30C}"/>
                </a:ext>
              </a:extLst>
            </p:cNvPr>
            <p:cNvGrpSpPr/>
            <p:nvPr/>
          </p:nvGrpSpPr>
          <p:grpSpPr>
            <a:xfrm>
              <a:off x="900223" y="1679576"/>
              <a:ext cx="8243777" cy="1262098"/>
              <a:chOff x="900223" y="1679576"/>
              <a:chExt cx="8243777" cy="1262098"/>
            </a:xfrm>
          </p:grpSpPr>
          <p:sp>
            <p:nvSpPr>
              <p:cNvPr id="8" name="TextBox 7">
                <a:extLst>
                  <a:ext uri="{FF2B5EF4-FFF2-40B4-BE49-F238E27FC236}">
                    <a16:creationId xmlns:a16="http://schemas.microsoft.com/office/drawing/2014/main" id="{8C02B3ED-7DD7-AEDC-6ACB-A61A66345F41}"/>
                  </a:ext>
                </a:extLst>
              </p:cNvPr>
              <p:cNvSpPr txBox="1"/>
              <p:nvPr/>
            </p:nvSpPr>
            <p:spPr>
              <a:xfrm>
                <a:off x="3048000" y="1679576"/>
                <a:ext cx="6096000" cy="246221"/>
              </a:xfrm>
              <a:prstGeom prst="rect">
                <a:avLst/>
              </a:prstGeom>
              <a:noFill/>
              <a:ln>
                <a:solidFill>
                  <a:schemeClr val="tx1"/>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kubia-website.yaml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47CD13A5-23D9-9533-8290-E80BA090C45D}"/>
                  </a:ext>
                </a:extLst>
              </p:cNvPr>
              <p:cNvSpPr/>
              <p:nvPr/>
            </p:nvSpPr>
            <p:spPr>
              <a:xfrm>
                <a:off x="5883349" y="1925797"/>
                <a:ext cx="425302" cy="30480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9CD05E3B-6C12-D665-2C32-E4B8C91B6259}"/>
                  </a:ext>
                </a:extLst>
              </p:cNvPr>
              <p:cNvSpPr/>
              <p:nvPr/>
            </p:nvSpPr>
            <p:spPr>
              <a:xfrm>
                <a:off x="900223" y="2757377"/>
                <a:ext cx="2948763" cy="1842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2311166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Objects(22/28)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Seeing the Controller in Action :</a:t>
            </a:r>
            <a:endParaRPr lang="en-US" altLang="ko-KR" sz="1400" dirty="0"/>
          </a:p>
          <a:p>
            <a:pPr lvl="1">
              <a:buFont typeface="Wingdings" panose="05000000000000000000" pitchFamily="2" charset="2"/>
              <a:buChar char="§"/>
            </a:pPr>
            <a:r>
              <a:rPr lang="en-US" altLang="ko-KR" sz="1400" b="1" dirty="0"/>
              <a:t>Now, let’s check the controller’s logs</a:t>
            </a:r>
            <a:r>
              <a:rPr lang="en-US" altLang="ko-KR" sz="1400" dirty="0"/>
              <a:t> (shown in the following listing) to see if it has received the watch event.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logs show that the controller received the ADDED event and that it created a Service and a Deployment for the </a:t>
            </a:r>
            <a:r>
              <a:rPr lang="en-US" altLang="ko-KR" sz="1400" b="1" dirty="0" err="1"/>
              <a:t>kubia</a:t>
            </a:r>
            <a:r>
              <a:rPr lang="en-US" altLang="ko-KR" sz="1400" b="1" dirty="0"/>
              <a:t>-website </a:t>
            </a:r>
            <a:r>
              <a:rPr lang="en-US" altLang="ko-KR" sz="1400" b="1" dirty="0" err="1"/>
              <a:t>Website</a:t>
            </a:r>
            <a:r>
              <a:rPr lang="en-US" altLang="ko-KR" sz="1400" b="1" dirty="0"/>
              <a:t>. The API server responded with a 201 Created response</a:t>
            </a:r>
            <a:r>
              <a:rPr lang="en-US" altLang="ko-KR" sz="1400" dirty="0"/>
              <a:t>, which means the two resources should now exist.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9AC2ED43-12A3-CCB7-ACA3-AC941B19108A}"/>
              </a:ext>
            </a:extLst>
          </p:cNvPr>
          <p:cNvGrpSpPr/>
          <p:nvPr/>
        </p:nvGrpSpPr>
        <p:grpSpPr>
          <a:xfrm>
            <a:off x="838200" y="2006526"/>
            <a:ext cx="10515600" cy="2844948"/>
            <a:chOff x="838200" y="2724269"/>
            <a:chExt cx="10515600" cy="2844948"/>
          </a:xfrm>
        </p:grpSpPr>
        <p:pic>
          <p:nvPicPr>
            <p:cNvPr id="12" name="그림 11">
              <a:extLst>
                <a:ext uri="{FF2B5EF4-FFF2-40B4-BE49-F238E27FC236}">
                  <a16:creationId xmlns:a16="http://schemas.microsoft.com/office/drawing/2014/main" id="{D82EECA3-E041-0720-91D3-8C374EA4B225}"/>
                </a:ext>
              </a:extLst>
            </p:cNvPr>
            <p:cNvPicPr>
              <a:picLocks noChangeAspect="1"/>
            </p:cNvPicPr>
            <p:nvPr/>
          </p:nvPicPr>
          <p:blipFill>
            <a:blip r:embed="rId2"/>
            <a:stretch>
              <a:fillRect/>
            </a:stretch>
          </p:blipFill>
          <p:spPr>
            <a:xfrm>
              <a:off x="838200" y="3429000"/>
              <a:ext cx="10515600" cy="2140217"/>
            </a:xfrm>
            <a:prstGeom prst="rect">
              <a:avLst/>
            </a:prstGeom>
          </p:spPr>
        </p:pic>
        <p:sp>
          <p:nvSpPr>
            <p:cNvPr id="14" name="TextBox 13">
              <a:extLst>
                <a:ext uri="{FF2B5EF4-FFF2-40B4-BE49-F238E27FC236}">
                  <a16:creationId xmlns:a16="http://schemas.microsoft.com/office/drawing/2014/main" id="{FE86A524-E919-8D82-7EBC-19570EAEBDFD}"/>
                </a:ext>
              </a:extLst>
            </p:cNvPr>
            <p:cNvSpPr txBox="1"/>
            <p:nvPr/>
          </p:nvSpPr>
          <p:spPr>
            <a:xfrm>
              <a:off x="3048000" y="2724269"/>
              <a:ext cx="6096000" cy="400110"/>
            </a:xfrm>
            <a:prstGeom prst="rect">
              <a:avLst/>
            </a:prstGeom>
            <a:noFill/>
            <a:ln>
              <a:solidFill>
                <a:schemeClr val="tx1"/>
              </a:solidFill>
            </a:ln>
          </p:spPr>
          <p:txBody>
            <a:bodyPr wrap="square">
              <a:spAutoFit/>
            </a:bodyPr>
            <a:lstStyle/>
            <a:p>
              <a:r>
                <a:rPr lang="en-US" altLang="ko-KR" sz="1000" b="1" dirty="0"/>
                <a:t>$ </a:t>
              </a:r>
              <a:r>
                <a:rPr lang="en-US" altLang="ko-KR" sz="1000" b="1" dirty="0" err="1"/>
                <a:t>kubectl</a:t>
              </a:r>
              <a:r>
                <a:rPr lang="en-US" altLang="ko-KR" sz="1000" b="1" dirty="0"/>
                <a:t> get pods</a:t>
              </a:r>
            </a:p>
            <a:p>
              <a:r>
                <a:rPr lang="en-US" altLang="ko-KR" sz="1000" b="1" dirty="0"/>
                <a:t>$ </a:t>
              </a:r>
              <a:r>
                <a:rPr lang="en-US" altLang="ko-KR" sz="1000" b="1" dirty="0" err="1"/>
                <a:t>kubectl</a:t>
              </a:r>
              <a:r>
                <a:rPr lang="en-US" altLang="ko-KR" sz="1000" b="1" dirty="0"/>
                <a:t> logs </a:t>
              </a:r>
              <a:r>
                <a:rPr lang="en-US" altLang="ko-KR" sz="1000" b="1" dirty="0">
                  <a:solidFill>
                    <a:srgbClr val="FF0000"/>
                  </a:solidFill>
                </a:rPr>
                <a:t>website-controller-7c684469c7-7sdv5</a:t>
              </a:r>
              <a:r>
                <a:rPr lang="en-US" altLang="ko-KR" sz="1000" b="1" dirty="0"/>
                <a:t> -c main</a:t>
              </a:r>
              <a:endParaRPr lang="ko-KR" altLang="en-US" sz="1000" b="1" dirty="0"/>
            </a:p>
          </p:txBody>
        </p:sp>
        <p:sp>
          <p:nvSpPr>
            <p:cNvPr id="15" name="화살표: 아래쪽 14">
              <a:extLst>
                <a:ext uri="{FF2B5EF4-FFF2-40B4-BE49-F238E27FC236}">
                  <a16:creationId xmlns:a16="http://schemas.microsoft.com/office/drawing/2014/main" id="{346A8566-481C-94F0-7832-857D02C4CFB4}"/>
                </a:ext>
              </a:extLst>
            </p:cNvPr>
            <p:cNvSpPr/>
            <p:nvPr/>
          </p:nvSpPr>
          <p:spPr>
            <a:xfrm>
              <a:off x="5886893" y="3140149"/>
              <a:ext cx="418214" cy="28885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27271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2724C-7986-394C-A342-078B335522A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EE65F03-37F1-0752-7FA2-41F6149B6B0D}"/>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Objects(23/28)</a:t>
            </a:r>
            <a:endParaRPr lang="ko-KR" altLang="en-US" sz="2800" b="1" dirty="0"/>
          </a:p>
        </p:txBody>
      </p:sp>
      <p:sp>
        <p:nvSpPr>
          <p:cNvPr id="3" name="내용 개체 틀 2">
            <a:extLst>
              <a:ext uri="{FF2B5EF4-FFF2-40B4-BE49-F238E27FC236}">
                <a16:creationId xmlns:a16="http://schemas.microsoft.com/office/drawing/2014/main" id="{AAF29619-608B-CFBA-F9C9-F8FCC7457D12}"/>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Seeing the Controller in Action :</a:t>
            </a:r>
            <a:endParaRPr lang="en-US" altLang="ko-KR" sz="1400" dirty="0"/>
          </a:p>
          <a:p>
            <a:pPr lvl="1">
              <a:buFont typeface="Wingdings" panose="05000000000000000000" pitchFamily="2" charset="2"/>
              <a:buChar char="§"/>
            </a:pPr>
            <a:r>
              <a:rPr lang="en-US" altLang="ko-KR" sz="1400" b="1" dirty="0"/>
              <a:t>Let’s verify that the Deployment, Service and the resulting Pod were created</a:t>
            </a:r>
            <a:r>
              <a:rPr lang="en-US" altLang="ko-KR" sz="1400" dirty="0"/>
              <a:t>. The following listing lists all Deployments, Services and Pods.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There they are. The </a:t>
            </a:r>
            <a:r>
              <a:rPr lang="en-US" altLang="ko-KR" sz="1400" b="1" dirty="0" err="1"/>
              <a:t>kubia</a:t>
            </a:r>
            <a:r>
              <a:rPr lang="en-US" altLang="ko-KR" sz="1400" b="1" dirty="0"/>
              <a:t>-website Service, through which you can access your website, is available on port “31653” on all cluster nodes</a:t>
            </a:r>
            <a:r>
              <a:rPr lang="en-US" altLang="ko-KR" sz="1400" dirty="0"/>
              <a:t>. You can access it with your browser. </a:t>
            </a:r>
            <a:r>
              <a:rPr lang="en-US" altLang="ko-KR" sz="1400" b="1" dirty="0"/>
              <a:t>Users of your Kubernetes cluster can now deploy static websites in seconds, without knowing anything about Pods, Services, or any other Kubernetes resources, except your custom Website resource</a:t>
            </a:r>
            <a:r>
              <a:rPr lang="en-US" altLang="ko-KR" sz="1400" dirty="0"/>
              <a:t>.</a:t>
            </a:r>
          </a:p>
          <a:p>
            <a:pPr lvl="1">
              <a:buFont typeface="Wingdings" panose="05000000000000000000" pitchFamily="2" charset="2"/>
              <a:buChar char="§"/>
            </a:pPr>
            <a:r>
              <a:rPr lang="en-US" altLang="ko-KR" sz="1400" b="1" dirty="0"/>
              <a:t>Obviously, you still have room for improvement. The controller could, for example, watch for Service objects and as soon as the node port is assigned, write the URL the website is accessible at into the status section of the Website resource instance itself.</a:t>
            </a:r>
            <a:r>
              <a:rPr lang="en-US" altLang="ko-KR" sz="1400" dirty="0"/>
              <a:t> </a:t>
            </a:r>
            <a:r>
              <a:rPr lang="en-US" altLang="ko-KR" sz="1400" b="1" dirty="0"/>
              <a:t>Or it could also create an Ingress object for each website</a:t>
            </a:r>
            <a:r>
              <a:rPr lang="en-US" altLang="ko-KR" sz="1400" dirty="0"/>
              <a:t>.</a:t>
            </a:r>
          </a:p>
        </p:txBody>
      </p:sp>
      <p:sp>
        <p:nvSpPr>
          <p:cNvPr id="5" name="날짜 개체 틀 4">
            <a:extLst>
              <a:ext uri="{FF2B5EF4-FFF2-40B4-BE49-F238E27FC236}">
                <a16:creationId xmlns:a16="http://schemas.microsoft.com/office/drawing/2014/main" id="{BB434D0E-B757-3C38-D90F-2469D28F1061}"/>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B01987E3-9D32-A331-9407-3BBED057EE28}"/>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FAB75023-DC86-0294-258F-60915BAD1EC9}"/>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F957777B-B41C-43E8-235C-A6C52DFEF22F}"/>
              </a:ext>
            </a:extLst>
          </p:cNvPr>
          <p:cNvGrpSpPr/>
          <p:nvPr/>
        </p:nvGrpSpPr>
        <p:grpSpPr>
          <a:xfrm>
            <a:off x="838200" y="1760582"/>
            <a:ext cx="10515600" cy="2698883"/>
            <a:chOff x="838200" y="1611726"/>
            <a:chExt cx="10515600" cy="2698883"/>
          </a:xfrm>
        </p:grpSpPr>
        <p:grpSp>
          <p:nvGrpSpPr>
            <p:cNvPr id="12" name="그룹 11">
              <a:extLst>
                <a:ext uri="{FF2B5EF4-FFF2-40B4-BE49-F238E27FC236}">
                  <a16:creationId xmlns:a16="http://schemas.microsoft.com/office/drawing/2014/main" id="{5AB66B6A-9863-BADA-2EFF-66A2147645F6}"/>
                </a:ext>
              </a:extLst>
            </p:cNvPr>
            <p:cNvGrpSpPr/>
            <p:nvPr/>
          </p:nvGrpSpPr>
          <p:grpSpPr>
            <a:xfrm>
              <a:off x="838200" y="1611726"/>
              <a:ext cx="10515600" cy="2698883"/>
              <a:chOff x="838200" y="2209256"/>
              <a:chExt cx="10515600" cy="2698883"/>
            </a:xfrm>
          </p:grpSpPr>
          <p:pic>
            <p:nvPicPr>
              <p:cNvPr id="8" name="그림 7">
                <a:extLst>
                  <a:ext uri="{FF2B5EF4-FFF2-40B4-BE49-F238E27FC236}">
                    <a16:creationId xmlns:a16="http://schemas.microsoft.com/office/drawing/2014/main" id="{8990BC22-240B-CBEE-7CC0-BDB2FEE999F0}"/>
                  </a:ext>
                </a:extLst>
              </p:cNvPr>
              <p:cNvPicPr>
                <a:picLocks noChangeAspect="1"/>
              </p:cNvPicPr>
              <p:nvPr/>
            </p:nvPicPr>
            <p:blipFill>
              <a:blip r:embed="rId2"/>
              <a:stretch>
                <a:fillRect/>
              </a:stretch>
            </p:blipFill>
            <p:spPr>
              <a:xfrm>
                <a:off x="838200" y="2767922"/>
                <a:ext cx="10515600" cy="2140217"/>
              </a:xfrm>
              <a:prstGeom prst="rect">
                <a:avLst/>
              </a:prstGeom>
            </p:spPr>
          </p:pic>
          <p:sp>
            <p:nvSpPr>
              <p:cNvPr id="10" name="TextBox 9">
                <a:extLst>
                  <a:ext uri="{FF2B5EF4-FFF2-40B4-BE49-F238E27FC236}">
                    <a16:creationId xmlns:a16="http://schemas.microsoft.com/office/drawing/2014/main" id="{13BA4E79-C762-75A4-EA91-182E6517CB70}"/>
                  </a:ext>
                </a:extLst>
              </p:cNvPr>
              <p:cNvSpPr txBox="1"/>
              <p:nvPr/>
            </p:nvSpPr>
            <p:spPr>
              <a:xfrm>
                <a:off x="3048000" y="2209256"/>
                <a:ext cx="6096000" cy="246221"/>
              </a:xfrm>
              <a:prstGeom prst="rect">
                <a:avLst/>
              </a:prstGeom>
              <a:noFill/>
              <a:ln>
                <a:solidFill>
                  <a:schemeClr val="tx1"/>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t>deploy,svc,po</a:t>
                </a:r>
                <a:endParaRPr lang="ko-KR" altLang="en-US" sz="1000" b="1" dirty="0"/>
              </a:p>
            </p:txBody>
          </p:sp>
          <p:sp>
            <p:nvSpPr>
              <p:cNvPr id="11" name="화살표: 아래쪽 10">
                <a:extLst>
                  <a:ext uri="{FF2B5EF4-FFF2-40B4-BE49-F238E27FC236}">
                    <a16:creationId xmlns:a16="http://schemas.microsoft.com/office/drawing/2014/main" id="{9843156C-A5BB-B0D9-409F-24639C7F5130}"/>
                  </a:ext>
                </a:extLst>
              </p:cNvPr>
              <p:cNvSpPr/>
              <p:nvPr/>
            </p:nvSpPr>
            <p:spPr>
              <a:xfrm>
                <a:off x="5883349" y="2469932"/>
                <a:ext cx="425302" cy="28353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629F38A5-FA05-589C-5B4D-B878798A8583}"/>
                </a:ext>
              </a:extLst>
            </p:cNvPr>
            <p:cNvSpPr/>
            <p:nvPr/>
          </p:nvSpPr>
          <p:spPr>
            <a:xfrm>
              <a:off x="838200" y="3197972"/>
              <a:ext cx="4896293" cy="1885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4757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BD070-C95B-2057-6A30-7CE9C458C9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EAFCC25-5C92-93F2-FA16-846D30E7DB57}"/>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Objects(24/28)</a:t>
            </a:r>
            <a:endParaRPr lang="ko-KR" altLang="en-US" sz="2800" b="1" dirty="0"/>
          </a:p>
        </p:txBody>
      </p:sp>
      <p:sp>
        <p:nvSpPr>
          <p:cNvPr id="3" name="내용 개체 틀 2">
            <a:extLst>
              <a:ext uri="{FF2B5EF4-FFF2-40B4-BE49-F238E27FC236}">
                <a16:creationId xmlns:a16="http://schemas.microsoft.com/office/drawing/2014/main" id="{21F702F9-A72C-01FC-DBE3-CE3BA3943878}"/>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Validating custom objects :</a:t>
            </a:r>
            <a:endParaRPr lang="en-US" altLang="ko-KR" sz="1400" dirty="0"/>
          </a:p>
          <a:p>
            <a:pPr lvl="1">
              <a:buFont typeface="Wingdings" panose="05000000000000000000" pitchFamily="2" charset="2"/>
              <a:buChar char="§"/>
            </a:pPr>
            <a:r>
              <a:rPr lang="en-US" altLang="ko-KR" sz="1400" dirty="0"/>
              <a:t>You may have noticed that </a:t>
            </a:r>
            <a:r>
              <a:rPr lang="en-US" altLang="ko-KR" sz="1400" b="1" dirty="0"/>
              <a:t>you didn’t specify any kind of </a:t>
            </a:r>
            <a:r>
              <a:rPr lang="en-US" altLang="ko-KR" sz="1400" b="1" dirty="0">
                <a:solidFill>
                  <a:srgbClr val="FF0000"/>
                </a:solidFill>
              </a:rPr>
              <a:t>validation schema </a:t>
            </a:r>
            <a:r>
              <a:rPr lang="en-US" altLang="ko-KR" sz="1400" b="1" dirty="0"/>
              <a:t>in the Website </a:t>
            </a:r>
            <a:r>
              <a:rPr lang="en-US" altLang="ko-KR" sz="1400" b="1" dirty="0" err="1"/>
              <a:t>CustomResourceDefinition</a:t>
            </a:r>
            <a:r>
              <a:rPr lang="en-US" altLang="ko-KR" sz="1400" dirty="0"/>
              <a:t>. Users can include any field they want in the YAML of their Website object. </a:t>
            </a:r>
            <a:r>
              <a:rPr lang="en-US" altLang="ko-KR" sz="1400" b="1" dirty="0"/>
              <a:t>The API server doesn’t validate the contents of the YAML (except the usual fields like </a:t>
            </a:r>
            <a:r>
              <a:rPr lang="en-US" altLang="ko-KR" sz="1400" b="1" dirty="0" err="1"/>
              <a:t>apiVersion</a:t>
            </a:r>
            <a:r>
              <a:rPr lang="en-US" altLang="ko-KR" sz="1400" b="1" dirty="0"/>
              <a:t>, kind, and metadata), so users can create invalid Website objects (without a </a:t>
            </a:r>
            <a:r>
              <a:rPr lang="en-US" altLang="ko-KR" sz="1400" b="1" dirty="0" err="1"/>
              <a:t>gitRepo</a:t>
            </a:r>
            <a:r>
              <a:rPr lang="en-US" altLang="ko-KR" sz="1400" b="1" dirty="0"/>
              <a:t> field, for example)</a:t>
            </a:r>
            <a:r>
              <a:rPr lang="en-US" altLang="ko-KR" sz="1400" dirty="0"/>
              <a:t>.</a:t>
            </a:r>
          </a:p>
          <a:p>
            <a:pPr lvl="1">
              <a:buFont typeface="Wingdings" panose="05000000000000000000" pitchFamily="2" charset="2"/>
              <a:buChar char="§"/>
            </a:pPr>
            <a:r>
              <a:rPr lang="en-US" altLang="ko-KR" sz="1400" dirty="0"/>
              <a:t>Is it possible to add validation to the controller and prevent invalid objects from being accepted by the API server? It isn’t, because the API server first stores the object, then returns a success response to the client (</a:t>
            </a:r>
            <a:r>
              <a:rPr lang="en-US" altLang="ko-KR" sz="1400" dirty="0" err="1"/>
              <a:t>kubectl</a:t>
            </a:r>
            <a:r>
              <a:rPr lang="en-US" altLang="ko-KR" sz="1400" dirty="0"/>
              <a:t>), and only then notifies all the watchers (the controller is one of them). </a:t>
            </a:r>
            <a:r>
              <a:rPr lang="en-US" altLang="ko-KR" sz="1400" b="1" dirty="0"/>
              <a:t>All the controller can really do is validate the object when it receives it in a watch event, and if the object is invalid, write the error message to the Website object (by updating the object through a new request to the API server)</a:t>
            </a:r>
            <a:r>
              <a:rPr lang="en-US" altLang="ko-KR" sz="1400" dirty="0"/>
              <a:t>. </a:t>
            </a:r>
            <a:r>
              <a:rPr lang="en-US" altLang="ko-KR" sz="1400" b="1" dirty="0">
                <a:solidFill>
                  <a:srgbClr val="FF0000"/>
                </a:solidFill>
              </a:rPr>
              <a:t>The user wouldn’t be notified of the error automatically</a:t>
            </a:r>
            <a:r>
              <a:rPr lang="en-US" altLang="ko-KR" sz="1400" dirty="0"/>
              <a:t>. </a:t>
            </a:r>
            <a:r>
              <a:rPr lang="en-US" altLang="ko-KR" sz="1400" b="1" dirty="0"/>
              <a:t>They’d have to notice the error message by querying the API server for the Website object</a:t>
            </a:r>
            <a:r>
              <a:rPr lang="en-US" altLang="ko-KR" sz="1400" dirty="0"/>
              <a:t>. Unless the user does this, they have no way of knowing whether the object is valid or not.</a:t>
            </a:r>
          </a:p>
          <a:p>
            <a:pPr lvl="1">
              <a:buFont typeface="Wingdings" panose="05000000000000000000" pitchFamily="2" charset="2"/>
              <a:buChar char="§"/>
            </a:pPr>
            <a:r>
              <a:rPr lang="en-US" altLang="ko-KR" sz="1400" b="1" dirty="0"/>
              <a:t>This obviously isn’t ideal. You’d want the API server to validate the object and reject invalid objects immediately</a:t>
            </a:r>
            <a:r>
              <a:rPr lang="en-US" altLang="ko-KR" sz="1400" dirty="0"/>
              <a:t>. </a:t>
            </a:r>
            <a:r>
              <a:rPr lang="en-US" altLang="ko-KR" sz="1400" b="1" dirty="0"/>
              <a:t>Validation of custom objects was introduced in Kubernetes version 1.8 as an alpha feature</a:t>
            </a:r>
            <a:r>
              <a:rPr lang="en-US" altLang="ko-KR" sz="1400" dirty="0"/>
              <a:t>. </a:t>
            </a:r>
            <a:r>
              <a:rPr lang="en-US" altLang="ko-KR" sz="1400" b="1" dirty="0">
                <a:solidFill>
                  <a:srgbClr val="FF0000"/>
                </a:solidFill>
              </a:rPr>
              <a:t>To have the API server validate your custom objects, you need to enable the “</a:t>
            </a:r>
            <a:r>
              <a:rPr lang="en-US" altLang="ko-KR" sz="1400" b="1" dirty="0" err="1">
                <a:solidFill>
                  <a:srgbClr val="FF0000"/>
                </a:solidFill>
              </a:rPr>
              <a:t>CustomResourceValidation</a:t>
            </a:r>
            <a:r>
              <a:rPr lang="en-US" altLang="ko-KR" sz="1400" b="1" dirty="0">
                <a:solidFill>
                  <a:srgbClr val="FF0000"/>
                </a:solidFill>
              </a:rPr>
              <a:t>” feature gate in the API server and specify a JSON schema in the CRD</a:t>
            </a:r>
            <a:r>
              <a:rPr lang="en-US" altLang="ko-KR" sz="1400" dirty="0"/>
              <a:t>.</a:t>
            </a:r>
          </a:p>
        </p:txBody>
      </p:sp>
      <p:sp>
        <p:nvSpPr>
          <p:cNvPr id="5" name="날짜 개체 틀 4">
            <a:extLst>
              <a:ext uri="{FF2B5EF4-FFF2-40B4-BE49-F238E27FC236}">
                <a16:creationId xmlns:a16="http://schemas.microsoft.com/office/drawing/2014/main" id="{D5A5E60A-E47F-A270-354B-B638268AFAEB}"/>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39FACAA0-F168-3300-E463-659E52AF6E3F}"/>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592209B2-8640-4476-2CC6-ADEA220E83D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748411B-89EA-CE0C-01E8-B71396B124AC}"/>
              </a:ext>
            </a:extLst>
          </p:cNvPr>
          <p:cNvPicPr>
            <a:picLocks noChangeAspect="1"/>
          </p:cNvPicPr>
          <p:nvPr/>
        </p:nvPicPr>
        <p:blipFill>
          <a:blip r:embed="rId2"/>
          <a:stretch>
            <a:fillRect/>
          </a:stretch>
        </p:blipFill>
        <p:spPr>
          <a:xfrm>
            <a:off x="4064295" y="4223060"/>
            <a:ext cx="4063409" cy="2133290"/>
          </a:xfrm>
          <a:prstGeom prst="rect">
            <a:avLst/>
          </a:prstGeom>
        </p:spPr>
      </p:pic>
    </p:spTree>
    <p:extLst>
      <p:ext uri="{BB962C8B-B14F-4D97-AF65-F5344CB8AC3E}">
        <p14:creationId xmlns:p14="http://schemas.microsoft.com/office/powerpoint/2010/main" val="4186225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2697-CC99-A967-FD6B-0861475D390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8E2040A-308B-697F-8822-965A404E4B20}"/>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Objects(25/28)</a:t>
            </a:r>
            <a:endParaRPr lang="ko-KR" altLang="en-US" sz="2800" b="1" dirty="0"/>
          </a:p>
        </p:txBody>
      </p:sp>
      <p:sp>
        <p:nvSpPr>
          <p:cNvPr id="3" name="내용 개체 틀 2">
            <a:extLst>
              <a:ext uri="{FF2B5EF4-FFF2-40B4-BE49-F238E27FC236}">
                <a16:creationId xmlns:a16="http://schemas.microsoft.com/office/drawing/2014/main" id="{04501CA1-0EB8-B8F7-8A9B-19B729979231}"/>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custom API server for your custom objects :</a:t>
            </a:r>
            <a:endParaRPr lang="en-US" altLang="ko-KR" sz="1400" dirty="0"/>
          </a:p>
          <a:p>
            <a:pPr lvl="1">
              <a:buFont typeface="Wingdings" panose="05000000000000000000" pitchFamily="2" charset="2"/>
              <a:buChar char="§"/>
            </a:pPr>
            <a:r>
              <a:rPr lang="en-US" altLang="ko-KR" sz="1400" b="1" dirty="0"/>
              <a:t>A better way of adding support for custom objects in Kubernetes is to </a:t>
            </a:r>
            <a:r>
              <a:rPr lang="en-US" altLang="ko-KR" sz="1400" b="1" dirty="0">
                <a:solidFill>
                  <a:srgbClr val="FF0000"/>
                </a:solidFill>
              </a:rPr>
              <a:t>implement your own API server </a:t>
            </a:r>
            <a:r>
              <a:rPr lang="en-US" altLang="ko-KR" sz="1400" b="1" dirty="0"/>
              <a:t>and have the clients talk directly to it.</a:t>
            </a:r>
          </a:p>
          <a:p>
            <a:pPr lvl="1">
              <a:buFont typeface="Wingdings" panose="05000000000000000000" pitchFamily="2" charset="2"/>
              <a:buChar char="§"/>
            </a:pPr>
            <a:r>
              <a:rPr lang="en-US" altLang="ko-KR" sz="1400" b="1" dirty="0"/>
              <a:t>In Kubernetes version 1.7, you can integrate your custom API server with the main Kubernetes API server</a:t>
            </a:r>
            <a:r>
              <a:rPr lang="en-US" altLang="ko-KR" sz="1400" dirty="0"/>
              <a:t>, </a:t>
            </a:r>
            <a:r>
              <a:rPr lang="en-US" altLang="ko-KR" sz="1400" b="1" dirty="0"/>
              <a:t>through “</a:t>
            </a:r>
            <a:r>
              <a:rPr lang="en-US" altLang="ko-KR" sz="1400" b="1" dirty="0">
                <a:solidFill>
                  <a:srgbClr val="FF0000"/>
                </a:solidFill>
              </a:rPr>
              <a:t>API server aggregation</a:t>
            </a:r>
            <a:r>
              <a:rPr lang="en-US" altLang="ko-KR" sz="1400" b="1" dirty="0"/>
              <a:t>”</a:t>
            </a:r>
            <a:r>
              <a:rPr lang="en-US" altLang="ko-KR" sz="1400" dirty="0"/>
              <a:t>. Initially, the Kubernetes API server was a single monolithic component. </a:t>
            </a:r>
            <a:r>
              <a:rPr lang="en-US" altLang="ko-KR" sz="1400" b="1" dirty="0"/>
              <a:t>From Kubernetes version 1.7, multiple aggregated API servers will be exposed at a single location</a:t>
            </a:r>
            <a:r>
              <a:rPr lang="en-US" altLang="ko-KR" sz="1400" dirty="0"/>
              <a:t>. </a:t>
            </a:r>
            <a:r>
              <a:rPr lang="en-US" altLang="ko-KR" sz="1400" b="1" dirty="0"/>
              <a:t>Clients can connect to the aggregated API and have their requests transparently forwarded to the appropriate API server</a:t>
            </a:r>
            <a:r>
              <a:rPr lang="en-US" altLang="ko-KR" sz="1400" dirty="0"/>
              <a:t>. This way, the client wouldn’t even be aware that multiple API servers handle different objects behind the scenes. Even the core Kubernetes API server may eventually end up being split into multiple smaller API servers and exposed as a single server through the aggregator, as shown in the following figure.</a:t>
            </a:r>
          </a:p>
        </p:txBody>
      </p:sp>
      <p:sp>
        <p:nvSpPr>
          <p:cNvPr id="5" name="날짜 개체 틀 4">
            <a:extLst>
              <a:ext uri="{FF2B5EF4-FFF2-40B4-BE49-F238E27FC236}">
                <a16:creationId xmlns:a16="http://schemas.microsoft.com/office/drawing/2014/main" id="{80D4D308-4808-A56C-3921-E8EA3290EA28}"/>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1954485E-BF35-7932-08E3-31A2C1781534}"/>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4C85AF56-A5D8-1C6D-ADDC-9C04A8EF0069}"/>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60FF57CB-131C-01B9-F17F-21C15FDED514}"/>
              </a:ext>
            </a:extLst>
          </p:cNvPr>
          <p:cNvPicPr>
            <a:picLocks noChangeAspect="1"/>
          </p:cNvPicPr>
          <p:nvPr/>
        </p:nvPicPr>
        <p:blipFill>
          <a:blip r:embed="rId2"/>
          <a:stretch>
            <a:fillRect/>
          </a:stretch>
        </p:blipFill>
        <p:spPr>
          <a:xfrm>
            <a:off x="2931042" y="3168597"/>
            <a:ext cx="6329915" cy="2875308"/>
          </a:xfrm>
          <a:prstGeom prst="rect">
            <a:avLst/>
          </a:prstGeom>
        </p:spPr>
      </p:pic>
      <p:sp>
        <p:nvSpPr>
          <p:cNvPr id="9" name="직사각형 8">
            <a:extLst>
              <a:ext uri="{FF2B5EF4-FFF2-40B4-BE49-F238E27FC236}">
                <a16:creationId xmlns:a16="http://schemas.microsoft.com/office/drawing/2014/main" id="{C3B9966C-21FC-39A9-5728-D9CB0750E4C6}"/>
              </a:ext>
            </a:extLst>
          </p:cNvPr>
          <p:cNvSpPr/>
          <p:nvPr/>
        </p:nvSpPr>
        <p:spPr>
          <a:xfrm>
            <a:off x="5578549" y="3218121"/>
            <a:ext cx="3682408" cy="27573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543807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D3FEA-BC18-B8BC-EAF3-B5AD229C43C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5837328-C8FB-6A74-3480-35CE857E67D9}"/>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Objects(26/28)</a:t>
            </a:r>
            <a:endParaRPr lang="ko-KR" altLang="en-US" sz="2800" b="1" dirty="0"/>
          </a:p>
        </p:txBody>
      </p:sp>
      <p:sp>
        <p:nvSpPr>
          <p:cNvPr id="3" name="내용 개체 틀 2">
            <a:extLst>
              <a:ext uri="{FF2B5EF4-FFF2-40B4-BE49-F238E27FC236}">
                <a16:creationId xmlns:a16="http://schemas.microsoft.com/office/drawing/2014/main" id="{C7F18D01-FAFB-B023-E6BD-E77C40921B29}"/>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custom API server for your custom objects :</a:t>
            </a:r>
            <a:endParaRPr lang="en-US" altLang="ko-KR" sz="1400" dirty="0"/>
          </a:p>
          <a:p>
            <a:pPr lvl="1">
              <a:buFont typeface="Wingdings" panose="05000000000000000000" pitchFamily="2" charset="2"/>
              <a:buChar char="§"/>
            </a:pPr>
            <a:r>
              <a:rPr lang="en-US" altLang="ko-KR" sz="1400" b="1" dirty="0"/>
              <a:t>In your case, you could create an API server responsible for handling your Website objects. It could validate those objects the way the core Kubernetes API server validates them</a:t>
            </a:r>
            <a:r>
              <a:rPr lang="en-US" altLang="ko-KR" sz="1400" dirty="0"/>
              <a:t>. </a:t>
            </a:r>
            <a:r>
              <a:rPr lang="en-US" altLang="ko-KR" sz="1400" b="1" dirty="0">
                <a:solidFill>
                  <a:srgbClr val="FF0000"/>
                </a:solidFill>
              </a:rPr>
              <a:t>You’d no longer need to create a CRD to represent those objects</a:t>
            </a:r>
            <a:r>
              <a:rPr lang="en-US" altLang="ko-KR" sz="1400" b="1" dirty="0"/>
              <a:t>, because you’d implement the Website object type into the custom API server directly</a:t>
            </a:r>
            <a:r>
              <a:rPr lang="en-US" altLang="ko-KR" sz="1400" dirty="0"/>
              <a:t>.</a:t>
            </a:r>
          </a:p>
          <a:p>
            <a:pPr lvl="1">
              <a:buFont typeface="Wingdings" panose="05000000000000000000" pitchFamily="2" charset="2"/>
              <a:buChar char="§"/>
            </a:pPr>
            <a:r>
              <a:rPr lang="en-US" altLang="ko-KR" sz="1400" b="1" dirty="0"/>
              <a:t>Generally, each API server is responsible for storing their own resources</a:t>
            </a:r>
            <a:r>
              <a:rPr lang="en-US" altLang="ko-KR" sz="1400" dirty="0"/>
              <a:t>. As shown in the previous figure, </a:t>
            </a:r>
            <a:r>
              <a:rPr lang="en-US" altLang="ko-KR" sz="1400" b="1" dirty="0"/>
              <a:t>it can either run its own instance of “</a:t>
            </a:r>
            <a:r>
              <a:rPr lang="en-US" altLang="ko-KR" sz="1400" b="1" dirty="0" err="1"/>
              <a:t>etcd</a:t>
            </a:r>
            <a:r>
              <a:rPr lang="en-US" altLang="ko-KR" sz="1400" b="1" dirty="0"/>
              <a:t>” (or a whole “</a:t>
            </a:r>
            <a:r>
              <a:rPr lang="en-US" altLang="ko-KR" sz="1400" b="1" dirty="0" err="1"/>
              <a:t>etcd</a:t>
            </a:r>
            <a:r>
              <a:rPr lang="en-US" altLang="ko-KR" sz="1400" b="1" dirty="0"/>
              <a:t>” cluster)</a:t>
            </a:r>
            <a:r>
              <a:rPr lang="en-US" altLang="ko-KR" sz="1400" dirty="0"/>
              <a:t>, </a:t>
            </a:r>
            <a:r>
              <a:rPr lang="en-US" altLang="ko-KR" sz="1400" b="1" dirty="0"/>
              <a:t>or it can store its resources in the core API server’s </a:t>
            </a:r>
            <a:r>
              <a:rPr lang="en-US" altLang="ko-KR" sz="1400" b="1" dirty="0" err="1"/>
              <a:t>etcd</a:t>
            </a:r>
            <a:r>
              <a:rPr lang="en-US" altLang="ko-KR" sz="1400" b="1" dirty="0"/>
              <a:t> store by creating CRD instances in the core API server</a:t>
            </a:r>
            <a:r>
              <a:rPr lang="en-US" altLang="ko-KR" sz="1400" dirty="0"/>
              <a:t>. In that case, it needs to create a CRD object first, before creating instances of the CRD, the way you did in the example.</a:t>
            </a:r>
          </a:p>
        </p:txBody>
      </p:sp>
      <p:sp>
        <p:nvSpPr>
          <p:cNvPr id="5" name="날짜 개체 틀 4">
            <a:extLst>
              <a:ext uri="{FF2B5EF4-FFF2-40B4-BE49-F238E27FC236}">
                <a16:creationId xmlns:a16="http://schemas.microsoft.com/office/drawing/2014/main" id="{F4C4B6DC-F08B-33E2-92BE-6D04BA03CD08}"/>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1ABC0770-71BA-2489-9EE1-81D08DE13045}"/>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AC758609-1043-F059-B80A-9E6CBB54E3F9}"/>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AA5567C-12AB-60D0-CC41-22B312FBA2FA}"/>
              </a:ext>
            </a:extLst>
          </p:cNvPr>
          <p:cNvPicPr>
            <a:picLocks noChangeAspect="1"/>
          </p:cNvPicPr>
          <p:nvPr/>
        </p:nvPicPr>
        <p:blipFill>
          <a:blip r:embed="rId2"/>
          <a:stretch>
            <a:fillRect/>
          </a:stretch>
        </p:blipFill>
        <p:spPr>
          <a:xfrm>
            <a:off x="3238500" y="2931374"/>
            <a:ext cx="5715000" cy="2809875"/>
          </a:xfrm>
          <a:prstGeom prst="rect">
            <a:avLst/>
          </a:prstGeom>
        </p:spPr>
      </p:pic>
    </p:spTree>
    <p:extLst>
      <p:ext uri="{BB962C8B-B14F-4D97-AF65-F5344CB8AC3E}">
        <p14:creationId xmlns:p14="http://schemas.microsoft.com/office/powerpoint/2010/main" val="2164660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7BD7E-F3E6-BCC9-3E77-44DD5D15476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1309C6E-0486-CC49-46B4-673D9EE137CC}"/>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Objects(27/28)</a:t>
            </a:r>
            <a:endParaRPr lang="ko-KR" altLang="en-US" sz="2800" b="1" dirty="0"/>
          </a:p>
        </p:txBody>
      </p:sp>
      <p:sp>
        <p:nvSpPr>
          <p:cNvPr id="3" name="내용 개체 틀 2">
            <a:extLst>
              <a:ext uri="{FF2B5EF4-FFF2-40B4-BE49-F238E27FC236}">
                <a16:creationId xmlns:a16="http://schemas.microsoft.com/office/drawing/2014/main" id="{0F3DF356-98E9-670C-3A0C-3AE67E93847A}"/>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custom API server for your custom objects :</a:t>
            </a:r>
            <a:endParaRPr lang="en-US" altLang="ko-KR" sz="1400" dirty="0"/>
          </a:p>
          <a:p>
            <a:pPr lvl="1">
              <a:buFont typeface="Wingdings" panose="05000000000000000000" pitchFamily="2" charset="2"/>
              <a:buChar char="§"/>
            </a:pPr>
            <a:r>
              <a:rPr lang="en-US" altLang="ko-KR" sz="1400" b="1" dirty="0"/>
              <a:t>To add a </a:t>
            </a:r>
            <a:r>
              <a:rPr lang="en-US" altLang="ko-KR" sz="1400" b="1" dirty="0">
                <a:solidFill>
                  <a:srgbClr val="FF0000"/>
                </a:solidFill>
              </a:rPr>
              <a:t>custom API server </a:t>
            </a:r>
            <a:r>
              <a:rPr lang="en-US" altLang="ko-KR" sz="1400" b="1" dirty="0"/>
              <a:t>to your cluster, you’d deploy it as a </a:t>
            </a:r>
            <a:r>
              <a:rPr lang="en-US" altLang="ko-KR" sz="1400" b="1" dirty="0">
                <a:solidFill>
                  <a:srgbClr val="FF0000"/>
                </a:solidFill>
              </a:rPr>
              <a:t>pod</a:t>
            </a:r>
            <a:r>
              <a:rPr lang="en-US" altLang="ko-KR" sz="1400" b="1" dirty="0"/>
              <a:t> and expose it through a </a:t>
            </a:r>
            <a:r>
              <a:rPr lang="en-US" altLang="ko-KR" sz="1400" b="1" dirty="0">
                <a:solidFill>
                  <a:srgbClr val="FF0000"/>
                </a:solidFill>
              </a:rPr>
              <a:t>Service</a:t>
            </a:r>
            <a:r>
              <a:rPr lang="en-US" altLang="ko-KR" sz="1400" dirty="0"/>
              <a:t>. </a:t>
            </a:r>
            <a:r>
              <a:rPr lang="en-US" altLang="ko-KR" sz="1400" b="1" dirty="0"/>
              <a:t>Then, to integrate it into the main API server, you’d deploy a YAML manifest describing an “</a:t>
            </a:r>
            <a:r>
              <a:rPr lang="en-US" altLang="ko-KR" sz="1400" b="1" dirty="0" err="1">
                <a:solidFill>
                  <a:srgbClr val="FF0000"/>
                </a:solidFill>
              </a:rPr>
              <a:t>APIService</a:t>
            </a:r>
            <a:r>
              <a:rPr lang="en-US" altLang="ko-KR" sz="1400" b="1" dirty="0">
                <a:solidFill>
                  <a:srgbClr val="FF0000"/>
                </a:solidFill>
              </a:rPr>
              <a:t> resource</a:t>
            </a:r>
            <a:r>
              <a:rPr lang="en-US" altLang="ko-KR" sz="1400" b="1" dirty="0"/>
              <a:t>” </a:t>
            </a:r>
            <a:r>
              <a:rPr lang="en-US" altLang="ko-KR" sz="1400" dirty="0"/>
              <a:t>like the one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After creating the “</a:t>
            </a:r>
            <a:r>
              <a:rPr lang="en-US" altLang="ko-KR" sz="1400" b="1" dirty="0" err="1"/>
              <a:t>APIService</a:t>
            </a:r>
            <a:r>
              <a:rPr lang="en-US" altLang="ko-KR" sz="1400" b="1" dirty="0"/>
              <a:t>” resource from the above listing, client requests sent to the main API server that contain any resource from the “extensions.example.com API group” and version “v1” would be forwarded to the custom API server pod(s) exposed through the “website-</a:t>
            </a:r>
            <a:r>
              <a:rPr lang="en-US" altLang="ko-KR" sz="1400" b="1" dirty="0" err="1"/>
              <a:t>api</a:t>
            </a:r>
            <a:r>
              <a:rPr lang="en-US" altLang="ko-KR" sz="1400" b="1" dirty="0"/>
              <a:t>” Service</a:t>
            </a:r>
            <a:r>
              <a:rPr lang="en-US" altLang="ko-KR" sz="1400" dirty="0"/>
              <a:t>.</a:t>
            </a:r>
          </a:p>
        </p:txBody>
      </p:sp>
      <p:sp>
        <p:nvSpPr>
          <p:cNvPr id="5" name="날짜 개체 틀 4">
            <a:extLst>
              <a:ext uri="{FF2B5EF4-FFF2-40B4-BE49-F238E27FC236}">
                <a16:creationId xmlns:a16="http://schemas.microsoft.com/office/drawing/2014/main" id="{E787E357-111E-7635-DE9F-51E154045F64}"/>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18424B5B-0338-23AE-53AD-F642ABFBE6D0}"/>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16321AE0-A432-B588-2064-7CDF2DFA0379}"/>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A8CC1D8E-F925-F0E6-260E-4639EE53B7F7}"/>
              </a:ext>
            </a:extLst>
          </p:cNvPr>
          <p:cNvGrpSpPr/>
          <p:nvPr/>
        </p:nvGrpSpPr>
        <p:grpSpPr>
          <a:xfrm>
            <a:off x="3048000" y="1998507"/>
            <a:ext cx="6096000" cy="2246769"/>
            <a:chOff x="3048000" y="2055213"/>
            <a:chExt cx="6096000" cy="2246769"/>
          </a:xfrm>
        </p:grpSpPr>
        <p:sp>
          <p:nvSpPr>
            <p:cNvPr id="8" name="TextBox 7">
              <a:extLst>
                <a:ext uri="{FF2B5EF4-FFF2-40B4-BE49-F238E27FC236}">
                  <a16:creationId xmlns:a16="http://schemas.microsoft.com/office/drawing/2014/main" id="{102EF4DA-E000-176C-F534-ACE48C1AF20E}"/>
                </a:ext>
              </a:extLst>
            </p:cNvPr>
            <p:cNvSpPr txBox="1"/>
            <p:nvPr/>
          </p:nvSpPr>
          <p:spPr>
            <a:xfrm>
              <a:off x="3048000" y="2055213"/>
              <a:ext cx="6096000" cy="2246769"/>
            </a:xfrm>
            <a:prstGeom prst="rect">
              <a:avLst/>
            </a:prstGeom>
            <a:noFill/>
            <a:ln>
              <a:solidFill>
                <a:schemeClr val="tx1"/>
              </a:solidFill>
            </a:ln>
          </p:spPr>
          <p:txBody>
            <a:bodyPr wrap="square">
              <a:spAutoFit/>
            </a:bodyPr>
            <a:lstStyle/>
            <a:p>
              <a:r>
                <a:rPr lang="en-US" altLang="ko-KR" sz="1000" b="1" dirty="0" err="1"/>
                <a:t>apiVersion</a:t>
              </a:r>
              <a:r>
                <a:rPr lang="en-US" altLang="ko-KR" sz="1000" b="1" dirty="0"/>
                <a:t>: apiregistration.k8s.io/v1</a:t>
              </a:r>
            </a:p>
            <a:p>
              <a:r>
                <a:rPr lang="en-US" altLang="ko-KR" sz="1000" b="1" dirty="0"/>
                <a:t>kind: </a:t>
              </a:r>
              <a:r>
                <a:rPr lang="en-US" altLang="ko-KR" sz="1000" b="1" dirty="0" err="1">
                  <a:solidFill>
                    <a:srgbClr val="FF0000"/>
                  </a:solidFill>
                </a:rPr>
                <a:t>APIService</a:t>
              </a:r>
              <a:endParaRPr lang="en-US" altLang="ko-KR" sz="1000" b="1" dirty="0">
                <a:solidFill>
                  <a:srgbClr val="FF0000"/>
                </a:solidFill>
              </a:endParaRPr>
            </a:p>
            <a:p>
              <a:r>
                <a:rPr lang="en-US" altLang="ko-KR" sz="1000" b="1" dirty="0"/>
                <a:t>metadata:</a:t>
              </a:r>
            </a:p>
            <a:p>
              <a:r>
                <a:rPr lang="en-US" altLang="ko-KR" sz="1000" b="1" dirty="0"/>
                <a:t>  name: v1.extensions.example.com</a:t>
              </a:r>
            </a:p>
            <a:p>
              <a:r>
                <a:rPr lang="en-US" altLang="ko-KR" sz="1000" b="1" dirty="0"/>
                <a:t>spec:</a:t>
              </a:r>
            </a:p>
            <a:p>
              <a:r>
                <a:rPr lang="en-US" altLang="ko-KR" sz="1000" b="1" dirty="0"/>
                <a:t>  group: extensions.example.com</a:t>
              </a:r>
            </a:p>
            <a:p>
              <a:r>
                <a:rPr lang="en-US" altLang="ko-KR" sz="1000" b="1" dirty="0"/>
                <a:t>  version: v1</a:t>
              </a:r>
            </a:p>
            <a:p>
              <a:r>
                <a:rPr lang="en-US" altLang="ko-KR" sz="1000" b="1" dirty="0"/>
                <a:t>  </a:t>
              </a:r>
              <a:r>
                <a:rPr lang="en-US" altLang="ko-KR" sz="1000" b="1" dirty="0" err="1"/>
                <a:t>groupPriorityMinimum</a:t>
              </a:r>
              <a:r>
                <a:rPr lang="en-US" altLang="ko-KR" sz="1000" b="1" dirty="0"/>
                <a:t>: 150</a:t>
              </a:r>
            </a:p>
            <a:p>
              <a:r>
                <a:rPr lang="en-US" altLang="ko-KR" sz="1000" b="1" dirty="0"/>
                <a:t>  </a:t>
              </a:r>
              <a:r>
                <a:rPr lang="en-US" altLang="ko-KR" sz="1000" b="1" dirty="0" err="1"/>
                <a:t>versionPriority</a:t>
              </a:r>
              <a:r>
                <a:rPr lang="en-US" altLang="ko-KR" sz="1000" b="1" dirty="0"/>
                <a:t>: 15</a:t>
              </a:r>
            </a:p>
            <a:p>
              <a:r>
                <a:rPr lang="en-US" altLang="ko-KR" sz="1000" b="1" dirty="0"/>
                <a:t>  service:</a:t>
              </a:r>
            </a:p>
            <a:p>
              <a:r>
                <a:rPr lang="en-US" altLang="ko-KR" sz="1000" b="1" dirty="0"/>
                <a:t>    name: </a:t>
              </a:r>
              <a:r>
                <a:rPr lang="en-US" altLang="ko-KR" sz="1000" b="1" dirty="0">
                  <a:solidFill>
                    <a:srgbClr val="FF0000"/>
                  </a:solidFill>
                </a:rPr>
                <a:t>website-</a:t>
              </a:r>
              <a:r>
                <a:rPr lang="en-US" altLang="ko-KR" sz="1000" b="1" dirty="0" err="1">
                  <a:solidFill>
                    <a:srgbClr val="FF0000"/>
                  </a:solidFill>
                </a:rPr>
                <a:t>api</a:t>
              </a:r>
              <a:endParaRPr lang="en-US" altLang="ko-KR" sz="1000" b="1" dirty="0">
                <a:solidFill>
                  <a:srgbClr val="FF0000"/>
                </a:solidFill>
              </a:endParaRPr>
            </a:p>
            <a:p>
              <a:r>
                <a:rPr lang="en-US" altLang="ko-KR" sz="1000" b="1" dirty="0"/>
                <a:t>    namespace: default</a:t>
              </a:r>
            </a:p>
            <a:p>
              <a:r>
                <a:rPr lang="en-US" altLang="ko-KR" sz="1000" b="1" dirty="0"/>
                <a:t>    port: 443</a:t>
              </a:r>
            </a:p>
            <a:p>
              <a:r>
                <a:rPr lang="en-US" altLang="ko-KR" sz="1000" b="1" dirty="0"/>
                <a:t>  </a:t>
              </a:r>
              <a:r>
                <a:rPr lang="en-US" altLang="ko-KR" sz="1000" b="1" dirty="0" err="1">
                  <a:solidFill>
                    <a:srgbClr val="FF0000"/>
                  </a:solidFill>
                </a:rPr>
                <a:t>insecureSkipTLSVerify</a:t>
              </a:r>
              <a:r>
                <a:rPr lang="en-US" altLang="ko-KR" sz="1000" b="1" dirty="0">
                  <a:solidFill>
                    <a:srgbClr val="FF0000"/>
                  </a:solidFill>
                </a:rPr>
                <a:t>: true</a:t>
              </a:r>
            </a:p>
          </p:txBody>
        </p:sp>
        <p:sp>
          <p:nvSpPr>
            <p:cNvPr id="10" name="TextBox 9">
              <a:extLst>
                <a:ext uri="{FF2B5EF4-FFF2-40B4-BE49-F238E27FC236}">
                  <a16:creationId xmlns:a16="http://schemas.microsoft.com/office/drawing/2014/main" id="{67F9A123-27E1-CC7F-41B2-2C6AAC0A35AE}"/>
                </a:ext>
              </a:extLst>
            </p:cNvPr>
            <p:cNvSpPr txBox="1"/>
            <p:nvPr/>
          </p:nvSpPr>
          <p:spPr>
            <a:xfrm>
              <a:off x="8019973" y="2055213"/>
              <a:ext cx="1124027" cy="246221"/>
            </a:xfrm>
            <a:prstGeom prst="rect">
              <a:avLst/>
            </a:prstGeom>
            <a:noFill/>
          </p:spPr>
          <p:txBody>
            <a:bodyPr wrap="none" rtlCol="0">
              <a:spAutoFit/>
            </a:bodyPr>
            <a:lstStyle/>
            <a:p>
              <a:pPr algn="ctr"/>
              <a:r>
                <a:rPr lang="en-US" altLang="ko-KR" sz="1000" b="1" dirty="0" err="1"/>
                <a:t>apiService.yaml</a:t>
              </a:r>
              <a:endParaRPr lang="ko-KR" altLang="en-US" sz="1000" b="1" dirty="0"/>
            </a:p>
          </p:txBody>
        </p:sp>
      </p:grpSp>
    </p:spTree>
    <p:extLst>
      <p:ext uri="{BB962C8B-B14F-4D97-AF65-F5344CB8AC3E}">
        <p14:creationId xmlns:p14="http://schemas.microsoft.com/office/powerpoint/2010/main" val="676711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D6AE6-1F79-A975-FB09-28E5CF61A0C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C1097F2-4BC5-2E2C-8F5D-DCF378710CFA}"/>
              </a:ext>
            </a:extLst>
          </p:cNvPr>
          <p:cNvSpPr>
            <a:spLocks noGrp="1"/>
          </p:cNvSpPr>
          <p:nvPr>
            <p:ph type="title"/>
          </p:nvPr>
        </p:nvSpPr>
        <p:spPr>
          <a:xfrm>
            <a:off x="838200" y="297455"/>
            <a:ext cx="10515600" cy="383582"/>
          </a:xfrm>
        </p:spPr>
        <p:txBody>
          <a:bodyPr>
            <a:normAutofit fontScale="90000"/>
          </a:bodyPr>
          <a:lstStyle/>
          <a:p>
            <a:r>
              <a:rPr lang="en-US" altLang="ko-KR" sz="2800" b="1" dirty="0"/>
              <a:t>Defining Custom API Objects(28/28)</a:t>
            </a:r>
            <a:endParaRPr lang="ko-KR" altLang="en-US" sz="2800" b="1" dirty="0"/>
          </a:p>
        </p:txBody>
      </p:sp>
      <p:sp>
        <p:nvSpPr>
          <p:cNvPr id="3" name="내용 개체 틀 2">
            <a:extLst>
              <a:ext uri="{FF2B5EF4-FFF2-40B4-BE49-F238E27FC236}">
                <a16:creationId xmlns:a16="http://schemas.microsoft.com/office/drawing/2014/main" id="{4973BC2B-9335-C8B7-B7A7-D66E90D1FB6B}"/>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Providing a custom API server for your custom objects :</a:t>
            </a:r>
            <a:endParaRPr lang="en-US" altLang="ko-KR" sz="1400" dirty="0"/>
          </a:p>
          <a:p>
            <a:pPr lvl="1">
              <a:buFont typeface="Wingdings" panose="05000000000000000000" pitchFamily="2" charset="2"/>
              <a:buChar char="§"/>
            </a:pPr>
            <a:r>
              <a:rPr lang="en-US" altLang="ko-KR" sz="1400" b="1" dirty="0"/>
              <a:t>While you can create custom resources from YAML files using the regular </a:t>
            </a:r>
            <a:r>
              <a:rPr lang="en-US" altLang="ko-KR" sz="1400" b="1" dirty="0" err="1"/>
              <a:t>kubectl</a:t>
            </a:r>
            <a:r>
              <a:rPr lang="en-US" altLang="ko-KR" sz="1400" b="1" dirty="0"/>
              <a:t> client, to make deployment of custom objects even easier, in addition to providing a custom API server, you can also build a </a:t>
            </a:r>
            <a:r>
              <a:rPr lang="en-US" altLang="ko-KR" sz="1400" b="1" dirty="0">
                <a:solidFill>
                  <a:srgbClr val="FF0000"/>
                </a:solidFill>
              </a:rPr>
              <a:t>custom CLI tool</a:t>
            </a:r>
            <a:r>
              <a:rPr lang="en-US" altLang="ko-KR" sz="1400" dirty="0"/>
              <a:t>. This will allow you to </a:t>
            </a:r>
            <a:r>
              <a:rPr lang="en-US" altLang="ko-KR" sz="1400" b="1" dirty="0"/>
              <a:t>add dedicated commands for manipulating those objects</a:t>
            </a:r>
            <a:r>
              <a:rPr lang="en-US" altLang="ko-KR" sz="1400" dirty="0"/>
              <a:t>, similar to how </a:t>
            </a:r>
            <a:r>
              <a:rPr lang="en-US" altLang="ko-KR" sz="1400" dirty="0" err="1"/>
              <a:t>kubectl</a:t>
            </a:r>
            <a:r>
              <a:rPr lang="en-US" altLang="ko-KR" sz="1400" dirty="0"/>
              <a:t> allows creating Secrets, Deployments, and other resources through resource-specific commands like “</a:t>
            </a:r>
            <a:r>
              <a:rPr lang="en-US" altLang="ko-KR" sz="1400" dirty="0" err="1"/>
              <a:t>kubectl</a:t>
            </a:r>
            <a:r>
              <a:rPr lang="en-US" altLang="ko-KR" sz="1400" dirty="0"/>
              <a:t> create secret” or “</a:t>
            </a:r>
            <a:r>
              <a:rPr lang="en-US" altLang="ko-KR" sz="1400" dirty="0" err="1"/>
              <a:t>kubectl</a:t>
            </a:r>
            <a:r>
              <a:rPr lang="en-US" altLang="ko-KR" sz="1400" dirty="0"/>
              <a:t> create deployment”.</a:t>
            </a:r>
          </a:p>
          <a:p>
            <a:pPr lvl="1">
              <a:buFont typeface="Wingdings" panose="05000000000000000000" pitchFamily="2" charset="2"/>
              <a:buChar char="§"/>
            </a:pPr>
            <a:r>
              <a:rPr lang="en-US" altLang="ko-KR" sz="1400" b="1" dirty="0"/>
              <a:t>Custom API servers, API server aggregation, and other features related to extending Kubernetes are currently being worked on intensively</a:t>
            </a:r>
            <a:r>
              <a:rPr lang="en-US" altLang="ko-KR" sz="1400" dirty="0"/>
              <a:t>, so they may change in the future. </a:t>
            </a:r>
            <a:r>
              <a:rPr lang="en-US" altLang="ko-KR" sz="1400" b="1" dirty="0"/>
              <a:t>To get up-to-date information on the subject, refer to the Kubernetes GitHub repos at </a:t>
            </a:r>
            <a:r>
              <a:rPr lang="en-US" altLang="ko-KR" sz="1400" b="1" dirty="0">
                <a:hlinkClick r:id="rId2"/>
              </a:rPr>
              <a:t>http://github.com/kubernetes</a:t>
            </a:r>
            <a:r>
              <a:rPr lang="en-US" altLang="ko-KR" sz="1400" dirty="0"/>
              <a:t>.</a:t>
            </a:r>
          </a:p>
        </p:txBody>
      </p:sp>
      <p:sp>
        <p:nvSpPr>
          <p:cNvPr id="5" name="날짜 개체 틀 4">
            <a:extLst>
              <a:ext uri="{FF2B5EF4-FFF2-40B4-BE49-F238E27FC236}">
                <a16:creationId xmlns:a16="http://schemas.microsoft.com/office/drawing/2014/main" id="{EE3A48FD-18A4-77B4-267C-A812D0F13A2F}"/>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79E26BF1-21EA-3259-CF6A-395164412B01}"/>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B2433A1B-1E70-BABE-E65E-94E05589533D}"/>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BD383EE-3A22-5594-3AD2-558FC5E454ED}"/>
              </a:ext>
            </a:extLst>
          </p:cNvPr>
          <p:cNvPicPr>
            <a:picLocks noChangeAspect="1"/>
          </p:cNvPicPr>
          <p:nvPr/>
        </p:nvPicPr>
        <p:blipFill>
          <a:blip r:embed="rId3"/>
          <a:stretch>
            <a:fillRect/>
          </a:stretch>
        </p:blipFill>
        <p:spPr>
          <a:xfrm>
            <a:off x="2909777" y="2824529"/>
            <a:ext cx="6372446" cy="3584501"/>
          </a:xfrm>
          <a:prstGeom prst="rect">
            <a:avLst/>
          </a:prstGeom>
        </p:spPr>
      </p:pic>
    </p:spTree>
    <p:extLst>
      <p:ext uri="{BB962C8B-B14F-4D97-AF65-F5344CB8AC3E}">
        <p14:creationId xmlns:p14="http://schemas.microsoft.com/office/powerpoint/2010/main" val="3745106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9E212-2A76-3C48-CBA5-DC9C72F88A8D}"/>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E946B0A-2C72-0888-2798-1E7F2300780E}"/>
              </a:ext>
            </a:extLst>
          </p:cNvPr>
          <p:cNvSpPr>
            <a:spLocks noGrp="1"/>
          </p:cNvSpPr>
          <p:nvPr>
            <p:ph type="title"/>
          </p:nvPr>
        </p:nvSpPr>
        <p:spPr>
          <a:xfrm>
            <a:off x="838200" y="297455"/>
            <a:ext cx="10515600" cy="383582"/>
          </a:xfrm>
        </p:spPr>
        <p:txBody>
          <a:bodyPr>
            <a:normAutofit fontScale="90000"/>
          </a:bodyPr>
          <a:lstStyle/>
          <a:p>
            <a:r>
              <a:rPr lang="en-US" altLang="ko-KR" sz="2800" b="1" dirty="0"/>
              <a:t>Extending Kubernetes with the Kubernetes Service Catalog(1/)</a:t>
            </a:r>
            <a:endParaRPr lang="ko-KR" altLang="en-US" sz="2800" b="1" dirty="0"/>
          </a:p>
        </p:txBody>
      </p:sp>
      <p:sp>
        <p:nvSpPr>
          <p:cNvPr id="3" name="내용 개체 틀 2">
            <a:extLst>
              <a:ext uri="{FF2B5EF4-FFF2-40B4-BE49-F238E27FC236}">
                <a16:creationId xmlns:a16="http://schemas.microsoft.com/office/drawing/2014/main" id="{86CE1124-120A-A3AD-2D26-64806D54CAD5}"/>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a:t>
            </a:r>
            <a:r>
              <a:rPr lang="ko-KR" altLang="en-US" sz="1800" b="1" dirty="0"/>
              <a:t> </a:t>
            </a:r>
            <a:r>
              <a:rPr lang="en-US" altLang="ko-KR" sz="1800" b="1" dirty="0"/>
              <a:t>Catalog</a:t>
            </a:r>
            <a:r>
              <a:rPr lang="ko-KR" altLang="en-US" sz="1800" b="1" dirty="0"/>
              <a:t> </a:t>
            </a:r>
            <a:r>
              <a:rPr lang="en-US" altLang="ko-KR" sz="1800" b="1" dirty="0"/>
              <a:t>:</a:t>
            </a:r>
            <a:endParaRPr lang="en-US" altLang="ko-KR" sz="1400" dirty="0"/>
          </a:p>
          <a:p>
            <a:pPr lvl="1">
              <a:buFont typeface="Wingdings" panose="05000000000000000000" pitchFamily="2" charset="2"/>
              <a:buChar char="§"/>
            </a:pPr>
            <a:r>
              <a:rPr lang="en-US" altLang="ko-KR" sz="1400" dirty="0"/>
              <a:t>One of the first additional API servers that will be added to Kubernetes through API server aggregation is </a:t>
            </a:r>
            <a:r>
              <a:rPr lang="en-US" altLang="ko-KR" sz="1400" b="1" dirty="0"/>
              <a:t>the </a:t>
            </a:r>
            <a:r>
              <a:rPr lang="en-US" altLang="ko-KR" sz="1400" b="1" dirty="0">
                <a:solidFill>
                  <a:srgbClr val="FF0000"/>
                </a:solidFill>
              </a:rPr>
              <a:t>Service Catalog </a:t>
            </a:r>
            <a:r>
              <a:rPr lang="en-US" altLang="ko-KR" sz="1400" b="1" dirty="0"/>
              <a:t>API server</a:t>
            </a:r>
            <a:r>
              <a:rPr lang="en-US" altLang="ko-KR" sz="1400" dirty="0"/>
              <a:t>.</a:t>
            </a:r>
          </a:p>
          <a:p>
            <a:pPr lvl="1">
              <a:buFont typeface="Wingdings" panose="05000000000000000000" pitchFamily="2" charset="2"/>
              <a:buChar char="§"/>
            </a:pPr>
            <a:r>
              <a:rPr lang="en-US" altLang="ko-KR" sz="1400" b="1" dirty="0"/>
              <a:t>Currently, for a pod to consume a service, someone needs to deploy the pods providing the service, a Service resource, and possibly a Secret so the client pod can use it to authenticate with the service</a:t>
            </a:r>
            <a:r>
              <a:rPr lang="en-US" altLang="ko-KR" sz="1400" dirty="0"/>
              <a:t>. That someone is usually the same user deploying the client pod or, if a team is dedicated to deploying these types of general services, the user needs to file a ticket and wait for the team to provision the service. This means the </a:t>
            </a:r>
            <a:r>
              <a:rPr lang="en-US" altLang="ko-KR" sz="1400" b="1" dirty="0"/>
              <a:t>user needs to either create the manifests for all the components of the service, know where to find an existing set of manifests, know how to configure it properly, and deploy it manually, or wait for the other team to do it</a:t>
            </a:r>
            <a:r>
              <a:rPr lang="en-US" altLang="ko-KR" sz="1400" dirty="0"/>
              <a:t>. </a:t>
            </a:r>
          </a:p>
          <a:p>
            <a:pPr lvl="1">
              <a:buFont typeface="Wingdings" panose="05000000000000000000" pitchFamily="2" charset="2"/>
              <a:buChar char="§"/>
            </a:pPr>
            <a:r>
              <a:rPr lang="en-US" altLang="ko-KR" sz="1400" dirty="0"/>
              <a:t>Kubernetes is supposed to be an easy-to-use, self-service system. Ideally, users whose apps require a certain service (for example, a web application requiring a backend database), should be able to say to Kubernetes. “Hey, I need a PostgreSQL database. Please provision one and tell me where and how I can connect to it.” This will soon be possible through </a:t>
            </a:r>
            <a:r>
              <a:rPr lang="en-US" altLang="ko-KR" sz="1400" b="1" dirty="0">
                <a:solidFill>
                  <a:srgbClr val="FF0000"/>
                </a:solidFill>
              </a:rPr>
              <a:t>the Kubernetes Service Catalog</a:t>
            </a:r>
            <a:r>
              <a:rPr lang="en-US" altLang="ko-KR" sz="1400" dirty="0"/>
              <a:t>.</a:t>
            </a:r>
          </a:p>
        </p:txBody>
      </p:sp>
      <p:sp>
        <p:nvSpPr>
          <p:cNvPr id="5" name="날짜 개체 틀 4">
            <a:extLst>
              <a:ext uri="{FF2B5EF4-FFF2-40B4-BE49-F238E27FC236}">
                <a16:creationId xmlns:a16="http://schemas.microsoft.com/office/drawing/2014/main" id="{56141C67-2A8D-8889-36D9-3CA9B14287F0}"/>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38555D8F-C6AA-C106-8AAC-0AE4450E78B2}"/>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DF99EF73-DD97-C874-5497-517BA31FC5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72359FE9-C33F-D696-65D2-73BAF2ED2D14}"/>
              </a:ext>
            </a:extLst>
          </p:cNvPr>
          <p:cNvPicPr>
            <a:picLocks noChangeAspect="1"/>
          </p:cNvPicPr>
          <p:nvPr/>
        </p:nvPicPr>
        <p:blipFill>
          <a:blip r:embed="rId2"/>
          <a:stretch>
            <a:fillRect/>
          </a:stretch>
        </p:blipFill>
        <p:spPr>
          <a:xfrm>
            <a:off x="3866153" y="3784191"/>
            <a:ext cx="4459694" cy="2428546"/>
          </a:xfrm>
          <a:prstGeom prst="rect">
            <a:avLst/>
          </a:prstGeom>
        </p:spPr>
      </p:pic>
    </p:spTree>
    <p:extLst>
      <p:ext uri="{BB962C8B-B14F-4D97-AF65-F5344CB8AC3E}">
        <p14:creationId xmlns:p14="http://schemas.microsoft.com/office/powerpoint/2010/main" val="4049653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D8863-A0B5-6C51-5D6E-2626F4DA8F5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D79EAAB-6CD3-5090-29AC-F7C62AC6FDDD}"/>
              </a:ext>
            </a:extLst>
          </p:cNvPr>
          <p:cNvSpPr>
            <a:spLocks noGrp="1"/>
          </p:cNvSpPr>
          <p:nvPr>
            <p:ph type="title"/>
          </p:nvPr>
        </p:nvSpPr>
        <p:spPr>
          <a:xfrm>
            <a:off x="838200" y="297455"/>
            <a:ext cx="10515600" cy="383582"/>
          </a:xfrm>
        </p:spPr>
        <p:txBody>
          <a:bodyPr>
            <a:normAutofit fontScale="90000"/>
          </a:bodyPr>
          <a:lstStyle/>
          <a:p>
            <a:r>
              <a:rPr lang="en-US" altLang="ko-KR" sz="2800" b="1" dirty="0"/>
              <a:t>Extending Kubernetes with the Kubernetes Service Catalog(2/)</a:t>
            </a:r>
            <a:endParaRPr lang="ko-KR" altLang="en-US" sz="2800" b="1" dirty="0"/>
          </a:p>
        </p:txBody>
      </p:sp>
      <p:sp>
        <p:nvSpPr>
          <p:cNvPr id="3" name="내용 개체 틀 2">
            <a:extLst>
              <a:ext uri="{FF2B5EF4-FFF2-40B4-BE49-F238E27FC236}">
                <a16:creationId xmlns:a16="http://schemas.microsoft.com/office/drawing/2014/main" id="{C7E1CF4D-2A1B-F9A6-C42B-039DD6FEE818}"/>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Service Catalog :</a:t>
            </a:r>
            <a:endParaRPr lang="en-US" altLang="ko-KR" sz="1400" dirty="0"/>
          </a:p>
          <a:p>
            <a:pPr lvl="1">
              <a:buFont typeface="Wingdings" panose="05000000000000000000" pitchFamily="2" charset="2"/>
              <a:buChar char="§"/>
            </a:pPr>
            <a:r>
              <a:rPr lang="en-US" altLang="ko-KR" sz="1400" b="1" dirty="0"/>
              <a:t>The Service Catalog is </a:t>
            </a:r>
            <a:r>
              <a:rPr lang="en-US" altLang="ko-KR" sz="1400" b="1" dirty="0">
                <a:solidFill>
                  <a:srgbClr val="FF0000"/>
                </a:solidFill>
              </a:rPr>
              <a:t>a catalog of services</a:t>
            </a:r>
            <a:r>
              <a:rPr lang="en-US" altLang="ko-KR" sz="1400" dirty="0"/>
              <a:t>. </a:t>
            </a:r>
            <a:r>
              <a:rPr lang="en-US" altLang="ko-KR" sz="1400" b="1" dirty="0"/>
              <a:t>Users can browse through the catalog and provision instances of the services listed in the catalog by themselves </a:t>
            </a:r>
            <a:r>
              <a:rPr lang="en-US" altLang="ko-KR" sz="1400" dirty="0"/>
              <a:t>without having to deal with Pods, Services, </a:t>
            </a:r>
            <a:r>
              <a:rPr lang="en-US" altLang="ko-KR" sz="1400" dirty="0" err="1"/>
              <a:t>ConfigMaps</a:t>
            </a:r>
            <a:r>
              <a:rPr lang="en-US" altLang="ko-KR" sz="1400" dirty="0"/>
              <a:t>, and other resources required for the service to run.</a:t>
            </a:r>
          </a:p>
          <a:p>
            <a:pPr lvl="1">
              <a:buFont typeface="Wingdings" panose="05000000000000000000" pitchFamily="2" charset="2"/>
              <a:buChar char="§"/>
            </a:pPr>
            <a:r>
              <a:rPr lang="en-US" altLang="ko-KR" sz="1400" dirty="0"/>
              <a:t>Instead of adding custom resources to the API server for each type of service, the Service Catalog introduces the following four generic API resources :</a:t>
            </a:r>
          </a:p>
          <a:p>
            <a:pPr lvl="2">
              <a:buFont typeface="Wingdings" panose="05000000000000000000" pitchFamily="2" charset="2"/>
              <a:buChar char="§"/>
            </a:pPr>
            <a:r>
              <a:rPr lang="en-US" altLang="ko-KR" sz="1400" dirty="0"/>
              <a:t>A </a:t>
            </a:r>
            <a:r>
              <a:rPr lang="en-US" altLang="ko-KR" sz="1400" b="1" dirty="0" err="1"/>
              <a:t>ClusterServiceBroker</a:t>
            </a:r>
            <a:r>
              <a:rPr lang="en-US" altLang="ko-KR" sz="1400" dirty="0"/>
              <a:t>, which describes an (external) system that can provision services</a:t>
            </a:r>
          </a:p>
          <a:p>
            <a:pPr lvl="2">
              <a:buFont typeface="Wingdings" panose="05000000000000000000" pitchFamily="2" charset="2"/>
              <a:buChar char="§"/>
            </a:pPr>
            <a:r>
              <a:rPr lang="en-US" altLang="ko-KR" sz="1400" dirty="0"/>
              <a:t>A </a:t>
            </a:r>
            <a:r>
              <a:rPr lang="en-US" altLang="ko-KR" sz="1400" b="1" dirty="0" err="1"/>
              <a:t>ClusterServiceClass</a:t>
            </a:r>
            <a:r>
              <a:rPr lang="en-US" altLang="ko-KR" sz="1400" dirty="0"/>
              <a:t>, which describes a type of service that can be provisioned</a:t>
            </a:r>
          </a:p>
          <a:p>
            <a:pPr lvl="2">
              <a:buFont typeface="Wingdings" panose="05000000000000000000" pitchFamily="2" charset="2"/>
              <a:buChar char="§"/>
            </a:pPr>
            <a:r>
              <a:rPr lang="en-US" altLang="ko-KR" sz="1400" dirty="0"/>
              <a:t>A </a:t>
            </a:r>
            <a:r>
              <a:rPr lang="en-US" altLang="ko-KR" sz="1400" b="1" dirty="0" err="1"/>
              <a:t>ServiceInstance</a:t>
            </a:r>
            <a:r>
              <a:rPr lang="en-US" altLang="ko-KR" sz="1400" dirty="0"/>
              <a:t>, which is one instance of a service that has been provisioned</a:t>
            </a:r>
          </a:p>
          <a:p>
            <a:pPr lvl="2">
              <a:buFont typeface="Wingdings" panose="05000000000000000000" pitchFamily="2" charset="2"/>
              <a:buChar char="§"/>
            </a:pPr>
            <a:r>
              <a:rPr lang="en-US" altLang="ko-KR" sz="1400" dirty="0"/>
              <a:t>A </a:t>
            </a:r>
            <a:r>
              <a:rPr lang="en-US" altLang="ko-KR" sz="1400" b="1" dirty="0" err="1"/>
              <a:t>ServiceBinding</a:t>
            </a:r>
            <a:r>
              <a:rPr lang="en-US" altLang="ko-KR" sz="1400" dirty="0"/>
              <a:t>, which represents a binding between a set of clients (pods) and a </a:t>
            </a:r>
            <a:r>
              <a:rPr lang="en-US" altLang="ko-KR" sz="1400" b="1" dirty="0" err="1"/>
              <a:t>ServiceInstance</a:t>
            </a:r>
            <a:endParaRPr lang="en-US" altLang="ko-KR" sz="1400" b="1" dirty="0"/>
          </a:p>
        </p:txBody>
      </p:sp>
      <p:sp>
        <p:nvSpPr>
          <p:cNvPr id="5" name="날짜 개체 틀 4">
            <a:extLst>
              <a:ext uri="{FF2B5EF4-FFF2-40B4-BE49-F238E27FC236}">
                <a16:creationId xmlns:a16="http://schemas.microsoft.com/office/drawing/2014/main" id="{98986D4D-50C9-E31A-B929-2E5D7DCEBA78}"/>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87187444-472A-2379-5A96-96B9F46C19FD}"/>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D735FF7E-B98F-B824-5128-C5A906F63F3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0" name="그림 9">
            <a:extLst>
              <a:ext uri="{FF2B5EF4-FFF2-40B4-BE49-F238E27FC236}">
                <a16:creationId xmlns:a16="http://schemas.microsoft.com/office/drawing/2014/main" id="{3FF0985B-28F6-6178-DE45-0B503BD30CFD}"/>
              </a:ext>
            </a:extLst>
          </p:cNvPr>
          <p:cNvPicPr>
            <a:picLocks noChangeAspect="1"/>
          </p:cNvPicPr>
          <p:nvPr/>
        </p:nvPicPr>
        <p:blipFill>
          <a:blip r:embed="rId2"/>
          <a:stretch>
            <a:fillRect/>
          </a:stretch>
        </p:blipFill>
        <p:spPr>
          <a:xfrm>
            <a:off x="1817614" y="3591718"/>
            <a:ext cx="8556771" cy="973123"/>
          </a:xfrm>
          <a:prstGeom prst="rect">
            <a:avLst/>
          </a:prstGeom>
        </p:spPr>
      </p:pic>
    </p:spTree>
    <p:extLst>
      <p:ext uri="{BB962C8B-B14F-4D97-AF65-F5344CB8AC3E}">
        <p14:creationId xmlns:p14="http://schemas.microsoft.com/office/powerpoint/2010/main" val="30162342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8536-A566-FAC2-9AFD-9F315A5DC0A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158211E-C8B9-722B-CBA1-A8F6FAEADCE2}"/>
              </a:ext>
            </a:extLst>
          </p:cNvPr>
          <p:cNvSpPr>
            <a:spLocks noGrp="1"/>
          </p:cNvSpPr>
          <p:nvPr>
            <p:ph type="title"/>
          </p:nvPr>
        </p:nvSpPr>
        <p:spPr>
          <a:xfrm>
            <a:off x="838200" y="297455"/>
            <a:ext cx="10515600" cy="383582"/>
          </a:xfrm>
        </p:spPr>
        <p:txBody>
          <a:bodyPr>
            <a:normAutofit fontScale="90000"/>
          </a:bodyPr>
          <a:lstStyle/>
          <a:p>
            <a:r>
              <a:rPr lang="en-US" altLang="ko-KR" sz="2800" b="1" dirty="0"/>
              <a:t>Extending Kubernetes with the Kubernetes Service Catalog(3/)</a:t>
            </a:r>
            <a:endParaRPr lang="ko-KR" altLang="en-US" sz="2800" b="1" dirty="0"/>
          </a:p>
        </p:txBody>
      </p:sp>
      <p:sp>
        <p:nvSpPr>
          <p:cNvPr id="3" name="내용 개체 틀 2">
            <a:extLst>
              <a:ext uri="{FF2B5EF4-FFF2-40B4-BE49-F238E27FC236}">
                <a16:creationId xmlns:a16="http://schemas.microsoft.com/office/drawing/2014/main" id="{78F52F27-B5EC-9B3F-82F5-E4E98CFB4AE1}"/>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Service Catalog :</a:t>
            </a:r>
            <a:endParaRPr lang="en-US" altLang="ko-KR" sz="1400" dirty="0"/>
          </a:p>
          <a:p>
            <a:pPr lvl="1">
              <a:buFont typeface="Wingdings" panose="05000000000000000000" pitchFamily="2" charset="2"/>
              <a:buChar char="§"/>
            </a:pPr>
            <a:r>
              <a:rPr lang="en-US" altLang="ko-KR" sz="1400" dirty="0"/>
              <a:t>A cluster admin creates a </a:t>
            </a:r>
            <a:r>
              <a:rPr lang="en-US" altLang="ko-KR" sz="1400" b="1" dirty="0" err="1"/>
              <a:t>ClusterServiceBroker</a:t>
            </a:r>
            <a:r>
              <a:rPr lang="en-US" altLang="ko-KR" sz="1400" dirty="0"/>
              <a:t> resource for each service broker whose services they’d like to make available in the cluster. </a:t>
            </a:r>
            <a:r>
              <a:rPr lang="en-US" altLang="ko-KR" sz="1400" b="1" dirty="0"/>
              <a:t>Kubernetes then asks the broker for a list of services that it can provide and creates a </a:t>
            </a:r>
            <a:r>
              <a:rPr lang="en-US" altLang="ko-KR" sz="1400" b="1" dirty="0" err="1"/>
              <a:t>ClusterServiceClass</a:t>
            </a:r>
            <a:r>
              <a:rPr lang="en-US" altLang="ko-KR" sz="1400" b="1" dirty="0"/>
              <a:t> resource for each of them</a:t>
            </a:r>
            <a:r>
              <a:rPr lang="en-US" altLang="ko-KR" sz="1400" dirty="0"/>
              <a:t>. When a user requires a service to be provisioned, they create an </a:t>
            </a:r>
            <a:r>
              <a:rPr lang="en-US" altLang="ko-KR" sz="1400" b="1" dirty="0" err="1"/>
              <a:t>ServiceInstance</a:t>
            </a:r>
            <a:r>
              <a:rPr lang="en-US" altLang="ko-KR" sz="1400" dirty="0"/>
              <a:t> resource and the  a </a:t>
            </a:r>
            <a:r>
              <a:rPr lang="en-US" altLang="ko-KR" sz="1400" b="1" dirty="0" err="1"/>
              <a:t>ServiceBinding</a:t>
            </a:r>
            <a:r>
              <a:rPr lang="en-US" altLang="ko-KR" sz="1400" dirty="0"/>
              <a:t> to bind that </a:t>
            </a:r>
            <a:r>
              <a:rPr lang="en-US" altLang="ko-KR" sz="1400" b="1" dirty="0" err="1"/>
              <a:t>ServiceInstance</a:t>
            </a:r>
            <a:r>
              <a:rPr lang="en-US" altLang="ko-KR" sz="1400" dirty="0"/>
              <a:t> to their pods. </a:t>
            </a:r>
            <a:r>
              <a:rPr lang="en-US" altLang="ko-KR" sz="1400" b="1" dirty="0"/>
              <a:t>Those pods are then injected with a Secret that holds all the necessary credentials and other data required to connect to the provisioned </a:t>
            </a:r>
            <a:r>
              <a:rPr lang="en-US" altLang="ko-KR" sz="1400" b="1" dirty="0" err="1"/>
              <a:t>ServiceInstance</a:t>
            </a:r>
            <a:r>
              <a:rPr lang="en-US" altLang="ko-KR" sz="1400" dirty="0"/>
              <a:t>.</a:t>
            </a:r>
          </a:p>
        </p:txBody>
      </p:sp>
      <p:sp>
        <p:nvSpPr>
          <p:cNvPr id="5" name="날짜 개체 틀 4">
            <a:extLst>
              <a:ext uri="{FF2B5EF4-FFF2-40B4-BE49-F238E27FC236}">
                <a16:creationId xmlns:a16="http://schemas.microsoft.com/office/drawing/2014/main" id="{85B28597-977E-4876-37A7-E55CB69445D4}"/>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F329298-A9EE-97E3-A2E4-B07BE816FD03}"/>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3B6DBFD1-2E4E-4F6A-3106-9D3C98C7EE06}"/>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1A3B2CA-0024-6253-14E3-58CC213D4D7F}"/>
              </a:ext>
            </a:extLst>
          </p:cNvPr>
          <p:cNvPicPr>
            <a:picLocks noChangeAspect="1"/>
          </p:cNvPicPr>
          <p:nvPr/>
        </p:nvPicPr>
        <p:blipFill>
          <a:blip r:embed="rId2"/>
          <a:stretch>
            <a:fillRect/>
          </a:stretch>
        </p:blipFill>
        <p:spPr>
          <a:xfrm>
            <a:off x="2295746" y="2351132"/>
            <a:ext cx="7600507" cy="4057898"/>
          </a:xfrm>
          <a:prstGeom prst="rect">
            <a:avLst/>
          </a:prstGeom>
        </p:spPr>
      </p:pic>
    </p:spTree>
    <p:extLst>
      <p:ext uri="{BB962C8B-B14F-4D97-AF65-F5344CB8AC3E}">
        <p14:creationId xmlns:p14="http://schemas.microsoft.com/office/powerpoint/2010/main" val="2913911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D6B11-0DFF-E34C-0AF5-CBCE530A997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C6AEBC7-EEE0-61D8-AB38-728AC73C78B7}"/>
              </a:ext>
            </a:extLst>
          </p:cNvPr>
          <p:cNvSpPr>
            <a:spLocks noGrp="1"/>
          </p:cNvSpPr>
          <p:nvPr>
            <p:ph type="title"/>
          </p:nvPr>
        </p:nvSpPr>
        <p:spPr>
          <a:xfrm>
            <a:off x="838200" y="297455"/>
            <a:ext cx="10515600" cy="383582"/>
          </a:xfrm>
        </p:spPr>
        <p:txBody>
          <a:bodyPr>
            <a:normAutofit fontScale="90000"/>
          </a:bodyPr>
          <a:lstStyle/>
          <a:p>
            <a:r>
              <a:rPr lang="en-US" altLang="ko-KR" sz="2800" b="1" dirty="0"/>
              <a:t>Extending Kubernetes with the Kubernetes Service Catalog(4/)</a:t>
            </a:r>
            <a:endParaRPr lang="ko-KR" altLang="en-US" sz="2800" b="1" dirty="0"/>
          </a:p>
        </p:txBody>
      </p:sp>
      <p:sp>
        <p:nvSpPr>
          <p:cNvPr id="3" name="내용 개체 틀 2">
            <a:extLst>
              <a:ext uri="{FF2B5EF4-FFF2-40B4-BE49-F238E27FC236}">
                <a16:creationId xmlns:a16="http://schemas.microsoft.com/office/drawing/2014/main" id="{E11BAB95-AF8A-1C9F-32D0-5848F0F44ABE}"/>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Service Catalog API server and Controller Manager :</a:t>
            </a:r>
            <a:endParaRPr lang="en-US" altLang="ko-KR" sz="1400" dirty="0"/>
          </a:p>
          <a:p>
            <a:pPr lvl="1">
              <a:buFont typeface="Wingdings" panose="05000000000000000000" pitchFamily="2" charset="2"/>
              <a:buChar char="§"/>
            </a:pPr>
            <a:r>
              <a:rPr lang="en-US" altLang="ko-KR" sz="1400" b="1" dirty="0"/>
              <a:t>Similar to core Kubernetes, the </a:t>
            </a:r>
            <a:r>
              <a:rPr lang="en-US" altLang="ko-KR" sz="1400" b="1" dirty="0">
                <a:solidFill>
                  <a:srgbClr val="FF0000"/>
                </a:solidFill>
              </a:rPr>
              <a:t>Service Catalog </a:t>
            </a:r>
            <a:r>
              <a:rPr lang="en-US" altLang="ko-KR" sz="1400" b="1" dirty="0"/>
              <a:t>is a distributed system</a:t>
            </a:r>
            <a:r>
              <a:rPr lang="en-US" altLang="ko-KR" sz="1400" dirty="0"/>
              <a:t> composed of three components:</a:t>
            </a:r>
          </a:p>
          <a:p>
            <a:pPr lvl="2">
              <a:buFont typeface="Wingdings" panose="05000000000000000000" pitchFamily="2" charset="2"/>
              <a:buChar char="§"/>
            </a:pPr>
            <a:r>
              <a:rPr lang="en-US" altLang="ko-KR" sz="1400" b="1" dirty="0">
                <a:solidFill>
                  <a:srgbClr val="FF0000"/>
                </a:solidFill>
              </a:rPr>
              <a:t>Service Catalog API Server</a:t>
            </a:r>
          </a:p>
          <a:p>
            <a:pPr lvl="2">
              <a:buFont typeface="Wingdings" panose="05000000000000000000" pitchFamily="2" charset="2"/>
              <a:buChar char="§"/>
            </a:pPr>
            <a:r>
              <a:rPr lang="en-US" altLang="ko-KR" sz="1400" b="1" dirty="0" err="1">
                <a:solidFill>
                  <a:srgbClr val="FF0000"/>
                </a:solidFill>
              </a:rPr>
              <a:t>etcd</a:t>
            </a:r>
            <a:r>
              <a:rPr lang="en-US" altLang="ko-KR" sz="1400" dirty="0"/>
              <a:t> as the storage</a:t>
            </a:r>
          </a:p>
          <a:p>
            <a:pPr lvl="2">
              <a:buFont typeface="Wingdings" panose="05000000000000000000" pitchFamily="2" charset="2"/>
              <a:buChar char="§"/>
            </a:pPr>
            <a:r>
              <a:rPr lang="en-US" altLang="ko-KR" sz="1400" b="1" dirty="0">
                <a:solidFill>
                  <a:srgbClr val="FF0000"/>
                </a:solidFill>
              </a:rPr>
              <a:t>Controller Manager</a:t>
            </a:r>
            <a:r>
              <a:rPr lang="en-US" altLang="ko-KR" sz="1400" dirty="0"/>
              <a:t>, where all the controllers run</a:t>
            </a:r>
          </a:p>
          <a:p>
            <a:pPr lvl="1">
              <a:buFont typeface="Wingdings" panose="05000000000000000000" pitchFamily="2" charset="2"/>
              <a:buChar char="§"/>
            </a:pPr>
            <a:r>
              <a:rPr lang="en-US" altLang="ko-KR" sz="1400" dirty="0"/>
              <a:t>The four </a:t>
            </a:r>
            <a:r>
              <a:rPr lang="en-US" altLang="ko-KR" sz="1400" b="1" dirty="0"/>
              <a:t>Service Catalog–related resources </a:t>
            </a:r>
            <a:r>
              <a:rPr lang="en-US" altLang="ko-KR" sz="1400" dirty="0"/>
              <a:t>we introduced earlier are created by posting YAML/JSON manifests to the API server. </a:t>
            </a:r>
            <a:r>
              <a:rPr lang="en-US" altLang="ko-KR" sz="1400" b="1" dirty="0"/>
              <a:t>It then stores them into its own </a:t>
            </a:r>
            <a:r>
              <a:rPr lang="en-US" altLang="ko-KR" sz="1400" b="1" dirty="0" err="1"/>
              <a:t>etcd</a:t>
            </a:r>
            <a:r>
              <a:rPr lang="en-US" altLang="ko-KR" sz="1400" b="1" dirty="0"/>
              <a:t> instance or uses </a:t>
            </a:r>
            <a:r>
              <a:rPr lang="en-US" altLang="ko-KR" sz="1400" b="1" dirty="0" err="1">
                <a:solidFill>
                  <a:srgbClr val="FF0000"/>
                </a:solidFill>
              </a:rPr>
              <a:t>CustomResourceDefinitions</a:t>
            </a:r>
            <a:r>
              <a:rPr lang="en-US" altLang="ko-KR" sz="1400" dirty="0"/>
              <a:t> </a:t>
            </a:r>
            <a:r>
              <a:rPr lang="en-US" altLang="ko-KR" sz="1400" b="1" dirty="0"/>
              <a:t>in the main API server as an alternative storage mechanism </a:t>
            </a:r>
            <a:r>
              <a:rPr lang="en-US" altLang="ko-KR" sz="1400" dirty="0"/>
              <a:t>(in that case, </a:t>
            </a:r>
            <a:r>
              <a:rPr lang="en-US" altLang="ko-KR" sz="1400" b="1" dirty="0"/>
              <a:t>no additiona</a:t>
            </a:r>
            <a:r>
              <a:rPr lang="en-US" altLang="ko-KR" sz="1400" dirty="0"/>
              <a:t>l </a:t>
            </a:r>
            <a:r>
              <a:rPr lang="en-US" altLang="ko-KR" sz="1400" b="1" dirty="0" err="1"/>
              <a:t>etcd</a:t>
            </a:r>
            <a:r>
              <a:rPr lang="en-US" altLang="ko-KR" sz="1400" dirty="0"/>
              <a:t> instance is required).</a:t>
            </a:r>
          </a:p>
          <a:p>
            <a:pPr lvl="1">
              <a:buFont typeface="Wingdings" panose="05000000000000000000" pitchFamily="2" charset="2"/>
              <a:buChar char="§"/>
            </a:pPr>
            <a:r>
              <a:rPr lang="en-US" altLang="ko-KR" sz="1400" b="1" dirty="0"/>
              <a:t>The controllers running in the Controller Manager are the ones doing something with those resources</a:t>
            </a:r>
            <a:r>
              <a:rPr lang="en-US" altLang="ko-KR" sz="1400" dirty="0"/>
              <a:t>. </a:t>
            </a:r>
            <a:r>
              <a:rPr lang="en-US" altLang="ko-KR" sz="1400" b="1" dirty="0"/>
              <a:t>They obviously talk to the </a:t>
            </a:r>
            <a:r>
              <a:rPr lang="en-US" altLang="ko-KR" sz="1400" b="1" dirty="0">
                <a:solidFill>
                  <a:srgbClr val="FF0000"/>
                </a:solidFill>
              </a:rPr>
              <a:t>Service Catalog API server</a:t>
            </a:r>
            <a:r>
              <a:rPr lang="en-US" altLang="ko-KR" sz="1400" b="1" dirty="0"/>
              <a:t>, the way other core Kubernetes controllers talk to the core API server</a:t>
            </a:r>
            <a:r>
              <a:rPr lang="en-US" altLang="ko-KR" sz="1400" dirty="0"/>
              <a:t>. </a:t>
            </a:r>
            <a:r>
              <a:rPr lang="en-US" altLang="ko-KR" sz="1400" b="1" dirty="0"/>
              <a:t>Those controllers don’t provision the requested services themselves. They leave that up to external service brokers, which are registered by creating </a:t>
            </a:r>
            <a:r>
              <a:rPr lang="en-US" altLang="ko-KR" sz="1400" b="1" dirty="0" err="1">
                <a:solidFill>
                  <a:srgbClr val="FF0000"/>
                </a:solidFill>
              </a:rPr>
              <a:t>ServiceBroker</a:t>
            </a:r>
            <a:r>
              <a:rPr lang="en-US" altLang="ko-KR" sz="1400" b="1" dirty="0">
                <a:solidFill>
                  <a:srgbClr val="FF0000"/>
                </a:solidFill>
              </a:rPr>
              <a:t> </a:t>
            </a:r>
            <a:r>
              <a:rPr lang="en-US" altLang="ko-KR" sz="1400" b="1" dirty="0"/>
              <a:t>resources in the Service Catalog API.</a:t>
            </a:r>
          </a:p>
        </p:txBody>
      </p:sp>
      <p:sp>
        <p:nvSpPr>
          <p:cNvPr id="5" name="날짜 개체 틀 4">
            <a:extLst>
              <a:ext uri="{FF2B5EF4-FFF2-40B4-BE49-F238E27FC236}">
                <a16:creationId xmlns:a16="http://schemas.microsoft.com/office/drawing/2014/main" id="{D78583A2-C08F-1B7B-C653-409BEC85AFA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F330BD46-B583-D105-DFE7-E8E2F3F1BB5A}"/>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3757AF57-5635-0AFF-94D3-B7A3FB351C80}"/>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602CB8E-255C-157F-0B8D-37CD72E24B4A}"/>
              </a:ext>
            </a:extLst>
          </p:cNvPr>
          <p:cNvPicPr>
            <a:picLocks noChangeAspect="1"/>
          </p:cNvPicPr>
          <p:nvPr/>
        </p:nvPicPr>
        <p:blipFill>
          <a:blip r:embed="rId2"/>
          <a:stretch>
            <a:fillRect/>
          </a:stretch>
        </p:blipFill>
        <p:spPr>
          <a:xfrm>
            <a:off x="3581400" y="3640363"/>
            <a:ext cx="5027317" cy="2768667"/>
          </a:xfrm>
          <a:prstGeom prst="rect">
            <a:avLst/>
          </a:prstGeom>
        </p:spPr>
      </p:pic>
      <p:sp>
        <p:nvSpPr>
          <p:cNvPr id="9" name="타원 8">
            <a:extLst>
              <a:ext uri="{FF2B5EF4-FFF2-40B4-BE49-F238E27FC236}">
                <a16:creationId xmlns:a16="http://schemas.microsoft.com/office/drawing/2014/main" id="{EB40BDE5-D3A0-C4B4-F840-9D38B7F4B3FB}"/>
              </a:ext>
            </a:extLst>
          </p:cNvPr>
          <p:cNvSpPr/>
          <p:nvPr/>
        </p:nvSpPr>
        <p:spPr>
          <a:xfrm>
            <a:off x="5833732" y="4260112"/>
            <a:ext cx="375684"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707004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22D4A-5CE4-9246-A5C6-1B3E26E1654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5A0D02D-1B15-B27C-B2DA-BEBA3D4A7107}"/>
              </a:ext>
            </a:extLst>
          </p:cNvPr>
          <p:cNvSpPr>
            <a:spLocks noGrp="1"/>
          </p:cNvSpPr>
          <p:nvPr>
            <p:ph type="title"/>
          </p:nvPr>
        </p:nvSpPr>
        <p:spPr>
          <a:xfrm>
            <a:off x="838200" y="297455"/>
            <a:ext cx="10515600" cy="383582"/>
          </a:xfrm>
        </p:spPr>
        <p:txBody>
          <a:bodyPr>
            <a:normAutofit fontScale="90000"/>
          </a:bodyPr>
          <a:lstStyle/>
          <a:p>
            <a:r>
              <a:rPr lang="en-US" altLang="ko-KR" sz="2800" b="1" dirty="0"/>
              <a:t>Extending Kubernetes with the Kubernetes Service Catalog(5/)</a:t>
            </a:r>
            <a:endParaRPr lang="ko-KR" altLang="en-US" sz="2800" b="1" dirty="0"/>
          </a:p>
        </p:txBody>
      </p:sp>
      <p:sp>
        <p:nvSpPr>
          <p:cNvPr id="3" name="내용 개체 틀 2">
            <a:extLst>
              <a:ext uri="{FF2B5EF4-FFF2-40B4-BE49-F238E27FC236}">
                <a16:creationId xmlns:a16="http://schemas.microsoft.com/office/drawing/2014/main" id="{AEA3A6DF-C176-E386-5DFE-B2F55C0B7914}"/>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Service Brokers and the </a:t>
            </a:r>
            <a:r>
              <a:rPr lang="en-US" altLang="ko-KR" sz="1800" b="1" dirty="0" err="1"/>
              <a:t>OpenServiceBroker</a:t>
            </a:r>
            <a:r>
              <a:rPr lang="en-US" altLang="ko-KR" sz="1800" b="1" dirty="0"/>
              <a:t> API :</a:t>
            </a:r>
            <a:endParaRPr lang="en-US" altLang="ko-KR" sz="1400" dirty="0"/>
          </a:p>
          <a:p>
            <a:pPr lvl="1">
              <a:buFont typeface="Wingdings" panose="05000000000000000000" pitchFamily="2" charset="2"/>
              <a:buChar char="§"/>
            </a:pPr>
            <a:r>
              <a:rPr lang="en-US" altLang="ko-KR" sz="1400" b="1" dirty="0"/>
              <a:t>A cluster administrator can register one or more external “</a:t>
            </a:r>
            <a:r>
              <a:rPr lang="en-US" altLang="ko-KR" sz="1400" b="1" dirty="0" err="1">
                <a:solidFill>
                  <a:srgbClr val="FF0000"/>
                </a:solidFill>
              </a:rPr>
              <a:t>ServiceBrokers</a:t>
            </a:r>
            <a:r>
              <a:rPr lang="en-US" altLang="ko-KR" sz="1400" b="1" dirty="0"/>
              <a:t>” in the Service Catalog</a:t>
            </a:r>
            <a:r>
              <a:rPr lang="en-US" altLang="ko-KR" sz="1400" dirty="0"/>
              <a:t>. </a:t>
            </a:r>
            <a:r>
              <a:rPr lang="en-US" altLang="ko-KR" sz="1400" b="1" dirty="0"/>
              <a:t>Every broker must implement the “</a:t>
            </a:r>
            <a:r>
              <a:rPr lang="en-US" altLang="ko-KR" sz="1400" b="1" dirty="0" err="1">
                <a:solidFill>
                  <a:srgbClr val="FF0000"/>
                </a:solidFill>
              </a:rPr>
              <a:t>OpenServiceBroker</a:t>
            </a:r>
            <a:r>
              <a:rPr lang="en-US" altLang="ko-KR" sz="1400" b="1" dirty="0">
                <a:solidFill>
                  <a:srgbClr val="FF0000"/>
                </a:solidFill>
              </a:rPr>
              <a:t> API</a:t>
            </a:r>
            <a:r>
              <a:rPr lang="en-US" altLang="ko-KR" sz="1400" b="1" dirty="0"/>
              <a:t>”</a:t>
            </a:r>
            <a:r>
              <a:rPr lang="en-US" altLang="ko-KR" sz="1400" dirty="0"/>
              <a:t>.</a:t>
            </a:r>
          </a:p>
          <a:p>
            <a:pPr lvl="1">
              <a:buFont typeface="Wingdings" panose="05000000000000000000" pitchFamily="2" charset="2"/>
              <a:buChar char="§"/>
            </a:pPr>
            <a:r>
              <a:rPr lang="en-US" altLang="ko-KR" sz="1400" b="1" dirty="0"/>
              <a:t>The Service Catalog talks to the broker through that API</a:t>
            </a:r>
            <a:r>
              <a:rPr lang="en-US" altLang="ko-KR" sz="1400" dirty="0"/>
              <a:t>. The API’s a REST API providing the following operations :</a:t>
            </a:r>
          </a:p>
          <a:p>
            <a:pPr lvl="2">
              <a:buFont typeface="Wingdings" panose="05000000000000000000" pitchFamily="2" charset="2"/>
              <a:buChar char="§"/>
            </a:pPr>
            <a:r>
              <a:rPr lang="en-US" altLang="ko-KR" sz="1400" b="1" dirty="0"/>
              <a:t>Retrieving</a:t>
            </a:r>
            <a:r>
              <a:rPr lang="en-US" altLang="ko-KR" sz="1400" dirty="0"/>
              <a:t> </a:t>
            </a:r>
            <a:r>
              <a:rPr lang="en-US" altLang="ko-KR" sz="1400" b="1" dirty="0"/>
              <a:t>the list of services </a:t>
            </a:r>
            <a:r>
              <a:rPr lang="en-US" altLang="ko-KR" sz="1400" dirty="0"/>
              <a:t>with GET /v2/catalog</a:t>
            </a:r>
          </a:p>
          <a:p>
            <a:pPr lvl="2">
              <a:buFont typeface="Wingdings" panose="05000000000000000000" pitchFamily="2" charset="2"/>
              <a:buChar char="§"/>
            </a:pPr>
            <a:r>
              <a:rPr lang="en-US" altLang="ko-KR" sz="1400" b="1" dirty="0"/>
              <a:t>Provisioning a service instance </a:t>
            </a:r>
            <a:r>
              <a:rPr lang="en-US" altLang="ko-KR" sz="1400" dirty="0"/>
              <a:t>(PUT /v2/</a:t>
            </a:r>
            <a:r>
              <a:rPr lang="en-US" altLang="ko-KR" sz="1400" dirty="0" err="1"/>
              <a:t>service_instances</a:t>
            </a:r>
            <a:r>
              <a:rPr lang="en-US" altLang="ko-KR" sz="1400" dirty="0"/>
              <a:t>/:id)</a:t>
            </a:r>
          </a:p>
          <a:p>
            <a:pPr lvl="2">
              <a:buFont typeface="Wingdings" panose="05000000000000000000" pitchFamily="2" charset="2"/>
              <a:buChar char="§"/>
            </a:pPr>
            <a:r>
              <a:rPr lang="en-US" altLang="ko-KR" sz="1400" b="1" dirty="0"/>
              <a:t>Updating a service instance </a:t>
            </a:r>
            <a:r>
              <a:rPr lang="en-US" altLang="ko-KR" sz="1400" dirty="0"/>
              <a:t>(PATCH /v2/</a:t>
            </a:r>
            <a:r>
              <a:rPr lang="en-US" altLang="ko-KR" sz="1400" dirty="0" err="1"/>
              <a:t>service_instances</a:t>
            </a:r>
            <a:r>
              <a:rPr lang="en-US" altLang="ko-KR" sz="1400" dirty="0"/>
              <a:t>/:id)</a:t>
            </a:r>
          </a:p>
          <a:p>
            <a:pPr lvl="2">
              <a:buFont typeface="Wingdings" panose="05000000000000000000" pitchFamily="2" charset="2"/>
              <a:buChar char="§"/>
            </a:pPr>
            <a:r>
              <a:rPr lang="en-US" altLang="ko-KR" sz="1400" b="1" dirty="0"/>
              <a:t>Binding a service instance </a:t>
            </a:r>
            <a:r>
              <a:rPr lang="en-US" altLang="ko-KR" sz="1400" dirty="0"/>
              <a:t>(PUT /v2/</a:t>
            </a:r>
            <a:r>
              <a:rPr lang="en-US" altLang="ko-KR" sz="1400" dirty="0" err="1"/>
              <a:t>service_instances</a:t>
            </a:r>
            <a:r>
              <a:rPr lang="en-US" altLang="ko-KR" sz="1400" dirty="0"/>
              <a:t>/:id/</a:t>
            </a:r>
            <a:r>
              <a:rPr lang="en-US" altLang="ko-KR" sz="1400" dirty="0" err="1"/>
              <a:t>service_bindings</a:t>
            </a:r>
            <a:r>
              <a:rPr lang="en-US" altLang="ko-KR" sz="1400" dirty="0"/>
              <a:t>/:</a:t>
            </a:r>
            <a:r>
              <a:rPr lang="en-US" altLang="ko-KR" sz="1400" dirty="0" err="1"/>
              <a:t>binding_id</a:t>
            </a:r>
            <a:r>
              <a:rPr lang="en-US" altLang="ko-KR" sz="1400" dirty="0"/>
              <a:t>)</a:t>
            </a:r>
          </a:p>
          <a:p>
            <a:pPr lvl="2">
              <a:buFont typeface="Wingdings" panose="05000000000000000000" pitchFamily="2" charset="2"/>
              <a:buChar char="§"/>
            </a:pPr>
            <a:r>
              <a:rPr lang="en-US" altLang="ko-KR" sz="1400" b="1" dirty="0"/>
              <a:t>Unbinding an instance </a:t>
            </a:r>
            <a:r>
              <a:rPr lang="en-US" altLang="ko-KR" sz="1400" dirty="0"/>
              <a:t>(DELETE /v2/</a:t>
            </a:r>
            <a:r>
              <a:rPr lang="en-US" altLang="ko-KR" sz="1400" dirty="0" err="1"/>
              <a:t>service_instances</a:t>
            </a:r>
            <a:r>
              <a:rPr lang="en-US" altLang="ko-KR" sz="1400" dirty="0"/>
              <a:t>/:id/</a:t>
            </a:r>
            <a:r>
              <a:rPr lang="en-US" altLang="ko-KR" sz="1400" dirty="0" err="1"/>
              <a:t>service_bindings</a:t>
            </a:r>
            <a:r>
              <a:rPr lang="en-US" altLang="ko-KR" sz="1400" dirty="0"/>
              <a:t>/:</a:t>
            </a:r>
            <a:r>
              <a:rPr lang="en-US" altLang="ko-KR" sz="1400" dirty="0" err="1"/>
              <a:t>binding_id</a:t>
            </a:r>
            <a:r>
              <a:rPr lang="en-US" altLang="ko-KR" sz="1400" dirty="0"/>
              <a:t>)</a:t>
            </a:r>
          </a:p>
          <a:p>
            <a:pPr lvl="2">
              <a:buFont typeface="Wingdings" panose="05000000000000000000" pitchFamily="2" charset="2"/>
              <a:buChar char="§"/>
            </a:pPr>
            <a:r>
              <a:rPr lang="en-US" altLang="ko-KR" sz="1400" b="1" dirty="0"/>
              <a:t>Deprovisioning a service instance </a:t>
            </a:r>
            <a:r>
              <a:rPr lang="en-US" altLang="ko-KR" sz="1400" dirty="0"/>
              <a:t>(DELETE /v2/</a:t>
            </a:r>
            <a:r>
              <a:rPr lang="en-US" altLang="ko-KR" sz="1400" dirty="0" err="1"/>
              <a:t>service_instances</a:t>
            </a:r>
            <a:r>
              <a:rPr lang="en-US" altLang="ko-KR" sz="1400" dirty="0"/>
              <a:t>/:id)</a:t>
            </a:r>
          </a:p>
          <a:p>
            <a:pPr lvl="1">
              <a:buFont typeface="Wingdings" panose="05000000000000000000" pitchFamily="2" charset="2"/>
              <a:buChar char="§"/>
            </a:pPr>
            <a:r>
              <a:rPr lang="en-US" altLang="ko-KR" sz="1400" b="1" dirty="0"/>
              <a:t>NOTE : You’ll find the </a:t>
            </a:r>
            <a:r>
              <a:rPr lang="en-US" altLang="ko-KR" sz="1400" b="1" dirty="0" err="1"/>
              <a:t>OpenServiceBroker</a:t>
            </a:r>
            <a:r>
              <a:rPr lang="en-US" altLang="ko-KR" sz="1400" b="1" dirty="0"/>
              <a:t> API spec at </a:t>
            </a:r>
            <a:r>
              <a:rPr lang="en-US" altLang="ko-KR" sz="1400" b="1" dirty="0">
                <a:hlinkClick r:id="rId2"/>
              </a:rPr>
              <a:t>https://github.com/cloudfoundry/servicebroker</a:t>
            </a:r>
            <a:r>
              <a:rPr lang="en-US" altLang="ko-KR" sz="1400" dirty="0"/>
              <a:t>.</a:t>
            </a:r>
          </a:p>
        </p:txBody>
      </p:sp>
      <p:sp>
        <p:nvSpPr>
          <p:cNvPr id="5" name="날짜 개체 틀 4">
            <a:extLst>
              <a:ext uri="{FF2B5EF4-FFF2-40B4-BE49-F238E27FC236}">
                <a16:creationId xmlns:a16="http://schemas.microsoft.com/office/drawing/2014/main" id="{0705AE4A-79DE-A097-39AE-68D0EDDA5CC6}"/>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9F0CE86F-7F16-760A-DBAC-5C3600A6D0E5}"/>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00B12A06-CBDC-0C91-1B5F-96F64EEF1E59}"/>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F2505FE-BBE6-0CF6-AC1D-897075AF50D6}"/>
              </a:ext>
            </a:extLst>
          </p:cNvPr>
          <p:cNvPicPr>
            <a:picLocks noChangeAspect="1"/>
          </p:cNvPicPr>
          <p:nvPr/>
        </p:nvPicPr>
        <p:blipFill>
          <a:blip r:embed="rId3"/>
          <a:stretch>
            <a:fillRect/>
          </a:stretch>
        </p:blipFill>
        <p:spPr>
          <a:xfrm>
            <a:off x="2871428" y="3659569"/>
            <a:ext cx="6449144" cy="2749461"/>
          </a:xfrm>
          <a:prstGeom prst="rect">
            <a:avLst/>
          </a:prstGeom>
        </p:spPr>
      </p:pic>
    </p:spTree>
    <p:extLst>
      <p:ext uri="{BB962C8B-B14F-4D97-AF65-F5344CB8AC3E}">
        <p14:creationId xmlns:p14="http://schemas.microsoft.com/office/powerpoint/2010/main" val="41052888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7C73-C162-A848-5817-F021207C639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B1C3F07-84AF-BE9A-547B-AAA3B966F159}"/>
              </a:ext>
            </a:extLst>
          </p:cNvPr>
          <p:cNvSpPr>
            <a:spLocks noGrp="1"/>
          </p:cNvSpPr>
          <p:nvPr>
            <p:ph type="title"/>
          </p:nvPr>
        </p:nvSpPr>
        <p:spPr>
          <a:xfrm>
            <a:off x="838200" y="297455"/>
            <a:ext cx="10515600" cy="383582"/>
          </a:xfrm>
        </p:spPr>
        <p:txBody>
          <a:bodyPr>
            <a:normAutofit fontScale="90000"/>
          </a:bodyPr>
          <a:lstStyle/>
          <a:p>
            <a:r>
              <a:rPr lang="en-US" altLang="ko-KR" sz="2800" b="1" dirty="0"/>
              <a:t>Extending Kubernetes with the Kubernetes Service Catalog(6/)</a:t>
            </a:r>
            <a:endParaRPr lang="ko-KR" altLang="en-US" sz="2800" b="1" dirty="0"/>
          </a:p>
        </p:txBody>
      </p:sp>
      <p:sp>
        <p:nvSpPr>
          <p:cNvPr id="3" name="내용 개체 틀 2">
            <a:extLst>
              <a:ext uri="{FF2B5EF4-FFF2-40B4-BE49-F238E27FC236}">
                <a16:creationId xmlns:a16="http://schemas.microsoft.com/office/drawing/2014/main" id="{2EFC9517-221A-C69B-BE9F-762DA1FD3068}"/>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Service Brokers and the </a:t>
            </a:r>
            <a:r>
              <a:rPr lang="en-US" altLang="ko-KR" sz="1800" b="1" dirty="0" err="1"/>
              <a:t>OpenServiceBroker</a:t>
            </a:r>
            <a:r>
              <a:rPr lang="en-US" altLang="ko-KR" sz="1800" b="1" dirty="0"/>
              <a:t> API :</a:t>
            </a:r>
            <a:endParaRPr lang="en-US" altLang="ko-KR" sz="1400" dirty="0"/>
          </a:p>
          <a:p>
            <a:pPr lvl="1">
              <a:buFont typeface="Wingdings" panose="05000000000000000000" pitchFamily="2" charset="2"/>
              <a:buChar char="§"/>
            </a:pPr>
            <a:r>
              <a:rPr lang="en-US" altLang="ko-KR" sz="1400" b="1" dirty="0"/>
              <a:t>The cluster administrator registers a broker by </a:t>
            </a:r>
            <a:r>
              <a:rPr lang="en-US" altLang="ko-KR" sz="1400" b="1" dirty="0">
                <a:solidFill>
                  <a:srgbClr val="FF0000"/>
                </a:solidFill>
              </a:rPr>
              <a:t>posting a </a:t>
            </a:r>
            <a:r>
              <a:rPr lang="en-US" altLang="ko-KR" sz="1400" b="1" dirty="0" err="1">
                <a:solidFill>
                  <a:srgbClr val="FF0000"/>
                </a:solidFill>
              </a:rPr>
              <a:t>ServiceBroker</a:t>
            </a:r>
            <a:r>
              <a:rPr lang="en-US" altLang="ko-KR" sz="1400" b="1" dirty="0">
                <a:solidFill>
                  <a:srgbClr val="FF0000"/>
                </a:solidFill>
              </a:rPr>
              <a:t> resource manifest to the “Service Catalog API”</a:t>
            </a:r>
            <a:r>
              <a:rPr lang="en-US" altLang="ko-KR" sz="1400" dirty="0"/>
              <a:t>, like the one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listing describes an imaginary broker that can provision databases of different types</a:t>
            </a:r>
            <a:r>
              <a:rPr lang="en-US" altLang="ko-KR" sz="1400" dirty="0"/>
              <a:t>. </a:t>
            </a:r>
            <a:r>
              <a:rPr lang="en-US" altLang="ko-KR" sz="1400" b="1" dirty="0"/>
              <a:t>After the administrator creates the “</a:t>
            </a:r>
            <a:r>
              <a:rPr lang="en-US" altLang="ko-KR" sz="1400" b="1" dirty="0" err="1">
                <a:solidFill>
                  <a:srgbClr val="FF0000"/>
                </a:solidFill>
              </a:rPr>
              <a:t>ClusterServiceBroker</a:t>
            </a:r>
            <a:r>
              <a:rPr lang="en-US" altLang="ko-KR" sz="1400" b="1" dirty="0"/>
              <a:t>“ resource, a controller in the “</a:t>
            </a:r>
            <a:r>
              <a:rPr lang="en-US" altLang="ko-KR" sz="1400" b="1" dirty="0">
                <a:solidFill>
                  <a:srgbClr val="FF0000"/>
                </a:solidFill>
              </a:rPr>
              <a:t>Service Catalog Controller Manager</a:t>
            </a:r>
            <a:r>
              <a:rPr lang="en-US" altLang="ko-KR" sz="1400" b="1" dirty="0"/>
              <a:t>” connects to the URL specified in the resource to retrieve the list of services this broker can provision</a:t>
            </a:r>
            <a:r>
              <a:rPr lang="en-US" altLang="ko-KR" sz="1400" dirty="0"/>
              <a:t>.</a:t>
            </a:r>
          </a:p>
          <a:p>
            <a:pPr lvl="1">
              <a:buFont typeface="Wingdings" panose="05000000000000000000" pitchFamily="2" charset="2"/>
              <a:buChar char="§"/>
            </a:pPr>
            <a:r>
              <a:rPr lang="en-US" altLang="ko-KR" sz="1400" b="1" dirty="0"/>
              <a:t>After the “Service Catalog” retrieves the list of services, it creates a “</a:t>
            </a:r>
            <a:r>
              <a:rPr lang="en-US" altLang="ko-KR" sz="1400" b="1" dirty="0" err="1">
                <a:solidFill>
                  <a:srgbClr val="FF0000"/>
                </a:solidFill>
              </a:rPr>
              <a:t>ClusterService</a:t>
            </a:r>
            <a:r>
              <a:rPr lang="en-US" altLang="ko-KR" sz="1400" b="1" dirty="0">
                <a:solidFill>
                  <a:srgbClr val="FF0000"/>
                </a:solidFill>
              </a:rPr>
              <a:t>-Class</a:t>
            </a:r>
            <a:r>
              <a:rPr lang="en-US" altLang="ko-KR" sz="1400" b="1" dirty="0"/>
              <a:t>” resource for each of them. Each “</a:t>
            </a:r>
            <a:r>
              <a:rPr lang="en-US" altLang="ko-KR" sz="1400" b="1" dirty="0" err="1">
                <a:solidFill>
                  <a:srgbClr val="FF0000"/>
                </a:solidFill>
              </a:rPr>
              <a:t>ClusterServiceClass</a:t>
            </a:r>
            <a:r>
              <a:rPr lang="en-US" altLang="ko-KR" sz="1400" b="1" dirty="0"/>
              <a:t>” resource describes a single type of service that can be provisioned</a:t>
            </a:r>
            <a:r>
              <a:rPr lang="en-US" altLang="ko-KR" sz="1400" dirty="0"/>
              <a:t> (an example of a </a:t>
            </a:r>
            <a:r>
              <a:rPr lang="en-US" altLang="ko-KR" sz="1400" b="1" dirty="0" err="1"/>
              <a:t>ClusterServiceClass</a:t>
            </a:r>
            <a:r>
              <a:rPr lang="en-US" altLang="ko-KR" sz="1400" dirty="0"/>
              <a:t> is “PostgreSQL database”). </a:t>
            </a:r>
            <a:r>
              <a:rPr lang="en-US" altLang="ko-KR" sz="1400" b="1" dirty="0"/>
              <a:t>Each </a:t>
            </a:r>
            <a:r>
              <a:rPr lang="en-US" altLang="ko-KR" sz="1400" b="1" dirty="0" err="1"/>
              <a:t>ClusterServiceClass</a:t>
            </a:r>
            <a:r>
              <a:rPr lang="en-US" altLang="ko-KR" sz="1400" b="1" dirty="0"/>
              <a:t> has one or more </a:t>
            </a:r>
            <a:r>
              <a:rPr lang="en-US" altLang="ko-KR" sz="1400" b="1" dirty="0">
                <a:solidFill>
                  <a:srgbClr val="FF0000"/>
                </a:solidFill>
              </a:rPr>
              <a:t>service plans</a:t>
            </a:r>
            <a:r>
              <a:rPr lang="en-US" altLang="ko-KR" sz="1400" b="1" dirty="0"/>
              <a:t> associated with it</a:t>
            </a:r>
            <a:r>
              <a:rPr lang="en-US" altLang="ko-KR" sz="1400" dirty="0"/>
              <a:t>. </a:t>
            </a:r>
            <a:r>
              <a:rPr lang="en-US" altLang="ko-KR" sz="1400" b="1" dirty="0"/>
              <a:t>These allow the user to choose the level of service they need </a:t>
            </a:r>
            <a:r>
              <a:rPr lang="en-US" altLang="ko-KR" sz="1400" dirty="0"/>
              <a:t>(for example, a database </a:t>
            </a:r>
            <a:r>
              <a:rPr lang="en-US" altLang="ko-KR" sz="1400" dirty="0" err="1"/>
              <a:t>ClusterServiceClass</a:t>
            </a:r>
            <a:r>
              <a:rPr lang="en-US" altLang="ko-KR" sz="1400" dirty="0"/>
              <a:t> could provide a “Free” plan, where the size of the database is limited and the underlying storage is a spinning disk, and a “Premium” plan, with unlimited size and SSD storage).</a:t>
            </a:r>
          </a:p>
        </p:txBody>
      </p:sp>
      <p:sp>
        <p:nvSpPr>
          <p:cNvPr id="5" name="날짜 개체 틀 4">
            <a:extLst>
              <a:ext uri="{FF2B5EF4-FFF2-40B4-BE49-F238E27FC236}">
                <a16:creationId xmlns:a16="http://schemas.microsoft.com/office/drawing/2014/main" id="{7B13077D-F3D3-EEF3-9806-165B3E41A301}"/>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8B4CBB25-EF40-8138-8DF7-796B7E58DF08}"/>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AAB9C884-3ED6-3B9D-9598-4EB29D6A4AB0}"/>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88FC6EC7-B75F-07D7-46FC-FFEE16623A3C}"/>
              </a:ext>
            </a:extLst>
          </p:cNvPr>
          <p:cNvGrpSpPr/>
          <p:nvPr/>
        </p:nvGrpSpPr>
        <p:grpSpPr>
          <a:xfrm>
            <a:off x="3048000" y="1894391"/>
            <a:ext cx="8305800" cy="1015663"/>
            <a:chOff x="3048000" y="1809330"/>
            <a:chExt cx="8305800" cy="1015663"/>
          </a:xfrm>
        </p:grpSpPr>
        <p:grpSp>
          <p:nvGrpSpPr>
            <p:cNvPr id="18" name="그룹 17">
              <a:extLst>
                <a:ext uri="{FF2B5EF4-FFF2-40B4-BE49-F238E27FC236}">
                  <a16:creationId xmlns:a16="http://schemas.microsoft.com/office/drawing/2014/main" id="{77E3F0A0-9F49-C9AD-4952-FAA61472C3E6}"/>
                </a:ext>
              </a:extLst>
            </p:cNvPr>
            <p:cNvGrpSpPr/>
            <p:nvPr/>
          </p:nvGrpSpPr>
          <p:grpSpPr>
            <a:xfrm>
              <a:off x="3048000" y="1809330"/>
              <a:ext cx="8305800" cy="1015663"/>
              <a:chOff x="3048000" y="1809330"/>
              <a:chExt cx="8305800" cy="1015663"/>
            </a:xfrm>
          </p:grpSpPr>
          <p:grpSp>
            <p:nvGrpSpPr>
              <p:cNvPr id="13" name="그룹 12">
                <a:extLst>
                  <a:ext uri="{FF2B5EF4-FFF2-40B4-BE49-F238E27FC236}">
                    <a16:creationId xmlns:a16="http://schemas.microsoft.com/office/drawing/2014/main" id="{567B3108-E680-51C4-3D74-EC6BAA77A728}"/>
                  </a:ext>
                </a:extLst>
              </p:cNvPr>
              <p:cNvGrpSpPr/>
              <p:nvPr/>
            </p:nvGrpSpPr>
            <p:grpSpPr>
              <a:xfrm>
                <a:off x="3048000" y="1809330"/>
                <a:ext cx="6096000" cy="1015663"/>
                <a:chOff x="3048000" y="1809330"/>
                <a:chExt cx="6096000" cy="1015663"/>
              </a:xfrm>
            </p:grpSpPr>
            <p:sp>
              <p:nvSpPr>
                <p:cNvPr id="10" name="TextBox 9">
                  <a:extLst>
                    <a:ext uri="{FF2B5EF4-FFF2-40B4-BE49-F238E27FC236}">
                      <a16:creationId xmlns:a16="http://schemas.microsoft.com/office/drawing/2014/main" id="{61B40AB2-C895-A8B9-EEF1-5E63ABDF90BC}"/>
                    </a:ext>
                  </a:extLst>
                </p:cNvPr>
                <p:cNvSpPr txBox="1"/>
                <p:nvPr/>
              </p:nvSpPr>
              <p:spPr>
                <a:xfrm>
                  <a:off x="3048000" y="1809330"/>
                  <a:ext cx="6096000" cy="1015663"/>
                </a:xfrm>
                <a:prstGeom prst="rect">
                  <a:avLst/>
                </a:prstGeom>
                <a:noFill/>
                <a:ln>
                  <a:solidFill>
                    <a:schemeClr val="tx1"/>
                  </a:solidFill>
                </a:ln>
              </p:spPr>
              <p:txBody>
                <a:bodyPr wrap="square">
                  <a:spAutoFit/>
                </a:bodyPr>
                <a:lstStyle/>
                <a:p>
                  <a:r>
                    <a:rPr lang="en-US" altLang="ko-KR" sz="1000" b="1" dirty="0" err="1"/>
                    <a:t>apiVersion</a:t>
                  </a:r>
                  <a:r>
                    <a:rPr lang="en-US" altLang="ko-KR" sz="1000" b="1" dirty="0"/>
                    <a:t>: servicecatalog.k8s.io/</a:t>
                  </a:r>
                  <a:r>
                    <a:rPr lang="en-US" altLang="ko-KR" sz="1000" b="1" dirty="0">
                      <a:solidFill>
                        <a:srgbClr val="FF0000"/>
                      </a:solidFill>
                    </a:rPr>
                    <a:t>v1beta1</a:t>
                  </a:r>
                </a:p>
                <a:p>
                  <a:r>
                    <a:rPr lang="en-US" altLang="ko-KR" sz="1000" b="1" dirty="0"/>
                    <a:t>kind: </a:t>
                  </a:r>
                  <a:r>
                    <a:rPr lang="en-US" altLang="ko-KR" sz="1000" b="1" dirty="0" err="1">
                      <a:solidFill>
                        <a:srgbClr val="FF0000"/>
                      </a:solidFill>
                    </a:rPr>
                    <a:t>ClusterServiceBroker</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database-broker</a:t>
                  </a:r>
                </a:p>
                <a:p>
                  <a:r>
                    <a:rPr lang="en-US" altLang="ko-KR" sz="1000" b="1" dirty="0"/>
                    <a:t>spec:</a:t>
                  </a:r>
                </a:p>
                <a:p>
                  <a:r>
                    <a:rPr lang="en-US" altLang="ko-KR" sz="1000" b="1" dirty="0"/>
                    <a:t>  url: </a:t>
                  </a:r>
                  <a:r>
                    <a:rPr lang="en-US" altLang="ko-KR" sz="1000" b="1" dirty="0">
                      <a:solidFill>
                        <a:srgbClr val="FF0000"/>
                      </a:solidFill>
                    </a:rPr>
                    <a:t>http://database-osbapi.myorganization.org</a:t>
                  </a:r>
                </a:p>
              </p:txBody>
            </p:sp>
            <p:sp>
              <p:nvSpPr>
                <p:cNvPr id="12" name="TextBox 11">
                  <a:extLst>
                    <a:ext uri="{FF2B5EF4-FFF2-40B4-BE49-F238E27FC236}">
                      <a16:creationId xmlns:a16="http://schemas.microsoft.com/office/drawing/2014/main" id="{0694C5F1-A038-0FB9-B049-27A36ED63238}"/>
                    </a:ext>
                  </a:extLst>
                </p:cNvPr>
                <p:cNvSpPr txBox="1"/>
                <p:nvPr/>
              </p:nvSpPr>
              <p:spPr>
                <a:xfrm>
                  <a:off x="7633650" y="1809330"/>
                  <a:ext cx="1510350" cy="246221"/>
                </a:xfrm>
                <a:prstGeom prst="rect">
                  <a:avLst/>
                </a:prstGeom>
                <a:noFill/>
              </p:spPr>
              <p:txBody>
                <a:bodyPr wrap="none" rtlCol="0">
                  <a:spAutoFit/>
                </a:bodyPr>
                <a:lstStyle/>
                <a:p>
                  <a:pPr algn="ctr"/>
                  <a:r>
                    <a:rPr lang="en-US" altLang="ko-KR" sz="1000" b="1" dirty="0"/>
                    <a:t>database-</a:t>
                  </a:r>
                  <a:r>
                    <a:rPr lang="en-US" altLang="ko-KR" sz="1000" b="1" dirty="0" err="1"/>
                    <a:t>broker.yaml</a:t>
                  </a:r>
                  <a:endParaRPr lang="ko-KR" altLang="en-US" sz="1000" b="1" dirty="0"/>
                </a:p>
              </p:txBody>
            </p:sp>
          </p:grpSp>
          <p:sp>
            <p:nvSpPr>
              <p:cNvPr id="15" name="TextBox 14">
                <a:extLst>
                  <a:ext uri="{FF2B5EF4-FFF2-40B4-BE49-F238E27FC236}">
                    <a16:creationId xmlns:a16="http://schemas.microsoft.com/office/drawing/2014/main" id="{6E727916-4078-8F5D-2A6D-0A5415A89656}"/>
                  </a:ext>
                </a:extLst>
              </p:cNvPr>
              <p:cNvSpPr txBox="1"/>
              <p:nvPr/>
            </p:nvSpPr>
            <p:spPr>
              <a:xfrm>
                <a:off x="9406270" y="2117107"/>
                <a:ext cx="1947530" cy="707886"/>
              </a:xfrm>
              <a:prstGeom prst="rect">
                <a:avLst/>
              </a:prstGeom>
              <a:noFill/>
            </p:spPr>
            <p:txBody>
              <a:bodyPr wrap="square">
                <a:spAutoFit/>
              </a:bodyPr>
              <a:lstStyle/>
              <a:p>
                <a:r>
                  <a:rPr lang="en-US" altLang="ko-KR" sz="1000" b="1" dirty="0"/>
                  <a:t>Where the Service Catalog</a:t>
                </a:r>
              </a:p>
              <a:p>
                <a:r>
                  <a:rPr lang="en-US" altLang="ko-KR" sz="1000" b="1" dirty="0"/>
                  <a:t>can contact the broker</a:t>
                </a:r>
              </a:p>
              <a:p>
                <a:r>
                  <a:rPr lang="en-US" altLang="ko-KR" sz="1000" b="1" dirty="0"/>
                  <a:t>(its </a:t>
                </a:r>
                <a:r>
                  <a:rPr lang="en-US" altLang="ko-KR" sz="1000" b="1" dirty="0" err="1"/>
                  <a:t>OpenServiceBroker</a:t>
                </a:r>
                <a:r>
                  <a:rPr lang="en-US" altLang="ko-KR" sz="1000" b="1" dirty="0"/>
                  <a:t> [OSB] API URL)</a:t>
                </a:r>
                <a:endParaRPr lang="ko-KR" altLang="en-US" sz="1000" b="1" dirty="0"/>
              </a:p>
            </p:txBody>
          </p:sp>
        </p:grpSp>
        <p:cxnSp>
          <p:nvCxnSpPr>
            <p:cNvPr id="17" name="직선 화살표 연결선 16">
              <a:extLst>
                <a:ext uri="{FF2B5EF4-FFF2-40B4-BE49-F238E27FC236}">
                  <a16:creationId xmlns:a16="http://schemas.microsoft.com/office/drawing/2014/main" id="{E14DFB43-48D1-EE2D-12C2-24AA7D9D0D8A}"/>
                </a:ext>
              </a:extLst>
            </p:cNvPr>
            <p:cNvCxnSpPr>
              <a:stCxn id="15" idx="1"/>
            </p:cNvCxnSpPr>
            <p:nvPr/>
          </p:nvCxnSpPr>
          <p:spPr>
            <a:xfrm flipH="1">
              <a:off x="6195237" y="2471050"/>
              <a:ext cx="3211033" cy="2225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74248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4A4FD-ACBD-D459-B617-64E6D087F01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9BDBAD6-241F-1280-9317-0D857EA33539}"/>
              </a:ext>
            </a:extLst>
          </p:cNvPr>
          <p:cNvSpPr>
            <a:spLocks noGrp="1"/>
          </p:cNvSpPr>
          <p:nvPr>
            <p:ph type="title"/>
          </p:nvPr>
        </p:nvSpPr>
        <p:spPr>
          <a:xfrm>
            <a:off x="838200" y="297455"/>
            <a:ext cx="10515600" cy="383582"/>
          </a:xfrm>
        </p:spPr>
        <p:txBody>
          <a:bodyPr>
            <a:normAutofit fontScale="90000"/>
          </a:bodyPr>
          <a:lstStyle/>
          <a:p>
            <a:r>
              <a:rPr lang="en-US" altLang="ko-KR" sz="2800" b="1" dirty="0"/>
              <a:t>Extending Kubernetes with the Kubernetes Service Catalog(7/)</a:t>
            </a:r>
            <a:endParaRPr lang="ko-KR" altLang="en-US" sz="2800" b="1" dirty="0"/>
          </a:p>
        </p:txBody>
      </p:sp>
      <p:sp>
        <p:nvSpPr>
          <p:cNvPr id="3" name="내용 개체 틀 2">
            <a:extLst>
              <a:ext uri="{FF2B5EF4-FFF2-40B4-BE49-F238E27FC236}">
                <a16:creationId xmlns:a16="http://schemas.microsoft.com/office/drawing/2014/main" id="{E1513EA9-2274-77C8-20D0-6C3C0529ADE1}"/>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Service Brokers and the </a:t>
            </a:r>
            <a:r>
              <a:rPr lang="en-US" altLang="ko-KR" sz="1800" b="1" dirty="0" err="1"/>
              <a:t>OpenServiceBroker</a:t>
            </a:r>
            <a:r>
              <a:rPr lang="en-US" altLang="ko-KR" sz="1800" b="1" dirty="0"/>
              <a:t> API :</a:t>
            </a:r>
            <a:endParaRPr lang="en-US" altLang="ko-KR" sz="1400" dirty="0"/>
          </a:p>
          <a:p>
            <a:pPr lvl="1">
              <a:buFont typeface="Wingdings" panose="05000000000000000000" pitchFamily="2" charset="2"/>
              <a:buChar char="§"/>
            </a:pPr>
            <a:r>
              <a:rPr lang="en-US" altLang="ko-KR" sz="1400" b="1" dirty="0"/>
              <a:t>Users of the Kubernetes cluster can retrieve a list of all services that can be provisioned in the cluster with “</a:t>
            </a:r>
            <a:r>
              <a:rPr lang="en-US" altLang="ko-KR" sz="1400" b="1" dirty="0" err="1"/>
              <a:t>kubectl</a:t>
            </a:r>
            <a:r>
              <a:rPr lang="en-US" altLang="ko-KR" sz="1400" b="1" dirty="0"/>
              <a:t> get </a:t>
            </a:r>
            <a:r>
              <a:rPr lang="en-US" altLang="ko-KR" sz="1400" b="1" dirty="0" err="1"/>
              <a:t>serviceclasses</a:t>
            </a:r>
            <a:r>
              <a:rPr lang="en-US" altLang="ko-KR" sz="1400" b="1" dirty="0"/>
              <a:t>”</a:t>
            </a:r>
            <a:r>
              <a:rPr lang="en-US" altLang="ko-KR" sz="1400" dirty="0"/>
              <a:t>, as shown in the following listing.</a:t>
            </a:r>
          </a:p>
        </p:txBody>
      </p:sp>
      <p:sp>
        <p:nvSpPr>
          <p:cNvPr id="5" name="날짜 개체 틀 4">
            <a:extLst>
              <a:ext uri="{FF2B5EF4-FFF2-40B4-BE49-F238E27FC236}">
                <a16:creationId xmlns:a16="http://schemas.microsoft.com/office/drawing/2014/main" id="{CB150F3E-368C-D193-49F3-204EBB051010}"/>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4274BBF3-74B1-8675-10CE-F392F1B165EF}"/>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9C4DAA44-15B4-19EE-EF56-BAE5E326F20D}"/>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3AC7432-D181-FEA2-A272-323E69F90377}"/>
              </a:ext>
            </a:extLst>
          </p:cNvPr>
          <p:cNvGrpSpPr/>
          <p:nvPr/>
        </p:nvGrpSpPr>
        <p:grpSpPr>
          <a:xfrm>
            <a:off x="3048000" y="1757549"/>
            <a:ext cx="6096000" cy="701644"/>
            <a:chOff x="3048000" y="1757549"/>
            <a:chExt cx="6096000" cy="701644"/>
          </a:xfrm>
        </p:grpSpPr>
        <p:sp>
          <p:nvSpPr>
            <p:cNvPr id="8" name="TextBox 7">
              <a:extLst>
                <a:ext uri="{FF2B5EF4-FFF2-40B4-BE49-F238E27FC236}">
                  <a16:creationId xmlns:a16="http://schemas.microsoft.com/office/drawing/2014/main" id="{04D6D95B-3EB5-6DD7-AC98-A4E8EE71D09B}"/>
                </a:ext>
              </a:extLst>
            </p:cNvPr>
            <p:cNvSpPr txBox="1"/>
            <p:nvPr/>
          </p:nvSpPr>
          <p:spPr>
            <a:xfrm>
              <a:off x="3048000" y="1757549"/>
              <a:ext cx="6096000" cy="400110"/>
            </a:xfrm>
            <a:prstGeom prst="rect">
              <a:avLst/>
            </a:prstGeom>
            <a:noFill/>
            <a:ln>
              <a:solidFill>
                <a:schemeClr val="tx1"/>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database-</a:t>
              </a:r>
              <a:r>
                <a:rPr lang="en-US" altLang="ko-KR" sz="1000" b="1" dirty="0" err="1">
                  <a:solidFill>
                    <a:srgbClr val="FF0000"/>
                  </a:solidFill>
                </a:rPr>
                <a:t>broker.yaml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a:t>
              </a:r>
              <a:r>
                <a:rPr lang="en-US" altLang="ko-KR" sz="1000" b="1" dirty="0" err="1"/>
                <a:t>clusterserviceclasses</a:t>
              </a:r>
              <a:endParaRPr lang="ko-KR" altLang="en-US" sz="1000" b="1" dirty="0"/>
            </a:p>
          </p:txBody>
        </p:sp>
        <p:sp>
          <p:nvSpPr>
            <p:cNvPr id="9" name="화살표: 아래쪽 8">
              <a:extLst>
                <a:ext uri="{FF2B5EF4-FFF2-40B4-BE49-F238E27FC236}">
                  <a16:creationId xmlns:a16="http://schemas.microsoft.com/office/drawing/2014/main" id="{FE67F3E9-0757-9766-8C2B-79DDE6B67E76}"/>
                </a:ext>
              </a:extLst>
            </p:cNvPr>
            <p:cNvSpPr/>
            <p:nvPr/>
          </p:nvSpPr>
          <p:spPr>
            <a:xfrm>
              <a:off x="5890437" y="2168570"/>
              <a:ext cx="411125" cy="29062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319886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3690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93465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539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4249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45098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681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0257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6921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02289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816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46780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1166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41104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726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05208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7288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3253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2085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97962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4045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&gt;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endParaRPr lang="en-US" altLang="ko-KR" sz="1400" dirty="0"/>
          </a:p>
          <a:p>
            <a:pPr lvl="1">
              <a:buFont typeface="Wingdings" panose="05000000000000000000" pitchFamily="2" charset="2"/>
              <a:buChar char="§"/>
            </a:pP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77141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sp>
        <p:nvSpPr>
          <p:cNvPr id="13" name="제목 1">
            <a:extLst>
              <a:ext uri="{FF2B5EF4-FFF2-40B4-BE49-F238E27FC236}">
                <a16:creationId xmlns:a16="http://schemas.microsoft.com/office/drawing/2014/main" id="{7D50D0B4-E4F0-46F2-684F-163211952A0F}"/>
              </a:ext>
            </a:extLst>
          </p:cNvPr>
          <p:cNvSpPr>
            <a:spLocks noGrp="1"/>
          </p:cNvSpPr>
          <p:nvPr>
            <p:ph type="title"/>
          </p:nvPr>
        </p:nvSpPr>
        <p:spPr>
          <a:xfrm>
            <a:off x="838200" y="297455"/>
            <a:ext cx="10515600" cy="383582"/>
          </a:xfrm>
        </p:spPr>
        <p:txBody>
          <a:bodyPr>
            <a:normAutofit fontScale="90000"/>
          </a:bodyPr>
          <a:lstStyle/>
          <a:p>
            <a:r>
              <a:rPr lang="en-US" altLang="ko-KR" sz="2800" b="1" dirty="0"/>
              <a:t>NOTE : Big Picture - The Kubernetes Cluster</a:t>
            </a:r>
            <a:endParaRPr lang="ko-KR" altLang="en-US" sz="2800" b="1" dirty="0"/>
          </a:p>
        </p:txBody>
      </p:sp>
      <p:cxnSp>
        <p:nvCxnSpPr>
          <p:cNvPr id="14" name="직선 연결선 13">
            <a:extLst>
              <a:ext uri="{FF2B5EF4-FFF2-40B4-BE49-F238E27FC236}">
                <a16:creationId xmlns:a16="http://schemas.microsoft.com/office/drawing/2014/main" id="{D375794C-7322-ED80-E7CF-67C5F5AD86FF}"/>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6" name="그림 15">
            <a:extLst>
              <a:ext uri="{FF2B5EF4-FFF2-40B4-BE49-F238E27FC236}">
                <a16:creationId xmlns:a16="http://schemas.microsoft.com/office/drawing/2014/main" id="{C32661DB-28EB-2A5F-70FD-2C5009C198D9}"/>
              </a:ext>
            </a:extLst>
          </p:cNvPr>
          <p:cNvPicPr>
            <a:picLocks noChangeAspect="1"/>
          </p:cNvPicPr>
          <p:nvPr/>
        </p:nvPicPr>
        <p:blipFill>
          <a:blip r:embed="rId2"/>
          <a:stretch>
            <a:fillRect/>
          </a:stretch>
        </p:blipFill>
        <p:spPr>
          <a:xfrm>
            <a:off x="838200" y="856434"/>
            <a:ext cx="10515600" cy="5145132"/>
          </a:xfrm>
          <a:prstGeom prst="rect">
            <a:avLst/>
          </a:prstGeom>
        </p:spPr>
      </p:pic>
    </p:spTree>
    <p:extLst>
      <p:ext uri="{BB962C8B-B14F-4D97-AF65-F5344CB8AC3E}">
        <p14:creationId xmlns:p14="http://schemas.microsoft.com/office/powerpoint/2010/main" val="1040337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Cheat Sheet</a:t>
            </a:r>
            <a:endParaRPr lang="ko-KR" altLang="en-US" sz="28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179C4D6-A6A7-AFD7-99CE-9233F81D8E3C}"/>
              </a:ext>
            </a:extLst>
          </p:cNvPr>
          <p:cNvPicPr>
            <a:picLocks noChangeAspect="1"/>
          </p:cNvPicPr>
          <p:nvPr/>
        </p:nvPicPr>
        <p:blipFill>
          <a:blip r:embed="rId2"/>
          <a:stretch>
            <a:fillRect/>
          </a:stretch>
        </p:blipFill>
        <p:spPr>
          <a:xfrm>
            <a:off x="1228144" y="880011"/>
            <a:ext cx="9735713" cy="5476339"/>
          </a:xfrm>
          <a:prstGeom prst="rect">
            <a:avLst/>
          </a:prstGeom>
        </p:spPr>
      </p:pic>
    </p:spTree>
    <p:extLst>
      <p:ext uri="{BB962C8B-B14F-4D97-AF65-F5344CB8AC3E}">
        <p14:creationId xmlns:p14="http://schemas.microsoft.com/office/powerpoint/2010/main" val="4863588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6E3B-49FE-E46D-3F13-8C8A9C45913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5435FC4-F016-218F-38AC-782E48004D8A}"/>
              </a:ext>
            </a:extLst>
          </p:cNvPr>
          <p:cNvSpPr>
            <a:spLocks noGrp="1"/>
          </p:cNvSpPr>
          <p:nvPr>
            <p:ph type="title"/>
          </p:nvPr>
        </p:nvSpPr>
        <p:spPr>
          <a:xfrm>
            <a:off x="838200" y="297455"/>
            <a:ext cx="10515600" cy="383582"/>
          </a:xfrm>
        </p:spPr>
        <p:txBody>
          <a:bodyPr>
            <a:normAutofit fontScale="90000"/>
          </a:bodyPr>
          <a:lstStyle/>
          <a:p>
            <a:r>
              <a:rPr lang="en-US" altLang="ko-KR" sz="2800" b="1" dirty="0"/>
              <a:t>NOTE : Kubernetes Architecture</a:t>
            </a:r>
            <a:endParaRPr lang="ko-KR" altLang="en-US" sz="2800" b="1" dirty="0"/>
          </a:p>
        </p:txBody>
      </p:sp>
      <p:sp>
        <p:nvSpPr>
          <p:cNvPr id="5" name="날짜 개체 틀 4">
            <a:extLst>
              <a:ext uri="{FF2B5EF4-FFF2-40B4-BE49-F238E27FC236}">
                <a16:creationId xmlns:a16="http://schemas.microsoft.com/office/drawing/2014/main" id="{E514080F-7FD3-9D4C-EC68-96B9F8942C02}"/>
              </a:ext>
            </a:extLst>
          </p:cNvPr>
          <p:cNvSpPr>
            <a:spLocks noGrp="1"/>
          </p:cNvSpPr>
          <p:nvPr>
            <p:ph type="dt" sz="half" idx="10"/>
          </p:nvPr>
        </p:nvSpPr>
        <p:spPr/>
        <p:txBody>
          <a:bodyPr/>
          <a:lstStyle/>
          <a:p>
            <a:fld id="{66109FA0-4D81-4D2F-8319-6AD0FB1D3087}"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94E1278F-F721-6A36-3B40-C420CCBC3FCC}"/>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9C6BF256-E7A9-2E00-53B5-85288E54E9ED}"/>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D98B9E6-5868-D1F1-6EAF-21D659A4E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330169" y="-558227"/>
            <a:ext cx="5531662" cy="8297492"/>
          </a:xfrm>
          <a:prstGeom prst="rect">
            <a:avLst/>
          </a:prstGeom>
        </p:spPr>
      </p:pic>
    </p:spTree>
    <p:extLst>
      <p:ext uri="{BB962C8B-B14F-4D97-AF65-F5344CB8AC3E}">
        <p14:creationId xmlns:p14="http://schemas.microsoft.com/office/powerpoint/2010/main" val="40596011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a:p>
            <a:pPr marL="0" indent="0">
              <a:buNone/>
            </a:pPr>
            <a:r>
              <a:rPr lang="en-US" altLang="ko-KR" sz="1400" b="1" dirty="0"/>
              <a:t>[3] </a:t>
            </a:r>
            <a:r>
              <a:rPr lang="en-US" altLang="ko-KR" sz="1400" b="1" dirty="0">
                <a:hlinkClick r:id="rId3"/>
              </a:rPr>
              <a:t>https://minikube.sigs.k8s.io/docs/</a:t>
            </a:r>
            <a:endParaRPr lang="en-US" altLang="ko-KR" sz="1400" b="1" dirty="0"/>
          </a:p>
          <a:p>
            <a:pPr marL="0" indent="0">
              <a:buNone/>
            </a:pPr>
            <a:r>
              <a:rPr lang="en-US" altLang="ko-KR" sz="1400" b="1" dirty="0"/>
              <a:t>[4] </a:t>
            </a:r>
            <a:r>
              <a:rPr lang="en-US" altLang="ko-KR" sz="1400" b="1" dirty="0">
                <a:hlinkClick r:id="rId4"/>
              </a:rPr>
              <a:t>https://kubernetes.io/docs/reference/kubectl/cheatsheet/</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5"/>
          <a:stretch>
            <a:fillRect/>
          </a:stretch>
        </p:blipFill>
        <p:spPr>
          <a:xfrm>
            <a:off x="4990542" y="3590159"/>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2026-08-26</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117344</TotalTime>
  <Words>5825</Words>
  <Application>Microsoft Office PowerPoint</Application>
  <PresentationFormat>와이드스크린</PresentationFormat>
  <Paragraphs>581</Paragraphs>
  <Slides>64</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64</vt:i4>
      </vt:variant>
    </vt:vector>
  </HeadingPairs>
  <TitlesOfParts>
    <vt:vector size="68" baseType="lpstr">
      <vt:lpstr>맑은 고딕</vt:lpstr>
      <vt:lpstr>Arial</vt:lpstr>
      <vt:lpstr>Wingdings</vt:lpstr>
      <vt:lpstr>Office 테마</vt:lpstr>
      <vt:lpstr>Kubernetes in Action</vt:lpstr>
      <vt:lpstr>Extending Kubernetes</vt:lpstr>
      <vt:lpstr>Defining Custom API Objects(1/28)</vt:lpstr>
      <vt:lpstr>Defining Custom API Objects(2/28)</vt:lpstr>
      <vt:lpstr>Defining Custom API Objects(3/28)</vt:lpstr>
      <vt:lpstr>Defining Custom API Objects(4/28)</vt:lpstr>
      <vt:lpstr>Defining Custom API Objects(5/28)</vt:lpstr>
      <vt:lpstr>Defining Custom API Objects(6/28)</vt:lpstr>
      <vt:lpstr>Defining Custom API Objects(7/28)</vt:lpstr>
      <vt:lpstr>Defining Custom API Objects(8/28)</vt:lpstr>
      <vt:lpstr>Defining Custom API Objects(9/28)</vt:lpstr>
      <vt:lpstr>Defining Custom API Objects(10/28)</vt:lpstr>
      <vt:lpstr>Defining Custom API Objects(11/28)</vt:lpstr>
      <vt:lpstr>Defining Custom API Objects(12/28)</vt:lpstr>
      <vt:lpstr>Defining Custom API Objects(13/28)</vt:lpstr>
      <vt:lpstr>Defining Custom API Objects(14/28)</vt:lpstr>
      <vt:lpstr>NOTE : The Docker Hub </vt:lpstr>
      <vt:lpstr>Defining Custom API Objects(15/28)</vt:lpstr>
      <vt:lpstr>Defining Custom API Objects(16/28)</vt:lpstr>
      <vt:lpstr>Defining Custom API Objects(17/28)</vt:lpstr>
      <vt:lpstr>Defining Custom API Objects(18/28)</vt:lpstr>
      <vt:lpstr>Defining Custom API Objects(19/28)</vt:lpstr>
      <vt:lpstr>Defining Custom API Objects(20/28)</vt:lpstr>
      <vt:lpstr>Defining Custom API Objects(21/28)</vt:lpstr>
      <vt:lpstr>Defining Custom API Objects(22/28)</vt:lpstr>
      <vt:lpstr>Defining Custom API Objects(23/28)</vt:lpstr>
      <vt:lpstr>Defining Custom API Objects(24/28)</vt:lpstr>
      <vt:lpstr>Defining Custom API Objects(25/28)</vt:lpstr>
      <vt:lpstr>Defining Custom API Objects(26/28)</vt:lpstr>
      <vt:lpstr>Defining Custom API Objects(27/28)</vt:lpstr>
      <vt:lpstr>Defining Custom API Objects(28/28)</vt:lpstr>
      <vt:lpstr>Extending Kubernetes with the Kubernetes Service Catalog(1/)</vt:lpstr>
      <vt:lpstr>Extending Kubernetes with the Kubernetes Service Catalog(2/)</vt:lpstr>
      <vt:lpstr>Extending Kubernetes with the Kubernetes Service Catalog(3/)</vt:lpstr>
      <vt:lpstr>Extending Kubernetes with the Kubernetes Service Catalog(4/)</vt:lpstr>
      <vt:lpstr>Extending Kubernetes with the Kubernetes Service Catalog(5/)</vt:lpstr>
      <vt:lpstr>Extending Kubernetes with the Kubernetes Service Catalog(6/)</vt:lpstr>
      <vt:lpstr>Extending Kubernetes with the Kubernetes Service Catalog(7/)</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&gt;</vt:lpstr>
      <vt:lpstr>NOTE : Big Picture - The Kubernetes Cluster</vt:lpstr>
      <vt:lpstr>NOTE : Kubernetes Cheat Sheet</vt:lpstr>
      <vt:lpstr>NOTE : Kubernetes Architecture</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7470</cp:revision>
  <dcterms:created xsi:type="dcterms:W3CDTF">2020-11-26T08:00:10Z</dcterms:created>
  <dcterms:modified xsi:type="dcterms:W3CDTF">2026-08-26T05:34:17Z</dcterms:modified>
</cp:coreProperties>
</file>