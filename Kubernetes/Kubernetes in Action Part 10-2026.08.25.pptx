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sldIdLst>
    <p:sldId id="256" r:id="rId2"/>
    <p:sldId id="776" r:id="rId3"/>
    <p:sldId id="1697" r:id="rId4"/>
    <p:sldId id="1797" r:id="rId5"/>
    <p:sldId id="1798" r:id="rId6"/>
    <p:sldId id="1799" r:id="rId7"/>
    <p:sldId id="1800" r:id="rId8"/>
    <p:sldId id="1801" r:id="rId9"/>
    <p:sldId id="1802" r:id="rId10"/>
    <p:sldId id="1803" r:id="rId11"/>
    <p:sldId id="1804" r:id="rId12"/>
    <p:sldId id="1805" r:id="rId13"/>
    <p:sldId id="1806" r:id="rId14"/>
    <p:sldId id="1807" r:id="rId15"/>
    <p:sldId id="1808" r:id="rId16"/>
    <p:sldId id="1809" r:id="rId17"/>
    <p:sldId id="1810" r:id="rId18"/>
    <p:sldId id="1811" r:id="rId19"/>
    <p:sldId id="1812" r:id="rId20"/>
    <p:sldId id="1813" r:id="rId21"/>
    <p:sldId id="1814" r:id="rId22"/>
    <p:sldId id="1815" r:id="rId23"/>
    <p:sldId id="1816" r:id="rId24"/>
    <p:sldId id="1817" r:id="rId25"/>
    <p:sldId id="1818" r:id="rId26"/>
    <p:sldId id="1846" r:id="rId27"/>
    <p:sldId id="1855" r:id="rId28"/>
    <p:sldId id="1856" r:id="rId29"/>
    <p:sldId id="1857" r:id="rId30"/>
    <p:sldId id="1858" r:id="rId31"/>
    <p:sldId id="1859" r:id="rId32"/>
    <p:sldId id="1822" r:id="rId33"/>
    <p:sldId id="1823" r:id="rId34"/>
    <p:sldId id="1824" r:id="rId35"/>
    <p:sldId id="1825" r:id="rId36"/>
    <p:sldId id="1826" r:id="rId37"/>
    <p:sldId id="1827" r:id="rId38"/>
    <p:sldId id="1828" r:id="rId39"/>
    <p:sldId id="1829" r:id="rId40"/>
    <p:sldId id="1830" r:id="rId41"/>
    <p:sldId id="1831" r:id="rId42"/>
    <p:sldId id="1832" r:id="rId43"/>
    <p:sldId id="1833" r:id="rId44"/>
    <p:sldId id="1743" r:id="rId45"/>
    <p:sldId id="1796" r:id="rId46"/>
    <p:sldId id="1854" r:id="rId47"/>
    <p:sldId id="281" r:id="rId48"/>
    <p:sldId id="259" r:id="rId49"/>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62" autoAdjust="0"/>
    <p:restoredTop sz="94660"/>
  </p:normalViewPr>
  <p:slideViewPr>
    <p:cSldViewPr snapToGrid="0">
      <p:cViewPr varScale="1">
        <p:scale>
          <a:sx n="135" d="100"/>
          <a:sy n="135" d="100"/>
        </p:scale>
        <p:origin x="150" y="41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2026-08-26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2026-08-26</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2026-08-26</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2026-08-26</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2026-08-26</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2026-08-26</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2026-08-26</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2026-08-26</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2026-08-26</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2026-08-26</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2026-08-26</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2026-08-26</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2026-08-26</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blog.naver.com/knix008" TargetMode="External"/><Relationship Id="rId2" Type="http://schemas.openxmlformats.org/officeDocument/2006/relationships/hyperlink" Target="mailto:suho.kwon@gmail.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kubernetes.io/docs/tasks/extend-kubernetes/custom-resources/custom-resource-definition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hyperlink" Target="http://github.com/kubernetes"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www.redhat.com/en/technologies/cloud-computing/openshift" TargetMode="External"/><Relationship Id="rId2" Type="http://schemas.openxmlformats.org/officeDocument/2006/relationships/hyperlink" Target="https://github.com/deis/workflow" TargetMode="Externa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manage.openshift.com/" TargetMode="External"/><Relationship Id="rId2" Type="http://schemas.openxmlformats.org/officeDocument/2006/relationships/hyperlink" Target="https://github.com/minishift/minishift" TargetMode="Externa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deis/workflow" TargetMode="External"/><Relationship Id="rId2" Type="http://schemas.openxmlformats.org/officeDocument/2006/relationships/hyperlink" Target="https://deis.com/workflow" TargetMode="Externa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github.com/kubernetes/charts" TargetMode="External"/><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minikube.sigs.k8s.io/docs/" TargetMode="External"/><Relationship Id="rId2" Type="http://schemas.openxmlformats.org/officeDocument/2006/relationships/hyperlink" Target="https://github.com/luksa/kubernetes-in-action" TargetMode="Externa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hyperlink" Target="https://kubernetes.io/docs/reference/kubectl/cheatsheet/" TargetMode="External"/></Relationships>
</file>

<file path=ppt/slides/_rels/slide4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b="1" dirty="0"/>
              <a:t>Kubernetes in Action</a:t>
            </a:r>
            <a:endParaRPr lang="ko-KR" altLang="en-US"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a:bodyPr>
          <a:lstStyle/>
          <a:p>
            <a:r>
              <a:rPr lang="en-US" altLang="ko-KR" b="1" dirty="0"/>
              <a:t>Part X</a:t>
            </a:r>
          </a:p>
          <a:p>
            <a:r>
              <a:rPr lang="en-US" altLang="ko-KR" sz="1600" b="1" dirty="0"/>
              <a:t>2023.04.04</a:t>
            </a:r>
          </a:p>
          <a:p>
            <a:r>
              <a:rPr lang="en-US" altLang="ko-KR" sz="1600" b="1" dirty="0"/>
              <a:t>Suho Kwon</a:t>
            </a:r>
          </a:p>
          <a:p>
            <a:r>
              <a:rPr lang="en-US" altLang="ko-KR" sz="1600" b="1" dirty="0"/>
              <a:t>(</a:t>
            </a:r>
            <a:r>
              <a:rPr lang="en-US" altLang="ko-KR" sz="1600" b="1" dirty="0">
                <a:hlinkClick r:id="rId2"/>
              </a:rPr>
              <a:t>suho.kwon@gmail.com</a:t>
            </a:r>
            <a:r>
              <a:rPr lang="en-US" altLang="ko-KR" sz="1600" b="1" dirty="0"/>
              <a:t>, </a:t>
            </a:r>
            <a:r>
              <a:rPr lang="en-US" altLang="ko-KR" sz="1600" b="1" dirty="0">
                <a:hlinkClick r:id="rId3"/>
              </a:rPr>
              <a:t>http://blog.naver.com/knix008</a:t>
            </a:r>
            <a:r>
              <a:rPr lang="en-US" altLang="ko-KR" sz="1600" b="1" dirty="0"/>
              <a:t>)</a:t>
            </a:r>
          </a:p>
          <a:p>
            <a:endParaRPr lang="ko-KR" altLang="en-US" sz="1600"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Extending Kubernetes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3" name="제목 1">
            <a:extLst>
              <a:ext uri="{FF2B5EF4-FFF2-40B4-BE49-F238E27FC236}">
                <a16:creationId xmlns:a16="http://schemas.microsoft.com/office/drawing/2014/main" id="{606EB878-34F2-3ABE-671D-3D1D3EE1AC3D}"/>
              </a:ext>
            </a:extLst>
          </p:cNvPr>
          <p:cNvSpPr txBox="1">
            <a:spLocks/>
          </p:cNvSpPr>
          <p:nvPr/>
        </p:nvSpPr>
        <p:spPr>
          <a:xfrm>
            <a:off x="1094829" y="3509963"/>
            <a:ext cx="10098593" cy="2387600"/>
          </a:xfrm>
          <a:prstGeom prst="rect">
            <a:avLst/>
          </a:prstGeom>
        </p:spPr>
        <p:txBody>
          <a:bodyPr vert="horz" lIns="91440" tIns="45720" rIns="91440" bIns="45720" rtlCol="0" anchor="t" anchorCtr="0">
            <a:norm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endParaRPr lang="ko-KR" altLang="en-US" sz="2800" b="1" dirty="0"/>
          </a:p>
        </p:txBody>
      </p: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 Custom Controller :</a:t>
            </a:r>
            <a:endParaRPr lang="en-US" altLang="ko-KR" sz="1400" dirty="0"/>
          </a:p>
          <a:p>
            <a:pPr lvl="1">
              <a:buFont typeface="Wingdings" panose="05000000000000000000" pitchFamily="2" charset="2"/>
              <a:buChar char="§"/>
            </a:pPr>
            <a:r>
              <a:rPr lang="en-US" altLang="ko-KR" sz="1400" dirty="0"/>
              <a:t>You’ve learned about </a:t>
            </a:r>
            <a:r>
              <a:rPr lang="en-US" altLang="ko-KR" sz="1400" b="1" dirty="0"/>
              <a:t>the </a:t>
            </a:r>
            <a:r>
              <a:rPr lang="en-US" altLang="ko-KR" sz="1400" b="1" dirty="0">
                <a:solidFill>
                  <a:srgbClr val="FF0000"/>
                </a:solidFill>
              </a:rPr>
              <a:t>API objects </a:t>
            </a:r>
            <a:r>
              <a:rPr lang="en-US" altLang="ko-KR" sz="1400" b="1" dirty="0"/>
              <a:t>that Kubernetes provides and how they’re used to build application systems</a:t>
            </a:r>
            <a:r>
              <a:rPr lang="en-US" altLang="ko-KR" sz="1400" dirty="0"/>
              <a:t>. Currently, Kubernetes users mostly use only these objects even though they represent </a:t>
            </a:r>
            <a:r>
              <a:rPr lang="en-US" altLang="ko-KR" sz="1400" b="1" dirty="0"/>
              <a:t>relatively low-level, generic concepts</a:t>
            </a:r>
            <a:r>
              <a:rPr lang="en-US" altLang="ko-KR" sz="1400" dirty="0"/>
              <a:t>.</a:t>
            </a:r>
          </a:p>
          <a:p>
            <a:pPr lvl="1">
              <a:buFont typeface="Wingdings" panose="05000000000000000000" pitchFamily="2" charset="2"/>
              <a:buChar char="§"/>
            </a:pPr>
            <a:r>
              <a:rPr lang="en-US" altLang="ko-KR" sz="1400" dirty="0"/>
              <a:t>As the Kubernetes ecosystem evolves, you’ll see more and more </a:t>
            </a:r>
            <a:r>
              <a:rPr lang="en-US" altLang="ko-KR" sz="1400" b="1" dirty="0"/>
              <a:t>high-level objects</a:t>
            </a:r>
            <a:r>
              <a:rPr lang="en-US" altLang="ko-KR" sz="1400" dirty="0"/>
              <a:t>, which will be much more specialized than the resources Kubernetes supports today. </a:t>
            </a:r>
            <a:r>
              <a:rPr lang="en-US" altLang="ko-KR" sz="1400" b="1" dirty="0"/>
              <a:t>Instead of dealing with Deployments, Services, </a:t>
            </a:r>
            <a:r>
              <a:rPr lang="en-US" altLang="ko-KR" sz="1400" b="1" dirty="0" err="1"/>
              <a:t>ConfigMaps</a:t>
            </a:r>
            <a:r>
              <a:rPr lang="en-US" altLang="ko-KR" sz="1400" b="1" dirty="0"/>
              <a:t>, and the like, </a:t>
            </a:r>
            <a:r>
              <a:rPr lang="en-US" altLang="ko-KR" sz="1400" b="1" dirty="0">
                <a:solidFill>
                  <a:srgbClr val="FF0000"/>
                </a:solidFill>
              </a:rPr>
              <a:t>you’ll create and manage objects that represent whole applications or software services</a:t>
            </a:r>
            <a:r>
              <a:rPr lang="en-US" altLang="ko-KR" sz="1400" dirty="0"/>
              <a:t>. </a:t>
            </a:r>
            <a:r>
              <a:rPr lang="en-US" altLang="ko-KR" sz="1400" b="1" dirty="0"/>
              <a:t>A custom controller will observe those high-level objects and create low-level objects based on them</a:t>
            </a:r>
            <a:r>
              <a:rPr lang="en-US" altLang="ko-KR" sz="1400" dirty="0"/>
              <a:t>. For example, to run a messaging broker inside a Kubernetes cluster, all you’ll need to do is create an instance of a “</a:t>
            </a:r>
            <a:r>
              <a:rPr lang="en-US" altLang="ko-KR" sz="1400" b="1" dirty="0"/>
              <a:t>Queue</a:t>
            </a:r>
            <a:r>
              <a:rPr lang="en-US" altLang="ko-KR" sz="1400" dirty="0"/>
              <a:t>” resource and </a:t>
            </a:r>
            <a:r>
              <a:rPr lang="en-US" altLang="ko-KR" sz="1400" b="1" dirty="0"/>
              <a:t>all the necessary Secrets, Deployments, and Services will be created by a custom Queue controller</a:t>
            </a:r>
            <a:r>
              <a:rPr lang="en-US" altLang="ko-KR" sz="1400" dirty="0"/>
              <a:t>. Kubernetes already provides ways of </a:t>
            </a:r>
            <a:r>
              <a:rPr lang="en-US" altLang="ko-KR" sz="1400" b="1" dirty="0"/>
              <a:t>adding custom resources </a:t>
            </a:r>
            <a:r>
              <a:rPr lang="en-US" altLang="ko-KR" sz="1400" dirty="0"/>
              <a:t>like this.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FC17ECF-CF71-E4E8-2F25-0E4570432D15}"/>
              </a:ext>
            </a:extLst>
          </p:cNvPr>
          <p:cNvPicPr>
            <a:picLocks noChangeAspect="1"/>
          </p:cNvPicPr>
          <p:nvPr/>
        </p:nvPicPr>
        <p:blipFill>
          <a:blip r:embed="rId2"/>
          <a:stretch>
            <a:fillRect/>
          </a:stretch>
        </p:blipFill>
        <p:spPr>
          <a:xfrm>
            <a:off x="3265832" y="3302418"/>
            <a:ext cx="5660336" cy="3007248"/>
          </a:xfrm>
          <a:prstGeom prst="rect">
            <a:avLst/>
          </a:prstGeom>
        </p:spPr>
      </p:pic>
    </p:spTree>
    <p:extLst>
      <p:ext uri="{BB962C8B-B14F-4D97-AF65-F5344CB8AC3E}">
        <p14:creationId xmlns:p14="http://schemas.microsoft.com/office/powerpoint/2010/main" val="4701284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a:t>
            </a:r>
            <a:r>
              <a:rPr lang="en-US" altLang="ko-KR" sz="1800" b="1" dirty="0" err="1"/>
              <a:t>CustomResourceDefinitions</a:t>
            </a:r>
            <a:r>
              <a:rPr lang="en-US" altLang="ko-KR" sz="1800" b="1" dirty="0"/>
              <a:t> :</a:t>
            </a:r>
            <a:endParaRPr lang="en-US" altLang="ko-KR" sz="1400" dirty="0"/>
          </a:p>
          <a:p>
            <a:pPr lvl="1">
              <a:buFont typeface="Wingdings" panose="05000000000000000000" pitchFamily="2" charset="2"/>
              <a:buChar char="§"/>
            </a:pPr>
            <a:r>
              <a:rPr lang="en-US" altLang="ko-KR" sz="1400" dirty="0"/>
              <a:t>To define a new resource type, all you need to do is </a:t>
            </a:r>
            <a:r>
              <a:rPr lang="en-US" altLang="ko-KR" sz="1400" b="1" dirty="0"/>
              <a:t>post a “</a:t>
            </a:r>
            <a:r>
              <a:rPr lang="en-US" altLang="ko-KR" sz="1400" b="1" dirty="0" err="1">
                <a:solidFill>
                  <a:srgbClr val="FF0000"/>
                </a:solidFill>
              </a:rPr>
              <a:t>CustomResourceDefinition</a:t>
            </a:r>
            <a:r>
              <a:rPr lang="en-US" altLang="ko-KR" sz="1400" b="1" dirty="0">
                <a:solidFill>
                  <a:srgbClr val="FF0000"/>
                </a:solidFill>
              </a:rPr>
              <a:t> object (CRD)</a:t>
            </a:r>
            <a:r>
              <a:rPr lang="en-US" altLang="ko-KR" sz="1400" b="1" dirty="0"/>
              <a:t>” to the Kubernetes API server</a:t>
            </a:r>
            <a:r>
              <a:rPr lang="en-US" altLang="ko-KR" sz="1400" dirty="0"/>
              <a:t>. </a:t>
            </a:r>
            <a:r>
              <a:rPr lang="en-US" altLang="ko-KR" sz="1400" b="1" dirty="0"/>
              <a:t>The “</a:t>
            </a:r>
            <a:r>
              <a:rPr lang="en-US" altLang="ko-KR" sz="1400" b="1" dirty="0" err="1"/>
              <a:t>CustomResourceDefinition</a:t>
            </a:r>
            <a:r>
              <a:rPr lang="en-US" altLang="ko-KR" sz="1400" b="1" dirty="0"/>
              <a:t>” object is </a:t>
            </a:r>
            <a:r>
              <a:rPr lang="en-US" altLang="ko-KR" sz="1400" b="1" dirty="0">
                <a:solidFill>
                  <a:srgbClr val="FF0000"/>
                </a:solidFill>
              </a:rPr>
              <a:t>the description of the custom resource type</a:t>
            </a:r>
            <a:r>
              <a:rPr lang="en-US" altLang="ko-KR" sz="1400" dirty="0"/>
              <a:t>. </a:t>
            </a:r>
            <a:r>
              <a:rPr lang="en-US" altLang="ko-KR" sz="1400" b="1" dirty="0"/>
              <a:t>Once the CRD is posted, users can then create instances of the custom resource by posting JSON or YAML manifests to the API server</a:t>
            </a:r>
            <a:r>
              <a:rPr lang="en-US" altLang="ko-KR" sz="1400" dirty="0"/>
              <a:t>, the same as with any other Kubernetes resource.</a:t>
            </a:r>
          </a:p>
          <a:p>
            <a:pPr lvl="1">
              <a:buFont typeface="Wingdings" panose="05000000000000000000" pitchFamily="2" charset="2"/>
              <a:buChar char="§"/>
            </a:pPr>
            <a:r>
              <a:rPr lang="en-US" altLang="ko-KR" sz="1400" b="1" dirty="0"/>
              <a:t>NOTE : Prior to Kubernetes 1.7, custom resources were defined through “</a:t>
            </a:r>
            <a:r>
              <a:rPr lang="en-US" altLang="ko-KR" sz="1400" b="1" dirty="0" err="1"/>
              <a:t>ThirdPartyResource</a:t>
            </a:r>
            <a:r>
              <a:rPr lang="en-US" altLang="ko-KR" sz="1400" b="1" dirty="0"/>
              <a:t>” objects, which were similar to </a:t>
            </a:r>
            <a:r>
              <a:rPr lang="en-US" altLang="ko-KR" sz="1400" b="1" dirty="0" err="1"/>
              <a:t>CustomResourceDefinitions</a:t>
            </a:r>
            <a:r>
              <a:rPr lang="en-US" altLang="ko-KR" sz="1400" dirty="0"/>
              <a:t>, </a:t>
            </a:r>
            <a:r>
              <a:rPr lang="en-US" altLang="ko-KR" sz="1400" b="1" dirty="0"/>
              <a:t>but were removed in version 1.8</a:t>
            </a:r>
            <a:r>
              <a:rPr lang="en-US" altLang="ko-KR" sz="1400" dirty="0"/>
              <a:t>.</a:t>
            </a:r>
          </a:p>
          <a:p>
            <a:pPr lvl="1">
              <a:buFont typeface="Wingdings" panose="05000000000000000000" pitchFamily="2" charset="2"/>
              <a:buChar char="§"/>
            </a:pPr>
            <a:r>
              <a:rPr lang="en-US" altLang="ko-KR" sz="1400" dirty="0"/>
              <a:t>Creating a CRD so that users can create objects of the new type isn’t a useful feature if those objects don’t make something tangible happen in the cluster. </a:t>
            </a:r>
            <a:r>
              <a:rPr lang="en-US" altLang="ko-KR" sz="1400" b="1" dirty="0"/>
              <a:t>Each CRD will usually also have an associated controller (an active component doing something based on the </a:t>
            </a:r>
            <a:r>
              <a:rPr lang="en-US" altLang="ko-KR" sz="1400" b="1" dirty="0">
                <a:solidFill>
                  <a:srgbClr val="FF0000"/>
                </a:solidFill>
              </a:rPr>
              <a:t>custom objects</a:t>
            </a:r>
            <a:r>
              <a:rPr lang="en-US" altLang="ko-KR" sz="1400" b="1" dirty="0"/>
              <a:t>), the same way that all the core Kubernetes resources have </a:t>
            </a:r>
            <a:r>
              <a:rPr lang="en-US" altLang="ko-KR" sz="1400" b="1" dirty="0">
                <a:solidFill>
                  <a:srgbClr val="FF0000"/>
                </a:solidFill>
              </a:rPr>
              <a:t>an associated controller</a:t>
            </a:r>
            <a:r>
              <a:rPr lang="en-US" altLang="ko-KR" sz="1400" dirty="0"/>
              <a:t>. For this reason, to properly show what “</a:t>
            </a:r>
            <a:r>
              <a:rPr lang="en-US" altLang="ko-KR" sz="1400" b="1" dirty="0" err="1"/>
              <a:t>CustomResourceDefinitions</a:t>
            </a:r>
            <a:r>
              <a:rPr lang="en-US" altLang="ko-KR" sz="1400" dirty="0"/>
              <a:t>” allow you to do other than adding instances of a custom object, </a:t>
            </a:r>
            <a:r>
              <a:rPr lang="en-US" altLang="ko-KR" sz="1400" b="1" dirty="0"/>
              <a:t>a controller must be deployed</a:t>
            </a:r>
            <a:r>
              <a:rPr lang="en-US" altLang="ko-KR" sz="1400" dirty="0"/>
              <a:t> as well.</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526A8565-F76C-DCF2-9B8B-311D4288793D}"/>
              </a:ext>
            </a:extLst>
          </p:cNvPr>
          <p:cNvPicPr>
            <a:picLocks noChangeAspect="1"/>
          </p:cNvPicPr>
          <p:nvPr/>
        </p:nvPicPr>
        <p:blipFill>
          <a:blip r:embed="rId2"/>
          <a:stretch>
            <a:fillRect/>
          </a:stretch>
        </p:blipFill>
        <p:spPr>
          <a:xfrm>
            <a:off x="2990812" y="3978321"/>
            <a:ext cx="6210376" cy="1657411"/>
          </a:xfrm>
          <a:prstGeom prst="rect">
            <a:avLst/>
          </a:prstGeom>
        </p:spPr>
      </p:pic>
    </p:spTree>
    <p:extLst>
      <p:ext uri="{BB962C8B-B14F-4D97-AF65-F5344CB8AC3E}">
        <p14:creationId xmlns:p14="http://schemas.microsoft.com/office/powerpoint/2010/main" val="325167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Objects(3/28)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the Example </a:t>
            </a:r>
            <a:r>
              <a:rPr lang="en-US" altLang="ko-KR" sz="1800" b="1" dirty="0" err="1"/>
              <a:t>CustomResourceDefinition</a:t>
            </a:r>
            <a:r>
              <a:rPr lang="en-US" altLang="ko-KR" sz="1800" b="1" dirty="0"/>
              <a:t> :</a:t>
            </a:r>
            <a:endParaRPr lang="en-US" altLang="ko-KR" sz="1400" dirty="0"/>
          </a:p>
          <a:p>
            <a:pPr lvl="1">
              <a:buFont typeface="Wingdings" panose="05000000000000000000" pitchFamily="2" charset="2"/>
              <a:buChar char="§"/>
            </a:pPr>
            <a:r>
              <a:rPr lang="en-US" altLang="ko-KR" sz="1400" b="1" dirty="0"/>
              <a:t>Let’s imagine you want to allow users of your Kubernetes cluster to run static websites</a:t>
            </a:r>
            <a:r>
              <a:rPr lang="en-US" altLang="ko-KR" sz="1400" dirty="0"/>
              <a:t> as easily as possible, without having to deal with Pods, Services, and other Kubernetes resources. What you want to achieve is for users to create objects of type Website that contain nothing more than the website’s name and the source from which the website’s files (HTML, CSS, PNG, and others) should be obtained. </a:t>
            </a:r>
            <a:r>
              <a:rPr lang="en-US" altLang="ko-KR" sz="1400" b="1" dirty="0"/>
              <a:t>You’ll use a Git repository as the source of those files</a:t>
            </a:r>
            <a:r>
              <a:rPr lang="en-US" altLang="ko-KR" sz="1400" dirty="0"/>
              <a:t>. </a:t>
            </a:r>
            <a:r>
              <a:rPr lang="en-US" altLang="ko-KR" sz="1400" b="1" dirty="0"/>
              <a:t>When a user creates an instance of the Website resource, you want Kubernetes to spin up a new web server pod and expose it through a Service</a:t>
            </a:r>
            <a:r>
              <a:rPr lang="en-US" altLang="ko-KR" sz="1400" dirty="0"/>
              <a:t>, as shown in the following figure.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To create the Website resource, you want users to post manifests</a:t>
            </a:r>
            <a:r>
              <a:rPr lang="en-US" altLang="ko-KR" sz="1400" dirty="0"/>
              <a:t> along the lines of the one shown in the following listing.</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5EF03004-552D-8182-1565-0E51AE71DC5F}"/>
              </a:ext>
            </a:extLst>
          </p:cNvPr>
          <p:cNvPicPr>
            <a:picLocks noChangeAspect="1"/>
          </p:cNvPicPr>
          <p:nvPr/>
        </p:nvPicPr>
        <p:blipFill>
          <a:blip r:embed="rId2"/>
          <a:stretch>
            <a:fillRect/>
          </a:stretch>
        </p:blipFill>
        <p:spPr>
          <a:xfrm>
            <a:off x="3559277" y="2510989"/>
            <a:ext cx="5073445" cy="1366684"/>
          </a:xfrm>
          <a:prstGeom prst="rect">
            <a:avLst/>
          </a:prstGeom>
        </p:spPr>
      </p:pic>
      <p:sp>
        <p:nvSpPr>
          <p:cNvPr id="10" name="TextBox 9">
            <a:extLst>
              <a:ext uri="{FF2B5EF4-FFF2-40B4-BE49-F238E27FC236}">
                <a16:creationId xmlns:a16="http://schemas.microsoft.com/office/drawing/2014/main" id="{8C8A8D2B-EC44-CD69-D91B-675AD1E82A2E}"/>
              </a:ext>
            </a:extLst>
          </p:cNvPr>
          <p:cNvSpPr txBox="1"/>
          <p:nvPr/>
        </p:nvSpPr>
        <p:spPr>
          <a:xfrm>
            <a:off x="3047325" y="4878087"/>
            <a:ext cx="6097348" cy="861774"/>
          </a:xfrm>
          <a:prstGeom prst="rect">
            <a:avLst/>
          </a:prstGeom>
          <a:noFill/>
          <a:ln>
            <a:solidFill>
              <a:schemeClr val="bg1">
                <a:lumMod val="50000"/>
              </a:schemeClr>
            </a:solidFill>
          </a:ln>
        </p:spPr>
        <p:txBody>
          <a:bodyPr wrap="square">
            <a:spAutoFit/>
          </a:bodyPr>
          <a:lstStyle/>
          <a:p>
            <a:r>
              <a:rPr lang="en-US" altLang="ko-KR" sz="1000" b="1" dirty="0"/>
              <a:t>kind: </a:t>
            </a:r>
            <a:r>
              <a:rPr lang="en-US" altLang="ko-KR" sz="1000" b="1" dirty="0">
                <a:solidFill>
                  <a:srgbClr val="FF0000"/>
                </a:solidFill>
              </a:rPr>
              <a:t>Website</a:t>
            </a:r>
          </a:p>
          <a:p>
            <a:r>
              <a:rPr lang="en-US" altLang="ko-KR" sz="1000" b="1" dirty="0"/>
              <a:t>metadata:</a:t>
            </a:r>
          </a:p>
          <a:p>
            <a:r>
              <a:rPr lang="en-US" altLang="ko-KR" sz="1000" b="1" dirty="0"/>
              <a:t>  name: </a:t>
            </a:r>
            <a:r>
              <a:rPr lang="en-US" altLang="ko-KR" sz="1000" b="1" dirty="0" err="1"/>
              <a:t>kubia</a:t>
            </a:r>
            <a:endParaRPr lang="en-US" altLang="ko-KR" sz="1000" b="1" dirty="0"/>
          </a:p>
          <a:p>
            <a:r>
              <a:rPr lang="en-US" altLang="ko-KR" sz="1000" b="1" dirty="0"/>
              <a:t>spec:</a:t>
            </a:r>
          </a:p>
          <a:p>
            <a:r>
              <a:rPr lang="en-US" altLang="ko-KR" sz="1000" b="1" dirty="0"/>
              <a:t>  </a:t>
            </a:r>
            <a:r>
              <a:rPr lang="en-US" altLang="ko-KR" sz="1000" b="1" dirty="0" err="1">
                <a:solidFill>
                  <a:srgbClr val="FF0000"/>
                </a:solidFill>
              </a:rPr>
              <a:t>gitRepo</a:t>
            </a:r>
            <a:r>
              <a:rPr lang="en-US" altLang="ko-KR" sz="1000" b="1" dirty="0">
                <a:solidFill>
                  <a:srgbClr val="FF0000"/>
                </a:solidFill>
              </a:rPr>
              <a:t>: https://github.com/knix008/Website-Example.git</a:t>
            </a:r>
            <a:endParaRPr lang="ko-KR" altLang="en-US" sz="1000" b="1" dirty="0">
              <a:solidFill>
                <a:srgbClr val="FF0000"/>
              </a:solidFill>
            </a:endParaRPr>
          </a:p>
        </p:txBody>
      </p:sp>
    </p:spTree>
    <p:extLst>
      <p:ext uri="{BB962C8B-B14F-4D97-AF65-F5344CB8AC3E}">
        <p14:creationId xmlns:p14="http://schemas.microsoft.com/office/powerpoint/2010/main" val="22937489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Objects(4/28)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the Example </a:t>
            </a:r>
            <a:r>
              <a:rPr lang="en-US" altLang="ko-KR" sz="1800" b="1" dirty="0" err="1"/>
              <a:t>CustomResourceDefinition</a:t>
            </a:r>
            <a:r>
              <a:rPr lang="en-US" altLang="ko-KR" sz="1800" b="1" dirty="0"/>
              <a:t> :</a:t>
            </a:r>
            <a:endParaRPr lang="en-US" altLang="ko-KR" sz="1400" dirty="0"/>
          </a:p>
          <a:p>
            <a:pPr lvl="1">
              <a:buFont typeface="Wingdings" panose="05000000000000000000" pitchFamily="2" charset="2"/>
              <a:buChar char="§"/>
            </a:pPr>
            <a:r>
              <a:rPr lang="en-US" altLang="ko-KR" sz="1400" b="1" dirty="0"/>
              <a:t>Like all other resources, your resource contains a “</a:t>
            </a:r>
            <a:r>
              <a:rPr lang="en-US" altLang="ko-KR" sz="1400" b="1" dirty="0">
                <a:solidFill>
                  <a:srgbClr val="FF0000"/>
                </a:solidFill>
              </a:rPr>
              <a:t>kind</a:t>
            </a:r>
            <a:r>
              <a:rPr lang="en-US" altLang="ko-KR" sz="1400" b="1" dirty="0"/>
              <a:t>” and a “</a:t>
            </a:r>
            <a:r>
              <a:rPr lang="en-US" altLang="ko-KR" sz="1400" b="1" dirty="0">
                <a:solidFill>
                  <a:srgbClr val="FF0000"/>
                </a:solidFill>
              </a:rPr>
              <a:t>metadata.name</a:t>
            </a:r>
            <a:r>
              <a:rPr lang="en-US" altLang="ko-KR" sz="1400" b="1" dirty="0"/>
              <a:t>” field, and like most resources, it also contains a “</a:t>
            </a:r>
            <a:r>
              <a:rPr lang="en-US" altLang="ko-KR" sz="1400" b="1" dirty="0">
                <a:solidFill>
                  <a:srgbClr val="FF0000"/>
                </a:solidFill>
              </a:rPr>
              <a:t>spec</a:t>
            </a:r>
            <a:r>
              <a:rPr lang="en-US" altLang="ko-KR" sz="1400" b="1" dirty="0"/>
              <a:t>” section</a:t>
            </a:r>
            <a:r>
              <a:rPr lang="en-US" altLang="ko-KR" sz="1400" dirty="0"/>
              <a:t>. It contains a single field called “</a:t>
            </a:r>
            <a:r>
              <a:rPr lang="en-US" altLang="ko-KR" sz="1400" b="1" dirty="0" err="1">
                <a:solidFill>
                  <a:srgbClr val="FF0000"/>
                </a:solidFill>
              </a:rPr>
              <a:t>gitRepo</a:t>
            </a:r>
            <a:r>
              <a:rPr lang="en-US" altLang="ko-KR" sz="1400" dirty="0"/>
              <a:t>” (you can choose the name)—</a:t>
            </a:r>
            <a:r>
              <a:rPr lang="en-US" altLang="ko-KR" sz="1400" b="1" dirty="0"/>
              <a:t>it specifies the Git repository containing the website’s files</a:t>
            </a:r>
            <a:r>
              <a:rPr lang="en-US" altLang="ko-KR" sz="1400" dirty="0"/>
              <a:t>. You’ll also need to include an “</a:t>
            </a:r>
            <a:r>
              <a:rPr lang="en-US" altLang="ko-KR" sz="1400" b="1" dirty="0" err="1">
                <a:solidFill>
                  <a:srgbClr val="FF0000"/>
                </a:solidFill>
              </a:rPr>
              <a:t>apiVersion</a:t>
            </a:r>
            <a:r>
              <a:rPr lang="en-US" altLang="ko-KR" sz="1400" dirty="0"/>
              <a:t>” field, but you don’t know yet what its value must be for custom resources.</a:t>
            </a:r>
          </a:p>
          <a:p>
            <a:pPr lvl="1">
              <a:buFont typeface="Wingdings" panose="05000000000000000000" pitchFamily="2" charset="2"/>
              <a:buChar char="§"/>
            </a:pPr>
            <a:r>
              <a:rPr lang="en-US" altLang="ko-KR" sz="1400" b="1" dirty="0"/>
              <a:t>If you try posting this resource to Kubernetes, you’ll receive an error because Kubernetes doesn’t know what a “</a:t>
            </a:r>
            <a:r>
              <a:rPr lang="en-US" altLang="ko-KR" sz="1400" b="1" dirty="0">
                <a:solidFill>
                  <a:srgbClr val="FF0000"/>
                </a:solidFill>
              </a:rPr>
              <a:t>Website</a:t>
            </a:r>
            <a:r>
              <a:rPr lang="en-US" altLang="ko-KR" sz="1400" b="1" dirty="0"/>
              <a:t>” object is yet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solidFill>
                  <a:srgbClr val="FF0000"/>
                </a:solidFill>
              </a:rPr>
              <a:t>NOTICE</a:t>
            </a:r>
            <a:r>
              <a:rPr lang="ko-KR" altLang="en-US" sz="1400" b="1" dirty="0">
                <a:solidFill>
                  <a:srgbClr val="FF0000"/>
                </a:solidFill>
              </a:rPr>
              <a:t> </a:t>
            </a:r>
            <a:r>
              <a:rPr lang="en-US" altLang="ko-KR" sz="1400" b="1" dirty="0">
                <a:solidFill>
                  <a:srgbClr val="FF0000"/>
                </a:solidFill>
              </a:rPr>
              <a:t>:</a:t>
            </a:r>
            <a:r>
              <a:rPr lang="ko-KR" altLang="en-US" sz="1400" b="1" dirty="0">
                <a:solidFill>
                  <a:srgbClr val="FF0000"/>
                </a:solidFill>
              </a:rPr>
              <a:t> </a:t>
            </a:r>
            <a:r>
              <a:rPr lang="en-US" altLang="ko-KR" sz="1400" b="1" dirty="0">
                <a:solidFill>
                  <a:srgbClr val="FF0000"/>
                </a:solidFill>
              </a:rPr>
              <a:t>Before you can create instances of your custom object, you need to make Kubernetes recognize them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799B0408-AC73-F42F-064D-24C719A78343}"/>
              </a:ext>
            </a:extLst>
          </p:cNvPr>
          <p:cNvGrpSpPr/>
          <p:nvPr/>
        </p:nvGrpSpPr>
        <p:grpSpPr>
          <a:xfrm>
            <a:off x="838200" y="2647547"/>
            <a:ext cx="10515600" cy="2079558"/>
            <a:chOff x="838200" y="2550442"/>
            <a:chExt cx="10515600" cy="2079558"/>
          </a:xfrm>
        </p:grpSpPr>
        <p:grpSp>
          <p:nvGrpSpPr>
            <p:cNvPr id="10" name="그룹 9">
              <a:extLst>
                <a:ext uri="{FF2B5EF4-FFF2-40B4-BE49-F238E27FC236}">
                  <a16:creationId xmlns:a16="http://schemas.microsoft.com/office/drawing/2014/main" id="{2D5D2802-F582-3618-D053-534FB30018CD}"/>
                </a:ext>
              </a:extLst>
            </p:cNvPr>
            <p:cNvGrpSpPr/>
            <p:nvPr/>
          </p:nvGrpSpPr>
          <p:grpSpPr>
            <a:xfrm>
              <a:off x="3047326" y="2550442"/>
              <a:ext cx="6097348" cy="558768"/>
              <a:chOff x="3047326" y="2550442"/>
              <a:chExt cx="6097348" cy="558768"/>
            </a:xfrm>
          </p:grpSpPr>
          <p:sp>
            <p:nvSpPr>
              <p:cNvPr id="8" name="TextBox 7">
                <a:extLst>
                  <a:ext uri="{FF2B5EF4-FFF2-40B4-BE49-F238E27FC236}">
                    <a16:creationId xmlns:a16="http://schemas.microsoft.com/office/drawing/2014/main" id="{1054B85F-AB18-9352-FB50-4706900C4FDA}"/>
                  </a:ext>
                </a:extLst>
              </p:cNvPr>
              <p:cNvSpPr txBox="1"/>
              <p:nvPr/>
            </p:nvSpPr>
            <p:spPr>
              <a:xfrm>
                <a:off x="3047326" y="2550442"/>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a:solidFill>
                      <a:srgbClr val="FF0000"/>
                    </a:solidFill>
                  </a:rPr>
                  <a:t>imaginary-</a:t>
                </a:r>
                <a:r>
                  <a:rPr lang="en-US" altLang="ko-KR" sz="1000" b="1" dirty="0" err="1">
                    <a:solidFill>
                      <a:srgbClr val="FF0000"/>
                    </a:solidFill>
                  </a:rPr>
                  <a:t>kubia</a:t>
                </a:r>
                <a:r>
                  <a:rPr lang="en-US" altLang="ko-KR" sz="1000" b="1" dirty="0">
                    <a:solidFill>
                      <a:srgbClr val="FF0000"/>
                    </a:solidFill>
                  </a:rPr>
                  <a:t>-</a:t>
                </a:r>
                <a:r>
                  <a:rPr lang="en-US" altLang="ko-KR" sz="1000" b="1" dirty="0" err="1">
                    <a:solidFill>
                      <a:srgbClr val="FF0000"/>
                    </a:solidFill>
                  </a:rPr>
                  <a:t>website.yaml</a:t>
                </a:r>
                <a:endParaRPr lang="en-US" altLang="ko-KR" sz="1000" b="1" dirty="0">
                  <a:solidFill>
                    <a:srgbClr val="FF0000"/>
                  </a:solidFill>
                </a:endParaRPr>
              </a:p>
            </p:txBody>
          </p:sp>
          <p:sp>
            <p:nvSpPr>
              <p:cNvPr id="9" name="화살표: 아래쪽 8">
                <a:extLst>
                  <a:ext uri="{FF2B5EF4-FFF2-40B4-BE49-F238E27FC236}">
                    <a16:creationId xmlns:a16="http://schemas.microsoft.com/office/drawing/2014/main" id="{50E19D76-6CBC-77D0-285E-7AE29D49808F}"/>
                  </a:ext>
                </a:extLst>
              </p:cNvPr>
              <p:cNvSpPr/>
              <p:nvPr/>
            </p:nvSpPr>
            <p:spPr>
              <a:xfrm>
                <a:off x="5841101" y="2824120"/>
                <a:ext cx="478779" cy="28509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D4E7503A-0CB1-B517-82CA-BA92D1C4F7D4}"/>
                </a:ext>
              </a:extLst>
            </p:cNvPr>
            <p:cNvPicPr>
              <a:picLocks noChangeAspect="1"/>
            </p:cNvPicPr>
            <p:nvPr/>
          </p:nvPicPr>
          <p:blipFill>
            <a:blip r:embed="rId2"/>
            <a:stretch>
              <a:fillRect/>
            </a:stretch>
          </p:blipFill>
          <p:spPr>
            <a:xfrm>
              <a:off x="838200" y="3111079"/>
              <a:ext cx="10515600" cy="1518921"/>
            </a:xfrm>
            <a:prstGeom prst="rect">
              <a:avLst/>
            </a:prstGeom>
          </p:spPr>
        </p:pic>
      </p:grpSp>
    </p:spTree>
    <p:extLst>
      <p:ext uri="{BB962C8B-B14F-4D97-AF65-F5344CB8AC3E}">
        <p14:creationId xmlns:p14="http://schemas.microsoft.com/office/powerpoint/2010/main" val="31357666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Objects(5/28)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 </a:t>
            </a:r>
            <a:r>
              <a:rPr lang="en-US" altLang="ko-KR" sz="1800" b="1" dirty="0" err="1"/>
              <a:t>CustomResourceDefinition</a:t>
            </a:r>
            <a:r>
              <a:rPr lang="en-US" altLang="ko-KR" sz="1800" b="1" dirty="0"/>
              <a:t> Object :</a:t>
            </a:r>
            <a:endParaRPr lang="en-US" altLang="ko-KR" sz="1400" dirty="0"/>
          </a:p>
          <a:p>
            <a:pPr lvl="1">
              <a:buFont typeface="Wingdings" panose="05000000000000000000" pitchFamily="2" charset="2"/>
              <a:buChar char="§"/>
            </a:pPr>
            <a:r>
              <a:rPr lang="en-US" altLang="ko-KR" sz="1400" dirty="0"/>
              <a:t>To make Kubernetes accept your </a:t>
            </a:r>
            <a:r>
              <a:rPr lang="en-US" altLang="ko-KR" sz="1400" b="1" dirty="0"/>
              <a:t>custom “Website” resource instances</a:t>
            </a:r>
            <a:r>
              <a:rPr lang="en-US" altLang="ko-KR" sz="1400" dirty="0"/>
              <a:t>, you need to </a:t>
            </a:r>
            <a:r>
              <a:rPr lang="en-US" altLang="ko-KR" sz="1400" b="1" dirty="0"/>
              <a:t>post the “</a:t>
            </a:r>
            <a:r>
              <a:rPr lang="en-US" altLang="ko-KR" sz="1400" b="1" dirty="0" err="1"/>
              <a:t>CustomResourceDefinition</a:t>
            </a:r>
            <a:r>
              <a:rPr lang="en-US" altLang="ko-KR" sz="1400" b="1" dirty="0"/>
              <a:t>” </a:t>
            </a:r>
            <a:r>
              <a:rPr lang="en-US" altLang="ko-KR" sz="1400" dirty="0"/>
              <a:t>shown in the following listing to </a:t>
            </a:r>
            <a:r>
              <a:rPr lang="en-US" altLang="ko-KR" sz="1400" b="1" dirty="0"/>
              <a:t>the API server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43842F2-D345-107F-9D37-95769CDB30FE}"/>
              </a:ext>
            </a:extLst>
          </p:cNvPr>
          <p:cNvGrpSpPr/>
          <p:nvPr/>
        </p:nvGrpSpPr>
        <p:grpSpPr>
          <a:xfrm>
            <a:off x="3047326" y="1700049"/>
            <a:ext cx="6097348" cy="4708981"/>
            <a:chOff x="3299527" y="1730074"/>
            <a:chExt cx="6097348" cy="4708981"/>
          </a:xfrm>
        </p:grpSpPr>
        <p:sp>
          <p:nvSpPr>
            <p:cNvPr id="8" name="TextBox 7">
              <a:extLst>
                <a:ext uri="{FF2B5EF4-FFF2-40B4-BE49-F238E27FC236}">
                  <a16:creationId xmlns:a16="http://schemas.microsoft.com/office/drawing/2014/main" id="{9B1A5E20-1936-36DA-9EAA-D94E1E85F7F1}"/>
                </a:ext>
              </a:extLst>
            </p:cNvPr>
            <p:cNvSpPr txBox="1"/>
            <p:nvPr/>
          </p:nvSpPr>
          <p:spPr>
            <a:xfrm>
              <a:off x="3299527" y="1730074"/>
              <a:ext cx="6097348" cy="4708981"/>
            </a:xfrm>
            <a:prstGeom prst="rect">
              <a:avLst/>
            </a:prstGeom>
            <a:noFill/>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apiextensions.k8s.io/v1</a:t>
              </a:r>
            </a:p>
            <a:p>
              <a:r>
                <a:rPr lang="en-US" altLang="ko-KR" sz="1000" b="1" dirty="0"/>
                <a:t>kind: </a:t>
              </a:r>
              <a:r>
                <a:rPr lang="en-US" altLang="ko-KR" sz="1000" b="1" dirty="0" err="1">
                  <a:solidFill>
                    <a:srgbClr val="FF0000"/>
                  </a:solidFill>
                </a:rPr>
                <a:t>CustomResourceDefinition</a:t>
              </a:r>
              <a:endParaRPr lang="en-US" altLang="ko-KR" sz="1000" b="1" dirty="0">
                <a:solidFill>
                  <a:srgbClr val="FF0000"/>
                </a:solidFill>
              </a:endParaRPr>
            </a:p>
            <a:p>
              <a:r>
                <a:rPr lang="en-US" altLang="ko-KR" sz="1000" b="1" dirty="0"/>
                <a:t>metadata:</a:t>
              </a:r>
            </a:p>
            <a:p>
              <a:r>
                <a:rPr lang="en-US" altLang="ko-KR" sz="1000" b="1" dirty="0"/>
                <a:t>  name: websites.extensions.example.com</a:t>
              </a:r>
            </a:p>
            <a:p>
              <a:r>
                <a:rPr lang="en-US" altLang="ko-KR" sz="1000" b="1" dirty="0"/>
                <a:t>spec:</a:t>
              </a:r>
            </a:p>
            <a:p>
              <a:r>
                <a:rPr lang="en-US" altLang="ko-KR" sz="1000" b="1" dirty="0"/>
                <a:t>  scope: </a:t>
              </a:r>
              <a:r>
                <a:rPr lang="en-US" altLang="ko-KR" sz="1000" b="1" dirty="0" err="1"/>
                <a:t>Namespaced</a:t>
              </a:r>
              <a:endParaRPr lang="en-US" altLang="ko-KR" sz="1000" b="1" dirty="0"/>
            </a:p>
            <a:p>
              <a:r>
                <a:rPr lang="en-US" altLang="ko-KR" sz="1000" b="1" dirty="0"/>
                <a:t>  group: extensions.example.com</a:t>
              </a:r>
            </a:p>
            <a:p>
              <a:r>
                <a:rPr lang="en-US" altLang="ko-KR" sz="1000" b="1" dirty="0">
                  <a:solidFill>
                    <a:srgbClr val="FF0000"/>
                  </a:solidFill>
                </a:rPr>
                <a:t>  versions: </a:t>
              </a:r>
            </a:p>
            <a:p>
              <a:r>
                <a:rPr lang="en-US" altLang="ko-KR" sz="1000" b="1" dirty="0">
                  <a:solidFill>
                    <a:srgbClr val="FF0000"/>
                  </a:solidFill>
                </a:rPr>
                <a:t>  - name: v1</a:t>
              </a:r>
            </a:p>
            <a:p>
              <a:r>
                <a:rPr lang="en-US" altLang="ko-KR" sz="1000" b="1" dirty="0">
                  <a:solidFill>
                    <a:srgbClr val="FF0000"/>
                  </a:solidFill>
                </a:rPr>
                <a:t>    served: true</a:t>
              </a:r>
            </a:p>
            <a:p>
              <a:r>
                <a:rPr lang="en-US" altLang="ko-KR" sz="1000" b="1" dirty="0">
                  <a:solidFill>
                    <a:srgbClr val="FF0000"/>
                  </a:solidFill>
                </a:rPr>
                <a:t>    storage: true</a:t>
              </a:r>
            </a:p>
            <a:p>
              <a:r>
                <a:rPr lang="en-US" altLang="ko-KR" sz="1000" b="1" dirty="0">
                  <a:solidFill>
                    <a:srgbClr val="FF0000"/>
                  </a:solidFill>
                </a:rPr>
                <a:t>    schema:</a:t>
              </a:r>
            </a:p>
            <a:p>
              <a:r>
                <a:rPr lang="en-US" altLang="ko-KR" sz="1000" b="1" dirty="0">
                  <a:solidFill>
                    <a:srgbClr val="FF0000"/>
                  </a:solidFill>
                </a:rPr>
                <a:t>      openAPIV3Schema:</a:t>
              </a:r>
            </a:p>
            <a:p>
              <a:r>
                <a:rPr lang="en-US" altLang="ko-KR" sz="1000" b="1" dirty="0">
                  <a:solidFill>
                    <a:srgbClr val="FF0000"/>
                  </a:solidFill>
                </a:rPr>
                <a:t>          type: object</a:t>
              </a:r>
            </a:p>
            <a:p>
              <a:r>
                <a:rPr lang="en-US" altLang="ko-KR" sz="1000" b="1" dirty="0">
                  <a:solidFill>
                    <a:srgbClr val="FF0000"/>
                  </a:solidFill>
                </a:rPr>
                <a:t>          properties:</a:t>
              </a:r>
            </a:p>
            <a:p>
              <a:r>
                <a:rPr lang="en-US" altLang="ko-KR" sz="1000" b="1" dirty="0">
                  <a:solidFill>
                    <a:srgbClr val="FF0000"/>
                  </a:solidFill>
                </a:rPr>
                <a:t>            spec:</a:t>
              </a:r>
            </a:p>
            <a:p>
              <a:r>
                <a:rPr lang="en-US" altLang="ko-KR" sz="1000" b="1" dirty="0">
                  <a:solidFill>
                    <a:srgbClr val="FF0000"/>
                  </a:solidFill>
                </a:rPr>
                <a:t>              type: object</a:t>
              </a:r>
            </a:p>
            <a:p>
              <a:r>
                <a:rPr lang="en-US" altLang="ko-KR" sz="1000" b="1" dirty="0">
                  <a:solidFill>
                    <a:srgbClr val="FF0000"/>
                  </a:solidFill>
                </a:rPr>
                <a:t>              properties:</a:t>
              </a:r>
            </a:p>
            <a:p>
              <a:r>
                <a:rPr lang="en-US" altLang="ko-KR" sz="1000" b="1" dirty="0">
                  <a:solidFill>
                    <a:srgbClr val="FF0000"/>
                  </a:solidFill>
                </a:rPr>
                <a:t>                </a:t>
              </a:r>
              <a:r>
                <a:rPr lang="en-US" altLang="ko-KR" sz="1000" b="1" dirty="0" err="1">
                  <a:solidFill>
                    <a:srgbClr val="FF0000"/>
                  </a:solidFill>
                </a:rPr>
                <a:t>cronSpec</a:t>
              </a:r>
              <a:r>
                <a:rPr lang="en-US" altLang="ko-KR" sz="1000" b="1" dirty="0">
                  <a:solidFill>
                    <a:srgbClr val="FF0000"/>
                  </a:solidFill>
                </a:rPr>
                <a:t>:</a:t>
              </a:r>
            </a:p>
            <a:p>
              <a:r>
                <a:rPr lang="en-US" altLang="ko-KR" sz="1000" b="1" dirty="0">
                  <a:solidFill>
                    <a:srgbClr val="FF0000"/>
                  </a:solidFill>
                </a:rPr>
                <a:t>                  type: string</a:t>
              </a:r>
            </a:p>
            <a:p>
              <a:r>
                <a:rPr lang="en-US" altLang="ko-KR" sz="1000" b="1" dirty="0">
                  <a:solidFill>
                    <a:srgbClr val="FF0000"/>
                  </a:solidFill>
                </a:rPr>
                <a:t>                image:</a:t>
              </a:r>
            </a:p>
            <a:p>
              <a:r>
                <a:rPr lang="en-US" altLang="ko-KR" sz="1000" b="1" dirty="0">
                  <a:solidFill>
                    <a:srgbClr val="FF0000"/>
                  </a:solidFill>
                </a:rPr>
                <a:t>                  type: string</a:t>
              </a:r>
            </a:p>
            <a:p>
              <a:r>
                <a:rPr lang="en-US" altLang="ko-KR" sz="1000" b="1" dirty="0">
                  <a:solidFill>
                    <a:srgbClr val="FF0000"/>
                  </a:solidFill>
                </a:rPr>
                <a:t>                replicas:</a:t>
              </a:r>
            </a:p>
            <a:p>
              <a:r>
                <a:rPr lang="en-US" altLang="ko-KR" sz="1000" b="1" dirty="0">
                  <a:solidFill>
                    <a:srgbClr val="FF0000"/>
                  </a:solidFill>
                </a:rPr>
                <a:t>                  type: integer</a:t>
              </a:r>
            </a:p>
            <a:p>
              <a:r>
                <a:rPr lang="en-US" altLang="ko-KR" sz="1000" b="1" dirty="0">
                  <a:solidFill>
                    <a:srgbClr val="FF0000"/>
                  </a:solidFill>
                </a:rPr>
                <a:t>                </a:t>
              </a:r>
              <a:r>
                <a:rPr lang="en-US" altLang="ko-KR" sz="1000" b="1" dirty="0" err="1">
                  <a:solidFill>
                    <a:srgbClr val="FF0000"/>
                  </a:solidFill>
                </a:rPr>
                <a:t>gitRepo</a:t>
              </a:r>
              <a:r>
                <a:rPr lang="en-US" altLang="ko-KR" sz="1000" b="1" dirty="0">
                  <a:solidFill>
                    <a:srgbClr val="FF0000"/>
                  </a:solidFill>
                </a:rPr>
                <a:t>:</a:t>
              </a:r>
            </a:p>
            <a:p>
              <a:r>
                <a:rPr lang="en-US" altLang="ko-KR" sz="1000" b="1" dirty="0">
                  <a:solidFill>
                    <a:srgbClr val="FF0000"/>
                  </a:solidFill>
                </a:rPr>
                <a:t>                  type: string</a:t>
              </a:r>
            </a:p>
            <a:p>
              <a:r>
                <a:rPr lang="en-US" altLang="ko-KR" sz="1000" b="1" dirty="0"/>
                <a:t>  names:</a:t>
              </a:r>
            </a:p>
            <a:p>
              <a:r>
                <a:rPr lang="en-US" altLang="ko-KR" sz="1000" b="1" dirty="0"/>
                <a:t>    kind: </a:t>
              </a:r>
              <a:r>
                <a:rPr lang="en-US" altLang="ko-KR" sz="1000" b="1" dirty="0">
                  <a:solidFill>
                    <a:srgbClr val="FF0000"/>
                  </a:solidFill>
                </a:rPr>
                <a:t>Website</a:t>
              </a:r>
            </a:p>
            <a:p>
              <a:r>
                <a:rPr lang="en-US" altLang="ko-KR" sz="1000" b="1" dirty="0"/>
                <a:t>    singular: website</a:t>
              </a:r>
            </a:p>
            <a:p>
              <a:r>
                <a:rPr lang="en-US" altLang="ko-KR" sz="1000" b="1" dirty="0"/>
                <a:t>    plural: websites</a:t>
              </a:r>
            </a:p>
          </p:txBody>
        </p:sp>
        <p:sp>
          <p:nvSpPr>
            <p:cNvPr id="9" name="TextBox 8">
              <a:extLst>
                <a:ext uri="{FF2B5EF4-FFF2-40B4-BE49-F238E27FC236}">
                  <a16:creationId xmlns:a16="http://schemas.microsoft.com/office/drawing/2014/main" id="{2EABC01A-2AEB-E2DD-81AD-B541304BFCC0}"/>
                </a:ext>
              </a:extLst>
            </p:cNvPr>
            <p:cNvSpPr txBox="1"/>
            <p:nvPr/>
          </p:nvSpPr>
          <p:spPr>
            <a:xfrm>
              <a:off x="8173462" y="1730074"/>
              <a:ext cx="1223413" cy="246221"/>
            </a:xfrm>
            <a:prstGeom prst="rect">
              <a:avLst/>
            </a:prstGeom>
            <a:noFill/>
          </p:spPr>
          <p:txBody>
            <a:bodyPr wrap="none" rtlCol="0">
              <a:spAutoFit/>
            </a:bodyPr>
            <a:lstStyle/>
            <a:p>
              <a:pPr algn="ctr"/>
              <a:r>
                <a:rPr lang="en-US" altLang="ko-KR" sz="1000" b="1" dirty="0"/>
                <a:t>website-</a:t>
              </a:r>
              <a:r>
                <a:rPr lang="en-US" altLang="ko-KR" sz="1000" b="1" dirty="0" err="1"/>
                <a:t>crd.yaml</a:t>
              </a:r>
              <a:endParaRPr lang="ko-KR" altLang="en-US" sz="1000" b="1" dirty="0"/>
            </a:p>
          </p:txBody>
        </p:sp>
      </p:grpSp>
    </p:spTree>
    <p:extLst>
      <p:ext uri="{BB962C8B-B14F-4D97-AF65-F5344CB8AC3E}">
        <p14:creationId xmlns:p14="http://schemas.microsoft.com/office/powerpoint/2010/main" val="34084887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Objects(6/28)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 </a:t>
            </a:r>
            <a:r>
              <a:rPr lang="en-US" altLang="ko-KR" sz="1800" b="1" dirty="0" err="1">
                <a:solidFill>
                  <a:srgbClr val="FF0000"/>
                </a:solidFill>
              </a:rPr>
              <a:t>CustomResourceDefinition</a:t>
            </a:r>
            <a:r>
              <a:rPr lang="en-US" altLang="ko-KR" sz="1800" b="1" dirty="0"/>
              <a:t> Object :</a:t>
            </a:r>
            <a:endParaRPr lang="en-US" altLang="ko-KR" sz="1400" dirty="0"/>
          </a:p>
          <a:p>
            <a:pPr lvl="1">
              <a:buFont typeface="Wingdings" panose="05000000000000000000" pitchFamily="2" charset="2"/>
              <a:buChar char="§"/>
            </a:pPr>
            <a:r>
              <a:rPr lang="en-US" altLang="ko-KR" sz="1400" b="1" dirty="0"/>
              <a:t>After you post the descriptor to Kubernetes</a:t>
            </a:r>
            <a:r>
              <a:rPr lang="en-US" altLang="ko-KR" sz="1400" dirty="0"/>
              <a:t>, </a:t>
            </a:r>
            <a:r>
              <a:rPr lang="en-US" altLang="ko-KR" sz="1400" b="1" dirty="0"/>
              <a:t>it will allow you to create any number of instances of</a:t>
            </a:r>
            <a:r>
              <a:rPr lang="en-US" altLang="ko-KR" sz="1400" b="1" dirty="0">
                <a:solidFill>
                  <a:srgbClr val="FF0000"/>
                </a:solidFill>
              </a:rPr>
              <a:t> the custom “Website” resource</a:t>
            </a:r>
            <a:r>
              <a:rPr lang="en-US" altLang="ko-KR" sz="1400" dirty="0"/>
              <a:t>.</a:t>
            </a:r>
          </a:p>
          <a:p>
            <a:pPr lvl="1">
              <a:buFont typeface="Wingdings" panose="05000000000000000000" pitchFamily="2" charset="2"/>
              <a:buChar char="§"/>
            </a:pPr>
            <a:r>
              <a:rPr lang="en-US" altLang="ko-KR" sz="1400" b="1" dirty="0"/>
              <a:t>You can create the CRD from the “</a:t>
            </a:r>
            <a:r>
              <a:rPr lang="en-US" altLang="ko-KR" sz="1400" b="1" dirty="0">
                <a:solidFill>
                  <a:srgbClr val="FF0000"/>
                </a:solidFill>
              </a:rPr>
              <a:t>website-</a:t>
            </a:r>
            <a:r>
              <a:rPr lang="en-US" altLang="ko-KR" sz="1400" b="1" dirty="0" err="1">
                <a:solidFill>
                  <a:srgbClr val="FF0000"/>
                </a:solidFill>
              </a:rPr>
              <a:t>crd.yaml</a:t>
            </a:r>
            <a:r>
              <a:rPr lang="en-US" altLang="ko-KR" sz="1400" b="1" dirty="0"/>
              <a:t>” file available </a:t>
            </a:r>
            <a:r>
              <a:rPr lang="en-US" altLang="ko-KR" sz="1400" dirty="0"/>
              <a:t>in the code archive :</a:t>
            </a:r>
          </a:p>
          <a:p>
            <a:pPr lvl="1">
              <a:buFont typeface="Wingdings" panose="05000000000000000000" pitchFamily="2" charset="2"/>
              <a:buChar char="§"/>
            </a:pPr>
            <a:r>
              <a:rPr lang="en-US" altLang="ko-KR" sz="1400" b="1" dirty="0"/>
              <a:t>NOTE : For more information, see </a:t>
            </a:r>
            <a:r>
              <a:rPr lang="en-US" altLang="ko-KR" sz="1400" b="1" dirty="0">
                <a:hlinkClick r:id="rId2"/>
              </a:rPr>
              <a:t>https://kubernetes.io/docs/tasks/extend-kubernetes/custom-resources/custom-resource-definitions/</a:t>
            </a:r>
            <a:r>
              <a:rPr lang="en-US" altLang="ko-KR" sz="1400" b="1" dirty="0"/>
              <a:t>.</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FBE5E5D7-4605-2447-15C1-E9F5292EC927}"/>
              </a:ext>
            </a:extLst>
          </p:cNvPr>
          <p:cNvGrpSpPr/>
          <p:nvPr/>
        </p:nvGrpSpPr>
        <p:grpSpPr>
          <a:xfrm>
            <a:off x="838199" y="2778642"/>
            <a:ext cx="10515600" cy="2043953"/>
            <a:chOff x="838199" y="2778642"/>
            <a:chExt cx="10515600" cy="2043953"/>
          </a:xfrm>
        </p:grpSpPr>
        <p:grpSp>
          <p:nvGrpSpPr>
            <p:cNvPr id="10" name="그룹 9">
              <a:extLst>
                <a:ext uri="{FF2B5EF4-FFF2-40B4-BE49-F238E27FC236}">
                  <a16:creationId xmlns:a16="http://schemas.microsoft.com/office/drawing/2014/main" id="{EEAB41A8-D43D-66FC-D0B2-794C5BE93ED9}"/>
                </a:ext>
              </a:extLst>
            </p:cNvPr>
            <p:cNvGrpSpPr/>
            <p:nvPr/>
          </p:nvGrpSpPr>
          <p:grpSpPr>
            <a:xfrm>
              <a:off x="838199" y="3342622"/>
              <a:ext cx="10515600" cy="1479973"/>
              <a:chOff x="838200" y="2689013"/>
              <a:chExt cx="10515600" cy="1479973"/>
            </a:xfrm>
          </p:grpSpPr>
          <p:pic>
            <p:nvPicPr>
              <p:cNvPr id="8" name="그림 7">
                <a:extLst>
                  <a:ext uri="{FF2B5EF4-FFF2-40B4-BE49-F238E27FC236}">
                    <a16:creationId xmlns:a16="http://schemas.microsoft.com/office/drawing/2014/main" id="{56BBDF3B-C8F2-78D1-83B3-3BD91E699937}"/>
                  </a:ext>
                </a:extLst>
              </p:cNvPr>
              <p:cNvPicPr>
                <a:picLocks noChangeAspect="1"/>
              </p:cNvPicPr>
              <p:nvPr/>
            </p:nvPicPr>
            <p:blipFill>
              <a:blip r:embed="rId3"/>
              <a:stretch>
                <a:fillRect/>
              </a:stretch>
            </p:blipFill>
            <p:spPr>
              <a:xfrm>
                <a:off x="838200" y="2689013"/>
                <a:ext cx="10515600" cy="1479973"/>
              </a:xfrm>
              <a:prstGeom prst="rect">
                <a:avLst/>
              </a:prstGeom>
            </p:spPr>
          </p:pic>
          <p:sp>
            <p:nvSpPr>
              <p:cNvPr id="9" name="직사각형 8">
                <a:extLst>
                  <a:ext uri="{FF2B5EF4-FFF2-40B4-BE49-F238E27FC236}">
                    <a16:creationId xmlns:a16="http://schemas.microsoft.com/office/drawing/2014/main" id="{1FED40DE-0044-A618-F5EE-0713D7AC49A0}"/>
                  </a:ext>
                </a:extLst>
              </p:cNvPr>
              <p:cNvSpPr/>
              <p:nvPr/>
            </p:nvSpPr>
            <p:spPr>
              <a:xfrm>
                <a:off x="4798577" y="3091158"/>
                <a:ext cx="2201034" cy="2023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 name="TextBox 3">
              <a:extLst>
                <a:ext uri="{FF2B5EF4-FFF2-40B4-BE49-F238E27FC236}">
                  <a16:creationId xmlns:a16="http://schemas.microsoft.com/office/drawing/2014/main" id="{D4E256B4-82EA-301A-B3C2-1D68B38AAD42}"/>
                </a:ext>
              </a:extLst>
            </p:cNvPr>
            <p:cNvSpPr txBox="1"/>
            <p:nvPr/>
          </p:nvSpPr>
          <p:spPr>
            <a:xfrm>
              <a:off x="4891183" y="2778642"/>
              <a:ext cx="2409634" cy="246221"/>
            </a:xfrm>
            <a:prstGeom prst="rect">
              <a:avLst/>
            </a:prstGeom>
            <a:noFill/>
            <a:ln>
              <a:solidFill>
                <a:schemeClr val="tx1"/>
              </a:solidFill>
            </a:ln>
          </p:spPr>
          <p:txBody>
            <a:bodyPr wrap="none" rtlCol="0">
              <a:spAutoFit/>
            </a:bodyPr>
            <a:lstStyle/>
            <a:p>
              <a:pPr algn="ctr"/>
              <a:r>
                <a:rPr lang="en-US" altLang="ko-KR" sz="1000" b="1" dirty="0"/>
                <a:t>$ </a:t>
              </a:r>
              <a:r>
                <a:rPr lang="en-US" altLang="ko-KR" sz="1000" b="1" dirty="0" err="1"/>
                <a:t>kubectl</a:t>
              </a:r>
              <a:r>
                <a:rPr lang="en-US" altLang="ko-KR" sz="1000" b="1" dirty="0"/>
                <a:t> create -f website-</a:t>
              </a:r>
              <a:r>
                <a:rPr lang="en-US" altLang="ko-KR" sz="1000" b="1" dirty="0" err="1"/>
                <a:t>crd.yaml</a:t>
              </a:r>
              <a:endParaRPr lang="ko-KR" altLang="en-US" sz="1000" b="1" dirty="0"/>
            </a:p>
          </p:txBody>
        </p:sp>
        <p:sp>
          <p:nvSpPr>
            <p:cNvPr id="11" name="화살표: 아래쪽 10">
              <a:extLst>
                <a:ext uri="{FF2B5EF4-FFF2-40B4-BE49-F238E27FC236}">
                  <a16:creationId xmlns:a16="http://schemas.microsoft.com/office/drawing/2014/main" id="{078D094B-9ABE-D08E-A7CB-69527A2242DA}"/>
                </a:ext>
              </a:extLst>
            </p:cNvPr>
            <p:cNvSpPr/>
            <p:nvPr/>
          </p:nvSpPr>
          <p:spPr>
            <a:xfrm>
              <a:off x="5876260" y="3019549"/>
              <a:ext cx="439479" cy="32307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453854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Objects(7/28)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 </a:t>
            </a:r>
            <a:r>
              <a:rPr lang="en-US" altLang="ko-KR" sz="1800" b="1" dirty="0" err="1"/>
              <a:t>CustomResourceDefinition</a:t>
            </a:r>
            <a:r>
              <a:rPr lang="en-US" altLang="ko-KR" sz="1800" b="1" dirty="0"/>
              <a:t> Object :</a:t>
            </a:r>
            <a:endParaRPr lang="en-US" altLang="ko-KR" sz="1400" dirty="0"/>
          </a:p>
          <a:p>
            <a:pPr lvl="1">
              <a:buFont typeface="Wingdings" panose="05000000000000000000" pitchFamily="2" charset="2"/>
              <a:buChar char="§"/>
            </a:pPr>
            <a:r>
              <a:rPr lang="en-US" altLang="ko-KR" sz="1400" dirty="0"/>
              <a:t>You’re wondering about </a:t>
            </a:r>
            <a:r>
              <a:rPr lang="en-US" altLang="ko-KR" sz="1400" b="1" dirty="0"/>
              <a:t>the long name of the CRD</a:t>
            </a:r>
            <a:r>
              <a:rPr lang="en-US" altLang="ko-KR" sz="1400" dirty="0"/>
              <a:t>. Why not call it “</a:t>
            </a:r>
            <a:r>
              <a:rPr lang="en-US" altLang="ko-KR" sz="1400" b="1" dirty="0"/>
              <a:t>Website</a:t>
            </a:r>
            <a:r>
              <a:rPr lang="en-US" altLang="ko-KR" sz="1400" dirty="0"/>
              <a:t>”? </a:t>
            </a:r>
            <a:r>
              <a:rPr lang="en-US" altLang="ko-KR" sz="1400" b="1" dirty="0"/>
              <a:t>The reason is to prevent name clashes</a:t>
            </a:r>
            <a:r>
              <a:rPr lang="en-US" altLang="ko-KR" sz="1400" dirty="0"/>
              <a:t>. </a:t>
            </a:r>
            <a:r>
              <a:rPr lang="en-US" altLang="ko-KR" sz="1400" b="1" dirty="0"/>
              <a:t>By adding a suffix to the name of the CRD (which will usually include the name of the organization that created the CRD), you keep CRD names unique</a:t>
            </a:r>
            <a:r>
              <a:rPr lang="en-US" altLang="ko-KR" sz="1400" dirty="0"/>
              <a:t>. Luckily, the long name doesn’t mean you’ll need to create your “</a:t>
            </a:r>
            <a:r>
              <a:rPr lang="en-US" altLang="ko-KR" sz="1400" b="1" dirty="0"/>
              <a:t>Website</a:t>
            </a:r>
            <a:r>
              <a:rPr lang="en-US" altLang="ko-KR" sz="1400" dirty="0"/>
              <a:t>” resources with “</a:t>
            </a:r>
            <a:r>
              <a:rPr lang="en-US" altLang="ko-KR" sz="1400" b="1" dirty="0"/>
              <a:t>kind: websites.extensions.example.com</a:t>
            </a:r>
            <a:r>
              <a:rPr lang="en-US" altLang="ko-KR" sz="1400" dirty="0"/>
              <a:t>”, but as “</a:t>
            </a:r>
            <a:r>
              <a:rPr lang="en-US" altLang="ko-KR" sz="1400" b="1" dirty="0">
                <a:solidFill>
                  <a:srgbClr val="FF0000"/>
                </a:solidFill>
              </a:rPr>
              <a:t>kind: Website</a:t>
            </a:r>
            <a:r>
              <a:rPr lang="en-US" altLang="ko-KR" sz="1400" dirty="0"/>
              <a:t>”, </a:t>
            </a:r>
            <a:r>
              <a:rPr lang="en-US" altLang="ko-KR" sz="1400" b="1" dirty="0"/>
              <a:t>as specified in the “</a:t>
            </a:r>
            <a:r>
              <a:rPr lang="en-US" altLang="ko-KR" sz="1400" b="1" dirty="0" err="1"/>
              <a:t>names.kind</a:t>
            </a:r>
            <a:r>
              <a:rPr lang="en-US" altLang="ko-KR" sz="1400" b="1" dirty="0"/>
              <a:t>” property of the CRD</a:t>
            </a:r>
            <a:r>
              <a:rPr lang="en-US" altLang="ko-KR" sz="1400" dirty="0"/>
              <a:t>. </a:t>
            </a:r>
            <a:r>
              <a:rPr lang="en-US" altLang="ko-KR" sz="1400" b="1" dirty="0"/>
              <a:t>The “</a:t>
            </a:r>
            <a:r>
              <a:rPr lang="en-US" altLang="ko-KR" sz="1400" b="1" dirty="0">
                <a:solidFill>
                  <a:srgbClr val="FF0000"/>
                </a:solidFill>
              </a:rPr>
              <a:t>extensions.example.com</a:t>
            </a:r>
            <a:r>
              <a:rPr lang="en-US" altLang="ko-KR" sz="1400" b="1" dirty="0"/>
              <a:t>” part is </a:t>
            </a:r>
            <a:r>
              <a:rPr lang="en-US" altLang="ko-KR" sz="1400" b="1" dirty="0">
                <a:solidFill>
                  <a:srgbClr val="FF0000"/>
                </a:solidFill>
              </a:rPr>
              <a:t>the API group of your resource</a:t>
            </a:r>
            <a:r>
              <a:rPr lang="en-US" altLang="ko-KR" sz="1400" dirty="0"/>
              <a:t>.</a:t>
            </a:r>
          </a:p>
          <a:p>
            <a:pPr lvl="1">
              <a:buFont typeface="Wingdings" panose="05000000000000000000" pitchFamily="2" charset="2"/>
              <a:buChar char="§"/>
            </a:pPr>
            <a:r>
              <a:rPr lang="en-US" altLang="ko-KR" sz="1400" b="1" dirty="0"/>
              <a:t>You’ve seen how creating Deployment objects requires you to set “</a:t>
            </a:r>
            <a:r>
              <a:rPr lang="en-US" altLang="ko-KR" sz="1400" b="1" dirty="0" err="1"/>
              <a:t>apiVersion</a:t>
            </a:r>
            <a:r>
              <a:rPr lang="en-US" altLang="ko-KR" sz="1400" b="1" dirty="0"/>
              <a:t>” to “</a:t>
            </a:r>
            <a:r>
              <a:rPr lang="en-US" altLang="ko-KR" sz="1400" b="1" dirty="0">
                <a:solidFill>
                  <a:srgbClr val="FF0000"/>
                </a:solidFill>
              </a:rPr>
              <a:t>apps/v1</a:t>
            </a:r>
            <a:r>
              <a:rPr lang="en-US" altLang="ko-KR" sz="1400" b="1" dirty="0"/>
              <a:t>” instead of “v1”</a:t>
            </a:r>
            <a:r>
              <a:rPr lang="en-US" altLang="ko-KR" sz="1400" dirty="0"/>
              <a:t>. </a:t>
            </a:r>
            <a:r>
              <a:rPr lang="en-US" altLang="ko-KR" sz="1400" b="1" dirty="0"/>
              <a:t>The part before the slash is the API group (Deployments belong to the apps API group), and the part after it is the version name</a:t>
            </a:r>
            <a:r>
              <a:rPr lang="en-US" altLang="ko-KR" sz="1400" dirty="0"/>
              <a:t> (“</a:t>
            </a:r>
            <a:r>
              <a:rPr lang="en-US" altLang="ko-KR" sz="1400" b="1" dirty="0"/>
              <a:t>v1</a:t>
            </a:r>
            <a:r>
              <a:rPr lang="en-US" altLang="ko-KR" sz="1400" dirty="0"/>
              <a:t>” </a:t>
            </a:r>
            <a:r>
              <a:rPr lang="en-US" altLang="ko-KR" sz="1400" b="1" dirty="0"/>
              <a:t>in the case of Deployments</a:t>
            </a:r>
            <a:r>
              <a:rPr lang="en-US" altLang="ko-KR" sz="1400" dirty="0"/>
              <a:t>). </a:t>
            </a:r>
            <a:r>
              <a:rPr lang="en-US" altLang="ko-KR" sz="1400" b="1" dirty="0"/>
              <a:t>When creating instances of the custom “</a:t>
            </a:r>
            <a:r>
              <a:rPr lang="en-US" altLang="ko-KR" sz="1400" b="1" dirty="0">
                <a:solidFill>
                  <a:srgbClr val="FF0000"/>
                </a:solidFill>
              </a:rPr>
              <a:t>Website</a:t>
            </a:r>
            <a:r>
              <a:rPr lang="en-US" altLang="ko-KR" sz="1400" b="1" dirty="0"/>
              <a:t>” resource, the “</a:t>
            </a:r>
            <a:r>
              <a:rPr lang="en-US" altLang="ko-KR" sz="1400" b="1" dirty="0" err="1">
                <a:solidFill>
                  <a:srgbClr val="FF0000"/>
                </a:solidFill>
              </a:rPr>
              <a:t>apiVersion</a:t>
            </a:r>
            <a:r>
              <a:rPr lang="en-US" altLang="ko-KR" sz="1400" b="1" dirty="0"/>
              <a:t>” property will need to be set to “</a:t>
            </a:r>
            <a:r>
              <a:rPr lang="en-US" altLang="ko-KR" sz="1400" b="1" dirty="0">
                <a:solidFill>
                  <a:srgbClr val="FF0000"/>
                </a:solidFill>
              </a:rPr>
              <a:t>extensions.example.com/v1</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15D5B07-B480-C79C-A1F3-0CFA9A5B4EB6}"/>
              </a:ext>
            </a:extLst>
          </p:cNvPr>
          <p:cNvPicPr>
            <a:picLocks noChangeAspect="1"/>
          </p:cNvPicPr>
          <p:nvPr/>
        </p:nvPicPr>
        <p:blipFill>
          <a:blip r:embed="rId2"/>
          <a:stretch>
            <a:fillRect/>
          </a:stretch>
        </p:blipFill>
        <p:spPr>
          <a:xfrm>
            <a:off x="3656167" y="3162812"/>
            <a:ext cx="4879666" cy="3246218"/>
          </a:xfrm>
          <a:prstGeom prst="rect">
            <a:avLst/>
          </a:prstGeom>
        </p:spPr>
      </p:pic>
    </p:spTree>
    <p:extLst>
      <p:ext uri="{BB962C8B-B14F-4D97-AF65-F5344CB8AC3E}">
        <p14:creationId xmlns:p14="http://schemas.microsoft.com/office/powerpoint/2010/main" val="2017809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Objects(8/28)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an Instance of a Custom Resource :</a:t>
            </a:r>
            <a:endParaRPr lang="en-US" altLang="ko-KR" sz="1400" dirty="0"/>
          </a:p>
          <a:p>
            <a:pPr lvl="1">
              <a:buFont typeface="Wingdings" panose="05000000000000000000" pitchFamily="2" charset="2"/>
              <a:buChar char="§"/>
            </a:pPr>
            <a:r>
              <a:rPr lang="en-US" altLang="ko-KR" sz="1400" dirty="0"/>
              <a:t>Considering what you learned, </a:t>
            </a:r>
            <a:r>
              <a:rPr lang="en-US" altLang="ko-KR" sz="1400" b="1" dirty="0"/>
              <a:t>you’ll now create a proper YAML for your “Website” resource instance</a:t>
            </a:r>
            <a:r>
              <a:rPr lang="en-US" altLang="ko-KR" sz="1400" dirty="0"/>
              <a:t>. The YAML manifest is shown in the following listing.</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“kind” of your resource is “Website”, and the “</a:t>
            </a:r>
            <a:r>
              <a:rPr lang="en-US" altLang="ko-KR" sz="1400" b="1" dirty="0" err="1"/>
              <a:t>apiVersion</a:t>
            </a:r>
            <a:r>
              <a:rPr lang="en-US" altLang="ko-KR" sz="1400" b="1" dirty="0"/>
              <a:t>” is composed of the “API group” and the “version number” you defined in the “</a:t>
            </a:r>
            <a:r>
              <a:rPr lang="en-US" altLang="ko-KR" sz="1400" b="1" dirty="0" err="1"/>
              <a:t>CustomResourceDefinition</a:t>
            </a:r>
            <a:r>
              <a:rPr lang="en-US" altLang="ko-KR" sz="1400" b="1" dirty="0"/>
              <a:t>”</a:t>
            </a:r>
            <a:r>
              <a:rPr lang="en-US" altLang="ko-KR" sz="1400" dirty="0"/>
              <a:t>. Create your “</a:t>
            </a:r>
            <a:r>
              <a:rPr lang="en-US" altLang="ko-KR" sz="1400" b="1" dirty="0"/>
              <a:t>Website</a:t>
            </a:r>
            <a:r>
              <a:rPr lang="en-US" altLang="ko-KR" sz="1400" dirty="0"/>
              <a:t>” object now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The response tells you that the “API server” has accepted and stored your custom “Website”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4DF5924-2D63-6D71-74CF-97D6B0F5B3CC}"/>
              </a:ext>
            </a:extLst>
          </p:cNvPr>
          <p:cNvGrpSpPr/>
          <p:nvPr/>
        </p:nvGrpSpPr>
        <p:grpSpPr>
          <a:xfrm>
            <a:off x="3047326" y="1654709"/>
            <a:ext cx="6097348" cy="1015663"/>
            <a:chOff x="3047326" y="1792274"/>
            <a:chExt cx="6097348" cy="1015663"/>
          </a:xfrm>
        </p:grpSpPr>
        <p:sp>
          <p:nvSpPr>
            <p:cNvPr id="8" name="TextBox 7">
              <a:extLst>
                <a:ext uri="{FF2B5EF4-FFF2-40B4-BE49-F238E27FC236}">
                  <a16:creationId xmlns:a16="http://schemas.microsoft.com/office/drawing/2014/main" id="{E3830A0C-B1C1-C641-4A3B-32A2C9A5D6D9}"/>
                </a:ext>
              </a:extLst>
            </p:cNvPr>
            <p:cNvSpPr txBox="1"/>
            <p:nvPr/>
          </p:nvSpPr>
          <p:spPr>
            <a:xfrm>
              <a:off x="3047326" y="1792274"/>
              <a:ext cx="6097348" cy="1015663"/>
            </a:xfrm>
            <a:prstGeom prst="rect">
              <a:avLst/>
            </a:prstGeom>
            <a:noFill/>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extensions.example.com/v1</a:t>
              </a:r>
            </a:p>
            <a:p>
              <a:r>
                <a:rPr lang="en-US" altLang="ko-KR" sz="1000" b="1" dirty="0"/>
                <a:t>kind: </a:t>
              </a:r>
              <a:r>
                <a:rPr lang="en-US" altLang="ko-KR" sz="1000" b="1" dirty="0">
                  <a:solidFill>
                    <a:srgbClr val="FF0000"/>
                  </a:solidFill>
                </a:rPr>
                <a:t>Website</a:t>
              </a:r>
            </a:p>
            <a:p>
              <a:r>
                <a:rPr lang="en-US" altLang="ko-KR" sz="1000" b="1" dirty="0"/>
                <a:t>metadata:</a:t>
              </a:r>
            </a:p>
            <a:p>
              <a:r>
                <a:rPr lang="en-US" altLang="ko-KR" sz="1000" b="1" dirty="0"/>
                <a:t>  name: </a:t>
              </a:r>
              <a:r>
                <a:rPr lang="en-US" altLang="ko-KR" sz="1000" b="1" dirty="0" err="1"/>
                <a:t>kubia</a:t>
              </a:r>
              <a:endParaRPr lang="en-US" altLang="ko-KR" sz="1000" b="1" dirty="0"/>
            </a:p>
            <a:p>
              <a:r>
                <a:rPr lang="en-US" altLang="ko-KR" sz="1000" b="1" dirty="0"/>
                <a:t>spec:</a:t>
              </a:r>
            </a:p>
            <a:p>
              <a:r>
                <a:rPr lang="en-US" altLang="ko-KR" sz="1000" b="1" dirty="0"/>
                <a:t>  </a:t>
              </a:r>
              <a:r>
                <a:rPr lang="en-US" altLang="ko-KR" sz="1000" b="1" dirty="0" err="1"/>
                <a:t>gitRepo</a:t>
              </a:r>
              <a:r>
                <a:rPr lang="en-US" altLang="ko-KR" sz="1000" b="1" dirty="0"/>
                <a:t>: https://github.com/knix008/Website-Example.git</a:t>
              </a:r>
            </a:p>
          </p:txBody>
        </p:sp>
        <p:sp>
          <p:nvSpPr>
            <p:cNvPr id="9" name="TextBox 8">
              <a:extLst>
                <a:ext uri="{FF2B5EF4-FFF2-40B4-BE49-F238E27FC236}">
                  <a16:creationId xmlns:a16="http://schemas.microsoft.com/office/drawing/2014/main" id="{44944018-CEE3-5D23-FA73-77D0B88E1EFB}"/>
                </a:ext>
              </a:extLst>
            </p:cNvPr>
            <p:cNvSpPr txBox="1"/>
            <p:nvPr/>
          </p:nvSpPr>
          <p:spPr>
            <a:xfrm>
              <a:off x="7780197" y="1792274"/>
              <a:ext cx="1364477" cy="246221"/>
            </a:xfrm>
            <a:prstGeom prst="rect">
              <a:avLst/>
            </a:prstGeom>
            <a:noFill/>
          </p:spPr>
          <p:txBody>
            <a:bodyPr wrap="none" rtlCol="0">
              <a:spAutoFit/>
            </a:bodyPr>
            <a:lstStyle/>
            <a:p>
              <a:pPr algn="ctr"/>
              <a:r>
                <a:rPr lang="en-US" altLang="ko-KR" sz="1000" b="1" dirty="0" err="1"/>
                <a:t>kubia-website.yaml</a:t>
              </a:r>
              <a:endParaRPr lang="ko-KR" altLang="en-US" sz="1000" b="1" dirty="0"/>
            </a:p>
          </p:txBody>
        </p:sp>
      </p:grpSp>
      <p:grpSp>
        <p:nvGrpSpPr>
          <p:cNvPr id="18" name="그룹 17">
            <a:extLst>
              <a:ext uri="{FF2B5EF4-FFF2-40B4-BE49-F238E27FC236}">
                <a16:creationId xmlns:a16="http://schemas.microsoft.com/office/drawing/2014/main" id="{444CDB49-A638-A3D6-0759-B92E178A8A2E}"/>
              </a:ext>
            </a:extLst>
          </p:cNvPr>
          <p:cNvGrpSpPr/>
          <p:nvPr/>
        </p:nvGrpSpPr>
        <p:grpSpPr>
          <a:xfrm>
            <a:off x="838200" y="3433658"/>
            <a:ext cx="10515600" cy="2240062"/>
            <a:chOff x="838200" y="3803843"/>
            <a:chExt cx="10515600" cy="2240062"/>
          </a:xfrm>
        </p:grpSpPr>
        <p:grpSp>
          <p:nvGrpSpPr>
            <p:cNvPr id="16" name="그룹 15">
              <a:extLst>
                <a:ext uri="{FF2B5EF4-FFF2-40B4-BE49-F238E27FC236}">
                  <a16:creationId xmlns:a16="http://schemas.microsoft.com/office/drawing/2014/main" id="{3E7948D1-B45A-C1A3-7128-38238281F645}"/>
                </a:ext>
              </a:extLst>
            </p:cNvPr>
            <p:cNvGrpSpPr/>
            <p:nvPr/>
          </p:nvGrpSpPr>
          <p:grpSpPr>
            <a:xfrm>
              <a:off x="838200" y="3803843"/>
              <a:ext cx="10515600" cy="2240062"/>
              <a:chOff x="838200" y="3803843"/>
              <a:chExt cx="10515600" cy="2240062"/>
            </a:xfrm>
          </p:grpSpPr>
          <p:sp>
            <p:nvSpPr>
              <p:cNvPr id="12" name="TextBox 11">
                <a:extLst>
                  <a:ext uri="{FF2B5EF4-FFF2-40B4-BE49-F238E27FC236}">
                    <a16:creationId xmlns:a16="http://schemas.microsoft.com/office/drawing/2014/main" id="{2967656E-2367-0143-411A-EE2061B297F7}"/>
                  </a:ext>
                </a:extLst>
              </p:cNvPr>
              <p:cNvSpPr txBox="1"/>
              <p:nvPr/>
            </p:nvSpPr>
            <p:spPr>
              <a:xfrm>
                <a:off x="3047326" y="3803843"/>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kubia-website.yaml</a:t>
                </a:r>
                <a:endParaRPr lang="ko-KR" altLang="en-US" sz="1000" b="1" dirty="0">
                  <a:solidFill>
                    <a:srgbClr val="FF0000"/>
                  </a:solidFill>
                </a:endParaRPr>
              </a:p>
            </p:txBody>
          </p:sp>
          <p:pic>
            <p:nvPicPr>
              <p:cNvPr id="14" name="그림 13">
                <a:extLst>
                  <a:ext uri="{FF2B5EF4-FFF2-40B4-BE49-F238E27FC236}">
                    <a16:creationId xmlns:a16="http://schemas.microsoft.com/office/drawing/2014/main" id="{49A9CA17-069A-D707-7361-F48331C1DD3F}"/>
                  </a:ext>
                </a:extLst>
              </p:cNvPr>
              <p:cNvPicPr>
                <a:picLocks noChangeAspect="1"/>
              </p:cNvPicPr>
              <p:nvPr/>
            </p:nvPicPr>
            <p:blipFill>
              <a:blip r:embed="rId2"/>
              <a:stretch>
                <a:fillRect/>
              </a:stretch>
            </p:blipFill>
            <p:spPr>
              <a:xfrm>
                <a:off x="838200" y="4376987"/>
                <a:ext cx="10515600" cy="1666918"/>
              </a:xfrm>
              <a:prstGeom prst="rect">
                <a:avLst/>
              </a:prstGeom>
            </p:spPr>
          </p:pic>
          <p:sp>
            <p:nvSpPr>
              <p:cNvPr id="15" name="화살표: 아래쪽 14">
                <a:extLst>
                  <a:ext uri="{FF2B5EF4-FFF2-40B4-BE49-F238E27FC236}">
                    <a16:creationId xmlns:a16="http://schemas.microsoft.com/office/drawing/2014/main" id="{A730D959-13FA-BEF8-3429-0AF2EAA35FAF}"/>
                  </a:ext>
                </a:extLst>
              </p:cNvPr>
              <p:cNvSpPr/>
              <p:nvPr/>
            </p:nvSpPr>
            <p:spPr>
              <a:xfrm>
                <a:off x="5853684" y="4050064"/>
                <a:ext cx="484632" cy="32692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7" name="직사각형 16">
              <a:extLst>
                <a:ext uri="{FF2B5EF4-FFF2-40B4-BE49-F238E27FC236}">
                  <a16:creationId xmlns:a16="http://schemas.microsoft.com/office/drawing/2014/main" id="{20E2949B-BFD4-F2AE-D6EB-5828A2C3B24C}"/>
                </a:ext>
              </a:extLst>
            </p:cNvPr>
            <p:cNvSpPr/>
            <p:nvPr/>
          </p:nvSpPr>
          <p:spPr>
            <a:xfrm>
              <a:off x="4798577" y="5445222"/>
              <a:ext cx="3390563" cy="21111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54852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Objects(9/28)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Retrieving Instances of a Custom Resource :</a:t>
            </a:r>
            <a:endParaRPr lang="en-US" altLang="ko-KR" sz="1400" dirty="0"/>
          </a:p>
          <a:p>
            <a:pPr lvl="1">
              <a:buFont typeface="Wingdings" panose="05000000000000000000" pitchFamily="2" charset="2"/>
              <a:buChar char="§"/>
            </a:pPr>
            <a:r>
              <a:rPr lang="en-US" altLang="ko-KR" sz="1400" b="1" dirty="0"/>
              <a:t>List all the “websites” in your cluster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DA480772-6893-ADB7-64E0-157573C9EDCB}"/>
              </a:ext>
            </a:extLst>
          </p:cNvPr>
          <p:cNvGrpSpPr/>
          <p:nvPr/>
        </p:nvGrpSpPr>
        <p:grpSpPr>
          <a:xfrm>
            <a:off x="838200" y="2125312"/>
            <a:ext cx="10515600" cy="2607376"/>
            <a:chOff x="838200" y="1514662"/>
            <a:chExt cx="10515600" cy="2607376"/>
          </a:xfrm>
        </p:grpSpPr>
        <p:grpSp>
          <p:nvGrpSpPr>
            <p:cNvPr id="14" name="그룹 13">
              <a:extLst>
                <a:ext uri="{FF2B5EF4-FFF2-40B4-BE49-F238E27FC236}">
                  <a16:creationId xmlns:a16="http://schemas.microsoft.com/office/drawing/2014/main" id="{D7923B59-DB1B-0AB5-15B7-FD0062370CB3}"/>
                </a:ext>
              </a:extLst>
            </p:cNvPr>
            <p:cNvGrpSpPr/>
            <p:nvPr/>
          </p:nvGrpSpPr>
          <p:grpSpPr>
            <a:xfrm>
              <a:off x="838200" y="1514662"/>
              <a:ext cx="10515600" cy="2607376"/>
              <a:chOff x="838200" y="1563214"/>
              <a:chExt cx="10515600" cy="2607376"/>
            </a:xfrm>
          </p:grpSpPr>
          <p:grpSp>
            <p:nvGrpSpPr>
              <p:cNvPr id="12" name="그룹 11">
                <a:extLst>
                  <a:ext uri="{FF2B5EF4-FFF2-40B4-BE49-F238E27FC236}">
                    <a16:creationId xmlns:a16="http://schemas.microsoft.com/office/drawing/2014/main" id="{1DA23B76-B412-7BD4-16E6-8A8C742D730A}"/>
                  </a:ext>
                </a:extLst>
              </p:cNvPr>
              <p:cNvGrpSpPr/>
              <p:nvPr/>
            </p:nvGrpSpPr>
            <p:grpSpPr>
              <a:xfrm>
                <a:off x="838200" y="1563214"/>
                <a:ext cx="10515600" cy="2607376"/>
                <a:chOff x="838200" y="1563214"/>
                <a:chExt cx="10515600" cy="2607376"/>
              </a:xfrm>
            </p:grpSpPr>
            <p:sp>
              <p:nvSpPr>
                <p:cNvPr id="8" name="TextBox 7">
                  <a:extLst>
                    <a:ext uri="{FF2B5EF4-FFF2-40B4-BE49-F238E27FC236}">
                      <a16:creationId xmlns:a16="http://schemas.microsoft.com/office/drawing/2014/main" id="{4B24BB36-AD1D-88A7-15C3-CF7B4026D89D}"/>
                    </a:ext>
                  </a:extLst>
                </p:cNvPr>
                <p:cNvSpPr txBox="1"/>
                <p:nvPr/>
              </p:nvSpPr>
              <p:spPr>
                <a:xfrm>
                  <a:off x="3047326" y="1563214"/>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a:t>
                  </a:r>
                  <a:r>
                    <a:rPr lang="en-US" altLang="ko-KR" sz="1000" b="1" dirty="0">
                      <a:solidFill>
                        <a:srgbClr val="FF0000"/>
                      </a:solidFill>
                    </a:rPr>
                    <a:t>websites</a:t>
                  </a:r>
                  <a:endParaRPr lang="ko-KR" altLang="en-US" sz="1000" b="1" dirty="0">
                    <a:solidFill>
                      <a:srgbClr val="FF0000"/>
                    </a:solidFill>
                  </a:endParaRPr>
                </a:p>
              </p:txBody>
            </p:sp>
            <p:pic>
              <p:nvPicPr>
                <p:cNvPr id="10" name="그림 9">
                  <a:extLst>
                    <a:ext uri="{FF2B5EF4-FFF2-40B4-BE49-F238E27FC236}">
                      <a16:creationId xmlns:a16="http://schemas.microsoft.com/office/drawing/2014/main" id="{B4FCC72B-AE2E-6D94-B543-30CF7F28D700}"/>
                    </a:ext>
                  </a:extLst>
                </p:cNvPr>
                <p:cNvPicPr>
                  <a:picLocks noChangeAspect="1"/>
                </p:cNvPicPr>
                <p:nvPr/>
              </p:nvPicPr>
              <p:blipFill>
                <a:blip r:embed="rId2"/>
                <a:stretch>
                  <a:fillRect/>
                </a:stretch>
              </p:blipFill>
              <p:spPr>
                <a:xfrm>
                  <a:off x="838200" y="2137574"/>
                  <a:ext cx="10515600" cy="2033016"/>
                </a:xfrm>
                <a:prstGeom prst="rect">
                  <a:avLst/>
                </a:prstGeom>
              </p:spPr>
            </p:pic>
            <p:sp>
              <p:nvSpPr>
                <p:cNvPr id="11" name="화살표: 아래쪽 10">
                  <a:extLst>
                    <a:ext uri="{FF2B5EF4-FFF2-40B4-BE49-F238E27FC236}">
                      <a16:creationId xmlns:a16="http://schemas.microsoft.com/office/drawing/2014/main" id="{DE94FDBD-5E57-772D-7696-9AD0229AF200}"/>
                    </a:ext>
                  </a:extLst>
                </p:cNvPr>
                <p:cNvSpPr/>
                <p:nvPr/>
              </p:nvSpPr>
              <p:spPr>
                <a:xfrm>
                  <a:off x="5865377" y="1813448"/>
                  <a:ext cx="461246" cy="32412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3464B400-3191-D4D4-8354-5CA807F9A49E}"/>
                  </a:ext>
                </a:extLst>
              </p:cNvPr>
              <p:cNvSpPr/>
              <p:nvPr/>
            </p:nvSpPr>
            <p:spPr>
              <a:xfrm>
                <a:off x="4798577" y="3461368"/>
                <a:ext cx="1359462" cy="228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 name="직사각형 14">
              <a:extLst>
                <a:ext uri="{FF2B5EF4-FFF2-40B4-BE49-F238E27FC236}">
                  <a16:creationId xmlns:a16="http://schemas.microsoft.com/office/drawing/2014/main" id="{A123BAA0-B39E-97D1-6B92-0C79DD43470B}"/>
                </a:ext>
              </a:extLst>
            </p:cNvPr>
            <p:cNvSpPr/>
            <p:nvPr/>
          </p:nvSpPr>
          <p:spPr>
            <a:xfrm>
              <a:off x="854384" y="3591718"/>
              <a:ext cx="1055336" cy="3005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889387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Objects(10/28)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Retrieving Instances of a Custom Resource :</a:t>
            </a:r>
            <a:endParaRPr lang="en-US" altLang="ko-KR" sz="1400" dirty="0"/>
          </a:p>
          <a:p>
            <a:pPr lvl="1">
              <a:buFont typeface="Wingdings" panose="05000000000000000000" pitchFamily="2" charset="2"/>
              <a:buChar char="§"/>
            </a:pPr>
            <a:r>
              <a:rPr lang="en-US" altLang="ko-KR" sz="1400" dirty="0"/>
              <a:t>As with existing Kubernetes resources, you can create and then list instances of custom resources. </a:t>
            </a:r>
            <a:r>
              <a:rPr lang="en-US" altLang="ko-KR" sz="1400" b="1" dirty="0"/>
              <a:t>You can also use “$ </a:t>
            </a:r>
            <a:r>
              <a:rPr lang="en-US" altLang="ko-KR" sz="1400" b="1" dirty="0" err="1"/>
              <a:t>kubectl</a:t>
            </a:r>
            <a:r>
              <a:rPr lang="en-US" altLang="ko-KR" sz="1400" b="1" dirty="0"/>
              <a:t> describe” command to see the details of your custom object, or retrieve the whole YAML with “$ </a:t>
            </a:r>
            <a:r>
              <a:rPr lang="en-US" altLang="ko-KR" sz="1400" b="1" dirty="0" err="1"/>
              <a:t>kubectl</a:t>
            </a:r>
            <a:r>
              <a:rPr lang="en-US" altLang="ko-KR" sz="1400" b="1" dirty="0"/>
              <a:t> get” command</a:t>
            </a:r>
            <a:r>
              <a:rPr lang="en-US" altLang="ko-KR" sz="1400" dirty="0"/>
              <a:t>, as in the following listing.</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The resource includes everything that was in the original YAML definition, and that Kubernetes has initialized additional metadata fields the way it does with all other resources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C157E83-AD27-B828-D086-86E0D8785ACF}"/>
              </a:ext>
            </a:extLst>
          </p:cNvPr>
          <p:cNvGrpSpPr/>
          <p:nvPr/>
        </p:nvGrpSpPr>
        <p:grpSpPr>
          <a:xfrm>
            <a:off x="838200" y="1937342"/>
            <a:ext cx="10515600" cy="2983315"/>
            <a:chOff x="838200" y="1937342"/>
            <a:chExt cx="10515600" cy="2983315"/>
          </a:xfrm>
        </p:grpSpPr>
        <p:pic>
          <p:nvPicPr>
            <p:cNvPr id="8" name="그림 7">
              <a:extLst>
                <a:ext uri="{FF2B5EF4-FFF2-40B4-BE49-F238E27FC236}">
                  <a16:creationId xmlns:a16="http://schemas.microsoft.com/office/drawing/2014/main" id="{310D7807-F7DB-EAE9-E3FB-EAA0BBDC58CB}"/>
                </a:ext>
              </a:extLst>
            </p:cNvPr>
            <p:cNvPicPr>
              <a:picLocks noChangeAspect="1"/>
            </p:cNvPicPr>
            <p:nvPr/>
          </p:nvPicPr>
          <p:blipFill>
            <a:blip r:embed="rId2"/>
            <a:stretch>
              <a:fillRect/>
            </a:stretch>
          </p:blipFill>
          <p:spPr>
            <a:xfrm>
              <a:off x="838200" y="1937342"/>
              <a:ext cx="10515600" cy="2983315"/>
            </a:xfrm>
            <a:prstGeom prst="rect">
              <a:avLst/>
            </a:prstGeom>
          </p:spPr>
        </p:pic>
        <p:sp>
          <p:nvSpPr>
            <p:cNvPr id="9" name="직사각형 8">
              <a:extLst>
                <a:ext uri="{FF2B5EF4-FFF2-40B4-BE49-F238E27FC236}">
                  <a16:creationId xmlns:a16="http://schemas.microsoft.com/office/drawing/2014/main" id="{3B5E861F-91A3-E81F-8F92-58A5B3209175}"/>
                </a:ext>
              </a:extLst>
            </p:cNvPr>
            <p:cNvSpPr/>
            <p:nvPr/>
          </p:nvSpPr>
          <p:spPr>
            <a:xfrm>
              <a:off x="4806669" y="3002145"/>
              <a:ext cx="2176758" cy="2265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6976302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Objects(11/28)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an Instance of a Custom Object :</a:t>
            </a:r>
            <a:endParaRPr lang="en-US" altLang="ko-KR" sz="1400" dirty="0"/>
          </a:p>
          <a:p>
            <a:pPr lvl="1">
              <a:buFont typeface="Wingdings" panose="05000000000000000000" pitchFamily="2" charset="2"/>
              <a:buChar char="§"/>
            </a:pPr>
            <a:r>
              <a:rPr lang="en-US" altLang="ko-KR" sz="1400" dirty="0"/>
              <a:t>Obviously, in addition to </a:t>
            </a:r>
            <a:r>
              <a:rPr lang="en-US" altLang="ko-KR" sz="1400" b="1" dirty="0"/>
              <a:t>creating</a:t>
            </a:r>
            <a:r>
              <a:rPr lang="en-US" altLang="ko-KR" sz="1400" dirty="0"/>
              <a:t> and </a:t>
            </a:r>
            <a:r>
              <a:rPr lang="en-US" altLang="ko-KR" sz="1400" b="1" dirty="0"/>
              <a:t>retrieving</a:t>
            </a:r>
            <a:r>
              <a:rPr lang="en-US" altLang="ko-KR" sz="1400" dirty="0"/>
              <a:t> custom object instances, you can also </a:t>
            </a:r>
            <a:r>
              <a:rPr lang="en-US" altLang="ko-KR" sz="1400" b="1" dirty="0"/>
              <a:t>delete</a:t>
            </a:r>
            <a:r>
              <a:rPr lang="en-US" altLang="ko-KR" sz="1400" dirty="0"/>
              <a:t> them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solidFill>
                  <a:srgbClr val="FF0000"/>
                </a:solidFill>
              </a:rPr>
              <a:t>NOTE : You’re deleting an instance of a Website, not the Website CRD resource</a:t>
            </a:r>
            <a:r>
              <a:rPr lang="en-US" altLang="ko-KR" sz="1400" dirty="0"/>
              <a:t>. You could also delete the CRD object itself, but let’s hold off on that for a while, because you’ll be creating additional Website instances later.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66A852A7-08EA-F2DA-EC6D-C5C761C09B25}"/>
              </a:ext>
            </a:extLst>
          </p:cNvPr>
          <p:cNvGrpSpPr/>
          <p:nvPr/>
        </p:nvGrpSpPr>
        <p:grpSpPr>
          <a:xfrm>
            <a:off x="838200" y="1555122"/>
            <a:ext cx="10515600" cy="2053055"/>
            <a:chOff x="838200" y="1555122"/>
            <a:chExt cx="10515600" cy="2053055"/>
          </a:xfrm>
        </p:grpSpPr>
        <p:grpSp>
          <p:nvGrpSpPr>
            <p:cNvPr id="10" name="그룹 9">
              <a:extLst>
                <a:ext uri="{FF2B5EF4-FFF2-40B4-BE49-F238E27FC236}">
                  <a16:creationId xmlns:a16="http://schemas.microsoft.com/office/drawing/2014/main" id="{960E9750-B382-DCCC-5A7B-3A383F2C5928}"/>
                </a:ext>
              </a:extLst>
            </p:cNvPr>
            <p:cNvGrpSpPr/>
            <p:nvPr/>
          </p:nvGrpSpPr>
          <p:grpSpPr>
            <a:xfrm>
              <a:off x="3047326" y="1555122"/>
              <a:ext cx="6097348" cy="573082"/>
              <a:chOff x="3047326" y="1555122"/>
              <a:chExt cx="6097348" cy="573082"/>
            </a:xfrm>
          </p:grpSpPr>
          <p:sp>
            <p:nvSpPr>
              <p:cNvPr id="8" name="TextBox 7">
                <a:extLst>
                  <a:ext uri="{FF2B5EF4-FFF2-40B4-BE49-F238E27FC236}">
                    <a16:creationId xmlns:a16="http://schemas.microsoft.com/office/drawing/2014/main" id="{E1A4144B-184A-CE00-B089-10CE9F554CF6}"/>
                  </a:ext>
                </a:extLst>
              </p:cNvPr>
              <p:cNvSpPr txBox="1"/>
              <p:nvPr/>
            </p:nvSpPr>
            <p:spPr>
              <a:xfrm>
                <a:off x="3047326" y="1555122"/>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delete </a:t>
                </a:r>
                <a:r>
                  <a:rPr lang="en-US" altLang="ko-KR" sz="1000" b="1" dirty="0">
                    <a:solidFill>
                      <a:srgbClr val="FF0000"/>
                    </a:solidFill>
                  </a:rPr>
                  <a:t>website </a:t>
                </a:r>
                <a:r>
                  <a:rPr lang="en-US" altLang="ko-KR" sz="1000" b="1" dirty="0" err="1">
                    <a:solidFill>
                      <a:srgbClr val="FF0000"/>
                    </a:solidFill>
                  </a:rPr>
                  <a:t>kubia</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9934206D-53A7-4CEA-2507-6D5ACC9176DA}"/>
                  </a:ext>
                </a:extLst>
              </p:cNvPr>
              <p:cNvSpPr/>
              <p:nvPr/>
            </p:nvSpPr>
            <p:spPr>
              <a:xfrm>
                <a:off x="5853239" y="1820707"/>
                <a:ext cx="485522" cy="30749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A72BE75A-A0D6-562C-AC37-FCD255FA09B2}"/>
                </a:ext>
              </a:extLst>
            </p:cNvPr>
            <p:cNvPicPr>
              <a:picLocks noChangeAspect="1"/>
            </p:cNvPicPr>
            <p:nvPr/>
          </p:nvPicPr>
          <p:blipFill>
            <a:blip r:embed="rId2"/>
            <a:stretch>
              <a:fillRect/>
            </a:stretch>
          </p:blipFill>
          <p:spPr>
            <a:xfrm>
              <a:off x="838200" y="2128204"/>
              <a:ext cx="10515600" cy="1479973"/>
            </a:xfrm>
            <a:prstGeom prst="rect">
              <a:avLst/>
            </a:prstGeom>
          </p:spPr>
        </p:pic>
      </p:grpSp>
    </p:spTree>
    <p:extLst>
      <p:ext uri="{BB962C8B-B14F-4D97-AF65-F5344CB8AC3E}">
        <p14:creationId xmlns:p14="http://schemas.microsoft.com/office/powerpoint/2010/main" val="29248002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Objects(12/28)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an Instance of a Custom Object :</a:t>
            </a:r>
            <a:endParaRPr lang="en-US" altLang="ko-KR" sz="1400" dirty="0"/>
          </a:p>
          <a:p>
            <a:pPr lvl="1">
              <a:buFont typeface="Wingdings" panose="05000000000000000000" pitchFamily="2" charset="2"/>
              <a:buChar char="§"/>
            </a:pPr>
            <a:r>
              <a:rPr lang="en-US" altLang="ko-KR" sz="1400" b="1" dirty="0"/>
              <a:t>By creating a “</a:t>
            </a:r>
            <a:r>
              <a:rPr lang="en-US" altLang="ko-KR" sz="1400" b="1" dirty="0" err="1">
                <a:solidFill>
                  <a:srgbClr val="FF0000"/>
                </a:solidFill>
              </a:rPr>
              <a:t>CustomResourceDefinition</a:t>
            </a:r>
            <a:r>
              <a:rPr lang="en-US" altLang="ko-KR" sz="1400" b="1" dirty="0"/>
              <a:t>” object, you can now store, retrieve, and delete custom objects through the Kubernetes API server</a:t>
            </a:r>
            <a:r>
              <a:rPr lang="en-US" altLang="ko-KR" sz="1400" dirty="0"/>
              <a:t>. These objects don’t do anything yet. </a:t>
            </a:r>
            <a:r>
              <a:rPr lang="en-US" altLang="ko-KR" sz="1400" b="1" dirty="0"/>
              <a:t>You’ll need to create a </a:t>
            </a:r>
            <a:r>
              <a:rPr lang="en-US" altLang="ko-KR" sz="1400" b="1" dirty="0">
                <a:solidFill>
                  <a:srgbClr val="FF0000"/>
                </a:solidFill>
              </a:rPr>
              <a:t>controller</a:t>
            </a:r>
            <a:r>
              <a:rPr lang="en-US" altLang="ko-KR" sz="1400" b="1" dirty="0"/>
              <a:t> to make them do something</a:t>
            </a:r>
            <a:r>
              <a:rPr lang="en-US" altLang="ko-KR" sz="1400" dirty="0"/>
              <a:t>.</a:t>
            </a:r>
          </a:p>
          <a:p>
            <a:pPr lvl="1">
              <a:buFont typeface="Wingdings" panose="05000000000000000000" pitchFamily="2" charset="2"/>
              <a:buChar char="§"/>
            </a:pPr>
            <a:r>
              <a:rPr lang="en-US" altLang="ko-KR" sz="1400" dirty="0"/>
              <a:t>In general, the point of creating custom objects like this isn’t always to make something happen when the object is created. </a:t>
            </a:r>
            <a:r>
              <a:rPr lang="en-US" altLang="ko-KR" sz="1400" b="1" dirty="0"/>
              <a:t>Certain custom objects are used to store data instead of using a more generic mechanism such as a “</a:t>
            </a:r>
            <a:r>
              <a:rPr lang="en-US" altLang="ko-KR" sz="1400" b="1" dirty="0" err="1"/>
              <a:t>ConfigMap</a:t>
            </a:r>
            <a:r>
              <a:rPr lang="en-US" altLang="ko-KR" sz="1400" b="1" dirty="0"/>
              <a:t>”</a:t>
            </a:r>
            <a:r>
              <a:rPr lang="en-US" altLang="ko-KR" sz="1400" dirty="0"/>
              <a:t>. </a:t>
            </a:r>
            <a:r>
              <a:rPr lang="en-US" altLang="ko-KR" sz="1400" b="1" dirty="0"/>
              <a:t>Applications running inside pods can query the API server for those objects and read whatever is stored in them</a:t>
            </a:r>
            <a:r>
              <a:rPr lang="en-US" altLang="ko-KR" sz="1400" dirty="0"/>
              <a:t>.</a:t>
            </a:r>
          </a:p>
          <a:p>
            <a:pPr lvl="1">
              <a:buFont typeface="Wingdings" panose="05000000000000000000" pitchFamily="2" charset="2"/>
              <a:buChar char="§"/>
            </a:pPr>
            <a:r>
              <a:rPr lang="en-US" altLang="ko-KR" sz="1400" dirty="0"/>
              <a:t>But in this case, we said you wanted the existence of </a:t>
            </a:r>
            <a:r>
              <a:rPr lang="en-US" altLang="ko-KR" sz="1400" b="1" dirty="0"/>
              <a:t>a “Website” object to result in the spinning up of a web server serving the contents of the “Git repository” referenced in the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A495294-FE84-9E7E-1407-935E3B64481E}"/>
              </a:ext>
            </a:extLst>
          </p:cNvPr>
          <p:cNvPicPr>
            <a:picLocks noChangeAspect="1"/>
          </p:cNvPicPr>
          <p:nvPr/>
        </p:nvPicPr>
        <p:blipFill>
          <a:blip r:embed="rId2"/>
          <a:stretch>
            <a:fillRect/>
          </a:stretch>
        </p:blipFill>
        <p:spPr>
          <a:xfrm>
            <a:off x="3286125" y="3429000"/>
            <a:ext cx="5619750" cy="2219325"/>
          </a:xfrm>
          <a:prstGeom prst="rect">
            <a:avLst/>
          </a:prstGeom>
        </p:spPr>
      </p:pic>
    </p:spTree>
    <p:extLst>
      <p:ext uri="{BB962C8B-B14F-4D97-AF65-F5344CB8AC3E}">
        <p14:creationId xmlns:p14="http://schemas.microsoft.com/office/powerpoint/2010/main" val="1756250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Objects(13/28)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Custom Resources with Custom Controllers :</a:t>
            </a:r>
            <a:endParaRPr lang="en-US" altLang="ko-KR" sz="1400" dirty="0"/>
          </a:p>
          <a:p>
            <a:pPr lvl="1">
              <a:buFont typeface="Wingdings" panose="05000000000000000000" pitchFamily="2" charset="2"/>
              <a:buChar char="§"/>
            </a:pPr>
            <a:r>
              <a:rPr lang="en-US" altLang="ko-KR" sz="1400" b="1" dirty="0"/>
              <a:t>To make your ”Website objects” run a web server pod exposed through a “</a:t>
            </a:r>
            <a:r>
              <a:rPr lang="en-US" altLang="ko-KR" sz="1400" b="1" dirty="0">
                <a:solidFill>
                  <a:srgbClr val="FF0000"/>
                </a:solidFill>
              </a:rPr>
              <a:t>Service</a:t>
            </a:r>
            <a:r>
              <a:rPr lang="en-US" altLang="ko-KR" sz="1400" b="1" dirty="0"/>
              <a:t>”, you’ll need to build and deploy a “Website controller”, which will </a:t>
            </a:r>
            <a:r>
              <a:rPr lang="en-US" altLang="ko-KR" sz="1400" b="1" dirty="0">
                <a:solidFill>
                  <a:srgbClr val="FF0000"/>
                </a:solidFill>
              </a:rPr>
              <a:t>watch</a:t>
            </a:r>
            <a:r>
              <a:rPr lang="en-US" altLang="ko-KR" sz="1400" b="1" dirty="0"/>
              <a:t> the API server for the creation of “Website objects” and then </a:t>
            </a:r>
            <a:r>
              <a:rPr lang="en-US" altLang="ko-KR" sz="1400" b="1" dirty="0">
                <a:solidFill>
                  <a:srgbClr val="FF0000"/>
                </a:solidFill>
              </a:rPr>
              <a:t>create the “Service” and the “web server Pod” for each of them</a:t>
            </a:r>
            <a:r>
              <a:rPr lang="en-US" altLang="ko-KR" sz="1400" dirty="0"/>
              <a:t>.</a:t>
            </a:r>
          </a:p>
          <a:p>
            <a:pPr lvl="1">
              <a:buFont typeface="Wingdings" panose="05000000000000000000" pitchFamily="2" charset="2"/>
              <a:buChar char="§"/>
            </a:pPr>
            <a:r>
              <a:rPr lang="en-US" altLang="ko-KR" sz="1400" b="1" dirty="0"/>
              <a:t>To make sure the Pod is managed and survives node failures, the controller will create a “Deployment” resource instead of an unmanaged Pod directly</a:t>
            </a:r>
            <a:r>
              <a:rPr lang="en-US" altLang="ko-KR" sz="1400" dirty="0"/>
              <a:t>. The controller’s operation is summarized in the following figure.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C5D5FE6A-3D6E-A159-3AE9-E40004F41C0F}"/>
              </a:ext>
            </a:extLst>
          </p:cNvPr>
          <p:cNvGrpSpPr/>
          <p:nvPr/>
        </p:nvGrpSpPr>
        <p:grpSpPr>
          <a:xfrm>
            <a:off x="4345858" y="2652339"/>
            <a:ext cx="3500284" cy="3106994"/>
            <a:chOff x="4345858" y="2652339"/>
            <a:chExt cx="3500284" cy="3106994"/>
          </a:xfrm>
        </p:grpSpPr>
        <p:pic>
          <p:nvPicPr>
            <p:cNvPr id="8" name="그림 7">
              <a:extLst>
                <a:ext uri="{FF2B5EF4-FFF2-40B4-BE49-F238E27FC236}">
                  <a16:creationId xmlns:a16="http://schemas.microsoft.com/office/drawing/2014/main" id="{7724D204-5213-C0F4-7F15-711F942E2FF3}"/>
                </a:ext>
              </a:extLst>
            </p:cNvPr>
            <p:cNvPicPr>
              <a:picLocks noChangeAspect="1"/>
            </p:cNvPicPr>
            <p:nvPr/>
          </p:nvPicPr>
          <p:blipFill>
            <a:blip r:embed="rId2"/>
            <a:stretch>
              <a:fillRect/>
            </a:stretch>
          </p:blipFill>
          <p:spPr>
            <a:xfrm>
              <a:off x="4345858" y="2652339"/>
              <a:ext cx="3500284" cy="3106994"/>
            </a:xfrm>
            <a:prstGeom prst="rect">
              <a:avLst/>
            </a:prstGeom>
          </p:spPr>
        </p:pic>
        <p:sp>
          <p:nvSpPr>
            <p:cNvPr id="9" name="직사각형 8">
              <a:extLst>
                <a:ext uri="{FF2B5EF4-FFF2-40B4-BE49-F238E27FC236}">
                  <a16:creationId xmlns:a16="http://schemas.microsoft.com/office/drawing/2014/main" id="{61BC64BE-30FC-1A0B-5B5C-160833157D51}"/>
                </a:ext>
              </a:extLst>
            </p:cNvPr>
            <p:cNvSpPr/>
            <p:nvPr/>
          </p:nvSpPr>
          <p:spPr>
            <a:xfrm>
              <a:off x="6497904" y="4232135"/>
              <a:ext cx="906308" cy="3965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47CA26AB-BA12-2C6F-F8B3-F9F886F4950B}"/>
                </a:ext>
              </a:extLst>
            </p:cNvPr>
            <p:cNvSpPr/>
            <p:nvPr/>
          </p:nvSpPr>
          <p:spPr>
            <a:xfrm>
              <a:off x="6497904" y="5047658"/>
              <a:ext cx="906308" cy="3965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8418923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Objects(14/28)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Custom Resources with Custom Controllers :</a:t>
            </a:r>
            <a:endParaRPr lang="en-US" altLang="ko-KR" sz="1400" dirty="0"/>
          </a:p>
          <a:p>
            <a:pPr lvl="1">
              <a:buFont typeface="Wingdings" panose="05000000000000000000" pitchFamily="2" charset="2"/>
              <a:buChar char="§"/>
            </a:pPr>
            <a:r>
              <a:rPr lang="en-US" altLang="ko-KR" sz="1400" dirty="0"/>
              <a:t>The simple initial version of the controller works well enough to show CRDs and the controller in action, but it’s far from being production-ready, because it’s overly simplified. The container image is available at “</a:t>
            </a:r>
            <a:r>
              <a:rPr lang="en-US" altLang="ko-KR" sz="1400" b="1" dirty="0"/>
              <a:t>hub.docker.com/knix008/</a:t>
            </a:r>
            <a:r>
              <a:rPr lang="en-US" altLang="ko-KR" sz="1400" b="1" dirty="0" err="1"/>
              <a:t>website-controller:latest</a:t>
            </a:r>
            <a:r>
              <a:rPr lang="en-US" altLang="ko-KR" sz="1400" dirty="0"/>
              <a:t>”, and the source code is at “</a:t>
            </a:r>
            <a:r>
              <a:rPr lang="en-US" altLang="ko-KR" sz="1400" b="1" dirty="0"/>
              <a:t>https://github.com/knix008/</a:t>
            </a:r>
            <a:r>
              <a:rPr lang="en-US" altLang="ko-KR" sz="1400" b="1" dirty="0" err="1"/>
              <a:t>Kubernetes_In_Action</a:t>
            </a:r>
            <a:r>
              <a:rPr lang="en-US" altLang="ko-KR" sz="1400" b="1" dirty="0"/>
              <a:t>/Part10/Website-Controller</a:t>
            </a:r>
            <a:r>
              <a:rPr lang="en-US" altLang="ko-KR" sz="1400" dirty="0"/>
              <a:t>”.</a:t>
            </a:r>
          </a:p>
          <a:p>
            <a:pPr lvl="1">
              <a:buFont typeface="Wingdings" panose="05000000000000000000" pitchFamily="2" charset="2"/>
              <a:buChar char="§"/>
            </a:pPr>
            <a:r>
              <a:rPr lang="en-US" altLang="ko-KR" sz="1400" b="1" dirty="0"/>
              <a:t>NOTICE : Before you run “$ make” command in the project directory, be sure that your Go compiler is installed after deleting previous version of Go compiler completely</a:t>
            </a:r>
            <a:r>
              <a:rPr lang="en-US" altLang="ko-KR" sz="1400" dirty="0"/>
              <a:t>.</a:t>
            </a:r>
          </a:p>
          <a:p>
            <a:pPr lvl="1">
              <a:buFont typeface="Wingdings" panose="05000000000000000000" pitchFamily="2" charset="2"/>
              <a:buChar char="§"/>
            </a:pPr>
            <a:r>
              <a:rPr lang="en-US" altLang="ko-KR" sz="1400" dirty="0"/>
              <a:t>To build binary and docker image, just run “</a:t>
            </a:r>
            <a:r>
              <a:rPr lang="en-US" altLang="ko-KR" sz="1400" b="1" dirty="0"/>
              <a:t>$ make image</a:t>
            </a:r>
            <a:r>
              <a:rPr lang="en-US" altLang="ko-KR" sz="1400" dirty="0"/>
              <a:t>” command in the project directory. After that, you need to login “</a:t>
            </a:r>
            <a:r>
              <a:rPr lang="en-US" altLang="ko-KR" sz="1400" b="1" dirty="0"/>
              <a:t>docker hub</a:t>
            </a:r>
            <a:r>
              <a:rPr lang="en-US" altLang="ko-KR" sz="1400" dirty="0"/>
              <a:t>”. Then, run “</a:t>
            </a:r>
            <a:r>
              <a:rPr lang="en-US" altLang="ko-KR" sz="1400" b="1" dirty="0"/>
              <a:t>docker push</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EF088388-E520-0D22-2A52-D9CB398719F2}"/>
              </a:ext>
            </a:extLst>
          </p:cNvPr>
          <p:cNvPicPr>
            <a:picLocks noChangeAspect="1"/>
          </p:cNvPicPr>
          <p:nvPr/>
        </p:nvPicPr>
        <p:blipFill>
          <a:blip r:embed="rId2"/>
          <a:stretch>
            <a:fillRect/>
          </a:stretch>
        </p:blipFill>
        <p:spPr>
          <a:xfrm>
            <a:off x="838200" y="3155268"/>
            <a:ext cx="10515600" cy="2687319"/>
          </a:xfrm>
          <a:prstGeom prst="rect">
            <a:avLst/>
          </a:prstGeom>
        </p:spPr>
      </p:pic>
    </p:spTree>
    <p:extLst>
      <p:ext uri="{BB962C8B-B14F-4D97-AF65-F5344CB8AC3E}">
        <p14:creationId xmlns:p14="http://schemas.microsoft.com/office/powerpoint/2010/main" val="42492377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The Docker Hub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Website Controller Registration :</a:t>
            </a:r>
            <a:endParaRPr lang="en-US" altLang="ko-KR" sz="1400" dirty="0"/>
          </a:p>
          <a:p>
            <a:pPr lvl="1">
              <a:buFont typeface="Wingdings" panose="05000000000000000000" pitchFamily="2" charset="2"/>
              <a:buChar char="§"/>
            </a:pPr>
            <a:r>
              <a:rPr lang="en-US" altLang="ko-KR" sz="1400" dirty="0"/>
              <a:t>After finishing the previous step, you can </a:t>
            </a:r>
            <a:r>
              <a:rPr lang="en-US" altLang="ko-KR" sz="1400" b="1" dirty="0"/>
              <a:t>check your docker image in your docker hub repository </a:t>
            </a:r>
            <a:r>
              <a:rPr lang="en-US" altLang="ko-KR" sz="1400" dirty="0"/>
              <a:t>like the following screenshot.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679C631-759D-D54F-D2EB-4A01FD4E3723}"/>
              </a:ext>
            </a:extLst>
          </p:cNvPr>
          <p:cNvGrpSpPr/>
          <p:nvPr/>
        </p:nvGrpSpPr>
        <p:grpSpPr>
          <a:xfrm>
            <a:off x="838200" y="1720641"/>
            <a:ext cx="10515600" cy="4542340"/>
            <a:chOff x="838200" y="1720641"/>
            <a:chExt cx="10515600" cy="4542340"/>
          </a:xfrm>
        </p:grpSpPr>
        <p:pic>
          <p:nvPicPr>
            <p:cNvPr id="8" name="그림 7">
              <a:extLst>
                <a:ext uri="{FF2B5EF4-FFF2-40B4-BE49-F238E27FC236}">
                  <a16:creationId xmlns:a16="http://schemas.microsoft.com/office/drawing/2014/main" id="{9E7558C8-B9BD-43B6-3C3E-B49AAA7FB790}"/>
                </a:ext>
              </a:extLst>
            </p:cNvPr>
            <p:cNvPicPr>
              <a:picLocks noChangeAspect="1"/>
            </p:cNvPicPr>
            <p:nvPr/>
          </p:nvPicPr>
          <p:blipFill>
            <a:blip r:embed="rId2"/>
            <a:stretch>
              <a:fillRect/>
            </a:stretch>
          </p:blipFill>
          <p:spPr>
            <a:xfrm>
              <a:off x="838200" y="1720641"/>
              <a:ext cx="10515600" cy="4542340"/>
            </a:xfrm>
            <a:prstGeom prst="rect">
              <a:avLst/>
            </a:prstGeom>
          </p:spPr>
        </p:pic>
        <p:sp>
          <p:nvSpPr>
            <p:cNvPr id="9" name="직사각형 8">
              <a:extLst>
                <a:ext uri="{FF2B5EF4-FFF2-40B4-BE49-F238E27FC236}">
                  <a16:creationId xmlns:a16="http://schemas.microsoft.com/office/drawing/2014/main" id="{6DCCF19A-A582-67A6-115A-07242489016F}"/>
                </a:ext>
              </a:extLst>
            </p:cNvPr>
            <p:cNvSpPr/>
            <p:nvPr/>
          </p:nvSpPr>
          <p:spPr>
            <a:xfrm>
              <a:off x="1181437" y="3827533"/>
              <a:ext cx="7226188" cy="73637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3042997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Objects(15/28)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Understanding What the Website Controller Does :</a:t>
            </a:r>
            <a:endParaRPr lang="en-US" altLang="ko-KR" sz="1400" dirty="0"/>
          </a:p>
          <a:p>
            <a:pPr lvl="1">
              <a:buFont typeface="Wingdings" panose="05000000000000000000" pitchFamily="2" charset="2"/>
              <a:buChar char="§"/>
            </a:pPr>
            <a:r>
              <a:rPr lang="en-US" altLang="ko-KR" sz="1400" b="1" dirty="0"/>
              <a:t>Immediately upon startup, the controller starts to </a:t>
            </a:r>
            <a:r>
              <a:rPr lang="en-US" altLang="ko-KR" sz="1400" b="1" dirty="0">
                <a:solidFill>
                  <a:srgbClr val="FF0000"/>
                </a:solidFill>
              </a:rPr>
              <a:t>watch “Website objects”</a:t>
            </a:r>
            <a:r>
              <a:rPr lang="en-US" altLang="ko-KR" sz="1400" b="1" dirty="0"/>
              <a:t> by requesting the following URL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may recognize the “hostname” and “port”—the controller isn’t connecting to the “API server” directly, but is instead connecting to the “</a:t>
            </a:r>
            <a:r>
              <a:rPr lang="en-US" altLang="ko-KR" sz="1400" b="1" dirty="0" err="1">
                <a:solidFill>
                  <a:srgbClr val="FF0000"/>
                </a:solidFill>
              </a:rPr>
              <a:t>kubectl</a:t>
            </a:r>
            <a:r>
              <a:rPr lang="en-US" altLang="ko-KR" sz="1400" b="1" dirty="0">
                <a:solidFill>
                  <a:srgbClr val="FF0000"/>
                </a:solidFill>
              </a:rPr>
              <a:t> proxy</a:t>
            </a:r>
            <a:r>
              <a:rPr lang="en-US" altLang="ko-KR" sz="1400" b="1" dirty="0"/>
              <a:t>” process</a:t>
            </a:r>
            <a:r>
              <a:rPr lang="en-US" altLang="ko-KR" sz="1400" dirty="0"/>
              <a:t>, </a:t>
            </a:r>
            <a:r>
              <a:rPr lang="en-US" altLang="ko-KR" sz="1400" b="1" dirty="0">
                <a:solidFill>
                  <a:srgbClr val="FF0000"/>
                </a:solidFill>
              </a:rPr>
              <a:t>which runs in a “sidecar container” in the same pod and acts as the “ambassador” to the “API server” </a:t>
            </a:r>
            <a:r>
              <a:rPr lang="en-US" altLang="ko-KR" sz="1400" b="1" dirty="0"/>
              <a:t>(we examined the “ambassador pattern”)</a:t>
            </a:r>
            <a:r>
              <a:rPr lang="en-US" altLang="ko-KR" sz="1400" dirty="0"/>
              <a:t>. </a:t>
            </a:r>
            <a:r>
              <a:rPr lang="en-US" altLang="ko-KR" sz="1400" b="1" dirty="0"/>
              <a:t>The proxy forwards the request to the API server, taking care of both </a:t>
            </a:r>
            <a:r>
              <a:rPr lang="en-US" altLang="ko-KR" sz="1400" dirty="0"/>
              <a:t>“</a:t>
            </a:r>
            <a:r>
              <a:rPr lang="en-US" altLang="ko-KR" sz="1400" b="1" dirty="0"/>
              <a:t>TLS encryption and authentication</a:t>
            </a:r>
            <a:r>
              <a:rPr lang="en-US" altLang="ko-KR" sz="1400" dirty="0"/>
              <a:t>” (see the following figure).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D8480C4-975A-2161-8799-ABDE56FEBE38}"/>
              </a:ext>
            </a:extLst>
          </p:cNvPr>
          <p:cNvSpPr txBox="1"/>
          <p:nvPr/>
        </p:nvSpPr>
        <p:spPr>
          <a:xfrm>
            <a:off x="3047326" y="1594647"/>
            <a:ext cx="6097348" cy="246221"/>
          </a:xfrm>
          <a:prstGeom prst="rect">
            <a:avLst/>
          </a:prstGeom>
          <a:noFill/>
          <a:ln>
            <a:solidFill>
              <a:schemeClr val="bg1">
                <a:lumMod val="50000"/>
              </a:schemeClr>
            </a:solidFill>
          </a:ln>
        </p:spPr>
        <p:txBody>
          <a:bodyPr wrap="square">
            <a:spAutoFit/>
          </a:bodyPr>
          <a:lstStyle/>
          <a:p>
            <a:r>
              <a:rPr lang="en-US" altLang="ko-KR" sz="1000" b="1" dirty="0"/>
              <a:t>http://localhost:8001/</a:t>
            </a:r>
            <a:r>
              <a:rPr lang="en-US" altLang="ko-KR" sz="1000" b="1" dirty="0">
                <a:solidFill>
                  <a:srgbClr val="FF0000"/>
                </a:solidFill>
              </a:rPr>
              <a:t>apis/extensions.example.com/v1/websites?watch=true</a:t>
            </a:r>
          </a:p>
        </p:txBody>
      </p:sp>
      <p:pic>
        <p:nvPicPr>
          <p:cNvPr id="10" name="그림 9">
            <a:extLst>
              <a:ext uri="{FF2B5EF4-FFF2-40B4-BE49-F238E27FC236}">
                <a16:creationId xmlns:a16="http://schemas.microsoft.com/office/drawing/2014/main" id="{795CD305-CD68-5103-C01D-855CF672BAC4}"/>
              </a:ext>
            </a:extLst>
          </p:cNvPr>
          <p:cNvPicPr>
            <a:picLocks noChangeAspect="1"/>
          </p:cNvPicPr>
          <p:nvPr/>
        </p:nvPicPr>
        <p:blipFill>
          <a:blip r:embed="rId2"/>
          <a:stretch>
            <a:fillRect/>
          </a:stretch>
        </p:blipFill>
        <p:spPr>
          <a:xfrm>
            <a:off x="2871019" y="3205633"/>
            <a:ext cx="6449961" cy="1838632"/>
          </a:xfrm>
          <a:prstGeom prst="rect">
            <a:avLst/>
          </a:prstGeom>
        </p:spPr>
      </p:pic>
    </p:spTree>
    <p:extLst>
      <p:ext uri="{BB962C8B-B14F-4D97-AF65-F5344CB8AC3E}">
        <p14:creationId xmlns:p14="http://schemas.microsoft.com/office/powerpoint/2010/main" val="2099994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Objects(16/28)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Understanding What the Website Controller Does :</a:t>
            </a:r>
            <a:endParaRPr lang="en-US" altLang="ko-KR" sz="1400" dirty="0"/>
          </a:p>
          <a:p>
            <a:pPr lvl="1">
              <a:buFont typeface="Wingdings" panose="05000000000000000000" pitchFamily="2" charset="2"/>
              <a:buChar char="§"/>
            </a:pPr>
            <a:r>
              <a:rPr lang="en-US" altLang="ko-KR" sz="1400" b="1" dirty="0"/>
              <a:t>Through the connection opened by this “</a:t>
            </a:r>
            <a:r>
              <a:rPr lang="en-US" altLang="ko-KR" sz="1400" b="1" dirty="0">
                <a:solidFill>
                  <a:srgbClr val="FF0000"/>
                </a:solidFill>
              </a:rPr>
              <a:t>HTTP GET request</a:t>
            </a:r>
            <a:r>
              <a:rPr lang="en-US" altLang="ko-KR" sz="1400" b="1" dirty="0"/>
              <a:t>”, the API server will send watch events for every change to any “Website” object</a:t>
            </a:r>
            <a:r>
              <a:rPr lang="en-US" altLang="ko-KR" sz="1400" dirty="0"/>
              <a:t>.</a:t>
            </a:r>
          </a:p>
          <a:p>
            <a:pPr lvl="1">
              <a:buFont typeface="Wingdings" panose="05000000000000000000" pitchFamily="2" charset="2"/>
              <a:buChar char="§"/>
            </a:pPr>
            <a:r>
              <a:rPr lang="en-US" altLang="ko-KR" sz="1400" b="1" dirty="0"/>
              <a:t>The API server sends the “ADDED” watch event every time a new Website object is created. When the controller receives such an event, it extracts the “Website’s name” and “the URL of the Git repository” from “the Website object” it received in the watch event and creates a “</a:t>
            </a:r>
            <a:r>
              <a:rPr lang="en-US" altLang="ko-KR" sz="1400" b="1" dirty="0">
                <a:solidFill>
                  <a:srgbClr val="FF0000"/>
                </a:solidFill>
              </a:rPr>
              <a:t>Deployment</a:t>
            </a:r>
            <a:r>
              <a:rPr lang="en-US" altLang="ko-KR" sz="1400" b="1" dirty="0"/>
              <a:t>” and a “</a:t>
            </a:r>
            <a:r>
              <a:rPr lang="en-US" altLang="ko-KR" sz="1400" b="1" dirty="0">
                <a:solidFill>
                  <a:srgbClr val="FF0000"/>
                </a:solidFill>
              </a:rPr>
              <a:t>Service</a:t>
            </a:r>
            <a:r>
              <a:rPr lang="en-US" altLang="ko-KR" sz="1400" b="1" dirty="0"/>
              <a:t>” object by posting their JSON manifests to the API server</a:t>
            </a:r>
            <a:r>
              <a:rPr lang="en-US" altLang="ko-KR" sz="1400" dirty="0"/>
              <a:t>.</a:t>
            </a:r>
          </a:p>
          <a:p>
            <a:pPr lvl="1">
              <a:buFont typeface="Wingdings" panose="05000000000000000000" pitchFamily="2" charset="2"/>
              <a:buChar char="§"/>
            </a:pPr>
            <a:r>
              <a:rPr lang="en-US" altLang="ko-KR" sz="1400" b="1" dirty="0"/>
              <a:t>The Deployment resource contains a template for a pod with two containers (shown in the following figure) </a:t>
            </a:r>
            <a:r>
              <a:rPr lang="en-US" altLang="ko-KR" sz="1400" dirty="0"/>
              <a:t>: </a:t>
            </a:r>
            <a:r>
              <a:rPr lang="en-US" altLang="ko-KR" sz="1400" b="1" dirty="0"/>
              <a:t>one running an “nginx” server and another one running a “</a:t>
            </a:r>
            <a:r>
              <a:rPr lang="en-US" altLang="ko-KR" sz="1400" b="1" dirty="0" err="1"/>
              <a:t>gitsync</a:t>
            </a:r>
            <a:r>
              <a:rPr lang="en-US" altLang="ko-KR" sz="1400" b="1" dirty="0"/>
              <a:t>” process, which keeps a local directory synced with the contents of a Git repo</a:t>
            </a:r>
            <a:r>
              <a:rPr lang="en-US" altLang="ko-KR" sz="1400" dirty="0"/>
              <a:t>. </a:t>
            </a:r>
            <a:r>
              <a:rPr lang="en-US" altLang="ko-KR" sz="1400" b="1" dirty="0"/>
              <a:t>The local directory is shared with the nginx container through an “</a:t>
            </a:r>
            <a:r>
              <a:rPr lang="en-US" altLang="ko-KR" sz="1400" b="1" dirty="0" err="1"/>
              <a:t>emptyDir</a:t>
            </a:r>
            <a:r>
              <a:rPr lang="en-US" altLang="ko-KR" sz="1400" b="1" dirty="0"/>
              <a:t>” volume</a:t>
            </a:r>
            <a:r>
              <a:rPr lang="en-US" altLang="ko-KR" sz="1400" dirty="0"/>
              <a:t> (you did something similar, but instead of keeping the local directory synced with a Git repo, you used a </a:t>
            </a:r>
            <a:r>
              <a:rPr lang="en-US" altLang="ko-KR" sz="1400" b="1" dirty="0"/>
              <a:t>“</a:t>
            </a:r>
            <a:r>
              <a:rPr lang="en-US" altLang="ko-KR" sz="1400" b="1" dirty="0" err="1">
                <a:solidFill>
                  <a:srgbClr val="FF0000"/>
                </a:solidFill>
              </a:rPr>
              <a:t>gitRepo</a:t>
            </a:r>
            <a:r>
              <a:rPr lang="en-US" altLang="ko-KR" sz="1400" b="1" dirty="0">
                <a:solidFill>
                  <a:srgbClr val="FF0000"/>
                </a:solidFill>
              </a:rPr>
              <a:t> volume</a:t>
            </a:r>
            <a:r>
              <a:rPr lang="en-US" altLang="ko-KR" sz="1400" b="1" dirty="0"/>
              <a:t>” to download the Git repo’s contents at pod startup</a:t>
            </a:r>
            <a:r>
              <a:rPr lang="en-US" altLang="ko-KR" sz="1400" dirty="0"/>
              <a:t>; </a:t>
            </a:r>
            <a:r>
              <a:rPr lang="en-US" altLang="ko-KR" sz="1400" b="1" dirty="0"/>
              <a:t>the volume’s contents weren’t kept in sync with the Git repo afterward</a:t>
            </a:r>
            <a:r>
              <a:rPr lang="en-US" altLang="ko-KR" sz="1400" dirty="0"/>
              <a:t>). </a:t>
            </a:r>
            <a:r>
              <a:rPr lang="en-US" altLang="ko-KR" sz="1400" b="1" dirty="0"/>
              <a:t>The Service is a “</a:t>
            </a:r>
            <a:r>
              <a:rPr lang="en-US" altLang="ko-KR" sz="1400" b="1" dirty="0" err="1">
                <a:solidFill>
                  <a:srgbClr val="FF0000"/>
                </a:solidFill>
              </a:rPr>
              <a:t>NodePort</a:t>
            </a:r>
            <a:r>
              <a:rPr lang="en-US" altLang="ko-KR" sz="1400" b="1" dirty="0"/>
              <a:t>” Service</a:t>
            </a:r>
            <a:r>
              <a:rPr lang="en-US" altLang="ko-KR" sz="1400" dirty="0"/>
              <a:t>, </a:t>
            </a:r>
            <a:r>
              <a:rPr lang="en-US" altLang="ko-KR" sz="1400" b="1" dirty="0"/>
              <a:t>which </a:t>
            </a:r>
            <a:r>
              <a:rPr lang="en-US" altLang="ko-KR" sz="1400" b="1" dirty="0">
                <a:solidFill>
                  <a:srgbClr val="FF0000"/>
                </a:solidFill>
              </a:rPr>
              <a:t>exposes your web server pod through a random port on each node </a:t>
            </a:r>
            <a:r>
              <a:rPr lang="en-US" altLang="ko-KR" sz="1400" b="1" dirty="0"/>
              <a:t>(</a:t>
            </a:r>
            <a:r>
              <a:rPr lang="en-US" altLang="ko-KR" sz="1400" b="1" dirty="0">
                <a:solidFill>
                  <a:srgbClr val="FF0000"/>
                </a:solidFill>
              </a:rPr>
              <a:t>the same port is used on all nodes</a:t>
            </a:r>
            <a:r>
              <a:rPr lang="en-US" altLang="ko-KR" sz="1400" b="1" dirty="0"/>
              <a:t>)</a:t>
            </a:r>
            <a:r>
              <a:rPr lang="en-US" altLang="ko-KR" sz="1400" dirty="0"/>
              <a:t>. </a:t>
            </a:r>
            <a:r>
              <a:rPr lang="en-US" altLang="ko-KR" sz="1400" b="1" dirty="0">
                <a:solidFill>
                  <a:srgbClr val="FF0000"/>
                </a:solidFill>
              </a:rPr>
              <a:t>When a pod is created by the Deployment object, clients can access the website through the node port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6938452-2851-8774-21FE-3736A313028A}"/>
              </a:ext>
            </a:extLst>
          </p:cNvPr>
          <p:cNvGrpSpPr/>
          <p:nvPr/>
        </p:nvGrpSpPr>
        <p:grpSpPr>
          <a:xfrm>
            <a:off x="4275031" y="4027763"/>
            <a:ext cx="3641938" cy="2381267"/>
            <a:chOff x="4275031" y="4027763"/>
            <a:chExt cx="3641938" cy="2381267"/>
          </a:xfrm>
        </p:grpSpPr>
        <p:pic>
          <p:nvPicPr>
            <p:cNvPr id="8" name="그림 7">
              <a:extLst>
                <a:ext uri="{FF2B5EF4-FFF2-40B4-BE49-F238E27FC236}">
                  <a16:creationId xmlns:a16="http://schemas.microsoft.com/office/drawing/2014/main" id="{BD69B5A7-D016-8CE0-0982-5DDB63CBE612}"/>
                </a:ext>
              </a:extLst>
            </p:cNvPr>
            <p:cNvPicPr>
              <a:picLocks noChangeAspect="1"/>
            </p:cNvPicPr>
            <p:nvPr/>
          </p:nvPicPr>
          <p:blipFill>
            <a:blip r:embed="rId2"/>
            <a:stretch>
              <a:fillRect/>
            </a:stretch>
          </p:blipFill>
          <p:spPr>
            <a:xfrm>
              <a:off x="4275031" y="4027763"/>
              <a:ext cx="3641938" cy="2381267"/>
            </a:xfrm>
            <a:prstGeom prst="rect">
              <a:avLst/>
            </a:prstGeom>
          </p:spPr>
        </p:pic>
        <p:sp>
          <p:nvSpPr>
            <p:cNvPr id="9" name="직사각형 8">
              <a:extLst>
                <a:ext uri="{FF2B5EF4-FFF2-40B4-BE49-F238E27FC236}">
                  <a16:creationId xmlns:a16="http://schemas.microsoft.com/office/drawing/2014/main" id="{8D9E81BC-03AE-4DD6-F2F1-52063A2EBCA9}"/>
                </a:ext>
              </a:extLst>
            </p:cNvPr>
            <p:cNvSpPr/>
            <p:nvPr/>
          </p:nvSpPr>
          <p:spPr>
            <a:xfrm>
              <a:off x="5413572" y="4830945"/>
              <a:ext cx="776835" cy="77683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2968455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Objects(17/28)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Understanding What the Website Controller Does :</a:t>
            </a:r>
            <a:endParaRPr lang="en-US" altLang="ko-KR" sz="1400" dirty="0"/>
          </a:p>
          <a:p>
            <a:pPr lvl="1">
              <a:buFont typeface="Wingdings" panose="05000000000000000000" pitchFamily="2" charset="2"/>
              <a:buChar char="§"/>
            </a:pPr>
            <a:r>
              <a:rPr lang="en-US" altLang="ko-KR" sz="1400" b="1" dirty="0"/>
              <a:t>The API server also sends a “</a:t>
            </a:r>
            <a:r>
              <a:rPr lang="en-US" altLang="ko-KR" sz="1400" b="1" dirty="0">
                <a:solidFill>
                  <a:srgbClr val="FF0000"/>
                </a:solidFill>
              </a:rPr>
              <a:t>DELETED</a:t>
            </a:r>
            <a:r>
              <a:rPr lang="en-US" altLang="ko-KR" sz="1400" b="1" dirty="0"/>
              <a:t>” watch event when a “Website” resource instance is deleted</a:t>
            </a:r>
            <a:r>
              <a:rPr lang="en-US" altLang="ko-KR" sz="1400" dirty="0"/>
              <a:t>. </a:t>
            </a:r>
            <a:r>
              <a:rPr lang="en-US" altLang="ko-KR" sz="1400" b="1" dirty="0"/>
              <a:t>Upon receiving the event, the controller deletes the Deployment and the Service resources it created earlier</a:t>
            </a:r>
            <a:r>
              <a:rPr lang="en-US" altLang="ko-KR" sz="1400" dirty="0"/>
              <a:t>. </a:t>
            </a:r>
            <a:r>
              <a:rPr lang="en-US" altLang="ko-KR" sz="1400" b="1" dirty="0"/>
              <a:t>As soon as a user deletes the “Website” instance, the controller will shut down and remove the web server serving that website</a:t>
            </a:r>
            <a:r>
              <a:rPr lang="en-US" altLang="ko-KR" sz="1400" dirty="0"/>
              <a:t>.</a:t>
            </a:r>
          </a:p>
          <a:p>
            <a:pPr lvl="1">
              <a:buFont typeface="Wingdings" panose="05000000000000000000" pitchFamily="2" charset="2"/>
              <a:buChar char="§"/>
            </a:pPr>
            <a:r>
              <a:rPr lang="en-US" altLang="ko-KR" sz="1400" b="1" dirty="0"/>
              <a:t>NOTE : The oversimplified controller isn’t implemented properly. The way it watches the API objects doesn’t guarantee it won’t miss individual watch events</a:t>
            </a:r>
            <a:r>
              <a:rPr lang="en-US" altLang="ko-KR" sz="1400" dirty="0"/>
              <a:t>. </a:t>
            </a:r>
            <a:r>
              <a:rPr lang="en-US" altLang="ko-KR" sz="1400" b="1" dirty="0"/>
              <a:t>The proper way to watch objects through the API server is to not only watch them, but also </a:t>
            </a:r>
            <a:r>
              <a:rPr lang="en-US" altLang="ko-KR" sz="1400" b="1" dirty="0">
                <a:solidFill>
                  <a:srgbClr val="FF0000"/>
                </a:solidFill>
              </a:rPr>
              <a:t>periodically re-list all objects</a:t>
            </a:r>
            <a:r>
              <a:rPr lang="en-US" altLang="ko-KR" sz="1400" b="1" dirty="0"/>
              <a:t> in case any watch events were missed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B1920536-DFAB-8E5C-CCAA-619DA95D2C8E}"/>
              </a:ext>
            </a:extLst>
          </p:cNvPr>
          <p:cNvPicPr>
            <a:picLocks noChangeAspect="1"/>
          </p:cNvPicPr>
          <p:nvPr/>
        </p:nvPicPr>
        <p:blipFill>
          <a:blip r:embed="rId2"/>
          <a:stretch>
            <a:fillRect/>
          </a:stretch>
        </p:blipFill>
        <p:spPr>
          <a:xfrm>
            <a:off x="3694351" y="3116519"/>
            <a:ext cx="4803297" cy="2669833"/>
          </a:xfrm>
          <a:prstGeom prst="rect">
            <a:avLst/>
          </a:prstGeom>
        </p:spPr>
      </p:pic>
    </p:spTree>
    <p:extLst>
      <p:ext uri="{BB962C8B-B14F-4D97-AF65-F5344CB8AC3E}">
        <p14:creationId xmlns:p14="http://schemas.microsoft.com/office/powerpoint/2010/main" val="11390584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Objects(18/28)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the Controller as a Pod :</a:t>
            </a:r>
            <a:endParaRPr lang="en-US" altLang="ko-KR" sz="1400" dirty="0"/>
          </a:p>
          <a:p>
            <a:pPr lvl="1">
              <a:buFont typeface="Wingdings" panose="05000000000000000000" pitchFamily="2" charset="2"/>
              <a:buChar char="§"/>
            </a:pPr>
            <a:r>
              <a:rPr lang="en-US" altLang="ko-KR" sz="1400" b="1" dirty="0"/>
              <a:t>During development, you can the controller on your local development laptop and use a locally running “</a:t>
            </a:r>
            <a:r>
              <a:rPr lang="en-US" altLang="ko-KR" sz="1400" b="1" dirty="0" err="1"/>
              <a:t>kubectl</a:t>
            </a:r>
            <a:r>
              <a:rPr lang="en-US" altLang="ko-KR" sz="1400" b="1" dirty="0"/>
              <a:t> proxy” process (not running as a pod) as the ambassador to the Kubernetes API server</a:t>
            </a:r>
            <a:r>
              <a:rPr lang="en-US" altLang="ko-KR" sz="1400" dirty="0"/>
              <a:t>. This allows you to develop quickly, because you don’t need to build a container image after every change to the source code and then run it inside Kubernetes.</a:t>
            </a:r>
          </a:p>
          <a:p>
            <a:pPr lvl="1">
              <a:buFont typeface="Wingdings" panose="05000000000000000000" pitchFamily="2" charset="2"/>
              <a:buChar char="§"/>
            </a:pPr>
            <a:r>
              <a:rPr lang="en-US" altLang="ko-KR" sz="1400" b="1" dirty="0"/>
              <a:t>When you are ready to deploy the controller into production, the best way is to run the controller inside Kubernetes itself, the way you do with all the other core controllers</a:t>
            </a:r>
            <a:r>
              <a:rPr lang="en-US" altLang="ko-KR" sz="1400" dirty="0"/>
              <a:t>. </a:t>
            </a:r>
            <a:r>
              <a:rPr lang="en-US" altLang="ko-KR" sz="1400" b="1" dirty="0">
                <a:solidFill>
                  <a:srgbClr val="FF0000"/>
                </a:solidFill>
              </a:rPr>
              <a:t>To run the controller in Kubernetes, you can deploy it through a “Deployment” resource</a:t>
            </a:r>
            <a:r>
              <a:rPr lang="en-US" altLang="ko-KR" sz="1400" dirty="0"/>
              <a:t>. The following listing shows an example of such a Deployment.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2B133247-E207-AEE2-E296-97D273A04D31}"/>
              </a:ext>
            </a:extLst>
          </p:cNvPr>
          <p:cNvGrpSpPr/>
          <p:nvPr/>
        </p:nvGrpSpPr>
        <p:grpSpPr>
          <a:xfrm>
            <a:off x="3047326" y="2963429"/>
            <a:ext cx="6097348" cy="2862322"/>
            <a:chOff x="3047326" y="2866324"/>
            <a:chExt cx="6097348" cy="2862322"/>
          </a:xfrm>
        </p:grpSpPr>
        <p:sp>
          <p:nvSpPr>
            <p:cNvPr id="8" name="TextBox 7">
              <a:extLst>
                <a:ext uri="{FF2B5EF4-FFF2-40B4-BE49-F238E27FC236}">
                  <a16:creationId xmlns:a16="http://schemas.microsoft.com/office/drawing/2014/main" id="{445306DD-BFDB-F126-2AF1-0D19D3B9AC81}"/>
                </a:ext>
              </a:extLst>
            </p:cNvPr>
            <p:cNvSpPr txBox="1"/>
            <p:nvPr/>
          </p:nvSpPr>
          <p:spPr>
            <a:xfrm>
              <a:off x="3047326" y="2866324"/>
              <a:ext cx="6097348" cy="2862322"/>
            </a:xfrm>
            <a:prstGeom prst="rect">
              <a:avLst/>
            </a:prstGeom>
            <a:noFill/>
            <a:ln>
              <a:solidFill>
                <a:schemeClr val="bg1">
                  <a:lumMod val="50000"/>
                </a:schemeClr>
              </a:solidFill>
            </a:ln>
          </p:spPr>
          <p:txBody>
            <a:bodyPr wrap="square">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website-controller</a:t>
              </a:r>
            </a:p>
            <a:p>
              <a:r>
                <a:rPr lang="en-US" altLang="ko-KR" sz="1000" b="1" dirty="0"/>
                <a:t>spec:</a:t>
              </a:r>
            </a:p>
            <a:p>
              <a:r>
                <a:rPr lang="en-US" altLang="ko-KR" sz="1000" b="1" dirty="0"/>
                <a:t>  replicas: 1</a:t>
              </a:r>
            </a:p>
            <a:p>
              <a:r>
                <a:rPr lang="en-US" altLang="ko-KR" sz="1000" b="1" dirty="0"/>
                <a:t>  template:</a:t>
              </a:r>
            </a:p>
            <a:p>
              <a:r>
                <a:rPr lang="en-US" altLang="ko-KR" sz="1000" b="1" dirty="0"/>
                <a:t>    metadata:</a:t>
              </a:r>
            </a:p>
            <a:p>
              <a:r>
                <a:rPr lang="en-US" altLang="ko-KR" sz="1000" b="1" dirty="0"/>
                <a:t>      name: website-controller</a:t>
              </a:r>
            </a:p>
            <a:p>
              <a:r>
                <a:rPr lang="en-US" altLang="ko-KR" sz="1000" b="1" dirty="0"/>
                <a:t>      labels:</a:t>
              </a:r>
            </a:p>
            <a:p>
              <a:r>
                <a:rPr lang="en-US" altLang="ko-KR" sz="1000" b="1" dirty="0"/>
                <a:t>        app: website-controller</a:t>
              </a:r>
            </a:p>
            <a:p>
              <a:r>
                <a:rPr lang="en-US" altLang="ko-KR" sz="1000" b="1" dirty="0"/>
                <a:t>    spec:</a:t>
              </a:r>
            </a:p>
            <a:p>
              <a:r>
                <a:rPr lang="en-US" altLang="ko-KR" sz="1000" b="1" dirty="0"/>
                <a:t>      </a:t>
              </a:r>
              <a:r>
                <a:rPr lang="en-US" altLang="ko-KR" sz="1000" b="1" dirty="0" err="1">
                  <a:solidFill>
                    <a:srgbClr val="FF0000"/>
                  </a:solidFill>
                </a:rPr>
                <a:t>serviceAccountName</a:t>
              </a:r>
              <a:r>
                <a:rPr lang="en-US" altLang="ko-KR" sz="1000" b="1" dirty="0">
                  <a:solidFill>
                    <a:srgbClr val="FF0000"/>
                  </a:solidFill>
                </a:rPr>
                <a:t>: website-controller</a:t>
              </a:r>
            </a:p>
            <a:p>
              <a:r>
                <a:rPr lang="en-US" altLang="ko-KR" sz="1000" b="1" dirty="0"/>
                <a:t>      containers:</a:t>
              </a:r>
            </a:p>
            <a:p>
              <a:r>
                <a:rPr lang="en-US" altLang="ko-KR" sz="1000" b="1" dirty="0"/>
                <a:t>      - name: main</a:t>
              </a:r>
            </a:p>
            <a:p>
              <a:r>
                <a:rPr lang="en-US" altLang="ko-KR" sz="1000" b="1" dirty="0"/>
                <a:t>        </a:t>
              </a:r>
              <a:r>
                <a:rPr lang="en-US" altLang="ko-KR" sz="1000" b="1" dirty="0">
                  <a:solidFill>
                    <a:srgbClr val="FF0000"/>
                  </a:solidFill>
                </a:rPr>
                <a:t>image: knix008/website-controller</a:t>
              </a:r>
            </a:p>
            <a:p>
              <a:r>
                <a:rPr lang="en-US" altLang="ko-KR" sz="1000" b="1" dirty="0"/>
                <a:t>      - name: proxy</a:t>
              </a:r>
            </a:p>
            <a:p>
              <a:r>
                <a:rPr lang="en-US" altLang="ko-KR" sz="1000" b="1" dirty="0"/>
                <a:t>        </a:t>
              </a:r>
              <a:r>
                <a:rPr lang="en-US" altLang="ko-KR" sz="1000" b="1" dirty="0">
                  <a:solidFill>
                    <a:srgbClr val="FF0000"/>
                  </a:solidFill>
                </a:rPr>
                <a:t>image: knix008/</a:t>
              </a:r>
              <a:r>
                <a:rPr lang="en-US" altLang="ko-KR" sz="1000" b="1" dirty="0" err="1">
                  <a:solidFill>
                    <a:srgbClr val="FF0000"/>
                  </a:solidFill>
                </a:rPr>
                <a:t>kubectl-proxy:latest</a:t>
              </a:r>
              <a:endParaRPr lang="en-US" altLang="ko-KR" sz="1000" b="1" dirty="0">
                <a:solidFill>
                  <a:srgbClr val="FF0000"/>
                </a:solidFill>
              </a:endParaRPr>
            </a:p>
          </p:txBody>
        </p:sp>
        <p:sp>
          <p:nvSpPr>
            <p:cNvPr id="9" name="TextBox 8">
              <a:extLst>
                <a:ext uri="{FF2B5EF4-FFF2-40B4-BE49-F238E27FC236}">
                  <a16:creationId xmlns:a16="http://schemas.microsoft.com/office/drawing/2014/main" id="{0D17EBDC-F152-2E2C-6CC3-E7241C119FE8}"/>
                </a:ext>
              </a:extLst>
            </p:cNvPr>
            <p:cNvSpPr txBox="1"/>
            <p:nvPr/>
          </p:nvSpPr>
          <p:spPr>
            <a:xfrm>
              <a:off x="7522114" y="2866324"/>
              <a:ext cx="1622560" cy="246221"/>
            </a:xfrm>
            <a:prstGeom prst="rect">
              <a:avLst/>
            </a:prstGeom>
            <a:noFill/>
          </p:spPr>
          <p:txBody>
            <a:bodyPr wrap="none" rtlCol="0">
              <a:spAutoFit/>
            </a:bodyPr>
            <a:lstStyle/>
            <a:p>
              <a:pPr algn="ctr"/>
              <a:r>
                <a:rPr lang="en-US" altLang="ko-KR" sz="1000" b="1" dirty="0"/>
                <a:t>website-</a:t>
              </a:r>
              <a:r>
                <a:rPr lang="en-US" altLang="ko-KR" sz="1000" b="1" dirty="0" err="1"/>
                <a:t>controller.yaml</a:t>
              </a:r>
              <a:endParaRPr lang="ko-KR" altLang="en-US" sz="1000" b="1" dirty="0"/>
            </a:p>
          </p:txBody>
        </p:sp>
      </p:grpSp>
    </p:spTree>
    <p:extLst>
      <p:ext uri="{BB962C8B-B14F-4D97-AF65-F5344CB8AC3E}">
        <p14:creationId xmlns:p14="http://schemas.microsoft.com/office/powerpoint/2010/main" val="1017259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Objects(19/28)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the Controller as a Pod :</a:t>
            </a:r>
            <a:endParaRPr lang="en-US" altLang="ko-KR" sz="1400" dirty="0"/>
          </a:p>
          <a:p>
            <a:pPr lvl="1">
              <a:buFont typeface="Wingdings" panose="05000000000000000000" pitchFamily="2" charset="2"/>
              <a:buChar char="§"/>
            </a:pPr>
            <a:r>
              <a:rPr lang="en-US" altLang="ko-KR" sz="1400" b="1" dirty="0"/>
              <a:t>As you can see, the Deployment deploys </a:t>
            </a:r>
            <a:r>
              <a:rPr lang="en-US" altLang="ko-KR" sz="1400" b="1" dirty="0">
                <a:solidFill>
                  <a:srgbClr val="FF0000"/>
                </a:solidFill>
              </a:rPr>
              <a:t>a single replica of a two-container pod</a:t>
            </a:r>
            <a:r>
              <a:rPr lang="en-US" altLang="ko-KR" sz="1400" dirty="0"/>
              <a:t>. </a:t>
            </a:r>
            <a:r>
              <a:rPr lang="en-US" altLang="ko-KR" sz="1400" b="1" dirty="0"/>
              <a:t>One container runs your controller, whereas the other one is the “ambassador” container used for simpler communication with the API server</a:t>
            </a:r>
            <a:r>
              <a:rPr lang="en-US" altLang="ko-KR" sz="1400" dirty="0"/>
              <a:t>. </a:t>
            </a:r>
            <a:r>
              <a:rPr lang="en-US" altLang="ko-KR" sz="1400" b="1" dirty="0"/>
              <a:t>The pod runs under its own special “</a:t>
            </a:r>
            <a:r>
              <a:rPr lang="en-US" altLang="ko-KR" sz="1400" b="1" dirty="0" err="1">
                <a:solidFill>
                  <a:srgbClr val="FF0000"/>
                </a:solidFill>
              </a:rPr>
              <a:t>ServiceAccount</a:t>
            </a:r>
            <a:r>
              <a:rPr lang="en-US" altLang="ko-KR" sz="1400" b="1" dirty="0"/>
              <a:t>”, </a:t>
            </a:r>
            <a:r>
              <a:rPr lang="en-US" altLang="ko-KR" sz="1400" b="1" dirty="0">
                <a:solidFill>
                  <a:srgbClr val="FF0000"/>
                </a:solidFill>
              </a:rPr>
              <a:t>so you’ll need to create it before you deploy the controller</a:t>
            </a:r>
            <a:r>
              <a:rPr lang="en-US" altLang="ko-KR" sz="1400" b="1" dirty="0"/>
              <a:t>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7D02FF40-B762-5C2B-5EC3-F087DA506F0B}"/>
              </a:ext>
            </a:extLst>
          </p:cNvPr>
          <p:cNvGrpSpPr/>
          <p:nvPr/>
        </p:nvGrpSpPr>
        <p:grpSpPr>
          <a:xfrm>
            <a:off x="838200" y="2380651"/>
            <a:ext cx="10515600" cy="2096698"/>
            <a:chOff x="838200" y="2121564"/>
            <a:chExt cx="10515600" cy="2096698"/>
          </a:xfrm>
        </p:grpSpPr>
        <p:sp>
          <p:nvSpPr>
            <p:cNvPr id="8" name="TextBox 7">
              <a:extLst>
                <a:ext uri="{FF2B5EF4-FFF2-40B4-BE49-F238E27FC236}">
                  <a16:creationId xmlns:a16="http://schemas.microsoft.com/office/drawing/2014/main" id="{3ED0D803-4679-7876-DDAD-AFF1015EB69C}"/>
                </a:ext>
              </a:extLst>
            </p:cNvPr>
            <p:cNvSpPr txBox="1"/>
            <p:nvPr/>
          </p:nvSpPr>
          <p:spPr>
            <a:xfrm>
              <a:off x="3047326" y="2121564"/>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a:t>
              </a:r>
              <a:r>
                <a:rPr lang="en-US" altLang="ko-KR" sz="1000" b="1" dirty="0" err="1">
                  <a:solidFill>
                    <a:srgbClr val="FF0000"/>
                  </a:solidFill>
                </a:rPr>
                <a:t>serviceaccount</a:t>
              </a:r>
              <a:r>
                <a:rPr lang="en-US" altLang="ko-KR" sz="1000" b="1" dirty="0">
                  <a:solidFill>
                    <a:srgbClr val="FF0000"/>
                  </a:solidFill>
                </a:rPr>
                <a:t> website-controller</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9847DD7B-36D6-8499-99D9-3937812E00AA}"/>
                </a:ext>
              </a:extLst>
            </p:cNvPr>
            <p:cNvSpPr/>
            <p:nvPr/>
          </p:nvSpPr>
          <p:spPr>
            <a:xfrm>
              <a:off x="5833009" y="2379058"/>
              <a:ext cx="525982" cy="34795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1" name="그림 10">
              <a:extLst>
                <a:ext uri="{FF2B5EF4-FFF2-40B4-BE49-F238E27FC236}">
                  <a16:creationId xmlns:a16="http://schemas.microsoft.com/office/drawing/2014/main" id="{40F0C711-B3AB-22F4-AA7C-5D8583F97DB2}"/>
                </a:ext>
              </a:extLst>
            </p:cNvPr>
            <p:cNvPicPr>
              <a:picLocks noChangeAspect="1"/>
            </p:cNvPicPr>
            <p:nvPr/>
          </p:nvPicPr>
          <p:blipFill>
            <a:blip r:embed="rId2"/>
            <a:stretch>
              <a:fillRect/>
            </a:stretch>
          </p:blipFill>
          <p:spPr>
            <a:xfrm>
              <a:off x="838200" y="2738289"/>
              <a:ext cx="10515600" cy="1479973"/>
            </a:xfrm>
            <a:prstGeom prst="rect">
              <a:avLst/>
            </a:prstGeom>
          </p:spPr>
        </p:pic>
      </p:grpSp>
    </p:spTree>
    <p:extLst>
      <p:ext uri="{BB962C8B-B14F-4D97-AF65-F5344CB8AC3E}">
        <p14:creationId xmlns:p14="http://schemas.microsoft.com/office/powerpoint/2010/main" val="23487377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Objects(20/28)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the Controller as a Pod :</a:t>
            </a:r>
            <a:endParaRPr lang="en-US" altLang="ko-KR" sz="1400" dirty="0"/>
          </a:p>
          <a:p>
            <a:pPr lvl="1">
              <a:buFont typeface="Wingdings" panose="05000000000000000000" pitchFamily="2" charset="2"/>
              <a:buChar char="§"/>
            </a:pPr>
            <a:r>
              <a:rPr lang="en-US" altLang="ko-KR" sz="1400" b="1" dirty="0"/>
              <a:t>If “</a:t>
            </a:r>
            <a:r>
              <a:rPr lang="en-US" altLang="ko-KR" sz="1400" b="1" dirty="0">
                <a:solidFill>
                  <a:srgbClr val="FF0000"/>
                </a:solidFill>
              </a:rPr>
              <a:t>Role Based Access Control (RBAC)</a:t>
            </a:r>
            <a:r>
              <a:rPr lang="en-US" altLang="ko-KR" sz="1400" b="1" dirty="0"/>
              <a:t>” is enabled in your cluster, Kubernetes will not allow the controller to watch Website resources or create Deployments or Services</a:t>
            </a:r>
            <a:r>
              <a:rPr lang="en-US" altLang="ko-KR" sz="1400" dirty="0"/>
              <a:t>. </a:t>
            </a:r>
            <a:r>
              <a:rPr lang="en-US" altLang="ko-KR" sz="1400" b="1" dirty="0"/>
              <a:t>To allow it to do that, you’ll need to bind the “website-controller” </a:t>
            </a:r>
            <a:r>
              <a:rPr lang="en-US" altLang="ko-KR" sz="1400" b="1" dirty="0" err="1"/>
              <a:t>ServiceAccount</a:t>
            </a:r>
            <a:r>
              <a:rPr lang="en-US" altLang="ko-KR" sz="1400" b="1" dirty="0"/>
              <a:t> to the cluster-admin “</a:t>
            </a:r>
            <a:r>
              <a:rPr lang="en-US" altLang="ko-KR" sz="1400" b="1" dirty="0" err="1">
                <a:solidFill>
                  <a:srgbClr val="FF0000"/>
                </a:solidFill>
              </a:rPr>
              <a:t>ClusterRole</a:t>
            </a:r>
            <a:r>
              <a:rPr lang="en-US" altLang="ko-KR" sz="1400" b="1" dirty="0"/>
              <a:t>”, by creating a “</a:t>
            </a:r>
            <a:r>
              <a:rPr lang="en-US" altLang="ko-KR" sz="1400" b="1" dirty="0" err="1">
                <a:solidFill>
                  <a:srgbClr val="FF0000"/>
                </a:solidFill>
              </a:rPr>
              <a:t>ClusterRoleBinding</a:t>
            </a:r>
            <a:r>
              <a:rPr lang="en-US" altLang="ko-KR" sz="1400" b="1" dirty="0"/>
              <a:t>” </a:t>
            </a:r>
            <a:r>
              <a:rPr lang="en-US" altLang="ko-KR" sz="1400" dirty="0"/>
              <a:t>like this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Once you have the “</a:t>
            </a:r>
            <a:r>
              <a:rPr lang="en-US" altLang="ko-KR" sz="1400" b="1" dirty="0" err="1"/>
              <a:t>ServiceAccount</a:t>
            </a:r>
            <a:r>
              <a:rPr lang="en-US" altLang="ko-KR" sz="1400" b="1" dirty="0"/>
              <a:t>” and “</a:t>
            </a:r>
            <a:r>
              <a:rPr lang="en-US" altLang="ko-KR" sz="1400" b="1" dirty="0" err="1"/>
              <a:t>ClusterRoleBinding</a:t>
            </a:r>
            <a:r>
              <a:rPr lang="en-US" altLang="ko-KR" sz="1400" b="1" dirty="0"/>
              <a:t>” in place, you can deploy the controller’s Deployment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7135D86F-C376-918D-53BB-B8B1E940F744}"/>
              </a:ext>
            </a:extLst>
          </p:cNvPr>
          <p:cNvGrpSpPr/>
          <p:nvPr/>
        </p:nvGrpSpPr>
        <p:grpSpPr>
          <a:xfrm>
            <a:off x="838200" y="2160154"/>
            <a:ext cx="10515600" cy="2029695"/>
            <a:chOff x="838200" y="2257259"/>
            <a:chExt cx="10515600" cy="2029695"/>
          </a:xfrm>
        </p:grpSpPr>
        <p:sp>
          <p:nvSpPr>
            <p:cNvPr id="8" name="TextBox 7">
              <a:extLst>
                <a:ext uri="{FF2B5EF4-FFF2-40B4-BE49-F238E27FC236}">
                  <a16:creationId xmlns:a16="http://schemas.microsoft.com/office/drawing/2014/main" id="{D3ADCF24-D778-4955-669D-A0BA0D6BB2B0}"/>
                </a:ext>
              </a:extLst>
            </p:cNvPr>
            <p:cNvSpPr txBox="1"/>
            <p:nvPr/>
          </p:nvSpPr>
          <p:spPr>
            <a:xfrm>
              <a:off x="2105615" y="2257259"/>
              <a:ext cx="7980770"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a:t>
              </a:r>
              <a:r>
                <a:rPr lang="en-US" altLang="ko-KR" sz="1000" b="1" dirty="0" err="1">
                  <a:solidFill>
                    <a:srgbClr val="FF0000"/>
                  </a:solidFill>
                </a:rPr>
                <a:t>clusterrolebinding</a:t>
              </a:r>
              <a:r>
                <a:rPr lang="en-US" altLang="ko-KR" sz="1000" b="1" dirty="0"/>
                <a:t> website-controller </a:t>
              </a:r>
              <a:r>
                <a:rPr lang="en-US" altLang="ko-KR" sz="1000" b="1" dirty="0">
                  <a:solidFill>
                    <a:srgbClr val="FF0000"/>
                  </a:solidFill>
                </a:rPr>
                <a:t>--</a:t>
              </a:r>
              <a:r>
                <a:rPr lang="en-US" altLang="ko-KR" sz="1000" b="1" dirty="0" err="1">
                  <a:solidFill>
                    <a:srgbClr val="FF0000"/>
                  </a:solidFill>
                </a:rPr>
                <a:t>clusterrole</a:t>
              </a:r>
              <a:r>
                <a:rPr lang="en-US" altLang="ko-KR" sz="1000" b="1" dirty="0"/>
                <a:t>=cluster-admin </a:t>
              </a:r>
              <a:r>
                <a:rPr lang="en-US" altLang="ko-KR" sz="1000" b="1" dirty="0">
                  <a:solidFill>
                    <a:srgbClr val="FF0000"/>
                  </a:solidFill>
                </a:rPr>
                <a:t>--</a:t>
              </a:r>
              <a:r>
                <a:rPr lang="en-US" altLang="ko-KR" sz="1000" b="1" dirty="0" err="1">
                  <a:solidFill>
                    <a:srgbClr val="FF0000"/>
                  </a:solidFill>
                </a:rPr>
                <a:t>serviceaccount</a:t>
              </a:r>
              <a:r>
                <a:rPr lang="en-US" altLang="ko-KR" sz="1000" b="1" dirty="0"/>
                <a:t>=</a:t>
              </a:r>
              <a:r>
                <a:rPr lang="en-US" altLang="ko-KR" sz="1000" b="1" dirty="0" err="1"/>
                <a:t>default:website-controller</a:t>
              </a:r>
              <a:endParaRPr lang="ko-KR" altLang="en-US" sz="1000" b="1" dirty="0"/>
            </a:p>
          </p:txBody>
        </p:sp>
        <p:pic>
          <p:nvPicPr>
            <p:cNvPr id="10" name="그림 9">
              <a:extLst>
                <a:ext uri="{FF2B5EF4-FFF2-40B4-BE49-F238E27FC236}">
                  <a16:creationId xmlns:a16="http://schemas.microsoft.com/office/drawing/2014/main" id="{D6D542CE-69A1-CD9F-60AB-B34A0141E1FE}"/>
                </a:ext>
              </a:extLst>
            </p:cNvPr>
            <p:cNvPicPr>
              <a:picLocks noChangeAspect="1"/>
            </p:cNvPicPr>
            <p:nvPr/>
          </p:nvPicPr>
          <p:blipFill>
            <a:blip r:embed="rId2"/>
            <a:stretch>
              <a:fillRect/>
            </a:stretch>
          </p:blipFill>
          <p:spPr>
            <a:xfrm>
              <a:off x="838200" y="2806981"/>
              <a:ext cx="10515600" cy="1479973"/>
            </a:xfrm>
            <a:prstGeom prst="rect">
              <a:avLst/>
            </a:prstGeom>
          </p:spPr>
        </p:pic>
        <p:sp>
          <p:nvSpPr>
            <p:cNvPr id="11" name="화살표: 아래쪽 10">
              <a:extLst>
                <a:ext uri="{FF2B5EF4-FFF2-40B4-BE49-F238E27FC236}">
                  <a16:creationId xmlns:a16="http://schemas.microsoft.com/office/drawing/2014/main" id="{721A696E-C38C-D1E9-10FC-F6250EE8AB18}"/>
                </a:ext>
              </a:extLst>
            </p:cNvPr>
            <p:cNvSpPr/>
            <p:nvPr/>
          </p:nvSpPr>
          <p:spPr>
            <a:xfrm>
              <a:off x="5857285" y="2503480"/>
              <a:ext cx="477430" cy="30445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9941282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Objects(21/28)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Seeing the Controller in Action :</a:t>
            </a:r>
            <a:endParaRPr lang="en-US" altLang="ko-KR" sz="1400" dirty="0"/>
          </a:p>
          <a:p>
            <a:pPr lvl="1">
              <a:buFont typeface="Wingdings" panose="05000000000000000000" pitchFamily="2" charset="2"/>
              <a:buChar char="§"/>
            </a:pPr>
            <a:r>
              <a:rPr lang="en-US" altLang="ko-KR" sz="1400" b="1" dirty="0"/>
              <a:t>With the controller now running, </a:t>
            </a:r>
            <a:r>
              <a:rPr lang="en-US" altLang="ko-KR" sz="1400" b="1" dirty="0">
                <a:solidFill>
                  <a:srgbClr val="FF0000"/>
                </a:solidFill>
              </a:rPr>
              <a:t>create the “</a:t>
            </a:r>
            <a:r>
              <a:rPr lang="en-US" altLang="ko-KR" sz="1400" b="1" dirty="0" err="1">
                <a:solidFill>
                  <a:srgbClr val="FF0000"/>
                </a:solidFill>
              </a:rPr>
              <a:t>kubia</a:t>
            </a:r>
            <a:r>
              <a:rPr lang="en-US" altLang="ko-KR" sz="1400" b="1" dirty="0">
                <a:solidFill>
                  <a:srgbClr val="FF0000"/>
                </a:solidFill>
              </a:rPr>
              <a:t> Website resource” again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A5F54DAE-9381-09C6-62D2-E1AE14F470B2}"/>
              </a:ext>
            </a:extLst>
          </p:cNvPr>
          <p:cNvGrpSpPr/>
          <p:nvPr/>
        </p:nvGrpSpPr>
        <p:grpSpPr>
          <a:xfrm>
            <a:off x="838200" y="1942945"/>
            <a:ext cx="10515600" cy="2972110"/>
            <a:chOff x="838200" y="1679576"/>
            <a:chExt cx="10515600" cy="2972110"/>
          </a:xfrm>
        </p:grpSpPr>
        <p:pic>
          <p:nvPicPr>
            <p:cNvPr id="11" name="그림 10">
              <a:extLst>
                <a:ext uri="{FF2B5EF4-FFF2-40B4-BE49-F238E27FC236}">
                  <a16:creationId xmlns:a16="http://schemas.microsoft.com/office/drawing/2014/main" id="{E76F681C-91F8-132A-664A-98CE5EDA14B0}"/>
                </a:ext>
              </a:extLst>
            </p:cNvPr>
            <p:cNvPicPr>
              <a:picLocks noChangeAspect="1"/>
            </p:cNvPicPr>
            <p:nvPr/>
          </p:nvPicPr>
          <p:blipFill>
            <a:blip r:embed="rId2"/>
            <a:stretch>
              <a:fillRect/>
            </a:stretch>
          </p:blipFill>
          <p:spPr>
            <a:xfrm>
              <a:off x="838200" y="2230596"/>
              <a:ext cx="10515600" cy="2421090"/>
            </a:xfrm>
            <a:prstGeom prst="rect">
              <a:avLst/>
            </a:prstGeom>
          </p:spPr>
        </p:pic>
        <p:grpSp>
          <p:nvGrpSpPr>
            <p:cNvPr id="13" name="그룹 12">
              <a:extLst>
                <a:ext uri="{FF2B5EF4-FFF2-40B4-BE49-F238E27FC236}">
                  <a16:creationId xmlns:a16="http://schemas.microsoft.com/office/drawing/2014/main" id="{01A97DE1-E37A-4DA6-60C5-98B07586A30C}"/>
                </a:ext>
              </a:extLst>
            </p:cNvPr>
            <p:cNvGrpSpPr/>
            <p:nvPr/>
          </p:nvGrpSpPr>
          <p:grpSpPr>
            <a:xfrm>
              <a:off x="900223" y="1679576"/>
              <a:ext cx="8243777" cy="1262098"/>
              <a:chOff x="900223" y="1679576"/>
              <a:chExt cx="8243777" cy="1262098"/>
            </a:xfrm>
          </p:grpSpPr>
          <p:sp>
            <p:nvSpPr>
              <p:cNvPr id="8" name="TextBox 7">
                <a:extLst>
                  <a:ext uri="{FF2B5EF4-FFF2-40B4-BE49-F238E27FC236}">
                    <a16:creationId xmlns:a16="http://schemas.microsoft.com/office/drawing/2014/main" id="{8C02B3ED-7DD7-AEDC-6ACB-A61A66345F41}"/>
                  </a:ext>
                </a:extLst>
              </p:cNvPr>
              <p:cNvSpPr txBox="1"/>
              <p:nvPr/>
            </p:nvSpPr>
            <p:spPr>
              <a:xfrm>
                <a:off x="3048000" y="1679576"/>
                <a:ext cx="6096000" cy="246221"/>
              </a:xfrm>
              <a:prstGeom prst="rect">
                <a:avLst/>
              </a:prstGeom>
              <a:noFill/>
              <a:ln>
                <a:solidFill>
                  <a:schemeClr val="tx1"/>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kubia-website.yaml</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47CD13A5-23D9-9533-8290-E80BA090C45D}"/>
                  </a:ext>
                </a:extLst>
              </p:cNvPr>
              <p:cNvSpPr/>
              <p:nvPr/>
            </p:nvSpPr>
            <p:spPr>
              <a:xfrm>
                <a:off x="5883349" y="1925797"/>
                <a:ext cx="425302" cy="3048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9CD05E3B-6C12-D665-2C32-E4B8C91B6259}"/>
                  </a:ext>
                </a:extLst>
              </p:cNvPr>
              <p:cNvSpPr/>
              <p:nvPr/>
            </p:nvSpPr>
            <p:spPr>
              <a:xfrm>
                <a:off x="900223" y="2757377"/>
                <a:ext cx="2948763" cy="18429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23111665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Objects(22/28)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Seeing the Controller in Action :</a:t>
            </a:r>
            <a:endParaRPr lang="en-US" altLang="ko-KR" sz="1400" dirty="0"/>
          </a:p>
          <a:p>
            <a:pPr lvl="1">
              <a:buFont typeface="Wingdings" panose="05000000000000000000" pitchFamily="2" charset="2"/>
              <a:buChar char="§"/>
            </a:pPr>
            <a:r>
              <a:rPr lang="en-US" altLang="ko-KR" sz="1400" b="1" dirty="0"/>
              <a:t>Now, let’s check the controller’s logs</a:t>
            </a:r>
            <a:r>
              <a:rPr lang="en-US" altLang="ko-KR" sz="1400" dirty="0"/>
              <a:t> (shown in the following listing) to see if it has received the watch event.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The logs show that the controller received the ADDED event and that it created a Service and a Deployment for the </a:t>
            </a:r>
            <a:r>
              <a:rPr lang="en-US" altLang="ko-KR" sz="1400" b="1" dirty="0" err="1"/>
              <a:t>kubia</a:t>
            </a:r>
            <a:r>
              <a:rPr lang="en-US" altLang="ko-KR" sz="1400" b="1" dirty="0"/>
              <a:t>-website </a:t>
            </a:r>
            <a:r>
              <a:rPr lang="en-US" altLang="ko-KR" sz="1400" b="1" dirty="0" err="1"/>
              <a:t>Website</a:t>
            </a:r>
            <a:r>
              <a:rPr lang="en-US" altLang="ko-KR" sz="1400" b="1" dirty="0"/>
              <a:t>. The API server responded with a 201 Created response</a:t>
            </a:r>
            <a:r>
              <a:rPr lang="en-US" altLang="ko-KR" sz="1400" dirty="0"/>
              <a:t>, which means the two resources should now exist.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9AC2ED43-12A3-CCB7-ACA3-AC941B19108A}"/>
              </a:ext>
            </a:extLst>
          </p:cNvPr>
          <p:cNvGrpSpPr/>
          <p:nvPr/>
        </p:nvGrpSpPr>
        <p:grpSpPr>
          <a:xfrm>
            <a:off x="838200" y="2006526"/>
            <a:ext cx="10515600" cy="2844948"/>
            <a:chOff x="838200" y="2724269"/>
            <a:chExt cx="10515600" cy="2844948"/>
          </a:xfrm>
        </p:grpSpPr>
        <p:pic>
          <p:nvPicPr>
            <p:cNvPr id="12" name="그림 11">
              <a:extLst>
                <a:ext uri="{FF2B5EF4-FFF2-40B4-BE49-F238E27FC236}">
                  <a16:creationId xmlns:a16="http://schemas.microsoft.com/office/drawing/2014/main" id="{D82EECA3-E041-0720-91D3-8C374EA4B225}"/>
                </a:ext>
              </a:extLst>
            </p:cNvPr>
            <p:cNvPicPr>
              <a:picLocks noChangeAspect="1"/>
            </p:cNvPicPr>
            <p:nvPr/>
          </p:nvPicPr>
          <p:blipFill>
            <a:blip r:embed="rId2"/>
            <a:stretch>
              <a:fillRect/>
            </a:stretch>
          </p:blipFill>
          <p:spPr>
            <a:xfrm>
              <a:off x="838200" y="3429000"/>
              <a:ext cx="10515600" cy="2140217"/>
            </a:xfrm>
            <a:prstGeom prst="rect">
              <a:avLst/>
            </a:prstGeom>
          </p:spPr>
        </p:pic>
        <p:sp>
          <p:nvSpPr>
            <p:cNvPr id="14" name="TextBox 13">
              <a:extLst>
                <a:ext uri="{FF2B5EF4-FFF2-40B4-BE49-F238E27FC236}">
                  <a16:creationId xmlns:a16="http://schemas.microsoft.com/office/drawing/2014/main" id="{FE86A524-E919-8D82-7EBC-19570EAEBDFD}"/>
                </a:ext>
              </a:extLst>
            </p:cNvPr>
            <p:cNvSpPr txBox="1"/>
            <p:nvPr/>
          </p:nvSpPr>
          <p:spPr>
            <a:xfrm>
              <a:off x="3048000" y="2724269"/>
              <a:ext cx="6096000" cy="400110"/>
            </a:xfrm>
            <a:prstGeom prst="rect">
              <a:avLst/>
            </a:prstGeom>
            <a:noFill/>
            <a:ln>
              <a:solidFill>
                <a:schemeClr val="tx1"/>
              </a:solidFill>
            </a:ln>
          </p:spPr>
          <p:txBody>
            <a:bodyPr wrap="square">
              <a:spAutoFit/>
            </a:bodyPr>
            <a:lstStyle/>
            <a:p>
              <a:r>
                <a:rPr lang="en-US" altLang="ko-KR" sz="1000" b="1" dirty="0"/>
                <a:t>$ </a:t>
              </a:r>
              <a:r>
                <a:rPr lang="en-US" altLang="ko-KR" sz="1000" b="1" dirty="0" err="1"/>
                <a:t>kubectl</a:t>
              </a:r>
              <a:r>
                <a:rPr lang="en-US" altLang="ko-KR" sz="1000" b="1" dirty="0"/>
                <a:t> get pods</a:t>
              </a:r>
            </a:p>
            <a:p>
              <a:r>
                <a:rPr lang="en-US" altLang="ko-KR" sz="1000" b="1" dirty="0"/>
                <a:t>$ </a:t>
              </a:r>
              <a:r>
                <a:rPr lang="en-US" altLang="ko-KR" sz="1000" b="1" dirty="0" err="1"/>
                <a:t>kubectl</a:t>
              </a:r>
              <a:r>
                <a:rPr lang="en-US" altLang="ko-KR" sz="1000" b="1" dirty="0"/>
                <a:t> logs </a:t>
              </a:r>
              <a:r>
                <a:rPr lang="en-US" altLang="ko-KR" sz="1000" b="1" dirty="0">
                  <a:solidFill>
                    <a:srgbClr val="FF0000"/>
                  </a:solidFill>
                </a:rPr>
                <a:t>website-controller-7c684469c7-7sdv5</a:t>
              </a:r>
              <a:r>
                <a:rPr lang="en-US" altLang="ko-KR" sz="1000" b="1" dirty="0"/>
                <a:t> -c main</a:t>
              </a:r>
              <a:endParaRPr lang="ko-KR" altLang="en-US" sz="1000" b="1" dirty="0"/>
            </a:p>
          </p:txBody>
        </p:sp>
        <p:sp>
          <p:nvSpPr>
            <p:cNvPr id="15" name="화살표: 아래쪽 14">
              <a:extLst>
                <a:ext uri="{FF2B5EF4-FFF2-40B4-BE49-F238E27FC236}">
                  <a16:creationId xmlns:a16="http://schemas.microsoft.com/office/drawing/2014/main" id="{346A8566-481C-94F0-7832-857D02C4CFB4}"/>
                </a:ext>
              </a:extLst>
            </p:cNvPr>
            <p:cNvSpPr/>
            <p:nvPr/>
          </p:nvSpPr>
          <p:spPr>
            <a:xfrm>
              <a:off x="5886893" y="3140149"/>
              <a:ext cx="418214" cy="28885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727271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2724C-7986-394C-A342-078B335522A4}"/>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EE65F03-37F1-0752-7FA2-41F6149B6B0D}"/>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Objects(23/28)</a:t>
            </a:r>
            <a:endParaRPr lang="ko-KR" altLang="en-US" sz="2800" b="1" dirty="0"/>
          </a:p>
        </p:txBody>
      </p:sp>
      <p:sp>
        <p:nvSpPr>
          <p:cNvPr id="3" name="내용 개체 틀 2">
            <a:extLst>
              <a:ext uri="{FF2B5EF4-FFF2-40B4-BE49-F238E27FC236}">
                <a16:creationId xmlns:a16="http://schemas.microsoft.com/office/drawing/2014/main" id="{AAF29619-608B-CFBA-F9C9-F8FCC7457D12}"/>
              </a:ext>
            </a:extLst>
          </p:cNvPr>
          <p:cNvSpPr>
            <a:spLocks noGrp="1"/>
          </p:cNvSpPr>
          <p:nvPr>
            <p:ph idx="1"/>
          </p:nvPr>
        </p:nvSpPr>
        <p:spPr>
          <a:xfrm>
            <a:off x="838200" y="774406"/>
            <a:ext cx="10515600" cy="5634624"/>
          </a:xfrm>
        </p:spPr>
        <p:txBody>
          <a:bodyPr>
            <a:normAutofit lnSpcReduction="10000"/>
          </a:bodyPr>
          <a:lstStyle/>
          <a:p>
            <a:pPr>
              <a:buFont typeface="Wingdings" panose="05000000000000000000" pitchFamily="2" charset="2"/>
              <a:buChar char="§"/>
            </a:pPr>
            <a:r>
              <a:rPr lang="en-US" altLang="ko-KR" sz="1800" b="1" dirty="0"/>
              <a:t>Seeing the Controller in Action :</a:t>
            </a:r>
            <a:endParaRPr lang="en-US" altLang="ko-KR" sz="1400" dirty="0"/>
          </a:p>
          <a:p>
            <a:pPr lvl="1">
              <a:buFont typeface="Wingdings" panose="05000000000000000000" pitchFamily="2" charset="2"/>
              <a:buChar char="§"/>
            </a:pPr>
            <a:r>
              <a:rPr lang="en-US" altLang="ko-KR" sz="1400" b="1" dirty="0"/>
              <a:t>Let’s verify that the Deployment, Service and the resulting Pod were created</a:t>
            </a:r>
            <a:r>
              <a:rPr lang="en-US" altLang="ko-KR" sz="1400" dirty="0"/>
              <a:t>. The following listing lists all Deployments, Services and Pods.</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There they are. The </a:t>
            </a:r>
            <a:r>
              <a:rPr lang="en-US" altLang="ko-KR" sz="1400" b="1" dirty="0" err="1"/>
              <a:t>kubia</a:t>
            </a:r>
            <a:r>
              <a:rPr lang="en-US" altLang="ko-KR" sz="1400" b="1" dirty="0"/>
              <a:t>-website Service, through which you can access your website, is available on port “31653” on all cluster nodes</a:t>
            </a:r>
            <a:r>
              <a:rPr lang="en-US" altLang="ko-KR" sz="1400" dirty="0"/>
              <a:t>. You can access it with your browser. </a:t>
            </a:r>
            <a:r>
              <a:rPr lang="en-US" altLang="ko-KR" sz="1400" b="1" dirty="0"/>
              <a:t>Users of your Kubernetes cluster can now deploy static websites in seconds, without knowing anything about Pods, Services, or any other Kubernetes resources, except your custom Website resource</a:t>
            </a:r>
            <a:r>
              <a:rPr lang="en-US" altLang="ko-KR" sz="1400" dirty="0"/>
              <a:t>.</a:t>
            </a:r>
          </a:p>
          <a:p>
            <a:pPr lvl="1">
              <a:buFont typeface="Wingdings" panose="05000000000000000000" pitchFamily="2" charset="2"/>
              <a:buChar char="§"/>
            </a:pPr>
            <a:r>
              <a:rPr lang="en-US" altLang="ko-KR" sz="1400" b="1" dirty="0"/>
              <a:t>Obviously, you still have room for improvement. The controller could, for example, watch for Service objects and as soon as the node port is assigned, write the URL the website is accessible at into the status section of the Website resource instance itself.</a:t>
            </a:r>
            <a:r>
              <a:rPr lang="en-US" altLang="ko-KR" sz="1400" dirty="0"/>
              <a:t> </a:t>
            </a:r>
            <a:r>
              <a:rPr lang="en-US" altLang="ko-KR" sz="1400" b="1" dirty="0"/>
              <a:t>Or it could also create an Ingress object for each website</a:t>
            </a:r>
            <a:r>
              <a:rPr lang="en-US" altLang="ko-KR" sz="1400" dirty="0"/>
              <a:t>.</a:t>
            </a:r>
          </a:p>
        </p:txBody>
      </p:sp>
      <p:sp>
        <p:nvSpPr>
          <p:cNvPr id="5" name="날짜 개체 틀 4">
            <a:extLst>
              <a:ext uri="{FF2B5EF4-FFF2-40B4-BE49-F238E27FC236}">
                <a16:creationId xmlns:a16="http://schemas.microsoft.com/office/drawing/2014/main" id="{BB434D0E-B757-3C38-D90F-2469D28F1061}"/>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B01987E3-9D32-A331-9407-3BBED057EE28}"/>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FAB75023-DC86-0294-258F-60915BAD1EC9}"/>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F957777B-B41C-43E8-235C-A6C52DFEF22F}"/>
              </a:ext>
            </a:extLst>
          </p:cNvPr>
          <p:cNvGrpSpPr/>
          <p:nvPr/>
        </p:nvGrpSpPr>
        <p:grpSpPr>
          <a:xfrm>
            <a:off x="838200" y="1760582"/>
            <a:ext cx="10515600" cy="2698883"/>
            <a:chOff x="838200" y="1611726"/>
            <a:chExt cx="10515600" cy="2698883"/>
          </a:xfrm>
        </p:grpSpPr>
        <p:grpSp>
          <p:nvGrpSpPr>
            <p:cNvPr id="12" name="그룹 11">
              <a:extLst>
                <a:ext uri="{FF2B5EF4-FFF2-40B4-BE49-F238E27FC236}">
                  <a16:creationId xmlns:a16="http://schemas.microsoft.com/office/drawing/2014/main" id="{5AB66B6A-9863-BADA-2EFF-66A2147645F6}"/>
                </a:ext>
              </a:extLst>
            </p:cNvPr>
            <p:cNvGrpSpPr/>
            <p:nvPr/>
          </p:nvGrpSpPr>
          <p:grpSpPr>
            <a:xfrm>
              <a:off x="838200" y="1611726"/>
              <a:ext cx="10515600" cy="2698883"/>
              <a:chOff x="838200" y="2209256"/>
              <a:chExt cx="10515600" cy="2698883"/>
            </a:xfrm>
          </p:grpSpPr>
          <p:pic>
            <p:nvPicPr>
              <p:cNvPr id="8" name="그림 7">
                <a:extLst>
                  <a:ext uri="{FF2B5EF4-FFF2-40B4-BE49-F238E27FC236}">
                    <a16:creationId xmlns:a16="http://schemas.microsoft.com/office/drawing/2014/main" id="{8990BC22-240B-CBEE-7CC0-BDB2FEE999F0}"/>
                  </a:ext>
                </a:extLst>
              </p:cNvPr>
              <p:cNvPicPr>
                <a:picLocks noChangeAspect="1"/>
              </p:cNvPicPr>
              <p:nvPr/>
            </p:nvPicPr>
            <p:blipFill>
              <a:blip r:embed="rId2"/>
              <a:stretch>
                <a:fillRect/>
              </a:stretch>
            </p:blipFill>
            <p:spPr>
              <a:xfrm>
                <a:off x="838200" y="2767922"/>
                <a:ext cx="10515600" cy="2140217"/>
              </a:xfrm>
              <a:prstGeom prst="rect">
                <a:avLst/>
              </a:prstGeom>
            </p:spPr>
          </p:pic>
          <p:sp>
            <p:nvSpPr>
              <p:cNvPr id="10" name="TextBox 9">
                <a:extLst>
                  <a:ext uri="{FF2B5EF4-FFF2-40B4-BE49-F238E27FC236}">
                    <a16:creationId xmlns:a16="http://schemas.microsoft.com/office/drawing/2014/main" id="{13BA4E79-C762-75A4-EA91-182E6517CB70}"/>
                  </a:ext>
                </a:extLst>
              </p:cNvPr>
              <p:cNvSpPr txBox="1"/>
              <p:nvPr/>
            </p:nvSpPr>
            <p:spPr>
              <a:xfrm>
                <a:off x="3048000" y="2209256"/>
                <a:ext cx="6096000" cy="246221"/>
              </a:xfrm>
              <a:prstGeom prst="rect">
                <a:avLst/>
              </a:prstGeom>
              <a:noFill/>
              <a:ln>
                <a:solidFill>
                  <a:schemeClr val="tx1"/>
                </a:solidFill>
              </a:ln>
            </p:spPr>
            <p:txBody>
              <a:bodyPr wrap="square">
                <a:spAutoFit/>
              </a:bodyPr>
              <a:lstStyle/>
              <a:p>
                <a:r>
                  <a:rPr lang="en-US" altLang="ko-KR" sz="1000" b="1" dirty="0"/>
                  <a:t>$ </a:t>
                </a:r>
                <a:r>
                  <a:rPr lang="en-US" altLang="ko-KR" sz="1000" b="1" dirty="0" err="1"/>
                  <a:t>kubectl</a:t>
                </a:r>
                <a:r>
                  <a:rPr lang="en-US" altLang="ko-KR" sz="1000" b="1" dirty="0"/>
                  <a:t> get </a:t>
                </a:r>
                <a:r>
                  <a:rPr lang="en-US" altLang="ko-KR" sz="1000" b="1" dirty="0" err="1"/>
                  <a:t>deploy,svc,po</a:t>
                </a:r>
                <a:endParaRPr lang="ko-KR" altLang="en-US" sz="1000" b="1" dirty="0"/>
              </a:p>
            </p:txBody>
          </p:sp>
          <p:sp>
            <p:nvSpPr>
              <p:cNvPr id="11" name="화살표: 아래쪽 10">
                <a:extLst>
                  <a:ext uri="{FF2B5EF4-FFF2-40B4-BE49-F238E27FC236}">
                    <a16:creationId xmlns:a16="http://schemas.microsoft.com/office/drawing/2014/main" id="{9843156C-A5BB-B0D9-409F-24639C7F5130}"/>
                  </a:ext>
                </a:extLst>
              </p:cNvPr>
              <p:cNvSpPr/>
              <p:nvPr/>
            </p:nvSpPr>
            <p:spPr>
              <a:xfrm>
                <a:off x="5883349" y="2469932"/>
                <a:ext cx="425302" cy="28353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629F38A5-FA05-589C-5B4D-B878798A8583}"/>
                </a:ext>
              </a:extLst>
            </p:cNvPr>
            <p:cNvSpPr/>
            <p:nvPr/>
          </p:nvSpPr>
          <p:spPr>
            <a:xfrm>
              <a:off x="838200" y="3197972"/>
              <a:ext cx="4896293" cy="1885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4757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BD070-C95B-2057-6A30-7CE9C458C9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0EAFCC25-5C92-93F2-FA16-846D30E7DB57}"/>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Objects(24/28)</a:t>
            </a:r>
            <a:endParaRPr lang="ko-KR" altLang="en-US" sz="2800" b="1" dirty="0"/>
          </a:p>
        </p:txBody>
      </p:sp>
      <p:sp>
        <p:nvSpPr>
          <p:cNvPr id="3" name="내용 개체 틀 2">
            <a:extLst>
              <a:ext uri="{FF2B5EF4-FFF2-40B4-BE49-F238E27FC236}">
                <a16:creationId xmlns:a16="http://schemas.microsoft.com/office/drawing/2014/main" id="{21F702F9-A72C-01FC-DBE3-CE3BA3943878}"/>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Validating custom objects :</a:t>
            </a:r>
            <a:endParaRPr lang="en-US" altLang="ko-KR" sz="1400" dirty="0"/>
          </a:p>
          <a:p>
            <a:pPr lvl="1">
              <a:buFont typeface="Wingdings" panose="05000000000000000000" pitchFamily="2" charset="2"/>
              <a:buChar char="§"/>
            </a:pPr>
            <a:r>
              <a:rPr lang="en-US" altLang="ko-KR" sz="1400" dirty="0"/>
              <a:t>You may have noticed that </a:t>
            </a:r>
            <a:r>
              <a:rPr lang="en-US" altLang="ko-KR" sz="1400" b="1" dirty="0"/>
              <a:t>you didn’t specify any kind of </a:t>
            </a:r>
            <a:r>
              <a:rPr lang="en-US" altLang="ko-KR" sz="1400" b="1" dirty="0">
                <a:solidFill>
                  <a:srgbClr val="FF0000"/>
                </a:solidFill>
              </a:rPr>
              <a:t>validation schema </a:t>
            </a:r>
            <a:r>
              <a:rPr lang="en-US" altLang="ko-KR" sz="1400" b="1" dirty="0"/>
              <a:t>in the Website </a:t>
            </a:r>
            <a:r>
              <a:rPr lang="en-US" altLang="ko-KR" sz="1400" b="1" dirty="0" err="1"/>
              <a:t>CustomResourceDefinition</a:t>
            </a:r>
            <a:r>
              <a:rPr lang="en-US" altLang="ko-KR" sz="1400" dirty="0"/>
              <a:t>. Users can include any field they want in the YAML of their Website object. </a:t>
            </a:r>
            <a:r>
              <a:rPr lang="en-US" altLang="ko-KR" sz="1400" b="1" dirty="0"/>
              <a:t>The API server doesn’t validate the contents of the YAML (except the usual fields like </a:t>
            </a:r>
            <a:r>
              <a:rPr lang="en-US" altLang="ko-KR" sz="1400" b="1" dirty="0" err="1"/>
              <a:t>apiVersion</a:t>
            </a:r>
            <a:r>
              <a:rPr lang="en-US" altLang="ko-KR" sz="1400" b="1" dirty="0"/>
              <a:t>, kind, and metadata), so users can create invalid Website objects (without a </a:t>
            </a:r>
            <a:r>
              <a:rPr lang="en-US" altLang="ko-KR" sz="1400" b="1" dirty="0" err="1"/>
              <a:t>gitRepo</a:t>
            </a:r>
            <a:r>
              <a:rPr lang="en-US" altLang="ko-KR" sz="1400" b="1" dirty="0"/>
              <a:t> field, for example)</a:t>
            </a:r>
            <a:r>
              <a:rPr lang="en-US" altLang="ko-KR" sz="1400" dirty="0"/>
              <a:t>.</a:t>
            </a:r>
          </a:p>
          <a:p>
            <a:pPr lvl="1">
              <a:buFont typeface="Wingdings" panose="05000000000000000000" pitchFamily="2" charset="2"/>
              <a:buChar char="§"/>
            </a:pPr>
            <a:r>
              <a:rPr lang="en-US" altLang="ko-KR" sz="1400" dirty="0"/>
              <a:t>Is it possible to add validation to the controller and prevent invalid objects from being accepted by the API server? It isn’t, because the API server first stores the object, then returns a success response to the client (</a:t>
            </a:r>
            <a:r>
              <a:rPr lang="en-US" altLang="ko-KR" sz="1400" dirty="0" err="1"/>
              <a:t>kubectl</a:t>
            </a:r>
            <a:r>
              <a:rPr lang="en-US" altLang="ko-KR" sz="1400" dirty="0"/>
              <a:t>), and only then notifies all the watchers (the controller is one of them). </a:t>
            </a:r>
            <a:r>
              <a:rPr lang="en-US" altLang="ko-KR" sz="1400" b="1" dirty="0"/>
              <a:t>All the controller can really do is validate the object when it receives it in a watch event, and if the object is invalid, write the error message to the Website object (by updating the object through a new request to the API server)</a:t>
            </a:r>
            <a:r>
              <a:rPr lang="en-US" altLang="ko-KR" sz="1400" dirty="0"/>
              <a:t>. </a:t>
            </a:r>
            <a:r>
              <a:rPr lang="en-US" altLang="ko-KR" sz="1400" b="1" dirty="0">
                <a:solidFill>
                  <a:srgbClr val="FF0000"/>
                </a:solidFill>
              </a:rPr>
              <a:t>The user wouldn’t be notified of the error automatically</a:t>
            </a:r>
            <a:r>
              <a:rPr lang="en-US" altLang="ko-KR" sz="1400" dirty="0"/>
              <a:t>. </a:t>
            </a:r>
            <a:r>
              <a:rPr lang="en-US" altLang="ko-KR" sz="1400" b="1" dirty="0"/>
              <a:t>They’d have to notice the error message by querying the API server for the Website object</a:t>
            </a:r>
            <a:r>
              <a:rPr lang="en-US" altLang="ko-KR" sz="1400" dirty="0"/>
              <a:t>. Unless the user does this, they have no way of knowing whether the object is valid or not.</a:t>
            </a:r>
          </a:p>
          <a:p>
            <a:pPr lvl="1">
              <a:buFont typeface="Wingdings" panose="05000000000000000000" pitchFamily="2" charset="2"/>
              <a:buChar char="§"/>
            </a:pPr>
            <a:r>
              <a:rPr lang="en-US" altLang="ko-KR" sz="1400" b="1" dirty="0"/>
              <a:t>This obviously isn’t ideal. You’d want the API server to validate the object and reject invalid objects immediately</a:t>
            </a:r>
            <a:r>
              <a:rPr lang="en-US" altLang="ko-KR" sz="1400" dirty="0"/>
              <a:t>. </a:t>
            </a:r>
            <a:r>
              <a:rPr lang="en-US" altLang="ko-KR" sz="1400" b="1" dirty="0"/>
              <a:t>Validation of custom objects was introduced in Kubernetes version 1.8 as an alpha feature</a:t>
            </a:r>
            <a:r>
              <a:rPr lang="en-US" altLang="ko-KR" sz="1400" dirty="0"/>
              <a:t>. </a:t>
            </a:r>
            <a:r>
              <a:rPr lang="en-US" altLang="ko-KR" sz="1400" b="1" dirty="0">
                <a:solidFill>
                  <a:srgbClr val="FF0000"/>
                </a:solidFill>
              </a:rPr>
              <a:t>To have the API server validate your custom objects, you need to enable the “</a:t>
            </a:r>
            <a:r>
              <a:rPr lang="en-US" altLang="ko-KR" sz="1400" b="1" dirty="0" err="1">
                <a:solidFill>
                  <a:srgbClr val="FF0000"/>
                </a:solidFill>
              </a:rPr>
              <a:t>CustomResourceValidation</a:t>
            </a:r>
            <a:r>
              <a:rPr lang="en-US" altLang="ko-KR" sz="1400" b="1" dirty="0">
                <a:solidFill>
                  <a:srgbClr val="FF0000"/>
                </a:solidFill>
              </a:rPr>
              <a:t>” feature gate in the API server and specify a JSON schema in the CRD</a:t>
            </a:r>
            <a:r>
              <a:rPr lang="en-US" altLang="ko-KR" sz="1400" dirty="0"/>
              <a:t>.</a:t>
            </a:r>
          </a:p>
        </p:txBody>
      </p:sp>
      <p:sp>
        <p:nvSpPr>
          <p:cNvPr id="5" name="날짜 개체 틀 4">
            <a:extLst>
              <a:ext uri="{FF2B5EF4-FFF2-40B4-BE49-F238E27FC236}">
                <a16:creationId xmlns:a16="http://schemas.microsoft.com/office/drawing/2014/main" id="{D5A5E60A-E47F-A270-354B-B638268AFAEB}"/>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39FACAA0-F168-3300-E463-659E52AF6E3F}"/>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592209B2-8640-4476-2CC6-ADEA220E83D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0748411B-89EA-CE0C-01E8-B71396B124AC}"/>
              </a:ext>
            </a:extLst>
          </p:cNvPr>
          <p:cNvPicPr>
            <a:picLocks noChangeAspect="1"/>
          </p:cNvPicPr>
          <p:nvPr/>
        </p:nvPicPr>
        <p:blipFill>
          <a:blip r:embed="rId2"/>
          <a:stretch>
            <a:fillRect/>
          </a:stretch>
        </p:blipFill>
        <p:spPr>
          <a:xfrm>
            <a:off x="4064295" y="4223060"/>
            <a:ext cx="4063409" cy="2133290"/>
          </a:xfrm>
          <a:prstGeom prst="rect">
            <a:avLst/>
          </a:prstGeom>
        </p:spPr>
      </p:pic>
    </p:spTree>
    <p:extLst>
      <p:ext uri="{BB962C8B-B14F-4D97-AF65-F5344CB8AC3E}">
        <p14:creationId xmlns:p14="http://schemas.microsoft.com/office/powerpoint/2010/main" val="41862258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62697-CC99-A967-FD6B-0861475D390F}"/>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8E2040A-308B-697F-8822-965A404E4B20}"/>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Objects(25/28)</a:t>
            </a:r>
            <a:endParaRPr lang="ko-KR" altLang="en-US" sz="2800" b="1" dirty="0"/>
          </a:p>
        </p:txBody>
      </p:sp>
      <p:sp>
        <p:nvSpPr>
          <p:cNvPr id="3" name="내용 개체 틀 2">
            <a:extLst>
              <a:ext uri="{FF2B5EF4-FFF2-40B4-BE49-F238E27FC236}">
                <a16:creationId xmlns:a16="http://schemas.microsoft.com/office/drawing/2014/main" id="{04501CA1-0EB8-B8F7-8A9B-19B729979231}"/>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Providing a custom API server for your custom objects :</a:t>
            </a:r>
            <a:endParaRPr lang="en-US" altLang="ko-KR" sz="1400" dirty="0"/>
          </a:p>
          <a:p>
            <a:pPr lvl="1">
              <a:buFont typeface="Wingdings" panose="05000000000000000000" pitchFamily="2" charset="2"/>
              <a:buChar char="§"/>
            </a:pPr>
            <a:r>
              <a:rPr lang="en-US" altLang="ko-KR" sz="1400" b="1" dirty="0"/>
              <a:t>A better way of adding support for custom objects in Kubernetes is to </a:t>
            </a:r>
            <a:r>
              <a:rPr lang="en-US" altLang="ko-KR" sz="1400" b="1" dirty="0">
                <a:solidFill>
                  <a:srgbClr val="FF0000"/>
                </a:solidFill>
              </a:rPr>
              <a:t>implement your own API server </a:t>
            </a:r>
            <a:r>
              <a:rPr lang="en-US" altLang="ko-KR" sz="1400" b="1" dirty="0"/>
              <a:t>and have the clients talk directly to it.</a:t>
            </a:r>
          </a:p>
          <a:p>
            <a:pPr lvl="1">
              <a:buFont typeface="Wingdings" panose="05000000000000000000" pitchFamily="2" charset="2"/>
              <a:buChar char="§"/>
            </a:pPr>
            <a:r>
              <a:rPr lang="en-US" altLang="ko-KR" sz="1400" b="1" dirty="0"/>
              <a:t>In Kubernetes version 1.7, you can integrate your custom API server with the main Kubernetes API server</a:t>
            </a:r>
            <a:r>
              <a:rPr lang="en-US" altLang="ko-KR" sz="1400" dirty="0"/>
              <a:t>, </a:t>
            </a:r>
            <a:r>
              <a:rPr lang="en-US" altLang="ko-KR" sz="1400" b="1" dirty="0"/>
              <a:t>through “</a:t>
            </a:r>
            <a:r>
              <a:rPr lang="en-US" altLang="ko-KR" sz="1400" b="1" dirty="0">
                <a:solidFill>
                  <a:srgbClr val="FF0000"/>
                </a:solidFill>
              </a:rPr>
              <a:t>API server aggregation</a:t>
            </a:r>
            <a:r>
              <a:rPr lang="en-US" altLang="ko-KR" sz="1400" b="1" dirty="0"/>
              <a:t>”</a:t>
            </a:r>
            <a:r>
              <a:rPr lang="en-US" altLang="ko-KR" sz="1400" dirty="0"/>
              <a:t>. Initially, the Kubernetes API server was a single monolithic component. </a:t>
            </a:r>
            <a:r>
              <a:rPr lang="en-US" altLang="ko-KR" sz="1400" b="1" dirty="0"/>
              <a:t>From Kubernetes version 1.7, multiple aggregated API servers will be exposed at a single location</a:t>
            </a:r>
            <a:r>
              <a:rPr lang="en-US" altLang="ko-KR" sz="1400" dirty="0"/>
              <a:t>. </a:t>
            </a:r>
            <a:r>
              <a:rPr lang="en-US" altLang="ko-KR" sz="1400" b="1" dirty="0"/>
              <a:t>Clients can connect to the aggregated API and have their requests transparently forwarded to the appropriate API server</a:t>
            </a:r>
            <a:r>
              <a:rPr lang="en-US" altLang="ko-KR" sz="1400" dirty="0"/>
              <a:t>. This way, the client wouldn’t even be aware that multiple API servers handle different objects behind the scenes. Even the core Kubernetes API server may eventually end up being split into multiple smaller API servers and exposed as a single server through the aggregator, as shown in the following figure.</a:t>
            </a:r>
          </a:p>
        </p:txBody>
      </p:sp>
      <p:sp>
        <p:nvSpPr>
          <p:cNvPr id="5" name="날짜 개체 틀 4">
            <a:extLst>
              <a:ext uri="{FF2B5EF4-FFF2-40B4-BE49-F238E27FC236}">
                <a16:creationId xmlns:a16="http://schemas.microsoft.com/office/drawing/2014/main" id="{80D4D308-4808-A56C-3921-E8EA3290EA28}"/>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1954485E-BF35-7932-08E3-31A2C1781534}"/>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4C85AF56-A5D8-1C6D-ADDC-9C04A8EF0069}"/>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60FF57CB-131C-01B9-F17F-21C15FDED514}"/>
              </a:ext>
            </a:extLst>
          </p:cNvPr>
          <p:cNvPicPr>
            <a:picLocks noChangeAspect="1"/>
          </p:cNvPicPr>
          <p:nvPr/>
        </p:nvPicPr>
        <p:blipFill>
          <a:blip r:embed="rId2"/>
          <a:stretch>
            <a:fillRect/>
          </a:stretch>
        </p:blipFill>
        <p:spPr>
          <a:xfrm>
            <a:off x="2931042" y="3168597"/>
            <a:ext cx="6329915" cy="2875308"/>
          </a:xfrm>
          <a:prstGeom prst="rect">
            <a:avLst/>
          </a:prstGeom>
        </p:spPr>
      </p:pic>
      <p:sp>
        <p:nvSpPr>
          <p:cNvPr id="9" name="직사각형 8">
            <a:extLst>
              <a:ext uri="{FF2B5EF4-FFF2-40B4-BE49-F238E27FC236}">
                <a16:creationId xmlns:a16="http://schemas.microsoft.com/office/drawing/2014/main" id="{C3B9966C-21FC-39A9-5728-D9CB0750E4C6}"/>
              </a:ext>
            </a:extLst>
          </p:cNvPr>
          <p:cNvSpPr/>
          <p:nvPr/>
        </p:nvSpPr>
        <p:spPr>
          <a:xfrm>
            <a:off x="5578549" y="3218121"/>
            <a:ext cx="3682408" cy="27573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9543807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D3FEA-BC18-B8BC-EAF3-B5AD229C43C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5837328-C8FB-6A74-3480-35CE857E67D9}"/>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Objects(26/28)</a:t>
            </a:r>
            <a:endParaRPr lang="ko-KR" altLang="en-US" sz="2800" b="1" dirty="0"/>
          </a:p>
        </p:txBody>
      </p:sp>
      <p:sp>
        <p:nvSpPr>
          <p:cNvPr id="3" name="내용 개체 틀 2">
            <a:extLst>
              <a:ext uri="{FF2B5EF4-FFF2-40B4-BE49-F238E27FC236}">
                <a16:creationId xmlns:a16="http://schemas.microsoft.com/office/drawing/2014/main" id="{C7F18D01-FAFB-B023-E6BD-E77C40921B29}"/>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Providing a custom API server for your custom objects :</a:t>
            </a:r>
            <a:endParaRPr lang="en-US" altLang="ko-KR" sz="1400" dirty="0"/>
          </a:p>
          <a:p>
            <a:pPr lvl="1">
              <a:buFont typeface="Wingdings" panose="05000000000000000000" pitchFamily="2" charset="2"/>
              <a:buChar char="§"/>
            </a:pPr>
            <a:r>
              <a:rPr lang="en-US" altLang="ko-KR" sz="1400" b="1" dirty="0"/>
              <a:t>In your case, you could create an API server responsible for handling your Website objects. It could validate those objects the way the core Kubernetes API server validates them</a:t>
            </a:r>
            <a:r>
              <a:rPr lang="en-US" altLang="ko-KR" sz="1400" dirty="0"/>
              <a:t>. </a:t>
            </a:r>
            <a:r>
              <a:rPr lang="en-US" altLang="ko-KR" sz="1400" b="1" dirty="0">
                <a:solidFill>
                  <a:srgbClr val="FF0000"/>
                </a:solidFill>
              </a:rPr>
              <a:t>You’d no longer need to create a CRD to represent those objects</a:t>
            </a:r>
            <a:r>
              <a:rPr lang="en-US" altLang="ko-KR" sz="1400" b="1" dirty="0"/>
              <a:t>, because you’d implement the Website object type into the custom API server directly</a:t>
            </a:r>
            <a:r>
              <a:rPr lang="en-US" altLang="ko-KR" sz="1400" dirty="0"/>
              <a:t>.</a:t>
            </a:r>
          </a:p>
          <a:p>
            <a:pPr lvl="1">
              <a:buFont typeface="Wingdings" panose="05000000000000000000" pitchFamily="2" charset="2"/>
              <a:buChar char="§"/>
            </a:pPr>
            <a:r>
              <a:rPr lang="en-US" altLang="ko-KR" sz="1400" b="1" dirty="0"/>
              <a:t>Generally, each API server is responsible for storing their own resources</a:t>
            </a:r>
            <a:r>
              <a:rPr lang="en-US" altLang="ko-KR" sz="1400" dirty="0"/>
              <a:t>. As shown in the previous figure, </a:t>
            </a:r>
            <a:r>
              <a:rPr lang="en-US" altLang="ko-KR" sz="1400" b="1" dirty="0"/>
              <a:t>it can either run its own instance of “</a:t>
            </a:r>
            <a:r>
              <a:rPr lang="en-US" altLang="ko-KR" sz="1400" b="1" dirty="0" err="1"/>
              <a:t>etcd</a:t>
            </a:r>
            <a:r>
              <a:rPr lang="en-US" altLang="ko-KR" sz="1400" b="1" dirty="0"/>
              <a:t>” (or a whole “</a:t>
            </a:r>
            <a:r>
              <a:rPr lang="en-US" altLang="ko-KR" sz="1400" b="1" dirty="0" err="1"/>
              <a:t>etcd</a:t>
            </a:r>
            <a:r>
              <a:rPr lang="en-US" altLang="ko-KR" sz="1400" b="1" dirty="0"/>
              <a:t>” cluster)</a:t>
            </a:r>
            <a:r>
              <a:rPr lang="en-US" altLang="ko-KR" sz="1400" dirty="0"/>
              <a:t>, </a:t>
            </a:r>
            <a:r>
              <a:rPr lang="en-US" altLang="ko-KR" sz="1400" b="1" dirty="0"/>
              <a:t>or it can store its resources in the core API server’s </a:t>
            </a:r>
            <a:r>
              <a:rPr lang="en-US" altLang="ko-KR" sz="1400" b="1" dirty="0" err="1"/>
              <a:t>etcd</a:t>
            </a:r>
            <a:r>
              <a:rPr lang="en-US" altLang="ko-KR" sz="1400" b="1" dirty="0"/>
              <a:t> store by creating CRD instances in the core API server</a:t>
            </a:r>
            <a:r>
              <a:rPr lang="en-US" altLang="ko-KR" sz="1400" dirty="0"/>
              <a:t>. In that case, it needs to create a CRD object first, before creating instances of the CRD, the way you did in the example.</a:t>
            </a:r>
          </a:p>
        </p:txBody>
      </p:sp>
      <p:sp>
        <p:nvSpPr>
          <p:cNvPr id="5" name="날짜 개체 틀 4">
            <a:extLst>
              <a:ext uri="{FF2B5EF4-FFF2-40B4-BE49-F238E27FC236}">
                <a16:creationId xmlns:a16="http://schemas.microsoft.com/office/drawing/2014/main" id="{F4C4B6DC-F08B-33E2-92BE-6D04BA03CD08}"/>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1ABC0770-71BA-2489-9EE1-81D08DE13045}"/>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AC758609-1043-F059-B80A-9E6CBB54E3F9}"/>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FAA5567C-12AB-60D0-CC41-22B312FBA2FA}"/>
              </a:ext>
            </a:extLst>
          </p:cNvPr>
          <p:cNvPicPr>
            <a:picLocks noChangeAspect="1"/>
          </p:cNvPicPr>
          <p:nvPr/>
        </p:nvPicPr>
        <p:blipFill>
          <a:blip r:embed="rId2"/>
          <a:stretch>
            <a:fillRect/>
          </a:stretch>
        </p:blipFill>
        <p:spPr>
          <a:xfrm>
            <a:off x="3238500" y="2931374"/>
            <a:ext cx="5715000" cy="2809875"/>
          </a:xfrm>
          <a:prstGeom prst="rect">
            <a:avLst/>
          </a:prstGeom>
        </p:spPr>
      </p:pic>
    </p:spTree>
    <p:extLst>
      <p:ext uri="{BB962C8B-B14F-4D97-AF65-F5344CB8AC3E}">
        <p14:creationId xmlns:p14="http://schemas.microsoft.com/office/powerpoint/2010/main" val="21646605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7BD7E-F3E6-BCC9-3E77-44DD5D154763}"/>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E1309C6E-0486-CC49-46B4-673D9EE137CC}"/>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Objects(27/28)</a:t>
            </a:r>
            <a:endParaRPr lang="ko-KR" altLang="en-US" sz="2800" b="1" dirty="0"/>
          </a:p>
        </p:txBody>
      </p:sp>
      <p:sp>
        <p:nvSpPr>
          <p:cNvPr id="3" name="내용 개체 틀 2">
            <a:extLst>
              <a:ext uri="{FF2B5EF4-FFF2-40B4-BE49-F238E27FC236}">
                <a16:creationId xmlns:a16="http://schemas.microsoft.com/office/drawing/2014/main" id="{0F3DF356-98E9-670C-3A0C-3AE67E93847A}"/>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Providing a custom API server for your custom objects :</a:t>
            </a:r>
            <a:endParaRPr lang="en-US" altLang="ko-KR" sz="1400" dirty="0"/>
          </a:p>
          <a:p>
            <a:pPr lvl="1">
              <a:buFont typeface="Wingdings" panose="05000000000000000000" pitchFamily="2" charset="2"/>
              <a:buChar char="§"/>
            </a:pPr>
            <a:r>
              <a:rPr lang="en-US" altLang="ko-KR" sz="1400" b="1" dirty="0"/>
              <a:t>To add a </a:t>
            </a:r>
            <a:r>
              <a:rPr lang="en-US" altLang="ko-KR" sz="1400" b="1" dirty="0">
                <a:solidFill>
                  <a:srgbClr val="FF0000"/>
                </a:solidFill>
              </a:rPr>
              <a:t>custom API server </a:t>
            </a:r>
            <a:r>
              <a:rPr lang="en-US" altLang="ko-KR" sz="1400" b="1" dirty="0"/>
              <a:t>to your cluster, you’d deploy it as a </a:t>
            </a:r>
            <a:r>
              <a:rPr lang="en-US" altLang="ko-KR" sz="1400" b="1" dirty="0">
                <a:solidFill>
                  <a:srgbClr val="FF0000"/>
                </a:solidFill>
              </a:rPr>
              <a:t>pod</a:t>
            </a:r>
            <a:r>
              <a:rPr lang="en-US" altLang="ko-KR" sz="1400" b="1" dirty="0"/>
              <a:t> and expose it through a </a:t>
            </a:r>
            <a:r>
              <a:rPr lang="en-US" altLang="ko-KR" sz="1400" b="1" dirty="0">
                <a:solidFill>
                  <a:srgbClr val="FF0000"/>
                </a:solidFill>
              </a:rPr>
              <a:t>Service</a:t>
            </a:r>
            <a:r>
              <a:rPr lang="en-US" altLang="ko-KR" sz="1400" dirty="0"/>
              <a:t>. </a:t>
            </a:r>
            <a:r>
              <a:rPr lang="en-US" altLang="ko-KR" sz="1400" b="1" dirty="0"/>
              <a:t>Then, to integrate it into the main API server, you’d deploy a YAML manifest describing an “</a:t>
            </a:r>
            <a:r>
              <a:rPr lang="en-US" altLang="ko-KR" sz="1400" b="1" dirty="0" err="1">
                <a:solidFill>
                  <a:srgbClr val="FF0000"/>
                </a:solidFill>
              </a:rPr>
              <a:t>APIService</a:t>
            </a:r>
            <a:r>
              <a:rPr lang="en-US" altLang="ko-KR" sz="1400" b="1" dirty="0">
                <a:solidFill>
                  <a:srgbClr val="FF0000"/>
                </a:solidFill>
              </a:rPr>
              <a:t> resource</a:t>
            </a:r>
            <a:r>
              <a:rPr lang="en-US" altLang="ko-KR" sz="1400" b="1" dirty="0"/>
              <a:t>” </a:t>
            </a:r>
            <a:r>
              <a:rPr lang="en-US" altLang="ko-KR" sz="1400" dirty="0"/>
              <a:t>like the one in the following listing.</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After creating the “</a:t>
            </a:r>
            <a:r>
              <a:rPr lang="en-US" altLang="ko-KR" sz="1400" b="1" dirty="0" err="1"/>
              <a:t>APIService</a:t>
            </a:r>
            <a:r>
              <a:rPr lang="en-US" altLang="ko-KR" sz="1400" b="1" dirty="0"/>
              <a:t>” resource from the above listing, client requests sent to the main API server that contain any resource from the “extensions.example.com API group” and version “v1” would be forwarded to the custom API server pod(s) exposed through the “website-</a:t>
            </a:r>
            <a:r>
              <a:rPr lang="en-US" altLang="ko-KR" sz="1400" b="1" dirty="0" err="1"/>
              <a:t>api</a:t>
            </a:r>
            <a:r>
              <a:rPr lang="en-US" altLang="ko-KR" sz="1400" b="1" dirty="0"/>
              <a:t>” Service</a:t>
            </a:r>
            <a:r>
              <a:rPr lang="en-US" altLang="ko-KR" sz="1400" dirty="0"/>
              <a:t>.</a:t>
            </a:r>
          </a:p>
        </p:txBody>
      </p:sp>
      <p:sp>
        <p:nvSpPr>
          <p:cNvPr id="5" name="날짜 개체 틀 4">
            <a:extLst>
              <a:ext uri="{FF2B5EF4-FFF2-40B4-BE49-F238E27FC236}">
                <a16:creationId xmlns:a16="http://schemas.microsoft.com/office/drawing/2014/main" id="{E787E357-111E-7635-DE9F-51E154045F64}"/>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18424B5B-0338-23AE-53AD-F642ABFBE6D0}"/>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16321AE0-A432-B588-2064-7CDF2DFA0379}"/>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A8CC1D8E-F925-F0E6-260E-4639EE53B7F7}"/>
              </a:ext>
            </a:extLst>
          </p:cNvPr>
          <p:cNvGrpSpPr/>
          <p:nvPr/>
        </p:nvGrpSpPr>
        <p:grpSpPr>
          <a:xfrm>
            <a:off x="3048000" y="1998507"/>
            <a:ext cx="6096000" cy="2246769"/>
            <a:chOff x="3048000" y="2055213"/>
            <a:chExt cx="6096000" cy="2246769"/>
          </a:xfrm>
        </p:grpSpPr>
        <p:sp>
          <p:nvSpPr>
            <p:cNvPr id="8" name="TextBox 7">
              <a:extLst>
                <a:ext uri="{FF2B5EF4-FFF2-40B4-BE49-F238E27FC236}">
                  <a16:creationId xmlns:a16="http://schemas.microsoft.com/office/drawing/2014/main" id="{102EF4DA-E000-176C-F534-ACE48C1AF20E}"/>
                </a:ext>
              </a:extLst>
            </p:cNvPr>
            <p:cNvSpPr txBox="1"/>
            <p:nvPr/>
          </p:nvSpPr>
          <p:spPr>
            <a:xfrm>
              <a:off x="3048000" y="2055213"/>
              <a:ext cx="6096000" cy="2246769"/>
            </a:xfrm>
            <a:prstGeom prst="rect">
              <a:avLst/>
            </a:prstGeom>
            <a:noFill/>
            <a:ln>
              <a:solidFill>
                <a:schemeClr val="tx1"/>
              </a:solidFill>
            </a:ln>
          </p:spPr>
          <p:txBody>
            <a:bodyPr wrap="square">
              <a:spAutoFit/>
            </a:bodyPr>
            <a:lstStyle/>
            <a:p>
              <a:r>
                <a:rPr lang="en-US" altLang="ko-KR" sz="1000" b="1" dirty="0" err="1"/>
                <a:t>apiVersion</a:t>
              </a:r>
              <a:r>
                <a:rPr lang="en-US" altLang="ko-KR" sz="1000" b="1" dirty="0"/>
                <a:t>: apiregistration.k8s.io/v1</a:t>
              </a:r>
            </a:p>
            <a:p>
              <a:r>
                <a:rPr lang="en-US" altLang="ko-KR" sz="1000" b="1" dirty="0"/>
                <a:t>kind: </a:t>
              </a:r>
              <a:r>
                <a:rPr lang="en-US" altLang="ko-KR" sz="1000" b="1" dirty="0" err="1">
                  <a:solidFill>
                    <a:srgbClr val="FF0000"/>
                  </a:solidFill>
                </a:rPr>
                <a:t>APIService</a:t>
              </a:r>
              <a:endParaRPr lang="en-US" altLang="ko-KR" sz="1000" b="1" dirty="0">
                <a:solidFill>
                  <a:srgbClr val="FF0000"/>
                </a:solidFill>
              </a:endParaRPr>
            </a:p>
            <a:p>
              <a:r>
                <a:rPr lang="en-US" altLang="ko-KR" sz="1000" b="1" dirty="0"/>
                <a:t>metadata:</a:t>
              </a:r>
            </a:p>
            <a:p>
              <a:r>
                <a:rPr lang="en-US" altLang="ko-KR" sz="1000" b="1" dirty="0"/>
                <a:t>  name: v1.extensions.example.com</a:t>
              </a:r>
            </a:p>
            <a:p>
              <a:r>
                <a:rPr lang="en-US" altLang="ko-KR" sz="1000" b="1" dirty="0"/>
                <a:t>spec:</a:t>
              </a:r>
            </a:p>
            <a:p>
              <a:r>
                <a:rPr lang="en-US" altLang="ko-KR" sz="1000" b="1" dirty="0"/>
                <a:t>  group: extensions.example.com</a:t>
              </a:r>
            </a:p>
            <a:p>
              <a:r>
                <a:rPr lang="en-US" altLang="ko-KR" sz="1000" b="1" dirty="0"/>
                <a:t>  version: v1</a:t>
              </a:r>
            </a:p>
            <a:p>
              <a:r>
                <a:rPr lang="en-US" altLang="ko-KR" sz="1000" b="1" dirty="0"/>
                <a:t>  </a:t>
              </a:r>
              <a:r>
                <a:rPr lang="en-US" altLang="ko-KR" sz="1000" b="1" dirty="0" err="1"/>
                <a:t>groupPriorityMinimum</a:t>
              </a:r>
              <a:r>
                <a:rPr lang="en-US" altLang="ko-KR" sz="1000" b="1" dirty="0"/>
                <a:t>: 150</a:t>
              </a:r>
            </a:p>
            <a:p>
              <a:r>
                <a:rPr lang="en-US" altLang="ko-KR" sz="1000" b="1" dirty="0"/>
                <a:t>  </a:t>
              </a:r>
              <a:r>
                <a:rPr lang="en-US" altLang="ko-KR" sz="1000" b="1" dirty="0" err="1"/>
                <a:t>versionPriority</a:t>
              </a:r>
              <a:r>
                <a:rPr lang="en-US" altLang="ko-KR" sz="1000" b="1" dirty="0"/>
                <a:t>: 15</a:t>
              </a:r>
            </a:p>
            <a:p>
              <a:r>
                <a:rPr lang="en-US" altLang="ko-KR" sz="1000" b="1" dirty="0"/>
                <a:t>  service:</a:t>
              </a:r>
            </a:p>
            <a:p>
              <a:r>
                <a:rPr lang="en-US" altLang="ko-KR" sz="1000" b="1" dirty="0"/>
                <a:t>    name: </a:t>
              </a:r>
              <a:r>
                <a:rPr lang="en-US" altLang="ko-KR" sz="1000" b="1" dirty="0">
                  <a:solidFill>
                    <a:srgbClr val="FF0000"/>
                  </a:solidFill>
                </a:rPr>
                <a:t>website-</a:t>
              </a:r>
              <a:r>
                <a:rPr lang="en-US" altLang="ko-KR" sz="1000" b="1" dirty="0" err="1">
                  <a:solidFill>
                    <a:srgbClr val="FF0000"/>
                  </a:solidFill>
                </a:rPr>
                <a:t>api</a:t>
              </a:r>
              <a:endParaRPr lang="en-US" altLang="ko-KR" sz="1000" b="1" dirty="0">
                <a:solidFill>
                  <a:srgbClr val="FF0000"/>
                </a:solidFill>
              </a:endParaRPr>
            </a:p>
            <a:p>
              <a:r>
                <a:rPr lang="en-US" altLang="ko-KR" sz="1000" b="1" dirty="0"/>
                <a:t>    namespace: default</a:t>
              </a:r>
            </a:p>
            <a:p>
              <a:r>
                <a:rPr lang="en-US" altLang="ko-KR" sz="1000" b="1" dirty="0"/>
                <a:t>    port: 443</a:t>
              </a:r>
            </a:p>
            <a:p>
              <a:r>
                <a:rPr lang="en-US" altLang="ko-KR" sz="1000" b="1" dirty="0"/>
                <a:t>  </a:t>
              </a:r>
              <a:r>
                <a:rPr lang="en-US" altLang="ko-KR" sz="1000" b="1" dirty="0" err="1">
                  <a:solidFill>
                    <a:srgbClr val="FF0000"/>
                  </a:solidFill>
                </a:rPr>
                <a:t>insecureSkipTLSVerify</a:t>
              </a:r>
              <a:r>
                <a:rPr lang="en-US" altLang="ko-KR" sz="1000" b="1" dirty="0">
                  <a:solidFill>
                    <a:srgbClr val="FF0000"/>
                  </a:solidFill>
                </a:rPr>
                <a:t>: true</a:t>
              </a:r>
            </a:p>
          </p:txBody>
        </p:sp>
        <p:sp>
          <p:nvSpPr>
            <p:cNvPr id="10" name="TextBox 9">
              <a:extLst>
                <a:ext uri="{FF2B5EF4-FFF2-40B4-BE49-F238E27FC236}">
                  <a16:creationId xmlns:a16="http://schemas.microsoft.com/office/drawing/2014/main" id="{67F9A123-27E1-CC7F-41B2-2C6AAC0A35AE}"/>
                </a:ext>
              </a:extLst>
            </p:cNvPr>
            <p:cNvSpPr txBox="1"/>
            <p:nvPr/>
          </p:nvSpPr>
          <p:spPr>
            <a:xfrm>
              <a:off x="8019973" y="2055213"/>
              <a:ext cx="1124027" cy="246221"/>
            </a:xfrm>
            <a:prstGeom prst="rect">
              <a:avLst/>
            </a:prstGeom>
            <a:noFill/>
          </p:spPr>
          <p:txBody>
            <a:bodyPr wrap="none" rtlCol="0">
              <a:spAutoFit/>
            </a:bodyPr>
            <a:lstStyle/>
            <a:p>
              <a:pPr algn="ctr"/>
              <a:r>
                <a:rPr lang="en-US" altLang="ko-KR" sz="1000" b="1" dirty="0" err="1"/>
                <a:t>apiService.yaml</a:t>
              </a:r>
              <a:endParaRPr lang="ko-KR" altLang="en-US" sz="1000" b="1" dirty="0"/>
            </a:p>
          </p:txBody>
        </p:sp>
      </p:grpSp>
    </p:spTree>
    <p:extLst>
      <p:ext uri="{BB962C8B-B14F-4D97-AF65-F5344CB8AC3E}">
        <p14:creationId xmlns:p14="http://schemas.microsoft.com/office/powerpoint/2010/main" val="6767112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D6AE6-1F79-A975-FB09-28E5CF61A0C3}"/>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EC1097F2-4BC5-2E2C-8F5D-DCF378710CFA}"/>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Objects(28/28)</a:t>
            </a:r>
            <a:endParaRPr lang="ko-KR" altLang="en-US" sz="2800" b="1" dirty="0"/>
          </a:p>
        </p:txBody>
      </p:sp>
      <p:sp>
        <p:nvSpPr>
          <p:cNvPr id="3" name="내용 개체 틀 2">
            <a:extLst>
              <a:ext uri="{FF2B5EF4-FFF2-40B4-BE49-F238E27FC236}">
                <a16:creationId xmlns:a16="http://schemas.microsoft.com/office/drawing/2014/main" id="{4973BC2B-9335-C8B7-B7A7-D66E90D1FB6B}"/>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Providing a custom API server for your custom objects :</a:t>
            </a:r>
            <a:endParaRPr lang="en-US" altLang="ko-KR" sz="1400" dirty="0"/>
          </a:p>
          <a:p>
            <a:pPr lvl="1">
              <a:buFont typeface="Wingdings" panose="05000000000000000000" pitchFamily="2" charset="2"/>
              <a:buChar char="§"/>
            </a:pPr>
            <a:r>
              <a:rPr lang="en-US" altLang="ko-KR" sz="1400" b="1" dirty="0"/>
              <a:t>While you can create custom resources from YAML files using the regular </a:t>
            </a:r>
            <a:r>
              <a:rPr lang="en-US" altLang="ko-KR" sz="1400" b="1" dirty="0" err="1"/>
              <a:t>kubectl</a:t>
            </a:r>
            <a:r>
              <a:rPr lang="en-US" altLang="ko-KR" sz="1400" b="1" dirty="0"/>
              <a:t> client, to make deployment of custom objects even easier, in addition to providing a custom API server, you can also build a </a:t>
            </a:r>
            <a:r>
              <a:rPr lang="en-US" altLang="ko-KR" sz="1400" b="1" dirty="0">
                <a:solidFill>
                  <a:srgbClr val="FF0000"/>
                </a:solidFill>
              </a:rPr>
              <a:t>custom CLI tool</a:t>
            </a:r>
            <a:r>
              <a:rPr lang="en-US" altLang="ko-KR" sz="1400" dirty="0"/>
              <a:t>. This will allow you to </a:t>
            </a:r>
            <a:r>
              <a:rPr lang="en-US" altLang="ko-KR" sz="1400" b="1" dirty="0"/>
              <a:t>add dedicated commands for manipulating those objects</a:t>
            </a:r>
            <a:r>
              <a:rPr lang="en-US" altLang="ko-KR" sz="1400" dirty="0"/>
              <a:t>, similar to how </a:t>
            </a:r>
            <a:r>
              <a:rPr lang="en-US" altLang="ko-KR" sz="1400" dirty="0" err="1"/>
              <a:t>kubectl</a:t>
            </a:r>
            <a:r>
              <a:rPr lang="en-US" altLang="ko-KR" sz="1400" dirty="0"/>
              <a:t> allows creating Secrets, Deployments, and other resources through resource-specific commands like “</a:t>
            </a:r>
            <a:r>
              <a:rPr lang="en-US" altLang="ko-KR" sz="1400" dirty="0" err="1"/>
              <a:t>kubectl</a:t>
            </a:r>
            <a:r>
              <a:rPr lang="en-US" altLang="ko-KR" sz="1400" dirty="0"/>
              <a:t> create secret” or “</a:t>
            </a:r>
            <a:r>
              <a:rPr lang="en-US" altLang="ko-KR" sz="1400" dirty="0" err="1"/>
              <a:t>kubectl</a:t>
            </a:r>
            <a:r>
              <a:rPr lang="en-US" altLang="ko-KR" sz="1400" dirty="0"/>
              <a:t> create deployment”.</a:t>
            </a:r>
          </a:p>
          <a:p>
            <a:pPr lvl="1">
              <a:buFont typeface="Wingdings" panose="05000000000000000000" pitchFamily="2" charset="2"/>
              <a:buChar char="§"/>
            </a:pPr>
            <a:r>
              <a:rPr lang="en-US" altLang="ko-KR" sz="1400" b="1" dirty="0"/>
              <a:t>Custom API servers, API server aggregation, and other features related to extending Kubernetes are currently being worked on intensively</a:t>
            </a:r>
            <a:r>
              <a:rPr lang="en-US" altLang="ko-KR" sz="1400" dirty="0"/>
              <a:t>, so they may change in the future. </a:t>
            </a:r>
            <a:r>
              <a:rPr lang="en-US" altLang="ko-KR" sz="1400" b="1" dirty="0"/>
              <a:t>To get up-to-date information on the subject, refer to the Kubernetes GitHub repos at </a:t>
            </a:r>
            <a:r>
              <a:rPr lang="en-US" altLang="ko-KR" sz="1400" b="1" dirty="0">
                <a:hlinkClick r:id="rId2"/>
              </a:rPr>
              <a:t>http://github.com/kubernetes</a:t>
            </a:r>
            <a:r>
              <a:rPr lang="en-US" altLang="ko-KR" sz="1400" dirty="0"/>
              <a:t>.</a:t>
            </a:r>
          </a:p>
        </p:txBody>
      </p:sp>
      <p:sp>
        <p:nvSpPr>
          <p:cNvPr id="5" name="날짜 개체 틀 4">
            <a:extLst>
              <a:ext uri="{FF2B5EF4-FFF2-40B4-BE49-F238E27FC236}">
                <a16:creationId xmlns:a16="http://schemas.microsoft.com/office/drawing/2014/main" id="{EE3A48FD-18A4-77B4-267C-A812D0F13A2F}"/>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79E26BF1-21EA-3259-CF6A-395164412B01}"/>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B2433A1B-1E70-BABE-E65E-94E05589533D}"/>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ABD383EE-3A22-5594-3AD2-558FC5E454ED}"/>
              </a:ext>
            </a:extLst>
          </p:cNvPr>
          <p:cNvPicPr>
            <a:picLocks noChangeAspect="1"/>
          </p:cNvPicPr>
          <p:nvPr/>
        </p:nvPicPr>
        <p:blipFill>
          <a:blip r:embed="rId3"/>
          <a:stretch>
            <a:fillRect/>
          </a:stretch>
        </p:blipFill>
        <p:spPr>
          <a:xfrm>
            <a:off x="2909777" y="2824529"/>
            <a:ext cx="6372446" cy="3584501"/>
          </a:xfrm>
          <a:prstGeom prst="rect">
            <a:avLst/>
          </a:prstGeom>
        </p:spPr>
      </p:pic>
    </p:spTree>
    <p:extLst>
      <p:ext uri="{BB962C8B-B14F-4D97-AF65-F5344CB8AC3E}">
        <p14:creationId xmlns:p14="http://schemas.microsoft.com/office/powerpoint/2010/main" val="37451067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Kubernetes(1/12)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Red Hat OpenShift Container Platform :</a:t>
            </a:r>
            <a:endParaRPr lang="en-US" altLang="ko-KR" sz="1400" dirty="0"/>
          </a:p>
          <a:p>
            <a:pPr lvl="1">
              <a:buFont typeface="Wingdings" panose="05000000000000000000" pitchFamily="2" charset="2"/>
              <a:buChar char="§"/>
            </a:pPr>
            <a:r>
              <a:rPr lang="en-US" altLang="ko-KR" sz="1400" b="1" dirty="0"/>
              <a:t>Kubernetes is, in fact, becoming a widely accepted foundation for the new generation of “</a:t>
            </a:r>
            <a:r>
              <a:rPr lang="en-US" altLang="ko-KR" sz="1400" b="1" dirty="0">
                <a:solidFill>
                  <a:srgbClr val="FF0000"/>
                </a:solidFill>
              </a:rPr>
              <a:t>Platform-as-a-Service(PaaS)</a:t>
            </a:r>
            <a:r>
              <a:rPr lang="en-US" altLang="ko-KR" sz="1400" b="1" dirty="0"/>
              <a:t>” offerings</a:t>
            </a:r>
            <a:r>
              <a:rPr lang="en-US" altLang="ko-KR" sz="1400" dirty="0"/>
              <a:t>. Among the best-known PaaS systems built on Kubernetes are “</a:t>
            </a:r>
            <a:r>
              <a:rPr lang="en-US" altLang="ko-KR" sz="1400" b="1" dirty="0">
                <a:hlinkClick r:id="rId2"/>
              </a:rPr>
              <a:t>Deis Workflow</a:t>
            </a:r>
            <a:r>
              <a:rPr lang="en-US" altLang="ko-KR" sz="1400" dirty="0"/>
              <a:t>” and “</a:t>
            </a:r>
            <a:r>
              <a:rPr lang="en-US" altLang="ko-KR" sz="1400" b="1" dirty="0">
                <a:hlinkClick r:id="rId3"/>
              </a:rPr>
              <a:t>Red Hat’s OpenShift</a:t>
            </a:r>
            <a:r>
              <a:rPr lang="en-US" altLang="ko-KR" sz="1400" dirty="0"/>
              <a:t>”.</a:t>
            </a:r>
          </a:p>
          <a:p>
            <a:pPr lvl="1">
              <a:buFont typeface="Wingdings" panose="05000000000000000000" pitchFamily="2" charset="2"/>
              <a:buChar char="§"/>
            </a:pPr>
            <a:r>
              <a:rPr lang="en-US" altLang="ko-KR" sz="1400" b="1" dirty="0"/>
              <a:t>Red Hat OpenShift is a “Platform-as-a-Service”</a:t>
            </a:r>
            <a:r>
              <a:rPr lang="en-US" altLang="ko-KR" sz="1400" dirty="0"/>
              <a:t> and as such, it has a strong focus on developer experience. </a:t>
            </a:r>
            <a:r>
              <a:rPr lang="en-US" altLang="ko-KR" sz="1400" b="1" dirty="0"/>
              <a:t>Among its goals are enabling rapid development of applications, as well as easy deployment, scaling, and long-term maintenance of those apps</a:t>
            </a:r>
            <a:r>
              <a:rPr lang="en-US" altLang="ko-KR" sz="1400" dirty="0"/>
              <a:t>. </a:t>
            </a:r>
          </a:p>
          <a:p>
            <a:pPr lvl="1">
              <a:buFont typeface="Wingdings" panose="05000000000000000000" pitchFamily="2" charset="2"/>
              <a:buChar char="§"/>
            </a:pPr>
            <a:r>
              <a:rPr lang="en-US" altLang="ko-KR" sz="1400" b="1" dirty="0"/>
              <a:t>OpenShift has been around much longer than Kubernetes. Versions 1 and 2 were built from the ground up and had nothing to do with Kubernetes, but when Kubernetes was announced</a:t>
            </a:r>
            <a:r>
              <a:rPr lang="en-US" altLang="ko-KR" sz="1400" dirty="0"/>
              <a:t>, </a:t>
            </a:r>
            <a:r>
              <a:rPr lang="en-US" altLang="ko-KR" sz="1400" b="1" dirty="0"/>
              <a:t>Red Hat decided to rebuild </a:t>
            </a:r>
            <a:r>
              <a:rPr lang="en-US" altLang="ko-KR" sz="1400" b="1" dirty="0">
                <a:solidFill>
                  <a:srgbClr val="FF0000"/>
                </a:solidFill>
              </a:rPr>
              <a:t>OpenShift version 3 </a:t>
            </a:r>
            <a:r>
              <a:rPr lang="en-US" altLang="ko-KR" sz="1400" b="1" dirty="0"/>
              <a:t>from scratch—this time on top of Kubernetes</a:t>
            </a:r>
            <a:r>
              <a:rPr lang="en-US" altLang="ko-KR" sz="1400" dirty="0"/>
              <a:t>. When a company such as Red Hat decides to throw away an old version of their software and build a new one on top of an existing technology like Kubernetes, it should be clear to everyone how great Kubernetes is.</a:t>
            </a:r>
          </a:p>
          <a:p>
            <a:pPr lvl="1">
              <a:buFont typeface="Wingdings" panose="05000000000000000000" pitchFamily="2" charset="2"/>
              <a:buChar char="§"/>
            </a:pPr>
            <a:r>
              <a:rPr lang="en-US" altLang="ko-KR" sz="1400" b="1" dirty="0"/>
              <a:t>Kubernetes automates rollouts and application scaling, whereas OpenShift also automates the actual building of application images and their automatic deployment without requiring you to integrate a Continuous Integration(CI) solution into your cluster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EA8D29AE-D0FA-08E1-89DC-F023E1C9B7F0}"/>
              </a:ext>
            </a:extLst>
          </p:cNvPr>
          <p:cNvPicPr>
            <a:picLocks noChangeAspect="1"/>
          </p:cNvPicPr>
          <p:nvPr/>
        </p:nvPicPr>
        <p:blipFill>
          <a:blip r:embed="rId4"/>
          <a:stretch>
            <a:fillRect/>
          </a:stretch>
        </p:blipFill>
        <p:spPr>
          <a:xfrm>
            <a:off x="7456968" y="3896366"/>
            <a:ext cx="3896832" cy="2512663"/>
          </a:xfrm>
          <a:prstGeom prst="rect">
            <a:avLst/>
          </a:prstGeom>
        </p:spPr>
      </p:pic>
      <p:sp>
        <p:nvSpPr>
          <p:cNvPr id="10" name="TextBox 9">
            <a:extLst>
              <a:ext uri="{FF2B5EF4-FFF2-40B4-BE49-F238E27FC236}">
                <a16:creationId xmlns:a16="http://schemas.microsoft.com/office/drawing/2014/main" id="{E466ADC1-629C-21B5-482F-7EAD0AC72202}"/>
              </a:ext>
            </a:extLst>
          </p:cNvPr>
          <p:cNvSpPr txBox="1"/>
          <p:nvPr/>
        </p:nvSpPr>
        <p:spPr>
          <a:xfrm>
            <a:off x="838199" y="4015200"/>
            <a:ext cx="6618769" cy="1061829"/>
          </a:xfrm>
          <a:prstGeom prst="rect">
            <a:avLst/>
          </a:prstGeom>
          <a:noFill/>
        </p:spPr>
        <p:txBody>
          <a:bodyPr wrap="square">
            <a:spAutoFit/>
          </a:bodyPr>
          <a:lstStyle/>
          <a:p>
            <a:pPr marL="685800" marR="0" lvl="1" indent="-228600" algn="l" defTabSz="914400" rtl="0" eaLnBrk="1" fontAlgn="auto" latinLnBrk="1" hangingPunct="1">
              <a:lnSpc>
                <a:spcPct val="90000"/>
              </a:lnSpc>
              <a:spcBef>
                <a:spcPts val="500"/>
              </a:spcBef>
              <a:spcAft>
                <a:spcPts val="0"/>
              </a:spcAft>
              <a:buClrTx/>
              <a:buSzTx/>
              <a:buFont typeface="Wingdings" panose="05000000000000000000" pitchFamily="2" charset="2"/>
              <a:buChar char="§"/>
              <a:tabLst/>
              <a:defRPr/>
            </a:pP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OpenShift also provides user and group management</a:t>
            </a:r>
            <a:r>
              <a:rPr kumimoji="0" lang="en-US" altLang="ko-KR" sz="1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which allows you to run a properly secured multi-tenant Kubernetes cluster, where individual users are only allowed to access their own Kubernetes namespaces and the apps running in those namespaces are also fully network-isolated from each other by default.</a:t>
            </a:r>
          </a:p>
        </p:txBody>
      </p:sp>
    </p:spTree>
    <p:extLst>
      <p:ext uri="{BB962C8B-B14F-4D97-AF65-F5344CB8AC3E}">
        <p14:creationId xmlns:p14="http://schemas.microsoft.com/office/powerpoint/2010/main" val="13136902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Kubernetes(2/12)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Red Hat OpenShift Container Platform :</a:t>
            </a:r>
            <a:endParaRPr lang="en-US" altLang="ko-KR" sz="1400" dirty="0"/>
          </a:p>
          <a:p>
            <a:pPr lvl="1">
              <a:buFont typeface="Wingdings" panose="05000000000000000000" pitchFamily="2" charset="2"/>
              <a:buChar char="§"/>
            </a:pPr>
            <a:r>
              <a:rPr lang="en-US" altLang="ko-KR" sz="1400" b="1" dirty="0"/>
              <a:t>OpenShift provides some additional API objects in addition to all those available in Kubernetes</a:t>
            </a:r>
            <a:r>
              <a:rPr lang="en-US" altLang="ko-KR" sz="1400" dirty="0"/>
              <a:t>. The additional resources include : </a:t>
            </a:r>
          </a:p>
          <a:p>
            <a:pPr lvl="2">
              <a:buFont typeface="Wingdings" panose="05000000000000000000" pitchFamily="2" charset="2"/>
              <a:buChar char="§"/>
            </a:pPr>
            <a:r>
              <a:rPr lang="en-US" altLang="ko-KR" sz="1400" b="1" dirty="0"/>
              <a:t>Users &amp; Groups</a:t>
            </a:r>
          </a:p>
          <a:p>
            <a:pPr lvl="2">
              <a:buFont typeface="Wingdings" panose="05000000000000000000" pitchFamily="2" charset="2"/>
              <a:buChar char="§"/>
            </a:pPr>
            <a:r>
              <a:rPr lang="en-US" altLang="ko-KR" sz="1400" b="1" dirty="0"/>
              <a:t>Projects</a:t>
            </a:r>
          </a:p>
          <a:p>
            <a:pPr lvl="2">
              <a:buFont typeface="Wingdings" panose="05000000000000000000" pitchFamily="2" charset="2"/>
              <a:buChar char="§"/>
            </a:pPr>
            <a:r>
              <a:rPr lang="en-US" altLang="ko-KR" sz="1400" b="1" dirty="0"/>
              <a:t>Templates</a:t>
            </a:r>
          </a:p>
          <a:p>
            <a:pPr lvl="2">
              <a:buFont typeface="Wingdings" panose="05000000000000000000" pitchFamily="2" charset="2"/>
              <a:buChar char="§"/>
            </a:pPr>
            <a:r>
              <a:rPr lang="en-US" altLang="ko-KR" sz="1400" b="1" dirty="0" err="1"/>
              <a:t>BuildConfigs</a:t>
            </a:r>
            <a:endParaRPr lang="en-US" altLang="ko-KR" sz="1400" b="1" dirty="0"/>
          </a:p>
          <a:p>
            <a:pPr lvl="2">
              <a:buFont typeface="Wingdings" panose="05000000000000000000" pitchFamily="2" charset="2"/>
              <a:buChar char="§"/>
            </a:pPr>
            <a:r>
              <a:rPr lang="en-US" altLang="ko-KR" sz="1400" b="1" dirty="0" err="1"/>
              <a:t>DeploymentConfigs</a:t>
            </a:r>
            <a:endParaRPr lang="en-US" altLang="ko-KR" sz="1400" b="1" dirty="0"/>
          </a:p>
          <a:p>
            <a:pPr lvl="2">
              <a:buFont typeface="Wingdings" panose="05000000000000000000" pitchFamily="2" charset="2"/>
              <a:buChar char="§"/>
            </a:pPr>
            <a:r>
              <a:rPr lang="en-US" altLang="ko-KR" sz="1400" b="1" dirty="0" err="1"/>
              <a:t>ImageStreams</a:t>
            </a:r>
            <a:endParaRPr lang="en-US" altLang="ko-KR" sz="1400" b="1" dirty="0"/>
          </a:p>
          <a:p>
            <a:pPr lvl="2">
              <a:buFont typeface="Wingdings" panose="05000000000000000000" pitchFamily="2" charset="2"/>
              <a:buChar char="§"/>
            </a:pPr>
            <a:r>
              <a:rPr lang="en-US" altLang="ko-KR" sz="1400" b="1" dirty="0"/>
              <a:t>Routes</a:t>
            </a:r>
          </a:p>
          <a:p>
            <a:pPr lvl="2">
              <a:buFont typeface="Wingdings" panose="05000000000000000000" pitchFamily="2" charset="2"/>
              <a:buChar char="§"/>
            </a:pPr>
            <a:r>
              <a:rPr lang="en-US" altLang="ko-KR" sz="1400" dirty="0"/>
              <a:t>And others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2D9D07AA-A2AC-74D5-FC7D-EAA6A95DE486}"/>
              </a:ext>
            </a:extLst>
          </p:cNvPr>
          <p:cNvPicPr>
            <a:picLocks noChangeAspect="1"/>
          </p:cNvPicPr>
          <p:nvPr/>
        </p:nvPicPr>
        <p:blipFill>
          <a:blip r:embed="rId2"/>
          <a:stretch>
            <a:fillRect/>
          </a:stretch>
        </p:blipFill>
        <p:spPr>
          <a:xfrm>
            <a:off x="3981398" y="1580429"/>
            <a:ext cx="7372402" cy="4146976"/>
          </a:xfrm>
          <a:prstGeom prst="rect">
            <a:avLst/>
          </a:prstGeom>
        </p:spPr>
      </p:pic>
      <p:sp>
        <p:nvSpPr>
          <p:cNvPr id="9" name="직사각형 8">
            <a:extLst>
              <a:ext uri="{FF2B5EF4-FFF2-40B4-BE49-F238E27FC236}">
                <a16:creationId xmlns:a16="http://schemas.microsoft.com/office/drawing/2014/main" id="{22A69BA5-F98B-011D-28EB-0CC0C7132F07}"/>
              </a:ext>
            </a:extLst>
          </p:cNvPr>
          <p:cNvSpPr/>
          <p:nvPr/>
        </p:nvSpPr>
        <p:spPr>
          <a:xfrm>
            <a:off x="5195777" y="2771553"/>
            <a:ext cx="5167423" cy="240295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7893465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Kubernetes(3/12)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Red Hat OpenShift Container Platform :</a:t>
            </a:r>
            <a:endParaRPr lang="en-US" altLang="ko-KR" sz="1400" dirty="0"/>
          </a:p>
          <a:p>
            <a:pPr lvl="1">
              <a:buFont typeface="Wingdings" panose="05000000000000000000" pitchFamily="2" charset="2"/>
              <a:buChar char="§"/>
            </a:pPr>
            <a:r>
              <a:rPr lang="en-US" altLang="ko-KR" sz="1400" b="1" dirty="0"/>
              <a:t>OpenShift provides a proper multi-tenant environment to its users</a:t>
            </a:r>
            <a:r>
              <a:rPr lang="en-US" altLang="ko-KR" sz="1400" dirty="0"/>
              <a:t>. Unlike Kubernetes, which doesn’t have an API object for representing an individual user of the cluster (but does have “</a:t>
            </a:r>
            <a:r>
              <a:rPr lang="en-US" altLang="ko-KR" sz="1400" b="1" dirty="0" err="1"/>
              <a:t>ServiceAccounts</a:t>
            </a:r>
            <a:r>
              <a:rPr lang="en-US" altLang="ko-KR" sz="1400" dirty="0"/>
              <a:t>” that represent services running in it), </a:t>
            </a:r>
            <a:r>
              <a:rPr lang="en-US" altLang="ko-KR" sz="1400" b="1" dirty="0"/>
              <a:t>OpenShift provides powerful user management features, which make it possible to specify what each user can do and what they cannot</a:t>
            </a:r>
            <a:r>
              <a:rPr lang="en-US" altLang="ko-KR" sz="1400" dirty="0"/>
              <a:t>. These features pre-date the </a:t>
            </a:r>
            <a:r>
              <a:rPr lang="en-US" altLang="ko-KR" sz="1400" b="1" dirty="0"/>
              <a:t>Role-Based Access Control(RBAC)</a:t>
            </a:r>
            <a:r>
              <a:rPr lang="en-US" altLang="ko-KR" sz="1400" dirty="0"/>
              <a:t>, which is now the standard in vanilla Kubernetes.</a:t>
            </a:r>
          </a:p>
          <a:p>
            <a:pPr lvl="1">
              <a:buFont typeface="Wingdings" panose="05000000000000000000" pitchFamily="2" charset="2"/>
              <a:buChar char="§"/>
            </a:pPr>
            <a:r>
              <a:rPr lang="en-US" altLang="ko-KR" sz="1400" b="1" dirty="0"/>
              <a:t>Each user has access to certain Projects, which are nothing more than Kubernetes Namespaces with additional annotations</a:t>
            </a:r>
            <a:r>
              <a:rPr lang="en-US" altLang="ko-KR" sz="1400" dirty="0"/>
              <a:t>. </a:t>
            </a:r>
            <a:r>
              <a:rPr lang="en-US" altLang="ko-KR" sz="1400" b="1" dirty="0"/>
              <a:t>Users can only act on resources that reside in the projects the user has access to. Access to the project is granted by a cluster administrator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2A03086B-5310-818D-63A9-5984362A0EF4}"/>
              </a:ext>
            </a:extLst>
          </p:cNvPr>
          <p:cNvPicPr>
            <a:picLocks noChangeAspect="1"/>
          </p:cNvPicPr>
          <p:nvPr/>
        </p:nvPicPr>
        <p:blipFill>
          <a:blip r:embed="rId2"/>
          <a:stretch>
            <a:fillRect/>
          </a:stretch>
        </p:blipFill>
        <p:spPr>
          <a:xfrm>
            <a:off x="3425691" y="3054372"/>
            <a:ext cx="5340618" cy="3029222"/>
          </a:xfrm>
          <a:prstGeom prst="rect">
            <a:avLst/>
          </a:prstGeom>
        </p:spPr>
      </p:pic>
    </p:spTree>
    <p:extLst>
      <p:ext uri="{BB962C8B-B14F-4D97-AF65-F5344CB8AC3E}">
        <p14:creationId xmlns:p14="http://schemas.microsoft.com/office/powerpoint/2010/main" val="40545396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Kubernetes(4/12)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Red Hat OpenShift Container Platform :</a:t>
            </a:r>
            <a:endParaRPr lang="en-US" altLang="ko-KR" sz="1400" dirty="0"/>
          </a:p>
          <a:p>
            <a:pPr lvl="1">
              <a:buFont typeface="Wingdings" panose="05000000000000000000" pitchFamily="2" charset="2"/>
              <a:buChar char="§"/>
            </a:pPr>
            <a:r>
              <a:rPr lang="en-US" altLang="ko-KR" sz="1400" b="1" dirty="0"/>
              <a:t>Kubernetes makes it possible to deploy a set of resources through a single JSON or YAML manifest. </a:t>
            </a:r>
            <a:r>
              <a:rPr lang="en-US" altLang="ko-KR" sz="1400" dirty="0"/>
              <a:t>OpenShift takes this a step further by </a:t>
            </a:r>
            <a:r>
              <a:rPr lang="en-US" altLang="ko-KR" sz="1400" b="1" dirty="0"/>
              <a:t>allowing that manifest to be parameterizable</a:t>
            </a:r>
            <a:r>
              <a:rPr lang="en-US" altLang="ko-KR" sz="1400" dirty="0"/>
              <a:t>. </a:t>
            </a:r>
            <a:r>
              <a:rPr lang="en-US" altLang="ko-KR" sz="1400" b="1" dirty="0"/>
              <a:t>A parameterizable list in OpenShift is called a “</a:t>
            </a:r>
            <a:r>
              <a:rPr lang="en-US" altLang="ko-KR" sz="1400" b="1" dirty="0">
                <a:solidFill>
                  <a:srgbClr val="FF0000"/>
                </a:solidFill>
              </a:rPr>
              <a:t>Template</a:t>
            </a:r>
            <a:r>
              <a:rPr lang="en-US" altLang="ko-KR" sz="1400" b="1" dirty="0"/>
              <a:t>”</a:t>
            </a:r>
            <a:r>
              <a:rPr lang="en-US" altLang="ko-KR" sz="1400" dirty="0"/>
              <a:t>; </a:t>
            </a:r>
            <a:r>
              <a:rPr lang="en-US" altLang="ko-KR" sz="1400" b="1" dirty="0"/>
              <a:t>it’s a list of objects whose definitions can include placeholders that get replaced with parameter values when you process and then instantiate a template </a:t>
            </a:r>
            <a:r>
              <a:rPr lang="en-US" altLang="ko-KR" sz="1400" dirty="0"/>
              <a:t>(see the following figure).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DFDBBE8-AFF8-033C-F42E-FD8E49343C15}"/>
              </a:ext>
            </a:extLst>
          </p:cNvPr>
          <p:cNvGrpSpPr/>
          <p:nvPr/>
        </p:nvGrpSpPr>
        <p:grpSpPr>
          <a:xfrm>
            <a:off x="2209800" y="2535513"/>
            <a:ext cx="7839075" cy="2912994"/>
            <a:chOff x="2209800" y="2535513"/>
            <a:chExt cx="7839075" cy="2912994"/>
          </a:xfrm>
        </p:grpSpPr>
        <p:pic>
          <p:nvPicPr>
            <p:cNvPr id="8" name="그림 7">
              <a:extLst>
                <a:ext uri="{FF2B5EF4-FFF2-40B4-BE49-F238E27FC236}">
                  <a16:creationId xmlns:a16="http://schemas.microsoft.com/office/drawing/2014/main" id="{2972E4C2-9F55-B23B-FB9A-05ECBB1903E0}"/>
                </a:ext>
              </a:extLst>
            </p:cNvPr>
            <p:cNvPicPr>
              <a:picLocks noChangeAspect="1"/>
            </p:cNvPicPr>
            <p:nvPr/>
          </p:nvPicPr>
          <p:blipFill>
            <a:blip r:embed="rId2"/>
            <a:stretch>
              <a:fillRect/>
            </a:stretch>
          </p:blipFill>
          <p:spPr>
            <a:xfrm>
              <a:off x="2209800" y="2535513"/>
              <a:ext cx="7839075" cy="2743200"/>
            </a:xfrm>
            <a:prstGeom prst="rect">
              <a:avLst/>
            </a:prstGeom>
          </p:spPr>
        </p:pic>
        <p:sp>
          <p:nvSpPr>
            <p:cNvPr id="9" name="TextBox 8">
              <a:extLst>
                <a:ext uri="{FF2B5EF4-FFF2-40B4-BE49-F238E27FC236}">
                  <a16:creationId xmlns:a16="http://schemas.microsoft.com/office/drawing/2014/main" id="{78C1CEF4-4A77-1597-5A40-21B39E83C157}"/>
                </a:ext>
              </a:extLst>
            </p:cNvPr>
            <p:cNvSpPr txBox="1"/>
            <p:nvPr/>
          </p:nvSpPr>
          <p:spPr>
            <a:xfrm>
              <a:off x="5360863" y="5202286"/>
              <a:ext cx="1470274" cy="246221"/>
            </a:xfrm>
            <a:prstGeom prst="rect">
              <a:avLst/>
            </a:prstGeom>
            <a:noFill/>
          </p:spPr>
          <p:txBody>
            <a:bodyPr wrap="none" rtlCol="0">
              <a:spAutoFit/>
            </a:bodyPr>
            <a:lstStyle/>
            <a:p>
              <a:pPr algn="ctr"/>
              <a:r>
                <a:rPr lang="en-US" altLang="ko-KR" sz="1000" b="1" dirty="0"/>
                <a:t>OpenShift Templates</a:t>
              </a:r>
              <a:endParaRPr lang="ko-KR" altLang="en-US" sz="1000" b="1" dirty="0"/>
            </a:p>
          </p:txBody>
        </p:sp>
      </p:grpSp>
    </p:spTree>
    <p:extLst>
      <p:ext uri="{BB962C8B-B14F-4D97-AF65-F5344CB8AC3E}">
        <p14:creationId xmlns:p14="http://schemas.microsoft.com/office/powerpoint/2010/main" val="25742492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Kubernetes(5/12)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Red Hat OpenShift Container Platform :</a:t>
            </a:r>
            <a:endParaRPr lang="en-US" altLang="ko-KR" sz="1400" dirty="0"/>
          </a:p>
          <a:p>
            <a:pPr lvl="1">
              <a:buFont typeface="Wingdings" panose="05000000000000000000" pitchFamily="2" charset="2"/>
              <a:buChar char="§"/>
            </a:pPr>
            <a:r>
              <a:rPr lang="en-US" altLang="ko-KR" sz="1400" b="1" dirty="0"/>
              <a:t>The template itself is a JSON or YAML file containing a list of parameters that are referenced in resources defined in that same JSON/YAML</a:t>
            </a:r>
            <a:r>
              <a:rPr lang="en-US" altLang="ko-KR" sz="1400" dirty="0"/>
              <a:t>. </a:t>
            </a:r>
            <a:r>
              <a:rPr lang="en-US" altLang="ko-KR" sz="1400" b="1" dirty="0"/>
              <a:t>The template can be stored in the API server like any other object</a:t>
            </a:r>
            <a:r>
              <a:rPr lang="en-US" altLang="ko-KR" sz="1400" dirty="0"/>
              <a:t>. </a:t>
            </a:r>
            <a:r>
              <a:rPr lang="en-US" altLang="ko-KR" sz="1400" b="1" dirty="0"/>
              <a:t>Before a template can be instantiated, it needs to be processed</a:t>
            </a:r>
            <a:r>
              <a:rPr lang="en-US" altLang="ko-KR" sz="1400" dirty="0"/>
              <a:t>. To process a template, you supply the values for the template’s parameters and then OpenShift replaces the references to the parameters with those values. </a:t>
            </a:r>
            <a:r>
              <a:rPr lang="en-US" altLang="ko-KR" sz="1400" b="1" dirty="0"/>
              <a:t>The result is a processed template, which is exactly like a Kubernetes resource list that can then be created with a single POST request</a:t>
            </a:r>
            <a:r>
              <a:rPr lang="en-US" altLang="ko-KR" sz="1400" dirty="0"/>
              <a:t>.</a:t>
            </a:r>
          </a:p>
          <a:p>
            <a:pPr lvl="1">
              <a:buFont typeface="Wingdings" panose="05000000000000000000" pitchFamily="2" charset="2"/>
              <a:buChar char="§"/>
            </a:pPr>
            <a:r>
              <a:rPr lang="en-US" altLang="ko-KR" sz="1400" b="1" dirty="0"/>
              <a:t>OpenShift provides a long list of pre-fabricated templates that allow users to quickly run complex applications by specifying a few arguments </a:t>
            </a:r>
            <a:r>
              <a:rPr lang="en-US" altLang="ko-KR" sz="1400" dirty="0"/>
              <a:t>(or none at all, if the template provides good defaults for those arguments). For example, a template can enable the creation of all the Kubernetes resources necessary to run a Java EE application inside an Application Server, which connects to a back-end database, also deployed as part of that same template. All those components can be deployed with a single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BAF997FE-C09B-A6FF-6DE8-674612383AE9}"/>
              </a:ext>
            </a:extLst>
          </p:cNvPr>
          <p:cNvPicPr>
            <a:picLocks noChangeAspect="1"/>
          </p:cNvPicPr>
          <p:nvPr/>
        </p:nvPicPr>
        <p:blipFill>
          <a:blip r:embed="rId2"/>
          <a:stretch>
            <a:fillRect/>
          </a:stretch>
        </p:blipFill>
        <p:spPr>
          <a:xfrm>
            <a:off x="2286000" y="3361030"/>
            <a:ext cx="7620000" cy="3048000"/>
          </a:xfrm>
          <a:prstGeom prst="rect">
            <a:avLst/>
          </a:prstGeom>
        </p:spPr>
      </p:pic>
    </p:spTree>
    <p:extLst>
      <p:ext uri="{BB962C8B-B14F-4D97-AF65-F5344CB8AC3E}">
        <p14:creationId xmlns:p14="http://schemas.microsoft.com/office/powerpoint/2010/main" val="29645098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Kubernetes(6/12)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Red Hat OpenShift Container Platform :</a:t>
            </a:r>
            <a:endParaRPr lang="en-US" altLang="ko-KR" sz="1400" dirty="0"/>
          </a:p>
          <a:p>
            <a:pPr lvl="1">
              <a:buFont typeface="Wingdings" panose="05000000000000000000" pitchFamily="2" charset="2"/>
              <a:buChar char="§"/>
            </a:pPr>
            <a:r>
              <a:rPr lang="en-US" altLang="ko-KR" sz="1400" b="1" dirty="0"/>
              <a:t>One of the best features of OpenShift is the ability to have OpenShift build and immediately deploy an application in the OpenShift cluster by pointing it to a “</a:t>
            </a:r>
            <a:r>
              <a:rPr lang="en-US" altLang="ko-KR" sz="1400" b="1" dirty="0">
                <a:solidFill>
                  <a:srgbClr val="FF0000"/>
                </a:solidFill>
              </a:rPr>
              <a:t>Git repository</a:t>
            </a:r>
            <a:r>
              <a:rPr lang="en-US" altLang="ko-KR" sz="1400" b="1" dirty="0"/>
              <a:t>” holding the application’s source code</a:t>
            </a:r>
            <a:r>
              <a:rPr lang="en-US" altLang="ko-KR" sz="1400" dirty="0"/>
              <a:t>. You don’t need to build the container image at all—OpenShift does that for you. This is done by creating a resource called “</a:t>
            </a:r>
            <a:r>
              <a:rPr lang="en-US" altLang="ko-KR" sz="1400" b="1" dirty="0">
                <a:solidFill>
                  <a:srgbClr val="FF0000"/>
                </a:solidFill>
              </a:rPr>
              <a:t>Build-Config</a:t>
            </a:r>
            <a:r>
              <a:rPr lang="en-US" altLang="ko-KR" sz="1400" dirty="0"/>
              <a:t>”, </a:t>
            </a:r>
            <a:r>
              <a:rPr lang="en-US" altLang="ko-KR" sz="1400" b="1" dirty="0"/>
              <a:t>which can be configured to trigger builds of container images immediately after a change is committed to the source Git repository</a:t>
            </a:r>
            <a:r>
              <a:rPr lang="en-US" altLang="ko-KR" sz="1400" dirty="0"/>
              <a:t>.</a:t>
            </a:r>
          </a:p>
          <a:p>
            <a:pPr lvl="1">
              <a:buFont typeface="Wingdings" panose="05000000000000000000" pitchFamily="2" charset="2"/>
              <a:buChar char="§"/>
            </a:pPr>
            <a:r>
              <a:rPr lang="en-US" altLang="ko-KR" sz="1400" b="1" dirty="0"/>
              <a:t>Although OpenShift doesn’t monitor the Git repository itself, a hook in the repository can notify OpenShift of the new commit</a:t>
            </a:r>
            <a:r>
              <a:rPr lang="en-US" altLang="ko-KR" sz="1400" dirty="0"/>
              <a:t>. OpenShift will then pull the changes from the Git repository and start the build process. A build mechanism called “</a:t>
            </a:r>
            <a:r>
              <a:rPr lang="en-US" altLang="ko-KR" sz="1400" b="1" dirty="0"/>
              <a:t>Source To Image</a:t>
            </a:r>
            <a:r>
              <a:rPr lang="en-US" altLang="ko-KR" sz="1400" dirty="0"/>
              <a:t>” can detect what type of application is in the Git repository and run the proper build procedure for it. For example, if it detects a “pom.xml” file, which is used in “Java Maven-formatted projects”, it runs a Maven build. The resulting artifacts are packaged into an appropriate container image, and are then pushed to an internal container registry (provided by OpenShift). From there, they can be pulled and run in the cluster immediately.</a:t>
            </a:r>
          </a:p>
          <a:p>
            <a:pPr lvl="1">
              <a:buFont typeface="Wingdings" panose="05000000000000000000" pitchFamily="2" charset="2"/>
              <a:buChar char="§"/>
            </a:pPr>
            <a:r>
              <a:rPr lang="en-US" altLang="ko-KR" sz="1400" b="1" dirty="0"/>
              <a:t>By creating a “</a:t>
            </a:r>
            <a:r>
              <a:rPr lang="en-US" altLang="ko-KR" sz="1400" b="1" dirty="0" err="1">
                <a:solidFill>
                  <a:srgbClr val="FF0000"/>
                </a:solidFill>
              </a:rPr>
              <a:t>BuildConfig</a:t>
            </a:r>
            <a:r>
              <a:rPr lang="en-US" altLang="ko-KR" sz="1400" b="1" dirty="0"/>
              <a:t>” object, developers can thus point to a Git repo and not worry about building container images</a:t>
            </a:r>
            <a:r>
              <a:rPr lang="en-US" altLang="ko-KR" sz="1400" dirty="0"/>
              <a:t>. Developers have almost no need to know anything about containers. Once the ops team deploys an OpenShift cluster and gives developers access to it, those developers can develop their code, commit, and push it to a Git repo, the same way they used to before we started packaging apps into containers. </a:t>
            </a:r>
            <a:r>
              <a:rPr lang="en-US" altLang="ko-KR" sz="1400" b="1" dirty="0"/>
              <a:t>Then OpenShift takes care of building, deploying, and managing apps from that code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33DAE6E1-3A18-4A62-8A3B-BCD64A35E033}"/>
              </a:ext>
            </a:extLst>
          </p:cNvPr>
          <p:cNvPicPr>
            <a:picLocks noChangeAspect="1"/>
          </p:cNvPicPr>
          <p:nvPr/>
        </p:nvPicPr>
        <p:blipFill>
          <a:blip r:embed="rId2"/>
          <a:stretch>
            <a:fillRect/>
          </a:stretch>
        </p:blipFill>
        <p:spPr>
          <a:xfrm>
            <a:off x="7485321" y="4400334"/>
            <a:ext cx="3868479" cy="2008695"/>
          </a:xfrm>
          <a:prstGeom prst="rect">
            <a:avLst/>
          </a:prstGeom>
        </p:spPr>
      </p:pic>
    </p:spTree>
    <p:extLst>
      <p:ext uri="{BB962C8B-B14F-4D97-AF65-F5344CB8AC3E}">
        <p14:creationId xmlns:p14="http://schemas.microsoft.com/office/powerpoint/2010/main" val="30716810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Kubernetes(7/12)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Red Hat OpenShift Container Platform :</a:t>
            </a:r>
            <a:endParaRPr lang="en-US" altLang="ko-KR" sz="1400" dirty="0"/>
          </a:p>
          <a:p>
            <a:pPr lvl="1">
              <a:buFont typeface="Wingdings" panose="05000000000000000000" pitchFamily="2" charset="2"/>
              <a:buChar char="§"/>
            </a:pPr>
            <a:r>
              <a:rPr lang="en-US" altLang="ko-KR" sz="1400" b="1" dirty="0"/>
              <a:t>Once a new container image is built, it can also automatically be deployed in the cluster. This is enabled by creating a “</a:t>
            </a:r>
            <a:r>
              <a:rPr lang="en-US" altLang="ko-KR" sz="1400" b="1" dirty="0" err="1">
                <a:solidFill>
                  <a:srgbClr val="FF0000"/>
                </a:solidFill>
              </a:rPr>
              <a:t>DeploymentConfig</a:t>
            </a:r>
            <a:r>
              <a:rPr lang="en-US" altLang="ko-KR" sz="1400" b="1" dirty="0"/>
              <a:t>” object and pointing it to an “</a:t>
            </a:r>
            <a:r>
              <a:rPr lang="en-US" altLang="ko-KR" sz="1400" b="1" dirty="0" err="1">
                <a:solidFill>
                  <a:srgbClr val="FF0000"/>
                </a:solidFill>
              </a:rPr>
              <a:t>ImageStream</a:t>
            </a:r>
            <a:r>
              <a:rPr lang="en-US" altLang="ko-KR" sz="1400" b="1" dirty="0"/>
              <a:t>”. As the name suggests, an “</a:t>
            </a:r>
            <a:r>
              <a:rPr lang="en-US" altLang="ko-KR" sz="1400" b="1" dirty="0" err="1"/>
              <a:t>ImageStream</a:t>
            </a:r>
            <a:r>
              <a:rPr lang="en-US" altLang="ko-KR" sz="1400" b="1" dirty="0"/>
              <a:t>” is a stream of images. When an image is built, it’s added to the “</a:t>
            </a:r>
            <a:r>
              <a:rPr lang="en-US" altLang="ko-KR" sz="1400" b="1" dirty="0" err="1"/>
              <a:t>ImageStream</a:t>
            </a:r>
            <a:r>
              <a:rPr lang="en-US" altLang="ko-KR" sz="1400" b="1" dirty="0"/>
              <a:t>”. This enables the “</a:t>
            </a:r>
            <a:r>
              <a:rPr lang="en-US" altLang="ko-KR" sz="1400" b="1" dirty="0" err="1"/>
              <a:t>DeploymentConfig</a:t>
            </a:r>
            <a:r>
              <a:rPr lang="en-US" altLang="ko-KR" sz="1400" b="1" dirty="0"/>
              <a:t>” to notice the newly built image and allows it to take action and initiate a rollout of the new image </a:t>
            </a:r>
            <a:r>
              <a:rPr lang="en-US" altLang="ko-KR" sz="1400" dirty="0"/>
              <a:t>(see the following figure).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9DAB4A5A-C690-FF4A-5C6B-AF866D56934B}"/>
              </a:ext>
            </a:extLst>
          </p:cNvPr>
          <p:cNvPicPr>
            <a:picLocks noChangeAspect="1"/>
          </p:cNvPicPr>
          <p:nvPr/>
        </p:nvPicPr>
        <p:blipFill>
          <a:blip r:embed="rId2"/>
          <a:stretch>
            <a:fillRect/>
          </a:stretch>
        </p:blipFill>
        <p:spPr>
          <a:xfrm>
            <a:off x="2149438" y="2410026"/>
            <a:ext cx="7893124" cy="3633879"/>
          </a:xfrm>
          <a:prstGeom prst="rect">
            <a:avLst/>
          </a:prstGeom>
        </p:spPr>
      </p:pic>
    </p:spTree>
    <p:extLst>
      <p:ext uri="{BB962C8B-B14F-4D97-AF65-F5344CB8AC3E}">
        <p14:creationId xmlns:p14="http://schemas.microsoft.com/office/powerpoint/2010/main" val="1250257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Kubernetes(8/12)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Red Hat OpenShift Container Platform :</a:t>
            </a:r>
            <a:endParaRPr lang="en-US" altLang="ko-KR" sz="1400" dirty="0"/>
          </a:p>
          <a:p>
            <a:pPr lvl="1">
              <a:buFont typeface="Wingdings" panose="05000000000000000000" pitchFamily="2" charset="2"/>
              <a:buChar char="§"/>
            </a:pPr>
            <a:r>
              <a:rPr lang="en-US" altLang="ko-KR" sz="1400" b="1" dirty="0"/>
              <a:t>A “</a:t>
            </a:r>
            <a:r>
              <a:rPr lang="en-US" altLang="ko-KR" sz="1400" b="1" dirty="0" err="1"/>
              <a:t>DeploymentConfig</a:t>
            </a:r>
            <a:r>
              <a:rPr lang="en-US" altLang="ko-KR" sz="1400" b="1" dirty="0"/>
              <a:t>” is almost identical to the Deployment object in Kubernetes, but it pre-dates it. Like a Deployment object, it has a configurable strategy for transitioning between Deployments</a:t>
            </a:r>
            <a:r>
              <a:rPr lang="en-US" altLang="ko-KR" sz="1400" dirty="0"/>
              <a:t>. </a:t>
            </a:r>
            <a:r>
              <a:rPr lang="en-US" altLang="ko-KR" sz="1400" b="1" dirty="0"/>
              <a:t>It contains a pod template used to create the actual pods, but it also allows you to configure “</a:t>
            </a:r>
            <a:r>
              <a:rPr lang="en-US" altLang="ko-KR" sz="1400" b="1" dirty="0">
                <a:solidFill>
                  <a:srgbClr val="FF0000"/>
                </a:solidFill>
              </a:rPr>
              <a:t>pre- and post-deployment hooks</a:t>
            </a:r>
            <a:r>
              <a:rPr lang="en-US" altLang="ko-KR" sz="1400" b="1" dirty="0"/>
              <a:t>”</a:t>
            </a:r>
            <a:r>
              <a:rPr lang="en-US" altLang="ko-KR" sz="1400" dirty="0"/>
              <a:t>. </a:t>
            </a:r>
            <a:r>
              <a:rPr lang="en-US" altLang="ko-KR" sz="1400" b="1" dirty="0"/>
              <a:t>In contrast to a Kubernetes Deployment, it creates “</a:t>
            </a:r>
            <a:r>
              <a:rPr lang="en-US" altLang="ko-KR" sz="1400" b="1" dirty="0" err="1">
                <a:solidFill>
                  <a:srgbClr val="FF0000"/>
                </a:solidFill>
              </a:rPr>
              <a:t>ReplicationControllers</a:t>
            </a:r>
            <a:r>
              <a:rPr lang="en-US" altLang="ko-KR" sz="1400" b="1" dirty="0"/>
              <a:t>” instead of “</a:t>
            </a:r>
            <a:r>
              <a:rPr lang="en-US" altLang="ko-KR" sz="1400" b="1" dirty="0" err="1"/>
              <a:t>ReplicaSets</a:t>
            </a:r>
            <a:r>
              <a:rPr lang="en-US" altLang="ko-KR" sz="1400" b="1" dirty="0"/>
              <a:t>” and provides a few additional features</a:t>
            </a:r>
            <a:r>
              <a:rPr lang="en-US" altLang="ko-KR" sz="1400" dirty="0"/>
              <a:t>.</a:t>
            </a:r>
          </a:p>
          <a:p>
            <a:pPr lvl="1">
              <a:buFont typeface="Wingdings" panose="05000000000000000000" pitchFamily="2" charset="2"/>
              <a:buChar char="§"/>
            </a:pPr>
            <a:r>
              <a:rPr lang="en-US" altLang="ko-KR" sz="1400" b="1" dirty="0"/>
              <a:t>Early on, Kubernetes didn’t provide Ingress objects. To expose Services to the outside world, you needed to use </a:t>
            </a:r>
            <a:r>
              <a:rPr lang="en-US" altLang="ko-KR" sz="1400" b="1" dirty="0" err="1"/>
              <a:t>NodePort</a:t>
            </a:r>
            <a:r>
              <a:rPr lang="en-US" altLang="ko-KR" sz="1400" b="1" dirty="0"/>
              <a:t> or </a:t>
            </a:r>
            <a:r>
              <a:rPr lang="en-US" altLang="ko-KR" sz="1400" b="1" dirty="0" err="1"/>
              <a:t>LoadBalancer</a:t>
            </a:r>
            <a:r>
              <a:rPr lang="en-US" altLang="ko-KR" sz="1400" b="1" dirty="0"/>
              <a:t>-type Services</a:t>
            </a:r>
            <a:r>
              <a:rPr lang="en-US" altLang="ko-KR" sz="1400" dirty="0"/>
              <a:t>. </a:t>
            </a:r>
            <a:r>
              <a:rPr lang="en-US" altLang="ko-KR" sz="1400" b="1" dirty="0"/>
              <a:t>But at that time, OpenShift already provided a better option through a “</a:t>
            </a:r>
            <a:r>
              <a:rPr lang="en-US" altLang="ko-KR" sz="1400" b="1" dirty="0">
                <a:solidFill>
                  <a:srgbClr val="FF0000"/>
                </a:solidFill>
              </a:rPr>
              <a:t>Route</a:t>
            </a:r>
            <a:r>
              <a:rPr lang="en-US" altLang="ko-KR" sz="1400" b="1" dirty="0"/>
              <a:t>” resource. A Route is similar to an Ingress, but it provides additional configuration related to TLS termination and traffic splitting</a:t>
            </a:r>
            <a:r>
              <a:rPr lang="en-US" altLang="ko-KR" sz="1400" dirty="0"/>
              <a:t>.</a:t>
            </a:r>
          </a:p>
          <a:p>
            <a:pPr lvl="1">
              <a:buFont typeface="Wingdings" panose="05000000000000000000" pitchFamily="2" charset="2"/>
              <a:buChar char="§"/>
            </a:pPr>
            <a:r>
              <a:rPr lang="en-US" altLang="ko-KR" sz="1400" b="1" dirty="0"/>
              <a:t>Similar to an Ingress controller, a Route needs a “</a:t>
            </a:r>
            <a:r>
              <a:rPr lang="en-US" altLang="ko-KR" sz="1400" b="1" dirty="0">
                <a:solidFill>
                  <a:srgbClr val="FF0000"/>
                </a:solidFill>
              </a:rPr>
              <a:t>Router</a:t>
            </a:r>
            <a:r>
              <a:rPr lang="en-US" altLang="ko-KR" sz="1400" b="1" dirty="0"/>
              <a:t>”, which is a controller that provides the load balancer or proxy</a:t>
            </a:r>
            <a:r>
              <a:rPr lang="en-US" altLang="ko-KR" sz="1400" dirty="0"/>
              <a:t>. In contrast to Kubernetes, the Router is available out of the box in OpenShift.</a:t>
            </a:r>
          </a:p>
          <a:p>
            <a:pPr lvl="1">
              <a:buFont typeface="Wingdings" panose="05000000000000000000" pitchFamily="2" charset="2"/>
              <a:buChar char="§"/>
            </a:pPr>
            <a:r>
              <a:rPr lang="en-US" altLang="ko-KR" sz="1400" b="1" dirty="0"/>
              <a:t>NOTE : If you’re interested in trying out OpenShift, you can start by using “</a:t>
            </a:r>
            <a:r>
              <a:rPr lang="en-US" altLang="ko-KR" sz="1400" b="1" dirty="0" err="1">
                <a:hlinkClick r:id="rId2"/>
              </a:rPr>
              <a:t>Minishift</a:t>
            </a:r>
            <a:r>
              <a:rPr lang="en-US" altLang="ko-KR" sz="1400" b="1" dirty="0"/>
              <a:t>”</a:t>
            </a:r>
            <a:r>
              <a:rPr lang="en-US" altLang="ko-KR" sz="1400" dirty="0"/>
              <a:t>, </a:t>
            </a:r>
            <a:r>
              <a:rPr lang="en-US" altLang="ko-KR" sz="1400" b="1" dirty="0"/>
              <a:t>which is the OpenShift equivalent of </a:t>
            </a:r>
            <a:r>
              <a:rPr lang="en-US" altLang="ko-KR" sz="1400" b="1" dirty="0" err="1"/>
              <a:t>Minikube</a:t>
            </a:r>
            <a:r>
              <a:rPr lang="en-US" altLang="ko-KR" sz="1400" b="1" dirty="0"/>
              <a:t>, or you can try OpenShift Online Starter at </a:t>
            </a:r>
            <a:r>
              <a:rPr lang="en-US" altLang="ko-KR" sz="1400" b="1" dirty="0">
                <a:hlinkClick r:id="rId3"/>
              </a:rPr>
              <a:t>https://manage.openshift.com</a:t>
            </a:r>
            <a:r>
              <a:rPr lang="en-US" altLang="ko-KR" sz="1400" dirty="0"/>
              <a:t>, which is a free multi-tenant, hosted solution provided to get you started with OpenShift.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CE6CE7EC-10BB-73CF-DBCE-511F88A9198E}"/>
              </a:ext>
            </a:extLst>
          </p:cNvPr>
          <p:cNvGrpSpPr/>
          <p:nvPr/>
        </p:nvGrpSpPr>
        <p:grpSpPr>
          <a:xfrm>
            <a:off x="2944567" y="4195173"/>
            <a:ext cx="6302866" cy="2213857"/>
            <a:chOff x="3111337" y="4195172"/>
            <a:chExt cx="6302866" cy="2213857"/>
          </a:xfrm>
        </p:grpSpPr>
        <p:pic>
          <p:nvPicPr>
            <p:cNvPr id="8" name="그림 7">
              <a:extLst>
                <a:ext uri="{FF2B5EF4-FFF2-40B4-BE49-F238E27FC236}">
                  <a16:creationId xmlns:a16="http://schemas.microsoft.com/office/drawing/2014/main" id="{EC456C45-4386-D632-FEEB-662FA26DAA29}"/>
                </a:ext>
              </a:extLst>
            </p:cNvPr>
            <p:cNvPicPr>
              <a:picLocks noChangeAspect="1"/>
            </p:cNvPicPr>
            <p:nvPr/>
          </p:nvPicPr>
          <p:blipFill>
            <a:blip r:embed="rId4"/>
            <a:stretch>
              <a:fillRect/>
            </a:stretch>
          </p:blipFill>
          <p:spPr>
            <a:xfrm>
              <a:off x="6838079" y="4195172"/>
              <a:ext cx="2576124" cy="2213857"/>
            </a:xfrm>
            <a:prstGeom prst="rect">
              <a:avLst/>
            </a:prstGeom>
          </p:spPr>
        </p:pic>
        <p:pic>
          <p:nvPicPr>
            <p:cNvPr id="10" name="그림 9">
              <a:extLst>
                <a:ext uri="{FF2B5EF4-FFF2-40B4-BE49-F238E27FC236}">
                  <a16:creationId xmlns:a16="http://schemas.microsoft.com/office/drawing/2014/main" id="{83B1D7E6-80B6-3038-D01B-A82B36D1FC03}"/>
                </a:ext>
              </a:extLst>
            </p:cNvPr>
            <p:cNvPicPr>
              <a:picLocks noChangeAspect="1"/>
            </p:cNvPicPr>
            <p:nvPr/>
          </p:nvPicPr>
          <p:blipFill>
            <a:blip r:embed="rId5"/>
            <a:stretch>
              <a:fillRect/>
            </a:stretch>
          </p:blipFill>
          <p:spPr>
            <a:xfrm>
              <a:off x="3111337" y="4195173"/>
              <a:ext cx="2906692" cy="2181068"/>
            </a:xfrm>
            <a:prstGeom prst="rect">
              <a:avLst/>
            </a:prstGeom>
          </p:spPr>
        </p:pic>
      </p:grpSp>
    </p:spTree>
    <p:extLst>
      <p:ext uri="{BB962C8B-B14F-4D97-AF65-F5344CB8AC3E}">
        <p14:creationId xmlns:p14="http://schemas.microsoft.com/office/powerpoint/2010/main" val="13596921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Kubernetes(9/12)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Deis Workflow and Helm :</a:t>
            </a:r>
            <a:endParaRPr lang="en-US" altLang="ko-KR" sz="1400" dirty="0"/>
          </a:p>
          <a:p>
            <a:pPr lvl="1">
              <a:buFont typeface="Wingdings" panose="05000000000000000000" pitchFamily="2" charset="2"/>
              <a:buChar char="§"/>
            </a:pPr>
            <a:r>
              <a:rPr lang="en-US" altLang="ko-KR" sz="1400" b="1" dirty="0"/>
              <a:t>A company called “Deis”, which has been acquired by Microsoft, also provides a PaaS called “</a:t>
            </a:r>
            <a:r>
              <a:rPr lang="en-US" altLang="ko-KR" sz="1400" b="1" dirty="0">
                <a:solidFill>
                  <a:srgbClr val="FF0000"/>
                </a:solidFill>
              </a:rPr>
              <a:t>Workflow</a:t>
            </a:r>
            <a:r>
              <a:rPr lang="en-US" altLang="ko-KR" sz="1400" b="1" dirty="0"/>
              <a:t>”</a:t>
            </a:r>
            <a:r>
              <a:rPr lang="en-US" altLang="ko-KR" sz="1400" dirty="0"/>
              <a:t>, </a:t>
            </a:r>
            <a:r>
              <a:rPr lang="en-US" altLang="ko-KR" sz="1400" b="1" dirty="0"/>
              <a:t>which is also built on top of Kubernetes</a:t>
            </a:r>
            <a:r>
              <a:rPr lang="en-US" altLang="ko-KR" sz="1400" dirty="0"/>
              <a:t>. Besides “Workflow”, they’ve also developed a tool called “</a:t>
            </a:r>
            <a:r>
              <a:rPr lang="en-US" altLang="ko-KR" sz="1400" b="1" dirty="0">
                <a:solidFill>
                  <a:srgbClr val="FF0000"/>
                </a:solidFill>
              </a:rPr>
              <a:t>Helm</a:t>
            </a:r>
            <a:r>
              <a:rPr lang="en-US" altLang="ko-KR" sz="1400" dirty="0"/>
              <a:t>”, </a:t>
            </a:r>
            <a:r>
              <a:rPr lang="en-US" altLang="ko-KR" sz="1400" b="1" dirty="0"/>
              <a:t>which is gaining traction in the Kubernetes community as </a:t>
            </a:r>
            <a:r>
              <a:rPr lang="en-US" altLang="ko-KR" sz="1400" b="1" dirty="0">
                <a:solidFill>
                  <a:srgbClr val="FF0000"/>
                </a:solidFill>
              </a:rPr>
              <a:t>a standard way of deploying existing apps in Kubernetes</a:t>
            </a:r>
            <a:r>
              <a:rPr lang="en-US" altLang="ko-KR" sz="1400" dirty="0"/>
              <a:t>.</a:t>
            </a:r>
          </a:p>
          <a:p>
            <a:pPr lvl="1">
              <a:buFont typeface="Wingdings" panose="05000000000000000000" pitchFamily="2" charset="2"/>
              <a:buChar char="§"/>
            </a:pPr>
            <a:r>
              <a:rPr lang="en-US" altLang="ko-KR" sz="1400" b="1" dirty="0"/>
              <a:t>You can deploy “Deis Workflow” to any existing Kubernetes cluster </a:t>
            </a:r>
            <a:r>
              <a:rPr lang="en-US" altLang="ko-KR" sz="1400" dirty="0"/>
              <a:t>(unlike OpenShift, which is a complete cluster with a modified API server and other Kubernetes components). </a:t>
            </a:r>
            <a:r>
              <a:rPr lang="en-US" altLang="ko-KR" sz="1400" b="1" dirty="0"/>
              <a:t>When you run “</a:t>
            </a:r>
            <a:r>
              <a:rPr lang="en-US" altLang="ko-KR" sz="1400" b="1" dirty="0">
                <a:solidFill>
                  <a:srgbClr val="FF0000"/>
                </a:solidFill>
              </a:rPr>
              <a:t>Workflow</a:t>
            </a:r>
            <a:r>
              <a:rPr lang="en-US" altLang="ko-KR" sz="1400" b="1" dirty="0"/>
              <a:t>”, it creates a set of Services and </a:t>
            </a:r>
            <a:r>
              <a:rPr lang="en-US" altLang="ko-KR" sz="1400" b="1" dirty="0" err="1"/>
              <a:t>ReplicationControllers</a:t>
            </a:r>
            <a:r>
              <a:rPr lang="en-US" altLang="ko-KR" sz="1400" b="1" dirty="0"/>
              <a:t>, which then provide developers with a simple, developer-friendly environment</a:t>
            </a:r>
            <a:r>
              <a:rPr lang="en-US" altLang="ko-KR" sz="1400" dirty="0"/>
              <a:t>.</a:t>
            </a:r>
          </a:p>
          <a:p>
            <a:pPr lvl="1">
              <a:buFont typeface="Wingdings" panose="05000000000000000000" pitchFamily="2" charset="2"/>
              <a:buChar char="§"/>
            </a:pPr>
            <a:r>
              <a:rPr lang="en-US" altLang="ko-KR" sz="1400" b="1" dirty="0"/>
              <a:t>Deploying new versions of your app is triggered by pushing your changes with “</a:t>
            </a:r>
            <a:r>
              <a:rPr lang="en-US" altLang="ko-KR" sz="1400" b="1" dirty="0">
                <a:solidFill>
                  <a:srgbClr val="FF0000"/>
                </a:solidFill>
              </a:rPr>
              <a:t>git push </a:t>
            </a:r>
            <a:r>
              <a:rPr lang="en-US" altLang="ko-KR" sz="1400" b="1" dirty="0" err="1">
                <a:solidFill>
                  <a:srgbClr val="FF0000"/>
                </a:solidFill>
              </a:rPr>
              <a:t>deis</a:t>
            </a:r>
            <a:r>
              <a:rPr lang="en-US" altLang="ko-KR" sz="1400" b="1" dirty="0">
                <a:solidFill>
                  <a:srgbClr val="FF0000"/>
                </a:solidFill>
              </a:rPr>
              <a:t> master</a:t>
            </a:r>
            <a:r>
              <a:rPr lang="en-US" altLang="ko-KR" sz="1400" b="1" dirty="0"/>
              <a:t>” and letting “Workflow” take care of the rest</a:t>
            </a:r>
            <a:r>
              <a:rPr lang="en-US" altLang="ko-KR" sz="1400" dirty="0"/>
              <a:t>. </a:t>
            </a:r>
            <a:r>
              <a:rPr lang="en-US" altLang="ko-KR" sz="1400" b="1" dirty="0"/>
              <a:t>Similar to OpenShift, “Workflow” also provides a source to image mechanism, application rollouts and rollbacks, edge routing, and also log aggregation, metrics, and alerting, which aren’t available in core Kubernetes</a:t>
            </a:r>
            <a:r>
              <a:rPr lang="en-US" altLang="ko-KR" sz="1400" dirty="0"/>
              <a:t>.</a:t>
            </a:r>
          </a:p>
          <a:p>
            <a:pPr lvl="1">
              <a:buFont typeface="Wingdings" panose="05000000000000000000" pitchFamily="2" charset="2"/>
              <a:buChar char="§"/>
            </a:pPr>
            <a:r>
              <a:rPr lang="en-US" altLang="ko-KR" sz="1400" b="1" dirty="0"/>
              <a:t>To run “Workflow” in your Kubernetes cluster, you first need to install the “Deis Workflow” and “</a:t>
            </a:r>
            <a:r>
              <a:rPr lang="en-US" altLang="ko-KR" sz="1400" b="1" dirty="0">
                <a:solidFill>
                  <a:srgbClr val="FF0000"/>
                </a:solidFill>
              </a:rPr>
              <a:t>Helm CLI(Command Line Interface)</a:t>
            </a:r>
            <a:r>
              <a:rPr lang="en-US" altLang="ko-KR" sz="1400" b="1" dirty="0"/>
              <a:t>” tools and then install “Workflow” into your cluster</a:t>
            </a:r>
            <a:r>
              <a:rPr lang="en-US" altLang="ko-KR" sz="1400" dirty="0"/>
              <a:t>.</a:t>
            </a:r>
          </a:p>
          <a:p>
            <a:pPr lvl="1">
              <a:buFont typeface="Wingdings" panose="05000000000000000000" pitchFamily="2" charset="2"/>
              <a:buChar char="§"/>
            </a:pPr>
            <a:r>
              <a:rPr lang="en-US" altLang="ko-KR" sz="1400" b="1" dirty="0"/>
              <a:t>NOTE : Currently(2026.08), </a:t>
            </a:r>
            <a:r>
              <a:rPr lang="en-US" altLang="ko-KR" sz="1400" b="1" dirty="0">
                <a:hlinkClick r:id="rId2"/>
              </a:rPr>
              <a:t>https://deis.com/workflow</a:t>
            </a:r>
            <a:r>
              <a:rPr lang="en-US" altLang="ko-KR" sz="1400" b="1" dirty="0"/>
              <a:t> site is redirected to Azure Kubernetes Service(AKS) automatically. Please see </a:t>
            </a:r>
            <a:r>
              <a:rPr lang="en-US" altLang="ko-KR" sz="1400" b="1" dirty="0">
                <a:hlinkClick r:id="rId3"/>
              </a:rPr>
              <a:t>https://github.com/deis/workflow</a:t>
            </a:r>
            <a:r>
              <a:rPr lang="en-US" altLang="ko-KR" sz="1400" b="1" dirty="0"/>
              <a:t> for more details. </a:t>
            </a: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932F204E-08BC-1092-A5CB-6FD6D0D99EE0}"/>
              </a:ext>
            </a:extLst>
          </p:cNvPr>
          <p:cNvPicPr>
            <a:picLocks noChangeAspect="1"/>
          </p:cNvPicPr>
          <p:nvPr/>
        </p:nvPicPr>
        <p:blipFill>
          <a:blip r:embed="rId4"/>
          <a:stretch>
            <a:fillRect/>
          </a:stretch>
        </p:blipFill>
        <p:spPr>
          <a:xfrm>
            <a:off x="3351794" y="4472763"/>
            <a:ext cx="5488412" cy="1936267"/>
          </a:xfrm>
          <a:prstGeom prst="rect">
            <a:avLst/>
          </a:prstGeom>
        </p:spPr>
      </p:pic>
    </p:spTree>
    <p:extLst>
      <p:ext uri="{BB962C8B-B14F-4D97-AF65-F5344CB8AC3E}">
        <p14:creationId xmlns:p14="http://schemas.microsoft.com/office/powerpoint/2010/main" val="26602289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Kubernetes(10/12)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Deis Workflow and Helm :</a:t>
            </a:r>
            <a:endParaRPr lang="en-US" altLang="ko-KR" sz="1400" dirty="0"/>
          </a:p>
          <a:p>
            <a:pPr lvl="1">
              <a:buFont typeface="Wingdings" panose="05000000000000000000" pitchFamily="2" charset="2"/>
              <a:buChar char="§"/>
            </a:pPr>
            <a:r>
              <a:rPr lang="en-US" altLang="ko-KR" sz="1400" b="1" dirty="0">
                <a:solidFill>
                  <a:srgbClr val="FF0000"/>
                </a:solidFill>
              </a:rPr>
              <a:t>Helm</a:t>
            </a:r>
            <a:r>
              <a:rPr lang="en-US" altLang="ko-KR" sz="1400" b="1" dirty="0"/>
              <a:t> </a:t>
            </a:r>
            <a:r>
              <a:rPr lang="en-US" altLang="ko-KR" sz="1400" b="1" dirty="0">
                <a:solidFill>
                  <a:srgbClr val="FF0000"/>
                </a:solidFill>
              </a:rPr>
              <a:t>is a package manager for Kubernetes </a:t>
            </a:r>
            <a:r>
              <a:rPr lang="en-US" altLang="ko-KR" sz="1400" b="1" dirty="0"/>
              <a:t>(similar to OS package managers like yum or apt in Linux or homebrew in MacOS). </a:t>
            </a:r>
            <a:r>
              <a:rPr lang="en-US" altLang="ko-KR" sz="1400" dirty="0"/>
              <a:t>Helm is comprised of two things :</a:t>
            </a:r>
          </a:p>
          <a:p>
            <a:pPr lvl="2">
              <a:buFont typeface="Wingdings" panose="05000000000000000000" pitchFamily="2" charset="2"/>
              <a:buChar char="§"/>
            </a:pPr>
            <a:r>
              <a:rPr lang="en-US" altLang="ko-KR" sz="1400" b="1" dirty="0"/>
              <a:t>A </a:t>
            </a:r>
            <a:r>
              <a:rPr lang="en-US" altLang="ko-KR" sz="1400" b="1" dirty="0">
                <a:solidFill>
                  <a:srgbClr val="FF0000"/>
                </a:solidFill>
              </a:rPr>
              <a:t>helm CLI </a:t>
            </a:r>
            <a:r>
              <a:rPr lang="en-US" altLang="ko-KR" sz="1400" b="1" dirty="0"/>
              <a:t>tool (the client)</a:t>
            </a:r>
            <a:r>
              <a:rPr lang="en-US" altLang="ko-KR" sz="1400" dirty="0"/>
              <a:t>.</a:t>
            </a:r>
          </a:p>
          <a:p>
            <a:pPr lvl="2">
              <a:buFont typeface="Wingdings" panose="05000000000000000000" pitchFamily="2" charset="2"/>
              <a:buChar char="§"/>
            </a:pPr>
            <a:r>
              <a:rPr lang="en-US" altLang="ko-KR" sz="1400" b="1" dirty="0">
                <a:solidFill>
                  <a:srgbClr val="FF0000"/>
                </a:solidFill>
              </a:rPr>
              <a:t>Tiller</a:t>
            </a:r>
            <a:r>
              <a:rPr lang="en-US" altLang="ko-KR" sz="1400" b="1" dirty="0"/>
              <a:t>, a server component running as a Pod inside the Kubernetes cluster</a:t>
            </a:r>
            <a:r>
              <a:rPr lang="en-US" altLang="ko-KR" sz="1400" dirty="0"/>
              <a:t>.</a:t>
            </a:r>
          </a:p>
          <a:p>
            <a:pPr lvl="1">
              <a:buFont typeface="Wingdings" panose="05000000000000000000" pitchFamily="2" charset="2"/>
              <a:buChar char="§"/>
            </a:pPr>
            <a:r>
              <a:rPr lang="en-US" altLang="ko-KR" sz="1400" b="1" dirty="0"/>
              <a:t>Those two components are used to deploy and manage application packages in a Kubernetes cluster</a:t>
            </a:r>
            <a:r>
              <a:rPr lang="en-US" altLang="ko-KR" sz="1400" dirty="0"/>
              <a:t>. </a:t>
            </a:r>
            <a:r>
              <a:rPr lang="en-US" altLang="ko-KR" sz="1400" b="1" dirty="0"/>
              <a:t>Helm application packages are called “</a:t>
            </a:r>
            <a:r>
              <a:rPr lang="en-US" altLang="ko-KR" sz="1400" b="1" dirty="0">
                <a:solidFill>
                  <a:srgbClr val="FF0000"/>
                </a:solidFill>
              </a:rPr>
              <a:t>Charts</a:t>
            </a:r>
            <a:r>
              <a:rPr lang="en-US" altLang="ko-KR" sz="1400" b="1" dirty="0"/>
              <a:t>”</a:t>
            </a:r>
            <a:r>
              <a:rPr lang="en-US" altLang="ko-KR" sz="1400" dirty="0"/>
              <a:t>. </a:t>
            </a:r>
            <a:r>
              <a:rPr lang="en-US" altLang="ko-KR" sz="1400" b="1" dirty="0"/>
              <a:t>They’re combined with a “</a:t>
            </a:r>
            <a:r>
              <a:rPr lang="en-US" altLang="ko-KR" sz="1400" b="1" dirty="0">
                <a:solidFill>
                  <a:srgbClr val="FF0000"/>
                </a:solidFill>
              </a:rPr>
              <a:t>Config</a:t>
            </a:r>
            <a:r>
              <a:rPr lang="en-US" altLang="ko-KR" sz="1400" b="1" dirty="0"/>
              <a:t>”, which contains configuration information and is merged into a “</a:t>
            </a:r>
            <a:r>
              <a:rPr lang="en-US" altLang="ko-KR" sz="1400" b="1" dirty="0">
                <a:solidFill>
                  <a:srgbClr val="FF0000"/>
                </a:solidFill>
              </a:rPr>
              <a:t>Chart</a:t>
            </a:r>
            <a:r>
              <a:rPr lang="en-US" altLang="ko-KR" sz="1400" b="1" dirty="0"/>
              <a:t>” to create a “</a:t>
            </a:r>
            <a:r>
              <a:rPr lang="en-US" altLang="ko-KR" sz="1400" b="1" dirty="0">
                <a:solidFill>
                  <a:srgbClr val="FF0000"/>
                </a:solidFill>
              </a:rPr>
              <a:t>Release</a:t>
            </a:r>
            <a:r>
              <a:rPr lang="en-US" altLang="ko-KR" sz="1400" b="1" dirty="0"/>
              <a:t>”</a:t>
            </a:r>
            <a:r>
              <a:rPr lang="en-US" altLang="ko-KR" sz="1400" dirty="0"/>
              <a:t>, </a:t>
            </a:r>
            <a:r>
              <a:rPr lang="en-US" altLang="ko-KR" sz="1400" b="1" dirty="0"/>
              <a:t>which is a running instance of an application (a combined Chart and Config)</a:t>
            </a:r>
            <a:r>
              <a:rPr lang="en-US" altLang="ko-KR" sz="1400" dirty="0"/>
              <a:t>. </a:t>
            </a:r>
            <a:r>
              <a:rPr lang="en-US" altLang="ko-KR" sz="1400" b="1" dirty="0"/>
              <a:t>You deploy and manage Releases using the “helm CLI tool”, which talks to the “</a:t>
            </a:r>
            <a:r>
              <a:rPr lang="en-US" altLang="ko-KR" sz="1400" b="1" dirty="0">
                <a:solidFill>
                  <a:srgbClr val="FF0000"/>
                </a:solidFill>
              </a:rPr>
              <a:t>Tiller</a:t>
            </a:r>
            <a:r>
              <a:rPr lang="en-US" altLang="ko-KR" sz="1400" b="1" dirty="0"/>
              <a:t>” server, which is the component that creates all the necessary Kubernetes resources defined in the “Chart”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C80914A2-6D1F-999C-14DE-E65CFF562A52}"/>
              </a:ext>
            </a:extLst>
          </p:cNvPr>
          <p:cNvPicPr>
            <a:picLocks noChangeAspect="1"/>
          </p:cNvPicPr>
          <p:nvPr/>
        </p:nvPicPr>
        <p:blipFill>
          <a:blip r:embed="rId2"/>
          <a:stretch>
            <a:fillRect/>
          </a:stretch>
        </p:blipFill>
        <p:spPr>
          <a:xfrm>
            <a:off x="6407888" y="3159423"/>
            <a:ext cx="4945912" cy="3249607"/>
          </a:xfrm>
          <a:prstGeom prst="rect">
            <a:avLst/>
          </a:prstGeom>
        </p:spPr>
      </p:pic>
      <p:sp>
        <p:nvSpPr>
          <p:cNvPr id="10" name="TextBox 9">
            <a:extLst>
              <a:ext uri="{FF2B5EF4-FFF2-40B4-BE49-F238E27FC236}">
                <a16:creationId xmlns:a16="http://schemas.microsoft.com/office/drawing/2014/main" id="{021F7D2E-07F0-4CAA-A83E-3F43AF009617}"/>
              </a:ext>
            </a:extLst>
          </p:cNvPr>
          <p:cNvSpPr txBox="1"/>
          <p:nvPr/>
        </p:nvSpPr>
        <p:spPr>
          <a:xfrm>
            <a:off x="839086" y="3291408"/>
            <a:ext cx="5484628" cy="3064942"/>
          </a:xfrm>
          <a:prstGeom prst="rect">
            <a:avLst/>
          </a:prstGeom>
          <a:noFill/>
        </p:spPr>
        <p:txBody>
          <a:bodyPr wrap="square">
            <a:spAutoFit/>
          </a:bodyPr>
          <a:lstStyle/>
          <a:p>
            <a:pPr marL="685800" marR="0" lvl="1" indent="-228600" algn="l" defTabSz="914400" rtl="0" eaLnBrk="1" fontAlgn="auto" latinLnBrk="1" hangingPunct="1">
              <a:lnSpc>
                <a:spcPct val="90000"/>
              </a:lnSpc>
              <a:spcBef>
                <a:spcPts val="500"/>
              </a:spcBef>
              <a:spcAft>
                <a:spcPts val="0"/>
              </a:spcAft>
              <a:buClrTx/>
              <a:buSzTx/>
              <a:buFont typeface="Wingdings" panose="05000000000000000000" pitchFamily="2" charset="2"/>
              <a:buChar char="§"/>
              <a:tabLst/>
              <a:defRPr/>
            </a:pP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NOTE : You can create charts yourself and keep them on your local disk, or you can use any existing chart, which is available in the growing list of helm charts maintained by the community at </a:t>
            </a: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hlinkClick r:id="rId3"/>
              </a:rPr>
              <a:t>https://github.com/kubernetes/charts</a:t>
            </a:r>
            <a:r>
              <a:rPr kumimoji="0" lang="en-US" altLang="ko-KR" sz="1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The list includes charts for applications such as PostgreSQL, MySQL, MariaDB, Magento, Memcached, MongoDB, OpenVPN, PHPBB, RabbitMQ, Redis, WordPress, and others. </a:t>
            </a:r>
          </a:p>
          <a:p>
            <a:pPr marL="685800" marR="0" lvl="1" indent="-228600" algn="l" defTabSz="914400" rtl="0" eaLnBrk="1" fontAlgn="auto" latinLnBrk="1" hangingPunct="1">
              <a:lnSpc>
                <a:spcPct val="90000"/>
              </a:lnSpc>
              <a:spcBef>
                <a:spcPts val="500"/>
              </a:spcBef>
              <a:spcAft>
                <a:spcPts val="0"/>
              </a:spcAft>
              <a:buClrTx/>
              <a:buSzTx/>
              <a:buFont typeface="Wingdings" panose="05000000000000000000" pitchFamily="2" charset="2"/>
              <a:buChar char="§"/>
              <a:tabLst/>
              <a:defRPr/>
            </a:pPr>
            <a:r>
              <a:rPr kumimoji="0" lang="en-US" altLang="ko-KR" sz="1400" b="1"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Similar to how you don’t build and install apps developed by other people to your Linux system manually, you probably don’t want to build and manage your own Kubernetes manifests for such applications</a:t>
            </a:r>
            <a:r>
              <a:rPr lang="en-US" altLang="ko-KR" sz="1400" dirty="0">
                <a:solidFill>
                  <a:prstClr val="black"/>
                </a:solidFill>
                <a:latin typeface="맑은 고딕" panose="020F0502020204030204"/>
                <a:ea typeface="맑은 고딕" panose="020B0503020000020004" pitchFamily="50" charset="-127"/>
              </a:rPr>
              <a:t>.</a:t>
            </a:r>
            <a:r>
              <a:rPr kumimoji="0" lang="en-US" altLang="ko-KR" sz="1400" b="0" i="0" u="none" strike="noStrike" kern="1200" cap="none" spc="0" normalizeH="0" baseline="0" noProof="0" dirty="0">
                <a:ln>
                  <a:noFill/>
                </a:ln>
                <a:solidFill>
                  <a:prstClr val="black"/>
                </a:solidFill>
                <a:effectLst/>
                <a:uLnTx/>
                <a:uFillTx/>
                <a:latin typeface="맑은 고딕" panose="020F0502020204030204"/>
                <a:ea typeface="맑은 고딕" panose="020B0503020000020004" pitchFamily="50" charset="-127"/>
                <a:cs typeface="+mn-cs"/>
              </a:rPr>
              <a:t> That’s why you’ll want to use Helm and the charts available in the GitHub repository.</a:t>
            </a:r>
          </a:p>
        </p:txBody>
      </p:sp>
      <p:sp>
        <p:nvSpPr>
          <p:cNvPr id="11" name="직사각형 10">
            <a:extLst>
              <a:ext uri="{FF2B5EF4-FFF2-40B4-BE49-F238E27FC236}">
                <a16:creationId xmlns:a16="http://schemas.microsoft.com/office/drawing/2014/main" id="{547A42BD-761C-7633-AF93-DFCD3E16C758}"/>
              </a:ext>
            </a:extLst>
          </p:cNvPr>
          <p:cNvSpPr/>
          <p:nvPr/>
        </p:nvSpPr>
        <p:spPr>
          <a:xfrm>
            <a:off x="8506048" y="4253023"/>
            <a:ext cx="2825602" cy="136096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665816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Kubernetes(11/12)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Deis Workflow and Helm :</a:t>
            </a:r>
            <a:endParaRPr lang="en-US" altLang="ko-KR" sz="1400" dirty="0"/>
          </a:p>
          <a:p>
            <a:pPr lvl="1">
              <a:buFont typeface="Wingdings" panose="05000000000000000000" pitchFamily="2" charset="2"/>
              <a:buChar char="§"/>
            </a:pPr>
            <a:r>
              <a:rPr lang="en-US" altLang="ko-KR" sz="1400" b="1" dirty="0"/>
              <a:t>When you want to run a PostgreSQL or a MySQL database in your Kubernetes cluster, don’t start writing manifests for them</a:t>
            </a:r>
            <a:r>
              <a:rPr lang="en-US" altLang="ko-KR" sz="1400" dirty="0"/>
              <a:t>. Instead, check if someone else has already gone through the trouble and prepared a “</a:t>
            </a:r>
            <a:r>
              <a:rPr lang="en-US" altLang="ko-KR" sz="1400" b="1" dirty="0"/>
              <a:t>Helm chart</a:t>
            </a:r>
            <a:r>
              <a:rPr lang="en-US" altLang="ko-KR" sz="1400" dirty="0"/>
              <a:t>” for it.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836E371A-B5A6-A29A-EEFC-C4B7B4E83AF4}"/>
              </a:ext>
            </a:extLst>
          </p:cNvPr>
          <p:cNvGrpSpPr/>
          <p:nvPr/>
        </p:nvGrpSpPr>
        <p:grpSpPr>
          <a:xfrm>
            <a:off x="3259682" y="2247014"/>
            <a:ext cx="5672635" cy="3495709"/>
            <a:chOff x="3581400" y="3310270"/>
            <a:chExt cx="5025821" cy="3098760"/>
          </a:xfrm>
        </p:grpSpPr>
        <p:pic>
          <p:nvPicPr>
            <p:cNvPr id="10" name="그림 9">
              <a:extLst>
                <a:ext uri="{FF2B5EF4-FFF2-40B4-BE49-F238E27FC236}">
                  <a16:creationId xmlns:a16="http://schemas.microsoft.com/office/drawing/2014/main" id="{D563E171-7239-BCAE-1EBE-AA308DE503F7}"/>
                </a:ext>
              </a:extLst>
            </p:cNvPr>
            <p:cNvPicPr>
              <a:picLocks noChangeAspect="1"/>
            </p:cNvPicPr>
            <p:nvPr/>
          </p:nvPicPr>
          <p:blipFill>
            <a:blip r:embed="rId2"/>
            <a:stretch>
              <a:fillRect/>
            </a:stretch>
          </p:blipFill>
          <p:spPr>
            <a:xfrm>
              <a:off x="3581400" y="3310270"/>
              <a:ext cx="5025821" cy="3098760"/>
            </a:xfrm>
            <a:prstGeom prst="rect">
              <a:avLst/>
            </a:prstGeom>
          </p:spPr>
        </p:pic>
        <p:sp>
          <p:nvSpPr>
            <p:cNvPr id="11" name="직사각형 10">
              <a:extLst>
                <a:ext uri="{FF2B5EF4-FFF2-40B4-BE49-F238E27FC236}">
                  <a16:creationId xmlns:a16="http://schemas.microsoft.com/office/drawing/2014/main" id="{AE96317D-2B26-B87E-505D-13C03961AC9A}"/>
                </a:ext>
              </a:extLst>
            </p:cNvPr>
            <p:cNvSpPr/>
            <p:nvPr/>
          </p:nvSpPr>
          <p:spPr>
            <a:xfrm>
              <a:off x="3700130" y="4408967"/>
              <a:ext cx="758456" cy="48201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사각형: 둥근 모서리 11">
              <a:extLst>
                <a:ext uri="{FF2B5EF4-FFF2-40B4-BE49-F238E27FC236}">
                  <a16:creationId xmlns:a16="http://schemas.microsoft.com/office/drawing/2014/main" id="{04B8756E-2867-EB57-7FA5-884E5327761C}"/>
                </a:ext>
              </a:extLst>
            </p:cNvPr>
            <p:cNvSpPr/>
            <p:nvPr/>
          </p:nvSpPr>
          <p:spPr>
            <a:xfrm>
              <a:off x="5925879" y="4387703"/>
              <a:ext cx="878958" cy="552893"/>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8446780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Platforms Built on Top of Kubernetes(12/12)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Deis Workflow and Helm :</a:t>
            </a:r>
            <a:endParaRPr lang="en-US" altLang="ko-KR" sz="1400" dirty="0"/>
          </a:p>
          <a:p>
            <a:pPr lvl="1">
              <a:buFont typeface="Wingdings" panose="05000000000000000000" pitchFamily="2" charset="2"/>
              <a:buChar char="§"/>
            </a:pPr>
            <a:r>
              <a:rPr lang="en-US" altLang="ko-KR" sz="1400" b="1" dirty="0"/>
              <a:t>Once someone prepares a Helm chart for a specific application and adds it to the “Helm chart” GitHub repo, installing the whole application takes a single one-line command</a:t>
            </a:r>
            <a:r>
              <a:rPr lang="en-US" altLang="ko-KR" sz="1400" dirty="0"/>
              <a:t>. For example, to run MySQL in your Kubernetes cluster, all you need to do is </a:t>
            </a:r>
            <a:r>
              <a:rPr lang="en-US" altLang="ko-KR" sz="1400" b="1" dirty="0"/>
              <a:t>clone the charts Git repo to your local machine and run the following command </a:t>
            </a:r>
            <a:r>
              <a:rPr lang="en-US" altLang="ko-KR" sz="1400" dirty="0"/>
              <a:t>(</a:t>
            </a:r>
            <a:r>
              <a:rPr lang="en-US" altLang="ko-KR" sz="1400" b="1" dirty="0"/>
              <a:t>provided you have “Helm’s CLI” tool and “Tiller” running in your cluster</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will create all the necessary Deployments, Services, Secrets, and </a:t>
            </a:r>
            <a:r>
              <a:rPr lang="en-US" altLang="ko-KR" sz="1400" b="1" dirty="0" err="1"/>
              <a:t>PersistentVolumeClaims</a:t>
            </a:r>
            <a:r>
              <a:rPr lang="en-US" altLang="ko-KR" sz="1400" b="1" dirty="0"/>
              <a:t> needed to run MySQL in your cluster</a:t>
            </a:r>
            <a:r>
              <a:rPr lang="en-US" altLang="ko-KR" sz="1400" dirty="0"/>
              <a:t>. You don’t need to concern yourself with what components you need and how to configure them to run MySQL properly.</a:t>
            </a:r>
          </a:p>
          <a:p>
            <a:pPr lvl="1">
              <a:buFont typeface="Wingdings" panose="05000000000000000000" pitchFamily="2" charset="2"/>
              <a:buChar char="§"/>
            </a:pPr>
            <a:r>
              <a:rPr lang="en-US" altLang="ko-KR" sz="1400" b="1" dirty="0"/>
              <a:t>TIP : One of the most interesting charts available in the repo is an “</a:t>
            </a:r>
            <a:r>
              <a:rPr lang="en-US" altLang="ko-KR" sz="1400" b="1" dirty="0">
                <a:solidFill>
                  <a:srgbClr val="FF0000"/>
                </a:solidFill>
              </a:rPr>
              <a:t>OpenVPN chart</a:t>
            </a:r>
            <a:r>
              <a:rPr lang="en-US" altLang="ko-KR" sz="1400" b="1" dirty="0"/>
              <a:t>”, which runs an OpenVPN server inside your Kubernetes cluster and allows you to enter the pod network through VPN and access Services as if your local machine was a pod in the cluster</a:t>
            </a:r>
            <a:r>
              <a:rPr lang="en-US" altLang="ko-KR" sz="1400" dirty="0"/>
              <a:t>. This is useful when you’re developing apps and running them locally.</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E8DEE4A6-605B-A144-0D3C-B6C43B6C9B30}"/>
              </a:ext>
            </a:extLst>
          </p:cNvPr>
          <p:cNvSpPr txBox="1"/>
          <p:nvPr/>
        </p:nvSpPr>
        <p:spPr>
          <a:xfrm>
            <a:off x="3048000" y="2069436"/>
            <a:ext cx="6096000" cy="246221"/>
          </a:xfrm>
          <a:prstGeom prst="rect">
            <a:avLst/>
          </a:prstGeom>
          <a:noFill/>
          <a:ln>
            <a:solidFill>
              <a:schemeClr val="tx1"/>
            </a:solidFill>
          </a:ln>
        </p:spPr>
        <p:txBody>
          <a:bodyPr wrap="square">
            <a:spAutoFit/>
          </a:bodyPr>
          <a:lstStyle/>
          <a:p>
            <a:r>
              <a:rPr lang="en-US" altLang="ko-KR" sz="1000" b="1" dirty="0"/>
              <a:t>$ helm </a:t>
            </a:r>
            <a:r>
              <a:rPr lang="en-US" altLang="ko-KR" sz="1000" b="1" dirty="0">
                <a:solidFill>
                  <a:srgbClr val="FF0000"/>
                </a:solidFill>
              </a:rPr>
              <a:t>install --name my-database stable/</a:t>
            </a:r>
            <a:r>
              <a:rPr lang="en-US" altLang="ko-KR" sz="1000" b="1" dirty="0" err="1">
                <a:solidFill>
                  <a:srgbClr val="FF0000"/>
                </a:solidFill>
              </a:rPr>
              <a:t>mysql</a:t>
            </a:r>
            <a:endParaRPr lang="ko-KR" altLang="en-US" sz="1000" b="1" dirty="0">
              <a:solidFill>
                <a:srgbClr val="FF0000"/>
              </a:solidFill>
            </a:endParaRPr>
          </a:p>
        </p:txBody>
      </p:sp>
      <p:pic>
        <p:nvPicPr>
          <p:cNvPr id="12" name="그림 11">
            <a:extLst>
              <a:ext uri="{FF2B5EF4-FFF2-40B4-BE49-F238E27FC236}">
                <a16:creationId xmlns:a16="http://schemas.microsoft.com/office/drawing/2014/main" id="{BBC05949-076B-8702-8141-F942251B78B5}"/>
              </a:ext>
            </a:extLst>
          </p:cNvPr>
          <p:cNvPicPr>
            <a:picLocks noChangeAspect="1"/>
          </p:cNvPicPr>
          <p:nvPr/>
        </p:nvPicPr>
        <p:blipFill>
          <a:blip r:embed="rId2"/>
          <a:stretch>
            <a:fillRect/>
          </a:stretch>
        </p:blipFill>
        <p:spPr>
          <a:xfrm>
            <a:off x="3895509" y="3756837"/>
            <a:ext cx="4400982" cy="2652193"/>
          </a:xfrm>
          <a:prstGeom prst="rect">
            <a:avLst/>
          </a:prstGeom>
        </p:spPr>
      </p:pic>
    </p:spTree>
    <p:extLst>
      <p:ext uri="{BB962C8B-B14F-4D97-AF65-F5344CB8AC3E}">
        <p14:creationId xmlns:p14="http://schemas.microsoft.com/office/powerpoint/2010/main" val="6271166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a:p>
        </p:txBody>
      </p:sp>
      <p:sp>
        <p:nvSpPr>
          <p:cNvPr id="13" name="제목 1">
            <a:extLst>
              <a:ext uri="{FF2B5EF4-FFF2-40B4-BE49-F238E27FC236}">
                <a16:creationId xmlns:a16="http://schemas.microsoft.com/office/drawing/2014/main" id="{7D50D0B4-E4F0-46F2-684F-163211952A0F}"/>
              </a:ext>
            </a:extLst>
          </p:cNvPr>
          <p:cNvSpPr>
            <a:spLocks noGrp="1"/>
          </p:cNvSpPr>
          <p:nvPr>
            <p:ph type="title"/>
          </p:nvPr>
        </p:nvSpPr>
        <p:spPr>
          <a:xfrm>
            <a:off x="838200" y="297455"/>
            <a:ext cx="10515600" cy="383582"/>
          </a:xfrm>
        </p:spPr>
        <p:txBody>
          <a:bodyPr>
            <a:normAutofit fontScale="90000"/>
          </a:bodyPr>
          <a:lstStyle/>
          <a:p>
            <a:r>
              <a:rPr lang="en-US" altLang="ko-KR" sz="2800" b="1" dirty="0"/>
              <a:t>NOTE : Big Picture - The Kubernetes Cluster</a:t>
            </a:r>
            <a:endParaRPr lang="ko-KR" altLang="en-US" sz="2800" b="1" dirty="0"/>
          </a:p>
        </p:txBody>
      </p:sp>
      <p:cxnSp>
        <p:nvCxnSpPr>
          <p:cNvPr id="14" name="직선 연결선 13">
            <a:extLst>
              <a:ext uri="{FF2B5EF4-FFF2-40B4-BE49-F238E27FC236}">
                <a16:creationId xmlns:a16="http://schemas.microsoft.com/office/drawing/2014/main" id="{D375794C-7322-ED80-E7CF-67C5F5AD86FF}"/>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6" name="그림 15">
            <a:extLst>
              <a:ext uri="{FF2B5EF4-FFF2-40B4-BE49-F238E27FC236}">
                <a16:creationId xmlns:a16="http://schemas.microsoft.com/office/drawing/2014/main" id="{C32661DB-28EB-2A5F-70FD-2C5009C198D9}"/>
              </a:ext>
            </a:extLst>
          </p:cNvPr>
          <p:cNvPicPr>
            <a:picLocks noChangeAspect="1"/>
          </p:cNvPicPr>
          <p:nvPr/>
        </p:nvPicPr>
        <p:blipFill>
          <a:blip r:embed="rId2"/>
          <a:stretch>
            <a:fillRect/>
          </a:stretch>
        </p:blipFill>
        <p:spPr>
          <a:xfrm>
            <a:off x="838200" y="856434"/>
            <a:ext cx="10515600" cy="5145132"/>
          </a:xfrm>
          <a:prstGeom prst="rect">
            <a:avLst/>
          </a:prstGeom>
        </p:spPr>
      </p:pic>
    </p:spTree>
    <p:extLst>
      <p:ext uri="{BB962C8B-B14F-4D97-AF65-F5344CB8AC3E}">
        <p14:creationId xmlns:p14="http://schemas.microsoft.com/office/powerpoint/2010/main" val="1040337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Cheat Sheet</a:t>
            </a:r>
            <a:endParaRPr lang="ko-KR" altLang="en-US" sz="2800" b="1"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179C4D6-A6A7-AFD7-99CE-9233F81D8E3C}"/>
              </a:ext>
            </a:extLst>
          </p:cNvPr>
          <p:cNvPicPr>
            <a:picLocks noChangeAspect="1"/>
          </p:cNvPicPr>
          <p:nvPr/>
        </p:nvPicPr>
        <p:blipFill>
          <a:blip r:embed="rId2"/>
          <a:stretch>
            <a:fillRect/>
          </a:stretch>
        </p:blipFill>
        <p:spPr>
          <a:xfrm>
            <a:off x="1228144" y="880011"/>
            <a:ext cx="9735713" cy="5476339"/>
          </a:xfrm>
          <a:prstGeom prst="rect">
            <a:avLst/>
          </a:prstGeom>
        </p:spPr>
      </p:pic>
    </p:spTree>
    <p:extLst>
      <p:ext uri="{BB962C8B-B14F-4D97-AF65-F5344CB8AC3E}">
        <p14:creationId xmlns:p14="http://schemas.microsoft.com/office/powerpoint/2010/main" val="4863588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B6E3B-49FE-E46D-3F13-8C8A9C45913A}"/>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C5435FC4-F016-218F-38AC-782E48004D8A}"/>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Architecture</a:t>
            </a:r>
            <a:endParaRPr lang="ko-KR" altLang="en-US" sz="2800" b="1" dirty="0"/>
          </a:p>
        </p:txBody>
      </p:sp>
      <p:sp>
        <p:nvSpPr>
          <p:cNvPr id="5" name="날짜 개체 틀 4">
            <a:extLst>
              <a:ext uri="{FF2B5EF4-FFF2-40B4-BE49-F238E27FC236}">
                <a16:creationId xmlns:a16="http://schemas.microsoft.com/office/drawing/2014/main" id="{E514080F-7FD3-9D4C-EC68-96B9F8942C02}"/>
              </a:ext>
            </a:extLst>
          </p:cNvPr>
          <p:cNvSpPr>
            <a:spLocks noGrp="1"/>
          </p:cNvSpPr>
          <p:nvPr>
            <p:ph type="dt" sz="half" idx="10"/>
          </p:nvPr>
        </p:nvSpPr>
        <p:spPr/>
        <p:txBody>
          <a:bodyPr/>
          <a:lstStyle/>
          <a:p>
            <a:fld id="{66109FA0-4D81-4D2F-8319-6AD0FB1D3087}"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94E1278F-F721-6A36-3B40-C420CCBC3FCC}"/>
              </a:ext>
            </a:extLst>
          </p:cNvPr>
          <p:cNvSpPr>
            <a:spLocks noGrp="1"/>
          </p:cNvSpPr>
          <p:nvPr>
            <p:ph type="sldNum" sz="quarter" idx="12"/>
          </p:nvPr>
        </p:nvSpPr>
        <p:spPr/>
        <p:txBody>
          <a:bodyPr/>
          <a:lstStyle/>
          <a:p>
            <a:fld id="{34C98182-889D-4BA7-ABC9-29B15B402893}" type="slidenum">
              <a:rPr lang="ko-KR" altLang="en-US" smtClean="0"/>
              <a:t>46</a:t>
            </a:fld>
            <a:endParaRPr lang="ko-KR" altLang="en-US"/>
          </a:p>
        </p:txBody>
      </p:sp>
      <p:cxnSp>
        <p:nvCxnSpPr>
          <p:cNvPr id="7" name="직선 연결선 6">
            <a:extLst>
              <a:ext uri="{FF2B5EF4-FFF2-40B4-BE49-F238E27FC236}">
                <a16:creationId xmlns:a16="http://schemas.microsoft.com/office/drawing/2014/main" id="{9C6BF256-E7A9-2E00-53B5-85288E54E9ED}"/>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AD98B9E6-5868-D1F1-6EAF-21D659A4EF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3330169" y="-558227"/>
            <a:ext cx="5531662" cy="8297492"/>
          </a:xfrm>
          <a:prstGeom prst="rect">
            <a:avLst/>
          </a:prstGeom>
        </p:spPr>
      </p:pic>
    </p:spTree>
    <p:extLst>
      <p:ext uri="{BB962C8B-B14F-4D97-AF65-F5344CB8AC3E}">
        <p14:creationId xmlns:p14="http://schemas.microsoft.com/office/powerpoint/2010/main" val="40596011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2"/>
            <a:ext cx="10515600" cy="5532375"/>
          </a:xfrm>
        </p:spPr>
        <p:txBody>
          <a:bodyPr>
            <a:normAutofit/>
          </a:bodyPr>
          <a:lstStyle/>
          <a:p>
            <a:pPr marL="0" indent="0">
              <a:buNone/>
            </a:pPr>
            <a:r>
              <a:rPr lang="en-US" altLang="ko-KR" sz="1400" b="1" dirty="0"/>
              <a:t>[1] Kubernetes in Action, Marko </a:t>
            </a:r>
            <a:r>
              <a:rPr lang="en-US" altLang="ko-KR" sz="1400" b="1" dirty="0" err="1"/>
              <a:t>Luksa</a:t>
            </a:r>
            <a:r>
              <a:rPr lang="en-US" altLang="ko-KR" sz="1400" b="1" dirty="0"/>
              <a:t>, Manning, 2018 1</a:t>
            </a:r>
            <a:r>
              <a:rPr lang="en-US" altLang="ko-KR" sz="1400" b="1" baseline="30000" dirty="0"/>
              <a:t>st</a:t>
            </a:r>
            <a:r>
              <a:rPr lang="en-US" altLang="ko-KR" sz="1400" b="1" dirty="0"/>
              <a:t> Edition.</a:t>
            </a:r>
          </a:p>
          <a:p>
            <a:pPr marL="0" indent="0">
              <a:buNone/>
            </a:pPr>
            <a:r>
              <a:rPr lang="en-US" altLang="ko-KR" sz="1400" b="1" dirty="0"/>
              <a:t>[2] </a:t>
            </a:r>
            <a:r>
              <a:rPr lang="en-US" altLang="ko-KR" sz="1400" b="1" dirty="0">
                <a:hlinkClick r:id="rId2"/>
              </a:rPr>
              <a:t>https://github.com/luksa/kubernetes-in-action</a:t>
            </a:r>
            <a:r>
              <a:rPr lang="en-US" altLang="ko-KR" sz="1400" b="1" dirty="0"/>
              <a:t> </a:t>
            </a:r>
          </a:p>
          <a:p>
            <a:pPr marL="0" indent="0">
              <a:buNone/>
            </a:pPr>
            <a:r>
              <a:rPr lang="en-US" altLang="ko-KR" sz="1400" b="1" dirty="0"/>
              <a:t>[3] </a:t>
            </a:r>
            <a:r>
              <a:rPr lang="en-US" altLang="ko-KR" sz="1400" b="1" dirty="0">
                <a:hlinkClick r:id="rId3"/>
              </a:rPr>
              <a:t>https://minikube.sigs.k8s.io/docs/</a:t>
            </a:r>
            <a:endParaRPr lang="en-US" altLang="ko-KR" sz="1400" b="1" dirty="0"/>
          </a:p>
          <a:p>
            <a:pPr marL="0" indent="0">
              <a:buNone/>
            </a:pPr>
            <a:r>
              <a:rPr lang="en-US" altLang="ko-KR" sz="1400" b="1" dirty="0"/>
              <a:t>[4] </a:t>
            </a:r>
            <a:r>
              <a:rPr lang="en-US" altLang="ko-KR" sz="1400" b="1" dirty="0">
                <a:hlinkClick r:id="rId4"/>
              </a:rPr>
              <a:t>https://kubernetes.io/docs/reference/kubectl/cheatsheet/</a:t>
            </a:r>
            <a:r>
              <a:rPr lang="en-US" altLang="ko-KR" sz="1400" b="1" dirty="0"/>
              <a:t> </a:t>
            </a:r>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47</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7" name="그림 6">
            <a:extLst>
              <a:ext uri="{FF2B5EF4-FFF2-40B4-BE49-F238E27FC236}">
                <a16:creationId xmlns:a16="http://schemas.microsoft.com/office/drawing/2014/main" id="{39B4C587-7A61-0C5F-2D7E-626350542CA5}"/>
              </a:ext>
            </a:extLst>
          </p:cNvPr>
          <p:cNvPicPr>
            <a:picLocks noChangeAspect="1"/>
          </p:cNvPicPr>
          <p:nvPr/>
        </p:nvPicPr>
        <p:blipFill>
          <a:blip r:embed="rId5"/>
          <a:stretch>
            <a:fillRect/>
          </a:stretch>
        </p:blipFill>
        <p:spPr>
          <a:xfrm>
            <a:off x="4990542" y="3590159"/>
            <a:ext cx="2210915" cy="2761230"/>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2026-08-26</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48</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117406</TotalTime>
  <Words>6862</Words>
  <Application>Microsoft Office PowerPoint</Application>
  <PresentationFormat>와이드스크린</PresentationFormat>
  <Paragraphs>494</Paragraphs>
  <Slides>48</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48</vt:i4>
      </vt:variant>
    </vt:vector>
  </HeadingPairs>
  <TitlesOfParts>
    <vt:vector size="52" baseType="lpstr">
      <vt:lpstr>맑은 고딕</vt:lpstr>
      <vt:lpstr>Arial</vt:lpstr>
      <vt:lpstr>Wingdings</vt:lpstr>
      <vt:lpstr>Office 테마</vt:lpstr>
      <vt:lpstr>Kubernetes in Action</vt:lpstr>
      <vt:lpstr>Extending Kubernetes</vt:lpstr>
      <vt:lpstr>Defining Custom API Objects(1/28)</vt:lpstr>
      <vt:lpstr>Defining Custom API Objects(2/28)</vt:lpstr>
      <vt:lpstr>Defining Custom API Objects(3/28)</vt:lpstr>
      <vt:lpstr>Defining Custom API Objects(4/28)</vt:lpstr>
      <vt:lpstr>Defining Custom API Objects(5/28)</vt:lpstr>
      <vt:lpstr>Defining Custom API Objects(6/28)</vt:lpstr>
      <vt:lpstr>Defining Custom API Objects(7/28)</vt:lpstr>
      <vt:lpstr>Defining Custom API Objects(8/28)</vt:lpstr>
      <vt:lpstr>Defining Custom API Objects(9/28)</vt:lpstr>
      <vt:lpstr>Defining Custom API Objects(10/28)</vt:lpstr>
      <vt:lpstr>Defining Custom API Objects(11/28)</vt:lpstr>
      <vt:lpstr>Defining Custom API Objects(12/28)</vt:lpstr>
      <vt:lpstr>Defining Custom API Objects(13/28)</vt:lpstr>
      <vt:lpstr>Defining Custom API Objects(14/28)</vt:lpstr>
      <vt:lpstr>NOTE : The Docker Hub </vt:lpstr>
      <vt:lpstr>Defining Custom API Objects(15/28)</vt:lpstr>
      <vt:lpstr>Defining Custom API Objects(16/28)</vt:lpstr>
      <vt:lpstr>Defining Custom API Objects(17/28)</vt:lpstr>
      <vt:lpstr>Defining Custom API Objects(18/28)</vt:lpstr>
      <vt:lpstr>Defining Custom API Objects(19/28)</vt:lpstr>
      <vt:lpstr>Defining Custom API Objects(20/28)</vt:lpstr>
      <vt:lpstr>Defining Custom API Objects(21/28)</vt:lpstr>
      <vt:lpstr>Defining Custom API Objects(22/28)</vt:lpstr>
      <vt:lpstr>Defining Custom API Objects(23/28)</vt:lpstr>
      <vt:lpstr>Defining Custom API Objects(24/28)</vt:lpstr>
      <vt:lpstr>Defining Custom API Objects(25/28)</vt:lpstr>
      <vt:lpstr>Defining Custom API Objects(26/28)</vt:lpstr>
      <vt:lpstr>Defining Custom API Objects(27/28)</vt:lpstr>
      <vt:lpstr>Defining Custom API Objects(28/28)</vt:lpstr>
      <vt:lpstr>Platforms Built on Top of Kubernetes(1/12)</vt:lpstr>
      <vt:lpstr>Platforms Built on Top of Kubernetes(2/12)</vt:lpstr>
      <vt:lpstr>Platforms Built on Top of Kubernetes(3/12)</vt:lpstr>
      <vt:lpstr>Platforms Built on Top of Kubernetes(4/12)</vt:lpstr>
      <vt:lpstr>Platforms Built on Top of Kubernetes(5/12)</vt:lpstr>
      <vt:lpstr>Platforms Built on Top of Kubernetes(6/12)</vt:lpstr>
      <vt:lpstr>Platforms Built on Top of Kubernetes(7/12)</vt:lpstr>
      <vt:lpstr>Platforms Built on Top of Kubernetes(8/12)</vt:lpstr>
      <vt:lpstr>Platforms Built on Top of Kubernetes(9/12)</vt:lpstr>
      <vt:lpstr>Platforms Built on Top of Kubernetes(10/12)</vt:lpstr>
      <vt:lpstr>Platforms Built on Top of Kubernetes(11/12)</vt:lpstr>
      <vt:lpstr>Platforms Built on Top of Kubernetes(12/12)</vt:lpstr>
      <vt:lpstr>NOTE : Big Picture - The Kubernetes Cluster</vt:lpstr>
      <vt:lpstr>NOTE : Kubernetes Cheat Sheet</vt:lpstr>
      <vt:lpstr>NOTE : Kubernetes Architecture</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7556</cp:revision>
  <dcterms:created xsi:type="dcterms:W3CDTF">2020-11-26T08:00:10Z</dcterms:created>
  <dcterms:modified xsi:type="dcterms:W3CDTF">2026-08-26T07:03:50Z</dcterms:modified>
</cp:coreProperties>
</file>