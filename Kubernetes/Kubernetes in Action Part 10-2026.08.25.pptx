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8"/>
  </p:notesMasterIdLst>
  <p:sldIdLst>
    <p:sldId id="256" r:id="rId2"/>
    <p:sldId id="776" r:id="rId3"/>
    <p:sldId id="1697" r:id="rId4"/>
    <p:sldId id="1797" r:id="rId5"/>
    <p:sldId id="1798" r:id="rId6"/>
    <p:sldId id="1799" r:id="rId7"/>
    <p:sldId id="1800" r:id="rId8"/>
    <p:sldId id="1801" r:id="rId9"/>
    <p:sldId id="1802" r:id="rId10"/>
    <p:sldId id="1803" r:id="rId11"/>
    <p:sldId id="1804" r:id="rId12"/>
    <p:sldId id="1805" r:id="rId13"/>
    <p:sldId id="1806" r:id="rId14"/>
    <p:sldId id="1807" r:id="rId15"/>
    <p:sldId id="1808" r:id="rId16"/>
    <p:sldId id="1809" r:id="rId17"/>
    <p:sldId id="1810" r:id="rId18"/>
    <p:sldId id="1811" r:id="rId19"/>
    <p:sldId id="1812" r:id="rId20"/>
    <p:sldId id="1813" r:id="rId21"/>
    <p:sldId id="1814" r:id="rId22"/>
    <p:sldId id="1815" r:id="rId23"/>
    <p:sldId id="1816" r:id="rId24"/>
    <p:sldId id="1817" r:id="rId25"/>
    <p:sldId id="1818" r:id="rId26"/>
    <p:sldId id="1845" r:id="rId27"/>
    <p:sldId id="1844" r:id="rId28"/>
    <p:sldId id="1843" r:id="rId29"/>
    <p:sldId id="1819" r:id="rId30"/>
    <p:sldId id="1820" r:id="rId31"/>
    <p:sldId id="1821" r:id="rId32"/>
    <p:sldId id="1822" r:id="rId33"/>
    <p:sldId id="1823" r:id="rId34"/>
    <p:sldId id="1824" r:id="rId35"/>
    <p:sldId id="1825" r:id="rId36"/>
    <p:sldId id="1826" r:id="rId37"/>
    <p:sldId id="1827" r:id="rId38"/>
    <p:sldId id="1828" r:id="rId39"/>
    <p:sldId id="1829" r:id="rId40"/>
    <p:sldId id="1830" r:id="rId41"/>
    <p:sldId id="1831" r:id="rId42"/>
    <p:sldId id="1832" r:id="rId43"/>
    <p:sldId id="1833" r:id="rId44"/>
    <p:sldId id="1834" r:id="rId45"/>
    <p:sldId id="1835" r:id="rId46"/>
    <p:sldId id="1836" r:id="rId47"/>
    <p:sldId id="1837" r:id="rId48"/>
    <p:sldId id="1838" r:id="rId49"/>
    <p:sldId id="1839" r:id="rId50"/>
    <p:sldId id="1840" r:id="rId51"/>
    <p:sldId id="1841" r:id="rId52"/>
    <p:sldId id="1842" r:id="rId53"/>
    <p:sldId id="1743" r:id="rId54"/>
    <p:sldId id="1796" r:id="rId55"/>
    <p:sldId id="281" r:id="rId56"/>
    <p:sldId id="259" r:id="rId57"/>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2" autoAdjust="0"/>
    <p:restoredTop sz="94660"/>
  </p:normalViewPr>
  <p:slideViewPr>
    <p:cSldViewPr snapToGrid="0">
      <p:cViewPr varScale="1">
        <p:scale>
          <a:sx n="118" d="100"/>
          <a:sy n="118" d="100"/>
        </p:scale>
        <p:origin x="102" y="4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2023-04-05</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2023-04-05</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2023-04-05</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2023-04-05</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2023-04-05</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2023-04-05</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2023-04-05</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2023-04-05</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2023-04-05</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2023-04-05</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2023-04-05</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2023-04-05</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2023-04-05</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blog.naver.com/knix008" TargetMode="External"/><Relationship Id="rId2" Type="http://schemas.openxmlformats.org/officeDocument/2006/relationships/hyperlink" Target="mailto:suho.kwon@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kubernetes.io/docs/tasks/extend-kubernetes/custom-resources/custom-resource-definition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ubuntu.com/download/desktop/thank-you?version=22.04.2&amp;architecture=amd64" TargetMode="External"/><Relationship Id="rId2" Type="http://schemas.openxmlformats.org/officeDocument/2006/relationships/hyperlink" Target="https://www.virtualbox.org/wiki/Downloads" TargetMode="Externa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hyperlink" Target="https://kubernetes.io/docs/tasks/tools/"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docs.docker.com/engine/install/linux-postinstall/" TargetMode="External"/><Relationship Id="rId2" Type="http://schemas.openxmlformats.org/officeDocument/2006/relationships/hyperlink" Target="https://docs.docker.com/engine/install/ubuntu/" TargetMode="External"/><Relationship Id="rId1" Type="http://schemas.openxmlformats.org/officeDocument/2006/relationships/slideLayout" Target="../slideLayouts/slideLayout2.xml"/><Relationship Id="rId4" Type="http://schemas.openxmlformats.org/officeDocument/2006/relationships/hyperlink" Target="https://kubernetes.io/docs/setup/production-environment/tools/kubeadm/install-kubeadm/#installing-kubeadm-kubelet-and-kubect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minikube.sigs.k8s.io/docs/" TargetMode="External"/><Relationship Id="rId2" Type="http://schemas.openxmlformats.org/officeDocument/2006/relationships/hyperlink" Target="https://github.com/luksa/kubernetes-in-action" TargetMode="Externa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hyperlink" Target="https://kubernetes.io/docs/reference/kubectl/cheatsheet/" TargetMode="Externa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b="1" dirty="0"/>
              <a:t>Kubernetes in Action</a:t>
            </a:r>
            <a:endParaRPr lang="ko-KR" altLang="en-US"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a:bodyPr>
          <a:lstStyle/>
          <a:p>
            <a:r>
              <a:rPr lang="en-US" altLang="ko-KR" b="1" dirty="0"/>
              <a:t>Part X</a:t>
            </a:r>
          </a:p>
          <a:p>
            <a:r>
              <a:rPr lang="en-US" altLang="ko-KR" sz="1600" b="1" dirty="0"/>
              <a:t>2023.04.04</a:t>
            </a:r>
          </a:p>
          <a:p>
            <a:r>
              <a:rPr lang="en-US" altLang="ko-KR" sz="1600" b="1" dirty="0"/>
              <a:t>Suho Kwon</a:t>
            </a:r>
          </a:p>
          <a:p>
            <a:r>
              <a:rPr lang="en-US" altLang="ko-KR" sz="1600" b="1" dirty="0"/>
              <a:t>(</a:t>
            </a:r>
            <a:r>
              <a:rPr lang="en-US" altLang="ko-KR" sz="1600" b="1" dirty="0">
                <a:hlinkClick r:id="rId2"/>
              </a:rPr>
              <a:t>suho.kwon@gmail.com</a:t>
            </a:r>
            <a:r>
              <a:rPr lang="en-US" altLang="ko-KR" sz="1600" b="1" dirty="0"/>
              <a:t>, </a:t>
            </a:r>
            <a:r>
              <a:rPr lang="en-US" altLang="ko-KR" sz="1600" b="1" dirty="0">
                <a:hlinkClick r:id="rId3"/>
              </a:rPr>
              <a:t>http://blog.naver.com/knix008</a:t>
            </a:r>
            <a:r>
              <a:rPr lang="en-US" altLang="ko-KR" sz="1600" b="1" dirty="0"/>
              <a:t>)</a:t>
            </a:r>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Extending Kubernetes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endParaRPr lang="ko-KR" altLang="en-US" sz="2800" b="1" dirty="0"/>
          </a:p>
        </p:txBody>
      </p: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 Custom Controller :</a:t>
            </a:r>
            <a:endParaRPr lang="en-US" altLang="ko-KR" sz="1400" dirty="0"/>
          </a:p>
          <a:p>
            <a:pPr lvl="1">
              <a:buFont typeface="Wingdings" panose="05000000000000000000" pitchFamily="2" charset="2"/>
              <a:buChar char="§"/>
            </a:pPr>
            <a:r>
              <a:rPr lang="en-US" altLang="ko-KR" sz="1400" dirty="0"/>
              <a:t>You’ve learned about </a:t>
            </a:r>
            <a:r>
              <a:rPr lang="en-US" altLang="ko-KR" sz="1400" b="1" dirty="0"/>
              <a:t>the </a:t>
            </a:r>
            <a:r>
              <a:rPr lang="en-US" altLang="ko-KR" sz="1400" b="1" dirty="0">
                <a:solidFill>
                  <a:srgbClr val="FF0000"/>
                </a:solidFill>
              </a:rPr>
              <a:t>API objects </a:t>
            </a:r>
            <a:r>
              <a:rPr lang="en-US" altLang="ko-KR" sz="1400" b="1" dirty="0"/>
              <a:t>that Kubernetes provides and how they’re used to build application systems</a:t>
            </a:r>
            <a:r>
              <a:rPr lang="en-US" altLang="ko-KR" sz="1400" dirty="0"/>
              <a:t>. Currently, Kubernetes users mostly use only these objects even though they represent </a:t>
            </a:r>
            <a:r>
              <a:rPr lang="en-US" altLang="ko-KR" sz="1400" b="1" dirty="0"/>
              <a:t>relatively low-level, generic concepts</a:t>
            </a:r>
            <a:r>
              <a:rPr lang="en-US" altLang="ko-KR" sz="1400" dirty="0"/>
              <a:t>.</a:t>
            </a:r>
          </a:p>
          <a:p>
            <a:pPr lvl="1">
              <a:buFont typeface="Wingdings" panose="05000000000000000000" pitchFamily="2" charset="2"/>
              <a:buChar char="§"/>
            </a:pPr>
            <a:r>
              <a:rPr lang="en-US" altLang="ko-KR" sz="1400" dirty="0"/>
              <a:t>As the Kubernetes ecosystem evolves, you’ll see more and more </a:t>
            </a:r>
            <a:r>
              <a:rPr lang="en-US" altLang="ko-KR" sz="1400" b="1" dirty="0"/>
              <a:t>high-level objects</a:t>
            </a:r>
            <a:r>
              <a:rPr lang="en-US" altLang="ko-KR" sz="1400" dirty="0"/>
              <a:t>, which will be much more specialized than the resources Kubernetes supports today. </a:t>
            </a:r>
            <a:r>
              <a:rPr lang="en-US" altLang="ko-KR" sz="1400" b="1" dirty="0"/>
              <a:t>Instead of dealing with Deployments, Services, </a:t>
            </a:r>
            <a:r>
              <a:rPr lang="en-US" altLang="ko-KR" sz="1400" b="1" dirty="0" err="1"/>
              <a:t>ConfigMaps</a:t>
            </a:r>
            <a:r>
              <a:rPr lang="en-US" altLang="ko-KR" sz="1400" b="1" dirty="0"/>
              <a:t>, and the like, </a:t>
            </a:r>
            <a:r>
              <a:rPr lang="en-US" altLang="ko-KR" sz="1400" b="1" dirty="0">
                <a:solidFill>
                  <a:srgbClr val="FF0000"/>
                </a:solidFill>
              </a:rPr>
              <a:t>you’ll create and manage objects that represent whole applications or software services</a:t>
            </a:r>
            <a:r>
              <a:rPr lang="en-US" altLang="ko-KR" sz="1400" dirty="0"/>
              <a:t>. </a:t>
            </a:r>
            <a:r>
              <a:rPr lang="en-US" altLang="ko-KR" sz="1400" b="1" dirty="0"/>
              <a:t>A custom controller will observe those high-level objects and create low-level objects based on them</a:t>
            </a:r>
            <a:r>
              <a:rPr lang="en-US" altLang="ko-KR" sz="1400" dirty="0"/>
              <a:t>. For example, to run a messaging broker inside a Kubernetes cluster, all you’ll need to do is create an instance of a “</a:t>
            </a:r>
            <a:r>
              <a:rPr lang="en-US" altLang="ko-KR" sz="1400" b="1" dirty="0"/>
              <a:t>Queue</a:t>
            </a:r>
            <a:r>
              <a:rPr lang="en-US" altLang="ko-KR" sz="1400" dirty="0"/>
              <a:t>” resource and </a:t>
            </a:r>
            <a:r>
              <a:rPr lang="en-US" altLang="ko-KR" sz="1400" b="1" dirty="0"/>
              <a:t>all the necessary Secrets, Deployments, and Services will be created by a custom Queue controller</a:t>
            </a:r>
            <a:r>
              <a:rPr lang="en-US" altLang="ko-KR" sz="1400" dirty="0"/>
              <a:t>. Kubernetes already provides ways of </a:t>
            </a:r>
            <a:r>
              <a:rPr lang="en-US" altLang="ko-KR" sz="1400" b="1" dirty="0"/>
              <a:t>adding custom resources </a:t>
            </a:r>
            <a:r>
              <a:rPr lang="en-US" altLang="ko-KR" sz="1400" dirty="0"/>
              <a:t>like this.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FC17ECF-CF71-E4E8-2F25-0E4570432D15}"/>
              </a:ext>
            </a:extLst>
          </p:cNvPr>
          <p:cNvPicPr>
            <a:picLocks noChangeAspect="1"/>
          </p:cNvPicPr>
          <p:nvPr/>
        </p:nvPicPr>
        <p:blipFill>
          <a:blip r:embed="rId2"/>
          <a:stretch>
            <a:fillRect/>
          </a:stretch>
        </p:blipFill>
        <p:spPr>
          <a:xfrm>
            <a:off x="3265832" y="3302418"/>
            <a:ext cx="5660336" cy="3007248"/>
          </a:xfrm>
          <a:prstGeom prst="rect">
            <a:avLst/>
          </a:prstGeom>
        </p:spPr>
      </p:pic>
    </p:spTree>
    <p:extLst>
      <p:ext uri="{BB962C8B-B14F-4D97-AF65-F5344CB8AC3E}">
        <p14:creationId xmlns:p14="http://schemas.microsoft.com/office/powerpoint/2010/main" val="470128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a:t>
            </a:r>
            <a:r>
              <a:rPr lang="en-US" altLang="ko-KR" sz="1800" b="1" dirty="0" err="1"/>
              <a:t>CustomResourceDefinitions</a:t>
            </a:r>
            <a:r>
              <a:rPr lang="en-US" altLang="ko-KR" sz="1800" b="1" dirty="0"/>
              <a:t> :</a:t>
            </a:r>
            <a:endParaRPr lang="en-US" altLang="ko-KR" sz="1400" dirty="0"/>
          </a:p>
          <a:p>
            <a:pPr lvl="1">
              <a:buFont typeface="Wingdings" panose="05000000000000000000" pitchFamily="2" charset="2"/>
              <a:buChar char="§"/>
            </a:pPr>
            <a:r>
              <a:rPr lang="en-US" altLang="ko-KR" sz="1400" dirty="0"/>
              <a:t>To define a new resource type, all you need to do is </a:t>
            </a:r>
            <a:r>
              <a:rPr lang="en-US" altLang="ko-KR" sz="1400" b="1" dirty="0"/>
              <a:t>post a “</a:t>
            </a:r>
            <a:r>
              <a:rPr lang="en-US" altLang="ko-KR" sz="1400" b="1" dirty="0" err="1">
                <a:solidFill>
                  <a:srgbClr val="FF0000"/>
                </a:solidFill>
              </a:rPr>
              <a:t>CustomResourceDefinition</a:t>
            </a:r>
            <a:r>
              <a:rPr lang="en-US" altLang="ko-KR" sz="1400" b="1" dirty="0">
                <a:solidFill>
                  <a:srgbClr val="FF0000"/>
                </a:solidFill>
              </a:rPr>
              <a:t> object (CRD)</a:t>
            </a:r>
            <a:r>
              <a:rPr lang="en-US" altLang="ko-KR" sz="1400" b="1" dirty="0"/>
              <a:t>” to the Kubernetes API server</a:t>
            </a:r>
            <a:r>
              <a:rPr lang="en-US" altLang="ko-KR" sz="1400" dirty="0"/>
              <a:t>. </a:t>
            </a:r>
            <a:r>
              <a:rPr lang="en-US" altLang="ko-KR" sz="1400" b="1" dirty="0"/>
              <a:t>The “</a:t>
            </a:r>
            <a:r>
              <a:rPr lang="en-US" altLang="ko-KR" sz="1400" b="1" dirty="0" err="1"/>
              <a:t>CustomResourceDefinition</a:t>
            </a:r>
            <a:r>
              <a:rPr lang="en-US" altLang="ko-KR" sz="1400" b="1" dirty="0"/>
              <a:t>” object is </a:t>
            </a:r>
            <a:r>
              <a:rPr lang="en-US" altLang="ko-KR" sz="1400" b="1" dirty="0">
                <a:solidFill>
                  <a:srgbClr val="FF0000"/>
                </a:solidFill>
              </a:rPr>
              <a:t>the description of the custom resource type</a:t>
            </a:r>
            <a:r>
              <a:rPr lang="en-US" altLang="ko-KR" sz="1400" dirty="0"/>
              <a:t>. </a:t>
            </a:r>
            <a:r>
              <a:rPr lang="en-US" altLang="ko-KR" sz="1400" b="1" dirty="0"/>
              <a:t>Once the CRD is posted, users can then create instances of the custom resource by posting JSON or YAML manifests to the API server</a:t>
            </a:r>
            <a:r>
              <a:rPr lang="en-US" altLang="ko-KR" sz="1400" dirty="0"/>
              <a:t>, the same as with any other Kubernetes resource.</a:t>
            </a:r>
          </a:p>
          <a:p>
            <a:pPr lvl="1">
              <a:buFont typeface="Wingdings" panose="05000000000000000000" pitchFamily="2" charset="2"/>
              <a:buChar char="§"/>
            </a:pPr>
            <a:r>
              <a:rPr lang="en-US" altLang="ko-KR" sz="1400" b="1" dirty="0"/>
              <a:t>NOTE : Prior to Kubernetes 1.7, custom resources were defined through “</a:t>
            </a:r>
            <a:r>
              <a:rPr lang="en-US" altLang="ko-KR" sz="1400" b="1" dirty="0" err="1"/>
              <a:t>ThirdPartyResource</a:t>
            </a:r>
            <a:r>
              <a:rPr lang="en-US" altLang="ko-KR" sz="1400" b="1" dirty="0"/>
              <a:t>” objects, which were similar to </a:t>
            </a:r>
            <a:r>
              <a:rPr lang="en-US" altLang="ko-KR" sz="1400" b="1" dirty="0" err="1"/>
              <a:t>CustomResourceDefinitions</a:t>
            </a:r>
            <a:r>
              <a:rPr lang="en-US" altLang="ko-KR" sz="1400" dirty="0"/>
              <a:t>, </a:t>
            </a:r>
            <a:r>
              <a:rPr lang="en-US" altLang="ko-KR" sz="1400" b="1" dirty="0"/>
              <a:t>but were removed in version 1.8</a:t>
            </a:r>
            <a:r>
              <a:rPr lang="en-US" altLang="ko-KR" sz="1400" dirty="0"/>
              <a:t>.</a:t>
            </a:r>
          </a:p>
          <a:p>
            <a:pPr lvl="1">
              <a:buFont typeface="Wingdings" panose="05000000000000000000" pitchFamily="2" charset="2"/>
              <a:buChar char="§"/>
            </a:pPr>
            <a:r>
              <a:rPr lang="en-US" altLang="ko-KR" sz="1400" dirty="0"/>
              <a:t>Creating a CRD so that users can create objects of the new type isn’t a useful feature if those objects don’t make something tangible happen in the cluster. </a:t>
            </a:r>
            <a:r>
              <a:rPr lang="en-US" altLang="ko-KR" sz="1400" b="1" dirty="0"/>
              <a:t>Each CRD will usually also have an associated controller (an active component doing something based on the </a:t>
            </a:r>
            <a:r>
              <a:rPr lang="en-US" altLang="ko-KR" sz="1400" b="1" dirty="0">
                <a:solidFill>
                  <a:srgbClr val="FF0000"/>
                </a:solidFill>
              </a:rPr>
              <a:t>custom objects</a:t>
            </a:r>
            <a:r>
              <a:rPr lang="en-US" altLang="ko-KR" sz="1400" b="1" dirty="0"/>
              <a:t>), the same way that all the core Kubernetes resources have </a:t>
            </a:r>
            <a:r>
              <a:rPr lang="en-US" altLang="ko-KR" sz="1400" b="1" dirty="0">
                <a:solidFill>
                  <a:srgbClr val="FF0000"/>
                </a:solidFill>
              </a:rPr>
              <a:t>an associated controller</a:t>
            </a:r>
            <a:r>
              <a:rPr lang="en-US" altLang="ko-KR" sz="1400" dirty="0"/>
              <a:t>. For this reason, to properly show what “</a:t>
            </a:r>
            <a:r>
              <a:rPr lang="en-US" altLang="ko-KR" sz="1400" b="1" dirty="0" err="1"/>
              <a:t>CustomResourceDefinitions</a:t>
            </a:r>
            <a:r>
              <a:rPr lang="en-US" altLang="ko-KR" sz="1400" dirty="0"/>
              <a:t>” allow you to do other than adding instances of a custom object, </a:t>
            </a:r>
            <a:r>
              <a:rPr lang="en-US" altLang="ko-KR" sz="1400" b="1" dirty="0"/>
              <a:t>a controller must be deployed</a:t>
            </a:r>
            <a:r>
              <a:rPr lang="en-US" altLang="ko-KR" sz="1400" dirty="0"/>
              <a:t> as well.</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26A8565-F76C-DCF2-9B8B-311D4288793D}"/>
              </a:ext>
            </a:extLst>
          </p:cNvPr>
          <p:cNvPicPr>
            <a:picLocks noChangeAspect="1"/>
          </p:cNvPicPr>
          <p:nvPr/>
        </p:nvPicPr>
        <p:blipFill>
          <a:blip r:embed="rId2"/>
          <a:stretch>
            <a:fillRect/>
          </a:stretch>
        </p:blipFill>
        <p:spPr>
          <a:xfrm>
            <a:off x="2990812" y="3978321"/>
            <a:ext cx="6210376" cy="1657411"/>
          </a:xfrm>
          <a:prstGeom prst="rect">
            <a:avLst/>
          </a:prstGeom>
        </p:spPr>
      </p:pic>
    </p:spTree>
    <p:extLst>
      <p:ext uri="{BB962C8B-B14F-4D97-AF65-F5344CB8AC3E}">
        <p14:creationId xmlns:p14="http://schemas.microsoft.com/office/powerpoint/2010/main" val="325167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Example </a:t>
            </a:r>
            <a:r>
              <a:rPr lang="en-US" altLang="ko-KR" sz="1800" b="1" dirty="0" err="1"/>
              <a:t>CustomResourceDefinition</a:t>
            </a:r>
            <a:r>
              <a:rPr lang="en-US" altLang="ko-KR" sz="1800" b="1" dirty="0"/>
              <a:t> :</a:t>
            </a:r>
            <a:endParaRPr lang="en-US" altLang="ko-KR" sz="1400" dirty="0"/>
          </a:p>
          <a:p>
            <a:pPr lvl="1">
              <a:buFont typeface="Wingdings" panose="05000000000000000000" pitchFamily="2" charset="2"/>
              <a:buChar char="§"/>
            </a:pPr>
            <a:r>
              <a:rPr lang="en-US" altLang="ko-KR" sz="1400" b="1" dirty="0"/>
              <a:t>Let’s imagine you want to allow users of your Kubernetes cluster to run static websites</a:t>
            </a:r>
            <a:r>
              <a:rPr lang="en-US" altLang="ko-KR" sz="1400" dirty="0"/>
              <a:t> as easily as possible, without having to deal with Pods, Services, and other Kubernetes resources. What you want to achieve is for users to create objects of type Website that contain nothing more than the website’s name and the source from which the website’s files (HTML, CSS, PNG, and others) should be obtained. </a:t>
            </a:r>
            <a:r>
              <a:rPr lang="en-US" altLang="ko-KR" sz="1400" b="1" dirty="0"/>
              <a:t>You’ll use a Git repository as the source of those files</a:t>
            </a:r>
            <a:r>
              <a:rPr lang="en-US" altLang="ko-KR" sz="1400" dirty="0"/>
              <a:t>. </a:t>
            </a:r>
            <a:r>
              <a:rPr lang="en-US" altLang="ko-KR" sz="1400" b="1" dirty="0"/>
              <a:t>When a user creates an instance of the Website resource, you want Kubernetes to spin up a new web server pod and expose it through a Service</a:t>
            </a:r>
            <a:r>
              <a:rPr lang="en-US" altLang="ko-KR" sz="1400" dirty="0"/>
              <a:t>, as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To create the Website resource, you want users to post manifests</a:t>
            </a:r>
            <a:r>
              <a:rPr lang="en-US" altLang="ko-KR" sz="1400" dirty="0"/>
              <a:t> along the lines of the one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EF03004-552D-8182-1565-0E51AE71DC5F}"/>
              </a:ext>
            </a:extLst>
          </p:cNvPr>
          <p:cNvPicPr>
            <a:picLocks noChangeAspect="1"/>
          </p:cNvPicPr>
          <p:nvPr/>
        </p:nvPicPr>
        <p:blipFill>
          <a:blip r:embed="rId2"/>
          <a:stretch>
            <a:fillRect/>
          </a:stretch>
        </p:blipFill>
        <p:spPr>
          <a:xfrm>
            <a:off x="3559277" y="2510989"/>
            <a:ext cx="5073445" cy="1366684"/>
          </a:xfrm>
          <a:prstGeom prst="rect">
            <a:avLst/>
          </a:prstGeom>
        </p:spPr>
      </p:pic>
      <p:sp>
        <p:nvSpPr>
          <p:cNvPr id="10" name="TextBox 9">
            <a:extLst>
              <a:ext uri="{FF2B5EF4-FFF2-40B4-BE49-F238E27FC236}">
                <a16:creationId xmlns:a16="http://schemas.microsoft.com/office/drawing/2014/main" id="{8C8A8D2B-EC44-CD69-D91B-675AD1E82A2E}"/>
              </a:ext>
            </a:extLst>
          </p:cNvPr>
          <p:cNvSpPr txBox="1"/>
          <p:nvPr/>
        </p:nvSpPr>
        <p:spPr>
          <a:xfrm>
            <a:off x="3047325" y="4878087"/>
            <a:ext cx="6097348" cy="861774"/>
          </a:xfrm>
          <a:prstGeom prst="rect">
            <a:avLst/>
          </a:prstGeom>
          <a:noFill/>
          <a:ln>
            <a:solidFill>
              <a:schemeClr val="bg1">
                <a:lumMod val="50000"/>
              </a:schemeClr>
            </a:solidFill>
          </a:ln>
        </p:spPr>
        <p:txBody>
          <a:bodyPr wrap="square">
            <a:spAutoFit/>
          </a:bodyPr>
          <a:lstStyle/>
          <a:p>
            <a:r>
              <a:rPr lang="en-US" altLang="ko-KR" sz="1000" b="1" dirty="0"/>
              <a:t>kind: </a:t>
            </a:r>
            <a:r>
              <a:rPr lang="en-US" altLang="ko-KR" sz="1000" b="1" dirty="0">
                <a:solidFill>
                  <a:srgbClr val="FF0000"/>
                </a:solidFill>
              </a:rPr>
              <a:t>Website</a:t>
            </a:r>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t>  </a:t>
            </a:r>
            <a:r>
              <a:rPr lang="en-US" altLang="ko-KR" sz="1000" b="1" dirty="0" err="1">
                <a:solidFill>
                  <a:srgbClr val="FF0000"/>
                </a:solidFill>
              </a:rPr>
              <a:t>gitRepo</a:t>
            </a:r>
            <a:r>
              <a:rPr lang="en-US" altLang="ko-KR" sz="1000" b="1" dirty="0">
                <a:solidFill>
                  <a:srgbClr val="FF0000"/>
                </a:solidFill>
              </a:rPr>
              <a:t>: https://github.com/knix008/Website-Example.git</a:t>
            </a:r>
            <a:endParaRPr lang="ko-KR" altLang="en-US" sz="1000" b="1" dirty="0">
              <a:solidFill>
                <a:srgbClr val="FF0000"/>
              </a:solidFill>
            </a:endParaRPr>
          </a:p>
        </p:txBody>
      </p:sp>
    </p:spTree>
    <p:extLst>
      <p:ext uri="{BB962C8B-B14F-4D97-AF65-F5344CB8AC3E}">
        <p14:creationId xmlns:p14="http://schemas.microsoft.com/office/powerpoint/2010/main" val="2293748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Example </a:t>
            </a:r>
            <a:r>
              <a:rPr lang="en-US" altLang="ko-KR" sz="1800" b="1" dirty="0" err="1"/>
              <a:t>CustomResourceDefinition</a:t>
            </a:r>
            <a:r>
              <a:rPr lang="en-US" altLang="ko-KR" sz="1800" b="1" dirty="0"/>
              <a:t> :</a:t>
            </a:r>
            <a:endParaRPr lang="en-US" altLang="ko-KR" sz="1400" dirty="0"/>
          </a:p>
          <a:p>
            <a:pPr lvl="1">
              <a:buFont typeface="Wingdings" panose="05000000000000000000" pitchFamily="2" charset="2"/>
              <a:buChar char="§"/>
            </a:pPr>
            <a:r>
              <a:rPr lang="en-US" altLang="ko-KR" sz="1400" b="1" dirty="0"/>
              <a:t>Like all other resources, your resource contains a “</a:t>
            </a:r>
            <a:r>
              <a:rPr lang="en-US" altLang="ko-KR" sz="1400" b="1" dirty="0">
                <a:solidFill>
                  <a:srgbClr val="FF0000"/>
                </a:solidFill>
              </a:rPr>
              <a:t>kind</a:t>
            </a:r>
            <a:r>
              <a:rPr lang="en-US" altLang="ko-KR" sz="1400" b="1" dirty="0"/>
              <a:t>” and a “</a:t>
            </a:r>
            <a:r>
              <a:rPr lang="en-US" altLang="ko-KR" sz="1400" b="1" dirty="0">
                <a:solidFill>
                  <a:srgbClr val="FF0000"/>
                </a:solidFill>
              </a:rPr>
              <a:t>metadata.name</a:t>
            </a:r>
            <a:r>
              <a:rPr lang="en-US" altLang="ko-KR" sz="1400" b="1" dirty="0"/>
              <a:t>” field, and like most resources, it also contains a “</a:t>
            </a:r>
            <a:r>
              <a:rPr lang="en-US" altLang="ko-KR" sz="1400" b="1" dirty="0">
                <a:solidFill>
                  <a:srgbClr val="FF0000"/>
                </a:solidFill>
              </a:rPr>
              <a:t>spec</a:t>
            </a:r>
            <a:r>
              <a:rPr lang="en-US" altLang="ko-KR" sz="1400" b="1" dirty="0"/>
              <a:t>” section</a:t>
            </a:r>
            <a:r>
              <a:rPr lang="en-US" altLang="ko-KR" sz="1400" dirty="0"/>
              <a:t>. It contains a single field called “</a:t>
            </a:r>
            <a:r>
              <a:rPr lang="en-US" altLang="ko-KR" sz="1400" b="1" dirty="0" err="1">
                <a:solidFill>
                  <a:srgbClr val="FF0000"/>
                </a:solidFill>
              </a:rPr>
              <a:t>gitRepo</a:t>
            </a:r>
            <a:r>
              <a:rPr lang="en-US" altLang="ko-KR" sz="1400" dirty="0"/>
              <a:t>” (you can choose the name)—</a:t>
            </a:r>
            <a:r>
              <a:rPr lang="en-US" altLang="ko-KR" sz="1400" b="1" dirty="0"/>
              <a:t>it specifies the Git repository containing the website’s files</a:t>
            </a:r>
            <a:r>
              <a:rPr lang="en-US" altLang="ko-KR" sz="1400" dirty="0"/>
              <a:t>. You’ll also need to include an “</a:t>
            </a:r>
            <a:r>
              <a:rPr lang="en-US" altLang="ko-KR" sz="1400" b="1" dirty="0" err="1">
                <a:solidFill>
                  <a:srgbClr val="FF0000"/>
                </a:solidFill>
              </a:rPr>
              <a:t>apiVersion</a:t>
            </a:r>
            <a:r>
              <a:rPr lang="en-US" altLang="ko-KR" sz="1400" dirty="0"/>
              <a:t>” field, but you don’t know yet what its value must be for custom resources.</a:t>
            </a:r>
          </a:p>
          <a:p>
            <a:pPr lvl="1">
              <a:buFont typeface="Wingdings" panose="05000000000000000000" pitchFamily="2" charset="2"/>
              <a:buChar char="§"/>
            </a:pPr>
            <a:r>
              <a:rPr lang="en-US" altLang="ko-KR" sz="1400" b="1" dirty="0"/>
              <a:t>If you try posting this resource to Kubernetes, you’ll receive an error because Kubernetes doesn’t know what a “</a:t>
            </a:r>
            <a:r>
              <a:rPr lang="en-US" altLang="ko-KR" sz="1400" b="1" dirty="0">
                <a:solidFill>
                  <a:srgbClr val="FF0000"/>
                </a:solidFill>
              </a:rPr>
              <a:t>Website</a:t>
            </a:r>
            <a:r>
              <a:rPr lang="en-US" altLang="ko-KR" sz="1400" b="1" dirty="0"/>
              <a:t>” object is yet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Before you can create instances of your custom object, you need to make Kubernetes recognize them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799B0408-AC73-F42F-064D-24C719A78343}"/>
              </a:ext>
            </a:extLst>
          </p:cNvPr>
          <p:cNvGrpSpPr/>
          <p:nvPr/>
        </p:nvGrpSpPr>
        <p:grpSpPr>
          <a:xfrm>
            <a:off x="838200" y="2647547"/>
            <a:ext cx="10515600" cy="2079558"/>
            <a:chOff x="838200" y="2550442"/>
            <a:chExt cx="10515600" cy="2079558"/>
          </a:xfrm>
        </p:grpSpPr>
        <p:grpSp>
          <p:nvGrpSpPr>
            <p:cNvPr id="10" name="그룹 9">
              <a:extLst>
                <a:ext uri="{FF2B5EF4-FFF2-40B4-BE49-F238E27FC236}">
                  <a16:creationId xmlns:a16="http://schemas.microsoft.com/office/drawing/2014/main" id="{2D5D2802-F582-3618-D053-534FB30018CD}"/>
                </a:ext>
              </a:extLst>
            </p:cNvPr>
            <p:cNvGrpSpPr/>
            <p:nvPr/>
          </p:nvGrpSpPr>
          <p:grpSpPr>
            <a:xfrm>
              <a:off x="3047326" y="2550442"/>
              <a:ext cx="6097348" cy="558768"/>
              <a:chOff x="3047326" y="2550442"/>
              <a:chExt cx="6097348" cy="558768"/>
            </a:xfrm>
          </p:grpSpPr>
          <p:sp>
            <p:nvSpPr>
              <p:cNvPr id="8" name="TextBox 7">
                <a:extLst>
                  <a:ext uri="{FF2B5EF4-FFF2-40B4-BE49-F238E27FC236}">
                    <a16:creationId xmlns:a16="http://schemas.microsoft.com/office/drawing/2014/main" id="{1054B85F-AB18-9352-FB50-4706900C4FDA}"/>
                  </a:ext>
                </a:extLst>
              </p:cNvPr>
              <p:cNvSpPr txBox="1"/>
              <p:nvPr/>
            </p:nvSpPr>
            <p:spPr>
              <a:xfrm>
                <a:off x="3047326" y="2550442"/>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imaginary-</a:t>
                </a:r>
                <a:r>
                  <a:rPr lang="en-US" altLang="ko-KR" sz="1000" b="1" dirty="0" err="1"/>
                  <a:t>kubia</a:t>
                </a:r>
                <a:r>
                  <a:rPr lang="en-US" altLang="ko-KR" sz="1000" b="1" dirty="0"/>
                  <a:t>-</a:t>
                </a:r>
                <a:r>
                  <a:rPr lang="en-US" altLang="ko-KR" sz="1000" b="1" dirty="0" err="1"/>
                  <a:t>website.yaml</a:t>
                </a:r>
                <a:endParaRPr lang="en-US" altLang="ko-KR" sz="1000" b="1" dirty="0"/>
              </a:p>
            </p:txBody>
          </p:sp>
          <p:sp>
            <p:nvSpPr>
              <p:cNvPr id="9" name="화살표: 아래쪽 8">
                <a:extLst>
                  <a:ext uri="{FF2B5EF4-FFF2-40B4-BE49-F238E27FC236}">
                    <a16:creationId xmlns:a16="http://schemas.microsoft.com/office/drawing/2014/main" id="{50E19D76-6CBC-77D0-285E-7AE29D49808F}"/>
                  </a:ext>
                </a:extLst>
              </p:cNvPr>
              <p:cNvSpPr/>
              <p:nvPr/>
            </p:nvSpPr>
            <p:spPr>
              <a:xfrm>
                <a:off x="5841101" y="2824120"/>
                <a:ext cx="478779" cy="28509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D4E7503A-0CB1-B517-82CA-BA92D1C4F7D4}"/>
                </a:ext>
              </a:extLst>
            </p:cNvPr>
            <p:cNvPicPr>
              <a:picLocks noChangeAspect="1"/>
            </p:cNvPicPr>
            <p:nvPr/>
          </p:nvPicPr>
          <p:blipFill>
            <a:blip r:embed="rId2"/>
            <a:stretch>
              <a:fillRect/>
            </a:stretch>
          </p:blipFill>
          <p:spPr>
            <a:xfrm>
              <a:off x="838200" y="3111079"/>
              <a:ext cx="10515600" cy="1518921"/>
            </a:xfrm>
            <a:prstGeom prst="rect">
              <a:avLst/>
            </a:prstGeom>
          </p:spPr>
        </p:pic>
      </p:grpSp>
    </p:spTree>
    <p:extLst>
      <p:ext uri="{BB962C8B-B14F-4D97-AF65-F5344CB8AC3E}">
        <p14:creationId xmlns:p14="http://schemas.microsoft.com/office/powerpoint/2010/main" val="3135766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CustomResourceDefinition</a:t>
            </a:r>
            <a:r>
              <a:rPr lang="en-US" altLang="ko-KR" sz="1800" b="1" dirty="0"/>
              <a:t> Object :</a:t>
            </a:r>
            <a:endParaRPr lang="en-US" altLang="ko-KR" sz="1400" dirty="0"/>
          </a:p>
          <a:p>
            <a:pPr lvl="1">
              <a:buFont typeface="Wingdings" panose="05000000000000000000" pitchFamily="2" charset="2"/>
              <a:buChar char="§"/>
            </a:pPr>
            <a:r>
              <a:rPr lang="en-US" altLang="ko-KR" sz="1400" dirty="0"/>
              <a:t>To make Kubernetes accept your </a:t>
            </a:r>
            <a:r>
              <a:rPr lang="en-US" altLang="ko-KR" sz="1400" b="1" dirty="0"/>
              <a:t>custom “Website” resource instances</a:t>
            </a:r>
            <a:r>
              <a:rPr lang="en-US" altLang="ko-KR" sz="1400" dirty="0"/>
              <a:t>, you need to </a:t>
            </a:r>
            <a:r>
              <a:rPr lang="en-US" altLang="ko-KR" sz="1400" b="1" dirty="0"/>
              <a:t>post the “</a:t>
            </a:r>
            <a:r>
              <a:rPr lang="en-US" altLang="ko-KR" sz="1400" b="1" dirty="0" err="1"/>
              <a:t>CustomResourceDefinition</a:t>
            </a:r>
            <a:r>
              <a:rPr lang="en-US" altLang="ko-KR" sz="1400" b="1" dirty="0"/>
              <a:t>” </a:t>
            </a:r>
            <a:r>
              <a:rPr lang="en-US" altLang="ko-KR" sz="1400" dirty="0"/>
              <a:t>shown in the following listing to </a:t>
            </a:r>
            <a:r>
              <a:rPr lang="en-US" altLang="ko-KR" sz="1400" b="1" dirty="0"/>
              <a:t>the API server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643842F2-D345-107F-9D37-95769CDB30FE}"/>
              </a:ext>
            </a:extLst>
          </p:cNvPr>
          <p:cNvGrpSpPr/>
          <p:nvPr/>
        </p:nvGrpSpPr>
        <p:grpSpPr>
          <a:xfrm>
            <a:off x="3047326" y="1700049"/>
            <a:ext cx="6097348" cy="4708981"/>
            <a:chOff x="3299527" y="1730074"/>
            <a:chExt cx="6097348" cy="4708981"/>
          </a:xfrm>
        </p:grpSpPr>
        <p:sp>
          <p:nvSpPr>
            <p:cNvPr id="8" name="TextBox 7">
              <a:extLst>
                <a:ext uri="{FF2B5EF4-FFF2-40B4-BE49-F238E27FC236}">
                  <a16:creationId xmlns:a16="http://schemas.microsoft.com/office/drawing/2014/main" id="{9B1A5E20-1936-36DA-9EAA-D94E1E85F7F1}"/>
                </a:ext>
              </a:extLst>
            </p:cNvPr>
            <p:cNvSpPr txBox="1"/>
            <p:nvPr/>
          </p:nvSpPr>
          <p:spPr>
            <a:xfrm>
              <a:off x="3299527" y="1730074"/>
              <a:ext cx="6097348" cy="47089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apiextensions.k8s.io/v1</a:t>
              </a:r>
            </a:p>
            <a:p>
              <a:r>
                <a:rPr lang="en-US" altLang="ko-KR" sz="1000" b="1" dirty="0"/>
                <a:t>kind: </a:t>
              </a:r>
              <a:r>
                <a:rPr lang="en-US" altLang="ko-KR" sz="1000" b="1" dirty="0" err="1">
                  <a:solidFill>
                    <a:srgbClr val="FF0000"/>
                  </a:solidFill>
                </a:rPr>
                <a:t>CustomResourceDefinition</a:t>
              </a:r>
              <a:endParaRPr lang="en-US" altLang="ko-KR" sz="1000" b="1" dirty="0">
                <a:solidFill>
                  <a:srgbClr val="FF0000"/>
                </a:solidFill>
              </a:endParaRPr>
            </a:p>
            <a:p>
              <a:r>
                <a:rPr lang="en-US" altLang="ko-KR" sz="1000" b="1" dirty="0"/>
                <a:t>metadata:</a:t>
              </a:r>
            </a:p>
            <a:p>
              <a:r>
                <a:rPr lang="en-US" altLang="ko-KR" sz="1000" b="1" dirty="0"/>
                <a:t>  name: websites.extensions.example.com</a:t>
              </a:r>
            </a:p>
            <a:p>
              <a:r>
                <a:rPr lang="en-US" altLang="ko-KR" sz="1000" b="1" dirty="0"/>
                <a:t>spec:</a:t>
              </a:r>
            </a:p>
            <a:p>
              <a:r>
                <a:rPr lang="en-US" altLang="ko-KR" sz="1000" b="1" dirty="0"/>
                <a:t>  scope: </a:t>
              </a:r>
              <a:r>
                <a:rPr lang="en-US" altLang="ko-KR" sz="1000" b="1" dirty="0" err="1"/>
                <a:t>Namespaced</a:t>
              </a:r>
              <a:endParaRPr lang="en-US" altLang="ko-KR" sz="1000" b="1" dirty="0"/>
            </a:p>
            <a:p>
              <a:r>
                <a:rPr lang="en-US" altLang="ko-KR" sz="1000" b="1" dirty="0"/>
                <a:t>  group: extensions.example.com</a:t>
              </a:r>
            </a:p>
            <a:p>
              <a:r>
                <a:rPr lang="en-US" altLang="ko-KR" sz="1000" b="1" dirty="0">
                  <a:solidFill>
                    <a:srgbClr val="FF0000"/>
                  </a:solidFill>
                </a:rPr>
                <a:t>  versions: </a:t>
              </a:r>
            </a:p>
            <a:p>
              <a:r>
                <a:rPr lang="en-US" altLang="ko-KR" sz="1000" b="1" dirty="0">
                  <a:solidFill>
                    <a:srgbClr val="FF0000"/>
                  </a:solidFill>
                </a:rPr>
                <a:t>  - name: v1</a:t>
              </a:r>
            </a:p>
            <a:p>
              <a:r>
                <a:rPr lang="en-US" altLang="ko-KR" sz="1000" b="1" dirty="0">
                  <a:solidFill>
                    <a:srgbClr val="FF0000"/>
                  </a:solidFill>
                </a:rPr>
                <a:t>    served: true</a:t>
              </a:r>
            </a:p>
            <a:p>
              <a:r>
                <a:rPr lang="en-US" altLang="ko-KR" sz="1000" b="1" dirty="0">
                  <a:solidFill>
                    <a:srgbClr val="FF0000"/>
                  </a:solidFill>
                </a:rPr>
                <a:t>    storage: true</a:t>
              </a:r>
            </a:p>
            <a:p>
              <a:r>
                <a:rPr lang="en-US" altLang="ko-KR" sz="1000" b="1" dirty="0">
                  <a:solidFill>
                    <a:srgbClr val="FF0000"/>
                  </a:solidFill>
                </a:rPr>
                <a:t>    schema:</a:t>
              </a:r>
            </a:p>
            <a:p>
              <a:r>
                <a:rPr lang="en-US" altLang="ko-KR" sz="1000" b="1" dirty="0">
                  <a:solidFill>
                    <a:srgbClr val="FF0000"/>
                  </a:solidFill>
                </a:rPr>
                <a:t>      openAPIV3Schema:</a:t>
              </a:r>
            </a:p>
            <a:p>
              <a:r>
                <a:rPr lang="en-US" altLang="ko-KR" sz="1000" b="1" dirty="0">
                  <a:solidFill>
                    <a:srgbClr val="FF0000"/>
                  </a:solidFill>
                </a:rPr>
                <a:t>          type: object</a:t>
              </a:r>
            </a:p>
            <a:p>
              <a:r>
                <a:rPr lang="en-US" altLang="ko-KR" sz="1000" b="1" dirty="0">
                  <a:solidFill>
                    <a:srgbClr val="FF0000"/>
                  </a:solidFill>
                </a:rPr>
                <a:t>          properties:</a:t>
              </a:r>
            </a:p>
            <a:p>
              <a:r>
                <a:rPr lang="en-US" altLang="ko-KR" sz="1000" b="1" dirty="0">
                  <a:solidFill>
                    <a:srgbClr val="FF0000"/>
                  </a:solidFill>
                </a:rPr>
                <a:t>            spec:</a:t>
              </a:r>
            </a:p>
            <a:p>
              <a:r>
                <a:rPr lang="en-US" altLang="ko-KR" sz="1000" b="1" dirty="0">
                  <a:solidFill>
                    <a:srgbClr val="FF0000"/>
                  </a:solidFill>
                </a:rPr>
                <a:t>              type: object</a:t>
              </a:r>
            </a:p>
            <a:p>
              <a:r>
                <a:rPr lang="en-US" altLang="ko-KR" sz="1000" b="1" dirty="0">
                  <a:solidFill>
                    <a:srgbClr val="FF0000"/>
                  </a:solidFill>
                </a:rPr>
                <a:t>              properties:</a:t>
              </a:r>
            </a:p>
            <a:p>
              <a:r>
                <a:rPr lang="en-US" altLang="ko-KR" sz="1000" b="1" dirty="0">
                  <a:solidFill>
                    <a:srgbClr val="FF0000"/>
                  </a:solidFill>
                </a:rPr>
                <a:t>                </a:t>
              </a:r>
              <a:r>
                <a:rPr lang="en-US" altLang="ko-KR" sz="1000" b="1" dirty="0" err="1">
                  <a:solidFill>
                    <a:srgbClr val="FF0000"/>
                  </a:solidFill>
                </a:rPr>
                <a:t>cronSpec</a:t>
              </a:r>
              <a:r>
                <a:rPr lang="en-US" altLang="ko-KR" sz="1000" b="1" dirty="0">
                  <a:solidFill>
                    <a:srgbClr val="FF0000"/>
                  </a:solidFill>
                </a:rPr>
                <a:t>:</a:t>
              </a:r>
            </a:p>
            <a:p>
              <a:r>
                <a:rPr lang="en-US" altLang="ko-KR" sz="1000" b="1" dirty="0">
                  <a:solidFill>
                    <a:srgbClr val="FF0000"/>
                  </a:solidFill>
                </a:rPr>
                <a:t>                  type: string</a:t>
              </a:r>
            </a:p>
            <a:p>
              <a:r>
                <a:rPr lang="en-US" altLang="ko-KR" sz="1000" b="1" dirty="0">
                  <a:solidFill>
                    <a:srgbClr val="FF0000"/>
                  </a:solidFill>
                </a:rPr>
                <a:t>                image:</a:t>
              </a:r>
            </a:p>
            <a:p>
              <a:r>
                <a:rPr lang="en-US" altLang="ko-KR" sz="1000" b="1" dirty="0">
                  <a:solidFill>
                    <a:srgbClr val="FF0000"/>
                  </a:solidFill>
                </a:rPr>
                <a:t>                  type: string</a:t>
              </a:r>
            </a:p>
            <a:p>
              <a:r>
                <a:rPr lang="en-US" altLang="ko-KR" sz="1000" b="1" dirty="0">
                  <a:solidFill>
                    <a:srgbClr val="FF0000"/>
                  </a:solidFill>
                </a:rPr>
                <a:t>                replicas:</a:t>
              </a:r>
            </a:p>
            <a:p>
              <a:r>
                <a:rPr lang="en-US" altLang="ko-KR" sz="1000" b="1" dirty="0">
                  <a:solidFill>
                    <a:srgbClr val="FF0000"/>
                  </a:solidFill>
                </a:rPr>
                <a:t>                  type: integer</a:t>
              </a:r>
            </a:p>
            <a:p>
              <a:r>
                <a:rPr lang="en-US" altLang="ko-KR" sz="1000" b="1" dirty="0">
                  <a:solidFill>
                    <a:srgbClr val="FF0000"/>
                  </a:solidFill>
                </a:rPr>
                <a:t>                </a:t>
              </a:r>
              <a:r>
                <a:rPr lang="en-US" altLang="ko-KR" sz="1000" b="1" dirty="0" err="1">
                  <a:solidFill>
                    <a:srgbClr val="FF0000"/>
                  </a:solidFill>
                </a:rPr>
                <a:t>gitRepo</a:t>
              </a:r>
              <a:r>
                <a:rPr lang="en-US" altLang="ko-KR" sz="1000" b="1" dirty="0">
                  <a:solidFill>
                    <a:srgbClr val="FF0000"/>
                  </a:solidFill>
                </a:rPr>
                <a:t>:</a:t>
              </a:r>
            </a:p>
            <a:p>
              <a:r>
                <a:rPr lang="en-US" altLang="ko-KR" sz="1000" b="1" dirty="0">
                  <a:solidFill>
                    <a:srgbClr val="FF0000"/>
                  </a:solidFill>
                </a:rPr>
                <a:t>                  type: string</a:t>
              </a:r>
            </a:p>
            <a:p>
              <a:r>
                <a:rPr lang="en-US" altLang="ko-KR" sz="1000" b="1" dirty="0"/>
                <a:t>  names:</a:t>
              </a:r>
            </a:p>
            <a:p>
              <a:r>
                <a:rPr lang="en-US" altLang="ko-KR" sz="1000" b="1" dirty="0"/>
                <a:t>    kind: Website</a:t>
              </a:r>
            </a:p>
            <a:p>
              <a:r>
                <a:rPr lang="en-US" altLang="ko-KR" sz="1000" b="1" dirty="0"/>
                <a:t>    singular: website</a:t>
              </a:r>
            </a:p>
            <a:p>
              <a:r>
                <a:rPr lang="en-US" altLang="ko-KR" sz="1000" b="1" dirty="0"/>
                <a:t>    plural: websites</a:t>
              </a:r>
            </a:p>
          </p:txBody>
        </p:sp>
        <p:sp>
          <p:nvSpPr>
            <p:cNvPr id="9" name="TextBox 8">
              <a:extLst>
                <a:ext uri="{FF2B5EF4-FFF2-40B4-BE49-F238E27FC236}">
                  <a16:creationId xmlns:a16="http://schemas.microsoft.com/office/drawing/2014/main" id="{2EABC01A-2AEB-E2DD-81AD-B541304BFCC0}"/>
                </a:ext>
              </a:extLst>
            </p:cNvPr>
            <p:cNvSpPr txBox="1"/>
            <p:nvPr/>
          </p:nvSpPr>
          <p:spPr>
            <a:xfrm>
              <a:off x="8173462" y="1730074"/>
              <a:ext cx="1223413" cy="246221"/>
            </a:xfrm>
            <a:prstGeom prst="rect">
              <a:avLst/>
            </a:prstGeom>
            <a:noFill/>
          </p:spPr>
          <p:txBody>
            <a:bodyPr wrap="none" rtlCol="0">
              <a:spAutoFit/>
            </a:bodyPr>
            <a:lstStyle/>
            <a:p>
              <a:pPr algn="ctr"/>
              <a:r>
                <a:rPr lang="en-US" altLang="ko-KR" sz="1000" b="1" dirty="0"/>
                <a:t>website-</a:t>
              </a:r>
              <a:r>
                <a:rPr lang="en-US" altLang="ko-KR" sz="1000" b="1" dirty="0" err="1"/>
                <a:t>crd.yaml</a:t>
              </a:r>
              <a:endParaRPr lang="ko-KR" altLang="en-US" sz="1000" b="1" dirty="0"/>
            </a:p>
          </p:txBody>
        </p:sp>
      </p:grpSp>
    </p:spTree>
    <p:extLst>
      <p:ext uri="{BB962C8B-B14F-4D97-AF65-F5344CB8AC3E}">
        <p14:creationId xmlns:p14="http://schemas.microsoft.com/office/powerpoint/2010/main" val="3408488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CustomResourceDefinition</a:t>
            </a:r>
            <a:r>
              <a:rPr lang="en-US" altLang="ko-KR" sz="1800" b="1" dirty="0"/>
              <a:t> Object :</a:t>
            </a:r>
            <a:endParaRPr lang="en-US" altLang="ko-KR" sz="1400" dirty="0"/>
          </a:p>
          <a:p>
            <a:pPr lvl="1">
              <a:buFont typeface="Wingdings" panose="05000000000000000000" pitchFamily="2" charset="2"/>
              <a:buChar char="§"/>
            </a:pPr>
            <a:r>
              <a:rPr lang="en-US" altLang="ko-KR" sz="1400" b="1" dirty="0"/>
              <a:t>After you post the descriptor to Kubernetes</a:t>
            </a:r>
            <a:r>
              <a:rPr lang="en-US" altLang="ko-KR" sz="1400" dirty="0"/>
              <a:t>, </a:t>
            </a:r>
            <a:r>
              <a:rPr lang="en-US" altLang="ko-KR" sz="1400" b="1" dirty="0"/>
              <a:t>it will allow you to create any number of instances </a:t>
            </a:r>
            <a:r>
              <a:rPr lang="en-US" altLang="ko-KR" sz="1400" b="1" dirty="0">
                <a:solidFill>
                  <a:srgbClr val="FF0000"/>
                </a:solidFill>
              </a:rPr>
              <a:t>of the custom “Website” resource</a:t>
            </a:r>
            <a:r>
              <a:rPr lang="en-US" altLang="ko-KR" sz="1400" dirty="0"/>
              <a:t>.</a:t>
            </a:r>
          </a:p>
          <a:p>
            <a:pPr lvl="1">
              <a:buFont typeface="Wingdings" panose="05000000000000000000" pitchFamily="2" charset="2"/>
              <a:buChar char="§"/>
            </a:pPr>
            <a:r>
              <a:rPr lang="en-US" altLang="ko-KR" sz="1400" b="1" dirty="0"/>
              <a:t>You can create the CRD from the “website-</a:t>
            </a:r>
            <a:r>
              <a:rPr lang="en-US" altLang="ko-KR" sz="1400" b="1" dirty="0" err="1"/>
              <a:t>crd.yaml</a:t>
            </a:r>
            <a:r>
              <a:rPr lang="en-US" altLang="ko-KR" sz="1400" b="1" dirty="0"/>
              <a:t>” file available </a:t>
            </a:r>
            <a:r>
              <a:rPr lang="en-US" altLang="ko-KR" sz="1400" dirty="0"/>
              <a:t>in the code archive :</a:t>
            </a:r>
          </a:p>
          <a:p>
            <a:pPr lvl="1">
              <a:buFont typeface="Wingdings" panose="05000000000000000000" pitchFamily="2" charset="2"/>
              <a:buChar char="§"/>
            </a:pPr>
            <a:r>
              <a:rPr lang="en-US" altLang="ko-KR" sz="1400" b="1" dirty="0"/>
              <a:t>NOTE : For more information, see </a:t>
            </a:r>
            <a:r>
              <a:rPr lang="en-US" altLang="ko-KR" sz="1400" b="1" dirty="0">
                <a:hlinkClick r:id="rId2"/>
              </a:rPr>
              <a:t>https://kubernetes.io/docs/tasks/extend-kubernetes/custom-resources/custom-resource-definitions/</a:t>
            </a:r>
            <a:r>
              <a:rPr lang="en-US" altLang="ko-KR" sz="1400" b="1" dirty="0"/>
              <a:t>.</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EAB41A8-D43D-66FC-D0B2-794C5BE93ED9}"/>
              </a:ext>
            </a:extLst>
          </p:cNvPr>
          <p:cNvGrpSpPr/>
          <p:nvPr/>
        </p:nvGrpSpPr>
        <p:grpSpPr>
          <a:xfrm>
            <a:off x="838200" y="2689013"/>
            <a:ext cx="10515600" cy="1479973"/>
            <a:chOff x="838200" y="2689013"/>
            <a:chExt cx="10515600" cy="1479973"/>
          </a:xfrm>
        </p:grpSpPr>
        <p:pic>
          <p:nvPicPr>
            <p:cNvPr id="8" name="그림 7">
              <a:extLst>
                <a:ext uri="{FF2B5EF4-FFF2-40B4-BE49-F238E27FC236}">
                  <a16:creationId xmlns:a16="http://schemas.microsoft.com/office/drawing/2014/main" id="{56BBDF3B-C8F2-78D1-83B3-3BD91E699937}"/>
                </a:ext>
              </a:extLst>
            </p:cNvPr>
            <p:cNvPicPr>
              <a:picLocks noChangeAspect="1"/>
            </p:cNvPicPr>
            <p:nvPr/>
          </p:nvPicPr>
          <p:blipFill>
            <a:blip r:embed="rId3"/>
            <a:stretch>
              <a:fillRect/>
            </a:stretch>
          </p:blipFill>
          <p:spPr>
            <a:xfrm>
              <a:off x="838200" y="2689013"/>
              <a:ext cx="10515600" cy="1479973"/>
            </a:xfrm>
            <a:prstGeom prst="rect">
              <a:avLst/>
            </a:prstGeom>
          </p:spPr>
        </p:pic>
        <p:sp>
          <p:nvSpPr>
            <p:cNvPr id="9" name="직사각형 8">
              <a:extLst>
                <a:ext uri="{FF2B5EF4-FFF2-40B4-BE49-F238E27FC236}">
                  <a16:creationId xmlns:a16="http://schemas.microsoft.com/office/drawing/2014/main" id="{1FED40DE-0044-A618-F5EE-0713D7AC49A0}"/>
                </a:ext>
              </a:extLst>
            </p:cNvPr>
            <p:cNvSpPr/>
            <p:nvPr/>
          </p:nvSpPr>
          <p:spPr>
            <a:xfrm>
              <a:off x="4798577" y="3091158"/>
              <a:ext cx="2201034" cy="202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53854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CustomResourceDefinition</a:t>
            </a:r>
            <a:r>
              <a:rPr lang="en-US" altLang="ko-KR" sz="1800" b="1" dirty="0"/>
              <a:t> Object :</a:t>
            </a:r>
            <a:endParaRPr lang="en-US" altLang="ko-KR" sz="1400" dirty="0"/>
          </a:p>
          <a:p>
            <a:pPr lvl="1">
              <a:buFont typeface="Wingdings" panose="05000000000000000000" pitchFamily="2" charset="2"/>
              <a:buChar char="§"/>
            </a:pPr>
            <a:r>
              <a:rPr lang="en-US" altLang="ko-KR" sz="1400" dirty="0"/>
              <a:t>You’re wondering about </a:t>
            </a:r>
            <a:r>
              <a:rPr lang="en-US" altLang="ko-KR" sz="1400" b="1" dirty="0"/>
              <a:t>the long name of the CRD</a:t>
            </a:r>
            <a:r>
              <a:rPr lang="en-US" altLang="ko-KR" sz="1400" dirty="0"/>
              <a:t>. Why not call it “</a:t>
            </a:r>
            <a:r>
              <a:rPr lang="en-US" altLang="ko-KR" sz="1400" b="1" dirty="0"/>
              <a:t>Website</a:t>
            </a:r>
            <a:r>
              <a:rPr lang="en-US" altLang="ko-KR" sz="1400" dirty="0"/>
              <a:t>”? </a:t>
            </a:r>
            <a:r>
              <a:rPr lang="en-US" altLang="ko-KR" sz="1400" b="1" dirty="0"/>
              <a:t>The reason is to prevent name clashes</a:t>
            </a:r>
            <a:r>
              <a:rPr lang="en-US" altLang="ko-KR" sz="1400" dirty="0"/>
              <a:t>. </a:t>
            </a:r>
            <a:r>
              <a:rPr lang="en-US" altLang="ko-KR" sz="1400" b="1" dirty="0"/>
              <a:t>By adding a suffix to the name of the CRD (which will usually include the name of the organization that created the CRD), you keep CRD names unique</a:t>
            </a:r>
            <a:r>
              <a:rPr lang="en-US" altLang="ko-KR" sz="1400" dirty="0"/>
              <a:t>. Luckily, the long name doesn’t mean you’ll need to create your “</a:t>
            </a:r>
            <a:r>
              <a:rPr lang="en-US" altLang="ko-KR" sz="1400" b="1" dirty="0"/>
              <a:t>Website</a:t>
            </a:r>
            <a:r>
              <a:rPr lang="en-US" altLang="ko-KR" sz="1400" dirty="0"/>
              <a:t>” resources with “</a:t>
            </a:r>
            <a:r>
              <a:rPr lang="en-US" altLang="ko-KR" sz="1400" b="1" dirty="0"/>
              <a:t>kind: websites.extensions.example.com</a:t>
            </a:r>
            <a:r>
              <a:rPr lang="en-US" altLang="ko-KR" sz="1400" dirty="0"/>
              <a:t>”, but as “</a:t>
            </a:r>
            <a:r>
              <a:rPr lang="en-US" altLang="ko-KR" sz="1400" b="1" dirty="0">
                <a:solidFill>
                  <a:srgbClr val="FF0000"/>
                </a:solidFill>
              </a:rPr>
              <a:t>kind: Website</a:t>
            </a:r>
            <a:r>
              <a:rPr lang="en-US" altLang="ko-KR" sz="1400" dirty="0"/>
              <a:t>”, </a:t>
            </a:r>
            <a:r>
              <a:rPr lang="en-US" altLang="ko-KR" sz="1400" b="1" dirty="0"/>
              <a:t>as specified in the “</a:t>
            </a:r>
            <a:r>
              <a:rPr lang="en-US" altLang="ko-KR" sz="1400" b="1" dirty="0" err="1"/>
              <a:t>names.kind</a:t>
            </a:r>
            <a:r>
              <a:rPr lang="en-US" altLang="ko-KR" sz="1400" b="1" dirty="0"/>
              <a:t>” property of the CRD</a:t>
            </a:r>
            <a:r>
              <a:rPr lang="en-US" altLang="ko-KR" sz="1400" dirty="0"/>
              <a:t>. </a:t>
            </a:r>
            <a:r>
              <a:rPr lang="en-US" altLang="ko-KR" sz="1400" b="1" dirty="0"/>
              <a:t>The “</a:t>
            </a:r>
            <a:r>
              <a:rPr lang="en-US" altLang="ko-KR" sz="1400" b="1" dirty="0">
                <a:solidFill>
                  <a:srgbClr val="FF0000"/>
                </a:solidFill>
              </a:rPr>
              <a:t>extensions.example.com</a:t>
            </a:r>
            <a:r>
              <a:rPr lang="en-US" altLang="ko-KR" sz="1400" b="1" dirty="0"/>
              <a:t>” part is </a:t>
            </a:r>
            <a:r>
              <a:rPr lang="en-US" altLang="ko-KR" sz="1400" b="1" dirty="0">
                <a:solidFill>
                  <a:srgbClr val="FF0000"/>
                </a:solidFill>
              </a:rPr>
              <a:t>the API group of your resource</a:t>
            </a:r>
            <a:r>
              <a:rPr lang="en-US" altLang="ko-KR" sz="1400" dirty="0"/>
              <a:t>.</a:t>
            </a:r>
          </a:p>
          <a:p>
            <a:pPr lvl="1">
              <a:buFont typeface="Wingdings" panose="05000000000000000000" pitchFamily="2" charset="2"/>
              <a:buChar char="§"/>
            </a:pPr>
            <a:r>
              <a:rPr lang="en-US" altLang="ko-KR" sz="1400" b="1" dirty="0"/>
              <a:t>You’ve seen how creating Deployment objects requires you to set “</a:t>
            </a:r>
            <a:r>
              <a:rPr lang="en-US" altLang="ko-KR" sz="1400" b="1" dirty="0" err="1"/>
              <a:t>apiVersion</a:t>
            </a:r>
            <a:r>
              <a:rPr lang="en-US" altLang="ko-KR" sz="1400" b="1" dirty="0"/>
              <a:t>” to “</a:t>
            </a:r>
            <a:r>
              <a:rPr lang="en-US" altLang="ko-KR" sz="1400" b="1" dirty="0">
                <a:solidFill>
                  <a:srgbClr val="FF0000"/>
                </a:solidFill>
              </a:rPr>
              <a:t>apps/v1</a:t>
            </a:r>
            <a:r>
              <a:rPr lang="en-US" altLang="ko-KR" sz="1400" b="1" dirty="0"/>
              <a:t>” instead of “v1”</a:t>
            </a:r>
            <a:r>
              <a:rPr lang="en-US" altLang="ko-KR" sz="1400" dirty="0"/>
              <a:t>. </a:t>
            </a:r>
            <a:r>
              <a:rPr lang="en-US" altLang="ko-KR" sz="1400" b="1" dirty="0"/>
              <a:t>The part before the slash is the API group (Deployments belong to the apps API group), and the part after it is the version name</a:t>
            </a:r>
            <a:r>
              <a:rPr lang="en-US" altLang="ko-KR" sz="1400" dirty="0"/>
              <a:t> (“</a:t>
            </a:r>
            <a:r>
              <a:rPr lang="en-US" altLang="ko-KR" sz="1400" b="1" dirty="0"/>
              <a:t>v1</a:t>
            </a:r>
            <a:r>
              <a:rPr lang="en-US" altLang="ko-KR" sz="1400" dirty="0"/>
              <a:t>” </a:t>
            </a:r>
            <a:r>
              <a:rPr lang="en-US" altLang="ko-KR" sz="1400" b="1" dirty="0"/>
              <a:t>in the case of Deployments</a:t>
            </a:r>
            <a:r>
              <a:rPr lang="en-US" altLang="ko-KR" sz="1400" dirty="0"/>
              <a:t>). </a:t>
            </a:r>
            <a:r>
              <a:rPr lang="en-US" altLang="ko-KR" sz="1400" b="1" dirty="0"/>
              <a:t>When creating instances of the custom “</a:t>
            </a:r>
            <a:r>
              <a:rPr lang="en-US" altLang="ko-KR" sz="1400" b="1" dirty="0">
                <a:solidFill>
                  <a:srgbClr val="FF0000"/>
                </a:solidFill>
              </a:rPr>
              <a:t>Website</a:t>
            </a:r>
            <a:r>
              <a:rPr lang="en-US" altLang="ko-KR" sz="1400" b="1" dirty="0"/>
              <a:t>” resource, the “</a:t>
            </a:r>
            <a:r>
              <a:rPr lang="en-US" altLang="ko-KR" sz="1400" b="1" dirty="0" err="1">
                <a:solidFill>
                  <a:srgbClr val="FF0000"/>
                </a:solidFill>
              </a:rPr>
              <a:t>apiVersion</a:t>
            </a:r>
            <a:r>
              <a:rPr lang="en-US" altLang="ko-KR" sz="1400" b="1" dirty="0"/>
              <a:t>” property will need to be set to “</a:t>
            </a:r>
            <a:r>
              <a:rPr lang="en-US" altLang="ko-KR" sz="1400" b="1" dirty="0">
                <a:solidFill>
                  <a:srgbClr val="FF0000"/>
                </a:solidFill>
              </a:rPr>
              <a:t>extensions.example.com/v1</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15D5B07-B480-C79C-A1F3-0CFA9A5B4EB6}"/>
              </a:ext>
            </a:extLst>
          </p:cNvPr>
          <p:cNvPicPr>
            <a:picLocks noChangeAspect="1"/>
          </p:cNvPicPr>
          <p:nvPr/>
        </p:nvPicPr>
        <p:blipFill>
          <a:blip r:embed="rId2"/>
          <a:stretch>
            <a:fillRect/>
          </a:stretch>
        </p:blipFill>
        <p:spPr>
          <a:xfrm>
            <a:off x="3656167" y="3162812"/>
            <a:ext cx="4879666" cy="3246218"/>
          </a:xfrm>
          <a:prstGeom prst="rect">
            <a:avLst/>
          </a:prstGeom>
        </p:spPr>
      </p:pic>
    </p:spTree>
    <p:extLst>
      <p:ext uri="{BB962C8B-B14F-4D97-AF65-F5344CB8AC3E}">
        <p14:creationId xmlns:p14="http://schemas.microsoft.com/office/powerpoint/2010/main" val="201780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an Instance of a Custom Resource :</a:t>
            </a:r>
            <a:endParaRPr lang="en-US" altLang="ko-KR" sz="1400" dirty="0"/>
          </a:p>
          <a:p>
            <a:pPr lvl="1">
              <a:buFont typeface="Wingdings" panose="05000000000000000000" pitchFamily="2" charset="2"/>
              <a:buChar char="§"/>
            </a:pPr>
            <a:r>
              <a:rPr lang="en-US" altLang="ko-KR" sz="1400" dirty="0"/>
              <a:t>Considering what you learned, </a:t>
            </a:r>
            <a:r>
              <a:rPr lang="en-US" altLang="ko-KR" sz="1400" b="1" dirty="0"/>
              <a:t>you’ll now create a proper YAML for your “Website” resource instance</a:t>
            </a:r>
            <a:r>
              <a:rPr lang="en-US" altLang="ko-KR" sz="1400" dirty="0"/>
              <a:t>. The YAML manifest is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“kind” of your resource is “Website”, and the “</a:t>
            </a:r>
            <a:r>
              <a:rPr lang="en-US" altLang="ko-KR" sz="1400" b="1" dirty="0" err="1"/>
              <a:t>apiVersion</a:t>
            </a:r>
            <a:r>
              <a:rPr lang="en-US" altLang="ko-KR" sz="1400" b="1" dirty="0"/>
              <a:t>” is composed of the “API group” and the “version number” you defined in the “</a:t>
            </a:r>
            <a:r>
              <a:rPr lang="en-US" altLang="ko-KR" sz="1400" b="1" dirty="0" err="1"/>
              <a:t>CustomResourceDefinition</a:t>
            </a:r>
            <a:r>
              <a:rPr lang="en-US" altLang="ko-KR" sz="1400" b="1" dirty="0"/>
              <a:t>”</a:t>
            </a:r>
            <a:r>
              <a:rPr lang="en-US" altLang="ko-KR" sz="1400" dirty="0"/>
              <a:t>. Create your “</a:t>
            </a:r>
            <a:r>
              <a:rPr lang="en-US" altLang="ko-KR" sz="1400" b="1" dirty="0"/>
              <a:t>Website</a:t>
            </a:r>
            <a:r>
              <a:rPr lang="en-US" altLang="ko-KR" sz="1400" dirty="0"/>
              <a:t>” object now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response tells you that the “API server” has accepted and stored your custom “Website” object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4DF5924-2D63-6D71-74CF-97D6B0F5B3CC}"/>
              </a:ext>
            </a:extLst>
          </p:cNvPr>
          <p:cNvGrpSpPr/>
          <p:nvPr/>
        </p:nvGrpSpPr>
        <p:grpSpPr>
          <a:xfrm>
            <a:off x="3047326" y="1654709"/>
            <a:ext cx="6097348" cy="1015663"/>
            <a:chOff x="3047326" y="1792274"/>
            <a:chExt cx="6097348" cy="1015663"/>
          </a:xfrm>
        </p:grpSpPr>
        <p:sp>
          <p:nvSpPr>
            <p:cNvPr id="8" name="TextBox 7">
              <a:extLst>
                <a:ext uri="{FF2B5EF4-FFF2-40B4-BE49-F238E27FC236}">
                  <a16:creationId xmlns:a16="http://schemas.microsoft.com/office/drawing/2014/main" id="{E3830A0C-B1C1-C641-4A3B-32A2C9A5D6D9}"/>
                </a:ext>
              </a:extLst>
            </p:cNvPr>
            <p:cNvSpPr txBox="1"/>
            <p:nvPr/>
          </p:nvSpPr>
          <p:spPr>
            <a:xfrm>
              <a:off x="3047326" y="1792274"/>
              <a:ext cx="6097348" cy="1015663"/>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extensions.example.com/v1</a:t>
              </a:r>
            </a:p>
            <a:p>
              <a:r>
                <a:rPr lang="en-US" altLang="ko-KR" sz="1000" b="1" dirty="0"/>
                <a:t>kind: </a:t>
              </a:r>
              <a:r>
                <a:rPr lang="en-US" altLang="ko-KR" sz="1000" b="1" dirty="0">
                  <a:solidFill>
                    <a:srgbClr val="FF0000"/>
                  </a:solidFill>
                </a:rPr>
                <a:t>Website</a:t>
              </a:r>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t>  </a:t>
              </a:r>
              <a:r>
                <a:rPr lang="en-US" altLang="ko-KR" sz="1000" b="1" dirty="0" err="1"/>
                <a:t>gitRepo</a:t>
              </a:r>
              <a:r>
                <a:rPr lang="en-US" altLang="ko-KR" sz="1000" b="1" dirty="0"/>
                <a:t>: https://github.com/knix008/Website-Example.git</a:t>
              </a:r>
            </a:p>
          </p:txBody>
        </p:sp>
        <p:sp>
          <p:nvSpPr>
            <p:cNvPr id="9" name="TextBox 8">
              <a:extLst>
                <a:ext uri="{FF2B5EF4-FFF2-40B4-BE49-F238E27FC236}">
                  <a16:creationId xmlns:a16="http://schemas.microsoft.com/office/drawing/2014/main" id="{44944018-CEE3-5D23-FA73-77D0B88E1EFB}"/>
                </a:ext>
              </a:extLst>
            </p:cNvPr>
            <p:cNvSpPr txBox="1"/>
            <p:nvPr/>
          </p:nvSpPr>
          <p:spPr>
            <a:xfrm>
              <a:off x="7780197" y="1792274"/>
              <a:ext cx="1364477" cy="246221"/>
            </a:xfrm>
            <a:prstGeom prst="rect">
              <a:avLst/>
            </a:prstGeom>
            <a:noFill/>
          </p:spPr>
          <p:txBody>
            <a:bodyPr wrap="none" rtlCol="0">
              <a:spAutoFit/>
            </a:bodyPr>
            <a:lstStyle/>
            <a:p>
              <a:pPr algn="ctr"/>
              <a:r>
                <a:rPr lang="en-US" altLang="ko-KR" sz="1000" b="1" dirty="0" err="1"/>
                <a:t>kubia-website.yaml</a:t>
              </a:r>
              <a:endParaRPr lang="ko-KR" altLang="en-US" sz="1000" b="1" dirty="0"/>
            </a:p>
          </p:txBody>
        </p:sp>
      </p:grpSp>
      <p:grpSp>
        <p:nvGrpSpPr>
          <p:cNvPr id="18" name="그룹 17">
            <a:extLst>
              <a:ext uri="{FF2B5EF4-FFF2-40B4-BE49-F238E27FC236}">
                <a16:creationId xmlns:a16="http://schemas.microsoft.com/office/drawing/2014/main" id="{444CDB49-A638-A3D6-0759-B92E178A8A2E}"/>
              </a:ext>
            </a:extLst>
          </p:cNvPr>
          <p:cNvGrpSpPr/>
          <p:nvPr/>
        </p:nvGrpSpPr>
        <p:grpSpPr>
          <a:xfrm>
            <a:off x="838200" y="3433658"/>
            <a:ext cx="10515600" cy="2240062"/>
            <a:chOff x="838200" y="3803843"/>
            <a:chExt cx="10515600" cy="2240062"/>
          </a:xfrm>
        </p:grpSpPr>
        <p:grpSp>
          <p:nvGrpSpPr>
            <p:cNvPr id="16" name="그룹 15">
              <a:extLst>
                <a:ext uri="{FF2B5EF4-FFF2-40B4-BE49-F238E27FC236}">
                  <a16:creationId xmlns:a16="http://schemas.microsoft.com/office/drawing/2014/main" id="{3E7948D1-B45A-C1A3-7128-38238281F645}"/>
                </a:ext>
              </a:extLst>
            </p:cNvPr>
            <p:cNvGrpSpPr/>
            <p:nvPr/>
          </p:nvGrpSpPr>
          <p:grpSpPr>
            <a:xfrm>
              <a:off x="838200" y="3803843"/>
              <a:ext cx="10515600" cy="2240062"/>
              <a:chOff x="838200" y="3803843"/>
              <a:chExt cx="10515600" cy="2240062"/>
            </a:xfrm>
          </p:grpSpPr>
          <p:sp>
            <p:nvSpPr>
              <p:cNvPr id="12" name="TextBox 11">
                <a:extLst>
                  <a:ext uri="{FF2B5EF4-FFF2-40B4-BE49-F238E27FC236}">
                    <a16:creationId xmlns:a16="http://schemas.microsoft.com/office/drawing/2014/main" id="{2967656E-2367-0143-411A-EE2061B297F7}"/>
                  </a:ext>
                </a:extLst>
              </p:cNvPr>
              <p:cNvSpPr txBox="1"/>
              <p:nvPr/>
            </p:nvSpPr>
            <p:spPr>
              <a:xfrm>
                <a:off x="3047326" y="3803843"/>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kubia-website.yaml</a:t>
                </a:r>
                <a:endParaRPr lang="ko-KR" altLang="en-US" sz="1000" b="1" dirty="0">
                  <a:solidFill>
                    <a:srgbClr val="FF0000"/>
                  </a:solidFill>
                </a:endParaRPr>
              </a:p>
            </p:txBody>
          </p:sp>
          <p:pic>
            <p:nvPicPr>
              <p:cNvPr id="14" name="그림 13">
                <a:extLst>
                  <a:ext uri="{FF2B5EF4-FFF2-40B4-BE49-F238E27FC236}">
                    <a16:creationId xmlns:a16="http://schemas.microsoft.com/office/drawing/2014/main" id="{49A9CA17-069A-D707-7361-F48331C1DD3F}"/>
                  </a:ext>
                </a:extLst>
              </p:cNvPr>
              <p:cNvPicPr>
                <a:picLocks noChangeAspect="1"/>
              </p:cNvPicPr>
              <p:nvPr/>
            </p:nvPicPr>
            <p:blipFill>
              <a:blip r:embed="rId2"/>
              <a:stretch>
                <a:fillRect/>
              </a:stretch>
            </p:blipFill>
            <p:spPr>
              <a:xfrm>
                <a:off x="838200" y="4376987"/>
                <a:ext cx="10515600" cy="1666918"/>
              </a:xfrm>
              <a:prstGeom prst="rect">
                <a:avLst/>
              </a:prstGeom>
            </p:spPr>
          </p:pic>
          <p:sp>
            <p:nvSpPr>
              <p:cNvPr id="15" name="화살표: 아래쪽 14">
                <a:extLst>
                  <a:ext uri="{FF2B5EF4-FFF2-40B4-BE49-F238E27FC236}">
                    <a16:creationId xmlns:a16="http://schemas.microsoft.com/office/drawing/2014/main" id="{A730D959-13FA-BEF8-3429-0AF2EAA35FAF}"/>
                  </a:ext>
                </a:extLst>
              </p:cNvPr>
              <p:cNvSpPr/>
              <p:nvPr/>
            </p:nvSpPr>
            <p:spPr>
              <a:xfrm>
                <a:off x="5853684" y="4050064"/>
                <a:ext cx="484632" cy="32692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직사각형 16">
              <a:extLst>
                <a:ext uri="{FF2B5EF4-FFF2-40B4-BE49-F238E27FC236}">
                  <a16:creationId xmlns:a16="http://schemas.microsoft.com/office/drawing/2014/main" id="{20E2949B-BFD4-F2AE-D6EB-5828A2C3B24C}"/>
                </a:ext>
              </a:extLst>
            </p:cNvPr>
            <p:cNvSpPr/>
            <p:nvPr/>
          </p:nvSpPr>
          <p:spPr>
            <a:xfrm>
              <a:off x="4798577" y="5445222"/>
              <a:ext cx="3390563" cy="2111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54852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Retrieving Instances of a Custom Resource :</a:t>
            </a:r>
            <a:endParaRPr lang="en-US" altLang="ko-KR" sz="1400" dirty="0"/>
          </a:p>
          <a:p>
            <a:pPr lvl="1">
              <a:buFont typeface="Wingdings" panose="05000000000000000000" pitchFamily="2" charset="2"/>
              <a:buChar char="§"/>
            </a:pPr>
            <a:r>
              <a:rPr lang="en-US" altLang="ko-KR" sz="1400" b="1" dirty="0"/>
              <a:t>List all the “websites” in your cluster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DA480772-6893-ADB7-64E0-157573C9EDCB}"/>
              </a:ext>
            </a:extLst>
          </p:cNvPr>
          <p:cNvGrpSpPr/>
          <p:nvPr/>
        </p:nvGrpSpPr>
        <p:grpSpPr>
          <a:xfrm>
            <a:off x="838200" y="2125312"/>
            <a:ext cx="10515600" cy="2607376"/>
            <a:chOff x="838200" y="1514662"/>
            <a:chExt cx="10515600" cy="2607376"/>
          </a:xfrm>
        </p:grpSpPr>
        <p:grpSp>
          <p:nvGrpSpPr>
            <p:cNvPr id="14" name="그룹 13">
              <a:extLst>
                <a:ext uri="{FF2B5EF4-FFF2-40B4-BE49-F238E27FC236}">
                  <a16:creationId xmlns:a16="http://schemas.microsoft.com/office/drawing/2014/main" id="{D7923B59-DB1B-0AB5-15B7-FD0062370CB3}"/>
                </a:ext>
              </a:extLst>
            </p:cNvPr>
            <p:cNvGrpSpPr/>
            <p:nvPr/>
          </p:nvGrpSpPr>
          <p:grpSpPr>
            <a:xfrm>
              <a:off x="838200" y="1514662"/>
              <a:ext cx="10515600" cy="2607376"/>
              <a:chOff x="838200" y="1563214"/>
              <a:chExt cx="10515600" cy="2607376"/>
            </a:xfrm>
          </p:grpSpPr>
          <p:grpSp>
            <p:nvGrpSpPr>
              <p:cNvPr id="12" name="그룹 11">
                <a:extLst>
                  <a:ext uri="{FF2B5EF4-FFF2-40B4-BE49-F238E27FC236}">
                    <a16:creationId xmlns:a16="http://schemas.microsoft.com/office/drawing/2014/main" id="{1DA23B76-B412-7BD4-16E6-8A8C742D730A}"/>
                  </a:ext>
                </a:extLst>
              </p:cNvPr>
              <p:cNvGrpSpPr/>
              <p:nvPr/>
            </p:nvGrpSpPr>
            <p:grpSpPr>
              <a:xfrm>
                <a:off x="838200" y="1563214"/>
                <a:ext cx="10515600" cy="2607376"/>
                <a:chOff x="838200" y="1563214"/>
                <a:chExt cx="10515600" cy="2607376"/>
              </a:xfrm>
            </p:grpSpPr>
            <p:sp>
              <p:nvSpPr>
                <p:cNvPr id="8" name="TextBox 7">
                  <a:extLst>
                    <a:ext uri="{FF2B5EF4-FFF2-40B4-BE49-F238E27FC236}">
                      <a16:creationId xmlns:a16="http://schemas.microsoft.com/office/drawing/2014/main" id="{4B24BB36-AD1D-88A7-15C3-CF7B4026D89D}"/>
                    </a:ext>
                  </a:extLst>
                </p:cNvPr>
                <p:cNvSpPr txBox="1"/>
                <p:nvPr/>
              </p:nvSpPr>
              <p:spPr>
                <a:xfrm>
                  <a:off x="3047326" y="1563214"/>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a:solidFill>
                        <a:srgbClr val="FF0000"/>
                      </a:solidFill>
                    </a:rPr>
                    <a:t>websites</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B4FCC72B-AE2E-6D94-B543-30CF7F28D700}"/>
                    </a:ext>
                  </a:extLst>
                </p:cNvPr>
                <p:cNvPicPr>
                  <a:picLocks noChangeAspect="1"/>
                </p:cNvPicPr>
                <p:nvPr/>
              </p:nvPicPr>
              <p:blipFill>
                <a:blip r:embed="rId2"/>
                <a:stretch>
                  <a:fillRect/>
                </a:stretch>
              </p:blipFill>
              <p:spPr>
                <a:xfrm>
                  <a:off x="838200" y="2137574"/>
                  <a:ext cx="10515600" cy="2033016"/>
                </a:xfrm>
                <a:prstGeom prst="rect">
                  <a:avLst/>
                </a:prstGeom>
              </p:spPr>
            </p:pic>
            <p:sp>
              <p:nvSpPr>
                <p:cNvPr id="11" name="화살표: 아래쪽 10">
                  <a:extLst>
                    <a:ext uri="{FF2B5EF4-FFF2-40B4-BE49-F238E27FC236}">
                      <a16:creationId xmlns:a16="http://schemas.microsoft.com/office/drawing/2014/main" id="{DE94FDBD-5E57-772D-7696-9AD0229AF200}"/>
                    </a:ext>
                  </a:extLst>
                </p:cNvPr>
                <p:cNvSpPr/>
                <p:nvPr/>
              </p:nvSpPr>
              <p:spPr>
                <a:xfrm>
                  <a:off x="5865377" y="1813448"/>
                  <a:ext cx="461246" cy="32412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3464B400-3191-D4D4-8354-5CA807F9A49E}"/>
                  </a:ext>
                </a:extLst>
              </p:cNvPr>
              <p:cNvSpPr/>
              <p:nvPr/>
            </p:nvSpPr>
            <p:spPr>
              <a:xfrm>
                <a:off x="4798577" y="3461368"/>
                <a:ext cx="1359462" cy="228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A123BAA0-B39E-97D1-6B92-0C79DD43470B}"/>
                </a:ext>
              </a:extLst>
            </p:cNvPr>
            <p:cNvSpPr/>
            <p:nvPr/>
          </p:nvSpPr>
          <p:spPr>
            <a:xfrm>
              <a:off x="854384" y="3591718"/>
              <a:ext cx="1055336" cy="3005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88938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Retrieving Instances of a Custom Resource :</a:t>
            </a:r>
            <a:endParaRPr lang="en-US" altLang="ko-KR" sz="1400" dirty="0"/>
          </a:p>
          <a:p>
            <a:pPr lvl="1">
              <a:buFont typeface="Wingdings" panose="05000000000000000000" pitchFamily="2" charset="2"/>
              <a:buChar char="§"/>
            </a:pPr>
            <a:r>
              <a:rPr lang="en-US" altLang="ko-KR" sz="1400" dirty="0"/>
              <a:t>As with existing Kubernetes resources, you can create and then list instances of custom resources. </a:t>
            </a:r>
            <a:r>
              <a:rPr lang="en-US" altLang="ko-KR" sz="1400" b="1" dirty="0"/>
              <a:t>You can also use “$ </a:t>
            </a:r>
            <a:r>
              <a:rPr lang="en-US" altLang="ko-KR" sz="1400" b="1" dirty="0" err="1"/>
              <a:t>kubectl</a:t>
            </a:r>
            <a:r>
              <a:rPr lang="en-US" altLang="ko-KR" sz="1400" b="1" dirty="0"/>
              <a:t> describe” command to see the details of your custom object, or retrieve the whole YAML with “$ </a:t>
            </a:r>
            <a:r>
              <a:rPr lang="en-US" altLang="ko-KR" sz="1400" b="1" dirty="0" err="1"/>
              <a:t>kubectl</a:t>
            </a:r>
            <a:r>
              <a:rPr lang="en-US" altLang="ko-KR" sz="1400" b="1" dirty="0"/>
              <a:t> get” command</a:t>
            </a:r>
            <a:r>
              <a:rPr lang="en-US" altLang="ko-KR" sz="1400" dirty="0"/>
              <a:t>, as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resource includes everything that was in the original YAML definition, and that Kubernetes has initialized additional metadata fields the way it does with all other resources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C157E83-AD27-B828-D086-86E0D8785ACF}"/>
              </a:ext>
            </a:extLst>
          </p:cNvPr>
          <p:cNvGrpSpPr/>
          <p:nvPr/>
        </p:nvGrpSpPr>
        <p:grpSpPr>
          <a:xfrm>
            <a:off x="838200" y="1937342"/>
            <a:ext cx="10515600" cy="2983315"/>
            <a:chOff x="838200" y="1937342"/>
            <a:chExt cx="10515600" cy="2983315"/>
          </a:xfrm>
        </p:grpSpPr>
        <p:pic>
          <p:nvPicPr>
            <p:cNvPr id="8" name="그림 7">
              <a:extLst>
                <a:ext uri="{FF2B5EF4-FFF2-40B4-BE49-F238E27FC236}">
                  <a16:creationId xmlns:a16="http://schemas.microsoft.com/office/drawing/2014/main" id="{310D7807-F7DB-EAE9-E3FB-EAA0BBDC58CB}"/>
                </a:ext>
              </a:extLst>
            </p:cNvPr>
            <p:cNvPicPr>
              <a:picLocks noChangeAspect="1"/>
            </p:cNvPicPr>
            <p:nvPr/>
          </p:nvPicPr>
          <p:blipFill>
            <a:blip r:embed="rId2"/>
            <a:stretch>
              <a:fillRect/>
            </a:stretch>
          </p:blipFill>
          <p:spPr>
            <a:xfrm>
              <a:off x="838200" y="1937342"/>
              <a:ext cx="10515600" cy="2983315"/>
            </a:xfrm>
            <a:prstGeom prst="rect">
              <a:avLst/>
            </a:prstGeom>
          </p:spPr>
        </p:pic>
        <p:sp>
          <p:nvSpPr>
            <p:cNvPr id="9" name="직사각형 8">
              <a:extLst>
                <a:ext uri="{FF2B5EF4-FFF2-40B4-BE49-F238E27FC236}">
                  <a16:creationId xmlns:a16="http://schemas.microsoft.com/office/drawing/2014/main" id="{3B5E861F-91A3-E81F-8F92-58A5B3209175}"/>
                </a:ext>
              </a:extLst>
            </p:cNvPr>
            <p:cNvSpPr/>
            <p:nvPr/>
          </p:nvSpPr>
          <p:spPr>
            <a:xfrm>
              <a:off x="4806669" y="3002145"/>
              <a:ext cx="2176758" cy="2265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97630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an Instance of a Custom Object :</a:t>
            </a:r>
            <a:endParaRPr lang="en-US" altLang="ko-KR" sz="1400" dirty="0"/>
          </a:p>
          <a:p>
            <a:pPr lvl="1">
              <a:buFont typeface="Wingdings" panose="05000000000000000000" pitchFamily="2" charset="2"/>
              <a:buChar char="§"/>
            </a:pPr>
            <a:r>
              <a:rPr lang="en-US" altLang="ko-KR" sz="1400" dirty="0"/>
              <a:t>Obviously, in addition to </a:t>
            </a:r>
            <a:r>
              <a:rPr lang="en-US" altLang="ko-KR" sz="1400" b="1" dirty="0"/>
              <a:t>creating</a:t>
            </a:r>
            <a:r>
              <a:rPr lang="en-US" altLang="ko-KR" sz="1400" dirty="0"/>
              <a:t> and </a:t>
            </a:r>
            <a:r>
              <a:rPr lang="en-US" altLang="ko-KR" sz="1400" b="1" dirty="0"/>
              <a:t>retrieving</a:t>
            </a:r>
            <a:r>
              <a:rPr lang="en-US" altLang="ko-KR" sz="1400" dirty="0"/>
              <a:t> custom object instances, you can also </a:t>
            </a:r>
            <a:r>
              <a:rPr lang="en-US" altLang="ko-KR" sz="1400" b="1" dirty="0"/>
              <a:t>delete</a:t>
            </a:r>
            <a:r>
              <a:rPr lang="en-US" altLang="ko-KR" sz="1400" dirty="0"/>
              <a:t> them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You’re deleting an instance of a Website, not the Website CRD resource</a:t>
            </a:r>
            <a:r>
              <a:rPr lang="en-US" altLang="ko-KR" sz="1400" dirty="0"/>
              <a:t>. You could also delete the CRD object itself, but let’s hold off on that for a while, because you’ll be creating additional Website instances later.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66A852A7-08EA-F2DA-EC6D-C5C761C09B25}"/>
              </a:ext>
            </a:extLst>
          </p:cNvPr>
          <p:cNvGrpSpPr/>
          <p:nvPr/>
        </p:nvGrpSpPr>
        <p:grpSpPr>
          <a:xfrm>
            <a:off x="838200" y="1555122"/>
            <a:ext cx="10515600" cy="2053055"/>
            <a:chOff x="838200" y="1555122"/>
            <a:chExt cx="10515600" cy="2053055"/>
          </a:xfrm>
        </p:grpSpPr>
        <p:grpSp>
          <p:nvGrpSpPr>
            <p:cNvPr id="10" name="그룹 9">
              <a:extLst>
                <a:ext uri="{FF2B5EF4-FFF2-40B4-BE49-F238E27FC236}">
                  <a16:creationId xmlns:a16="http://schemas.microsoft.com/office/drawing/2014/main" id="{960E9750-B382-DCCC-5A7B-3A383F2C5928}"/>
                </a:ext>
              </a:extLst>
            </p:cNvPr>
            <p:cNvGrpSpPr/>
            <p:nvPr/>
          </p:nvGrpSpPr>
          <p:grpSpPr>
            <a:xfrm>
              <a:off x="3047326" y="1555122"/>
              <a:ext cx="6097348" cy="573082"/>
              <a:chOff x="3047326" y="1555122"/>
              <a:chExt cx="6097348" cy="573082"/>
            </a:xfrm>
          </p:grpSpPr>
          <p:sp>
            <p:nvSpPr>
              <p:cNvPr id="8" name="TextBox 7">
                <a:extLst>
                  <a:ext uri="{FF2B5EF4-FFF2-40B4-BE49-F238E27FC236}">
                    <a16:creationId xmlns:a16="http://schemas.microsoft.com/office/drawing/2014/main" id="{E1A4144B-184A-CE00-B089-10CE9F554CF6}"/>
                  </a:ext>
                </a:extLst>
              </p:cNvPr>
              <p:cNvSpPr txBox="1"/>
              <p:nvPr/>
            </p:nvSpPr>
            <p:spPr>
              <a:xfrm>
                <a:off x="3047326" y="1555122"/>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a:solidFill>
                      <a:srgbClr val="FF0000"/>
                    </a:solidFill>
                  </a:rPr>
                  <a:t>website </a:t>
                </a:r>
                <a:r>
                  <a:rPr lang="en-US" altLang="ko-KR" sz="1000" b="1" dirty="0" err="1">
                    <a:solidFill>
                      <a:srgbClr val="FF0000"/>
                    </a:solidFill>
                  </a:rPr>
                  <a:t>kubia</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9934206D-53A7-4CEA-2507-6D5ACC9176DA}"/>
                  </a:ext>
                </a:extLst>
              </p:cNvPr>
              <p:cNvSpPr/>
              <p:nvPr/>
            </p:nvSpPr>
            <p:spPr>
              <a:xfrm>
                <a:off x="5853239" y="1820707"/>
                <a:ext cx="485522" cy="3074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A72BE75A-A0D6-562C-AC37-FCD255FA09B2}"/>
                </a:ext>
              </a:extLst>
            </p:cNvPr>
            <p:cNvPicPr>
              <a:picLocks noChangeAspect="1"/>
            </p:cNvPicPr>
            <p:nvPr/>
          </p:nvPicPr>
          <p:blipFill>
            <a:blip r:embed="rId2"/>
            <a:stretch>
              <a:fillRect/>
            </a:stretch>
          </p:blipFill>
          <p:spPr>
            <a:xfrm>
              <a:off x="838200" y="2128204"/>
              <a:ext cx="10515600" cy="1479973"/>
            </a:xfrm>
            <a:prstGeom prst="rect">
              <a:avLst/>
            </a:prstGeom>
          </p:spPr>
        </p:pic>
      </p:grpSp>
    </p:spTree>
    <p:extLst>
      <p:ext uri="{BB962C8B-B14F-4D97-AF65-F5344CB8AC3E}">
        <p14:creationId xmlns:p14="http://schemas.microsoft.com/office/powerpoint/2010/main" val="2924800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an Instance of a Custom Object :</a:t>
            </a:r>
            <a:endParaRPr lang="en-US" altLang="ko-KR" sz="1400" dirty="0"/>
          </a:p>
          <a:p>
            <a:pPr lvl="1">
              <a:buFont typeface="Wingdings" panose="05000000000000000000" pitchFamily="2" charset="2"/>
              <a:buChar char="§"/>
            </a:pPr>
            <a:r>
              <a:rPr lang="en-US" altLang="ko-KR" sz="1400" b="1" dirty="0"/>
              <a:t>By creating a “</a:t>
            </a:r>
            <a:r>
              <a:rPr lang="en-US" altLang="ko-KR" sz="1400" b="1" dirty="0" err="1">
                <a:solidFill>
                  <a:srgbClr val="FF0000"/>
                </a:solidFill>
              </a:rPr>
              <a:t>CustomResourceDefinition</a:t>
            </a:r>
            <a:r>
              <a:rPr lang="en-US" altLang="ko-KR" sz="1400" b="1" dirty="0"/>
              <a:t>” object, you can now store, retrieve, and delete custom objects through the Kubernetes API server</a:t>
            </a:r>
            <a:r>
              <a:rPr lang="en-US" altLang="ko-KR" sz="1400" dirty="0"/>
              <a:t>. These objects don’t do anything yet. </a:t>
            </a:r>
            <a:r>
              <a:rPr lang="en-US" altLang="ko-KR" sz="1400" b="1" dirty="0"/>
              <a:t>You’ll need to create a </a:t>
            </a:r>
            <a:r>
              <a:rPr lang="en-US" altLang="ko-KR" sz="1400" b="1" dirty="0">
                <a:solidFill>
                  <a:srgbClr val="FF0000"/>
                </a:solidFill>
              </a:rPr>
              <a:t>controller</a:t>
            </a:r>
            <a:r>
              <a:rPr lang="en-US" altLang="ko-KR" sz="1400" b="1" dirty="0"/>
              <a:t> to make them do something</a:t>
            </a:r>
            <a:r>
              <a:rPr lang="en-US" altLang="ko-KR" sz="1400" dirty="0"/>
              <a:t>.</a:t>
            </a:r>
          </a:p>
          <a:p>
            <a:pPr lvl="1">
              <a:buFont typeface="Wingdings" panose="05000000000000000000" pitchFamily="2" charset="2"/>
              <a:buChar char="§"/>
            </a:pPr>
            <a:r>
              <a:rPr lang="en-US" altLang="ko-KR" sz="1400" dirty="0"/>
              <a:t>In general, the point of creating custom objects like this isn’t always to make something happen when the object is created. </a:t>
            </a:r>
            <a:r>
              <a:rPr lang="en-US" altLang="ko-KR" sz="1400" b="1" dirty="0"/>
              <a:t>Certain custom objects are used to store data instead of using a more generic mechanism such as a “</a:t>
            </a:r>
            <a:r>
              <a:rPr lang="en-US" altLang="ko-KR" sz="1400" b="1" dirty="0" err="1"/>
              <a:t>ConfigMap</a:t>
            </a:r>
            <a:r>
              <a:rPr lang="en-US" altLang="ko-KR" sz="1400" b="1" dirty="0"/>
              <a:t>”</a:t>
            </a:r>
            <a:r>
              <a:rPr lang="en-US" altLang="ko-KR" sz="1400" dirty="0"/>
              <a:t>. </a:t>
            </a:r>
            <a:r>
              <a:rPr lang="en-US" altLang="ko-KR" sz="1400" b="1" dirty="0"/>
              <a:t>Applications running inside pods can query the API server for those objects and read whatever is stored in them</a:t>
            </a:r>
            <a:r>
              <a:rPr lang="en-US" altLang="ko-KR" sz="1400" dirty="0"/>
              <a:t>.</a:t>
            </a:r>
          </a:p>
          <a:p>
            <a:pPr lvl="1">
              <a:buFont typeface="Wingdings" panose="05000000000000000000" pitchFamily="2" charset="2"/>
              <a:buChar char="§"/>
            </a:pPr>
            <a:r>
              <a:rPr lang="en-US" altLang="ko-KR" sz="1400" dirty="0"/>
              <a:t>But in this case, we said you wanted the existence of </a:t>
            </a:r>
            <a:r>
              <a:rPr lang="en-US" altLang="ko-KR" sz="1400" b="1" dirty="0"/>
              <a:t>a “Website” object to result in the spinning up of a web server serving the contents of the “Git repository” referenced in the object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A495294-FE84-9E7E-1407-935E3B64481E}"/>
              </a:ext>
            </a:extLst>
          </p:cNvPr>
          <p:cNvPicPr>
            <a:picLocks noChangeAspect="1"/>
          </p:cNvPicPr>
          <p:nvPr/>
        </p:nvPicPr>
        <p:blipFill>
          <a:blip r:embed="rId2"/>
          <a:stretch>
            <a:fillRect/>
          </a:stretch>
        </p:blipFill>
        <p:spPr>
          <a:xfrm>
            <a:off x="3286125" y="3429000"/>
            <a:ext cx="5619750" cy="2219325"/>
          </a:xfrm>
          <a:prstGeom prst="rect">
            <a:avLst/>
          </a:prstGeom>
        </p:spPr>
      </p:pic>
    </p:spTree>
    <p:extLst>
      <p:ext uri="{BB962C8B-B14F-4D97-AF65-F5344CB8AC3E}">
        <p14:creationId xmlns:p14="http://schemas.microsoft.com/office/powerpoint/2010/main" val="1756250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Automating Custom Resources with Custom Controllers :</a:t>
            </a:r>
            <a:endParaRPr lang="en-US" altLang="ko-KR" sz="1400" dirty="0"/>
          </a:p>
          <a:p>
            <a:pPr lvl="1">
              <a:buFont typeface="Wingdings" panose="05000000000000000000" pitchFamily="2" charset="2"/>
              <a:buChar char="§"/>
            </a:pPr>
            <a:r>
              <a:rPr lang="en-US" altLang="ko-KR" sz="1400" b="1" dirty="0"/>
              <a:t>To make your ”Website objects” run a web server pod exposed through a “</a:t>
            </a:r>
            <a:r>
              <a:rPr lang="en-US" altLang="ko-KR" sz="1400" b="1" dirty="0">
                <a:solidFill>
                  <a:srgbClr val="FF0000"/>
                </a:solidFill>
              </a:rPr>
              <a:t>Service</a:t>
            </a:r>
            <a:r>
              <a:rPr lang="en-US" altLang="ko-KR" sz="1400" b="1" dirty="0"/>
              <a:t>”, you’ll need to build and deploy a “Website controller”, which will </a:t>
            </a:r>
            <a:r>
              <a:rPr lang="en-US" altLang="ko-KR" sz="1400" b="1" dirty="0">
                <a:solidFill>
                  <a:srgbClr val="FF0000"/>
                </a:solidFill>
              </a:rPr>
              <a:t>watch</a:t>
            </a:r>
            <a:r>
              <a:rPr lang="en-US" altLang="ko-KR" sz="1400" b="1" dirty="0"/>
              <a:t> the API server for the creation of “Website objects” and then </a:t>
            </a:r>
            <a:r>
              <a:rPr lang="en-US" altLang="ko-KR" sz="1400" b="1" dirty="0">
                <a:solidFill>
                  <a:srgbClr val="FF0000"/>
                </a:solidFill>
              </a:rPr>
              <a:t>create the “Service” and the “web server Pod” for each of them</a:t>
            </a:r>
            <a:r>
              <a:rPr lang="en-US" altLang="ko-KR" sz="1400" dirty="0"/>
              <a:t>.</a:t>
            </a:r>
          </a:p>
          <a:p>
            <a:pPr lvl="1">
              <a:buFont typeface="Wingdings" panose="05000000000000000000" pitchFamily="2" charset="2"/>
              <a:buChar char="§"/>
            </a:pPr>
            <a:r>
              <a:rPr lang="en-US" altLang="ko-KR" sz="1400" b="1" dirty="0"/>
              <a:t>To make sure the Pod is managed and survives node failures, the controller will create a “Deployment” resource instead of an unmanaged Pod directly</a:t>
            </a:r>
            <a:r>
              <a:rPr lang="en-US" altLang="ko-KR" sz="1400" dirty="0"/>
              <a:t>. The controller’s operation is summarized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C5D5FE6A-3D6E-A159-3AE9-E40004F41C0F}"/>
              </a:ext>
            </a:extLst>
          </p:cNvPr>
          <p:cNvGrpSpPr/>
          <p:nvPr/>
        </p:nvGrpSpPr>
        <p:grpSpPr>
          <a:xfrm>
            <a:off x="4345858" y="2652339"/>
            <a:ext cx="3500284" cy="3106994"/>
            <a:chOff x="4345858" y="2652339"/>
            <a:chExt cx="3500284" cy="3106994"/>
          </a:xfrm>
        </p:grpSpPr>
        <p:pic>
          <p:nvPicPr>
            <p:cNvPr id="8" name="그림 7">
              <a:extLst>
                <a:ext uri="{FF2B5EF4-FFF2-40B4-BE49-F238E27FC236}">
                  <a16:creationId xmlns:a16="http://schemas.microsoft.com/office/drawing/2014/main" id="{7724D204-5213-C0F4-7F15-711F942E2FF3}"/>
                </a:ext>
              </a:extLst>
            </p:cNvPr>
            <p:cNvPicPr>
              <a:picLocks noChangeAspect="1"/>
            </p:cNvPicPr>
            <p:nvPr/>
          </p:nvPicPr>
          <p:blipFill>
            <a:blip r:embed="rId2"/>
            <a:stretch>
              <a:fillRect/>
            </a:stretch>
          </p:blipFill>
          <p:spPr>
            <a:xfrm>
              <a:off x="4345858" y="2652339"/>
              <a:ext cx="3500284" cy="3106994"/>
            </a:xfrm>
            <a:prstGeom prst="rect">
              <a:avLst/>
            </a:prstGeom>
          </p:spPr>
        </p:pic>
        <p:sp>
          <p:nvSpPr>
            <p:cNvPr id="9" name="직사각형 8">
              <a:extLst>
                <a:ext uri="{FF2B5EF4-FFF2-40B4-BE49-F238E27FC236}">
                  <a16:creationId xmlns:a16="http://schemas.microsoft.com/office/drawing/2014/main" id="{61BC64BE-30FC-1A0B-5B5C-160833157D51}"/>
                </a:ext>
              </a:extLst>
            </p:cNvPr>
            <p:cNvSpPr/>
            <p:nvPr/>
          </p:nvSpPr>
          <p:spPr>
            <a:xfrm>
              <a:off x="6497904" y="4232135"/>
              <a:ext cx="906308" cy="3965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47CA26AB-BA12-2C6F-F8B3-F9F886F4950B}"/>
                </a:ext>
              </a:extLst>
            </p:cNvPr>
            <p:cNvSpPr/>
            <p:nvPr/>
          </p:nvSpPr>
          <p:spPr>
            <a:xfrm>
              <a:off x="6497904" y="5047658"/>
              <a:ext cx="906308" cy="3965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41892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Automating Custom Resources with Custom Controllers :</a:t>
            </a:r>
            <a:endParaRPr lang="en-US" altLang="ko-KR" sz="1400" dirty="0"/>
          </a:p>
          <a:p>
            <a:pPr lvl="1">
              <a:buFont typeface="Wingdings" panose="05000000000000000000" pitchFamily="2" charset="2"/>
              <a:buChar char="§"/>
            </a:pPr>
            <a:r>
              <a:rPr lang="en-US" altLang="ko-KR" sz="1400" dirty="0"/>
              <a:t>The simple initial version of the controller works well enough to show CRDs and the controller in action, but it’s far from being production-ready, because it’s overly simplified. The container image is available at “</a:t>
            </a:r>
            <a:r>
              <a:rPr lang="en-US" altLang="ko-KR" sz="1400" b="1" dirty="0"/>
              <a:t>hub.docker.com/knix008/</a:t>
            </a:r>
            <a:r>
              <a:rPr lang="en-US" altLang="ko-KR" sz="1400" b="1" dirty="0" err="1"/>
              <a:t>website-controller:latest</a:t>
            </a:r>
            <a:r>
              <a:rPr lang="en-US" altLang="ko-KR" sz="1400" dirty="0"/>
              <a:t>”, and the source code is at “</a:t>
            </a:r>
            <a:r>
              <a:rPr lang="en-US" altLang="ko-KR" sz="1400" b="1" dirty="0"/>
              <a:t>https://github.com/knix008/</a:t>
            </a:r>
            <a:r>
              <a:rPr lang="en-US" altLang="ko-KR" sz="1400" b="1" dirty="0" err="1"/>
              <a:t>Kubernetes_In_Action</a:t>
            </a:r>
            <a:r>
              <a:rPr lang="en-US" altLang="ko-KR" sz="1400" b="1" dirty="0"/>
              <a:t>/Part10/Website-Controller</a:t>
            </a:r>
            <a:r>
              <a:rPr lang="en-US" altLang="ko-KR" sz="1400" dirty="0"/>
              <a:t>”.</a:t>
            </a:r>
          </a:p>
          <a:p>
            <a:pPr lvl="1">
              <a:buFont typeface="Wingdings" panose="05000000000000000000" pitchFamily="2" charset="2"/>
              <a:buChar char="§"/>
            </a:pPr>
            <a:r>
              <a:rPr lang="en-US" altLang="ko-KR" sz="1400" b="1" dirty="0"/>
              <a:t>NOTICE : Before you run “$ make” command in the project directory, be sure that your Go compiler is installed after deleting previous version of Go compiler completely</a:t>
            </a:r>
            <a:r>
              <a:rPr lang="en-US" altLang="ko-KR" sz="1400" dirty="0"/>
              <a:t>.</a:t>
            </a:r>
          </a:p>
          <a:p>
            <a:pPr lvl="1">
              <a:buFont typeface="Wingdings" panose="05000000000000000000" pitchFamily="2" charset="2"/>
              <a:buChar char="§"/>
            </a:pPr>
            <a:r>
              <a:rPr lang="en-US" altLang="ko-KR" sz="1400" dirty="0"/>
              <a:t>To build binary and docker image, just run “</a:t>
            </a:r>
            <a:r>
              <a:rPr lang="en-US" altLang="ko-KR" sz="1400" b="1" dirty="0"/>
              <a:t>$ make image</a:t>
            </a:r>
            <a:r>
              <a:rPr lang="en-US" altLang="ko-KR" sz="1400" dirty="0"/>
              <a:t>” command in the project directory. After that, you need to login “</a:t>
            </a:r>
            <a:r>
              <a:rPr lang="en-US" altLang="ko-KR" sz="1400" b="1" dirty="0"/>
              <a:t>docker hub</a:t>
            </a:r>
            <a:r>
              <a:rPr lang="en-US" altLang="ko-KR" sz="1400" dirty="0"/>
              <a:t>”. Then, run “</a:t>
            </a:r>
            <a:r>
              <a:rPr lang="en-US" altLang="ko-KR" sz="1400" b="1" dirty="0"/>
              <a:t>docker push</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F088388-E520-0D22-2A52-D9CB398719F2}"/>
              </a:ext>
            </a:extLst>
          </p:cNvPr>
          <p:cNvPicPr>
            <a:picLocks noChangeAspect="1"/>
          </p:cNvPicPr>
          <p:nvPr/>
        </p:nvPicPr>
        <p:blipFill>
          <a:blip r:embed="rId2"/>
          <a:stretch>
            <a:fillRect/>
          </a:stretch>
        </p:blipFill>
        <p:spPr>
          <a:xfrm>
            <a:off x="838200" y="3155268"/>
            <a:ext cx="10515600" cy="2687319"/>
          </a:xfrm>
          <a:prstGeom prst="rect">
            <a:avLst/>
          </a:prstGeom>
        </p:spPr>
      </p:pic>
    </p:spTree>
    <p:extLst>
      <p:ext uri="{BB962C8B-B14F-4D97-AF65-F5344CB8AC3E}">
        <p14:creationId xmlns:p14="http://schemas.microsoft.com/office/powerpoint/2010/main" val="4249237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Docker Hub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Website Controller Registration :</a:t>
            </a:r>
            <a:endParaRPr lang="en-US" altLang="ko-KR" sz="1400" dirty="0"/>
          </a:p>
          <a:p>
            <a:pPr lvl="1">
              <a:buFont typeface="Wingdings" panose="05000000000000000000" pitchFamily="2" charset="2"/>
              <a:buChar char="§"/>
            </a:pPr>
            <a:r>
              <a:rPr lang="en-US" altLang="ko-KR" sz="1400" dirty="0"/>
              <a:t>After finishing the previous step, you can </a:t>
            </a:r>
            <a:r>
              <a:rPr lang="en-US" altLang="ko-KR" sz="1400" b="1" dirty="0"/>
              <a:t>check your docker image in your docker hub repository </a:t>
            </a:r>
            <a:r>
              <a:rPr lang="en-US" altLang="ko-KR" sz="1400" dirty="0"/>
              <a:t>like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679C631-759D-D54F-D2EB-4A01FD4E3723}"/>
              </a:ext>
            </a:extLst>
          </p:cNvPr>
          <p:cNvGrpSpPr/>
          <p:nvPr/>
        </p:nvGrpSpPr>
        <p:grpSpPr>
          <a:xfrm>
            <a:off x="838200" y="1720641"/>
            <a:ext cx="10515600" cy="4542340"/>
            <a:chOff x="838200" y="1720641"/>
            <a:chExt cx="10515600" cy="4542340"/>
          </a:xfrm>
        </p:grpSpPr>
        <p:pic>
          <p:nvPicPr>
            <p:cNvPr id="8" name="그림 7">
              <a:extLst>
                <a:ext uri="{FF2B5EF4-FFF2-40B4-BE49-F238E27FC236}">
                  <a16:creationId xmlns:a16="http://schemas.microsoft.com/office/drawing/2014/main" id="{9E7558C8-B9BD-43B6-3C3E-B49AAA7FB790}"/>
                </a:ext>
              </a:extLst>
            </p:cNvPr>
            <p:cNvPicPr>
              <a:picLocks noChangeAspect="1"/>
            </p:cNvPicPr>
            <p:nvPr/>
          </p:nvPicPr>
          <p:blipFill>
            <a:blip r:embed="rId2"/>
            <a:stretch>
              <a:fillRect/>
            </a:stretch>
          </p:blipFill>
          <p:spPr>
            <a:xfrm>
              <a:off x="838200" y="1720641"/>
              <a:ext cx="10515600" cy="4542340"/>
            </a:xfrm>
            <a:prstGeom prst="rect">
              <a:avLst/>
            </a:prstGeom>
          </p:spPr>
        </p:pic>
        <p:sp>
          <p:nvSpPr>
            <p:cNvPr id="9" name="직사각형 8">
              <a:extLst>
                <a:ext uri="{FF2B5EF4-FFF2-40B4-BE49-F238E27FC236}">
                  <a16:creationId xmlns:a16="http://schemas.microsoft.com/office/drawing/2014/main" id="{6DCCF19A-A582-67A6-115A-07242489016F}"/>
                </a:ext>
              </a:extLst>
            </p:cNvPr>
            <p:cNvSpPr/>
            <p:nvPr/>
          </p:nvSpPr>
          <p:spPr>
            <a:xfrm>
              <a:off x="1181437" y="3827533"/>
              <a:ext cx="7226188" cy="7363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04299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What the Website Controller Does :</a:t>
            </a:r>
            <a:endParaRPr lang="en-US" altLang="ko-KR" sz="1400" dirty="0"/>
          </a:p>
          <a:p>
            <a:pPr lvl="1">
              <a:buFont typeface="Wingdings" panose="05000000000000000000" pitchFamily="2" charset="2"/>
              <a:buChar char="§"/>
            </a:pPr>
            <a:r>
              <a:rPr lang="en-US" altLang="ko-KR" sz="1400" b="1" dirty="0"/>
              <a:t>Immediately upon startup, the controller starts to </a:t>
            </a:r>
            <a:r>
              <a:rPr lang="en-US" altLang="ko-KR" sz="1400" b="1" dirty="0">
                <a:solidFill>
                  <a:srgbClr val="FF0000"/>
                </a:solidFill>
              </a:rPr>
              <a:t>watch “Website objects”</a:t>
            </a:r>
            <a:r>
              <a:rPr lang="en-US" altLang="ko-KR" sz="1400" b="1" dirty="0"/>
              <a:t> by requesting the following URL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 may recognize the “hostname” and “port”—the controller isn’t connecting to the “API server” directly, but is instead connecting to the “</a:t>
            </a:r>
            <a:r>
              <a:rPr lang="en-US" altLang="ko-KR" sz="1400" b="1" dirty="0" err="1"/>
              <a:t>kubectl</a:t>
            </a:r>
            <a:r>
              <a:rPr lang="en-US" altLang="ko-KR" sz="1400" b="1" dirty="0"/>
              <a:t> proxy” process</a:t>
            </a:r>
            <a:r>
              <a:rPr lang="en-US" altLang="ko-KR" sz="1400" dirty="0"/>
              <a:t>, </a:t>
            </a:r>
            <a:r>
              <a:rPr lang="en-US" altLang="ko-KR" sz="1400" b="1" dirty="0"/>
              <a:t>which runs in a “sidecar container” in the same pod and acts as the “ambassador” to the “API server” (we examined the “ambassador pattern”)</a:t>
            </a:r>
            <a:r>
              <a:rPr lang="en-US" altLang="ko-KR" sz="1400" dirty="0"/>
              <a:t>. The proxy forwards the request to the API server, taking care of both “</a:t>
            </a:r>
            <a:r>
              <a:rPr lang="en-US" altLang="ko-KR" sz="1400" b="1" dirty="0"/>
              <a:t>TLS encryption and authentication</a:t>
            </a:r>
            <a:r>
              <a:rPr lang="en-US" altLang="ko-KR" sz="1400" dirty="0"/>
              <a:t>” (see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D8480C4-975A-2161-8799-ABDE56FEBE38}"/>
              </a:ext>
            </a:extLst>
          </p:cNvPr>
          <p:cNvSpPr txBox="1"/>
          <p:nvPr/>
        </p:nvSpPr>
        <p:spPr>
          <a:xfrm>
            <a:off x="3047326" y="1594647"/>
            <a:ext cx="6097348" cy="246221"/>
          </a:xfrm>
          <a:prstGeom prst="rect">
            <a:avLst/>
          </a:prstGeom>
          <a:noFill/>
          <a:ln>
            <a:solidFill>
              <a:schemeClr val="bg1">
                <a:lumMod val="50000"/>
              </a:schemeClr>
            </a:solidFill>
          </a:ln>
        </p:spPr>
        <p:txBody>
          <a:bodyPr wrap="square">
            <a:spAutoFit/>
          </a:bodyPr>
          <a:lstStyle/>
          <a:p>
            <a:r>
              <a:rPr lang="en-US" altLang="ko-KR" sz="1000" b="1" dirty="0"/>
              <a:t>http://localhost:8001/</a:t>
            </a:r>
            <a:r>
              <a:rPr lang="en-US" altLang="ko-KR" sz="1000" b="1" dirty="0">
                <a:solidFill>
                  <a:srgbClr val="FF0000"/>
                </a:solidFill>
              </a:rPr>
              <a:t>apis/extensions.example.com/v1/websites?watch=true</a:t>
            </a:r>
          </a:p>
        </p:txBody>
      </p:sp>
      <p:pic>
        <p:nvPicPr>
          <p:cNvPr id="10" name="그림 9">
            <a:extLst>
              <a:ext uri="{FF2B5EF4-FFF2-40B4-BE49-F238E27FC236}">
                <a16:creationId xmlns:a16="http://schemas.microsoft.com/office/drawing/2014/main" id="{795CD305-CD68-5103-C01D-855CF672BAC4}"/>
              </a:ext>
            </a:extLst>
          </p:cNvPr>
          <p:cNvPicPr>
            <a:picLocks noChangeAspect="1"/>
          </p:cNvPicPr>
          <p:nvPr/>
        </p:nvPicPr>
        <p:blipFill>
          <a:blip r:embed="rId2"/>
          <a:stretch>
            <a:fillRect/>
          </a:stretch>
        </p:blipFill>
        <p:spPr>
          <a:xfrm>
            <a:off x="2871019" y="3205633"/>
            <a:ext cx="6449961" cy="1838632"/>
          </a:xfrm>
          <a:prstGeom prst="rect">
            <a:avLst/>
          </a:prstGeom>
        </p:spPr>
      </p:pic>
    </p:spTree>
    <p:extLst>
      <p:ext uri="{BB962C8B-B14F-4D97-AF65-F5344CB8AC3E}">
        <p14:creationId xmlns:p14="http://schemas.microsoft.com/office/powerpoint/2010/main" val="2099994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What the Website Controller Does :</a:t>
            </a:r>
            <a:endParaRPr lang="en-US" altLang="ko-KR" sz="1400" dirty="0"/>
          </a:p>
          <a:p>
            <a:pPr lvl="1">
              <a:buFont typeface="Wingdings" panose="05000000000000000000" pitchFamily="2" charset="2"/>
              <a:buChar char="§"/>
            </a:pPr>
            <a:r>
              <a:rPr lang="en-US" altLang="ko-KR" sz="1400" b="1" dirty="0"/>
              <a:t>Through the connection opened by this “HTTP GET request”, the API server will send watch events for every change to any “Website” object</a:t>
            </a:r>
            <a:r>
              <a:rPr lang="en-US" altLang="ko-KR" sz="1400" dirty="0"/>
              <a:t>.</a:t>
            </a:r>
          </a:p>
          <a:p>
            <a:pPr lvl="1">
              <a:buFont typeface="Wingdings" panose="05000000000000000000" pitchFamily="2" charset="2"/>
              <a:buChar char="§"/>
            </a:pPr>
            <a:r>
              <a:rPr lang="en-US" altLang="ko-KR" sz="1400" b="1" dirty="0"/>
              <a:t>The API server sends the “ADDED” watch event every time a new Website object is created. When the controller receives such an event, it extracts the “Website’s name” and “the URL of the Git repository” from “the Website object” it received in the watch event and creates a “Deployment” and a “Service” object by posting their JSON manifests to the API server</a:t>
            </a:r>
            <a:r>
              <a:rPr lang="en-US" altLang="ko-KR" sz="1400" dirty="0"/>
              <a:t>.</a:t>
            </a:r>
          </a:p>
          <a:p>
            <a:pPr lvl="1">
              <a:buFont typeface="Wingdings" panose="05000000000000000000" pitchFamily="2" charset="2"/>
              <a:buChar char="§"/>
            </a:pPr>
            <a:r>
              <a:rPr lang="en-US" altLang="ko-KR" sz="1400" dirty="0"/>
              <a:t>The Deployment resource contains a template for a pod with two containers (shown in the following figure) : </a:t>
            </a:r>
            <a:r>
              <a:rPr lang="en-US" altLang="ko-KR" sz="1400" b="1" dirty="0"/>
              <a:t>one running an “nginx” server and another one running a “</a:t>
            </a:r>
            <a:r>
              <a:rPr lang="en-US" altLang="ko-KR" sz="1400" b="1" dirty="0" err="1"/>
              <a:t>gitsync</a:t>
            </a:r>
            <a:r>
              <a:rPr lang="en-US" altLang="ko-KR" sz="1400" b="1" dirty="0"/>
              <a:t>” process, which keeps a local directory synced with the contents of a Git repo</a:t>
            </a:r>
            <a:r>
              <a:rPr lang="en-US" altLang="ko-KR" sz="1400" dirty="0"/>
              <a:t>. </a:t>
            </a:r>
            <a:r>
              <a:rPr lang="en-US" altLang="ko-KR" sz="1400" b="1" dirty="0"/>
              <a:t>The local directory is shared with the nginx container through an “</a:t>
            </a:r>
            <a:r>
              <a:rPr lang="en-US" altLang="ko-KR" sz="1400" b="1" dirty="0" err="1"/>
              <a:t>emptyDir</a:t>
            </a:r>
            <a:r>
              <a:rPr lang="en-US" altLang="ko-KR" sz="1400" b="1" dirty="0"/>
              <a:t>” volume</a:t>
            </a:r>
            <a:r>
              <a:rPr lang="en-US" altLang="ko-KR" sz="1400" dirty="0"/>
              <a:t> (you did something similar, but instead of keeping the local directory synced with a Git repo, you used a </a:t>
            </a:r>
            <a:r>
              <a:rPr lang="en-US" altLang="ko-KR" sz="1400" b="1" dirty="0"/>
              <a:t>“</a:t>
            </a:r>
            <a:r>
              <a:rPr lang="en-US" altLang="ko-KR" sz="1400" b="1" dirty="0" err="1"/>
              <a:t>gitRepo</a:t>
            </a:r>
            <a:r>
              <a:rPr lang="en-US" altLang="ko-KR" sz="1400" b="1" dirty="0"/>
              <a:t> volume” to download the Git repo’s contents at pod startup</a:t>
            </a:r>
            <a:r>
              <a:rPr lang="en-US" altLang="ko-KR" sz="1400" dirty="0"/>
              <a:t>; </a:t>
            </a:r>
            <a:r>
              <a:rPr lang="en-US" altLang="ko-KR" sz="1400" b="1" dirty="0"/>
              <a:t>the volume’s contents weren’t kept in sync with the Git repo afterward</a:t>
            </a:r>
            <a:r>
              <a:rPr lang="en-US" altLang="ko-KR" sz="1400" dirty="0"/>
              <a:t>). </a:t>
            </a:r>
            <a:r>
              <a:rPr lang="en-US" altLang="ko-KR" sz="1400" b="1" dirty="0"/>
              <a:t>The Service is a “</a:t>
            </a:r>
            <a:r>
              <a:rPr lang="en-US" altLang="ko-KR" sz="1400" b="1" dirty="0" err="1"/>
              <a:t>NodePort</a:t>
            </a:r>
            <a:r>
              <a:rPr lang="en-US" altLang="ko-KR" sz="1400" b="1" dirty="0"/>
              <a:t>” Service</a:t>
            </a:r>
            <a:r>
              <a:rPr lang="en-US" altLang="ko-KR" sz="1400" dirty="0"/>
              <a:t>, </a:t>
            </a:r>
            <a:r>
              <a:rPr lang="en-US" altLang="ko-KR" sz="1400" b="1" dirty="0"/>
              <a:t>which exposes your web server pod through a random port on each node (the same port is used on all nodes)</a:t>
            </a:r>
            <a:r>
              <a:rPr lang="en-US" altLang="ko-KR" sz="1400" dirty="0"/>
              <a:t>. </a:t>
            </a:r>
            <a:r>
              <a:rPr lang="en-US" altLang="ko-KR" sz="1400" b="1" dirty="0"/>
              <a:t>When a pod is created by the Deployment object, clients can access the website through the node port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6938452-2851-8774-21FE-3736A313028A}"/>
              </a:ext>
            </a:extLst>
          </p:cNvPr>
          <p:cNvGrpSpPr/>
          <p:nvPr/>
        </p:nvGrpSpPr>
        <p:grpSpPr>
          <a:xfrm>
            <a:off x="4275031" y="4027763"/>
            <a:ext cx="3641938" cy="2381267"/>
            <a:chOff x="4275031" y="4027763"/>
            <a:chExt cx="3641938" cy="2381267"/>
          </a:xfrm>
        </p:grpSpPr>
        <p:pic>
          <p:nvPicPr>
            <p:cNvPr id="8" name="그림 7">
              <a:extLst>
                <a:ext uri="{FF2B5EF4-FFF2-40B4-BE49-F238E27FC236}">
                  <a16:creationId xmlns:a16="http://schemas.microsoft.com/office/drawing/2014/main" id="{BD69B5A7-D016-8CE0-0982-5DDB63CBE612}"/>
                </a:ext>
              </a:extLst>
            </p:cNvPr>
            <p:cNvPicPr>
              <a:picLocks noChangeAspect="1"/>
            </p:cNvPicPr>
            <p:nvPr/>
          </p:nvPicPr>
          <p:blipFill>
            <a:blip r:embed="rId2"/>
            <a:stretch>
              <a:fillRect/>
            </a:stretch>
          </p:blipFill>
          <p:spPr>
            <a:xfrm>
              <a:off x="4275031" y="4027763"/>
              <a:ext cx="3641938" cy="2381267"/>
            </a:xfrm>
            <a:prstGeom prst="rect">
              <a:avLst/>
            </a:prstGeom>
          </p:spPr>
        </p:pic>
        <p:sp>
          <p:nvSpPr>
            <p:cNvPr id="9" name="직사각형 8">
              <a:extLst>
                <a:ext uri="{FF2B5EF4-FFF2-40B4-BE49-F238E27FC236}">
                  <a16:creationId xmlns:a16="http://schemas.microsoft.com/office/drawing/2014/main" id="{8D9E81BC-03AE-4DD6-F2F1-52063A2EBCA9}"/>
                </a:ext>
              </a:extLst>
            </p:cNvPr>
            <p:cNvSpPr/>
            <p:nvPr/>
          </p:nvSpPr>
          <p:spPr>
            <a:xfrm>
              <a:off x="5413572" y="4830945"/>
              <a:ext cx="776835" cy="7768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96845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What the Website Controller Does :</a:t>
            </a:r>
            <a:endParaRPr lang="en-US" altLang="ko-KR" sz="1400" dirty="0"/>
          </a:p>
          <a:p>
            <a:pPr lvl="1">
              <a:buFont typeface="Wingdings" panose="05000000000000000000" pitchFamily="2" charset="2"/>
              <a:buChar char="§"/>
            </a:pPr>
            <a:r>
              <a:rPr lang="en-US" altLang="ko-KR" sz="1400" b="1" dirty="0"/>
              <a:t>The API server also sends a “</a:t>
            </a:r>
            <a:r>
              <a:rPr lang="en-US" altLang="ko-KR" sz="1400" b="1" dirty="0">
                <a:solidFill>
                  <a:srgbClr val="FF0000"/>
                </a:solidFill>
              </a:rPr>
              <a:t>DELETED</a:t>
            </a:r>
            <a:r>
              <a:rPr lang="en-US" altLang="ko-KR" sz="1400" b="1" dirty="0"/>
              <a:t>” watch event when a “Website” resource instance is deleted</a:t>
            </a:r>
            <a:r>
              <a:rPr lang="en-US" altLang="ko-KR" sz="1400" dirty="0"/>
              <a:t>. </a:t>
            </a:r>
            <a:r>
              <a:rPr lang="en-US" altLang="ko-KR" sz="1400" b="1" dirty="0"/>
              <a:t>Upon receiving the event, the controller deletes the Deployment and the Service resources it created earlier</a:t>
            </a:r>
            <a:r>
              <a:rPr lang="en-US" altLang="ko-KR" sz="1400" dirty="0"/>
              <a:t>. </a:t>
            </a:r>
            <a:r>
              <a:rPr lang="en-US" altLang="ko-KR" sz="1400" b="1" dirty="0"/>
              <a:t>As soon as a user deletes the “Website” instance, the controller will shut down and remove the web server serving that website</a:t>
            </a:r>
            <a:r>
              <a:rPr lang="en-US" altLang="ko-KR" sz="1400" dirty="0"/>
              <a:t>.</a:t>
            </a:r>
          </a:p>
          <a:p>
            <a:pPr lvl="1">
              <a:buFont typeface="Wingdings" panose="05000000000000000000" pitchFamily="2" charset="2"/>
              <a:buChar char="§"/>
            </a:pPr>
            <a:r>
              <a:rPr lang="en-US" altLang="ko-KR" sz="1400" b="1" dirty="0"/>
              <a:t>NOTE : The oversimplified controller isn’t implemented properly. The way it watches the API objects doesn’t guarantee it won’t miss individual watch events</a:t>
            </a:r>
            <a:r>
              <a:rPr lang="en-US" altLang="ko-KR" sz="1400" dirty="0"/>
              <a:t>. </a:t>
            </a:r>
            <a:r>
              <a:rPr lang="en-US" altLang="ko-KR" sz="1400" b="1" dirty="0"/>
              <a:t>The proper way to watch objects through the API server is to not only watch them, but also </a:t>
            </a:r>
            <a:r>
              <a:rPr lang="en-US" altLang="ko-KR" sz="1400" b="1" dirty="0">
                <a:solidFill>
                  <a:srgbClr val="FF0000"/>
                </a:solidFill>
              </a:rPr>
              <a:t>periodically re-list all objects</a:t>
            </a:r>
            <a:r>
              <a:rPr lang="en-US" altLang="ko-KR" sz="1400" b="1" dirty="0"/>
              <a:t> in case any watch events were missed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1920536-DFAB-8E5C-CCAA-619DA95D2C8E}"/>
              </a:ext>
            </a:extLst>
          </p:cNvPr>
          <p:cNvPicPr>
            <a:picLocks noChangeAspect="1"/>
          </p:cNvPicPr>
          <p:nvPr/>
        </p:nvPicPr>
        <p:blipFill>
          <a:blip r:embed="rId2"/>
          <a:stretch>
            <a:fillRect/>
          </a:stretch>
        </p:blipFill>
        <p:spPr>
          <a:xfrm>
            <a:off x="3694351" y="3116519"/>
            <a:ext cx="4803297" cy="2669833"/>
          </a:xfrm>
          <a:prstGeom prst="rect">
            <a:avLst/>
          </a:prstGeom>
        </p:spPr>
      </p:pic>
    </p:spTree>
    <p:extLst>
      <p:ext uri="{BB962C8B-B14F-4D97-AF65-F5344CB8AC3E}">
        <p14:creationId xmlns:p14="http://schemas.microsoft.com/office/powerpoint/2010/main" val="1139058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the Controller as a Pod :</a:t>
            </a:r>
            <a:endParaRPr lang="en-US" altLang="ko-KR" sz="1400" dirty="0"/>
          </a:p>
          <a:p>
            <a:pPr lvl="1">
              <a:buFont typeface="Wingdings" panose="05000000000000000000" pitchFamily="2" charset="2"/>
              <a:buChar char="§"/>
            </a:pPr>
            <a:r>
              <a:rPr lang="en-US" altLang="ko-KR" sz="1400" b="1" dirty="0"/>
              <a:t>During development, you can the controller on your local development laptop and use a locally running “</a:t>
            </a:r>
            <a:r>
              <a:rPr lang="en-US" altLang="ko-KR" sz="1400" b="1" dirty="0" err="1"/>
              <a:t>kubectl</a:t>
            </a:r>
            <a:r>
              <a:rPr lang="en-US" altLang="ko-KR" sz="1400" b="1" dirty="0"/>
              <a:t> proxy” process (not running as a pod) as the ambassador to the Kubernetes API server</a:t>
            </a:r>
            <a:r>
              <a:rPr lang="en-US" altLang="ko-KR" sz="1400" dirty="0"/>
              <a:t>. This allows you to develop quickly, because you don’t need to build a container image after every change to the source code and then run it inside Kubernetes.</a:t>
            </a:r>
          </a:p>
          <a:p>
            <a:pPr lvl="1">
              <a:buFont typeface="Wingdings" panose="05000000000000000000" pitchFamily="2" charset="2"/>
              <a:buChar char="§"/>
            </a:pPr>
            <a:r>
              <a:rPr lang="en-US" altLang="ko-KR" sz="1400" b="1" dirty="0"/>
              <a:t>When you are ready to deploy the controller into production, the best way is to run the controller inside Kubernetes itself, the way you do with all the other core controllers</a:t>
            </a:r>
            <a:r>
              <a:rPr lang="en-US" altLang="ko-KR" sz="1400" dirty="0"/>
              <a:t>. </a:t>
            </a:r>
            <a:r>
              <a:rPr lang="en-US" altLang="ko-KR" sz="1400" b="1" dirty="0">
                <a:solidFill>
                  <a:srgbClr val="FF0000"/>
                </a:solidFill>
              </a:rPr>
              <a:t>To run the controller in Kubernetes, you can deploy it through a “Deployment” resource</a:t>
            </a:r>
            <a:r>
              <a:rPr lang="en-US" altLang="ko-KR" sz="1400" dirty="0"/>
              <a:t>. The following listing shows an example of such a Deployment.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2B133247-E207-AEE2-E296-97D273A04D31}"/>
              </a:ext>
            </a:extLst>
          </p:cNvPr>
          <p:cNvGrpSpPr/>
          <p:nvPr/>
        </p:nvGrpSpPr>
        <p:grpSpPr>
          <a:xfrm>
            <a:off x="3047326" y="2963429"/>
            <a:ext cx="6097348" cy="2862322"/>
            <a:chOff x="3047326" y="2866324"/>
            <a:chExt cx="6097348" cy="2862322"/>
          </a:xfrm>
        </p:grpSpPr>
        <p:sp>
          <p:nvSpPr>
            <p:cNvPr id="8" name="TextBox 7">
              <a:extLst>
                <a:ext uri="{FF2B5EF4-FFF2-40B4-BE49-F238E27FC236}">
                  <a16:creationId xmlns:a16="http://schemas.microsoft.com/office/drawing/2014/main" id="{445306DD-BFDB-F126-2AF1-0D19D3B9AC81}"/>
                </a:ext>
              </a:extLst>
            </p:cNvPr>
            <p:cNvSpPr txBox="1"/>
            <p:nvPr/>
          </p:nvSpPr>
          <p:spPr>
            <a:xfrm>
              <a:off x="3047326" y="2866324"/>
              <a:ext cx="6097348" cy="286232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Deployment</a:t>
              </a:r>
            </a:p>
            <a:p>
              <a:r>
                <a:rPr lang="en-US" altLang="ko-KR" sz="1000" b="1" dirty="0"/>
                <a:t>metadata:</a:t>
              </a:r>
            </a:p>
            <a:p>
              <a:r>
                <a:rPr lang="en-US" altLang="ko-KR" sz="1000" b="1" dirty="0"/>
                <a:t>  name: website-controller</a:t>
              </a:r>
            </a:p>
            <a:p>
              <a:r>
                <a:rPr lang="en-US" altLang="ko-KR" sz="1000" b="1" dirty="0"/>
                <a:t>spec:</a:t>
              </a:r>
            </a:p>
            <a:p>
              <a:r>
                <a:rPr lang="en-US" altLang="ko-KR" sz="1000" b="1" dirty="0"/>
                <a:t>  replicas: 1</a:t>
              </a:r>
            </a:p>
            <a:p>
              <a:r>
                <a:rPr lang="en-US" altLang="ko-KR" sz="1000" b="1" dirty="0"/>
                <a:t>  template:</a:t>
              </a:r>
            </a:p>
            <a:p>
              <a:r>
                <a:rPr lang="en-US" altLang="ko-KR" sz="1000" b="1" dirty="0"/>
                <a:t>    metadata:</a:t>
              </a:r>
            </a:p>
            <a:p>
              <a:r>
                <a:rPr lang="en-US" altLang="ko-KR" sz="1000" b="1" dirty="0"/>
                <a:t>      name: website-controller</a:t>
              </a:r>
            </a:p>
            <a:p>
              <a:r>
                <a:rPr lang="en-US" altLang="ko-KR" sz="1000" b="1" dirty="0"/>
                <a:t>      labels:</a:t>
              </a:r>
            </a:p>
            <a:p>
              <a:r>
                <a:rPr lang="en-US" altLang="ko-KR" sz="1000" b="1" dirty="0"/>
                <a:t>        app: website-controller</a:t>
              </a:r>
            </a:p>
            <a:p>
              <a:r>
                <a:rPr lang="en-US" altLang="ko-KR" sz="1000" b="1" dirty="0"/>
                <a:t>    spec:</a:t>
              </a:r>
            </a:p>
            <a:p>
              <a:r>
                <a:rPr lang="en-US" altLang="ko-KR" sz="1000" b="1" dirty="0"/>
                <a:t>      </a:t>
              </a:r>
              <a:r>
                <a:rPr lang="en-US" altLang="ko-KR" sz="1000" b="1" dirty="0" err="1">
                  <a:solidFill>
                    <a:srgbClr val="FF0000"/>
                  </a:solidFill>
                </a:rPr>
                <a:t>serviceAccountName</a:t>
              </a:r>
              <a:r>
                <a:rPr lang="en-US" altLang="ko-KR" sz="1000" b="1" dirty="0">
                  <a:solidFill>
                    <a:srgbClr val="FF0000"/>
                  </a:solidFill>
                </a:rPr>
                <a:t>: website-controller</a:t>
              </a:r>
            </a:p>
            <a:p>
              <a:r>
                <a:rPr lang="en-US" altLang="ko-KR" sz="1000" b="1" dirty="0"/>
                <a:t>      containers:</a:t>
              </a:r>
            </a:p>
            <a:p>
              <a:r>
                <a:rPr lang="en-US" altLang="ko-KR" sz="1000" b="1" dirty="0"/>
                <a:t>      - name: main</a:t>
              </a:r>
            </a:p>
            <a:p>
              <a:r>
                <a:rPr lang="en-US" altLang="ko-KR" sz="1000" b="1" dirty="0"/>
                <a:t>        </a:t>
              </a:r>
              <a:r>
                <a:rPr lang="en-US" altLang="ko-KR" sz="1000" b="1" dirty="0">
                  <a:solidFill>
                    <a:srgbClr val="FF0000"/>
                  </a:solidFill>
                </a:rPr>
                <a:t>image: knix008/website-controller</a:t>
              </a:r>
            </a:p>
            <a:p>
              <a:r>
                <a:rPr lang="en-US" altLang="ko-KR" sz="1000" b="1" dirty="0"/>
                <a:t>      - name: proxy</a:t>
              </a:r>
            </a:p>
            <a:p>
              <a:r>
                <a:rPr lang="en-US" altLang="ko-KR" sz="1000" b="1" dirty="0"/>
                <a:t>        </a:t>
              </a:r>
              <a:r>
                <a:rPr lang="en-US" altLang="ko-KR" sz="1000" b="1" dirty="0">
                  <a:solidFill>
                    <a:srgbClr val="FF0000"/>
                  </a:solidFill>
                </a:rPr>
                <a:t>image: knix008/</a:t>
              </a:r>
              <a:r>
                <a:rPr lang="en-US" altLang="ko-KR" sz="1000" b="1" dirty="0" err="1">
                  <a:solidFill>
                    <a:srgbClr val="FF0000"/>
                  </a:solidFill>
                </a:rPr>
                <a:t>kubectl-proxy:latest</a:t>
              </a:r>
              <a:endParaRPr lang="en-US" altLang="ko-KR" sz="1000" b="1" dirty="0">
                <a:solidFill>
                  <a:srgbClr val="FF0000"/>
                </a:solidFill>
              </a:endParaRPr>
            </a:p>
          </p:txBody>
        </p:sp>
        <p:sp>
          <p:nvSpPr>
            <p:cNvPr id="9" name="TextBox 8">
              <a:extLst>
                <a:ext uri="{FF2B5EF4-FFF2-40B4-BE49-F238E27FC236}">
                  <a16:creationId xmlns:a16="http://schemas.microsoft.com/office/drawing/2014/main" id="{0D17EBDC-F152-2E2C-6CC3-E7241C119FE8}"/>
                </a:ext>
              </a:extLst>
            </p:cNvPr>
            <p:cNvSpPr txBox="1"/>
            <p:nvPr/>
          </p:nvSpPr>
          <p:spPr>
            <a:xfrm>
              <a:off x="7522114" y="2866324"/>
              <a:ext cx="1622560" cy="246221"/>
            </a:xfrm>
            <a:prstGeom prst="rect">
              <a:avLst/>
            </a:prstGeom>
            <a:noFill/>
          </p:spPr>
          <p:txBody>
            <a:bodyPr wrap="none" rtlCol="0">
              <a:spAutoFit/>
            </a:bodyPr>
            <a:lstStyle/>
            <a:p>
              <a:pPr algn="ctr"/>
              <a:r>
                <a:rPr lang="en-US" altLang="ko-KR" sz="1000" b="1" dirty="0"/>
                <a:t>website-</a:t>
              </a:r>
              <a:r>
                <a:rPr lang="en-US" altLang="ko-KR" sz="1000" b="1" dirty="0" err="1"/>
                <a:t>controller.yaml</a:t>
              </a:r>
              <a:endParaRPr lang="ko-KR" altLang="en-US" sz="1000" b="1" dirty="0"/>
            </a:p>
          </p:txBody>
        </p:sp>
      </p:grpSp>
    </p:spTree>
    <p:extLst>
      <p:ext uri="{BB962C8B-B14F-4D97-AF65-F5344CB8AC3E}">
        <p14:creationId xmlns:p14="http://schemas.microsoft.com/office/powerpoint/2010/main" val="101725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the Controller as a Pod :</a:t>
            </a:r>
            <a:endParaRPr lang="en-US" altLang="ko-KR" sz="1400" dirty="0"/>
          </a:p>
          <a:p>
            <a:pPr lvl="1">
              <a:buFont typeface="Wingdings" panose="05000000000000000000" pitchFamily="2" charset="2"/>
              <a:buChar char="§"/>
            </a:pPr>
            <a:r>
              <a:rPr lang="en-US" altLang="ko-KR" sz="1400" b="1" dirty="0"/>
              <a:t>As you can see, the Deployment deploys </a:t>
            </a:r>
            <a:r>
              <a:rPr lang="en-US" altLang="ko-KR" sz="1400" b="1" dirty="0">
                <a:solidFill>
                  <a:srgbClr val="FF0000"/>
                </a:solidFill>
              </a:rPr>
              <a:t>a single replica of a two-container pod</a:t>
            </a:r>
            <a:r>
              <a:rPr lang="en-US" altLang="ko-KR" sz="1400" dirty="0"/>
              <a:t>. </a:t>
            </a:r>
            <a:r>
              <a:rPr lang="en-US" altLang="ko-KR" sz="1400" b="1" dirty="0"/>
              <a:t>One container runs your controller, whereas the other one is the “ambassador” container used for simpler communication with the API server</a:t>
            </a:r>
            <a:r>
              <a:rPr lang="en-US" altLang="ko-KR" sz="1400" dirty="0"/>
              <a:t>. </a:t>
            </a:r>
            <a:r>
              <a:rPr lang="en-US" altLang="ko-KR" sz="1400" b="1" dirty="0"/>
              <a:t>The pod runs under its own special “</a:t>
            </a:r>
            <a:r>
              <a:rPr lang="en-US" altLang="ko-KR" sz="1400" b="1" dirty="0" err="1">
                <a:solidFill>
                  <a:srgbClr val="FF0000"/>
                </a:solidFill>
              </a:rPr>
              <a:t>ServiceAccount</a:t>
            </a:r>
            <a:r>
              <a:rPr lang="en-US" altLang="ko-KR" sz="1400" b="1" dirty="0"/>
              <a:t>”, </a:t>
            </a:r>
            <a:r>
              <a:rPr lang="en-US" altLang="ko-KR" sz="1400" b="1" dirty="0">
                <a:solidFill>
                  <a:srgbClr val="FF0000"/>
                </a:solidFill>
              </a:rPr>
              <a:t>so you’ll need to create it before you deploy the controller</a:t>
            </a:r>
            <a:r>
              <a:rPr lang="en-US" altLang="ko-KR" sz="1400" b="1" dirty="0"/>
              <a:t> </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D02FF40-B762-5C2B-5EC3-F087DA506F0B}"/>
              </a:ext>
            </a:extLst>
          </p:cNvPr>
          <p:cNvGrpSpPr/>
          <p:nvPr/>
        </p:nvGrpSpPr>
        <p:grpSpPr>
          <a:xfrm>
            <a:off x="838200" y="2380651"/>
            <a:ext cx="10515600" cy="2096698"/>
            <a:chOff x="838200" y="2121564"/>
            <a:chExt cx="10515600" cy="2096698"/>
          </a:xfrm>
        </p:grpSpPr>
        <p:sp>
          <p:nvSpPr>
            <p:cNvPr id="8" name="TextBox 7">
              <a:extLst>
                <a:ext uri="{FF2B5EF4-FFF2-40B4-BE49-F238E27FC236}">
                  <a16:creationId xmlns:a16="http://schemas.microsoft.com/office/drawing/2014/main" id="{3ED0D803-4679-7876-DDAD-AFF1015EB69C}"/>
                </a:ext>
              </a:extLst>
            </p:cNvPr>
            <p:cNvSpPr txBox="1"/>
            <p:nvPr/>
          </p:nvSpPr>
          <p:spPr>
            <a:xfrm>
              <a:off x="3047326" y="2121564"/>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serviceaccount</a:t>
              </a:r>
              <a:r>
                <a:rPr lang="en-US" altLang="ko-KR" sz="1000" b="1" dirty="0">
                  <a:solidFill>
                    <a:srgbClr val="FF0000"/>
                  </a:solidFill>
                </a:rPr>
                <a:t> website-controller</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9847DD7B-36D6-8499-99D9-3937812E00AA}"/>
                </a:ext>
              </a:extLst>
            </p:cNvPr>
            <p:cNvSpPr/>
            <p:nvPr/>
          </p:nvSpPr>
          <p:spPr>
            <a:xfrm>
              <a:off x="5833009" y="2379058"/>
              <a:ext cx="525982" cy="34795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40F0C711-B3AB-22F4-AA7C-5D8583F97DB2}"/>
                </a:ext>
              </a:extLst>
            </p:cNvPr>
            <p:cNvPicPr>
              <a:picLocks noChangeAspect="1"/>
            </p:cNvPicPr>
            <p:nvPr/>
          </p:nvPicPr>
          <p:blipFill>
            <a:blip r:embed="rId2"/>
            <a:stretch>
              <a:fillRect/>
            </a:stretch>
          </p:blipFill>
          <p:spPr>
            <a:xfrm>
              <a:off x="838200" y="2738289"/>
              <a:ext cx="10515600" cy="1479973"/>
            </a:xfrm>
            <a:prstGeom prst="rect">
              <a:avLst/>
            </a:prstGeom>
          </p:spPr>
        </p:pic>
      </p:grpSp>
    </p:spTree>
    <p:extLst>
      <p:ext uri="{BB962C8B-B14F-4D97-AF65-F5344CB8AC3E}">
        <p14:creationId xmlns:p14="http://schemas.microsoft.com/office/powerpoint/2010/main" val="2348737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the Controller as a Pod :</a:t>
            </a:r>
            <a:endParaRPr lang="en-US" altLang="ko-KR" sz="1400" dirty="0"/>
          </a:p>
          <a:p>
            <a:pPr lvl="1">
              <a:buFont typeface="Wingdings" panose="05000000000000000000" pitchFamily="2" charset="2"/>
              <a:buChar char="§"/>
            </a:pPr>
            <a:r>
              <a:rPr lang="en-US" altLang="ko-KR" sz="1400" b="1" dirty="0"/>
              <a:t>If “</a:t>
            </a:r>
            <a:r>
              <a:rPr lang="en-US" altLang="ko-KR" sz="1400" b="1" dirty="0">
                <a:solidFill>
                  <a:srgbClr val="FF0000"/>
                </a:solidFill>
              </a:rPr>
              <a:t>Role Based Access Control (RBAC)</a:t>
            </a:r>
            <a:r>
              <a:rPr lang="en-US" altLang="ko-KR" sz="1400" b="1" dirty="0"/>
              <a:t>” is enabled in your cluster, Kubernetes will not allow the controller to watch Website resources or create Deployments or Services</a:t>
            </a:r>
            <a:r>
              <a:rPr lang="en-US" altLang="ko-KR" sz="1400" dirty="0"/>
              <a:t>. </a:t>
            </a:r>
            <a:r>
              <a:rPr lang="en-US" altLang="ko-KR" sz="1400" b="1" dirty="0"/>
              <a:t>To allow it to do that, you’ll need to bind the “website-controller” </a:t>
            </a:r>
            <a:r>
              <a:rPr lang="en-US" altLang="ko-KR" sz="1400" b="1" dirty="0" err="1"/>
              <a:t>ServiceAccount</a:t>
            </a:r>
            <a:r>
              <a:rPr lang="en-US" altLang="ko-KR" sz="1400" b="1" dirty="0"/>
              <a:t> to the cluster-admin “</a:t>
            </a:r>
            <a:r>
              <a:rPr lang="en-US" altLang="ko-KR" sz="1400" b="1" dirty="0" err="1">
                <a:solidFill>
                  <a:srgbClr val="FF0000"/>
                </a:solidFill>
              </a:rPr>
              <a:t>ClusterRole</a:t>
            </a:r>
            <a:r>
              <a:rPr lang="en-US" altLang="ko-KR" sz="1400" b="1" dirty="0"/>
              <a:t>”, by creating a “</a:t>
            </a:r>
            <a:r>
              <a:rPr lang="en-US" altLang="ko-KR" sz="1400" b="1" dirty="0" err="1">
                <a:solidFill>
                  <a:srgbClr val="FF0000"/>
                </a:solidFill>
              </a:rPr>
              <a:t>ClusterRoleBinding</a:t>
            </a:r>
            <a:r>
              <a:rPr lang="en-US" altLang="ko-KR" sz="1400" b="1" dirty="0"/>
              <a:t>” </a:t>
            </a:r>
            <a:r>
              <a:rPr lang="en-US" altLang="ko-KR" sz="1400" dirty="0"/>
              <a:t>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Once you have the “</a:t>
            </a:r>
            <a:r>
              <a:rPr lang="en-US" altLang="ko-KR" sz="1400" b="1" dirty="0" err="1"/>
              <a:t>ServiceAccount</a:t>
            </a:r>
            <a:r>
              <a:rPr lang="en-US" altLang="ko-KR" sz="1400" b="1" dirty="0"/>
              <a:t>” and “</a:t>
            </a:r>
            <a:r>
              <a:rPr lang="en-US" altLang="ko-KR" sz="1400" b="1" dirty="0" err="1"/>
              <a:t>ClusterRoleBinding</a:t>
            </a:r>
            <a:r>
              <a:rPr lang="en-US" altLang="ko-KR" sz="1400" b="1" dirty="0"/>
              <a:t>” in place, you can deploy the controller’s Deployment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135D86F-C376-918D-53BB-B8B1E940F744}"/>
              </a:ext>
            </a:extLst>
          </p:cNvPr>
          <p:cNvGrpSpPr/>
          <p:nvPr/>
        </p:nvGrpSpPr>
        <p:grpSpPr>
          <a:xfrm>
            <a:off x="838200" y="2160154"/>
            <a:ext cx="10515600" cy="2029695"/>
            <a:chOff x="838200" y="2257259"/>
            <a:chExt cx="10515600" cy="2029695"/>
          </a:xfrm>
        </p:grpSpPr>
        <p:sp>
          <p:nvSpPr>
            <p:cNvPr id="8" name="TextBox 7">
              <a:extLst>
                <a:ext uri="{FF2B5EF4-FFF2-40B4-BE49-F238E27FC236}">
                  <a16:creationId xmlns:a16="http://schemas.microsoft.com/office/drawing/2014/main" id="{D3ADCF24-D778-4955-669D-A0BA0D6BB2B0}"/>
                </a:ext>
              </a:extLst>
            </p:cNvPr>
            <p:cNvSpPr txBox="1"/>
            <p:nvPr/>
          </p:nvSpPr>
          <p:spPr>
            <a:xfrm>
              <a:off x="2105615" y="2257259"/>
              <a:ext cx="7980770"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clusterrolebinding</a:t>
              </a:r>
              <a:r>
                <a:rPr lang="en-US" altLang="ko-KR" sz="1000" b="1" dirty="0"/>
                <a:t> website-controller </a:t>
              </a:r>
              <a:r>
                <a:rPr lang="en-US" altLang="ko-KR" sz="1000" b="1" dirty="0">
                  <a:solidFill>
                    <a:srgbClr val="FF0000"/>
                  </a:solidFill>
                </a:rPr>
                <a:t>--</a:t>
              </a:r>
              <a:r>
                <a:rPr lang="en-US" altLang="ko-KR" sz="1000" b="1" dirty="0" err="1">
                  <a:solidFill>
                    <a:srgbClr val="FF0000"/>
                  </a:solidFill>
                </a:rPr>
                <a:t>clusterrole</a:t>
              </a:r>
              <a:r>
                <a:rPr lang="en-US" altLang="ko-KR" sz="1000" b="1" dirty="0"/>
                <a:t>=cluster-admin </a:t>
              </a:r>
              <a:r>
                <a:rPr lang="en-US" altLang="ko-KR" sz="1000" b="1" dirty="0">
                  <a:solidFill>
                    <a:srgbClr val="FF0000"/>
                  </a:solidFill>
                </a:rPr>
                <a:t>--</a:t>
              </a:r>
              <a:r>
                <a:rPr lang="en-US" altLang="ko-KR" sz="1000" b="1" dirty="0" err="1">
                  <a:solidFill>
                    <a:srgbClr val="FF0000"/>
                  </a:solidFill>
                </a:rPr>
                <a:t>serviceaccount</a:t>
              </a:r>
              <a:r>
                <a:rPr lang="en-US" altLang="ko-KR" sz="1000" b="1" dirty="0"/>
                <a:t>=</a:t>
              </a:r>
              <a:r>
                <a:rPr lang="en-US" altLang="ko-KR" sz="1000" b="1" dirty="0" err="1"/>
                <a:t>default:website-controller</a:t>
              </a:r>
              <a:endParaRPr lang="ko-KR" altLang="en-US" sz="1000" b="1" dirty="0"/>
            </a:p>
          </p:txBody>
        </p:sp>
        <p:pic>
          <p:nvPicPr>
            <p:cNvPr id="10" name="그림 9">
              <a:extLst>
                <a:ext uri="{FF2B5EF4-FFF2-40B4-BE49-F238E27FC236}">
                  <a16:creationId xmlns:a16="http://schemas.microsoft.com/office/drawing/2014/main" id="{D6D542CE-69A1-CD9F-60AB-B34A0141E1FE}"/>
                </a:ext>
              </a:extLst>
            </p:cNvPr>
            <p:cNvPicPr>
              <a:picLocks noChangeAspect="1"/>
            </p:cNvPicPr>
            <p:nvPr/>
          </p:nvPicPr>
          <p:blipFill>
            <a:blip r:embed="rId2"/>
            <a:stretch>
              <a:fillRect/>
            </a:stretch>
          </p:blipFill>
          <p:spPr>
            <a:xfrm>
              <a:off x="838200" y="2806981"/>
              <a:ext cx="10515600" cy="1479973"/>
            </a:xfrm>
            <a:prstGeom prst="rect">
              <a:avLst/>
            </a:prstGeom>
          </p:spPr>
        </p:pic>
        <p:sp>
          <p:nvSpPr>
            <p:cNvPr id="11" name="화살표: 아래쪽 10">
              <a:extLst>
                <a:ext uri="{FF2B5EF4-FFF2-40B4-BE49-F238E27FC236}">
                  <a16:creationId xmlns:a16="http://schemas.microsoft.com/office/drawing/2014/main" id="{721A696E-C38C-D1E9-10FC-F6250EE8AB18}"/>
                </a:ext>
              </a:extLst>
            </p:cNvPr>
            <p:cNvSpPr/>
            <p:nvPr/>
          </p:nvSpPr>
          <p:spPr>
            <a:xfrm>
              <a:off x="5857285" y="2503480"/>
              <a:ext cx="477430" cy="30445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94128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Seeing the Controller in Action :</a:t>
            </a:r>
            <a:endParaRPr lang="en-US" altLang="ko-KR" sz="1400" dirty="0"/>
          </a:p>
          <a:p>
            <a:pPr lvl="1">
              <a:buFont typeface="Wingdings" panose="05000000000000000000" pitchFamily="2" charset="2"/>
              <a:buChar char="§"/>
            </a:pPr>
            <a:r>
              <a:rPr lang="en-US" altLang="ko-KR" sz="1400" b="1" dirty="0"/>
              <a:t>With the controller now running, create the “</a:t>
            </a:r>
            <a:r>
              <a:rPr lang="en-US" altLang="ko-KR" sz="1400" b="1" dirty="0" err="1"/>
              <a:t>kubia</a:t>
            </a:r>
            <a:r>
              <a:rPr lang="en-US" altLang="ko-KR" sz="1400" b="1" dirty="0"/>
              <a:t> Website resource” again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1166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7271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Building Multi-Node Cluster</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endParaRPr lang="ko-KR" altLang="en-US" sz="2800" b="1" dirty="0"/>
          </a:p>
        </p:txBody>
      </p:sp>
    </p:spTree>
    <p:extLst>
      <p:ext uri="{BB962C8B-B14F-4D97-AF65-F5344CB8AC3E}">
        <p14:creationId xmlns:p14="http://schemas.microsoft.com/office/powerpoint/2010/main" val="2178490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Operating System Requirements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VirtualBox :</a:t>
            </a:r>
            <a:endParaRPr lang="en-US" altLang="ko-KR" sz="1400" dirty="0"/>
          </a:p>
          <a:p>
            <a:pPr lvl="1">
              <a:buFont typeface="Wingdings" panose="05000000000000000000" pitchFamily="2" charset="2"/>
              <a:buChar char="§"/>
            </a:pPr>
            <a:r>
              <a:rPr lang="en-US" altLang="ko-KR" sz="1400" dirty="0"/>
              <a:t>First, you need to download and install </a:t>
            </a:r>
            <a:r>
              <a:rPr lang="en-US" altLang="ko-KR" sz="1400" b="1" dirty="0"/>
              <a:t>VirtualBox</a:t>
            </a:r>
            <a:r>
              <a:rPr lang="en-US" altLang="ko-KR" sz="1400" dirty="0"/>
              <a:t>, if you don’t have it installed already. You can download it from </a:t>
            </a:r>
            <a:r>
              <a:rPr lang="en-US" altLang="ko-KR" sz="1400" b="1" dirty="0">
                <a:hlinkClick r:id="rId2"/>
              </a:rPr>
              <a:t>https://www.virtualbox.org/wiki/Downloads</a:t>
            </a:r>
            <a:r>
              <a:rPr lang="en-US" altLang="ko-KR" sz="1400" dirty="0"/>
              <a:t>.</a:t>
            </a:r>
          </a:p>
          <a:p>
            <a:pPr lvl="1">
              <a:buFont typeface="Wingdings" panose="05000000000000000000" pitchFamily="2" charset="2"/>
              <a:buChar char="§"/>
            </a:pPr>
            <a:r>
              <a:rPr lang="en-US" altLang="ko-KR" sz="1400" dirty="0"/>
              <a:t>Once you have it running, download the Ubuntu 20.04 or Ubuntu 22.04(2023.04) ISO image from </a:t>
            </a:r>
            <a:r>
              <a:rPr lang="en-US" altLang="ko-KR" sz="1400" b="1" dirty="0">
                <a:hlinkClick r:id="rId3"/>
              </a:rPr>
              <a:t>https://ubuntu.com/download/desktop/thank-you?version=22.04.2&amp;architecture=amd64</a:t>
            </a:r>
            <a:r>
              <a:rPr lang="en-US" altLang="ko-KR" sz="1400" dirty="0"/>
              <a:t>. You can also use a different Linux distribution, but make sure it’s supported by checking the </a:t>
            </a:r>
            <a:r>
              <a:rPr lang="en-US" altLang="ko-KR" sz="1400" b="1" dirty="0">
                <a:hlinkClick r:id="rId4"/>
              </a:rPr>
              <a:t>https://kubernetes.io/docs/tasks/tools/</a:t>
            </a:r>
            <a:r>
              <a:rPr lang="en-US" altLang="ko-KR" sz="1400" b="1" dirty="0"/>
              <a:t> </a:t>
            </a:r>
            <a:r>
              <a:rPr lang="en-US" altLang="ko-KR" sz="1400" dirty="0"/>
              <a:t>website.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For Apple M1, VirtualBox technical preview version is available now(2023.04). VMWare 7.x Beta version is also available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119EAA9-9BD0-E917-EA19-4CE5605E5F74}"/>
              </a:ext>
            </a:extLst>
          </p:cNvPr>
          <p:cNvPicPr>
            <a:picLocks noChangeAspect="1"/>
          </p:cNvPicPr>
          <p:nvPr/>
        </p:nvPicPr>
        <p:blipFill>
          <a:blip r:embed="rId5"/>
          <a:stretch>
            <a:fillRect/>
          </a:stretch>
        </p:blipFill>
        <p:spPr>
          <a:xfrm>
            <a:off x="3981431" y="2589452"/>
            <a:ext cx="4229137" cy="2787706"/>
          </a:xfrm>
          <a:prstGeom prst="rect">
            <a:avLst/>
          </a:prstGeom>
          <a:ln>
            <a:solidFill>
              <a:schemeClr val="bg1">
                <a:lumMod val="50000"/>
              </a:schemeClr>
            </a:solidFill>
          </a:ln>
        </p:spPr>
      </p:pic>
    </p:spTree>
    <p:extLst>
      <p:ext uri="{BB962C8B-B14F-4D97-AF65-F5344CB8AC3E}">
        <p14:creationId xmlns:p14="http://schemas.microsoft.com/office/powerpoint/2010/main" val="1009303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Virtual Machine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Virtual Machine Setting :</a:t>
            </a:r>
            <a:endParaRPr lang="en-US" altLang="ko-KR" sz="1400" dirty="0"/>
          </a:p>
          <a:p>
            <a:pPr lvl="1">
              <a:buFont typeface="Wingdings" panose="05000000000000000000" pitchFamily="2" charset="2"/>
              <a:buChar char="§"/>
            </a:pPr>
            <a:r>
              <a:rPr lang="en-US" altLang="ko-KR" sz="1400" dirty="0"/>
              <a:t>Next, you’ll create the </a:t>
            </a:r>
            <a:r>
              <a:rPr lang="en-US" altLang="ko-KR" sz="1400" b="1" dirty="0"/>
              <a:t>VM</a:t>
            </a:r>
            <a:r>
              <a:rPr lang="en-US" altLang="ko-KR" sz="1400" dirty="0"/>
              <a:t> for your Kubernetes master. Start by clicking the New icon in the upper-left corner. Then enter “</a:t>
            </a:r>
            <a:r>
              <a:rPr lang="en-US" altLang="ko-KR" sz="1400" b="1" dirty="0"/>
              <a:t>VirtualBox Image Name</a:t>
            </a:r>
            <a:r>
              <a:rPr lang="en-US" altLang="ko-KR" sz="1400" dirty="0"/>
              <a:t>” as the name, and select Linux as the Type and </a:t>
            </a:r>
            <a:r>
              <a:rPr lang="en-US" altLang="ko-KR" sz="1400" b="1" dirty="0"/>
              <a:t>64-bit</a:t>
            </a:r>
            <a:r>
              <a:rPr lang="en-US" altLang="ko-KR" sz="1400" dirty="0"/>
              <a:t>.</a:t>
            </a:r>
          </a:p>
          <a:p>
            <a:pPr lvl="1">
              <a:buFont typeface="Wingdings" panose="05000000000000000000" pitchFamily="2" charset="2"/>
              <a:buChar char="§"/>
            </a:pPr>
            <a:r>
              <a:rPr lang="en-US" altLang="ko-KR" sz="1400" dirty="0"/>
              <a:t>After clicking the Next button, you can </a:t>
            </a:r>
            <a:r>
              <a:rPr lang="en-US" altLang="ko-KR" sz="1400" b="1" dirty="0"/>
              <a:t>set the VM’s memory size </a:t>
            </a:r>
            <a:r>
              <a:rPr lang="en-US" altLang="ko-KR" sz="1400" dirty="0"/>
              <a:t>and </a:t>
            </a:r>
            <a:r>
              <a:rPr lang="en-US" altLang="ko-KR" sz="1400" b="1" dirty="0"/>
              <a:t>set up the hard disk</a:t>
            </a:r>
            <a:r>
              <a:rPr lang="en-US" altLang="ko-KR" sz="1400" dirty="0"/>
              <a:t>. If you have enough memory, select at least 2GB (keep in mind you’ll run three such VMs, </a:t>
            </a:r>
            <a:r>
              <a:rPr lang="en-US" altLang="ko-KR" sz="1400" b="1" dirty="0"/>
              <a:t>16GB is preferrable, 4 CPU : 2 Physical, 2 Hyper Thread in each CPU</a:t>
            </a:r>
            <a:r>
              <a:rPr lang="en-US" altLang="ko-KR" sz="1400" dirty="0"/>
              <a:t>). When creating the hard disk, leave the default options selected(But, </a:t>
            </a:r>
            <a:r>
              <a:rPr lang="en-US" altLang="ko-KR" sz="1400" b="1" dirty="0"/>
              <a:t>100GB</a:t>
            </a:r>
            <a:r>
              <a:rPr lang="en-US" altLang="ko-KR" sz="1400" dirty="0"/>
              <a:t> is preferrable).</a:t>
            </a:r>
          </a:p>
          <a:p>
            <a:pPr lvl="1">
              <a:buFont typeface="Wingdings" panose="05000000000000000000" pitchFamily="2" charset="2"/>
              <a:buChar char="§"/>
            </a:pPr>
            <a:r>
              <a:rPr lang="en-US" altLang="ko-KR" sz="1400" dirty="0"/>
              <a:t>Here’s what they were in my case :</a:t>
            </a:r>
          </a:p>
          <a:p>
            <a:pPr lvl="2">
              <a:buFont typeface="Wingdings" panose="05000000000000000000" pitchFamily="2" charset="2"/>
              <a:buChar char="§"/>
            </a:pPr>
            <a:r>
              <a:rPr lang="en-US" altLang="ko-KR" sz="1400" b="1" dirty="0"/>
              <a:t>Hard disk file type: VDI (VirtualBox Disk Image)</a:t>
            </a:r>
          </a:p>
          <a:p>
            <a:pPr lvl="2">
              <a:buFont typeface="Wingdings" panose="05000000000000000000" pitchFamily="2" charset="2"/>
              <a:buChar char="§"/>
            </a:pPr>
            <a:r>
              <a:rPr lang="en-US" altLang="ko-KR" sz="1400" b="1" dirty="0"/>
              <a:t>Storage on physical hard disk : Dynamically allocated</a:t>
            </a:r>
          </a:p>
          <a:p>
            <a:pPr lvl="2">
              <a:buFont typeface="Wingdings" panose="05000000000000000000" pitchFamily="2" charset="2"/>
              <a:buChar char="§"/>
            </a:pPr>
            <a:r>
              <a:rPr lang="en-US" altLang="ko-KR" sz="1400" b="1" dirty="0"/>
              <a:t>File system size: Ubuntu20.04-01, Ubuntu20.04-02, Ubuntu20.04-03, etc., size 100GB SSD</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8619060E-E280-E5A8-D7F9-5745A80FAC21}"/>
              </a:ext>
            </a:extLst>
          </p:cNvPr>
          <p:cNvPicPr>
            <a:picLocks noChangeAspect="1"/>
          </p:cNvPicPr>
          <p:nvPr/>
        </p:nvPicPr>
        <p:blipFill>
          <a:blip r:embed="rId2"/>
          <a:stretch>
            <a:fillRect/>
          </a:stretch>
        </p:blipFill>
        <p:spPr>
          <a:xfrm>
            <a:off x="3836397" y="3576016"/>
            <a:ext cx="4519205" cy="2780334"/>
          </a:xfrm>
          <a:prstGeom prst="rect">
            <a:avLst/>
          </a:prstGeom>
          <a:ln>
            <a:solidFill>
              <a:schemeClr val="bg1">
                <a:lumMod val="50000"/>
              </a:schemeClr>
            </a:solidFill>
          </a:ln>
        </p:spPr>
      </p:pic>
    </p:spTree>
    <p:extLst>
      <p:ext uri="{BB962C8B-B14F-4D97-AF65-F5344CB8AC3E}">
        <p14:creationId xmlns:p14="http://schemas.microsoft.com/office/powerpoint/2010/main" val="4014484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Network Adapter for the VM</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Adapter Bridge :</a:t>
            </a:r>
            <a:endParaRPr lang="en-US" altLang="ko-KR" sz="1400" dirty="0"/>
          </a:p>
          <a:p>
            <a:pPr lvl="1">
              <a:buFont typeface="Wingdings" panose="05000000000000000000" pitchFamily="2" charset="2"/>
              <a:buChar char="§"/>
            </a:pPr>
            <a:r>
              <a:rPr lang="en-US" altLang="ko-KR" sz="1400" b="1" dirty="0"/>
              <a:t>Once you’re done creating the VM, you need to configure its network adapter, because the default won’t allow you to run multiple nodes properly</a:t>
            </a:r>
            <a:r>
              <a:rPr lang="en-US" altLang="ko-KR" sz="1400" dirty="0"/>
              <a:t>. You’ll configure the adapter so it uses the “</a:t>
            </a:r>
            <a:r>
              <a:rPr lang="en-US" altLang="ko-KR" sz="1400" b="1" dirty="0">
                <a:solidFill>
                  <a:srgbClr val="FF0000"/>
                </a:solidFill>
              </a:rPr>
              <a:t>Bridged Adapter</a:t>
            </a:r>
            <a:r>
              <a:rPr lang="en-US" altLang="ko-KR" sz="1400" dirty="0"/>
              <a:t>” mode. </a:t>
            </a:r>
            <a:r>
              <a:rPr lang="en-US" altLang="ko-KR" sz="1400" b="1" dirty="0"/>
              <a:t>This will connect your VMs to the same network your host computer is in. Each VM will get its own IP address, the same way as if it were a physical machine connected to the same switch your host computer is connected to</a:t>
            </a:r>
            <a:r>
              <a:rPr lang="en-US" altLang="ko-KR" sz="1400" dirty="0"/>
              <a:t>. Other options are much more complicated, because they usually require two network adapters to be set up.</a:t>
            </a:r>
          </a:p>
          <a:p>
            <a:pPr lvl="1">
              <a:buFont typeface="Wingdings" panose="05000000000000000000" pitchFamily="2" charset="2"/>
              <a:buChar char="§"/>
            </a:pPr>
            <a:r>
              <a:rPr lang="en-US" altLang="ko-KR" sz="1400" dirty="0"/>
              <a:t>To configure the network adapter, make sure the VM is selected in the main VirtualBox window and then click the </a:t>
            </a:r>
            <a:r>
              <a:rPr lang="en-US" altLang="ko-KR" sz="1400" b="1" dirty="0"/>
              <a:t>Settings icon </a:t>
            </a:r>
            <a:r>
              <a:rPr lang="en-US" altLang="ko-KR" sz="1400" dirty="0"/>
              <a:t>(next to the New icon you clicked before). </a:t>
            </a:r>
          </a:p>
          <a:p>
            <a:pPr lvl="1">
              <a:buFont typeface="Wingdings" panose="05000000000000000000" pitchFamily="2" charset="2"/>
              <a:buChar char="§"/>
            </a:pPr>
            <a:r>
              <a:rPr lang="en-US" altLang="ko-KR" sz="1400" dirty="0"/>
              <a:t>A window like the one shown in the following figure will appear. On the left-hand side, </a:t>
            </a:r>
            <a:r>
              <a:rPr lang="en-US" altLang="ko-KR" sz="1400" b="1" dirty="0"/>
              <a:t>select Network </a:t>
            </a:r>
            <a:r>
              <a:rPr lang="en-US" altLang="ko-KR" sz="1400" dirty="0"/>
              <a:t>and then, in the main panel on the right, select “</a:t>
            </a:r>
            <a:r>
              <a:rPr lang="en-US" altLang="ko-KR" sz="1400" b="1" dirty="0"/>
              <a:t>Attached to: Bridged Adapter”</a:t>
            </a:r>
            <a:r>
              <a:rPr lang="en-US" altLang="ko-KR" sz="1400" dirty="0"/>
              <a:t>, as shown in the figure. In the Name drop-down menu, select your host machine’s adapter, which you use to connect your machine to the network.</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ED7CA45-3AC7-5F57-22DA-460DCDD94CE9}"/>
              </a:ext>
            </a:extLst>
          </p:cNvPr>
          <p:cNvGrpSpPr/>
          <p:nvPr/>
        </p:nvGrpSpPr>
        <p:grpSpPr>
          <a:xfrm>
            <a:off x="3974797" y="3426801"/>
            <a:ext cx="4242406" cy="2982229"/>
            <a:chOff x="3974797" y="3426801"/>
            <a:chExt cx="4242406" cy="2982229"/>
          </a:xfrm>
        </p:grpSpPr>
        <p:pic>
          <p:nvPicPr>
            <p:cNvPr id="8" name="그림 7">
              <a:extLst>
                <a:ext uri="{FF2B5EF4-FFF2-40B4-BE49-F238E27FC236}">
                  <a16:creationId xmlns:a16="http://schemas.microsoft.com/office/drawing/2014/main" id="{7BE63F9B-348F-82C3-C1C1-419EC36E02E0}"/>
                </a:ext>
              </a:extLst>
            </p:cNvPr>
            <p:cNvPicPr>
              <a:picLocks noChangeAspect="1"/>
            </p:cNvPicPr>
            <p:nvPr/>
          </p:nvPicPr>
          <p:blipFill>
            <a:blip r:embed="rId2"/>
            <a:stretch>
              <a:fillRect/>
            </a:stretch>
          </p:blipFill>
          <p:spPr>
            <a:xfrm>
              <a:off x="3974797" y="3426801"/>
              <a:ext cx="4242406" cy="2982229"/>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1BF3AD12-58CE-5DFC-8016-8274291EDDD8}"/>
                </a:ext>
              </a:extLst>
            </p:cNvPr>
            <p:cNvSpPr/>
            <p:nvPr/>
          </p:nvSpPr>
          <p:spPr>
            <a:xfrm>
              <a:off x="5057522" y="4135030"/>
              <a:ext cx="3074974" cy="4612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06138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Installing the Operating System</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Setting up Operating System :</a:t>
            </a:r>
            <a:endParaRPr lang="en-US" altLang="ko-KR" sz="1400" dirty="0"/>
          </a:p>
          <a:p>
            <a:pPr lvl="1">
              <a:buFont typeface="Wingdings" panose="05000000000000000000" pitchFamily="2" charset="2"/>
              <a:buChar char="§"/>
            </a:pPr>
            <a:r>
              <a:rPr lang="en-US" altLang="ko-KR" sz="1400" b="1" dirty="0"/>
              <a:t>You’re now ready to run the VM and install the operating system</a:t>
            </a:r>
            <a:r>
              <a:rPr lang="en-US" altLang="ko-KR" sz="1400" dirty="0"/>
              <a:t>. Ensure the VM is still selected in the list and click on the Start icon at the top of the VirtualBox main window.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NOTICE : Sometimes, when you try to install Ubuntu 2x.04 version on VirtualBox with “Adapter Bridge” networking mode, VM will crash. In this case, change the networking mode to “</a:t>
            </a:r>
            <a:r>
              <a:rPr lang="en-US" altLang="ko-KR" sz="1400" b="1" dirty="0">
                <a:solidFill>
                  <a:srgbClr val="FF0000"/>
                </a:solidFill>
              </a:rPr>
              <a:t>NAT</a:t>
            </a:r>
            <a:r>
              <a:rPr lang="en-US" altLang="ko-KR" sz="1400" b="1" dirty="0"/>
              <a:t>”. Then try again. After the installation of the OS, you can chance the “NAT” to “Adapter Bridge” networking mode</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1AD01100-D76B-3E30-D0DC-5079D47D63B9}"/>
              </a:ext>
            </a:extLst>
          </p:cNvPr>
          <p:cNvGrpSpPr/>
          <p:nvPr/>
        </p:nvGrpSpPr>
        <p:grpSpPr>
          <a:xfrm>
            <a:off x="4022936" y="1849517"/>
            <a:ext cx="4146128" cy="3484401"/>
            <a:chOff x="4022936" y="2109225"/>
            <a:chExt cx="4146128" cy="3484401"/>
          </a:xfrm>
        </p:grpSpPr>
        <p:pic>
          <p:nvPicPr>
            <p:cNvPr id="8" name="그림 7">
              <a:extLst>
                <a:ext uri="{FF2B5EF4-FFF2-40B4-BE49-F238E27FC236}">
                  <a16:creationId xmlns:a16="http://schemas.microsoft.com/office/drawing/2014/main" id="{0E72A0EA-C2A8-33C4-82FD-D629D0E03244}"/>
                </a:ext>
              </a:extLst>
            </p:cNvPr>
            <p:cNvPicPr>
              <a:picLocks noChangeAspect="1"/>
            </p:cNvPicPr>
            <p:nvPr/>
          </p:nvPicPr>
          <p:blipFill>
            <a:blip r:embed="rId2"/>
            <a:stretch>
              <a:fillRect/>
            </a:stretch>
          </p:blipFill>
          <p:spPr>
            <a:xfrm>
              <a:off x="4022936" y="2109225"/>
              <a:ext cx="4146128" cy="3484401"/>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0455BB05-15CE-32F1-D436-BB4D6C71E050}"/>
                </a:ext>
              </a:extLst>
            </p:cNvPr>
            <p:cNvSpPr/>
            <p:nvPr/>
          </p:nvSpPr>
          <p:spPr>
            <a:xfrm>
              <a:off x="6773034" y="4215950"/>
              <a:ext cx="882031" cy="2023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856872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Installing Docker and Kubernetes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Docker, </a:t>
            </a:r>
            <a:r>
              <a:rPr lang="en-US" altLang="ko-KR" sz="1800" b="1" dirty="0" err="1"/>
              <a:t>Kubelet</a:t>
            </a:r>
            <a:r>
              <a:rPr lang="en-US" altLang="ko-KR" sz="1800" b="1" dirty="0"/>
              <a:t>, </a:t>
            </a:r>
            <a:r>
              <a:rPr lang="en-US" altLang="ko-KR" sz="1800" b="1" dirty="0" err="1"/>
              <a:t>Kubeadm</a:t>
            </a:r>
            <a:r>
              <a:rPr lang="en-US" altLang="ko-KR" sz="1800" b="1" dirty="0"/>
              <a:t>, </a:t>
            </a:r>
            <a:r>
              <a:rPr lang="en-US" altLang="ko-KR" sz="1800" b="1" dirty="0" err="1"/>
              <a:t>Kubectl</a:t>
            </a:r>
            <a:r>
              <a:rPr lang="en-US" altLang="ko-KR" sz="1800" b="1" dirty="0"/>
              <a:t> :</a:t>
            </a:r>
            <a:endParaRPr lang="en-US" altLang="ko-KR" sz="1400" dirty="0"/>
          </a:p>
          <a:p>
            <a:pPr lvl="1">
              <a:buFont typeface="Wingdings" panose="05000000000000000000" pitchFamily="2" charset="2"/>
              <a:buChar char="§"/>
            </a:pPr>
            <a:r>
              <a:rPr lang="en-US" altLang="ko-KR" sz="1400" dirty="0"/>
              <a:t>Please refer to </a:t>
            </a:r>
            <a:r>
              <a:rPr lang="en-US" altLang="ko-KR" sz="1400" b="1" dirty="0">
                <a:hlinkClick r:id="rId2"/>
              </a:rPr>
              <a:t>https://docs.docker.com/engine/install/ubuntu/</a:t>
            </a:r>
            <a:r>
              <a:rPr lang="en-US" altLang="ko-KR" sz="1400" dirty="0"/>
              <a:t> for Docker installation on Ubuntu.</a:t>
            </a:r>
          </a:p>
          <a:p>
            <a:pPr lvl="1">
              <a:buFont typeface="Wingdings" panose="05000000000000000000" pitchFamily="2" charset="2"/>
              <a:buChar char="§"/>
            </a:pPr>
            <a:r>
              <a:rPr lang="en-US" altLang="ko-KR" sz="1400" b="1" dirty="0"/>
              <a:t>NOTICE : Don’t forget the “</a:t>
            </a:r>
            <a:r>
              <a:rPr lang="en-US" altLang="ko-KR" sz="1400" b="1" dirty="0">
                <a:hlinkClick r:id="rId3"/>
              </a:rPr>
              <a:t>Post-Installation</a:t>
            </a:r>
            <a:r>
              <a:rPr lang="en-US" altLang="ko-KR" sz="1400" b="1" dirty="0"/>
              <a:t>” on Ubuntu. </a:t>
            </a:r>
          </a:p>
          <a:p>
            <a:pPr lvl="1">
              <a:buFont typeface="Wingdings" panose="05000000000000000000" pitchFamily="2" charset="2"/>
              <a:buChar char="§"/>
            </a:pPr>
            <a:r>
              <a:rPr lang="en-US" altLang="ko-KR" sz="1400" dirty="0"/>
              <a:t>To install Kubernetes, please refer to </a:t>
            </a:r>
            <a:r>
              <a:rPr lang="en-US" altLang="ko-KR" sz="1400" b="1" dirty="0">
                <a:hlinkClick r:id="rId4"/>
              </a:rPr>
              <a:t>https://kubernetes.io/docs/setup/production-environment/tools/kubeadm/install-kubeadm/#installing-kubeadm-kubelet-and-kubectl</a:t>
            </a:r>
            <a:r>
              <a:rPr lang="en-US" altLang="ko-KR" sz="1400" dirty="0"/>
              <a:t>. </a:t>
            </a:r>
          </a:p>
          <a:p>
            <a:pPr lvl="1">
              <a:buFont typeface="Wingdings" panose="05000000000000000000" pitchFamily="2" charset="2"/>
              <a:buChar char="§"/>
            </a:pPr>
            <a:r>
              <a:rPr lang="en-US" altLang="ko-KR" sz="1400" b="1" dirty="0"/>
              <a:t>NOTICE : You need to disable “Swapping” in order for the </a:t>
            </a:r>
            <a:r>
              <a:rPr lang="en-US" altLang="ko-KR" sz="1400" b="1" dirty="0" err="1"/>
              <a:t>Kubelet</a:t>
            </a:r>
            <a:r>
              <a:rPr lang="en-US" altLang="ko-KR" sz="1400" b="1" dirty="0"/>
              <a:t> to work properly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38182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3690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93465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539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42492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45098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16810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02572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96921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0228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5816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46780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71166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41104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726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05208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7288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43253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2085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97962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14045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77141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sp>
        <p:nvSpPr>
          <p:cNvPr id="13" name="제목 1">
            <a:extLst>
              <a:ext uri="{FF2B5EF4-FFF2-40B4-BE49-F238E27FC236}">
                <a16:creationId xmlns:a16="http://schemas.microsoft.com/office/drawing/2014/main" id="{7D50D0B4-E4F0-46F2-684F-163211952A0F}"/>
              </a:ext>
            </a:extLst>
          </p:cNvPr>
          <p:cNvSpPr>
            <a:spLocks noGrp="1"/>
          </p:cNvSpPr>
          <p:nvPr>
            <p:ph type="title"/>
          </p:nvPr>
        </p:nvSpPr>
        <p:spPr>
          <a:xfrm>
            <a:off x="838200" y="297455"/>
            <a:ext cx="10515600" cy="383582"/>
          </a:xfrm>
        </p:spPr>
        <p:txBody>
          <a:bodyPr>
            <a:normAutofit fontScale="90000"/>
          </a:bodyPr>
          <a:lstStyle/>
          <a:p>
            <a:r>
              <a:rPr lang="en-US" altLang="ko-KR" sz="2800" b="1" dirty="0"/>
              <a:t>NOTE : Big Picture - The Kubernetes Cluster</a:t>
            </a:r>
            <a:endParaRPr lang="ko-KR" altLang="en-US" sz="2800" b="1" dirty="0"/>
          </a:p>
        </p:txBody>
      </p:sp>
      <p:cxnSp>
        <p:nvCxnSpPr>
          <p:cNvPr id="14" name="직선 연결선 13">
            <a:extLst>
              <a:ext uri="{FF2B5EF4-FFF2-40B4-BE49-F238E27FC236}">
                <a16:creationId xmlns:a16="http://schemas.microsoft.com/office/drawing/2014/main" id="{D375794C-7322-ED80-E7CF-67C5F5AD86FF}"/>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6" name="그림 15">
            <a:extLst>
              <a:ext uri="{FF2B5EF4-FFF2-40B4-BE49-F238E27FC236}">
                <a16:creationId xmlns:a16="http://schemas.microsoft.com/office/drawing/2014/main" id="{C32661DB-28EB-2A5F-70FD-2C5009C198D9}"/>
              </a:ext>
            </a:extLst>
          </p:cNvPr>
          <p:cNvPicPr>
            <a:picLocks noChangeAspect="1"/>
          </p:cNvPicPr>
          <p:nvPr/>
        </p:nvPicPr>
        <p:blipFill>
          <a:blip r:embed="rId2"/>
          <a:stretch>
            <a:fillRect/>
          </a:stretch>
        </p:blipFill>
        <p:spPr>
          <a:xfrm>
            <a:off x="838200" y="856434"/>
            <a:ext cx="10515600" cy="5145132"/>
          </a:xfrm>
          <a:prstGeom prst="rect">
            <a:avLst/>
          </a:prstGeom>
        </p:spPr>
      </p:pic>
    </p:spTree>
    <p:extLst>
      <p:ext uri="{BB962C8B-B14F-4D97-AF65-F5344CB8AC3E}">
        <p14:creationId xmlns:p14="http://schemas.microsoft.com/office/powerpoint/2010/main" val="1040337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Kubernetes Cheat Sheet</a:t>
            </a:r>
            <a:endParaRPr lang="ko-KR" altLang="en-US" sz="2800" b="1"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179C4D6-A6A7-AFD7-99CE-9233F81D8E3C}"/>
              </a:ext>
            </a:extLst>
          </p:cNvPr>
          <p:cNvPicPr>
            <a:picLocks noChangeAspect="1"/>
          </p:cNvPicPr>
          <p:nvPr/>
        </p:nvPicPr>
        <p:blipFill>
          <a:blip r:embed="rId2"/>
          <a:stretch>
            <a:fillRect/>
          </a:stretch>
        </p:blipFill>
        <p:spPr>
          <a:xfrm>
            <a:off x="1228144" y="880011"/>
            <a:ext cx="9735713" cy="5476339"/>
          </a:xfrm>
          <a:prstGeom prst="rect">
            <a:avLst/>
          </a:prstGeom>
        </p:spPr>
      </p:pic>
    </p:spTree>
    <p:extLst>
      <p:ext uri="{BB962C8B-B14F-4D97-AF65-F5344CB8AC3E}">
        <p14:creationId xmlns:p14="http://schemas.microsoft.com/office/powerpoint/2010/main" val="4863588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2"/>
            <a:ext cx="10515600" cy="5532375"/>
          </a:xfrm>
        </p:spPr>
        <p:txBody>
          <a:bodyPr>
            <a:normAutofit/>
          </a:bodyPr>
          <a:lstStyle/>
          <a:p>
            <a:pPr marL="0" indent="0">
              <a:buNone/>
            </a:pPr>
            <a:r>
              <a:rPr lang="en-US" altLang="ko-KR" sz="1400" b="1" dirty="0"/>
              <a:t>[1] Kubernetes in Action, Marko </a:t>
            </a:r>
            <a:r>
              <a:rPr lang="en-US" altLang="ko-KR" sz="1400" b="1" dirty="0" err="1"/>
              <a:t>Luksa</a:t>
            </a:r>
            <a:r>
              <a:rPr lang="en-US" altLang="ko-KR" sz="1400" b="1" dirty="0"/>
              <a:t>, Manning, 2018 1</a:t>
            </a:r>
            <a:r>
              <a:rPr lang="en-US" altLang="ko-KR" sz="1400" b="1" baseline="30000" dirty="0"/>
              <a:t>st</a:t>
            </a:r>
            <a:r>
              <a:rPr lang="en-US" altLang="ko-KR" sz="1400" b="1" dirty="0"/>
              <a:t> Edition.</a:t>
            </a:r>
          </a:p>
          <a:p>
            <a:pPr marL="0" indent="0">
              <a:buNone/>
            </a:pPr>
            <a:r>
              <a:rPr lang="en-US" altLang="ko-KR" sz="1400" b="1" dirty="0"/>
              <a:t>[2] </a:t>
            </a:r>
            <a:r>
              <a:rPr lang="en-US" altLang="ko-KR" sz="1400" b="1" dirty="0">
                <a:hlinkClick r:id="rId2"/>
              </a:rPr>
              <a:t>https://github.com/luksa/kubernetes-in-action</a:t>
            </a:r>
            <a:r>
              <a:rPr lang="en-US" altLang="ko-KR" sz="1400" b="1" dirty="0"/>
              <a:t> </a:t>
            </a:r>
          </a:p>
          <a:p>
            <a:pPr marL="0" indent="0">
              <a:buNone/>
            </a:pPr>
            <a:r>
              <a:rPr lang="en-US" altLang="ko-KR" sz="1400" b="1" dirty="0"/>
              <a:t>[3] </a:t>
            </a:r>
            <a:r>
              <a:rPr lang="en-US" altLang="ko-KR" sz="1400" b="1" dirty="0">
                <a:hlinkClick r:id="rId3"/>
              </a:rPr>
              <a:t>https://minikube.sigs.k8s.io/docs/</a:t>
            </a:r>
            <a:endParaRPr lang="en-US" altLang="ko-KR" sz="1400" b="1" dirty="0"/>
          </a:p>
          <a:p>
            <a:pPr marL="0" indent="0">
              <a:buNone/>
            </a:pPr>
            <a:r>
              <a:rPr lang="en-US" altLang="ko-KR" sz="1400" b="1" dirty="0"/>
              <a:t>[4] </a:t>
            </a:r>
            <a:r>
              <a:rPr lang="en-US" altLang="ko-KR" sz="1400" b="1" dirty="0">
                <a:hlinkClick r:id="rId4"/>
              </a:rPr>
              <a:t>https://kubernetes.io/docs/reference/kubectl/cheatsheet/</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39B4C587-7A61-0C5F-2D7E-626350542CA5}"/>
              </a:ext>
            </a:extLst>
          </p:cNvPr>
          <p:cNvPicPr>
            <a:picLocks noChangeAspect="1"/>
          </p:cNvPicPr>
          <p:nvPr/>
        </p:nvPicPr>
        <p:blipFill>
          <a:blip r:embed="rId5"/>
          <a:stretch>
            <a:fillRect/>
          </a:stretch>
        </p:blipFill>
        <p:spPr>
          <a:xfrm>
            <a:off x="4990542" y="3590159"/>
            <a:ext cx="2210915" cy="2761230"/>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2023-04-05</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ctr">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116962</TotalTime>
  <Words>4039</Words>
  <Application>Microsoft Office PowerPoint</Application>
  <PresentationFormat>와이드스크린</PresentationFormat>
  <Paragraphs>471</Paragraphs>
  <Slides>56</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56</vt:i4>
      </vt:variant>
    </vt:vector>
  </HeadingPairs>
  <TitlesOfParts>
    <vt:vector size="60" baseType="lpstr">
      <vt:lpstr>맑은 고딕</vt:lpstr>
      <vt:lpstr>Arial</vt:lpstr>
      <vt:lpstr>Wingdings</vt:lpstr>
      <vt:lpstr>Office 테마</vt:lpstr>
      <vt:lpstr>Kubernetes in Action</vt:lpstr>
      <vt:lpstr>Extending Kubernetes</vt:lpstr>
      <vt:lpstr>Defining Custom API Objects(1/)</vt:lpstr>
      <vt:lpstr>Defining Custom API Objects(2/)</vt:lpstr>
      <vt:lpstr>Defining Custom API Objects(3/)</vt:lpstr>
      <vt:lpstr>Defining Custom API Objects(4/)</vt:lpstr>
      <vt:lpstr>Defining Custom API Objects(5/)</vt:lpstr>
      <vt:lpstr>Defining Custom API Objects(6/)</vt:lpstr>
      <vt:lpstr>Defining Custom API Objects(7/)</vt:lpstr>
      <vt:lpstr>Defining Custom API Objects(8/)</vt:lpstr>
      <vt:lpstr>Defining Custom API Objects(9/)</vt:lpstr>
      <vt:lpstr>Defining Custom API Objects(10/)</vt:lpstr>
      <vt:lpstr>Defining Custom API Objects(11/)</vt:lpstr>
      <vt:lpstr>Defining Custom API Objects(12/)</vt:lpstr>
      <vt:lpstr>Defining Custom API Objects(13/)</vt:lpstr>
      <vt:lpstr>Defining Custom API Objects(14/)</vt:lpstr>
      <vt:lpstr>NOTE : The Docker Hub </vt:lpstr>
      <vt:lpstr>Defining Custom API Objects(15/)</vt:lpstr>
      <vt:lpstr>Defining Custom API Objects(16/)</vt:lpstr>
      <vt:lpstr>Defining Custom API Objects(17/)</vt:lpstr>
      <vt:lpstr>Defining Custom API Objects(18/)</vt:lpstr>
      <vt:lpstr>Defining Custom API Objects(19/)</vt:lpstr>
      <vt:lpstr>Defining Custom API Objects(20/)</vt:lpstr>
      <vt:lpstr>Defining Custom API Objects(21/)</vt:lpstr>
      <vt:lpstr>&gt;</vt:lpstr>
      <vt:lpstr>Building Multi-Node Cluster</vt:lpstr>
      <vt:lpstr>Operating System Requirements</vt:lpstr>
      <vt:lpstr>Creating Virtual Machine </vt:lpstr>
      <vt:lpstr>Configuring the Network Adapter for the VM</vt:lpstr>
      <vt:lpstr>Installing the Operating System</vt:lpstr>
      <vt:lpstr>Installing Docker and Kubernetes</vt:lpstr>
      <vt:lpstr>&gt;</vt:lpstr>
      <vt:lpstr>&gt;</vt:lpstr>
      <vt:lpstr>&gt;</vt:lpstr>
      <vt:lpstr>&gt;</vt:lpstr>
      <vt:lpstr>&gt;</vt:lpstr>
      <vt:lpstr>&gt;</vt:lpstr>
      <vt:lpstr>&gt;</vt:lpstr>
      <vt:lpstr>&gt;</vt:lpstr>
      <vt:lpstr>&gt;</vt:lpstr>
      <vt:lpstr>&gt;</vt:lpstr>
      <vt:lpstr>&gt;</vt:lpstr>
      <vt:lpstr>&gt;</vt:lpstr>
      <vt:lpstr>&gt;</vt:lpstr>
      <vt:lpstr>&gt;</vt:lpstr>
      <vt:lpstr>&gt;</vt:lpstr>
      <vt:lpstr>&gt;</vt:lpstr>
      <vt:lpstr>&gt;</vt:lpstr>
      <vt:lpstr>&gt;</vt:lpstr>
      <vt:lpstr>&gt;</vt:lpstr>
      <vt:lpstr>&gt;</vt:lpstr>
      <vt:lpstr>&gt;</vt:lpstr>
      <vt:lpstr>NOTE : Big Picture - The Kubernetes Cluster</vt:lpstr>
      <vt:lpstr>NOTE : Kubernetes Cheat Sheet</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권 수호</cp:lastModifiedBy>
  <cp:revision>7377</cp:revision>
  <dcterms:created xsi:type="dcterms:W3CDTF">2020-11-26T08:00:10Z</dcterms:created>
  <dcterms:modified xsi:type="dcterms:W3CDTF">2023-04-05T01:20:01Z</dcterms:modified>
</cp:coreProperties>
</file>