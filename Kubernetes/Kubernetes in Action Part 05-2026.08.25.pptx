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1"/>
  </p:notesMasterIdLst>
  <p:sldIdLst>
    <p:sldId id="256" r:id="rId2"/>
    <p:sldId id="776" r:id="rId3"/>
    <p:sldId id="1590" r:id="rId4"/>
    <p:sldId id="1591" r:id="rId5"/>
    <p:sldId id="1592" r:id="rId6"/>
    <p:sldId id="1593" r:id="rId7"/>
    <p:sldId id="1594" r:id="rId8"/>
    <p:sldId id="1595" r:id="rId9"/>
    <p:sldId id="1596" r:id="rId10"/>
    <p:sldId id="1597" r:id="rId11"/>
    <p:sldId id="1598" r:id="rId12"/>
    <p:sldId id="1599" r:id="rId13"/>
    <p:sldId id="1600" r:id="rId14"/>
    <p:sldId id="1601" r:id="rId15"/>
    <p:sldId id="1602" r:id="rId16"/>
    <p:sldId id="1603" r:id="rId17"/>
    <p:sldId id="1604" r:id="rId18"/>
    <p:sldId id="1605" r:id="rId19"/>
    <p:sldId id="1606" r:id="rId20"/>
    <p:sldId id="1607" r:id="rId21"/>
    <p:sldId id="1608" r:id="rId22"/>
    <p:sldId id="1610" r:id="rId23"/>
    <p:sldId id="1609" r:id="rId24"/>
    <p:sldId id="1611" r:id="rId25"/>
    <p:sldId id="1612" r:id="rId26"/>
    <p:sldId id="1613" r:id="rId27"/>
    <p:sldId id="1614" r:id="rId28"/>
    <p:sldId id="1615" r:id="rId29"/>
    <p:sldId id="1616" r:id="rId30"/>
    <p:sldId id="1617" r:id="rId31"/>
    <p:sldId id="1618" r:id="rId32"/>
    <p:sldId id="1619" r:id="rId33"/>
    <p:sldId id="1620" r:id="rId34"/>
    <p:sldId id="1621" r:id="rId35"/>
    <p:sldId id="1622" r:id="rId36"/>
    <p:sldId id="1623" r:id="rId37"/>
    <p:sldId id="1624" r:id="rId38"/>
    <p:sldId id="1628" r:id="rId39"/>
    <p:sldId id="1626" r:id="rId40"/>
    <p:sldId id="1625" r:id="rId41"/>
    <p:sldId id="1627" r:id="rId42"/>
    <p:sldId id="1629" r:id="rId43"/>
    <p:sldId id="1630" r:id="rId44"/>
    <p:sldId id="1631" r:id="rId45"/>
    <p:sldId id="1632" r:id="rId46"/>
    <p:sldId id="1633" r:id="rId47"/>
    <p:sldId id="1634" r:id="rId48"/>
    <p:sldId id="1635" r:id="rId49"/>
    <p:sldId id="1636" r:id="rId50"/>
    <p:sldId id="1637" r:id="rId51"/>
    <p:sldId id="1638" r:id="rId52"/>
    <p:sldId id="1644" r:id="rId53"/>
    <p:sldId id="1642" r:id="rId54"/>
    <p:sldId id="1643" r:id="rId55"/>
    <p:sldId id="1645" r:id="rId56"/>
    <p:sldId id="1646" r:id="rId57"/>
    <p:sldId id="1647" r:id="rId58"/>
    <p:sldId id="1648" r:id="rId59"/>
    <p:sldId id="1649" r:id="rId60"/>
    <p:sldId id="1650" r:id="rId61"/>
    <p:sldId id="1652" r:id="rId62"/>
    <p:sldId id="1651" r:id="rId63"/>
    <p:sldId id="1653" r:id="rId64"/>
    <p:sldId id="1654" r:id="rId65"/>
    <p:sldId id="1656" r:id="rId66"/>
    <p:sldId id="1655" r:id="rId67"/>
    <p:sldId id="1657" r:id="rId68"/>
    <p:sldId id="1658" r:id="rId69"/>
    <p:sldId id="1659" r:id="rId70"/>
    <p:sldId id="1660" r:id="rId71"/>
    <p:sldId id="1661" r:id="rId72"/>
    <p:sldId id="1662" r:id="rId73"/>
    <p:sldId id="1663" r:id="rId74"/>
    <p:sldId id="1664" r:id="rId75"/>
    <p:sldId id="1665" r:id="rId76"/>
    <p:sldId id="1666" r:id="rId77"/>
    <p:sldId id="1667" r:id="rId78"/>
    <p:sldId id="1668" r:id="rId79"/>
    <p:sldId id="1669" r:id="rId80"/>
    <p:sldId id="1670" r:id="rId81"/>
    <p:sldId id="1671" r:id="rId82"/>
    <p:sldId id="1672" r:id="rId83"/>
    <p:sldId id="1673" r:id="rId84"/>
    <p:sldId id="1674" r:id="rId85"/>
    <p:sldId id="1675" r:id="rId86"/>
    <p:sldId id="1676" r:id="rId87"/>
    <p:sldId id="1677" r:id="rId88"/>
    <p:sldId id="1678" r:id="rId89"/>
    <p:sldId id="1679" r:id="rId90"/>
    <p:sldId id="1680" r:id="rId91"/>
    <p:sldId id="1681" r:id="rId92"/>
    <p:sldId id="1682" r:id="rId93"/>
    <p:sldId id="1683" r:id="rId94"/>
    <p:sldId id="1684" r:id="rId95"/>
    <p:sldId id="1685" r:id="rId96"/>
    <p:sldId id="1686" r:id="rId97"/>
    <p:sldId id="1687" r:id="rId98"/>
    <p:sldId id="1688" r:id="rId99"/>
    <p:sldId id="1689" r:id="rId100"/>
    <p:sldId id="1690" r:id="rId101"/>
    <p:sldId id="1691" r:id="rId102"/>
    <p:sldId id="1692" r:id="rId103"/>
    <p:sldId id="1693" r:id="rId104"/>
    <p:sldId id="1694" r:id="rId105"/>
    <p:sldId id="1695" r:id="rId106"/>
    <p:sldId id="1696" r:id="rId107"/>
    <p:sldId id="1697" r:id="rId108"/>
    <p:sldId id="281" r:id="rId109"/>
    <p:sldId id="259" r:id="rId1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2" autoAdjust="0"/>
    <p:restoredTop sz="94660"/>
  </p:normalViewPr>
  <p:slideViewPr>
    <p:cSldViewPr snapToGrid="0">
      <p:cViewPr varScale="1">
        <p:scale>
          <a:sx n="113" d="100"/>
          <a:sy n="113" d="100"/>
        </p:scale>
        <p:origin x="108" y="6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commentAuthors" Target="commentAuthor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192.168.49.2:8443/"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github.com/kubernetes-incubator/client-python" TargetMode="External"/><Relationship Id="rId2" Type="http://schemas.openxmlformats.org/officeDocument/2006/relationships/hyperlink" Target="https://github.com/kubernetes/client-go" TargetMode="Externa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hyperlink" Target="https://github.com/kubernetes/community/blob/master/sig-list.md"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github.com/Ch00k/kubr" TargetMode="External"/><Relationship Id="rId13" Type="http://schemas.openxmlformats.org/officeDocument/2006/relationships/image" Target="../media/image47.emf"/><Relationship Id="rId3" Type="http://schemas.openxmlformats.org/officeDocument/2006/relationships/hyperlink" Target="https://bitbucket.org/amdatulabs/amdatu-kubernetes" TargetMode="External"/><Relationship Id="rId7" Type="http://schemas.openxmlformats.org/officeDocument/2006/relationships/hyperlink" Target="https://github.com/maclof/kubernetes-client" TargetMode="External"/><Relationship Id="rId12" Type="http://schemas.openxmlformats.org/officeDocument/2006/relationships/hyperlink" Target="https://metacpan.org/pod/Net::Kubernetes" TargetMode="External"/><Relationship Id="rId2" Type="http://schemas.openxmlformats.org/officeDocument/2006/relationships/hyperlink" Target="https://github.com/fabric8io/kubernetes-client" TargetMode="External"/><Relationship Id="rId1" Type="http://schemas.openxmlformats.org/officeDocument/2006/relationships/slideLayout" Target="../slideLayouts/slideLayout2.xml"/><Relationship Id="rId6" Type="http://schemas.openxmlformats.org/officeDocument/2006/relationships/hyperlink" Target="https://github.com/devstub/kubernetes-api-php-client" TargetMode="External"/><Relationship Id="rId11" Type="http://schemas.openxmlformats.org/officeDocument/2006/relationships/hyperlink" Target="https://github.com/doriordan/skuber" TargetMode="External"/><Relationship Id="rId5" Type="http://schemas.openxmlformats.org/officeDocument/2006/relationships/hyperlink" Target="https://github.com/godaddy/kubernetes-client" TargetMode="External"/><Relationship Id="rId10" Type="http://schemas.openxmlformats.org/officeDocument/2006/relationships/hyperlink" Target="https://github.com/yanatan16/clj-kubernetes-api" TargetMode="External"/><Relationship Id="rId4" Type="http://schemas.openxmlformats.org/officeDocument/2006/relationships/hyperlink" Target="https://github.com/tenxcloud/node-kubernetes-client" TargetMode="External"/><Relationship Id="rId9" Type="http://schemas.openxmlformats.org/officeDocument/2006/relationships/hyperlink" Target="https://github.com/abonas/kubeclient"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minikube.sigs.k8s.io/docs/" TargetMode="External"/><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10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V</a:t>
            </a:r>
          </a:p>
          <a:p>
            <a:endParaRPr lang="en-US" altLang="ko-KR" b="1" dirty="0"/>
          </a:p>
          <a:p>
            <a:r>
              <a:rPr lang="en-US" altLang="ko-KR" sz="2000" b="1"/>
              <a:t>2026.08.25</a:t>
            </a:r>
            <a:endParaRPr lang="en-US" altLang="ko-KR" sz="2000" b="1" dirty="0"/>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Sharing Information</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Accessing Pod Metadata and Other Resources from Application</a:t>
            </a:r>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Downward API :</a:t>
            </a:r>
          </a:p>
          <a:p>
            <a:pPr lvl="1">
              <a:buFont typeface="Wingdings" panose="05000000000000000000" pitchFamily="2" charset="2"/>
              <a:buChar char="§"/>
            </a:pPr>
            <a:r>
              <a:rPr lang="en-US" altLang="ko-KR" sz="1400" dirty="0"/>
              <a:t>In the previous part you saw </a:t>
            </a:r>
            <a:r>
              <a:rPr lang="en-US" altLang="ko-KR" sz="1400" b="1" dirty="0"/>
              <a:t>how you can pass configuration data to your applications through environment variables or through </a:t>
            </a:r>
            <a:r>
              <a:rPr lang="en-US" altLang="ko-KR" sz="1400" b="1" dirty="0" err="1"/>
              <a:t>configMap</a:t>
            </a:r>
            <a:r>
              <a:rPr lang="en-US" altLang="ko-KR" sz="1400" b="1" dirty="0"/>
              <a:t> and secret volumes</a:t>
            </a:r>
            <a:r>
              <a:rPr lang="en-US" altLang="ko-KR" sz="1400" dirty="0"/>
              <a:t>. This works well for data that you set yourself and that is known before the pod is scheduled to a node and run there. </a:t>
            </a:r>
            <a:r>
              <a:rPr lang="en-US" altLang="ko-KR" sz="1400" b="1" dirty="0"/>
              <a:t>But what about data that isn’t known up until that point—such as the pod’s IP, the host node’s name, or even the pod’s own name (when the name is generated; for example, when the pod is created by a </a:t>
            </a:r>
            <a:r>
              <a:rPr lang="en-US" altLang="ko-KR" sz="1400" b="1" dirty="0" err="1"/>
              <a:t>ReplicaSet</a:t>
            </a:r>
            <a:r>
              <a:rPr lang="en-US" altLang="ko-KR" sz="1400" b="1" dirty="0"/>
              <a:t> or similar controller)?</a:t>
            </a:r>
            <a:r>
              <a:rPr lang="en-US" altLang="ko-KR" sz="1400" dirty="0"/>
              <a:t> </a:t>
            </a:r>
            <a:r>
              <a:rPr lang="en-US" altLang="ko-KR" sz="1400" b="1" dirty="0"/>
              <a:t>And what about data that’s already specified elsewhere, such as a pod’s labels and annotations? </a:t>
            </a:r>
            <a:r>
              <a:rPr lang="en-US" altLang="ko-KR" sz="1400" dirty="0"/>
              <a:t>You don’t want to repeat the same information in multiple places.</a:t>
            </a:r>
          </a:p>
          <a:p>
            <a:pPr lvl="1">
              <a:buFont typeface="Wingdings" panose="05000000000000000000" pitchFamily="2" charset="2"/>
              <a:buChar char="§"/>
            </a:pPr>
            <a:r>
              <a:rPr lang="en-US" altLang="ko-KR" sz="1400" dirty="0"/>
              <a:t>Both these problems are solved by the “</a:t>
            </a:r>
            <a:r>
              <a:rPr lang="en-US" altLang="ko-KR" sz="1400" b="1" dirty="0">
                <a:solidFill>
                  <a:srgbClr val="FF0000"/>
                </a:solidFill>
              </a:rPr>
              <a:t>Kubernetes Downward API</a:t>
            </a:r>
            <a:r>
              <a:rPr lang="en-US" altLang="ko-KR" sz="1400" b="1" dirty="0"/>
              <a:t>”</a:t>
            </a:r>
            <a:r>
              <a:rPr lang="en-US" altLang="ko-KR" sz="1400" dirty="0"/>
              <a:t>. </a:t>
            </a:r>
            <a:r>
              <a:rPr lang="en-US" altLang="ko-KR" sz="1400" b="1" dirty="0"/>
              <a:t>It allows you to pass metadata about the pod and its environment through environment variables or files (in a “</a:t>
            </a:r>
            <a:r>
              <a:rPr lang="en-US" altLang="ko-KR" sz="1400" b="1" dirty="0" err="1">
                <a:solidFill>
                  <a:srgbClr val="FF0000"/>
                </a:solidFill>
              </a:rPr>
              <a:t>downwardAPI</a:t>
            </a:r>
            <a:r>
              <a:rPr lang="en-US" altLang="ko-KR" sz="1400" b="1" dirty="0"/>
              <a:t>” volume)</a:t>
            </a:r>
            <a:r>
              <a:rPr lang="en-US" altLang="ko-KR" sz="1400" dirty="0"/>
              <a:t>. Don’t be confused by the name. </a:t>
            </a:r>
            <a:r>
              <a:rPr lang="en-US" altLang="ko-KR" sz="1400" b="1" dirty="0"/>
              <a:t>The Downward API isn’t like a REST endpoint </a:t>
            </a:r>
            <a:r>
              <a:rPr lang="en-US" altLang="ko-KR" sz="1400" dirty="0"/>
              <a:t>that your app needs to hit so it can get the data. </a:t>
            </a:r>
            <a:r>
              <a:rPr lang="en-US" altLang="ko-KR" sz="1400" b="1" dirty="0"/>
              <a:t>It’s a way of having environment variables or files populated with values from the pod’s specification or status</a:t>
            </a:r>
            <a:r>
              <a:rPr lang="en-US" altLang="ko-KR" sz="1400" dirty="0"/>
              <a:t>, as shown in the following figure.</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61F76F2-0877-5E7E-839A-B44DBBB931F9}"/>
              </a:ext>
            </a:extLst>
          </p:cNvPr>
          <p:cNvGrpSpPr/>
          <p:nvPr/>
        </p:nvGrpSpPr>
        <p:grpSpPr>
          <a:xfrm>
            <a:off x="3739194" y="3550964"/>
            <a:ext cx="4713611" cy="2858066"/>
            <a:chOff x="3739194" y="3550964"/>
            <a:chExt cx="4713611" cy="2858066"/>
          </a:xfrm>
        </p:grpSpPr>
        <p:pic>
          <p:nvPicPr>
            <p:cNvPr id="8" name="그림 7">
              <a:extLst>
                <a:ext uri="{FF2B5EF4-FFF2-40B4-BE49-F238E27FC236}">
                  <a16:creationId xmlns:a16="http://schemas.microsoft.com/office/drawing/2014/main" id="{35F7F25C-B948-A46D-266B-BD551D93F2A5}"/>
                </a:ext>
              </a:extLst>
            </p:cNvPr>
            <p:cNvPicPr>
              <a:picLocks noChangeAspect="1"/>
            </p:cNvPicPr>
            <p:nvPr/>
          </p:nvPicPr>
          <p:blipFill>
            <a:blip r:embed="rId2"/>
            <a:stretch>
              <a:fillRect/>
            </a:stretch>
          </p:blipFill>
          <p:spPr>
            <a:xfrm>
              <a:off x="3739194" y="3550964"/>
              <a:ext cx="4713611" cy="2858066"/>
            </a:xfrm>
            <a:prstGeom prst="rect">
              <a:avLst/>
            </a:prstGeom>
          </p:spPr>
        </p:pic>
        <p:sp>
          <p:nvSpPr>
            <p:cNvPr id="9" name="직사각형 8">
              <a:extLst>
                <a:ext uri="{FF2B5EF4-FFF2-40B4-BE49-F238E27FC236}">
                  <a16:creationId xmlns:a16="http://schemas.microsoft.com/office/drawing/2014/main" id="{13F43919-FBF7-D81A-1528-A1E33928CA18}"/>
                </a:ext>
              </a:extLst>
            </p:cNvPr>
            <p:cNvSpPr/>
            <p:nvPr/>
          </p:nvSpPr>
          <p:spPr>
            <a:xfrm>
              <a:off x="7048163" y="5486400"/>
              <a:ext cx="1084333" cy="5810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34305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Available Metadata :</a:t>
            </a:r>
          </a:p>
          <a:p>
            <a:pPr lvl="1">
              <a:buFont typeface="Wingdings" panose="05000000000000000000" pitchFamily="2" charset="2"/>
              <a:buChar char="§"/>
            </a:pPr>
            <a:r>
              <a:rPr lang="en-US" altLang="ko-KR" sz="1400" b="1" dirty="0"/>
              <a:t>The </a:t>
            </a:r>
            <a:r>
              <a:rPr lang="en-US" altLang="ko-KR" sz="1400" b="1" dirty="0">
                <a:solidFill>
                  <a:srgbClr val="FF0000"/>
                </a:solidFill>
              </a:rPr>
              <a:t>Downward API </a:t>
            </a:r>
            <a:r>
              <a:rPr lang="en-US" altLang="ko-KR" sz="1400" b="1" dirty="0"/>
              <a:t>enables you to </a:t>
            </a:r>
            <a:r>
              <a:rPr lang="en-US" altLang="ko-KR" sz="1400" b="1" dirty="0">
                <a:solidFill>
                  <a:srgbClr val="FF0000"/>
                </a:solidFill>
              </a:rPr>
              <a:t>expose the pod’s own metadata </a:t>
            </a:r>
            <a:r>
              <a:rPr lang="en-US" altLang="ko-KR" sz="1400" b="1" dirty="0"/>
              <a:t>to the processes running inside that pod</a:t>
            </a:r>
            <a:r>
              <a:rPr lang="en-US" altLang="ko-KR" sz="1400" dirty="0"/>
              <a:t>. Currently, it allows you to </a:t>
            </a:r>
            <a:r>
              <a:rPr lang="en-US" altLang="ko-KR" sz="1400" b="1" dirty="0"/>
              <a:t>pass the following information to your containers </a:t>
            </a:r>
            <a:r>
              <a:rPr lang="en-US" altLang="ko-KR" sz="1400" dirty="0"/>
              <a:t>:</a:t>
            </a:r>
          </a:p>
          <a:p>
            <a:pPr lvl="2">
              <a:buFont typeface="Wingdings" panose="05000000000000000000" pitchFamily="2" charset="2"/>
              <a:buChar char="§"/>
            </a:pPr>
            <a:r>
              <a:rPr lang="en-US" altLang="ko-KR" sz="1400" dirty="0"/>
              <a:t>The pod’s </a:t>
            </a:r>
            <a:r>
              <a:rPr lang="en-US" altLang="ko-KR" sz="1400" b="1" dirty="0"/>
              <a:t>name</a:t>
            </a:r>
          </a:p>
          <a:p>
            <a:pPr lvl="2">
              <a:buFont typeface="Wingdings" panose="05000000000000000000" pitchFamily="2" charset="2"/>
              <a:buChar char="§"/>
            </a:pPr>
            <a:r>
              <a:rPr lang="en-US" altLang="ko-KR" sz="1400" dirty="0"/>
              <a:t>The pod’s </a:t>
            </a:r>
            <a:r>
              <a:rPr lang="en-US" altLang="ko-KR" sz="1400" b="1" dirty="0"/>
              <a:t>IP address</a:t>
            </a:r>
          </a:p>
          <a:p>
            <a:pPr lvl="2">
              <a:buFont typeface="Wingdings" panose="05000000000000000000" pitchFamily="2" charset="2"/>
              <a:buChar char="§"/>
            </a:pPr>
            <a:r>
              <a:rPr lang="en-US" altLang="ko-KR" sz="1400" dirty="0"/>
              <a:t>The </a:t>
            </a:r>
            <a:r>
              <a:rPr lang="en-US" altLang="ko-KR" sz="1400" b="1" dirty="0"/>
              <a:t>namespace</a:t>
            </a:r>
            <a:r>
              <a:rPr lang="en-US" altLang="ko-KR" sz="1400" dirty="0"/>
              <a:t> the pod belongs to</a:t>
            </a:r>
          </a:p>
          <a:p>
            <a:pPr lvl="2">
              <a:buFont typeface="Wingdings" panose="05000000000000000000" pitchFamily="2" charset="2"/>
              <a:buChar char="§"/>
            </a:pPr>
            <a:r>
              <a:rPr lang="en-US" altLang="ko-KR" sz="1400" dirty="0"/>
              <a:t>The </a:t>
            </a:r>
            <a:r>
              <a:rPr lang="en-US" altLang="ko-KR" sz="1400" b="1" dirty="0"/>
              <a:t>name of the node </a:t>
            </a:r>
            <a:r>
              <a:rPr lang="en-US" altLang="ko-KR" sz="1400" dirty="0"/>
              <a:t>the pod is running on</a:t>
            </a:r>
          </a:p>
          <a:p>
            <a:pPr lvl="2">
              <a:buFont typeface="Wingdings" panose="05000000000000000000" pitchFamily="2" charset="2"/>
              <a:buChar char="§"/>
            </a:pPr>
            <a:r>
              <a:rPr lang="en-US" altLang="ko-KR" sz="1400" dirty="0"/>
              <a:t>The </a:t>
            </a:r>
            <a:r>
              <a:rPr lang="en-US" altLang="ko-KR" sz="1400" b="1" dirty="0"/>
              <a:t>name of the service account</a:t>
            </a:r>
            <a:r>
              <a:rPr lang="en-US" altLang="ko-KR" sz="1400" dirty="0"/>
              <a:t> the pod is running under</a:t>
            </a:r>
          </a:p>
          <a:p>
            <a:pPr lvl="2">
              <a:buFont typeface="Wingdings" panose="05000000000000000000" pitchFamily="2" charset="2"/>
              <a:buChar char="§"/>
            </a:pPr>
            <a:r>
              <a:rPr lang="en-US" altLang="ko-KR" sz="1400" dirty="0"/>
              <a:t>The </a:t>
            </a:r>
            <a:r>
              <a:rPr lang="en-US" altLang="ko-KR" sz="1400" b="1" dirty="0"/>
              <a:t>CPU and memory requests </a:t>
            </a:r>
            <a:r>
              <a:rPr lang="en-US" altLang="ko-KR" sz="1400" dirty="0"/>
              <a:t>for each container</a:t>
            </a:r>
          </a:p>
          <a:p>
            <a:pPr lvl="2">
              <a:buFont typeface="Wingdings" panose="05000000000000000000" pitchFamily="2" charset="2"/>
              <a:buChar char="§"/>
            </a:pPr>
            <a:r>
              <a:rPr lang="en-US" altLang="ko-KR" sz="1400" dirty="0"/>
              <a:t>The </a:t>
            </a:r>
            <a:r>
              <a:rPr lang="en-US" altLang="ko-KR" sz="1400" b="1" dirty="0"/>
              <a:t>CPU and memory limits</a:t>
            </a:r>
            <a:r>
              <a:rPr lang="en-US" altLang="ko-KR" sz="1400" dirty="0"/>
              <a:t> for each container</a:t>
            </a:r>
          </a:p>
          <a:p>
            <a:pPr lvl="2">
              <a:buFont typeface="Wingdings" panose="05000000000000000000" pitchFamily="2" charset="2"/>
              <a:buChar char="§"/>
            </a:pPr>
            <a:r>
              <a:rPr lang="en-US" altLang="ko-KR" sz="1400" dirty="0"/>
              <a:t>The pod’s </a:t>
            </a:r>
            <a:r>
              <a:rPr lang="en-US" altLang="ko-KR" sz="1400" b="1" dirty="0"/>
              <a:t>labels</a:t>
            </a:r>
          </a:p>
          <a:p>
            <a:pPr lvl="2">
              <a:buFont typeface="Wingdings" panose="05000000000000000000" pitchFamily="2" charset="2"/>
              <a:buChar char="§"/>
            </a:pPr>
            <a:r>
              <a:rPr lang="en-US" altLang="ko-KR" sz="1400" dirty="0"/>
              <a:t>The pod’s </a:t>
            </a:r>
            <a:r>
              <a:rPr lang="en-US" altLang="ko-KR" sz="1400" b="1" dirty="0"/>
              <a:t>annotations</a:t>
            </a:r>
          </a:p>
          <a:p>
            <a:pPr lvl="1">
              <a:buFont typeface="Wingdings" panose="05000000000000000000" pitchFamily="2" charset="2"/>
              <a:buChar char="§"/>
            </a:pPr>
            <a:r>
              <a:rPr lang="en-US" altLang="ko-KR" sz="1500" b="1" dirty="0"/>
              <a:t>A service account is the account that the pod authenticates as when talking to the </a:t>
            </a:r>
            <a:r>
              <a:rPr lang="en-US" altLang="ko-KR" sz="1500" b="1" dirty="0">
                <a:solidFill>
                  <a:srgbClr val="FF0000"/>
                </a:solidFill>
              </a:rPr>
              <a:t>API server</a:t>
            </a:r>
            <a:r>
              <a:rPr lang="en-US" altLang="ko-KR" sz="1500" dirty="0"/>
              <a:t>. </a:t>
            </a:r>
            <a:r>
              <a:rPr lang="en-US" altLang="ko-KR" sz="1500" b="1" dirty="0"/>
              <a:t>CPU and memory requests and limits are the amount of CPU and memory guaranteed to a container and the maximum amount it can get</a:t>
            </a:r>
            <a:r>
              <a:rPr lang="en-US" altLang="ko-KR" sz="15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2B836FF-64C0-478E-A588-183A136EA521}"/>
              </a:ext>
            </a:extLst>
          </p:cNvPr>
          <p:cNvSpPr txBox="1"/>
          <p:nvPr/>
        </p:nvSpPr>
        <p:spPr>
          <a:xfrm>
            <a:off x="838200" y="4557832"/>
            <a:ext cx="5902465" cy="1546577"/>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5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Most items in the list can be passed to containers either through environment variables or through a </a:t>
            </a:r>
            <a:r>
              <a:rPr kumimoji="0" lang="en-US" altLang="ko-KR" sz="15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downwardAPI</a:t>
            </a:r>
            <a:r>
              <a:rPr kumimoji="0" lang="en-US" altLang="ko-KR" sz="15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5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volume</a:t>
            </a:r>
            <a:r>
              <a:rPr kumimoji="0" lang="en-US" altLang="ko-KR" sz="15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but </a:t>
            </a:r>
            <a:r>
              <a:rPr kumimoji="0" lang="en-US" altLang="ko-KR" sz="15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labels and annotations can only be exposed through the volume</a:t>
            </a:r>
            <a:r>
              <a:rPr kumimoji="0" lang="en-US" altLang="ko-KR" sz="15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Part of the data can be acquired by other means (for example, from the operating system directly), but the </a:t>
            </a:r>
            <a:r>
              <a:rPr kumimoji="0" lang="en-US" altLang="ko-KR" sz="15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Downward API </a:t>
            </a:r>
            <a:r>
              <a:rPr kumimoji="0" lang="en-US" altLang="ko-KR" sz="15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provides a simpler alternative.</a:t>
            </a:r>
          </a:p>
        </p:txBody>
      </p:sp>
      <p:pic>
        <p:nvPicPr>
          <p:cNvPr id="9" name="그림 8">
            <a:extLst>
              <a:ext uri="{FF2B5EF4-FFF2-40B4-BE49-F238E27FC236}">
                <a16:creationId xmlns:a16="http://schemas.microsoft.com/office/drawing/2014/main" id="{4F168352-5062-3EE3-2BB1-180F02B86606}"/>
              </a:ext>
            </a:extLst>
          </p:cNvPr>
          <p:cNvPicPr>
            <a:picLocks noChangeAspect="1"/>
          </p:cNvPicPr>
          <p:nvPr/>
        </p:nvPicPr>
        <p:blipFill>
          <a:blip r:embed="rId2"/>
          <a:stretch>
            <a:fillRect/>
          </a:stretch>
        </p:blipFill>
        <p:spPr>
          <a:xfrm>
            <a:off x="7426634" y="4389345"/>
            <a:ext cx="3927166" cy="2019685"/>
          </a:xfrm>
          <a:prstGeom prst="rect">
            <a:avLst/>
          </a:prstGeom>
        </p:spPr>
      </p:pic>
    </p:spTree>
    <p:extLst>
      <p:ext uri="{BB962C8B-B14F-4D97-AF65-F5344CB8AC3E}">
        <p14:creationId xmlns:p14="http://schemas.microsoft.com/office/powerpoint/2010/main" val="2241746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API(3/12)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Exposing Metadata Through Environment Variables :</a:t>
            </a:r>
          </a:p>
          <a:p>
            <a:pPr lvl="1">
              <a:buFont typeface="Wingdings" panose="05000000000000000000" pitchFamily="2" charset="2"/>
              <a:buChar char="§"/>
            </a:pPr>
            <a:r>
              <a:rPr lang="en-US" altLang="ko-KR" sz="1400" dirty="0"/>
              <a:t>Let’s look at </a:t>
            </a:r>
            <a:r>
              <a:rPr lang="en-US" altLang="ko-KR" sz="1400" b="1" dirty="0"/>
              <a:t>how you can pass the pod’s and container’s metadata to the container through environment variables</a:t>
            </a:r>
            <a:r>
              <a:rPr lang="en-US" altLang="ko-KR" sz="1400" dirty="0"/>
              <a:t>. You’ll create a simple single-container pod from the following listing’s manifest.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B2DC7053-CCB7-0C75-8A2B-1AFEA4BE66F9}"/>
              </a:ext>
            </a:extLst>
          </p:cNvPr>
          <p:cNvGrpSpPr/>
          <p:nvPr/>
        </p:nvGrpSpPr>
        <p:grpSpPr>
          <a:xfrm>
            <a:off x="1742485" y="1969906"/>
            <a:ext cx="8707030" cy="3939540"/>
            <a:chOff x="1308886" y="2027696"/>
            <a:chExt cx="8707030" cy="3939540"/>
          </a:xfrm>
        </p:grpSpPr>
        <p:grpSp>
          <p:nvGrpSpPr>
            <p:cNvPr id="11" name="그룹 10">
              <a:extLst>
                <a:ext uri="{FF2B5EF4-FFF2-40B4-BE49-F238E27FC236}">
                  <a16:creationId xmlns:a16="http://schemas.microsoft.com/office/drawing/2014/main" id="{24E80F0A-3656-047E-203C-F9BBAB79D758}"/>
                </a:ext>
              </a:extLst>
            </p:cNvPr>
            <p:cNvGrpSpPr/>
            <p:nvPr/>
          </p:nvGrpSpPr>
          <p:grpSpPr>
            <a:xfrm>
              <a:off x="1308886" y="2027696"/>
              <a:ext cx="8707030" cy="3939540"/>
              <a:chOff x="1308886" y="2027696"/>
              <a:chExt cx="8707030" cy="3939540"/>
            </a:xfrm>
          </p:grpSpPr>
          <p:sp>
            <p:nvSpPr>
              <p:cNvPr id="8" name="TextBox 7">
                <a:extLst>
                  <a:ext uri="{FF2B5EF4-FFF2-40B4-BE49-F238E27FC236}">
                    <a16:creationId xmlns:a16="http://schemas.microsoft.com/office/drawing/2014/main" id="{8D40E241-73BA-B77C-D646-02FA0922661B}"/>
                  </a:ext>
                </a:extLst>
              </p:cNvPr>
              <p:cNvSpPr txBox="1"/>
              <p:nvPr/>
            </p:nvSpPr>
            <p:spPr>
              <a:xfrm>
                <a:off x="5662401" y="2027696"/>
                <a:ext cx="4353515" cy="3939540"/>
              </a:xfrm>
              <a:prstGeom prst="rect">
                <a:avLst/>
              </a:prstGeom>
              <a:noFill/>
              <a:ln>
                <a:solidFill>
                  <a:schemeClr val="bg1">
                    <a:lumMod val="50000"/>
                  </a:schemeClr>
                </a:solidFill>
              </a:ln>
            </p:spPr>
            <p:txBody>
              <a:bodyPr wrap="square">
                <a:spAutoFit/>
              </a:bodyPr>
              <a:lstStyle/>
              <a:p>
                <a:r>
                  <a:rPr lang="en-US" altLang="ko-KR" sz="1000" b="1" dirty="0"/>
                  <a:t>    - name: </a:t>
                </a:r>
                <a:r>
                  <a:rPr lang="en-US" altLang="ko-KR" sz="1000" b="1" dirty="0">
                    <a:solidFill>
                      <a:srgbClr val="FF0000"/>
                    </a:solidFill>
                  </a:rPr>
                  <a:t>POD_IP</a:t>
                </a:r>
              </a:p>
              <a:p>
                <a:r>
                  <a:rPr lang="en-US" altLang="ko-KR" sz="1000" b="1" dirty="0"/>
                  <a:t>      </a:t>
                </a:r>
                <a:r>
                  <a:rPr lang="en-US" altLang="ko-KR" sz="1000" b="1" dirty="0" err="1"/>
                  <a:t>valueFrom</a:t>
                </a:r>
                <a:r>
                  <a:rPr lang="en-US" altLang="ko-KR" sz="1000" b="1" dirty="0"/>
                  <a:t>:</a:t>
                </a:r>
              </a:p>
              <a:p>
                <a:r>
                  <a:rPr lang="en-US" altLang="ko-KR" sz="1000" b="1" dirty="0"/>
                  <a:t>        </a:t>
                </a:r>
                <a:r>
                  <a:rPr lang="en-US" altLang="ko-KR" sz="1000" b="1" dirty="0" err="1"/>
                  <a:t>fieldRef</a:t>
                </a:r>
                <a:r>
                  <a:rPr lang="en-US" altLang="ko-KR" sz="1000" b="1" dirty="0"/>
                  <a:t>:</a:t>
                </a:r>
              </a:p>
              <a:p>
                <a:r>
                  <a:rPr lang="en-US" altLang="ko-KR" sz="1000" b="1" dirty="0"/>
                  <a:t>          </a:t>
                </a:r>
                <a:r>
                  <a:rPr lang="en-US" altLang="ko-KR" sz="1000" b="1" dirty="0" err="1"/>
                  <a:t>fieldPath</a:t>
                </a:r>
                <a:r>
                  <a:rPr lang="en-US" altLang="ko-KR" sz="1000" b="1" dirty="0"/>
                  <a:t>: </a:t>
                </a:r>
                <a:r>
                  <a:rPr lang="en-US" altLang="ko-KR" sz="1000" b="1" dirty="0" err="1"/>
                  <a:t>status.podIP</a:t>
                </a:r>
                <a:endParaRPr lang="en-US" altLang="ko-KR" sz="1000" b="1" dirty="0"/>
              </a:p>
              <a:p>
                <a:r>
                  <a:rPr lang="en-US" altLang="ko-KR" sz="1000" b="1" dirty="0"/>
                  <a:t>    - name: </a:t>
                </a:r>
                <a:r>
                  <a:rPr lang="en-US" altLang="ko-KR" sz="1000" b="1" dirty="0">
                    <a:solidFill>
                      <a:srgbClr val="FF0000"/>
                    </a:solidFill>
                  </a:rPr>
                  <a:t>NODE_NAME</a:t>
                </a:r>
              </a:p>
              <a:p>
                <a:r>
                  <a:rPr lang="en-US" altLang="ko-KR" sz="1000" b="1" dirty="0"/>
                  <a:t>      </a:t>
                </a:r>
                <a:r>
                  <a:rPr lang="en-US" altLang="ko-KR" sz="1000" b="1" dirty="0" err="1"/>
                  <a:t>valueFrom</a:t>
                </a:r>
                <a:r>
                  <a:rPr lang="en-US" altLang="ko-KR" sz="1000" b="1" dirty="0"/>
                  <a:t>:</a:t>
                </a:r>
              </a:p>
              <a:p>
                <a:r>
                  <a:rPr lang="en-US" altLang="ko-KR" sz="1000" b="1" dirty="0"/>
                  <a:t>        </a:t>
                </a:r>
                <a:r>
                  <a:rPr lang="en-US" altLang="ko-KR" sz="1000" b="1" dirty="0" err="1"/>
                  <a:t>fieldRef</a:t>
                </a:r>
                <a:r>
                  <a:rPr lang="en-US" altLang="ko-KR" sz="1000" b="1" dirty="0"/>
                  <a:t>:</a:t>
                </a:r>
              </a:p>
              <a:p>
                <a:r>
                  <a:rPr lang="en-US" altLang="ko-KR" sz="1000" b="1" dirty="0"/>
                  <a:t>          </a:t>
                </a:r>
                <a:r>
                  <a:rPr lang="en-US" altLang="ko-KR" sz="1000" b="1" dirty="0" err="1"/>
                  <a:t>fieldPath</a:t>
                </a:r>
                <a:r>
                  <a:rPr lang="en-US" altLang="ko-KR" sz="1000" b="1" dirty="0"/>
                  <a:t>: </a:t>
                </a:r>
                <a:r>
                  <a:rPr lang="en-US" altLang="ko-KR" sz="1000" b="1" dirty="0" err="1"/>
                  <a:t>spec.nodeName</a:t>
                </a:r>
                <a:endParaRPr lang="en-US" altLang="ko-KR" sz="1000" b="1" dirty="0"/>
              </a:p>
              <a:p>
                <a:r>
                  <a:rPr lang="en-US" altLang="ko-KR" sz="1000" b="1" dirty="0"/>
                  <a:t>    - name: </a:t>
                </a:r>
                <a:r>
                  <a:rPr lang="en-US" altLang="ko-KR" sz="1000" b="1" dirty="0">
                    <a:solidFill>
                      <a:srgbClr val="FF0000"/>
                    </a:solidFill>
                  </a:rPr>
                  <a:t>SERVICE_ACCOUNT</a:t>
                </a:r>
              </a:p>
              <a:p>
                <a:r>
                  <a:rPr lang="en-US" altLang="ko-KR" sz="1000" b="1" dirty="0"/>
                  <a:t>      </a:t>
                </a:r>
                <a:r>
                  <a:rPr lang="en-US" altLang="ko-KR" sz="1000" b="1" dirty="0" err="1"/>
                  <a:t>valueFrom</a:t>
                </a:r>
                <a:r>
                  <a:rPr lang="en-US" altLang="ko-KR" sz="1000" b="1" dirty="0"/>
                  <a:t>:</a:t>
                </a:r>
              </a:p>
              <a:p>
                <a:r>
                  <a:rPr lang="en-US" altLang="ko-KR" sz="1000" b="1" dirty="0"/>
                  <a:t>        </a:t>
                </a:r>
                <a:r>
                  <a:rPr lang="en-US" altLang="ko-KR" sz="1000" b="1" dirty="0" err="1"/>
                  <a:t>fieldRef</a:t>
                </a:r>
                <a:r>
                  <a:rPr lang="en-US" altLang="ko-KR" sz="1000" b="1" dirty="0"/>
                  <a:t>:</a:t>
                </a:r>
              </a:p>
              <a:p>
                <a:r>
                  <a:rPr lang="en-US" altLang="ko-KR" sz="1000" b="1" dirty="0"/>
                  <a:t>          </a:t>
                </a:r>
                <a:r>
                  <a:rPr lang="en-US" altLang="ko-KR" sz="1000" b="1" dirty="0" err="1"/>
                  <a:t>fieldPath</a:t>
                </a:r>
                <a:r>
                  <a:rPr lang="en-US" altLang="ko-KR" sz="1000" b="1" dirty="0"/>
                  <a:t>: </a:t>
                </a:r>
                <a:r>
                  <a:rPr lang="en-US" altLang="ko-KR" sz="1000" b="1" dirty="0" err="1"/>
                  <a:t>spec.serviceAccountName</a:t>
                </a:r>
                <a:endParaRPr lang="en-US" altLang="ko-KR" sz="1000" b="1" dirty="0"/>
              </a:p>
              <a:p>
                <a:r>
                  <a:rPr lang="en-US" altLang="ko-KR" sz="1000" b="1" dirty="0"/>
                  <a:t>    - name: </a:t>
                </a:r>
                <a:r>
                  <a:rPr lang="en-US" altLang="ko-KR" sz="1000" b="1" dirty="0">
                    <a:solidFill>
                      <a:srgbClr val="FF0000"/>
                    </a:solidFill>
                  </a:rPr>
                  <a:t>CONTAINER_CPU_REQUEST_MILLICORES</a:t>
                </a:r>
              </a:p>
              <a:p>
                <a:r>
                  <a:rPr lang="en-US" altLang="ko-KR" sz="1000" b="1" dirty="0">
                    <a:solidFill>
                      <a:srgbClr val="FF0000"/>
                    </a:solidFill>
                  </a:rPr>
                  <a:t>      </a:t>
                </a:r>
                <a:r>
                  <a:rPr lang="en-US" altLang="ko-KR" sz="1000" b="1" dirty="0" err="1">
                    <a:solidFill>
                      <a:srgbClr val="FF0000"/>
                    </a:solidFill>
                  </a:rPr>
                  <a:t>valueFrom</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resourceFieldRef</a:t>
                </a:r>
                <a:r>
                  <a:rPr lang="en-US" altLang="ko-KR" sz="1000" b="1" dirty="0">
                    <a:solidFill>
                      <a:srgbClr val="FF0000"/>
                    </a:solidFill>
                  </a:rPr>
                  <a:t>:</a:t>
                </a:r>
              </a:p>
              <a:p>
                <a:r>
                  <a:rPr lang="en-US" altLang="ko-KR" sz="1000" b="1" dirty="0">
                    <a:solidFill>
                      <a:srgbClr val="FF0000"/>
                    </a:solidFill>
                  </a:rPr>
                  <a:t>          resource: </a:t>
                </a:r>
                <a:r>
                  <a:rPr lang="en-US" altLang="ko-KR" sz="1000" b="1" dirty="0" err="1">
                    <a:solidFill>
                      <a:srgbClr val="FF0000"/>
                    </a:solidFill>
                  </a:rPr>
                  <a:t>requests.cpu</a:t>
                </a:r>
                <a:endParaRPr lang="en-US" altLang="ko-KR" sz="1000" b="1" dirty="0">
                  <a:solidFill>
                    <a:srgbClr val="FF0000"/>
                  </a:solidFill>
                </a:endParaRPr>
              </a:p>
              <a:p>
                <a:r>
                  <a:rPr lang="en-US" altLang="ko-KR" sz="1000" b="1" dirty="0">
                    <a:solidFill>
                      <a:srgbClr val="FF0000"/>
                    </a:solidFill>
                  </a:rPr>
                  <a:t>          divisor: 1m</a:t>
                </a:r>
              </a:p>
              <a:p>
                <a:r>
                  <a:rPr lang="en-US" altLang="ko-KR" sz="1000" b="1" dirty="0"/>
                  <a:t>    - name: </a:t>
                </a:r>
                <a:r>
                  <a:rPr lang="en-US" altLang="ko-KR" sz="1000" b="1" dirty="0">
                    <a:solidFill>
                      <a:srgbClr val="FF0000"/>
                    </a:solidFill>
                  </a:rPr>
                  <a:t>CONTAINER_MEMORY_LIMIT_KIBIBYTES</a:t>
                </a:r>
              </a:p>
              <a:p>
                <a:r>
                  <a:rPr lang="en-US" altLang="ko-KR" sz="1000" b="1" dirty="0"/>
                  <a:t>      </a:t>
                </a:r>
                <a:r>
                  <a:rPr lang="en-US" altLang="ko-KR" sz="1000" b="1" dirty="0" err="1"/>
                  <a:t>valueFrom</a:t>
                </a:r>
                <a:r>
                  <a:rPr lang="en-US" altLang="ko-KR" sz="1000" b="1" dirty="0"/>
                  <a:t>:</a:t>
                </a:r>
              </a:p>
              <a:p>
                <a:r>
                  <a:rPr lang="en-US" altLang="ko-KR" sz="1000" b="1" dirty="0"/>
                  <a:t>        </a:t>
                </a:r>
                <a:r>
                  <a:rPr lang="en-US" altLang="ko-KR" sz="1000" b="1" dirty="0" err="1"/>
                  <a:t>resourceFieldRef</a:t>
                </a:r>
                <a:r>
                  <a:rPr lang="en-US" altLang="ko-KR" sz="1000" b="1" dirty="0"/>
                  <a:t>:</a:t>
                </a:r>
              </a:p>
              <a:p>
                <a:r>
                  <a:rPr lang="en-US" altLang="ko-KR" sz="1000" b="1" dirty="0"/>
                  <a:t>          resource: </a:t>
                </a:r>
                <a:r>
                  <a:rPr lang="en-US" altLang="ko-KR" sz="1000" b="1" dirty="0" err="1"/>
                  <a:t>limits.memory</a:t>
                </a:r>
                <a:endParaRPr lang="en-US" altLang="ko-KR" sz="1000" b="1" dirty="0"/>
              </a:p>
              <a:p>
                <a:r>
                  <a:rPr lang="en-US" altLang="ko-KR" sz="1000" b="1" dirty="0"/>
                  <a:t>          divisor: 1Ki</a:t>
                </a:r>
              </a:p>
              <a:p>
                <a:endParaRPr lang="en-US" altLang="ko-KR" sz="1000" b="1" dirty="0"/>
              </a:p>
              <a:p>
                <a:endParaRPr lang="en-US" altLang="ko-KR" sz="1000" b="1" dirty="0"/>
              </a:p>
              <a:p>
                <a:endParaRPr lang="en-US" altLang="ko-KR" sz="1000" b="1" dirty="0"/>
              </a:p>
            </p:txBody>
          </p:sp>
          <p:sp>
            <p:nvSpPr>
              <p:cNvPr id="10" name="TextBox 9">
                <a:extLst>
                  <a:ext uri="{FF2B5EF4-FFF2-40B4-BE49-F238E27FC236}">
                    <a16:creationId xmlns:a16="http://schemas.microsoft.com/office/drawing/2014/main" id="{BFD4E650-BBC6-A8CF-387E-DD10AB9E88A2}"/>
                  </a:ext>
                </a:extLst>
              </p:cNvPr>
              <p:cNvSpPr txBox="1"/>
              <p:nvPr/>
            </p:nvSpPr>
            <p:spPr>
              <a:xfrm>
                <a:off x="1308886" y="2027696"/>
                <a:ext cx="4353515" cy="3939540"/>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downward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main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image: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busybox</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command: ["sleep", "9999999"]</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resources: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requests: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cpu</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15m</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memory: 100Ki</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limits: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cpu</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100m</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memory: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6Mi   # NOTICE : Minimum is 6Mi</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env:</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POD_NAME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valueFrom</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fieldRef</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fieldPath</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metadata.name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POD_NAMESPACE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valueFrom</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fieldRef</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fieldPath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metadata.namespace</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grpSp>
        <p:sp>
          <p:nvSpPr>
            <p:cNvPr id="12" name="TextBox 11">
              <a:extLst>
                <a:ext uri="{FF2B5EF4-FFF2-40B4-BE49-F238E27FC236}">
                  <a16:creationId xmlns:a16="http://schemas.microsoft.com/office/drawing/2014/main" id="{BF8C4683-AC7B-9316-D1B0-EEDC3634ADAC}"/>
                </a:ext>
              </a:extLst>
            </p:cNvPr>
            <p:cNvSpPr txBox="1"/>
            <p:nvPr/>
          </p:nvSpPr>
          <p:spPr>
            <a:xfrm>
              <a:off x="8354884" y="2027696"/>
              <a:ext cx="1661032" cy="246221"/>
            </a:xfrm>
            <a:prstGeom prst="rect">
              <a:avLst/>
            </a:prstGeom>
            <a:noFill/>
          </p:spPr>
          <p:txBody>
            <a:bodyPr wrap="none" rtlCol="0">
              <a:spAutoFit/>
            </a:bodyPr>
            <a:lstStyle/>
            <a:p>
              <a:pPr algn="l"/>
              <a:r>
                <a:rPr lang="en-US" altLang="ko-KR" sz="1000" b="1" dirty="0"/>
                <a:t>downward-</a:t>
              </a:r>
              <a:r>
                <a:rPr lang="en-US" altLang="ko-KR" sz="1000" b="1" dirty="0" err="1"/>
                <a:t>api</a:t>
              </a:r>
              <a:r>
                <a:rPr lang="en-US" altLang="ko-KR" sz="1000" b="1" dirty="0"/>
                <a:t>-</a:t>
              </a:r>
              <a:r>
                <a:rPr lang="en-US" altLang="ko-KR" sz="1000" b="1" dirty="0" err="1"/>
                <a:t>env.yaml</a:t>
              </a:r>
              <a:endParaRPr lang="ko-KR" altLang="en-US" sz="1000" b="1" dirty="0"/>
            </a:p>
          </p:txBody>
        </p:sp>
      </p:grpSp>
    </p:spTree>
    <p:extLst>
      <p:ext uri="{BB962C8B-B14F-4D97-AF65-F5344CB8AC3E}">
        <p14:creationId xmlns:p14="http://schemas.microsoft.com/office/powerpoint/2010/main" val="3954963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API(4/12)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Exposing Metadata Through Environment Variables :</a:t>
            </a:r>
          </a:p>
          <a:p>
            <a:pPr lvl="1">
              <a:buFont typeface="Wingdings" panose="05000000000000000000" pitchFamily="2" charset="2"/>
              <a:buChar char="§"/>
            </a:pPr>
            <a:r>
              <a:rPr lang="en-US" altLang="ko-KR" sz="1400" b="1" dirty="0"/>
              <a:t>When your process runs, it can look up all the environment variables you defined in the pod spec</a:t>
            </a:r>
            <a:r>
              <a:rPr lang="en-US" altLang="ko-KR" sz="1400" dirty="0"/>
              <a:t>. The following figure shows the environment variables and the sources of their values. </a:t>
            </a:r>
            <a:r>
              <a:rPr lang="en-US" altLang="ko-KR" sz="1400" b="1" dirty="0"/>
              <a:t>The pod’s name, IP, and namespace will be exposed through the POD_NAME, POD_IP, and POD_NAMESPACE environment variables</a:t>
            </a:r>
            <a:r>
              <a:rPr lang="en-US" altLang="ko-KR" sz="1400" dirty="0"/>
              <a:t>, respectively. </a:t>
            </a:r>
            <a:r>
              <a:rPr lang="en-US" altLang="ko-KR" sz="1400" b="1" dirty="0"/>
              <a:t>The name of the node the container is running on will be exposed through the NODE_NAME variable</a:t>
            </a:r>
            <a:r>
              <a:rPr lang="en-US" altLang="ko-KR" sz="1400" dirty="0"/>
              <a:t>. </a:t>
            </a:r>
            <a:r>
              <a:rPr lang="en-US" altLang="ko-KR" sz="1400" b="1" dirty="0"/>
              <a:t>The name of the service account is made available through the SERVICE_ACCOUNT environment variable</a:t>
            </a:r>
            <a:r>
              <a:rPr lang="en-US" altLang="ko-KR" sz="1400" dirty="0"/>
              <a:t>. You’re also creating </a:t>
            </a:r>
            <a:r>
              <a:rPr lang="en-US" altLang="ko-KR" sz="1400" b="1" dirty="0"/>
              <a:t>two environment variables that will hold the amount of CPU requested for this container and the maximum amount of memory the container is allowed to consume</a:t>
            </a:r>
            <a:r>
              <a:rPr lang="en-US" altLang="ko-KR" sz="1400" dirty="0"/>
              <a:t>.</a:t>
            </a:r>
          </a:p>
          <a:p>
            <a:pPr lvl="1">
              <a:buFont typeface="Wingdings" panose="05000000000000000000" pitchFamily="2" charset="2"/>
              <a:buChar char="§"/>
            </a:pPr>
            <a:r>
              <a:rPr lang="en-US" altLang="ko-KR" sz="1400" b="1" dirty="0"/>
              <a:t>For environment variables exposing resource limits or requests, you specify a “</a:t>
            </a:r>
            <a:r>
              <a:rPr lang="en-US" altLang="ko-KR" sz="1400" b="1" dirty="0">
                <a:solidFill>
                  <a:srgbClr val="FF0000"/>
                </a:solidFill>
              </a:rPr>
              <a:t>divisor</a:t>
            </a:r>
            <a:r>
              <a:rPr lang="en-US" altLang="ko-KR" sz="1400" b="1" dirty="0"/>
              <a:t>”</a:t>
            </a:r>
            <a:r>
              <a:rPr lang="en-US" altLang="ko-KR" sz="1400" dirty="0"/>
              <a:t>. </a:t>
            </a:r>
            <a:r>
              <a:rPr lang="en-US" altLang="ko-KR" sz="1400" b="1" dirty="0"/>
              <a:t>The actual value of the limit or the request will be divided by the divisor and the result exposed through the environment variable</a:t>
            </a:r>
            <a:r>
              <a:rPr lang="en-US" altLang="ko-KR" sz="1400" dirty="0"/>
              <a:t>. In the previous example, you’re setting </a:t>
            </a:r>
            <a:r>
              <a:rPr lang="en-US" altLang="ko-KR" sz="1400" b="1" dirty="0"/>
              <a:t>the divisor for CPU requests to “1m” (one milli-core, or one one-thousandth of a CPU core)</a:t>
            </a:r>
            <a:r>
              <a:rPr lang="en-US" altLang="ko-KR" sz="1400" dirty="0"/>
              <a:t>. Because you’ve set the CPU request to </a:t>
            </a:r>
            <a:r>
              <a:rPr lang="en-US" altLang="ko-KR" sz="1400" b="1" dirty="0"/>
              <a:t>15m</a:t>
            </a:r>
            <a:r>
              <a:rPr lang="en-US" altLang="ko-KR" sz="1400" dirty="0"/>
              <a:t>, the environment variable </a:t>
            </a:r>
            <a:r>
              <a:rPr lang="en-US" altLang="ko-KR" sz="1400" b="1" dirty="0"/>
              <a:t>CONTAINER_CPU_REQUEST_MILLICORES </a:t>
            </a:r>
            <a:r>
              <a:rPr lang="en-US" altLang="ko-KR" sz="1400" dirty="0"/>
              <a:t>will be set to </a:t>
            </a:r>
            <a:r>
              <a:rPr lang="en-US" altLang="ko-KR" sz="1400" b="1" dirty="0"/>
              <a:t>15</a:t>
            </a:r>
            <a:r>
              <a:rPr lang="en-US" altLang="ko-KR" sz="1400" dirty="0"/>
              <a:t>. Likewise, you set </a:t>
            </a:r>
            <a:r>
              <a:rPr lang="en-US" altLang="ko-KR" sz="1400" b="1" dirty="0"/>
              <a:t>the memory limit to 6Mi (6 mebibytes) </a:t>
            </a:r>
            <a:r>
              <a:rPr lang="en-US" altLang="ko-KR" sz="1400" dirty="0"/>
              <a:t>and </a:t>
            </a:r>
            <a:r>
              <a:rPr lang="en-US" altLang="ko-KR" sz="1400" b="1" dirty="0"/>
              <a:t>the divisor to 1Ki (1 Kibibyte)</a:t>
            </a:r>
            <a:r>
              <a:rPr lang="en-US" altLang="ko-KR" sz="1400" dirty="0"/>
              <a:t>, so the </a:t>
            </a:r>
            <a:r>
              <a:rPr lang="en-US" altLang="ko-KR" sz="1400" b="1" dirty="0"/>
              <a:t>CONTAINER_MEMORY _LIMIT_KIBIBYTES </a:t>
            </a:r>
            <a:r>
              <a:rPr lang="en-US" altLang="ko-KR" sz="1400" dirty="0"/>
              <a:t>environment variable will be set to </a:t>
            </a:r>
            <a:r>
              <a:rPr lang="en-US" altLang="ko-KR" sz="1400" b="1" dirty="0"/>
              <a:t>6144</a:t>
            </a:r>
            <a:r>
              <a:rPr lang="en-US" altLang="ko-KR" sz="1400" dirty="0"/>
              <a:t>.</a:t>
            </a:r>
          </a:p>
          <a:p>
            <a:pPr lvl="1">
              <a:buFont typeface="Wingdings" panose="05000000000000000000" pitchFamily="2" charset="2"/>
              <a:buChar char="§"/>
            </a:pPr>
            <a:r>
              <a:rPr lang="en-US" altLang="ko-KR" sz="1400" b="1" dirty="0">
                <a:solidFill>
                  <a:srgbClr val="FF0000"/>
                </a:solidFill>
              </a:rPr>
              <a:t>NOTICE : The minimum memory request size is 6Mi</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E434B10-0E58-C82C-C74E-BB5C7E3831F4}"/>
              </a:ext>
            </a:extLst>
          </p:cNvPr>
          <p:cNvPicPr>
            <a:picLocks noChangeAspect="1"/>
          </p:cNvPicPr>
          <p:nvPr/>
        </p:nvPicPr>
        <p:blipFill>
          <a:blip r:embed="rId2"/>
          <a:stretch>
            <a:fillRect/>
          </a:stretch>
        </p:blipFill>
        <p:spPr>
          <a:xfrm>
            <a:off x="6711753" y="3734657"/>
            <a:ext cx="4642047" cy="2674373"/>
          </a:xfrm>
          <a:prstGeom prst="rect">
            <a:avLst/>
          </a:prstGeom>
        </p:spPr>
      </p:pic>
      <p:sp>
        <p:nvSpPr>
          <p:cNvPr id="9" name="TextBox 8">
            <a:extLst>
              <a:ext uri="{FF2B5EF4-FFF2-40B4-BE49-F238E27FC236}">
                <a16:creationId xmlns:a16="http://schemas.microsoft.com/office/drawing/2014/main" id="{A5B78042-9FD8-828F-9D18-CF9724007532}"/>
              </a:ext>
            </a:extLst>
          </p:cNvPr>
          <p:cNvSpPr txBox="1"/>
          <p:nvPr/>
        </p:nvSpPr>
        <p:spPr>
          <a:xfrm>
            <a:off x="838200" y="4203913"/>
            <a:ext cx="5873553" cy="1061829"/>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divisor for CPU limits and requests can be either 1, which means one whole core, or 1m, which is one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millicore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divisor for memory limits/requests can be 1 (byte), 1k (kilobyte) or 1Ki (kibibyte), 1M (megabyte) or 1Mi (mebibyte), and so 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1334074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API(5/12)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Exposing Metadata Through Environment Variables :</a:t>
            </a:r>
          </a:p>
          <a:p>
            <a:pPr lvl="1">
              <a:buFont typeface="Wingdings" panose="05000000000000000000" pitchFamily="2" charset="2"/>
              <a:buChar char="§"/>
            </a:pPr>
            <a:r>
              <a:rPr lang="en-US" altLang="ko-KR" sz="1400" dirty="0"/>
              <a:t>After creating the pod, you can use </a:t>
            </a:r>
            <a:r>
              <a:rPr lang="en-US" altLang="ko-KR" sz="1400" b="1" dirty="0"/>
              <a:t>“$ </a:t>
            </a:r>
            <a:r>
              <a:rPr lang="en-US" altLang="ko-KR" sz="1400" b="1" dirty="0" err="1"/>
              <a:t>kubectl</a:t>
            </a:r>
            <a:r>
              <a:rPr lang="en-US" altLang="ko-KR" sz="1400" b="1" dirty="0"/>
              <a:t> exec” to see all these environment variables in your container</a:t>
            </a:r>
            <a:r>
              <a:rPr lang="en-US" altLang="ko-KR" sz="1400" dirty="0"/>
              <a:t>, as shown in the following listing.</a:t>
            </a:r>
          </a:p>
          <a:p>
            <a:pPr lvl="1">
              <a:buFont typeface="Wingdings" panose="05000000000000000000" pitchFamily="2" charset="2"/>
              <a:buChar char="§"/>
            </a:pPr>
            <a:r>
              <a:rPr lang="en-US" altLang="ko-KR" sz="1400" b="1" dirty="0"/>
              <a:t>All processes running inside the container can read those variables and use them </a:t>
            </a:r>
            <a:r>
              <a:rPr lang="en-US" altLang="ko-KR" sz="1400" dirty="0"/>
              <a:t>whenever they need.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2483B787-C2FE-77CD-90E3-D23EB2B403B8}"/>
              </a:ext>
            </a:extLst>
          </p:cNvPr>
          <p:cNvGrpSpPr/>
          <p:nvPr/>
        </p:nvGrpSpPr>
        <p:grpSpPr>
          <a:xfrm>
            <a:off x="5347486" y="2919763"/>
            <a:ext cx="2647445" cy="484961"/>
            <a:chOff x="5347486" y="2919763"/>
            <a:chExt cx="2647445" cy="484961"/>
          </a:xfrm>
        </p:grpSpPr>
        <p:sp>
          <p:nvSpPr>
            <p:cNvPr id="13" name="직사각형 12">
              <a:extLst>
                <a:ext uri="{FF2B5EF4-FFF2-40B4-BE49-F238E27FC236}">
                  <a16:creationId xmlns:a16="http://schemas.microsoft.com/office/drawing/2014/main" id="{D68076B2-970D-F569-9F55-ABCC244474B7}"/>
                </a:ext>
              </a:extLst>
            </p:cNvPr>
            <p:cNvSpPr/>
            <p:nvPr/>
          </p:nvSpPr>
          <p:spPr>
            <a:xfrm>
              <a:off x="5356927" y="3196354"/>
              <a:ext cx="1917813" cy="208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AF32FE0-848F-D23F-64F9-47FDBA6C30F8}"/>
                </a:ext>
              </a:extLst>
            </p:cNvPr>
            <p:cNvSpPr/>
            <p:nvPr/>
          </p:nvSpPr>
          <p:spPr>
            <a:xfrm>
              <a:off x="5347486" y="2919763"/>
              <a:ext cx="2647445" cy="208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id="{444C0FBD-6942-68D7-5970-C5C8144069D3}"/>
              </a:ext>
            </a:extLst>
          </p:cNvPr>
          <p:cNvGrpSpPr/>
          <p:nvPr/>
        </p:nvGrpSpPr>
        <p:grpSpPr>
          <a:xfrm>
            <a:off x="1141314" y="1980460"/>
            <a:ext cx="9909372" cy="4428570"/>
            <a:chOff x="1141314" y="1774031"/>
            <a:chExt cx="9909372" cy="4428570"/>
          </a:xfrm>
        </p:grpSpPr>
        <p:grpSp>
          <p:nvGrpSpPr>
            <p:cNvPr id="12" name="그룹 11">
              <a:extLst>
                <a:ext uri="{FF2B5EF4-FFF2-40B4-BE49-F238E27FC236}">
                  <a16:creationId xmlns:a16="http://schemas.microsoft.com/office/drawing/2014/main" id="{C40F25E8-DB12-B102-29EA-2BFFE952B5EC}"/>
                </a:ext>
              </a:extLst>
            </p:cNvPr>
            <p:cNvGrpSpPr/>
            <p:nvPr/>
          </p:nvGrpSpPr>
          <p:grpSpPr>
            <a:xfrm>
              <a:off x="1141314" y="1774031"/>
              <a:ext cx="9909372" cy="4428570"/>
              <a:chOff x="1141314" y="1927780"/>
              <a:chExt cx="9909372" cy="4428570"/>
            </a:xfrm>
          </p:grpSpPr>
          <p:pic>
            <p:nvPicPr>
              <p:cNvPr id="8" name="그림 7">
                <a:extLst>
                  <a:ext uri="{FF2B5EF4-FFF2-40B4-BE49-F238E27FC236}">
                    <a16:creationId xmlns:a16="http://schemas.microsoft.com/office/drawing/2014/main" id="{133892A1-64C9-8DBC-1057-8D372C99DD3F}"/>
                  </a:ext>
                </a:extLst>
              </p:cNvPr>
              <p:cNvPicPr>
                <a:picLocks noChangeAspect="1"/>
              </p:cNvPicPr>
              <p:nvPr/>
            </p:nvPicPr>
            <p:blipFill>
              <a:blip r:embed="rId2"/>
              <a:stretch>
                <a:fillRect/>
              </a:stretch>
            </p:blipFill>
            <p:spPr>
              <a:xfrm>
                <a:off x="1141314" y="2640335"/>
                <a:ext cx="9909372" cy="3716015"/>
              </a:xfrm>
              <a:prstGeom prst="rect">
                <a:avLst/>
              </a:prstGeom>
            </p:spPr>
          </p:pic>
          <p:sp>
            <p:nvSpPr>
              <p:cNvPr id="10" name="TextBox 9">
                <a:extLst>
                  <a:ext uri="{FF2B5EF4-FFF2-40B4-BE49-F238E27FC236}">
                    <a16:creationId xmlns:a16="http://schemas.microsoft.com/office/drawing/2014/main" id="{857D33A6-82BB-1196-E5B7-991FEA513BA4}"/>
                  </a:ext>
                </a:extLst>
              </p:cNvPr>
              <p:cNvSpPr txBox="1"/>
              <p:nvPr/>
            </p:nvSpPr>
            <p:spPr>
              <a:xfrm>
                <a:off x="3047326" y="1927780"/>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ko-KR" altLang="en-US" sz="1000" b="1" dirty="0"/>
                  <a:t> </a:t>
                </a:r>
                <a:r>
                  <a:rPr lang="en-US" altLang="ko-KR" sz="1000" b="1" dirty="0"/>
                  <a:t>create -f </a:t>
                </a:r>
                <a:r>
                  <a:rPr lang="en-US" altLang="ko-KR" sz="1000" b="1" dirty="0">
                    <a:solidFill>
                      <a:srgbClr val="FF0000"/>
                    </a:solidFill>
                  </a:rPr>
                  <a:t>downward-</a:t>
                </a:r>
                <a:r>
                  <a:rPr lang="en-US" altLang="ko-KR" sz="1000" b="1" dirty="0" err="1">
                    <a:solidFill>
                      <a:srgbClr val="FF0000"/>
                    </a:solidFill>
                  </a:rPr>
                  <a:t>api</a:t>
                </a:r>
                <a:r>
                  <a:rPr lang="en-US" altLang="ko-KR" sz="1000" b="1" dirty="0">
                    <a:solidFill>
                      <a:srgbClr val="FF0000"/>
                    </a:solidFill>
                  </a:rPr>
                  <a:t>-</a:t>
                </a:r>
                <a:r>
                  <a:rPr lang="en-US" altLang="ko-KR" sz="1000" b="1" dirty="0" err="1">
                    <a:solidFill>
                      <a:srgbClr val="FF0000"/>
                    </a:solidFill>
                  </a:rPr>
                  <a:t>env.yaml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a:t>
                </a:r>
                <a:r>
                  <a:rPr lang="en-US" altLang="ko-KR" sz="1000" b="1" dirty="0">
                    <a:solidFill>
                      <a:srgbClr val="FF0000"/>
                    </a:solidFill>
                  </a:rPr>
                  <a:t>downward -- env</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72958B87-8E4A-6318-FC60-373A5E831267}"/>
                  </a:ext>
                </a:extLst>
              </p:cNvPr>
              <p:cNvSpPr/>
              <p:nvPr/>
            </p:nvSpPr>
            <p:spPr>
              <a:xfrm>
                <a:off x="5893699" y="2327890"/>
                <a:ext cx="404602"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E2788960-AC56-C122-83BC-AA96233890CB}"/>
                </a:ext>
              </a:extLst>
            </p:cNvPr>
            <p:cNvSpPr/>
            <p:nvPr/>
          </p:nvSpPr>
          <p:spPr>
            <a:xfrm>
              <a:off x="1205713" y="3520035"/>
              <a:ext cx="2605636" cy="11167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33321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API(6/12)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Metadata Through Files in a </a:t>
            </a:r>
            <a:r>
              <a:rPr lang="en-US" altLang="ko-KR" sz="1800" b="1" dirty="0" err="1"/>
              <a:t>downwardAPI</a:t>
            </a:r>
            <a:r>
              <a:rPr lang="en-US" altLang="ko-KR" sz="1800" b="1" dirty="0"/>
              <a:t> Volume :</a:t>
            </a:r>
          </a:p>
          <a:p>
            <a:pPr lvl="1">
              <a:buFont typeface="Wingdings" panose="05000000000000000000" pitchFamily="2" charset="2"/>
              <a:buChar char="§"/>
            </a:pPr>
            <a:r>
              <a:rPr lang="en-US" altLang="ko-KR" sz="1400" b="1" dirty="0"/>
              <a:t>If you prefer to expose the metadata through files instead of environment variables, you can define a </a:t>
            </a:r>
            <a:r>
              <a:rPr lang="en-US" altLang="ko-KR" sz="1400" b="1" dirty="0" err="1">
                <a:solidFill>
                  <a:srgbClr val="FF0000"/>
                </a:solidFill>
              </a:rPr>
              <a:t>downwardAPI</a:t>
            </a:r>
            <a:r>
              <a:rPr lang="en-US" altLang="ko-KR" sz="1400" b="1" dirty="0">
                <a:solidFill>
                  <a:srgbClr val="FF0000"/>
                </a:solidFill>
              </a:rPr>
              <a:t> volume </a:t>
            </a:r>
            <a:r>
              <a:rPr lang="en-US" altLang="ko-KR" sz="1400" b="1" dirty="0"/>
              <a:t>and mount it into your container</a:t>
            </a:r>
            <a:r>
              <a:rPr lang="en-US" altLang="ko-KR" sz="1400" dirty="0"/>
              <a:t>. You must use a </a:t>
            </a:r>
            <a:r>
              <a:rPr lang="en-US" altLang="ko-KR" sz="1400" b="1" dirty="0" err="1"/>
              <a:t>downwardAPI</a:t>
            </a:r>
            <a:r>
              <a:rPr lang="en-US" altLang="ko-KR" sz="1400" b="1" dirty="0"/>
              <a:t> volume for exposing the pod’s labels or its annotations</a:t>
            </a:r>
            <a:r>
              <a:rPr lang="en-US" altLang="ko-KR" sz="1400" dirty="0"/>
              <a:t>, because neither can be exposed through environment variables.</a:t>
            </a:r>
          </a:p>
          <a:p>
            <a:pPr lvl="1">
              <a:buFont typeface="Wingdings" panose="05000000000000000000" pitchFamily="2" charset="2"/>
              <a:buChar char="§"/>
            </a:pPr>
            <a:r>
              <a:rPr lang="en-US" altLang="ko-KR" sz="1400" b="1" dirty="0"/>
              <a:t>As with environment variables, you need to specify each metadata field explicitly if you want to have it exposed to the process</a:t>
            </a:r>
            <a:r>
              <a:rPr lang="en-US" altLang="ko-KR" sz="1400" dirty="0"/>
              <a:t>. Let’s see how to modify the previous example to use a volume instead of environment variables,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7E205C05-143F-AD05-5436-EBD993330C48}"/>
              </a:ext>
            </a:extLst>
          </p:cNvPr>
          <p:cNvGrpSpPr/>
          <p:nvPr/>
        </p:nvGrpSpPr>
        <p:grpSpPr>
          <a:xfrm>
            <a:off x="1539172" y="2651063"/>
            <a:ext cx="9113655" cy="3323987"/>
            <a:chOff x="1539172" y="2651063"/>
            <a:chExt cx="9113655" cy="3323987"/>
          </a:xfrm>
        </p:grpSpPr>
        <p:grpSp>
          <p:nvGrpSpPr>
            <p:cNvPr id="15" name="그룹 14">
              <a:extLst>
                <a:ext uri="{FF2B5EF4-FFF2-40B4-BE49-F238E27FC236}">
                  <a16:creationId xmlns:a16="http://schemas.microsoft.com/office/drawing/2014/main" id="{41A6C29B-268A-2BAE-EECB-348C4DF48B8B}"/>
                </a:ext>
              </a:extLst>
            </p:cNvPr>
            <p:cNvGrpSpPr/>
            <p:nvPr/>
          </p:nvGrpSpPr>
          <p:grpSpPr>
            <a:xfrm>
              <a:off x="1539172" y="2651063"/>
              <a:ext cx="9113655" cy="3323987"/>
              <a:chOff x="543514" y="2707707"/>
              <a:chExt cx="9113655" cy="3323987"/>
            </a:xfrm>
          </p:grpSpPr>
          <p:sp>
            <p:nvSpPr>
              <p:cNvPr id="8" name="TextBox 7">
                <a:extLst>
                  <a:ext uri="{FF2B5EF4-FFF2-40B4-BE49-F238E27FC236}">
                    <a16:creationId xmlns:a16="http://schemas.microsoft.com/office/drawing/2014/main" id="{25C0ABF2-6B36-4FBF-ED6A-068F7D48C4EA}"/>
                  </a:ext>
                </a:extLst>
              </p:cNvPr>
              <p:cNvSpPr txBox="1"/>
              <p:nvPr/>
            </p:nvSpPr>
            <p:spPr>
              <a:xfrm>
                <a:off x="6619284" y="2707707"/>
                <a:ext cx="3037885" cy="3323987"/>
              </a:xfrm>
              <a:prstGeom prst="rect">
                <a:avLst/>
              </a:prstGeom>
              <a:noFill/>
              <a:ln>
                <a:solidFill>
                  <a:schemeClr val="bg1">
                    <a:lumMod val="50000"/>
                  </a:schemeClr>
                </a:solidFill>
              </a:ln>
            </p:spPr>
            <p:txBody>
              <a:bodyPr wrap="square">
                <a:spAutoFit/>
              </a:bodyPr>
              <a:lstStyle/>
              <a:p>
                <a:r>
                  <a:rPr lang="en-US" altLang="ko-KR" sz="1000" b="1" dirty="0">
                    <a:solidFill>
                      <a:srgbClr val="FF0000"/>
                    </a:solidFill>
                  </a:rPr>
                  <a:t>        </a:t>
                </a:r>
                <a:r>
                  <a:rPr lang="en-US" altLang="ko-KR" sz="1000" b="1" dirty="0" err="1">
                    <a:solidFill>
                      <a:srgbClr val="FF0000"/>
                    </a:solidFill>
                  </a:rPr>
                  <a:t>fieldPath</a:t>
                </a:r>
                <a:r>
                  <a:rPr lang="en-US" altLang="ko-KR" sz="1000" b="1" dirty="0">
                    <a:solidFill>
                      <a:srgbClr val="FF0000"/>
                    </a:solidFill>
                  </a:rPr>
                  <a:t>: </a:t>
                </a:r>
                <a:r>
                  <a:rPr lang="en-US" altLang="ko-KR" sz="1000" b="1" dirty="0" err="1">
                    <a:solidFill>
                      <a:srgbClr val="FF0000"/>
                    </a:solidFill>
                  </a:rPr>
                  <a:t>metadata.annotations</a:t>
                </a:r>
                <a:endParaRPr lang="en-US" altLang="ko-KR" sz="1000" b="1" dirty="0">
                  <a:solidFill>
                    <a:srgbClr val="FF0000"/>
                  </a:solidFill>
                </a:endParaRPr>
              </a:p>
              <a:p>
                <a:r>
                  <a:rPr lang="en-US" altLang="ko-KR" sz="1000" b="1" dirty="0"/>
                  <a:t>      - path: "</a:t>
                </a:r>
                <a:r>
                  <a:rPr lang="en-US" altLang="ko-KR" sz="1000" b="1" dirty="0" err="1"/>
                  <a:t>containerCpuRequestMilliCores</a:t>
                </a:r>
                <a:r>
                  <a:rPr lang="en-US" altLang="ko-KR" sz="1000" b="1" dirty="0"/>
                  <a:t>"</a:t>
                </a:r>
              </a:p>
              <a:p>
                <a:r>
                  <a:rPr lang="en-US" altLang="ko-KR" sz="1000" b="1" dirty="0"/>
                  <a:t>        </a:t>
                </a:r>
                <a:r>
                  <a:rPr lang="en-US" altLang="ko-KR" sz="1000" b="1" dirty="0" err="1"/>
                  <a:t>resourceFieldRef</a:t>
                </a:r>
                <a:r>
                  <a:rPr lang="en-US" altLang="ko-KR" sz="1000" b="1" dirty="0"/>
                  <a:t>:</a:t>
                </a:r>
              </a:p>
              <a:p>
                <a:r>
                  <a:rPr lang="en-US" altLang="ko-KR" sz="1000" b="1" dirty="0"/>
                  <a:t>          </a:t>
                </a:r>
                <a:r>
                  <a:rPr lang="en-US" altLang="ko-KR" sz="1000" b="1" dirty="0" err="1"/>
                  <a:t>containerName</a:t>
                </a:r>
                <a:r>
                  <a:rPr lang="en-US" altLang="ko-KR" sz="1000" b="1" dirty="0"/>
                  <a:t>: main</a:t>
                </a:r>
              </a:p>
              <a:p>
                <a:r>
                  <a:rPr lang="en-US" altLang="ko-KR" sz="1000" b="1" dirty="0"/>
                  <a:t>          resource: </a:t>
                </a:r>
                <a:r>
                  <a:rPr lang="en-US" altLang="ko-KR" sz="1000" b="1" dirty="0" err="1"/>
                  <a:t>requests.cpu</a:t>
                </a:r>
                <a:endParaRPr lang="en-US" altLang="ko-KR" sz="1000" b="1" dirty="0"/>
              </a:p>
              <a:p>
                <a:r>
                  <a:rPr lang="en-US" altLang="ko-KR" sz="1000" b="1" dirty="0"/>
                  <a:t>          divisor: 1m</a:t>
                </a:r>
              </a:p>
              <a:p>
                <a:r>
                  <a:rPr lang="en-US" altLang="ko-KR" sz="1000" b="1" dirty="0"/>
                  <a:t>      - path: "</a:t>
                </a:r>
                <a:r>
                  <a:rPr lang="en-US" altLang="ko-KR" sz="1000" b="1" dirty="0" err="1"/>
                  <a:t>containerMemoryLimitBytes</a:t>
                </a:r>
                <a:r>
                  <a:rPr lang="en-US" altLang="ko-KR" sz="1000" b="1" dirty="0"/>
                  <a:t>"</a:t>
                </a:r>
              </a:p>
              <a:p>
                <a:r>
                  <a:rPr lang="en-US" altLang="ko-KR" sz="1000" b="1" dirty="0"/>
                  <a:t>        </a:t>
                </a:r>
                <a:r>
                  <a:rPr lang="en-US" altLang="ko-KR" sz="1000" b="1" dirty="0" err="1"/>
                  <a:t>resourceFieldRef</a:t>
                </a:r>
                <a:r>
                  <a:rPr lang="en-US" altLang="ko-KR" sz="1000" b="1" dirty="0"/>
                  <a:t>:</a:t>
                </a:r>
              </a:p>
              <a:p>
                <a:r>
                  <a:rPr lang="en-US" altLang="ko-KR" sz="1000" b="1" dirty="0"/>
                  <a:t>          </a:t>
                </a:r>
                <a:r>
                  <a:rPr lang="en-US" altLang="ko-KR" sz="1000" b="1" dirty="0" err="1"/>
                  <a:t>containerName</a:t>
                </a:r>
                <a:r>
                  <a:rPr lang="en-US" altLang="ko-KR" sz="1000" b="1" dirty="0"/>
                  <a:t>: main</a:t>
                </a:r>
              </a:p>
              <a:p>
                <a:r>
                  <a:rPr lang="en-US" altLang="ko-KR" sz="1000" b="1" dirty="0"/>
                  <a:t>          resource: </a:t>
                </a:r>
                <a:r>
                  <a:rPr lang="en-US" altLang="ko-KR" sz="1000" b="1" dirty="0" err="1"/>
                  <a:t>limits.memory</a:t>
                </a:r>
                <a:endParaRPr lang="en-US" altLang="ko-KR" sz="1000" b="1" dirty="0"/>
              </a:p>
              <a:p>
                <a:r>
                  <a:rPr lang="en-US" altLang="ko-KR" sz="1000" b="1" dirty="0"/>
                  <a:t>          divisor: 1Ki</a:t>
                </a:r>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p:txBody>
          </p:sp>
          <p:sp>
            <p:nvSpPr>
              <p:cNvPr id="12" name="TextBox 11">
                <a:extLst>
                  <a:ext uri="{FF2B5EF4-FFF2-40B4-BE49-F238E27FC236}">
                    <a16:creationId xmlns:a16="http://schemas.microsoft.com/office/drawing/2014/main" id="{18DC3325-7293-DD60-405F-8D2A4C4529D0}"/>
                  </a:ext>
                </a:extLst>
              </p:cNvPr>
              <p:cNvSpPr txBox="1"/>
              <p:nvPr/>
            </p:nvSpPr>
            <p:spPr>
              <a:xfrm>
                <a:off x="543514" y="2707707"/>
                <a:ext cx="3037886" cy="3323987"/>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downward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labels: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foo: bar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annotations: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key1: value1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key2: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multi</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line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value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main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image: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busybox</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command: ["sleep", "9999999"]</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resources: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requests: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cpu</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15m</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memory: 100Ki</a:t>
                </a:r>
              </a:p>
            </p:txBody>
          </p:sp>
          <p:sp>
            <p:nvSpPr>
              <p:cNvPr id="14" name="TextBox 13">
                <a:extLst>
                  <a:ext uri="{FF2B5EF4-FFF2-40B4-BE49-F238E27FC236}">
                    <a16:creationId xmlns:a16="http://schemas.microsoft.com/office/drawing/2014/main" id="{CD0AC0DD-57D6-02D1-8908-FDA5463F7660}"/>
                  </a:ext>
                </a:extLst>
              </p:cNvPr>
              <p:cNvSpPr txBox="1"/>
              <p:nvPr/>
            </p:nvSpPr>
            <p:spPr>
              <a:xfrm>
                <a:off x="3581399" y="2707707"/>
                <a:ext cx="3037885" cy="3323987"/>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limits: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cpu</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100m</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memory: 6Mi</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 name: downward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etc</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/downward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volumes: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 name: downward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downwardAPI</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items: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 path: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podName</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fieldRef</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fieldPath</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metadata.name</a:t>
                </a:r>
              </a:p>
              <a:p>
                <a:r>
                  <a:rPr lang="en-US" altLang="ko-KR" sz="1000" b="1" dirty="0"/>
                  <a:t>      - path: "</a:t>
                </a:r>
                <a:r>
                  <a:rPr lang="en-US" altLang="ko-KR" sz="1000" b="1" dirty="0" err="1"/>
                  <a:t>podNamespace</a:t>
                </a:r>
                <a:r>
                  <a:rPr lang="en-US" altLang="ko-KR" sz="1000" b="1" dirty="0"/>
                  <a:t>"</a:t>
                </a:r>
              </a:p>
              <a:p>
                <a:r>
                  <a:rPr lang="en-US" altLang="ko-KR" sz="1000" b="1" dirty="0"/>
                  <a:t>        </a:t>
                </a:r>
                <a:r>
                  <a:rPr lang="en-US" altLang="ko-KR" sz="1000" b="1" dirty="0" err="1"/>
                  <a:t>fieldRef</a:t>
                </a:r>
                <a:r>
                  <a:rPr lang="en-US" altLang="ko-KR" sz="1000" b="1" dirty="0"/>
                  <a:t>:</a:t>
                </a:r>
              </a:p>
              <a:p>
                <a:r>
                  <a:rPr lang="en-US" altLang="ko-KR" sz="1000" b="1" dirty="0"/>
                  <a:t>          </a:t>
                </a:r>
                <a:r>
                  <a:rPr lang="en-US" altLang="ko-KR" sz="1000" b="1" dirty="0" err="1"/>
                  <a:t>fieldPath</a:t>
                </a:r>
                <a:r>
                  <a:rPr lang="en-US" altLang="ko-KR" sz="1000" b="1" dirty="0"/>
                  <a:t>: </a:t>
                </a:r>
                <a:r>
                  <a:rPr lang="en-US" altLang="ko-KR" sz="1000" b="1" dirty="0" err="1"/>
                  <a:t>metadata.namespace</a:t>
                </a:r>
                <a:endParaRPr lang="en-US" altLang="ko-KR" sz="1000" b="1" dirty="0"/>
              </a:p>
              <a:p>
                <a:r>
                  <a:rPr lang="en-US" altLang="ko-KR" sz="1000" b="1" dirty="0">
                    <a:solidFill>
                      <a:srgbClr val="FF0000"/>
                    </a:solidFill>
                  </a:rPr>
                  <a:t>      - path: "labels"</a:t>
                </a:r>
              </a:p>
              <a:p>
                <a:r>
                  <a:rPr lang="en-US" altLang="ko-KR" sz="1000" b="1" dirty="0">
                    <a:solidFill>
                      <a:srgbClr val="FF0000"/>
                    </a:solidFill>
                  </a:rPr>
                  <a:t>        </a:t>
                </a:r>
                <a:r>
                  <a:rPr lang="en-US" altLang="ko-KR" sz="1000" b="1" dirty="0" err="1">
                    <a:solidFill>
                      <a:srgbClr val="FF0000"/>
                    </a:solidFill>
                  </a:rPr>
                  <a:t>fieldRef</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fieldPath</a:t>
                </a:r>
                <a:r>
                  <a:rPr lang="en-US" altLang="ko-KR" sz="1000" b="1" dirty="0">
                    <a:solidFill>
                      <a:srgbClr val="FF0000"/>
                    </a:solidFill>
                  </a:rPr>
                  <a:t>: </a:t>
                </a:r>
                <a:r>
                  <a:rPr lang="en-US" altLang="ko-KR" sz="1000" b="1" dirty="0" err="1">
                    <a:solidFill>
                      <a:srgbClr val="FF0000"/>
                    </a:solidFill>
                  </a:rPr>
                  <a:t>metadata.labels</a:t>
                </a:r>
                <a:endParaRPr lang="en-US" altLang="ko-KR" sz="1000" b="1" dirty="0">
                  <a:solidFill>
                    <a:srgbClr val="FF0000"/>
                  </a:solidFill>
                </a:endParaRPr>
              </a:p>
              <a:p>
                <a:r>
                  <a:rPr lang="en-US" altLang="ko-KR" sz="1000" b="1" dirty="0">
                    <a:solidFill>
                      <a:srgbClr val="FF0000"/>
                    </a:solidFill>
                  </a:rPr>
                  <a:t>      - path: "annotations"</a:t>
                </a:r>
              </a:p>
              <a:p>
                <a:r>
                  <a:rPr lang="en-US" altLang="ko-KR" sz="1000" b="1" dirty="0">
                    <a:solidFill>
                      <a:srgbClr val="FF0000"/>
                    </a:solidFill>
                  </a:rPr>
                  <a:t>        </a:t>
                </a:r>
                <a:r>
                  <a:rPr lang="en-US" altLang="ko-KR" sz="1000" b="1" dirty="0" err="1">
                    <a:solidFill>
                      <a:srgbClr val="FF0000"/>
                    </a:solidFill>
                  </a:rPr>
                  <a:t>fieldRef</a:t>
                </a:r>
                <a:r>
                  <a:rPr lang="en-US" altLang="ko-KR" sz="1000" b="1" dirty="0">
                    <a:solidFill>
                      <a:srgbClr val="FF0000"/>
                    </a:solidFill>
                  </a:rPr>
                  <a:t>:</a:t>
                </a:r>
              </a:p>
            </p:txBody>
          </p:sp>
        </p:grpSp>
        <p:sp>
          <p:nvSpPr>
            <p:cNvPr id="17" name="TextBox 16">
              <a:extLst>
                <a:ext uri="{FF2B5EF4-FFF2-40B4-BE49-F238E27FC236}">
                  <a16:creationId xmlns:a16="http://schemas.microsoft.com/office/drawing/2014/main" id="{53BC17CE-9F73-DE6E-2B5E-D64BF9721215}"/>
                </a:ext>
              </a:extLst>
            </p:cNvPr>
            <p:cNvSpPr txBox="1"/>
            <p:nvPr/>
          </p:nvSpPr>
          <p:spPr>
            <a:xfrm>
              <a:off x="8732992" y="5728829"/>
              <a:ext cx="1919834" cy="246221"/>
            </a:xfrm>
            <a:prstGeom prst="rect">
              <a:avLst/>
            </a:prstGeom>
            <a:noFill/>
            <a:ln>
              <a:noFill/>
            </a:ln>
          </p:spPr>
          <p:txBody>
            <a:bodyPr wrap="square">
              <a:spAutoFit/>
            </a:bodyPr>
            <a:lstStyle/>
            <a:p>
              <a:pPr algn="ctr"/>
              <a:r>
                <a:rPr lang="en-US" altLang="ko-KR" sz="1000" b="1" dirty="0"/>
                <a:t>downward-</a:t>
              </a:r>
              <a:r>
                <a:rPr lang="en-US" altLang="ko-KR" sz="1000" b="1" dirty="0" err="1"/>
                <a:t>api</a:t>
              </a:r>
              <a:r>
                <a:rPr lang="en-US" altLang="ko-KR" sz="1000" b="1" dirty="0"/>
                <a:t>-</a:t>
              </a:r>
              <a:r>
                <a:rPr lang="en-US" altLang="ko-KR" sz="1000" b="1" dirty="0" err="1"/>
                <a:t>volume.yaml</a:t>
              </a:r>
              <a:endParaRPr lang="ko-KR" altLang="en-US" sz="1000" b="1" dirty="0"/>
            </a:p>
          </p:txBody>
        </p:sp>
      </p:grpSp>
    </p:spTree>
    <p:extLst>
      <p:ext uri="{BB962C8B-B14F-4D97-AF65-F5344CB8AC3E}">
        <p14:creationId xmlns:p14="http://schemas.microsoft.com/office/powerpoint/2010/main" val="1178037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API(7/12)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Metadata Through Files in a </a:t>
            </a:r>
            <a:r>
              <a:rPr lang="en-US" altLang="ko-KR" sz="1800" b="1" dirty="0" err="1"/>
              <a:t>downwardAPI</a:t>
            </a:r>
            <a:r>
              <a:rPr lang="en-US" altLang="ko-KR" sz="1800" b="1" dirty="0"/>
              <a:t> Volume :</a:t>
            </a:r>
          </a:p>
          <a:p>
            <a:pPr lvl="1">
              <a:buFont typeface="Wingdings" panose="05000000000000000000" pitchFamily="2" charset="2"/>
              <a:buChar char="§"/>
            </a:pPr>
            <a:r>
              <a:rPr lang="en-US" altLang="ko-KR" sz="1400" dirty="0"/>
              <a:t>Instead of passing the metadata through environment variables, you’re </a:t>
            </a:r>
            <a:r>
              <a:rPr lang="en-US" altLang="ko-KR" sz="1400" b="1" dirty="0"/>
              <a:t>defining a volume called “downward” and mounting it in your container under “/</a:t>
            </a:r>
            <a:r>
              <a:rPr lang="en-US" altLang="ko-KR" sz="1400" b="1" dirty="0" err="1"/>
              <a:t>etc</a:t>
            </a:r>
            <a:r>
              <a:rPr lang="en-US" altLang="ko-KR" sz="1400" b="1" dirty="0"/>
              <a:t>/downward”. </a:t>
            </a:r>
            <a:r>
              <a:rPr lang="en-US" altLang="ko-KR" sz="1400" dirty="0"/>
              <a:t>The files this volume will contain are configured under the “</a:t>
            </a:r>
            <a:r>
              <a:rPr lang="en-US" altLang="ko-KR" sz="1400" b="1" dirty="0" err="1">
                <a:solidFill>
                  <a:srgbClr val="FF0000"/>
                </a:solidFill>
              </a:rPr>
              <a:t>downwardAPI.items</a:t>
            </a:r>
            <a:r>
              <a:rPr lang="en-US" altLang="ko-KR" sz="1400" dirty="0"/>
              <a:t>” attribute in the volume specification.</a:t>
            </a:r>
          </a:p>
          <a:p>
            <a:pPr lvl="1">
              <a:buFont typeface="Wingdings" panose="05000000000000000000" pitchFamily="2" charset="2"/>
              <a:buChar char="§"/>
            </a:pPr>
            <a:r>
              <a:rPr lang="en-US" altLang="ko-KR" sz="1400" b="1" dirty="0"/>
              <a:t>Each item specifies the path (the filename) where the metadata should be written to and references either a pod-level field or a container resource field </a:t>
            </a:r>
            <a:r>
              <a:rPr lang="en-US" altLang="ko-KR" sz="1400" dirty="0"/>
              <a:t>whose value you want stored in the file (see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37760C3-A22B-DA73-A242-C4FD8475EDAB}"/>
              </a:ext>
            </a:extLst>
          </p:cNvPr>
          <p:cNvPicPr>
            <a:picLocks noChangeAspect="1"/>
          </p:cNvPicPr>
          <p:nvPr/>
        </p:nvPicPr>
        <p:blipFill>
          <a:blip r:embed="rId2"/>
          <a:stretch>
            <a:fillRect/>
          </a:stretch>
        </p:blipFill>
        <p:spPr>
          <a:xfrm>
            <a:off x="3165987" y="2311041"/>
            <a:ext cx="5860026" cy="4227871"/>
          </a:xfrm>
          <a:prstGeom prst="rect">
            <a:avLst/>
          </a:prstGeom>
        </p:spPr>
      </p:pic>
    </p:spTree>
    <p:extLst>
      <p:ext uri="{BB962C8B-B14F-4D97-AF65-F5344CB8AC3E}">
        <p14:creationId xmlns:p14="http://schemas.microsoft.com/office/powerpoint/2010/main" val="3081503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API(8/12)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Metadata Through Files in a </a:t>
            </a:r>
            <a:r>
              <a:rPr lang="en-US" altLang="ko-KR" sz="1800" b="1" dirty="0" err="1"/>
              <a:t>downwardAPI</a:t>
            </a:r>
            <a:r>
              <a:rPr lang="en-US" altLang="ko-KR" sz="1800" b="1" dirty="0"/>
              <a:t> Volume :</a:t>
            </a:r>
          </a:p>
          <a:p>
            <a:pPr lvl="1">
              <a:buFont typeface="Wingdings" panose="05000000000000000000" pitchFamily="2" charset="2"/>
              <a:buChar char="§"/>
            </a:pPr>
            <a:r>
              <a:rPr lang="en-US" altLang="ko-KR" sz="1400" b="1" dirty="0"/>
              <a:t>Delete the previous pod and create a new one from the manifest in the previous listing</a:t>
            </a:r>
            <a:r>
              <a:rPr lang="en-US" altLang="ko-KR" sz="1400" dirty="0"/>
              <a:t>. Then look at the contents of </a:t>
            </a:r>
            <a:r>
              <a:rPr lang="en-US" altLang="ko-KR" sz="1400" b="1" dirty="0"/>
              <a:t>the mounted </a:t>
            </a:r>
            <a:r>
              <a:rPr lang="en-US" altLang="ko-KR" sz="1400" b="1" dirty="0" err="1"/>
              <a:t>downwardAPI</a:t>
            </a:r>
            <a:r>
              <a:rPr lang="en-US" altLang="ko-KR" sz="1400" b="1" dirty="0"/>
              <a:t> volume directory</a:t>
            </a:r>
            <a:r>
              <a:rPr lang="en-US" altLang="ko-KR" sz="1400" dirty="0"/>
              <a:t>. You mounted the volume under “</a:t>
            </a:r>
            <a:r>
              <a:rPr lang="en-US" altLang="ko-KR" sz="1400" b="1" dirty="0"/>
              <a:t>/</a:t>
            </a:r>
            <a:r>
              <a:rPr lang="en-US" altLang="ko-KR" sz="1400" b="1" dirty="0" err="1"/>
              <a:t>etc</a:t>
            </a:r>
            <a:r>
              <a:rPr lang="en-US" altLang="ko-KR" sz="1400" b="1" dirty="0"/>
              <a:t>/downward/</a:t>
            </a:r>
            <a:r>
              <a:rPr lang="en-US" altLang="ko-KR" sz="1400" dirty="0"/>
              <a:t>”, so list the files in there,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As with the </a:t>
            </a:r>
            <a:r>
              <a:rPr lang="en-US" altLang="ko-KR" sz="1400" b="1" dirty="0" err="1"/>
              <a:t>configMap</a:t>
            </a:r>
            <a:r>
              <a:rPr lang="en-US" altLang="ko-KR" sz="1400" b="1" dirty="0"/>
              <a:t> and secret volumes, you can change the file permissions through the </a:t>
            </a:r>
            <a:r>
              <a:rPr lang="en-US" altLang="ko-KR" sz="1400" b="1" dirty="0" err="1"/>
              <a:t>downwardAPI</a:t>
            </a:r>
            <a:r>
              <a:rPr lang="en-US" altLang="ko-KR" sz="1400" b="1" dirty="0"/>
              <a:t> volume’s “</a:t>
            </a:r>
            <a:r>
              <a:rPr lang="en-US" altLang="ko-KR" sz="1400" b="1" dirty="0" err="1">
                <a:solidFill>
                  <a:srgbClr val="FF0000"/>
                </a:solidFill>
              </a:rPr>
              <a:t>defaultMode</a:t>
            </a:r>
            <a:r>
              <a:rPr lang="en-US" altLang="ko-KR" sz="1400" b="1" dirty="0"/>
              <a:t>” property in the pod spec</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8854B782-1F97-9CE5-FFED-C367B3D5BC30}"/>
              </a:ext>
            </a:extLst>
          </p:cNvPr>
          <p:cNvGrpSpPr/>
          <p:nvPr/>
        </p:nvGrpSpPr>
        <p:grpSpPr>
          <a:xfrm>
            <a:off x="1331477" y="1960820"/>
            <a:ext cx="9529046" cy="2936360"/>
            <a:chOff x="1331477" y="1862619"/>
            <a:chExt cx="9529046" cy="2936360"/>
          </a:xfrm>
        </p:grpSpPr>
        <p:grpSp>
          <p:nvGrpSpPr>
            <p:cNvPr id="12" name="그룹 11">
              <a:extLst>
                <a:ext uri="{FF2B5EF4-FFF2-40B4-BE49-F238E27FC236}">
                  <a16:creationId xmlns:a16="http://schemas.microsoft.com/office/drawing/2014/main" id="{322EAC4E-1ABA-85A1-8D14-60B3FF0E5D51}"/>
                </a:ext>
              </a:extLst>
            </p:cNvPr>
            <p:cNvGrpSpPr/>
            <p:nvPr/>
          </p:nvGrpSpPr>
          <p:grpSpPr>
            <a:xfrm>
              <a:off x="1331477" y="1862619"/>
              <a:ext cx="9529046" cy="2936360"/>
              <a:chOff x="1331477" y="1862619"/>
              <a:chExt cx="9529046" cy="2936360"/>
            </a:xfrm>
          </p:grpSpPr>
          <p:sp>
            <p:nvSpPr>
              <p:cNvPr id="8" name="TextBox 7">
                <a:extLst>
                  <a:ext uri="{FF2B5EF4-FFF2-40B4-BE49-F238E27FC236}">
                    <a16:creationId xmlns:a16="http://schemas.microsoft.com/office/drawing/2014/main" id="{CC1FD0EE-7C76-DB5D-CF5F-A219A1701B5D}"/>
                  </a:ext>
                </a:extLst>
              </p:cNvPr>
              <p:cNvSpPr txBox="1"/>
              <p:nvPr/>
            </p:nvSpPr>
            <p:spPr>
              <a:xfrm>
                <a:off x="3047326" y="1862619"/>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a:solidFill>
                      <a:srgbClr val="FF0000"/>
                    </a:solidFill>
                  </a:rPr>
                  <a:t>f downward-</a:t>
                </a:r>
                <a:r>
                  <a:rPr lang="en-US" altLang="ko-KR" sz="1000" b="1" dirty="0" err="1">
                    <a:solidFill>
                      <a:srgbClr val="FF0000"/>
                    </a:solidFill>
                  </a:rPr>
                  <a:t>api</a:t>
                </a:r>
                <a:r>
                  <a:rPr lang="en-US" altLang="ko-KR" sz="1000" b="1" dirty="0">
                    <a:solidFill>
                      <a:srgbClr val="FF0000"/>
                    </a:solidFill>
                  </a:rPr>
                  <a:t>-</a:t>
                </a:r>
                <a:r>
                  <a:rPr lang="en-US" altLang="ko-KR" sz="1000" b="1" dirty="0" err="1">
                    <a:solidFill>
                      <a:srgbClr val="FF0000"/>
                    </a:solidFill>
                  </a:rPr>
                  <a:t>env.yaml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downward-</a:t>
                </a:r>
                <a:r>
                  <a:rPr lang="en-US" altLang="ko-KR" sz="1000" b="1" dirty="0" err="1">
                    <a:solidFill>
                      <a:srgbClr val="FF0000"/>
                    </a:solidFill>
                  </a:rPr>
                  <a:t>api</a:t>
                </a:r>
                <a:r>
                  <a:rPr lang="en-US" altLang="ko-KR" sz="1000" b="1" dirty="0">
                    <a:solidFill>
                      <a:srgbClr val="FF0000"/>
                    </a:solidFill>
                  </a:rPr>
                  <a:t>-</a:t>
                </a:r>
                <a:r>
                  <a:rPr lang="en-US" altLang="ko-KR" sz="1000" b="1" dirty="0" err="1">
                    <a:solidFill>
                      <a:srgbClr val="FF0000"/>
                    </a:solidFill>
                  </a:rPr>
                  <a:t>volume.yaml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a:t>
                </a:r>
                <a:r>
                  <a:rPr lang="en-US" altLang="ko-KR" sz="1000" b="1" dirty="0">
                    <a:solidFill>
                      <a:srgbClr val="FF0000"/>
                    </a:solidFill>
                  </a:rPr>
                  <a:t>downward -- ls -</a:t>
                </a:r>
                <a:r>
                  <a:rPr lang="en-US" altLang="ko-KR" sz="1000" b="1" dirty="0" err="1">
                    <a:solidFill>
                      <a:srgbClr val="FF0000"/>
                    </a:solidFill>
                  </a:rPr>
                  <a:t>lL</a:t>
                </a:r>
                <a:r>
                  <a:rPr lang="en-US" altLang="ko-KR" sz="1000" b="1" dirty="0">
                    <a:solidFill>
                      <a:srgbClr val="FF0000"/>
                    </a:solidFill>
                  </a:rPr>
                  <a:t> /</a:t>
                </a:r>
                <a:r>
                  <a:rPr lang="en-US" altLang="ko-KR" sz="1000" b="1" dirty="0" err="1">
                    <a:solidFill>
                      <a:srgbClr val="FF0000"/>
                    </a:solidFill>
                  </a:rPr>
                  <a:t>etc</a:t>
                </a:r>
                <a:r>
                  <a:rPr lang="en-US" altLang="ko-KR" sz="1000" b="1" dirty="0">
                    <a:solidFill>
                      <a:srgbClr val="FF0000"/>
                    </a:solidFill>
                  </a:rPr>
                  <a:t>/downward</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EE148215-9A22-1CCD-7FDA-61184DD06A51}"/>
                  </a:ext>
                </a:extLst>
              </p:cNvPr>
              <p:cNvSpPr/>
              <p:nvPr/>
            </p:nvSpPr>
            <p:spPr>
              <a:xfrm>
                <a:off x="5877515" y="2427611"/>
                <a:ext cx="436970" cy="2670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9CB61988-7242-021B-2714-FA398390C20E}"/>
                  </a:ext>
                </a:extLst>
              </p:cNvPr>
              <p:cNvPicPr>
                <a:picLocks noChangeAspect="1"/>
              </p:cNvPicPr>
              <p:nvPr/>
            </p:nvPicPr>
            <p:blipFill>
              <a:blip r:embed="rId2"/>
              <a:stretch>
                <a:fillRect/>
              </a:stretch>
            </p:blipFill>
            <p:spPr>
              <a:xfrm>
                <a:off x="1331477" y="2694648"/>
                <a:ext cx="9529046" cy="2104331"/>
              </a:xfrm>
              <a:prstGeom prst="rect">
                <a:avLst/>
              </a:prstGeom>
            </p:spPr>
          </p:pic>
        </p:grpSp>
        <p:sp>
          <p:nvSpPr>
            <p:cNvPr id="13" name="직사각형 12">
              <a:extLst>
                <a:ext uri="{FF2B5EF4-FFF2-40B4-BE49-F238E27FC236}">
                  <a16:creationId xmlns:a16="http://schemas.microsoft.com/office/drawing/2014/main" id="{7C0BF656-0335-F0D6-ADAA-E1D318289367}"/>
                </a:ext>
              </a:extLst>
            </p:cNvPr>
            <p:cNvSpPr/>
            <p:nvPr/>
          </p:nvSpPr>
          <p:spPr>
            <a:xfrm>
              <a:off x="5362321" y="3118334"/>
              <a:ext cx="2964383" cy="1994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437D39C2-DCF5-3996-79CA-62ECCC82468E}"/>
                </a:ext>
              </a:extLst>
            </p:cNvPr>
            <p:cNvSpPr/>
            <p:nvPr/>
          </p:nvSpPr>
          <p:spPr>
            <a:xfrm>
              <a:off x="5362321" y="3385371"/>
              <a:ext cx="2964383" cy="1994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2603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API(9/12)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Metadata Through Files in a </a:t>
            </a:r>
            <a:r>
              <a:rPr lang="en-US" altLang="ko-KR" sz="1800" b="1" dirty="0" err="1"/>
              <a:t>downwardAPI</a:t>
            </a:r>
            <a:r>
              <a:rPr lang="en-US" altLang="ko-KR" sz="1800" b="1" dirty="0"/>
              <a:t> Volume :</a:t>
            </a:r>
          </a:p>
          <a:p>
            <a:pPr lvl="1">
              <a:buFont typeface="Wingdings" panose="05000000000000000000" pitchFamily="2" charset="2"/>
              <a:buChar char="§"/>
            </a:pPr>
            <a:r>
              <a:rPr lang="en-US" altLang="ko-KR" sz="1400" dirty="0"/>
              <a:t>Each file corresponds to an item in the volume’s definition. The contents of files, which correspond to the same metadata fields as in the previous example, are the same as the values of environment variables you used before, so we won’t show them here. But because you couldn’t expose labels and annotations through environment variables before, examine the following listing for the contents of the two files you exposed them in.</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see, each “label/annotation” is written in the “key=value” format on a separate line. Multi-line values are written to a single line with newline characters denoted with \n</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FEFBF232-D34B-6175-88F3-5F339BFA276D}"/>
              </a:ext>
            </a:extLst>
          </p:cNvPr>
          <p:cNvGrpSpPr/>
          <p:nvPr/>
        </p:nvGrpSpPr>
        <p:grpSpPr>
          <a:xfrm>
            <a:off x="1222066" y="2273443"/>
            <a:ext cx="9747868" cy="2254262"/>
            <a:chOff x="1222066" y="2273443"/>
            <a:chExt cx="9747868" cy="2254262"/>
          </a:xfrm>
        </p:grpSpPr>
        <p:sp>
          <p:nvSpPr>
            <p:cNvPr id="8" name="TextBox 7">
              <a:extLst>
                <a:ext uri="{FF2B5EF4-FFF2-40B4-BE49-F238E27FC236}">
                  <a16:creationId xmlns:a16="http://schemas.microsoft.com/office/drawing/2014/main" id="{30F9B598-966A-F068-BC2E-4D69AF34EDB0}"/>
                </a:ext>
              </a:extLst>
            </p:cNvPr>
            <p:cNvSpPr txBox="1"/>
            <p:nvPr/>
          </p:nvSpPr>
          <p:spPr>
            <a:xfrm>
              <a:off x="3047326" y="2273443"/>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downward -- cat /</a:t>
              </a:r>
              <a:r>
                <a:rPr lang="en-US" altLang="ko-KR" sz="1000" b="1" dirty="0" err="1">
                  <a:solidFill>
                    <a:srgbClr val="FF0000"/>
                  </a:solidFill>
                </a:rPr>
                <a:t>etc</a:t>
              </a:r>
              <a:r>
                <a:rPr lang="en-US" altLang="ko-KR" sz="1000" b="1" dirty="0">
                  <a:solidFill>
                    <a:srgbClr val="FF0000"/>
                  </a:solidFill>
                </a:rPr>
                <a:t>/downward/labels</a:t>
              </a:r>
            </a:p>
            <a:p>
              <a:r>
                <a:rPr lang="en-US" altLang="ko-KR" sz="1000" b="1" dirty="0"/>
                <a:t>$ </a:t>
              </a:r>
              <a:r>
                <a:rPr lang="en-US" altLang="ko-KR" sz="1000" b="1" dirty="0" err="1"/>
                <a:t>kubectl</a:t>
              </a:r>
              <a:r>
                <a:rPr lang="en-US" altLang="ko-KR" sz="1000" b="1" dirty="0"/>
                <a:t> exec </a:t>
              </a:r>
              <a:r>
                <a:rPr lang="en-US" altLang="ko-KR" sz="1000" b="1" dirty="0">
                  <a:solidFill>
                    <a:srgbClr val="FF0000"/>
                  </a:solidFill>
                </a:rPr>
                <a:t>downward -- cat /</a:t>
              </a:r>
              <a:r>
                <a:rPr lang="en-US" altLang="ko-KR" sz="1000" b="1" dirty="0" err="1">
                  <a:solidFill>
                    <a:srgbClr val="FF0000"/>
                  </a:solidFill>
                </a:rPr>
                <a:t>etc</a:t>
              </a:r>
              <a:r>
                <a:rPr lang="en-US" altLang="ko-KR" sz="1000" b="1" dirty="0">
                  <a:solidFill>
                    <a:srgbClr val="FF0000"/>
                  </a:solidFill>
                </a:rPr>
                <a:t>/downward/annotations</a:t>
              </a:r>
            </a:p>
          </p:txBody>
        </p:sp>
        <p:sp>
          <p:nvSpPr>
            <p:cNvPr id="9" name="화살표: 아래쪽 8">
              <a:extLst>
                <a:ext uri="{FF2B5EF4-FFF2-40B4-BE49-F238E27FC236}">
                  <a16:creationId xmlns:a16="http://schemas.microsoft.com/office/drawing/2014/main" id="{E7FA92C6-A9E7-874A-C78A-00E17719ED78}"/>
                </a:ext>
              </a:extLst>
            </p:cNvPr>
            <p:cNvSpPr/>
            <p:nvPr/>
          </p:nvSpPr>
          <p:spPr>
            <a:xfrm>
              <a:off x="5853239" y="2673553"/>
              <a:ext cx="485522"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66855A4-C489-64A4-E065-591C945AF42D}"/>
                </a:ext>
              </a:extLst>
            </p:cNvPr>
            <p:cNvPicPr>
              <a:picLocks noChangeAspect="1"/>
            </p:cNvPicPr>
            <p:nvPr/>
          </p:nvPicPr>
          <p:blipFill>
            <a:blip r:embed="rId2"/>
            <a:stretch>
              <a:fillRect/>
            </a:stretch>
          </p:blipFill>
          <p:spPr>
            <a:xfrm>
              <a:off x="1222066" y="2984293"/>
              <a:ext cx="9747868" cy="1543412"/>
            </a:xfrm>
            <a:prstGeom prst="rect">
              <a:avLst/>
            </a:prstGeom>
          </p:spPr>
        </p:pic>
      </p:grpSp>
    </p:spTree>
    <p:extLst>
      <p:ext uri="{BB962C8B-B14F-4D97-AF65-F5344CB8AC3E}">
        <p14:creationId xmlns:p14="http://schemas.microsoft.com/office/powerpoint/2010/main" val="2864986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API(10/12)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Metadata Through Files in a </a:t>
            </a:r>
            <a:r>
              <a:rPr lang="en-US" altLang="ko-KR" sz="1800" b="1" dirty="0" err="1"/>
              <a:t>downwardAPI</a:t>
            </a:r>
            <a:r>
              <a:rPr lang="en-US" altLang="ko-KR" sz="1800" b="1" dirty="0"/>
              <a:t> Volume :</a:t>
            </a:r>
          </a:p>
          <a:p>
            <a:pPr lvl="1">
              <a:buFont typeface="Wingdings" panose="05000000000000000000" pitchFamily="2" charset="2"/>
              <a:buChar char="§"/>
            </a:pPr>
            <a:r>
              <a:rPr lang="en-US" altLang="ko-KR" sz="1400" b="1" dirty="0"/>
              <a:t>Labels and annotations can be modified while a pod is running</a:t>
            </a:r>
            <a:r>
              <a:rPr lang="en-US" altLang="ko-KR" sz="1400" dirty="0"/>
              <a:t>. </a:t>
            </a:r>
            <a:r>
              <a:rPr lang="en-US" altLang="ko-KR" sz="1400" b="1" dirty="0"/>
              <a:t>As you might expect, </a:t>
            </a:r>
            <a:r>
              <a:rPr lang="en-US" altLang="ko-KR" sz="1400" b="1" dirty="0">
                <a:solidFill>
                  <a:srgbClr val="FF0000"/>
                </a:solidFill>
              </a:rPr>
              <a:t>when they change, Kubernetes updates the files holding them</a:t>
            </a:r>
            <a:r>
              <a:rPr lang="en-US" altLang="ko-KR" sz="1400" b="1" dirty="0"/>
              <a:t>, allowing the pod to always see up-to-date data</a:t>
            </a:r>
            <a:r>
              <a:rPr lang="en-US" altLang="ko-KR" sz="1400" dirty="0"/>
              <a:t>. This also explains why labels and annotations can’t be exposed through environment variables. </a:t>
            </a:r>
            <a:r>
              <a:rPr lang="en-US" altLang="ko-KR" sz="1400" b="1" dirty="0"/>
              <a:t>Because environment variable values can’t be updated afterward, if the labels or annotations of a pod were exposed through environment variables, there’s no way to expose the new values after they’re modified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356AB1E-3630-80A9-8DAB-00FBB27AB4B6}"/>
              </a:ext>
            </a:extLst>
          </p:cNvPr>
          <p:cNvPicPr>
            <a:picLocks noChangeAspect="1"/>
          </p:cNvPicPr>
          <p:nvPr/>
        </p:nvPicPr>
        <p:blipFill>
          <a:blip r:embed="rId2"/>
          <a:stretch>
            <a:fillRect/>
          </a:stretch>
        </p:blipFill>
        <p:spPr>
          <a:xfrm>
            <a:off x="3322982" y="2492732"/>
            <a:ext cx="5546036" cy="3113783"/>
          </a:xfrm>
          <a:prstGeom prst="rect">
            <a:avLst/>
          </a:prstGeom>
        </p:spPr>
      </p:pic>
    </p:spTree>
    <p:extLst>
      <p:ext uri="{BB962C8B-B14F-4D97-AF65-F5344CB8AC3E}">
        <p14:creationId xmlns:p14="http://schemas.microsoft.com/office/powerpoint/2010/main" val="327472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API(11/12)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Metadata Through Files in a </a:t>
            </a:r>
            <a:r>
              <a:rPr lang="en-US" altLang="ko-KR" sz="1800" b="1" dirty="0" err="1"/>
              <a:t>downwardAPI</a:t>
            </a:r>
            <a:r>
              <a:rPr lang="en-US" altLang="ko-KR" sz="1800" b="1" dirty="0"/>
              <a:t> Volume :</a:t>
            </a:r>
          </a:p>
          <a:p>
            <a:pPr lvl="1">
              <a:buFont typeface="Wingdings" panose="05000000000000000000" pitchFamily="2" charset="2"/>
              <a:buChar char="§"/>
            </a:pPr>
            <a:r>
              <a:rPr lang="en-US" altLang="ko-KR" sz="1400" b="1" dirty="0"/>
              <a:t>When exposing container-level metadata</a:t>
            </a:r>
            <a:r>
              <a:rPr lang="en-US" altLang="ko-KR" sz="1400" dirty="0"/>
              <a:t>, such as a container’s resource limit or requests (done using “</a:t>
            </a:r>
            <a:r>
              <a:rPr lang="en-US" altLang="ko-KR" sz="1400" b="1" dirty="0" err="1">
                <a:solidFill>
                  <a:srgbClr val="FF0000"/>
                </a:solidFill>
              </a:rPr>
              <a:t>resourceFieldRef</a:t>
            </a:r>
            <a:r>
              <a:rPr lang="en-US" altLang="ko-KR" sz="1400" dirty="0"/>
              <a:t>”), </a:t>
            </a:r>
            <a:r>
              <a:rPr lang="en-US" altLang="ko-KR" sz="1400" b="1" dirty="0"/>
              <a:t>you need to specify the name of the container </a:t>
            </a:r>
            <a:r>
              <a:rPr lang="en-US" altLang="ko-KR" sz="1400" dirty="0"/>
              <a:t>whose resource field you’re referencing,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reason for this becomes obvious if you consider that </a:t>
            </a:r>
            <a:r>
              <a:rPr lang="en-US" altLang="ko-KR" sz="1400" b="1" dirty="0">
                <a:solidFill>
                  <a:srgbClr val="FF0000"/>
                </a:solidFill>
              </a:rPr>
              <a:t>volumes are defined at the pod level</a:t>
            </a:r>
            <a:r>
              <a:rPr lang="en-US" altLang="ko-KR" sz="1400" b="1" dirty="0"/>
              <a:t>, not at the container level</a:t>
            </a:r>
            <a:r>
              <a:rPr lang="en-US" altLang="ko-KR" sz="1400" dirty="0"/>
              <a:t>. </a:t>
            </a:r>
            <a:r>
              <a:rPr lang="en-US" altLang="ko-KR" sz="1400" b="1" dirty="0"/>
              <a:t>When referring to a container’s resource field inside a volume specification, you need to explicitly specify the name of the container you’re referring to</a:t>
            </a:r>
            <a:r>
              <a:rPr lang="en-US" altLang="ko-KR" sz="1400" dirty="0"/>
              <a:t>. This is true even for single-container pods.</a:t>
            </a:r>
          </a:p>
          <a:p>
            <a:pPr lvl="1">
              <a:buFont typeface="Wingdings" panose="05000000000000000000" pitchFamily="2" charset="2"/>
              <a:buChar char="§"/>
            </a:pPr>
            <a:r>
              <a:rPr lang="en-US" altLang="ko-KR" sz="1400" dirty="0"/>
              <a:t>Using volumes to expose a container’s resource requests and/or limits is slightly more complicated than using environment variables, but </a:t>
            </a:r>
            <a:r>
              <a:rPr lang="en-US" altLang="ko-KR" sz="1400" b="1" dirty="0"/>
              <a:t>the benefit is that it allows you to pass one container’s resource fields to a different container if needed (but both containers need to be in the same pod). With environment variables, a container can only be passed its own resource limits and requests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199C8DE-C5E3-208D-256E-6242369F5006}"/>
              </a:ext>
            </a:extLst>
          </p:cNvPr>
          <p:cNvSpPr txBox="1"/>
          <p:nvPr/>
        </p:nvSpPr>
        <p:spPr>
          <a:xfrm>
            <a:off x="3047326" y="1944318"/>
            <a:ext cx="6097348" cy="1631216"/>
          </a:xfrm>
          <a:prstGeom prst="rect">
            <a:avLst/>
          </a:prstGeom>
          <a:noFill/>
          <a:ln>
            <a:solidFill>
              <a:schemeClr val="bg1">
                <a:lumMod val="50000"/>
              </a:schemeClr>
            </a:solidFill>
          </a:ln>
        </p:spPr>
        <p:txBody>
          <a:bodyPr wrap="square">
            <a:spAutoFit/>
          </a:bodyPr>
          <a:lstStyle/>
          <a:p>
            <a:r>
              <a:rPr lang="en-US" altLang="ko-KR" sz="1000" b="1" dirty="0"/>
              <a:t>spec:</a:t>
            </a:r>
          </a:p>
          <a:p>
            <a:r>
              <a:rPr lang="en-US" altLang="ko-KR" sz="1000" b="1" dirty="0"/>
              <a:t>  volumes:</a:t>
            </a:r>
          </a:p>
          <a:p>
            <a:r>
              <a:rPr lang="en-US" altLang="ko-KR" sz="1000" b="1" dirty="0"/>
              <a:t>  - name: downward</a:t>
            </a:r>
          </a:p>
          <a:p>
            <a:r>
              <a:rPr lang="en-US" altLang="ko-KR" sz="1000" b="1" dirty="0"/>
              <a:t>    </a:t>
            </a:r>
            <a:r>
              <a:rPr lang="en-US" altLang="ko-KR" sz="1000" b="1" dirty="0" err="1"/>
              <a:t>downwardAPI</a:t>
            </a:r>
            <a:r>
              <a:rPr lang="en-US" altLang="ko-KR" sz="1000" b="1" dirty="0"/>
              <a:t>:</a:t>
            </a:r>
          </a:p>
          <a:p>
            <a:r>
              <a:rPr lang="en-US" altLang="ko-KR" sz="1000" b="1" dirty="0"/>
              <a:t>      items:</a:t>
            </a:r>
          </a:p>
          <a:p>
            <a:r>
              <a:rPr lang="en-US" altLang="ko-KR" sz="1000" b="1" dirty="0"/>
              <a:t>      - path: "</a:t>
            </a:r>
            <a:r>
              <a:rPr lang="en-US" altLang="ko-KR" sz="1000" b="1" dirty="0" err="1"/>
              <a:t>containerCpuRequestMilliCores</a:t>
            </a:r>
            <a:r>
              <a:rPr lang="en-US" altLang="ko-KR" sz="1000" b="1" dirty="0"/>
              <a:t>"</a:t>
            </a:r>
          </a:p>
          <a:p>
            <a:r>
              <a:rPr lang="en-US" altLang="ko-KR" sz="1000" b="1" dirty="0"/>
              <a:t>        </a:t>
            </a:r>
            <a:r>
              <a:rPr lang="en-US" altLang="ko-KR" sz="1000" b="1" dirty="0" err="1">
                <a:solidFill>
                  <a:srgbClr val="FF0000"/>
                </a:solidFill>
              </a:rPr>
              <a:t>resourceFieldRef</a:t>
            </a:r>
            <a:r>
              <a:rPr lang="en-US" altLang="ko-KR" sz="1000" b="1" dirty="0"/>
              <a:t>:</a:t>
            </a:r>
          </a:p>
          <a:p>
            <a:r>
              <a:rPr lang="en-US" altLang="ko-KR" sz="1000" b="1" dirty="0">
                <a:solidFill>
                  <a:srgbClr val="FF0000"/>
                </a:solidFill>
              </a:rPr>
              <a:t>          </a:t>
            </a:r>
            <a:r>
              <a:rPr lang="en-US" altLang="ko-KR" sz="1000" b="1" dirty="0" err="1">
                <a:solidFill>
                  <a:srgbClr val="FF0000"/>
                </a:solidFill>
              </a:rPr>
              <a:t>containerName</a:t>
            </a:r>
            <a:r>
              <a:rPr lang="en-US" altLang="ko-KR" sz="1000" b="1" dirty="0">
                <a:solidFill>
                  <a:srgbClr val="FF0000"/>
                </a:solidFill>
              </a:rPr>
              <a:t>: main</a:t>
            </a:r>
          </a:p>
          <a:p>
            <a:r>
              <a:rPr lang="en-US" altLang="ko-KR" sz="1000" b="1" dirty="0"/>
              <a:t>          resource: </a:t>
            </a:r>
            <a:r>
              <a:rPr lang="en-US" altLang="ko-KR" sz="1000" b="1" dirty="0" err="1"/>
              <a:t>requests.cpu</a:t>
            </a:r>
            <a:endParaRPr lang="en-US" altLang="ko-KR" sz="1000" b="1" dirty="0"/>
          </a:p>
          <a:p>
            <a:r>
              <a:rPr lang="en-US" altLang="ko-KR" sz="1000" b="1" dirty="0"/>
              <a:t>          divisor: 1m</a:t>
            </a:r>
            <a:endParaRPr lang="ko-KR" altLang="en-US" sz="1000" b="1" dirty="0"/>
          </a:p>
        </p:txBody>
      </p:sp>
    </p:spTree>
    <p:extLst>
      <p:ext uri="{BB962C8B-B14F-4D97-AF65-F5344CB8AC3E}">
        <p14:creationId xmlns:p14="http://schemas.microsoft.com/office/powerpoint/2010/main" val="89817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Metadata Through the Downward API(12/12)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Metadata Through Files in a </a:t>
            </a:r>
            <a:r>
              <a:rPr lang="en-US" altLang="ko-KR" sz="1800" b="1" dirty="0" err="1"/>
              <a:t>downwardAPI</a:t>
            </a:r>
            <a:r>
              <a:rPr lang="en-US" altLang="ko-KR" sz="1800" b="1" dirty="0"/>
              <a:t> Volume :</a:t>
            </a:r>
          </a:p>
          <a:p>
            <a:pPr lvl="1">
              <a:buFont typeface="Wingdings" panose="05000000000000000000" pitchFamily="2" charset="2"/>
              <a:buChar char="§"/>
            </a:pPr>
            <a:r>
              <a:rPr lang="en-US" altLang="ko-KR" sz="1400" b="1" dirty="0"/>
              <a:t>The Downward API allows you to keep the application Kubernetes-agnostic</a:t>
            </a:r>
            <a:r>
              <a:rPr lang="en-US" altLang="ko-KR" sz="1400" dirty="0"/>
              <a:t>. This is especially useful when you’re dealing with an existing application that expects certain data in environment variables. </a:t>
            </a:r>
            <a:r>
              <a:rPr lang="en-US" altLang="ko-KR" sz="1400" b="1" dirty="0"/>
              <a:t>The Downward API allows you to </a:t>
            </a:r>
            <a:r>
              <a:rPr lang="en-US" altLang="ko-KR" sz="1400" b="1" dirty="0">
                <a:solidFill>
                  <a:srgbClr val="FF0000"/>
                </a:solidFill>
              </a:rPr>
              <a:t>expose the data to the application without having to rewrite the application or wrap it in a shell script</a:t>
            </a:r>
            <a:r>
              <a:rPr lang="en-US" altLang="ko-KR" sz="1400" dirty="0"/>
              <a:t>, </a:t>
            </a:r>
            <a:r>
              <a:rPr lang="en-US" altLang="ko-KR" sz="1400" b="1" dirty="0"/>
              <a:t>which collects the data and then exposes it through environment variables</a:t>
            </a:r>
            <a:r>
              <a:rPr lang="en-US" altLang="ko-KR" sz="1400" dirty="0"/>
              <a:t>.</a:t>
            </a:r>
          </a:p>
          <a:p>
            <a:pPr lvl="1">
              <a:buFont typeface="Wingdings" panose="05000000000000000000" pitchFamily="2" charset="2"/>
              <a:buChar char="§"/>
            </a:pPr>
            <a:r>
              <a:rPr lang="en-US" altLang="ko-KR" sz="1400" b="1" dirty="0"/>
              <a:t>But the metadata available through the Downward API is fairly limited</a:t>
            </a:r>
            <a:r>
              <a:rPr lang="en-US" altLang="ko-KR" sz="1400" dirty="0"/>
              <a:t>. If you need more, you’ll need to </a:t>
            </a:r>
            <a:r>
              <a:rPr lang="en-US" altLang="ko-KR" sz="1400" b="1" dirty="0"/>
              <a:t>obtain it from the Kubernetes API server directly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A86D806-16F5-1357-9BE5-A29A1E7EE213}"/>
              </a:ext>
            </a:extLst>
          </p:cNvPr>
          <p:cNvPicPr>
            <a:picLocks noChangeAspect="1"/>
          </p:cNvPicPr>
          <p:nvPr/>
        </p:nvPicPr>
        <p:blipFill>
          <a:blip r:embed="rId2"/>
          <a:stretch>
            <a:fillRect/>
          </a:stretch>
        </p:blipFill>
        <p:spPr>
          <a:xfrm>
            <a:off x="2615708" y="2738819"/>
            <a:ext cx="6960583" cy="3071094"/>
          </a:xfrm>
          <a:prstGeom prst="rect">
            <a:avLst/>
          </a:prstGeom>
        </p:spPr>
      </p:pic>
    </p:spTree>
    <p:extLst>
      <p:ext uri="{BB962C8B-B14F-4D97-AF65-F5344CB8AC3E}">
        <p14:creationId xmlns:p14="http://schemas.microsoft.com/office/powerpoint/2010/main" val="3184645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Big Picture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Objects :</a:t>
            </a: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205C772D-1A3D-BA1B-4020-A620778D98C8}"/>
              </a:ext>
            </a:extLst>
          </p:cNvPr>
          <p:cNvGrpSpPr/>
          <p:nvPr/>
        </p:nvGrpSpPr>
        <p:grpSpPr>
          <a:xfrm>
            <a:off x="2828064" y="1186949"/>
            <a:ext cx="6535871" cy="5222081"/>
            <a:chOff x="2828064" y="1186949"/>
            <a:chExt cx="6535871" cy="5222081"/>
          </a:xfrm>
        </p:grpSpPr>
        <p:pic>
          <p:nvPicPr>
            <p:cNvPr id="4" name="그림 3">
              <a:extLst>
                <a:ext uri="{FF2B5EF4-FFF2-40B4-BE49-F238E27FC236}">
                  <a16:creationId xmlns:a16="http://schemas.microsoft.com/office/drawing/2014/main" id="{F0DA1210-F803-AFDE-4BD4-BA1DE0B30C5A}"/>
                </a:ext>
              </a:extLst>
            </p:cNvPr>
            <p:cNvPicPr>
              <a:picLocks noChangeAspect="1"/>
            </p:cNvPicPr>
            <p:nvPr/>
          </p:nvPicPr>
          <p:blipFill>
            <a:blip r:embed="rId2"/>
            <a:stretch>
              <a:fillRect/>
            </a:stretch>
          </p:blipFill>
          <p:spPr>
            <a:xfrm>
              <a:off x="2828064" y="1186949"/>
              <a:ext cx="6535871" cy="5222081"/>
            </a:xfrm>
            <a:prstGeom prst="rect">
              <a:avLst/>
            </a:prstGeom>
          </p:spPr>
        </p:pic>
        <p:sp>
          <p:nvSpPr>
            <p:cNvPr id="8" name="직사각형 7">
              <a:extLst>
                <a:ext uri="{FF2B5EF4-FFF2-40B4-BE49-F238E27FC236}">
                  <a16:creationId xmlns:a16="http://schemas.microsoft.com/office/drawing/2014/main" id="{7A959DFF-E0BF-4FBB-DFF6-219EBE72D3F9}"/>
                </a:ext>
              </a:extLst>
            </p:cNvPr>
            <p:cNvSpPr/>
            <p:nvPr/>
          </p:nvSpPr>
          <p:spPr>
            <a:xfrm>
              <a:off x="6951058" y="5769621"/>
              <a:ext cx="938677" cy="5259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99790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API Server :</a:t>
            </a:r>
          </a:p>
          <a:p>
            <a:pPr lvl="1">
              <a:buFont typeface="Wingdings" panose="05000000000000000000" pitchFamily="2" charset="2"/>
              <a:buChar char="§"/>
            </a:pPr>
            <a:r>
              <a:rPr lang="en-US" altLang="ko-KR" sz="1400" b="1" dirty="0"/>
              <a:t>Sometimes your app will need to know more about other pods and even other resources defined in your cluster</a:t>
            </a:r>
            <a:r>
              <a:rPr lang="en-US" altLang="ko-KR" sz="1400" dirty="0"/>
              <a:t>. The Downward API doesn’t help in those cases.</a:t>
            </a:r>
          </a:p>
          <a:p>
            <a:pPr lvl="1">
              <a:buFont typeface="Wingdings" panose="05000000000000000000" pitchFamily="2" charset="2"/>
              <a:buChar char="§"/>
            </a:pPr>
            <a:r>
              <a:rPr lang="en-US" altLang="ko-KR" sz="1400" dirty="0"/>
              <a:t>Information about services and pods can be obtained by looking at the service-related environment variables or through DNS. But when the app needs data about other resources or when it requires access to the most up-to-date information as possible, </a:t>
            </a:r>
            <a:r>
              <a:rPr lang="en-US" altLang="ko-KR" sz="1400" b="1" dirty="0"/>
              <a:t>it needs to talk to the API server directly </a:t>
            </a:r>
            <a:r>
              <a:rPr lang="en-US" altLang="ko-KR" sz="1400" dirty="0"/>
              <a:t>(as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983D932-116C-3930-4109-8717FCC0D66E}"/>
              </a:ext>
            </a:extLst>
          </p:cNvPr>
          <p:cNvPicPr>
            <a:picLocks noChangeAspect="1"/>
          </p:cNvPicPr>
          <p:nvPr/>
        </p:nvPicPr>
        <p:blipFill>
          <a:blip r:embed="rId2"/>
          <a:stretch>
            <a:fillRect/>
          </a:stretch>
        </p:blipFill>
        <p:spPr>
          <a:xfrm>
            <a:off x="4522838" y="2746144"/>
            <a:ext cx="3146323" cy="1691148"/>
          </a:xfrm>
          <a:prstGeom prst="rect">
            <a:avLst/>
          </a:prstGeom>
        </p:spPr>
      </p:pic>
    </p:spTree>
    <p:extLst>
      <p:ext uri="{BB962C8B-B14F-4D97-AF65-F5344CB8AC3E}">
        <p14:creationId xmlns:p14="http://schemas.microsoft.com/office/powerpoint/2010/main" val="3257971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REST API :</a:t>
            </a:r>
          </a:p>
          <a:p>
            <a:pPr lvl="1">
              <a:buFont typeface="Wingdings" panose="05000000000000000000" pitchFamily="2" charset="2"/>
              <a:buChar char="§"/>
            </a:pPr>
            <a:r>
              <a:rPr lang="en-US" altLang="ko-KR" sz="1400" dirty="0"/>
              <a:t>If you’re planning on </a:t>
            </a:r>
            <a:r>
              <a:rPr lang="en-US" altLang="ko-KR" sz="1400" b="1" dirty="0"/>
              <a:t>developing apps that talk to the Kubernetes API</a:t>
            </a:r>
            <a:r>
              <a:rPr lang="en-US" altLang="ko-KR" sz="1400" dirty="0"/>
              <a:t>, you’ll want to </a:t>
            </a:r>
            <a:r>
              <a:rPr lang="en-US" altLang="ko-KR" sz="1400" b="1" dirty="0"/>
              <a:t>know the API first</a:t>
            </a:r>
            <a:r>
              <a:rPr lang="en-US" altLang="ko-KR" sz="1400" dirty="0"/>
              <a:t>. To do that, you can try hitting the API server directly. You can </a:t>
            </a:r>
            <a:r>
              <a:rPr lang="en-US" altLang="ko-KR" sz="1400" b="1" dirty="0"/>
              <a:t>get its URL</a:t>
            </a:r>
            <a:r>
              <a:rPr lang="en-US" altLang="ko-KR" sz="1400" dirty="0"/>
              <a:t> by running “</a:t>
            </a:r>
            <a:r>
              <a:rPr lang="en-US" altLang="ko-KR" sz="1400" b="1" dirty="0"/>
              <a:t>$ </a:t>
            </a:r>
            <a:r>
              <a:rPr lang="en-US" altLang="ko-KR" sz="1400" b="1" dirty="0" err="1"/>
              <a:t>kubectl</a:t>
            </a:r>
            <a:r>
              <a:rPr lang="en-US" altLang="ko-KR" sz="1400" b="1" dirty="0"/>
              <a:t> cluster-info</a:t>
            </a:r>
            <a:r>
              <a:rPr lang="en-US" altLang="ko-KR" sz="1400" dirty="0"/>
              <a:t>”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CCACE3F5-72FC-11FE-19D6-782AEAC069B7}"/>
              </a:ext>
            </a:extLst>
          </p:cNvPr>
          <p:cNvGrpSpPr/>
          <p:nvPr/>
        </p:nvGrpSpPr>
        <p:grpSpPr>
          <a:xfrm>
            <a:off x="1238418" y="1842523"/>
            <a:ext cx="9715163" cy="2088620"/>
            <a:chOff x="1238418" y="1642189"/>
            <a:chExt cx="9715163" cy="2088620"/>
          </a:xfrm>
        </p:grpSpPr>
        <p:grpSp>
          <p:nvGrpSpPr>
            <p:cNvPr id="12" name="그룹 11">
              <a:extLst>
                <a:ext uri="{FF2B5EF4-FFF2-40B4-BE49-F238E27FC236}">
                  <a16:creationId xmlns:a16="http://schemas.microsoft.com/office/drawing/2014/main" id="{53267A55-42CC-D7BC-617B-8B60D2FB2BCF}"/>
                </a:ext>
              </a:extLst>
            </p:cNvPr>
            <p:cNvGrpSpPr/>
            <p:nvPr/>
          </p:nvGrpSpPr>
          <p:grpSpPr>
            <a:xfrm>
              <a:off x="3047326" y="1642189"/>
              <a:ext cx="6097348" cy="559136"/>
              <a:chOff x="3047326" y="1642189"/>
              <a:chExt cx="6097348" cy="559136"/>
            </a:xfrm>
          </p:grpSpPr>
          <p:sp>
            <p:nvSpPr>
              <p:cNvPr id="10" name="TextBox 9">
                <a:extLst>
                  <a:ext uri="{FF2B5EF4-FFF2-40B4-BE49-F238E27FC236}">
                    <a16:creationId xmlns:a16="http://schemas.microsoft.com/office/drawing/2014/main" id="{828CC2E4-0B82-6487-3BA2-02FDD36BB8CB}"/>
                  </a:ext>
                </a:extLst>
              </p:cNvPr>
              <p:cNvSpPr txBox="1"/>
              <p:nvPr/>
            </p:nvSpPr>
            <p:spPr>
              <a:xfrm>
                <a:off x="3047326" y="164218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cluster-info</a:t>
                </a:r>
              </a:p>
            </p:txBody>
          </p:sp>
          <p:sp>
            <p:nvSpPr>
              <p:cNvPr id="11" name="화살표: 아래쪽 10">
                <a:extLst>
                  <a:ext uri="{FF2B5EF4-FFF2-40B4-BE49-F238E27FC236}">
                    <a16:creationId xmlns:a16="http://schemas.microsoft.com/office/drawing/2014/main" id="{39BDA577-428A-EAB2-12C9-6EBCF604BA2F}"/>
                  </a:ext>
                </a:extLst>
              </p:cNvPr>
              <p:cNvSpPr/>
              <p:nvPr/>
            </p:nvSpPr>
            <p:spPr>
              <a:xfrm>
                <a:off x="5881561" y="1893828"/>
                <a:ext cx="428878"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4" name="그룹 13">
              <a:extLst>
                <a:ext uri="{FF2B5EF4-FFF2-40B4-BE49-F238E27FC236}">
                  <a16:creationId xmlns:a16="http://schemas.microsoft.com/office/drawing/2014/main" id="{517D9206-EC2A-2AB9-7345-9739BBC05655}"/>
                </a:ext>
              </a:extLst>
            </p:cNvPr>
            <p:cNvGrpSpPr/>
            <p:nvPr/>
          </p:nvGrpSpPr>
          <p:grpSpPr>
            <a:xfrm>
              <a:off x="1238418" y="2192575"/>
              <a:ext cx="9715163" cy="1538234"/>
              <a:chOff x="1238418" y="2192575"/>
              <a:chExt cx="9715163" cy="1538234"/>
            </a:xfrm>
          </p:grpSpPr>
          <p:pic>
            <p:nvPicPr>
              <p:cNvPr id="8" name="그림 7">
                <a:extLst>
                  <a:ext uri="{FF2B5EF4-FFF2-40B4-BE49-F238E27FC236}">
                    <a16:creationId xmlns:a16="http://schemas.microsoft.com/office/drawing/2014/main" id="{BFFEF427-47C1-C501-8DC8-6A255EFD1DAD}"/>
                  </a:ext>
                </a:extLst>
              </p:cNvPr>
              <p:cNvPicPr>
                <a:picLocks noChangeAspect="1"/>
              </p:cNvPicPr>
              <p:nvPr/>
            </p:nvPicPr>
            <p:blipFill>
              <a:blip r:embed="rId2"/>
              <a:stretch>
                <a:fillRect/>
              </a:stretch>
            </p:blipFill>
            <p:spPr>
              <a:xfrm>
                <a:off x="1238418" y="2192575"/>
                <a:ext cx="9715163" cy="1538234"/>
              </a:xfrm>
              <a:prstGeom prst="rect">
                <a:avLst/>
              </a:prstGeom>
            </p:spPr>
          </p:pic>
          <p:sp>
            <p:nvSpPr>
              <p:cNvPr id="13" name="직사각형 12">
                <a:extLst>
                  <a:ext uri="{FF2B5EF4-FFF2-40B4-BE49-F238E27FC236}">
                    <a16:creationId xmlns:a16="http://schemas.microsoft.com/office/drawing/2014/main" id="{52D8120E-A80B-0F64-02FD-150FF7D20F17}"/>
                  </a:ext>
                </a:extLst>
              </p:cNvPr>
              <p:cNvSpPr/>
              <p:nvPr/>
            </p:nvSpPr>
            <p:spPr>
              <a:xfrm>
                <a:off x="1238418" y="2791752"/>
                <a:ext cx="4377455" cy="1375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212043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Server(3/33)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REST API :</a:t>
            </a:r>
          </a:p>
          <a:p>
            <a:pPr lvl="1">
              <a:buFont typeface="Wingdings" panose="05000000000000000000" pitchFamily="2" charset="2"/>
              <a:buChar char="§"/>
            </a:pPr>
            <a:r>
              <a:rPr lang="en-US" altLang="ko-KR" sz="1400" dirty="0"/>
              <a:t>Because </a:t>
            </a:r>
            <a:r>
              <a:rPr lang="en-US" altLang="ko-KR" sz="1400" b="1" dirty="0"/>
              <a:t>the server uses HTTPS and requires authentication</a:t>
            </a:r>
            <a:r>
              <a:rPr lang="en-US" altLang="ko-KR" sz="1400" dirty="0"/>
              <a:t>, it’s not simple to talk to it directly. You can try accessing it with “</a:t>
            </a:r>
            <a:r>
              <a:rPr lang="en-US" altLang="ko-KR" sz="1400" b="1" dirty="0"/>
              <a:t>curl</a:t>
            </a:r>
            <a:r>
              <a:rPr lang="en-US" altLang="ko-KR" sz="1400" dirty="0"/>
              <a:t>” and using curl’s </a:t>
            </a:r>
            <a:r>
              <a:rPr lang="en-US" altLang="ko-KR" sz="1400" b="1" dirty="0"/>
              <a:t>“--insecure (or -k)” option to skip the server certificate check</a:t>
            </a:r>
            <a:r>
              <a:rPr lang="en-US" altLang="ko-KR" sz="1400" dirty="0"/>
              <a:t>, but that doesn’t get you far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Rather than dealing with authentication yourself, you can talk to the server through a proxy </a:t>
            </a:r>
            <a:r>
              <a:rPr lang="en-US" altLang="ko-KR" sz="1400" dirty="0"/>
              <a:t>by running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proxy</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95137FB-DBE5-3D4D-D8FF-3D45F9CB6575}"/>
              </a:ext>
            </a:extLst>
          </p:cNvPr>
          <p:cNvGrpSpPr/>
          <p:nvPr/>
        </p:nvGrpSpPr>
        <p:grpSpPr>
          <a:xfrm>
            <a:off x="1238418" y="1894954"/>
            <a:ext cx="9715163" cy="2654196"/>
            <a:chOff x="1238417" y="1992059"/>
            <a:chExt cx="9715163" cy="2654196"/>
          </a:xfrm>
        </p:grpSpPr>
        <p:grpSp>
          <p:nvGrpSpPr>
            <p:cNvPr id="10" name="그룹 9">
              <a:extLst>
                <a:ext uri="{FF2B5EF4-FFF2-40B4-BE49-F238E27FC236}">
                  <a16:creationId xmlns:a16="http://schemas.microsoft.com/office/drawing/2014/main" id="{C036FFFE-911E-D57C-9285-4D2B5F723B18}"/>
                </a:ext>
              </a:extLst>
            </p:cNvPr>
            <p:cNvGrpSpPr/>
            <p:nvPr/>
          </p:nvGrpSpPr>
          <p:grpSpPr>
            <a:xfrm>
              <a:off x="1238417" y="1992059"/>
              <a:ext cx="9715163" cy="2654196"/>
              <a:chOff x="1238417" y="1992059"/>
              <a:chExt cx="9715163" cy="2654196"/>
            </a:xfrm>
          </p:grpSpPr>
          <p:pic>
            <p:nvPicPr>
              <p:cNvPr id="4" name="그림 3">
                <a:extLst>
                  <a:ext uri="{FF2B5EF4-FFF2-40B4-BE49-F238E27FC236}">
                    <a16:creationId xmlns:a16="http://schemas.microsoft.com/office/drawing/2014/main" id="{337BDE47-A570-CCC1-B7E9-909B6B84598D}"/>
                  </a:ext>
                </a:extLst>
              </p:cNvPr>
              <p:cNvPicPr>
                <a:picLocks noChangeAspect="1"/>
              </p:cNvPicPr>
              <p:nvPr/>
            </p:nvPicPr>
            <p:blipFill>
              <a:blip r:embed="rId2"/>
              <a:stretch>
                <a:fillRect/>
              </a:stretch>
            </p:blipFill>
            <p:spPr>
              <a:xfrm>
                <a:off x="1238417" y="2525111"/>
                <a:ext cx="9715163" cy="2121144"/>
              </a:xfrm>
              <a:prstGeom prst="rect">
                <a:avLst/>
              </a:prstGeom>
            </p:spPr>
          </p:pic>
          <p:sp>
            <p:nvSpPr>
              <p:cNvPr id="8" name="TextBox 7">
                <a:extLst>
                  <a:ext uri="{FF2B5EF4-FFF2-40B4-BE49-F238E27FC236}">
                    <a16:creationId xmlns:a16="http://schemas.microsoft.com/office/drawing/2014/main" id="{6A5CA7E4-4E2C-270F-1EC8-E64E1B402C80}"/>
                  </a:ext>
                </a:extLst>
              </p:cNvPr>
              <p:cNvSpPr txBox="1"/>
              <p:nvPr/>
            </p:nvSpPr>
            <p:spPr>
              <a:xfrm>
                <a:off x="3047325" y="1992059"/>
                <a:ext cx="6097348" cy="246221"/>
              </a:xfrm>
              <a:prstGeom prst="rect">
                <a:avLst/>
              </a:prstGeom>
              <a:noFill/>
              <a:ln>
                <a:solidFill>
                  <a:schemeClr val="bg1">
                    <a:lumMod val="50000"/>
                  </a:schemeClr>
                </a:solidFill>
              </a:ln>
            </p:spPr>
            <p:txBody>
              <a:bodyPr wrap="square">
                <a:spAutoFit/>
              </a:bodyPr>
              <a:lstStyle/>
              <a:p>
                <a:r>
                  <a:rPr lang="en-US" altLang="ko-KR" sz="1000" b="1" dirty="0"/>
                  <a:t>$ curl </a:t>
                </a:r>
                <a:r>
                  <a:rPr lang="en-US" altLang="ko-KR" sz="1000" b="1" dirty="0">
                    <a:solidFill>
                      <a:srgbClr val="FF0000"/>
                    </a:solidFill>
                    <a:hlinkClick r:id="rId3">
                      <a:extLst>
                        <a:ext uri="{A12FA001-AC4F-418D-AE19-62706E023703}">
                          <ahyp:hlinkClr xmlns:ahyp="http://schemas.microsoft.com/office/drawing/2018/hyperlinkcolor" val="tx"/>
                        </a:ext>
                      </a:extLst>
                    </a:hlinkClick>
                  </a:rPr>
                  <a:t>https://192.168.49.2:8443</a:t>
                </a:r>
                <a:r>
                  <a:rPr lang="en-US" altLang="ko-KR" sz="1000" b="1" dirty="0">
                    <a:solidFill>
                      <a:srgbClr val="FF0000"/>
                    </a:solidFill>
                  </a:rPr>
                  <a:t> </a:t>
                </a:r>
                <a:r>
                  <a:rPr lang="en-US" altLang="ko-KR" sz="1000" b="1" dirty="0"/>
                  <a:t>-k</a:t>
                </a:r>
              </a:p>
            </p:txBody>
          </p:sp>
          <p:sp>
            <p:nvSpPr>
              <p:cNvPr id="9" name="화살표: 아래쪽 8">
                <a:extLst>
                  <a:ext uri="{FF2B5EF4-FFF2-40B4-BE49-F238E27FC236}">
                    <a16:creationId xmlns:a16="http://schemas.microsoft.com/office/drawing/2014/main" id="{DC8291E3-9253-C302-1A2F-0BE9329D32F9}"/>
                  </a:ext>
                </a:extLst>
              </p:cNvPr>
              <p:cNvSpPr/>
              <p:nvPr/>
            </p:nvSpPr>
            <p:spPr>
              <a:xfrm>
                <a:off x="5869422" y="2238280"/>
                <a:ext cx="453154" cy="28683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D5961FB-D8B7-AF4C-EB7F-4B4D64079967}"/>
                </a:ext>
              </a:extLst>
            </p:cNvPr>
            <p:cNvSpPr/>
            <p:nvPr/>
          </p:nvSpPr>
          <p:spPr>
            <a:xfrm>
              <a:off x="1448474" y="3649508"/>
              <a:ext cx="1399922" cy="1780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33896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Server(4/33)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the API Server Through </a:t>
            </a:r>
            <a:r>
              <a:rPr lang="en-US" altLang="ko-KR" sz="1800" b="1" dirty="0" err="1"/>
              <a:t>kubectl</a:t>
            </a:r>
            <a:r>
              <a:rPr lang="en-US" altLang="ko-KR" sz="1800" b="1" dirty="0"/>
              <a:t> proxy :</a:t>
            </a:r>
          </a:p>
          <a:p>
            <a:pPr lvl="1">
              <a:buFont typeface="Wingdings" panose="05000000000000000000" pitchFamily="2" charset="2"/>
              <a:buChar char="§"/>
            </a:pPr>
            <a:r>
              <a:rPr lang="en-US" altLang="ko-KR" sz="1400" b="1" dirty="0"/>
              <a:t>The </a:t>
            </a:r>
            <a:r>
              <a:rPr lang="en-US" altLang="ko-KR" sz="1400" b="1" dirty="0" err="1"/>
              <a:t>kubectl</a:t>
            </a:r>
            <a:r>
              <a:rPr lang="en-US" altLang="ko-KR" sz="1400" b="1" dirty="0"/>
              <a:t> proxy command runs a proxy server that accepts HTTP connections on your local machine and proxies them to the API server </a:t>
            </a:r>
            <a:r>
              <a:rPr lang="en-US" altLang="ko-KR" sz="1400" dirty="0"/>
              <a:t>while taking care of authentication, so you don’t need to pass the authentication token in every request. </a:t>
            </a:r>
            <a:r>
              <a:rPr lang="en-US" altLang="ko-KR" sz="1400" b="1" dirty="0"/>
              <a:t>It also makes sure you’re talking to the actual API server </a:t>
            </a:r>
            <a:r>
              <a:rPr lang="en-US" altLang="ko-KR" sz="1400" dirty="0"/>
              <a:t>and not a man in the middle (</a:t>
            </a:r>
            <a:r>
              <a:rPr lang="en-US" altLang="ko-KR" sz="1400" b="1" dirty="0"/>
              <a:t>by verifying the server’s certificate on each request</a:t>
            </a:r>
            <a:r>
              <a:rPr lang="en-US" altLang="ko-KR" sz="1400" dirty="0"/>
              <a:t>).</a:t>
            </a:r>
          </a:p>
          <a:p>
            <a:pPr lvl="1">
              <a:buFont typeface="Wingdings" panose="05000000000000000000" pitchFamily="2" charset="2"/>
              <a:buChar char="§"/>
            </a:pPr>
            <a:r>
              <a:rPr lang="en-US" altLang="ko-KR" sz="1400" b="1" dirty="0"/>
              <a:t>Running the proxy </a:t>
            </a:r>
            <a:r>
              <a:rPr lang="en-US" altLang="ko-KR" sz="1400" dirty="0"/>
              <a:t>is trivial. All you need to do is run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don’t need to pass in any other arguments</a:t>
            </a:r>
            <a:r>
              <a:rPr lang="en-US" altLang="ko-KR" sz="1400" dirty="0"/>
              <a:t>, because </a:t>
            </a:r>
            <a:r>
              <a:rPr lang="en-US" altLang="ko-KR" sz="1400" b="1" dirty="0" err="1"/>
              <a:t>kubectl</a:t>
            </a:r>
            <a:r>
              <a:rPr lang="en-US" altLang="ko-KR" sz="1400" dirty="0"/>
              <a:t> already knows everything it needs (</a:t>
            </a:r>
            <a:r>
              <a:rPr lang="en-US" altLang="ko-KR" sz="1400" b="1" dirty="0"/>
              <a:t>the API server URL, authorization token, and so 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39C11F7E-8CEB-9B55-9A06-F2CB5E45E9D5}"/>
              </a:ext>
            </a:extLst>
          </p:cNvPr>
          <p:cNvGrpSpPr/>
          <p:nvPr/>
        </p:nvGrpSpPr>
        <p:grpSpPr>
          <a:xfrm>
            <a:off x="1386435" y="2412961"/>
            <a:ext cx="9419130" cy="2032078"/>
            <a:chOff x="1386435" y="2299589"/>
            <a:chExt cx="9419130" cy="2032078"/>
          </a:xfrm>
        </p:grpSpPr>
        <p:sp>
          <p:nvSpPr>
            <p:cNvPr id="8" name="TextBox 7">
              <a:extLst>
                <a:ext uri="{FF2B5EF4-FFF2-40B4-BE49-F238E27FC236}">
                  <a16:creationId xmlns:a16="http://schemas.microsoft.com/office/drawing/2014/main" id="{E8B6BDE1-C994-1F59-A1A2-3B34217862FC}"/>
                </a:ext>
              </a:extLst>
            </p:cNvPr>
            <p:cNvSpPr txBox="1"/>
            <p:nvPr/>
          </p:nvSpPr>
          <p:spPr>
            <a:xfrm>
              <a:off x="3047326" y="229958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proxy</a:t>
              </a:r>
            </a:p>
          </p:txBody>
        </p:sp>
        <p:sp>
          <p:nvSpPr>
            <p:cNvPr id="9" name="화살표: 아래쪽 8">
              <a:extLst>
                <a:ext uri="{FF2B5EF4-FFF2-40B4-BE49-F238E27FC236}">
                  <a16:creationId xmlns:a16="http://schemas.microsoft.com/office/drawing/2014/main" id="{5F929D88-F1CA-1C80-64F1-5114AA56B82F}"/>
                </a:ext>
              </a:extLst>
            </p:cNvPr>
            <p:cNvSpPr/>
            <p:nvPr/>
          </p:nvSpPr>
          <p:spPr>
            <a:xfrm>
              <a:off x="5873469" y="2548991"/>
              <a:ext cx="445062"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8E7D35C1-8E50-3A0A-873D-CD43F49A11C8}"/>
                </a:ext>
              </a:extLst>
            </p:cNvPr>
            <p:cNvPicPr>
              <a:picLocks noChangeAspect="1"/>
            </p:cNvPicPr>
            <p:nvPr/>
          </p:nvPicPr>
          <p:blipFill>
            <a:blip r:embed="rId2"/>
            <a:stretch>
              <a:fillRect/>
            </a:stretch>
          </p:blipFill>
          <p:spPr>
            <a:xfrm>
              <a:off x="1386435" y="2840304"/>
              <a:ext cx="9419130" cy="1491363"/>
            </a:xfrm>
            <a:prstGeom prst="rect">
              <a:avLst/>
            </a:prstGeom>
          </p:spPr>
        </p:pic>
      </p:grpSp>
    </p:spTree>
    <p:extLst>
      <p:ext uri="{BB962C8B-B14F-4D97-AF65-F5344CB8AC3E}">
        <p14:creationId xmlns:p14="http://schemas.microsoft.com/office/powerpoint/2010/main" val="2688146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Server(5/33)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the API Server Through </a:t>
            </a:r>
            <a:r>
              <a:rPr lang="en-US" altLang="ko-KR" sz="1800" b="1" dirty="0" err="1"/>
              <a:t>kubectl</a:t>
            </a:r>
            <a:r>
              <a:rPr lang="en-US" altLang="ko-KR" sz="1800" b="1" dirty="0"/>
              <a:t> proxy :</a:t>
            </a:r>
          </a:p>
          <a:p>
            <a:pPr lvl="1">
              <a:buFont typeface="Wingdings" panose="05000000000000000000" pitchFamily="2" charset="2"/>
              <a:buChar char="§"/>
            </a:pPr>
            <a:r>
              <a:rPr lang="en-US" altLang="ko-KR" sz="1400" dirty="0"/>
              <a:t>As soon as it starts up, </a:t>
            </a:r>
            <a:r>
              <a:rPr lang="en-US" altLang="ko-KR" sz="1400" b="1" dirty="0"/>
              <a:t>the proxy starts accepting connections on local port 8001</a:t>
            </a:r>
            <a:r>
              <a:rPr lang="en-US" altLang="ko-KR" sz="1400" dirty="0"/>
              <a:t>. Use the following command to access the proxy.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sent the request to the proxy, it sent a request to the API server</a:t>
            </a:r>
            <a:r>
              <a:rPr lang="en-US" altLang="ko-KR" sz="1400" dirty="0"/>
              <a:t>, and then the proxy returned whatever the server returned.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490CC23B-82AA-4207-7F87-72A2200BA674}"/>
              </a:ext>
            </a:extLst>
          </p:cNvPr>
          <p:cNvGrpSpPr/>
          <p:nvPr/>
        </p:nvGrpSpPr>
        <p:grpSpPr>
          <a:xfrm>
            <a:off x="1226112" y="1728967"/>
            <a:ext cx="9739776" cy="3672822"/>
            <a:chOff x="1226112" y="1668411"/>
            <a:chExt cx="9739776" cy="3672822"/>
          </a:xfrm>
        </p:grpSpPr>
        <p:sp>
          <p:nvSpPr>
            <p:cNvPr id="8" name="TextBox 7">
              <a:extLst>
                <a:ext uri="{FF2B5EF4-FFF2-40B4-BE49-F238E27FC236}">
                  <a16:creationId xmlns:a16="http://schemas.microsoft.com/office/drawing/2014/main" id="{83C15467-6B53-B68C-EEA9-054518220748}"/>
                </a:ext>
              </a:extLst>
            </p:cNvPr>
            <p:cNvSpPr txBox="1"/>
            <p:nvPr/>
          </p:nvSpPr>
          <p:spPr>
            <a:xfrm>
              <a:off x="3047326" y="1668411"/>
              <a:ext cx="6097348" cy="246221"/>
            </a:xfrm>
            <a:prstGeom prst="rect">
              <a:avLst/>
            </a:prstGeom>
            <a:noFill/>
            <a:ln>
              <a:solidFill>
                <a:schemeClr val="bg1">
                  <a:lumMod val="50000"/>
                </a:schemeClr>
              </a:solidFill>
            </a:ln>
          </p:spPr>
          <p:txBody>
            <a:bodyPr wrap="square">
              <a:spAutoFit/>
            </a:bodyPr>
            <a:lstStyle/>
            <a:p>
              <a:r>
                <a:rPr lang="en-US" altLang="ko-KR" sz="1000" b="1" dirty="0"/>
                <a:t>$ curl localhost:8001</a:t>
              </a:r>
            </a:p>
          </p:txBody>
        </p:sp>
        <p:sp>
          <p:nvSpPr>
            <p:cNvPr id="9" name="화살표: 아래쪽 8">
              <a:extLst>
                <a:ext uri="{FF2B5EF4-FFF2-40B4-BE49-F238E27FC236}">
                  <a16:creationId xmlns:a16="http://schemas.microsoft.com/office/drawing/2014/main" id="{E84D00CA-5F8A-095F-ED7E-F298D0CEB41B}"/>
                </a:ext>
              </a:extLst>
            </p:cNvPr>
            <p:cNvSpPr/>
            <p:nvPr/>
          </p:nvSpPr>
          <p:spPr>
            <a:xfrm>
              <a:off x="5857285" y="1909014"/>
              <a:ext cx="477430" cy="32368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219FFB70-420D-828F-2928-38FAB097A0D6}"/>
                </a:ext>
              </a:extLst>
            </p:cNvPr>
            <p:cNvPicPr>
              <a:picLocks noChangeAspect="1"/>
            </p:cNvPicPr>
            <p:nvPr/>
          </p:nvPicPr>
          <p:blipFill>
            <a:blip r:embed="rId2"/>
            <a:stretch>
              <a:fillRect/>
            </a:stretch>
          </p:blipFill>
          <p:spPr>
            <a:xfrm>
              <a:off x="1226112" y="2232695"/>
              <a:ext cx="9739776" cy="1542131"/>
            </a:xfrm>
            <a:prstGeom prst="rect">
              <a:avLst/>
            </a:prstGeom>
          </p:spPr>
        </p:pic>
        <p:pic>
          <p:nvPicPr>
            <p:cNvPr id="13" name="그림 12">
              <a:extLst>
                <a:ext uri="{FF2B5EF4-FFF2-40B4-BE49-F238E27FC236}">
                  <a16:creationId xmlns:a16="http://schemas.microsoft.com/office/drawing/2014/main" id="{0EC0598D-69D8-BE40-9506-460BF60C3C88}"/>
                </a:ext>
              </a:extLst>
            </p:cNvPr>
            <p:cNvPicPr>
              <a:picLocks noChangeAspect="1"/>
            </p:cNvPicPr>
            <p:nvPr/>
          </p:nvPicPr>
          <p:blipFill>
            <a:blip r:embed="rId3"/>
            <a:stretch>
              <a:fillRect/>
            </a:stretch>
          </p:blipFill>
          <p:spPr>
            <a:xfrm>
              <a:off x="1226112" y="3799102"/>
              <a:ext cx="9739776" cy="1542131"/>
            </a:xfrm>
            <a:prstGeom prst="rect">
              <a:avLst/>
            </a:prstGeom>
          </p:spPr>
        </p:pic>
      </p:grpSp>
    </p:spTree>
    <p:extLst>
      <p:ext uri="{BB962C8B-B14F-4D97-AF65-F5344CB8AC3E}">
        <p14:creationId xmlns:p14="http://schemas.microsoft.com/office/powerpoint/2010/main" val="1753272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Server(6/33)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API Through the </a:t>
            </a:r>
            <a:r>
              <a:rPr lang="en-US" altLang="ko-KR" sz="1800" b="1" dirty="0" err="1"/>
              <a:t>kubectl</a:t>
            </a:r>
            <a:r>
              <a:rPr lang="en-US" altLang="ko-KR" sz="1800" b="1" dirty="0"/>
              <a:t> proxy :</a:t>
            </a:r>
          </a:p>
          <a:p>
            <a:pPr lvl="1">
              <a:buFont typeface="Wingdings" panose="05000000000000000000" pitchFamily="2" charset="2"/>
              <a:buChar char="§"/>
            </a:pPr>
            <a:r>
              <a:rPr lang="en-US" altLang="ko-KR" sz="1400" dirty="0"/>
              <a:t>You can continue to use “</a:t>
            </a:r>
            <a:r>
              <a:rPr lang="en-US" altLang="ko-KR" sz="1400" b="1" dirty="0"/>
              <a:t>curl</a:t>
            </a:r>
            <a:r>
              <a:rPr lang="en-US" altLang="ko-KR" sz="1400" dirty="0"/>
              <a:t>”, or you can open your web browser and point it to “</a:t>
            </a:r>
            <a:r>
              <a:rPr lang="en-US" altLang="ko-KR" sz="1400" b="1" dirty="0"/>
              <a:t>http://localhost:8001</a:t>
            </a:r>
            <a:r>
              <a:rPr lang="en-US" altLang="ko-KR" sz="1400" dirty="0"/>
              <a:t>”. Let’s examine what the API server returns when you hit its base URL more closely. The server responds with a list of paths,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These paths correspond to the API groups and versions you specify in your resource definitions when creating resources such as Pods, Services, and so on</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AC27029F-8E67-4A47-06AB-95BA5803F9BD}"/>
              </a:ext>
            </a:extLst>
          </p:cNvPr>
          <p:cNvGrpSpPr/>
          <p:nvPr/>
        </p:nvGrpSpPr>
        <p:grpSpPr>
          <a:xfrm>
            <a:off x="2236006" y="1806069"/>
            <a:ext cx="7719987" cy="3955460"/>
            <a:chOff x="2236006" y="1806069"/>
            <a:chExt cx="7719987" cy="3955460"/>
          </a:xfrm>
        </p:grpSpPr>
        <p:grpSp>
          <p:nvGrpSpPr>
            <p:cNvPr id="14" name="그룹 13">
              <a:extLst>
                <a:ext uri="{FF2B5EF4-FFF2-40B4-BE49-F238E27FC236}">
                  <a16:creationId xmlns:a16="http://schemas.microsoft.com/office/drawing/2014/main" id="{9310F469-01BA-CB9B-57C5-1988AB0F2D20}"/>
                </a:ext>
              </a:extLst>
            </p:cNvPr>
            <p:cNvGrpSpPr/>
            <p:nvPr/>
          </p:nvGrpSpPr>
          <p:grpSpPr>
            <a:xfrm>
              <a:off x="2236006" y="1806069"/>
              <a:ext cx="7719987" cy="3955460"/>
              <a:chOff x="2236006" y="1846529"/>
              <a:chExt cx="7719987" cy="3955460"/>
            </a:xfrm>
          </p:grpSpPr>
          <p:pic>
            <p:nvPicPr>
              <p:cNvPr id="10" name="그림 9">
                <a:extLst>
                  <a:ext uri="{FF2B5EF4-FFF2-40B4-BE49-F238E27FC236}">
                    <a16:creationId xmlns:a16="http://schemas.microsoft.com/office/drawing/2014/main" id="{C182D3C3-E32F-6CB1-A138-25A092A9DC64}"/>
                  </a:ext>
                </a:extLst>
              </p:cNvPr>
              <p:cNvPicPr>
                <a:picLocks noChangeAspect="1"/>
              </p:cNvPicPr>
              <p:nvPr/>
            </p:nvPicPr>
            <p:blipFill>
              <a:blip r:embed="rId2"/>
              <a:stretch>
                <a:fillRect/>
              </a:stretch>
            </p:blipFill>
            <p:spPr>
              <a:xfrm>
                <a:off x="2236006" y="2443795"/>
                <a:ext cx="7719987" cy="3358194"/>
              </a:xfrm>
              <a:prstGeom prst="rect">
                <a:avLst/>
              </a:prstGeom>
            </p:spPr>
          </p:pic>
          <p:sp>
            <p:nvSpPr>
              <p:cNvPr id="12" name="TextBox 11">
                <a:extLst>
                  <a:ext uri="{FF2B5EF4-FFF2-40B4-BE49-F238E27FC236}">
                    <a16:creationId xmlns:a16="http://schemas.microsoft.com/office/drawing/2014/main" id="{0EFC6415-A9E2-45D5-3BE3-76D22F0180EA}"/>
                  </a:ext>
                </a:extLst>
              </p:cNvPr>
              <p:cNvSpPr txBox="1"/>
              <p:nvPr/>
            </p:nvSpPr>
            <p:spPr>
              <a:xfrm>
                <a:off x="3047326" y="1846529"/>
                <a:ext cx="6097348" cy="246221"/>
              </a:xfrm>
              <a:prstGeom prst="rect">
                <a:avLst/>
              </a:prstGeom>
              <a:noFill/>
              <a:ln>
                <a:solidFill>
                  <a:schemeClr val="bg1">
                    <a:lumMod val="50000"/>
                  </a:schemeClr>
                </a:solidFill>
              </a:ln>
            </p:spPr>
            <p:txBody>
              <a:bodyPr wrap="square">
                <a:spAutoFit/>
              </a:bodyPr>
              <a:lstStyle/>
              <a:p>
                <a:r>
                  <a:rPr lang="en-US" altLang="ko-KR" sz="1000" b="1" dirty="0"/>
                  <a:t>$ curl http://localhost:8001</a:t>
                </a:r>
              </a:p>
            </p:txBody>
          </p:sp>
          <p:sp>
            <p:nvSpPr>
              <p:cNvPr id="13" name="화살표: 아래쪽 12">
                <a:extLst>
                  <a:ext uri="{FF2B5EF4-FFF2-40B4-BE49-F238E27FC236}">
                    <a16:creationId xmlns:a16="http://schemas.microsoft.com/office/drawing/2014/main" id="{EFA86D45-FDE5-FCEA-E5B1-CD1FDCBA42FD}"/>
                  </a:ext>
                </a:extLst>
              </p:cNvPr>
              <p:cNvSpPr/>
              <p:nvPr/>
            </p:nvSpPr>
            <p:spPr>
              <a:xfrm>
                <a:off x="5881561" y="2110685"/>
                <a:ext cx="428878" cy="33311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3CE50930-701A-DE86-11DF-7F52D4C55D5E}"/>
                </a:ext>
              </a:extLst>
            </p:cNvPr>
            <p:cNvSpPr/>
            <p:nvPr/>
          </p:nvSpPr>
          <p:spPr>
            <a:xfrm>
              <a:off x="2435703" y="2985961"/>
              <a:ext cx="445062" cy="1132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84550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Accessing API Server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Web Browser to Access the </a:t>
            </a:r>
            <a:r>
              <a:rPr lang="en-US" altLang="ko-KR" sz="1800" b="1" dirty="0" err="1"/>
              <a:t>kubectl</a:t>
            </a:r>
            <a:r>
              <a:rPr lang="en-US" altLang="ko-KR" sz="1800" b="1" dirty="0"/>
              <a:t> proxy :</a:t>
            </a:r>
          </a:p>
          <a:p>
            <a:pPr lvl="1">
              <a:buFont typeface="Wingdings" panose="05000000000000000000" pitchFamily="2" charset="2"/>
              <a:buChar char="§"/>
            </a:pPr>
            <a:r>
              <a:rPr lang="en-US" altLang="ko-KR" sz="1400" dirty="0"/>
              <a:t>The following screenshot shows you that the same result will be given as the “</a:t>
            </a:r>
            <a:r>
              <a:rPr lang="en-US" altLang="ko-KR" sz="1400" b="1" dirty="0"/>
              <a:t>curl</a:t>
            </a:r>
            <a:r>
              <a:rPr lang="en-US" altLang="ko-KR" sz="1400" dirty="0"/>
              <a:t>” command output.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2CECD0E-E554-CA53-8D1F-500B1CB649F5}"/>
              </a:ext>
            </a:extLst>
          </p:cNvPr>
          <p:cNvPicPr>
            <a:picLocks noChangeAspect="1"/>
          </p:cNvPicPr>
          <p:nvPr/>
        </p:nvPicPr>
        <p:blipFill>
          <a:blip r:embed="rId2"/>
          <a:stretch>
            <a:fillRect/>
          </a:stretch>
        </p:blipFill>
        <p:spPr>
          <a:xfrm>
            <a:off x="1586102" y="1462637"/>
            <a:ext cx="9019795" cy="4733741"/>
          </a:xfrm>
          <a:prstGeom prst="rect">
            <a:avLst/>
          </a:prstGeom>
        </p:spPr>
      </p:pic>
    </p:spTree>
    <p:extLst>
      <p:ext uri="{BB962C8B-B14F-4D97-AF65-F5344CB8AC3E}">
        <p14:creationId xmlns:p14="http://schemas.microsoft.com/office/powerpoint/2010/main" val="186564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Server(7/33)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API Through the </a:t>
            </a:r>
            <a:r>
              <a:rPr lang="en-US" altLang="ko-KR" sz="1800" b="1" dirty="0" err="1"/>
              <a:t>kubectl</a:t>
            </a:r>
            <a:r>
              <a:rPr lang="en-US" altLang="ko-KR" sz="1800" b="1" dirty="0"/>
              <a:t> proxy :</a:t>
            </a:r>
          </a:p>
          <a:p>
            <a:pPr lvl="1">
              <a:buFont typeface="Wingdings" panose="05000000000000000000" pitchFamily="2" charset="2"/>
              <a:buChar char="§"/>
            </a:pPr>
            <a:r>
              <a:rPr lang="en-US" altLang="ko-KR" sz="1400" dirty="0"/>
              <a:t>You may recognize the “</a:t>
            </a:r>
            <a:r>
              <a:rPr lang="en-US" altLang="ko-KR" sz="1400" b="1" dirty="0"/>
              <a:t>batch/v1</a:t>
            </a:r>
            <a:r>
              <a:rPr lang="en-US" altLang="ko-KR" sz="1400" dirty="0"/>
              <a:t>” in the “</a:t>
            </a:r>
            <a:r>
              <a:rPr lang="en-US" altLang="ko-KR" sz="1400" b="1" dirty="0"/>
              <a:t>/</a:t>
            </a:r>
            <a:r>
              <a:rPr lang="en-US" altLang="ko-KR" sz="1400" b="1" dirty="0" err="1"/>
              <a:t>apis</a:t>
            </a:r>
            <a:r>
              <a:rPr lang="en-US" altLang="ko-KR" sz="1400" b="1" dirty="0"/>
              <a:t>/batch/v1</a:t>
            </a:r>
            <a:r>
              <a:rPr lang="en-US" altLang="ko-KR" sz="1400" dirty="0"/>
              <a:t>” path as </a:t>
            </a:r>
            <a:r>
              <a:rPr lang="en-US" altLang="ko-KR" sz="1400" b="1" dirty="0"/>
              <a:t>the </a:t>
            </a:r>
            <a:r>
              <a:rPr lang="en-US" altLang="ko-KR" sz="1400" b="1" dirty="0">
                <a:solidFill>
                  <a:srgbClr val="FF0000"/>
                </a:solidFill>
              </a:rPr>
              <a:t>API group </a:t>
            </a:r>
            <a:r>
              <a:rPr lang="en-US" altLang="ko-KR" sz="1400" b="1" dirty="0"/>
              <a:t>and version of the Job resources</a:t>
            </a:r>
            <a:r>
              <a:rPr lang="en-US" altLang="ko-KR" sz="1400" dirty="0"/>
              <a:t>. Likewise, the “</a:t>
            </a:r>
            <a:r>
              <a:rPr lang="en-US" altLang="ko-KR" sz="1400" b="1" dirty="0"/>
              <a:t>/</a:t>
            </a:r>
            <a:r>
              <a:rPr lang="en-US" altLang="ko-KR" sz="1400" b="1" dirty="0" err="1"/>
              <a:t>api</a:t>
            </a:r>
            <a:r>
              <a:rPr lang="en-US" altLang="ko-KR" sz="1400" b="1" dirty="0"/>
              <a:t>/v1</a:t>
            </a:r>
            <a:r>
              <a:rPr lang="en-US" altLang="ko-KR" sz="1400" dirty="0"/>
              <a:t>” corresponds to the “</a:t>
            </a:r>
            <a:r>
              <a:rPr lang="en-US" altLang="ko-KR" sz="1400" b="1" dirty="0" err="1"/>
              <a:t>apiVersion</a:t>
            </a:r>
            <a:r>
              <a:rPr lang="en-US" altLang="ko-KR" sz="1400" b="1" dirty="0"/>
              <a:t>: v1</a:t>
            </a:r>
            <a:r>
              <a:rPr lang="en-US" altLang="ko-KR" sz="1400" dirty="0"/>
              <a:t>” you refer to in the common resources you created (</a:t>
            </a:r>
            <a:r>
              <a:rPr lang="en-US" altLang="ko-KR" sz="1400" b="1" dirty="0"/>
              <a:t>Pods, Services, </a:t>
            </a:r>
            <a:r>
              <a:rPr lang="en-US" altLang="ko-KR" sz="1400" b="1" dirty="0" err="1"/>
              <a:t>ReplicationControllers</a:t>
            </a:r>
            <a:r>
              <a:rPr lang="en-US" altLang="ko-KR" sz="1400" b="1" dirty="0"/>
              <a:t>, and so on</a:t>
            </a:r>
            <a:r>
              <a:rPr lang="en-US" altLang="ko-KR" sz="1400" dirty="0"/>
              <a:t>). The most common resource types, which were introduced in the earliest versions of Kubernetes, don’t belong to any specific group, because Kubernetes initially didn’t even use the concept of API groups.</a:t>
            </a:r>
          </a:p>
          <a:p>
            <a:pPr lvl="1">
              <a:buFont typeface="Wingdings" panose="05000000000000000000" pitchFamily="2" charset="2"/>
              <a:buChar char="§"/>
            </a:pPr>
            <a:r>
              <a:rPr lang="en-US" altLang="ko-KR" sz="1400" b="1" dirty="0"/>
              <a:t>NOTE : These initial resource types without an API group are now considered to belong to the </a:t>
            </a:r>
            <a:r>
              <a:rPr lang="en-US" altLang="ko-KR" sz="1400" b="1" dirty="0">
                <a:solidFill>
                  <a:srgbClr val="FF0000"/>
                </a:solidFill>
              </a:rPr>
              <a:t>core API group</a:t>
            </a:r>
            <a:r>
              <a:rPr lang="en-US" altLang="ko-KR" sz="1400" dirty="0"/>
              <a:t>.</a:t>
            </a:r>
          </a:p>
          <a:p>
            <a:pPr lvl="1">
              <a:buFont typeface="Wingdings" panose="05000000000000000000" pitchFamily="2" charset="2"/>
              <a:buChar char="§"/>
            </a:pPr>
            <a:r>
              <a:rPr lang="en-US" altLang="ko-KR" sz="1400" dirty="0"/>
              <a:t>For example, </a:t>
            </a:r>
            <a:r>
              <a:rPr lang="en-US" altLang="ko-KR" sz="1400" b="1" dirty="0"/>
              <a:t>let’s explore the Job resource API</a:t>
            </a:r>
            <a:r>
              <a:rPr lang="en-US" altLang="ko-KR" sz="1400" dirty="0"/>
              <a:t>. You’ll start by looking at what’s behind the “</a:t>
            </a:r>
            <a:r>
              <a:rPr lang="en-US" altLang="ko-KR" sz="1400" b="1" dirty="0"/>
              <a:t>/</a:t>
            </a:r>
            <a:r>
              <a:rPr lang="en-US" altLang="ko-KR" sz="1400" b="1" dirty="0" err="1"/>
              <a:t>apis</a:t>
            </a:r>
            <a:r>
              <a:rPr lang="en-US" altLang="ko-KR" sz="1400" b="1" dirty="0"/>
              <a:t>/batch</a:t>
            </a:r>
            <a:r>
              <a:rPr lang="en-US" altLang="ko-KR" sz="1400" dirty="0"/>
              <a:t>” path (you’ll omit the version for now),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EDAB4220-8C06-43D7-D53D-FBA073FD85B0}"/>
              </a:ext>
            </a:extLst>
          </p:cNvPr>
          <p:cNvGrpSpPr/>
          <p:nvPr/>
        </p:nvGrpSpPr>
        <p:grpSpPr>
          <a:xfrm>
            <a:off x="1286971" y="2963136"/>
            <a:ext cx="9618058" cy="3405576"/>
            <a:chOff x="1286971" y="2963136"/>
            <a:chExt cx="9618058" cy="3405576"/>
          </a:xfrm>
        </p:grpSpPr>
        <p:grpSp>
          <p:nvGrpSpPr>
            <p:cNvPr id="14" name="그룹 13">
              <a:extLst>
                <a:ext uri="{FF2B5EF4-FFF2-40B4-BE49-F238E27FC236}">
                  <a16:creationId xmlns:a16="http://schemas.microsoft.com/office/drawing/2014/main" id="{365FF569-A6CF-6DF3-5485-6A661D41CB3C}"/>
                </a:ext>
              </a:extLst>
            </p:cNvPr>
            <p:cNvGrpSpPr/>
            <p:nvPr/>
          </p:nvGrpSpPr>
          <p:grpSpPr>
            <a:xfrm>
              <a:off x="1286971" y="2963136"/>
              <a:ext cx="9618058" cy="3405576"/>
              <a:chOff x="1286971" y="2963136"/>
              <a:chExt cx="9618058" cy="3405576"/>
            </a:xfrm>
          </p:grpSpPr>
          <p:grpSp>
            <p:nvGrpSpPr>
              <p:cNvPr id="12" name="그룹 11">
                <a:extLst>
                  <a:ext uri="{FF2B5EF4-FFF2-40B4-BE49-F238E27FC236}">
                    <a16:creationId xmlns:a16="http://schemas.microsoft.com/office/drawing/2014/main" id="{5DDC11DF-379D-2A87-D1FE-471BEF50C928}"/>
                  </a:ext>
                </a:extLst>
              </p:cNvPr>
              <p:cNvGrpSpPr/>
              <p:nvPr/>
            </p:nvGrpSpPr>
            <p:grpSpPr>
              <a:xfrm>
                <a:off x="1286971" y="2963136"/>
                <a:ext cx="9618058" cy="3405576"/>
                <a:chOff x="1286971" y="2963136"/>
                <a:chExt cx="9618058" cy="3405576"/>
              </a:xfrm>
            </p:grpSpPr>
            <p:sp>
              <p:nvSpPr>
                <p:cNvPr id="8" name="TextBox 7">
                  <a:extLst>
                    <a:ext uri="{FF2B5EF4-FFF2-40B4-BE49-F238E27FC236}">
                      <a16:creationId xmlns:a16="http://schemas.microsoft.com/office/drawing/2014/main" id="{950D6446-1C5E-E236-D6E7-6FF518F599AF}"/>
                    </a:ext>
                  </a:extLst>
                </p:cNvPr>
                <p:cNvSpPr txBox="1"/>
                <p:nvPr/>
              </p:nvSpPr>
              <p:spPr>
                <a:xfrm>
                  <a:off x="3047326" y="2963136"/>
                  <a:ext cx="6097348" cy="246221"/>
                </a:xfrm>
                <a:prstGeom prst="rect">
                  <a:avLst/>
                </a:prstGeom>
                <a:noFill/>
                <a:ln>
                  <a:solidFill>
                    <a:schemeClr val="bg1">
                      <a:lumMod val="50000"/>
                    </a:schemeClr>
                  </a:solidFill>
                </a:ln>
              </p:spPr>
              <p:txBody>
                <a:bodyPr wrap="square">
                  <a:spAutoFit/>
                </a:bodyPr>
                <a:lstStyle/>
                <a:p>
                  <a:r>
                    <a:rPr lang="en-US" altLang="ko-KR" sz="1000" b="1" dirty="0"/>
                    <a:t>$ curl http://localhost:8001</a:t>
                  </a:r>
                  <a:r>
                    <a:rPr lang="en-US" altLang="ko-KR" sz="1000" b="1" dirty="0">
                      <a:solidFill>
                        <a:srgbClr val="FF0000"/>
                      </a:solidFill>
                    </a:rPr>
                    <a:t>/apis/batch</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B5183712-ABA2-9725-0B85-E0F8DB8CD141}"/>
                    </a:ext>
                  </a:extLst>
                </p:cNvPr>
                <p:cNvSpPr/>
                <p:nvPr/>
              </p:nvSpPr>
              <p:spPr>
                <a:xfrm>
                  <a:off x="5869423" y="3220630"/>
                  <a:ext cx="453154"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674B9DD8-4E7A-1B4A-20ED-1D89F50E45D8}"/>
                    </a:ext>
                  </a:extLst>
                </p:cNvPr>
                <p:cNvPicPr>
                  <a:picLocks noChangeAspect="1"/>
                </p:cNvPicPr>
                <p:nvPr/>
              </p:nvPicPr>
              <p:blipFill>
                <a:blip r:embed="rId2"/>
                <a:stretch>
                  <a:fillRect/>
                </a:stretch>
              </p:blipFill>
              <p:spPr>
                <a:xfrm>
                  <a:off x="1286971" y="3539400"/>
                  <a:ext cx="9618058" cy="2829312"/>
                </a:xfrm>
                <a:prstGeom prst="rect">
                  <a:avLst/>
                </a:prstGeom>
              </p:spPr>
            </p:pic>
          </p:grpSp>
          <p:sp>
            <p:nvSpPr>
              <p:cNvPr id="13" name="직사각형 12">
                <a:extLst>
                  <a:ext uri="{FF2B5EF4-FFF2-40B4-BE49-F238E27FC236}">
                    <a16:creationId xmlns:a16="http://schemas.microsoft.com/office/drawing/2014/main" id="{4C8B6947-E19D-C17B-B6DF-BB8E7AA59E00}"/>
                  </a:ext>
                </a:extLst>
              </p:cNvPr>
              <p:cNvSpPr/>
              <p:nvPr/>
            </p:nvSpPr>
            <p:spPr>
              <a:xfrm>
                <a:off x="1780248" y="4954056"/>
                <a:ext cx="1801152" cy="2653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654F474B-2924-F418-318C-5C24B4A318E8}"/>
                </a:ext>
              </a:extLst>
            </p:cNvPr>
            <p:cNvSpPr/>
            <p:nvPr/>
          </p:nvSpPr>
          <p:spPr>
            <a:xfrm>
              <a:off x="1665610" y="5639019"/>
              <a:ext cx="1801152" cy="2653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53831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Server(8/33)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API Through the </a:t>
            </a:r>
            <a:r>
              <a:rPr lang="en-US" altLang="ko-KR" sz="1800" b="1" dirty="0" err="1"/>
              <a:t>kubectl</a:t>
            </a:r>
            <a:r>
              <a:rPr lang="en-US" altLang="ko-KR" sz="1800" b="1" dirty="0"/>
              <a:t> proxy :</a:t>
            </a:r>
          </a:p>
          <a:p>
            <a:pPr lvl="1">
              <a:buFont typeface="Wingdings" panose="05000000000000000000" pitchFamily="2" charset="2"/>
              <a:buChar char="§"/>
            </a:pPr>
            <a:r>
              <a:rPr lang="en-US" altLang="ko-KR" sz="1400" dirty="0"/>
              <a:t>In the previous example, the response shows a description of the batch API group, including </a:t>
            </a:r>
            <a:r>
              <a:rPr lang="en-US" altLang="ko-KR" sz="1400" b="1" dirty="0"/>
              <a:t>the </a:t>
            </a:r>
            <a:r>
              <a:rPr lang="en-US" altLang="ko-KR" sz="1400" b="1" dirty="0">
                <a:solidFill>
                  <a:srgbClr val="FF0000"/>
                </a:solidFill>
              </a:rPr>
              <a:t>available versions </a:t>
            </a:r>
            <a:r>
              <a:rPr lang="en-US" altLang="ko-KR" sz="1400" b="1" dirty="0"/>
              <a:t>and the </a:t>
            </a:r>
            <a:r>
              <a:rPr lang="en-US" altLang="ko-KR" sz="1400" b="1" dirty="0">
                <a:solidFill>
                  <a:srgbClr val="FF0000"/>
                </a:solidFill>
              </a:rPr>
              <a:t>preferred version</a:t>
            </a:r>
            <a:r>
              <a:rPr lang="en-US" altLang="ko-KR" sz="1400" b="1" dirty="0"/>
              <a:t> clients should use</a:t>
            </a:r>
            <a:r>
              <a:rPr lang="en-US" altLang="ko-KR" sz="1400" dirty="0"/>
              <a:t>. Let’s continue and see what’s behind the “</a:t>
            </a:r>
            <a:r>
              <a:rPr lang="en-US" altLang="ko-KR" sz="1400" b="1" dirty="0"/>
              <a:t>/</a:t>
            </a:r>
            <a:r>
              <a:rPr lang="en-US" altLang="ko-KR" sz="1400" b="1" dirty="0" err="1"/>
              <a:t>apis</a:t>
            </a:r>
            <a:r>
              <a:rPr lang="en-US" altLang="ko-KR" sz="1400" b="1" dirty="0"/>
              <a:t>/batch/v1</a:t>
            </a:r>
            <a:r>
              <a:rPr lang="en-US" altLang="ko-KR" sz="1400" dirty="0"/>
              <a:t>” path. It’s shown in the following listing.</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C95330E0-C0DF-657A-23A1-570D4EAC280A}"/>
              </a:ext>
            </a:extLst>
          </p:cNvPr>
          <p:cNvGrpSpPr/>
          <p:nvPr/>
        </p:nvGrpSpPr>
        <p:grpSpPr>
          <a:xfrm>
            <a:off x="1278879" y="1886895"/>
            <a:ext cx="9634242" cy="4185988"/>
            <a:chOff x="1278879" y="1886895"/>
            <a:chExt cx="9634242" cy="4185988"/>
          </a:xfrm>
        </p:grpSpPr>
        <p:grpSp>
          <p:nvGrpSpPr>
            <p:cNvPr id="12" name="그룹 11">
              <a:extLst>
                <a:ext uri="{FF2B5EF4-FFF2-40B4-BE49-F238E27FC236}">
                  <a16:creationId xmlns:a16="http://schemas.microsoft.com/office/drawing/2014/main" id="{69FDB554-9AB2-FF99-DC20-7E50D821DC6C}"/>
                </a:ext>
              </a:extLst>
            </p:cNvPr>
            <p:cNvGrpSpPr/>
            <p:nvPr/>
          </p:nvGrpSpPr>
          <p:grpSpPr>
            <a:xfrm>
              <a:off x="1278879" y="1886895"/>
              <a:ext cx="9634242" cy="4185988"/>
              <a:chOff x="1278879" y="1886895"/>
              <a:chExt cx="9634242" cy="4185988"/>
            </a:xfrm>
          </p:grpSpPr>
          <p:sp>
            <p:nvSpPr>
              <p:cNvPr id="8" name="TextBox 7">
                <a:extLst>
                  <a:ext uri="{FF2B5EF4-FFF2-40B4-BE49-F238E27FC236}">
                    <a16:creationId xmlns:a16="http://schemas.microsoft.com/office/drawing/2014/main" id="{0E34D456-78C4-5B4D-F2E8-3F2D8DF40186}"/>
                  </a:ext>
                </a:extLst>
              </p:cNvPr>
              <p:cNvSpPr txBox="1"/>
              <p:nvPr/>
            </p:nvSpPr>
            <p:spPr>
              <a:xfrm>
                <a:off x="3047326" y="1886895"/>
                <a:ext cx="6097348" cy="246221"/>
              </a:xfrm>
              <a:prstGeom prst="rect">
                <a:avLst/>
              </a:prstGeom>
              <a:noFill/>
              <a:ln>
                <a:solidFill>
                  <a:schemeClr val="bg1">
                    <a:lumMod val="50000"/>
                  </a:schemeClr>
                </a:solidFill>
              </a:ln>
            </p:spPr>
            <p:txBody>
              <a:bodyPr wrap="square">
                <a:spAutoFit/>
              </a:bodyPr>
              <a:lstStyle/>
              <a:p>
                <a:r>
                  <a:rPr lang="en-US" altLang="ko-KR" sz="1000" b="1" dirty="0"/>
                  <a:t>$ curl http://localhost:8001</a:t>
                </a:r>
                <a:r>
                  <a:rPr lang="en-US" altLang="ko-KR" sz="1000" b="1" dirty="0">
                    <a:solidFill>
                      <a:srgbClr val="FF0000"/>
                    </a:solidFill>
                  </a:rPr>
                  <a:t>/apis/batch/v1</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3753686E-5F78-5631-880D-7473E55DBA76}"/>
                  </a:ext>
                </a:extLst>
              </p:cNvPr>
              <p:cNvSpPr/>
              <p:nvPr/>
            </p:nvSpPr>
            <p:spPr>
              <a:xfrm>
                <a:off x="5857285" y="2160573"/>
                <a:ext cx="477430" cy="30749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CC22EA84-2ABB-3666-1B38-30D74442CA52}"/>
                  </a:ext>
                </a:extLst>
              </p:cNvPr>
              <p:cNvPicPr>
                <a:picLocks noChangeAspect="1"/>
              </p:cNvPicPr>
              <p:nvPr/>
            </p:nvPicPr>
            <p:blipFill>
              <a:blip r:embed="rId2"/>
              <a:stretch>
                <a:fillRect/>
              </a:stretch>
            </p:blipFill>
            <p:spPr>
              <a:xfrm>
                <a:off x="1278879" y="2468071"/>
                <a:ext cx="9634242" cy="3604812"/>
              </a:xfrm>
              <a:prstGeom prst="rect">
                <a:avLst/>
              </a:prstGeom>
            </p:spPr>
          </p:pic>
        </p:grpSp>
        <p:sp>
          <p:nvSpPr>
            <p:cNvPr id="13" name="직사각형 12">
              <a:extLst>
                <a:ext uri="{FF2B5EF4-FFF2-40B4-BE49-F238E27FC236}">
                  <a16:creationId xmlns:a16="http://schemas.microsoft.com/office/drawing/2014/main" id="{2B0B2E97-5818-6651-BD6F-AA1F34709F0E}"/>
                </a:ext>
              </a:extLst>
            </p:cNvPr>
            <p:cNvSpPr/>
            <p:nvPr/>
          </p:nvSpPr>
          <p:spPr>
            <a:xfrm>
              <a:off x="5356927" y="2864581"/>
              <a:ext cx="2233402"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93505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Server(9/33)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API Through the </a:t>
            </a:r>
            <a:r>
              <a:rPr lang="en-US" altLang="ko-KR" sz="1800" b="1" dirty="0" err="1"/>
              <a:t>kubectl</a:t>
            </a:r>
            <a:r>
              <a:rPr lang="en-US" altLang="ko-KR" sz="1800" b="1" dirty="0"/>
              <a:t> proxy :</a:t>
            </a:r>
          </a:p>
          <a:p>
            <a:pPr lvl="1">
              <a:buFont typeface="Wingdings" panose="05000000000000000000" pitchFamily="2" charset="2"/>
              <a:buChar char="§"/>
            </a:pPr>
            <a:r>
              <a:rPr lang="en-US" altLang="ko-KR" sz="1400" b="1" dirty="0"/>
              <a:t>As you can see from the previous example, the API server returns </a:t>
            </a:r>
            <a:r>
              <a:rPr lang="en-US" altLang="ko-KR" sz="1400" b="1" dirty="0">
                <a:solidFill>
                  <a:srgbClr val="FF0000"/>
                </a:solidFill>
              </a:rPr>
              <a:t>a list of resource types </a:t>
            </a:r>
            <a:r>
              <a:rPr lang="en-US" altLang="ko-KR" sz="1400" b="1" dirty="0"/>
              <a:t>and </a:t>
            </a:r>
            <a:r>
              <a:rPr lang="en-US" altLang="ko-KR" sz="1400" b="1" dirty="0">
                <a:solidFill>
                  <a:srgbClr val="FF0000"/>
                </a:solidFill>
              </a:rPr>
              <a:t>REST endpoints </a:t>
            </a:r>
            <a:r>
              <a:rPr lang="en-US" altLang="ko-KR" sz="1400" b="1" dirty="0"/>
              <a:t>in the batch/v1 API group</a:t>
            </a:r>
            <a:r>
              <a:rPr lang="en-US" altLang="ko-KR" sz="1400" dirty="0"/>
              <a:t>. One of those is the </a:t>
            </a:r>
            <a:r>
              <a:rPr lang="en-US" altLang="ko-KR" sz="1400" b="1" dirty="0"/>
              <a:t>Job resource</a:t>
            </a:r>
            <a:r>
              <a:rPr lang="en-US" altLang="ko-KR" sz="1400" dirty="0"/>
              <a:t>. In addition to the name of the resource and the associated kind, the API server also includes information on whether </a:t>
            </a:r>
            <a:r>
              <a:rPr lang="en-US" altLang="ko-KR" sz="1400" b="1" dirty="0"/>
              <a:t>the resource is </a:t>
            </a:r>
            <a:r>
              <a:rPr lang="en-US" altLang="ko-KR" sz="1400" b="1" dirty="0" err="1"/>
              <a:t>namespaced</a:t>
            </a:r>
            <a:r>
              <a:rPr lang="en-US" altLang="ko-KR" sz="1400" b="1" dirty="0"/>
              <a:t> or not</a:t>
            </a:r>
            <a:r>
              <a:rPr lang="en-US" altLang="ko-KR" sz="1400" dirty="0"/>
              <a:t>, </a:t>
            </a:r>
            <a:r>
              <a:rPr lang="en-US" altLang="ko-KR" sz="1400" b="1" dirty="0"/>
              <a:t>its short name</a:t>
            </a:r>
            <a:r>
              <a:rPr lang="en-US" altLang="ko-KR" sz="1400" dirty="0"/>
              <a:t> (if it has one; Jobs don’t), and </a:t>
            </a:r>
            <a:r>
              <a:rPr lang="en-US" altLang="ko-KR" sz="1400" b="1" dirty="0"/>
              <a:t>a list of verbs </a:t>
            </a:r>
            <a:r>
              <a:rPr lang="en-US" altLang="ko-KR" sz="1400" dirty="0"/>
              <a:t>you can use with the resource.</a:t>
            </a:r>
          </a:p>
          <a:p>
            <a:pPr lvl="1">
              <a:buFont typeface="Wingdings" panose="05000000000000000000" pitchFamily="2" charset="2"/>
              <a:buChar char="§"/>
            </a:pPr>
            <a:r>
              <a:rPr lang="en-US" altLang="ko-KR" sz="1400" b="1" dirty="0"/>
              <a:t>The returned list describes the </a:t>
            </a:r>
            <a:r>
              <a:rPr lang="en-US" altLang="ko-KR" sz="1400" b="1" dirty="0">
                <a:solidFill>
                  <a:srgbClr val="FF0000"/>
                </a:solidFill>
              </a:rPr>
              <a:t>REST resources </a:t>
            </a:r>
            <a:r>
              <a:rPr lang="en-US" altLang="ko-KR" sz="1400" b="1" dirty="0"/>
              <a:t>exposed in the API server</a:t>
            </a:r>
            <a:r>
              <a:rPr lang="en-US" altLang="ko-KR" sz="1400" dirty="0"/>
              <a:t>. The </a:t>
            </a:r>
            <a:r>
              <a:rPr lang="en-US" altLang="ko-KR" sz="1400" b="1" dirty="0"/>
              <a:t>"name": "jobs"</a:t>
            </a:r>
            <a:r>
              <a:rPr lang="en-US" altLang="ko-KR" sz="1400" dirty="0"/>
              <a:t> line tells you that the API contains the “</a:t>
            </a:r>
            <a:r>
              <a:rPr lang="en-US" altLang="ko-KR" sz="1400" b="1" dirty="0"/>
              <a:t>/</a:t>
            </a:r>
            <a:r>
              <a:rPr lang="en-US" altLang="ko-KR" sz="1400" b="1" dirty="0" err="1"/>
              <a:t>apis</a:t>
            </a:r>
            <a:r>
              <a:rPr lang="en-US" altLang="ko-KR" sz="1400" b="1" dirty="0"/>
              <a:t>/batch/v1/jobs</a:t>
            </a:r>
            <a:r>
              <a:rPr lang="en-US" altLang="ko-KR" sz="1400" dirty="0"/>
              <a:t>” endpoint.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t>
            </a:r>
            <a:r>
              <a:rPr lang="en-US" altLang="ko-KR" sz="1400" b="1" dirty="0">
                <a:solidFill>
                  <a:srgbClr val="FF0000"/>
                </a:solidFill>
              </a:rPr>
              <a:t>verbs</a:t>
            </a:r>
            <a:r>
              <a:rPr lang="en-US" altLang="ko-KR" sz="1400" b="1" dirty="0"/>
              <a:t>" array says you can get, update, and delete Job resources through that endpoint</a:t>
            </a:r>
            <a:r>
              <a:rPr lang="en-US" altLang="ko-KR" sz="1400" dirty="0"/>
              <a:t>. For certain resources, </a:t>
            </a:r>
            <a:r>
              <a:rPr lang="en-US" altLang="ko-KR" sz="1400" b="1" dirty="0"/>
              <a:t>additional API endpoints </a:t>
            </a:r>
            <a:r>
              <a:rPr lang="en-US" altLang="ko-KR" sz="1400" dirty="0"/>
              <a:t>are also exposed (such as the “</a:t>
            </a:r>
            <a:r>
              <a:rPr lang="en-US" altLang="ko-KR" sz="1400" b="1" dirty="0"/>
              <a:t>jobs/status</a:t>
            </a:r>
            <a:r>
              <a:rPr lang="en-US" altLang="ko-KR" sz="1400" dirty="0"/>
              <a:t>” path, which allows modifying only the status of a Job).</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0010DF3-CEEA-9CC9-4632-792D2FD3E6EA}"/>
              </a:ext>
            </a:extLst>
          </p:cNvPr>
          <p:cNvPicPr>
            <a:picLocks noChangeAspect="1"/>
          </p:cNvPicPr>
          <p:nvPr/>
        </p:nvPicPr>
        <p:blipFill>
          <a:blip r:embed="rId2"/>
          <a:stretch>
            <a:fillRect/>
          </a:stretch>
        </p:blipFill>
        <p:spPr>
          <a:xfrm>
            <a:off x="1299541" y="2518533"/>
            <a:ext cx="9592917" cy="2797934"/>
          </a:xfrm>
          <a:prstGeom prst="rect">
            <a:avLst/>
          </a:prstGeom>
        </p:spPr>
      </p:pic>
    </p:spTree>
    <p:extLst>
      <p:ext uri="{BB962C8B-B14F-4D97-AF65-F5344CB8AC3E}">
        <p14:creationId xmlns:p14="http://schemas.microsoft.com/office/powerpoint/2010/main" val="1663305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Server(10/33)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API Through the </a:t>
            </a:r>
            <a:r>
              <a:rPr lang="en-US" altLang="ko-KR" sz="1800" b="1" dirty="0" err="1"/>
              <a:t>kubectl</a:t>
            </a:r>
            <a:r>
              <a:rPr lang="en-US" altLang="ko-KR" sz="1800" b="1" dirty="0"/>
              <a:t> proxy :</a:t>
            </a:r>
          </a:p>
          <a:p>
            <a:pPr lvl="1">
              <a:buFont typeface="Wingdings" panose="05000000000000000000" pitchFamily="2" charset="2"/>
              <a:buChar char="§"/>
            </a:pPr>
            <a:r>
              <a:rPr lang="en-US" altLang="ko-KR" sz="1400" b="1" dirty="0"/>
              <a:t>To get a list of Jobs in your cluster</a:t>
            </a:r>
            <a:r>
              <a:rPr lang="en-US" altLang="ko-KR" sz="1400" dirty="0"/>
              <a:t>, </a:t>
            </a:r>
            <a:r>
              <a:rPr lang="en-US" altLang="ko-KR" sz="1400" b="1" dirty="0"/>
              <a:t>perform a GET request on path “/</a:t>
            </a:r>
            <a:r>
              <a:rPr lang="en-US" altLang="ko-KR" sz="1400" b="1" dirty="0" err="1"/>
              <a:t>apis</a:t>
            </a:r>
            <a:r>
              <a:rPr lang="en-US" altLang="ko-KR" sz="1400" b="1" dirty="0"/>
              <a:t>/batch/v1/jobs”</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Now, you probably have no Job resources deployed in your cluster, so the “items” array will be empty</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830A2B3D-6FFC-B4AB-1FA9-FF10094B84D6}"/>
              </a:ext>
            </a:extLst>
          </p:cNvPr>
          <p:cNvGrpSpPr/>
          <p:nvPr/>
        </p:nvGrpSpPr>
        <p:grpSpPr>
          <a:xfrm>
            <a:off x="1234372" y="1676502"/>
            <a:ext cx="9723255" cy="2436729"/>
            <a:chOff x="1234372" y="1676502"/>
            <a:chExt cx="9723255" cy="2436729"/>
          </a:xfrm>
        </p:grpSpPr>
        <p:grpSp>
          <p:nvGrpSpPr>
            <p:cNvPr id="12" name="그룹 11">
              <a:extLst>
                <a:ext uri="{FF2B5EF4-FFF2-40B4-BE49-F238E27FC236}">
                  <a16:creationId xmlns:a16="http://schemas.microsoft.com/office/drawing/2014/main" id="{93F720E7-9F02-6719-40E9-4CF07B106605}"/>
                </a:ext>
              </a:extLst>
            </p:cNvPr>
            <p:cNvGrpSpPr/>
            <p:nvPr/>
          </p:nvGrpSpPr>
          <p:grpSpPr>
            <a:xfrm>
              <a:off x="1234372" y="1676502"/>
              <a:ext cx="9723255" cy="2436729"/>
              <a:chOff x="1234372" y="1676502"/>
              <a:chExt cx="9723255" cy="2436729"/>
            </a:xfrm>
          </p:grpSpPr>
          <p:sp>
            <p:nvSpPr>
              <p:cNvPr id="8" name="TextBox 7">
                <a:extLst>
                  <a:ext uri="{FF2B5EF4-FFF2-40B4-BE49-F238E27FC236}">
                    <a16:creationId xmlns:a16="http://schemas.microsoft.com/office/drawing/2014/main" id="{9F2C9CD0-BB3E-65A2-A419-02A2B1704803}"/>
                  </a:ext>
                </a:extLst>
              </p:cNvPr>
              <p:cNvSpPr txBox="1"/>
              <p:nvPr/>
            </p:nvSpPr>
            <p:spPr>
              <a:xfrm>
                <a:off x="3047326" y="1676502"/>
                <a:ext cx="6097348" cy="246221"/>
              </a:xfrm>
              <a:prstGeom prst="rect">
                <a:avLst/>
              </a:prstGeom>
              <a:noFill/>
              <a:ln>
                <a:solidFill>
                  <a:schemeClr val="bg1">
                    <a:lumMod val="50000"/>
                  </a:schemeClr>
                </a:solidFill>
              </a:ln>
            </p:spPr>
            <p:txBody>
              <a:bodyPr wrap="square">
                <a:spAutoFit/>
              </a:bodyPr>
              <a:lstStyle/>
              <a:p>
                <a:r>
                  <a:rPr lang="en-US" altLang="ko-KR" sz="1000" b="1" dirty="0"/>
                  <a:t>$ curl http://localhost:8001</a:t>
                </a:r>
                <a:r>
                  <a:rPr lang="en-US" altLang="ko-KR" sz="1000" b="1" dirty="0">
                    <a:solidFill>
                      <a:srgbClr val="FF0000"/>
                    </a:solidFill>
                  </a:rPr>
                  <a:t>/apis/batch/v1/jobs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88573556-48A5-3831-AFB2-C4A317E45377}"/>
                  </a:ext>
                </a:extLst>
              </p:cNvPr>
              <p:cNvSpPr/>
              <p:nvPr/>
            </p:nvSpPr>
            <p:spPr>
              <a:xfrm>
                <a:off x="5881561" y="1950181"/>
                <a:ext cx="428878"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47378F4-3863-8B9D-E716-6CC35BCBB5B5}"/>
                  </a:ext>
                </a:extLst>
              </p:cNvPr>
              <p:cNvPicPr>
                <a:picLocks noChangeAspect="1"/>
              </p:cNvPicPr>
              <p:nvPr/>
            </p:nvPicPr>
            <p:blipFill>
              <a:blip r:embed="rId2"/>
              <a:stretch>
                <a:fillRect/>
              </a:stretch>
            </p:blipFill>
            <p:spPr>
              <a:xfrm>
                <a:off x="1234372" y="2233402"/>
                <a:ext cx="9723255" cy="1879829"/>
              </a:xfrm>
              <a:prstGeom prst="rect">
                <a:avLst/>
              </a:prstGeom>
            </p:spPr>
          </p:pic>
        </p:grpSp>
        <p:sp>
          <p:nvSpPr>
            <p:cNvPr id="13" name="직사각형 12">
              <a:extLst>
                <a:ext uri="{FF2B5EF4-FFF2-40B4-BE49-F238E27FC236}">
                  <a16:creationId xmlns:a16="http://schemas.microsoft.com/office/drawing/2014/main" id="{55691091-7D50-3795-C901-098299CD1DC5}"/>
                </a:ext>
              </a:extLst>
            </p:cNvPr>
            <p:cNvSpPr/>
            <p:nvPr/>
          </p:nvSpPr>
          <p:spPr>
            <a:xfrm>
              <a:off x="1472750" y="3640270"/>
              <a:ext cx="817296" cy="1791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41584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Server(11/33)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API Through the </a:t>
            </a:r>
            <a:r>
              <a:rPr lang="en-US" altLang="ko-KR" sz="1800" b="1" dirty="0" err="1"/>
              <a:t>kubectl</a:t>
            </a:r>
            <a:r>
              <a:rPr lang="en-US" altLang="ko-KR" sz="1800" b="1" dirty="0"/>
              <a:t> proxy :</a:t>
            </a:r>
          </a:p>
          <a:p>
            <a:pPr lvl="1">
              <a:buFont typeface="Wingdings" panose="05000000000000000000" pitchFamily="2" charset="2"/>
              <a:buChar char="§"/>
            </a:pPr>
            <a:r>
              <a:rPr lang="en-US" altLang="ko-KR" sz="1400" b="1" dirty="0"/>
              <a:t>The previous endpoint returned a list of all Jobs across all namespaces</a:t>
            </a:r>
            <a:r>
              <a:rPr lang="en-US" altLang="ko-KR" sz="1400" dirty="0"/>
              <a:t>. To get back only </a:t>
            </a:r>
            <a:r>
              <a:rPr lang="en-US" altLang="ko-KR" sz="1400" b="1" dirty="0"/>
              <a:t>one specific Job</a:t>
            </a:r>
            <a:r>
              <a:rPr lang="en-US" altLang="ko-KR" sz="1400" dirty="0"/>
              <a:t>, you need to </a:t>
            </a:r>
            <a:r>
              <a:rPr lang="en-US" altLang="ko-KR" sz="1400" b="1" dirty="0"/>
              <a:t>specify its name and namespace in the URL</a:t>
            </a:r>
            <a:r>
              <a:rPr lang="en-US" altLang="ko-KR" sz="1400" dirty="0"/>
              <a:t>. To retrieve the Job shown in the previous listing (“</a:t>
            </a:r>
            <a:r>
              <a:rPr lang="en-US" altLang="ko-KR" sz="1400" b="1" dirty="0"/>
              <a:t>name: my-job; namespace: default”</a:t>
            </a:r>
            <a:r>
              <a:rPr lang="en-US" altLang="ko-KR" sz="1400" dirty="0"/>
              <a:t>), you need to request the following path: “</a:t>
            </a:r>
            <a:r>
              <a:rPr lang="en-US" altLang="ko-KR" sz="1400" b="1" dirty="0"/>
              <a:t>/</a:t>
            </a:r>
            <a:r>
              <a:rPr lang="en-US" altLang="ko-KR" sz="1400" b="1" dirty="0" err="1"/>
              <a:t>apis</a:t>
            </a:r>
            <a:r>
              <a:rPr lang="en-US" altLang="ko-KR" sz="1400" b="1" dirty="0"/>
              <a:t>/batch/v1/namespaces/default/jobs/my-job</a:t>
            </a:r>
            <a:r>
              <a:rPr lang="en-US" altLang="ko-KR" sz="1400" dirty="0"/>
              <a:t>”, as shown in the following listing.</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5DB21B68-3D3E-D61C-0EC0-EC9B0530A844}"/>
              </a:ext>
            </a:extLst>
          </p:cNvPr>
          <p:cNvGrpSpPr/>
          <p:nvPr/>
        </p:nvGrpSpPr>
        <p:grpSpPr>
          <a:xfrm>
            <a:off x="1226280" y="2221784"/>
            <a:ext cx="9739439" cy="3822121"/>
            <a:chOff x="1226280" y="2221784"/>
            <a:chExt cx="9739439" cy="3822121"/>
          </a:xfrm>
        </p:grpSpPr>
        <p:grpSp>
          <p:nvGrpSpPr>
            <p:cNvPr id="12" name="그룹 11">
              <a:extLst>
                <a:ext uri="{FF2B5EF4-FFF2-40B4-BE49-F238E27FC236}">
                  <a16:creationId xmlns:a16="http://schemas.microsoft.com/office/drawing/2014/main" id="{36412956-BB8B-5503-ADB1-BBADD1C8B5D6}"/>
                </a:ext>
              </a:extLst>
            </p:cNvPr>
            <p:cNvGrpSpPr/>
            <p:nvPr/>
          </p:nvGrpSpPr>
          <p:grpSpPr>
            <a:xfrm>
              <a:off x="1226280" y="2221784"/>
              <a:ext cx="9739439" cy="3822121"/>
              <a:chOff x="1226279" y="2064920"/>
              <a:chExt cx="9739439" cy="3822121"/>
            </a:xfrm>
          </p:grpSpPr>
          <p:pic>
            <p:nvPicPr>
              <p:cNvPr id="8" name="그림 7">
                <a:extLst>
                  <a:ext uri="{FF2B5EF4-FFF2-40B4-BE49-F238E27FC236}">
                    <a16:creationId xmlns:a16="http://schemas.microsoft.com/office/drawing/2014/main" id="{E14514F6-DF03-706B-066D-062C921155D3}"/>
                  </a:ext>
                </a:extLst>
              </p:cNvPr>
              <p:cNvPicPr>
                <a:picLocks noChangeAspect="1"/>
              </p:cNvPicPr>
              <p:nvPr/>
            </p:nvPicPr>
            <p:blipFill>
              <a:blip r:embed="rId2"/>
              <a:stretch>
                <a:fillRect/>
              </a:stretch>
            </p:blipFill>
            <p:spPr>
              <a:xfrm>
                <a:off x="1226279" y="2802885"/>
                <a:ext cx="9739439" cy="3084156"/>
              </a:xfrm>
              <a:prstGeom prst="rect">
                <a:avLst/>
              </a:prstGeom>
            </p:spPr>
          </p:pic>
          <p:sp>
            <p:nvSpPr>
              <p:cNvPr id="10" name="TextBox 9">
                <a:extLst>
                  <a:ext uri="{FF2B5EF4-FFF2-40B4-BE49-F238E27FC236}">
                    <a16:creationId xmlns:a16="http://schemas.microsoft.com/office/drawing/2014/main" id="{CAB08FC8-51FE-7269-985A-BB73AE2B9BA1}"/>
                  </a:ext>
                </a:extLst>
              </p:cNvPr>
              <p:cNvSpPr txBox="1"/>
              <p:nvPr/>
            </p:nvSpPr>
            <p:spPr>
              <a:xfrm>
                <a:off x="3047325" y="2064920"/>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my-</a:t>
                </a:r>
                <a:r>
                  <a:rPr lang="en-US" altLang="ko-KR" sz="1000" b="1" dirty="0" err="1">
                    <a:solidFill>
                      <a:srgbClr val="FF0000"/>
                    </a:solidFill>
                  </a:rPr>
                  <a:t>job.yaml</a:t>
                </a:r>
                <a:endParaRPr lang="en-US" altLang="ko-KR" sz="1000" b="1" dirty="0">
                  <a:solidFill>
                    <a:srgbClr val="FF0000"/>
                  </a:solidFill>
                </a:endParaRPr>
              </a:p>
              <a:p>
                <a:r>
                  <a:rPr lang="en-US" altLang="ko-KR" sz="1000" b="1" dirty="0"/>
                  <a:t>$ curl http://localhost:8001</a:t>
                </a:r>
                <a:r>
                  <a:rPr lang="en-US" altLang="ko-KR" sz="1000" b="1" dirty="0">
                    <a:solidFill>
                      <a:srgbClr val="FF0000"/>
                    </a:solidFill>
                  </a:rPr>
                  <a:t>/apis/batch/v1/namespaces/default/jobs/my-job</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F2BFA0E9-7C4D-6D29-0905-6DF894E630F6}"/>
                  </a:ext>
                </a:extLst>
              </p:cNvPr>
              <p:cNvSpPr/>
              <p:nvPr/>
            </p:nvSpPr>
            <p:spPr>
              <a:xfrm>
                <a:off x="5869422" y="2476163"/>
                <a:ext cx="453154" cy="31558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E15D05D6-EB9A-E654-D9C8-BD96ED2FA901}"/>
                </a:ext>
              </a:extLst>
            </p:cNvPr>
            <p:cNvSpPr/>
            <p:nvPr/>
          </p:nvSpPr>
          <p:spPr>
            <a:xfrm>
              <a:off x="5356928" y="3404724"/>
              <a:ext cx="1966364" cy="1719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BD0AE0A-AA6A-C248-A8C2-4041169FF399}"/>
                </a:ext>
              </a:extLst>
            </p:cNvPr>
            <p:cNvSpPr/>
            <p:nvPr/>
          </p:nvSpPr>
          <p:spPr>
            <a:xfrm>
              <a:off x="5356928" y="3665692"/>
              <a:ext cx="4733840" cy="2072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18156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Server(12/33)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Kubernetes API Through the </a:t>
            </a:r>
            <a:r>
              <a:rPr lang="en-US" altLang="ko-KR" sz="1800" b="1" dirty="0" err="1"/>
              <a:t>kubectl</a:t>
            </a:r>
            <a:r>
              <a:rPr lang="en-US" altLang="ko-KR" sz="1800" b="1" dirty="0"/>
              <a:t> proxy :</a:t>
            </a:r>
          </a:p>
          <a:p>
            <a:pPr lvl="1">
              <a:buFont typeface="Wingdings" panose="05000000000000000000" pitchFamily="2" charset="2"/>
              <a:buChar char="§"/>
            </a:pPr>
            <a:r>
              <a:rPr lang="en-US" altLang="ko-KR" sz="1400" dirty="0"/>
              <a:t>As you can see, you get back </a:t>
            </a:r>
            <a:r>
              <a:rPr lang="en-US" altLang="ko-KR" sz="1400" b="1" dirty="0"/>
              <a:t>the complete JSON definition of the “my-job” Job resource</a:t>
            </a:r>
            <a:r>
              <a:rPr lang="en-US" altLang="ko-KR" sz="1400" dirty="0"/>
              <a:t>, exactly like you do if you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You’ve seen that you can browse the Kubernetes REST API server without using any special tools. </a:t>
            </a:r>
            <a:r>
              <a:rPr lang="en-US" altLang="ko-KR" sz="1400" dirty="0"/>
              <a:t>For now, exploring it with “</a:t>
            </a:r>
            <a:r>
              <a:rPr lang="en-US" altLang="ko-KR" sz="1400" b="1" dirty="0"/>
              <a:t>curl</a:t>
            </a:r>
            <a:r>
              <a:rPr lang="en-US" altLang="ko-KR" sz="1400" dirty="0"/>
              <a:t>” like this is enough to make you understand </a:t>
            </a:r>
            <a:r>
              <a:rPr lang="en-US" altLang="ko-KR" sz="1400" b="1" dirty="0"/>
              <a:t>how an application running in a pod talks to Kubernetes</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85D53DC-90F2-EFCD-3DCD-DB0BFC51B566}"/>
              </a:ext>
            </a:extLst>
          </p:cNvPr>
          <p:cNvGrpSpPr/>
          <p:nvPr/>
        </p:nvGrpSpPr>
        <p:grpSpPr>
          <a:xfrm>
            <a:off x="1151340" y="1743413"/>
            <a:ext cx="9889320" cy="3696610"/>
            <a:chOff x="1151340" y="1676502"/>
            <a:chExt cx="9889320" cy="3696610"/>
          </a:xfrm>
        </p:grpSpPr>
        <p:grpSp>
          <p:nvGrpSpPr>
            <p:cNvPr id="12" name="그룹 11">
              <a:extLst>
                <a:ext uri="{FF2B5EF4-FFF2-40B4-BE49-F238E27FC236}">
                  <a16:creationId xmlns:a16="http://schemas.microsoft.com/office/drawing/2014/main" id="{4B22AA02-C592-6818-4158-2F8A7D9FE2AB}"/>
                </a:ext>
              </a:extLst>
            </p:cNvPr>
            <p:cNvGrpSpPr/>
            <p:nvPr/>
          </p:nvGrpSpPr>
          <p:grpSpPr>
            <a:xfrm>
              <a:off x="1151340" y="1676502"/>
              <a:ext cx="9889320" cy="3696610"/>
              <a:chOff x="1151340" y="1676502"/>
              <a:chExt cx="9889320" cy="3696610"/>
            </a:xfrm>
          </p:grpSpPr>
          <p:sp>
            <p:nvSpPr>
              <p:cNvPr id="8" name="TextBox 7">
                <a:extLst>
                  <a:ext uri="{FF2B5EF4-FFF2-40B4-BE49-F238E27FC236}">
                    <a16:creationId xmlns:a16="http://schemas.microsoft.com/office/drawing/2014/main" id="{C3846F29-37D1-4794-A2D1-788AFF283645}"/>
                  </a:ext>
                </a:extLst>
              </p:cNvPr>
              <p:cNvSpPr txBox="1"/>
              <p:nvPr/>
            </p:nvSpPr>
            <p:spPr>
              <a:xfrm>
                <a:off x="3047326" y="1676502"/>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job </a:t>
                </a:r>
                <a:r>
                  <a:rPr lang="en-US" altLang="ko-KR" sz="1000" b="1" dirty="0">
                    <a:solidFill>
                      <a:srgbClr val="FF0000"/>
                    </a:solidFill>
                  </a:rPr>
                  <a:t>my-job</a:t>
                </a:r>
                <a:r>
                  <a:rPr lang="en-US" altLang="ko-KR" sz="1000" b="1" dirty="0"/>
                  <a:t> -o </a:t>
                </a:r>
                <a:r>
                  <a:rPr lang="en-US" altLang="ko-KR" sz="1000" b="1" dirty="0" err="1"/>
                  <a:t>json</a:t>
                </a:r>
                <a:endParaRPr lang="en-US" altLang="ko-KR" sz="1000" b="1" dirty="0"/>
              </a:p>
            </p:txBody>
          </p:sp>
          <p:sp>
            <p:nvSpPr>
              <p:cNvPr id="9" name="화살표: 아래쪽 8">
                <a:extLst>
                  <a:ext uri="{FF2B5EF4-FFF2-40B4-BE49-F238E27FC236}">
                    <a16:creationId xmlns:a16="http://schemas.microsoft.com/office/drawing/2014/main" id="{B200D1C6-D565-CCC9-7C3F-9FD6B3FE4C5C}"/>
                  </a:ext>
                </a:extLst>
              </p:cNvPr>
              <p:cNvSpPr/>
              <p:nvPr/>
            </p:nvSpPr>
            <p:spPr>
              <a:xfrm>
                <a:off x="5885607" y="1942088"/>
                <a:ext cx="420786" cy="29940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7861D91-1E77-EBD8-FA09-375C2592F407}"/>
                  </a:ext>
                </a:extLst>
              </p:cNvPr>
              <p:cNvPicPr>
                <a:picLocks noChangeAspect="1"/>
              </p:cNvPicPr>
              <p:nvPr/>
            </p:nvPicPr>
            <p:blipFill>
              <a:blip r:embed="rId2"/>
              <a:stretch>
                <a:fillRect/>
              </a:stretch>
            </p:blipFill>
            <p:spPr>
              <a:xfrm>
                <a:off x="1151340" y="2241494"/>
                <a:ext cx="9889320" cy="3131618"/>
              </a:xfrm>
              <a:prstGeom prst="rect">
                <a:avLst/>
              </a:prstGeom>
            </p:spPr>
          </p:pic>
        </p:grpSp>
        <p:sp>
          <p:nvSpPr>
            <p:cNvPr id="13" name="직사각형 12">
              <a:extLst>
                <a:ext uri="{FF2B5EF4-FFF2-40B4-BE49-F238E27FC236}">
                  <a16:creationId xmlns:a16="http://schemas.microsoft.com/office/drawing/2014/main" id="{57E81E0A-7571-FDBC-B477-0678C76A0277}"/>
                </a:ext>
              </a:extLst>
            </p:cNvPr>
            <p:cNvSpPr/>
            <p:nvPr/>
          </p:nvSpPr>
          <p:spPr>
            <a:xfrm>
              <a:off x="5340743" y="2686556"/>
              <a:ext cx="2112022"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191040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Server(13/33)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dirty="0"/>
              <a:t>You’ve learned how to talk to the API server from your local machine, using the “</a:t>
            </a:r>
            <a:r>
              <a:rPr lang="en-US" altLang="ko-KR" sz="1400" b="1" dirty="0" err="1"/>
              <a:t>kubectl</a:t>
            </a:r>
            <a:r>
              <a:rPr lang="en-US" altLang="ko-KR" sz="1400" b="1" dirty="0"/>
              <a:t> proxy</a:t>
            </a:r>
            <a:r>
              <a:rPr lang="en-US" altLang="ko-KR" sz="1400" dirty="0"/>
              <a:t>”. Now, let’s see </a:t>
            </a:r>
            <a:r>
              <a:rPr lang="en-US" altLang="ko-KR" sz="1400" b="1" dirty="0"/>
              <a:t>how to talk to it from within a pod</a:t>
            </a:r>
            <a:r>
              <a:rPr lang="en-US" altLang="ko-KR" sz="1400" dirty="0"/>
              <a:t>, where you (usually) don’t have “</a:t>
            </a:r>
            <a:r>
              <a:rPr lang="en-US" altLang="ko-KR" sz="1400" b="1" dirty="0" err="1"/>
              <a:t>kubectl</a:t>
            </a:r>
            <a:r>
              <a:rPr lang="en-US" altLang="ko-KR" sz="1400" dirty="0"/>
              <a:t>”. Therefore, </a:t>
            </a:r>
            <a:r>
              <a:rPr lang="en-US" altLang="ko-KR" sz="1400" b="1" dirty="0"/>
              <a:t>to talk to the API server from inside a pod</a:t>
            </a:r>
            <a:r>
              <a:rPr lang="en-US" altLang="ko-KR" sz="1400" dirty="0"/>
              <a:t>, you need to take care of three things :</a:t>
            </a:r>
          </a:p>
          <a:p>
            <a:pPr lvl="2">
              <a:buFont typeface="Wingdings" panose="05000000000000000000" pitchFamily="2" charset="2"/>
              <a:buChar char="§"/>
            </a:pPr>
            <a:r>
              <a:rPr lang="en-US" altLang="ko-KR" sz="1400" b="1" dirty="0"/>
              <a:t>Find the location of the API server</a:t>
            </a:r>
            <a:r>
              <a:rPr lang="en-US" altLang="ko-KR" sz="1400" dirty="0"/>
              <a:t>.</a:t>
            </a:r>
          </a:p>
          <a:p>
            <a:pPr lvl="2">
              <a:buFont typeface="Wingdings" panose="05000000000000000000" pitchFamily="2" charset="2"/>
              <a:buChar char="§"/>
            </a:pPr>
            <a:r>
              <a:rPr lang="en-US" altLang="ko-KR" sz="1400" b="1" dirty="0"/>
              <a:t>Make sure you’re talking to the API server </a:t>
            </a:r>
            <a:r>
              <a:rPr lang="en-US" altLang="ko-KR" sz="1400" dirty="0"/>
              <a:t>and not something impersonating it.</a:t>
            </a:r>
          </a:p>
          <a:p>
            <a:pPr lvl="2">
              <a:buFont typeface="Wingdings" panose="05000000000000000000" pitchFamily="2" charset="2"/>
              <a:buChar char="§"/>
            </a:pPr>
            <a:r>
              <a:rPr lang="en-US" altLang="ko-KR" sz="1400" b="1" dirty="0"/>
              <a:t>Authenticate with the server</a:t>
            </a:r>
            <a:r>
              <a:rPr lang="en-US" altLang="ko-KR" sz="1400" dirty="0"/>
              <a:t>; otherwise it won’t let you see or do anything.</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F5BBD5E-5AB4-FF3D-E827-23E2BBE2CDC7}"/>
              </a:ext>
            </a:extLst>
          </p:cNvPr>
          <p:cNvGrpSpPr/>
          <p:nvPr/>
        </p:nvGrpSpPr>
        <p:grpSpPr>
          <a:xfrm>
            <a:off x="3966457" y="2581359"/>
            <a:ext cx="4259086" cy="3827671"/>
            <a:chOff x="3966457" y="2581359"/>
            <a:chExt cx="4259086" cy="3827671"/>
          </a:xfrm>
        </p:grpSpPr>
        <p:grpSp>
          <p:nvGrpSpPr>
            <p:cNvPr id="10" name="그룹 9">
              <a:extLst>
                <a:ext uri="{FF2B5EF4-FFF2-40B4-BE49-F238E27FC236}">
                  <a16:creationId xmlns:a16="http://schemas.microsoft.com/office/drawing/2014/main" id="{CE8A12CF-E92F-D830-1EA1-CEA2691E9D5F}"/>
                </a:ext>
              </a:extLst>
            </p:cNvPr>
            <p:cNvGrpSpPr/>
            <p:nvPr/>
          </p:nvGrpSpPr>
          <p:grpSpPr>
            <a:xfrm>
              <a:off x="3966457" y="2581359"/>
              <a:ext cx="4259086" cy="3827671"/>
              <a:chOff x="3966457" y="2581359"/>
              <a:chExt cx="4259086" cy="3827671"/>
            </a:xfrm>
          </p:grpSpPr>
          <p:pic>
            <p:nvPicPr>
              <p:cNvPr id="4" name="그림 3">
                <a:extLst>
                  <a:ext uri="{FF2B5EF4-FFF2-40B4-BE49-F238E27FC236}">
                    <a16:creationId xmlns:a16="http://schemas.microsoft.com/office/drawing/2014/main" id="{5B2D8193-E89E-B3D1-D04A-83B09F1031F1}"/>
                  </a:ext>
                </a:extLst>
              </p:cNvPr>
              <p:cNvPicPr>
                <a:picLocks noChangeAspect="1"/>
              </p:cNvPicPr>
              <p:nvPr/>
            </p:nvPicPr>
            <p:blipFill>
              <a:blip r:embed="rId2"/>
              <a:stretch>
                <a:fillRect/>
              </a:stretch>
            </p:blipFill>
            <p:spPr>
              <a:xfrm>
                <a:off x="3966457" y="2581359"/>
                <a:ext cx="4259086" cy="3827671"/>
              </a:xfrm>
              <a:prstGeom prst="rect">
                <a:avLst/>
              </a:prstGeom>
            </p:spPr>
          </p:pic>
          <p:sp>
            <p:nvSpPr>
              <p:cNvPr id="8" name="사각형: 둥근 모서리 7">
                <a:extLst>
                  <a:ext uri="{FF2B5EF4-FFF2-40B4-BE49-F238E27FC236}">
                    <a16:creationId xmlns:a16="http://schemas.microsoft.com/office/drawing/2014/main" id="{37BBA1A5-B9E3-71E8-4C53-4FFA96801B50}"/>
                  </a:ext>
                </a:extLst>
              </p:cNvPr>
              <p:cNvSpPr/>
              <p:nvPr/>
            </p:nvSpPr>
            <p:spPr>
              <a:xfrm>
                <a:off x="6166131" y="3746612"/>
                <a:ext cx="882032" cy="2670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DF947CF-A3F6-89E4-F58E-8CE0BA609EA9}"/>
                  </a:ext>
                </a:extLst>
              </p:cNvPr>
              <p:cNvSpPr/>
              <p:nvPr/>
            </p:nvSpPr>
            <p:spPr>
              <a:xfrm>
                <a:off x="6182315" y="5553565"/>
                <a:ext cx="882032" cy="2670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2FF6167-AC90-D525-1059-E9084C91EB40}"/>
                </a:ext>
              </a:extLst>
            </p:cNvPr>
            <p:cNvSpPr/>
            <p:nvPr/>
          </p:nvSpPr>
          <p:spPr>
            <a:xfrm>
              <a:off x="4992786" y="4151214"/>
              <a:ext cx="784927" cy="10438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57718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Server(14/33)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dirty="0"/>
              <a:t>The first thing you need is a pod from which to talk to the API server. You’ll run </a:t>
            </a:r>
            <a:r>
              <a:rPr lang="en-US" altLang="ko-KR" sz="1400" b="1" dirty="0"/>
              <a:t>a pod that does nothing (it runs the sleep command in its only container), and then run a shell in the container with “$ </a:t>
            </a:r>
            <a:r>
              <a:rPr lang="en-US" altLang="ko-KR" sz="1400" b="1" dirty="0" err="1"/>
              <a:t>kubectl</a:t>
            </a:r>
            <a:r>
              <a:rPr lang="en-US" altLang="ko-KR" sz="1400" b="1" dirty="0"/>
              <a:t> exec” command</a:t>
            </a:r>
            <a:r>
              <a:rPr lang="en-US" altLang="ko-KR" sz="1400" dirty="0"/>
              <a:t>. Then you’ll try to </a:t>
            </a:r>
            <a:r>
              <a:rPr lang="en-US" altLang="ko-KR" sz="1400" b="1" dirty="0"/>
              <a:t>access the API server from within that shell using “curl”.</a:t>
            </a:r>
          </a:p>
          <a:p>
            <a:pPr lvl="1">
              <a:buFont typeface="Wingdings" panose="05000000000000000000" pitchFamily="2" charset="2"/>
              <a:buChar char="§"/>
            </a:pPr>
            <a:r>
              <a:rPr lang="en-US" altLang="ko-KR" sz="1400" b="1" dirty="0"/>
              <a:t>Therefore, you need to use a container image that contains the “curl” binary</a:t>
            </a:r>
            <a:r>
              <a:rPr lang="en-US" altLang="ko-KR" sz="1400" dirty="0"/>
              <a:t>. If you search for such an image on, say, Docker Hub, you’ll find the “</a:t>
            </a:r>
            <a:r>
              <a:rPr lang="en-US" altLang="ko-KR" sz="1400" b="1" dirty="0" err="1"/>
              <a:t>tutum</a:t>
            </a:r>
            <a:r>
              <a:rPr lang="en-US" altLang="ko-KR" sz="1400" b="1" dirty="0"/>
              <a:t>/curl</a:t>
            </a:r>
            <a:r>
              <a:rPr lang="en-US" altLang="ko-KR" sz="1400" dirty="0"/>
              <a:t>” image, so use it (you can also </a:t>
            </a:r>
            <a:r>
              <a:rPr lang="en-US" altLang="ko-KR" sz="1400" b="1" dirty="0"/>
              <a:t>use any other existing image containing the “curl” binary or you can build your own</a:t>
            </a:r>
            <a:r>
              <a:rPr lang="en-US" altLang="ko-KR" sz="1400" dirty="0"/>
              <a:t>). </a:t>
            </a:r>
            <a:r>
              <a:rPr lang="en-US" altLang="ko-KR" sz="1400" b="1" dirty="0"/>
              <a:t>The pod definition </a:t>
            </a:r>
            <a:r>
              <a:rPr lang="en-US" altLang="ko-KR" sz="1400" dirty="0"/>
              <a:t>and </a:t>
            </a:r>
            <a:r>
              <a:rPr lang="en-US" altLang="ko-KR" sz="1400" b="1" dirty="0" err="1"/>
              <a:t>Dockerfile</a:t>
            </a:r>
            <a:r>
              <a:rPr lang="en-US" altLang="ko-KR" sz="1400" dirty="0"/>
              <a:t> for your own are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EFB7F800-F35C-0A11-6AA6-D03E0E8973A1}"/>
              </a:ext>
            </a:extLst>
          </p:cNvPr>
          <p:cNvGrpSpPr/>
          <p:nvPr/>
        </p:nvGrpSpPr>
        <p:grpSpPr>
          <a:xfrm>
            <a:off x="3047326" y="3023657"/>
            <a:ext cx="6097348" cy="2682649"/>
            <a:chOff x="3047326" y="2853724"/>
            <a:chExt cx="6097348" cy="2682649"/>
          </a:xfrm>
        </p:grpSpPr>
        <p:grpSp>
          <p:nvGrpSpPr>
            <p:cNvPr id="10" name="그룹 9">
              <a:extLst>
                <a:ext uri="{FF2B5EF4-FFF2-40B4-BE49-F238E27FC236}">
                  <a16:creationId xmlns:a16="http://schemas.microsoft.com/office/drawing/2014/main" id="{4080AA2B-38FB-22E8-A31C-3FFF3AC03B69}"/>
                </a:ext>
              </a:extLst>
            </p:cNvPr>
            <p:cNvGrpSpPr/>
            <p:nvPr/>
          </p:nvGrpSpPr>
          <p:grpSpPr>
            <a:xfrm>
              <a:off x="3047326" y="2853724"/>
              <a:ext cx="6097348" cy="553998"/>
              <a:chOff x="3047326" y="2540480"/>
              <a:chExt cx="6097348" cy="553998"/>
            </a:xfrm>
          </p:grpSpPr>
          <p:sp>
            <p:nvSpPr>
              <p:cNvPr id="8" name="TextBox 7">
                <a:extLst>
                  <a:ext uri="{FF2B5EF4-FFF2-40B4-BE49-F238E27FC236}">
                    <a16:creationId xmlns:a16="http://schemas.microsoft.com/office/drawing/2014/main" id="{0930ACBC-2CE7-03AB-721F-D3DC7B13C9B8}"/>
                  </a:ext>
                </a:extLst>
              </p:cNvPr>
              <p:cNvSpPr txBox="1"/>
              <p:nvPr/>
            </p:nvSpPr>
            <p:spPr>
              <a:xfrm>
                <a:off x="3047326" y="2540480"/>
                <a:ext cx="6097348" cy="553998"/>
              </a:xfrm>
              <a:prstGeom prst="rect">
                <a:avLst/>
              </a:prstGeom>
              <a:noFill/>
              <a:ln>
                <a:solidFill>
                  <a:schemeClr val="bg1">
                    <a:lumMod val="50000"/>
                  </a:schemeClr>
                </a:solidFill>
              </a:ln>
            </p:spPr>
            <p:txBody>
              <a:bodyPr wrap="square">
                <a:spAutoFit/>
              </a:bodyPr>
              <a:lstStyle/>
              <a:p>
                <a:r>
                  <a:rPr lang="en-US" altLang="ko-KR" sz="1000" b="1" dirty="0"/>
                  <a:t>FROM ubuntu:20.04</a:t>
                </a:r>
              </a:p>
              <a:p>
                <a:r>
                  <a:rPr lang="en-US" altLang="ko-KR" sz="1000" b="1" dirty="0"/>
                  <a:t>RUN apt-get update; apt-get -y install curl</a:t>
                </a:r>
              </a:p>
              <a:p>
                <a:r>
                  <a:rPr lang="en-US" altLang="ko-KR" sz="1000" b="1" dirty="0"/>
                  <a:t>ENTRYPOINT [ </a:t>
                </a:r>
                <a:r>
                  <a:rPr lang="en-US" altLang="ko-KR" sz="1000" b="1" dirty="0">
                    <a:solidFill>
                      <a:srgbClr val="FF0000"/>
                    </a:solidFill>
                  </a:rPr>
                  <a:t>"/</a:t>
                </a:r>
                <a:r>
                  <a:rPr lang="en-US" altLang="ko-KR" sz="1000" b="1" dirty="0" err="1">
                    <a:solidFill>
                      <a:srgbClr val="FF0000"/>
                    </a:solidFill>
                  </a:rPr>
                  <a:t>usr</a:t>
                </a:r>
                <a:r>
                  <a:rPr lang="en-US" altLang="ko-KR" sz="1000" b="1" dirty="0">
                    <a:solidFill>
                      <a:srgbClr val="FF0000"/>
                    </a:solidFill>
                  </a:rPr>
                  <a:t>/bin/sleep", "1h" </a:t>
                </a:r>
                <a:r>
                  <a:rPr lang="en-US" altLang="ko-KR" sz="1000" b="1" dirty="0"/>
                  <a:t>]</a:t>
                </a:r>
                <a:endParaRPr lang="ko-KR" altLang="en-US" sz="1000" b="1" dirty="0"/>
              </a:p>
            </p:txBody>
          </p:sp>
          <p:sp>
            <p:nvSpPr>
              <p:cNvPr id="9" name="TextBox 8">
                <a:extLst>
                  <a:ext uri="{FF2B5EF4-FFF2-40B4-BE49-F238E27FC236}">
                    <a16:creationId xmlns:a16="http://schemas.microsoft.com/office/drawing/2014/main" id="{B8E2C16B-B765-B4AF-878B-CC9EBBE15CD5}"/>
                  </a:ext>
                </a:extLst>
              </p:cNvPr>
              <p:cNvSpPr txBox="1"/>
              <p:nvPr/>
            </p:nvSpPr>
            <p:spPr>
              <a:xfrm>
                <a:off x="8059120" y="2540480"/>
                <a:ext cx="1085554" cy="246221"/>
              </a:xfrm>
              <a:prstGeom prst="rect">
                <a:avLst/>
              </a:prstGeom>
              <a:noFill/>
            </p:spPr>
            <p:txBody>
              <a:bodyPr wrap="none" rtlCol="0">
                <a:spAutoFit/>
              </a:bodyPr>
              <a:lstStyle/>
              <a:p>
                <a:pPr algn="l"/>
                <a:r>
                  <a:rPr lang="en-US" altLang="ko-KR" sz="1000" b="1" dirty="0"/>
                  <a:t>curl/</a:t>
                </a:r>
                <a:r>
                  <a:rPr lang="en-US" altLang="ko-KR" sz="1000" b="1" dirty="0" err="1"/>
                  <a:t>Dockerfile</a:t>
                </a:r>
                <a:endParaRPr lang="ko-KR" altLang="en-US" sz="1000" b="1" dirty="0"/>
              </a:p>
            </p:txBody>
          </p:sp>
        </p:grpSp>
        <p:grpSp>
          <p:nvGrpSpPr>
            <p:cNvPr id="14" name="그룹 13">
              <a:extLst>
                <a:ext uri="{FF2B5EF4-FFF2-40B4-BE49-F238E27FC236}">
                  <a16:creationId xmlns:a16="http://schemas.microsoft.com/office/drawing/2014/main" id="{2C8A86BD-F9EC-FD2B-40A8-D76BC36C1642}"/>
                </a:ext>
              </a:extLst>
            </p:cNvPr>
            <p:cNvGrpSpPr/>
            <p:nvPr/>
          </p:nvGrpSpPr>
          <p:grpSpPr>
            <a:xfrm>
              <a:off x="3047326" y="4059045"/>
              <a:ext cx="6097348" cy="1477328"/>
              <a:chOff x="3047326" y="3260113"/>
              <a:chExt cx="6097348" cy="1477328"/>
            </a:xfrm>
          </p:grpSpPr>
          <p:sp>
            <p:nvSpPr>
              <p:cNvPr id="12" name="TextBox 11">
                <a:extLst>
                  <a:ext uri="{FF2B5EF4-FFF2-40B4-BE49-F238E27FC236}">
                    <a16:creationId xmlns:a16="http://schemas.microsoft.com/office/drawing/2014/main" id="{476843E9-4A30-14C1-8E37-114AD31CC3F0}"/>
                  </a:ext>
                </a:extLst>
              </p:cNvPr>
              <p:cNvSpPr txBox="1"/>
              <p:nvPr/>
            </p:nvSpPr>
            <p:spPr>
              <a:xfrm>
                <a:off x="3047326" y="3260113"/>
                <a:ext cx="6097348" cy="1477328"/>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curl</a:t>
                </a:r>
              </a:p>
              <a:p>
                <a:r>
                  <a:rPr lang="en-US" altLang="ko-KR" sz="1000" b="1" dirty="0"/>
                  <a:t>spec:</a:t>
                </a:r>
              </a:p>
              <a:p>
                <a:r>
                  <a:rPr lang="en-US" altLang="ko-KR" sz="1000" b="1" dirty="0"/>
                  <a:t>  containers:</a:t>
                </a:r>
              </a:p>
              <a:p>
                <a:r>
                  <a:rPr lang="en-US" altLang="ko-KR" sz="1000" b="1" dirty="0"/>
                  <a:t>  - name: main</a:t>
                </a:r>
              </a:p>
              <a:p>
                <a:r>
                  <a:rPr lang="en-US" altLang="ko-KR" sz="1000" b="1" dirty="0"/>
                  <a:t>    image: </a:t>
                </a:r>
                <a:r>
                  <a:rPr lang="en-US" altLang="ko-KR" sz="1000" b="1" dirty="0">
                    <a:solidFill>
                      <a:srgbClr val="FF0000"/>
                    </a:solidFill>
                  </a:rPr>
                  <a:t>knix008/</a:t>
                </a:r>
                <a:r>
                  <a:rPr lang="en-US" altLang="ko-KR" sz="1000" b="1" dirty="0" err="1">
                    <a:solidFill>
                      <a:srgbClr val="FF0000"/>
                    </a:solidFill>
                  </a:rPr>
                  <a:t>curl:latest</a:t>
                </a:r>
                <a:endParaRPr lang="en-US" altLang="ko-KR" sz="1000" b="1" dirty="0">
                  <a:solidFill>
                    <a:srgbClr val="FF0000"/>
                  </a:solidFill>
                </a:endParaRPr>
              </a:p>
              <a:p>
                <a:r>
                  <a:rPr lang="en-US" altLang="ko-KR" sz="1000" b="1" dirty="0"/>
                  <a:t>    command: ["sleep", "9999999"]</a:t>
                </a:r>
              </a:p>
            </p:txBody>
          </p:sp>
          <p:sp>
            <p:nvSpPr>
              <p:cNvPr id="13" name="TextBox 12">
                <a:extLst>
                  <a:ext uri="{FF2B5EF4-FFF2-40B4-BE49-F238E27FC236}">
                    <a16:creationId xmlns:a16="http://schemas.microsoft.com/office/drawing/2014/main" id="{F2836DE9-C908-5CE0-079E-A73CDD453F47}"/>
                  </a:ext>
                </a:extLst>
              </p:cNvPr>
              <p:cNvSpPr txBox="1"/>
              <p:nvPr/>
            </p:nvSpPr>
            <p:spPr>
              <a:xfrm>
                <a:off x="8115225" y="3260113"/>
                <a:ext cx="1029449" cy="246221"/>
              </a:xfrm>
              <a:prstGeom prst="rect">
                <a:avLst/>
              </a:prstGeom>
              <a:noFill/>
            </p:spPr>
            <p:txBody>
              <a:bodyPr wrap="none" rtlCol="0">
                <a:spAutoFit/>
              </a:bodyPr>
              <a:lstStyle/>
              <a:p>
                <a:pPr algn="l"/>
                <a:r>
                  <a:rPr lang="en-US" altLang="ko-KR" sz="1000" b="1" dirty="0"/>
                  <a:t>curl-</a:t>
                </a:r>
                <a:r>
                  <a:rPr lang="en-US" altLang="ko-KR" sz="1000" b="1" dirty="0" err="1"/>
                  <a:t>pod.yaml</a:t>
                </a:r>
                <a:endParaRPr lang="en-US" altLang="ko-KR" sz="1000" b="1" dirty="0"/>
              </a:p>
            </p:txBody>
          </p:sp>
        </p:grpSp>
        <p:sp>
          <p:nvSpPr>
            <p:cNvPr id="16" name="TextBox 15">
              <a:extLst>
                <a:ext uri="{FF2B5EF4-FFF2-40B4-BE49-F238E27FC236}">
                  <a16:creationId xmlns:a16="http://schemas.microsoft.com/office/drawing/2014/main" id="{FD57097C-007E-28AC-7AF3-A963D2CC8054}"/>
                </a:ext>
              </a:extLst>
            </p:cNvPr>
            <p:cNvSpPr txBox="1"/>
            <p:nvPr/>
          </p:nvSpPr>
          <p:spPr>
            <a:xfrm>
              <a:off x="3047326" y="3542189"/>
              <a:ext cx="6097348" cy="400110"/>
            </a:xfrm>
            <a:prstGeom prst="rect">
              <a:avLst/>
            </a:prstGeom>
            <a:noFill/>
            <a:ln>
              <a:solidFill>
                <a:schemeClr val="bg1">
                  <a:lumMod val="50000"/>
                </a:schemeClr>
              </a:solidFill>
            </a:ln>
          </p:spPr>
          <p:txBody>
            <a:bodyPr wrap="square">
              <a:spAutoFit/>
            </a:bodyPr>
            <a:lstStyle/>
            <a:p>
              <a:r>
                <a:rPr lang="en-US" altLang="ko-KR" sz="1000" b="1" dirty="0"/>
                <a:t>$ docker build -t </a:t>
              </a:r>
              <a:r>
                <a:rPr lang="en-US" altLang="ko-KR" sz="1000" b="1" dirty="0">
                  <a:solidFill>
                    <a:srgbClr val="FF0000"/>
                  </a:solidFill>
                </a:rPr>
                <a:t>knix008/curl .</a:t>
              </a:r>
            </a:p>
            <a:p>
              <a:r>
                <a:rPr lang="en-US" altLang="ko-KR" sz="1000" b="1" dirty="0"/>
                <a:t>$ docker push </a:t>
              </a:r>
              <a:r>
                <a:rPr lang="en-US" altLang="ko-KR" sz="1000" b="1" dirty="0">
                  <a:solidFill>
                    <a:srgbClr val="FF0000"/>
                  </a:solidFill>
                </a:rPr>
                <a:t>knix008/curl</a:t>
              </a:r>
              <a:endParaRPr lang="ko-KR" altLang="en-US" sz="1000" b="1" dirty="0">
                <a:solidFill>
                  <a:srgbClr val="FF0000"/>
                </a:solidFill>
              </a:endParaRPr>
            </a:p>
          </p:txBody>
        </p:sp>
      </p:grpSp>
    </p:spTree>
    <p:extLst>
      <p:ext uri="{BB962C8B-B14F-4D97-AF65-F5344CB8AC3E}">
        <p14:creationId xmlns:p14="http://schemas.microsoft.com/office/powerpoint/2010/main" val="14560733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Server(15/33)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dirty="0"/>
              <a:t>To create the pod, run “</a:t>
            </a:r>
            <a:r>
              <a:rPr lang="en-US" altLang="ko-KR" sz="1400" b="1" dirty="0"/>
              <a:t>$ </a:t>
            </a:r>
            <a:r>
              <a:rPr lang="en-US" altLang="ko-KR" sz="1400" b="1" dirty="0" err="1"/>
              <a:t>kubectl</a:t>
            </a:r>
            <a:r>
              <a:rPr lang="en-US" altLang="ko-KR" sz="1400" b="1" dirty="0"/>
              <a:t> create -f curl-</a:t>
            </a:r>
            <a:r>
              <a:rPr lang="en-US" altLang="ko-KR" sz="1400" b="1" dirty="0" err="1"/>
              <a:t>pod.yaml</a:t>
            </a:r>
            <a:r>
              <a:rPr lang="en-US" altLang="ko-KR" sz="1400" dirty="0"/>
              <a:t>” command. After creating the pod, run “</a:t>
            </a:r>
            <a:r>
              <a:rPr lang="en-US" altLang="ko-KR" sz="1400" b="1" dirty="0"/>
              <a:t>$ </a:t>
            </a:r>
            <a:r>
              <a:rPr lang="en-US" altLang="ko-KR" sz="1400" b="1" dirty="0" err="1"/>
              <a:t>kubectl</a:t>
            </a:r>
            <a:r>
              <a:rPr lang="en-US" altLang="ko-KR" sz="1400" b="1" dirty="0"/>
              <a:t> exec</a:t>
            </a:r>
            <a:r>
              <a:rPr lang="en-US" altLang="ko-KR" sz="1400" dirty="0"/>
              <a:t>” command to run a bash shell inside its container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3DB385B-311A-20BC-F430-805D65914FDD}"/>
              </a:ext>
            </a:extLst>
          </p:cNvPr>
          <p:cNvGrpSpPr/>
          <p:nvPr/>
        </p:nvGrpSpPr>
        <p:grpSpPr>
          <a:xfrm>
            <a:off x="1157498" y="2287284"/>
            <a:ext cx="9877004" cy="2283432"/>
            <a:chOff x="1157497" y="1805975"/>
            <a:chExt cx="9877004" cy="2283432"/>
          </a:xfrm>
        </p:grpSpPr>
        <p:sp>
          <p:nvSpPr>
            <p:cNvPr id="8" name="TextBox 7">
              <a:extLst>
                <a:ext uri="{FF2B5EF4-FFF2-40B4-BE49-F238E27FC236}">
                  <a16:creationId xmlns:a16="http://schemas.microsoft.com/office/drawing/2014/main" id="{D1A09C03-E8A8-5809-EFEF-17F7DC5BA1F6}"/>
                </a:ext>
              </a:extLst>
            </p:cNvPr>
            <p:cNvSpPr txBox="1"/>
            <p:nvPr/>
          </p:nvSpPr>
          <p:spPr>
            <a:xfrm>
              <a:off x="3047326" y="1805975"/>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curl-</a:t>
              </a:r>
              <a:r>
                <a:rPr lang="en-US" altLang="ko-KR" sz="1000" b="1" dirty="0" err="1">
                  <a:solidFill>
                    <a:srgbClr val="FF0000"/>
                  </a:solidFill>
                </a:rPr>
                <a:t>pod.yaml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-it curl -- bash</a:t>
              </a:r>
              <a:endParaRPr lang="ko-KR" altLang="en-US" sz="1000" b="1" dirty="0"/>
            </a:p>
          </p:txBody>
        </p:sp>
        <p:sp>
          <p:nvSpPr>
            <p:cNvPr id="9" name="화살표: 아래쪽 8">
              <a:extLst>
                <a:ext uri="{FF2B5EF4-FFF2-40B4-BE49-F238E27FC236}">
                  <a16:creationId xmlns:a16="http://schemas.microsoft.com/office/drawing/2014/main" id="{00FA99EA-4149-BAA9-7254-3F255722E73D}"/>
                </a:ext>
              </a:extLst>
            </p:cNvPr>
            <p:cNvSpPr/>
            <p:nvPr/>
          </p:nvSpPr>
          <p:spPr>
            <a:xfrm>
              <a:off x="5873468" y="2206085"/>
              <a:ext cx="445063" cy="27007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73DF691F-A0E8-528B-C2F8-7DF291A85F18}"/>
                </a:ext>
              </a:extLst>
            </p:cNvPr>
            <p:cNvPicPr>
              <a:picLocks noChangeAspect="1"/>
            </p:cNvPicPr>
            <p:nvPr/>
          </p:nvPicPr>
          <p:blipFill>
            <a:blip r:embed="rId2"/>
            <a:stretch>
              <a:fillRect/>
            </a:stretch>
          </p:blipFill>
          <p:spPr>
            <a:xfrm>
              <a:off x="1157497" y="2476163"/>
              <a:ext cx="9877004" cy="1613244"/>
            </a:xfrm>
            <a:prstGeom prst="rect">
              <a:avLst/>
            </a:prstGeom>
          </p:spPr>
        </p:pic>
      </p:grpSp>
    </p:spTree>
    <p:extLst>
      <p:ext uri="{BB962C8B-B14F-4D97-AF65-F5344CB8AC3E}">
        <p14:creationId xmlns:p14="http://schemas.microsoft.com/office/powerpoint/2010/main" val="3681009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Server(16/33)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b="1" dirty="0"/>
              <a:t>First, you need to find </a:t>
            </a:r>
            <a:r>
              <a:rPr lang="en-US" altLang="ko-KR" sz="1400" b="1" dirty="0">
                <a:solidFill>
                  <a:srgbClr val="FF0000"/>
                </a:solidFill>
              </a:rPr>
              <a:t>the IP and port of the Kubernetes API server</a:t>
            </a:r>
            <a:r>
              <a:rPr lang="en-US" altLang="ko-KR" sz="1400" dirty="0"/>
              <a:t>. This is easy, </a:t>
            </a:r>
            <a:r>
              <a:rPr lang="en-US" altLang="ko-KR" sz="1400" b="1" dirty="0"/>
              <a:t>because a Service called </a:t>
            </a:r>
            <a:r>
              <a:rPr lang="en-US" altLang="ko-KR" sz="1400" b="1" dirty="0" err="1"/>
              <a:t>kubernetes</a:t>
            </a:r>
            <a:r>
              <a:rPr lang="en-US" altLang="ko-KR" sz="1400" b="1" dirty="0"/>
              <a:t> is automatically exposed in the default namespace and configured to point to the API server</a:t>
            </a:r>
            <a:r>
              <a:rPr lang="en-US" altLang="ko-KR" sz="1400" dirty="0"/>
              <a:t>. You may remember seeing it every time you listed services with “</a:t>
            </a:r>
            <a:r>
              <a:rPr lang="en-US" altLang="ko-KR" sz="1400" b="1" dirty="0"/>
              <a:t>$ </a:t>
            </a:r>
            <a:r>
              <a:rPr lang="en-US" altLang="ko-KR" sz="1400" b="1" dirty="0" err="1"/>
              <a:t>kubectl</a:t>
            </a:r>
            <a:r>
              <a:rPr lang="en-US" altLang="ko-KR" sz="1400" b="1" dirty="0"/>
              <a:t> get svc” command. </a:t>
            </a:r>
            <a:endParaRPr lang="en-US" altLang="ko-KR" sz="1400" dirty="0"/>
          </a:p>
          <a:p>
            <a:pPr lvl="1">
              <a:buFont typeface="Wingdings" panose="05000000000000000000" pitchFamily="2" charset="2"/>
              <a:buChar char="§"/>
            </a:pPr>
            <a:r>
              <a:rPr lang="en-US" altLang="ko-KR" sz="1400" dirty="0"/>
              <a:t>And environment variables are configured for each service. You can get both the IP address and the port of the API server by looking up the “KUBERNETES_SERVICE_HOST” and “KUBERNETES_SERVICE_PORT” variables (inside the container).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44CCED72-9BC6-4424-C818-3EBD5CA75832}"/>
              </a:ext>
            </a:extLst>
          </p:cNvPr>
          <p:cNvGrpSpPr/>
          <p:nvPr/>
        </p:nvGrpSpPr>
        <p:grpSpPr>
          <a:xfrm>
            <a:off x="1371937" y="2536788"/>
            <a:ext cx="9448126" cy="3726193"/>
            <a:chOff x="1371937" y="2536788"/>
            <a:chExt cx="9448126" cy="3726193"/>
          </a:xfrm>
        </p:grpSpPr>
        <p:grpSp>
          <p:nvGrpSpPr>
            <p:cNvPr id="15" name="그룹 14">
              <a:extLst>
                <a:ext uri="{FF2B5EF4-FFF2-40B4-BE49-F238E27FC236}">
                  <a16:creationId xmlns:a16="http://schemas.microsoft.com/office/drawing/2014/main" id="{F33B09B9-D557-7639-EA77-B42978E67DC4}"/>
                </a:ext>
              </a:extLst>
            </p:cNvPr>
            <p:cNvGrpSpPr/>
            <p:nvPr/>
          </p:nvGrpSpPr>
          <p:grpSpPr>
            <a:xfrm>
              <a:off x="1371937" y="2536788"/>
              <a:ext cx="9448126" cy="3726193"/>
              <a:chOff x="1371937" y="2357401"/>
              <a:chExt cx="9448126" cy="3726193"/>
            </a:xfrm>
          </p:grpSpPr>
          <p:grpSp>
            <p:nvGrpSpPr>
              <p:cNvPr id="11" name="그룹 10">
                <a:extLst>
                  <a:ext uri="{FF2B5EF4-FFF2-40B4-BE49-F238E27FC236}">
                    <a16:creationId xmlns:a16="http://schemas.microsoft.com/office/drawing/2014/main" id="{F8110AEC-69E0-E69E-D35C-9D227A3D2A98}"/>
                  </a:ext>
                </a:extLst>
              </p:cNvPr>
              <p:cNvGrpSpPr/>
              <p:nvPr/>
            </p:nvGrpSpPr>
            <p:grpSpPr>
              <a:xfrm>
                <a:off x="1371937" y="3039178"/>
                <a:ext cx="9448126" cy="3044416"/>
                <a:chOff x="1480843" y="2999489"/>
                <a:chExt cx="9448126" cy="3044416"/>
              </a:xfrm>
            </p:grpSpPr>
            <p:pic>
              <p:nvPicPr>
                <p:cNvPr id="8" name="그림 7">
                  <a:extLst>
                    <a:ext uri="{FF2B5EF4-FFF2-40B4-BE49-F238E27FC236}">
                      <a16:creationId xmlns:a16="http://schemas.microsoft.com/office/drawing/2014/main" id="{979AEDD3-D67D-1D63-B4E4-2003760B7570}"/>
                    </a:ext>
                  </a:extLst>
                </p:cNvPr>
                <p:cNvPicPr>
                  <a:picLocks noChangeAspect="1"/>
                </p:cNvPicPr>
                <p:nvPr/>
              </p:nvPicPr>
              <p:blipFill>
                <a:blip r:embed="rId2"/>
                <a:stretch>
                  <a:fillRect/>
                </a:stretch>
              </p:blipFill>
              <p:spPr>
                <a:xfrm>
                  <a:off x="1480843" y="2999489"/>
                  <a:ext cx="9448126" cy="1495953"/>
                </a:xfrm>
                <a:prstGeom prst="rect">
                  <a:avLst/>
                </a:prstGeom>
              </p:spPr>
            </p:pic>
            <p:pic>
              <p:nvPicPr>
                <p:cNvPr id="10" name="그림 9">
                  <a:extLst>
                    <a:ext uri="{FF2B5EF4-FFF2-40B4-BE49-F238E27FC236}">
                      <a16:creationId xmlns:a16="http://schemas.microsoft.com/office/drawing/2014/main" id="{DB37BD96-C1AC-1BC4-6EC5-54CBD6003B75}"/>
                    </a:ext>
                  </a:extLst>
                </p:cNvPr>
                <p:cNvPicPr>
                  <a:picLocks noChangeAspect="1"/>
                </p:cNvPicPr>
                <p:nvPr/>
              </p:nvPicPr>
              <p:blipFill>
                <a:blip r:embed="rId3"/>
                <a:stretch>
                  <a:fillRect/>
                </a:stretch>
              </p:blipFill>
              <p:spPr>
                <a:xfrm>
                  <a:off x="1480843" y="4547951"/>
                  <a:ext cx="9448126" cy="1495954"/>
                </a:xfrm>
                <a:prstGeom prst="rect">
                  <a:avLst/>
                </a:prstGeom>
              </p:spPr>
            </p:pic>
          </p:grpSp>
          <p:sp>
            <p:nvSpPr>
              <p:cNvPr id="13" name="TextBox 12">
                <a:extLst>
                  <a:ext uri="{FF2B5EF4-FFF2-40B4-BE49-F238E27FC236}">
                    <a16:creationId xmlns:a16="http://schemas.microsoft.com/office/drawing/2014/main" id="{FF871B9B-486F-2186-873A-DBCCC1CDD4D0}"/>
                  </a:ext>
                </a:extLst>
              </p:cNvPr>
              <p:cNvSpPr txBox="1"/>
              <p:nvPr/>
            </p:nvSpPr>
            <p:spPr>
              <a:xfrm>
                <a:off x="3047326" y="2357401"/>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svc</a:t>
                </a:r>
              </a:p>
              <a:p>
                <a:r>
                  <a:rPr lang="en-US" altLang="ko-KR" sz="1000" b="1" dirty="0" err="1"/>
                  <a:t>root@curl</a:t>
                </a:r>
                <a:r>
                  <a:rPr lang="en-US" altLang="ko-KR" sz="1000" b="1" dirty="0"/>
                  <a:t>: /# env | grep KUBERNETES_SERVICE</a:t>
                </a:r>
                <a:endParaRPr lang="ko-KR" altLang="en-US" sz="1000" b="1" dirty="0"/>
              </a:p>
            </p:txBody>
          </p:sp>
          <p:sp>
            <p:nvSpPr>
              <p:cNvPr id="14" name="화살표: 아래쪽 13">
                <a:extLst>
                  <a:ext uri="{FF2B5EF4-FFF2-40B4-BE49-F238E27FC236}">
                    <a16:creationId xmlns:a16="http://schemas.microsoft.com/office/drawing/2014/main" id="{678450AE-89AF-D14C-773D-BBAD746E8305}"/>
                  </a:ext>
                </a:extLst>
              </p:cNvPr>
              <p:cNvSpPr/>
              <p:nvPr/>
            </p:nvSpPr>
            <p:spPr>
              <a:xfrm>
                <a:off x="5881561" y="2766422"/>
                <a:ext cx="428878" cy="27275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F0218745-0057-1F2E-D6B9-98EEB9C84C97}"/>
                </a:ext>
              </a:extLst>
            </p:cNvPr>
            <p:cNvSpPr/>
            <p:nvPr/>
          </p:nvSpPr>
          <p:spPr>
            <a:xfrm>
              <a:off x="1464658" y="5324559"/>
              <a:ext cx="2209126" cy="4693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3CF4B0A5-38E2-7DBC-2FC0-D1B7D49B0049}"/>
                </a:ext>
              </a:extLst>
            </p:cNvPr>
            <p:cNvSpPr/>
            <p:nvPr/>
          </p:nvSpPr>
          <p:spPr>
            <a:xfrm>
              <a:off x="1464658" y="3948913"/>
              <a:ext cx="4321147" cy="1294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98732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Server(17/33)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b="1" dirty="0"/>
              <a:t>Each service also gets a DNS entry</a:t>
            </a:r>
            <a:r>
              <a:rPr lang="en-US" altLang="ko-KR" sz="1400" dirty="0"/>
              <a:t>, so you don’t even need to look up the environment variables, but instead simply point </a:t>
            </a:r>
            <a:r>
              <a:rPr lang="en-US" altLang="ko-KR" sz="1400" b="1" dirty="0"/>
              <a:t>curl to “https://Kubernetes”</a:t>
            </a:r>
            <a:r>
              <a:rPr lang="en-US" altLang="ko-KR" sz="1400" dirty="0"/>
              <a:t>. </a:t>
            </a:r>
            <a:r>
              <a:rPr lang="en-US" altLang="ko-KR" sz="1400" b="1" dirty="0"/>
              <a:t>To be fair, if you don’t know which port the service is available at, you also either need to look up the environment variables or perform a “DNS SRV record lookup” to get the service’s actual port number</a:t>
            </a:r>
            <a:r>
              <a:rPr lang="en-US" altLang="ko-KR" sz="1400" dirty="0"/>
              <a:t>.</a:t>
            </a:r>
          </a:p>
          <a:p>
            <a:pPr lvl="1">
              <a:buFont typeface="Wingdings" panose="05000000000000000000" pitchFamily="2" charset="2"/>
              <a:buChar char="§"/>
            </a:pPr>
            <a:r>
              <a:rPr lang="en-US" altLang="ko-KR" sz="1400" dirty="0"/>
              <a:t>The environment variables shown previously say that </a:t>
            </a:r>
            <a:r>
              <a:rPr lang="en-US" altLang="ko-KR" sz="1400" b="1" dirty="0"/>
              <a:t>the API server is listening on port 443</a:t>
            </a:r>
            <a:r>
              <a:rPr lang="en-US" altLang="ko-KR" sz="1400" dirty="0"/>
              <a:t>, which is </a:t>
            </a:r>
            <a:r>
              <a:rPr lang="en-US" altLang="ko-KR" sz="1400" b="1" dirty="0"/>
              <a:t>the default port for HTTPS</a:t>
            </a:r>
            <a:r>
              <a:rPr lang="en-US" altLang="ko-KR" sz="1400" dirty="0"/>
              <a:t>, so try hitting the server through HTTPS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F8EF438F-4862-B587-6A37-83F345421403}"/>
              </a:ext>
            </a:extLst>
          </p:cNvPr>
          <p:cNvGrpSpPr/>
          <p:nvPr/>
        </p:nvGrpSpPr>
        <p:grpSpPr>
          <a:xfrm>
            <a:off x="1600368" y="2635844"/>
            <a:ext cx="8991263" cy="3408061"/>
            <a:chOff x="1600368" y="2469522"/>
            <a:chExt cx="8991263" cy="3408061"/>
          </a:xfrm>
        </p:grpSpPr>
        <p:sp>
          <p:nvSpPr>
            <p:cNvPr id="8" name="TextBox 7">
              <a:extLst>
                <a:ext uri="{FF2B5EF4-FFF2-40B4-BE49-F238E27FC236}">
                  <a16:creationId xmlns:a16="http://schemas.microsoft.com/office/drawing/2014/main" id="{1138AC16-2F57-213A-1F92-4484499F757C}"/>
                </a:ext>
              </a:extLst>
            </p:cNvPr>
            <p:cNvSpPr txBox="1"/>
            <p:nvPr/>
          </p:nvSpPr>
          <p:spPr>
            <a:xfrm>
              <a:off x="3047326" y="2469522"/>
              <a:ext cx="6097348" cy="246221"/>
            </a:xfrm>
            <a:prstGeom prst="rect">
              <a:avLst/>
            </a:prstGeom>
            <a:noFill/>
            <a:ln>
              <a:solidFill>
                <a:schemeClr val="bg1">
                  <a:lumMod val="50000"/>
                </a:schemeClr>
              </a:solidFill>
            </a:ln>
          </p:spPr>
          <p:txBody>
            <a:bodyPr wrap="square">
              <a:spAutoFit/>
            </a:bodyPr>
            <a:lstStyle/>
            <a:p>
              <a:r>
                <a:rPr lang="en-US" altLang="ko-KR" sz="1000" b="1" dirty="0" err="1"/>
                <a:t>root@curl</a:t>
              </a:r>
              <a:r>
                <a:rPr lang="en-US" altLang="ko-KR" sz="1000" b="1" dirty="0"/>
                <a:t>:/# curl </a:t>
              </a:r>
              <a:r>
                <a:rPr lang="en-US" altLang="ko-KR" sz="1000" b="1" dirty="0">
                  <a:solidFill>
                    <a:srgbClr val="FF0000"/>
                  </a:solidFill>
                </a:rPr>
                <a:t>https://kubernetes</a:t>
              </a:r>
            </a:p>
          </p:txBody>
        </p:sp>
        <p:sp>
          <p:nvSpPr>
            <p:cNvPr id="11" name="화살표: 아래쪽 10">
              <a:extLst>
                <a:ext uri="{FF2B5EF4-FFF2-40B4-BE49-F238E27FC236}">
                  <a16:creationId xmlns:a16="http://schemas.microsoft.com/office/drawing/2014/main" id="{E50D83B3-B911-7EE5-E715-52EE010046B4}"/>
                </a:ext>
              </a:extLst>
            </p:cNvPr>
            <p:cNvSpPr/>
            <p:nvPr/>
          </p:nvSpPr>
          <p:spPr>
            <a:xfrm>
              <a:off x="5897745" y="2731204"/>
              <a:ext cx="39651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그룹 12">
              <a:extLst>
                <a:ext uri="{FF2B5EF4-FFF2-40B4-BE49-F238E27FC236}">
                  <a16:creationId xmlns:a16="http://schemas.microsoft.com/office/drawing/2014/main" id="{5EAA208E-B769-BA40-1FD0-69FE1F7DDD69}"/>
                </a:ext>
              </a:extLst>
            </p:cNvPr>
            <p:cNvGrpSpPr/>
            <p:nvPr/>
          </p:nvGrpSpPr>
          <p:grpSpPr>
            <a:xfrm>
              <a:off x="1600368" y="2992886"/>
              <a:ext cx="8991263" cy="2884697"/>
              <a:chOff x="1600368" y="2992886"/>
              <a:chExt cx="8991263" cy="2884697"/>
            </a:xfrm>
          </p:grpSpPr>
          <p:pic>
            <p:nvPicPr>
              <p:cNvPr id="10" name="그림 9">
                <a:extLst>
                  <a:ext uri="{FF2B5EF4-FFF2-40B4-BE49-F238E27FC236}">
                    <a16:creationId xmlns:a16="http://schemas.microsoft.com/office/drawing/2014/main" id="{D95A4C0A-07F4-9A3C-1F6D-3BBDF5E125C3}"/>
                  </a:ext>
                </a:extLst>
              </p:cNvPr>
              <p:cNvPicPr>
                <a:picLocks noChangeAspect="1"/>
              </p:cNvPicPr>
              <p:nvPr/>
            </p:nvPicPr>
            <p:blipFill>
              <a:blip r:embed="rId2"/>
              <a:stretch>
                <a:fillRect/>
              </a:stretch>
            </p:blipFill>
            <p:spPr>
              <a:xfrm>
                <a:off x="1600368" y="2992886"/>
                <a:ext cx="8991263" cy="2884697"/>
              </a:xfrm>
              <a:prstGeom prst="rect">
                <a:avLst/>
              </a:prstGeom>
            </p:spPr>
          </p:pic>
          <p:sp>
            <p:nvSpPr>
              <p:cNvPr id="12" name="직사각형 11">
                <a:extLst>
                  <a:ext uri="{FF2B5EF4-FFF2-40B4-BE49-F238E27FC236}">
                    <a16:creationId xmlns:a16="http://schemas.microsoft.com/office/drawing/2014/main" id="{64C208AA-B3C3-FF17-6DDD-E0CFCE837FC4}"/>
                  </a:ext>
                </a:extLst>
              </p:cNvPr>
              <p:cNvSpPr/>
              <p:nvPr/>
            </p:nvSpPr>
            <p:spPr>
              <a:xfrm>
                <a:off x="1699327" y="4297368"/>
                <a:ext cx="2427611" cy="1613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4086983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Server(18/33)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Although the simplest way to get around this is to use the proposed “-k” option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(and this is what you’d normally use when playing with the API server manually), let’s look at the longer (and correct) route.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Instead of blindly trusting that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the server you’re connecting to is the authentic API server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you’ll verify its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identity</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by having “curl” check its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certificate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NOTICE :  Never skip checking the server’s certificate in an actual application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Doing so could make your app expose its authentication token to an attacker using a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man-in-the-middle attack</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2E0E498-B4DF-B715-B3B8-2448F5E0711D}"/>
              </a:ext>
            </a:extLst>
          </p:cNvPr>
          <p:cNvPicPr>
            <a:picLocks noChangeAspect="1"/>
          </p:cNvPicPr>
          <p:nvPr/>
        </p:nvPicPr>
        <p:blipFill>
          <a:blip r:embed="rId2"/>
          <a:stretch>
            <a:fillRect/>
          </a:stretch>
        </p:blipFill>
        <p:spPr>
          <a:xfrm>
            <a:off x="2242843" y="2446554"/>
            <a:ext cx="7706314" cy="3773944"/>
          </a:xfrm>
          <a:prstGeom prst="rect">
            <a:avLst/>
          </a:prstGeom>
        </p:spPr>
      </p:pic>
    </p:spTree>
    <p:extLst>
      <p:ext uri="{BB962C8B-B14F-4D97-AF65-F5344CB8AC3E}">
        <p14:creationId xmlns:p14="http://schemas.microsoft.com/office/powerpoint/2010/main" val="2072911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Server(19/33)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dirty="0"/>
              <a:t>When we are discussing Secrets, we looked at </a:t>
            </a:r>
            <a:r>
              <a:rPr lang="en-US" altLang="ko-KR" sz="1400" b="1" dirty="0"/>
              <a:t>an automatically created Secret</a:t>
            </a:r>
            <a:r>
              <a:rPr lang="en-US" altLang="ko-KR" sz="1400" dirty="0"/>
              <a:t>, </a:t>
            </a:r>
            <a:r>
              <a:rPr lang="en-US" altLang="ko-KR" sz="1400" b="1" dirty="0"/>
              <a:t>which is mounted into each container at “/var/run/secrets/kubernetes.io/</a:t>
            </a:r>
            <a:r>
              <a:rPr lang="en-US" altLang="ko-KR" sz="1400" b="1" dirty="0" err="1"/>
              <a:t>serviceaccount</a:t>
            </a:r>
            <a:r>
              <a:rPr lang="en-US" altLang="ko-KR" sz="1400" b="1" dirty="0"/>
              <a:t>/”</a:t>
            </a:r>
            <a:r>
              <a:rPr lang="en-US" altLang="ko-KR" sz="1400" dirty="0"/>
              <a:t>. Let’s see the contents of that Secret again, by listing files in that directory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Secret has three entries (and therefore three files in the Secret volume). Right now, we’ll focus on </a:t>
            </a:r>
            <a:r>
              <a:rPr lang="en-US" altLang="ko-KR" sz="1400" b="1" dirty="0"/>
              <a:t>the “ca.crt” file, which holds the certificate of the certificate authority (CA) used to sign the Kubernetes API server’s certificate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B0030A57-2807-741D-1288-32EBA7CC1224}"/>
              </a:ext>
            </a:extLst>
          </p:cNvPr>
          <p:cNvGrpSpPr/>
          <p:nvPr/>
        </p:nvGrpSpPr>
        <p:grpSpPr>
          <a:xfrm>
            <a:off x="1381715" y="2104446"/>
            <a:ext cx="9428570" cy="2009462"/>
            <a:chOff x="1381715" y="1861685"/>
            <a:chExt cx="9428570" cy="2009462"/>
          </a:xfrm>
        </p:grpSpPr>
        <p:grpSp>
          <p:nvGrpSpPr>
            <p:cNvPr id="14" name="그룹 13">
              <a:extLst>
                <a:ext uri="{FF2B5EF4-FFF2-40B4-BE49-F238E27FC236}">
                  <a16:creationId xmlns:a16="http://schemas.microsoft.com/office/drawing/2014/main" id="{5AE50244-8410-A4A4-3F13-CD6412A7B1FC}"/>
                </a:ext>
              </a:extLst>
            </p:cNvPr>
            <p:cNvGrpSpPr/>
            <p:nvPr/>
          </p:nvGrpSpPr>
          <p:grpSpPr>
            <a:xfrm>
              <a:off x="1381715" y="1861685"/>
              <a:ext cx="9428570" cy="2009462"/>
              <a:chOff x="1381715" y="1861685"/>
              <a:chExt cx="9428570" cy="2009462"/>
            </a:xfrm>
          </p:grpSpPr>
          <p:pic>
            <p:nvPicPr>
              <p:cNvPr id="10" name="그림 9">
                <a:extLst>
                  <a:ext uri="{FF2B5EF4-FFF2-40B4-BE49-F238E27FC236}">
                    <a16:creationId xmlns:a16="http://schemas.microsoft.com/office/drawing/2014/main" id="{B5D385A2-3C25-D477-B411-F2EA81D17809}"/>
                  </a:ext>
                </a:extLst>
              </p:cNvPr>
              <p:cNvPicPr>
                <a:picLocks noChangeAspect="1"/>
              </p:cNvPicPr>
              <p:nvPr/>
            </p:nvPicPr>
            <p:blipFill>
              <a:blip r:embed="rId2"/>
              <a:stretch>
                <a:fillRect/>
              </a:stretch>
            </p:blipFill>
            <p:spPr>
              <a:xfrm>
                <a:off x="1381715" y="2378290"/>
                <a:ext cx="9428570" cy="1492857"/>
              </a:xfrm>
              <a:prstGeom prst="rect">
                <a:avLst/>
              </a:prstGeom>
            </p:spPr>
          </p:pic>
          <p:sp>
            <p:nvSpPr>
              <p:cNvPr id="12" name="TextBox 11">
                <a:extLst>
                  <a:ext uri="{FF2B5EF4-FFF2-40B4-BE49-F238E27FC236}">
                    <a16:creationId xmlns:a16="http://schemas.microsoft.com/office/drawing/2014/main" id="{D83904CF-A863-947A-DA29-9F200CC6B277}"/>
                  </a:ext>
                </a:extLst>
              </p:cNvPr>
              <p:cNvSpPr txBox="1"/>
              <p:nvPr/>
            </p:nvSpPr>
            <p:spPr>
              <a:xfrm>
                <a:off x="3047326" y="1861685"/>
                <a:ext cx="6097348" cy="246221"/>
              </a:xfrm>
              <a:prstGeom prst="rect">
                <a:avLst/>
              </a:prstGeom>
              <a:noFill/>
              <a:ln>
                <a:solidFill>
                  <a:schemeClr val="bg1">
                    <a:lumMod val="50000"/>
                  </a:schemeClr>
                </a:solidFill>
              </a:ln>
            </p:spPr>
            <p:txBody>
              <a:bodyPr wrap="square">
                <a:spAutoFit/>
              </a:bodyPr>
              <a:lstStyle/>
              <a:p>
                <a:r>
                  <a:rPr lang="en-US" altLang="ko-KR" sz="1000" b="1" dirty="0" err="1"/>
                  <a:t>root@curl</a:t>
                </a:r>
                <a:r>
                  <a:rPr lang="en-US" altLang="ko-KR" sz="1000" b="1" dirty="0"/>
                  <a:t>:/# </a:t>
                </a:r>
                <a:r>
                  <a:rPr lang="en-US" altLang="ko-KR" sz="1000" b="1" dirty="0">
                    <a:solidFill>
                      <a:srgbClr val="FF0000"/>
                    </a:solidFill>
                  </a:rPr>
                  <a:t>ls /var/run/secrets/kubernetes.io/</a:t>
                </a:r>
                <a:r>
                  <a:rPr lang="en-US" altLang="ko-KR" sz="1000" b="1" dirty="0" err="1">
                    <a:solidFill>
                      <a:srgbClr val="FF0000"/>
                    </a:solidFill>
                  </a:rPr>
                  <a:t>serviceaccount</a:t>
                </a:r>
                <a:r>
                  <a:rPr lang="en-US" altLang="ko-KR" sz="1000" b="1" dirty="0">
                    <a:solidFill>
                      <a:srgbClr val="FF0000"/>
                    </a:solidFill>
                  </a:rPr>
                  <a:t>/</a:t>
                </a:r>
              </a:p>
            </p:txBody>
          </p:sp>
          <p:sp>
            <p:nvSpPr>
              <p:cNvPr id="13" name="화살표: 아래쪽 12">
                <a:extLst>
                  <a:ext uri="{FF2B5EF4-FFF2-40B4-BE49-F238E27FC236}">
                    <a16:creationId xmlns:a16="http://schemas.microsoft.com/office/drawing/2014/main" id="{6C366E24-7F84-011B-8B11-9B19CC12F1C2}"/>
                  </a:ext>
                </a:extLst>
              </p:cNvPr>
              <p:cNvSpPr/>
              <p:nvPr/>
            </p:nvSpPr>
            <p:spPr>
              <a:xfrm>
                <a:off x="5897745" y="2131855"/>
                <a:ext cx="39651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E0298BAA-A01D-A7A8-4BE2-697CB06BEAF0}"/>
                </a:ext>
              </a:extLst>
            </p:cNvPr>
            <p:cNvSpPr/>
            <p:nvPr/>
          </p:nvSpPr>
          <p:spPr>
            <a:xfrm>
              <a:off x="1497027" y="2953593"/>
              <a:ext cx="1618407"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22786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Server(20/33)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verify you’re talking to the API server, you need to check if the server’s certificate is signed by the CA</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“curl” allows you to specify the CA certificate with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cacert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option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so try hitting the API server again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334B8F1A-5F20-36DD-4A28-131EF1CDCC28}"/>
              </a:ext>
            </a:extLst>
          </p:cNvPr>
          <p:cNvGrpSpPr/>
          <p:nvPr/>
        </p:nvGrpSpPr>
        <p:grpSpPr>
          <a:xfrm>
            <a:off x="1019933" y="2078348"/>
            <a:ext cx="10152133" cy="2701303"/>
            <a:chOff x="1019933" y="1779830"/>
            <a:chExt cx="10152133" cy="2701303"/>
          </a:xfrm>
        </p:grpSpPr>
        <p:grpSp>
          <p:nvGrpSpPr>
            <p:cNvPr id="12" name="그룹 11">
              <a:extLst>
                <a:ext uri="{FF2B5EF4-FFF2-40B4-BE49-F238E27FC236}">
                  <a16:creationId xmlns:a16="http://schemas.microsoft.com/office/drawing/2014/main" id="{C89F39DA-BC16-5693-2846-6914914E9E4A}"/>
                </a:ext>
              </a:extLst>
            </p:cNvPr>
            <p:cNvGrpSpPr/>
            <p:nvPr/>
          </p:nvGrpSpPr>
          <p:grpSpPr>
            <a:xfrm>
              <a:off x="1019933" y="1779830"/>
              <a:ext cx="10152133" cy="2701303"/>
              <a:chOff x="1019932" y="1739369"/>
              <a:chExt cx="10152133" cy="2701303"/>
            </a:xfrm>
          </p:grpSpPr>
          <p:sp>
            <p:nvSpPr>
              <p:cNvPr id="8" name="TextBox 7">
                <a:extLst>
                  <a:ext uri="{FF2B5EF4-FFF2-40B4-BE49-F238E27FC236}">
                    <a16:creationId xmlns:a16="http://schemas.microsoft.com/office/drawing/2014/main" id="{E28BE4B0-E499-A460-57F8-B9EEB50BBCBF}"/>
                  </a:ext>
                </a:extLst>
              </p:cNvPr>
              <p:cNvSpPr txBox="1"/>
              <p:nvPr/>
            </p:nvSpPr>
            <p:spPr>
              <a:xfrm>
                <a:off x="3020015" y="1739369"/>
                <a:ext cx="6151969" cy="246221"/>
              </a:xfrm>
              <a:prstGeom prst="rect">
                <a:avLst/>
              </a:prstGeom>
              <a:noFill/>
              <a:ln>
                <a:solidFill>
                  <a:schemeClr val="bg1">
                    <a:lumMod val="50000"/>
                  </a:schemeClr>
                </a:solidFill>
              </a:ln>
            </p:spPr>
            <p:txBody>
              <a:bodyPr wrap="square">
                <a:spAutoFit/>
              </a:bodyPr>
              <a:lstStyle/>
              <a:p>
                <a:r>
                  <a:rPr lang="en-US" altLang="ko-KR" sz="1000" b="1" dirty="0" err="1"/>
                  <a:t>root@curl</a:t>
                </a:r>
                <a:r>
                  <a:rPr lang="en-US" altLang="ko-KR" sz="1000" b="1" dirty="0"/>
                  <a:t>:/# curl </a:t>
                </a:r>
                <a:r>
                  <a:rPr lang="en-US" altLang="ko-KR" sz="1000" b="1" dirty="0">
                    <a:solidFill>
                      <a:srgbClr val="FF0000"/>
                    </a:solidFill>
                  </a:rPr>
                  <a:t>--</a:t>
                </a:r>
                <a:r>
                  <a:rPr lang="en-US" altLang="ko-KR" sz="1000" b="1" dirty="0" err="1">
                    <a:solidFill>
                      <a:srgbClr val="FF0000"/>
                    </a:solidFill>
                  </a:rPr>
                  <a:t>cacert</a:t>
                </a:r>
                <a:r>
                  <a:rPr lang="en-US" altLang="ko-KR" sz="1000" b="1" dirty="0">
                    <a:solidFill>
                      <a:srgbClr val="FF0000"/>
                    </a:solidFill>
                  </a:rPr>
                  <a:t> /var/run/secrets/kubernetes.io/</a:t>
                </a:r>
                <a:r>
                  <a:rPr lang="en-US" altLang="ko-KR" sz="1000" b="1" dirty="0" err="1">
                    <a:solidFill>
                      <a:srgbClr val="FF0000"/>
                    </a:solidFill>
                  </a:rPr>
                  <a:t>serviceaccount</a:t>
                </a:r>
                <a:r>
                  <a:rPr lang="en-US" altLang="ko-KR" sz="1000" b="1" dirty="0">
                    <a:solidFill>
                      <a:srgbClr val="FF0000"/>
                    </a:solidFill>
                  </a:rPr>
                  <a:t>/ca.crt https://kubernetes</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B2945C7D-68A4-39A4-5053-027268D5EA1B}"/>
                  </a:ext>
                </a:extLst>
              </p:cNvPr>
              <p:cNvPicPr>
                <a:picLocks noChangeAspect="1"/>
              </p:cNvPicPr>
              <p:nvPr/>
            </p:nvPicPr>
            <p:blipFill>
              <a:blip r:embed="rId2"/>
              <a:stretch>
                <a:fillRect/>
              </a:stretch>
            </p:blipFill>
            <p:spPr>
              <a:xfrm>
                <a:off x="1019932" y="2241043"/>
                <a:ext cx="10152133" cy="2199629"/>
              </a:xfrm>
              <a:prstGeom prst="rect">
                <a:avLst/>
              </a:prstGeom>
            </p:spPr>
          </p:pic>
          <p:sp>
            <p:nvSpPr>
              <p:cNvPr id="11" name="화살표: 아래쪽 10">
                <a:extLst>
                  <a:ext uri="{FF2B5EF4-FFF2-40B4-BE49-F238E27FC236}">
                    <a16:creationId xmlns:a16="http://schemas.microsoft.com/office/drawing/2014/main" id="{B3CD5EE0-DF94-D18E-C6A0-0DCD8265BE46}"/>
                  </a:ext>
                </a:extLst>
              </p:cNvPr>
              <p:cNvSpPr/>
              <p:nvPr/>
            </p:nvSpPr>
            <p:spPr>
              <a:xfrm>
                <a:off x="5877513" y="1985590"/>
                <a:ext cx="43697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A8C3A41D-06FE-79F9-9290-C4CA15BB2016}"/>
                </a:ext>
              </a:extLst>
            </p:cNvPr>
            <p:cNvSpPr/>
            <p:nvPr/>
          </p:nvSpPr>
          <p:spPr>
            <a:xfrm>
              <a:off x="2006825" y="2751292"/>
              <a:ext cx="5891002" cy="1780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92868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Server(21/33)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b="1" dirty="0"/>
              <a:t>The “curl” verified the server’s identity because its certificate was signed by the CA you trust. As the Unauthorized response suggests, you still need to take care of authentication</a:t>
            </a:r>
            <a:r>
              <a:rPr lang="en-US" altLang="ko-KR" sz="1400" dirty="0"/>
              <a:t>. You’ll do that in a moment, but first let’s see how to make life easier by setting the </a:t>
            </a:r>
            <a:r>
              <a:rPr lang="en-US" altLang="ko-KR" sz="1400" b="1" dirty="0"/>
              <a:t>“</a:t>
            </a:r>
            <a:r>
              <a:rPr lang="en-US" altLang="ko-KR" sz="1400" b="1" dirty="0">
                <a:solidFill>
                  <a:srgbClr val="FF0000"/>
                </a:solidFill>
              </a:rPr>
              <a:t>CURL_CA_BUNDLE</a:t>
            </a:r>
            <a:r>
              <a:rPr lang="en-US" altLang="ko-KR" sz="1400" b="1" dirty="0"/>
              <a:t>” environment variable</a:t>
            </a:r>
            <a:r>
              <a:rPr lang="en-US" altLang="ko-KR" sz="1400" dirty="0"/>
              <a:t>, so you don’t need to specify “</a:t>
            </a:r>
            <a:r>
              <a:rPr lang="en-US" altLang="ko-KR" sz="1400" b="1" dirty="0"/>
              <a:t>--</a:t>
            </a:r>
            <a:r>
              <a:rPr lang="en-US" altLang="ko-KR" sz="1400" b="1" dirty="0" err="1"/>
              <a:t>cacert</a:t>
            </a:r>
            <a:r>
              <a:rPr lang="en-US" altLang="ko-KR" sz="1400" dirty="0"/>
              <a:t>” every time you run “</a:t>
            </a:r>
            <a:r>
              <a:rPr lang="en-US" altLang="ko-KR" sz="1400" b="1" dirty="0"/>
              <a:t>curl</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is much nicer now. Your client (“</a:t>
            </a:r>
            <a:r>
              <a:rPr lang="en-US" altLang="ko-KR" sz="1400" b="1" dirty="0"/>
              <a:t>curl</a:t>
            </a:r>
            <a:r>
              <a:rPr lang="en-US" altLang="ko-KR" sz="1400" dirty="0"/>
              <a:t>”) trusts the API server now, but </a:t>
            </a:r>
            <a:r>
              <a:rPr lang="en-US" altLang="ko-KR" sz="1400" b="1" dirty="0"/>
              <a:t>the API server itself says you’re not authorized to access it, because it doesn’t know who you are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1AC104EB-4AE6-57C7-85FA-34CD823708B1}"/>
              </a:ext>
            </a:extLst>
          </p:cNvPr>
          <p:cNvGrpSpPr/>
          <p:nvPr/>
        </p:nvGrpSpPr>
        <p:grpSpPr>
          <a:xfrm>
            <a:off x="1385194" y="2235021"/>
            <a:ext cx="9421611" cy="2886821"/>
            <a:chOff x="1385194" y="2016952"/>
            <a:chExt cx="9421611" cy="2886821"/>
          </a:xfrm>
        </p:grpSpPr>
        <p:grpSp>
          <p:nvGrpSpPr>
            <p:cNvPr id="12" name="그룹 11">
              <a:extLst>
                <a:ext uri="{FF2B5EF4-FFF2-40B4-BE49-F238E27FC236}">
                  <a16:creationId xmlns:a16="http://schemas.microsoft.com/office/drawing/2014/main" id="{EE5D7B13-EFC1-A6D0-907E-C917733C385E}"/>
                </a:ext>
              </a:extLst>
            </p:cNvPr>
            <p:cNvGrpSpPr/>
            <p:nvPr/>
          </p:nvGrpSpPr>
          <p:grpSpPr>
            <a:xfrm>
              <a:off x="1385194" y="2016952"/>
              <a:ext cx="9421611" cy="2886821"/>
              <a:chOff x="1385194" y="2016952"/>
              <a:chExt cx="9421611" cy="2886821"/>
            </a:xfrm>
          </p:grpSpPr>
          <p:pic>
            <p:nvPicPr>
              <p:cNvPr id="8" name="그림 7">
                <a:extLst>
                  <a:ext uri="{FF2B5EF4-FFF2-40B4-BE49-F238E27FC236}">
                    <a16:creationId xmlns:a16="http://schemas.microsoft.com/office/drawing/2014/main" id="{281E56E3-2CE0-7F47-E35B-D17EB4315B73}"/>
                  </a:ext>
                </a:extLst>
              </p:cNvPr>
              <p:cNvPicPr>
                <a:picLocks noChangeAspect="1"/>
              </p:cNvPicPr>
              <p:nvPr/>
            </p:nvPicPr>
            <p:blipFill>
              <a:blip r:embed="rId2"/>
              <a:stretch>
                <a:fillRect/>
              </a:stretch>
            </p:blipFill>
            <p:spPr>
              <a:xfrm>
                <a:off x="1385194" y="2705397"/>
                <a:ext cx="9421611" cy="2198376"/>
              </a:xfrm>
              <a:prstGeom prst="rect">
                <a:avLst/>
              </a:prstGeom>
            </p:spPr>
          </p:pic>
          <p:sp>
            <p:nvSpPr>
              <p:cNvPr id="10" name="TextBox 9">
                <a:extLst>
                  <a:ext uri="{FF2B5EF4-FFF2-40B4-BE49-F238E27FC236}">
                    <a16:creationId xmlns:a16="http://schemas.microsoft.com/office/drawing/2014/main" id="{A955642C-B57E-E86A-A849-866B6DBA9472}"/>
                  </a:ext>
                </a:extLst>
              </p:cNvPr>
              <p:cNvSpPr txBox="1"/>
              <p:nvPr/>
            </p:nvSpPr>
            <p:spPr>
              <a:xfrm>
                <a:off x="3047326" y="2016952"/>
                <a:ext cx="6097348" cy="400110"/>
              </a:xfrm>
              <a:prstGeom prst="rect">
                <a:avLst/>
              </a:prstGeom>
              <a:noFill/>
              <a:ln>
                <a:solidFill>
                  <a:schemeClr val="bg1">
                    <a:lumMod val="50000"/>
                  </a:schemeClr>
                </a:solidFill>
              </a:ln>
            </p:spPr>
            <p:txBody>
              <a:bodyPr wrap="square">
                <a:spAutoFit/>
              </a:bodyPr>
              <a:lstStyle/>
              <a:p>
                <a:r>
                  <a:rPr lang="en-US" altLang="ko-KR" sz="1000" b="1" dirty="0" err="1"/>
                  <a:t>root@curl</a:t>
                </a:r>
                <a:r>
                  <a:rPr lang="en-US" altLang="ko-KR" sz="1000" b="1" dirty="0"/>
                  <a:t>:/# export </a:t>
                </a:r>
                <a:r>
                  <a:rPr lang="en-US" altLang="ko-KR" sz="1000" b="1" dirty="0">
                    <a:solidFill>
                      <a:srgbClr val="FF0000"/>
                    </a:solidFill>
                  </a:rPr>
                  <a:t>CURL_CA_BUNDLE</a:t>
                </a:r>
                <a:r>
                  <a:rPr lang="en-US" altLang="ko-KR" sz="1000" b="1" dirty="0"/>
                  <a:t>=/var/run/secrets/kubernetes.io/</a:t>
                </a:r>
                <a:r>
                  <a:rPr lang="en-US" altLang="ko-KR" sz="1000" b="1" dirty="0" err="1"/>
                  <a:t>serviceaccount</a:t>
                </a:r>
                <a:r>
                  <a:rPr lang="en-US" altLang="ko-KR" sz="1000" b="1" dirty="0"/>
                  <a:t>/ca.crt</a:t>
                </a:r>
              </a:p>
              <a:p>
                <a:r>
                  <a:rPr lang="en-US" altLang="ko-KR" sz="1000" b="1" dirty="0" err="1"/>
                  <a:t>root@curl</a:t>
                </a:r>
                <a:r>
                  <a:rPr lang="en-US" altLang="ko-KR" sz="1000" b="1" dirty="0"/>
                  <a:t>:/# curl </a:t>
                </a:r>
                <a:r>
                  <a:rPr lang="en-US" altLang="ko-KR" sz="1000" b="1" dirty="0">
                    <a:solidFill>
                      <a:srgbClr val="FF0000"/>
                    </a:solidFill>
                  </a:rPr>
                  <a:t>https://kubernetes</a:t>
                </a:r>
              </a:p>
            </p:txBody>
          </p:sp>
          <p:sp>
            <p:nvSpPr>
              <p:cNvPr id="11" name="화살표: 아래쪽 10">
                <a:extLst>
                  <a:ext uri="{FF2B5EF4-FFF2-40B4-BE49-F238E27FC236}">
                    <a16:creationId xmlns:a16="http://schemas.microsoft.com/office/drawing/2014/main" id="{6867462C-B02E-858D-EE18-5C7F43AE839B}"/>
                  </a:ext>
                </a:extLst>
              </p:cNvPr>
              <p:cNvSpPr/>
              <p:nvPr/>
            </p:nvSpPr>
            <p:spPr>
              <a:xfrm>
                <a:off x="5869422" y="2417062"/>
                <a:ext cx="453154" cy="28833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0EDC8F0C-0117-FFA7-3E0F-A852A61832FF}"/>
                </a:ext>
              </a:extLst>
            </p:cNvPr>
            <p:cNvSpPr/>
            <p:nvPr/>
          </p:nvSpPr>
          <p:spPr>
            <a:xfrm>
              <a:off x="2306230" y="3147802"/>
              <a:ext cx="4717657" cy="2811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518971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Disabling Role-Based Access Control(RBAC)</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Role Binding :</a:t>
            </a:r>
          </a:p>
          <a:p>
            <a:pPr lvl="1">
              <a:buFont typeface="Wingdings" panose="05000000000000000000" pitchFamily="2" charset="2"/>
              <a:buChar char="§"/>
            </a:pPr>
            <a:r>
              <a:rPr lang="en-US" altLang="ko-KR" sz="1400" dirty="0"/>
              <a:t>If you’re using a Kubernetes cluster with </a:t>
            </a:r>
            <a:r>
              <a:rPr lang="en-US" altLang="ko-KR" sz="1400" b="1" dirty="0"/>
              <a:t>RBAC enabled</a:t>
            </a:r>
            <a:r>
              <a:rPr lang="en-US" altLang="ko-KR" sz="1400" dirty="0"/>
              <a:t>, the service account may not be authorized to access (parts of) the API server. For now, </a:t>
            </a:r>
            <a:r>
              <a:rPr lang="en-US" altLang="ko-KR" sz="1400" b="1" dirty="0"/>
              <a:t>the simplest way to allow you to query the API server is to work around RBAC </a:t>
            </a:r>
            <a:r>
              <a:rPr lang="en-US" altLang="ko-KR" sz="1400" dirty="0"/>
              <a:t>by running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gives all service accounts (we could also say all pods) </a:t>
            </a:r>
            <a:r>
              <a:rPr lang="en-US" altLang="ko-KR" sz="1400" b="1" dirty="0"/>
              <a:t>cluster-admin privileges</a:t>
            </a:r>
            <a:r>
              <a:rPr lang="en-US" altLang="ko-KR" sz="1400" dirty="0"/>
              <a:t>, allowing them to do whatever they want. </a:t>
            </a:r>
          </a:p>
          <a:p>
            <a:pPr lvl="1">
              <a:buFont typeface="Wingdings" panose="05000000000000000000" pitchFamily="2" charset="2"/>
              <a:buChar char="§"/>
            </a:pPr>
            <a:r>
              <a:rPr lang="en-US" altLang="ko-KR" sz="1400" b="1" dirty="0"/>
              <a:t>NOTICE</a:t>
            </a:r>
            <a:r>
              <a:rPr lang="ko-KR" altLang="en-US" sz="1400" b="1" dirty="0"/>
              <a:t> </a:t>
            </a:r>
            <a:r>
              <a:rPr lang="en-US" altLang="ko-KR" sz="1400" b="1" dirty="0"/>
              <a:t>:</a:t>
            </a:r>
            <a:r>
              <a:rPr lang="ko-KR" altLang="en-US" sz="1400" b="1" dirty="0"/>
              <a:t> </a:t>
            </a:r>
            <a:r>
              <a:rPr lang="en-US" altLang="ko-KR" sz="1400" b="1" dirty="0"/>
              <a:t>Obviously, doing this is dangerous and should never be done on production clusters. For test purposes, it’s fine.</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8BABDFAD-DD7F-1A52-F2C8-C39DF16A7CE2}"/>
              </a:ext>
            </a:extLst>
          </p:cNvPr>
          <p:cNvGrpSpPr/>
          <p:nvPr/>
        </p:nvGrpSpPr>
        <p:grpSpPr>
          <a:xfrm>
            <a:off x="1537656" y="1860749"/>
            <a:ext cx="9116688" cy="3368103"/>
            <a:chOff x="1537656" y="1885025"/>
            <a:chExt cx="9116688" cy="3368103"/>
          </a:xfrm>
        </p:grpSpPr>
        <p:sp>
          <p:nvSpPr>
            <p:cNvPr id="8" name="TextBox 7">
              <a:extLst>
                <a:ext uri="{FF2B5EF4-FFF2-40B4-BE49-F238E27FC236}">
                  <a16:creationId xmlns:a16="http://schemas.microsoft.com/office/drawing/2014/main" id="{0C1AA8F4-1A55-F8CB-5E26-83C4EBAF24A0}"/>
                </a:ext>
              </a:extLst>
            </p:cNvPr>
            <p:cNvSpPr txBox="1"/>
            <p:nvPr/>
          </p:nvSpPr>
          <p:spPr>
            <a:xfrm>
              <a:off x="2429295" y="1885025"/>
              <a:ext cx="7333409"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clusterrolebinding</a:t>
              </a:r>
              <a:r>
                <a:rPr lang="en-US" altLang="ko-KR" sz="1000" b="1" dirty="0"/>
                <a:t> </a:t>
              </a:r>
              <a:r>
                <a:rPr lang="en-US" altLang="ko-KR" sz="1000" b="1" dirty="0">
                  <a:solidFill>
                    <a:srgbClr val="FF0000"/>
                  </a:solidFill>
                </a:rPr>
                <a:t>permissive-binding</a:t>
              </a:r>
              <a:r>
                <a:rPr lang="en-US" altLang="ko-KR" sz="1000" b="1" dirty="0"/>
                <a:t> </a:t>
              </a:r>
              <a:r>
                <a:rPr lang="en-US" altLang="ko-KR" sz="1000" b="1" dirty="0">
                  <a:solidFill>
                    <a:srgbClr val="FF0000"/>
                  </a:solidFill>
                </a:rPr>
                <a:t>--</a:t>
              </a:r>
              <a:r>
                <a:rPr lang="en-US" altLang="ko-KR" sz="1000" b="1" dirty="0" err="1">
                  <a:solidFill>
                    <a:srgbClr val="FF0000"/>
                  </a:solidFill>
                </a:rPr>
                <a:t>clusterrole</a:t>
              </a:r>
              <a:r>
                <a:rPr lang="en-US" altLang="ko-KR" sz="1000" b="1" dirty="0">
                  <a:solidFill>
                    <a:srgbClr val="FF0000"/>
                  </a:solidFill>
                </a:rPr>
                <a:t>=cluster-admin --group=</a:t>
              </a:r>
              <a:r>
                <a:rPr lang="en-US" altLang="ko-KR" sz="1000" b="1" dirty="0" err="1">
                  <a:solidFill>
                    <a:srgbClr val="FF0000"/>
                  </a:solidFill>
                </a:rPr>
                <a:t>system:serviceaccounts</a:t>
              </a:r>
              <a:endParaRPr lang="en-US" altLang="ko-KR" sz="1000" b="1" dirty="0">
                <a:solidFill>
                  <a:srgbClr val="FF0000"/>
                </a:solidFill>
              </a:endParaRPr>
            </a:p>
          </p:txBody>
        </p:sp>
        <p:sp>
          <p:nvSpPr>
            <p:cNvPr id="11" name="화살표: 아래쪽 10">
              <a:extLst>
                <a:ext uri="{FF2B5EF4-FFF2-40B4-BE49-F238E27FC236}">
                  <a16:creationId xmlns:a16="http://schemas.microsoft.com/office/drawing/2014/main" id="{7766D19E-D3FE-583A-1CE6-F3A1D99C5C17}"/>
                </a:ext>
              </a:extLst>
            </p:cNvPr>
            <p:cNvSpPr/>
            <p:nvPr/>
          </p:nvSpPr>
          <p:spPr>
            <a:xfrm>
              <a:off x="5889651" y="2131245"/>
              <a:ext cx="41269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27D4F73F-BD35-C6B7-30AB-A548E98DF66B}"/>
                </a:ext>
              </a:extLst>
            </p:cNvPr>
            <p:cNvGrpSpPr/>
            <p:nvPr/>
          </p:nvGrpSpPr>
          <p:grpSpPr>
            <a:xfrm>
              <a:off x="1537656" y="2377466"/>
              <a:ext cx="9116688" cy="2875662"/>
              <a:chOff x="1165588" y="2376069"/>
              <a:chExt cx="9860820" cy="3162959"/>
            </a:xfrm>
          </p:grpSpPr>
          <p:pic>
            <p:nvPicPr>
              <p:cNvPr id="10" name="그림 9">
                <a:extLst>
                  <a:ext uri="{FF2B5EF4-FFF2-40B4-BE49-F238E27FC236}">
                    <a16:creationId xmlns:a16="http://schemas.microsoft.com/office/drawing/2014/main" id="{B148B0B0-F982-E90A-E2FA-2B031B418EC0}"/>
                  </a:ext>
                </a:extLst>
              </p:cNvPr>
              <p:cNvPicPr>
                <a:picLocks noChangeAspect="1"/>
              </p:cNvPicPr>
              <p:nvPr/>
            </p:nvPicPr>
            <p:blipFill>
              <a:blip r:embed="rId2"/>
              <a:stretch>
                <a:fillRect/>
              </a:stretch>
            </p:blipFill>
            <p:spPr>
              <a:xfrm>
                <a:off x="1165589" y="2376069"/>
                <a:ext cx="9860819" cy="1561296"/>
              </a:xfrm>
              <a:prstGeom prst="rect">
                <a:avLst/>
              </a:prstGeom>
            </p:spPr>
          </p:pic>
          <p:pic>
            <p:nvPicPr>
              <p:cNvPr id="13" name="그림 12">
                <a:extLst>
                  <a:ext uri="{FF2B5EF4-FFF2-40B4-BE49-F238E27FC236}">
                    <a16:creationId xmlns:a16="http://schemas.microsoft.com/office/drawing/2014/main" id="{9E5E733C-EFBF-CCA0-4FB8-C2AAF42DB532}"/>
                  </a:ext>
                </a:extLst>
              </p:cNvPr>
              <p:cNvPicPr>
                <a:picLocks noChangeAspect="1"/>
              </p:cNvPicPr>
              <p:nvPr/>
            </p:nvPicPr>
            <p:blipFill>
              <a:blip r:embed="rId3"/>
              <a:stretch>
                <a:fillRect/>
              </a:stretch>
            </p:blipFill>
            <p:spPr>
              <a:xfrm>
                <a:off x="1165588" y="3977732"/>
                <a:ext cx="9860819" cy="1561296"/>
              </a:xfrm>
              <a:prstGeom prst="rect">
                <a:avLst/>
              </a:prstGeom>
            </p:spPr>
          </p:pic>
        </p:grpSp>
      </p:grpSp>
    </p:spTree>
    <p:extLst>
      <p:ext uri="{BB962C8B-B14F-4D97-AF65-F5344CB8AC3E}">
        <p14:creationId xmlns:p14="http://schemas.microsoft.com/office/powerpoint/2010/main" val="24948100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RBAC(Role-Based Access Control) Role Binding</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API Server :</a:t>
            </a:r>
          </a:p>
          <a:p>
            <a:pPr lvl="1">
              <a:buFont typeface="Wingdings" panose="05000000000000000000" pitchFamily="2" charset="2"/>
              <a:buChar char="§"/>
            </a:pPr>
            <a:r>
              <a:rPr lang="en-US" altLang="ko-KR" sz="1400" dirty="0"/>
              <a:t>You need to create </a:t>
            </a:r>
            <a:r>
              <a:rPr lang="en-US" altLang="ko-KR" sz="1400" b="1" dirty="0"/>
              <a:t>RBAC </a:t>
            </a:r>
            <a:r>
              <a:rPr lang="en-US" altLang="ko-KR" sz="1400" b="1" dirty="0" err="1"/>
              <a:t>ClusterRoleBinding</a:t>
            </a:r>
            <a:r>
              <a:rPr lang="en-US" altLang="ko-KR" sz="1400" b="1" dirty="0"/>
              <a:t> resources </a:t>
            </a:r>
            <a:r>
              <a:rPr lang="en-US" altLang="ko-KR" sz="1400" dirty="0"/>
              <a:t>to talk to the API server in a pod. The next listing will show you the manifest YAML file.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Before you go further, run the above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7FE82295-2BC1-3805-E686-473780B61B54}"/>
              </a:ext>
            </a:extLst>
          </p:cNvPr>
          <p:cNvGrpSpPr/>
          <p:nvPr/>
        </p:nvGrpSpPr>
        <p:grpSpPr>
          <a:xfrm>
            <a:off x="1513848" y="1682403"/>
            <a:ext cx="9164304" cy="4117632"/>
            <a:chOff x="1513848" y="1722863"/>
            <a:chExt cx="9164304" cy="4117632"/>
          </a:xfrm>
        </p:grpSpPr>
        <p:grpSp>
          <p:nvGrpSpPr>
            <p:cNvPr id="10" name="그룹 9">
              <a:extLst>
                <a:ext uri="{FF2B5EF4-FFF2-40B4-BE49-F238E27FC236}">
                  <a16:creationId xmlns:a16="http://schemas.microsoft.com/office/drawing/2014/main" id="{F853E4DE-020F-3BBE-7E5A-5080178172B9}"/>
                </a:ext>
              </a:extLst>
            </p:cNvPr>
            <p:cNvGrpSpPr/>
            <p:nvPr/>
          </p:nvGrpSpPr>
          <p:grpSpPr>
            <a:xfrm>
              <a:off x="3048674" y="1722863"/>
              <a:ext cx="6097348" cy="1938992"/>
              <a:chOff x="3048674" y="1722863"/>
              <a:chExt cx="6097348" cy="1938992"/>
            </a:xfrm>
          </p:grpSpPr>
          <p:sp>
            <p:nvSpPr>
              <p:cNvPr id="8" name="TextBox 7">
                <a:extLst>
                  <a:ext uri="{FF2B5EF4-FFF2-40B4-BE49-F238E27FC236}">
                    <a16:creationId xmlns:a16="http://schemas.microsoft.com/office/drawing/2014/main" id="{CB5603D0-477C-7059-0D02-9330499543D0}"/>
                  </a:ext>
                </a:extLst>
              </p:cNvPr>
              <p:cNvSpPr txBox="1"/>
              <p:nvPr/>
            </p:nvSpPr>
            <p:spPr>
              <a:xfrm>
                <a:off x="3048674" y="1722863"/>
                <a:ext cx="6097348" cy="193899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rbac.authorization.k8s.io/v1</a:t>
                </a:r>
              </a:p>
              <a:p>
                <a:r>
                  <a:rPr lang="en-US" altLang="ko-KR" sz="1000" b="1" dirty="0"/>
                  <a:t>kind: </a:t>
                </a:r>
                <a:r>
                  <a:rPr lang="en-US" altLang="ko-KR" sz="1000" b="1" dirty="0" err="1">
                    <a:solidFill>
                      <a:srgbClr val="FF0000"/>
                    </a:solidFill>
                  </a:rPr>
                  <a:t>ClusterRoleBinding</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rbac</a:t>
                </a:r>
                <a:r>
                  <a:rPr lang="en-US" altLang="ko-KR" sz="1000" b="1" dirty="0">
                    <a:solidFill>
                      <a:srgbClr val="FF0000"/>
                    </a:solidFill>
                  </a:rPr>
                  <a:t>-default</a:t>
                </a:r>
              </a:p>
              <a:p>
                <a:r>
                  <a:rPr lang="en-US" altLang="ko-KR" sz="1000" b="1" dirty="0"/>
                  <a:t>subjects:</a:t>
                </a:r>
              </a:p>
              <a:p>
                <a:r>
                  <a:rPr lang="en-US" altLang="ko-KR" sz="1000" b="1" dirty="0"/>
                  <a:t>- kind: </a:t>
                </a:r>
                <a:r>
                  <a:rPr lang="en-US" altLang="ko-KR" sz="1000" b="1" dirty="0" err="1">
                    <a:solidFill>
                      <a:srgbClr val="FF0000"/>
                    </a:solidFill>
                  </a:rPr>
                  <a:t>ServiceAccount</a:t>
                </a:r>
                <a:endParaRPr lang="en-US" altLang="ko-KR" sz="1000" b="1" dirty="0">
                  <a:solidFill>
                    <a:srgbClr val="FF0000"/>
                  </a:solidFill>
                </a:endParaRPr>
              </a:p>
              <a:p>
                <a:r>
                  <a:rPr lang="en-US" altLang="ko-KR" sz="1000" b="1" dirty="0"/>
                  <a:t>  name: </a:t>
                </a:r>
                <a:r>
                  <a:rPr lang="en-US" altLang="ko-KR" sz="1000" b="1" dirty="0">
                    <a:solidFill>
                      <a:srgbClr val="FF0000"/>
                    </a:solidFill>
                  </a:rPr>
                  <a:t>default</a:t>
                </a:r>
              </a:p>
              <a:p>
                <a:r>
                  <a:rPr lang="en-US" altLang="ko-KR" sz="1000" b="1" dirty="0"/>
                  <a:t>  namespace: </a:t>
                </a:r>
                <a:r>
                  <a:rPr lang="en-US" altLang="ko-KR" sz="1000" b="1" dirty="0">
                    <a:solidFill>
                      <a:srgbClr val="FF0000"/>
                    </a:solidFill>
                  </a:rPr>
                  <a:t>default</a:t>
                </a:r>
              </a:p>
              <a:p>
                <a:r>
                  <a:rPr lang="en-US" altLang="ko-KR" sz="1000" b="1" dirty="0" err="1"/>
                  <a:t>roleRef</a:t>
                </a:r>
                <a:r>
                  <a:rPr lang="en-US" altLang="ko-KR" sz="1000" b="1" dirty="0"/>
                  <a:t>:</a:t>
                </a:r>
              </a:p>
              <a:p>
                <a:r>
                  <a:rPr lang="en-US" altLang="ko-KR" sz="1000" b="1" dirty="0"/>
                  <a:t>  kind: </a:t>
                </a:r>
                <a:r>
                  <a:rPr lang="en-US" altLang="ko-KR" sz="1000" b="1" dirty="0" err="1">
                    <a:solidFill>
                      <a:srgbClr val="FF0000"/>
                    </a:solidFill>
                  </a:rPr>
                  <a:t>ClusterRole</a:t>
                </a:r>
                <a:endParaRPr lang="en-US" altLang="ko-KR" sz="1000" b="1" dirty="0">
                  <a:solidFill>
                    <a:srgbClr val="FF0000"/>
                  </a:solidFill>
                </a:endParaRPr>
              </a:p>
              <a:p>
                <a:r>
                  <a:rPr lang="en-US" altLang="ko-KR" sz="1000" b="1" dirty="0"/>
                  <a:t>  name: </a:t>
                </a:r>
                <a:r>
                  <a:rPr lang="en-US" altLang="ko-KR" sz="1000" b="1" dirty="0">
                    <a:solidFill>
                      <a:srgbClr val="FF0000"/>
                    </a:solidFill>
                  </a:rPr>
                  <a:t>cluster-admin</a:t>
                </a:r>
              </a:p>
              <a:p>
                <a:r>
                  <a:rPr lang="en-US" altLang="ko-KR" sz="1000" b="1" dirty="0"/>
                  <a:t>  </a:t>
                </a:r>
                <a:r>
                  <a:rPr lang="en-US" altLang="ko-KR" sz="1000" b="1" dirty="0" err="1"/>
                  <a:t>apiGroup</a:t>
                </a:r>
                <a:r>
                  <a:rPr lang="en-US" altLang="ko-KR" sz="1000" b="1" dirty="0"/>
                  <a:t>: rbac.authorization.k8s.io</a:t>
                </a:r>
                <a:endParaRPr lang="ko-KR" altLang="en-US" sz="1000" b="1" dirty="0"/>
              </a:p>
            </p:txBody>
          </p:sp>
          <p:sp>
            <p:nvSpPr>
              <p:cNvPr id="9" name="TextBox 8">
                <a:extLst>
                  <a:ext uri="{FF2B5EF4-FFF2-40B4-BE49-F238E27FC236}">
                    <a16:creationId xmlns:a16="http://schemas.microsoft.com/office/drawing/2014/main" id="{43FB2D7B-EFAF-FC26-D68E-16CCCBCE2F3C}"/>
                  </a:ext>
                </a:extLst>
              </p:cNvPr>
              <p:cNvSpPr txBox="1"/>
              <p:nvPr/>
            </p:nvSpPr>
            <p:spPr>
              <a:xfrm>
                <a:off x="8374657" y="1722863"/>
                <a:ext cx="771365" cy="246221"/>
              </a:xfrm>
              <a:prstGeom prst="rect">
                <a:avLst/>
              </a:prstGeom>
              <a:noFill/>
            </p:spPr>
            <p:txBody>
              <a:bodyPr wrap="none" rtlCol="0">
                <a:spAutoFit/>
              </a:bodyPr>
              <a:lstStyle/>
              <a:p>
                <a:pPr algn="l"/>
                <a:r>
                  <a:rPr lang="en-US" altLang="ko-KR" sz="1000" b="1" dirty="0" err="1"/>
                  <a:t>rbac.yaml</a:t>
                </a:r>
                <a:endParaRPr lang="ko-KR" altLang="en-US" sz="1000" b="1" dirty="0"/>
              </a:p>
            </p:txBody>
          </p:sp>
        </p:grpSp>
        <p:grpSp>
          <p:nvGrpSpPr>
            <p:cNvPr id="16" name="그룹 15">
              <a:extLst>
                <a:ext uri="{FF2B5EF4-FFF2-40B4-BE49-F238E27FC236}">
                  <a16:creationId xmlns:a16="http://schemas.microsoft.com/office/drawing/2014/main" id="{98D450D7-FC1D-7E0D-D58A-500F2B811181}"/>
                </a:ext>
              </a:extLst>
            </p:cNvPr>
            <p:cNvGrpSpPr/>
            <p:nvPr/>
          </p:nvGrpSpPr>
          <p:grpSpPr>
            <a:xfrm>
              <a:off x="1513848" y="3820945"/>
              <a:ext cx="9164304" cy="2019550"/>
              <a:chOff x="1513848" y="3820945"/>
              <a:chExt cx="9164304" cy="2019550"/>
            </a:xfrm>
          </p:grpSpPr>
          <p:pic>
            <p:nvPicPr>
              <p:cNvPr id="12" name="그림 11">
                <a:extLst>
                  <a:ext uri="{FF2B5EF4-FFF2-40B4-BE49-F238E27FC236}">
                    <a16:creationId xmlns:a16="http://schemas.microsoft.com/office/drawing/2014/main" id="{FC90061B-5632-637B-D5F0-E47D10309DD1}"/>
                  </a:ext>
                </a:extLst>
              </p:cNvPr>
              <p:cNvPicPr>
                <a:picLocks noChangeAspect="1"/>
              </p:cNvPicPr>
              <p:nvPr/>
            </p:nvPicPr>
            <p:blipFill>
              <a:blip r:embed="rId2"/>
              <a:stretch>
                <a:fillRect/>
              </a:stretch>
            </p:blipFill>
            <p:spPr>
              <a:xfrm>
                <a:off x="1513848" y="4389480"/>
                <a:ext cx="9164304" cy="1451015"/>
              </a:xfrm>
              <a:prstGeom prst="rect">
                <a:avLst/>
              </a:prstGeom>
            </p:spPr>
          </p:pic>
          <p:sp>
            <p:nvSpPr>
              <p:cNvPr id="14" name="TextBox 13">
                <a:extLst>
                  <a:ext uri="{FF2B5EF4-FFF2-40B4-BE49-F238E27FC236}">
                    <a16:creationId xmlns:a16="http://schemas.microsoft.com/office/drawing/2014/main" id="{081CAE29-0452-F77D-0465-ED30DFC5567B}"/>
                  </a:ext>
                </a:extLst>
              </p:cNvPr>
              <p:cNvSpPr txBox="1"/>
              <p:nvPr/>
            </p:nvSpPr>
            <p:spPr>
              <a:xfrm>
                <a:off x="3048674" y="3820945"/>
                <a:ext cx="6097348" cy="246221"/>
              </a:xfrm>
              <a:prstGeom prst="rect">
                <a:avLst/>
              </a:prstGeom>
              <a:noFill/>
              <a:ln>
                <a:solidFill>
                  <a:schemeClr val="bg1">
                    <a:lumMod val="50000"/>
                  </a:schemeClr>
                </a:solidFill>
              </a:ln>
            </p:spPr>
            <p:txBody>
              <a:bodyPr wrap="square">
                <a:spAutoFit/>
              </a:bodyPr>
              <a:lstStyle/>
              <a:p>
                <a:r>
                  <a:rPr lang="en-US" altLang="ko-KR" sz="1000" b="1" dirty="0" err="1"/>
                  <a:t>kubectl</a:t>
                </a:r>
                <a:r>
                  <a:rPr lang="en-US" altLang="ko-KR" sz="1000" b="1" dirty="0"/>
                  <a:t> create -f </a:t>
                </a:r>
                <a:r>
                  <a:rPr lang="en-US" altLang="ko-KR" sz="1000" b="1" dirty="0" err="1">
                    <a:solidFill>
                      <a:srgbClr val="FF0000"/>
                    </a:solidFill>
                  </a:rPr>
                  <a:t>rbac.yaml</a:t>
                </a:r>
                <a:endParaRPr lang="ko-KR" altLang="en-US" sz="1000" b="1" dirty="0">
                  <a:solidFill>
                    <a:srgbClr val="FF0000"/>
                  </a:solidFill>
                </a:endParaRPr>
              </a:p>
            </p:txBody>
          </p:sp>
          <p:sp>
            <p:nvSpPr>
              <p:cNvPr id="15" name="화살표: 아래쪽 14">
                <a:extLst>
                  <a:ext uri="{FF2B5EF4-FFF2-40B4-BE49-F238E27FC236}">
                    <a16:creationId xmlns:a16="http://schemas.microsoft.com/office/drawing/2014/main" id="{AD6CA3EE-8254-4913-4C4C-6D414D107CE5}"/>
                  </a:ext>
                </a:extLst>
              </p:cNvPr>
              <p:cNvSpPr/>
              <p:nvPr/>
            </p:nvSpPr>
            <p:spPr>
              <a:xfrm>
                <a:off x="5873469" y="4078872"/>
                <a:ext cx="445062" cy="31060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2175598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Server(22/33)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b="1" dirty="0"/>
              <a:t>You need to authenticate with the server</a:t>
            </a:r>
            <a:r>
              <a:rPr lang="en-US" altLang="ko-KR" sz="1400" dirty="0"/>
              <a:t>, so it allows you to read and even update and/or delete the API objects deployed in the cluster. </a:t>
            </a:r>
            <a:r>
              <a:rPr lang="en-US" altLang="ko-KR" sz="1400" b="1" dirty="0"/>
              <a:t>To authenticate, you need an </a:t>
            </a:r>
            <a:r>
              <a:rPr lang="en-US" altLang="ko-KR" sz="1400" b="1" dirty="0">
                <a:solidFill>
                  <a:srgbClr val="FF0000"/>
                </a:solidFill>
              </a:rPr>
              <a:t>authentication token</a:t>
            </a:r>
            <a:r>
              <a:rPr lang="en-US" altLang="ko-KR" sz="1400" dirty="0"/>
              <a:t>. </a:t>
            </a:r>
            <a:r>
              <a:rPr lang="en-US" altLang="ko-KR" sz="1400" b="1" dirty="0"/>
              <a:t>The token is provided through the default-token Secret</a:t>
            </a:r>
            <a:r>
              <a:rPr lang="en-US" altLang="ko-KR" sz="1400" dirty="0"/>
              <a:t>, </a:t>
            </a:r>
            <a:r>
              <a:rPr lang="en-US" altLang="ko-KR" sz="1400" b="1" dirty="0"/>
              <a:t>and is stored in the token file in the </a:t>
            </a:r>
            <a:r>
              <a:rPr lang="en-US" altLang="ko-KR" sz="1400" b="1" dirty="0">
                <a:solidFill>
                  <a:srgbClr val="FF0000"/>
                </a:solidFill>
              </a:rPr>
              <a:t>secret volume</a:t>
            </a:r>
            <a:r>
              <a:rPr lang="en-US" altLang="ko-KR" sz="1400" dirty="0"/>
              <a:t>. As the Secret’s name suggests, that’s the primary purpose of the Secret. </a:t>
            </a:r>
          </a:p>
          <a:p>
            <a:pPr lvl="1">
              <a:buFont typeface="Wingdings" panose="05000000000000000000" pitchFamily="2" charset="2"/>
              <a:buChar char="§"/>
            </a:pPr>
            <a:r>
              <a:rPr lang="en-US" altLang="ko-KR" sz="1400" dirty="0"/>
              <a:t>You’re going to use the token to access the API server. First, </a:t>
            </a:r>
            <a:r>
              <a:rPr lang="en-US" altLang="ko-KR" sz="1400" b="1" dirty="0"/>
              <a:t>load the token into an environment variable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token is now stored in the TOKEN environment variable</a:t>
            </a:r>
            <a:r>
              <a:rPr lang="en-US" altLang="ko-KR" sz="1400" dirty="0"/>
              <a:t>. You can use it when sending requests to the API server, as shown in the following listing.</a:t>
            </a:r>
          </a:p>
          <a:p>
            <a:pPr lvl="1">
              <a:buFont typeface="Wingdings" panose="05000000000000000000" pitchFamily="2" charset="2"/>
              <a:buChar char="§"/>
            </a:pPr>
            <a:r>
              <a:rPr lang="en-US" altLang="ko-KR" sz="1400" b="1" dirty="0"/>
              <a:t>As you can see, you passed the token inside the Authorization HTTP header in the request</a:t>
            </a:r>
            <a:r>
              <a:rPr lang="en-US" altLang="ko-KR" sz="1400" dirty="0"/>
              <a:t>. </a:t>
            </a:r>
            <a:r>
              <a:rPr lang="en-US" altLang="ko-KR" sz="1400" b="1" dirty="0"/>
              <a:t>The API server recognized the token as authentic and returned a proper response</a:t>
            </a:r>
            <a:r>
              <a:rPr lang="en-US" altLang="ko-KR" sz="1400" dirty="0"/>
              <a:t>. You can now explore all the resources in your cluster, the way you did a few sections ago.</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7E7F4918-CBEF-A7EE-E24A-A8A5DB09C84C}"/>
              </a:ext>
            </a:extLst>
          </p:cNvPr>
          <p:cNvGrpSpPr/>
          <p:nvPr/>
        </p:nvGrpSpPr>
        <p:grpSpPr>
          <a:xfrm>
            <a:off x="1206050" y="2233919"/>
            <a:ext cx="9779899" cy="2997371"/>
            <a:chOff x="1206050" y="2411943"/>
            <a:chExt cx="9779899" cy="2997371"/>
          </a:xfrm>
        </p:grpSpPr>
        <p:sp>
          <p:nvSpPr>
            <p:cNvPr id="8" name="TextBox 7">
              <a:extLst>
                <a:ext uri="{FF2B5EF4-FFF2-40B4-BE49-F238E27FC236}">
                  <a16:creationId xmlns:a16="http://schemas.microsoft.com/office/drawing/2014/main" id="{FE56A5E7-FE14-F4C8-3D51-A1403F7CC06F}"/>
                </a:ext>
              </a:extLst>
            </p:cNvPr>
            <p:cNvSpPr txBox="1"/>
            <p:nvPr/>
          </p:nvSpPr>
          <p:spPr>
            <a:xfrm>
              <a:off x="3047326" y="2411943"/>
              <a:ext cx="6097348" cy="400110"/>
            </a:xfrm>
            <a:prstGeom prst="rect">
              <a:avLst/>
            </a:prstGeom>
            <a:noFill/>
            <a:ln>
              <a:solidFill>
                <a:schemeClr val="bg1">
                  <a:lumMod val="50000"/>
                </a:schemeClr>
              </a:solidFill>
            </a:ln>
          </p:spPr>
          <p:txBody>
            <a:bodyPr wrap="square">
              <a:spAutoFit/>
            </a:bodyPr>
            <a:lstStyle/>
            <a:p>
              <a:r>
                <a:rPr lang="en-US" altLang="ko-KR" sz="1000" b="1" dirty="0" err="1"/>
                <a:t>root@curl</a:t>
              </a:r>
              <a:r>
                <a:rPr lang="en-US" altLang="ko-KR" sz="1000" b="1" dirty="0"/>
                <a:t>:/# </a:t>
              </a:r>
              <a:r>
                <a:rPr lang="en-US" altLang="ko-KR" sz="1000" b="1" dirty="0">
                  <a:solidFill>
                    <a:srgbClr val="FF0000"/>
                  </a:solidFill>
                </a:rPr>
                <a:t>TOKEN=$(cat /var/run/secrets/kubernetes.io/</a:t>
              </a:r>
              <a:r>
                <a:rPr lang="en-US" altLang="ko-KR" sz="1000" b="1" dirty="0" err="1">
                  <a:solidFill>
                    <a:srgbClr val="FF0000"/>
                  </a:solidFill>
                </a:rPr>
                <a:t>serviceaccount</a:t>
              </a:r>
              <a:r>
                <a:rPr lang="en-US" altLang="ko-KR" sz="1000" b="1" dirty="0">
                  <a:solidFill>
                    <a:srgbClr val="FF0000"/>
                  </a:solidFill>
                </a:rPr>
                <a:t>/token)</a:t>
              </a:r>
            </a:p>
            <a:p>
              <a:r>
                <a:rPr lang="en-US" altLang="ko-KR" sz="1000" b="1" dirty="0" err="1"/>
                <a:t>root@curl</a:t>
              </a:r>
              <a:r>
                <a:rPr lang="en-US" altLang="ko-KR" sz="1000" b="1" dirty="0"/>
                <a:t>:/# curl -H </a:t>
              </a:r>
              <a:r>
                <a:rPr lang="en-US" altLang="ko-KR" sz="1000" b="1" dirty="0">
                  <a:solidFill>
                    <a:srgbClr val="FF0000"/>
                  </a:solidFill>
                </a:rPr>
                <a:t>"Authorization: Bearer $TOKEN" </a:t>
              </a:r>
              <a:r>
                <a:rPr lang="en-US" altLang="ko-KR" sz="1000" b="1" dirty="0"/>
                <a:t>https://kubernetes</a:t>
              </a:r>
            </a:p>
          </p:txBody>
        </p:sp>
        <p:grpSp>
          <p:nvGrpSpPr>
            <p:cNvPr id="12" name="그룹 11">
              <a:extLst>
                <a:ext uri="{FF2B5EF4-FFF2-40B4-BE49-F238E27FC236}">
                  <a16:creationId xmlns:a16="http://schemas.microsoft.com/office/drawing/2014/main" id="{2470944E-8322-8A3C-A074-4CB5F67E6D93}"/>
                </a:ext>
              </a:extLst>
            </p:cNvPr>
            <p:cNvGrpSpPr/>
            <p:nvPr/>
          </p:nvGrpSpPr>
          <p:grpSpPr>
            <a:xfrm>
              <a:off x="1206050" y="2812053"/>
              <a:ext cx="9779899" cy="2597261"/>
              <a:chOff x="1206050" y="2812053"/>
              <a:chExt cx="9779899" cy="2597261"/>
            </a:xfrm>
          </p:grpSpPr>
          <p:pic>
            <p:nvPicPr>
              <p:cNvPr id="10" name="그림 9">
                <a:extLst>
                  <a:ext uri="{FF2B5EF4-FFF2-40B4-BE49-F238E27FC236}">
                    <a16:creationId xmlns:a16="http://schemas.microsoft.com/office/drawing/2014/main" id="{04D876FE-0CE3-6E62-3572-984D69A02C66}"/>
                  </a:ext>
                </a:extLst>
              </p:cNvPr>
              <p:cNvPicPr>
                <a:picLocks noChangeAspect="1"/>
              </p:cNvPicPr>
              <p:nvPr/>
            </p:nvPicPr>
            <p:blipFill>
              <a:blip r:embed="rId2"/>
              <a:stretch>
                <a:fillRect/>
              </a:stretch>
            </p:blipFill>
            <p:spPr>
              <a:xfrm>
                <a:off x="1206050" y="3111038"/>
                <a:ext cx="9779899" cy="2298276"/>
              </a:xfrm>
              <a:prstGeom prst="rect">
                <a:avLst/>
              </a:prstGeom>
            </p:spPr>
          </p:pic>
          <p:sp>
            <p:nvSpPr>
              <p:cNvPr id="11" name="화살표: 아래쪽 10">
                <a:extLst>
                  <a:ext uri="{FF2B5EF4-FFF2-40B4-BE49-F238E27FC236}">
                    <a16:creationId xmlns:a16="http://schemas.microsoft.com/office/drawing/2014/main" id="{A41DE75D-1BB1-F284-8FA6-08E978B0BBB4}"/>
                  </a:ext>
                </a:extLst>
              </p:cNvPr>
              <p:cNvSpPr/>
              <p:nvPr/>
            </p:nvSpPr>
            <p:spPr>
              <a:xfrm>
                <a:off x="5881560" y="2812053"/>
                <a:ext cx="428878" cy="2871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A57EA67A-747A-5F69-593D-20E702BB28FF}"/>
                </a:ext>
              </a:extLst>
            </p:cNvPr>
            <p:cNvSpPr/>
            <p:nvPr/>
          </p:nvSpPr>
          <p:spPr>
            <a:xfrm>
              <a:off x="5025154" y="3535074"/>
              <a:ext cx="4264503"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919835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Server(23/33)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b="1" dirty="0"/>
              <a:t>Your secret volume also contains a file called namespace</a:t>
            </a:r>
            <a:r>
              <a:rPr lang="en-US" altLang="ko-KR" sz="1400" dirty="0"/>
              <a:t>. It contains the namespace the pod is running in, so you can read the file instead of having to explicitly pass the namespace to your pod through an environment variable. </a:t>
            </a:r>
            <a:r>
              <a:rPr lang="en-US" altLang="ko-KR" sz="1400" b="1" dirty="0"/>
              <a:t>Load the contents of the file into the NS environment variable and then list all the pods</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By using the three files in the mounted secret volume directory, you </a:t>
            </a:r>
            <a:r>
              <a:rPr lang="en-US" altLang="ko-KR" sz="1400" b="1" dirty="0">
                <a:solidFill>
                  <a:srgbClr val="FF0000"/>
                </a:solidFill>
              </a:rPr>
              <a:t>listed all the pods running in the same namespace as your pod</a:t>
            </a:r>
            <a:r>
              <a:rPr lang="en-US" altLang="ko-KR" sz="1400" dirty="0"/>
              <a:t>. </a:t>
            </a:r>
            <a:r>
              <a:rPr lang="en-US" altLang="ko-KR" sz="1400" b="1" dirty="0"/>
              <a:t>In the same manner, you could also retrieve other API objects and even update them by sending PUT or PATCH instead of simple GET requests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BA98056-3471-D88B-EB2D-83B916B3175D}"/>
              </a:ext>
            </a:extLst>
          </p:cNvPr>
          <p:cNvGrpSpPr/>
          <p:nvPr/>
        </p:nvGrpSpPr>
        <p:grpSpPr>
          <a:xfrm>
            <a:off x="1323385" y="2029748"/>
            <a:ext cx="9545230" cy="3385979"/>
            <a:chOff x="1323385" y="2094484"/>
            <a:chExt cx="9545230" cy="3385979"/>
          </a:xfrm>
        </p:grpSpPr>
        <p:sp>
          <p:nvSpPr>
            <p:cNvPr id="8" name="TextBox 7">
              <a:extLst>
                <a:ext uri="{FF2B5EF4-FFF2-40B4-BE49-F238E27FC236}">
                  <a16:creationId xmlns:a16="http://schemas.microsoft.com/office/drawing/2014/main" id="{C118AEAE-6F5B-BFBB-2FD7-A71F6F64225E}"/>
                </a:ext>
              </a:extLst>
            </p:cNvPr>
            <p:cNvSpPr txBox="1"/>
            <p:nvPr/>
          </p:nvSpPr>
          <p:spPr>
            <a:xfrm>
              <a:off x="2765116" y="2094484"/>
              <a:ext cx="6661768" cy="400110"/>
            </a:xfrm>
            <a:prstGeom prst="rect">
              <a:avLst/>
            </a:prstGeom>
            <a:noFill/>
            <a:ln>
              <a:solidFill>
                <a:schemeClr val="bg1">
                  <a:lumMod val="50000"/>
                </a:schemeClr>
              </a:solidFill>
            </a:ln>
          </p:spPr>
          <p:txBody>
            <a:bodyPr wrap="square">
              <a:spAutoFit/>
            </a:bodyPr>
            <a:lstStyle/>
            <a:p>
              <a:r>
                <a:rPr lang="en-US" altLang="ko-KR" sz="1000" b="1" dirty="0" err="1"/>
                <a:t>root@curl</a:t>
              </a:r>
              <a:r>
                <a:rPr lang="en-US" altLang="ko-KR" sz="1000" b="1" dirty="0"/>
                <a:t>:/# </a:t>
              </a:r>
              <a:r>
                <a:rPr lang="en-US" altLang="ko-KR" sz="1000" b="1" dirty="0">
                  <a:solidFill>
                    <a:srgbClr val="FF0000"/>
                  </a:solidFill>
                </a:rPr>
                <a:t>NS=$(cat /var/run/secrets/kubernetes.io/</a:t>
              </a:r>
              <a:r>
                <a:rPr lang="en-US" altLang="ko-KR" sz="1000" b="1" dirty="0" err="1">
                  <a:solidFill>
                    <a:srgbClr val="FF0000"/>
                  </a:solidFill>
                </a:rPr>
                <a:t>serviceaccount</a:t>
              </a:r>
              <a:r>
                <a:rPr lang="en-US" altLang="ko-KR" sz="1000" b="1" dirty="0">
                  <a:solidFill>
                    <a:srgbClr val="FF0000"/>
                  </a:solidFill>
                </a:rPr>
                <a:t>/namespace)</a:t>
              </a:r>
            </a:p>
            <a:p>
              <a:r>
                <a:rPr lang="en-US" altLang="ko-KR" sz="1000" b="1" dirty="0" err="1"/>
                <a:t>root@curl</a:t>
              </a:r>
              <a:r>
                <a:rPr lang="en-US" altLang="ko-KR" sz="1000" b="1" dirty="0"/>
                <a:t>:/# curl -H "Authorization: Bearer $TOKEN“ https://kubernetes/api/v1/</a:t>
              </a:r>
              <a:r>
                <a:rPr lang="en-US" altLang="ko-KR" sz="1000" b="1" dirty="0">
                  <a:solidFill>
                    <a:srgbClr val="FF0000"/>
                  </a:solidFill>
                </a:rPr>
                <a:t>namespaces/$NS/pods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5EB56A64-9FB2-D2AE-F220-2D3EB117C53D}"/>
                </a:ext>
              </a:extLst>
            </p:cNvPr>
            <p:cNvSpPr/>
            <p:nvPr/>
          </p:nvSpPr>
          <p:spPr>
            <a:xfrm>
              <a:off x="5881561" y="2500439"/>
              <a:ext cx="428878" cy="2994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그룹 12">
              <a:extLst>
                <a:ext uri="{FF2B5EF4-FFF2-40B4-BE49-F238E27FC236}">
                  <a16:creationId xmlns:a16="http://schemas.microsoft.com/office/drawing/2014/main" id="{2CE8E4DA-1A87-CD17-5CFA-CE8305561ACC}"/>
                </a:ext>
              </a:extLst>
            </p:cNvPr>
            <p:cNvGrpSpPr/>
            <p:nvPr/>
          </p:nvGrpSpPr>
          <p:grpSpPr>
            <a:xfrm>
              <a:off x="1323385" y="2799844"/>
              <a:ext cx="9545230" cy="2680619"/>
              <a:chOff x="1323385" y="2799844"/>
              <a:chExt cx="9545230" cy="2680619"/>
            </a:xfrm>
          </p:grpSpPr>
          <p:pic>
            <p:nvPicPr>
              <p:cNvPr id="11" name="그림 10">
                <a:extLst>
                  <a:ext uri="{FF2B5EF4-FFF2-40B4-BE49-F238E27FC236}">
                    <a16:creationId xmlns:a16="http://schemas.microsoft.com/office/drawing/2014/main" id="{0BFFD620-9803-A450-5870-550D0518BDD1}"/>
                  </a:ext>
                </a:extLst>
              </p:cNvPr>
              <p:cNvPicPr>
                <a:picLocks noChangeAspect="1"/>
              </p:cNvPicPr>
              <p:nvPr/>
            </p:nvPicPr>
            <p:blipFill>
              <a:blip r:embed="rId2"/>
              <a:stretch>
                <a:fillRect/>
              </a:stretch>
            </p:blipFill>
            <p:spPr>
              <a:xfrm>
                <a:off x="1323385" y="2799844"/>
                <a:ext cx="9545230" cy="2680619"/>
              </a:xfrm>
              <a:prstGeom prst="rect">
                <a:avLst/>
              </a:prstGeom>
            </p:spPr>
          </p:pic>
          <p:sp>
            <p:nvSpPr>
              <p:cNvPr id="12" name="직사각형 11">
                <a:extLst>
                  <a:ext uri="{FF2B5EF4-FFF2-40B4-BE49-F238E27FC236}">
                    <a16:creationId xmlns:a16="http://schemas.microsoft.com/office/drawing/2014/main" id="{94561FC9-782E-EDB2-8ED1-5A7EF7164456}"/>
                  </a:ext>
                </a:extLst>
              </p:cNvPr>
              <p:cNvSpPr/>
              <p:nvPr/>
            </p:nvSpPr>
            <p:spPr>
              <a:xfrm>
                <a:off x="5065614" y="3204446"/>
                <a:ext cx="5470216"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15191730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Server(24/33)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Talking to the API Server from within a Pod :</a:t>
            </a:r>
          </a:p>
          <a:p>
            <a:pPr lvl="1">
              <a:buFont typeface="Wingdings" panose="05000000000000000000" pitchFamily="2" charset="2"/>
              <a:buChar char="§"/>
            </a:pPr>
            <a:r>
              <a:rPr lang="en-US" altLang="ko-KR" sz="1400" dirty="0"/>
              <a:t>Let’s recap </a:t>
            </a:r>
            <a:r>
              <a:rPr lang="en-US" altLang="ko-KR" sz="1400" b="1" dirty="0"/>
              <a:t>how an app running inside a pod can access the Kubernetes API</a:t>
            </a:r>
            <a:r>
              <a:rPr lang="en-US" altLang="ko-KR" sz="1400" dirty="0"/>
              <a:t> properly :</a:t>
            </a:r>
          </a:p>
          <a:p>
            <a:pPr lvl="2">
              <a:buFont typeface="Wingdings" panose="05000000000000000000" pitchFamily="2" charset="2"/>
              <a:buChar char="§"/>
            </a:pPr>
            <a:r>
              <a:rPr lang="en-US" altLang="ko-KR" sz="1400" b="1" dirty="0"/>
              <a:t>The app should verify whether the API server’s certificate is signed by the certificate authority</a:t>
            </a:r>
            <a:r>
              <a:rPr lang="en-US" altLang="ko-KR" sz="1400" dirty="0"/>
              <a:t>, whose certificate is in the “</a:t>
            </a:r>
            <a:r>
              <a:rPr lang="en-US" altLang="ko-KR" sz="1400" b="1" dirty="0"/>
              <a:t>ca.crt</a:t>
            </a:r>
            <a:r>
              <a:rPr lang="en-US" altLang="ko-KR" sz="1400" dirty="0"/>
              <a:t>” file.</a:t>
            </a:r>
          </a:p>
          <a:p>
            <a:pPr lvl="2">
              <a:buFont typeface="Wingdings" panose="05000000000000000000" pitchFamily="2" charset="2"/>
              <a:buChar char="§"/>
            </a:pPr>
            <a:r>
              <a:rPr lang="en-US" altLang="ko-KR" sz="1400" b="1" dirty="0"/>
              <a:t>The app should authenticate itself by sending the Authorization header with the bearer token from the “token” file</a:t>
            </a:r>
            <a:r>
              <a:rPr lang="en-US" altLang="ko-KR" sz="1400" dirty="0"/>
              <a:t>.</a:t>
            </a:r>
          </a:p>
          <a:p>
            <a:pPr lvl="2">
              <a:buFont typeface="Wingdings" panose="05000000000000000000" pitchFamily="2" charset="2"/>
              <a:buChar char="§"/>
            </a:pPr>
            <a:r>
              <a:rPr lang="en-US" altLang="ko-KR" sz="1400" b="1" dirty="0"/>
              <a:t>The namespace file should be used to pass the namespace to the API server </a:t>
            </a:r>
            <a:r>
              <a:rPr lang="en-US" altLang="ko-KR" sz="1400" dirty="0"/>
              <a:t>when performing CRUD operations on API objects inside the pod’s namespace.</a:t>
            </a:r>
          </a:p>
          <a:p>
            <a:pPr lvl="1">
              <a:buFont typeface="Wingdings" panose="05000000000000000000" pitchFamily="2" charset="2"/>
              <a:buChar char="§"/>
            </a:pPr>
            <a:r>
              <a:rPr lang="en-US" altLang="ko-KR" sz="1400" b="1" dirty="0"/>
              <a:t>NOTE : CRUD stands for Create, Read, Update, and Delete</a:t>
            </a:r>
            <a:r>
              <a:rPr lang="en-US" altLang="ko-KR" sz="1400" dirty="0"/>
              <a:t>. The corresponding HTTP methods are </a:t>
            </a:r>
            <a:r>
              <a:rPr lang="en-US" altLang="ko-KR" sz="1400" b="1" dirty="0"/>
              <a:t>POST, GET, PATCH/PUT, and DELETE</a:t>
            </a:r>
            <a:r>
              <a:rPr lang="en-US" altLang="ko-KR" sz="1400" dirty="0"/>
              <a:t>, respectively.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0CEFDE6-3667-C7A5-96A0-B20E8E27D060}"/>
              </a:ext>
            </a:extLst>
          </p:cNvPr>
          <p:cNvPicPr>
            <a:picLocks noChangeAspect="1"/>
          </p:cNvPicPr>
          <p:nvPr/>
        </p:nvPicPr>
        <p:blipFill>
          <a:blip r:embed="rId2"/>
          <a:stretch>
            <a:fillRect/>
          </a:stretch>
        </p:blipFill>
        <p:spPr>
          <a:xfrm>
            <a:off x="3724396" y="3168275"/>
            <a:ext cx="4743207" cy="3240755"/>
          </a:xfrm>
          <a:prstGeom prst="rect">
            <a:avLst/>
          </a:prstGeom>
        </p:spPr>
      </p:pic>
    </p:spTree>
    <p:extLst>
      <p:ext uri="{BB962C8B-B14F-4D97-AF65-F5344CB8AC3E}">
        <p14:creationId xmlns:p14="http://schemas.microsoft.com/office/powerpoint/2010/main" val="4025720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Server(25/33)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Simplifying API Server Communication with Ambassador Container :</a:t>
            </a:r>
          </a:p>
          <a:p>
            <a:pPr lvl="1">
              <a:buFont typeface="Wingdings" panose="05000000000000000000" pitchFamily="2" charset="2"/>
              <a:buChar char="§"/>
            </a:pPr>
            <a:r>
              <a:rPr lang="en-US" altLang="ko-KR" sz="1400" b="1" dirty="0"/>
              <a:t>Dealing with HTTPS, certificates, and authentication tokens sometimes seems too complicated to developers</a:t>
            </a:r>
            <a:r>
              <a:rPr lang="en-US" altLang="ko-KR" sz="1400" dirty="0"/>
              <a:t>. You can make the communication much simpler while keeping it secure.</a:t>
            </a:r>
          </a:p>
          <a:p>
            <a:pPr lvl="1">
              <a:buFont typeface="Wingdings" panose="05000000000000000000" pitchFamily="2" charset="2"/>
              <a:buChar char="§"/>
            </a:pPr>
            <a:r>
              <a:rPr lang="en-US" altLang="ko-KR" sz="1400" b="1" dirty="0"/>
              <a:t>The “</a:t>
            </a:r>
            <a:r>
              <a:rPr lang="en-US" altLang="ko-KR" sz="1400" b="1" dirty="0" err="1">
                <a:solidFill>
                  <a:srgbClr val="FF0000"/>
                </a:solidFill>
              </a:rPr>
              <a:t>kubectl</a:t>
            </a:r>
            <a:r>
              <a:rPr lang="en-US" altLang="ko-KR" sz="1400" b="1" dirty="0">
                <a:solidFill>
                  <a:srgbClr val="FF0000"/>
                </a:solidFill>
              </a:rPr>
              <a:t> proxy</a:t>
            </a:r>
            <a:r>
              <a:rPr lang="en-US" altLang="ko-KR" sz="1400" b="1" dirty="0"/>
              <a:t>” command can be used on your local machine to access the API server</a:t>
            </a:r>
            <a:r>
              <a:rPr lang="en-US" altLang="ko-KR" sz="1400" dirty="0"/>
              <a:t>. </a:t>
            </a:r>
            <a:r>
              <a:rPr lang="en-US" altLang="ko-KR" sz="1400" b="1" dirty="0"/>
              <a:t>Instead of sending requests to the API server directly, you sent them to the proxy and let it take care of authentication, encryption, and server verification</a:t>
            </a:r>
            <a:r>
              <a:rPr lang="en-US" altLang="ko-KR" sz="1400" dirty="0"/>
              <a:t>. </a:t>
            </a:r>
            <a:r>
              <a:rPr lang="en-US" altLang="ko-KR" sz="1400" b="1" dirty="0"/>
              <a:t>The same method can be used inside your pods, as well</a:t>
            </a:r>
            <a:r>
              <a:rPr lang="en-US" altLang="ko-KR" sz="1400" dirty="0"/>
              <a:t>.</a:t>
            </a:r>
          </a:p>
          <a:p>
            <a:pPr lvl="1">
              <a:buFont typeface="Wingdings" panose="05000000000000000000" pitchFamily="2" charset="2"/>
              <a:buChar char="§"/>
            </a:pPr>
            <a:r>
              <a:rPr lang="en-US" altLang="ko-KR" sz="1400" dirty="0"/>
              <a:t>Imagine having an application that (among other things) needs to query the API server. </a:t>
            </a:r>
            <a:r>
              <a:rPr lang="en-US" altLang="ko-KR" sz="1400" b="1" dirty="0"/>
              <a:t>Instead of it talking to the API server directly, you can run “</a:t>
            </a:r>
            <a:r>
              <a:rPr lang="en-US" altLang="ko-KR" sz="1400" b="1" dirty="0" err="1">
                <a:solidFill>
                  <a:srgbClr val="FF0000"/>
                </a:solidFill>
              </a:rPr>
              <a:t>kubectl</a:t>
            </a:r>
            <a:r>
              <a:rPr lang="en-US" altLang="ko-KR" sz="1400" b="1" dirty="0">
                <a:solidFill>
                  <a:srgbClr val="FF0000"/>
                </a:solidFill>
              </a:rPr>
              <a:t> proxy</a:t>
            </a:r>
            <a:r>
              <a:rPr lang="en-US" altLang="ko-KR" sz="1400" b="1" dirty="0"/>
              <a:t>” in an </a:t>
            </a:r>
            <a:r>
              <a:rPr lang="en-US" altLang="ko-KR" sz="1400" b="1" dirty="0">
                <a:solidFill>
                  <a:srgbClr val="FF0000"/>
                </a:solidFill>
              </a:rPr>
              <a:t>ambassador container </a:t>
            </a:r>
            <a:r>
              <a:rPr lang="en-US" altLang="ko-KR" sz="1400" b="1" dirty="0"/>
              <a:t>alongside the main container and communicate with the API server through it</a:t>
            </a:r>
            <a:r>
              <a:rPr lang="en-US" altLang="ko-KR" sz="1400" dirty="0"/>
              <a:t>.</a:t>
            </a:r>
          </a:p>
          <a:p>
            <a:pPr lvl="1">
              <a:buFont typeface="Wingdings" panose="05000000000000000000" pitchFamily="2" charset="2"/>
              <a:buChar char="§"/>
            </a:pPr>
            <a:r>
              <a:rPr lang="en-US" altLang="ko-KR" sz="1400" b="1" dirty="0"/>
              <a:t>Instead of talking to the API server directly, the app in the main container can connect to the ambassador through HTTP (instead of HTTPS) and </a:t>
            </a:r>
            <a:r>
              <a:rPr lang="en-US" altLang="ko-KR" sz="1400" b="1" dirty="0">
                <a:solidFill>
                  <a:srgbClr val="FF0000"/>
                </a:solidFill>
              </a:rPr>
              <a:t>let the ambassador proxy handle the HTTPS connection </a:t>
            </a:r>
            <a:r>
              <a:rPr lang="en-US" altLang="ko-KR" sz="1400" b="1" dirty="0"/>
              <a:t>to the API server</a:t>
            </a:r>
            <a:r>
              <a:rPr lang="en-US" altLang="ko-KR" sz="1400" dirty="0"/>
              <a:t>, taking care of security transparently.</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Because </a:t>
            </a:r>
            <a:r>
              <a:rPr lang="en-US" altLang="ko-KR" sz="1400" b="1" dirty="0">
                <a:solidFill>
                  <a:srgbClr val="FF0000"/>
                </a:solidFill>
              </a:rPr>
              <a:t>all containers in a pod share the same loopback network interface</a:t>
            </a:r>
            <a:r>
              <a:rPr lang="en-US" altLang="ko-KR" sz="1400" b="1" dirty="0"/>
              <a:t>, your app can access the proxy through a port on localhost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681EB52-0AE6-ABCB-EEDF-9521F02811E0}"/>
              </a:ext>
            </a:extLst>
          </p:cNvPr>
          <p:cNvPicPr>
            <a:picLocks noChangeAspect="1"/>
          </p:cNvPicPr>
          <p:nvPr/>
        </p:nvPicPr>
        <p:blipFill>
          <a:blip r:embed="rId2"/>
          <a:stretch>
            <a:fillRect/>
          </a:stretch>
        </p:blipFill>
        <p:spPr>
          <a:xfrm>
            <a:off x="3972232" y="3721191"/>
            <a:ext cx="4247535" cy="1022555"/>
          </a:xfrm>
          <a:prstGeom prst="rect">
            <a:avLst/>
          </a:prstGeom>
        </p:spPr>
      </p:pic>
    </p:spTree>
    <p:extLst>
      <p:ext uri="{BB962C8B-B14F-4D97-AF65-F5344CB8AC3E}">
        <p14:creationId xmlns:p14="http://schemas.microsoft.com/office/powerpoint/2010/main" val="2764871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Server(26/33)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Simplifying API Server Communication with Ambassador Container :</a:t>
            </a:r>
          </a:p>
          <a:p>
            <a:pPr lvl="1">
              <a:buFont typeface="Wingdings" panose="05000000000000000000" pitchFamily="2" charset="2"/>
              <a:buChar char="§"/>
            </a:pPr>
            <a:r>
              <a:rPr lang="en-US" altLang="ko-KR" sz="1400" dirty="0"/>
              <a:t>To see the ambassador container pattern in action, you’ll create a new pod like the “</a:t>
            </a:r>
            <a:r>
              <a:rPr lang="en-US" altLang="ko-KR" sz="1400" b="1" dirty="0"/>
              <a:t>curl</a:t>
            </a:r>
            <a:r>
              <a:rPr lang="en-US" altLang="ko-KR" sz="1400" dirty="0"/>
              <a:t>” pod you created earlier, but this time, </a:t>
            </a:r>
            <a:r>
              <a:rPr lang="en-US" altLang="ko-KR" sz="1400" b="1" dirty="0"/>
              <a:t>instead of running a single container in the pod, you’ll run an additional ambassador container based on a general-purpose “</a:t>
            </a:r>
            <a:r>
              <a:rPr lang="en-US" altLang="ko-KR" sz="1400" b="1" dirty="0" err="1">
                <a:solidFill>
                  <a:srgbClr val="FF0000"/>
                </a:solidFill>
              </a:rPr>
              <a:t>kubectl</a:t>
            </a:r>
            <a:r>
              <a:rPr lang="en-US" altLang="ko-KR" sz="1400" b="1" dirty="0">
                <a:solidFill>
                  <a:srgbClr val="FF0000"/>
                </a:solidFill>
              </a:rPr>
              <a:t>-proxy</a:t>
            </a:r>
            <a:r>
              <a:rPr lang="en-US" altLang="ko-KR" sz="1400" b="1" dirty="0"/>
              <a:t>” container image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7" name="그룹 26">
            <a:extLst>
              <a:ext uri="{FF2B5EF4-FFF2-40B4-BE49-F238E27FC236}">
                <a16:creationId xmlns:a16="http://schemas.microsoft.com/office/drawing/2014/main" id="{53BF19A9-4CFF-C8C6-E1FF-9AC08A49F8DC}"/>
              </a:ext>
            </a:extLst>
          </p:cNvPr>
          <p:cNvGrpSpPr/>
          <p:nvPr/>
        </p:nvGrpSpPr>
        <p:grpSpPr>
          <a:xfrm>
            <a:off x="1313607" y="1803685"/>
            <a:ext cx="9564785" cy="4567852"/>
            <a:chOff x="1313607" y="1803685"/>
            <a:chExt cx="9564785" cy="4567852"/>
          </a:xfrm>
        </p:grpSpPr>
        <p:grpSp>
          <p:nvGrpSpPr>
            <p:cNvPr id="25" name="그룹 24">
              <a:extLst>
                <a:ext uri="{FF2B5EF4-FFF2-40B4-BE49-F238E27FC236}">
                  <a16:creationId xmlns:a16="http://schemas.microsoft.com/office/drawing/2014/main" id="{3AE49B2F-0515-B974-B976-B73AFEB61FB6}"/>
                </a:ext>
              </a:extLst>
            </p:cNvPr>
            <p:cNvGrpSpPr/>
            <p:nvPr/>
          </p:nvGrpSpPr>
          <p:grpSpPr>
            <a:xfrm>
              <a:off x="1313607" y="1803685"/>
              <a:ext cx="9564785" cy="4567852"/>
              <a:chOff x="1313607" y="1803685"/>
              <a:chExt cx="9564785" cy="4567852"/>
            </a:xfrm>
          </p:grpSpPr>
          <p:grpSp>
            <p:nvGrpSpPr>
              <p:cNvPr id="22" name="그룹 21">
                <a:extLst>
                  <a:ext uri="{FF2B5EF4-FFF2-40B4-BE49-F238E27FC236}">
                    <a16:creationId xmlns:a16="http://schemas.microsoft.com/office/drawing/2014/main" id="{C1A24A5C-C938-6E29-B2C2-BBC3206B0FBB}"/>
                  </a:ext>
                </a:extLst>
              </p:cNvPr>
              <p:cNvGrpSpPr/>
              <p:nvPr/>
            </p:nvGrpSpPr>
            <p:grpSpPr>
              <a:xfrm>
                <a:off x="1313607" y="1803685"/>
                <a:ext cx="9564785" cy="3157261"/>
                <a:chOff x="1313608" y="1998286"/>
                <a:chExt cx="9564785" cy="3157261"/>
              </a:xfrm>
            </p:grpSpPr>
            <p:grpSp>
              <p:nvGrpSpPr>
                <p:cNvPr id="20" name="그룹 19">
                  <a:extLst>
                    <a:ext uri="{FF2B5EF4-FFF2-40B4-BE49-F238E27FC236}">
                      <a16:creationId xmlns:a16="http://schemas.microsoft.com/office/drawing/2014/main" id="{351A0170-F78F-2441-72B3-862596CB087A}"/>
                    </a:ext>
                  </a:extLst>
                </p:cNvPr>
                <p:cNvGrpSpPr/>
                <p:nvPr/>
              </p:nvGrpSpPr>
              <p:grpSpPr>
                <a:xfrm>
                  <a:off x="1313608" y="1998286"/>
                  <a:ext cx="9564785" cy="3157261"/>
                  <a:chOff x="1313608" y="1998286"/>
                  <a:chExt cx="9564785" cy="3157261"/>
                </a:xfrm>
              </p:grpSpPr>
              <p:grpSp>
                <p:nvGrpSpPr>
                  <p:cNvPr id="17" name="그룹 16">
                    <a:extLst>
                      <a:ext uri="{FF2B5EF4-FFF2-40B4-BE49-F238E27FC236}">
                        <a16:creationId xmlns:a16="http://schemas.microsoft.com/office/drawing/2014/main" id="{5A488B68-0B9C-3A5F-13C3-3657ACEACB2B}"/>
                      </a:ext>
                    </a:extLst>
                  </p:cNvPr>
                  <p:cNvGrpSpPr/>
                  <p:nvPr/>
                </p:nvGrpSpPr>
                <p:grpSpPr>
                  <a:xfrm>
                    <a:off x="1313608" y="1998286"/>
                    <a:ext cx="9564785" cy="1571100"/>
                    <a:chOff x="1313607" y="1952246"/>
                    <a:chExt cx="9564785" cy="1571100"/>
                  </a:xfrm>
                </p:grpSpPr>
                <p:grpSp>
                  <p:nvGrpSpPr>
                    <p:cNvPr id="10" name="그룹 9">
                      <a:extLst>
                        <a:ext uri="{FF2B5EF4-FFF2-40B4-BE49-F238E27FC236}">
                          <a16:creationId xmlns:a16="http://schemas.microsoft.com/office/drawing/2014/main" id="{0149BC85-BB6C-C7C9-BED9-D5685EB14325}"/>
                        </a:ext>
                      </a:extLst>
                    </p:cNvPr>
                    <p:cNvGrpSpPr/>
                    <p:nvPr/>
                  </p:nvGrpSpPr>
                  <p:grpSpPr>
                    <a:xfrm>
                      <a:off x="1313607" y="1952246"/>
                      <a:ext cx="9564785" cy="861774"/>
                      <a:chOff x="1313607" y="1952246"/>
                      <a:chExt cx="9564785" cy="861774"/>
                    </a:xfrm>
                  </p:grpSpPr>
                  <p:sp>
                    <p:nvSpPr>
                      <p:cNvPr id="8" name="TextBox 7">
                        <a:extLst>
                          <a:ext uri="{FF2B5EF4-FFF2-40B4-BE49-F238E27FC236}">
                            <a16:creationId xmlns:a16="http://schemas.microsoft.com/office/drawing/2014/main" id="{718C5CE3-AB4C-3A0F-6A6C-AD2B7E360C43}"/>
                          </a:ext>
                        </a:extLst>
                      </p:cNvPr>
                      <p:cNvSpPr txBox="1"/>
                      <p:nvPr/>
                    </p:nvSpPr>
                    <p:spPr>
                      <a:xfrm>
                        <a:off x="1313607" y="1952246"/>
                        <a:ext cx="9564785" cy="861774"/>
                      </a:xfrm>
                      <a:prstGeom prst="rect">
                        <a:avLst/>
                      </a:prstGeom>
                      <a:noFill/>
                      <a:ln>
                        <a:solidFill>
                          <a:schemeClr val="bg1">
                            <a:lumMod val="50000"/>
                          </a:schemeClr>
                        </a:solidFill>
                      </a:ln>
                    </p:spPr>
                    <p:txBody>
                      <a:bodyPr wrap="square">
                        <a:spAutoFit/>
                      </a:bodyPr>
                      <a:lstStyle/>
                      <a:p>
                        <a:r>
                          <a:rPr lang="en-US" altLang="ko-KR" sz="1000" b="1" dirty="0"/>
                          <a:t>FROM </a:t>
                        </a:r>
                        <a:r>
                          <a:rPr lang="en-US" altLang="ko-KR" sz="1000" b="1" dirty="0">
                            <a:solidFill>
                              <a:srgbClr val="FF0000"/>
                            </a:solidFill>
                          </a:rPr>
                          <a:t>alpine</a:t>
                        </a:r>
                      </a:p>
                      <a:p>
                        <a:r>
                          <a:rPr lang="en-US" altLang="ko-KR" sz="1000" b="1" dirty="0"/>
                          <a:t>RUN </a:t>
                        </a:r>
                        <a:r>
                          <a:rPr lang="en-US" altLang="ko-KR" sz="1000" b="1" dirty="0" err="1"/>
                          <a:t>apk</a:t>
                        </a:r>
                        <a:r>
                          <a:rPr lang="en-US" altLang="ko-KR" sz="1000" b="1" dirty="0"/>
                          <a:t> update &amp;&amp; </a:t>
                        </a:r>
                        <a:r>
                          <a:rPr lang="en-US" altLang="ko-KR" sz="1000" b="1" dirty="0" err="1"/>
                          <a:t>apk</a:t>
                        </a:r>
                        <a:r>
                          <a:rPr lang="en-US" altLang="ko-KR" sz="1000" b="1" dirty="0"/>
                          <a:t> add curl &amp;&amp; curl -L -O https://dl.k8s.io/v1.8.0/kubernetes-client-linux-amd64.tar.gz &amp;&amp; tar </a:t>
                        </a:r>
                        <a:r>
                          <a:rPr lang="en-US" altLang="ko-KR" sz="1000" b="1" dirty="0" err="1"/>
                          <a:t>zvxf</a:t>
                        </a:r>
                        <a:r>
                          <a:rPr lang="en-US" altLang="ko-KR" sz="1000" b="1" dirty="0"/>
                          <a:t> kubernetes-client-linux-amd64.tar.gz </a:t>
                        </a:r>
                        <a:r>
                          <a:rPr lang="en-US" altLang="ko-KR" sz="1000" b="1" dirty="0" err="1"/>
                          <a:t>kubernetes</a:t>
                        </a:r>
                        <a:r>
                          <a:rPr lang="en-US" altLang="ko-KR" sz="1000" b="1" dirty="0"/>
                          <a:t>/client/bin/</a:t>
                        </a:r>
                        <a:r>
                          <a:rPr lang="en-US" altLang="ko-KR" sz="1000" b="1" dirty="0" err="1"/>
                          <a:t>kubectl</a:t>
                        </a:r>
                        <a:r>
                          <a:rPr lang="en-US" altLang="ko-KR" sz="1000" b="1" dirty="0"/>
                          <a:t> &amp;&amp; mv </a:t>
                        </a:r>
                        <a:r>
                          <a:rPr lang="en-US" altLang="ko-KR" sz="1000" b="1" dirty="0" err="1"/>
                          <a:t>kubernetes</a:t>
                        </a:r>
                        <a:r>
                          <a:rPr lang="en-US" altLang="ko-KR" sz="1000" b="1" dirty="0"/>
                          <a:t>/client/bin/</a:t>
                        </a:r>
                        <a:r>
                          <a:rPr lang="en-US" altLang="ko-KR" sz="1000" b="1" dirty="0" err="1"/>
                          <a:t>kubectl</a:t>
                        </a:r>
                        <a:r>
                          <a:rPr lang="en-US" altLang="ko-KR" sz="1000" b="1" dirty="0"/>
                          <a:t> / &amp;&amp; rm -rf </a:t>
                        </a:r>
                        <a:r>
                          <a:rPr lang="en-US" altLang="ko-KR" sz="1000" b="1" dirty="0" err="1"/>
                          <a:t>kubernetes</a:t>
                        </a:r>
                        <a:r>
                          <a:rPr lang="en-US" altLang="ko-KR" sz="1000" b="1" dirty="0"/>
                          <a:t> &amp;&amp; rm -f kubernetes-client-linux-amd64.tar.gz</a:t>
                        </a:r>
                      </a:p>
                      <a:p>
                        <a:r>
                          <a:rPr lang="en-US" altLang="ko-KR" sz="1000" b="1" dirty="0"/>
                          <a:t>ADD </a:t>
                        </a:r>
                        <a:r>
                          <a:rPr lang="en-US" altLang="ko-KR" sz="1000" b="1" dirty="0">
                            <a:solidFill>
                              <a:srgbClr val="FF0000"/>
                            </a:solidFill>
                          </a:rPr>
                          <a:t>kubectl-proxy.sh /kubectl-proxy.sh</a:t>
                        </a:r>
                      </a:p>
                      <a:p>
                        <a:r>
                          <a:rPr lang="en-US" altLang="ko-KR" sz="1000" b="1" dirty="0"/>
                          <a:t>ENTRYPOINT </a:t>
                        </a:r>
                        <a:r>
                          <a:rPr lang="en-US" altLang="ko-KR" sz="1000" b="1" dirty="0">
                            <a:solidFill>
                              <a:srgbClr val="FF0000"/>
                            </a:solidFill>
                          </a:rPr>
                          <a:t>/kubectl-proxy.sh</a:t>
                        </a:r>
                        <a:endParaRPr lang="ko-KR" altLang="en-US" sz="1000" b="1" dirty="0">
                          <a:solidFill>
                            <a:srgbClr val="FF0000"/>
                          </a:solidFill>
                        </a:endParaRPr>
                      </a:p>
                    </p:txBody>
                  </p:sp>
                  <p:sp>
                    <p:nvSpPr>
                      <p:cNvPr id="9" name="TextBox 8">
                        <a:extLst>
                          <a:ext uri="{FF2B5EF4-FFF2-40B4-BE49-F238E27FC236}">
                            <a16:creationId xmlns:a16="http://schemas.microsoft.com/office/drawing/2014/main" id="{E7670854-E4C8-C5DB-37C2-DF1640883AE9}"/>
                          </a:ext>
                        </a:extLst>
                      </p:cNvPr>
                      <p:cNvSpPr txBox="1"/>
                      <p:nvPr/>
                    </p:nvSpPr>
                    <p:spPr>
                      <a:xfrm>
                        <a:off x="9170873" y="1952246"/>
                        <a:ext cx="1707519" cy="246221"/>
                      </a:xfrm>
                      <a:prstGeom prst="rect">
                        <a:avLst/>
                      </a:prstGeom>
                      <a:noFill/>
                    </p:spPr>
                    <p:txBody>
                      <a:bodyPr wrap="none" rtlCol="0">
                        <a:spAutoFit/>
                      </a:bodyPr>
                      <a:lstStyle/>
                      <a:p>
                        <a:pPr algn="l"/>
                        <a:r>
                          <a:rPr lang="en-US" altLang="ko-KR" sz="1000" b="1" dirty="0" err="1">
                            <a:solidFill>
                              <a:srgbClr val="FF0000"/>
                            </a:solidFill>
                          </a:rPr>
                          <a:t>kubectl</a:t>
                        </a:r>
                        <a:r>
                          <a:rPr lang="en-US" altLang="ko-KR" sz="1000" b="1" dirty="0">
                            <a:solidFill>
                              <a:srgbClr val="FF0000"/>
                            </a:solidFill>
                          </a:rPr>
                          <a:t>-proxy/</a:t>
                        </a:r>
                        <a:r>
                          <a:rPr lang="en-US" altLang="ko-KR" sz="1000" b="1" dirty="0" err="1">
                            <a:solidFill>
                              <a:srgbClr val="FF0000"/>
                            </a:solidFill>
                          </a:rPr>
                          <a:t>Dockerfile</a:t>
                        </a:r>
                        <a:endParaRPr lang="ko-KR" altLang="en-US" sz="1000" b="1" dirty="0">
                          <a:solidFill>
                            <a:srgbClr val="FF0000"/>
                          </a:solidFill>
                        </a:endParaRPr>
                      </a:p>
                    </p:txBody>
                  </p:sp>
                </p:grpSp>
                <p:grpSp>
                  <p:nvGrpSpPr>
                    <p:cNvPr id="16" name="그룹 15">
                      <a:extLst>
                        <a:ext uri="{FF2B5EF4-FFF2-40B4-BE49-F238E27FC236}">
                          <a16:creationId xmlns:a16="http://schemas.microsoft.com/office/drawing/2014/main" id="{A028983A-545C-8B95-92D4-9CA5AAE1304F}"/>
                        </a:ext>
                      </a:extLst>
                    </p:cNvPr>
                    <p:cNvGrpSpPr/>
                    <p:nvPr/>
                  </p:nvGrpSpPr>
                  <p:grpSpPr>
                    <a:xfrm>
                      <a:off x="3047324" y="2855482"/>
                      <a:ext cx="6097348" cy="667864"/>
                      <a:chOff x="3047325" y="2988405"/>
                      <a:chExt cx="6097348" cy="667864"/>
                    </a:xfrm>
                  </p:grpSpPr>
                  <p:sp>
                    <p:nvSpPr>
                      <p:cNvPr id="12" name="TextBox 11">
                        <a:extLst>
                          <a:ext uri="{FF2B5EF4-FFF2-40B4-BE49-F238E27FC236}">
                            <a16:creationId xmlns:a16="http://schemas.microsoft.com/office/drawing/2014/main" id="{D70EE356-2A9C-6DC9-AED4-53FE1D7741C2}"/>
                          </a:ext>
                        </a:extLst>
                      </p:cNvPr>
                      <p:cNvSpPr txBox="1"/>
                      <p:nvPr/>
                    </p:nvSpPr>
                    <p:spPr>
                      <a:xfrm>
                        <a:off x="3047325" y="2988405"/>
                        <a:ext cx="6097348" cy="400110"/>
                      </a:xfrm>
                      <a:prstGeom prst="rect">
                        <a:avLst/>
                      </a:prstGeom>
                      <a:noFill/>
                      <a:ln>
                        <a:solidFill>
                          <a:schemeClr val="bg1">
                            <a:lumMod val="50000"/>
                          </a:schemeClr>
                        </a:solidFill>
                      </a:ln>
                    </p:spPr>
                    <p:txBody>
                      <a:bodyPr wrap="square">
                        <a:spAutoFit/>
                      </a:bodyPr>
                      <a:lstStyle/>
                      <a:p>
                        <a:r>
                          <a:rPr lang="en-US" altLang="ko-KR" sz="1000" b="1" dirty="0"/>
                          <a:t>$ docker build -t </a:t>
                        </a:r>
                        <a:r>
                          <a:rPr lang="en-US" altLang="ko-KR" sz="1000" b="1" dirty="0">
                            <a:solidFill>
                              <a:srgbClr val="FF0000"/>
                            </a:solidFill>
                          </a:rPr>
                          <a:t>knix008/</a:t>
                        </a:r>
                        <a:r>
                          <a:rPr lang="en-US" altLang="ko-KR" sz="1000" b="1" dirty="0" err="1">
                            <a:solidFill>
                              <a:srgbClr val="FF0000"/>
                            </a:solidFill>
                          </a:rPr>
                          <a:t>kubectl</a:t>
                        </a:r>
                        <a:r>
                          <a:rPr lang="en-US" altLang="ko-KR" sz="1000" b="1" dirty="0">
                            <a:solidFill>
                              <a:srgbClr val="FF0000"/>
                            </a:solidFill>
                          </a:rPr>
                          <a:t>-proxy </a:t>
                        </a:r>
                        <a:r>
                          <a:rPr lang="en-US" altLang="ko-KR" sz="1000" b="1" dirty="0"/>
                          <a:t>.</a:t>
                        </a:r>
                      </a:p>
                      <a:p>
                        <a:r>
                          <a:rPr lang="en-US" altLang="ko-KR" sz="1000" b="1" dirty="0"/>
                          <a:t>$ docker push </a:t>
                        </a:r>
                        <a:r>
                          <a:rPr lang="en-US" altLang="ko-KR" sz="1000" b="1" dirty="0">
                            <a:solidFill>
                              <a:srgbClr val="FF0000"/>
                            </a:solidFill>
                          </a:rPr>
                          <a:t>knix008/</a:t>
                        </a:r>
                        <a:r>
                          <a:rPr lang="en-US" altLang="ko-KR" sz="1000" b="1" dirty="0" err="1">
                            <a:solidFill>
                              <a:srgbClr val="FF0000"/>
                            </a:solidFill>
                          </a:rPr>
                          <a:t>kubectl</a:t>
                        </a:r>
                        <a:r>
                          <a:rPr lang="en-US" altLang="ko-KR" sz="1000" b="1" dirty="0">
                            <a:solidFill>
                              <a:srgbClr val="FF0000"/>
                            </a:solidFill>
                          </a:rPr>
                          <a:t>-proxy</a:t>
                        </a:r>
                        <a:endParaRPr lang="ko-KR" altLang="en-US" sz="1000" b="1" dirty="0">
                          <a:solidFill>
                            <a:srgbClr val="FF0000"/>
                          </a:solidFill>
                        </a:endParaRPr>
                      </a:p>
                    </p:txBody>
                  </p:sp>
                  <p:sp>
                    <p:nvSpPr>
                      <p:cNvPr id="15" name="화살표: 아래쪽 14">
                        <a:extLst>
                          <a:ext uri="{FF2B5EF4-FFF2-40B4-BE49-F238E27FC236}">
                            <a16:creationId xmlns:a16="http://schemas.microsoft.com/office/drawing/2014/main" id="{B37BA5EB-8685-79E0-EC69-3C679BC39AEB}"/>
                          </a:ext>
                        </a:extLst>
                      </p:cNvPr>
                      <p:cNvSpPr/>
                      <p:nvPr/>
                    </p:nvSpPr>
                    <p:spPr>
                      <a:xfrm>
                        <a:off x="5881560" y="3388515"/>
                        <a:ext cx="428878" cy="26775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pic>
                <p:nvPicPr>
                  <p:cNvPr id="19" name="그림 18">
                    <a:extLst>
                      <a:ext uri="{FF2B5EF4-FFF2-40B4-BE49-F238E27FC236}">
                        <a16:creationId xmlns:a16="http://schemas.microsoft.com/office/drawing/2014/main" id="{A6CEE475-1748-6C84-F42C-19D3E128B16F}"/>
                      </a:ext>
                    </a:extLst>
                  </p:cNvPr>
                  <p:cNvPicPr>
                    <a:picLocks noChangeAspect="1"/>
                  </p:cNvPicPr>
                  <p:nvPr/>
                </p:nvPicPr>
                <p:blipFill>
                  <a:blip r:embed="rId2"/>
                  <a:stretch>
                    <a:fillRect/>
                  </a:stretch>
                </p:blipFill>
                <p:spPr>
                  <a:xfrm>
                    <a:off x="1313608" y="3569386"/>
                    <a:ext cx="9564785" cy="1586161"/>
                  </a:xfrm>
                  <a:prstGeom prst="rect">
                    <a:avLst/>
                  </a:prstGeom>
                </p:spPr>
              </p:pic>
            </p:grpSp>
            <p:sp>
              <p:nvSpPr>
                <p:cNvPr id="21" name="직사각형 20">
                  <a:extLst>
                    <a:ext uri="{FF2B5EF4-FFF2-40B4-BE49-F238E27FC236}">
                      <a16:creationId xmlns:a16="http://schemas.microsoft.com/office/drawing/2014/main" id="{51BFAEB6-5C9F-254A-CE0E-440FD0255A70}"/>
                    </a:ext>
                  </a:extLst>
                </p:cNvPr>
                <p:cNvSpPr/>
                <p:nvPr/>
              </p:nvSpPr>
              <p:spPr>
                <a:xfrm>
                  <a:off x="6263235" y="3993109"/>
                  <a:ext cx="2192942" cy="2103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4" name="그림 23">
                <a:extLst>
                  <a:ext uri="{FF2B5EF4-FFF2-40B4-BE49-F238E27FC236}">
                    <a16:creationId xmlns:a16="http://schemas.microsoft.com/office/drawing/2014/main" id="{A4111154-B3D8-6996-BBFA-8BB5FBEA670C}"/>
                  </a:ext>
                </a:extLst>
              </p:cNvPr>
              <p:cNvPicPr>
                <a:picLocks noChangeAspect="1"/>
              </p:cNvPicPr>
              <p:nvPr/>
            </p:nvPicPr>
            <p:blipFill>
              <a:blip r:embed="rId3"/>
              <a:stretch>
                <a:fillRect/>
              </a:stretch>
            </p:blipFill>
            <p:spPr>
              <a:xfrm>
                <a:off x="1313607" y="4857113"/>
                <a:ext cx="9564785" cy="1514424"/>
              </a:xfrm>
              <a:prstGeom prst="rect">
                <a:avLst/>
              </a:prstGeom>
              <a:ln>
                <a:solidFill>
                  <a:schemeClr val="bg1">
                    <a:lumMod val="50000"/>
                  </a:schemeClr>
                </a:solidFill>
              </a:ln>
            </p:spPr>
          </p:pic>
        </p:grpSp>
        <p:sp>
          <p:nvSpPr>
            <p:cNvPr id="26" name="직사각형 25">
              <a:extLst>
                <a:ext uri="{FF2B5EF4-FFF2-40B4-BE49-F238E27FC236}">
                  <a16:creationId xmlns:a16="http://schemas.microsoft.com/office/drawing/2014/main" id="{FE2D50F5-A1DF-F962-E9C8-F75283760F89}"/>
                </a:ext>
              </a:extLst>
            </p:cNvPr>
            <p:cNvSpPr/>
            <p:nvPr/>
          </p:nvSpPr>
          <p:spPr>
            <a:xfrm>
              <a:off x="1424198" y="5583504"/>
              <a:ext cx="6190407" cy="2832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10240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Server(27/33)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Simplifying API Server Communication with Ambassador Container :</a:t>
            </a:r>
          </a:p>
          <a:p>
            <a:pPr lvl="1">
              <a:buFont typeface="Wingdings" panose="05000000000000000000" pitchFamily="2" charset="2"/>
              <a:buChar char="§"/>
            </a:pPr>
            <a:r>
              <a:rPr lang="en-US" altLang="ko-KR" sz="1400" dirty="0"/>
              <a:t>The </a:t>
            </a:r>
            <a:r>
              <a:rPr lang="en-US" altLang="ko-KR" sz="1400" b="1" dirty="0"/>
              <a:t>pod’s manifest </a:t>
            </a:r>
            <a:r>
              <a:rPr lang="en-US" altLang="ko-KR" sz="1400" dirty="0"/>
              <a:t>is shown in the following listing. The pod spec is almost the same as before, but with a different pod name and an additional container.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can use “$ </a:t>
            </a:r>
            <a:r>
              <a:rPr lang="en-US" altLang="ko-KR" sz="1400" b="1" dirty="0" err="1"/>
              <a:t>kubectl</a:t>
            </a:r>
            <a:r>
              <a:rPr lang="en-US" altLang="ko-KR" sz="1400" b="1" dirty="0"/>
              <a:t> exec -it curl-with-ambassador -c main </a:t>
            </a:r>
            <a:r>
              <a:rPr lang="en-US" altLang="ko-KR" sz="1400" b="1" dirty="0">
                <a:solidFill>
                  <a:srgbClr val="FF0000"/>
                </a:solidFill>
              </a:rPr>
              <a:t>-- bash</a:t>
            </a:r>
            <a:r>
              <a:rPr lang="en-US" altLang="ko-KR" sz="1400" b="1" dirty="0"/>
              <a:t>” command instead</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1" name="그룹 20">
            <a:extLst>
              <a:ext uri="{FF2B5EF4-FFF2-40B4-BE49-F238E27FC236}">
                <a16:creationId xmlns:a16="http://schemas.microsoft.com/office/drawing/2014/main" id="{D97758E0-6284-6824-88AD-860DABBE902F}"/>
              </a:ext>
            </a:extLst>
          </p:cNvPr>
          <p:cNvGrpSpPr/>
          <p:nvPr/>
        </p:nvGrpSpPr>
        <p:grpSpPr>
          <a:xfrm>
            <a:off x="1363676" y="1627712"/>
            <a:ext cx="9464647" cy="4196705"/>
            <a:chOff x="1363676" y="1643896"/>
            <a:chExt cx="9464647" cy="4196705"/>
          </a:xfrm>
        </p:grpSpPr>
        <p:grpSp>
          <p:nvGrpSpPr>
            <p:cNvPr id="10" name="그룹 9">
              <a:extLst>
                <a:ext uri="{FF2B5EF4-FFF2-40B4-BE49-F238E27FC236}">
                  <a16:creationId xmlns:a16="http://schemas.microsoft.com/office/drawing/2014/main" id="{E072FD89-6B04-C2D4-79DB-672A5E8CC09A}"/>
                </a:ext>
              </a:extLst>
            </p:cNvPr>
            <p:cNvGrpSpPr/>
            <p:nvPr/>
          </p:nvGrpSpPr>
          <p:grpSpPr>
            <a:xfrm>
              <a:off x="3047326" y="1643896"/>
              <a:ext cx="6097348" cy="1785104"/>
              <a:chOff x="3047326" y="1464853"/>
              <a:chExt cx="6097348" cy="1785104"/>
            </a:xfrm>
          </p:grpSpPr>
          <p:sp>
            <p:nvSpPr>
              <p:cNvPr id="8" name="TextBox 7">
                <a:extLst>
                  <a:ext uri="{FF2B5EF4-FFF2-40B4-BE49-F238E27FC236}">
                    <a16:creationId xmlns:a16="http://schemas.microsoft.com/office/drawing/2014/main" id="{CB3D4F0D-D0E2-AF89-C298-22AF9998A60B}"/>
                  </a:ext>
                </a:extLst>
              </p:cNvPr>
              <p:cNvSpPr txBox="1"/>
              <p:nvPr/>
            </p:nvSpPr>
            <p:spPr>
              <a:xfrm>
                <a:off x="3047326" y="1464853"/>
                <a:ext cx="6097348"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a:solidFill>
                      <a:srgbClr val="FF0000"/>
                    </a:solidFill>
                  </a:rPr>
                  <a:t>curl-with-ambassador</a:t>
                </a:r>
              </a:p>
              <a:p>
                <a:r>
                  <a:rPr lang="en-US" altLang="ko-KR" sz="1000" b="1" dirty="0"/>
                  <a:t>spec:</a:t>
                </a:r>
              </a:p>
              <a:p>
                <a:r>
                  <a:rPr lang="en-US" altLang="ko-KR" sz="1000" b="1" dirty="0"/>
                  <a:t>  containers:</a:t>
                </a:r>
              </a:p>
              <a:p>
                <a:r>
                  <a:rPr lang="en-US" altLang="ko-KR" sz="1000" b="1" dirty="0"/>
                  <a:t>  - name: </a:t>
                </a:r>
                <a:r>
                  <a:rPr lang="en-US" altLang="ko-KR" sz="1000" b="1" dirty="0">
                    <a:solidFill>
                      <a:srgbClr val="FF0000"/>
                    </a:solidFill>
                  </a:rPr>
                  <a:t>main</a:t>
                </a:r>
              </a:p>
              <a:p>
                <a:r>
                  <a:rPr lang="en-US" altLang="ko-KR" sz="1000" b="1" dirty="0"/>
                  <a:t>    image: </a:t>
                </a:r>
                <a:r>
                  <a:rPr lang="en-US" altLang="ko-KR" sz="1000" b="1" dirty="0">
                    <a:solidFill>
                      <a:srgbClr val="FF0000"/>
                    </a:solidFill>
                  </a:rPr>
                  <a:t>knix008/</a:t>
                </a:r>
                <a:r>
                  <a:rPr lang="en-US" altLang="ko-KR" sz="1000" b="1" dirty="0" err="1">
                    <a:solidFill>
                      <a:srgbClr val="FF0000"/>
                    </a:solidFill>
                  </a:rPr>
                  <a:t>curl:latest</a:t>
                </a:r>
                <a:endParaRPr lang="en-US" altLang="ko-KR" sz="1000" b="1" dirty="0">
                  <a:solidFill>
                    <a:srgbClr val="FF0000"/>
                  </a:solidFill>
                </a:endParaRPr>
              </a:p>
              <a:p>
                <a:r>
                  <a:rPr lang="en-US" altLang="ko-KR" sz="1000" b="1" dirty="0"/>
                  <a:t>    command: ["sleep", "9999999"]</a:t>
                </a:r>
              </a:p>
              <a:p>
                <a:r>
                  <a:rPr lang="en-US" altLang="ko-KR" sz="1000" b="1" dirty="0"/>
                  <a:t>  - name: </a:t>
                </a:r>
                <a:r>
                  <a:rPr lang="en-US" altLang="ko-KR" sz="1000" b="1" dirty="0">
                    <a:solidFill>
                      <a:srgbClr val="FF0000"/>
                    </a:solidFill>
                  </a:rPr>
                  <a:t>ambassador</a:t>
                </a:r>
              </a:p>
              <a:p>
                <a:r>
                  <a:rPr lang="en-US" altLang="ko-KR" sz="1000" b="1" dirty="0"/>
                  <a:t>    image: </a:t>
                </a:r>
                <a:r>
                  <a:rPr lang="en-US" altLang="ko-KR" sz="1000" b="1" dirty="0">
                    <a:solidFill>
                      <a:srgbClr val="FF0000"/>
                    </a:solidFill>
                  </a:rPr>
                  <a:t>knix008/</a:t>
                </a:r>
                <a:r>
                  <a:rPr lang="en-US" altLang="ko-KR" sz="1000" b="1" dirty="0" err="1">
                    <a:solidFill>
                      <a:srgbClr val="FF0000"/>
                    </a:solidFill>
                  </a:rPr>
                  <a:t>kubectl-proxy:latest</a:t>
                </a:r>
                <a:endParaRPr lang="ko-KR" altLang="en-US" sz="1000" b="1" dirty="0">
                  <a:solidFill>
                    <a:srgbClr val="FF0000"/>
                  </a:solidFill>
                </a:endParaRPr>
              </a:p>
            </p:txBody>
          </p:sp>
          <p:sp>
            <p:nvSpPr>
              <p:cNvPr id="9" name="TextBox 8">
                <a:extLst>
                  <a:ext uri="{FF2B5EF4-FFF2-40B4-BE49-F238E27FC236}">
                    <a16:creationId xmlns:a16="http://schemas.microsoft.com/office/drawing/2014/main" id="{62F4C764-1BBF-33DF-455B-0A45925A1E1E}"/>
                  </a:ext>
                </a:extLst>
              </p:cNvPr>
              <p:cNvSpPr txBox="1"/>
              <p:nvPr/>
            </p:nvSpPr>
            <p:spPr>
              <a:xfrm>
                <a:off x="7302503" y="1464853"/>
                <a:ext cx="1842171" cy="246221"/>
              </a:xfrm>
              <a:prstGeom prst="rect">
                <a:avLst/>
              </a:prstGeom>
              <a:noFill/>
            </p:spPr>
            <p:txBody>
              <a:bodyPr wrap="none" rtlCol="0">
                <a:spAutoFit/>
              </a:bodyPr>
              <a:lstStyle/>
              <a:p>
                <a:pPr algn="l"/>
                <a:r>
                  <a:rPr lang="en-US" altLang="ko-KR" sz="1000" b="1" dirty="0"/>
                  <a:t>curl-with-</a:t>
                </a:r>
                <a:r>
                  <a:rPr lang="en-US" altLang="ko-KR" sz="1000" b="1" dirty="0" err="1"/>
                  <a:t>ambassador.yaml</a:t>
                </a:r>
                <a:endParaRPr lang="ko-KR" altLang="en-US" sz="1000" b="1" dirty="0"/>
              </a:p>
            </p:txBody>
          </p:sp>
        </p:grpSp>
        <p:grpSp>
          <p:nvGrpSpPr>
            <p:cNvPr id="20" name="그룹 19">
              <a:extLst>
                <a:ext uri="{FF2B5EF4-FFF2-40B4-BE49-F238E27FC236}">
                  <a16:creationId xmlns:a16="http://schemas.microsoft.com/office/drawing/2014/main" id="{B65DFFC4-8471-4DEA-A249-0CCD7591F269}"/>
                </a:ext>
              </a:extLst>
            </p:cNvPr>
            <p:cNvGrpSpPr/>
            <p:nvPr/>
          </p:nvGrpSpPr>
          <p:grpSpPr>
            <a:xfrm>
              <a:off x="1363676" y="3523069"/>
              <a:ext cx="9464647" cy="2317532"/>
              <a:chOff x="1363676" y="3523069"/>
              <a:chExt cx="9464647" cy="2317532"/>
            </a:xfrm>
          </p:grpSpPr>
          <p:grpSp>
            <p:nvGrpSpPr>
              <p:cNvPr id="17" name="그룹 16">
                <a:extLst>
                  <a:ext uri="{FF2B5EF4-FFF2-40B4-BE49-F238E27FC236}">
                    <a16:creationId xmlns:a16="http://schemas.microsoft.com/office/drawing/2014/main" id="{3A00AB71-8637-9642-9449-F695921CC012}"/>
                  </a:ext>
                </a:extLst>
              </p:cNvPr>
              <p:cNvGrpSpPr/>
              <p:nvPr/>
            </p:nvGrpSpPr>
            <p:grpSpPr>
              <a:xfrm>
                <a:off x="3047326" y="3523069"/>
                <a:ext cx="6097348" cy="668605"/>
                <a:chOff x="3047326" y="3523069"/>
                <a:chExt cx="6097348" cy="668605"/>
              </a:xfrm>
            </p:grpSpPr>
            <p:sp>
              <p:nvSpPr>
                <p:cNvPr id="13" name="TextBox 12">
                  <a:extLst>
                    <a:ext uri="{FF2B5EF4-FFF2-40B4-BE49-F238E27FC236}">
                      <a16:creationId xmlns:a16="http://schemas.microsoft.com/office/drawing/2014/main" id="{475E5BFF-A9D6-ADE2-64F7-84D9A6868B5A}"/>
                    </a:ext>
                  </a:extLst>
                </p:cNvPr>
                <p:cNvSpPr txBox="1"/>
                <p:nvPr/>
              </p:nvSpPr>
              <p:spPr>
                <a:xfrm>
                  <a:off x="3047326" y="3523069"/>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curl-with-</a:t>
                  </a:r>
                  <a:r>
                    <a:rPr lang="en-US" altLang="ko-KR" sz="1000" b="1" dirty="0" err="1">
                      <a:solidFill>
                        <a:srgbClr val="FF0000"/>
                      </a:solidFill>
                    </a:rPr>
                    <a:t>ambassador.yaml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curl-with-ambassador -c main bash</a:t>
                  </a:r>
                  <a:endParaRPr lang="ko-KR" altLang="en-US" sz="1000" b="1" dirty="0">
                    <a:solidFill>
                      <a:srgbClr val="FF0000"/>
                    </a:solidFill>
                  </a:endParaRPr>
                </a:p>
              </p:txBody>
            </p:sp>
            <p:sp>
              <p:nvSpPr>
                <p:cNvPr id="14" name="화살표: 아래쪽 13">
                  <a:extLst>
                    <a:ext uri="{FF2B5EF4-FFF2-40B4-BE49-F238E27FC236}">
                      <a16:creationId xmlns:a16="http://schemas.microsoft.com/office/drawing/2014/main" id="{6144C7BF-4BDF-52B0-D1A1-75BD580B937C}"/>
                    </a:ext>
                  </a:extLst>
                </p:cNvPr>
                <p:cNvSpPr/>
                <p:nvPr/>
              </p:nvSpPr>
              <p:spPr>
                <a:xfrm>
                  <a:off x="5869423" y="3923179"/>
                  <a:ext cx="453154" cy="26849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그림 18">
                <a:extLst>
                  <a:ext uri="{FF2B5EF4-FFF2-40B4-BE49-F238E27FC236}">
                    <a16:creationId xmlns:a16="http://schemas.microsoft.com/office/drawing/2014/main" id="{86825A88-E7FE-3815-86D3-3FC0849A0B8F}"/>
                  </a:ext>
                </a:extLst>
              </p:cNvPr>
              <p:cNvPicPr>
                <a:picLocks noChangeAspect="1"/>
              </p:cNvPicPr>
              <p:nvPr/>
            </p:nvPicPr>
            <p:blipFill>
              <a:blip r:embed="rId2"/>
              <a:stretch>
                <a:fillRect/>
              </a:stretch>
            </p:blipFill>
            <p:spPr>
              <a:xfrm>
                <a:off x="1363676" y="4192175"/>
                <a:ext cx="9464647" cy="1648426"/>
              </a:xfrm>
              <a:prstGeom prst="rect">
                <a:avLst/>
              </a:prstGeom>
            </p:spPr>
          </p:pic>
        </p:grpSp>
      </p:grpSp>
    </p:spTree>
    <p:extLst>
      <p:ext uri="{BB962C8B-B14F-4D97-AF65-F5344CB8AC3E}">
        <p14:creationId xmlns:p14="http://schemas.microsoft.com/office/powerpoint/2010/main" val="888659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Server(28/33)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Simplifying API Server Communication with Ambassador Container :</a:t>
            </a:r>
          </a:p>
          <a:p>
            <a:pPr lvl="1">
              <a:buFont typeface="Wingdings" panose="05000000000000000000" pitchFamily="2" charset="2"/>
              <a:buChar char="§"/>
            </a:pPr>
            <a:r>
              <a:rPr lang="en-US" altLang="ko-KR" sz="1400" dirty="0"/>
              <a:t>Your pod now has two containers, and you want to </a:t>
            </a:r>
            <a:r>
              <a:rPr lang="en-US" altLang="ko-KR" sz="1400" b="1" dirty="0"/>
              <a:t>run “bash” in the “main” container</a:t>
            </a:r>
            <a:r>
              <a:rPr lang="en-US" altLang="ko-KR" sz="1400" dirty="0"/>
              <a:t>, hence the “</a:t>
            </a:r>
            <a:r>
              <a:rPr lang="en-US" altLang="ko-KR" sz="1400" b="1" dirty="0"/>
              <a:t>-c main</a:t>
            </a:r>
            <a:r>
              <a:rPr lang="en-US" altLang="ko-KR" sz="1400" dirty="0"/>
              <a:t>” option. You don’t need to specify the container explicitly if you want to run the command in the pod’s first container. </a:t>
            </a:r>
            <a:r>
              <a:rPr lang="en-US" altLang="ko-KR" sz="1400" b="1" dirty="0"/>
              <a:t>But if you want to run a command inside any other container, you do need to specify the container’s name using the “</a:t>
            </a:r>
            <a:r>
              <a:rPr lang="en-US" altLang="ko-KR" sz="1400" b="1" dirty="0">
                <a:solidFill>
                  <a:srgbClr val="FF0000"/>
                </a:solidFill>
              </a:rPr>
              <a:t>-c</a:t>
            </a:r>
            <a:r>
              <a:rPr lang="en-US" altLang="ko-KR" sz="1400" b="1" dirty="0"/>
              <a:t>” option</a:t>
            </a:r>
            <a:r>
              <a:rPr lang="en-US" altLang="ko-KR" sz="1400" dirty="0"/>
              <a:t>.</a:t>
            </a:r>
          </a:p>
          <a:p>
            <a:pPr lvl="1">
              <a:buFont typeface="Wingdings" panose="05000000000000000000" pitchFamily="2" charset="2"/>
              <a:buChar char="§"/>
            </a:pPr>
            <a:r>
              <a:rPr lang="en-US" altLang="ko-KR" sz="1400" b="1" dirty="0"/>
              <a:t>Next you’ll try connecting to the API server through the ambassador container</a:t>
            </a:r>
            <a:r>
              <a:rPr lang="en-US" altLang="ko-KR" sz="1400" dirty="0"/>
              <a:t>. By default, “</a:t>
            </a:r>
            <a:r>
              <a:rPr lang="en-US" altLang="ko-KR" sz="1400" b="1" dirty="0" err="1"/>
              <a:t>kubectl</a:t>
            </a:r>
            <a:r>
              <a:rPr lang="en-US" altLang="ko-KR" sz="1400" b="1" dirty="0"/>
              <a:t> proxy</a:t>
            </a:r>
            <a:r>
              <a:rPr lang="en-US" altLang="ko-KR" sz="1400" dirty="0"/>
              <a:t>” </a:t>
            </a:r>
            <a:r>
              <a:rPr lang="en-US" altLang="ko-KR" sz="1400" b="1" dirty="0"/>
              <a:t>binds to port 8001, and because both containers in the pod share the same network interfaces, including loopback, you can point “curl” to “localhost:8001”</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output printed by “curl” is the same response you saw earlier, but this time you didn’t need to deal with authentication tokens and server certificates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6E05E52C-6D5F-595B-3FC8-A2F85535EE9D}"/>
              </a:ext>
            </a:extLst>
          </p:cNvPr>
          <p:cNvGrpSpPr/>
          <p:nvPr/>
        </p:nvGrpSpPr>
        <p:grpSpPr>
          <a:xfrm>
            <a:off x="1295063" y="2752743"/>
            <a:ext cx="9601874" cy="2192190"/>
            <a:chOff x="1295063" y="2720375"/>
            <a:chExt cx="9601874" cy="2192190"/>
          </a:xfrm>
        </p:grpSpPr>
        <p:grpSp>
          <p:nvGrpSpPr>
            <p:cNvPr id="12" name="그룹 11">
              <a:extLst>
                <a:ext uri="{FF2B5EF4-FFF2-40B4-BE49-F238E27FC236}">
                  <a16:creationId xmlns:a16="http://schemas.microsoft.com/office/drawing/2014/main" id="{2983DF74-D0ED-96A5-CD82-8EC5C33839DE}"/>
                </a:ext>
              </a:extLst>
            </p:cNvPr>
            <p:cNvGrpSpPr/>
            <p:nvPr/>
          </p:nvGrpSpPr>
          <p:grpSpPr>
            <a:xfrm>
              <a:off x="1295063" y="2720375"/>
              <a:ext cx="9601874" cy="2192190"/>
              <a:chOff x="1295063" y="2720375"/>
              <a:chExt cx="9601874" cy="2192190"/>
            </a:xfrm>
          </p:grpSpPr>
          <p:sp>
            <p:nvSpPr>
              <p:cNvPr id="8" name="TextBox 7">
                <a:extLst>
                  <a:ext uri="{FF2B5EF4-FFF2-40B4-BE49-F238E27FC236}">
                    <a16:creationId xmlns:a16="http://schemas.microsoft.com/office/drawing/2014/main" id="{24BFDA8F-7EA8-7A6F-5E09-F4F3FCC822DA}"/>
                  </a:ext>
                </a:extLst>
              </p:cNvPr>
              <p:cNvSpPr txBox="1"/>
              <p:nvPr/>
            </p:nvSpPr>
            <p:spPr>
              <a:xfrm>
                <a:off x="3047326" y="2720375"/>
                <a:ext cx="6097348" cy="246221"/>
              </a:xfrm>
              <a:prstGeom prst="rect">
                <a:avLst/>
              </a:prstGeom>
              <a:noFill/>
              <a:ln>
                <a:solidFill>
                  <a:schemeClr val="bg1">
                    <a:lumMod val="50000"/>
                  </a:schemeClr>
                </a:solidFill>
              </a:ln>
            </p:spPr>
            <p:txBody>
              <a:bodyPr wrap="square">
                <a:spAutoFit/>
              </a:bodyPr>
              <a:lstStyle/>
              <a:p>
                <a:r>
                  <a:rPr lang="pt-BR" altLang="ko-KR" sz="1000" b="1" dirty="0"/>
                  <a:t>root@curl-with-ambassador:/# </a:t>
                </a:r>
                <a:r>
                  <a:rPr lang="pt-BR" altLang="ko-KR" sz="1000" b="1" dirty="0">
                    <a:solidFill>
                      <a:srgbClr val="FF0000"/>
                    </a:solidFill>
                  </a:rPr>
                  <a:t>curl localhost:8001</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FF6E3EC3-0FD9-DFFF-35BC-A00523819050}"/>
                  </a:ext>
                </a:extLst>
              </p:cNvPr>
              <p:cNvPicPr>
                <a:picLocks noChangeAspect="1"/>
              </p:cNvPicPr>
              <p:nvPr/>
            </p:nvPicPr>
            <p:blipFill>
              <a:blip r:embed="rId2"/>
              <a:stretch>
                <a:fillRect/>
              </a:stretch>
            </p:blipFill>
            <p:spPr>
              <a:xfrm>
                <a:off x="1295063" y="3240239"/>
                <a:ext cx="9601874" cy="1672326"/>
              </a:xfrm>
              <a:prstGeom prst="rect">
                <a:avLst/>
              </a:prstGeom>
            </p:spPr>
          </p:pic>
          <p:sp>
            <p:nvSpPr>
              <p:cNvPr id="11" name="화살표: 아래쪽 10">
                <a:extLst>
                  <a:ext uri="{FF2B5EF4-FFF2-40B4-BE49-F238E27FC236}">
                    <a16:creationId xmlns:a16="http://schemas.microsoft.com/office/drawing/2014/main" id="{BD9FDD34-A9F6-AB47-02B0-A2A461096228}"/>
                  </a:ext>
                </a:extLst>
              </p:cNvPr>
              <p:cNvSpPr/>
              <p:nvPr/>
            </p:nvSpPr>
            <p:spPr>
              <a:xfrm>
                <a:off x="5897745" y="2975414"/>
                <a:ext cx="39651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263D7825-6174-A099-FEDD-A5D663C69A9F}"/>
                </a:ext>
              </a:extLst>
            </p:cNvPr>
            <p:cNvSpPr/>
            <p:nvPr/>
          </p:nvSpPr>
          <p:spPr>
            <a:xfrm>
              <a:off x="3277274" y="3681876"/>
              <a:ext cx="1278542"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073269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Server(29/33)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Simplifying API Server Communication with Ambassador Container :</a:t>
            </a:r>
          </a:p>
          <a:p>
            <a:pPr lvl="1">
              <a:buFont typeface="Wingdings" panose="05000000000000000000" pitchFamily="2" charset="2"/>
              <a:buChar char="§"/>
            </a:pPr>
            <a:r>
              <a:rPr lang="en-US" altLang="ko-KR" sz="1400" dirty="0"/>
              <a:t>To get a clear picture of what exactly happened, refer to the following figure. </a:t>
            </a:r>
            <a:r>
              <a:rPr lang="en-US" altLang="ko-KR" sz="1400" b="1" dirty="0"/>
              <a:t>The “curl” sent the plain HTTP request (without any authentication headers) to the proxy running inside the ambassador container, and then the proxy sent an HTTPS request to the API server</a:t>
            </a:r>
            <a:r>
              <a:rPr lang="en-US" altLang="ko-KR" sz="1400" dirty="0"/>
              <a:t>, handling the client authentication by sending the token and checking the server’s identity by validating its certificate.</a:t>
            </a:r>
          </a:p>
          <a:p>
            <a:pPr lvl="1">
              <a:buFont typeface="Wingdings" panose="05000000000000000000" pitchFamily="2" charset="2"/>
              <a:buChar char="§"/>
            </a:pPr>
            <a:r>
              <a:rPr lang="en-US" altLang="ko-KR" sz="1400" dirty="0"/>
              <a:t>This is a great example of </a:t>
            </a:r>
            <a:r>
              <a:rPr lang="en-US" altLang="ko-KR" sz="1400" b="1" dirty="0"/>
              <a:t>how an ambassador container can be used to hide the complexities of connecting to an external service and simplify the app running in the main container</a:t>
            </a:r>
            <a:r>
              <a:rPr lang="en-US" altLang="ko-KR" sz="1400" dirty="0"/>
              <a:t>. The ambassador container is </a:t>
            </a:r>
            <a:r>
              <a:rPr lang="en-US" altLang="ko-KR" sz="1400" b="1" dirty="0"/>
              <a:t>reusable</a:t>
            </a:r>
            <a:r>
              <a:rPr lang="en-US" altLang="ko-KR" sz="1400" dirty="0"/>
              <a:t> across many different apps, regardless of what language the main app is written in. </a:t>
            </a:r>
            <a:r>
              <a:rPr lang="en-US" altLang="ko-KR" sz="1400" b="1" dirty="0"/>
              <a:t>The downside is that an additional process is running and consuming additional resources.</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98F0576C-2DD0-761B-5064-D5FD535C1768}"/>
              </a:ext>
            </a:extLst>
          </p:cNvPr>
          <p:cNvGrpSpPr/>
          <p:nvPr/>
        </p:nvGrpSpPr>
        <p:grpSpPr>
          <a:xfrm>
            <a:off x="2371304" y="2815837"/>
            <a:ext cx="7449392" cy="3596337"/>
            <a:chOff x="2371304" y="2815837"/>
            <a:chExt cx="7449392" cy="3596337"/>
          </a:xfrm>
        </p:grpSpPr>
        <p:grpSp>
          <p:nvGrpSpPr>
            <p:cNvPr id="10" name="그룹 9">
              <a:extLst>
                <a:ext uri="{FF2B5EF4-FFF2-40B4-BE49-F238E27FC236}">
                  <a16:creationId xmlns:a16="http://schemas.microsoft.com/office/drawing/2014/main" id="{3A082D70-57A7-682E-44DC-55F2A6ADFB6D}"/>
                </a:ext>
              </a:extLst>
            </p:cNvPr>
            <p:cNvGrpSpPr/>
            <p:nvPr/>
          </p:nvGrpSpPr>
          <p:grpSpPr>
            <a:xfrm>
              <a:off x="3543300" y="4011874"/>
              <a:ext cx="5105400" cy="2400300"/>
              <a:chOff x="3543300" y="3429000"/>
              <a:chExt cx="5105400" cy="2400300"/>
            </a:xfrm>
          </p:grpSpPr>
          <p:pic>
            <p:nvPicPr>
              <p:cNvPr id="8" name="그림 7">
                <a:extLst>
                  <a:ext uri="{FF2B5EF4-FFF2-40B4-BE49-F238E27FC236}">
                    <a16:creationId xmlns:a16="http://schemas.microsoft.com/office/drawing/2014/main" id="{59870D29-854D-40EE-4E25-C90CB70B833B}"/>
                  </a:ext>
                </a:extLst>
              </p:cNvPr>
              <p:cNvPicPr>
                <a:picLocks noChangeAspect="1"/>
              </p:cNvPicPr>
              <p:nvPr/>
            </p:nvPicPr>
            <p:blipFill>
              <a:blip r:embed="rId2"/>
              <a:stretch>
                <a:fillRect/>
              </a:stretch>
            </p:blipFill>
            <p:spPr>
              <a:xfrm>
                <a:off x="3543300" y="3429000"/>
                <a:ext cx="5105400" cy="2400300"/>
              </a:xfrm>
              <a:prstGeom prst="rect">
                <a:avLst/>
              </a:prstGeom>
            </p:spPr>
          </p:pic>
          <p:sp>
            <p:nvSpPr>
              <p:cNvPr id="9" name="직사각형 8">
                <a:extLst>
                  <a:ext uri="{FF2B5EF4-FFF2-40B4-BE49-F238E27FC236}">
                    <a16:creationId xmlns:a16="http://schemas.microsoft.com/office/drawing/2014/main" id="{A91DAD88-7692-47B3-218C-9FD4B179AB2F}"/>
                  </a:ext>
                </a:extLst>
              </p:cNvPr>
              <p:cNvSpPr/>
              <p:nvPr/>
            </p:nvSpPr>
            <p:spPr>
              <a:xfrm>
                <a:off x="4062202" y="5073706"/>
                <a:ext cx="1076240" cy="2346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4" name="그룹 13">
              <a:extLst>
                <a:ext uri="{FF2B5EF4-FFF2-40B4-BE49-F238E27FC236}">
                  <a16:creationId xmlns:a16="http://schemas.microsoft.com/office/drawing/2014/main" id="{E0CCF482-A50E-BA4A-99D6-39583003C354}"/>
                </a:ext>
              </a:extLst>
            </p:cNvPr>
            <p:cNvGrpSpPr/>
            <p:nvPr/>
          </p:nvGrpSpPr>
          <p:grpSpPr>
            <a:xfrm>
              <a:off x="2371304" y="2815837"/>
              <a:ext cx="7449392" cy="1172695"/>
              <a:chOff x="2371304" y="2815837"/>
              <a:chExt cx="7449392" cy="1172695"/>
            </a:xfrm>
          </p:grpSpPr>
          <p:sp>
            <p:nvSpPr>
              <p:cNvPr id="12" name="TextBox 11">
                <a:extLst>
                  <a:ext uri="{FF2B5EF4-FFF2-40B4-BE49-F238E27FC236}">
                    <a16:creationId xmlns:a16="http://schemas.microsoft.com/office/drawing/2014/main" id="{EE813EFF-293E-44DA-030A-C390172714FB}"/>
                  </a:ext>
                </a:extLst>
              </p:cNvPr>
              <p:cNvSpPr txBox="1"/>
              <p:nvPr/>
            </p:nvSpPr>
            <p:spPr>
              <a:xfrm>
                <a:off x="2371304" y="2818981"/>
                <a:ext cx="7449392" cy="1169551"/>
              </a:xfrm>
              <a:prstGeom prst="rect">
                <a:avLst/>
              </a:prstGeom>
              <a:noFill/>
              <a:ln>
                <a:solidFill>
                  <a:schemeClr val="bg1">
                    <a:lumMod val="50000"/>
                  </a:schemeClr>
                </a:solidFill>
              </a:ln>
            </p:spPr>
            <p:txBody>
              <a:bodyPr wrap="square">
                <a:spAutoFit/>
              </a:bodyPr>
              <a:lstStyle/>
              <a:p>
                <a:r>
                  <a:rPr lang="en-US" altLang="ko-KR" sz="1000" b="1" dirty="0"/>
                  <a:t>#!/bin/sh</a:t>
                </a:r>
              </a:p>
              <a:p>
                <a:endParaRPr lang="en-US" altLang="ko-KR" sz="1000" b="1" dirty="0"/>
              </a:p>
              <a:p>
                <a:r>
                  <a:rPr lang="en-US" altLang="ko-KR" sz="1000" b="1" dirty="0">
                    <a:solidFill>
                      <a:srgbClr val="FF0000"/>
                    </a:solidFill>
                  </a:rPr>
                  <a:t>API_SERVER="https://$KUBERNETES_SERVICE_HOST:$KUBERNETES_SERVICE_PORT"</a:t>
                </a:r>
              </a:p>
              <a:p>
                <a:r>
                  <a:rPr lang="en-US" altLang="ko-KR" sz="1000" b="1" dirty="0">
                    <a:solidFill>
                      <a:srgbClr val="FF0000"/>
                    </a:solidFill>
                  </a:rPr>
                  <a:t>CA_CRT="/var/run/secrets/kubernetes.io/</a:t>
                </a:r>
                <a:r>
                  <a:rPr lang="en-US" altLang="ko-KR" sz="1000" b="1" dirty="0" err="1">
                    <a:solidFill>
                      <a:srgbClr val="FF0000"/>
                    </a:solidFill>
                  </a:rPr>
                  <a:t>serviceaccount</a:t>
                </a:r>
                <a:r>
                  <a:rPr lang="en-US" altLang="ko-KR" sz="1000" b="1" dirty="0">
                    <a:solidFill>
                      <a:srgbClr val="FF0000"/>
                    </a:solidFill>
                  </a:rPr>
                  <a:t>/ca.crt"</a:t>
                </a:r>
              </a:p>
              <a:p>
                <a:r>
                  <a:rPr lang="en-US" altLang="ko-KR" sz="1000" b="1" dirty="0">
                    <a:solidFill>
                      <a:srgbClr val="FF0000"/>
                    </a:solidFill>
                  </a:rPr>
                  <a:t>TOKEN="$(cat /var/run/secrets/kubernetes.io/</a:t>
                </a:r>
                <a:r>
                  <a:rPr lang="en-US" altLang="ko-KR" sz="1000" b="1" dirty="0" err="1">
                    <a:solidFill>
                      <a:srgbClr val="FF0000"/>
                    </a:solidFill>
                  </a:rPr>
                  <a:t>serviceaccount</a:t>
                </a:r>
                <a:r>
                  <a:rPr lang="en-US" altLang="ko-KR" sz="1000" b="1" dirty="0">
                    <a:solidFill>
                      <a:srgbClr val="FF0000"/>
                    </a:solidFill>
                  </a:rPr>
                  <a:t>/token)"</a:t>
                </a:r>
              </a:p>
              <a:p>
                <a:endParaRPr lang="en-US" altLang="ko-KR" sz="1000" b="1" dirty="0"/>
              </a:p>
              <a:p>
                <a:r>
                  <a:rPr lang="en-US" altLang="ko-KR" sz="1000" b="1" dirty="0"/>
                  <a:t>/</a:t>
                </a:r>
                <a:r>
                  <a:rPr lang="en-US" altLang="ko-KR" sz="1000" b="1" dirty="0" err="1"/>
                  <a:t>kubectl</a:t>
                </a:r>
                <a:r>
                  <a:rPr lang="en-US" altLang="ko-KR" sz="1000" b="1" dirty="0"/>
                  <a:t> proxy --server="$API_SERVER" --certificate-authority="$CA_CRT" --token="$TOKEN" --accept-paths='^.*'</a:t>
                </a:r>
              </a:p>
            </p:txBody>
          </p:sp>
          <p:sp>
            <p:nvSpPr>
              <p:cNvPr id="13" name="TextBox 12">
                <a:extLst>
                  <a:ext uri="{FF2B5EF4-FFF2-40B4-BE49-F238E27FC236}">
                    <a16:creationId xmlns:a16="http://schemas.microsoft.com/office/drawing/2014/main" id="{86BFBE93-3EF8-264F-5EEC-2CD20AD48C38}"/>
                  </a:ext>
                </a:extLst>
              </p:cNvPr>
              <p:cNvSpPr txBox="1"/>
              <p:nvPr/>
            </p:nvSpPr>
            <p:spPr>
              <a:xfrm>
                <a:off x="7706506" y="2815837"/>
                <a:ext cx="2108270" cy="246221"/>
              </a:xfrm>
              <a:prstGeom prst="rect">
                <a:avLst/>
              </a:prstGeom>
              <a:noFill/>
            </p:spPr>
            <p:txBody>
              <a:bodyPr wrap="none" rtlCol="0">
                <a:spAutoFit/>
              </a:bodyPr>
              <a:lstStyle/>
              <a:p>
                <a:pPr algn="r"/>
                <a:r>
                  <a:rPr lang="en-US" altLang="ko-KR" sz="1000" b="1" dirty="0"/>
                  <a:t>kubectl-proxy/kubectl-proxy.sh</a:t>
                </a:r>
                <a:endParaRPr lang="ko-KR" altLang="en-US" sz="1000" b="1" dirty="0"/>
              </a:p>
            </p:txBody>
          </p:sp>
        </p:grpSp>
      </p:grpSp>
    </p:spTree>
    <p:extLst>
      <p:ext uri="{BB962C8B-B14F-4D97-AF65-F5344CB8AC3E}">
        <p14:creationId xmlns:p14="http://schemas.microsoft.com/office/powerpoint/2010/main" val="886360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Server(30/33)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Client Libraries to Talk to the API Server :</a:t>
            </a:r>
          </a:p>
          <a:p>
            <a:pPr lvl="1">
              <a:buFont typeface="Wingdings" panose="05000000000000000000" pitchFamily="2" charset="2"/>
              <a:buChar char="§"/>
            </a:pPr>
            <a:r>
              <a:rPr lang="en-US" altLang="ko-KR" sz="1400" dirty="0"/>
              <a:t>If your app only needs to perform a few simple operations on the API server, you can often </a:t>
            </a:r>
            <a:r>
              <a:rPr lang="en-US" altLang="ko-KR" sz="1400" b="1" dirty="0"/>
              <a:t>use a regular HTTP client library and perform simple HTTP requests</a:t>
            </a:r>
            <a:r>
              <a:rPr lang="en-US" altLang="ko-KR" sz="1400" dirty="0"/>
              <a:t>, especially if you take advantage of the “</a:t>
            </a:r>
            <a:r>
              <a:rPr lang="en-US" altLang="ko-KR" sz="1400" b="1" dirty="0" err="1"/>
              <a:t>kubectl</a:t>
            </a:r>
            <a:r>
              <a:rPr lang="en-US" altLang="ko-KR" sz="1400" b="1" dirty="0"/>
              <a:t>-proxy</a:t>
            </a:r>
            <a:r>
              <a:rPr lang="en-US" altLang="ko-KR" sz="1400" dirty="0"/>
              <a:t>” ambassador container the way you did in the previous example. </a:t>
            </a:r>
            <a:r>
              <a:rPr lang="en-US" altLang="ko-KR" sz="1400" b="1" dirty="0"/>
              <a:t>But if you plan on doing more than simple API requests, it’s better to use one of the existing Kubernetes API client libraries</a:t>
            </a:r>
            <a:r>
              <a:rPr lang="en-US" altLang="ko-KR" sz="1400" dirty="0"/>
              <a:t>.</a:t>
            </a:r>
          </a:p>
          <a:p>
            <a:pPr lvl="1">
              <a:buFont typeface="Wingdings" panose="05000000000000000000" pitchFamily="2" charset="2"/>
              <a:buChar char="§"/>
            </a:pPr>
            <a:r>
              <a:rPr lang="en-US" altLang="ko-KR" sz="1400" dirty="0"/>
              <a:t>Currently, two Kubernetes API client libraries exist that are supported by the </a:t>
            </a:r>
            <a:r>
              <a:rPr lang="en-US" altLang="ko-KR" sz="1400" b="1" dirty="0"/>
              <a:t>API Machinery Special Interest Group (SIG)</a:t>
            </a:r>
            <a:r>
              <a:rPr lang="en-US" altLang="ko-KR" sz="1400" dirty="0"/>
              <a:t>:</a:t>
            </a:r>
          </a:p>
          <a:p>
            <a:pPr lvl="2">
              <a:buFont typeface="Wingdings" panose="05000000000000000000" pitchFamily="2" charset="2"/>
              <a:buChar char="§"/>
            </a:pPr>
            <a:r>
              <a:rPr lang="en-US" altLang="ko-KR" sz="1400" b="1" dirty="0"/>
              <a:t>Golang client </a:t>
            </a:r>
            <a:r>
              <a:rPr lang="en-US" altLang="ko-KR" sz="1400" dirty="0"/>
              <a:t>— </a:t>
            </a:r>
            <a:r>
              <a:rPr lang="en-US" altLang="ko-KR" sz="1400" b="1" dirty="0">
                <a:hlinkClick r:id="rId2"/>
              </a:rPr>
              <a:t>https://github.com/kubernetes/client-go</a:t>
            </a:r>
            <a:r>
              <a:rPr lang="en-US" altLang="ko-KR" sz="1400" b="1" dirty="0"/>
              <a:t>  </a:t>
            </a:r>
          </a:p>
          <a:p>
            <a:pPr lvl="2">
              <a:buFont typeface="Wingdings" panose="05000000000000000000" pitchFamily="2" charset="2"/>
              <a:buChar char="§"/>
            </a:pPr>
            <a:r>
              <a:rPr lang="en-US" altLang="ko-KR" sz="1400" b="1" dirty="0"/>
              <a:t>Python client — </a:t>
            </a:r>
            <a:r>
              <a:rPr lang="en-US" altLang="ko-KR" sz="1400" b="1" dirty="0">
                <a:hlinkClick r:id="rId3"/>
              </a:rPr>
              <a:t>https://github.com/kubernetes-incubator/client-python</a:t>
            </a:r>
            <a:r>
              <a:rPr lang="en-US" altLang="ko-KR" sz="1400" b="1" dirty="0"/>
              <a:t> </a:t>
            </a:r>
          </a:p>
          <a:p>
            <a:pPr lvl="1">
              <a:buFont typeface="Wingdings" panose="05000000000000000000" pitchFamily="2" charset="2"/>
              <a:buChar char="§"/>
            </a:pPr>
            <a:r>
              <a:rPr lang="en-US" altLang="ko-KR" sz="1400" b="1" dirty="0"/>
              <a:t>NOTE The Kubernetes community has a number of Special Interest Groups (SIGs) and Working Groups(WG) that focus on specific parts of the Kubernetes ecosystem</a:t>
            </a:r>
            <a:r>
              <a:rPr lang="en-US" altLang="ko-KR" sz="1400" dirty="0"/>
              <a:t>. You’ll find a list of them at </a:t>
            </a:r>
            <a:r>
              <a:rPr lang="en-US" altLang="ko-KR" sz="1400" b="1" dirty="0">
                <a:hlinkClick r:id="rId4"/>
              </a:rPr>
              <a:t>https://github.com/kubernetes/community/blob/master/sig-list.md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hlinkClick r:id="rId4"/>
            <a:extLst>
              <a:ext uri="{FF2B5EF4-FFF2-40B4-BE49-F238E27FC236}">
                <a16:creationId xmlns:a16="http://schemas.microsoft.com/office/drawing/2014/main" id="{51D4AE40-E985-5039-EC13-69AA761C900F}"/>
              </a:ext>
            </a:extLst>
          </p:cNvPr>
          <p:cNvPicPr>
            <a:picLocks noChangeAspect="1"/>
          </p:cNvPicPr>
          <p:nvPr/>
        </p:nvPicPr>
        <p:blipFill>
          <a:blip r:embed="rId5"/>
          <a:stretch>
            <a:fillRect/>
          </a:stretch>
        </p:blipFill>
        <p:spPr>
          <a:xfrm>
            <a:off x="3297504" y="3743608"/>
            <a:ext cx="5596991" cy="2589400"/>
          </a:xfrm>
          <a:prstGeom prst="rect">
            <a:avLst/>
          </a:prstGeom>
        </p:spPr>
      </p:pic>
    </p:spTree>
    <p:extLst>
      <p:ext uri="{BB962C8B-B14F-4D97-AF65-F5344CB8AC3E}">
        <p14:creationId xmlns:p14="http://schemas.microsoft.com/office/powerpoint/2010/main" val="35972611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Server(31/33)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Client Libraries to Talk to the API Server :</a:t>
            </a:r>
          </a:p>
          <a:p>
            <a:pPr lvl="1">
              <a:buFont typeface="Wingdings" panose="05000000000000000000" pitchFamily="2" charset="2"/>
              <a:buChar char="§"/>
            </a:pPr>
            <a:r>
              <a:rPr lang="en-US" altLang="ko-KR" sz="1400" dirty="0"/>
              <a:t>In addition to the two officially supported libraries, here’s </a:t>
            </a:r>
            <a:r>
              <a:rPr lang="en-US" altLang="ko-KR" sz="1400" b="1" dirty="0"/>
              <a:t>a list of user-contributed client libraries </a:t>
            </a:r>
            <a:r>
              <a:rPr lang="en-US" altLang="ko-KR" sz="1400" dirty="0"/>
              <a:t>for many other languages :</a:t>
            </a:r>
          </a:p>
          <a:p>
            <a:pPr lvl="3">
              <a:buFont typeface="Wingdings" panose="05000000000000000000" pitchFamily="2" charset="2"/>
              <a:buChar char="§"/>
            </a:pPr>
            <a:r>
              <a:rPr lang="en-US" altLang="ko-KR" sz="1400" b="1" dirty="0"/>
              <a:t> Java client by Fabric8 - </a:t>
            </a:r>
            <a:r>
              <a:rPr lang="en-US" altLang="ko-KR" sz="1400" b="1" dirty="0">
                <a:hlinkClick r:id="rId2"/>
              </a:rPr>
              <a:t>https://github.com/fabric8io/kubernetes-client</a:t>
            </a:r>
            <a:r>
              <a:rPr lang="en-US" altLang="ko-KR" sz="1400" b="1" dirty="0"/>
              <a:t> </a:t>
            </a:r>
          </a:p>
          <a:p>
            <a:pPr lvl="3">
              <a:buFont typeface="Wingdings" panose="05000000000000000000" pitchFamily="2" charset="2"/>
              <a:buChar char="§"/>
            </a:pPr>
            <a:r>
              <a:rPr lang="en-US" altLang="ko-KR" sz="1400" b="1" dirty="0"/>
              <a:t> Java client by </a:t>
            </a:r>
            <a:r>
              <a:rPr lang="en-US" altLang="ko-KR" sz="1400" b="1" dirty="0" err="1"/>
              <a:t>Amdatu</a:t>
            </a:r>
            <a:r>
              <a:rPr lang="en-US" altLang="ko-KR" sz="1400" b="1" dirty="0"/>
              <a:t> - </a:t>
            </a:r>
            <a:r>
              <a:rPr lang="en-US" altLang="ko-KR" sz="1400" b="1" dirty="0">
                <a:hlinkClick r:id="rId3"/>
              </a:rPr>
              <a:t>https://bitbucket.org/amdatulabs/amdatu-kubernetes</a:t>
            </a:r>
            <a:r>
              <a:rPr lang="en-US" altLang="ko-KR" sz="1400" b="1" dirty="0"/>
              <a:t> </a:t>
            </a:r>
          </a:p>
          <a:p>
            <a:pPr lvl="3">
              <a:buFont typeface="Wingdings" panose="05000000000000000000" pitchFamily="2" charset="2"/>
              <a:buChar char="§"/>
            </a:pPr>
            <a:r>
              <a:rPr lang="en-US" altLang="ko-KR" sz="1400" b="1" dirty="0"/>
              <a:t> Node.js client by </a:t>
            </a:r>
            <a:r>
              <a:rPr lang="en-US" altLang="ko-KR" sz="1400" b="1" dirty="0" err="1"/>
              <a:t>tenxcloud</a:t>
            </a:r>
            <a:r>
              <a:rPr lang="en-US" altLang="ko-KR" sz="1400" b="1" dirty="0"/>
              <a:t> - </a:t>
            </a:r>
            <a:r>
              <a:rPr lang="en-US" altLang="ko-KR" sz="1400" b="1" dirty="0">
                <a:hlinkClick r:id="rId4"/>
              </a:rPr>
              <a:t>https://github.com/tenxcloud/node-kubernetes-client</a:t>
            </a:r>
            <a:r>
              <a:rPr lang="en-US" altLang="ko-KR" sz="1400" b="1" dirty="0"/>
              <a:t> </a:t>
            </a:r>
          </a:p>
          <a:p>
            <a:pPr lvl="3">
              <a:buFont typeface="Wingdings" panose="05000000000000000000" pitchFamily="2" charset="2"/>
              <a:buChar char="§"/>
            </a:pPr>
            <a:r>
              <a:rPr lang="en-US" altLang="ko-KR" sz="1400" b="1" dirty="0"/>
              <a:t> Node.js client by GoDaddy - </a:t>
            </a:r>
            <a:r>
              <a:rPr lang="en-US" altLang="ko-KR" sz="1400" b="1" dirty="0">
                <a:hlinkClick r:id="rId5"/>
              </a:rPr>
              <a:t>https://github.com/godaddy/kubernetes-client</a:t>
            </a:r>
            <a:r>
              <a:rPr lang="en-US" altLang="ko-KR" sz="1400" b="1" dirty="0"/>
              <a:t> </a:t>
            </a:r>
          </a:p>
          <a:p>
            <a:pPr lvl="3">
              <a:buFont typeface="Wingdings" panose="05000000000000000000" pitchFamily="2" charset="2"/>
              <a:buChar char="§"/>
            </a:pPr>
            <a:r>
              <a:rPr lang="en-US" altLang="ko-KR" sz="1400" b="1" dirty="0"/>
              <a:t> PHP - </a:t>
            </a:r>
            <a:r>
              <a:rPr lang="en-US" altLang="ko-KR" sz="1400" b="1" dirty="0">
                <a:hlinkClick r:id="rId6"/>
              </a:rPr>
              <a:t>https://github.com/devstub/kubernetes-api-php-client</a:t>
            </a:r>
            <a:r>
              <a:rPr lang="en-US" altLang="ko-KR" sz="1400" b="1" dirty="0"/>
              <a:t> </a:t>
            </a:r>
          </a:p>
          <a:p>
            <a:pPr lvl="3">
              <a:buFont typeface="Wingdings" panose="05000000000000000000" pitchFamily="2" charset="2"/>
              <a:buChar char="§"/>
            </a:pPr>
            <a:r>
              <a:rPr lang="en-US" altLang="ko-KR" sz="1400" b="1" dirty="0"/>
              <a:t> Another PHP client - </a:t>
            </a:r>
            <a:r>
              <a:rPr lang="en-US" altLang="ko-KR" sz="1400" b="1" dirty="0">
                <a:hlinkClick r:id="rId7"/>
              </a:rPr>
              <a:t>https://github.com/maclof/kubernetes-client</a:t>
            </a:r>
            <a:r>
              <a:rPr lang="en-US" altLang="ko-KR" sz="1400" b="1" dirty="0"/>
              <a:t> </a:t>
            </a:r>
          </a:p>
          <a:p>
            <a:pPr lvl="3">
              <a:buFont typeface="Wingdings" panose="05000000000000000000" pitchFamily="2" charset="2"/>
              <a:buChar char="§"/>
            </a:pPr>
            <a:r>
              <a:rPr lang="en-US" altLang="ko-KR" sz="1400" b="1" dirty="0"/>
              <a:t> Ruby - </a:t>
            </a:r>
            <a:r>
              <a:rPr lang="en-US" altLang="ko-KR" sz="1400" b="1" dirty="0">
                <a:hlinkClick r:id="rId8"/>
              </a:rPr>
              <a:t>https://github.com/Ch00k/kubr</a:t>
            </a:r>
            <a:r>
              <a:rPr lang="en-US" altLang="ko-KR" sz="1400" b="1" dirty="0"/>
              <a:t> </a:t>
            </a:r>
          </a:p>
          <a:p>
            <a:pPr lvl="3">
              <a:buFont typeface="Wingdings" panose="05000000000000000000" pitchFamily="2" charset="2"/>
              <a:buChar char="§"/>
            </a:pPr>
            <a:r>
              <a:rPr lang="en-US" altLang="ko-KR" sz="1400" b="1" dirty="0"/>
              <a:t> Another Ruby client - </a:t>
            </a:r>
            <a:r>
              <a:rPr lang="en-US" altLang="ko-KR" sz="1400" b="1" dirty="0">
                <a:hlinkClick r:id="rId9"/>
              </a:rPr>
              <a:t>https://github.com/abonas/kubeclient</a:t>
            </a:r>
            <a:r>
              <a:rPr lang="en-US" altLang="ko-KR" sz="1400" b="1" dirty="0"/>
              <a:t> </a:t>
            </a:r>
          </a:p>
          <a:p>
            <a:pPr lvl="3">
              <a:buFont typeface="Wingdings" panose="05000000000000000000" pitchFamily="2" charset="2"/>
              <a:buChar char="§"/>
            </a:pPr>
            <a:r>
              <a:rPr lang="en-US" altLang="ko-KR" sz="1400" b="1" dirty="0"/>
              <a:t> Clojure - </a:t>
            </a:r>
            <a:r>
              <a:rPr lang="en-US" altLang="ko-KR" sz="1400" b="1" dirty="0">
                <a:hlinkClick r:id="rId10"/>
              </a:rPr>
              <a:t>https://github.com/yanatan16/clj-kubernetes-api</a:t>
            </a:r>
            <a:r>
              <a:rPr lang="en-US" altLang="ko-KR" sz="1400" b="1" dirty="0"/>
              <a:t> </a:t>
            </a:r>
          </a:p>
          <a:p>
            <a:pPr lvl="3">
              <a:buFont typeface="Wingdings" panose="05000000000000000000" pitchFamily="2" charset="2"/>
              <a:buChar char="§"/>
            </a:pPr>
            <a:r>
              <a:rPr lang="en-US" altLang="ko-KR" sz="1400" b="1" dirty="0"/>
              <a:t> Scala - </a:t>
            </a:r>
            <a:r>
              <a:rPr lang="en-US" altLang="ko-KR" sz="1400" b="1" dirty="0">
                <a:hlinkClick r:id="rId11"/>
              </a:rPr>
              <a:t>https://github.com/doriordan/skuber</a:t>
            </a:r>
            <a:r>
              <a:rPr lang="en-US" altLang="ko-KR" sz="1400" b="1" dirty="0"/>
              <a:t> </a:t>
            </a:r>
          </a:p>
          <a:p>
            <a:pPr lvl="3">
              <a:buFont typeface="Wingdings" panose="05000000000000000000" pitchFamily="2" charset="2"/>
              <a:buChar char="§"/>
            </a:pPr>
            <a:r>
              <a:rPr lang="en-US" altLang="ko-KR" sz="1400" b="1" dirty="0"/>
              <a:t> Perl - </a:t>
            </a:r>
            <a:r>
              <a:rPr lang="en-US" altLang="ko-KR" sz="1400" b="1" dirty="0">
                <a:hlinkClick r:id="rId12"/>
              </a:rPr>
              <a:t>https://metacpan.org/pod/Net::Kubernetes</a:t>
            </a:r>
            <a:r>
              <a:rPr lang="en-US" altLang="ko-KR" sz="1400" b="1" dirty="0"/>
              <a:t> </a:t>
            </a:r>
          </a:p>
          <a:p>
            <a:pPr lvl="1">
              <a:buFont typeface="Wingdings" panose="05000000000000000000" pitchFamily="2" charset="2"/>
              <a:buChar char="§"/>
            </a:pPr>
            <a:r>
              <a:rPr lang="en-US" altLang="ko-KR" sz="1400" b="1" dirty="0"/>
              <a:t>These libraries usually support HTTPS and take care of authentication</a:t>
            </a:r>
            <a:r>
              <a:rPr lang="en-US" altLang="ko-KR" sz="1400" dirty="0"/>
              <a:t>, so you won’t need to use the ambassador container.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60274E08-63C6-A2F7-3964-11329295F50F}"/>
              </a:ext>
            </a:extLst>
          </p:cNvPr>
          <p:cNvPicPr>
            <a:picLocks noChangeAspect="1"/>
          </p:cNvPicPr>
          <p:nvPr/>
        </p:nvPicPr>
        <p:blipFill>
          <a:blip r:embed="rId13"/>
          <a:stretch>
            <a:fillRect/>
          </a:stretch>
        </p:blipFill>
        <p:spPr>
          <a:xfrm>
            <a:off x="3572633" y="4650988"/>
            <a:ext cx="5046733" cy="1758042"/>
          </a:xfrm>
          <a:prstGeom prst="rect">
            <a:avLst/>
          </a:prstGeom>
        </p:spPr>
      </p:pic>
    </p:spTree>
    <p:extLst>
      <p:ext uri="{BB962C8B-B14F-4D97-AF65-F5344CB8AC3E}">
        <p14:creationId xmlns:p14="http://schemas.microsoft.com/office/powerpoint/2010/main" val="33868023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Server(32/33)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Client Libraries to Talk to the API Server :</a:t>
            </a:r>
          </a:p>
          <a:p>
            <a:pPr lvl="1">
              <a:buFont typeface="Wingdings" panose="05000000000000000000" pitchFamily="2" charset="2"/>
              <a:buChar char="§"/>
            </a:pPr>
            <a:r>
              <a:rPr lang="en-US" altLang="ko-KR" sz="1400" dirty="0"/>
              <a:t>To give you a sense of how client libraries enable you to talk to the API server, the following listing shows an example of </a:t>
            </a:r>
            <a:r>
              <a:rPr lang="en-US" altLang="ko-KR" sz="1400" b="1" dirty="0"/>
              <a:t>how to list services in a Java app </a:t>
            </a:r>
            <a:r>
              <a:rPr lang="en-US" altLang="ko-KR" sz="1400" dirty="0"/>
              <a:t>using the </a:t>
            </a:r>
            <a:r>
              <a:rPr lang="en-US" altLang="ko-KR" sz="1400" b="1" dirty="0"/>
              <a:t>Fabric8 Kubernetes client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D2C0DBCA-572A-9C20-FC55-9650F8979E08}"/>
              </a:ext>
            </a:extLst>
          </p:cNvPr>
          <p:cNvGrpSpPr/>
          <p:nvPr/>
        </p:nvGrpSpPr>
        <p:grpSpPr>
          <a:xfrm>
            <a:off x="2652839" y="1546160"/>
            <a:ext cx="6886322" cy="4862870"/>
            <a:chOff x="2652839" y="1707888"/>
            <a:chExt cx="6886322" cy="4862870"/>
          </a:xfrm>
        </p:grpSpPr>
        <p:sp>
          <p:nvSpPr>
            <p:cNvPr id="10" name="TextBox 9">
              <a:extLst>
                <a:ext uri="{FF2B5EF4-FFF2-40B4-BE49-F238E27FC236}">
                  <a16:creationId xmlns:a16="http://schemas.microsoft.com/office/drawing/2014/main" id="{E134751B-C6E4-A0FC-BDDB-A7200A630AFF}"/>
                </a:ext>
              </a:extLst>
            </p:cNvPr>
            <p:cNvSpPr txBox="1"/>
            <p:nvPr/>
          </p:nvSpPr>
          <p:spPr>
            <a:xfrm>
              <a:off x="2652839" y="1707888"/>
              <a:ext cx="6886322" cy="4862870"/>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package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kubia</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import io.fabric8.kubernetes.api.model.Pod;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import io.fabric8.kubernetes.api.model.PodList;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import io.fabric8.kubernetes.client.DefaultKubernetesClient;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import io.fabric8.kubernetes.client.KubernetesClient;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import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java.util.Arrays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public class Fabric8ClientTest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public static void main(String[]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args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throws Exception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KubernetesClient</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client = new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DefaultKubernetesClient</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list pods in the default namespace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PodList</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pods =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client.pods</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inNamespace</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("default").list();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pods.getItems</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().stream().</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forEach</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(s -&gt;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System.out.println</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("Found pod: " +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s.getMetadata</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getName</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create a 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System.out.println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("Creating a 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Pod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pod</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client.pods</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inNamespace</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("default").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createNew</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withNewMetadata</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withName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("my-programmatically-created-pod")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endMetadata</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withNewSpec</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addNewContainer</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withName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("main")</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withImage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busybox</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withCommand</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Arrays.asList</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("sleep", "99999"))</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endContainer</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endSpec</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.done();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System.out.println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("Created pod: " + pod);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맑은 고딕" panose="020F0502020204030204"/>
                  <a:ea typeface="맑은 고딕" panose="020B0503020000020004" pitchFamily="50" charset="-127"/>
                </a:rPr>
                <a:t>…</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1" name="TextBox 10">
              <a:extLst>
                <a:ext uri="{FF2B5EF4-FFF2-40B4-BE49-F238E27FC236}">
                  <a16:creationId xmlns:a16="http://schemas.microsoft.com/office/drawing/2014/main" id="{447AAE94-1116-9C34-41E2-7EFC0083EA03}"/>
                </a:ext>
              </a:extLst>
            </p:cNvPr>
            <p:cNvSpPr txBox="1"/>
            <p:nvPr/>
          </p:nvSpPr>
          <p:spPr>
            <a:xfrm>
              <a:off x="8035223" y="1707888"/>
              <a:ext cx="1503938" cy="246221"/>
            </a:xfrm>
            <a:prstGeom prst="rect">
              <a:avLst/>
            </a:prstGeom>
            <a:noFill/>
          </p:spPr>
          <p:txBody>
            <a:bodyPr wrap="none" rtlCol="0">
              <a:spAutoFit/>
            </a:bodyPr>
            <a:lstStyle/>
            <a:p>
              <a:pPr algn="l"/>
              <a:r>
                <a:rPr lang="en-US" altLang="ko-KR" sz="1000" b="1" dirty="0"/>
                <a:t>Fabric8ClientTest.java</a:t>
              </a:r>
              <a:endParaRPr lang="ko-KR" altLang="en-US" sz="1000" b="1" dirty="0"/>
            </a:p>
          </p:txBody>
        </p:sp>
      </p:grpSp>
    </p:spTree>
    <p:extLst>
      <p:ext uri="{BB962C8B-B14F-4D97-AF65-F5344CB8AC3E}">
        <p14:creationId xmlns:p14="http://schemas.microsoft.com/office/powerpoint/2010/main" val="28601644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Talking to the Kubernetes API Server(33/33)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Client Libraries to Talk to the API Server :</a:t>
            </a:r>
          </a:p>
          <a:p>
            <a:pPr lvl="1">
              <a:buFont typeface="Wingdings" panose="05000000000000000000" pitchFamily="2" charset="2"/>
              <a:buChar char="§"/>
            </a:pPr>
            <a:r>
              <a:rPr lang="en-US" altLang="ko-KR" sz="1400" b="1" dirty="0"/>
              <a:t>The code should be </a:t>
            </a:r>
            <a:r>
              <a:rPr lang="en-US" altLang="ko-KR" sz="1400" b="1" dirty="0">
                <a:solidFill>
                  <a:srgbClr val="FF0000"/>
                </a:solidFill>
              </a:rPr>
              <a:t>self-explanatory</a:t>
            </a:r>
            <a:r>
              <a:rPr lang="en-US" altLang="ko-KR" sz="1400" dirty="0"/>
              <a:t>, especially because the Fabric8 client exposes a nice, fluent “</a:t>
            </a:r>
            <a:r>
              <a:rPr lang="en-US" altLang="ko-KR" sz="1400" b="1" dirty="0"/>
              <a:t>Domain-Specific-Language (</a:t>
            </a:r>
            <a:r>
              <a:rPr lang="en-US" altLang="ko-KR" sz="1400" b="1" dirty="0">
                <a:solidFill>
                  <a:srgbClr val="FF0000"/>
                </a:solidFill>
              </a:rPr>
              <a:t>DSL</a:t>
            </a:r>
            <a:r>
              <a:rPr lang="en-US" altLang="ko-KR" sz="1400" b="1" dirty="0"/>
              <a:t>) API</a:t>
            </a:r>
            <a:r>
              <a:rPr lang="en-US" altLang="ko-KR" sz="1400" dirty="0"/>
              <a:t>”, which is easy to read and understand.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 If you have any problem in running </a:t>
            </a:r>
            <a:r>
              <a:rPr lang="en-US" altLang="ko-KR" sz="1400" b="1" dirty="0" err="1"/>
              <a:t>minikube</a:t>
            </a:r>
            <a:r>
              <a:rPr lang="en-US" altLang="ko-KR" sz="1400" b="1" dirty="0"/>
              <a:t> like after manual editing some configuration files, run “</a:t>
            </a:r>
            <a:r>
              <a:rPr lang="en-US" altLang="ko-KR" sz="1400" b="1" dirty="0">
                <a:solidFill>
                  <a:srgbClr val="FF0000"/>
                </a:solidFill>
              </a:rPr>
              <a:t>$ </a:t>
            </a:r>
            <a:r>
              <a:rPr lang="en-US" altLang="ko-KR" sz="1400" b="1" dirty="0" err="1">
                <a:solidFill>
                  <a:srgbClr val="FF0000"/>
                </a:solidFill>
              </a:rPr>
              <a:t>minikube</a:t>
            </a:r>
            <a:r>
              <a:rPr lang="en-US" altLang="ko-KR" sz="1400" b="1" dirty="0">
                <a:solidFill>
                  <a:srgbClr val="FF0000"/>
                </a:solidFill>
              </a:rPr>
              <a:t> delete</a:t>
            </a:r>
            <a:r>
              <a:rPr lang="en-US" altLang="ko-KR" sz="1400" b="1" dirty="0"/>
              <a:t>” and run “$ </a:t>
            </a:r>
            <a:r>
              <a:rPr lang="en-US" altLang="ko-KR" sz="1400" b="1" dirty="0" err="1"/>
              <a:t>minikube</a:t>
            </a:r>
            <a:r>
              <a:rPr lang="en-US" altLang="ko-KR" sz="1400" b="1" dirty="0"/>
              <a:t> start” again</a:t>
            </a:r>
            <a:r>
              <a:rPr lang="en-US" altLang="ko-KR" sz="1400" dirty="0"/>
              <a:t>. It will delete all configuration and certificates related to the previous running of </a:t>
            </a:r>
            <a:r>
              <a:rPr lang="en-US" altLang="ko-KR" sz="1400" dirty="0" err="1"/>
              <a:t>minikube</a:t>
            </a:r>
            <a:r>
              <a:rPr lang="en-US" altLang="ko-KR" sz="1400" dirty="0"/>
              <a:t> and re-initialize all the configuration.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EE20F420-7333-2C50-2D88-1E3BD26AF03C}"/>
              </a:ext>
            </a:extLst>
          </p:cNvPr>
          <p:cNvGrpSpPr/>
          <p:nvPr/>
        </p:nvGrpSpPr>
        <p:grpSpPr>
          <a:xfrm>
            <a:off x="2652839" y="2151727"/>
            <a:ext cx="6886322" cy="2554545"/>
            <a:chOff x="3095878" y="1830857"/>
            <a:chExt cx="6886322" cy="2554545"/>
          </a:xfrm>
        </p:grpSpPr>
        <p:sp>
          <p:nvSpPr>
            <p:cNvPr id="4" name="TextBox 3">
              <a:extLst>
                <a:ext uri="{FF2B5EF4-FFF2-40B4-BE49-F238E27FC236}">
                  <a16:creationId xmlns:a16="http://schemas.microsoft.com/office/drawing/2014/main" id="{9CFEE89A-D614-2AC7-21CB-D1467DAC5F8F}"/>
                </a:ext>
              </a:extLst>
            </p:cNvPr>
            <p:cNvSpPr txBox="1"/>
            <p:nvPr/>
          </p:nvSpPr>
          <p:spPr>
            <a:xfrm>
              <a:off x="3095878" y="1830857"/>
              <a:ext cx="6886322" cy="2554545"/>
            </a:xfrm>
            <a:prstGeom prst="rect">
              <a:avLst/>
            </a:prstGeom>
            <a:noFill/>
            <a:ln>
              <a:solidFill>
                <a:schemeClr val="bg1">
                  <a:lumMod val="50000"/>
                </a:schemeClr>
              </a:solidFill>
            </a:ln>
          </p:spPr>
          <p:txBody>
            <a:bodyPr wrap="square">
              <a:spAutoFit/>
            </a:bodyPr>
            <a:lstStyle/>
            <a:p>
              <a:r>
                <a:rPr lang="en-US" altLang="ko-KR" sz="1000" b="1" dirty="0"/>
                <a:t>…        </a:t>
              </a:r>
            </a:p>
            <a:p>
              <a:r>
                <a:rPr lang="en-US" altLang="ko-KR" sz="1000" b="1" dirty="0"/>
                <a:t>        // edit the pod (add a label to it)</a:t>
              </a:r>
            </a:p>
            <a:p>
              <a:r>
                <a:rPr lang="en-US" altLang="ko-KR" sz="1000" b="1" dirty="0">
                  <a:solidFill>
                    <a:srgbClr val="FF0000"/>
                  </a:solidFill>
                </a:rPr>
                <a:t>        </a:t>
              </a:r>
              <a:r>
                <a:rPr lang="en-US" altLang="ko-KR" sz="1000" b="1" dirty="0" err="1">
                  <a:solidFill>
                    <a:srgbClr val="FF0000"/>
                  </a:solidFill>
                </a:rPr>
                <a:t>client.pods</a:t>
              </a:r>
              <a:r>
                <a:rPr lang="en-US" altLang="ko-KR" sz="1000" b="1" dirty="0">
                  <a:solidFill>
                    <a:srgbClr val="FF0000"/>
                  </a:solidFill>
                </a:rPr>
                <a:t>().</a:t>
              </a:r>
              <a:r>
                <a:rPr lang="en-US" altLang="ko-KR" sz="1000" b="1" dirty="0" err="1">
                  <a:solidFill>
                    <a:srgbClr val="FF0000"/>
                  </a:solidFill>
                </a:rPr>
                <a:t>inNamespace</a:t>
              </a:r>
              <a:r>
                <a:rPr lang="en-US" altLang="ko-KR" sz="1000" b="1" dirty="0">
                  <a:solidFill>
                    <a:srgbClr val="FF0000"/>
                  </a:solidFill>
                </a:rPr>
                <a:t>("default").</a:t>
              </a:r>
              <a:r>
                <a:rPr lang="en-US" altLang="ko-KR" sz="1000" b="1" dirty="0" err="1">
                  <a:solidFill>
                    <a:srgbClr val="FF0000"/>
                  </a:solidFill>
                </a:rPr>
                <a:t>withName</a:t>
              </a:r>
              <a:r>
                <a:rPr lang="en-US" altLang="ko-KR" sz="1000" b="1" dirty="0">
                  <a:solidFill>
                    <a:srgbClr val="FF0000"/>
                  </a:solidFill>
                </a:rPr>
                <a:t>("my-programmatically-created-pod").edit()</a:t>
              </a:r>
            </a:p>
            <a:p>
              <a:r>
                <a:rPr lang="en-US" altLang="ko-KR" sz="1000" b="1" dirty="0">
                  <a:solidFill>
                    <a:srgbClr val="FF0000"/>
                  </a:solidFill>
                </a:rPr>
                <a:t>                .</a:t>
              </a:r>
              <a:r>
                <a:rPr lang="en-US" altLang="ko-KR" sz="1000" b="1" dirty="0" err="1">
                  <a:solidFill>
                    <a:srgbClr val="FF0000"/>
                  </a:solidFill>
                </a:rPr>
                <a:t>editMetadata</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addToLabels</a:t>
              </a:r>
              <a:r>
                <a:rPr lang="en-US" altLang="ko-KR" sz="1000" b="1" dirty="0">
                  <a:solidFill>
                    <a:srgbClr val="FF0000"/>
                  </a:solidFill>
                </a:rPr>
                <a:t>("foo", "bar")</a:t>
              </a:r>
            </a:p>
            <a:p>
              <a:r>
                <a:rPr lang="en-US" altLang="ko-KR" sz="1000" b="1" dirty="0">
                  <a:solidFill>
                    <a:srgbClr val="FF0000"/>
                  </a:solidFill>
                </a:rPr>
                <a:t>                .</a:t>
              </a:r>
              <a:r>
                <a:rPr lang="en-US" altLang="ko-KR" sz="1000" b="1" dirty="0" err="1">
                  <a:solidFill>
                    <a:srgbClr val="FF0000"/>
                  </a:solidFill>
                </a:rPr>
                <a:t>endMetadata</a:t>
              </a:r>
              <a:r>
                <a:rPr lang="en-US" altLang="ko-KR" sz="1000" b="1" dirty="0">
                  <a:solidFill>
                    <a:srgbClr val="FF0000"/>
                  </a:solidFill>
                </a:rPr>
                <a:t>()</a:t>
              </a:r>
            </a:p>
            <a:p>
              <a:r>
                <a:rPr lang="en-US" altLang="ko-KR" sz="1000" b="1" dirty="0">
                  <a:solidFill>
                    <a:srgbClr val="FF0000"/>
                  </a:solidFill>
                </a:rPr>
                <a:t>                .done();</a:t>
              </a:r>
            </a:p>
            <a:p>
              <a:r>
                <a:rPr lang="en-US" altLang="ko-KR" sz="1000" b="1" dirty="0"/>
                <a:t>        </a:t>
              </a:r>
              <a:r>
                <a:rPr lang="en-US" altLang="ko-KR" sz="1000" b="1" dirty="0" err="1"/>
                <a:t>System.out.println</a:t>
              </a:r>
              <a:r>
                <a:rPr lang="en-US" altLang="ko-KR" sz="1000" b="1" dirty="0"/>
                <a:t>("Added label foo=bar to pod");</a:t>
              </a:r>
            </a:p>
            <a:p>
              <a:r>
                <a:rPr lang="en-US" altLang="ko-KR" sz="1000" b="1" dirty="0"/>
                <a:t>        </a:t>
              </a:r>
              <a:r>
                <a:rPr lang="en-US" altLang="ko-KR" sz="1000" b="1" dirty="0" err="1"/>
                <a:t>System.out.println</a:t>
              </a:r>
              <a:r>
                <a:rPr lang="en-US" altLang="ko-KR" sz="1000" b="1" dirty="0"/>
                <a:t>("Waiting 1 minute before deleting pod...");</a:t>
              </a:r>
            </a:p>
            <a:p>
              <a:r>
                <a:rPr lang="en-US" altLang="ko-KR" sz="1000" b="1" dirty="0"/>
                <a:t>        </a:t>
              </a:r>
              <a:r>
                <a:rPr lang="en-US" altLang="ko-KR" sz="1000" b="1" dirty="0" err="1"/>
                <a:t>Thread.sleep</a:t>
              </a:r>
              <a:r>
                <a:rPr lang="en-US" altLang="ko-KR" sz="1000" b="1" dirty="0"/>
                <a:t>(60000);</a:t>
              </a:r>
            </a:p>
            <a:p>
              <a:endParaRPr lang="en-US" altLang="ko-KR" sz="1000" b="1" dirty="0"/>
            </a:p>
            <a:p>
              <a:r>
                <a:rPr lang="en-US" altLang="ko-KR" sz="1000" b="1" dirty="0"/>
                <a:t>        // delete the pod</a:t>
              </a:r>
            </a:p>
            <a:p>
              <a:r>
                <a:rPr lang="en-US" altLang="ko-KR" sz="1000" b="1" dirty="0"/>
                <a:t>        </a:t>
              </a:r>
              <a:r>
                <a:rPr lang="en-US" altLang="ko-KR" sz="1000" b="1" dirty="0" err="1">
                  <a:solidFill>
                    <a:srgbClr val="FF0000"/>
                  </a:solidFill>
                </a:rPr>
                <a:t>client.pods</a:t>
              </a:r>
              <a:r>
                <a:rPr lang="en-US" altLang="ko-KR" sz="1000" b="1" dirty="0">
                  <a:solidFill>
                    <a:srgbClr val="FF0000"/>
                  </a:solidFill>
                </a:rPr>
                <a:t>().</a:t>
              </a:r>
              <a:r>
                <a:rPr lang="en-US" altLang="ko-KR" sz="1000" b="1" dirty="0" err="1">
                  <a:solidFill>
                    <a:srgbClr val="FF0000"/>
                  </a:solidFill>
                </a:rPr>
                <a:t>inNamespace</a:t>
              </a:r>
              <a:r>
                <a:rPr lang="en-US" altLang="ko-KR" sz="1000" b="1" dirty="0">
                  <a:solidFill>
                    <a:srgbClr val="FF0000"/>
                  </a:solidFill>
                </a:rPr>
                <a:t>("default").</a:t>
              </a:r>
              <a:r>
                <a:rPr lang="en-US" altLang="ko-KR" sz="1000" b="1" dirty="0" err="1">
                  <a:solidFill>
                    <a:srgbClr val="FF0000"/>
                  </a:solidFill>
                </a:rPr>
                <a:t>withName</a:t>
              </a:r>
              <a:r>
                <a:rPr lang="en-US" altLang="ko-KR" sz="1000" b="1" dirty="0">
                  <a:solidFill>
                    <a:srgbClr val="FF0000"/>
                  </a:solidFill>
                </a:rPr>
                <a:t>("my-programmatically-created-pod").delete();</a:t>
              </a:r>
            </a:p>
            <a:p>
              <a:r>
                <a:rPr lang="en-US" altLang="ko-KR" sz="1000" b="1" dirty="0"/>
                <a:t>        </a:t>
              </a:r>
              <a:r>
                <a:rPr lang="en-US" altLang="ko-KR" sz="1000" b="1" dirty="0" err="1"/>
                <a:t>System.out.println</a:t>
              </a:r>
              <a:r>
                <a:rPr lang="en-US" altLang="ko-KR" sz="1000" b="1" dirty="0"/>
                <a:t>("Deleted the pod");</a:t>
              </a:r>
            </a:p>
            <a:p>
              <a:r>
                <a:rPr lang="en-US" altLang="ko-KR" sz="1000" b="1" dirty="0"/>
                <a:t>    }</a:t>
              </a:r>
            </a:p>
            <a:p>
              <a:r>
                <a:rPr lang="en-US" altLang="ko-KR" sz="1000" b="1" dirty="0"/>
                <a:t>}</a:t>
              </a:r>
            </a:p>
          </p:txBody>
        </p:sp>
        <p:sp>
          <p:nvSpPr>
            <p:cNvPr id="14" name="TextBox 13">
              <a:extLst>
                <a:ext uri="{FF2B5EF4-FFF2-40B4-BE49-F238E27FC236}">
                  <a16:creationId xmlns:a16="http://schemas.microsoft.com/office/drawing/2014/main" id="{DB051956-A078-C5A4-8266-6BA9F90A5EB9}"/>
                </a:ext>
              </a:extLst>
            </p:cNvPr>
            <p:cNvSpPr txBox="1"/>
            <p:nvPr/>
          </p:nvSpPr>
          <p:spPr>
            <a:xfrm>
              <a:off x="8402230" y="1830857"/>
              <a:ext cx="1579970" cy="246221"/>
            </a:xfrm>
            <a:prstGeom prst="rect">
              <a:avLst/>
            </a:prstGeom>
            <a:noFill/>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Fabric8ClientTest.java</a:t>
              </a:r>
              <a:endPar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4249556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Deployments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Updating Application Declaratively</a:t>
            </a:r>
            <a:endParaRPr lang="ko-KR" altLang="en-US" sz="2800" b="1" dirty="0"/>
          </a:p>
        </p:txBody>
      </p:sp>
    </p:spTree>
    <p:extLst>
      <p:ext uri="{BB962C8B-B14F-4D97-AF65-F5344CB8AC3E}">
        <p14:creationId xmlns:p14="http://schemas.microsoft.com/office/powerpoint/2010/main" val="24037999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Deployments?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Deployments in Kubernetes :</a:t>
            </a:r>
          </a:p>
          <a:p>
            <a:pPr lvl="1">
              <a:buFont typeface="Wingdings" panose="05000000000000000000" pitchFamily="2" charset="2"/>
              <a:buChar char="§"/>
            </a:pPr>
            <a:r>
              <a:rPr lang="en-US" altLang="ko-KR" sz="1400" b="1" dirty="0"/>
              <a:t>Here we will cover how to update apps running in a Kubernetes cluster and how Kubernetes helps you move toward </a:t>
            </a:r>
            <a:r>
              <a:rPr lang="en-US" altLang="ko-KR" sz="1400" b="1" dirty="0">
                <a:solidFill>
                  <a:srgbClr val="FF0000"/>
                </a:solidFill>
              </a:rPr>
              <a:t>a true zero-downtime update </a:t>
            </a:r>
            <a:r>
              <a:rPr lang="en-US" altLang="ko-KR" sz="1400" b="1" dirty="0"/>
              <a:t>process</a:t>
            </a:r>
            <a:r>
              <a:rPr lang="en-US" altLang="ko-KR" sz="1400" dirty="0"/>
              <a:t>. Although this can be achieved using only </a:t>
            </a:r>
            <a:r>
              <a:rPr lang="en-US" altLang="ko-KR" sz="1400" b="1" dirty="0" err="1"/>
              <a:t>ReplicationControllers</a:t>
            </a:r>
            <a:r>
              <a:rPr lang="en-US" altLang="ko-KR" sz="1400" dirty="0"/>
              <a:t> or </a:t>
            </a:r>
            <a:r>
              <a:rPr lang="en-US" altLang="ko-KR" sz="1400" b="1" dirty="0" err="1"/>
              <a:t>ReplicaSets</a:t>
            </a:r>
            <a:r>
              <a:rPr lang="en-US" altLang="ko-KR" sz="1400" dirty="0"/>
              <a:t>, </a:t>
            </a:r>
            <a:r>
              <a:rPr lang="en-US" altLang="ko-KR" sz="1400" b="1" dirty="0"/>
              <a:t>Kubernetes also provides a </a:t>
            </a:r>
            <a:r>
              <a:rPr lang="en-US" altLang="ko-KR" sz="1400" b="1" dirty="0">
                <a:solidFill>
                  <a:srgbClr val="FF0000"/>
                </a:solidFill>
              </a:rPr>
              <a:t>Deployment </a:t>
            </a:r>
            <a:r>
              <a:rPr lang="en-US" altLang="ko-KR" sz="1400" b="1" dirty="0"/>
              <a:t>resource that sits on top of </a:t>
            </a:r>
            <a:r>
              <a:rPr lang="en-US" altLang="ko-KR" sz="1400" b="1" dirty="0" err="1">
                <a:solidFill>
                  <a:srgbClr val="FF0000"/>
                </a:solidFill>
              </a:rPr>
              <a:t>ReplicaSets</a:t>
            </a:r>
            <a:r>
              <a:rPr lang="en-US" altLang="ko-KR" sz="1400" b="1" dirty="0"/>
              <a:t> and enables </a:t>
            </a:r>
            <a:r>
              <a:rPr lang="en-US" altLang="ko-KR" sz="1400" b="1" dirty="0">
                <a:solidFill>
                  <a:srgbClr val="FF0000"/>
                </a:solidFill>
              </a:rPr>
              <a:t>declarative application updates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182CCFF-FB70-48C0-1104-5B5E8752A93D}"/>
              </a:ext>
            </a:extLst>
          </p:cNvPr>
          <p:cNvPicPr>
            <a:picLocks noChangeAspect="1"/>
          </p:cNvPicPr>
          <p:nvPr/>
        </p:nvPicPr>
        <p:blipFill>
          <a:blip r:embed="rId2"/>
          <a:stretch>
            <a:fillRect/>
          </a:stretch>
        </p:blipFill>
        <p:spPr>
          <a:xfrm>
            <a:off x="4213013" y="2055378"/>
            <a:ext cx="3765973" cy="4228088"/>
          </a:xfrm>
          <a:prstGeom prst="rect">
            <a:avLst/>
          </a:prstGeom>
        </p:spPr>
      </p:pic>
    </p:spTree>
    <p:extLst>
      <p:ext uri="{BB962C8B-B14F-4D97-AF65-F5344CB8AC3E}">
        <p14:creationId xmlns:p14="http://schemas.microsoft.com/office/powerpoint/2010/main" val="37705730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Applications Running in Pods(1/5)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Applications :</a:t>
            </a:r>
          </a:p>
          <a:p>
            <a:pPr lvl="1">
              <a:buFont typeface="Wingdings" panose="05000000000000000000" pitchFamily="2" charset="2"/>
              <a:buChar char="§"/>
            </a:pPr>
            <a:r>
              <a:rPr lang="en-US" altLang="ko-KR" sz="1400" dirty="0"/>
              <a:t>Imagine having a set of pod instances providing a service to other pods and/or external clients. You recognize that these pods are backed by a </a:t>
            </a:r>
            <a:r>
              <a:rPr lang="en-US" altLang="ko-KR" sz="1400" b="1" dirty="0" err="1"/>
              <a:t>ReplicationController</a:t>
            </a:r>
            <a:r>
              <a:rPr lang="en-US" altLang="ko-KR" sz="1400" dirty="0"/>
              <a:t> or a </a:t>
            </a:r>
            <a:r>
              <a:rPr lang="en-US" altLang="ko-KR" sz="1400" b="1" dirty="0" err="1"/>
              <a:t>ReplicaSet</a:t>
            </a:r>
            <a:r>
              <a:rPr lang="en-US" altLang="ko-KR" sz="1400" dirty="0"/>
              <a:t>. </a:t>
            </a:r>
            <a:r>
              <a:rPr lang="en-US" altLang="ko-KR" sz="1400" b="1" dirty="0"/>
              <a:t>A Service also exists through which clients (apps running in other pods or external clients) access the pods</a:t>
            </a:r>
            <a:r>
              <a:rPr lang="en-US" altLang="ko-KR" sz="1400" dirty="0"/>
              <a:t>. This is how a basic application looks in Kubernetes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Initially, the pods run </a:t>
            </a:r>
            <a:r>
              <a:rPr lang="en-US" altLang="ko-KR" sz="1400" b="1" dirty="0"/>
              <a:t>the first version of your application</a:t>
            </a:r>
            <a:r>
              <a:rPr lang="en-US" altLang="ko-KR" sz="1400" dirty="0"/>
              <a:t>—let’s suppose </a:t>
            </a:r>
            <a:r>
              <a:rPr lang="en-US" altLang="ko-KR" sz="1400" b="1" dirty="0"/>
              <a:t>its image is tagged as “v1”</a:t>
            </a:r>
            <a:r>
              <a:rPr lang="en-US" altLang="ko-KR" sz="1400" dirty="0"/>
              <a:t>. You then develop </a:t>
            </a:r>
            <a:r>
              <a:rPr lang="en-US" altLang="ko-KR" sz="1400" b="1" dirty="0"/>
              <a:t>a newer version of the app and push it to an image repository as a new image, tagged as “v2”</a:t>
            </a:r>
            <a:r>
              <a:rPr lang="en-US" altLang="ko-KR" sz="1400" dirty="0"/>
              <a:t>. You’d next like to replace all the pods with this new version. Because you can’t change an existing pod’s image after the pod is created, </a:t>
            </a:r>
            <a:r>
              <a:rPr lang="en-US" altLang="ko-KR" sz="1400" b="1" dirty="0"/>
              <a:t>you need to remove the old pods and replace them with new ones running the new image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B1E0D02-1534-1DA8-DFD4-04DAB216A08C}"/>
              </a:ext>
            </a:extLst>
          </p:cNvPr>
          <p:cNvPicPr>
            <a:picLocks noChangeAspect="1"/>
          </p:cNvPicPr>
          <p:nvPr/>
        </p:nvPicPr>
        <p:blipFill>
          <a:blip r:embed="rId2"/>
          <a:stretch>
            <a:fillRect/>
          </a:stretch>
        </p:blipFill>
        <p:spPr>
          <a:xfrm>
            <a:off x="4542503" y="2179868"/>
            <a:ext cx="3106994" cy="2045110"/>
          </a:xfrm>
          <a:prstGeom prst="rect">
            <a:avLst/>
          </a:prstGeom>
        </p:spPr>
      </p:pic>
    </p:spTree>
    <p:extLst>
      <p:ext uri="{BB962C8B-B14F-4D97-AF65-F5344CB8AC3E}">
        <p14:creationId xmlns:p14="http://schemas.microsoft.com/office/powerpoint/2010/main" val="40073632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Applications Running in Pods(2/5)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Applications :</a:t>
            </a:r>
          </a:p>
          <a:p>
            <a:pPr lvl="1">
              <a:buFont typeface="Wingdings" panose="05000000000000000000" pitchFamily="2" charset="2"/>
              <a:buChar char="§"/>
            </a:pPr>
            <a:r>
              <a:rPr lang="en-US" altLang="ko-KR" sz="1400" dirty="0"/>
              <a:t>You have </a:t>
            </a:r>
            <a:r>
              <a:rPr lang="en-US" altLang="ko-KR" sz="1400" b="1" dirty="0"/>
              <a:t>two ways of updating all those pods</a:t>
            </a:r>
            <a:r>
              <a:rPr lang="en-US" altLang="ko-KR" sz="1400" dirty="0"/>
              <a:t>. You can do one of the following :</a:t>
            </a:r>
          </a:p>
          <a:p>
            <a:pPr lvl="2">
              <a:buFont typeface="Wingdings" panose="05000000000000000000" pitchFamily="2" charset="2"/>
              <a:buChar char="§"/>
            </a:pPr>
            <a:r>
              <a:rPr lang="en-US" altLang="ko-KR" sz="1400" b="1" dirty="0"/>
              <a:t>Delete all existing pods </a:t>
            </a:r>
            <a:r>
              <a:rPr lang="en-US" altLang="ko-KR" sz="1400" dirty="0"/>
              <a:t>first and then </a:t>
            </a:r>
            <a:r>
              <a:rPr lang="en-US" altLang="ko-KR" sz="1400" b="1" dirty="0"/>
              <a:t>start the new ones</a:t>
            </a:r>
            <a:r>
              <a:rPr lang="en-US" altLang="ko-KR" sz="1400" dirty="0"/>
              <a:t>.</a:t>
            </a:r>
          </a:p>
          <a:p>
            <a:pPr lvl="2">
              <a:buFont typeface="Wingdings" panose="05000000000000000000" pitchFamily="2" charset="2"/>
              <a:buChar char="§"/>
            </a:pPr>
            <a:r>
              <a:rPr lang="en-US" altLang="ko-KR" sz="1400" b="1" dirty="0"/>
              <a:t>Start new ones </a:t>
            </a:r>
            <a:r>
              <a:rPr lang="en-US" altLang="ko-KR" sz="1400" dirty="0"/>
              <a:t>and, once they’re up, </a:t>
            </a:r>
            <a:r>
              <a:rPr lang="en-US" altLang="ko-KR" sz="1400" b="1" dirty="0"/>
              <a:t>delete the old ones</a:t>
            </a:r>
            <a:r>
              <a:rPr lang="en-US" altLang="ko-KR" sz="1400" dirty="0"/>
              <a:t>. You can do this either by adding all the new pods and then deleting all the old ones at once, or sequentially, by adding new pods and removing old ones gradually.</a:t>
            </a:r>
          </a:p>
          <a:p>
            <a:pPr lvl="1">
              <a:buFont typeface="Wingdings" panose="05000000000000000000" pitchFamily="2" charset="2"/>
              <a:buChar char="§"/>
            </a:pPr>
            <a:r>
              <a:rPr lang="en-US" altLang="ko-KR" sz="1400" dirty="0"/>
              <a:t>Both these strategies have their benefits and drawbacks. </a:t>
            </a:r>
            <a:r>
              <a:rPr lang="en-US" altLang="ko-KR" sz="1400" b="1" dirty="0"/>
              <a:t>The first option would lead to a short period of time when your application is unavailable</a:t>
            </a:r>
            <a:r>
              <a:rPr lang="en-US" altLang="ko-KR" sz="1400" dirty="0"/>
              <a:t>. </a:t>
            </a:r>
            <a:r>
              <a:rPr lang="en-US" altLang="ko-KR" sz="1400" b="1" dirty="0"/>
              <a:t>The second option requires your app to handle running two versions of the app at the same time</a:t>
            </a:r>
            <a:r>
              <a:rPr lang="en-US" altLang="ko-KR" sz="1400" dirty="0"/>
              <a:t>. If your app stores data in a data store, the new version shouldn’t modify the data schema or the data in such a way that breaks the previous version.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BCD9B68-2EC8-255A-EE1D-282A081E7C0F}"/>
              </a:ext>
            </a:extLst>
          </p:cNvPr>
          <p:cNvPicPr>
            <a:picLocks noChangeAspect="1"/>
          </p:cNvPicPr>
          <p:nvPr/>
        </p:nvPicPr>
        <p:blipFill>
          <a:blip r:embed="rId2"/>
          <a:stretch>
            <a:fillRect/>
          </a:stretch>
        </p:blipFill>
        <p:spPr>
          <a:xfrm>
            <a:off x="3534976" y="3429000"/>
            <a:ext cx="5122047" cy="2722159"/>
          </a:xfrm>
          <a:prstGeom prst="rect">
            <a:avLst/>
          </a:prstGeom>
        </p:spPr>
      </p:pic>
    </p:spTree>
    <p:extLst>
      <p:ext uri="{BB962C8B-B14F-4D97-AF65-F5344CB8AC3E}">
        <p14:creationId xmlns:p14="http://schemas.microsoft.com/office/powerpoint/2010/main" val="3588644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Applications Running in Pods(3/5)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Deleting Old Pods and Replacing Them with New Ones :</a:t>
            </a:r>
          </a:p>
          <a:p>
            <a:pPr lvl="1">
              <a:buFont typeface="Wingdings" panose="05000000000000000000" pitchFamily="2" charset="2"/>
              <a:buChar char="§"/>
            </a:pPr>
            <a:r>
              <a:rPr lang="en-US" altLang="ko-KR" sz="1400" dirty="0"/>
              <a:t>You already know how to get a </a:t>
            </a:r>
            <a:r>
              <a:rPr lang="en-US" altLang="ko-KR" sz="1400" b="1" dirty="0" err="1"/>
              <a:t>ReplicationController</a:t>
            </a:r>
            <a:r>
              <a:rPr lang="en-US" altLang="ko-KR" sz="1400" dirty="0"/>
              <a:t> to replace all its pod instances with pods running a new version. </a:t>
            </a:r>
            <a:r>
              <a:rPr lang="en-US" altLang="ko-KR" sz="1400" b="1" dirty="0"/>
              <a:t>The pod template of a </a:t>
            </a:r>
            <a:r>
              <a:rPr lang="en-US" altLang="ko-KR" sz="1400" b="1" dirty="0" err="1"/>
              <a:t>ReplicationController</a:t>
            </a:r>
            <a:r>
              <a:rPr lang="en-US" altLang="ko-KR" sz="1400" b="1" dirty="0"/>
              <a:t> can be updated at any time</a:t>
            </a:r>
            <a:r>
              <a:rPr lang="en-US" altLang="ko-KR" sz="1400" dirty="0"/>
              <a:t>. </a:t>
            </a:r>
            <a:r>
              <a:rPr lang="en-US" altLang="ko-KR" sz="1400" b="1" dirty="0"/>
              <a:t>When the </a:t>
            </a:r>
            <a:r>
              <a:rPr lang="en-US" altLang="ko-KR" sz="1400" b="1" dirty="0" err="1"/>
              <a:t>ReplicationController</a:t>
            </a:r>
            <a:r>
              <a:rPr lang="en-US" altLang="ko-KR" sz="1400" b="1" dirty="0"/>
              <a:t> creates new instances, it uses the updated pod template to create them</a:t>
            </a:r>
            <a:r>
              <a:rPr lang="en-US" altLang="ko-KR" sz="1400" dirty="0"/>
              <a:t>.</a:t>
            </a:r>
          </a:p>
          <a:p>
            <a:pPr lvl="1">
              <a:buFont typeface="Wingdings" panose="05000000000000000000" pitchFamily="2" charset="2"/>
              <a:buChar char="§"/>
            </a:pPr>
            <a:r>
              <a:rPr lang="en-US" altLang="ko-KR" sz="1400" b="1" dirty="0"/>
              <a:t>If you have a </a:t>
            </a:r>
            <a:r>
              <a:rPr lang="en-US" altLang="ko-KR" sz="1400" b="1" dirty="0" err="1"/>
              <a:t>ReplicationController</a:t>
            </a:r>
            <a:r>
              <a:rPr lang="en-US" altLang="ko-KR" sz="1400" b="1" dirty="0"/>
              <a:t> managing a set of “v1” pods, you can easily replace them by modifying the pod template so it refers to version “v2” of the image and then deleting the old pod instances</a:t>
            </a:r>
            <a:r>
              <a:rPr lang="en-US" altLang="ko-KR" sz="1400" dirty="0"/>
              <a:t>. The </a:t>
            </a:r>
            <a:r>
              <a:rPr lang="en-US" altLang="ko-KR" sz="1400" dirty="0" err="1"/>
              <a:t>ReplicationController</a:t>
            </a:r>
            <a:r>
              <a:rPr lang="en-US" altLang="ko-KR" sz="1400" dirty="0"/>
              <a:t> will notice that no pods match its label selector and it will spin up new instances. The whole process is shown in the following figure.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is the simplest way to update a set of pods</a:t>
            </a:r>
            <a:r>
              <a:rPr lang="en-US" altLang="ko-KR" sz="1400" dirty="0"/>
              <a:t>, if you can </a:t>
            </a:r>
            <a:r>
              <a:rPr lang="en-US" altLang="ko-KR" sz="1400" b="1" dirty="0"/>
              <a:t>accept the short downtime </a:t>
            </a:r>
            <a:r>
              <a:rPr lang="en-US" altLang="ko-KR" sz="1400" dirty="0"/>
              <a:t>between the time the old pods are deleted and new ones are started.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AB70CDB-CA34-AA05-09FD-C3E4AFC94414}"/>
              </a:ext>
            </a:extLst>
          </p:cNvPr>
          <p:cNvGrpSpPr/>
          <p:nvPr/>
        </p:nvGrpSpPr>
        <p:grpSpPr>
          <a:xfrm>
            <a:off x="3176587" y="2520485"/>
            <a:ext cx="5838825" cy="3207059"/>
            <a:chOff x="3176587" y="2892719"/>
            <a:chExt cx="5838825" cy="3207059"/>
          </a:xfrm>
        </p:grpSpPr>
        <p:pic>
          <p:nvPicPr>
            <p:cNvPr id="8" name="그림 7">
              <a:extLst>
                <a:ext uri="{FF2B5EF4-FFF2-40B4-BE49-F238E27FC236}">
                  <a16:creationId xmlns:a16="http://schemas.microsoft.com/office/drawing/2014/main" id="{1A822598-1AA7-1369-E914-BC5B82B0C0FF}"/>
                </a:ext>
              </a:extLst>
            </p:cNvPr>
            <p:cNvPicPr>
              <a:picLocks noChangeAspect="1"/>
            </p:cNvPicPr>
            <p:nvPr/>
          </p:nvPicPr>
          <p:blipFill>
            <a:blip r:embed="rId2"/>
            <a:stretch>
              <a:fillRect/>
            </a:stretch>
          </p:blipFill>
          <p:spPr>
            <a:xfrm>
              <a:off x="3176587" y="2892719"/>
              <a:ext cx="5838825" cy="3190875"/>
            </a:xfrm>
            <a:prstGeom prst="rect">
              <a:avLst/>
            </a:prstGeom>
          </p:spPr>
        </p:pic>
        <p:sp>
          <p:nvSpPr>
            <p:cNvPr id="9" name="직사각형 8">
              <a:extLst>
                <a:ext uri="{FF2B5EF4-FFF2-40B4-BE49-F238E27FC236}">
                  <a16:creationId xmlns:a16="http://schemas.microsoft.com/office/drawing/2014/main" id="{EC9DC832-8741-BA20-8150-071A6E09CDAC}"/>
                </a:ext>
              </a:extLst>
            </p:cNvPr>
            <p:cNvSpPr/>
            <p:nvPr/>
          </p:nvSpPr>
          <p:spPr>
            <a:xfrm>
              <a:off x="7007703" y="5696793"/>
              <a:ext cx="865847" cy="4029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803789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Applications Running in Pods(4/5)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Spinning up New Pods and Then Deleting Old Ones :</a:t>
            </a:r>
          </a:p>
          <a:p>
            <a:pPr lvl="1">
              <a:buFont typeface="Wingdings" panose="05000000000000000000" pitchFamily="2" charset="2"/>
              <a:buChar char="§"/>
            </a:pPr>
            <a:r>
              <a:rPr lang="en-US" altLang="ko-KR" sz="1400" b="1" dirty="0"/>
              <a:t>If you don’t want to see any downtime and your app supports running multiple versions at once, you can turn the process around and first spin up all the new pods and only then delete the old ones</a:t>
            </a:r>
            <a:r>
              <a:rPr lang="en-US" altLang="ko-KR" sz="1400" dirty="0"/>
              <a:t>. This will require more hardware resources, because you’ll have double the number of pods running at the same time for a short while.</a:t>
            </a:r>
          </a:p>
          <a:p>
            <a:pPr lvl="1">
              <a:buFont typeface="Wingdings" panose="05000000000000000000" pitchFamily="2" charset="2"/>
              <a:buChar char="§"/>
            </a:pPr>
            <a:r>
              <a:rPr lang="en-US" altLang="ko-KR" sz="1400" b="1" dirty="0"/>
              <a:t>Pods are usually fronted by a </a:t>
            </a:r>
            <a:r>
              <a:rPr lang="en-US" altLang="ko-KR" sz="1400" b="1" dirty="0">
                <a:solidFill>
                  <a:srgbClr val="FF0000"/>
                </a:solidFill>
              </a:rPr>
              <a:t>Service</a:t>
            </a:r>
            <a:r>
              <a:rPr lang="en-US" altLang="ko-KR" sz="1400" dirty="0"/>
              <a:t>. </a:t>
            </a:r>
            <a:r>
              <a:rPr lang="en-US" altLang="ko-KR" sz="1400" b="1" dirty="0"/>
              <a:t>It’s possible to have the Service front only the initial version of the pods while you bring up the pods running the new version</a:t>
            </a:r>
            <a:r>
              <a:rPr lang="en-US" altLang="ko-KR" sz="1400" dirty="0"/>
              <a:t>. </a:t>
            </a:r>
            <a:r>
              <a:rPr lang="en-US" altLang="ko-KR" sz="1400" b="1" dirty="0"/>
              <a:t>Then, once all the new pods are up, you can </a:t>
            </a:r>
            <a:r>
              <a:rPr lang="en-US" altLang="ko-KR" sz="1400" b="1" dirty="0">
                <a:solidFill>
                  <a:srgbClr val="FF0000"/>
                </a:solidFill>
              </a:rPr>
              <a:t>change the Service’s label selector </a:t>
            </a:r>
            <a:r>
              <a:rPr lang="en-US" altLang="ko-KR" sz="1400" b="1" dirty="0"/>
              <a:t>and have the Service switch over to the new pods</a:t>
            </a:r>
            <a:r>
              <a:rPr lang="en-US" altLang="ko-KR" sz="1400" dirty="0"/>
              <a:t>, as shown in the following figure. This is called </a:t>
            </a:r>
            <a:r>
              <a:rPr lang="en-US" altLang="ko-KR" sz="1400" b="1" dirty="0">
                <a:solidFill>
                  <a:srgbClr val="FF0000"/>
                </a:solidFill>
              </a:rPr>
              <a:t>a blue-green deployment</a:t>
            </a:r>
            <a:r>
              <a:rPr lang="en-US" altLang="ko-KR" sz="1400" dirty="0"/>
              <a:t>. After switching over, and once you’re sure the new version functions correctly, you’re free to </a:t>
            </a:r>
            <a:r>
              <a:rPr lang="en-US" altLang="ko-KR" sz="1400" b="1" dirty="0"/>
              <a:t>delete the old pods by deleting the old </a:t>
            </a:r>
            <a:r>
              <a:rPr lang="en-US" altLang="ko-KR" sz="1400" b="1" dirty="0" err="1"/>
              <a:t>ReplicationController</a:t>
            </a:r>
            <a:r>
              <a:rPr lang="en-US" altLang="ko-KR" sz="1400" dirty="0"/>
              <a:t>. </a:t>
            </a:r>
          </a:p>
          <a:p>
            <a:pPr lvl="1">
              <a:buFont typeface="Wingdings" panose="05000000000000000000" pitchFamily="2" charset="2"/>
              <a:buChar char="§"/>
            </a:pPr>
            <a:r>
              <a:rPr lang="en-US" altLang="ko-KR" sz="1400" b="1" dirty="0"/>
              <a:t>NOTE : You can change a Service’s pod selector with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set selector</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83E52D8-358A-A422-5AA4-D731DDB3A108}"/>
              </a:ext>
            </a:extLst>
          </p:cNvPr>
          <p:cNvPicPr>
            <a:picLocks noChangeAspect="1"/>
          </p:cNvPicPr>
          <p:nvPr/>
        </p:nvPicPr>
        <p:blipFill>
          <a:blip r:embed="rId2"/>
          <a:stretch>
            <a:fillRect/>
          </a:stretch>
        </p:blipFill>
        <p:spPr>
          <a:xfrm>
            <a:off x="2866261" y="3379241"/>
            <a:ext cx="6459478" cy="2664664"/>
          </a:xfrm>
          <a:prstGeom prst="rect">
            <a:avLst/>
          </a:prstGeom>
        </p:spPr>
      </p:pic>
    </p:spTree>
    <p:extLst>
      <p:ext uri="{BB962C8B-B14F-4D97-AF65-F5344CB8AC3E}">
        <p14:creationId xmlns:p14="http://schemas.microsoft.com/office/powerpoint/2010/main" val="20601555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Applications Running in Pods(5/5)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Spinning up New Pods and Then Deleting Old Ones :</a:t>
            </a:r>
          </a:p>
          <a:p>
            <a:pPr lvl="1">
              <a:buFont typeface="Wingdings" panose="05000000000000000000" pitchFamily="2" charset="2"/>
              <a:buChar char="§"/>
            </a:pPr>
            <a:r>
              <a:rPr lang="en-US" altLang="ko-KR" sz="1400" dirty="0"/>
              <a:t>Instead of bringing up all the new pods and deleting the old pods at once, you can also perform </a:t>
            </a:r>
            <a:r>
              <a:rPr lang="en-US" altLang="ko-KR" sz="1400" b="1" dirty="0"/>
              <a:t>a </a:t>
            </a:r>
            <a:r>
              <a:rPr lang="en-US" altLang="ko-KR" sz="1400" b="1" dirty="0">
                <a:solidFill>
                  <a:srgbClr val="FF0000"/>
                </a:solidFill>
              </a:rPr>
              <a:t>rolling update</a:t>
            </a:r>
            <a:r>
              <a:rPr lang="en-US" altLang="ko-KR" sz="1400" dirty="0"/>
              <a:t>, </a:t>
            </a:r>
            <a:r>
              <a:rPr lang="en-US" altLang="ko-KR" sz="1400" b="1" dirty="0"/>
              <a:t>which replaces pods step by step</a:t>
            </a:r>
            <a:r>
              <a:rPr lang="en-US" altLang="ko-KR" sz="1400" dirty="0"/>
              <a:t>. You do this by slowly scaling down the previous </a:t>
            </a:r>
            <a:r>
              <a:rPr lang="en-US" altLang="ko-KR" sz="1400" dirty="0" err="1"/>
              <a:t>ReplicationController</a:t>
            </a:r>
            <a:r>
              <a:rPr lang="en-US" altLang="ko-KR" sz="1400" dirty="0"/>
              <a:t> and scaling up the new one. In this case, </a:t>
            </a:r>
            <a:r>
              <a:rPr lang="en-US" altLang="ko-KR" sz="1400" b="1" dirty="0"/>
              <a:t>you’ll want the Service’s pod selector to include both the old and the new pods, so it directs requests toward both sets of pods</a:t>
            </a:r>
            <a:r>
              <a:rPr lang="en-US" altLang="ko-KR" sz="1400" dirty="0"/>
              <a:t>. 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0" name="그림 9">
            <a:extLst>
              <a:ext uri="{FF2B5EF4-FFF2-40B4-BE49-F238E27FC236}">
                <a16:creationId xmlns:a16="http://schemas.microsoft.com/office/drawing/2014/main" id="{9CA7C577-1984-EB15-C415-C16F05903C0C}"/>
              </a:ext>
            </a:extLst>
          </p:cNvPr>
          <p:cNvPicPr>
            <a:picLocks noChangeAspect="1"/>
          </p:cNvPicPr>
          <p:nvPr/>
        </p:nvPicPr>
        <p:blipFill>
          <a:blip r:embed="rId2"/>
          <a:stretch>
            <a:fillRect/>
          </a:stretch>
        </p:blipFill>
        <p:spPr>
          <a:xfrm>
            <a:off x="3024187" y="2329655"/>
            <a:ext cx="6143625" cy="2524125"/>
          </a:xfrm>
          <a:prstGeom prst="rect">
            <a:avLst/>
          </a:prstGeom>
        </p:spPr>
      </p:pic>
    </p:spTree>
    <p:extLst>
      <p:ext uri="{BB962C8B-B14F-4D97-AF65-F5344CB8AC3E}">
        <p14:creationId xmlns:p14="http://schemas.microsoft.com/office/powerpoint/2010/main" val="27710177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Performing a Rolling Update with a </a:t>
            </a:r>
            <a:r>
              <a:rPr lang="en-US" altLang="ko-KR" sz="2800" b="1" dirty="0" err="1"/>
              <a:t>ReplicationController</a:t>
            </a:r>
            <a:r>
              <a:rPr lang="en-US" altLang="ko-KR" sz="2800" b="1" dirty="0"/>
              <a:t>(1/7)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Initial Version of the App :</a:t>
            </a:r>
          </a:p>
          <a:p>
            <a:pPr lvl="1">
              <a:buFont typeface="Wingdings" panose="05000000000000000000" pitchFamily="2" charset="2"/>
              <a:buChar char="§"/>
            </a:pPr>
            <a:r>
              <a:rPr lang="en-US" altLang="ko-KR" sz="1400" dirty="0"/>
              <a:t>Instead of performing rolling updates using </a:t>
            </a:r>
            <a:r>
              <a:rPr lang="en-US" altLang="ko-KR" sz="1400" b="1" dirty="0" err="1"/>
              <a:t>ReplicationControllers</a:t>
            </a:r>
            <a:r>
              <a:rPr lang="en-US" altLang="ko-KR" sz="1400" dirty="0"/>
              <a:t> manually, you can have </a:t>
            </a:r>
            <a:r>
              <a:rPr lang="en-US" altLang="ko-KR" sz="1400" b="1" dirty="0" err="1"/>
              <a:t>kubectl</a:t>
            </a:r>
            <a:r>
              <a:rPr lang="en-US" altLang="ko-KR" sz="1400" dirty="0"/>
              <a:t> perform them. </a:t>
            </a:r>
            <a:r>
              <a:rPr lang="en-US" altLang="ko-KR" sz="1400" b="1" dirty="0"/>
              <a:t>Using </a:t>
            </a:r>
            <a:r>
              <a:rPr lang="en-US" altLang="ko-KR" sz="1400" b="1" dirty="0" err="1"/>
              <a:t>kubectl</a:t>
            </a:r>
            <a:r>
              <a:rPr lang="en-US" altLang="ko-KR" sz="1400" b="1" dirty="0"/>
              <a:t> to perform the update makes the process much easier</a:t>
            </a:r>
            <a:r>
              <a:rPr lang="en-US" altLang="ko-KR" sz="1400" dirty="0"/>
              <a:t>, </a:t>
            </a:r>
            <a:r>
              <a:rPr lang="en-US" altLang="ko-KR" sz="1400" b="1" dirty="0"/>
              <a:t>but this is now an outdated way of updating apps</a:t>
            </a:r>
            <a:r>
              <a:rPr lang="en-US" altLang="ko-KR" sz="1400" dirty="0"/>
              <a:t>. Nevertheless, we’ll walk through this option first, because it was </a:t>
            </a:r>
            <a:r>
              <a:rPr lang="en-US" altLang="ko-KR" sz="1400" b="1" dirty="0"/>
              <a:t>historically the first way of doing an automatic rolling update</a:t>
            </a:r>
            <a:r>
              <a:rPr lang="en-US" altLang="ko-KR" sz="1400" dirty="0"/>
              <a:t>, and also allows us to discuss the process without introducing too many additional concepts.</a:t>
            </a:r>
          </a:p>
          <a:p>
            <a:pPr lvl="1">
              <a:buFont typeface="Wingdings" panose="05000000000000000000" pitchFamily="2" charset="2"/>
              <a:buChar char="§"/>
            </a:pPr>
            <a:r>
              <a:rPr lang="en-US" altLang="ko-KR" sz="1400" b="1" dirty="0"/>
              <a:t>Obviously, before you can update an app, you need to have an app deployed</a:t>
            </a:r>
            <a:r>
              <a:rPr lang="en-US" altLang="ko-KR" sz="1400" dirty="0"/>
              <a:t>. You’re going to use a slightly modified version of the “</a:t>
            </a:r>
            <a:r>
              <a:rPr lang="en-US" altLang="ko-KR" sz="1400" b="1" dirty="0" err="1"/>
              <a:t>kubia</a:t>
            </a:r>
            <a:r>
              <a:rPr lang="en-US" altLang="ko-KR" sz="1400" b="1" dirty="0"/>
              <a:t> NodeJS app</a:t>
            </a:r>
            <a:r>
              <a:rPr lang="en-US" altLang="ko-KR" sz="1400" dirty="0"/>
              <a:t>” you created before as your initial version. In case you don’t remember what it does, it’s </a:t>
            </a:r>
            <a:r>
              <a:rPr lang="en-US" altLang="ko-KR" sz="1400" b="1" dirty="0"/>
              <a:t>a simple webapp that returns the pod’s hostname in the HTTP response</a:t>
            </a:r>
            <a:r>
              <a:rPr lang="en-US" altLang="ko-KR" sz="1400" dirty="0"/>
              <a:t>.</a:t>
            </a:r>
          </a:p>
          <a:p>
            <a:pPr lvl="1">
              <a:buFont typeface="Wingdings" panose="05000000000000000000" pitchFamily="2" charset="2"/>
              <a:buChar char="§"/>
            </a:pPr>
            <a:r>
              <a:rPr lang="en-US" altLang="ko-KR" sz="1400" b="1" dirty="0"/>
              <a:t>You’ll change the app so it also returns its version number in the response</a:t>
            </a:r>
            <a:r>
              <a:rPr lang="en-US" altLang="ko-KR" sz="1400" dirty="0"/>
              <a:t>, which will allow you to distinguish between the different versions you’re about to build. The following listing shows the app’s code.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D6CB620F-CB49-80DE-993B-6FE2B5BEC68E}"/>
              </a:ext>
            </a:extLst>
          </p:cNvPr>
          <p:cNvGrpSpPr/>
          <p:nvPr/>
        </p:nvGrpSpPr>
        <p:grpSpPr>
          <a:xfrm>
            <a:off x="3047326" y="3591718"/>
            <a:ext cx="6097348" cy="2092881"/>
            <a:chOff x="3047326" y="3591718"/>
            <a:chExt cx="6097348" cy="2092881"/>
          </a:xfrm>
        </p:grpSpPr>
        <p:sp>
          <p:nvSpPr>
            <p:cNvPr id="9" name="TextBox 8">
              <a:extLst>
                <a:ext uri="{FF2B5EF4-FFF2-40B4-BE49-F238E27FC236}">
                  <a16:creationId xmlns:a16="http://schemas.microsoft.com/office/drawing/2014/main" id="{011C42A5-6281-44A8-8CE9-0AE1CD0E4011}"/>
                </a:ext>
              </a:extLst>
            </p:cNvPr>
            <p:cNvSpPr txBox="1"/>
            <p:nvPr/>
          </p:nvSpPr>
          <p:spPr>
            <a:xfrm>
              <a:off x="3047326" y="3591718"/>
              <a:ext cx="6097348" cy="2092881"/>
            </a:xfrm>
            <a:prstGeom prst="rect">
              <a:avLst/>
            </a:prstGeom>
            <a:noFill/>
            <a:ln>
              <a:solidFill>
                <a:schemeClr val="bg1">
                  <a:lumMod val="50000"/>
                </a:schemeClr>
              </a:solidFill>
            </a:ln>
          </p:spPr>
          <p:txBody>
            <a:bodyPr wrap="square">
              <a:spAutoFit/>
            </a:bodyPr>
            <a:lstStyle/>
            <a:p>
              <a:r>
                <a:rPr lang="en-US" altLang="ko-KR" sz="1000" b="1" dirty="0"/>
                <a:t>const http = require('http');</a:t>
              </a:r>
            </a:p>
            <a:p>
              <a:r>
                <a:rPr lang="en-US" altLang="ko-KR" sz="1000" b="1" dirty="0"/>
                <a:t>const </a:t>
              </a:r>
              <a:r>
                <a:rPr lang="en-US" altLang="ko-KR" sz="1000" b="1" dirty="0" err="1"/>
                <a:t>os</a:t>
              </a:r>
              <a:r>
                <a:rPr lang="en-US" altLang="ko-KR" sz="1000" b="1" dirty="0"/>
                <a:t> = require('</a:t>
              </a:r>
              <a:r>
                <a:rPr lang="en-US" altLang="ko-KR" sz="1000" b="1" dirty="0" err="1"/>
                <a:t>os</a:t>
              </a:r>
              <a:r>
                <a:rPr lang="en-US" altLang="ko-KR" sz="1000" b="1" dirty="0"/>
                <a:t>');</a:t>
              </a:r>
            </a:p>
            <a:p>
              <a:endParaRPr lang="en-US" altLang="ko-KR" sz="1000" b="1" dirty="0"/>
            </a:p>
            <a:p>
              <a:r>
                <a:rPr lang="en-US" altLang="ko-KR" sz="1000" b="1" dirty="0"/>
                <a:t>console.log("</a:t>
              </a:r>
              <a:r>
                <a:rPr lang="en-US" altLang="ko-KR" sz="1000" b="1" dirty="0" err="1"/>
                <a:t>Kubia</a:t>
              </a:r>
              <a:r>
                <a:rPr lang="en-US" altLang="ko-KR" sz="1000" b="1" dirty="0"/>
                <a:t> server starting...");</a:t>
              </a:r>
            </a:p>
            <a:p>
              <a:endParaRPr lang="en-US" altLang="ko-KR" sz="1000" b="1" dirty="0"/>
            </a:p>
            <a:p>
              <a:r>
                <a:rPr lang="en-US" altLang="ko-KR" sz="1000" b="1" dirty="0"/>
                <a:t>var handler = function(request, response) {</a:t>
              </a:r>
            </a:p>
            <a:p>
              <a:r>
                <a:rPr lang="en-US" altLang="ko-KR" sz="1000" b="1" dirty="0"/>
                <a:t>  console.log("Received request from " + </a:t>
              </a:r>
              <a:r>
                <a:rPr lang="en-US" altLang="ko-KR" sz="1000" b="1" dirty="0" err="1"/>
                <a:t>request.connection.remoteAddress</a:t>
              </a:r>
              <a:r>
                <a:rPr lang="en-US" altLang="ko-KR" sz="1000" b="1" dirty="0"/>
                <a:t>);</a:t>
              </a:r>
            </a:p>
            <a:p>
              <a:r>
                <a:rPr lang="en-US" altLang="ko-KR" sz="1000" b="1" dirty="0"/>
                <a:t>  </a:t>
              </a:r>
              <a:r>
                <a:rPr lang="en-US" altLang="ko-KR" sz="1000" b="1" dirty="0" err="1"/>
                <a:t>response.writeHead</a:t>
              </a:r>
              <a:r>
                <a:rPr lang="en-US" altLang="ko-KR" sz="1000" b="1" dirty="0"/>
                <a:t>(200);</a:t>
              </a:r>
            </a:p>
            <a:p>
              <a:r>
                <a:rPr lang="en-US" altLang="ko-KR" sz="1000" b="1" dirty="0"/>
                <a:t>  </a:t>
              </a:r>
              <a:r>
                <a:rPr lang="en-US" altLang="ko-KR" sz="1000" b="1" dirty="0" err="1"/>
                <a:t>response.end</a:t>
              </a:r>
              <a:r>
                <a:rPr lang="en-US" altLang="ko-KR" sz="1000" b="1" dirty="0"/>
                <a:t>("</a:t>
              </a:r>
              <a:r>
                <a:rPr lang="en-US" altLang="ko-KR" sz="1000" b="1" dirty="0">
                  <a:solidFill>
                    <a:srgbClr val="FF0000"/>
                  </a:solidFill>
                </a:rPr>
                <a:t>This is v1 running in pod " + </a:t>
              </a:r>
              <a:r>
                <a:rPr lang="en-US" altLang="ko-KR" sz="1000" b="1" dirty="0" err="1">
                  <a:solidFill>
                    <a:srgbClr val="FF0000"/>
                  </a:solidFill>
                </a:rPr>
                <a:t>os.hostname</a:t>
              </a:r>
              <a:r>
                <a:rPr lang="en-US" altLang="ko-KR" sz="1000" b="1" dirty="0">
                  <a:solidFill>
                    <a:srgbClr val="FF0000"/>
                  </a:solidFill>
                </a:rPr>
                <a:t>() + "\n</a:t>
              </a:r>
              <a:r>
                <a:rPr lang="en-US" altLang="ko-KR" sz="1000" b="1" dirty="0"/>
                <a:t>");</a:t>
              </a:r>
            </a:p>
            <a:p>
              <a:r>
                <a:rPr lang="en-US" altLang="ko-KR" sz="1000" b="1" dirty="0"/>
                <a:t>};</a:t>
              </a:r>
            </a:p>
            <a:p>
              <a:endParaRPr lang="en-US" altLang="ko-KR" sz="1000" b="1" dirty="0"/>
            </a:p>
            <a:p>
              <a:r>
                <a:rPr lang="en-US" altLang="ko-KR" sz="1000" b="1" dirty="0"/>
                <a:t>var www = </a:t>
              </a:r>
              <a:r>
                <a:rPr lang="en-US" altLang="ko-KR" sz="1000" b="1" dirty="0" err="1"/>
                <a:t>http.createServer</a:t>
              </a:r>
              <a:r>
                <a:rPr lang="en-US" altLang="ko-KR" sz="1000" b="1" dirty="0"/>
                <a:t>(handler);</a:t>
              </a:r>
            </a:p>
            <a:p>
              <a:r>
                <a:rPr lang="en-US" altLang="ko-KR" sz="1000" b="1" dirty="0"/>
                <a:t>www.listen(8080);</a:t>
              </a:r>
              <a:endParaRPr lang="ko-KR" altLang="en-US" sz="1000" b="1" dirty="0"/>
            </a:p>
          </p:txBody>
        </p:sp>
        <p:sp>
          <p:nvSpPr>
            <p:cNvPr id="10" name="TextBox 9">
              <a:extLst>
                <a:ext uri="{FF2B5EF4-FFF2-40B4-BE49-F238E27FC236}">
                  <a16:creationId xmlns:a16="http://schemas.microsoft.com/office/drawing/2014/main" id="{F5DC2DF3-4D26-500F-EA61-BC266FA75721}"/>
                </a:ext>
              </a:extLst>
            </p:cNvPr>
            <p:cNvSpPr txBox="1"/>
            <p:nvPr/>
          </p:nvSpPr>
          <p:spPr>
            <a:xfrm>
              <a:off x="8403766" y="3591718"/>
              <a:ext cx="740908" cy="246221"/>
            </a:xfrm>
            <a:prstGeom prst="rect">
              <a:avLst/>
            </a:prstGeom>
            <a:noFill/>
          </p:spPr>
          <p:txBody>
            <a:bodyPr wrap="none" rtlCol="0">
              <a:spAutoFit/>
            </a:bodyPr>
            <a:lstStyle/>
            <a:p>
              <a:pPr algn="l"/>
              <a:r>
                <a:rPr lang="en-US" altLang="ko-KR" sz="1000" b="1" dirty="0"/>
                <a:t>v1/app.js</a:t>
              </a:r>
              <a:endParaRPr lang="ko-KR" altLang="en-US" sz="1000" b="1" dirty="0"/>
            </a:p>
          </p:txBody>
        </p:sp>
      </p:grpSp>
    </p:spTree>
    <p:extLst>
      <p:ext uri="{BB962C8B-B14F-4D97-AF65-F5344CB8AC3E}">
        <p14:creationId xmlns:p14="http://schemas.microsoft.com/office/powerpoint/2010/main" val="6250806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Performing a Rolling Update with a </a:t>
            </a:r>
            <a:r>
              <a:rPr lang="en-US" altLang="ko-KR" sz="2800" b="1" dirty="0" err="1"/>
              <a:t>ReplicationController</a:t>
            </a:r>
            <a:r>
              <a:rPr lang="en-US" altLang="ko-KR" sz="2800" b="1" dirty="0"/>
              <a:t>(2/7)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Initial Version of the App :</a:t>
            </a:r>
          </a:p>
          <a:p>
            <a:pPr lvl="1">
              <a:buFont typeface="Wingdings" panose="05000000000000000000" pitchFamily="2" charset="2"/>
              <a:buChar char="§"/>
            </a:pPr>
            <a:r>
              <a:rPr lang="en-US" altLang="ko-KR" sz="1400" dirty="0"/>
              <a:t>To run your app, you’ll create a </a:t>
            </a:r>
            <a:r>
              <a:rPr lang="en-US" altLang="ko-KR" sz="1400" b="1" dirty="0" err="1"/>
              <a:t>ReplicationController</a:t>
            </a:r>
            <a:r>
              <a:rPr lang="en-US" altLang="ko-KR" sz="1400" dirty="0"/>
              <a:t> and a </a:t>
            </a:r>
            <a:r>
              <a:rPr lang="en-US" altLang="ko-KR" sz="1400" b="1" dirty="0" err="1"/>
              <a:t>LoadBalancer</a:t>
            </a:r>
            <a:r>
              <a:rPr lang="en-US" altLang="ko-KR" sz="1400" b="1" dirty="0"/>
              <a:t> Service</a:t>
            </a:r>
            <a:r>
              <a:rPr lang="en-US" altLang="ko-KR" sz="1400" dirty="0"/>
              <a:t> to enable you to access the app externally. This time, rather than create these two resources separately, you’ll </a:t>
            </a:r>
            <a:r>
              <a:rPr lang="en-US" altLang="ko-KR" sz="1400" b="1" dirty="0"/>
              <a:t>create a single YAML for both of them and post it to the Kubernetes API with a single “$ </a:t>
            </a:r>
            <a:r>
              <a:rPr lang="en-US" altLang="ko-KR" sz="1400" b="1" dirty="0" err="1"/>
              <a:t>kubectl</a:t>
            </a:r>
            <a:r>
              <a:rPr lang="en-US" altLang="ko-KR" sz="1400" b="1" dirty="0"/>
              <a:t> create” command</a:t>
            </a:r>
            <a:r>
              <a:rPr lang="en-US" altLang="ko-KR" sz="1400" dirty="0"/>
              <a:t>. A YAML manifest can contain multiple objects delimited with a line containing three dashes,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7262E5B-32BA-93CC-32C4-BC9C8BB03BC4}"/>
              </a:ext>
            </a:extLst>
          </p:cNvPr>
          <p:cNvGrpSpPr/>
          <p:nvPr/>
        </p:nvGrpSpPr>
        <p:grpSpPr>
          <a:xfrm>
            <a:off x="3047326" y="2062349"/>
            <a:ext cx="6097348" cy="4247317"/>
            <a:chOff x="3047326" y="2062349"/>
            <a:chExt cx="6097348" cy="4247317"/>
          </a:xfrm>
        </p:grpSpPr>
        <p:sp>
          <p:nvSpPr>
            <p:cNvPr id="8" name="TextBox 7">
              <a:extLst>
                <a:ext uri="{FF2B5EF4-FFF2-40B4-BE49-F238E27FC236}">
                  <a16:creationId xmlns:a16="http://schemas.microsoft.com/office/drawing/2014/main" id="{61BBA77E-F2F5-B0E5-311F-989BE3017521}"/>
                </a:ext>
              </a:extLst>
            </p:cNvPr>
            <p:cNvSpPr txBox="1"/>
            <p:nvPr/>
          </p:nvSpPr>
          <p:spPr>
            <a:xfrm>
              <a:off x="3047326" y="2062349"/>
              <a:ext cx="6097348" cy="424731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ReplicationController</a:t>
              </a:r>
              <a:endParaRPr lang="en-US" altLang="ko-KR" sz="1000" b="1" dirty="0">
                <a:solidFill>
                  <a:srgbClr val="FF0000"/>
                </a:solidFill>
              </a:endParaRPr>
            </a:p>
            <a:p>
              <a:r>
                <a:rPr lang="en-US" altLang="ko-KR" sz="1000" b="1" dirty="0"/>
                <a:t>metadata:</a:t>
              </a:r>
            </a:p>
            <a:p>
              <a:r>
                <a:rPr lang="en-US" altLang="ko-KR" sz="1000" b="1" dirty="0"/>
                <a:t>  name: kubia-v1</a:t>
              </a:r>
            </a:p>
            <a:p>
              <a:r>
                <a:rPr lang="en-US" altLang="ko-KR" sz="1000" b="1" dirty="0"/>
                <a:t>spec:</a:t>
              </a:r>
            </a:p>
            <a:p>
              <a:r>
                <a:rPr lang="en-US" altLang="ko-KR" sz="1000" b="1" dirty="0"/>
                <a:t>  replicas: 3</a:t>
              </a:r>
            </a:p>
            <a:p>
              <a:r>
                <a:rPr lang="en-US" altLang="ko-KR" sz="1000" b="1" dirty="0"/>
                <a:t>  template:</a:t>
              </a:r>
            </a:p>
            <a:p>
              <a:r>
                <a:rPr lang="en-US" altLang="ko-KR" sz="1000" b="1" dirty="0"/>
                <a:t>    metadata:</a:t>
              </a:r>
            </a:p>
            <a:p>
              <a:r>
                <a:rPr lang="en-US" altLang="ko-KR" sz="1000" b="1" dirty="0"/>
                <a:t>      name: </a:t>
              </a:r>
              <a:r>
                <a:rPr lang="en-US" altLang="ko-KR" sz="1000" b="1" dirty="0" err="1"/>
                <a:t>kubia</a:t>
              </a:r>
              <a:endParaRPr lang="en-US" altLang="ko-KR" sz="1000" b="1" dirty="0"/>
            </a:p>
            <a:p>
              <a:r>
                <a:rPr lang="en-US" altLang="ko-KR" sz="1000" b="1" dirty="0"/>
                <a:t>      labels:</a:t>
              </a:r>
            </a:p>
            <a:p>
              <a:r>
                <a:rPr lang="en-US" altLang="ko-KR" sz="1000" b="1" dirty="0"/>
                <a:t>        </a:t>
              </a:r>
              <a:r>
                <a:rPr lang="en-US" altLang="ko-KR" sz="1000" b="1" dirty="0">
                  <a:solidFill>
                    <a:srgbClr val="FF0000"/>
                  </a:solidFill>
                </a:rPr>
                <a:t>app: </a:t>
              </a:r>
              <a:r>
                <a:rPr lang="en-US" altLang="ko-KR" sz="1000" b="1" dirty="0" err="1">
                  <a:solidFill>
                    <a:srgbClr val="FF0000"/>
                  </a:solidFill>
                </a:rPr>
                <a:t>kubia</a:t>
              </a:r>
              <a:endParaRPr lang="en-US" altLang="ko-KR" sz="1000" b="1" dirty="0">
                <a:solidFill>
                  <a:srgbClr val="FF0000"/>
                </a:solidFill>
              </a:endParaRPr>
            </a:p>
            <a:p>
              <a:r>
                <a:rPr lang="en-US" altLang="ko-KR" sz="1000" b="1" dirty="0"/>
                <a:t>    spec:</a:t>
              </a:r>
            </a:p>
            <a:p>
              <a:r>
                <a:rPr lang="en-US" altLang="ko-KR" sz="1000" b="1" dirty="0"/>
                <a:t>      containers:</a:t>
              </a:r>
            </a:p>
            <a:p>
              <a:r>
                <a:rPr lang="en-US" altLang="ko-KR" sz="1000" b="1" dirty="0"/>
                <a:t>      - image: </a:t>
              </a:r>
              <a:r>
                <a:rPr lang="en-US" altLang="ko-KR" sz="1000" b="1" dirty="0">
                  <a:solidFill>
                    <a:srgbClr val="FF0000"/>
                  </a:solidFill>
                </a:rPr>
                <a:t>knix008/kubia:v1</a:t>
              </a:r>
            </a:p>
            <a:p>
              <a:r>
                <a:rPr lang="en-US" altLang="ko-KR" sz="1000" b="1" dirty="0"/>
                <a:t>        name: </a:t>
              </a:r>
              <a:r>
                <a:rPr lang="en-US" altLang="ko-KR" sz="1000" b="1" dirty="0" err="1">
                  <a:solidFill>
                    <a:srgbClr val="FF0000"/>
                  </a:solidFill>
                </a:rPr>
                <a:t>nodejs</a:t>
              </a:r>
              <a:endParaRPr lang="en-US" altLang="ko-KR" sz="1000" b="1" dirty="0">
                <a:solidFill>
                  <a:srgbClr val="FF0000"/>
                </a:solidFill>
              </a:endParaRPr>
            </a:p>
            <a:p>
              <a:r>
                <a:rPr lang="en-US" altLang="ko-KR" sz="1000" b="1" dirty="0"/>
                <a:t>---</a:t>
              </a:r>
            </a:p>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type: </a:t>
              </a:r>
              <a:r>
                <a:rPr lang="en-US" altLang="ko-KR" sz="1000" b="1" dirty="0" err="1">
                  <a:solidFill>
                    <a:srgbClr val="FF0000"/>
                  </a:solidFill>
                </a:rPr>
                <a:t>LoadBalancer</a:t>
              </a:r>
              <a:endParaRPr lang="en-US" altLang="ko-KR" sz="1000" b="1" dirty="0">
                <a:solidFill>
                  <a:srgbClr val="FF0000"/>
                </a:solidFill>
              </a:endParaRPr>
            </a:p>
            <a:p>
              <a:r>
                <a:rPr lang="en-US" altLang="ko-KR" sz="1000" b="1" dirty="0"/>
                <a:t>  selector:</a:t>
              </a:r>
            </a:p>
            <a:p>
              <a:r>
                <a:rPr lang="en-US" altLang="ko-KR" sz="1000" b="1" dirty="0"/>
                <a:t>    </a:t>
              </a:r>
              <a:r>
                <a:rPr lang="en-US" altLang="ko-KR" sz="1000" b="1" dirty="0">
                  <a:solidFill>
                    <a:srgbClr val="FF0000"/>
                  </a:solidFill>
                </a:rPr>
                <a:t>app: </a:t>
              </a:r>
              <a:r>
                <a:rPr lang="en-US" altLang="ko-KR" sz="1000" b="1" dirty="0" err="1">
                  <a:solidFill>
                    <a:srgbClr val="FF0000"/>
                  </a:solidFill>
                </a:rPr>
                <a:t>kubia</a:t>
              </a:r>
              <a:endParaRPr lang="en-US" altLang="ko-KR" sz="1000" b="1" dirty="0">
                <a:solidFill>
                  <a:srgbClr val="FF0000"/>
                </a:solidFill>
              </a:endParaRPr>
            </a:p>
            <a:p>
              <a:r>
                <a:rPr lang="en-US" altLang="ko-KR" sz="1000" b="1" dirty="0"/>
                <a:t>  ports:</a:t>
              </a:r>
            </a:p>
            <a:p>
              <a:r>
                <a:rPr lang="en-US" altLang="ko-KR" sz="1000" b="1" dirty="0"/>
                <a:t>  - port: 80</a:t>
              </a:r>
            </a:p>
            <a:p>
              <a:r>
                <a:rPr lang="en-US" altLang="ko-KR" sz="1000" b="1" dirty="0"/>
                <a:t>    </a:t>
              </a:r>
              <a:r>
                <a:rPr lang="en-US" altLang="ko-KR" sz="1000" b="1" dirty="0" err="1"/>
                <a:t>targetPort</a:t>
              </a:r>
              <a:r>
                <a:rPr lang="en-US" altLang="ko-KR" sz="1000" b="1" dirty="0"/>
                <a:t>: 8080</a:t>
              </a:r>
              <a:endParaRPr lang="ko-KR" altLang="en-US" sz="1000" b="1" dirty="0"/>
            </a:p>
          </p:txBody>
        </p:sp>
        <p:sp>
          <p:nvSpPr>
            <p:cNvPr id="9" name="TextBox 8">
              <a:extLst>
                <a:ext uri="{FF2B5EF4-FFF2-40B4-BE49-F238E27FC236}">
                  <a16:creationId xmlns:a16="http://schemas.microsoft.com/office/drawing/2014/main" id="{73D2A9B3-BCE1-477B-A60A-D4E0C0CA7510}"/>
                </a:ext>
              </a:extLst>
            </p:cNvPr>
            <p:cNvSpPr txBox="1"/>
            <p:nvPr/>
          </p:nvSpPr>
          <p:spPr>
            <a:xfrm>
              <a:off x="7190293" y="2062349"/>
              <a:ext cx="1954381" cy="246221"/>
            </a:xfrm>
            <a:prstGeom prst="rect">
              <a:avLst/>
            </a:prstGeom>
            <a:noFill/>
          </p:spPr>
          <p:txBody>
            <a:bodyPr wrap="none" rtlCol="0">
              <a:spAutoFit/>
            </a:bodyPr>
            <a:lstStyle/>
            <a:p>
              <a:pPr algn="l"/>
              <a:r>
                <a:rPr lang="en-US" altLang="ko-KR" sz="1000" b="1" dirty="0"/>
                <a:t>kubia-rc-and-service-v1.yaml</a:t>
              </a:r>
              <a:endParaRPr lang="ko-KR" altLang="en-US" sz="1000" b="1" dirty="0"/>
            </a:p>
          </p:txBody>
        </p:sp>
      </p:grpSp>
    </p:spTree>
    <p:extLst>
      <p:ext uri="{BB962C8B-B14F-4D97-AF65-F5344CB8AC3E}">
        <p14:creationId xmlns:p14="http://schemas.microsoft.com/office/powerpoint/2010/main" val="8395395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Building Docker Image and Pushing</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Images and Pushing into Docker Hub Repository :</a:t>
            </a:r>
          </a:p>
          <a:p>
            <a:pPr lvl="1">
              <a:buFont typeface="Wingdings" panose="05000000000000000000" pitchFamily="2" charset="2"/>
              <a:buChar char="§"/>
            </a:pPr>
            <a:r>
              <a:rPr lang="en-US" altLang="ko-KR" sz="1400" dirty="0"/>
              <a:t>Before you run the examples in this part, you need to build docker image and push it into your Docker hub repository. </a:t>
            </a:r>
            <a:r>
              <a:rPr lang="en-US" altLang="ko-KR" sz="1400" b="1" dirty="0"/>
              <a:t>Run the following commands in “v1” directory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8B4A7E9F-633B-BD79-0EB5-82B116209DB7}"/>
              </a:ext>
            </a:extLst>
          </p:cNvPr>
          <p:cNvGrpSpPr/>
          <p:nvPr/>
        </p:nvGrpSpPr>
        <p:grpSpPr>
          <a:xfrm>
            <a:off x="1311247" y="1609898"/>
            <a:ext cx="9569506" cy="4746452"/>
            <a:chOff x="1311247" y="1609898"/>
            <a:chExt cx="9569506" cy="4746452"/>
          </a:xfrm>
        </p:grpSpPr>
        <p:grpSp>
          <p:nvGrpSpPr>
            <p:cNvPr id="12" name="그룹 11">
              <a:extLst>
                <a:ext uri="{FF2B5EF4-FFF2-40B4-BE49-F238E27FC236}">
                  <a16:creationId xmlns:a16="http://schemas.microsoft.com/office/drawing/2014/main" id="{7268F93F-93DE-B139-07D1-A58156B7E9A2}"/>
                </a:ext>
              </a:extLst>
            </p:cNvPr>
            <p:cNvGrpSpPr/>
            <p:nvPr/>
          </p:nvGrpSpPr>
          <p:grpSpPr>
            <a:xfrm>
              <a:off x="1311247" y="1609898"/>
              <a:ext cx="9569506" cy="4746452"/>
              <a:chOff x="1311247" y="1563214"/>
              <a:chExt cx="9569506" cy="4746452"/>
            </a:xfrm>
          </p:grpSpPr>
          <p:pic>
            <p:nvPicPr>
              <p:cNvPr id="8" name="그림 7">
                <a:extLst>
                  <a:ext uri="{FF2B5EF4-FFF2-40B4-BE49-F238E27FC236}">
                    <a16:creationId xmlns:a16="http://schemas.microsoft.com/office/drawing/2014/main" id="{125508B9-AFE2-7F87-C68F-B45B58A59667}"/>
                  </a:ext>
                </a:extLst>
              </p:cNvPr>
              <p:cNvPicPr>
                <a:picLocks noChangeAspect="1"/>
              </p:cNvPicPr>
              <p:nvPr/>
            </p:nvPicPr>
            <p:blipFill>
              <a:blip r:embed="rId2"/>
              <a:stretch>
                <a:fillRect/>
              </a:stretch>
            </p:blipFill>
            <p:spPr>
              <a:xfrm>
                <a:off x="1311247" y="2306423"/>
                <a:ext cx="9569506" cy="4003243"/>
              </a:xfrm>
              <a:prstGeom prst="rect">
                <a:avLst/>
              </a:prstGeom>
            </p:spPr>
          </p:pic>
          <p:sp>
            <p:nvSpPr>
              <p:cNvPr id="10" name="TextBox 9">
                <a:extLst>
                  <a:ext uri="{FF2B5EF4-FFF2-40B4-BE49-F238E27FC236}">
                    <a16:creationId xmlns:a16="http://schemas.microsoft.com/office/drawing/2014/main" id="{FBFDADCC-9D15-282E-8FD4-83B7D432912B}"/>
                  </a:ext>
                </a:extLst>
              </p:cNvPr>
              <p:cNvSpPr txBox="1"/>
              <p:nvPr/>
            </p:nvSpPr>
            <p:spPr>
              <a:xfrm>
                <a:off x="3047326" y="1563214"/>
                <a:ext cx="6097348" cy="400110"/>
              </a:xfrm>
              <a:prstGeom prst="rect">
                <a:avLst/>
              </a:prstGeom>
              <a:noFill/>
              <a:ln>
                <a:solidFill>
                  <a:schemeClr val="bg1">
                    <a:lumMod val="50000"/>
                  </a:schemeClr>
                </a:solidFill>
              </a:ln>
            </p:spPr>
            <p:txBody>
              <a:bodyPr wrap="square">
                <a:spAutoFit/>
              </a:bodyPr>
              <a:lstStyle/>
              <a:p>
                <a:r>
                  <a:rPr lang="de-DE" altLang="ko-KR" sz="1000" b="1" dirty="0"/>
                  <a:t>$ docker build -t </a:t>
                </a:r>
                <a:r>
                  <a:rPr lang="de-DE" altLang="ko-KR" sz="1000" b="1" dirty="0">
                    <a:solidFill>
                      <a:srgbClr val="FF0000"/>
                    </a:solidFill>
                  </a:rPr>
                  <a:t>knix008/kubia:v1</a:t>
                </a:r>
                <a:r>
                  <a:rPr lang="de-DE" altLang="ko-KR" sz="1000" b="1" dirty="0"/>
                  <a:t> .</a:t>
                </a:r>
              </a:p>
              <a:p>
                <a:r>
                  <a:rPr lang="de-DE" altLang="ko-KR" sz="1000" b="1" dirty="0"/>
                  <a:t>$ </a:t>
                </a:r>
                <a:r>
                  <a:rPr lang="sv-SE" altLang="ko-KR" sz="1000" b="1" dirty="0"/>
                  <a:t>docker push </a:t>
                </a:r>
                <a:r>
                  <a:rPr lang="sv-SE" altLang="ko-KR" sz="1000" b="1" dirty="0">
                    <a:solidFill>
                      <a:srgbClr val="FF0000"/>
                    </a:solidFill>
                  </a:rPr>
                  <a:t>knix008/kubia:v1</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FCEC2D7A-21A4-5D47-A023-E5D95C8ADA94}"/>
                  </a:ext>
                </a:extLst>
              </p:cNvPr>
              <p:cNvSpPr/>
              <p:nvPr/>
            </p:nvSpPr>
            <p:spPr>
              <a:xfrm>
                <a:off x="5889653" y="1983237"/>
                <a:ext cx="412694" cy="31368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BAB5F3CC-1470-0610-9294-252A97D4591A}"/>
                </a:ext>
              </a:extLst>
            </p:cNvPr>
            <p:cNvSpPr/>
            <p:nvPr/>
          </p:nvSpPr>
          <p:spPr>
            <a:xfrm>
              <a:off x="5567320" y="2783660"/>
              <a:ext cx="2249586"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BDBAE41-AFCB-49BC-0CC0-2FA5EA234371}"/>
                </a:ext>
              </a:extLst>
            </p:cNvPr>
            <p:cNvSpPr/>
            <p:nvPr/>
          </p:nvSpPr>
          <p:spPr>
            <a:xfrm>
              <a:off x="5567320" y="4412884"/>
              <a:ext cx="1893537"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298954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Performing a Rolling Update with a </a:t>
            </a:r>
            <a:r>
              <a:rPr lang="en-US" altLang="ko-KR" sz="2800" b="1" dirty="0" err="1"/>
              <a:t>ReplicationController</a:t>
            </a:r>
            <a:r>
              <a:rPr lang="en-US" altLang="ko-KR" sz="2800" b="1" dirty="0"/>
              <a:t>(3/7)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Initial Version of the App :</a:t>
            </a:r>
          </a:p>
          <a:p>
            <a:pPr lvl="1">
              <a:buFont typeface="Wingdings" panose="05000000000000000000" pitchFamily="2" charset="2"/>
              <a:buChar char="§"/>
            </a:pPr>
            <a:r>
              <a:rPr lang="en-US" altLang="ko-KR" sz="1400" b="1" dirty="0"/>
              <a:t>The YAML defines a </a:t>
            </a:r>
            <a:r>
              <a:rPr lang="en-US" altLang="ko-KR" sz="1400" b="1" dirty="0" err="1"/>
              <a:t>ReplicationController</a:t>
            </a:r>
            <a:r>
              <a:rPr lang="en-US" altLang="ko-KR" sz="1400" b="1" dirty="0"/>
              <a:t> called “kubia-v1” and a Service called “</a:t>
            </a:r>
            <a:r>
              <a:rPr lang="en-US" altLang="ko-KR" sz="1400" b="1" dirty="0" err="1"/>
              <a:t>kubia</a:t>
            </a:r>
            <a:r>
              <a:rPr lang="en-US" altLang="ko-KR" sz="1400" b="1" dirty="0"/>
              <a:t>”</a:t>
            </a:r>
            <a:r>
              <a:rPr lang="en-US" altLang="ko-KR" sz="1400" dirty="0"/>
              <a:t>. Go ahead and post the YAML to Kubernetes. After a while, your </a:t>
            </a:r>
            <a:r>
              <a:rPr lang="en-US" altLang="ko-KR" sz="1400" b="1" dirty="0"/>
              <a:t>three “v1” pods </a:t>
            </a:r>
            <a:r>
              <a:rPr lang="en-US" altLang="ko-KR" sz="1400" dirty="0"/>
              <a:t>and </a:t>
            </a:r>
            <a:r>
              <a:rPr lang="en-US" altLang="ko-KR" sz="1400" b="1" dirty="0"/>
              <a:t>the load balancer </a:t>
            </a:r>
            <a:r>
              <a:rPr lang="en-US" altLang="ko-KR" sz="1400" dirty="0"/>
              <a:t>should all be running, so you can look up </a:t>
            </a:r>
            <a:r>
              <a:rPr lang="en-US" altLang="ko-KR" sz="1400" b="1" dirty="0"/>
              <a:t>the Service’s external IP and start hitting the service with “curl”</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Here you used “</a:t>
            </a:r>
            <a:r>
              <a:rPr lang="en-US" altLang="ko-KR" sz="1400" b="1" dirty="0" err="1"/>
              <a:t>LoadBalancer</a:t>
            </a:r>
            <a:r>
              <a:rPr lang="en-US" altLang="ko-KR" sz="1400" b="1" dirty="0"/>
              <a:t>” type</a:t>
            </a:r>
            <a:r>
              <a:rPr lang="en-US" altLang="ko-KR" sz="1400" dirty="0"/>
              <a:t>. If you are using </a:t>
            </a:r>
            <a:r>
              <a:rPr lang="en-US" altLang="ko-KR" sz="1400" b="1" dirty="0" err="1"/>
              <a:t>Minikube</a:t>
            </a:r>
            <a:r>
              <a:rPr lang="en-US" altLang="ko-KR" sz="1400" dirty="0"/>
              <a:t>, </a:t>
            </a:r>
            <a:r>
              <a:rPr lang="en-US" altLang="ko-KR" sz="1400" b="1" dirty="0"/>
              <a:t>you need to use “Ingress”</a:t>
            </a:r>
            <a:r>
              <a:rPr lang="ko-KR" altLang="en-US" sz="1400" b="1" dirty="0"/>
              <a:t> </a:t>
            </a:r>
            <a:r>
              <a:rPr lang="en-US" altLang="ko-KR" sz="1400" b="1" dirty="0"/>
              <a:t>for</a:t>
            </a:r>
            <a:r>
              <a:rPr lang="ko-KR" altLang="en-US" sz="1400" b="1" dirty="0"/>
              <a:t> </a:t>
            </a:r>
            <a:r>
              <a:rPr lang="en-US" altLang="ko-KR" sz="1400" b="1" dirty="0"/>
              <a:t>exposing your service to external clients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B0784BA7-813E-0463-AE0A-BDDAAD3AA52F}"/>
              </a:ext>
            </a:extLst>
          </p:cNvPr>
          <p:cNvGrpSpPr/>
          <p:nvPr/>
        </p:nvGrpSpPr>
        <p:grpSpPr>
          <a:xfrm>
            <a:off x="1094614" y="2000800"/>
            <a:ext cx="10002767" cy="1783827"/>
            <a:chOff x="1094616" y="1903696"/>
            <a:chExt cx="10002767" cy="1783827"/>
          </a:xfrm>
        </p:grpSpPr>
        <p:pic>
          <p:nvPicPr>
            <p:cNvPr id="8" name="그림 7">
              <a:extLst>
                <a:ext uri="{FF2B5EF4-FFF2-40B4-BE49-F238E27FC236}">
                  <a16:creationId xmlns:a16="http://schemas.microsoft.com/office/drawing/2014/main" id="{42108DDF-3ADE-6B30-2FDB-A0FE0DF806F7}"/>
                </a:ext>
              </a:extLst>
            </p:cNvPr>
            <p:cNvPicPr>
              <a:picLocks noChangeAspect="1"/>
            </p:cNvPicPr>
            <p:nvPr/>
          </p:nvPicPr>
          <p:blipFill>
            <a:blip r:embed="rId2"/>
            <a:stretch>
              <a:fillRect/>
            </a:stretch>
          </p:blipFill>
          <p:spPr>
            <a:xfrm>
              <a:off x="1094616" y="1903696"/>
              <a:ext cx="10002767" cy="1783827"/>
            </a:xfrm>
            <a:prstGeom prst="rect">
              <a:avLst/>
            </a:prstGeom>
          </p:spPr>
        </p:pic>
        <p:sp>
          <p:nvSpPr>
            <p:cNvPr id="9" name="직사각형 8">
              <a:extLst>
                <a:ext uri="{FF2B5EF4-FFF2-40B4-BE49-F238E27FC236}">
                  <a16:creationId xmlns:a16="http://schemas.microsoft.com/office/drawing/2014/main" id="{0AA03025-D989-0867-0194-C4F103158652}"/>
                </a:ext>
              </a:extLst>
            </p:cNvPr>
            <p:cNvSpPr/>
            <p:nvPr/>
          </p:nvSpPr>
          <p:spPr>
            <a:xfrm>
              <a:off x="5356927" y="2370966"/>
              <a:ext cx="3107342"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0043998-A018-BD8C-D746-FA80C70EE742}"/>
                </a:ext>
              </a:extLst>
            </p:cNvPr>
            <p:cNvSpPr/>
            <p:nvPr/>
          </p:nvSpPr>
          <p:spPr>
            <a:xfrm>
              <a:off x="4118846" y="3244906"/>
              <a:ext cx="712099" cy="1294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3" name="그룹 12">
            <a:extLst>
              <a:ext uri="{FF2B5EF4-FFF2-40B4-BE49-F238E27FC236}">
                <a16:creationId xmlns:a16="http://schemas.microsoft.com/office/drawing/2014/main" id="{A9B62A11-4EF8-ADF8-F419-F482B30BAEA9}"/>
              </a:ext>
            </a:extLst>
          </p:cNvPr>
          <p:cNvGrpSpPr/>
          <p:nvPr/>
        </p:nvGrpSpPr>
        <p:grpSpPr>
          <a:xfrm>
            <a:off x="1094614" y="4666882"/>
            <a:ext cx="10002767" cy="1742148"/>
            <a:chOff x="1094614" y="4666882"/>
            <a:chExt cx="10002767" cy="1742148"/>
          </a:xfrm>
        </p:grpSpPr>
        <p:pic>
          <p:nvPicPr>
            <p:cNvPr id="4" name="그림 3">
              <a:extLst>
                <a:ext uri="{FF2B5EF4-FFF2-40B4-BE49-F238E27FC236}">
                  <a16:creationId xmlns:a16="http://schemas.microsoft.com/office/drawing/2014/main" id="{E2DE51F8-34D3-4EC7-6DA6-720C3F671B4A}"/>
                </a:ext>
              </a:extLst>
            </p:cNvPr>
            <p:cNvPicPr>
              <a:picLocks noChangeAspect="1"/>
            </p:cNvPicPr>
            <p:nvPr/>
          </p:nvPicPr>
          <p:blipFill>
            <a:blip r:embed="rId3"/>
            <a:stretch>
              <a:fillRect/>
            </a:stretch>
          </p:blipFill>
          <p:spPr>
            <a:xfrm>
              <a:off x="1094614" y="4666882"/>
              <a:ext cx="10002767" cy="1742148"/>
            </a:xfrm>
            <a:prstGeom prst="rect">
              <a:avLst/>
            </a:prstGeom>
          </p:spPr>
        </p:pic>
        <p:sp>
          <p:nvSpPr>
            <p:cNvPr id="12" name="직사각형 11">
              <a:extLst>
                <a:ext uri="{FF2B5EF4-FFF2-40B4-BE49-F238E27FC236}">
                  <a16:creationId xmlns:a16="http://schemas.microsoft.com/office/drawing/2014/main" id="{05ECD467-2310-0847-7311-97817CF7F052}"/>
                </a:ext>
              </a:extLst>
            </p:cNvPr>
            <p:cNvSpPr/>
            <p:nvPr/>
          </p:nvSpPr>
          <p:spPr>
            <a:xfrm>
              <a:off x="5348832" y="5529863"/>
              <a:ext cx="3406750" cy="2154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102144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Ingress Controller with </a:t>
            </a:r>
            <a:r>
              <a:rPr lang="en-US" altLang="ko-KR" sz="2800" b="1" dirty="0" err="1"/>
              <a:t>ReplicationController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Ingress for Exposing Service Externally :</a:t>
            </a:r>
          </a:p>
          <a:p>
            <a:pPr lvl="1">
              <a:buFont typeface="Wingdings" panose="05000000000000000000" pitchFamily="2" charset="2"/>
              <a:buChar char="§"/>
            </a:pPr>
            <a:r>
              <a:rPr lang="en-US" altLang="ko-KR" sz="1400" b="1" dirty="0"/>
              <a:t>When you are using </a:t>
            </a:r>
            <a:r>
              <a:rPr lang="en-US" altLang="ko-KR" sz="1400" b="1" dirty="0" err="1"/>
              <a:t>LoadBalancer</a:t>
            </a:r>
            <a:r>
              <a:rPr lang="en-US" altLang="ko-KR" sz="1400" b="1" dirty="0"/>
              <a:t> type for service in </a:t>
            </a:r>
            <a:r>
              <a:rPr lang="en-US" altLang="ko-KR" sz="1400" b="1" dirty="0" err="1"/>
              <a:t>Minikube</a:t>
            </a:r>
            <a:r>
              <a:rPr lang="en-US" altLang="ko-KR" sz="1400" b="1" dirty="0"/>
              <a:t> cluster</a:t>
            </a:r>
            <a:r>
              <a:rPr lang="en-US" altLang="ko-KR" sz="1400" dirty="0"/>
              <a:t>, you need to run the “</a:t>
            </a:r>
            <a:r>
              <a:rPr lang="en-US" altLang="ko-KR" sz="1400" b="1" dirty="0"/>
              <a:t>Ingress</a:t>
            </a:r>
            <a:r>
              <a:rPr lang="en-US" altLang="ko-KR" sz="1400" dirty="0"/>
              <a:t>” controller for exposing your service to the outside world like the following. You also need to </a:t>
            </a:r>
            <a:r>
              <a:rPr lang="en-US" altLang="ko-KR" sz="1400" b="1" dirty="0"/>
              <a:t>add entry to the “/</a:t>
            </a:r>
            <a:r>
              <a:rPr lang="en-US" altLang="ko-KR" sz="1400" b="1" dirty="0" err="1"/>
              <a:t>etc</a:t>
            </a:r>
            <a:r>
              <a:rPr lang="en-US" altLang="ko-KR" sz="1400" b="1" dirty="0"/>
              <a:t>/hosts”</a:t>
            </a:r>
            <a:r>
              <a:rPr lang="en-US" altLang="ko-KR" sz="1400" dirty="0"/>
              <a:t> file.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7" name="직사각형 16">
            <a:extLst>
              <a:ext uri="{FF2B5EF4-FFF2-40B4-BE49-F238E27FC236}">
                <a16:creationId xmlns:a16="http://schemas.microsoft.com/office/drawing/2014/main" id="{43D59A81-F952-7D30-634D-5A24F0C21095}"/>
              </a:ext>
            </a:extLst>
          </p:cNvPr>
          <p:cNvSpPr/>
          <p:nvPr/>
        </p:nvSpPr>
        <p:spPr>
          <a:xfrm>
            <a:off x="5356927" y="5195087"/>
            <a:ext cx="2458537"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9B9225C2-735C-D929-0D00-2298F2A13BB4}"/>
              </a:ext>
            </a:extLst>
          </p:cNvPr>
          <p:cNvSpPr/>
          <p:nvPr/>
        </p:nvSpPr>
        <p:spPr>
          <a:xfrm>
            <a:off x="5356927" y="5484532"/>
            <a:ext cx="1586039"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그룹 19">
            <a:extLst>
              <a:ext uri="{FF2B5EF4-FFF2-40B4-BE49-F238E27FC236}">
                <a16:creationId xmlns:a16="http://schemas.microsoft.com/office/drawing/2014/main" id="{F24270AB-8382-F2FA-2A88-C5177ACF73E3}"/>
              </a:ext>
            </a:extLst>
          </p:cNvPr>
          <p:cNvGrpSpPr/>
          <p:nvPr/>
        </p:nvGrpSpPr>
        <p:grpSpPr>
          <a:xfrm>
            <a:off x="1234372" y="1653061"/>
            <a:ext cx="9723255" cy="4656605"/>
            <a:chOff x="1234372" y="1653061"/>
            <a:chExt cx="9723255" cy="4656605"/>
          </a:xfrm>
        </p:grpSpPr>
        <p:grpSp>
          <p:nvGrpSpPr>
            <p:cNvPr id="16" name="그룹 15">
              <a:extLst>
                <a:ext uri="{FF2B5EF4-FFF2-40B4-BE49-F238E27FC236}">
                  <a16:creationId xmlns:a16="http://schemas.microsoft.com/office/drawing/2014/main" id="{81F681FB-8926-064D-2162-C79B1388D09A}"/>
                </a:ext>
              </a:extLst>
            </p:cNvPr>
            <p:cNvGrpSpPr/>
            <p:nvPr/>
          </p:nvGrpSpPr>
          <p:grpSpPr>
            <a:xfrm>
              <a:off x="1234372" y="1653061"/>
              <a:ext cx="9723255" cy="4656605"/>
              <a:chOff x="1234372" y="1653061"/>
              <a:chExt cx="9723255" cy="4656605"/>
            </a:xfrm>
          </p:grpSpPr>
          <p:sp>
            <p:nvSpPr>
              <p:cNvPr id="8" name="TextBox 7">
                <a:extLst>
                  <a:ext uri="{FF2B5EF4-FFF2-40B4-BE49-F238E27FC236}">
                    <a16:creationId xmlns:a16="http://schemas.microsoft.com/office/drawing/2014/main" id="{02D288BB-4AF7-55BF-518A-AF00F23BC124}"/>
                  </a:ext>
                </a:extLst>
              </p:cNvPr>
              <p:cNvSpPr txBox="1"/>
              <p:nvPr/>
            </p:nvSpPr>
            <p:spPr>
              <a:xfrm>
                <a:off x="3047326" y="425429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kubia-ingress.yaml</a:t>
                </a:r>
                <a:endParaRPr lang="ko-KR" altLang="en-US" sz="1000" b="1" dirty="0">
                  <a:solidFill>
                    <a:srgbClr val="FF0000"/>
                  </a:solidFill>
                </a:endParaRPr>
              </a:p>
            </p:txBody>
          </p:sp>
          <p:grpSp>
            <p:nvGrpSpPr>
              <p:cNvPr id="12" name="그룹 11">
                <a:extLst>
                  <a:ext uri="{FF2B5EF4-FFF2-40B4-BE49-F238E27FC236}">
                    <a16:creationId xmlns:a16="http://schemas.microsoft.com/office/drawing/2014/main" id="{13E5CC9F-64E0-6B59-3192-79C7E6B23D49}"/>
                  </a:ext>
                </a:extLst>
              </p:cNvPr>
              <p:cNvGrpSpPr/>
              <p:nvPr/>
            </p:nvGrpSpPr>
            <p:grpSpPr>
              <a:xfrm>
                <a:off x="3047326" y="1653061"/>
                <a:ext cx="6097348" cy="2554545"/>
                <a:chOff x="3047326" y="1653061"/>
                <a:chExt cx="6097348" cy="2554545"/>
              </a:xfrm>
            </p:grpSpPr>
            <p:sp>
              <p:nvSpPr>
                <p:cNvPr id="10" name="TextBox 9">
                  <a:extLst>
                    <a:ext uri="{FF2B5EF4-FFF2-40B4-BE49-F238E27FC236}">
                      <a16:creationId xmlns:a16="http://schemas.microsoft.com/office/drawing/2014/main" id="{662851C6-E726-2D57-5690-08659085DBEC}"/>
                    </a:ext>
                  </a:extLst>
                </p:cNvPr>
                <p:cNvSpPr txBox="1"/>
                <p:nvPr/>
              </p:nvSpPr>
              <p:spPr>
                <a:xfrm>
                  <a:off x="3047326" y="1653061"/>
                  <a:ext cx="6097348" cy="2554545"/>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Ingress</a:t>
                  </a:r>
                </a:p>
                <a:p>
                  <a:r>
                    <a:rPr lang="en-US" altLang="ko-KR" sz="1000" b="1" dirty="0"/>
                    <a:t>metadata:</a:t>
                  </a:r>
                </a:p>
                <a:p>
                  <a:r>
                    <a:rPr lang="en-US" altLang="ko-KR" sz="1000" b="1" dirty="0"/>
                    <a:t>  name: </a:t>
                  </a:r>
                  <a:r>
                    <a:rPr lang="en-US" altLang="ko-KR" sz="1000" b="1" dirty="0" err="1">
                      <a:solidFill>
                        <a:srgbClr val="FF0000"/>
                      </a:solidFill>
                    </a:rPr>
                    <a:t>kubia</a:t>
                  </a:r>
                  <a:endParaRPr lang="en-US" altLang="ko-KR" sz="1000" b="1" dirty="0">
                    <a:solidFill>
                      <a:srgbClr val="FF0000"/>
                    </a:solidFill>
                  </a:endParaRPr>
                </a:p>
                <a:p>
                  <a:r>
                    <a:rPr lang="en-US" altLang="ko-KR" sz="1000" b="1" dirty="0"/>
                    <a:t>spec:</a:t>
                  </a:r>
                </a:p>
                <a:p>
                  <a:r>
                    <a:rPr lang="en-US" altLang="ko-KR" sz="1000" b="1" dirty="0"/>
                    <a:t>  rules:</a:t>
                  </a:r>
                </a:p>
                <a:p>
                  <a:r>
                    <a:rPr lang="en-US" altLang="ko-KR" sz="1000" b="1" dirty="0"/>
                    <a:t>  - host: </a:t>
                  </a:r>
                  <a:r>
                    <a:rPr lang="en-US" altLang="ko-KR" sz="1000" b="1" dirty="0">
                      <a:solidFill>
                        <a:srgbClr val="FF0000"/>
                      </a:solidFill>
                    </a:rPr>
                    <a:t>kubia.example.com</a:t>
                  </a:r>
                </a:p>
                <a:p>
                  <a:r>
                    <a:rPr lang="en-US" altLang="ko-KR" sz="1000" b="1" dirty="0"/>
                    <a:t>    http:</a:t>
                  </a:r>
                </a:p>
                <a:p>
                  <a:r>
                    <a:rPr lang="en-US" altLang="ko-KR" sz="1000" b="1" dirty="0"/>
                    <a:t>      paths:</a:t>
                  </a:r>
                </a:p>
                <a:p>
                  <a:r>
                    <a:rPr lang="en-US" altLang="ko-KR" sz="1000" b="1" dirty="0"/>
                    <a:t>      - path: /</a:t>
                  </a:r>
                </a:p>
                <a:p>
                  <a:r>
                    <a:rPr lang="en-US" altLang="ko-KR" sz="1000" b="1" dirty="0"/>
                    <a:t>        </a:t>
                  </a:r>
                  <a:r>
                    <a:rPr lang="en-US" altLang="ko-KR" sz="1000" b="1" dirty="0" err="1"/>
                    <a:t>pathType</a:t>
                  </a:r>
                  <a:r>
                    <a:rPr lang="en-US" altLang="ko-KR" sz="1000" b="1" dirty="0"/>
                    <a:t>: Prefix</a:t>
                  </a:r>
                </a:p>
                <a:p>
                  <a:r>
                    <a:rPr lang="en-US" altLang="ko-KR" sz="1000" b="1" dirty="0"/>
                    <a:t>        backend:</a:t>
                  </a:r>
                </a:p>
                <a:p>
                  <a:r>
                    <a:rPr lang="en-US" altLang="ko-KR" sz="1000" b="1" dirty="0"/>
                    <a:t>          service:</a:t>
                  </a:r>
                </a:p>
                <a:p>
                  <a:r>
                    <a:rPr lang="en-US" altLang="ko-KR" sz="1000" b="1" dirty="0"/>
                    <a:t>            name: </a:t>
                  </a:r>
                  <a:r>
                    <a:rPr lang="en-US" altLang="ko-KR" sz="1000" b="1" dirty="0" err="1">
                      <a:solidFill>
                        <a:srgbClr val="FF0000"/>
                      </a:solidFill>
                    </a:rPr>
                    <a:t>kubia</a:t>
                  </a:r>
                  <a:endParaRPr lang="en-US" altLang="ko-KR" sz="1000" b="1" dirty="0">
                    <a:solidFill>
                      <a:srgbClr val="FF0000"/>
                    </a:solidFill>
                  </a:endParaRPr>
                </a:p>
                <a:p>
                  <a:r>
                    <a:rPr lang="en-US" altLang="ko-KR" sz="1000" b="1" dirty="0"/>
                    <a:t>            port:</a:t>
                  </a:r>
                </a:p>
                <a:p>
                  <a:r>
                    <a:rPr lang="en-US" altLang="ko-KR" sz="1000" b="1" dirty="0"/>
                    <a:t>              number: </a:t>
                  </a:r>
                  <a:r>
                    <a:rPr lang="en-US" altLang="ko-KR" sz="1000" b="1" dirty="0">
                      <a:solidFill>
                        <a:srgbClr val="FF0000"/>
                      </a:solidFill>
                    </a:rPr>
                    <a:t>80</a:t>
                  </a:r>
                  <a:endParaRPr lang="ko-KR" altLang="en-US" sz="1000" b="1" dirty="0">
                    <a:solidFill>
                      <a:srgbClr val="FF0000"/>
                    </a:solidFill>
                  </a:endParaRPr>
                </a:p>
              </p:txBody>
            </p:sp>
            <p:sp>
              <p:nvSpPr>
                <p:cNvPr id="11" name="TextBox 10">
                  <a:extLst>
                    <a:ext uri="{FF2B5EF4-FFF2-40B4-BE49-F238E27FC236}">
                      <a16:creationId xmlns:a16="http://schemas.microsoft.com/office/drawing/2014/main" id="{DC968F11-DF8E-AB11-14DA-9E0CD8A783C6}"/>
                    </a:ext>
                  </a:extLst>
                </p:cNvPr>
                <p:cNvSpPr txBox="1"/>
                <p:nvPr/>
              </p:nvSpPr>
              <p:spPr>
                <a:xfrm>
                  <a:off x="7815464" y="1653061"/>
                  <a:ext cx="1329210" cy="246221"/>
                </a:xfrm>
                <a:prstGeom prst="rect">
                  <a:avLst/>
                </a:prstGeom>
                <a:noFill/>
              </p:spPr>
              <p:txBody>
                <a:bodyPr wrap="none" rtlCol="0">
                  <a:spAutoFit/>
                </a:bodyPr>
                <a:lstStyle/>
                <a:p>
                  <a:pPr algn="l"/>
                  <a:r>
                    <a:rPr lang="en-US" altLang="ko-KR" sz="1000" b="1" dirty="0" err="1"/>
                    <a:t>kubia-ingress.yaml</a:t>
                  </a:r>
                  <a:endParaRPr lang="ko-KR" altLang="en-US" sz="1000" b="1" dirty="0"/>
                </a:p>
              </p:txBody>
            </p:sp>
          </p:grpSp>
          <p:pic>
            <p:nvPicPr>
              <p:cNvPr id="14" name="그림 13">
                <a:extLst>
                  <a:ext uri="{FF2B5EF4-FFF2-40B4-BE49-F238E27FC236}">
                    <a16:creationId xmlns:a16="http://schemas.microsoft.com/office/drawing/2014/main" id="{7731B2A7-9E76-EB0D-0756-6E38EE3AE478}"/>
                  </a:ext>
                </a:extLst>
              </p:cNvPr>
              <p:cNvPicPr>
                <a:picLocks noChangeAspect="1"/>
              </p:cNvPicPr>
              <p:nvPr/>
            </p:nvPicPr>
            <p:blipFill>
              <a:blip r:embed="rId2"/>
              <a:stretch>
                <a:fillRect/>
              </a:stretch>
            </p:blipFill>
            <p:spPr>
              <a:xfrm>
                <a:off x="1234372" y="4770151"/>
                <a:ext cx="9723255" cy="1539515"/>
              </a:xfrm>
              <a:prstGeom prst="rect">
                <a:avLst/>
              </a:prstGeom>
            </p:spPr>
          </p:pic>
          <p:sp>
            <p:nvSpPr>
              <p:cNvPr id="15" name="화살표: 아래쪽 14">
                <a:extLst>
                  <a:ext uri="{FF2B5EF4-FFF2-40B4-BE49-F238E27FC236}">
                    <a16:creationId xmlns:a16="http://schemas.microsoft.com/office/drawing/2014/main" id="{F5B3CD30-B698-79B9-E630-FC7AC122A7CD}"/>
                  </a:ext>
                </a:extLst>
              </p:cNvPr>
              <p:cNvSpPr/>
              <p:nvPr/>
            </p:nvSpPr>
            <p:spPr>
              <a:xfrm>
                <a:off x="5889652" y="4512221"/>
                <a:ext cx="41269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9" name="직사각형 18">
              <a:extLst>
                <a:ext uri="{FF2B5EF4-FFF2-40B4-BE49-F238E27FC236}">
                  <a16:creationId xmlns:a16="http://schemas.microsoft.com/office/drawing/2014/main" id="{EB5F04F4-8C7E-9597-E4D3-8E399DCB7EFF}"/>
                </a:ext>
              </a:extLst>
            </p:cNvPr>
            <p:cNvSpPr/>
            <p:nvPr/>
          </p:nvSpPr>
          <p:spPr>
            <a:xfrm>
              <a:off x="1359462" y="5646373"/>
              <a:ext cx="2646095" cy="1475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943271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Performing a Rolling Update with a </a:t>
            </a:r>
            <a:r>
              <a:rPr lang="en-US" altLang="ko-KR" sz="2800" b="1" dirty="0" err="1"/>
              <a:t>ReplicationController</a:t>
            </a:r>
            <a:r>
              <a:rPr lang="en-US" altLang="ko-KR" sz="2800" b="1" dirty="0"/>
              <a:t>(4/7)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Performing a Rolling Update with </a:t>
            </a:r>
            <a:r>
              <a:rPr lang="en-US" altLang="ko-KR" sz="1800" b="1" dirty="0" err="1"/>
              <a:t>kubectl</a:t>
            </a:r>
            <a:r>
              <a:rPr lang="en-US" altLang="ko-KR" sz="1800" b="1" dirty="0"/>
              <a:t> :</a:t>
            </a:r>
          </a:p>
          <a:p>
            <a:pPr lvl="1">
              <a:buFont typeface="Wingdings" panose="05000000000000000000" pitchFamily="2" charset="2"/>
              <a:buChar char="§"/>
            </a:pPr>
            <a:r>
              <a:rPr lang="en-US" altLang="ko-KR" sz="1400" b="1" dirty="0"/>
              <a:t>Next you’ll create version 2 of the app</a:t>
            </a:r>
            <a:r>
              <a:rPr lang="en-US" altLang="ko-KR" sz="1400" dirty="0"/>
              <a:t>. To keep things simple, all you’ll do is </a:t>
            </a:r>
            <a:r>
              <a:rPr lang="en-US" altLang="ko-KR" sz="1400" b="1" dirty="0"/>
              <a:t>change the response to say, “This is v2”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new version is available in the image “</a:t>
            </a:r>
            <a:r>
              <a:rPr lang="en-US" altLang="ko-KR" sz="1400" b="1" dirty="0"/>
              <a:t>knix008/kubia:v2</a:t>
            </a:r>
            <a:r>
              <a:rPr lang="en-US" altLang="ko-KR" sz="1400" dirty="0"/>
              <a:t>” on Docker Hub.</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158D5B8-FD25-3AE1-833A-964DC6F701CC}"/>
              </a:ext>
            </a:extLst>
          </p:cNvPr>
          <p:cNvSpPr txBox="1"/>
          <p:nvPr/>
        </p:nvSpPr>
        <p:spPr>
          <a:xfrm>
            <a:off x="3047326" y="1562279"/>
            <a:ext cx="6097348" cy="553998"/>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err="1"/>
              <a:t>response.end</a:t>
            </a:r>
            <a:r>
              <a:rPr lang="en-US" altLang="ko-KR" sz="1000" b="1" dirty="0"/>
              <a:t>("This is </a:t>
            </a:r>
            <a:r>
              <a:rPr lang="en-US" altLang="ko-KR" sz="1000" b="1" dirty="0">
                <a:solidFill>
                  <a:srgbClr val="FF0000"/>
                </a:solidFill>
              </a:rPr>
              <a:t>v2</a:t>
            </a:r>
            <a:r>
              <a:rPr lang="en-US" altLang="ko-KR" sz="1000" b="1" dirty="0"/>
              <a:t> running in pod " + </a:t>
            </a:r>
            <a:r>
              <a:rPr lang="en-US" altLang="ko-KR" sz="1000" b="1" dirty="0" err="1"/>
              <a:t>os.hostname</a:t>
            </a:r>
            <a:r>
              <a:rPr lang="en-US" altLang="ko-KR" sz="1000" b="1" dirty="0"/>
              <a:t>() + "\n");</a:t>
            </a:r>
          </a:p>
          <a:p>
            <a:r>
              <a:rPr lang="en-US" altLang="ko-KR" sz="1000" b="1" dirty="0"/>
              <a:t>…</a:t>
            </a:r>
          </a:p>
        </p:txBody>
      </p:sp>
      <p:grpSp>
        <p:nvGrpSpPr>
          <p:cNvPr id="15" name="그룹 14">
            <a:extLst>
              <a:ext uri="{FF2B5EF4-FFF2-40B4-BE49-F238E27FC236}">
                <a16:creationId xmlns:a16="http://schemas.microsoft.com/office/drawing/2014/main" id="{8B7362F7-C361-3646-EB17-293B591A2BBE}"/>
              </a:ext>
            </a:extLst>
          </p:cNvPr>
          <p:cNvGrpSpPr/>
          <p:nvPr/>
        </p:nvGrpSpPr>
        <p:grpSpPr>
          <a:xfrm>
            <a:off x="1679435" y="2691755"/>
            <a:ext cx="8833130" cy="3717275"/>
            <a:chOff x="1679435" y="2691755"/>
            <a:chExt cx="8833130" cy="3717275"/>
          </a:xfrm>
        </p:grpSpPr>
        <p:pic>
          <p:nvPicPr>
            <p:cNvPr id="12" name="그림 11">
              <a:extLst>
                <a:ext uri="{FF2B5EF4-FFF2-40B4-BE49-F238E27FC236}">
                  <a16:creationId xmlns:a16="http://schemas.microsoft.com/office/drawing/2014/main" id="{6486F50D-6B1D-1B09-F714-820FB94284FF}"/>
                </a:ext>
              </a:extLst>
            </p:cNvPr>
            <p:cNvPicPr>
              <a:picLocks noChangeAspect="1"/>
            </p:cNvPicPr>
            <p:nvPr/>
          </p:nvPicPr>
          <p:blipFill>
            <a:blip r:embed="rId2"/>
            <a:stretch>
              <a:fillRect/>
            </a:stretch>
          </p:blipFill>
          <p:spPr>
            <a:xfrm>
              <a:off x="1679435" y="2691755"/>
              <a:ext cx="8833130" cy="3717275"/>
            </a:xfrm>
            <a:prstGeom prst="rect">
              <a:avLst/>
            </a:prstGeom>
          </p:spPr>
        </p:pic>
        <p:sp>
          <p:nvSpPr>
            <p:cNvPr id="13" name="직사각형 12">
              <a:extLst>
                <a:ext uri="{FF2B5EF4-FFF2-40B4-BE49-F238E27FC236}">
                  <a16:creationId xmlns:a16="http://schemas.microsoft.com/office/drawing/2014/main" id="{22E4093D-C909-1106-338E-DEA1D4CC32E7}"/>
                </a:ext>
              </a:extLst>
            </p:cNvPr>
            <p:cNvSpPr/>
            <p:nvPr/>
          </p:nvSpPr>
          <p:spPr>
            <a:xfrm>
              <a:off x="5615873" y="3083065"/>
              <a:ext cx="2047285"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832DD932-7BAE-B0FC-DFC4-EDE79AD98402}"/>
                </a:ext>
              </a:extLst>
            </p:cNvPr>
            <p:cNvSpPr/>
            <p:nvPr/>
          </p:nvSpPr>
          <p:spPr>
            <a:xfrm>
              <a:off x="5615873" y="4580092"/>
              <a:ext cx="1747879" cy="1942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421551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Pushing Updates to the Same Image Tag to Docker Hub</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Image Tag in Docker Hub :</a:t>
            </a:r>
          </a:p>
          <a:p>
            <a:pPr lvl="1">
              <a:buFont typeface="Wingdings" panose="05000000000000000000" pitchFamily="2" charset="2"/>
              <a:buChar char="§"/>
            </a:pPr>
            <a:r>
              <a:rPr lang="en-US" altLang="ko-KR" sz="1400" b="1" dirty="0"/>
              <a:t>Modifying an app and pushing the changes to the same image tag isn’t a good idea</a:t>
            </a:r>
            <a:r>
              <a:rPr lang="en-US" altLang="ko-KR" sz="1400" dirty="0"/>
              <a:t>, but we all tend to do that during development. If you’re modifying the latest tag, that’s not a problem, but when you’re tagging an image with a different tag (for example, tag “v1” instead of latest), </a:t>
            </a:r>
            <a:r>
              <a:rPr lang="en-US" altLang="ko-KR" sz="1400" b="1" dirty="0"/>
              <a:t>once the image is pulled by a worker node, the image will be stored on the node and not pulled again when a new pod using the same image is run (at least that’s the default policy for pulling images)</a:t>
            </a:r>
            <a:r>
              <a:rPr lang="en-US" altLang="ko-KR" sz="1400" dirty="0"/>
              <a:t>.</a:t>
            </a:r>
          </a:p>
          <a:p>
            <a:pPr lvl="1">
              <a:buFont typeface="Wingdings" panose="05000000000000000000" pitchFamily="2" charset="2"/>
              <a:buChar char="§"/>
            </a:pPr>
            <a:r>
              <a:rPr lang="en-US" altLang="ko-KR" sz="1400" b="1" dirty="0"/>
              <a:t>That means any changes you make to the image won’t be picked up if you push them to the same tag</a:t>
            </a:r>
            <a:r>
              <a:rPr lang="en-US" altLang="ko-KR" sz="1400" dirty="0"/>
              <a:t>. If a new pod is scheduled to the same node, the </a:t>
            </a:r>
            <a:r>
              <a:rPr lang="en-US" altLang="ko-KR" sz="1400" dirty="0" err="1"/>
              <a:t>Kubelet</a:t>
            </a:r>
            <a:r>
              <a:rPr lang="en-US" altLang="ko-KR" sz="1400" dirty="0"/>
              <a:t> will run the old version of the image. </a:t>
            </a:r>
            <a:r>
              <a:rPr lang="en-US" altLang="ko-KR" sz="1400" b="1" dirty="0"/>
              <a:t>On the other hand, nodes that haven’t run the old version will pull and run the new image, so you might end up with two different versions of the pod running</a:t>
            </a:r>
            <a:r>
              <a:rPr lang="en-US" altLang="ko-KR" sz="1400" dirty="0"/>
              <a:t>. To make sure this doesn’t happen, you need to </a:t>
            </a:r>
            <a:r>
              <a:rPr lang="en-US" altLang="ko-KR" sz="1400" b="1" dirty="0"/>
              <a:t>set the container’s “</a:t>
            </a:r>
            <a:r>
              <a:rPr lang="en-US" altLang="ko-KR" sz="1400" b="1" dirty="0" err="1">
                <a:solidFill>
                  <a:srgbClr val="FF0000"/>
                </a:solidFill>
              </a:rPr>
              <a:t>imagePullPolicy</a:t>
            </a:r>
            <a:r>
              <a:rPr lang="en-US" altLang="ko-KR" sz="1400" b="1" dirty="0"/>
              <a:t>” property to “</a:t>
            </a:r>
            <a:r>
              <a:rPr lang="en-US" altLang="ko-KR" sz="1400" b="1" dirty="0">
                <a:solidFill>
                  <a:srgbClr val="FF0000"/>
                </a:solidFill>
              </a:rPr>
              <a:t>Always</a:t>
            </a:r>
            <a:r>
              <a:rPr lang="en-US" altLang="ko-KR" sz="1400" b="1" dirty="0"/>
              <a:t>”</a:t>
            </a:r>
            <a:r>
              <a:rPr lang="en-US" altLang="ko-KR" sz="1400" dirty="0"/>
              <a:t>.</a:t>
            </a:r>
          </a:p>
          <a:p>
            <a:pPr lvl="1">
              <a:buFont typeface="Wingdings" panose="05000000000000000000" pitchFamily="2" charset="2"/>
              <a:buChar char="§"/>
            </a:pPr>
            <a:r>
              <a:rPr lang="en-US" altLang="ko-KR" sz="1400" b="1" dirty="0"/>
              <a:t>You need to be aware that the default “</a:t>
            </a:r>
            <a:r>
              <a:rPr lang="en-US" altLang="ko-KR" sz="1400" b="1" dirty="0" err="1"/>
              <a:t>imagePullPolicy</a:t>
            </a:r>
            <a:r>
              <a:rPr lang="en-US" altLang="ko-KR" sz="1400" b="1" dirty="0"/>
              <a:t>” depends on the image tag</a:t>
            </a:r>
            <a:r>
              <a:rPr lang="en-US" altLang="ko-KR" sz="1400" dirty="0"/>
              <a:t>. </a:t>
            </a:r>
            <a:r>
              <a:rPr lang="en-US" altLang="ko-KR" sz="1400" b="1" dirty="0"/>
              <a:t>If a container refers to the latest tag (either explicitly or by not specifying the tag at all), “</a:t>
            </a:r>
            <a:r>
              <a:rPr lang="en-US" altLang="ko-KR" sz="1400" b="1" dirty="0" err="1"/>
              <a:t>imagePullPolicy</a:t>
            </a:r>
            <a:r>
              <a:rPr lang="en-US" altLang="ko-KR" sz="1400" b="1" dirty="0"/>
              <a:t>” defaults to “Always”, but if the container refers to any other tag, the policy defaults to “</a:t>
            </a:r>
            <a:r>
              <a:rPr lang="en-US" altLang="ko-KR" sz="1400" b="1" dirty="0" err="1">
                <a:solidFill>
                  <a:srgbClr val="FF0000"/>
                </a:solidFill>
              </a:rPr>
              <a:t>IfNotPresent</a:t>
            </a:r>
            <a:r>
              <a:rPr lang="en-US" altLang="ko-KR" sz="1400" b="1" dirty="0"/>
              <a:t>”</a:t>
            </a:r>
            <a:r>
              <a:rPr lang="en-US" altLang="ko-KR" sz="1400" dirty="0"/>
              <a:t>. </a:t>
            </a:r>
          </a:p>
          <a:p>
            <a:pPr lvl="1">
              <a:buFont typeface="Wingdings" panose="05000000000000000000" pitchFamily="2" charset="2"/>
              <a:buChar char="§"/>
            </a:pPr>
            <a:r>
              <a:rPr lang="en-US" altLang="ko-KR" sz="1400" b="1" dirty="0">
                <a:solidFill>
                  <a:srgbClr val="FF0000"/>
                </a:solidFill>
              </a:rPr>
              <a:t>When using a tag other than latest, you need to set the “</a:t>
            </a:r>
            <a:r>
              <a:rPr lang="en-US" altLang="ko-KR" sz="1400" b="1" dirty="0" err="1">
                <a:solidFill>
                  <a:srgbClr val="FF0000"/>
                </a:solidFill>
              </a:rPr>
              <a:t>imagePullPolicy</a:t>
            </a:r>
            <a:r>
              <a:rPr lang="en-US" altLang="ko-KR" sz="1400" b="1" dirty="0">
                <a:solidFill>
                  <a:srgbClr val="FF0000"/>
                </a:solidFill>
              </a:rPr>
              <a:t>” properly </a:t>
            </a:r>
            <a:r>
              <a:rPr lang="en-US" altLang="ko-KR" sz="1400" b="1" dirty="0"/>
              <a:t>if you make changes to an image without changing the tag</a:t>
            </a:r>
            <a:r>
              <a:rPr lang="en-US" altLang="ko-KR" sz="1400" dirty="0"/>
              <a:t>. Or better yet, </a:t>
            </a:r>
            <a:r>
              <a:rPr lang="en-US" altLang="ko-KR" sz="1400" b="1" dirty="0"/>
              <a:t>make sure you always push changes to an image under a new tag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7164896-6273-9869-F092-6539E6384B57}"/>
              </a:ext>
            </a:extLst>
          </p:cNvPr>
          <p:cNvPicPr>
            <a:picLocks noChangeAspect="1"/>
          </p:cNvPicPr>
          <p:nvPr/>
        </p:nvPicPr>
        <p:blipFill>
          <a:blip r:embed="rId2"/>
          <a:stretch>
            <a:fillRect/>
          </a:stretch>
        </p:blipFill>
        <p:spPr>
          <a:xfrm>
            <a:off x="7886700" y="4599280"/>
            <a:ext cx="3467100" cy="1809750"/>
          </a:xfrm>
          <a:prstGeom prst="rect">
            <a:avLst/>
          </a:prstGeom>
          <a:ln>
            <a:solidFill>
              <a:schemeClr val="bg1">
                <a:lumMod val="50000"/>
              </a:schemeClr>
            </a:solidFill>
          </a:ln>
        </p:spPr>
      </p:pic>
    </p:spTree>
    <p:extLst>
      <p:ext uri="{BB962C8B-B14F-4D97-AF65-F5344CB8AC3E}">
        <p14:creationId xmlns:p14="http://schemas.microsoft.com/office/powerpoint/2010/main" val="19900244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Performing a Rolling Update with a </a:t>
            </a:r>
            <a:r>
              <a:rPr lang="en-US" altLang="ko-KR" sz="2800" b="1" dirty="0" err="1"/>
              <a:t>ReplicationController</a:t>
            </a:r>
            <a:r>
              <a:rPr lang="en-US" altLang="ko-KR" sz="2800" b="1" dirty="0"/>
              <a:t>(5/7)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Performing a Rolling Update with </a:t>
            </a:r>
            <a:r>
              <a:rPr lang="en-US" altLang="ko-KR" sz="1800" b="1" dirty="0" err="1"/>
              <a:t>kubectl</a:t>
            </a:r>
            <a:r>
              <a:rPr lang="en-US" altLang="ko-KR" sz="1800" b="1" dirty="0"/>
              <a:t> :</a:t>
            </a:r>
          </a:p>
          <a:p>
            <a:pPr lvl="1">
              <a:buFont typeface="Wingdings" panose="05000000000000000000" pitchFamily="2" charset="2"/>
              <a:buChar char="§"/>
            </a:pPr>
            <a:r>
              <a:rPr lang="en-US" altLang="ko-KR" sz="1400" b="1" dirty="0"/>
              <a:t>Keep the curl loop running </a:t>
            </a:r>
            <a:r>
              <a:rPr lang="en-US" altLang="ko-KR" sz="1400" dirty="0"/>
              <a:t>and </a:t>
            </a:r>
            <a:r>
              <a:rPr lang="en-US" altLang="ko-KR" sz="1400" b="1" dirty="0"/>
              <a:t>open another terminal</a:t>
            </a:r>
            <a:r>
              <a:rPr lang="en-US" altLang="ko-KR" sz="1400" dirty="0"/>
              <a:t>, where you’ll get the rolling update started. To perform the update to the “</a:t>
            </a:r>
            <a:r>
              <a:rPr lang="en-US" altLang="ko-KR" sz="1400" b="1" dirty="0"/>
              <a:t>v2</a:t>
            </a:r>
            <a:r>
              <a:rPr lang="en-US" altLang="ko-KR" sz="1400" dirty="0"/>
              <a:t>”, you need to </a:t>
            </a:r>
            <a:r>
              <a:rPr lang="en-US" altLang="ko-KR" sz="1400" b="1" dirty="0"/>
              <a:t>create new YAML file for “v2”</a:t>
            </a:r>
            <a:r>
              <a:rPr lang="en-US" altLang="ko-KR" sz="1400" dirty="0"/>
              <a:t>. Then you can also </a:t>
            </a:r>
            <a:r>
              <a:rPr lang="en-US" altLang="ko-KR" sz="1400" b="1" dirty="0"/>
              <a:t>create new replication controller with “v2” YAML file</a:t>
            </a:r>
            <a:r>
              <a:rPr lang="en-US" altLang="ko-KR" sz="1400" dirty="0"/>
              <a:t>. </a:t>
            </a:r>
            <a:r>
              <a:rPr lang="en-US" altLang="ko-KR" sz="1400" b="1" dirty="0"/>
              <a:t>If the “v2” </a:t>
            </a:r>
            <a:r>
              <a:rPr lang="en-US" altLang="ko-KR" sz="1400" b="1" dirty="0" err="1"/>
              <a:t>ReplicationControler</a:t>
            </a:r>
            <a:r>
              <a:rPr lang="en-US" altLang="ko-KR" sz="1400" b="1" dirty="0"/>
              <a:t> is full working</a:t>
            </a:r>
            <a:r>
              <a:rPr lang="en-US" altLang="ko-KR" sz="1400" dirty="0"/>
              <a:t>, </a:t>
            </a:r>
            <a:r>
              <a:rPr lang="en-US" altLang="ko-KR" sz="1400" b="1" dirty="0"/>
              <a:t>then you can delete the “v1” </a:t>
            </a:r>
            <a:r>
              <a:rPr lang="en-US" altLang="ko-KR" sz="1400" b="1" dirty="0" err="1"/>
              <a:t>ReplicationController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 The “</a:t>
            </a:r>
            <a:r>
              <a:rPr lang="en-US" altLang="ko-KR" sz="1400" b="1" dirty="0" err="1">
                <a:solidFill>
                  <a:srgbClr val="FF0000"/>
                </a:solidFill>
              </a:rPr>
              <a:t>kubectl</a:t>
            </a:r>
            <a:r>
              <a:rPr lang="en-US" altLang="ko-KR" sz="1400" b="1" dirty="0">
                <a:solidFill>
                  <a:srgbClr val="FF0000"/>
                </a:solidFill>
              </a:rPr>
              <a:t> rolling-update</a:t>
            </a:r>
            <a:r>
              <a:rPr lang="en-US" altLang="ko-KR" sz="1400" b="1" dirty="0"/>
              <a:t>” command is deprecated and removed from the </a:t>
            </a:r>
            <a:r>
              <a:rPr lang="en-US" altLang="ko-KR" sz="1400" b="1" dirty="0" err="1"/>
              <a:t>kubectl</a:t>
            </a:r>
            <a:r>
              <a:rPr lang="en-US" altLang="ko-KR" sz="1400" b="1" dirty="0"/>
              <a:t> commands. So you cannot use it now(2022.12)</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직사각형 12">
            <a:extLst>
              <a:ext uri="{FF2B5EF4-FFF2-40B4-BE49-F238E27FC236}">
                <a16:creationId xmlns:a16="http://schemas.microsoft.com/office/drawing/2014/main" id="{5C67E0FA-A9BC-FDBA-8009-566FB5D0CC26}"/>
              </a:ext>
            </a:extLst>
          </p:cNvPr>
          <p:cNvSpPr/>
          <p:nvPr/>
        </p:nvSpPr>
        <p:spPr>
          <a:xfrm>
            <a:off x="1505119" y="3388540"/>
            <a:ext cx="2896948"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344768C0-0250-6222-A516-13C76E851F71}"/>
              </a:ext>
            </a:extLst>
          </p:cNvPr>
          <p:cNvGrpSpPr/>
          <p:nvPr/>
        </p:nvGrpSpPr>
        <p:grpSpPr>
          <a:xfrm>
            <a:off x="1428581" y="2047801"/>
            <a:ext cx="9334838" cy="3630792"/>
            <a:chOff x="1428580" y="2120629"/>
            <a:chExt cx="9334838" cy="3630792"/>
          </a:xfrm>
        </p:grpSpPr>
        <p:grpSp>
          <p:nvGrpSpPr>
            <p:cNvPr id="12" name="그룹 11">
              <a:extLst>
                <a:ext uri="{FF2B5EF4-FFF2-40B4-BE49-F238E27FC236}">
                  <a16:creationId xmlns:a16="http://schemas.microsoft.com/office/drawing/2014/main" id="{0E3FC011-8425-90B9-5CEC-1365454B29E3}"/>
                </a:ext>
              </a:extLst>
            </p:cNvPr>
            <p:cNvGrpSpPr/>
            <p:nvPr/>
          </p:nvGrpSpPr>
          <p:grpSpPr>
            <a:xfrm>
              <a:off x="1428581" y="2120629"/>
              <a:ext cx="9334837" cy="2070716"/>
              <a:chOff x="1428581" y="2120629"/>
              <a:chExt cx="9334837" cy="2070716"/>
            </a:xfrm>
          </p:grpSpPr>
          <p:sp>
            <p:nvSpPr>
              <p:cNvPr id="8" name="TextBox 7">
                <a:extLst>
                  <a:ext uri="{FF2B5EF4-FFF2-40B4-BE49-F238E27FC236}">
                    <a16:creationId xmlns:a16="http://schemas.microsoft.com/office/drawing/2014/main" id="{A01086A7-1B45-C0D0-8252-CFE41FB9EC2B}"/>
                  </a:ext>
                </a:extLst>
              </p:cNvPr>
              <p:cNvSpPr txBox="1"/>
              <p:nvPr/>
            </p:nvSpPr>
            <p:spPr>
              <a:xfrm>
                <a:off x="3047326" y="212062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kubia-rc-v2.yaml</a:t>
                </a:r>
              </a:p>
            </p:txBody>
          </p:sp>
          <p:sp>
            <p:nvSpPr>
              <p:cNvPr id="9" name="화살표: 아래쪽 8">
                <a:extLst>
                  <a:ext uri="{FF2B5EF4-FFF2-40B4-BE49-F238E27FC236}">
                    <a16:creationId xmlns:a16="http://schemas.microsoft.com/office/drawing/2014/main" id="{7DA45951-F74A-25B1-B71D-57ED1931734E}"/>
                  </a:ext>
                </a:extLst>
              </p:cNvPr>
              <p:cNvSpPr/>
              <p:nvPr/>
            </p:nvSpPr>
            <p:spPr>
              <a:xfrm>
                <a:off x="5877515" y="2389554"/>
                <a:ext cx="436970" cy="2670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0E2E64CF-BF10-9C95-2EF1-5ADC75059FB2}"/>
                  </a:ext>
                </a:extLst>
              </p:cNvPr>
              <p:cNvPicPr>
                <a:picLocks noChangeAspect="1"/>
              </p:cNvPicPr>
              <p:nvPr/>
            </p:nvPicPr>
            <p:blipFill>
              <a:blip r:embed="rId2"/>
              <a:stretch>
                <a:fillRect/>
              </a:stretch>
            </p:blipFill>
            <p:spPr>
              <a:xfrm>
                <a:off x="1428581" y="2666655"/>
                <a:ext cx="9334837" cy="1524690"/>
              </a:xfrm>
              <a:prstGeom prst="rect">
                <a:avLst/>
              </a:prstGeom>
            </p:spPr>
          </p:pic>
        </p:grpSp>
        <p:pic>
          <p:nvPicPr>
            <p:cNvPr id="15" name="그림 14">
              <a:extLst>
                <a:ext uri="{FF2B5EF4-FFF2-40B4-BE49-F238E27FC236}">
                  <a16:creationId xmlns:a16="http://schemas.microsoft.com/office/drawing/2014/main" id="{CC2C49BC-50F5-F0F7-8440-04608D53021C}"/>
                </a:ext>
              </a:extLst>
            </p:cNvPr>
            <p:cNvPicPr>
              <a:picLocks noChangeAspect="1"/>
            </p:cNvPicPr>
            <p:nvPr/>
          </p:nvPicPr>
          <p:blipFill>
            <a:blip r:embed="rId3"/>
            <a:stretch>
              <a:fillRect/>
            </a:stretch>
          </p:blipFill>
          <p:spPr>
            <a:xfrm>
              <a:off x="1428580" y="4226731"/>
              <a:ext cx="9334838" cy="1524690"/>
            </a:xfrm>
            <a:prstGeom prst="rect">
              <a:avLst/>
            </a:prstGeom>
          </p:spPr>
        </p:pic>
      </p:grpSp>
    </p:spTree>
    <p:extLst>
      <p:ext uri="{BB962C8B-B14F-4D97-AF65-F5344CB8AC3E}">
        <p14:creationId xmlns:p14="http://schemas.microsoft.com/office/powerpoint/2010/main" val="24123618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Performing a Rolling Update with a </a:t>
            </a:r>
            <a:r>
              <a:rPr lang="en-US" altLang="ko-KR" sz="2800" b="1" dirty="0" err="1"/>
              <a:t>ReplicationController</a:t>
            </a:r>
            <a:r>
              <a:rPr lang="en-US" altLang="ko-KR" sz="2800" b="1" dirty="0"/>
              <a:t>(6/7)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Performing a Rolling Update with </a:t>
            </a:r>
            <a:r>
              <a:rPr lang="en-US" altLang="ko-KR" sz="1800" b="1" dirty="0" err="1"/>
              <a:t>kubectl</a:t>
            </a:r>
            <a:r>
              <a:rPr lang="en-US" altLang="ko-KR" sz="1800" b="1" dirty="0"/>
              <a:t> :</a:t>
            </a:r>
          </a:p>
          <a:p>
            <a:pPr lvl="1">
              <a:buFont typeface="Wingdings" panose="05000000000000000000" pitchFamily="2" charset="2"/>
              <a:buChar char="§"/>
            </a:pPr>
            <a:r>
              <a:rPr lang="en-US" altLang="ko-KR" sz="1400" b="1" dirty="0"/>
              <a:t>The new </a:t>
            </a:r>
            <a:r>
              <a:rPr lang="en-US" altLang="ko-KR" sz="1400" b="1" dirty="0" err="1"/>
              <a:t>ReplicationController’s</a:t>
            </a:r>
            <a:r>
              <a:rPr lang="en-US" altLang="ko-KR" sz="1400" b="1" dirty="0"/>
              <a:t> pod template references the “knix008/kubia:v2” image </a:t>
            </a:r>
            <a:r>
              <a:rPr lang="en-US" altLang="ko-KR" sz="1400" dirty="0"/>
              <a:t>and its initial desired replica count is set to </a:t>
            </a:r>
            <a:r>
              <a:rPr lang="en-US" altLang="ko-KR" sz="1400" b="1" dirty="0"/>
              <a:t>0</a:t>
            </a:r>
            <a:r>
              <a:rPr lang="en-US" altLang="ko-KR" sz="1400" dirty="0"/>
              <a:t>. Then it will be </a:t>
            </a:r>
            <a:r>
              <a:rPr lang="en-US" altLang="ko-KR" sz="1400" b="1" dirty="0"/>
              <a:t>3</a:t>
            </a:r>
            <a:r>
              <a:rPr lang="en-US" altLang="ko-KR" sz="1400" dirty="0"/>
              <a:t> sometime later.</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4BD87616-85D7-9A47-3667-3F3DC0737430}"/>
              </a:ext>
            </a:extLst>
          </p:cNvPr>
          <p:cNvGrpSpPr/>
          <p:nvPr/>
        </p:nvGrpSpPr>
        <p:grpSpPr>
          <a:xfrm>
            <a:off x="1978607" y="1561300"/>
            <a:ext cx="8234786" cy="4847730"/>
            <a:chOff x="1978607" y="1561300"/>
            <a:chExt cx="8234786" cy="4847730"/>
          </a:xfrm>
        </p:grpSpPr>
        <p:grpSp>
          <p:nvGrpSpPr>
            <p:cNvPr id="11" name="그룹 10">
              <a:extLst>
                <a:ext uri="{FF2B5EF4-FFF2-40B4-BE49-F238E27FC236}">
                  <a16:creationId xmlns:a16="http://schemas.microsoft.com/office/drawing/2014/main" id="{A099FB87-CC38-936E-0720-24596F74018C}"/>
                </a:ext>
              </a:extLst>
            </p:cNvPr>
            <p:cNvGrpSpPr/>
            <p:nvPr/>
          </p:nvGrpSpPr>
          <p:grpSpPr>
            <a:xfrm>
              <a:off x="1978607" y="1561300"/>
              <a:ext cx="8234786" cy="4847730"/>
              <a:chOff x="1978607" y="1561300"/>
              <a:chExt cx="8234786" cy="4847730"/>
            </a:xfrm>
          </p:grpSpPr>
          <p:pic>
            <p:nvPicPr>
              <p:cNvPr id="8" name="그림 7">
                <a:extLst>
                  <a:ext uri="{FF2B5EF4-FFF2-40B4-BE49-F238E27FC236}">
                    <a16:creationId xmlns:a16="http://schemas.microsoft.com/office/drawing/2014/main" id="{C7208A6D-49AB-7151-479D-E3ADB15191EC}"/>
                  </a:ext>
                </a:extLst>
              </p:cNvPr>
              <p:cNvPicPr>
                <a:picLocks noChangeAspect="1"/>
              </p:cNvPicPr>
              <p:nvPr/>
            </p:nvPicPr>
            <p:blipFill>
              <a:blip r:embed="rId2"/>
              <a:stretch>
                <a:fillRect/>
              </a:stretch>
            </p:blipFill>
            <p:spPr>
              <a:xfrm>
                <a:off x="3857625" y="1561300"/>
                <a:ext cx="4476750" cy="1323975"/>
              </a:xfrm>
              <a:prstGeom prst="rect">
                <a:avLst/>
              </a:prstGeom>
            </p:spPr>
          </p:pic>
          <p:pic>
            <p:nvPicPr>
              <p:cNvPr id="10" name="그림 9">
                <a:extLst>
                  <a:ext uri="{FF2B5EF4-FFF2-40B4-BE49-F238E27FC236}">
                    <a16:creationId xmlns:a16="http://schemas.microsoft.com/office/drawing/2014/main" id="{F169D898-BF95-09C0-84BA-2A9BFE7367BE}"/>
                  </a:ext>
                </a:extLst>
              </p:cNvPr>
              <p:cNvPicPr>
                <a:picLocks noChangeAspect="1"/>
              </p:cNvPicPr>
              <p:nvPr/>
            </p:nvPicPr>
            <p:blipFill>
              <a:blip r:embed="rId3"/>
              <a:stretch>
                <a:fillRect/>
              </a:stretch>
            </p:blipFill>
            <p:spPr>
              <a:xfrm>
                <a:off x="1978607" y="2977869"/>
                <a:ext cx="8234786" cy="3431161"/>
              </a:xfrm>
              <a:prstGeom prst="rect">
                <a:avLst/>
              </a:prstGeom>
            </p:spPr>
          </p:pic>
        </p:grpSp>
        <p:sp>
          <p:nvSpPr>
            <p:cNvPr id="12" name="직사각형 11">
              <a:extLst>
                <a:ext uri="{FF2B5EF4-FFF2-40B4-BE49-F238E27FC236}">
                  <a16:creationId xmlns:a16="http://schemas.microsoft.com/office/drawing/2014/main" id="{3869DAFB-D367-97BC-ED4B-C0A4EB1BF952}"/>
                </a:ext>
              </a:extLst>
            </p:cNvPr>
            <p:cNvSpPr/>
            <p:nvPr/>
          </p:nvSpPr>
          <p:spPr>
            <a:xfrm>
              <a:off x="5470216" y="3342011"/>
              <a:ext cx="1626499"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2B834BC1-28C1-8E99-0CEA-8E3986CF25F4}"/>
                </a:ext>
              </a:extLst>
            </p:cNvPr>
            <p:cNvSpPr/>
            <p:nvPr/>
          </p:nvSpPr>
          <p:spPr>
            <a:xfrm>
              <a:off x="2824120" y="3463391"/>
              <a:ext cx="558351"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A1086DFE-CFC9-5A65-341C-E1F71B75AB93}"/>
                </a:ext>
              </a:extLst>
            </p:cNvPr>
            <p:cNvSpPr/>
            <p:nvPr/>
          </p:nvSpPr>
          <p:spPr>
            <a:xfrm>
              <a:off x="2257678" y="4741933"/>
              <a:ext cx="1828800"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55900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Performing a Rolling Update with a </a:t>
            </a:r>
            <a:r>
              <a:rPr lang="en-US" altLang="ko-KR" sz="2800" b="1" dirty="0" err="1"/>
              <a:t>ReplicationController</a:t>
            </a:r>
            <a:r>
              <a:rPr lang="en-US" altLang="ko-KR" sz="2800" b="1" dirty="0"/>
              <a:t>(7/7)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Performing a Rolling Update with </a:t>
            </a:r>
            <a:r>
              <a:rPr lang="en-US" altLang="ko-KR" sz="1800" b="1" dirty="0" err="1"/>
              <a:t>kubectl</a:t>
            </a:r>
            <a:r>
              <a:rPr lang="en-US" altLang="ko-KR" sz="1800" b="1" dirty="0"/>
              <a:t> :</a:t>
            </a:r>
          </a:p>
          <a:p>
            <a:pPr lvl="1">
              <a:buFont typeface="Wingdings" panose="05000000000000000000" pitchFamily="2" charset="2"/>
              <a:buChar char="§"/>
            </a:pPr>
            <a:r>
              <a:rPr lang="en-US" altLang="ko-KR" sz="1400" dirty="0"/>
              <a:t>When </a:t>
            </a:r>
            <a:r>
              <a:rPr lang="en-US" altLang="ko-KR" sz="1400" b="1" dirty="0"/>
              <a:t>the update process is being performed by the client instead of on the server </a:t>
            </a:r>
            <a:r>
              <a:rPr lang="en-US" altLang="ko-KR" sz="1400" dirty="0"/>
              <a:t>and, what if you lost network connectivity while </a:t>
            </a:r>
            <a:r>
              <a:rPr lang="en-US" altLang="ko-KR" sz="1400" dirty="0" err="1"/>
              <a:t>kubectl</a:t>
            </a:r>
            <a:r>
              <a:rPr lang="en-US" altLang="ko-KR" sz="1400" dirty="0"/>
              <a:t> was performing the update? </a:t>
            </a:r>
            <a:r>
              <a:rPr lang="en-US" altLang="ko-KR" sz="1400" b="1" dirty="0"/>
              <a:t>The update process would be interrupted mid-way</a:t>
            </a:r>
            <a:r>
              <a:rPr lang="en-US" altLang="ko-KR" sz="1400" dirty="0"/>
              <a:t>. </a:t>
            </a:r>
            <a:r>
              <a:rPr lang="en-US" altLang="ko-KR" sz="1400" b="1" dirty="0"/>
              <a:t>Pods and </a:t>
            </a:r>
            <a:r>
              <a:rPr lang="en-US" altLang="ko-KR" sz="1400" b="1" dirty="0" err="1"/>
              <a:t>ReplicationControllers</a:t>
            </a:r>
            <a:r>
              <a:rPr lang="en-US" altLang="ko-KR" sz="1400" b="1" dirty="0"/>
              <a:t> would end up in an intermediate state</a:t>
            </a:r>
            <a:r>
              <a:rPr lang="en-US" altLang="ko-KR" sz="1400" dirty="0"/>
              <a:t>. Another reason why performing an update like this isn’t as good as it could be is </a:t>
            </a:r>
            <a:r>
              <a:rPr lang="en-US" altLang="ko-KR" sz="1400" b="1" dirty="0"/>
              <a:t>because it’s </a:t>
            </a:r>
            <a:r>
              <a:rPr lang="en-US" altLang="ko-KR" sz="1400" b="1" dirty="0">
                <a:solidFill>
                  <a:srgbClr val="FF0000"/>
                </a:solidFill>
              </a:rPr>
              <a:t>imperative</a:t>
            </a:r>
            <a:r>
              <a:rPr lang="en-US" altLang="ko-KR" sz="1400" dirty="0"/>
              <a:t>. </a:t>
            </a:r>
          </a:p>
          <a:p>
            <a:pPr lvl="1">
              <a:buFont typeface="Wingdings" panose="05000000000000000000" pitchFamily="2" charset="2"/>
              <a:buChar char="§"/>
            </a:pPr>
            <a:r>
              <a:rPr lang="en-US" altLang="ko-KR" sz="1400" b="1" dirty="0"/>
              <a:t>The better way is telling the desired state of the system and having Kubernetes achieve that state on its own</a:t>
            </a:r>
            <a:r>
              <a:rPr lang="en-US" altLang="ko-KR" sz="1400" dirty="0"/>
              <a:t>, by figuring out the best way to do it. This is how pods are deployed and how pods are scaled up and down. You never tell Kubernetes to add an additional pod or remove an excess one—you change the number of desired replicas and that’s it.</a:t>
            </a:r>
          </a:p>
          <a:p>
            <a:pPr lvl="1">
              <a:buFont typeface="Wingdings" panose="05000000000000000000" pitchFamily="2" charset="2"/>
              <a:buChar char="§"/>
            </a:pPr>
            <a:r>
              <a:rPr lang="en-US" altLang="ko-KR" sz="1400" b="1" dirty="0"/>
              <a:t>Similarly, you will also want to change the desired image tag in your pod definitions and have Kubernetes replace the pods with new ones running the new image</a:t>
            </a:r>
            <a:r>
              <a:rPr lang="en-US" altLang="ko-KR" sz="1400" dirty="0"/>
              <a:t>. This is exactly what drove the introduction of a new resource called a </a:t>
            </a:r>
            <a:r>
              <a:rPr lang="en-US" altLang="ko-KR" sz="1400" b="1" dirty="0">
                <a:solidFill>
                  <a:srgbClr val="FF0000"/>
                </a:solidFill>
              </a:rPr>
              <a:t>Deployment</a:t>
            </a:r>
            <a:r>
              <a:rPr lang="en-US" altLang="ko-KR" sz="1400" dirty="0"/>
              <a:t>, </a:t>
            </a:r>
            <a:r>
              <a:rPr lang="en-US" altLang="ko-KR" sz="1400" b="1" dirty="0"/>
              <a:t>which is now the preferred way of deploying applications in Kubernetes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7A9AFB6-58F1-1DD1-AE4E-D221ED7684D1}"/>
              </a:ext>
            </a:extLst>
          </p:cNvPr>
          <p:cNvPicPr>
            <a:picLocks noChangeAspect="1"/>
          </p:cNvPicPr>
          <p:nvPr/>
        </p:nvPicPr>
        <p:blipFill>
          <a:blip r:embed="rId2"/>
          <a:stretch>
            <a:fillRect/>
          </a:stretch>
        </p:blipFill>
        <p:spPr>
          <a:xfrm>
            <a:off x="2751292" y="3760266"/>
            <a:ext cx="6689416" cy="2194965"/>
          </a:xfrm>
          <a:prstGeom prst="rect">
            <a:avLst/>
          </a:prstGeom>
        </p:spPr>
      </p:pic>
    </p:spTree>
    <p:extLst>
      <p:ext uri="{BB962C8B-B14F-4D97-AF65-F5344CB8AC3E}">
        <p14:creationId xmlns:p14="http://schemas.microsoft.com/office/powerpoint/2010/main" val="25401581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Deployment and </a:t>
            </a:r>
            <a:r>
              <a:rPr lang="en-US" altLang="ko-KR" sz="1800" b="1" dirty="0" err="1"/>
              <a:t>ReplicaSet</a:t>
            </a:r>
            <a:r>
              <a:rPr lang="en-US" altLang="ko-KR" sz="1800" b="1" dirty="0"/>
              <a:t> :</a:t>
            </a:r>
          </a:p>
          <a:p>
            <a:pPr lvl="1">
              <a:buFont typeface="Wingdings" panose="05000000000000000000" pitchFamily="2" charset="2"/>
              <a:buChar char="§"/>
            </a:pPr>
            <a:r>
              <a:rPr lang="en-US" altLang="ko-KR" sz="1400" b="1" dirty="0"/>
              <a:t>Deployment is a </a:t>
            </a:r>
            <a:r>
              <a:rPr lang="en-US" altLang="ko-KR" sz="1400" b="1" dirty="0">
                <a:solidFill>
                  <a:srgbClr val="FF0000"/>
                </a:solidFill>
              </a:rPr>
              <a:t>higher-level resource</a:t>
            </a:r>
            <a:r>
              <a:rPr lang="en-US" altLang="ko-KR" sz="1400" b="1" dirty="0"/>
              <a:t> meant for </a:t>
            </a:r>
            <a:r>
              <a:rPr lang="en-US" altLang="ko-KR" sz="1400" b="1" dirty="0">
                <a:solidFill>
                  <a:srgbClr val="FF0000"/>
                </a:solidFill>
              </a:rPr>
              <a:t>deploying applications </a:t>
            </a:r>
            <a:r>
              <a:rPr lang="en-US" altLang="ko-KR" sz="1400" b="1" dirty="0"/>
              <a:t>and </a:t>
            </a:r>
            <a:r>
              <a:rPr lang="en-US" altLang="ko-KR" sz="1400" b="1" dirty="0">
                <a:solidFill>
                  <a:srgbClr val="FF0000"/>
                </a:solidFill>
              </a:rPr>
              <a:t>updating them declaratively</a:t>
            </a:r>
            <a:r>
              <a:rPr lang="en-US" altLang="ko-KR" sz="1400" dirty="0"/>
              <a:t>, </a:t>
            </a:r>
            <a:r>
              <a:rPr lang="en-US" altLang="ko-KR" sz="1400" b="1" dirty="0"/>
              <a:t>instead of doing it through a </a:t>
            </a:r>
            <a:r>
              <a:rPr lang="en-US" altLang="ko-KR" sz="1400" b="1" dirty="0" err="1"/>
              <a:t>ReplicationController</a:t>
            </a:r>
            <a:r>
              <a:rPr lang="en-US" altLang="ko-KR" sz="1400" b="1" dirty="0"/>
              <a:t> or a </a:t>
            </a:r>
            <a:r>
              <a:rPr lang="en-US" altLang="ko-KR" sz="1400" b="1" dirty="0" err="1"/>
              <a:t>ReplicaSet</a:t>
            </a:r>
            <a:r>
              <a:rPr lang="en-US" altLang="ko-KR" sz="1400" dirty="0"/>
              <a:t>, </a:t>
            </a:r>
            <a:r>
              <a:rPr lang="en-US" altLang="ko-KR" sz="1400" b="1" dirty="0"/>
              <a:t>which are both considered lower-level concepts</a:t>
            </a:r>
            <a:r>
              <a:rPr lang="en-US" altLang="ko-KR" sz="1400" dirty="0"/>
              <a:t>.</a:t>
            </a:r>
          </a:p>
          <a:p>
            <a:pPr lvl="1">
              <a:buFont typeface="Wingdings" panose="05000000000000000000" pitchFamily="2" charset="2"/>
              <a:buChar char="§"/>
            </a:pPr>
            <a:r>
              <a:rPr lang="en-US" altLang="ko-KR" sz="1400" b="1" dirty="0"/>
              <a:t>When you create a Deployment, a </a:t>
            </a:r>
            <a:r>
              <a:rPr lang="en-US" altLang="ko-KR" sz="1400" b="1" dirty="0" err="1">
                <a:solidFill>
                  <a:srgbClr val="FF0000"/>
                </a:solidFill>
              </a:rPr>
              <a:t>ReplicaSet</a:t>
            </a:r>
            <a:r>
              <a:rPr lang="en-US" altLang="ko-KR" sz="1400" b="1" dirty="0"/>
              <a:t> resource is created underneath (eventually more of them)</a:t>
            </a:r>
            <a:r>
              <a:rPr lang="en-US" altLang="ko-KR" sz="1400" dirty="0"/>
              <a:t>. </a:t>
            </a:r>
            <a:r>
              <a:rPr lang="en-US" altLang="ko-KR" sz="1400" b="1" dirty="0" err="1"/>
              <a:t>ReplicaSets</a:t>
            </a:r>
            <a:r>
              <a:rPr lang="en-US" altLang="ko-KR" sz="1400" b="1" dirty="0"/>
              <a:t> are a new generation of </a:t>
            </a:r>
            <a:r>
              <a:rPr lang="en-US" altLang="ko-KR" sz="1400" b="1" dirty="0" err="1"/>
              <a:t>ReplicationControllers</a:t>
            </a:r>
            <a:r>
              <a:rPr lang="en-US" altLang="ko-KR" sz="1400" dirty="0"/>
              <a:t>, and should be used instead of them. </a:t>
            </a:r>
            <a:r>
              <a:rPr lang="en-US" altLang="ko-KR" sz="1400" b="1" dirty="0" err="1"/>
              <a:t>ReplicaSets</a:t>
            </a:r>
            <a:r>
              <a:rPr lang="en-US" altLang="ko-KR" sz="1400" dirty="0"/>
              <a:t> replicate and manage pods, as well. </a:t>
            </a:r>
            <a:r>
              <a:rPr lang="en-US" altLang="ko-KR" sz="1400" b="1" dirty="0"/>
              <a:t>When using a Deployment, the actual pods are created and managed by the Deployment’s </a:t>
            </a:r>
            <a:r>
              <a:rPr lang="en-US" altLang="ko-KR" sz="1400" b="1" dirty="0" err="1"/>
              <a:t>ReplicaSets</a:t>
            </a:r>
            <a:r>
              <a:rPr lang="en-US" altLang="ko-KR" sz="1400" dirty="0"/>
              <a:t>, not by the Deployment directly (the relationship is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 updating the app, you need to introduce an additional </a:t>
            </a:r>
            <a:r>
              <a:rPr lang="en-US" altLang="ko-KR" sz="1400" b="1" dirty="0" err="1"/>
              <a:t>ReplicationController</a:t>
            </a:r>
            <a:r>
              <a:rPr lang="en-US" altLang="ko-KR" sz="1400" b="1" dirty="0"/>
              <a:t> and </a:t>
            </a:r>
            <a:r>
              <a:rPr lang="en-US" altLang="ko-KR" sz="1400" b="1" dirty="0">
                <a:solidFill>
                  <a:srgbClr val="FF0000"/>
                </a:solidFill>
              </a:rPr>
              <a:t>coordinate</a:t>
            </a:r>
            <a:r>
              <a:rPr lang="en-US" altLang="ko-KR" sz="1400" b="1" dirty="0"/>
              <a:t> the two controllers to dance around each other without stepping on each other’s toes</a:t>
            </a:r>
            <a:r>
              <a:rPr lang="en-US" altLang="ko-KR" sz="1400" dirty="0"/>
              <a:t>. </a:t>
            </a:r>
            <a:r>
              <a:rPr lang="en-US" altLang="ko-KR" sz="1400" b="1" dirty="0"/>
              <a:t>A Deployment resource takes care of that</a:t>
            </a:r>
            <a:r>
              <a:rPr lang="en-US" altLang="ko-KR" sz="1400" dirty="0"/>
              <a:t> (it’s not the Deployment resource itself, but </a:t>
            </a:r>
            <a:r>
              <a:rPr lang="en-US" altLang="ko-KR" sz="1400" b="1" dirty="0"/>
              <a:t>the controller process running in the Kubernetes control plane that does that</a:t>
            </a:r>
            <a:r>
              <a:rPr lang="en-US" altLang="ko-KR" sz="1400" dirty="0"/>
              <a:t>).</a:t>
            </a:r>
          </a:p>
          <a:p>
            <a:pPr lvl="1">
              <a:buFont typeface="Wingdings" panose="05000000000000000000" pitchFamily="2" charset="2"/>
              <a:buChar char="§"/>
            </a:pPr>
            <a:r>
              <a:rPr lang="en-US" altLang="ko-KR" sz="1400" b="1" dirty="0"/>
              <a:t>Using a Deployment instead of the lower-level constructs makes updating an app much easier, because you’re </a:t>
            </a:r>
            <a:r>
              <a:rPr lang="en-US" altLang="ko-KR" sz="1400" b="1" dirty="0">
                <a:solidFill>
                  <a:srgbClr val="FF0000"/>
                </a:solidFill>
              </a:rPr>
              <a:t>defining the desired state through the single Deployment resource </a:t>
            </a:r>
            <a:r>
              <a:rPr lang="en-US" altLang="ko-KR" sz="1400" b="1" dirty="0"/>
              <a:t>and </a:t>
            </a:r>
            <a:r>
              <a:rPr lang="en-US" altLang="ko-KR" sz="1400" b="1" dirty="0">
                <a:solidFill>
                  <a:srgbClr val="FF0000"/>
                </a:solidFill>
              </a:rPr>
              <a:t>letting Kubernetes take care of the rest</a:t>
            </a:r>
            <a:r>
              <a:rPr lang="en-US" altLang="ko-KR" sz="1400" b="1" dirty="0"/>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2B0FF9D-987D-E2D8-21AA-9E4CE9204E91}"/>
              </a:ext>
            </a:extLst>
          </p:cNvPr>
          <p:cNvPicPr>
            <a:picLocks noChangeAspect="1"/>
          </p:cNvPicPr>
          <p:nvPr/>
        </p:nvPicPr>
        <p:blipFill>
          <a:blip r:embed="rId2"/>
          <a:stretch>
            <a:fillRect/>
          </a:stretch>
        </p:blipFill>
        <p:spPr>
          <a:xfrm>
            <a:off x="4424516" y="2681748"/>
            <a:ext cx="3342968" cy="747252"/>
          </a:xfrm>
          <a:prstGeom prst="rect">
            <a:avLst/>
          </a:prstGeom>
        </p:spPr>
      </p:pic>
    </p:spTree>
    <p:extLst>
      <p:ext uri="{BB962C8B-B14F-4D97-AF65-F5344CB8AC3E}">
        <p14:creationId xmlns:p14="http://schemas.microsoft.com/office/powerpoint/2010/main" val="12656853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Deployment :</a:t>
            </a:r>
          </a:p>
          <a:p>
            <a:pPr lvl="1">
              <a:buFont typeface="Wingdings" panose="05000000000000000000" pitchFamily="2" charset="2"/>
              <a:buChar char="§"/>
            </a:pPr>
            <a:r>
              <a:rPr lang="en-US" altLang="ko-KR" sz="1400" dirty="0"/>
              <a:t>Creating a Deployment isn’t that different from creating a </a:t>
            </a:r>
            <a:r>
              <a:rPr lang="en-US" altLang="ko-KR" sz="1400" dirty="0" err="1"/>
              <a:t>ReplicationController</a:t>
            </a:r>
            <a:r>
              <a:rPr lang="en-US" altLang="ko-KR" sz="1400" dirty="0"/>
              <a:t>. </a:t>
            </a:r>
            <a:r>
              <a:rPr lang="en-US" altLang="ko-KR" sz="1400" b="1" dirty="0"/>
              <a:t>A Deployment is also composed of a </a:t>
            </a:r>
            <a:r>
              <a:rPr lang="en-US" altLang="ko-KR" sz="1400" b="1" dirty="0">
                <a:solidFill>
                  <a:srgbClr val="FF0000"/>
                </a:solidFill>
              </a:rPr>
              <a:t>label selector</a:t>
            </a:r>
            <a:r>
              <a:rPr lang="en-US" altLang="ko-KR" sz="1400" b="1" dirty="0"/>
              <a:t>, a </a:t>
            </a:r>
            <a:r>
              <a:rPr lang="en-US" altLang="ko-KR" sz="1400" b="1" dirty="0">
                <a:solidFill>
                  <a:srgbClr val="FF0000"/>
                </a:solidFill>
              </a:rPr>
              <a:t>desired replica count</a:t>
            </a:r>
            <a:r>
              <a:rPr lang="en-US" altLang="ko-KR" sz="1400" b="1" dirty="0"/>
              <a:t>, and a </a:t>
            </a:r>
            <a:r>
              <a:rPr lang="en-US" altLang="ko-KR" sz="1400" b="1" dirty="0">
                <a:solidFill>
                  <a:srgbClr val="FF0000"/>
                </a:solidFill>
              </a:rPr>
              <a:t>pod template</a:t>
            </a:r>
            <a:r>
              <a:rPr lang="en-US" altLang="ko-KR" sz="1400" dirty="0"/>
              <a:t>. In addition to that, it also contains a field, which specifies a </a:t>
            </a:r>
            <a:r>
              <a:rPr lang="en-US" altLang="ko-KR" sz="1400" b="1" dirty="0">
                <a:solidFill>
                  <a:srgbClr val="FF0000"/>
                </a:solidFill>
              </a:rPr>
              <a:t>deployment strategy </a:t>
            </a:r>
            <a:r>
              <a:rPr lang="en-US" altLang="ko-KR" sz="1400" b="1" dirty="0"/>
              <a:t>that defines how an update should be performed when the Deployment resource is modified</a:t>
            </a:r>
            <a:r>
              <a:rPr lang="en-US" altLang="ko-KR" sz="1400" dirty="0"/>
              <a:t>.</a:t>
            </a:r>
          </a:p>
          <a:p>
            <a:pPr lvl="1">
              <a:buFont typeface="Wingdings" panose="05000000000000000000" pitchFamily="2" charset="2"/>
              <a:buChar char="§"/>
            </a:pPr>
            <a:r>
              <a:rPr lang="en-US" altLang="ko-KR" sz="1400" dirty="0"/>
              <a:t>Let’s see how to use the </a:t>
            </a:r>
            <a:r>
              <a:rPr lang="en-US" altLang="ko-KR" sz="1400" b="1" dirty="0"/>
              <a:t>“kubia-v1” </a:t>
            </a:r>
            <a:r>
              <a:rPr lang="en-US" altLang="ko-KR" sz="1400" b="1" dirty="0" err="1"/>
              <a:t>ReplicationController</a:t>
            </a:r>
            <a:r>
              <a:rPr lang="en-US" altLang="ko-KR" sz="1400" b="1" dirty="0"/>
              <a:t> example </a:t>
            </a:r>
            <a:r>
              <a:rPr lang="en-US" altLang="ko-KR" sz="1400" dirty="0"/>
              <a:t>from earlier and </a:t>
            </a:r>
            <a:r>
              <a:rPr lang="en-US" altLang="ko-KR" sz="1400" b="1" dirty="0"/>
              <a:t>modify it so it describes a Deployment instead of a </a:t>
            </a:r>
            <a:r>
              <a:rPr lang="en-US" altLang="ko-KR" sz="1400" b="1" dirty="0" err="1"/>
              <a:t>ReplicationController</a:t>
            </a:r>
            <a:r>
              <a:rPr lang="en-US" altLang="ko-KR" sz="1400" dirty="0"/>
              <a:t>. As you’ll see, this requires only three trivial changes. The following listing shows the modified YAML.</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You’ll find an older version of the Deployment resource in “extensions/v1beta1”, and a newer one in “apps/v1beta2” or “apps/v1” with different required fields and different defaults</a:t>
            </a:r>
            <a:r>
              <a:rPr lang="en-US" altLang="ko-KR" sz="1400" dirty="0"/>
              <a:t>. Be aware that </a:t>
            </a:r>
            <a:r>
              <a:rPr lang="en-US" altLang="ko-KR" sz="1400" dirty="0" err="1"/>
              <a:t>kubectl</a:t>
            </a:r>
            <a:r>
              <a:rPr lang="en-US" altLang="ko-KR" sz="1400" dirty="0"/>
              <a:t> explain shows the older version.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37F8682-A407-F3F2-D3AC-6FF85B3D5CE5}"/>
              </a:ext>
            </a:extLst>
          </p:cNvPr>
          <p:cNvGrpSpPr/>
          <p:nvPr/>
        </p:nvGrpSpPr>
        <p:grpSpPr>
          <a:xfrm>
            <a:off x="3047326" y="2668609"/>
            <a:ext cx="6097348" cy="2862322"/>
            <a:chOff x="3047326" y="3037987"/>
            <a:chExt cx="6097348" cy="2862322"/>
          </a:xfrm>
        </p:grpSpPr>
        <p:sp>
          <p:nvSpPr>
            <p:cNvPr id="8" name="TextBox 7">
              <a:extLst>
                <a:ext uri="{FF2B5EF4-FFF2-40B4-BE49-F238E27FC236}">
                  <a16:creationId xmlns:a16="http://schemas.microsoft.com/office/drawing/2014/main" id="{A286EF8C-D162-0755-D296-A6772324B95F}"/>
                </a:ext>
              </a:extLst>
            </p:cNvPr>
            <p:cNvSpPr txBox="1"/>
            <p:nvPr/>
          </p:nvSpPr>
          <p:spPr>
            <a:xfrm>
              <a:off x="3047326" y="3037987"/>
              <a:ext cx="6097348"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a:t>
              </a:r>
              <a:r>
                <a:rPr lang="en-US" altLang="ko-KR" sz="1000" b="1" dirty="0">
                  <a:solidFill>
                    <a:srgbClr val="FF0000"/>
                  </a:solidFill>
                </a:rPr>
                <a:t>Deployment</a:t>
              </a:r>
            </a:p>
            <a:p>
              <a:r>
                <a:rPr lang="en-US" altLang="ko-KR" sz="1000" b="1" dirty="0"/>
                <a:t>metadata:</a:t>
              </a:r>
            </a:p>
            <a:p>
              <a:r>
                <a:rPr lang="en-US" altLang="ko-KR" sz="1000" b="1" dirty="0"/>
                <a:t>  </a:t>
              </a:r>
              <a:r>
                <a:rPr lang="en-US" altLang="ko-KR" sz="1000" b="1" dirty="0">
                  <a:solidFill>
                    <a:srgbClr val="FF0000"/>
                  </a:solidFill>
                </a:rPr>
                <a:t>name: </a:t>
              </a:r>
              <a:r>
                <a:rPr lang="en-US" altLang="ko-KR" sz="1000" b="1" dirty="0" err="1">
                  <a:solidFill>
                    <a:srgbClr val="FF0000"/>
                  </a:solidFill>
                </a:rPr>
                <a:t>kubia</a:t>
              </a:r>
              <a:endParaRPr lang="en-US" altLang="ko-KR" sz="1000" b="1" dirty="0">
                <a:solidFill>
                  <a:srgbClr val="FF0000"/>
                </a:solidFill>
              </a:endParaRPr>
            </a:p>
            <a:p>
              <a:r>
                <a:rPr lang="en-US" altLang="ko-KR" sz="1000" b="1" dirty="0"/>
                <a:t>spec:</a:t>
              </a:r>
            </a:p>
            <a:p>
              <a:r>
                <a:rPr lang="en-US" altLang="ko-KR" sz="1000" b="1" dirty="0"/>
                <a:t>  </a:t>
              </a:r>
              <a:r>
                <a:rPr lang="en-US" altLang="ko-KR" sz="1000" b="1" dirty="0">
                  <a:solidFill>
                    <a:srgbClr val="FF0000"/>
                  </a:solidFill>
                </a:rPr>
                <a:t>replicas: 3</a:t>
              </a:r>
            </a:p>
            <a:p>
              <a:r>
                <a:rPr lang="en-US" altLang="ko-KR" sz="1000" b="1" dirty="0"/>
                <a:t>  template:</a:t>
              </a:r>
            </a:p>
            <a:p>
              <a:r>
                <a:rPr lang="en-US" altLang="ko-KR" sz="1000" b="1" dirty="0"/>
                <a:t>    metadata:</a:t>
              </a:r>
            </a:p>
            <a:p>
              <a:r>
                <a:rPr lang="en-US" altLang="ko-KR" sz="1000" b="1" dirty="0"/>
                <a:t>      </a:t>
              </a:r>
              <a:r>
                <a:rPr lang="en-US" altLang="ko-KR" sz="1000" b="1" dirty="0">
                  <a:solidFill>
                    <a:srgbClr val="FF0000"/>
                  </a:solidFill>
                </a:rPr>
                <a:t>name: </a:t>
              </a:r>
              <a:r>
                <a:rPr lang="en-US" altLang="ko-KR" sz="1000" b="1" dirty="0" err="1">
                  <a:solidFill>
                    <a:srgbClr val="FF0000"/>
                  </a:solidFill>
                </a:rPr>
                <a:t>kubia</a:t>
              </a:r>
              <a:endParaRPr lang="en-US" altLang="ko-KR" sz="1000" b="1" dirty="0">
                <a:solidFill>
                  <a:srgbClr val="FF0000"/>
                </a:solidFill>
              </a:endParaRPr>
            </a:p>
            <a:p>
              <a:r>
                <a:rPr lang="en-US" altLang="ko-KR" sz="1000" b="1" dirty="0"/>
                <a:t>      </a:t>
              </a:r>
              <a:r>
                <a:rPr lang="en-US" altLang="ko-KR" sz="1000" b="1" dirty="0">
                  <a:solidFill>
                    <a:srgbClr val="FF0000"/>
                  </a:solidFill>
                </a:rPr>
                <a:t>labels:</a:t>
              </a:r>
            </a:p>
            <a:p>
              <a:r>
                <a:rPr lang="en-US" altLang="ko-KR" sz="1000" b="1" dirty="0">
                  <a:solidFill>
                    <a:srgbClr val="FF0000"/>
                  </a:solidFill>
                </a:rPr>
                <a:t>        app: </a:t>
              </a:r>
              <a:r>
                <a:rPr lang="en-US" altLang="ko-KR" sz="1000" b="1" dirty="0" err="1">
                  <a:solidFill>
                    <a:srgbClr val="FF0000"/>
                  </a:solidFill>
                </a:rPr>
                <a:t>kubia</a:t>
              </a:r>
              <a:endParaRPr lang="en-US" altLang="ko-KR" sz="1000" b="1" dirty="0">
                <a:solidFill>
                  <a:srgbClr val="FF0000"/>
                </a:solidFill>
              </a:endParaRPr>
            </a:p>
            <a:p>
              <a:r>
                <a:rPr lang="en-US" altLang="ko-KR" sz="1000" b="1" dirty="0"/>
                <a:t>    spec:</a:t>
              </a:r>
            </a:p>
            <a:p>
              <a:r>
                <a:rPr lang="en-US" altLang="ko-KR" sz="1000" b="1" dirty="0"/>
                <a:t>      containers:</a:t>
              </a:r>
            </a:p>
            <a:p>
              <a:r>
                <a:rPr lang="en-US" altLang="ko-KR" sz="1000" b="1" dirty="0"/>
                <a:t>      - image: </a:t>
              </a:r>
              <a:r>
                <a:rPr lang="en-US" altLang="ko-KR" sz="1000" b="1" dirty="0">
                  <a:solidFill>
                    <a:srgbClr val="FF0000"/>
                  </a:solidFill>
                </a:rPr>
                <a:t>knix008/kubia:v1</a:t>
              </a:r>
            </a:p>
            <a:p>
              <a:r>
                <a:rPr lang="en-US" altLang="ko-KR" sz="1000" b="1" dirty="0"/>
                <a:t>        name: </a:t>
              </a:r>
              <a:r>
                <a:rPr lang="en-US" altLang="ko-KR" sz="1000" b="1" dirty="0" err="1"/>
                <a:t>nodejs</a:t>
              </a:r>
              <a:endParaRPr lang="en-US" altLang="ko-KR" sz="1000" b="1" dirty="0"/>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t>
              </a:r>
              <a:r>
                <a:rPr lang="en-US" altLang="ko-KR" sz="1000" b="1" dirty="0">
                  <a:solidFill>
                    <a:srgbClr val="FF0000"/>
                  </a:solidFill>
                </a:rPr>
                <a:t>app: </a:t>
              </a:r>
              <a:r>
                <a:rPr lang="en-US" altLang="ko-KR" sz="1000" b="1" dirty="0" err="1">
                  <a:solidFill>
                    <a:srgbClr val="FF0000"/>
                  </a:solidFill>
                </a:rPr>
                <a:t>kubia</a:t>
              </a:r>
              <a:endParaRPr lang="ko-KR" altLang="en-US" sz="1000" b="1" dirty="0">
                <a:solidFill>
                  <a:srgbClr val="FF0000"/>
                </a:solidFill>
              </a:endParaRPr>
            </a:p>
          </p:txBody>
        </p:sp>
        <p:sp>
          <p:nvSpPr>
            <p:cNvPr id="9" name="TextBox 8">
              <a:extLst>
                <a:ext uri="{FF2B5EF4-FFF2-40B4-BE49-F238E27FC236}">
                  <a16:creationId xmlns:a16="http://schemas.microsoft.com/office/drawing/2014/main" id="{71C67046-8A43-4476-E353-A23AD0BE5A34}"/>
                </a:ext>
              </a:extLst>
            </p:cNvPr>
            <p:cNvSpPr txBox="1"/>
            <p:nvPr/>
          </p:nvSpPr>
          <p:spPr>
            <a:xfrm>
              <a:off x="7320136" y="3037987"/>
              <a:ext cx="1824538" cy="246221"/>
            </a:xfrm>
            <a:prstGeom prst="rect">
              <a:avLst/>
            </a:prstGeom>
            <a:noFill/>
          </p:spPr>
          <p:txBody>
            <a:bodyPr wrap="none" rtlCol="0">
              <a:spAutoFit/>
            </a:bodyPr>
            <a:lstStyle/>
            <a:p>
              <a:pPr algn="l"/>
              <a:r>
                <a:rPr lang="en-US" altLang="ko-KR" sz="1000" b="1" dirty="0"/>
                <a:t>kubia-deployment-v1.yaml</a:t>
              </a:r>
              <a:endParaRPr lang="ko-KR" altLang="en-US" sz="1000" b="1" dirty="0"/>
            </a:p>
          </p:txBody>
        </p:sp>
      </p:grpSp>
    </p:spTree>
    <p:extLst>
      <p:ext uri="{BB962C8B-B14F-4D97-AF65-F5344CB8AC3E}">
        <p14:creationId xmlns:p14="http://schemas.microsoft.com/office/powerpoint/2010/main" val="7101134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Deployment :</a:t>
            </a:r>
          </a:p>
          <a:p>
            <a:pPr lvl="1">
              <a:buFont typeface="Wingdings" panose="05000000000000000000" pitchFamily="2" charset="2"/>
              <a:buChar char="§"/>
            </a:pPr>
            <a:r>
              <a:rPr lang="en-US" altLang="ko-KR" sz="1400" b="1" dirty="0"/>
              <a:t>Because the </a:t>
            </a:r>
            <a:r>
              <a:rPr lang="en-US" altLang="ko-KR" sz="1400" b="1" dirty="0" err="1"/>
              <a:t>ReplicationController</a:t>
            </a:r>
            <a:r>
              <a:rPr lang="en-US" altLang="ko-KR" sz="1400" b="1" dirty="0"/>
              <a:t> from before was managing a specific version of the pods, you called it “kubia-v1”. A Deployment, on the other hand, is above that version stuff</a:t>
            </a:r>
            <a:r>
              <a:rPr lang="en-US" altLang="ko-KR" sz="1400" dirty="0"/>
              <a:t>. At a given point in time, the </a:t>
            </a:r>
            <a:r>
              <a:rPr lang="en-US" altLang="ko-KR" sz="1400" b="1" dirty="0">
                <a:solidFill>
                  <a:srgbClr val="FF0000"/>
                </a:solidFill>
              </a:rPr>
              <a:t>Deployment can have multiple pod versions </a:t>
            </a:r>
            <a:r>
              <a:rPr lang="en-US" altLang="ko-KR" sz="1400" b="1" dirty="0"/>
              <a:t>running under its wing, so </a:t>
            </a:r>
            <a:r>
              <a:rPr lang="en-US" altLang="ko-KR" sz="1400" b="1" dirty="0">
                <a:solidFill>
                  <a:srgbClr val="FF0000"/>
                </a:solidFill>
              </a:rPr>
              <a:t>its name shouldn’t reference the app version</a:t>
            </a:r>
            <a:r>
              <a:rPr lang="en-US" altLang="ko-KR" sz="1400" dirty="0"/>
              <a:t>.</a:t>
            </a:r>
          </a:p>
          <a:p>
            <a:pPr lvl="1">
              <a:buFont typeface="Wingdings" panose="05000000000000000000" pitchFamily="2" charset="2"/>
              <a:buChar char="§"/>
            </a:pPr>
            <a:r>
              <a:rPr lang="en-US" altLang="ko-KR" sz="1400" b="1" dirty="0"/>
              <a:t>Before you create this Deployment, make sure you delete any </a:t>
            </a:r>
            <a:r>
              <a:rPr lang="en-US" altLang="ko-KR" sz="1400" b="1" dirty="0" err="1"/>
              <a:t>ReplicationControllers</a:t>
            </a:r>
            <a:r>
              <a:rPr lang="en-US" altLang="ko-KR" sz="1400" b="1" dirty="0"/>
              <a:t> and pods that are still running, but </a:t>
            </a:r>
            <a:r>
              <a:rPr lang="en-US" altLang="ko-KR" sz="1400" b="1" dirty="0">
                <a:solidFill>
                  <a:srgbClr val="FF0000"/>
                </a:solidFill>
              </a:rPr>
              <a:t>keep the “</a:t>
            </a:r>
            <a:r>
              <a:rPr lang="en-US" altLang="ko-KR" sz="1400" b="1" dirty="0" err="1">
                <a:solidFill>
                  <a:srgbClr val="FF0000"/>
                </a:solidFill>
              </a:rPr>
              <a:t>kubia</a:t>
            </a:r>
            <a:r>
              <a:rPr lang="en-US" altLang="ko-KR" sz="1400" b="1" dirty="0">
                <a:solidFill>
                  <a:srgbClr val="FF0000"/>
                </a:solidFill>
              </a:rPr>
              <a:t>” Service for now</a:t>
            </a:r>
            <a:r>
              <a:rPr lang="en-US" altLang="ko-KR" sz="1400" dirty="0"/>
              <a:t>. You can use the “</a:t>
            </a:r>
            <a:r>
              <a:rPr lang="en-US" altLang="ko-KR" sz="1400" b="1" dirty="0">
                <a:solidFill>
                  <a:srgbClr val="FF0000"/>
                </a:solidFill>
              </a:rPr>
              <a:t>--all</a:t>
            </a:r>
            <a:r>
              <a:rPr lang="en-US" altLang="ko-KR" sz="1400" dirty="0"/>
              <a:t>” switch to delete all those </a:t>
            </a:r>
            <a:r>
              <a:rPr lang="en-US" altLang="ko-KR" sz="1400" b="1" dirty="0" err="1"/>
              <a:t>ReplicationControllers</a:t>
            </a:r>
            <a:r>
              <a:rPr lang="en-US" altLang="ko-KR" sz="1400" b="1" dirty="0"/>
              <a:t>(</a:t>
            </a:r>
            <a:r>
              <a:rPr lang="en-US" altLang="ko-KR" sz="1400" b="1" dirty="0" err="1"/>
              <a:t>rc</a:t>
            </a:r>
            <a:r>
              <a:rPr lang="en-US" altLang="ko-KR" sz="1400" b="1" dirty="0"/>
              <a:t>)</a:t>
            </a:r>
            <a:r>
              <a:rPr lang="en-US" altLang="ko-KR" sz="1400" dirty="0"/>
              <a:t>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You’re now ready to create the Deployment: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Be sure to include the “</a:t>
            </a:r>
            <a:r>
              <a:rPr lang="en-US" altLang="ko-KR" sz="1400" b="1" dirty="0">
                <a:solidFill>
                  <a:srgbClr val="FF0000"/>
                </a:solidFill>
              </a:rPr>
              <a:t>--record</a:t>
            </a:r>
            <a:r>
              <a:rPr lang="en-US" altLang="ko-KR" sz="1400" b="1" dirty="0"/>
              <a:t>” command-line option when creating it. This records the command in the revision history</a:t>
            </a:r>
            <a:r>
              <a:rPr lang="en-US" altLang="ko-KR" sz="1400" dirty="0"/>
              <a:t>, which will be useful later. </a:t>
            </a:r>
            <a:r>
              <a:rPr lang="en-US" altLang="ko-KR" sz="1400" b="1" dirty="0"/>
              <a:t>But, it is deprecated now(2022.12)</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894B8E9-1F3C-EB3B-A8FE-A933DCE46B50}"/>
              </a:ext>
            </a:extLst>
          </p:cNvPr>
          <p:cNvSpPr txBox="1"/>
          <p:nvPr/>
        </p:nvSpPr>
        <p:spPr>
          <a:xfrm>
            <a:off x="3047326" y="265256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err="1"/>
              <a:t>rc</a:t>
            </a:r>
            <a:r>
              <a:rPr lang="en-US" altLang="ko-KR" sz="1000" b="1" dirty="0"/>
              <a:t> </a:t>
            </a:r>
            <a:r>
              <a:rPr lang="en-US" altLang="ko-KR" sz="1000" b="1" dirty="0">
                <a:solidFill>
                  <a:srgbClr val="FF0000"/>
                </a:solidFill>
              </a:rPr>
              <a:t>--all</a:t>
            </a:r>
          </a:p>
        </p:txBody>
      </p:sp>
      <p:grpSp>
        <p:nvGrpSpPr>
          <p:cNvPr id="14" name="그룹 13">
            <a:extLst>
              <a:ext uri="{FF2B5EF4-FFF2-40B4-BE49-F238E27FC236}">
                <a16:creationId xmlns:a16="http://schemas.microsoft.com/office/drawing/2014/main" id="{552EF385-6DD4-5599-AD7E-D7AF60D61280}"/>
              </a:ext>
            </a:extLst>
          </p:cNvPr>
          <p:cNvGrpSpPr/>
          <p:nvPr/>
        </p:nvGrpSpPr>
        <p:grpSpPr>
          <a:xfrm>
            <a:off x="1469041" y="3393756"/>
            <a:ext cx="9253917" cy="2481434"/>
            <a:chOff x="1469041" y="3393756"/>
            <a:chExt cx="9253917" cy="2481434"/>
          </a:xfrm>
        </p:grpSpPr>
        <p:sp>
          <p:nvSpPr>
            <p:cNvPr id="10" name="TextBox 9">
              <a:extLst>
                <a:ext uri="{FF2B5EF4-FFF2-40B4-BE49-F238E27FC236}">
                  <a16:creationId xmlns:a16="http://schemas.microsoft.com/office/drawing/2014/main" id="{9138C671-4ADB-AC10-93E3-6E9F81A70C03}"/>
                </a:ext>
              </a:extLst>
            </p:cNvPr>
            <p:cNvSpPr txBox="1"/>
            <p:nvPr/>
          </p:nvSpPr>
          <p:spPr>
            <a:xfrm>
              <a:off x="3047326" y="339375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kubia-deployment-v1.yaml --record</a:t>
              </a:r>
              <a:endParaRPr lang="ko-KR" altLang="en-US" sz="1000" b="1" dirty="0">
                <a:solidFill>
                  <a:srgbClr val="FF0000"/>
                </a:solidFill>
              </a:endParaRPr>
            </a:p>
          </p:txBody>
        </p:sp>
        <p:pic>
          <p:nvPicPr>
            <p:cNvPr id="12" name="그림 11">
              <a:extLst>
                <a:ext uri="{FF2B5EF4-FFF2-40B4-BE49-F238E27FC236}">
                  <a16:creationId xmlns:a16="http://schemas.microsoft.com/office/drawing/2014/main" id="{8F447808-7A83-F726-7C1A-EF9CF13634D5}"/>
                </a:ext>
              </a:extLst>
            </p:cNvPr>
            <p:cNvPicPr>
              <a:picLocks noChangeAspect="1"/>
            </p:cNvPicPr>
            <p:nvPr/>
          </p:nvPicPr>
          <p:blipFill>
            <a:blip r:embed="rId2"/>
            <a:stretch>
              <a:fillRect/>
            </a:stretch>
          </p:blipFill>
          <p:spPr>
            <a:xfrm>
              <a:off x="1469041" y="3870175"/>
              <a:ext cx="9253917" cy="2005015"/>
            </a:xfrm>
            <a:prstGeom prst="rect">
              <a:avLst/>
            </a:prstGeom>
          </p:spPr>
        </p:pic>
        <p:sp>
          <p:nvSpPr>
            <p:cNvPr id="13" name="화살표: 아래쪽 12">
              <a:extLst>
                <a:ext uri="{FF2B5EF4-FFF2-40B4-BE49-F238E27FC236}">
                  <a16:creationId xmlns:a16="http://schemas.microsoft.com/office/drawing/2014/main" id="{7FF49F1B-7876-68DA-7FA8-F4BECAB6F924}"/>
                </a:ext>
              </a:extLst>
            </p:cNvPr>
            <p:cNvSpPr/>
            <p:nvPr/>
          </p:nvSpPr>
          <p:spPr>
            <a:xfrm>
              <a:off x="5881560" y="3639977"/>
              <a:ext cx="428878" cy="23019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26093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Declaratively(4/39)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Deployment :</a:t>
            </a:r>
          </a:p>
          <a:p>
            <a:pPr lvl="1">
              <a:buFont typeface="Wingdings" panose="05000000000000000000" pitchFamily="2" charset="2"/>
              <a:buChar char="§"/>
            </a:pPr>
            <a:r>
              <a:rPr lang="en-US" altLang="ko-KR" sz="1400" dirty="0"/>
              <a:t>You can use the usual “$ </a:t>
            </a:r>
            <a:r>
              <a:rPr lang="en-US" altLang="ko-KR" sz="1400" b="1" dirty="0" err="1"/>
              <a:t>kubectl</a:t>
            </a:r>
            <a:r>
              <a:rPr lang="en-US" altLang="ko-KR" sz="1400" b="1" dirty="0"/>
              <a:t> get deployment</a:t>
            </a:r>
            <a:r>
              <a:rPr lang="en-US" altLang="ko-KR" sz="1400" dirty="0"/>
              <a:t>” and the “</a:t>
            </a:r>
            <a:r>
              <a:rPr lang="en-US" altLang="ko-KR" sz="1400" b="1" dirty="0"/>
              <a:t>$ </a:t>
            </a:r>
            <a:r>
              <a:rPr lang="en-US" altLang="ko-KR" sz="1400" b="1" dirty="0" err="1"/>
              <a:t>kubectl</a:t>
            </a:r>
            <a:r>
              <a:rPr lang="en-US" altLang="ko-KR" sz="1400" b="1" dirty="0"/>
              <a:t> describe deployment</a:t>
            </a:r>
            <a:r>
              <a:rPr lang="en-US" altLang="ko-KR" sz="1400" dirty="0"/>
              <a:t>” commands to see details of the Deployment, but let me point you to an additional command, which is made specifically for checking a Deployment’s status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According to the above screenshot, </a:t>
            </a:r>
            <a:r>
              <a:rPr lang="en-US" altLang="ko-KR" sz="1400" b="1" dirty="0"/>
              <a:t>the Deployment has been successfully </a:t>
            </a:r>
            <a:r>
              <a:rPr lang="en-US" altLang="ko-KR" sz="1400" b="1" dirty="0">
                <a:solidFill>
                  <a:srgbClr val="FF0000"/>
                </a:solidFill>
              </a:rPr>
              <a:t>rolled out</a:t>
            </a:r>
            <a:r>
              <a:rPr lang="en-US" altLang="ko-KR" sz="1400" dirty="0"/>
              <a:t>, so you should see </a:t>
            </a:r>
            <a:r>
              <a:rPr lang="en-US" altLang="ko-KR" sz="1400" b="1" dirty="0"/>
              <a:t>the three pod replicas up and running</a:t>
            </a:r>
            <a:r>
              <a:rPr lang="en-US" altLang="ko-KR" sz="1400" dirty="0"/>
              <a:t>. </a:t>
            </a:r>
          </a:p>
          <a:p>
            <a:pPr lvl="1">
              <a:buFont typeface="Wingdings" panose="05000000000000000000" pitchFamily="2" charset="2"/>
              <a:buChar char="§"/>
            </a:pPr>
            <a:r>
              <a:rPr lang="en-US" altLang="ko-KR" sz="1400" b="1" dirty="0"/>
              <a:t>NOTE : Here you already created “Ingress” using “$ </a:t>
            </a:r>
            <a:r>
              <a:rPr lang="en-US" altLang="ko-KR" sz="1400" b="1" dirty="0" err="1"/>
              <a:t>kubectl</a:t>
            </a:r>
            <a:r>
              <a:rPr lang="en-US" altLang="ko-KR" sz="1400" b="1" dirty="0"/>
              <a:t> create -f </a:t>
            </a:r>
            <a:r>
              <a:rPr lang="en-US" altLang="ko-KR" sz="1400" b="1" dirty="0" err="1"/>
              <a:t>kubia-ingress.yaml</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id="{884F10BD-8679-7FC5-F166-DE0132EC6C1C}"/>
              </a:ext>
            </a:extLst>
          </p:cNvPr>
          <p:cNvSpPr/>
          <p:nvPr/>
        </p:nvSpPr>
        <p:spPr>
          <a:xfrm>
            <a:off x="5324559" y="3083065"/>
            <a:ext cx="2783660"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그룹 19">
            <a:extLst>
              <a:ext uri="{FF2B5EF4-FFF2-40B4-BE49-F238E27FC236}">
                <a16:creationId xmlns:a16="http://schemas.microsoft.com/office/drawing/2014/main" id="{35DFBC13-229A-52EA-5E13-F04D1AD739E3}"/>
              </a:ext>
            </a:extLst>
          </p:cNvPr>
          <p:cNvGrpSpPr/>
          <p:nvPr/>
        </p:nvGrpSpPr>
        <p:grpSpPr>
          <a:xfrm>
            <a:off x="934967" y="2090925"/>
            <a:ext cx="10322065" cy="2676150"/>
            <a:chOff x="934967" y="2090925"/>
            <a:chExt cx="10322065" cy="2676150"/>
          </a:xfrm>
        </p:grpSpPr>
        <p:grpSp>
          <p:nvGrpSpPr>
            <p:cNvPr id="17" name="그룹 16">
              <a:extLst>
                <a:ext uri="{FF2B5EF4-FFF2-40B4-BE49-F238E27FC236}">
                  <a16:creationId xmlns:a16="http://schemas.microsoft.com/office/drawing/2014/main" id="{1797487E-398D-E851-0505-8139C13492D4}"/>
                </a:ext>
              </a:extLst>
            </p:cNvPr>
            <p:cNvGrpSpPr/>
            <p:nvPr/>
          </p:nvGrpSpPr>
          <p:grpSpPr>
            <a:xfrm>
              <a:off x="934967" y="2090925"/>
              <a:ext cx="10322065" cy="2676150"/>
              <a:chOff x="934967" y="1967815"/>
              <a:chExt cx="10322065" cy="2676150"/>
            </a:xfrm>
          </p:grpSpPr>
          <p:grpSp>
            <p:nvGrpSpPr>
              <p:cNvPr id="12" name="그룹 11">
                <a:extLst>
                  <a:ext uri="{FF2B5EF4-FFF2-40B4-BE49-F238E27FC236}">
                    <a16:creationId xmlns:a16="http://schemas.microsoft.com/office/drawing/2014/main" id="{3C01C125-9EA1-2A22-D659-DF3E61BE34DB}"/>
                  </a:ext>
                </a:extLst>
              </p:cNvPr>
              <p:cNvGrpSpPr/>
              <p:nvPr/>
            </p:nvGrpSpPr>
            <p:grpSpPr>
              <a:xfrm>
                <a:off x="3047326" y="1967815"/>
                <a:ext cx="6097348" cy="521350"/>
                <a:chOff x="3047326" y="1830251"/>
                <a:chExt cx="6097348" cy="521350"/>
              </a:xfrm>
            </p:grpSpPr>
            <p:sp>
              <p:nvSpPr>
                <p:cNvPr id="8" name="TextBox 7">
                  <a:extLst>
                    <a:ext uri="{FF2B5EF4-FFF2-40B4-BE49-F238E27FC236}">
                      <a16:creationId xmlns:a16="http://schemas.microsoft.com/office/drawing/2014/main" id="{4973156F-E270-CB6B-311A-B0FCDB50320A}"/>
                    </a:ext>
                  </a:extLst>
                </p:cNvPr>
                <p:cNvSpPr txBox="1"/>
                <p:nvPr/>
              </p:nvSpPr>
              <p:spPr>
                <a:xfrm>
                  <a:off x="3047326" y="1830251"/>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status deployment </a:t>
                  </a:r>
                  <a:r>
                    <a:rPr lang="en-US" altLang="ko-KR" sz="1000" b="1" dirty="0" err="1">
                      <a:solidFill>
                        <a:srgbClr val="FF0000"/>
                      </a:solidFill>
                    </a:rPr>
                    <a:t>kubia</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E6185882-8BEF-398E-6CA3-B34ED69BBCED}"/>
                    </a:ext>
                  </a:extLst>
                </p:cNvPr>
                <p:cNvSpPr/>
                <p:nvPr/>
              </p:nvSpPr>
              <p:spPr>
                <a:xfrm>
                  <a:off x="5866726" y="2076472"/>
                  <a:ext cx="461246" cy="27512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6" name="그림 15">
                <a:extLst>
                  <a:ext uri="{FF2B5EF4-FFF2-40B4-BE49-F238E27FC236}">
                    <a16:creationId xmlns:a16="http://schemas.microsoft.com/office/drawing/2014/main" id="{34E680CE-1ED4-1009-20FB-823D14B521F8}"/>
                  </a:ext>
                </a:extLst>
              </p:cNvPr>
              <p:cNvPicPr>
                <a:picLocks noChangeAspect="1"/>
              </p:cNvPicPr>
              <p:nvPr/>
            </p:nvPicPr>
            <p:blipFill>
              <a:blip r:embed="rId2"/>
              <a:stretch>
                <a:fillRect/>
              </a:stretch>
            </p:blipFill>
            <p:spPr>
              <a:xfrm>
                <a:off x="934967" y="2502137"/>
                <a:ext cx="10322065" cy="2141828"/>
              </a:xfrm>
              <a:prstGeom prst="rect">
                <a:avLst/>
              </a:prstGeom>
            </p:spPr>
          </p:pic>
        </p:grpSp>
        <p:sp>
          <p:nvSpPr>
            <p:cNvPr id="19" name="직사각형 18">
              <a:extLst>
                <a:ext uri="{FF2B5EF4-FFF2-40B4-BE49-F238E27FC236}">
                  <a16:creationId xmlns:a16="http://schemas.microsoft.com/office/drawing/2014/main" id="{28D7B6D7-BE65-7AAE-E1AD-10321644D964}"/>
                </a:ext>
              </a:extLst>
            </p:cNvPr>
            <p:cNvSpPr/>
            <p:nvPr/>
          </p:nvSpPr>
          <p:spPr>
            <a:xfrm>
              <a:off x="1043873" y="3706152"/>
              <a:ext cx="1634591" cy="4450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561271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Declaratively(5/39)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Deployment :</a:t>
            </a:r>
          </a:p>
          <a:p>
            <a:pPr lvl="1">
              <a:buFont typeface="Wingdings" panose="05000000000000000000" pitchFamily="2" charset="2"/>
              <a:buChar char="§"/>
            </a:pPr>
            <a:r>
              <a:rPr lang="en-US" altLang="ko-KR" sz="1400" dirty="0"/>
              <a:t>Take note of the names of these pods. Earlier, when you used a </a:t>
            </a:r>
            <a:r>
              <a:rPr lang="en-US" altLang="ko-KR" sz="1400" dirty="0" err="1"/>
              <a:t>ReplicationController</a:t>
            </a:r>
            <a:r>
              <a:rPr lang="en-US" altLang="ko-KR" sz="1400" dirty="0"/>
              <a:t> to create pods, their names were composed of the name of the controller plus a randomly generated string (for example, “</a:t>
            </a:r>
            <a:r>
              <a:rPr lang="en-US" altLang="ko-KR" sz="1400" b="1" dirty="0"/>
              <a:t>kubia-v1-m33mv</a:t>
            </a:r>
            <a:r>
              <a:rPr lang="en-US" altLang="ko-KR" sz="1400" dirty="0"/>
              <a:t>”). </a:t>
            </a:r>
            <a:r>
              <a:rPr lang="en-US" altLang="ko-KR" sz="1400" b="1" dirty="0"/>
              <a:t>The three pods created by the Deployment include an additional numeric value in the middle of their names</a:t>
            </a:r>
            <a:r>
              <a:rPr lang="en-US" altLang="ko-KR" sz="1400" dirty="0"/>
              <a:t>.</a:t>
            </a:r>
          </a:p>
          <a:p>
            <a:pPr lvl="1">
              <a:buFont typeface="Wingdings" panose="05000000000000000000" pitchFamily="2" charset="2"/>
              <a:buChar char="§"/>
            </a:pPr>
            <a:r>
              <a:rPr lang="en-US" altLang="ko-KR" sz="1400" b="1" dirty="0"/>
              <a:t>The number corresponds to </a:t>
            </a:r>
            <a:r>
              <a:rPr lang="en-US" altLang="ko-KR" sz="1400" b="1" dirty="0">
                <a:solidFill>
                  <a:srgbClr val="FF0000"/>
                </a:solidFill>
              </a:rPr>
              <a:t>the hashed value of the pod template </a:t>
            </a:r>
            <a:r>
              <a:rPr lang="en-US" altLang="ko-KR" sz="1400" b="1" dirty="0"/>
              <a:t>in the Deployment and the </a:t>
            </a:r>
            <a:r>
              <a:rPr lang="en-US" altLang="ko-KR" sz="1400" b="1" dirty="0" err="1"/>
              <a:t>ReplicaSet</a:t>
            </a:r>
            <a:r>
              <a:rPr lang="en-US" altLang="ko-KR" sz="1400" b="1" dirty="0"/>
              <a:t> managing these pods</a:t>
            </a:r>
            <a:r>
              <a:rPr lang="en-US" altLang="ko-KR" sz="1400" dirty="0"/>
              <a:t>. As we said earlier, a Deployment doesn’t manage pods directly. Instead, it creates </a:t>
            </a:r>
            <a:r>
              <a:rPr lang="en-US" altLang="ko-KR" sz="1400" b="1" dirty="0" err="1"/>
              <a:t>ReplicaSets</a:t>
            </a:r>
            <a:r>
              <a:rPr lang="en-US" altLang="ko-KR" sz="1400" dirty="0"/>
              <a:t> and leaves the managing to them, so let’s look at the </a:t>
            </a:r>
            <a:r>
              <a:rPr lang="en-US" altLang="ko-KR" sz="1400" b="1" dirty="0" err="1"/>
              <a:t>ReplicaSet</a:t>
            </a:r>
            <a:r>
              <a:rPr lang="en-US" altLang="ko-KR" sz="1400" dirty="0"/>
              <a:t> created by your Deployment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a:t>
            </a:r>
            <a:r>
              <a:rPr lang="en-US" altLang="ko-KR" sz="1400" b="1" dirty="0" err="1"/>
              <a:t>ReplicaSet’s</a:t>
            </a:r>
            <a:r>
              <a:rPr lang="en-US" altLang="ko-KR" sz="1400" b="1" dirty="0"/>
              <a:t> name also contains the hash value of its pod template</a:t>
            </a:r>
            <a:r>
              <a:rPr lang="en-US" altLang="ko-KR" sz="1400" dirty="0"/>
              <a:t>. </a:t>
            </a:r>
            <a:r>
              <a:rPr lang="en-US" altLang="ko-KR" sz="1400" b="1" dirty="0"/>
              <a:t>As you’ll see later</a:t>
            </a:r>
            <a:r>
              <a:rPr lang="en-US" altLang="ko-KR" sz="1400" dirty="0"/>
              <a:t>, </a:t>
            </a:r>
            <a:r>
              <a:rPr lang="en-US" altLang="ko-KR" sz="1400" b="1" dirty="0"/>
              <a:t>a Deployment creates multiple </a:t>
            </a:r>
            <a:r>
              <a:rPr lang="en-US" altLang="ko-KR" sz="1400" b="1" dirty="0" err="1"/>
              <a:t>ReplicaSets</a:t>
            </a:r>
            <a:r>
              <a:rPr lang="en-US" altLang="ko-KR" sz="1400" b="1" dirty="0"/>
              <a:t>—one for each version of the pod template. Using </a:t>
            </a:r>
            <a:r>
              <a:rPr lang="en-US" altLang="ko-KR" sz="1400" b="1" dirty="0">
                <a:solidFill>
                  <a:srgbClr val="FF0000"/>
                </a:solidFill>
              </a:rPr>
              <a:t>the hash value of the pod </a:t>
            </a:r>
            <a:r>
              <a:rPr lang="en-US" altLang="ko-KR" sz="1400" b="1">
                <a:solidFill>
                  <a:srgbClr val="FF0000"/>
                </a:solidFill>
              </a:rPr>
              <a:t>template</a:t>
            </a:r>
            <a:r>
              <a:rPr lang="en-US" altLang="ko-KR" sz="1400" b="1"/>
              <a:t> </a:t>
            </a:r>
            <a:r>
              <a:rPr lang="en-US" altLang="ko-KR" sz="1400" b="1">
                <a:solidFill>
                  <a:srgbClr val="FF0000"/>
                </a:solidFill>
              </a:rPr>
              <a:t>allows </a:t>
            </a:r>
            <a:r>
              <a:rPr lang="en-US" altLang="ko-KR" sz="1400" b="1" dirty="0">
                <a:solidFill>
                  <a:srgbClr val="FF0000"/>
                </a:solidFill>
              </a:rPr>
              <a:t>the Deployment to always use the same (possibly existing) </a:t>
            </a:r>
            <a:r>
              <a:rPr lang="en-US" altLang="ko-KR" sz="1400" b="1" dirty="0" err="1">
                <a:solidFill>
                  <a:srgbClr val="FF0000"/>
                </a:solidFill>
              </a:rPr>
              <a:t>ReplicaSet</a:t>
            </a:r>
            <a:r>
              <a:rPr lang="en-US" altLang="ko-KR" sz="1400" b="1" dirty="0">
                <a:solidFill>
                  <a:srgbClr val="FF0000"/>
                </a:solidFill>
              </a:rPr>
              <a:t> for a given version of the pod template</a:t>
            </a:r>
            <a:r>
              <a:rPr lang="en-US" altLang="ko-KR" sz="1400" b="1" dirty="0"/>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F2B0CEDA-3A1B-9B32-1BBF-87B0F32B24C0}"/>
              </a:ext>
            </a:extLst>
          </p:cNvPr>
          <p:cNvGrpSpPr/>
          <p:nvPr/>
        </p:nvGrpSpPr>
        <p:grpSpPr>
          <a:xfrm>
            <a:off x="1112048" y="2696099"/>
            <a:ext cx="9967904" cy="2153045"/>
            <a:chOff x="1112048" y="2558534"/>
            <a:chExt cx="9967904" cy="2153045"/>
          </a:xfrm>
        </p:grpSpPr>
        <p:sp>
          <p:nvSpPr>
            <p:cNvPr id="8" name="TextBox 7">
              <a:extLst>
                <a:ext uri="{FF2B5EF4-FFF2-40B4-BE49-F238E27FC236}">
                  <a16:creationId xmlns:a16="http://schemas.microsoft.com/office/drawing/2014/main" id="{96CF0CEC-6562-366B-F997-976F04CFDA5C}"/>
                </a:ext>
              </a:extLst>
            </p:cNvPr>
            <p:cNvSpPr txBox="1"/>
            <p:nvPr/>
          </p:nvSpPr>
          <p:spPr>
            <a:xfrm>
              <a:off x="3047326" y="255853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replicasets</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4F5BA07E-335B-6903-0E54-E7F16C5B03FB}"/>
                </a:ext>
              </a:extLst>
            </p:cNvPr>
            <p:cNvSpPr/>
            <p:nvPr/>
          </p:nvSpPr>
          <p:spPr>
            <a:xfrm>
              <a:off x="5873469" y="2835671"/>
              <a:ext cx="445062" cy="26703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21F41C11-A4B9-924A-271B-EB7B5D600184}"/>
                </a:ext>
              </a:extLst>
            </p:cNvPr>
            <p:cNvPicPr>
              <a:picLocks noChangeAspect="1"/>
            </p:cNvPicPr>
            <p:nvPr/>
          </p:nvPicPr>
          <p:blipFill>
            <a:blip r:embed="rId2"/>
            <a:stretch>
              <a:fillRect/>
            </a:stretch>
          </p:blipFill>
          <p:spPr>
            <a:xfrm>
              <a:off x="1112048" y="3091795"/>
              <a:ext cx="9967904" cy="1619784"/>
            </a:xfrm>
            <a:prstGeom prst="rect">
              <a:avLst/>
            </a:prstGeom>
          </p:spPr>
        </p:pic>
        <p:sp>
          <p:nvSpPr>
            <p:cNvPr id="12" name="직사각형 11">
              <a:extLst>
                <a:ext uri="{FF2B5EF4-FFF2-40B4-BE49-F238E27FC236}">
                  <a16:creationId xmlns:a16="http://schemas.microsoft.com/office/drawing/2014/main" id="{2EFE1E8C-703F-C8BE-12A2-1C0AA89A634C}"/>
                </a:ext>
              </a:extLst>
            </p:cNvPr>
            <p:cNvSpPr/>
            <p:nvPr/>
          </p:nvSpPr>
          <p:spPr>
            <a:xfrm>
              <a:off x="5348835" y="3528127"/>
              <a:ext cx="1610315" cy="2190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0F47F360-A864-FF6F-706E-F78FB4851B23}"/>
                </a:ext>
              </a:extLst>
            </p:cNvPr>
            <p:cNvSpPr/>
            <p:nvPr/>
          </p:nvSpPr>
          <p:spPr>
            <a:xfrm>
              <a:off x="5348835" y="3957005"/>
              <a:ext cx="1043873" cy="2190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008061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Declaratively(6/39)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Deployment :</a:t>
            </a:r>
          </a:p>
          <a:p>
            <a:pPr lvl="1">
              <a:buFont typeface="Wingdings" panose="05000000000000000000" pitchFamily="2" charset="2"/>
              <a:buChar char="§"/>
            </a:pPr>
            <a:r>
              <a:rPr lang="en-US" altLang="ko-KR" sz="1400" b="1" dirty="0"/>
              <a:t>With the three replicas created by this </a:t>
            </a:r>
            <a:r>
              <a:rPr lang="en-US" altLang="ko-KR" sz="1400" b="1" dirty="0" err="1"/>
              <a:t>ReplicaSet</a:t>
            </a:r>
            <a:r>
              <a:rPr lang="en-US" altLang="ko-KR" sz="1400" b="1" dirty="0"/>
              <a:t> now running</a:t>
            </a:r>
            <a:r>
              <a:rPr lang="en-US" altLang="ko-KR" sz="1400" dirty="0"/>
              <a:t>, </a:t>
            </a:r>
            <a:r>
              <a:rPr lang="en-US" altLang="ko-KR" sz="1400" b="1" dirty="0"/>
              <a:t>you can use the Service you created a while ago to access them</a:t>
            </a:r>
            <a:r>
              <a:rPr lang="en-US" altLang="ko-KR" sz="1400" dirty="0"/>
              <a:t>, because you made </a:t>
            </a:r>
            <a:r>
              <a:rPr lang="en-US" altLang="ko-KR" sz="1400" b="1" dirty="0"/>
              <a:t>the new pods’ labels match </a:t>
            </a:r>
            <a:r>
              <a:rPr lang="en-US" altLang="ko-KR" sz="1400" b="1" dirty="0">
                <a:solidFill>
                  <a:srgbClr val="FF0000"/>
                </a:solidFill>
              </a:rPr>
              <a:t>the Service’s label selector</a:t>
            </a:r>
            <a:r>
              <a:rPr lang="en-US" altLang="ko-KR" sz="1400" dirty="0"/>
              <a:t>. Up until this point, you probably haven’t seen a good-enough reason why you should use Deployments over </a:t>
            </a:r>
            <a:r>
              <a:rPr lang="en-US" altLang="ko-KR" sz="1400" dirty="0" err="1"/>
              <a:t>ReplicationControllers</a:t>
            </a:r>
            <a:r>
              <a:rPr lang="en-US" altLang="ko-KR" sz="1400" dirty="0"/>
              <a:t>. Luckily, </a:t>
            </a:r>
            <a:r>
              <a:rPr lang="en-US" altLang="ko-KR" sz="1400" b="1" dirty="0"/>
              <a:t>creating a Deployment also hasn’t been any harder than creating a </a:t>
            </a:r>
            <a:r>
              <a:rPr lang="en-US" altLang="ko-KR" sz="1400" b="1" dirty="0" err="1"/>
              <a:t>ReplicationController</a:t>
            </a:r>
            <a:r>
              <a:rPr lang="en-US" altLang="ko-KR" sz="1400" dirty="0"/>
              <a:t>. </a:t>
            </a:r>
            <a:r>
              <a:rPr lang="en-US" altLang="ko-KR" sz="1400" b="1" dirty="0"/>
              <a:t>Now, you’ll start doing things with this Deployment, which will make it clear why Deployments are superior</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BD423E31-9A19-1F60-8247-9D2E3FD9082A}"/>
              </a:ext>
            </a:extLst>
          </p:cNvPr>
          <p:cNvGrpSpPr/>
          <p:nvPr/>
        </p:nvGrpSpPr>
        <p:grpSpPr>
          <a:xfrm>
            <a:off x="1206050" y="2531128"/>
            <a:ext cx="9779899" cy="2428675"/>
            <a:chOff x="1206050" y="2377380"/>
            <a:chExt cx="9779899" cy="2428675"/>
          </a:xfrm>
        </p:grpSpPr>
        <p:pic>
          <p:nvPicPr>
            <p:cNvPr id="8" name="그림 7">
              <a:extLst>
                <a:ext uri="{FF2B5EF4-FFF2-40B4-BE49-F238E27FC236}">
                  <a16:creationId xmlns:a16="http://schemas.microsoft.com/office/drawing/2014/main" id="{10909694-0519-B7FA-1A5A-7D36AEF7A45D}"/>
                </a:ext>
              </a:extLst>
            </p:cNvPr>
            <p:cNvPicPr>
              <a:picLocks noChangeAspect="1"/>
            </p:cNvPicPr>
            <p:nvPr/>
          </p:nvPicPr>
          <p:blipFill>
            <a:blip r:embed="rId2"/>
            <a:stretch>
              <a:fillRect/>
            </a:stretch>
          </p:blipFill>
          <p:spPr>
            <a:xfrm>
              <a:off x="1206050" y="2377380"/>
              <a:ext cx="9779899" cy="2428675"/>
            </a:xfrm>
            <a:prstGeom prst="rect">
              <a:avLst/>
            </a:prstGeom>
          </p:spPr>
        </p:pic>
        <p:sp>
          <p:nvSpPr>
            <p:cNvPr id="9" name="직사각형 8">
              <a:extLst>
                <a:ext uri="{FF2B5EF4-FFF2-40B4-BE49-F238E27FC236}">
                  <a16:creationId xmlns:a16="http://schemas.microsoft.com/office/drawing/2014/main" id="{0380E13B-8B10-5E87-9C9C-EF5A65D8FBEC}"/>
                </a:ext>
              </a:extLst>
            </p:cNvPr>
            <p:cNvSpPr/>
            <p:nvPr/>
          </p:nvSpPr>
          <p:spPr>
            <a:xfrm>
              <a:off x="5356927" y="3631138"/>
              <a:ext cx="1076241" cy="2206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475C67FD-C661-33B6-B9AF-E42B8F0FA0FF}"/>
                </a:ext>
              </a:extLst>
            </p:cNvPr>
            <p:cNvSpPr/>
            <p:nvPr/>
          </p:nvSpPr>
          <p:spPr>
            <a:xfrm>
              <a:off x="5356927" y="4186228"/>
              <a:ext cx="1545579" cy="2206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881102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Declaratively(7/39)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a:t>
            </a:r>
            <a:r>
              <a:rPr lang="ko-KR" altLang="en-US" sz="1800" b="1" dirty="0"/>
              <a:t> </a:t>
            </a:r>
            <a:r>
              <a:rPr lang="en-US" altLang="ko-KR" sz="1800" b="1" dirty="0"/>
              <a:t>a</a:t>
            </a:r>
            <a:r>
              <a:rPr lang="ko-KR" altLang="en-US" sz="1800" b="1" dirty="0"/>
              <a:t> </a:t>
            </a:r>
            <a:r>
              <a:rPr lang="en-US" altLang="ko-KR" sz="1800" b="1" dirty="0"/>
              <a:t>Deployment</a:t>
            </a:r>
            <a:r>
              <a:rPr lang="ko-KR" altLang="en-US" sz="1800" b="1" dirty="0"/>
              <a:t> </a:t>
            </a:r>
            <a:r>
              <a:rPr lang="en-US" altLang="ko-KR" sz="1800" b="1" dirty="0"/>
              <a:t>:</a:t>
            </a:r>
          </a:p>
          <a:p>
            <a:pPr lvl="1">
              <a:buFont typeface="Wingdings" panose="05000000000000000000" pitchFamily="2" charset="2"/>
              <a:buChar char="§"/>
            </a:pPr>
            <a:r>
              <a:rPr lang="en-US" altLang="ko-KR" sz="1400" dirty="0"/>
              <a:t>With </a:t>
            </a:r>
            <a:r>
              <a:rPr lang="en-US" altLang="ko-KR" sz="1400" b="1" dirty="0" err="1"/>
              <a:t>ReplicationController</a:t>
            </a:r>
            <a:r>
              <a:rPr lang="en-US" altLang="ko-KR" sz="1400" dirty="0"/>
              <a:t>, Kubernetes replaced all the original pods with new ones and deleted the original </a:t>
            </a:r>
            <a:r>
              <a:rPr lang="en-US" altLang="ko-KR" sz="1400" b="1" dirty="0" err="1"/>
              <a:t>ReplicationController</a:t>
            </a:r>
            <a:r>
              <a:rPr lang="en-US" altLang="ko-KR" sz="1400" dirty="0"/>
              <a:t> at the end of the process. During the process, you basically had to stay around, keeping your terminal open and waiting for “</a:t>
            </a:r>
            <a:r>
              <a:rPr lang="en-US" altLang="ko-KR" sz="1400" b="1" dirty="0" err="1"/>
              <a:t>kubectl</a:t>
            </a:r>
            <a:r>
              <a:rPr lang="en-US" altLang="ko-KR" sz="1400" dirty="0"/>
              <a:t>” to finish the </a:t>
            </a:r>
            <a:r>
              <a:rPr lang="en-US" altLang="ko-KR" sz="1400" b="1" dirty="0">
                <a:solidFill>
                  <a:srgbClr val="FF0000"/>
                </a:solidFill>
              </a:rPr>
              <a:t>update</a:t>
            </a:r>
            <a:r>
              <a:rPr lang="en-US" altLang="ko-KR" sz="1400" dirty="0"/>
              <a:t>. </a:t>
            </a:r>
          </a:p>
          <a:p>
            <a:pPr lvl="1">
              <a:buFont typeface="Wingdings" panose="05000000000000000000" pitchFamily="2" charset="2"/>
              <a:buChar char="§"/>
            </a:pPr>
            <a:r>
              <a:rPr lang="en-US" altLang="ko-KR" sz="1400" dirty="0"/>
              <a:t>Now compare this to how you’re about to update a Deployment. </a:t>
            </a:r>
            <a:r>
              <a:rPr lang="en-US" altLang="ko-KR" sz="1400" b="1" dirty="0"/>
              <a:t>The only thing you need to do is </a:t>
            </a:r>
            <a:r>
              <a:rPr lang="en-US" altLang="ko-KR" sz="1400" b="1" dirty="0">
                <a:solidFill>
                  <a:srgbClr val="FF0000"/>
                </a:solidFill>
              </a:rPr>
              <a:t>modify the pod template defined in the Deployment resource </a:t>
            </a:r>
            <a:r>
              <a:rPr lang="en-US" altLang="ko-KR" sz="1400" b="1" dirty="0"/>
              <a:t>and Kubernetes will take all the steps necessary to get the actual system state to what’s defined in the resource</a:t>
            </a:r>
            <a:r>
              <a:rPr lang="en-US" altLang="ko-KR" sz="1400" dirty="0"/>
              <a:t>. Similar to scaling a </a:t>
            </a:r>
            <a:r>
              <a:rPr lang="en-US" altLang="ko-KR" sz="1400" b="1" dirty="0" err="1"/>
              <a:t>ReplicationController</a:t>
            </a:r>
            <a:r>
              <a:rPr lang="en-US" altLang="ko-KR" sz="1400" dirty="0"/>
              <a:t> or </a:t>
            </a:r>
            <a:r>
              <a:rPr lang="en-US" altLang="ko-KR" sz="1400" b="1" dirty="0" err="1"/>
              <a:t>ReplicaSet</a:t>
            </a:r>
            <a:r>
              <a:rPr lang="en-US" altLang="ko-KR" sz="1400" dirty="0"/>
              <a:t> up or down, </a:t>
            </a:r>
            <a:r>
              <a:rPr lang="en-US" altLang="ko-KR" sz="1400" b="1" dirty="0"/>
              <a:t>all you need to do is reference a new image tag in the Deployment’s pod template </a:t>
            </a:r>
            <a:r>
              <a:rPr lang="en-US" altLang="ko-KR" sz="1400" dirty="0"/>
              <a:t>and </a:t>
            </a:r>
            <a:r>
              <a:rPr lang="en-US" altLang="ko-KR" sz="1400" b="1" dirty="0"/>
              <a:t>leave it to Kubernetes to transform your system so it matches the new </a:t>
            </a:r>
            <a:r>
              <a:rPr lang="en-US" altLang="ko-KR" sz="1400" b="1" dirty="0">
                <a:solidFill>
                  <a:srgbClr val="FF0000"/>
                </a:solidFill>
              </a:rPr>
              <a:t>desired</a:t>
            </a:r>
            <a:r>
              <a:rPr lang="en-US" altLang="ko-KR" sz="1400" b="1" dirty="0"/>
              <a:t> </a:t>
            </a:r>
            <a:r>
              <a:rPr lang="en-US" altLang="ko-KR" sz="1400" b="1" dirty="0">
                <a:solidFill>
                  <a:srgbClr val="FF0000"/>
                </a:solidFill>
              </a:rPr>
              <a:t>state</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81C7E67-1855-50CF-9608-0C0F79D5FFE6}"/>
              </a:ext>
            </a:extLst>
          </p:cNvPr>
          <p:cNvGrpSpPr/>
          <p:nvPr/>
        </p:nvGrpSpPr>
        <p:grpSpPr>
          <a:xfrm>
            <a:off x="4238625" y="3384071"/>
            <a:ext cx="3714750" cy="2972279"/>
            <a:chOff x="4238625" y="3384071"/>
            <a:chExt cx="3714750" cy="2972279"/>
          </a:xfrm>
        </p:grpSpPr>
        <p:pic>
          <p:nvPicPr>
            <p:cNvPr id="4" name="그림 3">
              <a:extLst>
                <a:ext uri="{FF2B5EF4-FFF2-40B4-BE49-F238E27FC236}">
                  <a16:creationId xmlns:a16="http://schemas.microsoft.com/office/drawing/2014/main" id="{3428DDA7-8A44-3304-ECC1-5B6453700259}"/>
                </a:ext>
              </a:extLst>
            </p:cNvPr>
            <p:cNvPicPr>
              <a:picLocks noChangeAspect="1"/>
            </p:cNvPicPr>
            <p:nvPr/>
          </p:nvPicPr>
          <p:blipFill>
            <a:blip r:embed="rId2"/>
            <a:stretch>
              <a:fillRect/>
            </a:stretch>
          </p:blipFill>
          <p:spPr>
            <a:xfrm>
              <a:off x="4238625" y="3851275"/>
              <a:ext cx="3714750" cy="2505075"/>
            </a:xfrm>
            <a:prstGeom prst="rect">
              <a:avLst/>
            </a:prstGeom>
          </p:spPr>
        </p:pic>
        <p:sp>
          <p:nvSpPr>
            <p:cNvPr id="9" name="순서도: 판단 8">
              <a:extLst>
                <a:ext uri="{FF2B5EF4-FFF2-40B4-BE49-F238E27FC236}">
                  <a16:creationId xmlns:a16="http://schemas.microsoft.com/office/drawing/2014/main" id="{7B26E24C-E0DC-9A2C-C7C9-B771502E9B3B}"/>
                </a:ext>
              </a:extLst>
            </p:cNvPr>
            <p:cNvSpPr/>
            <p:nvPr/>
          </p:nvSpPr>
          <p:spPr>
            <a:xfrm>
              <a:off x="4368350" y="3384071"/>
              <a:ext cx="3455299" cy="715301"/>
            </a:xfrm>
            <a:prstGeom prst="flowChartDecision">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163D9547-9EFB-F2BF-57FC-8D7951F9F577}"/>
                </a:ext>
              </a:extLst>
            </p:cNvPr>
            <p:cNvSpPr/>
            <p:nvPr/>
          </p:nvSpPr>
          <p:spPr>
            <a:xfrm>
              <a:off x="5252821" y="3517455"/>
              <a:ext cx="1686355" cy="400110"/>
            </a:xfrm>
            <a:prstGeom prst="rect">
              <a:avLst/>
            </a:prstGeom>
            <a:noFill/>
          </p:spPr>
          <p:txBody>
            <a:bodyPr wrap="square" lIns="91440" tIns="45720" rIns="91440" bIns="45720">
              <a:spAutoFit/>
            </a:bodyPr>
            <a:lstStyle/>
            <a:p>
              <a:pPr algn="ctr"/>
              <a:r>
                <a:rPr lang="en-US" altLang="ko-KR" sz="2000" b="0" cap="none" spc="0" dirty="0">
                  <a:ln w="0"/>
                  <a:solidFill>
                    <a:schemeClr val="tx1"/>
                  </a:solidFill>
                  <a:effectLst>
                    <a:outerShdw blurRad="38100" dist="19050" dir="2700000" algn="tl" rotWithShape="0">
                      <a:schemeClr val="dk1">
                        <a:alpha val="40000"/>
                      </a:schemeClr>
                    </a:outerShdw>
                  </a:effectLst>
                </a:rPr>
                <a:t>Service</a:t>
              </a:r>
            </a:p>
          </p:txBody>
        </p:sp>
      </p:grpSp>
    </p:spTree>
    <p:extLst>
      <p:ext uri="{BB962C8B-B14F-4D97-AF65-F5344CB8AC3E}">
        <p14:creationId xmlns:p14="http://schemas.microsoft.com/office/powerpoint/2010/main" val="11548459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Declaratively(8/39)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a:t>
            </a:r>
            <a:r>
              <a:rPr lang="ko-KR" altLang="en-US" sz="1800" b="1" dirty="0"/>
              <a:t> </a:t>
            </a:r>
            <a:r>
              <a:rPr lang="en-US" altLang="ko-KR" sz="1800" b="1" dirty="0"/>
              <a:t>a</a:t>
            </a:r>
            <a:r>
              <a:rPr lang="ko-KR" altLang="en-US" sz="1800" b="1" dirty="0"/>
              <a:t> </a:t>
            </a:r>
            <a:r>
              <a:rPr lang="en-US" altLang="ko-KR" sz="1800" b="1" dirty="0"/>
              <a:t>Deployment</a:t>
            </a:r>
            <a:r>
              <a:rPr lang="ko-KR" altLang="en-US" sz="1800" b="1" dirty="0"/>
              <a:t> </a:t>
            </a:r>
            <a:r>
              <a:rPr lang="en-US" altLang="ko-KR" sz="1800" b="1" dirty="0"/>
              <a:t>:</a:t>
            </a:r>
          </a:p>
          <a:p>
            <a:pPr lvl="1">
              <a:buFont typeface="Wingdings" panose="05000000000000000000" pitchFamily="2" charset="2"/>
              <a:buChar char="§"/>
            </a:pPr>
            <a:r>
              <a:rPr lang="en-US" altLang="ko-KR" sz="1400" dirty="0"/>
              <a:t>How this new state should be achieved is governed by </a:t>
            </a:r>
            <a:r>
              <a:rPr lang="en-US" altLang="ko-KR" sz="1400" b="1" dirty="0"/>
              <a:t>the deployment strategy </a:t>
            </a:r>
            <a:r>
              <a:rPr lang="en-US" altLang="ko-KR" sz="1400" dirty="0"/>
              <a:t>configured on the Deployment itself. </a:t>
            </a:r>
            <a:r>
              <a:rPr lang="en-US" altLang="ko-KR" sz="1400" b="1" dirty="0"/>
              <a:t>The default strategy is to perform a rolling update (the strategy is called </a:t>
            </a:r>
            <a:r>
              <a:rPr lang="en-US" altLang="ko-KR" sz="1400" b="1" dirty="0" err="1">
                <a:solidFill>
                  <a:srgbClr val="FF0000"/>
                </a:solidFill>
              </a:rPr>
              <a:t>RollingUpdate</a:t>
            </a:r>
            <a:r>
              <a:rPr lang="en-US" altLang="ko-KR" sz="1400" b="1" dirty="0"/>
              <a:t>)</a:t>
            </a:r>
            <a:r>
              <a:rPr lang="en-US" altLang="ko-KR" sz="1400" dirty="0"/>
              <a:t>. </a:t>
            </a:r>
            <a:r>
              <a:rPr lang="en-US" altLang="ko-KR" sz="1400" b="1" dirty="0"/>
              <a:t>The alternative is the </a:t>
            </a:r>
            <a:r>
              <a:rPr lang="en-US" altLang="ko-KR" sz="1400" b="1" dirty="0">
                <a:solidFill>
                  <a:srgbClr val="FF0000"/>
                </a:solidFill>
              </a:rPr>
              <a:t>Recreate</a:t>
            </a:r>
            <a:r>
              <a:rPr lang="en-US" altLang="ko-KR" sz="1400" b="1" dirty="0"/>
              <a:t> strategy</a:t>
            </a:r>
            <a:r>
              <a:rPr lang="en-US" altLang="ko-KR" sz="1400" dirty="0"/>
              <a:t>, which deletes all the old pods at once and then creates new ones, similar to modifying a </a:t>
            </a:r>
            <a:r>
              <a:rPr lang="en-US" altLang="ko-KR" sz="1400" b="1" dirty="0" err="1"/>
              <a:t>ReplicationController’s</a:t>
            </a:r>
            <a:r>
              <a:rPr lang="en-US" altLang="ko-KR" sz="1400" dirty="0"/>
              <a:t> pod template and then deleting all the pods. </a:t>
            </a:r>
          </a:p>
          <a:p>
            <a:pPr lvl="1">
              <a:buFont typeface="Wingdings" panose="05000000000000000000" pitchFamily="2" charset="2"/>
              <a:buChar char="§"/>
            </a:pPr>
            <a:r>
              <a:rPr lang="en-US" altLang="ko-KR" sz="1400" b="1" dirty="0"/>
              <a:t>The </a:t>
            </a:r>
            <a:r>
              <a:rPr lang="en-US" altLang="ko-KR" sz="1400" b="1" dirty="0">
                <a:solidFill>
                  <a:srgbClr val="FF0000"/>
                </a:solidFill>
              </a:rPr>
              <a:t>Recreate</a:t>
            </a:r>
            <a:r>
              <a:rPr lang="en-US" altLang="ko-KR" sz="1400" b="1" dirty="0"/>
              <a:t> strategy causes all old pods to be deleted before the new ones are created</a:t>
            </a:r>
            <a:r>
              <a:rPr lang="en-US" altLang="ko-KR" sz="1400" dirty="0"/>
              <a:t>. Use this strategy when your application doesn’t support running multiple versions in parallel and requires the old version to be stopped completely before the new one is started. </a:t>
            </a:r>
            <a:r>
              <a:rPr lang="en-US" altLang="ko-KR" sz="1400" b="1" dirty="0"/>
              <a:t>This strategy does involve a short period of time when your app becomes completely unavailable(downtime)</a:t>
            </a:r>
            <a:r>
              <a:rPr lang="en-US" altLang="ko-KR" sz="1400" dirty="0"/>
              <a:t>.</a:t>
            </a:r>
          </a:p>
          <a:p>
            <a:pPr lvl="1">
              <a:buFont typeface="Wingdings" panose="05000000000000000000" pitchFamily="2" charset="2"/>
              <a:buChar char="§"/>
            </a:pPr>
            <a:r>
              <a:rPr lang="en-US" altLang="ko-KR" sz="1400" b="1" dirty="0"/>
              <a:t>The </a:t>
            </a:r>
            <a:r>
              <a:rPr lang="en-US" altLang="ko-KR" sz="1400" b="1" dirty="0" err="1">
                <a:solidFill>
                  <a:srgbClr val="FF0000"/>
                </a:solidFill>
              </a:rPr>
              <a:t>RollingUpdate</a:t>
            </a:r>
            <a:r>
              <a:rPr lang="en-US" altLang="ko-KR" sz="1400" b="1" dirty="0">
                <a:solidFill>
                  <a:srgbClr val="FF0000"/>
                </a:solidFill>
              </a:rPr>
              <a:t> </a:t>
            </a:r>
            <a:r>
              <a:rPr lang="en-US" altLang="ko-KR" sz="1400" b="1" dirty="0"/>
              <a:t>strategy, on the other hand, removes old pods one by one, while adding new ones at the same time, keeping the application available throughout the whole process, and ensuring there’s no drop in its capacity to handle requests</a:t>
            </a:r>
            <a:r>
              <a:rPr lang="en-US" altLang="ko-KR" sz="1400" dirty="0"/>
              <a:t>. This is </a:t>
            </a:r>
            <a:r>
              <a:rPr lang="en-US" altLang="ko-KR" sz="1400" b="1" dirty="0"/>
              <a:t>the default strategy</a:t>
            </a:r>
            <a:r>
              <a:rPr lang="en-US" altLang="ko-KR" sz="1400" dirty="0"/>
              <a:t>. The upper and lower limits for the number of pods above or below the desired replica count are configurable. </a:t>
            </a:r>
            <a:r>
              <a:rPr lang="en-US" altLang="ko-KR" sz="1400" b="1" dirty="0"/>
              <a:t>You should use this strategy only when </a:t>
            </a:r>
            <a:r>
              <a:rPr lang="en-US" altLang="ko-KR" sz="1400" b="1" dirty="0">
                <a:solidFill>
                  <a:srgbClr val="FF0000"/>
                </a:solidFill>
              </a:rPr>
              <a:t>your app can handle running both the old and new version at the same time(compatible)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CABDEC9D-B21D-D0D6-B788-0AD21AD5DE7C}"/>
              </a:ext>
            </a:extLst>
          </p:cNvPr>
          <p:cNvGrpSpPr/>
          <p:nvPr/>
        </p:nvGrpSpPr>
        <p:grpSpPr>
          <a:xfrm>
            <a:off x="1905000" y="3980155"/>
            <a:ext cx="8382000" cy="2428875"/>
            <a:chOff x="1905000" y="3980155"/>
            <a:chExt cx="8382000" cy="2428875"/>
          </a:xfrm>
        </p:grpSpPr>
        <p:pic>
          <p:nvPicPr>
            <p:cNvPr id="4" name="그림 3">
              <a:extLst>
                <a:ext uri="{FF2B5EF4-FFF2-40B4-BE49-F238E27FC236}">
                  <a16:creationId xmlns:a16="http://schemas.microsoft.com/office/drawing/2014/main" id="{A4A41D00-B8F8-9659-C7DA-C9D447068F02}"/>
                </a:ext>
              </a:extLst>
            </p:cNvPr>
            <p:cNvPicPr>
              <a:picLocks noChangeAspect="1"/>
            </p:cNvPicPr>
            <p:nvPr/>
          </p:nvPicPr>
          <p:blipFill>
            <a:blip r:embed="rId2"/>
            <a:stretch>
              <a:fillRect/>
            </a:stretch>
          </p:blipFill>
          <p:spPr>
            <a:xfrm>
              <a:off x="1905000" y="3980155"/>
              <a:ext cx="8382000" cy="2428875"/>
            </a:xfrm>
            <a:prstGeom prst="rect">
              <a:avLst/>
            </a:prstGeom>
          </p:spPr>
        </p:pic>
        <p:sp>
          <p:nvSpPr>
            <p:cNvPr id="8" name="TextBox 7">
              <a:extLst>
                <a:ext uri="{FF2B5EF4-FFF2-40B4-BE49-F238E27FC236}">
                  <a16:creationId xmlns:a16="http://schemas.microsoft.com/office/drawing/2014/main" id="{DD936E60-35DF-0321-D354-0D5C8A1C73DA}"/>
                </a:ext>
              </a:extLst>
            </p:cNvPr>
            <p:cNvSpPr txBox="1"/>
            <p:nvPr/>
          </p:nvSpPr>
          <p:spPr>
            <a:xfrm>
              <a:off x="5463455" y="3980155"/>
              <a:ext cx="1265090" cy="246221"/>
            </a:xfrm>
            <a:prstGeom prst="rect">
              <a:avLst/>
            </a:prstGeom>
            <a:noFill/>
          </p:spPr>
          <p:txBody>
            <a:bodyPr wrap="none" rtlCol="0">
              <a:spAutoFit/>
            </a:bodyPr>
            <a:lstStyle/>
            <a:p>
              <a:pPr algn="l"/>
              <a:r>
                <a:rPr lang="en-US" altLang="ko-KR" sz="1000" b="1" dirty="0"/>
                <a:t>Recreate Strategy</a:t>
              </a:r>
              <a:endParaRPr lang="ko-KR" altLang="en-US" sz="1000" b="1" dirty="0"/>
            </a:p>
          </p:txBody>
        </p:sp>
      </p:grpSp>
    </p:spTree>
    <p:extLst>
      <p:ext uri="{BB962C8B-B14F-4D97-AF65-F5344CB8AC3E}">
        <p14:creationId xmlns:p14="http://schemas.microsoft.com/office/powerpoint/2010/main" val="25374280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Declaratively(9/39)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a:t>
            </a:r>
            <a:r>
              <a:rPr lang="ko-KR" altLang="en-US" sz="1800" b="1" dirty="0"/>
              <a:t> </a:t>
            </a:r>
            <a:r>
              <a:rPr lang="en-US" altLang="ko-KR" sz="1800" b="1" dirty="0"/>
              <a:t>a</a:t>
            </a:r>
            <a:r>
              <a:rPr lang="ko-KR" altLang="en-US" sz="1800" b="1" dirty="0"/>
              <a:t> </a:t>
            </a:r>
            <a:r>
              <a:rPr lang="en-US" altLang="ko-KR" sz="1800" b="1" dirty="0"/>
              <a:t>Deployment :</a:t>
            </a:r>
          </a:p>
          <a:p>
            <a:pPr lvl="1">
              <a:buFont typeface="Wingdings" panose="05000000000000000000" pitchFamily="2" charset="2"/>
              <a:buChar char="§"/>
            </a:pPr>
            <a:r>
              <a:rPr lang="en-US" altLang="ko-KR" sz="1400" dirty="0"/>
              <a:t>In the next example, you’ll use </a:t>
            </a:r>
            <a:r>
              <a:rPr lang="en-US" altLang="ko-KR" sz="1400" b="1" dirty="0"/>
              <a:t>the </a:t>
            </a:r>
            <a:r>
              <a:rPr lang="en-US" altLang="ko-KR" sz="1400" b="1" dirty="0" err="1"/>
              <a:t>RollingUpdate</a:t>
            </a:r>
            <a:r>
              <a:rPr lang="en-US" altLang="ko-KR" sz="1400" b="1" dirty="0"/>
              <a:t> strategy</a:t>
            </a:r>
            <a:r>
              <a:rPr lang="en-US" altLang="ko-KR" sz="1400" dirty="0"/>
              <a:t>, but you need to slow down the update process a little, so you can see that </a:t>
            </a:r>
            <a:r>
              <a:rPr lang="en-US" altLang="ko-KR" sz="1400" b="1" dirty="0"/>
              <a:t>the update is indeed performed in a rolling fashion</a:t>
            </a:r>
            <a:r>
              <a:rPr lang="en-US" altLang="ko-KR" sz="1400" dirty="0"/>
              <a:t>. You can do that by setting the “</a:t>
            </a:r>
            <a:r>
              <a:rPr lang="en-US" altLang="ko-KR" sz="1400" b="1" dirty="0" err="1"/>
              <a:t>minReadySeconds</a:t>
            </a:r>
            <a:r>
              <a:rPr lang="en-US" altLang="ko-KR" sz="1400" dirty="0"/>
              <a:t>” attribute on the Deployment. For now, </a:t>
            </a:r>
            <a:r>
              <a:rPr lang="en-US" altLang="ko-KR" sz="1400" b="1" dirty="0"/>
              <a:t>set it to “10” seconds with the “</a:t>
            </a:r>
            <a:r>
              <a:rPr lang="en-US" altLang="ko-KR" sz="1400" b="1" dirty="0" err="1"/>
              <a:t>kubectl</a:t>
            </a:r>
            <a:r>
              <a:rPr lang="en-US" altLang="ko-KR" sz="1400" b="1" dirty="0"/>
              <a:t> patch” command</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a:t>
            </a:r>
            <a:r>
              <a:rPr lang="en-US" altLang="ko-KR" sz="1400" b="1" dirty="0" err="1">
                <a:solidFill>
                  <a:srgbClr val="FF0000"/>
                </a:solidFill>
              </a:rPr>
              <a:t>kubectl</a:t>
            </a:r>
            <a:r>
              <a:rPr lang="en-US" altLang="ko-KR" sz="1400" b="1" dirty="0">
                <a:solidFill>
                  <a:srgbClr val="FF0000"/>
                </a:solidFill>
              </a:rPr>
              <a:t> patch</a:t>
            </a:r>
            <a:r>
              <a:rPr lang="en-US" altLang="ko-KR" sz="1400" b="1" dirty="0"/>
              <a:t>” command is useful for </a:t>
            </a:r>
            <a:r>
              <a:rPr lang="en-US" altLang="ko-KR" sz="1400" b="1" dirty="0">
                <a:solidFill>
                  <a:srgbClr val="FF0000"/>
                </a:solidFill>
              </a:rPr>
              <a:t>modifying a single property or a limited number of properties of a resource </a:t>
            </a:r>
            <a:r>
              <a:rPr lang="en-US" altLang="ko-KR" sz="1400" b="1" dirty="0"/>
              <a:t>without having to edit its definition in a text editor</a:t>
            </a:r>
            <a:r>
              <a:rPr lang="en-US" altLang="ko-KR" sz="1400" dirty="0"/>
              <a:t>.</a:t>
            </a:r>
          </a:p>
          <a:p>
            <a:pPr lvl="1">
              <a:buFont typeface="Wingdings" panose="05000000000000000000" pitchFamily="2" charset="2"/>
              <a:buChar char="§"/>
            </a:pPr>
            <a:r>
              <a:rPr lang="en-US" altLang="ko-KR" sz="1400" b="1" dirty="0"/>
              <a:t>You used the patch command to change the spec of the Deployment</a:t>
            </a:r>
            <a:r>
              <a:rPr lang="en-US" altLang="ko-KR" sz="1400" dirty="0"/>
              <a:t>. This doesn’t cause any kind of update to the pods, because </a:t>
            </a:r>
            <a:r>
              <a:rPr lang="en-US" altLang="ko-KR" sz="1400" b="1" dirty="0"/>
              <a:t>you didn’t change the pod template</a:t>
            </a:r>
            <a:r>
              <a:rPr lang="en-US" altLang="ko-KR" sz="1400" dirty="0"/>
              <a:t>. </a:t>
            </a:r>
            <a:r>
              <a:rPr lang="en-US" altLang="ko-KR" sz="1400" b="1" dirty="0"/>
              <a:t>Changing other Deployment properties, like the desired replica count or the deployment strategy, also doesn’t trigger a rollout</a:t>
            </a:r>
            <a:r>
              <a:rPr lang="en-US" altLang="ko-KR" sz="1400" dirty="0"/>
              <a:t>, because it doesn’t affect the existing individual pods in any way.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F82CCBB-D36E-1A0E-CEDB-1B37FFAC60B4}"/>
              </a:ext>
            </a:extLst>
          </p:cNvPr>
          <p:cNvGrpSpPr/>
          <p:nvPr/>
        </p:nvGrpSpPr>
        <p:grpSpPr>
          <a:xfrm>
            <a:off x="1183690" y="2250102"/>
            <a:ext cx="9824620" cy="2062953"/>
            <a:chOff x="1183689" y="2031617"/>
            <a:chExt cx="9824620" cy="2062953"/>
          </a:xfrm>
        </p:grpSpPr>
        <p:sp>
          <p:nvSpPr>
            <p:cNvPr id="8" name="TextBox 7">
              <a:extLst>
                <a:ext uri="{FF2B5EF4-FFF2-40B4-BE49-F238E27FC236}">
                  <a16:creationId xmlns:a16="http://schemas.microsoft.com/office/drawing/2014/main" id="{D4DCCCE6-5D53-43B8-B292-EEC19958B496}"/>
                </a:ext>
              </a:extLst>
            </p:cNvPr>
            <p:cNvSpPr txBox="1"/>
            <p:nvPr/>
          </p:nvSpPr>
          <p:spPr>
            <a:xfrm>
              <a:off x="3047326" y="2031617"/>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patch</a:t>
              </a:r>
              <a:r>
                <a:rPr lang="en-US" altLang="ko-KR" sz="1000" b="1" dirty="0"/>
                <a:t> </a:t>
              </a:r>
              <a:r>
                <a:rPr lang="en-US" altLang="ko-KR" sz="1000" b="1" dirty="0">
                  <a:solidFill>
                    <a:srgbClr val="FF0000"/>
                  </a:solidFill>
                </a:rPr>
                <a:t>deployment</a:t>
              </a:r>
              <a:r>
                <a:rPr lang="en-US" altLang="ko-KR" sz="1000" b="1" dirty="0"/>
                <a:t> </a:t>
              </a:r>
              <a:r>
                <a:rPr lang="en-US" altLang="ko-KR" sz="1000" b="1" dirty="0" err="1">
                  <a:solidFill>
                    <a:srgbClr val="FF0000"/>
                  </a:solidFill>
                </a:rPr>
                <a:t>kubia</a:t>
              </a:r>
              <a:r>
                <a:rPr lang="en-US" altLang="ko-KR" sz="1000" b="1" dirty="0">
                  <a:solidFill>
                    <a:srgbClr val="FF0000"/>
                  </a:solidFill>
                </a:rPr>
                <a:t> -p '{"spec": {"</a:t>
              </a:r>
              <a:r>
                <a:rPr lang="en-US" altLang="ko-KR" sz="1000" b="1" dirty="0" err="1">
                  <a:solidFill>
                    <a:srgbClr val="FF0000"/>
                  </a:solidFill>
                </a:rPr>
                <a:t>minReadySeconds</a:t>
              </a:r>
              <a:r>
                <a:rPr lang="en-US" altLang="ko-KR" sz="1000" b="1" dirty="0">
                  <a:solidFill>
                    <a:srgbClr val="FF0000"/>
                  </a:solidFill>
                </a:rPr>
                <a:t>": 10}}'</a:t>
              </a:r>
            </a:p>
          </p:txBody>
        </p:sp>
        <p:sp>
          <p:nvSpPr>
            <p:cNvPr id="9" name="화살표: 아래쪽 8">
              <a:extLst>
                <a:ext uri="{FF2B5EF4-FFF2-40B4-BE49-F238E27FC236}">
                  <a16:creationId xmlns:a16="http://schemas.microsoft.com/office/drawing/2014/main" id="{A8C5A847-DDDF-F417-A16F-1CEAD3954962}"/>
                </a:ext>
              </a:extLst>
            </p:cNvPr>
            <p:cNvSpPr/>
            <p:nvPr/>
          </p:nvSpPr>
          <p:spPr>
            <a:xfrm>
              <a:off x="5901791" y="2292784"/>
              <a:ext cx="38841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95A3F345-DA16-D66E-5A43-DAF23FF66FC4}"/>
                </a:ext>
              </a:extLst>
            </p:cNvPr>
            <p:cNvPicPr>
              <a:picLocks noChangeAspect="1"/>
            </p:cNvPicPr>
            <p:nvPr/>
          </p:nvPicPr>
          <p:blipFill>
            <a:blip r:embed="rId2"/>
            <a:stretch>
              <a:fillRect/>
            </a:stretch>
          </p:blipFill>
          <p:spPr>
            <a:xfrm>
              <a:off x="1183689" y="2539005"/>
              <a:ext cx="9824620" cy="1555565"/>
            </a:xfrm>
            <a:prstGeom prst="rect">
              <a:avLst/>
            </a:prstGeom>
          </p:spPr>
        </p:pic>
      </p:grpSp>
    </p:spTree>
    <p:extLst>
      <p:ext uri="{BB962C8B-B14F-4D97-AF65-F5344CB8AC3E}">
        <p14:creationId xmlns:p14="http://schemas.microsoft.com/office/powerpoint/2010/main" val="12492060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Declaratively(10/39)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a:t>
            </a:r>
            <a:r>
              <a:rPr lang="ko-KR" altLang="en-US" sz="1800" b="1" dirty="0"/>
              <a:t> </a:t>
            </a:r>
            <a:r>
              <a:rPr lang="en-US" altLang="ko-KR" sz="1800" b="1" dirty="0"/>
              <a:t>a</a:t>
            </a:r>
            <a:r>
              <a:rPr lang="ko-KR" altLang="en-US" sz="1800" b="1" dirty="0"/>
              <a:t> </a:t>
            </a:r>
            <a:r>
              <a:rPr lang="en-US" altLang="ko-KR" sz="1800" b="1" dirty="0"/>
              <a:t>Deployment :</a:t>
            </a:r>
          </a:p>
          <a:p>
            <a:pPr lvl="1">
              <a:buFont typeface="Wingdings" panose="05000000000000000000" pitchFamily="2" charset="2"/>
              <a:buChar char="§"/>
            </a:pPr>
            <a:r>
              <a:rPr lang="en-US" altLang="ko-KR" sz="1400" dirty="0"/>
              <a:t>If you’d like to track the update process as it progresses, first </a:t>
            </a:r>
            <a:r>
              <a:rPr lang="en-US" altLang="ko-KR" sz="1400" b="1" dirty="0"/>
              <a:t>run the “curl” loop again in another terminal </a:t>
            </a:r>
            <a:r>
              <a:rPr lang="en-US" altLang="ko-KR" sz="1400" dirty="0"/>
              <a:t>to see what’s happening with the requests (don’t forget to replace the IP with the actual external IP of your service)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To trigger the actual rollout</a:t>
            </a:r>
            <a:r>
              <a:rPr lang="en-US" altLang="ko-KR" sz="1400" dirty="0"/>
              <a:t>, you’ll change the image used in the single pod container to “</a:t>
            </a:r>
            <a:r>
              <a:rPr lang="en-US" altLang="ko-KR" sz="1400" b="1" dirty="0"/>
              <a:t>knix008/kubia:v2</a:t>
            </a:r>
            <a:r>
              <a:rPr lang="en-US" altLang="ko-KR" sz="1400" dirty="0"/>
              <a:t>”. Instead of editing the whole YAML of the Deployment object or using the “patch” command to change the image, you’ll use </a:t>
            </a:r>
            <a:r>
              <a:rPr lang="en-US" altLang="ko-KR" sz="1400" b="1" dirty="0"/>
              <a:t>the “$ </a:t>
            </a:r>
            <a:r>
              <a:rPr lang="en-US" altLang="ko-KR" sz="1400" b="1" dirty="0" err="1"/>
              <a:t>kubectl</a:t>
            </a:r>
            <a:r>
              <a:rPr lang="en-US" altLang="ko-KR" sz="1400" b="1" dirty="0"/>
              <a:t> set image” command, which allows changing the image of any resource that contains a container (</a:t>
            </a:r>
            <a:r>
              <a:rPr lang="en-US" altLang="ko-KR" sz="1400" b="1" dirty="0" err="1"/>
              <a:t>ReplicationControllers</a:t>
            </a:r>
            <a:r>
              <a:rPr lang="en-US" altLang="ko-KR" sz="1400" b="1" dirty="0"/>
              <a:t>, </a:t>
            </a:r>
            <a:r>
              <a:rPr lang="en-US" altLang="ko-KR" sz="1400" b="1" dirty="0" err="1"/>
              <a:t>ReplicaSets</a:t>
            </a:r>
            <a:r>
              <a:rPr lang="en-US" altLang="ko-KR" sz="1400" b="1" dirty="0"/>
              <a:t>, Deployments, and so on)</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E16FCF36-6A20-1BA9-9999-C83752D9FF04}"/>
              </a:ext>
            </a:extLst>
          </p:cNvPr>
          <p:cNvGrpSpPr/>
          <p:nvPr/>
        </p:nvGrpSpPr>
        <p:grpSpPr>
          <a:xfrm>
            <a:off x="1141314" y="1886896"/>
            <a:ext cx="9909372" cy="2091003"/>
            <a:chOff x="1141314" y="1668410"/>
            <a:chExt cx="9909372" cy="2091003"/>
          </a:xfrm>
        </p:grpSpPr>
        <p:sp>
          <p:nvSpPr>
            <p:cNvPr id="8" name="TextBox 7">
              <a:extLst>
                <a:ext uri="{FF2B5EF4-FFF2-40B4-BE49-F238E27FC236}">
                  <a16:creationId xmlns:a16="http://schemas.microsoft.com/office/drawing/2014/main" id="{4CD5DABA-4C73-D03F-DB44-8CBF9414F7D1}"/>
                </a:ext>
              </a:extLst>
            </p:cNvPr>
            <p:cNvSpPr txBox="1"/>
            <p:nvPr/>
          </p:nvSpPr>
          <p:spPr>
            <a:xfrm>
              <a:off x="3047326" y="1668410"/>
              <a:ext cx="6097348" cy="246221"/>
            </a:xfrm>
            <a:prstGeom prst="rect">
              <a:avLst/>
            </a:prstGeom>
            <a:noFill/>
            <a:ln>
              <a:solidFill>
                <a:schemeClr val="bg1">
                  <a:lumMod val="50000"/>
                </a:schemeClr>
              </a:solidFill>
            </a:ln>
          </p:spPr>
          <p:txBody>
            <a:bodyPr wrap="square">
              <a:spAutoFit/>
            </a:bodyPr>
            <a:lstStyle/>
            <a:p>
              <a:r>
                <a:rPr lang="en-US" altLang="ko-KR" sz="1000" b="1" dirty="0"/>
                <a:t>$ while true; do curl </a:t>
              </a:r>
              <a:r>
                <a:rPr lang="en-US" altLang="ko-KR" sz="1000" b="1" dirty="0">
                  <a:solidFill>
                    <a:srgbClr val="FF0000"/>
                  </a:solidFill>
                </a:rPr>
                <a:t>http://kubia.example.com</a:t>
              </a:r>
              <a:r>
                <a:rPr lang="en-US" altLang="ko-KR" sz="1000" b="1" dirty="0"/>
                <a:t>; done</a:t>
              </a:r>
            </a:p>
          </p:txBody>
        </p:sp>
        <p:pic>
          <p:nvPicPr>
            <p:cNvPr id="10" name="그림 9">
              <a:extLst>
                <a:ext uri="{FF2B5EF4-FFF2-40B4-BE49-F238E27FC236}">
                  <a16:creationId xmlns:a16="http://schemas.microsoft.com/office/drawing/2014/main" id="{0353B9DA-6F3C-45B1-41FE-811558090CED}"/>
                </a:ext>
              </a:extLst>
            </p:cNvPr>
            <p:cNvPicPr>
              <a:picLocks noChangeAspect="1"/>
            </p:cNvPicPr>
            <p:nvPr/>
          </p:nvPicPr>
          <p:blipFill>
            <a:blip r:embed="rId2"/>
            <a:stretch>
              <a:fillRect/>
            </a:stretch>
          </p:blipFill>
          <p:spPr>
            <a:xfrm>
              <a:off x="1141314" y="2190429"/>
              <a:ext cx="9909372" cy="1568984"/>
            </a:xfrm>
            <a:prstGeom prst="rect">
              <a:avLst/>
            </a:prstGeom>
          </p:spPr>
        </p:pic>
        <p:sp>
          <p:nvSpPr>
            <p:cNvPr id="11" name="화살표: 아래쪽 10">
              <a:extLst>
                <a:ext uri="{FF2B5EF4-FFF2-40B4-BE49-F238E27FC236}">
                  <a16:creationId xmlns:a16="http://schemas.microsoft.com/office/drawing/2014/main" id="{DEF4F4A9-4198-59A2-21FD-9C4DD9F06E1A}"/>
                </a:ext>
              </a:extLst>
            </p:cNvPr>
            <p:cNvSpPr/>
            <p:nvPr/>
          </p:nvSpPr>
          <p:spPr>
            <a:xfrm>
              <a:off x="5893699" y="1944208"/>
              <a:ext cx="40460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210914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Declaratively(11/39)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a:t>
            </a:r>
            <a:r>
              <a:rPr lang="ko-KR" altLang="en-US" sz="1800" b="1" dirty="0"/>
              <a:t> </a:t>
            </a:r>
            <a:r>
              <a:rPr lang="en-US" altLang="ko-KR" sz="1800" b="1" dirty="0"/>
              <a:t>a</a:t>
            </a:r>
            <a:r>
              <a:rPr lang="ko-KR" altLang="en-US" sz="1800" b="1" dirty="0"/>
              <a:t> </a:t>
            </a:r>
            <a:r>
              <a:rPr lang="en-US" altLang="ko-KR" sz="1800" b="1" dirty="0"/>
              <a:t>Deployment :</a:t>
            </a:r>
          </a:p>
          <a:p>
            <a:pPr lvl="1">
              <a:buFont typeface="Wingdings" panose="05000000000000000000" pitchFamily="2" charset="2"/>
              <a:buChar char="§"/>
            </a:pPr>
            <a:r>
              <a:rPr lang="en-US" altLang="ko-KR" sz="1400" dirty="0"/>
              <a:t>You’ll use it to modify your Deployment like this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When you execute the above command, you’re updating the “</a:t>
            </a:r>
            <a:r>
              <a:rPr lang="en-US" altLang="ko-KR" sz="1400" b="1" dirty="0" err="1"/>
              <a:t>kubia</a:t>
            </a:r>
            <a:r>
              <a:rPr lang="en-US" altLang="ko-KR" sz="1400" b="1" dirty="0"/>
              <a:t>” Deployment’s pod template so the image used in its “</a:t>
            </a:r>
            <a:r>
              <a:rPr lang="en-US" altLang="ko-KR" sz="1400" b="1" dirty="0" err="1"/>
              <a:t>nodejs</a:t>
            </a:r>
            <a:r>
              <a:rPr lang="en-US" altLang="ko-KR" sz="1400" b="1" dirty="0"/>
              <a:t>” container is changed to “knix008/kubia:v2” (from :v1)</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EF74827F-F6EB-5D89-5874-20DBEED7309D}"/>
              </a:ext>
            </a:extLst>
          </p:cNvPr>
          <p:cNvGrpSpPr/>
          <p:nvPr/>
        </p:nvGrpSpPr>
        <p:grpSpPr>
          <a:xfrm>
            <a:off x="1190854" y="1395315"/>
            <a:ext cx="9810292" cy="4261813"/>
            <a:chOff x="1190854" y="1460051"/>
            <a:chExt cx="9810292" cy="4261813"/>
          </a:xfrm>
        </p:grpSpPr>
        <p:grpSp>
          <p:nvGrpSpPr>
            <p:cNvPr id="15" name="그룹 14">
              <a:extLst>
                <a:ext uri="{FF2B5EF4-FFF2-40B4-BE49-F238E27FC236}">
                  <a16:creationId xmlns:a16="http://schemas.microsoft.com/office/drawing/2014/main" id="{72799E39-888A-AAB4-E0A9-563FE0F7027A}"/>
                </a:ext>
              </a:extLst>
            </p:cNvPr>
            <p:cNvGrpSpPr/>
            <p:nvPr/>
          </p:nvGrpSpPr>
          <p:grpSpPr>
            <a:xfrm>
              <a:off x="1190854" y="1460051"/>
              <a:ext cx="9810292" cy="4261813"/>
              <a:chOff x="1190854" y="1481358"/>
              <a:chExt cx="9810292" cy="4261813"/>
            </a:xfrm>
          </p:grpSpPr>
          <p:grpSp>
            <p:nvGrpSpPr>
              <p:cNvPr id="12" name="그룹 11">
                <a:extLst>
                  <a:ext uri="{FF2B5EF4-FFF2-40B4-BE49-F238E27FC236}">
                    <a16:creationId xmlns:a16="http://schemas.microsoft.com/office/drawing/2014/main" id="{34422526-859E-830D-2913-1025CD2440B0}"/>
                  </a:ext>
                </a:extLst>
              </p:cNvPr>
              <p:cNvGrpSpPr/>
              <p:nvPr/>
            </p:nvGrpSpPr>
            <p:grpSpPr>
              <a:xfrm>
                <a:off x="1190854" y="1481358"/>
                <a:ext cx="9810292" cy="2701040"/>
                <a:chOff x="1190854" y="1481358"/>
                <a:chExt cx="9810292" cy="2701040"/>
              </a:xfrm>
            </p:grpSpPr>
            <p:sp>
              <p:nvSpPr>
                <p:cNvPr id="8" name="TextBox 7">
                  <a:extLst>
                    <a:ext uri="{FF2B5EF4-FFF2-40B4-BE49-F238E27FC236}">
                      <a16:creationId xmlns:a16="http://schemas.microsoft.com/office/drawing/2014/main" id="{19832C00-DB27-3016-323F-208CEB75F9B3}"/>
                    </a:ext>
                  </a:extLst>
                </p:cNvPr>
                <p:cNvSpPr txBox="1"/>
                <p:nvPr/>
              </p:nvSpPr>
              <p:spPr>
                <a:xfrm>
                  <a:off x="3047326" y="148135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set image deployment </a:t>
                  </a:r>
                  <a:r>
                    <a:rPr lang="en-US" altLang="ko-KR" sz="1000" b="1" dirty="0" err="1">
                      <a:solidFill>
                        <a:srgbClr val="FF0000"/>
                      </a:solidFill>
                    </a:rPr>
                    <a:t>kubia</a:t>
                  </a:r>
                  <a:r>
                    <a:rPr lang="en-US" altLang="ko-KR" sz="1000" b="1" dirty="0"/>
                    <a:t> </a:t>
                  </a:r>
                  <a:r>
                    <a:rPr lang="en-US" altLang="ko-KR" sz="1000" b="1" dirty="0" err="1">
                      <a:solidFill>
                        <a:srgbClr val="FF0000"/>
                      </a:solidFill>
                    </a:rPr>
                    <a:t>nodejs</a:t>
                  </a:r>
                  <a:r>
                    <a:rPr lang="en-US" altLang="ko-KR" sz="1000" b="1" dirty="0">
                      <a:solidFill>
                        <a:srgbClr val="FF0000"/>
                      </a:solidFill>
                    </a:rPr>
                    <a:t>=knix008/kubia:v2</a:t>
                  </a:r>
                </a:p>
              </p:txBody>
            </p:sp>
            <p:sp>
              <p:nvSpPr>
                <p:cNvPr id="9" name="화살표: 아래쪽 8">
                  <a:extLst>
                    <a:ext uri="{FF2B5EF4-FFF2-40B4-BE49-F238E27FC236}">
                      <a16:creationId xmlns:a16="http://schemas.microsoft.com/office/drawing/2014/main" id="{194F8698-AD97-B7A8-1C70-346158C6624A}"/>
                    </a:ext>
                  </a:extLst>
                </p:cNvPr>
                <p:cNvSpPr/>
                <p:nvPr/>
              </p:nvSpPr>
              <p:spPr>
                <a:xfrm>
                  <a:off x="5889653" y="1727579"/>
                  <a:ext cx="412694" cy="2670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1A803C17-A6DB-91F4-9537-5BBF542E98C2}"/>
                    </a:ext>
                  </a:extLst>
                </p:cNvPr>
                <p:cNvPicPr>
                  <a:picLocks noChangeAspect="1"/>
                </p:cNvPicPr>
                <p:nvPr/>
              </p:nvPicPr>
              <p:blipFill>
                <a:blip r:embed="rId2"/>
                <a:stretch>
                  <a:fillRect/>
                </a:stretch>
              </p:blipFill>
              <p:spPr>
                <a:xfrm>
                  <a:off x="1190854" y="2007783"/>
                  <a:ext cx="9810292" cy="2174615"/>
                </a:xfrm>
                <a:prstGeom prst="rect">
                  <a:avLst/>
                </a:prstGeom>
              </p:spPr>
            </p:pic>
          </p:grpSp>
          <p:pic>
            <p:nvPicPr>
              <p:cNvPr id="14" name="그림 13">
                <a:extLst>
                  <a:ext uri="{FF2B5EF4-FFF2-40B4-BE49-F238E27FC236}">
                    <a16:creationId xmlns:a16="http://schemas.microsoft.com/office/drawing/2014/main" id="{EF029AEC-BF94-73C7-68B8-F70E8FC68169}"/>
                  </a:ext>
                </a:extLst>
              </p:cNvPr>
              <p:cNvPicPr>
                <a:picLocks noChangeAspect="1"/>
              </p:cNvPicPr>
              <p:nvPr/>
            </p:nvPicPr>
            <p:blipFill>
              <a:blip r:embed="rId3"/>
              <a:stretch>
                <a:fillRect/>
              </a:stretch>
            </p:blipFill>
            <p:spPr>
              <a:xfrm>
                <a:off x="1190854" y="4189875"/>
                <a:ext cx="9810292" cy="1553296"/>
              </a:xfrm>
              <a:prstGeom prst="rect">
                <a:avLst/>
              </a:prstGeom>
            </p:spPr>
          </p:pic>
        </p:grpSp>
        <p:sp>
          <p:nvSpPr>
            <p:cNvPr id="16" name="직사각형 15">
              <a:extLst>
                <a:ext uri="{FF2B5EF4-FFF2-40B4-BE49-F238E27FC236}">
                  <a16:creationId xmlns:a16="http://schemas.microsoft.com/office/drawing/2014/main" id="{9D788797-C00E-69B8-5BEE-EDABDB9ED40B}"/>
                </a:ext>
              </a:extLst>
            </p:cNvPr>
            <p:cNvSpPr/>
            <p:nvPr/>
          </p:nvSpPr>
          <p:spPr>
            <a:xfrm>
              <a:off x="1213805" y="4596276"/>
              <a:ext cx="3358195" cy="6230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3A9599E6-D265-6C8C-F101-2AC4D2DA8F6A}"/>
                </a:ext>
              </a:extLst>
            </p:cNvPr>
            <p:cNvSpPr/>
            <p:nvPr/>
          </p:nvSpPr>
          <p:spPr>
            <a:xfrm>
              <a:off x="1221897" y="2985961"/>
              <a:ext cx="4199767" cy="8901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06811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Declaratively(12/39)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a:t>
            </a:r>
            <a:r>
              <a:rPr lang="ko-KR" altLang="en-US" sz="1800" b="1" dirty="0"/>
              <a:t> </a:t>
            </a:r>
            <a:r>
              <a:rPr lang="en-US" altLang="ko-KR" sz="1800" b="1" dirty="0"/>
              <a:t>a</a:t>
            </a:r>
            <a:r>
              <a:rPr lang="ko-KR" altLang="en-US" sz="1800" b="1" dirty="0"/>
              <a:t> </a:t>
            </a:r>
            <a:r>
              <a:rPr lang="en-US" altLang="ko-KR" sz="1800" b="1" dirty="0"/>
              <a:t>Deployment :</a:t>
            </a:r>
          </a:p>
          <a:p>
            <a:pPr lvl="1">
              <a:buFont typeface="Wingdings" panose="05000000000000000000" pitchFamily="2" charset="2"/>
              <a:buChar char="§"/>
            </a:pPr>
            <a:r>
              <a:rPr lang="en-US" altLang="ko-KR" sz="1400" dirty="0"/>
              <a:t>The following figure shows you what happened after the execution of the previous command.</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1" name="그림 10">
            <a:extLst>
              <a:ext uri="{FF2B5EF4-FFF2-40B4-BE49-F238E27FC236}">
                <a16:creationId xmlns:a16="http://schemas.microsoft.com/office/drawing/2014/main" id="{77700817-07FD-A41A-463A-5A59105E716C}"/>
              </a:ext>
            </a:extLst>
          </p:cNvPr>
          <p:cNvPicPr>
            <a:picLocks noChangeAspect="1"/>
          </p:cNvPicPr>
          <p:nvPr/>
        </p:nvPicPr>
        <p:blipFill>
          <a:blip r:embed="rId2"/>
          <a:stretch>
            <a:fillRect/>
          </a:stretch>
        </p:blipFill>
        <p:spPr>
          <a:xfrm>
            <a:off x="3922749" y="1372477"/>
            <a:ext cx="4346499" cy="1583483"/>
          </a:xfrm>
          <a:prstGeom prst="rect">
            <a:avLst/>
          </a:prstGeom>
        </p:spPr>
      </p:pic>
      <p:grpSp>
        <p:nvGrpSpPr>
          <p:cNvPr id="16" name="그룹 15">
            <a:extLst>
              <a:ext uri="{FF2B5EF4-FFF2-40B4-BE49-F238E27FC236}">
                <a16:creationId xmlns:a16="http://schemas.microsoft.com/office/drawing/2014/main" id="{57FE0D9F-984C-D434-3A14-6DE126220515}"/>
              </a:ext>
            </a:extLst>
          </p:cNvPr>
          <p:cNvGrpSpPr/>
          <p:nvPr/>
        </p:nvGrpSpPr>
        <p:grpSpPr>
          <a:xfrm>
            <a:off x="3833938" y="2955960"/>
            <a:ext cx="7506880" cy="3453070"/>
            <a:chOff x="3833938" y="2955960"/>
            <a:chExt cx="7506880" cy="3453070"/>
          </a:xfrm>
        </p:grpSpPr>
        <p:pic>
          <p:nvPicPr>
            <p:cNvPr id="13" name="그림 12">
              <a:extLst>
                <a:ext uri="{FF2B5EF4-FFF2-40B4-BE49-F238E27FC236}">
                  <a16:creationId xmlns:a16="http://schemas.microsoft.com/office/drawing/2014/main" id="{EDBF9E8E-0355-C60F-DD6A-E6D5927B9AFD}"/>
                </a:ext>
              </a:extLst>
            </p:cNvPr>
            <p:cNvPicPr>
              <a:picLocks noChangeAspect="1"/>
            </p:cNvPicPr>
            <p:nvPr/>
          </p:nvPicPr>
          <p:blipFill>
            <a:blip r:embed="rId3"/>
            <a:stretch>
              <a:fillRect/>
            </a:stretch>
          </p:blipFill>
          <p:spPr>
            <a:xfrm>
              <a:off x="3833938" y="2955960"/>
              <a:ext cx="4524122" cy="3453070"/>
            </a:xfrm>
            <a:prstGeom prst="rect">
              <a:avLst/>
            </a:prstGeom>
            <a:ln>
              <a:solidFill>
                <a:schemeClr val="bg1">
                  <a:lumMod val="50000"/>
                </a:schemeClr>
              </a:solidFill>
            </a:ln>
          </p:spPr>
        </p:pic>
        <p:sp>
          <p:nvSpPr>
            <p:cNvPr id="15" name="TextBox 14">
              <a:extLst>
                <a:ext uri="{FF2B5EF4-FFF2-40B4-BE49-F238E27FC236}">
                  <a16:creationId xmlns:a16="http://schemas.microsoft.com/office/drawing/2014/main" id="{DA91318D-002E-728A-1EAE-17664DDF587C}"/>
                </a:ext>
              </a:extLst>
            </p:cNvPr>
            <p:cNvSpPr txBox="1"/>
            <p:nvPr/>
          </p:nvSpPr>
          <p:spPr>
            <a:xfrm>
              <a:off x="8371041" y="5701144"/>
              <a:ext cx="2969777" cy="707886"/>
            </a:xfrm>
            <a:prstGeom prst="rect">
              <a:avLst/>
            </a:prstGeom>
            <a:noFill/>
          </p:spPr>
          <p:txBody>
            <a:bodyPr wrap="square">
              <a:spAutoFit/>
            </a:bodyPr>
            <a:lstStyle/>
            <a:p>
              <a:r>
                <a:rPr lang="en-US" altLang="ko-KR" sz="1000" b="1" dirty="0"/>
                <a:t>All these methods are equivalent as far as Deployments go. What they do is </a:t>
              </a:r>
              <a:r>
                <a:rPr lang="en-US" altLang="ko-KR" sz="1000" b="1" dirty="0">
                  <a:solidFill>
                    <a:srgbClr val="FF0000"/>
                  </a:solidFill>
                </a:rPr>
                <a:t>change the Deployment’s specification</a:t>
              </a:r>
              <a:r>
                <a:rPr lang="en-US" altLang="ko-KR" sz="1000" b="1" dirty="0"/>
                <a:t>. This change then </a:t>
              </a:r>
              <a:r>
                <a:rPr lang="en-US" altLang="ko-KR" sz="1000" b="1" dirty="0">
                  <a:solidFill>
                    <a:srgbClr val="FF0000"/>
                  </a:solidFill>
                </a:rPr>
                <a:t>triggers the rollout process</a:t>
              </a:r>
              <a:r>
                <a:rPr lang="en-US" altLang="ko-KR" sz="1000" b="1" dirty="0"/>
                <a:t>.</a:t>
              </a:r>
              <a:endParaRPr lang="ko-KR" altLang="en-US" sz="1000" b="1" dirty="0"/>
            </a:p>
          </p:txBody>
        </p:sp>
      </p:grpSp>
    </p:spTree>
    <p:extLst>
      <p:ext uri="{BB962C8B-B14F-4D97-AF65-F5344CB8AC3E}">
        <p14:creationId xmlns:p14="http://schemas.microsoft.com/office/powerpoint/2010/main" val="30007198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Declaratively(13/39)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a:t>
            </a:r>
            <a:r>
              <a:rPr lang="ko-KR" altLang="en-US" sz="1800" b="1" dirty="0"/>
              <a:t> </a:t>
            </a:r>
            <a:r>
              <a:rPr lang="en-US" altLang="ko-KR" sz="1800" b="1" dirty="0"/>
              <a:t>a</a:t>
            </a:r>
            <a:r>
              <a:rPr lang="ko-KR" altLang="en-US" sz="1800" b="1" dirty="0"/>
              <a:t> </a:t>
            </a:r>
            <a:r>
              <a:rPr lang="en-US" altLang="ko-KR" sz="1800" b="1" dirty="0"/>
              <a:t>Deployment :</a:t>
            </a:r>
          </a:p>
          <a:p>
            <a:pPr lvl="1">
              <a:buFont typeface="Wingdings" panose="05000000000000000000" pitchFamily="2" charset="2"/>
              <a:buChar char="§"/>
            </a:pPr>
            <a:r>
              <a:rPr lang="en-US" altLang="ko-KR" sz="1400" b="1" dirty="0"/>
              <a:t>By changing the pod template in your Deployment resource, you’ve updated your app to a newer version</a:t>
            </a:r>
            <a:r>
              <a:rPr lang="en-US" altLang="ko-KR" sz="1400" dirty="0"/>
              <a:t>. </a:t>
            </a:r>
          </a:p>
          <a:p>
            <a:pPr lvl="1">
              <a:buFont typeface="Wingdings" panose="05000000000000000000" pitchFamily="2" charset="2"/>
              <a:buChar char="§"/>
            </a:pPr>
            <a:r>
              <a:rPr lang="en-US" altLang="ko-KR" sz="1400" b="1" dirty="0">
                <a:solidFill>
                  <a:srgbClr val="FF0000"/>
                </a:solidFill>
              </a:rPr>
              <a:t>The controllers running as part of the Kubernetes control plane then performed the update</a:t>
            </a:r>
            <a:r>
              <a:rPr lang="en-US" altLang="ko-KR" sz="1400" dirty="0"/>
              <a:t>. </a:t>
            </a:r>
            <a:r>
              <a:rPr lang="en-US" altLang="ko-KR" sz="1400" b="1" dirty="0"/>
              <a:t>The process wasn’t performed by the </a:t>
            </a:r>
            <a:r>
              <a:rPr lang="en-US" altLang="ko-KR" sz="1400" b="1" dirty="0" err="1"/>
              <a:t>kubectl</a:t>
            </a:r>
            <a:r>
              <a:rPr lang="en-US" altLang="ko-KR" sz="1400" b="1" dirty="0"/>
              <a:t> client</a:t>
            </a:r>
            <a:r>
              <a:rPr lang="en-US" altLang="ko-KR" sz="1400" dirty="0"/>
              <a:t>. It is much simpler than having to run a special command telling Kubernetes what to do and then waiting around for the process to be completed.</a:t>
            </a:r>
          </a:p>
          <a:p>
            <a:pPr lvl="1">
              <a:buFont typeface="Wingdings" panose="05000000000000000000" pitchFamily="2" charset="2"/>
              <a:buChar char="§"/>
            </a:pPr>
            <a:r>
              <a:rPr lang="en-US" altLang="ko-KR" sz="1400" b="1" dirty="0"/>
              <a:t>NOTE : Be aware that if the pod template in the Deployment references a </a:t>
            </a:r>
            <a:r>
              <a:rPr lang="en-US" altLang="ko-KR" sz="1400" b="1" dirty="0" err="1"/>
              <a:t>ConfigMap</a:t>
            </a:r>
            <a:r>
              <a:rPr lang="en-US" altLang="ko-KR" sz="1400" b="1" dirty="0"/>
              <a:t> (or a Secret), modifying the </a:t>
            </a:r>
            <a:r>
              <a:rPr lang="en-US" altLang="ko-KR" sz="1400" b="1" dirty="0" err="1"/>
              <a:t>ConfigMap</a:t>
            </a:r>
            <a:r>
              <a:rPr lang="en-US" altLang="ko-KR" sz="1400" b="1" dirty="0"/>
              <a:t> will not trigger an update</a:t>
            </a:r>
            <a:r>
              <a:rPr lang="en-US" altLang="ko-KR" sz="1400" dirty="0"/>
              <a:t>. One way to trigger an update when you need to modify an app’s config is </a:t>
            </a:r>
            <a:r>
              <a:rPr lang="en-US" altLang="ko-KR" sz="1400" b="1" dirty="0"/>
              <a:t>to create a new </a:t>
            </a:r>
            <a:r>
              <a:rPr lang="en-US" altLang="ko-KR" sz="1400" b="1" dirty="0" err="1"/>
              <a:t>ConfigMap</a:t>
            </a:r>
            <a:r>
              <a:rPr lang="en-US" altLang="ko-KR" sz="1400" b="1" dirty="0"/>
              <a:t> and modify the pod template so it references the new </a:t>
            </a:r>
            <a:r>
              <a:rPr lang="en-US" altLang="ko-KR" sz="1400" b="1" dirty="0" err="1"/>
              <a:t>ConfigMap</a:t>
            </a:r>
            <a:r>
              <a:rPr lang="en-US" altLang="ko-KR" sz="1400" dirty="0"/>
              <a:t>.</a:t>
            </a:r>
          </a:p>
          <a:p>
            <a:pPr lvl="1">
              <a:buFont typeface="Wingdings" panose="05000000000000000000" pitchFamily="2" charset="2"/>
              <a:buChar char="§"/>
            </a:pPr>
            <a:r>
              <a:rPr lang="en-US" altLang="ko-KR" sz="1400" b="1" dirty="0"/>
              <a:t>An additional </a:t>
            </a:r>
            <a:r>
              <a:rPr lang="en-US" altLang="ko-KR" sz="1400" b="1" dirty="0" err="1"/>
              <a:t>ReplicaSet</a:t>
            </a:r>
            <a:r>
              <a:rPr lang="en-US" altLang="ko-KR" sz="1400" b="1" dirty="0"/>
              <a:t> was created and it was then scaled up slowly, while the previous </a:t>
            </a:r>
            <a:r>
              <a:rPr lang="en-US" altLang="ko-KR" sz="1400" b="1" dirty="0" err="1"/>
              <a:t>ReplicaSet</a:t>
            </a:r>
            <a:r>
              <a:rPr lang="en-US" altLang="ko-KR" sz="1400" b="1" dirty="0"/>
              <a:t> was scaled down to zero </a:t>
            </a:r>
            <a:r>
              <a:rPr lang="en-US" altLang="ko-KR" sz="1400" dirty="0"/>
              <a:t>(the initial and final states are shown in the following figure).</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F1A5DE2-B3AF-1943-B1F5-D8B390B45666}"/>
              </a:ext>
            </a:extLst>
          </p:cNvPr>
          <p:cNvPicPr>
            <a:picLocks noChangeAspect="1"/>
          </p:cNvPicPr>
          <p:nvPr/>
        </p:nvPicPr>
        <p:blipFill>
          <a:blip r:embed="rId2"/>
          <a:stretch>
            <a:fillRect/>
          </a:stretch>
        </p:blipFill>
        <p:spPr>
          <a:xfrm>
            <a:off x="3148012" y="3429000"/>
            <a:ext cx="5895975" cy="1743075"/>
          </a:xfrm>
          <a:prstGeom prst="rect">
            <a:avLst/>
          </a:prstGeom>
        </p:spPr>
      </p:pic>
    </p:spTree>
    <p:extLst>
      <p:ext uri="{BB962C8B-B14F-4D97-AF65-F5344CB8AC3E}">
        <p14:creationId xmlns:p14="http://schemas.microsoft.com/office/powerpoint/2010/main" val="22254328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Declaratively(14/39)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a:t>
            </a:r>
            <a:r>
              <a:rPr lang="ko-KR" altLang="en-US" sz="1800" b="1" dirty="0"/>
              <a:t> </a:t>
            </a:r>
            <a:r>
              <a:rPr lang="en-US" altLang="ko-KR" sz="1800" b="1" dirty="0"/>
              <a:t>a</a:t>
            </a:r>
            <a:r>
              <a:rPr lang="ko-KR" altLang="en-US" sz="1800" b="1" dirty="0"/>
              <a:t> </a:t>
            </a:r>
            <a:r>
              <a:rPr lang="en-US" altLang="ko-KR" sz="1800" b="1" dirty="0"/>
              <a:t>Deployment :</a:t>
            </a:r>
          </a:p>
          <a:p>
            <a:pPr lvl="1">
              <a:buFont typeface="Wingdings" panose="05000000000000000000" pitchFamily="2" charset="2"/>
              <a:buChar char="§"/>
            </a:pPr>
            <a:r>
              <a:rPr lang="en-US" altLang="ko-KR" sz="1400" b="1" dirty="0"/>
              <a:t>You can still see the old </a:t>
            </a:r>
            <a:r>
              <a:rPr lang="en-US" altLang="ko-KR" sz="1400" b="1" dirty="0" err="1"/>
              <a:t>ReplicaSet</a:t>
            </a:r>
            <a:r>
              <a:rPr lang="en-US" altLang="ko-KR" sz="1400" b="1" dirty="0"/>
              <a:t> next to the new one </a:t>
            </a:r>
            <a:r>
              <a:rPr lang="en-US" altLang="ko-KR" sz="1400" dirty="0"/>
              <a:t>if you list them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Similar to </a:t>
            </a:r>
            <a:r>
              <a:rPr lang="en-US" altLang="ko-KR" sz="1400" b="1" dirty="0" err="1"/>
              <a:t>ReplicationControllers</a:t>
            </a:r>
            <a:r>
              <a:rPr lang="en-US" altLang="ko-KR" sz="1400" b="1" dirty="0"/>
              <a:t>, all your new pods are now managed by the new </a:t>
            </a:r>
            <a:r>
              <a:rPr lang="en-US" altLang="ko-KR" sz="1400" b="1" dirty="0" err="1"/>
              <a:t>ReplicaSet</a:t>
            </a:r>
            <a:r>
              <a:rPr lang="en-US" altLang="ko-KR" sz="1400" dirty="0"/>
              <a:t>. </a:t>
            </a:r>
            <a:r>
              <a:rPr lang="en-US" altLang="ko-KR" sz="1400" b="1" dirty="0"/>
              <a:t>Unlike before, the old </a:t>
            </a:r>
            <a:r>
              <a:rPr lang="en-US" altLang="ko-KR" sz="1400" b="1" dirty="0" err="1"/>
              <a:t>ReplicaSet</a:t>
            </a:r>
            <a:r>
              <a:rPr lang="en-US" altLang="ko-KR" sz="1400" b="1" dirty="0"/>
              <a:t> is still there, whereas the old </a:t>
            </a:r>
            <a:r>
              <a:rPr lang="en-US" altLang="ko-KR" sz="1400" b="1" dirty="0" err="1"/>
              <a:t>ReplicationController</a:t>
            </a:r>
            <a:r>
              <a:rPr lang="en-US" altLang="ko-KR" sz="1400" b="1" dirty="0"/>
              <a:t> was deleted at the end of the update process</a:t>
            </a:r>
            <a:r>
              <a:rPr lang="en-US" altLang="ko-KR" sz="1400" dirty="0"/>
              <a:t>. You’ll soon see what the purpose of this inactive </a:t>
            </a:r>
            <a:r>
              <a:rPr lang="en-US" altLang="ko-KR" sz="1400" dirty="0" err="1"/>
              <a:t>ReplicaSet</a:t>
            </a:r>
            <a:r>
              <a:rPr lang="en-US" altLang="ko-KR" sz="1400" dirty="0"/>
              <a:t> is.</a:t>
            </a:r>
          </a:p>
          <a:p>
            <a:pPr lvl="1">
              <a:buFont typeface="Wingdings" panose="05000000000000000000" pitchFamily="2" charset="2"/>
              <a:buChar char="§"/>
            </a:pPr>
            <a:r>
              <a:rPr lang="en-US" altLang="ko-KR" sz="1400" b="1" dirty="0"/>
              <a:t>But you shouldn’t care about </a:t>
            </a:r>
            <a:r>
              <a:rPr lang="en-US" altLang="ko-KR" sz="1400" b="1" dirty="0" err="1"/>
              <a:t>ReplicaSets</a:t>
            </a:r>
            <a:r>
              <a:rPr lang="en-US" altLang="ko-KR" sz="1400" b="1" dirty="0"/>
              <a:t> here, because you didn’t create them directly</a:t>
            </a:r>
            <a:r>
              <a:rPr lang="en-US" altLang="ko-KR" sz="1400" dirty="0"/>
              <a:t>. </a:t>
            </a:r>
            <a:r>
              <a:rPr lang="en-US" altLang="ko-KR" sz="1400" b="1" dirty="0"/>
              <a:t>You created and operated only on the Deployment resource; the underlying </a:t>
            </a:r>
            <a:r>
              <a:rPr lang="en-US" altLang="ko-KR" sz="1400" b="1" dirty="0" err="1"/>
              <a:t>ReplicaSets</a:t>
            </a:r>
            <a:r>
              <a:rPr lang="en-US" altLang="ko-KR" sz="1400" b="1" dirty="0"/>
              <a:t> are an implementation detail</a:t>
            </a:r>
            <a:r>
              <a:rPr lang="en-US" altLang="ko-KR" sz="1400" dirty="0"/>
              <a:t>. You’ll agree that managing a single Deployment object is much easier compared to dealing with and keeping track of multiple </a:t>
            </a:r>
            <a:r>
              <a:rPr lang="en-US" altLang="ko-KR" sz="1400" b="1" dirty="0" err="1"/>
              <a:t>ReplicationControllers</a:t>
            </a:r>
            <a:r>
              <a:rPr lang="en-US" altLang="ko-KR" sz="1400" dirty="0"/>
              <a:t>.</a:t>
            </a:r>
          </a:p>
          <a:p>
            <a:pPr lvl="1">
              <a:buFont typeface="Wingdings" panose="05000000000000000000" pitchFamily="2" charset="2"/>
              <a:buChar char="§"/>
            </a:pPr>
            <a:r>
              <a:rPr lang="en-US" altLang="ko-KR" sz="1400" dirty="0"/>
              <a:t>Although this difference may not be so apparent when everything goes well with a rollout, it becomes much more obvious when you hit a problem during the rollout process.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204D2FC-01BE-3C1E-116E-2CFD10C9BC85}"/>
              </a:ext>
            </a:extLst>
          </p:cNvPr>
          <p:cNvGrpSpPr/>
          <p:nvPr/>
        </p:nvGrpSpPr>
        <p:grpSpPr>
          <a:xfrm>
            <a:off x="967335" y="1618407"/>
            <a:ext cx="10257329" cy="2181219"/>
            <a:chOff x="967334" y="1577947"/>
            <a:chExt cx="10257329" cy="2181219"/>
          </a:xfrm>
        </p:grpSpPr>
        <p:grpSp>
          <p:nvGrpSpPr>
            <p:cNvPr id="11" name="그룹 10">
              <a:extLst>
                <a:ext uri="{FF2B5EF4-FFF2-40B4-BE49-F238E27FC236}">
                  <a16:creationId xmlns:a16="http://schemas.microsoft.com/office/drawing/2014/main" id="{7C56F9C9-6D52-BDDC-3780-57CA9585B2D5}"/>
                </a:ext>
              </a:extLst>
            </p:cNvPr>
            <p:cNvGrpSpPr/>
            <p:nvPr/>
          </p:nvGrpSpPr>
          <p:grpSpPr>
            <a:xfrm>
              <a:off x="967334" y="1577947"/>
              <a:ext cx="10257329" cy="2181219"/>
              <a:chOff x="967334" y="1577947"/>
              <a:chExt cx="10257329" cy="2181219"/>
            </a:xfrm>
          </p:grpSpPr>
          <p:sp>
            <p:nvSpPr>
              <p:cNvPr id="4" name="TextBox 3">
                <a:extLst>
                  <a:ext uri="{FF2B5EF4-FFF2-40B4-BE49-F238E27FC236}">
                    <a16:creationId xmlns:a16="http://schemas.microsoft.com/office/drawing/2014/main" id="{3FB64BFE-9A3E-6107-BFD9-31DBF0D557E1}"/>
                  </a:ext>
                </a:extLst>
              </p:cNvPr>
              <p:cNvSpPr txBox="1"/>
              <p:nvPr/>
            </p:nvSpPr>
            <p:spPr>
              <a:xfrm>
                <a:off x="3012934" y="1577947"/>
                <a:ext cx="6166131" cy="246221"/>
              </a:xfrm>
              <a:prstGeom prst="rect">
                <a:avLst/>
              </a:prstGeom>
              <a:noFill/>
              <a:ln>
                <a:solidFill>
                  <a:schemeClr val="bg1">
                    <a:lumMod val="50000"/>
                  </a:schemeClr>
                </a:solidFill>
              </a:ln>
            </p:spPr>
            <p:txBody>
              <a:bodyPr wrap="square" rtlCol="0">
                <a:spAutoFit/>
              </a:bodyPr>
              <a:lstStyle/>
              <a:p>
                <a:pPr algn="l"/>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rs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950CC388-3445-922D-91B6-30241CC2F8E1}"/>
                  </a:ext>
                </a:extLst>
              </p:cNvPr>
              <p:cNvSpPr/>
              <p:nvPr/>
            </p:nvSpPr>
            <p:spPr>
              <a:xfrm>
                <a:off x="5885606" y="1834734"/>
                <a:ext cx="420786"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F85E0D7E-EFD5-6A84-0BA8-A2E467EFF38A}"/>
                  </a:ext>
                </a:extLst>
              </p:cNvPr>
              <p:cNvPicPr>
                <a:picLocks noChangeAspect="1"/>
              </p:cNvPicPr>
              <p:nvPr/>
            </p:nvPicPr>
            <p:blipFill>
              <a:blip r:embed="rId2"/>
              <a:stretch>
                <a:fillRect/>
              </a:stretch>
            </p:blipFill>
            <p:spPr>
              <a:xfrm>
                <a:off x="967334" y="2135089"/>
                <a:ext cx="10257329" cy="1624077"/>
              </a:xfrm>
              <a:prstGeom prst="rect">
                <a:avLst/>
              </a:prstGeom>
            </p:spPr>
          </p:pic>
        </p:grpSp>
        <p:sp>
          <p:nvSpPr>
            <p:cNvPr id="12" name="직사각형 11">
              <a:extLst>
                <a:ext uri="{FF2B5EF4-FFF2-40B4-BE49-F238E27FC236}">
                  <a16:creationId xmlns:a16="http://schemas.microsoft.com/office/drawing/2014/main" id="{D5AE9097-0238-65AD-1B0E-C11D4529ECDF}"/>
                </a:ext>
              </a:extLst>
            </p:cNvPr>
            <p:cNvSpPr/>
            <p:nvPr/>
          </p:nvSpPr>
          <p:spPr>
            <a:xfrm>
              <a:off x="1068149" y="2906667"/>
              <a:ext cx="3544311" cy="33109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518763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Declaratively(15/39)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Back a Deployment :</a:t>
            </a:r>
          </a:p>
          <a:p>
            <a:pPr lvl="1">
              <a:buFont typeface="Wingdings" panose="05000000000000000000" pitchFamily="2" charset="2"/>
              <a:buChar char="§"/>
            </a:pPr>
            <a:r>
              <a:rPr lang="en-US" altLang="ko-KR" sz="1400" b="1" dirty="0"/>
              <a:t>You’re currently running version v2 of your image, so you’ll need to prepare version 3 first</a:t>
            </a:r>
            <a:r>
              <a:rPr lang="en-US" altLang="ko-KR" sz="1400" dirty="0"/>
              <a:t>. In version 3, you’ll introduce </a:t>
            </a:r>
            <a:r>
              <a:rPr lang="en-US" altLang="ko-KR" sz="1400" b="1" dirty="0"/>
              <a:t>a bug</a:t>
            </a:r>
            <a:r>
              <a:rPr lang="en-US" altLang="ko-KR" sz="1400" dirty="0"/>
              <a:t> </a:t>
            </a:r>
            <a:r>
              <a:rPr lang="en-US" altLang="ko-KR" sz="1400" b="1" dirty="0"/>
              <a:t>that makes your app handle only the first four requests properly</a:t>
            </a:r>
            <a:r>
              <a:rPr lang="en-US" altLang="ko-KR" sz="1400" dirty="0"/>
              <a:t>. </a:t>
            </a:r>
            <a:r>
              <a:rPr lang="en-US" altLang="ko-KR" sz="1400" b="1" dirty="0"/>
              <a:t>All requests from the fifth request onward will return an </a:t>
            </a:r>
            <a:r>
              <a:rPr lang="en-US" altLang="ko-KR" sz="1400" b="1" dirty="0">
                <a:solidFill>
                  <a:srgbClr val="FF0000"/>
                </a:solidFill>
              </a:rPr>
              <a:t>internal server error </a:t>
            </a:r>
            <a:r>
              <a:rPr lang="en-US" altLang="ko-KR" sz="1400" b="1" dirty="0"/>
              <a:t>(</a:t>
            </a:r>
            <a:r>
              <a:rPr lang="en-US" altLang="ko-KR" sz="1400" b="1" dirty="0">
                <a:solidFill>
                  <a:srgbClr val="FF0000"/>
                </a:solidFill>
              </a:rPr>
              <a:t>HTTP status code 500</a:t>
            </a:r>
            <a:r>
              <a:rPr lang="en-US" altLang="ko-KR" sz="1400" b="1" dirty="0"/>
              <a:t>)</a:t>
            </a:r>
            <a:r>
              <a:rPr lang="en-US" altLang="ko-KR" sz="1400" dirty="0"/>
              <a:t>. You’ll simulate this by adding an “</a:t>
            </a:r>
            <a:r>
              <a:rPr lang="en-US" altLang="ko-KR" sz="1400" b="1" dirty="0"/>
              <a:t>if</a:t>
            </a:r>
            <a:r>
              <a:rPr lang="en-US" altLang="ko-KR" sz="1400" dirty="0"/>
              <a:t>” statement at the beginning of the handler function. The following listing shows the new code, with all required changes shown in red.</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A01EB69-6F7C-4750-3EA6-5BB3CB38AA99}"/>
              </a:ext>
            </a:extLst>
          </p:cNvPr>
          <p:cNvGrpSpPr/>
          <p:nvPr/>
        </p:nvGrpSpPr>
        <p:grpSpPr>
          <a:xfrm>
            <a:off x="3047326" y="2432771"/>
            <a:ext cx="6097348" cy="3170099"/>
            <a:chOff x="3047326" y="2432771"/>
            <a:chExt cx="6097348" cy="3170099"/>
          </a:xfrm>
        </p:grpSpPr>
        <p:sp>
          <p:nvSpPr>
            <p:cNvPr id="10" name="TextBox 9">
              <a:extLst>
                <a:ext uri="{FF2B5EF4-FFF2-40B4-BE49-F238E27FC236}">
                  <a16:creationId xmlns:a16="http://schemas.microsoft.com/office/drawing/2014/main" id="{482CBF4B-FECA-E391-9507-E5D279B28381}"/>
                </a:ext>
              </a:extLst>
            </p:cNvPr>
            <p:cNvSpPr txBox="1"/>
            <p:nvPr/>
          </p:nvSpPr>
          <p:spPr>
            <a:xfrm>
              <a:off x="3047326" y="2432771"/>
              <a:ext cx="6097348" cy="3170099"/>
            </a:xfrm>
            <a:prstGeom prst="rect">
              <a:avLst/>
            </a:prstGeom>
            <a:noFill/>
            <a:ln>
              <a:solidFill>
                <a:schemeClr val="bg1">
                  <a:lumMod val="50000"/>
                </a:schemeClr>
              </a:solidFill>
            </a:ln>
          </p:spPr>
          <p:txBody>
            <a:bodyPr wrap="square">
              <a:spAutoFit/>
            </a:bodyPr>
            <a:lstStyle/>
            <a:p>
              <a:r>
                <a:rPr lang="en-US" altLang="ko-KR" sz="1000" b="1" dirty="0"/>
                <a:t>const http = require('http');</a:t>
              </a:r>
            </a:p>
            <a:p>
              <a:r>
                <a:rPr lang="en-US" altLang="ko-KR" sz="1000" b="1" dirty="0"/>
                <a:t>const </a:t>
              </a:r>
              <a:r>
                <a:rPr lang="en-US" altLang="ko-KR" sz="1000" b="1" dirty="0" err="1"/>
                <a:t>os</a:t>
              </a:r>
              <a:r>
                <a:rPr lang="en-US" altLang="ko-KR" sz="1000" b="1" dirty="0"/>
                <a:t> = require('</a:t>
              </a:r>
              <a:r>
                <a:rPr lang="en-US" altLang="ko-KR" sz="1000" b="1" dirty="0" err="1"/>
                <a:t>os</a:t>
              </a:r>
              <a:r>
                <a:rPr lang="en-US" altLang="ko-KR" sz="1000" b="1" dirty="0"/>
                <a:t>');</a:t>
              </a:r>
            </a:p>
            <a:p>
              <a:endParaRPr lang="en-US" altLang="ko-KR" sz="1000" b="1" dirty="0"/>
            </a:p>
            <a:p>
              <a:r>
                <a:rPr lang="en-US" altLang="ko-KR" sz="1000" b="1" dirty="0">
                  <a:solidFill>
                    <a:srgbClr val="FF0000"/>
                  </a:solidFill>
                </a:rPr>
                <a:t>var </a:t>
              </a:r>
              <a:r>
                <a:rPr lang="en-US" altLang="ko-KR" sz="1000" b="1" dirty="0" err="1">
                  <a:solidFill>
                    <a:srgbClr val="FF0000"/>
                  </a:solidFill>
                </a:rPr>
                <a:t>requestCount</a:t>
              </a:r>
              <a:r>
                <a:rPr lang="en-US" altLang="ko-KR" sz="1000" b="1" dirty="0">
                  <a:solidFill>
                    <a:srgbClr val="FF0000"/>
                  </a:solidFill>
                </a:rPr>
                <a:t> = 0;</a:t>
              </a:r>
            </a:p>
            <a:p>
              <a:endParaRPr lang="en-US" altLang="ko-KR" sz="1000" b="1" dirty="0"/>
            </a:p>
            <a:p>
              <a:r>
                <a:rPr lang="en-US" altLang="ko-KR" sz="1000" b="1" dirty="0"/>
                <a:t>console.log("</a:t>
              </a:r>
              <a:r>
                <a:rPr lang="en-US" altLang="ko-KR" sz="1000" b="1" dirty="0" err="1"/>
                <a:t>Kubia</a:t>
              </a:r>
              <a:r>
                <a:rPr lang="en-US" altLang="ko-KR" sz="1000" b="1" dirty="0"/>
                <a:t> server starting...");</a:t>
              </a:r>
            </a:p>
            <a:p>
              <a:endParaRPr lang="en-US" altLang="ko-KR" sz="1000" b="1" dirty="0"/>
            </a:p>
            <a:p>
              <a:r>
                <a:rPr lang="en-US" altLang="ko-KR" sz="1000" b="1" dirty="0"/>
                <a:t>var handler = function(request, response) {</a:t>
              </a:r>
            </a:p>
            <a:p>
              <a:r>
                <a:rPr lang="en-US" altLang="ko-KR" sz="1000" b="1" dirty="0"/>
                <a:t>  console.log("Received request from " + </a:t>
              </a:r>
              <a:r>
                <a:rPr lang="en-US" altLang="ko-KR" sz="1000" b="1" dirty="0" err="1"/>
                <a:t>request.connection.remoteAddress</a:t>
              </a:r>
              <a:r>
                <a:rPr lang="en-US" altLang="ko-KR" sz="1000" b="1" dirty="0"/>
                <a:t>);</a:t>
              </a:r>
            </a:p>
            <a:p>
              <a:r>
                <a:rPr lang="en-US" altLang="ko-KR" sz="1000" b="1" dirty="0">
                  <a:solidFill>
                    <a:srgbClr val="FF0000"/>
                  </a:solidFill>
                </a:rPr>
                <a:t>  if (++</a:t>
              </a:r>
              <a:r>
                <a:rPr lang="en-US" altLang="ko-KR" sz="1000" b="1" dirty="0" err="1">
                  <a:solidFill>
                    <a:srgbClr val="FF0000"/>
                  </a:solidFill>
                </a:rPr>
                <a:t>requestCount</a:t>
              </a:r>
              <a:r>
                <a:rPr lang="en-US" altLang="ko-KR" sz="1000" b="1" dirty="0">
                  <a:solidFill>
                    <a:srgbClr val="FF0000"/>
                  </a:solidFill>
                </a:rPr>
                <a:t> &gt;= 5) {</a:t>
              </a:r>
            </a:p>
            <a:p>
              <a:r>
                <a:rPr lang="en-US" altLang="ko-KR" sz="1000" b="1" dirty="0">
                  <a:solidFill>
                    <a:srgbClr val="FF0000"/>
                  </a:solidFill>
                </a:rPr>
                <a:t>    </a:t>
              </a:r>
              <a:r>
                <a:rPr lang="en-US" altLang="ko-KR" sz="1000" b="1" dirty="0" err="1">
                  <a:solidFill>
                    <a:srgbClr val="FF0000"/>
                  </a:solidFill>
                </a:rPr>
                <a:t>response.writeHead</a:t>
              </a:r>
              <a:r>
                <a:rPr lang="en-US" altLang="ko-KR" sz="1000" b="1" dirty="0">
                  <a:solidFill>
                    <a:srgbClr val="FF0000"/>
                  </a:solidFill>
                </a:rPr>
                <a:t>(500);</a:t>
              </a:r>
            </a:p>
            <a:p>
              <a:r>
                <a:rPr lang="en-US" altLang="ko-KR" sz="1000" b="1" dirty="0">
                  <a:solidFill>
                    <a:srgbClr val="FF0000"/>
                  </a:solidFill>
                </a:rPr>
                <a:t>    </a:t>
              </a:r>
              <a:r>
                <a:rPr lang="en-US" altLang="ko-KR" sz="1000" b="1" dirty="0" err="1">
                  <a:solidFill>
                    <a:srgbClr val="FF0000"/>
                  </a:solidFill>
                </a:rPr>
                <a:t>response.end</a:t>
              </a:r>
              <a:r>
                <a:rPr lang="en-US" altLang="ko-KR" sz="1000" b="1" dirty="0">
                  <a:solidFill>
                    <a:srgbClr val="FF0000"/>
                  </a:solidFill>
                </a:rPr>
                <a:t>("Some internal error has occurred! This is pod " + </a:t>
              </a:r>
              <a:r>
                <a:rPr lang="en-US" altLang="ko-KR" sz="1000" b="1" dirty="0" err="1">
                  <a:solidFill>
                    <a:srgbClr val="FF0000"/>
                  </a:solidFill>
                </a:rPr>
                <a:t>os.hostname</a:t>
              </a:r>
              <a:r>
                <a:rPr lang="en-US" altLang="ko-KR" sz="1000" b="1" dirty="0">
                  <a:solidFill>
                    <a:srgbClr val="FF0000"/>
                  </a:solidFill>
                </a:rPr>
                <a:t>() + "\n");</a:t>
              </a:r>
            </a:p>
            <a:p>
              <a:r>
                <a:rPr lang="en-US" altLang="ko-KR" sz="1000" b="1" dirty="0">
                  <a:solidFill>
                    <a:srgbClr val="FF0000"/>
                  </a:solidFill>
                </a:rPr>
                <a:t>    return;</a:t>
              </a:r>
            </a:p>
            <a:p>
              <a:r>
                <a:rPr lang="en-US" altLang="ko-KR" sz="1000" b="1" dirty="0">
                  <a:solidFill>
                    <a:srgbClr val="FF0000"/>
                  </a:solidFill>
                </a:rPr>
                <a:t>  }</a:t>
              </a:r>
            </a:p>
            <a:p>
              <a:r>
                <a:rPr lang="en-US" altLang="ko-KR" sz="1000" b="1" dirty="0"/>
                <a:t>  </a:t>
              </a:r>
              <a:r>
                <a:rPr lang="en-US" altLang="ko-KR" sz="1000" b="1" dirty="0" err="1"/>
                <a:t>response.writeHead</a:t>
              </a:r>
              <a:r>
                <a:rPr lang="en-US" altLang="ko-KR" sz="1000" b="1" dirty="0"/>
                <a:t>(200);</a:t>
              </a:r>
            </a:p>
            <a:p>
              <a:r>
                <a:rPr lang="en-US" altLang="ko-KR" sz="1000" b="1" dirty="0"/>
                <a:t>  </a:t>
              </a:r>
              <a:r>
                <a:rPr lang="en-US" altLang="ko-KR" sz="1000" b="1" dirty="0" err="1"/>
                <a:t>response.end</a:t>
              </a:r>
              <a:r>
                <a:rPr lang="en-US" altLang="ko-KR" sz="1000" b="1" dirty="0"/>
                <a:t>("This is v3 running in pod " + </a:t>
              </a:r>
              <a:r>
                <a:rPr lang="en-US" altLang="ko-KR" sz="1000" b="1" dirty="0" err="1"/>
                <a:t>os.hostname</a:t>
              </a:r>
              <a:r>
                <a:rPr lang="en-US" altLang="ko-KR" sz="1000" b="1" dirty="0"/>
                <a:t>() + "\n");</a:t>
              </a:r>
            </a:p>
            <a:p>
              <a:r>
                <a:rPr lang="en-US" altLang="ko-KR" sz="1000" b="1" dirty="0"/>
                <a:t>};</a:t>
              </a:r>
            </a:p>
            <a:p>
              <a:endParaRPr lang="en-US" altLang="ko-KR" sz="1000" b="1" dirty="0"/>
            </a:p>
            <a:p>
              <a:r>
                <a:rPr lang="en-US" altLang="ko-KR" sz="1000" b="1" dirty="0"/>
                <a:t>var www = </a:t>
              </a:r>
              <a:r>
                <a:rPr lang="en-US" altLang="ko-KR" sz="1000" b="1" dirty="0" err="1"/>
                <a:t>http.createServer</a:t>
              </a:r>
              <a:r>
                <a:rPr lang="en-US" altLang="ko-KR" sz="1000" b="1" dirty="0"/>
                <a:t>(handler);</a:t>
              </a:r>
            </a:p>
            <a:p>
              <a:r>
                <a:rPr lang="en-US" altLang="ko-KR" sz="1000" b="1" dirty="0"/>
                <a:t>www.listen(8080);</a:t>
              </a:r>
            </a:p>
          </p:txBody>
        </p:sp>
        <p:sp>
          <p:nvSpPr>
            <p:cNvPr id="11" name="TextBox 10">
              <a:extLst>
                <a:ext uri="{FF2B5EF4-FFF2-40B4-BE49-F238E27FC236}">
                  <a16:creationId xmlns:a16="http://schemas.microsoft.com/office/drawing/2014/main" id="{8F8C5855-1323-2B2B-3BAA-B82E2C249D69}"/>
                </a:ext>
              </a:extLst>
            </p:cNvPr>
            <p:cNvSpPr txBox="1"/>
            <p:nvPr/>
          </p:nvSpPr>
          <p:spPr>
            <a:xfrm>
              <a:off x="8403766" y="2432771"/>
              <a:ext cx="740908" cy="246221"/>
            </a:xfrm>
            <a:prstGeom prst="rect">
              <a:avLst/>
            </a:prstGeom>
            <a:noFill/>
          </p:spPr>
          <p:txBody>
            <a:bodyPr wrap="none" rtlCol="0">
              <a:spAutoFit/>
            </a:bodyPr>
            <a:lstStyle/>
            <a:p>
              <a:pPr algn="l"/>
              <a:r>
                <a:rPr lang="en-US" altLang="ko-KR" sz="1000" b="1" dirty="0"/>
                <a:t>v3/app.js</a:t>
              </a:r>
              <a:endParaRPr lang="ko-KR" altLang="en-US" sz="1000" b="1" dirty="0"/>
            </a:p>
          </p:txBody>
        </p:sp>
      </p:grpSp>
    </p:spTree>
    <p:extLst>
      <p:ext uri="{BB962C8B-B14F-4D97-AF65-F5344CB8AC3E}">
        <p14:creationId xmlns:p14="http://schemas.microsoft.com/office/powerpoint/2010/main" val="21636709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Declaratively(16/39)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Back a Deployment :</a:t>
            </a:r>
          </a:p>
          <a:p>
            <a:pPr lvl="1">
              <a:buFont typeface="Wingdings" panose="05000000000000000000" pitchFamily="2" charset="2"/>
              <a:buChar char="§"/>
            </a:pPr>
            <a:r>
              <a:rPr lang="en-US" altLang="ko-KR" sz="1400" dirty="0"/>
              <a:t>Before you use the code, you need to </a:t>
            </a:r>
            <a:r>
              <a:rPr lang="en-US" altLang="ko-KR" sz="1400" b="1" dirty="0"/>
              <a:t>make Docker image and push it into Docker hub repository</a:t>
            </a:r>
            <a:r>
              <a:rPr lang="en-US" altLang="ko-KR" sz="1400" dirty="0"/>
              <a:t>. The following command will do the things for you.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9C41B9A-7A56-2734-DCE8-1F5D33A0797E}"/>
              </a:ext>
            </a:extLst>
          </p:cNvPr>
          <p:cNvGrpSpPr/>
          <p:nvPr/>
        </p:nvGrpSpPr>
        <p:grpSpPr>
          <a:xfrm>
            <a:off x="1222234" y="1643127"/>
            <a:ext cx="9747531" cy="4765903"/>
            <a:chOff x="1222234" y="1643127"/>
            <a:chExt cx="9747531" cy="4765903"/>
          </a:xfrm>
        </p:grpSpPr>
        <p:pic>
          <p:nvPicPr>
            <p:cNvPr id="8" name="그림 7">
              <a:extLst>
                <a:ext uri="{FF2B5EF4-FFF2-40B4-BE49-F238E27FC236}">
                  <a16:creationId xmlns:a16="http://schemas.microsoft.com/office/drawing/2014/main" id="{DB62E324-6CC0-E009-7973-C4E656364936}"/>
                </a:ext>
              </a:extLst>
            </p:cNvPr>
            <p:cNvPicPr>
              <a:picLocks noChangeAspect="1"/>
            </p:cNvPicPr>
            <p:nvPr/>
          </p:nvPicPr>
          <p:blipFill>
            <a:blip r:embed="rId2"/>
            <a:stretch>
              <a:fillRect/>
            </a:stretch>
          </p:blipFill>
          <p:spPr>
            <a:xfrm>
              <a:off x="1222234" y="2355682"/>
              <a:ext cx="9747531" cy="4053348"/>
            </a:xfrm>
            <a:prstGeom prst="rect">
              <a:avLst/>
            </a:prstGeom>
          </p:spPr>
        </p:pic>
        <p:sp>
          <p:nvSpPr>
            <p:cNvPr id="10" name="TextBox 9">
              <a:extLst>
                <a:ext uri="{FF2B5EF4-FFF2-40B4-BE49-F238E27FC236}">
                  <a16:creationId xmlns:a16="http://schemas.microsoft.com/office/drawing/2014/main" id="{DB7F241B-BAE9-20C9-5028-E6A3C32C892E}"/>
                </a:ext>
              </a:extLst>
            </p:cNvPr>
            <p:cNvSpPr txBox="1"/>
            <p:nvPr/>
          </p:nvSpPr>
          <p:spPr>
            <a:xfrm>
              <a:off x="3047325" y="1643127"/>
              <a:ext cx="6097348" cy="400110"/>
            </a:xfrm>
            <a:prstGeom prst="rect">
              <a:avLst/>
            </a:prstGeom>
            <a:noFill/>
            <a:ln>
              <a:solidFill>
                <a:schemeClr val="bg1">
                  <a:lumMod val="50000"/>
                </a:schemeClr>
              </a:solidFill>
            </a:ln>
          </p:spPr>
          <p:txBody>
            <a:bodyPr wrap="square">
              <a:spAutoFit/>
            </a:bodyPr>
            <a:lstStyle/>
            <a:p>
              <a:r>
                <a:rPr lang="de-DE" altLang="ko-KR" sz="1000" b="1" dirty="0"/>
                <a:t>$ docker build -t </a:t>
              </a:r>
              <a:r>
                <a:rPr lang="de-DE" altLang="ko-KR" sz="1000" b="1" dirty="0">
                  <a:solidFill>
                    <a:srgbClr val="FF0000"/>
                  </a:solidFill>
                </a:rPr>
                <a:t>knix008/kubia:v3 .</a:t>
              </a:r>
            </a:p>
            <a:p>
              <a:r>
                <a:rPr lang="sv-SE" altLang="ko-KR" sz="1000" b="1" dirty="0"/>
                <a:t>$ docker push </a:t>
              </a:r>
              <a:r>
                <a:rPr lang="sv-SE" altLang="ko-KR" sz="1000" b="1" dirty="0">
                  <a:solidFill>
                    <a:srgbClr val="FF0000"/>
                  </a:solidFill>
                </a:rPr>
                <a:t>knix008/kubia:v3</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8BCCC886-9040-F425-A200-786E77157DA1}"/>
                </a:ext>
              </a:extLst>
            </p:cNvPr>
            <p:cNvSpPr/>
            <p:nvPr/>
          </p:nvSpPr>
          <p:spPr>
            <a:xfrm>
              <a:off x="5877514" y="2043237"/>
              <a:ext cx="436970"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241684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Declaratively(17/39)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Back a Deployment :</a:t>
            </a:r>
          </a:p>
          <a:p>
            <a:pPr lvl="1">
              <a:buFont typeface="Wingdings" panose="05000000000000000000" pitchFamily="2" charset="2"/>
              <a:buChar char="§"/>
            </a:pPr>
            <a:r>
              <a:rPr lang="en-US" altLang="ko-KR" sz="1400" dirty="0"/>
              <a:t>Now you can </a:t>
            </a:r>
            <a:r>
              <a:rPr lang="en-US" altLang="ko-KR" sz="1400" b="1" dirty="0"/>
              <a:t>deploy this new version by changing the image in the Deployment specification </a:t>
            </a:r>
            <a:r>
              <a:rPr lang="en-US" altLang="ko-KR" sz="1400" dirty="0"/>
              <a:t>again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follow </a:t>
            </a:r>
            <a:r>
              <a:rPr lang="en-US" altLang="ko-KR" sz="1400" b="1" dirty="0"/>
              <a:t>the progress of the rollout with </a:t>
            </a:r>
            <a:r>
              <a:rPr lang="en-US" altLang="ko-KR" sz="1400" b="1" dirty="0" err="1"/>
              <a:t>kubectl</a:t>
            </a:r>
            <a:r>
              <a:rPr lang="en-US" altLang="ko-KR" sz="1400" b="1" dirty="0"/>
              <a:t> </a:t>
            </a:r>
            <a:r>
              <a:rPr lang="en-US" altLang="ko-KR" sz="1400" b="1" dirty="0">
                <a:solidFill>
                  <a:srgbClr val="FF0000"/>
                </a:solidFill>
              </a:rPr>
              <a:t>rollout status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459DC4BD-C6C1-1FA3-9F82-901360964DCA}"/>
              </a:ext>
            </a:extLst>
          </p:cNvPr>
          <p:cNvGrpSpPr/>
          <p:nvPr/>
        </p:nvGrpSpPr>
        <p:grpSpPr>
          <a:xfrm>
            <a:off x="1169636" y="1457083"/>
            <a:ext cx="9852727" cy="2118681"/>
            <a:chOff x="1169636" y="1457083"/>
            <a:chExt cx="9852727" cy="2118681"/>
          </a:xfrm>
        </p:grpSpPr>
        <p:sp>
          <p:nvSpPr>
            <p:cNvPr id="8" name="TextBox 7">
              <a:extLst>
                <a:ext uri="{FF2B5EF4-FFF2-40B4-BE49-F238E27FC236}">
                  <a16:creationId xmlns:a16="http://schemas.microsoft.com/office/drawing/2014/main" id="{852B412D-DE03-944E-65CE-65949B029D7A}"/>
                </a:ext>
              </a:extLst>
            </p:cNvPr>
            <p:cNvSpPr txBox="1"/>
            <p:nvPr/>
          </p:nvSpPr>
          <p:spPr>
            <a:xfrm>
              <a:off x="3047326" y="145708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set image deployment </a:t>
              </a:r>
              <a:r>
                <a:rPr lang="en-US" altLang="ko-KR" sz="1000" b="1" dirty="0" err="1"/>
                <a:t>kubia</a:t>
              </a:r>
              <a:r>
                <a:rPr lang="en-US" altLang="ko-KR" sz="1000" b="1" dirty="0"/>
                <a:t> </a:t>
              </a:r>
              <a:r>
                <a:rPr lang="en-US" altLang="ko-KR" sz="1000" b="1" dirty="0" err="1">
                  <a:solidFill>
                    <a:srgbClr val="FF0000"/>
                  </a:solidFill>
                </a:rPr>
                <a:t>nodejs</a:t>
              </a:r>
              <a:r>
                <a:rPr lang="en-US" altLang="ko-KR" sz="1000" b="1" dirty="0">
                  <a:solidFill>
                    <a:srgbClr val="FF0000"/>
                  </a:solidFill>
                </a:rPr>
                <a:t>=knix008/kubia:v3</a:t>
              </a:r>
            </a:p>
          </p:txBody>
        </p:sp>
        <p:sp>
          <p:nvSpPr>
            <p:cNvPr id="9" name="화살표: 아래쪽 8">
              <a:extLst>
                <a:ext uri="{FF2B5EF4-FFF2-40B4-BE49-F238E27FC236}">
                  <a16:creationId xmlns:a16="http://schemas.microsoft.com/office/drawing/2014/main" id="{5F643CBC-4DE4-5344-8E2E-89EA17FC9BF1}"/>
                </a:ext>
              </a:extLst>
            </p:cNvPr>
            <p:cNvSpPr/>
            <p:nvPr/>
          </p:nvSpPr>
          <p:spPr>
            <a:xfrm>
              <a:off x="5869423" y="1717916"/>
              <a:ext cx="453154"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D0B5573D-F258-B19A-C368-1D3F27D16B28}"/>
                </a:ext>
              </a:extLst>
            </p:cNvPr>
            <p:cNvPicPr>
              <a:picLocks noChangeAspect="1"/>
            </p:cNvPicPr>
            <p:nvPr/>
          </p:nvPicPr>
          <p:blipFill>
            <a:blip r:embed="rId2"/>
            <a:stretch>
              <a:fillRect/>
            </a:stretch>
          </p:blipFill>
          <p:spPr>
            <a:xfrm>
              <a:off x="1169636" y="2015749"/>
              <a:ext cx="9852727" cy="1560015"/>
            </a:xfrm>
            <a:prstGeom prst="rect">
              <a:avLst/>
            </a:prstGeom>
          </p:spPr>
        </p:pic>
      </p:grpSp>
      <p:grpSp>
        <p:nvGrpSpPr>
          <p:cNvPr id="18" name="그룹 17">
            <a:extLst>
              <a:ext uri="{FF2B5EF4-FFF2-40B4-BE49-F238E27FC236}">
                <a16:creationId xmlns:a16="http://schemas.microsoft.com/office/drawing/2014/main" id="{3522ED43-B75A-CD8A-9643-98217DC6DEBC}"/>
              </a:ext>
            </a:extLst>
          </p:cNvPr>
          <p:cNvGrpSpPr/>
          <p:nvPr/>
        </p:nvGrpSpPr>
        <p:grpSpPr>
          <a:xfrm>
            <a:off x="1169636" y="4039376"/>
            <a:ext cx="9852727" cy="2133099"/>
            <a:chOff x="1169636" y="4039376"/>
            <a:chExt cx="9852727" cy="2133099"/>
          </a:xfrm>
        </p:grpSpPr>
        <p:sp>
          <p:nvSpPr>
            <p:cNvPr id="14" name="TextBox 13">
              <a:extLst>
                <a:ext uri="{FF2B5EF4-FFF2-40B4-BE49-F238E27FC236}">
                  <a16:creationId xmlns:a16="http://schemas.microsoft.com/office/drawing/2014/main" id="{2C95ECDC-944C-9B45-9113-89B2DC9267E5}"/>
                </a:ext>
              </a:extLst>
            </p:cNvPr>
            <p:cNvSpPr txBox="1"/>
            <p:nvPr/>
          </p:nvSpPr>
          <p:spPr>
            <a:xfrm>
              <a:off x="3047326" y="403937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status </a:t>
              </a:r>
              <a:r>
                <a:rPr lang="en-US" altLang="ko-KR" sz="1000" b="1" dirty="0"/>
                <a:t>deployment </a:t>
              </a:r>
              <a:r>
                <a:rPr lang="en-US" altLang="ko-KR" sz="1000" b="1" dirty="0" err="1"/>
                <a:t>kubia</a:t>
              </a:r>
              <a:endParaRPr lang="en-US" altLang="ko-KR" sz="1000" b="1" dirty="0"/>
            </a:p>
          </p:txBody>
        </p:sp>
        <p:pic>
          <p:nvPicPr>
            <p:cNvPr id="16" name="그림 15">
              <a:extLst>
                <a:ext uri="{FF2B5EF4-FFF2-40B4-BE49-F238E27FC236}">
                  <a16:creationId xmlns:a16="http://schemas.microsoft.com/office/drawing/2014/main" id="{E77CF3C1-E29B-B5B9-5D57-0049A342BCBA}"/>
                </a:ext>
              </a:extLst>
            </p:cNvPr>
            <p:cNvPicPr>
              <a:picLocks noChangeAspect="1"/>
            </p:cNvPicPr>
            <p:nvPr/>
          </p:nvPicPr>
          <p:blipFill>
            <a:blip r:embed="rId3"/>
            <a:stretch>
              <a:fillRect/>
            </a:stretch>
          </p:blipFill>
          <p:spPr>
            <a:xfrm>
              <a:off x="1169636" y="4612460"/>
              <a:ext cx="9852727" cy="1560015"/>
            </a:xfrm>
            <a:prstGeom prst="rect">
              <a:avLst/>
            </a:prstGeom>
          </p:spPr>
        </p:pic>
        <p:sp>
          <p:nvSpPr>
            <p:cNvPr id="17" name="화살표: 아래쪽 16">
              <a:extLst>
                <a:ext uri="{FF2B5EF4-FFF2-40B4-BE49-F238E27FC236}">
                  <a16:creationId xmlns:a16="http://schemas.microsoft.com/office/drawing/2014/main" id="{E3017862-9B9B-34FA-C0DB-831969E0AC01}"/>
                </a:ext>
              </a:extLst>
            </p:cNvPr>
            <p:cNvSpPr/>
            <p:nvPr/>
          </p:nvSpPr>
          <p:spPr>
            <a:xfrm>
              <a:off x="5880212" y="4296865"/>
              <a:ext cx="436970" cy="31559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230581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Declaratively(18/39)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Back a Deployment :</a:t>
            </a:r>
          </a:p>
          <a:p>
            <a:pPr lvl="1">
              <a:buFont typeface="Wingdings" panose="05000000000000000000" pitchFamily="2" charset="2"/>
              <a:buChar char="§"/>
            </a:pPr>
            <a:r>
              <a:rPr lang="en-US" altLang="ko-KR" sz="1400" dirty="0"/>
              <a:t>The new version is now live. As the following listing shows, </a:t>
            </a:r>
            <a:r>
              <a:rPr lang="en-US" altLang="ko-KR" sz="1400" b="1" dirty="0"/>
              <a:t>after a few requests, your web clients start receiving errors</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180CD371-F45B-80A7-4F55-C837D80BE5F5}"/>
              </a:ext>
            </a:extLst>
          </p:cNvPr>
          <p:cNvGrpSpPr/>
          <p:nvPr/>
        </p:nvGrpSpPr>
        <p:grpSpPr>
          <a:xfrm>
            <a:off x="1157329" y="1719314"/>
            <a:ext cx="9877341" cy="3419372"/>
            <a:chOff x="1157328" y="1538938"/>
            <a:chExt cx="9877341" cy="3419372"/>
          </a:xfrm>
        </p:grpSpPr>
        <p:grpSp>
          <p:nvGrpSpPr>
            <p:cNvPr id="12" name="그룹 11">
              <a:extLst>
                <a:ext uri="{FF2B5EF4-FFF2-40B4-BE49-F238E27FC236}">
                  <a16:creationId xmlns:a16="http://schemas.microsoft.com/office/drawing/2014/main" id="{B98E4418-A03D-42D5-C4F5-1275752E536E}"/>
                </a:ext>
              </a:extLst>
            </p:cNvPr>
            <p:cNvGrpSpPr/>
            <p:nvPr/>
          </p:nvGrpSpPr>
          <p:grpSpPr>
            <a:xfrm>
              <a:off x="1157328" y="1538938"/>
              <a:ext cx="9877341" cy="3419372"/>
              <a:chOff x="1157328" y="1538938"/>
              <a:chExt cx="9877341" cy="3419372"/>
            </a:xfrm>
          </p:grpSpPr>
          <p:sp>
            <p:nvSpPr>
              <p:cNvPr id="8" name="TextBox 7">
                <a:extLst>
                  <a:ext uri="{FF2B5EF4-FFF2-40B4-BE49-F238E27FC236}">
                    <a16:creationId xmlns:a16="http://schemas.microsoft.com/office/drawing/2014/main" id="{8F8A9A0B-F5D3-CB38-5AF1-D532B2D560E0}"/>
                  </a:ext>
                </a:extLst>
              </p:cNvPr>
              <p:cNvSpPr txBox="1"/>
              <p:nvPr/>
            </p:nvSpPr>
            <p:spPr>
              <a:xfrm>
                <a:off x="3047326" y="1538938"/>
                <a:ext cx="6097348" cy="246221"/>
              </a:xfrm>
              <a:prstGeom prst="rect">
                <a:avLst/>
              </a:prstGeom>
              <a:noFill/>
              <a:ln>
                <a:solidFill>
                  <a:schemeClr val="bg1">
                    <a:lumMod val="50000"/>
                  </a:schemeClr>
                </a:solidFill>
              </a:ln>
            </p:spPr>
            <p:txBody>
              <a:bodyPr wrap="square">
                <a:spAutoFit/>
              </a:bodyPr>
              <a:lstStyle/>
              <a:p>
                <a:r>
                  <a:rPr lang="en-US" altLang="ko-KR" sz="1000" b="1" dirty="0"/>
                  <a:t>$ while true; do curl </a:t>
                </a:r>
                <a:r>
                  <a:rPr lang="en-US" altLang="ko-KR" sz="1000" b="1" dirty="0">
                    <a:solidFill>
                      <a:srgbClr val="FF0000"/>
                    </a:solidFill>
                  </a:rPr>
                  <a:t>http://kubia.example.com</a:t>
                </a:r>
                <a:r>
                  <a:rPr lang="en-US" altLang="ko-KR" sz="1000" b="1" dirty="0"/>
                  <a:t>; done</a:t>
                </a:r>
                <a:endParaRPr lang="ko-KR" altLang="en-US" sz="1000" b="1" dirty="0"/>
              </a:p>
            </p:txBody>
          </p:sp>
          <p:pic>
            <p:nvPicPr>
              <p:cNvPr id="10" name="그림 9">
                <a:extLst>
                  <a:ext uri="{FF2B5EF4-FFF2-40B4-BE49-F238E27FC236}">
                    <a16:creationId xmlns:a16="http://schemas.microsoft.com/office/drawing/2014/main" id="{FAD1FF1B-2E03-C8E2-5EC6-1F333CF05316}"/>
                  </a:ext>
                </a:extLst>
              </p:cNvPr>
              <p:cNvPicPr>
                <a:picLocks noChangeAspect="1"/>
              </p:cNvPicPr>
              <p:nvPr/>
            </p:nvPicPr>
            <p:blipFill>
              <a:blip r:embed="rId2"/>
              <a:stretch>
                <a:fillRect/>
              </a:stretch>
            </p:blipFill>
            <p:spPr>
              <a:xfrm>
                <a:off x="1157328" y="2077418"/>
                <a:ext cx="9877341" cy="2880892"/>
              </a:xfrm>
              <a:prstGeom prst="rect">
                <a:avLst/>
              </a:prstGeom>
            </p:spPr>
          </p:pic>
          <p:sp>
            <p:nvSpPr>
              <p:cNvPr id="11" name="화살표: 아래쪽 10">
                <a:extLst>
                  <a:ext uri="{FF2B5EF4-FFF2-40B4-BE49-F238E27FC236}">
                    <a16:creationId xmlns:a16="http://schemas.microsoft.com/office/drawing/2014/main" id="{D7434D1E-186A-2836-1698-0E5D1ADCB493}"/>
                  </a:ext>
                </a:extLst>
              </p:cNvPr>
              <p:cNvSpPr/>
              <p:nvPr/>
            </p:nvSpPr>
            <p:spPr>
              <a:xfrm>
                <a:off x="5877514" y="1785159"/>
                <a:ext cx="436970" cy="29225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6237CD8D-D494-D835-633D-1CF61128FDF4}"/>
                </a:ext>
              </a:extLst>
            </p:cNvPr>
            <p:cNvSpPr/>
            <p:nvPr/>
          </p:nvSpPr>
          <p:spPr>
            <a:xfrm>
              <a:off x="1213805" y="3803257"/>
              <a:ext cx="4628645"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432401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Declaratively(19/39)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Back a Deployment :</a:t>
            </a:r>
          </a:p>
          <a:p>
            <a:pPr lvl="1">
              <a:buFont typeface="Wingdings" panose="05000000000000000000" pitchFamily="2" charset="2"/>
              <a:buChar char="§"/>
            </a:pPr>
            <a:r>
              <a:rPr lang="en-US" altLang="ko-KR" sz="1400" dirty="0"/>
              <a:t>You can’t have your users experiencing internal server errors, so you need to do something about it fast. Luckily, </a:t>
            </a:r>
            <a:r>
              <a:rPr lang="en-US" altLang="ko-KR" sz="1400" b="1" dirty="0"/>
              <a:t>Deployments make it easy to </a:t>
            </a:r>
            <a:r>
              <a:rPr lang="en-US" altLang="ko-KR" sz="1400" b="1" dirty="0">
                <a:solidFill>
                  <a:srgbClr val="FF0000"/>
                </a:solidFill>
              </a:rPr>
              <a:t>roll back </a:t>
            </a:r>
            <a:r>
              <a:rPr lang="en-US" altLang="ko-KR" sz="1400" b="1" dirty="0"/>
              <a:t>to the previously deployed version by telling Kubernetes to </a:t>
            </a:r>
            <a:r>
              <a:rPr lang="en-US" altLang="ko-KR" sz="1400" b="1" dirty="0">
                <a:solidFill>
                  <a:srgbClr val="FF0000"/>
                </a:solidFill>
              </a:rPr>
              <a:t>undo</a:t>
            </a:r>
            <a:r>
              <a:rPr lang="en-US" altLang="ko-KR" sz="1400" b="1" dirty="0"/>
              <a:t> the last rollout of a Deployment</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undo command can also be used while the rollout process is still in progress to essentially abort the rollout</a:t>
            </a:r>
            <a:r>
              <a:rPr lang="en-US" altLang="ko-KR" sz="1400" dirty="0"/>
              <a:t>. Pods already created during the rollout process are removed and replaced with the old ones again.</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9BA13FDB-97CD-76A1-13BA-8F41DC565694}"/>
              </a:ext>
            </a:extLst>
          </p:cNvPr>
          <p:cNvGrpSpPr/>
          <p:nvPr/>
        </p:nvGrpSpPr>
        <p:grpSpPr>
          <a:xfrm>
            <a:off x="1392167" y="1797883"/>
            <a:ext cx="9407665" cy="3936996"/>
            <a:chOff x="1392167" y="1797883"/>
            <a:chExt cx="9407665" cy="3936996"/>
          </a:xfrm>
        </p:grpSpPr>
        <p:grpSp>
          <p:nvGrpSpPr>
            <p:cNvPr id="18" name="그룹 17">
              <a:extLst>
                <a:ext uri="{FF2B5EF4-FFF2-40B4-BE49-F238E27FC236}">
                  <a16:creationId xmlns:a16="http://schemas.microsoft.com/office/drawing/2014/main" id="{1C30B7A5-9846-71A7-E3C0-9B295E97E452}"/>
                </a:ext>
              </a:extLst>
            </p:cNvPr>
            <p:cNvGrpSpPr/>
            <p:nvPr/>
          </p:nvGrpSpPr>
          <p:grpSpPr>
            <a:xfrm>
              <a:off x="1392167" y="1797883"/>
              <a:ext cx="9407665" cy="3936996"/>
              <a:chOff x="1392167" y="1903079"/>
              <a:chExt cx="9407665" cy="3936996"/>
            </a:xfrm>
          </p:grpSpPr>
          <p:grpSp>
            <p:nvGrpSpPr>
              <p:cNvPr id="16" name="그룹 15">
                <a:extLst>
                  <a:ext uri="{FF2B5EF4-FFF2-40B4-BE49-F238E27FC236}">
                    <a16:creationId xmlns:a16="http://schemas.microsoft.com/office/drawing/2014/main" id="{89870B66-3BF4-45C3-ACB3-47B21E5D2F5F}"/>
                  </a:ext>
                </a:extLst>
              </p:cNvPr>
              <p:cNvGrpSpPr/>
              <p:nvPr/>
            </p:nvGrpSpPr>
            <p:grpSpPr>
              <a:xfrm>
                <a:off x="1392167" y="1903079"/>
                <a:ext cx="9407665" cy="3936996"/>
                <a:chOff x="1392167" y="1919263"/>
                <a:chExt cx="9407665" cy="3936996"/>
              </a:xfrm>
            </p:grpSpPr>
            <p:grpSp>
              <p:nvGrpSpPr>
                <p:cNvPr id="10" name="그룹 9">
                  <a:extLst>
                    <a:ext uri="{FF2B5EF4-FFF2-40B4-BE49-F238E27FC236}">
                      <a16:creationId xmlns:a16="http://schemas.microsoft.com/office/drawing/2014/main" id="{C9F592C8-369E-62F0-0D8B-C62198A36216}"/>
                    </a:ext>
                  </a:extLst>
                </p:cNvPr>
                <p:cNvGrpSpPr/>
                <p:nvPr/>
              </p:nvGrpSpPr>
              <p:grpSpPr>
                <a:xfrm>
                  <a:off x="3047326" y="1919263"/>
                  <a:ext cx="6097348" cy="556899"/>
                  <a:chOff x="3047326" y="2064920"/>
                  <a:chExt cx="6097348" cy="556899"/>
                </a:xfrm>
              </p:grpSpPr>
              <p:sp>
                <p:nvSpPr>
                  <p:cNvPr id="8" name="TextBox 7">
                    <a:extLst>
                      <a:ext uri="{FF2B5EF4-FFF2-40B4-BE49-F238E27FC236}">
                        <a16:creationId xmlns:a16="http://schemas.microsoft.com/office/drawing/2014/main" id="{9C2DE08D-D12A-011A-8DFF-5E1E45C3C4E9}"/>
                      </a:ext>
                    </a:extLst>
                  </p:cNvPr>
                  <p:cNvSpPr txBox="1"/>
                  <p:nvPr/>
                </p:nvSpPr>
                <p:spPr>
                  <a:xfrm>
                    <a:off x="3047326" y="206492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undo </a:t>
                    </a:r>
                    <a:r>
                      <a:rPr lang="en-US" altLang="ko-KR" sz="1000" b="1" dirty="0"/>
                      <a:t>deployment </a:t>
                    </a:r>
                    <a:r>
                      <a:rPr lang="en-US" altLang="ko-KR" sz="1000" b="1" dirty="0" err="1"/>
                      <a:t>kubia</a:t>
                    </a:r>
                    <a:endParaRPr lang="en-US" altLang="ko-KR" sz="1000" b="1" dirty="0"/>
                  </a:p>
                </p:txBody>
              </p:sp>
              <p:sp>
                <p:nvSpPr>
                  <p:cNvPr id="9" name="화살표: 아래쪽 8">
                    <a:extLst>
                      <a:ext uri="{FF2B5EF4-FFF2-40B4-BE49-F238E27FC236}">
                        <a16:creationId xmlns:a16="http://schemas.microsoft.com/office/drawing/2014/main" id="{F77A1EC0-4C20-899F-D654-88E406675A57}"/>
                      </a:ext>
                    </a:extLst>
                  </p:cNvPr>
                  <p:cNvSpPr/>
                  <p:nvPr/>
                </p:nvSpPr>
                <p:spPr>
                  <a:xfrm>
                    <a:off x="5869423" y="2338598"/>
                    <a:ext cx="453154"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5" name="그룹 14">
                  <a:extLst>
                    <a:ext uri="{FF2B5EF4-FFF2-40B4-BE49-F238E27FC236}">
                      <a16:creationId xmlns:a16="http://schemas.microsoft.com/office/drawing/2014/main" id="{E4F5990C-C910-9C22-C550-FB1CFCFEA3EC}"/>
                    </a:ext>
                  </a:extLst>
                </p:cNvPr>
                <p:cNvGrpSpPr/>
                <p:nvPr/>
              </p:nvGrpSpPr>
              <p:grpSpPr>
                <a:xfrm>
                  <a:off x="1392167" y="2476162"/>
                  <a:ext cx="9407665" cy="3380097"/>
                  <a:chOff x="1392167" y="2476162"/>
                  <a:chExt cx="9407665" cy="3380097"/>
                </a:xfrm>
              </p:grpSpPr>
              <p:pic>
                <p:nvPicPr>
                  <p:cNvPr id="12" name="그림 11">
                    <a:extLst>
                      <a:ext uri="{FF2B5EF4-FFF2-40B4-BE49-F238E27FC236}">
                        <a16:creationId xmlns:a16="http://schemas.microsoft.com/office/drawing/2014/main" id="{0AA97C69-5520-861E-F5DE-DCEE999CFF19}"/>
                      </a:ext>
                    </a:extLst>
                  </p:cNvPr>
                  <p:cNvPicPr>
                    <a:picLocks noChangeAspect="1"/>
                  </p:cNvPicPr>
                  <p:nvPr/>
                </p:nvPicPr>
                <p:blipFill>
                  <a:blip r:embed="rId2"/>
                  <a:stretch>
                    <a:fillRect/>
                  </a:stretch>
                </p:blipFill>
                <p:spPr>
                  <a:xfrm>
                    <a:off x="1392167" y="2476162"/>
                    <a:ext cx="9407665" cy="1489547"/>
                  </a:xfrm>
                  <a:prstGeom prst="rect">
                    <a:avLst/>
                  </a:prstGeom>
                </p:spPr>
              </p:pic>
              <p:pic>
                <p:nvPicPr>
                  <p:cNvPr id="14" name="그림 13">
                    <a:extLst>
                      <a:ext uri="{FF2B5EF4-FFF2-40B4-BE49-F238E27FC236}">
                        <a16:creationId xmlns:a16="http://schemas.microsoft.com/office/drawing/2014/main" id="{F2059513-FF94-AECD-BFCF-585778F85C7E}"/>
                      </a:ext>
                    </a:extLst>
                  </p:cNvPr>
                  <p:cNvPicPr>
                    <a:picLocks noChangeAspect="1"/>
                  </p:cNvPicPr>
                  <p:nvPr/>
                </p:nvPicPr>
                <p:blipFill>
                  <a:blip r:embed="rId3"/>
                  <a:stretch>
                    <a:fillRect/>
                  </a:stretch>
                </p:blipFill>
                <p:spPr>
                  <a:xfrm>
                    <a:off x="1392167" y="3794412"/>
                    <a:ext cx="9407665" cy="2061847"/>
                  </a:xfrm>
                  <a:prstGeom prst="rect">
                    <a:avLst/>
                  </a:prstGeom>
                  <a:ln>
                    <a:solidFill>
                      <a:schemeClr val="bg1">
                        <a:lumMod val="50000"/>
                      </a:schemeClr>
                    </a:solidFill>
                  </a:ln>
                </p:spPr>
              </p:pic>
            </p:grpSp>
          </p:grpSp>
          <p:sp>
            <p:nvSpPr>
              <p:cNvPr id="17" name="직사각형 16">
                <a:extLst>
                  <a:ext uri="{FF2B5EF4-FFF2-40B4-BE49-F238E27FC236}">
                    <a16:creationId xmlns:a16="http://schemas.microsoft.com/office/drawing/2014/main" id="{A4B90EAD-A449-9169-0E54-9355B7B4F94E}"/>
                  </a:ext>
                </a:extLst>
              </p:cNvPr>
              <p:cNvSpPr/>
              <p:nvPr/>
            </p:nvSpPr>
            <p:spPr>
              <a:xfrm>
                <a:off x="1991315" y="4362218"/>
                <a:ext cx="226577" cy="13345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9" name="직사각형 18">
              <a:extLst>
                <a:ext uri="{FF2B5EF4-FFF2-40B4-BE49-F238E27FC236}">
                  <a16:creationId xmlns:a16="http://schemas.microsoft.com/office/drawing/2014/main" id="{3096E054-F2D7-2A41-6EA6-A80A6AF16D44}"/>
                </a:ext>
              </a:extLst>
            </p:cNvPr>
            <p:cNvSpPr/>
            <p:nvPr/>
          </p:nvSpPr>
          <p:spPr>
            <a:xfrm>
              <a:off x="1480842" y="2937409"/>
              <a:ext cx="2201034" cy="1301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864859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Declaratively(20/39)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Back a Deployment :</a:t>
            </a:r>
          </a:p>
          <a:p>
            <a:pPr lvl="1">
              <a:buFont typeface="Wingdings" panose="05000000000000000000" pitchFamily="2" charset="2"/>
              <a:buChar char="§"/>
            </a:pPr>
            <a:r>
              <a:rPr lang="en-US" altLang="ko-KR" sz="1400" b="1" dirty="0"/>
              <a:t>Rolling back a rollout is possible because </a:t>
            </a:r>
            <a:r>
              <a:rPr lang="en-US" altLang="ko-KR" sz="1400" b="1" dirty="0">
                <a:solidFill>
                  <a:srgbClr val="FF0000"/>
                </a:solidFill>
              </a:rPr>
              <a:t>Deployments keep a revision history</a:t>
            </a:r>
            <a:r>
              <a:rPr lang="en-US" altLang="ko-KR" sz="1400" dirty="0"/>
              <a:t>. </a:t>
            </a:r>
            <a:r>
              <a:rPr lang="en-US" altLang="ko-KR" sz="1400" b="1" dirty="0"/>
              <a:t>The history is stored in the underlying </a:t>
            </a:r>
            <a:r>
              <a:rPr lang="en-US" altLang="ko-KR" sz="1400" b="1" dirty="0" err="1"/>
              <a:t>ReplicaSets</a:t>
            </a:r>
            <a:r>
              <a:rPr lang="en-US" altLang="ko-KR" sz="1400" dirty="0"/>
              <a:t>. </a:t>
            </a:r>
            <a:r>
              <a:rPr lang="en-US" altLang="ko-KR" sz="1400" b="1" dirty="0"/>
              <a:t>When a rollout completes, the old </a:t>
            </a:r>
            <a:r>
              <a:rPr lang="en-US" altLang="ko-KR" sz="1400" b="1" dirty="0" err="1"/>
              <a:t>ReplicaSet</a:t>
            </a:r>
            <a:r>
              <a:rPr lang="en-US" altLang="ko-KR" sz="1400" b="1" dirty="0"/>
              <a:t> isn’t deleted, and this enables rolling back to any revision, not only the previous one</a:t>
            </a:r>
            <a:r>
              <a:rPr lang="en-US" altLang="ko-KR" sz="1400" dirty="0"/>
              <a:t>. The revision history can be displayed with the </a:t>
            </a:r>
            <a:r>
              <a:rPr lang="en-US" altLang="ko-KR" sz="1400" dirty="0" err="1"/>
              <a:t>kubectl</a:t>
            </a:r>
            <a:r>
              <a:rPr lang="en-US" altLang="ko-KR" sz="1400" dirty="0"/>
              <a:t> rollout history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Remember the “</a:t>
            </a:r>
            <a:r>
              <a:rPr lang="en-US" altLang="ko-KR" sz="1400" b="1" dirty="0">
                <a:solidFill>
                  <a:srgbClr val="FF0000"/>
                </a:solidFill>
              </a:rPr>
              <a:t>--record</a:t>
            </a:r>
            <a:r>
              <a:rPr lang="en-US" altLang="ko-KR" sz="1400" b="1" dirty="0"/>
              <a:t>” command-line option you used when creating the Deployment? Without it, the “</a:t>
            </a:r>
            <a:r>
              <a:rPr lang="en-US" altLang="ko-KR" sz="1400" b="1" dirty="0">
                <a:solidFill>
                  <a:srgbClr val="FF0000"/>
                </a:solidFill>
              </a:rPr>
              <a:t>CHANGE-CAUSE</a:t>
            </a:r>
            <a:r>
              <a:rPr lang="en-US" altLang="ko-KR" sz="1400" b="1" dirty="0"/>
              <a:t>” column in the revision history would be empty</a:t>
            </a:r>
            <a:r>
              <a:rPr lang="en-US" altLang="ko-KR" sz="1400" dirty="0"/>
              <a:t>, making it much harder to figure out what’s behind each revision.</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981E8FC-82DF-19CE-5AAF-CFA603BD6465}"/>
              </a:ext>
            </a:extLst>
          </p:cNvPr>
          <p:cNvGrpSpPr/>
          <p:nvPr/>
        </p:nvGrpSpPr>
        <p:grpSpPr>
          <a:xfrm>
            <a:off x="1303155" y="2129656"/>
            <a:ext cx="9585690" cy="2256687"/>
            <a:chOff x="1303155" y="2089196"/>
            <a:chExt cx="9585690" cy="2256687"/>
          </a:xfrm>
        </p:grpSpPr>
        <p:sp>
          <p:nvSpPr>
            <p:cNvPr id="8" name="TextBox 7">
              <a:extLst>
                <a:ext uri="{FF2B5EF4-FFF2-40B4-BE49-F238E27FC236}">
                  <a16:creationId xmlns:a16="http://schemas.microsoft.com/office/drawing/2014/main" id="{FEF559C1-CF08-8A20-FE4B-BD6E8543C5F6}"/>
                </a:ext>
              </a:extLst>
            </p:cNvPr>
            <p:cNvSpPr txBox="1"/>
            <p:nvPr/>
          </p:nvSpPr>
          <p:spPr>
            <a:xfrm>
              <a:off x="3047326" y="208919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history </a:t>
              </a:r>
              <a:r>
                <a:rPr lang="en-US" altLang="ko-KR" sz="1000" b="1" dirty="0"/>
                <a:t>deployment </a:t>
              </a:r>
              <a:r>
                <a:rPr lang="en-US" altLang="ko-KR" sz="1000" b="1" dirty="0" err="1"/>
                <a:t>kubia</a:t>
              </a:r>
              <a:endParaRPr lang="ko-KR" altLang="en-US" sz="1000" b="1" dirty="0"/>
            </a:p>
          </p:txBody>
        </p:sp>
        <p:sp>
          <p:nvSpPr>
            <p:cNvPr id="9" name="화살표: 아래쪽 8">
              <a:extLst>
                <a:ext uri="{FF2B5EF4-FFF2-40B4-BE49-F238E27FC236}">
                  <a16:creationId xmlns:a16="http://schemas.microsoft.com/office/drawing/2014/main" id="{296032BB-EFDF-3F5F-A2DF-AD0DF7AB3F46}"/>
                </a:ext>
              </a:extLst>
            </p:cNvPr>
            <p:cNvSpPr/>
            <p:nvPr/>
          </p:nvSpPr>
          <p:spPr>
            <a:xfrm>
              <a:off x="5873469" y="2362874"/>
              <a:ext cx="445062" cy="2913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EF4C737A-7051-EBD2-0124-E9E74F9BA454}"/>
                </a:ext>
              </a:extLst>
            </p:cNvPr>
            <p:cNvPicPr>
              <a:picLocks noChangeAspect="1"/>
            </p:cNvPicPr>
            <p:nvPr/>
          </p:nvPicPr>
          <p:blipFill>
            <a:blip r:embed="rId2"/>
            <a:stretch>
              <a:fillRect/>
            </a:stretch>
          </p:blipFill>
          <p:spPr>
            <a:xfrm>
              <a:off x="1303155" y="2660399"/>
              <a:ext cx="9585690" cy="1685484"/>
            </a:xfrm>
            <a:prstGeom prst="rect">
              <a:avLst/>
            </a:prstGeom>
          </p:spPr>
        </p:pic>
      </p:grpSp>
    </p:spTree>
    <p:extLst>
      <p:ext uri="{BB962C8B-B14F-4D97-AF65-F5344CB8AC3E}">
        <p14:creationId xmlns:p14="http://schemas.microsoft.com/office/powerpoint/2010/main" val="35826603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Declaratively(21/39)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Back a Deployment :</a:t>
            </a:r>
          </a:p>
          <a:p>
            <a:pPr lvl="1">
              <a:buFont typeface="Wingdings" panose="05000000000000000000" pitchFamily="2" charset="2"/>
              <a:buChar char="§"/>
            </a:pPr>
            <a:r>
              <a:rPr lang="en-US" altLang="ko-KR" sz="1400" b="1" dirty="0"/>
              <a:t>You can roll back to a specific revision by specifying the revision in the undo command</a:t>
            </a:r>
            <a:r>
              <a:rPr lang="en-US" altLang="ko-KR" sz="1400" dirty="0"/>
              <a:t>. For example, if you want to roll back to the third(</a:t>
            </a:r>
            <a:r>
              <a:rPr lang="en-US" altLang="ko-KR" sz="1400" b="1" dirty="0"/>
              <a:t>the revision number </a:t>
            </a:r>
            <a:r>
              <a:rPr lang="en-US" altLang="ko-KR" sz="1400" dirty="0"/>
              <a:t>- you can find it in the previous page) version, you’d execute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Remember the inactive </a:t>
            </a:r>
            <a:r>
              <a:rPr lang="en-US" altLang="ko-KR" sz="1400" b="1" dirty="0" err="1"/>
              <a:t>ReplicaSet</a:t>
            </a:r>
            <a:r>
              <a:rPr lang="en-US" altLang="ko-KR" sz="1400" dirty="0"/>
              <a:t> left over when you modified the Deployment the first time? </a:t>
            </a:r>
            <a:r>
              <a:rPr lang="en-US" altLang="ko-KR" sz="1400" b="1" dirty="0"/>
              <a:t>The </a:t>
            </a:r>
            <a:r>
              <a:rPr lang="en-US" altLang="ko-KR" sz="1400" b="1" dirty="0" err="1"/>
              <a:t>ReplicaSet</a:t>
            </a:r>
            <a:r>
              <a:rPr lang="en-US" altLang="ko-KR" sz="1400" b="1" dirty="0"/>
              <a:t> represents the first revision of your Deployment</a:t>
            </a:r>
            <a:r>
              <a:rPr lang="en-US" altLang="ko-KR" sz="1400" dirty="0"/>
              <a:t>. </a:t>
            </a:r>
            <a:r>
              <a:rPr lang="en-US" altLang="ko-KR" sz="1400" b="1" dirty="0"/>
              <a:t>All </a:t>
            </a:r>
            <a:r>
              <a:rPr lang="en-US" altLang="ko-KR" sz="1400" b="1" dirty="0" err="1"/>
              <a:t>ReplicaSets</a:t>
            </a:r>
            <a:r>
              <a:rPr lang="en-US" altLang="ko-KR" sz="1400" b="1" dirty="0"/>
              <a:t> created by a Deployment represent the complete revision history</a:t>
            </a:r>
            <a:r>
              <a:rPr lang="en-US" altLang="ko-KR" sz="1400" dirty="0"/>
              <a:t>. </a:t>
            </a:r>
          </a:p>
          <a:p>
            <a:pPr lvl="1">
              <a:buFont typeface="Wingdings" panose="05000000000000000000" pitchFamily="2" charset="2"/>
              <a:buChar char="§"/>
            </a:pPr>
            <a:r>
              <a:rPr lang="en-US" altLang="ko-KR" sz="1400" b="1" dirty="0"/>
              <a:t>NOTE : Each </a:t>
            </a:r>
            <a:r>
              <a:rPr lang="en-US" altLang="ko-KR" sz="1400" b="1" dirty="0" err="1"/>
              <a:t>ReplicaSet</a:t>
            </a:r>
            <a:r>
              <a:rPr lang="en-US" altLang="ko-KR" sz="1400" b="1" dirty="0"/>
              <a:t> stores the complete information of the Deployment at that specific revision</a:t>
            </a:r>
            <a:r>
              <a:rPr lang="en-US" altLang="ko-KR" sz="1400" dirty="0"/>
              <a:t>, so you shouldn’t delete it manually. </a:t>
            </a:r>
            <a:r>
              <a:rPr lang="en-US" altLang="ko-KR" sz="1400" b="1" dirty="0"/>
              <a:t>If you do, you’ll lose that specific revision from the Deployment’s history, preventing you from rolling back to it</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FA97B79-F3A1-8379-60BB-AF98C73C6843}"/>
              </a:ext>
            </a:extLst>
          </p:cNvPr>
          <p:cNvGrpSpPr/>
          <p:nvPr/>
        </p:nvGrpSpPr>
        <p:grpSpPr>
          <a:xfrm>
            <a:off x="1270786" y="1926421"/>
            <a:ext cx="9650427" cy="2057426"/>
            <a:chOff x="1270786" y="1756488"/>
            <a:chExt cx="9650427" cy="2057426"/>
          </a:xfrm>
        </p:grpSpPr>
        <p:sp>
          <p:nvSpPr>
            <p:cNvPr id="8" name="TextBox 7">
              <a:extLst>
                <a:ext uri="{FF2B5EF4-FFF2-40B4-BE49-F238E27FC236}">
                  <a16:creationId xmlns:a16="http://schemas.microsoft.com/office/drawing/2014/main" id="{A07700CF-C6D9-3BB4-4BA6-F4F6B93B1A00}"/>
                </a:ext>
              </a:extLst>
            </p:cNvPr>
            <p:cNvSpPr txBox="1"/>
            <p:nvPr/>
          </p:nvSpPr>
          <p:spPr>
            <a:xfrm>
              <a:off x="3047326" y="175648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rollout undo deployment </a:t>
              </a:r>
              <a:r>
                <a:rPr lang="en-US" altLang="ko-KR" sz="1000" b="1" dirty="0" err="1"/>
                <a:t>kubia</a:t>
              </a:r>
              <a:r>
                <a:rPr lang="en-US" altLang="ko-KR" sz="1000" b="1" dirty="0"/>
                <a:t> </a:t>
              </a:r>
              <a:r>
                <a:rPr lang="en-US" altLang="ko-KR" sz="1000" b="1" dirty="0">
                  <a:solidFill>
                    <a:srgbClr val="FF0000"/>
                  </a:solidFill>
                </a:rPr>
                <a:t>--to-revision=3</a:t>
              </a:r>
            </a:p>
          </p:txBody>
        </p:sp>
        <p:sp>
          <p:nvSpPr>
            <p:cNvPr id="9" name="화살표: 아래쪽 8">
              <a:extLst>
                <a:ext uri="{FF2B5EF4-FFF2-40B4-BE49-F238E27FC236}">
                  <a16:creationId xmlns:a16="http://schemas.microsoft.com/office/drawing/2014/main" id="{3AB20B83-0B35-0AE9-6FDC-FF6932CF56CB}"/>
                </a:ext>
              </a:extLst>
            </p:cNvPr>
            <p:cNvSpPr/>
            <p:nvPr/>
          </p:nvSpPr>
          <p:spPr>
            <a:xfrm>
              <a:off x="5885607" y="2002709"/>
              <a:ext cx="420786"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B7126DBB-B226-55A7-1B15-8ABB7E0DBBBF}"/>
                </a:ext>
              </a:extLst>
            </p:cNvPr>
            <p:cNvPicPr>
              <a:picLocks noChangeAspect="1"/>
            </p:cNvPicPr>
            <p:nvPr/>
          </p:nvPicPr>
          <p:blipFill>
            <a:blip r:embed="rId2"/>
            <a:stretch>
              <a:fillRect/>
            </a:stretch>
          </p:blipFill>
          <p:spPr>
            <a:xfrm>
              <a:off x="1270786" y="2285930"/>
              <a:ext cx="9650427" cy="1527984"/>
            </a:xfrm>
            <a:prstGeom prst="rect">
              <a:avLst/>
            </a:prstGeom>
          </p:spPr>
        </p:pic>
      </p:grpSp>
    </p:spTree>
    <p:extLst>
      <p:ext uri="{BB962C8B-B14F-4D97-AF65-F5344CB8AC3E}">
        <p14:creationId xmlns:p14="http://schemas.microsoft.com/office/powerpoint/2010/main" val="29241499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Declaratively(22/39)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Rolling Back a Deployment :</a:t>
            </a:r>
          </a:p>
          <a:p>
            <a:pPr lvl="1">
              <a:buFont typeface="Wingdings" panose="05000000000000000000" pitchFamily="2" charset="2"/>
              <a:buChar char="§"/>
            </a:pPr>
            <a:r>
              <a:rPr lang="en-US" altLang="ko-KR" sz="1400" b="1" dirty="0"/>
              <a:t>But having old </a:t>
            </a:r>
            <a:r>
              <a:rPr lang="en-US" altLang="ko-KR" sz="1400" b="1" dirty="0" err="1"/>
              <a:t>ReplicaSets</a:t>
            </a:r>
            <a:r>
              <a:rPr lang="en-US" altLang="ko-KR" sz="1400" b="1" dirty="0"/>
              <a:t> cluttering your </a:t>
            </a:r>
            <a:r>
              <a:rPr lang="en-US" altLang="ko-KR" sz="1400" b="1" dirty="0" err="1"/>
              <a:t>ReplicaSet</a:t>
            </a:r>
            <a:r>
              <a:rPr lang="en-US" altLang="ko-KR" sz="1400" b="1" dirty="0"/>
              <a:t> list is not ideal, so the length of the revision history is limited by the “</a:t>
            </a:r>
            <a:r>
              <a:rPr lang="en-US" altLang="ko-KR" sz="1400" b="1" dirty="0" err="1">
                <a:solidFill>
                  <a:srgbClr val="FF0000"/>
                </a:solidFill>
              </a:rPr>
              <a:t>revisionHistoryLimit</a:t>
            </a:r>
            <a:r>
              <a:rPr lang="en-US" altLang="ko-KR" sz="1400" b="1" dirty="0"/>
              <a:t>” property on the Deployment resource</a:t>
            </a:r>
            <a:r>
              <a:rPr lang="en-US" altLang="ko-KR" sz="1400" dirty="0"/>
              <a:t>. </a:t>
            </a:r>
            <a:r>
              <a:rPr lang="en-US" altLang="ko-KR" sz="1400" b="1" dirty="0"/>
              <a:t>It defaults to two</a:t>
            </a:r>
            <a:r>
              <a:rPr lang="en-US" altLang="ko-KR" sz="1400" dirty="0"/>
              <a:t>, </a:t>
            </a:r>
            <a:r>
              <a:rPr lang="en-US" altLang="ko-KR" sz="1400" b="1" dirty="0"/>
              <a:t>so normally only the current and the previous revision are shown in the history </a:t>
            </a:r>
            <a:r>
              <a:rPr lang="en-US" altLang="ko-KR" sz="1400" dirty="0"/>
              <a:t>(and only the current and the previous </a:t>
            </a:r>
            <a:r>
              <a:rPr lang="en-US" altLang="ko-KR" sz="1400" b="1" dirty="0" err="1"/>
              <a:t>ReplicaSet</a:t>
            </a:r>
            <a:r>
              <a:rPr lang="en-US" altLang="ko-KR" sz="1400" dirty="0"/>
              <a:t> are preserved). </a:t>
            </a:r>
            <a:r>
              <a:rPr lang="en-US" altLang="ko-KR" sz="1400" b="1" dirty="0"/>
              <a:t>Older </a:t>
            </a:r>
            <a:r>
              <a:rPr lang="en-US" altLang="ko-KR" sz="1400" b="1" dirty="0" err="1"/>
              <a:t>ReplicaSets</a:t>
            </a:r>
            <a:r>
              <a:rPr lang="en-US" altLang="ko-KR" sz="1400" b="1" dirty="0"/>
              <a:t> are deleted automatically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31F0174-9D4E-6461-3287-8F5E9792A426}"/>
              </a:ext>
            </a:extLst>
          </p:cNvPr>
          <p:cNvPicPr>
            <a:picLocks noChangeAspect="1"/>
          </p:cNvPicPr>
          <p:nvPr/>
        </p:nvPicPr>
        <p:blipFill>
          <a:blip r:embed="rId2"/>
          <a:stretch>
            <a:fillRect/>
          </a:stretch>
        </p:blipFill>
        <p:spPr>
          <a:xfrm>
            <a:off x="3667125" y="2657475"/>
            <a:ext cx="4857750" cy="1543050"/>
          </a:xfrm>
          <a:prstGeom prst="rect">
            <a:avLst/>
          </a:prstGeom>
        </p:spPr>
      </p:pic>
    </p:spTree>
    <p:extLst>
      <p:ext uri="{BB962C8B-B14F-4D97-AF65-F5344CB8AC3E}">
        <p14:creationId xmlns:p14="http://schemas.microsoft.com/office/powerpoint/2010/main" val="13446488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Declaratively(23/39)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Controlling the Rate of the Rollout :</a:t>
            </a:r>
          </a:p>
          <a:p>
            <a:pPr lvl="1">
              <a:buFont typeface="Wingdings" panose="05000000000000000000" pitchFamily="2" charset="2"/>
              <a:buChar char="§"/>
            </a:pPr>
            <a:r>
              <a:rPr lang="en-US" altLang="ko-KR" sz="1400" dirty="0"/>
              <a:t>When you performed the rollout to “</a:t>
            </a:r>
            <a:r>
              <a:rPr lang="en-US" altLang="ko-KR" sz="1400" b="1" dirty="0"/>
              <a:t>v3</a:t>
            </a:r>
            <a:r>
              <a:rPr lang="en-US" altLang="ko-KR" sz="1400" dirty="0"/>
              <a:t>” and tracked its progress with the “</a:t>
            </a:r>
            <a:r>
              <a:rPr lang="en-US" altLang="ko-KR" sz="1400" b="1" dirty="0" err="1"/>
              <a:t>kubectl</a:t>
            </a:r>
            <a:r>
              <a:rPr lang="en-US" altLang="ko-KR" sz="1400" b="1" dirty="0"/>
              <a:t> rollout status</a:t>
            </a:r>
            <a:r>
              <a:rPr lang="en-US" altLang="ko-KR" sz="1400" dirty="0"/>
              <a:t>” command, you saw that first a new pod was created, and when it became available, one of the old pods was deleted and another new pod was created. This continued until there were no old pods left. </a:t>
            </a:r>
            <a:r>
              <a:rPr lang="en-US" altLang="ko-KR" sz="1400" b="1" dirty="0"/>
              <a:t>The way new pods are created and old ones are deleted is configurable through two additional properties of the </a:t>
            </a:r>
            <a:r>
              <a:rPr lang="en-US" altLang="ko-KR" sz="1400" b="1" dirty="0">
                <a:solidFill>
                  <a:srgbClr val="FF0000"/>
                </a:solidFill>
              </a:rPr>
              <a:t>rolling update strategy</a:t>
            </a:r>
            <a:r>
              <a:rPr lang="en-US" altLang="ko-KR" sz="1400" dirty="0"/>
              <a:t>.</a:t>
            </a:r>
          </a:p>
          <a:p>
            <a:pPr lvl="1">
              <a:buFont typeface="Wingdings" panose="05000000000000000000" pitchFamily="2" charset="2"/>
              <a:buChar char="§"/>
            </a:pPr>
            <a:r>
              <a:rPr lang="en-US" altLang="ko-KR" sz="1400" b="1" dirty="0"/>
              <a:t>Two properties affect how many pods are replaced at once during a Deployment’s rolling update</a:t>
            </a:r>
            <a:r>
              <a:rPr lang="en-US" altLang="ko-KR" sz="1400" dirty="0"/>
              <a:t>. They are “</a:t>
            </a:r>
            <a:r>
              <a:rPr lang="en-US" altLang="ko-KR" sz="1400" b="1" dirty="0" err="1">
                <a:solidFill>
                  <a:srgbClr val="FF0000"/>
                </a:solidFill>
              </a:rPr>
              <a:t>maxSurge</a:t>
            </a:r>
            <a:r>
              <a:rPr lang="en-US" altLang="ko-KR" sz="1400" b="1" dirty="0"/>
              <a:t>”</a:t>
            </a:r>
            <a:r>
              <a:rPr lang="en-US" altLang="ko-KR" sz="1400" dirty="0"/>
              <a:t> and “</a:t>
            </a:r>
            <a:r>
              <a:rPr lang="en-US" altLang="ko-KR" sz="1400" b="1" dirty="0" err="1">
                <a:solidFill>
                  <a:srgbClr val="FF0000"/>
                </a:solidFill>
              </a:rPr>
              <a:t>maxUnavailable</a:t>
            </a:r>
            <a:r>
              <a:rPr lang="en-US" altLang="ko-KR" sz="1400" b="1" dirty="0"/>
              <a:t>”</a:t>
            </a:r>
            <a:r>
              <a:rPr lang="en-US" altLang="ko-KR" sz="1400" dirty="0"/>
              <a:t> </a:t>
            </a:r>
            <a:r>
              <a:rPr lang="en-US" altLang="ko-KR" sz="1400" b="1" dirty="0"/>
              <a:t>and can be set as part of the “</a:t>
            </a:r>
            <a:r>
              <a:rPr lang="en-US" altLang="ko-KR" sz="1400" b="1" dirty="0" err="1">
                <a:solidFill>
                  <a:srgbClr val="FF0000"/>
                </a:solidFill>
              </a:rPr>
              <a:t>rollingUpdate</a:t>
            </a:r>
            <a:r>
              <a:rPr lang="en-US" altLang="ko-KR" sz="1400" b="1" dirty="0"/>
              <a:t>” sub-property of the Deployment’s “</a:t>
            </a:r>
            <a:r>
              <a:rPr lang="en-US" altLang="ko-KR" sz="1400" b="1" dirty="0">
                <a:solidFill>
                  <a:srgbClr val="FF0000"/>
                </a:solidFill>
              </a:rPr>
              <a:t>strategy</a:t>
            </a:r>
            <a:r>
              <a:rPr lang="en-US" altLang="ko-KR" sz="1400" b="1" dirty="0"/>
              <a:t>” attribute</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F9F1D41C-2CE1-DD84-66E8-361C039724FD}"/>
              </a:ext>
            </a:extLst>
          </p:cNvPr>
          <p:cNvGrpSpPr/>
          <p:nvPr/>
        </p:nvGrpSpPr>
        <p:grpSpPr>
          <a:xfrm>
            <a:off x="2264505" y="2864384"/>
            <a:ext cx="7662990" cy="2944854"/>
            <a:chOff x="2264505" y="2864384"/>
            <a:chExt cx="7662990" cy="2944854"/>
          </a:xfrm>
        </p:grpSpPr>
        <p:grpSp>
          <p:nvGrpSpPr>
            <p:cNvPr id="11" name="그룹 10">
              <a:extLst>
                <a:ext uri="{FF2B5EF4-FFF2-40B4-BE49-F238E27FC236}">
                  <a16:creationId xmlns:a16="http://schemas.microsoft.com/office/drawing/2014/main" id="{F985A8BF-60E9-01A7-85B2-52299A877588}"/>
                </a:ext>
              </a:extLst>
            </p:cNvPr>
            <p:cNvGrpSpPr/>
            <p:nvPr/>
          </p:nvGrpSpPr>
          <p:grpSpPr>
            <a:xfrm>
              <a:off x="2264505" y="2864384"/>
              <a:ext cx="7662990" cy="2944854"/>
              <a:chOff x="3047326" y="2767280"/>
              <a:chExt cx="7662990" cy="2944854"/>
            </a:xfrm>
          </p:grpSpPr>
          <p:sp>
            <p:nvSpPr>
              <p:cNvPr id="8" name="TextBox 7">
                <a:extLst>
                  <a:ext uri="{FF2B5EF4-FFF2-40B4-BE49-F238E27FC236}">
                    <a16:creationId xmlns:a16="http://schemas.microsoft.com/office/drawing/2014/main" id="{214A7DA1-63A6-5776-91D9-A4F798B55ED9}"/>
                  </a:ext>
                </a:extLst>
              </p:cNvPr>
              <p:cNvSpPr txBox="1"/>
              <p:nvPr/>
            </p:nvSpPr>
            <p:spPr>
              <a:xfrm>
                <a:off x="3047326" y="2767280"/>
                <a:ext cx="6097348" cy="1323439"/>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t>spec:</a:t>
                </a:r>
              </a:p>
              <a:p>
                <a:r>
                  <a:rPr lang="en-US" altLang="ko-KR" sz="1000" b="1" dirty="0"/>
                  <a:t>  </a:t>
                </a:r>
                <a:r>
                  <a:rPr lang="en-US" altLang="ko-KR" sz="1000" b="1" dirty="0">
                    <a:solidFill>
                      <a:srgbClr val="FF0000"/>
                    </a:solidFill>
                  </a:rPr>
                  <a:t>strategy</a:t>
                </a:r>
                <a:r>
                  <a:rPr lang="en-US" altLang="ko-KR" sz="1000" b="1" dirty="0"/>
                  <a:t>:</a:t>
                </a:r>
              </a:p>
              <a:p>
                <a:r>
                  <a:rPr lang="en-US" altLang="ko-KR" sz="1000" b="1" dirty="0"/>
                  <a:t>    </a:t>
                </a:r>
                <a:r>
                  <a:rPr lang="en-US" altLang="ko-KR" sz="1000" b="1" dirty="0" err="1">
                    <a:solidFill>
                      <a:srgbClr val="FF0000"/>
                    </a:solidFill>
                  </a:rPr>
                  <a:t>rollingUpdate</a:t>
                </a:r>
                <a:r>
                  <a:rPr lang="en-US" altLang="ko-KR" sz="1000" b="1" dirty="0"/>
                  <a:t>:</a:t>
                </a:r>
              </a:p>
              <a:p>
                <a:r>
                  <a:rPr lang="en-US" altLang="ko-KR" sz="1000" b="1" dirty="0"/>
                  <a:t>      </a:t>
                </a:r>
                <a:r>
                  <a:rPr lang="en-US" altLang="ko-KR" sz="1000" b="1" dirty="0" err="1">
                    <a:solidFill>
                      <a:srgbClr val="FF0000"/>
                    </a:solidFill>
                  </a:rPr>
                  <a:t>maxSurge</a:t>
                </a:r>
                <a:r>
                  <a:rPr lang="en-US" altLang="ko-KR" sz="1000" b="1" dirty="0">
                    <a:solidFill>
                      <a:srgbClr val="FF0000"/>
                    </a:solidFill>
                  </a:rPr>
                  <a:t>: 1</a:t>
                </a:r>
              </a:p>
              <a:p>
                <a:r>
                  <a:rPr lang="en-US" altLang="ko-KR" sz="1000" b="1" dirty="0"/>
                  <a:t>      </a:t>
                </a:r>
                <a:r>
                  <a:rPr lang="en-US" altLang="ko-KR" sz="1000" b="1" dirty="0" err="1">
                    <a:solidFill>
                      <a:srgbClr val="FF0000"/>
                    </a:solidFill>
                  </a:rPr>
                  <a:t>maxUnavailable</a:t>
                </a:r>
                <a:r>
                  <a:rPr lang="en-US" altLang="ko-KR" sz="1000" b="1" dirty="0">
                    <a:solidFill>
                      <a:srgbClr val="FF0000"/>
                    </a:solidFill>
                  </a:rPr>
                  <a:t>: 0</a:t>
                </a:r>
              </a:p>
              <a:p>
                <a:r>
                  <a:rPr lang="en-US" altLang="ko-KR" sz="1000" b="1" dirty="0"/>
                  <a:t>    type: </a:t>
                </a:r>
                <a:r>
                  <a:rPr lang="en-US" altLang="ko-KR" sz="1000" b="1" dirty="0" err="1"/>
                  <a:t>RollingUpdate</a:t>
                </a:r>
                <a:endParaRPr lang="en-US" altLang="ko-KR" sz="1000" b="1" dirty="0"/>
              </a:p>
              <a:p>
                <a:r>
                  <a:rPr lang="en-US" altLang="ko-KR" sz="1000" b="1" dirty="0"/>
                  <a:t>…</a:t>
                </a:r>
                <a:endParaRPr lang="ko-KR" altLang="en-US" sz="1000" b="1" dirty="0"/>
              </a:p>
            </p:txBody>
          </p:sp>
          <p:pic>
            <p:nvPicPr>
              <p:cNvPr id="10" name="그림 9">
                <a:extLst>
                  <a:ext uri="{FF2B5EF4-FFF2-40B4-BE49-F238E27FC236}">
                    <a16:creationId xmlns:a16="http://schemas.microsoft.com/office/drawing/2014/main" id="{B09E234D-586E-D7A1-C0A6-6A48E4840FF5}"/>
                  </a:ext>
                </a:extLst>
              </p:cNvPr>
              <p:cNvPicPr>
                <a:picLocks noChangeAspect="1"/>
              </p:cNvPicPr>
              <p:nvPr/>
            </p:nvPicPr>
            <p:blipFill>
              <a:blip r:embed="rId2"/>
              <a:stretch>
                <a:fillRect/>
              </a:stretch>
            </p:blipFill>
            <p:spPr>
              <a:xfrm>
                <a:off x="5414416" y="3007034"/>
                <a:ext cx="5295900" cy="2705100"/>
              </a:xfrm>
              <a:prstGeom prst="rect">
                <a:avLst/>
              </a:prstGeom>
              <a:ln>
                <a:solidFill>
                  <a:schemeClr val="bg1">
                    <a:lumMod val="50000"/>
                  </a:schemeClr>
                </a:solidFill>
              </a:ln>
            </p:spPr>
          </p:pic>
        </p:grpSp>
        <p:sp>
          <p:nvSpPr>
            <p:cNvPr id="12" name="화살표: 오른쪽 11">
              <a:extLst>
                <a:ext uri="{FF2B5EF4-FFF2-40B4-BE49-F238E27FC236}">
                  <a16:creationId xmlns:a16="http://schemas.microsoft.com/office/drawing/2014/main" id="{ADBD8526-B718-C476-E609-1E0A3992B285}"/>
                </a:ext>
              </a:extLst>
            </p:cNvPr>
            <p:cNvSpPr/>
            <p:nvPr/>
          </p:nvSpPr>
          <p:spPr>
            <a:xfrm>
              <a:off x="4283637" y="3526103"/>
              <a:ext cx="347958" cy="300551"/>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010857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Declaratively(24/39)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Controlling the Rate of the Rollout :</a:t>
            </a:r>
          </a:p>
          <a:p>
            <a:pPr lvl="1">
              <a:buFont typeface="Wingdings" panose="05000000000000000000" pitchFamily="2" charset="2"/>
              <a:buChar char="§"/>
            </a:pPr>
            <a:r>
              <a:rPr lang="en-US" altLang="ko-KR" sz="1400" b="1" dirty="0"/>
              <a:t>Because the desired replica count in your case was three, and both these properties default to 25%</a:t>
            </a:r>
            <a:r>
              <a:rPr lang="en-US" altLang="ko-KR" sz="1400" dirty="0"/>
              <a:t>, </a:t>
            </a:r>
            <a:r>
              <a:rPr lang="en-US" altLang="ko-KR" sz="1400" b="1" dirty="0" err="1"/>
              <a:t>maxSurge</a:t>
            </a:r>
            <a:r>
              <a:rPr lang="en-US" altLang="ko-KR" sz="1400" dirty="0"/>
              <a:t> </a:t>
            </a:r>
            <a:r>
              <a:rPr lang="en-US" altLang="ko-KR" sz="1400" b="1" dirty="0"/>
              <a:t>allowed the number of all pods to reach four</a:t>
            </a:r>
            <a:r>
              <a:rPr lang="en-US" altLang="ko-KR" sz="1400" dirty="0"/>
              <a:t>, and </a:t>
            </a:r>
            <a:r>
              <a:rPr lang="en-US" altLang="ko-KR" sz="1400" b="1" dirty="0" err="1"/>
              <a:t>maxUnavailable</a:t>
            </a:r>
            <a:r>
              <a:rPr lang="en-US" altLang="ko-KR" sz="1400" b="1" dirty="0"/>
              <a:t> disallowed having any unavailable pods </a:t>
            </a:r>
            <a:r>
              <a:rPr lang="en-US" altLang="ko-KR" sz="1400" dirty="0"/>
              <a:t>(in other words, three pods had to be available at all times). This is shown in the following figure.</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3F24699-9275-8526-7DED-F919E61CDCAF}"/>
              </a:ext>
            </a:extLst>
          </p:cNvPr>
          <p:cNvGrpSpPr/>
          <p:nvPr/>
        </p:nvGrpSpPr>
        <p:grpSpPr>
          <a:xfrm>
            <a:off x="3028335" y="1954161"/>
            <a:ext cx="6135329" cy="2949677"/>
            <a:chOff x="3028335" y="1954161"/>
            <a:chExt cx="6135329" cy="2949677"/>
          </a:xfrm>
        </p:grpSpPr>
        <p:pic>
          <p:nvPicPr>
            <p:cNvPr id="8" name="그림 7">
              <a:extLst>
                <a:ext uri="{FF2B5EF4-FFF2-40B4-BE49-F238E27FC236}">
                  <a16:creationId xmlns:a16="http://schemas.microsoft.com/office/drawing/2014/main" id="{B3130B30-2615-7C4C-1CE0-4D2BD0B06E0B}"/>
                </a:ext>
              </a:extLst>
            </p:cNvPr>
            <p:cNvPicPr>
              <a:picLocks noChangeAspect="1"/>
            </p:cNvPicPr>
            <p:nvPr/>
          </p:nvPicPr>
          <p:blipFill>
            <a:blip r:embed="rId2"/>
            <a:stretch>
              <a:fillRect/>
            </a:stretch>
          </p:blipFill>
          <p:spPr>
            <a:xfrm>
              <a:off x="3028335" y="1954161"/>
              <a:ext cx="6135329" cy="2949677"/>
            </a:xfrm>
            <a:prstGeom prst="rect">
              <a:avLst/>
            </a:prstGeom>
          </p:spPr>
        </p:pic>
        <p:sp>
          <p:nvSpPr>
            <p:cNvPr id="9" name="직사각형 8">
              <a:extLst>
                <a:ext uri="{FF2B5EF4-FFF2-40B4-BE49-F238E27FC236}">
                  <a16:creationId xmlns:a16="http://schemas.microsoft.com/office/drawing/2014/main" id="{BA9A6182-F12D-EFC9-6826-7EEE65DD69C7}"/>
                </a:ext>
              </a:extLst>
            </p:cNvPr>
            <p:cNvSpPr/>
            <p:nvPr/>
          </p:nvSpPr>
          <p:spPr>
            <a:xfrm>
              <a:off x="7614605" y="2735108"/>
              <a:ext cx="1456567" cy="9386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717570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Declaratively(25/39)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Controlling the Rate of the Rollout :</a:t>
            </a:r>
          </a:p>
          <a:p>
            <a:pPr lvl="1">
              <a:buFont typeface="Wingdings" panose="05000000000000000000" pitchFamily="2" charset="2"/>
              <a:buChar char="§"/>
            </a:pPr>
            <a:r>
              <a:rPr lang="en-US" altLang="ko-KR" sz="1400" b="1" dirty="0"/>
              <a:t>The “extensions/v1beta1” version of Deployments uses different defaults—it sets both </a:t>
            </a:r>
            <a:r>
              <a:rPr lang="en-US" altLang="ko-KR" sz="1400" b="1" dirty="0" err="1"/>
              <a:t>maxSurge</a:t>
            </a:r>
            <a:r>
              <a:rPr lang="en-US" altLang="ko-KR" sz="1400" b="1" dirty="0"/>
              <a:t> and </a:t>
            </a:r>
            <a:r>
              <a:rPr lang="en-US" altLang="ko-KR" sz="1400" b="1" dirty="0" err="1"/>
              <a:t>maxUnavailable</a:t>
            </a:r>
            <a:r>
              <a:rPr lang="en-US" altLang="ko-KR" sz="1400" b="1" dirty="0"/>
              <a:t> to 1 instead of 25%</a:t>
            </a:r>
            <a:r>
              <a:rPr lang="en-US" altLang="ko-KR" sz="1400" dirty="0"/>
              <a:t>. In the case of three replicas, </a:t>
            </a:r>
            <a:r>
              <a:rPr lang="en-US" altLang="ko-KR" sz="1400" b="1" dirty="0" err="1"/>
              <a:t>maxSurge</a:t>
            </a:r>
            <a:r>
              <a:rPr lang="en-US" altLang="ko-KR" sz="1400" dirty="0"/>
              <a:t> is the same as before, but </a:t>
            </a:r>
            <a:r>
              <a:rPr lang="en-US" altLang="ko-KR" sz="1400" b="1" dirty="0" err="1"/>
              <a:t>maxUnavailable</a:t>
            </a:r>
            <a:r>
              <a:rPr lang="en-US" altLang="ko-KR" sz="1400" dirty="0"/>
              <a:t> is different (1 instead of 0). This makes the rollout process unwind a bit differently, as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 this case, one replica can be unavailable, so if the desired replica count is three, only two of them need to be available. That’s why the rollout process immediately deletes one pod and creates two new ones. This ensures two pods are available and that the maximum number of pods isn’t exceeded </a:t>
            </a:r>
            <a:r>
              <a:rPr lang="en-US" altLang="ko-KR" sz="1400" dirty="0"/>
              <a:t>(the maximum is four in this case—three plus one from </a:t>
            </a:r>
            <a:r>
              <a:rPr lang="en-US" altLang="ko-KR" sz="1400" b="1" dirty="0" err="1"/>
              <a:t>maxSurge</a:t>
            </a:r>
            <a:r>
              <a:rPr lang="en-US" altLang="ko-KR" sz="1400" dirty="0"/>
              <a:t>). As soon as the two new pods are available, the two remaining old pods are deleted. </a:t>
            </a:r>
          </a:p>
          <a:p>
            <a:pPr lvl="1">
              <a:buFont typeface="Wingdings" panose="05000000000000000000" pitchFamily="2" charset="2"/>
              <a:buChar char="§"/>
            </a:pPr>
            <a:r>
              <a:rPr lang="en-US" altLang="ko-KR" sz="1400" b="1" dirty="0"/>
              <a:t>This is a bit hard to grasp, especially since the </a:t>
            </a:r>
            <a:r>
              <a:rPr lang="en-US" altLang="ko-KR" sz="1400" b="1" dirty="0" err="1"/>
              <a:t>maxUnavailable</a:t>
            </a:r>
            <a:r>
              <a:rPr lang="en-US" altLang="ko-KR" sz="1400" b="1" dirty="0"/>
              <a:t> property leads you to believe that that’s the maximum number of unavailable pods that are allowed</a:t>
            </a:r>
            <a:r>
              <a:rPr lang="en-US" altLang="ko-KR" sz="1400" dirty="0"/>
              <a:t>. If you look at the above figure closely, you’ll see two unavailable pods in the second column even though </a:t>
            </a:r>
            <a:r>
              <a:rPr lang="en-US" altLang="ko-KR" sz="1400" b="1" dirty="0" err="1"/>
              <a:t>maxUnavailable</a:t>
            </a:r>
            <a:r>
              <a:rPr lang="en-US" altLang="ko-KR" sz="1400" dirty="0"/>
              <a:t> is set to 1.</a:t>
            </a:r>
          </a:p>
          <a:p>
            <a:pPr lvl="1">
              <a:buFont typeface="Wingdings" panose="05000000000000000000" pitchFamily="2" charset="2"/>
              <a:buChar char="§"/>
            </a:pPr>
            <a:r>
              <a:rPr lang="en-US" altLang="ko-KR" sz="1400" b="1" dirty="0"/>
              <a:t>It’s important to keep in mind that </a:t>
            </a:r>
            <a:r>
              <a:rPr lang="en-US" altLang="ko-KR" sz="1400" b="1" dirty="0" err="1"/>
              <a:t>maxUnavailable</a:t>
            </a:r>
            <a:r>
              <a:rPr lang="en-US" altLang="ko-KR" sz="1400" b="1" dirty="0"/>
              <a:t> is relative to the desired replica count</a:t>
            </a:r>
            <a:r>
              <a:rPr lang="en-US" altLang="ko-KR" sz="1400" dirty="0"/>
              <a:t>. If the replica count is set to three and </a:t>
            </a:r>
            <a:r>
              <a:rPr lang="en-US" altLang="ko-KR" sz="1400" b="1" dirty="0" err="1"/>
              <a:t>maxUnavailable</a:t>
            </a:r>
            <a:r>
              <a:rPr lang="en-US" altLang="ko-KR" sz="1400" dirty="0"/>
              <a:t> is set to one, that means that the update process must always keep at least two (3 minus 1) pods available, while the number of pods that aren’t available can exceed one.</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47BC165-F632-BBDA-FEAD-8917CE7D1776}"/>
              </a:ext>
            </a:extLst>
          </p:cNvPr>
          <p:cNvPicPr>
            <a:picLocks noChangeAspect="1"/>
          </p:cNvPicPr>
          <p:nvPr/>
        </p:nvPicPr>
        <p:blipFill>
          <a:blip r:embed="rId2"/>
          <a:stretch>
            <a:fillRect/>
          </a:stretch>
        </p:blipFill>
        <p:spPr>
          <a:xfrm>
            <a:off x="3879297" y="1739788"/>
            <a:ext cx="4433405" cy="2564332"/>
          </a:xfrm>
          <a:prstGeom prst="rect">
            <a:avLst/>
          </a:prstGeom>
        </p:spPr>
      </p:pic>
    </p:spTree>
    <p:extLst>
      <p:ext uri="{BB962C8B-B14F-4D97-AF65-F5344CB8AC3E}">
        <p14:creationId xmlns:p14="http://schemas.microsoft.com/office/powerpoint/2010/main" val="9006581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Declaratively(26/39)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Pausing the Rollout Process :</a:t>
            </a:r>
          </a:p>
          <a:p>
            <a:pPr lvl="1">
              <a:buFont typeface="Wingdings" panose="05000000000000000000" pitchFamily="2" charset="2"/>
              <a:buChar char="§"/>
            </a:pPr>
            <a:r>
              <a:rPr lang="en-US" altLang="ko-KR" sz="1400" b="1" dirty="0"/>
              <a:t>After the bad experience with version 3 of your app, imagine you’ve now fixed the bug and pushed version 4 of your image</a:t>
            </a:r>
            <a:r>
              <a:rPr lang="en-US" altLang="ko-KR" sz="1400" dirty="0"/>
              <a:t>. You’re a little apprehensive about rolling it out across all your pods the way you did before. </a:t>
            </a:r>
            <a:r>
              <a:rPr lang="en-US" altLang="ko-KR" sz="1400" b="1" dirty="0"/>
              <a:t>What you want is to run a single v4 pod next to your existing v2 pods and see how it behaves with only a fraction of all your users</a:t>
            </a:r>
            <a:r>
              <a:rPr lang="en-US" altLang="ko-KR" sz="1400" dirty="0"/>
              <a:t>. </a:t>
            </a:r>
            <a:r>
              <a:rPr lang="en-US" altLang="ko-KR" sz="1400" b="1" dirty="0"/>
              <a:t>Then, once you’re sure everything’s okay, you can replace all the old pods with new ones</a:t>
            </a:r>
            <a:r>
              <a:rPr lang="en-US" altLang="ko-KR" sz="1400" dirty="0"/>
              <a:t>.</a:t>
            </a:r>
          </a:p>
          <a:p>
            <a:pPr lvl="1">
              <a:buFont typeface="Wingdings" panose="05000000000000000000" pitchFamily="2" charset="2"/>
              <a:buChar char="§"/>
            </a:pPr>
            <a:r>
              <a:rPr lang="en-US" altLang="ko-KR" sz="1400" dirty="0"/>
              <a:t>You could achieve this by running an additional pod either directly or through an additional Deployment, </a:t>
            </a:r>
            <a:r>
              <a:rPr lang="en-US" altLang="ko-KR" sz="1400" b="1" dirty="0" err="1"/>
              <a:t>ReplicationController</a:t>
            </a:r>
            <a:r>
              <a:rPr lang="en-US" altLang="ko-KR" sz="1400" dirty="0"/>
              <a:t>, or </a:t>
            </a:r>
            <a:r>
              <a:rPr lang="en-US" altLang="ko-KR" sz="1400" b="1" dirty="0" err="1"/>
              <a:t>ReplicaSet</a:t>
            </a:r>
            <a:r>
              <a:rPr lang="en-US" altLang="ko-KR" sz="1400" dirty="0"/>
              <a:t>, but you do have another option available on the Deployment itself. </a:t>
            </a:r>
            <a:r>
              <a:rPr lang="en-US" altLang="ko-KR" sz="1400" b="1" dirty="0"/>
              <a:t>A Deployment can also be paused during the rollout process</a:t>
            </a:r>
            <a:r>
              <a:rPr lang="en-US" altLang="ko-KR" sz="1400" dirty="0"/>
              <a:t>. </a:t>
            </a:r>
            <a:r>
              <a:rPr lang="en-US" altLang="ko-KR" sz="1400" b="1" dirty="0"/>
              <a:t>This allows you to verify that everything is fine with the new version before proceeding with the rest of the rollout</a:t>
            </a:r>
            <a:r>
              <a:rPr lang="en-US" altLang="ko-KR" sz="1400" dirty="0"/>
              <a:t>.</a:t>
            </a:r>
          </a:p>
          <a:p>
            <a:pPr lvl="1">
              <a:buFont typeface="Wingdings" panose="05000000000000000000" pitchFamily="2" charset="2"/>
              <a:buChar char="§"/>
            </a:pPr>
            <a:r>
              <a:rPr lang="en-US" altLang="ko-KR" sz="1400" dirty="0"/>
              <a:t>Before we go further, we need to </a:t>
            </a:r>
            <a:r>
              <a:rPr lang="en-US" altLang="ko-KR" sz="1400" b="1" dirty="0"/>
              <a:t>prepare the Docker image for “v4” </a:t>
            </a:r>
            <a:r>
              <a:rPr lang="en-US" altLang="ko-KR" sz="1400" dirty="0"/>
              <a:t>and </a:t>
            </a:r>
            <a:r>
              <a:rPr lang="en-US" altLang="ko-KR" sz="1400" b="1" dirty="0"/>
              <a:t>push it into Docker Hub repository </a:t>
            </a:r>
            <a:r>
              <a:rPr lang="en-US" altLang="ko-KR" sz="1400" dirty="0"/>
              <a:t>using the following commands.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can find the image in Docker Hub</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F0A3322-256B-317E-0357-443198FB6B0F}"/>
              </a:ext>
            </a:extLst>
          </p:cNvPr>
          <p:cNvGrpSpPr/>
          <p:nvPr/>
        </p:nvGrpSpPr>
        <p:grpSpPr>
          <a:xfrm>
            <a:off x="3047326" y="3276963"/>
            <a:ext cx="8306474" cy="3132067"/>
            <a:chOff x="3047326" y="3276963"/>
            <a:chExt cx="8306474" cy="3132067"/>
          </a:xfrm>
        </p:grpSpPr>
        <p:grpSp>
          <p:nvGrpSpPr>
            <p:cNvPr id="12" name="그룹 11">
              <a:extLst>
                <a:ext uri="{FF2B5EF4-FFF2-40B4-BE49-F238E27FC236}">
                  <a16:creationId xmlns:a16="http://schemas.microsoft.com/office/drawing/2014/main" id="{5D9AE4F3-D504-6456-F6A9-B16E29EC2BEB}"/>
                </a:ext>
              </a:extLst>
            </p:cNvPr>
            <p:cNvGrpSpPr/>
            <p:nvPr/>
          </p:nvGrpSpPr>
          <p:grpSpPr>
            <a:xfrm>
              <a:off x="3047326" y="3276963"/>
              <a:ext cx="8306474" cy="3132067"/>
              <a:chOff x="3047326" y="3276963"/>
              <a:chExt cx="8306474" cy="3132067"/>
            </a:xfrm>
          </p:grpSpPr>
          <p:sp>
            <p:nvSpPr>
              <p:cNvPr id="8" name="TextBox 7">
                <a:extLst>
                  <a:ext uri="{FF2B5EF4-FFF2-40B4-BE49-F238E27FC236}">
                    <a16:creationId xmlns:a16="http://schemas.microsoft.com/office/drawing/2014/main" id="{6753010A-7DA1-AE95-DC5E-C77E6827B130}"/>
                  </a:ext>
                </a:extLst>
              </p:cNvPr>
              <p:cNvSpPr txBox="1"/>
              <p:nvPr/>
            </p:nvSpPr>
            <p:spPr>
              <a:xfrm>
                <a:off x="3047326" y="3276963"/>
                <a:ext cx="6097348" cy="400110"/>
              </a:xfrm>
              <a:prstGeom prst="rect">
                <a:avLst/>
              </a:prstGeom>
              <a:noFill/>
              <a:ln>
                <a:solidFill>
                  <a:schemeClr val="bg1">
                    <a:lumMod val="50000"/>
                  </a:schemeClr>
                </a:solidFill>
              </a:ln>
            </p:spPr>
            <p:txBody>
              <a:bodyPr wrap="square">
                <a:spAutoFit/>
              </a:bodyPr>
              <a:lstStyle/>
              <a:p>
                <a:r>
                  <a:rPr lang="de-DE" altLang="ko-KR" sz="1000" b="1" dirty="0"/>
                  <a:t>$ docker build -t </a:t>
                </a:r>
                <a:r>
                  <a:rPr lang="de-DE" altLang="ko-KR" sz="1000" b="1" dirty="0">
                    <a:solidFill>
                      <a:srgbClr val="FF0000"/>
                    </a:solidFill>
                  </a:rPr>
                  <a:t>knix008/kubia:v4 .</a:t>
                </a:r>
              </a:p>
              <a:p>
                <a:r>
                  <a:rPr lang="sv-SE" altLang="ko-KR" sz="1000" b="1" dirty="0"/>
                  <a:t>$ docker push </a:t>
                </a:r>
                <a:r>
                  <a:rPr lang="sv-SE" altLang="ko-KR" sz="1000" b="1" dirty="0">
                    <a:solidFill>
                      <a:srgbClr val="FF0000"/>
                    </a:solidFill>
                  </a:rPr>
                  <a:t>knix008/kubia:v4</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3EA70845-9F71-9328-FF66-0127EA9B1773}"/>
                  </a:ext>
                </a:extLst>
              </p:cNvPr>
              <p:cNvPicPr>
                <a:picLocks noChangeAspect="1"/>
              </p:cNvPicPr>
              <p:nvPr/>
            </p:nvPicPr>
            <p:blipFill>
              <a:blip r:embed="rId2"/>
              <a:stretch>
                <a:fillRect/>
              </a:stretch>
            </p:blipFill>
            <p:spPr>
              <a:xfrm>
                <a:off x="6023218" y="3323647"/>
                <a:ext cx="5330582" cy="3085383"/>
              </a:xfrm>
              <a:prstGeom prst="rect">
                <a:avLst/>
              </a:prstGeom>
              <a:ln>
                <a:solidFill>
                  <a:schemeClr val="bg1">
                    <a:lumMod val="50000"/>
                  </a:schemeClr>
                </a:solidFill>
              </a:ln>
            </p:spPr>
          </p:pic>
          <p:sp>
            <p:nvSpPr>
              <p:cNvPr id="11" name="화살표: 오른쪽 10">
                <a:extLst>
                  <a:ext uri="{FF2B5EF4-FFF2-40B4-BE49-F238E27FC236}">
                    <a16:creationId xmlns:a16="http://schemas.microsoft.com/office/drawing/2014/main" id="{E550B0AE-E4C4-BE48-E267-37C9E53CBE2D}"/>
                  </a:ext>
                </a:extLst>
              </p:cNvPr>
              <p:cNvSpPr/>
              <p:nvPr/>
            </p:nvSpPr>
            <p:spPr>
              <a:xfrm>
                <a:off x="5640149" y="3898181"/>
                <a:ext cx="383069" cy="331773"/>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EF426D62-8F94-DFE6-3A2C-6DA546E3C2B9}"/>
                </a:ext>
              </a:extLst>
            </p:cNvPr>
            <p:cNvSpPr/>
            <p:nvPr/>
          </p:nvSpPr>
          <p:spPr>
            <a:xfrm>
              <a:off x="6384616" y="4369699"/>
              <a:ext cx="4628644" cy="3074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7705046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Declaratively(27/39)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Pausing the Rollout Process :</a:t>
            </a:r>
          </a:p>
          <a:p>
            <a:pPr lvl="1">
              <a:buFont typeface="Wingdings" panose="05000000000000000000" pitchFamily="2" charset="2"/>
              <a:buChar char="§"/>
            </a:pPr>
            <a:r>
              <a:rPr lang="en-US" altLang="ko-KR" sz="1400" dirty="0"/>
              <a:t>Now, we have </a:t>
            </a:r>
            <a:r>
              <a:rPr lang="en-US" altLang="ko-KR" sz="1400" b="1" dirty="0"/>
              <a:t>the “v4” image</a:t>
            </a:r>
            <a:r>
              <a:rPr lang="en-US" altLang="ko-KR" sz="1400" dirty="0"/>
              <a:t>, so go ahead and trigger the rollout by </a:t>
            </a:r>
            <a:r>
              <a:rPr lang="en-US" altLang="ko-KR" sz="1400" b="1" dirty="0"/>
              <a:t>changing the image to “knix008/kubia:v4”, but then immediately (within a few seconds) pause the rollout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D8FA6AE8-89A8-1DF0-A6EB-04AFF541E8C8}"/>
              </a:ext>
            </a:extLst>
          </p:cNvPr>
          <p:cNvGrpSpPr/>
          <p:nvPr/>
        </p:nvGrpSpPr>
        <p:grpSpPr>
          <a:xfrm>
            <a:off x="1258648" y="1909302"/>
            <a:ext cx="9674703" cy="3857250"/>
            <a:chOff x="1258648" y="1909302"/>
            <a:chExt cx="9674703" cy="3857250"/>
          </a:xfrm>
        </p:grpSpPr>
        <p:grpSp>
          <p:nvGrpSpPr>
            <p:cNvPr id="15" name="그룹 14">
              <a:extLst>
                <a:ext uri="{FF2B5EF4-FFF2-40B4-BE49-F238E27FC236}">
                  <a16:creationId xmlns:a16="http://schemas.microsoft.com/office/drawing/2014/main" id="{AF237E59-991B-4D5B-CCF2-C0F26E3663C0}"/>
                </a:ext>
              </a:extLst>
            </p:cNvPr>
            <p:cNvGrpSpPr/>
            <p:nvPr/>
          </p:nvGrpSpPr>
          <p:grpSpPr>
            <a:xfrm>
              <a:off x="1258648" y="1909302"/>
              <a:ext cx="9674703" cy="3857250"/>
              <a:chOff x="1258648" y="1779829"/>
              <a:chExt cx="9674703" cy="3857250"/>
            </a:xfrm>
          </p:grpSpPr>
          <p:grpSp>
            <p:nvGrpSpPr>
              <p:cNvPr id="12" name="그룹 11">
                <a:extLst>
                  <a:ext uri="{FF2B5EF4-FFF2-40B4-BE49-F238E27FC236}">
                    <a16:creationId xmlns:a16="http://schemas.microsoft.com/office/drawing/2014/main" id="{7D6903D2-DE1A-21E6-988D-25114E3EC418}"/>
                  </a:ext>
                </a:extLst>
              </p:cNvPr>
              <p:cNvGrpSpPr/>
              <p:nvPr/>
            </p:nvGrpSpPr>
            <p:grpSpPr>
              <a:xfrm>
                <a:off x="1258648" y="1779829"/>
                <a:ext cx="9674703" cy="2230365"/>
                <a:chOff x="1258648" y="1779829"/>
                <a:chExt cx="9674703" cy="2230365"/>
              </a:xfrm>
            </p:grpSpPr>
            <p:sp>
              <p:nvSpPr>
                <p:cNvPr id="8" name="TextBox 7">
                  <a:extLst>
                    <a:ext uri="{FF2B5EF4-FFF2-40B4-BE49-F238E27FC236}">
                      <a16:creationId xmlns:a16="http://schemas.microsoft.com/office/drawing/2014/main" id="{7B95585C-AD51-5E19-1E49-EAD27538E3CA}"/>
                    </a:ext>
                  </a:extLst>
                </p:cNvPr>
                <p:cNvSpPr txBox="1"/>
                <p:nvPr/>
              </p:nvSpPr>
              <p:spPr>
                <a:xfrm>
                  <a:off x="3047326" y="1779829"/>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set image deployment </a:t>
                  </a:r>
                  <a:r>
                    <a:rPr lang="en-US" altLang="ko-KR" sz="1000" b="1" dirty="0" err="1">
                      <a:solidFill>
                        <a:srgbClr val="FF0000"/>
                      </a:solidFill>
                    </a:rPr>
                    <a:t>kubia</a:t>
                  </a:r>
                  <a:r>
                    <a:rPr lang="en-US" altLang="ko-KR" sz="1000" b="1" dirty="0">
                      <a:solidFill>
                        <a:srgbClr val="FF0000"/>
                      </a:solidFill>
                    </a:rPr>
                    <a:t> </a:t>
                  </a:r>
                  <a:r>
                    <a:rPr lang="en-US" altLang="ko-KR" sz="1000" b="1" dirty="0" err="1">
                      <a:solidFill>
                        <a:srgbClr val="FF0000"/>
                      </a:solidFill>
                    </a:rPr>
                    <a:t>nodejs</a:t>
                  </a:r>
                  <a:r>
                    <a:rPr lang="en-US" altLang="ko-KR" sz="1000" b="1" dirty="0">
                      <a:solidFill>
                        <a:srgbClr val="FF0000"/>
                      </a:solidFill>
                    </a:rPr>
                    <a:t>=knix008/kubia:v4</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pause </a:t>
                  </a:r>
                  <a:r>
                    <a:rPr lang="en-US" altLang="ko-KR" sz="1000" b="1" dirty="0"/>
                    <a:t>deployment </a:t>
                  </a:r>
                  <a:r>
                    <a:rPr lang="en-US" altLang="ko-KR" sz="1000" b="1" dirty="0" err="1"/>
                    <a:t>kubia</a:t>
                  </a:r>
                  <a:endParaRPr lang="en-US" altLang="ko-KR" sz="1000" b="1" dirty="0"/>
                </a:p>
              </p:txBody>
            </p:sp>
            <p:pic>
              <p:nvPicPr>
                <p:cNvPr id="10" name="그림 9">
                  <a:extLst>
                    <a:ext uri="{FF2B5EF4-FFF2-40B4-BE49-F238E27FC236}">
                      <a16:creationId xmlns:a16="http://schemas.microsoft.com/office/drawing/2014/main" id="{5A9404AF-4AB6-21A6-DD0B-8F1517529C94}"/>
                    </a:ext>
                  </a:extLst>
                </p:cNvPr>
                <p:cNvPicPr>
                  <a:picLocks noChangeAspect="1"/>
                </p:cNvPicPr>
                <p:nvPr/>
              </p:nvPicPr>
              <p:blipFill>
                <a:blip r:embed="rId2"/>
                <a:stretch>
                  <a:fillRect/>
                </a:stretch>
              </p:blipFill>
              <p:spPr>
                <a:xfrm>
                  <a:off x="1258648" y="2478366"/>
                  <a:ext cx="9674703" cy="1531828"/>
                </a:xfrm>
                <a:prstGeom prst="rect">
                  <a:avLst/>
                </a:prstGeom>
              </p:spPr>
            </p:pic>
            <p:sp>
              <p:nvSpPr>
                <p:cNvPr id="11" name="화살표: 아래쪽 10">
                  <a:extLst>
                    <a:ext uri="{FF2B5EF4-FFF2-40B4-BE49-F238E27FC236}">
                      <a16:creationId xmlns:a16="http://schemas.microsoft.com/office/drawing/2014/main" id="{AEFD8C33-CB2A-8A66-095D-CB85BB6F4E2C}"/>
                    </a:ext>
                  </a:extLst>
                </p:cNvPr>
                <p:cNvSpPr/>
                <p:nvPr/>
              </p:nvSpPr>
              <p:spPr>
                <a:xfrm>
                  <a:off x="5881560" y="2189132"/>
                  <a:ext cx="428878" cy="2800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6D6B909E-2423-EC06-95C3-89FF19FEEE70}"/>
                  </a:ext>
                </a:extLst>
              </p:cNvPr>
              <p:cNvPicPr>
                <a:picLocks noChangeAspect="1"/>
              </p:cNvPicPr>
              <p:nvPr/>
            </p:nvPicPr>
            <p:blipFill>
              <a:blip r:embed="rId3"/>
              <a:stretch>
                <a:fillRect/>
              </a:stretch>
            </p:blipFill>
            <p:spPr>
              <a:xfrm>
                <a:off x="1258648" y="4056878"/>
                <a:ext cx="9674703" cy="1580201"/>
              </a:xfrm>
              <a:prstGeom prst="rect">
                <a:avLst/>
              </a:prstGeom>
            </p:spPr>
          </p:pic>
        </p:grpSp>
        <p:sp>
          <p:nvSpPr>
            <p:cNvPr id="16" name="직사각형 15">
              <a:extLst>
                <a:ext uri="{FF2B5EF4-FFF2-40B4-BE49-F238E27FC236}">
                  <a16:creationId xmlns:a16="http://schemas.microsoft.com/office/drawing/2014/main" id="{53C3593B-F6E2-DE99-8663-AD5DDFA6327B}"/>
                </a:ext>
              </a:extLst>
            </p:cNvPr>
            <p:cNvSpPr/>
            <p:nvPr/>
          </p:nvSpPr>
          <p:spPr>
            <a:xfrm>
              <a:off x="1351370" y="5324559"/>
              <a:ext cx="3843717"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246660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Declaratively(28/39)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Pausing the Rollout Process :</a:t>
            </a:r>
          </a:p>
          <a:p>
            <a:pPr lvl="1">
              <a:buFont typeface="Wingdings" panose="05000000000000000000" pitchFamily="2" charset="2"/>
              <a:buChar char="§"/>
            </a:pPr>
            <a:r>
              <a:rPr lang="en-US" altLang="ko-KR" sz="1400" b="1" dirty="0"/>
              <a:t>A single new pod should have been created, but all original pods should also still be running</a:t>
            </a:r>
            <a:r>
              <a:rPr lang="en-US" altLang="ko-KR" sz="1400" dirty="0"/>
              <a:t>. </a:t>
            </a:r>
            <a:r>
              <a:rPr lang="en-US" altLang="ko-KR" sz="1400" b="1" dirty="0"/>
              <a:t>Once the new pod is up, a part of all requests to the service will be redirected to the new pod</a:t>
            </a:r>
            <a:r>
              <a:rPr lang="en-US" altLang="ko-KR" sz="1400" dirty="0"/>
              <a:t>. </a:t>
            </a:r>
            <a:r>
              <a:rPr lang="en-US" altLang="ko-KR" sz="1400" b="1" dirty="0"/>
              <a:t>This way, you’ve effectively run a </a:t>
            </a:r>
            <a:r>
              <a:rPr lang="en-US" altLang="ko-KR" sz="1400" b="1" dirty="0">
                <a:solidFill>
                  <a:srgbClr val="FF0000"/>
                </a:solidFill>
              </a:rPr>
              <a:t>canary release</a:t>
            </a:r>
            <a:r>
              <a:rPr lang="en-US" altLang="ko-KR" sz="1400" dirty="0"/>
              <a:t>. </a:t>
            </a:r>
          </a:p>
          <a:p>
            <a:pPr lvl="1">
              <a:buFont typeface="Wingdings" panose="05000000000000000000" pitchFamily="2" charset="2"/>
              <a:buChar char="§"/>
            </a:pPr>
            <a:r>
              <a:rPr lang="en-US" altLang="ko-KR" sz="1400" b="1" dirty="0"/>
              <a:t>A </a:t>
            </a:r>
            <a:r>
              <a:rPr lang="en-US" altLang="ko-KR" sz="1400" b="1" dirty="0">
                <a:solidFill>
                  <a:srgbClr val="FF0000"/>
                </a:solidFill>
              </a:rPr>
              <a:t>canary release </a:t>
            </a:r>
            <a:r>
              <a:rPr lang="en-US" altLang="ko-KR" sz="1400" b="1" dirty="0"/>
              <a:t>is a technique for minimizing the risk of rolling out a bad version of an application and it affecting all your users</a:t>
            </a:r>
            <a:r>
              <a:rPr lang="en-US" altLang="ko-KR" sz="1400" dirty="0"/>
              <a:t>. Instead of rolling out the new version to everyone, you replace only one or a small number of old pods with new ones. </a:t>
            </a:r>
            <a:r>
              <a:rPr lang="en-US" altLang="ko-KR" sz="1400" b="1" dirty="0"/>
              <a:t>This way only a small number of users will initially hit the new version</a:t>
            </a:r>
            <a:r>
              <a:rPr lang="en-US" altLang="ko-KR" sz="1400" dirty="0"/>
              <a:t>. </a:t>
            </a:r>
            <a:r>
              <a:rPr lang="en-US" altLang="ko-KR" sz="1400" b="1" dirty="0"/>
              <a:t>You can then verify whether the new version is working fine or not </a:t>
            </a:r>
            <a:r>
              <a:rPr lang="en-US" altLang="ko-KR" sz="1400" dirty="0"/>
              <a:t>and </a:t>
            </a:r>
            <a:r>
              <a:rPr lang="en-US" altLang="ko-KR" sz="1400" b="1" dirty="0"/>
              <a:t>then either continue the rollout across all remaining pods or roll back to the previous version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2C62015-58FE-F93D-EFDF-C028FF43C875}"/>
              </a:ext>
            </a:extLst>
          </p:cNvPr>
          <p:cNvGrpSpPr/>
          <p:nvPr/>
        </p:nvGrpSpPr>
        <p:grpSpPr>
          <a:xfrm>
            <a:off x="1157498" y="3086742"/>
            <a:ext cx="9877004" cy="2041247"/>
            <a:chOff x="1157498" y="3086742"/>
            <a:chExt cx="9877004" cy="2041247"/>
          </a:xfrm>
        </p:grpSpPr>
        <p:pic>
          <p:nvPicPr>
            <p:cNvPr id="8" name="그림 7">
              <a:extLst>
                <a:ext uri="{FF2B5EF4-FFF2-40B4-BE49-F238E27FC236}">
                  <a16:creationId xmlns:a16="http://schemas.microsoft.com/office/drawing/2014/main" id="{54605905-D2A2-9076-1891-CA83F29784A7}"/>
                </a:ext>
              </a:extLst>
            </p:cNvPr>
            <p:cNvPicPr>
              <a:picLocks noChangeAspect="1"/>
            </p:cNvPicPr>
            <p:nvPr/>
          </p:nvPicPr>
          <p:blipFill>
            <a:blip r:embed="rId2"/>
            <a:stretch>
              <a:fillRect/>
            </a:stretch>
          </p:blipFill>
          <p:spPr>
            <a:xfrm>
              <a:off x="1157498" y="3086742"/>
              <a:ext cx="9877004" cy="2041247"/>
            </a:xfrm>
            <a:prstGeom prst="rect">
              <a:avLst/>
            </a:prstGeom>
          </p:spPr>
        </p:pic>
        <p:sp>
          <p:nvSpPr>
            <p:cNvPr id="9" name="직사각형 8">
              <a:extLst>
                <a:ext uri="{FF2B5EF4-FFF2-40B4-BE49-F238E27FC236}">
                  <a16:creationId xmlns:a16="http://schemas.microsoft.com/office/drawing/2014/main" id="{4E125F8A-0789-1E2D-90BF-203F87D85695}"/>
                </a:ext>
              </a:extLst>
            </p:cNvPr>
            <p:cNvSpPr/>
            <p:nvPr/>
          </p:nvSpPr>
          <p:spPr>
            <a:xfrm>
              <a:off x="1229989" y="4685289"/>
              <a:ext cx="3261091" cy="2751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869470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Declaratively(29/39)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Pausing the Rollout Process :</a:t>
            </a:r>
          </a:p>
          <a:p>
            <a:pPr lvl="1">
              <a:buFont typeface="Wingdings" panose="05000000000000000000" pitchFamily="2" charset="2"/>
              <a:buChar char="§"/>
            </a:pPr>
            <a:r>
              <a:rPr lang="en-US" altLang="ko-KR" sz="1400" dirty="0"/>
              <a:t>Once you’re confident the new version works as it should, you can </a:t>
            </a:r>
            <a:r>
              <a:rPr lang="en-US" altLang="ko-KR" sz="1400" b="1" dirty="0"/>
              <a:t>resume the deployment to replace all the old pods with new ones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Obviously, having to pause the deployment at an exact point in the rollout process isn’t what you want to do</a:t>
            </a:r>
            <a:r>
              <a:rPr lang="en-US" altLang="ko-KR" sz="1400" dirty="0"/>
              <a:t>. In the future, a new upgrade strategy may do that automatically, but currently, the proper way of performing a canary release is by </a:t>
            </a:r>
            <a:r>
              <a:rPr lang="en-US" altLang="ko-KR" sz="1400" b="1" dirty="0"/>
              <a:t>using two different Deployments and scaling them appropriately</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4F5595B6-9220-F290-49BC-5C6E43C45F3E}"/>
              </a:ext>
            </a:extLst>
          </p:cNvPr>
          <p:cNvGrpSpPr/>
          <p:nvPr/>
        </p:nvGrpSpPr>
        <p:grpSpPr>
          <a:xfrm>
            <a:off x="1246510" y="1805509"/>
            <a:ext cx="9698979" cy="3519739"/>
            <a:chOff x="1246510" y="1805509"/>
            <a:chExt cx="9698979" cy="3519739"/>
          </a:xfrm>
        </p:grpSpPr>
        <p:grpSp>
          <p:nvGrpSpPr>
            <p:cNvPr id="12" name="그룹 11">
              <a:extLst>
                <a:ext uri="{FF2B5EF4-FFF2-40B4-BE49-F238E27FC236}">
                  <a16:creationId xmlns:a16="http://schemas.microsoft.com/office/drawing/2014/main" id="{0EA79ACA-517C-CEBD-813A-795FBCC99611}"/>
                </a:ext>
              </a:extLst>
            </p:cNvPr>
            <p:cNvGrpSpPr/>
            <p:nvPr/>
          </p:nvGrpSpPr>
          <p:grpSpPr>
            <a:xfrm>
              <a:off x="1246510" y="1805509"/>
              <a:ext cx="9698979" cy="3519739"/>
              <a:chOff x="1246510" y="1749331"/>
              <a:chExt cx="9698979" cy="3519739"/>
            </a:xfrm>
          </p:grpSpPr>
          <p:sp>
            <p:nvSpPr>
              <p:cNvPr id="8" name="TextBox 7">
                <a:extLst>
                  <a:ext uri="{FF2B5EF4-FFF2-40B4-BE49-F238E27FC236}">
                    <a16:creationId xmlns:a16="http://schemas.microsoft.com/office/drawing/2014/main" id="{B92393C9-2115-FF4E-137E-CD3C7CFAC300}"/>
                  </a:ext>
                </a:extLst>
              </p:cNvPr>
              <p:cNvSpPr txBox="1"/>
              <p:nvPr/>
            </p:nvSpPr>
            <p:spPr>
              <a:xfrm>
                <a:off x="3047326" y="1749331"/>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rollout </a:t>
                </a:r>
                <a:r>
                  <a:rPr lang="en-US" altLang="ko-KR" sz="1000" b="1" dirty="0">
                    <a:solidFill>
                      <a:srgbClr val="FF0000"/>
                    </a:solidFill>
                  </a:rPr>
                  <a:t>resume</a:t>
                </a:r>
                <a:r>
                  <a:rPr lang="en-US" altLang="ko-KR" sz="1000" b="1" dirty="0"/>
                  <a:t> deployment </a:t>
                </a:r>
                <a:r>
                  <a:rPr lang="en-US" altLang="ko-KR" sz="1000" b="1" dirty="0" err="1"/>
                  <a:t>kubia</a:t>
                </a:r>
                <a:endParaRPr lang="en-US" altLang="ko-KR" sz="1000" b="1" dirty="0"/>
              </a:p>
            </p:txBody>
          </p:sp>
          <p:sp>
            <p:nvSpPr>
              <p:cNvPr id="9" name="화살표: 아래쪽 8">
                <a:extLst>
                  <a:ext uri="{FF2B5EF4-FFF2-40B4-BE49-F238E27FC236}">
                    <a16:creationId xmlns:a16="http://schemas.microsoft.com/office/drawing/2014/main" id="{7263C7C0-A788-8956-C963-4DD74AB487D0}"/>
                  </a:ext>
                </a:extLst>
              </p:cNvPr>
              <p:cNvSpPr/>
              <p:nvPr/>
            </p:nvSpPr>
            <p:spPr>
              <a:xfrm>
                <a:off x="5849193" y="2019549"/>
                <a:ext cx="493614"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BBFCAE48-AA9F-0BE6-4A24-4C7389B5BEA7}"/>
                  </a:ext>
                </a:extLst>
              </p:cNvPr>
              <p:cNvPicPr>
                <a:picLocks noChangeAspect="1"/>
              </p:cNvPicPr>
              <p:nvPr/>
            </p:nvPicPr>
            <p:blipFill>
              <a:blip r:embed="rId2"/>
              <a:stretch>
                <a:fillRect/>
              </a:stretch>
            </p:blipFill>
            <p:spPr>
              <a:xfrm>
                <a:off x="1246510" y="2327046"/>
                <a:ext cx="9698979" cy="2942024"/>
              </a:xfrm>
              <a:prstGeom prst="rect">
                <a:avLst/>
              </a:prstGeom>
            </p:spPr>
          </p:pic>
        </p:grpSp>
        <p:sp>
          <p:nvSpPr>
            <p:cNvPr id="13" name="직사각형 12">
              <a:extLst>
                <a:ext uri="{FF2B5EF4-FFF2-40B4-BE49-F238E27FC236}">
                  <a16:creationId xmlns:a16="http://schemas.microsoft.com/office/drawing/2014/main" id="{08931B3A-6320-C5C6-941E-F206B80DE383}"/>
                </a:ext>
              </a:extLst>
            </p:cNvPr>
            <p:cNvSpPr/>
            <p:nvPr/>
          </p:nvSpPr>
          <p:spPr>
            <a:xfrm>
              <a:off x="5551136" y="3591718"/>
              <a:ext cx="2646096" cy="3005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6B576FCC-BC8A-6F23-1644-F5A3D3A31B8E}"/>
                </a:ext>
              </a:extLst>
            </p:cNvPr>
            <p:cNvSpPr/>
            <p:nvPr/>
          </p:nvSpPr>
          <p:spPr>
            <a:xfrm>
              <a:off x="1335186" y="4644828"/>
              <a:ext cx="4151214" cy="4288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965061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Declaratively(30/39)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7020148" cy="5634624"/>
          </a:xfrm>
        </p:spPr>
        <p:txBody>
          <a:bodyPr>
            <a:normAutofit/>
          </a:bodyPr>
          <a:lstStyle/>
          <a:p>
            <a:pPr>
              <a:buFont typeface="Wingdings" panose="05000000000000000000" pitchFamily="2" charset="2"/>
              <a:buChar char="§"/>
            </a:pPr>
            <a:r>
              <a:rPr lang="en-US" altLang="ko-KR" sz="1800" b="1" dirty="0"/>
              <a:t>Pausing the Rollout Process :</a:t>
            </a:r>
          </a:p>
          <a:p>
            <a:pPr lvl="1">
              <a:buFont typeface="Wingdings" panose="05000000000000000000" pitchFamily="2" charset="2"/>
              <a:buChar char="§"/>
            </a:pPr>
            <a:r>
              <a:rPr lang="en-US" altLang="ko-KR" sz="1400" b="1" dirty="0"/>
              <a:t>Pausing a Deployment can also be used to prevent updates to the Deployment from kicking off the rollout process</a:t>
            </a:r>
            <a:r>
              <a:rPr lang="en-US" altLang="ko-KR" sz="1400" dirty="0"/>
              <a:t>, </a:t>
            </a:r>
            <a:r>
              <a:rPr lang="en-US" altLang="ko-KR" sz="1400" b="1" dirty="0"/>
              <a:t>allowing you to make multiple changes to the Deployment and starting the rollout only when you’re done making all the necessary changes</a:t>
            </a:r>
            <a:r>
              <a:rPr lang="en-US" altLang="ko-KR" sz="1400" dirty="0"/>
              <a:t>. Once you’re ready for changes to take effect, you resume the Deployment and the rollout process will start. </a:t>
            </a:r>
          </a:p>
          <a:p>
            <a:pPr lvl="1">
              <a:buFont typeface="Wingdings" panose="05000000000000000000" pitchFamily="2" charset="2"/>
              <a:buChar char="§"/>
            </a:pPr>
            <a:r>
              <a:rPr lang="en-US" altLang="ko-KR" sz="1400" b="1" dirty="0"/>
              <a:t>NOTE : If a Deployment is paused, the undo command won’t undo it until you resume the Deployment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64C230AB-4255-7541-96BF-D5254DAD8CA4}"/>
              </a:ext>
            </a:extLst>
          </p:cNvPr>
          <p:cNvGrpSpPr/>
          <p:nvPr/>
        </p:nvGrpSpPr>
        <p:grpSpPr>
          <a:xfrm>
            <a:off x="7858348" y="886216"/>
            <a:ext cx="3495452" cy="5522814"/>
            <a:chOff x="7858348" y="886216"/>
            <a:chExt cx="3495452" cy="5522814"/>
          </a:xfrm>
        </p:grpSpPr>
        <p:pic>
          <p:nvPicPr>
            <p:cNvPr id="4" name="그림 3">
              <a:extLst>
                <a:ext uri="{FF2B5EF4-FFF2-40B4-BE49-F238E27FC236}">
                  <a16:creationId xmlns:a16="http://schemas.microsoft.com/office/drawing/2014/main" id="{751A5486-7170-26FB-44D3-B9A0EE5BBCF3}"/>
                </a:ext>
              </a:extLst>
            </p:cNvPr>
            <p:cNvPicPr>
              <a:picLocks noChangeAspect="1"/>
            </p:cNvPicPr>
            <p:nvPr/>
          </p:nvPicPr>
          <p:blipFill>
            <a:blip r:embed="rId2"/>
            <a:stretch>
              <a:fillRect/>
            </a:stretch>
          </p:blipFill>
          <p:spPr>
            <a:xfrm>
              <a:off x="7858348" y="886216"/>
              <a:ext cx="3495452" cy="5522814"/>
            </a:xfrm>
            <a:prstGeom prst="rect">
              <a:avLst/>
            </a:prstGeom>
          </p:spPr>
        </p:pic>
        <p:sp>
          <p:nvSpPr>
            <p:cNvPr id="8" name="TextBox 7">
              <a:extLst>
                <a:ext uri="{FF2B5EF4-FFF2-40B4-BE49-F238E27FC236}">
                  <a16:creationId xmlns:a16="http://schemas.microsoft.com/office/drawing/2014/main" id="{EAFFACAB-594B-D50C-C69B-3B7F40A069AD}"/>
                </a:ext>
              </a:extLst>
            </p:cNvPr>
            <p:cNvSpPr txBox="1"/>
            <p:nvPr/>
          </p:nvSpPr>
          <p:spPr>
            <a:xfrm>
              <a:off x="9022420" y="3492144"/>
              <a:ext cx="1167307" cy="246221"/>
            </a:xfrm>
            <a:prstGeom prst="rect">
              <a:avLst/>
            </a:prstGeom>
            <a:noFill/>
          </p:spPr>
          <p:txBody>
            <a:bodyPr wrap="none" rtlCol="0">
              <a:spAutoFit/>
            </a:bodyPr>
            <a:lstStyle/>
            <a:p>
              <a:pPr algn="l"/>
              <a:r>
                <a:rPr lang="en-US" altLang="ko-KR" sz="1000" b="1" dirty="0">
                  <a:solidFill>
                    <a:srgbClr val="FF0000"/>
                  </a:solidFill>
                </a:rPr>
                <a:t>Pause / Resume</a:t>
              </a:r>
              <a:endParaRPr lang="ko-KR" altLang="en-US" sz="1000" b="1" dirty="0">
                <a:solidFill>
                  <a:srgbClr val="FF0000"/>
                </a:solidFill>
              </a:endParaRPr>
            </a:p>
          </p:txBody>
        </p:sp>
      </p:grpSp>
    </p:spTree>
    <p:extLst>
      <p:ext uri="{BB962C8B-B14F-4D97-AF65-F5344CB8AC3E}">
        <p14:creationId xmlns:p14="http://schemas.microsoft.com/office/powerpoint/2010/main" val="30112803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Declaratively(31/39)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dirty="0"/>
              <a:t>Remember the “</a:t>
            </a:r>
            <a:r>
              <a:rPr lang="en-US" altLang="ko-KR" sz="1400" b="1" dirty="0" err="1"/>
              <a:t>minReadySeconds</a:t>
            </a:r>
            <a:r>
              <a:rPr lang="en-US" altLang="ko-KR" sz="1400" dirty="0"/>
              <a:t>” property you set on the Deployment at the beginning? </a:t>
            </a:r>
            <a:r>
              <a:rPr lang="en-US" altLang="ko-KR" sz="1400" b="1" dirty="0"/>
              <a:t>You used it to slow down the rollout, so you could see it was indeed performing a rolling update and not replacing all the pods at once</a:t>
            </a:r>
            <a:r>
              <a:rPr lang="en-US" altLang="ko-KR" sz="1400" dirty="0"/>
              <a:t>. </a:t>
            </a:r>
            <a:r>
              <a:rPr lang="en-US" altLang="ko-KR" sz="1400" b="1" dirty="0">
                <a:solidFill>
                  <a:srgbClr val="FF0000"/>
                </a:solidFill>
              </a:rPr>
              <a:t>The main function of “</a:t>
            </a:r>
            <a:r>
              <a:rPr lang="en-US" altLang="ko-KR" sz="1400" b="1" dirty="0" err="1">
                <a:solidFill>
                  <a:srgbClr val="FF0000"/>
                </a:solidFill>
              </a:rPr>
              <a:t>minReadySeconds</a:t>
            </a:r>
            <a:r>
              <a:rPr lang="en-US" altLang="ko-KR" sz="1400" b="1" dirty="0">
                <a:solidFill>
                  <a:srgbClr val="FF0000"/>
                </a:solidFill>
              </a:rPr>
              <a:t>” is to prevent deploying malfunctioning versions</a:t>
            </a:r>
            <a:r>
              <a:rPr lang="en-US" altLang="ko-KR" sz="1400" dirty="0"/>
              <a:t>, not slowing down a deployment for fun.</a:t>
            </a:r>
          </a:p>
          <a:p>
            <a:pPr lvl="1">
              <a:buFont typeface="Wingdings" panose="05000000000000000000" pitchFamily="2" charset="2"/>
              <a:buChar char="§"/>
            </a:pPr>
            <a:r>
              <a:rPr lang="en-US" altLang="ko-KR" sz="1400" b="1" dirty="0"/>
              <a:t>The “</a:t>
            </a:r>
            <a:r>
              <a:rPr lang="en-US" altLang="ko-KR" sz="1400" b="1" dirty="0" err="1"/>
              <a:t>minReadySeconds</a:t>
            </a:r>
            <a:r>
              <a:rPr lang="en-US" altLang="ko-KR" sz="1400" b="1" dirty="0"/>
              <a:t>” property specifies how long a newly created pod should be ready before the pod is treated as available</a:t>
            </a:r>
            <a:r>
              <a:rPr lang="en-US" altLang="ko-KR" sz="1400" dirty="0"/>
              <a:t>. </a:t>
            </a:r>
            <a:r>
              <a:rPr lang="en-US" altLang="ko-KR" sz="1400" b="1" dirty="0"/>
              <a:t>Until the pod is available, the rollout process will not continue (remember the “</a:t>
            </a:r>
            <a:r>
              <a:rPr lang="en-US" altLang="ko-KR" sz="1400" b="1" dirty="0" err="1"/>
              <a:t>maxUnavailable</a:t>
            </a:r>
            <a:r>
              <a:rPr lang="en-US" altLang="ko-KR" sz="1400" b="1" dirty="0"/>
              <a:t>” property?)</a:t>
            </a:r>
            <a:r>
              <a:rPr lang="en-US" altLang="ko-KR" sz="1400" dirty="0"/>
              <a:t>. </a:t>
            </a:r>
            <a:r>
              <a:rPr lang="en-US" altLang="ko-KR" sz="1400" b="1" dirty="0"/>
              <a:t>A pod is ready when readiness probes of all its containers return a success</a:t>
            </a:r>
            <a:r>
              <a:rPr lang="en-US" altLang="ko-KR" sz="1400" dirty="0"/>
              <a:t>. If a new pod isn’t functioning properly and </a:t>
            </a:r>
            <a:r>
              <a:rPr lang="en-US" altLang="ko-KR" sz="1400" b="1" dirty="0"/>
              <a:t>its readiness probe starts failing before “</a:t>
            </a:r>
            <a:r>
              <a:rPr lang="en-US" altLang="ko-KR" sz="1400" b="1" dirty="0" err="1"/>
              <a:t>minReadySeconds</a:t>
            </a:r>
            <a:r>
              <a:rPr lang="en-US" altLang="ko-KR" sz="1400" b="1" dirty="0"/>
              <a:t>” have passed, the rollout of the new version will effectively be blocked</a:t>
            </a:r>
            <a:r>
              <a:rPr lang="en-US" altLang="ko-KR" sz="1400" dirty="0"/>
              <a:t>. </a:t>
            </a:r>
          </a:p>
          <a:p>
            <a:pPr lvl="1">
              <a:buFont typeface="Wingdings" panose="05000000000000000000" pitchFamily="2" charset="2"/>
              <a:buChar char="§"/>
            </a:pPr>
            <a:r>
              <a:rPr lang="en-US" altLang="ko-KR" sz="1400" b="1" dirty="0"/>
              <a:t>Usually, you’d set “</a:t>
            </a:r>
            <a:r>
              <a:rPr lang="en-US" altLang="ko-KR" sz="1400" b="1" dirty="0" err="1"/>
              <a:t>minReadySeconds</a:t>
            </a:r>
            <a:r>
              <a:rPr lang="en-US" altLang="ko-KR" sz="1400" b="1" dirty="0"/>
              <a:t>” to something much higher to </a:t>
            </a:r>
            <a:r>
              <a:rPr lang="en-US" altLang="ko-KR" sz="1400" b="1" dirty="0">
                <a:solidFill>
                  <a:srgbClr val="FF0000"/>
                </a:solidFill>
              </a:rPr>
              <a:t>make sure pods keep reporting they’re ready </a:t>
            </a:r>
            <a:r>
              <a:rPr lang="en-US" altLang="ko-KR" sz="1400" b="1" dirty="0"/>
              <a:t>after they’ve already started receiving actual traffic</a:t>
            </a:r>
            <a:r>
              <a:rPr lang="en-US" altLang="ko-KR" sz="1400" dirty="0"/>
              <a:t>.</a:t>
            </a:r>
          </a:p>
          <a:p>
            <a:pPr lvl="1">
              <a:buFont typeface="Wingdings" panose="05000000000000000000" pitchFamily="2" charset="2"/>
              <a:buChar char="§"/>
            </a:pPr>
            <a:r>
              <a:rPr lang="en-US" altLang="ko-KR" sz="1400" dirty="0"/>
              <a:t>Although you should obviously test your pods both in a test and in a staging environment before deploying them into production, </a:t>
            </a:r>
            <a:r>
              <a:rPr lang="en-US" altLang="ko-KR" sz="1400" b="1" dirty="0"/>
              <a:t>using “</a:t>
            </a:r>
            <a:r>
              <a:rPr lang="en-US" altLang="ko-KR" sz="1400" b="1" dirty="0" err="1"/>
              <a:t>minReadySeconds</a:t>
            </a:r>
            <a:r>
              <a:rPr lang="en-US" altLang="ko-KR" sz="1400" b="1" dirty="0"/>
              <a:t>” is like an airbag that saves your app from making a big mess after you’ve already let a buggy version slip into production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C371D6F-911E-3DA2-90C6-E3C01C6AA497}"/>
              </a:ext>
            </a:extLst>
          </p:cNvPr>
          <p:cNvPicPr>
            <a:picLocks noChangeAspect="1"/>
          </p:cNvPicPr>
          <p:nvPr/>
        </p:nvPicPr>
        <p:blipFill>
          <a:blip r:embed="rId2"/>
          <a:stretch>
            <a:fillRect/>
          </a:stretch>
        </p:blipFill>
        <p:spPr>
          <a:xfrm>
            <a:off x="6392708" y="4047582"/>
            <a:ext cx="4961091" cy="2361447"/>
          </a:xfrm>
          <a:prstGeom prst="rect">
            <a:avLst/>
          </a:prstGeom>
        </p:spPr>
      </p:pic>
      <p:sp>
        <p:nvSpPr>
          <p:cNvPr id="11" name="TextBox 10">
            <a:extLst>
              <a:ext uri="{FF2B5EF4-FFF2-40B4-BE49-F238E27FC236}">
                <a16:creationId xmlns:a16="http://schemas.microsoft.com/office/drawing/2014/main" id="{3F7E4810-3403-048F-2787-758A8EE554C4}"/>
              </a:ext>
            </a:extLst>
          </p:cNvPr>
          <p:cNvSpPr txBox="1"/>
          <p:nvPr/>
        </p:nvSpPr>
        <p:spPr>
          <a:xfrm>
            <a:off x="838200" y="4047581"/>
            <a:ext cx="5554507" cy="867930"/>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With a properly configured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readiness probe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and a proper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minReadySeconds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setting</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Kubernetes would have prevented us from deploying the buggy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v3</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version earlier.</a:t>
            </a:r>
          </a:p>
        </p:txBody>
      </p:sp>
    </p:spTree>
    <p:extLst>
      <p:ext uri="{BB962C8B-B14F-4D97-AF65-F5344CB8AC3E}">
        <p14:creationId xmlns:p14="http://schemas.microsoft.com/office/powerpoint/2010/main" val="42807051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Declaratively(32/39)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b="1" dirty="0"/>
              <a:t>You’re going to deploy version v3 again, but this time, you’ll have the </a:t>
            </a:r>
            <a:r>
              <a:rPr lang="en-US" altLang="ko-KR" sz="1400" b="1" dirty="0">
                <a:solidFill>
                  <a:srgbClr val="FF0000"/>
                </a:solidFill>
              </a:rPr>
              <a:t>proper readiness probe </a:t>
            </a:r>
            <a:r>
              <a:rPr lang="en-US" altLang="ko-KR" sz="1400" b="1" dirty="0"/>
              <a:t>defined on the pod</a:t>
            </a:r>
            <a:r>
              <a:rPr lang="en-US" altLang="ko-KR" sz="1400" dirty="0"/>
              <a:t>. </a:t>
            </a:r>
            <a:r>
              <a:rPr lang="en-US" altLang="ko-KR" sz="1400" b="1" dirty="0"/>
              <a:t>Your Deployment is currently at version v4</a:t>
            </a:r>
            <a:r>
              <a:rPr lang="en-US" altLang="ko-KR" sz="1400" dirty="0"/>
              <a:t>, </a:t>
            </a:r>
            <a:r>
              <a:rPr lang="en-US" altLang="ko-KR" sz="1400" b="1" dirty="0"/>
              <a:t>so before you start, roll back to version v2 again so you can pretend this is the first time you’re upgrading to v3</a:t>
            </a:r>
            <a:r>
              <a:rPr lang="en-US" altLang="ko-KR" sz="1400" dirty="0"/>
              <a:t>. If you wish, you can go straight from v4 to v3, but the text that follows assumes you returned to v2 first. </a:t>
            </a:r>
          </a:p>
          <a:p>
            <a:pPr lvl="1">
              <a:buFont typeface="Wingdings" panose="05000000000000000000" pitchFamily="2" charset="2"/>
              <a:buChar char="§"/>
            </a:pPr>
            <a:r>
              <a:rPr lang="en-US" altLang="ko-KR" sz="1400" b="1" dirty="0"/>
              <a:t>Unlike before, where you only updated the image in the pod template, you’re now also going to introduce a readiness probe for the container at the same time</a:t>
            </a:r>
            <a:r>
              <a:rPr lang="en-US" altLang="ko-KR" sz="1400" dirty="0"/>
              <a:t>. Up until now, because there was no explicit readiness probe defined, the container and the pod were always considered ready, even if the app wasn’t truly ready or was returning errors. There was no way for Kubernetes to know that the app was malfunctioning and shouldn’t be exposed to clients.</a:t>
            </a:r>
          </a:p>
          <a:p>
            <a:pPr lvl="1">
              <a:buFont typeface="Wingdings" panose="05000000000000000000" pitchFamily="2" charset="2"/>
              <a:buChar char="§"/>
            </a:pPr>
            <a:r>
              <a:rPr lang="en-US" altLang="ko-KR" sz="1400" b="1" dirty="0"/>
              <a:t>To change the image and introduce the readiness probe at once, you’ll use the “</a:t>
            </a:r>
            <a:r>
              <a:rPr lang="en-US" altLang="ko-KR" sz="1400" b="1" dirty="0" err="1">
                <a:solidFill>
                  <a:srgbClr val="FF0000"/>
                </a:solidFill>
              </a:rPr>
              <a:t>kubectl</a:t>
            </a:r>
            <a:r>
              <a:rPr lang="en-US" altLang="ko-KR" sz="1400" b="1" dirty="0">
                <a:solidFill>
                  <a:srgbClr val="FF0000"/>
                </a:solidFill>
              </a:rPr>
              <a:t> apply</a:t>
            </a:r>
            <a:r>
              <a:rPr lang="en-US" altLang="ko-KR" sz="1400" b="1" dirty="0"/>
              <a:t>” command</a:t>
            </a:r>
            <a:r>
              <a:rPr lang="en-US" altLang="ko-KR" sz="1400" dirty="0"/>
              <a:t>. You’ll use the following YAML to update the deployment,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77F3F058-AB7D-C9B4-0158-3B4F99398A4A}"/>
              </a:ext>
            </a:extLst>
          </p:cNvPr>
          <p:cNvGrpSpPr/>
          <p:nvPr/>
        </p:nvGrpSpPr>
        <p:grpSpPr>
          <a:xfrm>
            <a:off x="1463310" y="3738376"/>
            <a:ext cx="9265380" cy="2400657"/>
            <a:chOff x="1463309" y="3867849"/>
            <a:chExt cx="9265380" cy="2400657"/>
          </a:xfrm>
        </p:grpSpPr>
        <p:grpSp>
          <p:nvGrpSpPr>
            <p:cNvPr id="11" name="그룹 10">
              <a:extLst>
                <a:ext uri="{FF2B5EF4-FFF2-40B4-BE49-F238E27FC236}">
                  <a16:creationId xmlns:a16="http://schemas.microsoft.com/office/drawing/2014/main" id="{D85EDD4A-3926-4237-ABD9-6AF3AE55DFAD}"/>
                </a:ext>
              </a:extLst>
            </p:cNvPr>
            <p:cNvGrpSpPr/>
            <p:nvPr/>
          </p:nvGrpSpPr>
          <p:grpSpPr>
            <a:xfrm>
              <a:off x="1463309" y="3867849"/>
              <a:ext cx="9265380" cy="2400657"/>
              <a:chOff x="1990641" y="3883510"/>
              <a:chExt cx="8210717" cy="2400657"/>
            </a:xfrm>
          </p:grpSpPr>
          <p:sp>
            <p:nvSpPr>
              <p:cNvPr id="8" name="TextBox 7">
                <a:extLst>
                  <a:ext uri="{FF2B5EF4-FFF2-40B4-BE49-F238E27FC236}">
                    <a16:creationId xmlns:a16="http://schemas.microsoft.com/office/drawing/2014/main" id="{AE170089-6ABD-D71D-76F6-124EF86A47B5}"/>
                  </a:ext>
                </a:extLst>
              </p:cNvPr>
              <p:cNvSpPr txBox="1"/>
              <p:nvPr/>
            </p:nvSpPr>
            <p:spPr>
              <a:xfrm>
                <a:off x="6096000" y="3883510"/>
                <a:ext cx="4105358" cy="2400657"/>
              </a:xfrm>
              <a:prstGeom prst="rect">
                <a:avLst/>
              </a:prstGeom>
              <a:noFill/>
              <a:ln>
                <a:solidFill>
                  <a:schemeClr val="bg1">
                    <a:lumMod val="50000"/>
                  </a:schemeClr>
                </a:solidFill>
              </a:ln>
            </p:spPr>
            <p:txBody>
              <a:bodyPr wrap="square">
                <a:spAutoFit/>
              </a:bodyPr>
              <a:lstStyle/>
              <a:p>
                <a:r>
                  <a:rPr lang="en-US" altLang="ko-KR" sz="1000" b="1" dirty="0"/>
                  <a:t>      labels:</a:t>
                </a:r>
              </a:p>
              <a:p>
                <a:r>
                  <a:rPr lang="en-US" altLang="ko-KR" sz="1000" b="1" dirty="0"/>
                  <a:t>        </a:t>
                </a:r>
                <a:r>
                  <a:rPr lang="en-US" altLang="ko-KR" sz="1000" b="1" dirty="0">
                    <a:solidFill>
                      <a:srgbClr val="FF0000"/>
                    </a:solidFill>
                  </a:rPr>
                  <a:t>app: </a:t>
                </a:r>
                <a:r>
                  <a:rPr lang="en-US" altLang="ko-KR" sz="1000" b="1" dirty="0" err="1">
                    <a:solidFill>
                      <a:srgbClr val="FF0000"/>
                    </a:solidFill>
                  </a:rPr>
                  <a:t>kubia</a:t>
                </a:r>
                <a:endParaRPr lang="en-US" altLang="ko-KR" sz="1000" b="1" dirty="0">
                  <a:solidFill>
                    <a:srgbClr val="FF0000"/>
                  </a:solidFill>
                </a:endParaRPr>
              </a:p>
              <a:p>
                <a:r>
                  <a:rPr lang="en-US" altLang="ko-KR" sz="1000" b="1" dirty="0"/>
                  <a:t>    spec:</a:t>
                </a:r>
              </a:p>
              <a:p>
                <a:r>
                  <a:rPr lang="en-US" altLang="ko-KR" sz="1000" b="1" dirty="0"/>
                  <a:t>      containers:</a:t>
                </a:r>
              </a:p>
              <a:p>
                <a:r>
                  <a:rPr lang="en-US" altLang="ko-KR" sz="1000" b="1" dirty="0"/>
                  <a:t>      - image: </a:t>
                </a:r>
                <a:r>
                  <a:rPr lang="en-US" altLang="ko-KR" sz="1000" b="1" dirty="0">
                    <a:solidFill>
                      <a:srgbClr val="FF0000"/>
                    </a:solidFill>
                  </a:rPr>
                  <a:t>knix008/kubia:v3</a:t>
                </a:r>
              </a:p>
              <a:p>
                <a:r>
                  <a:rPr lang="en-US" altLang="ko-KR" sz="1000" b="1" dirty="0"/>
                  <a:t>        name: </a:t>
                </a:r>
                <a:r>
                  <a:rPr lang="en-US" altLang="ko-KR" sz="1000" b="1" dirty="0" err="1"/>
                  <a:t>nodejs</a:t>
                </a:r>
                <a:endParaRPr lang="en-US" altLang="ko-KR" sz="1000" b="1" dirty="0"/>
              </a:p>
              <a:p>
                <a:r>
                  <a:rPr lang="en-US" altLang="ko-KR" sz="1000" b="1" dirty="0"/>
                  <a:t>        </a:t>
                </a:r>
                <a:r>
                  <a:rPr lang="en-US" altLang="ko-KR" sz="1000" b="1" dirty="0" err="1">
                    <a:solidFill>
                      <a:srgbClr val="FF0000"/>
                    </a:solidFill>
                  </a:rPr>
                  <a:t>readinessProbe</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periodSeconds</a:t>
                </a:r>
                <a:r>
                  <a:rPr lang="en-US" altLang="ko-KR" sz="1000" b="1" dirty="0">
                    <a:solidFill>
                      <a:srgbClr val="FF0000"/>
                    </a:solidFill>
                  </a:rPr>
                  <a:t>: 1</a:t>
                </a:r>
              </a:p>
              <a:p>
                <a:r>
                  <a:rPr lang="en-US" altLang="ko-KR" sz="1000" b="1" dirty="0">
                    <a:solidFill>
                      <a:srgbClr val="FF0000"/>
                    </a:solidFill>
                  </a:rPr>
                  <a:t>          </a:t>
                </a:r>
                <a:r>
                  <a:rPr lang="en-US" altLang="ko-KR" sz="1000" b="1" dirty="0" err="1">
                    <a:solidFill>
                      <a:srgbClr val="FF0000"/>
                    </a:solidFill>
                  </a:rPr>
                  <a:t>httpGet</a:t>
                </a:r>
                <a:r>
                  <a:rPr lang="en-US" altLang="ko-KR" sz="1000" b="1" dirty="0">
                    <a:solidFill>
                      <a:srgbClr val="FF0000"/>
                    </a:solidFill>
                  </a:rPr>
                  <a:t>:</a:t>
                </a:r>
              </a:p>
              <a:p>
                <a:r>
                  <a:rPr lang="en-US" altLang="ko-KR" sz="1000" b="1" dirty="0">
                    <a:solidFill>
                      <a:srgbClr val="FF0000"/>
                    </a:solidFill>
                  </a:rPr>
                  <a:t>            path: /</a:t>
                </a:r>
              </a:p>
              <a:p>
                <a:r>
                  <a:rPr lang="en-US" altLang="ko-KR" sz="1000" b="1" dirty="0">
                    <a:solidFill>
                      <a:srgbClr val="FF0000"/>
                    </a:solidFill>
                  </a:rPr>
                  <a:t>            port: 8080</a:t>
                </a:r>
              </a:p>
              <a:p>
                <a:r>
                  <a:rPr lang="en-US" altLang="ko-KR" sz="1000" b="1" dirty="0">
                    <a:solidFill>
                      <a:srgbClr val="FF0000"/>
                    </a:solidFill>
                  </a:rPr>
                  <a:t>  selector:</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a:t>
                </a:r>
                <a:r>
                  <a:rPr lang="en-US" altLang="ko-KR" sz="1000" b="1" dirty="0" err="1">
                    <a:solidFill>
                      <a:srgbClr val="FF0000"/>
                    </a:solidFill>
                  </a:rPr>
                  <a:t>kubia</a:t>
                </a:r>
                <a:endParaRPr lang="en-US" altLang="ko-KR" sz="1000" b="1" dirty="0">
                  <a:solidFill>
                    <a:srgbClr val="FF0000"/>
                  </a:solidFill>
                </a:endParaRPr>
              </a:p>
              <a:p>
                <a:endParaRPr lang="en-US" altLang="ko-KR" sz="1000" b="1" dirty="0"/>
              </a:p>
            </p:txBody>
          </p:sp>
          <p:sp>
            <p:nvSpPr>
              <p:cNvPr id="10" name="TextBox 9">
                <a:extLst>
                  <a:ext uri="{FF2B5EF4-FFF2-40B4-BE49-F238E27FC236}">
                    <a16:creationId xmlns:a16="http://schemas.microsoft.com/office/drawing/2014/main" id="{97BF8D3C-BD0A-F336-9545-9A43763A4468}"/>
                  </a:ext>
                </a:extLst>
              </p:cNvPr>
              <p:cNvSpPr txBox="1"/>
              <p:nvPr/>
            </p:nvSpPr>
            <p:spPr>
              <a:xfrm>
                <a:off x="1990641" y="3883510"/>
                <a:ext cx="4105358" cy="2400657"/>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apps/v1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Deployment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kubia</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replicas: 3</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minReadySeconds</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10</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strategy:</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rollingUpdate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maxSurge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maxUnavailable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0</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type: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RollingUpdate</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t>  template:</a:t>
                </a:r>
              </a:p>
              <a:p>
                <a:r>
                  <a:rPr lang="en-US" altLang="ko-KR" sz="1000" b="1" dirty="0"/>
                  <a:t>    metadata:</a:t>
                </a:r>
              </a:p>
              <a:p>
                <a:r>
                  <a:rPr lang="en-US" altLang="ko-KR" sz="1000" b="1" dirty="0"/>
                  <a:t>      </a:t>
                </a:r>
                <a:r>
                  <a:rPr lang="en-US" altLang="ko-KR" sz="1000" b="1" dirty="0">
                    <a:solidFill>
                      <a:srgbClr val="FF0000"/>
                    </a:solidFill>
                  </a:rPr>
                  <a:t>name: </a:t>
                </a:r>
                <a:r>
                  <a:rPr lang="en-US" altLang="ko-KR" sz="1000" b="1" dirty="0" err="1">
                    <a:solidFill>
                      <a:srgbClr val="FF0000"/>
                    </a:solidFill>
                  </a:rPr>
                  <a:t>kubia</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grpSp>
        <p:sp>
          <p:nvSpPr>
            <p:cNvPr id="12" name="TextBox 11">
              <a:extLst>
                <a:ext uri="{FF2B5EF4-FFF2-40B4-BE49-F238E27FC236}">
                  <a16:creationId xmlns:a16="http://schemas.microsoft.com/office/drawing/2014/main" id="{6C8C5DC9-3524-B636-909C-C6C3A4BDB0EB}"/>
                </a:ext>
              </a:extLst>
            </p:cNvPr>
            <p:cNvSpPr txBox="1"/>
            <p:nvPr/>
          </p:nvSpPr>
          <p:spPr>
            <a:xfrm>
              <a:off x="7615336" y="3867849"/>
              <a:ext cx="3113353" cy="246221"/>
            </a:xfrm>
            <a:prstGeom prst="rect">
              <a:avLst/>
            </a:prstGeom>
            <a:noFill/>
          </p:spPr>
          <p:txBody>
            <a:bodyPr wrap="square" rtlCol="0">
              <a:spAutoFit/>
            </a:bodyPr>
            <a:lstStyle/>
            <a:p>
              <a:pPr algn="l"/>
              <a:r>
                <a:rPr lang="en-US" altLang="ko-KR" sz="1000" b="1" dirty="0"/>
                <a:t>kubia-deployment-v3-with-readinesscheck.yaml</a:t>
              </a:r>
              <a:endParaRPr lang="ko-KR" altLang="en-US" sz="1000" b="1" dirty="0"/>
            </a:p>
          </p:txBody>
        </p:sp>
      </p:grpSp>
    </p:spTree>
    <p:extLst>
      <p:ext uri="{BB962C8B-B14F-4D97-AF65-F5344CB8AC3E}">
        <p14:creationId xmlns:p14="http://schemas.microsoft.com/office/powerpoint/2010/main" val="38708627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Declaratively(33/39)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b="1" dirty="0"/>
              <a:t>To update the Deployment, you’ll use “</a:t>
            </a:r>
            <a:r>
              <a:rPr lang="en-US" altLang="ko-KR" sz="1400" b="1" dirty="0" err="1"/>
              <a:t>kubectl</a:t>
            </a:r>
            <a:r>
              <a:rPr lang="en-US" altLang="ko-KR" sz="1400" b="1" dirty="0"/>
              <a:t> apply”</a:t>
            </a:r>
            <a:r>
              <a:rPr lang="en-US" altLang="ko-KR" sz="1400" dirty="0"/>
              <a:t>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Here, we created “</a:t>
            </a:r>
            <a:r>
              <a:rPr lang="en-US" altLang="ko-KR" sz="1400" b="1" dirty="0"/>
              <a:t>v2</a:t>
            </a:r>
            <a:r>
              <a:rPr lang="en-US" altLang="ko-KR" sz="1400" dirty="0"/>
              <a:t>” Deployment with “</a:t>
            </a:r>
            <a:r>
              <a:rPr lang="en-US" altLang="ko-KR" sz="1400" b="1" dirty="0"/>
              <a:t>kubia-deployment-v2.yaml</a:t>
            </a:r>
            <a:r>
              <a:rPr lang="en-US" altLang="ko-KR" sz="1400" dirty="0"/>
              <a:t>”. Then we used the above command to </a:t>
            </a:r>
            <a:r>
              <a:rPr lang="en-US" altLang="ko-KR" sz="1400" b="1" dirty="0"/>
              <a:t>update the configuration of “</a:t>
            </a:r>
            <a:r>
              <a:rPr lang="en-US" altLang="ko-KR" sz="1400" b="1" dirty="0" err="1"/>
              <a:t>kubia</a:t>
            </a:r>
            <a:r>
              <a:rPr lang="en-US" altLang="ko-KR" sz="1400" b="1" dirty="0"/>
              <a:t>” Deployment from “v2” to “v3”</a:t>
            </a:r>
            <a:r>
              <a:rPr lang="en-US" altLang="ko-KR" sz="1400" dirty="0"/>
              <a:t>.</a:t>
            </a:r>
          </a:p>
          <a:p>
            <a:pPr lvl="1">
              <a:buFont typeface="Wingdings" panose="05000000000000000000" pitchFamily="2" charset="2"/>
              <a:buChar char="§"/>
            </a:pPr>
            <a:r>
              <a:rPr lang="en-US" altLang="ko-KR" sz="1400" b="1" dirty="0"/>
              <a:t>The “</a:t>
            </a:r>
            <a:r>
              <a:rPr lang="en-US" altLang="ko-KR" sz="1400" b="1" dirty="0">
                <a:solidFill>
                  <a:srgbClr val="FF0000"/>
                </a:solidFill>
              </a:rPr>
              <a:t>apply</a:t>
            </a:r>
            <a:r>
              <a:rPr lang="en-US" altLang="ko-KR" sz="1400" b="1" dirty="0"/>
              <a:t>” command updates the Deployment with everything that’s defined in the YAML file</a:t>
            </a:r>
            <a:r>
              <a:rPr lang="en-US" altLang="ko-KR" sz="1400" dirty="0"/>
              <a:t>. It not only </a:t>
            </a:r>
            <a:r>
              <a:rPr lang="en-US" altLang="ko-KR" sz="1400" b="1" dirty="0"/>
              <a:t>updates the image </a:t>
            </a:r>
            <a:r>
              <a:rPr lang="en-US" altLang="ko-KR" sz="1400" dirty="0"/>
              <a:t>but also </a:t>
            </a:r>
            <a:r>
              <a:rPr lang="en-US" altLang="ko-KR" sz="1400" b="1" dirty="0"/>
              <a:t>adds the readiness probe definition </a:t>
            </a:r>
            <a:r>
              <a:rPr lang="en-US" altLang="ko-KR" sz="1400" dirty="0"/>
              <a:t>and anything else you’ve added or modified in the YAML. </a:t>
            </a:r>
            <a:r>
              <a:rPr lang="en-US" altLang="ko-KR" sz="1400" b="1" dirty="0"/>
              <a:t>If the new YAML also contains the replicas field, which doesn’t match the number of replicas on the existing Deployment, the apply operation will also scale the Deployment</a:t>
            </a:r>
            <a:r>
              <a:rPr lang="en-US" altLang="ko-KR" sz="1400" dirty="0"/>
              <a:t>, which isn’t usually what you want.</a:t>
            </a:r>
          </a:p>
          <a:p>
            <a:pPr lvl="1">
              <a:buFont typeface="Wingdings" panose="05000000000000000000" pitchFamily="2" charset="2"/>
              <a:buChar char="§"/>
            </a:pPr>
            <a:r>
              <a:rPr lang="en-US" altLang="ko-KR" sz="1400" b="1" dirty="0"/>
              <a:t>NOTE : To keep the desired replica count unchanged when updating a Deployment with </a:t>
            </a:r>
            <a:r>
              <a:rPr lang="en-US" altLang="ko-KR" sz="1400" b="1" dirty="0" err="1"/>
              <a:t>kubectl</a:t>
            </a:r>
            <a:r>
              <a:rPr lang="en-US" altLang="ko-KR" sz="1400" b="1" dirty="0"/>
              <a:t> apply, don’t include the replicas field in the YAML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17CFEDE-FBB4-FD94-2C18-FB31A6188639}"/>
              </a:ext>
            </a:extLst>
          </p:cNvPr>
          <p:cNvGrpSpPr/>
          <p:nvPr/>
        </p:nvGrpSpPr>
        <p:grpSpPr>
          <a:xfrm>
            <a:off x="1104900" y="1570370"/>
            <a:ext cx="9982200" cy="2325248"/>
            <a:chOff x="1104900" y="1473266"/>
            <a:chExt cx="9982200" cy="2325248"/>
          </a:xfrm>
        </p:grpSpPr>
        <p:sp>
          <p:nvSpPr>
            <p:cNvPr id="8" name="TextBox 7">
              <a:extLst>
                <a:ext uri="{FF2B5EF4-FFF2-40B4-BE49-F238E27FC236}">
                  <a16:creationId xmlns:a16="http://schemas.microsoft.com/office/drawing/2014/main" id="{44204D82-FFC1-10AF-37FC-233B61AC867D}"/>
                </a:ext>
              </a:extLst>
            </p:cNvPr>
            <p:cNvSpPr txBox="1"/>
            <p:nvPr/>
          </p:nvSpPr>
          <p:spPr>
            <a:xfrm>
              <a:off x="3047326" y="147326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kubia-deployment-v3-with-readinesscheck.yaml</a:t>
              </a:r>
            </a:p>
          </p:txBody>
        </p:sp>
        <p:sp>
          <p:nvSpPr>
            <p:cNvPr id="9" name="화살표: 아래쪽 8">
              <a:extLst>
                <a:ext uri="{FF2B5EF4-FFF2-40B4-BE49-F238E27FC236}">
                  <a16:creationId xmlns:a16="http://schemas.microsoft.com/office/drawing/2014/main" id="{15678054-8988-F957-F20F-BBB2F64A0875}"/>
                </a:ext>
              </a:extLst>
            </p:cNvPr>
            <p:cNvSpPr/>
            <p:nvPr/>
          </p:nvSpPr>
          <p:spPr>
            <a:xfrm>
              <a:off x="5877515" y="1723604"/>
              <a:ext cx="436970" cy="31558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D6FBAC67-0F28-55ED-CB8B-6A6DC3E34178}"/>
                </a:ext>
              </a:extLst>
            </p:cNvPr>
            <p:cNvPicPr>
              <a:picLocks noChangeAspect="1"/>
            </p:cNvPicPr>
            <p:nvPr/>
          </p:nvPicPr>
          <p:blipFill>
            <a:blip r:embed="rId2"/>
            <a:stretch>
              <a:fillRect/>
            </a:stretch>
          </p:blipFill>
          <p:spPr>
            <a:xfrm>
              <a:off x="1104900" y="2043310"/>
              <a:ext cx="9982200" cy="1755204"/>
            </a:xfrm>
            <a:prstGeom prst="rect">
              <a:avLst/>
            </a:prstGeom>
          </p:spPr>
        </p:pic>
      </p:grpSp>
    </p:spTree>
    <p:extLst>
      <p:ext uri="{BB962C8B-B14F-4D97-AF65-F5344CB8AC3E}">
        <p14:creationId xmlns:p14="http://schemas.microsoft.com/office/powerpoint/2010/main" val="40878574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Declaratively(34/39)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b="1" dirty="0"/>
              <a:t>Running the apply command will kick off the update process</a:t>
            </a:r>
            <a:r>
              <a:rPr lang="en-US" altLang="ko-KR" sz="1400" dirty="0"/>
              <a:t>, which you can again follow with the </a:t>
            </a:r>
            <a:r>
              <a:rPr lang="en-US" altLang="ko-KR" sz="1400" b="1" dirty="0"/>
              <a:t>rollout status </a:t>
            </a:r>
            <a:r>
              <a:rPr lang="en-US" altLang="ko-KR" sz="1400" dirty="0"/>
              <a:t>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Because the status says “</a:t>
            </a:r>
            <a:r>
              <a:rPr lang="en-US" altLang="ko-KR" sz="1400" b="1" dirty="0"/>
              <a:t>error : the deployment “</a:t>
            </a:r>
            <a:r>
              <a:rPr lang="en-US" altLang="ko-KR" sz="1400" b="1" dirty="0" err="1"/>
              <a:t>kubia</a:t>
            </a:r>
            <a:r>
              <a:rPr lang="en-US" altLang="ko-KR" sz="1400" b="1" dirty="0"/>
              <a:t>” is exceeded its progress deadline</a:t>
            </a:r>
            <a:r>
              <a:rPr lang="en-US" altLang="ko-KR" sz="1400" dirty="0"/>
              <a:t>”(readiness probe failed), your service will show you the following screenshot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103A797-7ADC-9E0A-958B-7998F9949A8E}"/>
              </a:ext>
            </a:extLst>
          </p:cNvPr>
          <p:cNvGrpSpPr/>
          <p:nvPr/>
        </p:nvGrpSpPr>
        <p:grpSpPr>
          <a:xfrm>
            <a:off x="1515461" y="1541969"/>
            <a:ext cx="9161077" cy="1991220"/>
            <a:chOff x="1515461" y="1684594"/>
            <a:chExt cx="9161077" cy="1991220"/>
          </a:xfrm>
        </p:grpSpPr>
        <p:sp>
          <p:nvSpPr>
            <p:cNvPr id="8" name="TextBox 7">
              <a:extLst>
                <a:ext uri="{FF2B5EF4-FFF2-40B4-BE49-F238E27FC236}">
                  <a16:creationId xmlns:a16="http://schemas.microsoft.com/office/drawing/2014/main" id="{928773FF-207F-D626-DD05-A40ABC4404F3}"/>
                </a:ext>
              </a:extLst>
            </p:cNvPr>
            <p:cNvSpPr txBox="1"/>
            <p:nvPr/>
          </p:nvSpPr>
          <p:spPr>
            <a:xfrm>
              <a:off x="3047326" y="168459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status </a:t>
              </a:r>
              <a:r>
                <a:rPr lang="en-US" altLang="ko-KR" sz="1000" b="1" dirty="0"/>
                <a:t>deployment </a:t>
              </a:r>
              <a:r>
                <a:rPr lang="en-US" altLang="ko-KR" sz="1000" b="1" dirty="0" err="1"/>
                <a:t>kubia</a:t>
              </a:r>
              <a:endParaRPr lang="en-US" altLang="ko-KR" sz="1000" b="1" dirty="0"/>
            </a:p>
          </p:txBody>
        </p:sp>
        <p:sp>
          <p:nvSpPr>
            <p:cNvPr id="9" name="화살표: 아래쪽 8">
              <a:extLst>
                <a:ext uri="{FF2B5EF4-FFF2-40B4-BE49-F238E27FC236}">
                  <a16:creationId xmlns:a16="http://schemas.microsoft.com/office/drawing/2014/main" id="{7B72A05C-C2DB-FD39-F504-80B1FFF16A53}"/>
                </a:ext>
              </a:extLst>
            </p:cNvPr>
            <p:cNvSpPr/>
            <p:nvPr/>
          </p:nvSpPr>
          <p:spPr>
            <a:xfrm>
              <a:off x="5873469" y="1950181"/>
              <a:ext cx="445062" cy="27512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C5EA8C2A-40E7-0728-EC81-91BF37210A83}"/>
                </a:ext>
              </a:extLst>
            </p:cNvPr>
            <p:cNvPicPr>
              <a:picLocks noChangeAspect="1"/>
            </p:cNvPicPr>
            <p:nvPr/>
          </p:nvPicPr>
          <p:blipFill>
            <a:blip r:embed="rId2"/>
            <a:stretch>
              <a:fillRect/>
            </a:stretch>
          </p:blipFill>
          <p:spPr>
            <a:xfrm>
              <a:off x="1515461" y="2225310"/>
              <a:ext cx="9161077" cy="1450504"/>
            </a:xfrm>
            <a:prstGeom prst="rect">
              <a:avLst/>
            </a:prstGeom>
          </p:spPr>
        </p:pic>
      </p:grpSp>
      <p:grpSp>
        <p:nvGrpSpPr>
          <p:cNvPr id="19" name="그룹 18">
            <a:extLst>
              <a:ext uri="{FF2B5EF4-FFF2-40B4-BE49-F238E27FC236}">
                <a16:creationId xmlns:a16="http://schemas.microsoft.com/office/drawing/2014/main" id="{3C2B8180-AD74-2C77-B242-0007E7652B1A}"/>
              </a:ext>
            </a:extLst>
          </p:cNvPr>
          <p:cNvGrpSpPr/>
          <p:nvPr/>
        </p:nvGrpSpPr>
        <p:grpSpPr>
          <a:xfrm>
            <a:off x="1515461" y="4192211"/>
            <a:ext cx="9161077" cy="2006156"/>
            <a:chOff x="1515461" y="4111291"/>
            <a:chExt cx="9161077" cy="2006156"/>
          </a:xfrm>
        </p:grpSpPr>
        <p:grpSp>
          <p:nvGrpSpPr>
            <p:cNvPr id="16" name="그룹 15">
              <a:extLst>
                <a:ext uri="{FF2B5EF4-FFF2-40B4-BE49-F238E27FC236}">
                  <a16:creationId xmlns:a16="http://schemas.microsoft.com/office/drawing/2014/main" id="{36E0FDCF-A6AA-1F6C-2084-F2B6CBAA412B}"/>
                </a:ext>
              </a:extLst>
            </p:cNvPr>
            <p:cNvGrpSpPr/>
            <p:nvPr/>
          </p:nvGrpSpPr>
          <p:grpSpPr>
            <a:xfrm>
              <a:off x="3047325" y="4111291"/>
              <a:ext cx="6097348" cy="555652"/>
              <a:chOff x="3047326" y="4488240"/>
              <a:chExt cx="6097348" cy="555652"/>
            </a:xfrm>
          </p:grpSpPr>
          <p:sp>
            <p:nvSpPr>
              <p:cNvPr id="14" name="TextBox 13">
                <a:extLst>
                  <a:ext uri="{FF2B5EF4-FFF2-40B4-BE49-F238E27FC236}">
                    <a16:creationId xmlns:a16="http://schemas.microsoft.com/office/drawing/2014/main" id="{1D73A75E-B0AB-6943-2072-29C8EF89F111}"/>
                  </a:ext>
                </a:extLst>
              </p:cNvPr>
              <p:cNvSpPr txBox="1"/>
              <p:nvPr/>
            </p:nvSpPr>
            <p:spPr>
              <a:xfrm>
                <a:off x="3047326" y="4488240"/>
                <a:ext cx="6097348" cy="246221"/>
              </a:xfrm>
              <a:prstGeom prst="rect">
                <a:avLst/>
              </a:prstGeom>
              <a:noFill/>
              <a:ln>
                <a:solidFill>
                  <a:schemeClr val="bg1">
                    <a:lumMod val="50000"/>
                  </a:schemeClr>
                </a:solidFill>
              </a:ln>
            </p:spPr>
            <p:txBody>
              <a:bodyPr wrap="square">
                <a:spAutoFit/>
              </a:bodyPr>
              <a:lstStyle/>
              <a:p>
                <a:r>
                  <a:rPr lang="en-US" altLang="ko-KR" sz="1000" b="1" dirty="0"/>
                  <a:t>$ while true; do curl </a:t>
                </a:r>
                <a:r>
                  <a:rPr lang="en-US" altLang="ko-KR" sz="1000" b="1" dirty="0">
                    <a:solidFill>
                      <a:srgbClr val="FF0000"/>
                    </a:solidFill>
                  </a:rPr>
                  <a:t>http://kubia.example.com</a:t>
                </a:r>
                <a:r>
                  <a:rPr lang="en-US" altLang="ko-KR" sz="1000" b="1" dirty="0"/>
                  <a:t>; done</a:t>
                </a:r>
              </a:p>
            </p:txBody>
          </p:sp>
          <p:sp>
            <p:nvSpPr>
              <p:cNvPr id="15" name="화살표: 아래쪽 14">
                <a:extLst>
                  <a:ext uri="{FF2B5EF4-FFF2-40B4-BE49-F238E27FC236}">
                    <a16:creationId xmlns:a16="http://schemas.microsoft.com/office/drawing/2014/main" id="{DEAF732F-E8EB-CB25-2F06-A8AD23F89F75}"/>
                  </a:ext>
                </a:extLst>
              </p:cNvPr>
              <p:cNvSpPr/>
              <p:nvPr/>
            </p:nvSpPr>
            <p:spPr>
              <a:xfrm>
                <a:off x="5859306" y="4749397"/>
                <a:ext cx="482152" cy="29449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8" name="그림 17">
              <a:extLst>
                <a:ext uri="{FF2B5EF4-FFF2-40B4-BE49-F238E27FC236}">
                  <a16:creationId xmlns:a16="http://schemas.microsoft.com/office/drawing/2014/main" id="{70D62EE1-9DBC-6DF5-7EAB-D1EF64DCB9DD}"/>
                </a:ext>
              </a:extLst>
            </p:cNvPr>
            <p:cNvPicPr>
              <a:picLocks noChangeAspect="1"/>
            </p:cNvPicPr>
            <p:nvPr/>
          </p:nvPicPr>
          <p:blipFill>
            <a:blip r:embed="rId3"/>
            <a:stretch>
              <a:fillRect/>
            </a:stretch>
          </p:blipFill>
          <p:spPr>
            <a:xfrm>
              <a:off x="1515461" y="4666943"/>
              <a:ext cx="9161077" cy="1450504"/>
            </a:xfrm>
            <a:prstGeom prst="rect">
              <a:avLst/>
            </a:prstGeom>
          </p:spPr>
        </p:pic>
      </p:grpSp>
    </p:spTree>
    <p:extLst>
      <p:ext uri="{BB962C8B-B14F-4D97-AF65-F5344CB8AC3E}">
        <p14:creationId xmlns:p14="http://schemas.microsoft.com/office/powerpoint/2010/main" val="1209136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Declaratively(35/39)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b="1" dirty="0"/>
              <a:t>You never hit the v3 pod</a:t>
            </a:r>
            <a:r>
              <a:rPr lang="en-US" altLang="ko-KR" sz="1400" dirty="0"/>
              <a:t>. Why not? Is it even there? </a:t>
            </a:r>
            <a:r>
              <a:rPr lang="en-US" altLang="ko-KR" sz="1400" b="1" dirty="0"/>
              <a:t>List the po</a:t>
            </a:r>
            <a:r>
              <a:rPr lang="en-US" altLang="ko-KR" sz="1400" dirty="0"/>
              <a:t>ds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you can see from the above screenshot, There’s your problem. </a:t>
            </a:r>
            <a:r>
              <a:rPr lang="en-US" altLang="ko-KR" sz="1400" b="1" dirty="0"/>
              <a:t>The pod is shown as not ready</a:t>
            </a:r>
            <a:r>
              <a:rPr lang="en-US" altLang="ko-KR" sz="1400" dirty="0"/>
              <a:t>. What has happened?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39BA265D-E1E8-508C-4DBB-F0C56D1E21A7}"/>
              </a:ext>
            </a:extLst>
          </p:cNvPr>
          <p:cNvGrpSpPr/>
          <p:nvPr/>
        </p:nvGrpSpPr>
        <p:grpSpPr>
          <a:xfrm>
            <a:off x="1254602" y="1555121"/>
            <a:ext cx="9682795" cy="2081453"/>
            <a:chOff x="1254602" y="1514661"/>
            <a:chExt cx="9682795" cy="2081453"/>
          </a:xfrm>
        </p:grpSpPr>
        <p:grpSp>
          <p:nvGrpSpPr>
            <p:cNvPr id="12" name="그룹 11">
              <a:extLst>
                <a:ext uri="{FF2B5EF4-FFF2-40B4-BE49-F238E27FC236}">
                  <a16:creationId xmlns:a16="http://schemas.microsoft.com/office/drawing/2014/main" id="{1C8D2C6E-E822-5AE5-0FD9-76BED8E87399}"/>
                </a:ext>
              </a:extLst>
            </p:cNvPr>
            <p:cNvGrpSpPr/>
            <p:nvPr/>
          </p:nvGrpSpPr>
          <p:grpSpPr>
            <a:xfrm>
              <a:off x="1254602" y="1514661"/>
              <a:ext cx="9682795" cy="2081453"/>
              <a:chOff x="1254602" y="1514661"/>
              <a:chExt cx="9682795" cy="2081453"/>
            </a:xfrm>
          </p:grpSpPr>
          <p:sp>
            <p:nvSpPr>
              <p:cNvPr id="8" name="TextBox 7">
                <a:extLst>
                  <a:ext uri="{FF2B5EF4-FFF2-40B4-BE49-F238E27FC236}">
                    <a16:creationId xmlns:a16="http://schemas.microsoft.com/office/drawing/2014/main" id="{06528484-8372-2391-9B78-BA2D57D1C12F}"/>
                  </a:ext>
                </a:extLst>
              </p:cNvPr>
              <p:cNvSpPr txBox="1"/>
              <p:nvPr/>
            </p:nvSpPr>
            <p:spPr>
              <a:xfrm>
                <a:off x="3047326" y="1514661"/>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a:t>
                </a:r>
              </a:p>
            </p:txBody>
          </p:sp>
          <p:sp>
            <p:nvSpPr>
              <p:cNvPr id="9" name="화살표: 아래쪽 8">
                <a:extLst>
                  <a:ext uri="{FF2B5EF4-FFF2-40B4-BE49-F238E27FC236}">
                    <a16:creationId xmlns:a16="http://schemas.microsoft.com/office/drawing/2014/main" id="{930BF7DD-92F3-E2A7-17D2-9251744CD010}"/>
                  </a:ext>
                </a:extLst>
              </p:cNvPr>
              <p:cNvSpPr/>
              <p:nvPr/>
            </p:nvSpPr>
            <p:spPr>
              <a:xfrm>
                <a:off x="5873469" y="1763646"/>
                <a:ext cx="445062"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61B06F1D-0D9D-3E7C-523D-2C9A6F3CB192}"/>
                  </a:ext>
                </a:extLst>
              </p:cNvPr>
              <p:cNvPicPr>
                <a:picLocks noChangeAspect="1"/>
              </p:cNvPicPr>
              <p:nvPr/>
            </p:nvPicPr>
            <p:blipFill>
              <a:blip r:embed="rId2"/>
              <a:stretch>
                <a:fillRect/>
              </a:stretch>
            </p:blipFill>
            <p:spPr>
              <a:xfrm>
                <a:off x="1254602" y="2046867"/>
                <a:ext cx="9682795" cy="1549247"/>
              </a:xfrm>
              <a:prstGeom prst="rect">
                <a:avLst/>
              </a:prstGeom>
            </p:spPr>
          </p:pic>
        </p:grpSp>
        <p:sp>
          <p:nvSpPr>
            <p:cNvPr id="13" name="직사각형 12">
              <a:extLst>
                <a:ext uri="{FF2B5EF4-FFF2-40B4-BE49-F238E27FC236}">
                  <a16:creationId xmlns:a16="http://schemas.microsoft.com/office/drawing/2014/main" id="{3C3D6F8F-DDD1-8B84-B3B8-A98FF7FF1BAE}"/>
                </a:ext>
              </a:extLst>
            </p:cNvPr>
            <p:cNvSpPr/>
            <p:nvPr/>
          </p:nvSpPr>
          <p:spPr>
            <a:xfrm>
              <a:off x="1351370" y="3188262"/>
              <a:ext cx="3706152"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841777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Declaratively(36/39)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b="1" dirty="0"/>
              <a:t>As soon as your new pod starts, the readiness probe starts being hit every second (you set the probe’s interval to one second in the pod spec). On the fifth request the readiness probe began failing, because your app starts returning HTTP status code 500 from the fifth request onward</a:t>
            </a:r>
            <a:r>
              <a:rPr lang="en-US" altLang="ko-KR" sz="1400" dirty="0"/>
              <a:t>.</a:t>
            </a:r>
          </a:p>
          <a:p>
            <a:pPr lvl="1">
              <a:buFont typeface="Wingdings" panose="05000000000000000000" pitchFamily="2" charset="2"/>
              <a:buChar char="§"/>
            </a:pPr>
            <a:r>
              <a:rPr lang="en-US" altLang="ko-KR" sz="1400" b="1" dirty="0"/>
              <a:t>As a result, the pod is removed as an endpoint from the service (see the following figure)</a:t>
            </a:r>
            <a:r>
              <a:rPr lang="en-US" altLang="ko-KR" sz="1400" dirty="0"/>
              <a:t>. By the time you start hitting the service in the “</a:t>
            </a:r>
            <a:r>
              <a:rPr lang="en-US" altLang="ko-KR" sz="1400" b="1" dirty="0"/>
              <a:t>curl</a:t>
            </a:r>
            <a:r>
              <a:rPr lang="en-US" altLang="ko-KR" sz="1400" dirty="0"/>
              <a:t>” loop, the pod has already been marked as not ready. This explains why you never hit the new pod with “</a:t>
            </a:r>
            <a:r>
              <a:rPr lang="en-US" altLang="ko-KR" sz="1400" b="1" dirty="0"/>
              <a:t>curl</a:t>
            </a:r>
            <a:r>
              <a:rPr lang="en-US" altLang="ko-KR" sz="1400" dirty="0"/>
              <a:t>”. And that’s exactly what you want, because </a:t>
            </a:r>
            <a:r>
              <a:rPr lang="en-US" altLang="ko-KR" sz="1400" b="1" dirty="0"/>
              <a:t>you don’t want clients to hit a pod that’s not functioning properly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1E00F1C-99E0-E71F-B725-B516C05BC4F0}"/>
              </a:ext>
            </a:extLst>
          </p:cNvPr>
          <p:cNvPicPr>
            <a:picLocks noChangeAspect="1"/>
          </p:cNvPicPr>
          <p:nvPr/>
        </p:nvPicPr>
        <p:blipFill>
          <a:blip r:embed="rId2"/>
          <a:stretch>
            <a:fillRect/>
          </a:stretch>
        </p:blipFill>
        <p:spPr>
          <a:xfrm>
            <a:off x="3729037" y="2665705"/>
            <a:ext cx="4733925" cy="3743325"/>
          </a:xfrm>
          <a:prstGeom prst="rect">
            <a:avLst/>
          </a:prstGeom>
        </p:spPr>
      </p:pic>
    </p:spTree>
    <p:extLst>
      <p:ext uri="{BB962C8B-B14F-4D97-AF65-F5344CB8AC3E}">
        <p14:creationId xmlns:p14="http://schemas.microsoft.com/office/powerpoint/2010/main" val="35960909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Declaratively(37/39)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b="1" dirty="0"/>
              <a:t>The rollout status command shows there was an error in updating the Deployment</a:t>
            </a:r>
            <a:r>
              <a:rPr lang="en-US" altLang="ko-KR" sz="1400" dirty="0"/>
              <a:t>. </a:t>
            </a:r>
            <a:r>
              <a:rPr lang="en-US" altLang="ko-KR" sz="1400" b="1" dirty="0"/>
              <a:t>The rollout process will not continue, because the new pod will never become available</a:t>
            </a:r>
            <a:r>
              <a:rPr lang="en-US" altLang="ko-KR" sz="1400" dirty="0"/>
              <a:t>. To be considered available, it needs to be ready for at least “</a:t>
            </a:r>
            <a:r>
              <a:rPr lang="en-US" altLang="ko-KR" sz="1400" b="1" dirty="0"/>
              <a:t>10</a:t>
            </a:r>
            <a:r>
              <a:rPr lang="en-US" altLang="ko-KR" sz="1400" dirty="0"/>
              <a:t>” seconds. </a:t>
            </a:r>
            <a:r>
              <a:rPr lang="en-US" altLang="ko-KR" sz="1400" b="1" dirty="0"/>
              <a:t>Until it’s available, the rollout process will not create any new pods</a:t>
            </a:r>
            <a:r>
              <a:rPr lang="en-US" altLang="ko-KR" sz="1400" dirty="0"/>
              <a:t>, </a:t>
            </a:r>
            <a:r>
              <a:rPr lang="en-US" altLang="ko-KR" sz="1400" b="1" dirty="0"/>
              <a:t>and it also won’t remove any original pods because you’ve set the “</a:t>
            </a:r>
            <a:r>
              <a:rPr lang="en-US" altLang="ko-KR" sz="1400" b="1" dirty="0" err="1"/>
              <a:t>maxUnavailable</a:t>
            </a:r>
            <a:r>
              <a:rPr lang="en-US" altLang="ko-KR" sz="1400" b="1" dirty="0"/>
              <a:t>” property to 0</a:t>
            </a:r>
            <a:r>
              <a:rPr lang="en-US" altLang="ko-KR" sz="1400" dirty="0"/>
              <a:t>.</a:t>
            </a:r>
          </a:p>
          <a:p>
            <a:pPr lvl="1">
              <a:buFont typeface="Wingdings" panose="05000000000000000000" pitchFamily="2" charset="2"/>
              <a:buChar char="§"/>
            </a:pPr>
            <a:r>
              <a:rPr lang="en-US" altLang="ko-KR" sz="1400" b="1" dirty="0"/>
              <a:t>The fact that the deployment is stuck is a good thing, because if it had continued replacing the old pods with the new ones, you’d end up with a completely non-working service</a:t>
            </a:r>
            <a:r>
              <a:rPr lang="en-US" altLang="ko-KR" sz="1400" dirty="0"/>
              <a:t>. But now, with the readiness probe in place, there was virtually no negative impact on your users.</a:t>
            </a:r>
          </a:p>
          <a:p>
            <a:pPr lvl="1">
              <a:buFont typeface="Wingdings" panose="05000000000000000000" pitchFamily="2" charset="2"/>
              <a:buChar char="§"/>
            </a:pPr>
            <a:r>
              <a:rPr lang="en-US" altLang="ko-KR" sz="1400" b="1" dirty="0"/>
              <a:t>NOTE : If you only define the </a:t>
            </a:r>
            <a:r>
              <a:rPr lang="en-US" altLang="ko-KR" sz="1400" b="1" dirty="0">
                <a:solidFill>
                  <a:srgbClr val="FF0000"/>
                </a:solidFill>
              </a:rPr>
              <a:t>readiness probe </a:t>
            </a:r>
            <a:r>
              <a:rPr lang="en-US" altLang="ko-KR" sz="1400" b="1" dirty="0"/>
              <a:t>without setting “</a:t>
            </a:r>
            <a:r>
              <a:rPr lang="en-US" altLang="ko-KR" sz="1400" b="1" dirty="0" err="1">
                <a:solidFill>
                  <a:srgbClr val="FF0000"/>
                </a:solidFill>
              </a:rPr>
              <a:t>minReadySeconds</a:t>
            </a:r>
            <a:r>
              <a:rPr lang="en-US" altLang="ko-KR" sz="1400" b="1" dirty="0"/>
              <a:t>” properly, new pods are considered available immediately when the first invocation of the readiness probe succeeds</a:t>
            </a:r>
            <a:r>
              <a:rPr lang="en-US" altLang="ko-KR" sz="1400" dirty="0"/>
              <a:t>. If the readiness probe starts failing shortly after, the bad version is rolled out across all pods. </a:t>
            </a:r>
            <a:r>
              <a:rPr lang="en-US" altLang="ko-KR" sz="1400" b="1" dirty="0"/>
              <a:t>Therefore, you should set “</a:t>
            </a:r>
            <a:r>
              <a:rPr lang="en-US" altLang="ko-KR" sz="1400" b="1" dirty="0" err="1"/>
              <a:t>minReadySeconds</a:t>
            </a:r>
            <a:r>
              <a:rPr lang="en-US" altLang="ko-KR" sz="1400" b="1" dirty="0"/>
              <a:t>” appropriately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FF5F94A-5AE1-EBC7-F439-5879A4E004B2}"/>
              </a:ext>
            </a:extLst>
          </p:cNvPr>
          <p:cNvPicPr>
            <a:picLocks noChangeAspect="1"/>
          </p:cNvPicPr>
          <p:nvPr/>
        </p:nvPicPr>
        <p:blipFill>
          <a:blip r:embed="rId2"/>
          <a:stretch>
            <a:fillRect/>
          </a:stretch>
        </p:blipFill>
        <p:spPr>
          <a:xfrm>
            <a:off x="3376612" y="3792988"/>
            <a:ext cx="5438775" cy="2105025"/>
          </a:xfrm>
          <a:prstGeom prst="rect">
            <a:avLst/>
          </a:prstGeom>
        </p:spPr>
      </p:pic>
    </p:spTree>
    <p:extLst>
      <p:ext uri="{BB962C8B-B14F-4D97-AF65-F5344CB8AC3E}">
        <p14:creationId xmlns:p14="http://schemas.microsoft.com/office/powerpoint/2010/main" val="17857858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Declaratively(38/39)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b="1" dirty="0"/>
              <a:t>By default, after the rollout can’t make any progress in “10” minutes</a:t>
            </a:r>
            <a:r>
              <a:rPr lang="en-US" altLang="ko-KR" sz="1400" dirty="0"/>
              <a:t>, </a:t>
            </a:r>
            <a:r>
              <a:rPr lang="en-US" altLang="ko-KR" sz="1400" b="1" dirty="0"/>
              <a:t>it’s considered as failed</a:t>
            </a:r>
            <a:r>
              <a:rPr lang="en-US" altLang="ko-KR" sz="1400" dirty="0"/>
              <a:t>. If you use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deployment</a:t>
            </a:r>
            <a:r>
              <a:rPr lang="en-US" altLang="ko-KR" sz="1400" dirty="0"/>
              <a:t>” command, you’ll see </a:t>
            </a:r>
            <a:r>
              <a:rPr lang="en-US" altLang="ko-KR" sz="1400" b="1" dirty="0"/>
              <a:t>it display a “</a:t>
            </a:r>
            <a:r>
              <a:rPr lang="en-US" altLang="ko-KR" sz="1400" b="1" dirty="0" err="1">
                <a:solidFill>
                  <a:srgbClr val="FF0000"/>
                </a:solidFill>
              </a:rPr>
              <a:t>ProgressDeadlineExceeded</a:t>
            </a:r>
            <a:r>
              <a:rPr lang="en-US" altLang="ko-KR" sz="1400" b="1" dirty="0"/>
              <a:t>” condition</a:t>
            </a:r>
            <a:r>
              <a:rPr lang="en-US" altLang="ko-KR" sz="1400" dirty="0"/>
              <a:t>, as shown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52E153A5-FF2B-A48C-00E0-6C472E4F594C}"/>
              </a:ext>
            </a:extLst>
          </p:cNvPr>
          <p:cNvGrpSpPr/>
          <p:nvPr/>
        </p:nvGrpSpPr>
        <p:grpSpPr>
          <a:xfrm>
            <a:off x="1121084" y="1862619"/>
            <a:ext cx="9949832" cy="4506482"/>
            <a:chOff x="1121084" y="1862619"/>
            <a:chExt cx="9949832" cy="4506482"/>
          </a:xfrm>
        </p:grpSpPr>
        <p:grpSp>
          <p:nvGrpSpPr>
            <p:cNvPr id="15" name="그룹 14">
              <a:extLst>
                <a:ext uri="{FF2B5EF4-FFF2-40B4-BE49-F238E27FC236}">
                  <a16:creationId xmlns:a16="http://schemas.microsoft.com/office/drawing/2014/main" id="{B4A7682D-F8C5-46C3-A067-7E5F64C1C462}"/>
                </a:ext>
              </a:extLst>
            </p:cNvPr>
            <p:cNvGrpSpPr/>
            <p:nvPr/>
          </p:nvGrpSpPr>
          <p:grpSpPr>
            <a:xfrm>
              <a:off x="1121084" y="1862619"/>
              <a:ext cx="9949832" cy="4506482"/>
              <a:chOff x="1121084" y="1862619"/>
              <a:chExt cx="9949832" cy="4506482"/>
            </a:xfrm>
          </p:grpSpPr>
          <p:sp>
            <p:nvSpPr>
              <p:cNvPr id="8" name="TextBox 7">
                <a:extLst>
                  <a:ext uri="{FF2B5EF4-FFF2-40B4-BE49-F238E27FC236}">
                    <a16:creationId xmlns:a16="http://schemas.microsoft.com/office/drawing/2014/main" id="{666C7AA0-89EB-18E5-3DE2-5E61C4FAC7A8}"/>
                  </a:ext>
                </a:extLst>
              </p:cNvPr>
              <p:cNvSpPr txBox="1"/>
              <p:nvPr/>
            </p:nvSpPr>
            <p:spPr>
              <a:xfrm>
                <a:off x="3121502" y="186261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deploy </a:t>
                </a:r>
                <a:r>
                  <a:rPr lang="en-US" altLang="ko-KR" sz="1000" b="1" dirty="0" err="1"/>
                  <a:t>kubia</a:t>
                </a:r>
                <a:endParaRPr lang="ko-KR" altLang="en-US" sz="1000" b="1" dirty="0"/>
              </a:p>
            </p:txBody>
          </p:sp>
          <p:sp>
            <p:nvSpPr>
              <p:cNvPr id="9" name="화살표: 아래쪽 8">
                <a:extLst>
                  <a:ext uri="{FF2B5EF4-FFF2-40B4-BE49-F238E27FC236}">
                    <a16:creationId xmlns:a16="http://schemas.microsoft.com/office/drawing/2014/main" id="{823E84A1-D3ED-9C0C-0D74-A46D5E28AE15}"/>
                  </a:ext>
                </a:extLst>
              </p:cNvPr>
              <p:cNvSpPr/>
              <p:nvPr/>
            </p:nvSpPr>
            <p:spPr>
              <a:xfrm>
                <a:off x="5865377" y="2115359"/>
                <a:ext cx="461246" cy="29940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E465A41B-B35C-D331-4CE8-F5774FE52FE7}"/>
                  </a:ext>
                </a:extLst>
              </p:cNvPr>
              <p:cNvGrpSpPr/>
              <p:nvPr/>
            </p:nvGrpSpPr>
            <p:grpSpPr>
              <a:xfrm>
                <a:off x="1121084" y="2421284"/>
                <a:ext cx="9949832" cy="3947817"/>
                <a:chOff x="381000" y="2524125"/>
                <a:chExt cx="11430000" cy="4539126"/>
              </a:xfrm>
            </p:grpSpPr>
            <p:pic>
              <p:nvPicPr>
                <p:cNvPr id="11" name="그림 10">
                  <a:extLst>
                    <a:ext uri="{FF2B5EF4-FFF2-40B4-BE49-F238E27FC236}">
                      <a16:creationId xmlns:a16="http://schemas.microsoft.com/office/drawing/2014/main" id="{BA7DA7E5-3FFA-E758-B65A-7CCA1002A5AA}"/>
                    </a:ext>
                  </a:extLst>
                </p:cNvPr>
                <p:cNvPicPr>
                  <a:picLocks noChangeAspect="1"/>
                </p:cNvPicPr>
                <p:nvPr/>
              </p:nvPicPr>
              <p:blipFill>
                <a:blip r:embed="rId2"/>
                <a:stretch>
                  <a:fillRect/>
                </a:stretch>
              </p:blipFill>
              <p:spPr>
                <a:xfrm>
                  <a:off x="381000" y="2524125"/>
                  <a:ext cx="11430000" cy="1809750"/>
                </a:xfrm>
                <a:prstGeom prst="rect">
                  <a:avLst/>
                </a:prstGeom>
              </p:spPr>
            </p:pic>
            <p:pic>
              <p:nvPicPr>
                <p:cNvPr id="13" name="그림 12">
                  <a:extLst>
                    <a:ext uri="{FF2B5EF4-FFF2-40B4-BE49-F238E27FC236}">
                      <a16:creationId xmlns:a16="http://schemas.microsoft.com/office/drawing/2014/main" id="{4847869D-D7AB-019B-8907-60C3C99B27B2}"/>
                    </a:ext>
                  </a:extLst>
                </p:cNvPr>
                <p:cNvPicPr>
                  <a:picLocks noChangeAspect="1"/>
                </p:cNvPicPr>
                <p:nvPr/>
              </p:nvPicPr>
              <p:blipFill>
                <a:blip r:embed="rId3"/>
                <a:stretch>
                  <a:fillRect/>
                </a:stretch>
              </p:blipFill>
              <p:spPr>
                <a:xfrm>
                  <a:off x="381000" y="4358151"/>
                  <a:ext cx="11430000" cy="2705100"/>
                </a:xfrm>
                <a:prstGeom prst="rect">
                  <a:avLst/>
                </a:prstGeom>
              </p:spPr>
            </p:pic>
          </p:grpSp>
        </p:grpSp>
        <p:sp>
          <p:nvSpPr>
            <p:cNvPr id="16" name="직사각형 15">
              <a:extLst>
                <a:ext uri="{FF2B5EF4-FFF2-40B4-BE49-F238E27FC236}">
                  <a16:creationId xmlns:a16="http://schemas.microsoft.com/office/drawing/2014/main" id="{6FB3611D-B1C5-34CF-CD64-FFA2233D4DBD}"/>
                </a:ext>
              </a:extLst>
            </p:cNvPr>
            <p:cNvSpPr/>
            <p:nvPr/>
          </p:nvSpPr>
          <p:spPr>
            <a:xfrm>
              <a:off x="1286634" y="4895681"/>
              <a:ext cx="3398654"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1431901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Deployments for Updating Apps Declaratively(39/39)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Blocking Rollouts of Bad Versions :</a:t>
            </a:r>
          </a:p>
          <a:p>
            <a:pPr lvl="1">
              <a:buFont typeface="Wingdings" panose="05000000000000000000" pitchFamily="2" charset="2"/>
              <a:buChar char="§"/>
            </a:pPr>
            <a:r>
              <a:rPr lang="en-US" altLang="ko-KR" sz="1400" b="1" dirty="0"/>
              <a:t>The time after which the Deployment is considered failed is configurable through the “</a:t>
            </a:r>
            <a:r>
              <a:rPr lang="en-US" altLang="ko-KR" sz="1400" b="1" dirty="0" err="1">
                <a:solidFill>
                  <a:srgbClr val="FF0000"/>
                </a:solidFill>
              </a:rPr>
              <a:t>progressDeadlineSeconds</a:t>
            </a:r>
            <a:r>
              <a:rPr lang="en-US" altLang="ko-KR" sz="1400" b="1" dirty="0"/>
              <a:t>” property in the Deployment spec</a:t>
            </a:r>
            <a:r>
              <a:rPr lang="en-US" altLang="ko-KR" sz="1400" dirty="0"/>
              <a:t>. </a:t>
            </a:r>
          </a:p>
          <a:p>
            <a:pPr lvl="1">
              <a:buFont typeface="Wingdings" panose="05000000000000000000" pitchFamily="2" charset="2"/>
              <a:buChar char="§"/>
            </a:pPr>
            <a:r>
              <a:rPr lang="en-US" altLang="ko-KR" sz="1400" b="1" dirty="0"/>
              <a:t>Because the rollout will never continue</a:t>
            </a:r>
            <a:r>
              <a:rPr lang="en-US" altLang="ko-KR" sz="1400" dirty="0"/>
              <a:t>, the only thing to do now is </a:t>
            </a:r>
            <a:r>
              <a:rPr lang="en-US" altLang="ko-KR" sz="1400" b="1" dirty="0"/>
              <a:t>abort the rollout by undoing it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8170ECE2-E42A-EE2A-008C-851E2187FE8F}"/>
              </a:ext>
            </a:extLst>
          </p:cNvPr>
          <p:cNvGrpSpPr/>
          <p:nvPr/>
        </p:nvGrpSpPr>
        <p:grpSpPr>
          <a:xfrm>
            <a:off x="1701266" y="1975908"/>
            <a:ext cx="8789468" cy="4433122"/>
            <a:chOff x="1701266" y="1975908"/>
            <a:chExt cx="8789468" cy="4433122"/>
          </a:xfrm>
        </p:grpSpPr>
        <p:grpSp>
          <p:nvGrpSpPr>
            <p:cNvPr id="15" name="그룹 14">
              <a:extLst>
                <a:ext uri="{FF2B5EF4-FFF2-40B4-BE49-F238E27FC236}">
                  <a16:creationId xmlns:a16="http://schemas.microsoft.com/office/drawing/2014/main" id="{FAFC8BF4-6EBF-9D58-AD3C-DDB4E564F594}"/>
                </a:ext>
              </a:extLst>
            </p:cNvPr>
            <p:cNvGrpSpPr/>
            <p:nvPr/>
          </p:nvGrpSpPr>
          <p:grpSpPr>
            <a:xfrm>
              <a:off x="1701266" y="1975908"/>
              <a:ext cx="8789468" cy="4433122"/>
              <a:chOff x="1701266" y="1975908"/>
              <a:chExt cx="8789468" cy="4433122"/>
            </a:xfrm>
          </p:grpSpPr>
          <p:sp>
            <p:nvSpPr>
              <p:cNvPr id="8" name="TextBox 7">
                <a:extLst>
                  <a:ext uri="{FF2B5EF4-FFF2-40B4-BE49-F238E27FC236}">
                    <a16:creationId xmlns:a16="http://schemas.microsoft.com/office/drawing/2014/main" id="{CEE30456-C4E6-E19A-E849-2F03901E4860}"/>
                  </a:ext>
                </a:extLst>
              </p:cNvPr>
              <p:cNvSpPr txBox="1"/>
              <p:nvPr/>
            </p:nvSpPr>
            <p:spPr>
              <a:xfrm>
                <a:off x="3047326" y="197590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rollout </a:t>
                </a:r>
                <a:r>
                  <a:rPr lang="en-US" altLang="ko-KR" sz="1000" b="1" dirty="0">
                    <a:solidFill>
                      <a:srgbClr val="FF0000"/>
                    </a:solidFill>
                  </a:rPr>
                  <a:t>undo</a:t>
                </a:r>
                <a:r>
                  <a:rPr lang="en-US" altLang="ko-KR" sz="1000" b="1" dirty="0"/>
                  <a:t> deployment </a:t>
                </a:r>
                <a:r>
                  <a:rPr lang="en-US" altLang="ko-KR" sz="1000" b="1" dirty="0" err="1"/>
                  <a:t>kubia</a:t>
                </a:r>
                <a:endParaRPr lang="en-US" altLang="ko-KR" sz="1000" b="1" dirty="0"/>
              </a:p>
            </p:txBody>
          </p:sp>
          <p:sp>
            <p:nvSpPr>
              <p:cNvPr id="9" name="화살표: 아래쪽 8">
                <a:extLst>
                  <a:ext uri="{FF2B5EF4-FFF2-40B4-BE49-F238E27FC236}">
                    <a16:creationId xmlns:a16="http://schemas.microsoft.com/office/drawing/2014/main" id="{0E6B951B-EC5E-F2FB-03CF-DCC15F57E748}"/>
                  </a:ext>
                </a:extLst>
              </p:cNvPr>
              <p:cNvSpPr/>
              <p:nvPr/>
            </p:nvSpPr>
            <p:spPr>
              <a:xfrm>
                <a:off x="5865377" y="2236741"/>
                <a:ext cx="461246"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07A877BE-8EC6-6CC6-E467-FEDA2EE6202A}"/>
                  </a:ext>
                </a:extLst>
              </p:cNvPr>
              <p:cNvGrpSpPr/>
              <p:nvPr/>
            </p:nvGrpSpPr>
            <p:grpSpPr>
              <a:xfrm>
                <a:off x="1701266" y="2519962"/>
                <a:ext cx="8789468" cy="3889068"/>
                <a:chOff x="1256625" y="2519962"/>
                <a:chExt cx="9678750" cy="4376551"/>
              </a:xfrm>
            </p:grpSpPr>
            <p:pic>
              <p:nvPicPr>
                <p:cNvPr id="11" name="그림 10">
                  <a:extLst>
                    <a:ext uri="{FF2B5EF4-FFF2-40B4-BE49-F238E27FC236}">
                      <a16:creationId xmlns:a16="http://schemas.microsoft.com/office/drawing/2014/main" id="{1C982D0D-04B0-0EE3-FA02-418497E74155}"/>
                    </a:ext>
                  </a:extLst>
                </p:cNvPr>
                <p:cNvPicPr>
                  <a:picLocks noChangeAspect="1"/>
                </p:cNvPicPr>
                <p:nvPr/>
              </p:nvPicPr>
              <p:blipFill>
                <a:blip r:embed="rId2"/>
                <a:stretch>
                  <a:fillRect/>
                </a:stretch>
              </p:blipFill>
              <p:spPr>
                <a:xfrm>
                  <a:off x="1256625" y="2519962"/>
                  <a:ext cx="9678749" cy="2822968"/>
                </a:xfrm>
                <a:prstGeom prst="rect">
                  <a:avLst/>
                </a:prstGeom>
              </p:spPr>
            </p:pic>
            <p:pic>
              <p:nvPicPr>
                <p:cNvPr id="13" name="그림 12">
                  <a:extLst>
                    <a:ext uri="{FF2B5EF4-FFF2-40B4-BE49-F238E27FC236}">
                      <a16:creationId xmlns:a16="http://schemas.microsoft.com/office/drawing/2014/main" id="{44829A2B-1545-6479-4F17-37D50A2FF19E}"/>
                    </a:ext>
                  </a:extLst>
                </p:cNvPr>
                <p:cNvPicPr>
                  <a:picLocks noChangeAspect="1"/>
                </p:cNvPicPr>
                <p:nvPr/>
              </p:nvPicPr>
              <p:blipFill>
                <a:blip r:embed="rId3"/>
                <a:stretch>
                  <a:fillRect/>
                </a:stretch>
              </p:blipFill>
              <p:spPr>
                <a:xfrm>
                  <a:off x="1256625" y="5364045"/>
                  <a:ext cx="9678750" cy="1532468"/>
                </a:xfrm>
                <a:prstGeom prst="rect">
                  <a:avLst/>
                </a:prstGeom>
              </p:spPr>
            </p:pic>
          </p:grpSp>
        </p:grpSp>
        <p:sp>
          <p:nvSpPr>
            <p:cNvPr id="16" name="직사각형 15">
              <a:extLst>
                <a:ext uri="{FF2B5EF4-FFF2-40B4-BE49-F238E27FC236}">
                  <a16:creationId xmlns:a16="http://schemas.microsoft.com/office/drawing/2014/main" id="{18FE2749-05AB-9540-D689-5A9740640F30}"/>
                </a:ext>
              </a:extLst>
            </p:cNvPr>
            <p:cNvSpPr/>
            <p:nvPr/>
          </p:nvSpPr>
          <p:spPr>
            <a:xfrm>
              <a:off x="1861168" y="5939554"/>
              <a:ext cx="6392708" cy="1359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7012847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a:p>
            <a:pPr marL="0" indent="0">
              <a:buNone/>
            </a:pPr>
            <a:r>
              <a:rPr lang="en-US" altLang="ko-KR" sz="1400" b="1" dirty="0"/>
              <a:t>[3] </a:t>
            </a:r>
            <a:r>
              <a:rPr lang="en-US" altLang="ko-KR" sz="1400" b="1" dirty="0">
                <a:hlinkClick r:id="rId3"/>
              </a:rPr>
              <a:t>https://minikube.sigs.k8s.io/docs/</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4"/>
          <a:stretch>
            <a:fillRect/>
          </a:stretch>
        </p:blipFill>
        <p:spPr>
          <a:xfrm>
            <a:off x="4990542" y="2209544"/>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109</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108449</TotalTime>
  <Words>16349</Words>
  <Application>Microsoft Office PowerPoint</Application>
  <PresentationFormat>와이드스크린</PresentationFormat>
  <Paragraphs>1655</Paragraphs>
  <Slides>109</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109</vt:i4>
      </vt:variant>
    </vt:vector>
  </HeadingPairs>
  <TitlesOfParts>
    <vt:vector size="113" baseType="lpstr">
      <vt:lpstr>맑은 고딕</vt:lpstr>
      <vt:lpstr>Arial</vt:lpstr>
      <vt:lpstr>Wingdings</vt:lpstr>
      <vt:lpstr>Office 테마</vt:lpstr>
      <vt:lpstr>Kubernetes in Action</vt:lpstr>
      <vt:lpstr>Sharing Information</vt:lpstr>
      <vt:lpstr>Passing Metadata Through the Downward API(1/12)</vt:lpstr>
      <vt:lpstr>Passing Metadata Through the Downward API(2/12)</vt:lpstr>
      <vt:lpstr>Passing Metadata Through the Downward API(3/12)</vt:lpstr>
      <vt:lpstr>Passing Metadata Through the Downward API(4/12)</vt:lpstr>
      <vt:lpstr>Passing Metadata Through the Downward API(5/12)</vt:lpstr>
      <vt:lpstr>Passing Metadata Through the Downward API(6/12)</vt:lpstr>
      <vt:lpstr>Passing Metadata Through the Downward API(7/12)</vt:lpstr>
      <vt:lpstr>Passing Metadata Through the Downward API(8/12)</vt:lpstr>
      <vt:lpstr>Passing Metadata Through the Downward API(9/12)</vt:lpstr>
      <vt:lpstr>Passing Metadata Through the Downward API(10/12)</vt:lpstr>
      <vt:lpstr>Passing Metadata Through the Downward API(11/12)</vt:lpstr>
      <vt:lpstr>Passing Metadata Through the Downward API(12/12)</vt:lpstr>
      <vt:lpstr>NOTE : The Big Picture</vt:lpstr>
      <vt:lpstr>Talking to the Kubernetes API Server(1/33)</vt:lpstr>
      <vt:lpstr>Talking to the Kubernetes API Server(2/33)</vt:lpstr>
      <vt:lpstr>Talking to the Kubernetes API Server(3/33)</vt:lpstr>
      <vt:lpstr>Talking to the Kubernetes API Server(4/33)</vt:lpstr>
      <vt:lpstr>Talking to the Kubernetes API Server(5/33)</vt:lpstr>
      <vt:lpstr>Talking to the Kubernetes API Server(6/33)</vt:lpstr>
      <vt:lpstr>NOTE : Accessing API Server</vt:lpstr>
      <vt:lpstr>Talking to the Kubernetes API Server(7/33)</vt:lpstr>
      <vt:lpstr>Talking to the Kubernetes API Server(8/33)</vt:lpstr>
      <vt:lpstr>Talking to the Kubernetes API Server(9/33)</vt:lpstr>
      <vt:lpstr>Talking to the Kubernetes API Server(10/33)</vt:lpstr>
      <vt:lpstr>Talking to the Kubernetes API Server(11/33)</vt:lpstr>
      <vt:lpstr>Talking to the Kubernetes API Server(12/33)</vt:lpstr>
      <vt:lpstr>Talking to the Kubernetes API Server(13/33)</vt:lpstr>
      <vt:lpstr>Talking to the Kubernetes API Server(14/33)</vt:lpstr>
      <vt:lpstr>Talking to the Kubernetes API Server(15/33)</vt:lpstr>
      <vt:lpstr>Talking to the Kubernetes API Server(16/33)</vt:lpstr>
      <vt:lpstr>Talking to the Kubernetes API Server(17/33)</vt:lpstr>
      <vt:lpstr>Talking to the Kubernetes API Server(18/33)</vt:lpstr>
      <vt:lpstr>Talking to the Kubernetes API Server(19/33)</vt:lpstr>
      <vt:lpstr>Talking to the Kubernetes API Server(20/33)</vt:lpstr>
      <vt:lpstr>Talking to the Kubernetes API Server(21/33)</vt:lpstr>
      <vt:lpstr>NOTE : Disabling Role-Based Access Control(RBAC)</vt:lpstr>
      <vt:lpstr>NOTE : RBAC(Role-Based Access Control) Role Binding</vt:lpstr>
      <vt:lpstr>Talking to the Kubernetes API Server(22/33)</vt:lpstr>
      <vt:lpstr>Talking to the Kubernetes API Server(23/33)</vt:lpstr>
      <vt:lpstr>Talking to the Kubernetes API Server(24/33)</vt:lpstr>
      <vt:lpstr>Talking to the Kubernetes API Server(25/33)</vt:lpstr>
      <vt:lpstr>Talking to the Kubernetes API Server(26/33)</vt:lpstr>
      <vt:lpstr>Talking to the Kubernetes API Server(27/33)</vt:lpstr>
      <vt:lpstr>Talking to the Kubernetes API Server(28/33)</vt:lpstr>
      <vt:lpstr>Talking to the Kubernetes API Server(29/33)</vt:lpstr>
      <vt:lpstr>Talking to the Kubernetes API Server(30/33)</vt:lpstr>
      <vt:lpstr>Talking to the Kubernetes API Server(31/33)</vt:lpstr>
      <vt:lpstr>Talking to the Kubernetes API Server(32/33)</vt:lpstr>
      <vt:lpstr>Talking to the Kubernetes API Server(33/33)</vt:lpstr>
      <vt:lpstr>Deployments</vt:lpstr>
      <vt:lpstr>What is Deployments? </vt:lpstr>
      <vt:lpstr>Updating Applications Running in Pods(1/5)</vt:lpstr>
      <vt:lpstr>Updating Applications Running in Pods(2/5)</vt:lpstr>
      <vt:lpstr>Updating Applications Running in Pods(3/5)</vt:lpstr>
      <vt:lpstr>Updating Applications Running in Pods(4/5)</vt:lpstr>
      <vt:lpstr>Updating Applications Running in Pods(5/5)</vt:lpstr>
      <vt:lpstr>Performing a Rolling Update with a ReplicationController(1/7)</vt:lpstr>
      <vt:lpstr>Performing a Rolling Update with a ReplicationController(2/7)</vt:lpstr>
      <vt:lpstr>NOTE : Building Docker Image and Pushing</vt:lpstr>
      <vt:lpstr>Performing a Rolling Update with a ReplicationController(3/7)</vt:lpstr>
      <vt:lpstr>NOTE : Ingress Controller with ReplicationController</vt:lpstr>
      <vt:lpstr>Performing a Rolling Update with a ReplicationController(4/7)</vt:lpstr>
      <vt:lpstr>NOTE : Pushing Updates to the Same Image Tag to Docker Hub</vt:lpstr>
      <vt:lpstr>Performing a Rolling Update with a ReplicationController(5/7)</vt:lpstr>
      <vt:lpstr>Performing a Rolling Update with a ReplicationController(6/7)</vt:lpstr>
      <vt:lpstr>Performing a Rolling Update with a ReplicationController(7/7)</vt:lpstr>
      <vt:lpstr>Using Deployments for Updating Apps Declaratively(1/39)</vt:lpstr>
      <vt:lpstr>Using Deployments for Updating Apps Declaratively(2/39)</vt:lpstr>
      <vt:lpstr>Using Deployments for Updating Apps Declaratively(3/39)</vt:lpstr>
      <vt:lpstr>Using Deployments for Updating Apps Declaratively(4/39)</vt:lpstr>
      <vt:lpstr>Using Deployments for Updating Apps Declaratively(5/39)</vt:lpstr>
      <vt:lpstr>Using Deployments for Updating Apps Declaratively(6/39)</vt:lpstr>
      <vt:lpstr>Using Deployments for Updating Apps Declaratively(7/39)</vt:lpstr>
      <vt:lpstr>Using Deployments for Updating Apps Declaratively(8/39)</vt:lpstr>
      <vt:lpstr>Using Deployments for Updating Apps Declaratively(9/39)</vt:lpstr>
      <vt:lpstr>Using Deployments for Updating Apps Declaratively(10/39)</vt:lpstr>
      <vt:lpstr>Using Deployments for Updating Apps Declaratively(11/39)</vt:lpstr>
      <vt:lpstr>Using Deployments for Updating Apps Declaratively(12/39)</vt:lpstr>
      <vt:lpstr>Using Deployments for Updating Apps Declaratively(13/39)</vt:lpstr>
      <vt:lpstr>Using Deployments for Updating Apps Declaratively(14/39)</vt:lpstr>
      <vt:lpstr>Using Deployments for Updating Apps Declaratively(15/39)</vt:lpstr>
      <vt:lpstr>Using Deployments for Updating Apps Declaratively(16/39)</vt:lpstr>
      <vt:lpstr>Using Deployments for Updating Apps Declaratively(17/39)</vt:lpstr>
      <vt:lpstr>Using Deployments for Updating Apps Declaratively(18/39)</vt:lpstr>
      <vt:lpstr>Using Deployments for Updating Apps Declaratively(19/39)</vt:lpstr>
      <vt:lpstr>Using Deployments for Updating Apps Declaratively(20/39)</vt:lpstr>
      <vt:lpstr>Using Deployments for Updating Apps Declaratively(21/39)</vt:lpstr>
      <vt:lpstr>Using Deployments for Updating Apps Declaratively(22/39)</vt:lpstr>
      <vt:lpstr>Using Deployments for Updating Apps Declaratively(23/39)</vt:lpstr>
      <vt:lpstr>Using Deployments for Updating Apps Declaratively(24/39)</vt:lpstr>
      <vt:lpstr>Using Deployments for Updating Apps Declaratively(25/39)</vt:lpstr>
      <vt:lpstr>Using Deployments for Updating Apps Declaratively(26/39)</vt:lpstr>
      <vt:lpstr>Using Deployments for Updating Apps Declaratively(27/39)</vt:lpstr>
      <vt:lpstr>Using Deployments for Updating Apps Declaratively(28/39)</vt:lpstr>
      <vt:lpstr>Using Deployments for Updating Apps Declaratively(29/39)</vt:lpstr>
      <vt:lpstr>Using Deployments for Updating Apps Declaratively(30/39)</vt:lpstr>
      <vt:lpstr>Using Deployments for Updating Apps Declaratively(31/39)</vt:lpstr>
      <vt:lpstr>Using Deployments for Updating Apps Declaratively(32/39)</vt:lpstr>
      <vt:lpstr>Using Deployments for Updating Apps Declaratively(33/39)</vt:lpstr>
      <vt:lpstr>Using Deployments for Updating Apps Declaratively(34/39)</vt:lpstr>
      <vt:lpstr>Using Deployments for Updating Apps Declaratively(35/39)</vt:lpstr>
      <vt:lpstr>Using Deployments for Updating Apps Declaratively(36/39)</vt:lpstr>
      <vt:lpstr>Using Deployments for Updating Apps Declaratively(37/39)</vt:lpstr>
      <vt:lpstr>Using Deployments for Updating Apps Declaratively(38/39)</vt:lpstr>
      <vt:lpstr>Using Deployments for Updating Apps Declaratively(39/39)</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5614</cp:revision>
  <dcterms:created xsi:type="dcterms:W3CDTF">2020-11-26T08:00:10Z</dcterms:created>
  <dcterms:modified xsi:type="dcterms:W3CDTF">2026-08-18T02:41:12Z</dcterms:modified>
</cp:coreProperties>
</file>