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1"/>
  </p:notesMasterIdLst>
  <p:sldIdLst>
    <p:sldId id="256" r:id="rId2"/>
    <p:sldId id="776" r:id="rId3"/>
    <p:sldId id="1697" r:id="rId4"/>
    <p:sldId id="1797" r:id="rId5"/>
    <p:sldId id="1798" r:id="rId6"/>
    <p:sldId id="1799" r:id="rId7"/>
    <p:sldId id="1800" r:id="rId8"/>
    <p:sldId id="1803" r:id="rId9"/>
    <p:sldId id="1801" r:id="rId10"/>
    <p:sldId id="1802" r:id="rId11"/>
    <p:sldId id="1804" r:id="rId12"/>
    <p:sldId id="1805" r:id="rId13"/>
    <p:sldId id="1806" r:id="rId14"/>
    <p:sldId id="1807" r:id="rId15"/>
    <p:sldId id="1808" r:id="rId16"/>
    <p:sldId id="1809" r:id="rId17"/>
    <p:sldId id="1810" r:id="rId18"/>
    <p:sldId id="1811" r:id="rId19"/>
    <p:sldId id="1812" r:id="rId20"/>
    <p:sldId id="1813" r:id="rId21"/>
    <p:sldId id="1814" r:id="rId22"/>
    <p:sldId id="1815" r:id="rId23"/>
    <p:sldId id="1817" r:id="rId24"/>
    <p:sldId id="1816" r:id="rId25"/>
    <p:sldId id="1818" r:id="rId26"/>
    <p:sldId id="1819" r:id="rId27"/>
    <p:sldId id="1820" r:id="rId28"/>
    <p:sldId id="1821" r:id="rId29"/>
    <p:sldId id="1822" r:id="rId30"/>
    <p:sldId id="1823" r:id="rId31"/>
    <p:sldId id="1824" r:id="rId32"/>
    <p:sldId id="1825" r:id="rId33"/>
    <p:sldId id="1826" r:id="rId34"/>
    <p:sldId id="1827" r:id="rId35"/>
    <p:sldId id="1828" r:id="rId36"/>
    <p:sldId id="1829" r:id="rId37"/>
    <p:sldId id="1830" r:id="rId38"/>
    <p:sldId id="1831" r:id="rId39"/>
    <p:sldId id="1832" r:id="rId40"/>
    <p:sldId id="1833" r:id="rId41"/>
    <p:sldId id="1834" r:id="rId42"/>
    <p:sldId id="1835" r:id="rId43"/>
    <p:sldId id="1836" r:id="rId44"/>
    <p:sldId id="1837" r:id="rId45"/>
    <p:sldId id="1838" r:id="rId46"/>
    <p:sldId id="1839" r:id="rId47"/>
    <p:sldId id="1840" r:id="rId48"/>
    <p:sldId id="1843" r:id="rId49"/>
    <p:sldId id="1842" r:id="rId50"/>
    <p:sldId id="1844" r:id="rId51"/>
    <p:sldId id="1845" r:id="rId52"/>
    <p:sldId id="1846" r:id="rId53"/>
    <p:sldId id="1847" r:id="rId54"/>
    <p:sldId id="1848" r:id="rId55"/>
    <p:sldId id="1849" r:id="rId56"/>
    <p:sldId id="1850" r:id="rId57"/>
    <p:sldId id="1851" r:id="rId58"/>
    <p:sldId id="1852" r:id="rId59"/>
    <p:sldId id="1853" r:id="rId60"/>
    <p:sldId id="1854" r:id="rId61"/>
    <p:sldId id="1855" r:id="rId62"/>
    <p:sldId id="1856" r:id="rId63"/>
    <p:sldId id="1857" r:id="rId64"/>
    <p:sldId id="1858" r:id="rId65"/>
    <p:sldId id="1859" r:id="rId66"/>
    <p:sldId id="1860" r:id="rId67"/>
    <p:sldId id="1861" r:id="rId68"/>
    <p:sldId id="1862" r:id="rId69"/>
    <p:sldId id="1863" r:id="rId70"/>
    <p:sldId id="1864" r:id="rId71"/>
    <p:sldId id="1865" r:id="rId72"/>
    <p:sldId id="1866" r:id="rId73"/>
    <p:sldId id="1867" r:id="rId74"/>
    <p:sldId id="1868" r:id="rId75"/>
    <p:sldId id="1869" r:id="rId76"/>
    <p:sldId id="1870" r:id="rId77"/>
    <p:sldId id="1871" r:id="rId78"/>
    <p:sldId id="1872" r:id="rId79"/>
    <p:sldId id="1873" r:id="rId80"/>
    <p:sldId id="1874" r:id="rId81"/>
    <p:sldId id="1875" r:id="rId82"/>
    <p:sldId id="1876" r:id="rId83"/>
    <p:sldId id="1877" r:id="rId84"/>
    <p:sldId id="1878" r:id="rId85"/>
    <p:sldId id="1879" r:id="rId86"/>
    <p:sldId id="1880" r:id="rId87"/>
    <p:sldId id="1881" r:id="rId88"/>
    <p:sldId id="1882" r:id="rId89"/>
    <p:sldId id="1883" r:id="rId90"/>
    <p:sldId id="1884" r:id="rId91"/>
    <p:sldId id="1885" r:id="rId92"/>
    <p:sldId id="1886" r:id="rId93"/>
    <p:sldId id="1887" r:id="rId94"/>
    <p:sldId id="1888" r:id="rId95"/>
    <p:sldId id="1889" r:id="rId96"/>
    <p:sldId id="1890" r:id="rId97"/>
    <p:sldId id="1891" r:id="rId98"/>
    <p:sldId id="1892" r:id="rId99"/>
    <p:sldId id="1893" r:id="rId100"/>
    <p:sldId id="1894" r:id="rId101"/>
    <p:sldId id="1895" r:id="rId102"/>
    <p:sldId id="1896" r:id="rId103"/>
    <p:sldId id="1897" r:id="rId104"/>
    <p:sldId id="1898" r:id="rId105"/>
    <p:sldId id="1899" r:id="rId106"/>
    <p:sldId id="1900" r:id="rId107"/>
    <p:sldId id="1901" r:id="rId108"/>
    <p:sldId id="1902" r:id="rId109"/>
    <p:sldId id="1903" r:id="rId110"/>
    <p:sldId id="1904" r:id="rId111"/>
    <p:sldId id="1905" r:id="rId112"/>
    <p:sldId id="1906" r:id="rId113"/>
    <p:sldId id="1907" r:id="rId114"/>
    <p:sldId id="1908" r:id="rId115"/>
    <p:sldId id="1910" r:id="rId116"/>
    <p:sldId id="1743" r:id="rId117"/>
    <p:sldId id="1796" r:id="rId118"/>
    <p:sldId id="281" r:id="rId119"/>
    <p:sldId id="259" r:id="rId12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2" autoAdjust="0"/>
    <p:restoredTop sz="94660"/>
  </p:normalViewPr>
  <p:slideViewPr>
    <p:cSldViewPr snapToGrid="0">
      <p:cViewPr varScale="1">
        <p:scale>
          <a:sx n="113" d="100"/>
          <a:sy n="113" d="100"/>
        </p:scale>
        <p:origin x="108" y="61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2026-08-18</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2026-08-18</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2026-08-18</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weave.works/docs/net/latest/kubernetes/kube-addo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kubernetes.io/docs/concepts/scheduling-eviction/taint-and-toleratio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github.com/weaveworks/weave/releases/download/v2.8.1/weave-daemonset-k8s.yaml"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github.com/weaveworks/weave/releases/download/v2.8.1/weave-daemonset-k8s.yaml"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3.em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5.e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8.em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92.emf"/><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3.em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hyperlink" Target="https://minikube.sigs.k8s.io/docs/" TargetMode="Externa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11.emf"/><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hyperlink" Target="https://github.com/box/kube-applier" TargetMode="Externa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hyperlink" Target="https://github.com/GoogleCloudPlatform/continuous-deployment-on-kubernetes" TargetMode="External"/><Relationship Id="rId2" Type="http://schemas.openxmlformats.org/officeDocument/2006/relationships/hyperlink" Target="http://fabric8.io/" TargetMode="External"/><Relationship Id="rId1" Type="http://schemas.openxmlformats.org/officeDocument/2006/relationships/slideLayout" Target="../slideLayouts/slideLayout2.xml"/><Relationship Id="rId4" Type="http://schemas.openxmlformats.org/officeDocument/2006/relationships/image" Target="../media/image113.png"/></Relationships>
</file>

<file path=ppt/slides/_rels/slide11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hyperlink" Target="https://minikube.sigs.k8s.io/docs/" TargetMode="External"/><Relationship Id="rId2" Type="http://schemas.openxmlformats.org/officeDocument/2006/relationships/hyperlink" Target="https://github.com/luksa/kubernetes-in-action" TargetMode="External"/><Relationship Id="rId1" Type="http://schemas.openxmlformats.org/officeDocument/2006/relationships/slideLayout" Target="../slideLayouts/slideLayout2.xml"/><Relationship Id="rId5" Type="http://schemas.openxmlformats.org/officeDocument/2006/relationships/image" Target="../media/image116.png"/><Relationship Id="rId4" Type="http://schemas.openxmlformats.org/officeDocument/2006/relationships/hyperlink" Target="https://kubernetes.io/docs/reference/kubectl/cheatsheet/" TargetMode="External"/></Relationships>
</file>

<file path=ppt/slides/_rels/slide11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b="1" dirty="0"/>
              <a:t>Kubernetes in Action</a:t>
            </a:r>
            <a:endParaRPr lang="ko-KR" altLang="en-US"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a:bodyPr>
          <a:lstStyle/>
          <a:p>
            <a:r>
              <a:rPr lang="en-US" altLang="ko-KR" b="1" dirty="0"/>
              <a:t>Part IX</a:t>
            </a:r>
          </a:p>
          <a:p>
            <a:endParaRPr lang="en-US" altLang="ko-KR" b="1" dirty="0"/>
          </a:p>
          <a:p>
            <a:r>
              <a:rPr lang="en-US" altLang="ko-KR" sz="2000" b="1" dirty="0"/>
              <a:t>2026.08.25</a:t>
            </a:r>
          </a:p>
          <a:p>
            <a:endParaRPr lang="en-US" altLang="ko-KR" sz="1600" b="1" dirty="0"/>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Advanced Scheduling</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endParaRPr lang="ko-KR" altLang="en-US" sz="2800" b="1" dirty="0"/>
          </a:p>
        </p:txBody>
      </p: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Taints and Tolerations(1/11)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Taints and Tolerations :</a:t>
            </a:r>
            <a:endParaRPr lang="en-US" altLang="ko-KR" sz="1400" dirty="0"/>
          </a:p>
          <a:p>
            <a:pPr lvl="1">
              <a:buFont typeface="Wingdings" panose="05000000000000000000" pitchFamily="2" charset="2"/>
              <a:buChar char="§"/>
            </a:pPr>
            <a:r>
              <a:rPr lang="en-US" altLang="ko-KR" sz="1400" b="1" dirty="0"/>
              <a:t>The first two features related to advanced scheduling that we’ll explore here are the </a:t>
            </a:r>
            <a:r>
              <a:rPr lang="en-US" altLang="ko-KR" sz="1400" b="1" dirty="0">
                <a:solidFill>
                  <a:srgbClr val="FF0000"/>
                </a:solidFill>
              </a:rPr>
              <a:t>node taints </a:t>
            </a:r>
            <a:r>
              <a:rPr lang="en-US" altLang="ko-KR" sz="1400" b="1" dirty="0"/>
              <a:t>and </a:t>
            </a:r>
            <a:r>
              <a:rPr lang="en-US" altLang="ko-KR" sz="1400" b="1" dirty="0">
                <a:solidFill>
                  <a:srgbClr val="FF0000"/>
                </a:solidFill>
              </a:rPr>
              <a:t>pods’ tolerations of those taints</a:t>
            </a:r>
            <a:r>
              <a:rPr lang="en-US" altLang="ko-KR" sz="1400" dirty="0"/>
              <a:t>. </a:t>
            </a:r>
            <a:r>
              <a:rPr lang="en-US" altLang="ko-KR" sz="1400" b="1" dirty="0"/>
              <a:t>They’re used for restricting which pods can use a certain node</a:t>
            </a:r>
            <a:r>
              <a:rPr lang="en-US" altLang="ko-KR" sz="1400" dirty="0"/>
              <a:t>. </a:t>
            </a:r>
            <a:r>
              <a:rPr lang="en-US" altLang="ko-KR" sz="1400" b="1" dirty="0"/>
              <a:t>A pod can only be scheduled to a node if it </a:t>
            </a:r>
            <a:r>
              <a:rPr lang="en-US" altLang="ko-KR" sz="1400" b="1" dirty="0">
                <a:solidFill>
                  <a:srgbClr val="FF0000"/>
                </a:solidFill>
              </a:rPr>
              <a:t>tolerates the node’s taints</a:t>
            </a:r>
            <a:r>
              <a:rPr lang="en-US" altLang="ko-KR" sz="1400" dirty="0"/>
              <a:t>.</a:t>
            </a:r>
          </a:p>
          <a:p>
            <a:pPr lvl="1">
              <a:buFont typeface="Wingdings" panose="05000000000000000000" pitchFamily="2" charset="2"/>
              <a:buChar char="§"/>
            </a:pPr>
            <a:r>
              <a:rPr lang="en-US" altLang="ko-KR" sz="1400" dirty="0"/>
              <a:t>This is somewhat different from using node selectors and node affinity. </a:t>
            </a:r>
            <a:r>
              <a:rPr lang="en-US" altLang="ko-KR" sz="1400" b="1" dirty="0">
                <a:solidFill>
                  <a:srgbClr val="FF0000"/>
                </a:solidFill>
              </a:rPr>
              <a:t>Node selectors </a:t>
            </a:r>
            <a:r>
              <a:rPr lang="en-US" altLang="ko-KR" sz="1400" b="1" dirty="0"/>
              <a:t>and </a:t>
            </a:r>
            <a:r>
              <a:rPr lang="en-US" altLang="ko-KR" sz="1400" b="1" dirty="0">
                <a:solidFill>
                  <a:srgbClr val="FF0000"/>
                </a:solidFill>
              </a:rPr>
              <a:t>node affinity </a:t>
            </a:r>
            <a:r>
              <a:rPr lang="en-US" altLang="ko-KR" sz="1400" b="1" dirty="0"/>
              <a:t>rules make it possible to select which nodes a pod can or can’t be scheduled to by specifically adding that information to the pod, whereas </a:t>
            </a:r>
            <a:r>
              <a:rPr lang="en-US" altLang="ko-KR" sz="1400" b="1" dirty="0">
                <a:solidFill>
                  <a:srgbClr val="FF0000"/>
                </a:solidFill>
              </a:rPr>
              <a:t>taints</a:t>
            </a:r>
            <a:r>
              <a:rPr lang="en-US" altLang="ko-KR" sz="1400" b="1" dirty="0"/>
              <a:t> allow rejecting deployment of pods to certain nodes by only adding taints to the node without having to modify existing pods</a:t>
            </a:r>
            <a:r>
              <a:rPr lang="en-US" altLang="ko-KR" sz="1400" dirty="0"/>
              <a:t>. </a:t>
            </a:r>
            <a:r>
              <a:rPr lang="en-US" altLang="ko-KR" sz="1400" b="1" dirty="0"/>
              <a:t>Pods that you want deployed on a tainted node need to opt in to use the node, whereas with node selectors, pods explicitly specify which node(s) they want to be deployed to</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F05D8FE-C17E-66E1-5D1C-064AF2CCE0B3}"/>
              </a:ext>
            </a:extLst>
          </p:cNvPr>
          <p:cNvPicPr>
            <a:picLocks noChangeAspect="1"/>
          </p:cNvPicPr>
          <p:nvPr/>
        </p:nvPicPr>
        <p:blipFill>
          <a:blip r:embed="rId2"/>
          <a:stretch>
            <a:fillRect/>
          </a:stretch>
        </p:blipFill>
        <p:spPr>
          <a:xfrm>
            <a:off x="1429066" y="3209621"/>
            <a:ext cx="9333867" cy="2648170"/>
          </a:xfrm>
          <a:prstGeom prst="rect">
            <a:avLst/>
          </a:prstGeom>
        </p:spPr>
      </p:pic>
    </p:spTree>
    <p:extLst>
      <p:ext uri="{BB962C8B-B14F-4D97-AF65-F5344CB8AC3E}">
        <p14:creationId xmlns:p14="http://schemas.microsoft.com/office/powerpoint/2010/main" val="470128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Taints and Tolerations(2/11)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Taints and Tolerations :</a:t>
            </a:r>
            <a:endParaRPr lang="en-US" altLang="ko-KR" sz="1400" dirty="0"/>
          </a:p>
          <a:p>
            <a:pPr lvl="1">
              <a:buFont typeface="Wingdings" panose="05000000000000000000" pitchFamily="2" charset="2"/>
              <a:buChar char="§"/>
            </a:pPr>
            <a:r>
              <a:rPr lang="en-US" altLang="ko-KR" sz="1400" b="1" dirty="0"/>
              <a:t>The best path to learn about node taints is to see an existing taint</a:t>
            </a:r>
            <a:r>
              <a:rPr lang="en-US" altLang="ko-KR" sz="1400" dirty="0"/>
              <a:t>. You can set up a multi-node cluster with the “</a:t>
            </a:r>
            <a:r>
              <a:rPr lang="en-US" altLang="ko-KR" sz="1400" b="1" dirty="0" err="1">
                <a:solidFill>
                  <a:srgbClr val="FF0000"/>
                </a:solidFill>
              </a:rPr>
              <a:t>kubeadm</a:t>
            </a:r>
            <a:r>
              <a:rPr lang="en-US" altLang="ko-KR" sz="1400" b="1" dirty="0"/>
              <a:t>”</a:t>
            </a:r>
            <a:r>
              <a:rPr lang="en-US" altLang="ko-KR" sz="1400" dirty="0"/>
              <a:t> tool. </a:t>
            </a:r>
            <a:r>
              <a:rPr lang="en-US" altLang="ko-KR" sz="1400" b="1" dirty="0"/>
              <a:t>By default, the </a:t>
            </a:r>
            <a:r>
              <a:rPr lang="en-US" altLang="ko-KR" sz="1400" b="1" dirty="0">
                <a:solidFill>
                  <a:srgbClr val="FF0000"/>
                </a:solidFill>
              </a:rPr>
              <a:t>master node </a:t>
            </a:r>
            <a:r>
              <a:rPr lang="en-US" altLang="ko-KR" sz="1400" b="1" dirty="0"/>
              <a:t>in such a cluster is tainted</a:t>
            </a:r>
            <a:r>
              <a:rPr lang="en-US" altLang="ko-KR" sz="1400" dirty="0"/>
              <a:t>, </a:t>
            </a:r>
            <a:r>
              <a:rPr lang="en-US" altLang="ko-KR" sz="1400" b="1" dirty="0"/>
              <a:t>so only </a:t>
            </a:r>
            <a:r>
              <a:rPr lang="en-US" altLang="ko-KR" sz="1400" b="1" dirty="0">
                <a:solidFill>
                  <a:srgbClr val="FF0000"/>
                </a:solidFill>
              </a:rPr>
              <a:t>“Control Plane” pods</a:t>
            </a:r>
            <a:r>
              <a:rPr lang="en-US" altLang="ko-KR" sz="1400" b="1" dirty="0"/>
              <a:t> can be deployed on it</a:t>
            </a:r>
            <a:r>
              <a:rPr lang="en-US" altLang="ko-KR" sz="1400" dirty="0"/>
              <a:t>. </a:t>
            </a:r>
          </a:p>
          <a:p>
            <a:pPr lvl="1">
              <a:buFont typeface="Wingdings" panose="05000000000000000000" pitchFamily="2" charset="2"/>
              <a:buChar char="§"/>
            </a:pPr>
            <a:r>
              <a:rPr lang="en-US" altLang="ko-KR" sz="1400" b="1" dirty="0"/>
              <a:t>You can see the node’s taints using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describe node</a:t>
            </a:r>
            <a:r>
              <a:rPr lang="en-US" altLang="ko-KR" sz="1400" b="1" dirty="0"/>
              <a:t>” command</a:t>
            </a:r>
            <a:r>
              <a:rPr lang="en-US" altLang="ko-KR" sz="1400" dirty="0"/>
              <a:t>,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F6C754DB-159B-6A53-13B9-BA72AE2D7499}"/>
              </a:ext>
            </a:extLst>
          </p:cNvPr>
          <p:cNvGrpSpPr/>
          <p:nvPr/>
        </p:nvGrpSpPr>
        <p:grpSpPr>
          <a:xfrm>
            <a:off x="838200" y="2211620"/>
            <a:ext cx="10515600" cy="4098046"/>
            <a:chOff x="838200" y="2211620"/>
            <a:chExt cx="10515600" cy="4098046"/>
          </a:xfrm>
        </p:grpSpPr>
        <p:grpSp>
          <p:nvGrpSpPr>
            <p:cNvPr id="15" name="그룹 14">
              <a:extLst>
                <a:ext uri="{FF2B5EF4-FFF2-40B4-BE49-F238E27FC236}">
                  <a16:creationId xmlns:a16="http://schemas.microsoft.com/office/drawing/2014/main" id="{86EFE38B-CA24-A7F4-E5EF-ADBC60F2332E}"/>
                </a:ext>
              </a:extLst>
            </p:cNvPr>
            <p:cNvGrpSpPr/>
            <p:nvPr/>
          </p:nvGrpSpPr>
          <p:grpSpPr>
            <a:xfrm>
              <a:off x="838200" y="2211620"/>
              <a:ext cx="10515600" cy="4098046"/>
              <a:chOff x="838200" y="2211620"/>
              <a:chExt cx="10515600" cy="4098046"/>
            </a:xfrm>
          </p:grpSpPr>
          <p:pic>
            <p:nvPicPr>
              <p:cNvPr id="12" name="그림 11">
                <a:extLst>
                  <a:ext uri="{FF2B5EF4-FFF2-40B4-BE49-F238E27FC236}">
                    <a16:creationId xmlns:a16="http://schemas.microsoft.com/office/drawing/2014/main" id="{CF4DF04F-C0C5-C015-8048-BD7FCA395DA5}"/>
                  </a:ext>
                </a:extLst>
              </p:cNvPr>
              <p:cNvPicPr>
                <a:picLocks noChangeAspect="1"/>
              </p:cNvPicPr>
              <p:nvPr/>
            </p:nvPicPr>
            <p:blipFill>
              <a:blip r:embed="rId2"/>
              <a:stretch>
                <a:fillRect/>
              </a:stretch>
            </p:blipFill>
            <p:spPr>
              <a:xfrm>
                <a:off x="838200" y="3242616"/>
                <a:ext cx="10515600" cy="3067050"/>
              </a:xfrm>
              <a:prstGeom prst="rect">
                <a:avLst/>
              </a:prstGeom>
            </p:spPr>
          </p:pic>
          <p:sp>
            <p:nvSpPr>
              <p:cNvPr id="13" name="TextBox 12">
                <a:extLst>
                  <a:ext uri="{FF2B5EF4-FFF2-40B4-BE49-F238E27FC236}">
                    <a16:creationId xmlns:a16="http://schemas.microsoft.com/office/drawing/2014/main" id="{F0ABA69F-30FA-6BDA-BA50-FBC39D17FCEA}"/>
                  </a:ext>
                </a:extLst>
              </p:cNvPr>
              <p:cNvSpPr txBox="1"/>
              <p:nvPr/>
            </p:nvSpPr>
            <p:spPr>
              <a:xfrm>
                <a:off x="2677115" y="2211620"/>
                <a:ext cx="6837770" cy="707886"/>
              </a:xfrm>
              <a:prstGeom prst="rect">
                <a:avLst/>
              </a:prstGeom>
              <a:noFill/>
              <a:ln>
                <a:solidFill>
                  <a:schemeClr val="bg1">
                    <a:lumMod val="50000"/>
                  </a:schemeClr>
                </a:solidFill>
              </a:ln>
            </p:spPr>
            <p:txBody>
              <a:bodyPr wrap="square" rtlCol="0">
                <a:spAutoFit/>
              </a:bodyPr>
              <a:lstStyle/>
              <a:p>
                <a:pPr algn="l"/>
                <a:r>
                  <a:rPr lang="en-US" altLang="ko-KR" sz="1000" b="1" dirty="0"/>
                  <a:t>$ </a:t>
                </a:r>
                <a:r>
                  <a:rPr lang="en-US" altLang="ko-KR" sz="1000" b="1" dirty="0" err="1"/>
                  <a:t>sudo</a:t>
                </a:r>
                <a:r>
                  <a:rPr lang="en-US" altLang="ko-KR" sz="1000" b="1" dirty="0"/>
                  <a:t> </a:t>
                </a:r>
                <a:r>
                  <a:rPr lang="en-US" altLang="ko-KR" sz="1000" b="1" dirty="0" err="1"/>
                  <a:t>kubeadm</a:t>
                </a:r>
                <a:r>
                  <a:rPr lang="en-US" altLang="ko-KR" sz="1000" b="1" dirty="0"/>
                  <a:t> </a:t>
                </a:r>
                <a:r>
                  <a:rPr lang="en-US" altLang="ko-KR" sz="1000" b="1" dirty="0" err="1"/>
                  <a:t>init</a:t>
                </a:r>
                <a:r>
                  <a:rPr lang="en-US" altLang="ko-KR" sz="1000" b="1" dirty="0"/>
                  <a:t> --</a:t>
                </a:r>
                <a:r>
                  <a:rPr lang="en-US" altLang="ko-KR" sz="1000" b="1" dirty="0" err="1"/>
                  <a:t>apiserver</a:t>
                </a:r>
                <a:r>
                  <a:rPr lang="en-US" altLang="ko-KR" sz="1000" b="1" dirty="0"/>
                  <a:t>-advertise-address </a:t>
                </a:r>
                <a:r>
                  <a:rPr lang="en-US" altLang="ko-KR" sz="1000" b="1" dirty="0">
                    <a:solidFill>
                      <a:srgbClr val="FF0000"/>
                    </a:solidFill>
                  </a:rPr>
                  <a:t>192.168.0.229</a:t>
                </a:r>
                <a:r>
                  <a:rPr lang="en-US" altLang="ko-KR" sz="1000" b="1" dirty="0"/>
                  <a:t> --pod-network-</a:t>
                </a:r>
                <a:r>
                  <a:rPr lang="en-US" altLang="ko-KR" sz="1000" b="1" dirty="0" err="1"/>
                  <a:t>cidr</a:t>
                </a:r>
                <a:r>
                  <a:rPr lang="en-US" altLang="ko-KR" sz="1000" b="1" dirty="0"/>
                  <a:t>=</a:t>
                </a:r>
                <a:r>
                  <a:rPr lang="en-US" altLang="ko-KR" sz="1000" b="1" dirty="0">
                    <a:solidFill>
                      <a:srgbClr val="FF0000"/>
                    </a:solidFill>
                  </a:rPr>
                  <a:t>172.16.0.0/16</a:t>
                </a:r>
              </a:p>
              <a:p>
                <a:pPr algn="l"/>
                <a:r>
                  <a:rPr lang="en-US" altLang="ko-KR" sz="1000" b="1" dirty="0"/>
                  <a:t>$ </a:t>
                </a:r>
                <a:r>
                  <a:rPr lang="pt-BR" altLang="ko-KR" sz="1000" b="1" dirty="0"/>
                  <a:t>sudo cp -i /etc/kubernetes/admin.conf $HOME/.kube/config</a:t>
                </a:r>
              </a:p>
              <a:p>
                <a:pPr algn="l"/>
                <a:r>
                  <a:rPr lang="pt-BR" altLang="ko-KR" sz="1000" b="1" dirty="0"/>
                  <a:t>$ </a:t>
                </a:r>
                <a:r>
                  <a:rPr lang="en-US" altLang="ko-KR" sz="1000" b="1" dirty="0" err="1"/>
                  <a:t>sudo</a:t>
                </a:r>
                <a:r>
                  <a:rPr lang="en-US" altLang="ko-KR" sz="1000" b="1" dirty="0"/>
                  <a:t> </a:t>
                </a:r>
                <a:r>
                  <a:rPr lang="en-US" altLang="ko-KR" sz="1000" b="1" dirty="0" err="1"/>
                  <a:t>chown</a:t>
                </a:r>
                <a:r>
                  <a:rPr lang="en-US" altLang="ko-KR" sz="1000" b="1" dirty="0"/>
                  <a:t> $(id -u):$(id -g) $HOME/.</a:t>
                </a:r>
                <a:r>
                  <a:rPr lang="en-US" altLang="ko-KR" sz="1000" b="1" dirty="0" err="1"/>
                  <a:t>kube</a:t>
                </a:r>
                <a:r>
                  <a:rPr lang="en-US" altLang="ko-KR" sz="1000" b="1" dirty="0"/>
                  <a:t>/config</a:t>
                </a:r>
              </a:p>
              <a:p>
                <a:pPr algn="l"/>
                <a:r>
                  <a:rPr lang="en-US" altLang="ko-KR" sz="1000" b="1" dirty="0"/>
                  <a:t>$ </a:t>
                </a:r>
                <a:r>
                  <a:rPr lang="en-US" altLang="ko-KR" sz="1000" b="1" dirty="0" err="1">
                    <a:solidFill>
                      <a:srgbClr val="FF0000"/>
                    </a:solidFill>
                  </a:rPr>
                  <a:t>kubectl</a:t>
                </a:r>
                <a:r>
                  <a:rPr lang="en-US" altLang="ko-KR" sz="1000" b="1" dirty="0">
                    <a:solidFill>
                      <a:srgbClr val="FF0000"/>
                    </a:solidFill>
                  </a:rPr>
                  <a:t> describe node</a:t>
                </a:r>
                <a:endParaRPr lang="ko-KR" altLang="en-US" sz="1000" b="1" dirty="0">
                  <a:solidFill>
                    <a:srgbClr val="FF0000"/>
                  </a:solidFill>
                </a:endParaRPr>
              </a:p>
            </p:txBody>
          </p:sp>
          <p:sp>
            <p:nvSpPr>
              <p:cNvPr id="14" name="화살표: 아래쪽 13">
                <a:extLst>
                  <a:ext uri="{FF2B5EF4-FFF2-40B4-BE49-F238E27FC236}">
                    <a16:creationId xmlns:a16="http://schemas.microsoft.com/office/drawing/2014/main" id="{C6719CD6-913A-26CF-1DF4-C0369242017E}"/>
                  </a:ext>
                </a:extLst>
              </p:cNvPr>
              <p:cNvSpPr/>
              <p:nvPr/>
            </p:nvSpPr>
            <p:spPr>
              <a:xfrm>
                <a:off x="5877515" y="2938943"/>
                <a:ext cx="436970" cy="30757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6" name="직사각형 15">
              <a:extLst>
                <a:ext uri="{FF2B5EF4-FFF2-40B4-BE49-F238E27FC236}">
                  <a16:creationId xmlns:a16="http://schemas.microsoft.com/office/drawing/2014/main" id="{E870CEC9-944D-E20F-2C0B-4767C68C9FBA}"/>
                </a:ext>
              </a:extLst>
            </p:cNvPr>
            <p:cNvSpPr/>
            <p:nvPr/>
          </p:nvSpPr>
          <p:spPr>
            <a:xfrm>
              <a:off x="938676" y="4644828"/>
              <a:ext cx="4938839" cy="4612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171123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Trouble Shooting in Creating Kubernetes Cluster(1/3)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Your Own Cluster :</a:t>
            </a:r>
            <a:endParaRPr lang="en-US" altLang="ko-KR" sz="1400" dirty="0"/>
          </a:p>
          <a:p>
            <a:pPr lvl="1">
              <a:buFont typeface="Wingdings" panose="05000000000000000000" pitchFamily="2" charset="2"/>
              <a:buChar char="§"/>
            </a:pPr>
            <a:r>
              <a:rPr lang="en-US" altLang="ko-KR" sz="1400" b="1" dirty="0"/>
              <a:t>When I am trying to use the </a:t>
            </a:r>
            <a:r>
              <a:rPr lang="en-US" altLang="ko-KR" sz="1400" b="1" dirty="0" err="1">
                <a:solidFill>
                  <a:srgbClr val="FF0000"/>
                </a:solidFill>
              </a:rPr>
              <a:t>kubelet</a:t>
            </a:r>
            <a:r>
              <a:rPr lang="en-US" altLang="ko-KR" sz="1400" b="1" dirty="0">
                <a:solidFill>
                  <a:srgbClr val="FF0000"/>
                </a:solidFill>
              </a:rPr>
              <a:t> version 1.26.0 </a:t>
            </a:r>
            <a:r>
              <a:rPr lang="en-US" altLang="ko-KR" sz="1400" b="1" dirty="0"/>
              <a:t>in my VirtualBox machine, I cannot run the </a:t>
            </a:r>
            <a:r>
              <a:rPr lang="en-US" altLang="ko-KR" sz="1400" b="1" dirty="0" err="1"/>
              <a:t>kubelet</a:t>
            </a:r>
            <a:r>
              <a:rPr lang="en-US" altLang="ko-KR" sz="1400" b="1" dirty="0"/>
              <a:t> service. In this case, </a:t>
            </a:r>
            <a:r>
              <a:rPr lang="en-US" altLang="ko-KR" sz="1400" b="1" dirty="0">
                <a:solidFill>
                  <a:srgbClr val="FF0000"/>
                </a:solidFill>
              </a:rPr>
              <a:t>I downgraded the </a:t>
            </a:r>
            <a:r>
              <a:rPr lang="en-US" altLang="ko-KR" sz="1400" b="1" dirty="0" err="1">
                <a:solidFill>
                  <a:srgbClr val="FF0000"/>
                </a:solidFill>
              </a:rPr>
              <a:t>kubelet</a:t>
            </a:r>
            <a:r>
              <a:rPr lang="en-US" altLang="ko-KR" sz="1400" b="1" dirty="0">
                <a:solidFill>
                  <a:srgbClr val="FF0000"/>
                </a:solidFill>
              </a:rPr>
              <a:t> version into 1.25.X </a:t>
            </a:r>
            <a:r>
              <a:rPr lang="en-US" altLang="ko-KR" sz="1400" b="1" dirty="0"/>
              <a:t>with the following command. And restart the service</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If you don’t want to upgrade the Kubernetes packages, you can run the “</a:t>
            </a:r>
            <a:r>
              <a:rPr lang="en-US" altLang="ko-KR" sz="1400" b="1" dirty="0">
                <a:solidFill>
                  <a:srgbClr val="FF0000"/>
                </a:solidFill>
              </a:rPr>
              <a:t>$ </a:t>
            </a:r>
            <a:r>
              <a:rPr lang="en-US" altLang="ko-KR" sz="1400" b="1" dirty="0" err="1">
                <a:solidFill>
                  <a:srgbClr val="FF0000"/>
                </a:solidFill>
              </a:rPr>
              <a:t>sudo</a:t>
            </a:r>
            <a:r>
              <a:rPr lang="en-US" altLang="ko-KR" sz="1400" b="1" dirty="0">
                <a:solidFill>
                  <a:srgbClr val="FF0000"/>
                </a:solidFill>
              </a:rPr>
              <a:t> apt-mark hold </a:t>
            </a:r>
            <a:r>
              <a:rPr lang="en-US" altLang="ko-KR" sz="1400" b="1" dirty="0" err="1">
                <a:solidFill>
                  <a:srgbClr val="FF0000"/>
                </a:solidFill>
              </a:rPr>
              <a:t>kubelet</a:t>
            </a:r>
            <a:r>
              <a:rPr lang="en-US" altLang="ko-KR" sz="1400" b="1" dirty="0">
                <a:solidFill>
                  <a:srgbClr val="FF0000"/>
                </a:solidFill>
              </a:rPr>
              <a:t> </a:t>
            </a:r>
            <a:r>
              <a:rPr lang="en-US" altLang="ko-KR" sz="1400" b="1" dirty="0" err="1">
                <a:solidFill>
                  <a:srgbClr val="FF0000"/>
                </a:solidFill>
              </a:rPr>
              <a:t>kubeadm</a:t>
            </a:r>
            <a:r>
              <a:rPr lang="en-US" altLang="ko-KR" sz="1400" b="1" dirty="0">
                <a:solidFill>
                  <a:srgbClr val="FF0000"/>
                </a:solidFill>
              </a:rPr>
              <a:t> </a:t>
            </a:r>
            <a:r>
              <a:rPr lang="en-US" altLang="ko-KR" sz="1400" b="1" dirty="0" err="1">
                <a:solidFill>
                  <a:srgbClr val="FF0000"/>
                </a:solidFill>
              </a:rPr>
              <a:t>kubectl</a:t>
            </a:r>
            <a:r>
              <a:rPr lang="en-US" altLang="ko-KR" sz="1400" b="1" dirty="0"/>
              <a:t>” command</a:t>
            </a:r>
            <a:r>
              <a:rPr lang="en-US" altLang="ko-KR" sz="1400" dirty="0"/>
              <a:t>.</a:t>
            </a:r>
          </a:p>
          <a:p>
            <a:pPr lvl="1">
              <a:buFont typeface="Wingdings" panose="05000000000000000000" pitchFamily="2" charset="2"/>
              <a:buChar char="§"/>
            </a:pPr>
            <a:r>
              <a:rPr lang="en-US" altLang="ko-KR" sz="1400" b="1" dirty="0"/>
              <a:t>NOTE : If you want to see logs from the “</a:t>
            </a:r>
            <a:r>
              <a:rPr lang="en-US" altLang="ko-KR" sz="1400" b="1" dirty="0" err="1"/>
              <a:t>kubelet</a:t>
            </a:r>
            <a:r>
              <a:rPr lang="en-US" altLang="ko-KR" sz="1400" b="1" dirty="0"/>
              <a:t>” </a:t>
            </a:r>
            <a:r>
              <a:rPr lang="en-US" altLang="ko-KR" sz="1400" b="1" dirty="0" err="1"/>
              <a:t>dameon</a:t>
            </a:r>
            <a:r>
              <a:rPr lang="en-US" altLang="ko-KR" sz="1400" b="1" dirty="0"/>
              <a:t>, you can run the “</a:t>
            </a:r>
            <a:r>
              <a:rPr lang="en-US" altLang="ko-KR" sz="1400" b="1" dirty="0">
                <a:solidFill>
                  <a:srgbClr val="FF0000"/>
                </a:solidFill>
              </a:rPr>
              <a:t>$ </a:t>
            </a:r>
            <a:r>
              <a:rPr lang="en-US" altLang="ko-KR" sz="1400" b="1" dirty="0" err="1">
                <a:solidFill>
                  <a:srgbClr val="FF0000"/>
                </a:solidFill>
              </a:rPr>
              <a:t>journalctl</a:t>
            </a:r>
            <a:r>
              <a:rPr lang="en-US" altLang="ko-KR" sz="1400" b="1" dirty="0">
                <a:solidFill>
                  <a:srgbClr val="FF0000"/>
                </a:solidFill>
              </a:rPr>
              <a:t> -u </a:t>
            </a:r>
            <a:r>
              <a:rPr lang="en-US" altLang="ko-KR" sz="1400" b="1" dirty="0" err="1">
                <a:solidFill>
                  <a:srgbClr val="FF0000"/>
                </a:solidFill>
              </a:rPr>
              <a:t>kubelet</a:t>
            </a:r>
            <a:r>
              <a:rPr lang="en-US" altLang="ko-KR" sz="1400" b="1" dirty="0"/>
              <a:t>”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438E0BCA-97E1-8F33-A78C-6E4AE04AA698}"/>
              </a:ext>
            </a:extLst>
          </p:cNvPr>
          <p:cNvGrpSpPr/>
          <p:nvPr/>
        </p:nvGrpSpPr>
        <p:grpSpPr>
          <a:xfrm>
            <a:off x="984657" y="1631173"/>
            <a:ext cx="10222685" cy="3595654"/>
            <a:chOff x="984656" y="1983065"/>
            <a:chExt cx="10222685" cy="3595654"/>
          </a:xfrm>
        </p:grpSpPr>
        <p:grpSp>
          <p:nvGrpSpPr>
            <p:cNvPr id="11" name="그룹 10">
              <a:extLst>
                <a:ext uri="{FF2B5EF4-FFF2-40B4-BE49-F238E27FC236}">
                  <a16:creationId xmlns:a16="http://schemas.microsoft.com/office/drawing/2014/main" id="{40DB1283-6E8B-E995-6E3F-936937370EA0}"/>
                </a:ext>
              </a:extLst>
            </p:cNvPr>
            <p:cNvGrpSpPr/>
            <p:nvPr/>
          </p:nvGrpSpPr>
          <p:grpSpPr>
            <a:xfrm>
              <a:off x="984656" y="1983065"/>
              <a:ext cx="10222685" cy="3595654"/>
              <a:chOff x="984656" y="1983065"/>
              <a:chExt cx="10222685" cy="3595654"/>
            </a:xfrm>
          </p:grpSpPr>
          <p:sp>
            <p:nvSpPr>
              <p:cNvPr id="4" name="TextBox 3">
                <a:extLst>
                  <a:ext uri="{FF2B5EF4-FFF2-40B4-BE49-F238E27FC236}">
                    <a16:creationId xmlns:a16="http://schemas.microsoft.com/office/drawing/2014/main" id="{FFC84DD6-F291-E27D-8C33-11470BF5CA70}"/>
                  </a:ext>
                </a:extLst>
              </p:cNvPr>
              <p:cNvSpPr txBox="1"/>
              <p:nvPr/>
            </p:nvSpPr>
            <p:spPr>
              <a:xfrm>
                <a:off x="3047326" y="1983065"/>
                <a:ext cx="6097348" cy="861774"/>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sudo</a:t>
                </a:r>
                <a:r>
                  <a:rPr lang="en-US" altLang="ko-KR" sz="1000" b="1" dirty="0"/>
                  <a:t> apt remove --purge </a:t>
                </a:r>
                <a:r>
                  <a:rPr lang="en-US" altLang="ko-KR" sz="1000" b="1" dirty="0" err="1"/>
                  <a:t>kubelet</a:t>
                </a:r>
                <a:endParaRPr lang="en-US" altLang="ko-KR" sz="1000" b="1" dirty="0"/>
              </a:p>
              <a:p>
                <a:r>
                  <a:rPr lang="en-US" altLang="ko-KR" sz="1000" b="1" dirty="0"/>
                  <a:t>$ </a:t>
                </a:r>
                <a:r>
                  <a:rPr lang="en-US" altLang="ko-KR" sz="1000" b="1" dirty="0" err="1">
                    <a:solidFill>
                      <a:srgbClr val="FF0000"/>
                    </a:solidFill>
                  </a:rPr>
                  <a:t>sudo</a:t>
                </a:r>
                <a:r>
                  <a:rPr lang="en-US" altLang="ko-KR" sz="1000" b="1" dirty="0">
                    <a:solidFill>
                      <a:srgbClr val="FF0000"/>
                    </a:solidFill>
                  </a:rPr>
                  <a:t> apt install -y </a:t>
                </a:r>
                <a:r>
                  <a:rPr lang="en-US" altLang="ko-KR" sz="1000" b="1" dirty="0" err="1">
                    <a:solidFill>
                      <a:srgbClr val="FF0000"/>
                    </a:solidFill>
                  </a:rPr>
                  <a:t>kubeadm</a:t>
                </a:r>
                <a:r>
                  <a:rPr lang="en-US" altLang="ko-KR" sz="1000" b="1" dirty="0">
                    <a:solidFill>
                      <a:srgbClr val="FF0000"/>
                    </a:solidFill>
                  </a:rPr>
                  <a:t> </a:t>
                </a:r>
                <a:r>
                  <a:rPr lang="en-US" altLang="ko-KR" sz="1000" b="1" dirty="0" err="1">
                    <a:solidFill>
                      <a:srgbClr val="FF0000"/>
                    </a:solidFill>
                  </a:rPr>
                  <a:t>kubelet</a:t>
                </a:r>
                <a:r>
                  <a:rPr lang="en-US" altLang="ko-KR" sz="1000" b="1" dirty="0">
                    <a:solidFill>
                      <a:srgbClr val="FF0000"/>
                    </a:solidFill>
                  </a:rPr>
                  <a:t>=1.25.5-00</a:t>
                </a:r>
              </a:p>
              <a:p>
                <a:r>
                  <a:rPr lang="en-US" altLang="ko-KR" sz="1000" b="1" dirty="0"/>
                  <a:t>$ </a:t>
                </a:r>
                <a:r>
                  <a:rPr lang="en-US" altLang="ko-KR" sz="1000" b="1" dirty="0" err="1"/>
                  <a:t>sudo</a:t>
                </a:r>
                <a:r>
                  <a:rPr lang="en-US" altLang="ko-KR" sz="1000" b="1" dirty="0"/>
                  <a:t> </a:t>
                </a:r>
                <a:r>
                  <a:rPr lang="en-US" altLang="ko-KR" sz="1000" b="1" dirty="0" err="1"/>
                  <a:t>systemctl</a:t>
                </a:r>
                <a:r>
                  <a:rPr lang="en-US" altLang="ko-KR" sz="1000" b="1" dirty="0"/>
                  <a:t> daemon-reload</a:t>
                </a:r>
              </a:p>
              <a:p>
                <a:r>
                  <a:rPr lang="en-US" altLang="ko-KR" sz="1000" b="1" dirty="0"/>
                  <a:t>$ </a:t>
                </a:r>
                <a:r>
                  <a:rPr lang="en-US" altLang="ko-KR" sz="1000" b="1" dirty="0" err="1"/>
                  <a:t>sudo</a:t>
                </a:r>
                <a:r>
                  <a:rPr lang="en-US" altLang="ko-KR" sz="1000" b="1" dirty="0"/>
                  <a:t> </a:t>
                </a:r>
                <a:r>
                  <a:rPr lang="en-US" altLang="ko-KR" sz="1000" b="1" dirty="0" err="1"/>
                  <a:t>systemctl</a:t>
                </a:r>
                <a:r>
                  <a:rPr lang="en-US" altLang="ko-KR" sz="1000" b="1" dirty="0"/>
                  <a:t> restart </a:t>
                </a:r>
                <a:r>
                  <a:rPr lang="en-US" altLang="ko-KR" sz="1000" b="1" dirty="0" err="1"/>
                  <a:t>kubelet</a:t>
                </a:r>
                <a:endParaRPr lang="en-US" altLang="ko-KR" sz="1000" b="1" dirty="0"/>
              </a:p>
              <a:p>
                <a:r>
                  <a:rPr lang="en-US" altLang="ko-KR" sz="1000" b="1" dirty="0"/>
                  <a:t>$ </a:t>
                </a:r>
                <a:r>
                  <a:rPr lang="en-US" altLang="ko-KR" sz="1000" b="1" dirty="0" err="1">
                    <a:solidFill>
                      <a:srgbClr val="FF0000"/>
                    </a:solidFill>
                  </a:rPr>
                  <a:t>systemctl</a:t>
                </a:r>
                <a:r>
                  <a:rPr lang="en-US" altLang="ko-KR" sz="1000" b="1" dirty="0">
                    <a:solidFill>
                      <a:srgbClr val="FF0000"/>
                    </a:solidFill>
                  </a:rPr>
                  <a:t> status </a:t>
                </a:r>
                <a:r>
                  <a:rPr lang="en-US" altLang="ko-KR" sz="1000" b="1" dirty="0" err="1">
                    <a:solidFill>
                      <a:srgbClr val="FF0000"/>
                    </a:solidFill>
                  </a:rPr>
                  <a:t>kubelet</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35F6E91A-9386-284D-B78F-4F25658228AE}"/>
                  </a:ext>
                </a:extLst>
              </p:cNvPr>
              <p:cNvSpPr/>
              <p:nvPr/>
            </p:nvSpPr>
            <p:spPr>
              <a:xfrm>
                <a:off x="5858633" y="2843267"/>
                <a:ext cx="474733" cy="31558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684DE6DC-C9B7-2682-F3E9-7BDB8B50B568}"/>
                  </a:ext>
                </a:extLst>
              </p:cNvPr>
              <p:cNvPicPr>
                <a:picLocks noChangeAspect="1"/>
              </p:cNvPicPr>
              <p:nvPr/>
            </p:nvPicPr>
            <p:blipFill>
              <a:blip r:embed="rId2"/>
              <a:stretch>
                <a:fillRect/>
              </a:stretch>
            </p:blipFill>
            <p:spPr>
              <a:xfrm>
                <a:off x="984656" y="3158856"/>
                <a:ext cx="10222685" cy="2419863"/>
              </a:xfrm>
              <a:prstGeom prst="rect">
                <a:avLst/>
              </a:prstGeom>
            </p:spPr>
          </p:pic>
        </p:grpSp>
        <p:sp>
          <p:nvSpPr>
            <p:cNvPr id="12" name="직사각형 11">
              <a:extLst>
                <a:ext uri="{FF2B5EF4-FFF2-40B4-BE49-F238E27FC236}">
                  <a16:creationId xmlns:a16="http://schemas.microsoft.com/office/drawing/2014/main" id="{21265B29-6059-6660-8139-28B94C6675D2}"/>
                </a:ext>
              </a:extLst>
            </p:cNvPr>
            <p:cNvSpPr/>
            <p:nvPr/>
          </p:nvSpPr>
          <p:spPr>
            <a:xfrm>
              <a:off x="1351370" y="4304963"/>
              <a:ext cx="4661012" cy="1861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97340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Trouble Shooting in Creating Kubernetes Cluster(2/3)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Joining the Cluster :</a:t>
            </a:r>
            <a:endParaRPr lang="en-US" altLang="ko-KR" sz="1400" dirty="0"/>
          </a:p>
          <a:p>
            <a:pPr lvl="1">
              <a:buFont typeface="Wingdings" panose="05000000000000000000" pitchFamily="2" charset="2"/>
              <a:buChar char="§"/>
            </a:pPr>
            <a:r>
              <a:rPr lang="en-US" altLang="ko-KR" sz="1400" b="1" dirty="0"/>
              <a:t>When you meet an error like “[ERROR CRI] …”</a:t>
            </a:r>
            <a:r>
              <a:rPr lang="en-US" altLang="ko-KR" sz="1400" dirty="0"/>
              <a:t>, you need to change “</a:t>
            </a:r>
            <a:r>
              <a:rPr lang="en-US" altLang="ko-KR" sz="1400" b="1" dirty="0"/>
              <a:t>/</a:t>
            </a:r>
            <a:r>
              <a:rPr lang="en-US" altLang="ko-KR" sz="1400" b="1" dirty="0" err="1"/>
              <a:t>etc</a:t>
            </a:r>
            <a:r>
              <a:rPr lang="en-US" altLang="ko-KR" sz="1400" b="1" dirty="0"/>
              <a:t>/container/</a:t>
            </a:r>
            <a:r>
              <a:rPr lang="en-US" altLang="ko-KR" sz="1400" b="1" dirty="0" err="1"/>
              <a:t>config.toml</a:t>
            </a:r>
            <a:r>
              <a:rPr lang="en-US" altLang="ko-KR" sz="1400" dirty="0"/>
              <a:t>” like the following.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Then, </a:t>
            </a:r>
            <a:r>
              <a:rPr lang="en-US" altLang="ko-KR" sz="1400" b="1" dirty="0"/>
              <a:t>restart the </a:t>
            </a:r>
            <a:r>
              <a:rPr lang="en-US" altLang="ko-KR" sz="1400" b="1" dirty="0" err="1"/>
              <a:t>containerd</a:t>
            </a:r>
            <a:r>
              <a:rPr lang="en-US" altLang="ko-KR" sz="1400" b="1" dirty="0"/>
              <a:t> daemon </a:t>
            </a:r>
            <a:r>
              <a:rPr lang="en-US" altLang="ko-KR" sz="1400" dirty="0"/>
              <a:t>using the “</a:t>
            </a:r>
            <a:r>
              <a:rPr lang="en-US" altLang="ko-KR" sz="1400" b="1" dirty="0"/>
              <a:t>$ </a:t>
            </a:r>
            <a:r>
              <a:rPr lang="en-US" altLang="ko-KR" sz="1400" b="1" dirty="0" err="1"/>
              <a:t>sudo</a:t>
            </a:r>
            <a:r>
              <a:rPr lang="en-US" altLang="ko-KR" sz="1400" b="1" dirty="0"/>
              <a:t> </a:t>
            </a:r>
            <a:r>
              <a:rPr lang="en-US" altLang="ko-KR" sz="1400" b="1" dirty="0" err="1"/>
              <a:t>systemctl</a:t>
            </a:r>
            <a:r>
              <a:rPr lang="en-US" altLang="ko-KR" sz="1400" b="1" dirty="0"/>
              <a:t> restart </a:t>
            </a:r>
            <a:r>
              <a:rPr lang="en-US" altLang="ko-KR" sz="1400" b="1" dirty="0" err="1"/>
              <a:t>containerd</a:t>
            </a:r>
            <a:r>
              <a:rPr lang="en-US" altLang="ko-KR" sz="1400" dirty="0"/>
              <a:t>” command.</a:t>
            </a:r>
          </a:p>
          <a:p>
            <a:pPr lvl="1">
              <a:buFont typeface="Wingdings" panose="05000000000000000000" pitchFamily="2" charset="2"/>
              <a:buChar char="§"/>
            </a:pPr>
            <a:r>
              <a:rPr lang="en-US" altLang="ko-KR" sz="1400" dirty="0"/>
              <a:t>After this, you can </a:t>
            </a:r>
            <a:r>
              <a:rPr lang="en-US" altLang="ko-KR" sz="1400" b="1" dirty="0"/>
              <a:t>join the cluster</a:t>
            </a:r>
            <a:r>
              <a:rPr lang="en-US" altLang="ko-KR" sz="1400" dirty="0"/>
              <a:t> </a:t>
            </a:r>
            <a:r>
              <a:rPr lang="en-US" altLang="ko-KR" sz="1400" b="1" dirty="0"/>
              <a:t>with the following command in the worker node</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In the master node</a:t>
            </a:r>
            <a:r>
              <a:rPr lang="en-US" altLang="ko-KR" sz="1400" dirty="0"/>
              <a:t>, now you can </a:t>
            </a:r>
            <a:r>
              <a:rPr lang="en-US" altLang="ko-KR" sz="1400" b="1" dirty="0"/>
              <a:t>find the joined worker node with “$ </a:t>
            </a:r>
            <a:r>
              <a:rPr lang="en-US" altLang="ko-KR" sz="1400" b="1" dirty="0" err="1"/>
              <a:t>kubectl</a:t>
            </a:r>
            <a:r>
              <a:rPr lang="en-US" altLang="ko-KR" sz="1400" b="1" dirty="0"/>
              <a:t> get nodes”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D71A25B9-B8C7-D99B-A2BD-5AEC4516F0D1}"/>
              </a:ext>
            </a:extLst>
          </p:cNvPr>
          <p:cNvGrpSpPr/>
          <p:nvPr/>
        </p:nvGrpSpPr>
        <p:grpSpPr>
          <a:xfrm>
            <a:off x="838200" y="1416106"/>
            <a:ext cx="10515600" cy="1664970"/>
            <a:chOff x="838200" y="1527428"/>
            <a:chExt cx="10515600" cy="1511131"/>
          </a:xfrm>
        </p:grpSpPr>
        <p:pic>
          <p:nvPicPr>
            <p:cNvPr id="8" name="그림 7">
              <a:extLst>
                <a:ext uri="{FF2B5EF4-FFF2-40B4-BE49-F238E27FC236}">
                  <a16:creationId xmlns:a16="http://schemas.microsoft.com/office/drawing/2014/main" id="{B8ECD779-0DCD-7B4A-D0D0-8C17A81D2A53}"/>
                </a:ext>
              </a:extLst>
            </p:cNvPr>
            <p:cNvPicPr>
              <a:picLocks noChangeAspect="1"/>
            </p:cNvPicPr>
            <p:nvPr/>
          </p:nvPicPr>
          <p:blipFill>
            <a:blip r:embed="rId2"/>
            <a:stretch>
              <a:fillRect/>
            </a:stretch>
          </p:blipFill>
          <p:spPr>
            <a:xfrm>
              <a:off x="838200" y="1527428"/>
              <a:ext cx="10515600" cy="1511131"/>
            </a:xfrm>
            <a:prstGeom prst="rect">
              <a:avLst/>
            </a:prstGeom>
          </p:spPr>
        </p:pic>
        <p:sp>
          <p:nvSpPr>
            <p:cNvPr id="9" name="직사각형 8">
              <a:extLst>
                <a:ext uri="{FF2B5EF4-FFF2-40B4-BE49-F238E27FC236}">
                  <a16:creationId xmlns:a16="http://schemas.microsoft.com/office/drawing/2014/main" id="{67716493-D378-6183-734B-3D9C5F13163F}"/>
                </a:ext>
              </a:extLst>
            </p:cNvPr>
            <p:cNvSpPr/>
            <p:nvPr/>
          </p:nvSpPr>
          <p:spPr>
            <a:xfrm>
              <a:off x="938676" y="2225310"/>
              <a:ext cx="2144389" cy="29940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TextBox 11">
            <a:extLst>
              <a:ext uri="{FF2B5EF4-FFF2-40B4-BE49-F238E27FC236}">
                <a16:creationId xmlns:a16="http://schemas.microsoft.com/office/drawing/2014/main" id="{178DA9C0-082B-D991-B414-67783D4744DE}"/>
              </a:ext>
            </a:extLst>
          </p:cNvPr>
          <p:cNvSpPr txBox="1"/>
          <p:nvPr/>
        </p:nvSpPr>
        <p:spPr>
          <a:xfrm>
            <a:off x="2695659" y="3710540"/>
            <a:ext cx="6800681"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sudo</a:t>
            </a:r>
            <a:r>
              <a:rPr lang="en-US" altLang="ko-KR" sz="1000" b="1" dirty="0"/>
              <a:t> </a:t>
            </a:r>
            <a:r>
              <a:rPr lang="en-US" altLang="ko-KR" sz="1000" b="1" dirty="0" err="1"/>
              <a:t>kubeadm</a:t>
            </a:r>
            <a:r>
              <a:rPr lang="en-US" altLang="ko-KR" sz="1000" b="1" dirty="0"/>
              <a:t> join </a:t>
            </a:r>
            <a:r>
              <a:rPr lang="en-US" altLang="ko-KR" sz="1000" b="1" dirty="0">
                <a:solidFill>
                  <a:srgbClr val="FF0000"/>
                </a:solidFill>
              </a:rPr>
              <a:t>192.168.0.229:6443</a:t>
            </a:r>
            <a:r>
              <a:rPr lang="en-US" altLang="ko-KR" sz="1000" b="1" dirty="0"/>
              <a:t> --token l4itae.rk7fgfh1f9z9a86n --discovery-token-ca-cert-hash sha256:b15a020f35ac768f9ee92b946e706533d674f4e06008afc98b3696382c937965</a:t>
            </a:r>
            <a:endParaRPr lang="ko-KR" altLang="en-US" sz="1000" b="1" dirty="0"/>
          </a:p>
        </p:txBody>
      </p:sp>
      <p:pic>
        <p:nvPicPr>
          <p:cNvPr id="14" name="그림 13">
            <a:extLst>
              <a:ext uri="{FF2B5EF4-FFF2-40B4-BE49-F238E27FC236}">
                <a16:creationId xmlns:a16="http://schemas.microsoft.com/office/drawing/2014/main" id="{6334AE8F-8C6F-1959-2148-A4C02B10D2BF}"/>
              </a:ext>
            </a:extLst>
          </p:cNvPr>
          <p:cNvPicPr>
            <a:picLocks noChangeAspect="1"/>
          </p:cNvPicPr>
          <p:nvPr/>
        </p:nvPicPr>
        <p:blipFill>
          <a:blip r:embed="rId3"/>
          <a:stretch>
            <a:fillRect/>
          </a:stretch>
        </p:blipFill>
        <p:spPr>
          <a:xfrm>
            <a:off x="838200" y="4478382"/>
            <a:ext cx="10515600" cy="1664970"/>
          </a:xfrm>
          <a:prstGeom prst="rect">
            <a:avLst/>
          </a:prstGeom>
        </p:spPr>
      </p:pic>
    </p:spTree>
    <p:extLst>
      <p:ext uri="{BB962C8B-B14F-4D97-AF65-F5344CB8AC3E}">
        <p14:creationId xmlns:p14="http://schemas.microsoft.com/office/powerpoint/2010/main" val="627606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Trouble Shooting in Creating Kubernetes Cluster(3/3)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Node Not Ready :</a:t>
            </a:r>
            <a:endParaRPr lang="en-US" altLang="ko-KR" sz="1400" dirty="0"/>
          </a:p>
          <a:p>
            <a:pPr lvl="1">
              <a:buFont typeface="Wingdings" panose="05000000000000000000" pitchFamily="2" charset="2"/>
              <a:buChar char="§"/>
            </a:pPr>
            <a:r>
              <a:rPr lang="en-US" altLang="ko-KR" sz="1400" dirty="0"/>
              <a:t>When you run “</a:t>
            </a:r>
            <a:r>
              <a:rPr lang="en-US" altLang="ko-KR" sz="1400" b="1" dirty="0"/>
              <a:t>$ </a:t>
            </a:r>
            <a:r>
              <a:rPr lang="en-US" altLang="ko-KR" sz="1400" b="1" dirty="0" err="1"/>
              <a:t>kubectl</a:t>
            </a:r>
            <a:r>
              <a:rPr lang="en-US" altLang="ko-KR" sz="1400" b="1" dirty="0"/>
              <a:t> get node</a:t>
            </a:r>
            <a:r>
              <a:rPr lang="en-US" altLang="ko-KR" sz="1400" dirty="0"/>
              <a:t>” command and find that the worker node is “Not Ready”, then you need to find out the reason. Run “</a:t>
            </a:r>
            <a:r>
              <a:rPr lang="en-US" altLang="ko-KR" sz="1400" b="1" dirty="0"/>
              <a:t>$ </a:t>
            </a:r>
            <a:r>
              <a:rPr lang="en-US" altLang="ko-KR" sz="1400" b="1" dirty="0" err="1"/>
              <a:t>kubectl</a:t>
            </a:r>
            <a:r>
              <a:rPr lang="en-US" altLang="ko-KR" sz="1400" b="1" dirty="0"/>
              <a:t> describe &lt;node-name&gt;</a:t>
            </a:r>
            <a:r>
              <a:rPr lang="en-US" altLang="ko-KR" sz="1400" dirty="0"/>
              <a:t>” command and find the reason. If the reason is “</a:t>
            </a:r>
            <a:r>
              <a:rPr lang="en-US" altLang="ko-KR" sz="1400" b="1" dirty="0"/>
              <a:t>CNI plugin not installed”</a:t>
            </a:r>
            <a:r>
              <a:rPr lang="en-US" altLang="ko-KR" sz="1400" dirty="0"/>
              <a:t>, then run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Here</a:t>
            </a:r>
            <a:r>
              <a:rPr lang="ko-KR" altLang="en-US" sz="1400" b="1" dirty="0"/>
              <a:t> </a:t>
            </a:r>
            <a:r>
              <a:rPr lang="en-US" altLang="ko-KR" sz="1400" b="1" dirty="0"/>
              <a:t>I used “Weave Net” CNI plugin for CNI(Container Network Interface)</a:t>
            </a:r>
            <a:r>
              <a:rPr lang="en-US" altLang="ko-KR" sz="1400" dirty="0"/>
              <a:t>. </a:t>
            </a:r>
            <a:r>
              <a:rPr lang="en-US" altLang="ko-KR" sz="1400" b="1" dirty="0"/>
              <a:t>In case of flannel CNI plugin, I met an error like “/run/flannel/</a:t>
            </a:r>
            <a:r>
              <a:rPr lang="en-US" altLang="ko-KR" sz="1400" b="1" dirty="0" err="1"/>
              <a:t>setup.env</a:t>
            </a:r>
            <a:r>
              <a:rPr lang="en-US" altLang="ko-KR" sz="1400" b="1" dirty="0"/>
              <a:t> file not found”(2023.01)</a:t>
            </a:r>
            <a:r>
              <a:rPr lang="en-US" altLang="ko-KR" sz="1400" dirty="0"/>
              <a:t>. </a:t>
            </a:r>
          </a:p>
          <a:p>
            <a:pPr lvl="1">
              <a:buFont typeface="Wingdings" panose="05000000000000000000" pitchFamily="2" charset="2"/>
              <a:buChar char="§"/>
            </a:pPr>
            <a:r>
              <a:rPr lang="en-US" altLang="ko-KR" sz="1400" b="1" dirty="0"/>
              <a:t>For more information about Weave Net, refer to </a:t>
            </a:r>
            <a:r>
              <a:rPr lang="en-US" altLang="ko-KR" sz="1400" b="1" dirty="0">
                <a:hlinkClick r:id="rId2"/>
              </a:rPr>
              <a:t>https://www.weave.works/docs/net/latest/kubernetes/kube-addon/</a:t>
            </a:r>
            <a:r>
              <a:rPr lang="en-US" altLang="ko-KR" sz="1400" dirty="0"/>
              <a:t>.</a:t>
            </a:r>
          </a:p>
          <a:p>
            <a:pPr lvl="1">
              <a:buFont typeface="Wingdings" panose="05000000000000000000" pitchFamily="2" charset="2"/>
              <a:buChar char="§"/>
            </a:pPr>
            <a:r>
              <a:rPr lang="en-US" altLang="ko-KR" sz="1400" b="1" dirty="0"/>
              <a:t>NOTE : In the worker node, when you run “$ </a:t>
            </a:r>
            <a:r>
              <a:rPr lang="en-US" altLang="ko-KR" sz="1400" b="1" dirty="0" err="1"/>
              <a:t>sudo</a:t>
            </a:r>
            <a:r>
              <a:rPr lang="en-US" altLang="ko-KR" sz="1400" b="1" dirty="0"/>
              <a:t> </a:t>
            </a:r>
            <a:r>
              <a:rPr lang="en-US" altLang="ko-KR" sz="1400" b="1" dirty="0" err="1"/>
              <a:t>kubeadm</a:t>
            </a:r>
            <a:r>
              <a:rPr lang="en-US" altLang="ko-KR" sz="1400" b="1" dirty="0"/>
              <a:t> join xxx” command and pending in “preflight check”, then you need to run the “$ </a:t>
            </a:r>
            <a:r>
              <a:rPr lang="en-US" altLang="ko-KR" sz="1400" b="1" dirty="0" err="1"/>
              <a:t>sudo</a:t>
            </a:r>
            <a:r>
              <a:rPr lang="en-US" altLang="ko-KR" sz="1400" b="1" dirty="0"/>
              <a:t> </a:t>
            </a:r>
            <a:r>
              <a:rPr lang="en-US" altLang="ko-KR" sz="1400" b="1" dirty="0" err="1"/>
              <a:t>kubeadm</a:t>
            </a:r>
            <a:r>
              <a:rPr lang="en-US" altLang="ko-KR" sz="1400" b="1" dirty="0"/>
              <a:t> </a:t>
            </a:r>
            <a:r>
              <a:rPr lang="en-US" altLang="ko-KR" sz="1400" b="1" dirty="0" err="1"/>
              <a:t>init</a:t>
            </a:r>
            <a:r>
              <a:rPr lang="en-US" altLang="ko-KR" sz="1400" b="1" dirty="0"/>
              <a:t>” command in master node and run “$ </a:t>
            </a:r>
            <a:r>
              <a:rPr lang="en-US" altLang="ko-KR" sz="1400" b="1" dirty="0" err="1"/>
              <a:t>sudo</a:t>
            </a:r>
            <a:r>
              <a:rPr lang="en-US" altLang="ko-KR" sz="1400" b="1" dirty="0"/>
              <a:t> </a:t>
            </a:r>
            <a:r>
              <a:rPr lang="en-US" altLang="ko-KR" sz="1400" b="1" dirty="0" err="1"/>
              <a:t>kubeamin</a:t>
            </a:r>
            <a:r>
              <a:rPr lang="en-US" altLang="ko-KR" sz="1400" b="1" dirty="0"/>
              <a:t> join xxx” command again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E0B8524A-0F91-199B-BA69-AB26EFE7CB26}"/>
              </a:ext>
            </a:extLst>
          </p:cNvPr>
          <p:cNvGrpSpPr/>
          <p:nvPr/>
        </p:nvGrpSpPr>
        <p:grpSpPr>
          <a:xfrm>
            <a:off x="838200" y="1974038"/>
            <a:ext cx="10515600" cy="2210801"/>
            <a:chOff x="838200" y="1820290"/>
            <a:chExt cx="10515600" cy="2210801"/>
          </a:xfrm>
        </p:grpSpPr>
        <p:sp>
          <p:nvSpPr>
            <p:cNvPr id="8" name="TextBox 7">
              <a:extLst>
                <a:ext uri="{FF2B5EF4-FFF2-40B4-BE49-F238E27FC236}">
                  <a16:creationId xmlns:a16="http://schemas.microsoft.com/office/drawing/2014/main" id="{F7A20CF5-FC39-C8BA-BF32-5C5A88D43255}"/>
                </a:ext>
              </a:extLst>
            </p:cNvPr>
            <p:cNvSpPr txBox="1"/>
            <p:nvPr/>
          </p:nvSpPr>
          <p:spPr>
            <a:xfrm>
              <a:off x="2494032" y="1820290"/>
              <a:ext cx="7203935"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apply -f </a:t>
              </a:r>
              <a:r>
                <a:rPr lang="en-US" altLang="ko-KR" sz="1000" b="1" dirty="0">
                  <a:solidFill>
                    <a:srgbClr val="FF0000"/>
                  </a:solidFill>
                </a:rPr>
                <a:t>https://github.com/weaveworks/weave/releases/download/v2.8.1/weave-daemonset-k8s.yaml </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16B953D7-B06E-0466-4061-F76BBDB8B7D9}"/>
                </a:ext>
              </a:extLst>
            </p:cNvPr>
            <p:cNvSpPr/>
            <p:nvPr/>
          </p:nvSpPr>
          <p:spPr>
            <a:xfrm>
              <a:off x="5853238" y="2060009"/>
              <a:ext cx="485522" cy="30749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44BF12F9-BA37-C576-0F7C-F55B8273C1AD}"/>
                </a:ext>
              </a:extLst>
            </p:cNvPr>
            <p:cNvPicPr>
              <a:picLocks noChangeAspect="1"/>
            </p:cNvPicPr>
            <p:nvPr/>
          </p:nvPicPr>
          <p:blipFill>
            <a:blip r:embed="rId3"/>
            <a:stretch>
              <a:fillRect/>
            </a:stretch>
          </p:blipFill>
          <p:spPr>
            <a:xfrm>
              <a:off x="838200" y="2367507"/>
              <a:ext cx="10515600" cy="1663584"/>
            </a:xfrm>
            <a:prstGeom prst="rect">
              <a:avLst/>
            </a:prstGeom>
          </p:spPr>
        </p:pic>
      </p:grpSp>
    </p:spTree>
    <p:extLst>
      <p:ext uri="{BB962C8B-B14F-4D97-AF65-F5344CB8AC3E}">
        <p14:creationId xmlns:p14="http://schemas.microsoft.com/office/powerpoint/2010/main" val="418382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Pods in Cluster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Checking the Cluster :</a:t>
            </a:r>
            <a:endParaRPr lang="en-US" altLang="ko-KR" sz="1400" dirty="0"/>
          </a:p>
          <a:p>
            <a:pPr lvl="1">
              <a:buFont typeface="Wingdings" panose="05000000000000000000" pitchFamily="2" charset="2"/>
              <a:buChar char="§"/>
            </a:pPr>
            <a:r>
              <a:rPr lang="en-US" altLang="ko-KR" sz="1400" b="1" dirty="0"/>
              <a:t>To check the cluster</a:t>
            </a:r>
            <a:r>
              <a:rPr lang="en-US" altLang="ko-KR" sz="1400" dirty="0"/>
              <a:t>, we can try to create pods using “</a:t>
            </a:r>
            <a:r>
              <a:rPr lang="en-US" altLang="ko-KR" sz="1400" b="1" dirty="0"/>
              <a:t>$ </a:t>
            </a:r>
            <a:r>
              <a:rPr lang="en-US" altLang="ko-KR" sz="1400" b="1" dirty="0" err="1"/>
              <a:t>kubectl</a:t>
            </a:r>
            <a:r>
              <a:rPr lang="en-US" altLang="ko-KR" sz="1400" b="1" dirty="0"/>
              <a:t> create -f </a:t>
            </a:r>
            <a:r>
              <a:rPr lang="en-US" altLang="ko-KR" sz="1400" b="1" dirty="0" err="1"/>
              <a:t>deployment.yaml</a:t>
            </a:r>
            <a:r>
              <a:rPr lang="en-US" altLang="ko-KR" sz="1400" dirty="0"/>
              <a:t>” command. Then you can use “</a:t>
            </a:r>
            <a:r>
              <a:rPr lang="en-US" altLang="ko-KR" sz="1400" b="1" dirty="0"/>
              <a:t>$ </a:t>
            </a:r>
            <a:r>
              <a:rPr lang="en-US" altLang="ko-KR" sz="1400" b="1" dirty="0" err="1"/>
              <a:t>kubectl</a:t>
            </a:r>
            <a:r>
              <a:rPr lang="en-US" altLang="ko-KR" sz="1400" b="1" dirty="0"/>
              <a:t> describe pod &lt;Pod Name&gt;</a:t>
            </a:r>
            <a:r>
              <a:rPr lang="en-US" altLang="ko-KR" sz="1400" dirty="0"/>
              <a:t>” command.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As you can see from the above screenshot, </a:t>
            </a:r>
            <a:r>
              <a:rPr lang="en-US" altLang="ko-KR" sz="1400" b="1" dirty="0"/>
              <a:t>the pods are scheduled on “ubuntu20-04-02” node</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6E5AB5B8-6655-8CE8-DAE1-C5D30328B2B5}"/>
              </a:ext>
            </a:extLst>
          </p:cNvPr>
          <p:cNvGrpSpPr/>
          <p:nvPr/>
        </p:nvGrpSpPr>
        <p:grpSpPr>
          <a:xfrm>
            <a:off x="838200" y="1574985"/>
            <a:ext cx="10515600" cy="4298986"/>
            <a:chOff x="838200" y="1574985"/>
            <a:chExt cx="10515600" cy="4298986"/>
          </a:xfrm>
        </p:grpSpPr>
        <p:grpSp>
          <p:nvGrpSpPr>
            <p:cNvPr id="13" name="그룹 12">
              <a:extLst>
                <a:ext uri="{FF2B5EF4-FFF2-40B4-BE49-F238E27FC236}">
                  <a16:creationId xmlns:a16="http://schemas.microsoft.com/office/drawing/2014/main" id="{6978024A-B6D5-DD44-E628-D10F3A55FEBD}"/>
                </a:ext>
              </a:extLst>
            </p:cNvPr>
            <p:cNvGrpSpPr/>
            <p:nvPr/>
          </p:nvGrpSpPr>
          <p:grpSpPr>
            <a:xfrm>
              <a:off x="838200" y="1574985"/>
              <a:ext cx="10515600" cy="4298986"/>
              <a:chOff x="838200" y="1744919"/>
              <a:chExt cx="10515600" cy="4298986"/>
            </a:xfrm>
          </p:grpSpPr>
          <p:pic>
            <p:nvPicPr>
              <p:cNvPr id="8" name="그림 7">
                <a:extLst>
                  <a:ext uri="{FF2B5EF4-FFF2-40B4-BE49-F238E27FC236}">
                    <a16:creationId xmlns:a16="http://schemas.microsoft.com/office/drawing/2014/main" id="{C62904DA-10E2-C802-77DA-A99D59315548}"/>
                  </a:ext>
                </a:extLst>
              </p:cNvPr>
              <p:cNvPicPr>
                <a:picLocks noChangeAspect="1"/>
              </p:cNvPicPr>
              <p:nvPr/>
            </p:nvPicPr>
            <p:blipFill>
              <a:blip r:embed="rId2"/>
              <a:stretch>
                <a:fillRect/>
              </a:stretch>
            </p:blipFill>
            <p:spPr>
              <a:xfrm>
                <a:off x="838200" y="1744919"/>
                <a:ext cx="10515600" cy="2138172"/>
              </a:xfrm>
              <a:prstGeom prst="rect">
                <a:avLst/>
              </a:prstGeom>
            </p:spPr>
          </p:pic>
          <p:pic>
            <p:nvPicPr>
              <p:cNvPr id="10" name="그림 9">
                <a:extLst>
                  <a:ext uri="{FF2B5EF4-FFF2-40B4-BE49-F238E27FC236}">
                    <a16:creationId xmlns:a16="http://schemas.microsoft.com/office/drawing/2014/main" id="{AD5BE22F-BA95-732F-1104-EA6936B222E8}"/>
                  </a:ext>
                </a:extLst>
              </p:cNvPr>
              <p:cNvPicPr>
                <a:picLocks noChangeAspect="1"/>
              </p:cNvPicPr>
              <p:nvPr/>
            </p:nvPicPr>
            <p:blipFill>
              <a:blip r:embed="rId3"/>
              <a:stretch>
                <a:fillRect/>
              </a:stretch>
            </p:blipFill>
            <p:spPr>
              <a:xfrm>
                <a:off x="838200" y="3905733"/>
                <a:ext cx="10515600" cy="2138172"/>
              </a:xfrm>
              <a:prstGeom prst="rect">
                <a:avLst/>
              </a:prstGeom>
            </p:spPr>
          </p:pic>
          <p:sp>
            <p:nvSpPr>
              <p:cNvPr id="11" name="직사각형 10">
                <a:extLst>
                  <a:ext uri="{FF2B5EF4-FFF2-40B4-BE49-F238E27FC236}">
                    <a16:creationId xmlns:a16="http://schemas.microsoft.com/office/drawing/2014/main" id="{9836FC92-7E19-B8DC-18E7-2B0A810983D7}"/>
                  </a:ext>
                </a:extLst>
              </p:cNvPr>
              <p:cNvSpPr/>
              <p:nvPr/>
            </p:nvSpPr>
            <p:spPr>
              <a:xfrm>
                <a:off x="922492" y="3131618"/>
                <a:ext cx="1675051" cy="1699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0692750C-C97E-45B3-BDCF-B3B6996D438F}"/>
                  </a:ext>
                </a:extLst>
              </p:cNvPr>
              <p:cNvSpPr/>
              <p:nvPr/>
            </p:nvSpPr>
            <p:spPr>
              <a:xfrm>
                <a:off x="1060057" y="4992786"/>
                <a:ext cx="8278152" cy="1618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4" name="직사각형 13">
              <a:extLst>
                <a:ext uri="{FF2B5EF4-FFF2-40B4-BE49-F238E27FC236}">
                  <a16:creationId xmlns:a16="http://schemas.microsoft.com/office/drawing/2014/main" id="{60FE6420-E3D5-57D9-4E60-749B90FAE102}"/>
                </a:ext>
              </a:extLst>
            </p:cNvPr>
            <p:cNvSpPr/>
            <p:nvPr/>
          </p:nvSpPr>
          <p:spPr>
            <a:xfrm>
              <a:off x="922492" y="2370966"/>
              <a:ext cx="4199766" cy="3398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527883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Taints and Tolerations(3/11)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Taints and Tolerations :</a:t>
            </a:r>
            <a:endParaRPr lang="en-US" altLang="ko-KR" sz="1400" dirty="0"/>
          </a:p>
          <a:p>
            <a:pPr lvl="1">
              <a:buFont typeface="Wingdings" panose="05000000000000000000" pitchFamily="2" charset="2"/>
              <a:buChar char="§"/>
            </a:pPr>
            <a:r>
              <a:rPr lang="en-US" altLang="ko-KR" sz="1400" b="1" dirty="0"/>
              <a:t>The master node can have several taints. Taints have a key, value, and an effect, and are represented as “</a:t>
            </a:r>
            <a:r>
              <a:rPr lang="en-US" altLang="ko-KR" sz="1400" b="1" dirty="0">
                <a:solidFill>
                  <a:srgbClr val="FF0000"/>
                </a:solidFill>
              </a:rPr>
              <a:t>&lt;key&gt;=&lt;value&gt;:&lt;effect&gt;</a:t>
            </a:r>
            <a:r>
              <a:rPr lang="en-US" altLang="ko-KR" sz="1400" b="1" dirty="0"/>
              <a:t>”</a:t>
            </a:r>
            <a:r>
              <a:rPr lang="en-US" altLang="ko-KR" sz="1400" dirty="0"/>
              <a:t>. The master node’s taint shown in the previous listing has </a:t>
            </a:r>
            <a:r>
              <a:rPr lang="en-US" altLang="ko-KR" sz="1400" b="1" dirty="0"/>
              <a:t>the key node-role.kubernetes.io/control-plane, and the effect of </a:t>
            </a:r>
            <a:r>
              <a:rPr lang="en-US" altLang="ko-KR" sz="1400" b="1" dirty="0" err="1"/>
              <a:t>NoSchedule</a:t>
            </a:r>
            <a:r>
              <a:rPr lang="en-US" altLang="ko-KR" sz="1400" dirty="0"/>
              <a:t>.</a:t>
            </a:r>
          </a:p>
          <a:p>
            <a:pPr lvl="1">
              <a:buFont typeface="Wingdings" panose="05000000000000000000" pitchFamily="2" charset="2"/>
              <a:buChar char="§"/>
            </a:pPr>
            <a:r>
              <a:rPr lang="en-US" altLang="ko-KR" sz="1400" b="1" dirty="0"/>
              <a:t>This taint prevents pods from being scheduled to the control-plane, unless those pods tolerate this taint</a:t>
            </a:r>
            <a:r>
              <a:rPr lang="en-US" altLang="ko-KR" sz="1400" dirty="0"/>
              <a:t>. The pods that tolerate it are usually system pods (see the following figure).</a:t>
            </a:r>
          </a:p>
          <a:p>
            <a:pPr lvl="1">
              <a:buFont typeface="Wingdings" panose="05000000000000000000" pitchFamily="2" charset="2"/>
              <a:buChar char="§"/>
            </a:pPr>
            <a:r>
              <a:rPr lang="en-US" altLang="ko-KR" sz="1400" b="1" dirty="0"/>
              <a:t>NOTE : In the figure, the taint is like “node-role.Kubernetes.io/</a:t>
            </a:r>
            <a:r>
              <a:rPr lang="en-US" altLang="ko-KR" sz="1400" b="1" dirty="0" err="1"/>
              <a:t>master:NoSchedule</a:t>
            </a:r>
            <a:r>
              <a:rPr lang="en-US" altLang="ko-KR" sz="1400" b="1" dirty="0"/>
              <a:t>” in Master node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F233216D-A42D-F564-78FD-18DDCC3B1A3C}"/>
              </a:ext>
            </a:extLst>
          </p:cNvPr>
          <p:cNvPicPr>
            <a:picLocks noChangeAspect="1"/>
          </p:cNvPicPr>
          <p:nvPr/>
        </p:nvPicPr>
        <p:blipFill>
          <a:blip r:embed="rId2"/>
          <a:stretch>
            <a:fillRect/>
          </a:stretch>
        </p:blipFill>
        <p:spPr>
          <a:xfrm>
            <a:off x="3648075" y="2787494"/>
            <a:ext cx="4895850" cy="3095625"/>
          </a:xfrm>
          <a:prstGeom prst="rect">
            <a:avLst/>
          </a:prstGeom>
        </p:spPr>
      </p:pic>
    </p:spTree>
    <p:extLst>
      <p:ext uri="{BB962C8B-B14F-4D97-AF65-F5344CB8AC3E}">
        <p14:creationId xmlns:p14="http://schemas.microsoft.com/office/powerpoint/2010/main" val="464095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Taints and Tolerations(4/11)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Taints and Tolerations :</a:t>
            </a:r>
            <a:endParaRPr lang="en-US" altLang="ko-KR" sz="1400" dirty="0"/>
          </a:p>
          <a:p>
            <a:pPr lvl="1">
              <a:buFont typeface="Wingdings" panose="05000000000000000000" pitchFamily="2" charset="2"/>
              <a:buChar char="§"/>
            </a:pPr>
            <a:r>
              <a:rPr lang="en-US" altLang="ko-KR" sz="1400" b="1" dirty="0"/>
              <a:t>In a cluster installed with </a:t>
            </a:r>
            <a:r>
              <a:rPr lang="en-US" altLang="ko-KR" sz="1400" b="1" dirty="0" err="1"/>
              <a:t>kubeadm</a:t>
            </a:r>
            <a:r>
              <a:rPr lang="en-US" altLang="ko-KR" sz="1400" b="1" dirty="0"/>
              <a:t>, the </a:t>
            </a:r>
            <a:r>
              <a:rPr lang="en-US" altLang="ko-KR" sz="1400" b="1" dirty="0" err="1"/>
              <a:t>kube</a:t>
            </a:r>
            <a:r>
              <a:rPr lang="en-US" altLang="ko-KR" sz="1400" b="1" dirty="0"/>
              <a:t>-proxy cluster component runs as a pod on every node, including the master node, because master components that run as pods may also need to access Kubernetes Services</a:t>
            </a:r>
            <a:r>
              <a:rPr lang="en-US" altLang="ko-KR" sz="1400" dirty="0"/>
              <a:t>. To make sure the </a:t>
            </a:r>
            <a:r>
              <a:rPr lang="en-US" altLang="ko-KR" sz="1400" b="1" dirty="0" err="1"/>
              <a:t>kube</a:t>
            </a:r>
            <a:r>
              <a:rPr lang="en-US" altLang="ko-KR" sz="1400" b="1" dirty="0"/>
              <a:t>-proxy pod </a:t>
            </a:r>
            <a:r>
              <a:rPr lang="en-US" altLang="ko-KR" sz="1400" dirty="0"/>
              <a:t>also runs on the master node, it includes </a:t>
            </a:r>
            <a:r>
              <a:rPr lang="en-US" altLang="ko-KR" sz="1400" b="1" dirty="0"/>
              <a:t>the appropriate toleration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1DE48396-7123-1EF1-3517-8A1C8EB3215A}"/>
              </a:ext>
            </a:extLst>
          </p:cNvPr>
          <p:cNvGrpSpPr/>
          <p:nvPr/>
        </p:nvGrpSpPr>
        <p:grpSpPr>
          <a:xfrm>
            <a:off x="838200" y="1862714"/>
            <a:ext cx="10515600" cy="4411644"/>
            <a:chOff x="838200" y="1862714"/>
            <a:chExt cx="10515600" cy="4411644"/>
          </a:xfrm>
        </p:grpSpPr>
        <p:grpSp>
          <p:nvGrpSpPr>
            <p:cNvPr id="13" name="그룹 12">
              <a:extLst>
                <a:ext uri="{FF2B5EF4-FFF2-40B4-BE49-F238E27FC236}">
                  <a16:creationId xmlns:a16="http://schemas.microsoft.com/office/drawing/2014/main" id="{69040358-745F-4DFA-9D7E-89BEA3AE642D}"/>
                </a:ext>
              </a:extLst>
            </p:cNvPr>
            <p:cNvGrpSpPr/>
            <p:nvPr/>
          </p:nvGrpSpPr>
          <p:grpSpPr>
            <a:xfrm>
              <a:off x="838200" y="1862714"/>
              <a:ext cx="10515600" cy="4411644"/>
              <a:chOff x="838200" y="2008763"/>
              <a:chExt cx="10515600" cy="4411644"/>
            </a:xfrm>
          </p:grpSpPr>
          <p:pic>
            <p:nvPicPr>
              <p:cNvPr id="12" name="그림 11">
                <a:extLst>
                  <a:ext uri="{FF2B5EF4-FFF2-40B4-BE49-F238E27FC236}">
                    <a16:creationId xmlns:a16="http://schemas.microsoft.com/office/drawing/2014/main" id="{BB53191F-981B-7453-7A48-5B3252FE6404}"/>
                  </a:ext>
                </a:extLst>
              </p:cNvPr>
              <p:cNvPicPr>
                <a:picLocks noChangeAspect="1"/>
              </p:cNvPicPr>
              <p:nvPr/>
            </p:nvPicPr>
            <p:blipFill>
              <a:blip r:embed="rId2"/>
              <a:stretch>
                <a:fillRect/>
              </a:stretch>
            </p:blipFill>
            <p:spPr>
              <a:xfrm>
                <a:off x="838200" y="4667807"/>
                <a:ext cx="10515600" cy="1752600"/>
              </a:xfrm>
              <a:prstGeom prst="rect">
                <a:avLst/>
              </a:prstGeom>
            </p:spPr>
          </p:pic>
          <p:grpSp>
            <p:nvGrpSpPr>
              <p:cNvPr id="10" name="그룹 9">
                <a:extLst>
                  <a:ext uri="{FF2B5EF4-FFF2-40B4-BE49-F238E27FC236}">
                    <a16:creationId xmlns:a16="http://schemas.microsoft.com/office/drawing/2014/main" id="{BC633E17-2EA4-2B4B-0669-2124F5E5DD48}"/>
                  </a:ext>
                </a:extLst>
              </p:cNvPr>
              <p:cNvGrpSpPr/>
              <p:nvPr/>
            </p:nvGrpSpPr>
            <p:grpSpPr>
              <a:xfrm>
                <a:off x="838200" y="2008763"/>
                <a:ext cx="10515600" cy="3067050"/>
                <a:chOff x="838200" y="2008763"/>
                <a:chExt cx="10515600" cy="3067050"/>
              </a:xfrm>
            </p:grpSpPr>
            <p:pic>
              <p:nvPicPr>
                <p:cNvPr id="8" name="그림 7">
                  <a:extLst>
                    <a:ext uri="{FF2B5EF4-FFF2-40B4-BE49-F238E27FC236}">
                      <a16:creationId xmlns:a16="http://schemas.microsoft.com/office/drawing/2014/main" id="{1A847BD2-20F8-0BB1-C8EA-D46C1ADF7E4E}"/>
                    </a:ext>
                  </a:extLst>
                </p:cNvPr>
                <p:cNvPicPr>
                  <a:picLocks noChangeAspect="1"/>
                </p:cNvPicPr>
                <p:nvPr/>
              </p:nvPicPr>
              <p:blipFill>
                <a:blip r:embed="rId3"/>
                <a:stretch>
                  <a:fillRect/>
                </a:stretch>
              </p:blipFill>
              <p:spPr>
                <a:xfrm>
                  <a:off x="838200" y="2008763"/>
                  <a:ext cx="10515600" cy="3067050"/>
                </a:xfrm>
                <a:prstGeom prst="rect">
                  <a:avLst/>
                </a:prstGeom>
              </p:spPr>
            </p:pic>
            <p:sp>
              <p:nvSpPr>
                <p:cNvPr id="9" name="직사각형 8">
                  <a:extLst>
                    <a:ext uri="{FF2B5EF4-FFF2-40B4-BE49-F238E27FC236}">
                      <a16:creationId xmlns:a16="http://schemas.microsoft.com/office/drawing/2014/main" id="{5A257750-B935-8B9B-892B-F3D41F942969}"/>
                    </a:ext>
                  </a:extLst>
                </p:cNvPr>
                <p:cNvSpPr/>
                <p:nvPr/>
              </p:nvSpPr>
              <p:spPr>
                <a:xfrm>
                  <a:off x="906308" y="4005558"/>
                  <a:ext cx="6295604" cy="1699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4" name="직사각형 13">
              <a:extLst>
                <a:ext uri="{FF2B5EF4-FFF2-40B4-BE49-F238E27FC236}">
                  <a16:creationId xmlns:a16="http://schemas.microsoft.com/office/drawing/2014/main" id="{0E024E5C-8038-68A4-017D-065FE7744925}"/>
                </a:ext>
              </a:extLst>
            </p:cNvPr>
            <p:cNvSpPr/>
            <p:nvPr/>
          </p:nvSpPr>
          <p:spPr>
            <a:xfrm>
              <a:off x="2961685" y="5025154"/>
              <a:ext cx="4240227" cy="10584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960148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Taints and Tolerations(5/11)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Taints and Tolerations :</a:t>
            </a:r>
            <a:endParaRPr lang="en-US" altLang="ko-KR" sz="1400" dirty="0"/>
          </a:p>
          <a:p>
            <a:pPr lvl="1">
              <a:buFont typeface="Wingdings" panose="05000000000000000000" pitchFamily="2" charset="2"/>
              <a:buChar char="§"/>
            </a:pPr>
            <a:r>
              <a:rPr lang="en-US" altLang="ko-KR" sz="1400" b="1" dirty="0"/>
              <a:t>The other tolerations on the </a:t>
            </a:r>
            <a:r>
              <a:rPr lang="en-US" altLang="ko-KR" sz="1400" b="1" dirty="0" err="1"/>
              <a:t>kube</a:t>
            </a:r>
            <a:r>
              <a:rPr lang="en-US" altLang="ko-KR" sz="1400" b="1" dirty="0"/>
              <a:t>-proxy pod define how long the pod is allowed to run on nodes that aren’t ready or are unreachable </a:t>
            </a:r>
            <a:r>
              <a:rPr lang="en-US" altLang="ko-KR" sz="1400" dirty="0"/>
              <a:t>(the time in seconds isn’t shown, but can be seen in the pod’s YAML). Those tolerations refer to the </a:t>
            </a:r>
            <a:r>
              <a:rPr lang="en-US" altLang="ko-KR" sz="1400" b="1" dirty="0" err="1"/>
              <a:t>NoExecute</a:t>
            </a:r>
            <a:r>
              <a:rPr lang="en-US" altLang="ko-KR" sz="1400" dirty="0"/>
              <a:t> instead of the </a:t>
            </a:r>
            <a:r>
              <a:rPr lang="en-US" altLang="ko-KR" sz="1400" b="1" dirty="0" err="1"/>
              <a:t>NoSchedule</a:t>
            </a:r>
            <a:r>
              <a:rPr lang="en-US" altLang="ko-KR" sz="1400" dirty="0"/>
              <a:t> effect.</a:t>
            </a:r>
          </a:p>
          <a:p>
            <a:pPr lvl="1">
              <a:buFont typeface="Wingdings" panose="05000000000000000000" pitchFamily="2" charset="2"/>
              <a:buChar char="§"/>
            </a:pPr>
            <a:r>
              <a:rPr lang="en-US" altLang="ko-KR" sz="1400" dirty="0"/>
              <a:t>Each taint has an effect associated with it. Three possible effects exist :</a:t>
            </a:r>
          </a:p>
          <a:p>
            <a:pPr lvl="2">
              <a:buFont typeface="Wingdings" panose="05000000000000000000" pitchFamily="2" charset="2"/>
              <a:buChar char="§"/>
            </a:pPr>
            <a:r>
              <a:rPr lang="en-US" altLang="ko-KR" sz="1400" b="1" dirty="0" err="1"/>
              <a:t>NoSchedule</a:t>
            </a:r>
            <a:r>
              <a:rPr lang="en-US" altLang="ko-KR" sz="1400" dirty="0"/>
              <a:t>, which means pods won’t be scheduled to the node if they don’t tolerate the taint.</a:t>
            </a:r>
          </a:p>
          <a:p>
            <a:pPr lvl="2">
              <a:buFont typeface="Wingdings" panose="05000000000000000000" pitchFamily="2" charset="2"/>
              <a:buChar char="§"/>
            </a:pPr>
            <a:r>
              <a:rPr lang="en-US" altLang="ko-KR" sz="1400" b="1" dirty="0" err="1"/>
              <a:t>PreferNoSchedule</a:t>
            </a:r>
            <a:r>
              <a:rPr lang="en-US" altLang="ko-KR" sz="1400" dirty="0"/>
              <a:t> is a soft version of </a:t>
            </a:r>
            <a:r>
              <a:rPr lang="en-US" altLang="ko-KR" sz="1400" b="1" dirty="0" err="1"/>
              <a:t>NoSchedule</a:t>
            </a:r>
            <a:r>
              <a:rPr lang="en-US" altLang="ko-KR" sz="1400" dirty="0"/>
              <a:t>, meaning the scheduler will try to avoid scheduling the pod to the node, but will schedule it to the node if it can’t schedule it somewhere else.</a:t>
            </a:r>
          </a:p>
          <a:p>
            <a:pPr lvl="2">
              <a:buFont typeface="Wingdings" panose="05000000000000000000" pitchFamily="2" charset="2"/>
              <a:buChar char="§"/>
            </a:pPr>
            <a:r>
              <a:rPr lang="en-US" altLang="ko-KR" sz="1400" b="1" dirty="0" err="1"/>
              <a:t>NoExecute</a:t>
            </a:r>
            <a:r>
              <a:rPr lang="en-US" altLang="ko-KR" sz="1400" dirty="0"/>
              <a:t>, unlike </a:t>
            </a:r>
            <a:r>
              <a:rPr lang="en-US" altLang="ko-KR" sz="1400" b="1" dirty="0" err="1"/>
              <a:t>NoSchedule</a:t>
            </a:r>
            <a:r>
              <a:rPr lang="en-US" altLang="ko-KR" sz="1400" dirty="0"/>
              <a:t> and </a:t>
            </a:r>
            <a:r>
              <a:rPr lang="en-US" altLang="ko-KR" sz="1400" b="1" dirty="0" err="1"/>
              <a:t>PreferNoSchedule</a:t>
            </a:r>
            <a:r>
              <a:rPr lang="en-US" altLang="ko-KR" sz="1400" dirty="0"/>
              <a:t> that only affect scheduling, also </a:t>
            </a:r>
            <a:r>
              <a:rPr lang="en-US" altLang="ko-KR" sz="1400" b="1" dirty="0"/>
              <a:t>affects pods already running on the node</a:t>
            </a:r>
            <a:r>
              <a:rPr lang="en-US" altLang="ko-KR" sz="1400" dirty="0"/>
              <a:t>. </a:t>
            </a:r>
            <a:r>
              <a:rPr lang="en-US" altLang="ko-KR" sz="1400" b="1" dirty="0"/>
              <a:t>If you add a </a:t>
            </a:r>
            <a:r>
              <a:rPr lang="en-US" altLang="ko-KR" sz="1400" b="1" dirty="0" err="1"/>
              <a:t>NoExecute</a:t>
            </a:r>
            <a:r>
              <a:rPr lang="en-US" altLang="ko-KR" sz="1400" b="1" dirty="0"/>
              <a:t> taint to a node, pods that are already running on that node and don’t tolerate the </a:t>
            </a:r>
            <a:r>
              <a:rPr lang="en-US" altLang="ko-KR" sz="1400" b="1" dirty="0" err="1"/>
              <a:t>NoExecute</a:t>
            </a:r>
            <a:r>
              <a:rPr lang="en-US" altLang="ko-KR" sz="1400" b="1" dirty="0"/>
              <a:t> taint will be evicted from the node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AFB1B48-3783-896E-F161-D016A0C165C1}"/>
              </a:ext>
            </a:extLst>
          </p:cNvPr>
          <p:cNvPicPr>
            <a:picLocks noChangeAspect="1"/>
          </p:cNvPicPr>
          <p:nvPr/>
        </p:nvPicPr>
        <p:blipFill>
          <a:blip r:embed="rId2"/>
          <a:stretch>
            <a:fillRect/>
          </a:stretch>
        </p:blipFill>
        <p:spPr>
          <a:xfrm>
            <a:off x="3645694" y="3599155"/>
            <a:ext cx="4900612" cy="2809875"/>
          </a:xfrm>
          <a:prstGeom prst="rect">
            <a:avLst/>
          </a:prstGeom>
        </p:spPr>
      </p:pic>
    </p:spTree>
    <p:extLst>
      <p:ext uri="{BB962C8B-B14F-4D97-AF65-F5344CB8AC3E}">
        <p14:creationId xmlns:p14="http://schemas.microsoft.com/office/powerpoint/2010/main" val="4214397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Taints and Tolerations(6/11)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Custom Taints to a Node :</a:t>
            </a:r>
            <a:endParaRPr lang="en-US" altLang="ko-KR" sz="1400" dirty="0"/>
          </a:p>
          <a:p>
            <a:pPr lvl="1">
              <a:buFont typeface="Wingdings" panose="05000000000000000000" pitchFamily="2" charset="2"/>
              <a:buChar char="§"/>
            </a:pPr>
            <a:r>
              <a:rPr lang="en-US" altLang="ko-KR" sz="1400" b="1" dirty="0"/>
              <a:t>Imagine having a single Kubernetes cluster where you run both production and nonproduction workloads</a:t>
            </a:r>
            <a:r>
              <a:rPr lang="en-US" altLang="ko-KR" sz="1400" dirty="0"/>
              <a:t>. It’s of the utmost importance that </a:t>
            </a:r>
            <a:r>
              <a:rPr lang="en-US" altLang="ko-KR" sz="1400" b="1" dirty="0"/>
              <a:t>non-production pods never run on the production nodes</a:t>
            </a:r>
            <a:r>
              <a:rPr lang="en-US" altLang="ko-KR" sz="1400" dirty="0"/>
              <a:t>. This can be achieved by </a:t>
            </a:r>
            <a:r>
              <a:rPr lang="en-US" altLang="ko-KR" sz="1400" b="1" dirty="0"/>
              <a:t>adding a taint to your production nodes</a:t>
            </a:r>
            <a:r>
              <a:rPr lang="en-US" altLang="ko-KR" sz="1400" dirty="0"/>
              <a:t>. </a:t>
            </a:r>
            <a:r>
              <a:rPr lang="en-US" altLang="ko-KR" sz="1400" b="1" dirty="0"/>
              <a:t>To add a taint</a:t>
            </a:r>
            <a:r>
              <a:rPr lang="en-US" altLang="ko-KR" sz="1400" dirty="0"/>
              <a:t>, you use the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taint</a:t>
            </a:r>
            <a:r>
              <a:rPr lang="en-US" altLang="ko-KR" sz="1400" dirty="0"/>
              <a:t>”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This adds a taint with key “node-type”, value “production” and the “</a:t>
            </a:r>
            <a:r>
              <a:rPr lang="en-US" altLang="ko-KR" sz="1400" b="1" dirty="0" err="1"/>
              <a:t>NoSchedule</a:t>
            </a:r>
            <a:r>
              <a:rPr lang="en-US" altLang="ko-KR" sz="1400" b="1" dirty="0"/>
              <a:t>” effect</a:t>
            </a:r>
            <a:r>
              <a:rPr lang="en-US" altLang="ko-KR" sz="1400" dirty="0"/>
              <a:t>. </a:t>
            </a:r>
          </a:p>
          <a:p>
            <a:pPr lvl="1">
              <a:buFont typeface="Wingdings" panose="05000000000000000000" pitchFamily="2" charset="2"/>
              <a:buChar char="§"/>
            </a:pPr>
            <a:r>
              <a:rPr lang="en-US" altLang="ko-KR" sz="1400" b="1" dirty="0"/>
              <a:t>NOTE : To </a:t>
            </a:r>
            <a:r>
              <a:rPr lang="en-US" altLang="ko-KR" sz="1400" b="1" dirty="0" err="1"/>
              <a:t>untaint</a:t>
            </a:r>
            <a:r>
              <a:rPr lang="en-US" altLang="ko-KR" sz="1400" b="1" dirty="0"/>
              <a:t>, you can use the “$ </a:t>
            </a:r>
            <a:r>
              <a:rPr lang="en-US" altLang="ko-KR" sz="1400" b="1" dirty="0" err="1"/>
              <a:t>kubectl</a:t>
            </a:r>
            <a:r>
              <a:rPr lang="en-US" altLang="ko-KR" sz="1400" b="1" dirty="0"/>
              <a:t> taint node ubuntu20-04-02 </a:t>
            </a:r>
            <a:r>
              <a:rPr lang="en-US" altLang="ko-KR" sz="1400" b="1" dirty="0">
                <a:solidFill>
                  <a:srgbClr val="FF0000"/>
                </a:solidFill>
              </a:rPr>
              <a:t>node-type=</a:t>
            </a:r>
            <a:r>
              <a:rPr lang="en-US" altLang="ko-KR" sz="1400" b="1" dirty="0" err="1">
                <a:solidFill>
                  <a:srgbClr val="FF0000"/>
                </a:solidFill>
              </a:rPr>
              <a:t>production:NoSchedule</a:t>
            </a:r>
            <a:r>
              <a:rPr lang="en-US" altLang="ko-KR" sz="1400" b="1" dirty="0">
                <a:solidFill>
                  <a:srgbClr val="FF0000"/>
                </a:solidFill>
              </a:rPr>
              <a:t>-</a:t>
            </a:r>
            <a:r>
              <a:rPr lang="en-US" altLang="ko-KR" sz="1400" b="1" dirty="0"/>
              <a:t>” command</a:t>
            </a:r>
            <a:r>
              <a:rPr lang="en-US" altLang="ko-KR" sz="1400" dirty="0"/>
              <a:t>. </a:t>
            </a:r>
            <a:r>
              <a:rPr lang="en-US" altLang="ko-KR" sz="1400" b="1" dirty="0"/>
              <a:t>Add the “</a:t>
            </a:r>
            <a:r>
              <a:rPr lang="en-US" altLang="ko-KR" sz="1400" b="1" dirty="0">
                <a:solidFill>
                  <a:srgbClr val="FF0000"/>
                </a:solidFill>
              </a:rPr>
              <a:t>-</a:t>
            </a:r>
            <a:r>
              <a:rPr lang="en-US" altLang="ko-KR" sz="1400" b="1" dirty="0"/>
              <a:t>” at the end of the same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9" name="그룹 18">
            <a:extLst>
              <a:ext uri="{FF2B5EF4-FFF2-40B4-BE49-F238E27FC236}">
                <a16:creationId xmlns:a16="http://schemas.microsoft.com/office/drawing/2014/main" id="{3D0A0328-382E-9D7A-6824-362A6EBEFA54}"/>
              </a:ext>
            </a:extLst>
          </p:cNvPr>
          <p:cNvGrpSpPr/>
          <p:nvPr/>
        </p:nvGrpSpPr>
        <p:grpSpPr>
          <a:xfrm>
            <a:off x="838200" y="1907196"/>
            <a:ext cx="10515600" cy="3512970"/>
            <a:chOff x="838200" y="1907196"/>
            <a:chExt cx="10515600" cy="3512970"/>
          </a:xfrm>
        </p:grpSpPr>
        <p:grpSp>
          <p:nvGrpSpPr>
            <p:cNvPr id="14" name="그룹 13">
              <a:extLst>
                <a:ext uri="{FF2B5EF4-FFF2-40B4-BE49-F238E27FC236}">
                  <a16:creationId xmlns:a16="http://schemas.microsoft.com/office/drawing/2014/main" id="{BF84869B-6761-CD35-1E22-5F985C7F09B5}"/>
                </a:ext>
              </a:extLst>
            </p:cNvPr>
            <p:cNvGrpSpPr/>
            <p:nvPr/>
          </p:nvGrpSpPr>
          <p:grpSpPr>
            <a:xfrm>
              <a:off x="838200" y="1907196"/>
              <a:ext cx="10515600" cy="3512970"/>
              <a:chOff x="838200" y="1680619"/>
              <a:chExt cx="10515600" cy="3512970"/>
            </a:xfrm>
          </p:grpSpPr>
          <p:pic>
            <p:nvPicPr>
              <p:cNvPr id="8" name="그림 7">
                <a:extLst>
                  <a:ext uri="{FF2B5EF4-FFF2-40B4-BE49-F238E27FC236}">
                    <a16:creationId xmlns:a16="http://schemas.microsoft.com/office/drawing/2014/main" id="{366A8A2D-7192-6B99-69DF-CB033F56EEFA}"/>
                  </a:ext>
                </a:extLst>
              </p:cNvPr>
              <p:cNvPicPr>
                <a:picLocks noChangeAspect="1"/>
              </p:cNvPicPr>
              <p:nvPr/>
            </p:nvPicPr>
            <p:blipFill>
              <a:blip r:embed="rId2"/>
              <a:stretch>
                <a:fillRect/>
              </a:stretch>
            </p:blipFill>
            <p:spPr>
              <a:xfrm>
                <a:off x="838200" y="2366406"/>
                <a:ext cx="10515600" cy="1664970"/>
              </a:xfrm>
              <a:prstGeom prst="rect">
                <a:avLst/>
              </a:prstGeom>
            </p:spPr>
          </p:pic>
          <p:sp>
            <p:nvSpPr>
              <p:cNvPr id="10" name="TextBox 9">
                <a:extLst>
                  <a:ext uri="{FF2B5EF4-FFF2-40B4-BE49-F238E27FC236}">
                    <a16:creationId xmlns:a16="http://schemas.microsoft.com/office/drawing/2014/main" id="{4C55BDB5-E51D-19E9-DEFF-2446264DC9C4}"/>
                  </a:ext>
                </a:extLst>
              </p:cNvPr>
              <p:cNvSpPr txBox="1"/>
              <p:nvPr/>
            </p:nvSpPr>
            <p:spPr>
              <a:xfrm>
                <a:off x="3047326" y="1680619"/>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taint node </a:t>
                </a:r>
                <a:r>
                  <a:rPr lang="en-US" altLang="ko-KR" sz="1000" b="1" dirty="0">
                    <a:solidFill>
                      <a:srgbClr val="FF0000"/>
                    </a:solidFill>
                  </a:rPr>
                  <a:t>ubuntu20-04-02</a:t>
                </a:r>
                <a:r>
                  <a:rPr lang="en-US" altLang="ko-KR" sz="1000" b="1" dirty="0"/>
                  <a:t> </a:t>
                </a:r>
                <a:r>
                  <a:rPr lang="en-US" altLang="ko-KR" sz="1000" b="1" dirty="0">
                    <a:solidFill>
                      <a:srgbClr val="FF0000"/>
                    </a:solidFill>
                  </a:rPr>
                  <a:t>node-type=</a:t>
                </a:r>
                <a:r>
                  <a:rPr lang="en-US" altLang="ko-KR" sz="1000" b="1" dirty="0" err="1">
                    <a:solidFill>
                      <a:srgbClr val="FF0000"/>
                    </a:solidFill>
                  </a:rPr>
                  <a:t>production:NoSchedule</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describe </a:t>
                </a:r>
                <a:r>
                  <a:rPr lang="en-US" altLang="ko-KR" sz="1000" b="1" dirty="0">
                    <a:solidFill>
                      <a:srgbClr val="FF0000"/>
                    </a:solidFill>
                  </a:rPr>
                  <a:t>node ubuntu20-04-02</a:t>
                </a:r>
              </a:p>
            </p:txBody>
          </p:sp>
          <p:sp>
            <p:nvSpPr>
              <p:cNvPr id="11" name="화살표: 아래쪽 10">
                <a:extLst>
                  <a:ext uri="{FF2B5EF4-FFF2-40B4-BE49-F238E27FC236}">
                    <a16:creationId xmlns:a16="http://schemas.microsoft.com/office/drawing/2014/main" id="{E2143DB2-0FA6-D83D-3C18-8AFC540F919D}"/>
                  </a:ext>
                </a:extLst>
              </p:cNvPr>
              <p:cNvSpPr/>
              <p:nvPr/>
            </p:nvSpPr>
            <p:spPr>
              <a:xfrm>
                <a:off x="5885607" y="2107461"/>
                <a:ext cx="420786" cy="2589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F9ADC5B3-D3E9-08B4-31A3-E5C41A905AFA}"/>
                  </a:ext>
                </a:extLst>
              </p:cNvPr>
              <p:cNvPicPr>
                <a:picLocks noChangeAspect="1"/>
              </p:cNvPicPr>
              <p:nvPr/>
            </p:nvPicPr>
            <p:blipFill>
              <a:blip r:embed="rId3"/>
              <a:stretch>
                <a:fillRect/>
              </a:stretch>
            </p:blipFill>
            <p:spPr>
              <a:xfrm>
                <a:off x="838200" y="3528619"/>
                <a:ext cx="10515600" cy="1664970"/>
              </a:xfrm>
              <a:prstGeom prst="rect">
                <a:avLst/>
              </a:prstGeom>
            </p:spPr>
          </p:pic>
        </p:grpSp>
        <p:sp>
          <p:nvSpPr>
            <p:cNvPr id="15" name="직사각형 14">
              <a:extLst>
                <a:ext uri="{FF2B5EF4-FFF2-40B4-BE49-F238E27FC236}">
                  <a16:creationId xmlns:a16="http://schemas.microsoft.com/office/drawing/2014/main" id="{28176E16-7AF5-F93B-B38B-EFFC501E6631}"/>
                </a:ext>
              </a:extLst>
            </p:cNvPr>
            <p:cNvSpPr/>
            <p:nvPr/>
          </p:nvSpPr>
          <p:spPr>
            <a:xfrm>
              <a:off x="946768" y="4834717"/>
              <a:ext cx="3706152" cy="2023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47454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Taints and Tolerations(7/11)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Custom Taints to a Node :</a:t>
            </a:r>
            <a:endParaRPr lang="en-US" altLang="ko-KR" sz="1400" dirty="0"/>
          </a:p>
          <a:p>
            <a:pPr lvl="1">
              <a:buFont typeface="Wingdings" panose="05000000000000000000" pitchFamily="2" charset="2"/>
              <a:buChar char="§"/>
            </a:pPr>
            <a:r>
              <a:rPr lang="en-US" altLang="ko-KR" sz="1400" b="1" dirty="0"/>
              <a:t>If you now deploy multiple replicas of a regular pod, you’ll see none of them are scheduled to the node you tainted</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As you can see from the above screenshot, the “test-xxx-xxx” pods are pending. Those pods are not schedulable in worker nodes now because of </a:t>
            </a:r>
            <a:r>
              <a:rPr lang="en-US" altLang="ko-KR" sz="1400" b="1" dirty="0">
                <a:solidFill>
                  <a:srgbClr val="FF0000"/>
                </a:solidFill>
              </a:rPr>
              <a:t>the taints for “ubuntu20-04-02” </a:t>
            </a:r>
            <a:r>
              <a:rPr lang="en-US" altLang="ko-KR" sz="1400" b="1" dirty="0"/>
              <a:t>node. Only “production” can be schedulable on that node.</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E4C35184-DC72-5B79-2AF0-A23C4CB39F67}"/>
              </a:ext>
            </a:extLst>
          </p:cNvPr>
          <p:cNvGrpSpPr/>
          <p:nvPr/>
        </p:nvGrpSpPr>
        <p:grpSpPr>
          <a:xfrm>
            <a:off x="838200" y="1732212"/>
            <a:ext cx="10515600" cy="3050267"/>
            <a:chOff x="838200" y="1732212"/>
            <a:chExt cx="10515600" cy="3050267"/>
          </a:xfrm>
        </p:grpSpPr>
        <p:grpSp>
          <p:nvGrpSpPr>
            <p:cNvPr id="12" name="그룹 11">
              <a:extLst>
                <a:ext uri="{FF2B5EF4-FFF2-40B4-BE49-F238E27FC236}">
                  <a16:creationId xmlns:a16="http://schemas.microsoft.com/office/drawing/2014/main" id="{EC4D5C02-1426-34F4-4631-AB6CADB4DA60}"/>
                </a:ext>
              </a:extLst>
            </p:cNvPr>
            <p:cNvGrpSpPr/>
            <p:nvPr/>
          </p:nvGrpSpPr>
          <p:grpSpPr>
            <a:xfrm>
              <a:off x="838200" y="1732212"/>
              <a:ext cx="10515600" cy="3050267"/>
              <a:chOff x="838200" y="1732212"/>
              <a:chExt cx="10515600" cy="3050267"/>
            </a:xfrm>
          </p:grpSpPr>
          <p:sp>
            <p:nvSpPr>
              <p:cNvPr id="8" name="TextBox 7">
                <a:extLst>
                  <a:ext uri="{FF2B5EF4-FFF2-40B4-BE49-F238E27FC236}">
                    <a16:creationId xmlns:a16="http://schemas.microsoft.com/office/drawing/2014/main" id="{F5DC3D7A-1B46-BB01-579E-899B7FF7ADDE}"/>
                  </a:ext>
                </a:extLst>
              </p:cNvPr>
              <p:cNvSpPr txBox="1"/>
              <p:nvPr/>
            </p:nvSpPr>
            <p:spPr>
              <a:xfrm>
                <a:off x="3047326" y="1732212"/>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test.yaml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get pods -o wide</a:t>
                </a:r>
                <a:endParaRPr lang="ko-KR" altLang="en-US" sz="1000" b="1" dirty="0"/>
              </a:p>
            </p:txBody>
          </p:sp>
          <p:sp>
            <p:nvSpPr>
              <p:cNvPr id="9" name="화살표: 아래쪽 8">
                <a:extLst>
                  <a:ext uri="{FF2B5EF4-FFF2-40B4-BE49-F238E27FC236}">
                    <a16:creationId xmlns:a16="http://schemas.microsoft.com/office/drawing/2014/main" id="{5E1920F2-ED2C-5DCB-CC29-96F6E5F72449}"/>
                  </a:ext>
                </a:extLst>
              </p:cNvPr>
              <p:cNvSpPr/>
              <p:nvPr/>
            </p:nvSpPr>
            <p:spPr>
              <a:xfrm>
                <a:off x="5885607" y="2132322"/>
                <a:ext cx="420786" cy="29940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0FB9812B-ADB1-4E01-6326-94FB2BDCFC83}"/>
                  </a:ext>
                </a:extLst>
              </p:cNvPr>
              <p:cNvPicPr>
                <a:picLocks noChangeAspect="1"/>
              </p:cNvPicPr>
              <p:nvPr/>
            </p:nvPicPr>
            <p:blipFill>
              <a:blip r:embed="rId2"/>
              <a:stretch>
                <a:fillRect/>
              </a:stretch>
            </p:blipFill>
            <p:spPr>
              <a:xfrm>
                <a:off x="838200" y="2451521"/>
                <a:ext cx="10515600" cy="2330958"/>
              </a:xfrm>
              <a:prstGeom prst="rect">
                <a:avLst/>
              </a:prstGeom>
            </p:spPr>
          </p:pic>
        </p:grpSp>
        <p:sp>
          <p:nvSpPr>
            <p:cNvPr id="13" name="직사각형 12">
              <a:extLst>
                <a:ext uri="{FF2B5EF4-FFF2-40B4-BE49-F238E27FC236}">
                  <a16:creationId xmlns:a16="http://schemas.microsoft.com/office/drawing/2014/main" id="{A71C22D4-F6EC-B3C5-FFEF-B61ED4F1D526}"/>
                </a:ext>
              </a:extLst>
            </p:cNvPr>
            <p:cNvSpPr/>
            <p:nvPr/>
          </p:nvSpPr>
          <p:spPr>
            <a:xfrm>
              <a:off x="946768" y="3981281"/>
              <a:ext cx="4086478" cy="4855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34016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Taints and Tolerations(8/11)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Tolerations to Pods :</a:t>
            </a:r>
            <a:endParaRPr lang="en-US" altLang="ko-KR" sz="1400" dirty="0"/>
          </a:p>
          <a:p>
            <a:pPr lvl="1">
              <a:buFont typeface="Wingdings" panose="05000000000000000000" pitchFamily="2" charset="2"/>
              <a:buChar char="§"/>
            </a:pPr>
            <a:r>
              <a:rPr lang="en-US" altLang="ko-KR" sz="1400" b="1" dirty="0"/>
              <a:t>To deploy production pods to the production nodes, they need to </a:t>
            </a:r>
            <a:r>
              <a:rPr lang="en-US" altLang="ko-KR" sz="1400" b="1" dirty="0">
                <a:solidFill>
                  <a:srgbClr val="FF0000"/>
                </a:solidFill>
              </a:rPr>
              <a:t>tolerate the taint </a:t>
            </a:r>
            <a:r>
              <a:rPr lang="en-US" altLang="ko-KR" sz="1400" b="1" dirty="0"/>
              <a:t>you added to the nodes</a:t>
            </a:r>
            <a:r>
              <a:rPr lang="en-US" altLang="ko-KR" sz="1400" dirty="0"/>
              <a:t>. </a:t>
            </a:r>
            <a:r>
              <a:rPr lang="en-US" altLang="ko-KR" sz="1400" b="1" dirty="0"/>
              <a:t>The manifests of your </a:t>
            </a:r>
            <a:r>
              <a:rPr lang="en-US" altLang="ko-KR" sz="1400" b="1" dirty="0">
                <a:solidFill>
                  <a:srgbClr val="FF0000"/>
                </a:solidFill>
              </a:rPr>
              <a:t>production</a:t>
            </a:r>
            <a:r>
              <a:rPr lang="en-US" altLang="ko-KR" sz="1400" b="1" dirty="0"/>
              <a:t> pods </a:t>
            </a:r>
            <a:r>
              <a:rPr lang="en-US" altLang="ko-KR" sz="1400" dirty="0"/>
              <a:t>need to include the YAML snippet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To prevent a pod deployed to a </a:t>
            </a:r>
            <a:r>
              <a:rPr lang="en-US" altLang="ko-KR" sz="1400" b="1" dirty="0">
                <a:solidFill>
                  <a:srgbClr val="FF0000"/>
                </a:solidFill>
              </a:rPr>
              <a:t>non-production</a:t>
            </a:r>
            <a:r>
              <a:rPr lang="en-US" altLang="ko-KR" sz="1400" b="1" dirty="0"/>
              <a:t> </a:t>
            </a:r>
            <a:r>
              <a:rPr lang="en-US" altLang="ko-KR" sz="1400" b="1" dirty="0">
                <a:solidFill>
                  <a:srgbClr val="FF0000"/>
                </a:solidFill>
              </a:rPr>
              <a:t>node</a:t>
            </a:r>
            <a:r>
              <a:rPr lang="en-US" altLang="ko-KR" sz="1400" b="1" dirty="0"/>
              <a:t>, you’d also need to </a:t>
            </a:r>
            <a:r>
              <a:rPr lang="en-US" altLang="ko-KR" sz="1400" b="1" dirty="0">
                <a:solidFill>
                  <a:srgbClr val="FF0000"/>
                </a:solidFill>
              </a:rPr>
              <a:t>taint the non-production nodes</a:t>
            </a:r>
            <a:r>
              <a:rPr lang="en-US" altLang="ko-KR" sz="1400" b="1" dirty="0"/>
              <a:t> with a taint such as “</a:t>
            </a:r>
            <a:r>
              <a:rPr lang="en-US" altLang="ko-KR" sz="1400" b="1" dirty="0">
                <a:solidFill>
                  <a:srgbClr val="FF0000"/>
                </a:solidFill>
              </a:rPr>
              <a:t>node-type=</a:t>
            </a:r>
            <a:r>
              <a:rPr lang="en-US" altLang="ko-KR" sz="1400" b="1" dirty="0" err="1">
                <a:solidFill>
                  <a:srgbClr val="FF0000"/>
                </a:solidFill>
              </a:rPr>
              <a:t>non-production:NoSchedule</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EE49387-26E7-4CCF-3445-5CCDAF3B8291}"/>
              </a:ext>
            </a:extLst>
          </p:cNvPr>
          <p:cNvGrpSpPr/>
          <p:nvPr/>
        </p:nvGrpSpPr>
        <p:grpSpPr>
          <a:xfrm>
            <a:off x="3047326" y="1690062"/>
            <a:ext cx="6097348" cy="3477875"/>
            <a:chOff x="3047326" y="1660885"/>
            <a:chExt cx="6097348" cy="3477875"/>
          </a:xfrm>
        </p:grpSpPr>
        <p:sp>
          <p:nvSpPr>
            <p:cNvPr id="8" name="TextBox 7">
              <a:extLst>
                <a:ext uri="{FF2B5EF4-FFF2-40B4-BE49-F238E27FC236}">
                  <a16:creationId xmlns:a16="http://schemas.microsoft.com/office/drawing/2014/main" id="{6E9BD3D7-3810-02F7-163A-E5EDD8831BA1}"/>
                </a:ext>
              </a:extLst>
            </p:cNvPr>
            <p:cNvSpPr txBox="1"/>
            <p:nvPr/>
          </p:nvSpPr>
          <p:spPr>
            <a:xfrm>
              <a:off x="3047326" y="1660885"/>
              <a:ext cx="6097348" cy="3477875"/>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apps/v1</a:t>
              </a:r>
            </a:p>
            <a:p>
              <a:r>
                <a:rPr lang="en-US" altLang="ko-KR" sz="1000" b="1" dirty="0"/>
                <a:t>kind: Deployment</a:t>
              </a:r>
            </a:p>
            <a:p>
              <a:r>
                <a:rPr lang="en-US" altLang="ko-KR" sz="1000" b="1" dirty="0"/>
                <a:t>metadata:</a:t>
              </a:r>
            </a:p>
            <a:p>
              <a:r>
                <a:rPr lang="en-US" altLang="ko-KR" sz="1000" b="1" dirty="0"/>
                <a:t>  name: prod</a:t>
              </a:r>
            </a:p>
            <a:p>
              <a:r>
                <a:rPr lang="en-US" altLang="ko-KR" sz="1000" b="1" dirty="0"/>
                <a:t>spec:</a:t>
              </a:r>
            </a:p>
            <a:p>
              <a:r>
                <a:rPr lang="en-US" altLang="ko-KR" sz="1000" b="1" dirty="0"/>
                <a:t>  replicas: 5</a:t>
              </a:r>
            </a:p>
            <a:p>
              <a:r>
                <a:rPr lang="en-US" altLang="ko-KR" sz="1000" b="1" dirty="0"/>
                <a:t>  template:</a:t>
              </a:r>
            </a:p>
            <a:p>
              <a:r>
                <a:rPr lang="en-US" altLang="ko-KR" sz="1000" b="1" dirty="0"/>
                <a:t>    metadata:</a:t>
              </a:r>
            </a:p>
            <a:p>
              <a:r>
                <a:rPr lang="en-US" altLang="ko-KR" sz="1000" b="1" dirty="0"/>
                <a:t>      labels:</a:t>
              </a:r>
            </a:p>
            <a:p>
              <a:r>
                <a:rPr lang="en-US" altLang="ko-KR" sz="1000" b="1" dirty="0"/>
                <a:t>        app: prod</a:t>
              </a:r>
            </a:p>
            <a:p>
              <a:r>
                <a:rPr lang="en-US" altLang="ko-KR" sz="1000" b="1" dirty="0"/>
                <a:t>    spec:</a:t>
              </a:r>
            </a:p>
            <a:p>
              <a:r>
                <a:rPr lang="en-US" altLang="ko-KR" sz="1000" b="1" dirty="0"/>
                <a:t>      containers:</a:t>
              </a:r>
            </a:p>
            <a:p>
              <a:r>
                <a:rPr lang="en-US" altLang="ko-KR" sz="1000" b="1" dirty="0"/>
                <a:t>      - </a:t>
              </a:r>
              <a:r>
                <a:rPr lang="en-US" altLang="ko-KR" sz="1000" b="1" dirty="0" err="1"/>
                <a:t>args</a:t>
              </a:r>
              <a:r>
                <a:rPr lang="en-US" altLang="ko-KR" sz="1000" b="1" dirty="0"/>
                <a:t>:</a:t>
              </a:r>
            </a:p>
            <a:p>
              <a:r>
                <a:rPr lang="en-US" altLang="ko-KR" sz="1000" b="1" dirty="0"/>
                <a:t>        - sleep</a:t>
              </a:r>
            </a:p>
            <a:p>
              <a:r>
                <a:rPr lang="en-US" altLang="ko-KR" sz="1000" b="1" dirty="0"/>
                <a:t>        - "99999"</a:t>
              </a:r>
            </a:p>
            <a:p>
              <a:r>
                <a:rPr lang="en-US" altLang="ko-KR" sz="1000" b="1" dirty="0"/>
                <a:t>        image: </a:t>
              </a:r>
              <a:r>
                <a:rPr lang="en-US" altLang="ko-KR" sz="1000" b="1" dirty="0" err="1"/>
                <a:t>busybox</a:t>
              </a:r>
              <a:endParaRPr lang="en-US" altLang="ko-KR" sz="1000" b="1" dirty="0"/>
            </a:p>
            <a:p>
              <a:r>
                <a:rPr lang="en-US" altLang="ko-KR" sz="1000" b="1" dirty="0"/>
                <a:t>        name: main</a:t>
              </a:r>
            </a:p>
            <a:p>
              <a:r>
                <a:rPr lang="en-US" altLang="ko-KR" sz="1000" b="1" dirty="0"/>
                <a:t>      </a:t>
              </a:r>
              <a:r>
                <a:rPr lang="en-US" altLang="ko-KR" sz="1000" b="1" dirty="0">
                  <a:solidFill>
                    <a:srgbClr val="FF0000"/>
                  </a:solidFill>
                </a:rPr>
                <a:t>tolerations:</a:t>
              </a:r>
            </a:p>
            <a:p>
              <a:r>
                <a:rPr lang="en-US" altLang="ko-KR" sz="1000" b="1" dirty="0">
                  <a:solidFill>
                    <a:srgbClr val="FF0000"/>
                  </a:solidFill>
                </a:rPr>
                <a:t>      - key: node-type</a:t>
              </a:r>
            </a:p>
            <a:p>
              <a:r>
                <a:rPr lang="en-US" altLang="ko-KR" sz="1000" b="1" dirty="0">
                  <a:solidFill>
                    <a:srgbClr val="FF0000"/>
                  </a:solidFill>
                </a:rPr>
                <a:t>        operator: Equal</a:t>
              </a:r>
            </a:p>
            <a:p>
              <a:r>
                <a:rPr lang="en-US" altLang="ko-KR" sz="1000" b="1" dirty="0">
                  <a:solidFill>
                    <a:srgbClr val="FF0000"/>
                  </a:solidFill>
                </a:rPr>
                <a:t>        value: production</a:t>
              </a:r>
            </a:p>
            <a:p>
              <a:r>
                <a:rPr lang="en-US" altLang="ko-KR" sz="1000" b="1" dirty="0">
                  <a:solidFill>
                    <a:srgbClr val="FF0000"/>
                  </a:solidFill>
                </a:rPr>
                <a:t>        effect: </a:t>
              </a:r>
              <a:r>
                <a:rPr lang="en-US" altLang="ko-KR" sz="1000" b="1" dirty="0" err="1">
                  <a:solidFill>
                    <a:srgbClr val="FF0000"/>
                  </a:solidFill>
                </a:rPr>
                <a:t>NoSchedule</a:t>
              </a:r>
              <a:endParaRPr lang="ko-KR" altLang="en-US" sz="1000" b="1" dirty="0">
                <a:solidFill>
                  <a:srgbClr val="FF0000"/>
                </a:solidFill>
              </a:endParaRPr>
            </a:p>
          </p:txBody>
        </p:sp>
        <p:sp>
          <p:nvSpPr>
            <p:cNvPr id="9" name="TextBox 8">
              <a:extLst>
                <a:ext uri="{FF2B5EF4-FFF2-40B4-BE49-F238E27FC236}">
                  <a16:creationId xmlns:a16="http://schemas.microsoft.com/office/drawing/2014/main" id="{F9CD176D-78E8-6BF6-78B7-0A7B98369645}"/>
                </a:ext>
              </a:extLst>
            </p:cNvPr>
            <p:cNvSpPr txBox="1"/>
            <p:nvPr/>
          </p:nvSpPr>
          <p:spPr>
            <a:xfrm>
              <a:off x="7174263" y="1660885"/>
              <a:ext cx="1970411" cy="246221"/>
            </a:xfrm>
            <a:prstGeom prst="rect">
              <a:avLst/>
            </a:prstGeom>
            <a:noFill/>
          </p:spPr>
          <p:txBody>
            <a:bodyPr wrap="none" rtlCol="0">
              <a:spAutoFit/>
            </a:bodyPr>
            <a:lstStyle/>
            <a:p>
              <a:pPr algn="l"/>
              <a:r>
                <a:rPr lang="en-US" altLang="ko-KR" sz="1000" b="1" dirty="0"/>
                <a:t>production-</a:t>
              </a:r>
              <a:r>
                <a:rPr lang="en-US" altLang="ko-KR" sz="1000" b="1" dirty="0" err="1"/>
                <a:t>deployment.yaml</a:t>
              </a:r>
              <a:endParaRPr lang="ko-KR" altLang="en-US" sz="1000" b="1" dirty="0"/>
            </a:p>
          </p:txBody>
        </p:sp>
      </p:grpSp>
    </p:spTree>
    <p:extLst>
      <p:ext uri="{BB962C8B-B14F-4D97-AF65-F5344CB8AC3E}">
        <p14:creationId xmlns:p14="http://schemas.microsoft.com/office/powerpoint/2010/main" val="2827458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Taints and Tolerations(9/11)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Tolerations to Pods :</a:t>
            </a:r>
            <a:endParaRPr lang="en-US" altLang="ko-KR" sz="1400" dirty="0"/>
          </a:p>
          <a:p>
            <a:pPr lvl="1">
              <a:buFont typeface="Wingdings" panose="05000000000000000000" pitchFamily="2" charset="2"/>
              <a:buChar char="§"/>
            </a:pPr>
            <a:r>
              <a:rPr lang="en-US" altLang="ko-KR" sz="1400" dirty="0"/>
              <a:t>If you </a:t>
            </a:r>
            <a:r>
              <a:rPr lang="en-US" altLang="ko-KR" sz="1400" b="1" dirty="0"/>
              <a:t>deploy the previous Deployment</a:t>
            </a:r>
            <a:r>
              <a:rPr lang="en-US" altLang="ko-KR" sz="1400" dirty="0"/>
              <a:t>, you’ll see </a:t>
            </a:r>
            <a:r>
              <a:rPr lang="en-US" altLang="ko-KR" sz="1400" b="1" dirty="0"/>
              <a:t>its pods get deployed to the </a:t>
            </a:r>
            <a:r>
              <a:rPr lang="en-US" altLang="ko-KR" sz="1400" b="1" dirty="0">
                <a:solidFill>
                  <a:srgbClr val="FF0000"/>
                </a:solidFill>
              </a:rPr>
              <a:t>production</a:t>
            </a:r>
            <a:r>
              <a:rPr lang="en-US" altLang="ko-KR" sz="1400" b="1" dirty="0"/>
              <a:t> node</a:t>
            </a:r>
            <a:r>
              <a:rPr lang="en-US" altLang="ko-KR" sz="1400" dirty="0"/>
              <a:t>, as shown in the next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D8B921B9-080E-E4E8-4476-5C4A108FF1FF}"/>
              </a:ext>
            </a:extLst>
          </p:cNvPr>
          <p:cNvGrpSpPr/>
          <p:nvPr/>
        </p:nvGrpSpPr>
        <p:grpSpPr>
          <a:xfrm>
            <a:off x="838200" y="1758043"/>
            <a:ext cx="10515600" cy="4650987"/>
            <a:chOff x="838200" y="1758043"/>
            <a:chExt cx="10515600" cy="4650987"/>
          </a:xfrm>
        </p:grpSpPr>
        <p:grpSp>
          <p:nvGrpSpPr>
            <p:cNvPr id="13" name="그룹 12">
              <a:extLst>
                <a:ext uri="{FF2B5EF4-FFF2-40B4-BE49-F238E27FC236}">
                  <a16:creationId xmlns:a16="http://schemas.microsoft.com/office/drawing/2014/main" id="{23C7C9EB-B029-D66A-F8EE-A8EC8F5693D9}"/>
                </a:ext>
              </a:extLst>
            </p:cNvPr>
            <p:cNvGrpSpPr/>
            <p:nvPr/>
          </p:nvGrpSpPr>
          <p:grpSpPr>
            <a:xfrm>
              <a:off x="838200" y="1758043"/>
              <a:ext cx="10515600" cy="4650987"/>
              <a:chOff x="838200" y="1758043"/>
              <a:chExt cx="10515600" cy="4650987"/>
            </a:xfrm>
          </p:grpSpPr>
          <p:pic>
            <p:nvPicPr>
              <p:cNvPr id="9" name="그림 8">
                <a:extLst>
                  <a:ext uri="{FF2B5EF4-FFF2-40B4-BE49-F238E27FC236}">
                    <a16:creationId xmlns:a16="http://schemas.microsoft.com/office/drawing/2014/main" id="{68A7BD7E-B96C-23AA-155B-FA38266E5BB4}"/>
                  </a:ext>
                </a:extLst>
              </p:cNvPr>
              <p:cNvPicPr>
                <a:picLocks noChangeAspect="1"/>
              </p:cNvPicPr>
              <p:nvPr/>
            </p:nvPicPr>
            <p:blipFill>
              <a:blip r:embed="rId2"/>
              <a:stretch>
                <a:fillRect/>
              </a:stretch>
            </p:blipFill>
            <p:spPr>
              <a:xfrm>
                <a:off x="838200" y="2316709"/>
                <a:ext cx="10515600" cy="4092321"/>
              </a:xfrm>
              <a:prstGeom prst="rect">
                <a:avLst/>
              </a:prstGeom>
            </p:spPr>
          </p:pic>
          <p:sp>
            <p:nvSpPr>
              <p:cNvPr id="11" name="TextBox 10">
                <a:extLst>
                  <a:ext uri="{FF2B5EF4-FFF2-40B4-BE49-F238E27FC236}">
                    <a16:creationId xmlns:a16="http://schemas.microsoft.com/office/drawing/2014/main" id="{72408D17-0387-B60A-9B32-BBC2D8C0D4C8}"/>
                  </a:ext>
                </a:extLst>
              </p:cNvPr>
              <p:cNvSpPr txBox="1"/>
              <p:nvPr/>
            </p:nvSpPr>
            <p:spPr>
              <a:xfrm>
                <a:off x="3047326" y="1758043"/>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production-</a:t>
                </a:r>
                <a:r>
                  <a:rPr lang="en-US" altLang="ko-KR" sz="1000" b="1" dirty="0" err="1">
                    <a:solidFill>
                      <a:srgbClr val="FF0000"/>
                    </a:solidFill>
                  </a:rPr>
                  <a:t>deployment.yaml</a:t>
                </a:r>
                <a:r>
                  <a:rPr lang="en-US" altLang="ko-KR" sz="1000" b="1" dirty="0">
                    <a:solidFill>
                      <a:srgbClr val="FF0000"/>
                    </a:solidFill>
                  </a:rPr>
                  <a:t> </a:t>
                </a:r>
                <a:endParaRPr lang="ko-KR" altLang="en-US" sz="1000" b="1" dirty="0">
                  <a:solidFill>
                    <a:srgbClr val="FF0000"/>
                  </a:solidFill>
                </a:endParaRPr>
              </a:p>
            </p:txBody>
          </p:sp>
          <p:sp>
            <p:nvSpPr>
              <p:cNvPr id="12" name="화살표: 아래쪽 11">
                <a:extLst>
                  <a:ext uri="{FF2B5EF4-FFF2-40B4-BE49-F238E27FC236}">
                    <a16:creationId xmlns:a16="http://schemas.microsoft.com/office/drawing/2014/main" id="{330F9078-10A7-13E6-E804-C98F5227D86A}"/>
                  </a:ext>
                </a:extLst>
              </p:cNvPr>
              <p:cNvSpPr/>
              <p:nvPr/>
            </p:nvSpPr>
            <p:spPr>
              <a:xfrm>
                <a:off x="5856610" y="2004264"/>
                <a:ext cx="478780" cy="3124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4" name="직사각형 13">
              <a:extLst>
                <a:ext uri="{FF2B5EF4-FFF2-40B4-BE49-F238E27FC236}">
                  <a16:creationId xmlns:a16="http://schemas.microsoft.com/office/drawing/2014/main" id="{785985C7-6979-098D-7C6A-6F02B384A5A5}"/>
                </a:ext>
              </a:extLst>
            </p:cNvPr>
            <p:cNvSpPr/>
            <p:nvPr/>
          </p:nvSpPr>
          <p:spPr>
            <a:xfrm>
              <a:off x="906308" y="4919958"/>
              <a:ext cx="8828411" cy="7444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54555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684858" cy="383582"/>
          </a:xfrm>
        </p:spPr>
        <p:txBody>
          <a:bodyPr>
            <a:normAutofit fontScale="90000"/>
          </a:bodyPr>
          <a:lstStyle/>
          <a:p>
            <a:r>
              <a:rPr lang="en-US" altLang="ko-KR" sz="2800" b="1" dirty="0"/>
              <a:t>Using Taints and Tolerations(10/11)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What Taints and Tolerations Can Be Used for :</a:t>
            </a:r>
            <a:endParaRPr lang="en-US" altLang="ko-KR" sz="1400" dirty="0"/>
          </a:p>
          <a:p>
            <a:pPr lvl="1">
              <a:buFont typeface="Wingdings" panose="05000000000000000000" pitchFamily="2" charset="2"/>
              <a:buChar char="§"/>
            </a:pPr>
            <a:r>
              <a:rPr lang="en-US" altLang="ko-KR" sz="1400" b="1" dirty="0"/>
              <a:t>Nodes can have more than one taint and pods can have more than one toleration</a:t>
            </a:r>
            <a:r>
              <a:rPr lang="en-US" altLang="ko-KR" sz="1400" dirty="0"/>
              <a:t>. </a:t>
            </a:r>
            <a:r>
              <a:rPr lang="en-US" altLang="ko-KR" sz="1400" b="1" dirty="0"/>
              <a:t>As you’ve seen, taints can only have a </a:t>
            </a:r>
            <a:r>
              <a:rPr lang="en-US" altLang="ko-KR" sz="1400" b="1" dirty="0">
                <a:solidFill>
                  <a:srgbClr val="FF0000"/>
                </a:solidFill>
              </a:rPr>
              <a:t>key</a:t>
            </a:r>
            <a:r>
              <a:rPr lang="en-US" altLang="ko-KR" sz="1400" b="1" dirty="0"/>
              <a:t> and an </a:t>
            </a:r>
            <a:r>
              <a:rPr lang="en-US" altLang="ko-KR" sz="1400" b="1" dirty="0">
                <a:solidFill>
                  <a:srgbClr val="FF0000"/>
                </a:solidFill>
              </a:rPr>
              <a:t>effect</a:t>
            </a:r>
            <a:r>
              <a:rPr lang="en-US" altLang="ko-KR" sz="1400" b="1" dirty="0"/>
              <a:t> and don’t require a value</a:t>
            </a:r>
            <a:r>
              <a:rPr lang="en-US" altLang="ko-KR" sz="1400" dirty="0"/>
              <a:t>. </a:t>
            </a:r>
            <a:r>
              <a:rPr lang="en-US" altLang="ko-KR" sz="1400" b="1" dirty="0">
                <a:solidFill>
                  <a:srgbClr val="FF0000"/>
                </a:solidFill>
              </a:rPr>
              <a:t>Tolerations can tolerate a specific value by specifying the Equal operator</a:t>
            </a:r>
            <a:r>
              <a:rPr lang="en-US" altLang="ko-KR" sz="1400" b="1" dirty="0"/>
              <a:t> (that’s also the default operator if you don’t specify one), or they can tolerate any value for a specific taint key if you use the “</a:t>
            </a:r>
            <a:r>
              <a:rPr lang="en-US" altLang="ko-KR" sz="1400" b="1" dirty="0">
                <a:solidFill>
                  <a:srgbClr val="FF0000"/>
                </a:solidFill>
              </a:rPr>
              <a:t>Exists</a:t>
            </a:r>
            <a:r>
              <a:rPr lang="en-US" altLang="ko-KR" sz="1400" b="1" dirty="0"/>
              <a:t>” operator</a:t>
            </a:r>
            <a:r>
              <a:rPr lang="en-US" altLang="ko-KR" sz="1400" dirty="0"/>
              <a:t>.</a:t>
            </a:r>
          </a:p>
          <a:p>
            <a:pPr lvl="1">
              <a:buFont typeface="Wingdings" panose="05000000000000000000" pitchFamily="2" charset="2"/>
              <a:buChar char="§"/>
            </a:pPr>
            <a:r>
              <a:rPr lang="en-US" altLang="ko-KR" sz="1400" b="1" dirty="0"/>
              <a:t>Taints can be used to prevent scheduling of new pods (</a:t>
            </a:r>
            <a:r>
              <a:rPr lang="en-US" altLang="ko-KR" sz="1400" b="1" dirty="0" err="1">
                <a:solidFill>
                  <a:srgbClr val="FF0000"/>
                </a:solidFill>
              </a:rPr>
              <a:t>NoSchedule</a:t>
            </a:r>
            <a:r>
              <a:rPr lang="en-US" altLang="ko-KR" sz="1400" b="1" dirty="0"/>
              <a:t> effect) </a:t>
            </a:r>
            <a:r>
              <a:rPr lang="en-US" altLang="ko-KR" sz="1400" dirty="0"/>
              <a:t>and </a:t>
            </a:r>
            <a:r>
              <a:rPr lang="en-US" altLang="ko-KR" sz="1400" b="1" dirty="0"/>
              <a:t>to define unpreferred nodes (</a:t>
            </a:r>
            <a:r>
              <a:rPr lang="en-US" altLang="ko-KR" sz="1400" b="1" dirty="0" err="1">
                <a:solidFill>
                  <a:srgbClr val="FF0000"/>
                </a:solidFill>
              </a:rPr>
              <a:t>PreferNoSchedule</a:t>
            </a:r>
            <a:r>
              <a:rPr lang="en-US" altLang="ko-KR" sz="1400" b="1" dirty="0"/>
              <a:t> effect) </a:t>
            </a:r>
            <a:r>
              <a:rPr lang="en-US" altLang="ko-KR" sz="1400" dirty="0"/>
              <a:t>and </a:t>
            </a:r>
            <a:r>
              <a:rPr lang="en-US" altLang="ko-KR" sz="1400" b="1" dirty="0"/>
              <a:t>even evict existing pods from a node (</a:t>
            </a:r>
            <a:r>
              <a:rPr lang="en-US" altLang="ko-KR" sz="1400" b="1" dirty="0" err="1">
                <a:solidFill>
                  <a:srgbClr val="FF0000"/>
                </a:solidFill>
              </a:rPr>
              <a:t>NoExecute</a:t>
            </a:r>
            <a:r>
              <a:rPr lang="en-US" altLang="ko-KR" sz="1400" b="1" dirty="0"/>
              <a:t>)</a:t>
            </a:r>
            <a:r>
              <a:rPr lang="en-US" altLang="ko-KR" sz="1400" dirty="0"/>
              <a:t>.</a:t>
            </a:r>
          </a:p>
          <a:p>
            <a:pPr lvl="1">
              <a:buFont typeface="Wingdings" panose="05000000000000000000" pitchFamily="2" charset="2"/>
              <a:buChar char="§"/>
            </a:pPr>
            <a:r>
              <a:rPr lang="en-US" altLang="ko-KR" sz="1400" b="1" dirty="0"/>
              <a:t>You can set up taints and tolerations any way you see fit</a:t>
            </a:r>
            <a:r>
              <a:rPr lang="en-US" altLang="ko-KR" sz="1400" dirty="0"/>
              <a:t>. For example, you could partition your cluster into multiple partitions, allowing your development teams to schedule pods only to their respective nodes. You can also use taints and tolerations when several of your nodes provide special hardware and only part of your pods need to use it.</a:t>
            </a:r>
          </a:p>
          <a:p>
            <a:pPr lvl="1">
              <a:buFont typeface="Wingdings" panose="05000000000000000000" pitchFamily="2" charset="2"/>
              <a:buChar char="§"/>
            </a:pPr>
            <a:r>
              <a:rPr lang="en-US" altLang="ko-KR" sz="1400" b="1" dirty="0"/>
              <a:t>NOTE : For more information, refer to </a:t>
            </a:r>
            <a:r>
              <a:rPr lang="en-US" altLang="ko-KR" sz="1400" b="1" dirty="0">
                <a:hlinkClick r:id="rId2"/>
              </a:rPr>
              <a:t>https://kubernetes.io/docs/concepts/scheduling-eviction/taint-and-toleration/</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49664" y="720191"/>
            <a:ext cx="10504136" cy="753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F7D3EC7B-8069-4B00-E993-00F89B474602}"/>
              </a:ext>
            </a:extLst>
          </p:cNvPr>
          <p:cNvPicPr>
            <a:picLocks noChangeAspect="1"/>
          </p:cNvPicPr>
          <p:nvPr/>
        </p:nvPicPr>
        <p:blipFill>
          <a:blip r:embed="rId3"/>
          <a:stretch>
            <a:fillRect/>
          </a:stretch>
        </p:blipFill>
        <p:spPr>
          <a:xfrm>
            <a:off x="2975508" y="3668652"/>
            <a:ext cx="6410241" cy="2740378"/>
          </a:xfrm>
          <a:prstGeom prst="rect">
            <a:avLst/>
          </a:prstGeom>
        </p:spPr>
      </p:pic>
    </p:spTree>
    <p:extLst>
      <p:ext uri="{BB962C8B-B14F-4D97-AF65-F5344CB8AC3E}">
        <p14:creationId xmlns:p14="http://schemas.microsoft.com/office/powerpoint/2010/main" val="2306600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Taints and Tolerations(11/11)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What Taints and Tolerations Can Be Used for :</a:t>
            </a:r>
            <a:endParaRPr lang="en-US" altLang="ko-KR" sz="1400" dirty="0"/>
          </a:p>
          <a:p>
            <a:pPr lvl="1">
              <a:buFont typeface="Wingdings" panose="05000000000000000000" pitchFamily="2" charset="2"/>
              <a:buChar char="§"/>
            </a:pPr>
            <a:r>
              <a:rPr lang="en-US" altLang="ko-KR" sz="1400" b="1" dirty="0"/>
              <a:t>You can also use a toleration to </a:t>
            </a:r>
            <a:r>
              <a:rPr lang="en-US" altLang="ko-KR" sz="1400" b="1" dirty="0">
                <a:solidFill>
                  <a:srgbClr val="FF0000"/>
                </a:solidFill>
              </a:rPr>
              <a:t>specify how long Kubernetes should wait before rescheduling a pod to another node</a:t>
            </a:r>
            <a:r>
              <a:rPr lang="en-US" altLang="ko-KR" sz="1400" b="1" dirty="0"/>
              <a:t> if the node the pod is running on becomes </a:t>
            </a:r>
            <a:r>
              <a:rPr lang="en-US" altLang="ko-KR" sz="1400" b="1" dirty="0">
                <a:solidFill>
                  <a:srgbClr val="FF0000"/>
                </a:solidFill>
              </a:rPr>
              <a:t>unready</a:t>
            </a:r>
            <a:r>
              <a:rPr lang="en-US" altLang="ko-KR" sz="1400" b="1" dirty="0"/>
              <a:t> or </a:t>
            </a:r>
            <a:r>
              <a:rPr lang="en-US" altLang="ko-KR" sz="1400" b="1" dirty="0">
                <a:solidFill>
                  <a:srgbClr val="FF0000"/>
                </a:solidFill>
              </a:rPr>
              <a:t>unreachable</a:t>
            </a:r>
            <a:r>
              <a:rPr lang="en-US" altLang="ko-KR" sz="1400" dirty="0"/>
              <a:t>. If you look at </a:t>
            </a:r>
            <a:r>
              <a:rPr lang="en-US" altLang="ko-KR" sz="1400" b="1" dirty="0"/>
              <a:t>the tolerations of one of your pods, you’ll see two tolerations</a:t>
            </a:r>
            <a:r>
              <a:rPr lang="en-US" altLang="ko-KR" sz="1400" dirty="0"/>
              <a:t>, which are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These two tolerations say that this pod tolerates a node being </a:t>
            </a:r>
            <a:r>
              <a:rPr lang="en-US" altLang="ko-KR" sz="1400" b="1" dirty="0" err="1">
                <a:solidFill>
                  <a:srgbClr val="FF0000"/>
                </a:solidFill>
              </a:rPr>
              <a:t>notReady</a:t>
            </a:r>
            <a:r>
              <a:rPr lang="en-US" altLang="ko-KR" sz="1400" b="1" dirty="0"/>
              <a:t> or </a:t>
            </a:r>
            <a:r>
              <a:rPr lang="en-US" altLang="ko-KR" sz="1400" b="1" dirty="0">
                <a:solidFill>
                  <a:srgbClr val="FF0000"/>
                </a:solidFill>
              </a:rPr>
              <a:t>unreachable</a:t>
            </a:r>
            <a:r>
              <a:rPr lang="en-US" altLang="ko-KR" sz="1400" b="1" dirty="0"/>
              <a:t> for 300 seconds</a:t>
            </a:r>
            <a:r>
              <a:rPr lang="en-US" altLang="ko-KR" sz="1400" dirty="0"/>
              <a:t>. The </a:t>
            </a:r>
            <a:r>
              <a:rPr lang="en-US" altLang="ko-KR" sz="1400" b="1" dirty="0"/>
              <a:t>Kubernetes Control Plane</a:t>
            </a:r>
            <a:r>
              <a:rPr lang="en-US" altLang="ko-KR" sz="1400" dirty="0"/>
              <a:t>, when it detects that a node is no longer ready or no longer reachable, will </a:t>
            </a:r>
            <a:r>
              <a:rPr lang="en-US" altLang="ko-KR" sz="1400" b="1" dirty="0"/>
              <a:t>wait for 300 seconds before it deletes the pod and reschedules it to another node</a:t>
            </a:r>
            <a:r>
              <a:rPr lang="en-US" altLang="ko-KR" sz="1400" dirty="0"/>
              <a:t>.</a:t>
            </a:r>
          </a:p>
          <a:p>
            <a:pPr lvl="1">
              <a:buFont typeface="Wingdings" panose="05000000000000000000" pitchFamily="2" charset="2"/>
              <a:buChar char="§"/>
            </a:pPr>
            <a:r>
              <a:rPr lang="en-US" altLang="ko-KR" sz="1400" b="1" dirty="0"/>
              <a:t>These two tolerations are automatically added to pods that don’t define them</a:t>
            </a:r>
            <a:r>
              <a:rPr lang="en-US" altLang="ko-KR" sz="1400" dirty="0"/>
              <a:t>. If that five-minute delay is too long for your pods, </a:t>
            </a:r>
            <a:r>
              <a:rPr lang="en-US" altLang="ko-KR" sz="1400" b="1" dirty="0"/>
              <a:t>you can make the delay shorter by adding those two tolerations to the pod’s spec</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C7181F7A-CFB0-49E0-764E-BFF507841EE5}"/>
              </a:ext>
            </a:extLst>
          </p:cNvPr>
          <p:cNvGrpSpPr/>
          <p:nvPr/>
        </p:nvGrpSpPr>
        <p:grpSpPr>
          <a:xfrm>
            <a:off x="838200" y="1779369"/>
            <a:ext cx="10515600" cy="3250709"/>
            <a:chOff x="838199" y="2081103"/>
            <a:chExt cx="10515600" cy="3250709"/>
          </a:xfrm>
        </p:grpSpPr>
        <p:grpSp>
          <p:nvGrpSpPr>
            <p:cNvPr id="15" name="그룹 14">
              <a:extLst>
                <a:ext uri="{FF2B5EF4-FFF2-40B4-BE49-F238E27FC236}">
                  <a16:creationId xmlns:a16="http://schemas.microsoft.com/office/drawing/2014/main" id="{AAA7AA7E-52BE-D5CB-B908-C620A3A6169E}"/>
                </a:ext>
              </a:extLst>
            </p:cNvPr>
            <p:cNvGrpSpPr/>
            <p:nvPr/>
          </p:nvGrpSpPr>
          <p:grpSpPr>
            <a:xfrm>
              <a:off x="838199" y="2081103"/>
              <a:ext cx="10515600" cy="3250709"/>
              <a:chOff x="838199" y="2137747"/>
              <a:chExt cx="10515600" cy="3250709"/>
            </a:xfrm>
          </p:grpSpPr>
          <p:grpSp>
            <p:nvGrpSpPr>
              <p:cNvPr id="12" name="그룹 11">
                <a:extLst>
                  <a:ext uri="{FF2B5EF4-FFF2-40B4-BE49-F238E27FC236}">
                    <a16:creationId xmlns:a16="http://schemas.microsoft.com/office/drawing/2014/main" id="{A6F57C81-0500-FCF0-22C1-2F93B6CAF146}"/>
                  </a:ext>
                </a:extLst>
              </p:cNvPr>
              <p:cNvGrpSpPr/>
              <p:nvPr/>
            </p:nvGrpSpPr>
            <p:grpSpPr>
              <a:xfrm>
                <a:off x="838199" y="2137747"/>
                <a:ext cx="10515600" cy="3250709"/>
                <a:chOff x="838199" y="2137747"/>
                <a:chExt cx="10515600" cy="3250709"/>
              </a:xfrm>
            </p:grpSpPr>
            <p:pic>
              <p:nvPicPr>
                <p:cNvPr id="8" name="그림 7">
                  <a:extLst>
                    <a:ext uri="{FF2B5EF4-FFF2-40B4-BE49-F238E27FC236}">
                      <a16:creationId xmlns:a16="http://schemas.microsoft.com/office/drawing/2014/main" id="{10356F90-75CE-E6E7-92FD-0D457A0D970C}"/>
                    </a:ext>
                  </a:extLst>
                </p:cNvPr>
                <p:cNvPicPr>
                  <a:picLocks noChangeAspect="1"/>
                </p:cNvPicPr>
                <p:nvPr/>
              </p:nvPicPr>
              <p:blipFill>
                <a:blip r:embed="rId2"/>
                <a:stretch>
                  <a:fillRect/>
                </a:stretch>
              </p:blipFill>
              <p:spPr>
                <a:xfrm>
                  <a:off x="838199" y="2715741"/>
                  <a:ext cx="10515600" cy="2672715"/>
                </a:xfrm>
                <a:prstGeom prst="rect">
                  <a:avLst/>
                </a:prstGeom>
              </p:spPr>
            </p:pic>
            <p:sp>
              <p:nvSpPr>
                <p:cNvPr id="10" name="TextBox 9">
                  <a:extLst>
                    <a:ext uri="{FF2B5EF4-FFF2-40B4-BE49-F238E27FC236}">
                      <a16:creationId xmlns:a16="http://schemas.microsoft.com/office/drawing/2014/main" id="{697B1AB7-F74D-1D27-A266-D4648099CE8E}"/>
                    </a:ext>
                  </a:extLst>
                </p:cNvPr>
                <p:cNvSpPr txBox="1"/>
                <p:nvPr/>
              </p:nvSpPr>
              <p:spPr>
                <a:xfrm>
                  <a:off x="3047326" y="2137747"/>
                  <a:ext cx="6097348" cy="246221"/>
                </a:xfrm>
                <a:prstGeom prst="rect">
                  <a:avLst/>
                </a:prstGeom>
                <a:noFill/>
                <a:ln>
                  <a:solidFill>
                    <a:schemeClr val="bg1">
                      <a:lumMod val="50000"/>
                    </a:schemeClr>
                  </a:solidFill>
                </a:ln>
              </p:spPr>
              <p:txBody>
                <a:bodyPr wrap="square">
                  <a:spAutoFit/>
                </a:bodyPr>
                <a:lstStyle/>
                <a:p>
                  <a:r>
                    <a:rPr lang="en-US" altLang="ko-KR" sz="1000" b="1" dirty="0" err="1"/>
                    <a:t>kubectl</a:t>
                  </a:r>
                  <a:r>
                    <a:rPr lang="en-US" altLang="ko-KR" sz="1000" b="1" dirty="0"/>
                    <a:t> get pod </a:t>
                  </a:r>
                  <a:r>
                    <a:rPr lang="en-US" altLang="ko-KR" sz="1000" b="1" dirty="0">
                      <a:solidFill>
                        <a:srgbClr val="FF0000"/>
                      </a:solidFill>
                    </a:rPr>
                    <a:t>prod-548b4f5db7-26kcr</a:t>
                  </a:r>
                  <a:r>
                    <a:rPr lang="en-US" altLang="ko-KR" sz="1000" b="1" dirty="0"/>
                    <a:t> -o </a:t>
                  </a:r>
                  <a:r>
                    <a:rPr lang="en-US" altLang="ko-KR" sz="1000" b="1" dirty="0" err="1"/>
                    <a:t>yaml</a:t>
                  </a:r>
                  <a:endParaRPr lang="ko-KR" altLang="en-US" sz="1000" b="1" dirty="0"/>
                </a:p>
              </p:txBody>
            </p:sp>
            <p:sp>
              <p:nvSpPr>
                <p:cNvPr id="11" name="화살표: 아래쪽 10">
                  <a:extLst>
                    <a:ext uri="{FF2B5EF4-FFF2-40B4-BE49-F238E27FC236}">
                      <a16:creationId xmlns:a16="http://schemas.microsoft.com/office/drawing/2014/main" id="{4AF9A0D1-16A5-7BB3-4282-B0C309D90E83}"/>
                    </a:ext>
                  </a:extLst>
                </p:cNvPr>
                <p:cNvSpPr/>
                <p:nvPr/>
              </p:nvSpPr>
              <p:spPr>
                <a:xfrm>
                  <a:off x="5852564" y="2383968"/>
                  <a:ext cx="486871" cy="33177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773E2057-AB21-C4BD-74E9-106DCBF51E18}"/>
                  </a:ext>
                </a:extLst>
              </p:cNvPr>
              <p:cNvSpPr/>
              <p:nvPr/>
            </p:nvSpPr>
            <p:spPr>
              <a:xfrm>
                <a:off x="1173345" y="4385883"/>
                <a:ext cx="1715512" cy="1942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4A64A1F5-524D-8183-BFCC-5B43BC42F7FD}"/>
                  </a:ext>
                </a:extLst>
              </p:cNvPr>
              <p:cNvSpPr/>
              <p:nvPr/>
            </p:nvSpPr>
            <p:spPr>
              <a:xfrm>
                <a:off x="1173345" y="4991925"/>
                <a:ext cx="1715512" cy="1942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6" name="직사각형 15">
              <a:extLst>
                <a:ext uri="{FF2B5EF4-FFF2-40B4-BE49-F238E27FC236}">
                  <a16:creationId xmlns:a16="http://schemas.microsoft.com/office/drawing/2014/main" id="{ECFA1E86-8ABE-E806-D301-AF282E80D68F}"/>
                </a:ext>
              </a:extLst>
            </p:cNvPr>
            <p:cNvSpPr/>
            <p:nvPr/>
          </p:nvSpPr>
          <p:spPr>
            <a:xfrm>
              <a:off x="1173345" y="4029812"/>
              <a:ext cx="2638004" cy="1942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6E314E1D-236B-2F7A-5426-0AE62E8BDB38}"/>
                </a:ext>
              </a:extLst>
            </p:cNvPr>
            <p:cNvSpPr/>
            <p:nvPr/>
          </p:nvSpPr>
          <p:spPr>
            <a:xfrm>
              <a:off x="1173345" y="4643946"/>
              <a:ext cx="2638004" cy="1942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73216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Node Affinity(1/12)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is Node Affinity? :</a:t>
            </a:r>
            <a:endParaRPr lang="en-US" altLang="ko-KR" sz="1400" dirty="0"/>
          </a:p>
          <a:p>
            <a:pPr lvl="1">
              <a:buFont typeface="Wingdings" panose="05000000000000000000" pitchFamily="2" charset="2"/>
              <a:buChar char="§"/>
            </a:pPr>
            <a:r>
              <a:rPr lang="en-US" altLang="ko-KR" sz="1400" b="1" dirty="0"/>
              <a:t>Taints are used to keep pods away from certain nodes</a:t>
            </a:r>
            <a:r>
              <a:rPr lang="en-US" altLang="ko-KR" sz="1400" dirty="0"/>
              <a:t>. Now you’ll learn about a newer mechanism called </a:t>
            </a:r>
            <a:r>
              <a:rPr lang="en-US" altLang="ko-KR" sz="1400" b="1" dirty="0">
                <a:solidFill>
                  <a:srgbClr val="FF0000"/>
                </a:solidFill>
              </a:rPr>
              <a:t>node affinity</a:t>
            </a:r>
            <a:r>
              <a:rPr lang="en-US" altLang="ko-KR" sz="1400" dirty="0"/>
              <a:t>, </a:t>
            </a:r>
            <a:r>
              <a:rPr lang="en-US" altLang="ko-KR" sz="1400" b="1" dirty="0"/>
              <a:t>which allows you to tell Kubernetes to schedule pods only to specific subsets of nodes</a:t>
            </a:r>
            <a:r>
              <a:rPr lang="en-US" altLang="ko-KR" sz="1400" dirty="0"/>
              <a:t>.</a:t>
            </a:r>
          </a:p>
          <a:p>
            <a:pPr lvl="1">
              <a:buFont typeface="Wingdings" panose="05000000000000000000" pitchFamily="2" charset="2"/>
              <a:buChar char="§"/>
            </a:pPr>
            <a:r>
              <a:rPr lang="en-US" altLang="ko-KR" sz="1400" dirty="0"/>
              <a:t>The initial node affinity mechanism in early versions of Kubernetes was the “</a:t>
            </a:r>
            <a:r>
              <a:rPr lang="en-US" altLang="ko-KR" sz="1400" b="1" dirty="0" err="1">
                <a:solidFill>
                  <a:srgbClr val="FF0000"/>
                </a:solidFill>
              </a:rPr>
              <a:t>nodeSelector</a:t>
            </a:r>
            <a:r>
              <a:rPr lang="en-US" altLang="ko-KR" sz="1400" b="1" dirty="0"/>
              <a:t>” field in the pod specification</a:t>
            </a:r>
            <a:r>
              <a:rPr lang="en-US" altLang="ko-KR" sz="1400" dirty="0"/>
              <a:t>. The node had to include all the labels specified in that field to be eligible to become the target for the pod.</a:t>
            </a:r>
          </a:p>
          <a:p>
            <a:pPr lvl="1">
              <a:buFont typeface="Wingdings" panose="05000000000000000000" pitchFamily="2" charset="2"/>
              <a:buChar char="§"/>
            </a:pPr>
            <a:r>
              <a:rPr lang="en-US" altLang="ko-KR" sz="1400" b="1" dirty="0"/>
              <a:t>Node selectors get the job done and are simple</a:t>
            </a:r>
            <a:r>
              <a:rPr lang="en-US" altLang="ko-KR" sz="1400" dirty="0"/>
              <a:t>, </a:t>
            </a:r>
            <a:r>
              <a:rPr lang="en-US" altLang="ko-KR" sz="1400" b="1" dirty="0"/>
              <a:t>but they don’t offer everything that you may need</a:t>
            </a:r>
            <a:r>
              <a:rPr lang="en-US" altLang="ko-KR" sz="1400" dirty="0"/>
              <a:t>. Because of that, a more powerful mechanism was introduced. </a:t>
            </a:r>
            <a:r>
              <a:rPr lang="en-US" altLang="ko-KR" sz="1400" b="1" dirty="0"/>
              <a:t>Node selectors will eventually be deprecated, so it’s important you understand the new node affinity rules</a:t>
            </a:r>
            <a:r>
              <a:rPr lang="en-US" altLang="ko-KR" sz="1400" dirty="0"/>
              <a:t>.</a:t>
            </a:r>
          </a:p>
          <a:p>
            <a:pPr lvl="1">
              <a:buFont typeface="Wingdings" panose="05000000000000000000" pitchFamily="2" charset="2"/>
              <a:buChar char="§"/>
            </a:pPr>
            <a:r>
              <a:rPr lang="en-US" altLang="ko-KR" sz="1400" b="1" dirty="0"/>
              <a:t>Similar to node selectors, </a:t>
            </a:r>
            <a:r>
              <a:rPr lang="en-US" altLang="ko-KR" sz="1400" b="1" dirty="0">
                <a:solidFill>
                  <a:srgbClr val="FF0000"/>
                </a:solidFill>
              </a:rPr>
              <a:t>each pod can define its own node affinity rules</a:t>
            </a:r>
            <a:r>
              <a:rPr lang="en-US" altLang="ko-KR" sz="1400" dirty="0"/>
              <a:t>. </a:t>
            </a:r>
            <a:r>
              <a:rPr lang="en-US" altLang="ko-KR" sz="1400" b="1" dirty="0"/>
              <a:t>These allow you to specify either </a:t>
            </a:r>
            <a:r>
              <a:rPr lang="en-US" altLang="ko-KR" sz="1400" b="1" dirty="0">
                <a:solidFill>
                  <a:srgbClr val="FF0000"/>
                </a:solidFill>
              </a:rPr>
              <a:t>hard requirements</a:t>
            </a:r>
            <a:r>
              <a:rPr lang="en-US" altLang="ko-KR" sz="1400" b="1" dirty="0"/>
              <a:t> or </a:t>
            </a:r>
            <a:r>
              <a:rPr lang="en-US" altLang="ko-KR" sz="1400" b="1" dirty="0">
                <a:solidFill>
                  <a:srgbClr val="FF0000"/>
                </a:solidFill>
              </a:rPr>
              <a:t>preferences</a:t>
            </a:r>
            <a:r>
              <a:rPr lang="en-US" altLang="ko-KR" sz="1400" b="1" dirty="0"/>
              <a:t>. By specifying a preference, you tell Kubernetes which nodes you prefer for a specific pod, and Kubernetes will try to schedule the pod to one of those nodes</a:t>
            </a:r>
            <a:r>
              <a:rPr lang="en-US" altLang="ko-KR" sz="1400" dirty="0"/>
              <a:t>. If that’s not possible, it will choose one of the other nodes.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D4D222A-5986-BA52-1555-E52A36CBDD3C}"/>
              </a:ext>
            </a:extLst>
          </p:cNvPr>
          <p:cNvPicPr>
            <a:picLocks noChangeAspect="1"/>
          </p:cNvPicPr>
          <p:nvPr/>
        </p:nvPicPr>
        <p:blipFill>
          <a:blip r:embed="rId2"/>
          <a:stretch>
            <a:fillRect/>
          </a:stretch>
        </p:blipFill>
        <p:spPr>
          <a:xfrm>
            <a:off x="4032225" y="3682268"/>
            <a:ext cx="4127549" cy="2726762"/>
          </a:xfrm>
          <a:prstGeom prst="rect">
            <a:avLst/>
          </a:prstGeom>
        </p:spPr>
      </p:pic>
    </p:spTree>
    <p:extLst>
      <p:ext uri="{BB962C8B-B14F-4D97-AF65-F5344CB8AC3E}">
        <p14:creationId xmlns:p14="http://schemas.microsoft.com/office/powerpoint/2010/main" val="3314728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Node Affinity(2/12)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is Node Affinity? :</a:t>
            </a:r>
            <a:endParaRPr lang="en-US" altLang="ko-KR" sz="1400" dirty="0"/>
          </a:p>
          <a:p>
            <a:pPr lvl="1">
              <a:buFont typeface="Wingdings" panose="05000000000000000000" pitchFamily="2" charset="2"/>
              <a:buChar char="§"/>
            </a:pPr>
            <a:r>
              <a:rPr lang="en-US" altLang="ko-KR" sz="1400" b="1" dirty="0">
                <a:solidFill>
                  <a:srgbClr val="FF0000"/>
                </a:solidFill>
              </a:rPr>
              <a:t>Node affinity selects nodes based on their labels</a:t>
            </a:r>
            <a:r>
              <a:rPr lang="en-US" altLang="ko-KR" sz="1400" dirty="0"/>
              <a:t>, </a:t>
            </a:r>
            <a:r>
              <a:rPr lang="en-US" altLang="ko-KR" sz="1400" b="1" dirty="0"/>
              <a:t>the same way node selectors do</a:t>
            </a:r>
            <a:r>
              <a:rPr lang="en-US" altLang="ko-KR" sz="1400" dirty="0"/>
              <a:t>. Before you see how to use node affinity, let’s examine the labels of one of the nodes to see what </a:t>
            </a:r>
            <a:r>
              <a:rPr lang="en-US" altLang="ko-KR" sz="1400" b="1" dirty="0"/>
              <a:t>the default node labels are</a:t>
            </a:r>
            <a:r>
              <a:rPr lang="en-US" altLang="ko-KR" sz="1400" dirty="0"/>
              <a:t>. They’re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already learned how you can </a:t>
            </a:r>
            <a:r>
              <a:rPr lang="en-US" altLang="ko-KR" sz="1400" b="1" dirty="0"/>
              <a:t>add a </a:t>
            </a:r>
            <a:r>
              <a:rPr lang="en-US" altLang="ko-KR" sz="1400" b="1" dirty="0">
                <a:solidFill>
                  <a:srgbClr val="FF0000"/>
                </a:solidFill>
              </a:rPr>
              <a:t>custom label </a:t>
            </a:r>
            <a:r>
              <a:rPr lang="en-US" altLang="ko-KR" sz="1400" b="1" dirty="0"/>
              <a:t>to nodes and use it in a pod’s node selector</a:t>
            </a:r>
            <a:r>
              <a:rPr lang="en-US" altLang="ko-KR" sz="1400" dirty="0"/>
              <a:t>. </a:t>
            </a:r>
            <a:r>
              <a:rPr lang="en-US" altLang="ko-KR" sz="1400" b="1" dirty="0"/>
              <a:t>You used the custom label to deploy pods only to nodes with that label by adding a node selector to the pods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C0A3E58E-6D96-F36D-31A8-BDD0FBEAFF6D}"/>
              </a:ext>
            </a:extLst>
          </p:cNvPr>
          <p:cNvGrpSpPr/>
          <p:nvPr/>
        </p:nvGrpSpPr>
        <p:grpSpPr>
          <a:xfrm>
            <a:off x="838200" y="2067812"/>
            <a:ext cx="10515600" cy="2995133"/>
            <a:chOff x="838200" y="1921359"/>
            <a:chExt cx="10515600" cy="2995133"/>
          </a:xfrm>
        </p:grpSpPr>
        <p:grpSp>
          <p:nvGrpSpPr>
            <p:cNvPr id="12" name="그룹 11">
              <a:extLst>
                <a:ext uri="{FF2B5EF4-FFF2-40B4-BE49-F238E27FC236}">
                  <a16:creationId xmlns:a16="http://schemas.microsoft.com/office/drawing/2014/main" id="{AAEA1D1A-A3E3-B9D5-70E6-1F745EAED5C9}"/>
                </a:ext>
              </a:extLst>
            </p:cNvPr>
            <p:cNvGrpSpPr/>
            <p:nvPr/>
          </p:nvGrpSpPr>
          <p:grpSpPr>
            <a:xfrm>
              <a:off x="838200" y="1921359"/>
              <a:ext cx="10515600" cy="2995133"/>
              <a:chOff x="838200" y="1921359"/>
              <a:chExt cx="10515600" cy="2995133"/>
            </a:xfrm>
          </p:grpSpPr>
          <p:pic>
            <p:nvPicPr>
              <p:cNvPr id="8" name="그림 7">
                <a:extLst>
                  <a:ext uri="{FF2B5EF4-FFF2-40B4-BE49-F238E27FC236}">
                    <a16:creationId xmlns:a16="http://schemas.microsoft.com/office/drawing/2014/main" id="{A565F002-D7D8-FC31-8164-5EF04B128C55}"/>
                  </a:ext>
                </a:extLst>
              </p:cNvPr>
              <p:cNvPicPr>
                <a:picLocks noChangeAspect="1"/>
              </p:cNvPicPr>
              <p:nvPr/>
            </p:nvPicPr>
            <p:blipFill>
              <a:blip r:embed="rId2"/>
              <a:stretch>
                <a:fillRect/>
              </a:stretch>
            </p:blipFill>
            <p:spPr>
              <a:xfrm>
                <a:off x="838200" y="2460487"/>
                <a:ext cx="10515600" cy="2456005"/>
              </a:xfrm>
              <a:prstGeom prst="rect">
                <a:avLst/>
              </a:prstGeom>
            </p:spPr>
          </p:pic>
          <p:sp>
            <p:nvSpPr>
              <p:cNvPr id="10" name="TextBox 9">
                <a:extLst>
                  <a:ext uri="{FF2B5EF4-FFF2-40B4-BE49-F238E27FC236}">
                    <a16:creationId xmlns:a16="http://schemas.microsoft.com/office/drawing/2014/main" id="{DA77FAC0-BAD7-629A-BC94-4C122DAC2EC7}"/>
                  </a:ext>
                </a:extLst>
              </p:cNvPr>
              <p:cNvSpPr txBox="1"/>
              <p:nvPr/>
            </p:nvSpPr>
            <p:spPr>
              <a:xfrm>
                <a:off x="2983938" y="1921359"/>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describe node </a:t>
                </a:r>
                <a:r>
                  <a:rPr lang="en-US" altLang="ko-KR" sz="1000" b="1" dirty="0">
                    <a:solidFill>
                      <a:srgbClr val="FF0000"/>
                    </a:solidFill>
                  </a:rPr>
                  <a:t>ubuntu20-04-02</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C09FDFB2-00DA-D1EA-834C-5FBA2B4F097B}"/>
                  </a:ext>
                </a:extLst>
              </p:cNvPr>
              <p:cNvSpPr/>
              <p:nvPr/>
            </p:nvSpPr>
            <p:spPr>
              <a:xfrm>
                <a:off x="5873469" y="2167580"/>
                <a:ext cx="445062" cy="29290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E4E9DC06-716E-1725-E436-13FC55394E62}"/>
                </a:ext>
              </a:extLst>
            </p:cNvPr>
            <p:cNvSpPr/>
            <p:nvPr/>
          </p:nvSpPr>
          <p:spPr>
            <a:xfrm>
              <a:off x="906308" y="3429000"/>
              <a:ext cx="4280687" cy="72221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29068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Node Affinity(3/12)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Hard Node Affinity Rules :</a:t>
            </a:r>
            <a:endParaRPr lang="en-US" altLang="ko-KR" sz="1400" dirty="0"/>
          </a:p>
          <a:p>
            <a:pPr lvl="1">
              <a:buFont typeface="Wingdings" panose="05000000000000000000" pitchFamily="2" charset="2"/>
              <a:buChar char="§"/>
            </a:pPr>
            <a:r>
              <a:rPr lang="en-US" altLang="ko-KR" sz="1400" b="1" dirty="0"/>
              <a:t>You used the node selector to deploy a pod that requires a GPU only to nodes that have a GPU before</a:t>
            </a:r>
            <a:r>
              <a:rPr lang="en-US" altLang="ko-KR" sz="1400" dirty="0"/>
              <a:t>. The pod spec included the “</a:t>
            </a:r>
            <a:r>
              <a:rPr lang="en-US" altLang="ko-KR" sz="1400" b="1" dirty="0" err="1">
                <a:solidFill>
                  <a:srgbClr val="FF0000"/>
                </a:solidFill>
              </a:rPr>
              <a:t>nodeSelector</a:t>
            </a:r>
            <a:r>
              <a:rPr lang="en-US" altLang="ko-KR" sz="1400" dirty="0"/>
              <a:t>” field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t>
            </a:r>
            <a:r>
              <a:rPr lang="en-US" altLang="ko-KR" sz="1400" b="1" dirty="0" err="1">
                <a:solidFill>
                  <a:srgbClr val="FF0000"/>
                </a:solidFill>
              </a:rPr>
              <a:t>nodeSelector</a:t>
            </a:r>
            <a:r>
              <a:rPr lang="en-US" altLang="ko-KR" sz="1400" b="1" dirty="0"/>
              <a:t>” field specifies that the pod should only be deployed on nodes that include the “</a:t>
            </a:r>
            <a:r>
              <a:rPr lang="en-US" altLang="ko-KR" sz="1400" b="1" dirty="0" err="1">
                <a:solidFill>
                  <a:srgbClr val="FF0000"/>
                </a:solidFill>
              </a:rPr>
              <a:t>gpu</a:t>
            </a:r>
            <a:r>
              <a:rPr lang="en-US" altLang="ko-KR" sz="1400" b="1" dirty="0">
                <a:solidFill>
                  <a:srgbClr val="FF0000"/>
                </a:solidFill>
              </a:rPr>
              <a:t>=true</a:t>
            </a:r>
            <a:r>
              <a:rPr lang="en-US" altLang="ko-KR" sz="1400" b="1" dirty="0"/>
              <a:t>” label</a:t>
            </a:r>
            <a:r>
              <a:rPr lang="en-US" altLang="ko-KR" sz="1400" dirty="0"/>
              <a:t>. </a:t>
            </a:r>
            <a:r>
              <a:rPr lang="en-US" altLang="ko-KR" sz="1400" b="1" dirty="0"/>
              <a:t>If you replace the node selector with a </a:t>
            </a:r>
            <a:r>
              <a:rPr lang="en-US" altLang="ko-KR" sz="1400" b="1" dirty="0">
                <a:solidFill>
                  <a:srgbClr val="FF0000"/>
                </a:solidFill>
              </a:rPr>
              <a:t>node affinity</a:t>
            </a:r>
            <a:r>
              <a:rPr lang="en-US" altLang="ko-KR" sz="1400" b="1" dirty="0"/>
              <a:t> rule</a:t>
            </a:r>
            <a:r>
              <a:rPr lang="en-US" altLang="ko-KR" sz="1400" dirty="0"/>
              <a:t>, the pod definition will look like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C9EAF18-D656-D142-E33A-654E173C2A83}"/>
              </a:ext>
            </a:extLst>
          </p:cNvPr>
          <p:cNvGrpSpPr/>
          <p:nvPr/>
        </p:nvGrpSpPr>
        <p:grpSpPr>
          <a:xfrm>
            <a:off x="3047326" y="1578116"/>
            <a:ext cx="6097348" cy="1631216"/>
            <a:chOff x="3047326" y="1797784"/>
            <a:chExt cx="6097348" cy="1631216"/>
          </a:xfrm>
        </p:grpSpPr>
        <p:sp>
          <p:nvSpPr>
            <p:cNvPr id="8" name="TextBox 7">
              <a:extLst>
                <a:ext uri="{FF2B5EF4-FFF2-40B4-BE49-F238E27FC236}">
                  <a16:creationId xmlns:a16="http://schemas.microsoft.com/office/drawing/2014/main" id="{0E610FB5-E470-8CE3-2076-3CF2C1F48114}"/>
                </a:ext>
              </a:extLst>
            </p:cNvPr>
            <p:cNvSpPr txBox="1"/>
            <p:nvPr/>
          </p:nvSpPr>
          <p:spPr>
            <a:xfrm>
              <a:off x="3047326" y="1797784"/>
              <a:ext cx="6097348" cy="1631216"/>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t>kubia-gpu</a:t>
              </a:r>
              <a:endParaRPr lang="en-US" altLang="ko-KR" sz="1000" b="1" dirty="0"/>
            </a:p>
            <a:p>
              <a:r>
                <a:rPr lang="en-US" altLang="ko-KR" sz="1000" b="1" dirty="0"/>
                <a:t>spec:</a:t>
              </a:r>
            </a:p>
            <a:p>
              <a:r>
                <a:rPr lang="en-US" altLang="ko-KR" sz="1000" b="1" dirty="0">
                  <a:solidFill>
                    <a:srgbClr val="FF0000"/>
                  </a:solidFill>
                </a:rPr>
                <a:t>  </a:t>
              </a:r>
              <a:r>
                <a:rPr lang="en-US" altLang="ko-KR" sz="1000" b="1" dirty="0" err="1">
                  <a:solidFill>
                    <a:srgbClr val="FF0000"/>
                  </a:solidFill>
                </a:rPr>
                <a:t>nodeSelector</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gpu</a:t>
              </a:r>
              <a:r>
                <a:rPr lang="en-US" altLang="ko-KR" sz="1000" b="1" dirty="0">
                  <a:solidFill>
                    <a:srgbClr val="FF0000"/>
                  </a:solidFill>
                </a:rPr>
                <a:t>: "true"</a:t>
              </a:r>
            </a:p>
            <a:p>
              <a:r>
                <a:rPr lang="en-US" altLang="ko-KR" sz="1000" b="1" dirty="0"/>
                <a:t>  containers:</a:t>
              </a:r>
            </a:p>
            <a:p>
              <a:r>
                <a:rPr lang="en-US" altLang="ko-KR" sz="1000" b="1" dirty="0"/>
                <a:t>  - image: knix008/</a:t>
              </a:r>
              <a:r>
                <a:rPr lang="en-US" altLang="ko-KR" sz="1000" b="1" dirty="0" err="1"/>
                <a:t>kubia</a:t>
              </a:r>
              <a:endParaRPr lang="en-US" altLang="ko-KR" sz="1000" b="1" dirty="0"/>
            </a:p>
            <a:p>
              <a:r>
                <a:rPr lang="en-US" altLang="ko-KR" sz="1000" b="1" dirty="0"/>
                <a:t>    name: </a:t>
              </a:r>
              <a:r>
                <a:rPr lang="en-US" altLang="ko-KR" sz="1000" b="1" dirty="0" err="1"/>
                <a:t>kubia</a:t>
              </a:r>
              <a:endParaRPr lang="en-US" altLang="ko-KR" sz="1000" b="1" dirty="0"/>
            </a:p>
          </p:txBody>
        </p:sp>
        <p:sp>
          <p:nvSpPr>
            <p:cNvPr id="9" name="TextBox 8">
              <a:extLst>
                <a:ext uri="{FF2B5EF4-FFF2-40B4-BE49-F238E27FC236}">
                  <a16:creationId xmlns:a16="http://schemas.microsoft.com/office/drawing/2014/main" id="{F330DE00-545C-41BE-2573-849C63471D2B}"/>
                </a:ext>
              </a:extLst>
            </p:cNvPr>
            <p:cNvSpPr txBox="1"/>
            <p:nvPr/>
          </p:nvSpPr>
          <p:spPr>
            <a:xfrm>
              <a:off x="7169453" y="1801720"/>
              <a:ext cx="1975221" cy="246221"/>
            </a:xfrm>
            <a:prstGeom prst="rect">
              <a:avLst/>
            </a:prstGeom>
            <a:noFill/>
          </p:spPr>
          <p:txBody>
            <a:bodyPr wrap="none" rtlCol="0">
              <a:spAutoFit/>
            </a:bodyPr>
            <a:lstStyle/>
            <a:p>
              <a:pPr algn="l"/>
              <a:r>
                <a:rPr lang="en-US" altLang="ko-KR" sz="1000" b="1" dirty="0" err="1"/>
                <a:t>kubia-gpu-nodeselector.yaml</a:t>
              </a:r>
              <a:endParaRPr lang="ko-KR" altLang="en-US" sz="1000" b="1" dirty="0"/>
            </a:p>
          </p:txBody>
        </p:sp>
      </p:grpSp>
      <p:grpSp>
        <p:nvGrpSpPr>
          <p:cNvPr id="14" name="그룹 13">
            <a:extLst>
              <a:ext uri="{FF2B5EF4-FFF2-40B4-BE49-F238E27FC236}">
                <a16:creationId xmlns:a16="http://schemas.microsoft.com/office/drawing/2014/main" id="{A81CD4D6-B297-2A19-A6E4-686110B6A95C}"/>
              </a:ext>
            </a:extLst>
          </p:cNvPr>
          <p:cNvGrpSpPr/>
          <p:nvPr/>
        </p:nvGrpSpPr>
        <p:grpSpPr>
          <a:xfrm>
            <a:off x="3047326" y="4008373"/>
            <a:ext cx="6097348" cy="2400657"/>
            <a:chOff x="3047326" y="4008373"/>
            <a:chExt cx="6097348" cy="2400657"/>
          </a:xfrm>
        </p:grpSpPr>
        <p:sp>
          <p:nvSpPr>
            <p:cNvPr id="12" name="TextBox 11">
              <a:extLst>
                <a:ext uri="{FF2B5EF4-FFF2-40B4-BE49-F238E27FC236}">
                  <a16:creationId xmlns:a16="http://schemas.microsoft.com/office/drawing/2014/main" id="{0D79ECCB-80E0-195A-1C16-27F818D6C566}"/>
                </a:ext>
              </a:extLst>
            </p:cNvPr>
            <p:cNvSpPr txBox="1"/>
            <p:nvPr/>
          </p:nvSpPr>
          <p:spPr>
            <a:xfrm>
              <a:off x="3047326" y="4008373"/>
              <a:ext cx="6097348" cy="2400657"/>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t>kubia-gpu</a:t>
              </a:r>
              <a:endParaRPr lang="en-US" altLang="ko-KR" sz="1000" b="1" dirty="0"/>
            </a:p>
            <a:p>
              <a:r>
                <a:rPr lang="en-US" altLang="ko-KR" sz="1000" b="1" dirty="0"/>
                <a:t>spec:</a:t>
              </a:r>
            </a:p>
            <a:p>
              <a:r>
                <a:rPr lang="en-US" altLang="ko-KR" sz="1000" b="1" dirty="0">
                  <a:solidFill>
                    <a:srgbClr val="FF0000"/>
                  </a:solidFill>
                </a:rPr>
                <a:t>  affinity:</a:t>
              </a:r>
            </a:p>
            <a:p>
              <a:r>
                <a:rPr lang="en-US" altLang="ko-KR" sz="1000" b="1" dirty="0"/>
                <a:t>    </a:t>
              </a:r>
              <a:r>
                <a:rPr lang="en-US" altLang="ko-KR" sz="1000" b="1" dirty="0" err="1">
                  <a:solidFill>
                    <a:srgbClr val="FF0000"/>
                  </a:solidFill>
                </a:rPr>
                <a:t>nodeAffinity</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requiredDuringSchedulingIgnoredDuringExecution</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nodeSelectorTerms</a:t>
              </a:r>
              <a:r>
                <a:rPr lang="en-US" altLang="ko-KR" sz="1000" b="1" dirty="0">
                  <a:solidFill>
                    <a:srgbClr val="FF0000"/>
                  </a:solidFill>
                </a:rPr>
                <a:t>:</a:t>
              </a:r>
            </a:p>
            <a:p>
              <a:r>
                <a:rPr lang="en-US" altLang="ko-KR" sz="1000" b="1" dirty="0">
                  <a:solidFill>
                    <a:srgbClr val="FF0000"/>
                  </a:solidFill>
                </a:rPr>
                <a:t>        - </a:t>
              </a:r>
              <a:r>
                <a:rPr lang="en-US" altLang="ko-KR" sz="1000" b="1" dirty="0" err="1">
                  <a:solidFill>
                    <a:srgbClr val="FF0000"/>
                  </a:solidFill>
                </a:rPr>
                <a:t>matchExpressions</a:t>
              </a:r>
              <a:r>
                <a:rPr lang="en-US" altLang="ko-KR" sz="1000" b="1" dirty="0">
                  <a:solidFill>
                    <a:srgbClr val="FF0000"/>
                  </a:solidFill>
                </a:rPr>
                <a:t>:</a:t>
              </a:r>
            </a:p>
            <a:p>
              <a:r>
                <a:rPr lang="en-US" altLang="ko-KR" sz="1000" b="1" dirty="0">
                  <a:solidFill>
                    <a:srgbClr val="FF0000"/>
                  </a:solidFill>
                </a:rPr>
                <a:t>          - key: </a:t>
              </a:r>
              <a:r>
                <a:rPr lang="en-US" altLang="ko-KR" sz="1000" b="1" dirty="0" err="1">
                  <a:solidFill>
                    <a:srgbClr val="FF0000"/>
                  </a:solidFill>
                </a:rPr>
                <a:t>gpu</a:t>
              </a:r>
              <a:endParaRPr lang="en-US" altLang="ko-KR" sz="1000" b="1" dirty="0">
                <a:solidFill>
                  <a:srgbClr val="FF0000"/>
                </a:solidFill>
              </a:endParaRPr>
            </a:p>
            <a:p>
              <a:r>
                <a:rPr lang="en-US" altLang="ko-KR" sz="1000" b="1" dirty="0">
                  <a:solidFill>
                    <a:srgbClr val="FF0000"/>
                  </a:solidFill>
                </a:rPr>
                <a:t>            operator: In</a:t>
              </a:r>
            </a:p>
            <a:p>
              <a:r>
                <a:rPr lang="en-US" altLang="ko-KR" sz="1000" b="1" dirty="0">
                  <a:solidFill>
                    <a:srgbClr val="FF0000"/>
                  </a:solidFill>
                </a:rPr>
                <a:t>            values:</a:t>
              </a:r>
            </a:p>
            <a:p>
              <a:r>
                <a:rPr lang="en-US" altLang="ko-KR" sz="1000" b="1" dirty="0">
                  <a:solidFill>
                    <a:srgbClr val="FF0000"/>
                  </a:solidFill>
                </a:rPr>
                <a:t>            - "true“</a:t>
              </a:r>
            </a:p>
            <a:p>
              <a:r>
                <a:rPr lang="en-US" altLang="ko-KR" sz="1000" b="1" dirty="0"/>
                <a:t>…</a:t>
              </a:r>
            </a:p>
          </p:txBody>
        </p:sp>
        <p:sp>
          <p:nvSpPr>
            <p:cNvPr id="13" name="TextBox 12">
              <a:extLst>
                <a:ext uri="{FF2B5EF4-FFF2-40B4-BE49-F238E27FC236}">
                  <a16:creationId xmlns:a16="http://schemas.microsoft.com/office/drawing/2014/main" id="{BA75E64E-34AF-4C86-9210-27E78D2B8B67}"/>
                </a:ext>
              </a:extLst>
            </p:cNvPr>
            <p:cNvSpPr txBox="1"/>
            <p:nvPr/>
          </p:nvSpPr>
          <p:spPr>
            <a:xfrm>
              <a:off x="7214337" y="4008373"/>
              <a:ext cx="1930337" cy="246221"/>
            </a:xfrm>
            <a:prstGeom prst="rect">
              <a:avLst/>
            </a:prstGeom>
            <a:noFill/>
          </p:spPr>
          <p:txBody>
            <a:bodyPr wrap="none" rtlCol="0">
              <a:spAutoFit/>
            </a:bodyPr>
            <a:lstStyle/>
            <a:p>
              <a:pPr algn="l"/>
              <a:r>
                <a:rPr lang="en-US" altLang="ko-KR" sz="1000" b="1" dirty="0" err="1"/>
                <a:t>kubia-gpu-nodeaffinity.yaml</a:t>
              </a:r>
              <a:endParaRPr lang="ko-KR" altLang="en-US" sz="1000" b="1" dirty="0"/>
            </a:p>
          </p:txBody>
        </p:sp>
      </p:grpSp>
    </p:spTree>
    <p:extLst>
      <p:ext uri="{BB962C8B-B14F-4D97-AF65-F5344CB8AC3E}">
        <p14:creationId xmlns:p14="http://schemas.microsoft.com/office/powerpoint/2010/main" val="1184905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Pod with </a:t>
            </a:r>
            <a:r>
              <a:rPr lang="en-US" altLang="ko-KR" sz="2800" b="1" dirty="0" err="1"/>
              <a:t>NodeSelector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a:t>
            </a:r>
            <a:r>
              <a:rPr lang="en-US" altLang="ko-KR" sz="1800" b="1" dirty="0" err="1"/>
              <a:t>nodeSelector</a:t>
            </a:r>
            <a:r>
              <a:rPr lang="en-US" altLang="ko-KR" sz="1800" b="1" dirty="0"/>
              <a:t> Field in Pod Spec :</a:t>
            </a:r>
            <a:endParaRPr lang="en-US" altLang="ko-KR" sz="1400" dirty="0"/>
          </a:p>
          <a:p>
            <a:pPr lvl="1">
              <a:buFont typeface="Wingdings" panose="05000000000000000000" pitchFamily="2" charset="2"/>
              <a:buChar char="§"/>
            </a:pPr>
            <a:r>
              <a:rPr lang="en-US" altLang="ko-KR" sz="1400" dirty="0"/>
              <a:t>When you try to run the pod with the “</a:t>
            </a:r>
            <a:r>
              <a:rPr lang="en-US" altLang="ko-KR" sz="1400" b="1" dirty="0"/>
              <a:t>$ </a:t>
            </a:r>
            <a:r>
              <a:rPr lang="en-US" altLang="ko-KR" sz="1400" b="1" dirty="0" err="1"/>
              <a:t>kubectl</a:t>
            </a:r>
            <a:r>
              <a:rPr lang="en-US" altLang="ko-KR" sz="1400" b="1" dirty="0"/>
              <a:t> create -f </a:t>
            </a:r>
            <a:r>
              <a:rPr lang="en-US" altLang="ko-KR" sz="1400" b="1" dirty="0" err="1"/>
              <a:t>kubia-gpu-nodeselector.yaml</a:t>
            </a:r>
            <a:r>
              <a:rPr lang="en-US" altLang="ko-KR" sz="1400" dirty="0"/>
              <a:t>” command, you will see the following screenshot.</a:t>
            </a:r>
          </a:p>
          <a:p>
            <a:pPr lvl="1">
              <a:buFont typeface="Wingdings" panose="05000000000000000000" pitchFamily="2" charset="2"/>
              <a:buChar char="§"/>
            </a:pPr>
            <a:r>
              <a:rPr lang="en-US" altLang="ko-KR" sz="1400" b="1" dirty="0"/>
              <a:t>NOTE : Before you run the command, you need to </a:t>
            </a:r>
            <a:r>
              <a:rPr lang="en-US" altLang="ko-KR" sz="1400" b="1" dirty="0" err="1">
                <a:solidFill>
                  <a:srgbClr val="FF0000"/>
                </a:solidFill>
              </a:rPr>
              <a:t>untaint</a:t>
            </a:r>
            <a:r>
              <a:rPr lang="en-US" altLang="ko-KR" sz="1400" b="1" dirty="0"/>
              <a:t> the node first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6AD52406-E476-B511-58C3-A73D6B696E7A}"/>
              </a:ext>
            </a:extLst>
          </p:cNvPr>
          <p:cNvGrpSpPr/>
          <p:nvPr/>
        </p:nvGrpSpPr>
        <p:grpSpPr>
          <a:xfrm>
            <a:off x="838200" y="3909903"/>
            <a:ext cx="10515600" cy="2281985"/>
            <a:chOff x="838200" y="3909903"/>
            <a:chExt cx="10515600" cy="2281985"/>
          </a:xfrm>
        </p:grpSpPr>
        <p:grpSp>
          <p:nvGrpSpPr>
            <p:cNvPr id="14" name="그룹 13">
              <a:extLst>
                <a:ext uri="{FF2B5EF4-FFF2-40B4-BE49-F238E27FC236}">
                  <a16:creationId xmlns:a16="http://schemas.microsoft.com/office/drawing/2014/main" id="{CC67B1C6-4FD5-C1C2-778F-9FBD3B12C8FF}"/>
                </a:ext>
              </a:extLst>
            </p:cNvPr>
            <p:cNvGrpSpPr/>
            <p:nvPr/>
          </p:nvGrpSpPr>
          <p:grpSpPr>
            <a:xfrm>
              <a:off x="838200" y="3909903"/>
              <a:ext cx="10515600" cy="2281985"/>
              <a:chOff x="838200" y="3909903"/>
              <a:chExt cx="10515600" cy="2281985"/>
            </a:xfrm>
          </p:grpSpPr>
          <p:sp>
            <p:nvSpPr>
              <p:cNvPr id="10" name="TextBox 9">
                <a:extLst>
                  <a:ext uri="{FF2B5EF4-FFF2-40B4-BE49-F238E27FC236}">
                    <a16:creationId xmlns:a16="http://schemas.microsoft.com/office/drawing/2014/main" id="{3B7F8875-B360-7DBA-88AF-251584B308B3}"/>
                  </a:ext>
                </a:extLst>
              </p:cNvPr>
              <p:cNvSpPr txBox="1"/>
              <p:nvPr/>
            </p:nvSpPr>
            <p:spPr>
              <a:xfrm>
                <a:off x="3047326" y="3909903"/>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describe pod </a:t>
                </a:r>
                <a:r>
                  <a:rPr lang="en-US" altLang="ko-KR" sz="1000" b="1" dirty="0" err="1">
                    <a:solidFill>
                      <a:srgbClr val="FF0000"/>
                    </a:solidFill>
                  </a:rPr>
                  <a:t>kubia-gpu</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44F3F74A-86E3-727B-1795-17D4A593BCBF}"/>
                  </a:ext>
                </a:extLst>
              </p:cNvPr>
              <p:cNvSpPr/>
              <p:nvPr/>
            </p:nvSpPr>
            <p:spPr>
              <a:xfrm>
                <a:off x="5857285" y="4183582"/>
                <a:ext cx="477430" cy="32368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F53753F5-90BF-58BD-C139-1F84EF89CCB7}"/>
                  </a:ext>
                </a:extLst>
              </p:cNvPr>
              <p:cNvPicPr>
                <a:picLocks noChangeAspect="1"/>
              </p:cNvPicPr>
              <p:nvPr/>
            </p:nvPicPr>
            <p:blipFill>
              <a:blip r:embed="rId2"/>
              <a:stretch>
                <a:fillRect/>
              </a:stretch>
            </p:blipFill>
            <p:spPr>
              <a:xfrm>
                <a:off x="838200" y="4507264"/>
                <a:ext cx="10515600" cy="1684624"/>
              </a:xfrm>
              <a:prstGeom prst="rect">
                <a:avLst/>
              </a:prstGeom>
            </p:spPr>
          </p:pic>
        </p:grpSp>
        <p:sp>
          <p:nvSpPr>
            <p:cNvPr id="15" name="직사각형 14">
              <a:extLst>
                <a:ext uri="{FF2B5EF4-FFF2-40B4-BE49-F238E27FC236}">
                  <a16:creationId xmlns:a16="http://schemas.microsoft.com/office/drawing/2014/main" id="{39988E19-0137-90DC-7976-DC1BA191CDB1}"/>
                </a:ext>
              </a:extLst>
            </p:cNvPr>
            <p:cNvSpPr/>
            <p:nvPr/>
          </p:nvSpPr>
          <p:spPr>
            <a:xfrm>
              <a:off x="6635469" y="5284099"/>
              <a:ext cx="3673784" cy="2103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8" name="그룹 17">
            <a:extLst>
              <a:ext uri="{FF2B5EF4-FFF2-40B4-BE49-F238E27FC236}">
                <a16:creationId xmlns:a16="http://schemas.microsoft.com/office/drawing/2014/main" id="{19918A19-9179-9B75-96EE-E7D3E7663FFD}"/>
              </a:ext>
            </a:extLst>
          </p:cNvPr>
          <p:cNvGrpSpPr/>
          <p:nvPr/>
        </p:nvGrpSpPr>
        <p:grpSpPr>
          <a:xfrm>
            <a:off x="838200" y="1857389"/>
            <a:ext cx="10515601" cy="1906285"/>
            <a:chOff x="838200" y="1857389"/>
            <a:chExt cx="10515601" cy="1906285"/>
          </a:xfrm>
        </p:grpSpPr>
        <p:pic>
          <p:nvPicPr>
            <p:cNvPr id="8" name="그림 7">
              <a:extLst>
                <a:ext uri="{FF2B5EF4-FFF2-40B4-BE49-F238E27FC236}">
                  <a16:creationId xmlns:a16="http://schemas.microsoft.com/office/drawing/2014/main" id="{2E9C74B4-93EB-2BB0-B427-EB89E094F041}"/>
                </a:ext>
              </a:extLst>
            </p:cNvPr>
            <p:cNvPicPr>
              <a:picLocks noChangeAspect="1"/>
            </p:cNvPicPr>
            <p:nvPr/>
          </p:nvPicPr>
          <p:blipFill>
            <a:blip r:embed="rId3"/>
            <a:stretch>
              <a:fillRect/>
            </a:stretch>
          </p:blipFill>
          <p:spPr>
            <a:xfrm>
              <a:off x="838200" y="1857389"/>
              <a:ext cx="10515601" cy="1906285"/>
            </a:xfrm>
            <a:prstGeom prst="rect">
              <a:avLst/>
            </a:prstGeom>
          </p:spPr>
        </p:pic>
        <p:sp>
          <p:nvSpPr>
            <p:cNvPr id="17" name="직사각형 16">
              <a:extLst>
                <a:ext uri="{FF2B5EF4-FFF2-40B4-BE49-F238E27FC236}">
                  <a16:creationId xmlns:a16="http://schemas.microsoft.com/office/drawing/2014/main" id="{D7F5B4E5-0C76-ED10-455F-33699F72CE84}"/>
                </a:ext>
              </a:extLst>
            </p:cNvPr>
            <p:cNvSpPr/>
            <p:nvPr/>
          </p:nvSpPr>
          <p:spPr>
            <a:xfrm>
              <a:off x="898216" y="2662280"/>
              <a:ext cx="7031979" cy="1780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67289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Node Affinity(4/12)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Hard Node Affinity Rules :</a:t>
            </a:r>
            <a:endParaRPr lang="en-US" altLang="ko-KR" sz="1400" dirty="0"/>
          </a:p>
          <a:p>
            <a:pPr lvl="1">
              <a:buFont typeface="Wingdings" panose="05000000000000000000" pitchFamily="2" charset="2"/>
              <a:buChar char="§"/>
            </a:pPr>
            <a:r>
              <a:rPr lang="en-US" altLang="ko-KR" sz="1400" b="1" dirty="0"/>
              <a:t>As you can see, the pod’s spec section contains an “</a:t>
            </a:r>
            <a:r>
              <a:rPr lang="en-US" altLang="ko-KR" sz="1400" b="1" dirty="0">
                <a:solidFill>
                  <a:srgbClr val="FF0000"/>
                </a:solidFill>
              </a:rPr>
              <a:t>affinity</a:t>
            </a:r>
            <a:r>
              <a:rPr lang="en-US" altLang="ko-KR" sz="1400" b="1" dirty="0"/>
              <a:t>” field that contains a “</a:t>
            </a:r>
            <a:r>
              <a:rPr lang="en-US" altLang="ko-KR" sz="1400" b="1" dirty="0" err="1">
                <a:solidFill>
                  <a:srgbClr val="FF0000"/>
                </a:solidFill>
              </a:rPr>
              <a:t>nodeAffinity</a:t>
            </a:r>
            <a:r>
              <a:rPr lang="en-US" altLang="ko-KR" sz="1400" b="1" dirty="0"/>
              <a:t>” field</a:t>
            </a:r>
            <a:r>
              <a:rPr lang="en-US" altLang="ko-KR" sz="1400" dirty="0"/>
              <a:t>, which contains a field with </a:t>
            </a:r>
            <a:r>
              <a:rPr lang="en-US" altLang="ko-KR" sz="1400" b="1" dirty="0"/>
              <a:t>an extremely long name</a:t>
            </a:r>
            <a:r>
              <a:rPr lang="en-US" altLang="ko-KR" sz="1400" dirty="0"/>
              <a:t>, so let’s focus on that first.</a:t>
            </a:r>
          </a:p>
          <a:p>
            <a:pPr lvl="1">
              <a:buFont typeface="Wingdings" panose="05000000000000000000" pitchFamily="2" charset="2"/>
              <a:buChar char="§"/>
            </a:pPr>
            <a:r>
              <a:rPr lang="en-US" altLang="ko-KR" sz="1400" dirty="0"/>
              <a:t>Let’s break it down into two parts and examine what they mean :</a:t>
            </a:r>
          </a:p>
          <a:p>
            <a:pPr lvl="2">
              <a:buFont typeface="Wingdings" panose="05000000000000000000" pitchFamily="2" charset="2"/>
              <a:buChar char="§"/>
            </a:pPr>
            <a:r>
              <a:rPr lang="en-US" altLang="ko-KR" sz="1400" b="1" dirty="0"/>
              <a:t>“</a:t>
            </a:r>
            <a:r>
              <a:rPr lang="en-US" altLang="ko-KR" sz="1400" b="1" dirty="0" err="1">
                <a:solidFill>
                  <a:srgbClr val="FF0000"/>
                </a:solidFill>
              </a:rPr>
              <a:t>requiredDuringScheduling</a:t>
            </a:r>
            <a:r>
              <a:rPr lang="en-US" altLang="ko-KR" sz="1400" b="1" dirty="0"/>
              <a:t>...” </a:t>
            </a:r>
            <a:r>
              <a:rPr lang="en-US" altLang="ko-KR" sz="1400" dirty="0"/>
              <a:t>means the rules defined under this field </a:t>
            </a:r>
            <a:r>
              <a:rPr lang="en-US" altLang="ko-KR" sz="1400" b="1" dirty="0"/>
              <a:t>specify the labels the node must have for the pod to be scheduled to the node</a:t>
            </a:r>
            <a:r>
              <a:rPr lang="en-US" altLang="ko-KR" sz="1400" dirty="0"/>
              <a:t>.</a:t>
            </a:r>
          </a:p>
          <a:p>
            <a:pPr lvl="2">
              <a:buFont typeface="Wingdings" panose="05000000000000000000" pitchFamily="2" charset="2"/>
              <a:buChar char="§"/>
            </a:pPr>
            <a:r>
              <a:rPr lang="en-US" altLang="ko-KR" sz="1400" dirty="0"/>
              <a:t>“</a:t>
            </a:r>
            <a:r>
              <a:rPr lang="en-US" altLang="ko-KR" sz="1400" b="1" dirty="0"/>
              <a:t>...</a:t>
            </a:r>
            <a:r>
              <a:rPr lang="en-US" altLang="ko-KR" sz="1400" b="1" dirty="0" err="1">
                <a:solidFill>
                  <a:srgbClr val="FF0000"/>
                </a:solidFill>
              </a:rPr>
              <a:t>IgnoredDuringExecution</a:t>
            </a:r>
            <a:r>
              <a:rPr lang="en-US" altLang="ko-KR" sz="1400" dirty="0"/>
              <a:t>” means the rules defined under the field </a:t>
            </a:r>
            <a:r>
              <a:rPr lang="en-US" altLang="ko-KR" sz="1400" b="1" dirty="0"/>
              <a:t>don’t affect pods already executing on the node</a:t>
            </a:r>
            <a:r>
              <a:rPr lang="en-US" altLang="ko-KR" sz="1400" dirty="0"/>
              <a:t>.</a:t>
            </a:r>
          </a:p>
          <a:p>
            <a:pPr lvl="1">
              <a:buFont typeface="Wingdings" panose="05000000000000000000" pitchFamily="2" charset="2"/>
              <a:buChar char="§"/>
            </a:pPr>
            <a:r>
              <a:rPr lang="en-US" altLang="ko-KR" sz="1400" dirty="0"/>
              <a:t>At this point, </a:t>
            </a:r>
            <a:r>
              <a:rPr lang="en-US" altLang="ko-KR" sz="1400" b="1" dirty="0"/>
              <a:t>affinity currently only affects pod scheduling and never causes a pod to be evicted from a node</a:t>
            </a:r>
            <a:r>
              <a:rPr lang="en-US" altLang="ko-KR" sz="1400" dirty="0"/>
              <a:t>. </a:t>
            </a:r>
            <a:r>
              <a:rPr lang="en-US" altLang="ko-KR" sz="1400" b="1" dirty="0"/>
              <a:t>That’s why all the rules right now always end with “</a:t>
            </a:r>
            <a:r>
              <a:rPr lang="en-US" altLang="ko-KR" sz="1400" b="1" dirty="0" err="1">
                <a:solidFill>
                  <a:srgbClr val="FF0000"/>
                </a:solidFill>
              </a:rPr>
              <a:t>IgnoredDuringExecution</a:t>
            </a:r>
            <a:r>
              <a:rPr lang="en-US" altLang="ko-KR" sz="1400" dirty="0"/>
              <a:t>.” </a:t>
            </a:r>
            <a:r>
              <a:rPr lang="en-US" altLang="ko-KR" sz="1400" b="1" dirty="0"/>
              <a:t>Eventually, Kubernetes will also support “</a:t>
            </a:r>
            <a:r>
              <a:rPr lang="en-US" altLang="ko-KR" sz="1400" b="1" dirty="0" err="1">
                <a:solidFill>
                  <a:srgbClr val="FF0000"/>
                </a:solidFill>
              </a:rPr>
              <a:t>RequiredDuringExecution</a:t>
            </a:r>
            <a:r>
              <a:rPr lang="en-US" altLang="ko-KR" sz="1400" b="1" dirty="0"/>
              <a:t>,” which means that if you remove a label from a node, pods that require the node to have that label will be evicted from such a node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C22DD7B-4C79-BC42-929C-1A0A52C5F455}"/>
              </a:ext>
            </a:extLst>
          </p:cNvPr>
          <p:cNvPicPr>
            <a:picLocks noChangeAspect="1"/>
          </p:cNvPicPr>
          <p:nvPr/>
        </p:nvPicPr>
        <p:blipFill>
          <a:blip r:embed="rId2"/>
          <a:stretch>
            <a:fillRect/>
          </a:stretch>
        </p:blipFill>
        <p:spPr>
          <a:xfrm>
            <a:off x="2916315" y="3749657"/>
            <a:ext cx="6359370" cy="2659373"/>
          </a:xfrm>
          <a:prstGeom prst="rect">
            <a:avLst/>
          </a:prstGeom>
        </p:spPr>
      </p:pic>
    </p:spTree>
    <p:extLst>
      <p:ext uri="{BB962C8B-B14F-4D97-AF65-F5344CB8AC3E}">
        <p14:creationId xmlns:p14="http://schemas.microsoft.com/office/powerpoint/2010/main" val="2634566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Pod with </a:t>
            </a:r>
            <a:r>
              <a:rPr lang="en-US" altLang="ko-KR" sz="2800" b="1" dirty="0" err="1"/>
              <a:t>NodeAffinity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a:t>
            </a:r>
            <a:r>
              <a:rPr lang="en-US" altLang="ko-KR" sz="1800" b="1" dirty="0" err="1"/>
              <a:t>nodeAffinity</a:t>
            </a:r>
            <a:r>
              <a:rPr lang="en-US" altLang="ko-KR" sz="1800" b="1" dirty="0"/>
              <a:t> Field in Pod Spec :</a:t>
            </a:r>
            <a:endParaRPr lang="en-US" altLang="ko-KR" sz="1400" dirty="0"/>
          </a:p>
          <a:p>
            <a:pPr lvl="1">
              <a:buFont typeface="Wingdings" panose="05000000000000000000" pitchFamily="2" charset="2"/>
              <a:buChar char="§"/>
            </a:pPr>
            <a:r>
              <a:rPr lang="en-US" altLang="ko-KR" sz="1400" dirty="0"/>
              <a:t>When you run the “</a:t>
            </a:r>
            <a:r>
              <a:rPr lang="en-US" altLang="ko-KR" sz="1400" b="1" dirty="0" err="1"/>
              <a:t>kubia-gpu-nodeaffinity.yaml</a:t>
            </a:r>
            <a:r>
              <a:rPr lang="en-US" altLang="ko-KR" sz="1400" dirty="0"/>
              <a:t>”, you will also meet the pod pending. </a:t>
            </a:r>
            <a:r>
              <a:rPr lang="en-US" altLang="ko-KR" sz="1400" b="1" dirty="0"/>
              <a:t>If you don’t have any node with GPU, then you will meet the pending situation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25FAB873-5BFC-02DB-CF45-79969ED49A6D}"/>
              </a:ext>
            </a:extLst>
          </p:cNvPr>
          <p:cNvGrpSpPr/>
          <p:nvPr/>
        </p:nvGrpSpPr>
        <p:grpSpPr>
          <a:xfrm>
            <a:off x="838200" y="1805670"/>
            <a:ext cx="10515600" cy="4165294"/>
            <a:chOff x="838200" y="1805670"/>
            <a:chExt cx="10515600" cy="4165294"/>
          </a:xfrm>
        </p:grpSpPr>
        <p:grpSp>
          <p:nvGrpSpPr>
            <p:cNvPr id="15" name="그룹 14">
              <a:extLst>
                <a:ext uri="{FF2B5EF4-FFF2-40B4-BE49-F238E27FC236}">
                  <a16:creationId xmlns:a16="http://schemas.microsoft.com/office/drawing/2014/main" id="{4359D092-E6F1-BB50-578B-D6E80CEEFF8D}"/>
                </a:ext>
              </a:extLst>
            </p:cNvPr>
            <p:cNvGrpSpPr/>
            <p:nvPr/>
          </p:nvGrpSpPr>
          <p:grpSpPr>
            <a:xfrm>
              <a:off x="838200" y="1805670"/>
              <a:ext cx="10515600" cy="4165294"/>
              <a:chOff x="838200" y="1805670"/>
              <a:chExt cx="10515600" cy="4165294"/>
            </a:xfrm>
          </p:grpSpPr>
          <p:grpSp>
            <p:nvGrpSpPr>
              <p:cNvPr id="13" name="그룹 12">
                <a:extLst>
                  <a:ext uri="{FF2B5EF4-FFF2-40B4-BE49-F238E27FC236}">
                    <a16:creationId xmlns:a16="http://schemas.microsoft.com/office/drawing/2014/main" id="{1125D2A3-080B-03EF-3362-4E98FA6223AA}"/>
                  </a:ext>
                </a:extLst>
              </p:cNvPr>
              <p:cNvGrpSpPr/>
              <p:nvPr/>
            </p:nvGrpSpPr>
            <p:grpSpPr>
              <a:xfrm>
                <a:off x="838200" y="1805670"/>
                <a:ext cx="10515600" cy="4165294"/>
                <a:chOff x="838200" y="1805670"/>
                <a:chExt cx="10515600" cy="4165294"/>
              </a:xfrm>
            </p:grpSpPr>
            <p:grpSp>
              <p:nvGrpSpPr>
                <p:cNvPr id="11" name="그룹 10">
                  <a:extLst>
                    <a:ext uri="{FF2B5EF4-FFF2-40B4-BE49-F238E27FC236}">
                      <a16:creationId xmlns:a16="http://schemas.microsoft.com/office/drawing/2014/main" id="{B7F43080-C78A-9D5A-7242-4CAD36C639B9}"/>
                    </a:ext>
                  </a:extLst>
                </p:cNvPr>
                <p:cNvGrpSpPr/>
                <p:nvPr/>
              </p:nvGrpSpPr>
              <p:grpSpPr>
                <a:xfrm>
                  <a:off x="838200" y="1805670"/>
                  <a:ext cx="10515600" cy="4165294"/>
                  <a:chOff x="838200" y="1692382"/>
                  <a:chExt cx="10515600" cy="4165294"/>
                </a:xfrm>
              </p:grpSpPr>
              <p:pic>
                <p:nvPicPr>
                  <p:cNvPr id="8" name="그림 7">
                    <a:extLst>
                      <a:ext uri="{FF2B5EF4-FFF2-40B4-BE49-F238E27FC236}">
                        <a16:creationId xmlns:a16="http://schemas.microsoft.com/office/drawing/2014/main" id="{FB7C7E0B-44A8-56B4-CF87-B13CB23281F4}"/>
                      </a:ext>
                    </a:extLst>
                  </p:cNvPr>
                  <p:cNvPicPr>
                    <a:picLocks noChangeAspect="1"/>
                  </p:cNvPicPr>
                  <p:nvPr/>
                </p:nvPicPr>
                <p:blipFill>
                  <a:blip r:embed="rId2"/>
                  <a:stretch>
                    <a:fillRect/>
                  </a:stretch>
                </p:blipFill>
                <p:spPr>
                  <a:xfrm>
                    <a:off x="838200" y="1692382"/>
                    <a:ext cx="10515600" cy="2453640"/>
                  </a:xfrm>
                  <a:prstGeom prst="rect">
                    <a:avLst/>
                  </a:prstGeom>
                </p:spPr>
              </p:pic>
              <p:pic>
                <p:nvPicPr>
                  <p:cNvPr id="10" name="그림 9">
                    <a:extLst>
                      <a:ext uri="{FF2B5EF4-FFF2-40B4-BE49-F238E27FC236}">
                        <a16:creationId xmlns:a16="http://schemas.microsoft.com/office/drawing/2014/main" id="{E1F3B8AB-FF5B-D0EA-D3D7-9894A39B7DD1}"/>
                      </a:ext>
                    </a:extLst>
                  </p:cNvPr>
                  <p:cNvPicPr>
                    <a:picLocks noChangeAspect="1"/>
                  </p:cNvPicPr>
                  <p:nvPr/>
                </p:nvPicPr>
                <p:blipFill>
                  <a:blip r:embed="rId3"/>
                  <a:stretch>
                    <a:fillRect/>
                  </a:stretch>
                </p:blipFill>
                <p:spPr>
                  <a:xfrm>
                    <a:off x="838200" y="4192706"/>
                    <a:ext cx="10515600" cy="1664970"/>
                  </a:xfrm>
                  <a:prstGeom prst="rect">
                    <a:avLst/>
                  </a:prstGeom>
                </p:spPr>
              </p:pic>
            </p:grpSp>
            <p:sp>
              <p:nvSpPr>
                <p:cNvPr id="12" name="직사각형 11">
                  <a:extLst>
                    <a:ext uri="{FF2B5EF4-FFF2-40B4-BE49-F238E27FC236}">
                      <a16:creationId xmlns:a16="http://schemas.microsoft.com/office/drawing/2014/main" id="{D09CF174-9436-4840-BEA3-89F99FEB4A43}"/>
                    </a:ext>
                  </a:extLst>
                </p:cNvPr>
                <p:cNvSpPr/>
                <p:nvPr/>
              </p:nvSpPr>
              <p:spPr>
                <a:xfrm>
                  <a:off x="6505996" y="5258206"/>
                  <a:ext cx="3609048" cy="1553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4" name="직사각형 13">
                <a:extLst>
                  <a:ext uri="{FF2B5EF4-FFF2-40B4-BE49-F238E27FC236}">
                    <a16:creationId xmlns:a16="http://schemas.microsoft.com/office/drawing/2014/main" id="{19F0488A-E15C-7BFB-C115-6159D34A2166}"/>
                  </a:ext>
                </a:extLst>
              </p:cNvPr>
              <p:cNvSpPr/>
              <p:nvPr/>
            </p:nvSpPr>
            <p:spPr>
              <a:xfrm>
                <a:off x="930584" y="2888857"/>
                <a:ext cx="3236814" cy="1699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6" name="직사각형 15">
              <a:extLst>
                <a:ext uri="{FF2B5EF4-FFF2-40B4-BE49-F238E27FC236}">
                  <a16:creationId xmlns:a16="http://schemas.microsoft.com/office/drawing/2014/main" id="{C00D21C1-1F8C-A1D5-C78C-05677675318D}"/>
                </a:ext>
              </a:extLst>
            </p:cNvPr>
            <p:cNvSpPr/>
            <p:nvPr/>
          </p:nvSpPr>
          <p:spPr>
            <a:xfrm>
              <a:off x="5308375" y="2249586"/>
              <a:ext cx="3236814" cy="2508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6430913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Node Affinity(5/12)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Hard Node Affinity Rules :</a:t>
            </a:r>
            <a:endParaRPr lang="en-US" altLang="ko-KR" sz="1400" dirty="0"/>
          </a:p>
          <a:p>
            <a:pPr lvl="1">
              <a:buFont typeface="Wingdings" panose="05000000000000000000" pitchFamily="2" charset="2"/>
              <a:buChar char="§"/>
            </a:pPr>
            <a:r>
              <a:rPr lang="en-US" altLang="ko-KR" sz="1400" b="1" dirty="0"/>
              <a:t>The “</a:t>
            </a:r>
            <a:r>
              <a:rPr lang="en-US" altLang="ko-KR" sz="1400" b="1" dirty="0" err="1">
                <a:solidFill>
                  <a:srgbClr val="FF0000"/>
                </a:solidFill>
              </a:rPr>
              <a:t>nodeSelectorTerms</a:t>
            </a:r>
            <a:r>
              <a:rPr lang="en-US" altLang="ko-KR" sz="1400" b="1" dirty="0"/>
              <a:t>” field and the “</a:t>
            </a:r>
            <a:r>
              <a:rPr lang="en-US" altLang="ko-KR" sz="1400" b="1" dirty="0" err="1">
                <a:solidFill>
                  <a:srgbClr val="FF0000"/>
                </a:solidFill>
              </a:rPr>
              <a:t>matchExpressions</a:t>
            </a:r>
            <a:r>
              <a:rPr lang="en-US" altLang="ko-KR" sz="1400" b="1" dirty="0"/>
              <a:t>” field define which expressions the node’s labels must match for the pod to be scheduled to the node</a:t>
            </a:r>
            <a:r>
              <a:rPr lang="en-US" altLang="ko-KR" sz="1400" dirty="0"/>
              <a:t>. The node must have a “</a:t>
            </a:r>
            <a:r>
              <a:rPr lang="en-US" altLang="ko-KR" sz="1400" b="1" dirty="0" err="1"/>
              <a:t>gpu</a:t>
            </a:r>
            <a:r>
              <a:rPr lang="en-US" altLang="ko-KR" sz="1400" dirty="0"/>
              <a:t>” label whose value is set to true. </a:t>
            </a:r>
            <a:r>
              <a:rPr lang="en-US" altLang="ko-KR" sz="1400" b="1" dirty="0"/>
              <a:t>This pod will therefore only be scheduled to nodes that have the “</a:t>
            </a:r>
            <a:r>
              <a:rPr lang="en-US" altLang="ko-KR" sz="1400" b="1" dirty="0" err="1"/>
              <a:t>gpu</a:t>
            </a:r>
            <a:r>
              <a:rPr lang="en-US" altLang="ko-KR" sz="1400" b="1" dirty="0"/>
              <a:t>=true” label</a:t>
            </a:r>
            <a:r>
              <a:rPr lang="en-US" altLang="ko-KR" sz="1400" dirty="0"/>
              <a:t>, as shown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9F741F8D-B64B-83ED-0645-13C77BB207C2}"/>
              </a:ext>
            </a:extLst>
          </p:cNvPr>
          <p:cNvPicPr>
            <a:picLocks noChangeAspect="1"/>
          </p:cNvPicPr>
          <p:nvPr/>
        </p:nvPicPr>
        <p:blipFill>
          <a:blip r:embed="rId2"/>
          <a:stretch>
            <a:fillRect/>
          </a:stretch>
        </p:blipFill>
        <p:spPr>
          <a:xfrm>
            <a:off x="3500284" y="2284027"/>
            <a:ext cx="5191432" cy="2615381"/>
          </a:xfrm>
          <a:prstGeom prst="rect">
            <a:avLst/>
          </a:prstGeom>
        </p:spPr>
      </p:pic>
    </p:spTree>
    <p:extLst>
      <p:ext uri="{BB962C8B-B14F-4D97-AF65-F5344CB8AC3E}">
        <p14:creationId xmlns:p14="http://schemas.microsoft.com/office/powerpoint/2010/main" val="2669465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Node Affinity(6/12)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Prioritizing Nodes When Scheduling a Pod :</a:t>
            </a:r>
            <a:endParaRPr lang="en-US" altLang="ko-KR" sz="1400" dirty="0"/>
          </a:p>
          <a:p>
            <a:pPr lvl="1">
              <a:buFont typeface="Wingdings" panose="05000000000000000000" pitchFamily="2" charset="2"/>
              <a:buChar char="§"/>
            </a:pPr>
            <a:r>
              <a:rPr lang="en-US" altLang="ko-KR" sz="1400" b="1" dirty="0"/>
              <a:t>The biggest benefit of the newly introduced node affinity feature is the ability to specify which nodes the Scheduler should prefer when scheduling a specific pod</a:t>
            </a:r>
            <a:r>
              <a:rPr lang="en-US" altLang="ko-KR" sz="1400" dirty="0"/>
              <a:t>. This is done through the  “</a:t>
            </a:r>
            <a:r>
              <a:rPr lang="en-US" altLang="ko-KR" sz="1400" b="1" dirty="0" err="1">
                <a:solidFill>
                  <a:srgbClr val="FF0000"/>
                </a:solidFill>
              </a:rPr>
              <a:t>preferredDuringSchedulingIgnoredDuringExecution</a:t>
            </a:r>
            <a:r>
              <a:rPr lang="en-US" altLang="ko-KR" sz="1400" dirty="0"/>
              <a:t>” field.</a:t>
            </a:r>
          </a:p>
          <a:p>
            <a:pPr lvl="1">
              <a:buFont typeface="Wingdings" panose="05000000000000000000" pitchFamily="2" charset="2"/>
              <a:buChar char="§"/>
            </a:pPr>
            <a:r>
              <a:rPr lang="en-US" altLang="ko-KR" sz="1400" dirty="0"/>
              <a:t>Imagine having multiple datacenters across different countries. </a:t>
            </a:r>
            <a:r>
              <a:rPr lang="en-US" altLang="ko-KR" sz="1400" b="1" dirty="0"/>
              <a:t>Each datacenter represents a separate availability zone</a:t>
            </a:r>
            <a:r>
              <a:rPr lang="en-US" altLang="ko-KR" sz="1400" dirty="0"/>
              <a:t>. In each zone, you have certain machines meant only for your own use and others that your partner companies can use. You now want to deploy a few pods and you’d prefer them to be scheduled to “zone1” and to the machines reserved for your company’s deployments. If those machines don’t have enough room for the pods or if other important reasons exist that prevent them from being scheduled there, you’re okay with them being scheduled to the machines your partners use and to the other zones. </a:t>
            </a:r>
            <a:r>
              <a:rPr lang="en-US" altLang="ko-KR" sz="1400" b="1" dirty="0"/>
              <a:t>Node affinity </a:t>
            </a:r>
            <a:r>
              <a:rPr lang="en-US" altLang="ko-KR" sz="1400" dirty="0"/>
              <a:t>allows you to do that.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506A3897-8B7D-2BA3-DF18-77D2EA6A1875}"/>
              </a:ext>
            </a:extLst>
          </p:cNvPr>
          <p:cNvGrpSpPr/>
          <p:nvPr/>
        </p:nvGrpSpPr>
        <p:grpSpPr>
          <a:xfrm>
            <a:off x="3093326" y="3091158"/>
            <a:ext cx="6005348" cy="3317872"/>
            <a:chOff x="3093326" y="3091158"/>
            <a:chExt cx="6005348" cy="3317872"/>
          </a:xfrm>
        </p:grpSpPr>
        <p:pic>
          <p:nvPicPr>
            <p:cNvPr id="4" name="그림 3">
              <a:extLst>
                <a:ext uri="{FF2B5EF4-FFF2-40B4-BE49-F238E27FC236}">
                  <a16:creationId xmlns:a16="http://schemas.microsoft.com/office/drawing/2014/main" id="{4C5E8FAF-2378-AA86-2E00-023945B7B36A}"/>
                </a:ext>
              </a:extLst>
            </p:cNvPr>
            <p:cNvPicPr>
              <a:picLocks noChangeAspect="1"/>
            </p:cNvPicPr>
            <p:nvPr/>
          </p:nvPicPr>
          <p:blipFill>
            <a:blip r:embed="rId2"/>
            <a:stretch>
              <a:fillRect/>
            </a:stretch>
          </p:blipFill>
          <p:spPr>
            <a:xfrm>
              <a:off x="3093326" y="3091158"/>
              <a:ext cx="6005348" cy="3317872"/>
            </a:xfrm>
            <a:prstGeom prst="rect">
              <a:avLst/>
            </a:prstGeom>
          </p:spPr>
        </p:pic>
        <p:sp>
          <p:nvSpPr>
            <p:cNvPr id="8" name="직사각형 7">
              <a:extLst>
                <a:ext uri="{FF2B5EF4-FFF2-40B4-BE49-F238E27FC236}">
                  <a16:creationId xmlns:a16="http://schemas.microsoft.com/office/drawing/2014/main" id="{4269060C-D6CC-A8D4-C1F3-20E5D6E30AE9}"/>
                </a:ext>
              </a:extLst>
            </p:cNvPr>
            <p:cNvSpPr/>
            <p:nvPr/>
          </p:nvSpPr>
          <p:spPr>
            <a:xfrm>
              <a:off x="3101418" y="5834358"/>
              <a:ext cx="5937386" cy="1933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97713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Node Affinity(7/12)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Prioritizing Nodes When Scheduling a Pod :</a:t>
            </a:r>
            <a:endParaRPr lang="en-US" altLang="ko-KR" sz="1400" dirty="0"/>
          </a:p>
          <a:p>
            <a:pPr lvl="1">
              <a:buFont typeface="Wingdings" panose="05000000000000000000" pitchFamily="2" charset="2"/>
              <a:buChar char="§"/>
            </a:pPr>
            <a:r>
              <a:rPr lang="en-US" altLang="ko-KR" sz="1400" b="1" dirty="0"/>
              <a:t>First, the nodes need to be labeled appropriately</a:t>
            </a:r>
            <a:r>
              <a:rPr lang="en-US" altLang="ko-KR" sz="1400" dirty="0"/>
              <a:t>. Each node needs to have </a:t>
            </a:r>
            <a:r>
              <a:rPr lang="en-US" altLang="ko-KR" sz="1400" b="1" dirty="0"/>
              <a:t>a label that designates the availability </a:t>
            </a:r>
            <a:r>
              <a:rPr lang="en-US" altLang="ko-KR" sz="1400" b="1" dirty="0">
                <a:solidFill>
                  <a:srgbClr val="FF0000"/>
                </a:solidFill>
              </a:rPr>
              <a:t>zone</a:t>
            </a:r>
            <a:r>
              <a:rPr lang="en-US" altLang="ko-KR" sz="1400" b="1" dirty="0"/>
              <a:t> the node belongs to </a:t>
            </a:r>
            <a:r>
              <a:rPr lang="en-US" altLang="ko-KR" sz="1400" dirty="0"/>
              <a:t>and </a:t>
            </a:r>
            <a:r>
              <a:rPr lang="en-US" altLang="ko-KR" sz="1400" b="1" dirty="0"/>
              <a:t>a label marking it as either a </a:t>
            </a:r>
            <a:r>
              <a:rPr lang="en-US" altLang="ko-KR" sz="1400" b="1" dirty="0">
                <a:solidFill>
                  <a:srgbClr val="FF0000"/>
                </a:solidFill>
              </a:rPr>
              <a:t>dedicated</a:t>
            </a:r>
            <a:r>
              <a:rPr lang="en-US" altLang="ko-KR" sz="1400" b="1" dirty="0"/>
              <a:t> or a </a:t>
            </a:r>
            <a:r>
              <a:rPr lang="en-US" altLang="ko-KR" sz="1400" b="1" dirty="0">
                <a:solidFill>
                  <a:srgbClr val="FF0000"/>
                </a:solidFill>
              </a:rPr>
              <a:t>shared</a:t>
            </a:r>
            <a:r>
              <a:rPr lang="en-US" altLang="ko-KR" sz="1400" b="1" dirty="0"/>
              <a:t> node</a:t>
            </a:r>
            <a:r>
              <a:rPr lang="en-US" altLang="ko-KR" sz="1400" dirty="0"/>
              <a:t>.</a:t>
            </a:r>
          </a:p>
          <a:p>
            <a:pPr lvl="1">
              <a:buFont typeface="Wingdings" panose="05000000000000000000" pitchFamily="2" charset="2"/>
              <a:buChar char="§"/>
            </a:pPr>
            <a:r>
              <a:rPr lang="en-US" altLang="ko-KR" sz="1400" b="1" dirty="0"/>
              <a:t>NOTE : </a:t>
            </a:r>
            <a:r>
              <a:rPr lang="en-US" altLang="ko-KR" sz="1400" b="1" dirty="0" err="1"/>
              <a:t>Minikube</a:t>
            </a:r>
            <a:r>
              <a:rPr lang="en-US" altLang="ko-KR" sz="1400" b="1" dirty="0"/>
              <a:t> isn’t the best choice for running the following examples, because it runs only one node</a:t>
            </a:r>
            <a:r>
              <a:rPr lang="en-US" altLang="ko-KR" sz="1400" dirty="0"/>
              <a:t>. </a:t>
            </a:r>
            <a:r>
              <a:rPr lang="en-US" altLang="ko-KR" sz="1400" b="1" dirty="0"/>
              <a:t>Here I used “</a:t>
            </a:r>
            <a:r>
              <a:rPr lang="en-US" altLang="ko-KR" sz="1400" b="1" dirty="0" err="1">
                <a:solidFill>
                  <a:srgbClr val="FF0000"/>
                </a:solidFill>
              </a:rPr>
              <a:t>kubeadm</a:t>
            </a:r>
            <a:r>
              <a:rPr lang="en-US" altLang="ko-KR" sz="1400" b="1" dirty="0"/>
              <a:t>” for multi-node cluster</a:t>
            </a:r>
            <a:r>
              <a:rPr lang="en-US" altLang="ko-KR" sz="1400" dirty="0"/>
              <a:t>. </a:t>
            </a:r>
            <a:r>
              <a:rPr lang="en-US" altLang="ko-KR" sz="1400" b="1" dirty="0"/>
              <a:t>Here I will use only 3 nodes(actually </a:t>
            </a:r>
            <a:r>
              <a:rPr lang="en-US" altLang="ko-KR" sz="1400" b="1" dirty="0">
                <a:solidFill>
                  <a:srgbClr val="FF0000"/>
                </a:solidFill>
              </a:rPr>
              <a:t>3 VirtualBox machine</a:t>
            </a:r>
            <a:r>
              <a:rPr lang="en-US" altLang="ko-KR" sz="1400" b="1" dirty="0"/>
              <a:t>)</a:t>
            </a:r>
            <a:r>
              <a:rPr lang="en-US" altLang="ko-KR" sz="1400" dirty="0"/>
              <a:t>, </a:t>
            </a:r>
            <a:r>
              <a:rPr lang="en-US" altLang="ko-KR" sz="1400" b="1" dirty="0"/>
              <a:t>one for “control-plane” and the others for “worker”.</a:t>
            </a:r>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Actually, I made a clone of </a:t>
            </a:r>
            <a:r>
              <a:rPr lang="en-US" altLang="ko-KR" sz="1400" b="1" dirty="0" err="1"/>
              <a:t>Virtualbox</a:t>
            </a:r>
            <a:r>
              <a:rPr lang="en-US" altLang="ko-KR" sz="1400" b="1" dirty="0"/>
              <a:t> image and edited “/</a:t>
            </a:r>
            <a:r>
              <a:rPr lang="en-US" altLang="ko-KR" sz="1400" b="1" dirty="0" err="1"/>
              <a:t>etc</a:t>
            </a:r>
            <a:r>
              <a:rPr lang="en-US" altLang="ko-KR" sz="1400" b="1" dirty="0"/>
              <a:t>/hosts” file to set the different hostname.</a:t>
            </a:r>
          </a:p>
          <a:p>
            <a:pPr lvl="1">
              <a:buFont typeface="Wingdings" panose="05000000000000000000" pitchFamily="2" charset="2"/>
              <a:buChar char="§"/>
            </a:pPr>
            <a:r>
              <a:rPr lang="en-US" altLang="ko-KR" sz="1400" b="1" dirty="0"/>
              <a:t>NOTICE : To refresh the cluster, you need to run “$ </a:t>
            </a:r>
            <a:r>
              <a:rPr lang="en-US" altLang="ko-KR" sz="1400" b="1" dirty="0" err="1"/>
              <a:t>sudo</a:t>
            </a:r>
            <a:r>
              <a:rPr lang="en-US" altLang="ko-KR" sz="1400" b="1" dirty="0"/>
              <a:t> </a:t>
            </a:r>
            <a:r>
              <a:rPr lang="en-US" altLang="ko-KR" sz="1400" b="1" dirty="0" err="1"/>
              <a:t>kubeadm</a:t>
            </a:r>
            <a:r>
              <a:rPr lang="en-US" altLang="ko-KR" sz="1400" b="1" dirty="0"/>
              <a:t> reset” command in each node. Then “$ </a:t>
            </a:r>
            <a:r>
              <a:rPr lang="en-US" altLang="ko-KR" sz="1400" b="1" dirty="0" err="1"/>
              <a:t>sudo</a:t>
            </a:r>
            <a:r>
              <a:rPr lang="en-US" altLang="ko-KR" sz="1400" b="1" dirty="0"/>
              <a:t> </a:t>
            </a:r>
            <a:r>
              <a:rPr lang="en-US" altLang="ko-KR" sz="1400" b="1" dirty="0" err="1"/>
              <a:t>kubeadm</a:t>
            </a:r>
            <a:r>
              <a:rPr lang="en-US" altLang="ko-KR" sz="1400" b="1" dirty="0"/>
              <a:t> </a:t>
            </a:r>
            <a:r>
              <a:rPr lang="en-US" altLang="ko-KR" sz="1400" b="1" dirty="0" err="1"/>
              <a:t>init</a:t>
            </a:r>
            <a:r>
              <a:rPr lang="en-US" altLang="ko-KR" sz="1400" b="1" dirty="0"/>
              <a:t>” and “$ </a:t>
            </a:r>
            <a:r>
              <a:rPr lang="en-US" altLang="ko-KR" sz="1400" b="1" dirty="0" err="1"/>
              <a:t>sudo</a:t>
            </a:r>
            <a:r>
              <a:rPr lang="en-US" altLang="ko-KR" sz="1400" b="1" dirty="0"/>
              <a:t> </a:t>
            </a:r>
            <a:r>
              <a:rPr lang="en-US" altLang="ko-KR" sz="1400" b="1" dirty="0" err="1"/>
              <a:t>kubeadm</a:t>
            </a:r>
            <a:r>
              <a:rPr lang="en-US" altLang="ko-KR" sz="1400" b="1" dirty="0"/>
              <a:t> join” commands in master and worker nodes again.</a:t>
            </a:r>
          </a:p>
          <a:p>
            <a:pPr lvl="1">
              <a:buFont typeface="Wingdings" panose="05000000000000000000" pitchFamily="2" charset="2"/>
              <a:buChar char="§"/>
            </a:pPr>
            <a:r>
              <a:rPr lang="en-US" altLang="ko-KR" sz="1400" b="1" dirty="0"/>
              <a:t>NOTICE : If you want to reset the cluster, you also need to run “$ </a:t>
            </a:r>
            <a:r>
              <a:rPr lang="en-US" altLang="ko-KR" sz="1400" b="1" dirty="0" err="1"/>
              <a:t>kubectl</a:t>
            </a:r>
            <a:r>
              <a:rPr lang="en-US" altLang="ko-KR" sz="1400" b="1" dirty="0"/>
              <a:t> apply -f </a:t>
            </a:r>
            <a:r>
              <a:rPr lang="en-US" altLang="ko-KR" sz="1400" b="1" dirty="0">
                <a:hlinkClick r:id="rId2"/>
              </a:rPr>
              <a:t>https://github.com/</a:t>
            </a:r>
            <a:r>
              <a:rPr lang="en-US" altLang="ko-KR" sz="1400" b="1" dirty="0" err="1">
                <a:hlinkClick r:id="rId2"/>
              </a:rPr>
              <a:t>weaveworks</a:t>
            </a:r>
            <a:r>
              <a:rPr lang="en-US" altLang="ko-KR" sz="1400" b="1" dirty="0">
                <a:hlinkClick r:id="rId2"/>
              </a:rPr>
              <a:t>/weave/releases/download/v2.8.1/weave-daemonset-k8s.yaml</a:t>
            </a:r>
            <a:r>
              <a:rPr lang="en-US" altLang="ko-KR" sz="1400" b="1"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651780F-5A07-7389-62FA-A0FEE4607533}"/>
              </a:ext>
            </a:extLst>
          </p:cNvPr>
          <p:cNvGrpSpPr/>
          <p:nvPr/>
        </p:nvGrpSpPr>
        <p:grpSpPr>
          <a:xfrm>
            <a:off x="838200" y="2449874"/>
            <a:ext cx="10515600" cy="1664970"/>
            <a:chOff x="838200" y="2255666"/>
            <a:chExt cx="10515600" cy="1664970"/>
          </a:xfrm>
        </p:grpSpPr>
        <p:pic>
          <p:nvPicPr>
            <p:cNvPr id="8" name="그림 7">
              <a:extLst>
                <a:ext uri="{FF2B5EF4-FFF2-40B4-BE49-F238E27FC236}">
                  <a16:creationId xmlns:a16="http://schemas.microsoft.com/office/drawing/2014/main" id="{FD6AB0A7-974F-91D7-647E-0E47F24C95E1}"/>
                </a:ext>
              </a:extLst>
            </p:cNvPr>
            <p:cNvPicPr>
              <a:picLocks noChangeAspect="1"/>
            </p:cNvPicPr>
            <p:nvPr/>
          </p:nvPicPr>
          <p:blipFill>
            <a:blip r:embed="rId3"/>
            <a:stretch>
              <a:fillRect/>
            </a:stretch>
          </p:blipFill>
          <p:spPr>
            <a:xfrm>
              <a:off x="838200" y="2255666"/>
              <a:ext cx="10515600" cy="1664970"/>
            </a:xfrm>
            <a:prstGeom prst="rect">
              <a:avLst/>
            </a:prstGeom>
          </p:spPr>
        </p:pic>
        <p:sp>
          <p:nvSpPr>
            <p:cNvPr id="9" name="직사각형 8">
              <a:extLst>
                <a:ext uri="{FF2B5EF4-FFF2-40B4-BE49-F238E27FC236}">
                  <a16:creationId xmlns:a16="http://schemas.microsoft.com/office/drawing/2014/main" id="{23D055FE-D2B6-E6A9-D0AD-C31DC76FCC06}"/>
                </a:ext>
              </a:extLst>
            </p:cNvPr>
            <p:cNvSpPr/>
            <p:nvPr/>
          </p:nvSpPr>
          <p:spPr>
            <a:xfrm>
              <a:off x="894844" y="3063875"/>
              <a:ext cx="4259782" cy="4318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1908892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Node Affinity(8/12)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Prioritizing Nodes When Scheduling a Pod :</a:t>
            </a:r>
            <a:endParaRPr lang="en-US" altLang="ko-KR" sz="1400" dirty="0"/>
          </a:p>
          <a:p>
            <a:pPr lvl="1">
              <a:buFont typeface="Wingdings" panose="05000000000000000000" pitchFamily="2" charset="2"/>
              <a:buChar char="§"/>
            </a:pPr>
            <a:r>
              <a:rPr lang="en-US" altLang="ko-KR" sz="1400" dirty="0"/>
              <a:t>First, </a:t>
            </a:r>
            <a:r>
              <a:rPr lang="en-US" altLang="ko-KR" sz="1400" b="1" dirty="0"/>
              <a:t>label the nodes</a:t>
            </a:r>
            <a:r>
              <a:rPr lang="en-US" altLang="ko-KR" sz="1400" dirty="0"/>
              <a:t>, as shown in the next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8AB4A991-F206-A910-D642-8FC3F3230428}"/>
              </a:ext>
            </a:extLst>
          </p:cNvPr>
          <p:cNvGrpSpPr/>
          <p:nvPr/>
        </p:nvGrpSpPr>
        <p:grpSpPr>
          <a:xfrm>
            <a:off x="838200" y="1643457"/>
            <a:ext cx="10515600" cy="2839188"/>
            <a:chOff x="838200" y="1667732"/>
            <a:chExt cx="10515600" cy="2839188"/>
          </a:xfrm>
        </p:grpSpPr>
        <p:grpSp>
          <p:nvGrpSpPr>
            <p:cNvPr id="12" name="그룹 11">
              <a:extLst>
                <a:ext uri="{FF2B5EF4-FFF2-40B4-BE49-F238E27FC236}">
                  <a16:creationId xmlns:a16="http://schemas.microsoft.com/office/drawing/2014/main" id="{8B0E0905-D459-1A72-A5CE-0F26B513B608}"/>
                </a:ext>
              </a:extLst>
            </p:cNvPr>
            <p:cNvGrpSpPr/>
            <p:nvPr/>
          </p:nvGrpSpPr>
          <p:grpSpPr>
            <a:xfrm>
              <a:off x="838200" y="1667732"/>
              <a:ext cx="10515600" cy="2839188"/>
              <a:chOff x="838200" y="1667732"/>
              <a:chExt cx="10515600" cy="2839188"/>
            </a:xfrm>
          </p:grpSpPr>
          <p:pic>
            <p:nvPicPr>
              <p:cNvPr id="8" name="그림 7">
                <a:extLst>
                  <a:ext uri="{FF2B5EF4-FFF2-40B4-BE49-F238E27FC236}">
                    <a16:creationId xmlns:a16="http://schemas.microsoft.com/office/drawing/2014/main" id="{35B4579B-9D29-D9F5-7952-C19946A6049D}"/>
                  </a:ext>
                </a:extLst>
              </p:cNvPr>
              <p:cNvPicPr>
                <a:picLocks noChangeAspect="1"/>
              </p:cNvPicPr>
              <p:nvPr/>
            </p:nvPicPr>
            <p:blipFill>
              <a:blip r:embed="rId2"/>
              <a:stretch>
                <a:fillRect/>
              </a:stretch>
            </p:blipFill>
            <p:spPr>
              <a:xfrm>
                <a:off x="838200" y="2841950"/>
                <a:ext cx="10515600" cy="1664970"/>
              </a:xfrm>
              <a:prstGeom prst="rect">
                <a:avLst/>
              </a:prstGeom>
            </p:spPr>
          </p:pic>
          <p:sp>
            <p:nvSpPr>
              <p:cNvPr id="10" name="TextBox 9">
                <a:extLst>
                  <a:ext uri="{FF2B5EF4-FFF2-40B4-BE49-F238E27FC236}">
                    <a16:creationId xmlns:a16="http://schemas.microsoft.com/office/drawing/2014/main" id="{C586348E-3088-3F20-6039-E5172ED5C25D}"/>
                  </a:ext>
                </a:extLst>
              </p:cNvPr>
              <p:cNvSpPr txBox="1"/>
              <p:nvPr/>
            </p:nvSpPr>
            <p:spPr>
              <a:xfrm>
                <a:off x="3047326" y="1667732"/>
                <a:ext cx="6097348" cy="861774"/>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label node </a:t>
                </a:r>
                <a:r>
                  <a:rPr lang="en-US" altLang="ko-KR" sz="1000" b="1" dirty="0">
                    <a:solidFill>
                      <a:srgbClr val="FF0000"/>
                    </a:solidFill>
                  </a:rPr>
                  <a:t>ubuntu20-04-02 availability-zone=zone1</a:t>
                </a:r>
              </a:p>
              <a:p>
                <a:r>
                  <a:rPr lang="en-US" altLang="ko-KR" sz="1000" b="1" dirty="0"/>
                  <a:t>$ </a:t>
                </a:r>
                <a:r>
                  <a:rPr lang="en-US" altLang="ko-KR" sz="1000" b="1" dirty="0" err="1"/>
                  <a:t>kubectl</a:t>
                </a:r>
                <a:r>
                  <a:rPr lang="en-US" altLang="ko-KR" sz="1000" b="1" dirty="0"/>
                  <a:t> label node </a:t>
                </a:r>
                <a:r>
                  <a:rPr lang="en-US" altLang="ko-KR" sz="1000" b="1" dirty="0">
                    <a:solidFill>
                      <a:srgbClr val="FF0000"/>
                    </a:solidFill>
                  </a:rPr>
                  <a:t>ubuntu20-04-02 share-type=dedicated</a:t>
                </a:r>
              </a:p>
              <a:p>
                <a:r>
                  <a:rPr lang="en-US" altLang="ko-KR" sz="1000" b="1" dirty="0"/>
                  <a:t>$ </a:t>
                </a:r>
                <a:r>
                  <a:rPr lang="en-US" altLang="ko-KR" sz="1000" b="1" dirty="0" err="1"/>
                  <a:t>kubectl</a:t>
                </a:r>
                <a:r>
                  <a:rPr lang="en-US" altLang="ko-KR" sz="1000" b="1" dirty="0"/>
                  <a:t> label node </a:t>
                </a:r>
                <a:r>
                  <a:rPr lang="en-US" altLang="ko-KR" sz="1000" b="1" dirty="0">
                    <a:solidFill>
                      <a:srgbClr val="FF0000"/>
                    </a:solidFill>
                  </a:rPr>
                  <a:t>ubuntu20-04-03 availability-zone=zone3</a:t>
                </a:r>
              </a:p>
              <a:p>
                <a:r>
                  <a:rPr lang="en-US" altLang="ko-KR" sz="1000" b="1" dirty="0"/>
                  <a:t>$ </a:t>
                </a:r>
                <a:r>
                  <a:rPr lang="en-US" altLang="ko-KR" sz="1000" b="1" dirty="0" err="1"/>
                  <a:t>kubectl</a:t>
                </a:r>
                <a:r>
                  <a:rPr lang="en-US" altLang="ko-KR" sz="1000" b="1" dirty="0"/>
                  <a:t> label node </a:t>
                </a:r>
                <a:r>
                  <a:rPr lang="en-US" altLang="ko-KR" sz="1000" b="1" dirty="0">
                    <a:solidFill>
                      <a:srgbClr val="FF0000"/>
                    </a:solidFill>
                  </a:rPr>
                  <a:t>ubuntu20-04-02 share-type=shared</a:t>
                </a:r>
              </a:p>
              <a:p>
                <a:r>
                  <a:rPr lang="en-US" altLang="ko-KR" sz="1000" b="1" dirty="0"/>
                  <a:t>$ </a:t>
                </a:r>
                <a:r>
                  <a:rPr lang="en-US" altLang="ko-KR" sz="1000" b="1" dirty="0" err="1"/>
                  <a:t>kubectl</a:t>
                </a:r>
                <a:r>
                  <a:rPr lang="en-US" altLang="ko-KR" sz="1000" b="1" dirty="0"/>
                  <a:t> get node </a:t>
                </a:r>
                <a:r>
                  <a:rPr lang="en-US" altLang="ko-KR" sz="1000" b="1" dirty="0">
                    <a:solidFill>
                      <a:srgbClr val="FF0000"/>
                    </a:solidFill>
                  </a:rPr>
                  <a:t>-L availability-zone -L share-type</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9920F551-A10E-BED7-1CEC-BAE50C3A80D0}"/>
                  </a:ext>
                </a:extLst>
              </p:cNvPr>
              <p:cNvSpPr/>
              <p:nvPr/>
            </p:nvSpPr>
            <p:spPr>
              <a:xfrm>
                <a:off x="5869423" y="2538421"/>
                <a:ext cx="453154" cy="29461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0AD140DE-C7FD-8ECF-DCC6-76348FF2AE1C}"/>
                </a:ext>
              </a:extLst>
            </p:cNvPr>
            <p:cNvSpPr/>
            <p:nvPr/>
          </p:nvSpPr>
          <p:spPr>
            <a:xfrm>
              <a:off x="946768" y="3787073"/>
              <a:ext cx="6206591" cy="30749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75853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Node Affinity(9/12)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Prioritizing Nodes When Scheduling a Pod :</a:t>
            </a:r>
            <a:endParaRPr lang="en-US" altLang="ko-KR" sz="1400" dirty="0"/>
          </a:p>
          <a:p>
            <a:pPr lvl="1">
              <a:buFont typeface="Wingdings" panose="05000000000000000000" pitchFamily="2" charset="2"/>
              <a:buChar char="§"/>
            </a:pPr>
            <a:r>
              <a:rPr lang="en-US" altLang="ko-KR" sz="1400" b="1" dirty="0"/>
              <a:t>With the node labels set up, you can now create a Deployment that </a:t>
            </a:r>
            <a:r>
              <a:rPr lang="en-US" altLang="ko-KR" sz="1400" b="1" dirty="0">
                <a:solidFill>
                  <a:srgbClr val="FF0000"/>
                </a:solidFill>
              </a:rPr>
              <a:t>prefers dedicated nodes </a:t>
            </a:r>
            <a:r>
              <a:rPr lang="en-US" altLang="ko-KR" sz="1400" b="1" dirty="0"/>
              <a:t>in “zone1”</a:t>
            </a:r>
            <a:r>
              <a:rPr lang="en-US" altLang="ko-KR" sz="1400" dirty="0"/>
              <a:t>. The following listing shows </a:t>
            </a:r>
            <a:r>
              <a:rPr lang="en-US" altLang="ko-KR" sz="1400" b="1" dirty="0"/>
              <a:t>the Deployment manifest</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You’re defining </a:t>
            </a:r>
            <a:r>
              <a:rPr lang="en-US" altLang="ko-KR" sz="1400" b="1" dirty="0">
                <a:solidFill>
                  <a:srgbClr val="FF0000"/>
                </a:solidFill>
              </a:rPr>
              <a:t>a node affinity preference</a:t>
            </a:r>
            <a:r>
              <a:rPr lang="en-US" altLang="ko-KR" sz="1400" b="1" dirty="0"/>
              <a:t>, instead of a hard requirement</a:t>
            </a:r>
            <a:r>
              <a:rPr lang="en-US" altLang="ko-KR" sz="1400" dirty="0"/>
              <a:t>. You want the pods scheduled to nodes that include the labels “</a:t>
            </a:r>
            <a:r>
              <a:rPr lang="en-US" altLang="ko-KR" sz="1400" b="1" dirty="0"/>
              <a:t>availability-zone=zone1</a:t>
            </a:r>
            <a:r>
              <a:rPr lang="en-US" altLang="ko-KR" sz="1400" dirty="0"/>
              <a:t>” and “</a:t>
            </a:r>
            <a:r>
              <a:rPr lang="en-US" altLang="ko-KR" sz="1400" b="1" dirty="0"/>
              <a:t>share-type=dedicated</a:t>
            </a:r>
            <a:r>
              <a:rPr lang="en-US" altLang="ko-KR" sz="1400" dirty="0"/>
              <a:t>”. You’re saying that </a:t>
            </a:r>
            <a:r>
              <a:rPr lang="en-US" altLang="ko-KR" sz="1400" b="1" dirty="0"/>
              <a:t>the first preference rule is important by setting its </a:t>
            </a:r>
            <a:r>
              <a:rPr lang="en-US" altLang="ko-KR" sz="1400" b="1" dirty="0">
                <a:solidFill>
                  <a:srgbClr val="FF0000"/>
                </a:solidFill>
              </a:rPr>
              <a:t>weight</a:t>
            </a:r>
            <a:r>
              <a:rPr lang="en-US" altLang="ko-KR" sz="1400" b="1" dirty="0"/>
              <a:t> to “80”</a:t>
            </a:r>
            <a:r>
              <a:rPr lang="en-US" altLang="ko-KR" sz="1400" dirty="0"/>
              <a:t>, whereas </a:t>
            </a:r>
            <a:r>
              <a:rPr lang="en-US" altLang="ko-KR" sz="1400" b="1" dirty="0"/>
              <a:t>the second one is much less important (</a:t>
            </a:r>
            <a:r>
              <a:rPr lang="en-US" altLang="ko-KR" sz="1400" b="1" dirty="0">
                <a:solidFill>
                  <a:srgbClr val="FF0000"/>
                </a:solidFill>
              </a:rPr>
              <a:t>weight</a:t>
            </a:r>
            <a:r>
              <a:rPr lang="en-US" altLang="ko-KR" sz="1400" b="1" dirty="0"/>
              <a:t> is set to “20”)</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51415EEB-0AE7-8D35-51A6-09AB75F18AA2}"/>
              </a:ext>
            </a:extLst>
          </p:cNvPr>
          <p:cNvGrpSpPr/>
          <p:nvPr/>
        </p:nvGrpSpPr>
        <p:grpSpPr>
          <a:xfrm>
            <a:off x="1980526" y="1767006"/>
            <a:ext cx="8230948" cy="3323987"/>
            <a:chOff x="1980526" y="1767006"/>
            <a:chExt cx="8230948" cy="3323987"/>
          </a:xfrm>
        </p:grpSpPr>
        <p:grpSp>
          <p:nvGrpSpPr>
            <p:cNvPr id="11" name="그룹 10">
              <a:extLst>
                <a:ext uri="{FF2B5EF4-FFF2-40B4-BE49-F238E27FC236}">
                  <a16:creationId xmlns:a16="http://schemas.microsoft.com/office/drawing/2014/main" id="{62DE9897-B419-F5BC-69AF-95864E8A3327}"/>
                </a:ext>
              </a:extLst>
            </p:cNvPr>
            <p:cNvGrpSpPr/>
            <p:nvPr/>
          </p:nvGrpSpPr>
          <p:grpSpPr>
            <a:xfrm>
              <a:off x="1980526" y="1767006"/>
              <a:ext cx="8230948" cy="3323987"/>
              <a:chOff x="1980526" y="1709453"/>
              <a:chExt cx="8230948" cy="3323987"/>
            </a:xfrm>
          </p:grpSpPr>
          <p:sp>
            <p:nvSpPr>
              <p:cNvPr id="8" name="TextBox 7">
                <a:extLst>
                  <a:ext uri="{FF2B5EF4-FFF2-40B4-BE49-F238E27FC236}">
                    <a16:creationId xmlns:a16="http://schemas.microsoft.com/office/drawing/2014/main" id="{BF084B16-81AC-3CB1-A36C-7300FE8FCD4C}"/>
                  </a:ext>
                </a:extLst>
              </p:cNvPr>
              <p:cNvSpPr txBox="1"/>
              <p:nvPr/>
            </p:nvSpPr>
            <p:spPr>
              <a:xfrm>
                <a:off x="1980526" y="1709453"/>
                <a:ext cx="4115474" cy="3323987"/>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apps/v1</a:t>
                </a:r>
              </a:p>
              <a:p>
                <a:r>
                  <a:rPr lang="en-US" altLang="ko-KR" sz="1000" b="1" dirty="0"/>
                  <a:t>kind: Deployment</a:t>
                </a:r>
              </a:p>
              <a:p>
                <a:r>
                  <a:rPr lang="en-US" altLang="ko-KR" sz="1000" b="1" dirty="0"/>
                  <a:t>metadata:</a:t>
                </a:r>
              </a:p>
              <a:p>
                <a:r>
                  <a:rPr lang="en-US" altLang="ko-KR" sz="1000" b="1" dirty="0"/>
                  <a:t>  name: </a:t>
                </a:r>
                <a:r>
                  <a:rPr lang="en-US" altLang="ko-KR" sz="1000" b="1" dirty="0" err="1"/>
                  <a:t>pref</a:t>
                </a:r>
                <a:endParaRPr lang="en-US" altLang="ko-KR" sz="1000" b="1" dirty="0"/>
              </a:p>
              <a:p>
                <a:r>
                  <a:rPr lang="en-US" altLang="ko-KR" sz="1000" b="1" dirty="0"/>
                  <a:t>spec:</a:t>
                </a:r>
              </a:p>
              <a:p>
                <a:r>
                  <a:rPr lang="en-US" altLang="ko-KR" sz="1000" b="1" dirty="0"/>
                  <a:t>  replicas: 5</a:t>
                </a:r>
              </a:p>
              <a:p>
                <a:r>
                  <a:rPr lang="en-US" altLang="ko-KR" sz="1000" b="1" dirty="0"/>
                  <a:t>  template:</a:t>
                </a:r>
              </a:p>
              <a:p>
                <a:r>
                  <a:rPr lang="en-US" altLang="ko-KR" sz="1000" b="1" dirty="0"/>
                  <a:t>    metadata:</a:t>
                </a:r>
              </a:p>
              <a:p>
                <a:r>
                  <a:rPr lang="en-US" altLang="ko-KR" sz="1000" b="1" dirty="0"/>
                  <a:t>      labels:</a:t>
                </a:r>
              </a:p>
              <a:p>
                <a:r>
                  <a:rPr lang="en-US" altLang="ko-KR" sz="1000" b="1" dirty="0"/>
                  <a:t>        app: </a:t>
                </a:r>
                <a:r>
                  <a:rPr lang="en-US" altLang="ko-KR" sz="1000" b="1" dirty="0" err="1"/>
                  <a:t>pref</a:t>
                </a:r>
                <a:endParaRPr lang="en-US" altLang="ko-KR" sz="1000" b="1" dirty="0"/>
              </a:p>
              <a:p>
                <a:r>
                  <a:rPr lang="en-US" altLang="ko-KR" sz="1000" b="1" dirty="0"/>
                  <a:t>    spec:</a:t>
                </a:r>
              </a:p>
              <a:p>
                <a:r>
                  <a:rPr lang="en-US" altLang="ko-KR" sz="1000" b="1" dirty="0"/>
                  <a:t>      affinity:</a:t>
                </a:r>
              </a:p>
              <a:p>
                <a:r>
                  <a:rPr lang="en-US" altLang="ko-KR" sz="1000" b="1" dirty="0"/>
                  <a:t>        </a:t>
                </a:r>
                <a:r>
                  <a:rPr lang="en-US" altLang="ko-KR" sz="1000" b="1" dirty="0" err="1"/>
                  <a:t>nodeAffinity</a:t>
                </a:r>
                <a:r>
                  <a:rPr lang="en-US" altLang="ko-KR" sz="1000" b="1" dirty="0"/>
                  <a:t>:</a:t>
                </a:r>
              </a:p>
              <a:p>
                <a:r>
                  <a:rPr lang="en-US" altLang="ko-KR" sz="1000" b="1" dirty="0"/>
                  <a:t>          </a:t>
                </a:r>
                <a:r>
                  <a:rPr lang="en-US" altLang="ko-KR" sz="1000" b="1" dirty="0" err="1"/>
                  <a:t>preferredDuringSchedulingIgnoredDuringExecution</a:t>
                </a:r>
                <a:r>
                  <a:rPr lang="en-US" altLang="ko-KR" sz="1000" b="1" dirty="0"/>
                  <a:t>:</a:t>
                </a:r>
              </a:p>
              <a:p>
                <a:r>
                  <a:rPr lang="en-US" altLang="ko-KR" sz="1000" b="1" dirty="0">
                    <a:solidFill>
                      <a:srgbClr val="FF0000"/>
                    </a:solidFill>
                  </a:rPr>
                  <a:t>          - weight: 80</a:t>
                </a:r>
              </a:p>
              <a:p>
                <a:r>
                  <a:rPr lang="en-US" altLang="ko-KR" sz="1000" b="1" dirty="0">
                    <a:solidFill>
                      <a:srgbClr val="FF0000"/>
                    </a:solidFill>
                  </a:rPr>
                  <a:t>            preference:</a:t>
                </a:r>
              </a:p>
              <a:p>
                <a:r>
                  <a:rPr lang="en-US" altLang="ko-KR" sz="1000" b="1" dirty="0">
                    <a:solidFill>
                      <a:srgbClr val="FF0000"/>
                    </a:solidFill>
                  </a:rPr>
                  <a:t>              </a:t>
                </a:r>
                <a:r>
                  <a:rPr lang="en-US" altLang="ko-KR" sz="1000" b="1" dirty="0" err="1">
                    <a:solidFill>
                      <a:srgbClr val="FF0000"/>
                    </a:solidFill>
                  </a:rPr>
                  <a:t>matchExpressions</a:t>
                </a:r>
                <a:r>
                  <a:rPr lang="en-US" altLang="ko-KR" sz="1000" b="1" dirty="0">
                    <a:solidFill>
                      <a:srgbClr val="FF0000"/>
                    </a:solidFill>
                  </a:rPr>
                  <a:t>:</a:t>
                </a:r>
              </a:p>
              <a:p>
                <a:r>
                  <a:rPr lang="en-US" altLang="ko-KR" sz="1000" b="1" dirty="0"/>
                  <a:t>              - </a:t>
                </a:r>
                <a:r>
                  <a:rPr lang="en-US" altLang="ko-KR" sz="1000" b="1" dirty="0">
                    <a:solidFill>
                      <a:srgbClr val="FF0000"/>
                    </a:solidFill>
                  </a:rPr>
                  <a:t>key: availability-zone</a:t>
                </a:r>
              </a:p>
              <a:p>
                <a:r>
                  <a:rPr lang="en-US" altLang="ko-KR" sz="1000" b="1" dirty="0">
                    <a:solidFill>
                      <a:srgbClr val="FF0000"/>
                    </a:solidFill>
                  </a:rPr>
                  <a:t>                operator: In</a:t>
                </a:r>
              </a:p>
              <a:p>
                <a:r>
                  <a:rPr lang="en-US" altLang="ko-KR" sz="1000" b="1" dirty="0">
                    <a:solidFill>
                      <a:srgbClr val="FF0000"/>
                    </a:solidFill>
                  </a:rPr>
                  <a:t>                values:</a:t>
                </a:r>
              </a:p>
              <a:p>
                <a:r>
                  <a:rPr lang="en-US" altLang="ko-KR" sz="1000" b="1" dirty="0">
                    <a:solidFill>
                      <a:srgbClr val="FF0000"/>
                    </a:solidFill>
                  </a:rPr>
                  <a:t>                - zone1</a:t>
                </a:r>
              </a:p>
            </p:txBody>
          </p:sp>
          <p:sp>
            <p:nvSpPr>
              <p:cNvPr id="10" name="TextBox 9">
                <a:extLst>
                  <a:ext uri="{FF2B5EF4-FFF2-40B4-BE49-F238E27FC236}">
                    <a16:creationId xmlns:a16="http://schemas.microsoft.com/office/drawing/2014/main" id="{679B2880-008D-9929-D792-877AB31EC2CD}"/>
                  </a:ext>
                </a:extLst>
              </p:cNvPr>
              <p:cNvSpPr txBox="1"/>
              <p:nvPr/>
            </p:nvSpPr>
            <p:spPr>
              <a:xfrm>
                <a:off x="6096000" y="1709453"/>
                <a:ext cx="4115474" cy="3323987"/>
              </a:xfrm>
              <a:prstGeom prst="rect">
                <a:avLst/>
              </a:prstGeom>
              <a:noFill/>
              <a:ln>
                <a:solidFill>
                  <a:schemeClr val="bg1">
                    <a:lumMod val="50000"/>
                  </a:schemeClr>
                </a:solidFill>
              </a:ln>
            </p:spPr>
            <p:txBody>
              <a:bodyPr wrap="square">
                <a:spAutoFit/>
              </a:bodyPr>
              <a:lstStyle/>
              <a:p>
                <a:r>
                  <a:rPr lang="en-US" altLang="ko-KR" sz="1000" b="1" dirty="0">
                    <a:solidFill>
                      <a:srgbClr val="FF0000"/>
                    </a:solidFill>
                  </a:rPr>
                  <a:t>          - weight: 20</a:t>
                </a:r>
              </a:p>
              <a:p>
                <a:r>
                  <a:rPr lang="en-US" altLang="ko-KR" sz="1000" b="1" dirty="0">
                    <a:solidFill>
                      <a:srgbClr val="FF0000"/>
                    </a:solidFill>
                  </a:rPr>
                  <a:t>            preference:</a:t>
                </a:r>
              </a:p>
              <a:p>
                <a:r>
                  <a:rPr lang="en-US" altLang="ko-KR" sz="1000" b="1" dirty="0">
                    <a:solidFill>
                      <a:srgbClr val="FF0000"/>
                    </a:solidFill>
                  </a:rPr>
                  <a:t>              </a:t>
                </a:r>
                <a:r>
                  <a:rPr lang="en-US" altLang="ko-KR" sz="1000" b="1" dirty="0" err="1">
                    <a:solidFill>
                      <a:srgbClr val="FF0000"/>
                    </a:solidFill>
                  </a:rPr>
                  <a:t>matchExpressions</a:t>
                </a:r>
                <a:r>
                  <a:rPr lang="en-US" altLang="ko-KR" sz="1000" b="1" dirty="0">
                    <a:solidFill>
                      <a:srgbClr val="FF0000"/>
                    </a:solidFill>
                  </a:rPr>
                  <a:t>:</a:t>
                </a:r>
              </a:p>
              <a:p>
                <a:r>
                  <a:rPr lang="en-US" altLang="ko-KR" sz="1000" b="1" dirty="0">
                    <a:solidFill>
                      <a:srgbClr val="FF0000"/>
                    </a:solidFill>
                  </a:rPr>
                  <a:t>              - key: share-type</a:t>
                </a:r>
              </a:p>
              <a:p>
                <a:r>
                  <a:rPr lang="en-US" altLang="ko-KR" sz="1000" b="1" dirty="0">
                    <a:solidFill>
                      <a:srgbClr val="FF0000"/>
                    </a:solidFill>
                  </a:rPr>
                  <a:t>                operator: In</a:t>
                </a:r>
              </a:p>
              <a:p>
                <a:r>
                  <a:rPr lang="en-US" altLang="ko-KR" sz="1000" b="1" dirty="0">
                    <a:solidFill>
                      <a:srgbClr val="FF0000"/>
                    </a:solidFill>
                  </a:rPr>
                  <a:t>                values:</a:t>
                </a:r>
              </a:p>
              <a:p>
                <a:r>
                  <a:rPr lang="en-US" altLang="ko-KR" sz="1000" b="1" dirty="0">
                    <a:solidFill>
                      <a:srgbClr val="FF0000"/>
                    </a:solidFill>
                  </a:rPr>
                  <a:t>                - dedicated</a:t>
                </a:r>
                <a:endParaRPr lang="en-US" altLang="ko-KR" sz="1000" b="1" dirty="0">
                  <a:solidFill>
                    <a:srgbClr val="FF0000"/>
                  </a:solidFill>
                  <a:latin typeface="맑은 고딕" panose="020F0502020204030204"/>
                  <a:ea typeface="맑은 고딕" panose="020B0503020000020004" pitchFamily="50" charset="-127"/>
                </a:endParaRPr>
              </a:p>
              <a:p>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containers: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args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sleep</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"99999"</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image: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busybox</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main</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selector:</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matchLabels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app: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pref</a:t>
                </a:r>
                <a:endParaRPr lang="en-US" altLang="ko-KR" sz="1000" b="1" dirty="0">
                  <a:solidFill>
                    <a:srgbClr val="FF0000"/>
                  </a:solidFill>
                  <a:latin typeface="맑은 고딕" panose="020F0502020204030204"/>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000" b="1" dirty="0">
                  <a:solidFill>
                    <a:prstClr val="black"/>
                  </a:solidFill>
                  <a:latin typeface="맑은 고딕" panose="020F0502020204030204"/>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000" b="1" dirty="0">
                  <a:solidFill>
                    <a:prstClr val="black"/>
                  </a:solidFill>
                  <a:latin typeface="맑은 고딕" panose="020F0502020204030204"/>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grpSp>
        <p:sp>
          <p:nvSpPr>
            <p:cNvPr id="12" name="TextBox 11">
              <a:extLst>
                <a:ext uri="{FF2B5EF4-FFF2-40B4-BE49-F238E27FC236}">
                  <a16:creationId xmlns:a16="http://schemas.microsoft.com/office/drawing/2014/main" id="{99210146-564F-57BC-19E2-DFACEDB7BFAA}"/>
                </a:ext>
              </a:extLst>
            </p:cNvPr>
            <p:cNvSpPr txBox="1"/>
            <p:nvPr/>
          </p:nvSpPr>
          <p:spPr>
            <a:xfrm>
              <a:off x="8346861" y="4844772"/>
              <a:ext cx="1864613" cy="246221"/>
            </a:xfrm>
            <a:prstGeom prst="rect">
              <a:avLst/>
            </a:prstGeom>
            <a:noFill/>
          </p:spPr>
          <p:txBody>
            <a:bodyPr wrap="none" rtlCol="0">
              <a:spAutoFit/>
            </a:bodyPr>
            <a:lstStyle/>
            <a:p>
              <a:pPr algn="l"/>
              <a:r>
                <a:rPr lang="en-US" altLang="ko-KR" sz="1000" b="1" dirty="0"/>
                <a:t>preferred-</a:t>
              </a:r>
              <a:r>
                <a:rPr lang="en-US" altLang="ko-KR" sz="1000" b="1" dirty="0" err="1"/>
                <a:t>deployment.yaml</a:t>
              </a:r>
              <a:endParaRPr lang="ko-KR" altLang="en-US" sz="1000" b="1" dirty="0"/>
            </a:p>
          </p:txBody>
        </p:sp>
      </p:grpSp>
    </p:spTree>
    <p:extLst>
      <p:ext uri="{BB962C8B-B14F-4D97-AF65-F5344CB8AC3E}">
        <p14:creationId xmlns:p14="http://schemas.microsoft.com/office/powerpoint/2010/main" val="36495876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Node Affinity(10/12)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Prioritizing Nodes When Scheduling a Pod :</a:t>
            </a:r>
            <a:endParaRPr lang="en-US" altLang="ko-KR" sz="1400" dirty="0"/>
          </a:p>
          <a:p>
            <a:pPr lvl="1">
              <a:buFont typeface="Wingdings" panose="05000000000000000000" pitchFamily="2" charset="2"/>
              <a:buChar char="§"/>
            </a:pPr>
            <a:r>
              <a:rPr lang="en-US" altLang="ko-KR" sz="1400" dirty="0"/>
              <a:t>If your cluster had many nodes, when scheduling the pods of the Deployment in the previous listing, </a:t>
            </a:r>
            <a:r>
              <a:rPr lang="en-US" altLang="ko-KR" sz="1400" b="1" dirty="0"/>
              <a:t>the nodes would be split into four groups, as shown in the following figure</a:t>
            </a:r>
            <a:r>
              <a:rPr lang="en-US" altLang="ko-KR" sz="1400" dirty="0"/>
              <a:t>. </a:t>
            </a:r>
            <a:r>
              <a:rPr lang="en-US" altLang="ko-KR" sz="1400" b="1" dirty="0"/>
              <a:t>Nodes whose “</a:t>
            </a:r>
            <a:r>
              <a:rPr lang="en-US" altLang="ko-KR" sz="1400" b="1" dirty="0">
                <a:solidFill>
                  <a:srgbClr val="FF0000"/>
                </a:solidFill>
              </a:rPr>
              <a:t>availability-zone</a:t>
            </a:r>
            <a:r>
              <a:rPr lang="en-US" altLang="ko-KR" sz="1400" b="1" dirty="0"/>
              <a:t>” and “</a:t>
            </a:r>
            <a:r>
              <a:rPr lang="en-US" altLang="ko-KR" sz="1400" b="1" dirty="0">
                <a:solidFill>
                  <a:srgbClr val="FF0000"/>
                </a:solidFill>
              </a:rPr>
              <a:t>share-type</a:t>
            </a:r>
            <a:r>
              <a:rPr lang="en-US" altLang="ko-KR" sz="1400" b="1" dirty="0"/>
              <a:t>” labels match the pod’s node affinity are ranked the highest</a:t>
            </a:r>
            <a:r>
              <a:rPr lang="en-US" altLang="ko-KR" sz="1400" dirty="0"/>
              <a:t>. Then, because of how the weights in the pod’s node affinity rules are configured, next come the “</a:t>
            </a:r>
            <a:r>
              <a:rPr lang="en-US" altLang="ko-KR" sz="1400" b="1" dirty="0"/>
              <a:t>shared</a:t>
            </a:r>
            <a:r>
              <a:rPr lang="en-US" altLang="ko-KR" sz="1400" dirty="0"/>
              <a:t>” nodes in “</a:t>
            </a:r>
            <a:r>
              <a:rPr lang="en-US" altLang="ko-KR" sz="1400" b="1" dirty="0"/>
              <a:t>zone1</a:t>
            </a:r>
            <a:r>
              <a:rPr lang="en-US" altLang="ko-KR" sz="1400" dirty="0"/>
              <a:t>”, then come the “</a:t>
            </a:r>
            <a:r>
              <a:rPr lang="en-US" altLang="ko-KR" sz="1400" b="1" dirty="0"/>
              <a:t>dedicated</a:t>
            </a:r>
            <a:r>
              <a:rPr lang="en-US" altLang="ko-KR" sz="1400" dirty="0"/>
              <a:t>” nodes in the other zones, and at the lowest priority are all the other nodes.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8B7F6E07-DA22-C613-0FA4-16CC85E62664}"/>
              </a:ext>
            </a:extLst>
          </p:cNvPr>
          <p:cNvPicPr>
            <a:picLocks noChangeAspect="1"/>
          </p:cNvPicPr>
          <p:nvPr/>
        </p:nvPicPr>
        <p:blipFill>
          <a:blip r:embed="rId2"/>
          <a:stretch>
            <a:fillRect/>
          </a:stretch>
        </p:blipFill>
        <p:spPr>
          <a:xfrm>
            <a:off x="3305175" y="2258218"/>
            <a:ext cx="5581650" cy="2667000"/>
          </a:xfrm>
          <a:prstGeom prst="rect">
            <a:avLst/>
          </a:prstGeom>
        </p:spPr>
      </p:pic>
    </p:spTree>
    <p:extLst>
      <p:ext uri="{BB962C8B-B14F-4D97-AF65-F5344CB8AC3E}">
        <p14:creationId xmlns:p14="http://schemas.microsoft.com/office/powerpoint/2010/main" val="26368917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Node Affinity(11/12)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Prioritizing Nodes When Scheduling a Pod :</a:t>
            </a:r>
            <a:endParaRPr lang="en-US" altLang="ko-KR" sz="1400" dirty="0"/>
          </a:p>
          <a:p>
            <a:pPr lvl="1">
              <a:buFont typeface="Wingdings" panose="05000000000000000000" pitchFamily="2" charset="2"/>
              <a:buChar char="§"/>
            </a:pPr>
            <a:r>
              <a:rPr lang="en-US" altLang="ko-KR" sz="1400" dirty="0"/>
              <a:t>If you create this Deployment in your “</a:t>
            </a:r>
            <a:r>
              <a:rPr lang="en-US" altLang="ko-KR" sz="1400" b="1" dirty="0"/>
              <a:t>two-node(worker node)</a:t>
            </a:r>
            <a:r>
              <a:rPr lang="en-US" altLang="ko-KR" sz="1400" dirty="0"/>
              <a:t>” cluster, you should see most (if not all) of your pods deployed to “</a:t>
            </a:r>
            <a:r>
              <a:rPr lang="en-US" altLang="ko-KR" sz="1400" b="1" dirty="0"/>
              <a:t>node1</a:t>
            </a:r>
            <a:r>
              <a:rPr lang="en-US" altLang="ko-KR" sz="1400" dirty="0"/>
              <a:t>”. Examine the following listing to see if that’s true.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If you meet an error creating the pods, you may need to run </a:t>
            </a:r>
            <a:r>
              <a:rPr lang="en-US" altLang="ko-KR" sz="1400" dirty="0"/>
              <a:t>“</a:t>
            </a:r>
            <a:r>
              <a:rPr lang="en-US" altLang="ko-KR" sz="1400" b="1" dirty="0"/>
              <a:t>$ </a:t>
            </a:r>
            <a:r>
              <a:rPr lang="en-US" altLang="ko-KR" sz="1400" b="1" dirty="0" err="1"/>
              <a:t>kubectl</a:t>
            </a:r>
            <a:r>
              <a:rPr lang="en-US" altLang="ko-KR" sz="1400" b="1" dirty="0"/>
              <a:t> apply -f </a:t>
            </a:r>
            <a:r>
              <a:rPr lang="en-US" altLang="ko-KR" sz="1400" b="1" dirty="0">
                <a:hlinkClick r:id="rId2"/>
              </a:rPr>
              <a:t>https://github.com/</a:t>
            </a:r>
            <a:r>
              <a:rPr lang="en-US" altLang="ko-KR" sz="1400" b="1" dirty="0" err="1">
                <a:hlinkClick r:id="rId2"/>
              </a:rPr>
              <a:t>weaveworks</a:t>
            </a:r>
            <a:r>
              <a:rPr lang="en-US" altLang="ko-KR" sz="1400" b="1" dirty="0">
                <a:hlinkClick r:id="rId2"/>
              </a:rPr>
              <a:t>/weave/releases/download/v2.8.1/weave-daemonset-k8s.yaml</a:t>
            </a:r>
            <a:r>
              <a:rPr lang="en-US" altLang="ko-KR" sz="1400" dirty="0"/>
              <a:t>” </a:t>
            </a:r>
            <a:r>
              <a:rPr lang="en-US" altLang="ko-KR" sz="1400" b="1" dirty="0"/>
              <a:t>command to create network interface for your pods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079CFE03-EF1F-4B46-0A37-46C5E0460207}"/>
              </a:ext>
            </a:extLst>
          </p:cNvPr>
          <p:cNvGrpSpPr/>
          <p:nvPr/>
        </p:nvGrpSpPr>
        <p:grpSpPr>
          <a:xfrm>
            <a:off x="838200" y="1736321"/>
            <a:ext cx="10515600" cy="2879374"/>
            <a:chOff x="838200" y="1736321"/>
            <a:chExt cx="10515600" cy="2879374"/>
          </a:xfrm>
        </p:grpSpPr>
        <p:pic>
          <p:nvPicPr>
            <p:cNvPr id="8" name="그림 7">
              <a:extLst>
                <a:ext uri="{FF2B5EF4-FFF2-40B4-BE49-F238E27FC236}">
                  <a16:creationId xmlns:a16="http://schemas.microsoft.com/office/drawing/2014/main" id="{6B3890C7-0AD9-C3D5-F95F-C056D7B8C4C6}"/>
                </a:ext>
              </a:extLst>
            </p:cNvPr>
            <p:cNvPicPr>
              <a:picLocks noChangeAspect="1"/>
            </p:cNvPicPr>
            <p:nvPr/>
          </p:nvPicPr>
          <p:blipFill>
            <a:blip r:embed="rId3"/>
            <a:stretch>
              <a:fillRect/>
            </a:stretch>
          </p:blipFill>
          <p:spPr>
            <a:xfrm>
              <a:off x="838200" y="2468760"/>
              <a:ext cx="10515600" cy="2146935"/>
            </a:xfrm>
            <a:prstGeom prst="rect">
              <a:avLst/>
            </a:prstGeom>
          </p:spPr>
        </p:pic>
        <p:sp>
          <p:nvSpPr>
            <p:cNvPr id="9" name="TextBox 8">
              <a:extLst>
                <a:ext uri="{FF2B5EF4-FFF2-40B4-BE49-F238E27FC236}">
                  <a16:creationId xmlns:a16="http://schemas.microsoft.com/office/drawing/2014/main" id="{699F7493-B001-D521-3B1B-475BCA084819}"/>
                </a:ext>
              </a:extLst>
            </p:cNvPr>
            <p:cNvSpPr txBox="1"/>
            <p:nvPr/>
          </p:nvSpPr>
          <p:spPr>
            <a:xfrm>
              <a:off x="3437766" y="1736321"/>
              <a:ext cx="5316467" cy="400110"/>
            </a:xfrm>
            <a:prstGeom prst="rect">
              <a:avLst/>
            </a:prstGeom>
            <a:noFill/>
            <a:ln>
              <a:solidFill>
                <a:schemeClr val="bg1">
                  <a:lumMod val="50000"/>
                </a:schemeClr>
              </a:solidFill>
            </a:ln>
          </p:spPr>
          <p:txBody>
            <a:bodyPr wrap="square" rtlCol="0">
              <a:spAutoFit/>
            </a:bodyPr>
            <a:lstStyle/>
            <a:p>
              <a:pPr algn="l"/>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preferred-</a:t>
              </a:r>
              <a:r>
                <a:rPr lang="en-US" altLang="ko-KR" sz="1000" b="1" dirty="0" err="1">
                  <a:solidFill>
                    <a:srgbClr val="FF0000"/>
                  </a:solidFill>
                </a:rPr>
                <a:t>deployment.yaml</a:t>
              </a:r>
              <a:endParaRPr lang="en-US" altLang="ko-KR" sz="1000" b="1" dirty="0">
                <a:solidFill>
                  <a:srgbClr val="FF0000"/>
                </a:solidFill>
              </a:endParaRPr>
            </a:p>
            <a:p>
              <a:pPr algn="l"/>
              <a:r>
                <a:rPr lang="en-US" altLang="ko-KR" sz="1000" b="1" dirty="0"/>
                <a:t>$ </a:t>
              </a:r>
              <a:r>
                <a:rPr lang="en-US" altLang="ko-KR" sz="1000" b="1" dirty="0" err="1"/>
                <a:t>kubectl</a:t>
              </a:r>
              <a:r>
                <a:rPr lang="en-US" altLang="ko-KR" sz="1000" b="1" dirty="0"/>
                <a:t> get pod -o wide</a:t>
              </a:r>
              <a:endParaRPr lang="ko-KR" altLang="en-US" sz="1000" b="1" dirty="0"/>
            </a:p>
          </p:txBody>
        </p:sp>
        <p:sp>
          <p:nvSpPr>
            <p:cNvPr id="10" name="화살표: 아래쪽 9">
              <a:extLst>
                <a:ext uri="{FF2B5EF4-FFF2-40B4-BE49-F238E27FC236}">
                  <a16:creationId xmlns:a16="http://schemas.microsoft.com/office/drawing/2014/main" id="{71D855D6-5955-714C-A554-00FC08A81040}"/>
                </a:ext>
              </a:extLst>
            </p:cNvPr>
            <p:cNvSpPr/>
            <p:nvPr/>
          </p:nvSpPr>
          <p:spPr>
            <a:xfrm>
              <a:off x="5865376" y="2137156"/>
              <a:ext cx="461246" cy="33160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CB994B14-2C0D-7F58-7ED2-97A6E03D24B8}"/>
              </a:ext>
            </a:extLst>
          </p:cNvPr>
          <p:cNvSpPr/>
          <p:nvPr/>
        </p:nvSpPr>
        <p:spPr>
          <a:xfrm>
            <a:off x="6087907" y="3542227"/>
            <a:ext cx="1049268" cy="7870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751472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Node Affinity(12/12)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Prioritizing Nodes When Scheduling a Pod :</a:t>
            </a:r>
            <a:endParaRPr lang="en-US" altLang="ko-KR" sz="1400" dirty="0"/>
          </a:p>
          <a:p>
            <a:pPr lvl="1">
              <a:buFont typeface="Wingdings" panose="05000000000000000000" pitchFamily="2" charset="2"/>
              <a:buChar char="§"/>
            </a:pPr>
            <a:r>
              <a:rPr lang="en-US" altLang="ko-KR" sz="1400" dirty="0"/>
              <a:t>Sometimes, when you run the previous command, some of pods are created on “</a:t>
            </a:r>
            <a:r>
              <a:rPr lang="en-US" altLang="ko-KR" sz="1400" b="1" dirty="0"/>
              <a:t>ubuntu20-04-03</a:t>
            </a:r>
            <a:r>
              <a:rPr lang="en-US" altLang="ko-KR" sz="1400" dirty="0"/>
              <a:t>” and others can be created on “</a:t>
            </a:r>
            <a:r>
              <a:rPr lang="en-US" altLang="ko-KR" sz="1400" b="1" dirty="0"/>
              <a:t>ubuntu20-04-02</a:t>
            </a:r>
            <a:r>
              <a:rPr lang="en-US" altLang="ko-KR" sz="1400" dirty="0"/>
              <a:t>”. </a:t>
            </a:r>
            <a:r>
              <a:rPr lang="en-US" altLang="ko-KR" sz="1400" b="1" dirty="0"/>
              <a:t>The reason is that besides the </a:t>
            </a:r>
            <a:r>
              <a:rPr lang="en-US" altLang="ko-KR" sz="1400" b="1" dirty="0">
                <a:solidFill>
                  <a:srgbClr val="FF0000"/>
                </a:solidFill>
              </a:rPr>
              <a:t>node affinity prioritization function</a:t>
            </a:r>
            <a:r>
              <a:rPr lang="en-US" altLang="ko-KR" sz="1400" b="1" dirty="0"/>
              <a:t>, the Scheduler also uses </a:t>
            </a:r>
            <a:r>
              <a:rPr lang="en-US" altLang="ko-KR" sz="1400" b="1" dirty="0">
                <a:solidFill>
                  <a:srgbClr val="FF0000"/>
                </a:solidFill>
              </a:rPr>
              <a:t>other prioritization functions </a:t>
            </a:r>
            <a:r>
              <a:rPr lang="en-US" altLang="ko-KR" sz="1400" b="1" dirty="0"/>
              <a:t>to decide where to schedule a pod</a:t>
            </a:r>
            <a:r>
              <a:rPr lang="en-US" altLang="ko-KR" sz="1400" dirty="0"/>
              <a:t>. One of those is the “</a:t>
            </a:r>
            <a:r>
              <a:rPr lang="en-US" altLang="ko-KR" sz="1400" b="1" dirty="0" err="1"/>
              <a:t>SelectorSpreadPriority</a:t>
            </a:r>
            <a:r>
              <a:rPr lang="en-US" altLang="ko-KR" sz="1400" dirty="0"/>
              <a:t>” </a:t>
            </a:r>
            <a:r>
              <a:rPr lang="en-US" altLang="ko-KR" sz="1400" b="1" dirty="0"/>
              <a:t>function, which makes sure pods belonging to the same </a:t>
            </a:r>
            <a:r>
              <a:rPr lang="en-US" altLang="ko-KR" sz="1400" b="1" dirty="0" err="1"/>
              <a:t>ReplicaSet</a:t>
            </a:r>
            <a:r>
              <a:rPr lang="en-US" altLang="ko-KR" sz="1400" b="1" dirty="0"/>
              <a:t> or Service are spread around different nodes so a node failure won’t bring the whole service down</a:t>
            </a:r>
            <a:r>
              <a:rPr lang="en-US" altLang="ko-KR" sz="1400" dirty="0"/>
              <a:t>. </a:t>
            </a:r>
          </a:p>
          <a:p>
            <a:pPr lvl="1">
              <a:buFont typeface="Wingdings" panose="05000000000000000000" pitchFamily="2" charset="2"/>
              <a:buChar char="§"/>
            </a:pPr>
            <a:r>
              <a:rPr lang="en-US" altLang="ko-KR" sz="1400" b="1" dirty="0"/>
              <a:t>If you hadn’t defined any node affinity preferences, the pods would have been spread around the two nodes evenly</a:t>
            </a:r>
            <a:r>
              <a:rPr lang="en-US" altLang="ko-KR" sz="1400" dirty="0"/>
              <a:t>. The following screenshot shows that </a:t>
            </a:r>
            <a:r>
              <a:rPr lang="en-US" altLang="ko-KR" sz="1400" b="1" dirty="0"/>
              <a:t>20 replicas </a:t>
            </a:r>
            <a:r>
              <a:rPr lang="en-US" altLang="ko-KR" sz="1400" dirty="0"/>
              <a:t>are create in the cluster.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56F4D32B-95C3-EE31-910A-1D686FAC83B6}"/>
              </a:ext>
            </a:extLst>
          </p:cNvPr>
          <p:cNvGrpSpPr/>
          <p:nvPr/>
        </p:nvGrpSpPr>
        <p:grpSpPr>
          <a:xfrm>
            <a:off x="1240602" y="2629912"/>
            <a:ext cx="9710796" cy="3779118"/>
            <a:chOff x="1240602" y="2629912"/>
            <a:chExt cx="9710796" cy="3779118"/>
          </a:xfrm>
        </p:grpSpPr>
        <p:pic>
          <p:nvPicPr>
            <p:cNvPr id="8" name="그림 7">
              <a:extLst>
                <a:ext uri="{FF2B5EF4-FFF2-40B4-BE49-F238E27FC236}">
                  <a16:creationId xmlns:a16="http://schemas.microsoft.com/office/drawing/2014/main" id="{9CC1E455-2274-8E94-EB88-D523A0D37433}"/>
                </a:ext>
              </a:extLst>
            </p:cNvPr>
            <p:cNvPicPr>
              <a:picLocks noChangeAspect="1"/>
            </p:cNvPicPr>
            <p:nvPr/>
          </p:nvPicPr>
          <p:blipFill>
            <a:blip r:embed="rId2"/>
            <a:stretch>
              <a:fillRect/>
            </a:stretch>
          </p:blipFill>
          <p:spPr>
            <a:xfrm>
              <a:off x="1240602" y="2629912"/>
              <a:ext cx="9710796" cy="3779118"/>
            </a:xfrm>
            <a:prstGeom prst="rect">
              <a:avLst/>
            </a:prstGeom>
          </p:spPr>
        </p:pic>
        <p:sp>
          <p:nvSpPr>
            <p:cNvPr id="9" name="직사각형 8">
              <a:extLst>
                <a:ext uri="{FF2B5EF4-FFF2-40B4-BE49-F238E27FC236}">
                  <a16:creationId xmlns:a16="http://schemas.microsoft.com/office/drawing/2014/main" id="{BB9E8E75-1173-85E7-6B1D-A80BD1504273}"/>
                </a:ext>
              </a:extLst>
            </p:cNvPr>
            <p:cNvSpPr/>
            <p:nvPr/>
          </p:nvSpPr>
          <p:spPr>
            <a:xfrm>
              <a:off x="5971922" y="5308375"/>
              <a:ext cx="1092425" cy="1132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1D347C94-1D92-0739-B20C-4B3099C14529}"/>
                </a:ext>
              </a:extLst>
            </p:cNvPr>
            <p:cNvSpPr/>
            <p:nvPr/>
          </p:nvSpPr>
          <p:spPr>
            <a:xfrm>
              <a:off x="5971921" y="5717765"/>
              <a:ext cx="1092425" cy="1132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795706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Co-locating Pods with Pod Affinity and Anti-affinity(1/15)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Inter-pod Affinity to Deploy Pods on the Same Node :</a:t>
            </a:r>
            <a:endParaRPr lang="en-US" altLang="ko-KR" sz="1400" dirty="0"/>
          </a:p>
          <a:p>
            <a:pPr lvl="1">
              <a:buFont typeface="Wingdings" panose="05000000000000000000" pitchFamily="2" charset="2"/>
              <a:buChar char="§"/>
            </a:pPr>
            <a:r>
              <a:rPr lang="en-US" altLang="ko-KR" sz="1400" dirty="0"/>
              <a:t>You’ve seen how node affinity rules are used to influence which node a pod is scheduled to. But these rules only affect the affinity between a pod and a node, whereas </a:t>
            </a:r>
            <a:r>
              <a:rPr lang="en-US" altLang="ko-KR" sz="1400" b="1" dirty="0"/>
              <a:t>sometimes you’d like to have the ability to specify the affinity between pods themselves</a:t>
            </a:r>
            <a:r>
              <a:rPr lang="en-US" altLang="ko-KR" sz="1400" dirty="0"/>
              <a:t>. </a:t>
            </a:r>
          </a:p>
          <a:p>
            <a:pPr lvl="1">
              <a:buFont typeface="Wingdings" panose="05000000000000000000" pitchFamily="2" charset="2"/>
              <a:buChar char="§"/>
            </a:pPr>
            <a:r>
              <a:rPr lang="en-US" altLang="ko-KR" sz="1400" dirty="0"/>
              <a:t>For example, </a:t>
            </a:r>
            <a:r>
              <a:rPr lang="en-US" altLang="ko-KR" sz="1400" b="1" dirty="0"/>
              <a:t>imagine having a frontend and a backend pod</a:t>
            </a:r>
            <a:r>
              <a:rPr lang="en-US" altLang="ko-KR" sz="1400" dirty="0"/>
              <a:t>. </a:t>
            </a:r>
            <a:r>
              <a:rPr lang="en-US" altLang="ko-KR" sz="1400" b="1" dirty="0"/>
              <a:t>Having those pods deployed near to each other reduces latency and improves the performance of the app</a:t>
            </a:r>
            <a:r>
              <a:rPr lang="en-US" altLang="ko-KR" sz="1400" dirty="0"/>
              <a:t>. You could use </a:t>
            </a:r>
            <a:r>
              <a:rPr lang="en-US" altLang="ko-KR" sz="1400" b="1" dirty="0">
                <a:solidFill>
                  <a:srgbClr val="FF0000"/>
                </a:solidFill>
              </a:rPr>
              <a:t>node affinity rules </a:t>
            </a:r>
            <a:r>
              <a:rPr lang="en-US" altLang="ko-KR" sz="1400" dirty="0"/>
              <a:t>to ensure both are deployed to the same node, rack, or datacenter, but then you’d have to specify exactly which node, rack, or datacenter to schedule them to, which is not the best solution. </a:t>
            </a:r>
            <a:r>
              <a:rPr lang="en-US" altLang="ko-KR" sz="1400" b="1" dirty="0"/>
              <a:t>It’s better to let Kubernetes deploy your pods anywhere it sees fit, while keeping the frontend and backend pods close together</a:t>
            </a:r>
            <a:r>
              <a:rPr lang="en-US" altLang="ko-KR" sz="1400" dirty="0"/>
              <a:t>. This can be achieved using </a:t>
            </a:r>
            <a:r>
              <a:rPr lang="en-US" altLang="ko-KR" sz="1400" b="1" dirty="0">
                <a:solidFill>
                  <a:srgbClr val="FF0000"/>
                </a:solidFill>
              </a:rPr>
              <a:t>pod affinity</a:t>
            </a:r>
            <a:r>
              <a:rPr lang="en-US" altLang="ko-KR" sz="1400" dirty="0"/>
              <a:t>.</a:t>
            </a:r>
          </a:p>
          <a:p>
            <a:pPr lvl="1">
              <a:buFont typeface="Wingdings" panose="05000000000000000000" pitchFamily="2" charset="2"/>
              <a:buChar char="§"/>
            </a:pPr>
            <a:r>
              <a:rPr lang="en-US" altLang="ko-KR" sz="1400" b="1" dirty="0"/>
              <a:t>You’ll deploy a backend pod and five frontend pod replicas with pod affinity configured so that they’re all deployed on the same node as the backend pod</a:t>
            </a:r>
            <a:r>
              <a:rPr lang="en-US" altLang="ko-KR" sz="1400" dirty="0"/>
              <a:t>. First, deploy the backend pod: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0CA1C36A-2D32-C8EF-4867-0B06B248447C}"/>
              </a:ext>
            </a:extLst>
          </p:cNvPr>
          <p:cNvGrpSpPr/>
          <p:nvPr/>
        </p:nvGrpSpPr>
        <p:grpSpPr>
          <a:xfrm>
            <a:off x="838200" y="3750366"/>
            <a:ext cx="10515600" cy="2242964"/>
            <a:chOff x="838200" y="3570595"/>
            <a:chExt cx="10515600" cy="2242964"/>
          </a:xfrm>
        </p:grpSpPr>
        <p:grpSp>
          <p:nvGrpSpPr>
            <p:cNvPr id="10" name="그룹 9">
              <a:extLst>
                <a:ext uri="{FF2B5EF4-FFF2-40B4-BE49-F238E27FC236}">
                  <a16:creationId xmlns:a16="http://schemas.microsoft.com/office/drawing/2014/main" id="{C9B20D5F-7C1E-75A0-5BBE-0C1F8A5BFE05}"/>
                </a:ext>
              </a:extLst>
            </p:cNvPr>
            <p:cNvGrpSpPr/>
            <p:nvPr/>
          </p:nvGrpSpPr>
          <p:grpSpPr>
            <a:xfrm>
              <a:off x="3047326" y="3570595"/>
              <a:ext cx="6097348" cy="577994"/>
              <a:chOff x="3047326" y="3570595"/>
              <a:chExt cx="6097348" cy="577994"/>
            </a:xfrm>
          </p:grpSpPr>
          <p:sp>
            <p:nvSpPr>
              <p:cNvPr id="8" name="TextBox 7">
                <a:extLst>
                  <a:ext uri="{FF2B5EF4-FFF2-40B4-BE49-F238E27FC236}">
                    <a16:creationId xmlns:a16="http://schemas.microsoft.com/office/drawing/2014/main" id="{307F6748-AAF2-6278-A359-19C3B9A5AC7D}"/>
                  </a:ext>
                </a:extLst>
              </p:cNvPr>
              <p:cNvSpPr txBox="1"/>
              <p:nvPr/>
            </p:nvSpPr>
            <p:spPr>
              <a:xfrm>
                <a:off x="3047326" y="3570595"/>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run </a:t>
                </a:r>
                <a:r>
                  <a:rPr lang="en-US" altLang="ko-KR" sz="1000" b="1" dirty="0">
                    <a:solidFill>
                      <a:srgbClr val="FF0000"/>
                    </a:solidFill>
                  </a:rPr>
                  <a:t>backend -l app=backend </a:t>
                </a:r>
                <a:r>
                  <a:rPr lang="en-US" altLang="ko-KR" sz="1000" b="1" dirty="0"/>
                  <a:t>--image </a:t>
                </a:r>
                <a:r>
                  <a:rPr lang="en-US" altLang="ko-KR" sz="1000" b="1" dirty="0" err="1"/>
                  <a:t>busybox</a:t>
                </a:r>
                <a:r>
                  <a:rPr lang="en-US" altLang="ko-KR" sz="1000" b="1" dirty="0"/>
                  <a:t> -- sleep 999999</a:t>
                </a:r>
                <a:endParaRPr lang="ko-KR" altLang="en-US" sz="1000" b="1" dirty="0"/>
              </a:p>
            </p:txBody>
          </p:sp>
          <p:sp>
            <p:nvSpPr>
              <p:cNvPr id="9" name="화살표: 아래쪽 8">
                <a:extLst>
                  <a:ext uri="{FF2B5EF4-FFF2-40B4-BE49-F238E27FC236}">
                    <a16:creationId xmlns:a16="http://schemas.microsoft.com/office/drawing/2014/main" id="{0225B194-D5E3-7786-AC55-DD4A5F64D6F5}"/>
                  </a:ext>
                </a:extLst>
              </p:cNvPr>
              <p:cNvSpPr/>
              <p:nvPr/>
            </p:nvSpPr>
            <p:spPr>
              <a:xfrm>
                <a:off x="5861331" y="3816816"/>
                <a:ext cx="469338" cy="33177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6E5D0D07-22F1-56DA-6B98-BEAF57AF1E14}"/>
                </a:ext>
              </a:extLst>
            </p:cNvPr>
            <p:cNvPicPr>
              <a:picLocks noChangeAspect="1"/>
            </p:cNvPicPr>
            <p:nvPr/>
          </p:nvPicPr>
          <p:blipFill>
            <a:blip r:embed="rId2"/>
            <a:stretch>
              <a:fillRect/>
            </a:stretch>
          </p:blipFill>
          <p:spPr>
            <a:xfrm>
              <a:off x="838200" y="4148589"/>
              <a:ext cx="10515600" cy="1664970"/>
            </a:xfrm>
            <a:prstGeom prst="rect">
              <a:avLst/>
            </a:prstGeom>
          </p:spPr>
        </p:pic>
      </p:grpSp>
    </p:spTree>
    <p:extLst>
      <p:ext uri="{BB962C8B-B14F-4D97-AF65-F5344CB8AC3E}">
        <p14:creationId xmlns:p14="http://schemas.microsoft.com/office/powerpoint/2010/main" val="16136974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Co-locating Pods with Pod Affinity and Anti-affinity(2/15)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Inter-pod Affinity to Deploy Pods on the Same Node :</a:t>
            </a:r>
            <a:endParaRPr lang="en-US" altLang="ko-KR" sz="1400" dirty="0"/>
          </a:p>
          <a:p>
            <a:pPr lvl="1">
              <a:buFont typeface="Wingdings" panose="05000000000000000000" pitchFamily="2" charset="2"/>
              <a:buChar char="§"/>
            </a:pPr>
            <a:r>
              <a:rPr lang="en-US" altLang="ko-KR" sz="1400" dirty="0"/>
              <a:t>The only thing you need to note in the previous example is </a:t>
            </a:r>
            <a:r>
              <a:rPr lang="en-US" altLang="ko-KR" sz="1400" b="1" dirty="0"/>
              <a:t>the “app=backend” label you added to the pod </a:t>
            </a:r>
            <a:r>
              <a:rPr lang="en-US" altLang="ko-KR" sz="1400" dirty="0"/>
              <a:t>using the “</a:t>
            </a:r>
            <a:r>
              <a:rPr lang="en-US" altLang="ko-KR" sz="1400" b="1" dirty="0">
                <a:solidFill>
                  <a:srgbClr val="FF0000"/>
                </a:solidFill>
              </a:rPr>
              <a:t>-l</a:t>
            </a:r>
            <a:r>
              <a:rPr lang="en-US" altLang="ko-KR" sz="1400" dirty="0"/>
              <a:t>” option. </a:t>
            </a:r>
            <a:r>
              <a:rPr lang="en-US" altLang="ko-KR" sz="1400" b="1" dirty="0"/>
              <a:t>This label is what you’ll use in the frontend pod’s </a:t>
            </a:r>
            <a:r>
              <a:rPr lang="en-US" altLang="ko-KR" sz="1400" b="1" dirty="0" err="1">
                <a:solidFill>
                  <a:srgbClr val="FF0000"/>
                </a:solidFill>
              </a:rPr>
              <a:t>podAffinity</a:t>
            </a:r>
            <a:r>
              <a:rPr lang="en-US" altLang="ko-KR" sz="1400" b="1" dirty="0"/>
              <a:t> configuration</a:t>
            </a:r>
            <a:r>
              <a:rPr lang="en-US" altLang="ko-KR" sz="1400" dirty="0"/>
              <a:t>.</a:t>
            </a:r>
          </a:p>
          <a:p>
            <a:pPr lvl="1">
              <a:buFont typeface="Wingdings" panose="05000000000000000000" pitchFamily="2" charset="2"/>
              <a:buChar char="§"/>
            </a:pPr>
            <a:r>
              <a:rPr lang="en-US" altLang="ko-KR" sz="1400" b="1" dirty="0"/>
              <a:t>The frontend pod’s definition </a:t>
            </a:r>
            <a:r>
              <a:rPr lang="en-US" altLang="ko-KR" sz="1400" dirty="0"/>
              <a:t>is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9EE30C2-9A1A-9304-FBA9-317C79ADB250}"/>
              </a:ext>
            </a:extLst>
          </p:cNvPr>
          <p:cNvGrpSpPr/>
          <p:nvPr/>
        </p:nvGrpSpPr>
        <p:grpSpPr>
          <a:xfrm>
            <a:off x="3047326" y="2015664"/>
            <a:ext cx="6097348" cy="4247317"/>
            <a:chOff x="3047326" y="2139588"/>
            <a:chExt cx="6097348" cy="4247317"/>
          </a:xfrm>
        </p:grpSpPr>
        <p:sp>
          <p:nvSpPr>
            <p:cNvPr id="8" name="TextBox 7">
              <a:extLst>
                <a:ext uri="{FF2B5EF4-FFF2-40B4-BE49-F238E27FC236}">
                  <a16:creationId xmlns:a16="http://schemas.microsoft.com/office/drawing/2014/main" id="{4BC2711C-5FB5-5FA4-038C-5426AD6CBFD0}"/>
                </a:ext>
              </a:extLst>
            </p:cNvPr>
            <p:cNvSpPr txBox="1"/>
            <p:nvPr/>
          </p:nvSpPr>
          <p:spPr>
            <a:xfrm>
              <a:off x="3047326" y="2139588"/>
              <a:ext cx="6097348" cy="4247317"/>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apps/v1</a:t>
              </a:r>
            </a:p>
            <a:p>
              <a:r>
                <a:rPr lang="en-US" altLang="ko-KR" sz="1000" b="1" dirty="0"/>
                <a:t>kind: Deployment</a:t>
              </a:r>
            </a:p>
            <a:p>
              <a:r>
                <a:rPr lang="en-US" altLang="ko-KR" sz="1000" b="1" dirty="0"/>
                <a:t>metadata:</a:t>
              </a:r>
            </a:p>
            <a:p>
              <a:r>
                <a:rPr lang="en-US" altLang="ko-KR" sz="1000" b="1" dirty="0"/>
                <a:t>  name: </a:t>
              </a:r>
              <a:r>
                <a:rPr lang="en-US" altLang="ko-KR" sz="1000" b="1" dirty="0">
                  <a:solidFill>
                    <a:srgbClr val="FF0000"/>
                  </a:solidFill>
                </a:rPr>
                <a:t>frontend</a:t>
              </a:r>
            </a:p>
            <a:p>
              <a:r>
                <a:rPr lang="en-US" altLang="ko-KR" sz="1000" b="1" dirty="0"/>
                <a:t>spec:</a:t>
              </a:r>
            </a:p>
            <a:p>
              <a:r>
                <a:rPr lang="en-US" altLang="ko-KR" sz="1000" b="1" dirty="0"/>
                <a:t>  replicas: 5</a:t>
              </a:r>
            </a:p>
            <a:p>
              <a:r>
                <a:rPr lang="en-US" altLang="ko-KR" sz="1000" b="1" dirty="0"/>
                <a:t>  template:</a:t>
              </a:r>
            </a:p>
            <a:p>
              <a:r>
                <a:rPr lang="en-US" altLang="ko-KR" sz="1000" b="1" dirty="0"/>
                <a:t>    metadata:</a:t>
              </a:r>
            </a:p>
            <a:p>
              <a:r>
                <a:rPr lang="en-US" altLang="ko-KR" sz="1000" b="1" dirty="0"/>
                <a:t>      labels:</a:t>
              </a:r>
            </a:p>
            <a:p>
              <a:r>
                <a:rPr lang="en-US" altLang="ko-KR" sz="1000" b="1" dirty="0"/>
                <a:t>        app: frontend</a:t>
              </a:r>
            </a:p>
            <a:p>
              <a:r>
                <a:rPr lang="en-US" altLang="ko-KR" sz="1000" b="1" dirty="0"/>
                <a:t>    spec:</a:t>
              </a:r>
            </a:p>
            <a:p>
              <a:r>
                <a:rPr lang="en-US" altLang="ko-KR" sz="1000" b="1" dirty="0">
                  <a:solidFill>
                    <a:srgbClr val="FF0000"/>
                  </a:solidFill>
                </a:rPr>
                <a:t>      affinity:</a:t>
              </a:r>
            </a:p>
            <a:p>
              <a:r>
                <a:rPr lang="en-US" altLang="ko-KR" sz="1000" b="1" dirty="0">
                  <a:solidFill>
                    <a:srgbClr val="FF0000"/>
                  </a:solidFill>
                </a:rPr>
                <a:t>        </a:t>
              </a:r>
              <a:r>
                <a:rPr lang="en-US" altLang="ko-KR" sz="1000" b="1" dirty="0" err="1">
                  <a:solidFill>
                    <a:srgbClr val="FF0000"/>
                  </a:solidFill>
                </a:rPr>
                <a:t>podAffinity</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requiredDuringSchedulingIgnoredDuringExecution</a:t>
              </a:r>
              <a:r>
                <a:rPr lang="en-US" altLang="ko-KR" sz="1000" b="1" dirty="0">
                  <a:solidFill>
                    <a:srgbClr val="FF0000"/>
                  </a:solidFill>
                </a:rPr>
                <a:t>:</a:t>
              </a:r>
            </a:p>
            <a:p>
              <a:r>
                <a:rPr lang="en-US" altLang="ko-KR" sz="1000" b="1" dirty="0">
                  <a:solidFill>
                    <a:srgbClr val="FF0000"/>
                  </a:solidFill>
                </a:rPr>
                <a:t>          - </a:t>
              </a:r>
              <a:r>
                <a:rPr lang="en-US" altLang="ko-KR" sz="1000" b="1" dirty="0" err="1">
                  <a:solidFill>
                    <a:srgbClr val="FF0000"/>
                  </a:solidFill>
                </a:rPr>
                <a:t>topologyKey</a:t>
              </a:r>
              <a:r>
                <a:rPr lang="en-US" altLang="ko-KR" sz="1000" b="1" dirty="0">
                  <a:solidFill>
                    <a:srgbClr val="FF0000"/>
                  </a:solidFill>
                </a:rPr>
                <a:t>: kubernetes.io/hostname</a:t>
              </a:r>
            </a:p>
            <a:p>
              <a:r>
                <a:rPr lang="en-US" altLang="ko-KR" sz="1000" b="1" dirty="0">
                  <a:solidFill>
                    <a:srgbClr val="FF0000"/>
                  </a:solidFill>
                </a:rPr>
                <a:t>            </a:t>
              </a:r>
              <a:r>
                <a:rPr lang="en-US" altLang="ko-KR" sz="1000" b="1" dirty="0" err="1">
                  <a:solidFill>
                    <a:srgbClr val="FF0000"/>
                  </a:solidFill>
                </a:rPr>
                <a:t>labelSelector</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matchLabels</a:t>
              </a:r>
              <a:r>
                <a:rPr lang="en-US" altLang="ko-KR" sz="1000" b="1" dirty="0">
                  <a:solidFill>
                    <a:srgbClr val="FF0000"/>
                  </a:solidFill>
                </a:rPr>
                <a:t>:</a:t>
              </a:r>
            </a:p>
            <a:p>
              <a:r>
                <a:rPr lang="en-US" altLang="ko-KR" sz="1000" b="1" dirty="0">
                  <a:solidFill>
                    <a:srgbClr val="FF0000"/>
                  </a:solidFill>
                </a:rPr>
                <a:t>                app: backend</a:t>
              </a:r>
            </a:p>
            <a:p>
              <a:r>
                <a:rPr lang="en-US" altLang="ko-KR" sz="1000" b="1" dirty="0"/>
                <a:t>      containers:</a:t>
              </a:r>
            </a:p>
            <a:p>
              <a:r>
                <a:rPr lang="en-US" altLang="ko-KR" sz="1000" b="1" dirty="0"/>
                <a:t>      - name: main</a:t>
              </a:r>
            </a:p>
            <a:p>
              <a:r>
                <a:rPr lang="en-US" altLang="ko-KR" sz="1000" b="1" dirty="0"/>
                <a:t>        image: </a:t>
              </a:r>
              <a:r>
                <a:rPr lang="en-US" altLang="ko-KR" sz="1000" b="1" dirty="0" err="1"/>
                <a:t>busybox</a:t>
              </a:r>
              <a:endParaRPr lang="en-US" altLang="ko-KR" sz="1000" b="1" dirty="0"/>
            </a:p>
            <a:p>
              <a:r>
                <a:rPr lang="en-US" altLang="ko-KR" sz="1000" b="1" dirty="0"/>
                <a:t>        </a:t>
              </a:r>
              <a:r>
                <a:rPr lang="en-US" altLang="ko-KR" sz="1000" b="1" dirty="0" err="1"/>
                <a:t>args</a:t>
              </a:r>
              <a:r>
                <a:rPr lang="en-US" altLang="ko-KR" sz="1000" b="1" dirty="0"/>
                <a:t>:</a:t>
              </a:r>
            </a:p>
            <a:p>
              <a:r>
                <a:rPr lang="en-US" altLang="ko-KR" sz="1000" b="1" dirty="0"/>
                <a:t>        - sleep</a:t>
              </a:r>
            </a:p>
            <a:p>
              <a:r>
                <a:rPr lang="en-US" altLang="ko-KR" sz="1000" b="1" dirty="0"/>
                <a:t>        - "99999“</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a:t>
              </a:r>
              <a:r>
                <a:rPr lang="en-US" altLang="ko-KR" sz="1000" b="1" dirty="0">
                  <a:solidFill>
                    <a:srgbClr val="FF0000"/>
                  </a:solidFill>
                </a:rPr>
                <a:t>app: frontend</a:t>
              </a:r>
            </a:p>
          </p:txBody>
        </p:sp>
        <p:sp>
          <p:nvSpPr>
            <p:cNvPr id="9" name="TextBox 8">
              <a:extLst>
                <a:ext uri="{FF2B5EF4-FFF2-40B4-BE49-F238E27FC236}">
                  <a16:creationId xmlns:a16="http://schemas.microsoft.com/office/drawing/2014/main" id="{50227094-8412-5FBF-134B-9C373EB02905}"/>
                </a:ext>
              </a:extLst>
            </p:cNvPr>
            <p:cNvSpPr txBox="1"/>
            <p:nvPr/>
          </p:nvSpPr>
          <p:spPr>
            <a:xfrm>
              <a:off x="7052435" y="2139588"/>
              <a:ext cx="2092239" cy="246221"/>
            </a:xfrm>
            <a:prstGeom prst="rect">
              <a:avLst/>
            </a:prstGeom>
            <a:noFill/>
          </p:spPr>
          <p:txBody>
            <a:bodyPr wrap="none" rtlCol="0">
              <a:spAutoFit/>
            </a:bodyPr>
            <a:lstStyle/>
            <a:p>
              <a:pPr algn="l"/>
              <a:r>
                <a:rPr lang="en-US" altLang="ko-KR" sz="1000" b="1" dirty="0"/>
                <a:t>frontend-</a:t>
              </a:r>
              <a:r>
                <a:rPr lang="en-US" altLang="ko-KR" sz="1000" b="1" dirty="0" err="1"/>
                <a:t>podaffinity</a:t>
              </a:r>
              <a:r>
                <a:rPr lang="en-US" altLang="ko-KR" sz="1000" b="1" dirty="0"/>
                <a:t>-</a:t>
              </a:r>
              <a:r>
                <a:rPr lang="en-US" altLang="ko-KR" sz="1000" b="1" dirty="0" err="1"/>
                <a:t>host.yaml</a:t>
              </a:r>
              <a:endParaRPr lang="ko-KR" altLang="en-US" sz="1000" b="1" dirty="0"/>
            </a:p>
          </p:txBody>
        </p:sp>
      </p:grpSp>
    </p:spTree>
    <p:extLst>
      <p:ext uri="{BB962C8B-B14F-4D97-AF65-F5344CB8AC3E}">
        <p14:creationId xmlns:p14="http://schemas.microsoft.com/office/powerpoint/2010/main" val="2074973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Co-locating Pods with Pod Affinity and Anti-affinity(3/15)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Inter-pod Affinity to Deploy Pods on the Same Node :</a:t>
            </a:r>
            <a:endParaRPr lang="en-US" altLang="ko-KR" sz="1400" dirty="0"/>
          </a:p>
          <a:p>
            <a:pPr lvl="1">
              <a:buFont typeface="Wingdings" panose="05000000000000000000" pitchFamily="2" charset="2"/>
              <a:buChar char="§"/>
            </a:pPr>
            <a:r>
              <a:rPr lang="en-US" altLang="ko-KR" sz="1400" dirty="0"/>
              <a:t>The previous listing shows that this Deployment will create pods that have </a:t>
            </a:r>
            <a:r>
              <a:rPr lang="en-US" altLang="ko-KR" sz="1400" b="1" dirty="0"/>
              <a:t>a hard requirement to be deployed on the same node (specified by the “</a:t>
            </a:r>
            <a:r>
              <a:rPr lang="en-US" altLang="ko-KR" sz="1400" b="1" dirty="0" err="1">
                <a:solidFill>
                  <a:srgbClr val="FF0000"/>
                </a:solidFill>
              </a:rPr>
              <a:t>topologyKey</a:t>
            </a:r>
            <a:r>
              <a:rPr lang="en-US" altLang="ko-KR" sz="1400" b="1" dirty="0"/>
              <a:t>” field) as pods that have the “</a:t>
            </a:r>
            <a:r>
              <a:rPr lang="en-US" altLang="ko-KR" sz="1400" b="1" dirty="0">
                <a:solidFill>
                  <a:srgbClr val="FF0000"/>
                </a:solidFill>
              </a:rPr>
              <a:t>app=backend</a:t>
            </a:r>
            <a:r>
              <a:rPr lang="en-US" altLang="ko-KR" sz="1400" b="1" dirty="0"/>
              <a:t>” label </a:t>
            </a:r>
            <a:r>
              <a:rPr lang="en-US" altLang="ko-KR" sz="1400" dirty="0"/>
              <a:t>(see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Instead of the simpler “</a:t>
            </a:r>
            <a:r>
              <a:rPr lang="en-US" altLang="ko-KR" sz="1400" b="1" dirty="0" err="1">
                <a:solidFill>
                  <a:srgbClr val="FF0000"/>
                </a:solidFill>
              </a:rPr>
              <a:t>matchLabels</a:t>
            </a:r>
            <a:r>
              <a:rPr lang="en-US" altLang="ko-KR" sz="1400" b="1" dirty="0"/>
              <a:t>” field, you could also use the more expressive “</a:t>
            </a:r>
            <a:r>
              <a:rPr lang="en-US" altLang="ko-KR" sz="1400" b="1" dirty="0" err="1">
                <a:solidFill>
                  <a:srgbClr val="FF0000"/>
                </a:solidFill>
              </a:rPr>
              <a:t>matchExpressions</a:t>
            </a:r>
            <a:r>
              <a:rPr lang="en-US" altLang="ko-KR" sz="1400" b="1" dirty="0"/>
              <a:t>” field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9EEF5A76-4345-9686-CB98-6045FE03F5CB}"/>
              </a:ext>
            </a:extLst>
          </p:cNvPr>
          <p:cNvPicPr>
            <a:picLocks noChangeAspect="1"/>
          </p:cNvPicPr>
          <p:nvPr/>
        </p:nvPicPr>
        <p:blipFill>
          <a:blip r:embed="rId2"/>
          <a:stretch>
            <a:fillRect/>
          </a:stretch>
        </p:blipFill>
        <p:spPr>
          <a:xfrm>
            <a:off x="3335077" y="2023992"/>
            <a:ext cx="5521845" cy="3540054"/>
          </a:xfrm>
          <a:prstGeom prst="rect">
            <a:avLst/>
          </a:prstGeom>
        </p:spPr>
      </p:pic>
    </p:spTree>
    <p:extLst>
      <p:ext uri="{BB962C8B-B14F-4D97-AF65-F5344CB8AC3E}">
        <p14:creationId xmlns:p14="http://schemas.microsoft.com/office/powerpoint/2010/main" val="22942679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Co-locating Pods with Pod Affinity and Anti-affinity(4/15)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Inter-pod Affinity to Deploy Pods on the Same Node :</a:t>
            </a:r>
            <a:endParaRPr lang="en-US" altLang="ko-KR" sz="1400" dirty="0"/>
          </a:p>
          <a:p>
            <a:pPr lvl="1">
              <a:buFont typeface="Wingdings" panose="05000000000000000000" pitchFamily="2" charset="2"/>
              <a:buChar char="§"/>
            </a:pPr>
            <a:r>
              <a:rPr lang="en-US" altLang="ko-KR" sz="1400" dirty="0"/>
              <a:t>Before you create this Deployment, </a:t>
            </a:r>
            <a:r>
              <a:rPr lang="en-US" altLang="ko-KR" sz="1400" b="1" dirty="0"/>
              <a:t>let’s see which node the backend pod was scheduled to earlier </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When you create the frontend pods, </a:t>
            </a:r>
            <a:r>
              <a:rPr lang="en-US" altLang="ko-KR" sz="1400" b="1" dirty="0"/>
              <a:t>they should be deployed to “ubuntu20-04-02” as well</a:t>
            </a:r>
            <a:r>
              <a:rPr lang="en-US" altLang="ko-KR" sz="1400" dirty="0"/>
              <a:t>. You’re going to create the Deployment and see where the pods are deployed. This is shown in the next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24DB7AEA-F803-2C5E-E7A8-54F9418C5C70}"/>
              </a:ext>
            </a:extLst>
          </p:cNvPr>
          <p:cNvGrpSpPr/>
          <p:nvPr/>
        </p:nvGrpSpPr>
        <p:grpSpPr>
          <a:xfrm>
            <a:off x="838200" y="1536608"/>
            <a:ext cx="10515600" cy="1664970"/>
            <a:chOff x="838200" y="1577068"/>
            <a:chExt cx="10515600" cy="1664970"/>
          </a:xfrm>
        </p:grpSpPr>
        <p:pic>
          <p:nvPicPr>
            <p:cNvPr id="4" name="그림 3">
              <a:extLst>
                <a:ext uri="{FF2B5EF4-FFF2-40B4-BE49-F238E27FC236}">
                  <a16:creationId xmlns:a16="http://schemas.microsoft.com/office/drawing/2014/main" id="{8209657A-B6A4-FCD0-75E2-9A7F11EFEAFA}"/>
                </a:ext>
              </a:extLst>
            </p:cNvPr>
            <p:cNvPicPr>
              <a:picLocks noChangeAspect="1"/>
            </p:cNvPicPr>
            <p:nvPr/>
          </p:nvPicPr>
          <p:blipFill>
            <a:blip r:embed="rId2"/>
            <a:stretch>
              <a:fillRect/>
            </a:stretch>
          </p:blipFill>
          <p:spPr>
            <a:xfrm>
              <a:off x="838200" y="1577068"/>
              <a:ext cx="10515600" cy="1664970"/>
            </a:xfrm>
            <a:prstGeom prst="rect">
              <a:avLst/>
            </a:prstGeom>
          </p:spPr>
        </p:pic>
        <p:sp>
          <p:nvSpPr>
            <p:cNvPr id="8" name="직사각형 7">
              <a:extLst>
                <a:ext uri="{FF2B5EF4-FFF2-40B4-BE49-F238E27FC236}">
                  <a16:creationId xmlns:a16="http://schemas.microsoft.com/office/drawing/2014/main" id="{92CC269C-8A66-4055-C89F-32070D5F7EC8}"/>
                </a:ext>
              </a:extLst>
            </p:cNvPr>
            <p:cNvSpPr/>
            <p:nvPr/>
          </p:nvSpPr>
          <p:spPr>
            <a:xfrm>
              <a:off x="4952326" y="2508531"/>
              <a:ext cx="1076240" cy="32368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3" name="그룹 12">
            <a:extLst>
              <a:ext uri="{FF2B5EF4-FFF2-40B4-BE49-F238E27FC236}">
                <a16:creationId xmlns:a16="http://schemas.microsoft.com/office/drawing/2014/main" id="{7DC8DEE8-6AD6-7B9C-A577-CDFB69EF8B3A}"/>
              </a:ext>
            </a:extLst>
          </p:cNvPr>
          <p:cNvGrpSpPr/>
          <p:nvPr/>
        </p:nvGrpSpPr>
        <p:grpSpPr>
          <a:xfrm>
            <a:off x="838200" y="3963780"/>
            <a:ext cx="10515600" cy="2278380"/>
            <a:chOff x="838200" y="3963780"/>
            <a:chExt cx="10515600" cy="2278380"/>
          </a:xfrm>
        </p:grpSpPr>
        <p:pic>
          <p:nvPicPr>
            <p:cNvPr id="11" name="그림 10">
              <a:extLst>
                <a:ext uri="{FF2B5EF4-FFF2-40B4-BE49-F238E27FC236}">
                  <a16:creationId xmlns:a16="http://schemas.microsoft.com/office/drawing/2014/main" id="{B4170DE2-7B79-39CE-D514-CED780296C1E}"/>
                </a:ext>
              </a:extLst>
            </p:cNvPr>
            <p:cNvPicPr>
              <a:picLocks noChangeAspect="1"/>
            </p:cNvPicPr>
            <p:nvPr/>
          </p:nvPicPr>
          <p:blipFill>
            <a:blip r:embed="rId3"/>
            <a:stretch>
              <a:fillRect/>
            </a:stretch>
          </p:blipFill>
          <p:spPr>
            <a:xfrm>
              <a:off x="838200" y="3963780"/>
              <a:ext cx="10515600" cy="2278380"/>
            </a:xfrm>
            <a:prstGeom prst="rect">
              <a:avLst/>
            </a:prstGeom>
          </p:spPr>
        </p:pic>
        <p:sp>
          <p:nvSpPr>
            <p:cNvPr id="12" name="직사각형 11">
              <a:extLst>
                <a:ext uri="{FF2B5EF4-FFF2-40B4-BE49-F238E27FC236}">
                  <a16:creationId xmlns:a16="http://schemas.microsoft.com/office/drawing/2014/main" id="{6FB91FB1-4D9A-CDED-EB36-CA89EA65D8AA}"/>
                </a:ext>
              </a:extLst>
            </p:cNvPr>
            <p:cNvSpPr/>
            <p:nvPr/>
          </p:nvSpPr>
          <p:spPr>
            <a:xfrm>
              <a:off x="930584" y="5051224"/>
              <a:ext cx="8229600" cy="91957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94776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Co-locating Pods with Pod Affinity and Anti-affinity(5/15)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Inter-pod Affinity to Deploy Pods on the Same Node :</a:t>
            </a:r>
            <a:endParaRPr lang="en-US" altLang="ko-KR" sz="1400" dirty="0"/>
          </a:p>
          <a:p>
            <a:pPr lvl="1">
              <a:buFont typeface="Wingdings" panose="05000000000000000000" pitchFamily="2" charset="2"/>
              <a:buChar char="§"/>
            </a:pPr>
            <a:r>
              <a:rPr lang="en-US" altLang="ko-KR" sz="1400" b="1" dirty="0"/>
              <a:t>All the frontend pods were indeed scheduled to the same node as the backend pod</a:t>
            </a:r>
            <a:r>
              <a:rPr lang="en-US" altLang="ko-KR" sz="1400" dirty="0"/>
              <a:t>. When scheduling the frontend pod, </a:t>
            </a:r>
            <a:r>
              <a:rPr lang="en-US" altLang="ko-KR" sz="1400" b="1" dirty="0"/>
              <a:t>the Scheduler first found all the pods that match the “</a:t>
            </a:r>
            <a:r>
              <a:rPr lang="en-US" altLang="ko-KR" sz="1400" b="1" dirty="0" err="1">
                <a:solidFill>
                  <a:srgbClr val="FF0000"/>
                </a:solidFill>
              </a:rPr>
              <a:t>labelSelector</a:t>
            </a:r>
            <a:r>
              <a:rPr lang="en-US" altLang="ko-KR" sz="1400" b="1" dirty="0"/>
              <a:t>” defined in the frontend pod’s “</a:t>
            </a:r>
            <a:r>
              <a:rPr lang="en-US" altLang="ko-KR" sz="1400" b="1" dirty="0" err="1">
                <a:solidFill>
                  <a:srgbClr val="FF0000"/>
                </a:solidFill>
              </a:rPr>
              <a:t>podAffinity</a:t>
            </a:r>
            <a:r>
              <a:rPr lang="en-US" altLang="ko-KR" sz="1400" b="1" dirty="0"/>
              <a:t>” configuration and then scheduled the frontend pod to the same node</a:t>
            </a:r>
            <a:r>
              <a:rPr lang="en-US" altLang="ko-KR" sz="1400" dirty="0"/>
              <a:t>.</a:t>
            </a:r>
          </a:p>
          <a:p>
            <a:pPr lvl="1">
              <a:buFont typeface="Wingdings" panose="05000000000000000000" pitchFamily="2" charset="2"/>
              <a:buChar char="§"/>
            </a:pPr>
            <a:r>
              <a:rPr lang="en-US" altLang="ko-KR" sz="1400" dirty="0"/>
              <a:t>What’s interesting is that </a:t>
            </a:r>
            <a:r>
              <a:rPr lang="en-US" altLang="ko-KR" sz="1400" b="1" dirty="0"/>
              <a:t>if you now delete the backend pod, the Scheduler will schedule the pod to “ubuntu20-04-02” even though it doesn’t define any pod affinity rules itself (the rules are only on the frontend pods). </a:t>
            </a:r>
            <a:r>
              <a:rPr lang="en-US" altLang="ko-KR" sz="1400" dirty="0"/>
              <a:t>This makes sense, because otherwise </a:t>
            </a:r>
            <a:r>
              <a:rPr lang="en-US" altLang="ko-KR" sz="1400" b="1" dirty="0"/>
              <a:t>if the backend pod were to be deleted by accident and rescheduled to a different node, the frontend pods’ affinity rules would be broken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D233EB6-B9BF-31E4-86AA-92C121B09E89}"/>
              </a:ext>
            </a:extLst>
          </p:cNvPr>
          <p:cNvPicPr>
            <a:picLocks noChangeAspect="1"/>
          </p:cNvPicPr>
          <p:nvPr/>
        </p:nvPicPr>
        <p:blipFill>
          <a:blip r:embed="rId2"/>
          <a:stretch>
            <a:fillRect/>
          </a:stretch>
        </p:blipFill>
        <p:spPr>
          <a:xfrm>
            <a:off x="838200" y="2771180"/>
            <a:ext cx="10515600" cy="3312414"/>
          </a:xfrm>
          <a:prstGeom prst="rect">
            <a:avLst/>
          </a:prstGeom>
        </p:spPr>
      </p:pic>
      <p:sp>
        <p:nvSpPr>
          <p:cNvPr id="9" name="직사각형 8">
            <a:extLst>
              <a:ext uri="{FF2B5EF4-FFF2-40B4-BE49-F238E27FC236}">
                <a16:creationId xmlns:a16="http://schemas.microsoft.com/office/drawing/2014/main" id="{3E0580B0-904F-232D-F416-EE28C23DAEC3}"/>
              </a:ext>
            </a:extLst>
          </p:cNvPr>
          <p:cNvSpPr/>
          <p:nvPr/>
        </p:nvSpPr>
        <p:spPr>
          <a:xfrm>
            <a:off x="6271328" y="4909046"/>
            <a:ext cx="1092424" cy="89294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E76DF30A-6B82-5E1D-106F-C1938ABA6CD5}"/>
              </a:ext>
            </a:extLst>
          </p:cNvPr>
          <p:cNvSpPr/>
          <p:nvPr/>
        </p:nvSpPr>
        <p:spPr>
          <a:xfrm>
            <a:off x="5300283" y="3204446"/>
            <a:ext cx="4774301" cy="5826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593148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Co-locating Pods with Pod Affinity and Anti-affinity(6/15)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Deploying Pods in the Same Rack, Availability Zone, or Geographic Region :</a:t>
            </a:r>
            <a:endParaRPr lang="en-US" altLang="ko-KR" sz="1400" dirty="0"/>
          </a:p>
          <a:p>
            <a:pPr lvl="1">
              <a:buFont typeface="Wingdings" panose="05000000000000000000" pitchFamily="2" charset="2"/>
              <a:buChar char="§"/>
            </a:pPr>
            <a:r>
              <a:rPr lang="en-US" altLang="ko-KR" sz="1400" b="1" dirty="0"/>
              <a:t>In the previous example, you used “</a:t>
            </a:r>
            <a:r>
              <a:rPr lang="en-US" altLang="ko-KR" sz="1400" b="1" dirty="0" err="1"/>
              <a:t>podAffinity</a:t>
            </a:r>
            <a:r>
              <a:rPr lang="en-US" altLang="ko-KR" sz="1400" b="1" dirty="0"/>
              <a:t>” to deploy frontend pods onto the same node as the backend pods</a:t>
            </a:r>
            <a:r>
              <a:rPr lang="en-US" altLang="ko-KR" sz="1400" dirty="0"/>
              <a:t>. You probably don’t want all your frontend pods to run on the same machine, but you’d still like to keep them close to the backend pod—for example, </a:t>
            </a:r>
            <a:r>
              <a:rPr lang="en-US" altLang="ko-KR" sz="1400" b="1" dirty="0"/>
              <a:t>run them in the same </a:t>
            </a:r>
            <a:r>
              <a:rPr lang="en-US" altLang="ko-KR" sz="1400" b="1" dirty="0">
                <a:solidFill>
                  <a:srgbClr val="FF0000"/>
                </a:solidFill>
              </a:rPr>
              <a:t>availability zone</a:t>
            </a:r>
            <a:r>
              <a:rPr lang="en-US" altLang="ko-KR" sz="1400" dirty="0"/>
              <a:t>.</a:t>
            </a:r>
          </a:p>
          <a:p>
            <a:pPr lvl="1">
              <a:buFont typeface="Wingdings" panose="05000000000000000000" pitchFamily="2" charset="2"/>
              <a:buChar char="§"/>
            </a:pPr>
            <a:r>
              <a:rPr lang="en-US" altLang="ko-KR" sz="1400" dirty="0"/>
              <a:t>The cluster I’m using runs in three VMs on my local machine, so all the nodes are in the same availability zone, so to speak. </a:t>
            </a:r>
            <a:r>
              <a:rPr lang="en-US" altLang="ko-KR" sz="1400" b="1" dirty="0"/>
              <a:t>But if the nodes were in different zones, all I’d need to do to run the frontend pods in the same zone as the backend pod would be to change the “</a:t>
            </a:r>
            <a:r>
              <a:rPr lang="en-US" altLang="ko-KR" sz="1400" b="1" dirty="0" err="1">
                <a:solidFill>
                  <a:srgbClr val="FF0000"/>
                </a:solidFill>
              </a:rPr>
              <a:t>topologyKey</a:t>
            </a:r>
            <a:r>
              <a:rPr lang="en-US" altLang="ko-KR" sz="1400" b="1" dirty="0"/>
              <a:t>” property to “failure-domain.beta.kubernetes.io/zone”</a:t>
            </a:r>
            <a:r>
              <a:rPr lang="en-US" altLang="ko-KR" sz="1400" dirty="0"/>
              <a:t>.</a:t>
            </a:r>
          </a:p>
          <a:p>
            <a:pPr lvl="1">
              <a:buFont typeface="Wingdings" panose="05000000000000000000" pitchFamily="2" charset="2"/>
              <a:buChar char="§"/>
            </a:pPr>
            <a:r>
              <a:rPr lang="en-US" altLang="ko-KR" sz="1400" b="1" dirty="0"/>
              <a:t>To allow the pods to be deployed in the same region instead of the same zone (cloud providers usually have datacenters located in different geographical regions and split into multiple availability zones in each region), the “</a:t>
            </a:r>
            <a:r>
              <a:rPr lang="en-US" altLang="ko-KR" sz="1400" b="1" dirty="0" err="1">
                <a:solidFill>
                  <a:srgbClr val="FF0000"/>
                </a:solidFill>
              </a:rPr>
              <a:t>topologyKey</a:t>
            </a:r>
            <a:r>
              <a:rPr lang="en-US" altLang="ko-KR" sz="1400" b="1" dirty="0"/>
              <a:t>” would be set to failure-domain.beta.kubernetes.io/region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5CEB4945-2342-856C-9D19-36566881A9C6}"/>
              </a:ext>
            </a:extLst>
          </p:cNvPr>
          <p:cNvPicPr>
            <a:picLocks noChangeAspect="1"/>
          </p:cNvPicPr>
          <p:nvPr/>
        </p:nvPicPr>
        <p:blipFill>
          <a:blip r:embed="rId2"/>
          <a:stretch>
            <a:fillRect/>
          </a:stretch>
        </p:blipFill>
        <p:spPr>
          <a:xfrm>
            <a:off x="3304648" y="3157170"/>
            <a:ext cx="5582703" cy="3251860"/>
          </a:xfrm>
          <a:prstGeom prst="rect">
            <a:avLst/>
          </a:prstGeom>
        </p:spPr>
      </p:pic>
    </p:spTree>
    <p:extLst>
      <p:ext uri="{BB962C8B-B14F-4D97-AF65-F5344CB8AC3E}">
        <p14:creationId xmlns:p14="http://schemas.microsoft.com/office/powerpoint/2010/main" val="19426249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Co-locating Pods with Pod Affinity and Anti-affinity(7/15)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Deploying Pods in the Same Rack, Availability Zone, or Geographic Region :</a:t>
            </a:r>
            <a:endParaRPr lang="en-US" altLang="ko-KR" sz="1400" dirty="0"/>
          </a:p>
          <a:p>
            <a:pPr lvl="1">
              <a:buFont typeface="Wingdings" panose="05000000000000000000" pitchFamily="2" charset="2"/>
              <a:buChar char="§"/>
            </a:pPr>
            <a:r>
              <a:rPr lang="en-US" altLang="ko-KR" sz="1400" dirty="0"/>
              <a:t>The way “</a:t>
            </a:r>
            <a:r>
              <a:rPr lang="en-US" altLang="ko-KR" sz="1400" b="1" dirty="0" err="1">
                <a:solidFill>
                  <a:srgbClr val="FF0000"/>
                </a:solidFill>
              </a:rPr>
              <a:t>topologyKey</a:t>
            </a:r>
            <a:r>
              <a:rPr lang="en-US" altLang="ko-KR" sz="1400" dirty="0"/>
              <a:t>” works is simple. </a:t>
            </a:r>
            <a:r>
              <a:rPr lang="en-US" altLang="ko-KR" sz="1400" b="1" dirty="0"/>
              <a:t>If you want, you can easily use your own “</a:t>
            </a:r>
            <a:r>
              <a:rPr lang="en-US" altLang="ko-KR" sz="1400" b="1" dirty="0" err="1"/>
              <a:t>topologyKey</a:t>
            </a:r>
            <a:r>
              <a:rPr lang="en-US" altLang="ko-KR" sz="1400" b="1" dirty="0"/>
              <a:t>”, such as “rack”, to have the pods scheduled to the same server rack</a:t>
            </a:r>
            <a:r>
              <a:rPr lang="en-US" altLang="ko-KR" sz="1400" dirty="0"/>
              <a:t>. The only prerequisite is to </a:t>
            </a:r>
            <a:r>
              <a:rPr lang="en-US" altLang="ko-KR" sz="1400" b="1" dirty="0"/>
              <a:t>add a “rack” label to your nodes</a:t>
            </a:r>
            <a:r>
              <a:rPr lang="en-US" altLang="ko-KR" sz="1400" dirty="0"/>
              <a:t>. This scenario is shown in the following figure.</a:t>
            </a:r>
          </a:p>
          <a:p>
            <a:pPr lvl="1">
              <a:buFont typeface="Wingdings" panose="05000000000000000000" pitchFamily="2" charset="2"/>
              <a:buChar char="§"/>
            </a:pPr>
            <a:r>
              <a:rPr lang="en-US" altLang="ko-KR" sz="1400" dirty="0"/>
              <a:t>For example, if you had 20 nodes, with 10 in each rack, you’d label the first ten as “</a:t>
            </a:r>
            <a:r>
              <a:rPr lang="en-US" altLang="ko-KR" sz="1400" b="1" dirty="0"/>
              <a:t>rack=rack1</a:t>
            </a:r>
            <a:r>
              <a:rPr lang="en-US" altLang="ko-KR" sz="1400" dirty="0"/>
              <a:t>” and the others as “</a:t>
            </a:r>
            <a:r>
              <a:rPr lang="en-US" altLang="ko-KR" sz="1400" b="1" dirty="0"/>
              <a:t>rack=rack2</a:t>
            </a:r>
            <a:r>
              <a:rPr lang="en-US" altLang="ko-KR" sz="1400" dirty="0"/>
              <a:t>”. </a:t>
            </a:r>
            <a:r>
              <a:rPr lang="en-US" altLang="ko-KR" sz="1400" b="1" dirty="0"/>
              <a:t>Then, when defining a pod’s “</a:t>
            </a:r>
            <a:r>
              <a:rPr lang="en-US" altLang="ko-KR" sz="1400" b="1" dirty="0" err="1">
                <a:solidFill>
                  <a:srgbClr val="FF0000"/>
                </a:solidFill>
              </a:rPr>
              <a:t>podAffinity</a:t>
            </a:r>
            <a:r>
              <a:rPr lang="en-US" altLang="ko-KR" sz="1400" b="1" dirty="0"/>
              <a:t>”, you’d set the “</a:t>
            </a:r>
            <a:r>
              <a:rPr lang="en-US" altLang="ko-KR" sz="1400" b="1" dirty="0" err="1">
                <a:solidFill>
                  <a:srgbClr val="FF0000"/>
                </a:solidFill>
              </a:rPr>
              <a:t>toplogyKey</a:t>
            </a:r>
            <a:r>
              <a:rPr lang="en-US" altLang="ko-KR" sz="1400" b="1" dirty="0"/>
              <a:t>” to “rack”</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C907A20-5ABE-F0C9-54B1-1C9355FD23B8}"/>
              </a:ext>
            </a:extLst>
          </p:cNvPr>
          <p:cNvPicPr>
            <a:picLocks noChangeAspect="1"/>
          </p:cNvPicPr>
          <p:nvPr/>
        </p:nvPicPr>
        <p:blipFill>
          <a:blip r:embed="rId2"/>
          <a:stretch>
            <a:fillRect/>
          </a:stretch>
        </p:blipFill>
        <p:spPr>
          <a:xfrm>
            <a:off x="3624262" y="2624570"/>
            <a:ext cx="4943475" cy="3209925"/>
          </a:xfrm>
          <a:prstGeom prst="rect">
            <a:avLst/>
          </a:prstGeom>
        </p:spPr>
      </p:pic>
    </p:spTree>
    <p:extLst>
      <p:ext uri="{BB962C8B-B14F-4D97-AF65-F5344CB8AC3E}">
        <p14:creationId xmlns:p14="http://schemas.microsoft.com/office/powerpoint/2010/main" val="27667251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Co-locating Pods with Pod Affinity and Anti-affinity(8/15)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Deploying Pods in the Same Rack, Availability Zone, or Geographic Region :</a:t>
            </a:r>
            <a:endParaRPr lang="en-US" altLang="ko-KR" sz="1400" dirty="0"/>
          </a:p>
          <a:p>
            <a:pPr lvl="1">
              <a:buFont typeface="Wingdings" panose="05000000000000000000" pitchFamily="2" charset="2"/>
              <a:buChar char="§"/>
            </a:pPr>
            <a:r>
              <a:rPr lang="en-US" altLang="ko-KR" sz="1400" b="1" dirty="0"/>
              <a:t>When the Scheduler is deciding where to deploy a pod, it checks the pod’s “</a:t>
            </a:r>
            <a:r>
              <a:rPr lang="en-US" altLang="ko-KR" sz="1400" b="1" dirty="0" err="1">
                <a:solidFill>
                  <a:srgbClr val="FF0000"/>
                </a:solidFill>
              </a:rPr>
              <a:t>podAffinity</a:t>
            </a:r>
            <a:r>
              <a:rPr lang="en-US" altLang="ko-KR" sz="1400" b="1" dirty="0"/>
              <a:t>” config, finds the pods that match the </a:t>
            </a:r>
            <a:r>
              <a:rPr lang="en-US" altLang="ko-KR" sz="1400" b="1" dirty="0">
                <a:solidFill>
                  <a:srgbClr val="FF0000"/>
                </a:solidFill>
              </a:rPr>
              <a:t>label selector</a:t>
            </a:r>
            <a:r>
              <a:rPr lang="en-US" altLang="ko-KR" sz="1400" b="1" dirty="0"/>
              <a:t>, and looks up the nodes they’re running on</a:t>
            </a:r>
            <a:r>
              <a:rPr lang="en-US" altLang="ko-KR" sz="1400" dirty="0"/>
              <a:t>. Specifically, it looks up the nodes’ label whose key matches the “</a:t>
            </a:r>
            <a:r>
              <a:rPr lang="en-US" altLang="ko-KR" sz="1400" b="1" dirty="0" err="1"/>
              <a:t>topologyKey</a:t>
            </a:r>
            <a:r>
              <a:rPr lang="en-US" altLang="ko-KR" sz="1400" dirty="0"/>
              <a:t>” field specified in “</a:t>
            </a:r>
            <a:r>
              <a:rPr lang="en-US" altLang="ko-KR" sz="1400" b="1" dirty="0" err="1"/>
              <a:t>podAffinity</a:t>
            </a:r>
            <a:r>
              <a:rPr lang="en-US" altLang="ko-KR" sz="1400" dirty="0"/>
              <a:t>”. Then it selects all the nodes whose label matches the values of the pods it found earlier. In the previous figure, </a:t>
            </a:r>
            <a:r>
              <a:rPr lang="en-US" altLang="ko-KR" sz="1400" b="1" dirty="0"/>
              <a:t>the label selector matched the backend pod, </a:t>
            </a:r>
            <a:r>
              <a:rPr lang="en-US" altLang="ko-KR" sz="1400" dirty="0"/>
              <a:t>which runs on Node 12. The value of the “</a:t>
            </a:r>
            <a:r>
              <a:rPr lang="en-US" altLang="ko-KR" sz="1400" b="1" dirty="0"/>
              <a:t>rack</a:t>
            </a:r>
            <a:r>
              <a:rPr lang="en-US" altLang="ko-KR" sz="1400" dirty="0"/>
              <a:t>” label on that node equals “</a:t>
            </a:r>
            <a:r>
              <a:rPr lang="en-US" altLang="ko-KR" sz="1400" b="1" dirty="0"/>
              <a:t>rack2</a:t>
            </a:r>
            <a:r>
              <a:rPr lang="en-US" altLang="ko-KR" sz="1400" dirty="0"/>
              <a:t>”, so when scheduling a frontend pod, the Scheduler will only select among the nodes that have the “</a:t>
            </a:r>
            <a:r>
              <a:rPr lang="en-US" altLang="ko-KR" sz="1400" b="1" dirty="0"/>
              <a:t>rack=rack2</a:t>
            </a:r>
            <a:r>
              <a:rPr lang="en-US" altLang="ko-KR" sz="1400" dirty="0"/>
              <a:t>” label.</a:t>
            </a:r>
          </a:p>
          <a:p>
            <a:pPr lvl="1">
              <a:buFont typeface="Wingdings" panose="05000000000000000000" pitchFamily="2" charset="2"/>
              <a:buChar char="§"/>
            </a:pPr>
            <a:r>
              <a:rPr lang="en-US" altLang="ko-KR" sz="1400" b="1" dirty="0"/>
              <a:t>NOTE : By default, the label selector only matches pods in the same namespace as the pod that’s being scheduled</a:t>
            </a:r>
            <a:r>
              <a:rPr lang="en-US" altLang="ko-KR" sz="1400" dirty="0"/>
              <a:t>. </a:t>
            </a:r>
            <a:r>
              <a:rPr lang="en-US" altLang="ko-KR" sz="1400" b="1" dirty="0"/>
              <a:t>But you can also select pods from other namespaces by adding a namespaces field at the same level as “</a:t>
            </a:r>
            <a:r>
              <a:rPr lang="en-US" altLang="ko-KR" sz="1400" b="1" dirty="0" err="1">
                <a:solidFill>
                  <a:srgbClr val="FF0000"/>
                </a:solidFill>
              </a:rPr>
              <a:t>labelSelector</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A63611F-BE4B-7602-3EFE-E1CB6CAE920B}"/>
              </a:ext>
            </a:extLst>
          </p:cNvPr>
          <p:cNvPicPr>
            <a:picLocks noChangeAspect="1"/>
          </p:cNvPicPr>
          <p:nvPr/>
        </p:nvPicPr>
        <p:blipFill>
          <a:blip r:embed="rId2"/>
          <a:stretch>
            <a:fillRect/>
          </a:stretch>
        </p:blipFill>
        <p:spPr>
          <a:xfrm>
            <a:off x="3728895" y="3118755"/>
            <a:ext cx="4734209" cy="3290275"/>
          </a:xfrm>
          <a:prstGeom prst="rect">
            <a:avLst/>
          </a:prstGeom>
        </p:spPr>
      </p:pic>
    </p:spTree>
    <p:extLst>
      <p:ext uri="{BB962C8B-B14F-4D97-AF65-F5344CB8AC3E}">
        <p14:creationId xmlns:p14="http://schemas.microsoft.com/office/powerpoint/2010/main" val="29356233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Co-locating Pods with Pod Affinity and Anti-affinity(9/15)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Expressing Pod Affinity Preferences Instead of Hard Requirements :</a:t>
            </a:r>
            <a:endParaRPr lang="en-US" altLang="ko-KR" sz="1400" dirty="0"/>
          </a:p>
          <a:p>
            <a:pPr lvl="1">
              <a:buFont typeface="Wingdings" panose="05000000000000000000" pitchFamily="2" charset="2"/>
              <a:buChar char="§"/>
            </a:pPr>
            <a:r>
              <a:rPr lang="en-US" altLang="ko-KR" sz="1400" b="1" dirty="0"/>
              <a:t>The “</a:t>
            </a:r>
            <a:r>
              <a:rPr lang="en-US" altLang="ko-KR" sz="1400" b="1" dirty="0" err="1">
                <a:solidFill>
                  <a:srgbClr val="FF0000"/>
                </a:solidFill>
              </a:rPr>
              <a:t>nodeAffinity</a:t>
            </a:r>
            <a:r>
              <a:rPr lang="en-US" altLang="ko-KR" sz="1400" b="1" dirty="0"/>
              <a:t>” can be used to </a:t>
            </a:r>
            <a:r>
              <a:rPr lang="en-US" altLang="ko-KR" sz="1400" b="1" dirty="0">
                <a:solidFill>
                  <a:srgbClr val="FF0000"/>
                </a:solidFill>
              </a:rPr>
              <a:t>express a hard requirement</a:t>
            </a:r>
            <a:r>
              <a:rPr lang="en-US" altLang="ko-KR" sz="1400" b="1" dirty="0"/>
              <a:t>, which means a pod is only scheduled to nodes that match the node affinity rules</a:t>
            </a:r>
            <a:r>
              <a:rPr lang="en-US" altLang="ko-KR" sz="1400" dirty="0"/>
              <a:t>. </a:t>
            </a:r>
            <a:r>
              <a:rPr lang="en-US" altLang="ko-KR" sz="1400" b="1" dirty="0"/>
              <a:t>It can also be used to </a:t>
            </a:r>
            <a:r>
              <a:rPr lang="en-US" altLang="ko-KR" sz="1400" b="1" dirty="0">
                <a:solidFill>
                  <a:srgbClr val="FF0000"/>
                </a:solidFill>
              </a:rPr>
              <a:t>specify node preferences</a:t>
            </a:r>
            <a:r>
              <a:rPr lang="en-US" altLang="ko-KR" sz="1400" b="1" dirty="0"/>
              <a:t>, to instruct the Scheduler to schedule the pod to certain nodes, while allowing it to schedule it anywhere else if those nodes can’t fit the pod for any reason</a:t>
            </a:r>
            <a:r>
              <a:rPr lang="en-US" altLang="ko-KR" sz="1400" dirty="0"/>
              <a:t>.</a:t>
            </a:r>
          </a:p>
          <a:p>
            <a:pPr lvl="1">
              <a:buFont typeface="Wingdings" panose="05000000000000000000" pitchFamily="2" charset="2"/>
              <a:buChar char="§"/>
            </a:pPr>
            <a:r>
              <a:rPr lang="en-US" altLang="ko-KR" sz="1400" b="1" dirty="0"/>
              <a:t>The same also applies to “</a:t>
            </a:r>
            <a:r>
              <a:rPr lang="en-US" altLang="ko-KR" sz="1400" b="1" dirty="0" err="1">
                <a:solidFill>
                  <a:srgbClr val="FF0000"/>
                </a:solidFill>
              </a:rPr>
              <a:t>podAffinity</a:t>
            </a:r>
            <a:r>
              <a:rPr lang="en-US" altLang="ko-KR" sz="1400" b="1" dirty="0"/>
              <a:t>”. You can tell the Scheduler you’d prefer to have your frontend pods scheduled onto the same node as your backend pod, but if that’s not possible, you’re okay with them being scheduled elsewhere</a:t>
            </a:r>
            <a:r>
              <a:rPr lang="en-US" altLang="ko-KR" sz="1400" dirty="0"/>
              <a:t>. An example of a Deployment using the “</a:t>
            </a:r>
            <a:r>
              <a:rPr lang="en-US" altLang="ko-KR" sz="1400" b="1" dirty="0" err="1"/>
              <a:t>preferredDuringSchedulingIgnoredDuringExecution</a:t>
            </a:r>
            <a:r>
              <a:rPr lang="en-US" altLang="ko-KR" sz="1400" dirty="0"/>
              <a:t>” pod affinity rule is shown in the next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9E47C9DA-AFB8-48DB-20AE-0BAEDEAD0543}"/>
              </a:ext>
            </a:extLst>
          </p:cNvPr>
          <p:cNvGrpSpPr/>
          <p:nvPr/>
        </p:nvGrpSpPr>
        <p:grpSpPr>
          <a:xfrm>
            <a:off x="1980525" y="2960180"/>
            <a:ext cx="8096082" cy="3170099"/>
            <a:chOff x="1980525" y="3000761"/>
            <a:chExt cx="8096082" cy="3170099"/>
          </a:xfrm>
        </p:grpSpPr>
        <p:grpSp>
          <p:nvGrpSpPr>
            <p:cNvPr id="11" name="그룹 10">
              <a:extLst>
                <a:ext uri="{FF2B5EF4-FFF2-40B4-BE49-F238E27FC236}">
                  <a16:creationId xmlns:a16="http://schemas.microsoft.com/office/drawing/2014/main" id="{C51CC0D9-4BF5-2922-C533-94E85E81F784}"/>
                </a:ext>
              </a:extLst>
            </p:cNvPr>
            <p:cNvGrpSpPr/>
            <p:nvPr/>
          </p:nvGrpSpPr>
          <p:grpSpPr>
            <a:xfrm>
              <a:off x="1980525" y="3000761"/>
              <a:ext cx="8096082" cy="3170099"/>
              <a:chOff x="1980525" y="3000761"/>
              <a:chExt cx="8096082" cy="3170099"/>
            </a:xfrm>
          </p:grpSpPr>
          <p:sp>
            <p:nvSpPr>
              <p:cNvPr id="8" name="TextBox 7">
                <a:extLst>
                  <a:ext uri="{FF2B5EF4-FFF2-40B4-BE49-F238E27FC236}">
                    <a16:creationId xmlns:a16="http://schemas.microsoft.com/office/drawing/2014/main" id="{B597A1C7-6D33-616D-A8C8-9ED546B83301}"/>
                  </a:ext>
                </a:extLst>
              </p:cNvPr>
              <p:cNvSpPr txBox="1"/>
              <p:nvPr/>
            </p:nvSpPr>
            <p:spPr>
              <a:xfrm>
                <a:off x="1980525" y="3000761"/>
                <a:ext cx="4048041" cy="3170099"/>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apps/v1</a:t>
                </a:r>
              </a:p>
              <a:p>
                <a:r>
                  <a:rPr lang="en-US" altLang="ko-KR" sz="1000" b="1" dirty="0"/>
                  <a:t>kind: Deployment</a:t>
                </a:r>
              </a:p>
              <a:p>
                <a:r>
                  <a:rPr lang="en-US" altLang="ko-KR" sz="1000" b="1" dirty="0"/>
                  <a:t>metadata:</a:t>
                </a:r>
              </a:p>
              <a:p>
                <a:r>
                  <a:rPr lang="en-US" altLang="ko-KR" sz="1000" b="1" dirty="0"/>
                  <a:t>  name: frontend</a:t>
                </a:r>
              </a:p>
              <a:p>
                <a:r>
                  <a:rPr lang="en-US" altLang="ko-KR" sz="1000" b="1" dirty="0"/>
                  <a:t>spec:</a:t>
                </a:r>
              </a:p>
              <a:p>
                <a:r>
                  <a:rPr lang="en-US" altLang="ko-KR" sz="1000" b="1" dirty="0"/>
                  <a:t>  replicas: 5</a:t>
                </a:r>
              </a:p>
              <a:p>
                <a:r>
                  <a:rPr lang="en-US" altLang="ko-KR" sz="1000" b="1" dirty="0"/>
                  <a:t>  template:</a:t>
                </a:r>
              </a:p>
              <a:p>
                <a:r>
                  <a:rPr lang="en-US" altLang="ko-KR" sz="1000" b="1" dirty="0"/>
                  <a:t>    metadata:</a:t>
                </a:r>
              </a:p>
              <a:p>
                <a:r>
                  <a:rPr lang="en-US" altLang="ko-KR" sz="1000" b="1" dirty="0"/>
                  <a:t>      labels:</a:t>
                </a:r>
              </a:p>
              <a:p>
                <a:r>
                  <a:rPr lang="en-US" altLang="ko-KR" sz="1000" b="1" dirty="0"/>
                  <a:t>        app: </a:t>
                </a:r>
                <a:r>
                  <a:rPr lang="en-US" altLang="ko-KR" sz="1000" b="1" dirty="0">
                    <a:solidFill>
                      <a:srgbClr val="FF0000"/>
                    </a:solidFill>
                  </a:rPr>
                  <a:t>frontend</a:t>
                </a:r>
              </a:p>
              <a:p>
                <a:r>
                  <a:rPr lang="en-US" altLang="ko-KR" sz="1000" b="1" dirty="0"/>
                  <a:t>    spec:</a:t>
                </a:r>
              </a:p>
              <a:p>
                <a:r>
                  <a:rPr lang="en-US" altLang="ko-KR" sz="1000" b="1" dirty="0"/>
                  <a:t>      affinity:</a:t>
                </a:r>
              </a:p>
              <a:p>
                <a:r>
                  <a:rPr lang="en-US" altLang="ko-KR" sz="1000" b="1" dirty="0"/>
                  <a:t>        </a:t>
                </a:r>
                <a:r>
                  <a:rPr lang="en-US" altLang="ko-KR" sz="1000" b="1" dirty="0" err="1">
                    <a:solidFill>
                      <a:srgbClr val="FF0000"/>
                    </a:solidFill>
                  </a:rPr>
                  <a:t>podAffinity</a:t>
                </a:r>
                <a:r>
                  <a:rPr lang="en-US" altLang="ko-KR" sz="1000" b="1" dirty="0"/>
                  <a:t>:</a:t>
                </a:r>
              </a:p>
              <a:p>
                <a:r>
                  <a:rPr lang="en-US" altLang="ko-KR" sz="1000" b="1" dirty="0"/>
                  <a:t>          </a:t>
                </a:r>
                <a:r>
                  <a:rPr lang="en-US" altLang="ko-KR" sz="1000" b="1" dirty="0" err="1">
                    <a:solidFill>
                      <a:srgbClr val="FF0000"/>
                    </a:solidFill>
                  </a:rPr>
                  <a:t>preferredDuringSchedulingIgnoredDuringExecution</a:t>
                </a:r>
                <a:r>
                  <a:rPr lang="en-US" altLang="ko-KR" sz="1000" b="1" dirty="0"/>
                  <a:t>:</a:t>
                </a:r>
              </a:p>
              <a:p>
                <a:r>
                  <a:rPr lang="en-US" altLang="ko-KR" sz="1000" b="1" dirty="0"/>
                  <a:t>          - </a:t>
                </a:r>
                <a:r>
                  <a:rPr lang="en-US" altLang="ko-KR" sz="1000" b="1" dirty="0">
                    <a:solidFill>
                      <a:srgbClr val="FF0000"/>
                    </a:solidFill>
                  </a:rPr>
                  <a:t>weight: 80</a:t>
                </a:r>
              </a:p>
              <a:p>
                <a:r>
                  <a:rPr lang="en-US" altLang="ko-KR" sz="1000" b="1" dirty="0"/>
                  <a:t>            </a:t>
                </a:r>
                <a:r>
                  <a:rPr lang="en-US" altLang="ko-KR" sz="1000" b="1" dirty="0" err="1"/>
                  <a:t>podAffinityTerm</a:t>
                </a:r>
                <a:r>
                  <a:rPr lang="en-US" altLang="ko-KR" sz="1000" b="1" dirty="0"/>
                  <a:t>:</a:t>
                </a:r>
              </a:p>
              <a:p>
                <a:r>
                  <a:rPr lang="en-US" altLang="ko-KR" sz="1000" b="1" dirty="0"/>
                  <a:t>              </a:t>
                </a:r>
                <a:r>
                  <a:rPr lang="en-US" altLang="ko-KR" sz="1000" b="1" dirty="0" err="1"/>
                  <a:t>topologyKey</a:t>
                </a:r>
                <a:r>
                  <a:rPr lang="en-US" altLang="ko-KR" sz="1000" b="1" dirty="0"/>
                  <a:t>: kubernetes.io/hostname</a:t>
                </a:r>
              </a:p>
              <a:p>
                <a:r>
                  <a:rPr lang="en-US" altLang="ko-KR" sz="1000" b="1" dirty="0"/>
                  <a:t>              </a:t>
                </a:r>
                <a:r>
                  <a:rPr lang="en-US" altLang="ko-KR" sz="1000" b="1" dirty="0" err="1"/>
                  <a:t>labelSelector</a:t>
                </a:r>
                <a:r>
                  <a:rPr lang="en-US" altLang="ko-KR" sz="1000" b="1" dirty="0"/>
                  <a:t>:</a:t>
                </a:r>
              </a:p>
              <a:p>
                <a:r>
                  <a:rPr lang="en-US" altLang="ko-KR" sz="1000" b="1" dirty="0"/>
                  <a:t>                </a:t>
                </a:r>
                <a:r>
                  <a:rPr lang="en-US" altLang="ko-KR" sz="1000" b="1" dirty="0" err="1"/>
                  <a:t>matchLabels</a:t>
                </a:r>
                <a:r>
                  <a:rPr lang="en-US" altLang="ko-KR" sz="1000" b="1" dirty="0"/>
                  <a:t>:</a:t>
                </a:r>
              </a:p>
              <a:p>
                <a:r>
                  <a:rPr lang="en-US" altLang="ko-KR" sz="1000" b="1" dirty="0"/>
                  <a:t>                  app: backend</a:t>
                </a:r>
              </a:p>
            </p:txBody>
          </p:sp>
          <p:sp>
            <p:nvSpPr>
              <p:cNvPr id="10" name="TextBox 9">
                <a:extLst>
                  <a:ext uri="{FF2B5EF4-FFF2-40B4-BE49-F238E27FC236}">
                    <a16:creationId xmlns:a16="http://schemas.microsoft.com/office/drawing/2014/main" id="{359F0A59-AADF-BD18-661B-35FFF0F8A041}"/>
                  </a:ext>
                </a:extLst>
              </p:cNvPr>
              <p:cNvSpPr txBox="1"/>
              <p:nvPr/>
            </p:nvSpPr>
            <p:spPr>
              <a:xfrm>
                <a:off x="6028566" y="3000761"/>
                <a:ext cx="4048041" cy="3170099"/>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containers: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main</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image: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busybox</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args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sleep</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"99999"</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selector:</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matchLabels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app: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frontend</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000" b="1" dirty="0">
                  <a:solidFill>
                    <a:prstClr val="black"/>
                  </a:solidFill>
                  <a:latin typeface="맑은 고딕" panose="020F0502020204030204"/>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000" b="1" dirty="0">
                  <a:solidFill>
                    <a:prstClr val="black"/>
                  </a:solidFill>
                  <a:latin typeface="맑은 고딕" panose="020F0502020204030204"/>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000" b="1" dirty="0">
                  <a:solidFill>
                    <a:prstClr val="black"/>
                  </a:solidFill>
                  <a:latin typeface="맑은 고딕" panose="020F0502020204030204"/>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000" b="1" dirty="0">
                  <a:solidFill>
                    <a:prstClr val="black"/>
                  </a:solidFill>
                  <a:latin typeface="맑은 고딕" panose="020F0502020204030204"/>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000" b="1" dirty="0">
                  <a:solidFill>
                    <a:prstClr val="black"/>
                  </a:solidFill>
                  <a:latin typeface="맑은 고딕" panose="020F0502020204030204"/>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grpSp>
        <p:sp>
          <p:nvSpPr>
            <p:cNvPr id="12" name="TextBox 11">
              <a:extLst>
                <a:ext uri="{FF2B5EF4-FFF2-40B4-BE49-F238E27FC236}">
                  <a16:creationId xmlns:a16="http://schemas.microsoft.com/office/drawing/2014/main" id="{3193B2FF-F0FA-A247-9BDB-AF8970EE06B6}"/>
                </a:ext>
              </a:extLst>
            </p:cNvPr>
            <p:cNvSpPr txBox="1"/>
            <p:nvPr/>
          </p:nvSpPr>
          <p:spPr>
            <a:xfrm>
              <a:off x="7362402" y="5920794"/>
              <a:ext cx="2714205" cy="246221"/>
            </a:xfrm>
            <a:prstGeom prst="rect">
              <a:avLst/>
            </a:prstGeom>
            <a:noFill/>
          </p:spPr>
          <p:txBody>
            <a:bodyPr wrap="none" rtlCol="0">
              <a:spAutoFit/>
            </a:bodyPr>
            <a:lstStyle/>
            <a:p>
              <a:pPr algn="l"/>
              <a:r>
                <a:rPr lang="en-US" altLang="ko-KR" sz="1000" b="1" dirty="0"/>
                <a:t>frontend-</a:t>
              </a:r>
              <a:r>
                <a:rPr lang="en-US" altLang="ko-KR" sz="1000" b="1" dirty="0" err="1"/>
                <a:t>podaffinity</a:t>
              </a:r>
              <a:r>
                <a:rPr lang="en-US" altLang="ko-KR" sz="1000" b="1" dirty="0"/>
                <a:t>-preferred-</a:t>
              </a:r>
              <a:r>
                <a:rPr lang="en-US" altLang="ko-KR" sz="1000" b="1" dirty="0" err="1"/>
                <a:t>host.yaml</a:t>
              </a:r>
              <a:endParaRPr lang="ko-KR" altLang="en-US" sz="1000" b="1" dirty="0"/>
            </a:p>
          </p:txBody>
        </p:sp>
      </p:grpSp>
    </p:spTree>
    <p:extLst>
      <p:ext uri="{BB962C8B-B14F-4D97-AF65-F5344CB8AC3E}">
        <p14:creationId xmlns:p14="http://schemas.microsoft.com/office/powerpoint/2010/main" val="9255694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Co-locating Pods with Pod Affinity and Anti-affinity(10/15)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Expressing Pod Affinity Preferences Instead of Hard Requirements :</a:t>
            </a:r>
            <a:endParaRPr lang="en-US" altLang="ko-KR" sz="1400" dirty="0"/>
          </a:p>
          <a:p>
            <a:pPr lvl="1">
              <a:buFont typeface="Wingdings" panose="05000000000000000000" pitchFamily="2" charset="2"/>
              <a:buChar char="§"/>
            </a:pPr>
            <a:r>
              <a:rPr lang="en-US" altLang="ko-KR" sz="1400" b="1" dirty="0"/>
              <a:t>As in “</a:t>
            </a:r>
            <a:r>
              <a:rPr lang="en-US" altLang="ko-KR" sz="1400" b="1" dirty="0" err="1"/>
              <a:t>nodeAffinity</a:t>
            </a:r>
            <a:r>
              <a:rPr lang="en-US" altLang="ko-KR" sz="1400" b="1" dirty="0"/>
              <a:t>” preference rules, you need to define a “</a:t>
            </a:r>
            <a:r>
              <a:rPr lang="en-US" altLang="ko-KR" sz="1400" b="1" dirty="0">
                <a:solidFill>
                  <a:srgbClr val="FF0000"/>
                </a:solidFill>
              </a:rPr>
              <a:t>weight</a:t>
            </a:r>
            <a:r>
              <a:rPr lang="en-US" altLang="ko-KR" sz="1400" b="1" dirty="0"/>
              <a:t>” for each rule</a:t>
            </a:r>
            <a:r>
              <a:rPr lang="en-US" altLang="ko-KR" sz="1400" dirty="0"/>
              <a:t>. You also need to specify the “</a:t>
            </a:r>
            <a:r>
              <a:rPr lang="en-US" altLang="ko-KR" sz="1400" b="1" dirty="0" err="1"/>
              <a:t>topologyKey</a:t>
            </a:r>
            <a:r>
              <a:rPr lang="en-US" altLang="ko-KR" sz="1400" dirty="0"/>
              <a:t>” and “</a:t>
            </a:r>
            <a:r>
              <a:rPr lang="en-US" altLang="ko-KR" sz="1400" b="1" dirty="0" err="1"/>
              <a:t>labelSelector</a:t>
            </a:r>
            <a:r>
              <a:rPr lang="en-US" altLang="ko-KR" sz="1400" dirty="0"/>
              <a:t>”, as in the hard-requirement “</a:t>
            </a:r>
            <a:r>
              <a:rPr lang="en-US" altLang="ko-KR" sz="1400" b="1" dirty="0" err="1"/>
              <a:t>podAffinity</a:t>
            </a:r>
            <a:r>
              <a:rPr lang="en-US" altLang="ko-KR" sz="1400" dirty="0"/>
              <a:t>” rules. The following figure shows this scenario.</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FBD6BA3-B364-D6F3-9FBF-4FDDEE97FDCE}"/>
              </a:ext>
            </a:extLst>
          </p:cNvPr>
          <p:cNvPicPr>
            <a:picLocks noChangeAspect="1"/>
          </p:cNvPicPr>
          <p:nvPr/>
        </p:nvPicPr>
        <p:blipFill>
          <a:blip r:embed="rId2"/>
          <a:stretch>
            <a:fillRect/>
          </a:stretch>
        </p:blipFill>
        <p:spPr>
          <a:xfrm>
            <a:off x="4010025" y="2081212"/>
            <a:ext cx="4171950" cy="2695575"/>
          </a:xfrm>
          <a:prstGeom prst="rect">
            <a:avLst/>
          </a:prstGeom>
        </p:spPr>
      </p:pic>
    </p:spTree>
    <p:extLst>
      <p:ext uri="{BB962C8B-B14F-4D97-AF65-F5344CB8AC3E}">
        <p14:creationId xmlns:p14="http://schemas.microsoft.com/office/powerpoint/2010/main" val="26834671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Co-locating Pods with Pod Affinity and Anti-affinity(11/15)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Expressing Pod Affinity Preferences Instead of Hard Requirements :</a:t>
            </a:r>
            <a:endParaRPr lang="en-US" altLang="ko-KR" sz="1400" dirty="0"/>
          </a:p>
          <a:p>
            <a:pPr lvl="1">
              <a:buFont typeface="Wingdings" panose="05000000000000000000" pitchFamily="2" charset="2"/>
              <a:buChar char="§"/>
            </a:pPr>
            <a:r>
              <a:rPr lang="en-US" altLang="ko-KR" sz="1400" b="1" dirty="0"/>
              <a:t>Deploying the previous pod, as with your “</a:t>
            </a:r>
            <a:r>
              <a:rPr lang="en-US" altLang="ko-KR" sz="1400" b="1" dirty="0" err="1"/>
              <a:t>nodeAffinity</a:t>
            </a:r>
            <a:r>
              <a:rPr lang="en-US" altLang="ko-KR" sz="1400" b="1" dirty="0"/>
              <a:t>” example</a:t>
            </a:r>
            <a:r>
              <a:rPr lang="en-US" altLang="ko-KR" sz="1400" dirty="0"/>
              <a:t>, deploys four(or five) pods on the same node as the backend pod, and one(or none) pod on the other node (see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As you can see from the above screenshot, all five pods are deployed on the same node as the “backend” pod</a:t>
            </a:r>
            <a:r>
              <a:rPr lang="en-US" altLang="ko-KR" sz="1400" dirty="0"/>
              <a:t>. If you want to deploy more pods, you can make a change in the YAML file. Then you can find some pods are deployed on the other node. </a:t>
            </a:r>
            <a:r>
              <a:rPr lang="en-US" altLang="ko-KR" sz="1400" b="1" dirty="0"/>
              <a:t>Change the “replicas” to “20” and deploy the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CF85084A-F438-F0B6-9021-0EA781ACF044}"/>
              </a:ext>
            </a:extLst>
          </p:cNvPr>
          <p:cNvGrpSpPr/>
          <p:nvPr/>
        </p:nvGrpSpPr>
        <p:grpSpPr>
          <a:xfrm>
            <a:off x="838200" y="1823689"/>
            <a:ext cx="10515600" cy="3210622"/>
            <a:chOff x="838200" y="1765515"/>
            <a:chExt cx="10515600" cy="3210622"/>
          </a:xfrm>
        </p:grpSpPr>
        <p:sp>
          <p:nvSpPr>
            <p:cNvPr id="8" name="TextBox 7">
              <a:extLst>
                <a:ext uri="{FF2B5EF4-FFF2-40B4-BE49-F238E27FC236}">
                  <a16:creationId xmlns:a16="http://schemas.microsoft.com/office/drawing/2014/main" id="{4D238AA3-A8A1-B14A-784E-D6213622E44A}"/>
                </a:ext>
              </a:extLst>
            </p:cNvPr>
            <p:cNvSpPr txBox="1"/>
            <p:nvPr/>
          </p:nvSpPr>
          <p:spPr>
            <a:xfrm>
              <a:off x="3047326" y="1765515"/>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-f frontend-</a:t>
              </a:r>
              <a:r>
                <a:rPr lang="en-US" altLang="ko-KR" sz="1000" b="1" dirty="0" err="1"/>
                <a:t>podaffinity</a:t>
              </a:r>
              <a:r>
                <a:rPr lang="en-US" altLang="ko-KR" sz="1000" b="1" dirty="0"/>
                <a:t>-</a:t>
              </a:r>
              <a:r>
                <a:rPr lang="en-US" altLang="ko-KR" sz="1000" b="1" dirty="0" err="1"/>
                <a:t>host.yaml</a:t>
              </a:r>
              <a:endParaRPr lang="en-US" altLang="ko-KR" sz="1000" b="1" dirty="0"/>
            </a:p>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frontend-</a:t>
              </a:r>
              <a:r>
                <a:rPr lang="en-US" altLang="ko-KR" sz="1000" b="1" dirty="0" err="1">
                  <a:solidFill>
                    <a:srgbClr val="FF0000"/>
                  </a:solidFill>
                </a:rPr>
                <a:t>podaffinity</a:t>
              </a:r>
              <a:r>
                <a:rPr lang="en-US" altLang="ko-KR" sz="1000" b="1" dirty="0">
                  <a:solidFill>
                    <a:srgbClr val="FF0000"/>
                  </a:solidFill>
                </a:rPr>
                <a:t>-preferred-</a:t>
              </a:r>
              <a:r>
                <a:rPr lang="en-US" altLang="ko-KR" sz="1000" b="1" dirty="0" err="1">
                  <a:solidFill>
                    <a:srgbClr val="FF0000"/>
                  </a:solidFill>
                </a:rPr>
                <a:t>host.yaml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get pods -o wide</a:t>
              </a:r>
              <a:endParaRPr lang="ko-KR" altLang="en-US" sz="1000" b="1" dirty="0"/>
            </a:p>
          </p:txBody>
        </p:sp>
        <p:pic>
          <p:nvPicPr>
            <p:cNvPr id="10" name="그림 9">
              <a:extLst>
                <a:ext uri="{FF2B5EF4-FFF2-40B4-BE49-F238E27FC236}">
                  <a16:creationId xmlns:a16="http://schemas.microsoft.com/office/drawing/2014/main" id="{6FCB9498-9ECF-5BEB-8DEF-C2F6615F66C6}"/>
                </a:ext>
              </a:extLst>
            </p:cNvPr>
            <p:cNvPicPr>
              <a:picLocks noChangeAspect="1"/>
            </p:cNvPicPr>
            <p:nvPr/>
          </p:nvPicPr>
          <p:blipFill>
            <a:blip r:embed="rId2"/>
            <a:stretch>
              <a:fillRect/>
            </a:stretch>
          </p:blipFill>
          <p:spPr>
            <a:xfrm>
              <a:off x="838200" y="2645179"/>
              <a:ext cx="10515600" cy="2330958"/>
            </a:xfrm>
            <a:prstGeom prst="rect">
              <a:avLst/>
            </a:prstGeom>
          </p:spPr>
        </p:pic>
        <p:sp>
          <p:nvSpPr>
            <p:cNvPr id="11" name="화살표: 아래쪽 10">
              <a:extLst>
                <a:ext uri="{FF2B5EF4-FFF2-40B4-BE49-F238E27FC236}">
                  <a16:creationId xmlns:a16="http://schemas.microsoft.com/office/drawing/2014/main" id="{B66FC006-FD74-57C9-62D6-B97CE81D5149}"/>
                </a:ext>
              </a:extLst>
            </p:cNvPr>
            <p:cNvSpPr/>
            <p:nvPr/>
          </p:nvSpPr>
          <p:spPr>
            <a:xfrm>
              <a:off x="5861331" y="2319513"/>
              <a:ext cx="469338" cy="32566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593856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Deploying More Pods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Checking the Effect of “weight” Field :</a:t>
            </a:r>
            <a:endParaRPr lang="en-US" altLang="ko-KR" sz="1400" dirty="0"/>
          </a:p>
          <a:p>
            <a:pPr lvl="1">
              <a:buFont typeface="Wingdings" panose="05000000000000000000" pitchFamily="2" charset="2"/>
              <a:buChar char="§"/>
            </a:pPr>
            <a:r>
              <a:rPr lang="en-US" altLang="ko-KR" sz="1400" dirty="0"/>
              <a:t>When you </a:t>
            </a:r>
            <a:r>
              <a:rPr lang="en-US" altLang="ko-KR" sz="1400" b="1" dirty="0"/>
              <a:t>create more pods like 20</a:t>
            </a:r>
            <a:r>
              <a:rPr lang="en-US" altLang="ko-KR" sz="1400" dirty="0"/>
              <a:t>, then you will see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1E833AB-5E19-41ED-A271-594A7A9B2493}"/>
              </a:ext>
            </a:extLst>
          </p:cNvPr>
          <p:cNvGrpSpPr/>
          <p:nvPr/>
        </p:nvGrpSpPr>
        <p:grpSpPr>
          <a:xfrm>
            <a:off x="838200" y="1544360"/>
            <a:ext cx="10515600" cy="4539234"/>
            <a:chOff x="838200" y="1544360"/>
            <a:chExt cx="10515600" cy="4539234"/>
          </a:xfrm>
        </p:grpSpPr>
        <p:pic>
          <p:nvPicPr>
            <p:cNvPr id="8" name="그림 7">
              <a:extLst>
                <a:ext uri="{FF2B5EF4-FFF2-40B4-BE49-F238E27FC236}">
                  <a16:creationId xmlns:a16="http://schemas.microsoft.com/office/drawing/2014/main" id="{ACE7249E-BE58-7CEE-C584-BDE3B42AA5F9}"/>
                </a:ext>
              </a:extLst>
            </p:cNvPr>
            <p:cNvPicPr>
              <a:picLocks noChangeAspect="1"/>
            </p:cNvPicPr>
            <p:nvPr/>
          </p:nvPicPr>
          <p:blipFill>
            <a:blip r:embed="rId2"/>
            <a:stretch>
              <a:fillRect/>
            </a:stretch>
          </p:blipFill>
          <p:spPr>
            <a:xfrm>
              <a:off x="838200" y="1544360"/>
              <a:ext cx="10515600" cy="4539234"/>
            </a:xfrm>
            <a:prstGeom prst="rect">
              <a:avLst/>
            </a:prstGeom>
          </p:spPr>
        </p:pic>
        <p:sp>
          <p:nvSpPr>
            <p:cNvPr id="9" name="직사각형 8">
              <a:extLst>
                <a:ext uri="{FF2B5EF4-FFF2-40B4-BE49-F238E27FC236}">
                  <a16:creationId xmlns:a16="http://schemas.microsoft.com/office/drawing/2014/main" id="{5D6B430F-2CA0-500E-0A43-0BA3B9E26E8B}"/>
                </a:ext>
              </a:extLst>
            </p:cNvPr>
            <p:cNvSpPr/>
            <p:nvPr/>
          </p:nvSpPr>
          <p:spPr>
            <a:xfrm>
              <a:off x="6975335" y="4693381"/>
              <a:ext cx="2896948" cy="3651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784698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Co-locating Pods with Pod Affinity and Anti-affinity(12/15)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Scheduling Pods away from Each Other with Pod Anti-affinity :</a:t>
            </a:r>
            <a:endParaRPr lang="en-US" altLang="ko-KR" sz="1400" dirty="0"/>
          </a:p>
          <a:p>
            <a:pPr lvl="1">
              <a:buFont typeface="Wingdings" panose="05000000000000000000" pitchFamily="2" charset="2"/>
              <a:buChar char="§"/>
            </a:pPr>
            <a:r>
              <a:rPr lang="en-US" altLang="ko-KR" sz="1400" b="1" dirty="0"/>
              <a:t>You may want to keep pods away from each other</a:t>
            </a:r>
            <a:r>
              <a:rPr lang="en-US" altLang="ko-KR" sz="1400" dirty="0"/>
              <a:t>. This is called “</a:t>
            </a:r>
            <a:r>
              <a:rPr lang="en-US" altLang="ko-KR" sz="1400" b="1" dirty="0">
                <a:solidFill>
                  <a:srgbClr val="FF0000"/>
                </a:solidFill>
              </a:rPr>
              <a:t>pod anti-affinity</a:t>
            </a:r>
            <a:r>
              <a:rPr lang="en-US" altLang="ko-KR" sz="1400" dirty="0"/>
              <a:t>”. </a:t>
            </a:r>
            <a:r>
              <a:rPr lang="en-US" altLang="ko-KR" sz="1400" b="1" dirty="0"/>
              <a:t>It’s specified the same way as pod affinity, except that you use the “</a:t>
            </a:r>
            <a:r>
              <a:rPr lang="en-US" altLang="ko-KR" sz="1400" b="1" dirty="0" err="1">
                <a:solidFill>
                  <a:srgbClr val="FF0000"/>
                </a:solidFill>
              </a:rPr>
              <a:t>podAntiAffinity</a:t>
            </a:r>
            <a:r>
              <a:rPr lang="en-US" altLang="ko-KR" sz="1400" b="1" dirty="0"/>
              <a:t>” property instead of </a:t>
            </a:r>
            <a:r>
              <a:rPr lang="en-US" altLang="ko-KR" sz="1400" b="1" dirty="0" err="1"/>
              <a:t>podAffinity</a:t>
            </a:r>
            <a:r>
              <a:rPr lang="en-US" altLang="ko-KR" sz="1400" dirty="0"/>
              <a:t>, which results in the Scheduler </a:t>
            </a:r>
            <a:r>
              <a:rPr lang="en-US" altLang="ko-KR" sz="1400" b="1" dirty="0"/>
              <a:t>never choosing nodes where pods matching the “</a:t>
            </a:r>
            <a:r>
              <a:rPr lang="en-US" altLang="ko-KR" sz="1400" b="1" dirty="0" err="1"/>
              <a:t>podAntiAffinity’s</a:t>
            </a:r>
            <a:r>
              <a:rPr lang="en-US" altLang="ko-KR" sz="1400" b="1" dirty="0"/>
              <a:t> label selector” </a:t>
            </a:r>
            <a:r>
              <a:rPr lang="en-US" altLang="ko-KR" sz="1400" dirty="0"/>
              <a:t>are running, as shown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An example of why you’d want to use pod anti-affinity is when two sets of pods interfere with each other’s performance if they run on the same node</a:t>
            </a:r>
            <a:r>
              <a:rPr lang="en-US" altLang="ko-KR" sz="1400" dirty="0"/>
              <a:t>. In that case, you want to </a:t>
            </a:r>
            <a:r>
              <a:rPr lang="en-US" altLang="ko-KR" sz="1400" b="1" dirty="0"/>
              <a:t>tell the Scheduler to never schedule those pods on the same node</a:t>
            </a:r>
            <a:r>
              <a:rPr lang="en-US" altLang="ko-KR" sz="1400" dirty="0"/>
              <a:t>. Another example would be to </a:t>
            </a:r>
            <a:r>
              <a:rPr lang="en-US" altLang="ko-KR" sz="1400" b="1" dirty="0"/>
              <a:t>force the Scheduler to spread pods of the same group across different availability zones or regions, so that a failure of a whole zone (or region) never brings the service down completely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4ECF5A36-6AAA-5302-7E2A-99E9927B43A3}"/>
              </a:ext>
            </a:extLst>
          </p:cNvPr>
          <p:cNvPicPr>
            <a:picLocks noChangeAspect="1"/>
          </p:cNvPicPr>
          <p:nvPr/>
        </p:nvPicPr>
        <p:blipFill>
          <a:blip r:embed="rId2"/>
          <a:stretch>
            <a:fillRect/>
          </a:stretch>
        </p:blipFill>
        <p:spPr>
          <a:xfrm>
            <a:off x="3986212" y="2171700"/>
            <a:ext cx="4219575" cy="2514600"/>
          </a:xfrm>
          <a:prstGeom prst="rect">
            <a:avLst/>
          </a:prstGeom>
        </p:spPr>
      </p:pic>
    </p:spTree>
    <p:extLst>
      <p:ext uri="{BB962C8B-B14F-4D97-AF65-F5344CB8AC3E}">
        <p14:creationId xmlns:p14="http://schemas.microsoft.com/office/powerpoint/2010/main" val="22910652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Co-locating Pods with Pod Affinity and Anti-affinity(13/15)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Scheduling Pods away from Each Other with Pod Anti-affinity :</a:t>
            </a:r>
            <a:endParaRPr lang="en-US" altLang="ko-KR" sz="1400" dirty="0"/>
          </a:p>
          <a:p>
            <a:pPr lvl="1">
              <a:buFont typeface="Wingdings" panose="05000000000000000000" pitchFamily="2" charset="2"/>
              <a:buChar char="§"/>
            </a:pPr>
            <a:r>
              <a:rPr lang="en-US" altLang="ko-KR" sz="1400" b="1" dirty="0"/>
              <a:t>Let’s see how to force your frontend pods to be scheduled to different nodes</a:t>
            </a:r>
            <a:r>
              <a:rPr lang="en-US" altLang="ko-KR" sz="1400" dirty="0"/>
              <a:t>. The following listing shows how the pods’ “</a:t>
            </a:r>
            <a:r>
              <a:rPr lang="en-US" altLang="ko-KR" sz="1400" b="1" dirty="0"/>
              <a:t>anti-affinity</a:t>
            </a:r>
            <a:r>
              <a:rPr lang="en-US" altLang="ko-KR" sz="1400" dirty="0"/>
              <a:t>” is configured. </a:t>
            </a:r>
            <a:r>
              <a:rPr lang="en-US" altLang="ko-KR" sz="1400" b="1" dirty="0"/>
              <a:t>This time, you’re defining “</a:t>
            </a:r>
            <a:r>
              <a:rPr lang="en-US" altLang="ko-KR" sz="1400" b="1" dirty="0" err="1">
                <a:solidFill>
                  <a:srgbClr val="FF0000"/>
                </a:solidFill>
              </a:rPr>
              <a:t>podAntiAffinity</a:t>
            </a:r>
            <a:r>
              <a:rPr lang="en-US" altLang="ko-KR" sz="1400" b="1" dirty="0"/>
              <a:t>” instead of “</a:t>
            </a:r>
            <a:r>
              <a:rPr lang="en-US" altLang="ko-KR" sz="1400" b="1" dirty="0" err="1">
                <a:solidFill>
                  <a:srgbClr val="FF0000"/>
                </a:solidFill>
              </a:rPr>
              <a:t>podAffinity</a:t>
            </a:r>
            <a:r>
              <a:rPr lang="en-US" altLang="ko-KR" sz="1400" b="1" dirty="0"/>
              <a:t>”, and you’re making the “</a:t>
            </a:r>
            <a:r>
              <a:rPr lang="en-US" altLang="ko-KR" sz="1400" b="1" dirty="0" err="1">
                <a:solidFill>
                  <a:srgbClr val="FF0000"/>
                </a:solidFill>
              </a:rPr>
              <a:t>labelSelector</a:t>
            </a:r>
            <a:r>
              <a:rPr lang="en-US" altLang="ko-KR" sz="1400" b="1" dirty="0"/>
              <a:t>” match the same pods that the Deployment creates</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F4728B4-EDDB-D950-76B3-9C9B7DE9BFF6}"/>
              </a:ext>
            </a:extLst>
          </p:cNvPr>
          <p:cNvGrpSpPr/>
          <p:nvPr/>
        </p:nvGrpSpPr>
        <p:grpSpPr>
          <a:xfrm>
            <a:off x="3047326" y="1943974"/>
            <a:ext cx="6097348" cy="4247317"/>
            <a:chOff x="3047326" y="1796588"/>
            <a:chExt cx="6097348" cy="4247317"/>
          </a:xfrm>
        </p:grpSpPr>
        <p:sp>
          <p:nvSpPr>
            <p:cNvPr id="8" name="TextBox 7">
              <a:extLst>
                <a:ext uri="{FF2B5EF4-FFF2-40B4-BE49-F238E27FC236}">
                  <a16:creationId xmlns:a16="http://schemas.microsoft.com/office/drawing/2014/main" id="{7DE896E5-0C78-3EE0-35D0-42D26E1941F1}"/>
                </a:ext>
              </a:extLst>
            </p:cNvPr>
            <p:cNvSpPr txBox="1"/>
            <p:nvPr/>
          </p:nvSpPr>
          <p:spPr>
            <a:xfrm>
              <a:off x="3047326" y="1796588"/>
              <a:ext cx="6097348" cy="4247317"/>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apps/v1</a:t>
              </a:r>
            </a:p>
            <a:p>
              <a:r>
                <a:rPr lang="en-US" altLang="ko-KR" sz="1000" b="1" dirty="0"/>
                <a:t>kind: Deployment</a:t>
              </a:r>
            </a:p>
            <a:p>
              <a:r>
                <a:rPr lang="en-US" altLang="ko-KR" sz="1000" b="1" dirty="0"/>
                <a:t>metadata:</a:t>
              </a:r>
            </a:p>
            <a:p>
              <a:r>
                <a:rPr lang="en-US" altLang="ko-KR" sz="1000" b="1" dirty="0"/>
                <a:t>  name: frontend</a:t>
              </a:r>
            </a:p>
            <a:p>
              <a:r>
                <a:rPr lang="en-US" altLang="ko-KR" sz="1000" b="1" dirty="0"/>
                <a:t>spec:</a:t>
              </a:r>
            </a:p>
            <a:p>
              <a:r>
                <a:rPr lang="en-US" altLang="ko-KR" sz="1000" b="1" dirty="0"/>
                <a:t>  replicas: 5</a:t>
              </a:r>
            </a:p>
            <a:p>
              <a:r>
                <a:rPr lang="en-US" altLang="ko-KR" sz="1000" b="1" dirty="0"/>
                <a:t>  template:</a:t>
              </a:r>
            </a:p>
            <a:p>
              <a:r>
                <a:rPr lang="en-US" altLang="ko-KR" sz="1000" b="1" dirty="0"/>
                <a:t>    metadata:</a:t>
              </a:r>
            </a:p>
            <a:p>
              <a:r>
                <a:rPr lang="en-US" altLang="ko-KR" sz="1000" b="1" dirty="0"/>
                <a:t>      labels:</a:t>
              </a:r>
            </a:p>
            <a:p>
              <a:r>
                <a:rPr lang="en-US" altLang="ko-KR" sz="1000" b="1" dirty="0"/>
                <a:t>        app: </a:t>
              </a:r>
              <a:r>
                <a:rPr lang="en-US" altLang="ko-KR" sz="1000" b="1" dirty="0">
                  <a:solidFill>
                    <a:srgbClr val="FF0000"/>
                  </a:solidFill>
                </a:rPr>
                <a:t>frontend</a:t>
              </a:r>
            </a:p>
            <a:p>
              <a:r>
                <a:rPr lang="en-US" altLang="ko-KR" sz="1000" b="1" dirty="0"/>
                <a:t>    spec:</a:t>
              </a:r>
            </a:p>
            <a:p>
              <a:r>
                <a:rPr lang="en-US" altLang="ko-KR" sz="1000" b="1" dirty="0"/>
                <a:t>      affinity:</a:t>
              </a:r>
            </a:p>
            <a:p>
              <a:r>
                <a:rPr lang="en-US" altLang="ko-KR" sz="1000" b="1" dirty="0">
                  <a:solidFill>
                    <a:srgbClr val="FF0000"/>
                  </a:solidFill>
                </a:rPr>
                <a:t>        </a:t>
              </a:r>
              <a:r>
                <a:rPr lang="en-US" altLang="ko-KR" sz="1000" b="1" dirty="0" err="1">
                  <a:solidFill>
                    <a:srgbClr val="FF0000"/>
                  </a:solidFill>
                </a:rPr>
                <a:t>podAntiAffinity</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requiredDuringSchedulingIgnoredDuringExecution</a:t>
              </a:r>
              <a:r>
                <a:rPr lang="en-US" altLang="ko-KR" sz="1000" b="1" dirty="0">
                  <a:solidFill>
                    <a:srgbClr val="FF0000"/>
                  </a:solidFill>
                </a:rPr>
                <a:t>:</a:t>
              </a:r>
            </a:p>
            <a:p>
              <a:r>
                <a:rPr lang="en-US" altLang="ko-KR" sz="1000" b="1" dirty="0">
                  <a:solidFill>
                    <a:srgbClr val="FF0000"/>
                  </a:solidFill>
                </a:rPr>
                <a:t>          - </a:t>
              </a:r>
              <a:r>
                <a:rPr lang="en-US" altLang="ko-KR" sz="1000" b="1" dirty="0" err="1">
                  <a:solidFill>
                    <a:srgbClr val="FF0000"/>
                  </a:solidFill>
                </a:rPr>
                <a:t>topologyKey</a:t>
              </a:r>
              <a:r>
                <a:rPr lang="en-US" altLang="ko-KR" sz="1000" b="1" dirty="0">
                  <a:solidFill>
                    <a:srgbClr val="FF0000"/>
                  </a:solidFill>
                </a:rPr>
                <a:t>: kubernetes.io/hostname</a:t>
              </a:r>
            </a:p>
            <a:p>
              <a:r>
                <a:rPr lang="en-US" altLang="ko-KR" sz="1000" b="1" dirty="0">
                  <a:solidFill>
                    <a:srgbClr val="FF0000"/>
                  </a:solidFill>
                </a:rPr>
                <a:t>            </a:t>
              </a:r>
              <a:r>
                <a:rPr lang="en-US" altLang="ko-KR" sz="1000" b="1" dirty="0" err="1">
                  <a:solidFill>
                    <a:srgbClr val="FF0000"/>
                  </a:solidFill>
                </a:rPr>
                <a:t>labelSelector</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matchLabels</a:t>
              </a:r>
              <a:r>
                <a:rPr lang="en-US" altLang="ko-KR" sz="1000" b="1" dirty="0">
                  <a:solidFill>
                    <a:srgbClr val="FF0000"/>
                  </a:solidFill>
                </a:rPr>
                <a:t>:</a:t>
              </a:r>
            </a:p>
            <a:p>
              <a:r>
                <a:rPr lang="en-US" altLang="ko-KR" sz="1000" b="1" dirty="0">
                  <a:solidFill>
                    <a:srgbClr val="FF0000"/>
                  </a:solidFill>
                </a:rPr>
                <a:t>                app: frontend</a:t>
              </a:r>
            </a:p>
            <a:p>
              <a:r>
                <a:rPr lang="en-US" altLang="ko-KR" sz="1000" b="1" dirty="0"/>
                <a:t>      containers:</a:t>
              </a:r>
            </a:p>
            <a:p>
              <a:r>
                <a:rPr lang="en-US" altLang="ko-KR" sz="1000" b="1" dirty="0"/>
                <a:t>      - name: main</a:t>
              </a:r>
            </a:p>
            <a:p>
              <a:r>
                <a:rPr lang="en-US" altLang="ko-KR" sz="1000" b="1" dirty="0"/>
                <a:t>        image: </a:t>
              </a:r>
              <a:r>
                <a:rPr lang="en-US" altLang="ko-KR" sz="1000" b="1" dirty="0" err="1"/>
                <a:t>busybox</a:t>
              </a:r>
              <a:endParaRPr lang="en-US" altLang="ko-KR" sz="1000" b="1" dirty="0"/>
            </a:p>
            <a:p>
              <a:r>
                <a:rPr lang="en-US" altLang="ko-KR" sz="1000" b="1" dirty="0"/>
                <a:t>        </a:t>
              </a:r>
              <a:r>
                <a:rPr lang="en-US" altLang="ko-KR" sz="1000" b="1" dirty="0" err="1"/>
                <a:t>args</a:t>
              </a:r>
              <a:r>
                <a:rPr lang="en-US" altLang="ko-KR" sz="1000" b="1" dirty="0"/>
                <a:t>:</a:t>
              </a:r>
            </a:p>
            <a:p>
              <a:r>
                <a:rPr lang="en-US" altLang="ko-KR" sz="1000" b="1" dirty="0"/>
                <a:t>        - sleep</a:t>
              </a:r>
            </a:p>
            <a:p>
              <a:r>
                <a:rPr lang="en-US" altLang="ko-KR" sz="1000" b="1" dirty="0"/>
                <a:t>        - "99999"</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app: </a:t>
              </a:r>
              <a:r>
                <a:rPr lang="en-US" altLang="ko-KR" sz="1000" b="1" dirty="0">
                  <a:solidFill>
                    <a:srgbClr val="FF0000"/>
                  </a:solidFill>
                </a:rPr>
                <a:t>frontend</a:t>
              </a:r>
              <a:endParaRPr lang="ko-KR" altLang="en-US" sz="1000" b="1" dirty="0">
                <a:solidFill>
                  <a:srgbClr val="FF0000"/>
                </a:solidFill>
              </a:endParaRPr>
            </a:p>
          </p:txBody>
        </p:sp>
        <p:sp>
          <p:nvSpPr>
            <p:cNvPr id="9" name="TextBox 8">
              <a:extLst>
                <a:ext uri="{FF2B5EF4-FFF2-40B4-BE49-F238E27FC236}">
                  <a16:creationId xmlns:a16="http://schemas.microsoft.com/office/drawing/2014/main" id="{33E14C1B-DE54-E3E4-3E72-B03E97F9708E}"/>
                </a:ext>
              </a:extLst>
            </p:cNvPr>
            <p:cNvSpPr txBox="1"/>
            <p:nvPr/>
          </p:nvSpPr>
          <p:spPr>
            <a:xfrm>
              <a:off x="6819999" y="1796588"/>
              <a:ext cx="2324675" cy="246221"/>
            </a:xfrm>
            <a:prstGeom prst="rect">
              <a:avLst/>
            </a:prstGeom>
            <a:noFill/>
          </p:spPr>
          <p:txBody>
            <a:bodyPr wrap="none" rtlCol="0">
              <a:spAutoFit/>
            </a:bodyPr>
            <a:lstStyle/>
            <a:p>
              <a:pPr algn="l"/>
              <a:r>
                <a:rPr lang="en-US" altLang="ko-KR" sz="1000" b="1" dirty="0"/>
                <a:t>frontend-</a:t>
              </a:r>
              <a:r>
                <a:rPr lang="en-US" altLang="ko-KR" sz="1000" b="1" dirty="0" err="1"/>
                <a:t>podantiaffinity</a:t>
              </a:r>
              <a:r>
                <a:rPr lang="en-US" altLang="ko-KR" sz="1000" b="1" dirty="0"/>
                <a:t>-</a:t>
              </a:r>
              <a:r>
                <a:rPr lang="en-US" altLang="ko-KR" sz="1000" b="1" dirty="0" err="1"/>
                <a:t>host.yaml</a:t>
              </a:r>
              <a:endParaRPr lang="ko-KR" altLang="en-US" sz="1000" b="1" dirty="0"/>
            </a:p>
          </p:txBody>
        </p:sp>
      </p:grpSp>
    </p:spTree>
    <p:extLst>
      <p:ext uri="{BB962C8B-B14F-4D97-AF65-F5344CB8AC3E}">
        <p14:creationId xmlns:p14="http://schemas.microsoft.com/office/powerpoint/2010/main" val="27302776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Co-locating Pods with Pod Affinity and Anti-affinity(14/15)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Scheduling Pods away from Each Other with Pod Anti-affinity :</a:t>
            </a:r>
            <a:endParaRPr lang="en-US" altLang="ko-KR" sz="1400" dirty="0"/>
          </a:p>
          <a:p>
            <a:pPr lvl="1">
              <a:buFont typeface="Wingdings" panose="05000000000000000000" pitchFamily="2" charset="2"/>
              <a:buChar char="§"/>
            </a:pPr>
            <a:r>
              <a:rPr lang="en-US" altLang="ko-KR" sz="1400" dirty="0"/>
              <a:t>The pods created by it are shown in the following screenshot.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As you can see from the above screenshot, only two pods were scheduled—one to “ubuntu20-04-02”, the other to “ubuntu20-04-03”</a:t>
            </a:r>
            <a:r>
              <a:rPr lang="en-US" altLang="ko-KR" sz="1400" dirty="0"/>
              <a:t>. </a:t>
            </a:r>
            <a:r>
              <a:rPr lang="en-US" altLang="ko-KR" sz="1400" b="1" dirty="0"/>
              <a:t>The three remaining pods are all Pending</a:t>
            </a:r>
            <a:r>
              <a:rPr lang="en-US" altLang="ko-KR" sz="1400" dirty="0"/>
              <a:t>, because </a:t>
            </a:r>
            <a:r>
              <a:rPr lang="en-US" altLang="ko-KR" sz="1400" b="1" dirty="0"/>
              <a:t>the Scheduler isn’t allowed to schedule them to the same nodes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A6ADF19D-AEB2-6D1C-8465-AF25EDBE1BC6}"/>
              </a:ext>
            </a:extLst>
          </p:cNvPr>
          <p:cNvGrpSpPr/>
          <p:nvPr/>
        </p:nvGrpSpPr>
        <p:grpSpPr>
          <a:xfrm>
            <a:off x="838200" y="1684593"/>
            <a:ext cx="10515600" cy="2904835"/>
            <a:chOff x="838200" y="1684593"/>
            <a:chExt cx="10515600" cy="2904835"/>
          </a:xfrm>
        </p:grpSpPr>
        <p:grpSp>
          <p:nvGrpSpPr>
            <p:cNvPr id="14" name="그룹 13">
              <a:extLst>
                <a:ext uri="{FF2B5EF4-FFF2-40B4-BE49-F238E27FC236}">
                  <a16:creationId xmlns:a16="http://schemas.microsoft.com/office/drawing/2014/main" id="{3420017C-6567-740B-714C-650A90133CE6}"/>
                </a:ext>
              </a:extLst>
            </p:cNvPr>
            <p:cNvGrpSpPr/>
            <p:nvPr/>
          </p:nvGrpSpPr>
          <p:grpSpPr>
            <a:xfrm>
              <a:off x="838200" y="1684593"/>
              <a:ext cx="10515600" cy="2904835"/>
              <a:chOff x="838200" y="1433740"/>
              <a:chExt cx="10515600" cy="2904835"/>
            </a:xfrm>
          </p:grpSpPr>
          <p:grpSp>
            <p:nvGrpSpPr>
              <p:cNvPr id="12" name="그룹 11">
                <a:extLst>
                  <a:ext uri="{FF2B5EF4-FFF2-40B4-BE49-F238E27FC236}">
                    <a16:creationId xmlns:a16="http://schemas.microsoft.com/office/drawing/2014/main" id="{400D1307-3F0A-897E-B4B2-47129CB15013}"/>
                  </a:ext>
                </a:extLst>
              </p:cNvPr>
              <p:cNvGrpSpPr/>
              <p:nvPr/>
            </p:nvGrpSpPr>
            <p:grpSpPr>
              <a:xfrm>
                <a:off x="838200" y="1433740"/>
                <a:ext cx="10515600" cy="2904835"/>
                <a:chOff x="838200" y="1433740"/>
                <a:chExt cx="10515600" cy="2904835"/>
              </a:xfrm>
            </p:grpSpPr>
            <p:sp>
              <p:nvSpPr>
                <p:cNvPr id="8" name="TextBox 7">
                  <a:extLst>
                    <a:ext uri="{FF2B5EF4-FFF2-40B4-BE49-F238E27FC236}">
                      <a16:creationId xmlns:a16="http://schemas.microsoft.com/office/drawing/2014/main" id="{AC242FEC-FA03-5576-FA0A-52C3CCAEC033}"/>
                    </a:ext>
                  </a:extLst>
                </p:cNvPr>
                <p:cNvSpPr txBox="1"/>
                <p:nvPr/>
              </p:nvSpPr>
              <p:spPr>
                <a:xfrm>
                  <a:off x="3047326" y="1433740"/>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-f </a:t>
                  </a:r>
                  <a:r>
                    <a:rPr lang="en-US" altLang="ko-KR" sz="1000" b="1" dirty="0">
                      <a:solidFill>
                        <a:srgbClr val="FF0000"/>
                      </a:solidFill>
                    </a:rPr>
                    <a:t>frontend-</a:t>
                  </a:r>
                  <a:r>
                    <a:rPr lang="en-US" altLang="ko-KR" sz="1000" b="1" dirty="0" err="1">
                      <a:solidFill>
                        <a:srgbClr val="FF0000"/>
                      </a:solidFill>
                    </a:rPr>
                    <a:t>podaffinity</a:t>
                  </a:r>
                  <a:r>
                    <a:rPr lang="en-US" altLang="ko-KR" sz="1000" b="1" dirty="0">
                      <a:solidFill>
                        <a:srgbClr val="FF0000"/>
                      </a:solidFill>
                    </a:rPr>
                    <a:t>-preferred-</a:t>
                  </a:r>
                  <a:r>
                    <a:rPr lang="en-US" altLang="ko-KR" sz="1000" b="1" dirty="0" err="1">
                      <a:solidFill>
                        <a:srgbClr val="FF0000"/>
                      </a:solidFill>
                    </a:rPr>
                    <a:t>host.yaml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frontend-</a:t>
                  </a:r>
                  <a:r>
                    <a:rPr lang="en-US" altLang="ko-KR" sz="1000" b="1" dirty="0" err="1">
                      <a:solidFill>
                        <a:srgbClr val="FF0000"/>
                      </a:solidFill>
                    </a:rPr>
                    <a:t>podantiaffinity</a:t>
                  </a:r>
                  <a:r>
                    <a:rPr lang="en-US" altLang="ko-KR" sz="1000" b="1" dirty="0">
                      <a:solidFill>
                        <a:srgbClr val="FF0000"/>
                      </a:solidFill>
                    </a:rPr>
                    <a:t>-</a:t>
                  </a:r>
                  <a:r>
                    <a:rPr lang="en-US" altLang="ko-KR" sz="1000" b="1" dirty="0" err="1">
                      <a:solidFill>
                        <a:srgbClr val="FF0000"/>
                      </a:solidFill>
                    </a:rPr>
                    <a:t>host.yaml</a:t>
                  </a:r>
                  <a:endParaRPr lang="en-US" altLang="ko-KR" sz="1000" b="1" dirty="0"/>
                </a:p>
                <a:p>
                  <a:r>
                    <a:rPr lang="en-US" altLang="ko-KR" sz="1000" b="1" dirty="0"/>
                    <a:t>$ </a:t>
                  </a:r>
                  <a:r>
                    <a:rPr lang="en-US" altLang="ko-KR" sz="1000" b="1" dirty="0" err="1"/>
                    <a:t>kubectl</a:t>
                  </a:r>
                  <a:r>
                    <a:rPr lang="en-US" altLang="ko-KR" sz="1000" b="1" dirty="0"/>
                    <a:t> get pod -l app=frontend -o wide</a:t>
                  </a:r>
                  <a:endParaRPr lang="ko-KR" altLang="en-US" sz="1000" b="1" dirty="0"/>
                </a:p>
              </p:txBody>
            </p:sp>
            <p:sp>
              <p:nvSpPr>
                <p:cNvPr id="9" name="화살표: 아래쪽 8">
                  <a:extLst>
                    <a:ext uri="{FF2B5EF4-FFF2-40B4-BE49-F238E27FC236}">
                      <a16:creationId xmlns:a16="http://schemas.microsoft.com/office/drawing/2014/main" id="{D92C7AD9-A50B-A6FA-0EE2-A59DDB2BFB0C}"/>
                    </a:ext>
                  </a:extLst>
                </p:cNvPr>
                <p:cNvSpPr/>
                <p:nvPr/>
              </p:nvSpPr>
              <p:spPr>
                <a:xfrm>
                  <a:off x="5845147" y="1987738"/>
                  <a:ext cx="501706" cy="32658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F564B554-95E2-7D0B-1D9E-1A7858085C58}"/>
                    </a:ext>
                  </a:extLst>
                </p:cNvPr>
                <p:cNvPicPr>
                  <a:picLocks noChangeAspect="1"/>
                </p:cNvPicPr>
                <p:nvPr/>
              </p:nvPicPr>
              <p:blipFill>
                <a:blip r:embed="rId2"/>
                <a:stretch>
                  <a:fillRect/>
                </a:stretch>
              </p:blipFill>
              <p:spPr>
                <a:xfrm>
                  <a:off x="838200" y="2314322"/>
                  <a:ext cx="10515600" cy="2024253"/>
                </a:xfrm>
                <a:prstGeom prst="rect">
                  <a:avLst/>
                </a:prstGeom>
              </p:spPr>
            </p:pic>
          </p:grpSp>
          <p:sp>
            <p:nvSpPr>
              <p:cNvPr id="13" name="직사각형 12">
                <a:extLst>
                  <a:ext uri="{FF2B5EF4-FFF2-40B4-BE49-F238E27FC236}">
                    <a16:creationId xmlns:a16="http://schemas.microsoft.com/office/drawing/2014/main" id="{55C65E7C-1489-AD7C-15DF-62C2A0552F07}"/>
                  </a:ext>
                </a:extLst>
              </p:cNvPr>
              <p:cNvSpPr/>
              <p:nvPr/>
            </p:nvSpPr>
            <p:spPr>
              <a:xfrm>
                <a:off x="6198499" y="3396632"/>
                <a:ext cx="1116701" cy="7545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839F9378-5E75-FF7C-60CA-E702925B36DA}"/>
                </a:ext>
              </a:extLst>
            </p:cNvPr>
            <p:cNvSpPr/>
            <p:nvPr/>
          </p:nvSpPr>
          <p:spPr>
            <a:xfrm>
              <a:off x="3455299" y="3655577"/>
              <a:ext cx="623087" cy="7545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861909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Co-locating Pods with Pod Affinity and Anti-affinity(15/15)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Scheduling Pods away from Each Other with Pod Anti-affinity :</a:t>
            </a:r>
            <a:endParaRPr lang="en-US" altLang="ko-KR" sz="1400" dirty="0"/>
          </a:p>
          <a:p>
            <a:pPr lvl="1">
              <a:buFont typeface="Wingdings" panose="05000000000000000000" pitchFamily="2" charset="2"/>
              <a:buChar char="§"/>
            </a:pPr>
            <a:r>
              <a:rPr lang="en-US" altLang="ko-KR" sz="1400" dirty="0"/>
              <a:t>In the previous example, you probably should have specified a soft requirement instead (using the “</a:t>
            </a:r>
            <a:r>
              <a:rPr lang="en-US" altLang="ko-KR" sz="1400" b="1" dirty="0" err="1"/>
              <a:t>preferredDuringSchedulingIgnoredDuringExecution</a:t>
            </a:r>
            <a:r>
              <a:rPr lang="en-US" altLang="ko-KR" sz="1400" dirty="0"/>
              <a:t>” property). After all, it’s not such a big problem if two frontend pods run on the same node. But in scenarios where that’s a problem, using “</a:t>
            </a:r>
            <a:r>
              <a:rPr lang="en-US" altLang="ko-KR" sz="1400" b="1" dirty="0" err="1">
                <a:solidFill>
                  <a:srgbClr val="FF0000"/>
                </a:solidFill>
              </a:rPr>
              <a:t>requiredDuringScheduling</a:t>
            </a:r>
            <a:r>
              <a:rPr lang="en-US" altLang="ko-KR" sz="1400" dirty="0"/>
              <a:t>” is appropriate.</a:t>
            </a:r>
          </a:p>
          <a:p>
            <a:pPr lvl="1">
              <a:buFont typeface="Wingdings" panose="05000000000000000000" pitchFamily="2" charset="2"/>
              <a:buChar char="§"/>
            </a:pPr>
            <a:r>
              <a:rPr lang="en-US" altLang="ko-KR" sz="1400" b="1" dirty="0"/>
              <a:t>As with pod affinity, the “</a:t>
            </a:r>
            <a:r>
              <a:rPr lang="en-US" altLang="ko-KR" sz="1400" b="1" dirty="0" err="1">
                <a:solidFill>
                  <a:srgbClr val="FF0000"/>
                </a:solidFill>
              </a:rPr>
              <a:t>topologyKey</a:t>
            </a:r>
            <a:r>
              <a:rPr lang="en-US" altLang="ko-KR" sz="1400" b="1" dirty="0"/>
              <a:t>” property determines the scope of where the pod shouldn’t be deployed to</a:t>
            </a:r>
            <a:r>
              <a:rPr lang="en-US" altLang="ko-KR" sz="1400" dirty="0"/>
              <a:t>. You can use it to ensure pods aren’t deployed to </a:t>
            </a:r>
            <a:r>
              <a:rPr lang="en-US" altLang="ko-KR" sz="1400" b="1" dirty="0"/>
              <a:t>the same rack</a:t>
            </a:r>
            <a:r>
              <a:rPr lang="en-US" altLang="ko-KR" sz="1400" dirty="0"/>
              <a:t>, </a:t>
            </a:r>
            <a:r>
              <a:rPr lang="en-US" altLang="ko-KR" sz="1400" b="1" dirty="0"/>
              <a:t>availability zone</a:t>
            </a:r>
            <a:r>
              <a:rPr lang="en-US" altLang="ko-KR" sz="1400" dirty="0"/>
              <a:t>, </a:t>
            </a:r>
            <a:r>
              <a:rPr lang="en-US" altLang="ko-KR" sz="1400" b="1" dirty="0"/>
              <a:t>region</a:t>
            </a:r>
            <a:r>
              <a:rPr lang="en-US" altLang="ko-KR" sz="1400" dirty="0"/>
              <a:t>, or </a:t>
            </a:r>
            <a:r>
              <a:rPr lang="en-US" altLang="ko-KR" sz="1400" b="1" dirty="0"/>
              <a:t>any custom scope </a:t>
            </a:r>
            <a:r>
              <a:rPr lang="en-US" altLang="ko-KR" sz="1400" dirty="0"/>
              <a:t>you create using </a:t>
            </a:r>
            <a:r>
              <a:rPr lang="en-US" altLang="ko-KR" sz="1400" b="1" dirty="0"/>
              <a:t>custom node labels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3067A93-CB1F-921F-75EB-F4C980144480}"/>
              </a:ext>
            </a:extLst>
          </p:cNvPr>
          <p:cNvPicPr>
            <a:picLocks noChangeAspect="1"/>
          </p:cNvPicPr>
          <p:nvPr/>
        </p:nvPicPr>
        <p:blipFill>
          <a:blip r:embed="rId2"/>
          <a:stretch>
            <a:fillRect/>
          </a:stretch>
        </p:blipFill>
        <p:spPr>
          <a:xfrm>
            <a:off x="3151848" y="2976607"/>
            <a:ext cx="5888304" cy="3003980"/>
          </a:xfrm>
          <a:prstGeom prst="rect">
            <a:avLst/>
          </a:prstGeom>
        </p:spPr>
      </p:pic>
    </p:spTree>
    <p:extLst>
      <p:ext uri="{BB962C8B-B14F-4D97-AF65-F5344CB8AC3E}">
        <p14:creationId xmlns:p14="http://schemas.microsoft.com/office/powerpoint/2010/main" val="8459167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Best Practices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endParaRPr lang="ko-KR" altLang="en-US" sz="2800" b="1" dirty="0"/>
          </a:p>
        </p:txBody>
      </p:sp>
    </p:spTree>
    <p:extLst>
      <p:ext uri="{BB962C8B-B14F-4D97-AF65-F5344CB8AC3E}">
        <p14:creationId xmlns:p14="http://schemas.microsoft.com/office/powerpoint/2010/main" val="8241970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Bringing Everything Together(1/4)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Kubernetes Components :</a:t>
            </a:r>
            <a:endParaRPr lang="en-US" altLang="ko-KR" sz="1400" dirty="0"/>
          </a:p>
          <a:p>
            <a:pPr lvl="1">
              <a:buFont typeface="Wingdings" panose="05000000000000000000" pitchFamily="2" charset="2"/>
              <a:buChar char="§"/>
            </a:pPr>
            <a:r>
              <a:rPr lang="en-US" altLang="ko-KR" sz="1400" dirty="0"/>
              <a:t>Let’s start by looking at </a:t>
            </a:r>
            <a:r>
              <a:rPr lang="en-US" altLang="ko-KR" sz="1400" b="1" dirty="0"/>
              <a:t>what an actual application consists of</a:t>
            </a:r>
            <a:r>
              <a:rPr lang="en-US" altLang="ko-KR" sz="1400" dirty="0"/>
              <a:t>. This will also give you a chance to see if you remember everything you’ve learned so far and look at the big picture. The following figure shows </a:t>
            </a:r>
            <a:r>
              <a:rPr lang="en-US" altLang="ko-KR" sz="1400" b="1" dirty="0"/>
              <a:t>the Kubernetes components used in a typical application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7D436B7-180E-9D81-3FD7-4C22A3E17D9A}"/>
              </a:ext>
            </a:extLst>
          </p:cNvPr>
          <p:cNvPicPr>
            <a:picLocks noChangeAspect="1"/>
          </p:cNvPicPr>
          <p:nvPr/>
        </p:nvPicPr>
        <p:blipFill>
          <a:blip r:embed="rId2"/>
          <a:stretch>
            <a:fillRect/>
          </a:stretch>
        </p:blipFill>
        <p:spPr>
          <a:xfrm>
            <a:off x="3028335" y="2114915"/>
            <a:ext cx="6135329" cy="3647768"/>
          </a:xfrm>
          <a:prstGeom prst="rect">
            <a:avLst/>
          </a:prstGeom>
        </p:spPr>
      </p:pic>
    </p:spTree>
    <p:extLst>
      <p:ext uri="{BB962C8B-B14F-4D97-AF65-F5344CB8AC3E}">
        <p14:creationId xmlns:p14="http://schemas.microsoft.com/office/powerpoint/2010/main" val="28995426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Bringing Everything Together(2/4)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Kubernetes Components :</a:t>
            </a:r>
            <a:endParaRPr lang="en-US" altLang="ko-KR" sz="1400" dirty="0"/>
          </a:p>
          <a:p>
            <a:pPr lvl="1">
              <a:buFont typeface="Wingdings" panose="05000000000000000000" pitchFamily="2" charset="2"/>
              <a:buChar char="§"/>
            </a:pPr>
            <a:r>
              <a:rPr lang="en-US" altLang="ko-KR" sz="1400" b="1" dirty="0"/>
              <a:t>A typical application manifest contains one or more </a:t>
            </a:r>
            <a:r>
              <a:rPr lang="en-US" altLang="ko-KR" sz="1400" b="1" dirty="0">
                <a:solidFill>
                  <a:srgbClr val="FF0000"/>
                </a:solidFill>
              </a:rPr>
              <a:t>Deployment</a:t>
            </a:r>
            <a:r>
              <a:rPr lang="en-US" altLang="ko-KR" sz="1400" b="1" dirty="0"/>
              <a:t> and/or </a:t>
            </a:r>
            <a:r>
              <a:rPr lang="en-US" altLang="ko-KR" sz="1400" b="1" dirty="0" err="1">
                <a:solidFill>
                  <a:srgbClr val="FF0000"/>
                </a:solidFill>
              </a:rPr>
              <a:t>StatefulSet</a:t>
            </a:r>
            <a:r>
              <a:rPr lang="en-US" altLang="ko-KR" sz="1400" b="1" dirty="0"/>
              <a:t> objects</a:t>
            </a:r>
            <a:r>
              <a:rPr lang="en-US" altLang="ko-KR" sz="1400" dirty="0"/>
              <a:t>. </a:t>
            </a:r>
            <a:r>
              <a:rPr lang="en-US" altLang="ko-KR" sz="1400" b="1" dirty="0"/>
              <a:t>Those include a </a:t>
            </a:r>
            <a:r>
              <a:rPr lang="en-US" altLang="ko-KR" sz="1400" b="1" dirty="0">
                <a:solidFill>
                  <a:srgbClr val="FF0000"/>
                </a:solidFill>
              </a:rPr>
              <a:t>pod template</a:t>
            </a:r>
            <a:r>
              <a:rPr lang="en-US" altLang="ko-KR" sz="1400" b="1" dirty="0"/>
              <a:t> containing one or more </a:t>
            </a:r>
            <a:r>
              <a:rPr lang="en-US" altLang="ko-KR" sz="1400" b="1" dirty="0">
                <a:solidFill>
                  <a:srgbClr val="FF0000"/>
                </a:solidFill>
              </a:rPr>
              <a:t>containers</a:t>
            </a:r>
            <a:r>
              <a:rPr lang="en-US" altLang="ko-KR" sz="1400" b="1" dirty="0"/>
              <a:t>, with </a:t>
            </a:r>
            <a:r>
              <a:rPr lang="en-US" altLang="ko-KR" sz="1400" b="1" dirty="0">
                <a:solidFill>
                  <a:srgbClr val="FF0000"/>
                </a:solidFill>
              </a:rPr>
              <a:t>a liveness probe </a:t>
            </a:r>
            <a:r>
              <a:rPr lang="en-US" altLang="ko-KR" sz="1400" b="1" dirty="0"/>
              <a:t>for each of them and </a:t>
            </a:r>
            <a:r>
              <a:rPr lang="en-US" altLang="ko-KR" sz="1400" b="1" dirty="0">
                <a:solidFill>
                  <a:srgbClr val="FF0000"/>
                </a:solidFill>
              </a:rPr>
              <a:t>a readiness probe </a:t>
            </a:r>
            <a:r>
              <a:rPr lang="en-US" altLang="ko-KR" sz="1400" b="1" dirty="0"/>
              <a:t>for the service(s) the container provides (if any)</a:t>
            </a:r>
            <a:r>
              <a:rPr lang="en-US" altLang="ko-KR" sz="1400" dirty="0"/>
              <a:t>. </a:t>
            </a:r>
            <a:r>
              <a:rPr lang="en-US" altLang="ko-KR" sz="1400" b="1" dirty="0"/>
              <a:t>Pods that provide services to others are exposed through one or more </a:t>
            </a:r>
            <a:r>
              <a:rPr lang="en-US" altLang="ko-KR" sz="1400" b="1" dirty="0">
                <a:solidFill>
                  <a:srgbClr val="FF0000"/>
                </a:solidFill>
              </a:rPr>
              <a:t>Services</a:t>
            </a:r>
            <a:r>
              <a:rPr lang="en-US" altLang="ko-KR" sz="1400" dirty="0"/>
              <a:t>. When they need to be reachable from outside the cluster, </a:t>
            </a:r>
            <a:r>
              <a:rPr lang="en-US" altLang="ko-KR" sz="1400" b="1" dirty="0"/>
              <a:t>the Services are either configured to be </a:t>
            </a:r>
            <a:r>
              <a:rPr lang="en-US" altLang="ko-KR" sz="1400" b="1" dirty="0" err="1">
                <a:solidFill>
                  <a:srgbClr val="FF0000"/>
                </a:solidFill>
              </a:rPr>
              <a:t>LoadBalancer</a:t>
            </a:r>
            <a:r>
              <a:rPr lang="en-US" altLang="ko-KR" sz="1400" b="1" dirty="0"/>
              <a:t> or </a:t>
            </a:r>
            <a:r>
              <a:rPr lang="en-US" altLang="ko-KR" sz="1400" b="1" dirty="0" err="1">
                <a:solidFill>
                  <a:srgbClr val="FF0000"/>
                </a:solidFill>
              </a:rPr>
              <a:t>NodePort</a:t>
            </a:r>
            <a:r>
              <a:rPr lang="en-US" altLang="ko-KR" sz="1400" b="1" dirty="0">
                <a:solidFill>
                  <a:srgbClr val="FF0000"/>
                </a:solidFill>
              </a:rPr>
              <a:t>-type Services</a:t>
            </a:r>
            <a:r>
              <a:rPr lang="en-US" altLang="ko-KR" sz="1400" b="1" dirty="0"/>
              <a:t>, or exposed through an </a:t>
            </a:r>
            <a:r>
              <a:rPr lang="en-US" altLang="ko-KR" sz="1400" b="1" dirty="0">
                <a:solidFill>
                  <a:srgbClr val="FF0000"/>
                </a:solidFill>
              </a:rPr>
              <a:t>Ingress</a:t>
            </a:r>
            <a:r>
              <a:rPr lang="en-US" altLang="ko-KR" sz="1400" b="1" dirty="0"/>
              <a:t> resource</a:t>
            </a:r>
            <a:r>
              <a:rPr lang="en-US" altLang="ko-KR" sz="1400" dirty="0"/>
              <a:t>.</a:t>
            </a:r>
          </a:p>
          <a:p>
            <a:pPr lvl="1">
              <a:buFont typeface="Wingdings" panose="05000000000000000000" pitchFamily="2" charset="2"/>
              <a:buChar char="§"/>
            </a:pPr>
            <a:r>
              <a:rPr lang="en-US" altLang="ko-KR" sz="1400" dirty="0"/>
              <a:t>The pod templates (and the pods created from them) usually reference two types of </a:t>
            </a:r>
            <a:r>
              <a:rPr lang="en-US" altLang="ko-KR" sz="1400" b="1" dirty="0"/>
              <a:t>Secrets</a:t>
            </a:r>
            <a:r>
              <a:rPr lang="en-US" altLang="ko-KR" sz="1400" dirty="0"/>
              <a:t>—</a:t>
            </a:r>
            <a:r>
              <a:rPr lang="en-US" altLang="ko-KR" sz="1400" b="1" dirty="0"/>
              <a:t>those for pulling container images from private image registries </a:t>
            </a:r>
            <a:r>
              <a:rPr lang="en-US" altLang="ko-KR" sz="1400" dirty="0"/>
              <a:t>and </a:t>
            </a:r>
            <a:r>
              <a:rPr lang="en-US" altLang="ko-KR" sz="1400" b="1" dirty="0"/>
              <a:t>those used directly by the process running inside the pods</a:t>
            </a:r>
            <a:r>
              <a:rPr lang="en-US" altLang="ko-KR" sz="1400" dirty="0"/>
              <a:t>. </a:t>
            </a:r>
            <a:r>
              <a:rPr lang="en-US" altLang="ko-KR" sz="1400" b="1" dirty="0"/>
              <a:t>The </a:t>
            </a:r>
            <a:r>
              <a:rPr lang="en-US" altLang="ko-KR" sz="1400" b="1" dirty="0">
                <a:solidFill>
                  <a:srgbClr val="FF0000"/>
                </a:solidFill>
              </a:rPr>
              <a:t>Secrets</a:t>
            </a:r>
            <a:r>
              <a:rPr lang="en-US" altLang="ko-KR" sz="1400" b="1" dirty="0"/>
              <a:t> themselves are usually not part of the application manifest, because they aren’t configured by the application developers but by the operations team</a:t>
            </a:r>
            <a:r>
              <a:rPr lang="en-US" altLang="ko-KR" sz="1400" dirty="0"/>
              <a:t>. Secrets are usually assigned to </a:t>
            </a:r>
            <a:r>
              <a:rPr lang="en-US" altLang="ko-KR" sz="1400" b="1" dirty="0" err="1">
                <a:solidFill>
                  <a:srgbClr val="FF0000"/>
                </a:solidFill>
              </a:rPr>
              <a:t>ServiceAccounts</a:t>
            </a:r>
            <a:r>
              <a:rPr lang="en-US" altLang="ko-KR" sz="1400" dirty="0"/>
              <a:t>, </a:t>
            </a:r>
            <a:r>
              <a:rPr lang="en-US" altLang="ko-KR" sz="1400" b="1" dirty="0"/>
              <a:t>which are assigned to individual pods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AB4EA0AF-4ADA-E027-3F1D-360539A6EFFD}"/>
              </a:ext>
            </a:extLst>
          </p:cNvPr>
          <p:cNvPicPr>
            <a:picLocks noChangeAspect="1"/>
          </p:cNvPicPr>
          <p:nvPr/>
        </p:nvPicPr>
        <p:blipFill>
          <a:blip r:embed="rId2"/>
          <a:stretch>
            <a:fillRect/>
          </a:stretch>
        </p:blipFill>
        <p:spPr>
          <a:xfrm>
            <a:off x="2952244" y="3226271"/>
            <a:ext cx="6287512" cy="3083395"/>
          </a:xfrm>
          <a:prstGeom prst="rect">
            <a:avLst/>
          </a:prstGeom>
        </p:spPr>
      </p:pic>
    </p:spTree>
    <p:extLst>
      <p:ext uri="{BB962C8B-B14F-4D97-AF65-F5344CB8AC3E}">
        <p14:creationId xmlns:p14="http://schemas.microsoft.com/office/powerpoint/2010/main" val="6503785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Bringing Everything Together(3/4)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Kubernetes Components :</a:t>
            </a:r>
            <a:endParaRPr lang="en-US" altLang="ko-KR" sz="1400" dirty="0"/>
          </a:p>
          <a:p>
            <a:pPr lvl="1">
              <a:buFont typeface="Wingdings" panose="05000000000000000000" pitchFamily="2" charset="2"/>
              <a:buChar char="§"/>
            </a:pPr>
            <a:r>
              <a:rPr lang="en-US" altLang="ko-KR" sz="1400" b="1" dirty="0"/>
              <a:t>The application also contains one or more </a:t>
            </a:r>
            <a:r>
              <a:rPr lang="en-US" altLang="ko-KR" sz="1400" b="1" dirty="0" err="1">
                <a:solidFill>
                  <a:srgbClr val="FF0000"/>
                </a:solidFill>
              </a:rPr>
              <a:t>ConfigMaps</a:t>
            </a:r>
            <a:r>
              <a:rPr lang="en-US" altLang="ko-KR" sz="1400" dirty="0"/>
              <a:t>, which are either used to </a:t>
            </a:r>
            <a:r>
              <a:rPr lang="en-US" altLang="ko-KR" sz="1400" b="1" dirty="0"/>
              <a:t>initialize environment variables or mounted as a </a:t>
            </a:r>
            <a:r>
              <a:rPr lang="en-US" altLang="ko-KR" sz="1400" b="1" dirty="0" err="1">
                <a:solidFill>
                  <a:srgbClr val="FF0000"/>
                </a:solidFill>
              </a:rPr>
              <a:t>configMap</a:t>
            </a:r>
            <a:r>
              <a:rPr lang="en-US" altLang="ko-KR" sz="1400" b="1" dirty="0">
                <a:solidFill>
                  <a:srgbClr val="FF0000"/>
                </a:solidFill>
              </a:rPr>
              <a:t> volume </a:t>
            </a:r>
            <a:r>
              <a:rPr lang="en-US" altLang="ko-KR" sz="1400" b="1" dirty="0"/>
              <a:t>in the pod</a:t>
            </a:r>
            <a:r>
              <a:rPr lang="en-US" altLang="ko-KR" sz="1400" dirty="0"/>
              <a:t>. Certain pods use additional volumes, such as an </a:t>
            </a:r>
            <a:r>
              <a:rPr lang="en-US" altLang="ko-KR" sz="1400" b="1" dirty="0" err="1">
                <a:solidFill>
                  <a:srgbClr val="FF0000"/>
                </a:solidFill>
              </a:rPr>
              <a:t>emptyDir</a:t>
            </a:r>
            <a:r>
              <a:rPr lang="en-US" altLang="ko-KR" sz="1400" dirty="0"/>
              <a:t> or a </a:t>
            </a:r>
            <a:r>
              <a:rPr lang="en-US" altLang="ko-KR" sz="1400" b="1" dirty="0" err="1"/>
              <a:t>gitRepo</a:t>
            </a:r>
            <a:r>
              <a:rPr lang="en-US" altLang="ko-KR" sz="1400" dirty="0"/>
              <a:t> volume, whereas pods requiring persistent storage use </a:t>
            </a:r>
            <a:r>
              <a:rPr lang="en-US" altLang="ko-KR" sz="1400" b="1" dirty="0" err="1">
                <a:solidFill>
                  <a:srgbClr val="FF0000"/>
                </a:solidFill>
              </a:rPr>
              <a:t>persistentVolumeClaim</a:t>
            </a:r>
            <a:r>
              <a:rPr lang="en-US" altLang="ko-KR" sz="1400" dirty="0"/>
              <a:t> volumes. The </a:t>
            </a:r>
            <a:r>
              <a:rPr lang="en-US" altLang="ko-KR" sz="1400" b="1" dirty="0" err="1"/>
              <a:t>PersistentVolumeClaims</a:t>
            </a:r>
            <a:r>
              <a:rPr lang="en-US" altLang="ko-KR" sz="1400" dirty="0"/>
              <a:t> </a:t>
            </a:r>
            <a:r>
              <a:rPr lang="en-US" altLang="ko-KR" sz="1400" b="1" dirty="0"/>
              <a:t>are also part of the application manifest</a:t>
            </a:r>
            <a:r>
              <a:rPr lang="en-US" altLang="ko-KR" sz="1400" dirty="0"/>
              <a:t>, </a:t>
            </a:r>
            <a:r>
              <a:rPr lang="en-US" altLang="ko-KR" sz="1400" b="1" dirty="0"/>
              <a:t>whereas </a:t>
            </a:r>
            <a:r>
              <a:rPr lang="en-US" altLang="ko-KR" sz="1400" b="1" dirty="0" err="1">
                <a:solidFill>
                  <a:srgbClr val="FF0000"/>
                </a:solidFill>
              </a:rPr>
              <a:t>StorageClasses</a:t>
            </a:r>
            <a:r>
              <a:rPr lang="en-US" altLang="ko-KR" sz="1400" b="1" dirty="0"/>
              <a:t> referenced by them are created by system administrators upfront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CCE97B11-EE1A-7465-272B-71ACF5C9A3CA}"/>
              </a:ext>
            </a:extLst>
          </p:cNvPr>
          <p:cNvPicPr>
            <a:picLocks noChangeAspect="1"/>
          </p:cNvPicPr>
          <p:nvPr/>
        </p:nvPicPr>
        <p:blipFill>
          <a:blip r:embed="rId2"/>
          <a:stretch>
            <a:fillRect/>
          </a:stretch>
        </p:blipFill>
        <p:spPr>
          <a:xfrm>
            <a:off x="6918690" y="2165239"/>
            <a:ext cx="4435110" cy="4243792"/>
          </a:xfrm>
          <a:prstGeom prst="rect">
            <a:avLst/>
          </a:prstGeom>
        </p:spPr>
      </p:pic>
      <p:sp>
        <p:nvSpPr>
          <p:cNvPr id="10" name="TextBox 9">
            <a:extLst>
              <a:ext uri="{FF2B5EF4-FFF2-40B4-BE49-F238E27FC236}">
                <a16:creationId xmlns:a16="http://schemas.microsoft.com/office/drawing/2014/main" id="{2FF78421-1134-802B-389D-FC0C711F4698}"/>
              </a:ext>
            </a:extLst>
          </p:cNvPr>
          <p:cNvSpPr txBox="1"/>
          <p:nvPr/>
        </p:nvSpPr>
        <p:spPr>
          <a:xfrm>
            <a:off x="838200" y="2165239"/>
            <a:ext cx="6080490" cy="1837426"/>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In certain cases, an application also requires the use of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Jobs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or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CronJobs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DaemonSets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aren’t normally part of application deployments, but are usually created by sysadmins to run system services on all or a subset of nodes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HorizontalPodAutoscalers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are either included in the manifest by the developers or added to the system later by the ops team.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cluster administrator also creates </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LimitRange</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and </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ResourceQuota</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objects to keep compute resource usage of individual pods and all the pods (as a whole) under control</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Tree>
    <p:extLst>
      <p:ext uri="{BB962C8B-B14F-4D97-AF65-F5344CB8AC3E}">
        <p14:creationId xmlns:p14="http://schemas.microsoft.com/office/powerpoint/2010/main" val="28293318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Bringing Everything Together(4/4)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Kubernetes Components :</a:t>
            </a:r>
            <a:endParaRPr lang="en-US" altLang="ko-KR" sz="1400" dirty="0"/>
          </a:p>
          <a:p>
            <a:pPr lvl="1">
              <a:buFont typeface="Wingdings" panose="05000000000000000000" pitchFamily="2" charset="2"/>
              <a:buChar char="§"/>
            </a:pPr>
            <a:r>
              <a:rPr lang="en-US" altLang="ko-KR" sz="1400" dirty="0"/>
              <a:t>After the application is deployed, additional objects are created automatically by the various Kubernetes controllers. These include </a:t>
            </a:r>
            <a:r>
              <a:rPr lang="en-US" altLang="ko-KR" sz="1400" b="1" dirty="0"/>
              <a:t>service </a:t>
            </a:r>
            <a:r>
              <a:rPr lang="en-US" altLang="ko-KR" sz="1400" b="1" dirty="0">
                <a:solidFill>
                  <a:srgbClr val="FF0000"/>
                </a:solidFill>
              </a:rPr>
              <a:t>Endpoints</a:t>
            </a:r>
            <a:r>
              <a:rPr lang="en-US" altLang="ko-KR" sz="1400" b="1" dirty="0"/>
              <a:t> objects created by the Endpoints controller</a:t>
            </a:r>
            <a:r>
              <a:rPr lang="en-US" altLang="ko-KR" sz="1400" dirty="0"/>
              <a:t>, </a:t>
            </a:r>
            <a:r>
              <a:rPr lang="en-US" altLang="ko-KR" sz="1400" b="1" dirty="0" err="1">
                <a:solidFill>
                  <a:srgbClr val="FF0000"/>
                </a:solidFill>
              </a:rPr>
              <a:t>ReplicaSets</a:t>
            </a:r>
            <a:r>
              <a:rPr lang="en-US" altLang="ko-KR" sz="1400" dirty="0"/>
              <a:t> </a:t>
            </a:r>
            <a:r>
              <a:rPr lang="en-US" altLang="ko-KR" sz="1400" b="1" dirty="0"/>
              <a:t>created by the Deployment controller</a:t>
            </a:r>
            <a:r>
              <a:rPr lang="en-US" altLang="ko-KR" sz="1400" dirty="0"/>
              <a:t>, and </a:t>
            </a:r>
            <a:r>
              <a:rPr lang="en-US" altLang="ko-KR" sz="1400" b="1" dirty="0"/>
              <a:t>the actual pods created by the </a:t>
            </a:r>
            <a:r>
              <a:rPr lang="en-US" altLang="ko-KR" sz="1400" b="1" dirty="0" err="1">
                <a:solidFill>
                  <a:srgbClr val="FF0000"/>
                </a:solidFill>
              </a:rPr>
              <a:t>ReplicaSet</a:t>
            </a:r>
            <a:r>
              <a:rPr lang="en-US" altLang="ko-KR" sz="1400" b="1" dirty="0"/>
              <a:t> (or Job, </a:t>
            </a:r>
            <a:r>
              <a:rPr lang="en-US" altLang="ko-KR" sz="1400" b="1" dirty="0" err="1"/>
              <a:t>CronJob</a:t>
            </a:r>
            <a:r>
              <a:rPr lang="en-US" altLang="ko-KR" sz="1400" b="1" dirty="0"/>
              <a:t>, </a:t>
            </a:r>
            <a:r>
              <a:rPr lang="en-US" altLang="ko-KR" sz="1400" b="1" dirty="0" err="1"/>
              <a:t>StatefulSet</a:t>
            </a:r>
            <a:r>
              <a:rPr lang="en-US" altLang="ko-KR" sz="1400" b="1" dirty="0"/>
              <a:t>, or </a:t>
            </a:r>
            <a:r>
              <a:rPr lang="en-US" altLang="ko-KR" sz="1400" b="1" dirty="0" err="1"/>
              <a:t>DaemonSet</a:t>
            </a:r>
            <a:r>
              <a:rPr lang="en-US" altLang="ko-KR" sz="1400" b="1" dirty="0"/>
              <a:t>) controllers</a:t>
            </a:r>
            <a:r>
              <a:rPr lang="en-US" altLang="ko-KR" sz="1400" dirty="0"/>
              <a:t>.</a:t>
            </a:r>
          </a:p>
          <a:p>
            <a:pPr lvl="1">
              <a:buFont typeface="Wingdings" panose="05000000000000000000" pitchFamily="2" charset="2"/>
              <a:buChar char="§"/>
            </a:pPr>
            <a:r>
              <a:rPr lang="en-US" altLang="ko-KR" sz="1400" b="1" dirty="0"/>
              <a:t>Resources are often labeled with one or more labels to keep them organized</a:t>
            </a:r>
            <a:r>
              <a:rPr lang="en-US" altLang="ko-KR" sz="1400" dirty="0"/>
              <a:t>. This doesn’t apply only to pods but to all other resources as well. In addition to labels, </a:t>
            </a:r>
            <a:r>
              <a:rPr lang="en-US" altLang="ko-KR" sz="1400" b="1" dirty="0"/>
              <a:t>most resources also contain annotations that describe each resource</a:t>
            </a:r>
            <a:r>
              <a:rPr lang="en-US" altLang="ko-KR" sz="1400" dirty="0"/>
              <a:t>, list the contact information of the person or team responsible for it, or provide additional metadata for management and other tools.</a:t>
            </a:r>
          </a:p>
          <a:p>
            <a:pPr lvl="1">
              <a:buFont typeface="Wingdings" panose="05000000000000000000" pitchFamily="2" charset="2"/>
              <a:buChar char="§"/>
            </a:pPr>
            <a:r>
              <a:rPr lang="en-US" altLang="ko-KR" sz="1400" b="1" dirty="0"/>
              <a:t>At the center of all this is the </a:t>
            </a:r>
            <a:r>
              <a:rPr lang="en-US" altLang="ko-KR" sz="1400" b="1" dirty="0">
                <a:solidFill>
                  <a:srgbClr val="FF0000"/>
                </a:solidFill>
              </a:rPr>
              <a:t>Pod</a:t>
            </a:r>
            <a:r>
              <a:rPr lang="en-US" altLang="ko-KR" sz="1400" b="1" dirty="0"/>
              <a:t>, which arguably is the most important Kubernetes resource</a:t>
            </a:r>
            <a:r>
              <a:rPr lang="en-US" altLang="ko-KR" sz="1400" dirty="0"/>
              <a:t>. </a:t>
            </a:r>
            <a:r>
              <a:rPr lang="en-US" altLang="ko-KR" sz="1400" b="1" dirty="0"/>
              <a:t>After all, each of your applications runs inside it</a:t>
            </a:r>
            <a:r>
              <a:rPr lang="en-US" altLang="ko-KR" sz="1400" dirty="0"/>
              <a:t>. To make sure you know how to develop apps that make the most out of their environment, let’s take one last close look at pods—this time from </a:t>
            </a:r>
            <a:r>
              <a:rPr lang="en-US" altLang="ko-KR" sz="1400" b="1" dirty="0"/>
              <a:t>the application’s perspective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F8DE0A9-0092-6F29-E10D-E3585B520800}"/>
              </a:ext>
            </a:extLst>
          </p:cNvPr>
          <p:cNvPicPr>
            <a:picLocks noChangeAspect="1"/>
          </p:cNvPicPr>
          <p:nvPr/>
        </p:nvPicPr>
        <p:blipFill>
          <a:blip r:embed="rId2"/>
          <a:stretch>
            <a:fillRect/>
          </a:stretch>
        </p:blipFill>
        <p:spPr>
          <a:xfrm>
            <a:off x="3681804" y="3591718"/>
            <a:ext cx="4828392" cy="2671263"/>
          </a:xfrm>
          <a:prstGeom prst="rect">
            <a:avLst/>
          </a:prstGeom>
        </p:spPr>
      </p:pic>
    </p:spTree>
    <p:extLst>
      <p:ext uri="{BB962C8B-B14F-4D97-AF65-F5344CB8AC3E}">
        <p14:creationId xmlns:p14="http://schemas.microsoft.com/office/powerpoint/2010/main" val="8505910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Lifecycle(1/30)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Applications Must Expect to be Killed and Relocated :</a:t>
            </a:r>
            <a:endParaRPr lang="en-US" altLang="ko-KR" sz="1400" dirty="0"/>
          </a:p>
          <a:p>
            <a:pPr lvl="1">
              <a:buFont typeface="Wingdings" panose="05000000000000000000" pitchFamily="2" charset="2"/>
              <a:buChar char="§"/>
            </a:pPr>
            <a:r>
              <a:rPr lang="en-US" altLang="ko-KR" sz="1400" dirty="0"/>
              <a:t>We’ve said that </a:t>
            </a:r>
            <a:r>
              <a:rPr lang="en-US" altLang="ko-KR" sz="1400" b="1" dirty="0"/>
              <a:t>pods can be compared to VMs dedicated to running only a single application</a:t>
            </a:r>
            <a:r>
              <a:rPr lang="en-US" altLang="ko-KR" sz="1400" dirty="0"/>
              <a:t>. Although an application running inside a pod is not unlike an application running in a VM, significant differences do exist. </a:t>
            </a:r>
            <a:r>
              <a:rPr lang="en-US" altLang="ko-KR" sz="1400" b="1" dirty="0"/>
              <a:t>One example is that apps running in a pod can be killed any time, because </a:t>
            </a:r>
            <a:r>
              <a:rPr lang="en-US" altLang="ko-KR" sz="1400" b="1" dirty="0">
                <a:solidFill>
                  <a:srgbClr val="FF0000"/>
                </a:solidFill>
              </a:rPr>
              <a:t>Kubernetes needs to relocate the pod to another node for a reason or because of a scale-down request</a:t>
            </a:r>
            <a:r>
              <a:rPr lang="en-US" altLang="ko-KR" sz="1400" dirty="0"/>
              <a:t>. </a:t>
            </a:r>
          </a:p>
          <a:p>
            <a:pPr lvl="1">
              <a:buFont typeface="Wingdings" panose="05000000000000000000" pitchFamily="2" charset="2"/>
              <a:buChar char="§"/>
            </a:pPr>
            <a:r>
              <a:rPr lang="en-US" altLang="ko-KR" sz="1400" b="1" dirty="0"/>
              <a:t>Outside Kubernetes, apps running in VMs are seldom moved from one machine to another</a:t>
            </a:r>
            <a:r>
              <a:rPr lang="en-US" altLang="ko-KR" sz="1400" dirty="0"/>
              <a:t>. When an operator moves the app, they can also reconfigure the app and manually check that the app is running fine in the new location. </a:t>
            </a:r>
            <a:r>
              <a:rPr lang="en-US" altLang="ko-KR" sz="1400" b="1" dirty="0"/>
              <a:t>With Kubernetes, apps are relocated much more frequently and automatically—no human operator reconfigures them and makes sure they still run properly after the move</a:t>
            </a:r>
            <a:r>
              <a:rPr lang="en-US" altLang="ko-KR" sz="1400" dirty="0"/>
              <a:t>. </a:t>
            </a:r>
            <a:r>
              <a:rPr lang="en-US" altLang="ko-KR" sz="1400" b="1" dirty="0">
                <a:solidFill>
                  <a:srgbClr val="FF0000"/>
                </a:solidFill>
              </a:rPr>
              <a:t>This means application developers need to make sure their apps allow being moved relatively often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2FFDB20-23AB-20A7-FB27-C6BDF162E31D}"/>
              </a:ext>
            </a:extLst>
          </p:cNvPr>
          <p:cNvPicPr>
            <a:picLocks noChangeAspect="1"/>
          </p:cNvPicPr>
          <p:nvPr/>
        </p:nvPicPr>
        <p:blipFill>
          <a:blip r:embed="rId2"/>
          <a:stretch>
            <a:fillRect/>
          </a:stretch>
        </p:blipFill>
        <p:spPr>
          <a:xfrm>
            <a:off x="3300813" y="3281448"/>
            <a:ext cx="5590374" cy="2981533"/>
          </a:xfrm>
          <a:prstGeom prst="rect">
            <a:avLst/>
          </a:prstGeom>
          <a:ln>
            <a:solidFill>
              <a:schemeClr val="bg1">
                <a:lumMod val="50000"/>
              </a:schemeClr>
            </a:solidFill>
          </a:ln>
        </p:spPr>
      </p:pic>
    </p:spTree>
    <p:extLst>
      <p:ext uri="{BB962C8B-B14F-4D97-AF65-F5344CB8AC3E}">
        <p14:creationId xmlns:p14="http://schemas.microsoft.com/office/powerpoint/2010/main" val="34728209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Lifecycle(2/30)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Expecting the Local IP and Hostname to Change :</a:t>
            </a:r>
            <a:endParaRPr lang="en-US" altLang="ko-KR" sz="1400" dirty="0"/>
          </a:p>
          <a:p>
            <a:pPr lvl="1">
              <a:buFont typeface="Wingdings" panose="05000000000000000000" pitchFamily="2" charset="2"/>
              <a:buChar char="§"/>
            </a:pPr>
            <a:r>
              <a:rPr lang="en-US" altLang="ko-KR" sz="1400" b="1" dirty="0"/>
              <a:t>When a pod is killed and run elsewhere (technically, it’s a new pod instance replacing the old one; the pod isn’t relocated), it not only has a </a:t>
            </a:r>
            <a:r>
              <a:rPr lang="en-US" altLang="ko-KR" sz="1400" b="1" dirty="0">
                <a:solidFill>
                  <a:srgbClr val="FF0000"/>
                </a:solidFill>
              </a:rPr>
              <a:t>new IP address </a:t>
            </a:r>
            <a:r>
              <a:rPr lang="en-US" altLang="ko-KR" sz="1400" b="1" dirty="0"/>
              <a:t>but also a </a:t>
            </a:r>
            <a:r>
              <a:rPr lang="en-US" altLang="ko-KR" sz="1400" b="1" dirty="0">
                <a:solidFill>
                  <a:srgbClr val="FF0000"/>
                </a:solidFill>
              </a:rPr>
              <a:t>new name </a:t>
            </a:r>
            <a:r>
              <a:rPr lang="en-US" altLang="ko-KR" sz="1400" b="1" dirty="0"/>
              <a:t>and </a:t>
            </a:r>
            <a:r>
              <a:rPr lang="en-US" altLang="ko-KR" sz="1400" b="1" dirty="0">
                <a:solidFill>
                  <a:srgbClr val="FF0000"/>
                </a:solidFill>
              </a:rPr>
              <a:t>hostname</a:t>
            </a:r>
            <a:r>
              <a:rPr lang="en-US" altLang="ko-KR" sz="1400" dirty="0"/>
              <a:t>. Most stateless apps can usually handle this without any adverse effects, but stateful apps usually can’t. </a:t>
            </a:r>
            <a:r>
              <a:rPr lang="en-US" altLang="ko-KR" sz="1400" b="1" dirty="0"/>
              <a:t>We’ve learned that stateful apps can be run through a </a:t>
            </a:r>
            <a:r>
              <a:rPr lang="en-US" altLang="ko-KR" sz="1400" b="1" dirty="0" err="1">
                <a:solidFill>
                  <a:srgbClr val="FF0000"/>
                </a:solidFill>
              </a:rPr>
              <a:t>StatefulSet</a:t>
            </a:r>
            <a:r>
              <a:rPr lang="en-US" altLang="ko-KR" sz="1400" b="1" dirty="0"/>
              <a:t>, which ensures that when the app starts up on a new node after being rescheduled, it will still see the same host name and persistent state as before</a:t>
            </a:r>
            <a:r>
              <a:rPr lang="en-US" altLang="ko-KR" sz="1400" dirty="0"/>
              <a:t>. The pod’s IP will change nevertheless. Apps need to be prepared for that to happen. </a:t>
            </a:r>
            <a:r>
              <a:rPr lang="en-US" altLang="ko-KR" sz="1400" b="1" dirty="0">
                <a:solidFill>
                  <a:srgbClr val="FF0000"/>
                </a:solidFill>
              </a:rPr>
              <a:t>The application developer therefore should never base membership in a clustered app on the member’s IP address, and if basing it on the hostname, should always use a </a:t>
            </a:r>
            <a:r>
              <a:rPr lang="en-US" altLang="ko-KR" sz="1400" b="1" dirty="0" err="1">
                <a:solidFill>
                  <a:srgbClr val="FF0000"/>
                </a:solidFill>
              </a:rPr>
              <a:t>StatefulSet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9763B72-6963-1503-4DC5-47DD27D9DEFD}"/>
              </a:ext>
            </a:extLst>
          </p:cNvPr>
          <p:cNvPicPr>
            <a:picLocks noChangeAspect="1"/>
          </p:cNvPicPr>
          <p:nvPr/>
        </p:nvPicPr>
        <p:blipFill>
          <a:blip r:embed="rId2"/>
          <a:stretch>
            <a:fillRect/>
          </a:stretch>
        </p:blipFill>
        <p:spPr>
          <a:xfrm>
            <a:off x="3773586" y="3429000"/>
            <a:ext cx="4644828" cy="2384139"/>
          </a:xfrm>
          <a:prstGeom prst="rect">
            <a:avLst/>
          </a:prstGeom>
        </p:spPr>
      </p:pic>
    </p:spTree>
    <p:extLst>
      <p:ext uri="{BB962C8B-B14F-4D97-AF65-F5344CB8AC3E}">
        <p14:creationId xmlns:p14="http://schemas.microsoft.com/office/powerpoint/2010/main" val="10480145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Lifecycle(3/30)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Expecting the Data Written to Disk to Disappear :</a:t>
            </a:r>
            <a:endParaRPr lang="en-US" altLang="ko-KR" sz="1400" dirty="0"/>
          </a:p>
          <a:p>
            <a:pPr lvl="1">
              <a:buFont typeface="Wingdings" panose="05000000000000000000" pitchFamily="2" charset="2"/>
              <a:buChar char="§"/>
            </a:pPr>
            <a:r>
              <a:rPr lang="en-US" altLang="ko-KR" sz="1400" b="1" dirty="0"/>
              <a:t>Another thing to keep in mind is that if the app writes data to disk, that data may not be available after the app is started inside a new pod</a:t>
            </a:r>
            <a:r>
              <a:rPr lang="en-US" altLang="ko-KR" sz="1400" dirty="0"/>
              <a:t>, </a:t>
            </a:r>
            <a:r>
              <a:rPr lang="en-US" altLang="ko-KR" sz="1400" b="1" dirty="0"/>
              <a:t>unless you mount </a:t>
            </a:r>
            <a:r>
              <a:rPr lang="en-US" altLang="ko-KR" sz="1400" b="1" dirty="0">
                <a:solidFill>
                  <a:srgbClr val="FF0000"/>
                </a:solidFill>
              </a:rPr>
              <a:t>persistent storage </a:t>
            </a:r>
            <a:r>
              <a:rPr lang="en-US" altLang="ko-KR" sz="1400" b="1" dirty="0"/>
              <a:t>at the location the app is writing to</a:t>
            </a:r>
            <a:r>
              <a:rPr lang="en-US" altLang="ko-KR" sz="1400" dirty="0"/>
              <a:t>. It should be clear this happens when the pod is rescheduled, but files written to disk will disappear even in scenarios that don’t involve any rescheduling. </a:t>
            </a:r>
            <a:r>
              <a:rPr lang="en-US" altLang="ko-KR" sz="1400" b="1" dirty="0"/>
              <a:t>Even during the lifetime of a single pod, the files written to disk by the app running in the pod may disappear</a:t>
            </a:r>
            <a:r>
              <a:rPr lang="en-US" altLang="ko-KR" sz="1400" dirty="0"/>
              <a:t>.</a:t>
            </a:r>
          </a:p>
          <a:p>
            <a:pPr lvl="1">
              <a:buFont typeface="Wingdings" panose="05000000000000000000" pitchFamily="2" charset="2"/>
              <a:buChar char="§"/>
            </a:pPr>
            <a:r>
              <a:rPr lang="en-US" altLang="ko-KR" sz="1400" dirty="0"/>
              <a:t>For example, imagine an app that has a long and computationally intensive initial startup procedure. To help the app come up faster on subsequent startups, the developers make the app cache the results of the initial startup on disk (an example of this would be the scanning of all Java classes for annotations at startup and then writing the results to an index file). </a:t>
            </a:r>
            <a:r>
              <a:rPr lang="en-US" altLang="ko-KR" sz="1400" b="1" dirty="0"/>
              <a:t>Because apps in Kubernetes run in containers by default, these files are written to the container’s filesystem</a:t>
            </a:r>
            <a:r>
              <a:rPr lang="en-US" altLang="ko-KR" sz="1400" dirty="0"/>
              <a:t>. </a:t>
            </a:r>
            <a:r>
              <a:rPr lang="en-US" altLang="ko-KR" sz="1400" b="1" dirty="0"/>
              <a:t>If the container is then restarted, they’re all lost, because the new container starts off with a completely new writable layer </a:t>
            </a:r>
            <a:r>
              <a:rPr lang="en-US" altLang="ko-KR" sz="1400" dirty="0"/>
              <a:t>(see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E5F9881-A273-D801-3379-6FE0693DB994}"/>
              </a:ext>
            </a:extLst>
          </p:cNvPr>
          <p:cNvSpPr txBox="1"/>
          <p:nvPr/>
        </p:nvSpPr>
        <p:spPr>
          <a:xfrm>
            <a:off x="838200" y="3404702"/>
            <a:ext cx="5724441" cy="1837426"/>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Don’t forget that individual containers may be restarted for several reasons, such as because the process crashes, because the liveness probe returned a failure, or because the node started running out of memory and the process was killed by 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OOMKiller</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(Out Of Memory Killer)”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When this happens, the pod is still the same, but the container itself is completely new.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Kubelet</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doesn’t run the same container again</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it always creates a new container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grpSp>
        <p:nvGrpSpPr>
          <p:cNvPr id="13" name="그룹 12">
            <a:extLst>
              <a:ext uri="{FF2B5EF4-FFF2-40B4-BE49-F238E27FC236}">
                <a16:creationId xmlns:a16="http://schemas.microsoft.com/office/drawing/2014/main" id="{27F4AD35-2A4D-F2F8-4EEE-DA6201AC339D}"/>
              </a:ext>
            </a:extLst>
          </p:cNvPr>
          <p:cNvGrpSpPr/>
          <p:nvPr/>
        </p:nvGrpSpPr>
        <p:grpSpPr>
          <a:xfrm>
            <a:off x="6562641" y="3404702"/>
            <a:ext cx="4791159" cy="3004328"/>
            <a:chOff x="6562641" y="3404702"/>
            <a:chExt cx="4791159" cy="3004328"/>
          </a:xfrm>
        </p:grpSpPr>
        <p:pic>
          <p:nvPicPr>
            <p:cNvPr id="8" name="그림 7">
              <a:extLst>
                <a:ext uri="{FF2B5EF4-FFF2-40B4-BE49-F238E27FC236}">
                  <a16:creationId xmlns:a16="http://schemas.microsoft.com/office/drawing/2014/main" id="{9C7B31C9-8CF7-A271-7D7F-74AA506BFE7C}"/>
                </a:ext>
              </a:extLst>
            </p:cNvPr>
            <p:cNvPicPr>
              <a:picLocks noChangeAspect="1"/>
            </p:cNvPicPr>
            <p:nvPr/>
          </p:nvPicPr>
          <p:blipFill>
            <a:blip r:embed="rId2"/>
            <a:stretch>
              <a:fillRect/>
            </a:stretch>
          </p:blipFill>
          <p:spPr>
            <a:xfrm>
              <a:off x="6562641" y="3404702"/>
              <a:ext cx="4791159" cy="3004328"/>
            </a:xfrm>
            <a:prstGeom prst="rect">
              <a:avLst/>
            </a:prstGeom>
          </p:spPr>
        </p:pic>
        <p:sp>
          <p:nvSpPr>
            <p:cNvPr id="11" name="직사각형 10">
              <a:extLst>
                <a:ext uri="{FF2B5EF4-FFF2-40B4-BE49-F238E27FC236}">
                  <a16:creationId xmlns:a16="http://schemas.microsoft.com/office/drawing/2014/main" id="{60516EA9-D1E3-BA6F-0C9F-2A37C1677E4E}"/>
                </a:ext>
              </a:extLst>
            </p:cNvPr>
            <p:cNvSpPr/>
            <p:nvPr/>
          </p:nvSpPr>
          <p:spPr>
            <a:xfrm>
              <a:off x="7517501" y="5025154"/>
              <a:ext cx="857756" cy="1699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89A01E00-0760-3DBB-E427-2CFA26F2975C}"/>
                </a:ext>
              </a:extLst>
            </p:cNvPr>
            <p:cNvSpPr/>
            <p:nvPr/>
          </p:nvSpPr>
          <p:spPr>
            <a:xfrm>
              <a:off x="8974404" y="5025153"/>
              <a:ext cx="857756" cy="1699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91144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Lifecycle(4/30)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Volumes to Preserve Data Across Container Restarts :</a:t>
            </a:r>
            <a:endParaRPr lang="en-US" altLang="ko-KR" sz="1400" dirty="0"/>
          </a:p>
          <a:p>
            <a:pPr lvl="1">
              <a:buFont typeface="Wingdings" panose="05000000000000000000" pitchFamily="2" charset="2"/>
              <a:buChar char="§"/>
            </a:pPr>
            <a:r>
              <a:rPr lang="en-US" altLang="ko-KR" sz="1400" dirty="0"/>
              <a:t>When its container is restarted, the app in the previous example will need to perform the intensive startup procedure again. This may or may not be desired. To make sure data like this isn’t lost, </a:t>
            </a:r>
            <a:r>
              <a:rPr lang="en-US" altLang="ko-KR" sz="1400" b="1" dirty="0"/>
              <a:t>you need to use at least a </a:t>
            </a:r>
            <a:r>
              <a:rPr lang="en-US" altLang="ko-KR" sz="1400" b="1" dirty="0">
                <a:solidFill>
                  <a:srgbClr val="FF0000"/>
                </a:solidFill>
              </a:rPr>
              <a:t>pod-scoped volume</a:t>
            </a:r>
            <a:r>
              <a:rPr lang="en-US" altLang="ko-KR" sz="1400" dirty="0"/>
              <a:t>. </a:t>
            </a:r>
            <a:r>
              <a:rPr lang="en-US" altLang="ko-KR" sz="1400" b="1" dirty="0"/>
              <a:t>Because volumes live and die together with the pod, the new container will be able to reuse the data written to the volume by the previous container </a:t>
            </a:r>
            <a:r>
              <a:rPr lang="en-US" altLang="ko-KR" sz="1400" dirty="0"/>
              <a:t>(See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E51221E1-201E-3FBA-9420-AEFE5518227A}"/>
              </a:ext>
            </a:extLst>
          </p:cNvPr>
          <p:cNvGrpSpPr/>
          <p:nvPr/>
        </p:nvGrpSpPr>
        <p:grpSpPr>
          <a:xfrm>
            <a:off x="3549402" y="2614267"/>
            <a:ext cx="5093196" cy="2923207"/>
            <a:chOff x="3549402" y="2614267"/>
            <a:chExt cx="5093196" cy="2923207"/>
          </a:xfrm>
        </p:grpSpPr>
        <p:grpSp>
          <p:nvGrpSpPr>
            <p:cNvPr id="10" name="그룹 9">
              <a:extLst>
                <a:ext uri="{FF2B5EF4-FFF2-40B4-BE49-F238E27FC236}">
                  <a16:creationId xmlns:a16="http://schemas.microsoft.com/office/drawing/2014/main" id="{29648B8D-F659-CBB2-CCFA-C036E070F188}"/>
                </a:ext>
              </a:extLst>
            </p:cNvPr>
            <p:cNvGrpSpPr/>
            <p:nvPr/>
          </p:nvGrpSpPr>
          <p:grpSpPr>
            <a:xfrm>
              <a:off x="3549402" y="2614267"/>
              <a:ext cx="5093196" cy="2923207"/>
              <a:chOff x="3549402" y="2614267"/>
              <a:chExt cx="5093196" cy="2923207"/>
            </a:xfrm>
          </p:grpSpPr>
          <p:pic>
            <p:nvPicPr>
              <p:cNvPr id="8" name="그림 7">
                <a:extLst>
                  <a:ext uri="{FF2B5EF4-FFF2-40B4-BE49-F238E27FC236}">
                    <a16:creationId xmlns:a16="http://schemas.microsoft.com/office/drawing/2014/main" id="{B9C35532-D8BD-8723-4BC4-968ABD64A766}"/>
                  </a:ext>
                </a:extLst>
              </p:cNvPr>
              <p:cNvPicPr>
                <a:picLocks noChangeAspect="1"/>
              </p:cNvPicPr>
              <p:nvPr/>
            </p:nvPicPr>
            <p:blipFill>
              <a:blip r:embed="rId2"/>
              <a:stretch>
                <a:fillRect/>
              </a:stretch>
            </p:blipFill>
            <p:spPr>
              <a:xfrm>
                <a:off x="3549402" y="2614267"/>
                <a:ext cx="5093196" cy="2923207"/>
              </a:xfrm>
              <a:prstGeom prst="rect">
                <a:avLst/>
              </a:prstGeom>
            </p:spPr>
          </p:pic>
          <p:sp>
            <p:nvSpPr>
              <p:cNvPr id="9" name="순서도: 자기 디스크 8">
                <a:extLst>
                  <a:ext uri="{FF2B5EF4-FFF2-40B4-BE49-F238E27FC236}">
                    <a16:creationId xmlns:a16="http://schemas.microsoft.com/office/drawing/2014/main" id="{7A371448-9C17-8301-568F-F4F08DE9D6B4}"/>
                  </a:ext>
                </a:extLst>
              </p:cNvPr>
              <p:cNvSpPr/>
              <p:nvPr/>
            </p:nvSpPr>
            <p:spPr>
              <a:xfrm>
                <a:off x="5578110" y="4203320"/>
                <a:ext cx="442364" cy="365125"/>
              </a:xfrm>
              <a:prstGeom prst="flowChartMagneticDisk">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TextBox 10">
              <a:extLst>
                <a:ext uri="{FF2B5EF4-FFF2-40B4-BE49-F238E27FC236}">
                  <a16:creationId xmlns:a16="http://schemas.microsoft.com/office/drawing/2014/main" id="{5502DC00-FF2F-EA6D-1DD9-2DA99FA3FF9B}"/>
                </a:ext>
              </a:extLst>
            </p:cNvPr>
            <p:cNvSpPr txBox="1"/>
            <p:nvPr/>
          </p:nvSpPr>
          <p:spPr>
            <a:xfrm>
              <a:off x="4946334" y="4984694"/>
              <a:ext cx="1705916" cy="246221"/>
            </a:xfrm>
            <a:prstGeom prst="rect">
              <a:avLst/>
            </a:prstGeom>
            <a:noFill/>
          </p:spPr>
          <p:txBody>
            <a:bodyPr wrap="none" rtlCol="0">
              <a:spAutoFit/>
            </a:bodyPr>
            <a:lstStyle/>
            <a:p>
              <a:pPr algn="ctr"/>
              <a:r>
                <a:rPr lang="en-US" altLang="ko-KR" sz="1000" b="1" dirty="0"/>
                <a:t>The Pod-Scoped Volume</a:t>
              </a:r>
              <a:endParaRPr lang="ko-KR" altLang="en-US" sz="1000" b="1" dirty="0"/>
            </a:p>
          </p:txBody>
        </p:sp>
      </p:grpSp>
    </p:spTree>
    <p:extLst>
      <p:ext uri="{BB962C8B-B14F-4D97-AF65-F5344CB8AC3E}">
        <p14:creationId xmlns:p14="http://schemas.microsoft.com/office/powerpoint/2010/main" val="37794436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Lifecycle(5/30)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Volumes to Preserve Data Across Container Restarts :</a:t>
            </a:r>
            <a:endParaRPr lang="en-US" altLang="ko-KR" sz="1400" dirty="0"/>
          </a:p>
          <a:p>
            <a:pPr lvl="1">
              <a:buFont typeface="Wingdings" panose="05000000000000000000" pitchFamily="2" charset="2"/>
              <a:buChar char="§"/>
            </a:pPr>
            <a:r>
              <a:rPr lang="en-US" altLang="ko-KR" sz="1400" b="1" dirty="0">
                <a:solidFill>
                  <a:srgbClr val="FF0000"/>
                </a:solidFill>
              </a:rPr>
              <a:t>Using a volume to preserve files across container restarts is a great idea sometimes, but not always</a:t>
            </a:r>
            <a:r>
              <a:rPr lang="en-US" altLang="ko-KR" sz="1400" dirty="0"/>
              <a:t>. What if the data gets corrupted and causes the newly created process to crash again? This will result in a continuous crash loop (the pod will show the “</a:t>
            </a:r>
            <a:r>
              <a:rPr lang="en-US" altLang="ko-KR" sz="1400" b="1" dirty="0" err="1"/>
              <a:t>CrashLoopBackOff</a:t>
            </a:r>
            <a:r>
              <a:rPr lang="en-US" altLang="ko-KR" sz="1400" dirty="0"/>
              <a:t>” status). If you hadn’t used a volume, the new container would start from scratch and most likely not crash. </a:t>
            </a:r>
            <a:r>
              <a:rPr lang="en-US" altLang="ko-KR" sz="1400" b="1" dirty="0"/>
              <a:t>Using volumes to preserve files across container restarts like this is a double-edged sword</a:t>
            </a:r>
            <a:r>
              <a:rPr lang="en-US" altLang="ko-KR" sz="1400" dirty="0"/>
              <a:t>. </a:t>
            </a:r>
            <a:r>
              <a:rPr lang="en-US" altLang="ko-KR" sz="1400" b="1" dirty="0"/>
              <a:t>You need to think carefully about whether to use them or not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935EFD8-CED5-8440-A9B3-1261C2AA7608}"/>
              </a:ext>
            </a:extLst>
          </p:cNvPr>
          <p:cNvPicPr>
            <a:picLocks noChangeAspect="1"/>
          </p:cNvPicPr>
          <p:nvPr/>
        </p:nvPicPr>
        <p:blipFill>
          <a:blip r:embed="rId2"/>
          <a:stretch>
            <a:fillRect/>
          </a:stretch>
        </p:blipFill>
        <p:spPr>
          <a:xfrm>
            <a:off x="3605002" y="2801361"/>
            <a:ext cx="4981996" cy="2802373"/>
          </a:xfrm>
          <a:prstGeom prst="rect">
            <a:avLst/>
          </a:prstGeom>
        </p:spPr>
      </p:pic>
    </p:spTree>
    <p:extLst>
      <p:ext uri="{BB962C8B-B14F-4D97-AF65-F5344CB8AC3E}">
        <p14:creationId xmlns:p14="http://schemas.microsoft.com/office/powerpoint/2010/main" val="22939227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Lifecycle(6/30)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Rescheduling of Dead or Partially Dead Pods :</a:t>
            </a:r>
            <a:endParaRPr lang="en-US" altLang="ko-KR" sz="1400" dirty="0"/>
          </a:p>
          <a:p>
            <a:pPr lvl="1">
              <a:buFont typeface="Wingdings" panose="05000000000000000000" pitchFamily="2" charset="2"/>
              <a:buChar char="§"/>
            </a:pPr>
            <a:r>
              <a:rPr lang="en-US" altLang="ko-KR" sz="1400" b="1" dirty="0"/>
              <a:t>If a pod’s container keeps crashing, the </a:t>
            </a:r>
            <a:r>
              <a:rPr lang="en-US" altLang="ko-KR" sz="1400" b="1" dirty="0" err="1"/>
              <a:t>Kubelet</a:t>
            </a:r>
            <a:r>
              <a:rPr lang="en-US" altLang="ko-KR" sz="1400" b="1" dirty="0"/>
              <a:t> will keep restarting it indefinitely</a:t>
            </a:r>
            <a:r>
              <a:rPr lang="en-US" altLang="ko-KR" sz="1400" dirty="0"/>
              <a:t>. </a:t>
            </a:r>
            <a:r>
              <a:rPr lang="en-US" altLang="ko-KR" sz="1400" b="1" dirty="0"/>
              <a:t>The time between restarts will be increased exponentially until it reaches five minutes</a:t>
            </a:r>
            <a:r>
              <a:rPr lang="en-US" altLang="ko-KR" sz="1400" dirty="0"/>
              <a:t>. During those five minute intervals, the pod is essentially dead, because its container’s process isn’t running. </a:t>
            </a:r>
            <a:r>
              <a:rPr lang="en-US" altLang="ko-KR" sz="1400" b="1" dirty="0"/>
              <a:t>To be fair, if it’s a multi-container pod, certain containers may be running normally, so the pod is only </a:t>
            </a:r>
            <a:r>
              <a:rPr lang="en-US" altLang="ko-KR" sz="1400" b="1" dirty="0">
                <a:solidFill>
                  <a:srgbClr val="FF0000"/>
                </a:solidFill>
              </a:rPr>
              <a:t>partially dead</a:t>
            </a:r>
            <a:r>
              <a:rPr lang="en-US" altLang="ko-KR" sz="1400" dirty="0"/>
              <a:t>. </a:t>
            </a:r>
            <a:r>
              <a:rPr lang="en-US" altLang="ko-KR" sz="1400" b="1" dirty="0"/>
              <a:t>But if a pod contains only a single container, the pod is effectively dead and completely useless, because no process is running in it anymore</a:t>
            </a:r>
            <a:r>
              <a:rPr lang="en-US" altLang="ko-KR" sz="1400" dirty="0"/>
              <a:t>.</a:t>
            </a:r>
          </a:p>
          <a:p>
            <a:pPr lvl="1">
              <a:buFont typeface="Wingdings" panose="05000000000000000000" pitchFamily="2" charset="2"/>
              <a:buChar char="§"/>
            </a:pPr>
            <a:r>
              <a:rPr lang="en-US" altLang="ko-KR" sz="1400" dirty="0"/>
              <a:t>You may find it surprising to learn that </a:t>
            </a:r>
            <a:r>
              <a:rPr lang="en-US" altLang="ko-KR" sz="1400" b="1" dirty="0"/>
              <a:t>such pods aren’t automatically removed and rescheduled, even if they’re part of a </a:t>
            </a:r>
            <a:r>
              <a:rPr lang="en-US" altLang="ko-KR" sz="1400" b="1" dirty="0" err="1"/>
              <a:t>ReplicaSet</a:t>
            </a:r>
            <a:r>
              <a:rPr lang="en-US" altLang="ko-KR" sz="1400" b="1" dirty="0"/>
              <a:t> or similar controller</a:t>
            </a:r>
            <a:r>
              <a:rPr lang="en-US" altLang="ko-KR" sz="1400" dirty="0"/>
              <a:t>. </a:t>
            </a:r>
            <a:r>
              <a:rPr lang="en-US" altLang="ko-KR" sz="1400" b="1" dirty="0"/>
              <a:t>If you create a </a:t>
            </a:r>
            <a:r>
              <a:rPr lang="en-US" altLang="ko-KR" sz="1400" b="1" dirty="0" err="1"/>
              <a:t>ReplicaSet</a:t>
            </a:r>
            <a:r>
              <a:rPr lang="en-US" altLang="ko-KR" sz="1400" b="1" dirty="0"/>
              <a:t> with a desired replica count of three, and then one of the containers in one of those pods starts crashing, Kubernetes will not delete and replace the pod</a:t>
            </a:r>
            <a:r>
              <a:rPr lang="en-US" altLang="ko-KR" sz="1400" dirty="0"/>
              <a:t>. The end result is a </a:t>
            </a:r>
            <a:r>
              <a:rPr lang="en-US" altLang="ko-KR" sz="1400" b="1" dirty="0" err="1"/>
              <a:t>ReplicaSet</a:t>
            </a:r>
            <a:r>
              <a:rPr lang="en-US" altLang="ko-KR" sz="1400" dirty="0"/>
              <a:t> with only two properly running replicas instead of the desired three.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C5BE0DAE-B57E-8893-19DB-27E4AD8B594F}"/>
              </a:ext>
            </a:extLst>
          </p:cNvPr>
          <p:cNvPicPr>
            <a:picLocks noChangeAspect="1"/>
          </p:cNvPicPr>
          <p:nvPr/>
        </p:nvPicPr>
        <p:blipFill>
          <a:blip r:embed="rId2"/>
          <a:stretch>
            <a:fillRect/>
          </a:stretch>
        </p:blipFill>
        <p:spPr>
          <a:xfrm>
            <a:off x="3460955" y="3443161"/>
            <a:ext cx="5270090" cy="2202426"/>
          </a:xfrm>
          <a:prstGeom prst="rect">
            <a:avLst/>
          </a:prstGeom>
        </p:spPr>
      </p:pic>
    </p:spTree>
    <p:extLst>
      <p:ext uri="{BB962C8B-B14F-4D97-AF65-F5344CB8AC3E}">
        <p14:creationId xmlns:p14="http://schemas.microsoft.com/office/powerpoint/2010/main" val="13212802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Lifecycle(7/30)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Rescheduling of Dead or Partially Dead Pods :</a:t>
            </a:r>
            <a:endParaRPr lang="en-US" altLang="ko-KR" sz="1400" dirty="0"/>
          </a:p>
          <a:p>
            <a:pPr lvl="1">
              <a:buFont typeface="Wingdings" panose="05000000000000000000" pitchFamily="2" charset="2"/>
              <a:buChar char="§"/>
            </a:pPr>
            <a:r>
              <a:rPr lang="en-US" altLang="ko-KR" sz="1400" b="1" dirty="0"/>
              <a:t>You’d probably expect the pod to be deleted and replaced with another pod instance that might run successfully on another node</a:t>
            </a:r>
            <a:r>
              <a:rPr lang="en-US" altLang="ko-KR" sz="1400" dirty="0"/>
              <a:t>. After all, the container may be crashing because of a node-related problem that doesn’t manifest itself on other nodes. Sadly, that isn’t the case. </a:t>
            </a:r>
            <a:r>
              <a:rPr lang="en-US" altLang="ko-KR" sz="1400" b="1" dirty="0"/>
              <a:t>The </a:t>
            </a:r>
            <a:r>
              <a:rPr lang="en-US" altLang="ko-KR" sz="1400" b="1" dirty="0" err="1">
                <a:solidFill>
                  <a:srgbClr val="FF0000"/>
                </a:solidFill>
              </a:rPr>
              <a:t>ReplicaSet</a:t>
            </a:r>
            <a:r>
              <a:rPr lang="en-US" altLang="ko-KR" sz="1400" b="1" dirty="0"/>
              <a:t> controller doesn’t care if the pods are dead—</a:t>
            </a:r>
            <a:r>
              <a:rPr lang="en-US" altLang="ko-KR" sz="1400" b="1" dirty="0">
                <a:solidFill>
                  <a:srgbClr val="FF0000"/>
                </a:solidFill>
              </a:rPr>
              <a:t>all it cares about is that the number of pods matches the desired replica count</a:t>
            </a:r>
            <a:r>
              <a:rPr lang="en-US" altLang="ko-KR" sz="1400" b="1" dirty="0"/>
              <a:t>, which in this case, it does</a:t>
            </a:r>
            <a:r>
              <a:rPr lang="en-US" altLang="ko-KR" sz="1400" dirty="0"/>
              <a:t>.</a:t>
            </a:r>
          </a:p>
          <a:p>
            <a:pPr lvl="1">
              <a:buFont typeface="Wingdings" panose="05000000000000000000" pitchFamily="2" charset="2"/>
              <a:buChar char="§"/>
            </a:pPr>
            <a:r>
              <a:rPr lang="en-US" altLang="ko-KR" sz="1400" dirty="0"/>
              <a:t>If you’d like to see for yourself, you can find “</a:t>
            </a:r>
            <a:r>
              <a:rPr lang="en-US" altLang="ko-KR" sz="1400" b="1" dirty="0" err="1"/>
              <a:t>replicaset-crashingpods.yaml</a:t>
            </a:r>
            <a:r>
              <a:rPr lang="en-US" altLang="ko-KR" sz="1400" dirty="0"/>
              <a:t>”, </a:t>
            </a:r>
            <a:r>
              <a:rPr lang="en-US" altLang="ko-KR" sz="1400" b="1" dirty="0"/>
              <a:t>a </a:t>
            </a:r>
            <a:r>
              <a:rPr lang="en-US" altLang="ko-KR" sz="1400" b="1" dirty="0" err="1"/>
              <a:t>ReplicaSet</a:t>
            </a:r>
            <a:r>
              <a:rPr lang="en-US" altLang="ko-KR" sz="1400" b="1" dirty="0"/>
              <a:t> whose pods will keep crashing</a:t>
            </a:r>
            <a:r>
              <a:rPr lang="en-US" altLang="ko-KR" sz="1400" dirty="0"/>
              <a:t>. </a:t>
            </a:r>
            <a:r>
              <a:rPr lang="en-US" altLang="ko-KR" sz="1400" b="1" dirty="0"/>
              <a:t>If you create the </a:t>
            </a:r>
            <a:r>
              <a:rPr lang="en-US" altLang="ko-KR" sz="1400" b="1" dirty="0" err="1"/>
              <a:t>ReplicaSet</a:t>
            </a:r>
            <a:r>
              <a:rPr lang="en-US" altLang="ko-KR" sz="1400" b="1" dirty="0"/>
              <a:t> and inspect the pods that are created, the following listing is what you’ll see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083586CB-3303-324F-F024-2E3EA7001B78}"/>
              </a:ext>
            </a:extLst>
          </p:cNvPr>
          <p:cNvPicPr>
            <a:picLocks noChangeAspect="1"/>
          </p:cNvPicPr>
          <p:nvPr/>
        </p:nvPicPr>
        <p:blipFill>
          <a:blip r:embed="rId2"/>
          <a:stretch>
            <a:fillRect/>
          </a:stretch>
        </p:blipFill>
        <p:spPr>
          <a:xfrm>
            <a:off x="838200" y="3091748"/>
            <a:ext cx="10515600" cy="2952157"/>
          </a:xfrm>
          <a:prstGeom prst="rect">
            <a:avLst/>
          </a:prstGeom>
        </p:spPr>
      </p:pic>
    </p:spTree>
    <p:extLst>
      <p:ext uri="{BB962C8B-B14F-4D97-AF65-F5344CB8AC3E}">
        <p14:creationId xmlns:p14="http://schemas.microsoft.com/office/powerpoint/2010/main" val="27541175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Lifecycle(8/30)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Rescheduling of Dead or Partially Dead Pods :</a:t>
            </a:r>
            <a:endParaRPr lang="en-US" altLang="ko-KR" sz="1400" dirty="0"/>
          </a:p>
          <a:p>
            <a:pPr lvl="1">
              <a:buFont typeface="Wingdings" panose="05000000000000000000" pitchFamily="2" charset="2"/>
              <a:buChar char="§"/>
            </a:pPr>
            <a:r>
              <a:rPr lang="en-US" altLang="ko-KR" sz="1400" dirty="0"/>
              <a:t>In a way, it’s understandable that Kubernetes behaves this way. </a:t>
            </a:r>
            <a:r>
              <a:rPr lang="en-US" altLang="ko-KR" sz="1400" b="1" dirty="0"/>
              <a:t>The container will be restarted every five minutes in the hope that the underlying cause of the crash will be resolved</a:t>
            </a:r>
            <a:r>
              <a:rPr lang="en-US" altLang="ko-KR" sz="1400" dirty="0"/>
              <a:t>. The rationale is that </a:t>
            </a:r>
            <a:r>
              <a:rPr lang="en-US" altLang="ko-KR" sz="1400" b="1" dirty="0"/>
              <a:t>rescheduling the pod to another node most likely wouldn’t fix the problem anyway, because the app is running inside a container and all the nodes should be mostly equivalent</a:t>
            </a:r>
            <a:r>
              <a:rPr lang="en-US" altLang="ko-KR" sz="1400" dirty="0"/>
              <a:t>. That’s not always the case, but it is most of the time.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2F078602-EC93-B39D-6D70-13814D35FB84}"/>
              </a:ext>
            </a:extLst>
          </p:cNvPr>
          <p:cNvGrpSpPr/>
          <p:nvPr/>
        </p:nvGrpSpPr>
        <p:grpSpPr>
          <a:xfrm>
            <a:off x="838200" y="2270768"/>
            <a:ext cx="10515600" cy="3812826"/>
            <a:chOff x="838200" y="2317453"/>
            <a:chExt cx="10515600" cy="3812826"/>
          </a:xfrm>
        </p:grpSpPr>
        <p:pic>
          <p:nvPicPr>
            <p:cNvPr id="8" name="그림 7">
              <a:extLst>
                <a:ext uri="{FF2B5EF4-FFF2-40B4-BE49-F238E27FC236}">
                  <a16:creationId xmlns:a16="http://schemas.microsoft.com/office/drawing/2014/main" id="{E2535390-0ECE-A4C5-8D16-7EB29F8EE8DD}"/>
                </a:ext>
              </a:extLst>
            </p:cNvPr>
            <p:cNvPicPr>
              <a:picLocks noChangeAspect="1"/>
            </p:cNvPicPr>
            <p:nvPr/>
          </p:nvPicPr>
          <p:blipFill>
            <a:blip r:embed="rId2"/>
            <a:stretch>
              <a:fillRect/>
            </a:stretch>
          </p:blipFill>
          <p:spPr>
            <a:xfrm>
              <a:off x="838200" y="2317453"/>
              <a:ext cx="10515600" cy="1775967"/>
            </a:xfrm>
            <a:prstGeom prst="rect">
              <a:avLst/>
            </a:prstGeom>
          </p:spPr>
        </p:pic>
        <p:pic>
          <p:nvPicPr>
            <p:cNvPr id="10" name="그림 9">
              <a:extLst>
                <a:ext uri="{FF2B5EF4-FFF2-40B4-BE49-F238E27FC236}">
                  <a16:creationId xmlns:a16="http://schemas.microsoft.com/office/drawing/2014/main" id="{30BB40C2-8D8F-4934-5FE0-F9017EE62AD1}"/>
                </a:ext>
              </a:extLst>
            </p:cNvPr>
            <p:cNvPicPr>
              <a:picLocks noChangeAspect="1"/>
            </p:cNvPicPr>
            <p:nvPr/>
          </p:nvPicPr>
          <p:blipFill>
            <a:blip r:embed="rId3"/>
            <a:stretch>
              <a:fillRect/>
            </a:stretch>
          </p:blipFill>
          <p:spPr>
            <a:xfrm>
              <a:off x="838200" y="4151789"/>
              <a:ext cx="10515600" cy="1978490"/>
            </a:xfrm>
            <a:prstGeom prst="rect">
              <a:avLst/>
            </a:prstGeom>
          </p:spPr>
        </p:pic>
      </p:grpSp>
    </p:spTree>
    <p:extLst>
      <p:ext uri="{BB962C8B-B14F-4D97-AF65-F5344CB8AC3E}">
        <p14:creationId xmlns:p14="http://schemas.microsoft.com/office/powerpoint/2010/main" val="14700273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Lifecycle(9/30)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Starting Pods in a Specific Order :</a:t>
            </a:r>
            <a:endParaRPr lang="en-US" altLang="ko-KR" sz="1400" dirty="0"/>
          </a:p>
          <a:p>
            <a:pPr lvl="1">
              <a:buFont typeface="Wingdings" panose="05000000000000000000" pitchFamily="2" charset="2"/>
              <a:buChar char="§"/>
            </a:pPr>
            <a:r>
              <a:rPr lang="en-US" altLang="ko-KR" sz="1400" b="1" dirty="0"/>
              <a:t>One other difference between apps running in pods and those managed manually is that the ops person deploying those apps knows about the </a:t>
            </a:r>
            <a:r>
              <a:rPr lang="en-US" altLang="ko-KR" sz="1400" b="1" dirty="0">
                <a:solidFill>
                  <a:srgbClr val="FF0000"/>
                </a:solidFill>
              </a:rPr>
              <a:t>dependencies</a:t>
            </a:r>
            <a:r>
              <a:rPr lang="en-US" altLang="ko-KR" sz="1400" b="1" dirty="0"/>
              <a:t> between them</a:t>
            </a:r>
            <a:r>
              <a:rPr lang="en-US" altLang="ko-KR" sz="1400" dirty="0"/>
              <a:t>. This allows them to start the apps in order.</a:t>
            </a:r>
          </a:p>
          <a:p>
            <a:pPr lvl="1">
              <a:buFont typeface="Wingdings" panose="05000000000000000000" pitchFamily="2" charset="2"/>
              <a:buChar char="§"/>
            </a:pPr>
            <a:r>
              <a:rPr lang="en-US" altLang="ko-KR" sz="1400" b="1" dirty="0"/>
              <a:t>When you use Kubernetes to run your multi-pod applications, you don’t have a built-in way to tell Kubernetes to run certain pods first and the rest only when the first pods are already up and ready to serve</a:t>
            </a:r>
            <a:r>
              <a:rPr lang="en-US" altLang="ko-KR" sz="1400" dirty="0"/>
              <a:t>. Sure, you could post the manifest for the first app and then wait for the pod(s) to be ready before you post the second manifest, but </a:t>
            </a:r>
            <a:r>
              <a:rPr lang="en-US" altLang="ko-KR" sz="1400" b="1" dirty="0"/>
              <a:t>your whole system is usually defined in a single YAML or JSON containing multiple Pods, Services, and other objects</a:t>
            </a:r>
            <a:r>
              <a:rPr lang="en-US" altLang="ko-KR" sz="1400" dirty="0"/>
              <a:t>.</a:t>
            </a:r>
          </a:p>
          <a:p>
            <a:pPr lvl="1">
              <a:buFont typeface="Wingdings" panose="05000000000000000000" pitchFamily="2" charset="2"/>
              <a:buChar char="§"/>
            </a:pPr>
            <a:r>
              <a:rPr lang="en-US" altLang="ko-KR" sz="1400" b="1" dirty="0"/>
              <a:t>The Kubernetes API server does process the objects in the YAML/JSON in the order they’re listed, but this only means they’re written to </a:t>
            </a:r>
            <a:r>
              <a:rPr lang="en-US" altLang="ko-KR" sz="1400" b="1" dirty="0" err="1">
                <a:solidFill>
                  <a:srgbClr val="FF0000"/>
                </a:solidFill>
              </a:rPr>
              <a:t>etcd</a:t>
            </a:r>
            <a:r>
              <a:rPr lang="en-US" altLang="ko-KR" sz="1400" b="1" dirty="0"/>
              <a:t> in that order</a:t>
            </a:r>
            <a:r>
              <a:rPr lang="en-US" altLang="ko-KR" sz="1400" dirty="0"/>
              <a:t>. </a:t>
            </a:r>
            <a:r>
              <a:rPr lang="en-US" altLang="ko-KR" sz="1400" b="1" dirty="0">
                <a:solidFill>
                  <a:srgbClr val="FF0000"/>
                </a:solidFill>
              </a:rPr>
              <a:t>You have no guarantee that pods will also be started in that order</a:t>
            </a:r>
            <a:r>
              <a:rPr lang="en-US" altLang="ko-KR" sz="1400" dirty="0"/>
              <a:t>.</a:t>
            </a:r>
          </a:p>
          <a:p>
            <a:pPr lvl="1">
              <a:buFont typeface="Wingdings" panose="05000000000000000000" pitchFamily="2" charset="2"/>
              <a:buChar char="§"/>
            </a:pPr>
            <a:r>
              <a:rPr lang="en-US" altLang="ko-KR" sz="1400" b="1" dirty="0"/>
              <a:t>But you can prevent a pod’s main container from starting until a precondition is met</a:t>
            </a:r>
            <a:r>
              <a:rPr lang="en-US" altLang="ko-KR" sz="1400" dirty="0"/>
              <a:t>. </a:t>
            </a:r>
            <a:r>
              <a:rPr lang="en-US" altLang="ko-KR" sz="1400" b="1" dirty="0"/>
              <a:t>This is done by including an “</a:t>
            </a:r>
            <a:r>
              <a:rPr lang="en-US" altLang="ko-KR" sz="1400" b="1" dirty="0" err="1">
                <a:solidFill>
                  <a:srgbClr val="FF0000"/>
                </a:solidFill>
              </a:rPr>
              <a:t>init</a:t>
            </a:r>
            <a:r>
              <a:rPr lang="en-US" altLang="ko-KR" sz="1400" b="1" dirty="0">
                <a:solidFill>
                  <a:srgbClr val="FF0000"/>
                </a:solidFill>
              </a:rPr>
              <a:t> containers</a:t>
            </a:r>
            <a:r>
              <a:rPr lang="en-US" altLang="ko-KR" sz="1400" b="1" dirty="0"/>
              <a:t>” in the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8F1FADAF-267E-152E-9F9B-3D3145DAF6B8}"/>
              </a:ext>
            </a:extLst>
          </p:cNvPr>
          <p:cNvPicPr>
            <a:picLocks noChangeAspect="1"/>
          </p:cNvPicPr>
          <p:nvPr/>
        </p:nvPicPr>
        <p:blipFill>
          <a:blip r:embed="rId2"/>
          <a:stretch>
            <a:fillRect/>
          </a:stretch>
        </p:blipFill>
        <p:spPr>
          <a:xfrm>
            <a:off x="3111345" y="3843834"/>
            <a:ext cx="5969309" cy="2200071"/>
          </a:xfrm>
          <a:prstGeom prst="rect">
            <a:avLst/>
          </a:prstGeom>
        </p:spPr>
      </p:pic>
    </p:spTree>
    <p:extLst>
      <p:ext uri="{BB962C8B-B14F-4D97-AF65-F5344CB8AC3E}">
        <p14:creationId xmlns:p14="http://schemas.microsoft.com/office/powerpoint/2010/main" val="25215488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Lifecycle(10/30)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Init Containers :</a:t>
            </a:r>
            <a:endParaRPr lang="en-US" altLang="ko-KR" sz="1400" dirty="0"/>
          </a:p>
          <a:p>
            <a:pPr lvl="1">
              <a:buFont typeface="Wingdings" panose="05000000000000000000" pitchFamily="2" charset="2"/>
              <a:buChar char="§"/>
            </a:pPr>
            <a:r>
              <a:rPr lang="en-US" altLang="ko-KR" sz="1400" b="1" dirty="0"/>
              <a:t>In addition to regular containers, pods can also include “</a:t>
            </a:r>
            <a:r>
              <a:rPr lang="en-US" altLang="ko-KR" sz="1400" b="1" dirty="0" err="1">
                <a:solidFill>
                  <a:srgbClr val="FF0000"/>
                </a:solidFill>
              </a:rPr>
              <a:t>init</a:t>
            </a:r>
            <a:r>
              <a:rPr lang="en-US" altLang="ko-KR" sz="1400" b="1" dirty="0"/>
              <a:t>” containers</a:t>
            </a:r>
            <a:r>
              <a:rPr lang="en-US" altLang="ko-KR" sz="1400" dirty="0"/>
              <a:t>. </a:t>
            </a:r>
            <a:r>
              <a:rPr lang="en-US" altLang="ko-KR" sz="1400" b="1" dirty="0"/>
              <a:t>As the name suggests, they can be used to </a:t>
            </a:r>
            <a:r>
              <a:rPr lang="en-US" altLang="ko-KR" sz="1400" b="1" dirty="0">
                <a:solidFill>
                  <a:srgbClr val="FF0000"/>
                </a:solidFill>
              </a:rPr>
              <a:t>initialize the pod</a:t>
            </a:r>
            <a:r>
              <a:rPr lang="en-US" altLang="ko-KR" sz="1400" b="1" dirty="0"/>
              <a:t>—this often means </a:t>
            </a:r>
            <a:r>
              <a:rPr lang="en-US" altLang="ko-KR" sz="1400" b="1" dirty="0">
                <a:solidFill>
                  <a:srgbClr val="FF0000"/>
                </a:solidFill>
              </a:rPr>
              <a:t>writing data to the pod’s volumes</a:t>
            </a:r>
            <a:r>
              <a:rPr lang="en-US" altLang="ko-KR" sz="1400" b="1" dirty="0"/>
              <a:t>, which are then mounted into the pod’s main container(s)</a:t>
            </a:r>
            <a:r>
              <a:rPr lang="en-US" altLang="ko-KR" sz="1400" dirty="0"/>
              <a:t>. </a:t>
            </a:r>
          </a:p>
          <a:p>
            <a:pPr lvl="1">
              <a:buFont typeface="Wingdings" panose="05000000000000000000" pitchFamily="2" charset="2"/>
              <a:buChar char="§"/>
            </a:pPr>
            <a:r>
              <a:rPr lang="en-US" altLang="ko-KR" sz="1400" b="1" dirty="0"/>
              <a:t>A pod may have any number of “</a:t>
            </a:r>
            <a:r>
              <a:rPr lang="en-US" altLang="ko-KR" sz="1400" b="1" dirty="0" err="1"/>
              <a:t>init</a:t>
            </a:r>
            <a:r>
              <a:rPr lang="en-US" altLang="ko-KR" sz="1400" b="1" dirty="0"/>
              <a:t>” containers</a:t>
            </a:r>
            <a:r>
              <a:rPr lang="en-US" altLang="ko-KR" sz="1400" dirty="0"/>
              <a:t>. </a:t>
            </a:r>
            <a:r>
              <a:rPr lang="en-US" altLang="ko-KR" sz="1400" b="1" dirty="0"/>
              <a:t>They’re executed sequentially and only after the last one completes are the pod’s main containers started</a:t>
            </a:r>
            <a:r>
              <a:rPr lang="en-US" altLang="ko-KR" sz="1400" dirty="0"/>
              <a:t>. </a:t>
            </a:r>
            <a:r>
              <a:rPr lang="en-US" altLang="ko-KR" sz="1400" b="1" dirty="0">
                <a:solidFill>
                  <a:srgbClr val="FF0000"/>
                </a:solidFill>
              </a:rPr>
              <a:t>This means “</a:t>
            </a:r>
            <a:r>
              <a:rPr lang="en-US" altLang="ko-KR" sz="1400" b="1" dirty="0" err="1">
                <a:solidFill>
                  <a:srgbClr val="FF0000"/>
                </a:solidFill>
              </a:rPr>
              <a:t>init</a:t>
            </a:r>
            <a:r>
              <a:rPr lang="en-US" altLang="ko-KR" sz="1400" b="1" dirty="0">
                <a:solidFill>
                  <a:srgbClr val="FF0000"/>
                </a:solidFill>
              </a:rPr>
              <a:t>” containers can also be used to delay the start of the pod’s main container(s)</a:t>
            </a:r>
            <a:r>
              <a:rPr lang="en-US" altLang="ko-KR" sz="1400" dirty="0"/>
              <a:t>—</a:t>
            </a:r>
            <a:r>
              <a:rPr lang="en-US" altLang="ko-KR" sz="1400" b="1" dirty="0"/>
              <a:t>for example, until a certain precondition is met</a:t>
            </a:r>
            <a:r>
              <a:rPr lang="en-US" altLang="ko-KR" sz="1400" dirty="0"/>
              <a:t>. </a:t>
            </a:r>
            <a:r>
              <a:rPr lang="en-US" altLang="ko-KR" sz="1400" b="1" dirty="0"/>
              <a:t>An “</a:t>
            </a:r>
            <a:r>
              <a:rPr lang="en-US" altLang="ko-KR" sz="1400" b="1" dirty="0" err="1"/>
              <a:t>init</a:t>
            </a:r>
            <a:r>
              <a:rPr lang="en-US" altLang="ko-KR" sz="1400" b="1" dirty="0"/>
              <a:t>” container could wait for a service required by the pod’s main container to be up and ready.</a:t>
            </a:r>
            <a:r>
              <a:rPr lang="en-US" altLang="ko-KR" sz="1400" dirty="0"/>
              <a:t> </a:t>
            </a:r>
            <a:r>
              <a:rPr lang="en-US" altLang="ko-KR" sz="1400" b="1" dirty="0"/>
              <a:t>When it is, the “</a:t>
            </a:r>
            <a:r>
              <a:rPr lang="en-US" altLang="ko-KR" sz="1400" b="1" dirty="0" err="1"/>
              <a:t>init</a:t>
            </a:r>
            <a:r>
              <a:rPr lang="en-US" altLang="ko-KR" sz="1400" b="1" dirty="0"/>
              <a:t>” container terminates and allows the main container(s) to be started</a:t>
            </a:r>
            <a:r>
              <a:rPr lang="en-US" altLang="ko-KR" sz="1400" dirty="0"/>
              <a:t>. This way, the main container wouldn’t use the service before it’s ready.</a:t>
            </a:r>
          </a:p>
          <a:p>
            <a:pPr lvl="1">
              <a:buFont typeface="Wingdings" panose="05000000000000000000" pitchFamily="2" charset="2"/>
              <a:buChar char="§"/>
            </a:pPr>
            <a:r>
              <a:rPr lang="en-US" altLang="ko-KR" sz="1400" b="1" dirty="0"/>
              <a:t>Let’s look at an example of a pod using an “</a:t>
            </a:r>
            <a:r>
              <a:rPr lang="en-US" altLang="ko-KR" sz="1400" b="1" dirty="0" err="1"/>
              <a:t>init</a:t>
            </a:r>
            <a:r>
              <a:rPr lang="en-US" altLang="ko-KR" sz="1400" b="1" dirty="0"/>
              <a:t>” container to delay the start of the main container</a:t>
            </a:r>
            <a:r>
              <a:rPr lang="en-US" altLang="ko-KR" sz="1400" dirty="0"/>
              <a:t>. Remember the “</a:t>
            </a:r>
            <a:r>
              <a:rPr lang="en-US" altLang="ko-KR" sz="1400" b="1" dirty="0"/>
              <a:t>fortune</a:t>
            </a:r>
            <a:r>
              <a:rPr lang="en-US" altLang="ko-KR" sz="1400" dirty="0"/>
              <a:t>” pod you created before? It’s a web server that returns a fortune quote as a response to client requests. Now, let’s imagine you have </a:t>
            </a:r>
            <a:r>
              <a:rPr lang="en-US" altLang="ko-KR" sz="1400" b="1" dirty="0"/>
              <a:t>a “fortune-client” pod that requires the “fortune Service” to be up and running before its main container starts</a:t>
            </a:r>
            <a:r>
              <a:rPr lang="en-US" altLang="ko-KR" sz="1400" dirty="0"/>
              <a:t>. </a:t>
            </a:r>
            <a:r>
              <a:rPr lang="en-US" altLang="ko-KR" sz="1400" b="1" dirty="0"/>
              <a:t>You can add an “</a:t>
            </a:r>
            <a:r>
              <a:rPr lang="en-US" altLang="ko-KR" sz="1400" b="1" dirty="0" err="1"/>
              <a:t>init</a:t>
            </a:r>
            <a:r>
              <a:rPr lang="en-US" altLang="ko-KR" sz="1400" b="1" dirty="0"/>
              <a:t>” container, which checks whether the Service is responding to requests</a:t>
            </a:r>
            <a:r>
              <a:rPr lang="en-US" altLang="ko-KR" sz="1400" dirty="0"/>
              <a:t>. </a:t>
            </a:r>
            <a:r>
              <a:rPr lang="en-US" altLang="ko-KR" sz="1400" b="1" dirty="0"/>
              <a:t>Until that’s the case, the “</a:t>
            </a:r>
            <a:r>
              <a:rPr lang="en-US" altLang="ko-KR" sz="1400" b="1" dirty="0" err="1"/>
              <a:t>init</a:t>
            </a:r>
            <a:r>
              <a:rPr lang="en-US" altLang="ko-KR" sz="1400" b="1" dirty="0"/>
              <a:t>” container keeps retrying</a:t>
            </a:r>
            <a:r>
              <a:rPr lang="en-US" altLang="ko-KR" sz="1400" dirty="0"/>
              <a:t>. </a:t>
            </a:r>
            <a:r>
              <a:rPr lang="en-US" altLang="ko-KR" sz="1400" b="1" dirty="0"/>
              <a:t>Once it gets a response, the “</a:t>
            </a:r>
            <a:r>
              <a:rPr lang="en-US" altLang="ko-KR" sz="1400" b="1" dirty="0" err="1"/>
              <a:t>init</a:t>
            </a:r>
            <a:r>
              <a:rPr lang="en-US" altLang="ko-KR" sz="1400" b="1" dirty="0"/>
              <a:t>” container terminates and lets the main container start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2FD882E-BBCC-46B0-2DD4-82F407E032D8}"/>
              </a:ext>
            </a:extLst>
          </p:cNvPr>
          <p:cNvPicPr>
            <a:picLocks noChangeAspect="1"/>
          </p:cNvPicPr>
          <p:nvPr/>
        </p:nvPicPr>
        <p:blipFill>
          <a:blip r:embed="rId2"/>
          <a:stretch>
            <a:fillRect/>
          </a:stretch>
        </p:blipFill>
        <p:spPr>
          <a:xfrm>
            <a:off x="3728384" y="4287739"/>
            <a:ext cx="4735231" cy="2121291"/>
          </a:xfrm>
          <a:prstGeom prst="rect">
            <a:avLst/>
          </a:prstGeom>
        </p:spPr>
      </p:pic>
    </p:spTree>
    <p:extLst>
      <p:ext uri="{BB962C8B-B14F-4D97-AF65-F5344CB8AC3E}">
        <p14:creationId xmlns:p14="http://schemas.microsoft.com/office/powerpoint/2010/main" val="4686683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Lifecycle(11/30)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an Init Container to a Pod :</a:t>
            </a:r>
            <a:endParaRPr lang="en-US" altLang="ko-KR" sz="1400" dirty="0"/>
          </a:p>
          <a:p>
            <a:pPr lvl="1">
              <a:buFont typeface="Wingdings" panose="05000000000000000000" pitchFamily="2" charset="2"/>
              <a:buChar char="§"/>
            </a:pPr>
            <a:r>
              <a:rPr lang="en-US" altLang="ko-KR" sz="1400" b="1" dirty="0"/>
              <a:t>“Init” containers can be defined in the pod spec like main containers but through the “</a:t>
            </a:r>
            <a:r>
              <a:rPr lang="en-US" altLang="ko-KR" sz="1400" b="1" dirty="0" err="1">
                <a:solidFill>
                  <a:srgbClr val="FF0000"/>
                </a:solidFill>
              </a:rPr>
              <a:t>spec.initContainers</a:t>
            </a:r>
            <a:r>
              <a:rPr lang="en-US" altLang="ko-KR" sz="1400" b="1" dirty="0"/>
              <a:t>” field</a:t>
            </a:r>
            <a:r>
              <a:rPr lang="en-US" altLang="ko-KR" sz="1400" dirty="0"/>
              <a:t>. You’ll find the complete YAML for the “</a:t>
            </a:r>
            <a:r>
              <a:rPr lang="en-US" altLang="ko-KR" sz="1400" b="1" dirty="0"/>
              <a:t>fortune-client pod</a:t>
            </a:r>
            <a:r>
              <a:rPr lang="en-US" altLang="ko-KR" sz="1400" dirty="0"/>
              <a:t>” in the repository. The following listing shows the part where the “</a:t>
            </a:r>
            <a:r>
              <a:rPr lang="en-US" altLang="ko-KR" sz="1400" b="1" dirty="0" err="1"/>
              <a:t>init</a:t>
            </a:r>
            <a:r>
              <a:rPr lang="en-US" altLang="ko-KR" sz="1400" dirty="0"/>
              <a:t>” container is defined.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6C8429F5-D223-7CC8-A317-ADBA1CBAC125}"/>
              </a:ext>
            </a:extLst>
          </p:cNvPr>
          <p:cNvGrpSpPr/>
          <p:nvPr/>
        </p:nvGrpSpPr>
        <p:grpSpPr>
          <a:xfrm>
            <a:off x="3047326" y="2180984"/>
            <a:ext cx="6097348" cy="3477875"/>
            <a:chOff x="3047326" y="2180984"/>
            <a:chExt cx="6097348" cy="3477875"/>
          </a:xfrm>
        </p:grpSpPr>
        <p:sp>
          <p:nvSpPr>
            <p:cNvPr id="8" name="TextBox 7">
              <a:extLst>
                <a:ext uri="{FF2B5EF4-FFF2-40B4-BE49-F238E27FC236}">
                  <a16:creationId xmlns:a16="http://schemas.microsoft.com/office/drawing/2014/main" id="{ADA715F2-1E8D-43FF-8D97-7E4887B27C0E}"/>
                </a:ext>
              </a:extLst>
            </p:cNvPr>
            <p:cNvSpPr txBox="1"/>
            <p:nvPr/>
          </p:nvSpPr>
          <p:spPr>
            <a:xfrm>
              <a:off x="3047326" y="2180984"/>
              <a:ext cx="6097348" cy="3477875"/>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fortune-client</a:t>
              </a:r>
            </a:p>
            <a:p>
              <a:r>
                <a:rPr lang="en-US" altLang="ko-KR" sz="1000" b="1" dirty="0"/>
                <a:t>spec:</a:t>
              </a:r>
            </a:p>
            <a:p>
              <a:r>
                <a:rPr lang="en-US" altLang="ko-KR" sz="1000" b="1" dirty="0"/>
                <a:t>  </a:t>
              </a:r>
              <a:r>
                <a:rPr lang="en-US" altLang="ko-KR" sz="1000" b="1" dirty="0" err="1">
                  <a:solidFill>
                    <a:srgbClr val="FF0000"/>
                  </a:solidFill>
                </a:rPr>
                <a:t>initContainers</a:t>
              </a:r>
              <a:r>
                <a:rPr lang="en-US" altLang="ko-KR" sz="1000" b="1" dirty="0">
                  <a:solidFill>
                    <a:srgbClr val="FF0000"/>
                  </a:solidFill>
                </a:rPr>
                <a:t>:</a:t>
              </a:r>
            </a:p>
            <a:p>
              <a:r>
                <a:rPr lang="en-US" altLang="ko-KR" sz="1000" b="1" dirty="0">
                  <a:solidFill>
                    <a:srgbClr val="FF0000"/>
                  </a:solidFill>
                </a:rPr>
                <a:t>  - name: </a:t>
              </a:r>
              <a:r>
                <a:rPr lang="en-US" altLang="ko-KR" sz="1000" b="1" dirty="0" err="1">
                  <a:solidFill>
                    <a:srgbClr val="FF0000"/>
                  </a:solidFill>
                </a:rPr>
                <a:t>init</a:t>
              </a:r>
              <a:endParaRPr lang="en-US" altLang="ko-KR" sz="1000" b="1" dirty="0">
                <a:solidFill>
                  <a:srgbClr val="FF0000"/>
                </a:solidFill>
              </a:endParaRPr>
            </a:p>
            <a:p>
              <a:r>
                <a:rPr lang="en-US" altLang="ko-KR" sz="1000" b="1" dirty="0">
                  <a:solidFill>
                    <a:srgbClr val="FF0000"/>
                  </a:solidFill>
                </a:rPr>
                <a:t>    image: </a:t>
              </a:r>
              <a:r>
                <a:rPr lang="en-US" altLang="ko-KR" sz="1000" b="1" dirty="0" err="1">
                  <a:solidFill>
                    <a:srgbClr val="FF0000"/>
                  </a:solidFill>
                </a:rPr>
                <a:t>busybox</a:t>
              </a:r>
              <a:endParaRPr lang="en-US" altLang="ko-KR" sz="1000" b="1" dirty="0">
                <a:solidFill>
                  <a:srgbClr val="FF0000"/>
                </a:solidFill>
              </a:endParaRPr>
            </a:p>
            <a:p>
              <a:r>
                <a:rPr lang="en-US" altLang="ko-KR" sz="1000" b="1" dirty="0">
                  <a:solidFill>
                    <a:srgbClr val="FF0000"/>
                  </a:solidFill>
                </a:rPr>
                <a:t>    command:</a:t>
              </a:r>
            </a:p>
            <a:p>
              <a:r>
                <a:rPr lang="en-US" altLang="ko-KR" sz="1000" b="1" dirty="0">
                  <a:solidFill>
                    <a:srgbClr val="FF0000"/>
                  </a:solidFill>
                </a:rPr>
                <a:t>    - </a:t>
              </a:r>
              <a:r>
                <a:rPr lang="en-US" altLang="ko-KR" sz="1000" b="1" dirty="0" err="1">
                  <a:solidFill>
                    <a:srgbClr val="FF0000"/>
                  </a:solidFill>
                </a:rPr>
                <a:t>sh</a:t>
              </a:r>
              <a:endParaRPr lang="en-US" altLang="ko-KR" sz="1000" b="1" dirty="0">
                <a:solidFill>
                  <a:srgbClr val="FF0000"/>
                </a:solidFill>
              </a:endParaRPr>
            </a:p>
            <a:p>
              <a:r>
                <a:rPr lang="en-US" altLang="ko-KR" sz="1000" b="1" dirty="0">
                  <a:solidFill>
                    <a:srgbClr val="FF0000"/>
                  </a:solidFill>
                </a:rPr>
                <a:t>    - -c</a:t>
              </a:r>
            </a:p>
            <a:p>
              <a:r>
                <a:rPr lang="en-US" altLang="ko-KR" sz="1000" b="1" dirty="0">
                  <a:solidFill>
                    <a:srgbClr val="FF0000"/>
                  </a:solidFill>
                </a:rPr>
                <a:t>    - 'while true; do echo "Waiting for fortune service to come up..."; </a:t>
              </a:r>
              <a:r>
                <a:rPr lang="en-US" altLang="ko-KR" sz="1000" b="1" dirty="0" err="1">
                  <a:solidFill>
                    <a:srgbClr val="FF0000"/>
                  </a:solidFill>
                </a:rPr>
                <a:t>wget</a:t>
              </a:r>
              <a:r>
                <a:rPr lang="en-US" altLang="ko-KR" sz="1000" b="1" dirty="0">
                  <a:solidFill>
                    <a:srgbClr val="FF0000"/>
                  </a:solidFill>
                </a:rPr>
                <a:t> http://fortune -q -T 1 -O /dev/null &gt;/dev/null 2&gt;/dev/null &amp;&amp; break; sleep 1; done; echo "Service is up! Starting main container."'</a:t>
              </a:r>
            </a:p>
            <a:p>
              <a:r>
                <a:rPr lang="en-US" altLang="ko-KR" sz="1000" b="1" dirty="0"/>
                <a:t>  containers:</a:t>
              </a:r>
            </a:p>
            <a:p>
              <a:r>
                <a:rPr lang="en-US" altLang="ko-KR" sz="1000" b="1" dirty="0"/>
                <a:t>  - image: </a:t>
              </a:r>
              <a:r>
                <a:rPr lang="en-US" altLang="ko-KR" sz="1000" b="1" dirty="0" err="1"/>
                <a:t>busybox</a:t>
              </a:r>
              <a:endParaRPr lang="en-US" altLang="ko-KR" sz="1000" b="1" dirty="0"/>
            </a:p>
            <a:p>
              <a:r>
                <a:rPr lang="en-US" altLang="ko-KR" sz="1000" b="1" dirty="0"/>
                <a:t>    name: main</a:t>
              </a:r>
            </a:p>
            <a:p>
              <a:r>
                <a:rPr lang="en-US" altLang="ko-KR" sz="1000" b="1" dirty="0"/>
                <a:t>    command:</a:t>
              </a:r>
            </a:p>
            <a:p>
              <a:r>
                <a:rPr lang="en-US" altLang="ko-KR" sz="1000" b="1" dirty="0"/>
                <a:t>    - </a:t>
              </a:r>
              <a:r>
                <a:rPr lang="en-US" altLang="ko-KR" sz="1000" b="1" dirty="0" err="1"/>
                <a:t>sh</a:t>
              </a:r>
              <a:endParaRPr lang="en-US" altLang="ko-KR" sz="1000" b="1" dirty="0"/>
            </a:p>
            <a:p>
              <a:r>
                <a:rPr lang="en-US" altLang="ko-KR" sz="1000" b="1" dirty="0"/>
                <a:t>    - -c</a:t>
              </a:r>
            </a:p>
            <a:p>
              <a:r>
                <a:rPr lang="en-US" altLang="ko-KR" sz="1000" b="1" dirty="0"/>
                <a:t>    - 'echo "Main container started. Reading fortune very 10 seconds."; while true; do echo "-------------"; </a:t>
              </a:r>
              <a:r>
                <a:rPr lang="en-US" altLang="ko-KR" sz="1000" b="1" dirty="0" err="1"/>
                <a:t>wget</a:t>
              </a:r>
              <a:r>
                <a:rPr lang="en-US" altLang="ko-KR" sz="1000" b="1" dirty="0"/>
                <a:t> -q -O - http://fortune; sleep 10; done'</a:t>
              </a:r>
            </a:p>
          </p:txBody>
        </p:sp>
        <p:sp>
          <p:nvSpPr>
            <p:cNvPr id="9" name="TextBox 8">
              <a:extLst>
                <a:ext uri="{FF2B5EF4-FFF2-40B4-BE49-F238E27FC236}">
                  <a16:creationId xmlns:a16="http://schemas.microsoft.com/office/drawing/2014/main" id="{76E7DFC8-4F05-A108-DD65-24131573B505}"/>
                </a:ext>
              </a:extLst>
            </p:cNvPr>
            <p:cNvSpPr txBox="1"/>
            <p:nvPr/>
          </p:nvSpPr>
          <p:spPr>
            <a:xfrm>
              <a:off x="7794624" y="2180984"/>
              <a:ext cx="1350050" cy="246221"/>
            </a:xfrm>
            <a:prstGeom prst="rect">
              <a:avLst/>
            </a:prstGeom>
            <a:noFill/>
          </p:spPr>
          <p:txBody>
            <a:bodyPr wrap="none" rtlCol="0">
              <a:spAutoFit/>
            </a:bodyPr>
            <a:lstStyle/>
            <a:p>
              <a:pPr algn="ctr"/>
              <a:r>
                <a:rPr lang="en-US" altLang="ko-KR" sz="1000" b="1" dirty="0"/>
                <a:t>fortune-</a:t>
              </a:r>
              <a:r>
                <a:rPr lang="en-US" altLang="ko-KR" sz="1000" b="1" dirty="0" err="1"/>
                <a:t>client.yaml</a:t>
              </a:r>
              <a:endParaRPr lang="ko-KR" altLang="en-US" sz="1000" b="1" dirty="0"/>
            </a:p>
          </p:txBody>
        </p:sp>
      </p:grpSp>
    </p:spTree>
    <p:extLst>
      <p:ext uri="{BB962C8B-B14F-4D97-AF65-F5344CB8AC3E}">
        <p14:creationId xmlns:p14="http://schemas.microsoft.com/office/powerpoint/2010/main" val="24049280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Lifecycle(12/30)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an Init Container to a Pod :</a:t>
            </a:r>
            <a:endParaRPr lang="en-US" altLang="ko-KR" sz="1400" dirty="0"/>
          </a:p>
          <a:p>
            <a:pPr lvl="1">
              <a:buFont typeface="Wingdings" panose="05000000000000000000" pitchFamily="2" charset="2"/>
              <a:buChar char="§"/>
            </a:pPr>
            <a:r>
              <a:rPr lang="en-US" altLang="ko-KR" sz="1400" b="1" dirty="0"/>
              <a:t>When you deploy this pod, only its “</a:t>
            </a:r>
            <a:r>
              <a:rPr lang="en-US" altLang="ko-KR" sz="1400" b="1" dirty="0" err="1"/>
              <a:t>init</a:t>
            </a:r>
            <a:r>
              <a:rPr lang="en-US" altLang="ko-KR" sz="1400" b="1" dirty="0"/>
              <a:t>” container is started</a:t>
            </a:r>
            <a:r>
              <a:rPr lang="en-US" altLang="ko-KR" sz="1400" dirty="0"/>
              <a:t>. This is shown in </a:t>
            </a:r>
            <a:r>
              <a:rPr lang="en-US" altLang="ko-KR" sz="1400" b="1" dirty="0"/>
              <a:t>the pod’s status </a:t>
            </a:r>
            <a:r>
              <a:rPr lang="en-US" altLang="ko-KR" sz="1400" dirty="0"/>
              <a:t>when you list pods with “</a:t>
            </a:r>
            <a:r>
              <a:rPr lang="en-US" altLang="ko-KR" sz="1400" b="1" dirty="0"/>
              <a:t>$ </a:t>
            </a:r>
            <a:r>
              <a:rPr lang="en-US" altLang="ko-KR" sz="1400" b="1" dirty="0" err="1"/>
              <a:t>kubectl</a:t>
            </a:r>
            <a:r>
              <a:rPr lang="en-US" altLang="ko-KR" sz="1400" b="1" dirty="0"/>
              <a:t> get pod</a:t>
            </a:r>
            <a:r>
              <a:rPr lang="en-US" altLang="ko-KR" sz="1400" dirty="0"/>
              <a:t>”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STATUS column shows that zero of one “</a:t>
            </a:r>
            <a:r>
              <a:rPr lang="en-US" altLang="ko-KR" sz="1400" b="1" dirty="0" err="1"/>
              <a:t>init</a:t>
            </a:r>
            <a:r>
              <a:rPr lang="en-US" altLang="ko-KR" sz="1400" b="1" dirty="0"/>
              <a:t>” containers have finished</a:t>
            </a:r>
            <a:r>
              <a:rPr lang="en-US" altLang="ko-KR" sz="1400" dirty="0"/>
              <a:t>. You can see </a:t>
            </a:r>
            <a:r>
              <a:rPr lang="en-US" altLang="ko-KR" sz="1400" b="1" dirty="0"/>
              <a:t>the log of the “</a:t>
            </a:r>
            <a:r>
              <a:rPr lang="en-US" altLang="ko-KR" sz="1400" b="1" dirty="0" err="1"/>
              <a:t>init</a:t>
            </a:r>
            <a:r>
              <a:rPr lang="en-US" altLang="ko-KR" sz="1400" b="1" dirty="0"/>
              <a:t>” container </a:t>
            </a:r>
            <a:r>
              <a:rPr lang="en-US" altLang="ko-KR" sz="1400" dirty="0"/>
              <a:t>with “</a:t>
            </a:r>
            <a:r>
              <a:rPr lang="en-US" altLang="ko-KR" sz="1400" b="1" dirty="0"/>
              <a:t>$ </a:t>
            </a:r>
            <a:r>
              <a:rPr lang="en-US" altLang="ko-KR" sz="1400" b="1" dirty="0" err="1"/>
              <a:t>kubectl</a:t>
            </a:r>
            <a:r>
              <a:rPr lang="en-US" altLang="ko-KR" sz="1400" b="1" dirty="0"/>
              <a:t> logs</a:t>
            </a:r>
            <a:r>
              <a:rPr lang="en-US" altLang="ko-KR" sz="1400" dirty="0"/>
              <a:t>” command :</a:t>
            </a:r>
          </a:p>
          <a:p>
            <a:pPr lvl="1">
              <a:buFont typeface="Wingdings" panose="05000000000000000000" pitchFamily="2" charset="2"/>
              <a:buChar char="§"/>
            </a:pPr>
            <a:r>
              <a:rPr lang="en-US" altLang="ko-KR" sz="1400" b="1" dirty="0"/>
              <a:t>When running the “$ </a:t>
            </a:r>
            <a:r>
              <a:rPr lang="en-US" altLang="ko-KR" sz="1400" b="1" dirty="0" err="1"/>
              <a:t>kubectl</a:t>
            </a:r>
            <a:r>
              <a:rPr lang="en-US" altLang="ko-KR" sz="1400" b="1" dirty="0"/>
              <a:t> logs” command, you need to specify the name of the “</a:t>
            </a:r>
            <a:r>
              <a:rPr lang="en-US" altLang="ko-KR" sz="1400" b="1" dirty="0" err="1"/>
              <a:t>init</a:t>
            </a:r>
            <a:r>
              <a:rPr lang="en-US" altLang="ko-KR" sz="1400" b="1" dirty="0"/>
              <a:t>” container with the “-c” switch</a:t>
            </a:r>
            <a:r>
              <a:rPr lang="en-US" altLang="ko-KR" sz="1400" dirty="0"/>
              <a:t> (in the example, the name of the pod’s “</a:t>
            </a:r>
            <a:r>
              <a:rPr lang="en-US" altLang="ko-KR" sz="1400" b="1" dirty="0" err="1"/>
              <a:t>init</a:t>
            </a:r>
            <a:r>
              <a:rPr lang="en-US" altLang="ko-KR" sz="1400" dirty="0"/>
              <a:t>” container is “</a:t>
            </a:r>
            <a:r>
              <a:rPr lang="en-US" altLang="ko-KR" sz="1400" b="1" dirty="0" err="1"/>
              <a:t>init</a:t>
            </a:r>
            <a:r>
              <a:rPr lang="en-US" altLang="ko-KR" sz="1400" dirty="0"/>
              <a:t>”, as you can see in previous YAML file.).</a:t>
            </a:r>
          </a:p>
          <a:p>
            <a:pPr lvl="1">
              <a:buFont typeface="Wingdings" panose="05000000000000000000" pitchFamily="2" charset="2"/>
              <a:buChar char="§"/>
            </a:pPr>
            <a:r>
              <a:rPr lang="en-US" altLang="ko-KR" sz="1400" b="1" dirty="0"/>
              <a:t>The main container won’t run until you deploy the “fortune Service” and the “fortune-server” pod</a:t>
            </a:r>
            <a:r>
              <a:rPr lang="en-US" altLang="ko-KR" sz="1400" dirty="0"/>
              <a:t>. You’ll find them in the “</a:t>
            </a:r>
            <a:r>
              <a:rPr lang="en-US" altLang="ko-KR" sz="1400" b="1" dirty="0"/>
              <a:t>fortune-</a:t>
            </a:r>
            <a:r>
              <a:rPr lang="en-US" altLang="ko-KR" sz="1400" b="1" dirty="0" err="1"/>
              <a:t>server.yaml</a:t>
            </a:r>
            <a:r>
              <a:rPr lang="en-US" altLang="ko-KR" sz="1400" dirty="0"/>
              <a:t>” file.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989C1720-D27F-37B2-9A8C-A9DA56C1BF14}"/>
              </a:ext>
            </a:extLst>
          </p:cNvPr>
          <p:cNvPicPr>
            <a:picLocks noChangeAspect="1"/>
          </p:cNvPicPr>
          <p:nvPr/>
        </p:nvPicPr>
        <p:blipFill>
          <a:blip r:embed="rId2"/>
          <a:stretch>
            <a:fillRect/>
          </a:stretch>
        </p:blipFill>
        <p:spPr>
          <a:xfrm>
            <a:off x="838200" y="1797654"/>
            <a:ext cx="10515600" cy="2726267"/>
          </a:xfrm>
          <a:prstGeom prst="rect">
            <a:avLst/>
          </a:prstGeom>
        </p:spPr>
      </p:pic>
    </p:spTree>
    <p:extLst>
      <p:ext uri="{BB962C8B-B14F-4D97-AF65-F5344CB8AC3E}">
        <p14:creationId xmlns:p14="http://schemas.microsoft.com/office/powerpoint/2010/main" val="30057453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Lifecycle(13/30)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an Init Container to a Pod :</a:t>
            </a:r>
            <a:endParaRPr lang="en-US" altLang="ko-KR" sz="1400" dirty="0"/>
          </a:p>
          <a:p>
            <a:pPr lvl="1">
              <a:buFont typeface="Wingdings" panose="05000000000000000000" pitchFamily="2" charset="2"/>
              <a:buChar char="§"/>
            </a:pPr>
            <a:r>
              <a:rPr lang="en-US" altLang="ko-KR" sz="1400" dirty="0"/>
              <a:t>When you run the “</a:t>
            </a:r>
            <a:r>
              <a:rPr lang="en-US" altLang="ko-KR" sz="1400" b="1" dirty="0"/>
              <a:t>$ </a:t>
            </a:r>
            <a:r>
              <a:rPr lang="en-US" altLang="ko-KR" sz="1400" b="1" dirty="0" err="1"/>
              <a:t>kubectl</a:t>
            </a:r>
            <a:r>
              <a:rPr lang="en-US" altLang="ko-KR" sz="1400" b="1" dirty="0"/>
              <a:t> create -f fortune-</a:t>
            </a:r>
            <a:r>
              <a:rPr lang="en-US" altLang="ko-KR" sz="1400" b="1" dirty="0" err="1"/>
              <a:t>server.yaml</a:t>
            </a:r>
            <a:r>
              <a:rPr lang="en-US" altLang="ko-KR" sz="1400" dirty="0"/>
              <a:t>” command, the logging message will be stop.</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B240374A-90B7-AEC1-C2F1-BE1B1B36C4FA}"/>
              </a:ext>
            </a:extLst>
          </p:cNvPr>
          <p:cNvGrpSpPr/>
          <p:nvPr/>
        </p:nvGrpSpPr>
        <p:grpSpPr>
          <a:xfrm>
            <a:off x="838200" y="1741283"/>
            <a:ext cx="10515600" cy="4252924"/>
            <a:chOff x="838200" y="1741283"/>
            <a:chExt cx="10515600" cy="4252924"/>
          </a:xfrm>
        </p:grpSpPr>
        <p:grpSp>
          <p:nvGrpSpPr>
            <p:cNvPr id="11" name="그룹 10">
              <a:extLst>
                <a:ext uri="{FF2B5EF4-FFF2-40B4-BE49-F238E27FC236}">
                  <a16:creationId xmlns:a16="http://schemas.microsoft.com/office/drawing/2014/main" id="{BA3AF586-B0D4-D52C-7B24-677171067D07}"/>
                </a:ext>
              </a:extLst>
            </p:cNvPr>
            <p:cNvGrpSpPr/>
            <p:nvPr/>
          </p:nvGrpSpPr>
          <p:grpSpPr>
            <a:xfrm>
              <a:off x="838200" y="1741283"/>
              <a:ext cx="10515600" cy="4252924"/>
              <a:chOff x="838200" y="1491332"/>
              <a:chExt cx="10515600" cy="4252924"/>
            </a:xfrm>
          </p:grpSpPr>
          <p:pic>
            <p:nvPicPr>
              <p:cNvPr id="8" name="그림 7">
                <a:extLst>
                  <a:ext uri="{FF2B5EF4-FFF2-40B4-BE49-F238E27FC236}">
                    <a16:creationId xmlns:a16="http://schemas.microsoft.com/office/drawing/2014/main" id="{7E90D292-DE73-5182-F9D4-9A79E8228D22}"/>
                  </a:ext>
                </a:extLst>
              </p:cNvPr>
              <p:cNvPicPr>
                <a:picLocks noChangeAspect="1"/>
              </p:cNvPicPr>
              <p:nvPr/>
            </p:nvPicPr>
            <p:blipFill>
              <a:blip r:embed="rId2"/>
              <a:stretch>
                <a:fillRect/>
              </a:stretch>
            </p:blipFill>
            <p:spPr>
              <a:xfrm>
                <a:off x="838200" y="1491332"/>
                <a:ext cx="10515600" cy="2726267"/>
              </a:xfrm>
              <a:prstGeom prst="rect">
                <a:avLst/>
              </a:prstGeom>
            </p:spPr>
          </p:pic>
          <p:pic>
            <p:nvPicPr>
              <p:cNvPr id="10" name="그림 9">
                <a:extLst>
                  <a:ext uri="{FF2B5EF4-FFF2-40B4-BE49-F238E27FC236}">
                    <a16:creationId xmlns:a16="http://schemas.microsoft.com/office/drawing/2014/main" id="{D8A29456-BECC-1E47-9BB3-8B638E2C5734}"/>
                  </a:ext>
                </a:extLst>
              </p:cNvPr>
              <p:cNvPicPr>
                <a:picLocks noChangeAspect="1"/>
              </p:cNvPicPr>
              <p:nvPr/>
            </p:nvPicPr>
            <p:blipFill>
              <a:blip r:embed="rId3"/>
              <a:stretch>
                <a:fillRect/>
              </a:stretch>
            </p:blipFill>
            <p:spPr>
              <a:xfrm>
                <a:off x="838200" y="4264283"/>
                <a:ext cx="10515600" cy="1479973"/>
              </a:xfrm>
              <a:prstGeom prst="rect">
                <a:avLst/>
              </a:prstGeom>
            </p:spPr>
          </p:pic>
        </p:grpSp>
        <p:sp>
          <p:nvSpPr>
            <p:cNvPr id="12" name="직사각형 11">
              <a:extLst>
                <a:ext uri="{FF2B5EF4-FFF2-40B4-BE49-F238E27FC236}">
                  <a16:creationId xmlns:a16="http://schemas.microsoft.com/office/drawing/2014/main" id="{B0D40AEC-1D64-7283-AEBE-C277EAE0EABF}"/>
                </a:ext>
              </a:extLst>
            </p:cNvPr>
            <p:cNvSpPr/>
            <p:nvPr/>
          </p:nvSpPr>
          <p:spPr>
            <a:xfrm>
              <a:off x="854384" y="5229944"/>
              <a:ext cx="3555775" cy="2645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1012788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Lifecycle(14/30)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Best Practices for Handling Inter-Pod Dependencies :</a:t>
            </a:r>
            <a:endParaRPr lang="en-US" altLang="ko-KR" sz="1400" dirty="0"/>
          </a:p>
          <a:p>
            <a:pPr lvl="1">
              <a:buFont typeface="Wingdings" panose="05000000000000000000" pitchFamily="2" charset="2"/>
              <a:buChar char="§"/>
            </a:pPr>
            <a:r>
              <a:rPr lang="en-US" altLang="ko-KR" sz="1400" b="1" dirty="0"/>
              <a:t>You’ve seen how an “</a:t>
            </a:r>
            <a:r>
              <a:rPr lang="en-US" altLang="ko-KR" sz="1400" b="1" dirty="0" err="1"/>
              <a:t>init</a:t>
            </a:r>
            <a:r>
              <a:rPr lang="en-US" altLang="ko-KR" sz="1400" b="1" dirty="0"/>
              <a:t>” container can be used to delay starting the pod’s main container(s) until a precondition is met </a:t>
            </a:r>
            <a:r>
              <a:rPr lang="en-US" altLang="ko-KR" sz="1400" dirty="0"/>
              <a:t>(making sure the Service the pod depends on is ready, for example), </a:t>
            </a:r>
            <a:r>
              <a:rPr lang="en-US" altLang="ko-KR" sz="1400" b="1" dirty="0"/>
              <a:t>but it’s much better to write apps that don’t require every service they rely on to be ready before the app starts up</a:t>
            </a:r>
            <a:r>
              <a:rPr lang="en-US" altLang="ko-KR" sz="1400" dirty="0"/>
              <a:t>. After all, the service may also go offline later, while the app is already running.</a:t>
            </a:r>
          </a:p>
          <a:p>
            <a:pPr lvl="1">
              <a:buFont typeface="Wingdings" panose="05000000000000000000" pitchFamily="2" charset="2"/>
              <a:buChar char="§"/>
            </a:pPr>
            <a:r>
              <a:rPr lang="en-US" altLang="ko-KR" sz="1400" b="1" dirty="0">
                <a:solidFill>
                  <a:srgbClr val="FF0000"/>
                </a:solidFill>
              </a:rPr>
              <a:t>The application needs to handle internally the possibility that its dependencies aren’t ready</a:t>
            </a:r>
            <a:r>
              <a:rPr lang="en-US" altLang="ko-KR" sz="1400" dirty="0"/>
              <a:t>. </a:t>
            </a:r>
            <a:r>
              <a:rPr lang="en-US" altLang="ko-KR" sz="1400" b="1" dirty="0">
                <a:solidFill>
                  <a:srgbClr val="FF0000"/>
                </a:solidFill>
              </a:rPr>
              <a:t>And don’t forget readiness probes</a:t>
            </a:r>
            <a:r>
              <a:rPr lang="en-US" altLang="ko-KR" sz="1400" dirty="0"/>
              <a:t>. </a:t>
            </a:r>
            <a:r>
              <a:rPr lang="en-US" altLang="ko-KR" sz="1400" b="1" dirty="0"/>
              <a:t>If an app can’t do its job because one of its dependencies is missing, it should signal that through its readiness probe, so Kubernetes knows it, too, isn’t ready</a:t>
            </a:r>
            <a:r>
              <a:rPr lang="en-US" altLang="ko-KR" sz="1400" dirty="0"/>
              <a:t>. You’ll want to do this not only because it prevents the app from being added as a service endpoint, but also because </a:t>
            </a:r>
            <a:r>
              <a:rPr lang="en-US" altLang="ko-KR" sz="1400" b="1" dirty="0"/>
              <a:t>the app’s readiness is also used by the “</a:t>
            </a:r>
            <a:r>
              <a:rPr lang="en-US" altLang="ko-KR" sz="1400" b="1" dirty="0">
                <a:solidFill>
                  <a:srgbClr val="FF0000"/>
                </a:solidFill>
              </a:rPr>
              <a:t>Deployment</a:t>
            </a:r>
            <a:r>
              <a:rPr lang="en-US" altLang="ko-KR" sz="1400" b="1" dirty="0"/>
              <a:t>” controller when performing a rolling update, thereby preventing a rollout of a bad version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4F1AF466-155F-6B5A-D475-6B283E186980}"/>
              </a:ext>
            </a:extLst>
          </p:cNvPr>
          <p:cNvGrpSpPr/>
          <p:nvPr/>
        </p:nvGrpSpPr>
        <p:grpSpPr>
          <a:xfrm>
            <a:off x="4001891" y="3146254"/>
            <a:ext cx="4188218" cy="3262776"/>
            <a:chOff x="4001891" y="3146254"/>
            <a:chExt cx="4188218" cy="3262776"/>
          </a:xfrm>
        </p:grpSpPr>
        <p:pic>
          <p:nvPicPr>
            <p:cNvPr id="4" name="그림 3">
              <a:extLst>
                <a:ext uri="{FF2B5EF4-FFF2-40B4-BE49-F238E27FC236}">
                  <a16:creationId xmlns:a16="http://schemas.microsoft.com/office/drawing/2014/main" id="{BAE215A0-3279-2913-7E72-857ECA5F6B6B}"/>
                </a:ext>
              </a:extLst>
            </p:cNvPr>
            <p:cNvPicPr>
              <a:picLocks noChangeAspect="1"/>
            </p:cNvPicPr>
            <p:nvPr/>
          </p:nvPicPr>
          <p:blipFill>
            <a:blip r:embed="rId2"/>
            <a:stretch>
              <a:fillRect/>
            </a:stretch>
          </p:blipFill>
          <p:spPr>
            <a:xfrm>
              <a:off x="4001891" y="3146254"/>
              <a:ext cx="4188218" cy="3262776"/>
            </a:xfrm>
            <a:prstGeom prst="rect">
              <a:avLst/>
            </a:prstGeom>
            <a:ln>
              <a:solidFill>
                <a:schemeClr val="bg1">
                  <a:lumMod val="50000"/>
                </a:schemeClr>
              </a:solidFill>
            </a:ln>
          </p:spPr>
        </p:pic>
        <p:cxnSp>
          <p:nvCxnSpPr>
            <p:cNvPr id="9" name="직선 화살표 연결선 8">
              <a:extLst>
                <a:ext uri="{FF2B5EF4-FFF2-40B4-BE49-F238E27FC236}">
                  <a16:creationId xmlns:a16="http://schemas.microsoft.com/office/drawing/2014/main" id="{87C66F70-36B5-8D23-91AE-CD35D5AA9B86}"/>
                </a:ext>
              </a:extLst>
            </p:cNvPr>
            <p:cNvCxnSpPr>
              <a:cxnSpLocks/>
            </p:cNvCxnSpPr>
            <p:nvPr/>
          </p:nvCxnSpPr>
          <p:spPr>
            <a:xfrm>
              <a:off x="5785805" y="4102662"/>
              <a:ext cx="647363" cy="0"/>
            </a:xfrm>
            <a:prstGeom prst="straightConnector1">
              <a:avLst/>
            </a:prstGeom>
            <a:ln w="38100">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59962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Lifecycle(15/30)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Lifecycle Hooks :</a:t>
            </a:r>
            <a:endParaRPr lang="en-US" altLang="ko-KR" sz="1400" dirty="0"/>
          </a:p>
          <a:p>
            <a:pPr lvl="1">
              <a:buFont typeface="Wingdings" panose="05000000000000000000" pitchFamily="2" charset="2"/>
              <a:buChar char="§"/>
            </a:pPr>
            <a:r>
              <a:rPr lang="en-US" altLang="ko-KR" sz="1400" dirty="0"/>
              <a:t>We’ve talked about how “</a:t>
            </a:r>
            <a:r>
              <a:rPr lang="en-US" altLang="ko-KR" sz="1400" b="1" dirty="0" err="1"/>
              <a:t>init</a:t>
            </a:r>
            <a:r>
              <a:rPr lang="en-US" altLang="ko-KR" sz="1400" dirty="0"/>
              <a:t>” </a:t>
            </a:r>
            <a:r>
              <a:rPr lang="en-US" altLang="ko-KR" sz="1400" b="1" dirty="0"/>
              <a:t>containers can be used to hook into the startup of the pod</a:t>
            </a:r>
            <a:r>
              <a:rPr lang="en-US" altLang="ko-KR" sz="1400" dirty="0"/>
              <a:t>, </a:t>
            </a:r>
            <a:r>
              <a:rPr lang="en-US" altLang="ko-KR" sz="1400" b="1" dirty="0"/>
              <a:t>but pods also allow you to define </a:t>
            </a:r>
            <a:r>
              <a:rPr lang="en-US" altLang="ko-KR" sz="1400" b="1" dirty="0">
                <a:solidFill>
                  <a:srgbClr val="FF0000"/>
                </a:solidFill>
              </a:rPr>
              <a:t>two lifecycle hooks </a:t>
            </a:r>
            <a:r>
              <a:rPr lang="en-US" altLang="ko-KR" sz="1400" dirty="0"/>
              <a:t>:</a:t>
            </a:r>
          </a:p>
          <a:p>
            <a:pPr lvl="2">
              <a:buFont typeface="Wingdings" panose="05000000000000000000" pitchFamily="2" charset="2"/>
              <a:buChar char="§"/>
            </a:pPr>
            <a:r>
              <a:rPr lang="en-US" altLang="ko-KR" sz="1400" b="1" dirty="0"/>
              <a:t>Post-start hooks</a:t>
            </a:r>
          </a:p>
          <a:p>
            <a:pPr lvl="2">
              <a:buFont typeface="Wingdings" panose="05000000000000000000" pitchFamily="2" charset="2"/>
              <a:buChar char="§"/>
            </a:pPr>
            <a:r>
              <a:rPr lang="en-US" altLang="ko-KR" sz="1400" b="1" dirty="0"/>
              <a:t>Pre-stop hooks</a:t>
            </a:r>
          </a:p>
          <a:p>
            <a:pPr lvl="1">
              <a:buFont typeface="Wingdings" panose="05000000000000000000" pitchFamily="2" charset="2"/>
              <a:buChar char="§"/>
            </a:pPr>
            <a:r>
              <a:rPr lang="en-US" altLang="ko-KR" sz="1400" b="1" dirty="0"/>
              <a:t>These lifecycle hooks are specified per container, unlike “</a:t>
            </a:r>
            <a:r>
              <a:rPr lang="en-US" altLang="ko-KR" sz="1400" b="1" dirty="0" err="1"/>
              <a:t>init</a:t>
            </a:r>
            <a:r>
              <a:rPr lang="en-US" altLang="ko-KR" sz="1400" b="1" dirty="0"/>
              <a:t>” containers, which apply to the whole pod</a:t>
            </a:r>
            <a:r>
              <a:rPr lang="en-US" altLang="ko-KR" sz="1400" dirty="0"/>
              <a:t>. As their names suggest, </a:t>
            </a:r>
            <a:r>
              <a:rPr lang="en-US" altLang="ko-KR" sz="1400" b="1" dirty="0">
                <a:solidFill>
                  <a:srgbClr val="FF0000"/>
                </a:solidFill>
              </a:rPr>
              <a:t>they’re executed when the container starts and before it stops</a:t>
            </a:r>
            <a:r>
              <a:rPr lang="en-US" altLang="ko-KR" sz="1400" dirty="0"/>
              <a:t>.</a:t>
            </a:r>
          </a:p>
          <a:p>
            <a:pPr lvl="1">
              <a:buFont typeface="Wingdings" panose="05000000000000000000" pitchFamily="2" charset="2"/>
              <a:buChar char="§"/>
            </a:pPr>
            <a:r>
              <a:rPr lang="en-US" altLang="ko-KR" sz="1400" b="1" dirty="0"/>
              <a:t>Lifecycle hooks are similar to liveness and readiness probes </a:t>
            </a:r>
            <a:r>
              <a:rPr lang="en-US" altLang="ko-KR" sz="1400" dirty="0"/>
              <a:t>in that they can either</a:t>
            </a:r>
          </a:p>
          <a:p>
            <a:pPr lvl="2">
              <a:buFont typeface="Wingdings" panose="05000000000000000000" pitchFamily="2" charset="2"/>
              <a:buChar char="§"/>
            </a:pPr>
            <a:r>
              <a:rPr lang="en-US" altLang="ko-KR" sz="1400" b="1" dirty="0"/>
              <a:t>Execute a command inside the container</a:t>
            </a:r>
          </a:p>
          <a:p>
            <a:pPr lvl="2">
              <a:buFont typeface="Wingdings" panose="05000000000000000000" pitchFamily="2" charset="2"/>
              <a:buChar char="§"/>
            </a:pPr>
            <a:r>
              <a:rPr lang="en-US" altLang="ko-KR" sz="1400" b="1" dirty="0"/>
              <a:t>Perform an HTTP GET request against a URL</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A4F9A007-A7CF-2CDB-0914-04270035989C}"/>
              </a:ext>
            </a:extLst>
          </p:cNvPr>
          <p:cNvPicPr>
            <a:picLocks noChangeAspect="1"/>
          </p:cNvPicPr>
          <p:nvPr/>
        </p:nvPicPr>
        <p:blipFill>
          <a:blip r:embed="rId2"/>
          <a:stretch>
            <a:fillRect/>
          </a:stretch>
        </p:blipFill>
        <p:spPr>
          <a:xfrm>
            <a:off x="2905548" y="3429000"/>
            <a:ext cx="6380903" cy="2980030"/>
          </a:xfrm>
          <a:prstGeom prst="rect">
            <a:avLst/>
          </a:prstGeom>
        </p:spPr>
      </p:pic>
    </p:spTree>
    <p:extLst>
      <p:ext uri="{BB962C8B-B14F-4D97-AF65-F5344CB8AC3E}">
        <p14:creationId xmlns:p14="http://schemas.microsoft.com/office/powerpoint/2010/main" val="17620070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Lifecycle(16/30)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Post-Start Container Lifecycle Hook :</a:t>
            </a:r>
            <a:endParaRPr lang="en-US" altLang="ko-KR" sz="1400" dirty="0"/>
          </a:p>
          <a:p>
            <a:pPr lvl="1">
              <a:buFont typeface="Wingdings" panose="05000000000000000000" pitchFamily="2" charset="2"/>
              <a:buChar char="§"/>
            </a:pPr>
            <a:r>
              <a:rPr lang="en-US" altLang="ko-KR" sz="1400" b="1" dirty="0"/>
              <a:t>A </a:t>
            </a:r>
            <a:r>
              <a:rPr lang="en-US" altLang="ko-KR" sz="1400" b="1" dirty="0">
                <a:solidFill>
                  <a:srgbClr val="FF0000"/>
                </a:solidFill>
              </a:rPr>
              <a:t>post-start hook </a:t>
            </a:r>
            <a:r>
              <a:rPr lang="en-US" altLang="ko-KR" sz="1400" b="1" dirty="0"/>
              <a:t>is executed immediately after the container’s main process is started</a:t>
            </a:r>
            <a:r>
              <a:rPr lang="en-US" altLang="ko-KR" sz="1400" dirty="0"/>
              <a:t>. </a:t>
            </a:r>
            <a:r>
              <a:rPr lang="en-US" altLang="ko-KR" sz="1400" b="1" dirty="0"/>
              <a:t>You use it to perform additional operations when the application starts</a:t>
            </a:r>
            <a:r>
              <a:rPr lang="en-US" altLang="ko-KR" sz="1400" dirty="0"/>
              <a:t>. Sure, if you’re the author of the application running in the container, you can always perform those operations inside the application code itself. </a:t>
            </a:r>
            <a:r>
              <a:rPr lang="en-US" altLang="ko-KR" sz="1400" b="1" dirty="0"/>
              <a:t>But when you’re running an application developed by someone else, you mostly don’t want to (or can’t) modify its source code. Post-start hooks allow you to run additional commands without having to touch the app</a:t>
            </a:r>
            <a:r>
              <a:rPr lang="en-US" altLang="ko-KR" sz="1400" dirty="0"/>
              <a:t>. </a:t>
            </a:r>
            <a:r>
              <a:rPr lang="en-US" altLang="ko-KR" sz="1400" b="1" dirty="0"/>
              <a:t>These may signal to an external listener that the app is starting, or they may initialize the application so it can start doing its job</a:t>
            </a:r>
            <a:r>
              <a:rPr lang="en-US" altLang="ko-KR" sz="1400" dirty="0"/>
              <a:t>.</a:t>
            </a:r>
          </a:p>
          <a:p>
            <a:pPr lvl="1">
              <a:buFont typeface="Wingdings" panose="05000000000000000000" pitchFamily="2" charset="2"/>
              <a:buChar char="§"/>
            </a:pPr>
            <a:r>
              <a:rPr lang="en-US" altLang="ko-KR" sz="1400" b="1" dirty="0"/>
              <a:t>The hook is run in parallel with the main process</a:t>
            </a:r>
            <a:r>
              <a:rPr lang="en-US" altLang="ko-KR" sz="1400" dirty="0"/>
              <a:t>. </a:t>
            </a:r>
            <a:r>
              <a:rPr lang="en-US" altLang="ko-KR" sz="1400" b="1" dirty="0"/>
              <a:t>The name might be somewhat misleading, because it doesn’t wait for the main process to start up fully</a:t>
            </a:r>
            <a:r>
              <a:rPr lang="en-US" altLang="ko-KR" sz="1400" dirty="0"/>
              <a:t> (if the process has an initialization procedure, the </a:t>
            </a:r>
            <a:r>
              <a:rPr lang="en-US" altLang="ko-KR" sz="1400" b="1" dirty="0" err="1"/>
              <a:t>Kubelet</a:t>
            </a:r>
            <a:r>
              <a:rPr lang="en-US" altLang="ko-KR" sz="1400" dirty="0"/>
              <a:t> obviously can’t wait for the procedure to complete, because it has no way of knowing when that is).</a:t>
            </a:r>
          </a:p>
          <a:p>
            <a:pPr lvl="1">
              <a:buFont typeface="Wingdings" panose="05000000000000000000" pitchFamily="2" charset="2"/>
              <a:buChar char="§"/>
            </a:pPr>
            <a:r>
              <a:rPr lang="en-US" altLang="ko-KR" sz="1400" b="1" dirty="0"/>
              <a:t>But even though the hook runs asynchronously, it does affect the container in two ways. Until the hook completes, </a:t>
            </a:r>
            <a:r>
              <a:rPr lang="en-US" altLang="ko-KR" sz="1400" b="1" dirty="0">
                <a:solidFill>
                  <a:srgbClr val="FF0000"/>
                </a:solidFill>
              </a:rPr>
              <a:t>the container will stay in the “Waiting” state with the reason “</a:t>
            </a:r>
            <a:r>
              <a:rPr lang="en-US" altLang="ko-KR" sz="1400" b="1" dirty="0" err="1">
                <a:solidFill>
                  <a:srgbClr val="FF0000"/>
                </a:solidFill>
              </a:rPr>
              <a:t>ContainerCreating</a:t>
            </a:r>
            <a:r>
              <a:rPr lang="en-US" altLang="ko-KR" sz="1400" b="1" dirty="0">
                <a:solidFill>
                  <a:srgbClr val="FF0000"/>
                </a:solidFill>
              </a:rPr>
              <a:t>”</a:t>
            </a:r>
            <a:r>
              <a:rPr lang="en-US" altLang="ko-KR" sz="1400" dirty="0"/>
              <a:t>. </a:t>
            </a:r>
            <a:r>
              <a:rPr lang="en-US" altLang="ko-KR" sz="1400" b="1" dirty="0"/>
              <a:t>Because of this, the pod’s status will be “Pending” instead of “Running”</a:t>
            </a:r>
            <a:r>
              <a:rPr lang="en-US" altLang="ko-KR" sz="1400" dirty="0"/>
              <a:t>. If the hook fails to run or returns a non-zero exit code, the main container will be killed.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860891D3-BFCA-8154-79FB-BEBCD7B45805}"/>
              </a:ext>
            </a:extLst>
          </p:cNvPr>
          <p:cNvPicPr>
            <a:picLocks noChangeAspect="1"/>
          </p:cNvPicPr>
          <p:nvPr/>
        </p:nvPicPr>
        <p:blipFill>
          <a:blip r:embed="rId2"/>
          <a:stretch>
            <a:fillRect/>
          </a:stretch>
        </p:blipFill>
        <p:spPr>
          <a:xfrm>
            <a:off x="2350736" y="3919779"/>
            <a:ext cx="7490527" cy="2389887"/>
          </a:xfrm>
          <a:prstGeom prst="rect">
            <a:avLst/>
          </a:prstGeom>
          <a:ln>
            <a:solidFill>
              <a:schemeClr val="bg1">
                <a:lumMod val="50000"/>
              </a:schemeClr>
            </a:solidFill>
          </a:ln>
        </p:spPr>
      </p:pic>
    </p:spTree>
    <p:extLst>
      <p:ext uri="{BB962C8B-B14F-4D97-AF65-F5344CB8AC3E}">
        <p14:creationId xmlns:p14="http://schemas.microsoft.com/office/powerpoint/2010/main" val="30729147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Lifecycle(17/30)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Post-Start Container Lifecycle Hook :</a:t>
            </a:r>
            <a:endParaRPr lang="en-US" altLang="ko-KR" sz="1400" dirty="0"/>
          </a:p>
          <a:p>
            <a:pPr lvl="1">
              <a:buFont typeface="Wingdings" panose="05000000000000000000" pitchFamily="2" charset="2"/>
              <a:buChar char="§"/>
            </a:pPr>
            <a:r>
              <a:rPr lang="en-US" altLang="ko-KR" sz="1400" b="1" dirty="0"/>
              <a:t>A pod manifest containing a post-start hook </a:t>
            </a:r>
            <a:r>
              <a:rPr lang="en-US" altLang="ko-KR" sz="1400" dirty="0"/>
              <a:t>looks like the following listing.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In the example, the “echo”, “sleep”, and “exit” commands are executed along with the container’s main process as soon as the container is created</a:t>
            </a:r>
            <a:r>
              <a:rPr lang="en-US" altLang="ko-KR" sz="1400" dirty="0"/>
              <a:t>. Rather than run a command like this, </a:t>
            </a:r>
            <a:r>
              <a:rPr lang="en-US" altLang="ko-KR" sz="1400" b="1" dirty="0"/>
              <a:t>you’d typically run a shell script or a binary executable file stored in the container image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24E1167C-A6F3-8000-15AF-D08BE279CA81}"/>
              </a:ext>
            </a:extLst>
          </p:cNvPr>
          <p:cNvGrpSpPr/>
          <p:nvPr/>
        </p:nvGrpSpPr>
        <p:grpSpPr>
          <a:xfrm>
            <a:off x="3047326" y="1665647"/>
            <a:ext cx="6097348" cy="2400657"/>
            <a:chOff x="3047326" y="3955693"/>
            <a:chExt cx="6097348" cy="2400657"/>
          </a:xfrm>
        </p:grpSpPr>
        <p:sp>
          <p:nvSpPr>
            <p:cNvPr id="8" name="TextBox 7">
              <a:extLst>
                <a:ext uri="{FF2B5EF4-FFF2-40B4-BE49-F238E27FC236}">
                  <a16:creationId xmlns:a16="http://schemas.microsoft.com/office/drawing/2014/main" id="{167210D2-2FD6-7605-2B3F-B6F1A6EF946A}"/>
                </a:ext>
              </a:extLst>
            </p:cNvPr>
            <p:cNvSpPr txBox="1"/>
            <p:nvPr/>
          </p:nvSpPr>
          <p:spPr>
            <a:xfrm>
              <a:off x="3047326" y="3955693"/>
              <a:ext cx="6097348" cy="2400657"/>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pod-with-</a:t>
              </a:r>
              <a:r>
                <a:rPr lang="en-US" altLang="ko-KR" sz="1000" b="1" dirty="0" err="1"/>
                <a:t>poststart</a:t>
              </a:r>
              <a:r>
                <a:rPr lang="en-US" altLang="ko-KR" sz="1000" b="1" dirty="0"/>
                <a:t>-hook</a:t>
              </a:r>
            </a:p>
            <a:p>
              <a:r>
                <a:rPr lang="en-US" altLang="ko-KR" sz="1000" b="1" dirty="0"/>
                <a:t>spec:</a:t>
              </a:r>
            </a:p>
            <a:p>
              <a:r>
                <a:rPr lang="en-US" altLang="ko-KR" sz="1000" b="1" dirty="0"/>
                <a:t>  containers:</a:t>
              </a:r>
            </a:p>
            <a:p>
              <a:r>
                <a:rPr lang="en-US" altLang="ko-KR" sz="1000" b="1" dirty="0"/>
                <a:t>  - image: knix008/</a:t>
              </a:r>
              <a:r>
                <a:rPr lang="en-US" altLang="ko-KR" sz="1000" b="1" dirty="0" err="1"/>
                <a:t>kubia</a:t>
              </a:r>
              <a:endParaRPr lang="en-US" altLang="ko-KR" sz="1000" b="1" dirty="0"/>
            </a:p>
            <a:p>
              <a:r>
                <a:rPr lang="en-US" altLang="ko-KR" sz="1000" b="1" dirty="0"/>
                <a:t>    name: </a:t>
              </a:r>
              <a:r>
                <a:rPr lang="en-US" altLang="ko-KR" sz="1000" b="1" dirty="0" err="1"/>
                <a:t>kubia</a:t>
              </a:r>
              <a:endParaRPr lang="en-US" altLang="ko-KR" sz="1000" b="1" dirty="0"/>
            </a:p>
            <a:p>
              <a:r>
                <a:rPr lang="en-US" altLang="ko-KR" sz="1000" b="1" dirty="0"/>
                <a:t>    </a:t>
              </a:r>
              <a:r>
                <a:rPr lang="en-US" altLang="ko-KR" sz="1000" b="1" dirty="0">
                  <a:solidFill>
                    <a:srgbClr val="FF0000"/>
                  </a:solidFill>
                </a:rPr>
                <a:t>lifecycle:</a:t>
              </a:r>
            </a:p>
            <a:p>
              <a:r>
                <a:rPr lang="en-US" altLang="ko-KR" sz="1000" b="1" dirty="0">
                  <a:solidFill>
                    <a:srgbClr val="FF0000"/>
                  </a:solidFill>
                </a:rPr>
                <a:t>      </a:t>
              </a:r>
              <a:r>
                <a:rPr lang="en-US" altLang="ko-KR" sz="1000" b="1" dirty="0" err="1">
                  <a:solidFill>
                    <a:srgbClr val="FF0000"/>
                  </a:solidFill>
                </a:rPr>
                <a:t>postStart</a:t>
              </a:r>
              <a:r>
                <a:rPr lang="en-US" altLang="ko-KR" sz="1000" b="1" dirty="0">
                  <a:solidFill>
                    <a:srgbClr val="FF0000"/>
                  </a:solidFill>
                </a:rPr>
                <a:t>:</a:t>
              </a:r>
            </a:p>
            <a:p>
              <a:r>
                <a:rPr lang="en-US" altLang="ko-KR" sz="1000" b="1" dirty="0">
                  <a:solidFill>
                    <a:srgbClr val="FF0000"/>
                  </a:solidFill>
                </a:rPr>
                <a:t>        exec:</a:t>
              </a:r>
            </a:p>
            <a:p>
              <a:r>
                <a:rPr lang="en-US" altLang="ko-KR" sz="1000" b="1" dirty="0">
                  <a:solidFill>
                    <a:srgbClr val="FF0000"/>
                  </a:solidFill>
                </a:rPr>
                <a:t>          command: </a:t>
              </a:r>
            </a:p>
            <a:p>
              <a:r>
                <a:rPr lang="en-US" altLang="ko-KR" sz="1000" b="1" dirty="0">
                  <a:solidFill>
                    <a:srgbClr val="FF0000"/>
                  </a:solidFill>
                </a:rPr>
                <a:t>          - </a:t>
              </a:r>
              <a:r>
                <a:rPr lang="en-US" altLang="ko-KR" sz="1000" b="1" dirty="0" err="1">
                  <a:solidFill>
                    <a:srgbClr val="FF0000"/>
                  </a:solidFill>
                </a:rPr>
                <a:t>sh</a:t>
              </a:r>
              <a:endParaRPr lang="en-US" altLang="ko-KR" sz="1000" b="1" dirty="0">
                <a:solidFill>
                  <a:srgbClr val="FF0000"/>
                </a:solidFill>
              </a:endParaRPr>
            </a:p>
            <a:p>
              <a:r>
                <a:rPr lang="en-US" altLang="ko-KR" sz="1000" b="1" dirty="0">
                  <a:solidFill>
                    <a:srgbClr val="FF0000"/>
                  </a:solidFill>
                </a:rPr>
                <a:t>          - -c</a:t>
              </a:r>
            </a:p>
            <a:p>
              <a:r>
                <a:rPr lang="en-US" altLang="ko-KR" sz="1000" b="1" dirty="0">
                  <a:solidFill>
                    <a:srgbClr val="FF0000"/>
                  </a:solidFill>
                </a:rPr>
                <a:t>          - "echo 'hook will fail with exit code 15'; sleep 5 ; exit 15"</a:t>
              </a:r>
            </a:p>
          </p:txBody>
        </p:sp>
        <p:sp>
          <p:nvSpPr>
            <p:cNvPr id="9" name="TextBox 8">
              <a:extLst>
                <a:ext uri="{FF2B5EF4-FFF2-40B4-BE49-F238E27FC236}">
                  <a16:creationId xmlns:a16="http://schemas.microsoft.com/office/drawing/2014/main" id="{4DCCC663-F425-E4B7-B8B9-175A651D807C}"/>
                </a:ext>
              </a:extLst>
            </p:cNvPr>
            <p:cNvSpPr txBox="1"/>
            <p:nvPr/>
          </p:nvSpPr>
          <p:spPr>
            <a:xfrm>
              <a:off x="7722489" y="3955693"/>
              <a:ext cx="1422185" cy="246221"/>
            </a:xfrm>
            <a:prstGeom prst="rect">
              <a:avLst/>
            </a:prstGeom>
            <a:noFill/>
          </p:spPr>
          <p:txBody>
            <a:bodyPr wrap="none" rtlCol="0">
              <a:spAutoFit/>
            </a:bodyPr>
            <a:lstStyle/>
            <a:p>
              <a:pPr algn="ctr"/>
              <a:r>
                <a:rPr lang="en-US" altLang="ko-KR" sz="1000" b="1" dirty="0"/>
                <a:t>post-</a:t>
              </a:r>
              <a:r>
                <a:rPr lang="en-US" altLang="ko-KR" sz="1000" b="1" dirty="0" err="1"/>
                <a:t>sart</a:t>
              </a:r>
              <a:r>
                <a:rPr lang="en-US" altLang="ko-KR" sz="1000" b="1" dirty="0"/>
                <a:t>-</a:t>
              </a:r>
              <a:r>
                <a:rPr lang="en-US" altLang="ko-KR" sz="1000" b="1" dirty="0" err="1"/>
                <a:t>hook.yaml</a:t>
              </a:r>
              <a:endParaRPr lang="ko-KR" altLang="en-US" sz="1000" b="1" dirty="0"/>
            </a:p>
          </p:txBody>
        </p:sp>
      </p:grpSp>
    </p:spTree>
    <p:extLst>
      <p:ext uri="{BB962C8B-B14F-4D97-AF65-F5344CB8AC3E}">
        <p14:creationId xmlns:p14="http://schemas.microsoft.com/office/powerpoint/2010/main" val="22084264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Lifecycle(18/30)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Post-Start Container Lifecycle Hook :</a:t>
            </a:r>
            <a:endParaRPr lang="en-US" altLang="ko-KR" sz="1400" dirty="0"/>
          </a:p>
          <a:p>
            <a:pPr lvl="1">
              <a:buFont typeface="Wingdings" panose="05000000000000000000" pitchFamily="2" charset="2"/>
              <a:buChar char="§"/>
            </a:pPr>
            <a:r>
              <a:rPr lang="en-US" altLang="ko-KR" sz="1400" b="1" dirty="0"/>
              <a:t>Sadly, if the process started by the hook logs to the standard output, you can’t see the output anywhere</a:t>
            </a:r>
            <a:r>
              <a:rPr lang="en-US" altLang="ko-KR" sz="1400" dirty="0"/>
              <a:t>. This makes debugging lifecycle hooks painful. </a:t>
            </a:r>
            <a:r>
              <a:rPr lang="en-US" altLang="ko-KR" sz="1400" b="1" dirty="0"/>
              <a:t>If the hook fails, you’ll only see a “</a:t>
            </a:r>
            <a:r>
              <a:rPr lang="en-US" altLang="ko-KR" sz="1400" b="1" dirty="0" err="1"/>
              <a:t>FailedPostStartHook</a:t>
            </a:r>
            <a:r>
              <a:rPr lang="en-US" altLang="ko-KR" sz="1400" b="1" dirty="0"/>
              <a:t>” warning among the pod’s events (you can see them using “$ </a:t>
            </a:r>
            <a:r>
              <a:rPr lang="en-US" altLang="ko-KR" sz="1400" b="1" dirty="0" err="1"/>
              <a:t>kubectl</a:t>
            </a:r>
            <a:r>
              <a:rPr lang="en-US" altLang="ko-KR" sz="1400" b="1" dirty="0"/>
              <a:t> describe pod” command)</a:t>
            </a:r>
            <a:r>
              <a:rPr lang="en-US" altLang="ko-KR" sz="1400" dirty="0"/>
              <a:t>. A while later, you’ll see more information on why the hook failed,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1425E9C7-3984-2305-836B-CE3F9FDB1F2A}"/>
              </a:ext>
            </a:extLst>
          </p:cNvPr>
          <p:cNvGrpSpPr/>
          <p:nvPr/>
        </p:nvGrpSpPr>
        <p:grpSpPr>
          <a:xfrm>
            <a:off x="838200" y="2003682"/>
            <a:ext cx="10515601" cy="4259299"/>
            <a:chOff x="838200" y="2003682"/>
            <a:chExt cx="10515601" cy="4259299"/>
          </a:xfrm>
        </p:grpSpPr>
        <p:grpSp>
          <p:nvGrpSpPr>
            <p:cNvPr id="16" name="그룹 15">
              <a:extLst>
                <a:ext uri="{FF2B5EF4-FFF2-40B4-BE49-F238E27FC236}">
                  <a16:creationId xmlns:a16="http://schemas.microsoft.com/office/drawing/2014/main" id="{0C711B19-051C-F66C-FD37-14AA3DA1B933}"/>
                </a:ext>
              </a:extLst>
            </p:cNvPr>
            <p:cNvGrpSpPr/>
            <p:nvPr/>
          </p:nvGrpSpPr>
          <p:grpSpPr>
            <a:xfrm>
              <a:off x="838200" y="2003682"/>
              <a:ext cx="10515601" cy="4259299"/>
              <a:chOff x="838199" y="2305953"/>
              <a:chExt cx="10515601" cy="4259299"/>
            </a:xfrm>
          </p:grpSpPr>
          <p:pic>
            <p:nvPicPr>
              <p:cNvPr id="8" name="그림 7">
                <a:extLst>
                  <a:ext uri="{FF2B5EF4-FFF2-40B4-BE49-F238E27FC236}">
                    <a16:creationId xmlns:a16="http://schemas.microsoft.com/office/drawing/2014/main" id="{1A2F8C50-F543-71F7-F6F5-87882DBE1599}"/>
                  </a:ext>
                </a:extLst>
              </p:cNvPr>
              <p:cNvPicPr>
                <a:picLocks noChangeAspect="1"/>
              </p:cNvPicPr>
              <p:nvPr/>
            </p:nvPicPr>
            <p:blipFill>
              <a:blip r:embed="rId2"/>
              <a:stretch>
                <a:fillRect/>
              </a:stretch>
            </p:blipFill>
            <p:spPr>
              <a:xfrm>
                <a:off x="838200" y="2305953"/>
                <a:ext cx="10515600" cy="1479974"/>
              </a:xfrm>
              <a:prstGeom prst="rect">
                <a:avLst/>
              </a:prstGeom>
            </p:spPr>
          </p:pic>
          <p:pic>
            <p:nvPicPr>
              <p:cNvPr id="15" name="그림 14">
                <a:extLst>
                  <a:ext uri="{FF2B5EF4-FFF2-40B4-BE49-F238E27FC236}">
                    <a16:creationId xmlns:a16="http://schemas.microsoft.com/office/drawing/2014/main" id="{C98D3421-1974-6234-01B4-9A49057EB67C}"/>
                  </a:ext>
                </a:extLst>
              </p:cNvPr>
              <p:cNvPicPr>
                <a:picLocks noChangeAspect="1"/>
              </p:cNvPicPr>
              <p:nvPr/>
            </p:nvPicPr>
            <p:blipFill>
              <a:blip r:embed="rId3"/>
              <a:stretch>
                <a:fillRect/>
              </a:stretch>
            </p:blipFill>
            <p:spPr>
              <a:xfrm>
                <a:off x="838199" y="3823407"/>
                <a:ext cx="10515601" cy="2741845"/>
              </a:xfrm>
              <a:prstGeom prst="rect">
                <a:avLst/>
              </a:prstGeom>
            </p:spPr>
          </p:pic>
        </p:grpSp>
        <p:sp>
          <p:nvSpPr>
            <p:cNvPr id="17" name="직사각형 16">
              <a:extLst>
                <a:ext uri="{FF2B5EF4-FFF2-40B4-BE49-F238E27FC236}">
                  <a16:creationId xmlns:a16="http://schemas.microsoft.com/office/drawing/2014/main" id="{12F2DB03-0390-6F26-ACFB-C4283D231161}"/>
                </a:ext>
              </a:extLst>
            </p:cNvPr>
            <p:cNvSpPr/>
            <p:nvPr/>
          </p:nvSpPr>
          <p:spPr>
            <a:xfrm>
              <a:off x="846291" y="5025154"/>
              <a:ext cx="10498743" cy="5583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9305248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Lifecycle(19/30)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Post-Start Container Lifecycle Hook :</a:t>
            </a:r>
            <a:endParaRPr lang="en-US" altLang="ko-KR" sz="1400" dirty="0"/>
          </a:p>
          <a:p>
            <a:pPr lvl="1">
              <a:buFont typeface="Wingdings" panose="05000000000000000000" pitchFamily="2" charset="2"/>
              <a:buChar char="§"/>
            </a:pPr>
            <a:r>
              <a:rPr lang="en-US" altLang="ko-KR" sz="1400" b="1" dirty="0"/>
              <a:t>The number “15” in the last line of the previous example is the exit code of the command</a:t>
            </a:r>
            <a:r>
              <a:rPr lang="en-US" altLang="ko-KR" sz="1400" dirty="0"/>
              <a:t>. When using an “</a:t>
            </a:r>
            <a:r>
              <a:rPr lang="en-US" altLang="ko-KR" sz="1400" b="1" dirty="0"/>
              <a:t>HTTP GET hook handler</a:t>
            </a:r>
            <a:r>
              <a:rPr lang="en-US" altLang="ko-KR" sz="1400" dirty="0"/>
              <a:t>”, the reason may look like the following listing (you can try this by deploying the “</a:t>
            </a:r>
            <a:r>
              <a:rPr lang="en-US" altLang="ko-KR" sz="1400" b="1" dirty="0"/>
              <a:t>post-start-hook-</a:t>
            </a:r>
            <a:r>
              <a:rPr lang="en-US" altLang="ko-KR" sz="1400" b="1" dirty="0" err="1"/>
              <a:t>httpget.yaml</a:t>
            </a:r>
            <a:r>
              <a:rPr lang="en-US" altLang="ko-KR" sz="1400" dirty="0"/>
              <a:t>” file from the repository).</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post-start hook is intentionally misconfigured to use port “9090” instead of the correct port “8080”</a:t>
            </a:r>
            <a:r>
              <a:rPr lang="en-US" altLang="ko-KR" sz="1400" dirty="0"/>
              <a:t>, to show what happens when the hook fails.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E3643D3A-E83C-7758-D7F4-58B927AF25B9}"/>
              </a:ext>
            </a:extLst>
          </p:cNvPr>
          <p:cNvGrpSpPr/>
          <p:nvPr/>
        </p:nvGrpSpPr>
        <p:grpSpPr>
          <a:xfrm>
            <a:off x="838200" y="1873559"/>
            <a:ext cx="10515600" cy="3832300"/>
            <a:chOff x="838200" y="1873559"/>
            <a:chExt cx="10515600" cy="3832300"/>
          </a:xfrm>
        </p:grpSpPr>
        <p:grpSp>
          <p:nvGrpSpPr>
            <p:cNvPr id="11" name="그룹 10">
              <a:extLst>
                <a:ext uri="{FF2B5EF4-FFF2-40B4-BE49-F238E27FC236}">
                  <a16:creationId xmlns:a16="http://schemas.microsoft.com/office/drawing/2014/main" id="{4B0A53DB-2B86-0014-45FD-04018A1D4B3B}"/>
                </a:ext>
              </a:extLst>
            </p:cNvPr>
            <p:cNvGrpSpPr/>
            <p:nvPr/>
          </p:nvGrpSpPr>
          <p:grpSpPr>
            <a:xfrm>
              <a:off x="838200" y="1873559"/>
              <a:ext cx="10515600" cy="3832300"/>
              <a:chOff x="838200" y="1873559"/>
              <a:chExt cx="10515600" cy="3832300"/>
            </a:xfrm>
          </p:grpSpPr>
          <p:pic>
            <p:nvPicPr>
              <p:cNvPr id="8" name="그림 7">
                <a:extLst>
                  <a:ext uri="{FF2B5EF4-FFF2-40B4-BE49-F238E27FC236}">
                    <a16:creationId xmlns:a16="http://schemas.microsoft.com/office/drawing/2014/main" id="{ED6807BE-877A-774F-BFA9-9F130E5AF79C}"/>
                  </a:ext>
                </a:extLst>
              </p:cNvPr>
              <p:cNvPicPr>
                <a:picLocks noChangeAspect="1"/>
              </p:cNvPicPr>
              <p:nvPr/>
            </p:nvPicPr>
            <p:blipFill>
              <a:blip r:embed="rId2"/>
              <a:stretch>
                <a:fillRect/>
              </a:stretch>
            </p:blipFill>
            <p:spPr>
              <a:xfrm>
                <a:off x="838200" y="1873559"/>
                <a:ext cx="10515600" cy="1737022"/>
              </a:xfrm>
              <a:prstGeom prst="rect">
                <a:avLst/>
              </a:prstGeom>
            </p:spPr>
          </p:pic>
          <p:pic>
            <p:nvPicPr>
              <p:cNvPr id="10" name="그림 9">
                <a:extLst>
                  <a:ext uri="{FF2B5EF4-FFF2-40B4-BE49-F238E27FC236}">
                    <a16:creationId xmlns:a16="http://schemas.microsoft.com/office/drawing/2014/main" id="{F54B2ADA-C2BD-639A-5068-EB75833E06C4}"/>
                  </a:ext>
                </a:extLst>
              </p:cNvPr>
              <p:cNvPicPr>
                <a:picLocks noChangeAspect="1"/>
              </p:cNvPicPr>
              <p:nvPr/>
            </p:nvPicPr>
            <p:blipFill>
              <a:blip r:embed="rId3"/>
              <a:stretch>
                <a:fillRect/>
              </a:stretch>
            </p:blipFill>
            <p:spPr>
              <a:xfrm>
                <a:off x="838200" y="3657265"/>
                <a:ext cx="10515600" cy="2048594"/>
              </a:xfrm>
              <a:prstGeom prst="rect">
                <a:avLst/>
              </a:prstGeom>
            </p:spPr>
          </p:pic>
        </p:grpSp>
        <p:sp>
          <p:nvSpPr>
            <p:cNvPr id="12" name="직사각형 11">
              <a:extLst>
                <a:ext uri="{FF2B5EF4-FFF2-40B4-BE49-F238E27FC236}">
                  <a16:creationId xmlns:a16="http://schemas.microsoft.com/office/drawing/2014/main" id="{FC2DFD29-9C2E-2ACB-7AE9-5A5A341AEC51}"/>
                </a:ext>
              </a:extLst>
            </p:cNvPr>
            <p:cNvSpPr/>
            <p:nvPr/>
          </p:nvSpPr>
          <p:spPr>
            <a:xfrm>
              <a:off x="838200" y="5017062"/>
              <a:ext cx="10515600" cy="4369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05381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Lifecycle(20/30)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Post-Start Container Lifecycle Hook :</a:t>
            </a:r>
            <a:endParaRPr lang="en-US" altLang="ko-KR" sz="1400" dirty="0"/>
          </a:p>
          <a:p>
            <a:pPr lvl="1">
              <a:buFont typeface="Wingdings" panose="05000000000000000000" pitchFamily="2" charset="2"/>
              <a:buChar char="§"/>
            </a:pPr>
            <a:r>
              <a:rPr lang="en-US" altLang="ko-KR" sz="1400" b="1" dirty="0"/>
              <a:t>The standard and error outputs of command-based post-start hooks aren’t logged anywhere</a:t>
            </a:r>
            <a:r>
              <a:rPr lang="en-US" altLang="ko-KR" sz="1400" dirty="0"/>
              <a:t>, </a:t>
            </a:r>
            <a:r>
              <a:rPr lang="en-US" altLang="ko-KR" sz="1400" b="1" dirty="0"/>
              <a:t>so you may want to have the process the hook invokes </a:t>
            </a:r>
            <a:r>
              <a:rPr lang="en-US" altLang="ko-KR" sz="1400" b="1" dirty="0">
                <a:solidFill>
                  <a:srgbClr val="FF0000"/>
                </a:solidFill>
              </a:rPr>
              <a:t>log to a file in the container’s filesystem</a:t>
            </a:r>
            <a:r>
              <a:rPr lang="en-US" altLang="ko-KR" sz="1400" dirty="0"/>
              <a:t>, which will allow you to examine the contents of the file with something 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If the container gets restarted for whatever reason (including because the hook failed), the file may be gone before you can examine it</a:t>
            </a:r>
            <a:r>
              <a:rPr lang="en-US" altLang="ko-KR" sz="1400" dirty="0"/>
              <a:t>. You can work around that by </a:t>
            </a:r>
            <a:r>
              <a:rPr lang="en-US" altLang="ko-KR" sz="1400" b="1" dirty="0"/>
              <a:t>mounting an “</a:t>
            </a:r>
            <a:r>
              <a:rPr lang="en-US" altLang="ko-KR" sz="1400" b="1" dirty="0" err="1">
                <a:solidFill>
                  <a:srgbClr val="FF0000"/>
                </a:solidFill>
              </a:rPr>
              <a:t>emptyDir</a:t>
            </a:r>
            <a:r>
              <a:rPr lang="en-US" altLang="ko-KR" sz="1400" b="1" dirty="0"/>
              <a:t>” volume into the container and having the hook write to it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FCF34C7-15C7-F781-A099-34544F0291CC}"/>
              </a:ext>
            </a:extLst>
          </p:cNvPr>
          <p:cNvSpPr txBox="1"/>
          <p:nvPr/>
        </p:nvSpPr>
        <p:spPr>
          <a:xfrm>
            <a:off x="3047326" y="1870711"/>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my-pod cat logfile.txt</a:t>
            </a:r>
            <a:endParaRPr lang="ko-KR" altLang="en-US" sz="1000" b="1" dirty="0"/>
          </a:p>
        </p:txBody>
      </p:sp>
      <p:pic>
        <p:nvPicPr>
          <p:cNvPr id="9" name="그림 8">
            <a:extLst>
              <a:ext uri="{FF2B5EF4-FFF2-40B4-BE49-F238E27FC236}">
                <a16:creationId xmlns:a16="http://schemas.microsoft.com/office/drawing/2014/main" id="{84A8D35B-EBD4-5512-2D3C-FC129B8D691D}"/>
              </a:ext>
            </a:extLst>
          </p:cNvPr>
          <p:cNvPicPr>
            <a:picLocks noChangeAspect="1"/>
          </p:cNvPicPr>
          <p:nvPr/>
        </p:nvPicPr>
        <p:blipFill>
          <a:blip r:embed="rId2"/>
          <a:stretch>
            <a:fillRect/>
          </a:stretch>
        </p:blipFill>
        <p:spPr>
          <a:xfrm>
            <a:off x="3241671" y="2969849"/>
            <a:ext cx="5708657" cy="3160430"/>
          </a:xfrm>
          <a:prstGeom prst="rect">
            <a:avLst/>
          </a:prstGeom>
        </p:spPr>
      </p:pic>
    </p:spTree>
    <p:extLst>
      <p:ext uri="{BB962C8B-B14F-4D97-AF65-F5344CB8AC3E}">
        <p14:creationId xmlns:p14="http://schemas.microsoft.com/office/powerpoint/2010/main" val="39573231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Lifecycle(21/30)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Pre-Stop Container Lifecycle Hook :</a:t>
            </a:r>
            <a:endParaRPr lang="en-US" altLang="ko-KR" sz="1400" dirty="0"/>
          </a:p>
          <a:p>
            <a:pPr lvl="1">
              <a:buFont typeface="Wingdings" panose="05000000000000000000" pitchFamily="2" charset="2"/>
              <a:buChar char="§"/>
            </a:pPr>
            <a:r>
              <a:rPr lang="en-US" altLang="ko-KR" sz="1400" b="1" dirty="0">
                <a:solidFill>
                  <a:srgbClr val="FF0000"/>
                </a:solidFill>
              </a:rPr>
              <a:t>A pre-stop hook is executed immediately before a container is terminated</a:t>
            </a:r>
            <a:r>
              <a:rPr lang="en-US" altLang="ko-KR" sz="1400" dirty="0"/>
              <a:t>. </a:t>
            </a:r>
            <a:r>
              <a:rPr lang="en-US" altLang="ko-KR" sz="1400" b="1" dirty="0"/>
              <a:t>When a container needs to be terminated, the </a:t>
            </a:r>
            <a:r>
              <a:rPr lang="en-US" altLang="ko-KR" sz="1400" b="1" dirty="0" err="1"/>
              <a:t>Kubelet</a:t>
            </a:r>
            <a:r>
              <a:rPr lang="en-US" altLang="ko-KR" sz="1400" b="1" dirty="0"/>
              <a:t> will run the pre-stop hook, if configured, and only then send a SIGTERM to the process </a:t>
            </a:r>
            <a:r>
              <a:rPr lang="en-US" altLang="ko-KR" sz="1400" dirty="0"/>
              <a:t>(and later kill the process if it doesn’t terminate gracefully).</a:t>
            </a:r>
          </a:p>
          <a:p>
            <a:pPr lvl="1">
              <a:buFont typeface="Wingdings" panose="05000000000000000000" pitchFamily="2" charset="2"/>
              <a:buChar char="§"/>
            </a:pPr>
            <a:r>
              <a:rPr lang="en-US" altLang="ko-KR" sz="1400" b="1" dirty="0"/>
              <a:t>A pre-stop hook can be used to initiate a graceful shutdown of the container, if it doesn’t shut down gracefully upon receipt of a SIGTERM signal</a:t>
            </a:r>
            <a:r>
              <a:rPr lang="en-US" altLang="ko-KR" sz="1400" dirty="0"/>
              <a:t>. They can also be used to </a:t>
            </a:r>
            <a:r>
              <a:rPr lang="en-US" altLang="ko-KR" sz="1400" b="1" dirty="0"/>
              <a:t>perform arbitrary operations before shutdown without having to implement those operations in the application itself </a:t>
            </a:r>
            <a:r>
              <a:rPr lang="en-US" altLang="ko-KR" sz="1400" dirty="0"/>
              <a:t>(this is useful when you’re running a third-party app, whose source code you don’t have access to and/or can’t modify).</a:t>
            </a:r>
          </a:p>
          <a:p>
            <a:pPr lvl="1">
              <a:buFont typeface="Wingdings" panose="05000000000000000000" pitchFamily="2" charset="2"/>
              <a:buChar char="§"/>
            </a:pPr>
            <a:r>
              <a:rPr lang="en-US" altLang="ko-KR" sz="1400" b="1" dirty="0"/>
              <a:t>Configuring a pre-stop hook in a pod manifest isn’t very different from adding a post-start hook</a:t>
            </a:r>
            <a:r>
              <a:rPr lang="en-US" altLang="ko-KR" sz="1400" dirty="0"/>
              <a:t>. The previous example showed a post-start hook that executes a command, so </a:t>
            </a:r>
            <a:r>
              <a:rPr lang="en-US" altLang="ko-KR" sz="1400" b="1" dirty="0"/>
              <a:t>we’ll look at a pre-stop hook that performs an HTTP GET request now</a:t>
            </a:r>
            <a:r>
              <a:rPr lang="en-US" altLang="ko-KR" sz="1400" dirty="0"/>
              <a:t>. The following listing shows how to define a “</a:t>
            </a:r>
            <a:r>
              <a:rPr lang="en-US" altLang="ko-KR" sz="1400" b="1" dirty="0"/>
              <a:t>pre-stop HTTP GET hook</a:t>
            </a:r>
            <a:r>
              <a:rPr lang="en-US" altLang="ko-KR" sz="1400" dirty="0"/>
              <a:t>” in a pod.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BCB8D2F-E061-97E6-AA3C-C3DF05675C9F}"/>
              </a:ext>
            </a:extLst>
          </p:cNvPr>
          <p:cNvSpPr txBox="1"/>
          <p:nvPr/>
        </p:nvSpPr>
        <p:spPr>
          <a:xfrm>
            <a:off x="3047326" y="3429000"/>
            <a:ext cx="6097348" cy="2554545"/>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pod-with-</a:t>
            </a:r>
            <a:r>
              <a:rPr lang="en-US" altLang="ko-KR" sz="1000" b="1" dirty="0" err="1"/>
              <a:t>prestop</a:t>
            </a:r>
            <a:r>
              <a:rPr lang="en-US" altLang="ko-KR" sz="1000" b="1" dirty="0"/>
              <a:t>-hook</a:t>
            </a:r>
          </a:p>
          <a:p>
            <a:r>
              <a:rPr lang="en-US" altLang="ko-KR" sz="1000" b="1" dirty="0"/>
              <a:t>spec:</a:t>
            </a:r>
          </a:p>
          <a:p>
            <a:r>
              <a:rPr lang="en-US" altLang="ko-KR" sz="1000" b="1" dirty="0"/>
              <a:t>  containers:</a:t>
            </a:r>
          </a:p>
          <a:p>
            <a:r>
              <a:rPr lang="en-US" altLang="ko-KR" sz="1000" b="1" dirty="0"/>
              <a:t>  - image: knix008/</a:t>
            </a:r>
            <a:r>
              <a:rPr lang="en-US" altLang="ko-KR" sz="1000" b="1" dirty="0" err="1"/>
              <a:t>kubia</a:t>
            </a:r>
            <a:endParaRPr lang="en-US" altLang="ko-KR" sz="1000" b="1" dirty="0"/>
          </a:p>
          <a:p>
            <a:r>
              <a:rPr lang="en-US" altLang="ko-KR" sz="1000" b="1" dirty="0"/>
              <a:t>    name: </a:t>
            </a:r>
            <a:r>
              <a:rPr lang="en-US" altLang="ko-KR" sz="1000" b="1" dirty="0" err="1"/>
              <a:t>kubia</a:t>
            </a:r>
            <a:endParaRPr lang="en-US" altLang="ko-KR" sz="1000" b="1" dirty="0"/>
          </a:p>
          <a:p>
            <a:r>
              <a:rPr lang="en-US" altLang="ko-KR" sz="1000" b="1" dirty="0"/>
              <a:t>    ports:</a:t>
            </a:r>
          </a:p>
          <a:p>
            <a:r>
              <a:rPr lang="en-US" altLang="ko-KR" sz="1000" b="1" dirty="0"/>
              <a:t>    - </a:t>
            </a:r>
            <a:r>
              <a:rPr lang="en-US" altLang="ko-KR" sz="1000" b="1" dirty="0" err="1"/>
              <a:t>containerPort</a:t>
            </a:r>
            <a:r>
              <a:rPr lang="en-US" altLang="ko-KR" sz="1000" b="1" dirty="0"/>
              <a:t>: 8080</a:t>
            </a:r>
          </a:p>
          <a:p>
            <a:r>
              <a:rPr lang="en-US" altLang="ko-KR" sz="1000" b="1" dirty="0"/>
              <a:t>      protocol: TCP</a:t>
            </a:r>
          </a:p>
          <a:p>
            <a:r>
              <a:rPr lang="en-US" altLang="ko-KR" sz="1000" b="1" dirty="0">
                <a:solidFill>
                  <a:srgbClr val="FF0000"/>
                </a:solidFill>
              </a:rPr>
              <a:t>    lifecycle:</a:t>
            </a:r>
          </a:p>
          <a:p>
            <a:r>
              <a:rPr lang="en-US" altLang="ko-KR" sz="1000" b="1" dirty="0">
                <a:solidFill>
                  <a:srgbClr val="FF0000"/>
                </a:solidFill>
              </a:rPr>
              <a:t>      </a:t>
            </a:r>
            <a:r>
              <a:rPr lang="en-US" altLang="ko-KR" sz="1000" b="1" dirty="0" err="1">
                <a:solidFill>
                  <a:srgbClr val="FF0000"/>
                </a:solidFill>
              </a:rPr>
              <a:t>preStop</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httpGet</a:t>
            </a:r>
            <a:r>
              <a:rPr lang="en-US" altLang="ko-KR" sz="1000" b="1" dirty="0">
                <a:solidFill>
                  <a:srgbClr val="FF0000"/>
                </a:solidFill>
              </a:rPr>
              <a:t>:</a:t>
            </a:r>
          </a:p>
          <a:p>
            <a:r>
              <a:rPr lang="en-US" altLang="ko-KR" sz="1000" b="1" dirty="0">
                <a:solidFill>
                  <a:srgbClr val="FF0000"/>
                </a:solidFill>
              </a:rPr>
              <a:t>          port: 8080</a:t>
            </a:r>
          </a:p>
          <a:p>
            <a:r>
              <a:rPr lang="en-US" altLang="ko-KR" sz="1000" b="1" dirty="0">
                <a:solidFill>
                  <a:srgbClr val="FF0000"/>
                </a:solidFill>
              </a:rPr>
              <a:t>          path: shutdown</a:t>
            </a:r>
          </a:p>
        </p:txBody>
      </p:sp>
      <p:sp>
        <p:nvSpPr>
          <p:cNvPr id="9" name="TextBox 8">
            <a:extLst>
              <a:ext uri="{FF2B5EF4-FFF2-40B4-BE49-F238E27FC236}">
                <a16:creationId xmlns:a16="http://schemas.microsoft.com/office/drawing/2014/main" id="{72B3148F-8873-E85C-946D-35BEA07686D6}"/>
              </a:ext>
            </a:extLst>
          </p:cNvPr>
          <p:cNvSpPr txBox="1"/>
          <p:nvPr/>
        </p:nvSpPr>
        <p:spPr>
          <a:xfrm>
            <a:off x="7238382" y="3429000"/>
            <a:ext cx="1906292" cy="246221"/>
          </a:xfrm>
          <a:prstGeom prst="rect">
            <a:avLst/>
          </a:prstGeom>
          <a:noFill/>
        </p:spPr>
        <p:txBody>
          <a:bodyPr wrap="none" rtlCol="0">
            <a:spAutoFit/>
          </a:bodyPr>
          <a:lstStyle/>
          <a:p>
            <a:pPr algn="ctr"/>
            <a:r>
              <a:rPr lang="en-US" altLang="ko-KR" sz="1000" b="1" dirty="0"/>
              <a:t>pre-stop-hook-</a:t>
            </a:r>
            <a:r>
              <a:rPr lang="en-US" altLang="ko-KR" sz="1000" b="1" dirty="0" err="1"/>
              <a:t>httpget.yaml</a:t>
            </a:r>
            <a:endParaRPr lang="ko-KR" altLang="en-US" sz="1000" b="1" dirty="0"/>
          </a:p>
        </p:txBody>
      </p:sp>
    </p:spTree>
    <p:extLst>
      <p:ext uri="{BB962C8B-B14F-4D97-AF65-F5344CB8AC3E}">
        <p14:creationId xmlns:p14="http://schemas.microsoft.com/office/powerpoint/2010/main" val="21130851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Lifecycle(22/30)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Pre-Stop Container Lifecycle Hook :</a:t>
            </a:r>
            <a:endParaRPr lang="en-US" altLang="ko-KR" sz="1400" dirty="0"/>
          </a:p>
          <a:p>
            <a:pPr lvl="1">
              <a:buFont typeface="Wingdings" panose="05000000000000000000" pitchFamily="2" charset="2"/>
              <a:buChar char="§"/>
            </a:pPr>
            <a:r>
              <a:rPr lang="en-US" altLang="ko-KR" sz="1400" b="1" dirty="0"/>
              <a:t>The pre-stop hook defined in the previous listing performs an “HTTP GET request” to http://POD_IP:8080/shutdown(path) as soon as the </a:t>
            </a:r>
            <a:r>
              <a:rPr lang="en-US" altLang="ko-KR" sz="1400" b="1" dirty="0" err="1"/>
              <a:t>Kubelet</a:t>
            </a:r>
            <a:r>
              <a:rPr lang="en-US" altLang="ko-KR" sz="1400" b="1" dirty="0"/>
              <a:t> starts terminating the container</a:t>
            </a:r>
            <a:r>
              <a:rPr lang="en-US" altLang="ko-KR" sz="1400" dirty="0"/>
              <a:t>. Apart from the port and path shown in the listing, </a:t>
            </a:r>
            <a:r>
              <a:rPr lang="en-US" altLang="ko-KR" sz="1400" b="1" dirty="0"/>
              <a:t>you can also set the fields scheme (“HTTP” or “HTTPS”) and host, as well as “</a:t>
            </a:r>
            <a:r>
              <a:rPr lang="en-US" altLang="ko-KR" sz="1400" b="1" dirty="0" err="1"/>
              <a:t>httpHeaders</a:t>
            </a:r>
            <a:r>
              <a:rPr lang="en-US" altLang="ko-KR" sz="1400" b="1" dirty="0"/>
              <a:t>” that should be sent in the request</a:t>
            </a:r>
            <a:r>
              <a:rPr lang="en-US" altLang="ko-KR" sz="1400" dirty="0"/>
              <a:t>. </a:t>
            </a:r>
            <a:r>
              <a:rPr lang="en-US" altLang="ko-KR" sz="1400" b="1" dirty="0"/>
              <a:t>The “host” field defaults to the pod “IP”</a:t>
            </a:r>
            <a:r>
              <a:rPr lang="en-US" altLang="ko-KR" sz="1400" dirty="0"/>
              <a:t>. </a:t>
            </a:r>
            <a:r>
              <a:rPr lang="en-US" altLang="ko-KR" sz="1400" b="1" dirty="0"/>
              <a:t>Be sure not to set it to “localhost”, because “localhost” would refer to the node, not the pod</a:t>
            </a:r>
            <a:r>
              <a:rPr lang="en-US" altLang="ko-KR" sz="1400" dirty="0"/>
              <a:t>.</a:t>
            </a:r>
          </a:p>
          <a:p>
            <a:pPr lvl="1">
              <a:buFont typeface="Wingdings" panose="05000000000000000000" pitchFamily="2" charset="2"/>
              <a:buChar char="§"/>
            </a:pPr>
            <a:r>
              <a:rPr lang="en-US" altLang="ko-KR" sz="1400" b="1" dirty="0">
                <a:solidFill>
                  <a:srgbClr val="FF0000"/>
                </a:solidFill>
              </a:rPr>
              <a:t>In contrast to the post-start hook, the container will be terminated regardless of the result of the hook</a:t>
            </a:r>
            <a:r>
              <a:rPr lang="en-US" altLang="ko-KR" sz="1400" b="1" dirty="0"/>
              <a:t>—an error “HTTP” response code or a non-zero exit code when using a command-based hook will not prevent the container from being terminated</a:t>
            </a:r>
            <a:r>
              <a:rPr lang="en-US" altLang="ko-KR" sz="1400" dirty="0"/>
              <a:t>. If the pre-stop hook fails, you’ll see a “</a:t>
            </a:r>
            <a:r>
              <a:rPr lang="en-US" altLang="ko-KR" sz="1400" b="1" dirty="0" err="1"/>
              <a:t>FailedPreStopHook</a:t>
            </a:r>
            <a:r>
              <a:rPr lang="en-US" altLang="ko-KR" sz="1400" dirty="0"/>
              <a:t>” </a:t>
            </a:r>
            <a:r>
              <a:rPr lang="en-US" altLang="ko-KR" sz="1400" b="1" dirty="0"/>
              <a:t>warning event among the pod’s events</a:t>
            </a:r>
            <a:r>
              <a:rPr lang="en-US" altLang="ko-KR" sz="1400" dirty="0"/>
              <a:t>, but because the pod is deleted soon afterward (after all, the pod’s deletion is what triggered the pre-stop hook in the first place), </a:t>
            </a:r>
            <a:r>
              <a:rPr lang="en-US" altLang="ko-KR" sz="1400" b="1" dirty="0"/>
              <a:t>you may not even notice that the pre-stop hook failed to run properly</a:t>
            </a:r>
            <a:r>
              <a:rPr lang="en-US" altLang="ko-KR" sz="1400" dirty="0"/>
              <a:t>.</a:t>
            </a:r>
          </a:p>
          <a:p>
            <a:pPr lvl="1">
              <a:buFont typeface="Wingdings" panose="05000000000000000000" pitchFamily="2" charset="2"/>
              <a:buChar char="§"/>
            </a:pPr>
            <a:r>
              <a:rPr lang="en-US" altLang="ko-KR" sz="1400" b="1" dirty="0"/>
              <a:t>NOTE : If the successful completion of the pre-stop hook is critical to the proper operation of your system, verify whether it’s being executed at all</a:t>
            </a:r>
            <a:r>
              <a:rPr lang="en-US" altLang="ko-KR" sz="1400" dirty="0"/>
              <a:t>. We can find situations where the pre-stop hook didn’t run and the developer wasn’t even aware of that.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48ACBEC-FFF7-B9D9-4565-A9B3248AD76B}"/>
              </a:ext>
            </a:extLst>
          </p:cNvPr>
          <p:cNvPicPr>
            <a:picLocks noChangeAspect="1"/>
          </p:cNvPicPr>
          <p:nvPr/>
        </p:nvPicPr>
        <p:blipFill>
          <a:blip r:embed="rId2"/>
          <a:stretch>
            <a:fillRect/>
          </a:stretch>
        </p:blipFill>
        <p:spPr>
          <a:xfrm>
            <a:off x="3761110" y="4048036"/>
            <a:ext cx="4669779" cy="2360994"/>
          </a:xfrm>
          <a:prstGeom prst="rect">
            <a:avLst/>
          </a:prstGeom>
        </p:spPr>
      </p:pic>
    </p:spTree>
    <p:extLst>
      <p:ext uri="{BB962C8B-B14F-4D97-AF65-F5344CB8AC3E}">
        <p14:creationId xmlns:p14="http://schemas.microsoft.com/office/powerpoint/2010/main" val="23152769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Lifecycle(23/30)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Pre-Stop Hook Because Your App Doesn’t Receive The SIGTERM Signal :</a:t>
            </a:r>
            <a:endParaRPr lang="en-US" altLang="ko-KR" sz="1400" dirty="0"/>
          </a:p>
          <a:p>
            <a:pPr lvl="1">
              <a:buFont typeface="Wingdings" panose="05000000000000000000" pitchFamily="2" charset="2"/>
              <a:buChar char="§"/>
            </a:pPr>
            <a:r>
              <a:rPr lang="en-US" altLang="ko-KR" sz="1400" b="1" dirty="0"/>
              <a:t>Many developers make the mistake of defining a pre-stop hook solely to send a SIGTERM signal to their apps in the pre-stop hook</a:t>
            </a:r>
            <a:r>
              <a:rPr lang="en-US" altLang="ko-KR" sz="1400" dirty="0"/>
              <a:t>. </a:t>
            </a:r>
            <a:r>
              <a:rPr lang="en-US" altLang="ko-KR" sz="1400" b="1" dirty="0"/>
              <a:t>They do this because they don’t see their application receive the SIGTERM signal sent by the </a:t>
            </a:r>
            <a:r>
              <a:rPr lang="en-US" altLang="ko-KR" sz="1400" b="1" dirty="0" err="1"/>
              <a:t>Kubelet</a:t>
            </a:r>
            <a:r>
              <a:rPr lang="en-US" altLang="ko-KR" sz="1400" dirty="0"/>
              <a:t>. The reason why the signal isn’t received by the application isn’t because Kubernetes isn’t sending it, but because </a:t>
            </a:r>
            <a:r>
              <a:rPr lang="en-US" altLang="ko-KR" sz="1400" b="1" dirty="0"/>
              <a:t>the signal isn’t being passed to the app process inside the container itself</a:t>
            </a:r>
            <a:r>
              <a:rPr lang="en-US" altLang="ko-KR" sz="1400" dirty="0"/>
              <a:t>. </a:t>
            </a:r>
            <a:r>
              <a:rPr lang="en-US" altLang="ko-KR" sz="1400" b="1" dirty="0"/>
              <a:t>If your container image is configured to run a shell, which in turn runs the app process, </a:t>
            </a:r>
            <a:r>
              <a:rPr lang="en-US" altLang="ko-KR" sz="1400" b="1" dirty="0">
                <a:solidFill>
                  <a:srgbClr val="FF0000"/>
                </a:solidFill>
              </a:rPr>
              <a:t>the signal may be eaten up by the shell itself</a:t>
            </a:r>
            <a:r>
              <a:rPr lang="en-US" altLang="ko-KR" sz="1400" b="1" dirty="0"/>
              <a:t>, instead of being passed down to the child process</a:t>
            </a:r>
            <a:r>
              <a:rPr lang="en-US" altLang="ko-KR" sz="1400" dirty="0"/>
              <a:t>.</a:t>
            </a:r>
          </a:p>
          <a:p>
            <a:pPr lvl="1">
              <a:buFont typeface="Wingdings" panose="05000000000000000000" pitchFamily="2" charset="2"/>
              <a:buChar char="§"/>
            </a:pPr>
            <a:r>
              <a:rPr lang="en-US" altLang="ko-KR" sz="1400" b="1" dirty="0"/>
              <a:t>In such cases, instead of adding a pre-stop hook to send the signal directly to your app, </a:t>
            </a:r>
            <a:r>
              <a:rPr lang="en-US" altLang="ko-KR" sz="1400" b="1" dirty="0">
                <a:solidFill>
                  <a:srgbClr val="FF0000"/>
                </a:solidFill>
              </a:rPr>
              <a:t>the proper fix is to make sure the shell passes the signal to the app</a:t>
            </a:r>
            <a:r>
              <a:rPr lang="en-US" altLang="ko-KR" sz="1400" dirty="0"/>
              <a:t>. </a:t>
            </a:r>
            <a:r>
              <a:rPr lang="en-US" altLang="ko-KR" sz="1400" b="1" dirty="0"/>
              <a:t>This can be achieved by handling the signal in </a:t>
            </a:r>
            <a:r>
              <a:rPr lang="en-US" altLang="ko-KR" sz="1400" b="1" dirty="0">
                <a:solidFill>
                  <a:srgbClr val="FF0000"/>
                </a:solidFill>
              </a:rPr>
              <a:t>the shell script running as the main container process and then passing it on to the app</a:t>
            </a:r>
            <a:r>
              <a:rPr lang="en-US" altLang="ko-KR" sz="1400" dirty="0"/>
              <a:t>. </a:t>
            </a:r>
            <a:r>
              <a:rPr lang="en-US" altLang="ko-KR" sz="1400" b="1" dirty="0"/>
              <a:t>Or you could not configure the container image to run a shell at all and instead </a:t>
            </a:r>
            <a:r>
              <a:rPr lang="en-US" altLang="ko-KR" sz="1400" b="1" dirty="0">
                <a:solidFill>
                  <a:srgbClr val="FF0000"/>
                </a:solidFill>
              </a:rPr>
              <a:t>run the application binary directly</a:t>
            </a:r>
            <a:r>
              <a:rPr lang="en-US" altLang="ko-KR" sz="1400" dirty="0"/>
              <a:t>. You do this by </a:t>
            </a:r>
            <a:r>
              <a:rPr lang="en-US" altLang="ko-KR" sz="1400" b="1" dirty="0"/>
              <a:t>using the exec form of “ENTRYPOINT” or “CMD” in the “</a:t>
            </a:r>
            <a:r>
              <a:rPr lang="en-US" altLang="ko-KR" sz="1400" b="1" dirty="0" err="1"/>
              <a:t>Dockerfile</a:t>
            </a:r>
            <a:r>
              <a:rPr lang="en-US" altLang="ko-KR" sz="1400" b="1" dirty="0"/>
              <a:t>” : “</a:t>
            </a:r>
            <a:r>
              <a:rPr lang="en-US" altLang="ko-KR" sz="1400" b="1" dirty="0">
                <a:solidFill>
                  <a:srgbClr val="FF0000"/>
                </a:solidFill>
              </a:rPr>
              <a:t>ENTRYPOINT ["/</a:t>
            </a:r>
            <a:r>
              <a:rPr lang="en-US" altLang="ko-KR" sz="1400" b="1" dirty="0" err="1">
                <a:solidFill>
                  <a:srgbClr val="FF0000"/>
                </a:solidFill>
              </a:rPr>
              <a:t>mybinary</a:t>
            </a:r>
            <a:r>
              <a:rPr lang="en-US" altLang="ko-KR" sz="1400" b="1" dirty="0">
                <a:solidFill>
                  <a:srgbClr val="FF0000"/>
                </a:solidFill>
              </a:rPr>
              <a:t>"]</a:t>
            </a:r>
            <a:r>
              <a:rPr lang="en-US" altLang="ko-KR" sz="1400" b="1" dirty="0"/>
              <a:t>” instead of “ENTRYPOINT /</a:t>
            </a:r>
            <a:r>
              <a:rPr lang="en-US" altLang="ko-KR" sz="1400" b="1" dirty="0" err="1"/>
              <a:t>mybinary</a:t>
            </a:r>
            <a:r>
              <a:rPr lang="en-US" altLang="ko-KR" sz="1400" b="1" dirty="0"/>
              <a:t>”</a:t>
            </a:r>
            <a:r>
              <a:rPr lang="en-US" altLang="ko-KR" sz="1400" dirty="0"/>
              <a:t>.</a:t>
            </a:r>
          </a:p>
          <a:p>
            <a:pPr lvl="1">
              <a:buFont typeface="Wingdings" panose="05000000000000000000" pitchFamily="2" charset="2"/>
              <a:buChar char="§"/>
            </a:pPr>
            <a:r>
              <a:rPr lang="en-US" altLang="ko-KR" sz="1400" b="1" dirty="0">
                <a:solidFill>
                  <a:srgbClr val="FF0000"/>
                </a:solidFill>
              </a:rPr>
              <a:t>A container using the first form runs the “</a:t>
            </a:r>
            <a:r>
              <a:rPr lang="en-US" altLang="ko-KR" sz="1400" b="1" dirty="0" err="1">
                <a:solidFill>
                  <a:srgbClr val="FF0000"/>
                </a:solidFill>
              </a:rPr>
              <a:t>mybinary</a:t>
            </a:r>
            <a:r>
              <a:rPr lang="en-US" altLang="ko-KR" sz="1400" b="1" dirty="0">
                <a:solidFill>
                  <a:srgbClr val="FF0000"/>
                </a:solidFill>
              </a:rPr>
              <a:t>” executable as its main process</a:t>
            </a:r>
            <a:r>
              <a:rPr lang="en-US" altLang="ko-KR" sz="1400" b="1" dirty="0"/>
              <a:t>, whereas the second form runs a shell as the main process with the “</a:t>
            </a:r>
            <a:r>
              <a:rPr lang="en-US" altLang="ko-KR" sz="1400" b="1" dirty="0" err="1"/>
              <a:t>mybinary</a:t>
            </a:r>
            <a:r>
              <a:rPr lang="en-US" altLang="ko-KR" sz="1400" b="1" dirty="0"/>
              <a:t>” process executed as a child of the shell process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7BD4B8D6-D1DE-05E3-0F98-00E0A9160BE4}"/>
              </a:ext>
            </a:extLst>
          </p:cNvPr>
          <p:cNvGrpSpPr/>
          <p:nvPr/>
        </p:nvGrpSpPr>
        <p:grpSpPr>
          <a:xfrm>
            <a:off x="3608964" y="4042058"/>
            <a:ext cx="4974072" cy="2366972"/>
            <a:chOff x="3608964" y="4042058"/>
            <a:chExt cx="4974072" cy="2366972"/>
          </a:xfrm>
        </p:grpSpPr>
        <p:pic>
          <p:nvPicPr>
            <p:cNvPr id="4" name="그림 3">
              <a:extLst>
                <a:ext uri="{FF2B5EF4-FFF2-40B4-BE49-F238E27FC236}">
                  <a16:creationId xmlns:a16="http://schemas.microsoft.com/office/drawing/2014/main" id="{40B7BD74-D0A1-2B64-FC9F-14AFC627660C}"/>
                </a:ext>
              </a:extLst>
            </p:cNvPr>
            <p:cNvPicPr>
              <a:picLocks noChangeAspect="1"/>
            </p:cNvPicPr>
            <p:nvPr/>
          </p:nvPicPr>
          <p:blipFill>
            <a:blip r:embed="rId2"/>
            <a:stretch>
              <a:fillRect/>
            </a:stretch>
          </p:blipFill>
          <p:spPr>
            <a:xfrm>
              <a:off x="3608964" y="4042058"/>
              <a:ext cx="4974072" cy="2366972"/>
            </a:xfrm>
            <a:prstGeom prst="rect">
              <a:avLst/>
            </a:prstGeom>
          </p:spPr>
        </p:pic>
        <p:sp>
          <p:nvSpPr>
            <p:cNvPr id="8" name="직사각형 7">
              <a:extLst>
                <a:ext uri="{FF2B5EF4-FFF2-40B4-BE49-F238E27FC236}">
                  <a16:creationId xmlns:a16="http://schemas.microsoft.com/office/drawing/2014/main" id="{DBCDFBE8-AA7B-74BB-2C0E-1B6A2143A7CF}"/>
                </a:ext>
              </a:extLst>
            </p:cNvPr>
            <p:cNvSpPr/>
            <p:nvPr/>
          </p:nvSpPr>
          <p:spPr>
            <a:xfrm>
              <a:off x="4199766" y="4677196"/>
              <a:ext cx="2427611" cy="2670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479753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Lifecycle(24/30)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That Lifecycle Hooks Target Containers, Not Pods :</a:t>
            </a:r>
            <a:endParaRPr lang="en-US" altLang="ko-KR" sz="1400" dirty="0"/>
          </a:p>
          <a:p>
            <a:pPr lvl="1">
              <a:buFont typeface="Wingdings" panose="05000000000000000000" pitchFamily="2" charset="2"/>
              <a:buChar char="§"/>
            </a:pPr>
            <a:r>
              <a:rPr lang="en-US" altLang="ko-KR" sz="1400" b="1" dirty="0">
                <a:solidFill>
                  <a:srgbClr val="FF0000"/>
                </a:solidFill>
              </a:rPr>
              <a:t>As a final thought on post-start and pre-stop hooks, these lifecycle hooks relate to containers, not pods</a:t>
            </a:r>
            <a:r>
              <a:rPr lang="en-US" altLang="ko-KR" sz="1400" dirty="0"/>
              <a:t>. </a:t>
            </a:r>
            <a:r>
              <a:rPr lang="en-US" altLang="ko-KR" sz="1400" b="1" dirty="0"/>
              <a:t>You shouldn’t use a pre-stop hook for running actions that need to be performed when the pod is terminating</a:t>
            </a:r>
            <a:r>
              <a:rPr lang="en-US" altLang="ko-KR" sz="1400" dirty="0"/>
              <a:t>. The reason is that the pre-stop hook gets called when the container is being terminated (most likely because of a failed liveness probe). This may happen multiple times in the pod’s lifetime, not only when the pod is in the process of being shut down.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87D4959F-9F16-6D96-7AE8-4D4FCD7975A5}"/>
              </a:ext>
            </a:extLst>
          </p:cNvPr>
          <p:cNvPicPr>
            <a:picLocks noChangeAspect="1"/>
          </p:cNvPicPr>
          <p:nvPr/>
        </p:nvPicPr>
        <p:blipFill>
          <a:blip r:embed="rId2"/>
          <a:stretch>
            <a:fillRect/>
          </a:stretch>
        </p:blipFill>
        <p:spPr>
          <a:xfrm>
            <a:off x="3308555" y="2485103"/>
            <a:ext cx="5574890" cy="1887794"/>
          </a:xfrm>
          <a:prstGeom prst="rect">
            <a:avLst/>
          </a:prstGeom>
        </p:spPr>
      </p:pic>
    </p:spTree>
    <p:extLst>
      <p:ext uri="{BB962C8B-B14F-4D97-AF65-F5344CB8AC3E}">
        <p14:creationId xmlns:p14="http://schemas.microsoft.com/office/powerpoint/2010/main" val="25333123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Lifecycle(25/30)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Pod Shutdown :</a:t>
            </a:r>
            <a:endParaRPr lang="en-US" altLang="ko-KR" sz="1400" dirty="0"/>
          </a:p>
          <a:p>
            <a:pPr lvl="1">
              <a:buFont typeface="Wingdings" panose="05000000000000000000" pitchFamily="2" charset="2"/>
              <a:buChar char="§"/>
            </a:pPr>
            <a:r>
              <a:rPr lang="en-US" altLang="ko-KR" sz="1400" b="1" dirty="0">
                <a:solidFill>
                  <a:srgbClr val="FF0000"/>
                </a:solidFill>
              </a:rPr>
              <a:t>A pod’s shut-down is triggered by the deletion of the Pod object through the API server</a:t>
            </a:r>
            <a:r>
              <a:rPr lang="en-US" altLang="ko-KR" sz="1400" b="1" dirty="0"/>
              <a:t>.</a:t>
            </a:r>
            <a:r>
              <a:rPr lang="en-US" altLang="ko-KR" sz="1400" dirty="0"/>
              <a:t> </a:t>
            </a:r>
            <a:r>
              <a:rPr lang="en-US" altLang="ko-KR" sz="1400" b="1" dirty="0"/>
              <a:t>Upon receiving an “HTTP DELETE request”, the API server doesn’t delete the object yet, but only sets a “</a:t>
            </a:r>
            <a:r>
              <a:rPr lang="en-US" altLang="ko-KR" sz="1400" b="1" dirty="0" err="1">
                <a:solidFill>
                  <a:srgbClr val="FF0000"/>
                </a:solidFill>
              </a:rPr>
              <a:t>deletionTimestamp</a:t>
            </a:r>
            <a:r>
              <a:rPr lang="en-US" altLang="ko-KR" sz="1400" b="1" dirty="0"/>
              <a:t>” field in it</a:t>
            </a:r>
            <a:r>
              <a:rPr lang="en-US" altLang="ko-KR" sz="1400" dirty="0"/>
              <a:t>. </a:t>
            </a:r>
            <a:r>
              <a:rPr lang="en-US" altLang="ko-KR" sz="1400" b="1" dirty="0"/>
              <a:t>Pods that have the “</a:t>
            </a:r>
            <a:r>
              <a:rPr lang="en-US" altLang="ko-KR" sz="1400" b="1" dirty="0" err="1"/>
              <a:t>deletionTimestamp</a:t>
            </a:r>
            <a:r>
              <a:rPr lang="en-US" altLang="ko-KR" sz="1400" b="1" dirty="0"/>
              <a:t>” field set are terminating</a:t>
            </a:r>
            <a:r>
              <a:rPr lang="en-US" altLang="ko-KR" sz="1400" dirty="0"/>
              <a:t>.</a:t>
            </a:r>
          </a:p>
          <a:p>
            <a:pPr lvl="1">
              <a:buFont typeface="Wingdings" panose="05000000000000000000" pitchFamily="2" charset="2"/>
              <a:buChar char="§"/>
            </a:pPr>
            <a:r>
              <a:rPr lang="en-US" altLang="ko-KR" sz="1400" b="1" dirty="0"/>
              <a:t>Once the </a:t>
            </a:r>
            <a:r>
              <a:rPr lang="en-US" altLang="ko-KR" sz="1400" b="1" dirty="0" err="1"/>
              <a:t>Kubelet</a:t>
            </a:r>
            <a:r>
              <a:rPr lang="en-US" altLang="ko-KR" sz="1400" b="1" dirty="0"/>
              <a:t> notices the pod needs to be terminated, it starts terminating each of the pod’s containers</a:t>
            </a:r>
            <a:r>
              <a:rPr lang="en-US" altLang="ko-KR" sz="1400" dirty="0"/>
              <a:t>. </a:t>
            </a:r>
            <a:r>
              <a:rPr lang="en-US" altLang="ko-KR" sz="1400" b="1" dirty="0"/>
              <a:t>It gives each container time to shut down gracefully, but the time is limited</a:t>
            </a:r>
            <a:r>
              <a:rPr lang="en-US" altLang="ko-KR" sz="1400" dirty="0"/>
              <a:t>. That time is called “</a:t>
            </a:r>
            <a:r>
              <a:rPr lang="en-US" altLang="ko-KR" sz="1400" b="1" dirty="0">
                <a:solidFill>
                  <a:srgbClr val="FF0000"/>
                </a:solidFill>
              </a:rPr>
              <a:t>the termination grace period</a:t>
            </a:r>
            <a:r>
              <a:rPr lang="en-US" altLang="ko-KR" sz="1400" dirty="0"/>
              <a:t>” </a:t>
            </a:r>
            <a:r>
              <a:rPr lang="en-US" altLang="ko-KR" sz="1400" b="1" dirty="0"/>
              <a:t>and is configurable per pod</a:t>
            </a:r>
            <a:r>
              <a:rPr lang="en-US" altLang="ko-KR" sz="1400" dirty="0"/>
              <a:t>. The timer starts as soon as the termination process starts. Then the following sequence of events is performed :</a:t>
            </a:r>
          </a:p>
          <a:p>
            <a:pPr marL="1257300" lvl="2" indent="-342900">
              <a:buFont typeface="+mj-lt"/>
              <a:buAutoNum type="arabicPeriod"/>
            </a:pPr>
            <a:r>
              <a:rPr lang="en-US" altLang="ko-KR" sz="1400" b="1" dirty="0"/>
              <a:t>Run the pre-stop hook</a:t>
            </a:r>
            <a:r>
              <a:rPr lang="en-US" altLang="ko-KR" sz="1400" dirty="0"/>
              <a:t>, if one is configured, and wait for it to finish.</a:t>
            </a:r>
          </a:p>
          <a:p>
            <a:pPr marL="1257300" lvl="2" indent="-342900">
              <a:buFont typeface="+mj-lt"/>
              <a:buAutoNum type="arabicPeriod"/>
            </a:pPr>
            <a:r>
              <a:rPr lang="en-US" altLang="ko-KR" sz="1400" b="1" dirty="0"/>
              <a:t>Send the SIGTERM signal to the main process of the container</a:t>
            </a:r>
            <a:r>
              <a:rPr lang="en-US" altLang="ko-KR" sz="1400" dirty="0"/>
              <a:t>.</a:t>
            </a:r>
          </a:p>
          <a:p>
            <a:pPr marL="1257300" lvl="2" indent="-342900">
              <a:buFont typeface="+mj-lt"/>
              <a:buAutoNum type="arabicPeriod"/>
            </a:pPr>
            <a:r>
              <a:rPr lang="en-US" altLang="ko-KR" sz="1400" b="1" dirty="0"/>
              <a:t>Wait until the container shuts down cleanly </a:t>
            </a:r>
            <a:r>
              <a:rPr lang="en-US" altLang="ko-KR" sz="1400" dirty="0"/>
              <a:t>or </a:t>
            </a:r>
            <a:r>
              <a:rPr lang="en-US" altLang="ko-KR" sz="1400" b="1" dirty="0"/>
              <a:t>until the termination grace period runs out</a:t>
            </a:r>
            <a:r>
              <a:rPr lang="en-US" altLang="ko-KR" sz="1400" dirty="0"/>
              <a:t>.</a:t>
            </a:r>
          </a:p>
          <a:p>
            <a:pPr marL="1257300" lvl="2" indent="-342900">
              <a:buFont typeface="+mj-lt"/>
              <a:buAutoNum type="arabicPeriod"/>
            </a:pPr>
            <a:r>
              <a:rPr lang="en-US" altLang="ko-KR" sz="1400" b="1" dirty="0"/>
              <a:t>Forcibly kill the process with SIGKILL</a:t>
            </a:r>
            <a:r>
              <a:rPr lang="en-US" altLang="ko-KR" sz="1400" dirty="0"/>
              <a:t>, </a:t>
            </a:r>
            <a:r>
              <a:rPr lang="en-US" altLang="ko-KR" sz="1400" b="1" dirty="0"/>
              <a:t>if it hasn’t terminated gracefully yet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5E2798F-A0EE-6026-447D-92BF032ABBA9}"/>
              </a:ext>
            </a:extLst>
          </p:cNvPr>
          <p:cNvPicPr>
            <a:picLocks noChangeAspect="1"/>
          </p:cNvPicPr>
          <p:nvPr/>
        </p:nvPicPr>
        <p:blipFill>
          <a:blip r:embed="rId2"/>
          <a:stretch>
            <a:fillRect/>
          </a:stretch>
        </p:blipFill>
        <p:spPr>
          <a:xfrm>
            <a:off x="3362632" y="3924379"/>
            <a:ext cx="5466735" cy="1809135"/>
          </a:xfrm>
          <a:prstGeom prst="rect">
            <a:avLst/>
          </a:prstGeom>
        </p:spPr>
      </p:pic>
    </p:spTree>
    <p:extLst>
      <p:ext uri="{BB962C8B-B14F-4D97-AF65-F5344CB8AC3E}">
        <p14:creationId xmlns:p14="http://schemas.microsoft.com/office/powerpoint/2010/main" val="380378471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Lifecycle(26/30)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the Termination Grace Period :</a:t>
            </a:r>
            <a:endParaRPr lang="en-US" altLang="ko-KR" sz="1400" dirty="0"/>
          </a:p>
          <a:p>
            <a:pPr lvl="1">
              <a:buFont typeface="Wingdings" panose="05000000000000000000" pitchFamily="2" charset="2"/>
              <a:buChar char="§"/>
            </a:pPr>
            <a:r>
              <a:rPr lang="en-US" altLang="ko-KR" sz="1400" b="1" dirty="0"/>
              <a:t>The termination grace period can be configured in the pod spec by setting the “</a:t>
            </a:r>
            <a:r>
              <a:rPr lang="en-US" altLang="ko-KR" sz="1400" b="1" dirty="0" err="1">
                <a:solidFill>
                  <a:srgbClr val="FF0000"/>
                </a:solidFill>
              </a:rPr>
              <a:t>spec.terminationGracePeriodSeconds</a:t>
            </a:r>
            <a:r>
              <a:rPr lang="en-US" altLang="ko-KR" sz="1400" b="1" dirty="0"/>
              <a:t>” field</a:t>
            </a:r>
            <a:r>
              <a:rPr lang="en-US" altLang="ko-KR" sz="1400" dirty="0"/>
              <a:t>. </a:t>
            </a:r>
            <a:r>
              <a:rPr lang="en-US" altLang="ko-KR" sz="1400" b="1" dirty="0"/>
              <a:t>It defaults to “30”, which means the pod’s containers will be given 30 seconds to terminate gracefully before they’re killed forcibly</a:t>
            </a:r>
            <a:r>
              <a:rPr lang="en-US" altLang="ko-KR" sz="1400" dirty="0"/>
              <a:t>.</a:t>
            </a:r>
          </a:p>
          <a:p>
            <a:pPr lvl="1">
              <a:buFont typeface="Wingdings" panose="05000000000000000000" pitchFamily="2" charset="2"/>
              <a:buChar char="§"/>
            </a:pPr>
            <a:r>
              <a:rPr lang="en-US" altLang="ko-KR" sz="1400" b="1" dirty="0"/>
              <a:t>NOTE : You should set the grace period to long enough so your process can finish cleaning up in that time</a:t>
            </a:r>
            <a:r>
              <a:rPr lang="en-US" altLang="ko-KR" sz="1400" dirty="0"/>
              <a:t>.</a:t>
            </a:r>
          </a:p>
          <a:p>
            <a:pPr lvl="1">
              <a:buFont typeface="Wingdings" panose="05000000000000000000" pitchFamily="2" charset="2"/>
              <a:buChar char="§"/>
            </a:pPr>
            <a:r>
              <a:rPr lang="en-US" altLang="ko-KR" sz="1400" dirty="0"/>
              <a:t>The grace period specified in the pod spec can also be overridden when deleting the pod 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will make the </a:t>
            </a:r>
            <a:r>
              <a:rPr lang="en-US" altLang="ko-KR" sz="1400" b="1" dirty="0" err="1"/>
              <a:t>Kubelet</a:t>
            </a:r>
            <a:r>
              <a:rPr lang="en-US" altLang="ko-KR" sz="1400" b="1" dirty="0"/>
              <a:t> wait five seconds for the pod to shut down cleanly</a:t>
            </a:r>
            <a:r>
              <a:rPr lang="en-US" altLang="ko-KR" sz="1400" dirty="0"/>
              <a:t>. </a:t>
            </a:r>
            <a:r>
              <a:rPr lang="en-US" altLang="ko-KR" sz="1400" b="1" dirty="0"/>
              <a:t>When all the pod’s containers stop, the </a:t>
            </a:r>
            <a:r>
              <a:rPr lang="en-US" altLang="ko-KR" sz="1400" b="1" dirty="0" err="1"/>
              <a:t>Kubelet</a:t>
            </a:r>
            <a:r>
              <a:rPr lang="en-US" altLang="ko-KR" sz="1400" b="1" dirty="0"/>
              <a:t> notifies the API server and the Pod resource is finally deleted</a:t>
            </a:r>
            <a:r>
              <a:rPr lang="en-US" altLang="ko-KR" sz="1400" dirty="0"/>
              <a:t>. You can force the API server to delete the resource immediately, without waiting for confirmation, by setting the grace period to zero and adding the “</a:t>
            </a:r>
            <a:r>
              <a:rPr lang="en-US" altLang="ko-KR" sz="1400" b="1" dirty="0">
                <a:solidFill>
                  <a:srgbClr val="FF0000"/>
                </a:solidFill>
              </a:rPr>
              <a:t>--force</a:t>
            </a:r>
            <a:r>
              <a:rPr lang="en-US" altLang="ko-KR" sz="1400" dirty="0"/>
              <a:t>” option like this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A2439FC-64C3-25AD-8095-8312BC9CA72A}"/>
              </a:ext>
            </a:extLst>
          </p:cNvPr>
          <p:cNvSpPr txBox="1"/>
          <p:nvPr/>
        </p:nvSpPr>
        <p:spPr>
          <a:xfrm>
            <a:off x="3047326" y="2518074"/>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pod </a:t>
            </a:r>
            <a:r>
              <a:rPr lang="en-US" altLang="ko-KR" sz="1000" b="1" dirty="0" err="1"/>
              <a:t>mypod</a:t>
            </a:r>
            <a:r>
              <a:rPr lang="en-US" altLang="ko-KR" sz="1000" b="1" dirty="0"/>
              <a:t> </a:t>
            </a:r>
            <a:r>
              <a:rPr lang="en-US" altLang="ko-KR" sz="1000" b="1" dirty="0">
                <a:solidFill>
                  <a:srgbClr val="FF0000"/>
                </a:solidFill>
              </a:rPr>
              <a:t>--grace-period=5</a:t>
            </a:r>
          </a:p>
        </p:txBody>
      </p:sp>
      <p:sp>
        <p:nvSpPr>
          <p:cNvPr id="12" name="TextBox 11">
            <a:extLst>
              <a:ext uri="{FF2B5EF4-FFF2-40B4-BE49-F238E27FC236}">
                <a16:creationId xmlns:a16="http://schemas.microsoft.com/office/drawing/2014/main" id="{E20384D2-3EAD-88E4-24F4-48D79B4F734B}"/>
              </a:ext>
            </a:extLst>
          </p:cNvPr>
          <p:cNvSpPr txBox="1"/>
          <p:nvPr/>
        </p:nvSpPr>
        <p:spPr>
          <a:xfrm>
            <a:off x="3047326" y="4093706"/>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pod </a:t>
            </a:r>
            <a:r>
              <a:rPr lang="en-US" altLang="ko-KR" sz="1000" b="1" dirty="0" err="1"/>
              <a:t>mypod</a:t>
            </a:r>
            <a:r>
              <a:rPr lang="en-US" altLang="ko-KR" sz="1000" b="1" dirty="0"/>
              <a:t> </a:t>
            </a:r>
            <a:r>
              <a:rPr lang="en-US" altLang="ko-KR" sz="1000" b="1" dirty="0">
                <a:solidFill>
                  <a:srgbClr val="FF0000"/>
                </a:solidFill>
              </a:rPr>
              <a:t>--grace-period=0 --force</a:t>
            </a:r>
            <a:endParaRPr lang="ko-KR" altLang="en-US" sz="1000" b="1" dirty="0">
              <a:solidFill>
                <a:srgbClr val="FF0000"/>
              </a:solidFill>
            </a:endParaRPr>
          </a:p>
        </p:txBody>
      </p:sp>
    </p:spTree>
    <p:extLst>
      <p:ext uri="{BB962C8B-B14F-4D97-AF65-F5344CB8AC3E}">
        <p14:creationId xmlns:p14="http://schemas.microsoft.com/office/powerpoint/2010/main" val="5810716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Lifecycle(27/30)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the Termination Grace Period :</a:t>
            </a:r>
            <a:endParaRPr lang="en-US" altLang="ko-KR" sz="1400" dirty="0"/>
          </a:p>
          <a:p>
            <a:pPr lvl="1">
              <a:buFont typeface="Wingdings" panose="05000000000000000000" pitchFamily="2" charset="2"/>
              <a:buChar char="§"/>
            </a:pPr>
            <a:r>
              <a:rPr lang="en-US" altLang="ko-KR" sz="1400" b="1" dirty="0"/>
              <a:t>Be careful when using “--force” option, especially with pods of a “</a:t>
            </a:r>
            <a:r>
              <a:rPr lang="en-US" altLang="ko-KR" sz="1400" b="1" dirty="0" err="1"/>
              <a:t>StatefulSet</a:t>
            </a:r>
            <a:r>
              <a:rPr lang="en-US" altLang="ko-KR" sz="1400" b="1" dirty="0"/>
              <a:t>”. The “</a:t>
            </a:r>
            <a:r>
              <a:rPr lang="en-US" altLang="ko-KR" sz="1400" b="1" dirty="0" err="1"/>
              <a:t>StatefulSet</a:t>
            </a:r>
            <a:r>
              <a:rPr lang="en-US" altLang="ko-KR" sz="1400" b="1" dirty="0"/>
              <a:t>” controller takes great care to never run two instances of the same pod at the same time (two pods with the same ordinal index and name and attached to the same “</a:t>
            </a:r>
            <a:r>
              <a:rPr lang="en-US" altLang="ko-KR" sz="1400" b="1" dirty="0" err="1"/>
              <a:t>PersistentVolume</a:t>
            </a:r>
            <a:r>
              <a:rPr lang="en-US" altLang="ko-KR" sz="1400" b="1" dirty="0"/>
              <a:t>”)</a:t>
            </a:r>
            <a:r>
              <a:rPr lang="en-US" altLang="ko-KR" sz="1400" dirty="0"/>
              <a:t>. By force-deleting a pod, you’ll cause the controller to create a replacement pod without waiting for the containers of the deleted pod to shut down. In other words, two instances of the same pod might be running at the same time, which may cause your stateful cluster to malfunction. </a:t>
            </a:r>
            <a:r>
              <a:rPr lang="en-US" altLang="ko-KR" sz="1400" b="1" dirty="0"/>
              <a:t>Only delete stateful pods forcibly when you’re absolutely sure the pod isn’t running anymore or can’t talk to the other members of the cluster </a:t>
            </a:r>
            <a:r>
              <a:rPr lang="en-US" altLang="ko-KR" sz="1400" dirty="0"/>
              <a:t>(you can be sure of this when you confirm that the node that hosted the pod has failed or has been disconnected from the network and can’t reconnect).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A5F1DC7-4BD9-DA02-A7C9-7815349A494E}"/>
              </a:ext>
            </a:extLst>
          </p:cNvPr>
          <p:cNvGrpSpPr/>
          <p:nvPr/>
        </p:nvGrpSpPr>
        <p:grpSpPr>
          <a:xfrm>
            <a:off x="2781300" y="3086434"/>
            <a:ext cx="6629400" cy="2876550"/>
            <a:chOff x="2781300" y="3086434"/>
            <a:chExt cx="6629400" cy="2876550"/>
          </a:xfrm>
        </p:grpSpPr>
        <p:pic>
          <p:nvPicPr>
            <p:cNvPr id="4" name="그림 3">
              <a:extLst>
                <a:ext uri="{FF2B5EF4-FFF2-40B4-BE49-F238E27FC236}">
                  <a16:creationId xmlns:a16="http://schemas.microsoft.com/office/drawing/2014/main" id="{F4C16A99-B3BB-09EB-C2B1-A1A9FE1C4642}"/>
                </a:ext>
              </a:extLst>
            </p:cNvPr>
            <p:cNvPicPr>
              <a:picLocks noChangeAspect="1"/>
            </p:cNvPicPr>
            <p:nvPr/>
          </p:nvPicPr>
          <p:blipFill>
            <a:blip r:embed="rId2"/>
            <a:stretch>
              <a:fillRect/>
            </a:stretch>
          </p:blipFill>
          <p:spPr>
            <a:xfrm>
              <a:off x="2781300" y="3086434"/>
              <a:ext cx="6629400" cy="2876550"/>
            </a:xfrm>
            <a:prstGeom prst="rect">
              <a:avLst/>
            </a:prstGeom>
          </p:spPr>
        </p:pic>
        <p:sp>
          <p:nvSpPr>
            <p:cNvPr id="11" name="TextBox 10">
              <a:extLst>
                <a:ext uri="{FF2B5EF4-FFF2-40B4-BE49-F238E27FC236}">
                  <a16:creationId xmlns:a16="http://schemas.microsoft.com/office/drawing/2014/main" id="{B987FE63-5726-74D5-03A0-0F89E02B339B}"/>
                </a:ext>
              </a:extLst>
            </p:cNvPr>
            <p:cNvSpPr txBox="1"/>
            <p:nvPr/>
          </p:nvSpPr>
          <p:spPr>
            <a:xfrm>
              <a:off x="4498331" y="4075018"/>
              <a:ext cx="2218059" cy="246221"/>
            </a:xfrm>
            <a:prstGeom prst="rect">
              <a:avLst/>
            </a:prstGeom>
            <a:noFill/>
          </p:spPr>
          <p:txBody>
            <a:bodyPr wrap="square">
              <a:spAutoFit/>
            </a:bodyPr>
            <a:lstStyle/>
            <a:p>
              <a:r>
                <a:rPr lang="en-US" altLang="ko-KR" sz="1000" b="1" dirty="0" err="1">
                  <a:solidFill>
                    <a:srgbClr val="FF0000"/>
                  </a:solidFill>
                </a:rPr>
                <a:t>terminationGracePeriodSeconds</a:t>
              </a:r>
              <a:r>
                <a:rPr lang="en-US" altLang="ko-KR" sz="1000" b="1" dirty="0">
                  <a:solidFill>
                    <a:srgbClr val="FF0000"/>
                  </a:solidFill>
                </a:rPr>
                <a:t> :</a:t>
              </a:r>
              <a:endParaRPr lang="ko-KR" altLang="en-US" sz="1000" dirty="0"/>
            </a:p>
          </p:txBody>
        </p:sp>
      </p:grpSp>
    </p:spTree>
    <p:extLst>
      <p:ext uri="{BB962C8B-B14F-4D97-AF65-F5344CB8AC3E}">
        <p14:creationId xmlns:p14="http://schemas.microsoft.com/office/powerpoint/2010/main" val="27416705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Lifecycle(28/30)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Implementing the Proper Shutdown Handler in Your Application :</a:t>
            </a:r>
            <a:endParaRPr lang="en-US" altLang="ko-KR" sz="1400" dirty="0"/>
          </a:p>
          <a:p>
            <a:pPr lvl="1">
              <a:buFont typeface="Wingdings" panose="05000000000000000000" pitchFamily="2" charset="2"/>
              <a:buChar char="§"/>
            </a:pPr>
            <a:r>
              <a:rPr lang="en-US" altLang="ko-KR" sz="1400" b="1" dirty="0"/>
              <a:t>Applications should react to a “</a:t>
            </a:r>
            <a:r>
              <a:rPr lang="en-US" altLang="ko-KR" sz="1400" b="1" dirty="0">
                <a:solidFill>
                  <a:srgbClr val="FF0000"/>
                </a:solidFill>
              </a:rPr>
              <a:t>SIGTERM</a:t>
            </a:r>
            <a:r>
              <a:rPr lang="en-US" altLang="ko-KR" sz="1400" b="1" dirty="0"/>
              <a:t>” signal by starting their shut-down procedure and terminating when it finishes</a:t>
            </a:r>
            <a:r>
              <a:rPr lang="en-US" altLang="ko-KR" sz="1400" dirty="0"/>
              <a:t>. </a:t>
            </a:r>
            <a:r>
              <a:rPr lang="en-US" altLang="ko-KR" sz="1400" b="1" dirty="0"/>
              <a:t>Instead of handling the SIGTERM signal, the application can be notified to shut down through a “</a:t>
            </a:r>
            <a:r>
              <a:rPr lang="en-US" altLang="ko-KR" sz="1400" b="1" dirty="0">
                <a:solidFill>
                  <a:srgbClr val="FF0000"/>
                </a:solidFill>
              </a:rPr>
              <a:t>pre-stop hook</a:t>
            </a:r>
            <a:r>
              <a:rPr lang="en-US" altLang="ko-KR" sz="1400" b="1" dirty="0"/>
              <a:t>”</a:t>
            </a:r>
            <a:r>
              <a:rPr lang="en-US" altLang="ko-KR" sz="1400" dirty="0"/>
              <a:t>. In both cases, the app then only has </a:t>
            </a:r>
            <a:r>
              <a:rPr lang="en-US" altLang="ko-KR" sz="1400" b="1" dirty="0"/>
              <a:t>a fixed amount of time to terminate cleanly</a:t>
            </a:r>
            <a:r>
              <a:rPr lang="en-US" altLang="ko-KR" sz="1400" dirty="0"/>
              <a:t>. </a:t>
            </a:r>
          </a:p>
          <a:p>
            <a:pPr lvl="1">
              <a:buFont typeface="Wingdings" panose="05000000000000000000" pitchFamily="2" charset="2"/>
              <a:buChar char="§"/>
            </a:pPr>
            <a:r>
              <a:rPr lang="en-US" altLang="ko-KR" sz="1400" dirty="0"/>
              <a:t>But what if you can’t predict how long the app will take to shut down cleanly? For example, imagine your app is a distributed data store. On scale-down, one of the pod instances will be deleted and therefore shut down. In the shut-down procedure, the pod needs to migrate all its data to the remaining pods to make sure it’s not lost. Should the pod start migrating the data upon receiving a termination signal (through either the SIGTERM signal or through a pre-stop hook)?</a:t>
            </a:r>
          </a:p>
          <a:p>
            <a:pPr lvl="1">
              <a:buFont typeface="Wingdings" panose="05000000000000000000" pitchFamily="2" charset="2"/>
              <a:buChar char="§"/>
            </a:pPr>
            <a:r>
              <a:rPr lang="en-US" altLang="ko-KR" sz="1400" dirty="0"/>
              <a:t>Absolutely not! This is not recommended for at least the following two reasons :</a:t>
            </a:r>
          </a:p>
          <a:p>
            <a:pPr lvl="2">
              <a:buFont typeface="Wingdings" panose="05000000000000000000" pitchFamily="2" charset="2"/>
              <a:buChar char="§"/>
            </a:pPr>
            <a:r>
              <a:rPr lang="en-US" altLang="ko-KR" sz="1400" b="1" dirty="0"/>
              <a:t>A container terminating doesn’t necessarily mean the whole pod is being terminated</a:t>
            </a:r>
            <a:r>
              <a:rPr lang="en-US" altLang="ko-KR" sz="1400" dirty="0"/>
              <a:t>.</a:t>
            </a:r>
          </a:p>
          <a:p>
            <a:pPr lvl="2">
              <a:buFont typeface="Wingdings" panose="05000000000000000000" pitchFamily="2" charset="2"/>
              <a:buChar char="§"/>
            </a:pPr>
            <a:r>
              <a:rPr lang="en-US" altLang="ko-KR" sz="1400" b="1" dirty="0"/>
              <a:t>You have no guarantee the shut-down procedure will finish before the process is killed</a:t>
            </a:r>
            <a:r>
              <a:rPr lang="en-US" altLang="ko-KR" sz="1400" dirty="0"/>
              <a:t>.</a:t>
            </a:r>
          </a:p>
          <a:p>
            <a:pPr lvl="1">
              <a:buFont typeface="Wingdings" panose="05000000000000000000" pitchFamily="2" charset="2"/>
              <a:buChar char="§"/>
            </a:pPr>
            <a:r>
              <a:rPr lang="en-US" altLang="ko-KR" sz="1400" b="1" dirty="0"/>
              <a:t>This second scenario doesn’t happen only when the grace period runs out before the application has finished shutting down gracefully, but also when the node running the pod fails in the middle of the container shut-down sequence</a:t>
            </a:r>
            <a:r>
              <a:rPr lang="en-US" altLang="ko-KR" sz="1400" dirty="0"/>
              <a:t>. Even if the node then starts up again, the </a:t>
            </a:r>
            <a:r>
              <a:rPr lang="en-US" altLang="ko-KR" sz="1400" dirty="0" err="1"/>
              <a:t>Kubelet</a:t>
            </a:r>
            <a:r>
              <a:rPr lang="en-US" altLang="ko-KR" sz="1400" dirty="0"/>
              <a:t> will not restart the shut-down procedure (it won’t even start up the container again). </a:t>
            </a:r>
            <a:r>
              <a:rPr lang="en-US" altLang="ko-KR" sz="1400" b="1" dirty="0"/>
              <a:t>There are absolutely no guarantees that the pod will be allowed to complete its whole shut-down procedure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DCDDA26-CBBD-3271-10B2-336CAC362980}"/>
              </a:ext>
            </a:extLst>
          </p:cNvPr>
          <p:cNvPicPr>
            <a:picLocks noChangeAspect="1"/>
          </p:cNvPicPr>
          <p:nvPr/>
        </p:nvPicPr>
        <p:blipFill>
          <a:blip r:embed="rId2"/>
          <a:stretch>
            <a:fillRect/>
          </a:stretch>
        </p:blipFill>
        <p:spPr>
          <a:xfrm>
            <a:off x="4118846" y="4565626"/>
            <a:ext cx="3954307" cy="1843404"/>
          </a:xfrm>
          <a:prstGeom prst="rect">
            <a:avLst/>
          </a:prstGeom>
        </p:spPr>
      </p:pic>
    </p:spTree>
    <p:extLst>
      <p:ext uri="{BB962C8B-B14F-4D97-AF65-F5344CB8AC3E}">
        <p14:creationId xmlns:p14="http://schemas.microsoft.com/office/powerpoint/2010/main" val="22589296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Lifecycle(29/30)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Replacing Critical Shut-Down Procedures with Dedicated Shut-Down Procedure Pods :</a:t>
            </a:r>
            <a:endParaRPr lang="en-US" altLang="ko-KR" sz="1400" dirty="0"/>
          </a:p>
          <a:p>
            <a:pPr lvl="1">
              <a:buFont typeface="Wingdings" panose="05000000000000000000" pitchFamily="2" charset="2"/>
              <a:buChar char="§"/>
            </a:pPr>
            <a:r>
              <a:rPr lang="en-US" altLang="ko-KR" sz="1400" b="1" dirty="0"/>
              <a:t>How do you ensure that a critical shut-down procedure that absolutely must run to completion does run to completion </a:t>
            </a:r>
            <a:r>
              <a:rPr lang="en-US" altLang="ko-KR" sz="1400" dirty="0"/>
              <a:t>(for example, to ensure that a pod’s data is migrated to other pods)?</a:t>
            </a:r>
          </a:p>
          <a:p>
            <a:pPr lvl="1">
              <a:buFont typeface="Wingdings" panose="05000000000000000000" pitchFamily="2" charset="2"/>
              <a:buChar char="§"/>
            </a:pPr>
            <a:r>
              <a:rPr lang="en-US" altLang="ko-KR" sz="1400" dirty="0"/>
              <a:t>One solution is for the app (upon receipt of a termination signal) to </a:t>
            </a:r>
            <a:r>
              <a:rPr lang="en-US" altLang="ko-KR" sz="1400" b="1" dirty="0"/>
              <a:t>create a new Job resource that would run a new pod, whose sole “</a:t>
            </a:r>
            <a:r>
              <a:rPr lang="en-US" altLang="ko-KR" sz="1400" b="1" dirty="0">
                <a:solidFill>
                  <a:srgbClr val="FF0000"/>
                </a:solidFill>
              </a:rPr>
              <a:t>job</a:t>
            </a:r>
            <a:r>
              <a:rPr lang="en-US" altLang="ko-KR" sz="1400" b="1" dirty="0"/>
              <a:t>“ is to migrate the deleted pod’s data to the remaining pods</a:t>
            </a:r>
            <a:r>
              <a:rPr lang="en-US" altLang="ko-KR" sz="1400" dirty="0"/>
              <a:t>. But if you’ve been paying attention, you’ll know that you have no guarantee the app will indeed manage to create the Job object every single time. What if the node fails exactly when the app tries to do that? </a:t>
            </a:r>
          </a:p>
          <a:p>
            <a:pPr lvl="1">
              <a:buFont typeface="Wingdings" panose="05000000000000000000" pitchFamily="2" charset="2"/>
              <a:buChar char="§"/>
            </a:pPr>
            <a:r>
              <a:rPr lang="en-US" altLang="ko-KR" sz="1400" b="1" dirty="0"/>
              <a:t>The proper way to handle this problem is by </a:t>
            </a:r>
            <a:r>
              <a:rPr lang="en-US" altLang="ko-KR" sz="1400" b="1" dirty="0">
                <a:solidFill>
                  <a:srgbClr val="FF0000"/>
                </a:solidFill>
              </a:rPr>
              <a:t>having a dedicated, constantly running pod </a:t>
            </a:r>
            <a:r>
              <a:rPr lang="en-US" altLang="ko-KR" sz="1400" b="1" dirty="0"/>
              <a:t>that keeps checking for the existence of orphaned data</a:t>
            </a:r>
            <a:r>
              <a:rPr lang="en-US" altLang="ko-KR" sz="1400" dirty="0"/>
              <a:t>. When this pod finds the orphaned data, it can migrate it to the remaining pods. </a:t>
            </a:r>
            <a:r>
              <a:rPr lang="en-US" altLang="ko-KR" sz="1400" b="1" dirty="0"/>
              <a:t>Rather than a constantly running pod, you can also use a “</a:t>
            </a:r>
            <a:r>
              <a:rPr lang="en-US" altLang="ko-KR" sz="1400" b="1" dirty="0" err="1">
                <a:solidFill>
                  <a:srgbClr val="FF0000"/>
                </a:solidFill>
              </a:rPr>
              <a:t>CronJob</a:t>
            </a:r>
            <a:r>
              <a:rPr lang="en-US" altLang="ko-KR" sz="1400" b="1" dirty="0"/>
              <a:t>” resource and run the pod periodically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A432938C-5F72-E967-EC92-2FE9860A4441}"/>
              </a:ext>
            </a:extLst>
          </p:cNvPr>
          <p:cNvGrpSpPr/>
          <p:nvPr/>
        </p:nvGrpSpPr>
        <p:grpSpPr>
          <a:xfrm>
            <a:off x="3630856" y="3207563"/>
            <a:ext cx="4979744" cy="3055418"/>
            <a:chOff x="3630856" y="3207563"/>
            <a:chExt cx="4979744" cy="3055418"/>
          </a:xfrm>
        </p:grpSpPr>
        <p:grpSp>
          <p:nvGrpSpPr>
            <p:cNvPr id="9" name="그룹 8">
              <a:extLst>
                <a:ext uri="{FF2B5EF4-FFF2-40B4-BE49-F238E27FC236}">
                  <a16:creationId xmlns:a16="http://schemas.microsoft.com/office/drawing/2014/main" id="{C6EDB4A3-71F0-A6EF-B9CA-75766CFFDE04}"/>
                </a:ext>
              </a:extLst>
            </p:cNvPr>
            <p:cNvGrpSpPr/>
            <p:nvPr/>
          </p:nvGrpSpPr>
          <p:grpSpPr>
            <a:xfrm>
              <a:off x="3630856" y="3207563"/>
              <a:ext cx="4979744" cy="3055418"/>
              <a:chOff x="3630856" y="3207563"/>
              <a:chExt cx="4979744" cy="3055418"/>
            </a:xfrm>
          </p:grpSpPr>
          <p:pic>
            <p:nvPicPr>
              <p:cNvPr id="4" name="그림 3">
                <a:extLst>
                  <a:ext uri="{FF2B5EF4-FFF2-40B4-BE49-F238E27FC236}">
                    <a16:creationId xmlns:a16="http://schemas.microsoft.com/office/drawing/2014/main" id="{944030BB-385B-09A5-9475-A6CEB2786CF5}"/>
                  </a:ext>
                </a:extLst>
              </p:cNvPr>
              <p:cNvPicPr>
                <a:picLocks noChangeAspect="1"/>
              </p:cNvPicPr>
              <p:nvPr/>
            </p:nvPicPr>
            <p:blipFill>
              <a:blip r:embed="rId2"/>
              <a:stretch>
                <a:fillRect/>
              </a:stretch>
            </p:blipFill>
            <p:spPr>
              <a:xfrm>
                <a:off x="3630856" y="3207563"/>
                <a:ext cx="4979744" cy="3055418"/>
              </a:xfrm>
              <a:prstGeom prst="rect">
                <a:avLst/>
              </a:prstGeom>
            </p:spPr>
          </p:pic>
          <p:sp>
            <p:nvSpPr>
              <p:cNvPr id="8" name="직사각형 7">
                <a:extLst>
                  <a:ext uri="{FF2B5EF4-FFF2-40B4-BE49-F238E27FC236}">
                    <a16:creationId xmlns:a16="http://schemas.microsoft.com/office/drawing/2014/main" id="{A797F315-A67A-4AF4-A4FC-705C668A6ACC}"/>
                  </a:ext>
                </a:extLst>
              </p:cNvPr>
              <p:cNvSpPr/>
              <p:nvPr/>
            </p:nvSpPr>
            <p:spPr>
              <a:xfrm>
                <a:off x="7695526" y="5065614"/>
                <a:ext cx="849663" cy="3317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직사각형 9">
              <a:extLst>
                <a:ext uri="{FF2B5EF4-FFF2-40B4-BE49-F238E27FC236}">
                  <a16:creationId xmlns:a16="http://schemas.microsoft.com/office/drawing/2014/main" id="{6842A77F-4F92-81DA-8B2B-572C1D241081}"/>
                </a:ext>
              </a:extLst>
            </p:cNvPr>
            <p:cNvSpPr/>
            <p:nvPr/>
          </p:nvSpPr>
          <p:spPr>
            <a:xfrm>
              <a:off x="5178903" y="4911865"/>
              <a:ext cx="1310909" cy="7930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277982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Pod’s Lifecycle(30/30)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Replacing Critical Shut-Down Procedures with Dedicated Shut-Down Procedure Pods :</a:t>
            </a:r>
            <a:endParaRPr lang="en-US" altLang="ko-KR" sz="1400" dirty="0"/>
          </a:p>
          <a:p>
            <a:pPr lvl="1">
              <a:buFont typeface="Wingdings" panose="05000000000000000000" pitchFamily="2" charset="2"/>
              <a:buChar char="§"/>
            </a:pPr>
            <a:r>
              <a:rPr lang="en-US" altLang="ko-KR" sz="1400" b="1" dirty="0"/>
              <a:t>You may think “</a:t>
            </a:r>
            <a:r>
              <a:rPr lang="en-US" altLang="ko-KR" sz="1400" b="1" dirty="0" err="1"/>
              <a:t>StatefulSets</a:t>
            </a:r>
            <a:r>
              <a:rPr lang="en-US" altLang="ko-KR" sz="1400" b="1" dirty="0"/>
              <a:t>” could help here, but they don’t</a:t>
            </a:r>
            <a:r>
              <a:rPr lang="en-US" altLang="ko-KR" sz="1400" dirty="0"/>
              <a:t>. As you’ll remember, </a:t>
            </a:r>
            <a:r>
              <a:rPr lang="en-US" altLang="ko-KR" sz="1400" b="1" dirty="0"/>
              <a:t>scaling down a “</a:t>
            </a:r>
            <a:r>
              <a:rPr lang="en-US" altLang="ko-KR" sz="1400" b="1" dirty="0" err="1"/>
              <a:t>StatefulSet</a:t>
            </a:r>
            <a:r>
              <a:rPr lang="en-US" altLang="ko-KR" sz="1400" b="1" dirty="0"/>
              <a:t>” leaves “</a:t>
            </a:r>
            <a:r>
              <a:rPr lang="en-US" altLang="ko-KR" sz="1400" b="1" dirty="0" err="1"/>
              <a:t>PersistentVolumeClaims</a:t>
            </a:r>
            <a:r>
              <a:rPr lang="en-US" altLang="ko-KR" sz="1400" b="1" dirty="0"/>
              <a:t>” orphaned</a:t>
            </a:r>
            <a:r>
              <a:rPr lang="en-US" altLang="ko-KR" sz="1400" dirty="0"/>
              <a:t>, </a:t>
            </a:r>
            <a:r>
              <a:rPr lang="en-US" altLang="ko-KR" sz="1400" b="1" dirty="0"/>
              <a:t>leaving the data stored on the “</a:t>
            </a:r>
            <a:r>
              <a:rPr lang="en-US" altLang="ko-KR" sz="1400" b="1" dirty="0" err="1"/>
              <a:t>PersistentVolume</a:t>
            </a:r>
            <a:r>
              <a:rPr lang="en-US" altLang="ko-KR" sz="1400" b="1" dirty="0"/>
              <a:t>” stranded</a:t>
            </a:r>
            <a:r>
              <a:rPr lang="en-US" altLang="ko-KR" sz="1400" dirty="0"/>
              <a:t>. Yes, upon a subsequent scale-up, the “</a:t>
            </a:r>
            <a:r>
              <a:rPr lang="en-US" altLang="ko-KR" sz="1400" b="1" dirty="0" err="1"/>
              <a:t>PersistentVolume</a:t>
            </a:r>
            <a:r>
              <a:rPr lang="en-US" altLang="ko-KR" sz="1400" dirty="0"/>
              <a:t>” will be reattached to the new pod instance, but what if that scale-up never happens (or happens after a long time)? For this reason, </a:t>
            </a:r>
            <a:r>
              <a:rPr lang="en-US" altLang="ko-KR" sz="1400" b="1" dirty="0"/>
              <a:t>you may want to run a “</a:t>
            </a:r>
            <a:r>
              <a:rPr lang="en-US" altLang="ko-KR" sz="1400" b="1" dirty="0">
                <a:solidFill>
                  <a:srgbClr val="FF0000"/>
                </a:solidFill>
              </a:rPr>
              <a:t>data-migrating pod</a:t>
            </a:r>
            <a:r>
              <a:rPr lang="en-US" altLang="ko-KR" sz="1400" b="1" dirty="0"/>
              <a:t>” also when using “</a:t>
            </a:r>
            <a:r>
              <a:rPr lang="en-US" altLang="ko-KR" sz="1400" b="1" dirty="0" err="1"/>
              <a:t>StatefulSets</a:t>
            </a:r>
            <a:r>
              <a:rPr lang="en-US" altLang="ko-KR" sz="1400" b="1" dirty="0"/>
              <a:t>”(show in the following figure)</a:t>
            </a:r>
            <a:r>
              <a:rPr lang="en-US" altLang="ko-KR" sz="1400" dirty="0"/>
              <a:t>. </a:t>
            </a:r>
            <a:r>
              <a:rPr lang="en-US" altLang="ko-KR" sz="1400" b="1" dirty="0"/>
              <a:t>To prevent the migration from occurring during an application upgrade, the data-migrating pod could be configured to wait a while to give the stateful pod time to come up again before performing the migration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C12218A9-8763-8B52-EDE6-97703FDEB298}"/>
              </a:ext>
            </a:extLst>
          </p:cNvPr>
          <p:cNvPicPr>
            <a:picLocks noChangeAspect="1"/>
          </p:cNvPicPr>
          <p:nvPr/>
        </p:nvPicPr>
        <p:blipFill>
          <a:blip r:embed="rId2"/>
          <a:stretch>
            <a:fillRect/>
          </a:stretch>
        </p:blipFill>
        <p:spPr>
          <a:xfrm>
            <a:off x="3873909" y="3014286"/>
            <a:ext cx="4444181" cy="2448232"/>
          </a:xfrm>
          <a:prstGeom prst="rect">
            <a:avLst/>
          </a:prstGeom>
        </p:spPr>
      </p:pic>
    </p:spTree>
    <p:extLst>
      <p:ext uri="{BB962C8B-B14F-4D97-AF65-F5344CB8AC3E}">
        <p14:creationId xmlns:p14="http://schemas.microsoft.com/office/powerpoint/2010/main" val="4971341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Ensuring All Client Requests Are Handled Properly(1/10)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Preventing Broken Client Connections When a Pod is Starting Up :</a:t>
            </a:r>
            <a:endParaRPr lang="en-US" altLang="ko-KR" sz="1400" dirty="0"/>
          </a:p>
          <a:p>
            <a:pPr lvl="1">
              <a:buFont typeface="Wingdings" panose="05000000000000000000" pitchFamily="2" charset="2"/>
              <a:buChar char="§"/>
            </a:pPr>
            <a:r>
              <a:rPr lang="en-US" altLang="ko-KR" sz="1400" b="1" dirty="0"/>
              <a:t>Ensuring each connection is handled properly at pod startup is simple if you understand how </a:t>
            </a:r>
            <a:r>
              <a:rPr lang="en-US" altLang="ko-KR" sz="1400" b="1" dirty="0">
                <a:solidFill>
                  <a:srgbClr val="FF0000"/>
                </a:solidFill>
              </a:rPr>
              <a:t>Services</a:t>
            </a:r>
            <a:r>
              <a:rPr lang="en-US" altLang="ko-KR" sz="1400" b="1" dirty="0"/>
              <a:t> and service </a:t>
            </a:r>
            <a:r>
              <a:rPr lang="en-US" altLang="ko-KR" sz="1400" b="1" dirty="0">
                <a:solidFill>
                  <a:srgbClr val="FF0000"/>
                </a:solidFill>
              </a:rPr>
              <a:t>Endpoints</a:t>
            </a:r>
            <a:r>
              <a:rPr lang="en-US" altLang="ko-KR" sz="1400" b="1" dirty="0"/>
              <a:t> work</a:t>
            </a:r>
            <a:r>
              <a:rPr lang="en-US" altLang="ko-KR" sz="1400" dirty="0"/>
              <a:t>. </a:t>
            </a:r>
            <a:r>
              <a:rPr lang="en-US" altLang="ko-KR" sz="1400" b="1" dirty="0"/>
              <a:t>When a pod is started, it’s added as an endpoint to all the Services, whose label selector matches the pod’s labels</a:t>
            </a:r>
            <a:r>
              <a:rPr lang="en-US" altLang="ko-KR" sz="1400" dirty="0"/>
              <a:t>. </a:t>
            </a:r>
            <a:r>
              <a:rPr lang="en-US" altLang="ko-KR" sz="1400" b="1" dirty="0"/>
              <a:t>The pod also needs to signal to Kubernetes that it’s ready. Until it is, it won’t become a service endpoint and therefore won’t receive any requests from clients</a:t>
            </a:r>
            <a:r>
              <a:rPr lang="en-US" altLang="ko-KR" sz="1400" dirty="0"/>
              <a:t>.</a:t>
            </a:r>
          </a:p>
          <a:p>
            <a:pPr lvl="1">
              <a:buFont typeface="Wingdings" panose="05000000000000000000" pitchFamily="2" charset="2"/>
              <a:buChar char="§"/>
            </a:pPr>
            <a:r>
              <a:rPr lang="en-US" altLang="ko-KR" sz="1400" b="1" dirty="0"/>
              <a:t>If you don’t specify a readiness probe in your pod spec, the pod is always considered ready</a:t>
            </a:r>
            <a:r>
              <a:rPr lang="en-US" altLang="ko-KR" sz="1400" dirty="0"/>
              <a:t>. It will start receiving requests almost immediately—as soon as the first </a:t>
            </a:r>
            <a:r>
              <a:rPr lang="en-US" altLang="ko-KR" sz="1400" b="1" dirty="0" err="1"/>
              <a:t>kube</a:t>
            </a:r>
            <a:r>
              <a:rPr lang="en-US" altLang="ko-KR" sz="1400" b="1" dirty="0"/>
              <a:t>-proxy</a:t>
            </a:r>
            <a:r>
              <a:rPr lang="en-US" altLang="ko-KR" sz="1400" dirty="0"/>
              <a:t> updates the iptables rules on its node and the first client pod tries to connect to the service. </a:t>
            </a:r>
            <a:r>
              <a:rPr lang="en-US" altLang="ko-KR" sz="1400" b="1" dirty="0"/>
              <a:t>If your app isn’t ready to accept connections by then, clients will see “connection refused” types of errors</a:t>
            </a:r>
            <a:r>
              <a:rPr lang="en-US" altLang="ko-KR" sz="1400" dirty="0"/>
              <a:t>.</a:t>
            </a:r>
          </a:p>
          <a:p>
            <a:pPr lvl="1">
              <a:buFont typeface="Wingdings" panose="05000000000000000000" pitchFamily="2" charset="2"/>
              <a:buChar char="§"/>
            </a:pPr>
            <a:r>
              <a:rPr lang="en-US" altLang="ko-KR" sz="1400" b="1" dirty="0"/>
              <a:t>All you need to do is make sure that your readiness probe returns success only when your app is ready to properly handle incoming requests</a:t>
            </a:r>
            <a:r>
              <a:rPr lang="en-US" altLang="ko-KR" sz="1400" dirty="0"/>
              <a:t>. A good first step is to </a:t>
            </a:r>
            <a:r>
              <a:rPr lang="en-US" altLang="ko-KR" sz="1400" b="1" dirty="0"/>
              <a:t>add an HTTP GET readiness probe and point it to the base URL of your app</a:t>
            </a:r>
            <a:r>
              <a:rPr lang="en-US" altLang="ko-KR" sz="1400" dirty="0"/>
              <a:t>. In many cases that gets you far enough and saves you from having to implement a special readiness endpoint in your app.</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E48E997-D685-95D5-D16F-FD8EF72B472D}"/>
              </a:ext>
            </a:extLst>
          </p:cNvPr>
          <p:cNvPicPr>
            <a:picLocks noChangeAspect="1"/>
          </p:cNvPicPr>
          <p:nvPr/>
        </p:nvPicPr>
        <p:blipFill>
          <a:blip r:embed="rId2"/>
          <a:stretch>
            <a:fillRect/>
          </a:stretch>
        </p:blipFill>
        <p:spPr>
          <a:xfrm>
            <a:off x="3376612" y="3938880"/>
            <a:ext cx="5438775" cy="2105025"/>
          </a:xfrm>
          <a:prstGeom prst="rect">
            <a:avLst/>
          </a:prstGeom>
        </p:spPr>
      </p:pic>
    </p:spTree>
    <p:extLst>
      <p:ext uri="{BB962C8B-B14F-4D97-AF65-F5344CB8AC3E}">
        <p14:creationId xmlns:p14="http://schemas.microsoft.com/office/powerpoint/2010/main" val="41684392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Ensuring All Client Requests Are Handled Properly(2/10)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Preventing Broken Connection During Pod Shut-Down :</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8A4D335-B5FE-7A35-5413-A8E601A7EBD9}"/>
              </a:ext>
            </a:extLst>
          </p:cNvPr>
          <p:cNvPicPr>
            <a:picLocks noChangeAspect="1"/>
          </p:cNvPicPr>
          <p:nvPr/>
        </p:nvPicPr>
        <p:blipFill>
          <a:blip r:embed="rId2"/>
          <a:stretch>
            <a:fillRect/>
          </a:stretch>
        </p:blipFill>
        <p:spPr>
          <a:xfrm>
            <a:off x="7000334" y="1303506"/>
            <a:ext cx="4353466" cy="5105524"/>
          </a:xfrm>
          <a:prstGeom prst="rect">
            <a:avLst/>
          </a:prstGeom>
        </p:spPr>
      </p:pic>
      <p:sp>
        <p:nvSpPr>
          <p:cNvPr id="9" name="TextBox 8">
            <a:extLst>
              <a:ext uri="{FF2B5EF4-FFF2-40B4-BE49-F238E27FC236}">
                <a16:creationId xmlns:a16="http://schemas.microsoft.com/office/drawing/2014/main" id="{1F4DAEE7-2724-B6FE-DF5F-810EF19005AC}"/>
              </a:ext>
            </a:extLst>
          </p:cNvPr>
          <p:cNvSpPr txBox="1"/>
          <p:nvPr/>
        </p:nvSpPr>
        <p:spPr>
          <a:xfrm>
            <a:off x="838200" y="1159400"/>
            <a:ext cx="6162134" cy="2677143"/>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When the pod is deleted and its containers are terminated</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We’ve already talked about how the pod’s containers should start shutting down cleanly as soon they receive the SIGTERM signal (or when its pre-stop hook is executed). But does that ensure all client requests are handled properly?</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How should the app behave when it receives a termination signal?</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Should it continue to accept requests? What about requests that have already been received but haven’t completed yet? What about persistent HTTP connections, which may be in between requests, but are open (when no active request exists on the connection)? Before we can answer those questions, we need to take a detailed look at the chain of events that unfolds across the cluster when a Pod is deleted.</a:t>
            </a:r>
          </a:p>
        </p:txBody>
      </p:sp>
    </p:spTree>
    <p:extLst>
      <p:ext uri="{BB962C8B-B14F-4D97-AF65-F5344CB8AC3E}">
        <p14:creationId xmlns:p14="http://schemas.microsoft.com/office/powerpoint/2010/main" val="214564488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Ensuring All Client Requests Are Handled Properly(3/10)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Sequence of Events Occurring at Pod Deletion :</a:t>
            </a:r>
            <a:endParaRPr lang="en-US" altLang="ko-KR" sz="1400" dirty="0"/>
          </a:p>
          <a:p>
            <a:pPr lvl="1">
              <a:buFont typeface="Wingdings" panose="05000000000000000000" pitchFamily="2" charset="2"/>
              <a:buChar char="§"/>
            </a:pPr>
            <a:r>
              <a:rPr lang="en-US" altLang="ko-KR" sz="1400" b="1" dirty="0"/>
              <a:t>You need to always keep in mind that </a:t>
            </a:r>
            <a:r>
              <a:rPr lang="en-US" altLang="ko-KR" sz="1400" b="1" dirty="0">
                <a:solidFill>
                  <a:srgbClr val="FF0000"/>
                </a:solidFill>
              </a:rPr>
              <a:t>Kubernetes components run as separate processes on multiple machines</a:t>
            </a:r>
            <a:r>
              <a:rPr lang="en-US" altLang="ko-KR" sz="1400" dirty="0"/>
              <a:t>. </a:t>
            </a:r>
            <a:r>
              <a:rPr lang="en-US" altLang="ko-KR" sz="1400" b="1" dirty="0"/>
              <a:t>They aren’t all part of a single big monolithic process</a:t>
            </a:r>
            <a:r>
              <a:rPr lang="en-US" altLang="ko-KR" sz="1400" dirty="0"/>
              <a:t>. </a:t>
            </a:r>
            <a:r>
              <a:rPr lang="en-US" altLang="ko-KR" sz="1400" b="1" dirty="0"/>
              <a:t>It takes time for all the components to be on the same page regarding the state of the cluster. </a:t>
            </a:r>
            <a:r>
              <a:rPr lang="en-US" altLang="ko-KR" sz="1400" dirty="0"/>
              <a:t>Let’s explore this fact by looking at what happens across the cluster when a Pod is deleted.</a:t>
            </a:r>
          </a:p>
          <a:p>
            <a:pPr lvl="1">
              <a:buFont typeface="Wingdings" panose="05000000000000000000" pitchFamily="2" charset="2"/>
              <a:buChar char="§"/>
            </a:pPr>
            <a:r>
              <a:rPr lang="en-US" altLang="ko-KR" sz="1400" b="1" dirty="0"/>
              <a:t>When a request for a pod deletion is received by the API server, it first modifies the state in “</a:t>
            </a:r>
            <a:r>
              <a:rPr lang="en-US" altLang="ko-KR" sz="1400" b="1" dirty="0" err="1"/>
              <a:t>etcd</a:t>
            </a:r>
            <a:r>
              <a:rPr lang="en-US" altLang="ko-KR" sz="1400" b="1" dirty="0"/>
              <a:t>” and then notifies its watchers of the deletion</a:t>
            </a:r>
            <a:r>
              <a:rPr lang="en-US" altLang="ko-KR" sz="1400" dirty="0"/>
              <a:t>. Among those watchers are the “</a:t>
            </a:r>
            <a:r>
              <a:rPr lang="en-US" altLang="ko-KR" sz="1400" b="1" dirty="0" err="1"/>
              <a:t>Kubelet</a:t>
            </a:r>
            <a:r>
              <a:rPr lang="en-US" altLang="ko-KR" sz="1400" dirty="0"/>
              <a:t>” and the “</a:t>
            </a:r>
            <a:r>
              <a:rPr lang="en-US" altLang="ko-KR" sz="1400" b="1" dirty="0"/>
              <a:t>Endpoints</a:t>
            </a:r>
            <a:r>
              <a:rPr lang="en-US" altLang="ko-KR" sz="1400" dirty="0"/>
              <a:t>” controller. </a:t>
            </a:r>
            <a:r>
              <a:rPr lang="en-US" altLang="ko-KR" sz="1400" b="1" dirty="0"/>
              <a:t>The two sequences of events, which happen in parallel</a:t>
            </a:r>
            <a:r>
              <a:rPr lang="en-US" altLang="ko-KR" sz="1400" dirty="0"/>
              <a:t> (marked with either “</a:t>
            </a:r>
            <a:r>
              <a:rPr lang="en-US" altLang="ko-KR" sz="1400" b="1" dirty="0"/>
              <a:t>A</a:t>
            </a:r>
            <a:r>
              <a:rPr lang="en-US" altLang="ko-KR" sz="1400" dirty="0"/>
              <a:t>” or “</a:t>
            </a:r>
            <a:r>
              <a:rPr lang="en-US" altLang="ko-KR" sz="1400" b="1" dirty="0"/>
              <a:t>B</a:t>
            </a:r>
            <a:r>
              <a:rPr lang="en-US" altLang="ko-KR" sz="1400" dirty="0"/>
              <a:t>”), are shown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D1E5037A-4A9E-D7D1-37EE-952B73C6CA8F}"/>
              </a:ext>
            </a:extLst>
          </p:cNvPr>
          <p:cNvGrpSpPr/>
          <p:nvPr/>
        </p:nvGrpSpPr>
        <p:grpSpPr>
          <a:xfrm>
            <a:off x="2463495" y="2777942"/>
            <a:ext cx="7265010" cy="3531724"/>
            <a:chOff x="2463495" y="2777942"/>
            <a:chExt cx="7265010" cy="3531724"/>
          </a:xfrm>
        </p:grpSpPr>
        <p:pic>
          <p:nvPicPr>
            <p:cNvPr id="8" name="그림 7">
              <a:extLst>
                <a:ext uri="{FF2B5EF4-FFF2-40B4-BE49-F238E27FC236}">
                  <a16:creationId xmlns:a16="http://schemas.microsoft.com/office/drawing/2014/main" id="{48324068-43FC-C200-C48B-40CCD6BFBB10}"/>
                </a:ext>
              </a:extLst>
            </p:cNvPr>
            <p:cNvPicPr>
              <a:picLocks noChangeAspect="1"/>
            </p:cNvPicPr>
            <p:nvPr/>
          </p:nvPicPr>
          <p:blipFill>
            <a:blip r:embed="rId2"/>
            <a:stretch>
              <a:fillRect/>
            </a:stretch>
          </p:blipFill>
          <p:spPr>
            <a:xfrm>
              <a:off x="2463495" y="2777942"/>
              <a:ext cx="7265010" cy="3531724"/>
            </a:xfrm>
            <a:prstGeom prst="rect">
              <a:avLst/>
            </a:prstGeom>
          </p:spPr>
        </p:pic>
        <p:sp>
          <p:nvSpPr>
            <p:cNvPr id="9" name="직사각형 8">
              <a:extLst>
                <a:ext uri="{FF2B5EF4-FFF2-40B4-BE49-F238E27FC236}">
                  <a16:creationId xmlns:a16="http://schemas.microsoft.com/office/drawing/2014/main" id="{6FC2E9C0-33DD-F3C4-598C-F6504D1F93FD}"/>
                </a:ext>
              </a:extLst>
            </p:cNvPr>
            <p:cNvSpPr/>
            <p:nvPr/>
          </p:nvSpPr>
          <p:spPr>
            <a:xfrm>
              <a:off x="4134255" y="5807413"/>
              <a:ext cx="885217" cy="40856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9B19C5E1-5B77-3C9B-E4FD-F922550C6A5F}"/>
                </a:ext>
              </a:extLst>
            </p:cNvPr>
            <p:cNvSpPr/>
            <p:nvPr/>
          </p:nvSpPr>
          <p:spPr>
            <a:xfrm>
              <a:off x="6410528" y="3336587"/>
              <a:ext cx="865761" cy="40856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599096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Ensuring All Client Requests Are Handled Properly(4/10)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Sequence of Events Occurring at Pod Deletion :</a:t>
            </a:r>
            <a:endParaRPr lang="en-US" altLang="ko-KR" sz="1400" dirty="0"/>
          </a:p>
          <a:p>
            <a:pPr lvl="1">
              <a:buFont typeface="Wingdings" panose="05000000000000000000" pitchFamily="2" charset="2"/>
              <a:buChar char="§"/>
            </a:pPr>
            <a:r>
              <a:rPr lang="en-US" altLang="ko-KR" sz="1400" dirty="0"/>
              <a:t>In the “</a:t>
            </a:r>
            <a:r>
              <a:rPr lang="en-US" altLang="ko-KR" sz="1400" b="1" dirty="0"/>
              <a:t>A</a:t>
            </a:r>
            <a:r>
              <a:rPr lang="en-US" altLang="ko-KR" sz="1400" dirty="0"/>
              <a:t>” sequence of events, you’ll see that as soon as </a:t>
            </a:r>
            <a:r>
              <a:rPr lang="en-US" altLang="ko-KR" sz="1400" b="1" dirty="0"/>
              <a:t>the “</a:t>
            </a:r>
            <a:r>
              <a:rPr lang="en-US" altLang="ko-KR" sz="1400" b="1" dirty="0" err="1">
                <a:solidFill>
                  <a:srgbClr val="FF0000"/>
                </a:solidFill>
              </a:rPr>
              <a:t>Kubelet</a:t>
            </a:r>
            <a:r>
              <a:rPr lang="en-US" altLang="ko-KR" sz="1400" b="1" dirty="0"/>
              <a:t>” receives the notification that the pod should be terminated, it initiates the shutdown sequence</a:t>
            </a:r>
            <a:r>
              <a:rPr lang="en-US" altLang="ko-KR" sz="1400" dirty="0"/>
              <a:t> (</a:t>
            </a:r>
            <a:r>
              <a:rPr lang="en-US" altLang="ko-KR" sz="1400" b="1" dirty="0"/>
              <a:t>run the pre-stop hook, send SIGTERM, wait for a period of time, and then forcibly kill the container if it hasn’t yet terminated on its own</a:t>
            </a:r>
            <a:r>
              <a:rPr lang="en-US" altLang="ko-KR" sz="1400" dirty="0"/>
              <a:t>). If the app responds to the </a:t>
            </a:r>
            <a:r>
              <a:rPr lang="en-US" altLang="ko-KR" sz="1400" b="1" dirty="0"/>
              <a:t>SIGTERM</a:t>
            </a:r>
            <a:r>
              <a:rPr lang="en-US" altLang="ko-KR" sz="1400" dirty="0"/>
              <a:t> by immediately ceasing to receive client requests, any client trying to connect to it will receive a “</a:t>
            </a:r>
            <a:r>
              <a:rPr lang="en-US" altLang="ko-KR" sz="1400" b="1" dirty="0"/>
              <a:t>Connection Refused</a:t>
            </a:r>
            <a:r>
              <a:rPr lang="en-US" altLang="ko-KR" sz="1400" dirty="0"/>
              <a:t>” error. </a:t>
            </a:r>
            <a:r>
              <a:rPr lang="en-US" altLang="ko-KR" sz="1400" b="1" dirty="0"/>
              <a:t>The time it takes for this to happen from the time the pod is deleted is relatively short because of the direct path from the API server to the </a:t>
            </a:r>
            <a:r>
              <a:rPr lang="en-US" altLang="ko-KR" sz="1400" b="1" dirty="0" err="1"/>
              <a:t>Kubelet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26C72982-2909-0659-B31C-16B24687B0C1}"/>
              </a:ext>
            </a:extLst>
          </p:cNvPr>
          <p:cNvPicPr>
            <a:picLocks noChangeAspect="1"/>
          </p:cNvPicPr>
          <p:nvPr/>
        </p:nvPicPr>
        <p:blipFill>
          <a:blip r:embed="rId2"/>
          <a:stretch>
            <a:fillRect/>
          </a:stretch>
        </p:blipFill>
        <p:spPr>
          <a:xfrm>
            <a:off x="1769615" y="2441643"/>
            <a:ext cx="8652769" cy="3821338"/>
          </a:xfrm>
          <a:prstGeom prst="rect">
            <a:avLst/>
          </a:prstGeom>
        </p:spPr>
      </p:pic>
    </p:spTree>
    <p:extLst>
      <p:ext uri="{BB962C8B-B14F-4D97-AF65-F5344CB8AC3E}">
        <p14:creationId xmlns:p14="http://schemas.microsoft.com/office/powerpoint/2010/main" val="169736274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Ensuring All Client Requests Are Handled Properly(5/10)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Sequence of Events Occurring at Pod Deletion :</a:t>
            </a:r>
            <a:endParaRPr lang="en-US" altLang="ko-KR" sz="1400" dirty="0"/>
          </a:p>
          <a:p>
            <a:pPr lvl="1">
              <a:buFont typeface="Wingdings" panose="05000000000000000000" pitchFamily="2" charset="2"/>
              <a:buChar char="§"/>
            </a:pPr>
            <a:r>
              <a:rPr lang="en-US" altLang="ko-KR" sz="1400" dirty="0"/>
              <a:t>Now, let’s look at what happens in the other sequence of events—</a:t>
            </a:r>
            <a:r>
              <a:rPr lang="en-US" altLang="ko-KR" sz="1400" b="1" dirty="0"/>
              <a:t>the one leading up to the pod being removed from the </a:t>
            </a:r>
            <a:r>
              <a:rPr lang="en-US" altLang="ko-KR" sz="1400" b="1" dirty="0">
                <a:solidFill>
                  <a:srgbClr val="FF0000"/>
                </a:solidFill>
              </a:rPr>
              <a:t>iptables rules</a:t>
            </a:r>
            <a:r>
              <a:rPr lang="en-US" altLang="ko-KR" sz="1400" b="1" dirty="0"/>
              <a:t> </a:t>
            </a:r>
            <a:r>
              <a:rPr lang="en-US" altLang="ko-KR" sz="1400" dirty="0"/>
              <a:t>(sequence “</a:t>
            </a:r>
            <a:r>
              <a:rPr lang="en-US" altLang="ko-KR" sz="1400" b="1" dirty="0"/>
              <a:t>B</a:t>
            </a:r>
            <a:r>
              <a:rPr lang="en-US" altLang="ko-KR" sz="1400" dirty="0"/>
              <a:t>” in the figure). </a:t>
            </a:r>
            <a:r>
              <a:rPr lang="en-US" altLang="ko-KR" sz="1400" b="1" dirty="0"/>
              <a:t>When the Endpoints controller (which runs in the Controller Manager in the Kubernetes Control Plane) receives the notification of the Pod being deleted, it removes the pod as an endpoint in all services that the pod is a part of</a:t>
            </a:r>
            <a:r>
              <a:rPr lang="en-US" altLang="ko-KR" sz="1400" dirty="0"/>
              <a:t>. </a:t>
            </a:r>
            <a:r>
              <a:rPr lang="en-US" altLang="ko-KR" sz="1400" b="1" dirty="0"/>
              <a:t>It does this by modifying the “</a:t>
            </a:r>
            <a:r>
              <a:rPr lang="en-US" altLang="ko-KR" sz="1400" b="1" dirty="0">
                <a:solidFill>
                  <a:srgbClr val="FF0000"/>
                </a:solidFill>
              </a:rPr>
              <a:t>Endpoints API</a:t>
            </a:r>
            <a:r>
              <a:rPr lang="en-US" altLang="ko-KR" sz="1400" b="1" dirty="0"/>
              <a:t>” object by sending a REST request to the API server</a:t>
            </a:r>
            <a:r>
              <a:rPr lang="en-US" altLang="ko-KR" sz="1400" dirty="0"/>
              <a:t>. </a:t>
            </a:r>
            <a:r>
              <a:rPr lang="en-US" altLang="ko-KR" sz="1400" b="1" dirty="0"/>
              <a:t>The API server then notifies all clients watching the Endpoints object. Among those watchers are all the “</a:t>
            </a:r>
            <a:r>
              <a:rPr lang="en-US" altLang="ko-KR" sz="1400" b="1" dirty="0" err="1">
                <a:solidFill>
                  <a:srgbClr val="FF0000"/>
                </a:solidFill>
              </a:rPr>
              <a:t>kube</a:t>
            </a:r>
            <a:r>
              <a:rPr lang="en-US" altLang="ko-KR" sz="1400" b="1" dirty="0">
                <a:solidFill>
                  <a:srgbClr val="FF0000"/>
                </a:solidFill>
              </a:rPr>
              <a:t>-proxies</a:t>
            </a:r>
            <a:r>
              <a:rPr lang="en-US" altLang="ko-KR" sz="1400" b="1" dirty="0"/>
              <a:t>” running on the worker nodes</a:t>
            </a:r>
            <a:r>
              <a:rPr lang="en-US" altLang="ko-KR" sz="1400" dirty="0"/>
              <a:t>. </a:t>
            </a:r>
            <a:r>
              <a:rPr lang="en-US" altLang="ko-KR" sz="1400" b="1" dirty="0"/>
              <a:t>Each of these proxies then updates the iptables rules on its node, which is what prevents new connections from being forwarded to the terminating pod</a:t>
            </a:r>
            <a:r>
              <a:rPr lang="en-US" altLang="ko-KR" sz="1400" dirty="0"/>
              <a:t>. An important detail here is that </a:t>
            </a:r>
            <a:r>
              <a:rPr lang="en-US" altLang="ko-KR" sz="1400" b="1" dirty="0"/>
              <a:t>removing the iptables rules has no effect on existing connections—clients who are already connected to the pod will still send additional requests to the pod through those existing connections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DBE17F5E-4703-9151-F161-E9D083701B8A}"/>
              </a:ext>
            </a:extLst>
          </p:cNvPr>
          <p:cNvPicPr>
            <a:picLocks noChangeAspect="1"/>
          </p:cNvPicPr>
          <p:nvPr/>
        </p:nvPicPr>
        <p:blipFill>
          <a:blip r:embed="rId2"/>
          <a:stretch>
            <a:fillRect/>
          </a:stretch>
        </p:blipFill>
        <p:spPr>
          <a:xfrm>
            <a:off x="2657201" y="3171217"/>
            <a:ext cx="6877598" cy="3185133"/>
          </a:xfrm>
          <a:prstGeom prst="rect">
            <a:avLst/>
          </a:prstGeom>
        </p:spPr>
      </p:pic>
    </p:spTree>
    <p:extLst>
      <p:ext uri="{BB962C8B-B14F-4D97-AF65-F5344CB8AC3E}">
        <p14:creationId xmlns:p14="http://schemas.microsoft.com/office/powerpoint/2010/main" val="105509060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Ensuring All Client Requests Are Handled Properly(6/10)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Sequence of Events Occurring at Pod Deletion :</a:t>
            </a:r>
            <a:endParaRPr lang="en-US" altLang="ko-KR" sz="1400" dirty="0"/>
          </a:p>
          <a:p>
            <a:pPr lvl="1">
              <a:buFont typeface="Wingdings" panose="05000000000000000000" pitchFamily="2" charset="2"/>
              <a:buChar char="§"/>
            </a:pPr>
            <a:r>
              <a:rPr lang="en-US" altLang="ko-KR" sz="1400" b="1" dirty="0"/>
              <a:t>Both of these sequences of events happen in parallel</a:t>
            </a:r>
            <a:r>
              <a:rPr lang="en-US" altLang="ko-KR" sz="1400" dirty="0"/>
              <a:t>. Most likely, the time it takes to shut down the app’s process in the pod is slightly shorter than the time required for the iptables rules to be updated. </a:t>
            </a:r>
            <a:r>
              <a:rPr lang="en-US" altLang="ko-KR" sz="1400" b="1" dirty="0"/>
              <a:t>The chain of events that leads to iptables rules being updated is considerably longer (see the following figure), because the event must first reach the “Endpoints” controller</a:t>
            </a:r>
            <a:r>
              <a:rPr lang="en-US" altLang="ko-KR" sz="1400" dirty="0"/>
              <a:t>, </a:t>
            </a:r>
            <a:r>
              <a:rPr lang="en-US" altLang="ko-KR" sz="1400" b="1" dirty="0"/>
              <a:t>which then sends a new request to the “API server”, and then the API server must notify the “</a:t>
            </a:r>
            <a:r>
              <a:rPr lang="en-US" altLang="ko-KR" sz="1400" b="1" dirty="0" err="1"/>
              <a:t>kube</a:t>
            </a:r>
            <a:r>
              <a:rPr lang="en-US" altLang="ko-KR" sz="1400" b="1" dirty="0"/>
              <a:t>-proxy” before the proxy finally modifies the iptables rules</a:t>
            </a:r>
            <a:r>
              <a:rPr lang="en-US" altLang="ko-KR" sz="1400" dirty="0"/>
              <a:t>. </a:t>
            </a:r>
            <a:r>
              <a:rPr lang="en-US" altLang="ko-KR" sz="1400" b="1" dirty="0"/>
              <a:t>A high probability exists that the “SIGTERM” signal will be sent well before the iptables rules are updated on all nodes</a:t>
            </a:r>
            <a:r>
              <a:rPr lang="en-US" altLang="ko-KR" sz="1400" dirty="0"/>
              <a:t>.</a:t>
            </a:r>
          </a:p>
          <a:p>
            <a:pPr lvl="1">
              <a:buFont typeface="Wingdings" panose="05000000000000000000" pitchFamily="2" charset="2"/>
              <a:buChar char="§"/>
            </a:pPr>
            <a:r>
              <a:rPr lang="en-US" altLang="ko-KR" sz="1400" b="1" dirty="0"/>
              <a:t>The end result is that the pod may still receive client requests after it was sent the termination signal</a:t>
            </a:r>
            <a:r>
              <a:rPr lang="en-US" altLang="ko-KR" sz="1400" dirty="0"/>
              <a:t>. If the app closes the server socket and stops accepting connections immediately, this will cause clients to receive “</a:t>
            </a:r>
            <a:r>
              <a:rPr lang="en-US" altLang="ko-KR" sz="1400" b="1" dirty="0"/>
              <a:t>Connection Refused” types of errors </a:t>
            </a:r>
            <a:r>
              <a:rPr lang="en-US" altLang="ko-KR" sz="1400" dirty="0"/>
              <a:t>(similar to what happens at pod startup if your app isn’t capable of accepting connections immediately and you don’t define a readiness probe for it).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68E465F7-D52A-58FB-D93B-30E49B503F36}"/>
              </a:ext>
            </a:extLst>
          </p:cNvPr>
          <p:cNvPicPr>
            <a:picLocks noChangeAspect="1"/>
          </p:cNvPicPr>
          <p:nvPr/>
        </p:nvPicPr>
        <p:blipFill>
          <a:blip r:embed="rId2"/>
          <a:stretch>
            <a:fillRect/>
          </a:stretch>
        </p:blipFill>
        <p:spPr>
          <a:xfrm>
            <a:off x="2673350" y="3253080"/>
            <a:ext cx="6845300" cy="3155950"/>
          </a:xfrm>
          <a:prstGeom prst="rect">
            <a:avLst/>
          </a:prstGeom>
        </p:spPr>
      </p:pic>
    </p:spTree>
    <p:extLst>
      <p:ext uri="{BB962C8B-B14F-4D97-AF65-F5344CB8AC3E}">
        <p14:creationId xmlns:p14="http://schemas.microsoft.com/office/powerpoint/2010/main" val="135422889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Ensuring All Client Requests Are Handled Properly(7/10)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Solving the Problem :</a:t>
            </a:r>
            <a:endParaRPr lang="en-US" altLang="ko-KR" sz="1400" dirty="0"/>
          </a:p>
          <a:p>
            <a:pPr lvl="1">
              <a:buFont typeface="Wingdings" panose="05000000000000000000" pitchFamily="2" charset="2"/>
              <a:buChar char="§"/>
            </a:pPr>
            <a:r>
              <a:rPr lang="en-US" altLang="ko-KR" sz="1400" dirty="0"/>
              <a:t>Googling solutions to the previous problem makes it seem as though </a:t>
            </a:r>
            <a:r>
              <a:rPr lang="en-US" altLang="ko-KR" sz="1400" b="1" dirty="0"/>
              <a:t>adding a readiness probe to your pod </a:t>
            </a:r>
            <a:r>
              <a:rPr lang="en-US" altLang="ko-KR" sz="1400" dirty="0"/>
              <a:t>will solve the problem. Supposedly, all you need to do is make the readiness probe start failing as soon as the pod receives the SIGTERM. This is supposed to cause the pod to be removed as the endpoint of the service. But </a:t>
            </a:r>
            <a:r>
              <a:rPr lang="en-US" altLang="ko-KR" sz="1400" b="1" dirty="0"/>
              <a:t>the removal would happen only after the readiness probe fails for a few consecutive times (this is configurable in the readiness probe spec</a:t>
            </a:r>
            <a:r>
              <a:rPr lang="en-US" altLang="ko-KR" sz="1400" dirty="0"/>
              <a:t>). </a:t>
            </a:r>
            <a:r>
              <a:rPr lang="en-US" altLang="ko-KR" sz="1400" b="1" dirty="0"/>
              <a:t>And, obviously, the removal then still needs to reach the “</a:t>
            </a:r>
            <a:r>
              <a:rPr lang="en-US" altLang="ko-KR" sz="1400" b="1" dirty="0" err="1"/>
              <a:t>kube</a:t>
            </a:r>
            <a:r>
              <a:rPr lang="en-US" altLang="ko-KR" sz="1400" b="1" dirty="0"/>
              <a:t>-proxy” before the pod is removed from iptables rules</a:t>
            </a:r>
            <a:r>
              <a:rPr lang="en-US" altLang="ko-KR" sz="1400" dirty="0"/>
              <a:t>.</a:t>
            </a:r>
          </a:p>
          <a:p>
            <a:pPr lvl="1">
              <a:buFont typeface="Wingdings" panose="05000000000000000000" pitchFamily="2" charset="2"/>
              <a:buChar char="§"/>
            </a:pPr>
            <a:r>
              <a:rPr lang="en-US" altLang="ko-KR" sz="1400" b="1" dirty="0"/>
              <a:t>In reality, the readiness probe has absolutely no bearing on the whole process at all</a:t>
            </a:r>
            <a:r>
              <a:rPr lang="en-US" altLang="ko-KR" sz="1400" dirty="0"/>
              <a:t>. </a:t>
            </a:r>
            <a:r>
              <a:rPr lang="en-US" altLang="ko-KR" sz="1400" b="1" dirty="0"/>
              <a:t>The “Endpoints” controller removes the pod from the “service Endpoints” as soon as it receives notice of the pod being deleted (when the “</a:t>
            </a:r>
            <a:r>
              <a:rPr lang="en-US" altLang="ko-KR" sz="1400" b="1" dirty="0" err="1">
                <a:solidFill>
                  <a:srgbClr val="FF0000"/>
                </a:solidFill>
              </a:rPr>
              <a:t>deletionTimestamp</a:t>
            </a:r>
            <a:r>
              <a:rPr lang="en-US" altLang="ko-KR" sz="1400" b="1" dirty="0"/>
              <a:t> field” in the pod’s spec is no longer null)</a:t>
            </a:r>
            <a:r>
              <a:rPr lang="en-US" altLang="ko-KR" sz="1400" dirty="0"/>
              <a:t>. </a:t>
            </a:r>
            <a:r>
              <a:rPr lang="en-US" altLang="ko-KR" sz="1400" b="1" dirty="0"/>
              <a:t>From that point on, the result of the readiness probe is irrelevant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558787D-9B18-C55D-0354-09EE5B6FE07A}"/>
              </a:ext>
            </a:extLst>
          </p:cNvPr>
          <p:cNvPicPr>
            <a:picLocks noChangeAspect="1"/>
          </p:cNvPicPr>
          <p:nvPr/>
        </p:nvPicPr>
        <p:blipFill>
          <a:blip r:embed="rId2"/>
          <a:stretch>
            <a:fillRect/>
          </a:stretch>
        </p:blipFill>
        <p:spPr>
          <a:xfrm>
            <a:off x="3534032" y="3429000"/>
            <a:ext cx="5123935" cy="2882213"/>
          </a:xfrm>
          <a:prstGeom prst="rect">
            <a:avLst/>
          </a:prstGeom>
        </p:spPr>
      </p:pic>
    </p:spTree>
    <p:extLst>
      <p:ext uri="{BB962C8B-B14F-4D97-AF65-F5344CB8AC3E}">
        <p14:creationId xmlns:p14="http://schemas.microsoft.com/office/powerpoint/2010/main" val="316876428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Ensuring All Client Requests Are Handled Properly(8/10)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Solving the Problem :</a:t>
            </a:r>
            <a:endParaRPr lang="en-US" altLang="ko-KR" sz="1400" dirty="0"/>
          </a:p>
          <a:p>
            <a:pPr lvl="1">
              <a:buFont typeface="Wingdings" panose="05000000000000000000" pitchFamily="2" charset="2"/>
              <a:buChar char="§"/>
            </a:pPr>
            <a:r>
              <a:rPr lang="en-US" altLang="ko-KR" sz="1400" b="1" dirty="0"/>
              <a:t>What’s the proper solution to the problem? How can you make sure all requests are handled fully?</a:t>
            </a:r>
          </a:p>
          <a:p>
            <a:pPr lvl="1">
              <a:buFont typeface="Wingdings" panose="05000000000000000000" pitchFamily="2" charset="2"/>
              <a:buChar char="§"/>
            </a:pPr>
            <a:r>
              <a:rPr lang="en-US" altLang="ko-KR" sz="1400" b="1" dirty="0"/>
              <a:t>It’s clear the pod needs to keep accepting connections even after it receives the termination signal up until all the “</a:t>
            </a:r>
            <a:r>
              <a:rPr lang="en-US" altLang="ko-KR" sz="1400" b="1" dirty="0" err="1"/>
              <a:t>kube</a:t>
            </a:r>
            <a:r>
              <a:rPr lang="en-US" altLang="ko-KR" sz="1400" b="1" dirty="0"/>
              <a:t>-proxies” have finished updating the iptables rules</a:t>
            </a:r>
            <a:r>
              <a:rPr lang="en-US" altLang="ko-KR" sz="1400" dirty="0"/>
              <a:t>. </a:t>
            </a:r>
            <a:r>
              <a:rPr lang="en-US" altLang="ko-KR" sz="1400" b="1" dirty="0"/>
              <a:t>Well, it’s not only the “</a:t>
            </a:r>
            <a:r>
              <a:rPr lang="en-US" altLang="ko-KR" sz="1400" b="1" dirty="0" err="1"/>
              <a:t>kube</a:t>
            </a:r>
            <a:r>
              <a:rPr lang="en-US" altLang="ko-KR" sz="1400" b="1" dirty="0"/>
              <a:t>-proxies”. There may also be “</a:t>
            </a:r>
            <a:r>
              <a:rPr lang="en-US" altLang="ko-KR" sz="1400" b="1" dirty="0">
                <a:solidFill>
                  <a:srgbClr val="FF0000"/>
                </a:solidFill>
              </a:rPr>
              <a:t>Ingress controllers</a:t>
            </a:r>
            <a:r>
              <a:rPr lang="en-US" altLang="ko-KR" sz="1400" b="1" dirty="0"/>
              <a:t>” or “</a:t>
            </a:r>
            <a:r>
              <a:rPr lang="en-US" altLang="ko-KR" sz="1400" b="1" dirty="0">
                <a:solidFill>
                  <a:srgbClr val="FF0000"/>
                </a:solidFill>
              </a:rPr>
              <a:t>load balancers</a:t>
            </a:r>
            <a:r>
              <a:rPr lang="en-US" altLang="ko-KR" sz="1400" b="1" dirty="0"/>
              <a:t>” forwarding connections to the pod directly, without going through the Service (iptables)</a:t>
            </a:r>
            <a:r>
              <a:rPr lang="en-US" altLang="ko-KR" sz="1400" dirty="0"/>
              <a:t>. This also includes clients using client-side load-balancing. </a:t>
            </a:r>
            <a:r>
              <a:rPr lang="en-US" altLang="ko-KR" sz="1400" b="1" dirty="0"/>
              <a:t>To ensure none of the clients experience broken connections, you’d have to wait until all of them somehow notify you they’ll no longer forward connections to the pod</a:t>
            </a:r>
            <a:r>
              <a:rPr lang="en-US" altLang="ko-KR" sz="1400" dirty="0"/>
              <a:t>.</a:t>
            </a:r>
          </a:p>
          <a:p>
            <a:pPr lvl="1">
              <a:buFont typeface="Wingdings" panose="05000000000000000000" pitchFamily="2" charset="2"/>
              <a:buChar char="§"/>
            </a:pPr>
            <a:r>
              <a:rPr lang="en-US" altLang="ko-KR" sz="1400" b="1" dirty="0"/>
              <a:t>That’s impossible, because all those components are distributed across many different computers</a:t>
            </a:r>
            <a:r>
              <a:rPr lang="en-US" altLang="ko-KR" sz="1400" dirty="0"/>
              <a:t>. Even if you knew the location of every one of them and could wait until all of them say it’s okay to shut down the pod, what do you do if one of them doesn’t respond? How long do you wait for the response? Remember, during that time, you’re holding up the shut-down process.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3E7F0AF-7E97-C5CC-1762-EE15C92F91BD}"/>
              </a:ext>
            </a:extLst>
          </p:cNvPr>
          <p:cNvPicPr>
            <a:picLocks noChangeAspect="1"/>
          </p:cNvPicPr>
          <p:nvPr/>
        </p:nvPicPr>
        <p:blipFill>
          <a:blip r:embed="rId2"/>
          <a:stretch>
            <a:fillRect/>
          </a:stretch>
        </p:blipFill>
        <p:spPr>
          <a:xfrm>
            <a:off x="7867135" y="3277371"/>
            <a:ext cx="3486665" cy="3131659"/>
          </a:xfrm>
          <a:prstGeom prst="rect">
            <a:avLst/>
          </a:prstGeom>
        </p:spPr>
      </p:pic>
      <p:sp>
        <p:nvSpPr>
          <p:cNvPr id="9" name="TextBox 8">
            <a:extLst>
              <a:ext uri="{FF2B5EF4-FFF2-40B4-BE49-F238E27FC236}">
                <a16:creationId xmlns:a16="http://schemas.microsoft.com/office/drawing/2014/main" id="{4A2B1BE4-2E12-8093-6BF5-A4B3CE29A22C}"/>
              </a:ext>
            </a:extLst>
          </p:cNvPr>
          <p:cNvSpPr txBox="1"/>
          <p:nvPr/>
        </p:nvSpPr>
        <p:spPr>
          <a:xfrm>
            <a:off x="838199" y="3429000"/>
            <a:ext cx="7028935" cy="2419124"/>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only reasonable thing you can do is wait for a long-enough time to ensure all the proxies have done their job</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But how long is long enough?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 few seconds should be enough in most situations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but there’s no guarantee it will suffice every time. When the API server or the Endpoints controller is overloaded, it may take longer for the notification to reach the </a:t>
            </a:r>
            <a:r>
              <a:rPr kumimoji="0" lang="en-US" altLang="ko-KR" sz="14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-proxy.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It’s important to understand that you can’t solve the problem perfectly, but even adding a 5- or 10-second delay should improve the user experience considerably</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You can use a longer delay, but don’t go overboard, because the delay will prevent the container from shutting down promptly and will cause the pod to be shown in lists long after it has been deleted</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which is always frustrating to the user deleting the pod.</a:t>
            </a:r>
          </a:p>
        </p:txBody>
      </p:sp>
    </p:spTree>
    <p:extLst>
      <p:ext uri="{BB962C8B-B14F-4D97-AF65-F5344CB8AC3E}">
        <p14:creationId xmlns:p14="http://schemas.microsoft.com/office/powerpoint/2010/main" val="103947124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Ensuring All Client Requests Are Handled Properly(9/10)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Wrapping Up :</a:t>
            </a:r>
            <a:endParaRPr lang="en-US" altLang="ko-KR" sz="1400" dirty="0"/>
          </a:p>
          <a:p>
            <a:pPr lvl="1">
              <a:buFont typeface="Wingdings" panose="05000000000000000000" pitchFamily="2" charset="2"/>
              <a:buChar char="§"/>
            </a:pPr>
            <a:r>
              <a:rPr lang="en-US" altLang="ko-KR" sz="1400" dirty="0"/>
              <a:t>To recap(summarize)—</a:t>
            </a:r>
            <a:r>
              <a:rPr lang="en-US" altLang="ko-KR" sz="1400" b="1" dirty="0"/>
              <a:t>properly shutting down an application </a:t>
            </a:r>
            <a:r>
              <a:rPr lang="en-US" altLang="ko-KR" sz="1400" dirty="0"/>
              <a:t>includes these steps :</a:t>
            </a:r>
          </a:p>
          <a:p>
            <a:pPr lvl="2">
              <a:buFont typeface="Wingdings" panose="05000000000000000000" pitchFamily="2" charset="2"/>
              <a:buChar char="§"/>
            </a:pPr>
            <a:r>
              <a:rPr lang="en-US" altLang="ko-KR" sz="1400" b="1" dirty="0"/>
              <a:t>Wait for a few seconds, then stop accepting new connections</a:t>
            </a:r>
            <a:r>
              <a:rPr lang="en-US" altLang="ko-KR" sz="1400" dirty="0"/>
              <a:t>.</a:t>
            </a:r>
          </a:p>
          <a:p>
            <a:pPr lvl="2">
              <a:buFont typeface="Wingdings" panose="05000000000000000000" pitchFamily="2" charset="2"/>
              <a:buChar char="§"/>
            </a:pPr>
            <a:r>
              <a:rPr lang="en-US" altLang="ko-KR" sz="1400" b="1" dirty="0"/>
              <a:t>Close all keep-alive connections not in the middle of a request</a:t>
            </a:r>
            <a:r>
              <a:rPr lang="en-US" altLang="ko-KR" sz="1400" dirty="0"/>
              <a:t>.</a:t>
            </a:r>
          </a:p>
          <a:p>
            <a:pPr lvl="2">
              <a:buFont typeface="Wingdings" panose="05000000000000000000" pitchFamily="2" charset="2"/>
              <a:buChar char="§"/>
            </a:pPr>
            <a:r>
              <a:rPr lang="en-US" altLang="ko-KR" sz="1400" b="1" dirty="0"/>
              <a:t>Wait for all active requests to finish</a:t>
            </a:r>
            <a:r>
              <a:rPr lang="en-US" altLang="ko-KR" sz="1400" dirty="0"/>
              <a:t>.</a:t>
            </a:r>
          </a:p>
          <a:p>
            <a:pPr lvl="2">
              <a:buFont typeface="Wingdings" panose="05000000000000000000" pitchFamily="2" charset="2"/>
              <a:buChar char="§"/>
            </a:pPr>
            <a:r>
              <a:rPr lang="en-US" altLang="ko-KR" sz="1400" b="1" dirty="0"/>
              <a:t>Then shut down completely</a:t>
            </a:r>
            <a:r>
              <a:rPr lang="en-US" altLang="ko-KR" sz="1400" dirty="0"/>
              <a:t>.</a:t>
            </a:r>
          </a:p>
          <a:p>
            <a:pPr lvl="1">
              <a:buFont typeface="Wingdings" panose="05000000000000000000" pitchFamily="2" charset="2"/>
              <a:buChar char="§"/>
            </a:pPr>
            <a:r>
              <a:rPr lang="en-US" altLang="ko-KR" sz="1400" dirty="0"/>
              <a:t>To understand what’s happening with the connections and requests during this process, examine the following figure carefully.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9EFB9165-420C-28CC-0E72-5C3327263556}"/>
              </a:ext>
            </a:extLst>
          </p:cNvPr>
          <p:cNvGrpSpPr/>
          <p:nvPr/>
        </p:nvGrpSpPr>
        <p:grpSpPr>
          <a:xfrm>
            <a:off x="2179938" y="2861131"/>
            <a:ext cx="7832124" cy="3547899"/>
            <a:chOff x="2179938" y="2861131"/>
            <a:chExt cx="7832124" cy="3547899"/>
          </a:xfrm>
        </p:grpSpPr>
        <p:pic>
          <p:nvPicPr>
            <p:cNvPr id="10" name="그림 9">
              <a:extLst>
                <a:ext uri="{FF2B5EF4-FFF2-40B4-BE49-F238E27FC236}">
                  <a16:creationId xmlns:a16="http://schemas.microsoft.com/office/drawing/2014/main" id="{C0DE5A10-9609-40AC-9CDD-5986230D7145}"/>
                </a:ext>
              </a:extLst>
            </p:cNvPr>
            <p:cNvPicPr>
              <a:picLocks noChangeAspect="1"/>
            </p:cNvPicPr>
            <p:nvPr/>
          </p:nvPicPr>
          <p:blipFill>
            <a:blip r:embed="rId2"/>
            <a:stretch>
              <a:fillRect/>
            </a:stretch>
          </p:blipFill>
          <p:spPr>
            <a:xfrm>
              <a:off x="2179938" y="2861131"/>
              <a:ext cx="7832124" cy="3547899"/>
            </a:xfrm>
            <a:prstGeom prst="rect">
              <a:avLst/>
            </a:prstGeom>
          </p:spPr>
        </p:pic>
        <p:sp>
          <p:nvSpPr>
            <p:cNvPr id="11" name="직사각형 10">
              <a:extLst>
                <a:ext uri="{FF2B5EF4-FFF2-40B4-BE49-F238E27FC236}">
                  <a16:creationId xmlns:a16="http://schemas.microsoft.com/office/drawing/2014/main" id="{7CB50142-AC56-6A9D-CD0E-BC63C89B399C}"/>
                </a:ext>
              </a:extLst>
            </p:cNvPr>
            <p:cNvSpPr/>
            <p:nvPr/>
          </p:nvSpPr>
          <p:spPr>
            <a:xfrm>
              <a:off x="4234249" y="2932670"/>
              <a:ext cx="1293341" cy="2059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9571762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Ensuring All Client Requests Are Handled Properly(10/10)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Wrapping Up :</a:t>
            </a:r>
            <a:endParaRPr lang="en-US" altLang="ko-KR" sz="1400" dirty="0"/>
          </a:p>
          <a:p>
            <a:pPr lvl="1">
              <a:buFont typeface="Wingdings" panose="05000000000000000000" pitchFamily="2" charset="2"/>
              <a:buChar char="§"/>
            </a:pPr>
            <a:r>
              <a:rPr lang="en-US" altLang="ko-KR" sz="1400" b="1" dirty="0"/>
              <a:t>Not as simple as exiting the process immediately upon receiving the termination signal</a:t>
            </a:r>
            <a:r>
              <a:rPr lang="en-US" altLang="ko-KR" sz="1400" dirty="0"/>
              <a:t>, </a:t>
            </a:r>
            <a:r>
              <a:rPr lang="en-US" altLang="ko-KR" sz="1400" b="1" dirty="0"/>
              <a:t>right?</a:t>
            </a:r>
            <a:r>
              <a:rPr lang="en-US" altLang="ko-KR" sz="1400" dirty="0"/>
              <a:t> Is it worth going through all this? That’s for you to decide. But the least you can do is </a:t>
            </a:r>
            <a:r>
              <a:rPr lang="en-US" altLang="ko-KR" sz="1400" b="1" dirty="0">
                <a:solidFill>
                  <a:srgbClr val="FF0000"/>
                </a:solidFill>
              </a:rPr>
              <a:t>add a pre-stop hook that waits a few seconds</a:t>
            </a:r>
            <a:r>
              <a:rPr lang="en-US" altLang="ko-KR" sz="1400" dirty="0"/>
              <a:t>, like the one in the following listing, perhaps.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This way, you don’t need to modify the code of your app at all</a:t>
            </a:r>
            <a:r>
              <a:rPr lang="en-US" altLang="ko-KR" sz="1400" dirty="0"/>
              <a:t>. If your app already ensures all in-flight requests are processed completely, this pre-stop delay may be all you need.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177D391-59E0-2C3F-2830-B3E973D6E93B}"/>
              </a:ext>
            </a:extLst>
          </p:cNvPr>
          <p:cNvSpPr txBox="1"/>
          <p:nvPr/>
        </p:nvSpPr>
        <p:spPr>
          <a:xfrm>
            <a:off x="3047326" y="2051218"/>
            <a:ext cx="6097348" cy="1169551"/>
          </a:xfrm>
          <a:prstGeom prst="rect">
            <a:avLst/>
          </a:prstGeom>
          <a:noFill/>
          <a:ln>
            <a:solidFill>
              <a:schemeClr val="bg1">
                <a:lumMod val="50000"/>
              </a:schemeClr>
            </a:solidFill>
          </a:ln>
        </p:spPr>
        <p:txBody>
          <a:bodyPr wrap="square">
            <a:spAutoFit/>
          </a:bodyPr>
          <a:lstStyle/>
          <a:p>
            <a:r>
              <a:rPr lang="en-US" altLang="ko-KR" sz="1000" b="1" dirty="0"/>
              <a:t>lifecycle:</a:t>
            </a:r>
          </a:p>
          <a:p>
            <a:r>
              <a:rPr lang="en-US" altLang="ko-KR" sz="1000" b="1" dirty="0"/>
              <a:t>  </a:t>
            </a:r>
            <a:r>
              <a:rPr lang="en-US" altLang="ko-KR" sz="1000" b="1" dirty="0" err="1">
                <a:solidFill>
                  <a:srgbClr val="FF0000"/>
                </a:solidFill>
              </a:rPr>
              <a:t>preStop</a:t>
            </a:r>
            <a:r>
              <a:rPr lang="en-US" altLang="ko-KR" sz="1000" b="1" dirty="0"/>
              <a:t>:</a:t>
            </a:r>
          </a:p>
          <a:p>
            <a:r>
              <a:rPr lang="en-US" altLang="ko-KR" sz="1000" b="1" dirty="0"/>
              <a:t>    exec:</a:t>
            </a:r>
          </a:p>
          <a:p>
            <a:r>
              <a:rPr lang="en-US" altLang="ko-KR" sz="1000" b="1" dirty="0"/>
              <a:t>      command:</a:t>
            </a:r>
          </a:p>
          <a:p>
            <a:r>
              <a:rPr lang="en-US" altLang="ko-KR" sz="1000" b="1" dirty="0"/>
              <a:t>      - </a:t>
            </a:r>
            <a:r>
              <a:rPr lang="en-US" altLang="ko-KR" sz="1000" b="1" dirty="0" err="1"/>
              <a:t>sh</a:t>
            </a:r>
            <a:endParaRPr lang="en-US" altLang="ko-KR" sz="1000" b="1" dirty="0"/>
          </a:p>
          <a:p>
            <a:r>
              <a:rPr lang="en-US" altLang="ko-KR" sz="1000" b="1" dirty="0"/>
              <a:t>      - -c</a:t>
            </a:r>
          </a:p>
          <a:p>
            <a:r>
              <a:rPr lang="en-US" altLang="ko-KR" sz="1000" b="1" dirty="0"/>
              <a:t>      - "</a:t>
            </a:r>
            <a:r>
              <a:rPr lang="en-US" altLang="ko-KR" sz="1000" b="1" dirty="0">
                <a:solidFill>
                  <a:srgbClr val="FF0000"/>
                </a:solidFill>
              </a:rPr>
              <a:t>sleep 5</a:t>
            </a:r>
            <a:r>
              <a:rPr lang="en-US" altLang="ko-KR" sz="1000" b="1" dirty="0"/>
              <a:t>"</a:t>
            </a:r>
            <a:endParaRPr lang="ko-KR" altLang="en-US" sz="1000" b="1" dirty="0"/>
          </a:p>
        </p:txBody>
      </p:sp>
      <p:grpSp>
        <p:nvGrpSpPr>
          <p:cNvPr id="10" name="그룹 9">
            <a:extLst>
              <a:ext uri="{FF2B5EF4-FFF2-40B4-BE49-F238E27FC236}">
                <a16:creationId xmlns:a16="http://schemas.microsoft.com/office/drawing/2014/main" id="{5888E8EB-D635-7966-8197-ECA1D09CD847}"/>
              </a:ext>
            </a:extLst>
          </p:cNvPr>
          <p:cNvGrpSpPr/>
          <p:nvPr/>
        </p:nvGrpSpPr>
        <p:grpSpPr>
          <a:xfrm>
            <a:off x="3827532" y="4241477"/>
            <a:ext cx="4536935" cy="2114873"/>
            <a:chOff x="3827532" y="4171935"/>
            <a:chExt cx="4536935" cy="2114873"/>
          </a:xfrm>
        </p:grpSpPr>
        <p:pic>
          <p:nvPicPr>
            <p:cNvPr id="1026" name="Picture 2" descr="Zero-Downtime Rolling Deployments in Kubernetes | Rakuten Engineering Blog">
              <a:extLst>
                <a:ext uri="{FF2B5EF4-FFF2-40B4-BE49-F238E27FC236}">
                  <a16:creationId xmlns:a16="http://schemas.microsoft.com/office/drawing/2014/main" id="{2A5EFB59-AD70-6946-36FC-AA46EA711D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7532" y="4171935"/>
              <a:ext cx="4536935" cy="211487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1E7D533-B67C-0C28-1DAC-4E8A4BD59963}"/>
                </a:ext>
              </a:extLst>
            </p:cNvPr>
            <p:cNvSpPr txBox="1"/>
            <p:nvPr/>
          </p:nvSpPr>
          <p:spPr>
            <a:xfrm>
              <a:off x="4978604" y="4766209"/>
              <a:ext cx="619080" cy="246221"/>
            </a:xfrm>
            <a:prstGeom prst="rect">
              <a:avLst/>
            </a:prstGeom>
            <a:noFill/>
          </p:spPr>
          <p:txBody>
            <a:bodyPr wrap="none" rtlCol="0">
              <a:spAutoFit/>
            </a:bodyPr>
            <a:lstStyle/>
            <a:p>
              <a:pPr algn="ctr"/>
              <a:r>
                <a:rPr lang="en-US" altLang="ko-KR" sz="1000" b="1" dirty="0">
                  <a:solidFill>
                    <a:srgbClr val="FF0000"/>
                  </a:solidFill>
                </a:rPr>
                <a:t>sleep</a:t>
              </a:r>
              <a:r>
                <a:rPr lang="ko-KR" altLang="en-US" sz="1000" b="1" dirty="0">
                  <a:solidFill>
                    <a:srgbClr val="FF0000"/>
                  </a:solidFill>
                </a:rPr>
                <a:t> </a:t>
              </a:r>
              <a:r>
                <a:rPr lang="en-US" altLang="ko-KR" sz="1000" b="1" dirty="0">
                  <a:solidFill>
                    <a:srgbClr val="FF0000"/>
                  </a:solidFill>
                </a:rPr>
                <a:t>5</a:t>
              </a:r>
              <a:endParaRPr lang="ko-KR" altLang="en-US" sz="1000" b="1" dirty="0">
                <a:solidFill>
                  <a:srgbClr val="FF0000"/>
                </a:solidFill>
              </a:endParaRPr>
            </a:p>
          </p:txBody>
        </p:sp>
      </p:grpSp>
    </p:spTree>
    <p:extLst>
      <p:ext uri="{BB962C8B-B14F-4D97-AF65-F5344CB8AC3E}">
        <p14:creationId xmlns:p14="http://schemas.microsoft.com/office/powerpoint/2010/main" val="7463723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Making Your Apps Easy to Run and Manage in Kubernetes(1/13)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Making Manageable Container Images :</a:t>
            </a:r>
            <a:endParaRPr lang="en-US" altLang="ko-KR" sz="1400" dirty="0"/>
          </a:p>
          <a:p>
            <a:pPr lvl="1">
              <a:buFont typeface="Wingdings" panose="05000000000000000000" pitchFamily="2" charset="2"/>
              <a:buChar char="§"/>
            </a:pPr>
            <a:r>
              <a:rPr lang="en-US" altLang="ko-KR" sz="1400" b="1" dirty="0"/>
              <a:t>When you package your app into an image, you can choose to include the app’s binary executable and any additional libraries it needs, or you can package up a whole OS filesystem along with the app</a:t>
            </a:r>
            <a:r>
              <a:rPr lang="en-US" altLang="ko-KR" sz="1400" dirty="0"/>
              <a:t>. Way too many people do this, even though it’s usually unnecessary.</a:t>
            </a:r>
          </a:p>
          <a:p>
            <a:pPr lvl="1">
              <a:buFont typeface="Wingdings" panose="05000000000000000000" pitchFamily="2" charset="2"/>
              <a:buChar char="§"/>
            </a:pPr>
            <a:r>
              <a:rPr lang="en-US" altLang="ko-KR" sz="1400" b="1" dirty="0"/>
              <a:t>Do you need every single file from an OS distribution in your image? Probably not. Most of the files will never be used and will make your image larger than it needs to be</a:t>
            </a:r>
            <a:r>
              <a:rPr lang="en-US" altLang="ko-KR" sz="1400" dirty="0"/>
              <a:t>. Sure, the layering of images makes sure each individual layer is downloaded only once, but even having to wait longer than necessary the first time a pod is scheduled to a node is undesirable.</a:t>
            </a:r>
          </a:p>
          <a:p>
            <a:pPr lvl="1">
              <a:buFont typeface="Wingdings" panose="05000000000000000000" pitchFamily="2" charset="2"/>
              <a:buChar char="§"/>
            </a:pPr>
            <a:r>
              <a:rPr lang="en-US" altLang="ko-KR" sz="1400" b="1" dirty="0">
                <a:solidFill>
                  <a:srgbClr val="FF0000"/>
                </a:solidFill>
              </a:rPr>
              <a:t>Deploying new pods and scaling them should be fast</a:t>
            </a:r>
            <a:r>
              <a:rPr lang="en-US" altLang="ko-KR" sz="1400" dirty="0"/>
              <a:t>. </a:t>
            </a:r>
            <a:r>
              <a:rPr lang="en-US" altLang="ko-KR" sz="1400" b="1" dirty="0"/>
              <a:t>This demands having small images without unnecessary cruft</a:t>
            </a:r>
            <a:r>
              <a:rPr lang="en-US" altLang="ko-KR" sz="1400" dirty="0"/>
              <a:t>. If you’re building apps using the “</a:t>
            </a:r>
            <a:r>
              <a:rPr lang="en-US" altLang="ko-KR" sz="1400" b="1" dirty="0"/>
              <a:t>Go</a:t>
            </a:r>
            <a:r>
              <a:rPr lang="en-US" altLang="ko-KR" sz="1400" dirty="0"/>
              <a:t>” language, your images don’t need to include anything else apart from the app’s single binary executable file. This makes </a:t>
            </a:r>
            <a:r>
              <a:rPr lang="en-US" altLang="ko-KR" sz="1400" b="1" dirty="0"/>
              <a:t>Go-based container images extremely small and perfect for Kubernetes</a:t>
            </a:r>
            <a:r>
              <a:rPr lang="en-US" altLang="ko-KR" sz="1400" dirty="0"/>
              <a:t>.</a:t>
            </a:r>
          </a:p>
          <a:p>
            <a:pPr lvl="1">
              <a:buFont typeface="Wingdings" panose="05000000000000000000" pitchFamily="2" charset="2"/>
              <a:buChar char="§"/>
            </a:pPr>
            <a:r>
              <a:rPr lang="en-US" altLang="ko-KR" sz="1400" b="1" dirty="0"/>
              <a:t>NOTE : Use the “</a:t>
            </a:r>
            <a:r>
              <a:rPr lang="en-US" altLang="ko-KR" sz="1400" b="1" dirty="0">
                <a:solidFill>
                  <a:srgbClr val="FF0000"/>
                </a:solidFill>
              </a:rPr>
              <a:t>FROM scratch</a:t>
            </a:r>
            <a:r>
              <a:rPr lang="en-US" altLang="ko-KR" sz="1400" b="1" dirty="0"/>
              <a:t>” directive in the “</a:t>
            </a:r>
            <a:r>
              <a:rPr lang="en-US" altLang="ko-KR" sz="1400" b="1" dirty="0" err="1"/>
              <a:t>Dockerfile</a:t>
            </a:r>
            <a:r>
              <a:rPr lang="en-US" altLang="ko-KR" sz="1400" b="1" dirty="0"/>
              <a:t>” for these images</a:t>
            </a:r>
            <a:r>
              <a:rPr lang="en-US" altLang="ko-KR" sz="1400" dirty="0"/>
              <a:t>.</a:t>
            </a:r>
          </a:p>
          <a:p>
            <a:pPr lvl="1">
              <a:buFont typeface="Wingdings" panose="05000000000000000000" pitchFamily="2" charset="2"/>
              <a:buChar char="§"/>
            </a:pPr>
            <a:r>
              <a:rPr lang="en-US" altLang="ko-KR" sz="1400" b="1" dirty="0"/>
              <a:t>But in practice, you’ll soon see these minimal images are extremely difficult to debug</a:t>
            </a:r>
            <a:r>
              <a:rPr lang="en-US" altLang="ko-KR" sz="1400" dirty="0"/>
              <a:t>. The first time you need to run a tool such as “</a:t>
            </a:r>
            <a:r>
              <a:rPr lang="en-US" altLang="ko-KR" sz="1400" b="1" dirty="0"/>
              <a:t>ping</a:t>
            </a:r>
            <a:r>
              <a:rPr lang="en-US" altLang="ko-KR" sz="1400" dirty="0"/>
              <a:t>”, “</a:t>
            </a:r>
            <a:r>
              <a:rPr lang="en-US" altLang="ko-KR" sz="1400" b="1" dirty="0"/>
              <a:t>dig(DNS Lookup Utility)</a:t>
            </a:r>
            <a:r>
              <a:rPr lang="en-US" altLang="ko-KR" sz="1400" dirty="0"/>
              <a:t>”, “</a:t>
            </a:r>
            <a:r>
              <a:rPr lang="en-US" altLang="ko-KR" sz="1400" b="1" dirty="0"/>
              <a:t>curl</a:t>
            </a:r>
            <a:r>
              <a:rPr lang="en-US" altLang="ko-KR" sz="1400" dirty="0"/>
              <a:t>”, or something similar inside the container, you’ll realize how important it is for </a:t>
            </a:r>
            <a:r>
              <a:rPr lang="en-US" altLang="ko-KR" sz="1400" b="1" dirty="0"/>
              <a:t>container images to also include at least a limited set of these tools</a:t>
            </a:r>
            <a:r>
              <a:rPr lang="en-US" altLang="ko-KR" sz="1400" dirty="0"/>
              <a:t>. I can’t tell you what to include and what not to include in your images, because it depends on how you do things, so you’ll need to find the sweet spot yourself.</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6092DAAF-B72F-1C05-EE8F-274963550051}"/>
              </a:ext>
            </a:extLst>
          </p:cNvPr>
          <p:cNvPicPr>
            <a:picLocks noChangeAspect="1"/>
          </p:cNvPicPr>
          <p:nvPr/>
        </p:nvPicPr>
        <p:blipFill>
          <a:blip r:embed="rId2"/>
          <a:stretch>
            <a:fillRect/>
          </a:stretch>
        </p:blipFill>
        <p:spPr>
          <a:xfrm>
            <a:off x="3734061" y="4700243"/>
            <a:ext cx="4723878" cy="1708787"/>
          </a:xfrm>
          <a:prstGeom prst="rect">
            <a:avLst/>
          </a:prstGeom>
        </p:spPr>
      </p:pic>
    </p:spTree>
    <p:extLst>
      <p:ext uri="{BB962C8B-B14F-4D97-AF65-F5344CB8AC3E}">
        <p14:creationId xmlns:p14="http://schemas.microsoft.com/office/powerpoint/2010/main" val="157919709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Making Your Apps Easy to Run and Manage in Kubernetes(2/13)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Properly Tagging Your Images and Using </a:t>
            </a:r>
            <a:r>
              <a:rPr lang="en-US" altLang="ko-KR" sz="1800" b="1" dirty="0" err="1"/>
              <a:t>imagePullPolicy</a:t>
            </a:r>
            <a:r>
              <a:rPr lang="en-US" altLang="ko-KR" sz="1800" b="1" dirty="0"/>
              <a:t> Wisely :</a:t>
            </a:r>
            <a:endParaRPr lang="en-US" altLang="ko-KR" sz="1400" dirty="0"/>
          </a:p>
          <a:p>
            <a:pPr lvl="1">
              <a:buFont typeface="Wingdings" panose="05000000000000000000" pitchFamily="2" charset="2"/>
              <a:buChar char="§"/>
            </a:pPr>
            <a:r>
              <a:rPr lang="en-US" altLang="ko-KR" sz="1400" b="1" dirty="0"/>
              <a:t>You’ll also soon learn that referring to the latest image tag in your pod manifests will cause problems, because you can’t tell which version of the image each individual pod replica is running</a:t>
            </a:r>
            <a:r>
              <a:rPr lang="en-US" altLang="ko-KR" sz="1400" dirty="0"/>
              <a:t>. Even if initially all your pod replicas run the same image version, </a:t>
            </a:r>
            <a:r>
              <a:rPr lang="en-US" altLang="ko-KR" sz="1400" b="1" dirty="0">
                <a:solidFill>
                  <a:srgbClr val="FF0000"/>
                </a:solidFill>
              </a:rPr>
              <a:t>if you push a new version of the image under the latest tag, and then pods are rescheduled</a:t>
            </a:r>
            <a:r>
              <a:rPr lang="en-US" altLang="ko-KR" sz="1400" b="1" dirty="0"/>
              <a:t> (or you scale up your Deployment)</a:t>
            </a:r>
            <a:r>
              <a:rPr lang="en-US" altLang="ko-KR" sz="1400" dirty="0"/>
              <a:t>, </a:t>
            </a:r>
            <a:r>
              <a:rPr lang="en-US" altLang="ko-KR" sz="1400" b="1" dirty="0"/>
              <a:t>the new pods will run the new version, whereas the old ones will still be running the old one</a:t>
            </a:r>
            <a:r>
              <a:rPr lang="en-US" altLang="ko-KR" sz="1400" dirty="0"/>
              <a:t>. </a:t>
            </a:r>
            <a:r>
              <a:rPr lang="en-US" altLang="ko-KR" sz="1400" b="1" dirty="0"/>
              <a:t>Also, </a:t>
            </a:r>
            <a:r>
              <a:rPr lang="en-US" altLang="ko-KR" sz="1400" b="1" dirty="0">
                <a:solidFill>
                  <a:srgbClr val="FF0000"/>
                </a:solidFill>
              </a:rPr>
              <a:t>using the latest tag makes it impossible to roll back to a previous version</a:t>
            </a:r>
            <a:r>
              <a:rPr lang="en-US" altLang="ko-KR" sz="1400" b="1" dirty="0"/>
              <a:t> (unless you push the old version of the image again)</a:t>
            </a:r>
            <a:r>
              <a:rPr lang="en-US" altLang="ko-KR" sz="1400" dirty="0"/>
              <a:t>.</a:t>
            </a:r>
          </a:p>
          <a:p>
            <a:pPr lvl="1">
              <a:buFont typeface="Wingdings" panose="05000000000000000000" pitchFamily="2" charset="2"/>
              <a:buChar char="§"/>
            </a:pPr>
            <a:r>
              <a:rPr lang="en-US" altLang="ko-KR" sz="1400" b="1" dirty="0"/>
              <a:t>It’s almost mandatory to use tags containing a proper version designator instead of latest, except maybe in development</a:t>
            </a:r>
            <a:r>
              <a:rPr lang="en-US" altLang="ko-KR" sz="1400" dirty="0"/>
              <a:t>. </a:t>
            </a:r>
            <a:r>
              <a:rPr lang="en-US" altLang="ko-KR" sz="1400" b="1" dirty="0"/>
              <a:t>Keep in mind that if you use mutable tags (you push changes to the same tag), you’ll need to set the “</a:t>
            </a:r>
            <a:r>
              <a:rPr lang="en-US" altLang="ko-KR" sz="1400" b="1" dirty="0" err="1">
                <a:solidFill>
                  <a:srgbClr val="FF0000"/>
                </a:solidFill>
              </a:rPr>
              <a:t>imagePullPolicy</a:t>
            </a:r>
            <a:r>
              <a:rPr lang="en-US" altLang="ko-KR" sz="1400" b="1" dirty="0"/>
              <a:t>” field in the pod spec to Always</a:t>
            </a:r>
            <a:r>
              <a:rPr lang="en-US" altLang="ko-KR" sz="1400" dirty="0"/>
              <a:t>. But if you use that in production pods, be aware of the big caveat associated with it. </a:t>
            </a:r>
            <a:r>
              <a:rPr lang="en-US" altLang="ko-KR" sz="1400" b="1" dirty="0"/>
              <a:t>If the image pull policy is set to “</a:t>
            </a:r>
            <a:r>
              <a:rPr lang="en-US" altLang="ko-KR" sz="1400" b="1" dirty="0">
                <a:solidFill>
                  <a:srgbClr val="FF0000"/>
                </a:solidFill>
              </a:rPr>
              <a:t>Always</a:t>
            </a:r>
            <a:r>
              <a:rPr lang="en-US" altLang="ko-KR" sz="1400" b="1" dirty="0"/>
              <a:t>”, the container runtime will contact the image registry every time a new pod is deployed</a:t>
            </a:r>
            <a:r>
              <a:rPr lang="en-US" altLang="ko-KR" sz="1400" dirty="0"/>
              <a:t>. </a:t>
            </a:r>
            <a:r>
              <a:rPr lang="en-US" altLang="ko-KR" sz="1400" b="1" dirty="0"/>
              <a:t>This slows down pod startup a bit, because the node needs to check if the image has  been modified</a:t>
            </a:r>
            <a:r>
              <a:rPr lang="en-US" altLang="ko-KR" sz="1400" dirty="0"/>
              <a:t>. </a:t>
            </a:r>
            <a:r>
              <a:rPr lang="en-US" altLang="ko-KR" sz="1400" b="1" dirty="0"/>
              <a:t>Worse yet, this policy prevents the pod from starting up when the registry cannot be contacted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54FFC05-58D4-5ED9-3099-017BA992CE27}"/>
              </a:ext>
            </a:extLst>
          </p:cNvPr>
          <p:cNvPicPr>
            <a:picLocks noChangeAspect="1"/>
          </p:cNvPicPr>
          <p:nvPr/>
        </p:nvPicPr>
        <p:blipFill>
          <a:blip r:embed="rId2"/>
          <a:stretch>
            <a:fillRect/>
          </a:stretch>
        </p:blipFill>
        <p:spPr>
          <a:xfrm>
            <a:off x="3374716" y="4023494"/>
            <a:ext cx="5442568" cy="2177027"/>
          </a:xfrm>
          <a:prstGeom prst="rect">
            <a:avLst/>
          </a:prstGeom>
        </p:spPr>
      </p:pic>
    </p:spTree>
    <p:extLst>
      <p:ext uri="{BB962C8B-B14F-4D97-AF65-F5344CB8AC3E}">
        <p14:creationId xmlns:p14="http://schemas.microsoft.com/office/powerpoint/2010/main" val="164428390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Making Your Apps Easy to Run and Manage in Kubernetes(3/13)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Multi-Dimensional Instead of Single-Dimensional Labels :</a:t>
            </a:r>
            <a:endParaRPr lang="en-US" altLang="ko-KR" sz="1400" dirty="0"/>
          </a:p>
          <a:p>
            <a:pPr lvl="1">
              <a:buFont typeface="Wingdings" panose="05000000000000000000" pitchFamily="2" charset="2"/>
              <a:buChar char="§"/>
            </a:pPr>
            <a:r>
              <a:rPr lang="en-US" altLang="ko-KR" sz="1400" b="1" dirty="0">
                <a:solidFill>
                  <a:srgbClr val="FF0000"/>
                </a:solidFill>
              </a:rPr>
              <a:t>Don’t forget to label all your resources, not only Pods</a:t>
            </a:r>
            <a:r>
              <a:rPr lang="en-US" altLang="ko-KR" sz="1400" dirty="0"/>
              <a:t>. </a:t>
            </a:r>
            <a:r>
              <a:rPr lang="en-US" altLang="ko-KR" sz="1400" b="1" dirty="0"/>
              <a:t>Make sure you add multiple labels to each resource, so they can be selected across each individual dimension</a:t>
            </a:r>
            <a:r>
              <a:rPr lang="en-US" altLang="ko-KR" sz="1400" dirty="0"/>
              <a:t>. You (or the ops team) will be grateful you did it when the number of resources increases. </a:t>
            </a:r>
          </a:p>
          <a:p>
            <a:pPr lvl="1">
              <a:buFont typeface="Wingdings" panose="05000000000000000000" pitchFamily="2" charset="2"/>
              <a:buChar char="§"/>
            </a:pPr>
            <a:r>
              <a:rPr lang="en-US" altLang="ko-KR" sz="1400" dirty="0"/>
              <a:t>Labels may include things like : </a:t>
            </a:r>
          </a:p>
          <a:p>
            <a:pPr lvl="2">
              <a:buFont typeface="Wingdings" panose="05000000000000000000" pitchFamily="2" charset="2"/>
              <a:buChar char="§"/>
            </a:pPr>
            <a:r>
              <a:rPr lang="en-US" altLang="ko-KR" sz="1400" b="1" dirty="0"/>
              <a:t>The name of the application </a:t>
            </a:r>
            <a:r>
              <a:rPr lang="en-US" altLang="ko-KR" sz="1400" dirty="0"/>
              <a:t>(or perhaps microservice) the resource belongs to</a:t>
            </a:r>
          </a:p>
          <a:p>
            <a:pPr lvl="2">
              <a:buFont typeface="Wingdings" panose="05000000000000000000" pitchFamily="2" charset="2"/>
              <a:buChar char="§"/>
            </a:pPr>
            <a:r>
              <a:rPr lang="en-US" altLang="ko-KR" sz="1400" b="1" dirty="0"/>
              <a:t>Application tier </a:t>
            </a:r>
            <a:r>
              <a:rPr lang="en-US" altLang="ko-KR" sz="1400" dirty="0"/>
              <a:t>(front-end, back-end, and so on)</a:t>
            </a:r>
          </a:p>
          <a:p>
            <a:pPr lvl="2">
              <a:buFont typeface="Wingdings" panose="05000000000000000000" pitchFamily="2" charset="2"/>
              <a:buChar char="§"/>
            </a:pPr>
            <a:r>
              <a:rPr lang="en-US" altLang="ko-KR" sz="1400" b="1" dirty="0"/>
              <a:t>Environment</a:t>
            </a:r>
            <a:r>
              <a:rPr lang="en-US" altLang="ko-KR" sz="1400" dirty="0"/>
              <a:t> (development, QA, staging, production, and so on)</a:t>
            </a:r>
          </a:p>
          <a:p>
            <a:pPr lvl="2">
              <a:buFont typeface="Wingdings" panose="05000000000000000000" pitchFamily="2" charset="2"/>
              <a:buChar char="§"/>
            </a:pPr>
            <a:r>
              <a:rPr lang="en-US" altLang="ko-KR" sz="1400" b="1" dirty="0"/>
              <a:t>Version</a:t>
            </a:r>
          </a:p>
          <a:p>
            <a:pPr lvl="2">
              <a:buFont typeface="Wingdings" panose="05000000000000000000" pitchFamily="2" charset="2"/>
              <a:buChar char="§"/>
            </a:pPr>
            <a:r>
              <a:rPr lang="en-US" altLang="ko-KR" sz="1400" b="1" dirty="0"/>
              <a:t>Type of release </a:t>
            </a:r>
            <a:r>
              <a:rPr lang="en-US" altLang="ko-KR" sz="1400" dirty="0"/>
              <a:t>(stable, canary, green or blue for green/blue deployments, and so on)</a:t>
            </a:r>
          </a:p>
          <a:p>
            <a:pPr lvl="2">
              <a:buFont typeface="Wingdings" panose="05000000000000000000" pitchFamily="2" charset="2"/>
              <a:buChar char="§"/>
            </a:pPr>
            <a:r>
              <a:rPr lang="en-US" altLang="ko-KR" sz="1400" b="1" dirty="0"/>
              <a:t>Tenant</a:t>
            </a:r>
            <a:r>
              <a:rPr lang="en-US" altLang="ko-KR" sz="1400" dirty="0"/>
              <a:t> (if you’re running separate pods for each tenant instead of using namespaces)</a:t>
            </a:r>
          </a:p>
          <a:p>
            <a:pPr lvl="2">
              <a:buFont typeface="Wingdings" panose="05000000000000000000" pitchFamily="2" charset="2"/>
              <a:buChar char="§"/>
            </a:pPr>
            <a:r>
              <a:rPr lang="en-US" altLang="ko-KR" sz="1400" b="1" dirty="0"/>
              <a:t>Shard</a:t>
            </a:r>
            <a:r>
              <a:rPr lang="en-US" altLang="ko-KR" sz="1400" dirty="0"/>
              <a:t> for sharded systems </a:t>
            </a:r>
          </a:p>
          <a:p>
            <a:pPr lvl="1">
              <a:buFont typeface="Wingdings" panose="05000000000000000000" pitchFamily="2" charset="2"/>
              <a:buChar char="§"/>
            </a:pPr>
            <a:r>
              <a:rPr lang="en-US" altLang="ko-KR" sz="1400" b="1" dirty="0"/>
              <a:t>This will allow you to manage resources in groups instead of individually and make it easy to see where each resource belongs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6436D275-35A6-DEF1-A4B5-0DA0AE2661F0}"/>
              </a:ext>
            </a:extLst>
          </p:cNvPr>
          <p:cNvPicPr>
            <a:picLocks noChangeAspect="1"/>
          </p:cNvPicPr>
          <p:nvPr/>
        </p:nvPicPr>
        <p:blipFill>
          <a:blip r:embed="rId2"/>
          <a:stretch>
            <a:fillRect/>
          </a:stretch>
        </p:blipFill>
        <p:spPr>
          <a:xfrm>
            <a:off x="7655065" y="4085045"/>
            <a:ext cx="3698735" cy="2323985"/>
          </a:xfrm>
          <a:prstGeom prst="rect">
            <a:avLst/>
          </a:prstGeom>
        </p:spPr>
      </p:pic>
    </p:spTree>
    <p:extLst>
      <p:ext uri="{BB962C8B-B14F-4D97-AF65-F5344CB8AC3E}">
        <p14:creationId xmlns:p14="http://schemas.microsoft.com/office/powerpoint/2010/main" val="56688140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Making Your Apps Easy to Run and Manage in Kubernetes(4/13)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Describing Each Resource Through Annotations :</a:t>
            </a:r>
            <a:endParaRPr lang="en-US" altLang="ko-KR" sz="1400" dirty="0"/>
          </a:p>
          <a:p>
            <a:pPr lvl="1">
              <a:buFont typeface="Wingdings" panose="05000000000000000000" pitchFamily="2" charset="2"/>
              <a:buChar char="§"/>
            </a:pPr>
            <a:r>
              <a:rPr lang="en-US" altLang="ko-KR" sz="1400" b="1" dirty="0"/>
              <a:t>To add additional information to your resources use </a:t>
            </a:r>
            <a:r>
              <a:rPr lang="en-US" altLang="ko-KR" sz="1400" b="1" dirty="0">
                <a:solidFill>
                  <a:srgbClr val="FF0000"/>
                </a:solidFill>
              </a:rPr>
              <a:t>annotations</a:t>
            </a:r>
            <a:r>
              <a:rPr lang="en-US" altLang="ko-KR" sz="1400" dirty="0"/>
              <a:t>. </a:t>
            </a:r>
            <a:r>
              <a:rPr lang="en-US" altLang="ko-KR" sz="1400" b="1" dirty="0"/>
              <a:t>At the least, resources should contain an annotation </a:t>
            </a:r>
            <a:r>
              <a:rPr lang="en-US" altLang="ko-KR" sz="1400" b="1" dirty="0">
                <a:solidFill>
                  <a:srgbClr val="FF0000"/>
                </a:solidFill>
              </a:rPr>
              <a:t>describing the resource </a:t>
            </a:r>
            <a:r>
              <a:rPr lang="en-US" altLang="ko-KR" sz="1400" b="1" dirty="0"/>
              <a:t>and an annotation with </a:t>
            </a:r>
            <a:r>
              <a:rPr lang="en-US" altLang="ko-KR" sz="1400" b="1" dirty="0">
                <a:solidFill>
                  <a:srgbClr val="FF0000"/>
                </a:solidFill>
              </a:rPr>
              <a:t>contact information </a:t>
            </a:r>
            <a:r>
              <a:rPr lang="en-US" altLang="ko-KR" sz="1400" b="1" dirty="0"/>
              <a:t>of the person responsible for it</a:t>
            </a:r>
            <a:r>
              <a:rPr lang="en-US" altLang="ko-KR" sz="1400" dirty="0"/>
              <a:t>. </a:t>
            </a:r>
          </a:p>
          <a:p>
            <a:pPr lvl="1">
              <a:buFont typeface="Wingdings" panose="05000000000000000000" pitchFamily="2" charset="2"/>
              <a:buChar char="§"/>
            </a:pPr>
            <a:r>
              <a:rPr lang="en-US" altLang="ko-KR" sz="1400" b="1" dirty="0"/>
              <a:t>In a microservices architecture, pods could contain an annotation that lists the names of the other services the pod is using</a:t>
            </a:r>
            <a:r>
              <a:rPr lang="en-US" altLang="ko-KR" sz="1400" dirty="0"/>
              <a:t>. This makes it possible to </a:t>
            </a:r>
            <a:r>
              <a:rPr lang="en-US" altLang="ko-KR" sz="1400" b="1" dirty="0">
                <a:solidFill>
                  <a:srgbClr val="FF0000"/>
                </a:solidFill>
              </a:rPr>
              <a:t>show dependencies between pods</a:t>
            </a:r>
            <a:r>
              <a:rPr lang="en-US" altLang="ko-KR" sz="1400" dirty="0"/>
              <a:t>. Other annotations could include </a:t>
            </a:r>
            <a:r>
              <a:rPr lang="en-US" altLang="ko-KR" sz="1400" b="1" dirty="0"/>
              <a:t>build and version information and metadata used by tooling or graphical user interfaces </a:t>
            </a:r>
            <a:r>
              <a:rPr lang="en-US" altLang="ko-KR" sz="1400" dirty="0"/>
              <a:t>(icon names, and so on).</a:t>
            </a:r>
          </a:p>
          <a:p>
            <a:pPr lvl="1">
              <a:buFont typeface="Wingdings" panose="05000000000000000000" pitchFamily="2" charset="2"/>
              <a:buChar char="§"/>
            </a:pPr>
            <a:r>
              <a:rPr lang="en-US" altLang="ko-KR" sz="1400" b="1" dirty="0"/>
              <a:t>Both labels and annotations make managing running applications much easier</a:t>
            </a:r>
            <a:r>
              <a:rPr lang="en-US" altLang="ko-KR" sz="1400" dirty="0"/>
              <a:t>, but nothing is worse than when an application starts crashing and you don’t know why.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D8107EFC-15D4-A6DA-561E-9C9D759FC96C}"/>
              </a:ext>
            </a:extLst>
          </p:cNvPr>
          <p:cNvPicPr>
            <a:picLocks noChangeAspect="1"/>
          </p:cNvPicPr>
          <p:nvPr/>
        </p:nvPicPr>
        <p:blipFill>
          <a:blip r:embed="rId2"/>
          <a:stretch>
            <a:fillRect/>
          </a:stretch>
        </p:blipFill>
        <p:spPr>
          <a:xfrm>
            <a:off x="2521974" y="3192983"/>
            <a:ext cx="7148052" cy="1524000"/>
          </a:xfrm>
          <a:prstGeom prst="rect">
            <a:avLst/>
          </a:prstGeom>
          <a:ln>
            <a:solidFill>
              <a:schemeClr val="bg1">
                <a:lumMod val="50000"/>
              </a:schemeClr>
            </a:solidFill>
          </a:ln>
        </p:spPr>
      </p:pic>
    </p:spTree>
    <p:extLst>
      <p:ext uri="{BB962C8B-B14F-4D97-AF65-F5344CB8AC3E}">
        <p14:creationId xmlns:p14="http://schemas.microsoft.com/office/powerpoint/2010/main" val="76348846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Making Your Apps Easy to Run and Manage in Kubernetes(5/13)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Information on Why The Process Terminated :</a:t>
            </a:r>
            <a:endParaRPr lang="en-US" altLang="ko-KR" sz="1400" dirty="0"/>
          </a:p>
          <a:p>
            <a:pPr lvl="1">
              <a:buFont typeface="Wingdings" panose="05000000000000000000" pitchFamily="2" charset="2"/>
              <a:buChar char="§"/>
            </a:pPr>
            <a:r>
              <a:rPr lang="en-US" altLang="ko-KR" sz="1400" b="1" dirty="0"/>
              <a:t>Nothing is more frustrating than having to figure out why a container terminated (or is even terminating continuously), especially if it happens at the worst possible moment</a:t>
            </a:r>
            <a:r>
              <a:rPr lang="en-US" altLang="ko-KR" sz="1400" dirty="0"/>
              <a:t>. Be nice to the ops people and make their lives easier by </a:t>
            </a:r>
            <a:r>
              <a:rPr lang="en-US" altLang="ko-KR" sz="1400" b="1" dirty="0">
                <a:solidFill>
                  <a:srgbClr val="FF0000"/>
                </a:solidFill>
              </a:rPr>
              <a:t>including all the necessary debug information in your log files</a:t>
            </a:r>
            <a:r>
              <a:rPr lang="en-US" altLang="ko-KR" sz="1400" dirty="0"/>
              <a:t>.</a:t>
            </a:r>
          </a:p>
          <a:p>
            <a:pPr lvl="1">
              <a:buFont typeface="Wingdings" panose="05000000000000000000" pitchFamily="2" charset="2"/>
              <a:buChar char="§"/>
            </a:pPr>
            <a:r>
              <a:rPr lang="en-US" altLang="ko-KR" sz="1400" b="1" dirty="0"/>
              <a:t>But to make triage even easier, you can use one other Kubernetes feature that makes it possible to show the reason why a container terminated in the pod’s status</a:t>
            </a:r>
            <a:r>
              <a:rPr lang="en-US" altLang="ko-KR" sz="1400" dirty="0"/>
              <a:t>. You do this by having the process </a:t>
            </a:r>
            <a:r>
              <a:rPr lang="en-US" altLang="ko-KR" sz="1400" b="1" dirty="0">
                <a:solidFill>
                  <a:srgbClr val="FF0000"/>
                </a:solidFill>
              </a:rPr>
              <a:t>write a termination message to a specific file in the container’s filesystem</a:t>
            </a:r>
            <a:r>
              <a:rPr lang="en-US" altLang="ko-KR" sz="1400" dirty="0"/>
              <a:t>. </a:t>
            </a:r>
            <a:r>
              <a:rPr lang="en-US" altLang="ko-KR" sz="1400" b="1" dirty="0"/>
              <a:t>The contents of this file are read by the </a:t>
            </a:r>
            <a:r>
              <a:rPr lang="en-US" altLang="ko-KR" sz="1400" b="1" dirty="0" err="1"/>
              <a:t>Kubelet</a:t>
            </a:r>
            <a:r>
              <a:rPr lang="en-US" altLang="ko-KR" sz="1400" b="1" dirty="0"/>
              <a:t> when the container terminates and are shown in the output of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describe pod</a:t>
            </a:r>
            <a:r>
              <a:rPr lang="en-US" altLang="ko-KR" sz="1400" b="1" dirty="0"/>
              <a:t>” command</a:t>
            </a:r>
            <a:r>
              <a:rPr lang="en-US" altLang="ko-KR" sz="1400" dirty="0"/>
              <a:t>. If an application uses this mechanism, an operator can quickly see why the app terminated without even having to look at the container logs.</a:t>
            </a:r>
          </a:p>
          <a:p>
            <a:pPr lvl="1">
              <a:buFont typeface="Wingdings" panose="05000000000000000000" pitchFamily="2" charset="2"/>
              <a:buChar char="§"/>
            </a:pPr>
            <a:r>
              <a:rPr lang="en-US" altLang="ko-KR" sz="1400" b="1" dirty="0"/>
              <a:t>The default file the process needs to write the message to is “</a:t>
            </a:r>
            <a:r>
              <a:rPr lang="en-US" altLang="ko-KR" sz="1400" b="1" dirty="0">
                <a:solidFill>
                  <a:srgbClr val="FF0000"/>
                </a:solidFill>
              </a:rPr>
              <a:t>/dev/termination-log</a:t>
            </a:r>
            <a:r>
              <a:rPr lang="en-US" altLang="ko-KR" sz="1400" b="1" dirty="0"/>
              <a:t>”</a:t>
            </a:r>
            <a:r>
              <a:rPr lang="en-US" altLang="ko-KR" sz="1400" dirty="0"/>
              <a:t>, </a:t>
            </a:r>
            <a:r>
              <a:rPr lang="en-US" altLang="ko-KR" sz="1400" b="1" dirty="0"/>
              <a:t>but it can be changed by setting the “</a:t>
            </a:r>
            <a:r>
              <a:rPr lang="en-US" altLang="ko-KR" sz="1400" b="1" dirty="0" err="1">
                <a:solidFill>
                  <a:srgbClr val="FF0000"/>
                </a:solidFill>
              </a:rPr>
              <a:t>terminationMessagePath</a:t>
            </a:r>
            <a:r>
              <a:rPr lang="en-US" altLang="ko-KR" sz="1400" b="1" dirty="0"/>
              <a:t>” field in the container definition in the pod spec</a:t>
            </a:r>
            <a:r>
              <a:rPr lang="en-US" altLang="ko-KR" sz="1400" dirty="0"/>
              <a:t>.</a:t>
            </a:r>
          </a:p>
          <a:p>
            <a:pPr lvl="1">
              <a:buFont typeface="Wingdings" panose="05000000000000000000" pitchFamily="2" charset="2"/>
              <a:buChar char="§"/>
            </a:pPr>
            <a:r>
              <a:rPr lang="en-US" altLang="ko-KR" sz="1400" dirty="0"/>
              <a:t>You can see this in action by running a pod whose container dies immediately,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91CB13E8-8E8A-EAD0-E464-D0A915DB0BD3}"/>
              </a:ext>
            </a:extLst>
          </p:cNvPr>
          <p:cNvGrpSpPr/>
          <p:nvPr/>
        </p:nvGrpSpPr>
        <p:grpSpPr>
          <a:xfrm>
            <a:off x="3047326" y="3951024"/>
            <a:ext cx="6097348" cy="2092881"/>
            <a:chOff x="3047326" y="3951024"/>
            <a:chExt cx="6097348" cy="2092881"/>
          </a:xfrm>
        </p:grpSpPr>
        <p:sp>
          <p:nvSpPr>
            <p:cNvPr id="9" name="TextBox 8">
              <a:extLst>
                <a:ext uri="{FF2B5EF4-FFF2-40B4-BE49-F238E27FC236}">
                  <a16:creationId xmlns:a16="http://schemas.microsoft.com/office/drawing/2014/main" id="{F6FE098D-9238-56BD-7BC2-DBFDA8CFB4FC}"/>
                </a:ext>
              </a:extLst>
            </p:cNvPr>
            <p:cNvSpPr txBox="1"/>
            <p:nvPr/>
          </p:nvSpPr>
          <p:spPr>
            <a:xfrm>
              <a:off x="3047326" y="3951024"/>
              <a:ext cx="6097348" cy="2092881"/>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pod-with-termination-message</a:t>
              </a:r>
            </a:p>
            <a:p>
              <a:r>
                <a:rPr lang="en-US" altLang="ko-KR" sz="1000" b="1" dirty="0"/>
                <a:t>spec:</a:t>
              </a:r>
            </a:p>
            <a:p>
              <a:r>
                <a:rPr lang="en-US" altLang="ko-KR" sz="1000" b="1" dirty="0"/>
                <a:t>  containers:</a:t>
              </a:r>
            </a:p>
            <a:p>
              <a:r>
                <a:rPr lang="en-US" altLang="ko-KR" sz="1000" b="1" dirty="0"/>
                <a:t>  - image: </a:t>
              </a:r>
              <a:r>
                <a:rPr lang="en-US" altLang="ko-KR" sz="1000" b="1" dirty="0" err="1"/>
                <a:t>busybox</a:t>
              </a:r>
              <a:endParaRPr lang="en-US" altLang="ko-KR" sz="1000" b="1" dirty="0"/>
            </a:p>
            <a:p>
              <a:r>
                <a:rPr lang="en-US" altLang="ko-KR" sz="1000" b="1" dirty="0"/>
                <a:t>    name: main</a:t>
              </a:r>
            </a:p>
            <a:p>
              <a:r>
                <a:rPr lang="en-US" altLang="ko-KR" sz="1000" b="1" dirty="0"/>
                <a:t>    command:</a:t>
              </a:r>
            </a:p>
            <a:p>
              <a:r>
                <a:rPr lang="en-US" altLang="ko-KR" sz="1000" b="1" dirty="0"/>
                <a:t>    - </a:t>
              </a:r>
              <a:r>
                <a:rPr lang="en-US" altLang="ko-KR" sz="1000" b="1" dirty="0" err="1"/>
                <a:t>sh</a:t>
              </a:r>
              <a:endParaRPr lang="en-US" altLang="ko-KR" sz="1000" b="1" dirty="0"/>
            </a:p>
            <a:p>
              <a:r>
                <a:rPr lang="en-US" altLang="ko-KR" sz="1000" b="1" dirty="0"/>
                <a:t>    - -c</a:t>
              </a:r>
            </a:p>
            <a:p>
              <a:r>
                <a:rPr lang="en-US" altLang="ko-KR" sz="1000" b="1" dirty="0"/>
                <a:t>    - 'echo "I''</a:t>
              </a:r>
              <a:r>
                <a:rPr lang="en-US" altLang="ko-KR" sz="1000" b="1" dirty="0" err="1"/>
                <a:t>ve</a:t>
              </a:r>
              <a:r>
                <a:rPr lang="en-US" altLang="ko-KR" sz="1000" b="1" dirty="0"/>
                <a:t> had enough" &gt; /var/termination-reason ; exit 1'</a:t>
              </a:r>
            </a:p>
            <a:p>
              <a:r>
                <a:rPr lang="en-US" altLang="ko-KR" sz="1000" b="1" dirty="0"/>
                <a:t>    </a:t>
              </a:r>
              <a:r>
                <a:rPr lang="en-US" altLang="ko-KR" sz="1000" b="1" dirty="0" err="1">
                  <a:solidFill>
                    <a:srgbClr val="FF0000"/>
                  </a:solidFill>
                </a:rPr>
                <a:t>terminationMessagePath</a:t>
              </a:r>
              <a:r>
                <a:rPr lang="en-US" altLang="ko-KR" sz="1000" b="1" dirty="0"/>
                <a:t>: </a:t>
              </a:r>
              <a:r>
                <a:rPr lang="en-US" altLang="ko-KR" sz="1000" b="1" dirty="0">
                  <a:solidFill>
                    <a:srgbClr val="FF0000"/>
                  </a:solidFill>
                </a:rPr>
                <a:t>/var/termination-reason</a:t>
              </a:r>
            </a:p>
          </p:txBody>
        </p:sp>
        <p:sp>
          <p:nvSpPr>
            <p:cNvPr id="10" name="TextBox 9">
              <a:extLst>
                <a:ext uri="{FF2B5EF4-FFF2-40B4-BE49-F238E27FC236}">
                  <a16:creationId xmlns:a16="http://schemas.microsoft.com/office/drawing/2014/main" id="{8CE74516-34DF-56AE-DDBB-1B00D409F3DB}"/>
                </a:ext>
              </a:extLst>
            </p:cNvPr>
            <p:cNvSpPr txBox="1"/>
            <p:nvPr/>
          </p:nvSpPr>
          <p:spPr>
            <a:xfrm>
              <a:off x="7339372" y="3951024"/>
              <a:ext cx="1805302" cy="246221"/>
            </a:xfrm>
            <a:prstGeom prst="rect">
              <a:avLst/>
            </a:prstGeom>
            <a:noFill/>
          </p:spPr>
          <p:txBody>
            <a:bodyPr wrap="none" rtlCol="0">
              <a:spAutoFit/>
            </a:bodyPr>
            <a:lstStyle/>
            <a:p>
              <a:pPr algn="ctr"/>
              <a:r>
                <a:rPr lang="en-US" altLang="ko-KR" sz="1000" b="1" dirty="0"/>
                <a:t>termination-</a:t>
              </a:r>
              <a:r>
                <a:rPr lang="en-US" altLang="ko-KR" sz="1000" b="1" dirty="0" err="1"/>
                <a:t>message.yaml</a:t>
              </a:r>
              <a:endParaRPr lang="ko-KR" altLang="en-US" sz="1000" b="1" dirty="0"/>
            </a:p>
          </p:txBody>
        </p:sp>
      </p:grpSp>
    </p:spTree>
    <p:extLst>
      <p:ext uri="{BB962C8B-B14F-4D97-AF65-F5344CB8AC3E}">
        <p14:creationId xmlns:p14="http://schemas.microsoft.com/office/powerpoint/2010/main" val="16937272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Making Your Apps Easy to Run and Manage in Kubernetes(6/13)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Information on Why The Process Terminated :</a:t>
            </a:r>
            <a:endParaRPr lang="en-US" altLang="ko-KR" sz="1400" dirty="0"/>
          </a:p>
          <a:p>
            <a:pPr lvl="1">
              <a:buFont typeface="Wingdings" panose="05000000000000000000" pitchFamily="2" charset="2"/>
              <a:buChar char="§"/>
            </a:pPr>
            <a:r>
              <a:rPr lang="en-US" altLang="ko-KR" sz="1400" dirty="0"/>
              <a:t>When running this pod, you’ll soon see the pod’s status shown as “</a:t>
            </a:r>
            <a:r>
              <a:rPr lang="en-US" altLang="ko-KR" sz="1400" b="1" dirty="0" err="1"/>
              <a:t>CrashLoopBackOff</a:t>
            </a:r>
            <a:r>
              <a:rPr lang="en-US" altLang="ko-KR" sz="1400" dirty="0"/>
              <a:t>”. If you then use “</a:t>
            </a:r>
            <a:r>
              <a:rPr lang="en-US" altLang="ko-KR" sz="1400" b="1" dirty="0"/>
              <a:t>$ </a:t>
            </a:r>
            <a:r>
              <a:rPr lang="en-US" altLang="ko-KR" sz="1400" b="1" dirty="0" err="1"/>
              <a:t>kubectl</a:t>
            </a:r>
            <a:r>
              <a:rPr lang="en-US" altLang="ko-KR" sz="1400" b="1" dirty="0"/>
              <a:t> describe</a:t>
            </a:r>
            <a:r>
              <a:rPr lang="en-US" altLang="ko-KR" sz="1400" dirty="0"/>
              <a:t>” command, you can see why the container died, without having to dig down into its logs,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23B6D1AD-1F91-34FA-B3F0-7E215D64B41E}"/>
              </a:ext>
            </a:extLst>
          </p:cNvPr>
          <p:cNvGrpSpPr/>
          <p:nvPr/>
        </p:nvGrpSpPr>
        <p:grpSpPr>
          <a:xfrm>
            <a:off x="838200" y="1792381"/>
            <a:ext cx="10515600" cy="4563969"/>
            <a:chOff x="838200" y="1792381"/>
            <a:chExt cx="10515600" cy="4563969"/>
          </a:xfrm>
        </p:grpSpPr>
        <p:grpSp>
          <p:nvGrpSpPr>
            <p:cNvPr id="11" name="그룹 10">
              <a:extLst>
                <a:ext uri="{FF2B5EF4-FFF2-40B4-BE49-F238E27FC236}">
                  <a16:creationId xmlns:a16="http://schemas.microsoft.com/office/drawing/2014/main" id="{C9FB9AD2-BC04-1CE0-9463-7785111F7A0D}"/>
                </a:ext>
              </a:extLst>
            </p:cNvPr>
            <p:cNvGrpSpPr/>
            <p:nvPr/>
          </p:nvGrpSpPr>
          <p:grpSpPr>
            <a:xfrm>
              <a:off x="838200" y="1792381"/>
              <a:ext cx="10515600" cy="4563969"/>
              <a:chOff x="838200" y="1792381"/>
              <a:chExt cx="10515600" cy="4563969"/>
            </a:xfrm>
          </p:grpSpPr>
          <p:pic>
            <p:nvPicPr>
              <p:cNvPr id="8" name="그림 7">
                <a:extLst>
                  <a:ext uri="{FF2B5EF4-FFF2-40B4-BE49-F238E27FC236}">
                    <a16:creationId xmlns:a16="http://schemas.microsoft.com/office/drawing/2014/main" id="{86E148E5-40F3-0BA2-974B-E9C3BDA32EB4}"/>
                  </a:ext>
                </a:extLst>
              </p:cNvPr>
              <p:cNvPicPr>
                <a:picLocks noChangeAspect="1"/>
              </p:cNvPicPr>
              <p:nvPr/>
            </p:nvPicPr>
            <p:blipFill>
              <a:blip r:embed="rId2"/>
              <a:stretch>
                <a:fillRect/>
              </a:stretch>
            </p:blipFill>
            <p:spPr>
              <a:xfrm>
                <a:off x="838200" y="1792381"/>
                <a:ext cx="10515600" cy="1799337"/>
              </a:xfrm>
              <a:prstGeom prst="rect">
                <a:avLst/>
              </a:prstGeom>
            </p:spPr>
          </p:pic>
          <p:pic>
            <p:nvPicPr>
              <p:cNvPr id="10" name="그림 9">
                <a:extLst>
                  <a:ext uri="{FF2B5EF4-FFF2-40B4-BE49-F238E27FC236}">
                    <a16:creationId xmlns:a16="http://schemas.microsoft.com/office/drawing/2014/main" id="{746C7AB0-DA94-5A1F-125F-E9A8BC1FFEFF}"/>
                  </a:ext>
                </a:extLst>
              </p:cNvPr>
              <p:cNvPicPr>
                <a:picLocks noChangeAspect="1"/>
              </p:cNvPicPr>
              <p:nvPr/>
            </p:nvPicPr>
            <p:blipFill>
              <a:blip r:embed="rId3"/>
              <a:stretch>
                <a:fillRect/>
              </a:stretch>
            </p:blipFill>
            <p:spPr>
              <a:xfrm>
                <a:off x="838200" y="3630083"/>
                <a:ext cx="10515600" cy="2726267"/>
              </a:xfrm>
              <a:prstGeom prst="rect">
                <a:avLst/>
              </a:prstGeom>
            </p:spPr>
          </p:pic>
        </p:grpSp>
        <p:sp>
          <p:nvSpPr>
            <p:cNvPr id="12" name="직사각형 11">
              <a:extLst>
                <a:ext uri="{FF2B5EF4-FFF2-40B4-BE49-F238E27FC236}">
                  <a16:creationId xmlns:a16="http://schemas.microsoft.com/office/drawing/2014/main" id="{68E65CE5-4E3A-943E-60FC-2A252F18FFE0}"/>
                </a:ext>
              </a:extLst>
            </p:cNvPr>
            <p:cNvSpPr/>
            <p:nvPr/>
          </p:nvSpPr>
          <p:spPr>
            <a:xfrm>
              <a:off x="1221898" y="5646245"/>
              <a:ext cx="1788340" cy="19620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210460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Making Your Apps Easy to Run and Manage in Kubernetes(7/13)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Information on Why The Process Terminated :</a:t>
            </a:r>
            <a:endParaRPr lang="en-US" altLang="ko-KR" sz="1400" dirty="0"/>
          </a:p>
          <a:p>
            <a:pPr lvl="1">
              <a:buFont typeface="Wingdings" panose="05000000000000000000" pitchFamily="2" charset="2"/>
              <a:buChar char="§"/>
            </a:pPr>
            <a:r>
              <a:rPr lang="en-US" altLang="ko-KR" sz="1400" b="1" dirty="0"/>
              <a:t>As you can see, the “I’ve had enough” message the process wrote to the file “</a:t>
            </a:r>
            <a:r>
              <a:rPr lang="en-US" altLang="ko-KR" sz="1400" b="1" dirty="0">
                <a:solidFill>
                  <a:srgbClr val="FF0000"/>
                </a:solidFill>
              </a:rPr>
              <a:t>/var/termination-reason</a:t>
            </a:r>
            <a:r>
              <a:rPr lang="en-US" altLang="ko-KR" sz="1400" b="1" dirty="0"/>
              <a:t>” is shown in the container’s “</a:t>
            </a:r>
            <a:r>
              <a:rPr lang="en-US" altLang="ko-KR" sz="1400" b="1" dirty="0">
                <a:solidFill>
                  <a:srgbClr val="FF0000"/>
                </a:solidFill>
              </a:rPr>
              <a:t>Last State</a:t>
            </a:r>
            <a:r>
              <a:rPr lang="en-US" altLang="ko-KR" sz="1400" b="1" dirty="0"/>
              <a:t>” section</a:t>
            </a:r>
            <a:r>
              <a:rPr lang="en-US" altLang="ko-KR" sz="1400" dirty="0"/>
              <a:t>. </a:t>
            </a:r>
            <a:r>
              <a:rPr lang="en-US" altLang="ko-KR" sz="1400" b="1" dirty="0"/>
              <a:t>Note that this mechanism isn’t limited only to containers that crash</a:t>
            </a:r>
            <a:r>
              <a:rPr lang="en-US" altLang="ko-KR" sz="1400" dirty="0"/>
              <a:t>. It can also be used in pods that run a completable task and terminate successfully(you’ll find an example in the file “</a:t>
            </a:r>
            <a:r>
              <a:rPr lang="en-US" altLang="ko-KR" sz="1400" b="1" dirty="0">
                <a:solidFill>
                  <a:srgbClr val="FF0000"/>
                </a:solidFill>
              </a:rPr>
              <a:t>termination-message-</a:t>
            </a:r>
            <a:r>
              <a:rPr lang="en-US" altLang="ko-KR" sz="1400" b="1" dirty="0" err="1">
                <a:solidFill>
                  <a:srgbClr val="FF0000"/>
                </a:solidFill>
              </a:rPr>
              <a:t>success.yaml</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7FD066A5-2912-CB83-DC64-C9B8D56C16E2}"/>
              </a:ext>
            </a:extLst>
          </p:cNvPr>
          <p:cNvGrpSpPr/>
          <p:nvPr/>
        </p:nvGrpSpPr>
        <p:grpSpPr>
          <a:xfrm>
            <a:off x="838200" y="2056742"/>
            <a:ext cx="10515600" cy="4252924"/>
            <a:chOff x="838200" y="2056742"/>
            <a:chExt cx="10515600" cy="4252924"/>
          </a:xfrm>
        </p:grpSpPr>
        <p:grpSp>
          <p:nvGrpSpPr>
            <p:cNvPr id="11" name="그룹 10">
              <a:extLst>
                <a:ext uri="{FF2B5EF4-FFF2-40B4-BE49-F238E27FC236}">
                  <a16:creationId xmlns:a16="http://schemas.microsoft.com/office/drawing/2014/main" id="{F06B9C6D-7851-3AF5-F1BA-AD6DA916EAB5}"/>
                </a:ext>
              </a:extLst>
            </p:cNvPr>
            <p:cNvGrpSpPr/>
            <p:nvPr/>
          </p:nvGrpSpPr>
          <p:grpSpPr>
            <a:xfrm>
              <a:off x="838200" y="2056742"/>
              <a:ext cx="10515600" cy="4252924"/>
              <a:chOff x="838200" y="2085405"/>
              <a:chExt cx="10515600" cy="4252924"/>
            </a:xfrm>
          </p:grpSpPr>
          <p:pic>
            <p:nvPicPr>
              <p:cNvPr id="8" name="그림 7">
                <a:extLst>
                  <a:ext uri="{FF2B5EF4-FFF2-40B4-BE49-F238E27FC236}">
                    <a16:creationId xmlns:a16="http://schemas.microsoft.com/office/drawing/2014/main" id="{B0F8BEF5-D66C-DA04-C7FB-D941B982717D}"/>
                  </a:ext>
                </a:extLst>
              </p:cNvPr>
              <p:cNvPicPr>
                <a:picLocks noChangeAspect="1"/>
              </p:cNvPicPr>
              <p:nvPr/>
            </p:nvPicPr>
            <p:blipFill>
              <a:blip r:embed="rId2"/>
              <a:stretch>
                <a:fillRect/>
              </a:stretch>
            </p:blipFill>
            <p:spPr>
              <a:xfrm>
                <a:off x="838200" y="2085405"/>
                <a:ext cx="10515600" cy="1479973"/>
              </a:xfrm>
              <a:prstGeom prst="rect">
                <a:avLst/>
              </a:prstGeom>
            </p:spPr>
          </p:pic>
          <p:pic>
            <p:nvPicPr>
              <p:cNvPr id="10" name="그림 9">
                <a:extLst>
                  <a:ext uri="{FF2B5EF4-FFF2-40B4-BE49-F238E27FC236}">
                    <a16:creationId xmlns:a16="http://schemas.microsoft.com/office/drawing/2014/main" id="{C3991C4B-2D7D-092F-0DA7-B475D8C1ECC7}"/>
                  </a:ext>
                </a:extLst>
              </p:cNvPr>
              <p:cNvPicPr>
                <a:picLocks noChangeAspect="1"/>
              </p:cNvPicPr>
              <p:nvPr/>
            </p:nvPicPr>
            <p:blipFill>
              <a:blip r:embed="rId3"/>
              <a:stretch>
                <a:fillRect/>
              </a:stretch>
            </p:blipFill>
            <p:spPr>
              <a:xfrm>
                <a:off x="838200" y="3612062"/>
                <a:ext cx="10515600" cy="2726267"/>
              </a:xfrm>
              <a:prstGeom prst="rect">
                <a:avLst/>
              </a:prstGeom>
            </p:spPr>
          </p:pic>
        </p:grpSp>
        <p:sp>
          <p:nvSpPr>
            <p:cNvPr id="12" name="직사각형 11">
              <a:extLst>
                <a:ext uri="{FF2B5EF4-FFF2-40B4-BE49-F238E27FC236}">
                  <a16:creationId xmlns:a16="http://schemas.microsoft.com/office/drawing/2014/main" id="{AFAC375E-6F36-2909-FA26-D36F667DE31F}"/>
                </a:ext>
              </a:extLst>
            </p:cNvPr>
            <p:cNvSpPr/>
            <p:nvPr/>
          </p:nvSpPr>
          <p:spPr>
            <a:xfrm>
              <a:off x="1173345" y="4822853"/>
              <a:ext cx="2508531" cy="4288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1609913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Making Your Apps Easy to Run and Manage in Kubernetes(8/13)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Information on Why The Process Terminated :</a:t>
            </a:r>
            <a:endParaRPr lang="en-US" altLang="ko-KR" sz="1400" dirty="0"/>
          </a:p>
          <a:p>
            <a:pPr lvl="1">
              <a:buFont typeface="Wingdings" panose="05000000000000000000" pitchFamily="2" charset="2"/>
              <a:buChar char="§"/>
            </a:pPr>
            <a:r>
              <a:rPr lang="en-US" altLang="ko-KR" sz="1400" b="1" dirty="0"/>
              <a:t>This mechanism is great for terminated containers, but you’ll probably agree that a similar mechanism would also be useful for showing app-specific status messages of running, not only terminated, containers</a:t>
            </a:r>
            <a:r>
              <a:rPr lang="en-US" altLang="ko-KR" sz="1400" dirty="0"/>
              <a:t>. Kubernetes currently doesn’t provide any such functionality.</a:t>
            </a:r>
          </a:p>
          <a:p>
            <a:pPr lvl="1">
              <a:buFont typeface="Wingdings" panose="05000000000000000000" pitchFamily="2" charset="2"/>
              <a:buChar char="§"/>
            </a:pPr>
            <a:r>
              <a:rPr lang="en-US" altLang="ko-KR" sz="1400" b="1" dirty="0"/>
              <a:t>NOTE : If the container doesn’t write the message to any file, you can set the “</a:t>
            </a:r>
            <a:r>
              <a:rPr lang="en-US" altLang="ko-KR" sz="1400" b="1" dirty="0" err="1"/>
              <a:t>terminationMessagePolicy</a:t>
            </a:r>
            <a:r>
              <a:rPr lang="en-US" altLang="ko-KR" sz="1400" b="1" dirty="0"/>
              <a:t>” field to “</a:t>
            </a:r>
            <a:r>
              <a:rPr lang="en-US" altLang="ko-KR" sz="1400" b="1" dirty="0" err="1">
                <a:solidFill>
                  <a:srgbClr val="FF0000"/>
                </a:solidFill>
              </a:rPr>
              <a:t>FallbackToLogsOnError</a:t>
            </a:r>
            <a:r>
              <a:rPr lang="en-US" altLang="ko-KR" sz="1400" b="1" dirty="0"/>
              <a:t>”</a:t>
            </a:r>
            <a:r>
              <a:rPr lang="en-US" altLang="ko-KR" sz="1400" dirty="0"/>
              <a:t>. </a:t>
            </a:r>
            <a:r>
              <a:rPr lang="en-US" altLang="ko-KR" sz="1400" b="1" dirty="0"/>
              <a:t>In that case, the last few lines of the </a:t>
            </a:r>
            <a:r>
              <a:rPr lang="en-US" altLang="ko-KR" sz="1400" b="1" dirty="0">
                <a:solidFill>
                  <a:srgbClr val="FF0000"/>
                </a:solidFill>
              </a:rPr>
              <a:t>container’s log are used as its termination message</a:t>
            </a:r>
            <a:r>
              <a:rPr lang="en-US" altLang="ko-KR" sz="1400" b="1" dirty="0"/>
              <a:t> (but only when the container terminates unsuccessfully).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50E26BA1-E777-6430-1768-C4D8E54328C0}"/>
              </a:ext>
            </a:extLst>
          </p:cNvPr>
          <p:cNvGrpSpPr/>
          <p:nvPr/>
        </p:nvGrpSpPr>
        <p:grpSpPr>
          <a:xfrm>
            <a:off x="3775019" y="2906870"/>
            <a:ext cx="4641962" cy="2255848"/>
            <a:chOff x="3775019" y="3279104"/>
            <a:chExt cx="4641962" cy="2255848"/>
          </a:xfrm>
        </p:grpSpPr>
        <p:pic>
          <p:nvPicPr>
            <p:cNvPr id="4" name="그림 3">
              <a:extLst>
                <a:ext uri="{FF2B5EF4-FFF2-40B4-BE49-F238E27FC236}">
                  <a16:creationId xmlns:a16="http://schemas.microsoft.com/office/drawing/2014/main" id="{DCBE6F78-0F96-72D8-0D20-541FC80735B5}"/>
                </a:ext>
              </a:extLst>
            </p:cNvPr>
            <p:cNvPicPr>
              <a:picLocks noChangeAspect="1"/>
            </p:cNvPicPr>
            <p:nvPr/>
          </p:nvPicPr>
          <p:blipFill>
            <a:blip r:embed="rId2"/>
            <a:stretch>
              <a:fillRect/>
            </a:stretch>
          </p:blipFill>
          <p:spPr>
            <a:xfrm>
              <a:off x="3775019" y="3279104"/>
              <a:ext cx="4641962" cy="2254667"/>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7A1E081D-A6F3-E9D5-AB98-585D05EF73AD}"/>
                </a:ext>
              </a:extLst>
            </p:cNvPr>
            <p:cNvSpPr/>
            <p:nvPr/>
          </p:nvSpPr>
          <p:spPr>
            <a:xfrm>
              <a:off x="4183582" y="5154627"/>
              <a:ext cx="4175491" cy="3803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91813988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Making Your Apps Easy to Run and Manage in Kubernetes(9/13)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Handling Application Logs :</a:t>
            </a:r>
            <a:endParaRPr lang="en-US" altLang="ko-KR" sz="1400" dirty="0"/>
          </a:p>
          <a:p>
            <a:pPr lvl="1">
              <a:buFont typeface="Wingdings" panose="05000000000000000000" pitchFamily="2" charset="2"/>
              <a:buChar char="§"/>
            </a:pPr>
            <a:r>
              <a:rPr lang="en-US" altLang="ko-KR" sz="1400" b="1" dirty="0"/>
              <a:t>While we’re on the subject of application logging, let’s reiterate that apps should write to the standard output instead of files</a:t>
            </a:r>
            <a:r>
              <a:rPr lang="en-US" altLang="ko-KR" sz="1400" dirty="0"/>
              <a:t>. This makes it easy to </a:t>
            </a:r>
            <a:r>
              <a:rPr lang="en-US" altLang="ko-KR" sz="1400" b="1" dirty="0"/>
              <a:t>view logs</a:t>
            </a:r>
            <a:r>
              <a:rPr lang="en-US" altLang="ko-KR" sz="1400" dirty="0"/>
              <a:t> with the “</a:t>
            </a:r>
            <a:r>
              <a:rPr lang="en-US" altLang="ko-KR" sz="1400" b="1" dirty="0"/>
              <a:t>$ </a:t>
            </a:r>
            <a:r>
              <a:rPr lang="en-US" altLang="ko-KR" sz="1400" b="1" dirty="0" err="1"/>
              <a:t>kubectl</a:t>
            </a:r>
            <a:r>
              <a:rPr lang="en-US" altLang="ko-KR" sz="1400" b="1" dirty="0"/>
              <a:t> logs</a:t>
            </a:r>
            <a:r>
              <a:rPr lang="en-US" altLang="ko-KR" sz="1400" dirty="0"/>
              <a:t>” command.</a:t>
            </a:r>
          </a:p>
          <a:p>
            <a:pPr lvl="1">
              <a:buFont typeface="Wingdings" panose="05000000000000000000" pitchFamily="2" charset="2"/>
              <a:buChar char="§"/>
            </a:pPr>
            <a:r>
              <a:rPr lang="en-US" altLang="ko-KR" sz="1400" b="1" dirty="0"/>
              <a:t>NOTE : If a container crashes and is replaced with a new one, you’ll see the new container’s log</a:t>
            </a:r>
            <a:r>
              <a:rPr lang="en-US" altLang="ko-KR" sz="1400" dirty="0"/>
              <a:t>. </a:t>
            </a:r>
            <a:r>
              <a:rPr lang="en-US" altLang="ko-KR" sz="1400" b="1" dirty="0"/>
              <a:t>To see the previous container’s logs, use the “</a:t>
            </a:r>
            <a:r>
              <a:rPr lang="en-US" altLang="ko-KR" sz="1400" b="1" dirty="0">
                <a:solidFill>
                  <a:srgbClr val="FF0000"/>
                </a:solidFill>
              </a:rPr>
              <a:t>--previous</a:t>
            </a:r>
            <a:r>
              <a:rPr lang="en-US" altLang="ko-KR" sz="1400" b="1" dirty="0"/>
              <a:t>” option with “$ </a:t>
            </a:r>
            <a:r>
              <a:rPr lang="en-US" altLang="ko-KR" sz="1400" b="1" dirty="0" err="1"/>
              <a:t>kubectl</a:t>
            </a:r>
            <a:r>
              <a:rPr lang="en-US" altLang="ko-KR" sz="1400" b="1" dirty="0"/>
              <a:t> logs” command</a:t>
            </a:r>
            <a:r>
              <a:rPr lang="en-US" altLang="ko-KR" sz="1400" dirty="0"/>
              <a:t>.</a:t>
            </a:r>
          </a:p>
          <a:p>
            <a:pPr lvl="1">
              <a:buFont typeface="Wingdings" panose="05000000000000000000" pitchFamily="2" charset="2"/>
              <a:buChar char="§"/>
            </a:pPr>
            <a:r>
              <a:rPr lang="en-US" altLang="ko-KR" sz="1400" dirty="0"/>
              <a:t>If the application logs to a file instead of the standard output, you can display the log file using an alternative approach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executes the “cat” command inside the container and streams the logs back to “</a:t>
            </a:r>
            <a:r>
              <a:rPr lang="en-US" altLang="ko-KR" sz="1400" b="1" dirty="0" err="1"/>
              <a:t>kubectl</a:t>
            </a:r>
            <a:r>
              <a:rPr lang="en-US" altLang="ko-KR" sz="1400" b="1" dirty="0"/>
              <a:t>”, which prints them out in your terminal</a:t>
            </a:r>
            <a:r>
              <a:rPr lang="en-US" altLang="ko-KR" sz="1400" dirty="0"/>
              <a:t>.</a:t>
            </a:r>
          </a:p>
          <a:p>
            <a:pPr lvl="1">
              <a:buFont typeface="Wingdings" panose="05000000000000000000" pitchFamily="2" charset="2"/>
              <a:buChar char="§"/>
            </a:pPr>
            <a:r>
              <a:rPr lang="en-US" altLang="ko-KR" sz="1400" b="1" dirty="0"/>
              <a:t>NOTE : Add “</a:t>
            </a:r>
            <a:r>
              <a:rPr lang="en-US" altLang="ko-KR" sz="1400" b="1" dirty="0">
                <a:solidFill>
                  <a:srgbClr val="FF0000"/>
                </a:solidFill>
              </a:rPr>
              <a:t>--</a:t>
            </a:r>
            <a:r>
              <a:rPr lang="en-US" altLang="ko-KR" sz="1400" b="1" dirty="0"/>
              <a:t>” in front of the “cat” command</a:t>
            </a:r>
            <a:r>
              <a:rPr lang="en-US" altLang="ko-KR" sz="1400" dirty="0"/>
              <a:t>. </a:t>
            </a:r>
            <a:br>
              <a:rPr lang="en-US" altLang="ko-KR" sz="1400" dirty="0"/>
            </a:b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2D98589-80C4-ED1F-79A2-BC8CD32DE0F2}"/>
              </a:ext>
            </a:extLst>
          </p:cNvPr>
          <p:cNvSpPr txBox="1"/>
          <p:nvPr/>
        </p:nvSpPr>
        <p:spPr>
          <a:xfrm>
            <a:off x="3047326" y="2663731"/>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&lt;pod&gt; </a:t>
            </a:r>
            <a:r>
              <a:rPr lang="en-US" altLang="ko-KR" sz="1000" b="1" dirty="0">
                <a:solidFill>
                  <a:srgbClr val="FF0000"/>
                </a:solidFill>
              </a:rPr>
              <a:t>--</a:t>
            </a:r>
            <a:r>
              <a:rPr lang="en-US" altLang="ko-KR" sz="1000" b="1" dirty="0"/>
              <a:t> cat &lt;logfile&gt;</a:t>
            </a:r>
          </a:p>
        </p:txBody>
      </p:sp>
      <p:pic>
        <p:nvPicPr>
          <p:cNvPr id="9" name="그림 8">
            <a:extLst>
              <a:ext uri="{FF2B5EF4-FFF2-40B4-BE49-F238E27FC236}">
                <a16:creationId xmlns:a16="http://schemas.microsoft.com/office/drawing/2014/main" id="{ABC9520B-140B-B637-6A48-5CC15B0C30BD}"/>
              </a:ext>
            </a:extLst>
          </p:cNvPr>
          <p:cNvPicPr>
            <a:picLocks noChangeAspect="1"/>
          </p:cNvPicPr>
          <p:nvPr/>
        </p:nvPicPr>
        <p:blipFill>
          <a:blip r:embed="rId2"/>
          <a:stretch>
            <a:fillRect/>
          </a:stretch>
        </p:blipFill>
        <p:spPr>
          <a:xfrm>
            <a:off x="4547977" y="3932194"/>
            <a:ext cx="3096045" cy="2476836"/>
          </a:xfrm>
          <a:prstGeom prst="rect">
            <a:avLst/>
          </a:prstGeom>
        </p:spPr>
      </p:pic>
    </p:spTree>
    <p:extLst>
      <p:ext uri="{BB962C8B-B14F-4D97-AF65-F5344CB8AC3E}">
        <p14:creationId xmlns:p14="http://schemas.microsoft.com/office/powerpoint/2010/main" val="290592376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Making Your Apps Easy to Run and Manage in Kubernetes(10/13)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Copying Log and Other Files to and from a Container :</a:t>
            </a:r>
            <a:endParaRPr lang="en-US" altLang="ko-KR" sz="1400" dirty="0"/>
          </a:p>
          <a:p>
            <a:pPr lvl="1">
              <a:buFont typeface="Wingdings" panose="05000000000000000000" pitchFamily="2" charset="2"/>
              <a:buChar char="§"/>
            </a:pPr>
            <a:r>
              <a:rPr lang="en-US" altLang="ko-KR" sz="1400" b="1" dirty="0"/>
              <a:t>You can also copy the log file to your local machine using the “$ </a:t>
            </a:r>
            <a:r>
              <a:rPr lang="en-US" altLang="ko-KR" sz="1400" b="1" dirty="0" err="1"/>
              <a:t>kubectl</a:t>
            </a:r>
            <a:r>
              <a:rPr lang="en-US" altLang="ko-KR" sz="1400" b="1" dirty="0"/>
              <a:t> cp” command</a:t>
            </a:r>
            <a:r>
              <a:rPr lang="en-US" altLang="ko-KR" sz="1400" dirty="0"/>
              <a:t>, which we haven’t looked at yet. It allows you to copy files from and into a container. For example, if a pod called “</a:t>
            </a:r>
            <a:r>
              <a:rPr lang="en-US" altLang="ko-KR" sz="1400" b="1" dirty="0"/>
              <a:t>foo-pod</a:t>
            </a:r>
            <a:r>
              <a:rPr lang="en-US" altLang="ko-KR" sz="1400" dirty="0"/>
              <a:t>” and its single container contains a file at “</a:t>
            </a:r>
            <a:r>
              <a:rPr lang="en-US" altLang="ko-KR" sz="1400" b="1" dirty="0"/>
              <a:t>/var/log/foo.log</a:t>
            </a:r>
            <a:r>
              <a:rPr lang="en-US" altLang="ko-KR" sz="1400" dirty="0"/>
              <a:t>”, you can transfer it to your local machine with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To copy a file from your local machine into the pod</a:t>
            </a:r>
            <a:r>
              <a:rPr lang="en-US" altLang="ko-KR" sz="1400" dirty="0"/>
              <a:t>, specify the pod’s name in the second argument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copies the file “</a:t>
            </a:r>
            <a:r>
              <a:rPr lang="en-US" altLang="ko-KR" sz="1400" b="1" dirty="0" err="1"/>
              <a:t>localfile</a:t>
            </a:r>
            <a:r>
              <a:rPr lang="en-US" altLang="ko-KR" sz="1400" dirty="0"/>
              <a:t>” to “</a:t>
            </a:r>
            <a:r>
              <a:rPr lang="en-US" altLang="ko-KR" sz="1400" b="1" dirty="0"/>
              <a:t>/</a:t>
            </a:r>
            <a:r>
              <a:rPr lang="en-US" altLang="ko-KR" sz="1400" b="1" dirty="0" err="1"/>
              <a:t>etc</a:t>
            </a:r>
            <a:r>
              <a:rPr lang="en-US" altLang="ko-KR" sz="1400" b="1" dirty="0"/>
              <a:t>/</a:t>
            </a:r>
            <a:r>
              <a:rPr lang="en-US" altLang="ko-KR" sz="1400" b="1" dirty="0" err="1"/>
              <a:t>remotefile</a:t>
            </a:r>
            <a:r>
              <a:rPr lang="en-US" altLang="ko-KR" sz="1400" dirty="0"/>
              <a:t>” </a:t>
            </a:r>
            <a:r>
              <a:rPr lang="en-US" altLang="ko-KR" sz="1400" b="1" dirty="0"/>
              <a:t>inside the pod’s container</a:t>
            </a:r>
            <a:r>
              <a:rPr lang="en-US" altLang="ko-KR" sz="1400" dirty="0"/>
              <a:t>. </a:t>
            </a:r>
            <a:r>
              <a:rPr lang="en-US" altLang="ko-KR" sz="1400" b="1" dirty="0"/>
              <a:t>If the pod has more than one container, you specify the container using the “</a:t>
            </a:r>
            <a:r>
              <a:rPr lang="en-US" altLang="ko-KR" sz="1400" b="1" dirty="0">
                <a:solidFill>
                  <a:srgbClr val="FF0000"/>
                </a:solidFill>
              </a:rPr>
              <a:t>-c </a:t>
            </a:r>
            <a:r>
              <a:rPr lang="en-US" altLang="ko-KR" sz="1400" b="1" dirty="0" err="1">
                <a:solidFill>
                  <a:srgbClr val="FF0000"/>
                </a:solidFill>
              </a:rPr>
              <a:t>containerName</a:t>
            </a:r>
            <a:r>
              <a:rPr lang="en-US" altLang="ko-KR" sz="1400" b="1" dirty="0"/>
              <a:t>” option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B768669-39DF-ED1A-BDFB-AA4B180B5C79}"/>
              </a:ext>
            </a:extLst>
          </p:cNvPr>
          <p:cNvSpPr txBox="1"/>
          <p:nvPr/>
        </p:nvSpPr>
        <p:spPr>
          <a:xfrm>
            <a:off x="3047326" y="197590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cp foo-pod:/var/log/foo.log foo.log</a:t>
            </a:r>
          </a:p>
        </p:txBody>
      </p:sp>
      <p:sp>
        <p:nvSpPr>
          <p:cNvPr id="10" name="TextBox 9">
            <a:extLst>
              <a:ext uri="{FF2B5EF4-FFF2-40B4-BE49-F238E27FC236}">
                <a16:creationId xmlns:a16="http://schemas.microsoft.com/office/drawing/2014/main" id="{E79A07D2-68EA-2F34-84D0-9DF0984FB140}"/>
              </a:ext>
            </a:extLst>
          </p:cNvPr>
          <p:cNvSpPr txBox="1"/>
          <p:nvPr/>
        </p:nvSpPr>
        <p:spPr>
          <a:xfrm>
            <a:off x="3047326" y="3068333"/>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cp </a:t>
            </a:r>
            <a:r>
              <a:rPr lang="en-US" altLang="ko-KR" sz="1000" b="1" dirty="0" err="1">
                <a:solidFill>
                  <a:srgbClr val="FF0000"/>
                </a:solidFill>
              </a:rPr>
              <a:t>localfile</a:t>
            </a:r>
            <a:r>
              <a:rPr lang="en-US" altLang="ko-KR" sz="1000" b="1" dirty="0">
                <a:solidFill>
                  <a:srgbClr val="FF0000"/>
                </a:solidFill>
              </a:rPr>
              <a:t> foo-pod:/</a:t>
            </a:r>
            <a:r>
              <a:rPr lang="en-US" altLang="ko-KR" sz="1000" b="1" dirty="0" err="1">
                <a:solidFill>
                  <a:srgbClr val="FF0000"/>
                </a:solidFill>
              </a:rPr>
              <a:t>etc</a:t>
            </a:r>
            <a:r>
              <a:rPr lang="en-US" altLang="ko-KR" sz="1000" b="1" dirty="0">
                <a:solidFill>
                  <a:srgbClr val="FF0000"/>
                </a:solidFill>
              </a:rPr>
              <a:t>/</a:t>
            </a:r>
            <a:r>
              <a:rPr lang="en-US" altLang="ko-KR" sz="1000" b="1" dirty="0" err="1">
                <a:solidFill>
                  <a:srgbClr val="FF0000"/>
                </a:solidFill>
              </a:rPr>
              <a:t>remotefile</a:t>
            </a:r>
            <a:endParaRPr lang="ko-KR" altLang="en-US" sz="1000" b="1" dirty="0">
              <a:solidFill>
                <a:srgbClr val="FF0000"/>
              </a:solidFill>
            </a:endParaRPr>
          </a:p>
        </p:txBody>
      </p:sp>
      <p:pic>
        <p:nvPicPr>
          <p:cNvPr id="11" name="그림 10">
            <a:extLst>
              <a:ext uri="{FF2B5EF4-FFF2-40B4-BE49-F238E27FC236}">
                <a16:creationId xmlns:a16="http://schemas.microsoft.com/office/drawing/2014/main" id="{2750D4D0-C3E3-6939-50F2-E804EA3AB740}"/>
              </a:ext>
            </a:extLst>
          </p:cNvPr>
          <p:cNvPicPr>
            <a:picLocks noChangeAspect="1"/>
          </p:cNvPicPr>
          <p:nvPr/>
        </p:nvPicPr>
        <p:blipFill>
          <a:blip r:embed="rId2"/>
          <a:stretch>
            <a:fillRect/>
          </a:stretch>
        </p:blipFill>
        <p:spPr>
          <a:xfrm>
            <a:off x="3374000" y="4288779"/>
            <a:ext cx="5443999" cy="1841500"/>
          </a:xfrm>
          <a:prstGeom prst="rect">
            <a:avLst/>
          </a:prstGeom>
        </p:spPr>
      </p:pic>
    </p:spTree>
    <p:extLst>
      <p:ext uri="{BB962C8B-B14F-4D97-AF65-F5344CB8AC3E}">
        <p14:creationId xmlns:p14="http://schemas.microsoft.com/office/powerpoint/2010/main" val="400598072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Making Your Apps Easy to Run and Manage in Kubernetes(11/13)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Centralized Logging :</a:t>
            </a:r>
            <a:endParaRPr lang="en-US" altLang="ko-KR" sz="1400" dirty="0"/>
          </a:p>
          <a:p>
            <a:pPr lvl="1">
              <a:buFont typeface="Wingdings" panose="05000000000000000000" pitchFamily="2" charset="2"/>
              <a:buChar char="§"/>
            </a:pPr>
            <a:r>
              <a:rPr lang="en-US" altLang="ko-KR" sz="1400" b="1" dirty="0"/>
              <a:t>In a production system, you’ll want to use a centralized, cluster-wide logging solution, so all your logs are collected and (permanently) stored in a central location</a:t>
            </a:r>
            <a:r>
              <a:rPr lang="en-US" altLang="ko-KR" sz="1400" dirty="0"/>
              <a:t>. This allows you to </a:t>
            </a:r>
            <a:r>
              <a:rPr lang="en-US" altLang="ko-KR" sz="1400" b="1" dirty="0">
                <a:solidFill>
                  <a:srgbClr val="FF0000"/>
                </a:solidFill>
              </a:rPr>
              <a:t>examine historical logs and analyze trends</a:t>
            </a:r>
            <a:r>
              <a:rPr lang="en-US" altLang="ko-KR" sz="1400" dirty="0"/>
              <a:t>. </a:t>
            </a:r>
            <a:r>
              <a:rPr lang="en-US" altLang="ko-KR" sz="1400" b="1" dirty="0"/>
              <a:t>Without such a system, a pod’s logs are only available while the pod exists</a:t>
            </a:r>
            <a:r>
              <a:rPr lang="en-US" altLang="ko-KR" sz="1400" dirty="0"/>
              <a:t>. </a:t>
            </a:r>
            <a:r>
              <a:rPr lang="en-US" altLang="ko-KR" sz="1400" b="1" dirty="0"/>
              <a:t>As soon as it’s deleted, its logs are deleted also</a:t>
            </a:r>
            <a:r>
              <a:rPr lang="en-US" altLang="ko-KR" sz="1400" dirty="0"/>
              <a:t>.</a:t>
            </a:r>
          </a:p>
          <a:p>
            <a:pPr lvl="1">
              <a:buFont typeface="Wingdings" panose="05000000000000000000" pitchFamily="2" charset="2"/>
              <a:buChar char="§"/>
            </a:pPr>
            <a:r>
              <a:rPr lang="en-US" altLang="ko-KR" sz="1400" b="1" dirty="0"/>
              <a:t>Kubernetes by itself doesn’t provide any kind of centralized logging</a:t>
            </a:r>
            <a:r>
              <a:rPr lang="en-US" altLang="ko-KR" sz="1400" dirty="0"/>
              <a:t>. The components necessary for providing a centralized storage and analysis of all the container logs must be provided by </a:t>
            </a:r>
            <a:r>
              <a:rPr lang="en-US" altLang="ko-KR" sz="1400" b="1" dirty="0"/>
              <a:t>additional components, which usually run as </a:t>
            </a:r>
            <a:r>
              <a:rPr lang="en-US" altLang="ko-KR" sz="1400" b="1" dirty="0">
                <a:solidFill>
                  <a:srgbClr val="FF0000"/>
                </a:solidFill>
              </a:rPr>
              <a:t>regular pods in the cluster</a:t>
            </a:r>
            <a:r>
              <a:rPr lang="en-US" altLang="ko-KR" sz="1400" dirty="0"/>
              <a:t>.</a:t>
            </a:r>
          </a:p>
          <a:p>
            <a:pPr lvl="1">
              <a:buFont typeface="Wingdings" panose="05000000000000000000" pitchFamily="2" charset="2"/>
              <a:buChar char="§"/>
            </a:pPr>
            <a:r>
              <a:rPr lang="en-US" altLang="ko-KR" sz="1400" b="1" dirty="0"/>
              <a:t>Deploying centralized logging solutions is easy. All you need to do is deploy a few “YAML/JSON” manifests and you’re good to go</a:t>
            </a:r>
            <a:r>
              <a:rPr lang="en-US" altLang="ko-KR" sz="1400" dirty="0"/>
              <a:t>. </a:t>
            </a:r>
            <a:r>
              <a:rPr lang="en-US" altLang="ko-KR" sz="1400" b="1" dirty="0"/>
              <a:t>On Google Kubernetes Engine(GKE)</a:t>
            </a:r>
            <a:r>
              <a:rPr lang="en-US" altLang="ko-KR" sz="1400" dirty="0"/>
              <a:t>, it’s even easier. </a:t>
            </a:r>
            <a:r>
              <a:rPr lang="en-US" altLang="ko-KR" sz="1400" b="1" dirty="0"/>
              <a:t>Check the “</a:t>
            </a:r>
            <a:r>
              <a:rPr lang="en-US" altLang="ko-KR" sz="1400" b="1" dirty="0">
                <a:solidFill>
                  <a:srgbClr val="FF0000"/>
                </a:solidFill>
              </a:rPr>
              <a:t>Enable </a:t>
            </a:r>
            <a:r>
              <a:rPr lang="en-US" altLang="ko-KR" sz="1400" b="1" dirty="0" err="1">
                <a:solidFill>
                  <a:srgbClr val="FF0000"/>
                </a:solidFill>
              </a:rPr>
              <a:t>Stackdriver</a:t>
            </a:r>
            <a:r>
              <a:rPr lang="en-US" altLang="ko-KR" sz="1400" b="1" dirty="0">
                <a:solidFill>
                  <a:srgbClr val="FF0000"/>
                </a:solidFill>
              </a:rPr>
              <a:t> Logging</a:t>
            </a:r>
            <a:r>
              <a:rPr lang="en-US" altLang="ko-KR" sz="1400" b="1" dirty="0"/>
              <a:t>” checkbox when setting up the cluster</a:t>
            </a:r>
            <a:r>
              <a:rPr lang="en-US" altLang="ko-KR" sz="1400" dirty="0"/>
              <a:t>. Setting up centralized logging on an on-premises Kubernetes cluster is beyond the scope of this presentation, but we will see a quick overview of how it’s usually done.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561AB93B-39CF-5741-8E18-9C4148EDD496}"/>
              </a:ext>
            </a:extLst>
          </p:cNvPr>
          <p:cNvGrpSpPr/>
          <p:nvPr/>
        </p:nvGrpSpPr>
        <p:grpSpPr>
          <a:xfrm>
            <a:off x="2635095" y="3587626"/>
            <a:ext cx="6921809" cy="2768724"/>
            <a:chOff x="2635095" y="3587626"/>
            <a:chExt cx="6921809" cy="2768724"/>
          </a:xfrm>
        </p:grpSpPr>
        <p:pic>
          <p:nvPicPr>
            <p:cNvPr id="4" name="그림 3">
              <a:extLst>
                <a:ext uri="{FF2B5EF4-FFF2-40B4-BE49-F238E27FC236}">
                  <a16:creationId xmlns:a16="http://schemas.microsoft.com/office/drawing/2014/main" id="{A7A884E2-DE66-B5A0-2937-486AD494010F}"/>
                </a:ext>
              </a:extLst>
            </p:cNvPr>
            <p:cNvPicPr>
              <a:picLocks noChangeAspect="1"/>
            </p:cNvPicPr>
            <p:nvPr/>
          </p:nvPicPr>
          <p:blipFill>
            <a:blip r:embed="rId2"/>
            <a:stretch>
              <a:fillRect/>
            </a:stretch>
          </p:blipFill>
          <p:spPr>
            <a:xfrm>
              <a:off x="2635095" y="3587626"/>
              <a:ext cx="6921809" cy="2768724"/>
            </a:xfrm>
            <a:prstGeom prst="rect">
              <a:avLst/>
            </a:prstGeom>
          </p:spPr>
        </p:pic>
        <p:sp>
          <p:nvSpPr>
            <p:cNvPr id="8" name="직사각형 7">
              <a:extLst>
                <a:ext uri="{FF2B5EF4-FFF2-40B4-BE49-F238E27FC236}">
                  <a16:creationId xmlns:a16="http://schemas.microsoft.com/office/drawing/2014/main" id="{76D0738E-E3E6-58AC-7E4B-574FF734395C}"/>
                </a:ext>
              </a:extLst>
            </p:cNvPr>
            <p:cNvSpPr/>
            <p:nvPr/>
          </p:nvSpPr>
          <p:spPr>
            <a:xfrm>
              <a:off x="4911865" y="3989373"/>
              <a:ext cx="1602223" cy="190162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777621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Making Your Apps Easy to Run and Manage in Kubernetes(12/13)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Centralized Logging :</a:t>
            </a:r>
            <a:endParaRPr lang="en-US" altLang="ko-KR" sz="1400" dirty="0"/>
          </a:p>
          <a:p>
            <a:pPr lvl="1">
              <a:buFont typeface="Wingdings" panose="05000000000000000000" pitchFamily="2" charset="2"/>
              <a:buChar char="§"/>
            </a:pPr>
            <a:r>
              <a:rPr lang="en-US" altLang="ko-KR" sz="1400" b="1" dirty="0"/>
              <a:t>You may have already heard of the “</a:t>
            </a:r>
            <a:r>
              <a:rPr lang="en-US" altLang="ko-KR" sz="1400" b="1" dirty="0">
                <a:solidFill>
                  <a:srgbClr val="FF0000"/>
                </a:solidFill>
              </a:rPr>
              <a:t>ELK</a:t>
            </a:r>
            <a:r>
              <a:rPr lang="en-US" altLang="ko-KR" sz="1400" b="1" dirty="0"/>
              <a:t>” stack composed of “</a:t>
            </a:r>
            <a:r>
              <a:rPr lang="en-US" altLang="ko-KR" sz="1400" b="1" dirty="0" err="1">
                <a:solidFill>
                  <a:srgbClr val="FF0000"/>
                </a:solidFill>
              </a:rPr>
              <a:t>ElasticSearch</a:t>
            </a:r>
            <a:r>
              <a:rPr lang="en-US" altLang="ko-KR" sz="1400" b="1" dirty="0"/>
              <a:t>”, “</a:t>
            </a:r>
            <a:r>
              <a:rPr lang="en-US" altLang="ko-KR" sz="1400" b="1" dirty="0">
                <a:solidFill>
                  <a:srgbClr val="FF0000"/>
                </a:solidFill>
              </a:rPr>
              <a:t>Logstash</a:t>
            </a:r>
            <a:r>
              <a:rPr lang="en-US" altLang="ko-KR" sz="1400" b="1" dirty="0"/>
              <a:t>”, and “</a:t>
            </a:r>
            <a:r>
              <a:rPr lang="en-US" altLang="ko-KR" sz="1400" b="1" dirty="0">
                <a:solidFill>
                  <a:srgbClr val="FF0000"/>
                </a:solidFill>
              </a:rPr>
              <a:t>Kibana</a:t>
            </a:r>
            <a:r>
              <a:rPr lang="en-US" altLang="ko-KR" sz="1400" b="1" dirty="0"/>
              <a:t>”. A slightly modified variation is the “</a:t>
            </a:r>
            <a:r>
              <a:rPr lang="en-US" altLang="ko-KR" sz="1400" b="1" dirty="0">
                <a:solidFill>
                  <a:srgbClr val="FF0000"/>
                </a:solidFill>
              </a:rPr>
              <a:t>EFK</a:t>
            </a:r>
            <a:r>
              <a:rPr lang="en-US" altLang="ko-KR" sz="1400" b="1" dirty="0"/>
              <a:t>(</a:t>
            </a:r>
            <a:r>
              <a:rPr lang="en-US" altLang="ko-KR" sz="1400" b="1" dirty="0">
                <a:solidFill>
                  <a:srgbClr val="FF0000"/>
                </a:solidFill>
              </a:rPr>
              <a:t>Elasticsearch</a:t>
            </a:r>
            <a:r>
              <a:rPr lang="en-US" altLang="ko-KR" sz="1400" b="1" dirty="0"/>
              <a:t>, </a:t>
            </a:r>
            <a:r>
              <a:rPr lang="en-US" altLang="ko-KR" sz="1400" b="1" dirty="0" err="1">
                <a:solidFill>
                  <a:srgbClr val="FF0000"/>
                </a:solidFill>
              </a:rPr>
              <a:t>Fluentd</a:t>
            </a:r>
            <a:r>
              <a:rPr lang="en-US" altLang="ko-KR" sz="1400" b="1" dirty="0"/>
              <a:t>, </a:t>
            </a:r>
            <a:r>
              <a:rPr lang="en-US" altLang="ko-KR" sz="1400" b="1" dirty="0">
                <a:solidFill>
                  <a:srgbClr val="FF0000"/>
                </a:solidFill>
              </a:rPr>
              <a:t>Kibana</a:t>
            </a:r>
            <a:r>
              <a:rPr lang="en-US" altLang="ko-KR" sz="1400" b="1" dirty="0"/>
              <a:t>)” stack, where “Logstash” is replaced with “</a:t>
            </a:r>
            <a:r>
              <a:rPr lang="en-US" altLang="ko-KR" sz="1400" b="1" dirty="0" err="1">
                <a:solidFill>
                  <a:srgbClr val="FF0000"/>
                </a:solidFill>
              </a:rPr>
              <a:t>FluentD</a:t>
            </a:r>
            <a:r>
              <a:rPr lang="en-US" altLang="ko-KR" sz="1400" b="1" dirty="0"/>
              <a:t>”</a:t>
            </a:r>
            <a:r>
              <a:rPr lang="en-US" altLang="ko-KR" sz="1400" dirty="0"/>
              <a:t>.</a:t>
            </a:r>
          </a:p>
          <a:p>
            <a:pPr lvl="1">
              <a:buFont typeface="Wingdings" panose="05000000000000000000" pitchFamily="2" charset="2"/>
              <a:buChar char="§"/>
            </a:pPr>
            <a:r>
              <a:rPr lang="en-US" altLang="ko-KR" sz="1400" b="1" dirty="0"/>
              <a:t>When using the “EFK” stack for centralized logging, each Kubernetes cluster node runs a “</a:t>
            </a:r>
            <a:r>
              <a:rPr lang="en-US" altLang="ko-KR" sz="1400" b="1" dirty="0" err="1"/>
              <a:t>FluentD</a:t>
            </a:r>
            <a:r>
              <a:rPr lang="en-US" altLang="ko-KR" sz="1400" b="1" dirty="0"/>
              <a:t>” agent (usually as a pod deployed through a “</a:t>
            </a:r>
            <a:r>
              <a:rPr lang="en-US" altLang="ko-KR" sz="1400" b="1" dirty="0" err="1"/>
              <a:t>DaemonSet</a:t>
            </a:r>
            <a:r>
              <a:rPr lang="en-US" altLang="ko-KR" sz="1400" b="1" dirty="0"/>
              <a:t>”)</a:t>
            </a:r>
            <a:r>
              <a:rPr lang="en-US" altLang="ko-KR" sz="1400" dirty="0"/>
              <a:t>, which is responsible for </a:t>
            </a:r>
            <a:r>
              <a:rPr lang="en-US" altLang="ko-KR" sz="1400" b="1" dirty="0"/>
              <a:t>gathering the logs from the containers, tagging them with pod-specific information, and delivering them to </a:t>
            </a:r>
            <a:r>
              <a:rPr lang="en-US" altLang="ko-KR" sz="1400" b="1" dirty="0" err="1"/>
              <a:t>ElasticSearch</a:t>
            </a:r>
            <a:r>
              <a:rPr lang="en-US" altLang="ko-KR" sz="1400" dirty="0"/>
              <a:t>, </a:t>
            </a:r>
            <a:r>
              <a:rPr lang="en-US" altLang="ko-KR" sz="1400" b="1" dirty="0"/>
              <a:t>which stores them persistently</a:t>
            </a:r>
            <a:r>
              <a:rPr lang="en-US" altLang="ko-KR" sz="1400" dirty="0"/>
              <a:t>. </a:t>
            </a:r>
            <a:r>
              <a:rPr lang="en-US" altLang="ko-KR" sz="1400" b="1" dirty="0" err="1"/>
              <a:t>ElasticSearch</a:t>
            </a:r>
            <a:r>
              <a:rPr lang="en-US" altLang="ko-KR" sz="1400" b="1" dirty="0"/>
              <a:t> is also deployed as a pod somewhere in the cluster</a:t>
            </a:r>
            <a:r>
              <a:rPr lang="en-US" altLang="ko-KR" sz="1400" dirty="0"/>
              <a:t>. </a:t>
            </a:r>
            <a:r>
              <a:rPr lang="en-US" altLang="ko-KR" sz="1400" b="1" dirty="0"/>
              <a:t>The logs can then be viewed and analyzed in a web browser through Kibana</a:t>
            </a:r>
            <a:r>
              <a:rPr lang="en-US" altLang="ko-KR" sz="1400" dirty="0"/>
              <a:t>, </a:t>
            </a:r>
            <a:r>
              <a:rPr lang="en-US" altLang="ko-KR" sz="1400" b="1" dirty="0"/>
              <a:t>which is a web tool for visualizing </a:t>
            </a:r>
            <a:r>
              <a:rPr lang="en-US" altLang="ko-KR" sz="1400" b="1" dirty="0" err="1"/>
              <a:t>ElasticSearch</a:t>
            </a:r>
            <a:r>
              <a:rPr lang="en-US" altLang="ko-KR" sz="1400" b="1" dirty="0"/>
              <a:t> data</a:t>
            </a:r>
            <a:r>
              <a:rPr lang="en-US" altLang="ko-KR" sz="1400" dirty="0"/>
              <a:t>. It also usually runs as a pod and is exposed through a </a:t>
            </a:r>
            <a:r>
              <a:rPr lang="en-US" altLang="ko-KR" sz="1400" b="1" dirty="0"/>
              <a:t>Service</a:t>
            </a:r>
            <a:r>
              <a:rPr lang="en-US" altLang="ko-KR" sz="1400" dirty="0"/>
              <a:t>. The three components of the EFK stack are shown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69E3CA1-F400-EAA1-9AEA-CA1C83F5E7D1}"/>
              </a:ext>
            </a:extLst>
          </p:cNvPr>
          <p:cNvPicPr>
            <a:picLocks noChangeAspect="1"/>
          </p:cNvPicPr>
          <p:nvPr/>
        </p:nvPicPr>
        <p:blipFill>
          <a:blip r:embed="rId2"/>
          <a:stretch>
            <a:fillRect/>
          </a:stretch>
        </p:blipFill>
        <p:spPr>
          <a:xfrm>
            <a:off x="3362325" y="3591718"/>
            <a:ext cx="5467350" cy="1600200"/>
          </a:xfrm>
          <a:prstGeom prst="rect">
            <a:avLst/>
          </a:prstGeom>
        </p:spPr>
      </p:pic>
    </p:spTree>
    <p:extLst>
      <p:ext uri="{BB962C8B-B14F-4D97-AF65-F5344CB8AC3E}">
        <p14:creationId xmlns:p14="http://schemas.microsoft.com/office/powerpoint/2010/main" val="126439364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Making Your Apps Easy to Run and Manage in Kubernetes(13/13)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Handling Multi-Line Log Statements :</a:t>
            </a:r>
            <a:endParaRPr lang="en-US" altLang="ko-KR" sz="1400" dirty="0"/>
          </a:p>
          <a:p>
            <a:pPr lvl="1">
              <a:buFont typeface="Wingdings" panose="05000000000000000000" pitchFamily="2" charset="2"/>
              <a:buChar char="§"/>
            </a:pPr>
            <a:r>
              <a:rPr lang="en-US" altLang="ko-KR" sz="1400" b="1" dirty="0"/>
              <a:t>The “</a:t>
            </a:r>
            <a:r>
              <a:rPr lang="en-US" altLang="ko-KR" sz="1400" b="1" dirty="0" err="1"/>
              <a:t>FluentD</a:t>
            </a:r>
            <a:r>
              <a:rPr lang="en-US" altLang="ko-KR" sz="1400" b="1" dirty="0"/>
              <a:t>” agent stores each line of the log file as an entry in the “</a:t>
            </a:r>
            <a:r>
              <a:rPr lang="en-US" altLang="ko-KR" sz="1400" b="1" dirty="0" err="1"/>
              <a:t>ElasticSearch</a:t>
            </a:r>
            <a:r>
              <a:rPr lang="en-US" altLang="ko-KR" sz="1400" b="1" dirty="0"/>
              <a:t>” data store</a:t>
            </a:r>
            <a:r>
              <a:rPr lang="en-US" altLang="ko-KR" sz="1400" dirty="0"/>
              <a:t>. There’s one problem with that. </a:t>
            </a:r>
            <a:r>
              <a:rPr lang="en-US" altLang="ko-KR" sz="1400" b="1" dirty="0"/>
              <a:t>Log statements spanning multiple lines, such as exception stack traces in Java, appear as separate entries in the centralized logging system</a:t>
            </a:r>
            <a:r>
              <a:rPr lang="en-US" altLang="ko-KR" sz="1400" dirty="0"/>
              <a:t>.</a:t>
            </a:r>
          </a:p>
          <a:p>
            <a:pPr lvl="1">
              <a:buFont typeface="Wingdings" panose="05000000000000000000" pitchFamily="2" charset="2"/>
              <a:buChar char="§"/>
            </a:pPr>
            <a:r>
              <a:rPr lang="en-US" altLang="ko-KR" sz="1400" b="1" dirty="0">
                <a:solidFill>
                  <a:srgbClr val="FF0000"/>
                </a:solidFill>
              </a:rPr>
              <a:t>To solve this problem, you can have the apps output JSON instead of plain text</a:t>
            </a:r>
            <a:r>
              <a:rPr lang="en-US" altLang="ko-KR" sz="1400" dirty="0"/>
              <a:t>. </a:t>
            </a:r>
            <a:r>
              <a:rPr lang="en-US" altLang="ko-KR" sz="1400" b="1" dirty="0"/>
              <a:t>This way, a multiline log statement can be stored and shown in “Kibana” as a single entry</a:t>
            </a:r>
            <a:r>
              <a:rPr lang="en-US" altLang="ko-KR" sz="1400" dirty="0"/>
              <a:t>. But that makes viewing logs with </a:t>
            </a:r>
            <a:r>
              <a:rPr lang="en-US" altLang="ko-KR" sz="1400" dirty="0" err="1"/>
              <a:t>kubectl</a:t>
            </a:r>
            <a:r>
              <a:rPr lang="en-US" altLang="ko-KR" sz="1400" dirty="0"/>
              <a:t> logs much less human-friendly. </a:t>
            </a:r>
          </a:p>
          <a:p>
            <a:pPr lvl="1">
              <a:buFont typeface="Wingdings" panose="05000000000000000000" pitchFamily="2" charset="2"/>
              <a:buChar char="§"/>
            </a:pPr>
            <a:r>
              <a:rPr lang="en-US" altLang="ko-KR" sz="1400" b="1" dirty="0"/>
              <a:t>The solution may be to keep outputting human-readable logs to standard output, while writing JSON logs to a file and having them processed by “</a:t>
            </a:r>
            <a:r>
              <a:rPr lang="en-US" altLang="ko-KR" sz="1400" b="1" dirty="0" err="1"/>
              <a:t>FluentD</a:t>
            </a:r>
            <a:r>
              <a:rPr lang="en-US" altLang="ko-KR" sz="1400" b="1" dirty="0"/>
              <a:t>”</a:t>
            </a:r>
            <a:r>
              <a:rPr lang="en-US" altLang="ko-KR" sz="1400" dirty="0"/>
              <a:t>. </a:t>
            </a:r>
            <a:r>
              <a:rPr lang="en-US" altLang="ko-KR" sz="1400" b="1" dirty="0"/>
              <a:t>This requires configuring the “node-level </a:t>
            </a:r>
            <a:r>
              <a:rPr lang="en-US" altLang="ko-KR" sz="1400" b="1" dirty="0" err="1"/>
              <a:t>FluentD</a:t>
            </a:r>
            <a:r>
              <a:rPr lang="en-US" altLang="ko-KR" sz="1400" b="1" dirty="0"/>
              <a:t> agent” appropriately or adding a logging sidecar container to every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4BF3398F-3772-3C67-8493-80A2A371C865}"/>
              </a:ext>
            </a:extLst>
          </p:cNvPr>
          <p:cNvPicPr>
            <a:picLocks noChangeAspect="1"/>
          </p:cNvPicPr>
          <p:nvPr/>
        </p:nvPicPr>
        <p:blipFill>
          <a:blip r:embed="rId2"/>
          <a:stretch>
            <a:fillRect/>
          </a:stretch>
        </p:blipFill>
        <p:spPr>
          <a:xfrm>
            <a:off x="2759384" y="3307820"/>
            <a:ext cx="6673232" cy="3001846"/>
          </a:xfrm>
          <a:prstGeom prst="rect">
            <a:avLst/>
          </a:prstGeom>
        </p:spPr>
      </p:pic>
    </p:spTree>
    <p:extLst>
      <p:ext uri="{BB962C8B-B14F-4D97-AF65-F5344CB8AC3E}">
        <p14:creationId xmlns:p14="http://schemas.microsoft.com/office/powerpoint/2010/main" val="13827515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Best Practices for Development and Testing(1/10)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Apps Outside of Kubernetes During Development :</a:t>
            </a:r>
            <a:endParaRPr lang="en-US" altLang="ko-KR" sz="1400" dirty="0"/>
          </a:p>
          <a:p>
            <a:pPr lvl="1">
              <a:buFont typeface="Wingdings" panose="05000000000000000000" pitchFamily="2" charset="2"/>
              <a:buChar char="§"/>
            </a:pPr>
            <a:r>
              <a:rPr lang="en-US" altLang="ko-KR" sz="1400" b="1" dirty="0"/>
              <a:t>Having to build the app after each minor change, then build the container image, push it to a registry, and then re-deploy the pods would make development slow and painful</a:t>
            </a:r>
            <a:r>
              <a:rPr lang="en-US" altLang="ko-KR" sz="1400" dirty="0"/>
              <a:t>. Luckily, you don’t need to go through all that trouble.</a:t>
            </a:r>
          </a:p>
          <a:p>
            <a:pPr lvl="1">
              <a:buFont typeface="Wingdings" panose="05000000000000000000" pitchFamily="2" charset="2"/>
              <a:buChar char="§"/>
            </a:pPr>
            <a:r>
              <a:rPr lang="en-US" altLang="ko-KR" sz="1400" b="1" dirty="0"/>
              <a:t>You can always develop and run apps on your local machine, the way you’re used to. After all, an app running in Kubernetes is a regular (although isolated) process running on one of the cluster nodes</a:t>
            </a:r>
            <a:r>
              <a:rPr lang="en-US" altLang="ko-KR" sz="1400" dirty="0"/>
              <a:t>. If the app depends on certain features the Kubernetes environment provides, you can easily replicate that environment on your development machine.</a:t>
            </a:r>
          </a:p>
          <a:p>
            <a:pPr lvl="1">
              <a:buFont typeface="Wingdings" panose="05000000000000000000" pitchFamily="2" charset="2"/>
              <a:buChar char="§"/>
            </a:pPr>
            <a:r>
              <a:rPr lang="en-US" altLang="ko-KR" sz="1400" dirty="0"/>
              <a:t>Most of the time, you can usually run the app directly from your IDE.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01D5997-64E5-8FCD-E9C7-54C8C463A338}"/>
              </a:ext>
            </a:extLst>
          </p:cNvPr>
          <p:cNvPicPr>
            <a:picLocks noChangeAspect="1"/>
          </p:cNvPicPr>
          <p:nvPr/>
        </p:nvPicPr>
        <p:blipFill>
          <a:blip r:embed="rId2"/>
          <a:stretch>
            <a:fillRect/>
          </a:stretch>
        </p:blipFill>
        <p:spPr>
          <a:xfrm>
            <a:off x="3728405" y="3429000"/>
            <a:ext cx="4735189" cy="2367595"/>
          </a:xfrm>
          <a:prstGeom prst="rect">
            <a:avLst/>
          </a:prstGeom>
        </p:spPr>
      </p:pic>
    </p:spTree>
    <p:extLst>
      <p:ext uri="{BB962C8B-B14F-4D97-AF65-F5344CB8AC3E}">
        <p14:creationId xmlns:p14="http://schemas.microsoft.com/office/powerpoint/2010/main" val="318062690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Best Practices for Development and Testing(2/10)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Connecting to Backend Services :</a:t>
            </a:r>
            <a:endParaRPr lang="en-US" altLang="ko-KR" sz="1400" dirty="0"/>
          </a:p>
          <a:p>
            <a:pPr lvl="1">
              <a:buFont typeface="Wingdings" panose="05000000000000000000" pitchFamily="2" charset="2"/>
              <a:buChar char="§"/>
            </a:pPr>
            <a:r>
              <a:rPr lang="en-US" altLang="ko-KR" sz="1400" b="1" dirty="0"/>
              <a:t>In production, if the app connects to a backend Service and uses the “</a:t>
            </a:r>
            <a:r>
              <a:rPr lang="en-US" altLang="ko-KR" sz="1400" b="1" dirty="0">
                <a:solidFill>
                  <a:srgbClr val="FF0000"/>
                </a:solidFill>
              </a:rPr>
              <a:t>BACKEND_SERVICE_HOST</a:t>
            </a:r>
            <a:r>
              <a:rPr lang="en-US" altLang="ko-KR" sz="1400" b="1" dirty="0"/>
              <a:t>” and “</a:t>
            </a:r>
            <a:r>
              <a:rPr lang="en-US" altLang="ko-KR" sz="1400" b="1" dirty="0">
                <a:solidFill>
                  <a:srgbClr val="FF0000"/>
                </a:solidFill>
              </a:rPr>
              <a:t>BACKEND_SERVICE_PORT</a:t>
            </a:r>
            <a:r>
              <a:rPr lang="en-US" altLang="ko-KR" sz="1400" b="1" dirty="0"/>
              <a:t>” environment variables to find the Service’s coordinates, you can obviously set those environment variables on your local machine manually and point them to the backend Service, regardless of if it’s running outside or inside a Kubernetes cluster</a:t>
            </a:r>
            <a:r>
              <a:rPr lang="en-US" altLang="ko-KR" sz="1400" dirty="0"/>
              <a:t>. If it’s running inside Kubernetes, </a:t>
            </a:r>
            <a:r>
              <a:rPr lang="en-US" altLang="ko-KR" sz="1400" b="1" dirty="0"/>
              <a:t>you can always (at least temporarily) make the Service accessible externally by changing it to a “</a:t>
            </a:r>
            <a:r>
              <a:rPr lang="en-US" altLang="ko-KR" sz="1400" b="1" dirty="0" err="1"/>
              <a:t>NodePort</a:t>
            </a:r>
            <a:r>
              <a:rPr lang="en-US" altLang="ko-KR" sz="1400" b="1" dirty="0"/>
              <a:t>” or a “</a:t>
            </a:r>
            <a:r>
              <a:rPr lang="en-US" altLang="ko-KR" sz="1400" b="1" dirty="0" err="1"/>
              <a:t>LoadBalancer</a:t>
            </a:r>
            <a:r>
              <a:rPr lang="en-US" altLang="ko-KR" sz="1400" b="1" dirty="0"/>
              <a:t>”-type Service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F4C25CB-4E2C-7237-D4D7-37CFF02DC91E}"/>
              </a:ext>
            </a:extLst>
          </p:cNvPr>
          <p:cNvPicPr>
            <a:picLocks noChangeAspect="1"/>
          </p:cNvPicPr>
          <p:nvPr/>
        </p:nvPicPr>
        <p:blipFill>
          <a:blip r:embed="rId2"/>
          <a:stretch>
            <a:fillRect/>
          </a:stretch>
        </p:blipFill>
        <p:spPr>
          <a:xfrm>
            <a:off x="3286125" y="2738730"/>
            <a:ext cx="5619750" cy="3305175"/>
          </a:xfrm>
          <a:prstGeom prst="rect">
            <a:avLst/>
          </a:prstGeom>
        </p:spPr>
      </p:pic>
    </p:spTree>
    <p:extLst>
      <p:ext uri="{BB962C8B-B14F-4D97-AF65-F5344CB8AC3E}">
        <p14:creationId xmlns:p14="http://schemas.microsoft.com/office/powerpoint/2010/main" val="197543368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Best Practices for Development and Testing(3/10)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Connecting to the API Server :</a:t>
            </a:r>
            <a:endParaRPr lang="en-US" altLang="ko-KR" sz="1400" dirty="0"/>
          </a:p>
          <a:p>
            <a:pPr lvl="1">
              <a:buFont typeface="Wingdings" panose="05000000000000000000" pitchFamily="2" charset="2"/>
              <a:buChar char="§"/>
            </a:pPr>
            <a:r>
              <a:rPr lang="en-US" altLang="ko-KR" sz="1400" b="1" dirty="0"/>
              <a:t>Similarly, if your app requires access to the “Kubernetes API server” when running inside a Kubernetes cluster, it can easily talk to the “API server” from outside the cluster during development</a:t>
            </a:r>
            <a:r>
              <a:rPr lang="en-US" altLang="ko-KR" sz="1400" dirty="0"/>
              <a:t>. If it uses the “</a:t>
            </a:r>
            <a:r>
              <a:rPr lang="en-US" altLang="ko-KR" sz="1400" b="1" dirty="0" err="1">
                <a:solidFill>
                  <a:srgbClr val="FF0000"/>
                </a:solidFill>
              </a:rPr>
              <a:t>ServiceAccount’s</a:t>
            </a:r>
            <a:r>
              <a:rPr lang="en-US" altLang="ko-KR" sz="1400" b="1" dirty="0">
                <a:solidFill>
                  <a:srgbClr val="FF0000"/>
                </a:solidFill>
              </a:rPr>
              <a:t> token</a:t>
            </a:r>
            <a:r>
              <a:rPr lang="en-US" altLang="ko-KR" sz="1400" dirty="0"/>
              <a:t>” to authenticate itself, </a:t>
            </a:r>
            <a:r>
              <a:rPr lang="en-US" altLang="ko-KR" sz="1400" b="1" dirty="0"/>
              <a:t>you can always copy the “</a:t>
            </a:r>
            <a:r>
              <a:rPr lang="en-US" altLang="ko-KR" sz="1400" b="1" dirty="0" err="1"/>
              <a:t>ServiceAccount’s</a:t>
            </a:r>
            <a:r>
              <a:rPr lang="en-US" altLang="ko-KR" sz="1400" b="1" dirty="0"/>
              <a:t> Secret’s files” to your local machine with “$ </a:t>
            </a:r>
            <a:r>
              <a:rPr lang="en-US" altLang="ko-KR" sz="1400" b="1" dirty="0" err="1"/>
              <a:t>kubectl</a:t>
            </a:r>
            <a:r>
              <a:rPr lang="en-US" altLang="ko-KR" sz="1400" b="1" dirty="0"/>
              <a:t> cp” command</a:t>
            </a:r>
            <a:r>
              <a:rPr lang="en-US" altLang="ko-KR" sz="1400" dirty="0"/>
              <a:t>. The API server doesn’t care if the client accessing it is inside or outside the cluster.</a:t>
            </a:r>
          </a:p>
          <a:p>
            <a:pPr lvl="1">
              <a:buFont typeface="Wingdings" panose="05000000000000000000" pitchFamily="2" charset="2"/>
              <a:buChar char="§"/>
            </a:pPr>
            <a:r>
              <a:rPr lang="en-US" altLang="ko-KR" sz="1400" b="1" dirty="0"/>
              <a:t>If the app uses an “ambassador container” like the one described before, you don’t even need those “Secret files”</a:t>
            </a:r>
            <a:r>
              <a:rPr lang="en-US" altLang="ko-KR" sz="1400" dirty="0"/>
              <a:t>. </a:t>
            </a:r>
            <a:r>
              <a:rPr lang="en-US" altLang="ko-KR" sz="1400" b="1" dirty="0"/>
              <a:t>Run “</a:t>
            </a:r>
            <a:r>
              <a:rPr lang="en-US" altLang="ko-KR" sz="1400" b="1" dirty="0" err="1">
                <a:solidFill>
                  <a:srgbClr val="FF0000"/>
                </a:solidFill>
              </a:rPr>
              <a:t>kubectl</a:t>
            </a:r>
            <a:r>
              <a:rPr lang="en-US" altLang="ko-KR" sz="1400" b="1" dirty="0">
                <a:solidFill>
                  <a:srgbClr val="FF0000"/>
                </a:solidFill>
              </a:rPr>
              <a:t> proxy</a:t>
            </a:r>
            <a:r>
              <a:rPr lang="en-US" altLang="ko-KR" sz="1400" b="1" dirty="0"/>
              <a:t>” on your local machine, run your app locally, and it should be ready to talk to your local “</a:t>
            </a:r>
            <a:r>
              <a:rPr lang="en-US" altLang="ko-KR" sz="1400" b="1" dirty="0" err="1"/>
              <a:t>kubectl</a:t>
            </a:r>
            <a:r>
              <a:rPr lang="en-US" altLang="ko-KR" sz="1400" b="1" dirty="0"/>
              <a:t> proxy”</a:t>
            </a:r>
            <a:r>
              <a:rPr lang="en-US" altLang="ko-KR" sz="1400" dirty="0"/>
              <a:t> (as long as it and the ambassador container bind the proxy to the same port). </a:t>
            </a:r>
          </a:p>
          <a:p>
            <a:pPr lvl="1">
              <a:buFont typeface="Wingdings" panose="05000000000000000000" pitchFamily="2" charset="2"/>
              <a:buChar char="§"/>
            </a:pPr>
            <a:r>
              <a:rPr lang="en-US" altLang="ko-KR" sz="1400" dirty="0"/>
              <a:t>In this case, you’ll need to </a:t>
            </a:r>
            <a:r>
              <a:rPr lang="en-US" altLang="ko-KR" sz="1400" b="1" dirty="0"/>
              <a:t>make sure the user account your local “</a:t>
            </a:r>
            <a:r>
              <a:rPr lang="en-US" altLang="ko-KR" sz="1400" b="1" dirty="0" err="1"/>
              <a:t>kubectl</a:t>
            </a:r>
            <a:r>
              <a:rPr lang="en-US" altLang="ko-KR" sz="1400" b="1" dirty="0"/>
              <a:t>” is using has the same privileges as the “</a:t>
            </a:r>
            <a:r>
              <a:rPr lang="en-US" altLang="ko-KR" sz="1400" b="1" dirty="0" err="1"/>
              <a:t>ServiceAccount</a:t>
            </a:r>
            <a:r>
              <a:rPr lang="en-US" altLang="ko-KR" sz="1400" b="1" dirty="0"/>
              <a:t>” the app will run under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4908F5C-1217-813A-4923-B03C4617A3D3}"/>
              </a:ext>
            </a:extLst>
          </p:cNvPr>
          <p:cNvGrpSpPr/>
          <p:nvPr/>
        </p:nvGrpSpPr>
        <p:grpSpPr>
          <a:xfrm>
            <a:off x="2871787" y="3280716"/>
            <a:ext cx="6448425" cy="3028950"/>
            <a:chOff x="2871787" y="3280716"/>
            <a:chExt cx="6448425" cy="3028950"/>
          </a:xfrm>
        </p:grpSpPr>
        <p:pic>
          <p:nvPicPr>
            <p:cNvPr id="4" name="그림 3">
              <a:extLst>
                <a:ext uri="{FF2B5EF4-FFF2-40B4-BE49-F238E27FC236}">
                  <a16:creationId xmlns:a16="http://schemas.microsoft.com/office/drawing/2014/main" id="{155CB0B9-DB10-D44A-19F4-9C62D69C43D1}"/>
                </a:ext>
              </a:extLst>
            </p:cNvPr>
            <p:cNvPicPr>
              <a:picLocks noChangeAspect="1"/>
            </p:cNvPicPr>
            <p:nvPr/>
          </p:nvPicPr>
          <p:blipFill>
            <a:blip r:embed="rId2"/>
            <a:stretch>
              <a:fillRect/>
            </a:stretch>
          </p:blipFill>
          <p:spPr>
            <a:xfrm>
              <a:off x="2871787" y="3280716"/>
              <a:ext cx="6448425" cy="3028950"/>
            </a:xfrm>
            <a:prstGeom prst="rect">
              <a:avLst/>
            </a:prstGeom>
          </p:spPr>
        </p:pic>
        <p:sp>
          <p:nvSpPr>
            <p:cNvPr id="8" name="직사각형 7">
              <a:extLst>
                <a:ext uri="{FF2B5EF4-FFF2-40B4-BE49-F238E27FC236}">
                  <a16:creationId xmlns:a16="http://schemas.microsoft.com/office/drawing/2014/main" id="{3FF771AE-4C4A-D518-5D61-B23F853F522D}"/>
                </a:ext>
              </a:extLst>
            </p:cNvPr>
            <p:cNvSpPr/>
            <p:nvPr/>
          </p:nvSpPr>
          <p:spPr>
            <a:xfrm>
              <a:off x="5771434" y="4750025"/>
              <a:ext cx="3493947" cy="137216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7843447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Best Practices for Development and Testing(4/10)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Inside a Container Even During Development :</a:t>
            </a:r>
            <a:endParaRPr lang="en-US" altLang="ko-KR" sz="1400" dirty="0"/>
          </a:p>
          <a:p>
            <a:pPr lvl="1">
              <a:buFont typeface="Wingdings" panose="05000000000000000000" pitchFamily="2" charset="2"/>
              <a:buChar char="§"/>
            </a:pPr>
            <a:r>
              <a:rPr lang="en-US" altLang="ko-KR" sz="1400" b="1" dirty="0"/>
              <a:t>When during development you absolutely have to run the app in a container for whatever reason, there is a way of avoiding having to build the container image every time</a:t>
            </a:r>
            <a:r>
              <a:rPr lang="en-US" altLang="ko-KR" sz="1400" dirty="0"/>
              <a:t>. </a:t>
            </a:r>
            <a:r>
              <a:rPr lang="en-US" altLang="ko-KR" sz="1400" b="1" dirty="0"/>
              <a:t>Instead of baking the binaries into the image, you can always </a:t>
            </a:r>
            <a:r>
              <a:rPr lang="en-US" altLang="ko-KR" sz="1400" b="1" dirty="0">
                <a:solidFill>
                  <a:srgbClr val="FF0000"/>
                </a:solidFill>
              </a:rPr>
              <a:t>mount your local filesystem into the container through Docker volumes</a:t>
            </a:r>
            <a:r>
              <a:rPr lang="en-US" altLang="ko-KR" sz="1400" b="1" dirty="0"/>
              <a:t>, for example</a:t>
            </a:r>
            <a:r>
              <a:rPr lang="en-US" altLang="ko-KR" sz="1400" dirty="0"/>
              <a:t>. This way, after you build a new version of the app’s binaries, all you need to do is restart the container (or not even that, if hot-redeploy is supported). </a:t>
            </a:r>
            <a:r>
              <a:rPr lang="en-US" altLang="ko-KR" sz="1400" b="1" dirty="0"/>
              <a:t>No need to rebuild the image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851FE31-9002-8B6A-46C5-4A5D6C6BC51B}"/>
              </a:ext>
            </a:extLst>
          </p:cNvPr>
          <p:cNvPicPr>
            <a:picLocks noChangeAspect="1"/>
          </p:cNvPicPr>
          <p:nvPr/>
        </p:nvPicPr>
        <p:blipFill>
          <a:blip r:embed="rId2"/>
          <a:stretch>
            <a:fillRect/>
          </a:stretch>
        </p:blipFill>
        <p:spPr>
          <a:xfrm>
            <a:off x="3705225" y="2377280"/>
            <a:ext cx="4781550" cy="2428875"/>
          </a:xfrm>
          <a:prstGeom prst="rect">
            <a:avLst/>
          </a:prstGeom>
        </p:spPr>
      </p:pic>
    </p:spTree>
    <p:extLst>
      <p:ext uri="{BB962C8B-B14F-4D97-AF65-F5344CB8AC3E}">
        <p14:creationId xmlns:p14="http://schemas.microsoft.com/office/powerpoint/2010/main" val="276802886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Best Practices for Development and Testing(5/10)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Minikube</a:t>
            </a:r>
            <a:r>
              <a:rPr lang="en-US" altLang="ko-KR" sz="1800" b="1" dirty="0"/>
              <a:t> in Development :</a:t>
            </a:r>
            <a:endParaRPr lang="en-US" altLang="ko-KR" sz="1400" dirty="0"/>
          </a:p>
          <a:p>
            <a:pPr lvl="1">
              <a:buFont typeface="Wingdings" panose="05000000000000000000" pitchFamily="2" charset="2"/>
              <a:buChar char="§"/>
            </a:pPr>
            <a:r>
              <a:rPr lang="en-US" altLang="ko-KR" sz="1400" b="1" dirty="0"/>
              <a:t>As you can see, nothing forces you to run your app inside Kubernetes during development</a:t>
            </a:r>
            <a:r>
              <a:rPr lang="en-US" altLang="ko-KR" sz="1400" dirty="0"/>
              <a:t>. But you may do that anyway to see how the app behaves in a true Kubernetes environment.</a:t>
            </a:r>
          </a:p>
          <a:p>
            <a:pPr lvl="1">
              <a:buFont typeface="Wingdings" panose="05000000000000000000" pitchFamily="2" charset="2"/>
              <a:buChar char="§"/>
            </a:pPr>
            <a:r>
              <a:rPr lang="en-US" altLang="ko-KR" sz="1400" b="1" dirty="0"/>
              <a:t>You may have used “</a:t>
            </a:r>
            <a:r>
              <a:rPr lang="en-US" altLang="ko-KR" sz="1400" b="1" dirty="0" err="1">
                <a:solidFill>
                  <a:srgbClr val="FF0000"/>
                </a:solidFill>
              </a:rPr>
              <a:t>Minikube</a:t>
            </a:r>
            <a:r>
              <a:rPr lang="en-US" altLang="ko-KR" sz="1400" b="1" dirty="0"/>
              <a:t>” to run examples in this presentation</a:t>
            </a:r>
            <a:r>
              <a:rPr lang="en-US" altLang="ko-KR" sz="1400" dirty="0"/>
              <a:t>. </a:t>
            </a:r>
            <a:r>
              <a:rPr lang="en-US" altLang="ko-KR" sz="1400" b="1" dirty="0"/>
              <a:t>Although a “</a:t>
            </a:r>
            <a:r>
              <a:rPr lang="en-US" altLang="ko-KR" sz="1400" b="1" dirty="0" err="1"/>
              <a:t>Minikube</a:t>
            </a:r>
            <a:r>
              <a:rPr lang="en-US" altLang="ko-KR" sz="1400" b="1" dirty="0"/>
              <a:t>” cluster runs only a single worker node, it’s nevertheless a valuable method of trying out your app in Kubernetes </a:t>
            </a:r>
            <a:r>
              <a:rPr lang="en-US" altLang="ko-KR" sz="1400" dirty="0"/>
              <a:t>(and, of course, developing all the resource manifests that make up your complete application). </a:t>
            </a:r>
            <a:r>
              <a:rPr lang="en-US" altLang="ko-KR" sz="1400" b="1" dirty="0"/>
              <a:t>“</a:t>
            </a:r>
            <a:r>
              <a:rPr lang="en-US" altLang="ko-KR" sz="1400" b="1" dirty="0" err="1"/>
              <a:t>Minikube</a:t>
            </a:r>
            <a:r>
              <a:rPr lang="en-US" altLang="ko-KR" sz="1400" b="1" dirty="0"/>
              <a:t>” doesn’t offer everything that a proper multi-node Kubernetes cluster usually provides, but in most cases, that doesn’t matter</a:t>
            </a:r>
            <a:r>
              <a:rPr lang="en-US" altLang="ko-KR" sz="1400" dirty="0"/>
              <a:t>.</a:t>
            </a:r>
          </a:p>
          <a:p>
            <a:pPr lvl="1">
              <a:buFont typeface="Wingdings" panose="05000000000000000000" pitchFamily="2" charset="2"/>
              <a:buChar char="§"/>
            </a:pPr>
            <a:r>
              <a:rPr lang="en-US" altLang="ko-KR" sz="1400" b="1" dirty="0"/>
              <a:t>When you’re developing with “</a:t>
            </a:r>
            <a:r>
              <a:rPr lang="en-US" altLang="ko-KR" sz="1400" b="1" dirty="0" err="1"/>
              <a:t>Minikube</a:t>
            </a:r>
            <a:r>
              <a:rPr lang="en-US" altLang="ko-KR" sz="1400" b="1" dirty="0"/>
              <a:t>” and you’d like to try out every change to your app in your Kubernetes cluster, you can mount your local filesystem into the “</a:t>
            </a:r>
            <a:r>
              <a:rPr lang="en-US" altLang="ko-KR" sz="1400" b="1" dirty="0" err="1"/>
              <a:t>Minikube</a:t>
            </a:r>
            <a:r>
              <a:rPr lang="en-US" altLang="ko-KR" sz="1400" b="1" dirty="0"/>
              <a:t> VM” using the “</a:t>
            </a:r>
            <a:r>
              <a:rPr lang="en-US" altLang="ko-KR" sz="1400" b="1" dirty="0">
                <a:solidFill>
                  <a:srgbClr val="FF0000"/>
                </a:solidFill>
              </a:rPr>
              <a:t>$ </a:t>
            </a:r>
            <a:r>
              <a:rPr lang="en-US" altLang="ko-KR" sz="1400" b="1" dirty="0" err="1">
                <a:solidFill>
                  <a:srgbClr val="FF0000"/>
                </a:solidFill>
              </a:rPr>
              <a:t>minikube</a:t>
            </a:r>
            <a:r>
              <a:rPr lang="en-US" altLang="ko-KR" sz="1400" b="1" dirty="0">
                <a:solidFill>
                  <a:srgbClr val="FF0000"/>
                </a:solidFill>
              </a:rPr>
              <a:t> mount</a:t>
            </a:r>
            <a:r>
              <a:rPr lang="en-US" altLang="ko-KR" sz="1400" b="1" dirty="0"/>
              <a:t>” command</a:t>
            </a:r>
            <a:r>
              <a:rPr lang="en-US" altLang="ko-KR" sz="1400" dirty="0"/>
              <a:t> </a:t>
            </a:r>
            <a:r>
              <a:rPr lang="en-US" altLang="ko-KR" sz="1400" b="1" dirty="0"/>
              <a:t>and then mount it into your containers through a “</a:t>
            </a:r>
            <a:r>
              <a:rPr lang="en-US" altLang="ko-KR" sz="1400" b="1" dirty="0" err="1">
                <a:solidFill>
                  <a:srgbClr val="FF0000"/>
                </a:solidFill>
              </a:rPr>
              <a:t>hostPath</a:t>
            </a:r>
            <a:r>
              <a:rPr lang="en-US" altLang="ko-KR" sz="1400" b="1" dirty="0"/>
              <a:t>” volume</a:t>
            </a:r>
            <a:r>
              <a:rPr lang="en-US" altLang="ko-KR" sz="1400" dirty="0"/>
              <a:t>. You’ll find additional instructions on how to do that in </a:t>
            </a:r>
            <a:r>
              <a:rPr lang="en-US" altLang="ko-KR" sz="1400" b="1" dirty="0"/>
              <a:t>the “</a:t>
            </a:r>
            <a:r>
              <a:rPr lang="en-US" altLang="ko-KR" sz="1400" b="1" dirty="0" err="1"/>
              <a:t>Minikube</a:t>
            </a:r>
            <a:r>
              <a:rPr lang="en-US" altLang="ko-KR" sz="1400" b="1" dirty="0"/>
              <a:t>” documentation </a:t>
            </a:r>
            <a:r>
              <a:rPr lang="en-US" altLang="ko-KR" sz="1400" b="1" dirty="0">
                <a:hlinkClick r:id="rId2"/>
              </a:rPr>
              <a:t>https://minikube.sigs.k8s.io/docs/</a:t>
            </a:r>
            <a:r>
              <a:rPr lang="en-US" altLang="ko-KR" sz="1400" b="1"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F343732-276B-6590-5E9B-DA2AF066C24E}"/>
              </a:ext>
            </a:extLst>
          </p:cNvPr>
          <p:cNvPicPr>
            <a:picLocks noChangeAspect="1"/>
          </p:cNvPicPr>
          <p:nvPr/>
        </p:nvPicPr>
        <p:blipFill>
          <a:blip r:embed="rId3"/>
          <a:stretch>
            <a:fillRect/>
          </a:stretch>
        </p:blipFill>
        <p:spPr>
          <a:xfrm>
            <a:off x="2852442" y="3591718"/>
            <a:ext cx="6487115" cy="2077904"/>
          </a:xfrm>
          <a:prstGeom prst="rect">
            <a:avLst/>
          </a:prstGeom>
        </p:spPr>
      </p:pic>
    </p:spTree>
    <p:extLst>
      <p:ext uri="{BB962C8B-B14F-4D97-AF65-F5344CB8AC3E}">
        <p14:creationId xmlns:p14="http://schemas.microsoft.com/office/powerpoint/2010/main" val="235049065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Best Practices for Development and Testing(6/10)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Docker Daemon Inside the </a:t>
            </a:r>
            <a:r>
              <a:rPr lang="en-US" altLang="ko-KR" sz="1800" b="1" dirty="0" err="1"/>
              <a:t>Minikube</a:t>
            </a:r>
            <a:r>
              <a:rPr lang="en-US" altLang="ko-KR" sz="1800" b="1" dirty="0"/>
              <a:t> VM to Build Your Images :</a:t>
            </a:r>
            <a:endParaRPr lang="en-US" altLang="ko-KR" sz="1400" dirty="0"/>
          </a:p>
          <a:p>
            <a:pPr lvl="1">
              <a:buFont typeface="Wingdings" panose="05000000000000000000" pitchFamily="2" charset="2"/>
              <a:buChar char="§"/>
            </a:pPr>
            <a:r>
              <a:rPr lang="en-US" altLang="ko-KR" sz="1400" b="1" dirty="0"/>
              <a:t>If you’re developing your app with “</a:t>
            </a:r>
            <a:r>
              <a:rPr lang="en-US" altLang="ko-KR" sz="1400" b="1" dirty="0" err="1"/>
              <a:t>Minikube</a:t>
            </a:r>
            <a:r>
              <a:rPr lang="en-US" altLang="ko-KR" sz="1400" b="1" dirty="0"/>
              <a:t>” and planning to build the container image after every change, </a:t>
            </a:r>
            <a:r>
              <a:rPr lang="en-US" altLang="ko-KR" sz="1400" b="1" dirty="0">
                <a:solidFill>
                  <a:srgbClr val="FF0000"/>
                </a:solidFill>
              </a:rPr>
              <a:t>you can use the Docker daemon inside the “</a:t>
            </a:r>
            <a:r>
              <a:rPr lang="en-US" altLang="ko-KR" sz="1400" b="1" dirty="0" err="1">
                <a:solidFill>
                  <a:srgbClr val="FF0000"/>
                </a:solidFill>
              </a:rPr>
              <a:t>Minikube</a:t>
            </a:r>
            <a:r>
              <a:rPr lang="en-US" altLang="ko-KR" sz="1400" b="1" dirty="0">
                <a:solidFill>
                  <a:srgbClr val="FF0000"/>
                </a:solidFill>
              </a:rPr>
              <a:t> VM” to do the building</a:t>
            </a:r>
            <a:r>
              <a:rPr lang="en-US" altLang="ko-KR" sz="1400" b="1" dirty="0"/>
              <a:t>, instead of having to build the image through your local Docker daemon, push it to a registry, and then have it pulled by the daemon in the VM</a:t>
            </a:r>
            <a:r>
              <a:rPr lang="en-US" altLang="ko-KR" sz="1400" dirty="0"/>
              <a:t>. </a:t>
            </a:r>
          </a:p>
          <a:p>
            <a:pPr lvl="1">
              <a:buFont typeface="Wingdings" panose="05000000000000000000" pitchFamily="2" charset="2"/>
              <a:buChar char="§"/>
            </a:pPr>
            <a:r>
              <a:rPr lang="en-US" altLang="ko-KR" sz="1400" b="1" dirty="0"/>
              <a:t>To use “</a:t>
            </a:r>
            <a:r>
              <a:rPr lang="en-US" altLang="ko-KR" sz="1400" b="1" dirty="0" err="1"/>
              <a:t>Minikube’s</a:t>
            </a:r>
            <a:r>
              <a:rPr lang="en-US" altLang="ko-KR" sz="1400" b="1" dirty="0"/>
              <a:t> Docker daemon”, all you need to do is point your “</a:t>
            </a:r>
            <a:r>
              <a:rPr lang="en-US" altLang="ko-KR" sz="1400" b="1" dirty="0">
                <a:solidFill>
                  <a:srgbClr val="FF0000"/>
                </a:solidFill>
              </a:rPr>
              <a:t>DOCKER_HOST</a:t>
            </a:r>
            <a:r>
              <a:rPr lang="en-US" altLang="ko-KR" sz="1400" b="1" dirty="0"/>
              <a:t>” environment variable to it</a:t>
            </a:r>
            <a:r>
              <a:rPr lang="en-US" altLang="ko-KR" sz="1400" dirty="0"/>
              <a:t>. Luckily, this is much easier than it sounds. All you need to do is run the following command on your local machine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solidFill>
                  <a:srgbClr val="FF0000"/>
                </a:solidFill>
              </a:rPr>
              <a:t>This will set all the required environment variables for you</a:t>
            </a:r>
            <a:r>
              <a:rPr lang="en-US" altLang="ko-KR" sz="1400" dirty="0"/>
              <a:t>. </a:t>
            </a:r>
            <a:r>
              <a:rPr lang="en-US" altLang="ko-KR" sz="1400" b="1" dirty="0"/>
              <a:t>You then build your images the same way as if the Docker daemon was running on your local machine</a:t>
            </a:r>
            <a:r>
              <a:rPr lang="en-US" altLang="ko-KR" sz="1400" dirty="0"/>
              <a:t>. </a:t>
            </a:r>
            <a:r>
              <a:rPr lang="en-US" altLang="ko-KR" sz="1400" b="1" dirty="0"/>
              <a:t>After you build the image, you don’t need to push it anywhere, because it’s already stored locally on the “</a:t>
            </a:r>
            <a:r>
              <a:rPr lang="en-US" altLang="ko-KR" sz="1400" b="1" dirty="0" err="1"/>
              <a:t>Minikube</a:t>
            </a:r>
            <a:r>
              <a:rPr lang="en-US" altLang="ko-KR" sz="1400" b="1" dirty="0"/>
              <a:t> VM”, which means new pods can use the image immediately</a:t>
            </a:r>
            <a:r>
              <a:rPr lang="en-US" altLang="ko-KR" sz="1400" dirty="0"/>
              <a:t>. </a:t>
            </a:r>
            <a:r>
              <a:rPr lang="en-US" altLang="ko-KR" sz="1400" b="1" dirty="0"/>
              <a:t>If your pods are already running, you either need to delete them or kill their containers so they’re restarted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0850D10-E822-0710-16B7-DB208059A493}"/>
              </a:ext>
            </a:extLst>
          </p:cNvPr>
          <p:cNvSpPr txBox="1"/>
          <p:nvPr/>
        </p:nvSpPr>
        <p:spPr>
          <a:xfrm>
            <a:off x="3047326" y="2809387"/>
            <a:ext cx="6097348" cy="246221"/>
          </a:xfrm>
          <a:prstGeom prst="rect">
            <a:avLst/>
          </a:prstGeom>
          <a:noFill/>
          <a:ln>
            <a:solidFill>
              <a:schemeClr val="bg1">
                <a:lumMod val="50000"/>
              </a:schemeClr>
            </a:solidFill>
          </a:ln>
        </p:spPr>
        <p:txBody>
          <a:bodyPr wrap="square">
            <a:spAutoFit/>
          </a:bodyPr>
          <a:lstStyle/>
          <a:p>
            <a:r>
              <a:rPr lang="en-US" altLang="ko-KR" sz="1000" b="1" dirty="0"/>
              <a:t>$ eval $(</a:t>
            </a:r>
            <a:r>
              <a:rPr lang="en-US" altLang="ko-KR" sz="1000" b="1" dirty="0" err="1"/>
              <a:t>minikube</a:t>
            </a:r>
            <a:r>
              <a:rPr lang="en-US" altLang="ko-KR" sz="1000" b="1" dirty="0"/>
              <a:t> docker-env)</a:t>
            </a:r>
          </a:p>
        </p:txBody>
      </p:sp>
      <p:pic>
        <p:nvPicPr>
          <p:cNvPr id="9" name="그림 8">
            <a:extLst>
              <a:ext uri="{FF2B5EF4-FFF2-40B4-BE49-F238E27FC236}">
                <a16:creationId xmlns:a16="http://schemas.microsoft.com/office/drawing/2014/main" id="{4E70D570-C8AD-8F35-E103-DB7A67B0D110}"/>
              </a:ext>
            </a:extLst>
          </p:cNvPr>
          <p:cNvPicPr>
            <a:picLocks noChangeAspect="1"/>
          </p:cNvPicPr>
          <p:nvPr/>
        </p:nvPicPr>
        <p:blipFill>
          <a:blip r:embed="rId2"/>
          <a:stretch>
            <a:fillRect/>
          </a:stretch>
        </p:blipFill>
        <p:spPr>
          <a:xfrm>
            <a:off x="7429163" y="4317934"/>
            <a:ext cx="3924637" cy="2091096"/>
          </a:xfrm>
          <a:prstGeom prst="rect">
            <a:avLst/>
          </a:prstGeom>
        </p:spPr>
      </p:pic>
    </p:spTree>
    <p:extLst>
      <p:ext uri="{BB962C8B-B14F-4D97-AF65-F5344CB8AC3E}">
        <p14:creationId xmlns:p14="http://schemas.microsoft.com/office/powerpoint/2010/main" val="327499469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Best Practices for Development and Testing(7/10)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Building Images Locally and Copying Them Over to the </a:t>
            </a:r>
            <a:r>
              <a:rPr lang="en-US" altLang="ko-KR" sz="1800" b="1" dirty="0" err="1"/>
              <a:t>Minikube</a:t>
            </a:r>
            <a:r>
              <a:rPr lang="en-US" altLang="ko-KR" sz="1800" b="1" dirty="0"/>
              <a:t> VM Directly :</a:t>
            </a:r>
            <a:endParaRPr lang="en-US" altLang="ko-KR" sz="1400" dirty="0"/>
          </a:p>
          <a:p>
            <a:pPr lvl="1">
              <a:buFont typeface="Wingdings" panose="05000000000000000000" pitchFamily="2" charset="2"/>
              <a:buChar char="§"/>
            </a:pPr>
            <a:r>
              <a:rPr lang="en-US" altLang="ko-KR" sz="1400" b="1" dirty="0"/>
              <a:t>If you can’t use the daemon inside the VM to build the images, you still have a way to avoid having to push the image to a registry and have the </a:t>
            </a:r>
            <a:r>
              <a:rPr lang="en-US" altLang="ko-KR" sz="1400" b="1" dirty="0" err="1"/>
              <a:t>Kubelet</a:t>
            </a:r>
            <a:r>
              <a:rPr lang="en-US" altLang="ko-KR" sz="1400" b="1" dirty="0"/>
              <a:t> running in the </a:t>
            </a:r>
            <a:r>
              <a:rPr lang="en-US" altLang="ko-KR" sz="1400" b="1" dirty="0" err="1"/>
              <a:t>Minikube</a:t>
            </a:r>
            <a:r>
              <a:rPr lang="en-US" altLang="ko-KR" sz="1400" b="1" dirty="0"/>
              <a:t> VM pull it</a:t>
            </a:r>
            <a:r>
              <a:rPr lang="en-US" altLang="ko-KR" sz="1400" dirty="0"/>
              <a:t>. </a:t>
            </a:r>
            <a:r>
              <a:rPr lang="en-US" altLang="ko-KR" sz="1400" b="1" dirty="0"/>
              <a:t>If you build the image on your local machine, you can </a:t>
            </a:r>
            <a:r>
              <a:rPr lang="en-US" altLang="ko-KR" sz="1400" b="1" dirty="0">
                <a:solidFill>
                  <a:srgbClr val="FF0000"/>
                </a:solidFill>
              </a:rPr>
              <a:t>copy it over to the “</a:t>
            </a:r>
            <a:r>
              <a:rPr lang="en-US" altLang="ko-KR" sz="1400" b="1" dirty="0" err="1">
                <a:solidFill>
                  <a:srgbClr val="FF0000"/>
                </a:solidFill>
              </a:rPr>
              <a:t>Minikube</a:t>
            </a:r>
            <a:r>
              <a:rPr lang="en-US" altLang="ko-KR" sz="1400" b="1" dirty="0">
                <a:solidFill>
                  <a:srgbClr val="FF0000"/>
                </a:solidFill>
              </a:rPr>
              <a:t> VM” </a:t>
            </a:r>
            <a:r>
              <a:rPr lang="en-US" altLang="ko-KR" sz="1400" b="1" dirty="0"/>
              <a:t>with the following command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As before, the image is immediately ready to be used in a pod</a:t>
            </a:r>
            <a:r>
              <a:rPr lang="en-US" altLang="ko-KR" sz="1400" dirty="0"/>
              <a:t>. </a:t>
            </a:r>
            <a:r>
              <a:rPr lang="en-US" altLang="ko-KR" sz="1400" b="1" dirty="0">
                <a:solidFill>
                  <a:srgbClr val="FF0000"/>
                </a:solidFill>
              </a:rPr>
              <a:t>But make sure the “</a:t>
            </a:r>
            <a:r>
              <a:rPr lang="en-US" altLang="ko-KR" sz="1400" b="1" dirty="0" err="1">
                <a:solidFill>
                  <a:srgbClr val="FF0000"/>
                </a:solidFill>
              </a:rPr>
              <a:t>imagePullPolicy</a:t>
            </a:r>
            <a:r>
              <a:rPr lang="en-US" altLang="ko-KR" sz="1400" b="1" dirty="0">
                <a:solidFill>
                  <a:srgbClr val="FF0000"/>
                </a:solidFill>
              </a:rPr>
              <a:t>” in your pod spec isn’t set to “Always”</a:t>
            </a:r>
            <a:r>
              <a:rPr lang="en-US" altLang="ko-KR" sz="1400" dirty="0"/>
              <a:t>, because that would cause the image to be pulled from the external registry again and you’d lose the changes you’ve copied over.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494B811-CAE4-ECE2-13BD-386A3C4252F6}"/>
              </a:ext>
            </a:extLst>
          </p:cNvPr>
          <p:cNvSpPr txBox="1"/>
          <p:nvPr/>
        </p:nvSpPr>
        <p:spPr>
          <a:xfrm>
            <a:off x="3047326" y="1966881"/>
            <a:ext cx="6097348" cy="246221"/>
          </a:xfrm>
          <a:prstGeom prst="rect">
            <a:avLst/>
          </a:prstGeom>
          <a:noFill/>
          <a:ln>
            <a:solidFill>
              <a:schemeClr val="bg1">
                <a:lumMod val="50000"/>
              </a:schemeClr>
            </a:solidFill>
          </a:ln>
        </p:spPr>
        <p:txBody>
          <a:bodyPr wrap="square">
            <a:spAutoFit/>
          </a:bodyPr>
          <a:lstStyle/>
          <a:p>
            <a:r>
              <a:rPr lang="en-US" altLang="ko-KR" sz="1000" b="1" dirty="0"/>
              <a:t>$ docker save &lt;image&gt; | (eval $(</a:t>
            </a:r>
            <a:r>
              <a:rPr lang="en-US" altLang="ko-KR" sz="1000" b="1" dirty="0" err="1"/>
              <a:t>minikube</a:t>
            </a:r>
            <a:r>
              <a:rPr lang="en-US" altLang="ko-KR" sz="1000" b="1" dirty="0"/>
              <a:t> docker-env) &amp;&amp; docker load)</a:t>
            </a:r>
          </a:p>
        </p:txBody>
      </p:sp>
      <p:pic>
        <p:nvPicPr>
          <p:cNvPr id="9" name="그림 8">
            <a:extLst>
              <a:ext uri="{FF2B5EF4-FFF2-40B4-BE49-F238E27FC236}">
                <a16:creationId xmlns:a16="http://schemas.microsoft.com/office/drawing/2014/main" id="{4C35060A-68CD-C6B6-D0A7-29BBF526D824}"/>
              </a:ext>
            </a:extLst>
          </p:cNvPr>
          <p:cNvPicPr>
            <a:picLocks noChangeAspect="1"/>
          </p:cNvPicPr>
          <p:nvPr/>
        </p:nvPicPr>
        <p:blipFill>
          <a:blip r:embed="rId2"/>
          <a:stretch>
            <a:fillRect/>
          </a:stretch>
        </p:blipFill>
        <p:spPr>
          <a:xfrm>
            <a:off x="2967944" y="3180310"/>
            <a:ext cx="6256112" cy="3228720"/>
          </a:xfrm>
          <a:prstGeom prst="rect">
            <a:avLst/>
          </a:prstGeom>
        </p:spPr>
      </p:pic>
    </p:spTree>
    <p:extLst>
      <p:ext uri="{BB962C8B-B14F-4D97-AF65-F5344CB8AC3E}">
        <p14:creationId xmlns:p14="http://schemas.microsoft.com/office/powerpoint/2010/main" val="359077305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Best Practices for Development and Testing(8/10)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Combining </a:t>
            </a:r>
            <a:r>
              <a:rPr lang="en-US" altLang="ko-KR" sz="1800" b="1" dirty="0" err="1"/>
              <a:t>Minikube</a:t>
            </a:r>
            <a:r>
              <a:rPr lang="en-US" altLang="ko-KR" sz="1800" b="1" dirty="0"/>
              <a:t> with a Proper Kubernetes Cluster :</a:t>
            </a:r>
            <a:endParaRPr lang="en-US" altLang="ko-KR" sz="1400" dirty="0"/>
          </a:p>
          <a:p>
            <a:pPr lvl="1">
              <a:buFont typeface="Wingdings" panose="05000000000000000000" pitchFamily="2" charset="2"/>
              <a:buChar char="§"/>
            </a:pPr>
            <a:r>
              <a:rPr lang="en-US" altLang="ko-KR" sz="1400" b="1" dirty="0"/>
              <a:t>You have virtually no limit when developing apps with </a:t>
            </a:r>
            <a:r>
              <a:rPr lang="en-US" altLang="ko-KR" sz="1400" b="1" dirty="0" err="1"/>
              <a:t>Minikube</a:t>
            </a:r>
            <a:r>
              <a:rPr lang="en-US" altLang="ko-KR" sz="1400" dirty="0"/>
              <a:t>. </a:t>
            </a:r>
            <a:r>
              <a:rPr lang="en-US" altLang="ko-KR" sz="1400" b="1" dirty="0">
                <a:solidFill>
                  <a:srgbClr val="FF0000"/>
                </a:solidFill>
              </a:rPr>
              <a:t>You can even combine a </a:t>
            </a:r>
            <a:r>
              <a:rPr lang="en-US" altLang="ko-KR" sz="1400" b="1" dirty="0" err="1">
                <a:solidFill>
                  <a:srgbClr val="FF0000"/>
                </a:solidFill>
              </a:rPr>
              <a:t>Minikube</a:t>
            </a:r>
            <a:r>
              <a:rPr lang="en-US" altLang="ko-KR" sz="1400" b="1" dirty="0">
                <a:solidFill>
                  <a:srgbClr val="FF0000"/>
                </a:solidFill>
              </a:rPr>
              <a:t> cluster with a proper Kubernetes cluster</a:t>
            </a:r>
            <a:r>
              <a:rPr lang="en-US" altLang="ko-KR" sz="1400" dirty="0"/>
              <a:t>. </a:t>
            </a:r>
            <a:r>
              <a:rPr lang="en-US" altLang="ko-KR" sz="1400" b="1" dirty="0"/>
              <a:t>You can run your development workloads in your local “</a:t>
            </a:r>
            <a:r>
              <a:rPr lang="en-US" altLang="ko-KR" sz="1400" b="1" dirty="0" err="1"/>
              <a:t>Minikube</a:t>
            </a:r>
            <a:r>
              <a:rPr lang="en-US" altLang="ko-KR" sz="1400" b="1" dirty="0"/>
              <a:t>” cluster and have them talk to my other workloads that are deployed in a remote multi-node Kubernetes cluster thousands of miles away</a:t>
            </a:r>
            <a:r>
              <a:rPr lang="en-US" altLang="ko-KR" sz="1400" dirty="0"/>
              <a:t>.</a:t>
            </a:r>
          </a:p>
          <a:p>
            <a:pPr lvl="1">
              <a:buFont typeface="Wingdings" panose="05000000000000000000" pitchFamily="2" charset="2"/>
              <a:buChar char="§"/>
            </a:pPr>
            <a:r>
              <a:rPr lang="en-US" altLang="ko-KR" sz="1400" dirty="0"/>
              <a:t>Once you are finished with development, you can move your local workloads to the remote cluster with no modifications and with absolutely no problems thanks to how </a:t>
            </a:r>
            <a:r>
              <a:rPr lang="en-US" altLang="ko-KR" sz="1400" b="1" dirty="0"/>
              <a:t>Kubernetes abstracts away the underlying infrastructure from the app</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CB7F2024-5A1E-8BB7-3D50-33DF62B58BC8}"/>
              </a:ext>
            </a:extLst>
          </p:cNvPr>
          <p:cNvPicPr>
            <a:picLocks noChangeAspect="1"/>
          </p:cNvPicPr>
          <p:nvPr/>
        </p:nvPicPr>
        <p:blipFill>
          <a:blip r:embed="rId2"/>
          <a:stretch>
            <a:fillRect/>
          </a:stretch>
        </p:blipFill>
        <p:spPr>
          <a:xfrm>
            <a:off x="2255655" y="3213650"/>
            <a:ext cx="7680690" cy="2455693"/>
          </a:xfrm>
          <a:prstGeom prst="rect">
            <a:avLst/>
          </a:prstGeom>
        </p:spPr>
      </p:pic>
    </p:spTree>
    <p:extLst>
      <p:ext uri="{BB962C8B-B14F-4D97-AF65-F5344CB8AC3E}">
        <p14:creationId xmlns:p14="http://schemas.microsoft.com/office/powerpoint/2010/main" val="393101952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Best Practices for Development and Testing(9/10)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Versioning and Auto-Deploying Resource Manifests :</a:t>
            </a:r>
            <a:endParaRPr lang="en-US" altLang="ko-KR" sz="1400" dirty="0"/>
          </a:p>
          <a:p>
            <a:pPr lvl="1">
              <a:buFont typeface="Wingdings" panose="05000000000000000000" pitchFamily="2" charset="2"/>
              <a:buChar char="§"/>
            </a:pPr>
            <a:r>
              <a:rPr lang="en-US" altLang="ko-KR" sz="1400" b="1" dirty="0"/>
              <a:t>Because Kubernetes uses </a:t>
            </a:r>
            <a:r>
              <a:rPr lang="en-US" altLang="ko-KR" sz="1400" b="1" dirty="0">
                <a:solidFill>
                  <a:srgbClr val="FF0000"/>
                </a:solidFill>
              </a:rPr>
              <a:t>a declarative model</a:t>
            </a:r>
            <a:r>
              <a:rPr lang="en-US" altLang="ko-KR" sz="1400" b="1" dirty="0"/>
              <a:t>, you never have to figure out the current state of your deployed resources and issue imperative commands to bring that state to what you desire</a:t>
            </a:r>
            <a:r>
              <a:rPr lang="en-US" altLang="ko-KR" sz="1400" dirty="0"/>
              <a:t>. All you need to do is tell Kubernetes your desired state and it will take all the necessary actions to reconcile the cluster state with the desired state.</a:t>
            </a:r>
          </a:p>
          <a:p>
            <a:pPr lvl="1">
              <a:buFont typeface="Wingdings" panose="05000000000000000000" pitchFamily="2" charset="2"/>
              <a:buChar char="§"/>
            </a:pPr>
            <a:r>
              <a:rPr lang="en-US" altLang="ko-KR" sz="1400" b="1" dirty="0"/>
              <a:t>You can store your collection of resource manifests in a “Version Control System(VCS)”, enabling you to perform code reviews, keep an audit trail, and roll back changes whenever necessary</a:t>
            </a:r>
            <a:r>
              <a:rPr lang="en-US" altLang="ko-KR" sz="1400" dirty="0"/>
              <a:t>. After each commit, you can run the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apply</a:t>
            </a:r>
            <a:r>
              <a:rPr lang="en-US" altLang="ko-KR" sz="1400" dirty="0"/>
              <a:t>” command to have your changes reflected in your deployed resources.</a:t>
            </a:r>
          </a:p>
          <a:p>
            <a:pPr lvl="1">
              <a:buFont typeface="Wingdings" panose="05000000000000000000" pitchFamily="2" charset="2"/>
              <a:buChar char="§"/>
            </a:pPr>
            <a:r>
              <a:rPr lang="en-US" altLang="ko-KR" sz="1400" b="1" dirty="0"/>
              <a:t>If you run an agent that periodically (or when it detects a new commit) checks out your manifests from the Version Control System (VCS), and then runs the apply command, you can manage your running apps simply by committing changes to the VCS without having to manually talk to the Kubernetes API server</a:t>
            </a:r>
            <a:r>
              <a:rPr lang="en-US" altLang="ko-KR" sz="1400" dirty="0"/>
              <a:t>. Luckily, the people at Box (which coincidently was used to host this presentation’s manuscript and other materials) developed and released a tool called “</a:t>
            </a:r>
            <a:r>
              <a:rPr lang="en-US" altLang="ko-KR" sz="1400" b="1" dirty="0" err="1">
                <a:solidFill>
                  <a:srgbClr val="FF0000"/>
                </a:solidFill>
              </a:rPr>
              <a:t>kube</a:t>
            </a:r>
            <a:r>
              <a:rPr lang="en-US" altLang="ko-KR" sz="1400" b="1" dirty="0">
                <a:solidFill>
                  <a:srgbClr val="FF0000"/>
                </a:solidFill>
              </a:rPr>
              <a:t>-applier</a:t>
            </a:r>
            <a:r>
              <a:rPr lang="en-US" altLang="ko-KR" sz="1400" dirty="0"/>
              <a:t>”. You’ll find the tool’s source code at </a:t>
            </a:r>
            <a:r>
              <a:rPr lang="en-US" altLang="ko-KR" sz="1400" b="1" dirty="0">
                <a:hlinkClick r:id="rId2"/>
              </a:rPr>
              <a:t>https://github.com/box/kube-applier</a:t>
            </a:r>
            <a:r>
              <a:rPr lang="en-US" altLang="ko-KR" sz="1400" dirty="0"/>
              <a:t>. </a:t>
            </a:r>
          </a:p>
          <a:p>
            <a:pPr lvl="1">
              <a:buFont typeface="Wingdings" panose="05000000000000000000" pitchFamily="2" charset="2"/>
              <a:buChar char="§"/>
            </a:pPr>
            <a:r>
              <a:rPr lang="en-US" altLang="ko-KR" sz="1400" b="1" dirty="0"/>
              <a:t>You can use multiple branches to deploy the manifests to a development, QA, staging, and production cluster (or in different namespaces in the same cluster)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810C131-5DAA-4B77-3A3A-F1B750B845EA}"/>
              </a:ext>
            </a:extLst>
          </p:cNvPr>
          <p:cNvPicPr>
            <a:picLocks noChangeAspect="1"/>
          </p:cNvPicPr>
          <p:nvPr/>
        </p:nvPicPr>
        <p:blipFill>
          <a:blip r:embed="rId3"/>
          <a:stretch>
            <a:fillRect/>
          </a:stretch>
        </p:blipFill>
        <p:spPr>
          <a:xfrm>
            <a:off x="7250649" y="4021742"/>
            <a:ext cx="4103151" cy="2387288"/>
          </a:xfrm>
          <a:prstGeom prst="rect">
            <a:avLst/>
          </a:prstGeom>
        </p:spPr>
      </p:pic>
    </p:spTree>
    <p:extLst>
      <p:ext uri="{BB962C8B-B14F-4D97-AF65-F5344CB8AC3E}">
        <p14:creationId xmlns:p14="http://schemas.microsoft.com/office/powerpoint/2010/main" val="338451072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Best Practices for Development and Testing(10/10)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Employing Continuous Integration and Continuous Delivery (CI/CD) :</a:t>
            </a:r>
            <a:endParaRPr lang="en-US" altLang="ko-KR" sz="1400" dirty="0"/>
          </a:p>
          <a:p>
            <a:pPr lvl="1">
              <a:buFont typeface="Wingdings" panose="05000000000000000000" pitchFamily="2" charset="2"/>
              <a:buChar char="§"/>
            </a:pPr>
            <a:r>
              <a:rPr lang="en-US" altLang="ko-KR" sz="1400" dirty="0"/>
              <a:t>We’ve touched on </a:t>
            </a:r>
            <a:r>
              <a:rPr lang="en-US" altLang="ko-KR" sz="1400" b="1" dirty="0"/>
              <a:t>automating the deployment of Kubernetes resources</a:t>
            </a:r>
            <a:r>
              <a:rPr lang="en-US" altLang="ko-KR" sz="1400" dirty="0"/>
              <a:t>, but you may want to </a:t>
            </a:r>
            <a:r>
              <a:rPr lang="en-US" altLang="ko-KR" sz="1400" b="1" dirty="0"/>
              <a:t>set up a complete CI/CD pipeline for building your application binaries, container images, and resource manifests and then deploying them in one or more Kubernetes clusters</a:t>
            </a:r>
            <a:r>
              <a:rPr lang="en-US" altLang="ko-KR" sz="1400" dirty="0"/>
              <a:t>.</a:t>
            </a:r>
          </a:p>
          <a:p>
            <a:pPr lvl="1">
              <a:buFont typeface="Wingdings" panose="05000000000000000000" pitchFamily="2" charset="2"/>
              <a:buChar char="§"/>
            </a:pPr>
            <a:r>
              <a:rPr lang="en-US" altLang="ko-KR" sz="1400" b="1" dirty="0"/>
              <a:t>You’ll find many online resources talking about this subject. “Fabric8 project” (</a:t>
            </a:r>
            <a:r>
              <a:rPr lang="en-US" altLang="ko-KR" sz="1400" b="1" dirty="0">
                <a:hlinkClick r:id="rId2"/>
              </a:rPr>
              <a:t>http://fabric8.io</a:t>
            </a:r>
            <a:r>
              <a:rPr lang="en-US" altLang="ko-KR" sz="1400" b="1" dirty="0"/>
              <a:t>) is an integrated development platform for Kubernetes(but now it is disconnected in 2023.04. In this site, you can find some more archived materials)</a:t>
            </a:r>
            <a:r>
              <a:rPr lang="en-US" altLang="ko-KR" sz="1400" dirty="0"/>
              <a:t>. It includes “</a:t>
            </a:r>
            <a:r>
              <a:rPr lang="en-US" altLang="ko-KR" sz="1400" b="1" dirty="0">
                <a:solidFill>
                  <a:srgbClr val="FF0000"/>
                </a:solidFill>
              </a:rPr>
              <a:t>Jenkins</a:t>
            </a:r>
            <a:r>
              <a:rPr lang="en-US" altLang="ko-KR" sz="1400" b="1" dirty="0"/>
              <a:t>”</a:t>
            </a:r>
            <a:r>
              <a:rPr lang="en-US" altLang="ko-KR" sz="1400" dirty="0"/>
              <a:t>, the well-known, opensource automation system, and various other tools to deliver </a:t>
            </a:r>
            <a:r>
              <a:rPr lang="en-US" altLang="ko-KR" sz="1400" b="1" dirty="0"/>
              <a:t>a full CI/CD pipeline for DevOps-style development, deployment, and management of microservices on Kubernetes</a:t>
            </a:r>
            <a:r>
              <a:rPr lang="en-US" altLang="ko-KR" sz="1400" dirty="0"/>
              <a:t>.</a:t>
            </a:r>
          </a:p>
          <a:p>
            <a:pPr lvl="1">
              <a:buFont typeface="Wingdings" panose="05000000000000000000" pitchFamily="2" charset="2"/>
              <a:buChar char="§"/>
            </a:pPr>
            <a:r>
              <a:rPr lang="en-US" altLang="ko-KR" sz="1400" dirty="0"/>
              <a:t>If you’d like to build your own solution, you can refer to the </a:t>
            </a:r>
            <a:r>
              <a:rPr lang="en-US" altLang="ko-KR" sz="1400" b="1" dirty="0"/>
              <a:t>Google Cloud Platform’s online labs </a:t>
            </a:r>
            <a:r>
              <a:rPr lang="en-US" altLang="ko-KR" sz="1400" dirty="0"/>
              <a:t>that talks about this subject. It’s available at </a:t>
            </a:r>
            <a:r>
              <a:rPr lang="en-US" altLang="ko-KR" sz="1400" b="1" dirty="0">
                <a:hlinkClick r:id="rId3"/>
              </a:rPr>
              <a:t>https://github.com/GoogleCloudPlatform/continuous-deployment-on-kubernetes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39C5225-2ED2-45A9-77D3-0CF074070393}"/>
              </a:ext>
            </a:extLst>
          </p:cNvPr>
          <p:cNvPicPr>
            <a:picLocks noChangeAspect="1"/>
          </p:cNvPicPr>
          <p:nvPr/>
        </p:nvPicPr>
        <p:blipFill>
          <a:blip r:embed="rId4"/>
          <a:stretch>
            <a:fillRect/>
          </a:stretch>
        </p:blipFill>
        <p:spPr>
          <a:xfrm>
            <a:off x="3288196" y="3429000"/>
            <a:ext cx="5615607" cy="2980030"/>
          </a:xfrm>
          <a:prstGeom prst="rect">
            <a:avLst/>
          </a:prstGeom>
        </p:spPr>
      </p:pic>
    </p:spTree>
    <p:extLst>
      <p:ext uri="{BB962C8B-B14F-4D97-AF65-F5344CB8AC3E}">
        <p14:creationId xmlns:p14="http://schemas.microsoft.com/office/powerpoint/2010/main" val="36062815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116</a:t>
            </a:fld>
            <a:endParaRPr lang="ko-KR" altLang="en-US"/>
          </a:p>
        </p:txBody>
      </p:sp>
      <p:sp>
        <p:nvSpPr>
          <p:cNvPr id="13" name="제목 1">
            <a:extLst>
              <a:ext uri="{FF2B5EF4-FFF2-40B4-BE49-F238E27FC236}">
                <a16:creationId xmlns:a16="http://schemas.microsoft.com/office/drawing/2014/main" id="{7D50D0B4-E4F0-46F2-684F-163211952A0F}"/>
              </a:ext>
            </a:extLst>
          </p:cNvPr>
          <p:cNvSpPr>
            <a:spLocks noGrp="1"/>
          </p:cNvSpPr>
          <p:nvPr>
            <p:ph type="title"/>
          </p:nvPr>
        </p:nvSpPr>
        <p:spPr>
          <a:xfrm>
            <a:off x="838200" y="297455"/>
            <a:ext cx="10515600" cy="383582"/>
          </a:xfrm>
        </p:spPr>
        <p:txBody>
          <a:bodyPr>
            <a:normAutofit fontScale="90000"/>
          </a:bodyPr>
          <a:lstStyle/>
          <a:p>
            <a:r>
              <a:rPr lang="en-US" altLang="ko-KR" sz="2800" b="1" dirty="0"/>
              <a:t>NOTE : Big Picture - The Kubernetes Cluster</a:t>
            </a:r>
            <a:endParaRPr lang="ko-KR" altLang="en-US" sz="2800" b="1" dirty="0"/>
          </a:p>
        </p:txBody>
      </p:sp>
      <p:cxnSp>
        <p:nvCxnSpPr>
          <p:cNvPr id="14" name="직선 연결선 13">
            <a:extLst>
              <a:ext uri="{FF2B5EF4-FFF2-40B4-BE49-F238E27FC236}">
                <a16:creationId xmlns:a16="http://schemas.microsoft.com/office/drawing/2014/main" id="{D375794C-7322-ED80-E7CF-67C5F5AD86FF}"/>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6" name="그림 15">
            <a:extLst>
              <a:ext uri="{FF2B5EF4-FFF2-40B4-BE49-F238E27FC236}">
                <a16:creationId xmlns:a16="http://schemas.microsoft.com/office/drawing/2014/main" id="{C32661DB-28EB-2A5F-70FD-2C5009C198D9}"/>
              </a:ext>
            </a:extLst>
          </p:cNvPr>
          <p:cNvPicPr>
            <a:picLocks noChangeAspect="1"/>
          </p:cNvPicPr>
          <p:nvPr/>
        </p:nvPicPr>
        <p:blipFill>
          <a:blip r:embed="rId2"/>
          <a:stretch>
            <a:fillRect/>
          </a:stretch>
        </p:blipFill>
        <p:spPr>
          <a:xfrm>
            <a:off x="838200" y="856434"/>
            <a:ext cx="10515600" cy="5145132"/>
          </a:xfrm>
          <a:prstGeom prst="rect">
            <a:avLst/>
          </a:prstGeom>
        </p:spPr>
      </p:pic>
    </p:spTree>
    <p:extLst>
      <p:ext uri="{BB962C8B-B14F-4D97-AF65-F5344CB8AC3E}">
        <p14:creationId xmlns:p14="http://schemas.microsoft.com/office/powerpoint/2010/main" val="10403376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Kubernetes Cheat Sheet</a:t>
            </a:r>
            <a:endParaRPr lang="ko-KR" altLang="en-US" sz="2800" b="1"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179C4D6-A6A7-AFD7-99CE-9233F81D8E3C}"/>
              </a:ext>
            </a:extLst>
          </p:cNvPr>
          <p:cNvPicPr>
            <a:picLocks noChangeAspect="1"/>
          </p:cNvPicPr>
          <p:nvPr/>
        </p:nvPicPr>
        <p:blipFill>
          <a:blip r:embed="rId2"/>
          <a:stretch>
            <a:fillRect/>
          </a:stretch>
        </p:blipFill>
        <p:spPr>
          <a:xfrm>
            <a:off x="1228144" y="880011"/>
            <a:ext cx="9735713" cy="5476339"/>
          </a:xfrm>
          <a:prstGeom prst="rect">
            <a:avLst/>
          </a:prstGeom>
        </p:spPr>
      </p:pic>
    </p:spTree>
    <p:extLst>
      <p:ext uri="{BB962C8B-B14F-4D97-AF65-F5344CB8AC3E}">
        <p14:creationId xmlns:p14="http://schemas.microsoft.com/office/powerpoint/2010/main" val="48635886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2"/>
            <a:ext cx="10515600" cy="5532375"/>
          </a:xfrm>
        </p:spPr>
        <p:txBody>
          <a:bodyPr>
            <a:normAutofit/>
          </a:bodyPr>
          <a:lstStyle/>
          <a:p>
            <a:pPr marL="0" indent="0">
              <a:buNone/>
            </a:pPr>
            <a:r>
              <a:rPr lang="en-US" altLang="ko-KR" sz="1400" b="1" dirty="0"/>
              <a:t>[1] Kubernetes in Action, Marko </a:t>
            </a:r>
            <a:r>
              <a:rPr lang="en-US" altLang="ko-KR" sz="1400" b="1" dirty="0" err="1"/>
              <a:t>Luksa</a:t>
            </a:r>
            <a:r>
              <a:rPr lang="en-US" altLang="ko-KR" sz="1400" b="1" dirty="0"/>
              <a:t>, Manning, 2018 1</a:t>
            </a:r>
            <a:r>
              <a:rPr lang="en-US" altLang="ko-KR" sz="1400" b="1" baseline="30000" dirty="0"/>
              <a:t>st</a:t>
            </a:r>
            <a:r>
              <a:rPr lang="en-US" altLang="ko-KR" sz="1400" b="1" dirty="0"/>
              <a:t> Edition.</a:t>
            </a:r>
          </a:p>
          <a:p>
            <a:pPr marL="0" indent="0">
              <a:buNone/>
            </a:pPr>
            <a:r>
              <a:rPr lang="en-US" altLang="ko-KR" sz="1400" b="1" dirty="0"/>
              <a:t>[2] </a:t>
            </a:r>
            <a:r>
              <a:rPr lang="en-US" altLang="ko-KR" sz="1400" b="1" dirty="0">
                <a:hlinkClick r:id="rId2"/>
              </a:rPr>
              <a:t>https://github.com/luksa/kubernetes-in-action</a:t>
            </a:r>
            <a:r>
              <a:rPr lang="en-US" altLang="ko-KR" sz="1400" b="1" dirty="0"/>
              <a:t> </a:t>
            </a:r>
          </a:p>
          <a:p>
            <a:pPr marL="0" indent="0">
              <a:buNone/>
            </a:pPr>
            <a:r>
              <a:rPr lang="en-US" altLang="ko-KR" sz="1400" b="1" dirty="0"/>
              <a:t>[3] </a:t>
            </a:r>
            <a:r>
              <a:rPr lang="en-US" altLang="ko-KR" sz="1400" b="1" dirty="0">
                <a:hlinkClick r:id="rId3"/>
              </a:rPr>
              <a:t>https://minikube.sigs.k8s.io/docs/</a:t>
            </a:r>
            <a:endParaRPr lang="en-US" altLang="ko-KR" sz="1400" b="1" dirty="0"/>
          </a:p>
          <a:p>
            <a:pPr marL="0" indent="0">
              <a:buNone/>
            </a:pPr>
            <a:r>
              <a:rPr lang="en-US" altLang="ko-KR" sz="1400" b="1" dirty="0"/>
              <a:t>[4] </a:t>
            </a:r>
            <a:r>
              <a:rPr lang="en-US" altLang="ko-KR" sz="1400" b="1" dirty="0">
                <a:hlinkClick r:id="rId4"/>
              </a:rPr>
              <a:t>https://kubernetes.io/docs/reference/kubectl/cheatsheet/</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118</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7" name="그림 6">
            <a:extLst>
              <a:ext uri="{FF2B5EF4-FFF2-40B4-BE49-F238E27FC236}">
                <a16:creationId xmlns:a16="http://schemas.microsoft.com/office/drawing/2014/main" id="{39B4C587-7A61-0C5F-2D7E-626350542CA5}"/>
              </a:ext>
            </a:extLst>
          </p:cNvPr>
          <p:cNvPicPr>
            <a:picLocks noChangeAspect="1"/>
          </p:cNvPicPr>
          <p:nvPr/>
        </p:nvPicPr>
        <p:blipFill>
          <a:blip r:embed="rId5"/>
          <a:stretch>
            <a:fillRect/>
          </a:stretch>
        </p:blipFill>
        <p:spPr>
          <a:xfrm>
            <a:off x="4990542" y="3590159"/>
            <a:ext cx="2210915" cy="2761230"/>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119</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ctr">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116502</TotalTime>
  <Words>18990</Words>
  <Application>Microsoft Office PowerPoint</Application>
  <PresentationFormat>와이드스크린</PresentationFormat>
  <Paragraphs>1380</Paragraphs>
  <Slides>119</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119</vt:i4>
      </vt:variant>
    </vt:vector>
  </HeadingPairs>
  <TitlesOfParts>
    <vt:vector size="123" baseType="lpstr">
      <vt:lpstr>맑은 고딕</vt:lpstr>
      <vt:lpstr>Arial</vt:lpstr>
      <vt:lpstr>Wingdings</vt:lpstr>
      <vt:lpstr>Office 테마</vt:lpstr>
      <vt:lpstr>Kubernetes in Action</vt:lpstr>
      <vt:lpstr>Advanced Scheduling</vt:lpstr>
      <vt:lpstr>Using Taints and Tolerations(1/11)</vt:lpstr>
      <vt:lpstr>Using Taints and Tolerations(2/11)</vt:lpstr>
      <vt:lpstr>NOTE : Trouble Shooting in Creating Kubernetes Cluster(1/3)</vt:lpstr>
      <vt:lpstr>NOTE : Trouble Shooting in Creating Kubernetes Cluster(2/3)</vt:lpstr>
      <vt:lpstr>NOTE : Trouble Shooting in Creating Kubernetes Cluster(3/3)</vt:lpstr>
      <vt:lpstr>NOTE : Running Pods in Cluster </vt:lpstr>
      <vt:lpstr>Using Taints and Tolerations(3/11)</vt:lpstr>
      <vt:lpstr>Using Taints and Tolerations(4/11)</vt:lpstr>
      <vt:lpstr>Using Taints and Tolerations(5/11)</vt:lpstr>
      <vt:lpstr>Using Taints and Tolerations(6/11)</vt:lpstr>
      <vt:lpstr>Using Taints and Tolerations(7/11)</vt:lpstr>
      <vt:lpstr>Using Taints and Tolerations(8/11)</vt:lpstr>
      <vt:lpstr>Using Taints and Tolerations(9/11)</vt:lpstr>
      <vt:lpstr>Using Taints and Tolerations(10/11)</vt:lpstr>
      <vt:lpstr>Using Taints and Tolerations(11/11)</vt:lpstr>
      <vt:lpstr>Using Node Affinity(1/12)</vt:lpstr>
      <vt:lpstr>Using Node Affinity(2/12)</vt:lpstr>
      <vt:lpstr>Using Node Affinity(3/12)</vt:lpstr>
      <vt:lpstr>NOTE : Running Pod with NodeSelector</vt:lpstr>
      <vt:lpstr>Using Node Affinity(4/12)</vt:lpstr>
      <vt:lpstr>NOTE : Running Pod with NodeAffinity</vt:lpstr>
      <vt:lpstr>Using Node Affinity(5/12)</vt:lpstr>
      <vt:lpstr>Using Node Affinity(6/12)</vt:lpstr>
      <vt:lpstr>Using Node Affinity(7/12)</vt:lpstr>
      <vt:lpstr>Using Node Affinity(8/12)</vt:lpstr>
      <vt:lpstr>Using Node Affinity(9/12)</vt:lpstr>
      <vt:lpstr>Using Node Affinity(10/12)</vt:lpstr>
      <vt:lpstr>Using Node Affinity(11/12)</vt:lpstr>
      <vt:lpstr>Using Node Affinity(12/12)</vt:lpstr>
      <vt:lpstr>Co-locating Pods with Pod Affinity and Anti-affinity(1/15)</vt:lpstr>
      <vt:lpstr>Co-locating Pods with Pod Affinity and Anti-affinity(2/15)</vt:lpstr>
      <vt:lpstr>Co-locating Pods with Pod Affinity and Anti-affinity(3/15)</vt:lpstr>
      <vt:lpstr>Co-locating Pods with Pod Affinity and Anti-affinity(4/15)</vt:lpstr>
      <vt:lpstr>Co-locating Pods with Pod Affinity and Anti-affinity(5/15)</vt:lpstr>
      <vt:lpstr>Co-locating Pods with Pod Affinity and Anti-affinity(6/15)</vt:lpstr>
      <vt:lpstr>Co-locating Pods with Pod Affinity and Anti-affinity(7/15)</vt:lpstr>
      <vt:lpstr>Co-locating Pods with Pod Affinity and Anti-affinity(8/15)</vt:lpstr>
      <vt:lpstr>Co-locating Pods with Pod Affinity and Anti-affinity(9/15)</vt:lpstr>
      <vt:lpstr>Co-locating Pods with Pod Affinity and Anti-affinity(10/15)</vt:lpstr>
      <vt:lpstr>Co-locating Pods with Pod Affinity and Anti-affinity(11/15)</vt:lpstr>
      <vt:lpstr>NOTE : Deploying More Pods</vt:lpstr>
      <vt:lpstr>Co-locating Pods with Pod Affinity and Anti-affinity(12/15)</vt:lpstr>
      <vt:lpstr>Co-locating Pods with Pod Affinity and Anti-affinity(13/15)</vt:lpstr>
      <vt:lpstr>Co-locating Pods with Pod Affinity and Anti-affinity(14/15)</vt:lpstr>
      <vt:lpstr>Co-locating Pods with Pod Affinity and Anti-affinity(15/15)</vt:lpstr>
      <vt:lpstr>Best Practices</vt:lpstr>
      <vt:lpstr>Bringing Everything Together(1/4)</vt:lpstr>
      <vt:lpstr>Bringing Everything Together(2/4)</vt:lpstr>
      <vt:lpstr>Bringing Everything Together(3/4)</vt:lpstr>
      <vt:lpstr>Bringing Everything Together(4/4)</vt:lpstr>
      <vt:lpstr>Understanding the Pod’s Lifecycle(1/30)</vt:lpstr>
      <vt:lpstr>Understanding the Pod’s Lifecycle(2/30)</vt:lpstr>
      <vt:lpstr>Understanding the Pod’s Lifecycle(3/30)</vt:lpstr>
      <vt:lpstr>Understanding the Pod’s Lifecycle(4/30)</vt:lpstr>
      <vt:lpstr>Understanding the Pod’s Lifecycle(5/30)</vt:lpstr>
      <vt:lpstr>Understanding the Pod’s Lifecycle(6/30)</vt:lpstr>
      <vt:lpstr>Understanding the Pod’s Lifecycle(7/30)</vt:lpstr>
      <vt:lpstr>Understanding the Pod’s Lifecycle(8/30)</vt:lpstr>
      <vt:lpstr>Understanding the Pod’s Lifecycle(9/30)</vt:lpstr>
      <vt:lpstr>Understanding the Pod’s Lifecycle(10/30)</vt:lpstr>
      <vt:lpstr>Understanding the Pod’s Lifecycle(11/30)</vt:lpstr>
      <vt:lpstr>Understanding the Pod’s Lifecycle(12/30)</vt:lpstr>
      <vt:lpstr>Understanding the Pod’s Lifecycle(13/30)</vt:lpstr>
      <vt:lpstr>Understanding the Pod’s Lifecycle(14/30)</vt:lpstr>
      <vt:lpstr>Understanding the Pod’s Lifecycle(15/30)</vt:lpstr>
      <vt:lpstr>Understanding the Pod’s Lifecycle(16/30)</vt:lpstr>
      <vt:lpstr>Understanding the Pod’s Lifecycle(17/30)</vt:lpstr>
      <vt:lpstr>Understanding the Pod’s Lifecycle(18/30)</vt:lpstr>
      <vt:lpstr>Understanding the Pod’s Lifecycle(19/30)</vt:lpstr>
      <vt:lpstr>Understanding the Pod’s Lifecycle(20/30)</vt:lpstr>
      <vt:lpstr>Understanding the Pod’s Lifecycle(21/30)</vt:lpstr>
      <vt:lpstr>Understanding the Pod’s Lifecycle(22/30)</vt:lpstr>
      <vt:lpstr>Understanding the Pod’s Lifecycle(23/30)</vt:lpstr>
      <vt:lpstr>Understanding the Pod’s Lifecycle(24/30)</vt:lpstr>
      <vt:lpstr>Understanding the Pod’s Lifecycle(25/30)</vt:lpstr>
      <vt:lpstr>Understanding the Pod’s Lifecycle(26/30)</vt:lpstr>
      <vt:lpstr>Understanding the Pod’s Lifecycle(27/30)</vt:lpstr>
      <vt:lpstr>Understanding the Pod’s Lifecycle(28/30)</vt:lpstr>
      <vt:lpstr>Understanding the Pod’s Lifecycle(29/30)</vt:lpstr>
      <vt:lpstr>Understanding the Pod’s Lifecycle(30/30)</vt:lpstr>
      <vt:lpstr>Ensuring All Client Requests Are Handled Properly(1/10)</vt:lpstr>
      <vt:lpstr>Ensuring All Client Requests Are Handled Properly(2/10)</vt:lpstr>
      <vt:lpstr>Ensuring All Client Requests Are Handled Properly(3/10)</vt:lpstr>
      <vt:lpstr>Ensuring All Client Requests Are Handled Properly(4/10)</vt:lpstr>
      <vt:lpstr>Ensuring All Client Requests Are Handled Properly(5/10)</vt:lpstr>
      <vt:lpstr>Ensuring All Client Requests Are Handled Properly(6/10)</vt:lpstr>
      <vt:lpstr>Ensuring All Client Requests Are Handled Properly(7/10)</vt:lpstr>
      <vt:lpstr>Ensuring All Client Requests Are Handled Properly(8/10)</vt:lpstr>
      <vt:lpstr>Ensuring All Client Requests Are Handled Properly(9/10)</vt:lpstr>
      <vt:lpstr>Ensuring All Client Requests Are Handled Properly(10/10)</vt:lpstr>
      <vt:lpstr>Making Your Apps Easy to Run and Manage in Kubernetes(1/13)</vt:lpstr>
      <vt:lpstr>Making Your Apps Easy to Run and Manage in Kubernetes(2/13)</vt:lpstr>
      <vt:lpstr>Making Your Apps Easy to Run and Manage in Kubernetes(3/13)</vt:lpstr>
      <vt:lpstr>Making Your Apps Easy to Run and Manage in Kubernetes(4/13)</vt:lpstr>
      <vt:lpstr>Making Your Apps Easy to Run and Manage in Kubernetes(5/13)</vt:lpstr>
      <vt:lpstr>Making Your Apps Easy to Run and Manage in Kubernetes(6/13)</vt:lpstr>
      <vt:lpstr>Making Your Apps Easy to Run and Manage in Kubernetes(7/13)</vt:lpstr>
      <vt:lpstr>Making Your Apps Easy to Run and Manage in Kubernetes(8/13)</vt:lpstr>
      <vt:lpstr>Making Your Apps Easy to Run and Manage in Kubernetes(9/13)</vt:lpstr>
      <vt:lpstr>Making Your Apps Easy to Run and Manage in Kubernetes(10/13)</vt:lpstr>
      <vt:lpstr>Making Your Apps Easy to Run and Manage in Kubernetes(11/13)</vt:lpstr>
      <vt:lpstr>Making Your Apps Easy to Run and Manage in Kubernetes(12/13)</vt:lpstr>
      <vt:lpstr>Making Your Apps Easy to Run and Manage in Kubernetes(13/13)</vt:lpstr>
      <vt:lpstr>Best Practices for Development and Testing(1/10)</vt:lpstr>
      <vt:lpstr>Best Practices for Development and Testing(2/10)</vt:lpstr>
      <vt:lpstr>Best Practices for Development and Testing(3/10)</vt:lpstr>
      <vt:lpstr>Best Practices for Development and Testing(4/10)</vt:lpstr>
      <vt:lpstr>Best Practices for Development and Testing(5/10)</vt:lpstr>
      <vt:lpstr>Best Practices for Development and Testing(6/10)</vt:lpstr>
      <vt:lpstr>Best Practices for Development and Testing(7/10)</vt:lpstr>
      <vt:lpstr>Best Practices for Development and Testing(8/10)</vt:lpstr>
      <vt:lpstr>Best Practices for Development and Testing(9/10)</vt:lpstr>
      <vt:lpstr>Best Practices for Development and Testing(10/10)</vt:lpstr>
      <vt:lpstr>NOTE : Big Picture - The Kubernetes Cluster</vt:lpstr>
      <vt:lpstr>NOTE : Kubernetes Cheat Sheet</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7268</cp:revision>
  <dcterms:created xsi:type="dcterms:W3CDTF">2020-11-26T08:00:10Z</dcterms:created>
  <dcterms:modified xsi:type="dcterms:W3CDTF">2026-08-18T02:45:21Z</dcterms:modified>
</cp:coreProperties>
</file>