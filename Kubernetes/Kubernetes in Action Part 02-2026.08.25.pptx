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6"/>
  </p:notesMasterIdLst>
  <p:sldIdLst>
    <p:sldId id="256" r:id="rId2"/>
    <p:sldId id="776" r:id="rId3"/>
    <p:sldId id="1238" r:id="rId4"/>
    <p:sldId id="1239" r:id="rId5"/>
    <p:sldId id="1240" r:id="rId6"/>
    <p:sldId id="1241" r:id="rId7"/>
    <p:sldId id="1242" r:id="rId8"/>
    <p:sldId id="1243" r:id="rId9"/>
    <p:sldId id="1244" r:id="rId10"/>
    <p:sldId id="1245" r:id="rId11"/>
    <p:sldId id="1246" r:id="rId12"/>
    <p:sldId id="1247" r:id="rId13"/>
    <p:sldId id="1248" r:id="rId14"/>
    <p:sldId id="1249" r:id="rId15"/>
    <p:sldId id="1250" r:id="rId16"/>
    <p:sldId id="1251" r:id="rId17"/>
    <p:sldId id="1252" r:id="rId18"/>
    <p:sldId id="1253" r:id="rId19"/>
    <p:sldId id="1254" r:id="rId20"/>
    <p:sldId id="1255" r:id="rId21"/>
    <p:sldId id="1256" r:id="rId22"/>
    <p:sldId id="1257" r:id="rId23"/>
    <p:sldId id="1258" r:id="rId24"/>
    <p:sldId id="1259" r:id="rId25"/>
    <p:sldId id="1260" r:id="rId26"/>
    <p:sldId id="1261" r:id="rId27"/>
    <p:sldId id="1262" r:id="rId28"/>
    <p:sldId id="1263" r:id="rId29"/>
    <p:sldId id="1264" r:id="rId30"/>
    <p:sldId id="1265" r:id="rId31"/>
    <p:sldId id="1266" r:id="rId32"/>
    <p:sldId id="1267" r:id="rId33"/>
    <p:sldId id="1268" r:id="rId34"/>
    <p:sldId id="1269" r:id="rId35"/>
    <p:sldId id="1270" r:id="rId36"/>
    <p:sldId id="1271" r:id="rId37"/>
    <p:sldId id="1272" r:id="rId38"/>
    <p:sldId id="1273" r:id="rId39"/>
    <p:sldId id="1274" r:id="rId40"/>
    <p:sldId id="1275" r:id="rId41"/>
    <p:sldId id="1276" r:id="rId42"/>
    <p:sldId id="1277" r:id="rId43"/>
    <p:sldId id="1278" r:id="rId44"/>
    <p:sldId id="1279" r:id="rId45"/>
    <p:sldId id="1280" r:id="rId46"/>
    <p:sldId id="1281" r:id="rId47"/>
    <p:sldId id="1282" r:id="rId48"/>
    <p:sldId id="1283" r:id="rId49"/>
    <p:sldId id="1284" r:id="rId50"/>
    <p:sldId id="1285" r:id="rId51"/>
    <p:sldId id="1286" r:id="rId52"/>
    <p:sldId id="1287" r:id="rId53"/>
    <p:sldId id="1288" r:id="rId54"/>
    <p:sldId id="1289" r:id="rId55"/>
    <p:sldId id="1290" r:id="rId56"/>
    <p:sldId id="1291" r:id="rId57"/>
    <p:sldId id="1292" r:id="rId58"/>
    <p:sldId id="1293" r:id="rId59"/>
    <p:sldId id="1294" r:id="rId60"/>
    <p:sldId id="1295" r:id="rId61"/>
    <p:sldId id="1296" r:id="rId62"/>
    <p:sldId id="1305" r:id="rId63"/>
    <p:sldId id="1297" r:id="rId64"/>
    <p:sldId id="1298" r:id="rId65"/>
    <p:sldId id="1299" r:id="rId66"/>
    <p:sldId id="1300" r:id="rId67"/>
    <p:sldId id="1301" r:id="rId68"/>
    <p:sldId id="1302" r:id="rId69"/>
    <p:sldId id="1303" r:id="rId70"/>
    <p:sldId id="1304" r:id="rId71"/>
    <p:sldId id="1306" r:id="rId72"/>
    <p:sldId id="1308" r:id="rId73"/>
    <p:sldId id="1309" r:id="rId74"/>
    <p:sldId id="1310" r:id="rId75"/>
    <p:sldId id="1311" r:id="rId76"/>
    <p:sldId id="1312" r:id="rId77"/>
    <p:sldId id="1313" r:id="rId78"/>
    <p:sldId id="1314" r:id="rId79"/>
    <p:sldId id="1315" r:id="rId80"/>
    <p:sldId id="1316" r:id="rId81"/>
    <p:sldId id="1317" r:id="rId82"/>
    <p:sldId id="1318" r:id="rId83"/>
    <p:sldId id="1319" r:id="rId84"/>
    <p:sldId id="1320" r:id="rId85"/>
    <p:sldId id="1321" r:id="rId86"/>
    <p:sldId id="1322" r:id="rId87"/>
    <p:sldId id="1323" r:id="rId88"/>
    <p:sldId id="1324" r:id="rId89"/>
    <p:sldId id="1325" r:id="rId90"/>
    <p:sldId id="1326" r:id="rId91"/>
    <p:sldId id="1327" r:id="rId92"/>
    <p:sldId id="1328" r:id="rId93"/>
    <p:sldId id="1329" r:id="rId94"/>
    <p:sldId id="1330" r:id="rId95"/>
    <p:sldId id="1331" r:id="rId96"/>
    <p:sldId id="1332" r:id="rId97"/>
    <p:sldId id="1333" r:id="rId98"/>
    <p:sldId id="1334" r:id="rId99"/>
    <p:sldId id="1335" r:id="rId100"/>
    <p:sldId id="1336" r:id="rId101"/>
    <p:sldId id="1337" r:id="rId102"/>
    <p:sldId id="1338" r:id="rId103"/>
    <p:sldId id="1339" r:id="rId104"/>
    <p:sldId id="1340" r:id="rId105"/>
    <p:sldId id="1341" r:id="rId106"/>
    <p:sldId id="1342" r:id="rId107"/>
    <p:sldId id="1343" r:id="rId108"/>
    <p:sldId id="1344" r:id="rId109"/>
    <p:sldId id="1345" r:id="rId110"/>
    <p:sldId id="1346" r:id="rId111"/>
    <p:sldId id="1347" r:id="rId112"/>
    <p:sldId id="1348" r:id="rId113"/>
    <p:sldId id="1349" r:id="rId114"/>
    <p:sldId id="1350" r:id="rId115"/>
    <p:sldId id="1351" r:id="rId116"/>
    <p:sldId id="1352" r:id="rId117"/>
    <p:sldId id="1353" r:id="rId118"/>
    <p:sldId id="1354" r:id="rId119"/>
    <p:sldId id="1355" r:id="rId120"/>
    <p:sldId id="1356" r:id="rId121"/>
    <p:sldId id="1357" r:id="rId122"/>
    <p:sldId id="1358" r:id="rId123"/>
    <p:sldId id="1359" r:id="rId124"/>
    <p:sldId id="1360" r:id="rId125"/>
    <p:sldId id="1361" r:id="rId126"/>
    <p:sldId id="1362" r:id="rId127"/>
    <p:sldId id="1364" r:id="rId128"/>
    <p:sldId id="1365" r:id="rId129"/>
    <p:sldId id="1366" r:id="rId130"/>
    <p:sldId id="1367" r:id="rId131"/>
    <p:sldId id="1368" r:id="rId132"/>
    <p:sldId id="1369" r:id="rId133"/>
    <p:sldId id="281" r:id="rId134"/>
    <p:sldId id="259" r:id="rId13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4" autoAdjust="0"/>
    <p:restoredTop sz="94660"/>
  </p:normalViewPr>
  <p:slideViewPr>
    <p:cSldViewPr snapToGrid="0">
      <p:cViewPr varScale="1">
        <p:scale>
          <a:sx n="116" d="100"/>
          <a:sy n="116" d="100"/>
        </p:scale>
        <p:origin x="120" y="5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kubernetes.io/docs/referenc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9.e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II</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a:t>Pods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Pods(1/5)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Pod? :</a:t>
            </a:r>
          </a:p>
          <a:p>
            <a:pPr lvl="1">
              <a:buFont typeface="Wingdings" panose="05000000000000000000" pitchFamily="2" charset="2"/>
              <a:buChar char="§"/>
            </a:pPr>
            <a:r>
              <a:rPr lang="en-US" altLang="ko-KR" sz="1400" b="1" dirty="0"/>
              <a:t>A pod is a co-located group of containers and represents </a:t>
            </a:r>
            <a:r>
              <a:rPr lang="en-US" altLang="ko-KR" sz="1400" b="1" dirty="0">
                <a:solidFill>
                  <a:srgbClr val="FF0000"/>
                </a:solidFill>
              </a:rPr>
              <a:t>the basic building block in Kubernetes</a:t>
            </a:r>
            <a:r>
              <a:rPr lang="en-US" altLang="ko-KR" sz="1400" dirty="0"/>
              <a:t>. Instead of deploying containers individually, you always </a:t>
            </a:r>
            <a:r>
              <a:rPr lang="en-US" altLang="ko-KR" sz="1400" b="1" dirty="0"/>
              <a:t>deploy and operate on a pod of containers</a:t>
            </a:r>
            <a:r>
              <a:rPr lang="en-US" altLang="ko-KR" sz="1400" dirty="0"/>
              <a:t>. We’re not implying that a pod always includes more than one container—</a:t>
            </a:r>
            <a:r>
              <a:rPr lang="en-US" altLang="ko-KR" sz="1400" b="1" dirty="0"/>
              <a:t>it’s common for pods to contain only a single container</a:t>
            </a:r>
            <a:r>
              <a:rPr lang="en-US" altLang="ko-KR" sz="1400" dirty="0"/>
              <a:t>. The key thing about pods is that </a:t>
            </a:r>
            <a:r>
              <a:rPr lang="en-US" altLang="ko-KR" sz="1400" b="1" dirty="0"/>
              <a:t>when a pod does contain multiple containers, all of them are </a:t>
            </a:r>
            <a:r>
              <a:rPr lang="en-US" altLang="ko-KR" sz="1400" b="1" dirty="0">
                <a:solidFill>
                  <a:srgbClr val="FF0000"/>
                </a:solidFill>
              </a:rPr>
              <a:t>always run on a single worker node</a:t>
            </a:r>
            <a:r>
              <a:rPr lang="en-US" altLang="ko-KR" sz="1400" b="1" dirty="0"/>
              <a:t>—it never spans multiple worker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6907EB8-E21D-63AE-D8C6-1D5F6F856BB3}"/>
              </a:ext>
            </a:extLst>
          </p:cNvPr>
          <p:cNvPicPr>
            <a:picLocks noChangeAspect="1"/>
          </p:cNvPicPr>
          <p:nvPr/>
        </p:nvPicPr>
        <p:blipFill>
          <a:blip r:embed="rId2"/>
          <a:stretch>
            <a:fillRect/>
          </a:stretch>
        </p:blipFill>
        <p:spPr>
          <a:xfrm>
            <a:off x="3342967" y="2934675"/>
            <a:ext cx="5506065" cy="2123768"/>
          </a:xfrm>
          <a:prstGeom prst="rect">
            <a:avLst/>
          </a:prstGeom>
        </p:spPr>
      </p:pic>
    </p:spTree>
    <p:extLst>
      <p:ext uri="{BB962C8B-B14F-4D97-AF65-F5344CB8AC3E}">
        <p14:creationId xmlns:p14="http://schemas.microsoft.com/office/powerpoint/2010/main" val="2223335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Pods(2/5)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Why Multiple Containers :</a:t>
            </a:r>
          </a:p>
          <a:p>
            <a:pPr lvl="1">
              <a:buFont typeface="Wingdings" panose="05000000000000000000" pitchFamily="2" charset="2"/>
              <a:buChar char="§"/>
            </a:pPr>
            <a:r>
              <a:rPr lang="en-US" altLang="ko-KR" sz="1400" dirty="0"/>
              <a:t>Imagine an app consisting of multiple processes that either communicate through IPC (Inter-Process Communication) or through locally stored files, which requires them to run on the same machine. </a:t>
            </a:r>
            <a:r>
              <a:rPr lang="en-US" altLang="ko-KR" sz="1400" b="1" dirty="0"/>
              <a:t>Because in Kubernetes you always run processes in containers and each container is much like an isolated machine, you may think it makes sense to run multiple processes in a single container, but you shouldn’t do that</a:t>
            </a:r>
            <a:r>
              <a:rPr lang="en-US" altLang="ko-KR" sz="1400" dirty="0"/>
              <a:t>.</a:t>
            </a:r>
          </a:p>
          <a:p>
            <a:pPr lvl="1">
              <a:buFont typeface="Wingdings" panose="05000000000000000000" pitchFamily="2" charset="2"/>
              <a:buChar char="§"/>
            </a:pPr>
            <a:r>
              <a:rPr lang="en-US" altLang="ko-KR" sz="1400" b="1" dirty="0">
                <a:solidFill>
                  <a:srgbClr val="FF0000"/>
                </a:solidFill>
              </a:rPr>
              <a:t>Containers are designed to run only a single process per container </a:t>
            </a:r>
            <a:r>
              <a:rPr lang="en-US" altLang="ko-KR" sz="1400" b="1" dirty="0"/>
              <a:t>(unless the process itself spawns child processes)</a:t>
            </a:r>
            <a:r>
              <a:rPr lang="en-US" altLang="ko-KR" sz="1400" dirty="0"/>
              <a:t>. </a:t>
            </a:r>
            <a:r>
              <a:rPr lang="en-US" altLang="ko-KR" sz="1400" b="1" dirty="0"/>
              <a:t>If you run multiple unrelated processes in a single container, it is your responsibility to keep all those processes running, manage their logs, and so on</a:t>
            </a:r>
            <a:r>
              <a:rPr lang="en-US" altLang="ko-KR" sz="1400" dirty="0"/>
              <a:t>. For example, you’d have to include a mechanism for automatically restarting individual processes if they crash. Also, all those processes would log to the same standard output, so you’d have a hard time figuring out what process logged what.</a:t>
            </a:r>
          </a:p>
          <a:p>
            <a:pPr lvl="1">
              <a:buFont typeface="Wingdings" panose="05000000000000000000" pitchFamily="2" charset="2"/>
              <a:buChar char="§"/>
            </a:pPr>
            <a:r>
              <a:rPr lang="en-US" altLang="ko-KR" sz="1400" dirty="0"/>
              <a:t>Therefore, you need to </a:t>
            </a:r>
            <a:r>
              <a:rPr lang="en-US" altLang="ko-KR" sz="1400" b="1" dirty="0">
                <a:solidFill>
                  <a:srgbClr val="FF0000"/>
                </a:solidFill>
              </a:rPr>
              <a:t>run each process in its own container</a:t>
            </a:r>
            <a:r>
              <a:rPr lang="en-US" altLang="ko-KR" sz="1400" dirty="0"/>
              <a:t>. That’s how Docker and Kubernetes are meant to be used.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EEA943A-8DE9-36F7-9137-445B7E5CFCCA}"/>
              </a:ext>
            </a:extLst>
          </p:cNvPr>
          <p:cNvPicPr>
            <a:picLocks noChangeAspect="1"/>
          </p:cNvPicPr>
          <p:nvPr/>
        </p:nvPicPr>
        <p:blipFill>
          <a:blip r:embed="rId2"/>
          <a:stretch>
            <a:fillRect/>
          </a:stretch>
        </p:blipFill>
        <p:spPr>
          <a:xfrm>
            <a:off x="3811839" y="3496231"/>
            <a:ext cx="4568322" cy="2912799"/>
          </a:xfrm>
          <a:prstGeom prst="rect">
            <a:avLst/>
          </a:prstGeom>
        </p:spPr>
      </p:pic>
    </p:spTree>
    <p:extLst>
      <p:ext uri="{BB962C8B-B14F-4D97-AF65-F5344CB8AC3E}">
        <p14:creationId xmlns:p14="http://schemas.microsoft.com/office/powerpoint/2010/main" val="1615641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Pods(3/5)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Partial Isolation between Containers of the Same Pod :</a:t>
            </a:r>
          </a:p>
          <a:p>
            <a:pPr lvl="1">
              <a:buFont typeface="Wingdings" panose="05000000000000000000" pitchFamily="2" charset="2"/>
              <a:buChar char="§"/>
            </a:pPr>
            <a:r>
              <a:rPr lang="en-US" altLang="ko-KR" sz="1400" b="1" dirty="0"/>
              <a:t>Because you’re not supposed to group multiple processes into a single container, it’s obvious you need another higher-level construct that will allow you to </a:t>
            </a:r>
            <a:r>
              <a:rPr lang="en-US" altLang="ko-KR" sz="1400" b="1" dirty="0">
                <a:solidFill>
                  <a:srgbClr val="FF0000"/>
                </a:solidFill>
              </a:rPr>
              <a:t>bind containers together and manage them as a single unit</a:t>
            </a:r>
            <a:r>
              <a:rPr lang="en-US" altLang="ko-KR" sz="1400" dirty="0"/>
              <a:t>. </a:t>
            </a:r>
          </a:p>
          <a:p>
            <a:pPr lvl="1">
              <a:buFont typeface="Wingdings" panose="05000000000000000000" pitchFamily="2" charset="2"/>
              <a:buChar char="§"/>
            </a:pPr>
            <a:r>
              <a:rPr lang="en-US" altLang="ko-KR" sz="1400" b="1" dirty="0"/>
              <a:t>A pod of containers allows you to run closely related processes together and provide them with (almost) the same environment as if they were all running in a single container</a:t>
            </a:r>
            <a:r>
              <a:rPr lang="en-US" altLang="ko-KR" sz="1400" dirty="0"/>
              <a:t>, while keeping them somewhat isolated. This way, you get the best of both worlds. </a:t>
            </a:r>
            <a:r>
              <a:rPr lang="en-US" altLang="ko-KR" sz="1400" b="1" dirty="0"/>
              <a:t>You can take advantage of all the features containers provide, while at the same time giving the processes the illusion of running together</a:t>
            </a:r>
            <a:r>
              <a:rPr lang="en-US" altLang="ko-KR" sz="1400" dirty="0"/>
              <a:t>. </a:t>
            </a:r>
          </a:p>
          <a:p>
            <a:pPr lvl="1">
              <a:buFont typeface="Wingdings" panose="05000000000000000000" pitchFamily="2" charset="2"/>
              <a:buChar char="§"/>
            </a:pPr>
            <a:r>
              <a:rPr lang="en-US" altLang="ko-KR" sz="1400" dirty="0"/>
              <a:t>You want containers inside each group to share certain resources, although not all, so that they’re not fully isolated. </a:t>
            </a:r>
            <a:r>
              <a:rPr lang="en-US" altLang="ko-KR" sz="1400" b="1" dirty="0"/>
              <a:t>Kubernetes achieves this by configuring Docker to </a:t>
            </a:r>
            <a:r>
              <a:rPr lang="en-US" altLang="ko-KR" sz="1400" b="1" dirty="0">
                <a:solidFill>
                  <a:srgbClr val="FF0000"/>
                </a:solidFill>
              </a:rPr>
              <a:t>have all containers of a pod share the same set of Linux namespaces </a:t>
            </a:r>
            <a:r>
              <a:rPr lang="en-US" altLang="ko-KR" sz="1400" b="1" dirty="0"/>
              <a:t>instead of each container having its own set</a:t>
            </a:r>
            <a:r>
              <a:rPr lang="en-US" altLang="ko-KR" sz="1400" dirty="0"/>
              <a:t>.</a:t>
            </a:r>
          </a:p>
          <a:p>
            <a:pPr lvl="1">
              <a:buFont typeface="Wingdings" panose="05000000000000000000" pitchFamily="2" charset="2"/>
              <a:buChar char="§"/>
            </a:pPr>
            <a:r>
              <a:rPr lang="en-US" altLang="ko-KR" sz="1400" b="1" dirty="0"/>
              <a:t>Because all containers of a pod run under the same Network and UTS(Unix Time Sharing) namespaces (we’re talking about Linux namespaces here), they all share the same hostname and network interfaces</a:t>
            </a:r>
            <a:r>
              <a:rPr lang="en-US" altLang="ko-KR" sz="1400" dirty="0"/>
              <a:t>. </a:t>
            </a:r>
            <a:r>
              <a:rPr lang="en-US" altLang="ko-KR" sz="1400" b="1" dirty="0"/>
              <a:t>Similarly, all containers of a pod run under the same IPC namespace and can communicate through IPC</a:t>
            </a:r>
            <a:r>
              <a:rPr lang="en-US" altLang="ko-KR" sz="1400" dirty="0"/>
              <a:t>. In the latest Kubernetes and Docker versions, they can also </a:t>
            </a:r>
            <a:r>
              <a:rPr lang="en-US" altLang="ko-KR" sz="1400" b="1" dirty="0"/>
              <a:t>share the same PID namespace</a:t>
            </a:r>
            <a:r>
              <a:rPr lang="en-US" altLang="ko-KR" sz="1400" dirty="0"/>
              <a:t>, but that feature isn’t enabled by default.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A29526F-6EFB-FD1F-B527-7E91E43DDBDF}"/>
              </a:ext>
            </a:extLst>
          </p:cNvPr>
          <p:cNvPicPr>
            <a:picLocks noChangeAspect="1"/>
          </p:cNvPicPr>
          <p:nvPr/>
        </p:nvPicPr>
        <p:blipFill>
          <a:blip r:embed="rId2"/>
          <a:stretch>
            <a:fillRect/>
          </a:stretch>
        </p:blipFill>
        <p:spPr>
          <a:xfrm>
            <a:off x="7993116" y="3908236"/>
            <a:ext cx="3360683" cy="2500794"/>
          </a:xfrm>
          <a:prstGeom prst="rect">
            <a:avLst/>
          </a:prstGeom>
        </p:spPr>
      </p:pic>
      <p:sp>
        <p:nvSpPr>
          <p:cNvPr id="10" name="TextBox 9">
            <a:extLst>
              <a:ext uri="{FF2B5EF4-FFF2-40B4-BE49-F238E27FC236}">
                <a16:creationId xmlns:a16="http://schemas.microsoft.com/office/drawing/2014/main" id="{BBA6F4C5-E4EF-F4ED-09BF-24F1C040F118}"/>
              </a:ext>
            </a:extLst>
          </p:cNvPr>
          <p:cNvSpPr txBox="1"/>
          <p:nvPr/>
        </p:nvSpPr>
        <p:spPr>
          <a:xfrm>
            <a:off x="838199" y="4080784"/>
            <a:ext cx="7154916" cy="151374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NOTE : When containers of the same pod use separate PID namespaces, you only see the container’s own processes when running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ps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aux” command in the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Because most of the container’s filesystem comes from the container image, by default, the filesystem of each container is fully isolated from other containers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However, it’s possible to have them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share file directories using a Kubernetes concept called a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Volume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p:txBody>
      </p:sp>
    </p:spTree>
    <p:extLst>
      <p:ext uri="{BB962C8B-B14F-4D97-AF65-F5344CB8AC3E}">
        <p14:creationId xmlns:p14="http://schemas.microsoft.com/office/powerpoint/2010/main" val="35823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Pods(4/5)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Containers Share the Same IP and Port Space :</a:t>
            </a:r>
          </a:p>
          <a:p>
            <a:pPr lvl="1">
              <a:buFont typeface="Wingdings" panose="05000000000000000000" pitchFamily="2" charset="2"/>
              <a:buChar char="§"/>
            </a:pPr>
            <a:r>
              <a:rPr lang="en-US" altLang="ko-KR" sz="1400" b="1" dirty="0"/>
              <a:t>Because containers in a pod run in the same Network namespace, they share the same IP address and port space</a:t>
            </a:r>
            <a:r>
              <a:rPr lang="en-US" altLang="ko-KR" sz="1400" dirty="0"/>
              <a:t>. This means processes running in containers of the same pod need to take care not to bind to the same port numbers or they’ll run into port conflicts. But this only concerns containers in the same pod. </a:t>
            </a:r>
            <a:r>
              <a:rPr lang="en-US" altLang="ko-KR" sz="1400" b="1" dirty="0"/>
              <a:t>Containers of different pods can never run into port conflicts, because each pod has a separate port space</a:t>
            </a:r>
            <a:r>
              <a:rPr lang="en-US" altLang="ko-KR" sz="1400" dirty="0"/>
              <a:t>. </a:t>
            </a:r>
            <a:r>
              <a:rPr lang="en-US" altLang="ko-KR" sz="1400" b="1" dirty="0"/>
              <a:t>All the containers in a pod also have the same loopback network interface, so a container can communicate with other containers in the same pod through localhost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34C8940-83EC-63C7-C2DA-2DD6F1739F38}"/>
              </a:ext>
            </a:extLst>
          </p:cNvPr>
          <p:cNvPicPr>
            <a:picLocks noChangeAspect="1"/>
          </p:cNvPicPr>
          <p:nvPr/>
        </p:nvPicPr>
        <p:blipFill>
          <a:blip r:embed="rId2"/>
          <a:stretch>
            <a:fillRect/>
          </a:stretch>
        </p:blipFill>
        <p:spPr>
          <a:xfrm>
            <a:off x="3090041" y="2662202"/>
            <a:ext cx="6011917" cy="3381703"/>
          </a:xfrm>
          <a:prstGeom prst="rect">
            <a:avLst/>
          </a:prstGeom>
        </p:spPr>
      </p:pic>
    </p:spTree>
    <p:extLst>
      <p:ext uri="{BB962C8B-B14F-4D97-AF65-F5344CB8AC3E}">
        <p14:creationId xmlns:p14="http://schemas.microsoft.com/office/powerpoint/2010/main" val="49393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Pods(5/5)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Flat Inter-Pod Network :</a:t>
            </a:r>
          </a:p>
          <a:p>
            <a:pPr lvl="1">
              <a:buFont typeface="Wingdings" panose="05000000000000000000" pitchFamily="2" charset="2"/>
              <a:buChar char="§"/>
            </a:pPr>
            <a:r>
              <a:rPr lang="en-US" altLang="ko-KR" sz="1400" b="1" dirty="0"/>
              <a:t>All pods in a Kubernetes cluster reside in a single flat, shared, network-address space</a:t>
            </a:r>
            <a:r>
              <a:rPr lang="en-US" altLang="ko-KR" sz="1400" dirty="0"/>
              <a:t>, </a:t>
            </a:r>
            <a:r>
              <a:rPr lang="en-US" altLang="ko-KR" sz="1400" b="1" dirty="0"/>
              <a:t>which means every pod can access every other pod at the other pod’s IP address</a:t>
            </a:r>
            <a:r>
              <a:rPr lang="en-US" altLang="ko-KR" sz="1400" dirty="0"/>
              <a:t>. No NAT (Network Address Translation) gateways exist between them. When two pods send network packets between each other, they’ll each see the actual IP address of the other as the source IP in the packet.</a:t>
            </a:r>
          </a:p>
          <a:p>
            <a:pPr lvl="1">
              <a:buFont typeface="Wingdings" panose="05000000000000000000" pitchFamily="2" charset="2"/>
              <a:buChar char="§"/>
            </a:pPr>
            <a:r>
              <a:rPr lang="en-US" altLang="ko-KR" sz="1400" b="1" dirty="0"/>
              <a:t>Consequently, communication between pods is always simple. It doesn’t matter if two pods are scheduled onto a single or onto different worker nodes</a:t>
            </a:r>
            <a:r>
              <a:rPr lang="en-US" altLang="ko-KR" sz="1400" dirty="0"/>
              <a:t>; in both cases the containers inside those pods can communicate with each other across the flat </a:t>
            </a:r>
            <a:r>
              <a:rPr lang="en-US" altLang="ko-KR" sz="1400" dirty="0" err="1"/>
              <a:t>NATless</a:t>
            </a:r>
            <a:r>
              <a:rPr lang="en-US" altLang="ko-KR" sz="1400" dirty="0"/>
              <a:t> network, much like computers on a local area network (LAN), regardless of the actual inter-node network topology. Like a computer on a LAN, </a:t>
            </a:r>
            <a:r>
              <a:rPr lang="en-US" altLang="ko-KR" sz="1400" b="1" dirty="0"/>
              <a:t>each pod gets its own IP address and is accessible from all other pods through this network established specifically for pods</a:t>
            </a:r>
            <a:r>
              <a:rPr lang="en-US" altLang="ko-KR" sz="1400" dirty="0"/>
              <a:t>. This is usually achieved through an additional </a:t>
            </a:r>
            <a:r>
              <a:rPr lang="en-US" altLang="ko-KR" sz="1400" b="1" dirty="0">
                <a:solidFill>
                  <a:srgbClr val="FF0000"/>
                </a:solidFill>
              </a:rPr>
              <a:t>software-defined network layered on top of the actual network</a:t>
            </a:r>
            <a:r>
              <a:rPr lang="en-US" altLang="ko-KR" sz="1400" dirty="0"/>
              <a:t>.</a:t>
            </a:r>
          </a:p>
          <a:p>
            <a:pPr lvl="1">
              <a:buFont typeface="Wingdings" panose="05000000000000000000" pitchFamily="2" charset="2"/>
              <a:buChar char="§"/>
            </a:pPr>
            <a:r>
              <a:rPr lang="en-US" altLang="ko-KR" sz="1400" b="1" dirty="0"/>
              <a:t>Pods are logical hosts and behave much like physical hosts or VMs in the non-container world</a:t>
            </a:r>
            <a:r>
              <a:rPr lang="en-US" altLang="ko-KR" sz="1400" dirty="0"/>
              <a:t>. Processes running in the same pod are like processes running on the same physical or virtual machine, except that each process is encapsulated in a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F22B978-55C0-C441-04F8-0E8A184649CB}"/>
              </a:ext>
            </a:extLst>
          </p:cNvPr>
          <p:cNvPicPr>
            <a:picLocks noChangeAspect="1"/>
          </p:cNvPicPr>
          <p:nvPr/>
        </p:nvPicPr>
        <p:blipFill>
          <a:blip r:embed="rId2"/>
          <a:stretch>
            <a:fillRect/>
          </a:stretch>
        </p:blipFill>
        <p:spPr>
          <a:xfrm>
            <a:off x="3618271" y="4088617"/>
            <a:ext cx="4955458" cy="2320413"/>
          </a:xfrm>
          <a:prstGeom prst="rect">
            <a:avLst/>
          </a:prstGeom>
        </p:spPr>
      </p:pic>
    </p:spTree>
    <p:extLst>
      <p:ext uri="{BB962C8B-B14F-4D97-AF65-F5344CB8AC3E}">
        <p14:creationId xmlns:p14="http://schemas.microsoft.com/office/powerpoint/2010/main" val="42820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Containers across Pods(1/5)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Organizing Apps into Multiple Pods :</a:t>
            </a:r>
          </a:p>
          <a:p>
            <a:pPr lvl="1">
              <a:buFont typeface="Wingdings" panose="05000000000000000000" pitchFamily="2" charset="2"/>
              <a:buChar char="§"/>
            </a:pPr>
            <a:r>
              <a:rPr lang="en-US" altLang="ko-KR" sz="1400" b="1" dirty="0"/>
              <a:t>You should think of pods as separate machines, but where each one hosts only a certain app</a:t>
            </a:r>
            <a:r>
              <a:rPr lang="en-US" altLang="ko-KR" sz="1400" dirty="0"/>
              <a:t>. Unlike the old days, when we used to cram all sorts of apps onto the same host, we don’t do that with pods. </a:t>
            </a:r>
            <a:r>
              <a:rPr lang="en-US" altLang="ko-KR" sz="1400" b="1" dirty="0"/>
              <a:t>Because pods are relatively lightweight, you can have as many as you need without incurring almost any overhead</a:t>
            </a:r>
            <a:r>
              <a:rPr lang="en-US" altLang="ko-KR" sz="1400" dirty="0"/>
              <a:t>. </a:t>
            </a:r>
            <a:r>
              <a:rPr lang="en-US" altLang="ko-KR" sz="1400" b="1" dirty="0"/>
              <a:t>Instead of stuffing everything into a single pod, you should organize apps into multiple pods</a:t>
            </a:r>
            <a:r>
              <a:rPr lang="en-US" altLang="ko-KR" sz="1400" dirty="0"/>
              <a:t>, </a:t>
            </a:r>
            <a:r>
              <a:rPr lang="en-US" altLang="ko-KR" sz="1400" b="1" dirty="0"/>
              <a:t>where each one contains only </a:t>
            </a:r>
            <a:r>
              <a:rPr lang="en-US" altLang="ko-KR" sz="1400" b="1" dirty="0">
                <a:solidFill>
                  <a:srgbClr val="FF0000"/>
                </a:solidFill>
              </a:rPr>
              <a:t>tightly related components or processes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54B0E50-6BDB-B9EF-B5A1-550B9E97D341}"/>
              </a:ext>
            </a:extLst>
          </p:cNvPr>
          <p:cNvPicPr>
            <a:picLocks noChangeAspect="1"/>
          </p:cNvPicPr>
          <p:nvPr/>
        </p:nvPicPr>
        <p:blipFill>
          <a:blip r:embed="rId2"/>
          <a:stretch>
            <a:fillRect/>
          </a:stretch>
        </p:blipFill>
        <p:spPr>
          <a:xfrm>
            <a:off x="4011561" y="2539518"/>
            <a:ext cx="4168877" cy="3008671"/>
          </a:xfrm>
          <a:prstGeom prst="rect">
            <a:avLst/>
          </a:prstGeom>
        </p:spPr>
      </p:pic>
    </p:spTree>
    <p:extLst>
      <p:ext uri="{BB962C8B-B14F-4D97-AF65-F5344CB8AC3E}">
        <p14:creationId xmlns:p14="http://schemas.microsoft.com/office/powerpoint/2010/main" val="94137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Containers across Pods(2/5)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Splitting Multi-Tier Apps into Multiple Pods :</a:t>
            </a:r>
          </a:p>
          <a:p>
            <a:pPr lvl="1">
              <a:buFont typeface="Wingdings" panose="05000000000000000000" pitchFamily="2" charset="2"/>
              <a:buChar char="§"/>
            </a:pPr>
            <a:r>
              <a:rPr lang="en-US" altLang="ko-KR" sz="1400" b="1" dirty="0">
                <a:solidFill>
                  <a:srgbClr val="FF0000"/>
                </a:solidFill>
              </a:rPr>
              <a:t>All containers of the same pod always run co-located</a:t>
            </a:r>
            <a:r>
              <a:rPr lang="en-US" altLang="ko-KR" sz="1400" dirty="0"/>
              <a:t>, but do the web server and the database really need to run on the same machine? The answer is obviously no, so you don’t want to put them into a single pod. </a:t>
            </a:r>
          </a:p>
          <a:p>
            <a:pPr lvl="1">
              <a:buFont typeface="Wingdings" panose="05000000000000000000" pitchFamily="2" charset="2"/>
              <a:buChar char="§"/>
            </a:pPr>
            <a:r>
              <a:rPr lang="en-US" altLang="ko-KR" sz="1400" b="1" dirty="0"/>
              <a:t>If both the frontend and backend are in the same pod, then both will always be run on the same machine</a:t>
            </a:r>
            <a:r>
              <a:rPr lang="en-US" altLang="ko-KR" sz="1400" dirty="0"/>
              <a:t>. If you have a two-node Kubernetes cluster and only this single pod, you’ll only be using a single worker node and not taking advantage of the computational resources (CPU and memory) you have at your disposal on the second node. </a:t>
            </a:r>
            <a:r>
              <a:rPr lang="en-US" altLang="ko-KR" sz="1400" b="1" dirty="0"/>
              <a:t>Splitting the pod into two would allow Kubernetes to schedule the frontend to one node and the backend to the other node, thereby </a:t>
            </a:r>
            <a:r>
              <a:rPr lang="en-US" altLang="ko-KR" sz="1400" b="1" dirty="0">
                <a:solidFill>
                  <a:srgbClr val="FF0000"/>
                </a:solidFill>
              </a:rPr>
              <a:t>improving the utilization </a:t>
            </a:r>
            <a:r>
              <a:rPr lang="en-US" altLang="ko-KR" sz="1400" b="1" dirty="0"/>
              <a:t>of your infrastructure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281FE8E-F0D5-51F3-5BB2-1C21A1FF178D}"/>
              </a:ext>
            </a:extLst>
          </p:cNvPr>
          <p:cNvPicPr>
            <a:picLocks noChangeAspect="1"/>
          </p:cNvPicPr>
          <p:nvPr/>
        </p:nvPicPr>
        <p:blipFill>
          <a:blip r:embed="rId2"/>
          <a:stretch>
            <a:fillRect/>
          </a:stretch>
        </p:blipFill>
        <p:spPr>
          <a:xfrm>
            <a:off x="3453305" y="3394019"/>
            <a:ext cx="5285390" cy="2114156"/>
          </a:xfrm>
          <a:prstGeom prst="rect">
            <a:avLst/>
          </a:prstGeom>
        </p:spPr>
      </p:pic>
    </p:spTree>
    <p:extLst>
      <p:ext uri="{BB962C8B-B14F-4D97-AF65-F5344CB8AC3E}">
        <p14:creationId xmlns:p14="http://schemas.microsoft.com/office/powerpoint/2010/main" val="2822641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Containers across Pods(3/5)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Splitting into Multiple Pods to Enable Individual Scaling :</a:t>
            </a:r>
          </a:p>
          <a:p>
            <a:pPr lvl="1">
              <a:buFont typeface="Wingdings" panose="05000000000000000000" pitchFamily="2" charset="2"/>
              <a:buChar char="§"/>
            </a:pPr>
            <a:r>
              <a:rPr lang="en-US" altLang="ko-KR" sz="1400" b="1" dirty="0"/>
              <a:t>Another reason why you shouldn’t put them both into a single pod is scaling. A pod is also the basic unit of scaling</a:t>
            </a:r>
            <a:r>
              <a:rPr lang="en-US" altLang="ko-KR" sz="1400" dirty="0"/>
              <a:t>. </a:t>
            </a:r>
            <a:r>
              <a:rPr lang="en-US" altLang="ko-KR" sz="1400" b="1" dirty="0">
                <a:solidFill>
                  <a:srgbClr val="FF0000"/>
                </a:solidFill>
              </a:rPr>
              <a:t>Kubernetes can’t horizontally scale individual containers</a:t>
            </a:r>
            <a:r>
              <a:rPr lang="en-US" altLang="ko-KR" sz="1400" dirty="0"/>
              <a:t>; </a:t>
            </a:r>
            <a:r>
              <a:rPr lang="en-US" altLang="ko-KR" sz="1400" b="1" dirty="0"/>
              <a:t>instead, it scales whole pods</a:t>
            </a:r>
            <a:r>
              <a:rPr lang="en-US" altLang="ko-KR" sz="1400" dirty="0"/>
              <a:t>. If your pod consists of a frontend and a backend container, when you scale up the number of instances of the pod to, let’s say, two, you end up with two frontend containers and two backend containers.</a:t>
            </a:r>
          </a:p>
          <a:p>
            <a:pPr lvl="1">
              <a:buFont typeface="Wingdings" panose="05000000000000000000" pitchFamily="2" charset="2"/>
              <a:buChar char="§"/>
            </a:pPr>
            <a:r>
              <a:rPr lang="en-US" altLang="ko-KR" sz="1400" dirty="0"/>
              <a:t>Usually, frontend components have completely different scaling requirements than the backends, so we tend to scale them individually. </a:t>
            </a:r>
            <a:r>
              <a:rPr lang="en-US" altLang="ko-KR" sz="1400" b="1" dirty="0"/>
              <a:t>Not to mention the fact that backends such as databases are usually much harder to scale compared to (stateless) frontend web servers</a:t>
            </a:r>
            <a:r>
              <a:rPr lang="en-US" altLang="ko-KR" sz="1400" dirty="0"/>
              <a:t>. If you need to scale a container individually, this is a clear indication that it </a:t>
            </a:r>
            <a:r>
              <a:rPr lang="en-US" altLang="ko-KR" sz="1400" b="1" dirty="0"/>
              <a:t>needs to be deployed in a separate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746DE73-68D9-38F1-F3D4-D9AB77399A95}"/>
              </a:ext>
            </a:extLst>
          </p:cNvPr>
          <p:cNvPicPr>
            <a:picLocks noChangeAspect="1"/>
          </p:cNvPicPr>
          <p:nvPr/>
        </p:nvPicPr>
        <p:blipFill>
          <a:blip r:embed="rId2"/>
          <a:stretch>
            <a:fillRect/>
          </a:stretch>
        </p:blipFill>
        <p:spPr>
          <a:xfrm>
            <a:off x="2690402" y="3193404"/>
            <a:ext cx="6811196" cy="2850501"/>
          </a:xfrm>
          <a:prstGeom prst="rect">
            <a:avLst/>
          </a:prstGeom>
        </p:spPr>
      </p:pic>
    </p:spTree>
    <p:extLst>
      <p:ext uri="{BB962C8B-B14F-4D97-AF65-F5344CB8AC3E}">
        <p14:creationId xmlns:p14="http://schemas.microsoft.com/office/powerpoint/2010/main" val="796596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Containers across Pods(4/5)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a:t>
            </a:r>
            <a:r>
              <a:rPr lang="ko-KR" altLang="en-US" sz="1800" b="1" dirty="0"/>
              <a:t> </a:t>
            </a:r>
            <a:r>
              <a:rPr lang="en-US" altLang="ko-KR" sz="1800" b="1" dirty="0"/>
              <a:t>When</a:t>
            </a:r>
            <a:r>
              <a:rPr lang="ko-KR" altLang="en-US" sz="1800" b="1" dirty="0"/>
              <a:t> </a:t>
            </a:r>
            <a:r>
              <a:rPr lang="en-US" altLang="ko-KR" sz="1800" b="1" dirty="0"/>
              <a:t>to</a:t>
            </a:r>
            <a:r>
              <a:rPr lang="ko-KR" altLang="en-US" sz="1800" b="1" dirty="0"/>
              <a:t> </a:t>
            </a:r>
            <a:r>
              <a:rPr lang="en-US" altLang="ko-KR" sz="1800" b="1" dirty="0"/>
              <a:t>Use</a:t>
            </a:r>
            <a:r>
              <a:rPr lang="ko-KR" altLang="en-US" sz="1800" b="1" dirty="0"/>
              <a:t> </a:t>
            </a:r>
            <a:r>
              <a:rPr lang="en-US" altLang="ko-KR" sz="1800" b="1" dirty="0"/>
              <a:t>Multiple</a:t>
            </a:r>
            <a:r>
              <a:rPr lang="ko-KR" altLang="en-US" sz="1800" b="1" dirty="0"/>
              <a:t> </a:t>
            </a:r>
            <a:r>
              <a:rPr lang="en-US" altLang="ko-KR" sz="1800" b="1" dirty="0"/>
              <a:t>Containers in a Pod :</a:t>
            </a:r>
          </a:p>
          <a:p>
            <a:pPr lvl="1">
              <a:buFont typeface="Wingdings" panose="05000000000000000000" pitchFamily="2" charset="2"/>
              <a:buChar char="§"/>
            </a:pPr>
            <a:r>
              <a:rPr lang="en-US" altLang="ko-KR" sz="1400" b="1" dirty="0"/>
              <a:t>The main reason to put multiple containers into a single pod is when the application consists of one main process and one or more complementary processes</a:t>
            </a:r>
            <a:r>
              <a:rPr lang="en-US" altLang="ko-KR" sz="1400" dirty="0"/>
              <a:t>.</a:t>
            </a:r>
          </a:p>
          <a:p>
            <a:pPr lvl="1">
              <a:buFont typeface="Wingdings" panose="05000000000000000000" pitchFamily="2" charset="2"/>
              <a:buChar char="§"/>
            </a:pPr>
            <a:r>
              <a:rPr lang="en-US" altLang="ko-KR" sz="1400" dirty="0"/>
              <a:t>For example, the main container in a pod could be a web server that serves files from a certain file directory, while an additional container (a sidecar container) periodically downloads content from an external source and stores it in the web server’s directory.</a:t>
            </a:r>
          </a:p>
          <a:p>
            <a:pPr lvl="1">
              <a:buFont typeface="Wingdings" panose="05000000000000000000" pitchFamily="2" charset="2"/>
              <a:buChar char="§"/>
            </a:pPr>
            <a:r>
              <a:rPr lang="en-US" altLang="ko-KR" sz="1400" dirty="0"/>
              <a:t>Other examples of </a:t>
            </a:r>
            <a:r>
              <a:rPr lang="en-US" altLang="ko-KR" sz="1400" b="1" dirty="0"/>
              <a:t>sidecar containers </a:t>
            </a:r>
            <a:r>
              <a:rPr lang="en-US" altLang="ko-KR" sz="1400" dirty="0"/>
              <a:t>include </a:t>
            </a:r>
            <a:r>
              <a:rPr lang="en-US" altLang="ko-KR" sz="1400" b="1" dirty="0"/>
              <a:t>log rotators </a:t>
            </a:r>
            <a:r>
              <a:rPr lang="en-US" altLang="ko-KR" sz="1400" dirty="0"/>
              <a:t>and </a:t>
            </a:r>
            <a:r>
              <a:rPr lang="en-US" altLang="ko-KR" sz="1400" b="1" dirty="0"/>
              <a:t>collectors</a:t>
            </a:r>
            <a:r>
              <a:rPr lang="en-US" altLang="ko-KR" sz="1400" dirty="0"/>
              <a:t>, </a:t>
            </a:r>
            <a:r>
              <a:rPr lang="en-US" altLang="ko-KR" sz="1400" b="1" dirty="0"/>
              <a:t>data processors</a:t>
            </a:r>
            <a:r>
              <a:rPr lang="en-US" altLang="ko-KR" sz="1400" dirty="0"/>
              <a:t>, </a:t>
            </a:r>
            <a:r>
              <a:rPr lang="en-US" altLang="ko-KR" sz="1400" b="1" dirty="0"/>
              <a:t>communication adapters</a:t>
            </a:r>
            <a:r>
              <a:rPr lang="en-US" altLang="ko-KR" sz="1400" dirty="0"/>
              <a:t>, and others.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C7938024-2D93-ECF1-5222-AC23BAADB888}"/>
              </a:ext>
            </a:extLst>
          </p:cNvPr>
          <p:cNvPicPr>
            <a:picLocks noChangeAspect="1"/>
          </p:cNvPicPr>
          <p:nvPr/>
        </p:nvPicPr>
        <p:blipFill>
          <a:blip r:embed="rId2"/>
          <a:stretch>
            <a:fillRect/>
          </a:stretch>
        </p:blipFill>
        <p:spPr>
          <a:xfrm>
            <a:off x="3233737" y="3121965"/>
            <a:ext cx="5724525" cy="2295525"/>
          </a:xfrm>
          <a:prstGeom prst="rect">
            <a:avLst/>
          </a:prstGeom>
        </p:spPr>
      </p:pic>
    </p:spTree>
    <p:extLst>
      <p:ext uri="{BB962C8B-B14F-4D97-AF65-F5344CB8AC3E}">
        <p14:creationId xmlns:p14="http://schemas.microsoft.com/office/powerpoint/2010/main" val="2114576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Containers across Pods(5/5)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Deciding When to Use Multiple Containers in a Pod :</a:t>
            </a:r>
          </a:p>
          <a:p>
            <a:pPr lvl="1">
              <a:buFont typeface="Wingdings" panose="05000000000000000000" pitchFamily="2" charset="2"/>
              <a:buChar char="§"/>
            </a:pPr>
            <a:r>
              <a:rPr lang="en-US" altLang="ko-KR" sz="1400" dirty="0"/>
              <a:t>To recap </a:t>
            </a:r>
            <a:r>
              <a:rPr lang="en-US" altLang="ko-KR" sz="1400" b="1" dirty="0"/>
              <a:t>how containers should be grouped into pods—when deciding whether to put two containers into a single pod or into two separate pods</a:t>
            </a:r>
            <a:r>
              <a:rPr lang="en-US" altLang="ko-KR" sz="1400" dirty="0"/>
              <a:t>, you always need to ask yourself the following questions :</a:t>
            </a:r>
          </a:p>
          <a:p>
            <a:pPr lvl="2">
              <a:buFont typeface="Wingdings" panose="05000000000000000000" pitchFamily="2" charset="2"/>
              <a:buChar char="§"/>
            </a:pPr>
            <a:r>
              <a:rPr lang="en-US" altLang="ko-KR" sz="1400" dirty="0"/>
              <a:t>Do they need to be </a:t>
            </a:r>
            <a:r>
              <a:rPr lang="en-US" altLang="ko-KR" sz="1400" b="1" dirty="0"/>
              <a:t>run together or can they run on different hosts</a:t>
            </a:r>
            <a:r>
              <a:rPr lang="en-US" altLang="ko-KR" sz="1400" dirty="0"/>
              <a:t>?</a:t>
            </a:r>
          </a:p>
          <a:p>
            <a:pPr lvl="2">
              <a:buFont typeface="Wingdings" panose="05000000000000000000" pitchFamily="2" charset="2"/>
              <a:buChar char="§"/>
            </a:pPr>
            <a:r>
              <a:rPr lang="en-US" altLang="ko-KR" sz="1400" dirty="0"/>
              <a:t>Do they </a:t>
            </a:r>
            <a:r>
              <a:rPr lang="en-US" altLang="ko-KR" sz="1400" b="1" dirty="0"/>
              <a:t>represent a single whole or are they independent components</a:t>
            </a:r>
            <a:r>
              <a:rPr lang="en-US" altLang="ko-KR" sz="1400" dirty="0"/>
              <a:t>?</a:t>
            </a:r>
          </a:p>
          <a:p>
            <a:pPr lvl="2">
              <a:buFont typeface="Wingdings" panose="05000000000000000000" pitchFamily="2" charset="2"/>
              <a:buChar char="§"/>
            </a:pPr>
            <a:r>
              <a:rPr lang="en-US" altLang="ko-KR" sz="1400" dirty="0"/>
              <a:t>Must they </a:t>
            </a:r>
            <a:r>
              <a:rPr lang="en-US" altLang="ko-KR" sz="1400" b="1" dirty="0"/>
              <a:t>be scaled together or individually</a:t>
            </a:r>
            <a:r>
              <a:rPr lang="en-US" altLang="ko-KR" sz="1400" dirty="0"/>
              <a:t>?</a:t>
            </a:r>
          </a:p>
          <a:p>
            <a:pPr lvl="1">
              <a:buFont typeface="Wingdings" panose="05000000000000000000" pitchFamily="2" charset="2"/>
              <a:buChar char="§"/>
            </a:pPr>
            <a:r>
              <a:rPr lang="en-US" altLang="ko-KR" sz="1400" b="1" dirty="0"/>
              <a:t>NOTE : Basically, you should always gravitate toward running containers in separate pods, unless a specific reason requires them to be part of the same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30FFFE8-3C9E-D8DE-E5A3-3C1A7EA1567F}"/>
              </a:ext>
            </a:extLst>
          </p:cNvPr>
          <p:cNvGrpSpPr/>
          <p:nvPr/>
        </p:nvGrpSpPr>
        <p:grpSpPr>
          <a:xfrm>
            <a:off x="3581400" y="2986073"/>
            <a:ext cx="5034116" cy="3057832"/>
            <a:chOff x="3581400" y="2986073"/>
            <a:chExt cx="5034116" cy="3057832"/>
          </a:xfrm>
        </p:grpSpPr>
        <p:pic>
          <p:nvPicPr>
            <p:cNvPr id="8" name="그림 7">
              <a:extLst>
                <a:ext uri="{FF2B5EF4-FFF2-40B4-BE49-F238E27FC236}">
                  <a16:creationId xmlns:a16="http://schemas.microsoft.com/office/drawing/2014/main" id="{79526345-750C-48B8-B7C1-99EEEE16D8A6}"/>
                </a:ext>
              </a:extLst>
            </p:cNvPr>
            <p:cNvPicPr>
              <a:picLocks noChangeAspect="1"/>
            </p:cNvPicPr>
            <p:nvPr/>
          </p:nvPicPr>
          <p:blipFill>
            <a:blip r:embed="rId2"/>
            <a:stretch>
              <a:fillRect/>
            </a:stretch>
          </p:blipFill>
          <p:spPr>
            <a:xfrm>
              <a:off x="3581400" y="2986073"/>
              <a:ext cx="5034116" cy="3057832"/>
            </a:xfrm>
            <a:prstGeom prst="rect">
              <a:avLst/>
            </a:prstGeom>
          </p:spPr>
        </p:pic>
        <p:sp>
          <p:nvSpPr>
            <p:cNvPr id="9" name="화살표: 오른쪽 8">
              <a:extLst>
                <a:ext uri="{FF2B5EF4-FFF2-40B4-BE49-F238E27FC236}">
                  <a16:creationId xmlns:a16="http://schemas.microsoft.com/office/drawing/2014/main" id="{833FBCF2-0CE0-1267-9F87-221A478AAB90}"/>
                </a:ext>
              </a:extLst>
            </p:cNvPr>
            <p:cNvSpPr/>
            <p:nvPr/>
          </p:nvSpPr>
          <p:spPr>
            <a:xfrm>
              <a:off x="6526923" y="4345909"/>
              <a:ext cx="299545" cy="32319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7165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Kubernetes API Object Definition : </a:t>
            </a:r>
          </a:p>
          <a:p>
            <a:pPr lvl="1">
              <a:buFont typeface="Wingdings" panose="05000000000000000000" pitchFamily="2" charset="2"/>
              <a:buChar char="§"/>
            </a:pPr>
            <a:r>
              <a:rPr lang="en-US" altLang="ko-KR" sz="1400" b="1" dirty="0"/>
              <a:t>Pods and other Kubernetes resources are usually created by posting a JSON or YAML manifest to the Kubernetes REST API endpoint</a:t>
            </a:r>
            <a:r>
              <a:rPr lang="en-US" altLang="ko-KR" sz="1400" dirty="0"/>
              <a:t>. Also, you can use other, simpler ways of creating resources, such as the “</a:t>
            </a:r>
            <a:r>
              <a:rPr lang="en-US" altLang="ko-KR" sz="1400" b="1" dirty="0" err="1"/>
              <a:t>kubectl</a:t>
            </a:r>
            <a:r>
              <a:rPr lang="en-US" altLang="ko-KR" sz="1400" b="1" dirty="0"/>
              <a:t> run</a:t>
            </a:r>
            <a:r>
              <a:rPr lang="en-US" altLang="ko-KR" sz="1400" dirty="0"/>
              <a:t>” command, but they usually only allow you to configure a limited set of properties, not all. </a:t>
            </a:r>
            <a:r>
              <a:rPr lang="en-US" altLang="ko-KR" sz="1400" b="1" dirty="0"/>
              <a:t>Additionally, defining all your Kubernetes objects from YAML files makes it possible to store them in a version control system, with all the benefits it brings</a:t>
            </a:r>
            <a:r>
              <a:rPr lang="en-US" altLang="ko-KR" sz="1400" dirty="0"/>
              <a:t>. </a:t>
            </a:r>
          </a:p>
          <a:p>
            <a:pPr lvl="1">
              <a:buFont typeface="Wingdings" panose="05000000000000000000" pitchFamily="2" charset="2"/>
              <a:buChar char="§"/>
            </a:pPr>
            <a:r>
              <a:rPr lang="en-US" altLang="ko-KR" sz="1400" b="1" dirty="0"/>
              <a:t>To configure all aspects of each type of resource, you’ll need to know and understand </a:t>
            </a:r>
            <a:r>
              <a:rPr lang="en-US" altLang="ko-KR" sz="1400" b="1" dirty="0">
                <a:solidFill>
                  <a:srgbClr val="FF0000"/>
                </a:solidFill>
              </a:rPr>
              <a:t>the Kubernetes API object definitions</a:t>
            </a:r>
            <a:r>
              <a:rPr lang="en-US" altLang="ko-KR" sz="1400" dirty="0"/>
              <a:t>. You can refer to the Kubernetes API reference documentation at </a:t>
            </a:r>
            <a:r>
              <a:rPr lang="en-US" altLang="ko-KR" sz="1400" b="1" dirty="0">
                <a:hlinkClick r:id="rId2"/>
              </a:rPr>
              <a:t>http://kubernetes.io/docs/reference/</a:t>
            </a:r>
            <a:r>
              <a:rPr lang="en-US" altLang="ko-KR" sz="1400" b="1" dirty="0"/>
              <a:t> </a:t>
            </a:r>
            <a:r>
              <a:rPr lang="en-US" altLang="ko-KR" sz="1400" dirty="0"/>
              <a:t>when creating objects.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F0BEED2-4BD2-9991-4C1B-1866C42E5499}"/>
              </a:ext>
            </a:extLst>
          </p:cNvPr>
          <p:cNvPicPr>
            <a:picLocks noChangeAspect="1"/>
          </p:cNvPicPr>
          <p:nvPr/>
        </p:nvPicPr>
        <p:blipFill>
          <a:blip r:embed="rId3"/>
          <a:stretch>
            <a:fillRect/>
          </a:stretch>
        </p:blipFill>
        <p:spPr>
          <a:xfrm>
            <a:off x="3268717" y="3082288"/>
            <a:ext cx="5654566" cy="3180693"/>
          </a:xfrm>
          <a:prstGeom prst="rect">
            <a:avLst/>
          </a:prstGeom>
        </p:spPr>
      </p:pic>
    </p:spTree>
    <p:extLst>
      <p:ext uri="{BB962C8B-B14F-4D97-AF65-F5344CB8AC3E}">
        <p14:creationId xmlns:p14="http://schemas.microsoft.com/office/powerpoint/2010/main" val="3952462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a YAML Descriptor of an Existing Pod :</a:t>
            </a:r>
          </a:p>
          <a:p>
            <a:pPr lvl="1">
              <a:buFont typeface="Wingdings" panose="05000000000000000000" pitchFamily="2" charset="2"/>
              <a:buChar char="§"/>
            </a:pPr>
            <a:r>
              <a:rPr lang="en-US" altLang="ko-KR" sz="1400" dirty="0"/>
              <a:t>You already have some existing pods you created in the previous example, so let’s look at what a YAML definition for one of those pods looks like. </a:t>
            </a:r>
            <a:r>
              <a:rPr lang="en-US" altLang="ko-KR" sz="1400" b="1" dirty="0"/>
              <a:t>You’ll use the “</a:t>
            </a:r>
            <a:r>
              <a:rPr lang="en-US" altLang="ko-KR" sz="1400" b="1" dirty="0" err="1"/>
              <a:t>kubectl</a:t>
            </a:r>
            <a:r>
              <a:rPr lang="en-US" altLang="ko-KR" sz="1400" b="1" dirty="0"/>
              <a:t> get” command with the “</a:t>
            </a:r>
            <a:r>
              <a:rPr lang="en-US" altLang="ko-KR" sz="1400" b="1" dirty="0">
                <a:solidFill>
                  <a:srgbClr val="FF0000"/>
                </a:solidFill>
              </a:rPr>
              <a:t>-o </a:t>
            </a:r>
            <a:r>
              <a:rPr lang="en-US" altLang="ko-KR" sz="1400" b="1" dirty="0" err="1">
                <a:solidFill>
                  <a:srgbClr val="FF0000"/>
                </a:solidFill>
              </a:rPr>
              <a:t>yaml</a:t>
            </a:r>
            <a:r>
              <a:rPr lang="en-US" altLang="ko-KR" sz="1400" b="1" dirty="0"/>
              <a:t>” option to get the whole YAML definition of the pod</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C35033A3-B496-AF5C-754F-02A534C4481C}"/>
              </a:ext>
            </a:extLst>
          </p:cNvPr>
          <p:cNvGrpSpPr/>
          <p:nvPr/>
        </p:nvGrpSpPr>
        <p:grpSpPr>
          <a:xfrm>
            <a:off x="1111046" y="2152000"/>
            <a:ext cx="9969908" cy="3931594"/>
            <a:chOff x="1111046" y="2152000"/>
            <a:chExt cx="9969908" cy="3931594"/>
          </a:xfrm>
        </p:grpSpPr>
        <p:grpSp>
          <p:nvGrpSpPr>
            <p:cNvPr id="11" name="그룹 10">
              <a:extLst>
                <a:ext uri="{FF2B5EF4-FFF2-40B4-BE49-F238E27FC236}">
                  <a16:creationId xmlns:a16="http://schemas.microsoft.com/office/drawing/2014/main" id="{FED148D4-5F0C-1B1E-D41A-FF4F9EC1622C}"/>
                </a:ext>
              </a:extLst>
            </p:cNvPr>
            <p:cNvGrpSpPr/>
            <p:nvPr/>
          </p:nvGrpSpPr>
          <p:grpSpPr>
            <a:xfrm>
              <a:off x="1111046" y="2152000"/>
              <a:ext cx="9969908" cy="3931594"/>
              <a:chOff x="662151" y="1958318"/>
              <a:chExt cx="10986785" cy="4218645"/>
            </a:xfrm>
          </p:grpSpPr>
          <p:pic>
            <p:nvPicPr>
              <p:cNvPr id="10" name="그림 9">
                <a:extLst>
                  <a:ext uri="{FF2B5EF4-FFF2-40B4-BE49-F238E27FC236}">
                    <a16:creationId xmlns:a16="http://schemas.microsoft.com/office/drawing/2014/main" id="{611766AF-8965-4CB4-2CBF-C1E8D9BAFD3E}"/>
                  </a:ext>
                </a:extLst>
              </p:cNvPr>
              <p:cNvPicPr>
                <a:picLocks noChangeAspect="1"/>
              </p:cNvPicPr>
              <p:nvPr/>
            </p:nvPicPr>
            <p:blipFill>
              <a:blip r:embed="rId2"/>
              <a:stretch>
                <a:fillRect/>
              </a:stretch>
            </p:blipFill>
            <p:spPr>
              <a:xfrm>
                <a:off x="2227348" y="3429000"/>
                <a:ext cx="9421588" cy="2747963"/>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BB5D39EA-F4CA-010A-3D57-7BFE87D20658}"/>
                  </a:ext>
                </a:extLst>
              </p:cNvPr>
              <p:cNvPicPr>
                <a:picLocks noChangeAspect="1"/>
              </p:cNvPicPr>
              <p:nvPr/>
            </p:nvPicPr>
            <p:blipFill>
              <a:blip r:embed="rId3"/>
              <a:stretch>
                <a:fillRect/>
              </a:stretch>
            </p:blipFill>
            <p:spPr>
              <a:xfrm>
                <a:off x="662151" y="1958318"/>
                <a:ext cx="10084676" cy="2941364"/>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89961C8F-5A4F-1410-6F56-AA7DDEF83617}"/>
                </a:ext>
              </a:extLst>
            </p:cNvPr>
            <p:cNvSpPr/>
            <p:nvPr/>
          </p:nvSpPr>
          <p:spPr>
            <a:xfrm>
              <a:off x="5415455" y="3241973"/>
              <a:ext cx="2301766" cy="1791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88301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Main Parts of a Pod Definition :</a:t>
            </a:r>
          </a:p>
          <a:p>
            <a:pPr lvl="1">
              <a:buFont typeface="Wingdings" panose="05000000000000000000" pitchFamily="2" charset="2"/>
              <a:buChar char="§"/>
            </a:pPr>
            <a:r>
              <a:rPr lang="en-US" altLang="ko-KR" sz="1400" b="1" dirty="0"/>
              <a:t>The pod definition consists of a few parts. First, there’s the </a:t>
            </a:r>
            <a:r>
              <a:rPr lang="en-US" altLang="ko-KR" sz="1400" b="1" dirty="0">
                <a:solidFill>
                  <a:srgbClr val="FF0000"/>
                </a:solidFill>
              </a:rPr>
              <a:t>Kubernetes API version </a:t>
            </a:r>
            <a:r>
              <a:rPr lang="en-US" altLang="ko-KR" sz="1400" b="1" dirty="0"/>
              <a:t>used in the YAML and </a:t>
            </a:r>
            <a:r>
              <a:rPr lang="en-US" altLang="ko-KR" sz="1400" b="1" dirty="0">
                <a:solidFill>
                  <a:srgbClr val="FF0000"/>
                </a:solidFill>
              </a:rPr>
              <a:t>the type of resource the YAML is describing</a:t>
            </a:r>
            <a:r>
              <a:rPr lang="en-US" altLang="ko-KR" sz="1400" dirty="0"/>
              <a:t>. Then, three important sections are found in almost all Kubernetes resources:</a:t>
            </a:r>
          </a:p>
          <a:p>
            <a:pPr lvl="2">
              <a:buFont typeface="Wingdings" panose="05000000000000000000" pitchFamily="2" charset="2"/>
              <a:buChar char="§"/>
            </a:pPr>
            <a:r>
              <a:rPr lang="en-US" altLang="ko-KR" sz="1400" b="1" dirty="0">
                <a:solidFill>
                  <a:srgbClr val="FF0000"/>
                </a:solidFill>
              </a:rPr>
              <a:t>Metadata</a:t>
            </a:r>
            <a:r>
              <a:rPr lang="en-US" altLang="ko-KR" sz="1400" dirty="0"/>
              <a:t> includes the </a:t>
            </a:r>
            <a:r>
              <a:rPr lang="en-US" altLang="ko-KR" sz="1400" b="1" dirty="0"/>
              <a:t>name</a:t>
            </a:r>
            <a:r>
              <a:rPr lang="en-US" altLang="ko-KR" sz="1400" dirty="0"/>
              <a:t>, </a:t>
            </a:r>
            <a:r>
              <a:rPr lang="en-US" altLang="ko-KR" sz="1400" b="1" dirty="0"/>
              <a:t>namespace</a:t>
            </a:r>
            <a:r>
              <a:rPr lang="en-US" altLang="ko-KR" sz="1400" dirty="0"/>
              <a:t>, </a:t>
            </a:r>
            <a:r>
              <a:rPr lang="en-US" altLang="ko-KR" sz="1400" b="1" dirty="0"/>
              <a:t>labels</a:t>
            </a:r>
            <a:r>
              <a:rPr lang="en-US" altLang="ko-KR" sz="1400" dirty="0"/>
              <a:t>, and other information about the pod.</a:t>
            </a:r>
          </a:p>
          <a:p>
            <a:pPr lvl="2">
              <a:buFont typeface="Wingdings" panose="05000000000000000000" pitchFamily="2" charset="2"/>
              <a:buChar char="§"/>
            </a:pPr>
            <a:r>
              <a:rPr lang="en-US" altLang="ko-KR" sz="1400" b="1" dirty="0">
                <a:solidFill>
                  <a:srgbClr val="FF0000"/>
                </a:solidFill>
              </a:rPr>
              <a:t>Spec</a:t>
            </a:r>
            <a:r>
              <a:rPr lang="en-US" altLang="ko-KR" sz="1400" dirty="0"/>
              <a:t> contains </a:t>
            </a:r>
            <a:r>
              <a:rPr lang="en-US" altLang="ko-KR" sz="1400" b="1" dirty="0"/>
              <a:t>the actual description of the pod’s contents</a:t>
            </a:r>
            <a:r>
              <a:rPr lang="en-US" altLang="ko-KR" sz="1400" dirty="0"/>
              <a:t>, such as </a:t>
            </a:r>
            <a:r>
              <a:rPr lang="en-US" altLang="ko-KR" sz="1400" b="1" dirty="0"/>
              <a:t>the pod’s containers</a:t>
            </a:r>
            <a:r>
              <a:rPr lang="en-US" altLang="ko-KR" sz="1400" dirty="0"/>
              <a:t>, </a:t>
            </a:r>
            <a:r>
              <a:rPr lang="en-US" altLang="ko-KR" sz="1400" b="1" dirty="0"/>
              <a:t>volumes</a:t>
            </a:r>
            <a:r>
              <a:rPr lang="en-US" altLang="ko-KR" sz="1400" dirty="0"/>
              <a:t>, and other data.</a:t>
            </a:r>
          </a:p>
          <a:p>
            <a:pPr lvl="2">
              <a:buFont typeface="Wingdings" panose="05000000000000000000" pitchFamily="2" charset="2"/>
              <a:buChar char="§"/>
            </a:pPr>
            <a:r>
              <a:rPr lang="en-US" altLang="ko-KR" sz="1400" b="1" dirty="0">
                <a:solidFill>
                  <a:srgbClr val="FF0000"/>
                </a:solidFill>
              </a:rPr>
              <a:t>Status</a:t>
            </a:r>
            <a:r>
              <a:rPr lang="en-US" altLang="ko-KR" sz="1400" b="1" dirty="0"/>
              <a:t> contains the current information about the running pod</a:t>
            </a:r>
            <a:r>
              <a:rPr lang="en-US" altLang="ko-KR" sz="1400" dirty="0"/>
              <a:t>, such as </a:t>
            </a:r>
            <a:r>
              <a:rPr lang="en-US" altLang="ko-KR" sz="1400" b="1" dirty="0"/>
              <a:t>what condition the pod is in</a:t>
            </a:r>
            <a:r>
              <a:rPr lang="en-US" altLang="ko-KR" sz="1400" dirty="0"/>
              <a:t>, </a:t>
            </a:r>
            <a:r>
              <a:rPr lang="en-US" altLang="ko-KR" sz="1400" b="1" dirty="0"/>
              <a:t>the description and status of each container</a:t>
            </a:r>
            <a:r>
              <a:rPr lang="en-US" altLang="ko-KR" sz="1400" dirty="0"/>
              <a:t>, and </a:t>
            </a:r>
            <a:r>
              <a:rPr lang="en-US" altLang="ko-KR" sz="1400" b="1" dirty="0"/>
              <a:t>the pod’s internal IP</a:t>
            </a:r>
            <a:r>
              <a:rPr lang="en-US" altLang="ko-KR" sz="1400" dirty="0"/>
              <a:t> and other basic info.</a:t>
            </a:r>
          </a:p>
          <a:p>
            <a:pPr lvl="1">
              <a:buFont typeface="Wingdings" panose="05000000000000000000" pitchFamily="2" charset="2"/>
              <a:buChar char="§"/>
            </a:pPr>
            <a:r>
              <a:rPr lang="en-US" altLang="ko-KR" sz="1400" dirty="0"/>
              <a:t>The previous screenshot showed a full description of a running pod, including its status. </a:t>
            </a:r>
            <a:r>
              <a:rPr lang="en-US" altLang="ko-KR" sz="1400" b="1" dirty="0"/>
              <a:t>The status part contains read-only runtime data that shows the state of the resource at a given moment</a:t>
            </a:r>
            <a:r>
              <a:rPr lang="en-US" altLang="ko-KR" sz="1400" dirty="0"/>
              <a:t>. When creating a new pod, you never need to provide the status part.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9FC770B-ACB7-728D-8133-11C5DE83CCB4}"/>
              </a:ext>
            </a:extLst>
          </p:cNvPr>
          <p:cNvPicPr>
            <a:picLocks noChangeAspect="1"/>
          </p:cNvPicPr>
          <p:nvPr/>
        </p:nvPicPr>
        <p:blipFill>
          <a:blip r:embed="rId2"/>
          <a:stretch>
            <a:fillRect/>
          </a:stretch>
        </p:blipFill>
        <p:spPr>
          <a:xfrm>
            <a:off x="7597385" y="3591718"/>
            <a:ext cx="3756415" cy="2817312"/>
          </a:xfrm>
          <a:prstGeom prst="rect">
            <a:avLst/>
          </a:prstGeom>
        </p:spPr>
      </p:pic>
      <p:sp>
        <p:nvSpPr>
          <p:cNvPr id="10" name="TextBox 9">
            <a:extLst>
              <a:ext uri="{FF2B5EF4-FFF2-40B4-BE49-F238E27FC236}">
                <a16:creationId xmlns:a16="http://schemas.microsoft.com/office/drawing/2014/main" id="{EFEE1073-ACC5-2E34-7014-EFC56B84FC91}"/>
              </a:ext>
            </a:extLst>
          </p:cNvPr>
          <p:cNvSpPr txBox="1"/>
          <p:nvPr/>
        </p:nvSpPr>
        <p:spPr>
          <a:xfrm>
            <a:off x="838198" y="3591718"/>
            <a:ext cx="6461235" cy="674031"/>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three parts described previously show the typical structure of a Kubernetes API object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All other objects have the same anatomy. This makes understanding new objects relatively easy.</a:t>
            </a:r>
          </a:p>
        </p:txBody>
      </p:sp>
    </p:spTree>
    <p:extLst>
      <p:ext uri="{BB962C8B-B14F-4D97-AF65-F5344CB8AC3E}">
        <p14:creationId xmlns:p14="http://schemas.microsoft.com/office/powerpoint/2010/main" val="38903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Manifest YAML File :</a:t>
            </a:r>
          </a:p>
          <a:p>
            <a:pPr lvl="1">
              <a:buFont typeface="Wingdings" panose="05000000000000000000" pitchFamily="2" charset="2"/>
              <a:buChar char="§"/>
            </a:pPr>
            <a:r>
              <a:rPr lang="en-US" altLang="ko-KR" sz="1400" dirty="0"/>
              <a:t>You’re going to create a file called “</a:t>
            </a:r>
            <a:r>
              <a:rPr lang="en-US" altLang="ko-KR" sz="1400" b="1" dirty="0" err="1"/>
              <a:t>kubia-manual.yaml</a:t>
            </a:r>
            <a:r>
              <a:rPr lang="en-US" altLang="ko-KR" sz="1400" dirty="0"/>
              <a:t>” (you can create it in any directory you want). The following listing shows the entire contents of the file.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NOTE : The above file conforms to the </a:t>
            </a:r>
            <a:r>
              <a:rPr lang="en-US" altLang="ko-KR" sz="1400" b="1" dirty="0">
                <a:solidFill>
                  <a:srgbClr val="FF0000"/>
                </a:solidFill>
              </a:rPr>
              <a:t>v1</a:t>
            </a:r>
            <a:r>
              <a:rPr lang="en-US" altLang="ko-KR" sz="1400" b="1" dirty="0"/>
              <a:t> version of the Kubernetes API</a:t>
            </a:r>
            <a:r>
              <a:rPr lang="en-US" altLang="ko-KR" sz="1400" dirty="0"/>
              <a:t>. </a:t>
            </a:r>
            <a:r>
              <a:rPr lang="en-US" altLang="ko-KR" sz="1400" b="1" dirty="0"/>
              <a:t>The type of resource you’re describing is a </a:t>
            </a:r>
            <a:r>
              <a:rPr lang="en-US" altLang="ko-KR" sz="1400" b="1" dirty="0">
                <a:solidFill>
                  <a:srgbClr val="FF0000"/>
                </a:solidFill>
              </a:rPr>
              <a:t>pod</a:t>
            </a:r>
            <a:r>
              <a:rPr lang="en-US" altLang="ko-KR" sz="1400" dirty="0"/>
              <a:t>, </a:t>
            </a:r>
            <a:r>
              <a:rPr lang="en-US" altLang="ko-KR" sz="1400" b="1" dirty="0"/>
              <a:t>with the name “</a:t>
            </a:r>
            <a:r>
              <a:rPr lang="en-US" altLang="ko-KR" sz="1400" b="1" dirty="0" err="1"/>
              <a:t>kubia</a:t>
            </a:r>
            <a:r>
              <a:rPr lang="en-US" altLang="ko-KR" sz="1400" b="1" dirty="0"/>
              <a:t>-manual”</a:t>
            </a:r>
            <a:r>
              <a:rPr lang="en-US" altLang="ko-KR" sz="1400" dirty="0"/>
              <a:t>. The pod consists of </a:t>
            </a:r>
            <a:r>
              <a:rPr lang="en-US" altLang="ko-KR" sz="1400" b="1" dirty="0"/>
              <a:t>a single container based on the “knix008/</a:t>
            </a:r>
            <a:r>
              <a:rPr lang="en-US" altLang="ko-KR" sz="1400" b="1" dirty="0" err="1"/>
              <a:t>kubia</a:t>
            </a:r>
            <a:r>
              <a:rPr lang="en-US" altLang="ko-KR" sz="1400" b="1" dirty="0"/>
              <a:t>” image</a:t>
            </a:r>
            <a:r>
              <a:rPr lang="en-US" altLang="ko-KR" sz="1400" dirty="0"/>
              <a:t>. You’ve also given </a:t>
            </a:r>
            <a:r>
              <a:rPr lang="en-US" altLang="ko-KR" sz="1400" b="1" dirty="0"/>
              <a:t>a name to the container and indicated that it’s listening on port 8080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5FCD543-B7B2-4ADC-E4F4-9EA56187A235}"/>
              </a:ext>
            </a:extLst>
          </p:cNvPr>
          <p:cNvGrpSpPr/>
          <p:nvPr/>
        </p:nvGrpSpPr>
        <p:grpSpPr>
          <a:xfrm>
            <a:off x="3047343" y="1806614"/>
            <a:ext cx="6097314" cy="1785104"/>
            <a:chOff x="3048657" y="1859340"/>
            <a:chExt cx="6097314" cy="1785104"/>
          </a:xfrm>
        </p:grpSpPr>
        <p:sp>
          <p:nvSpPr>
            <p:cNvPr id="8" name="TextBox 7">
              <a:extLst>
                <a:ext uri="{FF2B5EF4-FFF2-40B4-BE49-F238E27FC236}">
                  <a16:creationId xmlns:a16="http://schemas.microsoft.com/office/drawing/2014/main" id="{2262F3F7-4143-B87D-609D-B4CB5CAA5F7E}"/>
                </a:ext>
              </a:extLst>
            </p:cNvPr>
            <p:cNvSpPr txBox="1"/>
            <p:nvPr/>
          </p:nvSpPr>
          <p:spPr>
            <a:xfrm>
              <a:off x="3048657" y="1859340"/>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err="1">
                  <a:solidFill>
                    <a:srgbClr val="FF0000"/>
                  </a:solidFill>
                </a:rPr>
                <a:t>kubia</a:t>
              </a:r>
              <a:r>
                <a:rPr lang="en-US" altLang="ko-KR" sz="1000" b="1" dirty="0">
                  <a:solidFill>
                    <a:srgbClr val="FF0000"/>
                  </a:solidFill>
                </a:rPr>
                <a:t>-manual</a:t>
              </a: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a:t>
              </a:r>
              <a:r>
                <a:rPr lang="en-US" altLang="ko-KR" sz="1000" b="1" dirty="0" err="1">
                  <a:solidFill>
                    <a:srgbClr val="FF0000"/>
                  </a:solidFill>
                </a:rPr>
                <a:t>kubia</a:t>
              </a:r>
              <a:endParaRPr lang="en-US" altLang="ko-KR" sz="1000" b="1" dirty="0">
                <a:solidFill>
                  <a:srgbClr val="FF0000"/>
                </a:solidFill>
              </a:endParaRPr>
            </a:p>
            <a:p>
              <a:r>
                <a:rPr lang="en-US" altLang="ko-KR" sz="1000" b="1" dirty="0"/>
                <a:t>      name: </a:t>
              </a:r>
              <a:r>
                <a:rPr lang="en-US" altLang="ko-KR" sz="1000" b="1" dirty="0" err="1"/>
                <a:t>kubia</a:t>
              </a:r>
              <a:endParaRPr lang="en-US" altLang="ko-KR" sz="1000" b="1" dirty="0"/>
            </a:p>
            <a:p>
              <a:r>
                <a:rPr lang="en-US" altLang="ko-KR" sz="1000" b="1" dirty="0"/>
                <a:t>      ports:</a:t>
              </a:r>
            </a:p>
            <a:p>
              <a:r>
                <a:rPr lang="en-US" altLang="ko-KR" sz="1000" b="1" dirty="0"/>
                <a:t>        - </a:t>
              </a:r>
              <a:r>
                <a:rPr lang="en-US" altLang="ko-KR" sz="1000" b="1" dirty="0" err="1"/>
                <a:t>containerPort</a:t>
              </a:r>
              <a:r>
                <a:rPr lang="en-US" altLang="ko-KR" sz="1000" b="1" dirty="0"/>
                <a:t>: </a:t>
              </a:r>
              <a:r>
                <a:rPr lang="en-US" altLang="ko-KR" sz="1000" b="1" dirty="0">
                  <a:solidFill>
                    <a:srgbClr val="FF0000"/>
                  </a:solidFill>
                </a:rPr>
                <a:t>8080</a:t>
              </a:r>
            </a:p>
            <a:p>
              <a:r>
                <a:rPr lang="en-US" altLang="ko-KR" sz="1000" b="1" dirty="0"/>
                <a:t>          protocol: TCP</a:t>
              </a:r>
            </a:p>
          </p:txBody>
        </p:sp>
        <p:sp>
          <p:nvSpPr>
            <p:cNvPr id="9" name="TextBox 8">
              <a:extLst>
                <a:ext uri="{FF2B5EF4-FFF2-40B4-BE49-F238E27FC236}">
                  <a16:creationId xmlns:a16="http://schemas.microsoft.com/office/drawing/2014/main" id="{9F78131D-45BE-712A-EDAE-D16E088B8A67}"/>
                </a:ext>
              </a:extLst>
            </p:cNvPr>
            <p:cNvSpPr txBox="1"/>
            <p:nvPr/>
          </p:nvSpPr>
          <p:spPr>
            <a:xfrm>
              <a:off x="7800730" y="1859340"/>
              <a:ext cx="1345241" cy="246221"/>
            </a:xfrm>
            <a:prstGeom prst="rect">
              <a:avLst/>
            </a:prstGeom>
            <a:noFill/>
          </p:spPr>
          <p:txBody>
            <a:bodyPr wrap="none" rtlCol="0">
              <a:spAutoFit/>
            </a:bodyPr>
            <a:lstStyle/>
            <a:p>
              <a:pPr algn="ctr"/>
              <a:r>
                <a:rPr lang="en-US" altLang="ko-KR" sz="1000" b="1" dirty="0" err="1"/>
                <a:t>kubia-manual.yaml</a:t>
              </a:r>
              <a:endParaRPr lang="ko-KR" altLang="en-US" sz="1000" b="1" dirty="0"/>
            </a:p>
          </p:txBody>
        </p:sp>
      </p:grpSp>
    </p:spTree>
    <p:extLst>
      <p:ext uri="{BB962C8B-B14F-4D97-AF65-F5344CB8AC3E}">
        <p14:creationId xmlns:p14="http://schemas.microsoft.com/office/powerpoint/2010/main" val="2819184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Descriptors(5/14)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Container Ports :</a:t>
            </a:r>
          </a:p>
          <a:p>
            <a:pPr lvl="1">
              <a:buFont typeface="Wingdings" panose="05000000000000000000" pitchFamily="2" charset="2"/>
              <a:buChar char="§"/>
            </a:pPr>
            <a:r>
              <a:rPr lang="en-US" altLang="ko-KR" sz="1400" b="1" dirty="0"/>
              <a:t>Specifying ports in the pod definition is purely informational</a:t>
            </a:r>
            <a:r>
              <a:rPr lang="en-US" altLang="ko-KR" sz="1400" dirty="0"/>
              <a:t>. Omitting them has no effect on whether clients can connect to the pod through the port or not. If the container is accepting connections through a port bound to the 0.0.0.0 address, other pods can always connect to it, even if the port isn’t listed in the pod spec explicitly. But </a:t>
            </a:r>
            <a:r>
              <a:rPr lang="en-US" altLang="ko-KR" sz="1400" b="1" dirty="0"/>
              <a:t>it makes sense to define the ports explicitly so that everyone using your cluster can quickly see what ports each pod exposes</a:t>
            </a:r>
            <a:r>
              <a:rPr lang="en-US" altLang="ko-KR" sz="1400" dirty="0"/>
              <a:t>. </a:t>
            </a:r>
            <a:r>
              <a:rPr lang="en-US" altLang="ko-KR" sz="1400" b="1" dirty="0"/>
              <a:t>Explicitly defining ports also allows you to assign a name to each port</a:t>
            </a:r>
            <a:r>
              <a:rPr lang="en-US" altLang="ko-KR" sz="1400" dirty="0"/>
              <a:t>, which can come in handy.</a:t>
            </a:r>
          </a:p>
          <a:p>
            <a:pPr lvl="1">
              <a:buFont typeface="Wingdings" panose="05000000000000000000" pitchFamily="2" charset="2"/>
              <a:buChar char="§"/>
            </a:pPr>
            <a:r>
              <a:rPr lang="en-US" altLang="ko-KR" sz="1400" b="1" dirty="0"/>
              <a:t>NOTE : When preparing a manifest, you can either turn to the Kubernetes reference documentation at http://kubernetes.io/docs/api to see which attributes are supported by each API object, or you can use the “</a:t>
            </a:r>
            <a:r>
              <a:rPr lang="en-US" altLang="ko-KR" sz="1400" b="1" dirty="0" err="1">
                <a:solidFill>
                  <a:srgbClr val="FF0000"/>
                </a:solidFill>
              </a:rPr>
              <a:t>kubectl</a:t>
            </a:r>
            <a:r>
              <a:rPr lang="en-US" altLang="ko-KR" sz="1400" b="1" dirty="0">
                <a:solidFill>
                  <a:srgbClr val="FF0000"/>
                </a:solidFill>
              </a:rPr>
              <a:t> explain</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540FE0C-608A-2FAA-2BF9-AAB54C149702}"/>
              </a:ext>
            </a:extLst>
          </p:cNvPr>
          <p:cNvGrpSpPr/>
          <p:nvPr/>
        </p:nvGrpSpPr>
        <p:grpSpPr>
          <a:xfrm>
            <a:off x="1348608" y="3172608"/>
            <a:ext cx="9494783" cy="2547767"/>
            <a:chOff x="1348608" y="3172608"/>
            <a:chExt cx="9494783" cy="2547767"/>
          </a:xfrm>
        </p:grpSpPr>
        <p:pic>
          <p:nvPicPr>
            <p:cNvPr id="8" name="그림 7">
              <a:extLst>
                <a:ext uri="{FF2B5EF4-FFF2-40B4-BE49-F238E27FC236}">
                  <a16:creationId xmlns:a16="http://schemas.microsoft.com/office/drawing/2014/main" id="{CA310FD1-C7A4-720F-25E5-0FC6A53B74F4}"/>
                </a:ext>
              </a:extLst>
            </p:cNvPr>
            <p:cNvPicPr>
              <a:picLocks noChangeAspect="1"/>
            </p:cNvPicPr>
            <p:nvPr/>
          </p:nvPicPr>
          <p:blipFill>
            <a:blip r:embed="rId2"/>
            <a:stretch>
              <a:fillRect/>
            </a:stretch>
          </p:blipFill>
          <p:spPr>
            <a:xfrm>
              <a:off x="1348608" y="3172608"/>
              <a:ext cx="9494783" cy="2547767"/>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92817D9F-A420-CCD0-0EBB-B170F85FC27A}"/>
                </a:ext>
              </a:extLst>
            </p:cNvPr>
            <p:cNvSpPr/>
            <p:nvPr/>
          </p:nvSpPr>
          <p:spPr>
            <a:xfrm>
              <a:off x="5376041" y="3583835"/>
              <a:ext cx="1363718" cy="207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72781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Descriptors(6/14)</a:t>
            </a:r>
            <a:endParaRPr lang="ko-KR" altLang="en-US" sz="2800"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Container Ports :</a:t>
            </a:r>
          </a:p>
          <a:p>
            <a:pPr lvl="1">
              <a:buFont typeface="Wingdings" panose="05000000000000000000" pitchFamily="2" charset="2"/>
              <a:buChar char="§"/>
            </a:pPr>
            <a:r>
              <a:rPr lang="en-US" altLang="ko-KR" sz="1400" b="1" dirty="0"/>
              <a:t>NOTE : </a:t>
            </a:r>
            <a:r>
              <a:rPr lang="en-US" altLang="ko-KR" sz="1400" b="1" dirty="0" err="1"/>
              <a:t>Kubectl</a:t>
            </a:r>
            <a:r>
              <a:rPr lang="en-US" altLang="ko-KR" sz="1400" b="1" dirty="0"/>
              <a:t> prints out the explanation of the object and lists the attributes the object can contain</a:t>
            </a:r>
            <a:r>
              <a:rPr lang="en-US" altLang="ko-KR" sz="1400" dirty="0"/>
              <a:t>. You can then drill deeper to find out more about each attribute. For example, you can examine the “</a:t>
            </a:r>
            <a:r>
              <a:rPr lang="en-US" altLang="ko-KR" sz="1400" b="1" dirty="0">
                <a:solidFill>
                  <a:srgbClr val="FF0000"/>
                </a:solidFill>
              </a:rPr>
              <a:t>spec</a:t>
            </a:r>
            <a:r>
              <a:rPr lang="en-US" altLang="ko-KR" sz="1400" dirty="0"/>
              <a:t>” attribute like the following screenshot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75AF826-6BF0-35EA-4924-98EEABAC2EED}"/>
              </a:ext>
            </a:extLst>
          </p:cNvPr>
          <p:cNvGrpSpPr/>
          <p:nvPr/>
        </p:nvGrpSpPr>
        <p:grpSpPr>
          <a:xfrm>
            <a:off x="1451741" y="2182790"/>
            <a:ext cx="9288517" cy="2492419"/>
            <a:chOff x="1451741" y="2182790"/>
            <a:chExt cx="9288517" cy="2492419"/>
          </a:xfrm>
        </p:grpSpPr>
        <p:pic>
          <p:nvPicPr>
            <p:cNvPr id="8" name="그림 7">
              <a:extLst>
                <a:ext uri="{FF2B5EF4-FFF2-40B4-BE49-F238E27FC236}">
                  <a16:creationId xmlns:a16="http://schemas.microsoft.com/office/drawing/2014/main" id="{C57A03D6-3BA2-EE7A-7D9C-58B6FC844BE8}"/>
                </a:ext>
              </a:extLst>
            </p:cNvPr>
            <p:cNvPicPr>
              <a:picLocks noChangeAspect="1"/>
            </p:cNvPicPr>
            <p:nvPr/>
          </p:nvPicPr>
          <p:blipFill>
            <a:blip r:embed="rId2"/>
            <a:stretch>
              <a:fillRect/>
            </a:stretch>
          </p:blipFill>
          <p:spPr>
            <a:xfrm>
              <a:off x="1451741" y="2182790"/>
              <a:ext cx="9288517" cy="2492419"/>
            </a:xfrm>
            <a:prstGeom prst="rect">
              <a:avLst/>
            </a:prstGeom>
          </p:spPr>
        </p:pic>
        <p:sp>
          <p:nvSpPr>
            <p:cNvPr id="9" name="직사각형 8">
              <a:extLst>
                <a:ext uri="{FF2B5EF4-FFF2-40B4-BE49-F238E27FC236}">
                  <a16:creationId xmlns:a16="http://schemas.microsoft.com/office/drawing/2014/main" id="{C975A55E-34D2-C456-A05D-7F9465FB6441}"/>
                </a:ext>
              </a:extLst>
            </p:cNvPr>
            <p:cNvSpPr/>
            <p:nvPr/>
          </p:nvSpPr>
          <p:spPr>
            <a:xfrm>
              <a:off x="5376041" y="2554014"/>
              <a:ext cx="1631731" cy="2601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Descriptors(7/14)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kubectl</a:t>
            </a:r>
            <a:r>
              <a:rPr lang="en-US" altLang="ko-KR" sz="1800" b="1" dirty="0"/>
              <a:t> create to Create the Pod : </a:t>
            </a:r>
          </a:p>
          <a:p>
            <a:pPr lvl="1">
              <a:buFont typeface="Wingdings" panose="05000000000000000000" pitchFamily="2" charset="2"/>
              <a:buChar char="§"/>
            </a:pPr>
            <a:r>
              <a:rPr lang="en-US" altLang="ko-KR" sz="1400" b="1" dirty="0"/>
              <a:t>To create the pod from your YAML file, use the “</a:t>
            </a:r>
            <a:r>
              <a:rPr lang="en-US" altLang="ko-KR" sz="1400" b="1" dirty="0" err="1">
                <a:solidFill>
                  <a:srgbClr val="FF0000"/>
                </a:solidFill>
              </a:rPr>
              <a:t>kubectl</a:t>
            </a:r>
            <a:r>
              <a:rPr lang="en-US" altLang="ko-KR" sz="1400" b="1" dirty="0">
                <a:solidFill>
                  <a:srgbClr val="FF0000"/>
                </a:solidFill>
              </a:rPr>
              <a:t> create</a:t>
            </a:r>
            <a:r>
              <a:rPr lang="en-US" altLang="ko-KR" sz="1400" b="1" dirty="0"/>
              <a:t>”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a:t>
            </a:r>
            <a:r>
              <a:rPr lang="en-US" altLang="ko-KR" sz="1400" b="1" dirty="0" err="1">
                <a:solidFill>
                  <a:srgbClr val="FF0000"/>
                </a:solidFill>
              </a:rPr>
              <a:t>kubectl</a:t>
            </a:r>
            <a:r>
              <a:rPr lang="en-US" altLang="ko-KR" sz="1400" b="1" dirty="0">
                <a:solidFill>
                  <a:srgbClr val="FF0000"/>
                </a:solidFill>
              </a:rPr>
              <a:t> create –f</a:t>
            </a:r>
            <a:r>
              <a:rPr lang="en-US" altLang="ko-KR" sz="1400" b="1" dirty="0"/>
              <a:t>” command is used for creating any resource (not only pods) from a YAML or JSON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6DA6597-461F-C504-7FF3-3978438D56AB}"/>
              </a:ext>
            </a:extLst>
          </p:cNvPr>
          <p:cNvGrpSpPr/>
          <p:nvPr/>
        </p:nvGrpSpPr>
        <p:grpSpPr>
          <a:xfrm>
            <a:off x="1428093" y="1596837"/>
            <a:ext cx="9335814" cy="2208304"/>
            <a:chOff x="1428093" y="1596837"/>
            <a:chExt cx="9335814" cy="2208304"/>
          </a:xfrm>
        </p:grpSpPr>
        <p:sp>
          <p:nvSpPr>
            <p:cNvPr id="8" name="TextBox 7">
              <a:extLst>
                <a:ext uri="{FF2B5EF4-FFF2-40B4-BE49-F238E27FC236}">
                  <a16:creationId xmlns:a16="http://schemas.microsoft.com/office/drawing/2014/main" id="{29958711-C7AB-E31F-2E50-F106CEF145F4}"/>
                </a:ext>
              </a:extLst>
            </p:cNvPr>
            <p:cNvSpPr txBox="1"/>
            <p:nvPr/>
          </p:nvSpPr>
          <p:spPr>
            <a:xfrm>
              <a:off x="3047343" y="1596837"/>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kubia-manual.yaml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36589958-AD27-47EB-5FA4-2C38070A94E4}"/>
                </a:ext>
              </a:extLst>
            </p:cNvPr>
            <p:cNvSpPr/>
            <p:nvPr/>
          </p:nvSpPr>
          <p:spPr>
            <a:xfrm>
              <a:off x="5898931" y="1843058"/>
              <a:ext cx="394138" cy="30742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D31D54A-12E8-FC9D-142F-7BA3BA709D6A}"/>
                </a:ext>
              </a:extLst>
            </p:cNvPr>
            <p:cNvPicPr>
              <a:picLocks noChangeAspect="1"/>
            </p:cNvPicPr>
            <p:nvPr/>
          </p:nvPicPr>
          <p:blipFill>
            <a:blip r:embed="rId2"/>
            <a:stretch>
              <a:fillRect/>
            </a:stretch>
          </p:blipFill>
          <p:spPr>
            <a:xfrm>
              <a:off x="1428093" y="2163594"/>
              <a:ext cx="9335814" cy="1641547"/>
            </a:xfrm>
            <a:prstGeom prst="rect">
              <a:avLst/>
            </a:prstGeom>
          </p:spPr>
        </p:pic>
      </p:grpSp>
    </p:spTree>
    <p:extLst>
      <p:ext uri="{BB962C8B-B14F-4D97-AF65-F5344CB8AC3E}">
        <p14:creationId xmlns:p14="http://schemas.microsoft.com/office/powerpoint/2010/main" val="682640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Descriptors(8/14)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the Whole Definition of a Running Pod :</a:t>
            </a:r>
          </a:p>
          <a:p>
            <a:pPr lvl="1">
              <a:buFont typeface="Wingdings" panose="05000000000000000000" pitchFamily="2" charset="2"/>
              <a:buChar char="§"/>
            </a:pPr>
            <a:r>
              <a:rPr lang="en-US" altLang="ko-KR" sz="1400" dirty="0"/>
              <a:t>After creating the pod, </a:t>
            </a:r>
            <a:r>
              <a:rPr lang="en-US" altLang="ko-KR" sz="1400" b="1" dirty="0"/>
              <a:t>you can ask Kubernetes for the full YAML of the pod</a:t>
            </a:r>
            <a:r>
              <a:rPr lang="en-US" altLang="ko-KR" sz="1400" dirty="0"/>
              <a:t>. </a:t>
            </a:r>
            <a:r>
              <a:rPr lang="en-US" altLang="ko-KR" sz="1400" b="1" dirty="0"/>
              <a:t>To see the whole information about the running pod including the full descriptor</a:t>
            </a:r>
            <a:r>
              <a:rPr lang="en-US" altLang="ko-KR" sz="1400" dirty="0"/>
              <a:t>, you can use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3B445EF1-B130-4A10-143E-08F5C7337CE8}"/>
              </a:ext>
            </a:extLst>
          </p:cNvPr>
          <p:cNvGrpSpPr/>
          <p:nvPr/>
        </p:nvGrpSpPr>
        <p:grpSpPr>
          <a:xfrm>
            <a:off x="992899" y="1745507"/>
            <a:ext cx="10206202" cy="4610843"/>
            <a:chOff x="992899" y="1745507"/>
            <a:chExt cx="10206202" cy="4610843"/>
          </a:xfrm>
        </p:grpSpPr>
        <p:grpSp>
          <p:nvGrpSpPr>
            <p:cNvPr id="17" name="그룹 16">
              <a:extLst>
                <a:ext uri="{FF2B5EF4-FFF2-40B4-BE49-F238E27FC236}">
                  <a16:creationId xmlns:a16="http://schemas.microsoft.com/office/drawing/2014/main" id="{48984AD0-5C93-E166-EF75-D7E74BBBF8B2}"/>
                </a:ext>
              </a:extLst>
            </p:cNvPr>
            <p:cNvGrpSpPr/>
            <p:nvPr/>
          </p:nvGrpSpPr>
          <p:grpSpPr>
            <a:xfrm>
              <a:off x="992899" y="1745507"/>
              <a:ext cx="10206202" cy="4610843"/>
              <a:chOff x="992899" y="1745507"/>
              <a:chExt cx="10206202" cy="4610843"/>
            </a:xfrm>
          </p:grpSpPr>
          <p:grpSp>
            <p:nvGrpSpPr>
              <p:cNvPr id="15" name="그룹 14">
                <a:extLst>
                  <a:ext uri="{FF2B5EF4-FFF2-40B4-BE49-F238E27FC236}">
                    <a16:creationId xmlns:a16="http://schemas.microsoft.com/office/drawing/2014/main" id="{897D2B17-5E6C-C186-B06A-61966F655097}"/>
                  </a:ext>
                </a:extLst>
              </p:cNvPr>
              <p:cNvGrpSpPr/>
              <p:nvPr/>
            </p:nvGrpSpPr>
            <p:grpSpPr>
              <a:xfrm>
                <a:off x="992899" y="1745507"/>
                <a:ext cx="10206202" cy="4610843"/>
                <a:chOff x="992899" y="1698211"/>
                <a:chExt cx="10206202" cy="4610843"/>
              </a:xfrm>
            </p:grpSpPr>
            <p:sp>
              <p:nvSpPr>
                <p:cNvPr id="8" name="TextBox 7">
                  <a:extLst>
                    <a:ext uri="{FF2B5EF4-FFF2-40B4-BE49-F238E27FC236}">
                      <a16:creationId xmlns:a16="http://schemas.microsoft.com/office/drawing/2014/main" id="{7BCCCE61-658F-F0D2-2F4B-5BD00564E9B3}"/>
                    </a:ext>
                  </a:extLst>
                </p:cNvPr>
                <p:cNvSpPr txBox="1"/>
                <p:nvPr/>
              </p:nvSpPr>
              <p:spPr>
                <a:xfrm>
                  <a:off x="3047343" y="1698211"/>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 </a:t>
                  </a:r>
                  <a:r>
                    <a:rPr lang="en-US" altLang="ko-KR" sz="1000" b="1" dirty="0" err="1"/>
                    <a:t>kubia</a:t>
                  </a:r>
                  <a:r>
                    <a:rPr lang="en-US" altLang="ko-KR" sz="1000" b="1" dirty="0"/>
                    <a:t>-manual </a:t>
                  </a:r>
                  <a:r>
                    <a:rPr lang="en-US" altLang="ko-KR" sz="1000" b="1" dirty="0">
                      <a:solidFill>
                        <a:srgbClr val="FF0000"/>
                      </a:solidFill>
                    </a:rPr>
                    <a:t>-o </a:t>
                  </a:r>
                  <a:r>
                    <a:rPr lang="en-US" altLang="ko-KR" sz="1000" b="1" dirty="0" err="1">
                      <a:solidFill>
                        <a:srgbClr val="FF0000"/>
                      </a:solidFill>
                    </a:rPr>
                    <a:t>yaml</a:t>
                  </a:r>
                  <a:r>
                    <a:rPr lang="en-US" altLang="ko-KR" sz="1000" b="1" dirty="0">
                      <a:solidFill>
                        <a:srgbClr val="FF0000"/>
                      </a:solidFill>
                    </a:rPr>
                    <a:t> </a:t>
                  </a:r>
                </a:p>
                <a:p>
                  <a:r>
                    <a:rPr lang="en-US" altLang="ko-KR" sz="1000" b="1" dirty="0"/>
                    <a:t>or </a:t>
                  </a:r>
                </a:p>
                <a:p>
                  <a:r>
                    <a:rPr lang="en-US" altLang="ko-KR" sz="1000" b="1" dirty="0"/>
                    <a:t>$ </a:t>
                  </a:r>
                  <a:r>
                    <a:rPr lang="en-US" altLang="ko-KR" sz="1000" b="1" dirty="0" err="1"/>
                    <a:t>kubectl</a:t>
                  </a:r>
                  <a:r>
                    <a:rPr lang="en-US" altLang="ko-KR" sz="1000" b="1" dirty="0"/>
                    <a:t> get pod </a:t>
                  </a:r>
                  <a:r>
                    <a:rPr lang="en-US" altLang="ko-KR" sz="1000" b="1" dirty="0" err="1"/>
                    <a:t>kubia</a:t>
                  </a:r>
                  <a:r>
                    <a:rPr lang="en-US" altLang="ko-KR" sz="1000" b="1" dirty="0"/>
                    <a:t>-manual </a:t>
                  </a:r>
                  <a:r>
                    <a:rPr lang="en-US" altLang="ko-KR" sz="1000" b="1" dirty="0">
                      <a:solidFill>
                        <a:srgbClr val="FF0000"/>
                      </a:solidFill>
                    </a:rPr>
                    <a:t>-o </a:t>
                  </a:r>
                  <a:r>
                    <a:rPr lang="en-US" altLang="ko-KR" sz="1000" b="1" dirty="0" err="1">
                      <a:solidFill>
                        <a:srgbClr val="FF0000"/>
                      </a:solidFill>
                    </a:rPr>
                    <a:t>json</a:t>
                  </a:r>
                  <a:endParaRPr lang="en-US" altLang="ko-KR" sz="1000" b="1" dirty="0">
                    <a:solidFill>
                      <a:srgbClr val="FF0000"/>
                    </a:solidFill>
                  </a:endParaRPr>
                </a:p>
              </p:txBody>
            </p:sp>
            <p:grpSp>
              <p:nvGrpSpPr>
                <p:cNvPr id="13" name="그룹 12">
                  <a:extLst>
                    <a:ext uri="{FF2B5EF4-FFF2-40B4-BE49-F238E27FC236}">
                      <a16:creationId xmlns:a16="http://schemas.microsoft.com/office/drawing/2014/main" id="{6A97DFAF-D65C-57CF-B0B9-80D15DE9725A}"/>
                    </a:ext>
                  </a:extLst>
                </p:cNvPr>
                <p:cNvGrpSpPr/>
                <p:nvPr/>
              </p:nvGrpSpPr>
              <p:grpSpPr>
                <a:xfrm>
                  <a:off x="992899" y="2532420"/>
                  <a:ext cx="10206202" cy="3776634"/>
                  <a:chOff x="451945" y="2558284"/>
                  <a:chExt cx="12801600" cy="4970253"/>
                </a:xfrm>
              </p:grpSpPr>
              <p:pic>
                <p:nvPicPr>
                  <p:cNvPr id="10" name="그림 9">
                    <a:extLst>
                      <a:ext uri="{FF2B5EF4-FFF2-40B4-BE49-F238E27FC236}">
                        <a16:creationId xmlns:a16="http://schemas.microsoft.com/office/drawing/2014/main" id="{E6AB9BF1-1065-4452-334F-DDB8290D986C}"/>
                      </a:ext>
                    </a:extLst>
                  </p:cNvPr>
                  <p:cNvPicPr>
                    <a:picLocks noChangeAspect="1"/>
                  </p:cNvPicPr>
                  <p:nvPr/>
                </p:nvPicPr>
                <p:blipFill>
                  <a:blip r:embed="rId2"/>
                  <a:stretch>
                    <a:fillRect/>
                  </a:stretch>
                </p:blipFill>
                <p:spPr>
                  <a:xfrm>
                    <a:off x="451945" y="2558284"/>
                    <a:ext cx="11430000" cy="3529452"/>
                  </a:xfrm>
                  <a:prstGeom prst="rect">
                    <a:avLst/>
                  </a:prstGeom>
                  <a:ln>
                    <a:solidFill>
                      <a:schemeClr val="bg1">
                        <a:lumMod val="50000"/>
                      </a:schemeClr>
                    </a:solidFill>
                  </a:ln>
                </p:spPr>
              </p:pic>
              <p:pic>
                <p:nvPicPr>
                  <p:cNvPr id="12" name="그림 11">
                    <a:extLst>
                      <a:ext uri="{FF2B5EF4-FFF2-40B4-BE49-F238E27FC236}">
                        <a16:creationId xmlns:a16="http://schemas.microsoft.com/office/drawing/2014/main" id="{B6F88C6E-F42F-BD7A-1A90-752759AE3CC5}"/>
                      </a:ext>
                    </a:extLst>
                  </p:cNvPr>
                  <p:cNvPicPr>
                    <a:picLocks noChangeAspect="1"/>
                  </p:cNvPicPr>
                  <p:nvPr/>
                </p:nvPicPr>
                <p:blipFill>
                  <a:blip r:embed="rId3"/>
                  <a:stretch>
                    <a:fillRect/>
                  </a:stretch>
                </p:blipFill>
                <p:spPr>
                  <a:xfrm>
                    <a:off x="1823545" y="3999085"/>
                    <a:ext cx="11430000" cy="3529452"/>
                  </a:xfrm>
                  <a:prstGeom prst="rect">
                    <a:avLst/>
                  </a:prstGeom>
                  <a:ln>
                    <a:solidFill>
                      <a:schemeClr val="bg1">
                        <a:lumMod val="50000"/>
                      </a:schemeClr>
                    </a:solidFill>
                  </a:ln>
                </p:spPr>
              </p:pic>
            </p:grpSp>
            <p:sp>
              <p:nvSpPr>
                <p:cNvPr id="14" name="화살표: 아래쪽 13">
                  <a:extLst>
                    <a:ext uri="{FF2B5EF4-FFF2-40B4-BE49-F238E27FC236}">
                      <a16:creationId xmlns:a16="http://schemas.microsoft.com/office/drawing/2014/main" id="{5B68D733-D560-664D-DFB3-93A1D3703BA6}"/>
                    </a:ext>
                  </a:extLst>
                </p:cNvPr>
                <p:cNvSpPr/>
                <p:nvPr/>
              </p:nvSpPr>
              <p:spPr>
                <a:xfrm>
                  <a:off x="5922579" y="2261533"/>
                  <a:ext cx="346841" cy="2551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BB212CF7-3BE4-3DA8-A876-DBB08FCB1558}"/>
                  </a:ext>
                </a:extLst>
              </p:cNvPr>
              <p:cNvSpPr/>
              <p:nvPr/>
            </p:nvSpPr>
            <p:spPr>
              <a:xfrm>
                <a:off x="4832131" y="2948151"/>
                <a:ext cx="2404241" cy="5257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7">
              <a:extLst>
                <a:ext uri="{FF2B5EF4-FFF2-40B4-BE49-F238E27FC236}">
                  <a16:creationId xmlns:a16="http://schemas.microsoft.com/office/drawing/2014/main" id="{0015C974-8BD6-5E31-801F-AEFE003DF153}"/>
                </a:ext>
              </a:extLst>
            </p:cNvPr>
            <p:cNvSpPr/>
            <p:nvPr/>
          </p:nvSpPr>
          <p:spPr>
            <a:xfrm>
              <a:off x="5938345" y="4073283"/>
              <a:ext cx="2362200" cy="1991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91779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Descriptors(9/14)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Your Newly Created Pod in the List of Pods :</a:t>
            </a:r>
          </a:p>
          <a:p>
            <a:pPr lvl="1">
              <a:buFont typeface="Wingdings" panose="05000000000000000000" pitchFamily="2" charset="2"/>
              <a:buChar char="§"/>
            </a:pPr>
            <a:r>
              <a:rPr lang="en-US" altLang="ko-KR" sz="1400" dirty="0"/>
              <a:t>Your pod has been created, but how do you know if it’s running? Let’s </a:t>
            </a:r>
            <a:r>
              <a:rPr lang="en-US" altLang="ko-KR" sz="1400" b="1" dirty="0"/>
              <a:t>list pods to see their statuses </a:t>
            </a:r>
            <a:r>
              <a:rPr lang="en-US" altLang="ko-KR" sz="1400" dirty="0"/>
              <a:t>with the following command</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There’s your “</a:t>
            </a:r>
            <a:r>
              <a:rPr lang="en-US" altLang="ko-KR" sz="1400" b="1" dirty="0" err="1"/>
              <a:t>kubia</a:t>
            </a:r>
            <a:r>
              <a:rPr lang="en-US" altLang="ko-KR" sz="1400" b="1" dirty="0"/>
              <a:t>-manual</a:t>
            </a:r>
            <a:r>
              <a:rPr lang="en-US" altLang="ko-KR" sz="1400" dirty="0"/>
              <a:t>” pod. Its status shows that it’s </a:t>
            </a:r>
            <a:r>
              <a:rPr lang="en-US" altLang="ko-KR" sz="1400" b="1" dirty="0"/>
              <a:t>running</a:t>
            </a:r>
            <a:r>
              <a:rPr lang="en-US" altLang="ko-KR" sz="1400" dirty="0"/>
              <a:t>. If you’re like me, you’ll probably want to </a:t>
            </a:r>
            <a:r>
              <a:rPr lang="en-US" altLang="ko-KR" sz="1400" b="1" dirty="0"/>
              <a:t>confirm that’s true by talking to the pod</a:t>
            </a:r>
            <a:r>
              <a:rPr lang="en-US" altLang="ko-KR" sz="1400" dirty="0"/>
              <a:t>. </a:t>
            </a:r>
            <a:r>
              <a:rPr lang="en-US" altLang="ko-KR" sz="1400" b="1" dirty="0"/>
              <a:t>First, you’ll look at the app’s log to check for any errors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9DD6046-3B3A-5112-C83C-8E746DC06EF9}"/>
              </a:ext>
            </a:extLst>
          </p:cNvPr>
          <p:cNvGrpSpPr/>
          <p:nvPr/>
        </p:nvGrpSpPr>
        <p:grpSpPr>
          <a:xfrm>
            <a:off x="1487214" y="1786024"/>
            <a:ext cx="9217572" cy="2023516"/>
            <a:chOff x="1487213" y="1683548"/>
            <a:chExt cx="9217572" cy="2023516"/>
          </a:xfrm>
        </p:grpSpPr>
        <p:sp>
          <p:nvSpPr>
            <p:cNvPr id="8" name="TextBox 7">
              <a:extLst>
                <a:ext uri="{FF2B5EF4-FFF2-40B4-BE49-F238E27FC236}">
                  <a16:creationId xmlns:a16="http://schemas.microsoft.com/office/drawing/2014/main" id="{CECC114A-B2BE-AD24-D691-493E4D744999}"/>
                </a:ext>
              </a:extLst>
            </p:cNvPr>
            <p:cNvSpPr txBox="1"/>
            <p:nvPr/>
          </p:nvSpPr>
          <p:spPr>
            <a:xfrm>
              <a:off x="3047343" y="168354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DEDB3986-0190-D291-B35C-1DCE3E5C7930}"/>
                </a:ext>
              </a:extLst>
            </p:cNvPr>
            <p:cNvSpPr/>
            <p:nvPr/>
          </p:nvSpPr>
          <p:spPr>
            <a:xfrm>
              <a:off x="5891048" y="1929768"/>
              <a:ext cx="409903" cy="31681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B0ABB2FA-212F-C071-038F-3066D2D8E124}"/>
                </a:ext>
              </a:extLst>
            </p:cNvPr>
            <p:cNvPicPr>
              <a:picLocks noChangeAspect="1"/>
            </p:cNvPicPr>
            <p:nvPr/>
          </p:nvPicPr>
          <p:blipFill>
            <a:blip r:embed="rId2"/>
            <a:stretch>
              <a:fillRect/>
            </a:stretch>
          </p:blipFill>
          <p:spPr>
            <a:xfrm>
              <a:off x="1487213" y="2247615"/>
              <a:ext cx="9217572" cy="1459449"/>
            </a:xfrm>
            <a:prstGeom prst="rect">
              <a:avLst/>
            </a:prstGeom>
          </p:spPr>
        </p:pic>
      </p:grpSp>
    </p:spTree>
    <p:extLst>
      <p:ext uri="{BB962C8B-B14F-4D97-AF65-F5344CB8AC3E}">
        <p14:creationId xmlns:p14="http://schemas.microsoft.com/office/powerpoint/2010/main" val="314146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Descriptors(10/14)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Viewing Application Logs :</a:t>
            </a:r>
          </a:p>
          <a:p>
            <a:pPr lvl="1">
              <a:buFont typeface="Wingdings" panose="05000000000000000000" pitchFamily="2" charset="2"/>
              <a:buChar char="§"/>
            </a:pPr>
            <a:r>
              <a:rPr lang="en-US" altLang="ko-KR" sz="1400" b="1" dirty="0"/>
              <a:t>Our little “Node.js” application logs to the process’s standard output</a:t>
            </a:r>
            <a:r>
              <a:rPr lang="en-US" altLang="ko-KR" sz="1400" dirty="0"/>
              <a:t>. </a:t>
            </a:r>
            <a:r>
              <a:rPr lang="en-US" altLang="ko-KR" sz="1400" b="1" dirty="0"/>
              <a:t>Containerized applications usually log to the standard output and standard error stream instead of writing their logs to files</a:t>
            </a:r>
            <a:r>
              <a:rPr lang="en-US" altLang="ko-KR" sz="1400" dirty="0"/>
              <a:t>. This is to allow users to view logs of different applications in a simple, standard way.</a:t>
            </a:r>
          </a:p>
          <a:p>
            <a:pPr lvl="1">
              <a:buFont typeface="Wingdings" panose="05000000000000000000" pitchFamily="2" charset="2"/>
              <a:buChar char="§"/>
            </a:pPr>
            <a:r>
              <a:rPr lang="en-US" altLang="ko-KR" sz="1400" dirty="0"/>
              <a:t>The container runtime (Docker in our case) </a:t>
            </a:r>
            <a:r>
              <a:rPr lang="en-US" altLang="ko-KR" sz="1400" b="1" dirty="0"/>
              <a:t>redirects those streams to files and allows us to get the container’s log </a:t>
            </a:r>
            <a:r>
              <a:rPr lang="en-US" altLang="ko-KR" sz="1400" dirty="0"/>
              <a:t>by running the following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could use “</a:t>
            </a:r>
            <a:r>
              <a:rPr lang="en-US" altLang="ko-KR" sz="1400" b="1" dirty="0" err="1"/>
              <a:t>ssh</a:t>
            </a:r>
            <a:r>
              <a:rPr lang="en-US" altLang="ko-KR" sz="1400" dirty="0"/>
              <a:t>” to log into the node where your pod is running and retrieve its logs with “</a:t>
            </a:r>
            <a:r>
              <a:rPr lang="en-US" altLang="ko-KR" sz="1400" b="1" dirty="0">
                <a:solidFill>
                  <a:srgbClr val="FF0000"/>
                </a:solidFill>
              </a:rPr>
              <a:t>docker logs</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74D64B0-8E83-B85D-5499-32458D08AC0E}"/>
              </a:ext>
            </a:extLst>
          </p:cNvPr>
          <p:cNvSpPr txBox="1"/>
          <p:nvPr/>
        </p:nvSpPr>
        <p:spPr>
          <a:xfrm>
            <a:off x="3047343" y="2290520"/>
            <a:ext cx="6097314" cy="246221"/>
          </a:xfrm>
          <a:prstGeom prst="rect">
            <a:avLst/>
          </a:prstGeom>
          <a:noFill/>
          <a:ln>
            <a:solidFill>
              <a:schemeClr val="bg1">
                <a:lumMod val="50000"/>
              </a:schemeClr>
            </a:solidFill>
          </a:ln>
        </p:spPr>
        <p:txBody>
          <a:bodyPr wrap="square">
            <a:spAutoFit/>
          </a:bodyPr>
          <a:lstStyle/>
          <a:p>
            <a:r>
              <a:rPr lang="en-US" altLang="ko-KR" sz="1000" b="1" dirty="0"/>
              <a:t>$ docker logs </a:t>
            </a:r>
            <a:r>
              <a:rPr lang="en-US" altLang="ko-KR" sz="1000" b="1" dirty="0">
                <a:solidFill>
                  <a:srgbClr val="FF0000"/>
                </a:solidFill>
              </a:rPr>
              <a:t>&lt;container id&gt;</a:t>
            </a:r>
          </a:p>
        </p:txBody>
      </p:sp>
      <p:pic>
        <p:nvPicPr>
          <p:cNvPr id="9" name="그림 8">
            <a:extLst>
              <a:ext uri="{FF2B5EF4-FFF2-40B4-BE49-F238E27FC236}">
                <a16:creationId xmlns:a16="http://schemas.microsoft.com/office/drawing/2014/main" id="{D565AF4A-ED7F-04CB-E482-3006446BB56D}"/>
              </a:ext>
            </a:extLst>
          </p:cNvPr>
          <p:cNvPicPr>
            <a:picLocks noChangeAspect="1"/>
          </p:cNvPicPr>
          <p:nvPr/>
        </p:nvPicPr>
        <p:blipFill>
          <a:blip r:embed="rId2"/>
          <a:stretch>
            <a:fillRect/>
          </a:stretch>
        </p:blipFill>
        <p:spPr>
          <a:xfrm>
            <a:off x="3714750" y="3429000"/>
            <a:ext cx="4762500" cy="2381250"/>
          </a:xfrm>
          <a:prstGeom prst="rect">
            <a:avLst/>
          </a:prstGeom>
        </p:spPr>
      </p:pic>
    </p:spTree>
    <p:extLst>
      <p:ext uri="{BB962C8B-B14F-4D97-AF65-F5344CB8AC3E}">
        <p14:creationId xmlns:p14="http://schemas.microsoft.com/office/powerpoint/2010/main" val="3613764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a Pod’s Log with </a:t>
            </a:r>
            <a:r>
              <a:rPr lang="en-US" altLang="ko-KR" sz="1800" b="1" dirty="0" err="1"/>
              <a:t>kubectl</a:t>
            </a:r>
            <a:r>
              <a:rPr lang="en-US" altLang="ko-KR" sz="1800" b="1" dirty="0"/>
              <a:t> logs :</a:t>
            </a:r>
          </a:p>
          <a:p>
            <a:pPr lvl="1">
              <a:buFont typeface="Wingdings" panose="05000000000000000000" pitchFamily="2" charset="2"/>
              <a:buChar char="§"/>
            </a:pPr>
            <a:r>
              <a:rPr lang="en-US" altLang="ko-KR" sz="1400" b="1" dirty="0"/>
              <a:t>To see your pod’s log (more precisely, the container’s log) </a:t>
            </a:r>
            <a:r>
              <a:rPr lang="en-US" altLang="ko-KR" sz="1400" dirty="0"/>
              <a:t>you run the following command on your local machine (no need to “</a:t>
            </a:r>
            <a:r>
              <a:rPr lang="en-US" altLang="ko-KR" sz="1400" b="1" dirty="0" err="1"/>
              <a:t>ssh</a:t>
            </a:r>
            <a:r>
              <a:rPr lang="en-US" altLang="ko-KR" sz="1400" dirty="0"/>
              <a:t>” anywhere)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haven’t sent any web requests to your Node.js app, so the log only shows a single log statement about the server starting up</a:t>
            </a:r>
            <a:r>
              <a:rPr lang="en-US" altLang="ko-KR" sz="1400" dirty="0"/>
              <a:t>. As you can see, retrieving logs of an application running in Kubernetes is incredibly simple if the pod only contains a single container.</a:t>
            </a:r>
          </a:p>
          <a:p>
            <a:pPr lvl="1">
              <a:buFont typeface="Wingdings" panose="05000000000000000000" pitchFamily="2" charset="2"/>
              <a:buChar char="§"/>
            </a:pPr>
            <a:r>
              <a:rPr lang="en-US" altLang="ko-KR" sz="1400" b="1" dirty="0"/>
              <a:t>NOTE : Container logs are automatically rotated daily and every time the log file reaches 10MB in size</a:t>
            </a:r>
            <a:r>
              <a:rPr lang="en-US" altLang="ko-KR" sz="1400" dirty="0"/>
              <a:t>. </a:t>
            </a:r>
            <a:r>
              <a:rPr lang="en-US" altLang="ko-KR" sz="1400" b="1" dirty="0"/>
              <a:t>The “</a:t>
            </a:r>
            <a:r>
              <a:rPr lang="en-US" altLang="ko-KR" sz="1400" b="1" dirty="0" err="1"/>
              <a:t>kubectl</a:t>
            </a:r>
            <a:r>
              <a:rPr lang="en-US" altLang="ko-KR" sz="1400" b="1" dirty="0"/>
              <a:t> logs” command only shows the log entries from the last rotation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B82A821-0ADC-2DCD-DC96-172F487CF482}"/>
              </a:ext>
            </a:extLst>
          </p:cNvPr>
          <p:cNvGrpSpPr/>
          <p:nvPr/>
        </p:nvGrpSpPr>
        <p:grpSpPr>
          <a:xfrm>
            <a:off x="1415612" y="1746609"/>
            <a:ext cx="9360775" cy="2131805"/>
            <a:chOff x="1415612" y="1659899"/>
            <a:chExt cx="9360775" cy="2131805"/>
          </a:xfrm>
        </p:grpSpPr>
        <p:sp>
          <p:nvSpPr>
            <p:cNvPr id="8" name="TextBox 7">
              <a:extLst>
                <a:ext uri="{FF2B5EF4-FFF2-40B4-BE49-F238E27FC236}">
                  <a16:creationId xmlns:a16="http://schemas.microsoft.com/office/drawing/2014/main" id="{B157958E-D2B9-6932-E7ED-85CD3CA804F6}"/>
                </a:ext>
              </a:extLst>
            </p:cNvPr>
            <p:cNvSpPr txBox="1"/>
            <p:nvPr/>
          </p:nvSpPr>
          <p:spPr>
            <a:xfrm>
              <a:off x="3047343" y="1659899"/>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logs </a:t>
              </a:r>
              <a:r>
                <a:rPr lang="en-US" altLang="ko-KR" sz="1000" b="1" dirty="0" err="1">
                  <a:solidFill>
                    <a:srgbClr val="FF0000"/>
                  </a:solidFill>
                </a:rPr>
                <a:t>kubia</a:t>
              </a:r>
              <a:r>
                <a:rPr lang="en-US" altLang="ko-KR" sz="1000" b="1" dirty="0">
                  <a:solidFill>
                    <a:srgbClr val="FF0000"/>
                  </a:solidFill>
                </a:rPr>
                <a:t>-manual</a:t>
              </a:r>
            </a:p>
          </p:txBody>
        </p:sp>
        <p:sp>
          <p:nvSpPr>
            <p:cNvPr id="9" name="화살표: 아래쪽 8">
              <a:extLst>
                <a:ext uri="{FF2B5EF4-FFF2-40B4-BE49-F238E27FC236}">
                  <a16:creationId xmlns:a16="http://schemas.microsoft.com/office/drawing/2014/main" id="{AD88B6B3-2872-2368-C7A6-9993B89C2813}"/>
                </a:ext>
              </a:extLst>
            </p:cNvPr>
            <p:cNvSpPr/>
            <p:nvPr/>
          </p:nvSpPr>
          <p:spPr>
            <a:xfrm>
              <a:off x="5875283" y="1916511"/>
              <a:ext cx="441434" cy="2916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CB5815A-73FC-085A-1D9B-1D67EBE91DB7}"/>
                </a:ext>
              </a:extLst>
            </p:cNvPr>
            <p:cNvPicPr>
              <a:picLocks noChangeAspect="1"/>
            </p:cNvPicPr>
            <p:nvPr/>
          </p:nvPicPr>
          <p:blipFill>
            <a:blip r:embed="rId2"/>
            <a:stretch>
              <a:fillRect/>
            </a:stretch>
          </p:blipFill>
          <p:spPr>
            <a:xfrm>
              <a:off x="1415612" y="2208173"/>
              <a:ext cx="9360775" cy="1583531"/>
            </a:xfrm>
            <a:prstGeom prst="rect">
              <a:avLst/>
            </a:prstGeom>
          </p:spPr>
        </p:pic>
      </p:grpSp>
    </p:spTree>
    <p:extLst>
      <p:ext uri="{BB962C8B-B14F-4D97-AF65-F5344CB8AC3E}">
        <p14:creationId xmlns:p14="http://schemas.microsoft.com/office/powerpoint/2010/main" val="3937559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the Container Name When Getting Logs of a Multi-Container Pod :</a:t>
            </a:r>
          </a:p>
          <a:p>
            <a:pPr lvl="1">
              <a:buFont typeface="Wingdings" panose="05000000000000000000" pitchFamily="2" charset="2"/>
              <a:buChar char="§"/>
            </a:pPr>
            <a:r>
              <a:rPr lang="en-US" altLang="ko-KR" sz="1400" b="1" dirty="0"/>
              <a:t>If your pod includes multiple containers, you have to explicitly specify the container name by including the “-c &lt;container name&gt;” option when running “</a:t>
            </a:r>
            <a:r>
              <a:rPr lang="en-US" altLang="ko-KR" sz="1400" b="1" dirty="0" err="1"/>
              <a:t>kubectl</a:t>
            </a:r>
            <a:r>
              <a:rPr lang="en-US" altLang="ko-KR" sz="1400" b="1" dirty="0"/>
              <a:t> logs”</a:t>
            </a:r>
            <a:r>
              <a:rPr lang="en-US" altLang="ko-KR" sz="1400" dirty="0"/>
              <a:t>. In your “</a:t>
            </a:r>
            <a:r>
              <a:rPr lang="en-US" altLang="ko-KR" sz="1400" b="1" dirty="0" err="1"/>
              <a:t>kubia</a:t>
            </a:r>
            <a:r>
              <a:rPr lang="en-US" altLang="ko-KR" sz="1400" b="1" dirty="0"/>
              <a:t>-manual</a:t>
            </a:r>
            <a:r>
              <a:rPr lang="en-US" altLang="ko-KR" sz="1400" dirty="0"/>
              <a:t>” pod, you set the container’s name to “</a:t>
            </a:r>
            <a:r>
              <a:rPr lang="en-US" altLang="ko-KR" sz="1400" b="1" dirty="0" err="1"/>
              <a:t>kubia</a:t>
            </a:r>
            <a:r>
              <a:rPr lang="en-US" altLang="ko-KR" sz="1400" dirty="0"/>
              <a:t>”, so if additional containers exist in the pod, you’d have to get its logs like the following screenshot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You can only retrieve container logs of pods that are still in existence</a:t>
            </a:r>
            <a:r>
              <a:rPr lang="en-US" altLang="ko-KR" sz="1400" dirty="0"/>
              <a:t>. </a:t>
            </a:r>
            <a:r>
              <a:rPr lang="en-US" altLang="ko-KR" sz="1400" b="1" dirty="0"/>
              <a:t>When a pod is deleted, its logs are also deleted</a:t>
            </a:r>
            <a:r>
              <a:rPr lang="en-US" altLang="ko-KR" sz="1400" dirty="0"/>
              <a:t>. </a:t>
            </a:r>
            <a:r>
              <a:rPr lang="en-US" altLang="ko-KR" sz="1400" b="1" dirty="0"/>
              <a:t>To make a pod’s logs available even after the pod is deleted, you need to set up centralized, cluster-wide logging, which stores all the logs into a central store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0FF5B61F-B324-A46C-38A6-7F10E16C0E39}"/>
              </a:ext>
            </a:extLst>
          </p:cNvPr>
          <p:cNvGrpSpPr/>
          <p:nvPr/>
        </p:nvGrpSpPr>
        <p:grpSpPr>
          <a:xfrm>
            <a:off x="1321019" y="2109217"/>
            <a:ext cx="9549962" cy="2004519"/>
            <a:chOff x="1321019" y="1920030"/>
            <a:chExt cx="9549962" cy="2004519"/>
          </a:xfrm>
        </p:grpSpPr>
        <p:sp>
          <p:nvSpPr>
            <p:cNvPr id="8" name="TextBox 7">
              <a:extLst>
                <a:ext uri="{FF2B5EF4-FFF2-40B4-BE49-F238E27FC236}">
                  <a16:creationId xmlns:a16="http://schemas.microsoft.com/office/drawing/2014/main" id="{485FC9E8-9792-20F8-9E52-8F57E234AF81}"/>
                </a:ext>
              </a:extLst>
            </p:cNvPr>
            <p:cNvSpPr txBox="1"/>
            <p:nvPr/>
          </p:nvSpPr>
          <p:spPr>
            <a:xfrm>
              <a:off x="3047343" y="1920030"/>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logs </a:t>
              </a:r>
              <a:r>
                <a:rPr lang="en-US" altLang="ko-KR" sz="1000" b="1" dirty="0" err="1">
                  <a:solidFill>
                    <a:srgbClr val="FF0000"/>
                  </a:solidFill>
                </a:rPr>
                <a:t>kubia</a:t>
              </a:r>
              <a:r>
                <a:rPr lang="en-US" altLang="ko-KR" sz="1000" b="1" dirty="0">
                  <a:solidFill>
                    <a:srgbClr val="FF0000"/>
                  </a:solidFill>
                </a:rPr>
                <a:t>-manual -c </a:t>
              </a:r>
              <a:r>
                <a:rPr lang="en-US" altLang="ko-KR" sz="1000" b="1" dirty="0" err="1">
                  <a:solidFill>
                    <a:srgbClr val="FF0000"/>
                  </a:solidFill>
                </a:rPr>
                <a:t>kubia</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ECEF5530-258B-C607-78B5-1E2013878267}"/>
                </a:ext>
              </a:extLst>
            </p:cNvPr>
            <p:cNvSpPr/>
            <p:nvPr/>
          </p:nvSpPr>
          <p:spPr>
            <a:xfrm>
              <a:off x="5898931" y="2166251"/>
              <a:ext cx="39413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F1D9DD5-1D64-1AFA-E558-B220B4C128CF}"/>
                </a:ext>
              </a:extLst>
            </p:cNvPr>
            <p:cNvPicPr>
              <a:picLocks noChangeAspect="1"/>
            </p:cNvPicPr>
            <p:nvPr/>
          </p:nvPicPr>
          <p:blipFill>
            <a:blip r:embed="rId2"/>
            <a:stretch>
              <a:fillRect/>
            </a:stretch>
          </p:blipFill>
          <p:spPr>
            <a:xfrm>
              <a:off x="1321019" y="2412472"/>
              <a:ext cx="9549962" cy="1512077"/>
            </a:xfrm>
            <a:prstGeom prst="rect">
              <a:avLst/>
            </a:prstGeom>
          </p:spPr>
        </p:pic>
      </p:grpSp>
    </p:spTree>
    <p:extLst>
      <p:ext uri="{BB962C8B-B14F-4D97-AF65-F5344CB8AC3E}">
        <p14:creationId xmlns:p14="http://schemas.microsoft.com/office/powerpoint/2010/main" val="1686457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Forwarding a Local Network Port to a Port in the Pod :</a:t>
            </a:r>
          </a:p>
          <a:p>
            <a:pPr lvl="1">
              <a:buFont typeface="Wingdings" panose="05000000000000000000" pitchFamily="2" charset="2"/>
              <a:buChar char="§"/>
            </a:pPr>
            <a:r>
              <a:rPr lang="en-US" altLang="ko-KR" sz="1400" b="1" dirty="0"/>
              <a:t>You can connect to a pod for testing and debugging purposes through </a:t>
            </a:r>
            <a:r>
              <a:rPr lang="en-US" altLang="ko-KR" sz="1400" dirty="0"/>
              <a:t>“</a:t>
            </a:r>
            <a:r>
              <a:rPr lang="en-US" altLang="ko-KR" sz="1400" b="1" dirty="0">
                <a:solidFill>
                  <a:srgbClr val="FF0000"/>
                </a:solidFill>
              </a:rPr>
              <a:t>port forwarding</a:t>
            </a:r>
            <a:r>
              <a:rPr lang="en-US" altLang="ko-KR" sz="1400" dirty="0"/>
              <a:t>”. </a:t>
            </a:r>
            <a:r>
              <a:rPr lang="en-US" altLang="ko-KR" sz="1400" b="1" dirty="0"/>
              <a:t>When you want to talk to a specific pod without going through a service (for debugging or other reasons), Kubernetes allows you to configure port forwarding to the pod</a:t>
            </a:r>
            <a:r>
              <a:rPr lang="en-US" altLang="ko-KR" sz="1400" dirty="0"/>
              <a:t>. This is done through the “</a:t>
            </a:r>
            <a:r>
              <a:rPr lang="en-US" altLang="ko-KR" sz="1400" b="1" dirty="0" err="1">
                <a:solidFill>
                  <a:srgbClr val="FF0000"/>
                </a:solidFill>
              </a:rPr>
              <a:t>kubectl</a:t>
            </a:r>
            <a:r>
              <a:rPr lang="en-US" altLang="ko-KR" sz="1400" b="1" dirty="0">
                <a:solidFill>
                  <a:srgbClr val="FF0000"/>
                </a:solidFill>
              </a:rPr>
              <a:t> port-forward</a:t>
            </a:r>
            <a:r>
              <a:rPr lang="en-US" altLang="ko-KR" sz="1400" dirty="0"/>
              <a:t>” command. </a:t>
            </a:r>
          </a:p>
          <a:p>
            <a:pPr lvl="1">
              <a:buFont typeface="Wingdings" panose="05000000000000000000" pitchFamily="2" charset="2"/>
              <a:buChar char="§"/>
            </a:pPr>
            <a:r>
              <a:rPr lang="en-US" altLang="ko-KR" sz="1400" b="1" dirty="0"/>
              <a:t>The following command will forward your machine’s local port “8888” to port “8080” of your “</a:t>
            </a:r>
            <a:r>
              <a:rPr lang="en-US" altLang="ko-KR" sz="1400" b="1" dirty="0" err="1"/>
              <a:t>kubia</a:t>
            </a:r>
            <a:r>
              <a:rPr lang="en-US" altLang="ko-KR" sz="1400" b="1" dirty="0"/>
              <a:t>-manual” pod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0607D0B8-CDE9-31DA-12AC-821E0E2558A4}"/>
              </a:ext>
            </a:extLst>
          </p:cNvPr>
          <p:cNvGrpSpPr/>
          <p:nvPr/>
        </p:nvGrpSpPr>
        <p:grpSpPr>
          <a:xfrm>
            <a:off x="1770992" y="2258036"/>
            <a:ext cx="8650015" cy="3872243"/>
            <a:chOff x="1770992" y="2171662"/>
            <a:chExt cx="8650015" cy="3872243"/>
          </a:xfrm>
        </p:grpSpPr>
        <p:grpSp>
          <p:nvGrpSpPr>
            <p:cNvPr id="15" name="그룹 14">
              <a:extLst>
                <a:ext uri="{FF2B5EF4-FFF2-40B4-BE49-F238E27FC236}">
                  <a16:creationId xmlns:a16="http://schemas.microsoft.com/office/drawing/2014/main" id="{77579351-4050-FD06-73A6-490788502CEA}"/>
                </a:ext>
              </a:extLst>
            </p:cNvPr>
            <p:cNvGrpSpPr/>
            <p:nvPr/>
          </p:nvGrpSpPr>
          <p:grpSpPr>
            <a:xfrm>
              <a:off x="1770992" y="2171662"/>
              <a:ext cx="8650015" cy="3872243"/>
              <a:chOff x="1770992" y="2274754"/>
              <a:chExt cx="8650015" cy="3872243"/>
            </a:xfrm>
          </p:grpSpPr>
          <p:sp>
            <p:nvSpPr>
              <p:cNvPr id="8" name="TextBox 7">
                <a:extLst>
                  <a:ext uri="{FF2B5EF4-FFF2-40B4-BE49-F238E27FC236}">
                    <a16:creationId xmlns:a16="http://schemas.microsoft.com/office/drawing/2014/main" id="{FB5934BC-8648-5710-EAA2-DA70926811C8}"/>
                  </a:ext>
                </a:extLst>
              </p:cNvPr>
              <p:cNvSpPr txBox="1"/>
              <p:nvPr/>
            </p:nvSpPr>
            <p:spPr>
              <a:xfrm>
                <a:off x="3047343" y="2274754"/>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kubia</a:t>
                </a:r>
                <a:r>
                  <a:rPr lang="en-US" altLang="ko-KR" sz="1000" b="1" dirty="0">
                    <a:solidFill>
                      <a:srgbClr val="FF0000"/>
                    </a:solidFill>
                  </a:rPr>
                  <a:t>-manual 8888:8080</a:t>
                </a:r>
              </a:p>
              <a:p>
                <a:r>
                  <a:rPr lang="en-US" altLang="ko-KR" sz="1000" b="1" dirty="0"/>
                  <a:t>$ curl localhost:8888</a:t>
                </a:r>
                <a:endParaRPr lang="ko-KR" altLang="en-US" sz="1000" b="1" dirty="0"/>
              </a:p>
            </p:txBody>
          </p:sp>
          <p:sp>
            <p:nvSpPr>
              <p:cNvPr id="9" name="화살표: 아래쪽 8">
                <a:extLst>
                  <a:ext uri="{FF2B5EF4-FFF2-40B4-BE49-F238E27FC236}">
                    <a16:creationId xmlns:a16="http://schemas.microsoft.com/office/drawing/2014/main" id="{4599E39A-4037-2EBF-C134-0CAADDB2E9B9}"/>
                  </a:ext>
                </a:extLst>
              </p:cNvPr>
              <p:cNvSpPr/>
              <p:nvPr/>
            </p:nvSpPr>
            <p:spPr>
              <a:xfrm>
                <a:off x="5902872" y="2675212"/>
                <a:ext cx="386255"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1644DFF7-3F06-31A2-C597-61B61EEF86E7}"/>
                  </a:ext>
                </a:extLst>
              </p:cNvPr>
              <p:cNvGrpSpPr/>
              <p:nvPr/>
            </p:nvGrpSpPr>
            <p:grpSpPr>
              <a:xfrm>
                <a:off x="1770992" y="2921433"/>
                <a:ext cx="8650015" cy="3225564"/>
                <a:chOff x="1770992" y="2921433"/>
                <a:chExt cx="8650015" cy="3225564"/>
              </a:xfrm>
            </p:grpSpPr>
            <p:pic>
              <p:nvPicPr>
                <p:cNvPr id="11" name="그림 10">
                  <a:extLst>
                    <a:ext uri="{FF2B5EF4-FFF2-40B4-BE49-F238E27FC236}">
                      <a16:creationId xmlns:a16="http://schemas.microsoft.com/office/drawing/2014/main" id="{FC525A50-9CB4-502C-6144-19159F921124}"/>
                    </a:ext>
                  </a:extLst>
                </p:cNvPr>
                <p:cNvPicPr>
                  <a:picLocks noChangeAspect="1"/>
                </p:cNvPicPr>
                <p:nvPr/>
              </p:nvPicPr>
              <p:blipFill>
                <a:blip r:embed="rId2"/>
                <a:stretch>
                  <a:fillRect/>
                </a:stretch>
              </p:blipFill>
              <p:spPr>
                <a:xfrm>
                  <a:off x="1770992" y="2921433"/>
                  <a:ext cx="8650014" cy="1809295"/>
                </a:xfrm>
                <a:prstGeom prst="rect">
                  <a:avLst/>
                </a:prstGeom>
              </p:spPr>
            </p:pic>
            <p:pic>
              <p:nvPicPr>
                <p:cNvPr id="13" name="그림 12">
                  <a:extLst>
                    <a:ext uri="{FF2B5EF4-FFF2-40B4-BE49-F238E27FC236}">
                      <a16:creationId xmlns:a16="http://schemas.microsoft.com/office/drawing/2014/main" id="{F8883AF1-8A54-F358-FDC2-A49834555567}"/>
                    </a:ext>
                  </a:extLst>
                </p:cNvPr>
                <p:cNvPicPr>
                  <a:picLocks noChangeAspect="1"/>
                </p:cNvPicPr>
                <p:nvPr/>
              </p:nvPicPr>
              <p:blipFill>
                <a:blip r:embed="rId3"/>
                <a:stretch>
                  <a:fillRect/>
                </a:stretch>
              </p:blipFill>
              <p:spPr>
                <a:xfrm>
                  <a:off x="1770993" y="4777412"/>
                  <a:ext cx="8650014" cy="1369585"/>
                </a:xfrm>
                <a:prstGeom prst="rect">
                  <a:avLst/>
                </a:prstGeom>
              </p:spPr>
            </p:pic>
          </p:grpSp>
        </p:grpSp>
        <p:sp>
          <p:nvSpPr>
            <p:cNvPr id="16" name="직사각형 15">
              <a:extLst>
                <a:ext uri="{FF2B5EF4-FFF2-40B4-BE49-F238E27FC236}">
                  <a16:creationId xmlns:a16="http://schemas.microsoft.com/office/drawing/2014/main" id="{061B8DF8-5D69-10F1-381B-8B2030F5F783}"/>
                </a:ext>
              </a:extLst>
            </p:cNvPr>
            <p:cNvSpPr/>
            <p:nvPr/>
          </p:nvSpPr>
          <p:spPr>
            <a:xfrm>
              <a:off x="5446986" y="3807373"/>
              <a:ext cx="2569779" cy="2162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A4736314-482C-DA12-94E1-A75173CC2569}"/>
                </a:ext>
              </a:extLst>
            </p:cNvPr>
            <p:cNvSpPr/>
            <p:nvPr/>
          </p:nvSpPr>
          <p:spPr>
            <a:xfrm>
              <a:off x="5446986" y="5044965"/>
              <a:ext cx="1190297"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20880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Pods from YAML or JSON Descriptors(14/14)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Pod Through the Port Forwarder :</a:t>
            </a:r>
          </a:p>
          <a:p>
            <a:pPr lvl="1">
              <a:buFont typeface="Wingdings" panose="05000000000000000000" pitchFamily="2" charset="2"/>
              <a:buChar char="§"/>
            </a:pPr>
            <a:r>
              <a:rPr lang="en-US" altLang="ko-KR" sz="1400" dirty="0"/>
              <a:t>In a different terminal, you can now use “</a:t>
            </a:r>
            <a:r>
              <a:rPr lang="en-US" altLang="ko-KR" sz="1400" b="1" dirty="0"/>
              <a:t>curl</a:t>
            </a:r>
            <a:r>
              <a:rPr lang="en-US" altLang="ko-KR" sz="1400" dirty="0"/>
              <a:t>“ to send an HTTP request to your pod through the “</a:t>
            </a:r>
            <a:r>
              <a:rPr lang="en-US" altLang="ko-KR" sz="1400" b="1" dirty="0" err="1"/>
              <a:t>kubectl</a:t>
            </a:r>
            <a:r>
              <a:rPr lang="en-US" altLang="ko-KR" sz="1400" b="1" dirty="0"/>
              <a:t> port-forward proxy</a:t>
            </a:r>
            <a:r>
              <a:rPr lang="en-US" altLang="ko-KR" sz="1400" dirty="0"/>
              <a:t>” running on “</a:t>
            </a:r>
            <a:r>
              <a:rPr lang="en-US" altLang="ko-KR" sz="1400" b="1" dirty="0"/>
              <a:t>localhost:8888</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above figure shows an overly simplified view of what happens when you send the request</a:t>
            </a:r>
            <a:r>
              <a:rPr lang="en-US" altLang="ko-KR" sz="1400" dirty="0"/>
              <a:t>. In reality, a couple of additional components sit between the </a:t>
            </a:r>
            <a:r>
              <a:rPr lang="en-US" altLang="ko-KR" sz="1400" b="1" dirty="0" err="1"/>
              <a:t>kubectl</a:t>
            </a:r>
            <a:r>
              <a:rPr lang="en-US" altLang="ko-KR" sz="1400" dirty="0"/>
              <a:t> process and the pod, but they aren’t relevant right now. </a:t>
            </a:r>
            <a:r>
              <a:rPr lang="en-US" altLang="ko-KR" sz="1400" b="1" dirty="0"/>
              <a:t>Using port forwarding like this is an effective way to test an individual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6D51CD0-E5F2-B576-2127-E864403DEEE8}"/>
              </a:ext>
            </a:extLst>
          </p:cNvPr>
          <p:cNvGrpSpPr/>
          <p:nvPr/>
        </p:nvGrpSpPr>
        <p:grpSpPr>
          <a:xfrm>
            <a:off x="3047343" y="1701811"/>
            <a:ext cx="6097314" cy="1889907"/>
            <a:chOff x="3047343" y="1707195"/>
            <a:chExt cx="6097314" cy="1889907"/>
          </a:xfrm>
        </p:grpSpPr>
        <p:sp>
          <p:nvSpPr>
            <p:cNvPr id="8" name="TextBox 7">
              <a:extLst>
                <a:ext uri="{FF2B5EF4-FFF2-40B4-BE49-F238E27FC236}">
                  <a16:creationId xmlns:a16="http://schemas.microsoft.com/office/drawing/2014/main" id="{0D6911B2-9178-D8D4-FFDF-8BB97A9C3D05}"/>
                </a:ext>
              </a:extLst>
            </p:cNvPr>
            <p:cNvSpPr txBox="1"/>
            <p:nvPr/>
          </p:nvSpPr>
          <p:spPr>
            <a:xfrm>
              <a:off x="3047343" y="1707195"/>
              <a:ext cx="609731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localhost:8888</a:t>
              </a:r>
            </a:p>
          </p:txBody>
        </p:sp>
        <p:pic>
          <p:nvPicPr>
            <p:cNvPr id="11" name="그림 10">
              <a:extLst>
                <a:ext uri="{FF2B5EF4-FFF2-40B4-BE49-F238E27FC236}">
                  <a16:creationId xmlns:a16="http://schemas.microsoft.com/office/drawing/2014/main" id="{D2DC2523-4F7B-CA55-4FFC-49B8DB10AA26}"/>
                </a:ext>
              </a:extLst>
            </p:cNvPr>
            <p:cNvPicPr>
              <a:picLocks noChangeAspect="1"/>
            </p:cNvPicPr>
            <p:nvPr/>
          </p:nvPicPr>
          <p:blipFill>
            <a:blip r:embed="rId2"/>
            <a:stretch>
              <a:fillRect/>
            </a:stretch>
          </p:blipFill>
          <p:spPr>
            <a:xfrm>
              <a:off x="3303638" y="2220586"/>
              <a:ext cx="5584723" cy="1376516"/>
            </a:xfrm>
            <a:prstGeom prst="rect">
              <a:avLst/>
            </a:prstGeom>
          </p:spPr>
        </p:pic>
        <p:sp>
          <p:nvSpPr>
            <p:cNvPr id="12" name="화살표: 아래쪽 11">
              <a:extLst>
                <a:ext uri="{FF2B5EF4-FFF2-40B4-BE49-F238E27FC236}">
                  <a16:creationId xmlns:a16="http://schemas.microsoft.com/office/drawing/2014/main" id="{D6B16B2C-3470-2D64-80E2-8B963DFC320F}"/>
                </a:ext>
              </a:extLst>
            </p:cNvPr>
            <p:cNvSpPr/>
            <p:nvPr/>
          </p:nvSpPr>
          <p:spPr>
            <a:xfrm>
              <a:off x="5912069" y="1953416"/>
              <a:ext cx="378372" cy="26717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45681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Labels? :</a:t>
            </a:r>
          </a:p>
          <a:p>
            <a:pPr lvl="1">
              <a:buFont typeface="Wingdings" panose="05000000000000000000" pitchFamily="2" charset="2"/>
              <a:buChar char="§"/>
            </a:pPr>
            <a:r>
              <a:rPr lang="en-US" altLang="ko-KR" sz="1400" b="1" dirty="0"/>
              <a:t>When deploying actual applications, most users will end up running many more pods. As the number of pods increases, the need for categorizing them into subsets becomes more and more evident</a:t>
            </a:r>
            <a:r>
              <a:rPr lang="en-US" altLang="ko-KR" sz="1400" dirty="0"/>
              <a:t>.</a:t>
            </a:r>
          </a:p>
          <a:p>
            <a:pPr lvl="1">
              <a:buFont typeface="Wingdings" panose="05000000000000000000" pitchFamily="2" charset="2"/>
              <a:buChar char="§"/>
            </a:pPr>
            <a:r>
              <a:rPr lang="en-US" altLang="ko-KR" sz="1400" dirty="0"/>
              <a:t>For example, with </a:t>
            </a:r>
            <a:r>
              <a:rPr lang="en-US" altLang="ko-KR" sz="1400" b="1" dirty="0">
                <a:solidFill>
                  <a:srgbClr val="FF0000"/>
                </a:solidFill>
              </a:rPr>
              <a:t>microservices architectures</a:t>
            </a:r>
            <a:r>
              <a:rPr lang="en-US" altLang="ko-KR" sz="1400" dirty="0"/>
              <a:t>, the number of deployed microservices can easily exceed 20 or more. </a:t>
            </a:r>
            <a:r>
              <a:rPr lang="en-US" altLang="ko-KR" sz="1400" b="1" dirty="0"/>
              <a:t>Those components will probably be replicated (multiple copies of the same component will be deployed) and multiple versions or releases (stable, beta, canary, and so on) will run concurrently</a:t>
            </a:r>
            <a:r>
              <a:rPr lang="en-US" altLang="ko-KR" sz="1400" dirty="0"/>
              <a:t>. This can lead to hundreds of pods in the system. </a:t>
            </a:r>
            <a:r>
              <a:rPr lang="en-US" altLang="ko-KR" sz="1400" b="1" dirty="0"/>
              <a:t>Without a mechanism for organizing them, you end up with a big, incomprehensible mess</a:t>
            </a:r>
            <a:r>
              <a:rPr lang="en-US" altLang="ko-KR" sz="1400" dirty="0"/>
              <a:t>. The following figure shows pods of </a:t>
            </a:r>
            <a:r>
              <a:rPr lang="en-US" altLang="ko-KR" sz="1400" b="1" dirty="0"/>
              <a:t>multiple microservices</a:t>
            </a:r>
            <a:r>
              <a:rPr lang="en-US" altLang="ko-KR" sz="1400" dirty="0"/>
              <a:t>, with several running </a:t>
            </a:r>
            <a:r>
              <a:rPr lang="en-US" altLang="ko-KR" sz="1400" b="1" dirty="0"/>
              <a:t>multiple replicas</a:t>
            </a:r>
            <a:r>
              <a:rPr lang="en-US" altLang="ko-KR" sz="1400" dirty="0"/>
              <a:t>, and others running </a:t>
            </a:r>
            <a:r>
              <a:rPr lang="en-US" altLang="ko-KR" sz="1400" b="1" dirty="0"/>
              <a:t>different releases of the same microservice</a:t>
            </a:r>
            <a:r>
              <a:rPr lang="en-US" altLang="ko-KR" sz="1400" dirty="0"/>
              <a:t>.</a:t>
            </a:r>
          </a:p>
          <a:p>
            <a:pPr lvl="1">
              <a:buFont typeface="Wingdings" panose="05000000000000000000" pitchFamily="2" charset="2"/>
              <a:buChar char="§"/>
            </a:pPr>
            <a:r>
              <a:rPr lang="en-US" altLang="ko-KR" sz="1400" b="1" dirty="0"/>
              <a:t>It’s evident you need a way of organizing them into smaller groups based on arbitrary criteria, so every developer and system administrator dealing with your system can easily see which pod is which</a:t>
            </a:r>
            <a:r>
              <a:rPr lang="en-US" altLang="ko-KR" sz="1400" dirty="0"/>
              <a:t>. </a:t>
            </a:r>
            <a:r>
              <a:rPr lang="en-US" altLang="ko-KR" sz="1400" b="1" dirty="0"/>
              <a:t>And you’ll want to operate on every pod belonging to a certain group with a single action instead of having to perform the action for each pod individually</a:t>
            </a:r>
            <a:r>
              <a:rPr lang="en-US" altLang="ko-KR" sz="1400" dirty="0"/>
              <a:t>. </a:t>
            </a:r>
            <a:r>
              <a:rPr lang="en-US" altLang="ko-KR" sz="1400" b="1" dirty="0"/>
              <a:t>Organizing pods and all other Kubernetes objects is done through </a:t>
            </a:r>
            <a:r>
              <a:rPr lang="en-US" altLang="ko-KR" sz="1400" b="1" dirty="0">
                <a:solidFill>
                  <a:srgbClr val="FF0000"/>
                </a:solidFill>
              </a:rPr>
              <a:t>labels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32F6F3C-3905-AE6E-6D7A-6A6D790FA08B}"/>
              </a:ext>
            </a:extLst>
          </p:cNvPr>
          <p:cNvPicPr>
            <a:picLocks noChangeAspect="1"/>
          </p:cNvPicPr>
          <p:nvPr/>
        </p:nvPicPr>
        <p:blipFill>
          <a:blip r:embed="rId2"/>
          <a:stretch>
            <a:fillRect/>
          </a:stretch>
        </p:blipFill>
        <p:spPr>
          <a:xfrm>
            <a:off x="3342883" y="3681248"/>
            <a:ext cx="5506234" cy="2727782"/>
          </a:xfrm>
          <a:prstGeom prst="rect">
            <a:avLst/>
          </a:prstGeom>
        </p:spPr>
      </p:pic>
    </p:spTree>
    <p:extLst>
      <p:ext uri="{BB962C8B-B14F-4D97-AF65-F5344CB8AC3E}">
        <p14:creationId xmlns:p14="http://schemas.microsoft.com/office/powerpoint/2010/main" val="2442413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Labels :</a:t>
            </a:r>
          </a:p>
          <a:p>
            <a:pPr lvl="1">
              <a:buFont typeface="Wingdings" panose="05000000000000000000" pitchFamily="2" charset="2"/>
              <a:buChar char="§"/>
            </a:pPr>
            <a:r>
              <a:rPr lang="en-US" altLang="ko-KR" sz="1400" b="1" dirty="0"/>
              <a:t>Labels are a simple, yet incredibly powerful, Kubernetes feature for </a:t>
            </a:r>
            <a:r>
              <a:rPr lang="en-US" altLang="ko-KR" sz="1400" b="1" dirty="0">
                <a:solidFill>
                  <a:srgbClr val="FF0000"/>
                </a:solidFill>
              </a:rPr>
              <a:t>organizing</a:t>
            </a:r>
            <a:r>
              <a:rPr lang="en-US" altLang="ko-KR" sz="1400" b="1" dirty="0"/>
              <a:t> not only pods, but all other Kubernetes resources</a:t>
            </a:r>
            <a:r>
              <a:rPr lang="en-US" altLang="ko-KR" sz="1400" dirty="0"/>
              <a:t>. A label is an arbitrary </a:t>
            </a:r>
            <a:r>
              <a:rPr lang="en-US" altLang="ko-KR" sz="1400" b="1" dirty="0"/>
              <a:t>key-value pair you attach to a resource</a:t>
            </a:r>
            <a:r>
              <a:rPr lang="en-US" altLang="ko-KR" sz="1400" dirty="0"/>
              <a:t>, which is then utilized when </a:t>
            </a:r>
            <a:r>
              <a:rPr lang="en-US" altLang="ko-KR" sz="1400" b="1" dirty="0">
                <a:solidFill>
                  <a:srgbClr val="FF0000"/>
                </a:solidFill>
              </a:rPr>
              <a:t>selecting resources </a:t>
            </a:r>
            <a:r>
              <a:rPr lang="en-US" altLang="ko-KR" sz="1400" b="1" dirty="0"/>
              <a:t>using label selectors (resources are filtered based on whether they include the label specified in the selector)</a:t>
            </a:r>
            <a:r>
              <a:rPr lang="en-US" altLang="ko-KR" sz="1400" dirty="0"/>
              <a:t>.</a:t>
            </a:r>
          </a:p>
          <a:p>
            <a:pPr lvl="1">
              <a:buFont typeface="Wingdings" panose="05000000000000000000" pitchFamily="2" charset="2"/>
              <a:buChar char="§"/>
            </a:pPr>
            <a:r>
              <a:rPr lang="en-US" altLang="ko-KR" sz="1400" b="1" dirty="0"/>
              <a:t>A resource can have more than one label, as long as the keys of those labels are unique within that resource</a:t>
            </a:r>
            <a:r>
              <a:rPr lang="en-US" altLang="ko-KR" sz="1400" dirty="0"/>
              <a:t>. You usually attach labels to resources when you create them, but </a:t>
            </a:r>
            <a:r>
              <a:rPr lang="en-US" altLang="ko-KR" sz="1400" b="1" dirty="0"/>
              <a:t>you can also add additional labels or even modify the values of existing labels later without having to recreate the resource</a:t>
            </a:r>
            <a:r>
              <a:rPr lang="en-US" altLang="ko-KR" sz="1400" dirty="0"/>
              <a:t>.</a:t>
            </a:r>
          </a:p>
          <a:p>
            <a:pPr lvl="1">
              <a:buFont typeface="Wingdings" panose="05000000000000000000" pitchFamily="2" charset="2"/>
              <a:buChar char="§"/>
            </a:pPr>
            <a:r>
              <a:rPr lang="en-US" altLang="ko-KR" sz="1400" b="1" dirty="0"/>
              <a:t>By adding labels to those pods, you get a much-better-organized system </a:t>
            </a:r>
            <a:r>
              <a:rPr lang="en-US" altLang="ko-KR" sz="1400" dirty="0"/>
              <a:t>that everyone can easily make sense of. Each pod is labeled with two labels :</a:t>
            </a:r>
          </a:p>
          <a:p>
            <a:pPr lvl="2">
              <a:buFont typeface="Wingdings" panose="05000000000000000000" pitchFamily="2" charset="2"/>
              <a:buChar char="§"/>
            </a:pPr>
            <a:r>
              <a:rPr lang="en-US" altLang="ko-KR" sz="1400" b="1" dirty="0">
                <a:solidFill>
                  <a:srgbClr val="FF0000"/>
                </a:solidFill>
              </a:rPr>
              <a:t>app : </a:t>
            </a:r>
            <a:r>
              <a:rPr lang="en-US" altLang="ko-KR" sz="1400" dirty="0"/>
              <a:t>specifies which app, component, or microservice the pod belongs to.</a:t>
            </a:r>
          </a:p>
          <a:p>
            <a:pPr lvl="2">
              <a:buFont typeface="Wingdings" panose="05000000000000000000" pitchFamily="2" charset="2"/>
              <a:buChar char="§"/>
            </a:pPr>
            <a:r>
              <a:rPr lang="en-US" altLang="ko-KR" sz="1400" b="1" dirty="0" err="1">
                <a:solidFill>
                  <a:srgbClr val="FF0000"/>
                </a:solidFill>
              </a:rPr>
              <a:t>rel</a:t>
            </a:r>
            <a:r>
              <a:rPr lang="en-US" altLang="ko-KR" sz="1400" b="1" dirty="0">
                <a:solidFill>
                  <a:srgbClr val="FF0000"/>
                </a:solidFill>
              </a:rPr>
              <a:t> : </a:t>
            </a:r>
            <a:r>
              <a:rPr lang="en-US" altLang="ko-KR" sz="1400" dirty="0"/>
              <a:t>shows whether the application running in the pod is a </a:t>
            </a:r>
            <a:r>
              <a:rPr lang="en-US" altLang="ko-KR" sz="1400" b="1" dirty="0"/>
              <a:t>stable</a:t>
            </a:r>
            <a:r>
              <a:rPr lang="en-US" altLang="ko-KR" sz="1400" dirty="0"/>
              <a:t>, </a:t>
            </a:r>
            <a:r>
              <a:rPr lang="en-US" altLang="ko-KR" sz="1400" b="1" dirty="0"/>
              <a:t>beta</a:t>
            </a:r>
            <a:r>
              <a:rPr lang="en-US" altLang="ko-KR" sz="1400" dirty="0"/>
              <a:t>, or a </a:t>
            </a:r>
            <a:r>
              <a:rPr lang="en-US" altLang="ko-KR" sz="1400" b="1" dirty="0"/>
              <a:t>canary</a:t>
            </a:r>
            <a:r>
              <a:rPr lang="en-US" altLang="ko-KR" sz="1400" dirty="0"/>
              <a:t> release.</a:t>
            </a:r>
          </a:p>
          <a:p>
            <a:pPr lvl="1">
              <a:buFont typeface="Wingdings" panose="05000000000000000000" pitchFamily="2" charset="2"/>
              <a:buChar char="§"/>
            </a:pPr>
            <a:r>
              <a:rPr lang="en-US" altLang="ko-KR" sz="1400" b="1" dirty="0"/>
              <a:t>NOTE</a:t>
            </a:r>
            <a:r>
              <a:rPr lang="ko-KR" altLang="en-US" sz="1400" b="1" dirty="0"/>
              <a:t> </a:t>
            </a:r>
            <a:r>
              <a:rPr lang="en-US" altLang="ko-KR" sz="1400" b="1" dirty="0"/>
              <a:t>:</a:t>
            </a:r>
            <a:r>
              <a:rPr lang="ko-KR" altLang="en-US" sz="1400" b="1" dirty="0"/>
              <a:t> </a:t>
            </a:r>
            <a:r>
              <a:rPr lang="en-US" altLang="ko-KR" sz="1400" b="1" dirty="0"/>
              <a:t>A canary release is when you deploy a new version of an application next to the stable version, and only let a small fraction of users hit the new version to see how it behaves before rolling it out to all users</a:t>
            </a:r>
            <a:r>
              <a:rPr lang="en-US" altLang="ko-KR" sz="1400" dirty="0"/>
              <a:t>. This prevents bad releases from being exposed to too many users.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F5CDAEE-8F56-8E20-6D21-662E840132FA}"/>
              </a:ext>
            </a:extLst>
          </p:cNvPr>
          <p:cNvPicPr>
            <a:picLocks noChangeAspect="1"/>
          </p:cNvPicPr>
          <p:nvPr/>
        </p:nvPicPr>
        <p:blipFill>
          <a:blip r:embed="rId2"/>
          <a:stretch>
            <a:fillRect/>
          </a:stretch>
        </p:blipFill>
        <p:spPr>
          <a:xfrm>
            <a:off x="3668110" y="4341530"/>
            <a:ext cx="4855779" cy="2067500"/>
          </a:xfrm>
          <a:prstGeom prst="rect">
            <a:avLst/>
          </a:prstGeom>
        </p:spPr>
      </p:pic>
    </p:spTree>
    <p:extLst>
      <p:ext uri="{BB962C8B-B14F-4D97-AF65-F5344CB8AC3E}">
        <p14:creationId xmlns:p14="http://schemas.microsoft.com/office/powerpoint/2010/main" val="3726838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Labels :</a:t>
            </a:r>
          </a:p>
          <a:p>
            <a:pPr lvl="1">
              <a:buFont typeface="Wingdings" panose="05000000000000000000" pitchFamily="2" charset="2"/>
              <a:buChar char="§"/>
            </a:pPr>
            <a:r>
              <a:rPr lang="en-US" altLang="ko-KR" sz="1400" dirty="0"/>
              <a:t>By adding these two labels, you’ve essentially </a:t>
            </a:r>
            <a:r>
              <a:rPr lang="en-US" altLang="ko-KR" sz="1400" b="1" dirty="0"/>
              <a:t>organized your pods into two dimensions (horizontally by </a:t>
            </a:r>
            <a:r>
              <a:rPr lang="en-US" altLang="ko-KR" sz="1400" b="1" dirty="0">
                <a:solidFill>
                  <a:srgbClr val="FF0000"/>
                </a:solidFill>
              </a:rPr>
              <a:t>app</a:t>
            </a:r>
            <a:r>
              <a:rPr lang="en-US" altLang="ko-KR" sz="1400" b="1" dirty="0"/>
              <a:t> and vertically by </a:t>
            </a:r>
            <a:r>
              <a:rPr lang="en-US" altLang="ko-KR" sz="1400" b="1" dirty="0">
                <a:solidFill>
                  <a:srgbClr val="FF0000"/>
                </a:solidFill>
              </a:rPr>
              <a:t>release</a:t>
            </a:r>
            <a:r>
              <a:rPr lang="en-US" altLang="ko-KR" sz="1400" b="1" dirty="0"/>
              <a:t>)</a:t>
            </a:r>
            <a:r>
              <a:rPr lang="en-US" altLang="ko-KR" sz="1400" dirty="0"/>
              <a:t>. Every developer or ops person with access to your cluster can now </a:t>
            </a:r>
            <a:r>
              <a:rPr lang="en-US" altLang="ko-KR" sz="1400" b="1" dirty="0"/>
              <a:t>easily see the system’s structure and where each pod fits in by looking at the pod’s labels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85E28565-14B6-CBA4-BE29-175ABF47472D}"/>
              </a:ext>
            </a:extLst>
          </p:cNvPr>
          <p:cNvGrpSpPr/>
          <p:nvPr/>
        </p:nvGrpSpPr>
        <p:grpSpPr>
          <a:xfrm>
            <a:off x="2781629" y="2198383"/>
            <a:ext cx="6628741" cy="3032734"/>
            <a:chOff x="2593917" y="2151086"/>
            <a:chExt cx="6628741" cy="3032734"/>
          </a:xfrm>
        </p:grpSpPr>
        <p:pic>
          <p:nvPicPr>
            <p:cNvPr id="8" name="그림 7">
              <a:extLst>
                <a:ext uri="{FF2B5EF4-FFF2-40B4-BE49-F238E27FC236}">
                  <a16:creationId xmlns:a16="http://schemas.microsoft.com/office/drawing/2014/main" id="{7E22D4D9-3F59-82CB-40C3-5C41FCD0C344}"/>
                </a:ext>
              </a:extLst>
            </p:cNvPr>
            <p:cNvPicPr>
              <a:picLocks noChangeAspect="1"/>
            </p:cNvPicPr>
            <p:nvPr/>
          </p:nvPicPr>
          <p:blipFill>
            <a:blip r:embed="rId2"/>
            <a:stretch>
              <a:fillRect/>
            </a:stretch>
          </p:blipFill>
          <p:spPr>
            <a:xfrm>
              <a:off x="2969342" y="2420955"/>
              <a:ext cx="6253316" cy="2762865"/>
            </a:xfrm>
            <a:prstGeom prst="rect">
              <a:avLst/>
            </a:prstGeom>
          </p:spPr>
        </p:pic>
        <p:cxnSp>
          <p:nvCxnSpPr>
            <p:cNvPr id="10" name="직선 화살표 연결선 9">
              <a:extLst>
                <a:ext uri="{FF2B5EF4-FFF2-40B4-BE49-F238E27FC236}">
                  <a16:creationId xmlns:a16="http://schemas.microsoft.com/office/drawing/2014/main" id="{0D119647-B8A0-3185-549D-E197DDAC7CA6}"/>
                </a:ext>
              </a:extLst>
            </p:cNvPr>
            <p:cNvCxnSpPr/>
            <p:nvPr/>
          </p:nvCxnSpPr>
          <p:spPr>
            <a:xfrm>
              <a:off x="4145017" y="2373658"/>
              <a:ext cx="3901965" cy="0"/>
            </a:xfrm>
            <a:prstGeom prst="straightConnector1">
              <a:avLst/>
            </a:prstGeom>
            <a:ln w="38100">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AF1CC7-5A93-111F-5130-9E1AB429E56E}"/>
                </a:ext>
              </a:extLst>
            </p:cNvPr>
            <p:cNvSpPr txBox="1"/>
            <p:nvPr/>
          </p:nvSpPr>
          <p:spPr>
            <a:xfrm>
              <a:off x="5788863" y="2151086"/>
              <a:ext cx="614271" cy="246221"/>
            </a:xfrm>
            <a:prstGeom prst="rect">
              <a:avLst/>
            </a:prstGeom>
            <a:noFill/>
          </p:spPr>
          <p:txBody>
            <a:bodyPr wrap="none" rtlCol="0">
              <a:spAutoFit/>
            </a:bodyPr>
            <a:lstStyle/>
            <a:p>
              <a:pPr algn="ctr"/>
              <a:r>
                <a:rPr lang="en-US" altLang="ko-KR" sz="1000" b="1" dirty="0"/>
                <a:t>Service</a:t>
              </a:r>
              <a:endParaRPr lang="ko-KR" altLang="en-US" sz="1000" b="1" dirty="0"/>
            </a:p>
          </p:txBody>
        </p:sp>
        <p:cxnSp>
          <p:nvCxnSpPr>
            <p:cNvPr id="12" name="직선 화살표 연결선 11">
              <a:extLst>
                <a:ext uri="{FF2B5EF4-FFF2-40B4-BE49-F238E27FC236}">
                  <a16:creationId xmlns:a16="http://schemas.microsoft.com/office/drawing/2014/main" id="{085B634B-B401-E01C-2B47-9BFD97B92C1B}"/>
                </a:ext>
              </a:extLst>
            </p:cNvPr>
            <p:cNvCxnSpPr>
              <a:cxnSpLocks/>
            </p:cNvCxnSpPr>
            <p:nvPr/>
          </p:nvCxnSpPr>
          <p:spPr>
            <a:xfrm>
              <a:off x="2895598" y="2738892"/>
              <a:ext cx="0" cy="2444928"/>
            </a:xfrm>
            <a:prstGeom prst="straightConnector1">
              <a:avLst/>
            </a:prstGeom>
            <a:ln w="38100">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CAF8C79-15A1-30B0-A597-79AEEB9FEDA6}"/>
                </a:ext>
              </a:extLst>
            </p:cNvPr>
            <p:cNvSpPr txBox="1"/>
            <p:nvPr/>
          </p:nvSpPr>
          <p:spPr>
            <a:xfrm rot="10800000">
              <a:off x="2593917" y="3685959"/>
              <a:ext cx="338554" cy="550793"/>
            </a:xfrm>
            <a:prstGeom prst="rect">
              <a:avLst/>
            </a:prstGeom>
            <a:noFill/>
          </p:spPr>
          <p:txBody>
            <a:bodyPr vert="eaVert" wrap="none" rtlCol="0">
              <a:spAutoFit/>
            </a:bodyPr>
            <a:lstStyle/>
            <a:p>
              <a:pPr algn="ctr"/>
              <a:r>
                <a:rPr lang="en-US" altLang="ko-KR" sz="1000" b="1" dirty="0"/>
                <a:t>Release</a:t>
              </a:r>
              <a:endParaRPr lang="ko-KR" altLang="en-US" sz="1000" b="1" dirty="0"/>
            </a:p>
          </p:txBody>
        </p:sp>
      </p:grpSp>
    </p:spTree>
    <p:extLst>
      <p:ext uri="{BB962C8B-B14F-4D97-AF65-F5344CB8AC3E}">
        <p14:creationId xmlns:p14="http://schemas.microsoft.com/office/powerpoint/2010/main" val="3976880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Labels When Creating a Pod :</a:t>
            </a:r>
          </a:p>
          <a:p>
            <a:pPr lvl="1">
              <a:buFont typeface="Wingdings" panose="05000000000000000000" pitchFamily="2" charset="2"/>
              <a:buChar char="§"/>
            </a:pPr>
            <a:r>
              <a:rPr lang="en-US" altLang="ko-KR" sz="1400" dirty="0"/>
              <a:t>Create a new file called “</a:t>
            </a:r>
            <a:r>
              <a:rPr lang="en-US" altLang="ko-KR" sz="1400" b="1" dirty="0" err="1"/>
              <a:t>kubia</a:t>
            </a:r>
            <a:r>
              <a:rPr lang="en-US" altLang="ko-KR" sz="1400" b="1" dirty="0"/>
              <a:t>-manual-with-</a:t>
            </a:r>
            <a:r>
              <a:rPr lang="en-US" altLang="ko-KR" sz="1400" b="1" dirty="0" err="1"/>
              <a:t>labels.yaml</a:t>
            </a:r>
            <a:r>
              <a:rPr lang="en-US" altLang="ko-KR" sz="1400" dirty="0"/>
              <a:t>” with the contents of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You’ve included the labels “</a:t>
            </a:r>
            <a:r>
              <a:rPr lang="en-US" altLang="ko-KR" sz="1400" b="1" dirty="0" err="1"/>
              <a:t>creation_method</a:t>
            </a:r>
            <a:r>
              <a:rPr lang="en-US" altLang="ko-KR" sz="1400" b="1" dirty="0"/>
              <a:t>=manual</a:t>
            </a:r>
            <a:r>
              <a:rPr lang="en-US" altLang="ko-KR" sz="1400" dirty="0"/>
              <a:t>” and “</a:t>
            </a:r>
            <a:r>
              <a:rPr lang="en-US" altLang="ko-KR" sz="1400" b="1" dirty="0"/>
              <a:t>env=prod</a:t>
            </a:r>
            <a:r>
              <a:rPr lang="en-US" altLang="ko-KR" sz="1400" dirty="0"/>
              <a:t>” section. You’ll create this pod with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02F8456-2FC0-3B48-41D4-ECCC4994EBEC}"/>
              </a:ext>
            </a:extLst>
          </p:cNvPr>
          <p:cNvGrpSpPr/>
          <p:nvPr/>
        </p:nvGrpSpPr>
        <p:grpSpPr>
          <a:xfrm>
            <a:off x="3047343" y="1506903"/>
            <a:ext cx="6097314" cy="2246769"/>
            <a:chOff x="3048657" y="1443841"/>
            <a:chExt cx="6097314" cy="2246769"/>
          </a:xfrm>
        </p:grpSpPr>
        <p:sp>
          <p:nvSpPr>
            <p:cNvPr id="8" name="TextBox 7">
              <a:extLst>
                <a:ext uri="{FF2B5EF4-FFF2-40B4-BE49-F238E27FC236}">
                  <a16:creationId xmlns:a16="http://schemas.microsoft.com/office/drawing/2014/main" id="{EED61511-F5FC-F066-EF4F-C5226D5844D3}"/>
                </a:ext>
              </a:extLst>
            </p:cNvPr>
            <p:cNvSpPr txBox="1"/>
            <p:nvPr/>
          </p:nvSpPr>
          <p:spPr>
            <a:xfrm>
              <a:off x="3048657" y="1443841"/>
              <a:ext cx="6097314" cy="224676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kubia-manual-v2</a:t>
              </a:r>
            </a:p>
            <a:p>
              <a:r>
                <a:rPr lang="en-US" altLang="ko-KR" sz="1000" b="1" dirty="0">
                  <a:solidFill>
                    <a:srgbClr val="FF0000"/>
                  </a:solidFill>
                </a:rPr>
                <a:t>  labels:</a:t>
              </a:r>
            </a:p>
            <a:p>
              <a:r>
                <a:rPr lang="en-US" altLang="ko-KR" sz="1000" b="1" dirty="0">
                  <a:solidFill>
                    <a:srgbClr val="FF0000"/>
                  </a:solidFill>
                </a:rPr>
                <a:t>    </a:t>
              </a:r>
              <a:r>
                <a:rPr lang="en-US" altLang="ko-KR" sz="1000" b="1" dirty="0" err="1">
                  <a:solidFill>
                    <a:srgbClr val="FF0000"/>
                  </a:solidFill>
                </a:rPr>
                <a:t>creation_method</a:t>
              </a:r>
              <a:r>
                <a:rPr lang="en-US" altLang="ko-KR" sz="1000" b="1" dirty="0">
                  <a:solidFill>
                    <a:srgbClr val="FF0000"/>
                  </a:solidFill>
                </a:rPr>
                <a:t>: manual</a:t>
              </a:r>
            </a:p>
            <a:p>
              <a:r>
                <a:rPr lang="en-US" altLang="ko-KR" sz="1000" b="1" dirty="0">
                  <a:solidFill>
                    <a:srgbClr val="FF0000"/>
                  </a:solidFill>
                </a:rPr>
                <a:t>    env: prod</a:t>
              </a:r>
            </a:p>
            <a:p>
              <a:r>
                <a:rPr lang="en-US" altLang="ko-KR" sz="1000" b="1" dirty="0"/>
                <a:t>spec:</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t>      name: </a:t>
              </a:r>
              <a:r>
                <a:rPr lang="en-US" altLang="ko-KR" sz="1000" b="1" dirty="0" err="1"/>
                <a:t>kubia</a:t>
              </a:r>
              <a:endParaRPr lang="en-US" altLang="ko-KR" sz="1000" b="1" dirty="0"/>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protocol: TCP</a:t>
              </a:r>
              <a:endParaRPr lang="ko-KR" altLang="en-US" sz="1000" b="1" dirty="0"/>
            </a:p>
          </p:txBody>
        </p:sp>
        <p:sp>
          <p:nvSpPr>
            <p:cNvPr id="9" name="TextBox 8">
              <a:extLst>
                <a:ext uri="{FF2B5EF4-FFF2-40B4-BE49-F238E27FC236}">
                  <a16:creationId xmlns:a16="http://schemas.microsoft.com/office/drawing/2014/main" id="{423571EB-3560-71B9-14AE-E062F8A833D0}"/>
                </a:ext>
              </a:extLst>
            </p:cNvPr>
            <p:cNvSpPr txBox="1"/>
            <p:nvPr/>
          </p:nvSpPr>
          <p:spPr>
            <a:xfrm>
              <a:off x="7079379" y="1443841"/>
              <a:ext cx="2066592" cy="246221"/>
            </a:xfrm>
            <a:prstGeom prst="rect">
              <a:avLst/>
            </a:prstGeom>
            <a:noFill/>
          </p:spPr>
          <p:txBody>
            <a:bodyPr wrap="none" rtlCol="0">
              <a:spAutoFit/>
            </a:bodyPr>
            <a:lstStyle/>
            <a:p>
              <a:pPr algn="ctr"/>
              <a:r>
                <a:rPr lang="en-US" altLang="ko-KR" sz="1000" b="1" dirty="0" err="1"/>
                <a:t>kubia</a:t>
              </a:r>
              <a:r>
                <a:rPr lang="en-US" altLang="ko-KR" sz="1000" b="1" dirty="0"/>
                <a:t>-manual-with-</a:t>
              </a:r>
              <a:r>
                <a:rPr lang="en-US" altLang="ko-KR" sz="1000" b="1" dirty="0" err="1"/>
                <a:t>labels.yaml</a:t>
              </a:r>
              <a:endParaRPr lang="ko-KR" altLang="en-US" sz="1000" b="1" dirty="0"/>
            </a:p>
          </p:txBody>
        </p:sp>
      </p:grpSp>
      <p:grpSp>
        <p:nvGrpSpPr>
          <p:cNvPr id="15" name="그룹 14">
            <a:extLst>
              <a:ext uri="{FF2B5EF4-FFF2-40B4-BE49-F238E27FC236}">
                <a16:creationId xmlns:a16="http://schemas.microsoft.com/office/drawing/2014/main" id="{3D77B40C-7E82-34CE-961A-C33C7D76CC2D}"/>
              </a:ext>
            </a:extLst>
          </p:cNvPr>
          <p:cNvGrpSpPr/>
          <p:nvPr/>
        </p:nvGrpSpPr>
        <p:grpSpPr>
          <a:xfrm>
            <a:off x="1349266" y="4347231"/>
            <a:ext cx="9493468" cy="2061799"/>
            <a:chOff x="1349266" y="4347231"/>
            <a:chExt cx="9493468" cy="2061799"/>
          </a:xfrm>
        </p:grpSpPr>
        <p:pic>
          <p:nvPicPr>
            <p:cNvPr id="12" name="그림 11">
              <a:extLst>
                <a:ext uri="{FF2B5EF4-FFF2-40B4-BE49-F238E27FC236}">
                  <a16:creationId xmlns:a16="http://schemas.microsoft.com/office/drawing/2014/main" id="{539B8210-34EC-E278-1957-76A1E9FD80B7}"/>
                </a:ext>
              </a:extLst>
            </p:cNvPr>
            <p:cNvPicPr>
              <a:picLocks noChangeAspect="1"/>
            </p:cNvPicPr>
            <p:nvPr/>
          </p:nvPicPr>
          <p:blipFill>
            <a:blip r:embed="rId2"/>
            <a:stretch>
              <a:fillRect/>
            </a:stretch>
          </p:blipFill>
          <p:spPr>
            <a:xfrm>
              <a:off x="1349266" y="4905897"/>
              <a:ext cx="9493468" cy="1503133"/>
            </a:xfrm>
            <a:prstGeom prst="rect">
              <a:avLst/>
            </a:prstGeom>
          </p:spPr>
        </p:pic>
        <p:sp>
          <p:nvSpPr>
            <p:cNvPr id="13" name="TextBox 12">
              <a:extLst>
                <a:ext uri="{FF2B5EF4-FFF2-40B4-BE49-F238E27FC236}">
                  <a16:creationId xmlns:a16="http://schemas.microsoft.com/office/drawing/2014/main" id="{948A7D26-6E98-8E82-8A0B-7B84089A1988}"/>
                </a:ext>
              </a:extLst>
            </p:cNvPr>
            <p:cNvSpPr txBox="1"/>
            <p:nvPr/>
          </p:nvSpPr>
          <p:spPr>
            <a:xfrm>
              <a:off x="3796891" y="4347231"/>
              <a:ext cx="4598218" cy="246221"/>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a:t>
              </a:r>
              <a:r>
                <a:rPr lang="en-US" altLang="ko-KR" sz="1000" b="1" dirty="0">
                  <a:solidFill>
                    <a:srgbClr val="FF0000"/>
                  </a:solidFill>
                </a:rPr>
                <a:t>-manual-with-</a:t>
              </a:r>
              <a:r>
                <a:rPr lang="en-US" altLang="ko-KR" sz="1000" b="1" dirty="0" err="1">
                  <a:solidFill>
                    <a:srgbClr val="FF0000"/>
                  </a:solidFill>
                </a:rPr>
                <a:t>labels.yaml</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EA020393-50BA-C74F-C4C3-DDB7EF8FE966}"/>
                </a:ext>
              </a:extLst>
            </p:cNvPr>
            <p:cNvSpPr/>
            <p:nvPr/>
          </p:nvSpPr>
          <p:spPr>
            <a:xfrm>
              <a:off x="5891048" y="4593452"/>
              <a:ext cx="409904"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1ABE2376-DD65-04B0-95EA-140E5911B2B1}"/>
              </a:ext>
            </a:extLst>
          </p:cNvPr>
          <p:cNvSpPr/>
          <p:nvPr/>
        </p:nvSpPr>
        <p:spPr>
          <a:xfrm>
            <a:off x="5407572" y="5312979"/>
            <a:ext cx="2987537" cy="2128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2087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Labels When Creating a Pod :</a:t>
            </a:r>
          </a:p>
          <a:p>
            <a:pPr lvl="1">
              <a:buFont typeface="Wingdings" panose="05000000000000000000" pitchFamily="2" charset="2"/>
              <a:buChar char="§"/>
            </a:pPr>
            <a:r>
              <a:rPr lang="en-US" altLang="ko-KR" sz="1400" dirty="0"/>
              <a:t>As you can see from the previous example, the “</a:t>
            </a:r>
            <a:r>
              <a:rPr lang="en-US" altLang="ko-KR" sz="1400" b="1" dirty="0" err="1"/>
              <a:t>kubectl</a:t>
            </a:r>
            <a:r>
              <a:rPr lang="en-US" altLang="ko-KR" sz="1400" b="1" dirty="0"/>
              <a:t> get pods</a:t>
            </a:r>
            <a:r>
              <a:rPr lang="en-US" altLang="ko-KR" sz="1400" dirty="0"/>
              <a:t>” command doesn’t list any labels by default, but </a:t>
            </a:r>
            <a:r>
              <a:rPr lang="en-US" altLang="ko-KR" sz="1400" b="1" dirty="0"/>
              <a:t>you can see them by using the “--show -labels” switch</a:t>
            </a:r>
            <a:r>
              <a:rPr lang="en-US" altLang="ko-KR" sz="1400" dirty="0"/>
              <a:t>.</a:t>
            </a:r>
          </a:p>
          <a:p>
            <a:pPr lvl="1">
              <a:buFont typeface="Wingdings" panose="05000000000000000000" pitchFamily="2" charset="2"/>
              <a:buChar char="§"/>
            </a:pPr>
            <a:r>
              <a:rPr lang="en-US" altLang="ko-KR" sz="1400" b="1" dirty="0"/>
              <a:t>Instead of listing all labels, if you’re only interested in certain labels, you can specify them with the “-L” switch and have each displayed in its own column</a:t>
            </a:r>
            <a:r>
              <a:rPr lang="en-US" altLang="ko-KR" sz="1400" dirty="0"/>
              <a:t>. List pods again and show the columns for the two labels you’ve attached to your “</a:t>
            </a:r>
            <a:r>
              <a:rPr lang="en-US" altLang="ko-KR" sz="1400" b="1" dirty="0"/>
              <a:t>kubia-manual-v2</a:t>
            </a:r>
            <a:r>
              <a:rPr lang="en-US" altLang="ko-KR" sz="1400" dirty="0"/>
              <a:t>”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E1816345-93E3-7F57-523A-C8EF699A690A}"/>
              </a:ext>
            </a:extLst>
          </p:cNvPr>
          <p:cNvGrpSpPr/>
          <p:nvPr/>
        </p:nvGrpSpPr>
        <p:grpSpPr>
          <a:xfrm>
            <a:off x="1300655" y="2565773"/>
            <a:ext cx="9590689" cy="2051889"/>
            <a:chOff x="1300655" y="2565773"/>
            <a:chExt cx="9590689" cy="2051889"/>
          </a:xfrm>
        </p:grpSpPr>
        <p:grpSp>
          <p:nvGrpSpPr>
            <p:cNvPr id="12" name="그룹 11">
              <a:extLst>
                <a:ext uri="{FF2B5EF4-FFF2-40B4-BE49-F238E27FC236}">
                  <a16:creationId xmlns:a16="http://schemas.microsoft.com/office/drawing/2014/main" id="{1C06B9AC-12C6-C35F-2B88-93A79DABFAF9}"/>
                </a:ext>
              </a:extLst>
            </p:cNvPr>
            <p:cNvGrpSpPr/>
            <p:nvPr/>
          </p:nvGrpSpPr>
          <p:grpSpPr>
            <a:xfrm>
              <a:off x="1300655" y="2565773"/>
              <a:ext cx="9590689" cy="2051889"/>
              <a:chOff x="1300655" y="2408761"/>
              <a:chExt cx="9590689" cy="2051889"/>
            </a:xfrm>
          </p:grpSpPr>
          <p:sp>
            <p:nvSpPr>
              <p:cNvPr id="8" name="TextBox 7">
                <a:extLst>
                  <a:ext uri="{FF2B5EF4-FFF2-40B4-BE49-F238E27FC236}">
                    <a16:creationId xmlns:a16="http://schemas.microsoft.com/office/drawing/2014/main" id="{B5189755-2886-FE0A-2651-9D94562DAFCC}"/>
                  </a:ext>
                </a:extLst>
              </p:cNvPr>
              <p:cNvSpPr txBox="1"/>
              <p:nvPr/>
            </p:nvSpPr>
            <p:spPr>
              <a:xfrm>
                <a:off x="3047343" y="240876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-L </a:t>
                </a:r>
                <a:r>
                  <a:rPr lang="en-US" altLang="ko-KR" sz="1000" b="1" dirty="0" err="1">
                    <a:solidFill>
                      <a:srgbClr val="FF0000"/>
                    </a:solidFill>
                  </a:rPr>
                  <a:t>creation_method,env</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F5AEA67-FEDA-7DFC-0370-3AE558C42E2B}"/>
                  </a:ext>
                </a:extLst>
              </p:cNvPr>
              <p:cNvSpPr/>
              <p:nvPr/>
            </p:nvSpPr>
            <p:spPr>
              <a:xfrm>
                <a:off x="5887107" y="2666227"/>
                <a:ext cx="417786"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5E36810-E183-CE33-6648-B0B80A782B48}"/>
                  </a:ext>
                </a:extLst>
              </p:cNvPr>
              <p:cNvPicPr>
                <a:picLocks noChangeAspect="1"/>
              </p:cNvPicPr>
              <p:nvPr/>
            </p:nvPicPr>
            <p:blipFill>
              <a:blip r:embed="rId2"/>
              <a:stretch>
                <a:fillRect/>
              </a:stretch>
            </p:blipFill>
            <p:spPr>
              <a:xfrm>
                <a:off x="1300655" y="2942124"/>
                <a:ext cx="9590689" cy="1518526"/>
              </a:xfrm>
              <a:prstGeom prst="rect">
                <a:avLst/>
              </a:prstGeom>
            </p:spPr>
          </p:pic>
        </p:grpSp>
        <p:sp>
          <p:nvSpPr>
            <p:cNvPr id="13" name="직사각형 12">
              <a:extLst>
                <a:ext uri="{FF2B5EF4-FFF2-40B4-BE49-F238E27FC236}">
                  <a16:creationId xmlns:a16="http://schemas.microsoft.com/office/drawing/2014/main" id="{647F6BC3-D0A8-26F9-580B-054ED795556A}"/>
                </a:ext>
              </a:extLst>
            </p:cNvPr>
            <p:cNvSpPr/>
            <p:nvPr/>
          </p:nvSpPr>
          <p:spPr>
            <a:xfrm>
              <a:off x="5368159" y="3515710"/>
              <a:ext cx="2585545"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6966ADFB-BA29-0C25-DABF-B34776494D5B}"/>
                </a:ext>
              </a:extLst>
            </p:cNvPr>
            <p:cNvSpPr/>
            <p:nvPr/>
          </p:nvSpPr>
          <p:spPr>
            <a:xfrm>
              <a:off x="4840014" y="3689131"/>
              <a:ext cx="1537138" cy="2916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45353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of Existing Pods :</a:t>
            </a:r>
          </a:p>
          <a:p>
            <a:pPr lvl="1">
              <a:buFont typeface="Wingdings" panose="05000000000000000000" pitchFamily="2" charset="2"/>
              <a:buChar char="§"/>
            </a:pPr>
            <a:r>
              <a:rPr lang="en-US" altLang="ko-KR" sz="1400" dirty="0"/>
              <a:t>Labels can also be added to and modified on existing pods. Because the “</a:t>
            </a:r>
            <a:r>
              <a:rPr lang="en-US" altLang="ko-KR" sz="1400" b="1" dirty="0" err="1"/>
              <a:t>kubia</a:t>
            </a:r>
            <a:r>
              <a:rPr lang="en-US" altLang="ko-KR" sz="1400" b="1" dirty="0"/>
              <a:t>-manual</a:t>
            </a:r>
            <a:r>
              <a:rPr lang="en-US" altLang="ko-KR" sz="1400" dirty="0"/>
              <a:t>” pod was also created manually, let’s add the “</a:t>
            </a:r>
            <a:r>
              <a:rPr lang="en-US" altLang="ko-KR" sz="1400" b="1" dirty="0" err="1"/>
              <a:t>creation_method</a:t>
            </a:r>
            <a:r>
              <a:rPr lang="en-US" altLang="ko-KR" sz="1400" b="1" dirty="0"/>
              <a:t>=manual</a:t>
            </a:r>
            <a:r>
              <a:rPr lang="en-US" altLang="ko-KR" sz="1400" dirty="0"/>
              <a:t>” label to it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Here I used “po” instead of “pod”. The </a:t>
            </a:r>
            <a:r>
              <a:rPr lang="en-US" altLang="ko-KR" sz="1400" b="1" dirty="0" err="1"/>
              <a:t>Kubernete</a:t>
            </a:r>
            <a:r>
              <a:rPr lang="en-US" altLang="ko-KR" sz="1400" b="1" dirty="0"/>
              <a:t> will complete the command option automatically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FBFE02F-28E7-B0B3-A9B4-C10728F2E995}"/>
              </a:ext>
            </a:extLst>
          </p:cNvPr>
          <p:cNvGrpSpPr/>
          <p:nvPr/>
        </p:nvGrpSpPr>
        <p:grpSpPr>
          <a:xfrm>
            <a:off x="1595273" y="1970718"/>
            <a:ext cx="9001453" cy="2382747"/>
            <a:chOff x="1595272" y="1686938"/>
            <a:chExt cx="9001453" cy="2382747"/>
          </a:xfrm>
        </p:grpSpPr>
        <p:grpSp>
          <p:nvGrpSpPr>
            <p:cNvPr id="12" name="그룹 11">
              <a:extLst>
                <a:ext uri="{FF2B5EF4-FFF2-40B4-BE49-F238E27FC236}">
                  <a16:creationId xmlns:a16="http://schemas.microsoft.com/office/drawing/2014/main" id="{E81BE2FE-0257-2CFE-EB7F-F4F004D83E2F}"/>
                </a:ext>
              </a:extLst>
            </p:cNvPr>
            <p:cNvGrpSpPr/>
            <p:nvPr/>
          </p:nvGrpSpPr>
          <p:grpSpPr>
            <a:xfrm>
              <a:off x="1595272" y="1686938"/>
              <a:ext cx="9001453" cy="2382747"/>
              <a:chOff x="1595272" y="1686938"/>
              <a:chExt cx="9001453" cy="2382747"/>
            </a:xfrm>
          </p:grpSpPr>
          <p:sp>
            <p:nvSpPr>
              <p:cNvPr id="8" name="TextBox 7">
                <a:extLst>
                  <a:ext uri="{FF2B5EF4-FFF2-40B4-BE49-F238E27FC236}">
                    <a16:creationId xmlns:a16="http://schemas.microsoft.com/office/drawing/2014/main" id="{30D53DD5-BC35-E996-A82F-E4F0E7B92043}"/>
                  </a:ext>
                </a:extLst>
              </p:cNvPr>
              <p:cNvSpPr txBox="1"/>
              <p:nvPr/>
            </p:nvSpPr>
            <p:spPr>
              <a:xfrm>
                <a:off x="3047343" y="168693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a:t>
                </a:r>
                <a:r>
                  <a:rPr lang="en-US" altLang="ko-KR" sz="1000" b="1" dirty="0">
                    <a:solidFill>
                      <a:srgbClr val="FF0000"/>
                    </a:solidFill>
                  </a:rPr>
                  <a:t>po </a:t>
                </a:r>
                <a:r>
                  <a:rPr lang="en-US" altLang="ko-KR" sz="1000" b="1" dirty="0" err="1">
                    <a:solidFill>
                      <a:srgbClr val="FF0000"/>
                    </a:solidFill>
                  </a:rPr>
                  <a:t>kubia</a:t>
                </a:r>
                <a:r>
                  <a:rPr lang="en-US" altLang="ko-KR" sz="1000" b="1" dirty="0">
                    <a:solidFill>
                      <a:srgbClr val="FF0000"/>
                    </a:solidFill>
                  </a:rPr>
                  <a:t>-manual </a:t>
                </a:r>
                <a:r>
                  <a:rPr lang="en-US" altLang="ko-KR" sz="1000" b="1" dirty="0" err="1">
                    <a:solidFill>
                      <a:srgbClr val="FF0000"/>
                    </a:solidFill>
                  </a:rPr>
                  <a:t>creation_method</a:t>
                </a:r>
                <a:r>
                  <a:rPr lang="en-US" altLang="ko-KR" sz="1000" b="1" dirty="0">
                    <a:solidFill>
                      <a:srgbClr val="FF0000"/>
                    </a:solidFill>
                  </a:rPr>
                  <a:t>=manual</a:t>
                </a:r>
              </a:p>
            </p:txBody>
          </p:sp>
          <p:sp>
            <p:nvSpPr>
              <p:cNvPr id="9" name="화살표: 아래쪽 8">
                <a:extLst>
                  <a:ext uri="{FF2B5EF4-FFF2-40B4-BE49-F238E27FC236}">
                    <a16:creationId xmlns:a16="http://schemas.microsoft.com/office/drawing/2014/main" id="{26F2A0E4-AABA-B011-04E5-3368371558BF}"/>
                  </a:ext>
                </a:extLst>
              </p:cNvPr>
              <p:cNvSpPr/>
              <p:nvPr/>
            </p:nvSpPr>
            <p:spPr>
              <a:xfrm>
                <a:off x="5891048" y="1933159"/>
                <a:ext cx="40990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5BF7CF8-1E1E-513F-FBE7-C662FD57B774}"/>
                  </a:ext>
                </a:extLst>
              </p:cNvPr>
              <p:cNvPicPr>
                <a:picLocks noChangeAspect="1"/>
              </p:cNvPicPr>
              <p:nvPr/>
            </p:nvPicPr>
            <p:blipFill>
              <a:blip r:embed="rId2"/>
              <a:stretch>
                <a:fillRect/>
              </a:stretch>
            </p:blipFill>
            <p:spPr>
              <a:xfrm>
                <a:off x="1595272" y="2179380"/>
                <a:ext cx="9001453" cy="1890305"/>
              </a:xfrm>
              <a:prstGeom prst="rect">
                <a:avLst/>
              </a:prstGeom>
            </p:spPr>
          </p:pic>
        </p:grpSp>
        <p:sp>
          <p:nvSpPr>
            <p:cNvPr id="13" name="직사각형 12">
              <a:extLst>
                <a:ext uri="{FF2B5EF4-FFF2-40B4-BE49-F238E27FC236}">
                  <a16:creationId xmlns:a16="http://schemas.microsoft.com/office/drawing/2014/main" id="{CB5086A8-1255-2AC1-1286-44555A4AB9D4}"/>
                </a:ext>
              </a:extLst>
            </p:cNvPr>
            <p:cNvSpPr/>
            <p:nvPr/>
          </p:nvSpPr>
          <p:spPr>
            <a:xfrm>
              <a:off x="5762296" y="2869340"/>
              <a:ext cx="3484179"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753995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of Existing Pods :</a:t>
            </a:r>
          </a:p>
          <a:p>
            <a:pPr lvl="1">
              <a:buFont typeface="Wingdings" panose="05000000000000000000" pitchFamily="2" charset="2"/>
              <a:buChar char="§"/>
            </a:pPr>
            <a:r>
              <a:rPr lang="en-US" altLang="ko-KR" sz="1400" b="1" dirty="0"/>
              <a:t>Now, let’s also change the “env=prod” label to “env=debug” on the “kubia-manual-v2” pod</a:t>
            </a:r>
            <a:r>
              <a:rPr lang="en-US" altLang="ko-KR" sz="1400" dirty="0"/>
              <a:t>, to see how existing labels can be changed.</a:t>
            </a:r>
          </a:p>
          <a:p>
            <a:pPr lvl="1">
              <a:buFont typeface="Wingdings" panose="05000000000000000000" pitchFamily="2" charset="2"/>
              <a:buChar char="§"/>
            </a:pPr>
            <a:r>
              <a:rPr lang="en-US" altLang="ko-KR" sz="1400" b="1" dirty="0"/>
              <a:t>NOTE : You need to use the “</a:t>
            </a:r>
            <a:r>
              <a:rPr lang="en-US" altLang="ko-KR" sz="1400" b="1" dirty="0">
                <a:solidFill>
                  <a:srgbClr val="FF0000"/>
                </a:solidFill>
              </a:rPr>
              <a:t>--overwrite</a:t>
            </a:r>
            <a:r>
              <a:rPr lang="en-US" altLang="ko-KR" sz="1400" b="1" dirty="0"/>
              <a:t>” option when changing existing labels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31EC463-113E-8F10-C477-6A3F3D7F989A}"/>
              </a:ext>
            </a:extLst>
          </p:cNvPr>
          <p:cNvGrpSpPr/>
          <p:nvPr/>
        </p:nvGrpSpPr>
        <p:grpSpPr>
          <a:xfrm>
            <a:off x="1544035" y="2309623"/>
            <a:ext cx="9103929" cy="2238754"/>
            <a:chOff x="1544035" y="2057428"/>
            <a:chExt cx="9103929" cy="2238754"/>
          </a:xfrm>
        </p:grpSpPr>
        <p:sp>
          <p:nvSpPr>
            <p:cNvPr id="8" name="TextBox 7">
              <a:extLst>
                <a:ext uri="{FF2B5EF4-FFF2-40B4-BE49-F238E27FC236}">
                  <a16:creationId xmlns:a16="http://schemas.microsoft.com/office/drawing/2014/main" id="{4CD7B16D-E6E9-7954-C44D-756D9CE18158}"/>
                </a:ext>
              </a:extLst>
            </p:cNvPr>
            <p:cNvSpPr txBox="1"/>
            <p:nvPr/>
          </p:nvSpPr>
          <p:spPr>
            <a:xfrm>
              <a:off x="3047343" y="205742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 kubia-manual-v2 env=debug </a:t>
              </a:r>
              <a:r>
                <a:rPr lang="en-US" altLang="ko-KR" sz="1000" b="1" dirty="0">
                  <a:solidFill>
                    <a:srgbClr val="FF0000"/>
                  </a:solidFill>
                </a:rPr>
                <a:t>--overwrite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BFE739B-C4AC-C646-E691-7E048E3CAB71}"/>
                </a:ext>
              </a:extLst>
            </p:cNvPr>
            <p:cNvSpPr/>
            <p:nvPr/>
          </p:nvSpPr>
          <p:spPr>
            <a:xfrm>
              <a:off x="5875283" y="2325864"/>
              <a:ext cx="441434" cy="2680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45DC1EB-0071-ED91-E6F4-76C16D63B7BB}"/>
                </a:ext>
              </a:extLst>
            </p:cNvPr>
            <p:cNvPicPr>
              <a:picLocks noChangeAspect="1"/>
            </p:cNvPicPr>
            <p:nvPr/>
          </p:nvPicPr>
          <p:blipFill>
            <a:blip r:embed="rId2"/>
            <a:stretch>
              <a:fillRect/>
            </a:stretch>
          </p:blipFill>
          <p:spPr>
            <a:xfrm>
              <a:off x="1544035" y="2616093"/>
              <a:ext cx="9103929" cy="1680089"/>
            </a:xfrm>
            <a:prstGeom prst="rect">
              <a:avLst/>
            </a:prstGeom>
          </p:spPr>
        </p:pic>
      </p:grpSp>
    </p:spTree>
    <p:extLst>
      <p:ext uri="{BB962C8B-B14F-4D97-AF65-F5344CB8AC3E}">
        <p14:creationId xmlns:p14="http://schemas.microsoft.com/office/powerpoint/2010/main" val="4293072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Organizing Pods with Labels(8/8)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of Existing Pods :</a:t>
            </a:r>
          </a:p>
          <a:p>
            <a:pPr lvl="1">
              <a:buFont typeface="Wingdings" panose="05000000000000000000" pitchFamily="2" charset="2"/>
              <a:buChar char="§"/>
            </a:pPr>
            <a:r>
              <a:rPr lang="en-US" altLang="ko-KR" sz="1400" dirty="0"/>
              <a:t>List the pods again to see the updated labels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attaching labels to resources is trivial, and so is changing them on existing resources</a:t>
            </a:r>
            <a:r>
              <a:rPr lang="en-US" altLang="ko-KR" sz="1400" dirty="0"/>
              <a:t>. It may not be evident right now, but this is an incredibly powerful feature.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5B49A45-FC9D-E317-706F-D2D50F4FC165}"/>
              </a:ext>
            </a:extLst>
          </p:cNvPr>
          <p:cNvGrpSpPr/>
          <p:nvPr/>
        </p:nvGrpSpPr>
        <p:grpSpPr>
          <a:xfrm>
            <a:off x="1303611" y="1636251"/>
            <a:ext cx="9584778" cy="2171295"/>
            <a:chOff x="1303611" y="1494361"/>
            <a:chExt cx="9584778" cy="2171295"/>
          </a:xfrm>
        </p:grpSpPr>
        <p:sp>
          <p:nvSpPr>
            <p:cNvPr id="8" name="TextBox 7">
              <a:extLst>
                <a:ext uri="{FF2B5EF4-FFF2-40B4-BE49-F238E27FC236}">
                  <a16:creationId xmlns:a16="http://schemas.microsoft.com/office/drawing/2014/main" id="{2988D51B-7505-8D39-A24A-F094B73606A7}"/>
                </a:ext>
              </a:extLst>
            </p:cNvPr>
            <p:cNvSpPr txBox="1"/>
            <p:nvPr/>
          </p:nvSpPr>
          <p:spPr>
            <a:xfrm>
              <a:off x="3047343" y="149436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 </a:t>
              </a:r>
              <a:r>
                <a:rPr lang="en-US" altLang="ko-KR" sz="1000" b="1" dirty="0">
                  <a:solidFill>
                    <a:srgbClr val="FF0000"/>
                  </a:solidFill>
                </a:rPr>
                <a:t>-L </a:t>
              </a:r>
              <a:r>
                <a:rPr lang="en-US" altLang="ko-KR" sz="1000" b="1" dirty="0" err="1">
                  <a:solidFill>
                    <a:srgbClr val="FF0000"/>
                  </a:solidFill>
                </a:rPr>
                <a:t>creation_method,env</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739AE79B-5F92-0950-FA0A-7827AD2FE090}"/>
                </a:ext>
              </a:extLst>
            </p:cNvPr>
            <p:cNvSpPr/>
            <p:nvPr/>
          </p:nvSpPr>
          <p:spPr>
            <a:xfrm>
              <a:off x="5875283" y="1734207"/>
              <a:ext cx="441434" cy="27589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42D47E8-B290-219E-A996-820290093512}"/>
                </a:ext>
              </a:extLst>
            </p:cNvPr>
            <p:cNvPicPr>
              <a:picLocks noChangeAspect="1"/>
            </p:cNvPicPr>
            <p:nvPr/>
          </p:nvPicPr>
          <p:blipFill>
            <a:blip r:embed="rId2"/>
            <a:stretch>
              <a:fillRect/>
            </a:stretch>
          </p:blipFill>
          <p:spPr>
            <a:xfrm>
              <a:off x="1303611" y="2010103"/>
              <a:ext cx="9584778" cy="1655553"/>
            </a:xfrm>
            <a:prstGeom prst="rect">
              <a:avLst/>
            </a:prstGeom>
          </p:spPr>
        </p:pic>
      </p:grpSp>
    </p:spTree>
    <p:extLst>
      <p:ext uri="{BB962C8B-B14F-4D97-AF65-F5344CB8AC3E}">
        <p14:creationId xmlns:p14="http://schemas.microsoft.com/office/powerpoint/2010/main" val="27166199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Listing Subsets of Pods through Label Selectors(1/4)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with Labels :</a:t>
            </a:r>
          </a:p>
          <a:p>
            <a:pPr lvl="1">
              <a:buFont typeface="Wingdings" panose="05000000000000000000" pitchFamily="2" charset="2"/>
              <a:buChar char="§"/>
            </a:pPr>
            <a:r>
              <a:rPr lang="en-US" altLang="ko-KR" sz="1400" dirty="0"/>
              <a:t>Attaching labels to resources so you can see the labels next to each resource when listing them isn’t that interesting. But </a:t>
            </a:r>
            <a:r>
              <a:rPr lang="en-US" altLang="ko-KR" sz="1400" b="1" dirty="0"/>
              <a:t>labels go hand in hand with label selectors</a:t>
            </a:r>
            <a:r>
              <a:rPr lang="en-US" altLang="ko-KR" sz="1400" dirty="0"/>
              <a:t>. </a:t>
            </a:r>
            <a:r>
              <a:rPr lang="en-US" altLang="ko-KR" sz="1400" b="1" dirty="0">
                <a:solidFill>
                  <a:srgbClr val="FF0000"/>
                </a:solidFill>
              </a:rPr>
              <a:t>Label selectors </a:t>
            </a:r>
            <a:r>
              <a:rPr lang="en-US" altLang="ko-KR" sz="1400" b="1" dirty="0"/>
              <a:t>allow you to </a:t>
            </a:r>
            <a:r>
              <a:rPr lang="en-US" altLang="ko-KR" sz="1400" b="1" dirty="0">
                <a:solidFill>
                  <a:srgbClr val="FF0000"/>
                </a:solidFill>
              </a:rPr>
              <a:t>select a subset of pods tagged with certain labels and perform an operation on those pods</a:t>
            </a:r>
            <a:r>
              <a:rPr lang="en-US" altLang="ko-KR" sz="1400" dirty="0"/>
              <a:t>. </a:t>
            </a:r>
            <a:r>
              <a:rPr lang="en-US" altLang="ko-KR" sz="1400" b="1" dirty="0"/>
              <a:t>A label selector is a criterion, which filters resources based on whether they include a certain label with a certain value</a:t>
            </a:r>
            <a:r>
              <a:rPr lang="en-US" altLang="ko-KR" sz="1400" dirty="0"/>
              <a:t>.</a:t>
            </a:r>
          </a:p>
          <a:p>
            <a:pPr lvl="1">
              <a:buFont typeface="Wingdings" panose="05000000000000000000" pitchFamily="2" charset="2"/>
              <a:buChar char="§"/>
            </a:pPr>
            <a:r>
              <a:rPr lang="en-US" altLang="ko-KR" sz="1400" dirty="0"/>
              <a:t>A label selector can select resources based on whether the resource</a:t>
            </a:r>
          </a:p>
          <a:p>
            <a:pPr lvl="2">
              <a:buFont typeface="Wingdings" panose="05000000000000000000" pitchFamily="2" charset="2"/>
              <a:buChar char="§"/>
            </a:pPr>
            <a:r>
              <a:rPr lang="en-US" altLang="ko-KR" sz="1400" dirty="0"/>
              <a:t>Contains (or doesn’t contain) a label with a certain key.</a:t>
            </a:r>
          </a:p>
          <a:p>
            <a:pPr lvl="2">
              <a:buFont typeface="Wingdings" panose="05000000000000000000" pitchFamily="2" charset="2"/>
              <a:buChar char="§"/>
            </a:pPr>
            <a:r>
              <a:rPr lang="en-US" altLang="ko-KR" sz="1400" dirty="0"/>
              <a:t>Contains a label with a certain key and value.</a:t>
            </a:r>
          </a:p>
          <a:p>
            <a:pPr lvl="2">
              <a:buFont typeface="Wingdings" panose="05000000000000000000" pitchFamily="2" charset="2"/>
              <a:buChar char="§"/>
            </a:pPr>
            <a:r>
              <a:rPr lang="en-US" altLang="ko-KR" sz="1400" dirty="0"/>
              <a:t>Contains a label with a certain key, but with a value not equal to the one you specify.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935053E-CC7B-F8AC-75E8-6C5A111B4650}"/>
              </a:ext>
            </a:extLst>
          </p:cNvPr>
          <p:cNvPicPr>
            <a:picLocks noChangeAspect="1"/>
          </p:cNvPicPr>
          <p:nvPr/>
        </p:nvPicPr>
        <p:blipFill>
          <a:blip r:embed="rId2"/>
          <a:stretch>
            <a:fillRect/>
          </a:stretch>
        </p:blipFill>
        <p:spPr>
          <a:xfrm>
            <a:off x="3188576" y="3252778"/>
            <a:ext cx="5814848" cy="2791127"/>
          </a:xfrm>
          <a:prstGeom prst="rect">
            <a:avLst/>
          </a:prstGeom>
        </p:spPr>
      </p:pic>
    </p:spTree>
    <p:extLst>
      <p:ext uri="{BB962C8B-B14F-4D97-AF65-F5344CB8AC3E}">
        <p14:creationId xmlns:p14="http://schemas.microsoft.com/office/powerpoint/2010/main" val="456580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Listing Subsets of Pods through Label Selectors(2/4)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Using a Label Selector :</a:t>
            </a:r>
          </a:p>
          <a:p>
            <a:pPr lvl="1">
              <a:buFont typeface="Wingdings" panose="05000000000000000000" pitchFamily="2" charset="2"/>
              <a:buChar char="§"/>
            </a:pPr>
            <a:r>
              <a:rPr lang="en-US" altLang="ko-KR" sz="1400" dirty="0"/>
              <a:t>Let’s use </a:t>
            </a:r>
            <a:r>
              <a:rPr lang="en-US" altLang="ko-KR" sz="1400" b="1" dirty="0"/>
              <a:t>label selectors</a:t>
            </a:r>
            <a:r>
              <a:rPr lang="en-US" altLang="ko-KR" sz="1400" dirty="0"/>
              <a:t> on the pods you’ve created so far. To see all pods you created manually (you labeled them with “</a:t>
            </a:r>
            <a:r>
              <a:rPr lang="en-US" altLang="ko-KR" sz="1400" b="1" dirty="0" err="1"/>
              <a:t>creation_method</a:t>
            </a:r>
            <a:r>
              <a:rPr lang="en-US" altLang="ko-KR" sz="1400" b="1" dirty="0"/>
              <a:t>=manual</a:t>
            </a:r>
            <a:r>
              <a:rPr lang="en-US" altLang="ko-KR" sz="1400" dirty="0"/>
              <a:t>”), type the following commands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a:t>
            </a:r>
            <a:r>
              <a:rPr lang="en-US" altLang="ko-KR" sz="1400" dirty="0"/>
              <a:t> To list all pods that include the “</a:t>
            </a:r>
            <a:r>
              <a:rPr lang="en-US" altLang="ko-KR" sz="1400" b="1" dirty="0"/>
              <a:t>env</a:t>
            </a:r>
            <a:r>
              <a:rPr lang="en-US" altLang="ko-KR" sz="1400" dirty="0"/>
              <a:t>” label, whatever its value is, we used “</a:t>
            </a:r>
            <a:r>
              <a:rPr lang="en-US" altLang="ko-KR" sz="1400" b="1" dirty="0" err="1"/>
              <a:t>kubectl</a:t>
            </a:r>
            <a:r>
              <a:rPr lang="en-US" altLang="ko-KR" sz="1400" b="1" dirty="0"/>
              <a:t> get po -l env</a:t>
            </a:r>
            <a:r>
              <a:rPr lang="en-US" altLang="ko-KR" sz="1400" dirty="0"/>
              <a:t>” command. To get the pod which don’t have the “</a:t>
            </a:r>
            <a:r>
              <a:rPr lang="en-US" altLang="ko-KR" sz="1400" b="1" dirty="0"/>
              <a:t>env</a:t>
            </a:r>
            <a:r>
              <a:rPr lang="en-US" altLang="ko-KR" sz="1400" dirty="0"/>
              <a:t>” label, we used “</a:t>
            </a:r>
            <a:r>
              <a:rPr lang="en-US" altLang="ko-KR" sz="1400" b="1" dirty="0"/>
              <a:t>$ </a:t>
            </a:r>
            <a:r>
              <a:rPr lang="en-US" altLang="ko-KR" sz="1400" b="1" dirty="0" err="1"/>
              <a:t>kubectl</a:t>
            </a:r>
            <a:r>
              <a:rPr lang="en-US" altLang="ko-KR" sz="1400" b="1" dirty="0"/>
              <a:t> get po -l '!env’</a:t>
            </a:r>
            <a:r>
              <a:rPr lang="en-US" altLang="ko-KR" sz="1400" dirty="0"/>
              <a:t>” command.</a:t>
            </a:r>
          </a:p>
          <a:p>
            <a:pPr lvl="1">
              <a:buFont typeface="Wingdings" panose="05000000000000000000" pitchFamily="2" charset="2"/>
              <a:buChar char="§"/>
            </a:pPr>
            <a:r>
              <a:rPr lang="en-US" altLang="ko-KR" sz="1400" b="1" dirty="0"/>
              <a:t>NOTE : Make sure to use </a:t>
            </a:r>
            <a:r>
              <a:rPr lang="en-US" altLang="ko-KR" sz="1400" b="1" dirty="0">
                <a:solidFill>
                  <a:srgbClr val="FF0000"/>
                </a:solidFill>
              </a:rPr>
              <a:t>single quotes </a:t>
            </a:r>
            <a:r>
              <a:rPr lang="en-US" altLang="ko-KR" sz="1400" b="1" dirty="0"/>
              <a:t>around “!env”, so the bash shell doesn’t evaluate the exclamation mark</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15CEE3A-D6FA-F61E-ED11-528CD84B60ED}"/>
              </a:ext>
            </a:extLst>
          </p:cNvPr>
          <p:cNvGrpSpPr/>
          <p:nvPr/>
        </p:nvGrpSpPr>
        <p:grpSpPr>
          <a:xfrm>
            <a:off x="1612681" y="1905274"/>
            <a:ext cx="8966638" cy="3047451"/>
            <a:chOff x="1612680" y="1793906"/>
            <a:chExt cx="8966638" cy="3047451"/>
          </a:xfrm>
        </p:grpSpPr>
        <p:sp>
          <p:nvSpPr>
            <p:cNvPr id="8" name="TextBox 7">
              <a:extLst>
                <a:ext uri="{FF2B5EF4-FFF2-40B4-BE49-F238E27FC236}">
                  <a16:creationId xmlns:a16="http://schemas.microsoft.com/office/drawing/2014/main" id="{04709CB3-91CA-DDBF-57F7-AFC7130353E1}"/>
                </a:ext>
              </a:extLst>
            </p:cNvPr>
            <p:cNvSpPr txBox="1"/>
            <p:nvPr/>
          </p:nvSpPr>
          <p:spPr>
            <a:xfrm>
              <a:off x="3047343" y="1793906"/>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 </a:t>
              </a:r>
              <a:r>
                <a:rPr lang="en-US" altLang="ko-KR" sz="1000" b="1" dirty="0">
                  <a:solidFill>
                    <a:srgbClr val="FF0000"/>
                  </a:solidFill>
                </a:rPr>
                <a:t>-l </a:t>
              </a:r>
              <a:r>
                <a:rPr lang="en-US" altLang="ko-KR" sz="1000" b="1" dirty="0" err="1">
                  <a:solidFill>
                    <a:srgbClr val="FF0000"/>
                  </a:solidFill>
                </a:rPr>
                <a:t>creation_method</a:t>
              </a:r>
              <a:r>
                <a:rPr lang="en-US" altLang="ko-KR" sz="1000" b="1" dirty="0">
                  <a:solidFill>
                    <a:srgbClr val="FF0000"/>
                  </a:solidFill>
                </a:rPr>
                <a:t>=manual</a:t>
              </a:r>
              <a:endParaRPr lang="en-US" altLang="ko-KR" sz="1000" b="1" dirty="0"/>
            </a:p>
            <a:p>
              <a:r>
                <a:rPr lang="en-US" altLang="ko-KR" sz="1000" b="1" dirty="0"/>
                <a:t>$ </a:t>
              </a:r>
              <a:r>
                <a:rPr lang="en-US" altLang="ko-KR" sz="1000" b="1" dirty="0" err="1"/>
                <a:t>kubectl</a:t>
              </a:r>
              <a:r>
                <a:rPr lang="en-US" altLang="ko-KR" sz="1000" b="1" dirty="0"/>
                <a:t> get po </a:t>
              </a:r>
              <a:r>
                <a:rPr lang="en-US" altLang="ko-KR" sz="1000" b="1" dirty="0">
                  <a:solidFill>
                    <a:srgbClr val="FF0000"/>
                  </a:solidFill>
                </a:rPr>
                <a:t>-l env</a:t>
              </a:r>
            </a:p>
            <a:p>
              <a:r>
                <a:rPr lang="en-US" altLang="ko-KR" sz="1000" b="1" dirty="0"/>
                <a:t>$ </a:t>
              </a:r>
              <a:r>
                <a:rPr lang="en-US" altLang="ko-KR" sz="1000" b="1" dirty="0" err="1"/>
                <a:t>kubectl</a:t>
              </a:r>
              <a:r>
                <a:rPr lang="en-US" altLang="ko-KR" sz="1000" b="1" dirty="0"/>
                <a:t> get po </a:t>
              </a:r>
              <a:r>
                <a:rPr lang="en-US" altLang="ko-KR" sz="1000" b="1" dirty="0">
                  <a:solidFill>
                    <a:srgbClr val="FF0000"/>
                  </a:solidFill>
                </a:rPr>
                <a:t>-l '!env'</a:t>
              </a:r>
            </a:p>
          </p:txBody>
        </p:sp>
        <p:sp>
          <p:nvSpPr>
            <p:cNvPr id="9" name="화살표: 아래쪽 8">
              <a:extLst>
                <a:ext uri="{FF2B5EF4-FFF2-40B4-BE49-F238E27FC236}">
                  <a16:creationId xmlns:a16="http://schemas.microsoft.com/office/drawing/2014/main" id="{6137E39D-FF06-4E08-E58D-268059773586}"/>
                </a:ext>
              </a:extLst>
            </p:cNvPr>
            <p:cNvSpPr/>
            <p:nvPr/>
          </p:nvSpPr>
          <p:spPr>
            <a:xfrm>
              <a:off x="5871341" y="2347903"/>
              <a:ext cx="449317" cy="30070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4CE6E53-B977-873A-9DF3-925707F935BE}"/>
                </a:ext>
              </a:extLst>
            </p:cNvPr>
            <p:cNvPicPr>
              <a:picLocks noChangeAspect="1"/>
            </p:cNvPicPr>
            <p:nvPr/>
          </p:nvPicPr>
          <p:blipFill>
            <a:blip r:embed="rId2"/>
            <a:stretch>
              <a:fillRect/>
            </a:stretch>
          </p:blipFill>
          <p:spPr>
            <a:xfrm>
              <a:off x="1612680" y="2648606"/>
              <a:ext cx="8966638" cy="2192751"/>
            </a:xfrm>
            <a:prstGeom prst="rect">
              <a:avLst/>
            </a:prstGeom>
          </p:spPr>
        </p:pic>
      </p:grpSp>
    </p:spTree>
    <p:extLst>
      <p:ext uri="{BB962C8B-B14F-4D97-AF65-F5344CB8AC3E}">
        <p14:creationId xmlns:p14="http://schemas.microsoft.com/office/powerpoint/2010/main" val="41236410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Listing Subsets of Pods through Label Selectors(3/4)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Using a Label Selector :</a:t>
            </a:r>
          </a:p>
          <a:p>
            <a:pPr lvl="1">
              <a:buFont typeface="Wingdings" panose="05000000000000000000" pitchFamily="2" charset="2"/>
              <a:buChar char="§"/>
            </a:pPr>
            <a:r>
              <a:rPr lang="en-US" altLang="ko-KR" sz="1400" dirty="0"/>
              <a:t>Similarly, you could also match pods with the following label selectors :</a:t>
            </a:r>
          </a:p>
          <a:p>
            <a:pPr lvl="2">
              <a:buFont typeface="Wingdings" panose="05000000000000000000" pitchFamily="2" charset="2"/>
              <a:buChar char="§"/>
            </a:pPr>
            <a:r>
              <a:rPr lang="en-US" altLang="ko-KR" sz="1400" dirty="0"/>
              <a:t>“</a:t>
            </a:r>
            <a:r>
              <a:rPr lang="en-US" altLang="ko-KR" sz="1400" b="1" dirty="0" err="1"/>
              <a:t>creation_method</a:t>
            </a:r>
            <a:r>
              <a:rPr lang="en-US" altLang="ko-KR" sz="1400" b="1" dirty="0"/>
              <a:t>!=manual</a:t>
            </a:r>
            <a:r>
              <a:rPr lang="en-US" altLang="ko-KR" sz="1400" dirty="0"/>
              <a:t>” to select pods with the “</a:t>
            </a:r>
            <a:r>
              <a:rPr lang="en-US" altLang="ko-KR" sz="1400" b="1" dirty="0" err="1"/>
              <a:t>creation_method</a:t>
            </a:r>
            <a:r>
              <a:rPr lang="en-US" altLang="ko-KR" sz="1400" dirty="0"/>
              <a:t>” label with any value other than manual</a:t>
            </a:r>
          </a:p>
          <a:p>
            <a:pPr lvl="2">
              <a:buFont typeface="Wingdings" panose="05000000000000000000" pitchFamily="2" charset="2"/>
              <a:buChar char="§"/>
            </a:pPr>
            <a:r>
              <a:rPr lang="en-US" altLang="ko-KR" sz="1400" dirty="0"/>
              <a:t>“</a:t>
            </a:r>
            <a:r>
              <a:rPr lang="en-US" altLang="ko-KR" sz="1400" b="1" dirty="0"/>
              <a:t>env in (</a:t>
            </a:r>
            <a:r>
              <a:rPr lang="en-US" altLang="ko-KR" sz="1400" b="1" dirty="0" err="1"/>
              <a:t>prod,devel</a:t>
            </a:r>
            <a:r>
              <a:rPr lang="en-US" altLang="ko-KR" sz="1400" b="1" dirty="0"/>
              <a:t>)</a:t>
            </a:r>
            <a:r>
              <a:rPr lang="en-US" altLang="ko-KR" sz="1400" dirty="0"/>
              <a:t>” to select pods with the “</a:t>
            </a:r>
            <a:r>
              <a:rPr lang="en-US" altLang="ko-KR" sz="1400" b="1" dirty="0"/>
              <a:t>env</a:t>
            </a:r>
            <a:r>
              <a:rPr lang="en-US" altLang="ko-KR" sz="1400" dirty="0"/>
              <a:t>” label set to either “</a:t>
            </a:r>
            <a:r>
              <a:rPr lang="en-US" altLang="ko-KR" sz="1400" b="1" dirty="0"/>
              <a:t>prod</a:t>
            </a:r>
            <a:r>
              <a:rPr lang="en-US" altLang="ko-KR" sz="1400" dirty="0"/>
              <a:t>” or “</a:t>
            </a:r>
            <a:r>
              <a:rPr lang="en-US" altLang="ko-KR" sz="1400" b="1" dirty="0" err="1"/>
              <a:t>devel</a:t>
            </a:r>
            <a:r>
              <a:rPr lang="en-US" altLang="ko-KR" sz="1400" dirty="0"/>
              <a:t>”</a:t>
            </a:r>
          </a:p>
          <a:p>
            <a:pPr lvl="2">
              <a:buFont typeface="Wingdings" panose="05000000000000000000" pitchFamily="2" charset="2"/>
              <a:buChar char="§"/>
            </a:pPr>
            <a:r>
              <a:rPr lang="en-US" altLang="ko-KR" sz="1400" dirty="0"/>
              <a:t>“</a:t>
            </a:r>
            <a:r>
              <a:rPr lang="en-US" altLang="ko-KR" sz="1400" b="1" dirty="0"/>
              <a:t>env </a:t>
            </a:r>
            <a:r>
              <a:rPr lang="en-US" altLang="ko-KR" sz="1400" b="1" dirty="0" err="1"/>
              <a:t>notin</a:t>
            </a:r>
            <a:r>
              <a:rPr lang="en-US" altLang="ko-KR" sz="1400" b="1" dirty="0"/>
              <a:t> (</a:t>
            </a:r>
            <a:r>
              <a:rPr lang="en-US" altLang="ko-KR" sz="1400" b="1" dirty="0" err="1"/>
              <a:t>prod,devel</a:t>
            </a:r>
            <a:r>
              <a:rPr lang="en-US" altLang="ko-KR" sz="1400" b="1" dirty="0"/>
              <a:t>)</a:t>
            </a:r>
            <a:r>
              <a:rPr lang="en-US" altLang="ko-KR" sz="1400" dirty="0"/>
              <a:t>” to select pods with the “</a:t>
            </a:r>
            <a:r>
              <a:rPr lang="en-US" altLang="ko-KR" sz="1400" b="1" dirty="0"/>
              <a:t>env</a:t>
            </a:r>
            <a:r>
              <a:rPr lang="en-US" altLang="ko-KR" sz="1400" dirty="0"/>
              <a:t>” label set to any value other than “</a:t>
            </a:r>
            <a:r>
              <a:rPr lang="en-US" altLang="ko-KR" sz="1400" b="1" dirty="0"/>
              <a:t>prod</a:t>
            </a:r>
            <a:r>
              <a:rPr lang="en-US" altLang="ko-KR" sz="1400" dirty="0"/>
              <a:t>” or “</a:t>
            </a:r>
            <a:r>
              <a:rPr lang="en-US" altLang="ko-KR" sz="1400" b="1" dirty="0" err="1"/>
              <a:t>devel</a:t>
            </a:r>
            <a:r>
              <a:rPr lang="en-US" altLang="ko-KR" sz="1400" dirty="0"/>
              <a:t>”</a:t>
            </a:r>
          </a:p>
          <a:p>
            <a:pPr lvl="1">
              <a:buFont typeface="Wingdings" panose="05000000000000000000" pitchFamily="2" charset="2"/>
              <a:buChar char="§"/>
            </a:pPr>
            <a:r>
              <a:rPr lang="en-US" altLang="ko-KR" sz="1400" dirty="0"/>
              <a:t>Turning back to the pods in the microservices-oriented architecture example, you could select all pods that are part of the product catalog microservice by using the “</a:t>
            </a:r>
            <a:r>
              <a:rPr lang="en-US" altLang="ko-KR" sz="1400" b="1" dirty="0"/>
              <a:t>app=pc</a:t>
            </a:r>
            <a:r>
              <a:rPr lang="en-US" altLang="ko-KR" sz="1400" dirty="0"/>
              <a:t>” label selector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90F7C09-7D66-A113-49B6-C818C41BD3F8}"/>
              </a:ext>
            </a:extLst>
          </p:cNvPr>
          <p:cNvGrpSpPr/>
          <p:nvPr/>
        </p:nvGrpSpPr>
        <p:grpSpPr>
          <a:xfrm>
            <a:off x="2969342" y="2844827"/>
            <a:ext cx="6253316" cy="2871019"/>
            <a:chOff x="2969342" y="2844827"/>
            <a:chExt cx="6253316" cy="2871019"/>
          </a:xfrm>
        </p:grpSpPr>
        <p:pic>
          <p:nvPicPr>
            <p:cNvPr id="8" name="그림 7">
              <a:extLst>
                <a:ext uri="{FF2B5EF4-FFF2-40B4-BE49-F238E27FC236}">
                  <a16:creationId xmlns:a16="http://schemas.microsoft.com/office/drawing/2014/main" id="{36FFEF87-2C6F-D605-3F26-6F17BAA973CC}"/>
                </a:ext>
              </a:extLst>
            </p:cNvPr>
            <p:cNvPicPr>
              <a:picLocks noChangeAspect="1"/>
            </p:cNvPicPr>
            <p:nvPr/>
          </p:nvPicPr>
          <p:blipFill>
            <a:blip r:embed="rId2"/>
            <a:stretch>
              <a:fillRect/>
            </a:stretch>
          </p:blipFill>
          <p:spPr>
            <a:xfrm>
              <a:off x="2969342" y="2844827"/>
              <a:ext cx="6253316" cy="2871019"/>
            </a:xfrm>
            <a:prstGeom prst="rect">
              <a:avLst/>
            </a:prstGeom>
          </p:spPr>
        </p:pic>
        <p:sp>
          <p:nvSpPr>
            <p:cNvPr id="9" name="직사각형 8">
              <a:extLst>
                <a:ext uri="{FF2B5EF4-FFF2-40B4-BE49-F238E27FC236}">
                  <a16:creationId xmlns:a16="http://schemas.microsoft.com/office/drawing/2014/main" id="{F032D867-0341-FA01-0C0D-43B81163F442}"/>
                </a:ext>
              </a:extLst>
            </p:cNvPr>
            <p:cNvSpPr/>
            <p:nvPr/>
          </p:nvSpPr>
          <p:spPr>
            <a:xfrm>
              <a:off x="5604641" y="2885090"/>
              <a:ext cx="1198180" cy="2743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84199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Listing Subsets of Pods through Label Selectors(4/4)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Multiple Conditions in a Label Selector :</a:t>
            </a:r>
          </a:p>
          <a:p>
            <a:pPr lvl="1">
              <a:buFont typeface="Wingdings" panose="05000000000000000000" pitchFamily="2" charset="2"/>
              <a:buChar char="§"/>
            </a:pPr>
            <a:r>
              <a:rPr lang="en-US" altLang="ko-KR" sz="1400" b="1" dirty="0"/>
              <a:t>A selector can also include multiple comma-separated criteria</a:t>
            </a:r>
            <a:r>
              <a:rPr lang="en-US" altLang="ko-KR" sz="1400" dirty="0"/>
              <a:t>. Resources need to match all of them to match the selector. If, for example, you want to select only pods running the beta release of the product catalog microservice, you’d use the following selector : “</a:t>
            </a:r>
            <a:r>
              <a:rPr lang="en-US" altLang="ko-KR" sz="1400" b="1" dirty="0"/>
              <a:t>app=</a:t>
            </a:r>
            <a:r>
              <a:rPr lang="en-US" altLang="ko-KR" sz="1400" b="1" dirty="0" err="1"/>
              <a:t>pc,rel</a:t>
            </a:r>
            <a:r>
              <a:rPr lang="en-US" altLang="ko-KR" sz="1400" b="1" dirty="0"/>
              <a:t>=beta</a:t>
            </a:r>
            <a:r>
              <a:rPr lang="en-US" altLang="ko-KR" sz="1400" dirty="0"/>
              <a:t>”.</a:t>
            </a:r>
          </a:p>
          <a:p>
            <a:pPr lvl="1">
              <a:buFont typeface="Wingdings" panose="05000000000000000000" pitchFamily="2" charset="2"/>
              <a:buChar char="§"/>
            </a:pPr>
            <a:r>
              <a:rPr lang="en-US" altLang="ko-KR" sz="1400" b="1" dirty="0"/>
              <a:t>Label selectors aren’t useful only for listing pods, but also for performing actions on a subset of all pods</a:t>
            </a:r>
            <a:r>
              <a:rPr lang="en-US" altLang="ko-KR" sz="1400" dirty="0"/>
              <a:t>. For example, you’ll see how to use label selectors to delete multiple pods at once. But </a:t>
            </a:r>
            <a:r>
              <a:rPr lang="en-US" altLang="ko-KR" sz="1400" b="1" dirty="0"/>
              <a:t>label selectors aren’t used only by </a:t>
            </a:r>
            <a:r>
              <a:rPr lang="en-US" altLang="ko-KR" sz="1400" b="1" dirty="0" err="1"/>
              <a:t>kubectl</a:t>
            </a:r>
            <a:r>
              <a:rPr lang="en-US" altLang="ko-KR" sz="1400" dirty="0"/>
              <a:t>. </a:t>
            </a:r>
            <a:r>
              <a:rPr lang="en-US" altLang="ko-KR" sz="1400" b="1" dirty="0"/>
              <a:t>They’re also used internally.</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4D593A0F-83C0-1E41-3E63-ED1FCAF4032C}"/>
              </a:ext>
            </a:extLst>
          </p:cNvPr>
          <p:cNvGrpSpPr/>
          <p:nvPr/>
        </p:nvGrpSpPr>
        <p:grpSpPr>
          <a:xfrm>
            <a:off x="2969342" y="2849745"/>
            <a:ext cx="6253316" cy="2861187"/>
            <a:chOff x="2969342" y="2707855"/>
            <a:chExt cx="6253316" cy="2861187"/>
          </a:xfrm>
        </p:grpSpPr>
        <p:pic>
          <p:nvPicPr>
            <p:cNvPr id="8" name="그림 7">
              <a:extLst>
                <a:ext uri="{FF2B5EF4-FFF2-40B4-BE49-F238E27FC236}">
                  <a16:creationId xmlns:a16="http://schemas.microsoft.com/office/drawing/2014/main" id="{C3C7A7FA-D598-C4E9-6621-F6338088232F}"/>
                </a:ext>
              </a:extLst>
            </p:cNvPr>
            <p:cNvPicPr>
              <a:picLocks noChangeAspect="1"/>
            </p:cNvPicPr>
            <p:nvPr/>
          </p:nvPicPr>
          <p:blipFill>
            <a:blip r:embed="rId2"/>
            <a:stretch>
              <a:fillRect/>
            </a:stretch>
          </p:blipFill>
          <p:spPr>
            <a:xfrm>
              <a:off x="2969342" y="2707855"/>
              <a:ext cx="6253316" cy="2861187"/>
            </a:xfrm>
            <a:prstGeom prst="rect">
              <a:avLst/>
            </a:prstGeom>
          </p:spPr>
        </p:pic>
        <p:sp>
          <p:nvSpPr>
            <p:cNvPr id="9" name="직사각형 8">
              <a:extLst>
                <a:ext uri="{FF2B5EF4-FFF2-40B4-BE49-F238E27FC236}">
                  <a16:creationId xmlns:a16="http://schemas.microsoft.com/office/drawing/2014/main" id="{D6A27A28-8A53-9487-6574-A2BC869D0955}"/>
                </a:ext>
              </a:extLst>
            </p:cNvPr>
            <p:cNvSpPr/>
            <p:nvPr/>
          </p:nvSpPr>
          <p:spPr>
            <a:xfrm>
              <a:off x="5620407" y="2758966"/>
              <a:ext cx="1190296" cy="2727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653AE1A-FA0A-F12E-A29A-F6AD8488A75F}"/>
                </a:ext>
              </a:extLst>
            </p:cNvPr>
            <p:cNvSpPr/>
            <p:nvPr/>
          </p:nvSpPr>
          <p:spPr>
            <a:xfrm>
              <a:off x="2969342" y="3854669"/>
              <a:ext cx="6158892" cy="8276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5590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Labels and Selectors to Constrain Pod Scheduling(1/4)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Node Labels and Node Label Selectors :</a:t>
            </a:r>
          </a:p>
          <a:p>
            <a:pPr lvl="1">
              <a:buFont typeface="Wingdings" panose="05000000000000000000" pitchFamily="2" charset="2"/>
              <a:buChar char="§"/>
            </a:pPr>
            <a:r>
              <a:rPr lang="en-US" altLang="ko-KR" sz="1400" b="1" dirty="0"/>
              <a:t>All the pods you’ve created so far have been scheduled pretty much randomly across your worker nodes</a:t>
            </a:r>
            <a:r>
              <a:rPr lang="en-US" altLang="ko-KR" sz="1400" dirty="0"/>
              <a:t>. And this is the proper way of working in a Kubernetes cluster. </a:t>
            </a:r>
            <a:r>
              <a:rPr lang="en-US" altLang="ko-KR" sz="1400" b="1" dirty="0"/>
              <a:t>Because Kubernetes exposes all the nodes in the cluster as a single, large deployment platform, it shouldn’t matter to you what node a pod is scheduled to</a:t>
            </a:r>
            <a:r>
              <a:rPr lang="en-US" altLang="ko-KR" sz="1400" dirty="0"/>
              <a:t>. Because each pod gets the exact amount of computational resources it requests (CPU, memory, and so on) and its accessibility from other pods isn’t at all affected by the node the pod is scheduled to, </a:t>
            </a:r>
            <a:r>
              <a:rPr lang="en-US" altLang="ko-KR" sz="1400" b="1" dirty="0"/>
              <a:t>usually there shouldn’t be any need for you to tell Kubernetes exactly where to schedule your pods</a:t>
            </a:r>
            <a:r>
              <a:rPr lang="en-US" altLang="ko-KR" sz="1400" dirty="0"/>
              <a:t>.</a:t>
            </a:r>
          </a:p>
          <a:p>
            <a:pPr lvl="1">
              <a:buFont typeface="Wingdings" panose="05000000000000000000" pitchFamily="2" charset="2"/>
              <a:buChar char="§"/>
            </a:pPr>
            <a:r>
              <a:rPr lang="en-US" altLang="ko-KR" sz="1400" b="1" dirty="0"/>
              <a:t>Certain cases exist, however, where you’ll want to have at least a little say in where a pod should be scheduled</a:t>
            </a:r>
            <a:r>
              <a:rPr lang="en-US" altLang="ko-KR" sz="1400" dirty="0"/>
              <a:t>. A good example is </a:t>
            </a:r>
            <a:r>
              <a:rPr lang="en-US" altLang="ko-KR" sz="1400" b="1" dirty="0"/>
              <a:t>when your hardware infrastructure isn’t homogenous</a:t>
            </a:r>
            <a:r>
              <a:rPr lang="en-US" altLang="ko-KR" sz="1400" dirty="0"/>
              <a:t>. If part of your worker nodes have spinning hard drives, whereas others have </a:t>
            </a:r>
            <a:r>
              <a:rPr lang="en-US" altLang="ko-KR" sz="1400" b="1" dirty="0"/>
              <a:t>SSDs</a:t>
            </a:r>
            <a:r>
              <a:rPr lang="en-US" altLang="ko-KR" sz="1400" dirty="0"/>
              <a:t>, you may want to schedule certain pods to one group of nodes and the rest to the other. Another example is when you need to </a:t>
            </a:r>
            <a:r>
              <a:rPr lang="en-US" altLang="ko-KR" sz="1400" b="1" dirty="0"/>
              <a:t>schedule pods performing intensive GPU-based computation only to nodes that provide the required GPU acceleration</a:t>
            </a:r>
            <a:r>
              <a:rPr lang="en-US" altLang="ko-KR" sz="1400" dirty="0"/>
              <a:t>.</a:t>
            </a:r>
          </a:p>
          <a:p>
            <a:pPr lvl="1">
              <a:buFont typeface="Wingdings" panose="05000000000000000000" pitchFamily="2" charset="2"/>
              <a:buChar char="§"/>
            </a:pPr>
            <a:r>
              <a:rPr lang="en-US" altLang="ko-KR" sz="1400" b="1" dirty="0"/>
              <a:t>You never want to say specifically what node a pod should be scheduled to, because that would couple the application to the infrastructure, whereas the whole idea of Kubernetes is hiding the actual infrastructure from the apps that run on it</a:t>
            </a:r>
            <a:r>
              <a:rPr lang="en-US" altLang="ko-KR" sz="1400" dirty="0"/>
              <a:t>. But if you want to have a say in where a pod should be scheduled, instead of specifying an exact node, you should </a:t>
            </a:r>
            <a:r>
              <a:rPr lang="en-US" altLang="ko-KR" sz="1400" b="1" dirty="0"/>
              <a:t>describe the node requirements and then let Kubernetes select a node that matches those requirements</a:t>
            </a:r>
            <a:r>
              <a:rPr lang="en-US" altLang="ko-KR" sz="1400" dirty="0"/>
              <a:t>. </a:t>
            </a:r>
            <a:r>
              <a:rPr lang="en-US" altLang="ko-KR" sz="1400" b="1" dirty="0"/>
              <a:t>This can be done through </a:t>
            </a:r>
            <a:r>
              <a:rPr lang="en-US" altLang="ko-KR" sz="1400" b="1" dirty="0">
                <a:solidFill>
                  <a:srgbClr val="FF0000"/>
                </a:solidFill>
              </a:rPr>
              <a:t>node labels </a:t>
            </a:r>
            <a:r>
              <a:rPr lang="en-US" altLang="ko-KR" sz="1400" b="1" dirty="0"/>
              <a:t>and </a:t>
            </a:r>
            <a:r>
              <a:rPr lang="en-US" altLang="ko-KR" sz="1400" b="1" dirty="0">
                <a:solidFill>
                  <a:srgbClr val="FF0000"/>
                </a:solidFill>
              </a:rPr>
              <a:t>node label selectors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222C822-4728-457D-3741-580F32A9610F}"/>
              </a:ext>
            </a:extLst>
          </p:cNvPr>
          <p:cNvPicPr>
            <a:picLocks noChangeAspect="1"/>
          </p:cNvPicPr>
          <p:nvPr/>
        </p:nvPicPr>
        <p:blipFill>
          <a:blip r:embed="rId2"/>
          <a:stretch>
            <a:fillRect/>
          </a:stretch>
        </p:blipFill>
        <p:spPr>
          <a:xfrm>
            <a:off x="3877924" y="4338248"/>
            <a:ext cx="4436152" cy="2070782"/>
          </a:xfrm>
          <a:prstGeom prst="rect">
            <a:avLst/>
          </a:prstGeom>
        </p:spPr>
      </p:pic>
    </p:spTree>
    <p:extLst>
      <p:ext uri="{BB962C8B-B14F-4D97-AF65-F5344CB8AC3E}">
        <p14:creationId xmlns:p14="http://schemas.microsoft.com/office/powerpoint/2010/main" val="37073990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Labels and Selectors to Constrain Pod Scheduling(2/4)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Labels for Categorizing Worker Nodes :</a:t>
            </a:r>
          </a:p>
          <a:p>
            <a:pPr lvl="1">
              <a:buFont typeface="Wingdings" panose="05000000000000000000" pitchFamily="2" charset="2"/>
              <a:buChar char="§"/>
            </a:pPr>
            <a:r>
              <a:rPr lang="en-US" altLang="ko-KR" sz="1400" b="1" dirty="0"/>
              <a:t>Labels can be attached to any Kubernetes object, including nodes</a:t>
            </a:r>
            <a:r>
              <a:rPr lang="en-US" altLang="ko-KR" sz="1400" dirty="0"/>
              <a:t>. </a:t>
            </a:r>
            <a:r>
              <a:rPr lang="en-US" altLang="ko-KR" sz="1400" b="1" dirty="0"/>
              <a:t>Usually, when the ops team adds a new node to the cluster, they’ll categorize the node by attaching labels specifying the type of hardware the node provides or anything else that may come in handy when scheduling pods</a:t>
            </a:r>
            <a:r>
              <a:rPr lang="en-US" altLang="ko-KR" sz="1400" dirty="0"/>
              <a:t>.</a:t>
            </a:r>
          </a:p>
          <a:p>
            <a:pPr lvl="1">
              <a:buFont typeface="Wingdings" panose="05000000000000000000" pitchFamily="2" charset="2"/>
              <a:buChar char="§"/>
            </a:pPr>
            <a:r>
              <a:rPr lang="en-US" altLang="ko-KR" sz="1400" dirty="0"/>
              <a:t>Let’s imagine one of the nodes in your cluster contains a GPU meant to be used for general-purpose GPU computing. You want to add a label to the node showing this feature. You’re going to add </a:t>
            </a:r>
            <a:r>
              <a:rPr lang="en-US" altLang="ko-KR" sz="1400" b="1" dirty="0"/>
              <a:t>the label “</a:t>
            </a:r>
            <a:r>
              <a:rPr lang="en-US" altLang="ko-KR" sz="1400" b="1" dirty="0" err="1"/>
              <a:t>gpu</a:t>
            </a:r>
            <a:r>
              <a:rPr lang="en-US" altLang="ko-KR" sz="1400" b="1" dirty="0"/>
              <a:t>=true”</a:t>
            </a:r>
            <a:r>
              <a:rPr lang="en-US" altLang="ko-KR" sz="1400" dirty="0"/>
              <a:t> to one of your nodes (pick one out of the list returned by “</a:t>
            </a:r>
            <a:r>
              <a:rPr lang="en-US" altLang="ko-KR" sz="1400" b="1" dirty="0" err="1"/>
              <a:t>kubectl</a:t>
            </a:r>
            <a:r>
              <a:rPr lang="en-US" altLang="ko-KR" sz="1400" b="1" dirty="0"/>
              <a:t> get nodes</a:t>
            </a:r>
            <a:r>
              <a:rPr lang="en-US" altLang="ko-KR" sz="1400" dirty="0"/>
              <a:t>”). Then you can use a label selector when listing the nodes, like you did before with pods. List only nodes that include the label “</a:t>
            </a:r>
            <a:r>
              <a:rPr lang="en-US" altLang="ko-KR" sz="1400" b="1" dirty="0" err="1"/>
              <a:t>gpu</a:t>
            </a:r>
            <a:r>
              <a:rPr lang="en-US" altLang="ko-KR" sz="1400" b="1" dirty="0"/>
              <a:t>=true</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can also try listing all the nodes and tell </a:t>
            </a:r>
            <a:r>
              <a:rPr lang="en-US" altLang="ko-KR" sz="1400" b="1" dirty="0" err="1"/>
              <a:t>kubectl</a:t>
            </a:r>
            <a:r>
              <a:rPr lang="en-US" altLang="ko-KR" sz="1400" b="1" dirty="0"/>
              <a:t> to display an additional column showing the values of each node’s </a:t>
            </a:r>
            <a:r>
              <a:rPr lang="en-US" altLang="ko-KR" sz="1400" b="1" dirty="0" err="1"/>
              <a:t>gpu</a:t>
            </a:r>
            <a:r>
              <a:rPr lang="en-US" altLang="ko-KR" sz="1400" b="1" dirty="0"/>
              <a:t> label with </a:t>
            </a:r>
            <a:r>
              <a:rPr lang="en-US" altLang="ko-KR" sz="1400" dirty="0"/>
              <a:t>“</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get nodes -L </a:t>
            </a:r>
            <a:r>
              <a:rPr lang="en-US" altLang="ko-KR" sz="1400" b="1" dirty="0" err="1">
                <a:solidFill>
                  <a:srgbClr val="FF0000"/>
                </a:solidFill>
              </a:rPr>
              <a:t>gpu</a:t>
            </a:r>
            <a:r>
              <a:rPr lang="en-US" altLang="ko-KR" sz="1400" dirty="0"/>
              <a:t>” </a:t>
            </a:r>
            <a:r>
              <a:rPr lang="en-US" altLang="ko-KR" sz="1400" b="1" dirty="0"/>
              <a:t>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73F8D5A9-8C2B-20CD-C37C-87E3DDD941D1}"/>
              </a:ext>
            </a:extLst>
          </p:cNvPr>
          <p:cNvGrpSpPr/>
          <p:nvPr/>
        </p:nvGrpSpPr>
        <p:grpSpPr>
          <a:xfrm>
            <a:off x="1760811" y="2750207"/>
            <a:ext cx="8670378" cy="2864996"/>
            <a:chOff x="1760811" y="2750207"/>
            <a:chExt cx="8670378" cy="2864996"/>
          </a:xfrm>
        </p:grpSpPr>
        <p:grpSp>
          <p:nvGrpSpPr>
            <p:cNvPr id="14" name="그룹 13">
              <a:extLst>
                <a:ext uri="{FF2B5EF4-FFF2-40B4-BE49-F238E27FC236}">
                  <a16:creationId xmlns:a16="http://schemas.microsoft.com/office/drawing/2014/main" id="{A78DECF1-2FF2-77DE-EAB1-0954983063F9}"/>
                </a:ext>
              </a:extLst>
            </p:cNvPr>
            <p:cNvGrpSpPr/>
            <p:nvPr/>
          </p:nvGrpSpPr>
          <p:grpSpPr>
            <a:xfrm>
              <a:off x="1760811" y="2750207"/>
              <a:ext cx="8670378" cy="2864996"/>
              <a:chOff x="1760811" y="2821152"/>
              <a:chExt cx="8670378" cy="2864996"/>
            </a:xfrm>
          </p:grpSpPr>
          <p:grpSp>
            <p:nvGrpSpPr>
              <p:cNvPr id="11" name="그룹 10">
                <a:extLst>
                  <a:ext uri="{FF2B5EF4-FFF2-40B4-BE49-F238E27FC236}">
                    <a16:creationId xmlns:a16="http://schemas.microsoft.com/office/drawing/2014/main" id="{B7863572-AD5E-7B0F-32D8-F82DF70E2C82}"/>
                  </a:ext>
                </a:extLst>
              </p:cNvPr>
              <p:cNvGrpSpPr/>
              <p:nvPr/>
            </p:nvGrpSpPr>
            <p:grpSpPr>
              <a:xfrm>
                <a:off x="3834762" y="2821152"/>
                <a:ext cx="4522476" cy="673754"/>
                <a:chOff x="3834761" y="2687714"/>
                <a:chExt cx="4522476" cy="673754"/>
              </a:xfrm>
            </p:grpSpPr>
            <p:sp>
              <p:nvSpPr>
                <p:cNvPr id="9" name="TextBox 8">
                  <a:extLst>
                    <a:ext uri="{FF2B5EF4-FFF2-40B4-BE49-F238E27FC236}">
                      <a16:creationId xmlns:a16="http://schemas.microsoft.com/office/drawing/2014/main" id="{28376158-E447-1D5F-06B5-25F6E685D37C}"/>
                    </a:ext>
                  </a:extLst>
                </p:cNvPr>
                <p:cNvSpPr txBox="1"/>
                <p:nvPr/>
              </p:nvSpPr>
              <p:spPr>
                <a:xfrm>
                  <a:off x="3834761" y="2687714"/>
                  <a:ext cx="4522476" cy="400110"/>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label node </a:t>
                  </a:r>
                  <a:r>
                    <a:rPr lang="en-US" altLang="ko-KR" sz="1000" b="1" dirty="0" err="1">
                      <a:solidFill>
                        <a:srgbClr val="FF0000"/>
                      </a:solidFill>
                    </a:rPr>
                    <a:t>minikube</a:t>
                  </a:r>
                  <a:r>
                    <a:rPr lang="en-US" altLang="ko-KR" sz="1000" b="1" dirty="0">
                      <a:solidFill>
                        <a:srgbClr val="FF0000"/>
                      </a:solidFill>
                    </a:rPr>
                    <a:t> </a:t>
                  </a:r>
                  <a:r>
                    <a:rPr lang="en-US" altLang="ko-KR" sz="1000" b="1" dirty="0" err="1">
                      <a:solidFill>
                        <a:srgbClr val="FF0000"/>
                      </a:solidFill>
                    </a:rPr>
                    <a:t>gpu</a:t>
                  </a:r>
                  <a:r>
                    <a:rPr lang="en-US" altLang="ko-KR" sz="1000" b="1" dirty="0">
                      <a:solidFill>
                        <a:srgbClr val="FF0000"/>
                      </a:solidFill>
                    </a:rPr>
                    <a:t>=true</a:t>
                  </a:r>
                </a:p>
                <a:p>
                  <a:r>
                    <a:rPr lang="en-US" altLang="ko-KR" sz="1000" b="1" dirty="0"/>
                    <a:t>$ </a:t>
                  </a:r>
                  <a:r>
                    <a:rPr lang="en-US" altLang="ko-KR" sz="1000" b="1" dirty="0" err="1"/>
                    <a:t>kubectl</a:t>
                  </a:r>
                  <a:r>
                    <a:rPr lang="en-US" altLang="ko-KR" sz="1000" b="1" dirty="0"/>
                    <a:t> get nodes -l </a:t>
                  </a:r>
                  <a:r>
                    <a:rPr lang="en-US" altLang="ko-KR" sz="1000" b="1" dirty="0" err="1">
                      <a:solidFill>
                        <a:srgbClr val="FF0000"/>
                      </a:solidFill>
                    </a:rPr>
                    <a:t>gpu</a:t>
                  </a:r>
                  <a:r>
                    <a:rPr lang="en-US" altLang="ko-KR" sz="1000" b="1" dirty="0">
                      <a:solidFill>
                        <a:srgbClr val="FF0000"/>
                      </a:solidFill>
                    </a:rPr>
                    <a:t>=true</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79131A70-42CB-C187-438D-074FE8E905C7}"/>
                    </a:ext>
                  </a:extLst>
                </p:cNvPr>
                <p:cNvSpPr/>
                <p:nvPr/>
              </p:nvSpPr>
              <p:spPr>
                <a:xfrm>
                  <a:off x="5871341" y="3095707"/>
                  <a:ext cx="449317"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그림 12">
                <a:extLst>
                  <a:ext uri="{FF2B5EF4-FFF2-40B4-BE49-F238E27FC236}">
                    <a16:creationId xmlns:a16="http://schemas.microsoft.com/office/drawing/2014/main" id="{46487691-AB36-CE48-68BE-76F0E5495D9B}"/>
                  </a:ext>
                </a:extLst>
              </p:cNvPr>
              <p:cNvPicPr>
                <a:picLocks noChangeAspect="1"/>
              </p:cNvPicPr>
              <p:nvPr/>
            </p:nvPicPr>
            <p:blipFill>
              <a:blip r:embed="rId2"/>
              <a:stretch>
                <a:fillRect/>
              </a:stretch>
            </p:blipFill>
            <p:spPr>
              <a:xfrm>
                <a:off x="1760811" y="3502789"/>
                <a:ext cx="8670378" cy="2183359"/>
              </a:xfrm>
              <a:prstGeom prst="rect">
                <a:avLst/>
              </a:prstGeom>
            </p:spPr>
          </p:pic>
        </p:grpSp>
        <p:sp>
          <p:nvSpPr>
            <p:cNvPr id="15" name="직사각형 14">
              <a:extLst>
                <a:ext uri="{FF2B5EF4-FFF2-40B4-BE49-F238E27FC236}">
                  <a16:creationId xmlns:a16="http://schemas.microsoft.com/office/drawing/2014/main" id="{88D3F45A-9F4C-A7F6-F7B4-2252E1368F58}"/>
                </a:ext>
              </a:extLst>
            </p:cNvPr>
            <p:cNvSpPr/>
            <p:nvPr/>
          </p:nvSpPr>
          <p:spPr>
            <a:xfrm>
              <a:off x="5762297" y="4265859"/>
              <a:ext cx="2443655" cy="1642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D18DCC11-2D68-E641-9D59-A0427F5F9FF2}"/>
                </a:ext>
              </a:extLst>
            </p:cNvPr>
            <p:cNvSpPr/>
            <p:nvPr/>
          </p:nvSpPr>
          <p:spPr>
            <a:xfrm>
              <a:off x="5762297" y="4531273"/>
              <a:ext cx="2443655" cy="1638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1897B59C-E494-8340-9AFE-5AC5C9974BEE}"/>
                </a:ext>
              </a:extLst>
            </p:cNvPr>
            <p:cNvSpPr/>
            <p:nvPr/>
          </p:nvSpPr>
          <p:spPr>
            <a:xfrm>
              <a:off x="5762296" y="4929050"/>
              <a:ext cx="2443655" cy="1638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30910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Labels and Selectors to Constrain Pod Scheduling(3/4)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Pods to Specific Nodes :</a:t>
            </a:r>
          </a:p>
          <a:p>
            <a:pPr lvl="1">
              <a:buFont typeface="Wingdings" panose="05000000000000000000" pitchFamily="2" charset="2"/>
              <a:buChar char="§"/>
            </a:pPr>
            <a:r>
              <a:rPr lang="en-US" altLang="ko-KR" sz="1400" dirty="0"/>
              <a:t>Now imagine you want to deploy a new pod that needs a GPU to perform its work. </a:t>
            </a:r>
            <a:r>
              <a:rPr lang="en-US" altLang="ko-KR" sz="1400" b="1" dirty="0"/>
              <a:t>To ask the scheduler to only choose among the nodes that provide a GPU, you’ll add a </a:t>
            </a:r>
            <a:r>
              <a:rPr lang="en-US" altLang="ko-KR" sz="1400" b="1" dirty="0">
                <a:solidFill>
                  <a:srgbClr val="FF0000"/>
                </a:solidFill>
              </a:rPr>
              <a:t>node selector </a:t>
            </a:r>
            <a:r>
              <a:rPr lang="en-US" altLang="ko-KR" sz="1400" b="1" dirty="0"/>
              <a:t>to the pod’s YAML</a:t>
            </a:r>
            <a:r>
              <a:rPr lang="en-US" altLang="ko-KR" sz="1400" dirty="0"/>
              <a:t>. Create a file called “</a:t>
            </a:r>
            <a:r>
              <a:rPr lang="en-US" altLang="ko-KR" sz="1400" b="1" dirty="0" err="1"/>
              <a:t>kubia-gpu.yaml</a:t>
            </a:r>
            <a:r>
              <a:rPr lang="en-US" altLang="ko-KR" sz="1400" dirty="0"/>
              <a:t>” and then use the following command to create the pod. </a:t>
            </a:r>
          </a:p>
          <a:p>
            <a:pPr lvl="1">
              <a:buFont typeface="Wingdings" panose="05000000000000000000" pitchFamily="2" charset="2"/>
              <a:buChar char="§"/>
            </a:pPr>
            <a:r>
              <a:rPr lang="en-US" altLang="ko-KR" sz="1400" b="1" dirty="0"/>
              <a:t>NOTE : You’ve added a “</a:t>
            </a:r>
            <a:r>
              <a:rPr lang="en-US" altLang="ko-KR" sz="1400" b="1" dirty="0" err="1">
                <a:solidFill>
                  <a:srgbClr val="FF0000"/>
                </a:solidFill>
              </a:rPr>
              <a:t>nodeSelector</a:t>
            </a:r>
            <a:r>
              <a:rPr lang="en-US" altLang="ko-KR" sz="1400" b="1" dirty="0"/>
              <a:t>” field under the spec section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6865901C-3AAE-6918-025D-26DA2A2A5A29}"/>
              </a:ext>
            </a:extLst>
          </p:cNvPr>
          <p:cNvGrpSpPr/>
          <p:nvPr/>
        </p:nvGrpSpPr>
        <p:grpSpPr>
          <a:xfrm>
            <a:off x="1630745" y="2113825"/>
            <a:ext cx="8930509" cy="4326123"/>
            <a:chOff x="1718440" y="1921092"/>
            <a:chExt cx="8930509" cy="4326123"/>
          </a:xfrm>
        </p:grpSpPr>
        <p:grpSp>
          <p:nvGrpSpPr>
            <p:cNvPr id="17" name="그룹 16">
              <a:extLst>
                <a:ext uri="{FF2B5EF4-FFF2-40B4-BE49-F238E27FC236}">
                  <a16:creationId xmlns:a16="http://schemas.microsoft.com/office/drawing/2014/main" id="{0A9892C9-60D6-4492-88E8-7DF83BAC4AFD}"/>
                </a:ext>
              </a:extLst>
            </p:cNvPr>
            <p:cNvGrpSpPr/>
            <p:nvPr/>
          </p:nvGrpSpPr>
          <p:grpSpPr>
            <a:xfrm>
              <a:off x="1718440" y="1921092"/>
              <a:ext cx="8930509" cy="4326123"/>
              <a:chOff x="1718440" y="1921092"/>
              <a:chExt cx="8930509" cy="4326123"/>
            </a:xfrm>
          </p:grpSpPr>
          <p:grpSp>
            <p:nvGrpSpPr>
              <p:cNvPr id="14" name="그룹 13">
                <a:extLst>
                  <a:ext uri="{FF2B5EF4-FFF2-40B4-BE49-F238E27FC236}">
                    <a16:creationId xmlns:a16="http://schemas.microsoft.com/office/drawing/2014/main" id="{187A4278-353A-3EDF-4596-6B89A4691079}"/>
                  </a:ext>
                </a:extLst>
              </p:cNvPr>
              <p:cNvGrpSpPr/>
              <p:nvPr/>
            </p:nvGrpSpPr>
            <p:grpSpPr>
              <a:xfrm>
                <a:off x="3047343" y="1921092"/>
                <a:ext cx="6097314" cy="1924121"/>
                <a:chOff x="2513286" y="1934162"/>
                <a:chExt cx="6097314" cy="1924121"/>
              </a:xfrm>
            </p:grpSpPr>
            <p:sp>
              <p:nvSpPr>
                <p:cNvPr id="8" name="TextBox 7">
                  <a:extLst>
                    <a:ext uri="{FF2B5EF4-FFF2-40B4-BE49-F238E27FC236}">
                      <a16:creationId xmlns:a16="http://schemas.microsoft.com/office/drawing/2014/main" id="{B019CC7A-54BA-C1D3-DDBE-EBBD4B602E67}"/>
                    </a:ext>
                  </a:extLst>
                </p:cNvPr>
                <p:cNvSpPr txBox="1"/>
                <p:nvPr/>
              </p:nvSpPr>
              <p:spPr>
                <a:xfrm>
                  <a:off x="2513286" y="3612062"/>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kubia-gpu.yaml</a:t>
                  </a:r>
                  <a:endParaRPr lang="ko-KR" altLang="en-US" sz="1000" b="1" dirty="0">
                    <a:solidFill>
                      <a:srgbClr val="FF0000"/>
                    </a:solidFill>
                  </a:endParaRPr>
                </a:p>
              </p:txBody>
            </p:sp>
            <p:grpSp>
              <p:nvGrpSpPr>
                <p:cNvPr id="12" name="그룹 11">
                  <a:extLst>
                    <a:ext uri="{FF2B5EF4-FFF2-40B4-BE49-F238E27FC236}">
                      <a16:creationId xmlns:a16="http://schemas.microsoft.com/office/drawing/2014/main" id="{B78942CA-DC57-C6D7-B67D-5D390ECFB657}"/>
                    </a:ext>
                  </a:extLst>
                </p:cNvPr>
                <p:cNvGrpSpPr/>
                <p:nvPr/>
              </p:nvGrpSpPr>
              <p:grpSpPr>
                <a:xfrm>
                  <a:off x="2513286" y="1934162"/>
                  <a:ext cx="6097314" cy="1631216"/>
                  <a:chOff x="2513286" y="1934162"/>
                  <a:chExt cx="6097314" cy="1631216"/>
                </a:xfrm>
              </p:grpSpPr>
              <p:sp>
                <p:nvSpPr>
                  <p:cNvPr id="10" name="TextBox 9">
                    <a:extLst>
                      <a:ext uri="{FF2B5EF4-FFF2-40B4-BE49-F238E27FC236}">
                        <a16:creationId xmlns:a16="http://schemas.microsoft.com/office/drawing/2014/main" id="{7BD351FE-2A78-A404-B04B-87B05B373D30}"/>
                      </a:ext>
                    </a:extLst>
                  </p:cNvPr>
                  <p:cNvSpPr txBox="1"/>
                  <p:nvPr/>
                </p:nvSpPr>
                <p:spPr>
                  <a:xfrm>
                    <a:off x="2513286" y="1934162"/>
                    <a:ext cx="6097314"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kubia-gpu</a:t>
                    </a:r>
                    <a:endParaRPr lang="en-US" altLang="ko-KR" sz="1000" b="1" dirty="0">
                      <a:solidFill>
                        <a:srgbClr val="FF0000"/>
                      </a:solidFill>
                    </a:endParaRPr>
                  </a:p>
                  <a:p>
                    <a:r>
                      <a:rPr lang="en-US" altLang="ko-KR" sz="1000" b="1" dirty="0"/>
                      <a:t>spec:</a:t>
                    </a:r>
                  </a:p>
                  <a:p>
                    <a:r>
                      <a:rPr lang="en-US" altLang="ko-KR" sz="1000" b="1" dirty="0">
                        <a:solidFill>
                          <a:srgbClr val="FF0000"/>
                        </a:solidFill>
                      </a:rPr>
                      <a:t>  </a:t>
                    </a:r>
                    <a:r>
                      <a:rPr lang="en-US" altLang="ko-KR" sz="1000" b="1" dirty="0" err="1">
                        <a:solidFill>
                          <a:srgbClr val="FF0000"/>
                        </a:solidFill>
                      </a:rPr>
                      <a:t>nodeSelector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gpu</a:t>
                    </a:r>
                    <a:r>
                      <a:rPr lang="en-US" altLang="ko-KR" sz="1000" b="1" dirty="0">
                        <a:solidFill>
                          <a:srgbClr val="FF0000"/>
                        </a:solidFill>
                      </a:rPr>
                      <a:t>: "true"</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t>      name: </a:t>
                    </a:r>
                    <a:r>
                      <a:rPr lang="en-US" altLang="ko-KR" sz="1000" b="1" dirty="0" err="1"/>
                      <a:t>kubia</a:t>
                    </a:r>
                    <a:endParaRPr lang="ko-KR" altLang="en-US" sz="1000" b="1" dirty="0"/>
                  </a:p>
                </p:txBody>
              </p:sp>
              <p:sp>
                <p:nvSpPr>
                  <p:cNvPr id="11" name="TextBox 10">
                    <a:extLst>
                      <a:ext uri="{FF2B5EF4-FFF2-40B4-BE49-F238E27FC236}">
                        <a16:creationId xmlns:a16="http://schemas.microsoft.com/office/drawing/2014/main" id="{C9AE0E5C-FFBF-FDCC-8600-E842FC2120C3}"/>
                      </a:ext>
                    </a:extLst>
                  </p:cNvPr>
                  <p:cNvSpPr txBox="1"/>
                  <p:nvPr/>
                </p:nvSpPr>
                <p:spPr>
                  <a:xfrm>
                    <a:off x="7475353" y="1934162"/>
                    <a:ext cx="1135247" cy="246221"/>
                  </a:xfrm>
                  <a:prstGeom prst="rect">
                    <a:avLst/>
                  </a:prstGeom>
                  <a:noFill/>
                </p:spPr>
                <p:txBody>
                  <a:bodyPr wrap="none" rtlCol="0">
                    <a:spAutoFit/>
                  </a:bodyPr>
                  <a:lstStyle/>
                  <a:p>
                    <a:pPr algn="l"/>
                    <a:r>
                      <a:rPr lang="en-US" altLang="ko-KR" sz="1000" b="1" dirty="0" err="1"/>
                      <a:t>kubia-gpu.yaml</a:t>
                    </a:r>
                    <a:endParaRPr lang="ko-KR" altLang="en-US" sz="1000" b="1" dirty="0"/>
                  </a:p>
                </p:txBody>
              </p:sp>
            </p:grpSp>
          </p:grpSp>
          <p:sp>
            <p:nvSpPr>
              <p:cNvPr id="13" name="화살표: 아래쪽 12">
                <a:extLst>
                  <a:ext uri="{FF2B5EF4-FFF2-40B4-BE49-F238E27FC236}">
                    <a16:creationId xmlns:a16="http://schemas.microsoft.com/office/drawing/2014/main" id="{CA390B5C-4B04-66CF-C289-45688E9360EB}"/>
                  </a:ext>
                </a:extLst>
              </p:cNvPr>
              <p:cNvSpPr/>
              <p:nvPr/>
            </p:nvSpPr>
            <p:spPr>
              <a:xfrm>
                <a:off x="5969217" y="3855371"/>
                <a:ext cx="42895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6" name="그림 15">
                <a:extLst>
                  <a:ext uri="{FF2B5EF4-FFF2-40B4-BE49-F238E27FC236}">
                    <a16:creationId xmlns:a16="http://schemas.microsoft.com/office/drawing/2014/main" id="{0CBDC9C8-0088-7490-6A27-98248C37E290}"/>
                  </a:ext>
                </a:extLst>
              </p:cNvPr>
              <p:cNvPicPr>
                <a:picLocks noChangeAspect="1"/>
              </p:cNvPicPr>
              <p:nvPr/>
            </p:nvPicPr>
            <p:blipFill>
              <a:blip r:embed="rId2"/>
              <a:stretch>
                <a:fillRect/>
              </a:stretch>
            </p:blipFill>
            <p:spPr>
              <a:xfrm>
                <a:off x="1718440" y="4120130"/>
                <a:ext cx="8930509" cy="2127085"/>
              </a:xfrm>
              <a:prstGeom prst="rect">
                <a:avLst/>
              </a:prstGeom>
            </p:spPr>
          </p:pic>
        </p:grpSp>
        <p:sp>
          <p:nvSpPr>
            <p:cNvPr id="18" name="직사각형 17">
              <a:extLst>
                <a:ext uri="{FF2B5EF4-FFF2-40B4-BE49-F238E27FC236}">
                  <a16:creationId xmlns:a16="http://schemas.microsoft.com/office/drawing/2014/main" id="{164B4DAB-5D2C-F08C-3CAB-55A88ADAEF8C}"/>
                </a:ext>
              </a:extLst>
            </p:cNvPr>
            <p:cNvSpPr/>
            <p:nvPr/>
          </p:nvSpPr>
          <p:spPr>
            <a:xfrm>
              <a:off x="5849007" y="4989785"/>
              <a:ext cx="2151993"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349BF6D4-C909-FE4B-55A5-52CD24C7DD81}"/>
                </a:ext>
              </a:extLst>
            </p:cNvPr>
            <p:cNvSpPr/>
            <p:nvPr/>
          </p:nvSpPr>
          <p:spPr>
            <a:xfrm>
              <a:off x="1813034" y="5544540"/>
              <a:ext cx="6797566"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1483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Labels and Selectors to Constrain Pod Scheduling(4/4)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Scheduling to One Specific Node :</a:t>
            </a:r>
          </a:p>
          <a:p>
            <a:pPr lvl="1">
              <a:buFont typeface="Wingdings" panose="05000000000000000000" pitchFamily="2" charset="2"/>
              <a:buChar char="§"/>
            </a:pPr>
            <a:r>
              <a:rPr lang="en-US" altLang="ko-KR" sz="1400" b="1" dirty="0"/>
              <a:t>Similarly, you could also schedule a pod to an exact node, because each node also has a </a:t>
            </a:r>
            <a:r>
              <a:rPr lang="en-US" altLang="ko-KR" sz="1400" b="1" dirty="0">
                <a:solidFill>
                  <a:srgbClr val="FF0000"/>
                </a:solidFill>
              </a:rPr>
              <a:t>unique label </a:t>
            </a:r>
            <a:r>
              <a:rPr lang="en-US" altLang="ko-KR" sz="1400" b="1" dirty="0"/>
              <a:t>with the </a:t>
            </a:r>
            <a:r>
              <a:rPr lang="en-US" altLang="ko-KR" sz="1400" b="1" dirty="0">
                <a:solidFill>
                  <a:srgbClr val="FF0000"/>
                </a:solidFill>
              </a:rPr>
              <a:t>key</a:t>
            </a:r>
            <a:r>
              <a:rPr lang="en-US" altLang="ko-KR" sz="1400" b="1" dirty="0"/>
              <a:t> </a:t>
            </a:r>
            <a:r>
              <a:rPr lang="en-US" altLang="ko-KR" sz="1400" b="1" dirty="0">
                <a:solidFill>
                  <a:srgbClr val="FF0000"/>
                </a:solidFill>
              </a:rPr>
              <a:t>kubernetes.io/hostname </a:t>
            </a:r>
            <a:r>
              <a:rPr lang="en-US" altLang="ko-KR" sz="1400" b="1" dirty="0"/>
              <a:t>and </a:t>
            </a:r>
            <a:r>
              <a:rPr lang="en-US" altLang="ko-KR" sz="1400" b="1" dirty="0">
                <a:solidFill>
                  <a:srgbClr val="FF0000"/>
                </a:solidFill>
              </a:rPr>
              <a:t>value</a:t>
            </a:r>
            <a:r>
              <a:rPr lang="en-US" altLang="ko-KR" sz="1400" b="1" dirty="0"/>
              <a:t> set to </a:t>
            </a:r>
            <a:r>
              <a:rPr lang="en-US" altLang="ko-KR" sz="1400" b="1" dirty="0">
                <a:solidFill>
                  <a:srgbClr val="FF0000"/>
                </a:solidFill>
              </a:rPr>
              <a:t>the actual hostname of the node</a:t>
            </a:r>
            <a:r>
              <a:rPr lang="en-US" altLang="ko-KR" sz="1400" dirty="0"/>
              <a:t>. But setting the “</a:t>
            </a:r>
            <a:r>
              <a:rPr lang="en-US" altLang="ko-KR" sz="1400" b="1" dirty="0" err="1"/>
              <a:t>nodeSelector</a:t>
            </a:r>
            <a:r>
              <a:rPr lang="en-US" altLang="ko-KR" sz="1400" dirty="0"/>
              <a:t>” to a specific node by the hostname label may lead to the pod being </a:t>
            </a:r>
            <a:r>
              <a:rPr lang="en-US" altLang="ko-KR" sz="1400" b="1" dirty="0" err="1"/>
              <a:t>unschedulable</a:t>
            </a:r>
            <a:r>
              <a:rPr lang="en-US" altLang="ko-KR" sz="1400" dirty="0"/>
              <a:t> if the node is offline. </a:t>
            </a:r>
          </a:p>
          <a:p>
            <a:pPr lvl="1">
              <a:buFont typeface="Wingdings" panose="05000000000000000000" pitchFamily="2" charset="2"/>
              <a:buChar char="§"/>
            </a:pPr>
            <a:r>
              <a:rPr lang="en-US" altLang="ko-KR" sz="1400" b="1" dirty="0"/>
              <a:t>You shouldn’t think in terms of individual nodes. Always think about logical groups of nodes that satisfy certain criteria specified through label selectors</a:t>
            </a:r>
            <a:r>
              <a:rPr lang="en-US" altLang="ko-KR" sz="1400" dirty="0"/>
              <a:t>.</a:t>
            </a:r>
          </a:p>
          <a:p>
            <a:pPr lvl="1">
              <a:buFont typeface="Wingdings" panose="05000000000000000000" pitchFamily="2" charset="2"/>
              <a:buChar char="§"/>
            </a:pPr>
            <a:r>
              <a:rPr lang="en-US" altLang="ko-KR" sz="1400" dirty="0"/>
              <a:t>The importance and usefulness of label selectors will become even more evident when we talk about </a:t>
            </a:r>
            <a:r>
              <a:rPr lang="en-US" altLang="ko-KR" sz="1400" b="1" dirty="0" err="1"/>
              <a:t>ReplicationControllers</a:t>
            </a:r>
            <a:r>
              <a:rPr lang="en-US" altLang="ko-KR" sz="1400" dirty="0"/>
              <a:t> and </a:t>
            </a:r>
            <a:r>
              <a:rPr lang="en-US" altLang="ko-KR" sz="1400" b="1" dirty="0"/>
              <a:t>Services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FF924D5-AB30-8D44-27A0-CD1BB07D75D5}"/>
              </a:ext>
            </a:extLst>
          </p:cNvPr>
          <p:cNvPicPr>
            <a:picLocks noChangeAspect="1"/>
          </p:cNvPicPr>
          <p:nvPr/>
        </p:nvPicPr>
        <p:blipFill>
          <a:blip r:embed="rId2"/>
          <a:stretch>
            <a:fillRect/>
          </a:stretch>
        </p:blipFill>
        <p:spPr>
          <a:xfrm>
            <a:off x="3286125" y="3077232"/>
            <a:ext cx="5619750" cy="2800350"/>
          </a:xfrm>
          <a:prstGeom prst="rect">
            <a:avLst/>
          </a:prstGeom>
        </p:spPr>
      </p:pic>
    </p:spTree>
    <p:extLst>
      <p:ext uri="{BB962C8B-B14F-4D97-AF65-F5344CB8AC3E}">
        <p14:creationId xmlns:p14="http://schemas.microsoft.com/office/powerpoint/2010/main" val="3011604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Annotating Pods(1/3)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Annotations? :</a:t>
            </a:r>
          </a:p>
          <a:p>
            <a:pPr lvl="1">
              <a:buFont typeface="Wingdings" panose="05000000000000000000" pitchFamily="2" charset="2"/>
              <a:buChar char="§"/>
            </a:pPr>
            <a:r>
              <a:rPr lang="en-US" altLang="ko-KR" sz="1400" b="1" dirty="0">
                <a:solidFill>
                  <a:srgbClr val="FF0000"/>
                </a:solidFill>
              </a:rPr>
              <a:t>Annotations are also key-value pairs</a:t>
            </a:r>
            <a:r>
              <a:rPr lang="en-US" altLang="ko-KR" sz="1400" b="1" dirty="0"/>
              <a:t>, so in essence, they’re similar to labels, but they aren’t meant to hold identifying information</a:t>
            </a:r>
            <a:r>
              <a:rPr lang="en-US" altLang="ko-KR" sz="1400" dirty="0"/>
              <a:t>. </a:t>
            </a:r>
            <a:r>
              <a:rPr lang="en-US" altLang="ko-KR" sz="1400" b="1" dirty="0"/>
              <a:t>They can’t be used to group objects the way labels can</a:t>
            </a:r>
            <a:r>
              <a:rPr lang="en-US" altLang="ko-KR" sz="1400" dirty="0"/>
              <a:t>. While objects can be selected through label selectors, </a:t>
            </a:r>
            <a:r>
              <a:rPr lang="en-US" altLang="ko-KR" sz="1400" b="1" dirty="0"/>
              <a:t>there’s no such thing as an annotation selector</a:t>
            </a:r>
            <a:r>
              <a:rPr lang="en-US" altLang="ko-KR" sz="1400" dirty="0"/>
              <a:t>.</a:t>
            </a:r>
          </a:p>
          <a:p>
            <a:pPr lvl="1">
              <a:buFont typeface="Wingdings" panose="05000000000000000000" pitchFamily="2" charset="2"/>
              <a:buChar char="§"/>
            </a:pPr>
            <a:r>
              <a:rPr lang="en-US" altLang="ko-KR" sz="1400" b="1" dirty="0"/>
              <a:t>On the other hand, annotations can hold </a:t>
            </a:r>
            <a:r>
              <a:rPr lang="en-US" altLang="ko-KR" sz="1400" b="1" dirty="0">
                <a:solidFill>
                  <a:srgbClr val="FF0000"/>
                </a:solidFill>
              </a:rPr>
              <a:t>much larger pieces of information </a:t>
            </a:r>
            <a:r>
              <a:rPr lang="en-US" altLang="ko-KR" sz="1400" b="1" dirty="0"/>
              <a:t>and are </a:t>
            </a:r>
            <a:r>
              <a:rPr lang="en-US" altLang="ko-KR" sz="1400" b="1" dirty="0">
                <a:solidFill>
                  <a:srgbClr val="FF0000"/>
                </a:solidFill>
              </a:rPr>
              <a:t>primarily meant to be used by tools</a:t>
            </a:r>
            <a:r>
              <a:rPr lang="en-US" altLang="ko-KR" sz="1400" dirty="0"/>
              <a:t>. Certain annotations are automatically added to objects by Kubernetes, but others are added by users manually.</a:t>
            </a:r>
          </a:p>
          <a:p>
            <a:pPr lvl="1">
              <a:buFont typeface="Wingdings" panose="05000000000000000000" pitchFamily="2" charset="2"/>
              <a:buChar char="§"/>
            </a:pPr>
            <a:r>
              <a:rPr lang="en-US" altLang="ko-KR" sz="1400" b="1" dirty="0"/>
              <a:t>Annotations are also commonly used when </a:t>
            </a:r>
            <a:r>
              <a:rPr lang="en-US" altLang="ko-KR" sz="1400" b="1" dirty="0">
                <a:solidFill>
                  <a:srgbClr val="FF0000"/>
                </a:solidFill>
              </a:rPr>
              <a:t>introducing new features to Kubernetes</a:t>
            </a:r>
            <a:r>
              <a:rPr lang="en-US" altLang="ko-KR" sz="1400" dirty="0"/>
              <a:t>. Usually, alpha and beta versions of new features don’t introduce any new fields to API objects. </a:t>
            </a:r>
            <a:r>
              <a:rPr lang="en-US" altLang="ko-KR" sz="1400" b="1" dirty="0"/>
              <a:t>Annotations are used instead of fields, and then once the required API changes have become clear and been agreed upon by the Kubernetes developers, new fields are introduced and the related annotations deprecated</a:t>
            </a:r>
            <a:r>
              <a:rPr lang="en-US" altLang="ko-KR" sz="1400" dirty="0"/>
              <a:t>.</a:t>
            </a:r>
          </a:p>
          <a:p>
            <a:pPr lvl="1">
              <a:buFont typeface="Wingdings" panose="05000000000000000000" pitchFamily="2" charset="2"/>
              <a:buChar char="§"/>
            </a:pPr>
            <a:r>
              <a:rPr lang="en-US" altLang="ko-KR" sz="1400" b="1" dirty="0"/>
              <a:t>A great use of annotations is adding descriptions for each pod or other API object, so that everyone using the cluster can quickly look up information about each individual object</a:t>
            </a:r>
            <a:r>
              <a:rPr lang="en-US" altLang="ko-KR" sz="1400" dirty="0"/>
              <a:t>. For example, an annotation used to specify the name of the person who created the object can make collaboration between everyone working on the cluster much easier.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0BE3529C-E296-2CA0-1040-7CC2242F1C7F}"/>
              </a:ext>
            </a:extLst>
          </p:cNvPr>
          <p:cNvGrpSpPr/>
          <p:nvPr/>
        </p:nvGrpSpPr>
        <p:grpSpPr>
          <a:xfrm>
            <a:off x="3331122" y="4100356"/>
            <a:ext cx="5529756" cy="2308674"/>
            <a:chOff x="3331122" y="4100356"/>
            <a:chExt cx="5529756" cy="2308674"/>
          </a:xfrm>
        </p:grpSpPr>
        <p:pic>
          <p:nvPicPr>
            <p:cNvPr id="4" name="그림 3">
              <a:extLst>
                <a:ext uri="{FF2B5EF4-FFF2-40B4-BE49-F238E27FC236}">
                  <a16:creationId xmlns:a16="http://schemas.microsoft.com/office/drawing/2014/main" id="{DD00E9BB-48B4-FFD5-44F3-128EF558A0F2}"/>
                </a:ext>
              </a:extLst>
            </p:cNvPr>
            <p:cNvPicPr>
              <a:picLocks noChangeAspect="1"/>
            </p:cNvPicPr>
            <p:nvPr/>
          </p:nvPicPr>
          <p:blipFill>
            <a:blip r:embed="rId2"/>
            <a:stretch>
              <a:fillRect/>
            </a:stretch>
          </p:blipFill>
          <p:spPr>
            <a:xfrm>
              <a:off x="3331122" y="4100356"/>
              <a:ext cx="5529756" cy="2308674"/>
            </a:xfrm>
            <a:prstGeom prst="rect">
              <a:avLst/>
            </a:prstGeom>
          </p:spPr>
        </p:pic>
        <p:sp>
          <p:nvSpPr>
            <p:cNvPr id="8" name="직사각형 7">
              <a:extLst>
                <a:ext uri="{FF2B5EF4-FFF2-40B4-BE49-F238E27FC236}">
                  <a16:creationId xmlns:a16="http://schemas.microsoft.com/office/drawing/2014/main" id="{376764CE-804D-D215-9DFD-42D4272FF6F4}"/>
                </a:ext>
              </a:extLst>
            </p:cNvPr>
            <p:cNvSpPr/>
            <p:nvPr/>
          </p:nvSpPr>
          <p:spPr>
            <a:xfrm>
              <a:off x="3807372" y="4769069"/>
              <a:ext cx="4974021" cy="4335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88529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Annotating Pods(2/3)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Looking up an Object’s Annotations :</a:t>
            </a:r>
          </a:p>
          <a:p>
            <a:pPr lvl="1">
              <a:buFont typeface="Wingdings" panose="05000000000000000000" pitchFamily="2" charset="2"/>
              <a:buChar char="§"/>
            </a:pPr>
            <a:r>
              <a:rPr lang="en-US" altLang="ko-KR" sz="1400" dirty="0"/>
              <a:t>Let’s see an example of an annotation that </a:t>
            </a:r>
            <a:r>
              <a:rPr lang="en-US" altLang="ko-KR" sz="1400" b="1" dirty="0"/>
              <a:t>Kubernetes added automatically to the pod </a:t>
            </a:r>
            <a:r>
              <a:rPr lang="en-US" altLang="ko-KR" sz="1400" dirty="0"/>
              <a:t>you created in the previous example. To see the annotations, you’ll need to </a:t>
            </a:r>
            <a:r>
              <a:rPr lang="en-US" altLang="ko-KR" sz="1400" b="1" dirty="0"/>
              <a:t>request the </a:t>
            </a:r>
            <a:r>
              <a:rPr lang="en-US" altLang="ko-KR" sz="1400" b="1" dirty="0">
                <a:solidFill>
                  <a:srgbClr val="FF0000"/>
                </a:solidFill>
              </a:rPr>
              <a:t>full YAML of the pod </a:t>
            </a:r>
            <a:r>
              <a:rPr lang="en-US" altLang="ko-KR" sz="1400" b="1" dirty="0"/>
              <a:t>or use the “</a:t>
            </a:r>
            <a:r>
              <a:rPr lang="en-US" altLang="ko-KR" sz="1400" b="1" dirty="0" err="1">
                <a:solidFill>
                  <a:srgbClr val="FF0000"/>
                </a:solidFill>
              </a:rPr>
              <a:t>kubectl</a:t>
            </a:r>
            <a:r>
              <a:rPr lang="en-US" altLang="ko-KR" sz="1400" b="1" dirty="0">
                <a:solidFill>
                  <a:srgbClr val="FF0000"/>
                </a:solidFill>
              </a:rPr>
              <a:t> describe</a:t>
            </a:r>
            <a:r>
              <a:rPr lang="en-US" altLang="ko-KR" sz="1400" b="1" dirty="0"/>
              <a:t>” command</a:t>
            </a:r>
            <a:r>
              <a:rPr lang="en-US" altLang="ko-KR" sz="1400" dirty="0"/>
              <a:t>. You’ll use the first option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the “</a:t>
            </a:r>
            <a:r>
              <a:rPr lang="en-US" altLang="ko-KR" sz="1400" b="1" dirty="0"/>
              <a:t>kubectl.kubernetes.io/last-applied-configuration</a:t>
            </a:r>
            <a:r>
              <a:rPr lang="en-US" altLang="ko-KR" sz="1400" dirty="0"/>
              <a:t>” annotation in the above screenshot holds JSON data about the object that created the pod. That’s not something you’d want to put into a label. </a:t>
            </a:r>
            <a:r>
              <a:rPr lang="en-US" altLang="ko-KR" sz="1400" b="1" dirty="0"/>
              <a:t>Labels should be short, whereas annotations can contain relatively large blobs of data (up to 256 KB in total)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80871AC-A057-379E-05DD-ACFAF524B3B9}"/>
              </a:ext>
            </a:extLst>
          </p:cNvPr>
          <p:cNvGrpSpPr/>
          <p:nvPr/>
        </p:nvGrpSpPr>
        <p:grpSpPr>
          <a:xfrm>
            <a:off x="1530569" y="1931866"/>
            <a:ext cx="9130862" cy="3140902"/>
            <a:chOff x="1475390" y="1989563"/>
            <a:chExt cx="9130862" cy="3140902"/>
          </a:xfrm>
        </p:grpSpPr>
        <p:grpSp>
          <p:nvGrpSpPr>
            <p:cNvPr id="11" name="그룹 10">
              <a:extLst>
                <a:ext uri="{FF2B5EF4-FFF2-40B4-BE49-F238E27FC236}">
                  <a16:creationId xmlns:a16="http://schemas.microsoft.com/office/drawing/2014/main" id="{135697E1-1061-BFB7-D992-AE9BB0E1F0A2}"/>
                </a:ext>
              </a:extLst>
            </p:cNvPr>
            <p:cNvGrpSpPr/>
            <p:nvPr/>
          </p:nvGrpSpPr>
          <p:grpSpPr>
            <a:xfrm>
              <a:off x="1475390" y="2548921"/>
              <a:ext cx="9130862" cy="2581544"/>
              <a:chOff x="1530569" y="1991372"/>
              <a:chExt cx="9130862" cy="2581544"/>
            </a:xfrm>
          </p:grpSpPr>
          <p:pic>
            <p:nvPicPr>
              <p:cNvPr id="8" name="그림 7">
                <a:extLst>
                  <a:ext uri="{FF2B5EF4-FFF2-40B4-BE49-F238E27FC236}">
                    <a16:creationId xmlns:a16="http://schemas.microsoft.com/office/drawing/2014/main" id="{52FFB467-3DF4-6512-CE9C-86C73E27D452}"/>
                  </a:ext>
                </a:extLst>
              </p:cNvPr>
              <p:cNvPicPr>
                <a:picLocks noChangeAspect="1"/>
              </p:cNvPicPr>
              <p:nvPr/>
            </p:nvPicPr>
            <p:blipFill>
              <a:blip r:embed="rId2"/>
              <a:stretch>
                <a:fillRect/>
              </a:stretch>
            </p:blipFill>
            <p:spPr>
              <a:xfrm>
                <a:off x="1530569" y="1991372"/>
                <a:ext cx="9130862" cy="2581544"/>
              </a:xfrm>
              <a:prstGeom prst="rect">
                <a:avLst/>
              </a:prstGeom>
            </p:spPr>
          </p:pic>
          <p:sp>
            <p:nvSpPr>
              <p:cNvPr id="9" name="직사각형 8">
                <a:extLst>
                  <a:ext uri="{FF2B5EF4-FFF2-40B4-BE49-F238E27FC236}">
                    <a16:creationId xmlns:a16="http://schemas.microsoft.com/office/drawing/2014/main" id="{384BD2FD-3B68-6296-3F19-699D74F37CA2}"/>
                  </a:ext>
                </a:extLst>
              </p:cNvPr>
              <p:cNvSpPr/>
              <p:nvPr/>
            </p:nvSpPr>
            <p:spPr>
              <a:xfrm>
                <a:off x="5738648" y="3137338"/>
                <a:ext cx="2546131"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E2FF9B6-155A-8A6F-14B6-D8369770C223}"/>
                  </a:ext>
                </a:extLst>
              </p:cNvPr>
              <p:cNvSpPr/>
              <p:nvPr/>
            </p:nvSpPr>
            <p:spPr>
              <a:xfrm>
                <a:off x="1655379" y="3736428"/>
                <a:ext cx="8812924" cy="5833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8C04FB4D-93DC-CF18-422E-AA9808D5FB6B}"/>
                </a:ext>
              </a:extLst>
            </p:cNvPr>
            <p:cNvSpPr txBox="1"/>
            <p:nvPr/>
          </p:nvSpPr>
          <p:spPr>
            <a:xfrm>
              <a:off x="2992164" y="198956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err="1">
                  <a:solidFill>
                    <a:srgbClr val="FF0000"/>
                  </a:solidFill>
                </a:rPr>
                <a:t>kubia</a:t>
              </a:r>
              <a:r>
                <a:rPr lang="en-US" altLang="ko-KR" sz="1000" b="1" dirty="0">
                  <a:solidFill>
                    <a:srgbClr val="FF0000"/>
                  </a:solidFill>
                </a:rPr>
                <a:t>-manual -o </a:t>
              </a:r>
              <a:r>
                <a:rPr lang="en-US" altLang="ko-KR" sz="1000" b="1" dirty="0" err="1">
                  <a:solidFill>
                    <a:srgbClr val="FF0000"/>
                  </a:solidFill>
                </a:rPr>
                <a:t>yaml</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877FC9F1-835A-623B-226D-97DEDAC7E893}"/>
                </a:ext>
              </a:extLst>
            </p:cNvPr>
            <p:cNvSpPr/>
            <p:nvPr/>
          </p:nvSpPr>
          <p:spPr>
            <a:xfrm>
              <a:off x="5812221" y="2250339"/>
              <a:ext cx="457200" cy="28123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25102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Annotating Pods(3/3)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and Modifying Annotations :</a:t>
            </a:r>
          </a:p>
          <a:p>
            <a:pPr lvl="1">
              <a:buFont typeface="Wingdings" panose="05000000000000000000" pitchFamily="2" charset="2"/>
              <a:buChar char="§"/>
            </a:pPr>
            <a:r>
              <a:rPr lang="en-US" altLang="ko-KR" sz="1400" b="1" dirty="0"/>
              <a:t>Annotations can obviously be added to pods at creation time</a:t>
            </a:r>
            <a:r>
              <a:rPr lang="en-US" altLang="ko-KR" sz="1400" dirty="0"/>
              <a:t>, the same way labels can. </a:t>
            </a:r>
            <a:r>
              <a:rPr lang="en-US" altLang="ko-KR" sz="1400" b="1" dirty="0"/>
              <a:t>They can also be added to or modified on existing pods later</a:t>
            </a:r>
            <a:r>
              <a:rPr lang="en-US" altLang="ko-KR" sz="1400" dirty="0"/>
              <a:t>. The simplest way </a:t>
            </a:r>
            <a:r>
              <a:rPr lang="en-US" altLang="ko-KR" sz="1400" b="1" dirty="0"/>
              <a:t>to add an annotation to an existing object is through the “</a:t>
            </a:r>
            <a:r>
              <a:rPr lang="en-US" altLang="ko-KR" sz="1400" b="1" dirty="0" err="1"/>
              <a:t>kubectl</a:t>
            </a:r>
            <a:r>
              <a:rPr lang="en-US" altLang="ko-KR" sz="1400" b="1" dirty="0"/>
              <a:t> annotate” command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In the above screenshot, you added the annotation “mycompany.com/</a:t>
            </a:r>
            <a:r>
              <a:rPr lang="en-US" altLang="ko-KR" sz="1400" b="1" dirty="0" err="1"/>
              <a:t>someannotation</a:t>
            </a:r>
            <a:r>
              <a:rPr lang="en-US" altLang="ko-KR" sz="1400" b="1" dirty="0"/>
              <a:t>” with the value “foo bar”</a:t>
            </a:r>
            <a:r>
              <a:rPr lang="en-US" altLang="ko-KR" sz="1400" dirty="0"/>
              <a:t>. </a:t>
            </a:r>
            <a:r>
              <a:rPr lang="en-US" altLang="ko-KR" sz="1400" b="1" dirty="0"/>
              <a:t>It’s a good idea to use this format for annotation keys to prevent key collisions</a:t>
            </a:r>
            <a:r>
              <a:rPr lang="en-US" altLang="ko-KR" sz="1400" dirty="0"/>
              <a:t>. When different tools or libraries add annotations to objects, they may accidentally override each other’s annotations if they don’t use unique prefixes like you did here.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193CC399-828F-830F-6F1D-868BDA7E432C}"/>
              </a:ext>
            </a:extLst>
          </p:cNvPr>
          <p:cNvGrpSpPr/>
          <p:nvPr/>
        </p:nvGrpSpPr>
        <p:grpSpPr>
          <a:xfrm>
            <a:off x="1679456" y="1944432"/>
            <a:ext cx="8833087" cy="3126792"/>
            <a:chOff x="1679456" y="1944432"/>
            <a:chExt cx="8833087" cy="3126792"/>
          </a:xfrm>
        </p:grpSpPr>
        <p:grpSp>
          <p:nvGrpSpPr>
            <p:cNvPr id="12" name="그룹 11">
              <a:extLst>
                <a:ext uri="{FF2B5EF4-FFF2-40B4-BE49-F238E27FC236}">
                  <a16:creationId xmlns:a16="http://schemas.microsoft.com/office/drawing/2014/main" id="{28E4B4AE-7290-DBDF-334B-F42F3AEBF848}"/>
                </a:ext>
              </a:extLst>
            </p:cNvPr>
            <p:cNvGrpSpPr/>
            <p:nvPr/>
          </p:nvGrpSpPr>
          <p:grpSpPr>
            <a:xfrm>
              <a:off x="1679456" y="1944432"/>
              <a:ext cx="8833087" cy="3126792"/>
              <a:chOff x="1679456" y="1860360"/>
              <a:chExt cx="8833087" cy="3126792"/>
            </a:xfrm>
          </p:grpSpPr>
          <p:sp>
            <p:nvSpPr>
              <p:cNvPr id="8" name="TextBox 7">
                <a:extLst>
                  <a:ext uri="{FF2B5EF4-FFF2-40B4-BE49-F238E27FC236}">
                    <a16:creationId xmlns:a16="http://schemas.microsoft.com/office/drawing/2014/main" id="{D5AA1A05-136E-F4AF-14E2-78DA19D61665}"/>
                  </a:ext>
                </a:extLst>
              </p:cNvPr>
              <p:cNvSpPr txBox="1"/>
              <p:nvPr/>
            </p:nvSpPr>
            <p:spPr>
              <a:xfrm>
                <a:off x="3047343" y="1860360"/>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annotate pod </a:t>
                </a:r>
                <a:r>
                  <a:rPr lang="en-US" altLang="ko-KR" sz="1000" b="1" dirty="0" err="1"/>
                  <a:t>kubia</a:t>
                </a:r>
                <a:r>
                  <a:rPr lang="en-US" altLang="ko-KR" sz="1000" b="1" dirty="0"/>
                  <a:t>-manual </a:t>
                </a:r>
                <a:r>
                  <a:rPr lang="en-US" altLang="ko-KR" sz="1000" b="1" dirty="0">
                    <a:solidFill>
                      <a:srgbClr val="FF0000"/>
                    </a:solidFill>
                  </a:rPr>
                  <a:t>mycompany.com/</a:t>
                </a:r>
                <a:r>
                  <a:rPr lang="en-US" altLang="ko-KR" sz="1000" b="1" dirty="0" err="1">
                    <a:solidFill>
                      <a:srgbClr val="FF0000"/>
                    </a:solidFill>
                  </a:rPr>
                  <a:t>someannotation</a:t>
                </a:r>
                <a:r>
                  <a:rPr lang="en-US" altLang="ko-KR" sz="1000" b="1" dirty="0">
                    <a:solidFill>
                      <a:srgbClr val="FF0000"/>
                    </a:solidFill>
                  </a:rPr>
                  <a:t>="foo bar“</a:t>
                </a:r>
              </a:p>
              <a:p>
                <a:r>
                  <a:rPr lang="en-US" altLang="ko-KR" sz="1000" b="1" dirty="0"/>
                  <a:t>…</a:t>
                </a:r>
              </a:p>
              <a:p>
                <a:r>
                  <a:rPr lang="en-US" altLang="ko-KR" sz="1000" b="1" dirty="0"/>
                  <a:t>$ </a:t>
                </a:r>
                <a:r>
                  <a:rPr lang="en-US" altLang="ko-KR" sz="1000" b="1" dirty="0" err="1"/>
                  <a:t>kubectl</a:t>
                </a:r>
                <a:r>
                  <a:rPr lang="en-US" altLang="ko-KR" sz="1000" b="1" dirty="0"/>
                  <a:t> describe pod </a:t>
                </a:r>
                <a:r>
                  <a:rPr lang="en-US" altLang="ko-KR" sz="1000" b="1" dirty="0" err="1"/>
                  <a:t>kubia</a:t>
                </a:r>
                <a:r>
                  <a:rPr lang="en-US" altLang="ko-KR" sz="1000" b="1" dirty="0"/>
                  <a:t>-manual</a:t>
                </a:r>
              </a:p>
            </p:txBody>
          </p:sp>
          <p:pic>
            <p:nvPicPr>
              <p:cNvPr id="10" name="그림 9">
                <a:extLst>
                  <a:ext uri="{FF2B5EF4-FFF2-40B4-BE49-F238E27FC236}">
                    <a16:creationId xmlns:a16="http://schemas.microsoft.com/office/drawing/2014/main" id="{A4260EBD-7892-ECCF-EB6D-AC29D1DBAE19}"/>
                  </a:ext>
                </a:extLst>
              </p:cNvPr>
              <p:cNvPicPr>
                <a:picLocks noChangeAspect="1"/>
              </p:cNvPicPr>
              <p:nvPr/>
            </p:nvPicPr>
            <p:blipFill>
              <a:blip r:embed="rId2"/>
              <a:stretch>
                <a:fillRect/>
              </a:stretch>
            </p:blipFill>
            <p:spPr>
              <a:xfrm>
                <a:off x="1679456" y="2688021"/>
                <a:ext cx="8833087" cy="2299131"/>
              </a:xfrm>
              <a:prstGeom prst="rect">
                <a:avLst/>
              </a:prstGeom>
            </p:spPr>
          </p:pic>
          <p:sp>
            <p:nvSpPr>
              <p:cNvPr id="11" name="화살표: 아래쪽 10">
                <a:extLst>
                  <a:ext uri="{FF2B5EF4-FFF2-40B4-BE49-F238E27FC236}">
                    <a16:creationId xmlns:a16="http://schemas.microsoft.com/office/drawing/2014/main" id="{ACA23C6B-B42E-75B2-0398-AE0F0FCE4E5D}"/>
                  </a:ext>
                </a:extLst>
              </p:cNvPr>
              <p:cNvSpPr/>
              <p:nvPr/>
            </p:nvSpPr>
            <p:spPr>
              <a:xfrm>
                <a:off x="5906814" y="2414358"/>
                <a:ext cx="378372" cy="2736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A6E06083-0F19-84C7-F6BB-69E824CE11FD}"/>
                </a:ext>
              </a:extLst>
            </p:cNvPr>
            <p:cNvSpPr/>
            <p:nvPr/>
          </p:nvSpPr>
          <p:spPr>
            <a:xfrm>
              <a:off x="5699234" y="3208283"/>
              <a:ext cx="4619297"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B83514AC-B0A4-16B7-2202-7263FDE4A0D2}"/>
                </a:ext>
              </a:extLst>
            </p:cNvPr>
            <p:cNvSpPr/>
            <p:nvPr/>
          </p:nvSpPr>
          <p:spPr>
            <a:xfrm>
              <a:off x="5699234" y="3466180"/>
              <a:ext cx="2199290" cy="1865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A64BEABB-0C02-FEB1-8634-8D6C243F3E87}"/>
                </a:ext>
              </a:extLst>
            </p:cNvPr>
            <p:cNvSpPr/>
            <p:nvPr/>
          </p:nvSpPr>
          <p:spPr>
            <a:xfrm>
              <a:off x="1695222" y="4556234"/>
              <a:ext cx="3704468" cy="1576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080674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Namespaces? :</a:t>
            </a:r>
          </a:p>
          <a:p>
            <a:pPr lvl="1">
              <a:buFont typeface="Wingdings" panose="05000000000000000000" pitchFamily="2" charset="2"/>
              <a:buChar char="§"/>
            </a:pPr>
            <a:r>
              <a:rPr lang="en-US" altLang="ko-KR" sz="1400" b="1" dirty="0"/>
              <a:t>Labels organize pods and other objects into groups</a:t>
            </a:r>
            <a:r>
              <a:rPr lang="en-US" altLang="ko-KR" sz="1400" dirty="0"/>
              <a:t>. Because each object can have multiple labels, those groups of objects can overlap. Plus, when working with the cluster (through </a:t>
            </a:r>
            <a:r>
              <a:rPr lang="en-US" altLang="ko-KR" sz="1400" b="1" dirty="0" err="1"/>
              <a:t>kubectl</a:t>
            </a:r>
            <a:r>
              <a:rPr lang="en-US" altLang="ko-KR" sz="1400" dirty="0"/>
              <a:t> for example), </a:t>
            </a:r>
            <a:r>
              <a:rPr lang="en-US" altLang="ko-KR" sz="1400" b="1" dirty="0"/>
              <a:t>if you don’t explicitly specify a label selector, you’ll always see all objects</a:t>
            </a:r>
            <a:r>
              <a:rPr lang="en-US" altLang="ko-KR" sz="1400" dirty="0"/>
              <a:t>.</a:t>
            </a:r>
          </a:p>
          <a:p>
            <a:pPr lvl="1">
              <a:buFont typeface="Wingdings" panose="05000000000000000000" pitchFamily="2" charset="2"/>
              <a:buChar char="§"/>
            </a:pPr>
            <a:r>
              <a:rPr lang="en-US" altLang="ko-KR" sz="1400" b="1" dirty="0"/>
              <a:t>When you want to </a:t>
            </a:r>
            <a:r>
              <a:rPr lang="en-US" altLang="ko-KR" sz="1400" b="1" dirty="0">
                <a:solidFill>
                  <a:srgbClr val="FF0000"/>
                </a:solidFill>
              </a:rPr>
              <a:t>split objects into separate, non-overlapping groups</a:t>
            </a:r>
            <a:r>
              <a:rPr lang="en-US" altLang="ko-KR" sz="1400" b="1" dirty="0"/>
              <a:t>, you can use “</a:t>
            </a:r>
            <a:r>
              <a:rPr lang="en-US" altLang="ko-KR" sz="1400" b="1" dirty="0">
                <a:solidFill>
                  <a:srgbClr val="FF0000"/>
                </a:solidFill>
              </a:rPr>
              <a:t>namespaces</a:t>
            </a:r>
            <a:r>
              <a:rPr lang="en-US" altLang="ko-KR" sz="1400" b="1" dirty="0"/>
              <a:t>” for that purpose in Kubernetes</a:t>
            </a:r>
            <a:r>
              <a:rPr lang="en-US" altLang="ko-KR" sz="1400" dirty="0"/>
              <a:t>. You may want to only operate inside one group at a time. For this and other reasons, </a:t>
            </a:r>
            <a:r>
              <a:rPr lang="en-US" altLang="ko-KR" sz="1400" b="1" dirty="0"/>
              <a:t>Kubernetes also groups objects into namespaces</a:t>
            </a:r>
            <a:r>
              <a:rPr lang="en-US" altLang="ko-KR" sz="1400" dirty="0"/>
              <a:t>. </a:t>
            </a:r>
            <a:r>
              <a:rPr lang="en-US" altLang="ko-KR" sz="1400" b="1" dirty="0"/>
              <a:t>These aren’t the </a:t>
            </a:r>
            <a:r>
              <a:rPr lang="en-US" altLang="ko-KR" sz="1400" b="1" dirty="0">
                <a:solidFill>
                  <a:srgbClr val="FF0000"/>
                </a:solidFill>
              </a:rPr>
              <a:t>Linux namespaces</a:t>
            </a:r>
            <a:r>
              <a:rPr lang="en-US" altLang="ko-KR" sz="1400" b="1" dirty="0"/>
              <a:t> </a:t>
            </a:r>
            <a:r>
              <a:rPr lang="en-US" altLang="ko-KR" sz="1400" dirty="0"/>
              <a:t>we talked about before, which are used to </a:t>
            </a:r>
            <a:r>
              <a:rPr lang="en-US" altLang="ko-KR" sz="1400" b="1" dirty="0"/>
              <a:t>isolate processes from each other</a:t>
            </a:r>
            <a:r>
              <a:rPr lang="en-US" altLang="ko-KR" sz="1400" dirty="0"/>
              <a:t>. </a:t>
            </a:r>
          </a:p>
          <a:p>
            <a:pPr lvl="1">
              <a:buFont typeface="Wingdings" panose="05000000000000000000" pitchFamily="2" charset="2"/>
              <a:buChar char="§"/>
            </a:pPr>
            <a:r>
              <a:rPr lang="en-US" altLang="ko-KR" sz="1400" b="1" dirty="0"/>
              <a:t>Kubernetes namespaces provide </a:t>
            </a:r>
            <a:r>
              <a:rPr lang="en-US" altLang="ko-KR" sz="1400" b="1" dirty="0">
                <a:solidFill>
                  <a:srgbClr val="FF0000"/>
                </a:solidFill>
              </a:rPr>
              <a:t>a scope for objects names</a:t>
            </a:r>
            <a:r>
              <a:rPr lang="en-US" altLang="ko-KR" sz="1400" b="1" dirty="0"/>
              <a:t>. Instead of having all your resources in one single namespace, you can split them into multiple namespaces, which also allows you to use the same resource names multiple times </a:t>
            </a:r>
            <a:r>
              <a:rPr lang="en-US" altLang="ko-KR" sz="1400" dirty="0"/>
              <a:t>(across different namespaces).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BBC7F8C-3A64-7872-6CCA-0005692A1D50}"/>
              </a:ext>
            </a:extLst>
          </p:cNvPr>
          <p:cNvPicPr>
            <a:picLocks noChangeAspect="1"/>
          </p:cNvPicPr>
          <p:nvPr/>
        </p:nvPicPr>
        <p:blipFill>
          <a:blip r:embed="rId2"/>
          <a:stretch>
            <a:fillRect/>
          </a:stretch>
        </p:blipFill>
        <p:spPr>
          <a:xfrm>
            <a:off x="3135375" y="3326524"/>
            <a:ext cx="5921249" cy="3082506"/>
          </a:xfrm>
          <a:prstGeom prst="rect">
            <a:avLst/>
          </a:prstGeom>
        </p:spPr>
      </p:pic>
    </p:spTree>
    <p:extLst>
      <p:ext uri="{BB962C8B-B14F-4D97-AF65-F5344CB8AC3E}">
        <p14:creationId xmlns:p14="http://schemas.microsoft.com/office/powerpoint/2010/main" val="25773553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Need for Namespaces :</a:t>
            </a:r>
          </a:p>
          <a:p>
            <a:pPr lvl="1">
              <a:buFont typeface="Wingdings" panose="05000000000000000000" pitchFamily="2" charset="2"/>
              <a:buChar char="§"/>
            </a:pPr>
            <a:r>
              <a:rPr lang="en-US" altLang="ko-KR" sz="1400" b="1" dirty="0"/>
              <a:t>Using multiple namespaces allows you to </a:t>
            </a:r>
            <a:r>
              <a:rPr lang="en-US" altLang="ko-KR" sz="1400" b="1" dirty="0">
                <a:solidFill>
                  <a:srgbClr val="FF0000"/>
                </a:solidFill>
              </a:rPr>
              <a:t>split complex systems </a:t>
            </a:r>
            <a:r>
              <a:rPr lang="en-US" altLang="ko-KR" sz="1400" b="1" dirty="0"/>
              <a:t>with numerous components into smaller distinct groups</a:t>
            </a:r>
            <a:r>
              <a:rPr lang="en-US" altLang="ko-KR" sz="1400" dirty="0"/>
              <a:t>. They can also be used for </a:t>
            </a:r>
            <a:r>
              <a:rPr lang="en-US" altLang="ko-KR" sz="1400" b="1" dirty="0">
                <a:solidFill>
                  <a:srgbClr val="FF0000"/>
                </a:solidFill>
              </a:rPr>
              <a:t>separating resources </a:t>
            </a:r>
            <a:r>
              <a:rPr lang="en-US" altLang="ko-KR" sz="1400" b="1" dirty="0"/>
              <a:t>in a multi-tenant environment, splitting up resources into production, development, and QA environments, or in any other way you may need</a:t>
            </a:r>
            <a:r>
              <a:rPr lang="en-US" altLang="ko-KR" sz="1400" dirty="0"/>
              <a:t>. </a:t>
            </a:r>
            <a:r>
              <a:rPr lang="en-US" altLang="ko-KR" sz="1400" b="1" dirty="0"/>
              <a:t>Resource names only need to be unique within a namespace</a:t>
            </a:r>
            <a:r>
              <a:rPr lang="en-US" altLang="ko-KR" sz="1400" dirty="0"/>
              <a:t>. </a:t>
            </a:r>
          </a:p>
          <a:p>
            <a:pPr lvl="1">
              <a:buFont typeface="Wingdings" panose="05000000000000000000" pitchFamily="2" charset="2"/>
              <a:buChar char="§"/>
            </a:pPr>
            <a:r>
              <a:rPr lang="en-US" altLang="ko-KR" sz="1400" b="1" dirty="0"/>
              <a:t>Two different namespaces can contain resources of the same name</a:t>
            </a:r>
            <a:r>
              <a:rPr lang="en-US" altLang="ko-KR" sz="1400" dirty="0"/>
              <a:t>. But, while most types of resources are </a:t>
            </a:r>
            <a:r>
              <a:rPr lang="en-US" altLang="ko-KR" sz="1400" dirty="0" err="1"/>
              <a:t>namespaced</a:t>
            </a:r>
            <a:r>
              <a:rPr lang="en-US" altLang="ko-KR" sz="1400" dirty="0"/>
              <a:t>, a few aren’t. One of them is the </a:t>
            </a:r>
            <a:r>
              <a:rPr lang="en-US" altLang="ko-KR" sz="1400" b="1" dirty="0">
                <a:solidFill>
                  <a:srgbClr val="FF0000"/>
                </a:solidFill>
              </a:rPr>
              <a:t>Node resource</a:t>
            </a:r>
            <a:r>
              <a:rPr lang="en-US" altLang="ko-KR" sz="1400" dirty="0"/>
              <a:t>, </a:t>
            </a:r>
            <a:r>
              <a:rPr lang="en-US" altLang="ko-KR" sz="1400" b="1" dirty="0"/>
              <a:t>which is global and not tied to a single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45CAA6F-AAA9-E7A8-06AF-ABE12C939A0F}"/>
              </a:ext>
            </a:extLst>
          </p:cNvPr>
          <p:cNvPicPr>
            <a:picLocks noChangeAspect="1"/>
          </p:cNvPicPr>
          <p:nvPr/>
        </p:nvPicPr>
        <p:blipFill>
          <a:blip r:embed="rId2"/>
          <a:stretch>
            <a:fillRect/>
          </a:stretch>
        </p:blipFill>
        <p:spPr>
          <a:xfrm>
            <a:off x="3733542" y="2875548"/>
            <a:ext cx="4724916" cy="2965576"/>
          </a:xfrm>
          <a:prstGeom prst="rect">
            <a:avLst/>
          </a:prstGeom>
        </p:spPr>
      </p:pic>
    </p:spTree>
    <p:extLst>
      <p:ext uri="{BB962C8B-B14F-4D97-AF65-F5344CB8AC3E}">
        <p14:creationId xmlns:p14="http://schemas.microsoft.com/office/powerpoint/2010/main" val="2864475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Discovering Other Namespaces and Their Pods :</a:t>
            </a:r>
          </a:p>
          <a:p>
            <a:pPr lvl="1">
              <a:buFont typeface="Wingdings" panose="05000000000000000000" pitchFamily="2" charset="2"/>
              <a:buChar char="§"/>
            </a:pPr>
            <a:r>
              <a:rPr lang="en-US" altLang="ko-KR" sz="1400" b="1" dirty="0"/>
              <a:t>To list all namespaces in your cluster</a:t>
            </a:r>
            <a:r>
              <a:rPr lang="en-US" altLang="ko-KR" sz="1400" dirty="0"/>
              <a:t>, you can use the following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Up to this point, you’ve operated only in the “</a:t>
            </a:r>
            <a:r>
              <a:rPr lang="en-US" altLang="ko-KR" sz="1400" b="1" dirty="0"/>
              <a:t>default namespace”</a:t>
            </a:r>
            <a:r>
              <a:rPr lang="en-US" altLang="ko-KR" sz="1400" dirty="0"/>
              <a:t>. When listing resources with the “</a:t>
            </a:r>
            <a:r>
              <a:rPr lang="en-US" altLang="ko-KR" sz="1400" b="1" dirty="0" err="1">
                <a:solidFill>
                  <a:srgbClr val="FF0000"/>
                </a:solidFill>
              </a:rPr>
              <a:t>kubectl</a:t>
            </a:r>
            <a:r>
              <a:rPr lang="en-US" altLang="ko-KR" sz="1400" b="1" dirty="0">
                <a:solidFill>
                  <a:srgbClr val="FF0000"/>
                </a:solidFill>
              </a:rPr>
              <a:t> get ns</a:t>
            </a:r>
            <a:r>
              <a:rPr lang="en-US" altLang="ko-KR" sz="1400" dirty="0"/>
              <a:t>” command, you’ve never specified the namespace explicitly, so </a:t>
            </a:r>
            <a:r>
              <a:rPr lang="en-US" altLang="ko-KR" sz="1400" b="1" dirty="0" err="1"/>
              <a:t>kubectl</a:t>
            </a:r>
            <a:r>
              <a:rPr lang="en-US" altLang="ko-KR" sz="1400" b="1" dirty="0"/>
              <a:t> always defaulted to the default namespace</a:t>
            </a:r>
            <a:r>
              <a:rPr lang="en-US" altLang="ko-KR" sz="1400" dirty="0"/>
              <a:t>, showing you only the objects in that namespace. But as you can see from the list, the “</a:t>
            </a:r>
            <a:r>
              <a:rPr lang="en-US" altLang="ko-KR" sz="1400" b="1" dirty="0" err="1"/>
              <a:t>kube</a:t>
            </a:r>
            <a:r>
              <a:rPr lang="en-US" altLang="ko-KR" sz="1400" b="1" dirty="0"/>
              <a:t>-public</a:t>
            </a:r>
            <a:r>
              <a:rPr lang="en-US" altLang="ko-KR" sz="1400" dirty="0"/>
              <a:t>” and the “</a:t>
            </a:r>
            <a:r>
              <a:rPr lang="en-US" altLang="ko-KR" sz="1400" b="1" dirty="0" err="1"/>
              <a:t>kube</a:t>
            </a:r>
            <a:r>
              <a:rPr lang="en-US" altLang="ko-KR" sz="1400" b="1" dirty="0"/>
              <a:t>-system</a:t>
            </a:r>
            <a:r>
              <a:rPr lang="en-US" altLang="ko-KR" sz="1400" dirty="0"/>
              <a:t>” namespaces also exist. </a:t>
            </a:r>
            <a:r>
              <a:rPr lang="en-US" altLang="ko-KR" sz="1400" b="1" dirty="0"/>
              <a:t>You can list pods in the “</a:t>
            </a:r>
            <a:r>
              <a:rPr lang="en-US" altLang="ko-KR" sz="1400" b="1" dirty="0" err="1"/>
              <a:t>kube</a:t>
            </a:r>
            <a:r>
              <a:rPr lang="en-US" altLang="ko-KR" sz="1400" b="1" dirty="0"/>
              <a:t>-system” namespace, by telling </a:t>
            </a:r>
            <a:r>
              <a:rPr lang="en-US" altLang="ko-KR" sz="1400" b="1" dirty="0" err="1"/>
              <a:t>kubectl</a:t>
            </a:r>
            <a:r>
              <a:rPr lang="en-US" altLang="ko-KR" sz="1400" b="1" dirty="0"/>
              <a:t> to list pods in that namespace only with “</a:t>
            </a:r>
            <a:r>
              <a:rPr lang="en-US" altLang="ko-KR" sz="1400" b="1" dirty="0" err="1">
                <a:solidFill>
                  <a:srgbClr val="FF0000"/>
                </a:solidFill>
              </a:rPr>
              <a:t>kubectl</a:t>
            </a:r>
            <a:r>
              <a:rPr lang="en-US" altLang="ko-KR" sz="1400" b="1" dirty="0">
                <a:solidFill>
                  <a:srgbClr val="FF0000"/>
                </a:solidFill>
              </a:rPr>
              <a:t> get pod -namespace </a:t>
            </a:r>
            <a:r>
              <a:rPr lang="en-US" altLang="ko-KR" sz="1400" b="1" dirty="0" err="1">
                <a:solidFill>
                  <a:srgbClr val="FF0000"/>
                </a:solidFill>
              </a:rPr>
              <a:t>kube</a:t>
            </a:r>
            <a:r>
              <a:rPr lang="en-US" altLang="ko-KR" sz="1400" b="1" dirty="0">
                <a:solidFill>
                  <a:srgbClr val="FF0000"/>
                </a:solidFill>
              </a:rPr>
              <a:t>-system</a:t>
            </a:r>
            <a:r>
              <a:rPr lang="en-US" altLang="ko-KR" sz="1400" b="1" dirty="0"/>
              <a:t>” command</a:t>
            </a:r>
            <a:r>
              <a:rPr lang="en-US" altLang="ko-KR" sz="1400" dirty="0"/>
              <a:t>. You can use “</a:t>
            </a:r>
            <a:r>
              <a:rPr lang="en-US" altLang="ko-KR" sz="1400" b="1" dirty="0">
                <a:solidFill>
                  <a:srgbClr val="FF0000"/>
                </a:solidFill>
              </a:rPr>
              <a:t>-n</a:t>
            </a:r>
            <a:r>
              <a:rPr lang="en-US" altLang="ko-KR" sz="1400" dirty="0"/>
              <a:t>” instead of “</a:t>
            </a:r>
            <a:r>
              <a:rPr lang="en-US" altLang="ko-KR" sz="1400" b="1" dirty="0"/>
              <a:t>--namespace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4BE4E9B-602F-CDCB-4DD4-74EA5BE699AE}"/>
              </a:ext>
            </a:extLst>
          </p:cNvPr>
          <p:cNvGrpSpPr/>
          <p:nvPr/>
        </p:nvGrpSpPr>
        <p:grpSpPr>
          <a:xfrm>
            <a:off x="1861265" y="1485682"/>
            <a:ext cx="8469470" cy="3496739"/>
            <a:chOff x="1861265" y="1494361"/>
            <a:chExt cx="8469470" cy="3496739"/>
          </a:xfrm>
        </p:grpSpPr>
        <p:sp>
          <p:nvSpPr>
            <p:cNvPr id="8" name="TextBox 7">
              <a:extLst>
                <a:ext uri="{FF2B5EF4-FFF2-40B4-BE49-F238E27FC236}">
                  <a16:creationId xmlns:a16="http://schemas.microsoft.com/office/drawing/2014/main" id="{ABB4DB15-AF4A-66B1-FBAA-D7D853B09827}"/>
                </a:ext>
              </a:extLst>
            </p:cNvPr>
            <p:cNvSpPr txBox="1"/>
            <p:nvPr/>
          </p:nvSpPr>
          <p:spPr>
            <a:xfrm>
              <a:off x="3047343" y="149436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ns</a:t>
              </a:r>
            </a:p>
          </p:txBody>
        </p:sp>
        <p:sp>
          <p:nvSpPr>
            <p:cNvPr id="9" name="화살표: 아래쪽 8">
              <a:extLst>
                <a:ext uri="{FF2B5EF4-FFF2-40B4-BE49-F238E27FC236}">
                  <a16:creationId xmlns:a16="http://schemas.microsoft.com/office/drawing/2014/main" id="{6E18B9D5-4772-CAEB-1A6A-A14F78D1154E}"/>
                </a:ext>
              </a:extLst>
            </p:cNvPr>
            <p:cNvSpPr/>
            <p:nvPr/>
          </p:nvSpPr>
          <p:spPr>
            <a:xfrm>
              <a:off x="5867400" y="1740582"/>
              <a:ext cx="457200" cy="32470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91FF3E5-5182-51B2-CA7E-FDCB19294434}"/>
                </a:ext>
              </a:extLst>
            </p:cNvPr>
            <p:cNvPicPr>
              <a:picLocks noChangeAspect="1"/>
            </p:cNvPicPr>
            <p:nvPr/>
          </p:nvPicPr>
          <p:blipFill>
            <a:blip r:embed="rId2"/>
            <a:stretch>
              <a:fillRect/>
            </a:stretch>
          </p:blipFill>
          <p:spPr>
            <a:xfrm>
              <a:off x="1861265" y="2065283"/>
              <a:ext cx="8469470" cy="2925817"/>
            </a:xfrm>
            <a:prstGeom prst="rect">
              <a:avLst/>
            </a:prstGeom>
          </p:spPr>
        </p:pic>
        <p:sp>
          <p:nvSpPr>
            <p:cNvPr id="12" name="직사각형 11">
              <a:extLst>
                <a:ext uri="{FF2B5EF4-FFF2-40B4-BE49-F238E27FC236}">
                  <a16:creationId xmlns:a16="http://schemas.microsoft.com/office/drawing/2014/main" id="{C53D2EE2-BCEF-D774-70DA-59931CC1721A}"/>
                </a:ext>
              </a:extLst>
            </p:cNvPr>
            <p:cNvSpPr/>
            <p:nvPr/>
          </p:nvSpPr>
          <p:spPr>
            <a:xfrm>
              <a:off x="5793828" y="2460537"/>
              <a:ext cx="953813" cy="227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ED23A992-9B28-E996-617A-B132A2D87100}"/>
                </a:ext>
              </a:extLst>
            </p:cNvPr>
            <p:cNvSpPr/>
            <p:nvPr/>
          </p:nvSpPr>
          <p:spPr>
            <a:xfrm>
              <a:off x="1923392" y="3279228"/>
              <a:ext cx="2246586"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05670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Other Namespaces and Their Pods :</a:t>
            </a:r>
          </a:p>
          <a:p>
            <a:pPr lvl="1">
              <a:buFont typeface="Wingdings" panose="05000000000000000000" pitchFamily="2" charset="2"/>
              <a:buChar char="§"/>
            </a:pPr>
            <a:r>
              <a:rPr lang="en-US" altLang="ko-KR" sz="1400" dirty="0"/>
              <a:t>As you see from the screenshot in the previous page, the namespaces are resources related to the </a:t>
            </a:r>
            <a:r>
              <a:rPr lang="en-US" altLang="ko-KR" sz="1400" b="1" dirty="0"/>
              <a:t>Kubernetes system </a:t>
            </a:r>
            <a:r>
              <a:rPr lang="en-US" altLang="ko-KR" sz="1400" dirty="0"/>
              <a:t>itself. </a:t>
            </a:r>
            <a:r>
              <a:rPr lang="en-US" altLang="ko-KR" sz="1400" b="1" dirty="0"/>
              <a:t>By having them in this </a:t>
            </a:r>
            <a:r>
              <a:rPr lang="en-US" altLang="ko-KR" sz="1400" b="1" dirty="0">
                <a:solidFill>
                  <a:srgbClr val="FF0000"/>
                </a:solidFill>
              </a:rPr>
              <a:t>separate namespace</a:t>
            </a:r>
            <a:r>
              <a:rPr lang="en-US" altLang="ko-KR" sz="1400" b="1" dirty="0"/>
              <a:t>, it keeps everything nicely organized</a:t>
            </a:r>
            <a:r>
              <a:rPr lang="en-US" altLang="ko-KR" sz="1400" dirty="0"/>
              <a:t>. If they were all in the default namespace, mixed in with the resources you create yourself, you’d have a hard time seeing what belongs where, and you might inadvertently delete system resources.</a:t>
            </a:r>
          </a:p>
          <a:p>
            <a:pPr lvl="1">
              <a:buFont typeface="Wingdings" panose="05000000000000000000" pitchFamily="2" charset="2"/>
              <a:buChar char="§"/>
            </a:pPr>
            <a:r>
              <a:rPr lang="en-US" altLang="ko-KR" sz="1400" b="1" dirty="0"/>
              <a:t>Namespaces enable you to </a:t>
            </a:r>
            <a:r>
              <a:rPr lang="en-US" altLang="ko-KR" sz="1400" b="1" dirty="0">
                <a:solidFill>
                  <a:srgbClr val="FF0000"/>
                </a:solidFill>
              </a:rPr>
              <a:t>separate resources </a:t>
            </a:r>
            <a:r>
              <a:rPr lang="en-US" altLang="ko-KR" sz="1400" b="1" dirty="0"/>
              <a:t>that don’t belong together into nonoverlapping groups</a:t>
            </a:r>
            <a:r>
              <a:rPr lang="en-US" altLang="ko-KR" sz="1400" dirty="0"/>
              <a:t>. If several users or groups of users are using the same Kubernetes cluster, and they each manage their own distinct set of resources, they should each use their </a:t>
            </a:r>
            <a:r>
              <a:rPr lang="en-US" altLang="ko-KR" sz="1400" b="1" dirty="0"/>
              <a:t>own namespace</a:t>
            </a:r>
            <a:r>
              <a:rPr lang="en-US" altLang="ko-KR" sz="1400" dirty="0"/>
              <a:t>. This way, they don’t need to take any special care not to inadvertently modify or delete the other users’ resources and </a:t>
            </a:r>
            <a:r>
              <a:rPr lang="en-US" altLang="ko-KR" sz="1400" b="1" dirty="0"/>
              <a:t>don’t need to concern themselves with </a:t>
            </a:r>
            <a:r>
              <a:rPr lang="en-US" altLang="ko-KR" sz="1400" b="1" dirty="0">
                <a:solidFill>
                  <a:srgbClr val="FF0000"/>
                </a:solidFill>
              </a:rPr>
              <a:t>name conflicts</a:t>
            </a:r>
            <a:r>
              <a:rPr lang="en-US" altLang="ko-KR" sz="1400" dirty="0"/>
              <a:t>, </a:t>
            </a:r>
            <a:r>
              <a:rPr lang="en-US" altLang="ko-KR" sz="1400" b="1" dirty="0"/>
              <a:t>because namespaces provide </a:t>
            </a:r>
            <a:r>
              <a:rPr lang="en-US" altLang="ko-KR" sz="1400" b="1" dirty="0">
                <a:solidFill>
                  <a:srgbClr val="FF0000"/>
                </a:solidFill>
              </a:rPr>
              <a:t>a scope for resource names</a:t>
            </a:r>
            <a:r>
              <a:rPr lang="en-US" altLang="ko-KR" sz="1400" dirty="0"/>
              <a:t>.</a:t>
            </a:r>
          </a:p>
          <a:p>
            <a:pPr lvl="1">
              <a:buFont typeface="Wingdings" panose="05000000000000000000" pitchFamily="2" charset="2"/>
              <a:buChar char="§"/>
            </a:pPr>
            <a:r>
              <a:rPr lang="en-US" altLang="ko-KR" sz="1400" b="1" dirty="0"/>
              <a:t>Besides isolating resources, namespaces are also used for allowing only certain users access to particular resources and even for limiting the amount of computational resources available to individual users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65D84BF-D352-DD48-9CEA-D5A7BB997574}"/>
              </a:ext>
            </a:extLst>
          </p:cNvPr>
          <p:cNvPicPr>
            <a:picLocks noChangeAspect="1"/>
          </p:cNvPicPr>
          <p:nvPr/>
        </p:nvPicPr>
        <p:blipFill>
          <a:blip r:embed="rId2"/>
          <a:stretch>
            <a:fillRect/>
          </a:stretch>
        </p:blipFill>
        <p:spPr>
          <a:xfrm>
            <a:off x="2270404" y="3691761"/>
            <a:ext cx="7651192" cy="2257603"/>
          </a:xfrm>
          <a:prstGeom prst="rect">
            <a:avLst/>
          </a:prstGeom>
        </p:spPr>
      </p:pic>
    </p:spTree>
    <p:extLst>
      <p:ext uri="{BB962C8B-B14F-4D97-AF65-F5344CB8AC3E}">
        <p14:creationId xmlns:p14="http://schemas.microsoft.com/office/powerpoint/2010/main" val="36273704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Namespace from a YAML File :</a:t>
            </a:r>
          </a:p>
          <a:p>
            <a:pPr lvl="1">
              <a:buFont typeface="Wingdings" panose="05000000000000000000" pitchFamily="2" charset="2"/>
              <a:buChar char="§"/>
            </a:pPr>
            <a:r>
              <a:rPr lang="en-US" altLang="ko-KR" sz="1400" b="1" dirty="0"/>
              <a:t>A namespace is a Kubernetes resource like any other, so you can create it by posting a YAML file to the Kubernetes API server</a:t>
            </a:r>
            <a:r>
              <a:rPr lang="en-US" altLang="ko-KR" sz="1400" dirty="0"/>
              <a:t>.</a:t>
            </a:r>
          </a:p>
          <a:p>
            <a:pPr lvl="1">
              <a:buFont typeface="Wingdings" panose="05000000000000000000" pitchFamily="2" charset="2"/>
              <a:buChar char="§"/>
            </a:pPr>
            <a:r>
              <a:rPr lang="en-US" altLang="ko-KR" sz="1400" dirty="0"/>
              <a:t>First, create a “</a:t>
            </a:r>
            <a:r>
              <a:rPr lang="en-US" altLang="ko-KR" sz="1400" b="1" dirty="0"/>
              <a:t>custom-</a:t>
            </a:r>
            <a:r>
              <a:rPr lang="en-US" altLang="ko-KR" sz="1400" b="1" dirty="0" err="1"/>
              <a:t>namespace.yaml</a:t>
            </a:r>
            <a:r>
              <a:rPr lang="en-US" altLang="ko-KR" sz="1400" dirty="0"/>
              <a:t>” file with the following listing’s contents.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Use “</a:t>
            </a:r>
            <a:r>
              <a:rPr lang="en-US" altLang="ko-KR" sz="1400" b="1" dirty="0" err="1"/>
              <a:t>kubectl</a:t>
            </a:r>
            <a:r>
              <a:rPr lang="en-US" altLang="ko-KR" sz="1400" b="1" dirty="0"/>
              <a:t> create -f” command to post the file to the Kubernetes API server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CB8CCD1-BCA6-F163-F69F-C72A1FD5B506}"/>
              </a:ext>
            </a:extLst>
          </p:cNvPr>
          <p:cNvGrpSpPr/>
          <p:nvPr/>
        </p:nvGrpSpPr>
        <p:grpSpPr>
          <a:xfrm>
            <a:off x="3047343" y="1938084"/>
            <a:ext cx="6097314" cy="707886"/>
            <a:chOff x="3047343" y="1938084"/>
            <a:chExt cx="6097314" cy="707886"/>
          </a:xfrm>
        </p:grpSpPr>
        <p:sp>
          <p:nvSpPr>
            <p:cNvPr id="8" name="TextBox 7">
              <a:extLst>
                <a:ext uri="{FF2B5EF4-FFF2-40B4-BE49-F238E27FC236}">
                  <a16:creationId xmlns:a16="http://schemas.microsoft.com/office/drawing/2014/main" id="{1FA05AA4-41E4-8655-71B9-36F51F5B2E6C}"/>
                </a:ext>
              </a:extLst>
            </p:cNvPr>
            <p:cNvSpPr txBox="1"/>
            <p:nvPr/>
          </p:nvSpPr>
          <p:spPr>
            <a:xfrm>
              <a:off x="3047343" y="1938084"/>
              <a:ext cx="6097314" cy="70788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Namespace</a:t>
              </a:r>
            </a:p>
            <a:p>
              <a:r>
                <a:rPr lang="en-US" altLang="ko-KR" sz="1000" b="1" dirty="0"/>
                <a:t>metadata:</a:t>
              </a:r>
            </a:p>
            <a:p>
              <a:r>
                <a:rPr lang="en-US" altLang="ko-KR" sz="1000" b="1" dirty="0"/>
                <a:t>  name: </a:t>
              </a:r>
              <a:r>
                <a:rPr lang="en-US" altLang="ko-KR" sz="1000" b="1" dirty="0">
                  <a:solidFill>
                    <a:srgbClr val="FF0000"/>
                  </a:solidFill>
                </a:rPr>
                <a:t>custom-namespace</a:t>
              </a:r>
            </a:p>
          </p:txBody>
        </p:sp>
        <p:sp>
          <p:nvSpPr>
            <p:cNvPr id="9" name="TextBox 8">
              <a:extLst>
                <a:ext uri="{FF2B5EF4-FFF2-40B4-BE49-F238E27FC236}">
                  <a16:creationId xmlns:a16="http://schemas.microsoft.com/office/drawing/2014/main" id="{DDBDEA5C-5A10-A21F-0A27-8D0C52B9DF26}"/>
                </a:ext>
              </a:extLst>
            </p:cNvPr>
            <p:cNvSpPr txBox="1"/>
            <p:nvPr/>
          </p:nvSpPr>
          <p:spPr>
            <a:xfrm>
              <a:off x="7454771" y="1938084"/>
              <a:ext cx="1689886" cy="246221"/>
            </a:xfrm>
            <a:prstGeom prst="rect">
              <a:avLst/>
            </a:prstGeom>
            <a:noFill/>
          </p:spPr>
          <p:txBody>
            <a:bodyPr wrap="none" rtlCol="0">
              <a:spAutoFit/>
            </a:bodyPr>
            <a:lstStyle/>
            <a:p>
              <a:pPr algn="l"/>
              <a:r>
                <a:rPr lang="en-US" altLang="ko-KR" sz="1000" b="1" dirty="0"/>
                <a:t>custom-</a:t>
              </a:r>
              <a:r>
                <a:rPr lang="en-US" altLang="ko-KR" sz="1000" b="1" dirty="0" err="1"/>
                <a:t>namespace.yaml</a:t>
              </a:r>
              <a:endParaRPr lang="ko-KR" altLang="en-US" sz="1000" b="1" dirty="0"/>
            </a:p>
          </p:txBody>
        </p:sp>
      </p:grpSp>
      <p:grpSp>
        <p:nvGrpSpPr>
          <p:cNvPr id="19" name="그룹 18">
            <a:extLst>
              <a:ext uri="{FF2B5EF4-FFF2-40B4-BE49-F238E27FC236}">
                <a16:creationId xmlns:a16="http://schemas.microsoft.com/office/drawing/2014/main" id="{ED3AAF10-A745-BEC8-0328-8163482D7E23}"/>
              </a:ext>
            </a:extLst>
          </p:cNvPr>
          <p:cNvGrpSpPr/>
          <p:nvPr/>
        </p:nvGrpSpPr>
        <p:grpSpPr>
          <a:xfrm>
            <a:off x="1703989" y="3301523"/>
            <a:ext cx="8784021" cy="2744346"/>
            <a:chOff x="1703988" y="3244334"/>
            <a:chExt cx="8784021" cy="2744346"/>
          </a:xfrm>
        </p:grpSpPr>
        <p:grpSp>
          <p:nvGrpSpPr>
            <p:cNvPr id="16" name="그룹 15">
              <a:extLst>
                <a:ext uri="{FF2B5EF4-FFF2-40B4-BE49-F238E27FC236}">
                  <a16:creationId xmlns:a16="http://schemas.microsoft.com/office/drawing/2014/main" id="{59D242F7-82B4-BF0D-D049-10A3D6E34FC4}"/>
                </a:ext>
              </a:extLst>
            </p:cNvPr>
            <p:cNvGrpSpPr/>
            <p:nvPr/>
          </p:nvGrpSpPr>
          <p:grpSpPr>
            <a:xfrm>
              <a:off x="1703988" y="3244334"/>
              <a:ext cx="8784021" cy="2744346"/>
              <a:chOff x="1703988" y="3244334"/>
              <a:chExt cx="8784021" cy="2744346"/>
            </a:xfrm>
          </p:grpSpPr>
          <p:sp>
            <p:nvSpPr>
              <p:cNvPr id="12" name="TextBox 11">
                <a:extLst>
                  <a:ext uri="{FF2B5EF4-FFF2-40B4-BE49-F238E27FC236}">
                    <a16:creationId xmlns:a16="http://schemas.microsoft.com/office/drawing/2014/main" id="{2003864D-961C-67B7-23D5-775A8DB6BAA8}"/>
                  </a:ext>
                </a:extLst>
              </p:cNvPr>
              <p:cNvSpPr txBox="1"/>
              <p:nvPr/>
            </p:nvSpPr>
            <p:spPr>
              <a:xfrm>
                <a:off x="3048657" y="3244334"/>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custom-</a:t>
                </a:r>
                <a:r>
                  <a:rPr lang="en-US" altLang="ko-KR" sz="1000" b="1" dirty="0" err="1">
                    <a:solidFill>
                      <a:srgbClr val="FF0000"/>
                    </a:solidFill>
                  </a:rPr>
                  <a:t>namespace.yaml</a:t>
                </a:r>
                <a:endParaRPr lang="en-US" altLang="ko-KR" sz="1000" b="1" dirty="0">
                  <a:solidFill>
                    <a:srgbClr val="FF0000"/>
                  </a:solidFill>
                </a:endParaRPr>
              </a:p>
            </p:txBody>
          </p:sp>
          <p:sp>
            <p:nvSpPr>
              <p:cNvPr id="13" name="화살표: 아래쪽 12">
                <a:extLst>
                  <a:ext uri="{FF2B5EF4-FFF2-40B4-BE49-F238E27FC236}">
                    <a16:creationId xmlns:a16="http://schemas.microsoft.com/office/drawing/2014/main" id="{307480F4-B855-44F0-01E8-26F69FA334D6}"/>
                  </a:ext>
                </a:extLst>
              </p:cNvPr>
              <p:cNvSpPr/>
              <p:nvPr/>
            </p:nvSpPr>
            <p:spPr>
              <a:xfrm>
                <a:off x="5891048" y="3490555"/>
                <a:ext cx="40990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5" name="그림 14">
                <a:extLst>
                  <a:ext uri="{FF2B5EF4-FFF2-40B4-BE49-F238E27FC236}">
                    <a16:creationId xmlns:a16="http://schemas.microsoft.com/office/drawing/2014/main" id="{41BA0311-C736-1066-68C0-C19D9243DA03}"/>
                  </a:ext>
                </a:extLst>
              </p:cNvPr>
              <p:cNvPicPr>
                <a:picLocks noChangeAspect="1"/>
              </p:cNvPicPr>
              <p:nvPr/>
            </p:nvPicPr>
            <p:blipFill>
              <a:blip r:embed="rId2"/>
              <a:stretch>
                <a:fillRect/>
              </a:stretch>
            </p:blipFill>
            <p:spPr>
              <a:xfrm>
                <a:off x="1703988" y="3736776"/>
                <a:ext cx="8784021" cy="2251904"/>
              </a:xfrm>
              <a:prstGeom prst="rect">
                <a:avLst/>
              </a:prstGeom>
            </p:spPr>
          </p:pic>
        </p:grpSp>
        <p:sp>
          <p:nvSpPr>
            <p:cNvPr id="17" name="직사각형 16">
              <a:extLst>
                <a:ext uri="{FF2B5EF4-FFF2-40B4-BE49-F238E27FC236}">
                  <a16:creationId xmlns:a16="http://schemas.microsoft.com/office/drawing/2014/main" id="{B80F94B5-3543-D70C-61A2-03FA18C1176B}"/>
                </a:ext>
              </a:extLst>
            </p:cNvPr>
            <p:cNvSpPr/>
            <p:nvPr/>
          </p:nvSpPr>
          <p:spPr>
            <a:xfrm>
              <a:off x="5770179" y="4180499"/>
              <a:ext cx="2561896" cy="1786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97EE5DAE-FB39-1519-0182-3DF6D41000CB}"/>
                </a:ext>
              </a:extLst>
            </p:cNvPr>
            <p:cNvSpPr/>
            <p:nvPr/>
          </p:nvSpPr>
          <p:spPr>
            <a:xfrm>
              <a:off x="1805152" y="4737538"/>
              <a:ext cx="2278117"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736070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Creating a Namespace with </a:t>
            </a:r>
            <a:r>
              <a:rPr lang="en-US" altLang="ko-KR" sz="1800" b="1" dirty="0" err="1"/>
              <a:t>kubectl</a:t>
            </a:r>
            <a:r>
              <a:rPr lang="en-US" altLang="ko-KR" sz="1800" b="1" dirty="0"/>
              <a:t> create namespace :</a:t>
            </a:r>
          </a:p>
          <a:p>
            <a:pPr lvl="1">
              <a:buFont typeface="Wingdings" panose="05000000000000000000" pitchFamily="2" charset="2"/>
              <a:buChar char="§"/>
            </a:pPr>
            <a:r>
              <a:rPr lang="en-US" altLang="ko-KR" sz="1400" dirty="0"/>
              <a:t>You can also create namespaces with the dedicated “</a:t>
            </a:r>
            <a:r>
              <a:rPr lang="en-US" altLang="ko-KR" sz="1400" b="1" dirty="0" err="1"/>
              <a:t>kubectl</a:t>
            </a:r>
            <a:r>
              <a:rPr lang="en-US" altLang="ko-KR" sz="1400" b="1" dirty="0"/>
              <a:t> create namespace</a:t>
            </a:r>
            <a:r>
              <a:rPr lang="en-US" altLang="ko-KR" sz="1400" dirty="0"/>
              <a:t>” command, which is quicker than writing a YAML file. By having you create a YAML manifest for the namespace, I wanted to reinforce the idea that </a:t>
            </a:r>
            <a:r>
              <a:rPr lang="en-US" altLang="ko-KR" sz="1400" b="1" dirty="0"/>
              <a:t>everything in Kubernetes has </a:t>
            </a:r>
            <a:r>
              <a:rPr lang="en-US" altLang="ko-KR" sz="1400" b="1" dirty="0">
                <a:solidFill>
                  <a:srgbClr val="FF0000"/>
                </a:solidFill>
              </a:rPr>
              <a:t>a corresponding API object </a:t>
            </a:r>
            <a:r>
              <a:rPr lang="en-US" altLang="ko-KR" sz="1400" b="1" dirty="0"/>
              <a:t>that you can </a:t>
            </a:r>
            <a:r>
              <a:rPr lang="en-US" altLang="ko-KR" sz="1400" b="1" dirty="0">
                <a:solidFill>
                  <a:srgbClr val="FF0000"/>
                </a:solidFill>
              </a:rPr>
              <a:t>create, read, update, and delete by posting a YAML manifest </a:t>
            </a:r>
            <a:r>
              <a:rPr lang="en-US" altLang="ko-KR" sz="1400" b="1" dirty="0"/>
              <a:t>to the API server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Although most objects’ names must conform to the naming conventions specified in RFC 1035 (Domain names), which means they may contain only letters</a:t>
            </a:r>
            <a:r>
              <a:rPr lang="en-US" altLang="ko-KR" sz="1400" dirty="0"/>
              <a:t>, </a:t>
            </a:r>
            <a:r>
              <a:rPr lang="en-US" altLang="ko-KR" sz="1400" b="1" dirty="0"/>
              <a:t>digits, dashes, and dots, namespaces (and a few others) aren’t allowed to contain dots.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FAE0263E-51C5-E020-27C7-AFAF9A90D57F}"/>
              </a:ext>
            </a:extLst>
          </p:cNvPr>
          <p:cNvGrpSpPr/>
          <p:nvPr/>
        </p:nvGrpSpPr>
        <p:grpSpPr>
          <a:xfrm>
            <a:off x="1544035" y="2101335"/>
            <a:ext cx="9103929" cy="3372608"/>
            <a:chOff x="1544035" y="2132865"/>
            <a:chExt cx="9103929" cy="3372608"/>
          </a:xfrm>
        </p:grpSpPr>
        <p:sp>
          <p:nvSpPr>
            <p:cNvPr id="8" name="TextBox 7">
              <a:extLst>
                <a:ext uri="{FF2B5EF4-FFF2-40B4-BE49-F238E27FC236}">
                  <a16:creationId xmlns:a16="http://schemas.microsoft.com/office/drawing/2014/main" id="{50A9556E-A4D5-BA56-77AB-7566657685EF}"/>
                </a:ext>
              </a:extLst>
            </p:cNvPr>
            <p:cNvSpPr txBox="1"/>
            <p:nvPr/>
          </p:nvSpPr>
          <p:spPr>
            <a:xfrm>
              <a:off x="3047343" y="213286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namespace custom-namespace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82DE95F-EC24-A143-E33F-D89FD5149D6C}"/>
                </a:ext>
              </a:extLst>
            </p:cNvPr>
            <p:cNvSpPr/>
            <p:nvPr/>
          </p:nvSpPr>
          <p:spPr>
            <a:xfrm>
              <a:off x="5887107" y="2397360"/>
              <a:ext cx="417786"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AD88AB58-FCF9-A94A-D5F6-19BBAE4CCF51}"/>
                </a:ext>
              </a:extLst>
            </p:cNvPr>
            <p:cNvPicPr>
              <a:picLocks noChangeAspect="1"/>
            </p:cNvPicPr>
            <p:nvPr/>
          </p:nvPicPr>
          <p:blipFill>
            <a:blip r:embed="rId2"/>
            <a:stretch>
              <a:fillRect/>
            </a:stretch>
          </p:blipFill>
          <p:spPr>
            <a:xfrm>
              <a:off x="1544035" y="2691531"/>
              <a:ext cx="9103929" cy="2813942"/>
            </a:xfrm>
            <a:prstGeom prst="rect">
              <a:avLst/>
            </a:prstGeom>
          </p:spPr>
        </p:pic>
        <p:sp>
          <p:nvSpPr>
            <p:cNvPr id="12" name="직사각형 11">
              <a:extLst>
                <a:ext uri="{FF2B5EF4-FFF2-40B4-BE49-F238E27FC236}">
                  <a16:creationId xmlns:a16="http://schemas.microsoft.com/office/drawing/2014/main" id="{CE53A324-2A21-C354-13E6-6F1A232A898B}"/>
                </a:ext>
              </a:extLst>
            </p:cNvPr>
            <p:cNvSpPr/>
            <p:nvPr/>
          </p:nvSpPr>
          <p:spPr>
            <a:xfrm>
              <a:off x="5746531" y="3134172"/>
              <a:ext cx="2864069" cy="1844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AE527B9-BC0C-4F1E-718F-8311B58F704A}"/>
                </a:ext>
              </a:extLst>
            </p:cNvPr>
            <p:cNvSpPr/>
            <p:nvPr/>
          </p:nvSpPr>
          <p:spPr>
            <a:xfrm>
              <a:off x="5746531" y="3432162"/>
              <a:ext cx="2864069" cy="1844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DF7CFE5C-1784-BF08-111C-3771B54B895B}"/>
                </a:ext>
              </a:extLst>
            </p:cNvPr>
            <p:cNvSpPr/>
            <p:nvPr/>
          </p:nvSpPr>
          <p:spPr>
            <a:xfrm>
              <a:off x="5746532" y="3715593"/>
              <a:ext cx="1064172" cy="1844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634118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Managing Objects in Other Namespaces :</a:t>
            </a:r>
          </a:p>
          <a:p>
            <a:pPr lvl="1">
              <a:buFont typeface="Wingdings" panose="05000000000000000000" pitchFamily="2" charset="2"/>
              <a:buChar char="§"/>
            </a:pPr>
            <a:r>
              <a:rPr lang="en-US" altLang="ko-KR" sz="1400" b="1" dirty="0"/>
              <a:t>To create resources in the namespace you’ve created, either add a “namespace: custom-namespace” entry to the metadata section</a:t>
            </a:r>
            <a:r>
              <a:rPr lang="en-US" altLang="ko-KR" sz="1400" dirty="0"/>
              <a:t>, </a:t>
            </a:r>
            <a:r>
              <a:rPr lang="en-US" altLang="ko-KR" sz="1400" b="1" dirty="0"/>
              <a:t>or specify the namespace when creating the resource with the </a:t>
            </a:r>
            <a:r>
              <a:rPr lang="en-US" altLang="ko-KR" sz="1400" b="1" dirty="0" err="1"/>
              <a:t>kubectl</a:t>
            </a:r>
            <a:r>
              <a:rPr lang="en-US" altLang="ko-KR" sz="1400" b="1" dirty="0"/>
              <a:t> create command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You now have two pods with the same name (“</a:t>
            </a:r>
            <a:r>
              <a:rPr lang="en-US" altLang="ko-KR" sz="1400" b="1" dirty="0" err="1"/>
              <a:t>kubia</a:t>
            </a:r>
            <a:r>
              <a:rPr lang="en-US" altLang="ko-KR" sz="1400" b="1" dirty="0"/>
              <a:t>-manual”)</a:t>
            </a:r>
            <a:r>
              <a:rPr lang="en-US" altLang="ko-KR" sz="1400" dirty="0"/>
              <a:t>. One is in the “</a:t>
            </a:r>
            <a:r>
              <a:rPr lang="en-US" altLang="ko-KR" sz="1400" b="1" dirty="0"/>
              <a:t>default” namespace</a:t>
            </a:r>
            <a:r>
              <a:rPr lang="en-US" altLang="ko-KR" sz="1400" dirty="0"/>
              <a:t>, and the other is in your “</a:t>
            </a:r>
            <a:r>
              <a:rPr lang="en-US" altLang="ko-KR" sz="1400" b="1" dirty="0"/>
              <a:t>custom-namespace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1" name="그룹 20">
            <a:extLst>
              <a:ext uri="{FF2B5EF4-FFF2-40B4-BE49-F238E27FC236}">
                <a16:creationId xmlns:a16="http://schemas.microsoft.com/office/drawing/2014/main" id="{F03BAE70-9D2D-E504-C3EC-ADB6BEC8A0D4}"/>
              </a:ext>
            </a:extLst>
          </p:cNvPr>
          <p:cNvGrpSpPr/>
          <p:nvPr/>
        </p:nvGrpSpPr>
        <p:grpSpPr>
          <a:xfrm>
            <a:off x="1847521" y="1647525"/>
            <a:ext cx="8496957" cy="3196019"/>
            <a:chOff x="1847521" y="1647525"/>
            <a:chExt cx="8496957" cy="3196019"/>
          </a:xfrm>
        </p:grpSpPr>
        <p:grpSp>
          <p:nvGrpSpPr>
            <p:cNvPr id="18" name="그룹 17">
              <a:extLst>
                <a:ext uri="{FF2B5EF4-FFF2-40B4-BE49-F238E27FC236}">
                  <a16:creationId xmlns:a16="http://schemas.microsoft.com/office/drawing/2014/main" id="{7C747783-F09F-7F9D-B8B0-C52024169BD9}"/>
                </a:ext>
              </a:extLst>
            </p:cNvPr>
            <p:cNvGrpSpPr/>
            <p:nvPr/>
          </p:nvGrpSpPr>
          <p:grpSpPr>
            <a:xfrm>
              <a:off x="1847521" y="1647525"/>
              <a:ext cx="8496957" cy="3196019"/>
              <a:chOff x="1847521" y="1647525"/>
              <a:chExt cx="8496957" cy="3196019"/>
            </a:xfrm>
          </p:grpSpPr>
          <p:grpSp>
            <p:nvGrpSpPr>
              <p:cNvPr id="12" name="그룹 11">
                <a:extLst>
                  <a:ext uri="{FF2B5EF4-FFF2-40B4-BE49-F238E27FC236}">
                    <a16:creationId xmlns:a16="http://schemas.microsoft.com/office/drawing/2014/main" id="{FC58C90E-60FA-41F3-9964-511FC467F944}"/>
                  </a:ext>
                </a:extLst>
              </p:cNvPr>
              <p:cNvGrpSpPr/>
              <p:nvPr/>
            </p:nvGrpSpPr>
            <p:grpSpPr>
              <a:xfrm>
                <a:off x="3047343" y="1647525"/>
                <a:ext cx="6097314" cy="492442"/>
                <a:chOff x="3047343" y="1647525"/>
                <a:chExt cx="6097314" cy="492442"/>
              </a:xfrm>
            </p:grpSpPr>
            <p:sp>
              <p:nvSpPr>
                <p:cNvPr id="8" name="TextBox 7">
                  <a:extLst>
                    <a:ext uri="{FF2B5EF4-FFF2-40B4-BE49-F238E27FC236}">
                      <a16:creationId xmlns:a16="http://schemas.microsoft.com/office/drawing/2014/main" id="{DB616E45-F9C3-80B3-9F71-395C29E1DD7B}"/>
                    </a:ext>
                  </a:extLst>
                </p:cNvPr>
                <p:cNvSpPr txBox="1"/>
                <p:nvPr/>
              </p:nvSpPr>
              <p:spPr>
                <a:xfrm>
                  <a:off x="3047343" y="164752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kubia-manual.yaml</a:t>
                  </a:r>
                  <a:r>
                    <a:rPr lang="en-US" altLang="ko-KR" sz="1000" b="1" dirty="0">
                      <a:solidFill>
                        <a:srgbClr val="FF0000"/>
                      </a:solidFill>
                    </a:rPr>
                    <a:t> -n custom-namespace</a:t>
                  </a:r>
                </a:p>
              </p:txBody>
            </p:sp>
            <p:sp>
              <p:nvSpPr>
                <p:cNvPr id="11" name="화살표: 아래쪽 10">
                  <a:extLst>
                    <a:ext uri="{FF2B5EF4-FFF2-40B4-BE49-F238E27FC236}">
                      <a16:creationId xmlns:a16="http://schemas.microsoft.com/office/drawing/2014/main" id="{4DB3C684-E40E-D87C-0E82-E21754D4CC0B}"/>
                    </a:ext>
                  </a:extLst>
                </p:cNvPr>
                <p:cNvSpPr/>
                <p:nvPr/>
              </p:nvSpPr>
              <p:spPr>
                <a:xfrm>
                  <a:off x="5891047" y="1893746"/>
                  <a:ext cx="40990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DAEA6A66-5397-9DF4-9416-65B5A97BF573}"/>
                  </a:ext>
                </a:extLst>
              </p:cNvPr>
              <p:cNvPicPr>
                <a:picLocks noChangeAspect="1"/>
              </p:cNvPicPr>
              <p:nvPr/>
            </p:nvPicPr>
            <p:blipFill>
              <a:blip r:embed="rId2"/>
              <a:stretch>
                <a:fillRect/>
              </a:stretch>
            </p:blipFill>
            <p:spPr>
              <a:xfrm>
                <a:off x="1847521" y="2139967"/>
                <a:ext cx="8496957" cy="2703577"/>
              </a:xfrm>
              <a:prstGeom prst="rect">
                <a:avLst/>
              </a:prstGeom>
            </p:spPr>
          </p:pic>
          <p:sp>
            <p:nvSpPr>
              <p:cNvPr id="15" name="직사각형 14">
                <a:extLst>
                  <a:ext uri="{FF2B5EF4-FFF2-40B4-BE49-F238E27FC236}">
                    <a16:creationId xmlns:a16="http://schemas.microsoft.com/office/drawing/2014/main" id="{DBF1A61C-2AB1-CB6B-DCFD-C050F1D737CB}"/>
                  </a:ext>
                </a:extLst>
              </p:cNvPr>
              <p:cNvSpPr/>
              <p:nvPr/>
            </p:nvSpPr>
            <p:spPr>
              <a:xfrm>
                <a:off x="5809593" y="2530366"/>
                <a:ext cx="3492062" cy="2364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558670D8-6DDC-24AF-2A24-AB4B58D63CAC}"/>
                  </a:ext>
                </a:extLst>
              </p:cNvPr>
              <p:cNvSpPr/>
              <p:nvPr/>
            </p:nvSpPr>
            <p:spPr>
              <a:xfrm>
                <a:off x="5809593" y="3838904"/>
                <a:ext cx="2167759" cy="2364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83D9689E-1CB0-503A-C5DA-E656F4F9EAAD}"/>
                  </a:ext>
                </a:extLst>
              </p:cNvPr>
              <p:cNvSpPr/>
              <p:nvPr/>
            </p:nvSpPr>
            <p:spPr>
              <a:xfrm>
                <a:off x="5809593" y="2782631"/>
                <a:ext cx="2801007"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a:extLst>
                <a:ext uri="{FF2B5EF4-FFF2-40B4-BE49-F238E27FC236}">
                  <a16:creationId xmlns:a16="http://schemas.microsoft.com/office/drawing/2014/main" id="{877851FC-7911-D74D-493A-35657B2956CD}"/>
                </a:ext>
              </a:extLst>
            </p:cNvPr>
            <p:cNvSpPr/>
            <p:nvPr/>
          </p:nvSpPr>
          <p:spPr>
            <a:xfrm>
              <a:off x="1923393" y="3099799"/>
              <a:ext cx="3034862" cy="155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C84C25E8-9D0F-0EC7-4ED2-2D473B2055A1}"/>
                </a:ext>
              </a:extLst>
            </p:cNvPr>
            <p:cNvSpPr/>
            <p:nvPr/>
          </p:nvSpPr>
          <p:spPr>
            <a:xfrm>
              <a:off x="1923393" y="4282039"/>
              <a:ext cx="3389586" cy="155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704044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Managing Objects in Other Namespaces :</a:t>
            </a:r>
          </a:p>
          <a:p>
            <a:pPr lvl="1">
              <a:buFont typeface="Wingdings" panose="05000000000000000000" pitchFamily="2" charset="2"/>
              <a:buChar char="§"/>
            </a:pPr>
            <a:r>
              <a:rPr lang="en-US" altLang="ko-KR" sz="1400" b="1" dirty="0"/>
              <a:t>When listing, describing, modifying, or deleting objects in other namespaces, you need to pass the </a:t>
            </a:r>
            <a:r>
              <a:rPr lang="en-US" altLang="ko-KR" sz="1400" b="1" dirty="0">
                <a:solidFill>
                  <a:srgbClr val="FF0000"/>
                </a:solidFill>
              </a:rPr>
              <a:t>“--namespace (or -n)</a:t>
            </a:r>
            <a:r>
              <a:rPr lang="en-US" altLang="ko-KR" sz="1400" b="1" dirty="0"/>
              <a:t>” flag to </a:t>
            </a:r>
            <a:r>
              <a:rPr lang="en-US" altLang="ko-KR" sz="1400" b="1" dirty="0" err="1"/>
              <a:t>kubectl</a:t>
            </a:r>
            <a:r>
              <a:rPr lang="en-US" altLang="ko-KR" sz="1400" dirty="0"/>
              <a:t>. </a:t>
            </a:r>
            <a:r>
              <a:rPr lang="en-US" altLang="ko-KR" sz="1400" b="1" dirty="0"/>
              <a:t>If you don’t specify the namespace, </a:t>
            </a:r>
            <a:r>
              <a:rPr lang="en-US" altLang="ko-KR" sz="1400" b="1" dirty="0" err="1"/>
              <a:t>kubectl</a:t>
            </a:r>
            <a:r>
              <a:rPr lang="en-US" altLang="ko-KR" sz="1400" b="1" dirty="0"/>
              <a:t> performs the action in the default namespace configured in the current </a:t>
            </a:r>
            <a:r>
              <a:rPr lang="en-US" altLang="ko-KR" sz="1400" b="1" dirty="0" err="1"/>
              <a:t>kubectl</a:t>
            </a:r>
            <a:r>
              <a:rPr lang="en-US" altLang="ko-KR" sz="1400" b="1" dirty="0"/>
              <a:t> </a:t>
            </a:r>
            <a:r>
              <a:rPr lang="en-US" altLang="ko-KR" sz="1400" b="1" dirty="0">
                <a:solidFill>
                  <a:srgbClr val="FF0000"/>
                </a:solidFill>
              </a:rPr>
              <a:t>context</a:t>
            </a:r>
            <a:r>
              <a:rPr lang="en-US" altLang="ko-KR" sz="1400" dirty="0"/>
              <a:t>. </a:t>
            </a:r>
          </a:p>
          <a:p>
            <a:pPr lvl="1">
              <a:buFont typeface="Wingdings" panose="05000000000000000000" pitchFamily="2" charset="2"/>
              <a:buChar char="§"/>
            </a:pPr>
            <a:r>
              <a:rPr lang="en-US" altLang="ko-KR" sz="1400" b="1" dirty="0"/>
              <a:t>The current context’s namespace and the current context itself can be changed through “</a:t>
            </a:r>
            <a:r>
              <a:rPr lang="en-US" altLang="ko-KR" sz="1400" b="1" dirty="0" err="1">
                <a:solidFill>
                  <a:srgbClr val="FF0000"/>
                </a:solidFill>
              </a:rPr>
              <a:t>kubectl</a:t>
            </a:r>
            <a:r>
              <a:rPr lang="en-US" altLang="ko-KR" sz="1400" b="1" dirty="0">
                <a:solidFill>
                  <a:srgbClr val="FF0000"/>
                </a:solidFill>
              </a:rPr>
              <a:t> config</a:t>
            </a:r>
            <a:r>
              <a:rPr lang="en-US" altLang="ko-KR" sz="1400" b="1" dirty="0"/>
              <a:t>” commands</a:t>
            </a:r>
            <a:r>
              <a:rPr lang="en-US" altLang="ko-KR" sz="1400" dirty="0"/>
              <a:t>.</a:t>
            </a:r>
          </a:p>
          <a:p>
            <a:pPr lvl="1">
              <a:buFont typeface="Wingdings" panose="05000000000000000000" pitchFamily="2" charset="2"/>
              <a:buChar char="§"/>
            </a:pPr>
            <a:r>
              <a:rPr lang="en-US" altLang="ko-KR" sz="1400" b="1" dirty="0"/>
              <a:t>TIPS</a:t>
            </a:r>
            <a:r>
              <a:rPr lang="en-US" altLang="ko-KR" sz="1400" dirty="0"/>
              <a:t> : To quickly switch to a different namespace, you can set up the following alias : “</a:t>
            </a:r>
            <a:r>
              <a:rPr lang="en-US" altLang="ko-KR" sz="1400" b="1" dirty="0"/>
              <a:t>alias </a:t>
            </a:r>
            <a:r>
              <a:rPr lang="en-US" altLang="ko-KR" sz="1400" b="1" dirty="0" err="1"/>
              <a:t>kcd</a:t>
            </a:r>
            <a:r>
              <a:rPr lang="en-US" altLang="ko-KR" sz="1400" b="1" dirty="0"/>
              <a:t>='</a:t>
            </a:r>
            <a:r>
              <a:rPr lang="en-US" altLang="ko-KR" sz="1400" b="1" dirty="0" err="1"/>
              <a:t>kubectl</a:t>
            </a:r>
            <a:r>
              <a:rPr lang="en-US" altLang="ko-KR" sz="1400" b="1" dirty="0"/>
              <a:t> config set-context $(</a:t>
            </a:r>
            <a:r>
              <a:rPr lang="en-US" altLang="ko-KR" sz="1400" b="1" dirty="0" err="1"/>
              <a:t>kubectl</a:t>
            </a:r>
            <a:r>
              <a:rPr lang="en-US" altLang="ko-KR" sz="1400" b="1" dirty="0"/>
              <a:t> config </a:t>
            </a:r>
            <a:r>
              <a:rPr lang="en-US" altLang="ko-KR" sz="1400" b="1" dirty="0" err="1"/>
              <a:t>currentcontext</a:t>
            </a:r>
            <a:r>
              <a:rPr lang="en-US" altLang="ko-KR" sz="1400" b="1" dirty="0"/>
              <a:t>) --namespace'</a:t>
            </a:r>
            <a:r>
              <a:rPr lang="en-US" altLang="ko-KR" sz="1400" dirty="0"/>
              <a:t>”. You can then switch between namespaces using “</a:t>
            </a:r>
            <a:r>
              <a:rPr lang="en-US" altLang="ko-KR" sz="1400" b="1" dirty="0" err="1"/>
              <a:t>kcd</a:t>
            </a:r>
            <a:r>
              <a:rPr lang="en-US" altLang="ko-KR" sz="1400" b="1" dirty="0"/>
              <a:t> some-namespace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A9C760F-34BA-0720-6A05-FD2FDBCAC8EF}"/>
              </a:ext>
            </a:extLst>
          </p:cNvPr>
          <p:cNvPicPr>
            <a:picLocks noChangeAspect="1"/>
          </p:cNvPicPr>
          <p:nvPr/>
        </p:nvPicPr>
        <p:blipFill>
          <a:blip r:embed="rId2"/>
          <a:stretch>
            <a:fillRect/>
          </a:stretch>
        </p:blipFill>
        <p:spPr>
          <a:xfrm>
            <a:off x="4236080" y="3067319"/>
            <a:ext cx="3719840" cy="3062960"/>
          </a:xfrm>
          <a:prstGeom prst="rect">
            <a:avLst/>
          </a:prstGeom>
        </p:spPr>
      </p:pic>
    </p:spTree>
    <p:extLst>
      <p:ext uri="{BB962C8B-B14F-4D97-AF65-F5344CB8AC3E}">
        <p14:creationId xmlns:p14="http://schemas.microsoft.com/office/powerpoint/2010/main" val="24566895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Namespaces to Group Resources(9/9)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Isolation Provided by Namespaces :</a:t>
            </a:r>
          </a:p>
          <a:p>
            <a:pPr lvl="1">
              <a:buFont typeface="Wingdings" panose="05000000000000000000" pitchFamily="2" charset="2"/>
              <a:buChar char="§"/>
            </a:pPr>
            <a:r>
              <a:rPr lang="en-US" altLang="ko-KR" sz="1400" b="1" dirty="0"/>
              <a:t>Although namespaces allow you to isolate objects into distinct groups, which allows you to operate only on those belonging to the specified namespace</a:t>
            </a:r>
            <a:r>
              <a:rPr lang="en-US" altLang="ko-KR" sz="1400" dirty="0"/>
              <a:t>, </a:t>
            </a:r>
            <a:r>
              <a:rPr lang="en-US" altLang="ko-KR" sz="1400" b="1" dirty="0"/>
              <a:t>they don’t provide any kind of isolation of running objects</a:t>
            </a:r>
            <a:r>
              <a:rPr lang="en-US" altLang="ko-KR" sz="1400" dirty="0"/>
              <a:t>.</a:t>
            </a:r>
          </a:p>
          <a:p>
            <a:pPr lvl="1">
              <a:buFont typeface="Wingdings" panose="05000000000000000000" pitchFamily="2" charset="2"/>
              <a:buChar char="§"/>
            </a:pPr>
            <a:r>
              <a:rPr lang="en-US" altLang="ko-KR" sz="1400" dirty="0"/>
              <a:t>For example, you may think that when different users deploy pods across different namespaces, those pods are isolated from each other and can’t communicate, but that’s not necessarily the case. </a:t>
            </a:r>
            <a:r>
              <a:rPr lang="en-US" altLang="ko-KR" sz="1400" b="1" dirty="0"/>
              <a:t>Whether namespaces provide network isolation depends on which networking solution is deployed with Kubernetes</a:t>
            </a:r>
            <a:r>
              <a:rPr lang="en-US" altLang="ko-KR" sz="1400" dirty="0"/>
              <a:t>. When the solution doesn’t provide inter-namespace network isolation, if a pod in namespace “foo” knows the IP address of a pod in namespace “bar”, there is nothing preventing it from sending traffic, such as HTTP requests, to the other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17933E9-04EC-5D36-08F2-99922058E40E}"/>
              </a:ext>
            </a:extLst>
          </p:cNvPr>
          <p:cNvPicPr>
            <a:picLocks noChangeAspect="1"/>
          </p:cNvPicPr>
          <p:nvPr/>
        </p:nvPicPr>
        <p:blipFill>
          <a:blip r:embed="rId2"/>
          <a:stretch>
            <a:fillRect/>
          </a:stretch>
        </p:blipFill>
        <p:spPr>
          <a:xfrm>
            <a:off x="2516570" y="2686423"/>
            <a:ext cx="7158859" cy="3722607"/>
          </a:xfrm>
          <a:prstGeom prst="rect">
            <a:avLst/>
          </a:prstGeom>
        </p:spPr>
      </p:pic>
    </p:spTree>
    <p:extLst>
      <p:ext uri="{BB962C8B-B14F-4D97-AF65-F5344CB8AC3E}">
        <p14:creationId xmlns:p14="http://schemas.microsoft.com/office/powerpoint/2010/main" val="42171033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Pod by Name :</a:t>
            </a:r>
          </a:p>
          <a:p>
            <a:pPr lvl="1">
              <a:buFont typeface="Wingdings" panose="05000000000000000000" pitchFamily="2" charset="2"/>
              <a:buChar char="§"/>
            </a:pPr>
            <a:r>
              <a:rPr lang="en-US" altLang="ko-KR" sz="1400" b="1" dirty="0"/>
              <a:t>To delete the “</a:t>
            </a:r>
            <a:r>
              <a:rPr lang="en-US" altLang="ko-KR" sz="1400" b="1" dirty="0" err="1"/>
              <a:t>kubia-gpu</a:t>
            </a:r>
            <a:r>
              <a:rPr lang="en-US" altLang="ko-KR" sz="1400" b="1" dirty="0"/>
              <a:t>” pod by name</a:t>
            </a:r>
            <a:r>
              <a:rPr lang="en-US" altLang="ko-KR" sz="1400" dirty="0"/>
              <a:t>, you can use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By deleting a pod, you’re instructing Kubernetes to terminate all the containers that are part of that pod</a:t>
            </a:r>
            <a:r>
              <a:rPr lang="en-US" altLang="ko-KR" sz="1400" dirty="0"/>
              <a:t>. </a:t>
            </a:r>
            <a:r>
              <a:rPr lang="en-US" altLang="ko-KR" sz="1400" b="1" dirty="0"/>
              <a:t>Kubernetes sends a </a:t>
            </a:r>
            <a:r>
              <a:rPr lang="en-US" altLang="ko-KR" sz="1400" b="1" dirty="0">
                <a:solidFill>
                  <a:srgbClr val="FF0000"/>
                </a:solidFill>
              </a:rPr>
              <a:t>SIGTERM</a:t>
            </a:r>
            <a:r>
              <a:rPr lang="en-US" altLang="ko-KR" sz="1400" b="1" dirty="0"/>
              <a:t> signal to the process and </a:t>
            </a:r>
            <a:r>
              <a:rPr lang="en-US" altLang="ko-KR" sz="1400" b="1" dirty="0">
                <a:solidFill>
                  <a:srgbClr val="FF0000"/>
                </a:solidFill>
              </a:rPr>
              <a:t>waits a certain number of seconds (30 by default)</a:t>
            </a:r>
            <a:r>
              <a:rPr lang="en-US" altLang="ko-KR" sz="1400" b="1" dirty="0"/>
              <a:t> for it to shut down gracefully</a:t>
            </a:r>
            <a:r>
              <a:rPr lang="en-US" altLang="ko-KR" sz="1400" dirty="0"/>
              <a:t>. </a:t>
            </a:r>
            <a:r>
              <a:rPr lang="en-US" altLang="ko-KR" sz="1400" b="1" dirty="0"/>
              <a:t>If it doesn’t shut down in time, the process is then killed through SIGKILL</a:t>
            </a:r>
            <a:r>
              <a:rPr lang="en-US" altLang="ko-KR" sz="1400" dirty="0"/>
              <a:t>. To make sure your processes are always shut down gracefully, they need to </a:t>
            </a:r>
            <a:r>
              <a:rPr lang="en-US" altLang="ko-KR" sz="1400" b="1" dirty="0"/>
              <a:t>handle the SIGTERM signal properly</a:t>
            </a:r>
            <a:r>
              <a:rPr lang="en-US" altLang="ko-KR" sz="1400" dirty="0"/>
              <a:t>.</a:t>
            </a:r>
          </a:p>
          <a:p>
            <a:pPr lvl="1">
              <a:buFont typeface="Wingdings" panose="05000000000000000000" pitchFamily="2" charset="2"/>
              <a:buChar char="§"/>
            </a:pPr>
            <a:r>
              <a:rPr lang="en-US" altLang="ko-KR" sz="1400" b="1" dirty="0"/>
              <a:t>NOTE : You can also delete more than one pod by specifying multiple, space-separated names (for example, “$ </a:t>
            </a:r>
            <a:r>
              <a:rPr lang="en-US" altLang="ko-KR" sz="1400" b="1" dirty="0" err="1"/>
              <a:t>kubectl</a:t>
            </a:r>
            <a:r>
              <a:rPr lang="en-US" altLang="ko-KR" sz="1400" b="1" dirty="0"/>
              <a:t> delete po pod1 pod2”)</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70746079-20D4-16A3-1357-E3D43C4B7CC1}"/>
              </a:ext>
            </a:extLst>
          </p:cNvPr>
          <p:cNvGrpSpPr/>
          <p:nvPr/>
        </p:nvGrpSpPr>
        <p:grpSpPr>
          <a:xfrm>
            <a:off x="1483445" y="1604721"/>
            <a:ext cx="9225110" cy="2849038"/>
            <a:chOff x="1483445" y="1604721"/>
            <a:chExt cx="9225110" cy="2849038"/>
          </a:xfrm>
        </p:grpSpPr>
        <p:grpSp>
          <p:nvGrpSpPr>
            <p:cNvPr id="12" name="그룹 11">
              <a:extLst>
                <a:ext uri="{FF2B5EF4-FFF2-40B4-BE49-F238E27FC236}">
                  <a16:creationId xmlns:a16="http://schemas.microsoft.com/office/drawing/2014/main" id="{69EBE562-E011-739B-742E-ABAF5AC0726E}"/>
                </a:ext>
              </a:extLst>
            </p:cNvPr>
            <p:cNvGrpSpPr/>
            <p:nvPr/>
          </p:nvGrpSpPr>
          <p:grpSpPr>
            <a:xfrm>
              <a:off x="1483445" y="1604721"/>
              <a:ext cx="9225110" cy="2849038"/>
              <a:chOff x="1483445" y="1478596"/>
              <a:chExt cx="9225110" cy="2849038"/>
            </a:xfrm>
          </p:grpSpPr>
          <p:sp>
            <p:nvSpPr>
              <p:cNvPr id="8" name="TextBox 7">
                <a:extLst>
                  <a:ext uri="{FF2B5EF4-FFF2-40B4-BE49-F238E27FC236}">
                    <a16:creationId xmlns:a16="http://schemas.microsoft.com/office/drawing/2014/main" id="{340F164A-C465-0CD6-54F9-84E5AE199ABB}"/>
                  </a:ext>
                </a:extLst>
              </p:cNvPr>
              <p:cNvSpPr txBox="1"/>
              <p:nvPr/>
            </p:nvSpPr>
            <p:spPr>
              <a:xfrm>
                <a:off x="3047343" y="1478596"/>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 po </a:t>
                </a:r>
                <a:r>
                  <a:rPr lang="en-US" altLang="ko-KR" sz="1000" b="1" dirty="0" err="1">
                    <a:solidFill>
                      <a:srgbClr val="FF0000"/>
                    </a:solidFill>
                  </a:rPr>
                  <a:t>kubia-gpu</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FE66BD6C-68FE-394B-79E7-D5F8ADE71A8D}"/>
                  </a:ext>
                </a:extLst>
              </p:cNvPr>
              <p:cNvSpPr/>
              <p:nvPr/>
            </p:nvSpPr>
            <p:spPr>
              <a:xfrm>
                <a:off x="5910755" y="1724817"/>
                <a:ext cx="370490" cy="25224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77F941C-7233-3FD6-9056-7FCD9C77FF60}"/>
                  </a:ext>
                </a:extLst>
              </p:cNvPr>
              <p:cNvPicPr>
                <a:picLocks noChangeAspect="1"/>
              </p:cNvPicPr>
              <p:nvPr/>
            </p:nvPicPr>
            <p:blipFill>
              <a:blip r:embed="rId2"/>
              <a:stretch>
                <a:fillRect/>
              </a:stretch>
            </p:blipFill>
            <p:spPr>
              <a:xfrm>
                <a:off x="1483445" y="1971038"/>
                <a:ext cx="9225110" cy="2356596"/>
              </a:xfrm>
              <a:prstGeom prst="rect">
                <a:avLst/>
              </a:prstGeom>
            </p:spPr>
          </p:pic>
        </p:grpSp>
        <p:sp>
          <p:nvSpPr>
            <p:cNvPr id="13" name="직사각형 12">
              <a:extLst>
                <a:ext uri="{FF2B5EF4-FFF2-40B4-BE49-F238E27FC236}">
                  <a16:creationId xmlns:a16="http://schemas.microsoft.com/office/drawing/2014/main" id="{30674D16-DE91-1B15-B276-2C2E1F30BABA}"/>
                </a:ext>
              </a:extLst>
            </p:cNvPr>
            <p:cNvSpPr/>
            <p:nvPr/>
          </p:nvSpPr>
          <p:spPr>
            <a:xfrm>
              <a:off x="5738648" y="3259695"/>
              <a:ext cx="1970690" cy="197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68350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Pods Using Label Selectors :</a:t>
            </a:r>
          </a:p>
          <a:p>
            <a:pPr lvl="1">
              <a:buFont typeface="Wingdings" panose="05000000000000000000" pitchFamily="2" charset="2"/>
              <a:buChar char="§"/>
            </a:pPr>
            <a:r>
              <a:rPr lang="en-US" altLang="ko-KR" sz="1400" dirty="0"/>
              <a:t>Instead of specifying each pod to delete by name, you’ll now use what you’ve learned about label selectors to </a:t>
            </a:r>
            <a:r>
              <a:rPr lang="en-US" altLang="ko-KR" sz="1400" b="1" dirty="0"/>
              <a:t>stop both the “</a:t>
            </a:r>
            <a:r>
              <a:rPr lang="en-US" altLang="ko-KR" sz="1400" b="1" dirty="0" err="1"/>
              <a:t>kubia</a:t>
            </a:r>
            <a:r>
              <a:rPr lang="en-US" altLang="ko-KR" sz="1400" b="1" dirty="0"/>
              <a:t>-manual” and the “kubia-manual-v2” pod</a:t>
            </a:r>
            <a:r>
              <a:rPr lang="en-US" altLang="ko-KR" sz="1400" dirty="0"/>
              <a:t>. Both pods include the “</a:t>
            </a:r>
            <a:r>
              <a:rPr lang="en-US" altLang="ko-KR" sz="1400" b="1" dirty="0" err="1"/>
              <a:t>creation_method</a:t>
            </a:r>
            <a:r>
              <a:rPr lang="en-US" altLang="ko-KR" sz="1400" b="1" dirty="0"/>
              <a:t>=manual</a:t>
            </a:r>
            <a:r>
              <a:rPr lang="en-US" altLang="ko-KR" sz="1400" dirty="0"/>
              <a:t>” label, so </a:t>
            </a:r>
            <a:r>
              <a:rPr lang="en-US" altLang="ko-KR" sz="1400" b="1" dirty="0"/>
              <a:t>you can delete them by using a label selector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8FF12D0-7F6C-FF15-A4BE-1683ABD311C7}"/>
              </a:ext>
            </a:extLst>
          </p:cNvPr>
          <p:cNvGrpSpPr/>
          <p:nvPr/>
        </p:nvGrpSpPr>
        <p:grpSpPr>
          <a:xfrm>
            <a:off x="1594945" y="2122812"/>
            <a:ext cx="9002110" cy="2612375"/>
            <a:chOff x="1594945" y="2122812"/>
            <a:chExt cx="9002110" cy="2612375"/>
          </a:xfrm>
        </p:grpSpPr>
        <p:grpSp>
          <p:nvGrpSpPr>
            <p:cNvPr id="11" name="그룹 10">
              <a:extLst>
                <a:ext uri="{FF2B5EF4-FFF2-40B4-BE49-F238E27FC236}">
                  <a16:creationId xmlns:a16="http://schemas.microsoft.com/office/drawing/2014/main" id="{50B0CD73-1F4B-424F-27DF-B0EAE702C9FD}"/>
                </a:ext>
              </a:extLst>
            </p:cNvPr>
            <p:cNvGrpSpPr/>
            <p:nvPr/>
          </p:nvGrpSpPr>
          <p:grpSpPr>
            <a:xfrm>
              <a:off x="1594945" y="2122812"/>
              <a:ext cx="9002110" cy="2612375"/>
              <a:chOff x="1594945" y="1851523"/>
              <a:chExt cx="9002110" cy="2612375"/>
            </a:xfrm>
          </p:grpSpPr>
          <p:sp>
            <p:nvSpPr>
              <p:cNvPr id="8" name="TextBox 7">
                <a:extLst>
                  <a:ext uri="{FF2B5EF4-FFF2-40B4-BE49-F238E27FC236}">
                    <a16:creationId xmlns:a16="http://schemas.microsoft.com/office/drawing/2014/main" id="{329D9CF0-8C7B-40CA-8F12-B46A36FE705B}"/>
                  </a:ext>
                </a:extLst>
              </p:cNvPr>
              <p:cNvSpPr txBox="1"/>
              <p:nvPr/>
            </p:nvSpPr>
            <p:spPr>
              <a:xfrm>
                <a:off x="3048786" y="1851523"/>
                <a:ext cx="609442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 </a:t>
                </a:r>
                <a:r>
                  <a:rPr lang="en-US" altLang="ko-KR" sz="1000" b="1" dirty="0">
                    <a:solidFill>
                      <a:srgbClr val="FF0000"/>
                    </a:solidFill>
                  </a:rPr>
                  <a:t>-l </a:t>
                </a:r>
                <a:r>
                  <a:rPr lang="en-US" altLang="ko-KR" sz="1000" b="1" dirty="0" err="1">
                    <a:solidFill>
                      <a:srgbClr val="FF0000"/>
                    </a:solidFill>
                  </a:rPr>
                  <a:t>creation_method</a:t>
                </a:r>
                <a:r>
                  <a:rPr lang="en-US" altLang="ko-KR" sz="1000" b="1" dirty="0">
                    <a:solidFill>
                      <a:srgbClr val="FF0000"/>
                    </a:solidFill>
                  </a:rPr>
                  <a:t>=manual</a:t>
                </a:r>
              </a:p>
            </p:txBody>
          </p:sp>
          <p:pic>
            <p:nvPicPr>
              <p:cNvPr id="9" name="그림 8">
                <a:extLst>
                  <a:ext uri="{FF2B5EF4-FFF2-40B4-BE49-F238E27FC236}">
                    <a16:creationId xmlns:a16="http://schemas.microsoft.com/office/drawing/2014/main" id="{F8498B0D-88AF-7C90-00F5-FA92F474559A}"/>
                  </a:ext>
                </a:extLst>
              </p:cNvPr>
              <p:cNvPicPr>
                <a:picLocks noChangeAspect="1"/>
              </p:cNvPicPr>
              <p:nvPr/>
            </p:nvPicPr>
            <p:blipFill>
              <a:blip r:embed="rId2"/>
              <a:stretch>
                <a:fillRect/>
              </a:stretch>
            </p:blipFill>
            <p:spPr>
              <a:xfrm>
                <a:off x="1594945" y="2360677"/>
                <a:ext cx="9002110" cy="2103221"/>
              </a:xfrm>
              <a:prstGeom prst="rect">
                <a:avLst/>
              </a:prstGeom>
            </p:spPr>
          </p:pic>
          <p:sp>
            <p:nvSpPr>
              <p:cNvPr id="10" name="화살표: 아래쪽 9">
                <a:extLst>
                  <a:ext uri="{FF2B5EF4-FFF2-40B4-BE49-F238E27FC236}">
                    <a16:creationId xmlns:a16="http://schemas.microsoft.com/office/drawing/2014/main" id="{60DDC843-31C9-A33B-FF04-B956E3B17703}"/>
                  </a:ext>
                </a:extLst>
              </p:cNvPr>
              <p:cNvSpPr/>
              <p:nvPr/>
            </p:nvSpPr>
            <p:spPr>
              <a:xfrm>
                <a:off x="5898931" y="2114456"/>
                <a:ext cx="39413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F0511200-8C9C-37B2-58BC-8D5E0E1CD15D}"/>
                </a:ext>
              </a:extLst>
            </p:cNvPr>
            <p:cNvSpPr/>
            <p:nvPr/>
          </p:nvSpPr>
          <p:spPr>
            <a:xfrm>
              <a:off x="5746531" y="3649717"/>
              <a:ext cx="2987565"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016409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Pods Using Label Selectors :</a:t>
            </a:r>
          </a:p>
          <a:p>
            <a:pPr lvl="1">
              <a:buFont typeface="Wingdings" panose="05000000000000000000" pitchFamily="2" charset="2"/>
              <a:buChar char="§"/>
            </a:pPr>
            <a:r>
              <a:rPr lang="en-US" altLang="ko-KR" sz="1400" dirty="0"/>
              <a:t>In the earlier microservices example, where you had tens (or possibly hundreds) of pods, you could, for instance, </a:t>
            </a:r>
            <a:r>
              <a:rPr lang="en-US" altLang="ko-KR" sz="1400" b="1" dirty="0"/>
              <a:t>delete all canary pods at once by specifying the “</a:t>
            </a:r>
            <a:r>
              <a:rPr lang="en-US" altLang="ko-KR" sz="1400" b="1" dirty="0" err="1"/>
              <a:t>rel</a:t>
            </a:r>
            <a:r>
              <a:rPr lang="en-US" altLang="ko-KR" sz="1400" b="1" dirty="0"/>
              <a:t>=canary” label selector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F78C27CA-5E57-912E-8286-D542941D7993}"/>
              </a:ext>
            </a:extLst>
          </p:cNvPr>
          <p:cNvGrpSpPr/>
          <p:nvPr/>
        </p:nvGrpSpPr>
        <p:grpSpPr>
          <a:xfrm>
            <a:off x="2412276" y="1837813"/>
            <a:ext cx="7367448" cy="4007246"/>
            <a:chOff x="2412276" y="1973279"/>
            <a:chExt cx="7367448" cy="4007246"/>
          </a:xfrm>
        </p:grpSpPr>
        <p:grpSp>
          <p:nvGrpSpPr>
            <p:cNvPr id="11" name="그룹 10">
              <a:extLst>
                <a:ext uri="{FF2B5EF4-FFF2-40B4-BE49-F238E27FC236}">
                  <a16:creationId xmlns:a16="http://schemas.microsoft.com/office/drawing/2014/main" id="{F1C849ED-FF37-2546-5427-966EC27BD1CD}"/>
                </a:ext>
              </a:extLst>
            </p:cNvPr>
            <p:cNvGrpSpPr/>
            <p:nvPr/>
          </p:nvGrpSpPr>
          <p:grpSpPr>
            <a:xfrm>
              <a:off x="2412276" y="1973279"/>
              <a:ext cx="7367448" cy="4007246"/>
              <a:chOff x="2412276" y="1973279"/>
              <a:chExt cx="7367448" cy="4007246"/>
            </a:xfrm>
          </p:grpSpPr>
          <p:pic>
            <p:nvPicPr>
              <p:cNvPr id="8" name="그림 7">
                <a:extLst>
                  <a:ext uri="{FF2B5EF4-FFF2-40B4-BE49-F238E27FC236}">
                    <a16:creationId xmlns:a16="http://schemas.microsoft.com/office/drawing/2014/main" id="{656A082B-B44F-0F64-9C41-7319C0582210}"/>
                  </a:ext>
                </a:extLst>
              </p:cNvPr>
              <p:cNvPicPr>
                <a:picLocks noChangeAspect="1"/>
              </p:cNvPicPr>
              <p:nvPr/>
            </p:nvPicPr>
            <p:blipFill>
              <a:blip r:embed="rId2"/>
              <a:stretch>
                <a:fillRect/>
              </a:stretch>
            </p:blipFill>
            <p:spPr>
              <a:xfrm>
                <a:off x="2412276" y="2559005"/>
                <a:ext cx="7367448" cy="3421520"/>
              </a:xfrm>
              <a:prstGeom prst="rect">
                <a:avLst/>
              </a:prstGeom>
            </p:spPr>
          </p:pic>
          <p:sp>
            <p:nvSpPr>
              <p:cNvPr id="9" name="TextBox 8">
                <a:extLst>
                  <a:ext uri="{FF2B5EF4-FFF2-40B4-BE49-F238E27FC236}">
                    <a16:creationId xmlns:a16="http://schemas.microsoft.com/office/drawing/2014/main" id="{F3984B67-DFD7-7941-26AF-6BEEE56796DF}"/>
                  </a:ext>
                </a:extLst>
              </p:cNvPr>
              <p:cNvSpPr txBox="1"/>
              <p:nvPr/>
            </p:nvSpPr>
            <p:spPr>
              <a:xfrm>
                <a:off x="3048000" y="1973279"/>
                <a:ext cx="6096000" cy="246221"/>
              </a:xfrm>
              <a:prstGeom prst="rect">
                <a:avLst/>
              </a:prstGeom>
              <a:noFill/>
              <a:ln>
                <a:solidFill>
                  <a:schemeClr val="bg1">
                    <a:lumMod val="50000"/>
                  </a:schemeClr>
                </a:solidFill>
              </a:ln>
            </p:spPr>
            <p:txBody>
              <a:bodyPr wrap="square">
                <a:spAutoFit/>
              </a:bodyPr>
              <a:lstStyle/>
              <a:p>
                <a:r>
                  <a:rPr lang="it-IT" altLang="ko-KR" sz="1000" b="1" dirty="0"/>
                  <a:t>$ kubectl delete po </a:t>
                </a:r>
                <a:r>
                  <a:rPr lang="it-IT" altLang="ko-KR" sz="1000" b="1" dirty="0">
                    <a:solidFill>
                      <a:srgbClr val="FF0000"/>
                    </a:solidFill>
                  </a:rPr>
                  <a:t>-l rel=canary</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01B7AC75-09EC-BEB7-7F38-32E16A3BDB1E}"/>
                  </a:ext>
                </a:extLst>
              </p:cNvPr>
              <p:cNvSpPr/>
              <p:nvPr/>
            </p:nvSpPr>
            <p:spPr>
              <a:xfrm>
                <a:off x="5871633" y="2226733"/>
                <a:ext cx="448734" cy="34197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4AB60F54-3FF1-1ADA-EB18-B9DC95D9B2D8}"/>
                </a:ext>
              </a:extLst>
            </p:cNvPr>
            <p:cNvSpPr/>
            <p:nvPr/>
          </p:nvSpPr>
          <p:spPr>
            <a:xfrm>
              <a:off x="2480733" y="4834467"/>
              <a:ext cx="7137400" cy="9482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6694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Pods by Deleting the Whole Namespace :</a:t>
            </a:r>
          </a:p>
          <a:p>
            <a:pPr lvl="1">
              <a:buFont typeface="Wingdings" panose="05000000000000000000" pitchFamily="2" charset="2"/>
              <a:buChar char="§"/>
            </a:pPr>
            <a:r>
              <a:rPr lang="en-US" altLang="ko-KR" sz="1400" dirty="0"/>
              <a:t>What about the pod in the custom-namespace? You no longer need either the pods in that namespace, or the namespace itself. </a:t>
            </a:r>
            <a:r>
              <a:rPr lang="en-US" altLang="ko-KR" sz="1400" b="1" dirty="0"/>
              <a:t>You can delete the whole namespace (the pods will be deleted along with the namespace automatically)</a:t>
            </a:r>
            <a:r>
              <a:rPr lang="en-US" altLang="ko-KR" sz="1400" dirty="0"/>
              <a:t>, using the following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CCAFDD7-2285-BB40-0685-F2400B8B3004}"/>
              </a:ext>
            </a:extLst>
          </p:cNvPr>
          <p:cNvGrpSpPr/>
          <p:nvPr/>
        </p:nvGrpSpPr>
        <p:grpSpPr>
          <a:xfrm>
            <a:off x="1209667" y="1898134"/>
            <a:ext cx="9772666" cy="3509438"/>
            <a:chOff x="1209667" y="1898134"/>
            <a:chExt cx="9772666" cy="3509438"/>
          </a:xfrm>
        </p:grpSpPr>
        <p:grpSp>
          <p:nvGrpSpPr>
            <p:cNvPr id="12" name="그룹 11">
              <a:extLst>
                <a:ext uri="{FF2B5EF4-FFF2-40B4-BE49-F238E27FC236}">
                  <a16:creationId xmlns:a16="http://schemas.microsoft.com/office/drawing/2014/main" id="{95545BE2-2C03-3CC4-7903-F495827D34D9}"/>
                </a:ext>
              </a:extLst>
            </p:cNvPr>
            <p:cNvGrpSpPr/>
            <p:nvPr/>
          </p:nvGrpSpPr>
          <p:grpSpPr>
            <a:xfrm>
              <a:off x="1209667" y="1898134"/>
              <a:ext cx="9772666" cy="3509438"/>
              <a:chOff x="1209667" y="1898134"/>
              <a:chExt cx="9772666" cy="3509438"/>
            </a:xfrm>
          </p:grpSpPr>
          <p:grpSp>
            <p:nvGrpSpPr>
              <p:cNvPr id="10" name="그룹 9">
                <a:extLst>
                  <a:ext uri="{FF2B5EF4-FFF2-40B4-BE49-F238E27FC236}">
                    <a16:creationId xmlns:a16="http://schemas.microsoft.com/office/drawing/2014/main" id="{27D13E25-B6EF-59A7-DBA1-648B27BDAB41}"/>
                  </a:ext>
                </a:extLst>
              </p:cNvPr>
              <p:cNvGrpSpPr/>
              <p:nvPr/>
            </p:nvGrpSpPr>
            <p:grpSpPr>
              <a:xfrm>
                <a:off x="3048000" y="1898134"/>
                <a:ext cx="6096000" cy="582599"/>
                <a:chOff x="3048000" y="1898134"/>
                <a:chExt cx="6096000" cy="582599"/>
              </a:xfrm>
            </p:grpSpPr>
            <p:sp>
              <p:nvSpPr>
                <p:cNvPr id="8" name="TextBox 7">
                  <a:extLst>
                    <a:ext uri="{FF2B5EF4-FFF2-40B4-BE49-F238E27FC236}">
                      <a16:creationId xmlns:a16="http://schemas.microsoft.com/office/drawing/2014/main" id="{EC191515-1155-2076-0DA3-B73128C34DA3}"/>
                    </a:ext>
                  </a:extLst>
                </p:cNvPr>
                <p:cNvSpPr txBox="1"/>
                <p:nvPr/>
              </p:nvSpPr>
              <p:spPr>
                <a:xfrm>
                  <a:off x="3048000" y="1898134"/>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ns custom-namespace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B9B4A66-C04B-90A7-EEB1-C3B2B1CB0BF9}"/>
                    </a:ext>
                  </a:extLst>
                </p:cNvPr>
                <p:cNvSpPr/>
                <p:nvPr/>
              </p:nvSpPr>
              <p:spPr>
                <a:xfrm>
                  <a:off x="5867400" y="2144355"/>
                  <a:ext cx="457200" cy="3363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1B0A351E-E017-8D70-010F-AEC6FCB69788}"/>
                  </a:ext>
                </a:extLst>
              </p:cNvPr>
              <p:cNvPicPr>
                <a:picLocks noChangeAspect="1"/>
              </p:cNvPicPr>
              <p:nvPr/>
            </p:nvPicPr>
            <p:blipFill>
              <a:blip r:embed="rId2"/>
              <a:stretch>
                <a:fillRect/>
              </a:stretch>
            </p:blipFill>
            <p:spPr>
              <a:xfrm>
                <a:off x="1209667" y="2480733"/>
                <a:ext cx="9772666" cy="2926839"/>
              </a:xfrm>
              <a:prstGeom prst="rect">
                <a:avLst/>
              </a:prstGeom>
            </p:spPr>
          </p:pic>
        </p:grpSp>
        <p:sp>
          <p:nvSpPr>
            <p:cNvPr id="13" name="직사각형 12">
              <a:extLst>
                <a:ext uri="{FF2B5EF4-FFF2-40B4-BE49-F238E27FC236}">
                  <a16:creationId xmlns:a16="http://schemas.microsoft.com/office/drawing/2014/main" id="{CCC6D610-AE21-E827-C66E-8AF3EDB46561}"/>
                </a:ext>
              </a:extLst>
            </p:cNvPr>
            <p:cNvSpPr/>
            <p:nvPr/>
          </p:nvSpPr>
          <p:spPr>
            <a:xfrm>
              <a:off x="4784835" y="3941380"/>
              <a:ext cx="2073165"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51660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All Pods in a Namespace, While Keeping the Namespace :</a:t>
            </a:r>
          </a:p>
          <a:p>
            <a:pPr lvl="1">
              <a:buFont typeface="Wingdings" panose="05000000000000000000" pitchFamily="2" charset="2"/>
              <a:buChar char="§"/>
            </a:pPr>
            <a:r>
              <a:rPr lang="en-US" altLang="ko-KR" sz="1400" dirty="0"/>
              <a:t>You’ve now cleaned up almost everything. But what about the pod you created with the “</a:t>
            </a:r>
            <a:r>
              <a:rPr lang="en-US" altLang="ko-KR" sz="1400" b="1" dirty="0" err="1"/>
              <a:t>kubectl</a:t>
            </a:r>
            <a:r>
              <a:rPr lang="en-US" altLang="ko-KR" sz="1400" b="1" dirty="0"/>
              <a:t> run</a:t>
            </a:r>
            <a:r>
              <a:rPr lang="en-US" altLang="ko-KR" sz="1400" dirty="0"/>
              <a:t>” command? That one is still running. </a:t>
            </a:r>
            <a:r>
              <a:rPr lang="en-US" altLang="ko-KR" sz="1400" b="1" dirty="0"/>
              <a:t>Instead of deleting the specific pod, tell Kubernetes to delete all pods in the current namespace by using the “</a:t>
            </a:r>
            <a:r>
              <a:rPr lang="en-US" altLang="ko-KR" sz="1400" b="1" dirty="0">
                <a:solidFill>
                  <a:srgbClr val="FF0000"/>
                </a:solidFill>
              </a:rPr>
              <a:t>--all</a:t>
            </a:r>
            <a:r>
              <a:rPr lang="en-US" altLang="ko-KR" sz="1400" b="1" dirty="0"/>
              <a:t>” option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5026C6F-76AF-CDA8-0503-9D7AE9B39297}"/>
              </a:ext>
            </a:extLst>
          </p:cNvPr>
          <p:cNvGrpSpPr/>
          <p:nvPr/>
        </p:nvGrpSpPr>
        <p:grpSpPr>
          <a:xfrm>
            <a:off x="1403788" y="1898134"/>
            <a:ext cx="9384424" cy="3256509"/>
            <a:chOff x="1403788" y="1898134"/>
            <a:chExt cx="9384424" cy="3256509"/>
          </a:xfrm>
        </p:grpSpPr>
        <p:grpSp>
          <p:nvGrpSpPr>
            <p:cNvPr id="11" name="그룹 10">
              <a:extLst>
                <a:ext uri="{FF2B5EF4-FFF2-40B4-BE49-F238E27FC236}">
                  <a16:creationId xmlns:a16="http://schemas.microsoft.com/office/drawing/2014/main" id="{83FB1850-EBB3-8BAA-EB8B-AF2B65C4BB28}"/>
                </a:ext>
              </a:extLst>
            </p:cNvPr>
            <p:cNvGrpSpPr/>
            <p:nvPr/>
          </p:nvGrpSpPr>
          <p:grpSpPr>
            <a:xfrm>
              <a:off x="1403788" y="1898134"/>
              <a:ext cx="9384424" cy="3256509"/>
              <a:chOff x="1403788" y="1898134"/>
              <a:chExt cx="9384424" cy="3256509"/>
            </a:xfrm>
          </p:grpSpPr>
          <p:sp>
            <p:nvSpPr>
              <p:cNvPr id="8" name="TextBox 7">
                <a:extLst>
                  <a:ext uri="{FF2B5EF4-FFF2-40B4-BE49-F238E27FC236}">
                    <a16:creationId xmlns:a16="http://schemas.microsoft.com/office/drawing/2014/main" id="{57DB20C9-8290-8904-09FD-19A9DB74F3FE}"/>
                  </a:ext>
                </a:extLst>
              </p:cNvPr>
              <p:cNvSpPr txBox="1"/>
              <p:nvPr/>
            </p:nvSpPr>
            <p:spPr>
              <a:xfrm>
                <a:off x="3048000" y="1898134"/>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po --all</a:t>
                </a:r>
              </a:p>
            </p:txBody>
          </p:sp>
          <p:sp>
            <p:nvSpPr>
              <p:cNvPr id="9" name="화살표: 아래쪽 8">
                <a:extLst>
                  <a:ext uri="{FF2B5EF4-FFF2-40B4-BE49-F238E27FC236}">
                    <a16:creationId xmlns:a16="http://schemas.microsoft.com/office/drawing/2014/main" id="{F5278B4D-657B-E74D-F475-F76E416F3E03}"/>
                  </a:ext>
                </a:extLst>
              </p:cNvPr>
              <p:cNvSpPr/>
              <p:nvPr/>
            </p:nvSpPr>
            <p:spPr>
              <a:xfrm>
                <a:off x="5854700" y="2162016"/>
                <a:ext cx="482600" cy="3217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A8E13443-CB78-270B-BFD9-BA6FBC676545}"/>
                  </a:ext>
                </a:extLst>
              </p:cNvPr>
              <p:cNvPicPr>
                <a:picLocks noChangeAspect="1"/>
              </p:cNvPicPr>
              <p:nvPr/>
            </p:nvPicPr>
            <p:blipFill>
              <a:blip r:embed="rId2"/>
              <a:stretch>
                <a:fillRect/>
              </a:stretch>
            </p:blipFill>
            <p:spPr>
              <a:xfrm>
                <a:off x="1403788" y="2501410"/>
                <a:ext cx="9384424" cy="2653233"/>
              </a:xfrm>
              <a:prstGeom prst="rect">
                <a:avLst/>
              </a:prstGeom>
            </p:spPr>
          </p:pic>
        </p:grpSp>
        <p:sp>
          <p:nvSpPr>
            <p:cNvPr id="12" name="직사각형 11">
              <a:extLst>
                <a:ext uri="{FF2B5EF4-FFF2-40B4-BE49-F238E27FC236}">
                  <a16:creationId xmlns:a16="http://schemas.microsoft.com/office/drawing/2014/main" id="{646B1956-95E4-97C2-EC90-A59ACF2EEF79}"/>
                </a:ext>
              </a:extLst>
            </p:cNvPr>
            <p:cNvSpPr/>
            <p:nvPr/>
          </p:nvSpPr>
          <p:spPr>
            <a:xfrm>
              <a:off x="5754414" y="4122683"/>
              <a:ext cx="1742089" cy="2049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692038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All Pods in a Namespace, While Keeping the Namespace :</a:t>
            </a:r>
          </a:p>
          <a:p>
            <a:pPr lvl="1">
              <a:buFont typeface="Wingdings" panose="05000000000000000000" pitchFamily="2" charset="2"/>
              <a:buChar char="§"/>
            </a:pPr>
            <a:r>
              <a:rPr lang="en-US" altLang="ko-KR" sz="1400" b="1" dirty="0"/>
              <a:t>Then double check that no pods were left running</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may remember you created your first pod with the “</a:t>
            </a:r>
            <a:r>
              <a:rPr lang="en-US" altLang="ko-KR" sz="1400" b="1" dirty="0" err="1">
                <a:solidFill>
                  <a:srgbClr val="FF0000"/>
                </a:solidFill>
              </a:rPr>
              <a:t>kubectl</a:t>
            </a:r>
            <a:r>
              <a:rPr lang="en-US" altLang="ko-KR" sz="1400" b="1" dirty="0">
                <a:solidFill>
                  <a:srgbClr val="FF0000"/>
                </a:solidFill>
              </a:rPr>
              <a:t> run</a:t>
            </a:r>
            <a:r>
              <a:rPr lang="en-US" altLang="ko-KR" sz="1400" b="1" dirty="0"/>
              <a:t>” command. This doesn’t create a pod directly, but instead creates a </a:t>
            </a:r>
            <a:r>
              <a:rPr lang="en-US" altLang="ko-KR" sz="1400" b="1" dirty="0" err="1">
                <a:solidFill>
                  <a:srgbClr val="FF0000"/>
                </a:solidFill>
              </a:rPr>
              <a:t>ReplicationController</a:t>
            </a:r>
            <a:r>
              <a:rPr lang="en-US" altLang="ko-KR" sz="1400" dirty="0"/>
              <a:t>, </a:t>
            </a:r>
            <a:r>
              <a:rPr lang="en-US" altLang="ko-KR" sz="1400" b="1" dirty="0"/>
              <a:t>which then creates the pod</a:t>
            </a:r>
            <a:r>
              <a:rPr lang="en-US" altLang="ko-KR" sz="1400" dirty="0"/>
              <a:t>. </a:t>
            </a:r>
            <a:r>
              <a:rPr lang="en-US" altLang="ko-KR" sz="1400" b="1" dirty="0"/>
              <a:t>As soon as you delete a pod created by the </a:t>
            </a:r>
            <a:r>
              <a:rPr lang="en-US" altLang="ko-KR" sz="1400" b="1" dirty="0" err="1"/>
              <a:t>ReplicationController</a:t>
            </a:r>
            <a:r>
              <a:rPr lang="en-US" altLang="ko-KR" sz="1400" b="1" dirty="0"/>
              <a:t>, it immediately creates a new one. </a:t>
            </a:r>
            <a:r>
              <a:rPr lang="en-US" altLang="ko-KR" sz="1400" b="1" dirty="0">
                <a:solidFill>
                  <a:srgbClr val="FF0000"/>
                </a:solidFill>
              </a:rPr>
              <a:t>To delete the pod, you also need to delete the </a:t>
            </a:r>
            <a:r>
              <a:rPr lang="en-US" altLang="ko-KR" sz="1400" b="1" dirty="0" err="1">
                <a:solidFill>
                  <a:srgbClr val="FF0000"/>
                </a:solidFill>
              </a:rPr>
              <a:t>ReplicationController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542C0CE-EDDA-EC18-A0F0-8C43599A3028}"/>
              </a:ext>
            </a:extLst>
          </p:cNvPr>
          <p:cNvGrpSpPr/>
          <p:nvPr/>
        </p:nvGrpSpPr>
        <p:grpSpPr>
          <a:xfrm>
            <a:off x="1494498" y="1521025"/>
            <a:ext cx="9203003" cy="2885437"/>
            <a:chOff x="1494498" y="1521025"/>
            <a:chExt cx="9203003" cy="2885437"/>
          </a:xfrm>
        </p:grpSpPr>
        <p:grpSp>
          <p:nvGrpSpPr>
            <p:cNvPr id="4" name="그룹 3">
              <a:extLst>
                <a:ext uri="{FF2B5EF4-FFF2-40B4-BE49-F238E27FC236}">
                  <a16:creationId xmlns:a16="http://schemas.microsoft.com/office/drawing/2014/main" id="{9B7C852B-BDA7-74F0-7824-B24CF963DE7D}"/>
                </a:ext>
              </a:extLst>
            </p:cNvPr>
            <p:cNvGrpSpPr/>
            <p:nvPr/>
          </p:nvGrpSpPr>
          <p:grpSpPr>
            <a:xfrm>
              <a:off x="3048000" y="1521025"/>
              <a:ext cx="6096000" cy="567954"/>
              <a:chOff x="3048000" y="4467425"/>
              <a:chExt cx="6096000" cy="567954"/>
            </a:xfrm>
          </p:grpSpPr>
          <p:sp>
            <p:nvSpPr>
              <p:cNvPr id="8" name="TextBox 7">
                <a:extLst>
                  <a:ext uri="{FF2B5EF4-FFF2-40B4-BE49-F238E27FC236}">
                    <a16:creationId xmlns:a16="http://schemas.microsoft.com/office/drawing/2014/main" id="{9B1B0AD4-DFB1-02C5-36A6-530E5C0CD48C}"/>
                  </a:ext>
                </a:extLst>
              </p:cNvPr>
              <p:cNvSpPr txBox="1"/>
              <p:nvPr/>
            </p:nvSpPr>
            <p:spPr>
              <a:xfrm>
                <a:off x="3048000" y="4467425"/>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51326A9E-AFA3-4D9F-388E-F5E3F962060F}"/>
                  </a:ext>
                </a:extLst>
              </p:cNvPr>
              <p:cNvSpPr/>
              <p:nvPr/>
            </p:nvSpPr>
            <p:spPr>
              <a:xfrm>
                <a:off x="5854700" y="4713646"/>
                <a:ext cx="482600" cy="3217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DCBB66F4-191A-F936-2AD7-19D585E6B31F}"/>
                </a:ext>
              </a:extLst>
            </p:cNvPr>
            <p:cNvPicPr>
              <a:picLocks noChangeAspect="1"/>
            </p:cNvPicPr>
            <p:nvPr/>
          </p:nvPicPr>
          <p:blipFill>
            <a:blip r:embed="rId2"/>
            <a:stretch>
              <a:fillRect/>
            </a:stretch>
          </p:blipFill>
          <p:spPr>
            <a:xfrm>
              <a:off x="1494498" y="2088979"/>
              <a:ext cx="9203003" cy="2317483"/>
            </a:xfrm>
            <a:prstGeom prst="rect">
              <a:avLst/>
            </a:prstGeom>
          </p:spPr>
        </p:pic>
      </p:grpSp>
    </p:spTree>
    <p:extLst>
      <p:ext uri="{BB962C8B-B14F-4D97-AF65-F5344CB8AC3E}">
        <p14:creationId xmlns:p14="http://schemas.microsoft.com/office/powerpoint/2010/main" val="38544261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Stopping and Removing Pods(7/7)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(Almost) All Resources in a Namespace :</a:t>
            </a:r>
          </a:p>
          <a:p>
            <a:pPr lvl="1">
              <a:buFont typeface="Wingdings" panose="05000000000000000000" pitchFamily="2" charset="2"/>
              <a:buChar char="§"/>
            </a:pPr>
            <a:r>
              <a:rPr lang="en-US" altLang="ko-KR" sz="1400" b="1" dirty="0"/>
              <a:t>You can </a:t>
            </a:r>
            <a:r>
              <a:rPr lang="en-US" altLang="ko-KR" sz="1400" b="1" dirty="0">
                <a:solidFill>
                  <a:srgbClr val="FF0000"/>
                </a:solidFill>
              </a:rPr>
              <a:t>delete the </a:t>
            </a:r>
            <a:r>
              <a:rPr lang="en-US" altLang="ko-KR" sz="1400" b="1" dirty="0" err="1">
                <a:solidFill>
                  <a:srgbClr val="FF0000"/>
                </a:solidFill>
              </a:rPr>
              <a:t>ReplicationController</a:t>
            </a:r>
            <a:r>
              <a:rPr lang="en-US" altLang="ko-KR" sz="1400" b="1" dirty="0">
                <a:solidFill>
                  <a:srgbClr val="FF0000"/>
                </a:solidFill>
              </a:rPr>
              <a:t> </a:t>
            </a:r>
            <a:r>
              <a:rPr lang="en-US" altLang="ko-KR" sz="1400" b="1" dirty="0"/>
              <a:t>and the pods, as well as </a:t>
            </a:r>
            <a:r>
              <a:rPr lang="en-US" altLang="ko-KR" sz="1400" b="1" dirty="0">
                <a:solidFill>
                  <a:srgbClr val="FF0000"/>
                </a:solidFill>
              </a:rPr>
              <a:t>all the Services </a:t>
            </a:r>
            <a:r>
              <a:rPr lang="en-US" altLang="ko-KR" sz="1400" b="1" dirty="0"/>
              <a:t>you’ve created, by deleting all resources in the current namespace with a single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first all in the command specifies that you’re deleting resources of all types, and the “</a:t>
            </a:r>
            <a:r>
              <a:rPr lang="en-US" altLang="ko-KR" sz="1400" b="1" dirty="0">
                <a:solidFill>
                  <a:srgbClr val="FF0000"/>
                </a:solidFill>
              </a:rPr>
              <a:t>--all</a:t>
            </a:r>
            <a:r>
              <a:rPr lang="en-US" altLang="ko-KR" sz="1400" b="1" dirty="0"/>
              <a:t>” option specifies that you’re deleting all resource instances instead of specifying them by name </a:t>
            </a:r>
            <a:r>
              <a:rPr lang="en-US" altLang="ko-KR" sz="1400" dirty="0"/>
              <a:t>(you already used this option when you ran the previous delete command).</a:t>
            </a:r>
          </a:p>
          <a:p>
            <a:pPr lvl="1">
              <a:buFont typeface="Wingdings" panose="05000000000000000000" pitchFamily="2" charset="2"/>
              <a:buChar char="§"/>
            </a:pPr>
            <a:r>
              <a:rPr lang="en-US" altLang="ko-KR" sz="1400" b="1" dirty="0"/>
              <a:t>NOTE : Deleting everything with the all keyword doesn’t delete absolutely everything</a:t>
            </a:r>
            <a:r>
              <a:rPr lang="en-US" altLang="ko-KR" sz="1400" dirty="0"/>
              <a:t>. Certain resources (like Secrets) are preserved and need to be deleted explicitly. </a:t>
            </a:r>
            <a:r>
              <a:rPr lang="en-US" altLang="ko-KR" sz="1400" b="1" dirty="0"/>
              <a:t>As it deletes resources, </a:t>
            </a:r>
            <a:r>
              <a:rPr lang="en-US" altLang="ko-KR" sz="1400" b="1" dirty="0" err="1"/>
              <a:t>kubectl</a:t>
            </a:r>
            <a:r>
              <a:rPr lang="en-US" altLang="ko-KR" sz="1400" b="1" dirty="0"/>
              <a:t> will print the name of every resource it deletes</a:t>
            </a:r>
            <a:r>
              <a:rPr lang="en-US" altLang="ko-KR" sz="1400" dirty="0"/>
              <a:t>. In the list, you should see the “</a:t>
            </a:r>
            <a:r>
              <a:rPr lang="en-US" altLang="ko-KR" sz="1400" b="1" dirty="0" err="1"/>
              <a:t>kubia</a:t>
            </a:r>
            <a:r>
              <a:rPr lang="en-US" altLang="ko-KR" sz="1400" b="1" dirty="0"/>
              <a:t> </a:t>
            </a:r>
            <a:r>
              <a:rPr lang="en-US" altLang="ko-KR" sz="1400" b="1" dirty="0" err="1"/>
              <a:t>ReplicationController</a:t>
            </a:r>
            <a:r>
              <a:rPr lang="en-US" altLang="ko-KR" sz="1400" dirty="0"/>
              <a:t>” and the “</a:t>
            </a:r>
            <a:r>
              <a:rPr lang="en-US" altLang="ko-KR" sz="1400" b="1" dirty="0" err="1"/>
              <a:t>kubia</a:t>
            </a:r>
            <a:r>
              <a:rPr lang="en-US" altLang="ko-KR" sz="1400" b="1" dirty="0"/>
              <a:t>-http</a:t>
            </a:r>
            <a:r>
              <a:rPr lang="en-US" altLang="ko-KR" sz="1400" dirty="0"/>
              <a:t>” Service you created before.</a:t>
            </a:r>
          </a:p>
          <a:p>
            <a:pPr lvl="1">
              <a:buFont typeface="Wingdings" panose="05000000000000000000" pitchFamily="2" charset="2"/>
              <a:buChar char="§"/>
            </a:pPr>
            <a:r>
              <a:rPr lang="en-US" altLang="ko-KR" sz="1400" b="1" dirty="0"/>
              <a:t>NOTE : The “</a:t>
            </a:r>
            <a:r>
              <a:rPr lang="en-US" altLang="ko-KR" sz="1400" b="1" dirty="0" err="1">
                <a:solidFill>
                  <a:srgbClr val="FF0000"/>
                </a:solidFill>
              </a:rPr>
              <a:t>kubectl</a:t>
            </a:r>
            <a:r>
              <a:rPr lang="en-US" altLang="ko-KR" sz="1400" b="1" dirty="0">
                <a:solidFill>
                  <a:srgbClr val="FF0000"/>
                </a:solidFill>
              </a:rPr>
              <a:t> delete all --all</a:t>
            </a:r>
            <a:r>
              <a:rPr lang="en-US" altLang="ko-KR" sz="1400" b="1" dirty="0"/>
              <a:t>” command also </a:t>
            </a:r>
            <a:r>
              <a:rPr lang="en-US" altLang="ko-KR" sz="1400" b="1" dirty="0">
                <a:solidFill>
                  <a:srgbClr val="FF0000"/>
                </a:solidFill>
              </a:rPr>
              <a:t>deletes the Kubernetes Service</a:t>
            </a:r>
            <a:r>
              <a:rPr lang="en-US" altLang="ko-KR" sz="1400" b="1" dirty="0"/>
              <a:t>, but it should be recreated automatically in a few moments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C65CFADB-ACEE-516B-9F2B-12C2756D0433}"/>
              </a:ext>
            </a:extLst>
          </p:cNvPr>
          <p:cNvSpPr/>
          <p:nvPr/>
        </p:nvSpPr>
        <p:spPr>
          <a:xfrm>
            <a:off x="1686910" y="3153104"/>
            <a:ext cx="1962807" cy="2995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CF8BB524-6CD8-FD12-D4D3-8870C95F34E2}"/>
              </a:ext>
            </a:extLst>
          </p:cNvPr>
          <p:cNvSpPr/>
          <p:nvPr/>
        </p:nvSpPr>
        <p:spPr>
          <a:xfrm>
            <a:off x="5785945" y="2995449"/>
            <a:ext cx="1631731"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2" name="그룹 21">
            <a:extLst>
              <a:ext uri="{FF2B5EF4-FFF2-40B4-BE49-F238E27FC236}">
                <a16:creationId xmlns:a16="http://schemas.microsoft.com/office/drawing/2014/main" id="{AD5A5E2E-F297-8AE3-6490-AB9F45FAE82B}"/>
              </a:ext>
            </a:extLst>
          </p:cNvPr>
          <p:cNvGrpSpPr/>
          <p:nvPr/>
        </p:nvGrpSpPr>
        <p:grpSpPr>
          <a:xfrm>
            <a:off x="1603156" y="1678001"/>
            <a:ext cx="8985688" cy="2541420"/>
            <a:chOff x="1603156" y="1678001"/>
            <a:chExt cx="8985688" cy="2541420"/>
          </a:xfrm>
        </p:grpSpPr>
        <p:grpSp>
          <p:nvGrpSpPr>
            <p:cNvPr id="18" name="그룹 17">
              <a:extLst>
                <a:ext uri="{FF2B5EF4-FFF2-40B4-BE49-F238E27FC236}">
                  <a16:creationId xmlns:a16="http://schemas.microsoft.com/office/drawing/2014/main" id="{B9D2DBA3-D625-455F-5815-CE3BACB9CB91}"/>
                </a:ext>
              </a:extLst>
            </p:cNvPr>
            <p:cNvGrpSpPr/>
            <p:nvPr/>
          </p:nvGrpSpPr>
          <p:grpSpPr>
            <a:xfrm>
              <a:off x="1603156" y="1678001"/>
              <a:ext cx="8985688" cy="2541420"/>
              <a:chOff x="1603156" y="1678001"/>
              <a:chExt cx="8985688" cy="2541420"/>
            </a:xfrm>
          </p:grpSpPr>
          <p:grpSp>
            <p:nvGrpSpPr>
              <p:cNvPr id="10" name="그룹 9">
                <a:extLst>
                  <a:ext uri="{FF2B5EF4-FFF2-40B4-BE49-F238E27FC236}">
                    <a16:creationId xmlns:a16="http://schemas.microsoft.com/office/drawing/2014/main" id="{904E449A-8D07-527E-4785-667679D662D4}"/>
                  </a:ext>
                </a:extLst>
              </p:cNvPr>
              <p:cNvGrpSpPr/>
              <p:nvPr/>
            </p:nvGrpSpPr>
            <p:grpSpPr>
              <a:xfrm>
                <a:off x="3048000" y="1678001"/>
                <a:ext cx="6096000" cy="582599"/>
                <a:chOff x="3048000" y="1678001"/>
                <a:chExt cx="6096000" cy="582599"/>
              </a:xfrm>
            </p:grpSpPr>
            <p:sp>
              <p:nvSpPr>
                <p:cNvPr id="8" name="TextBox 7">
                  <a:extLst>
                    <a:ext uri="{FF2B5EF4-FFF2-40B4-BE49-F238E27FC236}">
                      <a16:creationId xmlns:a16="http://schemas.microsoft.com/office/drawing/2014/main" id="{51160004-849C-C90B-695B-DBFB1D308B4C}"/>
                    </a:ext>
                  </a:extLst>
                </p:cNvPr>
                <p:cNvSpPr txBox="1"/>
                <p:nvPr/>
              </p:nvSpPr>
              <p:spPr>
                <a:xfrm>
                  <a:off x="3048000" y="1678001"/>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all --all</a:t>
                  </a:r>
                </a:p>
              </p:txBody>
            </p:sp>
            <p:sp>
              <p:nvSpPr>
                <p:cNvPr id="9" name="화살표: 아래쪽 8">
                  <a:extLst>
                    <a:ext uri="{FF2B5EF4-FFF2-40B4-BE49-F238E27FC236}">
                      <a16:creationId xmlns:a16="http://schemas.microsoft.com/office/drawing/2014/main" id="{CB3428BB-8841-1213-1AA0-25C91FFEA8E2}"/>
                    </a:ext>
                  </a:extLst>
                </p:cNvPr>
                <p:cNvSpPr/>
                <p:nvPr/>
              </p:nvSpPr>
              <p:spPr>
                <a:xfrm>
                  <a:off x="5858933" y="1938867"/>
                  <a:ext cx="482600" cy="3217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7" name="그림 16">
                <a:extLst>
                  <a:ext uri="{FF2B5EF4-FFF2-40B4-BE49-F238E27FC236}">
                    <a16:creationId xmlns:a16="http://schemas.microsoft.com/office/drawing/2014/main" id="{6CB20FA7-A9BE-8D7C-4AC7-EF90601EBC1A}"/>
                  </a:ext>
                </a:extLst>
              </p:cNvPr>
              <p:cNvPicPr>
                <a:picLocks noChangeAspect="1"/>
              </p:cNvPicPr>
              <p:nvPr/>
            </p:nvPicPr>
            <p:blipFill>
              <a:blip r:embed="rId2"/>
              <a:stretch>
                <a:fillRect/>
              </a:stretch>
            </p:blipFill>
            <p:spPr>
              <a:xfrm>
                <a:off x="1603156" y="2275245"/>
                <a:ext cx="8985688" cy="1944176"/>
              </a:xfrm>
              <a:prstGeom prst="rect">
                <a:avLst/>
              </a:prstGeom>
            </p:spPr>
          </p:pic>
        </p:grpSp>
        <p:sp>
          <p:nvSpPr>
            <p:cNvPr id="21" name="직사각형 20">
              <a:extLst>
                <a:ext uri="{FF2B5EF4-FFF2-40B4-BE49-F238E27FC236}">
                  <a16:creationId xmlns:a16="http://schemas.microsoft.com/office/drawing/2014/main" id="{E2D081D6-4ABE-BE97-05A0-C438D5317916}"/>
                </a:ext>
              </a:extLst>
            </p:cNvPr>
            <p:cNvSpPr/>
            <p:nvPr/>
          </p:nvSpPr>
          <p:spPr>
            <a:xfrm>
              <a:off x="1686910" y="3689131"/>
              <a:ext cx="4409090"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867117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Replication and Other Controllers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1285C5-96EB-5265-1074-180D234C95E8}"/>
              </a:ext>
            </a:extLst>
          </p:cNvPr>
          <p:cNvSpPr txBox="1"/>
          <p:nvPr/>
        </p:nvSpPr>
        <p:spPr>
          <a:xfrm>
            <a:off x="1075173" y="3516999"/>
            <a:ext cx="10098593" cy="584775"/>
          </a:xfrm>
          <a:prstGeom prst="rect">
            <a:avLst/>
          </a:prstGeom>
          <a:noFill/>
        </p:spPr>
        <p:txBody>
          <a:bodyPr wrap="square">
            <a:spAutoFit/>
          </a:bodyPr>
          <a:lstStyle/>
          <a:p>
            <a:pPr algn="ctr"/>
            <a:r>
              <a:rPr lang="en-US" altLang="ko-KR" sz="3200" b="1" dirty="0"/>
              <a:t>Deploying Managed Pods </a:t>
            </a:r>
            <a:endParaRPr lang="ko-KR" altLang="en-US" sz="3200" b="1" dirty="0"/>
          </a:p>
        </p:txBody>
      </p:sp>
    </p:spTree>
    <p:extLst>
      <p:ext uri="{BB962C8B-B14F-4D97-AF65-F5344CB8AC3E}">
        <p14:creationId xmlns:p14="http://schemas.microsoft.com/office/powerpoint/2010/main" val="26981330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Health</a:t>
            </a:r>
            <a:r>
              <a:rPr lang="ko-KR" altLang="en-US" sz="1800" b="1" dirty="0"/>
              <a:t> </a:t>
            </a:r>
            <a:r>
              <a:rPr lang="en-US" altLang="ko-KR" sz="1800" b="1" dirty="0"/>
              <a:t>Checking</a:t>
            </a:r>
            <a:r>
              <a:rPr lang="ko-KR" altLang="en-US" sz="1800" b="1" dirty="0"/>
              <a:t> </a:t>
            </a:r>
            <a:r>
              <a:rPr lang="en-US" altLang="ko-KR" sz="1800" b="1" dirty="0"/>
              <a:t>:</a:t>
            </a:r>
          </a:p>
          <a:p>
            <a:pPr lvl="1">
              <a:buFont typeface="Wingdings" panose="05000000000000000000" pitchFamily="2" charset="2"/>
              <a:buChar char="§"/>
            </a:pPr>
            <a:r>
              <a:rPr lang="en-US" altLang="ko-KR" sz="1400" b="1" dirty="0"/>
              <a:t>One of the main benefits of using Kubernetes is </a:t>
            </a:r>
            <a:r>
              <a:rPr lang="en-US" altLang="ko-KR" sz="1400" b="1" dirty="0">
                <a:solidFill>
                  <a:srgbClr val="FF0000"/>
                </a:solidFill>
              </a:rPr>
              <a:t>the ability to give it a list of containers and let it keep those containers running somewhere in the cluster</a:t>
            </a:r>
            <a:r>
              <a:rPr lang="en-US" altLang="ko-KR" sz="1400" dirty="0"/>
              <a:t>. </a:t>
            </a:r>
            <a:r>
              <a:rPr lang="en-US" altLang="ko-KR" sz="1400" b="1" dirty="0"/>
              <a:t>You do this by creating a Pod resource and letting Kubernetes pick a worker node for it and run the pod’s containers on that node</a:t>
            </a:r>
            <a:r>
              <a:rPr lang="en-US" altLang="ko-KR" sz="1400" dirty="0"/>
              <a:t>. But what if one of those containers dies? What if all containers of a pod die?</a:t>
            </a:r>
          </a:p>
          <a:p>
            <a:pPr lvl="1">
              <a:buFont typeface="Wingdings" panose="05000000000000000000" pitchFamily="2" charset="2"/>
              <a:buChar char="§"/>
            </a:pPr>
            <a:r>
              <a:rPr lang="en-US" altLang="ko-KR" sz="1400" b="1" dirty="0"/>
              <a:t>As soon as a pod is scheduled to a node, the </a:t>
            </a:r>
            <a:r>
              <a:rPr lang="en-US" altLang="ko-KR" sz="1400" b="1" dirty="0" err="1">
                <a:solidFill>
                  <a:srgbClr val="FF0000"/>
                </a:solidFill>
              </a:rPr>
              <a:t>Kubelet</a:t>
            </a:r>
            <a:r>
              <a:rPr lang="en-US" altLang="ko-KR" sz="1400" b="1" dirty="0"/>
              <a:t> on that node will run its containers and, from then on, keep them running as long as the pod exists</a:t>
            </a:r>
            <a:r>
              <a:rPr lang="en-US" altLang="ko-KR" sz="1400" dirty="0"/>
              <a:t>. </a:t>
            </a:r>
            <a:r>
              <a:rPr lang="en-US" altLang="ko-KR" sz="1400" b="1" dirty="0"/>
              <a:t>If the container’s main process crashes, the </a:t>
            </a:r>
            <a:r>
              <a:rPr lang="en-US" altLang="ko-KR" sz="1400" b="1" dirty="0" err="1"/>
              <a:t>Kubelet</a:t>
            </a:r>
            <a:r>
              <a:rPr lang="en-US" altLang="ko-KR" sz="1400" b="1" dirty="0"/>
              <a:t> will restart the container</a:t>
            </a:r>
            <a:r>
              <a:rPr lang="en-US" altLang="ko-KR" sz="1400" dirty="0"/>
              <a:t>. If your application has a bug that causes it to crash every once in a while, Kubernetes will restart it automatically, so even without doing anything special in the app itself, </a:t>
            </a:r>
            <a:r>
              <a:rPr lang="en-US" altLang="ko-KR" sz="1400" b="1" dirty="0"/>
              <a:t>running the app in Kubernetes automatically gives it the ability to heal itself</a:t>
            </a:r>
            <a:r>
              <a:rPr lang="en-US" altLang="ko-KR" sz="1400" dirty="0"/>
              <a:t>. </a:t>
            </a:r>
          </a:p>
          <a:p>
            <a:pPr lvl="1">
              <a:buFont typeface="Wingdings" panose="05000000000000000000" pitchFamily="2" charset="2"/>
              <a:buChar char="§"/>
            </a:pPr>
            <a:r>
              <a:rPr lang="en-US" altLang="ko-KR" sz="1400" dirty="0"/>
              <a:t>But sometimes apps stop working without their process crashing. For example, a Java app with a memory leak will start throwing “</a:t>
            </a:r>
            <a:r>
              <a:rPr lang="en-US" altLang="ko-KR" sz="1400" b="1" dirty="0" err="1">
                <a:solidFill>
                  <a:schemeClr val="tx1">
                    <a:lumMod val="95000"/>
                    <a:lumOff val="5000"/>
                  </a:schemeClr>
                </a:solidFill>
              </a:rPr>
              <a:t>OutOfMemoryErrors</a:t>
            </a:r>
            <a:r>
              <a:rPr lang="en-US" altLang="ko-KR" sz="1400" dirty="0"/>
              <a:t>”, but the JVM process will keep running. </a:t>
            </a:r>
            <a:r>
              <a:rPr lang="en-US" altLang="ko-KR" sz="1400" b="1" dirty="0"/>
              <a:t>It would be great to have a way for an app to signal to Kubernetes that it’s no longer functioning properly and have Kubernetes restart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83FF8C-F5AA-FBCA-C302-2B70D23BFB08}"/>
              </a:ext>
            </a:extLst>
          </p:cNvPr>
          <p:cNvSpPr txBox="1"/>
          <p:nvPr/>
        </p:nvSpPr>
        <p:spPr>
          <a:xfrm>
            <a:off x="838199" y="3676065"/>
            <a:ext cx="7299506" cy="480131"/>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make sure applications are restarted, you must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check an application’s health from the outside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not depend on the app doing it internally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pic>
        <p:nvPicPr>
          <p:cNvPr id="13" name="그림 12">
            <a:extLst>
              <a:ext uri="{FF2B5EF4-FFF2-40B4-BE49-F238E27FC236}">
                <a16:creationId xmlns:a16="http://schemas.microsoft.com/office/drawing/2014/main" id="{8719C865-16A4-8A03-EFCE-424A2B8B84FD}"/>
              </a:ext>
            </a:extLst>
          </p:cNvPr>
          <p:cNvPicPr>
            <a:picLocks noChangeAspect="1"/>
          </p:cNvPicPr>
          <p:nvPr/>
        </p:nvPicPr>
        <p:blipFill>
          <a:blip r:embed="rId2"/>
          <a:stretch>
            <a:fillRect/>
          </a:stretch>
        </p:blipFill>
        <p:spPr>
          <a:xfrm>
            <a:off x="8137705" y="3676064"/>
            <a:ext cx="3216094" cy="2732966"/>
          </a:xfrm>
          <a:prstGeom prst="rect">
            <a:avLst/>
          </a:prstGeom>
        </p:spPr>
      </p:pic>
    </p:spTree>
    <p:extLst>
      <p:ext uri="{BB962C8B-B14F-4D97-AF65-F5344CB8AC3E}">
        <p14:creationId xmlns:p14="http://schemas.microsoft.com/office/powerpoint/2010/main" val="1260389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a:t>
            </a:r>
            <a:r>
              <a:rPr lang="ko-KR" altLang="en-US" sz="1800" b="1" dirty="0"/>
              <a:t> </a:t>
            </a:r>
            <a:r>
              <a:rPr lang="en-US" altLang="ko-KR" sz="1800" b="1" dirty="0"/>
              <a:t>Liveness</a:t>
            </a:r>
            <a:r>
              <a:rPr lang="ko-KR" altLang="en-US" sz="1800" b="1" dirty="0"/>
              <a:t> </a:t>
            </a:r>
            <a:r>
              <a:rPr lang="en-US" altLang="ko-KR" sz="1800" b="1" dirty="0"/>
              <a:t>Probes</a:t>
            </a:r>
            <a:r>
              <a:rPr lang="ko-KR" altLang="en-US" sz="1800" b="1" dirty="0"/>
              <a:t> </a:t>
            </a:r>
            <a:r>
              <a:rPr lang="en-US" altLang="ko-KR" sz="1800" b="1" dirty="0"/>
              <a:t>:</a:t>
            </a:r>
          </a:p>
          <a:p>
            <a:pPr lvl="1">
              <a:buFont typeface="Wingdings" panose="05000000000000000000" pitchFamily="2" charset="2"/>
              <a:buChar char="§"/>
            </a:pPr>
            <a:r>
              <a:rPr lang="en-US" altLang="ko-KR" sz="1400" b="1" dirty="0"/>
              <a:t>Kubernetes can check if a container is still alive through </a:t>
            </a:r>
            <a:r>
              <a:rPr lang="en-US" altLang="ko-KR" sz="1400" b="1" dirty="0">
                <a:solidFill>
                  <a:srgbClr val="FF0000"/>
                </a:solidFill>
              </a:rPr>
              <a:t>liveness probes</a:t>
            </a:r>
            <a:r>
              <a:rPr lang="en-US" altLang="ko-KR" sz="1400" dirty="0"/>
              <a:t>. </a:t>
            </a:r>
            <a:r>
              <a:rPr lang="en-US" altLang="ko-KR" sz="1400" b="1" dirty="0"/>
              <a:t>You can specify a liveness probe for each container in the pod’s specification</a:t>
            </a:r>
            <a:r>
              <a:rPr lang="en-US" altLang="ko-KR" sz="1400" dirty="0"/>
              <a:t>. Kubernetes will </a:t>
            </a:r>
            <a:r>
              <a:rPr lang="en-US" altLang="ko-KR" sz="1400" b="1" dirty="0"/>
              <a:t>periodically execute the probe </a:t>
            </a:r>
            <a:r>
              <a:rPr lang="en-US" altLang="ko-KR" sz="1400" dirty="0"/>
              <a:t>and </a:t>
            </a:r>
            <a:r>
              <a:rPr lang="en-US" altLang="ko-KR" sz="1400" b="1" dirty="0"/>
              <a:t>restart the container if the probe fails</a:t>
            </a:r>
            <a:r>
              <a:rPr lang="en-US" altLang="ko-KR" sz="1400" dirty="0"/>
              <a:t>.</a:t>
            </a:r>
          </a:p>
          <a:p>
            <a:pPr lvl="1">
              <a:buFont typeface="Wingdings" panose="05000000000000000000" pitchFamily="2" charset="2"/>
              <a:buChar char="§"/>
            </a:pPr>
            <a:r>
              <a:rPr lang="en-US" altLang="ko-KR" sz="1400" b="1" dirty="0"/>
              <a:t>NOTE : Kubernetes also supports </a:t>
            </a:r>
            <a:r>
              <a:rPr lang="en-US" altLang="ko-KR" sz="1400" b="1" dirty="0">
                <a:solidFill>
                  <a:srgbClr val="FF0000"/>
                </a:solidFill>
              </a:rPr>
              <a:t>readiness probes</a:t>
            </a:r>
            <a:r>
              <a:rPr lang="en-US" altLang="ko-KR" sz="1400" dirty="0"/>
              <a:t>. Be sure not to confuse the two. They’re used for two different things.</a:t>
            </a:r>
          </a:p>
          <a:p>
            <a:pPr lvl="1">
              <a:buFont typeface="Wingdings" panose="05000000000000000000" pitchFamily="2" charset="2"/>
              <a:buChar char="§"/>
            </a:pPr>
            <a:r>
              <a:rPr lang="en-US" altLang="ko-KR" sz="1400" dirty="0"/>
              <a:t>Kubernetes can probe a container using one of the three mechanisms :</a:t>
            </a:r>
          </a:p>
          <a:p>
            <a:pPr lvl="2">
              <a:buFont typeface="Wingdings" panose="05000000000000000000" pitchFamily="2" charset="2"/>
              <a:buChar char="§"/>
            </a:pPr>
            <a:r>
              <a:rPr lang="en-US" altLang="ko-KR" sz="1400" b="1" dirty="0"/>
              <a:t>An </a:t>
            </a:r>
            <a:r>
              <a:rPr lang="en-US" altLang="ko-KR" sz="1400" b="1" dirty="0">
                <a:solidFill>
                  <a:srgbClr val="FF0000"/>
                </a:solidFill>
              </a:rPr>
              <a:t>HTTP GET probe</a:t>
            </a:r>
            <a:r>
              <a:rPr lang="en-US" altLang="ko-KR" sz="1400" dirty="0"/>
              <a:t> performs an </a:t>
            </a:r>
            <a:r>
              <a:rPr lang="en-US" altLang="ko-KR" sz="1400" b="1" dirty="0"/>
              <a:t>HTTP GET request </a:t>
            </a:r>
            <a:r>
              <a:rPr lang="en-US" altLang="ko-KR" sz="1400" dirty="0"/>
              <a:t>on the container’s IP address, a port and path you specify. If the probe receives a response, and the response code doesn’t represent an error (in other words, if the </a:t>
            </a:r>
            <a:r>
              <a:rPr lang="en-US" altLang="ko-KR" sz="1400" b="1" dirty="0"/>
              <a:t>HTTP response code is 2xx or 3xx</a:t>
            </a:r>
            <a:r>
              <a:rPr lang="en-US" altLang="ko-KR" sz="1400" dirty="0"/>
              <a:t>), the probe is considered successful. </a:t>
            </a:r>
            <a:r>
              <a:rPr lang="en-US" altLang="ko-KR" sz="1400" b="1" dirty="0"/>
              <a:t>If the server returns an error response code or if it doesn’t respond at all, the probe is considered a failure and the container will be restarted as a result</a:t>
            </a:r>
            <a:r>
              <a:rPr lang="en-US" altLang="ko-KR" sz="1400" dirty="0"/>
              <a:t>.</a:t>
            </a:r>
          </a:p>
          <a:p>
            <a:pPr lvl="2">
              <a:buFont typeface="Wingdings" panose="05000000000000000000" pitchFamily="2" charset="2"/>
              <a:buChar char="§"/>
            </a:pPr>
            <a:r>
              <a:rPr lang="en-US" altLang="ko-KR" sz="1400" b="1" dirty="0"/>
              <a:t>A </a:t>
            </a:r>
            <a:r>
              <a:rPr lang="en-US" altLang="ko-KR" sz="1400" b="1" dirty="0">
                <a:solidFill>
                  <a:srgbClr val="FF0000"/>
                </a:solidFill>
              </a:rPr>
              <a:t>TCP Socket probe</a:t>
            </a:r>
            <a:r>
              <a:rPr lang="en-US" altLang="ko-KR" sz="1400" b="1" dirty="0"/>
              <a:t> tries to open a TCP connection to the specified port of the container</a:t>
            </a:r>
            <a:r>
              <a:rPr lang="en-US" altLang="ko-KR" sz="1400" dirty="0"/>
              <a:t>. If the connection is established successfully, the probe is successful. Otherwise, the container is restarted.</a:t>
            </a:r>
          </a:p>
          <a:p>
            <a:pPr lvl="2">
              <a:buFont typeface="Wingdings" panose="05000000000000000000" pitchFamily="2" charset="2"/>
              <a:buChar char="§"/>
            </a:pPr>
            <a:r>
              <a:rPr lang="en-US" altLang="ko-KR" sz="1400" b="1" dirty="0"/>
              <a:t>An </a:t>
            </a:r>
            <a:r>
              <a:rPr lang="en-US" altLang="ko-KR" sz="1400" b="1" dirty="0">
                <a:solidFill>
                  <a:srgbClr val="FF0000"/>
                </a:solidFill>
              </a:rPr>
              <a:t>Exec probe</a:t>
            </a:r>
            <a:r>
              <a:rPr lang="en-US" altLang="ko-KR" sz="1400" b="1" dirty="0"/>
              <a:t> executes an arbitrary command inside the container and checks the command’s exit status code</a:t>
            </a:r>
            <a:r>
              <a:rPr lang="en-US" altLang="ko-KR" sz="1400" dirty="0"/>
              <a:t>. If the status code is “</a:t>
            </a:r>
            <a:r>
              <a:rPr lang="en-US" altLang="ko-KR" sz="1400" b="1" dirty="0"/>
              <a:t>0</a:t>
            </a:r>
            <a:r>
              <a:rPr lang="en-US" altLang="ko-KR" sz="1400" dirty="0"/>
              <a:t>”, the probe is successful. All other codes are considered failures.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7D274AD-0587-2845-1045-DCFE29899536}"/>
              </a:ext>
            </a:extLst>
          </p:cNvPr>
          <p:cNvPicPr>
            <a:picLocks noChangeAspect="1"/>
          </p:cNvPicPr>
          <p:nvPr/>
        </p:nvPicPr>
        <p:blipFill>
          <a:blip r:embed="rId2"/>
          <a:stretch>
            <a:fillRect/>
          </a:stretch>
        </p:blipFill>
        <p:spPr>
          <a:xfrm>
            <a:off x="7186448" y="4446874"/>
            <a:ext cx="4167352" cy="1962156"/>
          </a:xfrm>
          <a:prstGeom prst="rect">
            <a:avLst/>
          </a:prstGeom>
        </p:spPr>
      </p:pic>
    </p:spTree>
    <p:extLst>
      <p:ext uri="{BB962C8B-B14F-4D97-AF65-F5344CB8AC3E}">
        <p14:creationId xmlns:p14="http://schemas.microsoft.com/office/powerpoint/2010/main" val="18328563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7107621" cy="5634624"/>
          </a:xfrm>
        </p:spPr>
        <p:txBody>
          <a:bodyPr>
            <a:normAutofit fontScale="92500" lnSpcReduction="10000"/>
          </a:bodyPr>
          <a:lstStyle/>
          <a:p>
            <a:pPr>
              <a:buFont typeface="Wingdings" panose="05000000000000000000" pitchFamily="2" charset="2"/>
              <a:buChar char="§"/>
            </a:pPr>
            <a:r>
              <a:rPr lang="en-US" altLang="ko-KR" sz="1800" b="1" dirty="0"/>
              <a:t>Creating an HTTP-based Liveness Probe :</a:t>
            </a:r>
          </a:p>
          <a:p>
            <a:pPr lvl="1">
              <a:buFont typeface="Wingdings" panose="05000000000000000000" pitchFamily="2" charset="2"/>
              <a:buChar char="§"/>
            </a:pPr>
            <a:r>
              <a:rPr lang="en-US" altLang="ko-KR" sz="1400" dirty="0"/>
              <a:t>Let’s see </a:t>
            </a:r>
            <a:r>
              <a:rPr lang="en-US" altLang="ko-KR" sz="1400" b="1" dirty="0"/>
              <a:t>how to add a liveness probe to your Node.js app</a:t>
            </a:r>
            <a:r>
              <a:rPr lang="en-US" altLang="ko-KR" sz="1400" dirty="0"/>
              <a:t>. </a:t>
            </a:r>
            <a:r>
              <a:rPr lang="en-US" altLang="ko-KR" sz="1400" b="1" dirty="0"/>
              <a:t>Because it’s a web app, it makes sense to add a liveness probe that will check whether its web server is serving requests</a:t>
            </a:r>
            <a:r>
              <a:rPr lang="en-US" altLang="ko-KR" sz="1400" dirty="0"/>
              <a:t>. But because this particular Node.js app is too simple to ever fail, you’ll need to make the app fail artificially.</a:t>
            </a:r>
          </a:p>
          <a:p>
            <a:pPr lvl="1">
              <a:buFont typeface="Wingdings" panose="05000000000000000000" pitchFamily="2" charset="2"/>
              <a:buChar char="§"/>
            </a:pPr>
            <a:r>
              <a:rPr lang="en-US" altLang="ko-KR" sz="1400" b="1" dirty="0"/>
              <a:t>To properly demo liveness probes, you’ll modify the app slightly and make it return a 500 Internal Server Error HTTP status code for each request after the fifth one—your app will handle the first five client requests properly and then return an error on every subsequent request</a:t>
            </a:r>
            <a:r>
              <a:rPr lang="en-US" altLang="ko-KR" sz="1400" dirty="0"/>
              <a:t>. Thanks to the liveness probe, it should be restarted when that happens, allowing it to properly handle client requests again.</a:t>
            </a:r>
          </a:p>
          <a:p>
            <a:pPr lvl="1">
              <a:buFont typeface="Wingdings" panose="05000000000000000000" pitchFamily="2" charset="2"/>
              <a:buChar char="§"/>
            </a:pPr>
            <a:r>
              <a:rPr lang="en-US" altLang="ko-KR" sz="1400" b="1" dirty="0"/>
              <a:t>You’ll create a new pod that includes an HTTP GET liveness probe</a:t>
            </a:r>
            <a:r>
              <a:rPr lang="en-US" altLang="ko-KR" sz="1400" dirty="0"/>
              <a:t>. The following listing shows the YAML for the pod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pod descriptor defines an </a:t>
            </a:r>
            <a:r>
              <a:rPr lang="en-US" altLang="ko-KR" sz="1400" b="1" dirty="0" err="1">
                <a:solidFill>
                  <a:srgbClr val="FF0000"/>
                </a:solidFill>
              </a:rPr>
              <a:t>httpGet</a:t>
            </a:r>
            <a:r>
              <a:rPr lang="en-US" altLang="ko-KR" sz="1400" b="1" dirty="0"/>
              <a:t> liveness probe</a:t>
            </a:r>
            <a:r>
              <a:rPr lang="en-US" altLang="ko-KR" sz="1400" dirty="0"/>
              <a:t>, </a:t>
            </a:r>
            <a:r>
              <a:rPr lang="en-US" altLang="ko-KR" sz="1400" b="1" dirty="0"/>
              <a:t>which tells Kubernetes to periodically perform HTTP GET requests on path / on port 8080</a:t>
            </a:r>
            <a:r>
              <a:rPr lang="en-US" altLang="ko-KR" sz="1400" dirty="0"/>
              <a:t> to determine if the container is still healthy. </a:t>
            </a:r>
            <a:r>
              <a:rPr lang="en-US" altLang="ko-KR" sz="1400" b="1" dirty="0"/>
              <a:t>These requests start as soon as the container is run</a:t>
            </a:r>
            <a:r>
              <a:rPr lang="en-US" altLang="ko-KR" sz="1400" dirty="0"/>
              <a:t>. After five such requests (or actual client requests), your app starts returning HTTP status code 500, which Kubernetes will treat as a probe failure, and will thus restart the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AAE2D38-0B0C-9314-78CD-CF6F28EC7187}"/>
              </a:ext>
            </a:extLst>
          </p:cNvPr>
          <p:cNvPicPr>
            <a:picLocks noChangeAspect="1"/>
          </p:cNvPicPr>
          <p:nvPr/>
        </p:nvPicPr>
        <p:blipFill>
          <a:blip r:embed="rId2"/>
          <a:stretch>
            <a:fillRect/>
          </a:stretch>
        </p:blipFill>
        <p:spPr>
          <a:xfrm>
            <a:off x="7945821" y="789141"/>
            <a:ext cx="3407979" cy="5619889"/>
          </a:xfrm>
          <a:prstGeom prst="rect">
            <a:avLst/>
          </a:prstGeom>
        </p:spPr>
      </p:pic>
      <p:grpSp>
        <p:nvGrpSpPr>
          <p:cNvPr id="11" name="그룹 10">
            <a:extLst>
              <a:ext uri="{FF2B5EF4-FFF2-40B4-BE49-F238E27FC236}">
                <a16:creationId xmlns:a16="http://schemas.microsoft.com/office/drawing/2014/main" id="{545D44F3-AD00-BCE2-489E-620DB2BF8156}"/>
              </a:ext>
            </a:extLst>
          </p:cNvPr>
          <p:cNvGrpSpPr/>
          <p:nvPr/>
        </p:nvGrpSpPr>
        <p:grpSpPr>
          <a:xfrm>
            <a:off x="1343353" y="3254745"/>
            <a:ext cx="6097314" cy="1938992"/>
            <a:chOff x="1343353" y="3896481"/>
            <a:chExt cx="6097314" cy="1938992"/>
          </a:xfrm>
        </p:grpSpPr>
        <p:sp>
          <p:nvSpPr>
            <p:cNvPr id="9" name="TextBox 8">
              <a:extLst>
                <a:ext uri="{FF2B5EF4-FFF2-40B4-BE49-F238E27FC236}">
                  <a16:creationId xmlns:a16="http://schemas.microsoft.com/office/drawing/2014/main" id="{C77DE78C-1385-96EB-C74A-86C76E74409D}"/>
                </a:ext>
              </a:extLst>
            </p:cNvPr>
            <p:cNvSpPr txBox="1"/>
            <p:nvPr/>
          </p:nvSpPr>
          <p:spPr>
            <a:xfrm>
              <a:off x="1343353" y="3896481"/>
              <a:ext cx="6097314"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kubia</a:t>
              </a:r>
              <a:r>
                <a:rPr lang="en-US" altLang="ko-KR" sz="1000" b="1" dirty="0">
                  <a:solidFill>
                    <a:srgbClr val="FF0000"/>
                  </a:solidFill>
                </a:rPr>
                <a:t>-liveness</a:t>
              </a: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-unhealthy</a:t>
              </a:r>
            </a:p>
            <a:p>
              <a:r>
                <a:rPr lang="en-US" altLang="ko-KR" sz="1000" b="1" dirty="0"/>
                <a:t>    name: </a:t>
              </a:r>
              <a:r>
                <a:rPr lang="en-US" altLang="ko-KR" sz="1000" b="1" dirty="0" err="1"/>
                <a:t>kubia</a:t>
              </a:r>
              <a:endParaRPr lang="en-US" altLang="ko-KR" sz="1000" b="1" dirty="0"/>
            </a:p>
            <a:p>
              <a:r>
                <a:rPr lang="en-US" altLang="ko-KR" sz="1000" b="1" dirty="0"/>
                <a:t>    </a:t>
              </a:r>
              <a:r>
                <a:rPr lang="en-US" altLang="ko-KR" sz="1000" b="1" dirty="0" err="1">
                  <a:solidFill>
                    <a:srgbClr val="FF0000"/>
                  </a:solidFill>
                </a:rPr>
                <a:t>livenessProbe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a:t>
              </a:r>
            </a:p>
            <a:p>
              <a:r>
                <a:rPr lang="en-US" altLang="ko-KR" sz="1000" b="1" dirty="0">
                  <a:solidFill>
                    <a:srgbClr val="FF0000"/>
                  </a:solidFill>
                </a:rPr>
                <a:t>        port: 8080</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A8DC257E-0F12-D781-B61B-5DFE23E883FF}"/>
                </a:ext>
              </a:extLst>
            </p:cNvPr>
            <p:cNvSpPr txBox="1"/>
            <p:nvPr/>
          </p:nvSpPr>
          <p:spPr>
            <a:xfrm>
              <a:off x="5652998" y="3896481"/>
              <a:ext cx="1787669" cy="246221"/>
            </a:xfrm>
            <a:prstGeom prst="rect">
              <a:avLst/>
            </a:prstGeom>
            <a:noFill/>
          </p:spPr>
          <p:txBody>
            <a:bodyPr wrap="none" rtlCol="0">
              <a:spAutoFit/>
            </a:bodyPr>
            <a:lstStyle/>
            <a:p>
              <a:pPr algn="l"/>
              <a:r>
                <a:rPr lang="en-US" altLang="ko-KR" sz="1000" b="1" dirty="0" err="1"/>
                <a:t>kubia</a:t>
              </a:r>
              <a:r>
                <a:rPr lang="en-US" altLang="ko-KR" sz="1000" b="1" dirty="0"/>
                <a:t>-liveness-</a:t>
              </a:r>
              <a:r>
                <a:rPr lang="en-US" altLang="ko-KR" sz="1000" b="1" dirty="0" err="1"/>
                <a:t>probe.yaml</a:t>
              </a:r>
              <a:endParaRPr lang="ko-KR" altLang="en-US" sz="1000" b="1" dirty="0"/>
            </a:p>
          </p:txBody>
        </p:sp>
      </p:grpSp>
    </p:spTree>
    <p:extLst>
      <p:ext uri="{BB962C8B-B14F-4D97-AF65-F5344CB8AC3E}">
        <p14:creationId xmlns:p14="http://schemas.microsoft.com/office/powerpoint/2010/main" val="31776749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Kubia</a:t>
            </a:r>
            <a:r>
              <a:rPr lang="en-US" altLang="ko-KR" sz="2800" b="1" dirty="0"/>
              <a:t> Unhealthy Docker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Docker Image :</a:t>
            </a:r>
          </a:p>
          <a:p>
            <a:pPr lvl="1">
              <a:buFont typeface="Wingdings" panose="05000000000000000000" pitchFamily="2" charset="2"/>
              <a:buChar char="§"/>
            </a:pPr>
            <a:r>
              <a:rPr lang="en-US" altLang="ko-KR" sz="1400" dirty="0"/>
              <a:t>To run the example, “</a:t>
            </a:r>
            <a:r>
              <a:rPr lang="en-US" altLang="ko-KR" sz="1400" b="1" dirty="0" err="1"/>
              <a:t>kubia</a:t>
            </a:r>
            <a:r>
              <a:rPr lang="en-US" altLang="ko-KR" sz="1400" b="1" dirty="0"/>
              <a:t> unhealthy</a:t>
            </a:r>
            <a:r>
              <a:rPr lang="en-US" altLang="ko-KR" sz="1400" dirty="0"/>
              <a:t>”, you need to </a:t>
            </a:r>
            <a:r>
              <a:rPr lang="en-US" altLang="ko-KR" sz="1400" b="1" dirty="0"/>
              <a:t>make a docker image and register it into Docker Hub</a:t>
            </a:r>
            <a:r>
              <a:rPr lang="en-US" altLang="ko-KR" sz="1400" dirty="0"/>
              <a:t>.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B88B9FA-334D-D870-DC74-BDFB60E8E85A}"/>
              </a:ext>
            </a:extLst>
          </p:cNvPr>
          <p:cNvGrpSpPr/>
          <p:nvPr/>
        </p:nvGrpSpPr>
        <p:grpSpPr>
          <a:xfrm>
            <a:off x="857250" y="1912147"/>
            <a:ext cx="10477500" cy="3841365"/>
            <a:chOff x="857250" y="1667782"/>
            <a:chExt cx="10477500" cy="3841365"/>
          </a:xfrm>
        </p:grpSpPr>
        <p:sp>
          <p:nvSpPr>
            <p:cNvPr id="8" name="TextBox 7">
              <a:extLst>
                <a:ext uri="{FF2B5EF4-FFF2-40B4-BE49-F238E27FC236}">
                  <a16:creationId xmlns:a16="http://schemas.microsoft.com/office/drawing/2014/main" id="{18567CC2-6809-E8AF-EBFC-CA153DD89006}"/>
                </a:ext>
              </a:extLst>
            </p:cNvPr>
            <p:cNvSpPr txBox="1"/>
            <p:nvPr/>
          </p:nvSpPr>
          <p:spPr>
            <a:xfrm>
              <a:off x="3047343" y="1667782"/>
              <a:ext cx="6097314" cy="553998"/>
            </a:xfrm>
            <a:prstGeom prst="rect">
              <a:avLst/>
            </a:prstGeom>
            <a:noFill/>
            <a:ln>
              <a:solidFill>
                <a:schemeClr val="bg1">
                  <a:lumMod val="50000"/>
                </a:schemeClr>
              </a:solidFill>
            </a:ln>
          </p:spPr>
          <p:txBody>
            <a:bodyPr wrap="square">
              <a:spAutoFit/>
            </a:bodyPr>
            <a:lstStyle/>
            <a:p>
              <a:r>
                <a:rPr lang="en-US" altLang="ko-KR" sz="1000" b="1" dirty="0"/>
                <a:t>$ docker build </a:t>
              </a:r>
              <a:r>
                <a:rPr lang="en-US" altLang="ko-KR" sz="1000" b="1" dirty="0">
                  <a:solidFill>
                    <a:srgbClr val="FF0000"/>
                  </a:solidFill>
                </a:rPr>
                <a:t>-t </a:t>
              </a:r>
              <a:r>
                <a:rPr lang="en-US" altLang="ko-KR" sz="1000" b="1" dirty="0" err="1">
                  <a:solidFill>
                    <a:srgbClr val="FF0000"/>
                  </a:solidFill>
                </a:rPr>
                <a:t>kubia</a:t>
              </a:r>
              <a:r>
                <a:rPr lang="en-US" altLang="ko-KR" sz="1000" b="1" dirty="0">
                  <a:solidFill>
                    <a:srgbClr val="FF0000"/>
                  </a:solidFill>
                </a:rPr>
                <a:t>-unhealthy .</a:t>
              </a:r>
            </a:p>
            <a:p>
              <a:r>
                <a:rPr lang="en-US" altLang="ko-KR" sz="1000" b="1" dirty="0"/>
                <a:t>$ docker tag </a:t>
              </a:r>
              <a:r>
                <a:rPr lang="en-US" altLang="ko-KR" sz="1000" b="1" dirty="0" err="1">
                  <a:solidFill>
                    <a:srgbClr val="FF0000"/>
                  </a:solidFill>
                </a:rPr>
                <a:t>kubia</a:t>
              </a:r>
              <a:r>
                <a:rPr lang="en-US" altLang="ko-KR" sz="1000" b="1" dirty="0">
                  <a:solidFill>
                    <a:srgbClr val="FF0000"/>
                  </a:solidFill>
                </a:rPr>
                <a:t>-unhealthy knix008/</a:t>
              </a:r>
              <a:r>
                <a:rPr lang="en-US" altLang="ko-KR" sz="1000" b="1" dirty="0" err="1">
                  <a:solidFill>
                    <a:srgbClr val="FF0000"/>
                  </a:solidFill>
                </a:rPr>
                <a:t>kubia</a:t>
              </a:r>
              <a:r>
                <a:rPr lang="en-US" altLang="ko-KR" sz="1000" b="1" dirty="0">
                  <a:solidFill>
                    <a:srgbClr val="FF0000"/>
                  </a:solidFill>
                </a:rPr>
                <a:t>-unhealthy</a:t>
              </a:r>
            </a:p>
            <a:p>
              <a:r>
                <a:rPr lang="en-US" altLang="ko-KR" sz="1000" b="1" dirty="0"/>
                <a:t>$ docker push </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-unhealthy</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092A12D7-0C76-3FF6-A704-D9AA416AF048}"/>
                </a:ext>
              </a:extLst>
            </p:cNvPr>
            <p:cNvPicPr>
              <a:picLocks noChangeAspect="1"/>
            </p:cNvPicPr>
            <p:nvPr/>
          </p:nvPicPr>
          <p:blipFill>
            <a:blip r:embed="rId2"/>
            <a:stretch>
              <a:fillRect/>
            </a:stretch>
          </p:blipFill>
          <p:spPr>
            <a:xfrm>
              <a:off x="857250" y="2499247"/>
              <a:ext cx="10477500" cy="3009900"/>
            </a:xfrm>
            <a:prstGeom prst="rect">
              <a:avLst/>
            </a:prstGeom>
          </p:spPr>
        </p:pic>
        <p:sp>
          <p:nvSpPr>
            <p:cNvPr id="11" name="화살표: 아래쪽 10">
              <a:extLst>
                <a:ext uri="{FF2B5EF4-FFF2-40B4-BE49-F238E27FC236}">
                  <a16:creationId xmlns:a16="http://schemas.microsoft.com/office/drawing/2014/main" id="{997772DF-675E-ACAE-BA3C-CDBD2A37C1A3}"/>
                </a:ext>
              </a:extLst>
            </p:cNvPr>
            <p:cNvSpPr/>
            <p:nvPr/>
          </p:nvSpPr>
          <p:spPr>
            <a:xfrm>
              <a:off x="5891048" y="2221780"/>
              <a:ext cx="409904" cy="27705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674575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a Liveness Probe in Action :</a:t>
            </a:r>
          </a:p>
          <a:p>
            <a:pPr lvl="1">
              <a:buFont typeface="Wingdings" panose="05000000000000000000" pitchFamily="2" charset="2"/>
              <a:buChar char="§"/>
            </a:pPr>
            <a:r>
              <a:rPr lang="en-US" altLang="ko-KR" sz="1400" b="1" dirty="0"/>
              <a:t>To see what the liveness probe does, try creating the pod now</a:t>
            </a:r>
            <a:r>
              <a:rPr lang="en-US" altLang="ko-KR" sz="1400" dirty="0"/>
              <a:t>. After about a minute and a half, the container will be restarted. You can see that by running “</a:t>
            </a:r>
            <a:r>
              <a:rPr lang="en-US" altLang="ko-KR" sz="1400" b="1" dirty="0" err="1"/>
              <a:t>kubectl</a:t>
            </a:r>
            <a:r>
              <a:rPr lang="en-US" altLang="ko-KR" sz="1400" b="1" dirty="0"/>
              <a:t> get</a:t>
            </a:r>
            <a:r>
              <a:rPr lang="en-US" altLang="ko-KR" sz="1400" dirty="0"/>
              <a:t>” command like the following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RESTARTS column shows that the pod’s container has been restarted once </a:t>
            </a:r>
            <a:r>
              <a:rPr lang="en-US" altLang="ko-KR" sz="1400" dirty="0"/>
              <a:t>(if you wait another minute and a half, it gets restarted again, and then the cycle continues indefinitely). </a:t>
            </a:r>
          </a:p>
          <a:p>
            <a:pPr lvl="1">
              <a:buFont typeface="Wingdings" panose="05000000000000000000" pitchFamily="2" charset="2"/>
              <a:buChar char="§"/>
            </a:pPr>
            <a:r>
              <a:rPr lang="en-US" altLang="ko-KR" sz="1400" b="1" dirty="0"/>
              <a:t>NOTE : You can see why the container had to be restarted by looking at what “</a:t>
            </a:r>
            <a:r>
              <a:rPr lang="en-US" altLang="ko-KR" sz="1400" b="1" dirty="0" err="1">
                <a:solidFill>
                  <a:srgbClr val="FF0000"/>
                </a:solidFill>
              </a:rPr>
              <a:t>kubectl</a:t>
            </a:r>
            <a:r>
              <a:rPr lang="en-US" altLang="ko-KR" sz="1400" b="1" dirty="0">
                <a:solidFill>
                  <a:srgbClr val="FF0000"/>
                </a:solidFill>
              </a:rPr>
              <a:t> describe</a:t>
            </a:r>
            <a:r>
              <a:rPr lang="en-US" altLang="ko-KR" sz="1400" b="1" dirty="0"/>
              <a:t>” prints out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1D20CA2B-5E21-3EAD-07FC-887D8810A83D}"/>
              </a:ext>
            </a:extLst>
          </p:cNvPr>
          <p:cNvGrpSpPr/>
          <p:nvPr/>
        </p:nvGrpSpPr>
        <p:grpSpPr>
          <a:xfrm>
            <a:off x="1741775" y="1919747"/>
            <a:ext cx="8708449" cy="3291263"/>
            <a:chOff x="1741774" y="1564518"/>
            <a:chExt cx="8708449" cy="3291263"/>
          </a:xfrm>
        </p:grpSpPr>
        <p:grpSp>
          <p:nvGrpSpPr>
            <p:cNvPr id="18" name="그룹 17">
              <a:extLst>
                <a:ext uri="{FF2B5EF4-FFF2-40B4-BE49-F238E27FC236}">
                  <a16:creationId xmlns:a16="http://schemas.microsoft.com/office/drawing/2014/main" id="{71DB368F-3581-1807-1A2C-28B65A3E98D1}"/>
                </a:ext>
              </a:extLst>
            </p:cNvPr>
            <p:cNvGrpSpPr/>
            <p:nvPr/>
          </p:nvGrpSpPr>
          <p:grpSpPr>
            <a:xfrm>
              <a:off x="1741774" y="1564518"/>
              <a:ext cx="8708449" cy="3291263"/>
              <a:chOff x="1741774" y="1525103"/>
              <a:chExt cx="8708449" cy="3291263"/>
            </a:xfrm>
          </p:grpSpPr>
          <p:sp>
            <p:nvSpPr>
              <p:cNvPr id="8" name="TextBox 7">
                <a:extLst>
                  <a:ext uri="{FF2B5EF4-FFF2-40B4-BE49-F238E27FC236}">
                    <a16:creationId xmlns:a16="http://schemas.microsoft.com/office/drawing/2014/main" id="{E8A98378-DB5A-40E2-B7AC-299B6B9EDC26}"/>
                  </a:ext>
                </a:extLst>
              </p:cNvPr>
              <p:cNvSpPr txBox="1"/>
              <p:nvPr/>
            </p:nvSpPr>
            <p:spPr>
              <a:xfrm>
                <a:off x="3047341" y="152510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 </a:t>
                </a:r>
                <a:r>
                  <a:rPr lang="en-US" altLang="ko-KR" sz="1000" b="1" dirty="0" err="1">
                    <a:solidFill>
                      <a:srgbClr val="FF0000"/>
                    </a:solidFill>
                  </a:rPr>
                  <a:t>kubia</a:t>
                </a:r>
                <a:r>
                  <a:rPr lang="en-US" altLang="ko-KR" sz="1000" b="1" dirty="0">
                    <a:solidFill>
                      <a:srgbClr val="FF0000"/>
                    </a:solidFill>
                  </a:rPr>
                  <a:t>-liveness</a:t>
                </a:r>
              </a:p>
            </p:txBody>
          </p:sp>
          <p:sp>
            <p:nvSpPr>
              <p:cNvPr id="9" name="화살표: 아래쪽 8">
                <a:extLst>
                  <a:ext uri="{FF2B5EF4-FFF2-40B4-BE49-F238E27FC236}">
                    <a16:creationId xmlns:a16="http://schemas.microsoft.com/office/drawing/2014/main" id="{E3D571B4-1567-CECC-E254-5D40394FE2BB}"/>
                  </a:ext>
                </a:extLst>
              </p:cNvPr>
              <p:cNvSpPr/>
              <p:nvPr/>
            </p:nvSpPr>
            <p:spPr>
              <a:xfrm>
                <a:off x="5875281" y="1786052"/>
                <a:ext cx="441435" cy="30893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6C5A3FA3-F272-5B76-7CCB-3A189748BE97}"/>
                  </a:ext>
                </a:extLst>
              </p:cNvPr>
              <p:cNvGrpSpPr/>
              <p:nvPr/>
            </p:nvGrpSpPr>
            <p:grpSpPr>
              <a:xfrm>
                <a:off x="1741774" y="2103944"/>
                <a:ext cx="8708449" cy="2712422"/>
                <a:chOff x="2283651" y="2034976"/>
                <a:chExt cx="8320548" cy="2442775"/>
              </a:xfrm>
            </p:grpSpPr>
            <p:pic>
              <p:nvPicPr>
                <p:cNvPr id="11" name="그림 10">
                  <a:extLst>
                    <a:ext uri="{FF2B5EF4-FFF2-40B4-BE49-F238E27FC236}">
                      <a16:creationId xmlns:a16="http://schemas.microsoft.com/office/drawing/2014/main" id="{8B2F8957-ABC8-8084-F5D4-80E8D1230CE5}"/>
                    </a:ext>
                  </a:extLst>
                </p:cNvPr>
                <p:cNvPicPr>
                  <a:picLocks noChangeAspect="1"/>
                </p:cNvPicPr>
                <p:nvPr/>
              </p:nvPicPr>
              <p:blipFill>
                <a:blip r:embed="rId2"/>
                <a:stretch>
                  <a:fillRect/>
                </a:stretch>
              </p:blipFill>
              <p:spPr>
                <a:xfrm>
                  <a:off x="2283651" y="2034976"/>
                  <a:ext cx="7270867" cy="1897035"/>
                </a:xfrm>
                <a:prstGeom prst="rect">
                  <a:avLst/>
                </a:prstGeom>
              </p:spPr>
            </p:pic>
            <p:pic>
              <p:nvPicPr>
                <p:cNvPr id="15" name="그림 14">
                  <a:extLst>
                    <a:ext uri="{FF2B5EF4-FFF2-40B4-BE49-F238E27FC236}">
                      <a16:creationId xmlns:a16="http://schemas.microsoft.com/office/drawing/2014/main" id="{EEC4B278-3FB3-B574-1BBF-C1C1EAACFDCB}"/>
                    </a:ext>
                  </a:extLst>
                </p:cNvPr>
                <p:cNvPicPr>
                  <a:picLocks noChangeAspect="1"/>
                </p:cNvPicPr>
                <p:nvPr/>
              </p:nvPicPr>
              <p:blipFill>
                <a:blip r:embed="rId3"/>
                <a:stretch>
                  <a:fillRect/>
                </a:stretch>
              </p:blipFill>
              <p:spPr>
                <a:xfrm>
                  <a:off x="3551251" y="3259514"/>
                  <a:ext cx="7052948" cy="1218237"/>
                </a:xfrm>
                <a:prstGeom prst="rect">
                  <a:avLst/>
                </a:prstGeom>
                <a:ln>
                  <a:solidFill>
                    <a:schemeClr val="bg1">
                      <a:lumMod val="50000"/>
                    </a:schemeClr>
                  </a:solidFill>
                </a:ln>
              </p:spPr>
            </p:pic>
          </p:grpSp>
        </p:grpSp>
        <p:sp>
          <p:nvSpPr>
            <p:cNvPr id="19" name="직사각형 18">
              <a:extLst>
                <a:ext uri="{FF2B5EF4-FFF2-40B4-BE49-F238E27FC236}">
                  <a16:creationId xmlns:a16="http://schemas.microsoft.com/office/drawing/2014/main" id="{4829BD57-CF68-B376-05D0-30E3FBDBBDA5}"/>
                </a:ext>
              </a:extLst>
            </p:cNvPr>
            <p:cNvSpPr/>
            <p:nvPr/>
          </p:nvSpPr>
          <p:spPr>
            <a:xfrm>
              <a:off x="5029200" y="4020207"/>
              <a:ext cx="646386" cy="268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26988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a Liveness Probe in Action :</a:t>
            </a:r>
          </a:p>
          <a:p>
            <a:pPr lvl="1">
              <a:buFont typeface="Wingdings" panose="05000000000000000000" pitchFamily="2" charset="2"/>
              <a:buChar char="§"/>
            </a:pPr>
            <a:r>
              <a:rPr lang="en-US" altLang="ko-KR" sz="1400" b="1" dirty="0"/>
              <a:t>The “exit code” was “137”, which has a special meaning—it denotes that the process was terminated by an external signal</a:t>
            </a:r>
            <a:r>
              <a:rPr lang="en-US" altLang="ko-KR" sz="1400" dirty="0"/>
              <a:t>. </a:t>
            </a:r>
            <a:r>
              <a:rPr lang="en-US" altLang="ko-KR" sz="1400" b="1" dirty="0"/>
              <a:t>The number “137” is a sum of two numbers: “</a:t>
            </a:r>
            <a:r>
              <a:rPr lang="en-US" altLang="ko-KR" sz="1400" b="1" dirty="0">
                <a:solidFill>
                  <a:srgbClr val="FF0000"/>
                </a:solidFill>
              </a:rPr>
              <a:t>128+x</a:t>
            </a:r>
            <a:r>
              <a:rPr lang="en-US" altLang="ko-KR" sz="1400" b="1" dirty="0"/>
              <a:t>”, where x is the signal number sent to the process </a:t>
            </a:r>
            <a:r>
              <a:rPr lang="en-US" altLang="ko-KR" sz="1400" dirty="0"/>
              <a:t>that caused it to terminate. </a:t>
            </a:r>
            <a:r>
              <a:rPr lang="en-US" altLang="ko-KR" sz="1400" b="1" dirty="0"/>
              <a:t>In the example, “</a:t>
            </a:r>
            <a:r>
              <a:rPr lang="en-US" altLang="ko-KR" sz="1400" b="1" dirty="0">
                <a:solidFill>
                  <a:srgbClr val="FF0000"/>
                </a:solidFill>
              </a:rPr>
              <a:t>x equals 9</a:t>
            </a:r>
            <a:r>
              <a:rPr lang="en-US" altLang="ko-KR" sz="1400" b="1" dirty="0"/>
              <a:t>”, which is the number of the </a:t>
            </a:r>
            <a:r>
              <a:rPr lang="en-US" altLang="ko-KR" sz="1400" b="1" dirty="0">
                <a:solidFill>
                  <a:srgbClr val="FF0000"/>
                </a:solidFill>
              </a:rPr>
              <a:t>SIGKILL</a:t>
            </a:r>
            <a:r>
              <a:rPr lang="en-US" altLang="ko-KR" sz="1400" b="1" dirty="0"/>
              <a:t> signal</a:t>
            </a:r>
            <a:r>
              <a:rPr lang="en-US" altLang="ko-KR" sz="1400" dirty="0"/>
              <a:t>, meaning the process was killed forcibly. The events listed at the bottom show why the container was killed—</a:t>
            </a:r>
            <a:r>
              <a:rPr lang="en-US" altLang="ko-KR" sz="1400" b="1" dirty="0"/>
              <a:t>Kubernetes detected the container was unhealthy, so it killed and re-created it</a:t>
            </a:r>
            <a:r>
              <a:rPr lang="en-US" altLang="ko-KR" sz="1400" dirty="0"/>
              <a:t>.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NOTE : To obtain the application log of a crashed container, you can use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logs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If your container is restarted,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logs command will show the log of the current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When you want to figure out why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previous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terminated, you’ll want to see those logs instead of the current container’s logs. This can be done by using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--previous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option like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kubctl</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logs &lt;</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pod_name</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&gt; --previous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lang="en-US" altLang="ko-KR" sz="1400" dirty="0"/>
          </a:p>
          <a:p>
            <a:pPr lvl="1">
              <a:buFont typeface="Wingdings" panose="05000000000000000000" pitchFamily="2" charset="2"/>
              <a:buChar char="§"/>
            </a:pPr>
            <a:r>
              <a:rPr lang="en-US" altLang="ko-KR" sz="1400" b="1" dirty="0"/>
              <a:t>NOTE : When a container is killed, a completely new container is created</a:t>
            </a:r>
            <a:r>
              <a:rPr lang="en-US" altLang="ko-KR" sz="1400" dirty="0"/>
              <a:t>—it’s not the same container being restarted again.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041EB2F-8524-8A8F-8EDA-71A76E846824}"/>
              </a:ext>
            </a:extLst>
          </p:cNvPr>
          <p:cNvGrpSpPr/>
          <p:nvPr/>
        </p:nvGrpSpPr>
        <p:grpSpPr>
          <a:xfrm>
            <a:off x="1518745" y="3526111"/>
            <a:ext cx="9154511" cy="2882919"/>
            <a:chOff x="1518744" y="3066393"/>
            <a:chExt cx="9154511" cy="2882919"/>
          </a:xfrm>
        </p:grpSpPr>
        <p:pic>
          <p:nvPicPr>
            <p:cNvPr id="10" name="그림 9">
              <a:extLst>
                <a:ext uri="{FF2B5EF4-FFF2-40B4-BE49-F238E27FC236}">
                  <a16:creationId xmlns:a16="http://schemas.microsoft.com/office/drawing/2014/main" id="{63F230FF-48FD-95DD-6730-0C20BE837AB8}"/>
                </a:ext>
              </a:extLst>
            </p:cNvPr>
            <p:cNvPicPr>
              <a:picLocks noChangeAspect="1"/>
            </p:cNvPicPr>
            <p:nvPr/>
          </p:nvPicPr>
          <p:blipFill>
            <a:blip r:embed="rId2"/>
            <a:stretch>
              <a:fillRect/>
            </a:stretch>
          </p:blipFill>
          <p:spPr>
            <a:xfrm>
              <a:off x="1518744" y="3066393"/>
              <a:ext cx="8582260" cy="1837018"/>
            </a:xfrm>
            <a:prstGeom prst="rect">
              <a:avLst/>
            </a:prstGeom>
          </p:spPr>
        </p:pic>
        <p:pic>
          <p:nvPicPr>
            <p:cNvPr id="12" name="그림 11">
              <a:extLst>
                <a:ext uri="{FF2B5EF4-FFF2-40B4-BE49-F238E27FC236}">
                  <a16:creationId xmlns:a16="http://schemas.microsoft.com/office/drawing/2014/main" id="{09405CA0-0361-1C86-61C3-14FBEF13C287}"/>
                </a:ext>
              </a:extLst>
            </p:cNvPr>
            <p:cNvPicPr>
              <a:picLocks noChangeAspect="1"/>
            </p:cNvPicPr>
            <p:nvPr/>
          </p:nvPicPr>
          <p:blipFill>
            <a:blip r:embed="rId3"/>
            <a:stretch>
              <a:fillRect/>
            </a:stretch>
          </p:blipFill>
          <p:spPr>
            <a:xfrm>
              <a:off x="2090995" y="4112294"/>
              <a:ext cx="8582260" cy="1837018"/>
            </a:xfrm>
            <a:prstGeom prst="rect">
              <a:avLst/>
            </a:prstGeom>
            <a:ln>
              <a:solidFill>
                <a:schemeClr val="bg1">
                  <a:lumMod val="50000"/>
                </a:schemeClr>
              </a:solidFill>
            </a:ln>
          </p:spPr>
        </p:pic>
        <p:sp>
          <p:nvSpPr>
            <p:cNvPr id="14" name="직사각형 13">
              <a:extLst>
                <a:ext uri="{FF2B5EF4-FFF2-40B4-BE49-F238E27FC236}">
                  <a16:creationId xmlns:a16="http://schemas.microsoft.com/office/drawing/2014/main" id="{0331AF78-E164-AECF-BC84-A45F990BCD78}"/>
                </a:ext>
              </a:extLst>
            </p:cNvPr>
            <p:cNvSpPr/>
            <p:nvPr/>
          </p:nvSpPr>
          <p:spPr>
            <a:xfrm>
              <a:off x="5486400" y="3484179"/>
              <a:ext cx="2301765"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12F1262F-F0CB-B609-0275-F7BF29978B14}"/>
                </a:ext>
              </a:extLst>
            </p:cNvPr>
            <p:cNvSpPr/>
            <p:nvPr/>
          </p:nvSpPr>
          <p:spPr>
            <a:xfrm>
              <a:off x="6038193" y="4800600"/>
              <a:ext cx="3618186" cy="149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37140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Additional Properties of the Liveness Probe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describe” command can also display additional information about the liveness probe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Beside the liveness probe options you specified explicitly, you can also see additional properties, such as </a:t>
            </a:r>
            <a:r>
              <a:rPr lang="en-US" altLang="ko-KR" sz="1400" b="1" dirty="0">
                <a:solidFill>
                  <a:srgbClr val="FF0000"/>
                </a:solidFill>
              </a:rPr>
              <a:t>delay</a:t>
            </a:r>
            <a:r>
              <a:rPr lang="en-US" altLang="ko-KR" sz="1400" b="1" dirty="0"/>
              <a:t>, </a:t>
            </a:r>
            <a:r>
              <a:rPr lang="en-US" altLang="ko-KR" sz="1400" b="1" dirty="0">
                <a:solidFill>
                  <a:srgbClr val="FF0000"/>
                </a:solidFill>
              </a:rPr>
              <a:t>timeout</a:t>
            </a:r>
            <a:r>
              <a:rPr lang="en-US" altLang="ko-KR" sz="1400" b="1" dirty="0"/>
              <a:t>, </a:t>
            </a:r>
            <a:r>
              <a:rPr lang="en-US" altLang="ko-KR" sz="1400" b="1" dirty="0">
                <a:solidFill>
                  <a:srgbClr val="FF0000"/>
                </a:solidFill>
              </a:rPr>
              <a:t>period</a:t>
            </a:r>
            <a:r>
              <a:rPr lang="en-US" altLang="ko-KR" sz="1400" b="1" dirty="0"/>
              <a:t>, and so on</a:t>
            </a:r>
            <a:r>
              <a:rPr lang="en-US" altLang="ko-KR" sz="1400" dirty="0"/>
              <a:t>. </a:t>
            </a:r>
            <a:r>
              <a:rPr lang="en-US" altLang="ko-KR" sz="1400" b="1" dirty="0"/>
              <a:t>The “delay=0s” part shows that the probing begins immediately after the container is started. The timeout is set to only “1” second, so the container must return a response in “1” second or the probe is counted as failed</a:t>
            </a:r>
            <a:r>
              <a:rPr lang="en-US" altLang="ko-KR" sz="1400" dirty="0"/>
              <a:t>. </a:t>
            </a:r>
            <a:r>
              <a:rPr lang="en-US" altLang="ko-KR" sz="1400" b="1" dirty="0"/>
              <a:t>The container is probed every “10” seconds (“</a:t>
            </a:r>
            <a:r>
              <a:rPr lang="en-US" altLang="ko-KR" sz="1400" b="1" dirty="0">
                <a:solidFill>
                  <a:srgbClr val="FF0000"/>
                </a:solidFill>
              </a:rPr>
              <a:t>period=10s</a:t>
            </a:r>
            <a:r>
              <a:rPr lang="en-US" altLang="ko-KR" sz="1400" b="1" dirty="0"/>
              <a:t>”) </a:t>
            </a:r>
            <a:r>
              <a:rPr lang="en-US" altLang="ko-KR" sz="1400" dirty="0"/>
              <a:t>and </a:t>
            </a:r>
            <a:r>
              <a:rPr lang="en-US" altLang="ko-KR" sz="1400" b="1" dirty="0"/>
              <a:t>the container is restarted after the probe fails </a:t>
            </a:r>
            <a:r>
              <a:rPr lang="en-US" altLang="ko-KR" sz="1400" b="1" dirty="0">
                <a:solidFill>
                  <a:srgbClr val="FF0000"/>
                </a:solidFill>
              </a:rPr>
              <a:t>three consecutive times </a:t>
            </a:r>
            <a:r>
              <a:rPr lang="en-US" altLang="ko-KR" sz="1400" b="1" dirty="0"/>
              <a:t>(“</a:t>
            </a:r>
            <a:r>
              <a:rPr lang="en-US" altLang="ko-KR" sz="1400" b="1" dirty="0">
                <a:solidFill>
                  <a:srgbClr val="FF0000"/>
                </a:solidFill>
              </a:rPr>
              <a:t>#failure=3</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1E364C2-5880-D5DF-5B04-CF1232A2ABD8}"/>
              </a:ext>
            </a:extLst>
          </p:cNvPr>
          <p:cNvGrpSpPr/>
          <p:nvPr/>
        </p:nvGrpSpPr>
        <p:grpSpPr>
          <a:xfrm>
            <a:off x="1875111" y="1514965"/>
            <a:ext cx="8441778" cy="3507175"/>
            <a:chOff x="1875111" y="1475550"/>
            <a:chExt cx="8441778" cy="3507175"/>
          </a:xfrm>
        </p:grpSpPr>
        <p:pic>
          <p:nvPicPr>
            <p:cNvPr id="8" name="그림 7">
              <a:extLst>
                <a:ext uri="{FF2B5EF4-FFF2-40B4-BE49-F238E27FC236}">
                  <a16:creationId xmlns:a16="http://schemas.microsoft.com/office/drawing/2014/main" id="{107D6A46-7491-1535-9929-25FD51558469}"/>
                </a:ext>
              </a:extLst>
            </p:cNvPr>
            <p:cNvPicPr>
              <a:picLocks noChangeAspect="1"/>
            </p:cNvPicPr>
            <p:nvPr/>
          </p:nvPicPr>
          <p:blipFill>
            <a:blip r:embed="rId2"/>
            <a:stretch>
              <a:fillRect/>
            </a:stretch>
          </p:blipFill>
          <p:spPr>
            <a:xfrm>
              <a:off x="1875111" y="1475550"/>
              <a:ext cx="8441778" cy="3507175"/>
            </a:xfrm>
            <a:prstGeom prst="rect">
              <a:avLst/>
            </a:prstGeom>
          </p:spPr>
        </p:pic>
        <p:sp>
          <p:nvSpPr>
            <p:cNvPr id="9" name="직사각형 8">
              <a:extLst>
                <a:ext uri="{FF2B5EF4-FFF2-40B4-BE49-F238E27FC236}">
                  <a16:creationId xmlns:a16="http://schemas.microsoft.com/office/drawing/2014/main" id="{5CD7910B-5EF2-7ADC-9793-45F246EA0327}"/>
                </a:ext>
              </a:extLst>
            </p:cNvPr>
            <p:cNvSpPr/>
            <p:nvPr/>
          </p:nvSpPr>
          <p:spPr>
            <a:xfrm>
              <a:off x="2199290" y="3452649"/>
              <a:ext cx="1277008"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ADD5AD7-DA48-D81D-624C-F913D75A0A1C}"/>
                </a:ext>
              </a:extLst>
            </p:cNvPr>
            <p:cNvSpPr/>
            <p:nvPr/>
          </p:nvSpPr>
          <p:spPr>
            <a:xfrm>
              <a:off x="2199290" y="4106917"/>
              <a:ext cx="5770179"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133874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Additional Properties of the Liveness Probe :</a:t>
            </a:r>
          </a:p>
          <a:p>
            <a:pPr lvl="1">
              <a:buFont typeface="Wingdings" panose="05000000000000000000" pitchFamily="2" charset="2"/>
              <a:buChar char="§"/>
            </a:pPr>
            <a:r>
              <a:rPr lang="en-US" altLang="ko-KR" sz="1400" b="1" dirty="0"/>
              <a:t>The additional liveness probe parameters can be customized when defining the probe</a:t>
            </a:r>
            <a:r>
              <a:rPr lang="en-US" altLang="ko-KR" sz="1400" dirty="0"/>
              <a:t>. For example, to set </a:t>
            </a:r>
            <a:r>
              <a:rPr lang="en-US" altLang="ko-KR" sz="1400" b="1" dirty="0"/>
              <a:t>the initial delay</a:t>
            </a:r>
            <a:r>
              <a:rPr lang="en-US" altLang="ko-KR" sz="1400" dirty="0"/>
              <a:t>, add the </a:t>
            </a:r>
            <a:r>
              <a:rPr lang="en-US" altLang="ko-KR" sz="1400" b="1" dirty="0"/>
              <a:t>“</a:t>
            </a:r>
            <a:r>
              <a:rPr lang="en-US" altLang="ko-KR" sz="1400" b="1" dirty="0" err="1">
                <a:solidFill>
                  <a:srgbClr val="FF0000"/>
                </a:solidFill>
              </a:rPr>
              <a:t>initialDelaySeconds</a:t>
            </a:r>
            <a:r>
              <a:rPr lang="en-US" altLang="ko-KR" sz="1400" b="1" dirty="0"/>
              <a:t>” property </a:t>
            </a:r>
            <a:r>
              <a:rPr lang="en-US" altLang="ko-KR" sz="1400" dirty="0"/>
              <a:t>to the liveness probe.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you don’t set the initial delay, the prober will start probing the container as soon as it starts</a:t>
            </a:r>
            <a:r>
              <a:rPr lang="en-US" altLang="ko-KR" sz="1400" dirty="0"/>
              <a:t>, </a:t>
            </a:r>
            <a:r>
              <a:rPr lang="en-US" altLang="ko-KR" sz="1400" b="1" dirty="0"/>
              <a:t>which usually leads to the probe failing, because the app isn’t ready to start receiving requests.</a:t>
            </a:r>
            <a:r>
              <a:rPr lang="en-US" altLang="ko-KR" sz="1400" dirty="0"/>
              <a:t> If the number of failures exceeds the failure threshold, the container is restarted before it’s even able to start responding to requests properly. </a:t>
            </a:r>
          </a:p>
          <a:p>
            <a:pPr lvl="1">
              <a:buFont typeface="Wingdings" panose="05000000000000000000" pitchFamily="2" charset="2"/>
              <a:buChar char="§"/>
            </a:pPr>
            <a:r>
              <a:rPr lang="en-US" altLang="ko-KR" sz="1400" b="1" dirty="0"/>
              <a:t>TIP : Always remember to set an initial delay to account for your app’s startup time</a:t>
            </a:r>
            <a:r>
              <a:rPr lang="en-US" altLang="ko-KR" sz="1400" dirty="0"/>
              <a:t>.</a:t>
            </a:r>
          </a:p>
          <a:p>
            <a:pPr lvl="1">
              <a:buFont typeface="Wingdings" panose="05000000000000000000" pitchFamily="2" charset="2"/>
              <a:buChar char="§"/>
            </a:pPr>
            <a:r>
              <a:rPr lang="en-US" altLang="ko-KR" sz="1400" b="1" dirty="0"/>
              <a:t>If you see that container terminated with exit code “137” or “143”, then you can find that </a:t>
            </a:r>
            <a:r>
              <a:rPr lang="en-US" altLang="ko-KR" sz="1400" b="1" dirty="0">
                <a:solidFill>
                  <a:srgbClr val="FF0000"/>
                </a:solidFill>
              </a:rPr>
              <a:t>the pod was terminated externally</a:t>
            </a:r>
            <a:r>
              <a:rPr lang="en-US" altLang="ko-KR" sz="1400" dirty="0"/>
              <a:t>. </a:t>
            </a:r>
            <a:r>
              <a:rPr lang="en-US" altLang="ko-KR" sz="1400" b="1" dirty="0"/>
              <a:t>Additionally, the listing of the pod’s events would show that the container was killed because of a failed liveness probe</a:t>
            </a:r>
            <a:r>
              <a:rPr lang="en-US" altLang="ko-KR" sz="1400" dirty="0"/>
              <a:t>. </a:t>
            </a:r>
            <a:r>
              <a:rPr lang="en-US" altLang="ko-KR" sz="1400" b="1" dirty="0"/>
              <a:t>If you see this happening at pod startup, it’s because you failed to set “</a:t>
            </a:r>
            <a:r>
              <a:rPr lang="en-US" altLang="ko-KR" sz="1400" b="1" dirty="0" err="1"/>
              <a:t>initialDelaySeconds</a:t>
            </a:r>
            <a:r>
              <a:rPr lang="en-US" altLang="ko-KR" sz="1400" b="1" dirty="0"/>
              <a:t>” appropriately</a:t>
            </a:r>
            <a:r>
              <a:rPr lang="en-US" altLang="ko-KR" sz="1400" dirty="0"/>
              <a:t>. </a:t>
            </a:r>
          </a:p>
          <a:p>
            <a:pPr lvl="1">
              <a:buFont typeface="Wingdings" panose="05000000000000000000" pitchFamily="2" charset="2"/>
              <a:buChar char="§"/>
            </a:pPr>
            <a:r>
              <a:rPr lang="en-US" altLang="ko-KR" sz="1400" b="1" dirty="0"/>
              <a:t>NOTE : Exit code 137 signals that the process was killed by an external signal (exit code is 128 + 9 (</a:t>
            </a:r>
            <a:r>
              <a:rPr lang="en-US" altLang="ko-KR" sz="1400" b="1" dirty="0">
                <a:solidFill>
                  <a:srgbClr val="FF0000"/>
                </a:solidFill>
              </a:rPr>
              <a:t>SIGKILL</a:t>
            </a:r>
            <a:r>
              <a:rPr lang="en-US" altLang="ko-KR" sz="1400" b="1" dirty="0"/>
              <a:t>). Likewise, exit code 143 corresponds to 128 + 15 (</a:t>
            </a:r>
            <a:r>
              <a:rPr lang="en-US" altLang="ko-KR" sz="1400" b="1" dirty="0">
                <a:solidFill>
                  <a:srgbClr val="FF0000"/>
                </a:solidFill>
              </a:rPr>
              <a:t>SIGTERM</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1E222D6-718D-91CD-C2FD-2E265C607BF5}"/>
              </a:ext>
            </a:extLst>
          </p:cNvPr>
          <p:cNvGrpSpPr/>
          <p:nvPr/>
        </p:nvGrpSpPr>
        <p:grpSpPr>
          <a:xfrm>
            <a:off x="3047343" y="1661168"/>
            <a:ext cx="6097314" cy="2092881"/>
            <a:chOff x="3047343" y="1692700"/>
            <a:chExt cx="6097314" cy="2092881"/>
          </a:xfrm>
        </p:grpSpPr>
        <p:sp>
          <p:nvSpPr>
            <p:cNvPr id="8" name="TextBox 7">
              <a:extLst>
                <a:ext uri="{FF2B5EF4-FFF2-40B4-BE49-F238E27FC236}">
                  <a16:creationId xmlns:a16="http://schemas.microsoft.com/office/drawing/2014/main" id="{7E706D71-07E7-0171-1F4A-8D500CC62320}"/>
                </a:ext>
              </a:extLst>
            </p:cNvPr>
            <p:cNvSpPr txBox="1"/>
            <p:nvPr/>
          </p:nvSpPr>
          <p:spPr>
            <a:xfrm>
              <a:off x="3047343" y="1692700"/>
              <a:ext cx="6097314"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kubia</a:t>
              </a:r>
              <a:r>
                <a:rPr lang="en-US" altLang="ko-KR" sz="1000" b="1" dirty="0"/>
                <a:t>-liveness</a:t>
              </a:r>
            </a:p>
            <a:p>
              <a:r>
                <a:rPr lang="en-US" altLang="ko-KR" sz="1000" b="1" dirty="0"/>
                <a:t>spec:</a:t>
              </a:r>
            </a:p>
            <a:p>
              <a:r>
                <a:rPr lang="en-US" altLang="ko-KR" sz="1000" b="1" dirty="0"/>
                <a:t>  containers:</a:t>
              </a:r>
            </a:p>
            <a:p>
              <a:r>
                <a:rPr lang="en-US" altLang="ko-KR" sz="1000" b="1" dirty="0"/>
                <a:t>  - image: knix008/</a:t>
              </a:r>
              <a:r>
                <a:rPr lang="en-US" altLang="ko-KR" sz="1000" b="1" dirty="0" err="1"/>
                <a:t>kubia</a:t>
              </a:r>
              <a:r>
                <a:rPr lang="en-US" altLang="ko-KR" sz="1000" b="1" dirty="0"/>
                <a:t>-unhealthy</a:t>
              </a:r>
            </a:p>
            <a:p>
              <a:r>
                <a:rPr lang="en-US" altLang="ko-KR" sz="1000" b="1" dirty="0"/>
                <a:t>    name: </a:t>
              </a:r>
              <a:r>
                <a:rPr lang="en-US" altLang="ko-KR" sz="1000" b="1" dirty="0" err="1"/>
                <a:t>kubia</a:t>
              </a:r>
              <a:endParaRPr lang="en-US" altLang="ko-KR" sz="1000" b="1" dirty="0"/>
            </a:p>
            <a:p>
              <a:r>
                <a:rPr lang="en-US" altLang="ko-KR" sz="1000" b="1" dirty="0"/>
                <a:t>    </a:t>
              </a:r>
              <a:r>
                <a:rPr lang="en-US" altLang="ko-KR" sz="1000" b="1" dirty="0" err="1"/>
                <a:t>livenessProbe</a:t>
              </a:r>
              <a:r>
                <a:rPr lang="en-US" altLang="ko-KR" sz="1000" b="1" dirty="0"/>
                <a:t>:</a:t>
              </a:r>
            </a:p>
            <a:p>
              <a:r>
                <a:rPr lang="en-US" altLang="ko-KR" sz="1000" b="1" dirty="0"/>
                <a:t>      </a:t>
              </a:r>
              <a:r>
                <a:rPr lang="en-US" altLang="ko-KR" sz="1000" b="1" dirty="0" err="1"/>
                <a:t>httpGet</a:t>
              </a:r>
              <a:r>
                <a:rPr lang="en-US" altLang="ko-KR" sz="1000" b="1" dirty="0"/>
                <a:t>:</a:t>
              </a:r>
            </a:p>
            <a:p>
              <a:r>
                <a:rPr lang="en-US" altLang="ko-KR" sz="1000" b="1" dirty="0"/>
                <a:t>        path: /</a:t>
              </a:r>
            </a:p>
            <a:p>
              <a:r>
                <a:rPr lang="en-US" altLang="ko-KR" sz="1000" b="1" dirty="0"/>
                <a:t>        port: 8080</a:t>
              </a:r>
            </a:p>
            <a:p>
              <a:r>
                <a:rPr lang="en-US" altLang="ko-KR" sz="1000" b="1" dirty="0">
                  <a:solidFill>
                    <a:srgbClr val="FF0000"/>
                  </a:solidFill>
                </a:rPr>
                <a:t>      </a:t>
              </a:r>
              <a:r>
                <a:rPr lang="en-US" altLang="ko-KR" sz="1000" b="1" dirty="0" err="1">
                  <a:solidFill>
                    <a:srgbClr val="FF0000"/>
                  </a:solidFill>
                </a:rPr>
                <a:t>initialDelaySeconds</a:t>
              </a:r>
              <a:r>
                <a:rPr lang="en-US" altLang="ko-KR" sz="1000" b="1" dirty="0">
                  <a:solidFill>
                    <a:srgbClr val="FF0000"/>
                  </a:solidFill>
                </a:rPr>
                <a:t>: 15</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7EBF523-D120-7C19-2ED1-0F1685DEB949}"/>
                </a:ext>
              </a:extLst>
            </p:cNvPr>
            <p:cNvSpPr txBox="1"/>
            <p:nvPr/>
          </p:nvSpPr>
          <p:spPr>
            <a:xfrm>
              <a:off x="7356988" y="1692700"/>
              <a:ext cx="1787669" cy="246221"/>
            </a:xfrm>
            <a:prstGeom prst="rect">
              <a:avLst/>
            </a:prstGeom>
            <a:noFill/>
          </p:spPr>
          <p:txBody>
            <a:bodyPr wrap="none" rtlCol="0">
              <a:spAutoFit/>
            </a:bodyPr>
            <a:lstStyle/>
            <a:p>
              <a:pPr algn="l"/>
              <a:r>
                <a:rPr lang="en-US" altLang="ko-KR" sz="1000" b="1" dirty="0" err="1"/>
                <a:t>kubia</a:t>
              </a:r>
              <a:r>
                <a:rPr lang="en-US" altLang="ko-KR" sz="1000" b="1" dirty="0"/>
                <a:t>-liveness-</a:t>
              </a:r>
              <a:r>
                <a:rPr lang="en-US" altLang="ko-KR" sz="1000" b="1" dirty="0" err="1"/>
                <a:t>probe.yaml</a:t>
              </a:r>
              <a:endParaRPr lang="ko-KR" altLang="en-US" sz="1000" b="1" dirty="0"/>
            </a:p>
          </p:txBody>
        </p:sp>
      </p:grpSp>
    </p:spTree>
    <p:extLst>
      <p:ext uri="{BB962C8B-B14F-4D97-AF65-F5344CB8AC3E}">
        <p14:creationId xmlns:p14="http://schemas.microsoft.com/office/powerpoint/2010/main" val="13755872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Effective Liveness Probes :</a:t>
            </a:r>
          </a:p>
          <a:p>
            <a:pPr lvl="1">
              <a:buFont typeface="Wingdings" panose="05000000000000000000" pitchFamily="2" charset="2"/>
              <a:buChar char="§"/>
            </a:pPr>
            <a:r>
              <a:rPr lang="en-US" altLang="ko-KR" sz="1400" b="1" dirty="0"/>
              <a:t>For pods running in production, you should always define a liveness probe</a:t>
            </a:r>
            <a:r>
              <a:rPr lang="en-US" altLang="ko-KR" sz="1400" dirty="0"/>
              <a:t>. Without one, Kubernetes has no way of knowing whether your app is still alive or not. As long as the process is still running, Kubernetes will consider the container to be healthy. </a:t>
            </a:r>
          </a:p>
          <a:p>
            <a:pPr lvl="1">
              <a:buFont typeface="Wingdings" panose="05000000000000000000" pitchFamily="2" charset="2"/>
              <a:buChar char="§"/>
            </a:pPr>
            <a:r>
              <a:rPr lang="en-US" altLang="ko-KR" sz="1400" b="1" dirty="0"/>
              <a:t>Your simplistic liveness probe simply checks if the server is responding</a:t>
            </a:r>
            <a:r>
              <a:rPr lang="en-US" altLang="ko-KR" sz="1400" dirty="0"/>
              <a:t>. While this may seem overly simple, even a liveness probe like this does wonders, because it causes the container to be restarted if the web server running within the container stops responding to HTTP requests. </a:t>
            </a:r>
            <a:r>
              <a:rPr lang="en-US" altLang="ko-KR" sz="1400" b="1" dirty="0"/>
              <a:t>Compared to having no liveness probe, this is a major improvement, and may be sufficient in most cases</a:t>
            </a:r>
            <a:r>
              <a:rPr lang="en-US" altLang="ko-KR" sz="1400" dirty="0"/>
              <a:t>.</a:t>
            </a:r>
          </a:p>
          <a:p>
            <a:pPr lvl="1">
              <a:buFont typeface="Wingdings" panose="05000000000000000000" pitchFamily="2" charset="2"/>
              <a:buChar char="§"/>
            </a:pPr>
            <a:r>
              <a:rPr lang="en-US" altLang="ko-KR" sz="1400" b="1" dirty="0"/>
              <a:t>For a better liveness check, you’d </a:t>
            </a:r>
            <a:r>
              <a:rPr lang="en-US" altLang="ko-KR" sz="1400" b="1" dirty="0">
                <a:solidFill>
                  <a:srgbClr val="FF0000"/>
                </a:solidFill>
              </a:rPr>
              <a:t>configure the probe to perform requests on a specific URL path </a:t>
            </a:r>
            <a:r>
              <a:rPr lang="en-US" altLang="ko-KR" sz="1400" b="1" dirty="0"/>
              <a:t>(“/health”, for example) and have the app perform an internal status check of all the vital components running inside the app to ensure none of them has died or is unresponsive</a:t>
            </a:r>
            <a:r>
              <a:rPr lang="en-US" altLang="ko-KR" sz="1400" dirty="0"/>
              <a:t>.</a:t>
            </a:r>
          </a:p>
          <a:p>
            <a:pPr lvl="1">
              <a:buFont typeface="Wingdings" panose="05000000000000000000" pitchFamily="2" charset="2"/>
              <a:buChar char="§"/>
            </a:pPr>
            <a:r>
              <a:rPr lang="en-US" altLang="ko-KR" sz="1400" b="1" dirty="0"/>
              <a:t>TIP : </a:t>
            </a:r>
            <a:r>
              <a:rPr lang="en-US" altLang="ko-KR" sz="1400" b="1" dirty="0">
                <a:solidFill>
                  <a:srgbClr val="FF0000"/>
                </a:solidFill>
              </a:rPr>
              <a:t>Make sure the “/health” HTTP endpoint doesn’t require authentication</a:t>
            </a:r>
            <a:r>
              <a:rPr lang="en-US" altLang="ko-KR" sz="1400" dirty="0"/>
              <a:t>; otherwise the probe will always fail, causing your container to be restarted indefinitely.</a:t>
            </a:r>
          </a:p>
          <a:p>
            <a:pPr lvl="1">
              <a:buFont typeface="Wingdings" panose="05000000000000000000" pitchFamily="2" charset="2"/>
              <a:buChar char="§"/>
            </a:pPr>
            <a:r>
              <a:rPr lang="en-US" altLang="ko-KR" sz="1400" b="1" dirty="0"/>
              <a:t>NOTE : Be sure to </a:t>
            </a:r>
            <a:r>
              <a:rPr lang="en-US" altLang="ko-KR" sz="1400" b="1" dirty="0">
                <a:solidFill>
                  <a:srgbClr val="FF0000"/>
                </a:solidFill>
              </a:rPr>
              <a:t>check only the internals of the app </a:t>
            </a:r>
            <a:r>
              <a:rPr lang="en-US" altLang="ko-KR" sz="1400" b="1" dirty="0"/>
              <a:t>and nothing influenced by an external factor</a:t>
            </a:r>
            <a:r>
              <a:rPr lang="en-US" altLang="ko-KR" sz="1400" dirty="0"/>
              <a:t>. For example, a frontend web server’s liveness probe shouldn’t return a failure when the server can’t connect to the backend database. If the underlying cause is in the database itself, restarting the web server container will not fix the problem. Because the liveness probe will fail again, you’ll end up with the container restarting repeatedly until the database becomes accessible again.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3ACFCE0-C334-888D-0F32-74FCEB8B526E}"/>
              </a:ext>
            </a:extLst>
          </p:cNvPr>
          <p:cNvPicPr>
            <a:picLocks noChangeAspect="1"/>
          </p:cNvPicPr>
          <p:nvPr/>
        </p:nvPicPr>
        <p:blipFill>
          <a:blip r:embed="rId2"/>
          <a:stretch>
            <a:fillRect/>
          </a:stretch>
        </p:blipFill>
        <p:spPr>
          <a:xfrm>
            <a:off x="7811814" y="4553704"/>
            <a:ext cx="3541986" cy="1855326"/>
          </a:xfrm>
          <a:prstGeom prst="rect">
            <a:avLst/>
          </a:prstGeom>
          <a:ln>
            <a:solidFill>
              <a:schemeClr val="bg1">
                <a:lumMod val="50000"/>
              </a:schemeClr>
            </a:solidFill>
          </a:ln>
        </p:spPr>
      </p:pic>
    </p:spTree>
    <p:extLst>
      <p:ext uri="{BB962C8B-B14F-4D97-AF65-F5344CB8AC3E}">
        <p14:creationId xmlns:p14="http://schemas.microsoft.com/office/powerpoint/2010/main" val="12613353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Keeping Probes Light :</a:t>
            </a:r>
          </a:p>
          <a:p>
            <a:pPr lvl="1">
              <a:buFont typeface="Wingdings" panose="05000000000000000000" pitchFamily="2" charset="2"/>
              <a:buChar char="§"/>
            </a:pPr>
            <a:r>
              <a:rPr lang="en-US" altLang="ko-KR" sz="1400" b="1" dirty="0"/>
              <a:t>Liveness probes shouldn’t use too many computational resources and shouldn’t take too long to complete</a:t>
            </a:r>
            <a:r>
              <a:rPr lang="en-US" altLang="ko-KR" sz="1400" dirty="0"/>
              <a:t>. By default, the probes are executed relatively often and are only allowed one second to complete. Having a probe that does heavy lifting can slow down your container considerably. The probe’s CPU time is counted in the container’s CPU time quota, so </a:t>
            </a:r>
            <a:r>
              <a:rPr lang="en-US" altLang="ko-KR" sz="1400" b="1" dirty="0"/>
              <a:t>having a heavyweight liveness probe will reduce the CPU time available to the main application processes.</a:t>
            </a:r>
          </a:p>
          <a:p>
            <a:pPr lvl="1">
              <a:buFont typeface="Wingdings" panose="05000000000000000000" pitchFamily="2" charset="2"/>
              <a:buChar char="§"/>
            </a:pPr>
            <a:r>
              <a:rPr lang="en-US" altLang="ko-KR" sz="1400" b="1" dirty="0"/>
              <a:t>TIP :  If you’re running a Java app in your container, be sure to use an HTTP GET liveness probe instead of an Exec probe</a:t>
            </a:r>
            <a:r>
              <a:rPr lang="en-US" altLang="ko-KR" sz="1400" dirty="0"/>
              <a:t>, where you spin up a whole new </a:t>
            </a:r>
            <a:r>
              <a:rPr lang="en-US" altLang="ko-KR" sz="1400" b="1" dirty="0"/>
              <a:t>JVM</a:t>
            </a:r>
            <a:r>
              <a:rPr lang="en-US" altLang="ko-KR" sz="1400" dirty="0"/>
              <a:t> to get the liveness information. The same goes for any JVM-based or similar applications, whose start-up procedure requires considerable computational resources.</a:t>
            </a:r>
          </a:p>
          <a:p>
            <a:pPr>
              <a:buFont typeface="Wingdings" panose="05000000000000000000" pitchFamily="2" charset="2"/>
              <a:buChar char="§"/>
            </a:pPr>
            <a:r>
              <a:rPr lang="en-US" altLang="ko-KR" sz="1800" b="1" dirty="0"/>
              <a:t>Don’t Bother Implementing Retry Loops in Your Probes : </a:t>
            </a:r>
          </a:p>
          <a:p>
            <a:pPr lvl="1">
              <a:buFont typeface="Wingdings" panose="05000000000000000000" pitchFamily="2" charset="2"/>
              <a:buChar char="§"/>
            </a:pPr>
            <a:r>
              <a:rPr lang="en-US" altLang="ko-KR" sz="1400" b="1" dirty="0"/>
              <a:t>The failure threshold for the probe is configurable and usually the probe must fail multiple times before the container is killed</a:t>
            </a:r>
            <a:r>
              <a:rPr lang="en-US" altLang="ko-KR" sz="1400" dirty="0"/>
              <a:t>. But even if you set the failure threshold to “1”, Kubernetes will retry the probe several times before considering it a single failed attempt. Therefore, </a:t>
            </a:r>
            <a:r>
              <a:rPr lang="en-US" altLang="ko-KR" sz="1400" b="1" dirty="0"/>
              <a:t>implementing your own retry loop into the probe is wasted effort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16EF59D-D865-8789-5AE5-BAA81EEA2E54}"/>
              </a:ext>
            </a:extLst>
          </p:cNvPr>
          <p:cNvPicPr>
            <a:picLocks noChangeAspect="1"/>
          </p:cNvPicPr>
          <p:nvPr/>
        </p:nvPicPr>
        <p:blipFill>
          <a:blip r:embed="rId2"/>
          <a:stretch>
            <a:fillRect/>
          </a:stretch>
        </p:blipFill>
        <p:spPr>
          <a:xfrm>
            <a:off x="3680589" y="3894695"/>
            <a:ext cx="4830821" cy="2514335"/>
          </a:xfrm>
          <a:prstGeom prst="rect">
            <a:avLst/>
          </a:prstGeom>
        </p:spPr>
      </p:pic>
    </p:spTree>
    <p:extLst>
      <p:ext uri="{BB962C8B-B14F-4D97-AF65-F5344CB8AC3E}">
        <p14:creationId xmlns:p14="http://schemas.microsoft.com/office/powerpoint/2010/main" val="6246949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Keeping Pods Healthy(10/10)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Wrap-Up :</a:t>
            </a:r>
          </a:p>
          <a:p>
            <a:pPr lvl="1">
              <a:buFont typeface="Wingdings" panose="05000000000000000000" pitchFamily="2" charset="2"/>
              <a:buChar char="§"/>
            </a:pPr>
            <a:r>
              <a:rPr lang="en-US" altLang="ko-KR" sz="1400" b="1" dirty="0"/>
              <a:t>You now understand that Kubernetes keeps your containers running by restarting them if they crash or if their liveness probes fail. This job is performed by the </a:t>
            </a:r>
            <a:r>
              <a:rPr lang="en-US" altLang="ko-KR" sz="1400" b="1" dirty="0" err="1">
                <a:solidFill>
                  <a:srgbClr val="FF0000"/>
                </a:solidFill>
              </a:rPr>
              <a:t>Kubelet</a:t>
            </a:r>
            <a:r>
              <a:rPr lang="en-US" altLang="ko-KR" sz="1400" b="1" dirty="0"/>
              <a:t> on the node hosting the pod</a:t>
            </a:r>
            <a:r>
              <a:rPr lang="en-US" altLang="ko-KR" sz="1400" dirty="0"/>
              <a:t>—</a:t>
            </a:r>
            <a:r>
              <a:rPr lang="en-US" altLang="ko-KR" sz="1400" b="1" dirty="0"/>
              <a:t>the “Kubernetes Control Plane” components running on the master(s) have no part in this process</a:t>
            </a:r>
            <a:r>
              <a:rPr lang="en-US" altLang="ko-KR" sz="1400" dirty="0"/>
              <a:t>.</a:t>
            </a:r>
          </a:p>
          <a:p>
            <a:pPr lvl="1">
              <a:buFont typeface="Wingdings" panose="05000000000000000000" pitchFamily="2" charset="2"/>
              <a:buChar char="§"/>
            </a:pPr>
            <a:r>
              <a:rPr lang="en-US" altLang="ko-KR" sz="1400" b="1" dirty="0"/>
              <a:t>If the node itself crashes, it’s the Control Plane that must create replacements for all the pods that went down with the node</a:t>
            </a:r>
            <a:r>
              <a:rPr lang="en-US" altLang="ko-KR" sz="1400" dirty="0"/>
              <a:t>. It doesn’t do that for pods that you create directly. </a:t>
            </a:r>
            <a:r>
              <a:rPr lang="en-US" altLang="ko-KR" sz="1400" b="1" dirty="0"/>
              <a:t>Those pods aren’t managed by anything except by the </a:t>
            </a:r>
            <a:r>
              <a:rPr lang="en-US" altLang="ko-KR" sz="1400" b="1" dirty="0" err="1"/>
              <a:t>Kubelet</a:t>
            </a:r>
            <a:r>
              <a:rPr lang="en-US" altLang="ko-KR" sz="1400" b="1" dirty="0"/>
              <a:t>, but because the </a:t>
            </a:r>
            <a:r>
              <a:rPr lang="en-US" altLang="ko-KR" sz="1400" b="1" dirty="0" err="1"/>
              <a:t>Kubelet</a:t>
            </a:r>
            <a:r>
              <a:rPr lang="en-US" altLang="ko-KR" sz="1400" b="1" dirty="0"/>
              <a:t> runs on the node itself, it can’t do anything if the node fails</a:t>
            </a:r>
            <a:r>
              <a:rPr lang="en-US" altLang="ko-KR" sz="1400" dirty="0"/>
              <a:t>.</a:t>
            </a:r>
          </a:p>
          <a:p>
            <a:pPr lvl="1">
              <a:buFont typeface="Wingdings" panose="05000000000000000000" pitchFamily="2" charset="2"/>
              <a:buChar char="§"/>
            </a:pPr>
            <a:r>
              <a:rPr lang="en-US" altLang="ko-KR" sz="1400" b="1" dirty="0"/>
              <a:t>To make sure your app is restarted on another node, you need to have the pod managed by a “</a:t>
            </a:r>
            <a:r>
              <a:rPr lang="en-US" altLang="ko-KR" sz="1400" b="1" dirty="0" err="1"/>
              <a:t>ReplicationController</a:t>
            </a:r>
            <a:r>
              <a:rPr lang="en-US" altLang="ko-KR" sz="1400" b="1" dirty="0"/>
              <a:t>” or similar mechanism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A072EEA-76FF-D111-53EC-E53D8495CEE4}"/>
              </a:ext>
            </a:extLst>
          </p:cNvPr>
          <p:cNvGrpSpPr/>
          <p:nvPr/>
        </p:nvGrpSpPr>
        <p:grpSpPr>
          <a:xfrm>
            <a:off x="3473669" y="3093783"/>
            <a:ext cx="5244662" cy="2950122"/>
            <a:chOff x="3473669" y="3093783"/>
            <a:chExt cx="5244662" cy="2950122"/>
          </a:xfrm>
        </p:grpSpPr>
        <p:pic>
          <p:nvPicPr>
            <p:cNvPr id="4" name="그림 3">
              <a:extLst>
                <a:ext uri="{FF2B5EF4-FFF2-40B4-BE49-F238E27FC236}">
                  <a16:creationId xmlns:a16="http://schemas.microsoft.com/office/drawing/2014/main" id="{FB0CAAA8-5B01-DE3F-4DCA-F536991282A7}"/>
                </a:ext>
              </a:extLst>
            </p:cNvPr>
            <p:cNvPicPr>
              <a:picLocks noChangeAspect="1"/>
            </p:cNvPicPr>
            <p:nvPr/>
          </p:nvPicPr>
          <p:blipFill>
            <a:blip r:embed="rId2"/>
            <a:stretch>
              <a:fillRect/>
            </a:stretch>
          </p:blipFill>
          <p:spPr>
            <a:xfrm>
              <a:off x="3473669" y="3093783"/>
              <a:ext cx="5244662" cy="2950122"/>
            </a:xfrm>
            <a:prstGeom prst="rect">
              <a:avLst/>
            </a:prstGeom>
          </p:spPr>
        </p:pic>
        <p:sp>
          <p:nvSpPr>
            <p:cNvPr id="8" name="직사각형 7">
              <a:extLst>
                <a:ext uri="{FF2B5EF4-FFF2-40B4-BE49-F238E27FC236}">
                  <a16:creationId xmlns:a16="http://schemas.microsoft.com/office/drawing/2014/main" id="{39F71CD2-2061-2E3E-0AF6-350DD4B8A9E5}"/>
                </a:ext>
              </a:extLst>
            </p:cNvPr>
            <p:cNvSpPr/>
            <p:nvPr/>
          </p:nvSpPr>
          <p:spPr>
            <a:xfrm>
              <a:off x="7204841" y="5525814"/>
              <a:ext cx="670035" cy="4414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41824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A </a:t>
            </a:r>
            <a:r>
              <a:rPr lang="en-US" altLang="ko-KR" sz="1400" b="1" dirty="0" err="1">
                <a:solidFill>
                  <a:srgbClr val="FF0000"/>
                </a:solidFill>
              </a:rPr>
              <a:t>ReplicationController</a:t>
            </a:r>
            <a:r>
              <a:rPr lang="en-US" altLang="ko-KR" sz="1400" b="1" dirty="0"/>
              <a:t> is a Kubernetes resource that ensures its pods are always kept running</a:t>
            </a:r>
            <a:r>
              <a:rPr lang="en-US" altLang="ko-KR" sz="1400" dirty="0"/>
              <a:t>. If the pod disappears for any reason, such as in the event of a node disappearing from the cluster or because the pod was evicted from the node</a:t>
            </a:r>
            <a:r>
              <a:rPr lang="en-US" altLang="ko-KR" sz="1400" b="1" dirty="0"/>
              <a:t>, the </a:t>
            </a:r>
            <a:r>
              <a:rPr lang="en-US" altLang="ko-KR" sz="1400" b="1" dirty="0" err="1"/>
              <a:t>ReplicationController</a:t>
            </a:r>
            <a:r>
              <a:rPr lang="en-US" altLang="ko-KR" sz="1400" b="1" dirty="0"/>
              <a:t> notices the missing pod and creates a replacement pod</a:t>
            </a:r>
            <a:r>
              <a:rPr lang="en-US" altLang="ko-KR" sz="1400" dirty="0"/>
              <a:t>.</a:t>
            </a:r>
          </a:p>
          <a:p>
            <a:pPr lvl="1">
              <a:buFont typeface="Wingdings" panose="05000000000000000000" pitchFamily="2" charset="2"/>
              <a:buChar char="§"/>
            </a:pPr>
            <a:r>
              <a:rPr lang="en-US" altLang="ko-KR" sz="1400" dirty="0"/>
              <a:t>In the following figure, </a:t>
            </a:r>
            <a:r>
              <a:rPr lang="en-US" altLang="ko-KR" sz="1400" b="1" dirty="0"/>
              <a:t>“pod A” was created directly and is therefore an unmanaged pod</a:t>
            </a:r>
            <a:r>
              <a:rPr lang="en-US" altLang="ko-KR" sz="1400" dirty="0"/>
              <a:t>, while </a:t>
            </a:r>
            <a:r>
              <a:rPr lang="en-US" altLang="ko-KR" sz="1400" b="1" dirty="0"/>
              <a:t>“pod B” is managed by a </a:t>
            </a:r>
            <a:r>
              <a:rPr lang="en-US" altLang="ko-KR" sz="1400" b="1" dirty="0" err="1"/>
              <a:t>ReplicationController</a:t>
            </a:r>
            <a:r>
              <a:rPr lang="en-US" altLang="ko-KR" sz="1400" dirty="0"/>
              <a:t>. After the node fails, the </a:t>
            </a:r>
            <a:r>
              <a:rPr lang="en-US" altLang="ko-KR" sz="1400" b="1" dirty="0" err="1"/>
              <a:t>ReplicationController</a:t>
            </a:r>
            <a:r>
              <a:rPr lang="en-US" altLang="ko-KR" sz="1400" dirty="0"/>
              <a:t> </a:t>
            </a:r>
            <a:r>
              <a:rPr lang="en-US" altLang="ko-KR" sz="1400" b="1" dirty="0"/>
              <a:t>creates a new pod (“pod B2”) to replace the missing “pod B”</a:t>
            </a:r>
            <a:r>
              <a:rPr lang="en-US" altLang="ko-KR" sz="1400" dirty="0"/>
              <a:t>, </a:t>
            </a:r>
            <a:r>
              <a:rPr lang="en-US" altLang="ko-KR" sz="1400" b="1" dirty="0"/>
              <a:t>whereas “pod A” is lost completely—nothing will ever recreate it</a:t>
            </a:r>
            <a:r>
              <a:rPr lang="en-US" altLang="ko-KR" sz="1400" dirty="0"/>
              <a:t>. The </a:t>
            </a:r>
            <a:r>
              <a:rPr lang="en-US" altLang="ko-KR" sz="1400" b="1" dirty="0" err="1"/>
              <a:t>ReplicationController</a:t>
            </a:r>
            <a:r>
              <a:rPr lang="en-US" altLang="ko-KR" sz="1400" dirty="0"/>
              <a:t> in the figure manages only a single pod, but </a:t>
            </a:r>
            <a:r>
              <a:rPr lang="en-US" altLang="ko-KR" sz="1400" b="1" dirty="0" err="1"/>
              <a:t>ReplicationControllers</a:t>
            </a:r>
            <a:r>
              <a:rPr lang="en-US" altLang="ko-KR" sz="1400" dirty="0"/>
              <a:t>, </a:t>
            </a:r>
            <a:r>
              <a:rPr lang="en-US" altLang="ko-KR" sz="1400" b="1" dirty="0"/>
              <a:t>in general, are meant to create and manage multiple copies (replicas) of a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43990D6-8E48-85B6-9882-4AE1CD464291}"/>
              </a:ext>
            </a:extLst>
          </p:cNvPr>
          <p:cNvPicPr>
            <a:picLocks noChangeAspect="1"/>
          </p:cNvPicPr>
          <p:nvPr/>
        </p:nvPicPr>
        <p:blipFill>
          <a:blip r:embed="rId2"/>
          <a:stretch>
            <a:fillRect/>
          </a:stretch>
        </p:blipFill>
        <p:spPr>
          <a:xfrm>
            <a:off x="3768107" y="2835986"/>
            <a:ext cx="4655785" cy="3573044"/>
          </a:xfrm>
          <a:prstGeom prst="rect">
            <a:avLst/>
          </a:prstGeom>
        </p:spPr>
      </p:pic>
    </p:spTree>
    <p:extLst>
      <p:ext uri="{BB962C8B-B14F-4D97-AF65-F5344CB8AC3E}">
        <p14:creationId xmlns:p14="http://schemas.microsoft.com/office/powerpoint/2010/main" val="37520796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Operation of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A </a:t>
            </a:r>
            <a:r>
              <a:rPr lang="en-US" altLang="ko-KR" sz="1400" b="1" dirty="0" err="1"/>
              <a:t>ReplicationController</a:t>
            </a:r>
            <a:r>
              <a:rPr lang="en-US" altLang="ko-KR" sz="1400" b="1" dirty="0"/>
              <a:t> constantly monitors the list of running pods and makes sure the actual number of pods of a “</a:t>
            </a:r>
            <a:r>
              <a:rPr lang="en-US" altLang="ko-KR" sz="1400" b="1" dirty="0">
                <a:solidFill>
                  <a:srgbClr val="FF0000"/>
                </a:solidFill>
              </a:rPr>
              <a:t>type</a:t>
            </a:r>
            <a:r>
              <a:rPr lang="en-US" altLang="ko-KR" sz="1400" b="1" dirty="0"/>
              <a:t>” always matches the </a:t>
            </a:r>
            <a:r>
              <a:rPr lang="en-US" altLang="ko-KR" sz="1400" b="1" dirty="0">
                <a:solidFill>
                  <a:srgbClr val="FF0000"/>
                </a:solidFill>
              </a:rPr>
              <a:t>desired</a:t>
            </a:r>
            <a:r>
              <a:rPr lang="en-US" altLang="ko-KR" sz="1400" b="1" dirty="0"/>
              <a:t> number</a:t>
            </a:r>
            <a:r>
              <a:rPr lang="en-US" altLang="ko-KR" sz="1400" dirty="0"/>
              <a:t>. If too few such pods are running, it creates new replicas from a pod template. If too many such pods are running, it removes the excess replicas.</a:t>
            </a:r>
          </a:p>
          <a:p>
            <a:pPr lvl="1">
              <a:buFont typeface="Wingdings" panose="05000000000000000000" pitchFamily="2" charset="2"/>
              <a:buChar char="§"/>
            </a:pPr>
            <a:r>
              <a:rPr lang="en-US" altLang="ko-KR" sz="1400" dirty="0"/>
              <a:t>You might be wondering how there can be more than the desired number of replicas. This can happen for a few reasons :</a:t>
            </a:r>
          </a:p>
          <a:p>
            <a:pPr lvl="2">
              <a:buFont typeface="Wingdings" panose="05000000000000000000" pitchFamily="2" charset="2"/>
              <a:buChar char="§"/>
            </a:pPr>
            <a:r>
              <a:rPr lang="en-US" altLang="ko-KR" sz="1400" b="1" dirty="0"/>
              <a:t>Someone creates a pod of the same type manually</a:t>
            </a:r>
            <a:r>
              <a:rPr lang="en-US" altLang="ko-KR" sz="1400" dirty="0"/>
              <a:t>.</a:t>
            </a:r>
          </a:p>
          <a:p>
            <a:pPr lvl="2">
              <a:buFont typeface="Wingdings" panose="05000000000000000000" pitchFamily="2" charset="2"/>
              <a:buChar char="§"/>
            </a:pPr>
            <a:r>
              <a:rPr lang="en-US" altLang="ko-KR" sz="1400" b="1" dirty="0"/>
              <a:t>Someone changes an existing pod’s “type.”</a:t>
            </a:r>
          </a:p>
          <a:p>
            <a:pPr lvl="2">
              <a:buFont typeface="Wingdings" panose="05000000000000000000" pitchFamily="2" charset="2"/>
              <a:buChar char="§"/>
            </a:pPr>
            <a:r>
              <a:rPr lang="en-US" altLang="ko-KR" sz="1400" b="1" dirty="0"/>
              <a:t>Someone decreases the desired number of pods, and so on</a:t>
            </a:r>
            <a:r>
              <a:rPr lang="en-US" altLang="ko-KR" sz="1400" dirty="0"/>
              <a:t>.</a:t>
            </a:r>
          </a:p>
          <a:p>
            <a:pPr lvl="1">
              <a:buFont typeface="Wingdings" panose="05000000000000000000" pitchFamily="2" charset="2"/>
              <a:buChar char="§"/>
            </a:pPr>
            <a:r>
              <a:rPr lang="en-US" altLang="ko-KR" sz="1400" b="1" dirty="0" err="1"/>
              <a:t>ReplicationControllers</a:t>
            </a:r>
            <a:r>
              <a:rPr lang="en-US" altLang="ko-KR" sz="1400" b="1" dirty="0"/>
              <a:t> don’t operate on pod types, but </a:t>
            </a:r>
            <a:r>
              <a:rPr lang="en-US" altLang="ko-KR" sz="1400" b="1" dirty="0">
                <a:solidFill>
                  <a:srgbClr val="FF0000"/>
                </a:solidFill>
              </a:rPr>
              <a:t>on sets of pods </a:t>
            </a:r>
            <a:r>
              <a:rPr lang="en-US" altLang="ko-KR" sz="1400" b="1" dirty="0"/>
              <a:t>that match a certain label selector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62580F4-EE06-787C-E6AA-0023D6A3309F}"/>
              </a:ext>
            </a:extLst>
          </p:cNvPr>
          <p:cNvGrpSpPr/>
          <p:nvPr/>
        </p:nvGrpSpPr>
        <p:grpSpPr>
          <a:xfrm>
            <a:off x="3442095" y="3445572"/>
            <a:ext cx="5307809" cy="2963458"/>
            <a:chOff x="3442095" y="3445572"/>
            <a:chExt cx="5307809" cy="2963458"/>
          </a:xfrm>
        </p:grpSpPr>
        <p:pic>
          <p:nvPicPr>
            <p:cNvPr id="8" name="그림 7">
              <a:extLst>
                <a:ext uri="{FF2B5EF4-FFF2-40B4-BE49-F238E27FC236}">
                  <a16:creationId xmlns:a16="http://schemas.microsoft.com/office/drawing/2014/main" id="{8EF80226-2084-DA2C-39A1-ED709E75C972}"/>
                </a:ext>
              </a:extLst>
            </p:cNvPr>
            <p:cNvPicPr>
              <a:picLocks noChangeAspect="1"/>
            </p:cNvPicPr>
            <p:nvPr/>
          </p:nvPicPr>
          <p:blipFill>
            <a:blip r:embed="rId2"/>
            <a:stretch>
              <a:fillRect/>
            </a:stretch>
          </p:blipFill>
          <p:spPr>
            <a:xfrm>
              <a:off x="3442095" y="3445572"/>
              <a:ext cx="5307809" cy="2963458"/>
            </a:xfrm>
            <a:prstGeom prst="rect">
              <a:avLst/>
            </a:prstGeom>
          </p:spPr>
        </p:pic>
        <p:sp>
          <p:nvSpPr>
            <p:cNvPr id="9" name="직사각형 8">
              <a:extLst>
                <a:ext uri="{FF2B5EF4-FFF2-40B4-BE49-F238E27FC236}">
                  <a16:creationId xmlns:a16="http://schemas.microsoft.com/office/drawing/2014/main" id="{3273B85F-865C-6D62-1C52-24C50D3AC8AA}"/>
                </a:ext>
              </a:extLst>
            </p:cNvPr>
            <p:cNvSpPr/>
            <p:nvPr/>
          </p:nvSpPr>
          <p:spPr>
            <a:xfrm>
              <a:off x="4091151" y="3949262"/>
              <a:ext cx="819807" cy="3626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48416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Controller’s Reconciliation Loop :</a:t>
            </a:r>
          </a:p>
          <a:p>
            <a:pPr lvl="1">
              <a:buFont typeface="Wingdings" panose="05000000000000000000" pitchFamily="2" charset="2"/>
              <a:buChar char="§"/>
            </a:pPr>
            <a:r>
              <a:rPr lang="en-US" altLang="ko-KR" sz="1400" b="1" dirty="0"/>
              <a:t>A </a:t>
            </a:r>
            <a:r>
              <a:rPr lang="en-US" altLang="ko-KR" sz="1400" b="1" dirty="0" err="1"/>
              <a:t>ReplicationController’s</a:t>
            </a:r>
            <a:r>
              <a:rPr lang="en-US" altLang="ko-KR" sz="1400" b="1" dirty="0"/>
              <a:t> job is to make sure that an exact number of pods always matches its label selector</a:t>
            </a:r>
            <a:r>
              <a:rPr lang="en-US" altLang="ko-KR" sz="1400" dirty="0"/>
              <a:t>. If it doesn’t, the </a:t>
            </a:r>
            <a:r>
              <a:rPr lang="en-US" altLang="ko-KR" sz="1400" b="1" dirty="0" err="1"/>
              <a:t>ReplicationController</a:t>
            </a:r>
            <a:r>
              <a:rPr lang="en-US" altLang="ko-KR" sz="1400" dirty="0"/>
              <a:t> takes the appropriate action to </a:t>
            </a:r>
            <a:r>
              <a:rPr lang="en-US" altLang="ko-KR" sz="1400" b="1" dirty="0">
                <a:solidFill>
                  <a:srgbClr val="FF0000"/>
                </a:solidFill>
              </a:rPr>
              <a:t>reconcile</a:t>
            </a:r>
            <a:r>
              <a:rPr lang="en-US" altLang="ko-KR" sz="1400" b="1" dirty="0"/>
              <a:t> the actual with the desired number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7E8E16E-552F-3790-D51E-DBDACE413252}"/>
              </a:ext>
            </a:extLst>
          </p:cNvPr>
          <p:cNvPicPr>
            <a:picLocks noChangeAspect="1"/>
          </p:cNvPicPr>
          <p:nvPr/>
        </p:nvPicPr>
        <p:blipFill>
          <a:blip r:embed="rId2"/>
          <a:stretch>
            <a:fillRect/>
          </a:stretch>
        </p:blipFill>
        <p:spPr>
          <a:xfrm>
            <a:off x="3690937" y="1900237"/>
            <a:ext cx="4810125" cy="3057525"/>
          </a:xfrm>
          <a:prstGeom prst="rect">
            <a:avLst/>
          </a:prstGeom>
        </p:spPr>
      </p:pic>
    </p:spTree>
    <p:extLst>
      <p:ext uri="{BB962C8B-B14F-4D97-AF65-F5344CB8AC3E}">
        <p14:creationId xmlns:p14="http://schemas.microsoft.com/office/powerpoint/2010/main" val="16714457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Three Parts of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dirty="0"/>
              <a:t>A </a:t>
            </a:r>
            <a:r>
              <a:rPr lang="en-US" altLang="ko-KR" sz="1400" b="1" dirty="0" err="1"/>
              <a:t>ReplicationController</a:t>
            </a:r>
            <a:r>
              <a:rPr lang="en-US" altLang="ko-KR" sz="1400" dirty="0"/>
              <a:t> has </a:t>
            </a:r>
            <a:r>
              <a:rPr lang="en-US" altLang="ko-KR" sz="1400" b="1" dirty="0"/>
              <a:t>three essential parts </a:t>
            </a:r>
            <a:r>
              <a:rPr lang="en-US" altLang="ko-KR" sz="1400" dirty="0"/>
              <a:t>as shown in the following figure :</a:t>
            </a:r>
          </a:p>
          <a:p>
            <a:pPr lvl="2">
              <a:buFont typeface="Wingdings" panose="05000000000000000000" pitchFamily="2" charset="2"/>
              <a:buChar char="§"/>
            </a:pPr>
            <a:r>
              <a:rPr lang="en-US" altLang="ko-KR" sz="1400" b="1" dirty="0">
                <a:solidFill>
                  <a:srgbClr val="FF0000"/>
                </a:solidFill>
              </a:rPr>
              <a:t>A label selector</a:t>
            </a:r>
            <a:r>
              <a:rPr lang="en-US" altLang="ko-KR" sz="1400" dirty="0"/>
              <a:t>, which determines </a:t>
            </a:r>
            <a:r>
              <a:rPr lang="en-US" altLang="ko-KR" sz="1400" b="1" dirty="0"/>
              <a:t>what pods are in the </a:t>
            </a:r>
            <a:r>
              <a:rPr lang="en-US" altLang="ko-KR" sz="1400" b="1" dirty="0" err="1"/>
              <a:t>ReplicationController’s</a:t>
            </a:r>
            <a:r>
              <a:rPr lang="en-US" altLang="ko-KR" sz="1400" b="1" dirty="0"/>
              <a:t> scope</a:t>
            </a:r>
            <a:r>
              <a:rPr lang="en-US" altLang="ko-KR" sz="1400" dirty="0"/>
              <a:t>.</a:t>
            </a:r>
          </a:p>
          <a:p>
            <a:pPr lvl="2">
              <a:buFont typeface="Wingdings" panose="05000000000000000000" pitchFamily="2" charset="2"/>
              <a:buChar char="§"/>
            </a:pPr>
            <a:r>
              <a:rPr lang="en-US" altLang="ko-KR" sz="1400" b="1" dirty="0">
                <a:solidFill>
                  <a:srgbClr val="FF0000"/>
                </a:solidFill>
              </a:rPr>
              <a:t>A replica count</a:t>
            </a:r>
            <a:r>
              <a:rPr lang="en-US" altLang="ko-KR" sz="1400" dirty="0"/>
              <a:t>, which specifies </a:t>
            </a:r>
            <a:r>
              <a:rPr lang="en-US" altLang="ko-KR" sz="1400" b="1" dirty="0"/>
              <a:t>the desired number of pods </a:t>
            </a:r>
            <a:r>
              <a:rPr lang="en-US" altLang="ko-KR" sz="1400" dirty="0"/>
              <a:t>that should be running.</a:t>
            </a:r>
          </a:p>
          <a:p>
            <a:pPr lvl="2">
              <a:buFont typeface="Wingdings" panose="05000000000000000000" pitchFamily="2" charset="2"/>
              <a:buChar char="§"/>
            </a:pPr>
            <a:r>
              <a:rPr lang="en-US" altLang="ko-KR" sz="1400" b="1" dirty="0">
                <a:solidFill>
                  <a:srgbClr val="FF0000"/>
                </a:solidFill>
              </a:rPr>
              <a:t>A pod template</a:t>
            </a:r>
            <a:r>
              <a:rPr lang="en-US" altLang="ko-KR" sz="1400" dirty="0"/>
              <a:t>, which is used </a:t>
            </a:r>
            <a:r>
              <a:rPr lang="en-US" altLang="ko-KR" sz="1400" b="1" dirty="0"/>
              <a:t>when creating new pod replicas</a:t>
            </a:r>
            <a:r>
              <a:rPr lang="en-US" altLang="ko-KR" sz="1400" dirty="0"/>
              <a:t>.</a:t>
            </a:r>
          </a:p>
          <a:p>
            <a:pPr lvl="1">
              <a:buFont typeface="Wingdings" panose="05000000000000000000" pitchFamily="2" charset="2"/>
              <a:buChar char="§"/>
            </a:pPr>
            <a:r>
              <a:rPr lang="en-US" altLang="ko-KR" sz="1400" b="1" dirty="0"/>
              <a:t>A </a:t>
            </a:r>
            <a:r>
              <a:rPr lang="en-US" altLang="ko-KR" sz="1400" b="1" dirty="0" err="1"/>
              <a:t>ReplicationController’s</a:t>
            </a:r>
            <a:r>
              <a:rPr lang="en-US" altLang="ko-KR" sz="1400" b="1" dirty="0"/>
              <a:t> replica count, the label selector, and even the pod template can all be modified at any time, but only changes to the </a:t>
            </a:r>
            <a:r>
              <a:rPr lang="en-US" altLang="ko-KR" sz="1400" b="1" dirty="0">
                <a:solidFill>
                  <a:srgbClr val="FF0000"/>
                </a:solidFill>
              </a:rPr>
              <a:t>replica count</a:t>
            </a:r>
            <a:r>
              <a:rPr lang="en-US" altLang="ko-KR" sz="1400" b="1" dirty="0"/>
              <a:t> affect existing pods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Changes to the label selector and the pod template have no effect on existing pods</a:t>
            </a:r>
            <a:r>
              <a:rPr lang="en-US" altLang="ko-KR" sz="1400" dirty="0"/>
              <a:t>. </a:t>
            </a:r>
            <a:r>
              <a:rPr lang="en-US" altLang="ko-KR" sz="1400" b="1" dirty="0"/>
              <a:t>Changing the label selector makes the existing pods fall out of the scope of the </a:t>
            </a:r>
            <a:r>
              <a:rPr lang="en-US" altLang="ko-KR" sz="1400" b="1" dirty="0" err="1"/>
              <a:t>ReplicationController</a:t>
            </a:r>
            <a:r>
              <a:rPr lang="en-US" altLang="ko-KR" sz="1400" dirty="0"/>
              <a:t>, so the controller stops caring about them. </a:t>
            </a:r>
            <a:r>
              <a:rPr lang="en-US" altLang="ko-KR" sz="1400" b="1" dirty="0" err="1"/>
              <a:t>ReplicationControllers</a:t>
            </a:r>
            <a:r>
              <a:rPr lang="en-US" altLang="ko-KR" sz="1400" b="1" dirty="0"/>
              <a:t> also don’t care about the actual “contents” of its pods </a:t>
            </a:r>
            <a:r>
              <a:rPr lang="en-US" altLang="ko-KR" sz="1400" dirty="0"/>
              <a:t>(the container images, environment variables, and other things) after they create the pod. </a:t>
            </a:r>
            <a:r>
              <a:rPr lang="en-US" altLang="ko-KR" sz="1400" b="1" dirty="0"/>
              <a:t>The template therefore only affects new pods created by this </a:t>
            </a:r>
            <a:r>
              <a:rPr lang="en-US" altLang="ko-KR" sz="1400" b="1" dirty="0" err="1"/>
              <a:t>ReplicationController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620B89D-1B38-4575-7510-4CB27D63B4A5}"/>
              </a:ext>
            </a:extLst>
          </p:cNvPr>
          <p:cNvPicPr>
            <a:picLocks noChangeAspect="1"/>
          </p:cNvPicPr>
          <p:nvPr/>
        </p:nvPicPr>
        <p:blipFill>
          <a:blip r:embed="rId2"/>
          <a:stretch>
            <a:fillRect/>
          </a:stretch>
        </p:blipFill>
        <p:spPr>
          <a:xfrm>
            <a:off x="4975122" y="2736311"/>
            <a:ext cx="2241755" cy="1710813"/>
          </a:xfrm>
          <a:prstGeom prst="rect">
            <a:avLst/>
          </a:prstGeom>
        </p:spPr>
      </p:pic>
    </p:spTree>
    <p:extLst>
      <p:ext uri="{BB962C8B-B14F-4D97-AF65-F5344CB8AC3E}">
        <p14:creationId xmlns:p14="http://schemas.microsoft.com/office/powerpoint/2010/main" val="33339852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Benefits of Using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dirty="0"/>
              <a:t>Like many things in Kubernetes, a </a:t>
            </a:r>
            <a:r>
              <a:rPr lang="en-US" altLang="ko-KR" sz="1400" b="1" dirty="0" err="1"/>
              <a:t>ReplicationController</a:t>
            </a:r>
            <a:r>
              <a:rPr lang="en-US" altLang="ko-KR" sz="1400" dirty="0"/>
              <a:t>, although an incredibly simple concept, provides or enables the following powerful features :</a:t>
            </a:r>
          </a:p>
          <a:p>
            <a:pPr lvl="2">
              <a:buFont typeface="Wingdings" panose="05000000000000000000" pitchFamily="2" charset="2"/>
              <a:buChar char="§"/>
            </a:pPr>
            <a:r>
              <a:rPr lang="en-US" altLang="ko-KR" sz="1400" b="1" dirty="0"/>
              <a:t>It makes sure a pod (or multiple pod replicas) is always running </a:t>
            </a:r>
            <a:r>
              <a:rPr lang="en-US" altLang="ko-KR" sz="1400" dirty="0"/>
              <a:t>by starting a new pod when an existing one goes missing. </a:t>
            </a:r>
          </a:p>
          <a:p>
            <a:pPr lvl="2">
              <a:buFont typeface="Wingdings" panose="05000000000000000000" pitchFamily="2" charset="2"/>
              <a:buChar char="§"/>
            </a:pPr>
            <a:r>
              <a:rPr lang="en-US" altLang="ko-KR" sz="1400" b="1" dirty="0"/>
              <a:t>When a cluster node fails, it creates replacement replicas for all the pods </a:t>
            </a:r>
            <a:r>
              <a:rPr lang="en-US" altLang="ko-KR" sz="1400" dirty="0"/>
              <a:t>that were running on the failed node those that were </a:t>
            </a:r>
            <a:r>
              <a:rPr lang="en-US" altLang="ko-KR" sz="1400" b="1" dirty="0"/>
              <a:t>under the </a:t>
            </a:r>
            <a:r>
              <a:rPr lang="en-US" altLang="ko-KR" sz="1400" b="1" dirty="0" err="1"/>
              <a:t>ReplicationController’s</a:t>
            </a:r>
            <a:r>
              <a:rPr lang="en-US" altLang="ko-KR" sz="1400" b="1" dirty="0"/>
              <a:t> control</a:t>
            </a:r>
            <a:r>
              <a:rPr lang="en-US" altLang="ko-KR" sz="1400" dirty="0"/>
              <a:t>).</a:t>
            </a:r>
          </a:p>
          <a:p>
            <a:pPr lvl="2">
              <a:buFont typeface="Wingdings" panose="05000000000000000000" pitchFamily="2" charset="2"/>
              <a:buChar char="§"/>
            </a:pPr>
            <a:r>
              <a:rPr lang="en-US" altLang="ko-KR" sz="1400" b="1" dirty="0"/>
              <a:t>It enables easy </a:t>
            </a:r>
            <a:r>
              <a:rPr lang="en-US" altLang="ko-KR" sz="1400" b="1" dirty="0">
                <a:solidFill>
                  <a:srgbClr val="FF0000"/>
                </a:solidFill>
              </a:rPr>
              <a:t>horizontal scaling </a:t>
            </a:r>
            <a:r>
              <a:rPr lang="en-US" altLang="ko-KR" sz="1400" b="1" dirty="0"/>
              <a:t>of pods</a:t>
            </a:r>
            <a:r>
              <a:rPr lang="en-US" altLang="ko-KR" sz="1400" dirty="0"/>
              <a:t>—both manual and automatic.</a:t>
            </a:r>
          </a:p>
          <a:p>
            <a:pPr lvl="1">
              <a:buFont typeface="Wingdings" panose="05000000000000000000" pitchFamily="2" charset="2"/>
              <a:buChar char="§"/>
            </a:pPr>
            <a:r>
              <a:rPr lang="en-US" altLang="ko-KR" sz="1400" b="1" dirty="0"/>
              <a:t>NOTE : </a:t>
            </a:r>
            <a:r>
              <a:rPr lang="en-US" altLang="ko-KR" sz="1400" b="1" dirty="0">
                <a:solidFill>
                  <a:srgbClr val="FF0000"/>
                </a:solidFill>
              </a:rPr>
              <a:t>A pod instance is never relocated to another node</a:t>
            </a:r>
            <a:r>
              <a:rPr lang="en-US" altLang="ko-KR" sz="1400" dirty="0"/>
              <a:t>. </a:t>
            </a:r>
            <a:r>
              <a:rPr lang="en-US" altLang="ko-KR" sz="1400" b="1" dirty="0"/>
              <a:t>Instead, the </a:t>
            </a:r>
            <a:r>
              <a:rPr lang="en-US" altLang="ko-KR" sz="1400" b="1" dirty="0" err="1"/>
              <a:t>ReplicationController</a:t>
            </a:r>
            <a:r>
              <a:rPr lang="en-US" altLang="ko-KR" sz="1400" b="1" dirty="0"/>
              <a:t> creates a </a:t>
            </a:r>
            <a:r>
              <a:rPr lang="en-US" altLang="ko-KR" sz="1400" b="1" dirty="0">
                <a:solidFill>
                  <a:srgbClr val="FF0000"/>
                </a:solidFill>
              </a:rPr>
              <a:t>completely new pod instance </a:t>
            </a:r>
            <a:r>
              <a:rPr lang="en-US" altLang="ko-KR" sz="1400" b="1" dirty="0"/>
              <a:t>that has no relation to the instance it’s replacing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2E863E9-3773-AC73-0F1D-B0D212AA6718}"/>
              </a:ext>
            </a:extLst>
          </p:cNvPr>
          <p:cNvPicPr>
            <a:picLocks noChangeAspect="1"/>
          </p:cNvPicPr>
          <p:nvPr/>
        </p:nvPicPr>
        <p:blipFill>
          <a:blip r:embed="rId2"/>
          <a:stretch>
            <a:fillRect/>
          </a:stretch>
        </p:blipFill>
        <p:spPr>
          <a:xfrm>
            <a:off x="2993313" y="3591718"/>
            <a:ext cx="6205373" cy="2301629"/>
          </a:xfrm>
          <a:prstGeom prst="rect">
            <a:avLst/>
          </a:prstGeom>
        </p:spPr>
      </p:pic>
    </p:spTree>
    <p:extLst>
      <p:ext uri="{BB962C8B-B14F-4D97-AF65-F5344CB8AC3E}">
        <p14:creationId xmlns:p14="http://schemas.microsoft.com/office/powerpoint/2010/main" val="25898159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Like pods and other Kubernetes resources, you create a </a:t>
            </a:r>
            <a:r>
              <a:rPr lang="en-US" altLang="ko-KR" sz="1400" b="1" dirty="0" err="1"/>
              <a:t>ReplicationController</a:t>
            </a:r>
            <a:r>
              <a:rPr lang="en-US" altLang="ko-KR" sz="1400" b="1" dirty="0"/>
              <a:t> by posting a JSON or YAML descriptor to the Kubernetes API server</a:t>
            </a:r>
            <a:r>
              <a:rPr lang="en-US" altLang="ko-KR" sz="1400" dirty="0"/>
              <a:t>. You’re going to create a YAML file called “</a:t>
            </a:r>
            <a:r>
              <a:rPr lang="en-US" altLang="ko-KR" sz="1400" b="1" dirty="0" err="1"/>
              <a:t>kubia-rc.yaml</a:t>
            </a:r>
            <a:r>
              <a:rPr lang="en-US" altLang="ko-KR" sz="1400" dirty="0"/>
              <a:t>” for your </a:t>
            </a:r>
            <a:r>
              <a:rPr lang="en-US" altLang="ko-KR" sz="1400" b="1" dirty="0" err="1"/>
              <a:t>ReplicationController</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you post the file to the API server, Kubernetes creates a new </a:t>
            </a:r>
            <a:r>
              <a:rPr lang="en-US" altLang="ko-KR" sz="1400" b="1" dirty="0" err="1"/>
              <a:t>ReplicationController</a:t>
            </a:r>
            <a:r>
              <a:rPr lang="en-US" altLang="ko-KR" sz="1400" b="1" dirty="0"/>
              <a:t> named “</a:t>
            </a:r>
            <a:r>
              <a:rPr lang="en-US" altLang="ko-KR" sz="1400" b="1" dirty="0" err="1"/>
              <a:t>kubia</a:t>
            </a:r>
            <a:r>
              <a:rPr lang="en-US" altLang="ko-KR" sz="1400" b="1" dirty="0"/>
              <a:t>”, which makes sure three pod instances always match the label selector “app=</a:t>
            </a:r>
            <a:r>
              <a:rPr lang="en-US" altLang="ko-KR" sz="1400" b="1" dirty="0" err="1"/>
              <a:t>kubia</a:t>
            </a:r>
            <a:r>
              <a:rPr lang="en-US" altLang="ko-KR" sz="1400" b="1" dirty="0"/>
              <a:t>”</a:t>
            </a:r>
            <a:r>
              <a:rPr lang="en-US" altLang="ko-KR" sz="1400" dirty="0"/>
              <a:t>. When there aren’t enough pods, new pods will be created from </a:t>
            </a:r>
            <a:r>
              <a:rPr lang="en-US" altLang="ko-KR" sz="1400" b="1" dirty="0"/>
              <a:t>the provided pod template</a:t>
            </a:r>
            <a:r>
              <a:rPr lang="en-US" altLang="ko-KR" sz="1400" dirty="0"/>
              <a:t>. The contents of the template are almost identical to the pod definition you created in the previous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F584FBF-626F-4634-D9A1-6D3E28616728}"/>
              </a:ext>
            </a:extLst>
          </p:cNvPr>
          <p:cNvGrpSpPr/>
          <p:nvPr/>
        </p:nvGrpSpPr>
        <p:grpSpPr>
          <a:xfrm>
            <a:off x="3047343" y="2071321"/>
            <a:ext cx="6097314" cy="2862322"/>
            <a:chOff x="3047343" y="1843950"/>
            <a:chExt cx="6097314" cy="2862322"/>
          </a:xfrm>
        </p:grpSpPr>
        <p:sp>
          <p:nvSpPr>
            <p:cNvPr id="8" name="TextBox 7">
              <a:extLst>
                <a:ext uri="{FF2B5EF4-FFF2-40B4-BE49-F238E27FC236}">
                  <a16:creationId xmlns:a16="http://schemas.microsoft.com/office/drawing/2014/main" id="{3400E563-82A0-E769-3C9D-48F7E44D9596}"/>
                </a:ext>
              </a:extLst>
            </p:cNvPr>
            <p:cNvSpPr txBox="1"/>
            <p:nvPr/>
          </p:nvSpPr>
          <p:spPr>
            <a:xfrm>
              <a:off x="3047343" y="1843950"/>
              <a:ext cx="6097314"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ReplicationController</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replicas: </a:t>
              </a:r>
              <a:r>
                <a:rPr lang="en-US" altLang="ko-KR" sz="1000" b="1" dirty="0">
                  <a:solidFill>
                    <a:srgbClr val="FF0000"/>
                  </a:solidFill>
                </a:rPr>
                <a:t>3</a:t>
              </a:r>
            </a:p>
            <a:p>
              <a:r>
                <a:rPr lang="en-US" altLang="ko-KR" sz="1000" b="1" dirty="0"/>
                <a:t>  selector:</a:t>
              </a:r>
            </a:p>
            <a:p>
              <a:r>
                <a:rPr lang="en-US" altLang="ko-KR" sz="1000" b="1" dirty="0"/>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name: </a:t>
              </a:r>
              <a:r>
                <a:rPr lang="en-US" altLang="ko-KR" sz="1000" b="1" dirty="0" err="1">
                  <a:solidFill>
                    <a:srgbClr val="FF0000"/>
                  </a:solidFill>
                </a:rPr>
                <a:t>kubia</a:t>
              </a:r>
              <a:endParaRPr lang="en-US" altLang="ko-KR" sz="1000" b="1" dirty="0">
                <a:solidFill>
                  <a:srgbClr val="FF0000"/>
                </a:solidFill>
              </a:endParaRPr>
            </a:p>
            <a:p>
              <a:r>
                <a:rPr lang="en-US" altLang="ko-KR" sz="1000" b="1" dirty="0"/>
                <a:t>        image: </a:t>
              </a:r>
              <a:r>
                <a:rPr lang="en-US" altLang="ko-KR" sz="1000" b="1" dirty="0">
                  <a:solidFill>
                    <a:srgbClr val="FF0000"/>
                  </a:solidFill>
                </a:rPr>
                <a:t>knix008/</a:t>
              </a:r>
              <a:r>
                <a:rPr lang="en-US" altLang="ko-KR" sz="1000" b="1" dirty="0" err="1">
                  <a:solidFill>
                    <a:srgbClr val="FF0000"/>
                  </a:solidFill>
                </a:rPr>
                <a:t>kubia</a:t>
              </a:r>
              <a:endParaRPr lang="en-US" altLang="ko-KR" sz="1000" b="1" dirty="0">
                <a:solidFill>
                  <a:srgbClr val="FF0000"/>
                </a:solidFill>
              </a:endParaRPr>
            </a:p>
            <a:p>
              <a:r>
                <a:rPr lang="en-US" altLang="ko-KR" sz="1000" b="1" dirty="0"/>
                <a:t>        ports:</a:t>
              </a:r>
            </a:p>
            <a:p>
              <a:r>
                <a:rPr lang="en-US" altLang="ko-KR" sz="1000" b="1" dirty="0"/>
                <a:t>        - </a:t>
              </a:r>
              <a:r>
                <a:rPr lang="en-US" altLang="ko-KR" sz="1000" b="1" dirty="0" err="1">
                  <a:solidFill>
                    <a:srgbClr val="FF0000"/>
                  </a:solidFill>
                </a:rPr>
                <a:t>containerPort</a:t>
              </a:r>
              <a:r>
                <a:rPr lang="en-US" altLang="ko-KR" sz="1000" b="1" dirty="0">
                  <a:solidFill>
                    <a:srgbClr val="FF0000"/>
                  </a:solidFill>
                </a:rPr>
                <a:t>: 8080</a:t>
              </a:r>
            </a:p>
          </p:txBody>
        </p:sp>
        <p:sp>
          <p:nvSpPr>
            <p:cNvPr id="9" name="TextBox 8">
              <a:extLst>
                <a:ext uri="{FF2B5EF4-FFF2-40B4-BE49-F238E27FC236}">
                  <a16:creationId xmlns:a16="http://schemas.microsoft.com/office/drawing/2014/main" id="{44CC4F5E-6B65-DF39-93B5-E1D2D300DF79}"/>
                </a:ext>
              </a:extLst>
            </p:cNvPr>
            <p:cNvSpPr txBox="1"/>
            <p:nvPr/>
          </p:nvSpPr>
          <p:spPr>
            <a:xfrm>
              <a:off x="8136048" y="1843950"/>
              <a:ext cx="1008609" cy="246221"/>
            </a:xfrm>
            <a:prstGeom prst="rect">
              <a:avLst/>
            </a:prstGeom>
            <a:noFill/>
          </p:spPr>
          <p:txBody>
            <a:bodyPr wrap="none" rtlCol="0">
              <a:spAutoFit/>
            </a:bodyPr>
            <a:lstStyle/>
            <a:p>
              <a:pPr algn="l"/>
              <a:r>
                <a:rPr lang="en-US" altLang="ko-KR" sz="1000" b="1" dirty="0" err="1"/>
                <a:t>kubia-rc.yaml</a:t>
              </a:r>
              <a:endParaRPr lang="ko-KR" altLang="en-US" sz="1000" b="1" dirty="0"/>
            </a:p>
          </p:txBody>
        </p:sp>
      </p:grpSp>
    </p:spTree>
    <p:extLst>
      <p:ext uri="{BB962C8B-B14F-4D97-AF65-F5344CB8AC3E}">
        <p14:creationId xmlns:p14="http://schemas.microsoft.com/office/powerpoint/2010/main" val="9521684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The pod labels in the template must obviously match the label selector of the </a:t>
            </a:r>
            <a:r>
              <a:rPr lang="en-US" altLang="ko-KR" sz="1400" b="1" dirty="0" err="1"/>
              <a:t>ReplicationController</a:t>
            </a:r>
            <a:r>
              <a:rPr lang="en-US" altLang="ko-KR" sz="1400" dirty="0"/>
              <a:t>; otherwise the controller would create new pods indefinitely, because spinning up a new pod wouldn’t bring the actual replica count any closer to the desired number of replicas. </a:t>
            </a:r>
            <a:r>
              <a:rPr lang="en-US" altLang="ko-KR" sz="1400" b="1" dirty="0"/>
              <a:t>To prevent such scenarios, the API server verifies the </a:t>
            </a:r>
            <a:r>
              <a:rPr lang="en-US" altLang="ko-KR" sz="1400" b="1" dirty="0" err="1"/>
              <a:t>ReplicationController</a:t>
            </a:r>
            <a:r>
              <a:rPr lang="en-US" altLang="ko-KR" sz="1400" b="1" dirty="0"/>
              <a:t> definition and will not accept it if it’s misconfigured</a:t>
            </a:r>
            <a:r>
              <a:rPr lang="en-US" altLang="ko-KR" sz="1400" dirty="0"/>
              <a:t>.</a:t>
            </a:r>
          </a:p>
          <a:p>
            <a:pPr lvl="1">
              <a:buFont typeface="Wingdings" panose="05000000000000000000" pitchFamily="2" charset="2"/>
              <a:buChar char="§"/>
            </a:pPr>
            <a:r>
              <a:rPr lang="en-US" altLang="ko-KR" sz="1400" b="1" dirty="0"/>
              <a:t>Not specifying the selector at all is also an option</a:t>
            </a:r>
            <a:r>
              <a:rPr lang="en-US" altLang="ko-KR" sz="1400" dirty="0"/>
              <a:t>. </a:t>
            </a:r>
            <a:r>
              <a:rPr lang="en-US" altLang="ko-KR" sz="1400" b="1" dirty="0"/>
              <a:t>In that case, it will be configured automatically from the labels in the pod template</a:t>
            </a:r>
            <a:r>
              <a:rPr lang="en-US" altLang="ko-KR" sz="1400" dirty="0"/>
              <a:t>. </a:t>
            </a:r>
          </a:p>
          <a:p>
            <a:pPr lvl="1">
              <a:buFont typeface="Wingdings" panose="05000000000000000000" pitchFamily="2" charset="2"/>
              <a:buChar char="§"/>
            </a:pPr>
            <a:r>
              <a:rPr lang="en-US" altLang="ko-KR" sz="1400" b="1" dirty="0"/>
              <a:t>TIP : Don’t specify a pod selector when defining a </a:t>
            </a:r>
            <a:r>
              <a:rPr lang="en-US" altLang="ko-KR" sz="1400" b="1" dirty="0" err="1"/>
              <a:t>ReplicationController</a:t>
            </a:r>
            <a:r>
              <a:rPr lang="en-US" altLang="ko-KR" sz="1400" b="1" dirty="0"/>
              <a:t>. Let Kubernetes extract it from the pod template</a:t>
            </a:r>
            <a:r>
              <a:rPr lang="en-US" altLang="ko-KR" sz="1400" dirty="0"/>
              <a:t>. This will keep your YAML shorter and simpler.</a:t>
            </a:r>
          </a:p>
          <a:p>
            <a:pPr lvl="1">
              <a:buFont typeface="Wingdings" panose="05000000000000000000" pitchFamily="2" charset="2"/>
              <a:buChar char="§"/>
            </a:pPr>
            <a:r>
              <a:rPr lang="en-US" altLang="ko-KR" sz="1400" b="1" dirty="0"/>
              <a:t>To create the </a:t>
            </a:r>
            <a:r>
              <a:rPr lang="en-US" altLang="ko-KR" sz="1400" b="1" dirty="0" err="1"/>
              <a:t>ReplicationController</a:t>
            </a:r>
            <a:r>
              <a:rPr lang="en-US" altLang="ko-KR" sz="1400" b="1" dirty="0"/>
              <a:t>, use the “</a:t>
            </a:r>
            <a:r>
              <a:rPr lang="en-US" altLang="ko-KR" sz="1400" b="1" dirty="0" err="1">
                <a:solidFill>
                  <a:srgbClr val="FF0000"/>
                </a:solidFill>
              </a:rPr>
              <a:t>kubectl</a:t>
            </a:r>
            <a:r>
              <a:rPr lang="en-US" altLang="ko-KR" sz="1400" b="1" dirty="0">
                <a:solidFill>
                  <a:srgbClr val="FF0000"/>
                </a:solidFill>
              </a:rPr>
              <a:t> create</a:t>
            </a:r>
            <a:r>
              <a:rPr lang="en-US" altLang="ko-KR" sz="1400" b="1" dirty="0"/>
              <a:t>” command as follows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04FDEB0-D5E8-1AB1-505D-D53A1063DF46}"/>
              </a:ext>
            </a:extLst>
          </p:cNvPr>
          <p:cNvGrpSpPr/>
          <p:nvPr/>
        </p:nvGrpSpPr>
        <p:grpSpPr>
          <a:xfrm>
            <a:off x="1370286" y="3429000"/>
            <a:ext cx="9451427" cy="2408962"/>
            <a:chOff x="1370286" y="3192684"/>
            <a:chExt cx="9451427" cy="2408962"/>
          </a:xfrm>
        </p:grpSpPr>
        <p:sp>
          <p:nvSpPr>
            <p:cNvPr id="8" name="TextBox 7">
              <a:extLst>
                <a:ext uri="{FF2B5EF4-FFF2-40B4-BE49-F238E27FC236}">
                  <a16:creationId xmlns:a16="http://schemas.microsoft.com/office/drawing/2014/main" id="{4CB90CEB-A056-DA40-C9BE-130504A8C402}"/>
                </a:ext>
              </a:extLst>
            </p:cNvPr>
            <p:cNvSpPr txBox="1"/>
            <p:nvPr/>
          </p:nvSpPr>
          <p:spPr>
            <a:xfrm>
              <a:off x="3047343" y="3192684"/>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kubia-rc.yaml</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5C6CBBB4-58F0-1DA9-992C-4D6F6C12828D}"/>
                </a:ext>
              </a:extLst>
            </p:cNvPr>
            <p:cNvSpPr/>
            <p:nvPr/>
          </p:nvSpPr>
          <p:spPr>
            <a:xfrm>
              <a:off x="5883165" y="3429000"/>
              <a:ext cx="425669" cy="2995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C426053-F09F-4580-72C0-E5DAB75CBE23}"/>
                </a:ext>
              </a:extLst>
            </p:cNvPr>
            <p:cNvPicPr>
              <a:picLocks noChangeAspect="1"/>
            </p:cNvPicPr>
            <p:nvPr/>
          </p:nvPicPr>
          <p:blipFill>
            <a:blip r:embed="rId2"/>
            <a:stretch>
              <a:fillRect/>
            </a:stretch>
          </p:blipFill>
          <p:spPr>
            <a:xfrm>
              <a:off x="1370286" y="3728545"/>
              <a:ext cx="9451427" cy="1873101"/>
            </a:xfrm>
            <a:prstGeom prst="rect">
              <a:avLst/>
            </a:prstGeom>
          </p:spPr>
        </p:pic>
      </p:grpSp>
    </p:spTree>
    <p:extLst>
      <p:ext uri="{BB962C8B-B14F-4D97-AF65-F5344CB8AC3E}">
        <p14:creationId xmlns:p14="http://schemas.microsoft.com/office/powerpoint/2010/main" val="15713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(8/27)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ReplicationController</a:t>
            </a:r>
            <a:r>
              <a:rPr lang="en-US" altLang="ko-KR" sz="1800" b="1" dirty="0"/>
              <a:t> in Action :</a:t>
            </a:r>
          </a:p>
          <a:p>
            <a:pPr lvl="1">
              <a:buFont typeface="Wingdings" panose="05000000000000000000" pitchFamily="2" charset="2"/>
              <a:buChar char="§"/>
            </a:pPr>
            <a:r>
              <a:rPr lang="en-US" altLang="ko-KR" sz="1400" b="1" dirty="0"/>
              <a:t>Because no pods exist with the “app=</a:t>
            </a:r>
            <a:r>
              <a:rPr lang="en-US" altLang="ko-KR" sz="1400" b="1" dirty="0" err="1"/>
              <a:t>kubia</a:t>
            </a:r>
            <a:r>
              <a:rPr lang="en-US" altLang="ko-KR" sz="1400" b="1" dirty="0"/>
              <a:t>” label, the </a:t>
            </a:r>
            <a:r>
              <a:rPr lang="en-US" altLang="ko-KR" sz="1400" b="1" dirty="0" err="1"/>
              <a:t>ReplicationController</a:t>
            </a:r>
            <a:r>
              <a:rPr lang="en-US" altLang="ko-KR" sz="1400" b="1" dirty="0"/>
              <a:t> should spin up three new pods from the pod template</a:t>
            </a:r>
            <a:r>
              <a:rPr lang="en-US" altLang="ko-KR" sz="1400" dirty="0"/>
              <a:t>. List the pods to see if the </a:t>
            </a:r>
            <a:r>
              <a:rPr lang="en-US" altLang="ko-KR" sz="1400" dirty="0" err="1"/>
              <a:t>ReplicationController</a:t>
            </a:r>
            <a:r>
              <a:rPr lang="en-US" altLang="ko-KR" sz="1400" dirty="0"/>
              <a:t> has done what it’s supposed to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First, you’ll delete one of the pods manually to see how the </a:t>
            </a:r>
            <a:r>
              <a:rPr lang="en-US" altLang="ko-KR" sz="1400" b="1" dirty="0" err="1"/>
              <a:t>ReplicationController</a:t>
            </a:r>
            <a:r>
              <a:rPr lang="en-US" altLang="ko-KR" sz="1400" b="1" dirty="0"/>
              <a:t> spins up a new one immediately</a:t>
            </a:r>
            <a:r>
              <a:rPr lang="en-US" altLang="ko-KR" sz="1400" dirty="0"/>
              <a:t>, bringing the number of matching pods back to three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709FCA3-A78F-7D8F-5D3A-13F917FE6359}"/>
              </a:ext>
            </a:extLst>
          </p:cNvPr>
          <p:cNvPicPr>
            <a:picLocks noChangeAspect="1"/>
          </p:cNvPicPr>
          <p:nvPr/>
        </p:nvPicPr>
        <p:blipFill>
          <a:blip r:embed="rId2"/>
          <a:stretch>
            <a:fillRect/>
          </a:stretch>
        </p:blipFill>
        <p:spPr>
          <a:xfrm>
            <a:off x="1919271" y="1738770"/>
            <a:ext cx="8353457" cy="1442870"/>
          </a:xfrm>
          <a:prstGeom prst="rect">
            <a:avLst/>
          </a:prstGeom>
        </p:spPr>
      </p:pic>
      <p:grpSp>
        <p:nvGrpSpPr>
          <p:cNvPr id="14" name="그룹 13">
            <a:extLst>
              <a:ext uri="{FF2B5EF4-FFF2-40B4-BE49-F238E27FC236}">
                <a16:creationId xmlns:a16="http://schemas.microsoft.com/office/drawing/2014/main" id="{7B352BA4-C382-9137-22AD-DA57BF0DAF3D}"/>
              </a:ext>
            </a:extLst>
          </p:cNvPr>
          <p:cNvGrpSpPr/>
          <p:nvPr/>
        </p:nvGrpSpPr>
        <p:grpSpPr>
          <a:xfrm>
            <a:off x="1919271" y="3918198"/>
            <a:ext cx="8353456" cy="2263027"/>
            <a:chOff x="1919271" y="3918198"/>
            <a:chExt cx="8353456" cy="2263027"/>
          </a:xfrm>
        </p:grpSpPr>
        <p:pic>
          <p:nvPicPr>
            <p:cNvPr id="10" name="그림 9">
              <a:extLst>
                <a:ext uri="{FF2B5EF4-FFF2-40B4-BE49-F238E27FC236}">
                  <a16:creationId xmlns:a16="http://schemas.microsoft.com/office/drawing/2014/main" id="{31DB727A-BF7D-92EB-4FCC-E1AA8DC6D831}"/>
                </a:ext>
              </a:extLst>
            </p:cNvPr>
            <p:cNvPicPr>
              <a:picLocks noChangeAspect="1"/>
            </p:cNvPicPr>
            <p:nvPr/>
          </p:nvPicPr>
          <p:blipFill>
            <a:blip r:embed="rId3"/>
            <a:stretch>
              <a:fillRect/>
            </a:stretch>
          </p:blipFill>
          <p:spPr>
            <a:xfrm>
              <a:off x="1919271" y="3918198"/>
              <a:ext cx="8353456" cy="2263027"/>
            </a:xfrm>
            <a:prstGeom prst="rect">
              <a:avLst/>
            </a:prstGeom>
          </p:spPr>
        </p:pic>
        <p:sp>
          <p:nvSpPr>
            <p:cNvPr id="11" name="직사각형 10">
              <a:extLst>
                <a:ext uri="{FF2B5EF4-FFF2-40B4-BE49-F238E27FC236}">
                  <a16:creationId xmlns:a16="http://schemas.microsoft.com/office/drawing/2014/main" id="{4E055D3A-5381-CD18-7565-11672056C82D}"/>
                </a:ext>
              </a:extLst>
            </p:cNvPr>
            <p:cNvSpPr/>
            <p:nvPr/>
          </p:nvSpPr>
          <p:spPr>
            <a:xfrm>
              <a:off x="5785945" y="4981903"/>
              <a:ext cx="1899745"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15E85A38-55FB-EABA-F86C-F096B06E347F}"/>
                </a:ext>
              </a:extLst>
            </p:cNvPr>
            <p:cNvSpPr/>
            <p:nvPr/>
          </p:nvSpPr>
          <p:spPr>
            <a:xfrm>
              <a:off x="2017986" y="4611414"/>
              <a:ext cx="740980"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AB7431A1-1830-0A5D-8AD0-39683E464139}"/>
                </a:ext>
              </a:extLst>
            </p:cNvPr>
            <p:cNvSpPr/>
            <p:nvPr/>
          </p:nvSpPr>
          <p:spPr>
            <a:xfrm>
              <a:off x="2017986" y="5636172"/>
              <a:ext cx="2956035"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051589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(9/27)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Information about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dirty="0"/>
              <a:t>Now, let’s see what information </a:t>
            </a:r>
            <a:r>
              <a:rPr lang="en-US" altLang="ko-KR" sz="1400" b="1" dirty="0"/>
              <a:t>the “</a:t>
            </a:r>
            <a:r>
              <a:rPr lang="en-US" altLang="ko-KR" sz="1400" b="1" dirty="0" err="1"/>
              <a:t>kubectl</a:t>
            </a:r>
            <a:r>
              <a:rPr lang="en-US" altLang="ko-KR" sz="1400" b="1" dirty="0"/>
              <a:t> get” command shows for </a:t>
            </a:r>
            <a:r>
              <a:rPr lang="en-US" altLang="ko-KR" sz="1400" b="1" dirty="0" err="1"/>
              <a:t>ReplicationControllers</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We’re using “</a:t>
            </a:r>
            <a:r>
              <a:rPr lang="en-US" altLang="ko-KR" sz="1400" b="1" dirty="0" err="1"/>
              <a:t>rc</a:t>
            </a:r>
            <a:r>
              <a:rPr lang="en-US" altLang="ko-KR" sz="1400" b="1" dirty="0"/>
              <a:t>” as a shorthand for </a:t>
            </a:r>
            <a:r>
              <a:rPr lang="en-US" altLang="ko-KR" sz="1400" b="1" dirty="0" err="1"/>
              <a:t>replicationcontroller</a:t>
            </a:r>
            <a:r>
              <a:rPr lang="en-US" altLang="ko-KR" sz="1400" dirty="0"/>
              <a:t>.</a:t>
            </a:r>
          </a:p>
          <a:p>
            <a:pPr lvl="1">
              <a:buFont typeface="Wingdings" panose="05000000000000000000" pitchFamily="2" charset="2"/>
              <a:buChar char="§"/>
            </a:pPr>
            <a:r>
              <a:rPr lang="en-US" altLang="ko-KR" sz="1400" dirty="0"/>
              <a:t>You see three columns showing </a:t>
            </a:r>
            <a:r>
              <a:rPr lang="en-US" altLang="ko-KR" sz="1400" b="1" dirty="0"/>
              <a:t>the desired number of pods</a:t>
            </a:r>
            <a:r>
              <a:rPr lang="en-US" altLang="ko-KR" sz="1400" dirty="0"/>
              <a:t>, </a:t>
            </a:r>
            <a:r>
              <a:rPr lang="en-US" altLang="ko-KR" sz="1400" b="1" dirty="0"/>
              <a:t>the actual number of pods</a:t>
            </a:r>
            <a:r>
              <a:rPr lang="en-US" altLang="ko-KR" sz="1400" dirty="0"/>
              <a:t>, and </a:t>
            </a:r>
            <a:r>
              <a:rPr lang="en-US" altLang="ko-KR" sz="1400" b="1" dirty="0"/>
              <a:t>how many of them are ready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CCC98F9-B296-B86B-8166-E957CDFBF4F0}"/>
              </a:ext>
            </a:extLst>
          </p:cNvPr>
          <p:cNvGrpSpPr/>
          <p:nvPr/>
        </p:nvGrpSpPr>
        <p:grpSpPr>
          <a:xfrm>
            <a:off x="1370614" y="1676710"/>
            <a:ext cx="9450771" cy="1632406"/>
            <a:chOff x="1370614" y="1416579"/>
            <a:chExt cx="9450771" cy="1632406"/>
          </a:xfrm>
        </p:grpSpPr>
        <p:pic>
          <p:nvPicPr>
            <p:cNvPr id="8" name="그림 7">
              <a:extLst>
                <a:ext uri="{FF2B5EF4-FFF2-40B4-BE49-F238E27FC236}">
                  <a16:creationId xmlns:a16="http://schemas.microsoft.com/office/drawing/2014/main" id="{573BC2EF-52FF-7BF7-C8DF-9F014205647D}"/>
                </a:ext>
              </a:extLst>
            </p:cNvPr>
            <p:cNvPicPr>
              <a:picLocks noChangeAspect="1"/>
            </p:cNvPicPr>
            <p:nvPr/>
          </p:nvPicPr>
          <p:blipFill>
            <a:blip r:embed="rId2"/>
            <a:stretch>
              <a:fillRect/>
            </a:stretch>
          </p:blipFill>
          <p:spPr>
            <a:xfrm>
              <a:off x="1370614" y="1416579"/>
              <a:ext cx="9450771" cy="1632406"/>
            </a:xfrm>
            <a:prstGeom prst="rect">
              <a:avLst/>
            </a:prstGeom>
          </p:spPr>
        </p:pic>
        <p:sp>
          <p:nvSpPr>
            <p:cNvPr id="9" name="직사각형 8">
              <a:extLst>
                <a:ext uri="{FF2B5EF4-FFF2-40B4-BE49-F238E27FC236}">
                  <a16:creationId xmlns:a16="http://schemas.microsoft.com/office/drawing/2014/main" id="{83146A2A-4643-B349-3904-DFC5DAC75F91}"/>
                </a:ext>
              </a:extLst>
            </p:cNvPr>
            <p:cNvSpPr/>
            <p:nvPr/>
          </p:nvSpPr>
          <p:spPr>
            <a:xfrm>
              <a:off x="5746531" y="1891862"/>
              <a:ext cx="1056290"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826792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(10/27)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Information about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dirty="0"/>
              <a:t>You can see </a:t>
            </a:r>
            <a:r>
              <a:rPr lang="en-US" altLang="ko-KR" sz="1400" b="1" dirty="0"/>
              <a:t>additional information about your </a:t>
            </a:r>
            <a:r>
              <a:rPr lang="en-US" altLang="ko-KR" sz="1400" b="1" dirty="0" err="1"/>
              <a:t>ReplicationController</a:t>
            </a:r>
            <a:r>
              <a:rPr lang="en-US" altLang="ko-KR" sz="1400" b="1" dirty="0"/>
              <a:t> with the “</a:t>
            </a:r>
            <a:r>
              <a:rPr lang="en-US" altLang="ko-KR" sz="1400" b="1" dirty="0" err="1">
                <a:solidFill>
                  <a:srgbClr val="FF0000"/>
                </a:solidFill>
              </a:rPr>
              <a:t>kubectl</a:t>
            </a:r>
            <a:r>
              <a:rPr lang="en-US" altLang="ko-KR" sz="1400" b="1" dirty="0">
                <a:solidFill>
                  <a:srgbClr val="FF0000"/>
                </a:solidFill>
              </a:rPr>
              <a:t> describe </a:t>
            </a:r>
            <a:r>
              <a:rPr lang="en-US" altLang="ko-KR" sz="1400" b="1" dirty="0" err="1">
                <a:solidFill>
                  <a:srgbClr val="FF0000"/>
                </a:solidFill>
              </a:rPr>
              <a:t>rc</a:t>
            </a:r>
            <a:r>
              <a:rPr lang="en-US" altLang="ko-KR" sz="1400" b="1" dirty="0"/>
              <a:t>” command</a:t>
            </a:r>
            <a:r>
              <a:rPr lang="en-US" altLang="ko-KR" sz="1400" dirty="0"/>
              <a:t>,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current number of replicas matches the desired number, because the controller has already created a new pod</a:t>
            </a:r>
            <a:r>
              <a:rPr lang="en-US" altLang="ko-KR" sz="1400" dirty="0"/>
              <a:t>. </a:t>
            </a:r>
            <a:r>
              <a:rPr lang="en-US" altLang="ko-KR" sz="1400" b="1" dirty="0"/>
              <a:t>It shows four running pods because a pod that’s terminating is still considered running</a:t>
            </a:r>
            <a:r>
              <a:rPr lang="en-US" altLang="ko-KR" sz="1400" dirty="0"/>
              <a:t>, although it isn’t counted in the current replica count. </a:t>
            </a:r>
            <a:r>
              <a:rPr lang="en-US" altLang="ko-KR" sz="1400" b="1" dirty="0"/>
              <a:t>The list of </a:t>
            </a:r>
            <a:r>
              <a:rPr lang="en-US" altLang="ko-KR" sz="1400" b="1" dirty="0">
                <a:solidFill>
                  <a:srgbClr val="FF0000"/>
                </a:solidFill>
              </a:rPr>
              <a:t>events</a:t>
            </a:r>
            <a:r>
              <a:rPr lang="en-US" altLang="ko-KR" sz="1400" b="1" dirty="0"/>
              <a:t> at the bottom shows the actions taken by the </a:t>
            </a:r>
            <a:r>
              <a:rPr lang="en-US" altLang="ko-KR" sz="1400" b="1" dirty="0" err="1"/>
              <a:t>ReplicationController</a:t>
            </a:r>
            <a:r>
              <a:rPr lang="en-US" altLang="ko-KR" sz="1400" dirty="0"/>
              <a:t>—it has created four pods so far.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EFCDEAE-FC05-F183-DA0C-DD04C69DD5BC}"/>
              </a:ext>
            </a:extLst>
          </p:cNvPr>
          <p:cNvGrpSpPr/>
          <p:nvPr/>
        </p:nvGrpSpPr>
        <p:grpSpPr>
          <a:xfrm>
            <a:off x="1043480" y="1680934"/>
            <a:ext cx="10105040" cy="3527663"/>
            <a:chOff x="1043480" y="1680934"/>
            <a:chExt cx="10105040" cy="3527663"/>
          </a:xfrm>
        </p:grpSpPr>
        <p:grpSp>
          <p:nvGrpSpPr>
            <p:cNvPr id="11" name="그룹 10">
              <a:extLst>
                <a:ext uri="{FF2B5EF4-FFF2-40B4-BE49-F238E27FC236}">
                  <a16:creationId xmlns:a16="http://schemas.microsoft.com/office/drawing/2014/main" id="{438EAF83-070A-B603-8D34-83ACC80E4E5C}"/>
                </a:ext>
              </a:extLst>
            </p:cNvPr>
            <p:cNvGrpSpPr/>
            <p:nvPr/>
          </p:nvGrpSpPr>
          <p:grpSpPr>
            <a:xfrm>
              <a:off x="1043480" y="1680934"/>
              <a:ext cx="10105040" cy="3527663"/>
              <a:chOff x="857250" y="2257425"/>
              <a:chExt cx="10903169" cy="4005556"/>
            </a:xfrm>
          </p:grpSpPr>
          <p:pic>
            <p:nvPicPr>
              <p:cNvPr id="10" name="그림 9">
                <a:extLst>
                  <a:ext uri="{FF2B5EF4-FFF2-40B4-BE49-F238E27FC236}">
                    <a16:creationId xmlns:a16="http://schemas.microsoft.com/office/drawing/2014/main" id="{4A765B5A-5822-1C47-3549-EDDC60B0D48B}"/>
                  </a:ext>
                </a:extLst>
              </p:cNvPr>
              <p:cNvPicPr>
                <a:picLocks noChangeAspect="1"/>
              </p:cNvPicPr>
              <p:nvPr/>
            </p:nvPicPr>
            <p:blipFill>
              <a:blip r:embed="rId2"/>
              <a:stretch>
                <a:fillRect/>
              </a:stretch>
            </p:blipFill>
            <p:spPr>
              <a:xfrm>
                <a:off x="1282919" y="3919831"/>
                <a:ext cx="10477500" cy="2343150"/>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A883932D-4D86-806A-9451-E683A1BCC431}"/>
                  </a:ext>
                </a:extLst>
              </p:cNvPr>
              <p:cNvPicPr>
                <a:picLocks noChangeAspect="1"/>
              </p:cNvPicPr>
              <p:nvPr/>
            </p:nvPicPr>
            <p:blipFill>
              <a:blip r:embed="rId3"/>
              <a:stretch>
                <a:fillRect/>
              </a:stretch>
            </p:blipFill>
            <p:spPr>
              <a:xfrm>
                <a:off x="857250" y="2257425"/>
                <a:ext cx="10477500" cy="2343150"/>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5C79490A-3AE6-0BE7-88F6-2505BC137F33}"/>
                </a:ext>
              </a:extLst>
            </p:cNvPr>
            <p:cNvSpPr/>
            <p:nvPr/>
          </p:nvSpPr>
          <p:spPr>
            <a:xfrm>
              <a:off x="1135117" y="3026980"/>
              <a:ext cx="4351283" cy="289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1C224DE2-A0E5-2008-B29F-D07B314FA7B7}"/>
                </a:ext>
              </a:extLst>
            </p:cNvPr>
            <p:cNvSpPr/>
            <p:nvPr/>
          </p:nvSpPr>
          <p:spPr>
            <a:xfrm>
              <a:off x="1663262" y="4296103"/>
              <a:ext cx="5872655" cy="6700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237505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Exactly What Caused the Controller to Create a New Pod :</a:t>
            </a:r>
          </a:p>
          <a:p>
            <a:pPr lvl="1">
              <a:buFont typeface="Wingdings" panose="05000000000000000000" pitchFamily="2" charset="2"/>
              <a:buChar char="§"/>
            </a:pPr>
            <a:r>
              <a:rPr lang="en-US" altLang="ko-KR" sz="1400" b="1" dirty="0"/>
              <a:t>The controller is responding to the deletion of a pod by creating a new replacement pod</a:t>
            </a:r>
            <a:r>
              <a:rPr lang="en-US" altLang="ko-KR" sz="1400" dirty="0"/>
              <a:t>. Well, technically, it isn’t responding to the deletion itself, but </a:t>
            </a:r>
            <a:r>
              <a:rPr lang="en-US" altLang="ko-KR" sz="1400" b="1" dirty="0"/>
              <a:t>the resulting state</a:t>
            </a:r>
            <a:r>
              <a:rPr lang="en-US" altLang="ko-KR" sz="1400" dirty="0"/>
              <a:t>—</a:t>
            </a:r>
            <a:r>
              <a:rPr lang="en-US" altLang="ko-KR" sz="1400" b="1" dirty="0"/>
              <a:t>the inadequate number of pods</a:t>
            </a:r>
            <a:r>
              <a:rPr lang="en-US" altLang="ko-KR" sz="1400" dirty="0"/>
              <a:t>.</a:t>
            </a:r>
          </a:p>
          <a:p>
            <a:pPr lvl="1">
              <a:buFont typeface="Wingdings" panose="05000000000000000000" pitchFamily="2" charset="2"/>
              <a:buChar char="§"/>
            </a:pPr>
            <a:r>
              <a:rPr lang="en-US" altLang="ko-KR" sz="1400" dirty="0"/>
              <a:t>While a </a:t>
            </a:r>
            <a:r>
              <a:rPr lang="en-US" altLang="ko-KR" sz="1400" b="1" dirty="0" err="1"/>
              <a:t>ReplicationController</a:t>
            </a:r>
            <a:r>
              <a:rPr lang="en-US" altLang="ko-KR" sz="1400" dirty="0"/>
              <a:t> is immediately notified about a pod being deleted (</a:t>
            </a:r>
            <a:r>
              <a:rPr lang="en-US" altLang="ko-KR" sz="1400" b="1" dirty="0"/>
              <a:t>the </a:t>
            </a:r>
            <a:r>
              <a:rPr lang="en-US" altLang="ko-KR" sz="1400" b="1" dirty="0">
                <a:solidFill>
                  <a:srgbClr val="FF0000"/>
                </a:solidFill>
              </a:rPr>
              <a:t>API server </a:t>
            </a:r>
            <a:r>
              <a:rPr lang="en-US" altLang="ko-KR" sz="1400" b="1" dirty="0"/>
              <a:t>allows clients to watch for changes to resources and resource lists</a:t>
            </a:r>
            <a:r>
              <a:rPr lang="en-US" altLang="ko-KR" sz="1400" dirty="0"/>
              <a:t>), that’s not what causes it to create a replacement pod. </a:t>
            </a:r>
            <a:r>
              <a:rPr lang="en-US" altLang="ko-KR" sz="1400" b="1" dirty="0"/>
              <a:t>The notification triggers the controller to </a:t>
            </a:r>
            <a:r>
              <a:rPr lang="en-US" altLang="ko-KR" sz="1400" b="1" dirty="0">
                <a:solidFill>
                  <a:srgbClr val="FF0000"/>
                </a:solidFill>
              </a:rPr>
              <a:t>check the actual number of pods </a:t>
            </a:r>
            <a:r>
              <a:rPr lang="en-US" altLang="ko-KR" sz="1400" b="1" dirty="0"/>
              <a:t>and take appropriate action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1526AD01-AC7C-6905-B4FC-8CBF44B7CADA}"/>
              </a:ext>
            </a:extLst>
          </p:cNvPr>
          <p:cNvPicPr>
            <a:picLocks noChangeAspect="1"/>
          </p:cNvPicPr>
          <p:nvPr/>
        </p:nvPicPr>
        <p:blipFill>
          <a:blip r:embed="rId2"/>
          <a:stretch>
            <a:fillRect/>
          </a:stretch>
        </p:blipFill>
        <p:spPr>
          <a:xfrm>
            <a:off x="3095625" y="2614905"/>
            <a:ext cx="6000750" cy="3429000"/>
          </a:xfrm>
          <a:prstGeom prst="rect">
            <a:avLst/>
          </a:prstGeom>
        </p:spPr>
      </p:pic>
    </p:spTree>
    <p:extLst>
      <p:ext uri="{BB962C8B-B14F-4D97-AF65-F5344CB8AC3E}">
        <p14:creationId xmlns:p14="http://schemas.microsoft.com/office/powerpoint/2010/main" val="27504970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Responding to a Node Failure :</a:t>
            </a:r>
          </a:p>
          <a:p>
            <a:pPr lvl="1">
              <a:buFont typeface="Wingdings" panose="05000000000000000000" pitchFamily="2" charset="2"/>
              <a:buChar char="§"/>
            </a:pPr>
            <a:r>
              <a:rPr lang="en-US" altLang="ko-KR" sz="1400" dirty="0"/>
              <a:t>If a node fails in the non-Kubernetes world, the ops team would need to migrate the applications running on that node to other machines manually. </a:t>
            </a:r>
            <a:r>
              <a:rPr lang="en-US" altLang="ko-KR" sz="1400" b="1" dirty="0"/>
              <a:t>Kubernetes, on the other hand, does that automatically. Soon after the  </a:t>
            </a:r>
            <a:r>
              <a:rPr lang="en-US" altLang="ko-KR" sz="1400" b="1" dirty="0" err="1"/>
              <a:t>ReplicationController</a:t>
            </a:r>
            <a:r>
              <a:rPr lang="en-US" altLang="ko-KR" sz="1400" b="1" dirty="0"/>
              <a:t> detects that its pods are down, it will spin up new pods to replace them</a:t>
            </a:r>
            <a:r>
              <a:rPr lang="en-US" altLang="ko-KR" sz="1400" dirty="0"/>
              <a:t>.</a:t>
            </a:r>
          </a:p>
          <a:p>
            <a:pPr lvl="1">
              <a:buFont typeface="Wingdings" panose="05000000000000000000" pitchFamily="2" charset="2"/>
              <a:buChar char="§"/>
            </a:pPr>
            <a:r>
              <a:rPr lang="en-US" altLang="ko-KR" sz="1400" dirty="0"/>
              <a:t>If the node stays unreachable like disconnection for several minutes, </a:t>
            </a:r>
            <a:r>
              <a:rPr lang="en-US" altLang="ko-KR" sz="1400" b="1" dirty="0"/>
              <a:t>the status of the pods that were scheduled to that node changes to </a:t>
            </a:r>
            <a:r>
              <a:rPr lang="en-US" altLang="ko-KR" sz="1400" b="1" dirty="0">
                <a:solidFill>
                  <a:srgbClr val="FF0000"/>
                </a:solidFill>
              </a:rPr>
              <a:t>Unknown</a:t>
            </a:r>
            <a:r>
              <a:rPr lang="en-US" altLang="ko-KR" sz="1400" dirty="0"/>
              <a:t>. </a:t>
            </a:r>
            <a:r>
              <a:rPr lang="en-US" altLang="ko-KR" sz="1400" b="1" dirty="0"/>
              <a:t>At that point, the </a:t>
            </a:r>
            <a:r>
              <a:rPr lang="en-US" altLang="ko-KR" sz="1400" b="1" dirty="0" err="1"/>
              <a:t>ReplicationController</a:t>
            </a:r>
            <a:r>
              <a:rPr lang="en-US" altLang="ko-KR" sz="1400" b="1" dirty="0"/>
              <a:t> will immediately spin up a new pod</a:t>
            </a:r>
            <a:r>
              <a:rPr lang="en-US" altLang="ko-KR" sz="1400" dirty="0"/>
              <a:t>.</a:t>
            </a:r>
          </a:p>
          <a:p>
            <a:pPr lvl="1">
              <a:buFont typeface="Wingdings" panose="05000000000000000000" pitchFamily="2" charset="2"/>
              <a:buChar char="§"/>
            </a:pPr>
            <a:r>
              <a:rPr lang="en-US" altLang="ko-KR" sz="1400" dirty="0"/>
              <a:t>The same thing happens if a node fails (either breaks down or becomes unreachable). </a:t>
            </a:r>
            <a:r>
              <a:rPr lang="en-US" altLang="ko-KR" sz="1400" b="1" dirty="0"/>
              <a:t>No immediate human intervention is necessary</a:t>
            </a:r>
            <a:r>
              <a:rPr lang="en-US" altLang="ko-KR" sz="1400" dirty="0"/>
              <a:t>. </a:t>
            </a:r>
            <a:r>
              <a:rPr lang="en-US" altLang="ko-KR" sz="1400" b="1" dirty="0"/>
              <a:t>The system heals itself automatically(</a:t>
            </a:r>
            <a:r>
              <a:rPr lang="en-US" altLang="ko-KR" sz="1400" b="1" dirty="0">
                <a:solidFill>
                  <a:srgbClr val="FF0000"/>
                </a:solidFill>
              </a:rPr>
              <a:t>self-healing</a:t>
            </a:r>
            <a:r>
              <a:rPr lang="en-US" altLang="ko-KR" sz="1400" b="1" dirty="0"/>
              <a:t>)</a:t>
            </a:r>
            <a:r>
              <a:rPr lang="en-US" altLang="ko-KR" sz="1400" dirty="0"/>
              <a:t>.</a:t>
            </a:r>
          </a:p>
          <a:p>
            <a:pPr lvl="1">
              <a:buFont typeface="Wingdings" panose="05000000000000000000" pitchFamily="2" charset="2"/>
              <a:buChar char="§"/>
            </a:pPr>
            <a:r>
              <a:rPr lang="en-US" altLang="ko-KR" sz="1400" b="1" dirty="0"/>
              <a:t>When the node boots up again, its status should return to </a:t>
            </a:r>
            <a:r>
              <a:rPr lang="en-US" altLang="ko-KR" sz="1400" b="1" dirty="0">
                <a:solidFill>
                  <a:srgbClr val="FF0000"/>
                </a:solidFill>
              </a:rPr>
              <a:t>Ready</a:t>
            </a:r>
            <a:r>
              <a:rPr lang="en-US" altLang="ko-KR" sz="1400" b="1" dirty="0"/>
              <a:t>, and the pod whose status was Unknown will be deleted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933BE6F-B522-340C-E3A1-873062D0F525}"/>
              </a:ext>
            </a:extLst>
          </p:cNvPr>
          <p:cNvPicPr>
            <a:picLocks noChangeAspect="1"/>
          </p:cNvPicPr>
          <p:nvPr/>
        </p:nvPicPr>
        <p:blipFill>
          <a:blip r:embed="rId2"/>
          <a:stretch>
            <a:fillRect/>
          </a:stretch>
        </p:blipFill>
        <p:spPr>
          <a:xfrm>
            <a:off x="3558979" y="3116555"/>
            <a:ext cx="5074041" cy="3292475"/>
          </a:xfrm>
          <a:prstGeom prst="rect">
            <a:avLst/>
          </a:prstGeom>
        </p:spPr>
      </p:pic>
    </p:spTree>
    <p:extLst>
      <p:ext uri="{BB962C8B-B14F-4D97-AF65-F5344CB8AC3E}">
        <p14:creationId xmlns:p14="http://schemas.microsoft.com/office/powerpoint/2010/main" val="1895261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Moving</a:t>
            </a:r>
            <a:r>
              <a:rPr lang="ko-KR" altLang="en-US" sz="1800" b="1" dirty="0"/>
              <a:t> </a:t>
            </a:r>
            <a:r>
              <a:rPr lang="en-US" altLang="ko-KR" sz="1800" b="1" dirty="0"/>
              <a:t>Pods</a:t>
            </a:r>
            <a:r>
              <a:rPr lang="ko-KR" altLang="en-US" sz="1800" b="1" dirty="0"/>
              <a:t> </a:t>
            </a:r>
            <a:r>
              <a:rPr lang="en-US" altLang="ko-KR" sz="1800" b="1" dirty="0"/>
              <a:t>In</a:t>
            </a:r>
            <a:r>
              <a:rPr lang="ko-KR" altLang="en-US" sz="1800" b="1" dirty="0"/>
              <a:t> </a:t>
            </a:r>
            <a:r>
              <a:rPr lang="en-US" altLang="ko-KR" sz="1800" b="1" dirty="0"/>
              <a:t>and</a:t>
            </a:r>
            <a:r>
              <a:rPr lang="ko-KR" altLang="en-US" sz="1800" b="1" dirty="0"/>
              <a:t> </a:t>
            </a:r>
            <a:r>
              <a:rPr lang="en-US" altLang="ko-KR" sz="1800" b="1" dirty="0"/>
              <a:t>Out</a:t>
            </a:r>
            <a:r>
              <a:rPr lang="ko-KR" altLang="en-US" sz="1800" b="1" dirty="0"/>
              <a:t> </a:t>
            </a:r>
            <a:r>
              <a:rPr lang="en-US" altLang="ko-KR" sz="1800" b="1" dirty="0"/>
              <a:t>of</a:t>
            </a:r>
            <a:r>
              <a:rPr lang="ko-KR" altLang="en-US" sz="1800" b="1" dirty="0"/>
              <a:t> </a:t>
            </a:r>
            <a:r>
              <a:rPr lang="en-US" altLang="ko-KR" sz="1800" b="1" dirty="0"/>
              <a:t>the</a:t>
            </a:r>
            <a:r>
              <a:rPr lang="ko-KR" altLang="en-US" sz="1800" b="1" dirty="0"/>
              <a:t> </a:t>
            </a:r>
            <a:r>
              <a:rPr lang="en-US" altLang="ko-KR" sz="1800" b="1" dirty="0"/>
              <a:t>Scope</a:t>
            </a:r>
            <a:r>
              <a:rPr lang="ko-KR" altLang="en-US" sz="1800" b="1" dirty="0"/>
              <a:t> </a:t>
            </a:r>
            <a:r>
              <a:rPr lang="en-US" altLang="ko-KR" sz="1800" b="1" dirty="0"/>
              <a:t>of</a:t>
            </a:r>
            <a:r>
              <a:rPr lang="ko-KR" altLang="en-US" sz="1800" b="1" dirty="0"/>
              <a:t> </a:t>
            </a:r>
            <a:r>
              <a:rPr lang="en-US" altLang="ko-KR" sz="1800" b="1" dirty="0"/>
              <a:t>a</a:t>
            </a:r>
            <a:r>
              <a:rPr lang="ko-KR" altLang="en-US" sz="1800" b="1" dirty="0"/>
              <a:t> </a:t>
            </a:r>
            <a:r>
              <a:rPr lang="en-US" altLang="ko-KR" sz="1800" b="1" dirty="0" err="1"/>
              <a:t>ReplicationController</a:t>
            </a:r>
            <a:r>
              <a:rPr lang="ko-KR" altLang="en-US" sz="1800" b="1" dirty="0"/>
              <a:t> </a:t>
            </a:r>
            <a:r>
              <a:rPr lang="en-US" altLang="ko-KR" sz="1800" b="1" dirty="0"/>
              <a:t>:</a:t>
            </a:r>
          </a:p>
          <a:p>
            <a:pPr lvl="1">
              <a:buFont typeface="Wingdings" panose="05000000000000000000" pitchFamily="2" charset="2"/>
              <a:buChar char="§"/>
            </a:pPr>
            <a:r>
              <a:rPr lang="en-US" altLang="ko-KR" sz="1400" b="1" dirty="0"/>
              <a:t>Pods created by a </a:t>
            </a:r>
            <a:r>
              <a:rPr lang="en-US" altLang="ko-KR" sz="1400" b="1" dirty="0" err="1"/>
              <a:t>ReplicationController</a:t>
            </a:r>
            <a:r>
              <a:rPr lang="en-US" altLang="ko-KR" sz="1400" b="1" dirty="0"/>
              <a:t> aren’t tied to the </a:t>
            </a:r>
            <a:r>
              <a:rPr lang="en-US" altLang="ko-KR" sz="1400" b="1" dirty="0" err="1"/>
              <a:t>ReplicationController</a:t>
            </a:r>
            <a:r>
              <a:rPr lang="en-US" altLang="ko-KR" sz="1400" b="1" dirty="0"/>
              <a:t> in any way</a:t>
            </a:r>
            <a:r>
              <a:rPr lang="en-US" altLang="ko-KR" sz="1400" dirty="0"/>
              <a:t>. At any moment, </a:t>
            </a:r>
            <a:r>
              <a:rPr lang="en-US" altLang="ko-KR" sz="1400" b="1" dirty="0"/>
              <a:t>a </a:t>
            </a:r>
            <a:r>
              <a:rPr lang="en-US" altLang="ko-KR" sz="1400" b="1" dirty="0" err="1"/>
              <a:t>ReplicationController</a:t>
            </a:r>
            <a:r>
              <a:rPr lang="en-US" altLang="ko-KR" sz="1400" b="1" dirty="0"/>
              <a:t> manages pods that match its </a:t>
            </a:r>
            <a:r>
              <a:rPr lang="en-US" altLang="ko-KR" sz="1400" b="1" dirty="0">
                <a:solidFill>
                  <a:srgbClr val="FF0000"/>
                </a:solidFill>
              </a:rPr>
              <a:t>label selector</a:t>
            </a:r>
            <a:r>
              <a:rPr lang="en-US" altLang="ko-KR" sz="1400" dirty="0"/>
              <a:t>. </a:t>
            </a:r>
            <a:r>
              <a:rPr lang="en-US" altLang="ko-KR" sz="1400" b="1" dirty="0">
                <a:solidFill>
                  <a:srgbClr val="FF0000"/>
                </a:solidFill>
              </a:rPr>
              <a:t>By changing a pod’s labels, it can be removed from or added to the scope of a </a:t>
            </a:r>
            <a:r>
              <a:rPr lang="en-US" altLang="ko-KR" sz="1400" b="1" dirty="0" err="1">
                <a:solidFill>
                  <a:srgbClr val="FF0000"/>
                </a:solidFill>
              </a:rPr>
              <a:t>ReplicationController</a:t>
            </a:r>
            <a:r>
              <a:rPr lang="en-US" altLang="ko-KR" sz="1400" dirty="0"/>
              <a:t>. It can even be moved from one </a:t>
            </a:r>
            <a:r>
              <a:rPr lang="en-US" altLang="ko-KR" sz="1400" dirty="0" err="1"/>
              <a:t>ReplicationController</a:t>
            </a:r>
            <a:r>
              <a:rPr lang="en-US" altLang="ko-KR" sz="1400" dirty="0"/>
              <a:t> to another.</a:t>
            </a:r>
          </a:p>
          <a:p>
            <a:pPr lvl="1">
              <a:buFont typeface="Wingdings" panose="05000000000000000000" pitchFamily="2" charset="2"/>
              <a:buChar char="§"/>
            </a:pPr>
            <a:r>
              <a:rPr lang="en-US" altLang="ko-KR" sz="1400" b="1" dirty="0"/>
              <a:t>TIP : Although a pod isn’t tied to a </a:t>
            </a:r>
            <a:r>
              <a:rPr lang="en-US" altLang="ko-KR" sz="1400" b="1" dirty="0" err="1"/>
              <a:t>ReplicationController</a:t>
            </a:r>
            <a:r>
              <a:rPr lang="en-US" altLang="ko-KR" sz="1400" b="1" dirty="0"/>
              <a:t>, the pod does reference it in the </a:t>
            </a:r>
            <a:r>
              <a:rPr lang="en-US" altLang="ko-KR" sz="1400" b="1" dirty="0" err="1">
                <a:solidFill>
                  <a:srgbClr val="FF0000"/>
                </a:solidFill>
              </a:rPr>
              <a:t>metadata.ownerReferences</a:t>
            </a:r>
            <a:r>
              <a:rPr lang="en-US" altLang="ko-KR" sz="1400" b="1" dirty="0">
                <a:solidFill>
                  <a:srgbClr val="FF0000"/>
                </a:solidFill>
              </a:rPr>
              <a:t> </a:t>
            </a:r>
            <a:r>
              <a:rPr lang="en-US" altLang="ko-KR" sz="1400" b="1" dirty="0"/>
              <a:t>field</a:t>
            </a:r>
            <a:r>
              <a:rPr lang="en-US" altLang="ko-KR" sz="1400" dirty="0"/>
              <a:t>, which you can use to easily find which </a:t>
            </a:r>
            <a:r>
              <a:rPr lang="en-US" altLang="ko-KR" sz="1400" b="1" dirty="0" err="1"/>
              <a:t>ReplicationController</a:t>
            </a:r>
            <a:r>
              <a:rPr lang="en-US" altLang="ko-KR" sz="1400" dirty="0"/>
              <a:t> a pod belongs to.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F7E3FC2-0521-2BD2-8FEA-74522B9995F3}"/>
              </a:ext>
            </a:extLst>
          </p:cNvPr>
          <p:cNvPicPr>
            <a:picLocks noChangeAspect="1"/>
          </p:cNvPicPr>
          <p:nvPr/>
        </p:nvPicPr>
        <p:blipFill>
          <a:blip r:embed="rId2"/>
          <a:stretch>
            <a:fillRect/>
          </a:stretch>
        </p:blipFill>
        <p:spPr>
          <a:xfrm>
            <a:off x="6672507" y="2397266"/>
            <a:ext cx="4681293" cy="3468761"/>
          </a:xfrm>
          <a:prstGeom prst="rect">
            <a:avLst/>
          </a:prstGeom>
        </p:spPr>
      </p:pic>
      <p:sp>
        <p:nvSpPr>
          <p:cNvPr id="11" name="TextBox 10">
            <a:extLst>
              <a:ext uri="{FF2B5EF4-FFF2-40B4-BE49-F238E27FC236}">
                <a16:creationId xmlns:a16="http://schemas.microsoft.com/office/drawing/2014/main" id="{887B29A3-6020-CB1E-8115-39A4067EB5EC}"/>
              </a:ext>
            </a:extLst>
          </p:cNvPr>
          <p:cNvSpPr txBox="1"/>
          <p:nvPr/>
        </p:nvSpPr>
        <p:spPr>
          <a:xfrm>
            <a:off x="838200" y="2397266"/>
            <a:ext cx="5834307" cy="3258841"/>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If you change a pod’s labels so they no longer match a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label selector, the pod becomes like any other manually created pod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It’s no longer managed by anything</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the node running the pod fails, the pod is obviously not rescheduled. But keep in mind that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when you changed the pod’s labels, the replication controller noticed one pod was missing and spun up a new pod to replace it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For example, because your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manages pods that have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app=</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kubia</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label, you need to either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remove this label or change its value to move the pod out of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scope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Adding another label will have no effect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because the </a:t>
            </a:r>
            <a:r>
              <a:rPr kumimoji="0" lang="en-US" altLang="ko-KR"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doesn’t care if the pod has any additional labels.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It only cares whether the pod has all the labels referenced in the label selector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6743883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Labels to Pods Managed by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dirty="0"/>
              <a:t>Let’s confirm that a </a:t>
            </a:r>
            <a:r>
              <a:rPr lang="en-US" altLang="ko-KR" sz="1400" b="1" dirty="0" err="1"/>
              <a:t>ReplicationController</a:t>
            </a:r>
            <a:r>
              <a:rPr lang="en-US" altLang="ko-KR" sz="1400" dirty="0"/>
              <a:t> doesn’t care if you add additional labels to its managed pods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You’ve added the “</a:t>
            </a:r>
            <a:r>
              <a:rPr lang="en-US" altLang="ko-KR" sz="1400" b="1" dirty="0"/>
              <a:t>type=special</a:t>
            </a:r>
            <a:r>
              <a:rPr lang="en-US" altLang="ko-KR" sz="1400" dirty="0"/>
              <a:t>” label to one of the pods. </a:t>
            </a:r>
            <a:r>
              <a:rPr lang="en-US" altLang="ko-KR" sz="1400" b="1" dirty="0"/>
              <a:t>Listing all pods again shows the same three pods as before, because </a:t>
            </a:r>
            <a:r>
              <a:rPr lang="en-US" altLang="ko-KR" sz="1400" b="1" dirty="0">
                <a:solidFill>
                  <a:srgbClr val="FF0000"/>
                </a:solidFill>
              </a:rPr>
              <a:t>no change occurred </a:t>
            </a:r>
            <a:r>
              <a:rPr lang="en-US" altLang="ko-KR" sz="1400" b="1" dirty="0"/>
              <a:t>as far as the </a:t>
            </a:r>
            <a:r>
              <a:rPr lang="en-US" altLang="ko-KR" sz="1400" b="1" dirty="0" err="1"/>
              <a:t>ReplicationController</a:t>
            </a:r>
            <a:r>
              <a:rPr lang="en-US" altLang="ko-KR" sz="1400" b="1" dirty="0"/>
              <a:t> is concerned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3DEDDC3-4B47-9BED-571C-04AAF3BE4A3C}"/>
              </a:ext>
            </a:extLst>
          </p:cNvPr>
          <p:cNvGrpSpPr/>
          <p:nvPr/>
        </p:nvGrpSpPr>
        <p:grpSpPr>
          <a:xfrm>
            <a:off x="1540093" y="1548438"/>
            <a:ext cx="9111809" cy="3160433"/>
            <a:chOff x="1540093" y="1548438"/>
            <a:chExt cx="9111809" cy="3160433"/>
          </a:xfrm>
        </p:grpSpPr>
        <p:grpSp>
          <p:nvGrpSpPr>
            <p:cNvPr id="12" name="그룹 11">
              <a:extLst>
                <a:ext uri="{FF2B5EF4-FFF2-40B4-BE49-F238E27FC236}">
                  <a16:creationId xmlns:a16="http://schemas.microsoft.com/office/drawing/2014/main" id="{1A8538DC-5001-8A85-09B9-B18E5204BB40}"/>
                </a:ext>
              </a:extLst>
            </p:cNvPr>
            <p:cNvGrpSpPr/>
            <p:nvPr/>
          </p:nvGrpSpPr>
          <p:grpSpPr>
            <a:xfrm>
              <a:off x="1540093" y="1548438"/>
              <a:ext cx="9111809" cy="3160433"/>
              <a:chOff x="1540093" y="1548438"/>
              <a:chExt cx="9111809" cy="3160433"/>
            </a:xfrm>
          </p:grpSpPr>
          <p:pic>
            <p:nvPicPr>
              <p:cNvPr id="8" name="그림 7">
                <a:extLst>
                  <a:ext uri="{FF2B5EF4-FFF2-40B4-BE49-F238E27FC236}">
                    <a16:creationId xmlns:a16="http://schemas.microsoft.com/office/drawing/2014/main" id="{D4CC3EB0-E1FC-9BB2-032C-8741CAD9745B}"/>
                  </a:ext>
                </a:extLst>
              </p:cNvPr>
              <p:cNvPicPr>
                <a:picLocks noChangeAspect="1"/>
              </p:cNvPicPr>
              <p:nvPr/>
            </p:nvPicPr>
            <p:blipFill>
              <a:blip r:embed="rId2"/>
              <a:stretch>
                <a:fillRect/>
              </a:stretch>
            </p:blipFill>
            <p:spPr>
              <a:xfrm>
                <a:off x="1540093" y="2223832"/>
                <a:ext cx="9111809" cy="2485039"/>
              </a:xfrm>
              <a:prstGeom prst="rect">
                <a:avLst/>
              </a:prstGeom>
            </p:spPr>
          </p:pic>
          <p:sp>
            <p:nvSpPr>
              <p:cNvPr id="10" name="TextBox 9">
                <a:extLst>
                  <a:ext uri="{FF2B5EF4-FFF2-40B4-BE49-F238E27FC236}">
                    <a16:creationId xmlns:a16="http://schemas.microsoft.com/office/drawing/2014/main" id="{1D26AB25-9273-F87A-3F34-70762A8D1C3A}"/>
                  </a:ext>
                </a:extLst>
              </p:cNvPr>
              <p:cNvSpPr txBox="1"/>
              <p:nvPr/>
            </p:nvSpPr>
            <p:spPr>
              <a:xfrm>
                <a:off x="3047342" y="1548438"/>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 </a:t>
                </a:r>
                <a:r>
                  <a:rPr lang="en-US" altLang="ko-KR" sz="1000" b="1" dirty="0" err="1">
                    <a:solidFill>
                      <a:srgbClr val="FF0000"/>
                    </a:solidFill>
                  </a:rPr>
                  <a:t>kubia-xxxxx</a:t>
                </a:r>
                <a:r>
                  <a:rPr lang="en-US" altLang="ko-KR" sz="1000" b="1" dirty="0"/>
                  <a:t> type=special</a:t>
                </a:r>
              </a:p>
              <a:p>
                <a:r>
                  <a:rPr lang="en-US" altLang="ko-KR" sz="1000" b="1" dirty="0"/>
                  <a:t>$ </a:t>
                </a:r>
                <a:r>
                  <a:rPr lang="en-US" altLang="ko-KR" sz="1000" b="1" dirty="0" err="1"/>
                  <a:t>kubectl</a:t>
                </a:r>
                <a:r>
                  <a:rPr lang="en-US" altLang="ko-KR" sz="1000" b="1" dirty="0"/>
                  <a:t> get pods --show-labels</a:t>
                </a:r>
                <a:endParaRPr lang="ko-KR" altLang="en-US" sz="1000" b="1" dirty="0"/>
              </a:p>
            </p:txBody>
          </p:sp>
          <p:sp>
            <p:nvSpPr>
              <p:cNvPr id="11" name="화살표: 아래쪽 10">
                <a:extLst>
                  <a:ext uri="{FF2B5EF4-FFF2-40B4-BE49-F238E27FC236}">
                    <a16:creationId xmlns:a16="http://schemas.microsoft.com/office/drawing/2014/main" id="{7D780F7D-CBB6-1B63-C9A9-DC80542DFBF9}"/>
                  </a:ext>
                </a:extLst>
              </p:cNvPr>
              <p:cNvSpPr/>
              <p:nvPr/>
            </p:nvSpPr>
            <p:spPr>
              <a:xfrm>
                <a:off x="5902871" y="1948548"/>
                <a:ext cx="386255" cy="27528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9CC448D0-0CF3-3393-3380-DCB88D3C4202}"/>
                </a:ext>
              </a:extLst>
            </p:cNvPr>
            <p:cNvSpPr/>
            <p:nvPr/>
          </p:nvSpPr>
          <p:spPr>
            <a:xfrm>
              <a:off x="5754413" y="3398479"/>
              <a:ext cx="2892972"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CB0C4000-593D-48CD-6955-54C2DE57073F}"/>
                </a:ext>
              </a:extLst>
            </p:cNvPr>
            <p:cNvSpPr/>
            <p:nvPr/>
          </p:nvSpPr>
          <p:spPr>
            <a:xfrm>
              <a:off x="1639614" y="3957145"/>
              <a:ext cx="4769069" cy="1418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767010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Labels of a Managed Pod :</a:t>
            </a:r>
          </a:p>
          <a:p>
            <a:pPr lvl="1">
              <a:buFont typeface="Wingdings" panose="05000000000000000000" pitchFamily="2" charset="2"/>
              <a:buChar char="§"/>
            </a:pPr>
            <a:r>
              <a:rPr lang="en-US" altLang="ko-KR" sz="1400" b="1" dirty="0"/>
              <a:t>Now, you’ll change the “app=</a:t>
            </a:r>
            <a:r>
              <a:rPr lang="en-US" altLang="ko-KR" sz="1400" b="1" dirty="0" err="1"/>
              <a:t>kubia</a:t>
            </a:r>
            <a:r>
              <a:rPr lang="en-US" altLang="ko-KR" sz="1400" b="1" dirty="0"/>
              <a:t>” label to something else</a:t>
            </a:r>
            <a:r>
              <a:rPr lang="en-US" altLang="ko-KR" sz="1400" dirty="0"/>
              <a:t>. This will make the pod </a:t>
            </a:r>
            <a:r>
              <a:rPr lang="en-US" altLang="ko-KR" sz="1400" b="1" dirty="0"/>
              <a:t>no longer match the </a:t>
            </a:r>
            <a:r>
              <a:rPr lang="en-US" altLang="ko-KR" sz="1400" b="1" dirty="0" err="1"/>
              <a:t>ReplicationController’s</a:t>
            </a:r>
            <a:r>
              <a:rPr lang="en-US" altLang="ko-KR" sz="1400" b="1" dirty="0"/>
              <a:t> label selector</a:t>
            </a:r>
            <a:r>
              <a:rPr lang="en-US" altLang="ko-KR" sz="1400" dirty="0"/>
              <a:t>, leaving it to only match two pods. </a:t>
            </a:r>
            <a:r>
              <a:rPr lang="en-US" altLang="ko-KR" sz="1400" b="1" dirty="0"/>
              <a:t>The </a:t>
            </a:r>
            <a:r>
              <a:rPr lang="en-US" altLang="ko-KR" sz="1400" b="1" dirty="0" err="1"/>
              <a:t>ReplicationController</a:t>
            </a:r>
            <a:r>
              <a:rPr lang="en-US" altLang="ko-KR" sz="1400" b="1" dirty="0"/>
              <a:t> should therefore start a new pod to bring the number back to three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t>
            </a:r>
            <a:r>
              <a:rPr lang="en-US" altLang="ko-KR" sz="1400" b="1" dirty="0">
                <a:solidFill>
                  <a:srgbClr val="FF0000"/>
                </a:solidFill>
              </a:rPr>
              <a:t>--overwrite</a:t>
            </a:r>
            <a:r>
              <a:rPr lang="en-US" altLang="ko-KR" sz="1400" b="1" dirty="0"/>
              <a:t>” argument is necessary</a:t>
            </a:r>
            <a:r>
              <a:rPr lang="en-US" altLang="ko-KR" sz="1400" dirty="0"/>
              <a:t>; </a:t>
            </a:r>
            <a:r>
              <a:rPr lang="en-US" altLang="ko-KR" sz="1400" b="1" dirty="0"/>
              <a:t>otherwise </a:t>
            </a:r>
            <a:r>
              <a:rPr lang="en-US" altLang="ko-KR" sz="1400" b="1" dirty="0" err="1"/>
              <a:t>kubectl</a:t>
            </a:r>
            <a:r>
              <a:rPr lang="en-US" altLang="ko-KR" sz="1400" b="1" dirty="0"/>
              <a:t> will only print out a warning and won’t change the label</a:t>
            </a:r>
            <a:r>
              <a:rPr lang="en-US" altLang="ko-KR" sz="1400" dirty="0"/>
              <a:t>, </a:t>
            </a:r>
            <a:r>
              <a:rPr lang="en-US" altLang="ko-KR" sz="1400" b="1" dirty="0"/>
              <a:t>to prevent you from inadvertently changing an existing label’s value when your intent is to add a new one</a:t>
            </a:r>
            <a:r>
              <a:rPr lang="en-US" altLang="ko-KR" sz="1400" dirty="0"/>
              <a:t>. </a:t>
            </a:r>
          </a:p>
          <a:p>
            <a:pPr lvl="1">
              <a:buFont typeface="Wingdings" panose="05000000000000000000" pitchFamily="2" charset="2"/>
              <a:buChar char="§"/>
            </a:pPr>
            <a:r>
              <a:rPr lang="en-US" altLang="ko-KR" sz="1400" b="1" dirty="0"/>
              <a:t>Listing all the pods again should now show four pods</a:t>
            </a:r>
            <a:r>
              <a:rPr lang="en-US" altLang="ko-KR" sz="1400" dirty="0"/>
              <a:t>. </a:t>
            </a:r>
          </a:p>
          <a:p>
            <a:pPr lvl="1">
              <a:buFont typeface="Wingdings" panose="05000000000000000000" pitchFamily="2" charset="2"/>
              <a:buChar char="§"/>
            </a:pPr>
            <a:r>
              <a:rPr lang="en-US" altLang="ko-KR" sz="1400" b="1" dirty="0"/>
              <a:t>NOTE : You’re using the “</a:t>
            </a:r>
            <a:r>
              <a:rPr lang="en-US" altLang="ko-KR" sz="1400" b="1" dirty="0">
                <a:solidFill>
                  <a:srgbClr val="FF0000"/>
                </a:solidFill>
              </a:rPr>
              <a:t>-L</a:t>
            </a:r>
            <a:r>
              <a:rPr lang="en-US" altLang="ko-KR" sz="1400" b="1" dirty="0"/>
              <a:t> app” option to display the “app” label in a column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5AA184CB-6908-BDDD-05F7-87AACA7E2D8C}"/>
              </a:ext>
            </a:extLst>
          </p:cNvPr>
          <p:cNvGrpSpPr/>
          <p:nvPr/>
        </p:nvGrpSpPr>
        <p:grpSpPr>
          <a:xfrm>
            <a:off x="1867227" y="1918348"/>
            <a:ext cx="8457543" cy="2970099"/>
            <a:chOff x="1867227" y="1918348"/>
            <a:chExt cx="8457543" cy="2970099"/>
          </a:xfrm>
        </p:grpSpPr>
        <p:grpSp>
          <p:nvGrpSpPr>
            <p:cNvPr id="12" name="그룹 11">
              <a:extLst>
                <a:ext uri="{FF2B5EF4-FFF2-40B4-BE49-F238E27FC236}">
                  <a16:creationId xmlns:a16="http://schemas.microsoft.com/office/drawing/2014/main" id="{456669ED-8823-F2C9-764A-8A15C6B6B2F0}"/>
                </a:ext>
              </a:extLst>
            </p:cNvPr>
            <p:cNvGrpSpPr/>
            <p:nvPr/>
          </p:nvGrpSpPr>
          <p:grpSpPr>
            <a:xfrm>
              <a:off x="1867227" y="1918348"/>
              <a:ext cx="8457543" cy="2970099"/>
              <a:chOff x="1867227" y="1918348"/>
              <a:chExt cx="8457543" cy="2970099"/>
            </a:xfrm>
          </p:grpSpPr>
          <p:pic>
            <p:nvPicPr>
              <p:cNvPr id="8" name="그림 7">
                <a:extLst>
                  <a:ext uri="{FF2B5EF4-FFF2-40B4-BE49-F238E27FC236}">
                    <a16:creationId xmlns:a16="http://schemas.microsoft.com/office/drawing/2014/main" id="{40996045-591A-95D8-B715-DFB4590F9953}"/>
                  </a:ext>
                </a:extLst>
              </p:cNvPr>
              <p:cNvPicPr>
                <a:picLocks noChangeAspect="1"/>
              </p:cNvPicPr>
              <p:nvPr/>
            </p:nvPicPr>
            <p:blipFill>
              <a:blip r:embed="rId2"/>
              <a:stretch>
                <a:fillRect/>
              </a:stretch>
            </p:blipFill>
            <p:spPr>
              <a:xfrm>
                <a:off x="1867227" y="2474203"/>
                <a:ext cx="8457543" cy="2414244"/>
              </a:xfrm>
              <a:prstGeom prst="rect">
                <a:avLst/>
              </a:prstGeom>
            </p:spPr>
          </p:pic>
          <p:sp>
            <p:nvSpPr>
              <p:cNvPr id="10" name="TextBox 9">
                <a:extLst>
                  <a:ext uri="{FF2B5EF4-FFF2-40B4-BE49-F238E27FC236}">
                    <a16:creationId xmlns:a16="http://schemas.microsoft.com/office/drawing/2014/main" id="{E469F26D-714D-7CC8-23B4-D1BB9EF7CADB}"/>
                  </a:ext>
                </a:extLst>
              </p:cNvPr>
              <p:cNvSpPr txBox="1"/>
              <p:nvPr/>
            </p:nvSpPr>
            <p:spPr>
              <a:xfrm>
                <a:off x="3047342" y="191834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 </a:t>
                </a:r>
                <a:r>
                  <a:rPr lang="en-US" altLang="ko-KR" sz="1000" b="1" dirty="0" err="1">
                    <a:solidFill>
                      <a:srgbClr val="FF0000"/>
                    </a:solidFill>
                  </a:rPr>
                  <a:t>kubia-xxxxx</a:t>
                </a:r>
                <a:r>
                  <a:rPr lang="en-US" altLang="ko-KR" sz="1000" b="1" dirty="0"/>
                  <a:t> </a:t>
                </a:r>
                <a:r>
                  <a:rPr lang="en-US" altLang="ko-KR" sz="1000" b="1" dirty="0">
                    <a:solidFill>
                      <a:srgbClr val="FF0000"/>
                    </a:solidFill>
                  </a:rPr>
                  <a:t>app=foo --overwrite</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15A1F1E8-4B7F-CBD6-9F28-8473EEB5B358}"/>
                  </a:ext>
                </a:extLst>
              </p:cNvPr>
              <p:cNvSpPr/>
              <p:nvPr/>
            </p:nvSpPr>
            <p:spPr>
              <a:xfrm>
                <a:off x="5875282" y="2185379"/>
                <a:ext cx="441435" cy="2680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DCCA8079-26A2-E689-6573-24C8ECA5E3F0}"/>
                </a:ext>
              </a:extLst>
            </p:cNvPr>
            <p:cNvSpPr/>
            <p:nvPr/>
          </p:nvSpPr>
          <p:spPr>
            <a:xfrm>
              <a:off x="5746531" y="3515711"/>
              <a:ext cx="3168869" cy="2207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D14B5BA3-9399-A96C-856E-E81141FE8A34}"/>
                </a:ext>
              </a:extLst>
            </p:cNvPr>
            <p:cNvSpPr/>
            <p:nvPr/>
          </p:nvSpPr>
          <p:spPr>
            <a:xfrm>
              <a:off x="1962807" y="4069711"/>
              <a:ext cx="3413234" cy="305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025728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Labels of a Managed Pod :</a:t>
            </a:r>
          </a:p>
          <a:p>
            <a:pPr lvl="1">
              <a:buFont typeface="Wingdings" panose="05000000000000000000" pitchFamily="2" charset="2"/>
              <a:buChar char="§"/>
            </a:pPr>
            <a:r>
              <a:rPr lang="en-US" altLang="ko-KR" sz="1400" dirty="0"/>
              <a:t>There, you now have four pods altogether: </a:t>
            </a:r>
            <a:r>
              <a:rPr lang="en-US" altLang="ko-KR" sz="1400" b="1" dirty="0"/>
              <a:t>one that isn’t managed by your </a:t>
            </a:r>
            <a:r>
              <a:rPr lang="en-US" altLang="ko-KR" sz="1400" b="1" dirty="0" err="1"/>
              <a:t>ReplicationController</a:t>
            </a:r>
            <a:r>
              <a:rPr lang="en-US" altLang="ko-KR" sz="1400" b="1" dirty="0"/>
              <a:t> </a:t>
            </a:r>
            <a:r>
              <a:rPr lang="en-US" altLang="ko-KR" sz="1400" dirty="0"/>
              <a:t>and </a:t>
            </a:r>
            <a:r>
              <a:rPr lang="en-US" altLang="ko-KR" sz="1400" b="1" dirty="0"/>
              <a:t>three that are</a:t>
            </a:r>
            <a:r>
              <a:rPr lang="en-US" altLang="ko-KR" sz="1400" dirty="0"/>
              <a:t>. </a:t>
            </a:r>
            <a:r>
              <a:rPr lang="en-US" altLang="ko-KR" sz="1400" b="1" dirty="0"/>
              <a:t>Among them is the newly created pod</a:t>
            </a:r>
            <a:r>
              <a:rPr lang="en-US" altLang="ko-KR" sz="1400" dirty="0"/>
              <a:t>. The following figure illustrates what happened </a:t>
            </a:r>
            <a:r>
              <a:rPr lang="en-US" altLang="ko-KR" sz="1400" b="1" dirty="0"/>
              <a:t>when you changed the pod’s labels so they no longer matched the </a:t>
            </a:r>
            <a:r>
              <a:rPr lang="en-US" altLang="ko-KR" sz="1400" b="1" dirty="0" err="1"/>
              <a:t>ReplicationController’s</a:t>
            </a:r>
            <a:r>
              <a:rPr lang="en-US" altLang="ko-KR" sz="1400" b="1" dirty="0"/>
              <a:t> pod selector</a:t>
            </a:r>
            <a:r>
              <a:rPr lang="en-US" altLang="ko-KR" sz="1400" dirty="0"/>
              <a:t>. You can see your three pods and your </a:t>
            </a:r>
            <a:r>
              <a:rPr lang="en-US" altLang="ko-KR" sz="1400" b="1" dirty="0" err="1"/>
              <a:t>ReplicationController</a:t>
            </a:r>
            <a:r>
              <a:rPr lang="en-US" altLang="ko-KR" sz="1400" dirty="0"/>
              <a:t>. </a:t>
            </a:r>
            <a:r>
              <a:rPr lang="en-US" altLang="ko-KR" sz="1400" b="1" dirty="0"/>
              <a:t>After you change the pod’s label from “app=</a:t>
            </a:r>
            <a:r>
              <a:rPr lang="en-US" altLang="ko-KR" sz="1400" b="1" dirty="0" err="1"/>
              <a:t>kubia</a:t>
            </a:r>
            <a:r>
              <a:rPr lang="en-US" altLang="ko-KR" sz="1400" b="1" dirty="0"/>
              <a:t>” to “app=foo”, the </a:t>
            </a:r>
            <a:r>
              <a:rPr lang="en-US" altLang="ko-KR" sz="1400" b="1" dirty="0" err="1"/>
              <a:t>ReplicationController</a:t>
            </a:r>
            <a:r>
              <a:rPr lang="en-US" altLang="ko-KR" sz="1400" b="1" dirty="0"/>
              <a:t> no longer cares about the pod</a:t>
            </a:r>
            <a:r>
              <a:rPr lang="en-US" altLang="ko-KR" sz="1400" dirty="0"/>
              <a:t>. </a:t>
            </a:r>
          </a:p>
          <a:p>
            <a:pPr lvl="1">
              <a:buFont typeface="Wingdings" panose="05000000000000000000" pitchFamily="2" charset="2"/>
              <a:buChar char="§"/>
            </a:pPr>
            <a:r>
              <a:rPr lang="en-US" altLang="ko-KR" sz="1400" b="1" dirty="0"/>
              <a:t>Because the controller’s replica count is set to 3 and only two pods match the label selector, the </a:t>
            </a:r>
            <a:r>
              <a:rPr lang="en-US" altLang="ko-KR" sz="1400" b="1" dirty="0" err="1"/>
              <a:t>ReplicationController</a:t>
            </a:r>
            <a:r>
              <a:rPr lang="en-US" altLang="ko-KR" sz="1400" b="1" dirty="0"/>
              <a:t> spins up a new pod like “</a:t>
            </a:r>
            <a:r>
              <a:rPr lang="en-US" altLang="ko-KR" sz="1400" b="1" dirty="0" err="1"/>
              <a:t>kubia-xxxxx</a:t>
            </a:r>
            <a:r>
              <a:rPr lang="en-US" altLang="ko-KR" sz="1400" b="1" dirty="0"/>
              <a:t>” to bring the number back up to three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AB0D90D-BD85-8ED5-CE05-DF6525C32F6A}"/>
              </a:ext>
            </a:extLst>
          </p:cNvPr>
          <p:cNvPicPr>
            <a:picLocks noChangeAspect="1"/>
          </p:cNvPicPr>
          <p:nvPr/>
        </p:nvPicPr>
        <p:blipFill>
          <a:blip r:embed="rId2"/>
          <a:stretch>
            <a:fillRect/>
          </a:stretch>
        </p:blipFill>
        <p:spPr>
          <a:xfrm>
            <a:off x="3082074" y="2767576"/>
            <a:ext cx="6017342" cy="3588774"/>
          </a:xfrm>
          <a:prstGeom prst="rect">
            <a:avLst/>
          </a:prstGeom>
        </p:spPr>
      </p:pic>
    </p:spTree>
    <p:extLst>
      <p:ext uri="{BB962C8B-B14F-4D97-AF65-F5344CB8AC3E}">
        <p14:creationId xmlns:p14="http://schemas.microsoft.com/office/powerpoint/2010/main" val="3657141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Pods from Controllers in Practice :</a:t>
            </a:r>
          </a:p>
          <a:p>
            <a:pPr lvl="1">
              <a:buFont typeface="Wingdings" panose="05000000000000000000" pitchFamily="2" charset="2"/>
              <a:buChar char="§"/>
            </a:pPr>
            <a:r>
              <a:rPr lang="en-US" altLang="ko-KR" sz="1400" b="1" dirty="0"/>
              <a:t>Removing a pod from the scope of the </a:t>
            </a:r>
            <a:r>
              <a:rPr lang="en-US" altLang="ko-KR" sz="1400" b="1" dirty="0" err="1"/>
              <a:t>ReplicationController</a:t>
            </a:r>
            <a:r>
              <a:rPr lang="en-US" altLang="ko-KR" sz="1400" b="1" dirty="0"/>
              <a:t> comes in handy when you want to perform actions on a specific pod</a:t>
            </a:r>
            <a:r>
              <a:rPr lang="en-US" altLang="ko-KR" sz="1400" dirty="0"/>
              <a:t>. For example, you might have a bug that causes your pod to start behaving badly after a specific amount of time or a specific event. </a:t>
            </a:r>
            <a:r>
              <a:rPr lang="en-US" altLang="ko-KR" sz="1400" b="1" dirty="0"/>
              <a:t>If you know a pod is malfunctioning, you can take it out of the </a:t>
            </a:r>
            <a:r>
              <a:rPr lang="en-US" altLang="ko-KR" sz="1400" b="1" dirty="0" err="1"/>
              <a:t>ReplicationController’s</a:t>
            </a:r>
            <a:r>
              <a:rPr lang="en-US" altLang="ko-KR" sz="1400" b="1" dirty="0"/>
              <a:t> scope, let the controller replace it with a new one, and then debug or play with the pod in any way you want</a:t>
            </a:r>
            <a:r>
              <a:rPr lang="en-US" altLang="ko-KR" sz="1400" dirty="0"/>
              <a:t>. Once you’re done, you can delete the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6CDA63DE-D867-8B2A-5A2D-04B5BD09889E}"/>
              </a:ext>
            </a:extLst>
          </p:cNvPr>
          <p:cNvPicPr>
            <a:picLocks noChangeAspect="1"/>
          </p:cNvPicPr>
          <p:nvPr/>
        </p:nvPicPr>
        <p:blipFill>
          <a:blip r:embed="rId2"/>
          <a:stretch>
            <a:fillRect/>
          </a:stretch>
        </p:blipFill>
        <p:spPr>
          <a:xfrm>
            <a:off x="3193585" y="2581244"/>
            <a:ext cx="5804830" cy="3166271"/>
          </a:xfrm>
          <a:prstGeom prst="rect">
            <a:avLst/>
          </a:prstGeom>
        </p:spPr>
      </p:pic>
    </p:spTree>
    <p:extLst>
      <p:ext uri="{BB962C8B-B14F-4D97-AF65-F5344CB8AC3E}">
        <p14:creationId xmlns:p14="http://schemas.microsoft.com/office/powerpoint/2010/main" val="20172362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(18/27)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Pod Template :</a:t>
            </a:r>
          </a:p>
          <a:p>
            <a:pPr lvl="1">
              <a:buFont typeface="Wingdings" panose="05000000000000000000" pitchFamily="2" charset="2"/>
              <a:buChar char="§"/>
            </a:pPr>
            <a:r>
              <a:rPr lang="en-US" altLang="ko-KR" sz="1400" b="1" dirty="0"/>
              <a:t>A </a:t>
            </a:r>
            <a:r>
              <a:rPr lang="en-US" altLang="ko-KR" sz="1400" b="1" dirty="0" err="1"/>
              <a:t>ReplicationController’s</a:t>
            </a:r>
            <a:r>
              <a:rPr lang="en-US" altLang="ko-KR" sz="1400" b="1" dirty="0"/>
              <a:t> pod template can be modified at any time</a:t>
            </a:r>
            <a:r>
              <a:rPr lang="en-US" altLang="ko-KR" sz="1400" dirty="0"/>
              <a:t>. Changing the pod template is like replacing a cookie cutter with another one. It will only affect the cookies you cut out afterward and will have no effect on the ones you’ve already cut as in the following figure. </a:t>
            </a:r>
            <a:r>
              <a:rPr lang="en-US" altLang="ko-KR" sz="1400" b="1" dirty="0"/>
              <a:t>To modify the old pods, you’d need to delete them and let the </a:t>
            </a:r>
            <a:r>
              <a:rPr lang="en-US" altLang="ko-KR" sz="1400" b="1" dirty="0" err="1"/>
              <a:t>ReplicationController</a:t>
            </a:r>
            <a:r>
              <a:rPr lang="en-US" altLang="ko-KR" sz="1400" b="1" dirty="0"/>
              <a:t> replace them with new ones based on the new template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3621C78-1919-C030-AB5B-C0BFC935E02D}"/>
              </a:ext>
            </a:extLst>
          </p:cNvPr>
          <p:cNvPicPr>
            <a:picLocks noChangeAspect="1"/>
          </p:cNvPicPr>
          <p:nvPr/>
        </p:nvPicPr>
        <p:blipFill>
          <a:blip r:embed="rId2"/>
          <a:stretch>
            <a:fillRect/>
          </a:stretch>
        </p:blipFill>
        <p:spPr>
          <a:xfrm>
            <a:off x="3048000" y="2500312"/>
            <a:ext cx="6096000" cy="1857375"/>
          </a:xfrm>
          <a:prstGeom prst="rect">
            <a:avLst/>
          </a:prstGeom>
        </p:spPr>
      </p:pic>
    </p:spTree>
    <p:extLst>
      <p:ext uri="{BB962C8B-B14F-4D97-AF65-F5344CB8AC3E}">
        <p14:creationId xmlns:p14="http://schemas.microsoft.com/office/powerpoint/2010/main" val="17873369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(19/27)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Pod Template :</a:t>
            </a:r>
          </a:p>
          <a:p>
            <a:pPr lvl="1">
              <a:buFont typeface="Wingdings" panose="05000000000000000000" pitchFamily="2" charset="2"/>
              <a:buChar char="§"/>
            </a:pPr>
            <a:r>
              <a:rPr lang="en-US" altLang="ko-KR" sz="1400" dirty="0"/>
              <a:t>As an exercise, </a:t>
            </a:r>
            <a:r>
              <a:rPr lang="en-US" altLang="ko-KR" sz="1400" b="1" dirty="0"/>
              <a:t>you can try editing the </a:t>
            </a:r>
            <a:r>
              <a:rPr lang="en-US" altLang="ko-KR" sz="1400" b="1" dirty="0" err="1"/>
              <a:t>ReplicationController</a:t>
            </a:r>
            <a:r>
              <a:rPr lang="en-US" altLang="ko-KR" sz="1400" b="1" dirty="0"/>
              <a:t> and adding a label to the pod template</a:t>
            </a:r>
            <a:r>
              <a:rPr lang="en-US" altLang="ko-KR" sz="1400" dirty="0"/>
              <a:t>. You can edit the </a:t>
            </a:r>
            <a:r>
              <a:rPr lang="en-US" altLang="ko-KR" sz="1400" dirty="0" err="1"/>
              <a:t>ReplicationController</a:t>
            </a:r>
            <a:r>
              <a:rPr lang="en-US" altLang="ko-KR" sz="1400" dirty="0"/>
              <a:t> 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will open the </a:t>
            </a:r>
            <a:r>
              <a:rPr lang="en-US" altLang="ko-KR" sz="1400" b="1" dirty="0" err="1"/>
              <a:t>ReplicationController’s</a:t>
            </a:r>
            <a:r>
              <a:rPr lang="en-US" altLang="ko-KR" sz="1400" b="1" dirty="0"/>
              <a:t> YAML definition in your default text editor. Find the pod </a:t>
            </a:r>
            <a:r>
              <a:rPr lang="en-US" altLang="ko-KR" sz="1400" b="1" dirty="0">
                <a:solidFill>
                  <a:srgbClr val="FF0000"/>
                </a:solidFill>
              </a:rPr>
              <a:t>template section</a:t>
            </a:r>
            <a:r>
              <a:rPr lang="en-US" altLang="ko-KR" sz="1400" b="1" dirty="0"/>
              <a:t> and add an additional label to the metadata</a:t>
            </a:r>
            <a:r>
              <a:rPr lang="en-US" altLang="ko-KR" sz="1400" dirty="0"/>
              <a:t>. </a:t>
            </a:r>
          </a:p>
          <a:p>
            <a:pPr lvl="1">
              <a:buFont typeface="Wingdings" panose="05000000000000000000" pitchFamily="2" charset="2"/>
              <a:buChar char="§"/>
            </a:pPr>
            <a:r>
              <a:rPr lang="en-US" altLang="ko-KR" sz="1400" b="1" dirty="0"/>
              <a:t>NOTE : When you try the above command, it will not work correctly. So I recommend use “</a:t>
            </a:r>
            <a:r>
              <a:rPr lang="en-US" altLang="ko-KR" sz="1400" b="1" dirty="0" err="1">
                <a:solidFill>
                  <a:srgbClr val="FF0000"/>
                </a:solidFill>
              </a:rPr>
              <a:t>kubectl</a:t>
            </a:r>
            <a:r>
              <a:rPr lang="en-US" altLang="ko-KR" sz="1400" b="1" dirty="0">
                <a:solidFill>
                  <a:srgbClr val="FF0000"/>
                </a:solidFill>
              </a:rPr>
              <a:t> get </a:t>
            </a:r>
            <a:r>
              <a:rPr lang="en-US" altLang="ko-KR" sz="1400" b="1" dirty="0" err="1">
                <a:solidFill>
                  <a:srgbClr val="FF0000"/>
                </a:solidFill>
              </a:rPr>
              <a:t>rc</a:t>
            </a:r>
            <a:r>
              <a:rPr lang="en-US" altLang="ko-KR" sz="1400" b="1" dirty="0">
                <a:solidFill>
                  <a:srgbClr val="FF0000"/>
                </a:solidFill>
              </a:rPr>
              <a:t> </a:t>
            </a:r>
            <a:r>
              <a:rPr lang="en-US" altLang="ko-KR" sz="1400" b="1" dirty="0" err="1">
                <a:solidFill>
                  <a:srgbClr val="FF0000"/>
                </a:solidFill>
              </a:rPr>
              <a:t>kubia</a:t>
            </a:r>
            <a:r>
              <a:rPr lang="en-US" altLang="ko-KR" sz="1400" b="1" dirty="0">
                <a:solidFill>
                  <a:srgbClr val="FF0000"/>
                </a:solidFill>
              </a:rPr>
              <a:t> -o </a:t>
            </a:r>
            <a:r>
              <a:rPr lang="en-US" altLang="ko-KR" sz="1400" b="1" dirty="0" err="1">
                <a:solidFill>
                  <a:srgbClr val="FF0000"/>
                </a:solidFill>
              </a:rPr>
              <a:t>yaml</a:t>
            </a:r>
            <a:r>
              <a:rPr lang="en-US" altLang="ko-KR" sz="1400" b="1" dirty="0">
                <a:solidFill>
                  <a:srgbClr val="FF0000"/>
                </a:solidFill>
              </a:rPr>
              <a:t> &gt; </a:t>
            </a:r>
            <a:r>
              <a:rPr lang="en-US" altLang="ko-KR" sz="1400" b="1" dirty="0" err="1">
                <a:solidFill>
                  <a:srgbClr val="FF0000"/>
                </a:solidFill>
              </a:rPr>
              <a:t>kubia-rc-new.yaml</a:t>
            </a:r>
            <a:r>
              <a:rPr lang="en-US" altLang="ko-KR" sz="1400" b="1" dirty="0"/>
              <a:t>” command. Then edit the output file</a:t>
            </a:r>
            <a:r>
              <a:rPr lang="en-US" altLang="ko-KR" sz="1400" dirty="0"/>
              <a:t>. </a:t>
            </a:r>
            <a:r>
              <a:rPr lang="en-US" altLang="ko-KR" sz="1400" b="1" dirty="0"/>
              <a:t>After that, you can use “</a:t>
            </a:r>
            <a:r>
              <a:rPr lang="en-US" altLang="ko-KR" sz="1400" b="1" dirty="0" err="1">
                <a:solidFill>
                  <a:srgbClr val="FF0000"/>
                </a:solidFill>
              </a:rPr>
              <a:t>kubectl</a:t>
            </a:r>
            <a:r>
              <a:rPr lang="en-US" altLang="ko-KR" sz="1400" b="1" dirty="0">
                <a:solidFill>
                  <a:srgbClr val="FF0000"/>
                </a:solidFill>
              </a:rPr>
              <a:t> apply -f </a:t>
            </a:r>
            <a:r>
              <a:rPr lang="en-US" altLang="ko-KR" sz="1400" b="1" dirty="0" err="1">
                <a:solidFill>
                  <a:srgbClr val="FF0000"/>
                </a:solidFill>
              </a:rPr>
              <a:t>kubia-rc-new.yaml</a:t>
            </a:r>
            <a:r>
              <a:rPr lang="en-US" altLang="ko-KR" sz="1400" b="1" dirty="0"/>
              <a:t>” command to update the </a:t>
            </a:r>
            <a:r>
              <a:rPr lang="en-US" altLang="ko-KR" sz="1400" b="1" dirty="0" err="1"/>
              <a:t>ReplicationController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0FE6C545-2ECA-2FD4-80DE-16C34C780993}"/>
              </a:ext>
            </a:extLst>
          </p:cNvPr>
          <p:cNvGrpSpPr/>
          <p:nvPr/>
        </p:nvGrpSpPr>
        <p:grpSpPr>
          <a:xfrm>
            <a:off x="1462908" y="1672066"/>
            <a:ext cx="9266183" cy="3209573"/>
            <a:chOff x="1462908" y="1667783"/>
            <a:chExt cx="9266183" cy="3209573"/>
          </a:xfrm>
        </p:grpSpPr>
        <p:sp>
          <p:nvSpPr>
            <p:cNvPr id="8" name="TextBox 7">
              <a:extLst>
                <a:ext uri="{FF2B5EF4-FFF2-40B4-BE49-F238E27FC236}">
                  <a16:creationId xmlns:a16="http://schemas.microsoft.com/office/drawing/2014/main" id="{5D4CE7DF-1F5C-C491-2509-6924C1C81478}"/>
                </a:ext>
              </a:extLst>
            </p:cNvPr>
            <p:cNvSpPr txBox="1"/>
            <p:nvPr/>
          </p:nvSpPr>
          <p:spPr>
            <a:xfrm>
              <a:off x="3047343" y="166778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edit </a:t>
              </a:r>
              <a:r>
                <a:rPr lang="en-US" altLang="ko-KR" sz="1000" b="1" dirty="0" err="1">
                  <a:solidFill>
                    <a:srgbClr val="FF0000"/>
                  </a:solidFill>
                </a:rPr>
                <a:t>rc</a:t>
              </a:r>
              <a:r>
                <a:rPr lang="en-US" altLang="ko-KR" sz="1000" b="1" dirty="0">
                  <a:solidFill>
                    <a:srgbClr val="FF0000"/>
                  </a:solidFill>
                </a:rPr>
                <a:t> </a:t>
              </a:r>
              <a:r>
                <a:rPr lang="en-US" altLang="ko-KR" sz="1000" b="1" dirty="0" err="1">
                  <a:solidFill>
                    <a:srgbClr val="FF0000"/>
                  </a:solidFill>
                </a:rPr>
                <a:t>kubia</a:t>
              </a:r>
              <a:endParaRPr lang="en-US" altLang="ko-KR" sz="1000" b="1" dirty="0">
                <a:solidFill>
                  <a:srgbClr val="FF0000"/>
                </a:solidFill>
              </a:endParaRPr>
            </a:p>
          </p:txBody>
        </p:sp>
        <p:pic>
          <p:nvPicPr>
            <p:cNvPr id="12" name="그림 11">
              <a:extLst>
                <a:ext uri="{FF2B5EF4-FFF2-40B4-BE49-F238E27FC236}">
                  <a16:creationId xmlns:a16="http://schemas.microsoft.com/office/drawing/2014/main" id="{FB4FE586-781C-E160-B4A1-A33D1F7B78CB}"/>
                </a:ext>
              </a:extLst>
            </p:cNvPr>
            <p:cNvPicPr>
              <a:picLocks noChangeAspect="1"/>
            </p:cNvPicPr>
            <p:nvPr/>
          </p:nvPicPr>
          <p:blipFill>
            <a:blip r:embed="rId2"/>
            <a:stretch>
              <a:fillRect/>
            </a:stretch>
          </p:blipFill>
          <p:spPr>
            <a:xfrm>
              <a:off x="1462908" y="2198587"/>
              <a:ext cx="9266183" cy="2678769"/>
            </a:xfrm>
            <a:prstGeom prst="rect">
              <a:avLst/>
            </a:prstGeom>
          </p:spPr>
        </p:pic>
        <p:sp>
          <p:nvSpPr>
            <p:cNvPr id="13" name="화살표: 아래쪽 12">
              <a:extLst>
                <a:ext uri="{FF2B5EF4-FFF2-40B4-BE49-F238E27FC236}">
                  <a16:creationId xmlns:a16="http://schemas.microsoft.com/office/drawing/2014/main" id="{38CDFC14-0870-179B-593B-F7D40E66815B}"/>
                </a:ext>
              </a:extLst>
            </p:cNvPr>
            <p:cNvSpPr/>
            <p:nvPr/>
          </p:nvSpPr>
          <p:spPr>
            <a:xfrm>
              <a:off x="5853683" y="1914004"/>
              <a:ext cx="484632" cy="28458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824640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(20/27)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Pod Template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After you save your changes and exit the editor with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&lt;ESC&gt;</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wq</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will update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print the following message.</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lang="en-US" altLang="ko-KR" sz="1400" b="1" dirty="0">
                <a:solidFill>
                  <a:prstClr val="black"/>
                </a:solidFill>
                <a:latin typeface="맑은 고딕" panose="020F0502020204030204"/>
                <a:ea typeface="맑은 고딕" panose="020B0503020000020004" pitchFamily="50" charset="-127"/>
              </a:rPr>
              <a:t>NOTE : But, actually when I tried it, it shows an error message. So I used “</a:t>
            </a:r>
            <a:r>
              <a:rPr lang="en-US" altLang="ko-KR" sz="1400" b="1" dirty="0">
                <a:solidFill>
                  <a:srgbClr val="FF0000"/>
                </a:solidFill>
                <a:latin typeface="맑은 고딕" panose="020F0502020204030204"/>
                <a:ea typeface="맑은 고딕" panose="020B0503020000020004" pitchFamily="50" charset="-127"/>
              </a:rPr>
              <a:t>$ </a:t>
            </a:r>
            <a:r>
              <a:rPr lang="en-US" altLang="ko-KR" sz="1400" b="1" dirty="0" err="1">
                <a:solidFill>
                  <a:srgbClr val="FF0000"/>
                </a:solidFill>
                <a:latin typeface="맑은 고딕" panose="020F0502020204030204"/>
                <a:ea typeface="맑은 고딕" panose="020B0503020000020004" pitchFamily="50" charset="-127"/>
              </a:rPr>
              <a:t>kubectl</a:t>
            </a:r>
            <a:r>
              <a:rPr lang="en-US" altLang="ko-KR" sz="1400" b="1" dirty="0">
                <a:solidFill>
                  <a:srgbClr val="FF0000"/>
                </a:solidFill>
                <a:latin typeface="맑은 고딕" panose="020F0502020204030204"/>
                <a:ea typeface="맑은 고딕" panose="020B0503020000020004" pitchFamily="50" charset="-127"/>
              </a:rPr>
              <a:t> apply -f</a:t>
            </a:r>
            <a:r>
              <a:rPr lang="en-US" altLang="ko-KR" sz="1400" b="1" dirty="0">
                <a:solidFill>
                  <a:prstClr val="black"/>
                </a:solidFill>
                <a:latin typeface="맑은 고딕" panose="020F0502020204030204"/>
                <a:ea typeface="맑은 고딕" panose="020B0503020000020004" pitchFamily="50" charset="-127"/>
              </a:rPr>
              <a:t>” command instead. </a:t>
            </a:r>
            <a:endParaRPr lang="en-US" altLang="ko-KR" sz="1400" dirty="0"/>
          </a:p>
          <a:p>
            <a:pPr lvl="1">
              <a:buFont typeface="Wingdings" panose="05000000000000000000" pitchFamily="2" charset="2"/>
              <a:buChar char="§"/>
            </a:pPr>
            <a:r>
              <a:rPr lang="en-US" altLang="ko-KR" sz="1400" b="1" dirty="0"/>
              <a:t>You can now list pods and their labels again and confirm that they haven’t changed</a:t>
            </a:r>
            <a:r>
              <a:rPr lang="en-US" altLang="ko-KR" sz="1400" dirty="0"/>
              <a:t>. But if you delete the pods and wait for their replacements to be created, you’ll see the new label.</a:t>
            </a:r>
          </a:p>
          <a:p>
            <a:pPr lvl="1">
              <a:buFont typeface="Wingdings" panose="05000000000000000000" pitchFamily="2" charset="2"/>
              <a:buChar char="§"/>
            </a:pPr>
            <a:r>
              <a:rPr lang="en-US" altLang="ko-KR" sz="1400" b="1" dirty="0"/>
              <a:t>Editing a </a:t>
            </a:r>
            <a:r>
              <a:rPr lang="en-US" altLang="ko-KR" sz="1400" b="1" dirty="0" err="1"/>
              <a:t>ReplicationController</a:t>
            </a:r>
            <a:r>
              <a:rPr lang="en-US" altLang="ko-KR" sz="1400" b="1" dirty="0"/>
              <a:t> like this to change the container image in the pod template, deleting the existing pods, and </a:t>
            </a:r>
            <a:r>
              <a:rPr lang="en-US" altLang="ko-KR" sz="1400" b="1" dirty="0">
                <a:solidFill>
                  <a:srgbClr val="FF0000"/>
                </a:solidFill>
              </a:rPr>
              <a:t>letting them be replaced with new ones from the new template </a:t>
            </a:r>
            <a:r>
              <a:rPr lang="en-US" altLang="ko-KR" sz="1400" b="1" dirty="0"/>
              <a:t>could be used for upgrading pods</a:t>
            </a:r>
            <a:r>
              <a:rPr lang="en-US" altLang="ko-KR" sz="1400" dirty="0"/>
              <a:t>, but you’ll learn a better way later.</a:t>
            </a:r>
          </a:p>
          <a:p>
            <a:pPr lvl="1">
              <a:buFont typeface="Wingdings" panose="05000000000000000000" pitchFamily="2" charset="2"/>
              <a:buChar char="§"/>
            </a:pPr>
            <a:r>
              <a:rPr lang="en-US" altLang="ko-KR" sz="1400" b="1" dirty="0"/>
              <a:t>NOTE : Here I used “$ </a:t>
            </a:r>
            <a:r>
              <a:rPr lang="en-US" altLang="ko-KR" sz="1400" b="1" dirty="0" err="1"/>
              <a:t>kubectl</a:t>
            </a:r>
            <a:r>
              <a:rPr lang="en-US" altLang="ko-KR" sz="1400" b="1" dirty="0"/>
              <a:t> get </a:t>
            </a:r>
            <a:r>
              <a:rPr lang="en-US" altLang="ko-KR" sz="1400" b="1" dirty="0" err="1"/>
              <a:t>rc</a:t>
            </a:r>
            <a:r>
              <a:rPr lang="en-US" altLang="ko-KR" sz="1400" b="1" dirty="0"/>
              <a:t> </a:t>
            </a:r>
            <a:r>
              <a:rPr lang="en-US" altLang="ko-KR" sz="1400" b="1" dirty="0" err="1"/>
              <a:t>kubia</a:t>
            </a:r>
            <a:r>
              <a:rPr lang="en-US" altLang="ko-KR" sz="1400" b="1" dirty="0"/>
              <a:t> -o </a:t>
            </a:r>
            <a:r>
              <a:rPr lang="en-US" altLang="ko-KR" sz="1400" b="1" dirty="0" err="1"/>
              <a:t>yaml</a:t>
            </a:r>
            <a:r>
              <a:rPr lang="en-US" altLang="ko-KR" sz="1400" b="1" dirty="0"/>
              <a:t> &gt; </a:t>
            </a:r>
            <a:r>
              <a:rPr lang="en-US" altLang="ko-KR" sz="1400" b="1" dirty="0" err="1"/>
              <a:t>kubia-rc-new.yaml</a:t>
            </a:r>
            <a:r>
              <a:rPr lang="en-US" altLang="ko-KR" sz="1400" b="1" dirty="0"/>
              <a:t>” command</a:t>
            </a:r>
            <a:r>
              <a:rPr lang="en-US" altLang="ko-KR" sz="1400" dirty="0"/>
              <a:t>. Then edited the generated file with “</a:t>
            </a:r>
            <a:r>
              <a:rPr lang="en-US" altLang="ko-KR" sz="1400" b="1" dirty="0"/>
              <a:t>vim</a:t>
            </a:r>
            <a:r>
              <a:rPr lang="en-US" altLang="ko-KR" sz="1400" dirty="0"/>
              <a:t>”. If you didn’t installed “</a:t>
            </a:r>
            <a:r>
              <a:rPr lang="en-US" altLang="ko-KR" sz="1400" b="1" dirty="0"/>
              <a:t>vim</a:t>
            </a:r>
            <a:r>
              <a:rPr lang="en-US" altLang="ko-KR" sz="1400" dirty="0"/>
              <a:t>”, run “</a:t>
            </a:r>
            <a:r>
              <a:rPr lang="en-US" altLang="ko-KR" sz="1400" b="1" dirty="0"/>
              <a:t>$ </a:t>
            </a:r>
            <a:r>
              <a:rPr lang="en-US" altLang="ko-KR" sz="1400" b="1" dirty="0" err="1"/>
              <a:t>sudo</a:t>
            </a:r>
            <a:r>
              <a:rPr lang="en-US" altLang="ko-KR" sz="1400" b="1" dirty="0"/>
              <a:t> apt install vim</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5993957-19B0-D3C7-8495-1583E476E0E3}"/>
              </a:ext>
            </a:extLst>
          </p:cNvPr>
          <p:cNvGrpSpPr/>
          <p:nvPr/>
        </p:nvGrpSpPr>
        <p:grpSpPr>
          <a:xfrm>
            <a:off x="1666218" y="3654780"/>
            <a:ext cx="8859564" cy="2235596"/>
            <a:chOff x="1666218" y="3128341"/>
            <a:chExt cx="8859564" cy="2235596"/>
          </a:xfrm>
        </p:grpSpPr>
        <p:pic>
          <p:nvPicPr>
            <p:cNvPr id="10" name="그림 9">
              <a:extLst>
                <a:ext uri="{FF2B5EF4-FFF2-40B4-BE49-F238E27FC236}">
                  <a16:creationId xmlns:a16="http://schemas.microsoft.com/office/drawing/2014/main" id="{2E85D8E9-84D7-C8C3-4503-17DD95F6E30C}"/>
                </a:ext>
              </a:extLst>
            </p:cNvPr>
            <p:cNvPicPr>
              <a:picLocks noChangeAspect="1"/>
            </p:cNvPicPr>
            <p:nvPr/>
          </p:nvPicPr>
          <p:blipFill>
            <a:blip r:embed="rId2"/>
            <a:stretch>
              <a:fillRect/>
            </a:stretch>
          </p:blipFill>
          <p:spPr>
            <a:xfrm>
              <a:off x="1666218" y="3128341"/>
              <a:ext cx="8859564" cy="1989375"/>
            </a:xfrm>
            <a:prstGeom prst="rect">
              <a:avLst/>
            </a:prstGeom>
          </p:spPr>
        </p:pic>
        <p:sp>
          <p:nvSpPr>
            <p:cNvPr id="11" name="TextBox 10">
              <a:extLst>
                <a:ext uri="{FF2B5EF4-FFF2-40B4-BE49-F238E27FC236}">
                  <a16:creationId xmlns:a16="http://schemas.microsoft.com/office/drawing/2014/main" id="{1B69C4C7-5C3D-1CA8-DE5E-3A84FECA231F}"/>
                </a:ext>
              </a:extLst>
            </p:cNvPr>
            <p:cNvSpPr txBox="1"/>
            <p:nvPr/>
          </p:nvSpPr>
          <p:spPr>
            <a:xfrm>
              <a:off x="5439410" y="5117716"/>
              <a:ext cx="1313180" cy="246221"/>
            </a:xfrm>
            <a:prstGeom prst="rect">
              <a:avLst/>
            </a:prstGeom>
            <a:noFill/>
          </p:spPr>
          <p:txBody>
            <a:bodyPr wrap="none" rtlCol="0">
              <a:spAutoFit/>
            </a:bodyPr>
            <a:lstStyle/>
            <a:p>
              <a:pPr algn="ctr"/>
              <a:r>
                <a:rPr lang="en-US" altLang="ko-KR" sz="1000" b="1" dirty="0" err="1"/>
                <a:t>kubia-rc-new.yaml</a:t>
              </a:r>
              <a:endParaRPr lang="ko-KR" altLang="en-US" sz="1000" b="1" dirty="0"/>
            </a:p>
          </p:txBody>
        </p:sp>
      </p:grpSp>
    </p:spTree>
    <p:extLst>
      <p:ext uri="{BB962C8B-B14F-4D97-AF65-F5344CB8AC3E}">
        <p14:creationId xmlns:p14="http://schemas.microsoft.com/office/powerpoint/2010/main" val="14717469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Replacing Pods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Changes in Template Section of YAML File :</a:t>
            </a:r>
          </a:p>
          <a:p>
            <a:pPr lvl="1">
              <a:buFont typeface="Wingdings" panose="05000000000000000000" pitchFamily="2" charset="2"/>
              <a:buChar char="§"/>
            </a:pPr>
            <a:r>
              <a:rPr lang="en-US" altLang="ko-KR" sz="1400" dirty="0"/>
              <a:t>When you delete a running pod, then the </a:t>
            </a:r>
            <a:r>
              <a:rPr lang="en-US" altLang="ko-KR" sz="1400" b="1" dirty="0" err="1"/>
              <a:t>ReplicationController</a:t>
            </a:r>
            <a:r>
              <a:rPr lang="en-US" altLang="ko-KR" sz="1400" b="1" dirty="0"/>
              <a:t> will automatically create new pod from the newly created and applied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0F28075-99AC-49F2-02E7-34A28AE1B26B}"/>
              </a:ext>
            </a:extLst>
          </p:cNvPr>
          <p:cNvGrpSpPr/>
          <p:nvPr/>
        </p:nvGrpSpPr>
        <p:grpSpPr>
          <a:xfrm>
            <a:off x="1516445" y="1723806"/>
            <a:ext cx="9159109" cy="4438005"/>
            <a:chOff x="1516445" y="1692274"/>
            <a:chExt cx="9159109" cy="4438005"/>
          </a:xfrm>
        </p:grpSpPr>
        <p:pic>
          <p:nvPicPr>
            <p:cNvPr id="8" name="그림 7">
              <a:extLst>
                <a:ext uri="{FF2B5EF4-FFF2-40B4-BE49-F238E27FC236}">
                  <a16:creationId xmlns:a16="http://schemas.microsoft.com/office/drawing/2014/main" id="{5F29A7C0-17BC-BD62-65F9-9C26094A5406}"/>
                </a:ext>
              </a:extLst>
            </p:cNvPr>
            <p:cNvPicPr>
              <a:picLocks noChangeAspect="1"/>
            </p:cNvPicPr>
            <p:nvPr/>
          </p:nvPicPr>
          <p:blipFill>
            <a:blip r:embed="rId2"/>
            <a:stretch>
              <a:fillRect/>
            </a:stretch>
          </p:blipFill>
          <p:spPr>
            <a:xfrm>
              <a:off x="1516445" y="1692274"/>
              <a:ext cx="9159109" cy="4438005"/>
            </a:xfrm>
            <a:prstGeom prst="rect">
              <a:avLst/>
            </a:prstGeom>
          </p:spPr>
        </p:pic>
        <p:sp>
          <p:nvSpPr>
            <p:cNvPr id="9" name="직사각형 8">
              <a:extLst>
                <a:ext uri="{FF2B5EF4-FFF2-40B4-BE49-F238E27FC236}">
                  <a16:creationId xmlns:a16="http://schemas.microsoft.com/office/drawing/2014/main" id="{4B654FC0-BBCF-356B-BA00-A0D648598923}"/>
                </a:ext>
              </a:extLst>
            </p:cNvPr>
            <p:cNvSpPr/>
            <p:nvPr/>
          </p:nvSpPr>
          <p:spPr>
            <a:xfrm>
              <a:off x="5762297" y="4832132"/>
              <a:ext cx="2088931"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A506D34-9D9E-880F-9C94-E6D36B294B59}"/>
                </a:ext>
              </a:extLst>
            </p:cNvPr>
            <p:cNvSpPr/>
            <p:nvPr/>
          </p:nvSpPr>
          <p:spPr>
            <a:xfrm>
              <a:off x="1584434" y="5722883"/>
              <a:ext cx="4595649" cy="126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543293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Configuring Editor in Kubernetes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up Editor :</a:t>
            </a:r>
          </a:p>
          <a:p>
            <a:pPr lvl="1">
              <a:buFont typeface="Wingdings" panose="05000000000000000000" pitchFamily="2" charset="2"/>
              <a:buChar char="§"/>
            </a:pPr>
            <a:r>
              <a:rPr lang="en-US" altLang="ko-KR" sz="1400" b="1" dirty="0"/>
              <a:t>You can tell </a:t>
            </a:r>
            <a:r>
              <a:rPr lang="en-US" altLang="ko-KR" sz="1400" b="1" dirty="0" err="1"/>
              <a:t>kubectl</a:t>
            </a:r>
            <a:r>
              <a:rPr lang="en-US" altLang="ko-KR" sz="1400" b="1" dirty="0"/>
              <a:t> to use a text editor of your choice by setting the “</a:t>
            </a:r>
            <a:r>
              <a:rPr lang="en-US" altLang="ko-KR" sz="1400" b="1" dirty="0">
                <a:solidFill>
                  <a:srgbClr val="FF0000"/>
                </a:solidFill>
              </a:rPr>
              <a:t>KUBE_EDITOR</a:t>
            </a:r>
            <a:r>
              <a:rPr lang="en-US" altLang="ko-KR" sz="1400" b="1" dirty="0"/>
              <a:t>” environment variable</a:t>
            </a:r>
            <a:r>
              <a:rPr lang="en-US" altLang="ko-KR" sz="1400" dirty="0"/>
              <a:t>. For example, if you’d like to use nano for editing Kubernetes resources, execute the following command (or put it into your “</a:t>
            </a:r>
            <a:r>
              <a:rPr lang="en-US" altLang="ko-KR" sz="1400" b="1" dirty="0">
                <a:solidFill>
                  <a:srgbClr val="FF0000"/>
                </a:solidFill>
              </a:rPr>
              <a:t>~/.</a:t>
            </a:r>
            <a:r>
              <a:rPr lang="en-US" altLang="ko-KR" sz="1400" b="1" dirty="0" err="1">
                <a:solidFill>
                  <a:srgbClr val="FF0000"/>
                </a:solidFill>
              </a:rPr>
              <a:t>bashrc</a:t>
            </a:r>
            <a:r>
              <a:rPr lang="en-US" altLang="ko-KR" sz="1400" dirty="0"/>
              <a:t>” or an equivalent file like “</a:t>
            </a:r>
            <a:r>
              <a:rPr lang="en-US" altLang="ko-KR" sz="1400" b="1" dirty="0">
                <a:solidFill>
                  <a:srgbClr val="FF0000"/>
                </a:solidFill>
              </a:rPr>
              <a:t>~/.profile</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the “KUBE_EDITOR” environment variable isn’t set, “</a:t>
            </a:r>
            <a:r>
              <a:rPr lang="en-US" altLang="ko-KR" sz="1400" b="1" dirty="0" err="1"/>
              <a:t>kubectl</a:t>
            </a:r>
            <a:r>
              <a:rPr lang="en-US" altLang="ko-KR" sz="1400" b="1" dirty="0"/>
              <a:t>” edit falls back to using the default editor, usually configured through the “</a:t>
            </a:r>
            <a:r>
              <a:rPr lang="en-US" altLang="ko-KR" sz="1400" b="1" dirty="0">
                <a:solidFill>
                  <a:srgbClr val="FF0000"/>
                </a:solidFill>
              </a:rPr>
              <a:t>EDITOR</a:t>
            </a:r>
            <a:r>
              <a:rPr lang="en-US" altLang="ko-KR" sz="1400" b="1" dirty="0"/>
              <a:t>” environment variable</a:t>
            </a:r>
            <a:r>
              <a:rPr lang="en-US" altLang="ko-KR" sz="1400" dirty="0"/>
              <a:t>.</a:t>
            </a:r>
          </a:p>
          <a:p>
            <a:pPr lvl="1">
              <a:buFont typeface="Wingdings" panose="05000000000000000000" pitchFamily="2" charset="2"/>
              <a:buChar char="§"/>
            </a:pPr>
            <a:r>
              <a:rPr lang="en-US" altLang="ko-KR" sz="1400" b="1" dirty="0"/>
              <a:t>NOTE : When I use “/</a:t>
            </a:r>
            <a:r>
              <a:rPr lang="en-US" altLang="ko-KR" sz="1400" b="1" dirty="0" err="1"/>
              <a:t>usr</a:t>
            </a:r>
            <a:r>
              <a:rPr lang="en-US" altLang="ko-KR" sz="1400" b="1" dirty="0"/>
              <a:t>/bin/code” for Visual Studio Code instead of “vim”, it opens new window. But, just an empty file is shown up. For “vim”, we can save the temporary file in “/</a:t>
            </a:r>
            <a:r>
              <a:rPr lang="en-US" altLang="ko-KR" sz="1400" b="1" dirty="0" err="1"/>
              <a:t>tmp</a:t>
            </a:r>
            <a:r>
              <a:rPr lang="en-US" altLang="ko-KR" sz="1400" b="1" dirty="0"/>
              <a:t>” directory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B112141-ACC6-44CE-BC52-C6FFD0339ADD}"/>
              </a:ext>
            </a:extLst>
          </p:cNvPr>
          <p:cNvSpPr txBox="1"/>
          <p:nvPr/>
        </p:nvSpPr>
        <p:spPr>
          <a:xfrm>
            <a:off x="3047343" y="1817555"/>
            <a:ext cx="6097314" cy="553998"/>
          </a:xfrm>
          <a:prstGeom prst="rect">
            <a:avLst/>
          </a:prstGeom>
          <a:noFill/>
          <a:ln>
            <a:solidFill>
              <a:schemeClr val="bg1">
                <a:lumMod val="50000"/>
              </a:schemeClr>
            </a:solidFill>
          </a:ln>
        </p:spPr>
        <p:txBody>
          <a:bodyPr wrap="square">
            <a:spAutoFit/>
          </a:bodyPr>
          <a:lstStyle/>
          <a:p>
            <a:r>
              <a:rPr lang="de-DE" altLang="ko-KR" sz="1000" b="1" dirty="0"/>
              <a:t>export </a:t>
            </a:r>
            <a:r>
              <a:rPr lang="de-DE" altLang="ko-KR" sz="1000" b="1" dirty="0">
                <a:solidFill>
                  <a:srgbClr val="FF0000"/>
                </a:solidFill>
              </a:rPr>
              <a:t>KUBE_EDITOR="/usr/bin/vim“</a:t>
            </a:r>
          </a:p>
          <a:p>
            <a:r>
              <a:rPr lang="de-DE" altLang="ko-KR" sz="1000" b="1" dirty="0"/>
              <a:t>...</a:t>
            </a:r>
          </a:p>
          <a:p>
            <a:r>
              <a:rPr lang="de-DE" altLang="ko-KR" sz="1000" b="1" dirty="0"/>
              <a:t>$ source ~/.profile</a:t>
            </a:r>
          </a:p>
        </p:txBody>
      </p:sp>
      <p:pic>
        <p:nvPicPr>
          <p:cNvPr id="10" name="그림 9">
            <a:extLst>
              <a:ext uri="{FF2B5EF4-FFF2-40B4-BE49-F238E27FC236}">
                <a16:creationId xmlns:a16="http://schemas.microsoft.com/office/drawing/2014/main" id="{E3741207-EB69-EB64-AE49-709AB3A41F1B}"/>
              </a:ext>
            </a:extLst>
          </p:cNvPr>
          <p:cNvPicPr>
            <a:picLocks noChangeAspect="1"/>
          </p:cNvPicPr>
          <p:nvPr/>
        </p:nvPicPr>
        <p:blipFill>
          <a:blip r:embed="rId2"/>
          <a:stretch>
            <a:fillRect/>
          </a:stretch>
        </p:blipFill>
        <p:spPr>
          <a:xfrm>
            <a:off x="2041954" y="3539359"/>
            <a:ext cx="8108092" cy="2816991"/>
          </a:xfrm>
          <a:prstGeom prst="rect">
            <a:avLst/>
          </a:prstGeom>
        </p:spPr>
      </p:pic>
    </p:spTree>
    <p:extLst>
      <p:ext uri="{BB962C8B-B14F-4D97-AF65-F5344CB8AC3E}">
        <p14:creationId xmlns:p14="http://schemas.microsoft.com/office/powerpoint/2010/main" val="8010318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(21/27)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Horizontally Scaling Pods :</a:t>
            </a:r>
          </a:p>
          <a:p>
            <a:pPr lvl="1">
              <a:buFont typeface="Wingdings" panose="05000000000000000000" pitchFamily="2" charset="2"/>
              <a:buChar char="§"/>
            </a:pPr>
            <a:r>
              <a:rPr lang="en-US" altLang="ko-KR" sz="1400" b="1" dirty="0"/>
              <a:t>Scaling the number of pods (horizontally) up or down is as easy as changing the value of the replicas field in the </a:t>
            </a:r>
            <a:r>
              <a:rPr lang="en-US" altLang="ko-KR" sz="1400" b="1" dirty="0" err="1"/>
              <a:t>ReplicationController</a:t>
            </a:r>
            <a:r>
              <a:rPr lang="en-US" altLang="ko-KR" sz="1400" b="1" dirty="0"/>
              <a:t> resource</a:t>
            </a:r>
            <a:r>
              <a:rPr lang="en-US" altLang="ko-KR" sz="1400" dirty="0"/>
              <a:t>. After the change, the </a:t>
            </a:r>
            <a:r>
              <a:rPr lang="en-US" altLang="ko-KR" sz="1400" dirty="0" err="1"/>
              <a:t>ReplicationController</a:t>
            </a:r>
            <a:r>
              <a:rPr lang="en-US" altLang="ko-KR" sz="1400" dirty="0"/>
              <a:t> will either see too many pods exist (when scaling down) and delete part of them, or see too few of them (when scaling up) and create additional pods.</a:t>
            </a:r>
          </a:p>
          <a:p>
            <a:pPr lvl="1">
              <a:buFont typeface="Wingdings" panose="05000000000000000000" pitchFamily="2" charset="2"/>
              <a:buChar char="§"/>
            </a:pPr>
            <a:r>
              <a:rPr lang="en-US" altLang="ko-KR" sz="1400" b="1" dirty="0"/>
              <a:t>Your </a:t>
            </a:r>
            <a:r>
              <a:rPr lang="en-US" altLang="ko-KR" sz="1400" b="1" dirty="0" err="1"/>
              <a:t>ReplicationController</a:t>
            </a:r>
            <a:r>
              <a:rPr lang="en-US" altLang="ko-KR" sz="1400" b="1" dirty="0"/>
              <a:t> has been keeping three instances of your pod running. You’re going to scale that number up to 10 now</a:t>
            </a:r>
            <a:r>
              <a:rPr lang="en-US" altLang="ko-KR" sz="1400" dirty="0"/>
              <a:t>. As you may remember, you’ve already scaled a </a:t>
            </a:r>
            <a:r>
              <a:rPr lang="en-US" altLang="ko-KR" sz="1400" dirty="0" err="1"/>
              <a:t>ReplicationController</a:t>
            </a:r>
            <a:r>
              <a:rPr lang="en-US" altLang="ko-KR" sz="1400" dirty="0"/>
              <a:t> before. You could use the same command as before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BB43699E-E4BF-8AE6-59D9-C81C8E94925D}"/>
              </a:ext>
            </a:extLst>
          </p:cNvPr>
          <p:cNvGrpSpPr/>
          <p:nvPr/>
        </p:nvGrpSpPr>
        <p:grpSpPr>
          <a:xfrm>
            <a:off x="1678042" y="2483709"/>
            <a:ext cx="8835916" cy="3872641"/>
            <a:chOff x="1678042" y="2483709"/>
            <a:chExt cx="8835916" cy="3872641"/>
          </a:xfrm>
        </p:grpSpPr>
        <p:grpSp>
          <p:nvGrpSpPr>
            <p:cNvPr id="12" name="그룹 11">
              <a:extLst>
                <a:ext uri="{FF2B5EF4-FFF2-40B4-BE49-F238E27FC236}">
                  <a16:creationId xmlns:a16="http://schemas.microsoft.com/office/drawing/2014/main" id="{2744FFAF-89C0-D629-0BAF-152EA57F1A50}"/>
                </a:ext>
              </a:extLst>
            </p:cNvPr>
            <p:cNvGrpSpPr/>
            <p:nvPr/>
          </p:nvGrpSpPr>
          <p:grpSpPr>
            <a:xfrm>
              <a:off x="1678042" y="2483709"/>
              <a:ext cx="8835916" cy="3872641"/>
              <a:chOff x="1678041" y="2519120"/>
              <a:chExt cx="8835916" cy="3872641"/>
            </a:xfrm>
          </p:grpSpPr>
          <p:sp>
            <p:nvSpPr>
              <p:cNvPr id="8" name="TextBox 7">
                <a:extLst>
                  <a:ext uri="{FF2B5EF4-FFF2-40B4-BE49-F238E27FC236}">
                    <a16:creationId xmlns:a16="http://schemas.microsoft.com/office/drawing/2014/main" id="{F3CBC78F-E76E-1946-5D5E-0F121D911B9D}"/>
                  </a:ext>
                </a:extLst>
              </p:cNvPr>
              <p:cNvSpPr txBox="1"/>
              <p:nvPr/>
            </p:nvSpPr>
            <p:spPr>
              <a:xfrm>
                <a:off x="3047343" y="2519120"/>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scale </a:t>
                </a:r>
                <a:r>
                  <a:rPr lang="en-US" altLang="ko-KR" sz="1000" b="1" dirty="0" err="1"/>
                  <a:t>rc</a:t>
                </a:r>
                <a:r>
                  <a:rPr lang="en-US" altLang="ko-KR" sz="1000" b="1" dirty="0"/>
                  <a:t> </a:t>
                </a:r>
                <a:r>
                  <a:rPr lang="en-US" altLang="ko-KR" sz="1000" b="1" dirty="0" err="1"/>
                  <a:t>kubia</a:t>
                </a:r>
                <a:r>
                  <a:rPr lang="en-US" altLang="ko-KR" sz="1000" b="1" dirty="0"/>
                  <a:t> </a:t>
                </a:r>
                <a:r>
                  <a:rPr lang="en-US" altLang="ko-KR" sz="1000" b="1" dirty="0">
                    <a:solidFill>
                      <a:srgbClr val="FF0000"/>
                    </a:solidFill>
                  </a:rPr>
                  <a:t>--replicas=10</a:t>
                </a:r>
              </a:p>
            </p:txBody>
          </p:sp>
          <p:sp>
            <p:nvSpPr>
              <p:cNvPr id="9" name="화살표: 아래쪽 8">
                <a:extLst>
                  <a:ext uri="{FF2B5EF4-FFF2-40B4-BE49-F238E27FC236}">
                    <a16:creationId xmlns:a16="http://schemas.microsoft.com/office/drawing/2014/main" id="{AD89769D-9E90-BB31-8FE8-402DDF533959}"/>
                  </a:ext>
                </a:extLst>
              </p:cNvPr>
              <p:cNvSpPr/>
              <p:nvPr/>
            </p:nvSpPr>
            <p:spPr>
              <a:xfrm>
                <a:off x="5883165" y="2782614"/>
                <a:ext cx="425669" cy="2916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DA6C2B4-A260-727B-EE58-2A2C0AF044EF}"/>
                  </a:ext>
                </a:extLst>
              </p:cNvPr>
              <p:cNvPicPr>
                <a:picLocks noChangeAspect="1"/>
              </p:cNvPicPr>
              <p:nvPr/>
            </p:nvPicPr>
            <p:blipFill>
              <a:blip r:embed="rId2"/>
              <a:stretch>
                <a:fillRect/>
              </a:stretch>
            </p:blipFill>
            <p:spPr>
              <a:xfrm>
                <a:off x="1678041" y="3074276"/>
                <a:ext cx="8835916" cy="3317485"/>
              </a:xfrm>
              <a:prstGeom prst="rect">
                <a:avLst/>
              </a:prstGeom>
            </p:spPr>
          </p:pic>
        </p:grpSp>
        <p:sp>
          <p:nvSpPr>
            <p:cNvPr id="13" name="직사각형 12">
              <a:extLst>
                <a:ext uri="{FF2B5EF4-FFF2-40B4-BE49-F238E27FC236}">
                  <a16:creationId xmlns:a16="http://schemas.microsoft.com/office/drawing/2014/main" id="{2192F664-4B91-BCBA-188E-F2F8E35AF260}"/>
                </a:ext>
              </a:extLst>
            </p:cNvPr>
            <p:cNvSpPr/>
            <p:nvPr/>
          </p:nvSpPr>
          <p:spPr>
            <a:xfrm>
              <a:off x="5762297" y="4146331"/>
              <a:ext cx="2427889"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544333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(22/27)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a </a:t>
            </a:r>
            <a:r>
              <a:rPr lang="en-US" altLang="ko-KR" sz="1800" b="1" dirty="0" err="1"/>
              <a:t>ReplicationController</a:t>
            </a:r>
            <a:r>
              <a:rPr lang="en-US" altLang="ko-KR" sz="1800" b="1" dirty="0"/>
              <a:t> by Editing It’s Definition :</a:t>
            </a:r>
          </a:p>
          <a:p>
            <a:pPr lvl="1">
              <a:buFont typeface="Wingdings" panose="05000000000000000000" pitchFamily="2" charset="2"/>
              <a:buChar char="§"/>
            </a:pPr>
            <a:r>
              <a:rPr lang="en-US" altLang="ko-KR" sz="1400" b="1" dirty="0"/>
              <a:t>Instead of using the “</a:t>
            </a:r>
            <a:r>
              <a:rPr lang="en-US" altLang="ko-KR" sz="1400" b="1" dirty="0" err="1"/>
              <a:t>kubectl</a:t>
            </a:r>
            <a:r>
              <a:rPr lang="en-US" altLang="ko-KR" sz="1400" b="1" dirty="0"/>
              <a:t> scale” command, you’re going to scale it in a declarative way by editing the </a:t>
            </a:r>
            <a:r>
              <a:rPr lang="en-US" altLang="ko-KR" sz="1400" b="1" dirty="0" err="1"/>
              <a:t>ReplicationController’s</a:t>
            </a:r>
            <a:r>
              <a:rPr lang="en-US" altLang="ko-KR" sz="1400" b="1" dirty="0"/>
              <a:t> definition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the text editor opens, </a:t>
            </a:r>
            <a:r>
              <a:rPr lang="en-US" altLang="ko-KR" sz="1400" b="1" dirty="0"/>
              <a:t>find the “</a:t>
            </a:r>
            <a:r>
              <a:rPr lang="en-US" altLang="ko-KR" sz="1400" b="1" dirty="0" err="1"/>
              <a:t>spec.replicas</a:t>
            </a:r>
            <a:r>
              <a:rPr lang="en-US" altLang="ko-KR" sz="1400" b="1" dirty="0"/>
              <a:t>” field and change its value to 10</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BB42669-0BDE-229C-01F6-EFC7A3F91A5C}"/>
              </a:ext>
            </a:extLst>
          </p:cNvPr>
          <p:cNvSpPr txBox="1"/>
          <p:nvPr/>
        </p:nvSpPr>
        <p:spPr>
          <a:xfrm>
            <a:off x="3047343" y="1819679"/>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rc</a:t>
            </a:r>
            <a:r>
              <a:rPr lang="en-US" altLang="ko-KR" sz="1000" b="1" dirty="0"/>
              <a:t> </a:t>
            </a:r>
            <a:r>
              <a:rPr lang="en-US" altLang="ko-KR" sz="1000" b="1" dirty="0" err="1"/>
              <a:t>kubia</a:t>
            </a:r>
            <a:r>
              <a:rPr lang="en-US" altLang="ko-KR" sz="1000" b="1" dirty="0"/>
              <a:t> -o </a:t>
            </a:r>
            <a:r>
              <a:rPr lang="en-US" altLang="ko-KR" sz="1000" b="1" dirty="0" err="1"/>
              <a:t>yaml</a:t>
            </a:r>
            <a:r>
              <a:rPr lang="en-US" altLang="ko-KR" sz="1000" b="1" dirty="0"/>
              <a:t> &gt; </a:t>
            </a:r>
            <a:r>
              <a:rPr lang="en-US" altLang="ko-KR" sz="1000" b="1" dirty="0" err="1">
                <a:solidFill>
                  <a:srgbClr val="FF0000"/>
                </a:solidFill>
              </a:rPr>
              <a:t>kubia-rc-scale.yaml</a:t>
            </a:r>
            <a:endParaRPr lang="en-US" altLang="ko-KR" sz="1000" b="1" dirty="0">
              <a:solidFill>
                <a:srgbClr val="FF0000"/>
              </a:solidFill>
            </a:endParaRPr>
          </a:p>
        </p:txBody>
      </p:sp>
      <p:pic>
        <p:nvPicPr>
          <p:cNvPr id="10" name="그림 9">
            <a:extLst>
              <a:ext uri="{FF2B5EF4-FFF2-40B4-BE49-F238E27FC236}">
                <a16:creationId xmlns:a16="http://schemas.microsoft.com/office/drawing/2014/main" id="{9A4CE68F-5D54-F1C1-2715-122B0EC85C0E}"/>
              </a:ext>
            </a:extLst>
          </p:cNvPr>
          <p:cNvPicPr>
            <a:picLocks noChangeAspect="1"/>
          </p:cNvPicPr>
          <p:nvPr/>
        </p:nvPicPr>
        <p:blipFill>
          <a:blip r:embed="rId2"/>
          <a:stretch>
            <a:fillRect/>
          </a:stretch>
        </p:blipFill>
        <p:spPr>
          <a:xfrm>
            <a:off x="1694793" y="2966759"/>
            <a:ext cx="8802414" cy="2541412"/>
          </a:xfrm>
          <a:prstGeom prst="rect">
            <a:avLst/>
          </a:prstGeom>
        </p:spPr>
      </p:pic>
    </p:spTree>
    <p:extLst>
      <p:ext uri="{BB962C8B-B14F-4D97-AF65-F5344CB8AC3E}">
        <p14:creationId xmlns:p14="http://schemas.microsoft.com/office/powerpoint/2010/main" val="6619322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(23/27)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a </a:t>
            </a:r>
            <a:r>
              <a:rPr lang="en-US" altLang="ko-KR" sz="1800" b="1" dirty="0" err="1"/>
              <a:t>ReplicationController</a:t>
            </a:r>
            <a:r>
              <a:rPr lang="en-US" altLang="ko-KR" sz="1800" b="1" dirty="0"/>
              <a:t> by Editing It’s Definition :</a:t>
            </a:r>
          </a:p>
          <a:p>
            <a:pPr lvl="1">
              <a:buFont typeface="Wingdings" panose="05000000000000000000" pitchFamily="2" charset="2"/>
              <a:buChar char="§"/>
            </a:pPr>
            <a:r>
              <a:rPr lang="en-US" altLang="ko-KR" sz="1400" dirty="0"/>
              <a:t>Save the file and close the editor. Then </a:t>
            </a:r>
            <a:r>
              <a:rPr lang="en-US" altLang="ko-KR" sz="1400" b="1" dirty="0"/>
              <a:t>use the following command to scale up to 10</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the </a:t>
            </a:r>
            <a:r>
              <a:rPr lang="en-US" altLang="ko-KR" sz="1400" b="1" dirty="0" err="1"/>
              <a:t>kubectl</a:t>
            </a:r>
            <a:r>
              <a:rPr lang="en-US" altLang="ko-KR" sz="1400" b="1" dirty="0"/>
              <a:t> scale command makes it look as though you’re telling Kubernetes exactly what to do, it’s now much clearer that you’re making a </a:t>
            </a:r>
            <a:r>
              <a:rPr lang="en-US" altLang="ko-KR" sz="1400" b="1" dirty="0">
                <a:solidFill>
                  <a:srgbClr val="FF0000"/>
                </a:solidFill>
              </a:rPr>
              <a:t>“declarative” change to the desired state of the </a:t>
            </a:r>
            <a:r>
              <a:rPr lang="en-US" altLang="ko-KR" sz="1400" b="1" dirty="0" err="1">
                <a:solidFill>
                  <a:srgbClr val="FF0000"/>
                </a:solidFill>
              </a:rPr>
              <a:t>ReplicationController</a:t>
            </a:r>
            <a:r>
              <a:rPr lang="en-US" altLang="ko-KR" sz="1400" b="1" dirty="0">
                <a:solidFill>
                  <a:srgbClr val="FF0000"/>
                </a:solidFill>
              </a:rPr>
              <a:t> </a:t>
            </a:r>
            <a:r>
              <a:rPr lang="en-US" altLang="ko-KR" sz="1400" b="1" dirty="0"/>
              <a:t>and </a:t>
            </a:r>
            <a:r>
              <a:rPr lang="en-US" altLang="ko-KR" sz="1400" b="1" dirty="0">
                <a:solidFill>
                  <a:srgbClr val="FF0000"/>
                </a:solidFill>
              </a:rPr>
              <a:t>not telling Kubernetes to do something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DCED7FF9-CA23-08F1-1C2F-C66B7AFB1545}"/>
              </a:ext>
            </a:extLst>
          </p:cNvPr>
          <p:cNvGrpSpPr/>
          <p:nvPr/>
        </p:nvGrpSpPr>
        <p:grpSpPr>
          <a:xfrm>
            <a:off x="1599705" y="1522195"/>
            <a:ext cx="8992589" cy="4007727"/>
            <a:chOff x="1599705" y="1522195"/>
            <a:chExt cx="8992589" cy="4007727"/>
          </a:xfrm>
        </p:grpSpPr>
        <p:grpSp>
          <p:nvGrpSpPr>
            <p:cNvPr id="12" name="그룹 11">
              <a:extLst>
                <a:ext uri="{FF2B5EF4-FFF2-40B4-BE49-F238E27FC236}">
                  <a16:creationId xmlns:a16="http://schemas.microsoft.com/office/drawing/2014/main" id="{2C088DB3-D32B-FB73-689E-330EBF02CF27}"/>
                </a:ext>
              </a:extLst>
            </p:cNvPr>
            <p:cNvGrpSpPr/>
            <p:nvPr/>
          </p:nvGrpSpPr>
          <p:grpSpPr>
            <a:xfrm>
              <a:off x="1599705" y="1522195"/>
              <a:ext cx="8992589" cy="4007727"/>
              <a:chOff x="1599705" y="1522195"/>
              <a:chExt cx="8992589" cy="4007727"/>
            </a:xfrm>
          </p:grpSpPr>
          <p:pic>
            <p:nvPicPr>
              <p:cNvPr id="8" name="그림 7">
                <a:extLst>
                  <a:ext uri="{FF2B5EF4-FFF2-40B4-BE49-F238E27FC236}">
                    <a16:creationId xmlns:a16="http://schemas.microsoft.com/office/drawing/2014/main" id="{CECE2817-D2F8-889C-D233-7EB1839DAF55}"/>
                  </a:ext>
                </a:extLst>
              </p:cNvPr>
              <p:cNvPicPr>
                <a:picLocks noChangeAspect="1"/>
              </p:cNvPicPr>
              <p:nvPr/>
            </p:nvPicPr>
            <p:blipFill>
              <a:blip r:embed="rId2"/>
              <a:stretch>
                <a:fillRect/>
              </a:stretch>
            </p:blipFill>
            <p:spPr>
              <a:xfrm>
                <a:off x="1599705" y="2014637"/>
                <a:ext cx="8992589" cy="3515285"/>
              </a:xfrm>
              <a:prstGeom prst="rect">
                <a:avLst/>
              </a:prstGeom>
            </p:spPr>
          </p:pic>
          <p:sp>
            <p:nvSpPr>
              <p:cNvPr id="10" name="TextBox 9">
                <a:extLst>
                  <a:ext uri="{FF2B5EF4-FFF2-40B4-BE49-F238E27FC236}">
                    <a16:creationId xmlns:a16="http://schemas.microsoft.com/office/drawing/2014/main" id="{55402C64-66F0-6F70-6626-AD4BACF42808}"/>
                  </a:ext>
                </a:extLst>
              </p:cNvPr>
              <p:cNvSpPr txBox="1"/>
              <p:nvPr/>
            </p:nvSpPr>
            <p:spPr>
              <a:xfrm>
                <a:off x="3047342" y="152219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kubia-rc-scale.yaml</a:t>
                </a:r>
                <a:r>
                  <a:rPr lang="en-US" altLang="ko-KR" sz="1000" b="1" dirty="0">
                    <a:solidFill>
                      <a:srgbClr val="FF0000"/>
                    </a:solidFill>
                  </a:rPr>
                  <a:t> </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45C6BBEE-145E-22BA-9E66-84BFE29C165C}"/>
                  </a:ext>
                </a:extLst>
              </p:cNvPr>
              <p:cNvSpPr/>
              <p:nvPr/>
            </p:nvSpPr>
            <p:spPr>
              <a:xfrm>
                <a:off x="5888419" y="1768416"/>
                <a:ext cx="41516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4AFCA6F1-3F19-72A6-7BB3-FEF33365AEC6}"/>
                </a:ext>
              </a:extLst>
            </p:cNvPr>
            <p:cNvSpPr/>
            <p:nvPr/>
          </p:nvSpPr>
          <p:spPr>
            <a:xfrm>
              <a:off x="5778063" y="3145220"/>
              <a:ext cx="3366594"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150652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(24/27)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Down with the </a:t>
            </a:r>
            <a:r>
              <a:rPr lang="en-US" altLang="ko-KR" sz="1800" b="1" dirty="0" err="1"/>
              <a:t>kubectl</a:t>
            </a:r>
            <a:r>
              <a:rPr lang="en-US" altLang="ko-KR" sz="1800" b="1" dirty="0"/>
              <a:t> scale Command :</a:t>
            </a:r>
          </a:p>
          <a:p>
            <a:pPr lvl="1">
              <a:buFont typeface="Wingdings" panose="05000000000000000000" pitchFamily="2" charset="2"/>
              <a:buChar char="§"/>
            </a:pPr>
            <a:r>
              <a:rPr lang="en-US" altLang="ko-KR" sz="1400" b="1" dirty="0"/>
              <a:t>Now scale back down to 3. You can use the “</a:t>
            </a:r>
            <a:r>
              <a:rPr lang="en-US" altLang="ko-KR" sz="1400" b="1" dirty="0" err="1"/>
              <a:t>kubectl</a:t>
            </a:r>
            <a:r>
              <a:rPr lang="en-US" altLang="ko-KR" sz="1400" b="1" dirty="0"/>
              <a:t> scale”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All this command does is modify the “</a:t>
            </a:r>
            <a:r>
              <a:rPr lang="en-US" altLang="ko-KR" sz="1400" b="1" dirty="0" err="1">
                <a:solidFill>
                  <a:srgbClr val="FF0000"/>
                </a:solidFill>
              </a:rPr>
              <a:t>spec.replicas</a:t>
            </a:r>
            <a:r>
              <a:rPr lang="en-US" altLang="ko-KR" sz="1400" b="1" dirty="0"/>
              <a:t>” field of the </a:t>
            </a:r>
            <a:r>
              <a:rPr lang="en-US" altLang="ko-KR" sz="1400" b="1" dirty="0" err="1"/>
              <a:t>ReplicationController’s</a:t>
            </a:r>
            <a:r>
              <a:rPr lang="en-US" altLang="ko-KR" sz="1400" b="1" dirty="0"/>
              <a:t> definition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B9A726E8-66C6-1FC9-8D2B-754816F066B7}"/>
              </a:ext>
            </a:extLst>
          </p:cNvPr>
          <p:cNvGrpSpPr/>
          <p:nvPr/>
        </p:nvGrpSpPr>
        <p:grpSpPr>
          <a:xfrm>
            <a:off x="1549194" y="1568109"/>
            <a:ext cx="9093612" cy="4047218"/>
            <a:chOff x="1549194" y="1568109"/>
            <a:chExt cx="9093612" cy="4047218"/>
          </a:xfrm>
        </p:grpSpPr>
        <p:grpSp>
          <p:nvGrpSpPr>
            <p:cNvPr id="14" name="그룹 13">
              <a:extLst>
                <a:ext uri="{FF2B5EF4-FFF2-40B4-BE49-F238E27FC236}">
                  <a16:creationId xmlns:a16="http://schemas.microsoft.com/office/drawing/2014/main" id="{3628FC8D-A099-7053-050F-D7A3CD266A04}"/>
                </a:ext>
              </a:extLst>
            </p:cNvPr>
            <p:cNvGrpSpPr/>
            <p:nvPr/>
          </p:nvGrpSpPr>
          <p:grpSpPr>
            <a:xfrm>
              <a:off x="1549194" y="1568109"/>
              <a:ext cx="9093612" cy="4047218"/>
              <a:chOff x="1549194" y="1533775"/>
              <a:chExt cx="9093612" cy="4047218"/>
            </a:xfrm>
          </p:grpSpPr>
          <p:sp>
            <p:nvSpPr>
              <p:cNvPr id="8" name="TextBox 7">
                <a:extLst>
                  <a:ext uri="{FF2B5EF4-FFF2-40B4-BE49-F238E27FC236}">
                    <a16:creationId xmlns:a16="http://schemas.microsoft.com/office/drawing/2014/main" id="{26BADE65-527E-D7B2-2989-C0EF80F851B8}"/>
                  </a:ext>
                </a:extLst>
              </p:cNvPr>
              <p:cNvSpPr txBox="1"/>
              <p:nvPr/>
            </p:nvSpPr>
            <p:spPr>
              <a:xfrm>
                <a:off x="3047343" y="153377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scale </a:t>
                </a:r>
                <a:r>
                  <a:rPr lang="en-US" altLang="ko-KR" sz="1000" b="1" dirty="0" err="1"/>
                  <a:t>rc</a:t>
                </a:r>
                <a:r>
                  <a:rPr lang="en-US" altLang="ko-KR" sz="1000" b="1" dirty="0"/>
                  <a:t> </a:t>
                </a:r>
                <a:r>
                  <a:rPr lang="en-US" altLang="ko-KR" sz="1000" b="1" dirty="0" err="1"/>
                  <a:t>kubia</a:t>
                </a:r>
                <a:r>
                  <a:rPr lang="en-US" altLang="ko-KR" sz="1000" b="1" dirty="0"/>
                  <a:t> </a:t>
                </a:r>
                <a:r>
                  <a:rPr lang="en-US" altLang="ko-KR" sz="1000" b="1" dirty="0">
                    <a:solidFill>
                      <a:srgbClr val="FF0000"/>
                    </a:solidFill>
                  </a:rPr>
                  <a:t>--replicas=3</a:t>
                </a:r>
              </a:p>
            </p:txBody>
          </p:sp>
          <p:sp>
            <p:nvSpPr>
              <p:cNvPr id="9" name="화살표: 아래쪽 8">
                <a:extLst>
                  <a:ext uri="{FF2B5EF4-FFF2-40B4-BE49-F238E27FC236}">
                    <a16:creationId xmlns:a16="http://schemas.microsoft.com/office/drawing/2014/main" id="{5574EA72-826A-CFB4-0D90-79488E565742}"/>
                  </a:ext>
                </a:extLst>
              </p:cNvPr>
              <p:cNvSpPr/>
              <p:nvPr/>
            </p:nvSpPr>
            <p:spPr>
              <a:xfrm>
                <a:off x="5883165" y="1779996"/>
                <a:ext cx="425669"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1433505B-44B9-3653-74D3-37F418056952}"/>
                  </a:ext>
                </a:extLst>
              </p:cNvPr>
              <p:cNvPicPr>
                <a:picLocks noChangeAspect="1"/>
              </p:cNvPicPr>
              <p:nvPr/>
            </p:nvPicPr>
            <p:blipFill>
              <a:blip r:embed="rId2"/>
              <a:stretch>
                <a:fillRect/>
              </a:stretch>
            </p:blipFill>
            <p:spPr>
              <a:xfrm>
                <a:off x="1549194" y="2026217"/>
                <a:ext cx="9093612" cy="3554776"/>
              </a:xfrm>
              <a:prstGeom prst="rect">
                <a:avLst/>
              </a:prstGeom>
            </p:spPr>
          </p:pic>
        </p:grpSp>
        <p:sp>
          <p:nvSpPr>
            <p:cNvPr id="15" name="직사각형 14">
              <a:extLst>
                <a:ext uri="{FF2B5EF4-FFF2-40B4-BE49-F238E27FC236}">
                  <a16:creationId xmlns:a16="http://schemas.microsoft.com/office/drawing/2014/main" id="{982DB73D-AFF7-D1D0-453B-6729963A991E}"/>
                </a:ext>
              </a:extLst>
            </p:cNvPr>
            <p:cNvSpPr/>
            <p:nvPr/>
          </p:nvSpPr>
          <p:spPr>
            <a:xfrm>
              <a:off x="5754414" y="4169979"/>
              <a:ext cx="2412124" cy="2207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582951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(25/27)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Declarative Approach to Scaling :</a:t>
            </a:r>
          </a:p>
          <a:p>
            <a:pPr lvl="1">
              <a:buFont typeface="Wingdings" panose="05000000000000000000" pitchFamily="2" charset="2"/>
              <a:buChar char="§"/>
            </a:pPr>
            <a:r>
              <a:rPr lang="en-US" altLang="ko-KR" sz="1400" b="1" dirty="0"/>
              <a:t>Horizontally scaling pods in Kubernetes is a matter of stating your desire: “I want to have x number of instances running.” You’re not telling Kubernetes what or how to do it. You’re just specifying the </a:t>
            </a:r>
            <a:r>
              <a:rPr lang="en-US" altLang="ko-KR" sz="1400" b="1" dirty="0">
                <a:solidFill>
                  <a:srgbClr val="FF0000"/>
                </a:solidFill>
              </a:rPr>
              <a:t>desired state</a:t>
            </a:r>
            <a:r>
              <a:rPr lang="en-US" altLang="ko-KR" sz="1400" dirty="0"/>
              <a:t>. </a:t>
            </a:r>
          </a:p>
          <a:p>
            <a:pPr lvl="1">
              <a:buFont typeface="Wingdings" panose="05000000000000000000" pitchFamily="2" charset="2"/>
              <a:buChar char="§"/>
            </a:pPr>
            <a:r>
              <a:rPr lang="en-US" altLang="ko-KR" sz="1400" b="1" dirty="0"/>
              <a:t>This declarative approach makes interacting with a Kubernetes cluster easy</a:t>
            </a:r>
            <a:r>
              <a:rPr lang="en-US" altLang="ko-KR" sz="1400" dirty="0"/>
              <a:t>. Imagine if you had to manually determine the current number of running instances and then explicitly tell Kubernetes how many additional instances to run. </a:t>
            </a:r>
            <a:r>
              <a:rPr lang="en-US" altLang="ko-KR" sz="1400" b="1" dirty="0"/>
              <a:t>That’s more work and is much more error-prone</a:t>
            </a:r>
            <a:r>
              <a:rPr lang="en-US" altLang="ko-KR" sz="1400" dirty="0"/>
              <a:t>. Changing a simple number is much easier.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F98EA1E-3D64-7D58-E030-B902597A9EA0}"/>
              </a:ext>
            </a:extLst>
          </p:cNvPr>
          <p:cNvPicPr>
            <a:picLocks noChangeAspect="1"/>
          </p:cNvPicPr>
          <p:nvPr/>
        </p:nvPicPr>
        <p:blipFill>
          <a:blip r:embed="rId2"/>
          <a:stretch>
            <a:fillRect/>
          </a:stretch>
        </p:blipFill>
        <p:spPr>
          <a:xfrm>
            <a:off x="2561896" y="2526443"/>
            <a:ext cx="7068207" cy="2320904"/>
          </a:xfrm>
          <a:prstGeom prst="rect">
            <a:avLst/>
          </a:prstGeom>
        </p:spPr>
      </p:pic>
    </p:spTree>
    <p:extLst>
      <p:ext uri="{BB962C8B-B14F-4D97-AF65-F5344CB8AC3E}">
        <p14:creationId xmlns:p14="http://schemas.microsoft.com/office/powerpoint/2010/main" val="41815120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(26/27)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When you delete a </a:t>
            </a:r>
            <a:r>
              <a:rPr lang="en-US" altLang="ko-KR" sz="1400" b="1" dirty="0" err="1"/>
              <a:t>ReplicationController</a:t>
            </a:r>
            <a:r>
              <a:rPr lang="en-US" altLang="ko-KR" sz="1400" b="1" dirty="0"/>
              <a:t> through “</a:t>
            </a:r>
            <a:r>
              <a:rPr lang="en-US" altLang="ko-KR" sz="1400" b="1" dirty="0" err="1"/>
              <a:t>kubectl</a:t>
            </a:r>
            <a:r>
              <a:rPr lang="en-US" altLang="ko-KR" sz="1400" b="1" dirty="0"/>
              <a:t> delete” command, the pods are also deleted</a:t>
            </a:r>
            <a:r>
              <a:rPr lang="en-US" altLang="ko-KR" sz="1400" dirty="0"/>
              <a:t>. But because </a:t>
            </a:r>
            <a:r>
              <a:rPr lang="en-US" altLang="ko-KR" sz="1400" b="1" dirty="0"/>
              <a:t>pods created by a </a:t>
            </a:r>
            <a:r>
              <a:rPr lang="en-US" altLang="ko-KR" sz="1400" b="1" dirty="0" err="1"/>
              <a:t>ReplicationController</a:t>
            </a:r>
            <a:r>
              <a:rPr lang="en-US" altLang="ko-KR" sz="1400" b="1" dirty="0"/>
              <a:t> aren’t an integral part of the </a:t>
            </a:r>
            <a:r>
              <a:rPr lang="en-US" altLang="ko-KR" sz="1400" b="1" dirty="0" err="1"/>
              <a:t>ReplicationController</a:t>
            </a:r>
            <a:r>
              <a:rPr lang="en-US" altLang="ko-KR" sz="1400" dirty="0"/>
              <a:t>, and </a:t>
            </a:r>
            <a:r>
              <a:rPr lang="en-US" altLang="ko-KR" sz="1400" b="1" dirty="0"/>
              <a:t>are only managed by it</a:t>
            </a:r>
            <a:r>
              <a:rPr lang="en-US" altLang="ko-KR" sz="1400" dirty="0"/>
              <a:t>, </a:t>
            </a:r>
            <a:r>
              <a:rPr lang="en-US" altLang="ko-KR" sz="1400" b="1" dirty="0"/>
              <a:t>you can delete only the </a:t>
            </a:r>
            <a:r>
              <a:rPr lang="en-US" altLang="ko-KR" sz="1400" b="1" dirty="0" err="1"/>
              <a:t>ReplicationController</a:t>
            </a:r>
            <a:r>
              <a:rPr lang="en-US" altLang="ko-KR" sz="1400" b="1" dirty="0"/>
              <a:t> and leave the pods running</a:t>
            </a:r>
            <a:r>
              <a:rPr lang="en-US" altLang="ko-KR" sz="1400" dirty="0"/>
              <a:t>, as show in the following figure. This may be useful when you initially have a set of pods managed by a </a:t>
            </a:r>
            <a:r>
              <a:rPr lang="en-US" altLang="ko-KR" sz="1400" dirty="0" err="1"/>
              <a:t>ReplicationController</a:t>
            </a:r>
            <a:r>
              <a:rPr lang="en-US" altLang="ko-KR" sz="1400" dirty="0"/>
              <a:t>, and then decide to </a:t>
            </a:r>
            <a:r>
              <a:rPr lang="en-US" altLang="ko-KR" sz="1400" b="1" dirty="0"/>
              <a:t>replace the </a:t>
            </a:r>
            <a:r>
              <a:rPr lang="en-US" altLang="ko-KR" sz="1400" b="1" dirty="0" err="1"/>
              <a:t>ReplicationController</a:t>
            </a:r>
            <a:r>
              <a:rPr lang="en-US" altLang="ko-KR" sz="1400" b="1" dirty="0"/>
              <a:t> with a </a:t>
            </a:r>
            <a:r>
              <a:rPr lang="en-US" altLang="ko-KR" sz="1400" b="1" dirty="0" err="1">
                <a:solidFill>
                  <a:srgbClr val="FF0000"/>
                </a:solidFill>
              </a:rPr>
              <a:t>ReplicaSet</a:t>
            </a:r>
            <a:r>
              <a:rPr lang="en-US" altLang="ko-KR" sz="1400" dirty="0"/>
              <a:t>, for example. </a:t>
            </a:r>
            <a:r>
              <a:rPr lang="en-US" altLang="ko-KR" sz="1400" b="1" dirty="0"/>
              <a:t>You can do this without affecting the pods and keep them running without interruption while you replace the </a:t>
            </a:r>
            <a:r>
              <a:rPr lang="en-US" altLang="ko-KR" sz="1400" b="1" dirty="0" err="1"/>
              <a:t>ReplicationController</a:t>
            </a:r>
            <a:r>
              <a:rPr lang="en-US" altLang="ko-KR" sz="1400" b="1" dirty="0"/>
              <a:t> that manages them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20F14B51-FAF6-1D0E-FE00-7C592C34346D}"/>
              </a:ext>
            </a:extLst>
          </p:cNvPr>
          <p:cNvGrpSpPr/>
          <p:nvPr/>
        </p:nvGrpSpPr>
        <p:grpSpPr>
          <a:xfrm>
            <a:off x="2989006" y="2752865"/>
            <a:ext cx="6213987" cy="3510116"/>
            <a:chOff x="2989006" y="2752865"/>
            <a:chExt cx="6213987" cy="3510116"/>
          </a:xfrm>
        </p:grpSpPr>
        <p:pic>
          <p:nvPicPr>
            <p:cNvPr id="8" name="그림 7">
              <a:extLst>
                <a:ext uri="{FF2B5EF4-FFF2-40B4-BE49-F238E27FC236}">
                  <a16:creationId xmlns:a16="http://schemas.microsoft.com/office/drawing/2014/main" id="{3DA8D35A-052C-0CF2-0DB0-E3424BFEE3AE}"/>
                </a:ext>
              </a:extLst>
            </p:cNvPr>
            <p:cNvPicPr>
              <a:picLocks noChangeAspect="1"/>
            </p:cNvPicPr>
            <p:nvPr/>
          </p:nvPicPr>
          <p:blipFill>
            <a:blip r:embed="rId2"/>
            <a:stretch>
              <a:fillRect/>
            </a:stretch>
          </p:blipFill>
          <p:spPr>
            <a:xfrm>
              <a:off x="2989006" y="2752865"/>
              <a:ext cx="6213987" cy="3510116"/>
            </a:xfrm>
            <a:prstGeom prst="rect">
              <a:avLst/>
            </a:prstGeom>
          </p:spPr>
        </p:pic>
        <p:cxnSp>
          <p:nvCxnSpPr>
            <p:cNvPr id="10" name="직선 연결선 9">
              <a:extLst>
                <a:ext uri="{FF2B5EF4-FFF2-40B4-BE49-F238E27FC236}">
                  <a16:creationId xmlns:a16="http://schemas.microsoft.com/office/drawing/2014/main" id="{507B286E-E74A-B60B-491E-0BA3174C25A4}"/>
                </a:ext>
              </a:extLst>
            </p:cNvPr>
            <p:cNvCxnSpPr>
              <a:cxnSpLocks/>
            </p:cNvCxnSpPr>
            <p:nvPr/>
          </p:nvCxnSpPr>
          <p:spPr>
            <a:xfrm flipH="1">
              <a:off x="3515710" y="5265683"/>
              <a:ext cx="1718442" cy="8040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C42571E5-A472-83CD-677F-A99BC9F1C5AB}"/>
                </a:ext>
              </a:extLst>
            </p:cNvPr>
            <p:cNvCxnSpPr>
              <a:cxnSpLocks/>
            </p:cNvCxnSpPr>
            <p:nvPr/>
          </p:nvCxnSpPr>
          <p:spPr>
            <a:xfrm flipH="1" flipV="1">
              <a:off x="3515710" y="5265683"/>
              <a:ext cx="1718442" cy="80086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78890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a:t>
            </a:r>
            <a:r>
              <a:rPr lang="en-US" altLang="ko-KR" sz="2800" b="1" dirty="0" err="1"/>
              <a:t>ReplicationControllers</a:t>
            </a:r>
            <a:r>
              <a:rPr lang="en-US" altLang="ko-KR" sz="2800" b="1" dirty="0"/>
              <a:t>(27/27)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When deleting a </a:t>
            </a:r>
            <a:r>
              <a:rPr lang="en-US" altLang="ko-KR" sz="1400" b="1" dirty="0" err="1"/>
              <a:t>ReplicationController</a:t>
            </a:r>
            <a:r>
              <a:rPr lang="en-US" altLang="ko-KR" sz="1400" b="1" dirty="0"/>
              <a:t> with “</a:t>
            </a:r>
            <a:r>
              <a:rPr lang="en-US" altLang="ko-KR" sz="1400" b="1" dirty="0" err="1"/>
              <a:t>kubectl</a:t>
            </a:r>
            <a:r>
              <a:rPr lang="en-US" altLang="ko-KR" sz="1400" b="1" dirty="0"/>
              <a:t> delete” command, you can keep its pods running by passing the “</a:t>
            </a:r>
            <a:r>
              <a:rPr lang="en-US" altLang="ko-KR" sz="1400" b="1" dirty="0">
                <a:solidFill>
                  <a:srgbClr val="FF0000"/>
                </a:solidFill>
              </a:rPr>
              <a:t>--cascade=false</a:t>
            </a:r>
            <a:r>
              <a:rPr lang="en-US" altLang="ko-KR" sz="1400" b="1" dirty="0"/>
              <a:t>” option to the command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You’ve deleted the </a:t>
            </a:r>
            <a:r>
              <a:rPr lang="en-US" altLang="ko-KR" sz="1400" b="1" dirty="0" err="1"/>
              <a:t>ReplicationController</a:t>
            </a:r>
            <a:r>
              <a:rPr lang="en-US" altLang="ko-KR" sz="1400" b="1" dirty="0"/>
              <a:t> so the pods are on their own</a:t>
            </a:r>
            <a:r>
              <a:rPr lang="en-US" altLang="ko-KR" sz="1400" dirty="0"/>
              <a:t>. </a:t>
            </a:r>
            <a:r>
              <a:rPr lang="en-US" altLang="ko-KR" sz="1400" b="1" dirty="0"/>
              <a:t>They are no longer managed</a:t>
            </a:r>
            <a:r>
              <a:rPr lang="en-US" altLang="ko-KR" sz="1400" dirty="0"/>
              <a:t>. </a:t>
            </a:r>
            <a:r>
              <a:rPr lang="en-US" altLang="ko-KR" sz="1400" b="1" dirty="0"/>
              <a:t>But you can always create a new </a:t>
            </a:r>
            <a:r>
              <a:rPr lang="en-US" altLang="ko-KR" sz="1400" b="1" dirty="0" err="1"/>
              <a:t>ReplicationController</a:t>
            </a:r>
            <a:r>
              <a:rPr lang="en-US" altLang="ko-KR" sz="1400" b="1" dirty="0"/>
              <a:t> with the proper label selector and make them managed again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직사각형 12">
            <a:extLst>
              <a:ext uri="{FF2B5EF4-FFF2-40B4-BE49-F238E27FC236}">
                <a16:creationId xmlns:a16="http://schemas.microsoft.com/office/drawing/2014/main" id="{A4CD9537-3488-6B22-0A85-70E074C83CB4}"/>
              </a:ext>
            </a:extLst>
          </p:cNvPr>
          <p:cNvSpPr/>
          <p:nvPr/>
        </p:nvSpPr>
        <p:spPr>
          <a:xfrm>
            <a:off x="5738649" y="3263462"/>
            <a:ext cx="2782614"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51A8A767-2DA8-1597-D29F-165E9B8D9E32}"/>
              </a:ext>
            </a:extLst>
          </p:cNvPr>
          <p:cNvGrpSpPr/>
          <p:nvPr/>
        </p:nvGrpSpPr>
        <p:grpSpPr>
          <a:xfrm>
            <a:off x="1393935" y="1790056"/>
            <a:ext cx="9404130" cy="3277887"/>
            <a:chOff x="1393935" y="1790056"/>
            <a:chExt cx="9404130" cy="3277887"/>
          </a:xfrm>
        </p:grpSpPr>
        <p:grpSp>
          <p:nvGrpSpPr>
            <p:cNvPr id="12" name="그룹 11">
              <a:extLst>
                <a:ext uri="{FF2B5EF4-FFF2-40B4-BE49-F238E27FC236}">
                  <a16:creationId xmlns:a16="http://schemas.microsoft.com/office/drawing/2014/main" id="{A01305D8-B47D-A1B8-5A19-CDD6CDB2705F}"/>
                </a:ext>
              </a:extLst>
            </p:cNvPr>
            <p:cNvGrpSpPr/>
            <p:nvPr/>
          </p:nvGrpSpPr>
          <p:grpSpPr>
            <a:xfrm>
              <a:off x="1393935" y="1790056"/>
              <a:ext cx="9404130" cy="3277887"/>
              <a:chOff x="1393935" y="1628368"/>
              <a:chExt cx="9404130" cy="3277887"/>
            </a:xfrm>
          </p:grpSpPr>
          <p:sp>
            <p:nvSpPr>
              <p:cNvPr id="8" name="TextBox 7">
                <a:extLst>
                  <a:ext uri="{FF2B5EF4-FFF2-40B4-BE49-F238E27FC236}">
                    <a16:creationId xmlns:a16="http://schemas.microsoft.com/office/drawing/2014/main" id="{F1FBCF3F-6FA8-8511-9766-F96D5AD58C9F}"/>
                  </a:ext>
                </a:extLst>
              </p:cNvPr>
              <p:cNvSpPr txBox="1"/>
              <p:nvPr/>
            </p:nvSpPr>
            <p:spPr>
              <a:xfrm>
                <a:off x="3047343" y="162836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rc</a:t>
                </a:r>
                <a:r>
                  <a:rPr lang="en-US" altLang="ko-KR" sz="1000" b="1" dirty="0">
                    <a:solidFill>
                      <a:srgbClr val="FF0000"/>
                    </a:solidFill>
                  </a:rPr>
                  <a:t> </a:t>
                </a:r>
                <a:r>
                  <a:rPr lang="en-US" altLang="ko-KR" sz="1000" b="1" dirty="0" err="1">
                    <a:solidFill>
                      <a:srgbClr val="FF0000"/>
                    </a:solidFill>
                  </a:rPr>
                  <a:t>kubia</a:t>
                </a:r>
                <a:r>
                  <a:rPr lang="en-US" altLang="ko-KR" sz="1000" b="1" dirty="0">
                    <a:solidFill>
                      <a:srgbClr val="FF0000"/>
                    </a:solidFill>
                  </a:rPr>
                  <a:t> --cascade=false</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7AD71677-39D3-2EEE-BFA9-7020F13747D3}"/>
                  </a:ext>
                </a:extLst>
              </p:cNvPr>
              <p:cNvSpPr/>
              <p:nvPr/>
            </p:nvSpPr>
            <p:spPr>
              <a:xfrm>
                <a:off x="5851634" y="1880004"/>
                <a:ext cx="488731" cy="32470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A402096-EBB3-2384-DF61-47FD130C873C}"/>
                  </a:ext>
                </a:extLst>
              </p:cNvPr>
              <p:cNvPicPr>
                <a:picLocks noChangeAspect="1"/>
              </p:cNvPicPr>
              <p:nvPr/>
            </p:nvPicPr>
            <p:blipFill>
              <a:blip r:embed="rId2"/>
              <a:stretch>
                <a:fillRect/>
              </a:stretch>
            </p:blipFill>
            <p:spPr>
              <a:xfrm>
                <a:off x="1393935" y="2204705"/>
                <a:ext cx="9404130" cy="2701550"/>
              </a:xfrm>
              <a:prstGeom prst="rect">
                <a:avLst/>
              </a:prstGeom>
            </p:spPr>
          </p:pic>
        </p:grpSp>
        <p:sp>
          <p:nvSpPr>
            <p:cNvPr id="14" name="직사각형 13">
              <a:extLst>
                <a:ext uri="{FF2B5EF4-FFF2-40B4-BE49-F238E27FC236}">
                  <a16:creationId xmlns:a16="http://schemas.microsoft.com/office/drawing/2014/main" id="{021F8AB8-8E3B-7030-7C6A-2E039D296E19}"/>
                </a:ext>
              </a:extLst>
            </p:cNvPr>
            <p:cNvSpPr/>
            <p:nvPr/>
          </p:nvSpPr>
          <p:spPr>
            <a:xfrm>
              <a:off x="5746532" y="4437993"/>
              <a:ext cx="1072054"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D089B1B0-37F3-119F-59EE-3102469B0449}"/>
                </a:ext>
              </a:extLst>
            </p:cNvPr>
            <p:cNvSpPr/>
            <p:nvPr/>
          </p:nvSpPr>
          <p:spPr>
            <a:xfrm>
              <a:off x="5738649" y="2848554"/>
              <a:ext cx="1072054"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176889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a:t>
            </a:r>
            <a:r>
              <a:rPr lang="en-US" altLang="ko-KR" sz="1800" b="1" dirty="0" err="1"/>
              <a:t>ReplicaSets</a:t>
            </a:r>
            <a:r>
              <a:rPr lang="en-US" altLang="ko-KR" sz="1800" b="1" dirty="0"/>
              <a:t>? :</a:t>
            </a:r>
          </a:p>
          <a:p>
            <a:pPr lvl="1">
              <a:buFont typeface="Wingdings" panose="05000000000000000000" pitchFamily="2" charset="2"/>
              <a:buChar char="§"/>
            </a:pPr>
            <a:r>
              <a:rPr lang="en-US" altLang="ko-KR" sz="1400" b="1" dirty="0"/>
              <a:t>Initially, </a:t>
            </a:r>
            <a:r>
              <a:rPr lang="en-US" altLang="ko-KR" sz="1400" b="1" dirty="0" err="1"/>
              <a:t>ReplicationControllers</a:t>
            </a:r>
            <a:r>
              <a:rPr lang="en-US" altLang="ko-KR" sz="1400" b="1" dirty="0"/>
              <a:t> were the only Kubernetes component for replicating pods and rescheduling them when nodes failed</a:t>
            </a:r>
            <a:r>
              <a:rPr lang="en-US" altLang="ko-KR" sz="1400" dirty="0"/>
              <a:t>. Later, a similar resource called a </a:t>
            </a:r>
            <a:r>
              <a:rPr lang="en-US" altLang="ko-KR" sz="1400" b="1" dirty="0" err="1">
                <a:solidFill>
                  <a:srgbClr val="FF0000"/>
                </a:solidFill>
              </a:rPr>
              <a:t>ReplicaSet</a:t>
            </a:r>
            <a:r>
              <a:rPr lang="en-US" altLang="ko-KR" sz="1400" dirty="0"/>
              <a:t> was introduced. </a:t>
            </a:r>
            <a:r>
              <a:rPr lang="en-US" altLang="ko-KR" sz="1400" b="1" dirty="0"/>
              <a:t>It’s a new generation of </a:t>
            </a:r>
            <a:r>
              <a:rPr lang="en-US" altLang="ko-KR" sz="1400" b="1" dirty="0" err="1"/>
              <a:t>ReplicationController</a:t>
            </a:r>
            <a:r>
              <a:rPr lang="en-US" altLang="ko-KR" sz="1400" b="1" dirty="0"/>
              <a:t> and replaces it completely (</a:t>
            </a:r>
            <a:r>
              <a:rPr lang="en-US" altLang="ko-KR" sz="1400" b="1" dirty="0" err="1"/>
              <a:t>ReplicationControllers</a:t>
            </a:r>
            <a:r>
              <a:rPr lang="en-US" altLang="ko-KR" sz="1400" b="1" dirty="0"/>
              <a:t> are deprecated now in 2022)</a:t>
            </a:r>
            <a:r>
              <a:rPr lang="en-US" altLang="ko-KR" sz="1400" dirty="0"/>
              <a:t>. It means that </a:t>
            </a:r>
            <a:r>
              <a:rPr lang="en-US" altLang="ko-KR" sz="1400" b="1" dirty="0"/>
              <a:t>you should always create </a:t>
            </a:r>
            <a:r>
              <a:rPr lang="en-US" altLang="ko-KR" sz="1400" b="1" dirty="0" err="1"/>
              <a:t>ReplicaSets</a:t>
            </a:r>
            <a:r>
              <a:rPr lang="en-US" altLang="ko-KR" sz="1400" b="1" dirty="0"/>
              <a:t> instead of </a:t>
            </a:r>
            <a:r>
              <a:rPr lang="en-US" altLang="ko-KR" sz="1400" b="1" dirty="0" err="1"/>
              <a:t>ReplicationControllers</a:t>
            </a:r>
            <a:r>
              <a:rPr lang="en-US" altLang="ko-KR" sz="1400" b="1" dirty="0"/>
              <a:t> from now on</a:t>
            </a:r>
            <a:r>
              <a:rPr lang="en-US" altLang="ko-KR" sz="1400" dirty="0"/>
              <a:t>. They’re almost identical, so you shouldn’t have any trouble using them instead.</a:t>
            </a:r>
          </a:p>
          <a:p>
            <a:pPr lvl="1">
              <a:buFont typeface="Wingdings" panose="05000000000000000000" pitchFamily="2" charset="2"/>
              <a:buChar char="§"/>
            </a:pPr>
            <a:r>
              <a:rPr lang="en-US" altLang="ko-KR" sz="1400" b="1" dirty="0"/>
              <a:t>You usually won’t create them directly, but instead have them created automatically when you create the higher-level </a:t>
            </a:r>
            <a:r>
              <a:rPr lang="en-US" altLang="ko-KR" sz="1400" b="1" dirty="0">
                <a:solidFill>
                  <a:srgbClr val="FF0000"/>
                </a:solidFill>
              </a:rPr>
              <a:t>Deployment</a:t>
            </a:r>
            <a:r>
              <a:rPr lang="en-US" altLang="ko-KR" sz="1400" b="1" dirty="0"/>
              <a:t> resource. </a:t>
            </a:r>
            <a:r>
              <a:rPr lang="en-US" altLang="ko-KR" sz="1400" dirty="0"/>
              <a:t>In any case, you should understand </a:t>
            </a:r>
            <a:r>
              <a:rPr lang="en-US" altLang="ko-KR" sz="1400" b="1" dirty="0" err="1"/>
              <a:t>ReplicaSets</a:t>
            </a:r>
            <a:r>
              <a:rPr lang="en-US" altLang="ko-KR" sz="1400" dirty="0"/>
              <a:t>, so let’s see how they differ from </a:t>
            </a:r>
            <a:r>
              <a:rPr lang="en-US" altLang="ko-KR" sz="1400" b="1" dirty="0" err="1"/>
              <a:t>ReplicationControllers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6202AD1-97F9-9A28-1160-153809C5B31A}"/>
              </a:ext>
            </a:extLst>
          </p:cNvPr>
          <p:cNvPicPr>
            <a:picLocks noChangeAspect="1"/>
          </p:cNvPicPr>
          <p:nvPr/>
        </p:nvPicPr>
        <p:blipFill>
          <a:blip r:embed="rId2"/>
          <a:stretch>
            <a:fillRect/>
          </a:stretch>
        </p:blipFill>
        <p:spPr>
          <a:xfrm>
            <a:off x="4423956" y="2654597"/>
            <a:ext cx="3344087" cy="3754433"/>
          </a:xfrm>
          <a:prstGeom prst="rect">
            <a:avLst/>
          </a:prstGeom>
        </p:spPr>
      </p:pic>
    </p:spTree>
    <p:extLst>
      <p:ext uri="{BB962C8B-B14F-4D97-AF65-F5344CB8AC3E}">
        <p14:creationId xmlns:p14="http://schemas.microsoft.com/office/powerpoint/2010/main" val="22113598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 </a:t>
            </a:r>
            <a:r>
              <a:rPr lang="en-US" altLang="ko-KR" sz="1800" b="1" dirty="0" err="1"/>
              <a:t>ReplicaSet</a:t>
            </a:r>
            <a:r>
              <a:rPr lang="en-US" altLang="ko-KR" sz="1800" b="1" dirty="0"/>
              <a:t> to a </a:t>
            </a:r>
            <a:r>
              <a:rPr lang="en-US" altLang="ko-KR" sz="1800" b="1" dirty="0" err="1"/>
              <a:t>ReplicationController</a:t>
            </a:r>
            <a:r>
              <a:rPr lang="en-US" altLang="ko-KR" sz="1800" b="1" dirty="0"/>
              <a:t> :</a:t>
            </a:r>
          </a:p>
          <a:p>
            <a:pPr lvl="1">
              <a:buFont typeface="Wingdings" panose="05000000000000000000" pitchFamily="2" charset="2"/>
              <a:buChar char="§"/>
            </a:pPr>
            <a:r>
              <a:rPr lang="en-US" altLang="ko-KR" sz="1400" b="1" dirty="0"/>
              <a:t>A </a:t>
            </a:r>
            <a:r>
              <a:rPr lang="en-US" altLang="ko-KR" sz="1400" b="1" dirty="0" err="1"/>
              <a:t>ReplicaSet</a:t>
            </a:r>
            <a:r>
              <a:rPr lang="en-US" altLang="ko-KR" sz="1400" b="1" dirty="0"/>
              <a:t> behaves exactly like a </a:t>
            </a:r>
            <a:r>
              <a:rPr lang="en-US" altLang="ko-KR" sz="1400" b="1" dirty="0" err="1"/>
              <a:t>ReplicationController</a:t>
            </a:r>
            <a:r>
              <a:rPr lang="en-US" altLang="ko-KR" sz="1400" b="1" dirty="0"/>
              <a:t>, but it has </a:t>
            </a:r>
            <a:r>
              <a:rPr lang="en-US" altLang="ko-KR" sz="1400" b="1" dirty="0">
                <a:solidFill>
                  <a:srgbClr val="FF0000"/>
                </a:solidFill>
              </a:rPr>
              <a:t>more expressive pod selectors</a:t>
            </a:r>
            <a:r>
              <a:rPr lang="en-US" altLang="ko-KR" sz="1400" dirty="0"/>
              <a:t>. Whereas a </a:t>
            </a:r>
            <a:r>
              <a:rPr lang="en-US" altLang="ko-KR" sz="1400" dirty="0" err="1"/>
              <a:t>ReplicationController’s</a:t>
            </a:r>
            <a:r>
              <a:rPr lang="en-US" altLang="ko-KR" sz="1400" dirty="0"/>
              <a:t> label selector only allows matching pods that include a certain label, </a:t>
            </a:r>
            <a:r>
              <a:rPr lang="en-US" altLang="ko-KR" sz="1400" b="1" dirty="0"/>
              <a:t>a </a:t>
            </a:r>
            <a:r>
              <a:rPr lang="en-US" altLang="ko-KR" sz="1400" b="1" dirty="0" err="1"/>
              <a:t>ReplicaSet’s</a:t>
            </a:r>
            <a:r>
              <a:rPr lang="en-US" altLang="ko-KR" sz="1400" b="1" dirty="0"/>
              <a:t> selector also allows matching pods that lack a certain label or pods that include a certain label key, regardless of its value</a:t>
            </a:r>
            <a:r>
              <a:rPr lang="en-US" altLang="ko-KR" sz="1400" dirty="0"/>
              <a:t>.</a:t>
            </a:r>
          </a:p>
          <a:p>
            <a:pPr lvl="1">
              <a:buFont typeface="Wingdings" panose="05000000000000000000" pitchFamily="2" charset="2"/>
              <a:buChar char="§"/>
            </a:pPr>
            <a:r>
              <a:rPr lang="en-US" altLang="ko-KR" sz="1400" dirty="0"/>
              <a:t>Also, for example, a single </a:t>
            </a:r>
            <a:r>
              <a:rPr lang="en-US" altLang="ko-KR" sz="1400" dirty="0" err="1"/>
              <a:t>ReplicationController</a:t>
            </a:r>
            <a:r>
              <a:rPr lang="en-US" altLang="ko-KR" sz="1400" dirty="0"/>
              <a:t> can’t match pods with the label “</a:t>
            </a:r>
            <a:r>
              <a:rPr lang="en-US" altLang="ko-KR" sz="1400" b="1" dirty="0"/>
              <a:t>env=production</a:t>
            </a:r>
            <a:r>
              <a:rPr lang="en-US" altLang="ko-KR" sz="1400" dirty="0"/>
              <a:t>” and those with the label “</a:t>
            </a:r>
            <a:r>
              <a:rPr lang="en-US" altLang="ko-KR" sz="1400" b="1" dirty="0"/>
              <a:t>env=</a:t>
            </a:r>
            <a:r>
              <a:rPr lang="en-US" altLang="ko-KR" sz="1400" b="1" dirty="0" err="1"/>
              <a:t>devel</a:t>
            </a:r>
            <a:r>
              <a:rPr lang="en-US" altLang="ko-KR" sz="1400" dirty="0"/>
              <a:t>” at the same time. It can only match either pods with the “</a:t>
            </a:r>
            <a:r>
              <a:rPr lang="en-US" altLang="ko-KR" sz="1400" b="1" dirty="0"/>
              <a:t>env=production</a:t>
            </a:r>
            <a:r>
              <a:rPr lang="en-US" altLang="ko-KR" sz="1400" dirty="0"/>
              <a:t>” label or pods with the “</a:t>
            </a:r>
            <a:r>
              <a:rPr lang="en-US" altLang="ko-KR" sz="1400" b="1" dirty="0"/>
              <a:t>env=</a:t>
            </a:r>
            <a:r>
              <a:rPr lang="en-US" altLang="ko-KR" sz="1400" b="1" dirty="0" err="1"/>
              <a:t>devel</a:t>
            </a:r>
            <a:r>
              <a:rPr lang="en-US" altLang="ko-KR" sz="1400" dirty="0"/>
              <a:t>” label. But </a:t>
            </a:r>
            <a:r>
              <a:rPr lang="en-US" altLang="ko-KR" sz="1400" b="1" dirty="0"/>
              <a:t>a single </a:t>
            </a:r>
            <a:r>
              <a:rPr lang="en-US" altLang="ko-KR" sz="1400" b="1" dirty="0" err="1"/>
              <a:t>ReplicaSet</a:t>
            </a:r>
            <a:r>
              <a:rPr lang="en-US" altLang="ko-KR" sz="1400" b="1" dirty="0"/>
              <a:t> can match both sets of pods and treat them as a single group</a:t>
            </a:r>
            <a:r>
              <a:rPr lang="en-US" altLang="ko-KR" sz="1400" dirty="0"/>
              <a:t>.</a:t>
            </a:r>
          </a:p>
          <a:p>
            <a:pPr lvl="1">
              <a:buFont typeface="Wingdings" panose="05000000000000000000" pitchFamily="2" charset="2"/>
              <a:buChar char="§"/>
            </a:pPr>
            <a:r>
              <a:rPr lang="en-US" altLang="ko-KR" sz="1400" dirty="0"/>
              <a:t>Similarly, a </a:t>
            </a:r>
            <a:r>
              <a:rPr lang="en-US" altLang="ko-KR" sz="1400" dirty="0" err="1"/>
              <a:t>ReplicationController</a:t>
            </a:r>
            <a:r>
              <a:rPr lang="en-US" altLang="ko-KR" sz="1400" dirty="0"/>
              <a:t> can’t match pods based merely on the presence of a label key, regardless of its value, whereas a </a:t>
            </a:r>
            <a:r>
              <a:rPr lang="en-US" altLang="ko-KR" sz="1400" dirty="0" err="1"/>
              <a:t>ReplicaSet</a:t>
            </a:r>
            <a:r>
              <a:rPr lang="en-US" altLang="ko-KR" sz="1400" dirty="0"/>
              <a:t> can. For example, </a:t>
            </a:r>
            <a:r>
              <a:rPr lang="en-US" altLang="ko-KR" sz="1400" b="1" dirty="0"/>
              <a:t>a </a:t>
            </a:r>
            <a:r>
              <a:rPr lang="en-US" altLang="ko-KR" sz="1400" b="1" dirty="0" err="1"/>
              <a:t>ReplicaSet</a:t>
            </a:r>
            <a:r>
              <a:rPr lang="en-US" altLang="ko-KR" sz="1400" b="1" dirty="0"/>
              <a:t> can match all pods that include a label with the key “env”, whatever its actual value is (you can think of it as “env=*”)</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7E89244-B204-AC50-88DE-0DF15673888B}"/>
              </a:ext>
            </a:extLst>
          </p:cNvPr>
          <p:cNvPicPr>
            <a:picLocks noChangeAspect="1"/>
          </p:cNvPicPr>
          <p:nvPr/>
        </p:nvPicPr>
        <p:blipFill>
          <a:blip r:embed="rId2"/>
          <a:stretch>
            <a:fillRect/>
          </a:stretch>
        </p:blipFill>
        <p:spPr>
          <a:xfrm>
            <a:off x="4134955" y="3275329"/>
            <a:ext cx="3922089" cy="3133701"/>
          </a:xfrm>
          <a:prstGeom prst="rect">
            <a:avLst/>
          </a:prstGeom>
        </p:spPr>
      </p:pic>
    </p:spTree>
    <p:extLst>
      <p:ext uri="{BB962C8B-B14F-4D97-AF65-F5344CB8AC3E}">
        <p14:creationId xmlns:p14="http://schemas.microsoft.com/office/powerpoint/2010/main" val="12565039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You’re going to create a </a:t>
            </a:r>
            <a:r>
              <a:rPr lang="en-US" altLang="ko-KR" sz="1400" b="1" dirty="0" err="1"/>
              <a:t>ReplicaSet</a:t>
            </a:r>
            <a:r>
              <a:rPr lang="en-US" altLang="ko-KR" sz="1400" b="1" dirty="0"/>
              <a:t> now to see how the orphaned pods that were created by your </a:t>
            </a:r>
            <a:r>
              <a:rPr lang="en-US" altLang="ko-KR" sz="1400" b="1" dirty="0" err="1"/>
              <a:t>ReplicationController</a:t>
            </a:r>
            <a:r>
              <a:rPr lang="en-US" altLang="ko-KR" sz="1400" b="1" dirty="0"/>
              <a:t> and then abandoned earlier can now be adopted by a </a:t>
            </a:r>
            <a:r>
              <a:rPr lang="en-US" altLang="ko-KR" sz="1400" b="1" dirty="0" err="1"/>
              <a:t>ReplicaSet</a:t>
            </a:r>
            <a:r>
              <a:rPr lang="en-US" altLang="ko-KR" sz="1400" dirty="0"/>
              <a:t>. First, you’ll </a:t>
            </a:r>
            <a:r>
              <a:rPr lang="en-US" altLang="ko-KR" sz="1400" b="1" dirty="0"/>
              <a:t>rewrite your </a:t>
            </a:r>
            <a:r>
              <a:rPr lang="en-US" altLang="ko-KR" sz="1400" b="1" dirty="0" err="1"/>
              <a:t>ReplicationController</a:t>
            </a:r>
            <a:r>
              <a:rPr lang="en-US" altLang="ko-KR" sz="1400" b="1" dirty="0"/>
              <a:t> into a </a:t>
            </a:r>
            <a:r>
              <a:rPr lang="en-US" altLang="ko-KR" sz="1400" b="1" dirty="0" err="1"/>
              <a:t>ReplicaSet</a:t>
            </a:r>
            <a:r>
              <a:rPr lang="en-US" altLang="ko-KR" sz="1400" b="1" dirty="0"/>
              <a:t> by creating a new file called “</a:t>
            </a:r>
            <a:r>
              <a:rPr lang="en-US" altLang="ko-KR" sz="1400" b="1" dirty="0" err="1"/>
              <a:t>kubia-replicaset.yaml</a:t>
            </a:r>
            <a:r>
              <a:rPr lang="en-US" altLang="ko-KR" sz="1400" b="1" dirty="0"/>
              <a: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first thing to note in the above code is that </a:t>
            </a:r>
            <a:r>
              <a:rPr lang="en-US" altLang="ko-KR" sz="1400" b="1" dirty="0" err="1"/>
              <a:t>ReplicaSets</a:t>
            </a:r>
            <a:r>
              <a:rPr lang="en-US" altLang="ko-KR" sz="1400" b="1" dirty="0"/>
              <a:t> are part of the v1 API now(2022.11), so you need to ensure you specify the proper </a:t>
            </a:r>
            <a:r>
              <a:rPr lang="en-US" altLang="ko-KR" sz="1400" b="1" dirty="0" err="1"/>
              <a:t>apiVersion</a:t>
            </a:r>
            <a:r>
              <a:rPr lang="en-US" altLang="ko-KR" sz="1400" b="1" dirty="0"/>
              <a:t> when creating the resource</a:t>
            </a:r>
            <a:r>
              <a:rPr lang="en-US" altLang="ko-KR" sz="1400" dirty="0"/>
              <a:t>. You’re creating </a:t>
            </a:r>
            <a:r>
              <a:rPr lang="en-US" altLang="ko-KR" sz="1400" b="1" dirty="0"/>
              <a:t>a resource of type “</a:t>
            </a:r>
            <a:r>
              <a:rPr lang="en-US" altLang="ko-KR" sz="1400" b="1" dirty="0" err="1">
                <a:solidFill>
                  <a:srgbClr val="FF0000"/>
                </a:solidFill>
              </a:rPr>
              <a:t>ReplicaSet</a:t>
            </a:r>
            <a:r>
              <a:rPr lang="en-US" altLang="ko-KR" sz="1400" b="1" dirty="0"/>
              <a:t>”</a:t>
            </a:r>
            <a:r>
              <a:rPr lang="en-US" altLang="ko-KR" sz="1400" dirty="0"/>
              <a:t> which has much the same contents as the </a:t>
            </a:r>
            <a:r>
              <a:rPr lang="en-US" altLang="ko-KR" sz="1400" dirty="0" err="1"/>
              <a:t>ReplicationController</a:t>
            </a:r>
            <a:r>
              <a:rPr lang="en-US" altLang="ko-KR" sz="1400" dirty="0"/>
              <a:t> you created earlier.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18424EB-7BC0-2C0D-8B02-AF5F2878651C}"/>
              </a:ext>
            </a:extLst>
          </p:cNvPr>
          <p:cNvGrpSpPr/>
          <p:nvPr/>
        </p:nvGrpSpPr>
        <p:grpSpPr>
          <a:xfrm>
            <a:off x="3047343" y="2019603"/>
            <a:ext cx="6097314" cy="2708434"/>
            <a:chOff x="3047343" y="2074783"/>
            <a:chExt cx="6097314" cy="2708434"/>
          </a:xfrm>
        </p:grpSpPr>
        <p:sp>
          <p:nvSpPr>
            <p:cNvPr id="8" name="TextBox 7">
              <a:extLst>
                <a:ext uri="{FF2B5EF4-FFF2-40B4-BE49-F238E27FC236}">
                  <a16:creationId xmlns:a16="http://schemas.microsoft.com/office/drawing/2014/main" id="{E0458C1C-E9DC-A8FC-9FAE-46205E595FC9}"/>
                </a:ext>
              </a:extLst>
            </p:cNvPr>
            <p:cNvSpPr txBox="1"/>
            <p:nvPr/>
          </p:nvSpPr>
          <p:spPr>
            <a:xfrm>
              <a:off x="3047343" y="2074783"/>
              <a:ext cx="6097314" cy="270843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solidFill>
                    <a:srgbClr val="FF0000"/>
                  </a:solidFill>
                </a:rPr>
                <a:t>ReplicaSet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replicas: 3</a:t>
              </a:r>
            </a:p>
            <a:p>
              <a:r>
                <a:rPr lang="en-US" altLang="ko-KR" sz="1000" b="1" dirty="0">
                  <a:solidFill>
                    <a:srgbClr val="FF0000"/>
                  </a:solidFill>
                </a:rPr>
                <a:t>  selector:</a:t>
              </a:r>
            </a:p>
            <a:p>
              <a:r>
                <a:rPr lang="en-US" altLang="ko-KR" sz="1000" b="1" dirty="0"/>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solidFill>
                    <a:srgbClr val="FF0000"/>
                  </a:solidFill>
                </a:rPr>
                <a:t>      labels:</a:t>
              </a:r>
            </a:p>
            <a:p>
              <a:r>
                <a:rPr lang="en-US" altLang="ko-KR" sz="1000" b="1" dirty="0">
                  <a:solidFill>
                    <a:srgbClr val="FF0000"/>
                  </a:solidFill>
                </a:rPr>
                <a:t>        app: </a:t>
              </a:r>
              <a:r>
                <a:rPr lang="en-US" altLang="ko-KR" sz="1000" b="1" dirty="0" err="1">
                  <a:solidFill>
                    <a:srgbClr val="FF0000"/>
                  </a:solidFill>
                </a:rPr>
                <a:t>kubia</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name: </a:t>
              </a:r>
              <a:r>
                <a:rPr lang="en-US" altLang="ko-KR" sz="1000" b="1" dirty="0" err="1"/>
                <a:t>kubia</a:t>
              </a:r>
              <a:endParaRPr lang="en-US" altLang="ko-KR" sz="1000" b="1" dirty="0"/>
            </a:p>
            <a:p>
              <a:r>
                <a:rPr lang="en-US" altLang="ko-KR" sz="1000" b="1" dirty="0"/>
                <a:t>        image: knix008/</a:t>
              </a:r>
              <a:r>
                <a:rPr lang="en-US" altLang="ko-KR" sz="1000" b="1" dirty="0" err="1"/>
                <a:t>kubia</a:t>
              </a:r>
              <a:endParaRPr lang="ko-KR" altLang="en-US" sz="1000" b="1" dirty="0"/>
            </a:p>
          </p:txBody>
        </p:sp>
        <p:sp>
          <p:nvSpPr>
            <p:cNvPr id="9" name="TextBox 8">
              <a:extLst>
                <a:ext uri="{FF2B5EF4-FFF2-40B4-BE49-F238E27FC236}">
                  <a16:creationId xmlns:a16="http://schemas.microsoft.com/office/drawing/2014/main" id="{CDB10583-D729-1061-AB4A-400112EFEC11}"/>
                </a:ext>
              </a:extLst>
            </p:cNvPr>
            <p:cNvSpPr txBox="1"/>
            <p:nvPr/>
          </p:nvSpPr>
          <p:spPr>
            <a:xfrm>
              <a:off x="7666367" y="2074783"/>
              <a:ext cx="1478290" cy="246221"/>
            </a:xfrm>
            <a:prstGeom prst="rect">
              <a:avLst/>
            </a:prstGeom>
            <a:noFill/>
          </p:spPr>
          <p:txBody>
            <a:bodyPr wrap="none" rtlCol="0">
              <a:spAutoFit/>
            </a:bodyPr>
            <a:lstStyle/>
            <a:p>
              <a:pPr algn="l"/>
              <a:r>
                <a:rPr lang="en-US" altLang="ko-KR" sz="1000" b="1" dirty="0" err="1"/>
                <a:t>kubia-replicaset.yaml</a:t>
              </a:r>
              <a:endParaRPr lang="ko-KR" altLang="en-US" sz="1000" b="1" dirty="0"/>
            </a:p>
          </p:txBody>
        </p:sp>
      </p:grpSp>
    </p:spTree>
    <p:extLst>
      <p:ext uri="{BB962C8B-B14F-4D97-AF65-F5344CB8AC3E}">
        <p14:creationId xmlns:p14="http://schemas.microsoft.com/office/powerpoint/2010/main" val="33027611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The only difference is in the selector</a:t>
            </a:r>
            <a:r>
              <a:rPr lang="en-US" altLang="ko-KR" sz="1400" dirty="0"/>
              <a:t>. Instead of listing labels the pods need to have directly under the selector property, you’re specifying them under “</a:t>
            </a:r>
            <a:r>
              <a:rPr lang="en-US" altLang="ko-KR" sz="1400" b="1" dirty="0" err="1">
                <a:solidFill>
                  <a:srgbClr val="FF0000"/>
                </a:solidFill>
              </a:rPr>
              <a:t>selector.matchLabels</a:t>
            </a:r>
            <a:r>
              <a:rPr lang="en-US" altLang="ko-KR" sz="1400" dirty="0"/>
              <a:t>”. This is the simpler (and less expressive) way of </a:t>
            </a:r>
            <a:r>
              <a:rPr lang="en-US" altLang="ko-KR" sz="1400" b="1" dirty="0"/>
              <a:t>defining label selectors in a </a:t>
            </a:r>
            <a:r>
              <a:rPr lang="en-US" altLang="ko-KR" sz="1400" b="1" dirty="0" err="1"/>
              <a:t>ReplicaSet</a:t>
            </a:r>
            <a:r>
              <a:rPr lang="en-US" altLang="ko-KR" sz="1400" dirty="0"/>
              <a:t>.</a:t>
            </a:r>
          </a:p>
          <a:p>
            <a:pPr lvl="1">
              <a:buFont typeface="Wingdings" panose="05000000000000000000" pitchFamily="2" charset="2"/>
              <a:buChar char="§"/>
            </a:pPr>
            <a:r>
              <a:rPr lang="en-US" altLang="ko-KR" sz="1400" b="1" dirty="0"/>
              <a:t>Because you still have three pods matching the “app=</a:t>
            </a:r>
            <a:r>
              <a:rPr lang="en-US" altLang="ko-KR" sz="1400" b="1" dirty="0" err="1"/>
              <a:t>kubia</a:t>
            </a:r>
            <a:r>
              <a:rPr lang="en-US" altLang="ko-KR" sz="1400" b="1" dirty="0"/>
              <a:t>” selector running from earlier, creating this </a:t>
            </a:r>
            <a:r>
              <a:rPr lang="en-US" altLang="ko-KR" sz="1400" b="1" dirty="0" err="1"/>
              <a:t>ReplicaSet</a:t>
            </a:r>
            <a:r>
              <a:rPr lang="en-US" altLang="ko-KR" sz="1400" b="1" dirty="0"/>
              <a:t> will not cause any new pods to be created</a:t>
            </a:r>
            <a:r>
              <a:rPr lang="en-US" altLang="ko-KR" sz="1400" dirty="0"/>
              <a:t>. The </a:t>
            </a:r>
            <a:r>
              <a:rPr lang="en-US" altLang="ko-KR" sz="1400" dirty="0" err="1"/>
              <a:t>ReplicaSet</a:t>
            </a:r>
            <a:r>
              <a:rPr lang="en-US" altLang="ko-KR" sz="1400" dirty="0"/>
              <a:t> will take those existing three pods under its wing.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API version attribute </a:t>
            </a:r>
            <a:r>
              <a:rPr lang="en-US" altLang="ko-KR" sz="1400" dirty="0"/>
              <a:t>- The </a:t>
            </a:r>
            <a:r>
              <a:rPr lang="en-US" altLang="ko-KR" sz="1400" dirty="0" err="1"/>
              <a:t>apiVersion</a:t>
            </a:r>
            <a:r>
              <a:rPr lang="en-US" altLang="ko-KR" sz="1400" dirty="0"/>
              <a:t> property specifies two things :</a:t>
            </a:r>
          </a:p>
          <a:p>
            <a:pPr lvl="2">
              <a:buFont typeface="Wingdings" panose="05000000000000000000" pitchFamily="2" charset="2"/>
              <a:buChar char="§"/>
            </a:pPr>
            <a:r>
              <a:rPr lang="en-US" altLang="ko-KR" sz="1400" b="1" dirty="0"/>
              <a:t>The API group </a:t>
            </a:r>
            <a:r>
              <a:rPr lang="en-US" altLang="ko-KR" sz="1400" dirty="0"/>
              <a:t>(which is “</a:t>
            </a:r>
            <a:r>
              <a:rPr lang="en-US" altLang="ko-KR" sz="1400" b="1" dirty="0"/>
              <a:t>apps”</a:t>
            </a:r>
            <a:r>
              <a:rPr lang="en-US" altLang="ko-KR" sz="1400" dirty="0"/>
              <a:t> in this case)</a:t>
            </a:r>
          </a:p>
          <a:p>
            <a:pPr lvl="2">
              <a:buFont typeface="Wingdings" panose="05000000000000000000" pitchFamily="2" charset="2"/>
              <a:buChar char="§"/>
            </a:pPr>
            <a:r>
              <a:rPr lang="en-US" altLang="ko-KR" sz="1400" b="1" dirty="0"/>
              <a:t>The actual API version </a:t>
            </a:r>
            <a:r>
              <a:rPr lang="en-US" altLang="ko-KR" sz="1400" dirty="0"/>
              <a:t>(“</a:t>
            </a:r>
            <a:r>
              <a:rPr lang="en-US" altLang="ko-KR" sz="1400" b="1" dirty="0"/>
              <a:t>v1”</a:t>
            </a:r>
            <a:r>
              <a:rPr lang="en-US" altLang="ko-KR" sz="1400" dirty="0"/>
              <a:t>)</a:t>
            </a:r>
          </a:p>
          <a:p>
            <a:pPr lvl="1">
              <a:buFont typeface="Wingdings" panose="05000000000000000000" pitchFamily="2" charset="2"/>
              <a:buChar char="§"/>
            </a:pPr>
            <a:r>
              <a:rPr lang="en-US" altLang="ko-KR" sz="1400" b="1" dirty="0"/>
              <a:t>NOTE : You’ll see that certain Kubernetes resources are in what’s called the core API group, which doesn’t need to be specified in the </a:t>
            </a:r>
            <a:r>
              <a:rPr lang="en-US" altLang="ko-KR" sz="1400" b="1" dirty="0" err="1"/>
              <a:t>apiVersion</a:t>
            </a:r>
            <a:r>
              <a:rPr lang="en-US" altLang="ko-KR" sz="1400" b="1" dirty="0"/>
              <a:t> field </a:t>
            </a:r>
            <a:r>
              <a:rPr lang="en-US" altLang="ko-KR" sz="1400" dirty="0"/>
              <a:t>(you just specify the version—for example, you’ve been using “</a:t>
            </a:r>
            <a:r>
              <a:rPr lang="en-US" altLang="ko-KR" sz="1400" b="1" dirty="0" err="1"/>
              <a:t>apiVersion</a:t>
            </a:r>
            <a:r>
              <a:rPr lang="en-US" altLang="ko-KR" sz="1400" b="1" dirty="0"/>
              <a:t>: v1</a:t>
            </a:r>
            <a:r>
              <a:rPr lang="en-US" altLang="ko-KR" sz="1400" dirty="0"/>
              <a:t>” when defining Pod resources). Other resources, which were introduced in later Kubernetes versions, are categorized into several </a:t>
            </a:r>
            <a:r>
              <a:rPr lang="en-US" altLang="ko-KR" sz="1400" b="1" dirty="0"/>
              <a:t>API groups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D49035D-F20C-7CD6-F237-5327F343943C}"/>
              </a:ext>
            </a:extLst>
          </p:cNvPr>
          <p:cNvGrpSpPr/>
          <p:nvPr/>
        </p:nvGrpSpPr>
        <p:grpSpPr>
          <a:xfrm>
            <a:off x="1622258" y="2656263"/>
            <a:ext cx="8947484" cy="1545474"/>
            <a:chOff x="1622258" y="2782160"/>
            <a:chExt cx="8947484" cy="1545474"/>
          </a:xfrm>
        </p:grpSpPr>
        <p:pic>
          <p:nvPicPr>
            <p:cNvPr id="11" name="그림 10">
              <a:extLst>
                <a:ext uri="{FF2B5EF4-FFF2-40B4-BE49-F238E27FC236}">
                  <a16:creationId xmlns:a16="http://schemas.microsoft.com/office/drawing/2014/main" id="{A2EF11D7-DEA3-9F12-5573-C154A90948FA}"/>
                </a:ext>
              </a:extLst>
            </p:cNvPr>
            <p:cNvPicPr>
              <a:picLocks noChangeAspect="1"/>
            </p:cNvPicPr>
            <p:nvPr/>
          </p:nvPicPr>
          <p:blipFill>
            <a:blip r:embed="rId2"/>
            <a:stretch>
              <a:fillRect/>
            </a:stretch>
          </p:blipFill>
          <p:spPr>
            <a:xfrm>
              <a:off x="1622258" y="2782160"/>
              <a:ext cx="8947484" cy="1545474"/>
            </a:xfrm>
            <a:prstGeom prst="rect">
              <a:avLst/>
            </a:prstGeom>
          </p:spPr>
        </p:pic>
        <p:sp>
          <p:nvSpPr>
            <p:cNvPr id="12" name="직사각형 11">
              <a:extLst>
                <a:ext uri="{FF2B5EF4-FFF2-40B4-BE49-F238E27FC236}">
                  <a16:creationId xmlns:a16="http://schemas.microsoft.com/office/drawing/2014/main" id="{03C32BC8-3868-B833-1EEB-709E28736AB2}"/>
                </a:ext>
              </a:extLst>
            </p:cNvPr>
            <p:cNvSpPr/>
            <p:nvPr/>
          </p:nvSpPr>
          <p:spPr>
            <a:xfrm>
              <a:off x="4903076" y="3515710"/>
              <a:ext cx="1269124" cy="449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596603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and Examining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Create the </a:t>
            </a:r>
            <a:r>
              <a:rPr lang="en-US" altLang="ko-KR" sz="1400" b="1" dirty="0" err="1"/>
              <a:t>ReplicaSet</a:t>
            </a:r>
            <a:r>
              <a:rPr lang="en-US" altLang="ko-KR" sz="1400" b="1" dirty="0"/>
              <a:t> from the YAML file with the “</a:t>
            </a:r>
            <a:r>
              <a:rPr lang="en-US" altLang="ko-KR" sz="1400" b="1" dirty="0" err="1"/>
              <a:t>kubectl</a:t>
            </a:r>
            <a:r>
              <a:rPr lang="en-US" altLang="ko-KR" sz="1400" b="1" dirty="0"/>
              <a:t> create” command</a:t>
            </a:r>
            <a:r>
              <a:rPr lang="en-US" altLang="ko-KR" sz="1400" dirty="0"/>
              <a:t>. After that, </a:t>
            </a:r>
            <a:r>
              <a:rPr lang="en-US" altLang="ko-KR" sz="1400" b="1" dirty="0"/>
              <a:t>you can examine the </a:t>
            </a:r>
            <a:r>
              <a:rPr lang="en-US" altLang="ko-KR" sz="1400" b="1" dirty="0" err="1"/>
              <a:t>ReplicaSet</a:t>
            </a:r>
            <a:r>
              <a:rPr lang="en-US" altLang="ko-KR" sz="1400" b="1" dirty="0"/>
              <a:t> with “</a:t>
            </a:r>
            <a:r>
              <a:rPr lang="en-US" altLang="ko-KR" sz="1400" b="1" dirty="0" err="1"/>
              <a:t>kubectl</a:t>
            </a:r>
            <a:r>
              <a:rPr lang="en-US" altLang="ko-KR" sz="1400" b="1" dirty="0"/>
              <a:t> get” and “</a:t>
            </a:r>
            <a:r>
              <a:rPr lang="en-US" altLang="ko-KR" sz="1400" b="1" dirty="0" err="1"/>
              <a:t>kubectl</a:t>
            </a:r>
            <a:r>
              <a:rPr lang="en-US" altLang="ko-KR" sz="1400" b="1" dirty="0"/>
              <a:t> describe” commands</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51AF9C5-92EA-C291-B4FD-1C1954409F70}"/>
              </a:ext>
            </a:extLst>
          </p:cNvPr>
          <p:cNvGrpSpPr/>
          <p:nvPr/>
        </p:nvGrpSpPr>
        <p:grpSpPr>
          <a:xfrm>
            <a:off x="1295235" y="1690131"/>
            <a:ext cx="9601528" cy="4638727"/>
            <a:chOff x="1295235" y="1690131"/>
            <a:chExt cx="9601528" cy="4638727"/>
          </a:xfrm>
        </p:grpSpPr>
        <p:grpSp>
          <p:nvGrpSpPr>
            <p:cNvPr id="11" name="그룹 10">
              <a:extLst>
                <a:ext uri="{FF2B5EF4-FFF2-40B4-BE49-F238E27FC236}">
                  <a16:creationId xmlns:a16="http://schemas.microsoft.com/office/drawing/2014/main" id="{CB8ED21C-3343-FBDD-225F-323BCA38D254}"/>
                </a:ext>
              </a:extLst>
            </p:cNvPr>
            <p:cNvGrpSpPr/>
            <p:nvPr/>
          </p:nvGrpSpPr>
          <p:grpSpPr>
            <a:xfrm>
              <a:off x="1295235" y="2556574"/>
              <a:ext cx="9601528" cy="3772284"/>
              <a:chOff x="1295236" y="2683430"/>
              <a:chExt cx="9601528" cy="3772284"/>
            </a:xfrm>
          </p:grpSpPr>
          <p:pic>
            <p:nvPicPr>
              <p:cNvPr id="10" name="그림 9">
                <a:extLst>
                  <a:ext uri="{FF2B5EF4-FFF2-40B4-BE49-F238E27FC236}">
                    <a16:creationId xmlns:a16="http://schemas.microsoft.com/office/drawing/2014/main" id="{BCCC07D5-5DA6-C2A2-2D98-F3CB3B3219FE}"/>
                  </a:ext>
                </a:extLst>
              </p:cNvPr>
              <p:cNvPicPr>
                <a:picLocks noChangeAspect="1"/>
              </p:cNvPicPr>
              <p:nvPr/>
            </p:nvPicPr>
            <p:blipFill>
              <a:blip r:embed="rId2"/>
              <a:stretch>
                <a:fillRect/>
              </a:stretch>
            </p:blipFill>
            <p:spPr>
              <a:xfrm>
                <a:off x="1824365" y="4022662"/>
                <a:ext cx="9072399" cy="2433052"/>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C523C8BA-A895-4B2A-5862-7087E3596CCF}"/>
                  </a:ext>
                </a:extLst>
              </p:cNvPr>
              <p:cNvPicPr>
                <a:picLocks noChangeAspect="1"/>
              </p:cNvPicPr>
              <p:nvPr/>
            </p:nvPicPr>
            <p:blipFill>
              <a:blip r:embed="rId3"/>
              <a:stretch>
                <a:fillRect/>
              </a:stretch>
            </p:blipFill>
            <p:spPr>
              <a:xfrm>
                <a:off x="1295236" y="2683430"/>
                <a:ext cx="9072398" cy="2433052"/>
              </a:xfrm>
              <a:prstGeom prst="rect">
                <a:avLst/>
              </a:prstGeom>
              <a:ln>
                <a:solidFill>
                  <a:schemeClr val="bg1">
                    <a:lumMod val="50000"/>
                  </a:schemeClr>
                </a:solidFill>
              </a:ln>
            </p:spPr>
          </p:pic>
        </p:grpSp>
        <p:sp>
          <p:nvSpPr>
            <p:cNvPr id="13" name="TextBox 12">
              <a:extLst>
                <a:ext uri="{FF2B5EF4-FFF2-40B4-BE49-F238E27FC236}">
                  <a16:creationId xmlns:a16="http://schemas.microsoft.com/office/drawing/2014/main" id="{5F5E99A6-6EE6-0721-B1BD-E393B3CF0B24}"/>
                </a:ext>
              </a:extLst>
            </p:cNvPr>
            <p:cNvSpPr txBox="1"/>
            <p:nvPr/>
          </p:nvSpPr>
          <p:spPr>
            <a:xfrm>
              <a:off x="3463158" y="1690131"/>
              <a:ext cx="5265683" cy="553998"/>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crate -f </a:t>
              </a:r>
              <a:r>
                <a:rPr lang="en-US" altLang="ko-KR" sz="1000" b="1" dirty="0" err="1"/>
                <a:t>kubia-replicaset.yaml</a:t>
              </a:r>
              <a:endParaRPr lang="en-US" altLang="ko-KR" sz="1000" b="1" dirty="0"/>
            </a:p>
            <a:p>
              <a:pPr algn="l"/>
              <a:r>
                <a:rPr lang="en-US" altLang="ko-KR" sz="1000" b="1" dirty="0"/>
                <a:t>$ </a:t>
              </a:r>
              <a:r>
                <a:rPr lang="en-US" altLang="ko-KR" sz="1000" b="1" dirty="0" err="1"/>
                <a:t>kubectl</a:t>
              </a:r>
              <a:r>
                <a:rPr lang="en-US" altLang="ko-KR" sz="1000" b="1" dirty="0"/>
                <a:t> </a:t>
              </a:r>
              <a:r>
                <a:rPr lang="en-US" altLang="ko-KR" sz="1000" b="1" dirty="0" err="1"/>
                <a:t>rs</a:t>
              </a:r>
              <a:endParaRPr lang="en-US" altLang="ko-KR" sz="1000" b="1" dirty="0"/>
            </a:p>
            <a:p>
              <a:pPr algn="l"/>
              <a:r>
                <a:rPr lang="en-US" altLang="ko-KR" sz="1000" b="1" dirty="0"/>
                <a:t>$ </a:t>
              </a:r>
              <a:r>
                <a:rPr lang="en-US" altLang="ko-KR" sz="1000" b="1" dirty="0" err="1"/>
                <a:t>kubectl</a:t>
              </a:r>
              <a:r>
                <a:rPr lang="en-US" altLang="ko-KR" sz="1000" b="1" dirty="0"/>
                <a:t> describe </a:t>
              </a:r>
              <a:r>
                <a:rPr lang="en-US" altLang="ko-KR" sz="1000" b="1" dirty="0" err="1"/>
                <a:t>rs</a:t>
              </a:r>
              <a:endParaRPr lang="ko-KR" altLang="en-US" sz="1000" b="1" dirty="0"/>
            </a:p>
          </p:txBody>
        </p:sp>
        <p:sp>
          <p:nvSpPr>
            <p:cNvPr id="14" name="화살표: 아래쪽 13">
              <a:extLst>
                <a:ext uri="{FF2B5EF4-FFF2-40B4-BE49-F238E27FC236}">
                  <a16:creationId xmlns:a16="http://schemas.microsoft.com/office/drawing/2014/main" id="{D8530B47-A486-E71A-863C-9F2CC19FD4CD}"/>
                </a:ext>
              </a:extLst>
            </p:cNvPr>
            <p:cNvSpPr/>
            <p:nvPr/>
          </p:nvSpPr>
          <p:spPr>
            <a:xfrm>
              <a:off x="5867399" y="2244129"/>
              <a:ext cx="457200"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97017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a:t>
            </a:r>
            <a:r>
              <a:rPr lang="en-US" altLang="ko-KR" sz="1800" b="1" dirty="0" err="1"/>
              <a:t>ReplicaSet’s</a:t>
            </a:r>
            <a:r>
              <a:rPr lang="en-US" altLang="ko-KR" sz="1800" b="1" dirty="0"/>
              <a:t> More Expressive Label Selectors :</a:t>
            </a:r>
          </a:p>
          <a:p>
            <a:pPr lvl="1">
              <a:buFont typeface="Wingdings" panose="05000000000000000000" pitchFamily="2" charset="2"/>
              <a:buChar char="§"/>
            </a:pPr>
            <a:r>
              <a:rPr lang="en-US" altLang="ko-KR" sz="1400" b="1" dirty="0"/>
              <a:t>The main improvements of </a:t>
            </a:r>
            <a:r>
              <a:rPr lang="en-US" altLang="ko-KR" sz="1400" b="1" dirty="0" err="1"/>
              <a:t>ReplicaSets</a:t>
            </a:r>
            <a:r>
              <a:rPr lang="en-US" altLang="ko-KR" sz="1400" b="1" dirty="0"/>
              <a:t> over </a:t>
            </a:r>
            <a:r>
              <a:rPr lang="en-US" altLang="ko-KR" sz="1400" b="1" dirty="0" err="1"/>
              <a:t>ReplicationControllers</a:t>
            </a:r>
            <a:r>
              <a:rPr lang="en-US" altLang="ko-KR" sz="1400" b="1" dirty="0"/>
              <a:t> are their more expressive label selectors</a:t>
            </a:r>
            <a:r>
              <a:rPr lang="en-US" altLang="ko-KR" sz="1400" dirty="0"/>
              <a:t>. You intentionally used the simpler </a:t>
            </a:r>
            <a:r>
              <a:rPr lang="en-US" altLang="ko-KR" sz="1400" dirty="0" err="1"/>
              <a:t>matchLabels</a:t>
            </a:r>
            <a:r>
              <a:rPr lang="en-US" altLang="ko-KR" sz="1400" dirty="0"/>
              <a:t> selector in the previous </a:t>
            </a:r>
            <a:r>
              <a:rPr lang="en-US" altLang="ko-KR" sz="1400" dirty="0" err="1"/>
              <a:t>ReplicaSet</a:t>
            </a:r>
            <a:r>
              <a:rPr lang="en-US" altLang="ko-KR" sz="1400" dirty="0"/>
              <a:t> example to see that </a:t>
            </a:r>
            <a:r>
              <a:rPr lang="en-US" altLang="ko-KR" sz="1400" dirty="0" err="1"/>
              <a:t>ReplicaSets</a:t>
            </a:r>
            <a:r>
              <a:rPr lang="en-US" altLang="ko-KR" sz="1400" dirty="0"/>
              <a:t> are no different from </a:t>
            </a:r>
            <a:r>
              <a:rPr lang="en-US" altLang="ko-KR" sz="1400" dirty="0" err="1"/>
              <a:t>ReplicationControllers</a:t>
            </a:r>
            <a:r>
              <a:rPr lang="en-US" altLang="ko-KR" sz="1400" dirty="0"/>
              <a:t>. Now, you’ll </a:t>
            </a:r>
            <a:r>
              <a:rPr lang="en-US" altLang="ko-KR" sz="1400" b="1" dirty="0"/>
              <a:t>rewrite the selector to use the more powerful “</a:t>
            </a:r>
            <a:r>
              <a:rPr lang="en-US" altLang="ko-KR" sz="1400" b="1" dirty="0" err="1">
                <a:solidFill>
                  <a:srgbClr val="FF0000"/>
                </a:solidFill>
              </a:rPr>
              <a:t>matchExpressions</a:t>
            </a:r>
            <a:r>
              <a:rPr lang="en-US" altLang="ko-KR" sz="1400" b="1" dirty="0"/>
              <a:t>“ property</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F281EA5-C7B5-DF94-704F-B9C6D9B40C21}"/>
              </a:ext>
            </a:extLst>
          </p:cNvPr>
          <p:cNvGrpSpPr/>
          <p:nvPr/>
        </p:nvGrpSpPr>
        <p:grpSpPr>
          <a:xfrm>
            <a:off x="3047343" y="2243150"/>
            <a:ext cx="6097314" cy="3170099"/>
            <a:chOff x="3048657" y="2551837"/>
            <a:chExt cx="6097314" cy="3170099"/>
          </a:xfrm>
        </p:grpSpPr>
        <p:sp>
          <p:nvSpPr>
            <p:cNvPr id="8" name="TextBox 7">
              <a:extLst>
                <a:ext uri="{FF2B5EF4-FFF2-40B4-BE49-F238E27FC236}">
                  <a16:creationId xmlns:a16="http://schemas.microsoft.com/office/drawing/2014/main" id="{96A21EC6-FE0A-42F7-A275-BB777204C794}"/>
                </a:ext>
              </a:extLst>
            </p:cNvPr>
            <p:cNvSpPr txBox="1"/>
            <p:nvPr/>
          </p:nvSpPr>
          <p:spPr>
            <a:xfrm>
              <a:off x="3048657" y="2551837"/>
              <a:ext cx="6097314" cy="317009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t>ReplicaSet</a:t>
              </a:r>
              <a:endParaRPr lang="en-US" altLang="ko-KR" sz="1000" b="1" dirty="0"/>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replicas: 3</a:t>
              </a:r>
            </a:p>
            <a:p>
              <a:r>
                <a:rPr lang="en-US" altLang="ko-KR" sz="1000" b="1" dirty="0">
                  <a:solidFill>
                    <a:srgbClr val="FF0000"/>
                  </a:solidFill>
                </a:rPr>
                <a:t>  selector:</a:t>
              </a:r>
            </a:p>
            <a:p>
              <a:r>
                <a:rPr lang="en-US" altLang="ko-KR" sz="1000" b="1" dirty="0">
                  <a:solidFill>
                    <a:srgbClr val="FF0000"/>
                  </a:solidFill>
                </a:rPr>
                <a:t>    </a:t>
              </a:r>
              <a:r>
                <a:rPr lang="en-US" altLang="ko-KR" sz="1000" b="1" dirty="0" err="1">
                  <a:solidFill>
                    <a:srgbClr val="FF0000"/>
                  </a:solidFill>
                </a:rPr>
                <a:t>matchExpressions</a:t>
              </a:r>
              <a:r>
                <a:rPr lang="en-US" altLang="ko-KR" sz="1000" b="1" dirty="0">
                  <a:solidFill>
                    <a:srgbClr val="FF0000"/>
                  </a:solidFill>
                </a:rPr>
                <a:t>:</a:t>
              </a:r>
            </a:p>
            <a:p>
              <a:r>
                <a:rPr lang="en-US" altLang="ko-KR" sz="1000" b="1" dirty="0">
                  <a:solidFill>
                    <a:srgbClr val="FF0000"/>
                  </a:solidFill>
                </a:rPr>
                <a:t>    - key: app</a:t>
              </a:r>
            </a:p>
            <a:p>
              <a:r>
                <a:rPr lang="en-US" altLang="ko-KR" sz="1000" b="1" dirty="0">
                  <a:solidFill>
                    <a:srgbClr val="FF0000"/>
                  </a:solidFill>
                </a:rPr>
                <a:t>      operator: In</a:t>
              </a:r>
            </a:p>
            <a:p>
              <a:r>
                <a:rPr lang="en-US" altLang="ko-KR" sz="1000" b="1" dirty="0">
                  <a:solidFill>
                    <a:srgbClr val="FF0000"/>
                  </a:solidFill>
                </a:rPr>
                <a:t>      values:</a:t>
              </a:r>
            </a:p>
            <a:p>
              <a:r>
                <a:rPr lang="en-US" altLang="ko-KR" sz="1000" b="1" dirty="0">
                  <a:solidFill>
                    <a:srgbClr val="FF0000"/>
                  </a:solidFill>
                </a:rPr>
                <a:t>      - </a:t>
              </a:r>
              <a:r>
                <a:rPr lang="en-US" altLang="ko-KR" sz="1000" b="1" dirty="0" err="1">
                  <a:solidFill>
                    <a:srgbClr val="FF0000"/>
                  </a:solidFill>
                </a:rPr>
                <a:t>kubia</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t>kubia</a:t>
              </a:r>
              <a:endParaRPr lang="en-US" altLang="ko-KR" sz="1000" b="1" dirty="0"/>
            </a:p>
            <a:p>
              <a:r>
                <a:rPr lang="en-US" altLang="ko-KR" sz="1000" b="1" dirty="0"/>
                <a:t>    spec:</a:t>
              </a:r>
            </a:p>
            <a:p>
              <a:r>
                <a:rPr lang="en-US" altLang="ko-KR" sz="1000" b="1" dirty="0"/>
                <a:t>      containers:</a:t>
              </a:r>
            </a:p>
            <a:p>
              <a:r>
                <a:rPr lang="en-US" altLang="ko-KR" sz="1000" b="1" dirty="0"/>
                <a:t>      - name: </a:t>
              </a:r>
              <a:r>
                <a:rPr lang="en-US" altLang="ko-KR" sz="1000" b="1" dirty="0" err="1"/>
                <a:t>kubia</a:t>
              </a:r>
              <a:endParaRPr lang="en-US" altLang="ko-KR" sz="1000" b="1" dirty="0"/>
            </a:p>
            <a:p>
              <a:r>
                <a:rPr lang="en-US" altLang="ko-KR" sz="1000" b="1" dirty="0"/>
                <a:t>        image: knix008/</a:t>
              </a:r>
              <a:r>
                <a:rPr lang="en-US" altLang="ko-KR" sz="1000" b="1" dirty="0" err="1"/>
                <a:t>kubia</a:t>
              </a:r>
              <a:endParaRPr lang="ko-KR" altLang="en-US" sz="1000" b="1" dirty="0"/>
            </a:p>
          </p:txBody>
        </p:sp>
        <p:sp>
          <p:nvSpPr>
            <p:cNvPr id="9" name="TextBox 8">
              <a:extLst>
                <a:ext uri="{FF2B5EF4-FFF2-40B4-BE49-F238E27FC236}">
                  <a16:creationId xmlns:a16="http://schemas.microsoft.com/office/drawing/2014/main" id="{D40FFE9B-BB7B-CA45-3703-50F2E8F18354}"/>
                </a:ext>
              </a:extLst>
            </p:cNvPr>
            <p:cNvSpPr txBox="1"/>
            <p:nvPr/>
          </p:nvSpPr>
          <p:spPr>
            <a:xfrm>
              <a:off x="6609699" y="2551837"/>
              <a:ext cx="2536272" cy="246221"/>
            </a:xfrm>
            <a:prstGeom prst="rect">
              <a:avLst/>
            </a:prstGeom>
            <a:noFill/>
          </p:spPr>
          <p:txBody>
            <a:bodyPr wrap="none" rtlCol="0">
              <a:spAutoFit/>
            </a:bodyPr>
            <a:lstStyle/>
            <a:p>
              <a:pPr algn="l"/>
              <a:r>
                <a:rPr lang="en-US" altLang="ko-KR" sz="1000" b="1" dirty="0" err="1"/>
                <a:t>kubia</a:t>
              </a:r>
              <a:r>
                <a:rPr lang="en-US" altLang="ko-KR" sz="1000" b="1" dirty="0"/>
                <a:t>-</a:t>
              </a:r>
              <a:r>
                <a:rPr lang="en-US" altLang="ko-KR" sz="1000" b="1" dirty="0" err="1"/>
                <a:t>replicaset</a:t>
              </a:r>
              <a:r>
                <a:rPr lang="en-US" altLang="ko-KR" sz="1000" b="1" dirty="0"/>
                <a:t>-more-</a:t>
              </a:r>
              <a:r>
                <a:rPr lang="en-US" altLang="ko-KR" sz="1000" b="1" dirty="0" err="1"/>
                <a:t>expressive.yaml</a:t>
              </a:r>
              <a:endParaRPr lang="ko-KR" altLang="en-US" sz="1000" b="1" dirty="0"/>
            </a:p>
          </p:txBody>
        </p:sp>
      </p:grpSp>
    </p:spTree>
    <p:extLst>
      <p:ext uri="{BB962C8B-B14F-4D97-AF65-F5344CB8AC3E}">
        <p14:creationId xmlns:p14="http://schemas.microsoft.com/office/powerpoint/2010/main" val="32565770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a:t>
            </a:r>
            <a:r>
              <a:rPr lang="en-US" altLang="ko-KR" sz="1800" b="1" dirty="0" err="1"/>
              <a:t>ReplicaSet’s</a:t>
            </a:r>
            <a:r>
              <a:rPr lang="en-US" altLang="ko-KR" sz="1800" b="1" dirty="0"/>
              <a:t> More Expressive Label Selectors :</a:t>
            </a:r>
          </a:p>
          <a:p>
            <a:pPr lvl="1">
              <a:buFont typeface="Wingdings" panose="05000000000000000000" pitchFamily="2" charset="2"/>
              <a:buChar char="§"/>
            </a:pPr>
            <a:r>
              <a:rPr lang="en-US" altLang="ko-KR" sz="1400" dirty="0"/>
              <a:t>You can add additional expressions to the selector. As in the example, each expression must contain a “</a:t>
            </a:r>
            <a:r>
              <a:rPr lang="en-US" altLang="ko-KR" sz="1400" b="1" dirty="0"/>
              <a:t>key</a:t>
            </a:r>
            <a:r>
              <a:rPr lang="en-US" altLang="ko-KR" sz="1400" dirty="0"/>
              <a:t>”, an “</a:t>
            </a:r>
            <a:r>
              <a:rPr lang="en-US" altLang="ko-KR" sz="1400" b="1" dirty="0"/>
              <a:t>operator</a:t>
            </a:r>
            <a:r>
              <a:rPr lang="en-US" altLang="ko-KR" sz="1400" dirty="0"/>
              <a:t>”, and possibly (depending on the operator) a list of values. You’ll see four valid operators :</a:t>
            </a:r>
          </a:p>
          <a:p>
            <a:pPr lvl="2">
              <a:buFont typeface="Wingdings" panose="05000000000000000000" pitchFamily="2" charset="2"/>
              <a:buChar char="§"/>
            </a:pPr>
            <a:r>
              <a:rPr lang="en-US" altLang="ko-KR" sz="1400" b="1" dirty="0"/>
              <a:t>In</a:t>
            </a:r>
            <a:r>
              <a:rPr lang="en-US" altLang="ko-KR" sz="1400" dirty="0"/>
              <a:t>—Label’s value </a:t>
            </a:r>
            <a:r>
              <a:rPr lang="en-US" altLang="ko-KR" sz="1400" b="1" dirty="0"/>
              <a:t>must match </a:t>
            </a:r>
            <a:r>
              <a:rPr lang="en-US" altLang="ko-KR" sz="1400" dirty="0"/>
              <a:t>one of the specified values.</a:t>
            </a:r>
          </a:p>
          <a:p>
            <a:pPr lvl="2">
              <a:buFont typeface="Wingdings" panose="05000000000000000000" pitchFamily="2" charset="2"/>
              <a:buChar char="§"/>
            </a:pPr>
            <a:r>
              <a:rPr lang="en-US" altLang="ko-KR" sz="1400" b="1" dirty="0" err="1"/>
              <a:t>NotIn</a:t>
            </a:r>
            <a:r>
              <a:rPr lang="en-US" altLang="ko-KR" sz="1400" dirty="0"/>
              <a:t>—Label’s value </a:t>
            </a:r>
            <a:r>
              <a:rPr lang="en-US" altLang="ko-KR" sz="1400" b="1" dirty="0"/>
              <a:t>must not match </a:t>
            </a:r>
            <a:r>
              <a:rPr lang="en-US" altLang="ko-KR" sz="1400" dirty="0"/>
              <a:t>any of the specified values.</a:t>
            </a:r>
          </a:p>
          <a:p>
            <a:pPr lvl="2">
              <a:buFont typeface="Wingdings" panose="05000000000000000000" pitchFamily="2" charset="2"/>
              <a:buChar char="§"/>
            </a:pPr>
            <a:r>
              <a:rPr lang="en-US" altLang="ko-KR" sz="1400" b="1" dirty="0"/>
              <a:t>Exists</a:t>
            </a:r>
            <a:r>
              <a:rPr lang="en-US" altLang="ko-KR" sz="1400" dirty="0"/>
              <a:t>—Pod </a:t>
            </a:r>
            <a:r>
              <a:rPr lang="en-US" altLang="ko-KR" sz="1400" b="1" dirty="0"/>
              <a:t>must include a label with the specified key </a:t>
            </a:r>
            <a:r>
              <a:rPr lang="en-US" altLang="ko-KR" sz="1400" dirty="0"/>
              <a:t>(the value isn’t important). When using this operator, you shouldn’t specify the values field.</a:t>
            </a:r>
          </a:p>
          <a:p>
            <a:pPr lvl="2">
              <a:buFont typeface="Wingdings" panose="05000000000000000000" pitchFamily="2" charset="2"/>
              <a:buChar char="§"/>
            </a:pPr>
            <a:r>
              <a:rPr lang="en-US" altLang="ko-KR" sz="1400" b="1" dirty="0" err="1"/>
              <a:t>DoesNotExist</a:t>
            </a:r>
            <a:r>
              <a:rPr lang="en-US" altLang="ko-KR" sz="1400" dirty="0"/>
              <a:t>—Pod </a:t>
            </a:r>
            <a:r>
              <a:rPr lang="en-US" altLang="ko-KR" sz="1400" b="1" dirty="0"/>
              <a:t>must not include a label with the specified key</a:t>
            </a:r>
            <a:r>
              <a:rPr lang="en-US" altLang="ko-KR" sz="1400" dirty="0"/>
              <a:t>. The values property must not be specified.</a:t>
            </a:r>
          </a:p>
          <a:p>
            <a:pPr lvl="1">
              <a:buFont typeface="Wingdings" panose="05000000000000000000" pitchFamily="2" charset="2"/>
              <a:buChar char="§"/>
            </a:pPr>
            <a:r>
              <a:rPr lang="en-US" altLang="ko-KR" sz="1400" b="1" dirty="0"/>
              <a:t>If you specify multiple expressions, all those expressions must evaluate to true for the selector to match a pod</a:t>
            </a:r>
            <a:r>
              <a:rPr lang="en-US" altLang="ko-KR" sz="1400" dirty="0"/>
              <a:t>. If you specify both </a:t>
            </a:r>
            <a:r>
              <a:rPr lang="en-US" altLang="ko-KR" sz="1400" b="1" dirty="0" err="1">
                <a:solidFill>
                  <a:srgbClr val="FF0000"/>
                </a:solidFill>
              </a:rPr>
              <a:t>matchLabels</a:t>
            </a:r>
            <a:r>
              <a:rPr lang="en-US" altLang="ko-KR" sz="1400" dirty="0"/>
              <a:t> and </a:t>
            </a:r>
            <a:r>
              <a:rPr lang="en-US" altLang="ko-KR" sz="1400" b="1" dirty="0" err="1">
                <a:solidFill>
                  <a:srgbClr val="FF0000"/>
                </a:solidFill>
              </a:rPr>
              <a:t>matchExpressions</a:t>
            </a:r>
            <a:r>
              <a:rPr lang="en-US" altLang="ko-KR" sz="1400" dirty="0"/>
              <a:t>, </a:t>
            </a:r>
            <a:r>
              <a:rPr lang="en-US" altLang="ko-KR" sz="1400" b="1" dirty="0"/>
              <a:t>all the labels must match and all the expressions must evaluate to true for the pod to match the selector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D24B736-D915-4362-2DC3-B963088C65B8}"/>
              </a:ext>
            </a:extLst>
          </p:cNvPr>
          <p:cNvPicPr>
            <a:picLocks noChangeAspect="1"/>
          </p:cNvPicPr>
          <p:nvPr/>
        </p:nvPicPr>
        <p:blipFill>
          <a:blip r:embed="rId2"/>
          <a:stretch>
            <a:fillRect/>
          </a:stretch>
        </p:blipFill>
        <p:spPr>
          <a:xfrm>
            <a:off x="4337323" y="3696461"/>
            <a:ext cx="3517353" cy="2659889"/>
          </a:xfrm>
          <a:prstGeom prst="rect">
            <a:avLst/>
          </a:prstGeom>
        </p:spPr>
      </p:pic>
    </p:spTree>
    <p:extLst>
      <p:ext uri="{BB962C8B-B14F-4D97-AF65-F5344CB8AC3E}">
        <p14:creationId xmlns:p14="http://schemas.microsoft.com/office/powerpoint/2010/main" val="22422264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t>
            </a:r>
            <a:r>
              <a:rPr lang="en-US" altLang="ko-KR" sz="2800" b="1" dirty="0" err="1"/>
              <a:t>ReplicaSets</a:t>
            </a:r>
            <a:r>
              <a:rPr lang="en-US" altLang="ko-KR" sz="2800" b="1" dirty="0"/>
              <a:t>(8/8)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Wrapping up </a:t>
            </a:r>
            <a:r>
              <a:rPr lang="en-US" altLang="ko-KR" sz="1800" b="1" dirty="0" err="1"/>
              <a:t>ReplicaSets</a:t>
            </a:r>
            <a:r>
              <a:rPr lang="en-US" altLang="ko-KR" sz="1800" b="1" dirty="0"/>
              <a:t> :</a:t>
            </a:r>
          </a:p>
          <a:p>
            <a:pPr lvl="1">
              <a:buFont typeface="Wingdings" panose="05000000000000000000" pitchFamily="2" charset="2"/>
              <a:buChar char="§"/>
            </a:pPr>
            <a:r>
              <a:rPr lang="en-US" altLang="ko-KR" sz="1400" b="1" dirty="0"/>
              <a:t>Remember, always use </a:t>
            </a:r>
            <a:r>
              <a:rPr lang="en-US" altLang="ko-KR" sz="1400" b="1" dirty="0" err="1"/>
              <a:t>ReplicaSets</a:t>
            </a:r>
            <a:r>
              <a:rPr lang="en-US" altLang="ko-KR" sz="1400" b="1" dirty="0"/>
              <a:t> instead of </a:t>
            </a:r>
            <a:r>
              <a:rPr lang="en-US" altLang="ko-KR" sz="1400" b="1" dirty="0" err="1"/>
              <a:t>ReplicationControllers</a:t>
            </a:r>
            <a:r>
              <a:rPr lang="en-US" altLang="ko-KR" sz="1400" dirty="0"/>
              <a:t>, but you may still find </a:t>
            </a:r>
            <a:r>
              <a:rPr lang="en-US" altLang="ko-KR" sz="1400" dirty="0" err="1"/>
              <a:t>ReplicationControllers</a:t>
            </a:r>
            <a:r>
              <a:rPr lang="en-US" altLang="ko-KR" sz="1400" dirty="0"/>
              <a:t> in other people’s deployments. </a:t>
            </a:r>
          </a:p>
          <a:p>
            <a:pPr lvl="1">
              <a:buFont typeface="Wingdings" panose="05000000000000000000" pitchFamily="2" charset="2"/>
              <a:buChar char="§"/>
            </a:pPr>
            <a:r>
              <a:rPr lang="en-US" altLang="ko-KR" sz="1400" b="1" dirty="0"/>
              <a:t>Now, delete the </a:t>
            </a:r>
            <a:r>
              <a:rPr lang="en-US" altLang="ko-KR" sz="1400" b="1" dirty="0" err="1"/>
              <a:t>ReplicaSet</a:t>
            </a:r>
            <a:r>
              <a:rPr lang="en-US" altLang="ko-KR" sz="1400" b="1" dirty="0"/>
              <a:t> to clean up your cluster a little</a:t>
            </a:r>
            <a:r>
              <a:rPr lang="en-US" altLang="ko-KR" sz="1400" dirty="0"/>
              <a:t>. </a:t>
            </a:r>
            <a:r>
              <a:rPr lang="en-US" altLang="ko-KR" sz="1400" b="1" dirty="0"/>
              <a:t>You can delete the </a:t>
            </a:r>
            <a:r>
              <a:rPr lang="en-US" altLang="ko-KR" sz="1400" b="1" dirty="0" err="1"/>
              <a:t>ReplicaSet</a:t>
            </a:r>
            <a:r>
              <a:rPr lang="en-US" altLang="ko-KR" sz="1400" b="1" dirty="0"/>
              <a:t> the same way you’d delete a </a:t>
            </a:r>
            <a:r>
              <a:rPr lang="en-US" altLang="ko-KR" sz="1400" b="1" dirty="0" err="1"/>
              <a:t>ReplicationController</a:t>
            </a:r>
            <a:r>
              <a:rPr lang="en-US" altLang="ko-KR" sz="1400" b="1" dirty="0"/>
              <a:t> </a:t>
            </a:r>
            <a:r>
              <a:rPr lang="en-US" altLang="ko-KR" sz="1400" dirty="0"/>
              <a:t>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Deleting the </a:t>
            </a:r>
            <a:r>
              <a:rPr lang="en-US" altLang="ko-KR" sz="1400" b="1" dirty="0" err="1"/>
              <a:t>ReplicaSet</a:t>
            </a:r>
            <a:r>
              <a:rPr lang="en-US" altLang="ko-KR" sz="1400" b="1" dirty="0"/>
              <a:t> should delete all the pods</a:t>
            </a:r>
            <a:r>
              <a:rPr lang="en-US" altLang="ko-KR" sz="1400" dirty="0"/>
              <a:t>. List the pods to confirm that’s the case.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6EB4F3EE-F3D0-ECCE-2FA3-4D207A167DCA}"/>
              </a:ext>
            </a:extLst>
          </p:cNvPr>
          <p:cNvGrpSpPr/>
          <p:nvPr/>
        </p:nvGrpSpPr>
        <p:grpSpPr>
          <a:xfrm>
            <a:off x="1506750" y="2159316"/>
            <a:ext cx="9178500" cy="2864804"/>
            <a:chOff x="1506750" y="2159316"/>
            <a:chExt cx="9178500" cy="2864804"/>
          </a:xfrm>
        </p:grpSpPr>
        <p:grpSp>
          <p:nvGrpSpPr>
            <p:cNvPr id="12" name="그룹 11">
              <a:extLst>
                <a:ext uri="{FF2B5EF4-FFF2-40B4-BE49-F238E27FC236}">
                  <a16:creationId xmlns:a16="http://schemas.microsoft.com/office/drawing/2014/main" id="{3D7EE899-A35E-84F4-9A22-70913A722FD9}"/>
                </a:ext>
              </a:extLst>
            </p:cNvPr>
            <p:cNvGrpSpPr/>
            <p:nvPr/>
          </p:nvGrpSpPr>
          <p:grpSpPr>
            <a:xfrm>
              <a:off x="1506750" y="2159316"/>
              <a:ext cx="9178500" cy="2864804"/>
              <a:chOff x="1506750" y="2132865"/>
              <a:chExt cx="9178500" cy="2864804"/>
            </a:xfrm>
          </p:grpSpPr>
          <p:sp>
            <p:nvSpPr>
              <p:cNvPr id="8" name="TextBox 7">
                <a:extLst>
                  <a:ext uri="{FF2B5EF4-FFF2-40B4-BE49-F238E27FC236}">
                    <a16:creationId xmlns:a16="http://schemas.microsoft.com/office/drawing/2014/main" id="{92E6AB58-96D6-835B-00DA-84E765ECE3C3}"/>
                  </a:ext>
                </a:extLst>
              </p:cNvPr>
              <p:cNvSpPr txBox="1"/>
              <p:nvPr/>
            </p:nvSpPr>
            <p:spPr>
              <a:xfrm>
                <a:off x="3047343" y="213286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rs</a:t>
                </a:r>
                <a:r>
                  <a:rPr lang="en-US" altLang="ko-KR" sz="1000" b="1" dirty="0">
                    <a:solidFill>
                      <a:srgbClr val="FF0000"/>
                    </a:solidFill>
                  </a:rPr>
                  <a:t> </a:t>
                </a:r>
                <a:r>
                  <a:rPr lang="en-US" altLang="ko-KR" sz="1000" b="1" dirty="0" err="1">
                    <a:solidFill>
                      <a:srgbClr val="FF0000"/>
                    </a:solidFill>
                  </a:rPr>
                  <a:t>kubia</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001FDEB0-A3E4-B40F-094A-135F5CA3ABCD}"/>
                  </a:ext>
                </a:extLst>
              </p:cNvPr>
              <p:cNvSpPr/>
              <p:nvPr/>
            </p:nvSpPr>
            <p:spPr>
              <a:xfrm>
                <a:off x="5879224" y="2401655"/>
                <a:ext cx="433552" cy="2680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33C94E4-07B9-3097-1AE3-B649C8C9D00D}"/>
                  </a:ext>
                </a:extLst>
              </p:cNvPr>
              <p:cNvPicPr>
                <a:picLocks noChangeAspect="1"/>
              </p:cNvPicPr>
              <p:nvPr/>
            </p:nvPicPr>
            <p:blipFill>
              <a:blip r:embed="rId2"/>
              <a:stretch>
                <a:fillRect/>
              </a:stretch>
            </p:blipFill>
            <p:spPr>
              <a:xfrm>
                <a:off x="1506750" y="2669668"/>
                <a:ext cx="9178500" cy="2328001"/>
              </a:xfrm>
              <a:prstGeom prst="rect">
                <a:avLst/>
              </a:prstGeom>
            </p:spPr>
          </p:pic>
        </p:grpSp>
        <p:sp>
          <p:nvSpPr>
            <p:cNvPr id="13" name="직사각형 12">
              <a:extLst>
                <a:ext uri="{FF2B5EF4-FFF2-40B4-BE49-F238E27FC236}">
                  <a16:creationId xmlns:a16="http://schemas.microsoft.com/office/drawing/2014/main" id="{7930B84E-4AB1-51C1-DBCC-09BAEFDD3AC2}"/>
                </a:ext>
              </a:extLst>
            </p:cNvPr>
            <p:cNvSpPr/>
            <p:nvPr/>
          </p:nvSpPr>
          <p:spPr>
            <a:xfrm>
              <a:off x="5746531" y="3121641"/>
              <a:ext cx="3767959"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35BB4DE-854C-3B08-E214-F03DDCE9E702}"/>
                </a:ext>
              </a:extLst>
            </p:cNvPr>
            <p:cNvSpPr/>
            <p:nvPr/>
          </p:nvSpPr>
          <p:spPr>
            <a:xfrm>
              <a:off x="5746531" y="3829862"/>
              <a:ext cx="1631731"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0254FD3F-0E11-E716-001F-E8B453115760}"/>
                </a:ext>
              </a:extLst>
            </p:cNvPr>
            <p:cNvSpPr/>
            <p:nvPr/>
          </p:nvSpPr>
          <p:spPr>
            <a:xfrm>
              <a:off x="1592317" y="4445876"/>
              <a:ext cx="3468414"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5113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DaemonSet</a:t>
            </a:r>
            <a:r>
              <a:rPr lang="en-US" altLang="ko-KR" sz="1800" b="1" dirty="0"/>
              <a:t> :</a:t>
            </a:r>
          </a:p>
          <a:p>
            <a:pPr lvl="1">
              <a:buFont typeface="Wingdings" panose="05000000000000000000" pitchFamily="2" charset="2"/>
              <a:buChar char="§"/>
            </a:pPr>
            <a:r>
              <a:rPr lang="en-US" altLang="ko-KR" sz="1400" b="1" dirty="0"/>
              <a:t>Both </a:t>
            </a:r>
            <a:r>
              <a:rPr lang="en-US" altLang="ko-KR" sz="1400" b="1" dirty="0" err="1"/>
              <a:t>ReplicationControllers</a:t>
            </a:r>
            <a:r>
              <a:rPr lang="en-US" altLang="ko-KR" sz="1400" b="1" dirty="0"/>
              <a:t> and </a:t>
            </a:r>
            <a:r>
              <a:rPr lang="en-US" altLang="ko-KR" sz="1400" b="1" dirty="0" err="1"/>
              <a:t>ReplicaSets</a:t>
            </a:r>
            <a:r>
              <a:rPr lang="en-US" altLang="ko-KR" sz="1400" b="1" dirty="0"/>
              <a:t> are used for running a specific number of pods deployed anywhere in the Kubernetes cluster</a:t>
            </a:r>
            <a:r>
              <a:rPr lang="en-US" altLang="ko-KR" sz="1400" dirty="0"/>
              <a:t>. But certain cases exist when you want a pod to run on each and every node in the cluster (and </a:t>
            </a:r>
            <a:r>
              <a:rPr lang="en-US" altLang="ko-KR" sz="1400" b="1" dirty="0"/>
              <a:t>each node needs to run exactly one instance of the pod</a:t>
            </a:r>
            <a:r>
              <a:rPr lang="en-US" altLang="ko-KR" sz="1400" dirty="0"/>
              <a:t>, as shown in the following figure).</a:t>
            </a:r>
          </a:p>
          <a:p>
            <a:pPr lvl="1">
              <a:buFont typeface="Wingdings" panose="05000000000000000000" pitchFamily="2" charset="2"/>
              <a:buChar char="§"/>
            </a:pPr>
            <a:r>
              <a:rPr lang="en-US" altLang="ko-KR" sz="1400" b="1" dirty="0"/>
              <a:t>Those cases include infrastructure-related pods that perform system-level operations</a:t>
            </a:r>
            <a:r>
              <a:rPr lang="en-US" altLang="ko-KR" sz="1400" dirty="0"/>
              <a:t>. For example, you’ll want to run a </a:t>
            </a:r>
            <a:r>
              <a:rPr lang="en-US" altLang="ko-KR" sz="1400" b="1" dirty="0"/>
              <a:t>log collector </a:t>
            </a:r>
            <a:r>
              <a:rPr lang="en-US" altLang="ko-KR" sz="1400" dirty="0"/>
              <a:t>and a </a:t>
            </a:r>
            <a:r>
              <a:rPr lang="en-US" altLang="ko-KR" sz="1400" b="1" dirty="0"/>
              <a:t>resource monitor </a:t>
            </a:r>
            <a:r>
              <a:rPr lang="en-US" altLang="ko-KR" sz="1400" dirty="0"/>
              <a:t>on every node. Another good example is Kubernetes’ own “</a:t>
            </a:r>
            <a:r>
              <a:rPr lang="en-US" altLang="ko-KR" sz="1400" b="1" dirty="0" err="1">
                <a:solidFill>
                  <a:srgbClr val="FF0000"/>
                </a:solidFill>
              </a:rPr>
              <a:t>kube</a:t>
            </a:r>
            <a:r>
              <a:rPr lang="en-US" altLang="ko-KR" sz="1400" b="1" dirty="0">
                <a:solidFill>
                  <a:srgbClr val="FF0000"/>
                </a:solidFill>
              </a:rPr>
              <a:t>-proxy</a:t>
            </a:r>
            <a:r>
              <a:rPr lang="en-US" altLang="ko-KR" sz="1400" dirty="0"/>
              <a:t>” </a:t>
            </a:r>
            <a:r>
              <a:rPr lang="en-US" altLang="ko-KR" sz="1400" b="1" dirty="0"/>
              <a:t>process, which needs to run on all nodes to make services work</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Outside of Kubernetes, such processes would usually be started through </a:t>
            </a:r>
            <a:r>
              <a:rPr lang="en-US" altLang="ko-KR" sz="1400" b="1" dirty="0"/>
              <a:t>system “</a:t>
            </a:r>
            <a:r>
              <a:rPr lang="en-US" altLang="ko-KR" sz="1400" b="1" dirty="0" err="1">
                <a:solidFill>
                  <a:srgbClr val="FF0000"/>
                </a:solidFill>
              </a:rPr>
              <a:t>init</a:t>
            </a:r>
            <a:r>
              <a:rPr lang="en-US" altLang="ko-KR" sz="1400" b="1" dirty="0"/>
              <a:t>” scripts or the “</a:t>
            </a:r>
            <a:r>
              <a:rPr lang="en-US" altLang="ko-KR" sz="1400" b="1" dirty="0" err="1">
                <a:solidFill>
                  <a:srgbClr val="FF0000"/>
                </a:solidFill>
              </a:rPr>
              <a:t>systemd</a:t>
            </a:r>
            <a:r>
              <a:rPr lang="en-US" altLang="ko-KR" sz="1400" b="1" dirty="0"/>
              <a:t>” daemon </a:t>
            </a:r>
            <a:r>
              <a:rPr lang="en-US" altLang="ko-KR" sz="1400" dirty="0"/>
              <a:t>during node boot up. </a:t>
            </a:r>
            <a:r>
              <a:rPr lang="en-US" altLang="ko-KR" sz="1400" b="1" dirty="0"/>
              <a:t>On Kubernetes nodes, you can still use “</a:t>
            </a:r>
            <a:r>
              <a:rPr lang="en-US" altLang="ko-KR" sz="1400" b="1" dirty="0" err="1"/>
              <a:t>systemd</a:t>
            </a:r>
            <a:r>
              <a:rPr lang="en-US" altLang="ko-KR" sz="1400" b="1" dirty="0"/>
              <a:t>” to run your system processes, but then you can’t take advantage of all the features Kubernetes provides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C0FF790-20CD-1F5D-358A-E233D57941FB}"/>
              </a:ext>
            </a:extLst>
          </p:cNvPr>
          <p:cNvGrpSpPr/>
          <p:nvPr/>
        </p:nvGrpSpPr>
        <p:grpSpPr>
          <a:xfrm>
            <a:off x="3858610" y="2531864"/>
            <a:ext cx="4474779" cy="2986068"/>
            <a:chOff x="3618271" y="2681633"/>
            <a:chExt cx="4955458" cy="3401961"/>
          </a:xfrm>
        </p:grpSpPr>
        <p:grpSp>
          <p:nvGrpSpPr>
            <p:cNvPr id="10" name="그룹 9">
              <a:extLst>
                <a:ext uri="{FF2B5EF4-FFF2-40B4-BE49-F238E27FC236}">
                  <a16:creationId xmlns:a16="http://schemas.microsoft.com/office/drawing/2014/main" id="{2B21DB48-7235-E936-7F93-576539FA13FD}"/>
                </a:ext>
              </a:extLst>
            </p:cNvPr>
            <p:cNvGrpSpPr/>
            <p:nvPr/>
          </p:nvGrpSpPr>
          <p:grpSpPr>
            <a:xfrm>
              <a:off x="3618271" y="2681633"/>
              <a:ext cx="4955458" cy="3401961"/>
              <a:chOff x="3618271" y="2681633"/>
              <a:chExt cx="4955458" cy="3401961"/>
            </a:xfrm>
          </p:grpSpPr>
          <p:pic>
            <p:nvPicPr>
              <p:cNvPr id="8" name="그림 7">
                <a:extLst>
                  <a:ext uri="{FF2B5EF4-FFF2-40B4-BE49-F238E27FC236}">
                    <a16:creationId xmlns:a16="http://schemas.microsoft.com/office/drawing/2014/main" id="{C521E80F-84E7-B4BA-2E50-5F99D6C8DB4D}"/>
                  </a:ext>
                </a:extLst>
              </p:cNvPr>
              <p:cNvPicPr>
                <a:picLocks noChangeAspect="1"/>
              </p:cNvPicPr>
              <p:nvPr/>
            </p:nvPicPr>
            <p:blipFill>
              <a:blip r:embed="rId2"/>
              <a:stretch>
                <a:fillRect/>
              </a:stretch>
            </p:blipFill>
            <p:spPr>
              <a:xfrm>
                <a:off x="3618271" y="2681633"/>
                <a:ext cx="4955458" cy="3401961"/>
              </a:xfrm>
              <a:prstGeom prst="rect">
                <a:avLst/>
              </a:prstGeom>
            </p:spPr>
          </p:pic>
          <p:sp>
            <p:nvSpPr>
              <p:cNvPr id="9" name="직사각형 8">
                <a:extLst>
                  <a:ext uri="{FF2B5EF4-FFF2-40B4-BE49-F238E27FC236}">
                    <a16:creationId xmlns:a16="http://schemas.microsoft.com/office/drawing/2014/main" id="{45AF3C69-AE77-E3A7-C5FE-74955BB1BF75}"/>
                  </a:ext>
                </a:extLst>
              </p:cNvPr>
              <p:cNvSpPr/>
              <p:nvPr/>
            </p:nvSpPr>
            <p:spPr>
              <a:xfrm>
                <a:off x="3831021" y="2963917"/>
                <a:ext cx="4540469" cy="5912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90FA584-22D2-1FA5-B9CC-F685CF9CC6F8}"/>
                </a:ext>
              </a:extLst>
            </p:cNvPr>
            <p:cNvSpPr/>
            <p:nvPr/>
          </p:nvSpPr>
          <p:spPr>
            <a:xfrm>
              <a:off x="6842234" y="5320862"/>
              <a:ext cx="969580" cy="3783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670189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a:t>
            </a:r>
            <a:r>
              <a:rPr lang="ko-KR" altLang="en-US" sz="1800" b="1" dirty="0"/>
              <a:t> </a:t>
            </a:r>
            <a:r>
              <a:rPr lang="en-US" altLang="ko-KR" sz="1800" b="1" dirty="0"/>
              <a:t>a</a:t>
            </a:r>
            <a:r>
              <a:rPr lang="ko-KR" altLang="en-US" sz="1800" b="1" dirty="0"/>
              <a:t> </a:t>
            </a:r>
            <a:r>
              <a:rPr lang="en-US" altLang="ko-KR" sz="1800" b="1" dirty="0" err="1"/>
              <a:t>DaemonSet</a:t>
            </a:r>
            <a:r>
              <a:rPr lang="en-US" altLang="ko-KR" sz="1800" b="1" dirty="0"/>
              <a:t> to Run a Pod on Every Node :</a:t>
            </a:r>
          </a:p>
          <a:p>
            <a:pPr lvl="1">
              <a:buFont typeface="Wingdings" panose="05000000000000000000" pitchFamily="2" charset="2"/>
              <a:buChar char="§"/>
            </a:pPr>
            <a:r>
              <a:rPr lang="en-US" altLang="ko-KR" sz="1400" b="1" dirty="0"/>
              <a:t>To run a pod on all cluster nodes, you create a </a:t>
            </a:r>
            <a:r>
              <a:rPr lang="en-US" altLang="ko-KR" sz="1400" b="1" dirty="0" err="1">
                <a:solidFill>
                  <a:srgbClr val="FF0000"/>
                </a:solidFill>
              </a:rPr>
              <a:t>DaemonSet</a:t>
            </a:r>
            <a:r>
              <a:rPr lang="en-US" altLang="ko-KR" sz="1400" b="1" dirty="0"/>
              <a:t> object</a:t>
            </a:r>
            <a:r>
              <a:rPr lang="en-US" altLang="ko-KR" sz="1400" dirty="0"/>
              <a:t>, which is much like a </a:t>
            </a:r>
            <a:r>
              <a:rPr lang="en-US" altLang="ko-KR" sz="1400" dirty="0" err="1"/>
              <a:t>ReplicationController</a:t>
            </a:r>
            <a:r>
              <a:rPr lang="en-US" altLang="ko-KR" sz="1400" dirty="0"/>
              <a:t> or a </a:t>
            </a:r>
            <a:r>
              <a:rPr lang="en-US" altLang="ko-KR" sz="1400" dirty="0" err="1"/>
              <a:t>ReplicaSet</a:t>
            </a:r>
            <a:r>
              <a:rPr lang="en-US" altLang="ko-KR" sz="1400" dirty="0"/>
              <a:t>, except that </a:t>
            </a:r>
            <a:r>
              <a:rPr lang="en-US" altLang="ko-KR" sz="1400" b="1" dirty="0"/>
              <a:t>pods created by a </a:t>
            </a:r>
            <a:r>
              <a:rPr lang="en-US" altLang="ko-KR" sz="1400" b="1" dirty="0" err="1"/>
              <a:t>DaemonSet</a:t>
            </a:r>
            <a:r>
              <a:rPr lang="en-US" altLang="ko-KR" sz="1400" b="1" dirty="0"/>
              <a:t> already have a target node specified and skip the Kubernetes Scheduler</a:t>
            </a:r>
            <a:r>
              <a:rPr lang="en-US" altLang="ko-KR" sz="1400" dirty="0"/>
              <a:t>. They aren’t scattered around the cluster randomly.</a:t>
            </a:r>
          </a:p>
          <a:p>
            <a:pPr lvl="1">
              <a:buFont typeface="Wingdings" panose="05000000000000000000" pitchFamily="2" charset="2"/>
              <a:buChar char="§"/>
            </a:pPr>
            <a:r>
              <a:rPr lang="en-US" altLang="ko-KR" sz="1400" b="1" dirty="0"/>
              <a:t>A </a:t>
            </a:r>
            <a:r>
              <a:rPr lang="en-US" altLang="ko-KR" sz="1400" b="1" dirty="0" err="1"/>
              <a:t>DaemonSet</a:t>
            </a:r>
            <a:r>
              <a:rPr lang="en-US" altLang="ko-KR" sz="1400" b="1" dirty="0"/>
              <a:t> makes sure it creates as many pods as there are nodes and deploys each one on its own node</a:t>
            </a:r>
            <a:r>
              <a:rPr lang="en-US" altLang="ko-KR" sz="1400" dirty="0"/>
              <a:t>, as shown in the following figure.</a:t>
            </a:r>
          </a:p>
          <a:p>
            <a:pPr lvl="1">
              <a:buFont typeface="Wingdings" panose="05000000000000000000" pitchFamily="2" charset="2"/>
              <a:buChar char="§"/>
            </a:pPr>
            <a:r>
              <a:rPr lang="en-US" altLang="ko-KR" sz="1400" b="1" dirty="0"/>
              <a:t>Whereas a </a:t>
            </a:r>
            <a:r>
              <a:rPr lang="en-US" altLang="ko-KR" sz="1400" b="1" dirty="0" err="1"/>
              <a:t>ReplicaSet</a:t>
            </a:r>
            <a:r>
              <a:rPr lang="en-US" altLang="ko-KR" sz="1400" b="1" dirty="0"/>
              <a:t> (or </a:t>
            </a:r>
            <a:r>
              <a:rPr lang="en-US" altLang="ko-KR" sz="1400" b="1" dirty="0" err="1"/>
              <a:t>ReplicationController</a:t>
            </a:r>
            <a:r>
              <a:rPr lang="en-US" altLang="ko-KR" sz="1400" b="1" dirty="0"/>
              <a:t>) makes sure that a desired number of pod replicas exist in the cluster, a </a:t>
            </a:r>
            <a:r>
              <a:rPr lang="en-US" altLang="ko-KR" sz="1400" b="1" dirty="0" err="1"/>
              <a:t>DaemonSet</a:t>
            </a:r>
            <a:r>
              <a:rPr lang="en-US" altLang="ko-KR" sz="1400" b="1" dirty="0"/>
              <a:t> doesn’t have any notion of a desired replica count</a:t>
            </a:r>
            <a:r>
              <a:rPr lang="en-US" altLang="ko-KR" sz="1400" dirty="0"/>
              <a:t>. It doesn’t need it because its job is to ensure that </a:t>
            </a:r>
            <a:r>
              <a:rPr lang="en-US" altLang="ko-KR" sz="1400" b="1" dirty="0"/>
              <a:t>a pod matching its pod selector is running on each node</a:t>
            </a:r>
            <a:r>
              <a:rPr lang="en-US" altLang="ko-KR" sz="1400" dirty="0"/>
              <a:t>.</a:t>
            </a:r>
          </a:p>
          <a:p>
            <a:pPr lvl="1">
              <a:buFont typeface="Wingdings" panose="05000000000000000000" pitchFamily="2" charset="2"/>
              <a:buChar char="§"/>
            </a:pPr>
            <a:r>
              <a:rPr lang="en-US" altLang="ko-KR" sz="1400" b="1" dirty="0"/>
              <a:t>If a node goes down, the </a:t>
            </a:r>
            <a:r>
              <a:rPr lang="en-US" altLang="ko-KR" sz="1400" b="1" dirty="0" err="1"/>
              <a:t>DaemonSet</a:t>
            </a:r>
            <a:r>
              <a:rPr lang="en-US" altLang="ko-KR" sz="1400" b="1" dirty="0"/>
              <a:t> doesn’t cause the pod to be created elsewhere</a:t>
            </a:r>
            <a:r>
              <a:rPr lang="en-US" altLang="ko-KR" sz="1400" dirty="0"/>
              <a:t>. </a:t>
            </a:r>
            <a:r>
              <a:rPr lang="en-US" altLang="ko-KR" sz="1400" b="1" dirty="0"/>
              <a:t>But when a new node is added to the cluster, the </a:t>
            </a:r>
            <a:r>
              <a:rPr lang="en-US" altLang="ko-KR" sz="1400" b="1" dirty="0" err="1"/>
              <a:t>DaemonSet</a:t>
            </a:r>
            <a:r>
              <a:rPr lang="en-US" altLang="ko-KR" sz="1400" b="1" dirty="0"/>
              <a:t> immediately deploys a new pod instance to it</a:t>
            </a:r>
            <a:r>
              <a:rPr lang="en-US" altLang="ko-KR" sz="1400" dirty="0"/>
              <a:t>. It also does the same if someone inadvertently deletes one of the pods, leaving the node without the </a:t>
            </a:r>
            <a:r>
              <a:rPr lang="en-US" altLang="ko-KR" sz="1400" dirty="0" err="1"/>
              <a:t>DaemonSet’s</a:t>
            </a:r>
            <a:r>
              <a:rPr lang="en-US" altLang="ko-KR" sz="1400" dirty="0"/>
              <a:t> pod. </a:t>
            </a:r>
            <a:r>
              <a:rPr lang="en-US" altLang="ko-KR" sz="1400" b="1" dirty="0"/>
              <a:t>Like a </a:t>
            </a:r>
            <a:r>
              <a:rPr lang="en-US" altLang="ko-KR" sz="1400" b="1" dirty="0" err="1"/>
              <a:t>ReplicaSet</a:t>
            </a:r>
            <a:r>
              <a:rPr lang="en-US" altLang="ko-KR" sz="1400" b="1" dirty="0"/>
              <a:t>, a  </a:t>
            </a:r>
            <a:r>
              <a:rPr lang="en-US" altLang="ko-KR" sz="1400" b="1" dirty="0" err="1"/>
              <a:t>DaemonSet</a:t>
            </a:r>
            <a:r>
              <a:rPr lang="en-US" altLang="ko-KR" sz="1400" b="1" dirty="0"/>
              <a:t> creates the pod from the pod template configured in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2BAAC80-A515-5436-5C42-CF920B15213C}"/>
              </a:ext>
            </a:extLst>
          </p:cNvPr>
          <p:cNvPicPr>
            <a:picLocks noChangeAspect="1"/>
          </p:cNvPicPr>
          <p:nvPr/>
        </p:nvPicPr>
        <p:blipFill>
          <a:blip r:embed="rId2"/>
          <a:stretch>
            <a:fillRect/>
          </a:stretch>
        </p:blipFill>
        <p:spPr>
          <a:xfrm>
            <a:off x="3358877" y="3676357"/>
            <a:ext cx="5474247" cy="2732673"/>
          </a:xfrm>
          <a:prstGeom prst="rect">
            <a:avLst/>
          </a:prstGeom>
        </p:spPr>
      </p:pic>
    </p:spTree>
    <p:extLst>
      <p:ext uri="{BB962C8B-B14F-4D97-AF65-F5344CB8AC3E}">
        <p14:creationId xmlns:p14="http://schemas.microsoft.com/office/powerpoint/2010/main" val="6208429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DaemonSet</a:t>
            </a:r>
            <a:r>
              <a:rPr lang="en-US" altLang="ko-KR" sz="1800" b="1" dirty="0"/>
              <a:t> to Run Pods Only on Certain Node :</a:t>
            </a:r>
          </a:p>
          <a:p>
            <a:pPr lvl="1">
              <a:buFont typeface="Wingdings" panose="05000000000000000000" pitchFamily="2" charset="2"/>
              <a:buChar char="§"/>
            </a:pPr>
            <a:r>
              <a:rPr lang="en-US" altLang="ko-KR" sz="1400" b="1" dirty="0"/>
              <a:t>A </a:t>
            </a:r>
            <a:r>
              <a:rPr lang="en-US" altLang="ko-KR" sz="1400" b="1" dirty="0" err="1"/>
              <a:t>DaemonSet</a:t>
            </a:r>
            <a:r>
              <a:rPr lang="en-US" altLang="ko-KR" sz="1400" b="1" dirty="0"/>
              <a:t> deploys pods to all nodes in the cluster, unless you specify that the pods should only run on a subset of all the nodes</a:t>
            </a:r>
            <a:r>
              <a:rPr lang="en-US" altLang="ko-KR" sz="1400" dirty="0"/>
              <a:t>. This is done by specifying the “</a:t>
            </a:r>
            <a:r>
              <a:rPr lang="en-US" altLang="ko-KR" sz="1400" b="1" dirty="0" err="1">
                <a:solidFill>
                  <a:srgbClr val="FF0000"/>
                </a:solidFill>
              </a:rPr>
              <a:t>nodeSelector</a:t>
            </a:r>
            <a:r>
              <a:rPr lang="en-US" altLang="ko-KR" sz="1400" dirty="0"/>
              <a:t>” </a:t>
            </a:r>
            <a:r>
              <a:rPr lang="en-US" altLang="ko-KR" sz="1400" b="1" dirty="0"/>
              <a:t>property in the pod template</a:t>
            </a:r>
            <a:r>
              <a:rPr lang="en-US" altLang="ko-KR" sz="1400" dirty="0"/>
              <a:t>, </a:t>
            </a:r>
            <a:r>
              <a:rPr lang="en-US" altLang="ko-KR" sz="1400" b="1" dirty="0"/>
              <a:t>which is part of the </a:t>
            </a:r>
            <a:r>
              <a:rPr lang="en-US" altLang="ko-KR" sz="1400" b="1" dirty="0" err="1"/>
              <a:t>DaemonSet</a:t>
            </a:r>
            <a:r>
              <a:rPr lang="en-US" altLang="ko-KR" sz="1400" b="1" dirty="0"/>
              <a:t> definition </a:t>
            </a:r>
            <a:r>
              <a:rPr lang="en-US" altLang="ko-KR" sz="1400" dirty="0"/>
              <a:t>(similar to the pod template in a </a:t>
            </a:r>
            <a:r>
              <a:rPr lang="en-US" altLang="ko-KR" sz="1400" dirty="0" err="1"/>
              <a:t>ReplicaSet</a:t>
            </a:r>
            <a:r>
              <a:rPr lang="en-US" altLang="ko-KR" sz="1400" dirty="0"/>
              <a:t> or </a:t>
            </a:r>
            <a:r>
              <a:rPr lang="en-US" altLang="ko-KR" sz="1400" dirty="0" err="1"/>
              <a:t>ReplicationController</a:t>
            </a:r>
            <a:r>
              <a:rPr lang="en-US" altLang="ko-KR" sz="1400" dirty="0"/>
              <a:t>). </a:t>
            </a:r>
            <a:r>
              <a:rPr lang="en-US" altLang="ko-KR" sz="1400" b="1" dirty="0"/>
              <a:t>A “node selector” in a </a:t>
            </a:r>
            <a:r>
              <a:rPr lang="en-US" altLang="ko-KR" sz="1400" b="1" dirty="0" err="1"/>
              <a:t>DaemonSet</a:t>
            </a:r>
            <a:r>
              <a:rPr lang="en-US" altLang="ko-KR" sz="1400" b="1" dirty="0"/>
              <a:t> is similar—it defines the nodes the </a:t>
            </a:r>
            <a:r>
              <a:rPr lang="en-US" altLang="ko-KR" sz="1400" b="1" dirty="0" err="1"/>
              <a:t>DaemonSet</a:t>
            </a:r>
            <a:r>
              <a:rPr lang="en-US" altLang="ko-KR" sz="1400" b="1" dirty="0"/>
              <a:t> must deploy its pods to</a:t>
            </a:r>
            <a:r>
              <a:rPr lang="en-US" altLang="ko-KR" sz="1400" dirty="0"/>
              <a:t>.</a:t>
            </a:r>
          </a:p>
          <a:p>
            <a:pPr lvl="1">
              <a:buFont typeface="Wingdings" panose="05000000000000000000" pitchFamily="2" charset="2"/>
              <a:buChar char="§"/>
            </a:pPr>
            <a:r>
              <a:rPr lang="en-US" altLang="ko-KR" sz="1400" b="1" dirty="0"/>
              <a:t>NOTE : Nodes can be made “</a:t>
            </a:r>
            <a:r>
              <a:rPr lang="en-US" altLang="ko-KR" sz="1400" b="1" dirty="0" err="1"/>
              <a:t>unschedulable</a:t>
            </a:r>
            <a:r>
              <a:rPr lang="en-US" altLang="ko-KR" sz="1400" b="1" dirty="0"/>
              <a:t>”, preventing pods from being deployed to them</a:t>
            </a:r>
            <a:r>
              <a:rPr lang="en-US" altLang="ko-KR" sz="1400" dirty="0"/>
              <a:t>. </a:t>
            </a:r>
            <a:r>
              <a:rPr lang="en-US" altLang="ko-KR" sz="1400" b="1" dirty="0"/>
              <a:t>A </a:t>
            </a:r>
            <a:r>
              <a:rPr lang="en-US" altLang="ko-KR" sz="1400" b="1" dirty="0" err="1"/>
              <a:t>DaemonSet</a:t>
            </a:r>
            <a:r>
              <a:rPr lang="en-US" altLang="ko-KR" sz="1400" b="1" dirty="0"/>
              <a:t> will deploy pods even to such nodes, because the </a:t>
            </a:r>
            <a:r>
              <a:rPr lang="en-US" altLang="ko-KR" sz="1400" b="1" dirty="0" err="1"/>
              <a:t>unschedulable</a:t>
            </a:r>
            <a:r>
              <a:rPr lang="en-US" altLang="ko-KR" sz="1400" b="1" dirty="0"/>
              <a:t> attribute is only used by the </a:t>
            </a:r>
            <a:r>
              <a:rPr lang="en-US" altLang="ko-KR" sz="1400" b="1" dirty="0">
                <a:solidFill>
                  <a:srgbClr val="FF0000"/>
                </a:solidFill>
              </a:rPr>
              <a:t>Scheduler</a:t>
            </a:r>
            <a:r>
              <a:rPr lang="en-US" altLang="ko-KR" sz="1400" dirty="0"/>
              <a:t>, </a:t>
            </a:r>
            <a:r>
              <a:rPr lang="en-US" altLang="ko-KR" sz="1400" b="1" dirty="0"/>
              <a:t>whereas pods managed by a </a:t>
            </a:r>
            <a:r>
              <a:rPr lang="en-US" altLang="ko-KR" sz="1400" b="1" dirty="0" err="1"/>
              <a:t>DaemonSet</a:t>
            </a:r>
            <a:r>
              <a:rPr lang="en-US" altLang="ko-KR" sz="1400" b="1" dirty="0"/>
              <a:t> bypass the Scheduler completely</a:t>
            </a:r>
            <a:r>
              <a:rPr lang="en-US" altLang="ko-KR" sz="1400" dirty="0"/>
              <a:t>. </a:t>
            </a:r>
            <a:r>
              <a:rPr lang="en-US" altLang="ko-KR" sz="1400" b="1" dirty="0"/>
              <a:t>This is usually desirable, because </a:t>
            </a:r>
            <a:r>
              <a:rPr lang="en-US" altLang="ko-KR" sz="1400" b="1" dirty="0" err="1"/>
              <a:t>DaemonSets</a:t>
            </a:r>
            <a:r>
              <a:rPr lang="en-US" altLang="ko-KR" sz="1400" b="1" dirty="0"/>
              <a:t> are meant to run system services, which usually need to run even on </a:t>
            </a:r>
            <a:r>
              <a:rPr lang="en-US" altLang="ko-KR" sz="1400" b="1" dirty="0" err="1"/>
              <a:t>unschedulable</a:t>
            </a:r>
            <a:r>
              <a:rPr lang="en-US" altLang="ko-KR" sz="1400" b="1" dirty="0"/>
              <a:t> nodes</a:t>
            </a:r>
            <a:r>
              <a:rPr lang="en-US" altLang="ko-KR" sz="1400" dirty="0"/>
              <a:t>.</a:t>
            </a:r>
          </a:p>
          <a:p>
            <a:pPr lvl="1">
              <a:buFont typeface="Wingdings" panose="05000000000000000000" pitchFamily="2" charset="2"/>
              <a:buChar char="§"/>
            </a:pPr>
            <a:r>
              <a:rPr lang="en-US" altLang="ko-KR" sz="1400" dirty="0"/>
              <a:t>For example, let’s imagine having a daemon called “</a:t>
            </a:r>
            <a:r>
              <a:rPr lang="en-US" altLang="ko-KR" sz="1400" b="1" dirty="0" err="1"/>
              <a:t>ssd</a:t>
            </a:r>
            <a:r>
              <a:rPr lang="en-US" altLang="ko-KR" sz="1400" b="1" dirty="0"/>
              <a:t>-monito</a:t>
            </a:r>
            <a:r>
              <a:rPr lang="en-US" altLang="ko-KR" sz="1400" dirty="0"/>
              <a:t>r” that needs to run on all nodes that contain </a:t>
            </a:r>
            <a:r>
              <a:rPr lang="en-US" altLang="ko-KR" sz="1400" b="1" dirty="0"/>
              <a:t>a solid-state drive (SSD)</a:t>
            </a:r>
            <a:r>
              <a:rPr lang="en-US" altLang="ko-KR" sz="1400" dirty="0"/>
              <a:t>. You’ll create a </a:t>
            </a:r>
            <a:r>
              <a:rPr lang="en-US" altLang="ko-KR" sz="1400" dirty="0" err="1"/>
              <a:t>DaemonSet</a:t>
            </a:r>
            <a:r>
              <a:rPr lang="en-US" altLang="ko-KR" sz="1400" dirty="0"/>
              <a:t> that runs this daemon on all nodes that are marked as having an SSD. </a:t>
            </a:r>
            <a:r>
              <a:rPr lang="en-US" altLang="ko-KR" sz="1400" b="1" dirty="0"/>
              <a:t>The cluster administrators have added the “disk=</a:t>
            </a:r>
            <a:r>
              <a:rPr lang="en-US" altLang="ko-KR" sz="1400" b="1" dirty="0" err="1"/>
              <a:t>ssd</a:t>
            </a:r>
            <a:r>
              <a:rPr lang="en-US" altLang="ko-KR" sz="1400" b="1" dirty="0"/>
              <a:t>” label to all such nodes</a:t>
            </a:r>
            <a:r>
              <a:rPr lang="en-US" altLang="ko-KR" sz="1400" dirty="0"/>
              <a:t>, </a:t>
            </a:r>
            <a:r>
              <a:rPr lang="en-US" altLang="ko-KR" sz="1400" b="1" dirty="0"/>
              <a:t>so you’ll create the </a:t>
            </a:r>
            <a:r>
              <a:rPr lang="en-US" altLang="ko-KR" sz="1400" b="1" dirty="0" err="1"/>
              <a:t>DaemonSet</a:t>
            </a:r>
            <a:r>
              <a:rPr lang="en-US" altLang="ko-KR" sz="1400" b="1" dirty="0"/>
              <a:t> with a node selector that only selects nodes with that label</a:t>
            </a:r>
            <a:r>
              <a:rPr lang="en-US" altLang="ko-KR" sz="1400" dirty="0"/>
              <a:t>,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D6ADF20-6A91-FCA7-27EE-41C73AD860AD}"/>
              </a:ext>
            </a:extLst>
          </p:cNvPr>
          <p:cNvPicPr>
            <a:picLocks noChangeAspect="1"/>
          </p:cNvPicPr>
          <p:nvPr/>
        </p:nvPicPr>
        <p:blipFill>
          <a:blip r:embed="rId2"/>
          <a:stretch>
            <a:fillRect/>
          </a:stretch>
        </p:blipFill>
        <p:spPr>
          <a:xfrm>
            <a:off x="3500284" y="3740969"/>
            <a:ext cx="5191432" cy="2615381"/>
          </a:xfrm>
          <a:prstGeom prst="rect">
            <a:avLst/>
          </a:prstGeom>
        </p:spPr>
      </p:pic>
    </p:spTree>
    <p:extLst>
      <p:ext uri="{BB962C8B-B14F-4D97-AF65-F5344CB8AC3E}">
        <p14:creationId xmlns:p14="http://schemas.microsoft.com/office/powerpoint/2010/main" val="468333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DaemonSet</a:t>
            </a:r>
            <a:r>
              <a:rPr lang="en-US" altLang="ko-KR" sz="1800" b="1" dirty="0"/>
              <a:t> YAML Definition :</a:t>
            </a:r>
          </a:p>
          <a:p>
            <a:pPr lvl="1">
              <a:buFont typeface="Wingdings" panose="05000000000000000000" pitchFamily="2" charset="2"/>
              <a:buChar char="§"/>
            </a:pPr>
            <a:r>
              <a:rPr lang="en-US" altLang="ko-KR" sz="1400" dirty="0"/>
              <a:t>You’ll create </a:t>
            </a:r>
            <a:r>
              <a:rPr lang="en-US" altLang="ko-KR" sz="1400" b="1" dirty="0"/>
              <a:t>a </a:t>
            </a:r>
            <a:r>
              <a:rPr lang="en-US" altLang="ko-KR" sz="1400" b="1" dirty="0" err="1"/>
              <a:t>DaemonSet</a:t>
            </a:r>
            <a:r>
              <a:rPr lang="en-US" altLang="ko-KR" sz="1400" b="1" dirty="0"/>
              <a:t> that runs a “mock </a:t>
            </a:r>
            <a:r>
              <a:rPr lang="en-US" altLang="ko-KR" sz="1400" b="1" dirty="0" err="1"/>
              <a:t>ssd</a:t>
            </a:r>
            <a:r>
              <a:rPr lang="en-US" altLang="ko-KR" sz="1400" b="1" dirty="0"/>
              <a:t>-monitor” process, which prints “SSD OK” to the standard output every five seconds</a:t>
            </a:r>
            <a:r>
              <a:rPr lang="en-US" altLang="ko-KR" sz="1400" dirty="0"/>
              <a:t>. You can download and use the docker image from Docker Hub. </a:t>
            </a:r>
            <a:r>
              <a:rPr lang="en-US" altLang="ko-KR" sz="1400" b="1" dirty="0"/>
              <a:t>Create the YAML for the </a:t>
            </a:r>
            <a:r>
              <a:rPr lang="en-US" altLang="ko-KR" sz="1400" b="1" dirty="0" err="1"/>
              <a:t>DaemonSet</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You’re defining a </a:t>
            </a:r>
            <a:r>
              <a:rPr lang="en-US" altLang="ko-KR" sz="1400" b="1" dirty="0" err="1"/>
              <a:t>DaemonSet</a:t>
            </a:r>
            <a:r>
              <a:rPr lang="en-US" altLang="ko-KR" sz="1400" b="1" dirty="0"/>
              <a:t> that will run a pod with a single container based on the “</a:t>
            </a:r>
            <a:r>
              <a:rPr lang="en-US" altLang="ko-KR" sz="1400" b="1" dirty="0" err="1"/>
              <a:t>luksa</a:t>
            </a:r>
            <a:r>
              <a:rPr lang="en-US" altLang="ko-KR" sz="1400" b="1" dirty="0"/>
              <a:t>/</a:t>
            </a:r>
            <a:r>
              <a:rPr lang="en-US" altLang="ko-KR" sz="1400" b="1" dirty="0" err="1"/>
              <a:t>ssd</a:t>
            </a:r>
            <a:r>
              <a:rPr lang="en-US" altLang="ko-KR" sz="1400" b="1" dirty="0"/>
              <a:t>-monitor” container image</a:t>
            </a:r>
            <a:r>
              <a:rPr lang="en-US" altLang="ko-KR" sz="1400" dirty="0"/>
              <a:t>. </a:t>
            </a:r>
            <a:r>
              <a:rPr lang="en-US" altLang="ko-KR" sz="1400" b="1" dirty="0"/>
              <a:t>An instance of this pod will be created for each node that has the “</a:t>
            </a:r>
            <a:r>
              <a:rPr lang="en-US" altLang="ko-KR" sz="1400" b="1" dirty="0">
                <a:solidFill>
                  <a:srgbClr val="FF0000"/>
                </a:solidFill>
              </a:rPr>
              <a:t>disk=</a:t>
            </a:r>
            <a:r>
              <a:rPr lang="en-US" altLang="ko-KR" sz="1400" b="1" dirty="0" err="1">
                <a:solidFill>
                  <a:srgbClr val="FF0000"/>
                </a:solidFill>
              </a:rPr>
              <a:t>ssd</a:t>
            </a:r>
            <a:r>
              <a:rPr lang="en-US" altLang="ko-KR" sz="1400" b="1" dirty="0"/>
              <a:t>” label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C662C07-E33D-4255-0496-9FC6254E451E}"/>
              </a:ext>
            </a:extLst>
          </p:cNvPr>
          <p:cNvSpPr txBox="1"/>
          <p:nvPr/>
        </p:nvSpPr>
        <p:spPr>
          <a:xfrm>
            <a:off x="3047343" y="1997839"/>
            <a:ext cx="6097314"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t>DaemonSet</a:t>
            </a:r>
            <a:endParaRPr lang="en-US" altLang="ko-KR" sz="1000" b="1" dirty="0"/>
          </a:p>
          <a:p>
            <a:r>
              <a:rPr lang="en-US" altLang="ko-KR" sz="1000" b="1" dirty="0"/>
              <a:t>metadata:</a:t>
            </a:r>
          </a:p>
          <a:p>
            <a:r>
              <a:rPr lang="en-US" altLang="ko-KR" sz="1000" b="1" dirty="0"/>
              <a:t>  name: </a:t>
            </a:r>
            <a:r>
              <a:rPr lang="en-US" altLang="ko-KR" sz="1000" b="1" dirty="0" err="1"/>
              <a:t>ssd</a:t>
            </a:r>
            <a:r>
              <a:rPr lang="en-US" altLang="ko-KR" sz="1000" b="1" dirty="0"/>
              <a:t>-monitor</a:t>
            </a:r>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err="1"/>
              <a:t>ssd</a:t>
            </a:r>
            <a:r>
              <a:rPr lang="en-US" altLang="ko-KR" sz="1000" b="1" dirty="0"/>
              <a:t>-monitor</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t>ssd</a:t>
            </a:r>
            <a:r>
              <a:rPr lang="en-US" altLang="ko-KR" sz="1000" b="1" dirty="0"/>
              <a:t>-monitor</a:t>
            </a:r>
          </a:p>
          <a:p>
            <a:r>
              <a:rPr lang="en-US" altLang="ko-KR" sz="1000" b="1" dirty="0"/>
              <a:t>    spec:</a:t>
            </a:r>
          </a:p>
          <a:p>
            <a:r>
              <a:rPr lang="en-US" altLang="ko-KR" sz="1000" b="1" dirty="0">
                <a:solidFill>
                  <a:srgbClr val="FF0000"/>
                </a:solidFill>
              </a:rPr>
              <a:t>      </a:t>
            </a:r>
            <a:r>
              <a:rPr lang="en-US" altLang="ko-KR" sz="1000" b="1" dirty="0" err="1">
                <a:solidFill>
                  <a:srgbClr val="FF0000"/>
                </a:solidFill>
              </a:rPr>
              <a:t>nodeSelector</a:t>
            </a:r>
            <a:r>
              <a:rPr lang="en-US" altLang="ko-KR" sz="1000" b="1" dirty="0">
                <a:solidFill>
                  <a:srgbClr val="FF0000"/>
                </a:solidFill>
              </a:rPr>
              <a:t>:</a:t>
            </a:r>
          </a:p>
          <a:p>
            <a:r>
              <a:rPr lang="en-US" altLang="ko-KR" sz="1000" b="1" dirty="0">
                <a:solidFill>
                  <a:srgbClr val="FF0000"/>
                </a:solidFill>
              </a:rPr>
              <a:t>        disk: </a:t>
            </a:r>
            <a:r>
              <a:rPr lang="en-US" altLang="ko-KR" sz="1000" b="1" dirty="0" err="1">
                <a:solidFill>
                  <a:srgbClr val="FF0000"/>
                </a:solidFill>
              </a:rPr>
              <a:t>ssd</a:t>
            </a:r>
            <a:endParaRPr lang="en-US" altLang="ko-KR" sz="1000" b="1" dirty="0">
              <a:solidFill>
                <a:srgbClr val="FF0000"/>
              </a:solidFill>
            </a:endParaRPr>
          </a:p>
          <a:p>
            <a:r>
              <a:rPr lang="en-US" altLang="ko-KR" sz="1000" b="1" dirty="0"/>
              <a:t>      containers:</a:t>
            </a:r>
          </a:p>
          <a:p>
            <a:r>
              <a:rPr lang="en-US" altLang="ko-KR" sz="1000" b="1" dirty="0"/>
              <a:t>      - name: main</a:t>
            </a:r>
          </a:p>
          <a:p>
            <a:r>
              <a:rPr lang="en-US" altLang="ko-KR" sz="1000" b="1" dirty="0"/>
              <a:t>        image: </a:t>
            </a:r>
            <a:r>
              <a:rPr lang="en-US" altLang="ko-KR" sz="1000" b="1" dirty="0" err="1">
                <a:solidFill>
                  <a:srgbClr val="FF0000"/>
                </a:solidFill>
              </a:rPr>
              <a:t>luksa</a:t>
            </a:r>
            <a:r>
              <a:rPr lang="en-US" altLang="ko-KR" sz="1000" b="1" dirty="0">
                <a:solidFill>
                  <a:srgbClr val="FF0000"/>
                </a:solidFill>
              </a:rPr>
              <a:t>/</a:t>
            </a:r>
            <a:r>
              <a:rPr lang="en-US" altLang="ko-KR" sz="1000" b="1" dirty="0" err="1">
                <a:solidFill>
                  <a:srgbClr val="FF0000"/>
                </a:solidFill>
              </a:rPr>
              <a:t>ssd</a:t>
            </a:r>
            <a:r>
              <a:rPr lang="en-US" altLang="ko-KR" sz="1000" b="1" dirty="0">
                <a:solidFill>
                  <a:srgbClr val="FF0000"/>
                </a:solidFill>
              </a:rPr>
              <a:t>-monitor</a:t>
            </a:r>
          </a:p>
        </p:txBody>
      </p:sp>
    </p:spTree>
    <p:extLst>
      <p:ext uri="{BB962C8B-B14F-4D97-AF65-F5344CB8AC3E}">
        <p14:creationId xmlns:p14="http://schemas.microsoft.com/office/powerpoint/2010/main" val="151808843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the </a:t>
            </a:r>
            <a:r>
              <a:rPr lang="en-US" altLang="ko-KR" sz="1800" b="1" dirty="0" err="1"/>
              <a:t>DaemonSet</a:t>
            </a:r>
            <a:r>
              <a:rPr lang="en-US" altLang="ko-KR" sz="1800" b="1" dirty="0"/>
              <a:t> :</a:t>
            </a:r>
          </a:p>
          <a:p>
            <a:pPr lvl="1">
              <a:buFont typeface="Wingdings" panose="05000000000000000000" pitchFamily="2" charset="2"/>
              <a:buChar char="§"/>
            </a:pPr>
            <a:r>
              <a:rPr lang="en-US" altLang="ko-KR" sz="1400" b="1" dirty="0"/>
              <a:t>You’ll create the </a:t>
            </a:r>
            <a:r>
              <a:rPr lang="en-US" altLang="ko-KR" sz="1400" b="1" dirty="0" err="1"/>
              <a:t>DaemonSet</a:t>
            </a:r>
            <a:r>
              <a:rPr lang="en-US" altLang="ko-KR" sz="1400" b="1" dirty="0"/>
              <a:t> like you always create resources from a YAML file </a:t>
            </a:r>
            <a:r>
              <a:rPr lang="en-US" altLang="ko-KR" sz="1400" dirty="0"/>
              <a:t>with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Where are the pods? You forgot to </a:t>
            </a:r>
            <a:r>
              <a:rPr lang="en-US" altLang="ko-KR" sz="1400" b="1" dirty="0">
                <a:solidFill>
                  <a:srgbClr val="FF0000"/>
                </a:solidFill>
              </a:rPr>
              <a:t>label your nodes with the “disk=</a:t>
            </a:r>
            <a:r>
              <a:rPr lang="en-US" altLang="ko-KR" sz="1400" b="1" dirty="0" err="1">
                <a:solidFill>
                  <a:srgbClr val="FF0000"/>
                </a:solidFill>
              </a:rPr>
              <a:t>ssd</a:t>
            </a:r>
            <a:r>
              <a:rPr lang="en-US" altLang="ko-KR" sz="1400" b="1" dirty="0">
                <a:solidFill>
                  <a:srgbClr val="FF0000"/>
                </a:solidFill>
              </a:rPr>
              <a:t>” label</a:t>
            </a:r>
            <a:r>
              <a:rPr lang="en-US" altLang="ko-KR" sz="1400" dirty="0"/>
              <a:t>. </a:t>
            </a:r>
            <a:r>
              <a:rPr lang="en-US" altLang="ko-KR" sz="1400" b="1" dirty="0"/>
              <a:t>The </a:t>
            </a:r>
            <a:r>
              <a:rPr lang="en-US" altLang="ko-KR" sz="1400" b="1" dirty="0" err="1"/>
              <a:t>DaemonSet</a:t>
            </a:r>
            <a:r>
              <a:rPr lang="en-US" altLang="ko-KR" sz="1400" b="1" dirty="0"/>
              <a:t> should detect that the nodes’ labels have changed and deploy the pod to all nodes with a matching label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B64D0476-25A8-73D9-0133-C6AB6C4E07E6}"/>
              </a:ext>
            </a:extLst>
          </p:cNvPr>
          <p:cNvGrpSpPr/>
          <p:nvPr/>
        </p:nvGrpSpPr>
        <p:grpSpPr>
          <a:xfrm>
            <a:off x="1366673" y="1638578"/>
            <a:ext cx="9458653" cy="2729508"/>
            <a:chOff x="1366673" y="1501142"/>
            <a:chExt cx="9458653" cy="2729508"/>
          </a:xfrm>
        </p:grpSpPr>
        <p:sp>
          <p:nvSpPr>
            <p:cNvPr id="8" name="TextBox 7">
              <a:extLst>
                <a:ext uri="{FF2B5EF4-FFF2-40B4-BE49-F238E27FC236}">
                  <a16:creationId xmlns:a16="http://schemas.microsoft.com/office/drawing/2014/main" id="{6CED55D4-5EAC-0010-9EE3-3F27C65D2C56}"/>
                </a:ext>
              </a:extLst>
            </p:cNvPr>
            <p:cNvSpPr txBox="1"/>
            <p:nvPr/>
          </p:nvSpPr>
          <p:spPr>
            <a:xfrm>
              <a:off x="3047343" y="1501142"/>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ssd</a:t>
              </a:r>
              <a:r>
                <a:rPr lang="en-US" altLang="ko-KR" sz="1000" b="1" dirty="0">
                  <a:solidFill>
                    <a:srgbClr val="FF0000"/>
                  </a:solidFill>
                </a:rPr>
                <a:t>-monitor-</a:t>
              </a:r>
              <a:r>
                <a:rPr lang="en-US" altLang="ko-KR" sz="1000" b="1" dirty="0" err="1">
                  <a:solidFill>
                    <a:srgbClr val="FF0000"/>
                  </a:solidFill>
                </a:rPr>
                <a:t>daemonset.yaml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a:solidFill>
                    <a:srgbClr val="FF0000"/>
                  </a:solidFill>
                </a:rPr>
                <a:t>ds</a:t>
              </a:r>
            </a:p>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14AA8840-EAD3-3D15-A00E-7EB6CCACA181}"/>
                </a:ext>
              </a:extLst>
            </p:cNvPr>
            <p:cNvSpPr/>
            <p:nvPr/>
          </p:nvSpPr>
          <p:spPr>
            <a:xfrm>
              <a:off x="5887107" y="2055140"/>
              <a:ext cx="417786" cy="283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F069BD6-F18D-7C7B-8C7B-54CFED5BBE61}"/>
                </a:ext>
              </a:extLst>
            </p:cNvPr>
            <p:cNvPicPr>
              <a:picLocks noChangeAspect="1"/>
            </p:cNvPicPr>
            <p:nvPr/>
          </p:nvPicPr>
          <p:blipFill>
            <a:blip r:embed="rId2"/>
            <a:stretch>
              <a:fillRect/>
            </a:stretch>
          </p:blipFill>
          <p:spPr>
            <a:xfrm>
              <a:off x="1366673" y="2338919"/>
              <a:ext cx="9458653" cy="1891731"/>
            </a:xfrm>
            <a:prstGeom prst="rect">
              <a:avLst/>
            </a:prstGeom>
          </p:spPr>
        </p:pic>
      </p:grpSp>
      <p:grpSp>
        <p:nvGrpSpPr>
          <p:cNvPr id="15" name="그룹 14">
            <a:extLst>
              <a:ext uri="{FF2B5EF4-FFF2-40B4-BE49-F238E27FC236}">
                <a16:creationId xmlns:a16="http://schemas.microsoft.com/office/drawing/2014/main" id="{CEBEF0B8-6F75-8D02-E79E-F3264B5ACF17}"/>
              </a:ext>
            </a:extLst>
          </p:cNvPr>
          <p:cNvGrpSpPr/>
          <p:nvPr/>
        </p:nvGrpSpPr>
        <p:grpSpPr>
          <a:xfrm>
            <a:off x="5738648" y="2805525"/>
            <a:ext cx="3129455" cy="929769"/>
            <a:chOff x="5738648" y="2805525"/>
            <a:chExt cx="3129455" cy="929769"/>
          </a:xfrm>
        </p:grpSpPr>
        <p:sp>
          <p:nvSpPr>
            <p:cNvPr id="12" name="직사각형 11">
              <a:extLst>
                <a:ext uri="{FF2B5EF4-FFF2-40B4-BE49-F238E27FC236}">
                  <a16:creationId xmlns:a16="http://schemas.microsoft.com/office/drawing/2014/main" id="{49FFD9A3-BA54-C3B6-4394-68EA5ED6BC8E}"/>
                </a:ext>
              </a:extLst>
            </p:cNvPr>
            <p:cNvSpPr/>
            <p:nvPr/>
          </p:nvSpPr>
          <p:spPr>
            <a:xfrm>
              <a:off x="5738648" y="2805525"/>
              <a:ext cx="3129455" cy="1978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00539E2A-F3DC-2D17-C4BF-729660FE9E80}"/>
                </a:ext>
              </a:extLst>
            </p:cNvPr>
            <p:cNvSpPr/>
            <p:nvPr/>
          </p:nvSpPr>
          <p:spPr>
            <a:xfrm>
              <a:off x="5738648" y="3089431"/>
              <a:ext cx="1087821" cy="1978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90784AAB-F1AA-53BF-2599-B1CBB53BBD2B}"/>
                </a:ext>
              </a:extLst>
            </p:cNvPr>
            <p:cNvSpPr/>
            <p:nvPr/>
          </p:nvSpPr>
          <p:spPr>
            <a:xfrm>
              <a:off x="5760982" y="3537487"/>
              <a:ext cx="1191611" cy="1978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261682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the Required Label to Your Nodes :</a:t>
            </a:r>
          </a:p>
          <a:p>
            <a:pPr lvl="1">
              <a:buFont typeface="Wingdings" panose="05000000000000000000" pitchFamily="2" charset="2"/>
              <a:buChar char="§"/>
            </a:pPr>
            <a:r>
              <a:rPr lang="en-US" altLang="ko-KR" sz="1400" b="1" dirty="0"/>
              <a:t>Regardless if you’re using </a:t>
            </a:r>
            <a:r>
              <a:rPr lang="en-US" altLang="ko-KR" sz="1400" b="1" dirty="0" err="1"/>
              <a:t>Minikube</a:t>
            </a:r>
            <a:r>
              <a:rPr lang="en-US" altLang="ko-KR" sz="1400" b="1" dirty="0"/>
              <a:t>, GKE, or another multi-node cluster, you’ll need to </a:t>
            </a:r>
            <a:r>
              <a:rPr lang="en-US" altLang="ko-KR" sz="1400" b="1" dirty="0">
                <a:solidFill>
                  <a:srgbClr val="FF0000"/>
                </a:solidFill>
              </a:rPr>
              <a:t>list the nodes </a:t>
            </a:r>
            <a:r>
              <a:rPr lang="en-US" altLang="ko-KR" sz="1400" b="1" dirty="0"/>
              <a:t>first</a:t>
            </a:r>
            <a:r>
              <a:rPr lang="en-US" altLang="ko-KR" sz="1400" dirty="0"/>
              <a:t>, </a:t>
            </a:r>
            <a:r>
              <a:rPr lang="en-US" altLang="ko-KR" sz="1400" b="1" dirty="0"/>
              <a:t>because you’ll need to know the node’s name when labeling it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have multiple nodes and you add the same label to further nodes, you’ll see the </a:t>
            </a:r>
            <a:r>
              <a:rPr lang="en-US" altLang="ko-KR" sz="1400" b="1" dirty="0" err="1"/>
              <a:t>DaemonSet</a:t>
            </a:r>
            <a:r>
              <a:rPr lang="en-US" altLang="ko-KR" sz="1400" dirty="0"/>
              <a:t> spin up pods for each of them.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322D6371-23F3-0C94-9EC2-3958A53BE379}"/>
              </a:ext>
            </a:extLst>
          </p:cNvPr>
          <p:cNvGrpSpPr/>
          <p:nvPr/>
        </p:nvGrpSpPr>
        <p:grpSpPr>
          <a:xfrm>
            <a:off x="1357476" y="1682446"/>
            <a:ext cx="9477048" cy="2826492"/>
            <a:chOff x="1357476" y="1682446"/>
            <a:chExt cx="9477048" cy="2826492"/>
          </a:xfrm>
        </p:grpSpPr>
        <p:grpSp>
          <p:nvGrpSpPr>
            <p:cNvPr id="14" name="그룹 13">
              <a:extLst>
                <a:ext uri="{FF2B5EF4-FFF2-40B4-BE49-F238E27FC236}">
                  <a16:creationId xmlns:a16="http://schemas.microsoft.com/office/drawing/2014/main" id="{5FA24F6A-D2E5-AD04-D7C3-9970A0B09F15}"/>
                </a:ext>
              </a:extLst>
            </p:cNvPr>
            <p:cNvGrpSpPr/>
            <p:nvPr/>
          </p:nvGrpSpPr>
          <p:grpSpPr>
            <a:xfrm>
              <a:off x="1357476" y="1682446"/>
              <a:ext cx="9477048" cy="2826492"/>
              <a:chOff x="1357476" y="1682446"/>
              <a:chExt cx="9477048" cy="2826492"/>
            </a:xfrm>
          </p:grpSpPr>
          <p:sp>
            <p:nvSpPr>
              <p:cNvPr id="8" name="TextBox 7">
                <a:extLst>
                  <a:ext uri="{FF2B5EF4-FFF2-40B4-BE49-F238E27FC236}">
                    <a16:creationId xmlns:a16="http://schemas.microsoft.com/office/drawing/2014/main" id="{6CB73F23-0B7E-DD70-31E0-E87290BF57D0}"/>
                  </a:ext>
                </a:extLst>
              </p:cNvPr>
              <p:cNvSpPr txBox="1"/>
              <p:nvPr/>
            </p:nvSpPr>
            <p:spPr>
              <a:xfrm>
                <a:off x="3047343" y="1682446"/>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node</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label node </a:t>
                </a:r>
                <a:r>
                  <a:rPr lang="en-US" altLang="ko-KR" sz="1000" b="1" dirty="0" err="1">
                    <a:solidFill>
                      <a:srgbClr val="FF0000"/>
                    </a:solidFill>
                  </a:rPr>
                  <a:t>minikube</a:t>
                </a:r>
                <a:r>
                  <a:rPr lang="en-US" altLang="ko-KR" sz="1000" b="1" dirty="0">
                    <a:solidFill>
                      <a:srgbClr val="FF0000"/>
                    </a:solidFill>
                  </a:rPr>
                  <a:t> disk=</a:t>
                </a:r>
                <a:r>
                  <a:rPr lang="en-US" altLang="ko-KR" sz="1000" b="1" dirty="0" err="1">
                    <a:solidFill>
                      <a:srgbClr val="FF0000"/>
                    </a:solidFill>
                  </a:rPr>
                  <a:t>ssd</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FDD1CB90-9CCB-3A26-5B74-71561A1831AE}"/>
                  </a:ext>
                </a:extLst>
              </p:cNvPr>
              <p:cNvSpPr/>
              <p:nvPr/>
            </p:nvSpPr>
            <p:spPr>
              <a:xfrm>
                <a:off x="5875282" y="2236444"/>
                <a:ext cx="441435" cy="2995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BCACB920-48A5-FFBF-135E-5E4D47035AD8}"/>
                  </a:ext>
                </a:extLst>
              </p:cNvPr>
              <p:cNvPicPr>
                <a:picLocks noChangeAspect="1"/>
              </p:cNvPicPr>
              <p:nvPr/>
            </p:nvPicPr>
            <p:blipFill>
              <a:blip r:embed="rId2"/>
              <a:stretch>
                <a:fillRect/>
              </a:stretch>
            </p:blipFill>
            <p:spPr>
              <a:xfrm>
                <a:off x="1357476" y="2535989"/>
                <a:ext cx="9477048" cy="1972949"/>
              </a:xfrm>
              <a:prstGeom prst="rect">
                <a:avLst/>
              </a:prstGeom>
            </p:spPr>
          </p:pic>
          <p:sp>
            <p:nvSpPr>
              <p:cNvPr id="12" name="직사각형 11">
                <a:extLst>
                  <a:ext uri="{FF2B5EF4-FFF2-40B4-BE49-F238E27FC236}">
                    <a16:creationId xmlns:a16="http://schemas.microsoft.com/office/drawing/2014/main" id="{AA50D2E4-D2A0-F982-AAC5-2A5B0C22F6CB}"/>
                  </a:ext>
                </a:extLst>
              </p:cNvPr>
              <p:cNvSpPr/>
              <p:nvPr/>
            </p:nvSpPr>
            <p:spPr>
              <a:xfrm>
                <a:off x="5738648" y="2995448"/>
                <a:ext cx="1284890" cy="2207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E94193BD-FCDD-0D96-51D8-2B77CD740EA7}"/>
                  </a:ext>
                </a:extLst>
              </p:cNvPr>
              <p:cNvSpPr/>
              <p:nvPr/>
            </p:nvSpPr>
            <p:spPr>
              <a:xfrm>
                <a:off x="5738648" y="3430855"/>
                <a:ext cx="2577662" cy="2207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1747D896-DE8C-6F65-0721-64829916D17A}"/>
                </a:ext>
              </a:extLst>
            </p:cNvPr>
            <p:cNvSpPr/>
            <p:nvPr/>
          </p:nvSpPr>
          <p:spPr>
            <a:xfrm>
              <a:off x="1442545" y="4035972"/>
              <a:ext cx="3720662"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492522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exactly one pod on each node with </a:t>
            </a:r>
            <a:r>
              <a:rPr lang="en-US" altLang="ko-KR" sz="2800" b="1" dirty="0" err="1"/>
              <a:t>DaemonSets</a:t>
            </a:r>
            <a:r>
              <a:rPr lang="en-US" altLang="ko-KR" sz="2800" b="1" dirty="0"/>
              <a:t>(7/7)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the Required Label from the Node :</a:t>
            </a:r>
          </a:p>
          <a:p>
            <a:pPr lvl="1">
              <a:buFont typeface="Wingdings" panose="05000000000000000000" pitchFamily="2" charset="2"/>
              <a:buChar char="§"/>
            </a:pPr>
            <a:r>
              <a:rPr lang="en-US" altLang="ko-KR" sz="1400" dirty="0"/>
              <a:t>Now, imagine you’ve made a mistake and have mislabeled one of the nodes. It has a spinning disk drive, not an SSD. </a:t>
            </a:r>
            <a:r>
              <a:rPr lang="en-US" altLang="ko-KR" sz="1400" b="1" dirty="0"/>
              <a:t>What happens if you change the node’s label? The pod is being terminated. </a:t>
            </a:r>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dirty="0"/>
              <a:t>If you want to </a:t>
            </a:r>
            <a:r>
              <a:rPr lang="en-US" altLang="ko-KR" sz="1400" b="1" dirty="0"/>
              <a:t>delete the </a:t>
            </a:r>
            <a:r>
              <a:rPr lang="en-US" altLang="ko-KR" sz="1400" b="1" dirty="0" err="1"/>
              <a:t>DaemonSets</a:t>
            </a:r>
            <a:r>
              <a:rPr lang="en-US" altLang="ko-KR" sz="1400" dirty="0"/>
              <a:t>, then you can use “</a:t>
            </a:r>
            <a:r>
              <a:rPr lang="en-US" altLang="ko-KR" sz="1400" b="1" dirty="0" err="1"/>
              <a:t>kubectl</a:t>
            </a:r>
            <a:r>
              <a:rPr lang="en-US" altLang="ko-KR" sz="1400" b="1" dirty="0"/>
              <a:t> delete –f </a:t>
            </a:r>
            <a:r>
              <a:rPr lang="en-US" altLang="ko-KR" sz="1400" b="1" dirty="0" err="1"/>
              <a:t>ssd</a:t>
            </a:r>
            <a:r>
              <a:rPr lang="en-US" altLang="ko-KR" sz="1400" b="1" dirty="0"/>
              <a:t>-monitor-</a:t>
            </a:r>
            <a:r>
              <a:rPr lang="en-US" altLang="ko-KR" sz="1400" b="1" dirty="0" err="1"/>
              <a:t>daemonset.yaml</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05E908B6-B62A-16AB-6496-D88601FC1280}"/>
              </a:ext>
            </a:extLst>
          </p:cNvPr>
          <p:cNvGrpSpPr/>
          <p:nvPr/>
        </p:nvGrpSpPr>
        <p:grpSpPr>
          <a:xfrm>
            <a:off x="1558323" y="1645058"/>
            <a:ext cx="9075354" cy="2623348"/>
            <a:chOff x="1558323" y="1715079"/>
            <a:chExt cx="9075354" cy="2623348"/>
          </a:xfrm>
        </p:grpSpPr>
        <p:grpSp>
          <p:nvGrpSpPr>
            <p:cNvPr id="12" name="그룹 11">
              <a:extLst>
                <a:ext uri="{FF2B5EF4-FFF2-40B4-BE49-F238E27FC236}">
                  <a16:creationId xmlns:a16="http://schemas.microsoft.com/office/drawing/2014/main" id="{C9B27227-D363-C9D0-AD77-7CCEE77DEA47}"/>
                </a:ext>
              </a:extLst>
            </p:cNvPr>
            <p:cNvGrpSpPr/>
            <p:nvPr/>
          </p:nvGrpSpPr>
          <p:grpSpPr>
            <a:xfrm>
              <a:off x="1558323" y="1715079"/>
              <a:ext cx="9075354" cy="2623348"/>
              <a:chOff x="1558323" y="1715079"/>
              <a:chExt cx="9075354" cy="2623348"/>
            </a:xfrm>
          </p:grpSpPr>
          <p:sp>
            <p:nvSpPr>
              <p:cNvPr id="8" name="TextBox 7">
                <a:extLst>
                  <a:ext uri="{FF2B5EF4-FFF2-40B4-BE49-F238E27FC236}">
                    <a16:creationId xmlns:a16="http://schemas.microsoft.com/office/drawing/2014/main" id="{59D884E6-A69A-3DB5-DC1D-52FBAFFAC260}"/>
                  </a:ext>
                </a:extLst>
              </p:cNvPr>
              <p:cNvSpPr txBox="1"/>
              <p:nvPr/>
            </p:nvSpPr>
            <p:spPr>
              <a:xfrm>
                <a:off x="3047343" y="1715079"/>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node </a:t>
                </a:r>
                <a:r>
                  <a:rPr lang="en-US" altLang="ko-KR" sz="1000" b="1" dirty="0" err="1"/>
                  <a:t>minikube</a:t>
                </a:r>
                <a:r>
                  <a:rPr lang="en-US" altLang="ko-KR" sz="1000" b="1" dirty="0"/>
                  <a:t> </a:t>
                </a:r>
                <a:r>
                  <a:rPr lang="en-US" altLang="ko-KR" sz="1000" b="1" dirty="0">
                    <a:solidFill>
                      <a:srgbClr val="FF0000"/>
                    </a:solidFill>
                  </a:rPr>
                  <a:t>disk=</a:t>
                </a:r>
                <a:r>
                  <a:rPr lang="en-US" altLang="ko-KR" sz="1000" b="1" dirty="0" err="1">
                    <a:solidFill>
                      <a:srgbClr val="FF0000"/>
                    </a:solidFill>
                  </a:rPr>
                  <a:t>hdd</a:t>
                </a:r>
                <a:r>
                  <a:rPr lang="en-US" altLang="ko-KR" sz="1000" b="1" dirty="0">
                    <a:solidFill>
                      <a:srgbClr val="FF0000"/>
                    </a:solidFill>
                  </a:rPr>
                  <a:t> –overwrite</a:t>
                </a:r>
              </a:p>
              <a:p>
                <a:r>
                  <a:rPr lang="en-US" altLang="ko-KR" sz="1000" b="1" dirty="0"/>
                  <a:t>$ </a:t>
                </a:r>
                <a:r>
                  <a:rPr lang="en-US" altLang="ko-KR" sz="1000" b="1" dirty="0" err="1"/>
                  <a:t>kubectl</a:t>
                </a:r>
                <a:r>
                  <a:rPr lang="en-US" altLang="ko-KR" sz="1000" b="1" dirty="0"/>
                  <a:t> get pods</a:t>
                </a:r>
              </a:p>
            </p:txBody>
          </p:sp>
          <p:pic>
            <p:nvPicPr>
              <p:cNvPr id="10" name="그림 9">
                <a:extLst>
                  <a:ext uri="{FF2B5EF4-FFF2-40B4-BE49-F238E27FC236}">
                    <a16:creationId xmlns:a16="http://schemas.microsoft.com/office/drawing/2014/main" id="{38AF58E9-4DB7-BF70-033E-1EA66B953CC9}"/>
                  </a:ext>
                </a:extLst>
              </p:cNvPr>
              <p:cNvPicPr>
                <a:picLocks noChangeAspect="1"/>
              </p:cNvPicPr>
              <p:nvPr/>
            </p:nvPicPr>
            <p:blipFill>
              <a:blip r:embed="rId2"/>
              <a:stretch>
                <a:fillRect/>
              </a:stretch>
            </p:blipFill>
            <p:spPr>
              <a:xfrm>
                <a:off x="1558323" y="2407852"/>
                <a:ext cx="9075354" cy="1930575"/>
              </a:xfrm>
              <a:prstGeom prst="rect">
                <a:avLst/>
              </a:prstGeom>
            </p:spPr>
          </p:pic>
          <p:sp>
            <p:nvSpPr>
              <p:cNvPr id="11" name="화살표: 아래쪽 10">
                <a:extLst>
                  <a:ext uri="{FF2B5EF4-FFF2-40B4-BE49-F238E27FC236}">
                    <a16:creationId xmlns:a16="http://schemas.microsoft.com/office/drawing/2014/main" id="{8D24FAD8-3C14-8692-E51A-BC7EE66303E5}"/>
                  </a:ext>
                </a:extLst>
              </p:cNvPr>
              <p:cNvSpPr/>
              <p:nvPr/>
            </p:nvSpPr>
            <p:spPr>
              <a:xfrm>
                <a:off x="5887106" y="2115189"/>
                <a:ext cx="417786" cy="28117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B3D6E78E-7CB5-1049-E8BF-E05B9D81E230}"/>
                </a:ext>
              </a:extLst>
            </p:cNvPr>
            <p:cNvSpPr/>
            <p:nvPr/>
          </p:nvSpPr>
          <p:spPr>
            <a:xfrm>
              <a:off x="5770179" y="2853967"/>
              <a:ext cx="3271345"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A6F8FC01-09AF-A53C-796A-014AA6355105}"/>
              </a:ext>
            </a:extLst>
          </p:cNvPr>
          <p:cNvGrpSpPr/>
          <p:nvPr/>
        </p:nvGrpSpPr>
        <p:grpSpPr>
          <a:xfrm>
            <a:off x="1558322" y="4841468"/>
            <a:ext cx="9075354" cy="1567562"/>
            <a:chOff x="1558322" y="4841468"/>
            <a:chExt cx="9075354" cy="1567562"/>
          </a:xfrm>
        </p:grpSpPr>
        <p:pic>
          <p:nvPicPr>
            <p:cNvPr id="16" name="그림 15">
              <a:extLst>
                <a:ext uri="{FF2B5EF4-FFF2-40B4-BE49-F238E27FC236}">
                  <a16:creationId xmlns:a16="http://schemas.microsoft.com/office/drawing/2014/main" id="{290EB0C6-E89E-DC7D-F040-CFBB41D8EBF9}"/>
                </a:ext>
              </a:extLst>
            </p:cNvPr>
            <p:cNvPicPr>
              <a:picLocks noChangeAspect="1"/>
            </p:cNvPicPr>
            <p:nvPr/>
          </p:nvPicPr>
          <p:blipFill>
            <a:blip r:embed="rId3"/>
            <a:stretch>
              <a:fillRect/>
            </a:stretch>
          </p:blipFill>
          <p:spPr>
            <a:xfrm>
              <a:off x="1558322" y="4841468"/>
              <a:ext cx="9075354" cy="1567562"/>
            </a:xfrm>
            <a:prstGeom prst="rect">
              <a:avLst/>
            </a:prstGeom>
          </p:spPr>
        </p:pic>
        <p:sp>
          <p:nvSpPr>
            <p:cNvPr id="17" name="직사각형 16">
              <a:extLst>
                <a:ext uri="{FF2B5EF4-FFF2-40B4-BE49-F238E27FC236}">
                  <a16:creationId xmlns:a16="http://schemas.microsoft.com/office/drawing/2014/main" id="{7F5A7144-724E-AEED-F6E1-8FCDCAC769A6}"/>
                </a:ext>
              </a:extLst>
            </p:cNvPr>
            <p:cNvSpPr/>
            <p:nvPr/>
          </p:nvSpPr>
          <p:spPr>
            <a:xfrm>
              <a:off x="5770179" y="5307538"/>
              <a:ext cx="3066393" cy="1630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645569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 Single Completable Task :</a:t>
            </a:r>
          </a:p>
          <a:p>
            <a:pPr lvl="1">
              <a:buFont typeface="Wingdings" panose="05000000000000000000" pitchFamily="2" charset="2"/>
              <a:buChar char="§"/>
            </a:pPr>
            <a:r>
              <a:rPr lang="en-US" altLang="ko-KR" sz="1400" dirty="0"/>
              <a:t>Up to now, we’ve only talked about pods than need to run continuously. </a:t>
            </a:r>
            <a:r>
              <a:rPr lang="en-US" altLang="ko-KR" sz="1400" b="1" dirty="0"/>
              <a:t>You’ll have cases where you only want to run a task that terminates after completing its work</a:t>
            </a:r>
            <a:r>
              <a:rPr lang="en-US" altLang="ko-KR" sz="1400" dirty="0"/>
              <a:t>. </a:t>
            </a:r>
            <a:r>
              <a:rPr lang="en-US" altLang="ko-KR" sz="1400" b="1" dirty="0" err="1"/>
              <a:t>ReplicationControllers</a:t>
            </a:r>
            <a:r>
              <a:rPr lang="en-US" altLang="ko-KR" sz="1400" dirty="0"/>
              <a:t>, </a:t>
            </a:r>
            <a:r>
              <a:rPr lang="en-US" altLang="ko-KR" sz="1400" b="1" dirty="0" err="1"/>
              <a:t>ReplicaSets</a:t>
            </a:r>
            <a:r>
              <a:rPr lang="en-US" altLang="ko-KR" sz="1400" dirty="0"/>
              <a:t>, </a:t>
            </a:r>
            <a:r>
              <a:rPr lang="en-US" altLang="ko-KR" sz="1400" b="1" dirty="0"/>
              <a:t>and </a:t>
            </a:r>
            <a:r>
              <a:rPr lang="en-US" altLang="ko-KR" sz="1400" b="1" dirty="0" err="1"/>
              <a:t>DaemonSets</a:t>
            </a:r>
            <a:r>
              <a:rPr lang="en-US" altLang="ko-KR" sz="1400" b="1" dirty="0"/>
              <a:t> run </a:t>
            </a:r>
            <a:r>
              <a:rPr lang="en-US" altLang="ko-KR" sz="1400" b="1" dirty="0">
                <a:solidFill>
                  <a:srgbClr val="FF0000"/>
                </a:solidFill>
              </a:rPr>
              <a:t>continuous tasks </a:t>
            </a:r>
            <a:r>
              <a:rPr lang="en-US" altLang="ko-KR" sz="1400" b="1" dirty="0"/>
              <a:t>that are never considered completed</a:t>
            </a:r>
            <a:r>
              <a:rPr lang="en-US" altLang="ko-KR" sz="1400" dirty="0"/>
              <a:t>. Processes in such pods are </a:t>
            </a:r>
            <a:r>
              <a:rPr lang="en-US" altLang="ko-KR" sz="1400" b="1" dirty="0"/>
              <a:t>restarted</a:t>
            </a:r>
            <a:r>
              <a:rPr lang="en-US" altLang="ko-KR" sz="1400" dirty="0"/>
              <a:t> when they exit. But </a:t>
            </a:r>
            <a:r>
              <a:rPr lang="en-US" altLang="ko-KR" sz="1400" b="1" dirty="0"/>
              <a:t>in a </a:t>
            </a:r>
            <a:r>
              <a:rPr lang="en-US" altLang="ko-KR" sz="1400" b="1" dirty="0">
                <a:solidFill>
                  <a:srgbClr val="FF0000"/>
                </a:solidFill>
              </a:rPr>
              <a:t>completable task</a:t>
            </a:r>
            <a:r>
              <a:rPr lang="en-US" altLang="ko-KR" sz="1400" b="1" dirty="0"/>
              <a:t>, after its process terminates, it should not be restarted again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B002559-286D-E809-A85D-CA323A25E5F8}"/>
              </a:ext>
            </a:extLst>
          </p:cNvPr>
          <p:cNvPicPr>
            <a:picLocks noChangeAspect="1"/>
          </p:cNvPicPr>
          <p:nvPr/>
        </p:nvPicPr>
        <p:blipFill>
          <a:blip r:embed="rId2"/>
          <a:stretch>
            <a:fillRect/>
          </a:stretch>
        </p:blipFill>
        <p:spPr>
          <a:xfrm>
            <a:off x="3953048" y="2211332"/>
            <a:ext cx="4285903" cy="2760771"/>
          </a:xfrm>
          <a:prstGeom prst="rect">
            <a:avLst/>
          </a:prstGeom>
        </p:spPr>
      </p:pic>
    </p:spTree>
    <p:extLst>
      <p:ext uri="{BB962C8B-B14F-4D97-AF65-F5344CB8AC3E}">
        <p14:creationId xmlns:p14="http://schemas.microsoft.com/office/powerpoint/2010/main" val="17098172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Task(2/11)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Job Resource :</a:t>
            </a:r>
          </a:p>
          <a:p>
            <a:pPr lvl="1">
              <a:buFont typeface="Wingdings" panose="05000000000000000000" pitchFamily="2" charset="2"/>
              <a:buChar char="§"/>
            </a:pPr>
            <a:r>
              <a:rPr lang="en-US" altLang="ko-KR" sz="1400" b="1" dirty="0"/>
              <a:t>Kubernetes includes support for a completable task through the </a:t>
            </a:r>
            <a:r>
              <a:rPr lang="en-US" altLang="ko-KR" sz="1400" b="1" dirty="0">
                <a:solidFill>
                  <a:srgbClr val="FF0000"/>
                </a:solidFill>
              </a:rPr>
              <a:t>Job</a:t>
            </a:r>
            <a:r>
              <a:rPr lang="en-US" altLang="ko-KR" sz="1400" b="1" dirty="0"/>
              <a:t> resource</a:t>
            </a:r>
            <a:r>
              <a:rPr lang="en-US" altLang="ko-KR" sz="1400" dirty="0"/>
              <a:t>, which is similar to the other resources we’ve discussed before, but </a:t>
            </a:r>
            <a:r>
              <a:rPr lang="en-US" altLang="ko-KR" sz="1400" b="1" dirty="0"/>
              <a:t>it allows you to run a pod whose container isn’t restarted when the process running inside finishes successfully</a:t>
            </a:r>
            <a:r>
              <a:rPr lang="en-US" altLang="ko-KR" sz="1400" dirty="0"/>
              <a:t>. </a:t>
            </a:r>
            <a:r>
              <a:rPr lang="en-US" altLang="ko-KR" sz="1400" b="1" dirty="0"/>
              <a:t>Once it does, the pod is considered </a:t>
            </a:r>
            <a:r>
              <a:rPr lang="en-US" altLang="ko-KR" sz="1400" b="1" dirty="0">
                <a:solidFill>
                  <a:srgbClr val="FF0000"/>
                </a:solidFill>
              </a:rPr>
              <a:t>complete</a:t>
            </a:r>
            <a:r>
              <a:rPr lang="en-US" altLang="ko-KR" sz="1400" dirty="0"/>
              <a:t>.</a:t>
            </a:r>
          </a:p>
          <a:p>
            <a:pPr lvl="1">
              <a:buFont typeface="Wingdings" panose="05000000000000000000" pitchFamily="2" charset="2"/>
              <a:buChar char="§"/>
            </a:pPr>
            <a:r>
              <a:rPr lang="en-US" altLang="ko-KR" sz="1400" b="1" dirty="0"/>
              <a:t>In the event of a </a:t>
            </a:r>
            <a:r>
              <a:rPr lang="en-US" altLang="ko-KR" sz="1400" b="1" dirty="0">
                <a:solidFill>
                  <a:srgbClr val="FF0000"/>
                </a:solidFill>
              </a:rPr>
              <a:t>node failure</a:t>
            </a:r>
            <a:r>
              <a:rPr lang="en-US" altLang="ko-KR" sz="1400" b="1" dirty="0"/>
              <a:t>, the pods on that node that are managed by a Job will be rescheduled to other nodes the way </a:t>
            </a:r>
            <a:r>
              <a:rPr lang="en-US" altLang="ko-KR" sz="1400" b="1" dirty="0" err="1"/>
              <a:t>ReplicaSet</a:t>
            </a:r>
            <a:r>
              <a:rPr lang="en-US" altLang="ko-KR" sz="1400" b="1" dirty="0"/>
              <a:t> pods are</a:t>
            </a:r>
            <a:r>
              <a:rPr lang="en-US" altLang="ko-KR" sz="1400" dirty="0"/>
              <a:t>. </a:t>
            </a:r>
            <a:r>
              <a:rPr lang="en-US" altLang="ko-KR" sz="1400" b="1" dirty="0"/>
              <a:t>In the event of </a:t>
            </a:r>
            <a:r>
              <a:rPr lang="en-US" altLang="ko-KR" sz="1400" b="1" dirty="0">
                <a:solidFill>
                  <a:srgbClr val="FF0000"/>
                </a:solidFill>
              </a:rPr>
              <a:t>a failure of the process itself </a:t>
            </a:r>
            <a:r>
              <a:rPr lang="en-US" altLang="ko-KR" sz="1400" b="1" dirty="0"/>
              <a:t>(when the process returns an error exit code), the Job can be configured to either restart the container or not</a:t>
            </a:r>
            <a:r>
              <a:rPr lang="en-US" altLang="ko-KR" sz="1400" dirty="0"/>
              <a:t>.</a:t>
            </a:r>
          </a:p>
          <a:p>
            <a:pPr lvl="1">
              <a:buFont typeface="Wingdings" panose="05000000000000000000" pitchFamily="2" charset="2"/>
              <a:buChar char="§"/>
            </a:pPr>
            <a:r>
              <a:rPr lang="en-US" altLang="ko-KR" sz="1400" b="1" dirty="0"/>
              <a:t>The following figure shows how a pod created by a Job is rescheduled to a new node if the node it was initially scheduled to fails</a:t>
            </a:r>
            <a:r>
              <a:rPr lang="en-US" altLang="ko-KR" sz="1400" dirty="0"/>
              <a:t>. The figure also shows both a managed pod, which isn’t rescheduled, and a pod backed by a </a:t>
            </a:r>
            <a:r>
              <a:rPr lang="en-US" altLang="ko-KR" sz="1400" dirty="0" err="1"/>
              <a:t>ReplicaSet</a:t>
            </a:r>
            <a:r>
              <a:rPr lang="en-US" altLang="ko-KR" sz="1400" dirty="0"/>
              <a:t>, which 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82F802F-30F8-38BA-16ED-42FD550EE4F3}"/>
              </a:ext>
            </a:extLst>
          </p:cNvPr>
          <p:cNvPicPr>
            <a:picLocks noChangeAspect="1"/>
          </p:cNvPicPr>
          <p:nvPr/>
        </p:nvPicPr>
        <p:blipFill>
          <a:blip r:embed="rId2"/>
          <a:stretch>
            <a:fillRect/>
          </a:stretch>
        </p:blipFill>
        <p:spPr>
          <a:xfrm>
            <a:off x="3323303" y="3046398"/>
            <a:ext cx="5545394" cy="3362632"/>
          </a:xfrm>
          <a:prstGeom prst="rect">
            <a:avLst/>
          </a:prstGeom>
        </p:spPr>
      </p:pic>
    </p:spTree>
    <p:extLst>
      <p:ext uri="{BB962C8B-B14F-4D97-AF65-F5344CB8AC3E}">
        <p14:creationId xmlns:p14="http://schemas.microsoft.com/office/powerpoint/2010/main" val="34891715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Task(3/11)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 Job Resource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For example, Jobs are useful for ad hoc tasks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where it’s crucial that the task finishes properly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You could run the task in an unmanaged pod and wait for it to finish, but in the event of a node failing or the pod being evicted from the node while it is performing its task, you’d need to manually recreate it. Doing this manually doesn’t make sense—especially if the job takes hours to complete.</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 example of such a job would be if you had data stored somewhere and you needed to transform and export it somewhere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You’re going to emulate this by running a container image built on top of the “</a:t>
            </a:r>
            <a:r>
              <a:rPr kumimoji="0" lang="en-US" altLang="ko-KR"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busybox</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which invokes the “sleep” command for two minutes.</a:t>
            </a:r>
          </a:p>
          <a:p>
            <a:pPr lvl="1">
              <a:buFont typeface="Wingdings" panose="05000000000000000000" pitchFamily="2" charset="2"/>
              <a:buChar char="§"/>
            </a:pPr>
            <a:r>
              <a:rPr lang="en-US" altLang="ko-KR" sz="1400" b="1" dirty="0"/>
              <a:t>Create the </a:t>
            </a:r>
            <a:r>
              <a:rPr lang="en-US" altLang="ko-KR" sz="1400" b="1" dirty="0">
                <a:solidFill>
                  <a:srgbClr val="FF0000"/>
                </a:solidFill>
              </a:rPr>
              <a:t>Job manifest</a:t>
            </a:r>
            <a:r>
              <a:rPr lang="en-US" altLang="ko-KR" sz="1400" b="1" dirty="0"/>
              <a:t> </a:t>
            </a:r>
            <a:r>
              <a:rPr lang="en-US" altLang="ko-KR" sz="1400" dirty="0"/>
              <a:t>as in the following listing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Jobs are part of the “</a:t>
            </a:r>
            <a:r>
              <a:rPr lang="en-US" altLang="ko-KR" sz="1400" b="1" dirty="0">
                <a:solidFill>
                  <a:srgbClr val="FF0000"/>
                </a:solidFill>
              </a:rPr>
              <a:t>batch</a:t>
            </a:r>
            <a:r>
              <a:rPr lang="en-US" altLang="ko-KR" sz="1400" b="1" dirty="0"/>
              <a:t>” API group and v1 API version</a:t>
            </a:r>
            <a:r>
              <a:rPr lang="en-US" altLang="ko-KR" sz="1400" dirty="0"/>
              <a:t>. The YAML defines </a:t>
            </a:r>
            <a:r>
              <a:rPr lang="en-US" altLang="ko-KR" sz="1400" b="1" dirty="0"/>
              <a:t>a resource of type “Job” </a:t>
            </a:r>
            <a:r>
              <a:rPr lang="en-US" altLang="ko-KR" sz="1400" dirty="0"/>
              <a:t>that will run the “</a:t>
            </a:r>
            <a:r>
              <a:rPr lang="en-US" altLang="ko-KR" sz="1400" b="1" dirty="0" err="1"/>
              <a:t>luksa</a:t>
            </a:r>
            <a:r>
              <a:rPr lang="en-US" altLang="ko-KR" sz="1400" b="1" dirty="0"/>
              <a:t>/batch-job</a:t>
            </a:r>
            <a:r>
              <a:rPr lang="en-US" altLang="ko-KR" sz="1400" dirty="0"/>
              <a:t>” image, which </a:t>
            </a:r>
            <a:r>
              <a:rPr lang="en-US" altLang="ko-KR" sz="1400" b="1" dirty="0"/>
              <a:t>invokes a process that runs for exactly 120 seconds and then exits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1AE759E-C878-FF7A-1138-57826BB68A07}"/>
              </a:ext>
            </a:extLst>
          </p:cNvPr>
          <p:cNvGrpSpPr/>
          <p:nvPr/>
        </p:nvGrpSpPr>
        <p:grpSpPr>
          <a:xfrm>
            <a:off x="3047343" y="2962855"/>
            <a:ext cx="6097314" cy="2246769"/>
            <a:chOff x="3047343" y="2962855"/>
            <a:chExt cx="6097314" cy="2246769"/>
          </a:xfrm>
        </p:grpSpPr>
        <p:sp>
          <p:nvSpPr>
            <p:cNvPr id="8" name="TextBox 7">
              <a:extLst>
                <a:ext uri="{FF2B5EF4-FFF2-40B4-BE49-F238E27FC236}">
                  <a16:creationId xmlns:a16="http://schemas.microsoft.com/office/drawing/2014/main" id="{B3668E4D-F9A0-A5C1-7DB9-6EFD5907D2B2}"/>
                </a:ext>
              </a:extLst>
            </p:cNvPr>
            <p:cNvSpPr txBox="1"/>
            <p:nvPr/>
          </p:nvSpPr>
          <p:spPr>
            <a:xfrm>
              <a:off x="3047343" y="2962855"/>
              <a:ext cx="6097314" cy="224676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batch/v1</a:t>
              </a:r>
            </a:p>
            <a:p>
              <a:r>
                <a:rPr lang="en-US" altLang="ko-KR" sz="1000" b="1" dirty="0"/>
                <a:t>kind: </a:t>
              </a:r>
              <a:r>
                <a:rPr lang="en-US" altLang="ko-KR" sz="1000" b="1" dirty="0">
                  <a:solidFill>
                    <a:srgbClr val="FF0000"/>
                  </a:solidFill>
                </a:rPr>
                <a:t>Job</a:t>
              </a:r>
            </a:p>
            <a:p>
              <a:r>
                <a:rPr lang="en-US" altLang="ko-KR" sz="1000" b="1" dirty="0"/>
                <a:t>metadata:</a:t>
              </a:r>
            </a:p>
            <a:p>
              <a:r>
                <a:rPr lang="en-US" altLang="ko-KR" sz="1000" b="1" dirty="0"/>
                <a:t>  name: batch-job</a:t>
              </a:r>
            </a:p>
            <a:p>
              <a:r>
                <a:rPr lang="en-US" altLang="ko-KR" sz="1000" b="1" dirty="0"/>
                <a:t>spec:</a:t>
              </a:r>
            </a:p>
            <a:p>
              <a:r>
                <a:rPr lang="en-US" altLang="ko-KR" sz="1000" b="1" dirty="0"/>
                <a:t>  template:</a:t>
              </a:r>
            </a:p>
            <a:p>
              <a:r>
                <a:rPr lang="en-US" altLang="ko-KR" sz="1000" b="1" dirty="0"/>
                <a:t>    metadata:</a:t>
              </a:r>
            </a:p>
            <a:p>
              <a:r>
                <a:rPr lang="en-US" altLang="ko-KR" sz="1000" b="1" dirty="0"/>
                <a:t>      labels:</a:t>
              </a:r>
            </a:p>
            <a:p>
              <a:r>
                <a:rPr lang="en-US" altLang="ko-KR" sz="1000" b="1" dirty="0"/>
                <a:t>        app: batch-job</a:t>
              </a:r>
            </a:p>
            <a:p>
              <a:r>
                <a:rPr lang="en-US" altLang="ko-KR" sz="1000" b="1" dirty="0"/>
                <a:t>    spec:</a:t>
              </a:r>
            </a:p>
            <a:p>
              <a:r>
                <a:rPr lang="en-US" altLang="ko-KR" sz="1000" b="1" dirty="0"/>
                <a:t>      </a:t>
              </a:r>
              <a:r>
                <a:rPr lang="en-US" altLang="ko-KR" sz="1000" b="1" dirty="0" err="1">
                  <a:solidFill>
                    <a:srgbClr val="FF0000"/>
                  </a:solidFill>
                </a:rPr>
                <a:t>restartPolicy</a:t>
              </a:r>
              <a:r>
                <a:rPr lang="en-US" altLang="ko-KR" sz="1000" b="1" dirty="0">
                  <a:solidFill>
                    <a:srgbClr val="FF0000"/>
                  </a:solidFill>
                </a:rPr>
                <a:t>: </a:t>
              </a:r>
              <a:r>
                <a:rPr lang="en-US" altLang="ko-KR" sz="1000" b="1" dirty="0" err="1">
                  <a:solidFill>
                    <a:srgbClr val="FF0000"/>
                  </a:solidFill>
                </a:rPr>
                <a:t>OnFailure</a:t>
              </a:r>
              <a:endParaRPr lang="en-US" altLang="ko-KR" sz="1000" b="1" dirty="0">
                <a:solidFill>
                  <a:srgbClr val="FF0000"/>
                </a:solidFill>
              </a:endParaRPr>
            </a:p>
            <a:p>
              <a:r>
                <a:rPr lang="en-US" altLang="ko-KR" sz="1000" b="1" dirty="0"/>
                <a:t>      containers:</a:t>
              </a:r>
            </a:p>
            <a:p>
              <a:r>
                <a:rPr lang="en-US" altLang="ko-KR" sz="1000" b="1" dirty="0"/>
                <a:t>      - name: main</a:t>
              </a:r>
            </a:p>
            <a:p>
              <a:r>
                <a:rPr lang="en-US" altLang="ko-KR" sz="1000" b="1" dirty="0"/>
                <a:t>        image: </a:t>
              </a:r>
              <a:r>
                <a:rPr lang="en-US" altLang="ko-KR" sz="1000" b="1" dirty="0" err="1">
                  <a:solidFill>
                    <a:srgbClr val="FF0000"/>
                  </a:solidFill>
                </a:rPr>
                <a:t>luksa</a:t>
              </a:r>
              <a:r>
                <a:rPr lang="en-US" altLang="ko-KR" sz="1000" b="1" dirty="0">
                  <a:solidFill>
                    <a:srgbClr val="FF0000"/>
                  </a:solidFill>
                </a:rPr>
                <a:t>/batch-job</a:t>
              </a:r>
            </a:p>
          </p:txBody>
        </p:sp>
        <p:sp>
          <p:nvSpPr>
            <p:cNvPr id="9" name="TextBox 8">
              <a:extLst>
                <a:ext uri="{FF2B5EF4-FFF2-40B4-BE49-F238E27FC236}">
                  <a16:creationId xmlns:a16="http://schemas.microsoft.com/office/drawing/2014/main" id="{7C9947C6-F428-A294-9AAF-8CED6FB9CE5E}"/>
                </a:ext>
              </a:extLst>
            </p:cNvPr>
            <p:cNvSpPr txBox="1"/>
            <p:nvPr/>
          </p:nvSpPr>
          <p:spPr>
            <a:xfrm>
              <a:off x="7866743" y="2962855"/>
              <a:ext cx="1277914" cy="246221"/>
            </a:xfrm>
            <a:prstGeom prst="rect">
              <a:avLst/>
            </a:prstGeom>
            <a:noFill/>
          </p:spPr>
          <p:txBody>
            <a:bodyPr wrap="none" rtlCol="0">
              <a:spAutoFit/>
            </a:bodyPr>
            <a:lstStyle/>
            <a:p>
              <a:pPr algn="l"/>
              <a:r>
                <a:rPr lang="en-US" altLang="ko-KR" sz="1000" b="1" dirty="0"/>
                <a:t>job-</a:t>
              </a:r>
              <a:r>
                <a:rPr lang="en-US" altLang="ko-KR" sz="1000" b="1" dirty="0" err="1"/>
                <a:t>exporter.yaml</a:t>
              </a:r>
              <a:endParaRPr lang="ko-KR" altLang="en-US" sz="1000" b="1" dirty="0"/>
            </a:p>
          </p:txBody>
        </p:sp>
      </p:grpSp>
    </p:spTree>
    <p:extLst>
      <p:ext uri="{BB962C8B-B14F-4D97-AF65-F5344CB8AC3E}">
        <p14:creationId xmlns:p14="http://schemas.microsoft.com/office/powerpoint/2010/main" val="34281593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Task(4/11)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 Job Resource :</a:t>
            </a:r>
          </a:p>
          <a:p>
            <a:pPr lvl="1">
              <a:buFont typeface="Wingdings" panose="05000000000000000000" pitchFamily="2" charset="2"/>
              <a:buChar char="§"/>
            </a:pPr>
            <a:r>
              <a:rPr lang="en-US" altLang="ko-KR" sz="1400" dirty="0"/>
              <a:t>In a pod’s specification, </a:t>
            </a:r>
            <a:r>
              <a:rPr lang="en-US" altLang="ko-KR" sz="1400" b="1" dirty="0"/>
              <a:t>you can specify what Kubernetes should do when the processes running in the container finish</a:t>
            </a:r>
            <a:r>
              <a:rPr lang="en-US" altLang="ko-KR" sz="1400" dirty="0"/>
              <a:t>. This is done through the “</a:t>
            </a:r>
            <a:r>
              <a:rPr lang="en-US" altLang="ko-KR" sz="1400" b="1" dirty="0" err="1">
                <a:solidFill>
                  <a:srgbClr val="FF0000"/>
                </a:solidFill>
              </a:rPr>
              <a:t>restartPolicy</a:t>
            </a:r>
            <a:r>
              <a:rPr lang="en-US" altLang="ko-KR" sz="1400" b="1" dirty="0"/>
              <a:t>”</a:t>
            </a:r>
            <a:r>
              <a:rPr lang="en-US" altLang="ko-KR" sz="1400" dirty="0"/>
              <a:t> pod spec property, </a:t>
            </a:r>
            <a:r>
              <a:rPr lang="en-US" altLang="ko-KR" sz="1400" b="1" dirty="0"/>
              <a:t>which defaults to “Always”</a:t>
            </a:r>
            <a:r>
              <a:rPr lang="en-US" altLang="ko-KR" sz="1400" dirty="0"/>
              <a:t>. </a:t>
            </a:r>
            <a:r>
              <a:rPr lang="en-US" altLang="ko-KR" sz="1400" b="1" dirty="0"/>
              <a:t>Job pods can’t use the default policy, because they’re not meant to run indefinitely</a:t>
            </a:r>
            <a:r>
              <a:rPr lang="en-US" altLang="ko-KR" sz="1400" dirty="0"/>
              <a:t>. Therefore, </a:t>
            </a:r>
            <a:r>
              <a:rPr lang="en-US" altLang="ko-KR" sz="1400" b="1" dirty="0"/>
              <a:t>you need to explicitly set the restart policy to either “</a:t>
            </a:r>
            <a:r>
              <a:rPr lang="en-US" altLang="ko-KR" sz="1400" b="1" dirty="0" err="1">
                <a:solidFill>
                  <a:srgbClr val="FF0000"/>
                </a:solidFill>
              </a:rPr>
              <a:t>OnFailure</a:t>
            </a:r>
            <a:r>
              <a:rPr lang="en-US" altLang="ko-KR" sz="1400" b="1" dirty="0"/>
              <a:t>” or “</a:t>
            </a:r>
            <a:r>
              <a:rPr lang="en-US" altLang="ko-KR" sz="1400" b="1" dirty="0">
                <a:solidFill>
                  <a:srgbClr val="FF0000"/>
                </a:solidFill>
              </a:rPr>
              <a:t>Never</a:t>
            </a:r>
            <a:r>
              <a:rPr lang="en-US" altLang="ko-KR" sz="1400" b="1" dirty="0"/>
              <a:t>”</a:t>
            </a:r>
            <a:r>
              <a:rPr lang="en-US" altLang="ko-KR" sz="1400" dirty="0"/>
              <a:t>. </a:t>
            </a:r>
            <a:r>
              <a:rPr lang="en-US" altLang="ko-KR" sz="1400" b="1" dirty="0"/>
              <a:t>This setting is what prevents the container from being restarted when it finishes </a:t>
            </a:r>
            <a:r>
              <a:rPr lang="en-US" altLang="ko-KR" sz="1400" dirty="0"/>
              <a:t>(</a:t>
            </a:r>
            <a:r>
              <a:rPr lang="en-US" altLang="ko-KR" sz="1400" b="1" dirty="0"/>
              <a:t>not the fact that the pod is being managed by a Job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B11A946-9FC2-3F02-7EC2-0B7DD03BDA30}"/>
              </a:ext>
            </a:extLst>
          </p:cNvPr>
          <p:cNvPicPr>
            <a:picLocks noChangeAspect="1"/>
          </p:cNvPicPr>
          <p:nvPr/>
        </p:nvPicPr>
        <p:blipFill>
          <a:blip r:embed="rId2"/>
          <a:stretch>
            <a:fillRect/>
          </a:stretch>
        </p:blipFill>
        <p:spPr>
          <a:xfrm>
            <a:off x="2181225" y="2501105"/>
            <a:ext cx="7829550" cy="2181225"/>
          </a:xfrm>
          <a:prstGeom prst="rect">
            <a:avLst/>
          </a:prstGeom>
        </p:spPr>
      </p:pic>
    </p:spTree>
    <p:extLst>
      <p:ext uri="{BB962C8B-B14F-4D97-AF65-F5344CB8AC3E}">
        <p14:creationId xmlns:p14="http://schemas.microsoft.com/office/powerpoint/2010/main" val="26416777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Task(5/11)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a Job Run a Pod :</a:t>
            </a:r>
          </a:p>
          <a:p>
            <a:pPr lvl="1">
              <a:buFont typeface="Wingdings" panose="05000000000000000000" pitchFamily="2" charset="2"/>
              <a:buChar char="§"/>
            </a:pPr>
            <a:r>
              <a:rPr lang="en-US" altLang="ko-KR" sz="1400" dirty="0"/>
              <a:t>After you </a:t>
            </a:r>
            <a:r>
              <a:rPr lang="en-US" altLang="ko-KR" sz="1400" b="1" dirty="0"/>
              <a:t>create the Job with the “</a:t>
            </a:r>
            <a:r>
              <a:rPr lang="en-US" altLang="ko-KR" sz="1400" b="1" dirty="0" err="1"/>
              <a:t>kubectl</a:t>
            </a:r>
            <a:r>
              <a:rPr lang="en-US" altLang="ko-KR" sz="1400" b="1" dirty="0"/>
              <a:t> create” command</a:t>
            </a:r>
            <a:r>
              <a:rPr lang="en-US" altLang="ko-KR" sz="1400" dirty="0"/>
              <a:t>, you should see it start up a pod immediately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F0E0DA4-FD81-8405-3606-D9E46A2AF8C6}"/>
              </a:ext>
            </a:extLst>
          </p:cNvPr>
          <p:cNvGrpSpPr/>
          <p:nvPr/>
        </p:nvGrpSpPr>
        <p:grpSpPr>
          <a:xfrm>
            <a:off x="1563742" y="2059454"/>
            <a:ext cx="9064516" cy="2739092"/>
            <a:chOff x="1563742" y="1545049"/>
            <a:chExt cx="9064516" cy="2739092"/>
          </a:xfrm>
        </p:grpSpPr>
        <p:sp>
          <p:nvSpPr>
            <p:cNvPr id="8" name="TextBox 7">
              <a:extLst>
                <a:ext uri="{FF2B5EF4-FFF2-40B4-BE49-F238E27FC236}">
                  <a16:creationId xmlns:a16="http://schemas.microsoft.com/office/drawing/2014/main" id="{26F13AD9-77F1-58CA-04D2-785B42757842}"/>
                </a:ext>
              </a:extLst>
            </p:cNvPr>
            <p:cNvSpPr txBox="1"/>
            <p:nvPr/>
          </p:nvSpPr>
          <p:spPr>
            <a:xfrm>
              <a:off x="3047343" y="1545049"/>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job-</a:t>
              </a:r>
              <a:r>
                <a:rPr lang="en-US" altLang="ko-KR" sz="1000" b="1" dirty="0" err="1">
                  <a:solidFill>
                    <a:srgbClr val="FF0000"/>
                  </a:solidFill>
                </a:rPr>
                <a:t>exporter.yaml</a:t>
              </a:r>
              <a:r>
                <a:rPr lang="en-US" altLang="ko-KR" sz="1000" b="1" dirty="0">
                  <a:solidFill>
                    <a:srgbClr val="FF0000"/>
                  </a:solidFill>
                </a:rPr>
                <a:t> </a:t>
              </a:r>
            </a:p>
            <a:p>
              <a:r>
                <a:rPr lang="en-US" altLang="ko-KR" sz="1000" b="1" dirty="0"/>
                <a:t>$ </a:t>
              </a:r>
              <a:r>
                <a:rPr lang="en-US" altLang="ko-KR" sz="1000" b="1" dirty="0" err="1"/>
                <a:t>kubectl</a:t>
              </a:r>
              <a:r>
                <a:rPr lang="en-US" altLang="ko-KR" sz="1000" b="1" dirty="0"/>
                <a:t> get </a:t>
              </a:r>
              <a:r>
                <a:rPr lang="en-US" altLang="ko-KR" sz="1000" b="1" dirty="0">
                  <a:solidFill>
                    <a:srgbClr val="FF0000"/>
                  </a:solidFill>
                </a:rPr>
                <a:t>jobs</a:t>
              </a:r>
            </a:p>
            <a:p>
              <a:r>
                <a:rPr lang="en-US" altLang="ko-KR" sz="1000" b="1" dirty="0"/>
                <a:t>$ </a:t>
              </a:r>
              <a:r>
                <a:rPr lang="en-US" altLang="ko-KR" sz="1000" b="1" dirty="0" err="1"/>
                <a:t>kubectl</a:t>
              </a:r>
              <a:r>
                <a:rPr lang="en-US" altLang="ko-KR" sz="1000" b="1" dirty="0"/>
                <a:t> get pods</a:t>
              </a:r>
            </a:p>
          </p:txBody>
        </p:sp>
        <p:pic>
          <p:nvPicPr>
            <p:cNvPr id="10" name="그림 9">
              <a:extLst>
                <a:ext uri="{FF2B5EF4-FFF2-40B4-BE49-F238E27FC236}">
                  <a16:creationId xmlns:a16="http://schemas.microsoft.com/office/drawing/2014/main" id="{5EAC0118-9A58-A433-BA8E-EEE704343F5F}"/>
                </a:ext>
              </a:extLst>
            </p:cNvPr>
            <p:cNvPicPr>
              <a:picLocks noChangeAspect="1"/>
            </p:cNvPicPr>
            <p:nvPr/>
          </p:nvPicPr>
          <p:blipFill>
            <a:blip r:embed="rId2"/>
            <a:stretch>
              <a:fillRect/>
            </a:stretch>
          </p:blipFill>
          <p:spPr>
            <a:xfrm>
              <a:off x="1563742" y="2380593"/>
              <a:ext cx="9064516" cy="1903548"/>
            </a:xfrm>
            <a:prstGeom prst="rect">
              <a:avLst/>
            </a:prstGeom>
          </p:spPr>
        </p:pic>
        <p:sp>
          <p:nvSpPr>
            <p:cNvPr id="11" name="화살표: 아래쪽 10">
              <a:extLst>
                <a:ext uri="{FF2B5EF4-FFF2-40B4-BE49-F238E27FC236}">
                  <a16:creationId xmlns:a16="http://schemas.microsoft.com/office/drawing/2014/main" id="{A4D3F42D-7932-60D3-E0F0-95B997C2F427}"/>
                </a:ext>
              </a:extLst>
            </p:cNvPr>
            <p:cNvSpPr/>
            <p:nvPr/>
          </p:nvSpPr>
          <p:spPr>
            <a:xfrm>
              <a:off x="5887107" y="2099047"/>
              <a:ext cx="417786" cy="2815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AE8BE5D8-DDB1-E893-D2A6-75A91F751029}"/>
                </a:ext>
              </a:extLst>
            </p:cNvPr>
            <p:cNvSpPr/>
            <p:nvPr/>
          </p:nvSpPr>
          <p:spPr>
            <a:xfrm>
              <a:off x="5746530" y="2824415"/>
              <a:ext cx="2420007" cy="1888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203CFE6-3D88-A01F-2B52-369236D83095}"/>
                </a:ext>
              </a:extLst>
            </p:cNvPr>
            <p:cNvSpPr/>
            <p:nvPr/>
          </p:nvSpPr>
          <p:spPr>
            <a:xfrm>
              <a:off x="5754414" y="3114379"/>
              <a:ext cx="1150883" cy="1806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4812915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Task(6/11)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a Job Run a Pod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After the two minutes have passed,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pod will no longer show up in the pod list and the Job will be marked as completed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lang="en-US" altLang="ko-KR" sz="1400" dirty="0">
                <a:solidFill>
                  <a:prstClr val="black"/>
                </a:solidFill>
                <a:latin typeface="맑은 고딕" panose="020F0502020204030204"/>
                <a:ea typeface="맑은 고딕" panose="020B0503020000020004" pitchFamily="50" charset="-127"/>
              </a:rPr>
              <a:t> To see the log of the job, you can use “</a:t>
            </a:r>
            <a:r>
              <a:rPr lang="en-US" altLang="ko-KR" sz="1400" b="1" dirty="0" err="1">
                <a:solidFill>
                  <a:prstClr val="black"/>
                </a:solidFill>
                <a:latin typeface="맑은 고딕" panose="020F0502020204030204"/>
                <a:ea typeface="맑은 고딕" panose="020B0503020000020004" pitchFamily="50" charset="-127"/>
              </a:rPr>
              <a:t>kubectl</a:t>
            </a:r>
            <a:r>
              <a:rPr lang="en-US" altLang="ko-KR" sz="1400" b="1" dirty="0">
                <a:solidFill>
                  <a:prstClr val="black"/>
                </a:solidFill>
                <a:latin typeface="맑은 고딕" panose="020F0502020204030204"/>
                <a:ea typeface="맑은 고딕" panose="020B0503020000020004" pitchFamily="50" charset="-127"/>
              </a:rPr>
              <a:t> logs</a:t>
            </a:r>
            <a:r>
              <a:rPr lang="en-US" altLang="ko-KR" sz="1400" dirty="0">
                <a:solidFill>
                  <a:prstClr val="black"/>
                </a:solidFill>
                <a:latin typeface="맑은 고딕" panose="020F0502020204030204"/>
                <a:ea typeface="맑은 고딕" panose="020B0503020000020004" pitchFamily="50" charset="-127"/>
              </a:rPr>
              <a:t>” command.</a:t>
            </a:r>
            <a:endPar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048936D5-6A8E-9765-402E-099F7352677E}"/>
              </a:ext>
            </a:extLst>
          </p:cNvPr>
          <p:cNvGrpSpPr/>
          <p:nvPr/>
        </p:nvGrpSpPr>
        <p:grpSpPr>
          <a:xfrm>
            <a:off x="1528270" y="2243793"/>
            <a:ext cx="9135460" cy="2370413"/>
            <a:chOff x="1528270" y="1876125"/>
            <a:chExt cx="9135460" cy="2370413"/>
          </a:xfrm>
        </p:grpSpPr>
        <p:grpSp>
          <p:nvGrpSpPr>
            <p:cNvPr id="14" name="그룹 13">
              <a:extLst>
                <a:ext uri="{FF2B5EF4-FFF2-40B4-BE49-F238E27FC236}">
                  <a16:creationId xmlns:a16="http://schemas.microsoft.com/office/drawing/2014/main" id="{73D466B4-B87B-A8F2-7298-68BDE5A7F5FE}"/>
                </a:ext>
              </a:extLst>
            </p:cNvPr>
            <p:cNvGrpSpPr/>
            <p:nvPr/>
          </p:nvGrpSpPr>
          <p:grpSpPr>
            <a:xfrm>
              <a:off x="1528270" y="1876125"/>
              <a:ext cx="9135460" cy="2370413"/>
              <a:chOff x="1528270" y="1876125"/>
              <a:chExt cx="9135460" cy="2370413"/>
            </a:xfrm>
          </p:grpSpPr>
          <p:grpSp>
            <p:nvGrpSpPr>
              <p:cNvPr id="12" name="그룹 11">
                <a:extLst>
                  <a:ext uri="{FF2B5EF4-FFF2-40B4-BE49-F238E27FC236}">
                    <a16:creationId xmlns:a16="http://schemas.microsoft.com/office/drawing/2014/main" id="{3996A8DA-43E4-0392-82B2-D461F280D671}"/>
                  </a:ext>
                </a:extLst>
              </p:cNvPr>
              <p:cNvGrpSpPr/>
              <p:nvPr/>
            </p:nvGrpSpPr>
            <p:grpSpPr>
              <a:xfrm>
                <a:off x="1528270" y="1876125"/>
                <a:ext cx="9135460" cy="2370413"/>
                <a:chOff x="1528270" y="1876125"/>
                <a:chExt cx="9135460" cy="2370413"/>
              </a:xfrm>
            </p:grpSpPr>
            <p:sp>
              <p:nvSpPr>
                <p:cNvPr id="8" name="TextBox 7">
                  <a:extLst>
                    <a:ext uri="{FF2B5EF4-FFF2-40B4-BE49-F238E27FC236}">
                      <a16:creationId xmlns:a16="http://schemas.microsoft.com/office/drawing/2014/main" id="{C7B406B5-EF68-D833-1D39-D64DF7ED9E31}"/>
                    </a:ext>
                  </a:extLst>
                </p:cNvPr>
                <p:cNvSpPr txBox="1"/>
                <p:nvPr/>
              </p:nvSpPr>
              <p:spPr>
                <a:xfrm>
                  <a:off x="3047343" y="1876125"/>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logs </a:t>
                  </a:r>
                  <a:r>
                    <a:rPr lang="en-US" altLang="ko-KR" sz="1000" b="1" dirty="0">
                      <a:solidFill>
                        <a:srgbClr val="FF0000"/>
                      </a:solidFill>
                    </a:rPr>
                    <a:t>batch-job-</a:t>
                  </a:r>
                  <a:r>
                    <a:rPr lang="en-US" altLang="ko-KR" sz="1000" b="1" dirty="0" err="1">
                      <a:solidFill>
                        <a:srgbClr val="FF0000"/>
                      </a:solidFill>
                    </a:rPr>
                    <a:t>xxxxx</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CC7AAC2C-99B2-1225-2AED-9ECC52D7A785}"/>
                    </a:ext>
                  </a:extLst>
                </p:cNvPr>
                <p:cNvSpPr/>
                <p:nvPr/>
              </p:nvSpPr>
              <p:spPr>
                <a:xfrm>
                  <a:off x="5891048" y="2276235"/>
                  <a:ext cx="409904" cy="2856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3F41C05-9F19-FD01-DED2-406E16306FEE}"/>
                    </a:ext>
                  </a:extLst>
                </p:cNvPr>
                <p:cNvPicPr>
                  <a:picLocks noChangeAspect="1"/>
                </p:cNvPicPr>
                <p:nvPr/>
              </p:nvPicPr>
              <p:blipFill>
                <a:blip r:embed="rId2"/>
                <a:stretch>
                  <a:fillRect/>
                </a:stretch>
              </p:blipFill>
              <p:spPr>
                <a:xfrm>
                  <a:off x="1528270" y="2585545"/>
                  <a:ext cx="9135460" cy="1660993"/>
                </a:xfrm>
                <a:prstGeom prst="rect">
                  <a:avLst/>
                </a:prstGeom>
              </p:spPr>
            </p:pic>
          </p:grpSp>
          <p:sp>
            <p:nvSpPr>
              <p:cNvPr id="13" name="직사각형 12">
                <a:extLst>
                  <a:ext uri="{FF2B5EF4-FFF2-40B4-BE49-F238E27FC236}">
                    <a16:creationId xmlns:a16="http://schemas.microsoft.com/office/drawing/2014/main" id="{85275161-E4FC-C300-BD02-3DD3E72C2540}"/>
                  </a:ext>
                </a:extLst>
              </p:cNvPr>
              <p:cNvSpPr/>
              <p:nvPr/>
            </p:nvSpPr>
            <p:spPr>
              <a:xfrm>
                <a:off x="5754414" y="3444765"/>
                <a:ext cx="2010103" cy="212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1FD83CB3-1366-0D01-C41B-8233CABC3443}"/>
                </a:ext>
              </a:extLst>
            </p:cNvPr>
            <p:cNvSpPr/>
            <p:nvPr/>
          </p:nvSpPr>
          <p:spPr>
            <a:xfrm>
              <a:off x="3326524" y="3310758"/>
              <a:ext cx="725213" cy="212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027309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Task(7/11)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Multiple Pod Instances in a Job :</a:t>
            </a:r>
          </a:p>
          <a:p>
            <a:pPr lvl="1">
              <a:buFont typeface="Wingdings" panose="05000000000000000000" pitchFamily="2" charset="2"/>
              <a:buChar char="§"/>
            </a:pPr>
            <a:r>
              <a:rPr lang="en-US" altLang="ko-KR" sz="1400" b="1" dirty="0"/>
              <a:t>Jobs may be configured to create more than one pod instance and run them in parallel or sequentially</a:t>
            </a:r>
            <a:r>
              <a:rPr lang="en-US" altLang="ko-KR" sz="1400" dirty="0"/>
              <a:t>. </a:t>
            </a:r>
            <a:r>
              <a:rPr lang="en-US" altLang="ko-KR" sz="1400" b="1" dirty="0"/>
              <a:t>This is done by setting the “</a:t>
            </a:r>
            <a:r>
              <a:rPr lang="en-US" altLang="ko-KR" sz="1400" b="1" dirty="0">
                <a:solidFill>
                  <a:srgbClr val="FF0000"/>
                </a:solidFill>
              </a:rPr>
              <a:t>completions</a:t>
            </a:r>
            <a:r>
              <a:rPr lang="en-US" altLang="ko-KR" sz="1400" b="1" dirty="0"/>
              <a:t>” and the “</a:t>
            </a:r>
            <a:r>
              <a:rPr lang="en-US" altLang="ko-KR" sz="1400" b="1" dirty="0">
                <a:solidFill>
                  <a:srgbClr val="FF0000"/>
                </a:solidFill>
              </a:rPr>
              <a:t>parallelism</a:t>
            </a:r>
            <a:r>
              <a:rPr lang="en-US" altLang="ko-KR" sz="1400" b="1" dirty="0"/>
              <a:t>” properties in the Job spec</a:t>
            </a:r>
            <a:r>
              <a:rPr lang="en-US" altLang="ko-KR" sz="1400" dirty="0"/>
              <a:t>.</a:t>
            </a:r>
          </a:p>
          <a:p>
            <a:pPr lvl="1">
              <a:buFont typeface="Wingdings" panose="05000000000000000000" pitchFamily="2" charset="2"/>
              <a:buChar char="§"/>
            </a:pPr>
            <a:r>
              <a:rPr lang="en-US" altLang="ko-KR" sz="1400" b="1" dirty="0"/>
              <a:t>If you need a Job to run more than once, you </a:t>
            </a:r>
            <a:r>
              <a:rPr lang="en-US" altLang="ko-KR" sz="1400" b="1" dirty="0">
                <a:solidFill>
                  <a:srgbClr val="FF0000"/>
                </a:solidFill>
              </a:rPr>
              <a:t>set completions to how many times you want the Job’s pod to run sequentially</a:t>
            </a:r>
            <a:r>
              <a:rPr lang="en-US" altLang="ko-KR" sz="1400" dirty="0"/>
              <a:t>. The following listing shows an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3432932-481E-B5D3-FADE-9AE0BE9DF7F8}"/>
              </a:ext>
            </a:extLst>
          </p:cNvPr>
          <p:cNvGrpSpPr/>
          <p:nvPr/>
        </p:nvGrpSpPr>
        <p:grpSpPr>
          <a:xfrm>
            <a:off x="1709573" y="2165675"/>
            <a:ext cx="8772854" cy="3964604"/>
            <a:chOff x="1709573" y="2065687"/>
            <a:chExt cx="8772854" cy="3964604"/>
          </a:xfrm>
        </p:grpSpPr>
        <p:pic>
          <p:nvPicPr>
            <p:cNvPr id="8" name="그림 7">
              <a:extLst>
                <a:ext uri="{FF2B5EF4-FFF2-40B4-BE49-F238E27FC236}">
                  <a16:creationId xmlns:a16="http://schemas.microsoft.com/office/drawing/2014/main" id="{679CAD2F-3E2D-530C-6606-8728BEE03A4B}"/>
                </a:ext>
              </a:extLst>
            </p:cNvPr>
            <p:cNvPicPr>
              <a:picLocks noChangeAspect="1"/>
            </p:cNvPicPr>
            <p:nvPr/>
          </p:nvPicPr>
          <p:blipFill>
            <a:blip r:embed="rId2"/>
            <a:stretch>
              <a:fillRect/>
            </a:stretch>
          </p:blipFill>
          <p:spPr>
            <a:xfrm>
              <a:off x="1709573" y="4514980"/>
              <a:ext cx="8772854" cy="1515311"/>
            </a:xfrm>
            <a:prstGeom prst="rect">
              <a:avLst/>
            </a:prstGeom>
          </p:spPr>
        </p:pic>
        <p:grpSp>
          <p:nvGrpSpPr>
            <p:cNvPr id="12" name="그룹 11">
              <a:extLst>
                <a:ext uri="{FF2B5EF4-FFF2-40B4-BE49-F238E27FC236}">
                  <a16:creationId xmlns:a16="http://schemas.microsoft.com/office/drawing/2014/main" id="{7796C3D4-9CA5-AF40-0878-CC083022A8DA}"/>
                </a:ext>
              </a:extLst>
            </p:cNvPr>
            <p:cNvGrpSpPr/>
            <p:nvPr/>
          </p:nvGrpSpPr>
          <p:grpSpPr>
            <a:xfrm>
              <a:off x="3047343" y="2065687"/>
              <a:ext cx="6097314" cy="2169825"/>
              <a:chOff x="3047343" y="2065687"/>
              <a:chExt cx="6097314" cy="2169825"/>
            </a:xfrm>
          </p:grpSpPr>
          <p:sp>
            <p:nvSpPr>
              <p:cNvPr id="10" name="TextBox 9">
                <a:extLst>
                  <a:ext uri="{FF2B5EF4-FFF2-40B4-BE49-F238E27FC236}">
                    <a16:creationId xmlns:a16="http://schemas.microsoft.com/office/drawing/2014/main" id="{B5390D90-D41E-5C5F-FF66-F95C2CFC4D7F}"/>
                  </a:ext>
                </a:extLst>
              </p:cNvPr>
              <p:cNvSpPr txBox="1"/>
              <p:nvPr/>
            </p:nvSpPr>
            <p:spPr>
              <a:xfrm>
                <a:off x="3047343" y="2065687"/>
                <a:ext cx="6097314" cy="2169825"/>
              </a:xfrm>
              <a:prstGeom prst="rect">
                <a:avLst/>
              </a:prstGeom>
              <a:noFill/>
              <a:ln>
                <a:solidFill>
                  <a:schemeClr val="bg1">
                    <a:lumMod val="50000"/>
                  </a:schemeClr>
                </a:solidFill>
              </a:ln>
            </p:spPr>
            <p:txBody>
              <a:bodyPr wrap="square">
                <a:spAutoFit/>
              </a:bodyPr>
              <a:lstStyle/>
              <a:p>
                <a:r>
                  <a:rPr lang="en-US" altLang="ko-KR" sz="900" b="1" dirty="0" err="1"/>
                  <a:t>apiVersion</a:t>
                </a:r>
                <a:r>
                  <a:rPr lang="en-US" altLang="ko-KR" sz="900" b="1" dirty="0"/>
                  <a:t>: batch/v1</a:t>
                </a:r>
              </a:p>
              <a:p>
                <a:r>
                  <a:rPr lang="en-US" altLang="ko-KR" sz="900" b="1" dirty="0"/>
                  <a:t>kind: </a:t>
                </a:r>
                <a:r>
                  <a:rPr lang="en-US" altLang="ko-KR" sz="900" b="1" dirty="0">
                    <a:solidFill>
                      <a:srgbClr val="FF0000"/>
                    </a:solidFill>
                  </a:rPr>
                  <a:t>Job</a:t>
                </a:r>
              </a:p>
              <a:p>
                <a:r>
                  <a:rPr lang="en-US" altLang="ko-KR" sz="900" b="1" dirty="0"/>
                  <a:t>metadata:</a:t>
                </a:r>
              </a:p>
              <a:p>
                <a:r>
                  <a:rPr lang="en-US" altLang="ko-KR" sz="900" b="1" dirty="0"/>
                  <a:t>  name: </a:t>
                </a:r>
                <a:r>
                  <a:rPr lang="en-US" altLang="ko-KR" sz="900" b="1" dirty="0">
                    <a:solidFill>
                      <a:srgbClr val="FF0000"/>
                    </a:solidFill>
                  </a:rPr>
                  <a:t>multi-completion-batch-job</a:t>
                </a:r>
              </a:p>
              <a:p>
                <a:r>
                  <a:rPr lang="en-US" altLang="ko-KR" sz="900" b="1" dirty="0"/>
                  <a:t>spec:</a:t>
                </a:r>
              </a:p>
              <a:p>
                <a:r>
                  <a:rPr lang="en-US" altLang="ko-KR" sz="900" b="1" dirty="0"/>
                  <a:t>  </a:t>
                </a:r>
                <a:r>
                  <a:rPr lang="en-US" altLang="ko-KR" sz="900" b="1" dirty="0">
                    <a:solidFill>
                      <a:srgbClr val="FF0000"/>
                    </a:solidFill>
                  </a:rPr>
                  <a:t>completions: 5</a:t>
                </a:r>
              </a:p>
              <a:p>
                <a:r>
                  <a:rPr lang="en-US" altLang="ko-KR" sz="900" b="1" dirty="0"/>
                  <a:t>  template:</a:t>
                </a:r>
              </a:p>
              <a:p>
                <a:r>
                  <a:rPr lang="en-US" altLang="ko-KR" sz="900" b="1" dirty="0"/>
                  <a:t>    metadata:</a:t>
                </a:r>
              </a:p>
              <a:p>
                <a:r>
                  <a:rPr lang="en-US" altLang="ko-KR" sz="900" b="1" dirty="0"/>
                  <a:t>      labels:</a:t>
                </a:r>
              </a:p>
              <a:p>
                <a:r>
                  <a:rPr lang="en-US" altLang="ko-KR" sz="900" b="1" dirty="0"/>
                  <a:t>        app: batch-job</a:t>
                </a:r>
              </a:p>
              <a:p>
                <a:r>
                  <a:rPr lang="en-US" altLang="ko-KR" sz="900" b="1" dirty="0"/>
                  <a:t>    spec:</a:t>
                </a:r>
              </a:p>
              <a:p>
                <a:r>
                  <a:rPr lang="en-US" altLang="ko-KR" sz="900" b="1" dirty="0"/>
                  <a:t>      </a:t>
                </a:r>
                <a:r>
                  <a:rPr lang="en-US" altLang="ko-KR" sz="900" b="1" dirty="0" err="1"/>
                  <a:t>restartPolicy</a:t>
                </a:r>
                <a:r>
                  <a:rPr lang="en-US" altLang="ko-KR" sz="900" b="1" dirty="0"/>
                  <a:t>: </a:t>
                </a:r>
                <a:r>
                  <a:rPr lang="en-US" altLang="ko-KR" sz="900" b="1" dirty="0" err="1"/>
                  <a:t>OnFailure</a:t>
                </a:r>
                <a:endParaRPr lang="en-US" altLang="ko-KR" sz="900" b="1" dirty="0"/>
              </a:p>
              <a:p>
                <a:r>
                  <a:rPr lang="en-US" altLang="ko-KR" sz="900" b="1" dirty="0"/>
                  <a:t>      containers:</a:t>
                </a:r>
              </a:p>
              <a:p>
                <a:r>
                  <a:rPr lang="en-US" altLang="ko-KR" sz="900" b="1" dirty="0"/>
                  <a:t>      - name: main</a:t>
                </a:r>
              </a:p>
              <a:p>
                <a:r>
                  <a:rPr lang="en-US" altLang="ko-KR" sz="900" b="1" dirty="0"/>
                  <a:t>        image: </a:t>
                </a:r>
                <a:r>
                  <a:rPr lang="en-US" altLang="ko-KR" sz="900" b="1" dirty="0" err="1"/>
                  <a:t>luksa</a:t>
                </a:r>
                <a:r>
                  <a:rPr lang="en-US" altLang="ko-KR" sz="900" b="1" dirty="0"/>
                  <a:t>/batch-job</a:t>
                </a:r>
                <a:endParaRPr lang="ko-KR" altLang="en-US" sz="900" b="1" dirty="0"/>
              </a:p>
            </p:txBody>
          </p:sp>
          <p:sp>
            <p:nvSpPr>
              <p:cNvPr id="11" name="TextBox 10">
                <a:extLst>
                  <a:ext uri="{FF2B5EF4-FFF2-40B4-BE49-F238E27FC236}">
                    <a16:creationId xmlns:a16="http://schemas.microsoft.com/office/drawing/2014/main" id="{020787AA-F0A4-5307-5D74-EDAC321DA75E}"/>
                  </a:ext>
                </a:extLst>
              </p:cNvPr>
              <p:cNvSpPr txBox="1"/>
              <p:nvPr/>
            </p:nvSpPr>
            <p:spPr>
              <a:xfrm>
                <a:off x="6930531" y="2067242"/>
                <a:ext cx="2212465" cy="246221"/>
              </a:xfrm>
              <a:prstGeom prst="rect">
                <a:avLst/>
              </a:prstGeom>
              <a:noFill/>
            </p:spPr>
            <p:txBody>
              <a:bodyPr wrap="none" rtlCol="0">
                <a:spAutoFit/>
              </a:bodyPr>
              <a:lstStyle/>
              <a:p>
                <a:pPr algn="l"/>
                <a:r>
                  <a:rPr lang="en-US" altLang="ko-KR" sz="1000" b="1" dirty="0"/>
                  <a:t>multi-completion-batch-</a:t>
                </a:r>
                <a:r>
                  <a:rPr lang="en-US" altLang="ko-KR" sz="1000" b="1" dirty="0" err="1"/>
                  <a:t>job.yaml</a:t>
                </a:r>
                <a:endParaRPr lang="ko-KR" altLang="en-US" sz="1000" b="1" dirty="0"/>
              </a:p>
            </p:txBody>
          </p:sp>
        </p:grpSp>
        <p:sp>
          <p:nvSpPr>
            <p:cNvPr id="13" name="화살표: 아래쪽 12">
              <a:extLst>
                <a:ext uri="{FF2B5EF4-FFF2-40B4-BE49-F238E27FC236}">
                  <a16:creationId xmlns:a16="http://schemas.microsoft.com/office/drawing/2014/main" id="{9E918F76-64FB-DCAD-86B4-C53CD53883F9}"/>
                </a:ext>
              </a:extLst>
            </p:cNvPr>
            <p:cNvSpPr/>
            <p:nvPr/>
          </p:nvSpPr>
          <p:spPr>
            <a:xfrm>
              <a:off x="5887107" y="4246416"/>
              <a:ext cx="417786" cy="2576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7413688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Task(8/11)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Job Pods Sequentially :</a:t>
            </a:r>
          </a:p>
          <a:p>
            <a:pPr lvl="1">
              <a:buFont typeface="Wingdings" panose="05000000000000000000" pitchFamily="2" charset="2"/>
              <a:buChar char="§"/>
            </a:pPr>
            <a:r>
              <a:rPr lang="en-US" altLang="ko-KR" sz="1400" b="1" dirty="0"/>
              <a:t>This Job will run five pods one after the other</a:t>
            </a:r>
            <a:r>
              <a:rPr lang="en-US" altLang="ko-KR" sz="1400" dirty="0"/>
              <a:t>. It initially creates one pod, and when the pod’s container finishes, it creates the second pod, and so on, until five pods complete successfully. </a:t>
            </a:r>
            <a:r>
              <a:rPr lang="en-US" altLang="ko-KR" sz="1400" b="1" dirty="0"/>
              <a:t>If one of the pods fails, the Job creates a new pod, so the Job may create more than five pods overall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E83E947-174F-B1C7-6840-219D9AEE6D61}"/>
              </a:ext>
            </a:extLst>
          </p:cNvPr>
          <p:cNvGrpSpPr/>
          <p:nvPr/>
        </p:nvGrpSpPr>
        <p:grpSpPr>
          <a:xfrm>
            <a:off x="1604870" y="2547105"/>
            <a:ext cx="8982259" cy="1763789"/>
            <a:chOff x="1604870" y="1948990"/>
            <a:chExt cx="8982259" cy="1763789"/>
          </a:xfrm>
        </p:grpSpPr>
        <p:pic>
          <p:nvPicPr>
            <p:cNvPr id="8" name="그림 7">
              <a:extLst>
                <a:ext uri="{FF2B5EF4-FFF2-40B4-BE49-F238E27FC236}">
                  <a16:creationId xmlns:a16="http://schemas.microsoft.com/office/drawing/2014/main" id="{4A2D8043-730F-C9F0-B029-9B51DE8A182F}"/>
                </a:ext>
              </a:extLst>
            </p:cNvPr>
            <p:cNvPicPr>
              <a:picLocks noChangeAspect="1"/>
            </p:cNvPicPr>
            <p:nvPr/>
          </p:nvPicPr>
          <p:blipFill>
            <a:blip r:embed="rId2"/>
            <a:stretch>
              <a:fillRect/>
            </a:stretch>
          </p:blipFill>
          <p:spPr>
            <a:xfrm>
              <a:off x="1604870" y="1948990"/>
              <a:ext cx="8982259" cy="1763789"/>
            </a:xfrm>
            <a:prstGeom prst="rect">
              <a:avLst/>
            </a:prstGeom>
          </p:spPr>
        </p:pic>
        <p:sp>
          <p:nvSpPr>
            <p:cNvPr id="9" name="직사각형 8">
              <a:extLst>
                <a:ext uri="{FF2B5EF4-FFF2-40B4-BE49-F238E27FC236}">
                  <a16:creationId xmlns:a16="http://schemas.microsoft.com/office/drawing/2014/main" id="{4B88BB07-438C-84B1-171C-CB63A77A7AAD}"/>
                </a:ext>
              </a:extLst>
            </p:cNvPr>
            <p:cNvSpPr/>
            <p:nvPr/>
          </p:nvSpPr>
          <p:spPr>
            <a:xfrm>
              <a:off x="1686910" y="2699250"/>
              <a:ext cx="4800600" cy="2804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E59F4A7-8A2F-A7E5-E0AD-CAAC3A5CD823}"/>
                </a:ext>
              </a:extLst>
            </p:cNvPr>
            <p:cNvSpPr/>
            <p:nvPr/>
          </p:nvSpPr>
          <p:spPr>
            <a:xfrm>
              <a:off x="1686910" y="3247697"/>
              <a:ext cx="4800600" cy="1314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001209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Task(9/11)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Job Pods in Parallel :</a:t>
            </a:r>
          </a:p>
          <a:p>
            <a:pPr lvl="1">
              <a:buFont typeface="Wingdings" panose="05000000000000000000" pitchFamily="2" charset="2"/>
              <a:buChar char="§"/>
            </a:pPr>
            <a:r>
              <a:rPr lang="en-US" altLang="ko-KR" sz="1400" b="1" dirty="0"/>
              <a:t>Instead of running single Job pods one after the other, you can also make the Job </a:t>
            </a:r>
            <a:r>
              <a:rPr lang="en-US" altLang="ko-KR" sz="1400" b="1" dirty="0">
                <a:solidFill>
                  <a:srgbClr val="FF0000"/>
                </a:solidFill>
              </a:rPr>
              <a:t>run multiple pods in parallel</a:t>
            </a:r>
            <a:r>
              <a:rPr lang="en-US" altLang="ko-KR" sz="1400" dirty="0"/>
              <a:t>. You specify how many pods are allowed to run in parallel with </a:t>
            </a:r>
            <a:r>
              <a:rPr lang="en-US" altLang="ko-KR" sz="1400" b="1" dirty="0"/>
              <a:t>the “parallelism” Job spec property</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run the “</a:t>
            </a:r>
            <a:r>
              <a:rPr lang="en-US" altLang="ko-KR" sz="1400" b="1" dirty="0" err="1"/>
              <a:t>kubectl</a:t>
            </a:r>
            <a:r>
              <a:rPr lang="en-US" altLang="ko-KR" sz="1400" b="1" dirty="0"/>
              <a:t> create” command, you need to delete the previous Job resource first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DBCE479-8FC3-A817-99DD-7BF3AB3D8381}"/>
              </a:ext>
            </a:extLst>
          </p:cNvPr>
          <p:cNvGrpSpPr/>
          <p:nvPr/>
        </p:nvGrpSpPr>
        <p:grpSpPr>
          <a:xfrm>
            <a:off x="3047343" y="2151727"/>
            <a:ext cx="6097314" cy="2554545"/>
            <a:chOff x="3047343" y="2151727"/>
            <a:chExt cx="6097314" cy="2554545"/>
          </a:xfrm>
        </p:grpSpPr>
        <p:sp>
          <p:nvSpPr>
            <p:cNvPr id="10" name="TextBox 9">
              <a:extLst>
                <a:ext uri="{FF2B5EF4-FFF2-40B4-BE49-F238E27FC236}">
                  <a16:creationId xmlns:a16="http://schemas.microsoft.com/office/drawing/2014/main" id="{524515F6-6A1A-BB3D-2E09-3025F88EF73C}"/>
                </a:ext>
              </a:extLst>
            </p:cNvPr>
            <p:cNvSpPr txBox="1"/>
            <p:nvPr/>
          </p:nvSpPr>
          <p:spPr>
            <a:xfrm>
              <a:off x="3047343" y="2151727"/>
              <a:ext cx="6097314" cy="255454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batch/v1</a:t>
              </a:r>
            </a:p>
            <a:p>
              <a:r>
                <a:rPr lang="en-US" altLang="ko-KR" sz="1000" b="1" dirty="0"/>
                <a:t>kind: Job</a:t>
              </a:r>
            </a:p>
            <a:p>
              <a:r>
                <a:rPr lang="en-US" altLang="ko-KR" sz="1000" b="1" dirty="0"/>
                <a:t>metadata:</a:t>
              </a:r>
            </a:p>
            <a:p>
              <a:r>
                <a:rPr lang="en-US" altLang="ko-KR" sz="1000" b="1" dirty="0"/>
                <a:t>  name: multi-completion-batch-job</a:t>
              </a:r>
            </a:p>
            <a:p>
              <a:r>
                <a:rPr lang="en-US" altLang="ko-KR" sz="1000" b="1" dirty="0"/>
                <a:t>spec:</a:t>
              </a:r>
            </a:p>
            <a:p>
              <a:r>
                <a:rPr lang="en-US" altLang="ko-KR" sz="1000" b="1" dirty="0"/>
                <a:t>  completions: 5</a:t>
              </a:r>
            </a:p>
            <a:p>
              <a:r>
                <a:rPr lang="en-US" altLang="ko-KR" sz="1000" b="1" dirty="0"/>
                <a:t>  </a:t>
              </a:r>
              <a:r>
                <a:rPr lang="en-US" altLang="ko-KR" sz="1000" b="1" dirty="0">
                  <a:solidFill>
                    <a:srgbClr val="FF0000"/>
                  </a:solidFill>
                </a:rPr>
                <a:t>parallelism: 2</a:t>
              </a:r>
            </a:p>
            <a:p>
              <a:r>
                <a:rPr lang="en-US" altLang="ko-KR" sz="1000" b="1" dirty="0"/>
                <a:t>  template:</a:t>
              </a:r>
            </a:p>
            <a:p>
              <a:r>
                <a:rPr lang="en-US" altLang="ko-KR" sz="1000" b="1" dirty="0"/>
                <a:t>    metadata:</a:t>
              </a:r>
            </a:p>
            <a:p>
              <a:r>
                <a:rPr lang="en-US" altLang="ko-KR" sz="1000" b="1" dirty="0"/>
                <a:t>      labels:</a:t>
              </a:r>
            </a:p>
            <a:p>
              <a:r>
                <a:rPr lang="en-US" altLang="ko-KR" sz="1000" b="1" dirty="0"/>
                <a:t>        app: batch-job</a:t>
              </a:r>
            </a:p>
            <a:p>
              <a:r>
                <a:rPr lang="en-US" altLang="ko-KR" sz="1000" b="1" dirty="0"/>
                <a:t>    spec:</a:t>
              </a:r>
            </a:p>
            <a:p>
              <a:r>
                <a:rPr lang="en-US" altLang="ko-KR" sz="1000" b="1" dirty="0"/>
                <a:t>      </a:t>
              </a:r>
              <a:r>
                <a:rPr lang="en-US" altLang="ko-KR" sz="1000" b="1" dirty="0" err="1"/>
                <a:t>restartPolicy</a:t>
              </a:r>
              <a:r>
                <a:rPr lang="en-US" altLang="ko-KR" sz="1000" b="1" dirty="0"/>
                <a:t>: </a:t>
              </a:r>
              <a:r>
                <a:rPr lang="en-US" altLang="ko-KR" sz="1000" b="1" dirty="0" err="1"/>
                <a:t>OnFailure</a:t>
              </a:r>
              <a:endParaRPr lang="en-US" altLang="ko-KR" sz="1000" b="1" dirty="0"/>
            </a:p>
            <a:p>
              <a:r>
                <a:rPr lang="en-US" altLang="ko-KR" sz="1000" b="1" dirty="0"/>
                <a:t>      containers:</a:t>
              </a:r>
            </a:p>
            <a:p>
              <a:r>
                <a:rPr lang="en-US" altLang="ko-KR" sz="1000" b="1" dirty="0"/>
                <a:t>      - name: main</a:t>
              </a:r>
            </a:p>
            <a:p>
              <a:r>
                <a:rPr lang="en-US" altLang="ko-KR" sz="1000" b="1" dirty="0"/>
                <a:t>        image: </a:t>
              </a:r>
              <a:r>
                <a:rPr lang="en-US" altLang="ko-KR" sz="1000" b="1" dirty="0" err="1"/>
                <a:t>luksa</a:t>
              </a:r>
              <a:r>
                <a:rPr lang="en-US" altLang="ko-KR" sz="1000" b="1" dirty="0"/>
                <a:t>/batch-job</a:t>
              </a:r>
              <a:endParaRPr lang="ko-KR" altLang="en-US" sz="1000" b="1" dirty="0"/>
            </a:p>
          </p:txBody>
        </p:sp>
        <p:sp>
          <p:nvSpPr>
            <p:cNvPr id="11" name="TextBox 10">
              <a:extLst>
                <a:ext uri="{FF2B5EF4-FFF2-40B4-BE49-F238E27FC236}">
                  <a16:creationId xmlns:a16="http://schemas.microsoft.com/office/drawing/2014/main" id="{BA9A6426-D4C5-A780-FB7D-07B15C9FE111}"/>
                </a:ext>
              </a:extLst>
            </p:cNvPr>
            <p:cNvSpPr txBox="1"/>
            <p:nvPr/>
          </p:nvSpPr>
          <p:spPr>
            <a:xfrm>
              <a:off x="6435261" y="2151727"/>
              <a:ext cx="2709396" cy="246221"/>
            </a:xfrm>
            <a:prstGeom prst="rect">
              <a:avLst/>
            </a:prstGeom>
            <a:noFill/>
          </p:spPr>
          <p:txBody>
            <a:bodyPr wrap="none" rtlCol="0">
              <a:spAutoFit/>
            </a:bodyPr>
            <a:lstStyle/>
            <a:p>
              <a:pPr algn="l"/>
              <a:r>
                <a:rPr lang="en-US" altLang="ko-KR" sz="1000" b="1" dirty="0"/>
                <a:t>multi-completion-parallel-batch-</a:t>
              </a:r>
              <a:r>
                <a:rPr lang="en-US" altLang="ko-KR" sz="1000" b="1" dirty="0" err="1"/>
                <a:t>job.yaml</a:t>
              </a:r>
              <a:endParaRPr lang="ko-KR" altLang="en-US" sz="1000" b="1" dirty="0"/>
            </a:p>
          </p:txBody>
        </p:sp>
      </p:grpSp>
    </p:spTree>
    <p:extLst>
      <p:ext uri="{BB962C8B-B14F-4D97-AF65-F5344CB8AC3E}">
        <p14:creationId xmlns:p14="http://schemas.microsoft.com/office/powerpoint/2010/main" val="41722473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Task(10/11)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Job Pods in Parallel :</a:t>
            </a:r>
          </a:p>
          <a:p>
            <a:pPr lvl="1">
              <a:buFont typeface="Wingdings" panose="05000000000000000000" pitchFamily="2" charset="2"/>
              <a:buChar char="§"/>
            </a:pPr>
            <a:r>
              <a:rPr lang="en-US" altLang="ko-KR" sz="1400" b="1" dirty="0"/>
              <a:t>By setting “</a:t>
            </a:r>
            <a:r>
              <a:rPr lang="en-US" altLang="ko-KR" sz="1400" b="1" dirty="0">
                <a:solidFill>
                  <a:srgbClr val="FF0000"/>
                </a:solidFill>
              </a:rPr>
              <a:t>parallelism</a:t>
            </a:r>
            <a:r>
              <a:rPr lang="en-US" altLang="ko-KR" sz="1400" b="1" dirty="0"/>
              <a:t>” to 2</a:t>
            </a:r>
            <a:r>
              <a:rPr lang="en-US" altLang="ko-KR" sz="1400" dirty="0"/>
              <a:t>, </a:t>
            </a:r>
            <a:r>
              <a:rPr lang="en-US" altLang="ko-KR" sz="1400" b="1" dirty="0"/>
              <a:t>the Job creates two pods and runs them in parallel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soon as one of them finishes, the Job will run the next pod, until five pods finish successfully.</a:t>
            </a:r>
          </a:p>
          <a:p>
            <a:pPr lvl="1">
              <a:buFont typeface="Wingdings" panose="05000000000000000000" pitchFamily="2" charset="2"/>
              <a:buChar char="§"/>
            </a:pPr>
            <a:r>
              <a:rPr lang="en-US" altLang="ko-KR" sz="1400" b="1" dirty="0"/>
              <a:t>NOTE : The scaling by using “</a:t>
            </a:r>
            <a:r>
              <a:rPr lang="en-US" altLang="ko-KR" sz="1400" b="1" dirty="0" err="1"/>
              <a:t>kubectl</a:t>
            </a:r>
            <a:r>
              <a:rPr lang="en-US" altLang="ko-KR" sz="1400" b="1" dirty="0"/>
              <a:t> scale job </a:t>
            </a:r>
            <a:r>
              <a:rPr lang="en-US" altLang="ko-KR" sz="1400" b="1" dirty="0" err="1"/>
              <a:t>xxxx</a:t>
            </a:r>
            <a:r>
              <a:rPr lang="en-US" altLang="ko-KR" sz="1400" b="1" dirty="0"/>
              <a:t> --replicas=</a:t>
            </a:r>
            <a:r>
              <a:rPr lang="en-US" altLang="ko-KR" sz="1400" b="1" dirty="0" err="1"/>
              <a:t>yy</a:t>
            </a:r>
            <a:r>
              <a:rPr lang="en-US" altLang="ko-KR" sz="1400" b="1" dirty="0"/>
              <a:t>” command is deprecated and not working. The API server could not find the requested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C94FA34-0B5A-AFCB-9A95-50904F8D2931}"/>
              </a:ext>
            </a:extLst>
          </p:cNvPr>
          <p:cNvGrpSpPr/>
          <p:nvPr/>
        </p:nvGrpSpPr>
        <p:grpSpPr>
          <a:xfrm>
            <a:off x="1819932" y="1609835"/>
            <a:ext cx="8552136" cy="2550091"/>
            <a:chOff x="1819932" y="1594069"/>
            <a:chExt cx="8552136" cy="2550091"/>
          </a:xfrm>
        </p:grpSpPr>
        <p:pic>
          <p:nvPicPr>
            <p:cNvPr id="4" name="그림 3">
              <a:extLst>
                <a:ext uri="{FF2B5EF4-FFF2-40B4-BE49-F238E27FC236}">
                  <a16:creationId xmlns:a16="http://schemas.microsoft.com/office/drawing/2014/main" id="{73F75F2A-D7BE-5A39-2C1C-9023F206A587}"/>
                </a:ext>
              </a:extLst>
            </p:cNvPr>
            <p:cNvPicPr>
              <a:picLocks noChangeAspect="1"/>
            </p:cNvPicPr>
            <p:nvPr/>
          </p:nvPicPr>
          <p:blipFill>
            <a:blip r:embed="rId2"/>
            <a:stretch>
              <a:fillRect/>
            </a:stretch>
          </p:blipFill>
          <p:spPr>
            <a:xfrm>
              <a:off x="1819932" y="1594069"/>
              <a:ext cx="8552136" cy="2550091"/>
            </a:xfrm>
            <a:prstGeom prst="rect">
              <a:avLst/>
            </a:prstGeom>
          </p:spPr>
        </p:pic>
        <p:sp>
          <p:nvSpPr>
            <p:cNvPr id="8" name="직사각형 7">
              <a:extLst>
                <a:ext uri="{FF2B5EF4-FFF2-40B4-BE49-F238E27FC236}">
                  <a16:creationId xmlns:a16="http://schemas.microsoft.com/office/drawing/2014/main" id="{E53B9C64-851F-F9CF-CF7D-D91651DED4EE}"/>
                </a:ext>
              </a:extLst>
            </p:cNvPr>
            <p:cNvSpPr/>
            <p:nvPr/>
          </p:nvSpPr>
          <p:spPr>
            <a:xfrm>
              <a:off x="5793828" y="2688021"/>
              <a:ext cx="3105806"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 name="직사각형 8">
            <a:extLst>
              <a:ext uri="{FF2B5EF4-FFF2-40B4-BE49-F238E27FC236}">
                <a16:creationId xmlns:a16="http://schemas.microsoft.com/office/drawing/2014/main" id="{95503B4A-2BE0-31C5-53B3-05804C30CED5}"/>
              </a:ext>
            </a:extLst>
          </p:cNvPr>
          <p:cNvSpPr/>
          <p:nvPr/>
        </p:nvSpPr>
        <p:spPr>
          <a:xfrm>
            <a:off x="1923393" y="3602421"/>
            <a:ext cx="4532586" cy="3214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9993851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 Performing a Single Completable Task(11/11)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the Time Allowed for a Job Pod to Complete :</a:t>
            </a:r>
          </a:p>
          <a:p>
            <a:pPr lvl="1">
              <a:buFont typeface="Wingdings" panose="05000000000000000000" pitchFamily="2" charset="2"/>
              <a:buChar char="§"/>
            </a:pPr>
            <a:r>
              <a:rPr lang="en-US" altLang="ko-KR" sz="1400" dirty="0"/>
              <a:t>How long should the Job wait for a pod to finish? What if the pod gets stuck and can’t finish at all (or it can’t finish fast enough)? </a:t>
            </a:r>
            <a:r>
              <a:rPr lang="en-US" altLang="ko-KR" sz="1400" b="1" dirty="0"/>
              <a:t>A pod’s time can be limited by setting the “</a:t>
            </a:r>
            <a:r>
              <a:rPr lang="en-US" altLang="ko-KR" sz="1400" b="1" dirty="0" err="1">
                <a:solidFill>
                  <a:srgbClr val="FF0000"/>
                </a:solidFill>
              </a:rPr>
              <a:t>activeDeadlineSeconds</a:t>
            </a:r>
            <a:r>
              <a:rPr lang="en-US" altLang="ko-KR" sz="1400" b="1" dirty="0"/>
              <a:t>” property in the pod spec</a:t>
            </a:r>
            <a:r>
              <a:rPr lang="en-US" altLang="ko-KR" sz="1400" dirty="0"/>
              <a:t>. </a:t>
            </a:r>
            <a:r>
              <a:rPr lang="en-US" altLang="ko-KR" sz="1400" b="1" dirty="0"/>
              <a:t>If the pod runs longer than that, the system will try to terminate it and will mark the Job as failed</a:t>
            </a:r>
            <a:r>
              <a:rPr lang="en-US" altLang="ko-KR" sz="1400" dirty="0"/>
              <a:t>.</a:t>
            </a:r>
          </a:p>
          <a:p>
            <a:pPr lvl="1">
              <a:buFont typeface="Wingdings" panose="05000000000000000000" pitchFamily="2" charset="2"/>
              <a:buChar char="§"/>
            </a:pPr>
            <a:r>
              <a:rPr lang="en-US" altLang="ko-KR" sz="1400" b="1" dirty="0"/>
              <a:t>NOTE : You can configure </a:t>
            </a:r>
            <a:r>
              <a:rPr lang="en-US" altLang="ko-KR" sz="1400" b="1" dirty="0">
                <a:solidFill>
                  <a:srgbClr val="FF0000"/>
                </a:solidFill>
              </a:rPr>
              <a:t>how many times a Job can be retried </a:t>
            </a:r>
            <a:r>
              <a:rPr lang="en-US" altLang="ko-KR" sz="1400" b="1" dirty="0"/>
              <a:t>before it is marked as failed by specifying the “</a:t>
            </a:r>
            <a:r>
              <a:rPr lang="en-US" altLang="ko-KR" sz="1400" b="1" dirty="0" err="1">
                <a:solidFill>
                  <a:srgbClr val="FF0000"/>
                </a:solidFill>
              </a:rPr>
              <a:t>spec.backoffLimit</a:t>
            </a:r>
            <a:r>
              <a:rPr lang="en-US" altLang="ko-KR" sz="1400" b="1" dirty="0"/>
              <a:t>” field in the Job manifest</a:t>
            </a:r>
            <a:r>
              <a:rPr lang="en-US" altLang="ko-KR" sz="1400" dirty="0"/>
              <a:t>. If you don't explicitly specify it, </a:t>
            </a:r>
            <a:r>
              <a:rPr lang="en-US" altLang="ko-KR" sz="1400" b="1" dirty="0"/>
              <a:t>it defaults to 6</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0B11AB5A-722F-8359-333B-FFDAF5668FE0}"/>
              </a:ext>
            </a:extLst>
          </p:cNvPr>
          <p:cNvPicPr>
            <a:picLocks noChangeAspect="1"/>
          </p:cNvPicPr>
          <p:nvPr/>
        </p:nvPicPr>
        <p:blipFill>
          <a:blip r:embed="rId2"/>
          <a:stretch>
            <a:fillRect/>
          </a:stretch>
        </p:blipFill>
        <p:spPr>
          <a:xfrm>
            <a:off x="4291012" y="2558255"/>
            <a:ext cx="3609975" cy="2066925"/>
          </a:xfrm>
          <a:prstGeom prst="rect">
            <a:avLst/>
          </a:prstGeom>
        </p:spPr>
      </p:pic>
    </p:spTree>
    <p:extLst>
      <p:ext uri="{BB962C8B-B14F-4D97-AF65-F5344CB8AC3E}">
        <p14:creationId xmlns:p14="http://schemas.microsoft.com/office/powerpoint/2010/main" val="42636366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Scheduling Jobs to Run Periodically or Once in the Future(1/4)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CronJob</a:t>
            </a:r>
            <a:r>
              <a:rPr lang="en-US" altLang="ko-KR" sz="1800" b="1" dirty="0"/>
              <a:t> :</a:t>
            </a:r>
          </a:p>
          <a:p>
            <a:pPr lvl="1">
              <a:buFont typeface="Wingdings" panose="05000000000000000000" pitchFamily="2" charset="2"/>
              <a:buChar char="§"/>
            </a:pPr>
            <a:r>
              <a:rPr lang="en-US" altLang="ko-KR" sz="1400" b="1" dirty="0"/>
              <a:t>Job resources run their pods immediately when you create the Job resource</a:t>
            </a:r>
            <a:r>
              <a:rPr lang="en-US" altLang="ko-KR" sz="1400" dirty="0"/>
              <a:t>. But </a:t>
            </a:r>
            <a:r>
              <a:rPr lang="en-US" altLang="ko-KR" sz="1400" b="1" dirty="0"/>
              <a:t>many batch jobs need to be run at a specific time in the future or repeatedly in the specified interval. In Linux- and UNIX-like operating systems, these jobs are better known as </a:t>
            </a:r>
            <a:r>
              <a:rPr lang="en-US" altLang="ko-KR" sz="1400" b="1" dirty="0" err="1">
                <a:solidFill>
                  <a:srgbClr val="FF0000"/>
                </a:solidFill>
              </a:rPr>
              <a:t>cron</a:t>
            </a:r>
            <a:r>
              <a:rPr lang="en-US" altLang="ko-KR" sz="1400" b="1" dirty="0">
                <a:solidFill>
                  <a:srgbClr val="FF0000"/>
                </a:solidFill>
              </a:rPr>
              <a:t> jobs</a:t>
            </a:r>
            <a:r>
              <a:rPr lang="en-US" altLang="ko-KR" sz="1400" dirty="0"/>
              <a:t>. Kubernetes supports them, too. </a:t>
            </a:r>
          </a:p>
          <a:p>
            <a:pPr lvl="1">
              <a:buFont typeface="Wingdings" panose="05000000000000000000" pitchFamily="2" charset="2"/>
              <a:buChar char="§"/>
            </a:pPr>
            <a:r>
              <a:rPr lang="en-US" altLang="ko-KR" sz="1400" b="1" dirty="0"/>
              <a:t>A </a:t>
            </a:r>
            <a:r>
              <a:rPr lang="en-US" altLang="ko-KR" sz="1400" b="1" dirty="0" err="1"/>
              <a:t>cron</a:t>
            </a:r>
            <a:r>
              <a:rPr lang="en-US" altLang="ko-KR" sz="1400" b="1" dirty="0"/>
              <a:t> job in Kubernetes is configured by creating a </a:t>
            </a:r>
            <a:r>
              <a:rPr lang="en-US" altLang="ko-KR" sz="1400" b="1" dirty="0" err="1">
                <a:solidFill>
                  <a:srgbClr val="FF0000"/>
                </a:solidFill>
              </a:rPr>
              <a:t>CronJob</a:t>
            </a:r>
            <a:r>
              <a:rPr lang="en-US" altLang="ko-KR" sz="1400" b="1" dirty="0"/>
              <a:t> resource</a:t>
            </a:r>
            <a:r>
              <a:rPr lang="en-US" altLang="ko-KR" sz="1400" dirty="0"/>
              <a:t>. </a:t>
            </a:r>
            <a:r>
              <a:rPr lang="en-US" altLang="ko-KR" sz="1400" b="1" dirty="0"/>
              <a:t>The schedule for running the job is specified in the well-known “</a:t>
            </a:r>
            <a:r>
              <a:rPr lang="en-US" altLang="ko-KR" sz="1400" b="1" dirty="0" err="1">
                <a:solidFill>
                  <a:srgbClr val="FF0000"/>
                </a:solidFill>
              </a:rPr>
              <a:t>cron</a:t>
            </a:r>
            <a:r>
              <a:rPr lang="en-US" altLang="ko-KR" sz="1400" b="1" dirty="0">
                <a:solidFill>
                  <a:srgbClr val="FF0000"/>
                </a:solidFill>
              </a:rPr>
              <a:t> format</a:t>
            </a:r>
            <a:r>
              <a:rPr lang="en-US" altLang="ko-KR" sz="1400" b="1" dirty="0"/>
              <a:t>”</a:t>
            </a:r>
            <a:r>
              <a:rPr lang="en-US" altLang="ko-KR" sz="1400" dirty="0"/>
              <a:t>.</a:t>
            </a:r>
          </a:p>
          <a:p>
            <a:pPr lvl="1">
              <a:buFont typeface="Wingdings" panose="05000000000000000000" pitchFamily="2" charset="2"/>
              <a:buChar char="§"/>
            </a:pPr>
            <a:r>
              <a:rPr lang="en-US" altLang="ko-KR" sz="1400" b="1" dirty="0"/>
              <a:t>At the configured time, Kubernetes will create a “</a:t>
            </a:r>
            <a:r>
              <a:rPr lang="en-US" altLang="ko-KR" sz="1400" b="1" dirty="0">
                <a:solidFill>
                  <a:srgbClr val="FF0000"/>
                </a:solidFill>
              </a:rPr>
              <a:t>Job resource</a:t>
            </a:r>
            <a:r>
              <a:rPr lang="en-US" altLang="ko-KR" sz="1400" b="1" dirty="0"/>
              <a:t>” according to the Job template configured in the “</a:t>
            </a:r>
            <a:r>
              <a:rPr lang="en-US" altLang="ko-KR" sz="1400" b="1" dirty="0" err="1">
                <a:solidFill>
                  <a:srgbClr val="FF0000"/>
                </a:solidFill>
              </a:rPr>
              <a:t>CronJob</a:t>
            </a:r>
            <a:r>
              <a:rPr lang="en-US" altLang="ko-KR" sz="1400" b="1" dirty="0">
                <a:solidFill>
                  <a:srgbClr val="FF0000"/>
                </a:solidFill>
              </a:rPr>
              <a:t> object</a:t>
            </a:r>
            <a:r>
              <a:rPr lang="en-US" altLang="ko-KR" sz="1400" b="1" dirty="0"/>
              <a:t>”</a:t>
            </a:r>
            <a:r>
              <a:rPr lang="en-US" altLang="ko-KR" sz="1400" dirty="0"/>
              <a:t>. When the Job resource is created, one or more pod replicas will be created and started according to the </a:t>
            </a:r>
            <a:r>
              <a:rPr lang="en-US" altLang="ko-KR" sz="1400" b="1" dirty="0"/>
              <a:t>Job’s pod template</a:t>
            </a:r>
            <a:r>
              <a:rPr lang="en-US" altLang="ko-KR" sz="1400" dirty="0"/>
              <a:t>, as you learned in the previous pages. There’s nothing more to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A319D3-1991-7639-FEC4-F82E3EBEC2B1}"/>
              </a:ext>
            </a:extLst>
          </p:cNvPr>
          <p:cNvPicPr>
            <a:picLocks noChangeAspect="1"/>
          </p:cNvPicPr>
          <p:nvPr/>
        </p:nvPicPr>
        <p:blipFill>
          <a:blip r:embed="rId2"/>
          <a:stretch>
            <a:fillRect/>
          </a:stretch>
        </p:blipFill>
        <p:spPr>
          <a:xfrm>
            <a:off x="4319587" y="3429000"/>
            <a:ext cx="3552825" cy="2057400"/>
          </a:xfrm>
          <a:prstGeom prst="rect">
            <a:avLst/>
          </a:prstGeom>
        </p:spPr>
      </p:pic>
    </p:spTree>
    <p:extLst>
      <p:ext uri="{BB962C8B-B14F-4D97-AF65-F5344CB8AC3E}">
        <p14:creationId xmlns:p14="http://schemas.microsoft.com/office/powerpoint/2010/main" val="38343082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Scheduling Jobs to Run Periodically or Once in the Future(2/4)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CronJob</a:t>
            </a:r>
            <a:r>
              <a:rPr lang="en-US" altLang="ko-KR" sz="1800" b="1" dirty="0"/>
              <a:t> :</a:t>
            </a:r>
          </a:p>
          <a:p>
            <a:pPr lvl="1">
              <a:buFont typeface="Wingdings" panose="05000000000000000000" pitchFamily="2" charset="2"/>
              <a:buChar char="§"/>
            </a:pPr>
            <a:r>
              <a:rPr lang="en-US" altLang="ko-KR" sz="1400" b="1" dirty="0"/>
              <a:t>Imagine you need to run the batch job from your previous example every 15 minutes</a:t>
            </a:r>
            <a:r>
              <a:rPr lang="en-US" altLang="ko-KR" sz="1400" dirty="0"/>
              <a:t>. To do that, </a:t>
            </a:r>
            <a:r>
              <a:rPr lang="en-US" altLang="ko-KR" sz="1400" b="1" dirty="0"/>
              <a:t>create a </a:t>
            </a:r>
            <a:r>
              <a:rPr lang="en-US" altLang="ko-KR" sz="1400" b="1" dirty="0" err="1"/>
              <a:t>CronJob</a:t>
            </a:r>
            <a:r>
              <a:rPr lang="en-US" altLang="ko-KR" sz="1400" b="1" dirty="0"/>
              <a:t> resource </a:t>
            </a:r>
            <a:r>
              <a:rPr lang="en-US" altLang="ko-KR" sz="1400" dirty="0"/>
              <a:t>with the following specification. Then the job should </a:t>
            </a:r>
            <a:r>
              <a:rPr lang="en-US" altLang="ko-KR" sz="1400" b="1" dirty="0"/>
              <a:t>run at the “0, 15, 30 and 45” minutes of every hour, every day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538B0C6C-AF64-A670-E231-DD03EFFD2CAA}"/>
              </a:ext>
            </a:extLst>
          </p:cNvPr>
          <p:cNvGrpSpPr/>
          <p:nvPr/>
        </p:nvGrpSpPr>
        <p:grpSpPr>
          <a:xfrm>
            <a:off x="1907176" y="1762667"/>
            <a:ext cx="8377648" cy="4650004"/>
            <a:chOff x="1907176" y="1762667"/>
            <a:chExt cx="8377648" cy="4650004"/>
          </a:xfrm>
        </p:grpSpPr>
        <p:grpSp>
          <p:nvGrpSpPr>
            <p:cNvPr id="13" name="그룹 12">
              <a:extLst>
                <a:ext uri="{FF2B5EF4-FFF2-40B4-BE49-F238E27FC236}">
                  <a16:creationId xmlns:a16="http://schemas.microsoft.com/office/drawing/2014/main" id="{E56EAEB5-4602-49C1-A770-47BE5412DEAB}"/>
                </a:ext>
              </a:extLst>
            </p:cNvPr>
            <p:cNvGrpSpPr/>
            <p:nvPr/>
          </p:nvGrpSpPr>
          <p:grpSpPr>
            <a:xfrm>
              <a:off x="1907176" y="1766308"/>
              <a:ext cx="8377648" cy="4646363"/>
              <a:chOff x="1907175" y="1681893"/>
              <a:chExt cx="8377648" cy="4646363"/>
            </a:xfrm>
          </p:grpSpPr>
          <p:pic>
            <p:nvPicPr>
              <p:cNvPr id="8" name="그림 7">
                <a:extLst>
                  <a:ext uri="{FF2B5EF4-FFF2-40B4-BE49-F238E27FC236}">
                    <a16:creationId xmlns:a16="http://schemas.microsoft.com/office/drawing/2014/main" id="{22C57AB8-A9E2-341A-3E48-7F30031F3D3E}"/>
                  </a:ext>
                </a:extLst>
              </p:cNvPr>
              <p:cNvPicPr>
                <a:picLocks noChangeAspect="1"/>
              </p:cNvPicPr>
              <p:nvPr/>
            </p:nvPicPr>
            <p:blipFill>
              <a:blip r:embed="rId2"/>
              <a:stretch>
                <a:fillRect/>
              </a:stretch>
            </p:blipFill>
            <p:spPr>
              <a:xfrm>
                <a:off x="1907175" y="4678031"/>
                <a:ext cx="8377648" cy="1650225"/>
              </a:xfrm>
              <a:prstGeom prst="rect">
                <a:avLst/>
              </a:prstGeom>
            </p:spPr>
          </p:pic>
          <p:sp>
            <p:nvSpPr>
              <p:cNvPr id="10" name="TextBox 9">
                <a:extLst>
                  <a:ext uri="{FF2B5EF4-FFF2-40B4-BE49-F238E27FC236}">
                    <a16:creationId xmlns:a16="http://schemas.microsoft.com/office/drawing/2014/main" id="{C3F4C4C1-185B-5ED6-341D-3C272670EB30}"/>
                  </a:ext>
                </a:extLst>
              </p:cNvPr>
              <p:cNvSpPr txBox="1"/>
              <p:nvPr/>
            </p:nvSpPr>
            <p:spPr>
              <a:xfrm>
                <a:off x="3047342" y="1681893"/>
                <a:ext cx="6097314" cy="270843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batch/v1</a:t>
                </a:r>
              </a:p>
              <a:p>
                <a:r>
                  <a:rPr lang="en-US" altLang="ko-KR" sz="1000" b="1" dirty="0"/>
                  <a:t>kind: </a:t>
                </a:r>
                <a:r>
                  <a:rPr lang="en-US" altLang="ko-KR" sz="1000" b="1" dirty="0" err="1">
                    <a:solidFill>
                      <a:srgbClr val="FF0000"/>
                    </a:solidFill>
                  </a:rPr>
                  <a:t>CronJob</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batch-job-every-fifteen-minutes</a:t>
                </a:r>
              </a:p>
              <a:p>
                <a:r>
                  <a:rPr lang="en-US" altLang="ko-KR" sz="1000" b="1" dirty="0"/>
                  <a:t>spec:</a:t>
                </a:r>
              </a:p>
              <a:p>
                <a:r>
                  <a:rPr lang="en-US" altLang="ko-KR" sz="1000" b="1" dirty="0"/>
                  <a:t>  schedule: </a:t>
                </a:r>
                <a:r>
                  <a:rPr lang="en-US" altLang="ko-KR" sz="1000" b="1" dirty="0">
                    <a:solidFill>
                      <a:srgbClr val="FF0000"/>
                    </a:solidFill>
                  </a:rPr>
                  <a:t>"0,15,30,45 * * * *"</a:t>
                </a:r>
              </a:p>
              <a:p>
                <a:r>
                  <a:rPr lang="en-US" altLang="ko-KR" sz="1000" b="1" dirty="0"/>
                  <a:t>  </a:t>
                </a:r>
                <a:r>
                  <a:rPr lang="en-US" altLang="ko-KR" sz="1000" b="1" dirty="0" err="1">
                    <a:solidFill>
                      <a:srgbClr val="FF0000"/>
                    </a:solidFill>
                  </a:rPr>
                  <a:t>jobTemplate</a:t>
                </a:r>
                <a:r>
                  <a:rPr lang="en-US" altLang="ko-KR" sz="1000" b="1" dirty="0"/>
                  <a:t>:</a:t>
                </a:r>
              </a:p>
              <a:p>
                <a:r>
                  <a:rPr lang="en-US" altLang="ko-KR" sz="1000" b="1" dirty="0"/>
                  <a:t>    spec:</a:t>
                </a:r>
              </a:p>
              <a:p>
                <a:r>
                  <a:rPr lang="en-US" altLang="ko-KR" sz="1000" b="1" dirty="0"/>
                  <a:t>      template:</a:t>
                </a:r>
              </a:p>
              <a:p>
                <a:r>
                  <a:rPr lang="en-US" altLang="ko-KR" sz="1000" b="1" dirty="0"/>
                  <a:t>        metadata:</a:t>
                </a:r>
              </a:p>
              <a:p>
                <a:r>
                  <a:rPr lang="en-US" altLang="ko-KR" sz="1000" b="1" dirty="0"/>
                  <a:t>          labels:</a:t>
                </a:r>
              </a:p>
              <a:p>
                <a:r>
                  <a:rPr lang="en-US" altLang="ko-KR" sz="1000" b="1" dirty="0"/>
                  <a:t>            app: periodic-batch-job</a:t>
                </a:r>
              </a:p>
              <a:p>
                <a:r>
                  <a:rPr lang="en-US" altLang="ko-KR" sz="1000" b="1" dirty="0"/>
                  <a:t>        spec:</a:t>
                </a:r>
              </a:p>
              <a:p>
                <a:r>
                  <a:rPr lang="en-US" altLang="ko-KR" sz="1000" b="1" dirty="0"/>
                  <a:t>          </a:t>
                </a:r>
                <a:r>
                  <a:rPr lang="en-US" altLang="ko-KR" sz="1000" b="1" dirty="0" err="1"/>
                  <a:t>restartPolicy</a:t>
                </a:r>
                <a:r>
                  <a:rPr lang="en-US" altLang="ko-KR" sz="1000" b="1" dirty="0"/>
                  <a:t>: </a:t>
                </a:r>
                <a:r>
                  <a:rPr lang="en-US" altLang="ko-KR" sz="1000" b="1" dirty="0" err="1"/>
                  <a:t>OnFailure</a:t>
                </a:r>
                <a:endParaRPr lang="en-US" altLang="ko-KR" sz="1000" b="1" dirty="0"/>
              </a:p>
              <a:p>
                <a:r>
                  <a:rPr lang="en-US" altLang="ko-KR" sz="1000" b="1" dirty="0"/>
                  <a:t>          containers:</a:t>
                </a:r>
              </a:p>
              <a:p>
                <a:r>
                  <a:rPr lang="en-US" altLang="ko-KR" sz="1000" b="1" dirty="0"/>
                  <a:t>          - name: main</a:t>
                </a:r>
              </a:p>
              <a:p>
                <a:r>
                  <a:rPr lang="en-US" altLang="ko-KR" sz="1000" b="1" dirty="0"/>
                  <a:t>            image: </a:t>
                </a:r>
                <a:r>
                  <a:rPr lang="en-US" altLang="ko-KR" sz="1000" b="1" dirty="0" err="1"/>
                  <a:t>luksa</a:t>
                </a:r>
                <a:r>
                  <a:rPr lang="en-US" altLang="ko-KR" sz="1000" b="1" dirty="0"/>
                  <a:t>/batch-job</a:t>
                </a:r>
                <a:endParaRPr lang="ko-KR" altLang="en-US" sz="1000" b="1" dirty="0"/>
              </a:p>
            </p:txBody>
          </p:sp>
          <p:sp>
            <p:nvSpPr>
              <p:cNvPr id="11" name="화살표: 아래쪽 10">
                <a:extLst>
                  <a:ext uri="{FF2B5EF4-FFF2-40B4-BE49-F238E27FC236}">
                    <a16:creationId xmlns:a16="http://schemas.microsoft.com/office/drawing/2014/main" id="{D3987513-5B35-0C3B-6727-C745CE8F2AB9}"/>
                  </a:ext>
                </a:extLst>
              </p:cNvPr>
              <p:cNvSpPr/>
              <p:nvPr/>
            </p:nvSpPr>
            <p:spPr>
              <a:xfrm>
                <a:off x="5898930" y="4386718"/>
                <a:ext cx="394138"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210488DF-F433-841A-DFFA-2BF4147D9E53}"/>
                  </a:ext>
                </a:extLst>
              </p:cNvPr>
              <p:cNvSpPr/>
              <p:nvPr/>
            </p:nvSpPr>
            <p:spPr>
              <a:xfrm>
                <a:off x="5780747" y="5646711"/>
                <a:ext cx="1260282" cy="1415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TextBox 13">
              <a:extLst>
                <a:ext uri="{FF2B5EF4-FFF2-40B4-BE49-F238E27FC236}">
                  <a16:creationId xmlns:a16="http://schemas.microsoft.com/office/drawing/2014/main" id="{38A20F02-579D-3565-95BB-66C371BA571E}"/>
                </a:ext>
              </a:extLst>
            </p:cNvPr>
            <p:cNvSpPr txBox="1"/>
            <p:nvPr/>
          </p:nvSpPr>
          <p:spPr>
            <a:xfrm>
              <a:off x="8168108" y="1762667"/>
              <a:ext cx="976549" cy="246221"/>
            </a:xfrm>
            <a:prstGeom prst="rect">
              <a:avLst/>
            </a:prstGeom>
            <a:noFill/>
          </p:spPr>
          <p:txBody>
            <a:bodyPr wrap="none" rtlCol="0">
              <a:spAutoFit/>
            </a:bodyPr>
            <a:lstStyle/>
            <a:p>
              <a:pPr algn="l"/>
              <a:r>
                <a:rPr lang="en-US" altLang="ko-KR" sz="1000" b="1" dirty="0" err="1"/>
                <a:t>cronjob.yaml</a:t>
              </a:r>
              <a:endParaRPr lang="ko-KR" altLang="en-US" sz="1000" b="1" dirty="0"/>
            </a:p>
          </p:txBody>
        </p:sp>
      </p:grpSp>
    </p:spTree>
    <p:extLst>
      <p:ext uri="{BB962C8B-B14F-4D97-AF65-F5344CB8AC3E}">
        <p14:creationId xmlns:p14="http://schemas.microsoft.com/office/powerpoint/2010/main" val="132689084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Scheduling Jobs to Run Periodically or Once in the Future(3/4)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the Schedule :</a:t>
            </a:r>
          </a:p>
          <a:p>
            <a:pPr lvl="1">
              <a:buFont typeface="Wingdings" panose="05000000000000000000" pitchFamily="2" charset="2"/>
              <a:buChar char="§"/>
            </a:pPr>
            <a:r>
              <a:rPr lang="en-US" altLang="ko-KR" sz="1400" dirty="0"/>
              <a:t>If you’re unfamiliar with the “</a:t>
            </a:r>
            <a:r>
              <a:rPr lang="en-US" altLang="ko-KR" sz="1400" b="1" dirty="0" err="1"/>
              <a:t>cron</a:t>
            </a:r>
            <a:r>
              <a:rPr lang="en-US" altLang="ko-KR" sz="1400" b="1" dirty="0"/>
              <a:t> schedule</a:t>
            </a:r>
            <a:r>
              <a:rPr lang="en-US" altLang="ko-KR" sz="1400" dirty="0"/>
              <a:t>” format, you’ll find great tutorials and explanations online, but as a quick introduction, from left to right, the schedule contains the following five entries :</a:t>
            </a:r>
          </a:p>
          <a:p>
            <a:pPr lvl="2">
              <a:buFont typeface="Wingdings" panose="05000000000000000000" pitchFamily="2" charset="2"/>
              <a:buChar char="§"/>
            </a:pPr>
            <a:r>
              <a:rPr lang="en-US" altLang="ko-KR" sz="1400" b="1" dirty="0"/>
              <a:t>Minute, Hour, Day of month, Month, Day of week</a:t>
            </a:r>
          </a:p>
          <a:p>
            <a:pPr lvl="1">
              <a:buFont typeface="Wingdings" panose="05000000000000000000" pitchFamily="2" charset="2"/>
              <a:buChar char="§"/>
            </a:pPr>
            <a:r>
              <a:rPr lang="en-US" altLang="ko-KR" sz="1400" dirty="0"/>
              <a:t>In the example, you want to </a:t>
            </a:r>
            <a:r>
              <a:rPr lang="en-US" altLang="ko-KR" sz="1400" b="1" dirty="0"/>
              <a:t>run the job every 15 minutes</a:t>
            </a:r>
            <a:r>
              <a:rPr lang="en-US" altLang="ko-KR" sz="1400" dirty="0"/>
              <a:t>, so the schedule needs to be "</a:t>
            </a:r>
            <a:r>
              <a:rPr lang="en-US" altLang="ko-KR" sz="1400" b="1" dirty="0"/>
              <a:t>0,15,30,45 * * * *</a:t>
            </a:r>
            <a:r>
              <a:rPr lang="en-US" altLang="ko-KR" sz="1400" dirty="0"/>
              <a:t>", which means at the “</a:t>
            </a:r>
            <a:r>
              <a:rPr lang="en-US" altLang="ko-KR" sz="1400" b="1" dirty="0"/>
              <a:t>0, 15, 30 and 45 minutes</a:t>
            </a:r>
            <a:r>
              <a:rPr lang="en-US" altLang="ko-KR" sz="1400" dirty="0"/>
              <a:t>” mark of every hour (first asterisk), of every day of the month (second asterisk), of every month (third asterisk) and on every day of the week (fourth asterisk).</a:t>
            </a:r>
          </a:p>
          <a:p>
            <a:pPr lvl="1">
              <a:buFont typeface="Wingdings" panose="05000000000000000000" pitchFamily="2" charset="2"/>
              <a:buChar char="§"/>
            </a:pPr>
            <a:r>
              <a:rPr lang="en-US" altLang="ko-KR" sz="1400" dirty="0"/>
              <a:t>If, instead, you wanted it to </a:t>
            </a:r>
            <a:r>
              <a:rPr lang="en-US" altLang="ko-KR" sz="1400" b="1" dirty="0"/>
              <a:t>run every 30 minutes</a:t>
            </a:r>
            <a:r>
              <a:rPr lang="en-US" altLang="ko-KR" sz="1400" dirty="0"/>
              <a:t>, but only on the first day of the month, you’d set the schedule to "</a:t>
            </a:r>
            <a:r>
              <a:rPr lang="en-US" altLang="ko-KR" sz="1400" b="1" dirty="0"/>
              <a:t>0,30 * 1 * *</a:t>
            </a:r>
            <a:r>
              <a:rPr lang="en-US" altLang="ko-KR" sz="1400" dirty="0"/>
              <a:t>", and if you want it to </a:t>
            </a:r>
            <a:r>
              <a:rPr lang="en-US" altLang="ko-KR" sz="1400" b="1" dirty="0"/>
              <a:t>run at 3 AM every Sunday</a:t>
            </a:r>
            <a:r>
              <a:rPr lang="en-US" altLang="ko-KR" sz="1400" dirty="0"/>
              <a:t>, you’d set it to "</a:t>
            </a:r>
            <a:r>
              <a:rPr lang="en-US" altLang="ko-KR" sz="1400" b="1" dirty="0"/>
              <a:t>0 3 * * 0</a:t>
            </a:r>
            <a:r>
              <a:rPr lang="en-US" altLang="ko-KR" sz="1400" dirty="0"/>
              <a:t>" (the last zero stands for Sunday). </a:t>
            </a:r>
          </a:p>
          <a:p>
            <a:pPr lvl="1">
              <a:buFont typeface="Wingdings" panose="05000000000000000000" pitchFamily="2" charset="2"/>
              <a:buChar char="§"/>
            </a:pPr>
            <a:r>
              <a:rPr lang="en-US" altLang="ko-KR" sz="1400" b="1" dirty="0"/>
              <a:t>A </a:t>
            </a:r>
            <a:r>
              <a:rPr lang="en-US" altLang="ko-KR" sz="1400" b="1" dirty="0" err="1"/>
              <a:t>CronJob</a:t>
            </a:r>
            <a:r>
              <a:rPr lang="en-US" altLang="ko-KR" sz="1400" b="1" dirty="0"/>
              <a:t> creates Job resources from the “</a:t>
            </a:r>
            <a:r>
              <a:rPr lang="en-US" altLang="ko-KR" sz="1400" b="1" dirty="0" err="1">
                <a:solidFill>
                  <a:srgbClr val="FF0000"/>
                </a:solidFill>
              </a:rPr>
              <a:t>jobTemplate</a:t>
            </a:r>
            <a:r>
              <a:rPr lang="en-US" altLang="ko-KR" sz="1400" b="1" dirty="0"/>
              <a:t>” property configured in the </a:t>
            </a:r>
            <a:r>
              <a:rPr lang="en-US" altLang="ko-KR" sz="1400" b="1" dirty="0" err="1"/>
              <a:t>CronJob</a:t>
            </a:r>
            <a:r>
              <a:rPr lang="en-US" altLang="ko-KR" sz="1400" b="1" dirty="0"/>
              <a:t> spec</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320B166-BEFC-CA76-E5D8-BDAC40DF5388}"/>
              </a:ext>
            </a:extLst>
          </p:cNvPr>
          <p:cNvPicPr>
            <a:picLocks noChangeAspect="1"/>
          </p:cNvPicPr>
          <p:nvPr/>
        </p:nvPicPr>
        <p:blipFill>
          <a:blip r:embed="rId2"/>
          <a:stretch>
            <a:fillRect/>
          </a:stretch>
        </p:blipFill>
        <p:spPr>
          <a:xfrm>
            <a:off x="3896136" y="3591718"/>
            <a:ext cx="4399728" cy="2349335"/>
          </a:xfrm>
          <a:prstGeom prst="rect">
            <a:avLst/>
          </a:prstGeom>
        </p:spPr>
      </p:pic>
    </p:spTree>
    <p:extLst>
      <p:ext uri="{BB962C8B-B14F-4D97-AF65-F5344CB8AC3E}">
        <p14:creationId xmlns:p14="http://schemas.microsoft.com/office/powerpoint/2010/main" val="248193574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Scheduling Jobs to Run Periodically or Once in the Future(4/4)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Scheduled Jobs are Run :</a:t>
            </a:r>
          </a:p>
          <a:p>
            <a:pPr lvl="1">
              <a:buFont typeface="Wingdings" panose="05000000000000000000" pitchFamily="2" charset="2"/>
              <a:buChar char="§"/>
            </a:pPr>
            <a:r>
              <a:rPr lang="en-US" altLang="ko-KR" sz="1400" b="1" dirty="0"/>
              <a:t>Job resources will be created from the </a:t>
            </a:r>
            <a:r>
              <a:rPr lang="en-US" altLang="ko-KR" sz="1400" b="1" dirty="0" err="1"/>
              <a:t>CronJob</a:t>
            </a:r>
            <a:r>
              <a:rPr lang="en-US" altLang="ko-KR" sz="1400" b="1" dirty="0"/>
              <a:t> resource at </a:t>
            </a:r>
            <a:r>
              <a:rPr lang="en-US" altLang="ko-KR" sz="1400" b="1" dirty="0">
                <a:solidFill>
                  <a:srgbClr val="FF0000"/>
                </a:solidFill>
              </a:rPr>
              <a:t>approximately</a:t>
            </a:r>
            <a:r>
              <a:rPr lang="en-US" altLang="ko-KR" sz="1400" b="1" dirty="0"/>
              <a:t> the scheduled time</a:t>
            </a:r>
            <a:r>
              <a:rPr lang="en-US" altLang="ko-KR" sz="1400" dirty="0"/>
              <a:t>. </a:t>
            </a:r>
            <a:r>
              <a:rPr lang="en-US" altLang="ko-KR" sz="1400" b="1" dirty="0"/>
              <a:t>The Job then creates the pods</a:t>
            </a:r>
            <a:r>
              <a:rPr lang="en-US" altLang="ko-KR" sz="1400" dirty="0"/>
              <a:t>. </a:t>
            </a:r>
          </a:p>
          <a:p>
            <a:pPr lvl="1">
              <a:buFont typeface="Wingdings" panose="05000000000000000000" pitchFamily="2" charset="2"/>
              <a:buChar char="§"/>
            </a:pPr>
            <a:r>
              <a:rPr lang="en-US" altLang="ko-KR" sz="1400" b="1" dirty="0"/>
              <a:t>It may happen that the Job or pod is created and run relatively late</a:t>
            </a:r>
            <a:r>
              <a:rPr lang="en-US" altLang="ko-KR" sz="1400" dirty="0"/>
              <a:t>. You may have a hard requirement for the job to not be started too far over the scheduled time. In that case, </a:t>
            </a:r>
            <a:r>
              <a:rPr lang="en-US" altLang="ko-KR" sz="1400" b="1" dirty="0"/>
              <a:t>you can specify a deadline by specifying the “</a:t>
            </a:r>
            <a:r>
              <a:rPr lang="en-US" altLang="ko-KR" sz="1400" b="1" dirty="0" err="1">
                <a:solidFill>
                  <a:srgbClr val="FF0000"/>
                </a:solidFill>
              </a:rPr>
              <a:t>startingDeadlineSeconds</a:t>
            </a:r>
            <a:r>
              <a:rPr lang="en-US" altLang="ko-KR" sz="1400" b="1" dirty="0"/>
              <a:t>” field in the </a:t>
            </a:r>
            <a:r>
              <a:rPr lang="en-US" altLang="ko-KR" sz="1400" b="1" dirty="0" err="1"/>
              <a:t>CronJob</a:t>
            </a:r>
            <a:r>
              <a:rPr lang="en-US" altLang="ko-KR" sz="1400" b="1" dirty="0"/>
              <a:t> specification </a:t>
            </a:r>
            <a:r>
              <a:rPr lang="en-US" altLang="ko-KR" sz="1400" dirty="0"/>
              <a:t>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the above example, </a:t>
            </a:r>
            <a:r>
              <a:rPr lang="en-US" altLang="ko-KR" sz="1400" b="1" dirty="0"/>
              <a:t>one of the times the job is supposed to run is “10:30:00”. If it doesn’t start by “10:30:15” for whatever reason, the job will not run and will be shown as Failed</a:t>
            </a:r>
            <a:r>
              <a:rPr lang="en-US" altLang="ko-KR" sz="1400" dirty="0"/>
              <a:t>.</a:t>
            </a:r>
          </a:p>
          <a:p>
            <a:pPr lvl="1">
              <a:buFont typeface="Wingdings" panose="05000000000000000000" pitchFamily="2" charset="2"/>
              <a:buChar char="§"/>
            </a:pPr>
            <a:r>
              <a:rPr lang="en-US" altLang="ko-KR" sz="1400" b="1" dirty="0"/>
              <a:t>In normal circumstances, a </a:t>
            </a:r>
            <a:r>
              <a:rPr lang="en-US" altLang="ko-KR" sz="1400" b="1" dirty="0" err="1"/>
              <a:t>CronJob</a:t>
            </a:r>
            <a:r>
              <a:rPr lang="en-US" altLang="ko-KR" sz="1400" b="1" dirty="0"/>
              <a:t> always creates only a single Job for each execution configured in the schedule, but it may happen that two Jobs are created at the same time, or none at all</a:t>
            </a:r>
            <a:r>
              <a:rPr lang="en-US" altLang="ko-KR" sz="1400" dirty="0"/>
              <a:t>. To combat the first problem, your </a:t>
            </a:r>
            <a:r>
              <a:rPr lang="en-US" altLang="ko-KR" sz="1400" b="1" dirty="0"/>
              <a:t>jobs should be “</a:t>
            </a:r>
            <a:r>
              <a:rPr lang="en-US" altLang="ko-KR" sz="1400" b="1" dirty="0">
                <a:solidFill>
                  <a:srgbClr val="FF0000"/>
                </a:solidFill>
              </a:rPr>
              <a:t>idempotent</a:t>
            </a:r>
            <a:r>
              <a:rPr lang="en-US" altLang="ko-KR" sz="1400" b="1" dirty="0"/>
              <a:t>”</a:t>
            </a:r>
            <a:r>
              <a:rPr lang="en-US" altLang="ko-KR" sz="1400" dirty="0"/>
              <a:t> (running them multiple times instead of once shouldn’t lead to unwanted results). For the second problem, </a:t>
            </a:r>
            <a:r>
              <a:rPr lang="en-US" altLang="ko-KR" sz="1400" b="1" dirty="0"/>
              <a:t>make sure that the next job run performs any work that should have been done by the previous (missed) run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8D06FF9-8477-87E8-0826-25B51D512217}"/>
              </a:ext>
            </a:extLst>
          </p:cNvPr>
          <p:cNvGrpSpPr/>
          <p:nvPr/>
        </p:nvGrpSpPr>
        <p:grpSpPr>
          <a:xfrm>
            <a:off x="3047343" y="2413337"/>
            <a:ext cx="6097314" cy="1015663"/>
            <a:chOff x="3047343" y="2413337"/>
            <a:chExt cx="6097314" cy="1015663"/>
          </a:xfrm>
        </p:grpSpPr>
        <p:sp>
          <p:nvSpPr>
            <p:cNvPr id="8" name="TextBox 7">
              <a:extLst>
                <a:ext uri="{FF2B5EF4-FFF2-40B4-BE49-F238E27FC236}">
                  <a16:creationId xmlns:a16="http://schemas.microsoft.com/office/drawing/2014/main" id="{56B1A107-7517-726D-4160-713ACB63CF05}"/>
                </a:ext>
              </a:extLst>
            </p:cNvPr>
            <p:cNvSpPr txBox="1"/>
            <p:nvPr/>
          </p:nvSpPr>
          <p:spPr>
            <a:xfrm>
              <a:off x="3047343" y="2413337"/>
              <a:ext cx="6097314"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batch/v1beta1</a:t>
              </a:r>
            </a:p>
            <a:p>
              <a:r>
                <a:rPr lang="en-US" altLang="ko-KR" sz="1000" b="1" dirty="0"/>
                <a:t>kind: </a:t>
              </a:r>
              <a:r>
                <a:rPr lang="en-US" altLang="ko-KR" sz="1000" b="1" dirty="0" err="1"/>
                <a:t>CronJob</a:t>
              </a:r>
              <a:endParaRPr lang="en-US" altLang="ko-KR" sz="1000" b="1" dirty="0"/>
            </a:p>
            <a:p>
              <a:r>
                <a:rPr lang="en-US" altLang="ko-KR" sz="1000" b="1" dirty="0"/>
                <a:t>spec:</a:t>
              </a:r>
            </a:p>
            <a:p>
              <a:r>
                <a:rPr lang="en-US" altLang="ko-KR" sz="1000" b="1" dirty="0"/>
                <a:t>  schedule: "0,15,30,45 * * * *"</a:t>
              </a:r>
            </a:p>
            <a:p>
              <a:r>
                <a:rPr lang="en-US" altLang="ko-KR" sz="1000" b="1" dirty="0"/>
                <a:t>  </a:t>
              </a:r>
              <a:r>
                <a:rPr lang="en-US" altLang="ko-KR" sz="1000" b="1" dirty="0" err="1">
                  <a:solidFill>
                    <a:srgbClr val="FF0000"/>
                  </a:solidFill>
                </a:rPr>
                <a:t>startingDeadlineSeconds</a:t>
              </a:r>
              <a:r>
                <a:rPr lang="en-US" altLang="ko-KR" sz="1000" b="1" dirty="0">
                  <a:solidFill>
                    <a:srgbClr val="FF0000"/>
                  </a:solidFill>
                </a:rPr>
                <a:t>: 15</a:t>
              </a:r>
            </a:p>
            <a:p>
              <a:r>
                <a:rPr lang="en-US" altLang="ko-KR" sz="1000" b="1" dirty="0"/>
                <a:t>  ...</a:t>
              </a:r>
              <a:endParaRPr lang="ko-KR" altLang="en-US" sz="1000" b="1" dirty="0"/>
            </a:p>
          </p:txBody>
        </p:sp>
        <p:sp>
          <p:nvSpPr>
            <p:cNvPr id="9" name="TextBox 8">
              <a:extLst>
                <a:ext uri="{FF2B5EF4-FFF2-40B4-BE49-F238E27FC236}">
                  <a16:creationId xmlns:a16="http://schemas.microsoft.com/office/drawing/2014/main" id="{841EBDCD-435F-1245-0211-51F145025C94}"/>
                </a:ext>
              </a:extLst>
            </p:cNvPr>
            <p:cNvSpPr txBox="1"/>
            <p:nvPr/>
          </p:nvSpPr>
          <p:spPr>
            <a:xfrm>
              <a:off x="8168108" y="2413337"/>
              <a:ext cx="976549" cy="246221"/>
            </a:xfrm>
            <a:prstGeom prst="rect">
              <a:avLst/>
            </a:prstGeom>
            <a:noFill/>
          </p:spPr>
          <p:txBody>
            <a:bodyPr wrap="none" rtlCol="0">
              <a:spAutoFit/>
            </a:bodyPr>
            <a:lstStyle/>
            <a:p>
              <a:pPr algn="l"/>
              <a:r>
                <a:rPr lang="en-US" altLang="ko-KR" sz="1000" b="1" dirty="0" err="1"/>
                <a:t>cronjob.yaml</a:t>
              </a:r>
              <a:endParaRPr lang="ko-KR" altLang="en-US" sz="1000" b="1" dirty="0"/>
            </a:p>
          </p:txBody>
        </p:sp>
      </p:grpSp>
    </p:spTree>
    <p:extLst>
      <p:ext uri="{BB962C8B-B14F-4D97-AF65-F5344CB8AC3E}">
        <p14:creationId xmlns:p14="http://schemas.microsoft.com/office/powerpoint/2010/main" val="40945042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133</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3"/>
          <a:stretch>
            <a:fillRect/>
          </a:stretch>
        </p:blipFill>
        <p:spPr>
          <a:xfrm>
            <a:off x="4990542" y="2209544"/>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134</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101795</TotalTime>
  <Words>19114</Words>
  <Application>Microsoft Office PowerPoint</Application>
  <PresentationFormat>와이드스크린</PresentationFormat>
  <Paragraphs>1776</Paragraphs>
  <Slides>134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134</vt:i4>
      </vt:variant>
    </vt:vector>
  </HeadingPairs>
  <TitlesOfParts>
    <vt:vector size="138" baseType="lpstr">
      <vt:lpstr>맑은 고딕</vt:lpstr>
      <vt:lpstr>Arial</vt:lpstr>
      <vt:lpstr>Wingdings</vt:lpstr>
      <vt:lpstr>Office 테마</vt:lpstr>
      <vt:lpstr>Kubernetes in Action</vt:lpstr>
      <vt:lpstr>Pods</vt:lpstr>
      <vt:lpstr>Introducing Pods(1/5)</vt:lpstr>
      <vt:lpstr>Introducing Pods(2/5)</vt:lpstr>
      <vt:lpstr>Introducing Pods(3/5)</vt:lpstr>
      <vt:lpstr>Introducing Pods(4/5)</vt:lpstr>
      <vt:lpstr>Introducing Pods(5/5)</vt:lpstr>
      <vt:lpstr>Organizing Containers across Pods(1/5)</vt:lpstr>
      <vt:lpstr>Organizing Containers across Pods(2/5)</vt:lpstr>
      <vt:lpstr>Organizing Containers across Pods(3/5)</vt:lpstr>
      <vt:lpstr>Organizing Containers across Pods(4/5)</vt:lpstr>
      <vt:lpstr>Organizing Containers across Pods(5/5)</vt:lpstr>
      <vt:lpstr>Creating Pods from YAML or JSON Descriptors(1/14)</vt:lpstr>
      <vt:lpstr>Creating Pods from YAML or JSON Descriptors(2/14)</vt:lpstr>
      <vt:lpstr>Creating Pods from YAML or JSON Descriptors(3/14)</vt:lpstr>
      <vt:lpstr>Creating Pods from YAML or JSON Descriptors(4/14)</vt:lpstr>
      <vt:lpstr>Creating Pods from YAML or JSON Descriptors(5/14)</vt:lpstr>
      <vt:lpstr>Creating Pods from YAML or JSON Descriptors(6/14)</vt:lpstr>
      <vt:lpstr>Creating Pods from YAML or JSON Descriptors(7/14)</vt:lpstr>
      <vt:lpstr>Creating Pods from YAML or JSON Descriptors(8/14)</vt:lpstr>
      <vt:lpstr>Creating Pods from YAML or JSON Descriptors(9/14)</vt:lpstr>
      <vt:lpstr>Creating Pods from YAML or JSON Descriptors(10/14)</vt:lpstr>
      <vt:lpstr>Creating Pods from YAML or JSON Descriptors(11/14)</vt:lpstr>
      <vt:lpstr>Creating Pods from YAML or JSON Descriptors(12/14)</vt:lpstr>
      <vt:lpstr>Creating Pods from YAML or JSON Descriptors(13/14)</vt:lpstr>
      <vt:lpstr>Creating Pods from YAML or JSON Descriptors(14/14)</vt:lpstr>
      <vt:lpstr>Organizing Pods with Labels(1/8)</vt:lpstr>
      <vt:lpstr>Organizing Pods with Labels(2/8)</vt:lpstr>
      <vt:lpstr>Organizing Pods with Labels(3/8)</vt:lpstr>
      <vt:lpstr>Organizing Pods with Labels(4/8)</vt:lpstr>
      <vt:lpstr>Organizing Pods with Labels(5/8)</vt:lpstr>
      <vt:lpstr>Organizing Pods with Labels(6/8)</vt:lpstr>
      <vt:lpstr>Organizing Pods with Labels(7/8)</vt:lpstr>
      <vt:lpstr>Organizing Pods with Labels(8/8)</vt:lpstr>
      <vt:lpstr>Listing Subsets of Pods through Label Selectors(1/4)</vt:lpstr>
      <vt:lpstr>Listing Subsets of Pods through Label Selectors(2/4)</vt:lpstr>
      <vt:lpstr>Listing Subsets of Pods through Label Selectors(3/4)</vt:lpstr>
      <vt:lpstr>Listing Subsets of Pods through Label Selectors(4/4)</vt:lpstr>
      <vt:lpstr>Using Labels and Selectors to Constrain Pod Scheduling(1/4)</vt:lpstr>
      <vt:lpstr>Using Labels and Selectors to Constrain Pod Scheduling(2/4)</vt:lpstr>
      <vt:lpstr>Using Labels and Selectors to Constrain Pod Scheduling(3/4)</vt:lpstr>
      <vt:lpstr>Using Labels and Selectors to Constrain Pod Scheduling(4/4)</vt:lpstr>
      <vt:lpstr>Annotating Pods(1/3)</vt:lpstr>
      <vt:lpstr>Annotating Pods(2/3)</vt:lpstr>
      <vt:lpstr>Annotating Pods(3/3)</vt:lpstr>
      <vt:lpstr>Using Namespaces to Group Resources(1/9)</vt:lpstr>
      <vt:lpstr>Using Namespaces to Group Resources(2/9)</vt:lpstr>
      <vt:lpstr>Using Namespaces to Group Resources(3/9)</vt:lpstr>
      <vt:lpstr>Using Namespaces to Group Resources(4/9)</vt:lpstr>
      <vt:lpstr>Using Namespaces to Group Resources(5/9)</vt:lpstr>
      <vt:lpstr>Using Namespaces to Group Resources(6/9)</vt:lpstr>
      <vt:lpstr>Using Namespaces to Group Resources(7/9)</vt:lpstr>
      <vt:lpstr>Using Namespaces to Group Resources(8/9)</vt:lpstr>
      <vt:lpstr>Using Namespaces to Group Resources(9/9)</vt:lpstr>
      <vt:lpstr>Stopping and Removing Pods(1/7)</vt:lpstr>
      <vt:lpstr>Stopping and Removing Pods(2/7)</vt:lpstr>
      <vt:lpstr>Stopping and Removing Pods(3/7)</vt:lpstr>
      <vt:lpstr>Stopping and Removing Pods(4/7)</vt:lpstr>
      <vt:lpstr>Stopping and Removing Pods(5/7)</vt:lpstr>
      <vt:lpstr>Stopping and Removing Pods(6/7)</vt:lpstr>
      <vt:lpstr>Stopping and Removing Pods(7/7)</vt:lpstr>
      <vt:lpstr>Replication and Other Controllers</vt:lpstr>
      <vt:lpstr>Keeping Pods Healthy(1/10)</vt:lpstr>
      <vt:lpstr>Keeping Pods Healthy(2/10)</vt:lpstr>
      <vt:lpstr>Keeping Pods Healthy(3/10)</vt:lpstr>
      <vt:lpstr>NOTE : Kubia Unhealthy Docker Image</vt:lpstr>
      <vt:lpstr>Keeping Pods Healthy(4/10)</vt:lpstr>
      <vt:lpstr>Keeping Pods Healthy(5/10)</vt:lpstr>
      <vt:lpstr>Keeping Pods Healthy(6/10)</vt:lpstr>
      <vt:lpstr>Keeping Pods Healthy(7/10)</vt:lpstr>
      <vt:lpstr>Keeping Pods Healthy(8/10)</vt:lpstr>
      <vt:lpstr>Keeping Pods Healthy(9/10)</vt:lpstr>
      <vt:lpstr>Keeping Pods Healthy(10/10)</vt:lpstr>
      <vt:lpstr>Introducing ReplicationControllers(1/27)</vt:lpstr>
      <vt:lpstr>Introducing ReplicationControllers(2/27)</vt:lpstr>
      <vt:lpstr>Introducing ReplicationControllers(3/27)</vt:lpstr>
      <vt:lpstr>Introducing ReplicationControllers(4/27)</vt:lpstr>
      <vt:lpstr>Introducing ReplicationControllers(5/27)</vt:lpstr>
      <vt:lpstr>Introducing ReplicationControllers(6/27)</vt:lpstr>
      <vt:lpstr>Introducing ReplicationControllers(7/27)</vt:lpstr>
      <vt:lpstr>Introducing ReplicationControllers(8/27)</vt:lpstr>
      <vt:lpstr>Introducing ReplicationControllers(9/27)</vt:lpstr>
      <vt:lpstr>Introducing ReplicationControllers(10/27)</vt:lpstr>
      <vt:lpstr>Introducing ReplicationControllers(11/27)</vt:lpstr>
      <vt:lpstr>Introducing ReplicationControllers(12/27)</vt:lpstr>
      <vt:lpstr>Introducing ReplicationControllers(13/27)</vt:lpstr>
      <vt:lpstr>Introducing ReplicationControllers(14/27)</vt:lpstr>
      <vt:lpstr>Introducing ReplicationControllers(15/27)</vt:lpstr>
      <vt:lpstr>Introducing ReplicationControllers(16/27)</vt:lpstr>
      <vt:lpstr>Introducing ReplicationControllers(17/27)</vt:lpstr>
      <vt:lpstr>Introducing ReplicationControllers(18/27)</vt:lpstr>
      <vt:lpstr>Introducing ReplicationControllers(19/27)</vt:lpstr>
      <vt:lpstr>Introducing ReplicationControllers(20/27)</vt:lpstr>
      <vt:lpstr>NOTE : Replacing Pods</vt:lpstr>
      <vt:lpstr>NOTE : Configuring Editor in Kubernetes</vt:lpstr>
      <vt:lpstr>Introducing ReplicationControllers(21/27)</vt:lpstr>
      <vt:lpstr>Introducing ReplicationControllers(22/27)</vt:lpstr>
      <vt:lpstr>Introducing ReplicationControllers(23/27)</vt:lpstr>
      <vt:lpstr>Introducing ReplicationControllers(24/27)</vt:lpstr>
      <vt:lpstr>Introducing ReplicationControllers(25/27)</vt:lpstr>
      <vt:lpstr>Introducing ReplicationControllers(26/27)</vt:lpstr>
      <vt:lpstr>Introducing ReplicationControllers(27/27)</vt:lpstr>
      <vt:lpstr>Using ReplicaSets(1/8)</vt:lpstr>
      <vt:lpstr>Using ReplicaSets(2/8)</vt:lpstr>
      <vt:lpstr>Using ReplicaSets(3/8)</vt:lpstr>
      <vt:lpstr>Using ReplicaSets(4/8)</vt:lpstr>
      <vt:lpstr>Using ReplicaSets(5/8)</vt:lpstr>
      <vt:lpstr>Using ReplicaSets(6/8)</vt:lpstr>
      <vt:lpstr>Using ReplicaSets(7/8)</vt:lpstr>
      <vt:lpstr>Using ReplicaSets(8/8)</vt:lpstr>
      <vt:lpstr>Running exactly one pod on each node with DaemonSets(1/7)</vt:lpstr>
      <vt:lpstr>Running exactly one pod on each node with DaemonSets(2/7)</vt:lpstr>
      <vt:lpstr>Running exactly one pod on each node with DaemonSets(3/7)</vt:lpstr>
      <vt:lpstr>Running exactly one pod on each node with DaemonSets(4/7)</vt:lpstr>
      <vt:lpstr>Running exactly one pod on each node with DaemonSets(5/7)</vt:lpstr>
      <vt:lpstr>Running exactly one pod on each node with DaemonSets(6/7)</vt:lpstr>
      <vt:lpstr>Running exactly one pod on each node with DaemonSets(7/7)</vt:lpstr>
      <vt:lpstr>Running Pods Performing a Single Completable Task(1/11)</vt:lpstr>
      <vt:lpstr>Running Pods Performing a Single Completable Task(2/11)</vt:lpstr>
      <vt:lpstr>Running Pods Performing a Single Completable Task(3/11)</vt:lpstr>
      <vt:lpstr>Running Pods Performing a Single Completable Task(4/11)</vt:lpstr>
      <vt:lpstr>Running Pods Performing a Single Completable Task(5/11)</vt:lpstr>
      <vt:lpstr>Running Pods Performing a Single Completable Task(6/11)</vt:lpstr>
      <vt:lpstr>Running Pods Performing a Single Completable Task(7/11)</vt:lpstr>
      <vt:lpstr>Running Pods Performing a Single Completable Task(8/11)</vt:lpstr>
      <vt:lpstr>Running Pods Performing a Single Completable Task(9/11)</vt:lpstr>
      <vt:lpstr>Running Pods Performing a Single Completable Task(10/11)</vt:lpstr>
      <vt:lpstr>Running Pods Performing a Single Completable Task(11/11)</vt:lpstr>
      <vt:lpstr>Scheduling Jobs to Run Periodically or Once in the Future(1/4)</vt:lpstr>
      <vt:lpstr>Scheduling Jobs to Run Periodically or Once in the Future(2/4)</vt:lpstr>
      <vt:lpstr>Scheduling Jobs to Run Periodically or Once in the Future(3/4)</vt:lpstr>
      <vt:lpstr>Scheduling Jobs to Run Periodically or Once in the Future(4/4)</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4562</cp:revision>
  <dcterms:created xsi:type="dcterms:W3CDTF">2020-11-26T08:00:10Z</dcterms:created>
  <dcterms:modified xsi:type="dcterms:W3CDTF">2026-08-18T02:38:35Z</dcterms:modified>
</cp:coreProperties>
</file>